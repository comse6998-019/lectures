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4"/>
  </p:notesMasterIdLst>
  <p:sldIdLst>
    <p:sldId id="256" r:id="rId2"/>
    <p:sldId id="258" r:id="rId3"/>
    <p:sldId id="259" r:id="rId4"/>
    <p:sldId id="260" r:id="rId5"/>
    <p:sldId id="261" r:id="rId6"/>
    <p:sldId id="265" r:id="rId7"/>
    <p:sldId id="266" r:id="rId8"/>
    <p:sldId id="274" r:id="rId9"/>
    <p:sldId id="317" r:id="rId10"/>
    <p:sldId id="316" r:id="rId11"/>
    <p:sldId id="305" r:id="rId12"/>
    <p:sldId id="285" r:id="rId13"/>
    <p:sldId id="287" r:id="rId14"/>
    <p:sldId id="326" r:id="rId15"/>
    <p:sldId id="283" r:id="rId16"/>
    <p:sldId id="284" r:id="rId17"/>
    <p:sldId id="325" r:id="rId18"/>
    <p:sldId id="288" r:id="rId19"/>
    <p:sldId id="289" r:id="rId20"/>
    <p:sldId id="290" r:id="rId21"/>
    <p:sldId id="291" r:id="rId22"/>
    <p:sldId id="293" r:id="rId23"/>
    <p:sldId id="327" r:id="rId24"/>
    <p:sldId id="328" r:id="rId25"/>
    <p:sldId id="294" r:id="rId26"/>
    <p:sldId id="329" r:id="rId27"/>
    <p:sldId id="330" r:id="rId28"/>
    <p:sldId id="331" r:id="rId29"/>
    <p:sldId id="295" r:id="rId30"/>
    <p:sldId id="297" r:id="rId31"/>
    <p:sldId id="299" r:id="rId32"/>
    <p:sldId id="298" r:id="rId33"/>
    <p:sldId id="296" r:id="rId34"/>
    <p:sldId id="300" r:id="rId35"/>
    <p:sldId id="303" r:id="rId36"/>
    <p:sldId id="308" r:id="rId37"/>
    <p:sldId id="306" r:id="rId38"/>
    <p:sldId id="302" r:id="rId39"/>
    <p:sldId id="309" r:id="rId40"/>
    <p:sldId id="310" r:id="rId41"/>
    <p:sldId id="311" r:id="rId42"/>
    <p:sldId id="312" r:id="rId43"/>
    <p:sldId id="313" r:id="rId44"/>
    <p:sldId id="315" r:id="rId45"/>
    <p:sldId id="314" r:id="rId46"/>
    <p:sldId id="318" r:id="rId47"/>
    <p:sldId id="319" r:id="rId48"/>
    <p:sldId id="320" r:id="rId49"/>
    <p:sldId id="321" r:id="rId50"/>
    <p:sldId id="322" r:id="rId51"/>
    <p:sldId id="323" r:id="rId52"/>
    <p:sldId id="324" r:id="rId53"/>
  </p:sldIdLst>
  <p:sldSz cx="6858000" cy="5143500"/>
  <p:notesSz cx="6858000" cy="9144000"/>
  <p:embeddedFontLst>
    <p:embeddedFont>
      <p:font typeface="Fira Sans" panose="020B0503050000020004" pitchFamily="34"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258"/>
            <p14:sldId id="259"/>
          </p14:sldIdLst>
        </p14:section>
        <p14:section name="Section 2 — Why this course exists" id="{07821E7E-7576-454B-8FC0-3B8690BCEB1E}">
          <p14:sldIdLst>
            <p14:sldId id="260"/>
            <p14:sldId id="261"/>
            <p14:sldId id="265"/>
            <p14:sldId id="266"/>
            <p14:sldId id="274"/>
            <p14:sldId id="317"/>
            <p14:sldId id="316"/>
            <p14:sldId id="305"/>
            <p14:sldId id="285"/>
            <p14:sldId id="287"/>
            <p14:sldId id="326"/>
            <p14:sldId id="283"/>
            <p14:sldId id="284"/>
            <p14:sldId id="325"/>
            <p14:sldId id="288"/>
            <p14:sldId id="289"/>
            <p14:sldId id="290"/>
            <p14:sldId id="291"/>
            <p14:sldId id="293"/>
            <p14:sldId id="327"/>
            <p14:sldId id="328"/>
            <p14:sldId id="294"/>
            <p14:sldId id="329"/>
            <p14:sldId id="330"/>
            <p14:sldId id="331"/>
            <p14:sldId id="295"/>
            <p14:sldId id="297"/>
            <p14:sldId id="299"/>
            <p14:sldId id="298"/>
            <p14:sldId id="296"/>
            <p14:sldId id="300"/>
            <p14:sldId id="303"/>
            <p14:sldId id="308"/>
            <p14:sldId id="306"/>
            <p14:sldId id="302"/>
            <p14:sldId id="309"/>
            <p14:sldId id="310"/>
            <p14:sldId id="311"/>
            <p14:sldId id="312"/>
            <p14:sldId id="313"/>
            <p14:sldId id="315"/>
            <p14:sldId id="314"/>
            <p14:sldId id="318"/>
            <p14:sldId id="319"/>
            <p14:sldId id="320"/>
            <p14:sldId id="321"/>
            <p14:sldId id="322"/>
            <p14:sldId id="323"/>
            <p14:sldId id="324"/>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343"/>
    <p:restoredTop sz="98401"/>
  </p:normalViewPr>
  <p:slideViewPr>
    <p:cSldViewPr snapToGrid="0">
      <p:cViewPr varScale="1">
        <p:scale>
          <a:sx n="212" d="100"/>
          <a:sy n="212" d="100"/>
        </p:scale>
        <p:origin x="256" y="192"/>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2A2A63"/>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8" name="Google Shape;8;p1"/>
          <p:cNvSpPr txBox="1">
            <a:spLocks noGrp="1"/>
          </p:cNvSpPr>
          <p:nvPr>
            <p:ph type="sldNum" idx="12"/>
          </p:nvPr>
        </p:nvSpPr>
        <p:spPr>
          <a:xfrm>
            <a:off x="6446482" y="4749892"/>
            <a:ext cx="411525" cy="393600"/>
          </a:xfrm>
          <a:prstGeom prst="rect">
            <a:avLst/>
          </a:prstGeom>
          <a:noFill/>
          <a:ln>
            <a:noFill/>
          </a:ln>
        </p:spPr>
        <p:txBody>
          <a:bodyPr spcFirstLastPara="1" wrap="square" lIns="91425" tIns="91425" rIns="91425" bIns="91425" anchor="ctr" anchorCtr="0">
            <a:normAutofit/>
          </a:bodyPr>
          <a:lstStyle>
            <a:lvl1pPr lvl="0" algn="r">
              <a:buNone/>
              <a:defRPr sz="750" b="1">
                <a:solidFill>
                  <a:schemeClr val="dk2"/>
                </a:solidFill>
                <a:latin typeface="Fira Sans"/>
                <a:ea typeface="Fira Sans"/>
                <a:cs typeface="Fira Sans"/>
                <a:sym typeface="Fira Sans"/>
              </a:defRPr>
            </a:lvl1pPr>
            <a:lvl2pPr lvl="1" algn="r">
              <a:buNone/>
              <a:defRPr sz="750" b="1">
                <a:solidFill>
                  <a:schemeClr val="dk2"/>
                </a:solidFill>
                <a:latin typeface="Fira Sans"/>
                <a:ea typeface="Fira Sans"/>
                <a:cs typeface="Fira Sans"/>
                <a:sym typeface="Fira Sans"/>
              </a:defRPr>
            </a:lvl2pPr>
            <a:lvl3pPr lvl="2" algn="r">
              <a:buNone/>
              <a:defRPr sz="750" b="1">
                <a:solidFill>
                  <a:schemeClr val="dk2"/>
                </a:solidFill>
                <a:latin typeface="Fira Sans"/>
                <a:ea typeface="Fira Sans"/>
                <a:cs typeface="Fira Sans"/>
                <a:sym typeface="Fira Sans"/>
              </a:defRPr>
            </a:lvl3pPr>
            <a:lvl4pPr lvl="3" algn="r">
              <a:buNone/>
              <a:defRPr sz="750" b="1">
                <a:solidFill>
                  <a:schemeClr val="dk2"/>
                </a:solidFill>
                <a:latin typeface="Fira Sans"/>
                <a:ea typeface="Fira Sans"/>
                <a:cs typeface="Fira Sans"/>
                <a:sym typeface="Fira Sans"/>
              </a:defRPr>
            </a:lvl4pPr>
            <a:lvl5pPr lvl="4" algn="r">
              <a:buNone/>
              <a:defRPr sz="750" b="1">
                <a:solidFill>
                  <a:schemeClr val="dk2"/>
                </a:solidFill>
                <a:latin typeface="Fira Sans"/>
                <a:ea typeface="Fira Sans"/>
                <a:cs typeface="Fira Sans"/>
                <a:sym typeface="Fira Sans"/>
              </a:defRPr>
            </a:lvl5pPr>
            <a:lvl6pPr lvl="5" algn="r">
              <a:buNone/>
              <a:defRPr sz="750" b="1">
                <a:solidFill>
                  <a:schemeClr val="dk2"/>
                </a:solidFill>
                <a:latin typeface="Fira Sans"/>
                <a:ea typeface="Fira Sans"/>
                <a:cs typeface="Fira Sans"/>
                <a:sym typeface="Fira Sans"/>
              </a:defRPr>
            </a:lvl6pPr>
            <a:lvl7pPr lvl="6" algn="r">
              <a:buNone/>
              <a:defRPr sz="750" b="1">
                <a:solidFill>
                  <a:schemeClr val="dk2"/>
                </a:solidFill>
                <a:latin typeface="Fira Sans"/>
                <a:ea typeface="Fira Sans"/>
                <a:cs typeface="Fira Sans"/>
                <a:sym typeface="Fira Sans"/>
              </a:defRPr>
            </a:lvl7pPr>
            <a:lvl8pPr lvl="7" algn="r">
              <a:buNone/>
              <a:defRPr sz="750" b="1">
                <a:solidFill>
                  <a:schemeClr val="dk2"/>
                </a:solidFill>
                <a:latin typeface="Fira Sans"/>
                <a:ea typeface="Fira Sans"/>
                <a:cs typeface="Fira Sans"/>
                <a:sym typeface="Fira Sans"/>
              </a:defRPr>
            </a:lvl8pPr>
            <a:lvl9pPr lvl="8" algn="r">
              <a:buNone/>
              <a:defRPr sz="750" b="1">
                <a:solidFill>
                  <a:schemeClr val="dk2"/>
                </a:solidFill>
                <a:latin typeface="Fira Sans"/>
                <a:ea typeface="Fira Sans"/>
                <a:cs typeface="Fira Sans"/>
                <a:sym typeface="Fira Sans"/>
              </a:defRPr>
            </a:lvl9pPr>
          </a:lstStyle>
          <a:p>
            <a:fld id="{00000000-1234-1234-1234-123412341234}" type="slidenum">
              <a:rPr lang="en" smtClean="0"/>
              <a:pPr/>
              <a:t>‹#›</a:t>
            </a:fld>
            <a:endParaRPr lang="en"/>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oms6998-e019.github.i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anthropic.com/engineering/multi-agent-research-system"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mailto:rk3080@columbia.edu" TargetMode="External"/><Relationship Id="rId2" Type="http://schemas.openxmlformats.org/officeDocument/2006/relationships/hyperlink" Target="https://comse6998-019.github.io/"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mailto:rk3080@columbia.edu" TargetMode="External"/><Relationship Id="rId2" Type="http://schemas.openxmlformats.org/officeDocument/2006/relationships/hyperlink" Target="https://coms6998-e019.github.io/"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provost.columbia.edu/content/office-senior-vice-provost/ai-policy"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github.com/codellm-devki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9DA47-FA74-035D-24FD-C97FABBE9ACF}"/>
              </a:ext>
            </a:extLst>
          </p:cNvPr>
          <p:cNvSpPr>
            <a:spLocks noGrp="1"/>
          </p:cNvSpPr>
          <p:nvPr>
            <p:ph type="title"/>
          </p:nvPr>
        </p:nvSpPr>
        <p:spPr/>
        <p:txBody>
          <a:bodyPr>
            <a:normAutofit/>
          </a:bodyPr>
          <a:lstStyle/>
          <a:p>
            <a:r>
              <a:rPr lang="en-US" b="1" dirty="0"/>
              <a:t>Welcome!</a:t>
            </a:r>
          </a:p>
        </p:txBody>
      </p:sp>
      <p:sp>
        <p:nvSpPr>
          <p:cNvPr id="3" name="Content Placeholder 2">
            <a:extLst>
              <a:ext uri="{FF2B5EF4-FFF2-40B4-BE49-F238E27FC236}">
                <a16:creationId xmlns:a16="http://schemas.microsoft.com/office/drawing/2014/main" id="{6E71B270-DFC4-9954-B0A1-B8A3C70CBE08}"/>
              </a:ext>
            </a:extLst>
          </p:cNvPr>
          <p:cNvSpPr>
            <a:spLocks noGrp="1"/>
          </p:cNvSpPr>
          <p:nvPr>
            <p:ph idx="1"/>
          </p:nvPr>
        </p:nvSpPr>
        <p:spPr>
          <a:xfrm>
            <a:off x="14252" y="630051"/>
            <a:ext cx="6815475" cy="459715"/>
          </a:xfrm>
        </p:spPr>
        <p:txBody>
          <a:bodyPr>
            <a:normAutofit/>
          </a:bodyPr>
          <a:lstStyle/>
          <a:p>
            <a:pPr marL="125747" indent="0" algn="ctr">
              <a:buNone/>
            </a:pPr>
            <a:r>
              <a:rPr lang="en-US" b="1" dirty="0"/>
              <a:t>COMS 6998-019 • Designing Production Agentic Systems • Fall 2026</a:t>
            </a:r>
          </a:p>
          <a:p>
            <a:pPr marL="125747" indent="0" algn="ctr">
              <a:buNone/>
            </a:pPr>
            <a:endParaRPr lang="en-US" b="1" dirty="0"/>
          </a:p>
        </p:txBody>
      </p:sp>
      <p:graphicFrame>
        <p:nvGraphicFramePr>
          <p:cNvPr id="5" name="Table 4">
            <a:extLst>
              <a:ext uri="{FF2B5EF4-FFF2-40B4-BE49-F238E27FC236}">
                <a16:creationId xmlns:a16="http://schemas.microsoft.com/office/drawing/2014/main" id="{3D0C6519-F976-A9EC-7990-38025D3FF6EC}"/>
              </a:ext>
            </a:extLst>
          </p:cNvPr>
          <p:cNvGraphicFramePr>
            <a:graphicFrameLocks noGrp="1"/>
          </p:cNvGraphicFramePr>
          <p:nvPr>
            <p:extLst>
              <p:ext uri="{D42A27DB-BD31-4B8C-83A1-F6EECF244321}">
                <p14:modId xmlns:p14="http://schemas.microsoft.com/office/powerpoint/2010/main" val="3874501212"/>
              </p:ext>
            </p:extLst>
          </p:nvPr>
        </p:nvGraphicFramePr>
        <p:xfrm>
          <a:off x="1143000" y="1533525"/>
          <a:ext cx="4572000" cy="2076450"/>
        </p:xfrm>
        <a:graphic>
          <a:graphicData uri="http://schemas.openxmlformats.org/drawingml/2006/table">
            <a:tbl>
              <a:tblPr firstRow="1" bandRow="1">
                <a:tableStyleId>{2D5ABB26-0587-4C30-8999-92F81FD0307C}</a:tableStyleId>
              </a:tblPr>
              <a:tblGrid>
                <a:gridCol w="1149724">
                  <a:extLst>
                    <a:ext uri="{9D8B030D-6E8A-4147-A177-3AD203B41FA5}">
                      <a16:colId xmlns:a16="http://schemas.microsoft.com/office/drawing/2014/main" val="2271713243"/>
                    </a:ext>
                  </a:extLst>
                </a:gridCol>
                <a:gridCol w="3422276">
                  <a:extLst>
                    <a:ext uri="{9D8B030D-6E8A-4147-A177-3AD203B41FA5}">
                      <a16:colId xmlns:a16="http://schemas.microsoft.com/office/drawing/2014/main" val="1569624038"/>
                    </a:ext>
                  </a:extLst>
                </a:gridCol>
              </a:tblGrid>
              <a:tr h="415290">
                <a:tc>
                  <a:txBody>
                    <a:bodyPr/>
                    <a:lstStyle/>
                    <a:p>
                      <a:r>
                        <a:rPr lang="en-US" b="1" dirty="0"/>
                        <a:t>When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Fridays 2:10 PM — 4:00 PM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r>
                        <a:rPr lang="en-US" b="1" dirty="0"/>
                        <a:t>Location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Hamilton Hall 303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Term Dates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September 11</a:t>
                      </a:r>
                      <a:r>
                        <a:rPr lang="en-US" baseline="30000" dirty="0"/>
                        <a:t>th</a:t>
                      </a:r>
                      <a:r>
                        <a:rPr lang="en-US" dirty="0"/>
                        <a:t> to December 11</a:t>
                      </a:r>
                      <a:r>
                        <a:rPr lang="en-US" baseline="30000" dirty="0"/>
                        <a:t>th</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Course 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2"/>
                        </a:rPr>
                        <a:t>https://COMSE6998-019.github.io </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Today’s Agenda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mn-lt"/>
                        </a:rPr>
                        <a:t>Orientation, the course map, and one production trace read end to end</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576351"/>
                  </a:ext>
                </a:extLst>
              </a:tr>
            </a:tbl>
          </a:graphicData>
        </a:graphic>
      </p:graphicFrame>
    </p:spTree>
    <p:extLst>
      <p:ext uri="{BB962C8B-B14F-4D97-AF65-F5344CB8AC3E}">
        <p14:creationId xmlns:p14="http://schemas.microsoft.com/office/powerpoint/2010/main" val="2452558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A2A63"/>
              </a:solidFill>
            </a:endParaRPr>
          </a:p>
          <a:p>
            <a:pPr marL="125747" indent="0">
              <a:lnSpc>
                <a:spcPct val="100000"/>
              </a:lnSpc>
              <a:buNone/>
            </a:pPr>
            <a:endParaRPr lang="en-US" b="1" dirty="0">
              <a:solidFill>
                <a:srgbClr val="2A2A63"/>
              </a:solidFill>
            </a:endParaRPr>
          </a:p>
          <a:p>
            <a:pPr marL="125747" indent="0">
              <a:lnSpc>
                <a:spcPct val="100000"/>
              </a:lnSpc>
              <a:buNone/>
            </a:pPr>
            <a:r>
              <a:rPr lang="en-US" b="1" dirty="0">
                <a:solidFill>
                  <a:srgbClr val="2A2A63"/>
                </a:solidFill>
              </a:rPr>
              <a:t>What I work on: </a:t>
            </a:r>
            <a:r>
              <a:rPr lang="en-US" dirty="0">
                <a:solidFill>
                  <a:srgbClr val="2A2A63"/>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Why This Course?</a:t>
            </a:r>
          </a:p>
        </p:txBody>
      </p:sp>
    </p:spTree>
    <p:extLst>
      <p:ext uri="{BB962C8B-B14F-4D97-AF65-F5344CB8AC3E}">
        <p14:creationId xmlns:p14="http://schemas.microsoft.com/office/powerpoint/2010/main" val="263175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16487-9E35-67AA-FAF9-A2D84A93CB11}"/>
              </a:ext>
            </a:extLst>
          </p:cNvPr>
          <p:cNvSpPr>
            <a:spLocks noGrp="1"/>
          </p:cNvSpPr>
          <p:nvPr>
            <p:ph type="title"/>
          </p:nvPr>
        </p:nvSpPr>
        <p:spPr/>
        <p:txBody>
          <a:bodyPr/>
          <a:lstStyle/>
          <a:p>
            <a:r>
              <a:rPr lang="en-US" dirty="0"/>
              <a:t>The key question that motivates this course</a:t>
            </a:r>
          </a:p>
        </p:txBody>
      </p:sp>
      <p:sp>
        <p:nvSpPr>
          <p:cNvPr id="5" name="Rectangle 4">
            <a:extLst>
              <a:ext uri="{FF2B5EF4-FFF2-40B4-BE49-F238E27FC236}">
                <a16:creationId xmlns:a16="http://schemas.microsoft.com/office/drawing/2014/main" id="{C54671C3-2C9B-56C2-3DEF-AA62F8AEA951}"/>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bg2">
                    <a:lumMod val="20000"/>
                    <a:lumOff val="80000"/>
                  </a:schemeClr>
                </a:solidFill>
              </a:rPr>
              <a:t>How do we place a probabilistic model inside a software system without surrendering the guarantees expected of production software?</a:t>
            </a:r>
          </a:p>
        </p:txBody>
      </p:sp>
    </p:spTree>
    <p:extLst>
      <p:ext uri="{BB962C8B-B14F-4D97-AF65-F5344CB8AC3E}">
        <p14:creationId xmlns:p14="http://schemas.microsoft.com/office/powerpoint/2010/main" val="2006179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8A063-A40D-62DF-A63F-AE1C79C04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39302-CED6-27BE-CFF3-91EA8DCF60C1}"/>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DA86C63F-F8C9-B040-E7D7-4EEEDA29E775}"/>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bg2">
                    <a:lumMod val="20000"/>
                    <a:lumOff val="80000"/>
                  </a:schemeClr>
                </a:solidFill>
              </a:rPr>
              <a:t>How do we place a </a:t>
            </a:r>
            <a:r>
              <a:rPr lang="en-US" b="1" u="sng" dirty="0">
                <a:solidFill>
                  <a:schemeClr val="bg2">
                    <a:lumMod val="20000"/>
                    <a:lumOff val="80000"/>
                  </a:schemeClr>
                </a:solidFill>
              </a:rPr>
              <a:t>probabilistic</a:t>
            </a:r>
            <a:r>
              <a:rPr lang="en-US" dirty="0">
                <a:solidFill>
                  <a:schemeClr val="bg2">
                    <a:lumMod val="20000"/>
                    <a:lumOff val="80000"/>
                  </a:schemeClr>
                </a:solidFill>
              </a:rPr>
              <a:t> model </a:t>
            </a:r>
            <a:r>
              <a:rPr lang="en-US" b="1" u="sng" dirty="0">
                <a:solidFill>
                  <a:schemeClr val="bg2">
                    <a:lumMod val="20000"/>
                    <a:lumOff val="80000"/>
                  </a:schemeClr>
                </a:solidFill>
              </a:rPr>
              <a:t>inside a software system</a:t>
            </a:r>
            <a:r>
              <a:rPr lang="en-US" dirty="0">
                <a:solidFill>
                  <a:schemeClr val="bg2">
                    <a:lumMod val="20000"/>
                    <a:lumOff val="80000"/>
                  </a:schemeClr>
                </a:solidFill>
              </a:rPr>
              <a:t> without surrendering the </a:t>
            </a:r>
            <a:r>
              <a:rPr lang="en-US" b="1" u="sng" dirty="0">
                <a:solidFill>
                  <a:schemeClr val="bg2">
                    <a:lumMod val="20000"/>
                    <a:lumOff val="80000"/>
                  </a:schemeClr>
                </a:solidFill>
              </a:rPr>
              <a:t>guarantees</a:t>
            </a:r>
            <a:r>
              <a:rPr lang="en-US" dirty="0">
                <a:solidFill>
                  <a:schemeClr val="bg2">
                    <a:lumMod val="20000"/>
                    <a:lumOff val="80000"/>
                  </a:schemeClr>
                </a:solidFill>
              </a:rPr>
              <a:t> expected of production software?</a:t>
            </a:r>
          </a:p>
        </p:txBody>
      </p:sp>
      <p:graphicFrame>
        <p:nvGraphicFramePr>
          <p:cNvPr id="4" name="Table 3">
            <a:extLst>
              <a:ext uri="{FF2B5EF4-FFF2-40B4-BE49-F238E27FC236}">
                <a16:creationId xmlns:a16="http://schemas.microsoft.com/office/drawing/2014/main" id="{46819D92-EDE4-0D80-C40D-030DC2D82AD2}"/>
              </a:ext>
            </a:extLst>
          </p:cNvPr>
          <p:cNvGraphicFramePr>
            <a:graphicFrameLocks noGrp="1"/>
          </p:cNvGraphicFramePr>
          <p:nvPr>
            <p:extLst>
              <p:ext uri="{D42A27DB-BD31-4B8C-83A1-F6EECF244321}">
                <p14:modId xmlns:p14="http://schemas.microsoft.com/office/powerpoint/2010/main" val="2148744025"/>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A2A63"/>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A2A63"/>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A2A63"/>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1875550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bg2">
                    <a:lumMod val="20000"/>
                    <a:lumOff val="80000"/>
                  </a:schemeClr>
                </a:solidFill>
              </a:rPr>
              <a:t>How do we place a </a:t>
            </a:r>
            <a:r>
              <a:rPr lang="en-US" b="1" u="sng" dirty="0">
                <a:solidFill>
                  <a:schemeClr val="bg2">
                    <a:lumMod val="20000"/>
                    <a:lumOff val="80000"/>
                  </a:schemeClr>
                </a:solidFill>
              </a:rPr>
              <a:t>probabilistic</a:t>
            </a:r>
            <a:r>
              <a:rPr lang="en-US" dirty="0">
                <a:solidFill>
                  <a:schemeClr val="bg2">
                    <a:lumMod val="20000"/>
                    <a:lumOff val="80000"/>
                  </a:schemeClr>
                </a:solidFill>
              </a:rPr>
              <a:t> model </a:t>
            </a:r>
            <a:r>
              <a:rPr lang="en-US" b="1" u="sng" dirty="0">
                <a:solidFill>
                  <a:schemeClr val="bg2">
                    <a:lumMod val="20000"/>
                    <a:lumOff val="80000"/>
                  </a:schemeClr>
                </a:solidFill>
              </a:rPr>
              <a:t>inside a software system</a:t>
            </a:r>
            <a:r>
              <a:rPr lang="en-US" dirty="0">
                <a:solidFill>
                  <a:schemeClr val="bg2">
                    <a:lumMod val="20000"/>
                    <a:lumOff val="80000"/>
                  </a:schemeClr>
                </a:solidFill>
              </a:rPr>
              <a:t> without surrendering the </a:t>
            </a:r>
            <a:r>
              <a:rPr lang="en-US" b="1" u="sng" dirty="0">
                <a:solidFill>
                  <a:schemeClr val="bg2">
                    <a:lumMod val="20000"/>
                    <a:lumOff val="80000"/>
                  </a:schemeClr>
                </a:solidFill>
              </a:rPr>
              <a:t>guarantees</a:t>
            </a:r>
            <a:r>
              <a:rPr lang="en-US" dirty="0">
                <a:solidFill>
                  <a:schemeClr val="bg2">
                    <a:lumMod val="20000"/>
                    <a:lumOff val="80000"/>
                  </a:schemeClr>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A2A63"/>
                </a:solidFill>
              </a:rPr>
              <a:t>The agent is a component of a larger system. It is not the entire system.</a:t>
            </a:r>
            <a:endParaRPr lang="en-US" dirty="0">
              <a:solidFill>
                <a:srgbClr val="2A2A63"/>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A2A63"/>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A2A63"/>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A2A63"/>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D56D8-1210-12BD-9564-CBFFC3122C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031AA2-8EA8-8E59-F8BC-9FB6ECE515A4}"/>
              </a:ext>
            </a:extLst>
          </p:cNvPr>
          <p:cNvPicPr>
            <a:picLocks noChangeAspect="1"/>
          </p:cNvPicPr>
          <p:nvPr/>
        </p:nvPicPr>
        <p:blipFill>
          <a:blip r:embed="rId2"/>
          <a:srcRect/>
          <a:stretch/>
        </p:blipFill>
        <p:spPr>
          <a:xfrm>
            <a:off x="3441794" y="971619"/>
            <a:ext cx="3340559" cy="3207496"/>
          </a:xfrm>
          <a:prstGeom prst="rect">
            <a:avLst/>
          </a:prstGeom>
        </p:spPr>
      </p:pic>
      <p:sp>
        <p:nvSpPr>
          <p:cNvPr id="2" name="Title 1">
            <a:extLst>
              <a:ext uri="{FF2B5EF4-FFF2-40B4-BE49-F238E27FC236}">
                <a16:creationId xmlns:a16="http://schemas.microsoft.com/office/drawing/2014/main" id="{15459AAC-29F4-0412-EBCB-CAFAE16717A4}"/>
              </a:ext>
            </a:extLst>
          </p:cNvPr>
          <p:cNvSpPr>
            <a:spLocks noGrp="1"/>
          </p:cNvSpPr>
          <p:nvPr>
            <p:ph type="title"/>
          </p:nvPr>
        </p:nvSpPr>
        <p:spPr/>
        <p:txBody>
          <a:bodyPr/>
          <a:lstStyle/>
          <a:p>
            <a:r>
              <a:rPr lang="en-US" dirty="0"/>
              <a:t>Prototype vs Production</a:t>
            </a:r>
          </a:p>
        </p:txBody>
      </p:sp>
      <p:sp>
        <p:nvSpPr>
          <p:cNvPr id="16" name="TextBox 15">
            <a:extLst>
              <a:ext uri="{FF2B5EF4-FFF2-40B4-BE49-F238E27FC236}">
                <a16:creationId xmlns:a16="http://schemas.microsoft.com/office/drawing/2014/main" id="{10F3F5DB-65D2-AC9F-3BB8-A1D27A6FFDA8}"/>
              </a:ext>
            </a:extLst>
          </p:cNvPr>
          <p:cNvSpPr txBox="1"/>
          <p:nvPr/>
        </p:nvSpPr>
        <p:spPr>
          <a:xfrm>
            <a:off x="345462" y="4943445"/>
            <a:ext cx="6530865" cy="200055"/>
          </a:xfrm>
          <a:prstGeom prst="rect">
            <a:avLst/>
          </a:prstGeom>
          <a:noFill/>
        </p:spPr>
        <p:txBody>
          <a:bodyPr wrap="square" rtlCol="0">
            <a:spAutoFit/>
          </a:bodyPr>
          <a:lstStyle/>
          <a:p>
            <a:pPr algn="r"/>
            <a:r>
              <a:rPr lang="en-US" sz="700" i="1" dirty="0"/>
              <a:t>Courtesy: https://blog.bytebytego.com/p/ep218-the-typical-ai-agent-stack </a:t>
            </a:r>
            <a:endParaRPr lang="en-US" sz="700" dirty="0"/>
          </a:p>
        </p:txBody>
      </p:sp>
      <p:sp>
        <p:nvSpPr>
          <p:cNvPr id="6" name="TextBox 5">
            <a:extLst>
              <a:ext uri="{FF2B5EF4-FFF2-40B4-BE49-F238E27FC236}">
                <a16:creationId xmlns:a16="http://schemas.microsoft.com/office/drawing/2014/main" id="{9A381B55-4065-305D-1AEF-BF76F60FF398}"/>
              </a:ext>
            </a:extLst>
          </p:cNvPr>
          <p:cNvSpPr txBox="1"/>
          <p:nvPr/>
        </p:nvSpPr>
        <p:spPr>
          <a:xfrm>
            <a:off x="169763" y="1907695"/>
            <a:ext cx="3104464" cy="1188787"/>
          </a:xfrm>
          <a:prstGeom prst="rect">
            <a:avLst/>
          </a:prstGeom>
          <a:noFill/>
        </p:spPr>
        <p:txBody>
          <a:bodyPr wrap="square" rtlCol="0">
            <a:spAutoFit/>
          </a:bodyPr>
          <a:lstStyle/>
          <a:p>
            <a:r>
              <a:rPr lang="en-US" dirty="0">
                <a:latin typeface="Fira Sans" panose="020B0503050000020004" pitchFamily="34" charset="0"/>
                <a:ea typeface="Fira Sans" panose="020B0503050000020004" pitchFamily="34" charset="0"/>
              </a:rPr>
              <a:t>The first </a:t>
            </a:r>
            <a:r>
              <a:rPr lang="en-US" b="1" dirty="0">
                <a:solidFill>
                  <a:srgbClr val="2A2A63"/>
                </a:solidFill>
                <a:latin typeface="Fira Sans" panose="020B0503050000020004" pitchFamily="34" charset="0"/>
                <a:ea typeface="Fira Sans" panose="020B0503050000020004" pitchFamily="34" charset="0"/>
              </a:rPr>
              <a:t>prototype is easy</a:t>
            </a:r>
            <a:r>
              <a:rPr lang="en-US" dirty="0">
                <a:latin typeface="Fira Sans" panose="020B0503050000020004" pitchFamily="34" charset="0"/>
                <a:ea typeface="Fira Sans" panose="020B0503050000020004" pitchFamily="34" charset="0"/>
              </a:rPr>
              <a:t>. You can build one in a day. The model is smart, your test prompts work, </a:t>
            </a:r>
            <a:r>
              <a:rPr lang="en-US" b="1" dirty="0">
                <a:solidFill>
                  <a:srgbClr val="2A2A63"/>
                </a:solidFill>
                <a:latin typeface="Fira Sans" panose="020B0503050000020004" pitchFamily="34" charset="0"/>
                <a:ea typeface="Fira Sans" panose="020B0503050000020004" pitchFamily="34" charset="0"/>
              </a:rPr>
              <a:t>the demo is impressive, and the pilot ships in a week</a:t>
            </a:r>
            <a:r>
              <a:rPr lang="en-US" dirty="0">
                <a:latin typeface="Fira Sans" panose="020B0503050000020004" pitchFamily="34" charset="0"/>
                <a:ea typeface="Fira Sans" panose="020B0503050000020004" pitchFamily="34" charset="0"/>
              </a:rPr>
              <a:t>.</a:t>
            </a:r>
            <a:endParaRPr lang="en-US" sz="1200" dirty="0">
              <a:latin typeface="Fira Sans" panose="020B0503050000020004" pitchFamily="34" charset="0"/>
              <a:ea typeface="Fira Sans" panose="020B0503050000020004" pitchFamily="34" charset="0"/>
            </a:endParaRPr>
          </a:p>
        </p:txBody>
      </p:sp>
    </p:spTree>
    <p:extLst>
      <p:ext uri="{BB962C8B-B14F-4D97-AF65-F5344CB8AC3E}">
        <p14:creationId xmlns:p14="http://schemas.microsoft.com/office/powerpoint/2010/main" val="3006902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735BC-232B-4048-87EB-1BA3F3031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3886A5-57EA-2A4E-6010-170E786E5FA3}"/>
              </a:ext>
            </a:extLst>
          </p:cNvPr>
          <p:cNvSpPr>
            <a:spLocks noGrp="1"/>
          </p:cNvSpPr>
          <p:nvPr>
            <p:ph type="title"/>
          </p:nvPr>
        </p:nvSpPr>
        <p:spPr/>
        <p:txBody>
          <a:bodyPr/>
          <a:lstStyle/>
          <a:p>
            <a:r>
              <a:rPr lang="en-US" dirty="0"/>
              <a:t>Prototype vs Production</a:t>
            </a:r>
          </a:p>
        </p:txBody>
      </p:sp>
      <p:sp>
        <p:nvSpPr>
          <p:cNvPr id="16" name="TextBox 15">
            <a:extLst>
              <a:ext uri="{FF2B5EF4-FFF2-40B4-BE49-F238E27FC236}">
                <a16:creationId xmlns:a16="http://schemas.microsoft.com/office/drawing/2014/main" id="{4421B80F-794A-4BD1-8B2A-1351D2FE34BF}"/>
              </a:ext>
            </a:extLst>
          </p:cNvPr>
          <p:cNvSpPr txBox="1"/>
          <p:nvPr/>
        </p:nvSpPr>
        <p:spPr>
          <a:xfrm>
            <a:off x="345462" y="4943445"/>
            <a:ext cx="6530865" cy="200055"/>
          </a:xfrm>
          <a:prstGeom prst="rect">
            <a:avLst/>
          </a:prstGeom>
          <a:noFill/>
        </p:spPr>
        <p:txBody>
          <a:bodyPr wrap="square" rtlCol="0">
            <a:spAutoFit/>
          </a:bodyPr>
          <a:lstStyle/>
          <a:p>
            <a:pPr algn="r"/>
            <a:r>
              <a:rPr lang="en-US" sz="700" i="1" dirty="0"/>
              <a:t>Courtesy: https://blog.bytebytego.com/p/ep218-the-typical-ai-agent-stack </a:t>
            </a:r>
            <a:endParaRPr lang="en-US" sz="700" dirty="0"/>
          </a:p>
        </p:txBody>
      </p:sp>
      <p:sp>
        <p:nvSpPr>
          <p:cNvPr id="6" name="TextBox 5">
            <a:extLst>
              <a:ext uri="{FF2B5EF4-FFF2-40B4-BE49-F238E27FC236}">
                <a16:creationId xmlns:a16="http://schemas.microsoft.com/office/drawing/2014/main" id="{79DEB6F3-602C-918E-BACD-C64E4A496097}"/>
              </a:ext>
            </a:extLst>
          </p:cNvPr>
          <p:cNvSpPr txBox="1"/>
          <p:nvPr/>
        </p:nvSpPr>
        <p:spPr>
          <a:xfrm>
            <a:off x="138897" y="759025"/>
            <a:ext cx="3104464" cy="3754874"/>
          </a:xfrm>
          <a:prstGeom prst="rect">
            <a:avLst/>
          </a:prstGeom>
          <a:noFill/>
        </p:spPr>
        <p:txBody>
          <a:bodyPr wrap="square" rtlCol="0">
            <a:spAutoFit/>
          </a:bodyPr>
          <a:lstStyle/>
          <a:p>
            <a:pPr algn="l"/>
            <a:r>
              <a:rPr lang="en-US" dirty="0">
                <a:latin typeface="+mn-lt"/>
              </a:rPr>
              <a:t>Production is where the challenges arise!</a:t>
            </a:r>
          </a:p>
          <a:p>
            <a:pPr algn="l"/>
            <a:endParaRPr lang="en-US" dirty="0">
              <a:latin typeface="+mn-lt"/>
            </a:endParaRPr>
          </a:p>
          <a:p>
            <a:pPr marL="171450" indent="-171450" algn="l">
              <a:buFont typeface="Wingdings" pitchFamily="2" charset="2"/>
              <a:buChar char="v"/>
            </a:pPr>
            <a:r>
              <a:rPr lang="en-US" b="1" dirty="0">
                <a:latin typeface="+mn-lt"/>
              </a:rPr>
              <a:t>Without identity controls</a:t>
            </a:r>
            <a:r>
              <a:rPr lang="en-US" dirty="0">
                <a:latin typeface="+mn-lt"/>
              </a:rPr>
              <a:t>, the agent runs as a </a:t>
            </a:r>
            <a:r>
              <a:rPr lang="en-US" b="1" dirty="0">
                <a:solidFill>
                  <a:srgbClr val="2A2A63"/>
                </a:solidFill>
                <a:latin typeface="+mn-lt"/>
              </a:rPr>
              <a:t>shared system principal </a:t>
            </a:r>
            <a:r>
              <a:rPr lang="en-US" dirty="0">
                <a:latin typeface="+mn-lt"/>
              </a:rPr>
              <a:t>and there’s no audit trail when something goes wrong. </a:t>
            </a:r>
          </a:p>
          <a:p>
            <a:pPr marL="171450" indent="-171450" algn="l">
              <a:buFont typeface="Wingdings" pitchFamily="2" charset="2"/>
              <a:buChar char="v"/>
            </a:pPr>
            <a:r>
              <a:rPr lang="en-US" b="1" dirty="0">
                <a:latin typeface="+mn-lt"/>
              </a:rPr>
              <a:t>Without guardrails</a:t>
            </a:r>
            <a:r>
              <a:rPr lang="en-US" dirty="0">
                <a:latin typeface="+mn-lt"/>
              </a:rPr>
              <a:t>, it discloses and/or emits something it shouldn’t. </a:t>
            </a:r>
          </a:p>
          <a:p>
            <a:pPr marL="171450" indent="-171450" algn="l">
              <a:buFont typeface="Wingdings" pitchFamily="2" charset="2"/>
              <a:buChar char="v"/>
            </a:pPr>
            <a:r>
              <a:rPr lang="en-US" b="1" dirty="0">
                <a:latin typeface="+mn-lt"/>
              </a:rPr>
              <a:t>Without observability</a:t>
            </a:r>
            <a:r>
              <a:rPr lang="en-US" dirty="0">
                <a:latin typeface="+mn-lt"/>
              </a:rPr>
              <a:t>, you can’t tell </a:t>
            </a:r>
            <a:r>
              <a:rPr lang="en-US" b="1" dirty="0">
                <a:solidFill>
                  <a:srgbClr val="2A2A63"/>
                </a:solidFill>
                <a:latin typeface="+mn-lt"/>
              </a:rPr>
              <a:t>whether quality is improving or degrading</a:t>
            </a:r>
            <a:r>
              <a:rPr lang="en-US" dirty="0">
                <a:latin typeface="+mn-lt"/>
              </a:rPr>
              <a:t>. </a:t>
            </a:r>
          </a:p>
          <a:p>
            <a:pPr algn="l"/>
            <a:endParaRPr lang="en-US" dirty="0">
              <a:latin typeface="+mn-lt"/>
            </a:endParaRPr>
          </a:p>
          <a:p>
            <a:pPr algn="l"/>
            <a:r>
              <a:rPr lang="en-US" dirty="0">
                <a:latin typeface="+mn-lt"/>
              </a:rPr>
              <a:t>None of these problems showed up in the prototype. All of them show up in production.</a:t>
            </a:r>
          </a:p>
        </p:txBody>
      </p:sp>
      <p:grpSp>
        <p:nvGrpSpPr>
          <p:cNvPr id="3" name="Group 2">
            <a:extLst>
              <a:ext uri="{FF2B5EF4-FFF2-40B4-BE49-F238E27FC236}">
                <a16:creationId xmlns:a16="http://schemas.microsoft.com/office/drawing/2014/main" id="{743A8BC1-0076-7B69-9969-B6938479CB6E}"/>
              </a:ext>
            </a:extLst>
          </p:cNvPr>
          <p:cNvGrpSpPr/>
          <p:nvPr/>
        </p:nvGrpSpPr>
        <p:grpSpPr>
          <a:xfrm>
            <a:off x="3441794" y="704936"/>
            <a:ext cx="3340559" cy="3863052"/>
            <a:chOff x="3441794" y="643841"/>
            <a:chExt cx="3340559" cy="3863052"/>
          </a:xfrm>
        </p:grpSpPr>
        <p:pic>
          <p:nvPicPr>
            <p:cNvPr id="5" name="Picture 4">
              <a:extLst>
                <a:ext uri="{FF2B5EF4-FFF2-40B4-BE49-F238E27FC236}">
                  <a16:creationId xmlns:a16="http://schemas.microsoft.com/office/drawing/2014/main" id="{9CE489BD-D3AC-B801-EFCF-0326141AEE8F}"/>
                </a:ext>
              </a:extLst>
            </p:cNvPr>
            <p:cNvPicPr>
              <a:picLocks noChangeAspect="1"/>
            </p:cNvPicPr>
            <p:nvPr/>
          </p:nvPicPr>
          <p:blipFill>
            <a:blip r:embed="rId2"/>
            <a:stretch>
              <a:fillRect/>
            </a:stretch>
          </p:blipFill>
          <p:spPr>
            <a:xfrm>
              <a:off x="3441794" y="643841"/>
              <a:ext cx="3340559" cy="3863052"/>
            </a:xfrm>
            <a:prstGeom prst="rect">
              <a:avLst/>
            </a:prstGeom>
          </p:spPr>
        </p:pic>
        <p:sp>
          <p:nvSpPr>
            <p:cNvPr id="7" name="Rounded Rectangle 6">
              <a:extLst>
                <a:ext uri="{FF2B5EF4-FFF2-40B4-BE49-F238E27FC236}">
                  <a16:creationId xmlns:a16="http://schemas.microsoft.com/office/drawing/2014/main" id="{4CC07AE2-B649-28FD-1F63-228D33AC5822}"/>
                </a:ext>
              </a:extLst>
            </p:cNvPr>
            <p:cNvSpPr/>
            <p:nvPr/>
          </p:nvSpPr>
          <p:spPr>
            <a:xfrm>
              <a:off x="3773347" y="2160608"/>
              <a:ext cx="540152"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BA18D076-BC18-9675-8E82-53CFA3EB6F6D}"/>
                </a:ext>
              </a:extLst>
            </p:cNvPr>
            <p:cNvSpPr/>
            <p:nvPr/>
          </p:nvSpPr>
          <p:spPr>
            <a:xfrm>
              <a:off x="4413812" y="2160608"/>
              <a:ext cx="694481"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71B95960-8F0E-6D00-1BC8-0167A49961F7}"/>
                </a:ext>
              </a:extLst>
            </p:cNvPr>
            <p:cNvSpPr/>
            <p:nvPr/>
          </p:nvSpPr>
          <p:spPr>
            <a:xfrm>
              <a:off x="5200890" y="2160608"/>
              <a:ext cx="605743"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A5385BB5-F7F2-91F4-B7C5-48271905ECFC}"/>
                </a:ext>
              </a:extLst>
            </p:cNvPr>
            <p:cNvSpPr/>
            <p:nvPr/>
          </p:nvSpPr>
          <p:spPr>
            <a:xfrm>
              <a:off x="5899230" y="2160608"/>
              <a:ext cx="551728"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224D6394-AE67-3E2F-EACC-311BD099070E}"/>
                </a:ext>
              </a:extLst>
            </p:cNvPr>
            <p:cNvSpPr/>
            <p:nvPr/>
          </p:nvSpPr>
          <p:spPr>
            <a:xfrm>
              <a:off x="5656162" y="1041722"/>
              <a:ext cx="92597" cy="84881"/>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30903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2E2B4-32A8-6EC7-9C87-DBA4A4363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7FBD1-7620-CE83-B8B0-D43388631307}"/>
              </a:ext>
            </a:extLst>
          </p:cNvPr>
          <p:cNvSpPr>
            <a:spLocks noGrp="1"/>
          </p:cNvSpPr>
          <p:nvPr>
            <p:ph type="title"/>
          </p:nvPr>
        </p:nvSpPr>
        <p:spPr/>
        <p:txBody>
          <a:bodyPr/>
          <a:lstStyle/>
          <a:p>
            <a:r>
              <a:rPr lang="en-US" dirty="0"/>
              <a:t>An AI Agent Stack: All its moving parts </a:t>
            </a:r>
          </a:p>
        </p:txBody>
      </p:sp>
      <p:sp>
        <p:nvSpPr>
          <p:cNvPr id="16" name="TextBox 15">
            <a:extLst>
              <a:ext uri="{FF2B5EF4-FFF2-40B4-BE49-F238E27FC236}">
                <a16:creationId xmlns:a16="http://schemas.microsoft.com/office/drawing/2014/main" id="{57458EB5-ED0D-7478-4F15-C95A3BB782D6}"/>
              </a:ext>
            </a:extLst>
          </p:cNvPr>
          <p:cNvSpPr txBox="1"/>
          <p:nvPr/>
        </p:nvSpPr>
        <p:spPr>
          <a:xfrm>
            <a:off x="345462" y="4943445"/>
            <a:ext cx="6530865" cy="200055"/>
          </a:xfrm>
          <a:prstGeom prst="rect">
            <a:avLst/>
          </a:prstGeom>
          <a:noFill/>
        </p:spPr>
        <p:txBody>
          <a:bodyPr wrap="square" rtlCol="0">
            <a:spAutoFit/>
          </a:bodyPr>
          <a:lstStyle/>
          <a:p>
            <a:pPr algn="r"/>
            <a:r>
              <a:rPr lang="en-US" sz="700" i="1" dirty="0"/>
              <a:t>Courtesy: https://blog.bytebytego.com/p/ep218-the-typical-ai-agent-stack </a:t>
            </a:r>
            <a:endParaRPr lang="en-US" sz="700" dirty="0"/>
          </a:p>
        </p:txBody>
      </p:sp>
      <p:pic>
        <p:nvPicPr>
          <p:cNvPr id="3" name="Picture 2">
            <a:extLst>
              <a:ext uri="{FF2B5EF4-FFF2-40B4-BE49-F238E27FC236}">
                <a16:creationId xmlns:a16="http://schemas.microsoft.com/office/drawing/2014/main" id="{550B16DD-FA4F-FB2F-5037-D2C181D9BADB}"/>
              </a:ext>
            </a:extLst>
          </p:cNvPr>
          <p:cNvPicPr>
            <a:picLocks noChangeAspect="1"/>
          </p:cNvPicPr>
          <p:nvPr/>
        </p:nvPicPr>
        <p:blipFill>
          <a:blip r:embed="rId2"/>
          <a:srcRect t="9448" b="3624"/>
          <a:stretch>
            <a:fillRect/>
          </a:stretch>
        </p:blipFill>
        <p:spPr>
          <a:xfrm>
            <a:off x="1343627" y="536293"/>
            <a:ext cx="4170745" cy="4340506"/>
          </a:xfrm>
          <a:prstGeom prst="rect">
            <a:avLst/>
          </a:prstGeom>
          <a:ln w="12700">
            <a:solidFill>
              <a:srgbClr val="2A2A63"/>
            </a:solidFill>
          </a:ln>
          <a:effectLst>
            <a:outerShdw blurRad="50800" dist="38100" dir="2700000" algn="tl" rotWithShape="0">
              <a:srgbClr val="2A2A63">
                <a:alpha val="40000"/>
              </a:srgbClr>
            </a:outerShdw>
          </a:effectLst>
        </p:spPr>
      </p:pic>
    </p:spTree>
    <p:extLst>
      <p:ext uri="{BB962C8B-B14F-4D97-AF65-F5344CB8AC3E}">
        <p14:creationId xmlns:p14="http://schemas.microsoft.com/office/powerpoint/2010/main" val="135014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B620-D4EF-52A2-4239-18DBD7FE4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A0450-A5CC-2E36-CE8C-4F8FD489AADA}"/>
              </a:ext>
            </a:extLst>
          </p:cNvPr>
          <p:cNvSpPr>
            <a:spLocks noGrp="1"/>
          </p:cNvSpPr>
          <p:nvPr>
            <p:ph type="title"/>
          </p:nvPr>
        </p:nvSpPr>
        <p:spPr/>
        <p:txBody>
          <a:bodyPr/>
          <a:lstStyle/>
          <a:p>
            <a:r>
              <a:rPr lang="en-US" dirty="0"/>
              <a:t>Production agentic system in action</a:t>
            </a:r>
          </a:p>
        </p:txBody>
      </p:sp>
      <p:pic>
        <p:nvPicPr>
          <p:cNvPr id="8" name="Picture 7">
            <a:extLst>
              <a:ext uri="{FF2B5EF4-FFF2-40B4-BE49-F238E27FC236}">
                <a16:creationId xmlns:a16="http://schemas.microsoft.com/office/drawing/2014/main" id="{E314764B-2FB0-7738-1386-4E02DBA61CC5}"/>
              </a:ext>
            </a:extLst>
          </p:cNvPr>
          <p:cNvPicPr>
            <a:picLocks noChangeAspect="1"/>
          </p:cNvPicPr>
          <p:nvPr/>
        </p:nvPicPr>
        <p:blipFill>
          <a:blip r:embed="rId2"/>
          <a:stretch>
            <a:fillRect/>
          </a:stretch>
        </p:blipFill>
        <p:spPr>
          <a:xfrm>
            <a:off x="268014" y="630050"/>
            <a:ext cx="6259714" cy="3516821"/>
          </a:xfrm>
          <a:prstGeom prst="rect">
            <a:avLst/>
          </a:prstGeom>
        </p:spPr>
      </p:pic>
      <p:sp>
        <p:nvSpPr>
          <p:cNvPr id="16" name="TextBox 15">
            <a:extLst>
              <a:ext uri="{FF2B5EF4-FFF2-40B4-BE49-F238E27FC236}">
                <a16:creationId xmlns:a16="http://schemas.microsoft.com/office/drawing/2014/main" id="{696F6CD3-14D1-9FA7-FB83-405D80D9CE31}"/>
              </a:ext>
            </a:extLst>
          </p:cNvPr>
          <p:cNvSpPr txBox="1"/>
          <p:nvPr/>
        </p:nvSpPr>
        <p:spPr>
          <a:xfrm>
            <a:off x="78828" y="4201967"/>
            <a:ext cx="6530865" cy="253916"/>
          </a:xfrm>
          <a:prstGeom prst="rect">
            <a:avLst/>
          </a:prstGeom>
          <a:noFill/>
        </p:spPr>
        <p:txBody>
          <a:bodyPr wrap="square" rtlCol="0">
            <a:spAutoFit/>
          </a:bodyPr>
          <a:lstStyle/>
          <a:p>
            <a:pPr algn="r"/>
            <a:r>
              <a:rPr lang="en-US" sz="1000" dirty="0"/>
              <a:t>Anthropic, </a:t>
            </a:r>
            <a:r>
              <a:rPr lang="en-US" sz="1000" i="1" dirty="0">
                <a:hlinkClick r:id="rId3"/>
              </a:rPr>
              <a:t>How we built our multi-agent research system</a:t>
            </a:r>
            <a:endParaRPr lang="en-US" sz="1000" dirty="0"/>
          </a:p>
        </p:txBody>
      </p:sp>
    </p:spTree>
    <p:extLst>
      <p:ext uri="{BB962C8B-B14F-4D97-AF65-F5344CB8AC3E}">
        <p14:creationId xmlns:p14="http://schemas.microsoft.com/office/powerpoint/2010/main" val="454440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4BC5D-A69E-FA50-4384-649F53EF2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C25AA-5113-B747-65C3-74969B3DAF47}"/>
              </a:ext>
            </a:extLst>
          </p:cNvPr>
          <p:cNvSpPr>
            <a:spLocks noGrp="1"/>
          </p:cNvSpPr>
          <p:nvPr>
            <p:ph type="title"/>
          </p:nvPr>
        </p:nvSpPr>
        <p:spPr/>
        <p:txBody>
          <a:bodyPr>
            <a:normAutofit/>
          </a:bodyPr>
          <a:lstStyle/>
          <a:p>
            <a:r>
              <a:rPr lang="en-US" dirty="0"/>
              <a:t>Production agentic system in action</a:t>
            </a:r>
          </a:p>
        </p:txBody>
      </p:sp>
      <p:pic>
        <p:nvPicPr>
          <p:cNvPr id="3" name="Picture 2">
            <a:extLst>
              <a:ext uri="{FF2B5EF4-FFF2-40B4-BE49-F238E27FC236}">
                <a16:creationId xmlns:a16="http://schemas.microsoft.com/office/drawing/2014/main" id="{BDE9DC3B-597A-A70B-9447-D9DDE4C6A163}"/>
              </a:ext>
            </a:extLst>
          </p:cNvPr>
          <p:cNvPicPr>
            <a:picLocks noChangeAspect="1"/>
          </p:cNvPicPr>
          <p:nvPr/>
        </p:nvPicPr>
        <p:blipFill>
          <a:blip r:embed="rId2"/>
          <a:srcRect t="10575" b="7127"/>
          <a:stretch>
            <a:fillRect/>
          </a:stretch>
        </p:blipFill>
        <p:spPr>
          <a:xfrm>
            <a:off x="857250" y="630050"/>
            <a:ext cx="5143500" cy="4233042"/>
          </a:xfrm>
          <a:prstGeom prst="rect">
            <a:avLst/>
          </a:prstGeom>
        </p:spPr>
      </p:pic>
    </p:spTree>
    <p:extLst>
      <p:ext uri="{BB962C8B-B14F-4D97-AF65-F5344CB8AC3E}">
        <p14:creationId xmlns:p14="http://schemas.microsoft.com/office/powerpoint/2010/main" val="3571114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689ED-16AF-23BD-F4BC-EB1C8AA9D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88DB3-AD5A-2D4B-CE1B-E6E8EF53312B}"/>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1FBAD5FE-9055-C4B2-9268-F351BBF0110C}"/>
              </a:ext>
            </a:extLst>
          </p:cNvPr>
          <p:cNvSpPr/>
          <p:nvPr/>
        </p:nvSpPr>
        <p:spPr>
          <a:xfrm>
            <a:off x="319251" y="818143"/>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bg1">
                    <a:lumMod val="95000"/>
                  </a:schemeClr>
                </a:solidFill>
              </a:rPr>
              <a:t>By the end of this semester, you will </a:t>
            </a:r>
            <a:r>
              <a:rPr lang="en-US" b="1" dirty="0">
                <a:solidFill>
                  <a:schemeClr val="bg1">
                    <a:lumMod val="95000"/>
                  </a:schemeClr>
                </a:solidFill>
              </a:rPr>
              <a:t>design a production agentic system</a:t>
            </a:r>
            <a:r>
              <a:rPr lang="en-US" dirty="0">
                <a:solidFill>
                  <a:schemeClr val="bg1">
                    <a:lumMod val="95000"/>
                  </a:schemeClr>
                </a:solidFill>
              </a:rPr>
              <a:t> like what you just saw from Anthropic</a:t>
            </a:r>
          </a:p>
        </p:txBody>
      </p:sp>
    </p:spTree>
    <p:extLst>
      <p:ext uri="{BB962C8B-B14F-4D97-AF65-F5344CB8AC3E}">
        <p14:creationId xmlns:p14="http://schemas.microsoft.com/office/powerpoint/2010/main" val="449723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91F4F-20E9-6787-C73C-319C25B9A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22A3E-60F1-9366-AD9C-F73173468D50}"/>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848AE27B-83A7-42D6-F065-7769CA6D5AA0}"/>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4BC4C567-8DAE-84BF-FFAD-E774C2BCE4A8}"/>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162305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42FDE-675F-A948-0E22-791DEC07BD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274F69-DC79-B0F2-4CFA-888172C68F6C}"/>
              </a:ext>
            </a:extLst>
          </p:cNvPr>
          <p:cNvSpPr txBox="1"/>
          <p:nvPr/>
        </p:nvSpPr>
        <p:spPr>
          <a:xfrm>
            <a:off x="719302" y="2217807"/>
            <a:ext cx="5419396"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Course Logistics</a:t>
            </a:r>
          </a:p>
        </p:txBody>
      </p:sp>
    </p:spTree>
    <p:extLst>
      <p:ext uri="{BB962C8B-B14F-4D97-AF65-F5344CB8AC3E}">
        <p14:creationId xmlns:p14="http://schemas.microsoft.com/office/powerpoint/2010/main" val="3978714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A287-CC8A-D1E1-E5DB-E14F4C30C1E2}"/>
              </a:ext>
            </a:extLst>
          </p:cNvPr>
          <p:cNvSpPr>
            <a:spLocks noGrp="1"/>
          </p:cNvSpPr>
          <p:nvPr>
            <p:ph type="title"/>
          </p:nvPr>
        </p:nvSpPr>
        <p:spPr/>
        <p:txBody>
          <a:bodyPr/>
          <a:lstStyle/>
          <a:p>
            <a:r>
              <a:rPr lang="en-US" dirty="0"/>
              <a:t>Where the course lives</a:t>
            </a:r>
          </a:p>
        </p:txBody>
      </p:sp>
      <p:graphicFrame>
        <p:nvGraphicFramePr>
          <p:cNvPr id="3" name="Table 2">
            <a:extLst>
              <a:ext uri="{FF2B5EF4-FFF2-40B4-BE49-F238E27FC236}">
                <a16:creationId xmlns:a16="http://schemas.microsoft.com/office/drawing/2014/main" id="{84B4B26E-4758-9CF4-1E1A-DF5072BF35A2}"/>
              </a:ext>
            </a:extLst>
          </p:cNvPr>
          <p:cNvGraphicFramePr>
            <a:graphicFrameLocks noGrp="1"/>
          </p:cNvGraphicFramePr>
          <p:nvPr>
            <p:extLst>
              <p:ext uri="{D42A27DB-BD31-4B8C-83A1-F6EECF244321}">
                <p14:modId xmlns:p14="http://schemas.microsoft.com/office/powerpoint/2010/main" val="646898164"/>
              </p:ext>
            </p:extLst>
          </p:nvPr>
        </p:nvGraphicFramePr>
        <p:xfrm>
          <a:off x="1143000" y="1107480"/>
          <a:ext cx="4572000" cy="2388870"/>
        </p:xfrm>
        <a:graphic>
          <a:graphicData uri="http://schemas.openxmlformats.org/drawingml/2006/table">
            <a:tbl>
              <a:tblPr firstRow="1" bandRow="1">
                <a:tableStyleId>{2D5ABB26-0587-4C30-8999-92F81FD0307C}</a:tableStyleId>
              </a:tblPr>
              <a:tblGrid>
                <a:gridCol w="1149724">
                  <a:extLst>
                    <a:ext uri="{9D8B030D-6E8A-4147-A177-3AD203B41FA5}">
                      <a16:colId xmlns:a16="http://schemas.microsoft.com/office/drawing/2014/main" val="2271713243"/>
                    </a:ext>
                  </a:extLst>
                </a:gridCol>
                <a:gridCol w="3422276">
                  <a:extLst>
                    <a:ext uri="{9D8B030D-6E8A-4147-A177-3AD203B41FA5}">
                      <a16:colId xmlns:a16="http://schemas.microsoft.com/office/drawing/2014/main" val="1569624038"/>
                    </a:ext>
                  </a:extLst>
                </a:gridCol>
              </a:tblGrid>
              <a:tr h="415290">
                <a:tc>
                  <a:txBody>
                    <a:bodyPr/>
                    <a:lstStyle/>
                    <a:p>
                      <a:r>
                        <a:rPr lang="en-US" b="1" dirty="0"/>
                        <a:t>Course 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2"/>
                        </a:rPr>
                        <a:t>https://COMSE6998-019.github.io </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r>
                        <a:rPr lang="en-US" b="1" dirty="0"/>
                        <a:t>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rPr>
                        <a:t>Discussions for anything the class benefits from; TA announcement; grades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Course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2A2A63"/>
                          </a:solidFill>
                        </a:rPr>
                        <a:t>Fridays 2:10PM to 4:00PM</a:t>
                      </a:r>
                      <a:br>
                        <a:rPr lang="en-US" b="1" dirty="0"/>
                      </a:br>
                      <a:r>
                        <a:rPr lang="en-US" dirty="0"/>
                        <a:t>•  Structured as </a:t>
                      </a:r>
                      <a:r>
                        <a:rPr lang="en-US" b="1" dirty="0">
                          <a:solidFill>
                            <a:srgbClr val="2A2A63"/>
                          </a:solidFill>
                        </a:rPr>
                        <a:t>two 45-50 min lectures</a:t>
                      </a:r>
                      <a:endParaRPr lang="en-US" b="1" dirty="0">
                        <a:solidFill>
                          <a:schemeClr val="accent4">
                            <a:lumMod val="75000"/>
                          </a:schemeClr>
                        </a:solidFill>
                      </a:endParaRPr>
                    </a:p>
                    <a:p>
                      <a:r>
                        <a:rPr lang="en-US" dirty="0"/>
                        <a:t>•  A </a:t>
                      </a:r>
                      <a:r>
                        <a:rPr lang="en-US" b="1" dirty="0">
                          <a:solidFill>
                            <a:srgbClr val="2A2A63"/>
                          </a:solidFill>
                        </a:rPr>
                        <a:t>15 min break </a:t>
                      </a:r>
                      <a:r>
                        <a:rPr lang="en-US" dirty="0"/>
                        <a:t>in between the two lectures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8948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1" i="0" u="none" strike="noStrike" cap="none" spc="0" dirty="0">
                          <a:solidFill>
                            <a:srgbClr val="2A2A63"/>
                          </a:solidFill>
                          <a:effectLst/>
                          <a:latin typeface="+mn-lt"/>
                          <a:ea typeface="+mn-ea"/>
                          <a:cs typeface="+mn-cs"/>
                          <a:sym typeface="Arial"/>
                        </a:rPr>
                        <a:t>Fridays 12:00–13:30</a:t>
                      </a:r>
                      <a:r>
                        <a:rPr lang="en-US" sz="1050" b="0" i="0" u="none" strike="noStrike" cap="none" spc="0" dirty="0">
                          <a:solidFill>
                            <a:schemeClr val="tx1"/>
                          </a:solidFill>
                          <a:effectLst/>
                          <a:latin typeface="+mn-lt"/>
                          <a:ea typeface="+mn-ea"/>
                          <a:cs typeface="+mn-cs"/>
                          <a:sym typeface="Arial"/>
                        </a:rPr>
                        <a:t>, immediately before lecture. And happy to meet via zoom in this time doesn’t work</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Email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hlinkClick r:id="rId3"/>
                        </a:rPr>
                        <a:t>rk3080@columbia.edu</a:t>
                      </a:r>
                      <a:r>
                        <a:rPr lang="en-US" sz="1050" b="0" i="0" u="none" strike="noStrike" cap="none" spc="0" dirty="0">
                          <a:solidFill>
                            <a:schemeClr val="tx1"/>
                          </a:solidFill>
                          <a:effectLst/>
                          <a:latin typeface="+mn-lt"/>
                          <a:ea typeface="+mn-ea"/>
                          <a:cs typeface="+mn-cs"/>
                          <a:sym typeface="Arial"/>
                        </a:rPr>
                        <a:t>  for everything else incl. accommodations, illness, extensions beyond the late-day policy</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bl>
          </a:graphicData>
        </a:graphic>
      </p:graphicFrame>
    </p:spTree>
    <p:extLst>
      <p:ext uri="{BB962C8B-B14F-4D97-AF65-F5344CB8AC3E}">
        <p14:creationId xmlns:p14="http://schemas.microsoft.com/office/powerpoint/2010/main" val="1099796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9B85B-A21F-0290-09DE-912A69818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7E11E-81FB-D445-07CD-E4302EEC5625}"/>
              </a:ext>
            </a:extLst>
          </p:cNvPr>
          <p:cNvSpPr>
            <a:spLocks noGrp="1"/>
          </p:cNvSpPr>
          <p:nvPr>
            <p:ph type="title"/>
          </p:nvPr>
        </p:nvSpPr>
        <p:spPr/>
        <p:txBody>
          <a:bodyPr/>
          <a:lstStyle/>
          <a:p>
            <a:r>
              <a:rPr lang="en-US" dirty="0"/>
              <a:t>Where the course lives</a:t>
            </a:r>
          </a:p>
        </p:txBody>
      </p:sp>
      <p:graphicFrame>
        <p:nvGraphicFramePr>
          <p:cNvPr id="3" name="Table 2">
            <a:extLst>
              <a:ext uri="{FF2B5EF4-FFF2-40B4-BE49-F238E27FC236}">
                <a16:creationId xmlns:a16="http://schemas.microsoft.com/office/drawing/2014/main" id="{C5BF3C4E-0DC3-5BB8-FF4B-40DA9D3026E3}"/>
              </a:ext>
            </a:extLst>
          </p:cNvPr>
          <p:cNvGraphicFramePr>
            <a:graphicFrameLocks noGrp="1"/>
          </p:cNvGraphicFramePr>
          <p:nvPr>
            <p:extLst>
              <p:ext uri="{D42A27DB-BD31-4B8C-83A1-F6EECF244321}">
                <p14:modId xmlns:p14="http://schemas.microsoft.com/office/powerpoint/2010/main" val="2245402359"/>
              </p:ext>
            </p:extLst>
          </p:nvPr>
        </p:nvGraphicFramePr>
        <p:xfrm>
          <a:off x="1143000" y="1107480"/>
          <a:ext cx="4572000" cy="2388870"/>
        </p:xfrm>
        <a:graphic>
          <a:graphicData uri="http://schemas.openxmlformats.org/drawingml/2006/table">
            <a:tbl>
              <a:tblPr firstRow="1" bandRow="1">
                <a:tableStyleId>{2D5ABB26-0587-4C30-8999-92F81FD0307C}</a:tableStyleId>
              </a:tblPr>
              <a:tblGrid>
                <a:gridCol w="1149724">
                  <a:extLst>
                    <a:ext uri="{9D8B030D-6E8A-4147-A177-3AD203B41FA5}">
                      <a16:colId xmlns:a16="http://schemas.microsoft.com/office/drawing/2014/main" val="2271713243"/>
                    </a:ext>
                  </a:extLst>
                </a:gridCol>
                <a:gridCol w="3422276">
                  <a:extLst>
                    <a:ext uri="{9D8B030D-6E8A-4147-A177-3AD203B41FA5}">
                      <a16:colId xmlns:a16="http://schemas.microsoft.com/office/drawing/2014/main" val="1569624038"/>
                    </a:ext>
                  </a:extLst>
                </a:gridCol>
              </a:tblGrid>
              <a:tr h="415290">
                <a:tc>
                  <a:txBody>
                    <a:bodyPr/>
                    <a:lstStyle/>
                    <a:p>
                      <a:r>
                        <a:rPr lang="en-US" b="1" dirty="0"/>
                        <a:t>Course 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2"/>
                        </a:rPr>
                        <a:t>https://COMSE6998-019.github.io </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r>
                        <a:rPr lang="en-US" b="1" dirty="0"/>
                        <a:t>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rPr>
                        <a:t>Discussions for anything the class benefits from; TA announcement; grades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Course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2A2A63"/>
                          </a:solidFill>
                        </a:rPr>
                        <a:t>Fridays 2:10PM to 4:00PM</a:t>
                      </a:r>
                      <a:br>
                        <a:rPr lang="en-US" b="1" dirty="0"/>
                      </a:br>
                      <a:r>
                        <a:rPr lang="en-US" dirty="0"/>
                        <a:t>•  Structured as </a:t>
                      </a:r>
                      <a:r>
                        <a:rPr lang="en-US" b="1" dirty="0">
                          <a:solidFill>
                            <a:srgbClr val="2A2A63"/>
                          </a:solidFill>
                        </a:rPr>
                        <a:t>two 45-50 min lectures</a:t>
                      </a:r>
                      <a:r>
                        <a:rPr lang="en-US" b="1" dirty="0">
                          <a:solidFill>
                            <a:schemeClr val="accent4">
                              <a:lumMod val="75000"/>
                            </a:schemeClr>
                          </a:solidFill>
                        </a:rPr>
                        <a:t>*</a:t>
                      </a:r>
                    </a:p>
                    <a:p>
                      <a:r>
                        <a:rPr lang="en-US" dirty="0"/>
                        <a:t>•  A </a:t>
                      </a:r>
                      <a:r>
                        <a:rPr lang="en-US" b="1" dirty="0">
                          <a:solidFill>
                            <a:srgbClr val="2A2A63"/>
                          </a:solidFill>
                        </a:rPr>
                        <a:t>15 min break </a:t>
                      </a:r>
                      <a:r>
                        <a:rPr lang="en-US" dirty="0"/>
                        <a:t>in between the two lectures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8948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1" i="0" u="none" strike="noStrike" cap="none" spc="0" dirty="0">
                          <a:solidFill>
                            <a:srgbClr val="2A2A63"/>
                          </a:solidFill>
                          <a:effectLst/>
                          <a:latin typeface="+mn-lt"/>
                          <a:ea typeface="+mn-ea"/>
                          <a:cs typeface="+mn-cs"/>
                          <a:sym typeface="Arial"/>
                        </a:rPr>
                        <a:t>Fridays 12:00–13:30</a:t>
                      </a:r>
                      <a:r>
                        <a:rPr lang="en-US" sz="1050" b="0" i="0" u="none" strike="noStrike" cap="none" spc="0" dirty="0">
                          <a:solidFill>
                            <a:schemeClr val="tx1"/>
                          </a:solidFill>
                          <a:effectLst/>
                          <a:latin typeface="+mn-lt"/>
                          <a:ea typeface="+mn-ea"/>
                          <a:cs typeface="+mn-cs"/>
                          <a:sym typeface="Arial"/>
                        </a:rPr>
                        <a:t>, immediately before lecture. And happy to meet via zoom in this time doesn’t work</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Email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hlinkClick r:id="rId3"/>
                        </a:rPr>
                        <a:t>rk3080@columbia.edu</a:t>
                      </a:r>
                      <a:r>
                        <a:rPr lang="en-US" sz="1050" b="0" i="0" u="none" strike="noStrike" cap="none" spc="0" dirty="0">
                          <a:solidFill>
                            <a:schemeClr val="tx1"/>
                          </a:solidFill>
                          <a:effectLst/>
                          <a:latin typeface="+mn-lt"/>
                          <a:ea typeface="+mn-ea"/>
                          <a:cs typeface="+mn-cs"/>
                          <a:sym typeface="Arial"/>
                        </a:rPr>
                        <a:t>  for everything else incl. accommodations, illness, extensions beyond the late-day policy</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bl>
          </a:graphicData>
        </a:graphic>
      </p:graphicFrame>
      <p:sp>
        <p:nvSpPr>
          <p:cNvPr id="4" name="TextBox 3">
            <a:extLst>
              <a:ext uri="{FF2B5EF4-FFF2-40B4-BE49-F238E27FC236}">
                <a16:creationId xmlns:a16="http://schemas.microsoft.com/office/drawing/2014/main" id="{CC7150BF-0559-AB2F-828E-25560FD88704}"/>
              </a:ext>
            </a:extLst>
          </p:cNvPr>
          <p:cNvSpPr txBox="1"/>
          <p:nvPr/>
        </p:nvSpPr>
        <p:spPr>
          <a:xfrm>
            <a:off x="4845934" y="3496350"/>
            <a:ext cx="998991" cy="261610"/>
          </a:xfrm>
          <a:prstGeom prst="rect">
            <a:avLst/>
          </a:prstGeom>
          <a:noFill/>
        </p:spPr>
        <p:txBody>
          <a:bodyPr wrap="none" rtlCol="0">
            <a:spAutoFit/>
          </a:bodyPr>
          <a:lstStyle/>
          <a:p>
            <a:pPr algn="l"/>
            <a:r>
              <a:rPr lang="en-US" sz="1050" i="1" dirty="0">
                <a:solidFill>
                  <a:schemeClr val="accent4">
                    <a:lumMod val="75000"/>
                  </a:schemeClr>
                </a:solidFill>
                <a:latin typeface="+mn-lt"/>
              </a:rPr>
              <a:t>except today</a:t>
            </a:r>
          </a:p>
        </p:txBody>
      </p:sp>
    </p:spTree>
    <p:extLst>
      <p:ext uri="{BB962C8B-B14F-4D97-AF65-F5344CB8AC3E}">
        <p14:creationId xmlns:p14="http://schemas.microsoft.com/office/powerpoint/2010/main" val="708007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963060513"/>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752655"/>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8589B-CF4B-5B2B-D753-F9C151397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7F301-905B-6747-EF90-724A0F00AF06}"/>
              </a:ext>
            </a:extLst>
          </p:cNvPr>
          <p:cNvSpPr>
            <a:spLocks noGrp="1"/>
          </p:cNvSpPr>
          <p:nvPr>
            <p:ph type="title"/>
          </p:nvPr>
        </p:nvSpPr>
        <p:spPr/>
        <p:txBody>
          <a:bodyPr/>
          <a:lstStyle/>
          <a:p>
            <a:r>
              <a:rPr lang="en-US" dirty="0"/>
              <a:t>Prerequisites, Tech Stack, and Late days</a:t>
            </a:r>
          </a:p>
        </p:txBody>
      </p:sp>
      <p:graphicFrame>
        <p:nvGraphicFramePr>
          <p:cNvPr id="8" name="Content Placeholder 7">
            <a:extLst>
              <a:ext uri="{FF2B5EF4-FFF2-40B4-BE49-F238E27FC236}">
                <a16:creationId xmlns:a16="http://schemas.microsoft.com/office/drawing/2014/main" id="{C3A7883C-5273-1275-74A5-91F584629046}"/>
              </a:ext>
            </a:extLst>
          </p:cNvPr>
          <p:cNvGraphicFramePr>
            <a:graphicFrameLocks noGrp="1"/>
          </p:cNvGraphicFramePr>
          <p:nvPr>
            <p:ph idx="1"/>
            <p:extLst>
              <p:ext uri="{D42A27DB-BD31-4B8C-83A1-F6EECF244321}">
                <p14:modId xmlns:p14="http://schemas.microsoft.com/office/powerpoint/2010/main" val="1347819122"/>
              </p:ext>
            </p:extLst>
          </p:nvPr>
        </p:nvGraphicFramePr>
        <p:xfrm>
          <a:off x="111889" y="773328"/>
          <a:ext cx="6651584" cy="3705175"/>
        </p:xfrm>
        <a:graphic>
          <a:graphicData uri="http://schemas.openxmlformats.org/drawingml/2006/table">
            <a:tbl>
              <a:tblPr firstRow="1" bandRow="1">
                <a:tableStyleId>{073A0DAA-6AF3-43AB-8588-CEC1D06C72B9}</a:tableStyleId>
              </a:tblPr>
              <a:tblGrid>
                <a:gridCol w="1520602">
                  <a:extLst>
                    <a:ext uri="{9D8B030D-6E8A-4147-A177-3AD203B41FA5}">
                      <a16:colId xmlns:a16="http://schemas.microsoft.com/office/drawing/2014/main" val="700089793"/>
                    </a:ext>
                  </a:extLst>
                </a:gridCol>
                <a:gridCol w="5130982">
                  <a:extLst>
                    <a:ext uri="{9D8B030D-6E8A-4147-A177-3AD203B41FA5}">
                      <a16:colId xmlns:a16="http://schemas.microsoft.com/office/drawing/2014/main" val="1369608622"/>
                    </a:ext>
                  </a:extLst>
                </a:gridCol>
              </a:tblGrid>
              <a:tr h="370840">
                <a:tc>
                  <a:txBody>
                    <a:bodyPr/>
                    <a:lstStyle/>
                    <a:p>
                      <a:pPr>
                        <a:lnSpc>
                          <a:spcPct val="125000"/>
                        </a:lnSpc>
                      </a:pPr>
                      <a:r>
                        <a:rPr lang="en-US" sz="1200" b="1" dirty="0">
                          <a:solidFill>
                            <a:schemeClr val="accent2"/>
                          </a:solidFill>
                        </a:rPr>
                        <a:t>Python/Typescript</a:t>
                      </a: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0" dirty="0">
                          <a:solidFill>
                            <a:schemeClr val="accent2"/>
                          </a:solidFill>
                        </a:rPr>
                        <a:t>You will read and </a:t>
                      </a:r>
                      <a:r>
                        <a:rPr lang="en-US" sz="1200" b="1" dirty="0">
                          <a:solidFill>
                            <a:srgbClr val="2A2A63"/>
                          </a:solidFill>
                        </a:rPr>
                        <a:t>write a moderate amount</a:t>
                      </a:r>
                      <a:r>
                        <a:rPr lang="en-US" sz="1200" b="0" dirty="0">
                          <a:solidFill>
                            <a:schemeClr val="accent2"/>
                          </a:solidFill>
                        </a:rPr>
                        <a:t> of it every week and read/debug it</a:t>
                      </a: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041080"/>
                  </a:ext>
                </a:extLst>
              </a:tr>
              <a:tr h="370840">
                <a:tc>
                  <a:txBody>
                    <a:bodyPr/>
                    <a:lstStyle/>
                    <a:p>
                      <a:pPr>
                        <a:lnSpc>
                          <a:spcPct val="125000"/>
                        </a:lnSpc>
                      </a:pPr>
                      <a:r>
                        <a:rPr lang="en-US" sz="1200" b="1" dirty="0">
                          <a:solidFill>
                            <a:schemeClr val="accent2"/>
                          </a:solidFill>
                        </a:rPr>
                        <a:t>Agent knowledge</a:t>
                      </a: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0" i="0" u="none" strike="noStrike" cap="none" spc="0" dirty="0">
                          <a:solidFill>
                            <a:schemeClr val="dk1"/>
                          </a:solidFill>
                          <a:effectLst/>
                          <a:latin typeface="+mn-lt"/>
                          <a:ea typeface="+mn-ea"/>
                          <a:cs typeface="+mn-cs"/>
                          <a:sym typeface="Arial"/>
                        </a:rPr>
                        <a:t>Honestly, </a:t>
                      </a:r>
                      <a:r>
                        <a:rPr lang="en-US" sz="1200" b="1" i="0" u="none" strike="noStrike" cap="none" spc="0" dirty="0">
                          <a:solidFill>
                            <a:srgbClr val="2A2A63"/>
                          </a:solidFill>
                          <a:effectLst/>
                          <a:latin typeface="+mn-lt"/>
                          <a:ea typeface="+mn-ea"/>
                          <a:cs typeface="+mn-cs"/>
                          <a:sym typeface="Arial"/>
                        </a:rPr>
                        <a:t>not required</a:t>
                      </a:r>
                      <a:r>
                        <a:rPr lang="en-US" sz="1200" b="0" i="0" u="none" strike="noStrike" cap="none" spc="0" dirty="0">
                          <a:solidFill>
                            <a:schemeClr val="dk1"/>
                          </a:solidFill>
                          <a:effectLst/>
                          <a:latin typeface="+mn-lt"/>
                          <a:ea typeface="+mn-ea"/>
                          <a:cs typeface="+mn-cs"/>
                          <a:sym typeface="Arial"/>
                        </a:rPr>
                        <a:t>. You’ll be learning it as you work through the course. </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679507"/>
                  </a:ext>
                </a:extLst>
              </a:tr>
              <a:tr h="535998">
                <a:tc>
                  <a:txBody>
                    <a:bodyPr/>
                    <a:lstStyle/>
                    <a:p>
                      <a:pPr>
                        <a:lnSpc>
                          <a:spcPct val="125000"/>
                        </a:lnSpc>
                      </a:pPr>
                      <a:r>
                        <a:rPr lang="en-US" sz="1200" b="1" i="0" u="none" strike="noStrike" cap="none" spc="0" dirty="0">
                          <a:solidFill>
                            <a:schemeClr val="dk1"/>
                          </a:solidFill>
                          <a:effectLst/>
                          <a:latin typeface="+mn-lt"/>
                          <a:ea typeface="+mn-ea"/>
                          <a:cs typeface="+mn-cs"/>
                          <a:sym typeface="Arial"/>
                        </a:rPr>
                        <a:t>Systems background</a:t>
                      </a:r>
                      <a:endParaRPr lang="en-US" sz="1200" b="0" dirty="0">
                        <a:solidFill>
                          <a:schemeClr val="accent2"/>
                        </a:solidFill>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0" dirty="0">
                          <a:solidFill>
                            <a:schemeClr val="accent2"/>
                          </a:solidFill>
                        </a:rPr>
                        <a:t>Again, </a:t>
                      </a:r>
                      <a:r>
                        <a:rPr lang="en-US" sz="1200" b="1" dirty="0">
                          <a:solidFill>
                            <a:srgbClr val="2A2A63"/>
                          </a:solidFill>
                        </a:rPr>
                        <a:t>not really required</a:t>
                      </a:r>
                      <a:r>
                        <a:rPr lang="en-US" sz="1200" b="1" dirty="0">
                          <a:solidFill>
                            <a:schemeClr val="accent2"/>
                          </a:solidFill>
                        </a:rPr>
                        <a:t>. </a:t>
                      </a:r>
                      <a:r>
                        <a:rPr lang="en-US" sz="1200" b="0" dirty="0">
                          <a:solidFill>
                            <a:schemeClr val="accent2"/>
                          </a:solidFill>
                        </a:rPr>
                        <a:t>We’ll talk about </a:t>
                      </a:r>
                      <a:r>
                        <a:rPr lang="en-US" sz="1200" b="0" i="0" u="none" strike="noStrike" cap="none" spc="0" dirty="0">
                          <a:solidFill>
                            <a:schemeClr val="dk1"/>
                          </a:solidFill>
                          <a:effectLst/>
                          <a:latin typeface="+mn-lt"/>
                          <a:ea typeface="+mn-ea"/>
                          <a:cs typeface="+mn-cs"/>
                          <a:sym typeface="Arial"/>
                        </a:rPr>
                        <a:t>processes, memory, concurrency, failure, etc. You’ll learn these along the way.</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4046306"/>
                  </a:ext>
                </a:extLst>
              </a:tr>
              <a:tr h="572828">
                <a:tc gridSpan="2">
                  <a:txBody>
                    <a:bodyPr/>
                    <a:lstStyle/>
                    <a:p>
                      <a:pPr marL="171450" indent="-171450">
                        <a:lnSpc>
                          <a:spcPct val="125000"/>
                        </a:lnSpc>
                        <a:buFont typeface="Arial" panose="020B0604020202020204" pitchFamily="34" charset="0"/>
                        <a:buChar char="•"/>
                      </a:pPr>
                      <a:endParaRPr lang="en-US" sz="1200" b="1" i="0" u="none" strike="noStrike" cap="none" spc="0" dirty="0">
                        <a:solidFill>
                          <a:srgbClr val="2A2A63"/>
                        </a:solidFill>
                        <a:effectLst/>
                        <a:latin typeface="+mn-lt"/>
                        <a:ea typeface="+mn-ea"/>
                        <a:cs typeface="+mn-cs"/>
                        <a:sym typeface="Arial"/>
                      </a:endParaRPr>
                    </a:p>
                    <a:p>
                      <a:pPr marL="171450" indent="-171450">
                        <a:lnSpc>
                          <a:spcPct val="125000"/>
                        </a:lnSpc>
                        <a:buFont typeface="Arial" panose="020B0604020202020204" pitchFamily="34" charset="0"/>
                        <a:buChar char="•"/>
                      </a:pPr>
                      <a:r>
                        <a:rPr lang="en-US" sz="1200" b="1" i="0" u="none" strike="noStrike" cap="none" spc="0" dirty="0">
                          <a:solidFill>
                            <a:srgbClr val="2A2A63"/>
                          </a:solidFill>
                          <a:effectLst/>
                          <a:latin typeface="+mn-lt"/>
                          <a:ea typeface="+mn-ea"/>
                          <a:cs typeface="+mn-cs"/>
                          <a:sym typeface="Arial"/>
                        </a:rPr>
                        <a:t>Kubernetes will be taught.</a:t>
                      </a:r>
                      <a:r>
                        <a:rPr lang="en-US" sz="1200" b="0" i="0" u="none" strike="noStrike" cap="none" spc="0" dirty="0">
                          <a:solidFill>
                            <a:srgbClr val="2A2A63"/>
                          </a:solidFill>
                          <a:effectLst/>
                          <a:latin typeface="+mn-lt"/>
                          <a:ea typeface="+mn-ea"/>
                          <a:cs typeface="+mn-cs"/>
                          <a:sym typeface="Arial"/>
                        </a:rPr>
                        <a:t> </a:t>
                      </a:r>
                      <a:r>
                        <a:rPr lang="en-US" sz="1200" b="0" i="0" u="none" strike="noStrike" cap="none" spc="0" dirty="0">
                          <a:solidFill>
                            <a:schemeClr val="dk1"/>
                          </a:solidFill>
                          <a:effectLst/>
                          <a:latin typeface="+mn-lt"/>
                          <a:ea typeface="+mn-ea"/>
                          <a:cs typeface="+mn-cs"/>
                          <a:sym typeface="Arial"/>
                        </a:rPr>
                        <a:t>Big parts of units 3 and 4 run on it, and no prior Kubernetes experience is expected. If you already know it, great! Some of unit 4 will be a revision.</a:t>
                      </a:r>
                      <a:endParaRPr lang="en-US" sz="1200" b="0" dirty="0">
                        <a:solidFill>
                          <a:schemeClr val="accent2"/>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8905833"/>
                  </a:ext>
                </a:extLst>
              </a:tr>
              <a:tr h="733063">
                <a:tc gridSpan="2">
                  <a:txBody>
                    <a:bodyPr/>
                    <a:lstStyle/>
                    <a:p>
                      <a:pPr marL="171450" indent="-171450">
                        <a:lnSpc>
                          <a:spcPct val="150000"/>
                        </a:lnSpc>
                        <a:buFont typeface="Arial" panose="020B0604020202020204" pitchFamily="34" charset="0"/>
                        <a:buChar char="•"/>
                      </a:pPr>
                      <a:r>
                        <a:rPr lang="en-US" sz="1200" b="1" dirty="0">
                          <a:solidFill>
                            <a:srgbClr val="2A2A63"/>
                          </a:solidFill>
                        </a:rPr>
                        <a:t>Agent Framework. </a:t>
                      </a:r>
                      <a:r>
                        <a:rPr lang="en-US" sz="1200" b="0" dirty="0">
                          <a:solidFill>
                            <a:schemeClr val="accent2"/>
                          </a:solidFill>
                        </a:rPr>
                        <a:t>LangGraph is used for pedagogical reasons. </a:t>
                      </a:r>
                      <a:r>
                        <a:rPr lang="en-US" sz="1200" b="1" i="0" u="none" strike="noStrike" cap="none" spc="0" dirty="0">
                          <a:solidFill>
                            <a:srgbClr val="2A2A63"/>
                          </a:solidFill>
                          <a:effectLst/>
                          <a:latin typeface="+mn-lt"/>
                          <a:ea typeface="+mn-ea"/>
                          <a:cs typeface="+mn-cs"/>
                          <a:sym typeface="Arial"/>
                        </a:rPr>
                        <a:t>Another framework is acceptable</a:t>
                      </a:r>
                      <a:r>
                        <a:rPr lang="en-US" sz="1200" b="0" i="0" u="none" strike="noStrike" cap="none" spc="0" dirty="0">
                          <a:solidFill>
                            <a:schemeClr val="dk1"/>
                          </a:solidFill>
                          <a:effectLst/>
                          <a:latin typeface="+mn-lt"/>
                          <a:ea typeface="+mn-ea"/>
                          <a:cs typeface="+mn-cs"/>
                          <a:sym typeface="Arial"/>
                        </a:rPr>
                        <a:t> provided it meets the same behavioral expectations of each assignment.</a:t>
                      </a:r>
                      <a:endParaRPr lang="en-US" sz="1200" b="1" dirty="0">
                        <a:solidFill>
                          <a:schemeClr val="accent2"/>
                        </a:solidFill>
                      </a:endParaRPr>
                    </a:p>
                  </a:txBody>
                  <a:tcPr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3422700"/>
                  </a:ext>
                </a:extLst>
              </a:tr>
              <a:tr h="370840">
                <a:tc gridSpan="2">
                  <a:txBody>
                    <a:bodyPr/>
                    <a:lstStyle/>
                    <a:p>
                      <a:pPr marL="171450" indent="-171450">
                        <a:lnSpc>
                          <a:spcPct val="150000"/>
                        </a:lnSpc>
                        <a:buFont typeface="Arial" panose="020B0604020202020204" pitchFamily="34" charset="0"/>
                        <a:buChar char="•"/>
                      </a:pPr>
                      <a:r>
                        <a:rPr lang="en-US" sz="1200" b="1" i="0" u="none" strike="noStrike" cap="none" spc="0" dirty="0">
                          <a:solidFill>
                            <a:srgbClr val="2A2A63"/>
                          </a:solidFill>
                          <a:effectLst/>
                          <a:latin typeface="+mn-lt"/>
                          <a:ea typeface="+mn-ea"/>
                          <a:cs typeface="+mn-cs"/>
                          <a:sym typeface="Arial"/>
                        </a:rPr>
                        <a:t>Late days.</a:t>
                      </a:r>
                      <a:r>
                        <a:rPr lang="en-US" sz="1200" b="0" i="0" u="none" strike="noStrike" cap="none" spc="0" dirty="0">
                          <a:solidFill>
                            <a:srgbClr val="2A2A63"/>
                          </a:solidFill>
                          <a:effectLst/>
                          <a:latin typeface="+mn-lt"/>
                          <a:ea typeface="+mn-ea"/>
                          <a:cs typeface="+mn-cs"/>
                          <a:sym typeface="Arial"/>
                        </a:rPr>
                        <a:t> </a:t>
                      </a:r>
                      <a:r>
                        <a:rPr lang="en-US" sz="1200" b="1" i="0" u="none" strike="noStrike" cap="none" spc="0" dirty="0">
                          <a:solidFill>
                            <a:srgbClr val="2A2A63"/>
                          </a:solidFill>
                          <a:effectLst/>
                          <a:latin typeface="+mn-lt"/>
                          <a:ea typeface="+mn-ea"/>
                          <a:cs typeface="+mn-cs"/>
                          <a:sym typeface="Arial"/>
                        </a:rPr>
                        <a:t>Four per team</a:t>
                      </a:r>
                      <a:r>
                        <a:rPr lang="en-US" sz="1200" b="0" i="0" u="none" strike="noStrike" cap="none" spc="0" dirty="0">
                          <a:solidFill>
                            <a:srgbClr val="2A2A63"/>
                          </a:solidFill>
                          <a:effectLst/>
                          <a:latin typeface="+mn-lt"/>
                          <a:ea typeface="+mn-ea"/>
                          <a:cs typeface="+mn-cs"/>
                          <a:sym typeface="Arial"/>
                        </a:rPr>
                        <a:t> </a:t>
                      </a:r>
                      <a:r>
                        <a:rPr lang="en-US" sz="1200" b="0" i="0" u="none" strike="noStrike" cap="none" spc="0" dirty="0">
                          <a:solidFill>
                            <a:schemeClr val="dk1"/>
                          </a:solidFill>
                          <a:effectLst/>
                          <a:latin typeface="+mn-lt"/>
                          <a:ea typeface="+mn-ea"/>
                          <a:cs typeface="+mn-cs"/>
                          <a:sym typeface="Arial"/>
                        </a:rPr>
                        <a:t>for the semester, </a:t>
                      </a:r>
                      <a:r>
                        <a:rPr lang="en-US" sz="1200" b="1" i="0" u="none" strike="noStrike" cap="none" spc="0" dirty="0">
                          <a:solidFill>
                            <a:srgbClr val="2A2A63"/>
                          </a:solidFill>
                          <a:effectLst/>
                          <a:latin typeface="+mn-lt"/>
                          <a:ea typeface="+mn-ea"/>
                          <a:cs typeface="+mn-cs"/>
                          <a:sym typeface="Arial"/>
                        </a:rPr>
                        <a:t>at most two on any one assignment</a:t>
                      </a:r>
                      <a:r>
                        <a:rPr lang="en-US" sz="1200" b="0" i="0" u="none" strike="noStrike" cap="none" spc="0" dirty="0">
                          <a:solidFill>
                            <a:schemeClr val="dk1"/>
                          </a:solidFill>
                          <a:effectLst/>
                          <a:latin typeface="+mn-lt"/>
                          <a:ea typeface="+mn-ea"/>
                          <a:cs typeface="+mn-cs"/>
                          <a:sym typeface="Arial"/>
                        </a:rPr>
                        <a:t>. No need to request if within these windows. For longer extensions, email me, I’ll see what I can do.</a:t>
                      </a:r>
                      <a:endParaRPr lang="en-US" sz="1200" b="1" dirty="0">
                        <a:solidFill>
                          <a:schemeClr val="accent2"/>
                        </a:solidFill>
                      </a:endParaRPr>
                    </a:p>
                  </a:txBody>
                  <a:tcPr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4247655946"/>
                  </a:ext>
                </a:extLst>
              </a:tr>
            </a:tbl>
          </a:graphicData>
        </a:graphic>
      </p:graphicFrame>
    </p:spTree>
    <p:extLst>
      <p:ext uri="{BB962C8B-B14F-4D97-AF65-F5344CB8AC3E}">
        <p14:creationId xmlns:p14="http://schemas.microsoft.com/office/powerpoint/2010/main" val="3661184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7B43-39D5-CF5B-1381-1B4B5864E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DB092-0FA4-ACEA-A03C-C0787BEEAEBF}"/>
              </a:ext>
            </a:extLst>
          </p:cNvPr>
          <p:cNvSpPr>
            <a:spLocks noGrp="1"/>
          </p:cNvSpPr>
          <p:nvPr>
            <p:ph type="title"/>
          </p:nvPr>
        </p:nvSpPr>
        <p:spPr/>
        <p:txBody>
          <a:bodyPr>
            <a:normAutofit/>
          </a:bodyPr>
          <a:lstStyle/>
          <a:p>
            <a:r>
              <a:rPr lang="en-US" dirty="0"/>
              <a:t>Generative AI policy</a:t>
            </a:r>
          </a:p>
        </p:txBody>
      </p:sp>
      <p:graphicFrame>
        <p:nvGraphicFramePr>
          <p:cNvPr id="8" name="Content Placeholder 7">
            <a:extLst>
              <a:ext uri="{FF2B5EF4-FFF2-40B4-BE49-F238E27FC236}">
                <a16:creationId xmlns:a16="http://schemas.microsoft.com/office/drawing/2014/main" id="{F188FEE5-8F51-78B6-BE76-01BA07F0464A}"/>
              </a:ext>
            </a:extLst>
          </p:cNvPr>
          <p:cNvGraphicFramePr>
            <a:graphicFrameLocks noGrp="1"/>
          </p:cNvGraphicFramePr>
          <p:nvPr>
            <p:ph idx="1"/>
            <p:extLst>
              <p:ext uri="{D42A27DB-BD31-4B8C-83A1-F6EECF244321}">
                <p14:modId xmlns:p14="http://schemas.microsoft.com/office/powerpoint/2010/main" val="364036206"/>
              </p:ext>
            </p:extLst>
          </p:nvPr>
        </p:nvGraphicFramePr>
        <p:xfrm>
          <a:off x="244394" y="990903"/>
          <a:ext cx="5974188" cy="1381760"/>
        </p:xfrm>
        <a:graphic>
          <a:graphicData uri="http://schemas.openxmlformats.org/drawingml/2006/table">
            <a:tbl>
              <a:tblPr firstRow="1" bandRow="1">
                <a:tableStyleId>{073A0DAA-6AF3-43AB-8588-CEC1D06C72B9}</a:tableStyleId>
              </a:tblPr>
              <a:tblGrid>
                <a:gridCol w="2869196">
                  <a:extLst>
                    <a:ext uri="{9D8B030D-6E8A-4147-A177-3AD203B41FA5}">
                      <a16:colId xmlns:a16="http://schemas.microsoft.com/office/drawing/2014/main" val="700089793"/>
                    </a:ext>
                  </a:extLst>
                </a:gridCol>
                <a:gridCol w="3104992">
                  <a:extLst>
                    <a:ext uri="{9D8B030D-6E8A-4147-A177-3AD203B41FA5}">
                      <a16:colId xmlns:a16="http://schemas.microsoft.com/office/drawing/2014/main" val="1369608622"/>
                    </a:ext>
                  </a:extLst>
                </a:gridCol>
              </a:tblGrid>
              <a:tr h="370840">
                <a:tc>
                  <a:txBody>
                    <a:bodyPr/>
                    <a:lstStyle/>
                    <a:p>
                      <a:pPr>
                        <a:lnSpc>
                          <a:spcPct val="125000"/>
                        </a:lnSpc>
                      </a:pPr>
                      <a:r>
                        <a:rPr lang="en-US" sz="1200" b="1" dirty="0">
                          <a:solidFill>
                            <a:schemeClr val="accent2"/>
                          </a:solidFill>
                        </a:rPr>
                        <a:t>What’s allowed</a:t>
                      </a:r>
                    </a:p>
                  </a:txBody>
                  <a:tcPr anchor="ctr">
                    <a:lnL w="12700" cmpd="sng">
                      <a:noFill/>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1" dirty="0">
                          <a:solidFill>
                            <a:schemeClr val="accent2"/>
                          </a:solidFill>
                        </a:rPr>
                        <a:t>What isn’t</a:t>
                      </a:r>
                    </a:p>
                  </a:txBody>
                  <a:tcPr anchor="ctr">
                    <a:lnL w="1270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041080"/>
                  </a:ext>
                </a:extLst>
              </a:tr>
              <a:tr h="370840">
                <a:tc>
                  <a:txBody>
                    <a:bodyPr/>
                    <a:lstStyle/>
                    <a:p>
                      <a:pPr>
                        <a:lnSpc>
                          <a:spcPct val="100000"/>
                        </a:lnSpc>
                      </a:pPr>
                      <a:r>
                        <a:rPr lang="en-US" sz="1200" b="0" i="0" u="none" strike="noStrike" cap="none" spc="0" dirty="0">
                          <a:solidFill>
                            <a:schemeClr val="dk1"/>
                          </a:solidFill>
                          <a:effectLst/>
                          <a:latin typeface="+mn-lt"/>
                          <a:ea typeface="+mn-ea"/>
                          <a:cs typeface="+mn-cs"/>
                          <a:sym typeface="Arial"/>
                        </a:rPr>
                        <a:t>Using an assistant to </a:t>
                      </a:r>
                      <a:r>
                        <a:rPr lang="en-US" sz="1200" b="1" i="0" u="none" strike="noStrike" cap="none" spc="0" dirty="0">
                          <a:solidFill>
                            <a:schemeClr val="dk1"/>
                          </a:solidFill>
                          <a:effectLst/>
                          <a:latin typeface="+mn-lt"/>
                          <a:ea typeface="+mn-ea"/>
                          <a:cs typeface="+mn-cs"/>
                          <a:sym typeface="Arial"/>
                        </a:rPr>
                        <a:t>learn—</a:t>
                      </a:r>
                      <a:r>
                        <a:rPr lang="en-US" sz="1200" b="0" i="0" u="none" strike="noStrike" cap="none" spc="0" dirty="0">
                          <a:solidFill>
                            <a:schemeClr val="dk1"/>
                          </a:solidFill>
                          <a:effectLst/>
                          <a:latin typeface="+mn-lt"/>
                          <a:ea typeface="+mn-ea"/>
                          <a:cs typeface="+mn-cs"/>
                          <a:sym typeface="Arial"/>
                        </a:rPr>
                        <a:t>explain a concept, debug your own code, review a design you wrote, critique, etc. </a:t>
                      </a:r>
                      <a:endParaRPr lang="en-US" sz="1200" b="0" dirty="0">
                        <a:solidFill>
                          <a:schemeClr val="accent2"/>
                        </a:solidFill>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sz="1200" b="0" i="0" u="none" strike="noStrike" cap="none" spc="0" dirty="0">
                          <a:solidFill>
                            <a:schemeClr val="dk1"/>
                          </a:solidFill>
                          <a:effectLst/>
                          <a:latin typeface="+mn-lt"/>
                          <a:ea typeface="+mn-ea"/>
                          <a:cs typeface="+mn-cs"/>
                          <a:sym typeface="Arial"/>
                        </a:rPr>
                        <a:t>Handing an assignment to an agent and submitting what it produces</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679507"/>
                  </a:ext>
                </a:extLst>
              </a:tr>
              <a:tr h="370840">
                <a:tc>
                  <a:txBody>
                    <a:bodyPr/>
                    <a:lstStyle/>
                    <a:p>
                      <a:pPr>
                        <a:lnSpc>
                          <a:spcPct val="100000"/>
                        </a:lnSpc>
                      </a:pPr>
                      <a:r>
                        <a:rPr lang="en-US" sz="1200" b="0" i="0" u="none" strike="noStrike" cap="none" spc="0" dirty="0">
                          <a:solidFill>
                            <a:schemeClr val="dk1"/>
                          </a:solidFill>
                          <a:effectLst/>
                          <a:latin typeface="+mn-lt"/>
                          <a:ea typeface="+mn-ea"/>
                          <a:cs typeface="+mn-cs"/>
                          <a:sym typeface="Arial"/>
                        </a:rPr>
                        <a:t>Scoped autocomplete while you write</a:t>
                      </a:r>
                      <a:endParaRPr lang="en-US" sz="1200" b="0" dirty="0">
                        <a:solidFill>
                          <a:schemeClr val="accent2"/>
                        </a:solidFill>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sz="1200" b="0" i="0" u="none" strike="noStrike" cap="none" spc="0" dirty="0">
                          <a:solidFill>
                            <a:schemeClr val="dk1"/>
                          </a:solidFill>
                          <a:effectLst/>
                          <a:latin typeface="+mn-lt"/>
                          <a:ea typeface="+mn-ea"/>
                          <a:cs typeface="+mn-cs"/>
                          <a:sym typeface="Arial"/>
                        </a:rPr>
                        <a:t>Submitting work you cannot explain.</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4046306"/>
                  </a:ext>
                </a:extLst>
              </a:tr>
            </a:tbl>
          </a:graphicData>
        </a:graphic>
      </p:graphicFrame>
      <p:sp>
        <p:nvSpPr>
          <p:cNvPr id="4" name="TextBox 3">
            <a:extLst>
              <a:ext uri="{FF2B5EF4-FFF2-40B4-BE49-F238E27FC236}">
                <a16:creationId xmlns:a16="http://schemas.microsoft.com/office/drawing/2014/main" id="{FF57B510-6286-7029-17E8-F71B81904C90}"/>
              </a:ext>
            </a:extLst>
          </p:cNvPr>
          <p:cNvSpPr txBox="1"/>
          <p:nvPr/>
        </p:nvSpPr>
        <p:spPr>
          <a:xfrm>
            <a:off x="244394" y="2733517"/>
            <a:ext cx="5974188" cy="830997"/>
          </a:xfrm>
          <a:prstGeom prst="rect">
            <a:avLst/>
          </a:prstGeom>
          <a:noFill/>
          <a:ln w="19050">
            <a:solidFill>
              <a:srgbClr val="2A2A63"/>
            </a:solidFill>
          </a:ln>
        </p:spPr>
        <p:txBody>
          <a:bodyPr wrap="square">
            <a:spAutoFit/>
          </a:bodyPr>
          <a:lstStyle/>
          <a:p>
            <a:r>
              <a:rPr lang="en-US" sz="1200" b="1" i="0" dirty="0">
                <a:solidFill>
                  <a:srgbClr val="000000"/>
                </a:solidFill>
                <a:effectLst/>
                <a:latin typeface="+mj-lt"/>
              </a:rPr>
              <a:t>What does this mean to you</a:t>
            </a:r>
            <a:r>
              <a:rPr lang="en-US" sz="1200" b="0" i="0" dirty="0">
                <a:solidFill>
                  <a:srgbClr val="000000"/>
                </a:solidFill>
                <a:effectLst/>
                <a:latin typeface="+mj-lt"/>
              </a:rPr>
              <a:t>: Ask yourself—</a:t>
            </a:r>
            <a:r>
              <a:rPr lang="en-US" sz="1200" b="1" i="0" dirty="0">
                <a:solidFill>
                  <a:srgbClr val="000000"/>
                </a:solidFill>
                <a:effectLst/>
                <a:latin typeface="+mj-lt"/>
              </a:rPr>
              <a:t>”can every member of your team explain every part of what you submitted?”</a:t>
            </a:r>
            <a:r>
              <a:rPr lang="en-US" sz="1200" b="0" i="0" dirty="0">
                <a:solidFill>
                  <a:srgbClr val="000000"/>
                </a:solidFill>
                <a:effectLst/>
                <a:latin typeface="+mj-lt"/>
              </a:rPr>
              <a:t> In other words, if a design choice, lines of code etc., in your submission cannot be defended by the team that submitted it, the policy has been violated.</a:t>
            </a:r>
            <a:endParaRPr lang="en-US" sz="1200" dirty="0">
              <a:latin typeface="+mj-lt"/>
            </a:endParaRPr>
          </a:p>
        </p:txBody>
      </p:sp>
      <p:sp>
        <p:nvSpPr>
          <p:cNvPr id="6" name="TextBox 5">
            <a:extLst>
              <a:ext uri="{FF2B5EF4-FFF2-40B4-BE49-F238E27FC236}">
                <a16:creationId xmlns:a16="http://schemas.microsoft.com/office/drawing/2014/main" id="{3431F36A-720B-FA1F-E942-D46CC9AA7D1D}"/>
              </a:ext>
            </a:extLst>
          </p:cNvPr>
          <p:cNvSpPr txBox="1"/>
          <p:nvPr/>
        </p:nvSpPr>
        <p:spPr>
          <a:xfrm>
            <a:off x="244394" y="4004578"/>
            <a:ext cx="5974188" cy="461665"/>
          </a:xfrm>
          <a:prstGeom prst="rect">
            <a:avLst/>
          </a:prstGeom>
          <a:noFill/>
          <a:ln w="19050">
            <a:solidFill>
              <a:srgbClr val="2A2A63"/>
            </a:solidFill>
          </a:ln>
        </p:spPr>
        <p:txBody>
          <a:bodyPr wrap="square">
            <a:spAutoFit/>
          </a:bodyPr>
          <a:lstStyle/>
          <a:p>
            <a:r>
              <a:rPr lang="en-US" sz="1200" i="0" dirty="0">
                <a:solidFill>
                  <a:srgbClr val="000000"/>
                </a:solidFill>
                <a:effectLst/>
                <a:latin typeface="+mj-lt"/>
              </a:rPr>
              <a:t>Beyond this, Columbia University Generative AI policy is strictly enforced. </a:t>
            </a:r>
            <a:r>
              <a:rPr lang="en-US" sz="1200" dirty="0">
                <a:latin typeface="+mj-lt"/>
              </a:rPr>
              <a:t>See: </a:t>
            </a:r>
            <a:r>
              <a:rPr lang="en-US" sz="1200" dirty="0">
                <a:latin typeface="+mj-lt"/>
                <a:hlinkClick r:id="rId2"/>
              </a:rPr>
              <a:t>https://provost.columbia.edu/content/office-senior-vice-provost/ai-policy</a:t>
            </a:r>
            <a:r>
              <a:rPr lang="en-US" sz="1200" dirty="0">
                <a:latin typeface="+mj-lt"/>
              </a:rPr>
              <a:t> </a:t>
            </a:r>
          </a:p>
        </p:txBody>
      </p:sp>
    </p:spTree>
    <p:extLst>
      <p:ext uri="{BB962C8B-B14F-4D97-AF65-F5344CB8AC3E}">
        <p14:creationId xmlns:p14="http://schemas.microsoft.com/office/powerpoint/2010/main" val="2480671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42FDE-675F-A948-0E22-791DEC07BD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274F69-DC79-B0F2-4CFA-888172C68F6C}"/>
              </a:ext>
            </a:extLst>
          </p:cNvPr>
          <p:cNvSpPr txBox="1"/>
          <p:nvPr/>
        </p:nvSpPr>
        <p:spPr>
          <a:xfrm>
            <a:off x="719302" y="2217807"/>
            <a:ext cx="5419396"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Questions?</a:t>
            </a:r>
          </a:p>
        </p:txBody>
      </p:sp>
    </p:spTree>
    <p:extLst>
      <p:ext uri="{BB962C8B-B14F-4D97-AF65-F5344CB8AC3E}">
        <p14:creationId xmlns:p14="http://schemas.microsoft.com/office/powerpoint/2010/main" val="1812300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D64D9-A752-2D11-1C9C-3CD80DB2BA1E}"/>
              </a:ext>
            </a:extLst>
          </p:cNvPr>
          <p:cNvSpPr>
            <a:spLocks noGrp="1"/>
          </p:cNvSpPr>
          <p:nvPr>
            <p:ph type="title"/>
          </p:nvPr>
        </p:nvSpPr>
        <p:spPr/>
        <p:txBody>
          <a:bodyPr>
            <a:normAutofit/>
          </a:bodyPr>
          <a:lstStyle/>
          <a:p>
            <a:r>
              <a:rPr lang="en-US" dirty="0"/>
              <a:t>Control Loops to LLMs: The Evolution of Agents</a:t>
            </a:r>
          </a:p>
        </p:txBody>
      </p:sp>
      <p:cxnSp>
        <p:nvCxnSpPr>
          <p:cNvPr id="6" name="Straight Arrow Connector 5">
            <a:extLst>
              <a:ext uri="{FF2B5EF4-FFF2-40B4-BE49-F238E27FC236}">
                <a16:creationId xmlns:a16="http://schemas.microsoft.com/office/drawing/2014/main" id="{184D6732-DE8E-9B9B-1E30-038EC22DEF38}"/>
              </a:ext>
            </a:extLst>
          </p:cNvPr>
          <p:cNvCxnSpPr>
            <a:cxnSpLocks/>
          </p:cNvCxnSpPr>
          <p:nvPr/>
        </p:nvCxnSpPr>
        <p:spPr>
          <a:xfrm>
            <a:off x="318052" y="1053548"/>
            <a:ext cx="6379832" cy="0"/>
          </a:xfrm>
          <a:prstGeom prst="straightConnector1">
            <a:avLst/>
          </a:prstGeom>
          <a:ln w="25400">
            <a:solidFill>
              <a:srgbClr val="2A2A63"/>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F5D09D45-BA5A-E702-F647-9CA571C50297}"/>
              </a:ext>
            </a:extLst>
          </p:cNvPr>
          <p:cNvSpPr/>
          <p:nvPr/>
        </p:nvSpPr>
        <p:spPr>
          <a:xfrm>
            <a:off x="1002577"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ABCB18E-5925-5974-7427-25F82BFAD92D}"/>
              </a:ext>
            </a:extLst>
          </p:cNvPr>
          <p:cNvSpPr txBox="1"/>
          <p:nvPr/>
        </p:nvSpPr>
        <p:spPr>
          <a:xfrm>
            <a:off x="666304" y="649431"/>
            <a:ext cx="747320" cy="338554"/>
          </a:xfrm>
          <a:prstGeom prst="rect">
            <a:avLst/>
          </a:prstGeom>
          <a:noFill/>
        </p:spPr>
        <p:txBody>
          <a:bodyPr wrap="none" rtlCol="0">
            <a:spAutoFit/>
          </a:bodyPr>
          <a:lstStyle/>
          <a:p>
            <a:pPr algn="l"/>
            <a:r>
              <a:rPr lang="en-US" sz="1600" dirty="0">
                <a:solidFill>
                  <a:schemeClr val="bg2">
                    <a:lumMod val="50000"/>
                  </a:schemeClr>
                </a:solidFill>
                <a:latin typeface="+mn-lt"/>
              </a:rPr>
              <a:t>1950s </a:t>
            </a:r>
          </a:p>
        </p:txBody>
      </p:sp>
      <p:sp>
        <p:nvSpPr>
          <p:cNvPr id="19" name="TextBox 18">
            <a:extLst>
              <a:ext uri="{FF2B5EF4-FFF2-40B4-BE49-F238E27FC236}">
                <a16:creationId xmlns:a16="http://schemas.microsoft.com/office/drawing/2014/main" id="{33C2D72A-AC25-BFC0-4B13-E9C02BDF661A}"/>
              </a:ext>
            </a:extLst>
          </p:cNvPr>
          <p:cNvSpPr txBox="1"/>
          <p:nvPr/>
        </p:nvSpPr>
        <p:spPr>
          <a:xfrm>
            <a:off x="348909" y="1184675"/>
            <a:ext cx="1382110" cy="1015663"/>
          </a:xfrm>
          <a:prstGeom prst="rect">
            <a:avLst/>
          </a:prstGeom>
          <a:noFill/>
        </p:spPr>
        <p:txBody>
          <a:bodyPr wrap="none" rtlCol="0">
            <a:spAutoFit/>
          </a:bodyPr>
          <a:lstStyle/>
          <a:p>
            <a:pPr algn="ctr"/>
            <a:r>
              <a:rPr lang="en-US" sz="1200" b="1" dirty="0">
                <a:solidFill>
                  <a:schemeClr val="bg2">
                    <a:lumMod val="50000"/>
                  </a:schemeClr>
                </a:solidFill>
                <a:latin typeface="+mn-lt"/>
              </a:rPr>
              <a:t>Control Theory</a:t>
            </a:r>
          </a:p>
          <a:p>
            <a:pPr marL="285750" indent="-285750" algn="l">
              <a:buFont typeface="Arial" panose="020B0604020202020204" pitchFamily="34" charset="0"/>
              <a:buChar char="•"/>
            </a:pPr>
            <a:r>
              <a:rPr lang="en-US" sz="1200" dirty="0">
                <a:solidFill>
                  <a:schemeClr val="bg2">
                    <a:lumMod val="50000"/>
                  </a:schemeClr>
                </a:solidFill>
                <a:latin typeface="+mn-lt"/>
              </a:rPr>
              <a:t>Controller </a:t>
            </a:r>
          </a:p>
          <a:p>
            <a:pPr marL="285750" indent="-285750" algn="l">
              <a:buFont typeface="Arial" panose="020B0604020202020204" pitchFamily="34" charset="0"/>
              <a:buChar char="•"/>
            </a:pPr>
            <a:r>
              <a:rPr lang="en-US" sz="1200" dirty="0">
                <a:solidFill>
                  <a:schemeClr val="bg2">
                    <a:lumMod val="50000"/>
                  </a:schemeClr>
                </a:solidFill>
                <a:latin typeface="+mn-lt"/>
              </a:rPr>
              <a:t>environment</a:t>
            </a:r>
          </a:p>
          <a:p>
            <a:pPr marL="285750" indent="-285750" algn="l">
              <a:buFont typeface="Arial" panose="020B0604020202020204" pitchFamily="34" charset="0"/>
              <a:buChar char="•"/>
            </a:pPr>
            <a:r>
              <a:rPr lang="en-US" sz="1200" dirty="0">
                <a:solidFill>
                  <a:schemeClr val="bg2">
                    <a:lumMod val="50000"/>
                  </a:schemeClr>
                </a:solidFill>
                <a:latin typeface="+mn-lt"/>
              </a:rPr>
              <a:t>feedback</a:t>
            </a:r>
          </a:p>
          <a:p>
            <a:pPr marL="285750" indent="-285750" algn="l">
              <a:buFont typeface="Arial" panose="020B0604020202020204" pitchFamily="34" charset="0"/>
              <a:buChar char="•"/>
            </a:pPr>
            <a:r>
              <a:rPr lang="en-US" sz="1200" dirty="0">
                <a:solidFill>
                  <a:schemeClr val="bg2">
                    <a:lumMod val="50000"/>
                  </a:schemeClr>
                </a:solidFill>
                <a:latin typeface="+mn-lt"/>
              </a:rPr>
              <a:t>observability</a:t>
            </a:r>
          </a:p>
        </p:txBody>
      </p:sp>
      <p:sp>
        <p:nvSpPr>
          <p:cNvPr id="24" name="TextBox 23">
            <a:extLst>
              <a:ext uri="{FF2B5EF4-FFF2-40B4-BE49-F238E27FC236}">
                <a16:creationId xmlns:a16="http://schemas.microsoft.com/office/drawing/2014/main" id="{006372BA-E465-D65C-97B5-2A1822C40607}"/>
              </a:ext>
            </a:extLst>
          </p:cNvPr>
          <p:cNvSpPr txBox="1"/>
          <p:nvPr/>
        </p:nvSpPr>
        <p:spPr>
          <a:xfrm>
            <a:off x="1902137" y="649431"/>
            <a:ext cx="1047082" cy="338554"/>
          </a:xfrm>
          <a:prstGeom prst="rect">
            <a:avLst/>
          </a:prstGeom>
          <a:noFill/>
        </p:spPr>
        <p:txBody>
          <a:bodyPr wrap="none" rtlCol="0">
            <a:spAutoFit/>
          </a:bodyPr>
          <a:lstStyle/>
          <a:p>
            <a:pPr algn="l"/>
            <a:r>
              <a:rPr lang="en-US" sz="1600" dirty="0">
                <a:solidFill>
                  <a:schemeClr val="bg2">
                    <a:lumMod val="50000"/>
                  </a:schemeClr>
                </a:solidFill>
                <a:latin typeface="+mn-lt"/>
              </a:rPr>
              <a:t>1970-80s </a:t>
            </a:r>
          </a:p>
        </p:txBody>
      </p:sp>
      <p:sp>
        <p:nvSpPr>
          <p:cNvPr id="25" name="TextBox 24">
            <a:extLst>
              <a:ext uri="{FF2B5EF4-FFF2-40B4-BE49-F238E27FC236}">
                <a16:creationId xmlns:a16="http://schemas.microsoft.com/office/drawing/2014/main" id="{827D3C7B-FADF-926D-D085-F6ED70D60F63}"/>
              </a:ext>
            </a:extLst>
          </p:cNvPr>
          <p:cNvSpPr txBox="1"/>
          <p:nvPr/>
        </p:nvSpPr>
        <p:spPr>
          <a:xfrm>
            <a:off x="1851643" y="1184675"/>
            <a:ext cx="1268296" cy="1015663"/>
          </a:xfrm>
          <a:prstGeom prst="rect">
            <a:avLst/>
          </a:prstGeom>
          <a:noFill/>
        </p:spPr>
        <p:txBody>
          <a:bodyPr wrap="none" rtlCol="0">
            <a:spAutoFit/>
          </a:bodyPr>
          <a:lstStyle/>
          <a:p>
            <a:pPr algn="ctr"/>
            <a:r>
              <a:rPr lang="en-US" sz="1200" b="1" dirty="0">
                <a:solidFill>
                  <a:schemeClr val="bg2">
                    <a:lumMod val="50000"/>
                  </a:schemeClr>
                </a:solidFill>
                <a:latin typeface="+mn-lt"/>
              </a:rPr>
              <a:t>Symbolic AI</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Agents </a:t>
            </a:r>
          </a:p>
          <a:p>
            <a:pPr marL="285750" indent="-285750" algn="l">
              <a:buFont typeface="Arial" panose="020B0604020202020204" pitchFamily="34" charset="0"/>
              <a:buChar char="•"/>
            </a:pPr>
            <a:r>
              <a:rPr lang="en-US" sz="1200" dirty="0">
                <a:solidFill>
                  <a:schemeClr val="bg2">
                    <a:lumMod val="50000"/>
                  </a:schemeClr>
                </a:solidFill>
                <a:latin typeface="+mn-lt"/>
              </a:rPr>
              <a:t>Percepts</a:t>
            </a:r>
          </a:p>
          <a:p>
            <a:pPr marL="285750" indent="-285750" algn="l">
              <a:buFont typeface="Arial" panose="020B0604020202020204" pitchFamily="34" charset="0"/>
              <a:buChar char="•"/>
            </a:pPr>
            <a:r>
              <a:rPr lang="en-US" sz="1200" dirty="0">
                <a:solidFill>
                  <a:schemeClr val="bg2">
                    <a:lumMod val="50000"/>
                  </a:schemeClr>
                </a:solidFill>
                <a:latin typeface="+mn-lt"/>
              </a:rPr>
              <a:t>Actions</a:t>
            </a:r>
          </a:p>
          <a:p>
            <a:pPr marL="285750" indent="-285750" algn="l">
              <a:buFont typeface="Arial" panose="020B0604020202020204" pitchFamily="34" charset="0"/>
              <a:buChar char="•"/>
            </a:pPr>
            <a:r>
              <a:rPr lang="en-US" sz="1200" dirty="0">
                <a:solidFill>
                  <a:schemeClr val="bg2">
                    <a:lumMod val="50000"/>
                  </a:schemeClr>
                </a:solidFill>
                <a:latin typeface="+mn-lt"/>
              </a:rPr>
              <a:t>Belief state</a:t>
            </a:r>
          </a:p>
        </p:txBody>
      </p:sp>
      <p:sp>
        <p:nvSpPr>
          <p:cNvPr id="26" name="Oval 25">
            <a:extLst>
              <a:ext uri="{FF2B5EF4-FFF2-40B4-BE49-F238E27FC236}">
                <a16:creationId xmlns:a16="http://schemas.microsoft.com/office/drawing/2014/main" id="{7E44B6FE-BE4F-719A-13BD-C4546EFA7CCC}"/>
              </a:ext>
            </a:extLst>
          </p:cNvPr>
          <p:cNvSpPr/>
          <p:nvPr/>
        </p:nvSpPr>
        <p:spPr>
          <a:xfrm>
            <a:off x="2450510"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1EF0D94-7481-732C-B520-2A2C6FC7E8FE}"/>
              </a:ext>
            </a:extLst>
          </p:cNvPr>
          <p:cNvSpPr txBox="1"/>
          <p:nvPr/>
        </p:nvSpPr>
        <p:spPr>
          <a:xfrm>
            <a:off x="3704398" y="640222"/>
            <a:ext cx="1090363" cy="338554"/>
          </a:xfrm>
          <a:prstGeom prst="rect">
            <a:avLst/>
          </a:prstGeom>
          <a:noFill/>
        </p:spPr>
        <p:txBody>
          <a:bodyPr wrap="none" rtlCol="0">
            <a:spAutoFit/>
          </a:bodyPr>
          <a:lstStyle/>
          <a:p>
            <a:pPr algn="l"/>
            <a:r>
              <a:rPr lang="en-US" sz="1600" dirty="0">
                <a:solidFill>
                  <a:schemeClr val="bg2">
                    <a:lumMod val="50000"/>
                  </a:schemeClr>
                </a:solidFill>
                <a:latin typeface="+mn-lt"/>
              </a:rPr>
              <a:t>1980-’10s </a:t>
            </a:r>
          </a:p>
        </p:txBody>
      </p:sp>
      <p:sp>
        <p:nvSpPr>
          <p:cNvPr id="28" name="TextBox 27">
            <a:extLst>
              <a:ext uri="{FF2B5EF4-FFF2-40B4-BE49-F238E27FC236}">
                <a16:creationId xmlns:a16="http://schemas.microsoft.com/office/drawing/2014/main" id="{FF57898D-C8C3-54D5-DA13-6A048C3B9C41}"/>
              </a:ext>
            </a:extLst>
          </p:cNvPr>
          <p:cNvSpPr txBox="1"/>
          <p:nvPr/>
        </p:nvSpPr>
        <p:spPr>
          <a:xfrm>
            <a:off x="3245139" y="1184675"/>
            <a:ext cx="2008883" cy="1015663"/>
          </a:xfrm>
          <a:prstGeom prst="rect">
            <a:avLst/>
          </a:prstGeom>
          <a:noFill/>
        </p:spPr>
        <p:txBody>
          <a:bodyPr wrap="none" rtlCol="0">
            <a:spAutoFit/>
          </a:bodyPr>
          <a:lstStyle/>
          <a:p>
            <a:pPr algn="ctr"/>
            <a:r>
              <a:rPr lang="en-US" sz="1200" b="1" dirty="0">
                <a:solidFill>
                  <a:schemeClr val="bg2">
                    <a:lumMod val="50000"/>
                  </a:schemeClr>
                </a:solidFill>
                <a:latin typeface="+mn-lt"/>
              </a:rPr>
              <a:t>Cognitive Arch &amp; RL</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Long-term memory </a:t>
            </a:r>
          </a:p>
          <a:p>
            <a:pPr marL="285750" indent="-285750" algn="l">
              <a:buFont typeface="Arial" panose="020B0604020202020204" pitchFamily="34" charset="0"/>
              <a:buChar char="•"/>
            </a:pPr>
            <a:r>
              <a:rPr lang="en-US" sz="1200" dirty="0">
                <a:solidFill>
                  <a:schemeClr val="bg2">
                    <a:lumMod val="50000"/>
                  </a:schemeClr>
                </a:solidFill>
                <a:latin typeface="+mn-lt"/>
              </a:rPr>
              <a:t>Decision procedure</a:t>
            </a:r>
          </a:p>
          <a:p>
            <a:pPr marL="285750" indent="-285750" algn="l">
              <a:buFont typeface="Arial" panose="020B0604020202020204" pitchFamily="34" charset="0"/>
              <a:buChar char="•"/>
            </a:pPr>
            <a:r>
              <a:rPr lang="en-US" sz="1200" dirty="0">
                <a:solidFill>
                  <a:schemeClr val="bg2">
                    <a:lumMod val="50000"/>
                  </a:schemeClr>
                </a:solidFill>
                <a:latin typeface="+mn-lt"/>
              </a:rPr>
              <a:t>Action selection</a:t>
            </a:r>
          </a:p>
          <a:p>
            <a:pPr marL="285750" indent="-285750">
              <a:buFont typeface="Arial" panose="020B0604020202020204" pitchFamily="34" charset="0"/>
              <a:buChar char="•"/>
            </a:pPr>
            <a:r>
              <a:rPr lang="en-US" sz="1200" dirty="0">
                <a:solidFill>
                  <a:schemeClr val="bg2">
                    <a:lumMod val="50000"/>
                  </a:schemeClr>
                </a:solidFill>
                <a:latin typeface="+mn-lt"/>
              </a:rPr>
              <a:t>Trajectory and reward</a:t>
            </a:r>
          </a:p>
        </p:txBody>
      </p:sp>
      <p:sp>
        <p:nvSpPr>
          <p:cNvPr id="29" name="Oval 28">
            <a:extLst>
              <a:ext uri="{FF2B5EF4-FFF2-40B4-BE49-F238E27FC236}">
                <a16:creationId xmlns:a16="http://schemas.microsoft.com/office/drawing/2014/main" id="{A8E47BF8-E4D0-281E-42D3-912CD8BACBFF}"/>
              </a:ext>
            </a:extLst>
          </p:cNvPr>
          <p:cNvSpPr/>
          <p:nvPr/>
        </p:nvSpPr>
        <p:spPr>
          <a:xfrm>
            <a:off x="4214302"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3168691-136D-8F82-FC5D-FFAAAE5A3DF3}"/>
              </a:ext>
            </a:extLst>
          </p:cNvPr>
          <p:cNvSpPr txBox="1"/>
          <p:nvPr/>
        </p:nvSpPr>
        <p:spPr>
          <a:xfrm>
            <a:off x="5683664" y="640222"/>
            <a:ext cx="704039" cy="338554"/>
          </a:xfrm>
          <a:prstGeom prst="rect">
            <a:avLst/>
          </a:prstGeom>
          <a:noFill/>
        </p:spPr>
        <p:txBody>
          <a:bodyPr wrap="square" rtlCol="0">
            <a:spAutoFit/>
          </a:bodyPr>
          <a:lstStyle/>
          <a:p>
            <a:pPr algn="l"/>
            <a:r>
              <a:rPr lang="en-US" sz="1600" dirty="0">
                <a:solidFill>
                  <a:schemeClr val="bg2">
                    <a:lumMod val="50000"/>
                  </a:schemeClr>
                </a:solidFill>
                <a:latin typeface="+mn-lt"/>
              </a:rPr>
              <a:t>2022+</a:t>
            </a:r>
          </a:p>
        </p:txBody>
      </p:sp>
      <p:sp>
        <p:nvSpPr>
          <p:cNvPr id="31" name="TextBox 30">
            <a:extLst>
              <a:ext uri="{FF2B5EF4-FFF2-40B4-BE49-F238E27FC236}">
                <a16:creationId xmlns:a16="http://schemas.microsoft.com/office/drawing/2014/main" id="{E8E2F2F5-FC33-327C-5324-95A3F4943B8C}"/>
              </a:ext>
            </a:extLst>
          </p:cNvPr>
          <p:cNvSpPr txBox="1"/>
          <p:nvPr/>
        </p:nvSpPr>
        <p:spPr>
          <a:xfrm>
            <a:off x="5373482" y="1184675"/>
            <a:ext cx="1348446" cy="1015663"/>
          </a:xfrm>
          <a:prstGeom prst="rect">
            <a:avLst/>
          </a:prstGeom>
          <a:noFill/>
        </p:spPr>
        <p:txBody>
          <a:bodyPr wrap="none" rtlCol="0">
            <a:spAutoFit/>
          </a:bodyPr>
          <a:lstStyle/>
          <a:p>
            <a:r>
              <a:rPr lang="en-US" sz="1200" b="1" dirty="0">
                <a:solidFill>
                  <a:schemeClr val="bg2">
                    <a:lumMod val="50000"/>
                  </a:schemeClr>
                </a:solidFill>
                <a:latin typeface="+mn-lt"/>
              </a:rPr>
              <a:t>LLM-based</a:t>
            </a:r>
            <a:br>
              <a:rPr lang="en-US" sz="1200" b="1" dirty="0">
                <a:solidFill>
                  <a:schemeClr val="bg2">
                    <a:lumMod val="50000"/>
                  </a:schemeClr>
                </a:solidFill>
                <a:latin typeface="+mn-lt"/>
              </a:rPr>
            </a:br>
            <a:r>
              <a:rPr lang="en-US" sz="1200" i="1" dirty="0">
                <a:solidFill>
                  <a:schemeClr val="bg2">
                    <a:lumMod val="50000"/>
                  </a:schemeClr>
                </a:solidFill>
                <a:latin typeface="+mn-lt"/>
              </a:rPr>
              <a:t>Same structure </a:t>
            </a:r>
          </a:p>
          <a:p>
            <a:r>
              <a:rPr lang="en-US" sz="1200" i="1" dirty="0">
                <a:solidFill>
                  <a:schemeClr val="bg2">
                    <a:lumMod val="50000"/>
                  </a:schemeClr>
                </a:solidFill>
                <a:latin typeface="+mn-lt"/>
              </a:rPr>
              <a:t>with a language </a:t>
            </a:r>
          </a:p>
          <a:p>
            <a:r>
              <a:rPr lang="en-US" sz="1200" i="1" dirty="0">
                <a:solidFill>
                  <a:schemeClr val="bg2">
                    <a:lumMod val="50000"/>
                  </a:schemeClr>
                </a:solidFill>
                <a:latin typeface="+mn-lt"/>
              </a:rPr>
              <a:t>model in the </a:t>
            </a:r>
          </a:p>
          <a:p>
            <a:r>
              <a:rPr lang="en-US" sz="1200" i="1" dirty="0">
                <a:solidFill>
                  <a:schemeClr val="bg2">
                    <a:lumMod val="50000"/>
                  </a:schemeClr>
                </a:solidFill>
                <a:latin typeface="+mn-lt"/>
              </a:rPr>
              <a:t>decision box</a:t>
            </a:r>
          </a:p>
        </p:txBody>
      </p:sp>
      <p:sp>
        <p:nvSpPr>
          <p:cNvPr id="32" name="Oval 31">
            <a:extLst>
              <a:ext uri="{FF2B5EF4-FFF2-40B4-BE49-F238E27FC236}">
                <a16:creationId xmlns:a16="http://schemas.microsoft.com/office/drawing/2014/main" id="{D8761D67-F6A5-5138-F80D-1212D906B485}"/>
              </a:ext>
            </a:extLst>
          </p:cNvPr>
          <p:cNvSpPr/>
          <p:nvPr/>
        </p:nvSpPr>
        <p:spPr>
          <a:xfrm>
            <a:off x="5998298"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7156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D2222-966C-A936-746F-8B0C846A7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47495-3A87-3B47-D441-5CD2D8E81FD0}"/>
              </a:ext>
            </a:extLst>
          </p:cNvPr>
          <p:cNvSpPr>
            <a:spLocks noGrp="1"/>
          </p:cNvSpPr>
          <p:nvPr>
            <p:ph type="title"/>
          </p:nvPr>
        </p:nvSpPr>
        <p:spPr/>
        <p:txBody>
          <a:bodyPr>
            <a:normAutofit/>
          </a:bodyPr>
          <a:lstStyle/>
          <a:p>
            <a:r>
              <a:rPr lang="en-US" dirty="0"/>
              <a:t>Control Loops to LLMs: The Evolution of Agents</a:t>
            </a:r>
          </a:p>
        </p:txBody>
      </p:sp>
      <p:graphicFrame>
        <p:nvGraphicFramePr>
          <p:cNvPr id="23" name="Table 22">
            <a:extLst>
              <a:ext uri="{FF2B5EF4-FFF2-40B4-BE49-F238E27FC236}">
                <a16:creationId xmlns:a16="http://schemas.microsoft.com/office/drawing/2014/main" id="{B218A580-A04E-CAA1-6E08-D6CFBDA03CE7}"/>
              </a:ext>
            </a:extLst>
          </p:cNvPr>
          <p:cNvGraphicFramePr>
            <a:graphicFrameLocks noGrp="1"/>
          </p:cNvGraphicFramePr>
          <p:nvPr/>
        </p:nvGraphicFramePr>
        <p:xfrm>
          <a:off x="537258" y="2495884"/>
          <a:ext cx="5783484" cy="1371600"/>
        </p:xfrm>
        <a:graphic>
          <a:graphicData uri="http://schemas.openxmlformats.org/drawingml/2006/table">
            <a:tbl>
              <a:tblPr>
                <a:tableStyleId>{2D5ABB26-0587-4C30-8999-92F81FD0307C}</a:tableStyleId>
              </a:tblPr>
              <a:tblGrid>
                <a:gridCol w="2891742">
                  <a:extLst>
                    <a:ext uri="{9D8B030D-6E8A-4147-A177-3AD203B41FA5}">
                      <a16:colId xmlns:a16="http://schemas.microsoft.com/office/drawing/2014/main" val="3897202983"/>
                    </a:ext>
                  </a:extLst>
                </a:gridCol>
                <a:gridCol w="2891742">
                  <a:extLst>
                    <a:ext uri="{9D8B030D-6E8A-4147-A177-3AD203B41FA5}">
                      <a16:colId xmlns:a16="http://schemas.microsoft.com/office/drawing/2014/main" val="2156765555"/>
                    </a:ext>
                  </a:extLst>
                </a:gridCol>
              </a:tblGrid>
              <a:tr h="251460">
                <a:tc>
                  <a:txBody>
                    <a:bodyPr/>
                    <a:lstStyle/>
                    <a:p>
                      <a:pPr algn="ctr">
                        <a:buNone/>
                      </a:pPr>
                      <a:r>
                        <a:rPr lang="en-US" sz="1100" b="1" dirty="0">
                          <a:solidFill>
                            <a:srgbClr val="2A2A63"/>
                          </a:solidFill>
                        </a:rPr>
                        <a:t>What LLM-based agents bring</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100" b="1" dirty="0">
                          <a:solidFill>
                            <a:srgbClr val="2A2A63"/>
                          </a:solidFill>
                        </a:rPr>
                        <a:t>What we still need to engineer</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931704"/>
                  </a:ext>
                </a:extLst>
              </a:tr>
              <a:tr h="411480">
                <a:tc>
                  <a:txBody>
                    <a:bodyPr/>
                    <a:lstStyle/>
                    <a:p>
                      <a:pPr>
                        <a:buNone/>
                      </a:pPr>
                      <a:r>
                        <a:rPr lang="en-US" sz="1100" dirty="0"/>
                        <a:t>Interpret natural-language instructions and observations.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Maintain trustworthy state and manage memory.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131264"/>
                  </a:ext>
                </a:extLst>
              </a:tr>
              <a:tr h="251460">
                <a:tc>
                  <a:txBody>
                    <a:bodyPr/>
                    <a:lstStyle/>
                    <a:p>
                      <a:pPr>
                        <a:buNone/>
                      </a:pPr>
                      <a:r>
                        <a:rPr lang="en-US" sz="1100" dirty="0"/>
                        <a:t>Generate plans and propose tool calls.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Enforce permissions and validate actions.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203100"/>
                  </a:ext>
                </a:extLst>
              </a:tr>
              <a:tr h="411480">
                <a:tc>
                  <a:txBody>
                    <a:bodyPr/>
                    <a:lstStyle/>
                    <a:p>
                      <a:pPr>
                        <a:buNone/>
                      </a:pPr>
                      <a:r>
                        <a:rPr lang="en-US" sz="1100" dirty="0"/>
                        <a:t>Revise plans using feedback from the environment.</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US" sz="1100" dirty="0"/>
                        <a:t>Verify outcomes, recover from failures, and enforce budgets.</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0161783"/>
                  </a:ext>
                </a:extLst>
              </a:tr>
            </a:tbl>
          </a:graphicData>
        </a:graphic>
      </p:graphicFrame>
      <p:cxnSp>
        <p:nvCxnSpPr>
          <p:cNvPr id="33" name="Straight Arrow Connector 32">
            <a:extLst>
              <a:ext uri="{FF2B5EF4-FFF2-40B4-BE49-F238E27FC236}">
                <a16:creationId xmlns:a16="http://schemas.microsoft.com/office/drawing/2014/main" id="{194E8B14-2D3C-E073-C1DF-BDB6AE5E899A}"/>
              </a:ext>
            </a:extLst>
          </p:cNvPr>
          <p:cNvCxnSpPr>
            <a:cxnSpLocks/>
          </p:cNvCxnSpPr>
          <p:nvPr/>
        </p:nvCxnSpPr>
        <p:spPr>
          <a:xfrm>
            <a:off x="318052" y="1053548"/>
            <a:ext cx="6379832" cy="0"/>
          </a:xfrm>
          <a:prstGeom prst="straightConnector1">
            <a:avLst/>
          </a:prstGeom>
          <a:ln w="25400">
            <a:solidFill>
              <a:srgbClr val="2A2A63"/>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73C80154-BE1D-3CF9-1AD1-72BAB4145329}"/>
              </a:ext>
            </a:extLst>
          </p:cNvPr>
          <p:cNvSpPr/>
          <p:nvPr/>
        </p:nvSpPr>
        <p:spPr>
          <a:xfrm>
            <a:off x="1002577"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D1FC83B-9342-0EFC-7880-56ABAC6A07D7}"/>
              </a:ext>
            </a:extLst>
          </p:cNvPr>
          <p:cNvSpPr txBox="1"/>
          <p:nvPr/>
        </p:nvSpPr>
        <p:spPr>
          <a:xfrm>
            <a:off x="666304" y="649431"/>
            <a:ext cx="747320" cy="338554"/>
          </a:xfrm>
          <a:prstGeom prst="rect">
            <a:avLst/>
          </a:prstGeom>
          <a:noFill/>
        </p:spPr>
        <p:txBody>
          <a:bodyPr wrap="none" rtlCol="0">
            <a:spAutoFit/>
          </a:bodyPr>
          <a:lstStyle/>
          <a:p>
            <a:pPr algn="l"/>
            <a:r>
              <a:rPr lang="en-US" sz="1600" dirty="0">
                <a:solidFill>
                  <a:schemeClr val="bg2">
                    <a:lumMod val="50000"/>
                  </a:schemeClr>
                </a:solidFill>
                <a:latin typeface="+mn-lt"/>
              </a:rPr>
              <a:t>1950s </a:t>
            </a:r>
          </a:p>
        </p:txBody>
      </p:sp>
      <p:sp>
        <p:nvSpPr>
          <p:cNvPr id="36" name="TextBox 35">
            <a:extLst>
              <a:ext uri="{FF2B5EF4-FFF2-40B4-BE49-F238E27FC236}">
                <a16:creationId xmlns:a16="http://schemas.microsoft.com/office/drawing/2014/main" id="{F3CB1770-79C5-4D13-35AA-F3228CE7EE0E}"/>
              </a:ext>
            </a:extLst>
          </p:cNvPr>
          <p:cNvSpPr txBox="1"/>
          <p:nvPr/>
        </p:nvSpPr>
        <p:spPr>
          <a:xfrm>
            <a:off x="348909" y="1184675"/>
            <a:ext cx="1382110" cy="1015663"/>
          </a:xfrm>
          <a:prstGeom prst="rect">
            <a:avLst/>
          </a:prstGeom>
          <a:noFill/>
        </p:spPr>
        <p:txBody>
          <a:bodyPr wrap="none" rtlCol="0">
            <a:spAutoFit/>
          </a:bodyPr>
          <a:lstStyle/>
          <a:p>
            <a:pPr algn="ctr"/>
            <a:r>
              <a:rPr lang="en-US" sz="1200" b="1" dirty="0">
                <a:solidFill>
                  <a:schemeClr val="bg2">
                    <a:lumMod val="50000"/>
                  </a:schemeClr>
                </a:solidFill>
                <a:latin typeface="+mn-lt"/>
              </a:rPr>
              <a:t>Control Theory</a:t>
            </a:r>
          </a:p>
          <a:p>
            <a:pPr marL="285750" indent="-285750" algn="l">
              <a:buFont typeface="Arial" panose="020B0604020202020204" pitchFamily="34" charset="0"/>
              <a:buChar char="•"/>
            </a:pPr>
            <a:r>
              <a:rPr lang="en-US" sz="1200" dirty="0">
                <a:solidFill>
                  <a:schemeClr val="bg2">
                    <a:lumMod val="50000"/>
                  </a:schemeClr>
                </a:solidFill>
                <a:latin typeface="+mn-lt"/>
              </a:rPr>
              <a:t>Controller </a:t>
            </a:r>
          </a:p>
          <a:p>
            <a:pPr marL="285750" indent="-285750" algn="l">
              <a:buFont typeface="Arial" panose="020B0604020202020204" pitchFamily="34" charset="0"/>
              <a:buChar char="•"/>
            </a:pPr>
            <a:r>
              <a:rPr lang="en-US" sz="1200" dirty="0">
                <a:solidFill>
                  <a:schemeClr val="bg2">
                    <a:lumMod val="50000"/>
                  </a:schemeClr>
                </a:solidFill>
                <a:latin typeface="+mn-lt"/>
              </a:rPr>
              <a:t>environment</a:t>
            </a:r>
          </a:p>
          <a:p>
            <a:pPr marL="285750" indent="-285750" algn="l">
              <a:buFont typeface="Arial" panose="020B0604020202020204" pitchFamily="34" charset="0"/>
              <a:buChar char="•"/>
            </a:pPr>
            <a:r>
              <a:rPr lang="en-US" sz="1200" dirty="0">
                <a:solidFill>
                  <a:schemeClr val="bg2">
                    <a:lumMod val="50000"/>
                  </a:schemeClr>
                </a:solidFill>
                <a:latin typeface="+mn-lt"/>
              </a:rPr>
              <a:t>feedback</a:t>
            </a:r>
          </a:p>
          <a:p>
            <a:pPr marL="285750" indent="-285750" algn="l">
              <a:buFont typeface="Arial" panose="020B0604020202020204" pitchFamily="34" charset="0"/>
              <a:buChar char="•"/>
            </a:pPr>
            <a:r>
              <a:rPr lang="en-US" sz="1200" dirty="0">
                <a:solidFill>
                  <a:schemeClr val="bg2">
                    <a:lumMod val="50000"/>
                  </a:schemeClr>
                </a:solidFill>
                <a:latin typeface="+mn-lt"/>
              </a:rPr>
              <a:t>observability</a:t>
            </a:r>
          </a:p>
        </p:txBody>
      </p:sp>
      <p:sp>
        <p:nvSpPr>
          <p:cNvPr id="37" name="TextBox 36">
            <a:extLst>
              <a:ext uri="{FF2B5EF4-FFF2-40B4-BE49-F238E27FC236}">
                <a16:creationId xmlns:a16="http://schemas.microsoft.com/office/drawing/2014/main" id="{4A8895C5-F5AF-6A43-273C-7E6F1457E4DA}"/>
              </a:ext>
            </a:extLst>
          </p:cNvPr>
          <p:cNvSpPr txBox="1"/>
          <p:nvPr/>
        </p:nvSpPr>
        <p:spPr>
          <a:xfrm>
            <a:off x="1902137" y="649431"/>
            <a:ext cx="1047082" cy="338554"/>
          </a:xfrm>
          <a:prstGeom prst="rect">
            <a:avLst/>
          </a:prstGeom>
          <a:noFill/>
        </p:spPr>
        <p:txBody>
          <a:bodyPr wrap="none" rtlCol="0">
            <a:spAutoFit/>
          </a:bodyPr>
          <a:lstStyle/>
          <a:p>
            <a:pPr algn="l"/>
            <a:r>
              <a:rPr lang="en-US" sz="1600" dirty="0">
                <a:solidFill>
                  <a:schemeClr val="bg2">
                    <a:lumMod val="50000"/>
                  </a:schemeClr>
                </a:solidFill>
                <a:latin typeface="+mn-lt"/>
              </a:rPr>
              <a:t>1970-80s </a:t>
            </a:r>
          </a:p>
        </p:txBody>
      </p:sp>
      <p:sp>
        <p:nvSpPr>
          <p:cNvPr id="38" name="TextBox 37">
            <a:extLst>
              <a:ext uri="{FF2B5EF4-FFF2-40B4-BE49-F238E27FC236}">
                <a16:creationId xmlns:a16="http://schemas.microsoft.com/office/drawing/2014/main" id="{89BF2157-895E-3DDF-F515-42671068BFD1}"/>
              </a:ext>
            </a:extLst>
          </p:cNvPr>
          <p:cNvSpPr txBox="1"/>
          <p:nvPr/>
        </p:nvSpPr>
        <p:spPr>
          <a:xfrm>
            <a:off x="1851643" y="1184675"/>
            <a:ext cx="1268296" cy="1015663"/>
          </a:xfrm>
          <a:prstGeom prst="rect">
            <a:avLst/>
          </a:prstGeom>
          <a:noFill/>
        </p:spPr>
        <p:txBody>
          <a:bodyPr wrap="none" rtlCol="0">
            <a:spAutoFit/>
          </a:bodyPr>
          <a:lstStyle/>
          <a:p>
            <a:pPr algn="ctr"/>
            <a:r>
              <a:rPr lang="en-US" sz="1200" b="1" dirty="0">
                <a:solidFill>
                  <a:schemeClr val="bg2">
                    <a:lumMod val="50000"/>
                  </a:schemeClr>
                </a:solidFill>
                <a:latin typeface="+mn-lt"/>
              </a:rPr>
              <a:t>Symbolic AI</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Agents </a:t>
            </a:r>
          </a:p>
          <a:p>
            <a:pPr marL="285750" indent="-285750" algn="l">
              <a:buFont typeface="Arial" panose="020B0604020202020204" pitchFamily="34" charset="0"/>
              <a:buChar char="•"/>
            </a:pPr>
            <a:r>
              <a:rPr lang="en-US" sz="1200" dirty="0">
                <a:solidFill>
                  <a:schemeClr val="bg2">
                    <a:lumMod val="50000"/>
                  </a:schemeClr>
                </a:solidFill>
                <a:latin typeface="+mn-lt"/>
              </a:rPr>
              <a:t>Percepts</a:t>
            </a:r>
          </a:p>
          <a:p>
            <a:pPr marL="285750" indent="-285750" algn="l">
              <a:buFont typeface="Arial" panose="020B0604020202020204" pitchFamily="34" charset="0"/>
              <a:buChar char="•"/>
            </a:pPr>
            <a:r>
              <a:rPr lang="en-US" sz="1200" dirty="0">
                <a:solidFill>
                  <a:schemeClr val="bg2">
                    <a:lumMod val="50000"/>
                  </a:schemeClr>
                </a:solidFill>
                <a:latin typeface="+mn-lt"/>
              </a:rPr>
              <a:t>Actions</a:t>
            </a:r>
          </a:p>
          <a:p>
            <a:pPr marL="285750" indent="-285750" algn="l">
              <a:buFont typeface="Arial" panose="020B0604020202020204" pitchFamily="34" charset="0"/>
              <a:buChar char="•"/>
            </a:pPr>
            <a:r>
              <a:rPr lang="en-US" sz="1200" dirty="0">
                <a:solidFill>
                  <a:schemeClr val="bg2">
                    <a:lumMod val="50000"/>
                  </a:schemeClr>
                </a:solidFill>
                <a:latin typeface="+mn-lt"/>
              </a:rPr>
              <a:t>Belief state</a:t>
            </a:r>
          </a:p>
        </p:txBody>
      </p:sp>
      <p:sp>
        <p:nvSpPr>
          <p:cNvPr id="39" name="Oval 38">
            <a:extLst>
              <a:ext uri="{FF2B5EF4-FFF2-40B4-BE49-F238E27FC236}">
                <a16:creationId xmlns:a16="http://schemas.microsoft.com/office/drawing/2014/main" id="{2AAE0B6B-E513-CBBC-CCBE-3C66239334CC}"/>
              </a:ext>
            </a:extLst>
          </p:cNvPr>
          <p:cNvSpPr/>
          <p:nvPr/>
        </p:nvSpPr>
        <p:spPr>
          <a:xfrm>
            <a:off x="2450510"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E03FD27-82F8-ABEC-1CD7-5FAC94A0E0A8}"/>
              </a:ext>
            </a:extLst>
          </p:cNvPr>
          <p:cNvSpPr txBox="1"/>
          <p:nvPr/>
        </p:nvSpPr>
        <p:spPr>
          <a:xfrm>
            <a:off x="3704398" y="640222"/>
            <a:ext cx="1090363" cy="338554"/>
          </a:xfrm>
          <a:prstGeom prst="rect">
            <a:avLst/>
          </a:prstGeom>
          <a:noFill/>
        </p:spPr>
        <p:txBody>
          <a:bodyPr wrap="none" rtlCol="0">
            <a:spAutoFit/>
          </a:bodyPr>
          <a:lstStyle/>
          <a:p>
            <a:pPr algn="l"/>
            <a:r>
              <a:rPr lang="en-US" sz="1600" dirty="0">
                <a:solidFill>
                  <a:schemeClr val="bg2">
                    <a:lumMod val="50000"/>
                  </a:schemeClr>
                </a:solidFill>
                <a:latin typeface="+mn-lt"/>
              </a:rPr>
              <a:t>1980-’10s </a:t>
            </a:r>
          </a:p>
        </p:txBody>
      </p:sp>
      <p:sp>
        <p:nvSpPr>
          <p:cNvPr id="41" name="TextBox 40">
            <a:extLst>
              <a:ext uri="{FF2B5EF4-FFF2-40B4-BE49-F238E27FC236}">
                <a16:creationId xmlns:a16="http://schemas.microsoft.com/office/drawing/2014/main" id="{4749C4DB-6966-287F-2190-B9C2C2A01100}"/>
              </a:ext>
            </a:extLst>
          </p:cNvPr>
          <p:cNvSpPr txBox="1"/>
          <p:nvPr/>
        </p:nvSpPr>
        <p:spPr>
          <a:xfrm>
            <a:off x="3245139" y="1184675"/>
            <a:ext cx="2008883" cy="1015663"/>
          </a:xfrm>
          <a:prstGeom prst="rect">
            <a:avLst/>
          </a:prstGeom>
          <a:noFill/>
        </p:spPr>
        <p:txBody>
          <a:bodyPr wrap="none" rtlCol="0">
            <a:spAutoFit/>
          </a:bodyPr>
          <a:lstStyle/>
          <a:p>
            <a:pPr algn="ctr"/>
            <a:r>
              <a:rPr lang="en-US" sz="1200" b="1" dirty="0">
                <a:solidFill>
                  <a:schemeClr val="bg2">
                    <a:lumMod val="50000"/>
                  </a:schemeClr>
                </a:solidFill>
                <a:latin typeface="+mn-lt"/>
              </a:rPr>
              <a:t>Cognitive Arch &amp; RL</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Long-term memory </a:t>
            </a:r>
          </a:p>
          <a:p>
            <a:pPr marL="285750" indent="-285750" algn="l">
              <a:buFont typeface="Arial" panose="020B0604020202020204" pitchFamily="34" charset="0"/>
              <a:buChar char="•"/>
            </a:pPr>
            <a:r>
              <a:rPr lang="en-US" sz="1200" dirty="0">
                <a:solidFill>
                  <a:schemeClr val="bg2">
                    <a:lumMod val="50000"/>
                  </a:schemeClr>
                </a:solidFill>
                <a:latin typeface="+mn-lt"/>
              </a:rPr>
              <a:t>Decision procedure</a:t>
            </a:r>
          </a:p>
          <a:p>
            <a:pPr marL="285750" indent="-285750" algn="l">
              <a:buFont typeface="Arial" panose="020B0604020202020204" pitchFamily="34" charset="0"/>
              <a:buChar char="•"/>
            </a:pPr>
            <a:r>
              <a:rPr lang="en-US" sz="1200" dirty="0">
                <a:solidFill>
                  <a:schemeClr val="bg2">
                    <a:lumMod val="50000"/>
                  </a:schemeClr>
                </a:solidFill>
                <a:latin typeface="+mn-lt"/>
              </a:rPr>
              <a:t>Action selection</a:t>
            </a:r>
          </a:p>
          <a:p>
            <a:pPr marL="285750" indent="-285750">
              <a:buFont typeface="Arial" panose="020B0604020202020204" pitchFamily="34" charset="0"/>
              <a:buChar char="•"/>
            </a:pPr>
            <a:r>
              <a:rPr lang="en-US" sz="1200" dirty="0">
                <a:solidFill>
                  <a:schemeClr val="bg2">
                    <a:lumMod val="50000"/>
                  </a:schemeClr>
                </a:solidFill>
                <a:latin typeface="+mn-lt"/>
              </a:rPr>
              <a:t>Trajectory and reward</a:t>
            </a:r>
          </a:p>
        </p:txBody>
      </p:sp>
      <p:sp>
        <p:nvSpPr>
          <p:cNvPr id="42" name="Oval 41">
            <a:extLst>
              <a:ext uri="{FF2B5EF4-FFF2-40B4-BE49-F238E27FC236}">
                <a16:creationId xmlns:a16="http://schemas.microsoft.com/office/drawing/2014/main" id="{8DF8E9FE-9D9F-03BE-DE42-26955AF92CE2}"/>
              </a:ext>
            </a:extLst>
          </p:cNvPr>
          <p:cNvSpPr/>
          <p:nvPr/>
        </p:nvSpPr>
        <p:spPr>
          <a:xfrm>
            <a:off x="4214302"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777BC28C-C792-8962-D47E-F450F2406591}"/>
              </a:ext>
            </a:extLst>
          </p:cNvPr>
          <p:cNvSpPr txBox="1"/>
          <p:nvPr/>
        </p:nvSpPr>
        <p:spPr>
          <a:xfrm>
            <a:off x="5683664" y="640222"/>
            <a:ext cx="704039" cy="338554"/>
          </a:xfrm>
          <a:prstGeom prst="rect">
            <a:avLst/>
          </a:prstGeom>
          <a:noFill/>
        </p:spPr>
        <p:txBody>
          <a:bodyPr wrap="square" rtlCol="0">
            <a:spAutoFit/>
          </a:bodyPr>
          <a:lstStyle/>
          <a:p>
            <a:pPr algn="l"/>
            <a:r>
              <a:rPr lang="en-US" sz="1600" dirty="0">
                <a:solidFill>
                  <a:schemeClr val="bg2">
                    <a:lumMod val="50000"/>
                  </a:schemeClr>
                </a:solidFill>
                <a:latin typeface="+mn-lt"/>
              </a:rPr>
              <a:t>2022+</a:t>
            </a:r>
          </a:p>
        </p:txBody>
      </p:sp>
      <p:sp>
        <p:nvSpPr>
          <p:cNvPr id="44" name="TextBox 43">
            <a:extLst>
              <a:ext uri="{FF2B5EF4-FFF2-40B4-BE49-F238E27FC236}">
                <a16:creationId xmlns:a16="http://schemas.microsoft.com/office/drawing/2014/main" id="{425C98B0-F94C-9A42-5BD0-B7F4989D65AA}"/>
              </a:ext>
            </a:extLst>
          </p:cNvPr>
          <p:cNvSpPr txBox="1"/>
          <p:nvPr/>
        </p:nvSpPr>
        <p:spPr>
          <a:xfrm>
            <a:off x="5373482" y="1184675"/>
            <a:ext cx="1348446" cy="1015663"/>
          </a:xfrm>
          <a:prstGeom prst="rect">
            <a:avLst/>
          </a:prstGeom>
          <a:noFill/>
        </p:spPr>
        <p:txBody>
          <a:bodyPr wrap="none" rtlCol="0">
            <a:spAutoFit/>
          </a:bodyPr>
          <a:lstStyle/>
          <a:p>
            <a:r>
              <a:rPr lang="en-US" sz="1200" b="1" dirty="0">
                <a:solidFill>
                  <a:schemeClr val="bg2">
                    <a:lumMod val="50000"/>
                  </a:schemeClr>
                </a:solidFill>
                <a:latin typeface="+mn-lt"/>
              </a:rPr>
              <a:t>LLM-based</a:t>
            </a:r>
            <a:br>
              <a:rPr lang="en-US" sz="1200" b="1" dirty="0">
                <a:solidFill>
                  <a:schemeClr val="bg2">
                    <a:lumMod val="50000"/>
                  </a:schemeClr>
                </a:solidFill>
                <a:latin typeface="+mn-lt"/>
              </a:rPr>
            </a:br>
            <a:r>
              <a:rPr lang="en-US" sz="1200" i="1" dirty="0">
                <a:solidFill>
                  <a:schemeClr val="bg2">
                    <a:lumMod val="50000"/>
                  </a:schemeClr>
                </a:solidFill>
                <a:latin typeface="+mn-lt"/>
              </a:rPr>
              <a:t>Same structure </a:t>
            </a:r>
          </a:p>
          <a:p>
            <a:r>
              <a:rPr lang="en-US" sz="1200" i="1" dirty="0">
                <a:solidFill>
                  <a:schemeClr val="bg2">
                    <a:lumMod val="50000"/>
                  </a:schemeClr>
                </a:solidFill>
                <a:latin typeface="+mn-lt"/>
              </a:rPr>
              <a:t>with a language </a:t>
            </a:r>
          </a:p>
          <a:p>
            <a:r>
              <a:rPr lang="en-US" sz="1200" i="1" dirty="0">
                <a:solidFill>
                  <a:schemeClr val="bg2">
                    <a:lumMod val="50000"/>
                  </a:schemeClr>
                </a:solidFill>
                <a:latin typeface="+mn-lt"/>
              </a:rPr>
              <a:t>model in the </a:t>
            </a:r>
          </a:p>
          <a:p>
            <a:r>
              <a:rPr lang="en-US" sz="1200" i="1" dirty="0">
                <a:solidFill>
                  <a:schemeClr val="bg2">
                    <a:lumMod val="50000"/>
                  </a:schemeClr>
                </a:solidFill>
                <a:latin typeface="+mn-lt"/>
              </a:rPr>
              <a:t>decision box</a:t>
            </a:r>
          </a:p>
        </p:txBody>
      </p:sp>
      <p:sp>
        <p:nvSpPr>
          <p:cNvPr id="45" name="Oval 44">
            <a:extLst>
              <a:ext uri="{FF2B5EF4-FFF2-40B4-BE49-F238E27FC236}">
                <a16:creationId xmlns:a16="http://schemas.microsoft.com/office/drawing/2014/main" id="{7CB21604-EFEA-FC8F-B362-7ABAED5E671E}"/>
              </a:ext>
            </a:extLst>
          </p:cNvPr>
          <p:cNvSpPr/>
          <p:nvPr/>
        </p:nvSpPr>
        <p:spPr>
          <a:xfrm>
            <a:off x="5998298"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6237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970A1-1981-A065-DFCD-D68F615A4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FB59F-E83A-E97A-A91E-6C903C6577A7}"/>
              </a:ext>
            </a:extLst>
          </p:cNvPr>
          <p:cNvSpPr>
            <a:spLocks noGrp="1"/>
          </p:cNvSpPr>
          <p:nvPr>
            <p:ph type="title"/>
          </p:nvPr>
        </p:nvSpPr>
        <p:spPr/>
        <p:txBody>
          <a:bodyPr>
            <a:normAutofit/>
          </a:bodyPr>
          <a:lstStyle/>
          <a:p>
            <a:r>
              <a:rPr lang="en-US" dirty="0"/>
              <a:t>Control Loops to LLMs: The Evolution of Agents</a:t>
            </a:r>
          </a:p>
        </p:txBody>
      </p:sp>
      <p:sp>
        <p:nvSpPr>
          <p:cNvPr id="5" name="Content Placeholder 4">
            <a:extLst>
              <a:ext uri="{FF2B5EF4-FFF2-40B4-BE49-F238E27FC236}">
                <a16:creationId xmlns:a16="http://schemas.microsoft.com/office/drawing/2014/main" id="{E9AF4E44-2205-9678-F54D-348C6EDA8B7E}"/>
              </a:ext>
            </a:extLst>
          </p:cNvPr>
          <p:cNvSpPr>
            <a:spLocks noGrp="1"/>
          </p:cNvSpPr>
          <p:nvPr>
            <p:ph idx="1"/>
          </p:nvPr>
        </p:nvSpPr>
        <p:spPr>
          <a:xfrm>
            <a:off x="537258" y="4089952"/>
            <a:ext cx="5783484" cy="736916"/>
          </a:xfrm>
          <a:solidFill>
            <a:srgbClr val="2A2A63"/>
          </a:solidFill>
        </p:spPr>
        <p:txBody>
          <a:bodyPr>
            <a:normAutofit/>
          </a:bodyPr>
          <a:lstStyle/>
          <a:p>
            <a:pPr marL="125747" indent="0">
              <a:buNone/>
            </a:pPr>
            <a:r>
              <a:rPr lang="en-US" dirty="0">
                <a:solidFill>
                  <a:schemeClr val="tx2"/>
                </a:solidFill>
              </a:rPr>
              <a:t>While the capacity of the decision maker has evolved. The problems we need to engineer around remain the same.</a:t>
            </a:r>
          </a:p>
        </p:txBody>
      </p:sp>
      <p:graphicFrame>
        <p:nvGraphicFramePr>
          <p:cNvPr id="23" name="Table 22">
            <a:extLst>
              <a:ext uri="{FF2B5EF4-FFF2-40B4-BE49-F238E27FC236}">
                <a16:creationId xmlns:a16="http://schemas.microsoft.com/office/drawing/2014/main" id="{F8B8B728-386A-C527-D184-C019FAE0B57E}"/>
              </a:ext>
            </a:extLst>
          </p:cNvPr>
          <p:cNvGraphicFramePr>
            <a:graphicFrameLocks noGrp="1"/>
          </p:cNvGraphicFramePr>
          <p:nvPr/>
        </p:nvGraphicFramePr>
        <p:xfrm>
          <a:off x="537258" y="2495884"/>
          <a:ext cx="5783484" cy="1371600"/>
        </p:xfrm>
        <a:graphic>
          <a:graphicData uri="http://schemas.openxmlformats.org/drawingml/2006/table">
            <a:tbl>
              <a:tblPr>
                <a:tableStyleId>{2D5ABB26-0587-4C30-8999-92F81FD0307C}</a:tableStyleId>
              </a:tblPr>
              <a:tblGrid>
                <a:gridCol w="2891742">
                  <a:extLst>
                    <a:ext uri="{9D8B030D-6E8A-4147-A177-3AD203B41FA5}">
                      <a16:colId xmlns:a16="http://schemas.microsoft.com/office/drawing/2014/main" val="3897202983"/>
                    </a:ext>
                  </a:extLst>
                </a:gridCol>
                <a:gridCol w="2891742">
                  <a:extLst>
                    <a:ext uri="{9D8B030D-6E8A-4147-A177-3AD203B41FA5}">
                      <a16:colId xmlns:a16="http://schemas.microsoft.com/office/drawing/2014/main" val="2156765555"/>
                    </a:ext>
                  </a:extLst>
                </a:gridCol>
              </a:tblGrid>
              <a:tr h="251460">
                <a:tc>
                  <a:txBody>
                    <a:bodyPr/>
                    <a:lstStyle/>
                    <a:p>
                      <a:pPr algn="ctr">
                        <a:buNone/>
                      </a:pPr>
                      <a:r>
                        <a:rPr lang="en-US" sz="1100" b="1" dirty="0">
                          <a:solidFill>
                            <a:srgbClr val="2A2A63"/>
                          </a:solidFill>
                        </a:rPr>
                        <a:t>What LLM-based agents bring</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100" b="1" dirty="0">
                          <a:solidFill>
                            <a:srgbClr val="2A2A63"/>
                          </a:solidFill>
                        </a:rPr>
                        <a:t>What we still need to engineer</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931704"/>
                  </a:ext>
                </a:extLst>
              </a:tr>
              <a:tr h="411480">
                <a:tc>
                  <a:txBody>
                    <a:bodyPr/>
                    <a:lstStyle/>
                    <a:p>
                      <a:pPr>
                        <a:buNone/>
                      </a:pPr>
                      <a:r>
                        <a:rPr lang="en-US" sz="1100" dirty="0"/>
                        <a:t>Interpret natural-language instructions and observations.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Maintain trustworthy state and manage memory.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131264"/>
                  </a:ext>
                </a:extLst>
              </a:tr>
              <a:tr h="251460">
                <a:tc>
                  <a:txBody>
                    <a:bodyPr/>
                    <a:lstStyle/>
                    <a:p>
                      <a:pPr>
                        <a:buNone/>
                      </a:pPr>
                      <a:r>
                        <a:rPr lang="en-US" sz="1100" dirty="0"/>
                        <a:t>Generate plans and propose tool calls.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Enforce permissions and validate actions.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203100"/>
                  </a:ext>
                </a:extLst>
              </a:tr>
              <a:tr h="411480">
                <a:tc>
                  <a:txBody>
                    <a:bodyPr/>
                    <a:lstStyle/>
                    <a:p>
                      <a:pPr>
                        <a:buNone/>
                      </a:pPr>
                      <a:r>
                        <a:rPr lang="en-US" sz="1100" dirty="0"/>
                        <a:t>Revise plans using feedback from the environment.</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US" sz="1100" dirty="0"/>
                        <a:t>Verify outcomes, recover from failures, and enforce budgets.</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0161783"/>
                  </a:ext>
                </a:extLst>
              </a:tr>
            </a:tbl>
          </a:graphicData>
        </a:graphic>
      </p:graphicFrame>
      <p:cxnSp>
        <p:nvCxnSpPr>
          <p:cNvPr id="3" name="Straight Arrow Connector 2">
            <a:extLst>
              <a:ext uri="{FF2B5EF4-FFF2-40B4-BE49-F238E27FC236}">
                <a16:creationId xmlns:a16="http://schemas.microsoft.com/office/drawing/2014/main" id="{B6533705-DE7F-2281-80F4-6669B5B77298}"/>
              </a:ext>
            </a:extLst>
          </p:cNvPr>
          <p:cNvCxnSpPr>
            <a:cxnSpLocks/>
          </p:cNvCxnSpPr>
          <p:nvPr/>
        </p:nvCxnSpPr>
        <p:spPr>
          <a:xfrm>
            <a:off x="318052" y="1053548"/>
            <a:ext cx="6379832" cy="0"/>
          </a:xfrm>
          <a:prstGeom prst="straightConnector1">
            <a:avLst/>
          </a:prstGeom>
          <a:ln w="25400">
            <a:solidFill>
              <a:srgbClr val="2A2A63"/>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3AF33281-9585-CA5F-4811-41189B8796E5}"/>
              </a:ext>
            </a:extLst>
          </p:cNvPr>
          <p:cNvSpPr/>
          <p:nvPr/>
        </p:nvSpPr>
        <p:spPr>
          <a:xfrm>
            <a:off x="1002577"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45B702B-93A6-E5C9-7B75-9DFE00BFC562}"/>
              </a:ext>
            </a:extLst>
          </p:cNvPr>
          <p:cNvSpPr txBox="1"/>
          <p:nvPr/>
        </p:nvSpPr>
        <p:spPr>
          <a:xfrm>
            <a:off x="666304" y="649431"/>
            <a:ext cx="747320" cy="338554"/>
          </a:xfrm>
          <a:prstGeom prst="rect">
            <a:avLst/>
          </a:prstGeom>
          <a:noFill/>
        </p:spPr>
        <p:txBody>
          <a:bodyPr wrap="none" rtlCol="0">
            <a:spAutoFit/>
          </a:bodyPr>
          <a:lstStyle/>
          <a:p>
            <a:pPr algn="l"/>
            <a:r>
              <a:rPr lang="en-US" sz="1600" dirty="0">
                <a:solidFill>
                  <a:schemeClr val="bg2">
                    <a:lumMod val="50000"/>
                  </a:schemeClr>
                </a:solidFill>
                <a:latin typeface="+mn-lt"/>
              </a:rPr>
              <a:t>1950s </a:t>
            </a:r>
          </a:p>
        </p:txBody>
      </p:sp>
      <p:sp>
        <p:nvSpPr>
          <p:cNvPr id="7" name="TextBox 6">
            <a:extLst>
              <a:ext uri="{FF2B5EF4-FFF2-40B4-BE49-F238E27FC236}">
                <a16:creationId xmlns:a16="http://schemas.microsoft.com/office/drawing/2014/main" id="{8C104760-F2E7-8556-0137-324F252D6CC6}"/>
              </a:ext>
            </a:extLst>
          </p:cNvPr>
          <p:cNvSpPr txBox="1"/>
          <p:nvPr/>
        </p:nvSpPr>
        <p:spPr>
          <a:xfrm>
            <a:off x="348909" y="1184675"/>
            <a:ext cx="1382110" cy="1015663"/>
          </a:xfrm>
          <a:prstGeom prst="rect">
            <a:avLst/>
          </a:prstGeom>
          <a:noFill/>
        </p:spPr>
        <p:txBody>
          <a:bodyPr wrap="none" rtlCol="0">
            <a:spAutoFit/>
          </a:bodyPr>
          <a:lstStyle/>
          <a:p>
            <a:pPr algn="ctr"/>
            <a:r>
              <a:rPr lang="en-US" sz="1200" b="1" dirty="0">
                <a:solidFill>
                  <a:schemeClr val="bg2">
                    <a:lumMod val="50000"/>
                  </a:schemeClr>
                </a:solidFill>
                <a:latin typeface="+mn-lt"/>
              </a:rPr>
              <a:t>Control Theory</a:t>
            </a:r>
          </a:p>
          <a:p>
            <a:pPr marL="285750" indent="-285750" algn="l">
              <a:buFont typeface="Arial" panose="020B0604020202020204" pitchFamily="34" charset="0"/>
              <a:buChar char="•"/>
            </a:pPr>
            <a:r>
              <a:rPr lang="en-US" sz="1200" dirty="0">
                <a:solidFill>
                  <a:schemeClr val="bg2">
                    <a:lumMod val="50000"/>
                  </a:schemeClr>
                </a:solidFill>
                <a:latin typeface="+mn-lt"/>
              </a:rPr>
              <a:t>Controller </a:t>
            </a:r>
          </a:p>
          <a:p>
            <a:pPr marL="285750" indent="-285750" algn="l">
              <a:buFont typeface="Arial" panose="020B0604020202020204" pitchFamily="34" charset="0"/>
              <a:buChar char="•"/>
            </a:pPr>
            <a:r>
              <a:rPr lang="en-US" sz="1200" dirty="0">
                <a:solidFill>
                  <a:schemeClr val="bg2">
                    <a:lumMod val="50000"/>
                  </a:schemeClr>
                </a:solidFill>
                <a:latin typeface="+mn-lt"/>
              </a:rPr>
              <a:t>environment</a:t>
            </a:r>
          </a:p>
          <a:p>
            <a:pPr marL="285750" indent="-285750" algn="l">
              <a:buFont typeface="Arial" panose="020B0604020202020204" pitchFamily="34" charset="0"/>
              <a:buChar char="•"/>
            </a:pPr>
            <a:r>
              <a:rPr lang="en-US" sz="1200" dirty="0">
                <a:solidFill>
                  <a:schemeClr val="bg2">
                    <a:lumMod val="50000"/>
                  </a:schemeClr>
                </a:solidFill>
                <a:latin typeface="+mn-lt"/>
              </a:rPr>
              <a:t>feedback</a:t>
            </a:r>
          </a:p>
          <a:p>
            <a:pPr marL="285750" indent="-285750" algn="l">
              <a:buFont typeface="Arial" panose="020B0604020202020204" pitchFamily="34" charset="0"/>
              <a:buChar char="•"/>
            </a:pPr>
            <a:r>
              <a:rPr lang="en-US" sz="1200" dirty="0">
                <a:solidFill>
                  <a:schemeClr val="bg2">
                    <a:lumMod val="50000"/>
                  </a:schemeClr>
                </a:solidFill>
                <a:latin typeface="+mn-lt"/>
              </a:rPr>
              <a:t>observability</a:t>
            </a:r>
          </a:p>
        </p:txBody>
      </p:sp>
      <p:sp>
        <p:nvSpPr>
          <p:cNvPr id="8" name="TextBox 7">
            <a:extLst>
              <a:ext uri="{FF2B5EF4-FFF2-40B4-BE49-F238E27FC236}">
                <a16:creationId xmlns:a16="http://schemas.microsoft.com/office/drawing/2014/main" id="{9AD6B0D7-4A66-9C10-0F8C-DF9599E2343E}"/>
              </a:ext>
            </a:extLst>
          </p:cNvPr>
          <p:cNvSpPr txBox="1"/>
          <p:nvPr/>
        </p:nvSpPr>
        <p:spPr>
          <a:xfrm>
            <a:off x="1902137" y="649431"/>
            <a:ext cx="1047082" cy="338554"/>
          </a:xfrm>
          <a:prstGeom prst="rect">
            <a:avLst/>
          </a:prstGeom>
          <a:noFill/>
        </p:spPr>
        <p:txBody>
          <a:bodyPr wrap="none" rtlCol="0">
            <a:spAutoFit/>
          </a:bodyPr>
          <a:lstStyle/>
          <a:p>
            <a:pPr algn="l"/>
            <a:r>
              <a:rPr lang="en-US" sz="1600" dirty="0">
                <a:solidFill>
                  <a:schemeClr val="bg2">
                    <a:lumMod val="50000"/>
                  </a:schemeClr>
                </a:solidFill>
                <a:latin typeface="+mn-lt"/>
              </a:rPr>
              <a:t>1970-80s </a:t>
            </a:r>
          </a:p>
        </p:txBody>
      </p:sp>
      <p:sp>
        <p:nvSpPr>
          <p:cNvPr id="19" name="TextBox 18">
            <a:extLst>
              <a:ext uri="{FF2B5EF4-FFF2-40B4-BE49-F238E27FC236}">
                <a16:creationId xmlns:a16="http://schemas.microsoft.com/office/drawing/2014/main" id="{53880B39-E047-8A81-4858-874BFC28F9C3}"/>
              </a:ext>
            </a:extLst>
          </p:cNvPr>
          <p:cNvSpPr txBox="1"/>
          <p:nvPr/>
        </p:nvSpPr>
        <p:spPr>
          <a:xfrm>
            <a:off x="1851643" y="1184675"/>
            <a:ext cx="1268296" cy="1015663"/>
          </a:xfrm>
          <a:prstGeom prst="rect">
            <a:avLst/>
          </a:prstGeom>
          <a:noFill/>
        </p:spPr>
        <p:txBody>
          <a:bodyPr wrap="none" rtlCol="0">
            <a:spAutoFit/>
          </a:bodyPr>
          <a:lstStyle/>
          <a:p>
            <a:pPr algn="ctr"/>
            <a:r>
              <a:rPr lang="en-US" sz="1200" b="1" dirty="0">
                <a:solidFill>
                  <a:schemeClr val="bg2">
                    <a:lumMod val="50000"/>
                  </a:schemeClr>
                </a:solidFill>
                <a:latin typeface="+mn-lt"/>
              </a:rPr>
              <a:t>Symbolic AI</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Agents </a:t>
            </a:r>
          </a:p>
          <a:p>
            <a:pPr marL="285750" indent="-285750" algn="l">
              <a:buFont typeface="Arial" panose="020B0604020202020204" pitchFamily="34" charset="0"/>
              <a:buChar char="•"/>
            </a:pPr>
            <a:r>
              <a:rPr lang="en-US" sz="1200" dirty="0">
                <a:solidFill>
                  <a:schemeClr val="bg2">
                    <a:lumMod val="50000"/>
                  </a:schemeClr>
                </a:solidFill>
                <a:latin typeface="+mn-lt"/>
              </a:rPr>
              <a:t>Percepts</a:t>
            </a:r>
          </a:p>
          <a:p>
            <a:pPr marL="285750" indent="-285750" algn="l">
              <a:buFont typeface="Arial" panose="020B0604020202020204" pitchFamily="34" charset="0"/>
              <a:buChar char="•"/>
            </a:pPr>
            <a:r>
              <a:rPr lang="en-US" sz="1200" dirty="0">
                <a:solidFill>
                  <a:schemeClr val="bg2">
                    <a:lumMod val="50000"/>
                  </a:schemeClr>
                </a:solidFill>
                <a:latin typeface="+mn-lt"/>
              </a:rPr>
              <a:t>Actions</a:t>
            </a:r>
          </a:p>
          <a:p>
            <a:pPr marL="285750" indent="-285750" algn="l">
              <a:buFont typeface="Arial" panose="020B0604020202020204" pitchFamily="34" charset="0"/>
              <a:buChar char="•"/>
            </a:pPr>
            <a:r>
              <a:rPr lang="en-US" sz="1200" dirty="0">
                <a:solidFill>
                  <a:schemeClr val="bg2">
                    <a:lumMod val="50000"/>
                  </a:schemeClr>
                </a:solidFill>
                <a:latin typeface="+mn-lt"/>
              </a:rPr>
              <a:t>Belief state</a:t>
            </a:r>
          </a:p>
        </p:txBody>
      </p:sp>
      <p:sp>
        <p:nvSpPr>
          <p:cNvPr id="24" name="Oval 23">
            <a:extLst>
              <a:ext uri="{FF2B5EF4-FFF2-40B4-BE49-F238E27FC236}">
                <a16:creationId xmlns:a16="http://schemas.microsoft.com/office/drawing/2014/main" id="{267CC27C-CE31-34D2-0158-E356C84F5166}"/>
              </a:ext>
            </a:extLst>
          </p:cNvPr>
          <p:cNvSpPr/>
          <p:nvPr/>
        </p:nvSpPr>
        <p:spPr>
          <a:xfrm>
            <a:off x="2450510"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A0D41CE-C7D8-E330-B15C-7DE393B7406A}"/>
              </a:ext>
            </a:extLst>
          </p:cNvPr>
          <p:cNvSpPr txBox="1"/>
          <p:nvPr/>
        </p:nvSpPr>
        <p:spPr>
          <a:xfrm>
            <a:off x="3704398" y="640222"/>
            <a:ext cx="1090363" cy="338554"/>
          </a:xfrm>
          <a:prstGeom prst="rect">
            <a:avLst/>
          </a:prstGeom>
          <a:noFill/>
        </p:spPr>
        <p:txBody>
          <a:bodyPr wrap="none" rtlCol="0">
            <a:spAutoFit/>
          </a:bodyPr>
          <a:lstStyle/>
          <a:p>
            <a:pPr algn="l"/>
            <a:r>
              <a:rPr lang="en-US" sz="1600" dirty="0">
                <a:solidFill>
                  <a:schemeClr val="bg2">
                    <a:lumMod val="50000"/>
                  </a:schemeClr>
                </a:solidFill>
                <a:latin typeface="+mn-lt"/>
              </a:rPr>
              <a:t>1980-’10s </a:t>
            </a:r>
          </a:p>
        </p:txBody>
      </p:sp>
      <p:sp>
        <p:nvSpPr>
          <p:cNvPr id="26" name="TextBox 25">
            <a:extLst>
              <a:ext uri="{FF2B5EF4-FFF2-40B4-BE49-F238E27FC236}">
                <a16:creationId xmlns:a16="http://schemas.microsoft.com/office/drawing/2014/main" id="{B12C9B7C-5892-B4A0-591A-4EADF47F6601}"/>
              </a:ext>
            </a:extLst>
          </p:cNvPr>
          <p:cNvSpPr txBox="1"/>
          <p:nvPr/>
        </p:nvSpPr>
        <p:spPr>
          <a:xfrm>
            <a:off x="3245139" y="1184675"/>
            <a:ext cx="2008883" cy="1015663"/>
          </a:xfrm>
          <a:prstGeom prst="rect">
            <a:avLst/>
          </a:prstGeom>
          <a:noFill/>
        </p:spPr>
        <p:txBody>
          <a:bodyPr wrap="none" rtlCol="0">
            <a:spAutoFit/>
          </a:bodyPr>
          <a:lstStyle/>
          <a:p>
            <a:pPr algn="ctr"/>
            <a:r>
              <a:rPr lang="en-US" sz="1200" b="1" dirty="0">
                <a:solidFill>
                  <a:schemeClr val="bg2">
                    <a:lumMod val="50000"/>
                  </a:schemeClr>
                </a:solidFill>
                <a:latin typeface="+mn-lt"/>
              </a:rPr>
              <a:t>Cognitive Arch &amp; RL</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Long-term memory </a:t>
            </a:r>
          </a:p>
          <a:p>
            <a:pPr marL="285750" indent="-285750" algn="l">
              <a:buFont typeface="Arial" panose="020B0604020202020204" pitchFamily="34" charset="0"/>
              <a:buChar char="•"/>
            </a:pPr>
            <a:r>
              <a:rPr lang="en-US" sz="1200" dirty="0">
                <a:solidFill>
                  <a:schemeClr val="bg2">
                    <a:lumMod val="50000"/>
                  </a:schemeClr>
                </a:solidFill>
                <a:latin typeface="+mn-lt"/>
              </a:rPr>
              <a:t>Decision procedure</a:t>
            </a:r>
          </a:p>
          <a:p>
            <a:pPr marL="285750" indent="-285750" algn="l">
              <a:buFont typeface="Arial" panose="020B0604020202020204" pitchFamily="34" charset="0"/>
              <a:buChar char="•"/>
            </a:pPr>
            <a:r>
              <a:rPr lang="en-US" sz="1200" dirty="0">
                <a:solidFill>
                  <a:schemeClr val="bg2">
                    <a:lumMod val="50000"/>
                  </a:schemeClr>
                </a:solidFill>
                <a:latin typeface="+mn-lt"/>
              </a:rPr>
              <a:t>Action selection</a:t>
            </a:r>
          </a:p>
          <a:p>
            <a:pPr marL="285750" indent="-285750">
              <a:buFont typeface="Arial" panose="020B0604020202020204" pitchFamily="34" charset="0"/>
              <a:buChar char="•"/>
            </a:pPr>
            <a:r>
              <a:rPr lang="en-US" sz="1200" dirty="0">
                <a:solidFill>
                  <a:schemeClr val="bg2">
                    <a:lumMod val="50000"/>
                  </a:schemeClr>
                </a:solidFill>
                <a:latin typeface="+mn-lt"/>
              </a:rPr>
              <a:t>Trajectory and reward</a:t>
            </a:r>
          </a:p>
        </p:txBody>
      </p:sp>
      <p:sp>
        <p:nvSpPr>
          <p:cNvPr id="27" name="Oval 26">
            <a:extLst>
              <a:ext uri="{FF2B5EF4-FFF2-40B4-BE49-F238E27FC236}">
                <a16:creationId xmlns:a16="http://schemas.microsoft.com/office/drawing/2014/main" id="{E3396C79-DED0-52E1-C7AE-709EFAC94B2A}"/>
              </a:ext>
            </a:extLst>
          </p:cNvPr>
          <p:cNvSpPr/>
          <p:nvPr/>
        </p:nvSpPr>
        <p:spPr>
          <a:xfrm>
            <a:off x="4214302"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E8C46C2-0C67-F044-793C-970F6B087AA9}"/>
              </a:ext>
            </a:extLst>
          </p:cNvPr>
          <p:cNvSpPr txBox="1"/>
          <p:nvPr/>
        </p:nvSpPr>
        <p:spPr>
          <a:xfrm>
            <a:off x="5683664" y="640222"/>
            <a:ext cx="704039" cy="338554"/>
          </a:xfrm>
          <a:prstGeom prst="rect">
            <a:avLst/>
          </a:prstGeom>
          <a:noFill/>
        </p:spPr>
        <p:txBody>
          <a:bodyPr wrap="square" rtlCol="0">
            <a:spAutoFit/>
          </a:bodyPr>
          <a:lstStyle/>
          <a:p>
            <a:pPr algn="l"/>
            <a:r>
              <a:rPr lang="en-US" sz="1600" dirty="0">
                <a:solidFill>
                  <a:schemeClr val="bg2">
                    <a:lumMod val="50000"/>
                  </a:schemeClr>
                </a:solidFill>
                <a:latin typeface="+mn-lt"/>
              </a:rPr>
              <a:t>2022+</a:t>
            </a:r>
          </a:p>
        </p:txBody>
      </p:sp>
      <p:sp>
        <p:nvSpPr>
          <p:cNvPr id="29" name="TextBox 28">
            <a:extLst>
              <a:ext uri="{FF2B5EF4-FFF2-40B4-BE49-F238E27FC236}">
                <a16:creationId xmlns:a16="http://schemas.microsoft.com/office/drawing/2014/main" id="{289B8121-FAFF-1C88-B398-F1EEA5CC8926}"/>
              </a:ext>
            </a:extLst>
          </p:cNvPr>
          <p:cNvSpPr txBox="1"/>
          <p:nvPr/>
        </p:nvSpPr>
        <p:spPr>
          <a:xfrm>
            <a:off x="5373482" y="1184675"/>
            <a:ext cx="1348446" cy="1015663"/>
          </a:xfrm>
          <a:prstGeom prst="rect">
            <a:avLst/>
          </a:prstGeom>
          <a:noFill/>
        </p:spPr>
        <p:txBody>
          <a:bodyPr wrap="none" rtlCol="0">
            <a:spAutoFit/>
          </a:bodyPr>
          <a:lstStyle/>
          <a:p>
            <a:r>
              <a:rPr lang="en-US" sz="1200" b="1" dirty="0">
                <a:solidFill>
                  <a:schemeClr val="bg2">
                    <a:lumMod val="50000"/>
                  </a:schemeClr>
                </a:solidFill>
                <a:latin typeface="+mn-lt"/>
              </a:rPr>
              <a:t>LLM-based</a:t>
            </a:r>
            <a:br>
              <a:rPr lang="en-US" sz="1200" b="1" dirty="0">
                <a:solidFill>
                  <a:schemeClr val="bg2">
                    <a:lumMod val="50000"/>
                  </a:schemeClr>
                </a:solidFill>
                <a:latin typeface="+mn-lt"/>
              </a:rPr>
            </a:br>
            <a:r>
              <a:rPr lang="en-US" sz="1200" i="1" dirty="0">
                <a:solidFill>
                  <a:schemeClr val="bg2">
                    <a:lumMod val="50000"/>
                  </a:schemeClr>
                </a:solidFill>
                <a:latin typeface="+mn-lt"/>
              </a:rPr>
              <a:t>Same structure </a:t>
            </a:r>
          </a:p>
          <a:p>
            <a:r>
              <a:rPr lang="en-US" sz="1200" i="1" dirty="0">
                <a:solidFill>
                  <a:schemeClr val="bg2">
                    <a:lumMod val="50000"/>
                  </a:schemeClr>
                </a:solidFill>
                <a:latin typeface="+mn-lt"/>
              </a:rPr>
              <a:t>with a language </a:t>
            </a:r>
          </a:p>
          <a:p>
            <a:r>
              <a:rPr lang="en-US" sz="1200" i="1" dirty="0">
                <a:solidFill>
                  <a:schemeClr val="bg2">
                    <a:lumMod val="50000"/>
                  </a:schemeClr>
                </a:solidFill>
                <a:latin typeface="+mn-lt"/>
              </a:rPr>
              <a:t>model in the </a:t>
            </a:r>
          </a:p>
          <a:p>
            <a:r>
              <a:rPr lang="en-US" sz="1200" i="1" dirty="0">
                <a:solidFill>
                  <a:schemeClr val="bg2">
                    <a:lumMod val="50000"/>
                  </a:schemeClr>
                </a:solidFill>
                <a:latin typeface="+mn-lt"/>
              </a:rPr>
              <a:t>decision box</a:t>
            </a:r>
          </a:p>
        </p:txBody>
      </p:sp>
      <p:sp>
        <p:nvSpPr>
          <p:cNvPr id="30" name="Oval 29">
            <a:extLst>
              <a:ext uri="{FF2B5EF4-FFF2-40B4-BE49-F238E27FC236}">
                <a16:creationId xmlns:a16="http://schemas.microsoft.com/office/drawing/2014/main" id="{5814BCF9-E4B9-597D-2E58-F9398EC3FB90}"/>
              </a:ext>
            </a:extLst>
          </p:cNvPr>
          <p:cNvSpPr/>
          <p:nvPr/>
        </p:nvSpPr>
        <p:spPr>
          <a:xfrm>
            <a:off x="5998298"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5583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D8E1F-0DFE-2911-08C0-CF13CBDDB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32312-24A4-8EDD-72B1-C439D3815575}"/>
              </a:ext>
            </a:extLst>
          </p:cNvPr>
          <p:cNvSpPr>
            <a:spLocks noGrp="1"/>
          </p:cNvSpPr>
          <p:nvPr>
            <p:ph type="title"/>
          </p:nvPr>
        </p:nvSpPr>
        <p:spPr/>
        <p:txBody>
          <a:bodyPr>
            <a:normAutofit/>
          </a:bodyPr>
          <a:lstStyle/>
          <a:p>
            <a:r>
              <a:rPr lang="en-US" dirty="0"/>
              <a:t>What was an Agent? A pre-LLM view</a:t>
            </a:r>
          </a:p>
        </p:txBody>
      </p:sp>
      <p:sp>
        <p:nvSpPr>
          <p:cNvPr id="26" name="TextBox 25">
            <a:extLst>
              <a:ext uri="{FF2B5EF4-FFF2-40B4-BE49-F238E27FC236}">
                <a16:creationId xmlns:a16="http://schemas.microsoft.com/office/drawing/2014/main" id="{C7EA7A43-F336-F274-DC56-18E2DA6459BF}"/>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pic>
        <p:nvPicPr>
          <p:cNvPr id="33" name="Picture 32">
            <a:extLst>
              <a:ext uri="{FF2B5EF4-FFF2-40B4-BE49-F238E27FC236}">
                <a16:creationId xmlns:a16="http://schemas.microsoft.com/office/drawing/2014/main" id="{4F8E3AA9-930E-E010-CB82-A41459D5A64F}"/>
              </a:ext>
            </a:extLst>
          </p:cNvPr>
          <p:cNvPicPr>
            <a:picLocks noChangeAspect="1"/>
          </p:cNvPicPr>
          <p:nvPr/>
        </p:nvPicPr>
        <p:blipFill>
          <a:blip r:embed="rId2"/>
          <a:srcRect t="10880" b="5577"/>
          <a:stretch>
            <a:fillRect/>
          </a:stretch>
        </p:blipFill>
        <p:spPr>
          <a:xfrm>
            <a:off x="13728" y="1053295"/>
            <a:ext cx="6844272" cy="3811929"/>
          </a:xfrm>
          <a:prstGeom prst="rect">
            <a:avLst/>
          </a:prstGeom>
        </p:spPr>
      </p:pic>
      <p:sp>
        <p:nvSpPr>
          <p:cNvPr id="34" name="TextBox 33">
            <a:extLst>
              <a:ext uri="{FF2B5EF4-FFF2-40B4-BE49-F238E27FC236}">
                <a16:creationId xmlns:a16="http://schemas.microsoft.com/office/drawing/2014/main" id="{770A40DB-1BF3-BAF5-AFF7-AF60F59382AE}"/>
              </a:ext>
            </a:extLst>
          </p:cNvPr>
          <p:cNvSpPr txBox="1"/>
          <p:nvPr/>
        </p:nvSpPr>
        <p:spPr>
          <a:xfrm>
            <a:off x="28274" y="630050"/>
            <a:ext cx="5753498" cy="307777"/>
          </a:xfrm>
          <a:prstGeom prst="rect">
            <a:avLst/>
          </a:prstGeom>
          <a:noFill/>
        </p:spPr>
        <p:txBody>
          <a:bodyPr wrap="none" rtlCol="0">
            <a:spAutoFit/>
          </a:bodyPr>
          <a:lstStyle/>
          <a:p>
            <a:pPr algn="l"/>
            <a:r>
              <a:rPr lang="en-US" dirty="0">
                <a:latin typeface="+mn-lt"/>
              </a:rPr>
              <a:t>This is the classical view of agents from Poole &amp; Mackworth (2010) </a:t>
            </a:r>
            <a:r>
              <a:rPr lang="en-US" baseline="30000" dirty="0">
                <a:latin typeface="+mn-lt"/>
              </a:rPr>
              <a:t>[1]</a:t>
            </a:r>
          </a:p>
        </p:txBody>
      </p:sp>
    </p:spTree>
    <p:extLst>
      <p:ext uri="{BB962C8B-B14F-4D97-AF65-F5344CB8AC3E}">
        <p14:creationId xmlns:p14="http://schemas.microsoft.com/office/powerpoint/2010/main" val="1605550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E860-C01C-6C14-7174-AAA60AE20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8F51C-B710-736F-1503-6AE502BBF610}"/>
              </a:ext>
            </a:extLst>
          </p:cNvPr>
          <p:cNvSpPr>
            <a:spLocks noGrp="1"/>
          </p:cNvSpPr>
          <p:nvPr>
            <p:ph type="title"/>
          </p:nvPr>
        </p:nvSpPr>
        <p:spPr/>
        <p:txBody>
          <a:bodyPr>
            <a:normAutofit/>
          </a:bodyPr>
          <a:lstStyle/>
          <a:p>
            <a:r>
              <a:rPr lang="en-US" dirty="0"/>
              <a:t>What was an Agent? A pre-LLM view</a:t>
            </a:r>
          </a:p>
        </p:txBody>
      </p:sp>
      <p:sp>
        <p:nvSpPr>
          <p:cNvPr id="26" name="TextBox 25">
            <a:extLst>
              <a:ext uri="{FF2B5EF4-FFF2-40B4-BE49-F238E27FC236}">
                <a16:creationId xmlns:a16="http://schemas.microsoft.com/office/drawing/2014/main" id="{459A3E3A-C4DD-F7DC-E8AE-97603224FB1B}"/>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pic>
        <p:nvPicPr>
          <p:cNvPr id="33" name="Picture 32">
            <a:extLst>
              <a:ext uri="{FF2B5EF4-FFF2-40B4-BE49-F238E27FC236}">
                <a16:creationId xmlns:a16="http://schemas.microsoft.com/office/drawing/2014/main" id="{2C59653C-1624-52F9-50FA-2E94BC8E0971}"/>
              </a:ext>
            </a:extLst>
          </p:cNvPr>
          <p:cNvPicPr>
            <a:picLocks noChangeAspect="1"/>
          </p:cNvPicPr>
          <p:nvPr/>
        </p:nvPicPr>
        <p:blipFill>
          <a:blip r:embed="rId2"/>
          <a:srcRect t="10880" b="5577"/>
          <a:stretch>
            <a:fillRect/>
          </a:stretch>
        </p:blipFill>
        <p:spPr>
          <a:xfrm>
            <a:off x="13728" y="1053295"/>
            <a:ext cx="6844272" cy="3811929"/>
          </a:xfrm>
          <a:prstGeom prst="rect">
            <a:avLst/>
          </a:prstGeom>
        </p:spPr>
      </p:pic>
      <p:sp>
        <p:nvSpPr>
          <p:cNvPr id="34" name="TextBox 33">
            <a:extLst>
              <a:ext uri="{FF2B5EF4-FFF2-40B4-BE49-F238E27FC236}">
                <a16:creationId xmlns:a16="http://schemas.microsoft.com/office/drawing/2014/main" id="{E140FB02-43D4-D934-5054-3795A3D06CC6}"/>
              </a:ext>
            </a:extLst>
          </p:cNvPr>
          <p:cNvSpPr txBox="1"/>
          <p:nvPr/>
        </p:nvSpPr>
        <p:spPr>
          <a:xfrm>
            <a:off x="28274" y="630050"/>
            <a:ext cx="5753498" cy="307777"/>
          </a:xfrm>
          <a:prstGeom prst="rect">
            <a:avLst/>
          </a:prstGeom>
          <a:noFill/>
        </p:spPr>
        <p:txBody>
          <a:bodyPr wrap="none" rtlCol="0">
            <a:spAutoFit/>
          </a:bodyPr>
          <a:lstStyle/>
          <a:p>
            <a:pPr algn="l"/>
            <a:r>
              <a:rPr lang="en-US" dirty="0">
                <a:latin typeface="+mn-lt"/>
              </a:rPr>
              <a:t>This is the classical view of agents from Poole &amp; Mackworth (2010) </a:t>
            </a:r>
            <a:r>
              <a:rPr lang="en-US" baseline="30000" dirty="0">
                <a:latin typeface="+mn-lt"/>
              </a:rPr>
              <a:t>[1]</a:t>
            </a:r>
          </a:p>
        </p:txBody>
      </p:sp>
      <p:pic>
        <p:nvPicPr>
          <p:cNvPr id="3" name="Picture 2">
            <a:extLst>
              <a:ext uri="{FF2B5EF4-FFF2-40B4-BE49-F238E27FC236}">
                <a16:creationId xmlns:a16="http://schemas.microsoft.com/office/drawing/2014/main" id="{FBA83132-D78B-A3A6-D7CE-080EDC214A1A}"/>
              </a:ext>
            </a:extLst>
          </p:cNvPr>
          <p:cNvPicPr>
            <a:picLocks noChangeAspect="1"/>
          </p:cNvPicPr>
          <p:nvPr/>
        </p:nvPicPr>
        <p:blipFill>
          <a:blip r:embed="rId3">
            <a:alphaModFix amt="92000"/>
          </a:blip>
          <a:stretch>
            <a:fillRect/>
          </a:stretch>
        </p:blipFill>
        <p:spPr>
          <a:xfrm>
            <a:off x="2310730" y="1053295"/>
            <a:ext cx="4547269" cy="3870900"/>
          </a:xfrm>
          <a:prstGeom prst="rect">
            <a:avLst/>
          </a:prstGeom>
        </p:spPr>
      </p:pic>
    </p:spTree>
    <p:extLst>
      <p:ext uri="{BB962C8B-B14F-4D97-AF65-F5344CB8AC3E}">
        <p14:creationId xmlns:p14="http://schemas.microsoft.com/office/powerpoint/2010/main" val="529410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024F6-36A9-4C85-CAF8-D873DC23F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BB37B-4EF8-5157-2B26-64CBD38089FD}"/>
              </a:ext>
            </a:extLst>
          </p:cNvPr>
          <p:cNvSpPr>
            <a:spLocks noGrp="1"/>
          </p:cNvSpPr>
          <p:nvPr>
            <p:ph type="title"/>
          </p:nvPr>
        </p:nvSpPr>
        <p:spPr/>
        <p:txBody>
          <a:bodyPr>
            <a:normAutofit/>
          </a:bodyPr>
          <a:lstStyle/>
          <a:p>
            <a:r>
              <a:rPr lang="en-US" dirty="0"/>
              <a:t>What was an Agent? A pre-LLM view</a:t>
            </a:r>
          </a:p>
        </p:txBody>
      </p:sp>
      <p:sp>
        <p:nvSpPr>
          <p:cNvPr id="26" name="TextBox 25">
            <a:extLst>
              <a:ext uri="{FF2B5EF4-FFF2-40B4-BE49-F238E27FC236}">
                <a16:creationId xmlns:a16="http://schemas.microsoft.com/office/drawing/2014/main" id="{C3C98B2C-697B-2895-6F16-0F831D6A9EE1}"/>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pic>
        <p:nvPicPr>
          <p:cNvPr id="33" name="Picture 32">
            <a:extLst>
              <a:ext uri="{FF2B5EF4-FFF2-40B4-BE49-F238E27FC236}">
                <a16:creationId xmlns:a16="http://schemas.microsoft.com/office/drawing/2014/main" id="{18DD9A1B-EF33-9D17-8410-A762589BC22F}"/>
              </a:ext>
            </a:extLst>
          </p:cNvPr>
          <p:cNvPicPr>
            <a:picLocks noChangeAspect="1"/>
          </p:cNvPicPr>
          <p:nvPr/>
        </p:nvPicPr>
        <p:blipFill>
          <a:blip r:embed="rId2"/>
          <a:srcRect t="10880" b="5577"/>
          <a:stretch>
            <a:fillRect/>
          </a:stretch>
        </p:blipFill>
        <p:spPr>
          <a:xfrm>
            <a:off x="13728" y="1053295"/>
            <a:ext cx="6844272" cy="3811929"/>
          </a:xfrm>
          <a:prstGeom prst="rect">
            <a:avLst/>
          </a:prstGeom>
        </p:spPr>
      </p:pic>
      <p:sp>
        <p:nvSpPr>
          <p:cNvPr id="34" name="TextBox 33">
            <a:extLst>
              <a:ext uri="{FF2B5EF4-FFF2-40B4-BE49-F238E27FC236}">
                <a16:creationId xmlns:a16="http://schemas.microsoft.com/office/drawing/2014/main" id="{5D18BDA2-78B5-B9E1-F34D-F1584ABA87E1}"/>
              </a:ext>
            </a:extLst>
          </p:cNvPr>
          <p:cNvSpPr txBox="1"/>
          <p:nvPr/>
        </p:nvSpPr>
        <p:spPr>
          <a:xfrm>
            <a:off x="28274" y="630050"/>
            <a:ext cx="5753498" cy="307777"/>
          </a:xfrm>
          <a:prstGeom prst="rect">
            <a:avLst/>
          </a:prstGeom>
          <a:noFill/>
        </p:spPr>
        <p:txBody>
          <a:bodyPr wrap="none" rtlCol="0">
            <a:spAutoFit/>
          </a:bodyPr>
          <a:lstStyle/>
          <a:p>
            <a:pPr algn="l"/>
            <a:r>
              <a:rPr lang="en-US" dirty="0">
                <a:latin typeface="+mn-lt"/>
              </a:rPr>
              <a:t>This is the classical view of agents from Poole &amp; Mackworth (2010) </a:t>
            </a:r>
            <a:r>
              <a:rPr lang="en-US" baseline="30000" dirty="0">
                <a:latin typeface="+mn-lt"/>
              </a:rPr>
              <a:t>[1]</a:t>
            </a:r>
          </a:p>
        </p:txBody>
      </p:sp>
      <p:pic>
        <p:nvPicPr>
          <p:cNvPr id="3" name="Picture 2">
            <a:extLst>
              <a:ext uri="{FF2B5EF4-FFF2-40B4-BE49-F238E27FC236}">
                <a16:creationId xmlns:a16="http://schemas.microsoft.com/office/drawing/2014/main" id="{28C6EA23-940B-1522-21AE-2FC2655D558D}"/>
              </a:ext>
            </a:extLst>
          </p:cNvPr>
          <p:cNvPicPr>
            <a:picLocks noChangeAspect="1"/>
          </p:cNvPicPr>
          <p:nvPr/>
        </p:nvPicPr>
        <p:blipFill>
          <a:blip r:embed="rId3">
            <a:alphaModFix amt="92000"/>
          </a:blip>
          <a:stretch>
            <a:fillRect/>
          </a:stretch>
        </p:blipFill>
        <p:spPr>
          <a:xfrm>
            <a:off x="4529889" y="1053295"/>
            <a:ext cx="2328110" cy="3870900"/>
          </a:xfrm>
          <a:prstGeom prst="rect">
            <a:avLst/>
          </a:prstGeom>
        </p:spPr>
      </p:pic>
      <p:pic>
        <p:nvPicPr>
          <p:cNvPr id="4" name="Picture 3">
            <a:extLst>
              <a:ext uri="{FF2B5EF4-FFF2-40B4-BE49-F238E27FC236}">
                <a16:creationId xmlns:a16="http://schemas.microsoft.com/office/drawing/2014/main" id="{36FE3ED6-7075-6A9E-7706-B676DB889D51}"/>
              </a:ext>
            </a:extLst>
          </p:cNvPr>
          <p:cNvPicPr>
            <a:picLocks noChangeAspect="1"/>
          </p:cNvPicPr>
          <p:nvPr/>
        </p:nvPicPr>
        <p:blipFill>
          <a:blip r:embed="rId3">
            <a:alphaModFix amt="92000"/>
          </a:blip>
          <a:stretch>
            <a:fillRect/>
          </a:stretch>
        </p:blipFill>
        <p:spPr>
          <a:xfrm>
            <a:off x="0" y="1053295"/>
            <a:ext cx="2328110" cy="3870900"/>
          </a:xfrm>
          <a:prstGeom prst="rect">
            <a:avLst/>
          </a:prstGeom>
        </p:spPr>
      </p:pic>
    </p:spTree>
    <p:extLst>
      <p:ext uri="{BB962C8B-B14F-4D97-AF65-F5344CB8AC3E}">
        <p14:creationId xmlns:p14="http://schemas.microsoft.com/office/powerpoint/2010/main" val="2896965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DA595-1BDF-7C03-80D6-947A33324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44268-55A5-30E8-D8C8-3C32C5FEE4AF}"/>
              </a:ext>
            </a:extLst>
          </p:cNvPr>
          <p:cNvSpPr>
            <a:spLocks noGrp="1"/>
          </p:cNvSpPr>
          <p:nvPr>
            <p:ph type="title"/>
          </p:nvPr>
        </p:nvSpPr>
        <p:spPr/>
        <p:txBody>
          <a:bodyPr>
            <a:normAutofit/>
          </a:bodyPr>
          <a:lstStyle/>
          <a:p>
            <a:r>
              <a:rPr lang="en-US" dirty="0"/>
              <a:t>What was an Agent? A pre-LLM view</a:t>
            </a:r>
          </a:p>
        </p:txBody>
      </p:sp>
      <p:sp>
        <p:nvSpPr>
          <p:cNvPr id="26" name="TextBox 25">
            <a:extLst>
              <a:ext uri="{FF2B5EF4-FFF2-40B4-BE49-F238E27FC236}">
                <a16:creationId xmlns:a16="http://schemas.microsoft.com/office/drawing/2014/main" id="{F8B3E00E-3408-F582-B714-D25A74BE32E7}"/>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pic>
        <p:nvPicPr>
          <p:cNvPr id="33" name="Picture 32">
            <a:extLst>
              <a:ext uri="{FF2B5EF4-FFF2-40B4-BE49-F238E27FC236}">
                <a16:creationId xmlns:a16="http://schemas.microsoft.com/office/drawing/2014/main" id="{EE093055-159A-8FEA-FC1E-83F4EB33A602}"/>
              </a:ext>
            </a:extLst>
          </p:cNvPr>
          <p:cNvPicPr>
            <a:picLocks noChangeAspect="1"/>
          </p:cNvPicPr>
          <p:nvPr/>
        </p:nvPicPr>
        <p:blipFill>
          <a:blip r:embed="rId2"/>
          <a:srcRect t="10880" b="5577"/>
          <a:stretch>
            <a:fillRect/>
          </a:stretch>
        </p:blipFill>
        <p:spPr>
          <a:xfrm>
            <a:off x="13728" y="1053295"/>
            <a:ext cx="6844272" cy="3811929"/>
          </a:xfrm>
          <a:prstGeom prst="rect">
            <a:avLst/>
          </a:prstGeom>
        </p:spPr>
      </p:pic>
      <p:sp>
        <p:nvSpPr>
          <p:cNvPr id="34" name="TextBox 33">
            <a:extLst>
              <a:ext uri="{FF2B5EF4-FFF2-40B4-BE49-F238E27FC236}">
                <a16:creationId xmlns:a16="http://schemas.microsoft.com/office/drawing/2014/main" id="{1AA7AEC4-1507-B4C5-EB3A-22E1AACDA952}"/>
              </a:ext>
            </a:extLst>
          </p:cNvPr>
          <p:cNvSpPr txBox="1"/>
          <p:nvPr/>
        </p:nvSpPr>
        <p:spPr>
          <a:xfrm>
            <a:off x="28274" y="630050"/>
            <a:ext cx="5753498" cy="307777"/>
          </a:xfrm>
          <a:prstGeom prst="rect">
            <a:avLst/>
          </a:prstGeom>
          <a:noFill/>
        </p:spPr>
        <p:txBody>
          <a:bodyPr wrap="none" rtlCol="0">
            <a:spAutoFit/>
          </a:bodyPr>
          <a:lstStyle/>
          <a:p>
            <a:pPr algn="l"/>
            <a:r>
              <a:rPr lang="en-US" dirty="0">
                <a:latin typeface="+mn-lt"/>
              </a:rPr>
              <a:t>This is the classical view of agents from Poole &amp; Mackworth (2010) </a:t>
            </a:r>
            <a:r>
              <a:rPr lang="en-US" baseline="30000" dirty="0">
                <a:latin typeface="+mn-lt"/>
              </a:rPr>
              <a:t>[1]</a:t>
            </a:r>
          </a:p>
        </p:txBody>
      </p:sp>
      <p:pic>
        <p:nvPicPr>
          <p:cNvPr id="3" name="Picture 2">
            <a:extLst>
              <a:ext uri="{FF2B5EF4-FFF2-40B4-BE49-F238E27FC236}">
                <a16:creationId xmlns:a16="http://schemas.microsoft.com/office/drawing/2014/main" id="{71941BD6-EA76-AF38-C266-3B26A26C40D2}"/>
              </a:ext>
            </a:extLst>
          </p:cNvPr>
          <p:cNvPicPr>
            <a:picLocks noChangeAspect="1"/>
          </p:cNvPicPr>
          <p:nvPr/>
        </p:nvPicPr>
        <p:blipFill>
          <a:blip r:embed="rId3">
            <a:alphaModFix amt="92000"/>
          </a:blip>
          <a:stretch>
            <a:fillRect/>
          </a:stretch>
        </p:blipFill>
        <p:spPr>
          <a:xfrm>
            <a:off x="0" y="1053295"/>
            <a:ext cx="4535905" cy="3870900"/>
          </a:xfrm>
          <a:prstGeom prst="rect">
            <a:avLst/>
          </a:prstGeom>
        </p:spPr>
      </p:pic>
    </p:spTree>
    <p:extLst>
      <p:ext uri="{BB962C8B-B14F-4D97-AF65-F5344CB8AC3E}">
        <p14:creationId xmlns:p14="http://schemas.microsoft.com/office/powerpoint/2010/main" val="3732772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4F6D-EA24-C62B-0C19-630585055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A1840-2C6B-4070-E1C9-1FD12E883E57}"/>
              </a:ext>
            </a:extLst>
          </p:cNvPr>
          <p:cNvSpPr>
            <a:spLocks noGrp="1"/>
          </p:cNvSpPr>
          <p:nvPr>
            <p:ph type="title"/>
          </p:nvPr>
        </p:nvSpPr>
        <p:spPr/>
        <p:txBody>
          <a:bodyPr>
            <a:normAutofit/>
          </a:bodyPr>
          <a:lstStyle/>
          <a:p>
            <a:r>
              <a:rPr lang="en-US" dirty="0"/>
              <a:t>What changed: The model proposes the work</a:t>
            </a:r>
          </a:p>
        </p:txBody>
      </p:sp>
      <p:sp>
        <p:nvSpPr>
          <p:cNvPr id="26" name="TextBox 25">
            <a:extLst>
              <a:ext uri="{FF2B5EF4-FFF2-40B4-BE49-F238E27FC236}">
                <a16:creationId xmlns:a16="http://schemas.microsoft.com/office/drawing/2014/main" id="{2E58C1C6-95F9-06B1-5DAC-63F1C7ECD157}"/>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pic>
        <p:nvPicPr>
          <p:cNvPr id="32" name="Picture 31">
            <a:extLst>
              <a:ext uri="{FF2B5EF4-FFF2-40B4-BE49-F238E27FC236}">
                <a16:creationId xmlns:a16="http://schemas.microsoft.com/office/drawing/2014/main" id="{A940DD8F-9322-8520-5564-6AD9BC33586A}"/>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6CE735F8-E392-5F21-A514-BEECF365B2A8}"/>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spTree>
    <p:extLst>
      <p:ext uri="{BB962C8B-B14F-4D97-AF65-F5344CB8AC3E}">
        <p14:creationId xmlns:p14="http://schemas.microsoft.com/office/powerpoint/2010/main" val="2754594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B8C14-17E0-6B2C-A8DF-530F110E2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CA519-93EF-25DC-4C1C-79843CF38B51}"/>
              </a:ext>
            </a:extLst>
          </p:cNvPr>
          <p:cNvSpPr>
            <a:spLocks noGrp="1"/>
          </p:cNvSpPr>
          <p:nvPr>
            <p:ph type="title"/>
          </p:nvPr>
        </p:nvSpPr>
        <p:spPr/>
        <p:txBody>
          <a:bodyPr>
            <a:normAutofit/>
          </a:bodyPr>
          <a:lstStyle/>
          <a:p>
            <a:r>
              <a:rPr lang="en-US" dirty="0"/>
              <a:t>What changed: The model proposes the work</a:t>
            </a:r>
          </a:p>
        </p:txBody>
      </p:sp>
      <p:pic>
        <p:nvPicPr>
          <p:cNvPr id="32" name="Picture 31">
            <a:extLst>
              <a:ext uri="{FF2B5EF4-FFF2-40B4-BE49-F238E27FC236}">
                <a16:creationId xmlns:a16="http://schemas.microsoft.com/office/drawing/2014/main" id="{0BF7673B-B286-4064-1EC4-219A1273BBE3}"/>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623D131E-D51D-321B-DC93-83BB3982EE8E}"/>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pic>
        <p:nvPicPr>
          <p:cNvPr id="4" name="Picture 3">
            <a:extLst>
              <a:ext uri="{FF2B5EF4-FFF2-40B4-BE49-F238E27FC236}">
                <a16:creationId xmlns:a16="http://schemas.microsoft.com/office/drawing/2014/main" id="{8E1B997A-7F82-6D8D-0C82-D499D862E944}"/>
              </a:ext>
            </a:extLst>
          </p:cNvPr>
          <p:cNvPicPr>
            <a:picLocks noGrp="1" noRot="1" noChangeAspect="1" noMove="1" noResize="1" noEditPoints="1" noAdjustHandles="1" noChangeArrowheads="1" noChangeShapeType="1" noCrop="1"/>
          </p:cNvPicPr>
          <p:nvPr/>
        </p:nvPicPr>
        <p:blipFill>
          <a:blip r:embed="rId3">
            <a:alphaModFix amt="94000"/>
          </a:blip>
          <a:stretch>
            <a:fillRect/>
          </a:stretch>
        </p:blipFill>
        <p:spPr>
          <a:xfrm>
            <a:off x="2487391" y="813980"/>
            <a:ext cx="4370609" cy="3612771"/>
          </a:xfrm>
          <a:prstGeom prst="rect">
            <a:avLst/>
          </a:prstGeom>
        </p:spPr>
      </p:pic>
      <p:pic>
        <p:nvPicPr>
          <p:cNvPr id="5" name="Picture 4">
            <a:extLst>
              <a:ext uri="{FF2B5EF4-FFF2-40B4-BE49-F238E27FC236}">
                <a16:creationId xmlns:a16="http://schemas.microsoft.com/office/drawing/2014/main" id="{47836E15-0BB0-3AE0-F7CD-40F505480ADA}"/>
              </a:ext>
            </a:extLst>
          </p:cNvPr>
          <p:cNvPicPr>
            <a:picLocks noGrp="1" noRot="1" noChangeAspect="1" noMove="1" noResize="1" noEditPoints="1" noAdjustHandles="1" noChangeArrowheads="1" noChangeShapeType="1" noCrop="1"/>
          </p:cNvPicPr>
          <p:nvPr/>
        </p:nvPicPr>
        <p:blipFill>
          <a:blip r:embed="rId3">
            <a:alphaModFix amt="94000"/>
          </a:blip>
          <a:stretch>
            <a:fillRect/>
          </a:stretch>
        </p:blipFill>
        <p:spPr>
          <a:xfrm>
            <a:off x="28275" y="4426751"/>
            <a:ext cx="6801452" cy="462152"/>
          </a:xfrm>
          <a:prstGeom prst="rect">
            <a:avLst/>
          </a:prstGeom>
        </p:spPr>
      </p:pic>
      <p:sp>
        <p:nvSpPr>
          <p:cNvPr id="8" name="TextBox 7">
            <a:extLst>
              <a:ext uri="{FF2B5EF4-FFF2-40B4-BE49-F238E27FC236}">
                <a16:creationId xmlns:a16="http://schemas.microsoft.com/office/drawing/2014/main" id="{B40E8576-EE40-23C2-D15E-90A456EA1AA4}"/>
              </a:ext>
            </a:extLst>
          </p:cNvPr>
          <p:cNvSpPr txBox="1"/>
          <p:nvPr/>
        </p:nvSpPr>
        <p:spPr>
          <a:xfrm>
            <a:off x="2546429" y="824343"/>
            <a:ext cx="4116729" cy="1754326"/>
          </a:xfrm>
          <a:prstGeom prst="rect">
            <a:avLst/>
          </a:prstGeom>
          <a:solidFill>
            <a:srgbClr val="EEF6FF"/>
          </a:solidFill>
          <a:effectLst>
            <a:softEdge rad="25400"/>
          </a:effectLst>
        </p:spPr>
        <p:txBody>
          <a:bodyPr wrap="square" rtlCol="0">
            <a:spAutoFit/>
          </a:bodyPr>
          <a:lstStyle/>
          <a:p>
            <a:r>
              <a:rPr lang="en-US" sz="1200" dirty="0">
                <a:solidFill>
                  <a:srgbClr val="2A2A63"/>
                </a:solidFill>
                <a:latin typeface="+mn-lt"/>
              </a:rPr>
              <a:t>The </a:t>
            </a:r>
            <a:r>
              <a:rPr lang="en-US" sz="1200" b="1" dirty="0">
                <a:solidFill>
                  <a:srgbClr val="2A2A63"/>
                </a:solidFill>
                <a:latin typeface="+mn-lt"/>
              </a:rPr>
              <a:t>LLM based controller interacts with the environment </a:t>
            </a:r>
            <a:r>
              <a:rPr lang="en-US" sz="1200" dirty="0">
                <a:solidFill>
                  <a:srgbClr val="2A2A63"/>
                </a:solidFill>
                <a:latin typeface="+mn-lt"/>
              </a:rPr>
              <a:t>through the body. In our implementation, </a:t>
            </a:r>
            <a:r>
              <a:rPr lang="en-US" sz="1200" b="1" dirty="0">
                <a:solidFill>
                  <a:srgbClr val="2A2A63"/>
                </a:solidFill>
                <a:latin typeface="+mn-lt"/>
              </a:rPr>
              <a:t>body means tools</a:t>
            </a:r>
            <a:r>
              <a:rPr lang="en-US" sz="1200" dirty="0">
                <a:solidFill>
                  <a:srgbClr val="2A2A63"/>
                </a:solidFill>
                <a:latin typeface="+mn-lt"/>
              </a:rPr>
              <a:t>. </a:t>
            </a:r>
          </a:p>
          <a:p>
            <a:endParaRPr lang="en-US" sz="1200" dirty="0">
              <a:solidFill>
                <a:srgbClr val="2A2A63"/>
              </a:solidFill>
              <a:latin typeface="+mn-lt"/>
            </a:endParaRPr>
          </a:p>
          <a:p>
            <a:pPr marL="228600" indent="-228600">
              <a:buFont typeface="+mj-lt"/>
              <a:buAutoNum type="arabicPeriod"/>
            </a:pPr>
            <a:r>
              <a:rPr lang="en-US" sz="1200" dirty="0">
                <a:solidFill>
                  <a:srgbClr val="2A2A63"/>
                </a:solidFill>
                <a:latin typeface="+mn-lt"/>
              </a:rPr>
              <a:t>Asking for a service restart =/= restarting it, and </a:t>
            </a:r>
          </a:p>
          <a:p>
            <a:pPr marL="228600" indent="-228600">
              <a:buFont typeface="+mj-lt"/>
              <a:buAutoNum type="arabicPeriod"/>
            </a:pPr>
            <a:r>
              <a:rPr lang="en-US" sz="1200" dirty="0">
                <a:solidFill>
                  <a:srgbClr val="2A2A63"/>
                </a:solidFill>
                <a:latin typeface="+mn-lt"/>
              </a:rPr>
              <a:t>Restarting it is =/= restoring service.</a:t>
            </a:r>
          </a:p>
          <a:p>
            <a:pPr marL="228600" indent="-228600">
              <a:buFont typeface="+mj-lt"/>
              <a:buAutoNum type="arabicPeriod"/>
            </a:pPr>
            <a:endParaRPr lang="en-US" sz="1200" dirty="0">
              <a:solidFill>
                <a:srgbClr val="2A2A63"/>
              </a:solidFill>
              <a:latin typeface="+mn-lt"/>
            </a:endParaRPr>
          </a:p>
          <a:p>
            <a:r>
              <a:rPr lang="en-US" sz="1200" b="1" dirty="0">
                <a:solidFill>
                  <a:srgbClr val="2A2A63"/>
                </a:solidFill>
                <a:latin typeface="+mn-lt"/>
              </a:rPr>
              <a:t>Observations must come back from the environment </a:t>
            </a:r>
            <a:r>
              <a:rPr lang="en-US" sz="1200" dirty="0">
                <a:solidFill>
                  <a:srgbClr val="2A2A63"/>
                </a:solidFill>
                <a:latin typeface="+mn-lt"/>
              </a:rPr>
              <a:t>before we can establish what happened.</a:t>
            </a:r>
          </a:p>
        </p:txBody>
      </p:sp>
      <p:sp>
        <p:nvSpPr>
          <p:cNvPr id="9" name="TextBox 8">
            <a:extLst>
              <a:ext uri="{FF2B5EF4-FFF2-40B4-BE49-F238E27FC236}">
                <a16:creationId xmlns:a16="http://schemas.microsoft.com/office/drawing/2014/main" id="{0896B642-17DC-B10B-3A3A-BD335BC12832}"/>
              </a:ext>
            </a:extLst>
          </p:cNvPr>
          <p:cNvSpPr txBox="1"/>
          <p:nvPr/>
        </p:nvSpPr>
        <p:spPr>
          <a:xfrm>
            <a:off x="2546430" y="2699442"/>
            <a:ext cx="4116728" cy="1015663"/>
          </a:xfrm>
          <a:prstGeom prst="rect">
            <a:avLst/>
          </a:prstGeom>
          <a:noFill/>
          <a:ln w="12700">
            <a:solidFill>
              <a:srgbClr val="2A2A63"/>
            </a:solidFill>
          </a:ln>
          <a:effectLst>
            <a:softEdge rad="0"/>
          </a:effectLst>
        </p:spPr>
        <p:txBody>
          <a:bodyPr wrap="square" rtlCol="0">
            <a:spAutoFit/>
          </a:bodyPr>
          <a:lstStyle/>
          <a:p>
            <a:r>
              <a:rPr lang="en-US" sz="1200" b="1" dirty="0">
                <a:solidFill>
                  <a:srgbClr val="2A2A63"/>
                </a:solidFill>
                <a:latin typeface="+mn-lt"/>
              </a:rPr>
              <a:t>Units 1 and 2 teaches you how to build this structure </a:t>
            </a:r>
          </a:p>
          <a:p>
            <a:r>
              <a:rPr lang="en-US" sz="1200" dirty="0">
                <a:solidFill>
                  <a:srgbClr val="2A2A63"/>
                </a:solidFill>
                <a:latin typeface="+mn-lt"/>
              </a:rPr>
              <a:t>An entry point, a controller, tools, and a feedback loop. Our </a:t>
            </a:r>
            <a:r>
              <a:rPr lang="en-US" sz="1200" b="1" dirty="0">
                <a:solidFill>
                  <a:srgbClr val="2A2A63"/>
                </a:solidFill>
                <a:latin typeface="+mn-lt"/>
              </a:rPr>
              <a:t>first assignment </a:t>
            </a:r>
            <a:r>
              <a:rPr lang="en-US" sz="1200" dirty="0">
                <a:solidFill>
                  <a:srgbClr val="2A2A63"/>
                </a:solidFill>
                <a:latin typeface="+mn-lt"/>
              </a:rPr>
              <a:t>deliverable is a working system that can </a:t>
            </a:r>
            <a:r>
              <a:rPr lang="en-US" sz="1200" b="1" dirty="0">
                <a:solidFill>
                  <a:srgbClr val="2A2A63"/>
                </a:solidFill>
                <a:latin typeface="+mn-lt"/>
              </a:rPr>
              <a:t>receive a task, attempt an action, observe the result, and decide whether to continue.</a:t>
            </a:r>
          </a:p>
        </p:txBody>
      </p:sp>
      <p:sp>
        <p:nvSpPr>
          <p:cNvPr id="10" name="Rectangle 9">
            <a:extLst>
              <a:ext uri="{FF2B5EF4-FFF2-40B4-BE49-F238E27FC236}">
                <a16:creationId xmlns:a16="http://schemas.microsoft.com/office/drawing/2014/main" id="{9A581175-C329-4FD7-52D7-A6924C189B5E}"/>
              </a:ext>
            </a:extLst>
          </p:cNvPr>
          <p:cNvSpPr/>
          <p:nvPr/>
        </p:nvSpPr>
        <p:spPr>
          <a:xfrm>
            <a:off x="2504947" y="2699441"/>
            <a:ext cx="72350" cy="1015663"/>
          </a:xfrm>
          <a:prstGeom prst="rect">
            <a:avLst/>
          </a:prstGeom>
          <a:solidFill>
            <a:srgbClr val="2A2A6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4890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A4901-0EB6-CF42-559A-BA47016F7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CC5ED-9EBE-D4DE-B3DE-2A65A6933DA8}"/>
              </a:ext>
            </a:extLst>
          </p:cNvPr>
          <p:cNvSpPr>
            <a:spLocks noGrp="1"/>
          </p:cNvSpPr>
          <p:nvPr>
            <p:ph type="title"/>
          </p:nvPr>
        </p:nvSpPr>
        <p:spPr/>
        <p:txBody>
          <a:bodyPr>
            <a:normAutofit/>
          </a:bodyPr>
          <a:lstStyle/>
          <a:p>
            <a:r>
              <a:rPr lang="en-US" dirty="0"/>
              <a:t>What changed: The model proposes the work</a:t>
            </a:r>
          </a:p>
        </p:txBody>
      </p:sp>
      <p:pic>
        <p:nvPicPr>
          <p:cNvPr id="32" name="Picture 31">
            <a:extLst>
              <a:ext uri="{FF2B5EF4-FFF2-40B4-BE49-F238E27FC236}">
                <a16:creationId xmlns:a16="http://schemas.microsoft.com/office/drawing/2014/main" id="{6A6A1472-FE4A-BEE6-2F99-4FEC8CA489E9}"/>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8E6D3A4E-004A-2CD3-55CA-63318990FBBB}"/>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pic>
        <p:nvPicPr>
          <p:cNvPr id="4" name="Picture 3">
            <a:extLst>
              <a:ext uri="{FF2B5EF4-FFF2-40B4-BE49-F238E27FC236}">
                <a16:creationId xmlns:a16="http://schemas.microsoft.com/office/drawing/2014/main" id="{1DE31320-04BD-5C42-FE8E-C7C21DB31566}"/>
              </a:ext>
            </a:extLst>
          </p:cNvPr>
          <p:cNvPicPr>
            <a:picLocks noChangeAspect="1"/>
          </p:cNvPicPr>
          <p:nvPr/>
        </p:nvPicPr>
        <p:blipFill>
          <a:blip r:embed="rId3">
            <a:alphaModFix amt="94000"/>
          </a:blip>
          <a:stretch>
            <a:fillRect/>
          </a:stretch>
        </p:blipFill>
        <p:spPr>
          <a:xfrm>
            <a:off x="13728" y="813981"/>
            <a:ext cx="2436247" cy="1895823"/>
          </a:xfrm>
          <a:prstGeom prst="rect">
            <a:avLst/>
          </a:prstGeom>
        </p:spPr>
      </p:pic>
      <p:pic>
        <p:nvPicPr>
          <p:cNvPr id="5" name="Picture 4">
            <a:extLst>
              <a:ext uri="{FF2B5EF4-FFF2-40B4-BE49-F238E27FC236}">
                <a16:creationId xmlns:a16="http://schemas.microsoft.com/office/drawing/2014/main" id="{75CFF41D-0742-C1E8-1096-7614A367A620}"/>
              </a:ext>
            </a:extLst>
          </p:cNvPr>
          <p:cNvPicPr>
            <a:picLocks noChangeAspect="1"/>
          </p:cNvPicPr>
          <p:nvPr/>
        </p:nvPicPr>
        <p:blipFill>
          <a:blip r:embed="rId3">
            <a:alphaModFix amt="94000"/>
          </a:blip>
          <a:stretch>
            <a:fillRect/>
          </a:stretch>
        </p:blipFill>
        <p:spPr>
          <a:xfrm>
            <a:off x="28275" y="2709804"/>
            <a:ext cx="6801452" cy="2179099"/>
          </a:xfrm>
          <a:prstGeom prst="rect">
            <a:avLst/>
          </a:prstGeom>
        </p:spPr>
      </p:pic>
      <p:pic>
        <p:nvPicPr>
          <p:cNvPr id="6" name="Picture 5">
            <a:extLst>
              <a:ext uri="{FF2B5EF4-FFF2-40B4-BE49-F238E27FC236}">
                <a16:creationId xmlns:a16="http://schemas.microsoft.com/office/drawing/2014/main" id="{0848781E-1FA8-D963-5EEC-E3F396A6B2EE}"/>
              </a:ext>
            </a:extLst>
          </p:cNvPr>
          <p:cNvPicPr>
            <a:picLocks noChangeAspect="1"/>
          </p:cNvPicPr>
          <p:nvPr/>
        </p:nvPicPr>
        <p:blipFill>
          <a:blip r:embed="rId3">
            <a:alphaModFix amt="94000"/>
          </a:blip>
          <a:stretch>
            <a:fillRect/>
          </a:stretch>
        </p:blipFill>
        <p:spPr>
          <a:xfrm>
            <a:off x="4683889" y="815821"/>
            <a:ext cx="2174111" cy="1883621"/>
          </a:xfrm>
          <a:prstGeom prst="rect">
            <a:avLst/>
          </a:prstGeom>
        </p:spPr>
      </p:pic>
      <p:sp>
        <p:nvSpPr>
          <p:cNvPr id="8" name="TextBox 7">
            <a:extLst>
              <a:ext uri="{FF2B5EF4-FFF2-40B4-BE49-F238E27FC236}">
                <a16:creationId xmlns:a16="http://schemas.microsoft.com/office/drawing/2014/main" id="{8B46CE90-2CF7-7755-ED75-D649B9F3C52D}"/>
              </a:ext>
            </a:extLst>
          </p:cNvPr>
          <p:cNvSpPr txBox="1"/>
          <p:nvPr/>
        </p:nvSpPr>
        <p:spPr>
          <a:xfrm>
            <a:off x="57020" y="824343"/>
            <a:ext cx="2349661" cy="1384995"/>
          </a:xfrm>
          <a:prstGeom prst="rect">
            <a:avLst/>
          </a:prstGeom>
          <a:solidFill>
            <a:srgbClr val="EBF8ED"/>
          </a:solidFill>
          <a:effectLst>
            <a:softEdge rad="25400"/>
          </a:effectLst>
        </p:spPr>
        <p:txBody>
          <a:bodyPr wrap="square" rtlCol="0">
            <a:spAutoFit/>
          </a:bodyPr>
          <a:lstStyle/>
          <a:p>
            <a:r>
              <a:rPr lang="en-US" sz="1200" dirty="0">
                <a:solidFill>
                  <a:srgbClr val="2A2A63"/>
                </a:solidFill>
                <a:latin typeface="+mn-lt"/>
              </a:rPr>
              <a:t>Each step takes </a:t>
            </a:r>
            <a:r>
              <a:rPr lang="en-US" sz="1200" b="1" dirty="0">
                <a:solidFill>
                  <a:srgbClr val="2A2A63"/>
                </a:solidFill>
                <a:latin typeface="+mn-lt"/>
              </a:rPr>
              <a:t>memory and an observation and produces a command and updated memory</a:t>
            </a:r>
            <a:r>
              <a:rPr lang="en-US" sz="1200" dirty="0">
                <a:solidFill>
                  <a:srgbClr val="2A2A63"/>
                </a:solidFill>
                <a:latin typeface="+mn-lt"/>
              </a:rPr>
              <a:t>. Memory includes </a:t>
            </a:r>
            <a:r>
              <a:rPr lang="en-US" sz="1200" b="1" dirty="0">
                <a:solidFill>
                  <a:srgbClr val="2A2A63"/>
                </a:solidFill>
                <a:latin typeface="+mn-lt"/>
              </a:rPr>
              <a:t>more than a transcript</a:t>
            </a:r>
            <a:r>
              <a:rPr lang="en-US" sz="1200" dirty="0">
                <a:solidFill>
                  <a:srgbClr val="2A2A63"/>
                </a:solidFill>
                <a:latin typeface="+mn-lt"/>
              </a:rPr>
              <a:t>: goals, evidence, previous attempts, and unresolved work. </a:t>
            </a:r>
          </a:p>
        </p:txBody>
      </p:sp>
      <p:sp>
        <p:nvSpPr>
          <p:cNvPr id="9" name="TextBox 8">
            <a:extLst>
              <a:ext uri="{FF2B5EF4-FFF2-40B4-BE49-F238E27FC236}">
                <a16:creationId xmlns:a16="http://schemas.microsoft.com/office/drawing/2014/main" id="{F0799248-7B7C-9496-7542-674AB6AD8420}"/>
              </a:ext>
            </a:extLst>
          </p:cNvPr>
          <p:cNvSpPr txBox="1"/>
          <p:nvPr/>
        </p:nvSpPr>
        <p:spPr>
          <a:xfrm>
            <a:off x="2550289" y="2827108"/>
            <a:ext cx="2059250" cy="1384995"/>
          </a:xfrm>
          <a:prstGeom prst="rect">
            <a:avLst/>
          </a:prstGeom>
          <a:noFill/>
          <a:ln w="12700">
            <a:solidFill>
              <a:srgbClr val="235751"/>
            </a:solidFill>
          </a:ln>
          <a:effectLst>
            <a:softEdge rad="0"/>
          </a:effectLst>
        </p:spPr>
        <p:txBody>
          <a:bodyPr wrap="square" rtlCol="0">
            <a:spAutoFit/>
          </a:bodyPr>
          <a:lstStyle/>
          <a:p>
            <a:r>
              <a:rPr lang="en-US" sz="1200" b="1" dirty="0">
                <a:solidFill>
                  <a:srgbClr val="235751"/>
                </a:solidFill>
                <a:latin typeface="+mn-lt"/>
              </a:rPr>
              <a:t>Unit 3 </a:t>
            </a:r>
            <a:r>
              <a:rPr lang="en-US" sz="1200" dirty="0">
                <a:solidFill>
                  <a:srgbClr val="235751"/>
                </a:solidFill>
                <a:latin typeface="+mn-lt"/>
              </a:rPr>
              <a:t>covers what state to retain, where to store it, and how to preserve it across steps, </a:t>
            </a:r>
            <a:r>
              <a:rPr lang="en-US" sz="1200" b="1" dirty="0">
                <a:solidFill>
                  <a:srgbClr val="235751"/>
                </a:solidFill>
                <a:latin typeface="+mn-lt"/>
              </a:rPr>
              <a:t>what to do when we run out of context space</a:t>
            </a:r>
            <a:r>
              <a:rPr lang="en-US" sz="1200" dirty="0">
                <a:solidFill>
                  <a:srgbClr val="235751"/>
                </a:solidFill>
                <a:latin typeface="+mn-lt"/>
              </a:rPr>
              <a:t> and process restarts.</a:t>
            </a:r>
          </a:p>
        </p:txBody>
      </p:sp>
      <p:sp>
        <p:nvSpPr>
          <p:cNvPr id="7" name="Rectangle 6">
            <a:extLst>
              <a:ext uri="{FF2B5EF4-FFF2-40B4-BE49-F238E27FC236}">
                <a16:creationId xmlns:a16="http://schemas.microsoft.com/office/drawing/2014/main" id="{08953816-6E96-34A2-C5C2-1426DACF6437}"/>
              </a:ext>
            </a:extLst>
          </p:cNvPr>
          <p:cNvSpPr/>
          <p:nvPr/>
        </p:nvSpPr>
        <p:spPr>
          <a:xfrm>
            <a:off x="2522015" y="2827108"/>
            <a:ext cx="70714" cy="1384995"/>
          </a:xfrm>
          <a:prstGeom prst="rect">
            <a:avLst/>
          </a:prstGeom>
          <a:solidFill>
            <a:srgbClr val="235751"/>
          </a:solidFill>
          <a:ln w="12700">
            <a:solidFill>
              <a:srgbClr val="2357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054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7EA4-6211-2169-0F35-571ADC56D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E8F5C-BB27-6896-E5BD-8BA7A18715B6}"/>
              </a:ext>
            </a:extLst>
          </p:cNvPr>
          <p:cNvSpPr>
            <a:spLocks noGrp="1"/>
          </p:cNvSpPr>
          <p:nvPr>
            <p:ph type="title"/>
          </p:nvPr>
        </p:nvSpPr>
        <p:spPr/>
        <p:txBody>
          <a:bodyPr>
            <a:normAutofit/>
          </a:bodyPr>
          <a:lstStyle/>
          <a:p>
            <a:r>
              <a:rPr lang="en-US" dirty="0"/>
              <a:t>What changed: The model proposes the work</a:t>
            </a:r>
          </a:p>
        </p:txBody>
      </p:sp>
      <p:pic>
        <p:nvPicPr>
          <p:cNvPr id="32" name="Picture 31">
            <a:extLst>
              <a:ext uri="{FF2B5EF4-FFF2-40B4-BE49-F238E27FC236}">
                <a16:creationId xmlns:a16="http://schemas.microsoft.com/office/drawing/2014/main" id="{484E879F-8783-A9B8-804E-779BFAECF2DA}"/>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535370F6-AC67-647F-7906-5A64379249B2}"/>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pic>
        <p:nvPicPr>
          <p:cNvPr id="4" name="Picture 3">
            <a:extLst>
              <a:ext uri="{FF2B5EF4-FFF2-40B4-BE49-F238E27FC236}">
                <a16:creationId xmlns:a16="http://schemas.microsoft.com/office/drawing/2014/main" id="{B8543679-3581-45CC-1E8E-D46EB669A3BE}"/>
              </a:ext>
            </a:extLst>
          </p:cNvPr>
          <p:cNvPicPr>
            <a:picLocks noChangeAspect="1"/>
          </p:cNvPicPr>
          <p:nvPr/>
        </p:nvPicPr>
        <p:blipFill>
          <a:blip r:embed="rId3">
            <a:alphaModFix amt="94000"/>
          </a:blip>
          <a:stretch>
            <a:fillRect/>
          </a:stretch>
        </p:blipFill>
        <p:spPr>
          <a:xfrm>
            <a:off x="13728" y="813981"/>
            <a:ext cx="2436247" cy="1895823"/>
          </a:xfrm>
          <a:prstGeom prst="rect">
            <a:avLst/>
          </a:prstGeom>
        </p:spPr>
      </p:pic>
      <p:pic>
        <p:nvPicPr>
          <p:cNvPr id="5" name="Picture 4">
            <a:extLst>
              <a:ext uri="{FF2B5EF4-FFF2-40B4-BE49-F238E27FC236}">
                <a16:creationId xmlns:a16="http://schemas.microsoft.com/office/drawing/2014/main" id="{CDE8A0D3-CB33-F80B-C465-7292EC533EAD}"/>
              </a:ext>
            </a:extLst>
          </p:cNvPr>
          <p:cNvPicPr>
            <a:picLocks noChangeAspect="1"/>
          </p:cNvPicPr>
          <p:nvPr/>
        </p:nvPicPr>
        <p:blipFill>
          <a:blip r:embed="rId3">
            <a:alphaModFix amt="94000"/>
          </a:blip>
          <a:stretch>
            <a:fillRect/>
          </a:stretch>
        </p:blipFill>
        <p:spPr>
          <a:xfrm>
            <a:off x="28275" y="2709804"/>
            <a:ext cx="6801452" cy="2179099"/>
          </a:xfrm>
          <a:prstGeom prst="rect">
            <a:avLst/>
          </a:prstGeom>
        </p:spPr>
      </p:pic>
      <p:pic>
        <p:nvPicPr>
          <p:cNvPr id="6" name="Picture 5">
            <a:extLst>
              <a:ext uri="{FF2B5EF4-FFF2-40B4-BE49-F238E27FC236}">
                <a16:creationId xmlns:a16="http://schemas.microsoft.com/office/drawing/2014/main" id="{473D88F5-9FAE-39B2-FCD3-C0AC086F1D02}"/>
              </a:ext>
            </a:extLst>
          </p:cNvPr>
          <p:cNvPicPr>
            <a:picLocks noChangeAspect="1"/>
          </p:cNvPicPr>
          <p:nvPr/>
        </p:nvPicPr>
        <p:blipFill>
          <a:blip r:embed="rId3">
            <a:alphaModFix amt="94000"/>
          </a:blip>
          <a:stretch>
            <a:fillRect/>
          </a:stretch>
        </p:blipFill>
        <p:spPr>
          <a:xfrm>
            <a:off x="2492858" y="815821"/>
            <a:ext cx="2174111" cy="1893983"/>
          </a:xfrm>
          <a:prstGeom prst="rect">
            <a:avLst/>
          </a:prstGeom>
        </p:spPr>
      </p:pic>
      <p:sp>
        <p:nvSpPr>
          <p:cNvPr id="8" name="TextBox 7">
            <a:extLst>
              <a:ext uri="{FF2B5EF4-FFF2-40B4-BE49-F238E27FC236}">
                <a16:creationId xmlns:a16="http://schemas.microsoft.com/office/drawing/2014/main" id="{621DEF73-F245-01B2-2D13-D0CCCBD4C583}"/>
              </a:ext>
            </a:extLst>
          </p:cNvPr>
          <p:cNvSpPr txBox="1"/>
          <p:nvPr/>
        </p:nvSpPr>
        <p:spPr>
          <a:xfrm>
            <a:off x="925976" y="955015"/>
            <a:ext cx="3482052" cy="1569660"/>
          </a:xfrm>
          <a:prstGeom prst="rect">
            <a:avLst/>
          </a:prstGeom>
          <a:solidFill>
            <a:srgbClr val="FEF8E1"/>
          </a:solidFill>
          <a:effectLst>
            <a:softEdge rad="25400"/>
          </a:effectLst>
        </p:spPr>
        <p:txBody>
          <a:bodyPr wrap="square" rtlCol="0">
            <a:spAutoFit/>
          </a:bodyPr>
          <a:lstStyle/>
          <a:p>
            <a:r>
              <a:rPr lang="en-US" sz="1200" dirty="0">
                <a:solidFill>
                  <a:srgbClr val="2A2A63"/>
                </a:solidFill>
                <a:latin typeface="+mn-lt"/>
              </a:rPr>
              <a:t>These are </a:t>
            </a:r>
            <a:r>
              <a:rPr lang="en-US" sz="1200" b="1" dirty="0">
                <a:solidFill>
                  <a:srgbClr val="2A2A63"/>
                </a:solidFill>
                <a:latin typeface="+mn-lt"/>
              </a:rPr>
              <a:t>successive steps </a:t>
            </a:r>
            <a:r>
              <a:rPr lang="en-US" sz="1200" dirty="0">
                <a:solidFill>
                  <a:srgbClr val="2A2A63"/>
                </a:solidFill>
                <a:latin typeface="+mn-lt"/>
              </a:rPr>
              <a:t>of the same controller. Memory connects them; observations and commands connect each step to the environment.</a:t>
            </a:r>
          </a:p>
          <a:p>
            <a:endParaRPr lang="en-US" sz="1200" dirty="0">
              <a:solidFill>
                <a:srgbClr val="2A2A63"/>
              </a:solidFill>
              <a:latin typeface="+mn-lt"/>
            </a:endParaRPr>
          </a:p>
          <a:p>
            <a:r>
              <a:rPr lang="en-US" sz="1200" dirty="0">
                <a:solidFill>
                  <a:srgbClr val="2A2A63"/>
                </a:solidFill>
                <a:latin typeface="+mn-lt"/>
              </a:rPr>
              <a:t>Suppose a tool creates a ticket, but the process crashes before recording its ID. Should recovery retry, look up the ticket, or pause?</a:t>
            </a:r>
          </a:p>
        </p:txBody>
      </p:sp>
      <p:sp>
        <p:nvSpPr>
          <p:cNvPr id="9" name="TextBox 8">
            <a:extLst>
              <a:ext uri="{FF2B5EF4-FFF2-40B4-BE49-F238E27FC236}">
                <a16:creationId xmlns:a16="http://schemas.microsoft.com/office/drawing/2014/main" id="{0E09CE1A-30C0-2525-B007-C2863B983E27}"/>
              </a:ext>
            </a:extLst>
          </p:cNvPr>
          <p:cNvSpPr txBox="1"/>
          <p:nvPr/>
        </p:nvSpPr>
        <p:spPr>
          <a:xfrm>
            <a:off x="925976" y="2663869"/>
            <a:ext cx="3482053" cy="830997"/>
          </a:xfrm>
          <a:prstGeom prst="rect">
            <a:avLst/>
          </a:prstGeom>
          <a:noFill/>
          <a:ln>
            <a:solidFill>
              <a:srgbClr val="2A2A63"/>
            </a:solidFill>
          </a:ln>
          <a:effectLst>
            <a:softEdge rad="0"/>
          </a:effectLst>
        </p:spPr>
        <p:txBody>
          <a:bodyPr wrap="square" rtlCol="0">
            <a:spAutoFit/>
          </a:bodyPr>
          <a:lstStyle/>
          <a:p>
            <a:r>
              <a:rPr lang="en-US" sz="1200" b="1" dirty="0">
                <a:solidFill>
                  <a:srgbClr val="2A2A63"/>
                </a:solidFill>
                <a:latin typeface="+mn-lt"/>
              </a:rPr>
              <a:t>Unit 4 addresses that gap</a:t>
            </a:r>
            <a:r>
              <a:rPr lang="en-US" sz="1200" dirty="0">
                <a:solidFill>
                  <a:srgbClr val="2A2A63"/>
                </a:solidFill>
                <a:latin typeface="+mn-lt"/>
              </a:rPr>
              <a:t>: deploying the loop as a service, recovering from partial failures, retrying safely, and using traces to understand what happened across steps.</a:t>
            </a:r>
          </a:p>
        </p:txBody>
      </p:sp>
      <p:sp>
        <p:nvSpPr>
          <p:cNvPr id="7" name="Rectangle 6">
            <a:extLst>
              <a:ext uri="{FF2B5EF4-FFF2-40B4-BE49-F238E27FC236}">
                <a16:creationId xmlns:a16="http://schemas.microsoft.com/office/drawing/2014/main" id="{6E15D152-DD61-18D6-5E10-EBA014BC128A}"/>
              </a:ext>
            </a:extLst>
          </p:cNvPr>
          <p:cNvSpPr/>
          <p:nvPr/>
        </p:nvSpPr>
        <p:spPr>
          <a:xfrm>
            <a:off x="884494" y="2663869"/>
            <a:ext cx="76206" cy="830997"/>
          </a:xfrm>
          <a:prstGeom prst="rect">
            <a:avLst/>
          </a:prstGeom>
          <a:solidFill>
            <a:srgbClr val="2A2A6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9324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FF3E1-47A6-2E8F-97F7-1A38CB6DA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EED6E-AFD6-8199-CDF1-E4EF01D4B6C2}"/>
              </a:ext>
            </a:extLst>
          </p:cNvPr>
          <p:cNvSpPr>
            <a:spLocks noGrp="1"/>
          </p:cNvSpPr>
          <p:nvPr>
            <p:ph type="title"/>
          </p:nvPr>
        </p:nvSpPr>
        <p:spPr/>
        <p:txBody>
          <a:bodyPr>
            <a:normAutofit/>
          </a:bodyPr>
          <a:lstStyle/>
          <a:p>
            <a:r>
              <a:rPr lang="en-US" dirty="0"/>
              <a:t>What didn’t change: New problems, old names</a:t>
            </a:r>
          </a:p>
        </p:txBody>
      </p:sp>
      <p:sp>
        <p:nvSpPr>
          <p:cNvPr id="26" name="TextBox 25">
            <a:extLst>
              <a:ext uri="{FF2B5EF4-FFF2-40B4-BE49-F238E27FC236}">
                <a16:creationId xmlns:a16="http://schemas.microsoft.com/office/drawing/2014/main" id="{22DF54D7-69E8-594A-70E3-DC9A770FD169}"/>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graphicFrame>
        <p:nvGraphicFramePr>
          <p:cNvPr id="3" name="Table 2">
            <a:extLst>
              <a:ext uri="{FF2B5EF4-FFF2-40B4-BE49-F238E27FC236}">
                <a16:creationId xmlns:a16="http://schemas.microsoft.com/office/drawing/2014/main" id="{D997CA7C-7300-4FF0-F5B0-19D645AAE4CA}"/>
              </a:ext>
            </a:extLst>
          </p:cNvPr>
          <p:cNvGraphicFramePr>
            <a:graphicFrameLocks noGrp="1"/>
          </p:cNvGraphicFramePr>
          <p:nvPr>
            <p:extLst>
              <p:ext uri="{D42A27DB-BD31-4B8C-83A1-F6EECF244321}">
                <p14:modId xmlns:p14="http://schemas.microsoft.com/office/powerpoint/2010/main" val="3570511060"/>
              </p:ext>
            </p:extLst>
          </p:nvPr>
        </p:nvGraphicFramePr>
        <p:xfrm>
          <a:off x="381785" y="769202"/>
          <a:ext cx="5698964" cy="2651760"/>
        </p:xfrm>
        <a:graphic>
          <a:graphicData uri="http://schemas.openxmlformats.org/drawingml/2006/table">
            <a:tbl>
              <a:tblPr>
                <a:tableStyleId>{2D5ABB26-0587-4C30-8999-92F81FD0307C}</a:tableStyleId>
              </a:tblPr>
              <a:tblGrid>
                <a:gridCol w="2849482">
                  <a:extLst>
                    <a:ext uri="{9D8B030D-6E8A-4147-A177-3AD203B41FA5}">
                      <a16:colId xmlns:a16="http://schemas.microsoft.com/office/drawing/2014/main" val="3030205424"/>
                    </a:ext>
                  </a:extLst>
                </a:gridCol>
                <a:gridCol w="2849482">
                  <a:extLst>
                    <a:ext uri="{9D8B030D-6E8A-4147-A177-3AD203B41FA5}">
                      <a16:colId xmlns:a16="http://schemas.microsoft.com/office/drawing/2014/main" val="4137069464"/>
                    </a:ext>
                  </a:extLst>
                </a:gridCol>
              </a:tblGrid>
              <a:tr h="255270">
                <a:tc>
                  <a:txBody>
                    <a:bodyPr/>
                    <a:lstStyle/>
                    <a:p>
                      <a:pPr algn="l">
                        <a:buNone/>
                      </a:pPr>
                      <a:r>
                        <a:rPr lang="en-US" sz="1000" b="1" dirty="0">
                          <a:effectLst/>
                        </a:rPr>
                        <a:t>What goes wrong in a run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The name it already has</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3623914"/>
                  </a:ext>
                </a:extLst>
              </a:tr>
              <a:tr h="415290">
                <a:tc>
                  <a:txBody>
                    <a:bodyPr/>
                    <a:lstStyle/>
                    <a:p>
                      <a:pPr algn="l">
                        <a:buNone/>
                      </a:pPr>
                      <a:r>
                        <a:rPr lang="en-US" sz="1050" b="0" i="0" u="none" strike="noStrike" cap="none" spc="0" dirty="0">
                          <a:solidFill>
                            <a:schemeClr val="tx1"/>
                          </a:solidFill>
                          <a:effectLst/>
                          <a:latin typeface="+mn-lt"/>
                          <a:ea typeface="+mn-ea"/>
                          <a:cs typeface="+mn-cs"/>
                          <a:sym typeface="Arial"/>
                        </a:rPr>
                        <a:t>An agent (sub-agent) with </a:t>
                      </a:r>
                      <a:r>
                        <a:rPr lang="en-US" sz="1050" b="1" i="0" u="none" strike="noStrike" cap="none" spc="0" dirty="0">
                          <a:solidFill>
                            <a:schemeClr val="tx1"/>
                          </a:solidFill>
                          <a:effectLst/>
                          <a:latin typeface="+mn-lt"/>
                          <a:ea typeface="+mn-ea"/>
                          <a:cs typeface="+mn-cs"/>
                          <a:sym typeface="Arial"/>
                        </a:rPr>
                        <a:t>no step cap holds its worker for as long as it likes</a:t>
                      </a:r>
                      <a:r>
                        <a:rPr lang="en-US" sz="1050" b="0" i="0" u="none" strike="noStrike" cap="none" spc="0" dirty="0">
                          <a:solidFill>
                            <a:schemeClr val="tx1"/>
                          </a:solidFill>
                          <a:effectLst/>
                          <a:latin typeface="+mn-lt"/>
                          <a:ea typeface="+mn-ea"/>
                          <a:cs typeface="+mn-cs"/>
                          <a:sym typeface="Arial"/>
                        </a:rPr>
                        <a:t>: the agents around it stall, no latency can be promised to a caller.</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Bounded execution — admission control, step and token budgets, stopping rules; Nygard's blocked threads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3026683"/>
                  </a:ext>
                </a:extLst>
              </a:tr>
              <a:tr h="415290">
                <a:tc>
                  <a:txBody>
                    <a:bodyPr/>
                    <a:lstStyle/>
                    <a:p>
                      <a:pPr algn="l">
                        <a:buNone/>
                      </a:pPr>
                      <a:r>
                        <a:rPr lang="en-US" sz="1000" dirty="0">
                          <a:effectLst/>
                        </a:rPr>
                        <a:t>A tool call that </a:t>
                      </a:r>
                      <a:r>
                        <a:rPr lang="en-US" sz="1000" b="1" dirty="0">
                          <a:effectLst/>
                        </a:rPr>
                        <a:t>half-succeeded, and a retry that repeats the effect</a:t>
                      </a:r>
                      <a:endParaRPr lang="en-US" sz="1000" b="1"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Partial failure; idempotence and transactions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631095"/>
                  </a:ext>
                </a:extLst>
              </a:tr>
              <a:tr h="415290">
                <a:tc>
                  <a:txBody>
                    <a:bodyPr/>
                    <a:lstStyle/>
                    <a:p>
                      <a:pPr algn="l">
                        <a:buNone/>
                      </a:pPr>
                      <a:r>
                        <a:rPr lang="en-US" sz="1000" dirty="0">
                          <a:effectLst/>
                        </a:rPr>
                        <a:t>The </a:t>
                      </a:r>
                      <a:r>
                        <a:rPr lang="en-US" sz="1000" b="1" dirty="0">
                          <a:effectLst/>
                        </a:rPr>
                        <a:t>process dies at step N</a:t>
                      </a:r>
                      <a:r>
                        <a:rPr lang="en-US" sz="1000" dirty="0">
                          <a:effectLst/>
                        </a:rPr>
                        <a:t>, and the accepted work dies with it</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Durable state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4980300"/>
                  </a:ext>
                </a:extLst>
              </a:tr>
              <a:tr h="415290">
                <a:tc>
                  <a:txBody>
                    <a:bodyPr/>
                    <a:lstStyle/>
                    <a:p>
                      <a:pPr algn="l">
                        <a:buNone/>
                      </a:pPr>
                      <a:r>
                        <a:rPr lang="en-US" sz="1000" dirty="0">
                          <a:effectLst/>
                        </a:rPr>
                        <a:t>A restart that </a:t>
                      </a:r>
                      <a:r>
                        <a:rPr lang="en-US" sz="1000" b="1" dirty="0">
                          <a:effectLst/>
                        </a:rPr>
                        <a:t>re-runs from zero instead of resuming</a:t>
                      </a:r>
                      <a:r>
                        <a:rPr lang="en-US" sz="1000" dirty="0">
                          <a:effectLst/>
                        </a:rPr>
                        <a:t> what was accepted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Recovery, checkpointing</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63757"/>
                  </a:ext>
                </a:extLst>
              </a:tr>
              <a:tr h="415290">
                <a:tc>
                  <a:txBody>
                    <a:bodyPr/>
                    <a:lstStyle/>
                    <a:p>
                      <a:pPr algn="l">
                        <a:buNone/>
                      </a:pPr>
                      <a:r>
                        <a:rPr lang="en-US" sz="1000" dirty="0">
                          <a:effectLst/>
                        </a:rPr>
                        <a:t>No way to say, from outside, </a:t>
                      </a:r>
                      <a:r>
                        <a:rPr lang="en-US" sz="1000" b="1" dirty="0">
                          <a:effectLst/>
                        </a:rPr>
                        <a:t>what the run is doing right now</a:t>
                      </a:r>
                      <a:endParaRPr lang="en-US" sz="1000" b="1"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rPr>
                        <a:t>Observability</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5340675"/>
                  </a:ext>
                </a:extLst>
              </a:tr>
            </a:tbl>
          </a:graphicData>
        </a:graphic>
      </p:graphicFrame>
      <p:grpSp>
        <p:nvGrpSpPr>
          <p:cNvPr id="6" name="Group 5">
            <a:extLst>
              <a:ext uri="{FF2B5EF4-FFF2-40B4-BE49-F238E27FC236}">
                <a16:creationId xmlns:a16="http://schemas.microsoft.com/office/drawing/2014/main" id="{CDC6D812-9C51-EE9D-D02C-0F0E6AA8B46C}"/>
              </a:ext>
            </a:extLst>
          </p:cNvPr>
          <p:cNvGrpSpPr/>
          <p:nvPr/>
        </p:nvGrpSpPr>
        <p:grpSpPr>
          <a:xfrm>
            <a:off x="345319" y="3676891"/>
            <a:ext cx="5771895" cy="738665"/>
            <a:chOff x="501570" y="3734764"/>
            <a:chExt cx="5771895" cy="738665"/>
          </a:xfrm>
        </p:grpSpPr>
        <p:sp>
          <p:nvSpPr>
            <p:cNvPr id="4" name="TextBox 3">
              <a:extLst>
                <a:ext uri="{FF2B5EF4-FFF2-40B4-BE49-F238E27FC236}">
                  <a16:creationId xmlns:a16="http://schemas.microsoft.com/office/drawing/2014/main" id="{FD48F44B-9900-B742-E3A6-C9E45EB3A266}"/>
                </a:ext>
              </a:extLst>
            </p:cNvPr>
            <p:cNvSpPr txBox="1"/>
            <p:nvPr/>
          </p:nvSpPr>
          <p:spPr>
            <a:xfrm>
              <a:off x="544011" y="3734765"/>
              <a:ext cx="5729454" cy="738664"/>
            </a:xfrm>
            <a:prstGeom prst="rect">
              <a:avLst/>
            </a:prstGeom>
            <a:noFill/>
            <a:ln w="12700">
              <a:solidFill>
                <a:srgbClr val="2A2A63"/>
              </a:solidFill>
            </a:ln>
          </p:spPr>
          <p:txBody>
            <a:bodyPr wrap="none" rtlCol="0">
              <a:spAutoFit/>
            </a:bodyPr>
            <a:lstStyle/>
            <a:p>
              <a:r>
                <a:rPr lang="en-US" dirty="0">
                  <a:solidFill>
                    <a:srgbClr val="2A2A63"/>
                  </a:solidFill>
                  <a:latin typeface="+mn-lt"/>
                </a:rPr>
                <a:t>What is new is exactly one thing: </a:t>
              </a:r>
              <a:r>
                <a:rPr lang="en-US" b="1" dirty="0">
                  <a:solidFill>
                    <a:srgbClr val="2A2A63"/>
                  </a:solidFill>
                  <a:latin typeface="+mn-lt"/>
                </a:rPr>
                <a:t>a probabilistic component that </a:t>
              </a:r>
            </a:p>
            <a:p>
              <a:r>
                <a:rPr lang="en-US" b="1" dirty="0">
                  <a:solidFill>
                    <a:srgbClr val="2A2A63"/>
                  </a:solidFill>
                  <a:latin typeface="+mn-lt"/>
                </a:rPr>
                <a:t>now proposes the work, probabilistically and we are responsible to </a:t>
              </a:r>
            </a:p>
            <a:p>
              <a:r>
                <a:rPr lang="en-US" b="1" dirty="0">
                  <a:solidFill>
                    <a:srgbClr val="2A2A63"/>
                  </a:solidFill>
                  <a:latin typeface="+mn-lt"/>
                </a:rPr>
                <a:t>hold it to a guarantee.</a:t>
              </a:r>
            </a:p>
          </p:txBody>
        </p:sp>
        <p:sp>
          <p:nvSpPr>
            <p:cNvPr id="5" name="Rectangle 4">
              <a:extLst>
                <a:ext uri="{FF2B5EF4-FFF2-40B4-BE49-F238E27FC236}">
                  <a16:creationId xmlns:a16="http://schemas.microsoft.com/office/drawing/2014/main" id="{A7BB7713-6370-DC6A-2411-D8CAF0129BF9}"/>
                </a:ext>
              </a:extLst>
            </p:cNvPr>
            <p:cNvSpPr/>
            <p:nvPr/>
          </p:nvSpPr>
          <p:spPr>
            <a:xfrm>
              <a:off x="501570" y="3734764"/>
              <a:ext cx="82965" cy="738663"/>
            </a:xfrm>
            <a:prstGeom prst="rect">
              <a:avLst/>
            </a:prstGeom>
            <a:solidFill>
              <a:srgbClr val="2A2A6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40376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371F4-E616-2F8D-8250-06F1062B5C3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B0A92C-6A57-520F-076C-92D5FB8BEF0C}"/>
              </a:ext>
            </a:extLst>
          </p:cNvPr>
          <p:cNvSpPr txBox="1"/>
          <p:nvPr/>
        </p:nvSpPr>
        <p:spPr>
          <a:xfrm>
            <a:off x="719302" y="1910030"/>
            <a:ext cx="5419396" cy="1323439"/>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Anatomy of a modern agentic system</a:t>
            </a:r>
          </a:p>
        </p:txBody>
      </p:sp>
    </p:spTree>
    <p:extLst>
      <p:ext uri="{BB962C8B-B14F-4D97-AF65-F5344CB8AC3E}">
        <p14:creationId xmlns:p14="http://schemas.microsoft.com/office/powerpoint/2010/main" val="3151466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B6DF-DADC-ABF8-8B99-B6554375D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59E26-246E-725C-BAFE-D9886134469B}"/>
              </a:ext>
            </a:extLst>
          </p:cNvPr>
          <p:cNvSpPr>
            <a:spLocks noGrp="1"/>
          </p:cNvSpPr>
          <p:nvPr>
            <p:ph type="title"/>
          </p:nvPr>
        </p:nvSpPr>
        <p:spPr/>
        <p:txBody>
          <a:bodyPr>
            <a:normAutofit/>
          </a:bodyPr>
          <a:lstStyle/>
          <a:p>
            <a:r>
              <a:rPr lang="en-US" dirty="0"/>
              <a:t>Agentic Systems: A Working Vocabulary</a:t>
            </a:r>
          </a:p>
        </p:txBody>
      </p:sp>
      <p:graphicFrame>
        <p:nvGraphicFramePr>
          <p:cNvPr id="4" name="Table 3">
            <a:extLst>
              <a:ext uri="{FF2B5EF4-FFF2-40B4-BE49-F238E27FC236}">
                <a16:creationId xmlns:a16="http://schemas.microsoft.com/office/drawing/2014/main" id="{C191FDFA-44F3-0161-4FAA-71C462831F06}"/>
              </a:ext>
            </a:extLst>
          </p:cNvPr>
          <p:cNvGraphicFramePr>
            <a:graphicFrameLocks noGrp="1"/>
          </p:cNvGraphicFramePr>
          <p:nvPr>
            <p:extLst>
              <p:ext uri="{D42A27DB-BD31-4B8C-83A1-F6EECF244321}">
                <p14:modId xmlns:p14="http://schemas.microsoft.com/office/powerpoint/2010/main" val="2153241961"/>
              </p:ext>
            </p:extLst>
          </p:nvPr>
        </p:nvGraphicFramePr>
        <p:xfrm>
          <a:off x="632189" y="2228547"/>
          <a:ext cx="5578997" cy="2453640"/>
        </p:xfrm>
        <a:graphic>
          <a:graphicData uri="http://schemas.openxmlformats.org/drawingml/2006/table">
            <a:tbl>
              <a:tblPr>
                <a:tableStyleId>{2D5ABB26-0587-4C30-8999-92F81FD0307C}</a:tableStyleId>
              </a:tblPr>
              <a:tblGrid>
                <a:gridCol w="1487574">
                  <a:extLst>
                    <a:ext uri="{9D8B030D-6E8A-4147-A177-3AD203B41FA5}">
                      <a16:colId xmlns:a16="http://schemas.microsoft.com/office/drawing/2014/main" val="826204326"/>
                    </a:ext>
                  </a:extLst>
                </a:gridCol>
                <a:gridCol w="2520781">
                  <a:extLst>
                    <a:ext uri="{9D8B030D-6E8A-4147-A177-3AD203B41FA5}">
                      <a16:colId xmlns:a16="http://schemas.microsoft.com/office/drawing/2014/main" val="2935441205"/>
                    </a:ext>
                  </a:extLst>
                </a:gridCol>
                <a:gridCol w="1570642">
                  <a:extLst>
                    <a:ext uri="{9D8B030D-6E8A-4147-A177-3AD203B41FA5}">
                      <a16:colId xmlns:a16="http://schemas.microsoft.com/office/drawing/2014/main" val="2971950990"/>
                    </a:ext>
                  </a:extLst>
                </a:gridCol>
              </a:tblGrid>
              <a:tr h="0">
                <a:tc>
                  <a:txBody>
                    <a:bodyPr/>
                    <a:lstStyle/>
                    <a:p>
                      <a:pPr algn="l">
                        <a:buNone/>
                      </a:pPr>
                      <a:r>
                        <a:rPr lang="en-US" sz="1000" b="1" dirty="0">
                          <a:effectLst/>
                        </a:rPr>
                        <a:t>Term</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Precisely</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Actor that can fail</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0">
                <a:tc>
                  <a:txBody>
                    <a:bodyPr/>
                    <a:lstStyle/>
                    <a:p>
                      <a:pPr algn="l">
                        <a:buNone/>
                      </a:pPr>
                      <a:r>
                        <a:rPr lang="en-US" sz="1000" dirty="0">
                          <a:effectLst/>
                        </a:rPr>
                        <a:t>Model call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A </a:t>
                      </a:r>
                      <a:r>
                        <a:rPr lang="en-US" sz="1050" b="1" i="0" u="none" strike="noStrike" cap="none" spc="0" dirty="0">
                          <a:solidFill>
                            <a:srgbClr val="2A2A63"/>
                          </a:solidFill>
                          <a:effectLst/>
                          <a:latin typeface="+mn-lt"/>
                          <a:ea typeface="+mn-ea"/>
                          <a:cs typeface="+mn-cs"/>
                          <a:sym typeface="Arial"/>
                        </a:rPr>
                        <a:t>single request and its response</a:t>
                      </a:r>
                      <a:r>
                        <a:rPr lang="en-US" sz="1050" b="0" i="0" u="none" strike="noStrike" cap="none" spc="0" dirty="0">
                          <a:solidFill>
                            <a:srgbClr val="2A2A63"/>
                          </a:solidFill>
                          <a:effectLst/>
                          <a:latin typeface="+mn-lt"/>
                          <a:ea typeface="+mn-ea"/>
                          <a:cs typeface="+mn-cs"/>
                          <a:sym typeface="Arial"/>
                        </a:rPr>
                        <a:t>. </a:t>
                      </a:r>
                      <a:r>
                        <a:rPr lang="en-US" sz="1050" b="0" i="0" u="none" strike="noStrike" cap="none" spc="0" dirty="0">
                          <a:solidFill>
                            <a:schemeClr val="tx1"/>
                          </a:solidFill>
                          <a:effectLst/>
                          <a:latin typeface="+mn-lt"/>
                          <a:ea typeface="+mn-ea"/>
                          <a:cs typeface="+mn-cs"/>
                          <a:sym typeface="Arial"/>
                        </a:rPr>
                        <a:t>Non-deterministic by construction; determinism is conditional on the sampling parameters and the seed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model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0">
                <a:tc>
                  <a:txBody>
                    <a:bodyPr/>
                    <a:lstStyle/>
                    <a:p>
                      <a:pPr algn="l">
                        <a:buNone/>
                      </a:pPr>
                      <a:r>
                        <a:rPr lang="en-US" sz="1000" dirty="0">
                          <a:effectLst/>
                        </a:rPr>
                        <a:t>Fixed workflow</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A </a:t>
                      </a:r>
                      <a:r>
                        <a:rPr lang="en-US" sz="1050" b="1" i="0" u="none" strike="noStrike" cap="none" spc="0" dirty="0">
                          <a:solidFill>
                            <a:srgbClr val="2A2A63"/>
                          </a:solidFill>
                          <a:effectLst/>
                          <a:latin typeface="+mn-lt"/>
                          <a:ea typeface="+mn-ea"/>
                          <a:cs typeface="+mn-cs"/>
                          <a:sym typeface="Arial"/>
                        </a:rPr>
                        <a:t>predetermined sequence of operations, one or more of which are model calls</a:t>
                      </a:r>
                      <a:r>
                        <a:rPr lang="en-US" sz="1050" b="0" i="0" u="none" strike="noStrike" cap="none" spc="0" dirty="0">
                          <a:solidFill>
                            <a:srgbClr val="2A2A63"/>
                          </a:solidFill>
                          <a:effectLst/>
                          <a:latin typeface="+mn-lt"/>
                          <a:ea typeface="+mn-ea"/>
                          <a:cs typeface="+mn-cs"/>
                          <a:sym typeface="Arial"/>
                        </a:rPr>
                        <a:t>.</a:t>
                      </a:r>
                      <a:r>
                        <a:rPr lang="en-US" sz="1050" b="0" i="0" u="none" strike="noStrike" cap="none" spc="0" dirty="0">
                          <a:solidFill>
                            <a:schemeClr val="tx1"/>
                          </a:solidFill>
                          <a:effectLst/>
                          <a:latin typeface="+mn-lt"/>
                          <a:ea typeface="+mn-ea"/>
                          <a:cs typeface="+mn-cs"/>
                          <a:sym typeface="Arial"/>
                        </a:rPr>
                        <a:t> Control flow is specified in source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Each step's contract, and the sequence's assumptions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0">
                <a:tc>
                  <a:txBody>
                    <a:bodyPr/>
                    <a:lstStyle/>
                    <a:p>
                      <a:pPr algn="l">
                        <a:buNone/>
                      </a:pPr>
                      <a:r>
                        <a:rPr lang="en-US" sz="1000" dirty="0">
                          <a:effectLst/>
                        </a:rPr>
                        <a:t>Autonomous agent</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model selects the next operation. </a:t>
                      </a:r>
                      <a:r>
                        <a:rPr lang="en-US" sz="1050" b="1" i="0" u="none" strike="noStrike" cap="none" spc="0" dirty="0">
                          <a:solidFill>
                            <a:srgbClr val="2A2A63"/>
                          </a:solidFill>
                          <a:effectLst/>
                          <a:latin typeface="+mn-lt"/>
                          <a:ea typeface="+mn-ea"/>
                          <a:cs typeface="+mn-cs"/>
                          <a:sym typeface="Arial"/>
                        </a:rPr>
                        <a:t>Control flow is therefore determined at run time, by a non-deterministic component</a:t>
                      </a:r>
                      <a:endParaRPr lang="en-US" sz="1000" b="0" i="0" dirty="0">
                        <a:solidFill>
                          <a:srgbClr val="2A2A63"/>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Termination, and the validity of the chosen operation</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bl>
          </a:graphicData>
        </a:graphic>
      </p:graphicFrame>
      <p:pic>
        <p:nvPicPr>
          <p:cNvPr id="3" name="Picture 2">
            <a:extLst>
              <a:ext uri="{FF2B5EF4-FFF2-40B4-BE49-F238E27FC236}">
                <a16:creationId xmlns:a16="http://schemas.microsoft.com/office/drawing/2014/main" id="{66F8760A-8217-C015-C4EF-E5846DB4E770}"/>
              </a:ext>
            </a:extLst>
          </p:cNvPr>
          <p:cNvPicPr>
            <a:picLocks noChangeAspect="1"/>
          </p:cNvPicPr>
          <p:nvPr/>
        </p:nvPicPr>
        <p:blipFill>
          <a:blip r:embed="rId2"/>
          <a:srcRect l="2431" t="14438" r="2549" b="14278"/>
          <a:stretch>
            <a:fillRect/>
          </a:stretch>
        </p:blipFill>
        <p:spPr>
          <a:xfrm>
            <a:off x="1108276" y="630050"/>
            <a:ext cx="4641448" cy="1462698"/>
          </a:xfrm>
          <a:prstGeom prst="rect">
            <a:avLst/>
          </a:prstGeom>
        </p:spPr>
      </p:pic>
    </p:spTree>
    <p:extLst>
      <p:ext uri="{BB962C8B-B14F-4D97-AF65-F5344CB8AC3E}">
        <p14:creationId xmlns:p14="http://schemas.microsoft.com/office/powerpoint/2010/main" val="3961292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4F5C6-97AA-8F2B-A92E-E9D2EF301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88FD4-DE19-DC9D-B5B6-131347157D64}"/>
              </a:ext>
            </a:extLst>
          </p:cNvPr>
          <p:cNvSpPr>
            <a:spLocks noGrp="1"/>
          </p:cNvSpPr>
          <p:nvPr>
            <p:ph type="title"/>
          </p:nvPr>
        </p:nvSpPr>
        <p:spPr/>
        <p:txBody>
          <a:bodyPr>
            <a:normAutofit/>
          </a:bodyPr>
          <a:lstStyle/>
          <a:p>
            <a:r>
              <a:rPr lang="en-US" dirty="0"/>
              <a:t>Components of a Model Invocation</a:t>
            </a:r>
          </a:p>
        </p:txBody>
      </p:sp>
      <p:graphicFrame>
        <p:nvGraphicFramePr>
          <p:cNvPr id="4" name="Table 3">
            <a:extLst>
              <a:ext uri="{FF2B5EF4-FFF2-40B4-BE49-F238E27FC236}">
                <a16:creationId xmlns:a16="http://schemas.microsoft.com/office/drawing/2014/main" id="{B0FC50D4-03BB-BD06-2EC4-0EBFAB411E6D}"/>
              </a:ext>
            </a:extLst>
          </p:cNvPr>
          <p:cNvGraphicFramePr>
            <a:graphicFrameLocks noGrp="1"/>
          </p:cNvGraphicFramePr>
          <p:nvPr>
            <p:extLst>
              <p:ext uri="{D42A27DB-BD31-4B8C-83A1-F6EECF244321}">
                <p14:modId xmlns:p14="http://schemas.microsoft.com/office/powerpoint/2010/main" val="1369928279"/>
              </p:ext>
            </p:extLst>
          </p:nvPr>
        </p:nvGraphicFramePr>
        <p:xfrm>
          <a:off x="115747" y="1402270"/>
          <a:ext cx="6342925" cy="3379654"/>
        </p:xfrm>
        <a:graphic>
          <a:graphicData uri="http://schemas.openxmlformats.org/drawingml/2006/table">
            <a:tbl>
              <a:tblPr>
                <a:tableStyleId>{2D5ABB26-0587-4C30-8999-92F81FD0307C}</a:tableStyleId>
              </a:tblPr>
              <a:tblGrid>
                <a:gridCol w="2353976">
                  <a:extLst>
                    <a:ext uri="{9D8B030D-6E8A-4147-A177-3AD203B41FA5}">
                      <a16:colId xmlns:a16="http://schemas.microsoft.com/office/drawing/2014/main" val="826204326"/>
                    </a:ext>
                  </a:extLst>
                </a:gridCol>
                <a:gridCol w="3988949">
                  <a:extLst>
                    <a:ext uri="{9D8B030D-6E8A-4147-A177-3AD203B41FA5}">
                      <a16:colId xmlns:a16="http://schemas.microsoft.com/office/drawing/2014/main" val="2935441205"/>
                    </a:ext>
                  </a:extLst>
                </a:gridCol>
              </a:tblGrid>
              <a:tr h="316414">
                <a:tc>
                  <a:txBody>
                    <a:bodyPr/>
                    <a:lstStyle/>
                    <a:p>
                      <a:pPr algn="l">
                        <a:buNone/>
                      </a:pPr>
                      <a:r>
                        <a:rPr lang="en-US" sz="1100" b="1" dirty="0">
                          <a:effectLst/>
                        </a:rPr>
                        <a:t>Component</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What it is…</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100" b="1" i="0" u="none" strike="noStrike" cap="none" spc="0" dirty="0">
                          <a:solidFill>
                            <a:schemeClr val="tx1"/>
                          </a:solidFill>
                          <a:effectLst/>
                          <a:latin typeface="+mn-lt"/>
                          <a:ea typeface="+mn-ea"/>
                          <a:cs typeface="+mn-cs"/>
                          <a:sym typeface="Arial"/>
                        </a:rPr>
                        <a:t>Context construction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accent2"/>
                          </a:solidFill>
                          <a:effectLst/>
                          <a:latin typeface="+mn-lt"/>
                          <a:ea typeface="+mn-ea"/>
                          <a:cs typeface="+mn-cs"/>
                          <a:sym typeface="Arial"/>
                        </a:rPr>
                        <a:t>Instructions, conversation history, and retrieved material constitute the input context. Its </a:t>
                      </a:r>
                      <a:r>
                        <a:rPr lang="en-US" sz="1100" b="1" i="0" u="none" strike="noStrike" cap="none" spc="0" dirty="0">
                          <a:solidFill>
                            <a:srgbClr val="2A2A63"/>
                          </a:solidFill>
                          <a:effectLst/>
                          <a:latin typeface="+mn-lt"/>
                          <a:ea typeface="+mn-ea"/>
                          <a:cs typeface="+mn-cs"/>
                          <a:sym typeface="Arial"/>
                        </a:rPr>
                        <a:t>composition determines which task-specific information is explicitly available to the model</a:t>
                      </a:r>
                      <a:r>
                        <a:rPr lang="en-US" sz="1100" b="0" i="0" u="none" strike="noStrike" cap="none" spc="0" dirty="0">
                          <a:solidFill>
                            <a:schemeClr val="accent2"/>
                          </a:solidFill>
                          <a:effectLst/>
                          <a:latin typeface="+mn-lt"/>
                          <a:ea typeface="+mn-ea"/>
                          <a:cs typeface="+mn-cs"/>
                          <a:sym typeface="Arial"/>
                        </a:rPr>
                        <a:t>.</a:t>
                      </a:r>
                      <a:endParaRPr lang="en-US" sz="1100" b="0" i="0" dirty="0">
                        <a:solidFill>
                          <a:schemeClr val="accent2"/>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100" b="1" dirty="0">
                          <a:effectLst/>
                        </a:rPr>
                        <a:t>Tool Specification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accent2"/>
                          </a:solidFill>
                          <a:effectLst/>
                          <a:latin typeface="+mn-lt"/>
                          <a:ea typeface="+mn-ea"/>
                          <a:cs typeface="+mn-cs"/>
                          <a:sym typeface="Arial"/>
                        </a:rPr>
                        <a:t>Tool schemas describe the </a:t>
                      </a:r>
                      <a:r>
                        <a:rPr lang="en-US" sz="1100" b="1" i="0" u="none" strike="noStrike" cap="none" spc="0" dirty="0">
                          <a:solidFill>
                            <a:srgbClr val="2A2A63"/>
                          </a:solidFill>
                          <a:effectLst/>
                          <a:latin typeface="+mn-lt"/>
                          <a:ea typeface="+mn-ea"/>
                          <a:cs typeface="+mn-cs"/>
                          <a:sym typeface="Arial"/>
                        </a:rPr>
                        <a:t>operations the model may request and the expected structure of their arguments</a:t>
                      </a:r>
                      <a:r>
                        <a:rPr lang="en-US" sz="1100" b="0" i="0" u="none" strike="noStrike" cap="none" spc="0" dirty="0">
                          <a:solidFill>
                            <a:schemeClr val="accent2"/>
                          </a:solidFill>
                          <a:effectLst/>
                          <a:latin typeface="+mn-lt"/>
                          <a:ea typeface="+mn-ea"/>
                          <a:cs typeface="+mn-cs"/>
                          <a:sym typeface="Arial"/>
                        </a:rPr>
                        <a:t>. A generated tool request is a </a:t>
                      </a:r>
                      <a:r>
                        <a:rPr lang="en-US" sz="1100" b="1" i="0" u="none" strike="noStrike" cap="none" spc="0" dirty="0">
                          <a:solidFill>
                            <a:srgbClr val="2A2A63"/>
                          </a:solidFill>
                          <a:effectLst/>
                          <a:latin typeface="+mn-lt"/>
                          <a:ea typeface="+mn-ea"/>
                          <a:cs typeface="+mn-cs"/>
                          <a:sym typeface="Arial"/>
                        </a:rPr>
                        <a:t>proposed operation, not authorization to execute it</a:t>
                      </a:r>
                      <a:r>
                        <a:rPr lang="en-US" sz="1100" b="0" i="0" u="none" strike="noStrike" cap="none" spc="0" dirty="0">
                          <a:solidFill>
                            <a:srgbClr val="2A2A63"/>
                          </a:solidFill>
                          <a:effectLst/>
                          <a:latin typeface="+mn-lt"/>
                          <a:ea typeface="+mn-ea"/>
                          <a:cs typeface="+mn-cs"/>
                          <a:sym typeface="Arial"/>
                        </a:rPr>
                        <a:t>.</a:t>
                      </a:r>
                      <a:endParaRPr lang="en-US" sz="1100" b="0" i="0" dirty="0">
                        <a:solidFill>
                          <a:srgbClr val="2A2A63"/>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100" b="1" i="0" u="none" strike="noStrike" cap="none" spc="0" dirty="0">
                          <a:solidFill>
                            <a:schemeClr val="tx1"/>
                          </a:solidFill>
                          <a:effectLst/>
                          <a:latin typeface="+mn-lt"/>
                          <a:ea typeface="+mn-ea"/>
                          <a:cs typeface="+mn-cs"/>
                          <a:sym typeface="Arial"/>
                        </a:rPr>
                        <a:t>Response generation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accent2"/>
                          </a:solidFill>
                          <a:effectLst/>
                          <a:latin typeface="+mn-lt"/>
                          <a:ea typeface="+mn-ea"/>
                          <a:cs typeface="+mn-cs"/>
                          <a:sym typeface="Arial"/>
                        </a:rPr>
                        <a:t>The model produces a response under the configured decoding procedure. </a:t>
                      </a:r>
                      <a:r>
                        <a:rPr lang="en-US" sz="1100" b="1" i="0" u="none" strike="noStrike" cap="none" spc="0" dirty="0">
                          <a:solidFill>
                            <a:srgbClr val="2A2A63"/>
                          </a:solidFill>
                          <a:effectLst/>
                          <a:latin typeface="+mn-lt"/>
                          <a:ea typeface="+mn-ea"/>
                          <a:cs typeface="+mn-cs"/>
                          <a:sym typeface="Arial"/>
                        </a:rPr>
                        <a:t>Repeated invocations may yield different outputs</a:t>
                      </a:r>
                      <a:r>
                        <a:rPr lang="en-US" sz="1100" b="0" i="0" u="none" strike="noStrike" cap="none" spc="0" dirty="0">
                          <a:solidFill>
                            <a:srgbClr val="2A2A63"/>
                          </a:solidFill>
                          <a:effectLst/>
                          <a:latin typeface="+mn-lt"/>
                          <a:ea typeface="+mn-ea"/>
                          <a:cs typeface="+mn-cs"/>
                          <a:sym typeface="Arial"/>
                        </a:rPr>
                        <a:t>;</a:t>
                      </a:r>
                      <a:r>
                        <a:rPr lang="en-US" sz="1100" b="0" i="0" u="none" strike="noStrike" cap="none" spc="0" dirty="0">
                          <a:solidFill>
                            <a:schemeClr val="accent2"/>
                          </a:solidFill>
                          <a:effectLst/>
                          <a:latin typeface="+mn-lt"/>
                          <a:ea typeface="+mn-ea"/>
                          <a:cs typeface="+mn-cs"/>
                          <a:sym typeface="Arial"/>
                        </a:rPr>
                        <a:t> downstream components must accommodate this variability.</a:t>
                      </a:r>
                      <a:endParaRPr lang="en-US" sz="1100" b="0" i="0" dirty="0">
                        <a:solidFill>
                          <a:schemeClr val="accent2"/>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100" b="1" i="0" u="none" strike="noStrike" cap="none" spc="0" dirty="0">
                          <a:solidFill>
                            <a:schemeClr val="tx1"/>
                          </a:solidFill>
                          <a:effectLst/>
                          <a:latin typeface="+mn-lt"/>
                          <a:ea typeface="+mn-ea"/>
                          <a:cs typeface="+mn-cs"/>
                          <a:sym typeface="Arial"/>
                        </a:rPr>
                        <a:t>Output interpretation and validation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accent2"/>
                          </a:solidFill>
                          <a:effectLst/>
                          <a:latin typeface="+mn-lt"/>
                          <a:ea typeface="+mn-ea"/>
                          <a:cs typeface="+mn-cs"/>
                          <a:sym typeface="Arial"/>
                        </a:rPr>
                        <a:t>Model outputs are converted into application data or proposed operations. </a:t>
                      </a:r>
                      <a:r>
                        <a:rPr lang="en-US" sz="1100" b="1" i="0" u="none" strike="noStrike" cap="none" spc="0" dirty="0">
                          <a:solidFill>
                            <a:srgbClr val="2A2A63"/>
                          </a:solidFill>
                          <a:effectLst/>
                          <a:latin typeface="+mn-lt"/>
                          <a:ea typeface="+mn-ea"/>
                          <a:cs typeface="+mn-cs"/>
                          <a:sym typeface="Arial"/>
                        </a:rPr>
                        <a:t>Structural and semantic validation must occur before those outputs are permitted to modify application state</a:t>
                      </a:r>
                      <a:r>
                        <a:rPr lang="en-US" sz="1100" b="0" i="0" u="none" strike="noStrike" cap="none" spc="0" dirty="0">
                          <a:solidFill>
                            <a:schemeClr val="accent2"/>
                          </a:solidFill>
                          <a:effectLst/>
                          <a:latin typeface="+mn-lt"/>
                          <a:ea typeface="+mn-ea"/>
                          <a:cs typeface="+mn-cs"/>
                          <a:sym typeface="Arial"/>
                        </a:rPr>
                        <a:t> or trigger external effects.</a:t>
                      </a:r>
                      <a:endParaRPr lang="en-US" sz="1200" b="0" i="0" dirty="0">
                        <a:solidFill>
                          <a:schemeClr val="accent2"/>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bl>
          </a:graphicData>
        </a:graphic>
      </p:graphicFrame>
      <p:sp>
        <p:nvSpPr>
          <p:cNvPr id="5" name="TextBox 4">
            <a:extLst>
              <a:ext uri="{FF2B5EF4-FFF2-40B4-BE49-F238E27FC236}">
                <a16:creationId xmlns:a16="http://schemas.microsoft.com/office/drawing/2014/main" id="{41227273-56D9-E190-891F-0426F657AB4E}"/>
              </a:ext>
            </a:extLst>
          </p:cNvPr>
          <p:cNvSpPr txBox="1"/>
          <p:nvPr/>
        </p:nvSpPr>
        <p:spPr>
          <a:xfrm>
            <a:off x="13951" y="630050"/>
            <a:ext cx="6815474" cy="738664"/>
          </a:xfrm>
          <a:prstGeom prst="rect">
            <a:avLst/>
          </a:prstGeom>
          <a:noFill/>
        </p:spPr>
        <p:txBody>
          <a:bodyPr wrap="square" rtlCol="0">
            <a:spAutoFit/>
          </a:bodyPr>
          <a:lstStyle/>
          <a:p>
            <a:pPr algn="l"/>
            <a:r>
              <a:rPr lang="en-US" dirty="0">
                <a:latin typeface="+mn-lt"/>
              </a:rPr>
              <a:t>In all three previous modalities, the </a:t>
            </a:r>
            <a:r>
              <a:rPr lang="en-US" b="1" dirty="0">
                <a:solidFill>
                  <a:srgbClr val="2A2A63"/>
                </a:solidFill>
                <a:latin typeface="+mn-lt"/>
              </a:rPr>
              <a:t>model is a central part of the of the agentic pipeline</a:t>
            </a:r>
            <a:r>
              <a:rPr lang="en-US" dirty="0">
                <a:latin typeface="+mn-lt"/>
              </a:rPr>
              <a:t>. Below are its core components. </a:t>
            </a:r>
            <a:r>
              <a:rPr lang="en-US" b="1" dirty="0">
                <a:solidFill>
                  <a:srgbClr val="2A2A63"/>
                </a:solidFill>
                <a:latin typeface="+mn-lt"/>
              </a:rPr>
              <a:t>Getting any of these wrong can lead to cascading failures downstream.</a:t>
            </a:r>
          </a:p>
        </p:txBody>
      </p:sp>
    </p:spTree>
    <p:extLst>
      <p:ext uri="{BB962C8B-B14F-4D97-AF65-F5344CB8AC3E}">
        <p14:creationId xmlns:p14="http://schemas.microsoft.com/office/powerpoint/2010/main" val="2764913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7F54-5DA2-29A0-7117-42305DC36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6336E-9C76-6E80-AA2F-CF3C44ADCEA5}"/>
              </a:ext>
            </a:extLst>
          </p:cNvPr>
          <p:cNvSpPr>
            <a:spLocks noGrp="1"/>
          </p:cNvSpPr>
          <p:nvPr>
            <p:ph type="title"/>
          </p:nvPr>
        </p:nvSpPr>
        <p:spPr/>
        <p:txBody>
          <a:bodyPr>
            <a:normAutofit/>
          </a:bodyPr>
          <a:lstStyle/>
          <a:p>
            <a:r>
              <a:rPr lang="en-US" dirty="0"/>
              <a:t>Systems Challenges of the Model</a:t>
            </a:r>
          </a:p>
        </p:txBody>
      </p:sp>
      <p:graphicFrame>
        <p:nvGraphicFramePr>
          <p:cNvPr id="4" name="Table 3">
            <a:extLst>
              <a:ext uri="{FF2B5EF4-FFF2-40B4-BE49-F238E27FC236}">
                <a16:creationId xmlns:a16="http://schemas.microsoft.com/office/drawing/2014/main" id="{DA48D5F6-C0B1-5DF9-53FE-A13946A124F4}"/>
              </a:ext>
            </a:extLst>
          </p:cNvPr>
          <p:cNvGraphicFramePr>
            <a:graphicFrameLocks noGrp="1"/>
          </p:cNvGraphicFramePr>
          <p:nvPr>
            <p:extLst>
              <p:ext uri="{D42A27DB-BD31-4B8C-83A1-F6EECF244321}">
                <p14:modId xmlns:p14="http://schemas.microsoft.com/office/powerpoint/2010/main" val="2027639612"/>
              </p:ext>
            </p:extLst>
          </p:nvPr>
        </p:nvGraphicFramePr>
        <p:xfrm>
          <a:off x="115747" y="1402270"/>
          <a:ext cx="6342925" cy="3169837"/>
        </p:xfrm>
        <a:graphic>
          <a:graphicData uri="http://schemas.openxmlformats.org/drawingml/2006/table">
            <a:tbl>
              <a:tblPr>
                <a:tableStyleId>{2D5ABB26-0587-4C30-8999-92F81FD0307C}</a:tableStyleId>
              </a:tblPr>
              <a:tblGrid>
                <a:gridCol w="2353976">
                  <a:extLst>
                    <a:ext uri="{9D8B030D-6E8A-4147-A177-3AD203B41FA5}">
                      <a16:colId xmlns:a16="http://schemas.microsoft.com/office/drawing/2014/main" val="826204326"/>
                    </a:ext>
                  </a:extLst>
                </a:gridCol>
                <a:gridCol w="3988949">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Properties/Challenges</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Constraints</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Unbounded output space  </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model's </a:t>
                      </a:r>
                      <a:r>
                        <a:rPr lang="en-US" sz="1050" b="1" i="0" u="none" strike="noStrike" cap="none" spc="0" dirty="0">
                          <a:solidFill>
                            <a:srgbClr val="2A2A63"/>
                          </a:solidFill>
                          <a:effectLst/>
                          <a:latin typeface="+mn-lt"/>
                          <a:ea typeface="+mn-ea"/>
                          <a:cs typeface="+mn-cs"/>
                          <a:sym typeface="Arial"/>
                        </a:rPr>
                        <a:t>output space is the set of representable strings rather than the set of valid operations</a:t>
                      </a:r>
                      <a:r>
                        <a:rPr lang="en-US" sz="1050" b="0" i="0" u="none" strike="noStrike" cap="none" spc="0" dirty="0">
                          <a:solidFill>
                            <a:schemeClr val="tx1"/>
                          </a:solidFill>
                          <a:effectLst/>
                          <a:latin typeface="+mn-lt"/>
                          <a:ea typeface="+mn-ea"/>
                          <a:cs typeface="+mn-cs"/>
                          <a:sym typeface="Arial"/>
                        </a:rPr>
                        <a:t>. Restriction is performed by the exposed schema, the validator, and the permissions the tool holds.</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Non-reproducibility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rgbClr val="2A2A63"/>
                          </a:solidFill>
                          <a:effectLst/>
                          <a:latin typeface="+mn-lt"/>
                          <a:ea typeface="+mn-ea"/>
                          <a:cs typeface="+mn-cs"/>
                          <a:sym typeface="Arial"/>
                        </a:rPr>
                        <a:t>Identical inputs may yield unidentical outputs</a:t>
                      </a:r>
                      <a:r>
                        <a:rPr lang="en-US" sz="1050" b="0" i="0" u="none" strike="noStrike" cap="none" spc="0" dirty="0">
                          <a:solidFill>
                            <a:schemeClr val="tx1"/>
                          </a:solidFill>
                          <a:effectLst/>
                          <a:latin typeface="+mn-lt"/>
                          <a:ea typeface="+mn-ea"/>
                          <a:cs typeface="+mn-cs"/>
                          <a:sym typeface="Arial"/>
                        </a:rPr>
                        <a:t>. A test asserting on model output tests a sample; a test asserting on the validator's response to an output tests the system, and the second kind is required.</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No execution guarantee</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a:t>
                      </a:r>
                      <a:r>
                        <a:rPr lang="en-US" sz="1050" b="1" i="0" u="none" strike="noStrike" cap="none" spc="0" dirty="0">
                          <a:solidFill>
                            <a:srgbClr val="2A2A63"/>
                          </a:solidFill>
                          <a:effectLst/>
                          <a:latin typeface="+mn-lt"/>
                          <a:ea typeface="+mn-ea"/>
                          <a:cs typeface="+mn-cs"/>
                          <a:sym typeface="Arial"/>
                        </a:rPr>
                        <a:t>model cannot establish that an effect occurred, occurred once, or occurred at all</a:t>
                      </a:r>
                      <a:r>
                        <a:rPr lang="en-US" sz="1050" b="0" i="0" u="none" strike="noStrike" cap="none" spc="0" dirty="0">
                          <a:solidFill>
                            <a:schemeClr val="tx1"/>
                          </a:solidFill>
                          <a:effectLst/>
                          <a:latin typeface="+mn-lt"/>
                          <a:ea typeface="+mn-ea"/>
                          <a:cs typeface="+mn-cs"/>
                          <a:sym typeface="Arial"/>
                        </a:rPr>
                        <a:t>. Permission belongs to the controller, durability to state, and execution guarantees to tools and the environment.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Non-observability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a:t>
                      </a:r>
                      <a:r>
                        <a:rPr lang="en-US" sz="1050" b="1" i="0" u="none" strike="noStrike" cap="none" spc="0" dirty="0">
                          <a:solidFill>
                            <a:srgbClr val="2A2A63"/>
                          </a:solidFill>
                          <a:effectLst/>
                          <a:latin typeface="+mn-lt"/>
                          <a:ea typeface="+mn-ea"/>
                          <a:cs typeface="+mn-cs"/>
                          <a:sym typeface="Arial"/>
                        </a:rPr>
                        <a:t>component's intent is not observable</a:t>
                      </a:r>
                      <a:r>
                        <a:rPr lang="en-US" sz="1050" b="0" i="0" u="none" strike="noStrike" cap="none" spc="0" dirty="0">
                          <a:solidFill>
                            <a:schemeClr val="tx1"/>
                          </a:solidFill>
                          <a:effectLst/>
                          <a:latin typeface="+mn-lt"/>
                          <a:ea typeface="+mn-ea"/>
                          <a:cs typeface="+mn-cs"/>
                          <a:sym typeface="Arial"/>
                        </a:rPr>
                        <a:t>; its proposals and their outcomes are.</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bl>
          </a:graphicData>
        </a:graphic>
      </p:graphicFrame>
      <p:sp>
        <p:nvSpPr>
          <p:cNvPr id="5" name="TextBox 4">
            <a:extLst>
              <a:ext uri="{FF2B5EF4-FFF2-40B4-BE49-F238E27FC236}">
                <a16:creationId xmlns:a16="http://schemas.microsoft.com/office/drawing/2014/main" id="{DF544CA5-F2BA-8312-2223-7D6C39AA2CD5}"/>
              </a:ext>
            </a:extLst>
          </p:cNvPr>
          <p:cNvSpPr txBox="1"/>
          <p:nvPr/>
        </p:nvSpPr>
        <p:spPr>
          <a:xfrm>
            <a:off x="115747" y="587610"/>
            <a:ext cx="6342925" cy="646331"/>
          </a:xfrm>
          <a:prstGeom prst="rect">
            <a:avLst/>
          </a:prstGeom>
          <a:noFill/>
        </p:spPr>
        <p:txBody>
          <a:bodyPr wrap="square" rtlCol="0">
            <a:spAutoFit/>
          </a:bodyPr>
          <a:lstStyle/>
          <a:p>
            <a:pPr algn="l"/>
            <a:r>
              <a:rPr lang="en-US" sz="1200" dirty="0">
                <a:latin typeface="+mn-lt"/>
              </a:rPr>
              <a:t>The model is a central part of the of the agentic pipeline. It converts a </a:t>
            </a:r>
            <a:r>
              <a:rPr lang="en-US" sz="1200" b="1" dirty="0">
                <a:solidFill>
                  <a:srgbClr val="2A2A63"/>
                </a:solidFill>
                <a:latin typeface="+mn-lt"/>
              </a:rPr>
              <a:t>goal and a context into an intent</a:t>
            </a:r>
            <a:r>
              <a:rPr lang="en-US" sz="1200" dirty="0">
                <a:latin typeface="+mn-lt"/>
              </a:rPr>
              <a:t>. This is the </a:t>
            </a:r>
            <a:r>
              <a:rPr lang="en-US" sz="1200" b="1" dirty="0">
                <a:solidFill>
                  <a:srgbClr val="2A2A63"/>
                </a:solidFill>
                <a:latin typeface="+mn-lt"/>
              </a:rPr>
              <a:t>responsibility no other component can discharge</a:t>
            </a:r>
            <a:r>
              <a:rPr lang="en-US" sz="1200" dirty="0">
                <a:latin typeface="+mn-lt"/>
              </a:rPr>
              <a:t>. But it has </a:t>
            </a:r>
            <a:r>
              <a:rPr lang="en-US" sz="1200" b="1" dirty="0">
                <a:solidFill>
                  <a:srgbClr val="2A2A63"/>
                </a:solidFill>
                <a:latin typeface="+mn-lt"/>
              </a:rPr>
              <a:t>some peculiar systems properties and challenges to design around</a:t>
            </a:r>
            <a:r>
              <a:rPr lang="en-US" sz="1200" dirty="0">
                <a:solidFill>
                  <a:srgbClr val="2A2A63"/>
                </a:solidFill>
                <a:latin typeface="+mn-lt"/>
              </a:rPr>
              <a:t>.</a:t>
            </a:r>
          </a:p>
        </p:txBody>
      </p:sp>
    </p:spTree>
    <p:extLst>
      <p:ext uri="{BB962C8B-B14F-4D97-AF65-F5344CB8AC3E}">
        <p14:creationId xmlns:p14="http://schemas.microsoft.com/office/powerpoint/2010/main" val="4034720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C7D06-8956-45E5-ABE6-920C569DD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B98E-2CD3-4A2B-DB99-8602970DF603}"/>
              </a:ext>
            </a:extLst>
          </p:cNvPr>
          <p:cNvSpPr>
            <a:spLocks noGrp="1"/>
          </p:cNvSpPr>
          <p:nvPr>
            <p:ph type="title"/>
          </p:nvPr>
        </p:nvSpPr>
        <p:spPr/>
        <p:txBody>
          <a:bodyPr>
            <a:normAutofit/>
          </a:bodyPr>
          <a:lstStyle/>
          <a:p>
            <a:r>
              <a:rPr lang="en-US" dirty="0"/>
              <a:t>The Agent Harness</a:t>
            </a:r>
          </a:p>
        </p:txBody>
      </p:sp>
      <p:pic>
        <p:nvPicPr>
          <p:cNvPr id="9" name="Picture 8">
            <a:extLst>
              <a:ext uri="{FF2B5EF4-FFF2-40B4-BE49-F238E27FC236}">
                <a16:creationId xmlns:a16="http://schemas.microsoft.com/office/drawing/2014/main" id="{BAD877CC-E444-45EA-5E2F-C35043479D0B}"/>
              </a:ext>
            </a:extLst>
          </p:cNvPr>
          <p:cNvPicPr>
            <a:picLocks noChangeAspect="1"/>
          </p:cNvPicPr>
          <p:nvPr/>
        </p:nvPicPr>
        <p:blipFill>
          <a:blip r:embed="rId2"/>
          <a:srcRect l="2380" t="1466" r="2427" b="2139"/>
          <a:stretch>
            <a:fillRect/>
          </a:stretch>
        </p:blipFill>
        <p:spPr>
          <a:xfrm>
            <a:off x="1527858" y="1431403"/>
            <a:ext cx="3800355" cy="3476263"/>
          </a:xfrm>
          <a:prstGeom prst="rect">
            <a:avLst/>
          </a:prstGeom>
        </p:spPr>
      </p:pic>
      <p:sp>
        <p:nvSpPr>
          <p:cNvPr id="10" name="TextBox 9">
            <a:extLst>
              <a:ext uri="{FF2B5EF4-FFF2-40B4-BE49-F238E27FC236}">
                <a16:creationId xmlns:a16="http://schemas.microsoft.com/office/drawing/2014/main" id="{1EDC505E-737E-BBCB-4E15-F1A37D18484E}"/>
              </a:ext>
            </a:extLst>
          </p:cNvPr>
          <p:cNvSpPr txBox="1"/>
          <p:nvPr/>
        </p:nvSpPr>
        <p:spPr>
          <a:xfrm>
            <a:off x="368201" y="657058"/>
            <a:ext cx="6107574"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Harness is the </a:t>
            </a:r>
            <a:r>
              <a:rPr lang="en-US" sz="1200" b="1" dirty="0">
                <a:solidFill>
                  <a:schemeClr val="accent2">
                    <a:lumMod val="10000"/>
                    <a:lumOff val="90000"/>
                  </a:schemeClr>
                </a:solidFill>
                <a:latin typeface="+mn-lt"/>
              </a:rPr>
              <a:t>surrounding system's decision-making component</a:t>
            </a:r>
            <a:r>
              <a:rPr lang="en-US" sz="1200" dirty="0">
                <a:solidFill>
                  <a:schemeClr val="accent2">
                    <a:lumMod val="10000"/>
                    <a:lumOff val="90000"/>
                  </a:schemeClr>
                </a:solidFill>
                <a:latin typeface="+mn-lt"/>
              </a:rPr>
              <a:t>: it assembles </a:t>
            </a:r>
            <a:r>
              <a:rPr lang="en-US" sz="1200" b="1" dirty="0">
                <a:solidFill>
                  <a:schemeClr val="accent2">
                    <a:lumMod val="10000"/>
                    <a:lumOff val="90000"/>
                  </a:schemeClr>
                </a:solidFill>
                <a:latin typeface="+mn-lt"/>
              </a:rPr>
              <a:t>context</a:t>
            </a:r>
            <a:r>
              <a:rPr lang="en-US" sz="1200" dirty="0">
                <a:solidFill>
                  <a:schemeClr val="accent2">
                    <a:lumMod val="10000"/>
                    <a:lumOff val="90000"/>
                  </a:schemeClr>
                </a:solidFill>
                <a:latin typeface="+mn-lt"/>
              </a:rPr>
              <a:t>, </a:t>
            </a:r>
            <a:r>
              <a:rPr lang="en-US" sz="1200" b="1" dirty="0">
                <a:solidFill>
                  <a:schemeClr val="accent2">
                    <a:lumMod val="10000"/>
                    <a:lumOff val="90000"/>
                  </a:schemeClr>
                </a:solidFill>
                <a:latin typeface="+mn-lt"/>
              </a:rPr>
              <a:t>admits or refuses</a:t>
            </a:r>
            <a:r>
              <a:rPr lang="en-US" sz="1200" dirty="0">
                <a:solidFill>
                  <a:schemeClr val="accent2">
                    <a:lumMod val="10000"/>
                    <a:lumOff val="90000"/>
                  </a:schemeClr>
                </a:solidFill>
                <a:latin typeface="+mn-lt"/>
              </a:rPr>
              <a:t> each proposed operation, </a:t>
            </a:r>
            <a:r>
              <a:rPr lang="en-US" sz="1200" b="1" dirty="0">
                <a:solidFill>
                  <a:schemeClr val="accent2">
                    <a:lumMod val="10000"/>
                    <a:lumOff val="90000"/>
                  </a:schemeClr>
                </a:solidFill>
                <a:latin typeface="+mn-lt"/>
              </a:rPr>
              <a:t>schedules</a:t>
            </a:r>
            <a:r>
              <a:rPr lang="en-US" sz="1200" dirty="0">
                <a:solidFill>
                  <a:schemeClr val="accent2">
                    <a:lumMod val="10000"/>
                    <a:lumOff val="90000"/>
                  </a:schemeClr>
                </a:solidFill>
                <a:latin typeface="+mn-lt"/>
              </a:rPr>
              <a:t> execution, and determines that the run has ended.</a:t>
            </a:r>
          </a:p>
        </p:txBody>
      </p:sp>
    </p:spTree>
    <p:extLst>
      <p:ext uri="{BB962C8B-B14F-4D97-AF65-F5344CB8AC3E}">
        <p14:creationId xmlns:p14="http://schemas.microsoft.com/office/powerpoint/2010/main" val="2043166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89CAB-8E1A-CB6E-5AA8-499598346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C5E26-56BC-733D-5B69-75562BF28CE1}"/>
              </a:ext>
            </a:extLst>
          </p:cNvPr>
          <p:cNvSpPr>
            <a:spLocks noGrp="1"/>
          </p:cNvSpPr>
          <p:nvPr>
            <p:ph type="title"/>
          </p:nvPr>
        </p:nvSpPr>
        <p:spPr/>
        <p:txBody>
          <a:bodyPr>
            <a:normAutofit/>
          </a:bodyPr>
          <a:lstStyle/>
          <a:p>
            <a:r>
              <a:rPr lang="en-US" dirty="0"/>
              <a:t>The Agent Harness</a:t>
            </a:r>
          </a:p>
        </p:txBody>
      </p:sp>
      <p:sp>
        <p:nvSpPr>
          <p:cNvPr id="4" name="TextBox 3">
            <a:extLst>
              <a:ext uri="{FF2B5EF4-FFF2-40B4-BE49-F238E27FC236}">
                <a16:creationId xmlns:a16="http://schemas.microsoft.com/office/drawing/2014/main" id="{14DD9002-B183-D9E3-C564-C630B8FF64CA}"/>
              </a:ext>
            </a:extLst>
          </p:cNvPr>
          <p:cNvSpPr txBox="1"/>
          <p:nvPr/>
        </p:nvSpPr>
        <p:spPr>
          <a:xfrm>
            <a:off x="159152" y="1405792"/>
            <a:ext cx="6539696" cy="3432671"/>
          </a:xfrm>
          <a:prstGeom prst="rect">
            <a:avLst/>
          </a:prstGeom>
          <a:noFill/>
        </p:spPr>
        <p:txBody>
          <a:bodyPr wrap="square">
            <a:spAutoFit/>
          </a:bodyPr>
          <a:lstStyle/>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Control flow.</a:t>
            </a:r>
            <a:r>
              <a:rPr lang="en-US" sz="1200" b="0" i="0" dirty="0">
                <a:solidFill>
                  <a:srgbClr val="000000"/>
                </a:solidFill>
                <a:effectLst/>
                <a:latin typeface="+mn-lt"/>
              </a:rPr>
              <a:t> The controller determines </a:t>
            </a:r>
            <a:r>
              <a:rPr lang="en-US" sz="1200" b="1" i="0" dirty="0">
                <a:solidFill>
                  <a:srgbClr val="2A2A63"/>
                </a:solidFill>
                <a:effectLst/>
                <a:latin typeface="+mn-lt"/>
              </a:rPr>
              <a:t>what happens next and in what order</a:t>
            </a:r>
            <a:r>
              <a:rPr lang="en-US" sz="1200" b="0" i="0" dirty="0">
                <a:solidFill>
                  <a:srgbClr val="000000"/>
                </a:solidFill>
                <a:effectLst/>
                <a:latin typeface="+mn-lt"/>
              </a:rPr>
              <a:t>. To maintain guarantees, </a:t>
            </a:r>
            <a:r>
              <a:rPr lang="en-US" sz="1200" dirty="0">
                <a:latin typeface="+mn-lt"/>
              </a:rPr>
              <a:t>t</a:t>
            </a:r>
            <a:r>
              <a:rPr lang="en-US" sz="1200" b="0" i="0" dirty="0">
                <a:solidFill>
                  <a:srgbClr val="000000"/>
                </a:solidFill>
                <a:effectLst/>
                <a:latin typeface="+mn-lt"/>
              </a:rPr>
              <a:t>his is often explicit and is not delegated to the model.</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Admission.</a:t>
            </a:r>
            <a:r>
              <a:rPr lang="en-US" sz="1200" b="0" i="0" dirty="0">
                <a:solidFill>
                  <a:srgbClr val="000000"/>
                </a:solidFill>
                <a:effectLst/>
                <a:latin typeface="+mn-lt"/>
              </a:rPr>
              <a:t> Every </a:t>
            </a:r>
            <a:r>
              <a:rPr lang="en-US" sz="1200" b="1" i="0" dirty="0">
                <a:solidFill>
                  <a:srgbClr val="2A2A63"/>
                </a:solidFill>
                <a:effectLst/>
                <a:latin typeface="+mn-lt"/>
              </a:rPr>
              <a:t>proposal is admitted or refused against types, permissions and budget</a:t>
            </a:r>
            <a:r>
              <a:rPr lang="en-US" sz="1200" b="0" i="0" dirty="0">
                <a:solidFill>
                  <a:srgbClr val="000000"/>
                </a:solidFill>
                <a:effectLst/>
                <a:latin typeface="+mn-lt"/>
              </a:rPr>
              <a:t>, and both outcomes are recorded. </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Budget.</a:t>
            </a:r>
            <a:r>
              <a:rPr lang="en-US" sz="1200" b="0" i="0" dirty="0">
                <a:solidFill>
                  <a:srgbClr val="000000"/>
                </a:solidFill>
                <a:effectLst/>
                <a:latin typeface="+mn-lt"/>
              </a:rPr>
              <a:t> </a:t>
            </a:r>
            <a:r>
              <a:rPr lang="en-US" sz="1200" b="1" i="0" dirty="0">
                <a:solidFill>
                  <a:srgbClr val="2A2A63"/>
                </a:solidFill>
                <a:effectLst/>
                <a:latin typeface="+mn-lt"/>
              </a:rPr>
              <a:t>Tokens, wall-clock, tool calls and expenditure are checked before a call is issued</a:t>
            </a:r>
            <a:r>
              <a:rPr lang="en-US" sz="1200" b="0" i="0" dirty="0">
                <a:solidFill>
                  <a:srgbClr val="000000"/>
                </a:solidFill>
                <a:effectLst/>
                <a:latin typeface="+mn-lt"/>
              </a:rPr>
              <a:t>. A budget verified only afterwards is a post-mortem. </a:t>
            </a:r>
            <a:br>
              <a:rPr lang="en-US" sz="1200" dirty="0">
                <a:latin typeface="+mn-lt"/>
              </a:rPr>
            </a:br>
            <a:r>
              <a:rPr lang="en-US" sz="1200" b="1" i="1" dirty="0">
                <a:solidFill>
                  <a:schemeClr val="accent4">
                    <a:lumMod val="75000"/>
                  </a:schemeClr>
                </a:solidFill>
                <a:effectLst/>
                <a:latin typeface="+mn-lt"/>
              </a:rPr>
              <a:t>HW1 requires pre-call admission with an output allowance and post-call reconciliation.</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Scheduling.</a:t>
            </a:r>
            <a:r>
              <a:rPr lang="en-US" sz="1200" b="0" i="0" dirty="0">
                <a:solidFill>
                  <a:srgbClr val="000000"/>
                </a:solidFill>
                <a:effectLst/>
                <a:latin typeface="+mn-lt"/>
              </a:rPr>
              <a:t> </a:t>
            </a:r>
            <a:r>
              <a:rPr lang="en-US" sz="1200" b="1" i="0" dirty="0">
                <a:solidFill>
                  <a:srgbClr val="2A2A63"/>
                </a:solidFill>
                <a:effectLst/>
                <a:latin typeface="+mn-lt"/>
              </a:rPr>
              <a:t>Serial or concurrent execution is the controller's choice</a:t>
            </a:r>
            <a:r>
              <a:rPr lang="en-US" sz="1200" b="0" i="0" dirty="0">
                <a:solidFill>
                  <a:srgbClr val="000000"/>
                </a:solidFill>
                <a:effectLst/>
                <a:latin typeface="+mn-lt"/>
              </a:rPr>
              <a:t>, and a concurrent bound is a number the designer selects and can state. </a:t>
            </a:r>
            <a:br>
              <a:rPr lang="en-US" sz="1200" b="0" i="0" dirty="0">
                <a:solidFill>
                  <a:srgbClr val="000000"/>
                </a:solidFill>
                <a:effectLst/>
                <a:latin typeface="+mn-lt"/>
              </a:rPr>
            </a:br>
            <a:r>
              <a:rPr lang="en-US" sz="1200" b="1" i="1" dirty="0">
                <a:solidFill>
                  <a:schemeClr val="accent4">
                    <a:lumMod val="75000"/>
                  </a:schemeClr>
                </a:solidFill>
                <a:latin typeface="+mn-lt"/>
              </a:rPr>
              <a:t>HW2 has you build and compare various architectures.</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Termination.</a:t>
            </a:r>
            <a:r>
              <a:rPr lang="en-US" sz="1200" b="0" i="0" dirty="0">
                <a:solidFill>
                  <a:srgbClr val="000000"/>
                </a:solidFill>
                <a:effectLst/>
                <a:latin typeface="+mn-lt"/>
              </a:rPr>
              <a:t> Named conditions end a run: the goal test passed, the budget is spent (a failsafe), no progress occurred over N steps, or an unrecoverable error was raised. Each writes a distinct event.</a:t>
            </a:r>
          </a:p>
        </p:txBody>
      </p:sp>
      <p:sp>
        <p:nvSpPr>
          <p:cNvPr id="5" name="TextBox 4">
            <a:extLst>
              <a:ext uri="{FF2B5EF4-FFF2-40B4-BE49-F238E27FC236}">
                <a16:creationId xmlns:a16="http://schemas.microsoft.com/office/drawing/2014/main" id="{3D188CFC-A10D-57F4-BF4A-3059E556687D}"/>
              </a:ext>
            </a:extLst>
          </p:cNvPr>
          <p:cNvSpPr txBox="1"/>
          <p:nvPr/>
        </p:nvSpPr>
        <p:spPr>
          <a:xfrm>
            <a:off x="368201" y="745797"/>
            <a:ext cx="6107574" cy="461665"/>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The harness is essentially a controller. It owns control flow, admission, scheduling and termination. We’ll build these out over the semester.</a:t>
            </a:r>
          </a:p>
        </p:txBody>
      </p:sp>
    </p:spTree>
    <p:extLst>
      <p:ext uri="{BB962C8B-B14F-4D97-AF65-F5344CB8AC3E}">
        <p14:creationId xmlns:p14="http://schemas.microsoft.com/office/powerpoint/2010/main" val="2182070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78B2-7AB1-0B72-8767-86F06D1DA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DA4D3-F571-6B10-3E36-7B1E83FDE8B4}"/>
              </a:ext>
            </a:extLst>
          </p:cNvPr>
          <p:cNvSpPr>
            <a:spLocks noGrp="1"/>
          </p:cNvSpPr>
          <p:nvPr>
            <p:ph type="title"/>
          </p:nvPr>
        </p:nvSpPr>
        <p:spPr/>
        <p:txBody>
          <a:bodyPr>
            <a:normAutofit/>
          </a:bodyPr>
          <a:lstStyle/>
          <a:p>
            <a:r>
              <a:rPr lang="en-US" dirty="0"/>
              <a:t>Tools</a:t>
            </a:r>
          </a:p>
        </p:txBody>
      </p:sp>
      <p:sp>
        <p:nvSpPr>
          <p:cNvPr id="5" name="TextBox 4">
            <a:extLst>
              <a:ext uri="{FF2B5EF4-FFF2-40B4-BE49-F238E27FC236}">
                <a16:creationId xmlns:a16="http://schemas.microsoft.com/office/drawing/2014/main" id="{AE01230B-02C0-1BC7-D64F-35EEB4D378A1}"/>
              </a:ext>
            </a:extLst>
          </p:cNvPr>
          <p:cNvSpPr txBox="1"/>
          <p:nvPr/>
        </p:nvSpPr>
        <p:spPr>
          <a:xfrm>
            <a:off x="121272" y="630050"/>
            <a:ext cx="6591649"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A tool is the only path from a proposed operation to a real effect. The model emits a structured call, the application layer executes it, and the result returns as data. A narrow and a strongly typed surface is the cheapest safety mechanism available.</a:t>
            </a:r>
          </a:p>
        </p:txBody>
      </p:sp>
      <p:pic>
        <p:nvPicPr>
          <p:cNvPr id="7" name="Picture 6">
            <a:extLst>
              <a:ext uri="{FF2B5EF4-FFF2-40B4-BE49-F238E27FC236}">
                <a16:creationId xmlns:a16="http://schemas.microsoft.com/office/drawing/2014/main" id="{38B450EA-B95F-F6F3-6F0D-1A1FCAB3BBAD}"/>
              </a:ext>
            </a:extLst>
          </p:cNvPr>
          <p:cNvPicPr>
            <a:picLocks noChangeAspect="1"/>
          </p:cNvPicPr>
          <p:nvPr/>
        </p:nvPicPr>
        <p:blipFill>
          <a:blip r:embed="rId2"/>
          <a:srcRect b="6445"/>
          <a:stretch>
            <a:fillRect/>
          </a:stretch>
        </p:blipFill>
        <p:spPr>
          <a:xfrm>
            <a:off x="121273" y="1532784"/>
            <a:ext cx="6591649" cy="3079923"/>
          </a:xfrm>
          <a:prstGeom prst="rect">
            <a:avLst/>
          </a:prstGeom>
        </p:spPr>
      </p:pic>
    </p:spTree>
    <p:extLst>
      <p:ext uri="{BB962C8B-B14F-4D97-AF65-F5344CB8AC3E}">
        <p14:creationId xmlns:p14="http://schemas.microsoft.com/office/powerpoint/2010/main" val="2888819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B3EBD-7902-7D82-4BF8-97A0A7E96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B53CB-55CE-3435-D3D0-47B8CC474390}"/>
              </a:ext>
            </a:extLst>
          </p:cNvPr>
          <p:cNvSpPr>
            <a:spLocks noGrp="1"/>
          </p:cNvSpPr>
          <p:nvPr>
            <p:ph type="title"/>
          </p:nvPr>
        </p:nvSpPr>
        <p:spPr/>
        <p:txBody>
          <a:bodyPr>
            <a:normAutofit/>
          </a:bodyPr>
          <a:lstStyle/>
          <a:p>
            <a:r>
              <a:rPr lang="en-US" dirty="0"/>
              <a:t>Tools</a:t>
            </a:r>
          </a:p>
        </p:txBody>
      </p:sp>
      <p:sp>
        <p:nvSpPr>
          <p:cNvPr id="5" name="TextBox 4">
            <a:extLst>
              <a:ext uri="{FF2B5EF4-FFF2-40B4-BE49-F238E27FC236}">
                <a16:creationId xmlns:a16="http://schemas.microsoft.com/office/drawing/2014/main" id="{AFEC437B-9B2B-66D5-9A62-EE93AC9CEB95}"/>
              </a:ext>
            </a:extLst>
          </p:cNvPr>
          <p:cNvSpPr txBox="1"/>
          <p:nvPr/>
        </p:nvSpPr>
        <p:spPr>
          <a:xfrm>
            <a:off x="121272" y="630050"/>
            <a:ext cx="6591649"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A tool is the only path from a proposed operation to a real effect. The model emits a structured call, the application layer executes it, and the result returns as data. A narrow and a strongly typed surface is the cheapest safety mechanism available.</a:t>
            </a:r>
          </a:p>
        </p:txBody>
      </p:sp>
      <p:graphicFrame>
        <p:nvGraphicFramePr>
          <p:cNvPr id="3" name="Table 2">
            <a:extLst>
              <a:ext uri="{FF2B5EF4-FFF2-40B4-BE49-F238E27FC236}">
                <a16:creationId xmlns:a16="http://schemas.microsoft.com/office/drawing/2014/main" id="{C1BC846B-5752-FD23-13C5-11E3C66F06B5}"/>
              </a:ext>
            </a:extLst>
          </p:cNvPr>
          <p:cNvGraphicFramePr>
            <a:graphicFrameLocks noGrp="1"/>
          </p:cNvGraphicFramePr>
          <p:nvPr>
            <p:extLst>
              <p:ext uri="{D42A27DB-BD31-4B8C-83A1-F6EECF244321}">
                <p14:modId xmlns:p14="http://schemas.microsoft.com/office/powerpoint/2010/main" val="1778261143"/>
              </p:ext>
            </p:extLst>
          </p:nvPr>
        </p:nvGraphicFramePr>
        <p:xfrm>
          <a:off x="121272" y="1514159"/>
          <a:ext cx="6580470" cy="3044509"/>
        </p:xfrm>
        <a:graphic>
          <a:graphicData uri="http://schemas.openxmlformats.org/drawingml/2006/table">
            <a:tbl>
              <a:tblPr>
                <a:tableStyleId>{2D5ABB26-0587-4C30-8999-92F81FD0307C}</a:tableStyleId>
              </a:tblPr>
              <a:tblGrid>
                <a:gridCol w="1641040">
                  <a:extLst>
                    <a:ext uri="{9D8B030D-6E8A-4147-A177-3AD203B41FA5}">
                      <a16:colId xmlns:a16="http://schemas.microsoft.com/office/drawing/2014/main" val="826204326"/>
                    </a:ext>
                  </a:extLst>
                </a:gridCol>
                <a:gridCol w="4939430">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Property</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Constraints</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Narrow</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One operation with one purpose, and arguments that are types rather than prose. A tool accepting a free-text command re-exports the whole environment through a single schema.</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Typed</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Types are the cheapest available validator and they run before the proposal reaches anything. In assignment 2, you’ll be building variants of these.</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Idempotent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Idempotency requires that a repeated call carrying the same caller-supplied key return the first outcome rather than produce a second effect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Transactional</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A retry is unavoidable, and its safety rests on transactionality that requires that the effect and the record of that key commit together or rollback together—partial effects not tolerable. </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Guarded at the</a:t>
                      </a:r>
                      <a:r>
                        <a:rPr lang="en-US" sz="1050" b="1" i="0" u="none" strike="noStrike" cap="none" spc="0" dirty="0">
                          <a:solidFill>
                            <a:schemeClr val="accent4">
                              <a:lumMod val="75000"/>
                            </a:schemeClr>
                          </a:solidFill>
                          <a:effectLst/>
                          <a:latin typeface="+mn-lt"/>
                          <a:ea typeface="+mn-ea"/>
                          <a:cs typeface="+mn-cs"/>
                          <a:sym typeface="Arial"/>
                        </a:rPr>
                        <a:t>*</a:t>
                      </a:r>
                      <a:r>
                        <a:rPr lang="en-US" sz="1050" b="1" i="0" u="none" strike="noStrike" cap="none" spc="0" dirty="0">
                          <a:solidFill>
                            <a:schemeClr val="tx1"/>
                          </a:solidFill>
                          <a:effectLst/>
                          <a:latin typeface="+mn-lt"/>
                          <a:ea typeface="+mn-ea"/>
                          <a:cs typeface="+mn-cs"/>
                          <a:sym typeface="Arial"/>
                        </a:rPr>
                        <a:t> boundary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Content returned by a tool is data and never instruction. Authority derives from the caller and never from the content.</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
        <p:nvSpPr>
          <p:cNvPr id="4" name="TextBox 3">
            <a:extLst>
              <a:ext uri="{FF2B5EF4-FFF2-40B4-BE49-F238E27FC236}">
                <a16:creationId xmlns:a16="http://schemas.microsoft.com/office/drawing/2014/main" id="{B403DA8C-838A-6A47-EE2F-2C0D266E013F}"/>
              </a:ext>
            </a:extLst>
          </p:cNvPr>
          <p:cNvSpPr txBox="1"/>
          <p:nvPr/>
        </p:nvSpPr>
        <p:spPr>
          <a:xfrm>
            <a:off x="5463251" y="4533761"/>
            <a:ext cx="1313180" cy="261610"/>
          </a:xfrm>
          <a:prstGeom prst="rect">
            <a:avLst/>
          </a:prstGeom>
          <a:noFill/>
        </p:spPr>
        <p:txBody>
          <a:bodyPr wrap="none" rtlCol="0">
            <a:spAutoFit/>
          </a:bodyPr>
          <a:lstStyle/>
          <a:p>
            <a:pPr algn="l"/>
            <a:r>
              <a:rPr lang="en-US" sz="1100" i="1" dirty="0">
                <a:solidFill>
                  <a:schemeClr val="accent4">
                    <a:lumMod val="75000"/>
                  </a:schemeClr>
                </a:solidFill>
                <a:latin typeface="+mn-lt"/>
              </a:rPr>
              <a:t>* explored in HW2</a:t>
            </a:r>
          </a:p>
        </p:txBody>
      </p:sp>
    </p:spTree>
    <p:extLst>
      <p:ext uri="{BB962C8B-B14F-4D97-AF65-F5344CB8AC3E}">
        <p14:creationId xmlns:p14="http://schemas.microsoft.com/office/powerpoint/2010/main" val="181080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00A3-E4D6-EAB4-249B-865D0F884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2CFCA-935D-860A-DF3B-531E6E82E3EC}"/>
              </a:ext>
            </a:extLst>
          </p:cNvPr>
          <p:cNvSpPr>
            <a:spLocks noGrp="1"/>
          </p:cNvSpPr>
          <p:nvPr>
            <p:ph type="title"/>
          </p:nvPr>
        </p:nvSpPr>
        <p:spPr/>
        <p:txBody>
          <a:bodyPr>
            <a:normAutofit/>
          </a:bodyPr>
          <a:lstStyle/>
          <a:p>
            <a:r>
              <a:rPr lang="en-US" dirty="0"/>
              <a:t>State</a:t>
            </a:r>
          </a:p>
        </p:txBody>
      </p:sp>
      <p:sp>
        <p:nvSpPr>
          <p:cNvPr id="5" name="TextBox 4">
            <a:extLst>
              <a:ext uri="{FF2B5EF4-FFF2-40B4-BE49-F238E27FC236}">
                <a16:creationId xmlns:a16="http://schemas.microsoft.com/office/drawing/2014/main" id="{780CA432-F032-A4FC-B1CB-7A13C1A033B8}"/>
              </a:ext>
            </a:extLst>
          </p:cNvPr>
          <p:cNvSpPr txBox="1"/>
          <p:nvPr/>
        </p:nvSpPr>
        <p:spPr>
          <a:xfrm>
            <a:off x="121272" y="630050"/>
            <a:ext cx="6591649" cy="461665"/>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Context is the bounded input to one model call. Durable state preserves progress, evidence, and accounting beyond the process so a run can resume after failure instead of restarting.</a:t>
            </a:r>
          </a:p>
        </p:txBody>
      </p:sp>
      <p:pic>
        <p:nvPicPr>
          <p:cNvPr id="4" name="Picture 3">
            <a:extLst>
              <a:ext uri="{FF2B5EF4-FFF2-40B4-BE49-F238E27FC236}">
                <a16:creationId xmlns:a16="http://schemas.microsoft.com/office/drawing/2014/main" id="{BBA3A2E4-E4E3-3920-8B48-082DE2716AA5}"/>
              </a:ext>
            </a:extLst>
          </p:cNvPr>
          <p:cNvPicPr>
            <a:picLocks noChangeAspect="1"/>
          </p:cNvPicPr>
          <p:nvPr/>
        </p:nvPicPr>
        <p:blipFill>
          <a:blip r:embed="rId2"/>
          <a:stretch>
            <a:fillRect/>
          </a:stretch>
        </p:blipFill>
        <p:spPr>
          <a:xfrm>
            <a:off x="1001210" y="1524798"/>
            <a:ext cx="4855580" cy="2988652"/>
          </a:xfrm>
          <a:prstGeom prst="rect">
            <a:avLst/>
          </a:prstGeom>
        </p:spPr>
      </p:pic>
    </p:spTree>
    <p:extLst>
      <p:ext uri="{BB962C8B-B14F-4D97-AF65-F5344CB8AC3E}">
        <p14:creationId xmlns:p14="http://schemas.microsoft.com/office/powerpoint/2010/main" val="28745004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39505-DA96-61F5-DC9B-370694E97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D0220-ECBE-BA49-6C35-CED9C1296C5B}"/>
              </a:ext>
            </a:extLst>
          </p:cNvPr>
          <p:cNvSpPr>
            <a:spLocks noGrp="1"/>
          </p:cNvSpPr>
          <p:nvPr>
            <p:ph type="title"/>
          </p:nvPr>
        </p:nvSpPr>
        <p:spPr/>
        <p:txBody>
          <a:bodyPr>
            <a:normAutofit/>
          </a:bodyPr>
          <a:lstStyle/>
          <a:p>
            <a:r>
              <a:rPr lang="en-US" dirty="0"/>
              <a:t>State: Systems Properties and Guarantees</a:t>
            </a:r>
          </a:p>
        </p:txBody>
      </p:sp>
      <p:sp>
        <p:nvSpPr>
          <p:cNvPr id="5" name="TextBox 4">
            <a:extLst>
              <a:ext uri="{FF2B5EF4-FFF2-40B4-BE49-F238E27FC236}">
                <a16:creationId xmlns:a16="http://schemas.microsoft.com/office/drawing/2014/main" id="{172858EF-C6E8-E68F-D59F-6CB13CD98218}"/>
              </a:ext>
            </a:extLst>
          </p:cNvPr>
          <p:cNvSpPr txBox="1"/>
          <p:nvPr/>
        </p:nvSpPr>
        <p:spPr>
          <a:xfrm>
            <a:off x="121272" y="630050"/>
            <a:ext cx="6591649"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Agent state depends on durability, provenance, bounded working sets, resource accounting, and crash recovery. HW2 touches upon context compaction: managing a bounded working set by condensing prior context while preserving task-relevant information.</a:t>
            </a:r>
          </a:p>
        </p:txBody>
      </p:sp>
      <p:graphicFrame>
        <p:nvGraphicFramePr>
          <p:cNvPr id="3" name="Table 2">
            <a:extLst>
              <a:ext uri="{FF2B5EF4-FFF2-40B4-BE49-F238E27FC236}">
                <a16:creationId xmlns:a16="http://schemas.microsoft.com/office/drawing/2014/main" id="{2A4C0C1C-A1EE-0940-E987-313A10C8C1F2}"/>
              </a:ext>
            </a:extLst>
          </p:cNvPr>
          <p:cNvGraphicFramePr>
            <a:graphicFrameLocks noGrp="1"/>
          </p:cNvGraphicFramePr>
          <p:nvPr>
            <p:extLst>
              <p:ext uri="{D42A27DB-BD31-4B8C-83A1-F6EECF244321}">
                <p14:modId xmlns:p14="http://schemas.microsoft.com/office/powerpoint/2010/main" val="1209081387"/>
              </p:ext>
            </p:extLst>
          </p:nvPr>
        </p:nvGraphicFramePr>
        <p:xfrm>
          <a:off x="121272" y="1525734"/>
          <a:ext cx="6580470" cy="3044509"/>
        </p:xfrm>
        <a:graphic>
          <a:graphicData uri="http://schemas.openxmlformats.org/drawingml/2006/table">
            <a:tbl>
              <a:tblPr>
                <a:tableStyleId>{2D5ABB26-0587-4C30-8999-92F81FD0307C}</a:tableStyleId>
              </a:tblPr>
              <a:tblGrid>
                <a:gridCol w="1641040">
                  <a:extLst>
                    <a:ext uri="{9D8B030D-6E8A-4147-A177-3AD203B41FA5}">
                      <a16:colId xmlns:a16="http://schemas.microsoft.com/office/drawing/2014/main" val="826204326"/>
                    </a:ext>
                  </a:extLst>
                </a:gridCol>
                <a:gridCol w="4939430">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Property</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Required guarantee</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Durability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Accepted work and committed progress survive process termination.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Provenance</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Conclusions remain linked to persistent, addressable supporting artifacts.</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Bounded working set</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Each model input respects its token limit; context selection and truncation are explicit.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Resource accounting</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Token usage is recorded per call, preserving distinct usage categories rather than conflating counters.</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Crash recovery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Execution resumes from committed state after failure, preserving accepted work.</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
        <p:nvSpPr>
          <p:cNvPr id="4" name="TextBox 3">
            <a:extLst>
              <a:ext uri="{FF2B5EF4-FFF2-40B4-BE49-F238E27FC236}">
                <a16:creationId xmlns:a16="http://schemas.microsoft.com/office/drawing/2014/main" id="{D276E50A-51FC-C586-8E85-BAFFEC5F3140}"/>
              </a:ext>
            </a:extLst>
          </p:cNvPr>
          <p:cNvSpPr txBox="1"/>
          <p:nvPr/>
        </p:nvSpPr>
        <p:spPr>
          <a:xfrm>
            <a:off x="5463251" y="4570243"/>
            <a:ext cx="1313180" cy="261610"/>
          </a:xfrm>
          <a:prstGeom prst="rect">
            <a:avLst/>
          </a:prstGeom>
          <a:noFill/>
        </p:spPr>
        <p:txBody>
          <a:bodyPr wrap="none" rtlCol="0">
            <a:spAutoFit/>
          </a:bodyPr>
          <a:lstStyle/>
          <a:p>
            <a:pPr algn="l"/>
            <a:r>
              <a:rPr lang="en-US" sz="1100" i="1" dirty="0">
                <a:solidFill>
                  <a:schemeClr val="accent4">
                    <a:lumMod val="75000"/>
                  </a:schemeClr>
                </a:solidFill>
                <a:latin typeface="+mn-lt"/>
              </a:rPr>
              <a:t>* explored in HW2</a:t>
            </a:r>
          </a:p>
        </p:txBody>
      </p:sp>
    </p:spTree>
    <p:extLst>
      <p:ext uri="{BB962C8B-B14F-4D97-AF65-F5344CB8AC3E}">
        <p14:creationId xmlns:p14="http://schemas.microsoft.com/office/powerpoint/2010/main" val="539959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4ED4F-771C-AB70-58F9-7BCBC389D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A4B6E-4A67-7B82-C8D4-54D941877401}"/>
              </a:ext>
            </a:extLst>
          </p:cNvPr>
          <p:cNvSpPr>
            <a:spLocks noGrp="1"/>
          </p:cNvSpPr>
          <p:nvPr>
            <p:ph type="title"/>
          </p:nvPr>
        </p:nvSpPr>
        <p:spPr/>
        <p:txBody>
          <a:bodyPr>
            <a:normAutofit/>
          </a:bodyPr>
          <a:lstStyle/>
          <a:p>
            <a:r>
              <a:rPr lang="en-US" dirty="0"/>
              <a:t>Environment</a:t>
            </a:r>
          </a:p>
        </p:txBody>
      </p:sp>
      <p:sp>
        <p:nvSpPr>
          <p:cNvPr id="5" name="TextBox 4">
            <a:extLst>
              <a:ext uri="{FF2B5EF4-FFF2-40B4-BE49-F238E27FC236}">
                <a16:creationId xmlns:a16="http://schemas.microsoft.com/office/drawing/2014/main" id="{F40A06B9-1B06-C15F-F678-250FCAE30FFA}"/>
              </a:ext>
            </a:extLst>
          </p:cNvPr>
          <p:cNvSpPr txBox="1"/>
          <p:nvPr/>
        </p:nvSpPr>
        <p:spPr>
          <a:xfrm>
            <a:off x="121272" y="630050"/>
            <a:ext cx="6591649" cy="830997"/>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The environment can change state, exhaust resources, or interrupt execution independently of the run. Reliable agents therefore require verified outcomes, bounded resource use, explicit failure handling, and recoverable execution. Unit 4 addresses these obligations through deployment, recovery, and observability.</a:t>
            </a:r>
          </a:p>
        </p:txBody>
      </p:sp>
      <p:graphicFrame>
        <p:nvGraphicFramePr>
          <p:cNvPr id="3" name="Table 2">
            <a:extLst>
              <a:ext uri="{FF2B5EF4-FFF2-40B4-BE49-F238E27FC236}">
                <a16:creationId xmlns:a16="http://schemas.microsoft.com/office/drawing/2014/main" id="{27ED65BA-D108-6286-A8B1-F8C4D383E11B}"/>
              </a:ext>
            </a:extLst>
          </p:cNvPr>
          <p:cNvGraphicFramePr>
            <a:graphicFrameLocks noGrp="1"/>
          </p:cNvGraphicFramePr>
          <p:nvPr>
            <p:extLst>
              <p:ext uri="{D42A27DB-BD31-4B8C-83A1-F6EECF244321}">
                <p14:modId xmlns:p14="http://schemas.microsoft.com/office/powerpoint/2010/main" val="2857951967"/>
              </p:ext>
            </p:extLst>
          </p:nvPr>
        </p:nvGraphicFramePr>
        <p:xfrm>
          <a:off x="121272" y="1703212"/>
          <a:ext cx="6580470" cy="2910087"/>
        </p:xfrm>
        <a:graphic>
          <a:graphicData uri="http://schemas.openxmlformats.org/drawingml/2006/table">
            <a:tbl>
              <a:tblPr>
                <a:tableStyleId>{2D5ABB26-0587-4C30-8999-92F81FD0307C}</a:tableStyleId>
              </a:tblPr>
              <a:tblGrid>
                <a:gridCol w="1641040">
                  <a:extLst>
                    <a:ext uri="{9D8B030D-6E8A-4147-A177-3AD203B41FA5}">
                      <a16:colId xmlns:a16="http://schemas.microsoft.com/office/drawing/2014/main" val="826204326"/>
                    </a:ext>
                  </a:extLst>
                </a:gridCol>
                <a:gridCol w="4939430">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Property</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Required guarantee</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Outcome verification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Ground outcome claims in authoritative observations and account for stale reads or concurrent changes.</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Resource control</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Bound consumption; apply backpressure, deferral, or rejection when capacity is exhausted.</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Effect safety</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Account for effects that may already have committed; use idempotency or reconciliation to prevent unintended duplication.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513011">
                <a:tc>
                  <a:txBody>
                    <a:bodyPr/>
                    <a:lstStyle/>
                    <a:p>
                      <a:pPr algn="l">
                        <a:buNone/>
                      </a:pPr>
                      <a:r>
                        <a:rPr lang="en-US" sz="1050" b="1" i="0" u="none" strike="noStrike" cap="none" spc="0" dirty="0">
                          <a:solidFill>
                            <a:schemeClr val="tx1"/>
                          </a:solidFill>
                          <a:effectLst/>
                          <a:latin typeface="+mn-lt"/>
                          <a:ea typeface="+mn-ea"/>
                          <a:cs typeface="+mn-cs"/>
                          <a:sym typeface="Arial"/>
                        </a:rPr>
                        <a:t>Failure handling</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Enforce explicit deadlines, distinguish retryable failures from refusals, and treat timeouts as uncertain outcomes.</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Crash recovery</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Detect interrupted runs and recover accepted work from durable state, reconciling incomplete operations.</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
        <p:nvSpPr>
          <p:cNvPr id="4" name="TextBox 3">
            <a:extLst>
              <a:ext uri="{FF2B5EF4-FFF2-40B4-BE49-F238E27FC236}">
                <a16:creationId xmlns:a16="http://schemas.microsoft.com/office/drawing/2014/main" id="{C1D8A80A-7A01-0B9A-96F3-232BA741CC93}"/>
              </a:ext>
            </a:extLst>
          </p:cNvPr>
          <p:cNvSpPr txBox="1"/>
          <p:nvPr/>
        </p:nvSpPr>
        <p:spPr>
          <a:xfrm>
            <a:off x="5463251" y="4613299"/>
            <a:ext cx="1313180" cy="261610"/>
          </a:xfrm>
          <a:prstGeom prst="rect">
            <a:avLst/>
          </a:prstGeom>
          <a:noFill/>
        </p:spPr>
        <p:txBody>
          <a:bodyPr wrap="none" rtlCol="0">
            <a:spAutoFit/>
          </a:bodyPr>
          <a:lstStyle/>
          <a:p>
            <a:pPr algn="l"/>
            <a:r>
              <a:rPr lang="en-US" sz="1100" i="1" dirty="0">
                <a:solidFill>
                  <a:schemeClr val="accent4">
                    <a:lumMod val="75000"/>
                  </a:schemeClr>
                </a:solidFill>
                <a:latin typeface="+mn-lt"/>
              </a:rPr>
              <a:t>* explored in HW3</a:t>
            </a:r>
          </a:p>
        </p:txBody>
      </p:sp>
    </p:spTree>
    <p:extLst>
      <p:ext uri="{BB962C8B-B14F-4D97-AF65-F5344CB8AC3E}">
        <p14:creationId xmlns:p14="http://schemas.microsoft.com/office/powerpoint/2010/main" val="2998483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7A3F4-65D5-8496-2C3B-9120AE742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38648-C6FF-1FC1-1C97-6C76AD3A263C}"/>
              </a:ext>
            </a:extLst>
          </p:cNvPr>
          <p:cNvSpPr>
            <a:spLocks noGrp="1"/>
          </p:cNvSpPr>
          <p:nvPr>
            <p:ph type="title"/>
          </p:nvPr>
        </p:nvSpPr>
        <p:spPr/>
        <p:txBody>
          <a:bodyPr>
            <a:normAutofit/>
          </a:bodyPr>
          <a:lstStyle/>
          <a:p>
            <a:r>
              <a:rPr lang="en-US" dirty="0"/>
              <a:t>A summary of Roles and Guarantees</a:t>
            </a:r>
          </a:p>
        </p:txBody>
      </p:sp>
      <p:sp>
        <p:nvSpPr>
          <p:cNvPr id="5" name="TextBox 4">
            <a:extLst>
              <a:ext uri="{FF2B5EF4-FFF2-40B4-BE49-F238E27FC236}">
                <a16:creationId xmlns:a16="http://schemas.microsoft.com/office/drawing/2014/main" id="{4AEA0B31-7982-F250-A7B0-3CE720F050CF}"/>
              </a:ext>
            </a:extLst>
          </p:cNvPr>
          <p:cNvSpPr txBox="1"/>
          <p:nvPr/>
        </p:nvSpPr>
        <p:spPr>
          <a:xfrm>
            <a:off x="121272" y="630050"/>
            <a:ext cx="6591649" cy="461665"/>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Six core guarantees are required of a production agentic system, and none resides within a single component.</a:t>
            </a:r>
          </a:p>
        </p:txBody>
      </p:sp>
      <p:graphicFrame>
        <p:nvGraphicFramePr>
          <p:cNvPr id="3" name="Table 2">
            <a:extLst>
              <a:ext uri="{FF2B5EF4-FFF2-40B4-BE49-F238E27FC236}">
                <a16:creationId xmlns:a16="http://schemas.microsoft.com/office/drawing/2014/main" id="{2B955A1B-D3E5-E848-8A41-1EC474B7720F}"/>
              </a:ext>
            </a:extLst>
          </p:cNvPr>
          <p:cNvGraphicFramePr>
            <a:graphicFrameLocks noGrp="1"/>
          </p:cNvGraphicFramePr>
          <p:nvPr>
            <p:extLst>
              <p:ext uri="{D42A27DB-BD31-4B8C-83A1-F6EECF244321}">
                <p14:modId xmlns:p14="http://schemas.microsoft.com/office/powerpoint/2010/main" val="26445191"/>
              </p:ext>
            </p:extLst>
          </p:nvPr>
        </p:nvGraphicFramePr>
        <p:xfrm>
          <a:off x="121272" y="1273222"/>
          <a:ext cx="6580469" cy="3498670"/>
        </p:xfrm>
        <a:graphic>
          <a:graphicData uri="http://schemas.openxmlformats.org/drawingml/2006/table">
            <a:tbl>
              <a:tblPr>
                <a:tableStyleId>{2D5ABB26-0587-4C30-8999-92F81FD0307C}</a:tableStyleId>
              </a:tblPr>
              <a:tblGrid>
                <a:gridCol w="989898">
                  <a:extLst>
                    <a:ext uri="{9D8B030D-6E8A-4147-A177-3AD203B41FA5}">
                      <a16:colId xmlns:a16="http://schemas.microsoft.com/office/drawing/2014/main" val="826204326"/>
                    </a:ext>
                  </a:extLst>
                </a:gridCol>
                <a:gridCol w="2769039">
                  <a:extLst>
                    <a:ext uri="{9D8B030D-6E8A-4147-A177-3AD203B41FA5}">
                      <a16:colId xmlns:a16="http://schemas.microsoft.com/office/drawing/2014/main" val="2935441205"/>
                    </a:ext>
                  </a:extLst>
                </a:gridCol>
                <a:gridCol w="2821532">
                  <a:extLst>
                    <a:ext uri="{9D8B030D-6E8A-4147-A177-3AD203B41FA5}">
                      <a16:colId xmlns:a16="http://schemas.microsoft.com/office/drawing/2014/main" val="1065848616"/>
                    </a:ext>
                  </a:extLst>
                </a:gridCol>
              </a:tblGrid>
              <a:tr h="316414">
                <a:tc>
                  <a:txBody>
                    <a:bodyPr/>
                    <a:lstStyle/>
                    <a:p>
                      <a:pPr algn="l">
                        <a:buNone/>
                      </a:pPr>
                      <a:r>
                        <a:rPr lang="en-US" sz="1050" b="1" dirty="0">
                          <a:effectLst/>
                        </a:rPr>
                        <a:t>Component</a:t>
                      </a:r>
                      <a:endParaRPr lang="en-US" sz="105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dirty="0">
                          <a:solidFill>
                            <a:srgbClr val="000000"/>
                          </a:solidFill>
                          <a:effectLst/>
                          <a:latin typeface="Fira Sans" panose="020B0503050000020004" pitchFamily="34" charset="0"/>
                        </a:rPr>
                        <a:t>Guarantees it </a:t>
                      </a:r>
                      <a:r>
                        <a:rPr lang="en-US" sz="1050" b="1" dirty="0">
                          <a:effectLst/>
                        </a:rPr>
                        <a:t>owns</a:t>
                      </a:r>
                      <a:endParaRPr lang="en-US" sz="105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dirty="0">
                          <a:solidFill>
                            <a:srgbClr val="000000"/>
                          </a:solidFill>
                          <a:effectLst/>
                          <a:latin typeface="Fira Sans" panose="020B0503050000020004" pitchFamily="34" charset="0"/>
                        </a:rPr>
                        <a:t>Guarantees it doesn’t own</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Model</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dirty="0"/>
                        <a:t>None. </a:t>
                      </a:r>
                      <a:r>
                        <a:rPr lang="en-US" sz="1050" dirty="0"/>
                        <a:t>The model proposes, and a proposal is not a guarantee</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dirty="0">
                          <a:solidFill>
                            <a:srgbClr val="000000"/>
                          </a:solidFill>
                          <a:effectLst/>
                          <a:latin typeface="Fira Sans" panose="020B0503050000020004" pitchFamily="34" charset="0"/>
                        </a:rPr>
                        <a:t>All six. </a:t>
                      </a:r>
                      <a:r>
                        <a:rPr lang="en-US" sz="1050" b="0" i="0" dirty="0">
                          <a:solidFill>
                            <a:srgbClr val="000000"/>
                          </a:solidFill>
                          <a:effectLst/>
                          <a:latin typeface="Fira Sans" panose="020B0503050000020004" pitchFamily="34" charset="0"/>
                        </a:rPr>
                        <a:t>Permission, durability and execution are held by other components.</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Controller</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Bounded execution</a:t>
                      </a:r>
                      <a:r>
                        <a:rPr lang="en-US" sz="1050" b="0" i="0" u="none" strike="noStrike" cap="none" spc="0" dirty="0">
                          <a:solidFill>
                            <a:schemeClr val="tx1"/>
                          </a:solidFill>
                          <a:effectLst/>
                          <a:latin typeface="+mn-lt"/>
                          <a:ea typeface="+mn-ea"/>
                          <a:cs typeface="+mn-cs"/>
                          <a:sym typeface="Arial"/>
                        </a:rPr>
                        <a:t> (will this run stop, and at what cost?) • </a:t>
                      </a:r>
                      <a:r>
                        <a:rPr lang="en-US" sz="1050" b="1" i="0" u="none" strike="noStrike" cap="none" spc="0" dirty="0">
                          <a:solidFill>
                            <a:schemeClr val="tx1"/>
                          </a:solidFill>
                          <a:effectLst/>
                          <a:latin typeface="+mn-lt"/>
                          <a:ea typeface="+mn-ea"/>
                          <a:cs typeface="+mn-cs"/>
                          <a:sym typeface="Arial"/>
                        </a:rPr>
                        <a:t>Recovery </a:t>
                      </a:r>
                      <a:r>
                        <a:rPr lang="en-US" sz="1050" b="0" i="0" u="none" strike="noStrike" cap="none" spc="0" dirty="0">
                          <a:solidFill>
                            <a:schemeClr val="tx1"/>
                          </a:solidFill>
                          <a:effectLst/>
                          <a:latin typeface="+mn-lt"/>
                          <a:ea typeface="+mn-ea"/>
                          <a:cs typeface="+mn-cs"/>
                          <a:sym typeface="Arial"/>
                        </a:rPr>
                        <a:t>(can accepted work be resumed rather than restarted?)</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Fira Sans" panose="020B0503050000020004" pitchFamily="34" charset="0"/>
                        </a:rPr>
                        <a:t>External facts, the tool boundary's security, and the trace itself. </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Tools</a:t>
                      </a:r>
                      <a:endParaRPr lang="en-US" sz="105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Partial failure</a:t>
                      </a:r>
                      <a:r>
                        <a:rPr lang="en-US" sz="1050" b="0" i="0" u="none" strike="noStrike" cap="none" spc="0" dirty="0">
                          <a:solidFill>
                            <a:schemeClr val="tx1"/>
                          </a:solidFill>
                          <a:effectLst/>
                          <a:latin typeface="+mn-lt"/>
                          <a:ea typeface="+mn-ea"/>
                          <a:cs typeface="+mn-cs"/>
                          <a:sym typeface="Arial"/>
                        </a:rPr>
                        <a:t> (what happened when the call half-succeeded?) • </a:t>
                      </a:r>
                      <a:r>
                        <a:rPr lang="en-US" sz="1050" b="1" i="0" u="none" strike="noStrike" cap="none" spc="0" dirty="0">
                          <a:solidFill>
                            <a:schemeClr val="tx1"/>
                          </a:solidFill>
                          <a:effectLst/>
                          <a:latin typeface="+mn-lt"/>
                          <a:ea typeface="+mn-ea"/>
                          <a:cs typeface="+mn-cs"/>
                          <a:sym typeface="Arial"/>
                        </a:rPr>
                        <a:t>Security and permissions </a:t>
                      </a:r>
                      <a:r>
                        <a:rPr lang="en-US" sz="1050" b="0" i="0" u="none" strike="noStrike" cap="none" spc="0" dirty="0">
                          <a:solidFill>
                            <a:schemeClr val="tx1"/>
                          </a:solidFill>
                          <a:effectLst/>
                          <a:latin typeface="+mn-lt"/>
                          <a:ea typeface="+mn-ea"/>
                          <a:cs typeface="+mn-cs"/>
                          <a:sym typeface="Arial"/>
                        </a:rPr>
                        <a:t>(what may this run do, and to what may it not?)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Fira Sans" panose="020B0503050000020004" pitchFamily="34" charset="0"/>
                        </a:rPr>
                        <a:t>Goals, global policy, and whether the call should be issued at all. </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State</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Observability</a:t>
                      </a:r>
                      <a:r>
                        <a:rPr lang="en-US" sz="1050" b="0" i="0" u="none" strike="noStrike" cap="none" spc="0" dirty="0">
                          <a:solidFill>
                            <a:schemeClr val="tx1"/>
                          </a:solidFill>
                          <a:effectLst/>
                          <a:latin typeface="+mn-lt"/>
                          <a:ea typeface="+mn-ea"/>
                          <a:cs typeface="+mn-cs"/>
                          <a:sym typeface="Arial"/>
                        </a:rPr>
                        <a:t> (what is this run doing, observed from outside it?) • </a:t>
                      </a:r>
                      <a:r>
                        <a:rPr lang="en-US" sz="1050" b="1" i="0" u="none" strike="noStrike" cap="none" spc="0" dirty="0">
                          <a:solidFill>
                            <a:schemeClr val="tx1"/>
                          </a:solidFill>
                          <a:effectLst/>
                          <a:latin typeface="+mn-lt"/>
                          <a:ea typeface="+mn-ea"/>
                          <a:cs typeface="+mn-cs"/>
                          <a:sym typeface="Arial"/>
                        </a:rPr>
                        <a:t>Reproducibility </a:t>
                      </a:r>
                      <a:r>
                        <a:rPr lang="en-US" sz="1050" b="0" i="0" u="none" strike="noStrike" cap="none" spc="0" dirty="0">
                          <a:solidFill>
                            <a:schemeClr val="tx1"/>
                          </a:solidFill>
                          <a:effectLst/>
                          <a:latin typeface="+mn-lt"/>
                          <a:ea typeface="+mn-ea"/>
                          <a:cs typeface="+mn-cs"/>
                          <a:sym typeface="Arial"/>
                        </a:rPr>
                        <a:t>(could a third party obtain a compatible result?)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Fira Sans" panose="020B0503050000020004" pitchFamily="34" charset="0"/>
                        </a:rPr>
                        <a:t>Decision-making. State records what happened and never selects what happens next</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Environment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None.</a:t>
                      </a:r>
                      <a:r>
                        <a:rPr lang="en-US" sz="1050" b="0" i="0" u="none" strike="noStrike" cap="none" spc="0" dirty="0">
                          <a:solidFill>
                            <a:schemeClr val="tx1"/>
                          </a:solidFill>
                          <a:effectLst/>
                          <a:latin typeface="+mn-lt"/>
                          <a:ea typeface="+mn-ea"/>
                          <a:cs typeface="+mn-cs"/>
                          <a:sym typeface="Arial"/>
                        </a:rPr>
                        <a:t> The environment is what the guarantees are held against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050" b="0" i="0" dirty="0">
                          <a:solidFill>
                            <a:srgbClr val="000000"/>
                          </a:solidFill>
                          <a:effectLst/>
                          <a:latin typeface="Fira Sans" panose="020B0503050000020004" pitchFamily="34" charset="0"/>
                        </a:rPr>
                        <a:t>-</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Tree>
    <p:extLst>
      <p:ext uri="{BB962C8B-B14F-4D97-AF65-F5344CB8AC3E}">
        <p14:creationId xmlns:p14="http://schemas.microsoft.com/office/powerpoint/2010/main" val="1596823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CF385-4331-2864-08FA-EAAAF7AEF3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7153EB-CB0B-36C0-032A-4FB872EA769B}"/>
              </a:ext>
            </a:extLst>
          </p:cNvPr>
          <p:cNvSpPr txBox="1"/>
          <p:nvPr/>
        </p:nvSpPr>
        <p:spPr>
          <a:xfrm>
            <a:off x="719302" y="1910030"/>
            <a:ext cx="5419396" cy="1323439"/>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Assignments and what you will build</a:t>
            </a:r>
          </a:p>
        </p:txBody>
      </p:sp>
    </p:spTree>
    <p:extLst>
      <p:ext uri="{BB962C8B-B14F-4D97-AF65-F5344CB8AC3E}">
        <p14:creationId xmlns:p14="http://schemas.microsoft.com/office/powerpoint/2010/main" val="34742737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6DFD-18EF-0051-FD03-14D19614E3C1}"/>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3EBAAED3-709B-D562-7761-477A32999403}"/>
              </a:ext>
            </a:extLst>
          </p:cNvPr>
          <p:cNvSpPr>
            <a:spLocks noGrp="1"/>
          </p:cNvSpPr>
          <p:nvPr>
            <p:ph idx="1"/>
          </p:nvPr>
        </p:nvSpPr>
        <p:spPr>
          <a:xfrm>
            <a:off x="196250" y="726503"/>
            <a:ext cx="6451478" cy="1368515"/>
          </a:xfrm>
          <a:ln w="19050">
            <a:solidFill>
              <a:srgbClr val="2A2A63"/>
            </a:solidFill>
          </a:ln>
        </p:spPr>
        <p:txBody>
          <a:bodyPr>
            <a:normAutofit/>
          </a:bodyPr>
          <a:lstStyle/>
          <a:p>
            <a:pPr marL="125747" indent="0">
              <a:lnSpc>
                <a:spcPct val="160000"/>
              </a:lnSpc>
              <a:buNone/>
            </a:pPr>
            <a:r>
              <a:rPr lang="en-US" sz="1200" dirty="0"/>
              <a:t>Develop an agentic system that </a:t>
            </a:r>
            <a:r>
              <a:rPr lang="en-US" sz="1200" b="1" dirty="0"/>
              <a:t>analyzes a reference application, identifies potential vulnerabilities, and produces a prioritized set of evidence-backed findings for human review</a:t>
            </a:r>
            <a:r>
              <a:rPr lang="en-US" sz="1200" dirty="0"/>
              <a:t>. The application is pinned to a specific repository commit, and a course-provided catalogue of known vulnerabilities establishes the ground truth for evaluation.</a:t>
            </a:r>
          </a:p>
        </p:txBody>
      </p:sp>
      <p:sp>
        <p:nvSpPr>
          <p:cNvPr id="4" name="TextBox 3">
            <a:extLst>
              <a:ext uri="{FF2B5EF4-FFF2-40B4-BE49-F238E27FC236}">
                <a16:creationId xmlns:a16="http://schemas.microsoft.com/office/drawing/2014/main" id="{F7C20053-6AAB-005D-32D8-7EE95366511C}"/>
              </a:ext>
            </a:extLst>
          </p:cNvPr>
          <p:cNvSpPr txBox="1"/>
          <p:nvPr/>
        </p:nvSpPr>
        <p:spPr>
          <a:xfrm>
            <a:off x="219919" y="2229475"/>
            <a:ext cx="6427809" cy="2187522"/>
          </a:xfrm>
          <a:prstGeom prst="rect">
            <a:avLst/>
          </a:prstGeom>
          <a:noFill/>
        </p:spPr>
        <p:txBody>
          <a:bodyPr wrap="square" rtlCol="0">
            <a:spAutoFit/>
          </a:bodyPr>
          <a:lstStyle/>
          <a:p>
            <a:pPr algn="l">
              <a:lnSpc>
                <a:spcPct val="150000"/>
              </a:lnSpc>
            </a:pPr>
            <a:r>
              <a:rPr lang="en-US" sz="1200" dirty="0">
                <a:latin typeface="+mn-lt"/>
              </a:rPr>
              <a:t>The system must perform three functions: </a:t>
            </a:r>
            <a:br>
              <a:rPr lang="en-US" sz="1200" dirty="0">
                <a:latin typeface="+mn-lt"/>
              </a:rPr>
            </a:br>
            <a:r>
              <a:rPr lang="en-US" sz="1200" dirty="0">
                <a:latin typeface="+mn-lt"/>
              </a:rPr>
              <a:t>1. </a:t>
            </a:r>
            <a:r>
              <a:rPr lang="en-US" sz="1200" b="1" dirty="0">
                <a:latin typeface="+mn-lt"/>
              </a:rPr>
              <a:t>Discover</a:t>
            </a:r>
            <a:r>
              <a:rPr lang="en-US" sz="1200" dirty="0">
                <a:latin typeface="+mn-lt"/>
              </a:rPr>
              <a:t> candidate vulnerabilities, </a:t>
            </a:r>
            <a:br>
              <a:rPr lang="en-US" sz="1200" dirty="0">
                <a:latin typeface="+mn-lt"/>
              </a:rPr>
            </a:br>
            <a:r>
              <a:rPr lang="en-US" sz="1200" dirty="0">
                <a:latin typeface="+mn-lt"/>
              </a:rPr>
              <a:t>2. </a:t>
            </a:r>
            <a:r>
              <a:rPr lang="en-US" sz="1200" b="1" dirty="0">
                <a:latin typeface="+mn-lt"/>
              </a:rPr>
              <a:t>Triage</a:t>
            </a:r>
            <a:r>
              <a:rPr lang="en-US" sz="1200" dirty="0">
                <a:latin typeface="+mn-lt"/>
              </a:rPr>
              <a:t> candidates to reduce unnecessary human review, and </a:t>
            </a:r>
          </a:p>
          <a:p>
            <a:pPr algn="l">
              <a:lnSpc>
                <a:spcPct val="150000"/>
              </a:lnSpc>
            </a:pPr>
            <a:r>
              <a:rPr lang="en-US" sz="1200" dirty="0">
                <a:latin typeface="+mn-lt"/>
              </a:rPr>
              <a:t>3. </a:t>
            </a:r>
            <a:r>
              <a:rPr lang="en-US" sz="1200" b="1" dirty="0">
                <a:latin typeface="+mn-lt"/>
              </a:rPr>
              <a:t>Validate</a:t>
            </a:r>
            <a:r>
              <a:rPr lang="en-US" sz="1200" dirty="0">
                <a:latin typeface="+mn-lt"/>
              </a:rPr>
              <a:t> retained candidates against inspectable evidence. </a:t>
            </a:r>
          </a:p>
          <a:p>
            <a:pPr algn="l"/>
            <a:endParaRPr lang="en-US" sz="1200" dirty="0">
              <a:latin typeface="+mn-lt"/>
            </a:endParaRPr>
          </a:p>
          <a:p>
            <a:pPr algn="l">
              <a:lnSpc>
                <a:spcPct val="150000"/>
              </a:lnSpc>
            </a:pPr>
            <a:r>
              <a:rPr lang="en-US" sz="1200" dirty="0">
                <a:latin typeface="+mn-lt"/>
              </a:rPr>
              <a:t>Each verdict must </a:t>
            </a:r>
            <a:r>
              <a:rPr lang="en-US" sz="1200" b="1" dirty="0">
                <a:latin typeface="+mn-lt"/>
              </a:rPr>
              <a:t>identify the relevant source locations, explain what was established, and reference artifacts that a reviewer can open independently </a:t>
            </a:r>
            <a:r>
              <a:rPr lang="en-US" sz="1200" dirty="0">
                <a:latin typeface="+mn-lt"/>
              </a:rPr>
              <a:t>of the agent’s conversation.</a:t>
            </a:r>
          </a:p>
        </p:txBody>
      </p:sp>
    </p:spTree>
    <p:extLst>
      <p:ext uri="{BB962C8B-B14F-4D97-AF65-F5344CB8AC3E}">
        <p14:creationId xmlns:p14="http://schemas.microsoft.com/office/powerpoint/2010/main" val="22574592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1C51-18CC-9519-B131-F75C35301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FB4F8-21C4-F60D-F76F-E3DBEE1CA88C}"/>
              </a:ext>
            </a:extLst>
          </p:cNvPr>
          <p:cNvSpPr>
            <a:spLocks noGrp="1"/>
          </p:cNvSpPr>
          <p:nvPr>
            <p:ph type="title"/>
          </p:nvPr>
        </p:nvSpPr>
        <p:spPr/>
        <p:txBody>
          <a:bodyPr/>
          <a:lstStyle/>
          <a:p>
            <a:r>
              <a:rPr lang="en-US" dirty="0"/>
              <a:t>Cumulative assignments over the same system</a:t>
            </a:r>
          </a:p>
        </p:txBody>
      </p:sp>
      <p:sp>
        <p:nvSpPr>
          <p:cNvPr id="3" name="Content Placeholder 2">
            <a:extLst>
              <a:ext uri="{FF2B5EF4-FFF2-40B4-BE49-F238E27FC236}">
                <a16:creationId xmlns:a16="http://schemas.microsoft.com/office/drawing/2014/main" id="{4FD1E419-857B-B338-9074-4606A58CC1DD}"/>
              </a:ext>
            </a:extLst>
          </p:cNvPr>
          <p:cNvSpPr>
            <a:spLocks noGrp="1"/>
          </p:cNvSpPr>
          <p:nvPr>
            <p:ph idx="1"/>
          </p:nvPr>
        </p:nvSpPr>
        <p:spPr>
          <a:xfrm>
            <a:off x="196250" y="726504"/>
            <a:ext cx="6451478" cy="610800"/>
          </a:xfrm>
          <a:ln w="19050">
            <a:solidFill>
              <a:srgbClr val="2A2A63"/>
            </a:solidFill>
          </a:ln>
        </p:spPr>
        <p:txBody>
          <a:bodyPr>
            <a:normAutofit lnSpcReduction="10000"/>
          </a:bodyPr>
          <a:lstStyle/>
          <a:p>
            <a:pPr marL="125747" indent="0">
              <a:buNone/>
            </a:pPr>
            <a:r>
              <a:rPr lang="en-US" sz="1200" dirty="0"/>
              <a:t>Each assignment introduces a new engineering focus while preserving the mechanisms established in earlier assignments.</a:t>
            </a:r>
          </a:p>
        </p:txBody>
      </p:sp>
      <p:graphicFrame>
        <p:nvGraphicFramePr>
          <p:cNvPr id="5" name="Table 4">
            <a:extLst>
              <a:ext uri="{FF2B5EF4-FFF2-40B4-BE49-F238E27FC236}">
                <a16:creationId xmlns:a16="http://schemas.microsoft.com/office/drawing/2014/main" id="{2223B656-7B2A-2505-4804-57ABF8408DD0}"/>
              </a:ext>
            </a:extLst>
          </p:cNvPr>
          <p:cNvGraphicFramePr>
            <a:graphicFrameLocks noGrp="1"/>
          </p:cNvGraphicFramePr>
          <p:nvPr>
            <p:extLst>
              <p:ext uri="{D42A27DB-BD31-4B8C-83A1-F6EECF244321}">
                <p14:modId xmlns:p14="http://schemas.microsoft.com/office/powerpoint/2010/main" val="3718069647"/>
              </p:ext>
            </p:extLst>
          </p:nvPr>
        </p:nvGraphicFramePr>
        <p:xfrm>
          <a:off x="223056" y="1729643"/>
          <a:ext cx="6397863" cy="2781768"/>
        </p:xfrm>
        <a:graphic>
          <a:graphicData uri="http://schemas.openxmlformats.org/drawingml/2006/table">
            <a:tbl>
              <a:tblPr>
                <a:tableStyleId>{5C22544A-7EE6-4342-B048-85BDC9FD1C3A}</a:tableStyleId>
              </a:tblPr>
              <a:tblGrid>
                <a:gridCol w="1401389">
                  <a:extLst>
                    <a:ext uri="{9D8B030D-6E8A-4147-A177-3AD203B41FA5}">
                      <a16:colId xmlns:a16="http://schemas.microsoft.com/office/drawing/2014/main" val="3587578918"/>
                    </a:ext>
                  </a:extLst>
                </a:gridCol>
                <a:gridCol w="1778512">
                  <a:extLst>
                    <a:ext uri="{9D8B030D-6E8A-4147-A177-3AD203B41FA5}">
                      <a16:colId xmlns:a16="http://schemas.microsoft.com/office/drawing/2014/main" val="1386022107"/>
                    </a:ext>
                  </a:extLst>
                </a:gridCol>
                <a:gridCol w="3217962">
                  <a:extLst>
                    <a:ext uri="{9D8B030D-6E8A-4147-A177-3AD203B41FA5}">
                      <a16:colId xmlns:a16="http://schemas.microsoft.com/office/drawing/2014/main" val="84627958"/>
                    </a:ext>
                  </a:extLst>
                </a:gridCol>
              </a:tblGrid>
              <a:tr h="236064">
                <a:tc>
                  <a:txBody>
                    <a:bodyPr/>
                    <a:lstStyle/>
                    <a:p>
                      <a:pPr>
                        <a:buNone/>
                      </a:pPr>
                      <a:r>
                        <a:rPr lang="en-US" sz="1000" b="1" dirty="0"/>
                        <a:t>Assignment</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Engineering objective</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Required mechanisms</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7260472"/>
                  </a:ext>
                </a:extLst>
              </a:tr>
              <a:tr h="597860">
                <a:tc>
                  <a:txBody>
                    <a:bodyPr/>
                    <a:lstStyle/>
                    <a:p>
                      <a:pPr>
                        <a:buNone/>
                      </a:pPr>
                      <a:r>
                        <a:rPr lang="en-US" sz="1000" dirty="0"/>
                        <a:t>HW1 — Bounded execution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Establish a working agent whose execution is explicit and resource-bounded.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One sequential reactive agent</a:t>
                      </a:r>
                      <a:r>
                        <a:rPr lang="en-US" sz="1000" dirty="0"/>
                        <a:t>; local read and search tools; </a:t>
                      </a:r>
                      <a:r>
                        <a:rPr lang="en-US" sz="1000" b="1" dirty="0"/>
                        <a:t>explicit state transitions; structured findings and evidence</a:t>
                      </a:r>
                      <a:r>
                        <a:rPr lang="en-US" sz="1000" dirty="0"/>
                        <a:t>; and a configurable </a:t>
                      </a:r>
                      <a:r>
                        <a:rPr lang="en-US" sz="1000" b="1" dirty="0"/>
                        <a:t>per-run model-token budget enforced</a:t>
                      </a:r>
                      <a:r>
                        <a:rPr lang="en-US" sz="1000" dirty="0"/>
                        <a:t> before every invocation.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7543964"/>
                  </a:ext>
                </a:extLst>
              </a:tr>
              <a:tr h="641269">
                <a:tc>
                  <a:txBody>
                    <a:bodyPr/>
                    <a:lstStyle/>
                    <a:p>
                      <a:pPr>
                        <a:buNone/>
                      </a:pPr>
                      <a:r>
                        <a:rPr lang="en-US" sz="1000"/>
                        <a:t>HW2 — Tool interfaces and coordinated execution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Extend the agent with structured program-analysis tools (</a:t>
                      </a:r>
                      <a:r>
                        <a:rPr lang="en-US" sz="1000" dirty="0">
                          <a:hlinkClick r:id="rId2"/>
                        </a:rPr>
                        <a:t>CLDK</a:t>
                      </a:r>
                      <a:r>
                        <a:rPr lang="en-US" sz="1000" dirty="0"/>
                        <a:t>) and controlled workflow execution.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An </a:t>
                      </a:r>
                      <a:r>
                        <a:rPr lang="en-US" sz="1000" b="1" dirty="0"/>
                        <a:t>MCP server exposing read-only </a:t>
                      </a:r>
                      <a:r>
                        <a:rPr lang="en-US" sz="1000" b="1" dirty="0">
                          <a:hlinkClick r:id="rId2"/>
                        </a:rPr>
                        <a:t>CLDK</a:t>
                      </a:r>
                      <a:r>
                        <a:rPr lang="en-US" sz="1000" b="1" dirty="0"/>
                        <a:t> operations</a:t>
                      </a:r>
                      <a:r>
                        <a:rPr lang="en-US" sz="1000" dirty="0"/>
                        <a:t>; integration with the existing agent; a </a:t>
                      </a:r>
                      <a:r>
                        <a:rPr lang="en-US" sz="1000" b="1" dirty="0"/>
                        <a:t>staged workflow with conditional routing; and sequential and bounded-concurrent execution modes</a:t>
                      </a:r>
                      <a:r>
                        <a:rPr lang="en-US" sz="1000" dirty="0"/>
                        <a:t>.</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407107"/>
                  </a:ext>
                </a:extLst>
              </a:tr>
              <a:tr h="470522">
                <a:tc>
                  <a:txBody>
                    <a:bodyPr/>
                    <a:lstStyle/>
                    <a:p>
                      <a:pPr>
                        <a:buNone/>
                      </a:pPr>
                      <a:r>
                        <a:rPr lang="en-US" sz="1000"/>
                        <a:t>HW3 — Recoverable deployment</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dirty="0"/>
                        <a:t>Integrate context management, durable state, and recovery in a deployed prototype.</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b="1" dirty="0"/>
                        <a:t>Explore context-selection and compaction mechanism</a:t>
                      </a:r>
                      <a:r>
                        <a:rPr lang="en-US" sz="1000" dirty="0"/>
                        <a:t> that preserves artifact references and source identity; </a:t>
                      </a:r>
                      <a:r>
                        <a:rPr lang="en-US" sz="1000" b="1" dirty="0"/>
                        <a:t>persisted run, progress, and accounting state; one durably committed stage checkpoint</a:t>
                      </a:r>
                      <a:r>
                        <a:rPr lang="en-US" sz="1000" dirty="0"/>
                        <a:t>; and </a:t>
                      </a:r>
                      <a:r>
                        <a:rPr lang="en-US" sz="1000" b="1" dirty="0"/>
                        <a:t>deployment on a local KIND cluster</a:t>
                      </a:r>
                      <a:r>
                        <a:rPr lang="en-US" sz="1000" dirty="0"/>
                        <a:t>.</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9360537"/>
                  </a:ext>
                </a:extLst>
              </a:tr>
            </a:tbl>
          </a:graphicData>
        </a:graphic>
      </p:graphicFrame>
    </p:spTree>
    <p:extLst>
      <p:ext uri="{BB962C8B-B14F-4D97-AF65-F5344CB8AC3E}">
        <p14:creationId xmlns:p14="http://schemas.microsoft.com/office/powerpoint/2010/main" val="15189462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D6A4A-6F12-B819-49F7-B589B4413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39CBA-E090-712D-FAEB-46D82FC39ED2}"/>
              </a:ext>
            </a:extLst>
          </p:cNvPr>
          <p:cNvSpPr>
            <a:spLocks noGrp="1"/>
          </p:cNvSpPr>
          <p:nvPr>
            <p:ph type="title"/>
          </p:nvPr>
        </p:nvSpPr>
        <p:spPr/>
        <p:txBody>
          <a:bodyPr/>
          <a:lstStyle/>
          <a:p>
            <a:r>
              <a:rPr lang="en-US" dirty="0"/>
              <a:t>What the Course Provides</a:t>
            </a:r>
          </a:p>
        </p:txBody>
      </p:sp>
      <p:sp>
        <p:nvSpPr>
          <p:cNvPr id="3" name="Content Placeholder 2">
            <a:extLst>
              <a:ext uri="{FF2B5EF4-FFF2-40B4-BE49-F238E27FC236}">
                <a16:creationId xmlns:a16="http://schemas.microsoft.com/office/drawing/2014/main" id="{51CD0270-AEE4-AC3C-1126-B177CAE98A7B}"/>
              </a:ext>
            </a:extLst>
          </p:cNvPr>
          <p:cNvSpPr>
            <a:spLocks noGrp="1"/>
          </p:cNvSpPr>
          <p:nvPr>
            <p:ph idx="1"/>
          </p:nvPr>
        </p:nvSpPr>
        <p:spPr>
          <a:xfrm>
            <a:off x="196250" y="630049"/>
            <a:ext cx="6451478" cy="1099593"/>
          </a:xfrm>
          <a:ln w="19050">
            <a:solidFill>
              <a:srgbClr val="2A2A63"/>
            </a:solidFill>
          </a:ln>
        </p:spPr>
        <p:txBody>
          <a:bodyPr>
            <a:normAutofit/>
          </a:bodyPr>
          <a:lstStyle/>
          <a:p>
            <a:pPr marL="125747" indent="0">
              <a:buNone/>
            </a:pPr>
            <a:r>
              <a:rPr lang="en-US" sz="1200" dirty="0"/>
              <a:t>The course provides the application, analysis tools, model access, and experimental scaffolding needed to begin. Students are responsible for designing the agent architecture, integrating its components, and implementing and evaluating the required systems mechanisms.</a:t>
            </a:r>
          </a:p>
        </p:txBody>
      </p:sp>
      <p:graphicFrame>
        <p:nvGraphicFramePr>
          <p:cNvPr id="5" name="Table 4">
            <a:extLst>
              <a:ext uri="{FF2B5EF4-FFF2-40B4-BE49-F238E27FC236}">
                <a16:creationId xmlns:a16="http://schemas.microsoft.com/office/drawing/2014/main" id="{BCD6238F-6B63-DAC5-A1EF-4802A4F6EE0E}"/>
              </a:ext>
            </a:extLst>
          </p:cNvPr>
          <p:cNvGraphicFramePr>
            <a:graphicFrameLocks noGrp="1"/>
          </p:cNvGraphicFramePr>
          <p:nvPr>
            <p:extLst>
              <p:ext uri="{D42A27DB-BD31-4B8C-83A1-F6EECF244321}">
                <p14:modId xmlns:p14="http://schemas.microsoft.com/office/powerpoint/2010/main" val="1845825329"/>
              </p:ext>
            </p:extLst>
          </p:nvPr>
        </p:nvGraphicFramePr>
        <p:xfrm>
          <a:off x="321597" y="1976570"/>
          <a:ext cx="6200781" cy="2648652"/>
        </p:xfrm>
        <a:graphic>
          <a:graphicData uri="http://schemas.openxmlformats.org/drawingml/2006/table">
            <a:tbl>
              <a:tblPr>
                <a:tableStyleId>{5C22544A-7EE6-4342-B048-85BDC9FD1C3A}</a:tableStyleId>
              </a:tblPr>
              <a:tblGrid>
                <a:gridCol w="1401389">
                  <a:extLst>
                    <a:ext uri="{9D8B030D-6E8A-4147-A177-3AD203B41FA5}">
                      <a16:colId xmlns:a16="http://schemas.microsoft.com/office/drawing/2014/main" val="3587578918"/>
                    </a:ext>
                  </a:extLst>
                </a:gridCol>
                <a:gridCol w="4799392">
                  <a:extLst>
                    <a:ext uri="{9D8B030D-6E8A-4147-A177-3AD203B41FA5}">
                      <a16:colId xmlns:a16="http://schemas.microsoft.com/office/drawing/2014/main" val="1386022107"/>
                    </a:ext>
                  </a:extLst>
                </a:gridCol>
              </a:tblGrid>
              <a:tr h="236064">
                <a:tc>
                  <a:txBody>
                    <a:bodyPr/>
                    <a:lstStyle/>
                    <a:p>
                      <a:pPr>
                        <a:buNone/>
                      </a:pPr>
                      <a:r>
                        <a:rPr lang="en-US" sz="1000" b="1" dirty="0"/>
                        <a:t>Support</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What students receive</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7260472"/>
                  </a:ext>
                </a:extLst>
              </a:tr>
              <a:tr h="0">
                <a:tc>
                  <a:txBody>
                    <a:bodyPr/>
                    <a:lstStyle/>
                    <a:p>
                      <a:pPr>
                        <a:buNone/>
                      </a:pPr>
                      <a:r>
                        <a:rPr lang="en-US" sz="1000" dirty="0"/>
                        <a:t>Reference applications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 course-selected OWASP application in Python and Typescript, pinned to a specific commit, with setup instructions, test data, and a clearly defined testing scope.</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7543964"/>
                  </a:ext>
                </a:extLst>
              </a:tr>
              <a:tr h="0">
                <a:tc>
                  <a:txBody>
                    <a:bodyPr/>
                    <a:lstStyle/>
                    <a:p>
                      <a:pPr>
                        <a:buNone/>
                      </a:pPr>
                      <a:r>
                        <a:rPr lang="en-US" sz="1000" dirty="0"/>
                        <a:t>Code analysis tools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Access to CLDK, installation guidance, API documentation, and examples of the read-only analysis operations used in the project. Students only implement the required MCP interface and agent integration.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407107"/>
                  </a:ext>
                </a:extLst>
              </a:tr>
              <a:tr h="0">
                <a:tc>
                  <a:txBody>
                    <a:bodyPr/>
                    <a:lstStyle/>
                    <a:p>
                      <a:pPr>
                        <a:buNone/>
                      </a:pPr>
                      <a:r>
                        <a:rPr lang="en-US" sz="1000" dirty="0"/>
                        <a:t>Model API access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Course-provided model credentials.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9360537"/>
                  </a:ext>
                </a:extLst>
              </a:tr>
              <a:tr h="0">
                <a:tc>
                  <a:txBody>
                    <a:bodyPr/>
                    <a:lstStyle/>
                    <a:p>
                      <a:pPr>
                        <a:buNone/>
                      </a:pPr>
                      <a:r>
                        <a:rPr lang="en-US" sz="1000" dirty="0"/>
                        <a:t>Domain foundations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An introduction to the vulnerability classes, evidence requirements, and validation criteria needed for the assignments. Prior security expertise is not assumed.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6047103"/>
                  </a:ext>
                </a:extLst>
              </a:tr>
              <a:tr h="470522">
                <a:tc>
                  <a:txBody>
                    <a:bodyPr/>
                    <a:lstStyle/>
                    <a:p>
                      <a:pPr>
                        <a:buNone/>
                      </a:pPr>
                      <a:r>
                        <a:rPr lang="en-US" sz="1000" dirty="0"/>
                        <a:t>Design support and feedback</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dirty="0"/>
                        <a:t>Office hours for architectural brainstorming, trade-off discussions, experiment design, and debugging guidance. Published rubrics and submission checklists clarify the expected mechanisms, artifacts, and analysis.</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6767086"/>
                  </a:ext>
                </a:extLst>
              </a:tr>
            </a:tbl>
          </a:graphicData>
        </a:graphic>
      </p:graphicFrame>
    </p:spTree>
    <p:extLst>
      <p:ext uri="{BB962C8B-B14F-4D97-AF65-F5344CB8AC3E}">
        <p14:creationId xmlns:p14="http://schemas.microsoft.com/office/powerpoint/2010/main" val="31740032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2EC5C-5AD1-2C45-9A8D-BFD9738FC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5881B-01C8-9B39-947E-4DAC75F7F3DA}"/>
              </a:ext>
            </a:extLst>
          </p:cNvPr>
          <p:cNvSpPr>
            <a:spLocks noGrp="1"/>
          </p:cNvSpPr>
          <p:nvPr>
            <p:ph type="title"/>
          </p:nvPr>
        </p:nvSpPr>
        <p:spPr/>
        <p:txBody>
          <a:bodyPr/>
          <a:lstStyle/>
          <a:p>
            <a:r>
              <a:rPr lang="en-US" dirty="0"/>
              <a:t>Evaluation and grading</a:t>
            </a:r>
          </a:p>
        </p:txBody>
      </p:sp>
      <p:graphicFrame>
        <p:nvGraphicFramePr>
          <p:cNvPr id="5" name="Table 4">
            <a:extLst>
              <a:ext uri="{FF2B5EF4-FFF2-40B4-BE49-F238E27FC236}">
                <a16:creationId xmlns:a16="http://schemas.microsoft.com/office/drawing/2014/main" id="{3B57F229-0CAB-5349-0AB1-829455DAA413}"/>
              </a:ext>
            </a:extLst>
          </p:cNvPr>
          <p:cNvGraphicFramePr>
            <a:graphicFrameLocks noGrp="1"/>
          </p:cNvGraphicFramePr>
          <p:nvPr>
            <p:extLst>
              <p:ext uri="{D42A27DB-BD31-4B8C-83A1-F6EECF244321}">
                <p14:modId xmlns:p14="http://schemas.microsoft.com/office/powerpoint/2010/main" val="1298125256"/>
              </p:ext>
            </p:extLst>
          </p:nvPr>
        </p:nvGraphicFramePr>
        <p:xfrm>
          <a:off x="196250" y="1918697"/>
          <a:ext cx="6451477" cy="2410410"/>
        </p:xfrm>
        <a:graphic>
          <a:graphicData uri="http://schemas.openxmlformats.org/drawingml/2006/table">
            <a:tbl>
              <a:tblPr>
                <a:tableStyleId>{5C22544A-7EE6-4342-B048-85BDC9FD1C3A}</a:tableStyleId>
              </a:tblPr>
              <a:tblGrid>
                <a:gridCol w="1720679">
                  <a:extLst>
                    <a:ext uri="{9D8B030D-6E8A-4147-A177-3AD203B41FA5}">
                      <a16:colId xmlns:a16="http://schemas.microsoft.com/office/drawing/2014/main" val="3587578918"/>
                    </a:ext>
                  </a:extLst>
                </a:gridCol>
                <a:gridCol w="4730798">
                  <a:extLst>
                    <a:ext uri="{9D8B030D-6E8A-4147-A177-3AD203B41FA5}">
                      <a16:colId xmlns:a16="http://schemas.microsoft.com/office/drawing/2014/main" val="1386022107"/>
                    </a:ext>
                  </a:extLst>
                </a:gridCol>
              </a:tblGrid>
              <a:tr h="236064">
                <a:tc>
                  <a:txBody>
                    <a:bodyPr/>
                    <a:lstStyle/>
                    <a:p>
                      <a:pPr>
                        <a:buNone/>
                      </a:pPr>
                      <a:r>
                        <a:rPr lang="en-US" sz="1000" b="1" dirty="0"/>
                        <a:t>Assessment dimension</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What matters</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7260472"/>
                  </a:ext>
                </a:extLst>
              </a:tr>
              <a:tr h="0">
                <a:tc>
                  <a:txBody>
                    <a:bodyPr/>
                    <a:lstStyle/>
                    <a:p>
                      <a:pPr>
                        <a:buNone/>
                      </a:pPr>
                      <a:r>
                        <a:rPr lang="en-US" sz="1000" b="1" dirty="0"/>
                        <a:t>Implementation</a:t>
                      </a:r>
                      <a:r>
                        <a:rPr lang="en-US" sz="1000" dirty="0"/>
                        <a:t> </a:t>
                      </a:r>
                      <a:r>
                        <a:rPr lang="en-US" sz="1000" b="1" dirty="0"/>
                        <a:t>completeness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Deliver one integrated system containing the required mechanisms from all three assignments. Earlier capabilities remain integrated as new ones are introduced.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7543964"/>
                  </a:ext>
                </a:extLst>
              </a:tr>
              <a:tr h="0">
                <a:tc>
                  <a:txBody>
                    <a:bodyPr/>
                    <a:lstStyle/>
                    <a:p>
                      <a:pPr>
                        <a:buNone/>
                      </a:pPr>
                      <a:r>
                        <a:rPr lang="en-US" sz="1000" b="1" dirty="0"/>
                        <a:t>Architectural reasoning</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Explain the choices behind the agent loop, tool interfaces, workflow, context management, and persistence. Analyze their trade-offs rather than merely listing the components used.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407107"/>
                  </a:ext>
                </a:extLst>
              </a:tr>
              <a:tr h="0">
                <a:tc>
                  <a:txBody>
                    <a:bodyPr/>
                    <a:lstStyle/>
                    <a:p>
                      <a:pPr>
                        <a:buNone/>
                      </a:pPr>
                      <a:r>
                        <a:rPr lang="en-US" sz="1000" b="1" dirty="0"/>
                        <a:t>Experimental completeness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Conduct each prescribed runs, document the controlled conditions, retain the resulting artifacts, and compare the observed behavior.</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6047103"/>
                  </a:ext>
                </a:extLst>
              </a:tr>
              <a:tr h="470522">
                <a:tc>
                  <a:txBody>
                    <a:bodyPr/>
                    <a:lstStyle/>
                    <a:p>
                      <a:pPr>
                        <a:buNone/>
                      </a:pPr>
                      <a:r>
                        <a:rPr lang="en-US" sz="1000" b="1" dirty="0"/>
                        <a:t>Systems evaluation</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dirty="0"/>
                        <a:t>Investigate execution bounds, concurrency, context limits, resource accounting, observability, and recovery. Support claims with measurements and records, including cases where observed behavior differs from the intended design.</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6767086"/>
                  </a:ext>
                </a:extLst>
              </a:tr>
            </a:tbl>
          </a:graphicData>
        </a:graphic>
      </p:graphicFrame>
      <p:sp>
        <p:nvSpPr>
          <p:cNvPr id="3" name="Content Placeholder 2">
            <a:extLst>
              <a:ext uri="{FF2B5EF4-FFF2-40B4-BE49-F238E27FC236}">
                <a16:creationId xmlns:a16="http://schemas.microsoft.com/office/drawing/2014/main" id="{817A3FBF-5574-F666-CAD0-48D5BC733E0E}"/>
              </a:ext>
            </a:extLst>
          </p:cNvPr>
          <p:cNvSpPr>
            <a:spLocks noGrp="1"/>
          </p:cNvSpPr>
          <p:nvPr>
            <p:ph idx="1"/>
          </p:nvPr>
        </p:nvSpPr>
        <p:spPr>
          <a:xfrm>
            <a:off x="196250" y="630049"/>
            <a:ext cx="6451478" cy="1099593"/>
          </a:xfrm>
          <a:ln w="19050">
            <a:solidFill>
              <a:srgbClr val="2A2A63"/>
            </a:solidFill>
          </a:ln>
        </p:spPr>
        <p:txBody>
          <a:bodyPr>
            <a:normAutofit/>
          </a:bodyPr>
          <a:lstStyle/>
          <a:p>
            <a:pPr marL="125747" indent="0">
              <a:buNone/>
            </a:pPr>
            <a:r>
              <a:rPr lang="en-US" sz="1200" dirty="0"/>
              <a:t>Grades are based on the </a:t>
            </a:r>
            <a:r>
              <a:rPr lang="en-US" sz="1200" b="1" dirty="0"/>
              <a:t>completeness of the implementation</a:t>
            </a:r>
            <a:r>
              <a:rPr lang="en-US" sz="1200" dirty="0"/>
              <a:t>, experiments, and analysis and </a:t>
            </a:r>
            <a:r>
              <a:rPr lang="en-US" sz="1200" b="1" dirty="0"/>
              <a:t>not on the percentage of known vulnerabilities discovered</a:t>
            </a:r>
            <a:r>
              <a:rPr lang="en-US" sz="1200" dirty="0"/>
              <a:t>. The primary objective is to </a:t>
            </a:r>
            <a:r>
              <a:rPr lang="en-US" sz="1200" b="1" dirty="0"/>
              <a:t>build and experiment with agent architectures</a:t>
            </a:r>
            <a:r>
              <a:rPr lang="en-US" sz="1200" dirty="0"/>
              <a:t>, study </a:t>
            </a:r>
            <a:r>
              <a:rPr lang="en-US" sz="1200" b="1" dirty="0"/>
              <a:t>their systems properties, and evaluate their behavior</a:t>
            </a:r>
            <a:r>
              <a:rPr lang="en-US" sz="1200" dirty="0"/>
              <a:t> using reproducible evidence.</a:t>
            </a:r>
          </a:p>
        </p:txBody>
      </p:sp>
      <p:sp>
        <p:nvSpPr>
          <p:cNvPr id="4" name="TextBox 3">
            <a:extLst>
              <a:ext uri="{FF2B5EF4-FFF2-40B4-BE49-F238E27FC236}">
                <a16:creationId xmlns:a16="http://schemas.microsoft.com/office/drawing/2014/main" id="{3DFE99FF-3D23-8740-5D13-63FB83645216}"/>
              </a:ext>
            </a:extLst>
          </p:cNvPr>
          <p:cNvSpPr txBox="1"/>
          <p:nvPr/>
        </p:nvSpPr>
        <p:spPr>
          <a:xfrm>
            <a:off x="52932" y="4402002"/>
            <a:ext cx="6805068" cy="307777"/>
          </a:xfrm>
          <a:prstGeom prst="rect">
            <a:avLst/>
          </a:prstGeom>
          <a:noFill/>
        </p:spPr>
        <p:txBody>
          <a:bodyPr wrap="none" rtlCol="0">
            <a:spAutoFit/>
          </a:bodyPr>
          <a:lstStyle/>
          <a:p>
            <a:pPr algn="l"/>
            <a:r>
              <a:rPr lang="en-US" b="1" dirty="0">
                <a:solidFill>
                  <a:srgbClr val="2A2A63"/>
                </a:solidFill>
                <a:latin typeface="+mn-lt"/>
              </a:rPr>
              <a:t>Each Homework is 20 Points. Actual distribution per task will be clearly specified</a:t>
            </a:r>
          </a:p>
        </p:txBody>
      </p:sp>
    </p:spTree>
    <p:extLst>
      <p:ext uri="{BB962C8B-B14F-4D97-AF65-F5344CB8AC3E}">
        <p14:creationId xmlns:p14="http://schemas.microsoft.com/office/powerpoint/2010/main" val="15948372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A3F40-A5BF-5976-DF81-8BB980F642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0F4EA78-0269-5607-C9C8-6676C6F4F48A}"/>
              </a:ext>
            </a:extLst>
          </p:cNvPr>
          <p:cNvSpPr txBox="1"/>
          <p:nvPr/>
        </p:nvSpPr>
        <p:spPr>
          <a:xfrm>
            <a:off x="719302" y="1910030"/>
            <a:ext cx="5419396"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Questions</a:t>
            </a:r>
          </a:p>
        </p:txBody>
      </p:sp>
    </p:spTree>
    <p:extLst>
      <p:ext uri="{BB962C8B-B14F-4D97-AF65-F5344CB8AC3E}">
        <p14:creationId xmlns:p14="http://schemas.microsoft.com/office/powerpoint/2010/main" val="14727057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0852-81E6-565D-A6A8-D0BEB698A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EEDFD-37BC-1FBF-115B-7ACCDCF34D1E}"/>
              </a:ext>
            </a:extLst>
          </p:cNvPr>
          <p:cNvSpPr>
            <a:spLocks noGrp="1"/>
          </p:cNvSpPr>
          <p:nvPr>
            <p:ph type="title"/>
          </p:nvPr>
        </p:nvSpPr>
        <p:spPr/>
        <p:txBody>
          <a:bodyPr/>
          <a:lstStyle/>
          <a:p>
            <a:r>
              <a:rPr lang="en-US" dirty="0"/>
              <a:t>Next week…</a:t>
            </a:r>
          </a:p>
        </p:txBody>
      </p:sp>
      <p:pic>
        <p:nvPicPr>
          <p:cNvPr id="10" name="Picture 9">
            <a:extLst>
              <a:ext uri="{FF2B5EF4-FFF2-40B4-BE49-F238E27FC236}">
                <a16:creationId xmlns:a16="http://schemas.microsoft.com/office/drawing/2014/main" id="{579003E8-B4EB-673F-B149-BB6E45E9EEC6}"/>
              </a:ext>
            </a:extLst>
          </p:cNvPr>
          <p:cNvPicPr>
            <a:picLocks noChangeAspect="1"/>
          </p:cNvPicPr>
          <p:nvPr/>
        </p:nvPicPr>
        <p:blipFill>
          <a:blip r:embed="rId2"/>
          <a:srcRect t="7922" b="3386"/>
          <a:stretch>
            <a:fillRect/>
          </a:stretch>
        </p:blipFill>
        <p:spPr>
          <a:xfrm>
            <a:off x="0" y="630050"/>
            <a:ext cx="6858000" cy="4054999"/>
          </a:xfrm>
          <a:prstGeom prst="rect">
            <a:avLst/>
          </a:prstGeom>
        </p:spPr>
      </p:pic>
    </p:spTree>
    <p:extLst>
      <p:ext uri="{BB962C8B-B14F-4D97-AF65-F5344CB8AC3E}">
        <p14:creationId xmlns:p14="http://schemas.microsoft.com/office/powerpoint/2010/main" val="380579850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1860</TotalTime>
  <Words>4520</Words>
  <Application>Microsoft Macintosh PowerPoint</Application>
  <PresentationFormat>Custom</PresentationFormat>
  <Paragraphs>481</Paragraphs>
  <Slides>52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Fira Sans</vt:lpstr>
      <vt:lpstr>Wingdings</vt:lpstr>
      <vt:lpstr>Simple Light</vt:lpstr>
      <vt:lpstr>Designing Production Agentic Systems</vt:lpstr>
      <vt:lpstr>Welcome!</vt:lpstr>
      <vt:lpstr>About the Instructors</vt:lpstr>
      <vt:lpstr>PowerPoint Presentation</vt:lpstr>
      <vt:lpstr>The key question that motivates this course</vt:lpstr>
      <vt:lpstr>The key question that motivates this course</vt:lpstr>
      <vt:lpstr>The key question that motivates this course</vt:lpstr>
      <vt:lpstr>Prototype vs Production</vt:lpstr>
      <vt:lpstr>Prototype vs Production</vt:lpstr>
      <vt:lpstr>An AI Agent Stack: All its moving parts </vt:lpstr>
      <vt:lpstr>Production agentic system in action</vt:lpstr>
      <vt:lpstr>Production agentic system in action</vt:lpstr>
      <vt:lpstr>What I hope you will learn…</vt:lpstr>
      <vt:lpstr>What I hope you will learn…</vt:lpstr>
      <vt:lpstr>PowerPoint Presentation</vt:lpstr>
      <vt:lpstr>Where the course lives</vt:lpstr>
      <vt:lpstr>Where the course lives</vt:lpstr>
      <vt:lpstr>Homework, Grades, and Exams</vt:lpstr>
      <vt:lpstr>Prerequisites, Tech Stack, and Late days</vt:lpstr>
      <vt:lpstr>Generative AI policy</vt:lpstr>
      <vt:lpstr>PowerPoint Presentation</vt:lpstr>
      <vt:lpstr>Control Loops to LLMs: The Evolution of Agents</vt:lpstr>
      <vt:lpstr>Control Loops to LLMs: The Evolution of Agents</vt:lpstr>
      <vt:lpstr>Control Loops to LLMs: The Evolution of Agents</vt:lpstr>
      <vt:lpstr>What was an Agent? A pre-LLM view</vt:lpstr>
      <vt:lpstr>What was an Agent? A pre-LLM view</vt:lpstr>
      <vt:lpstr>What was an Agent? A pre-LLM view</vt:lpstr>
      <vt:lpstr>What was an Agent? A pre-LLM view</vt:lpstr>
      <vt:lpstr>What changed: The model proposes the work</vt:lpstr>
      <vt:lpstr>What changed: The model proposes the work</vt:lpstr>
      <vt:lpstr>What changed: The model proposes the work</vt:lpstr>
      <vt:lpstr>What changed: The model proposes the work</vt:lpstr>
      <vt:lpstr>What didn’t change: New problems, old names</vt:lpstr>
      <vt:lpstr>PowerPoint Presentation</vt:lpstr>
      <vt:lpstr>Agentic Systems: A Working Vocabulary</vt:lpstr>
      <vt:lpstr>Components of a Model Invocation</vt:lpstr>
      <vt:lpstr>Systems Challenges of the Model</vt:lpstr>
      <vt:lpstr>The Agent Harness</vt:lpstr>
      <vt:lpstr>The Agent Harness</vt:lpstr>
      <vt:lpstr>Tools</vt:lpstr>
      <vt:lpstr>Tools</vt:lpstr>
      <vt:lpstr>State</vt:lpstr>
      <vt:lpstr>State: Systems Properties and Guarantees</vt:lpstr>
      <vt:lpstr>Environment</vt:lpstr>
      <vt:lpstr>A summary of Roles and Guarantees</vt:lpstr>
      <vt:lpstr>PowerPoint Presentation</vt:lpstr>
      <vt:lpstr>Problem Statement</vt:lpstr>
      <vt:lpstr>Cumulative assignments over the same system</vt:lpstr>
      <vt:lpstr>What the Course Provides</vt:lpstr>
      <vt:lpstr>Evaluation and grading</vt:lpstr>
      <vt:lpstr>PowerPoint Presentation</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51</cp:revision>
  <dcterms:modified xsi:type="dcterms:W3CDTF">2026-09-11T17:45:08Z</dcterms:modified>
</cp:coreProperties>
</file>
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48"/>
  </p:notesMasterIdLst>
  <p:sldIdLst>
    <p:sldId id="256" r:id="rId2"/>
    <p:sldId id="258" r:id="rId3"/>
    <p:sldId id="259" r:id="rId4"/>
    <p:sldId id="260" r:id="rId5"/>
    <p:sldId id="261" r:id="rId6"/>
    <p:sldId id="265" r:id="rId7"/>
    <p:sldId id="266" r:id="rId8"/>
    <p:sldId id="274" r:id="rId9"/>
    <p:sldId id="317" r:id="rId10"/>
    <p:sldId id="316" r:id="rId11"/>
    <p:sldId id="305" r:id="rId12"/>
    <p:sldId id="285" r:id="rId13"/>
    <p:sldId id="287" r:id="rId14"/>
    <p:sldId id="283" r:id="rId15"/>
    <p:sldId id="284" r:id="rId16"/>
    <p:sldId id="325" r:id="rId17"/>
    <p:sldId id="288" r:id="rId18"/>
    <p:sldId id="289" r:id="rId19"/>
    <p:sldId id="290" r:id="rId20"/>
    <p:sldId id="291" r:id="rId21"/>
    <p:sldId id="293" r:id="rId22"/>
    <p:sldId id="294" r:id="rId23"/>
    <p:sldId id="295" r:id="rId24"/>
    <p:sldId id="297" r:id="rId25"/>
    <p:sldId id="299" r:id="rId26"/>
    <p:sldId id="298" r:id="rId27"/>
    <p:sldId id="296" r:id="rId28"/>
    <p:sldId id="300" r:id="rId29"/>
    <p:sldId id="303" r:id="rId30"/>
    <p:sldId id="308" r:id="rId31"/>
    <p:sldId id="306" r:id="rId32"/>
    <p:sldId id="302" r:id="rId33"/>
    <p:sldId id="309" r:id="rId34"/>
    <p:sldId id="310" r:id="rId35"/>
    <p:sldId id="311" r:id="rId36"/>
    <p:sldId id="312" r:id="rId37"/>
    <p:sldId id="313" r:id="rId38"/>
    <p:sldId id="315" r:id="rId39"/>
    <p:sldId id="314" r:id="rId40"/>
    <p:sldId id="318" r:id="rId41"/>
    <p:sldId id="319" r:id="rId42"/>
    <p:sldId id="320" r:id="rId43"/>
    <p:sldId id="321" r:id="rId44"/>
    <p:sldId id="322" r:id="rId45"/>
    <p:sldId id="323" r:id="rId46"/>
    <p:sldId id="324" r:id="rId47"/>
  </p:sldIdLst>
  <p:sldSz cx="6858000" cy="5143500"/>
  <p:notesSz cx="6858000" cy="9144000"/>
  <p:embeddedFontLst>
    <p:embeddedFont>
      <p:font typeface="Fira Sans" panose="020B0503050000020004" pitchFamily="34" charset="0"/>
      <p:regular r:id="rId49"/>
      <p:bold r:id="rId50"/>
      <p:italic r:id="rId51"/>
      <p:boldItalic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11472A5C-5B19-564B-9CD5-BBC972F9C943}">
          <p14:sldIdLst>
            <p14:sldId id="256"/>
            <p14:sldId id="258"/>
            <p14:sldId id="259"/>
          </p14:sldIdLst>
        </p14:section>
        <p14:section name="Section 2 — Why this course exists" id="{07821E7E-7576-454B-8FC0-3B8690BCEB1E}">
          <p14:sldIdLst>
            <p14:sldId id="260"/>
            <p14:sldId id="261"/>
            <p14:sldId id="265"/>
            <p14:sldId id="266"/>
            <p14:sldId id="274"/>
            <p14:sldId id="317"/>
            <p14:sldId id="316"/>
            <p14:sldId id="305"/>
            <p14:sldId id="285"/>
            <p14:sldId id="287"/>
            <p14:sldId id="283"/>
            <p14:sldId id="284"/>
            <p14:sldId id="325"/>
            <p14:sldId id="288"/>
            <p14:sldId id="289"/>
            <p14:sldId id="290"/>
            <p14:sldId id="291"/>
            <p14:sldId id="293"/>
            <p14:sldId id="294"/>
            <p14:sldId id="295"/>
            <p14:sldId id="297"/>
            <p14:sldId id="299"/>
            <p14:sldId id="298"/>
            <p14:sldId id="296"/>
            <p14:sldId id="300"/>
            <p14:sldId id="303"/>
            <p14:sldId id="308"/>
            <p14:sldId id="306"/>
            <p14:sldId id="302"/>
            <p14:sldId id="309"/>
            <p14:sldId id="310"/>
            <p14:sldId id="311"/>
            <p14:sldId id="312"/>
            <p14:sldId id="313"/>
            <p14:sldId id="315"/>
            <p14:sldId id="314"/>
            <p14:sldId id="318"/>
            <p14:sldId id="319"/>
            <p14:sldId id="320"/>
            <p14:sldId id="321"/>
            <p14:sldId id="322"/>
            <p14:sldId id="323"/>
            <p14:sldId id="324"/>
          </p14:sldIdLst>
        </p14:section>
      </p14:sectionLst>
    </p:ext>
    <p:ext uri="{EFAFB233-063F-42B5-8137-9DF3F51BA10A}">
      <p15:sldGuideLst xmlns:p15="http://schemas.microsoft.com/office/powerpoint/2012/main">
        <p15:guide id="1" orient="horz" pos="1620" userDrawn="1">
          <p15:clr>
            <a:srgbClr val="747775"/>
          </p15:clr>
        </p15:guide>
        <p15:guide id="2" pos="216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A2A63"/>
    <a:srgbClr val="235751"/>
    <a:srgbClr val="EBF8ED"/>
    <a:srgbClr val="FEF8E1"/>
    <a:srgbClr val="EEF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581"/>
    <p:restoredTop sz="98401"/>
  </p:normalViewPr>
  <p:slideViewPr>
    <p:cSldViewPr snapToGrid="0">
      <p:cViewPr varScale="1">
        <p:scale>
          <a:sx n="400" d="100"/>
          <a:sy n="400" d="100"/>
        </p:scale>
        <p:origin x="4440" y="272"/>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font" Target="fonts/font2.fntdata"/><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3.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3000" y="685800"/>
            <a:ext cx="4572000" cy="3429000"/>
          </a:xfrm>
        </p:spPr>
        <p:txBody>
          <a:bodyPr/>
          <a:lstStyle/>
          <a:p>
            <a:endParaRPr lang="en-US"/>
          </a:p>
        </p:txBody>
      </p:sp>
      <p:sp>
        <p:nvSpPr>
          <p:cNvPr id="3" name="Notes Placeholder 2"/>
          <p:cNvSpPr>
            <a:spLocks noGrp="1"/>
          </p:cNvSpPr>
          <p:nvPr>
            <p:ph type="body" idx="1"/>
          </p:nvPr>
        </p:nvSpPr>
        <p:spPr/>
        <p:txBody>
          <a:bodyPr/>
          <a:lstStyle/>
          <a:p>
            <a:r>
              <a:rPr dirty="0"/>
              <a:t>[40s] Course number, title, term. Say the room and the slot: Fridays 2:10 to 4:00, Hamilton 303, September 11 through December 11. Do not read the syllabus yet.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endParaRPr/>
          </a:p>
        </p:txBody>
      </p:sp>
      <p:sp>
        <p:nvSpPr>
          <p:cNvPr id="12" name="Google Shape;12;p2"/>
          <p:cNvSpPr txBox="1">
            <a:spLocks noGrp="1"/>
          </p:cNvSpPr>
          <p:nvPr>
            <p:ph type="subTitle" idx="1"/>
          </p:nvPr>
        </p:nvSpPr>
        <p:spPr>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endParaRPr/>
          </a:p>
        </p:txBody>
      </p:sp>
      <p:sp>
        <p:nvSpPr>
          <p:cNvPr id="13" name="Google Shape;13;p2"/>
          <p:cNvSpPr txBox="1">
            <a:spLocks noGrp="1"/>
          </p:cNvSpPr>
          <p:nvPr>
            <p:ph type="sldNum" idx="12"/>
          </p:nvPr>
        </p:nvSpPr>
        <p:spPr>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4" name="Google Shape;6;p1">
            <a:extLst>
              <a:ext uri="{FF2B5EF4-FFF2-40B4-BE49-F238E27FC236}">
                <a16:creationId xmlns:a16="http://schemas.microsoft.com/office/drawing/2014/main" id="{FD5B4268-F0EC-02C8-87DA-324BDAD9D5C3}"/>
              </a:ext>
            </a:extLst>
          </p:cNvPr>
          <p:cNvSpPr txBox="1">
            <a:spLocks noGrp="1"/>
          </p:cNvSpPr>
          <p:nvPr>
            <p:ph type="title"/>
          </p:nvPr>
        </p:nvSpPr>
        <p:spPr>
          <a:xfrm>
            <a:off x="14251" y="19250"/>
            <a:ext cx="6815475" cy="610800"/>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Fira Sans"/>
              <a:buNone/>
              <a:defRPr sz="2400" b="1">
                <a:solidFill>
                  <a:srgbClr val="2D2A62"/>
                </a:solidFill>
                <a:latin typeface="Fira Sans"/>
                <a:ea typeface="Fira Sans"/>
                <a:cs typeface="Fira Sans"/>
                <a:sym typeface="Fira Sans"/>
              </a:defRPr>
            </a:lvl1pPr>
            <a:lvl2pPr lvl="1">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2pPr>
            <a:lvl3pPr lvl="2">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3pPr>
            <a:lvl4pPr lvl="3">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4pPr>
            <a:lvl5pPr lvl="4">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5pPr>
            <a:lvl6pPr lvl="5">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6pPr>
            <a:lvl7pPr lvl="6">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7pPr>
            <a:lvl8pPr lvl="7">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8pPr>
            <a:lvl9pPr lvl="8">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9pPr>
          </a:lstStyle>
          <a:p>
            <a:endParaRPr dirty="0"/>
          </a:p>
        </p:txBody>
      </p:sp>
      <p:sp>
        <p:nvSpPr>
          <p:cNvPr id="5" name="Google Shape;7;p1">
            <a:extLst>
              <a:ext uri="{FF2B5EF4-FFF2-40B4-BE49-F238E27FC236}">
                <a16:creationId xmlns:a16="http://schemas.microsoft.com/office/drawing/2014/main" id="{737A3DEE-178A-8526-2A30-967CA858EC94}"/>
              </a:ext>
            </a:extLst>
          </p:cNvPr>
          <p:cNvSpPr txBox="1">
            <a:spLocks noGrp="1"/>
          </p:cNvSpPr>
          <p:nvPr>
            <p:ph idx="1"/>
          </p:nvPr>
        </p:nvSpPr>
        <p:spPr>
          <a:xfrm>
            <a:off x="14251" y="630049"/>
            <a:ext cx="6815475" cy="4099200"/>
          </a:xfrm>
          <a:prstGeom prst="rect">
            <a:avLst/>
          </a:prstGeom>
          <a:noFill/>
          <a:ln>
            <a:noFill/>
          </a:ln>
        </p:spPr>
        <p:txBody>
          <a:bodyPr spcFirstLastPara="1" wrap="square" lIns="97500" tIns="97500" rIns="97500" bIns="97500" anchor="t" anchorCtr="0">
            <a:normAutofit/>
          </a:bodyPr>
          <a:lstStyle>
            <a:lvl1pPr marL="457200" lvl="0" indent="-331453">
              <a:lnSpc>
                <a:spcPct val="115000"/>
              </a:lnSpc>
              <a:spcBef>
                <a:spcPts val="0"/>
              </a:spcBef>
              <a:spcAft>
                <a:spcPts val="0"/>
              </a:spcAft>
              <a:buClr>
                <a:srgbClr val="434343"/>
              </a:buClr>
              <a:buSzPts val="1620"/>
              <a:buFont typeface="Fira Sans"/>
              <a:buChar char="●"/>
              <a:defRPr sz="1400">
                <a:solidFill>
                  <a:srgbClr val="434343"/>
                </a:solidFill>
                <a:latin typeface="Fira Sans"/>
                <a:ea typeface="Fira Sans"/>
                <a:cs typeface="Fira Sans"/>
                <a:sym typeface="Fira Sans"/>
              </a:defRPr>
            </a:lvl1pPr>
            <a:lvl2pPr marL="914400" lvl="1"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2pPr>
            <a:lvl3pPr marL="1371600" lvl="2"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3pPr>
            <a:lvl4pPr marL="1828800" lvl="3"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4pPr>
            <a:lvl5pPr marL="2286000" lvl="4"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5pPr>
            <a:lvl6pPr marL="2743200" lvl="5"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6pPr>
            <a:lvl7pPr marL="3200400" lvl="6"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7pPr>
            <a:lvl8pPr marL="3657600" lvl="7"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8pPr>
            <a:lvl9pPr marL="4114800" lvl="8"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9pPr>
          </a:lstStyle>
          <a:p>
            <a:endParaRPr/>
          </a:p>
        </p:txBody>
      </p:sp>
    </p:spTree>
    <p:extLst>
      <p:ext uri="{BB962C8B-B14F-4D97-AF65-F5344CB8AC3E}">
        <p14:creationId xmlns:p14="http://schemas.microsoft.com/office/powerpoint/2010/main" val="22782751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0574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ustom Layout">
    <p:bg>
      <p:bgPr>
        <a:solidFill>
          <a:srgbClr val="2A2A63"/>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C8073-2779-4ECB-838F-530CD4C4CDC8}"/>
              </a:ext>
            </a:extLst>
          </p:cNvPr>
          <p:cNvPicPr>
            <a:picLocks noChangeAspect="1"/>
          </p:cNvPicPr>
          <p:nvPr userDrawn="1"/>
        </p:nvPicPr>
        <p:blipFill>
          <a:blip r:embed="rId2"/>
          <a:stretch>
            <a:fillRect/>
          </a:stretch>
        </p:blipFill>
        <p:spPr>
          <a:xfrm>
            <a:off x="1" y="4989748"/>
            <a:ext cx="141585" cy="147484"/>
          </a:xfrm>
          <a:prstGeom prst="rect">
            <a:avLst/>
          </a:prstGeom>
        </p:spPr>
      </p:pic>
    </p:spTree>
    <p:extLst>
      <p:ext uri="{BB962C8B-B14F-4D97-AF65-F5344CB8AC3E}">
        <p14:creationId xmlns:p14="http://schemas.microsoft.com/office/powerpoint/2010/main" val="199617864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4251" y="19250"/>
            <a:ext cx="6815475" cy="610800"/>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Fira Sans"/>
              <a:buNone/>
              <a:defRPr sz="2400">
                <a:solidFill>
                  <a:srgbClr val="2D2A62"/>
                </a:solidFill>
                <a:latin typeface="Fira Sans"/>
                <a:ea typeface="Fira Sans"/>
                <a:cs typeface="Fira Sans"/>
                <a:sym typeface="Fira Sans"/>
              </a:defRPr>
            </a:lvl1pPr>
            <a:lvl2pPr lvl="1">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2pPr>
            <a:lvl3pPr lvl="2">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3pPr>
            <a:lvl4pPr lvl="3">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4pPr>
            <a:lvl5pPr lvl="4">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5pPr>
            <a:lvl6pPr lvl="5">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6pPr>
            <a:lvl7pPr lvl="6">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7pPr>
            <a:lvl8pPr lvl="7">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8pPr>
            <a:lvl9pPr lvl="8">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9pPr>
          </a:lstStyle>
          <a:p>
            <a:endParaRPr dirty="0"/>
          </a:p>
        </p:txBody>
      </p:sp>
      <p:sp>
        <p:nvSpPr>
          <p:cNvPr id="7" name="Google Shape;7;p1"/>
          <p:cNvSpPr txBox="1">
            <a:spLocks noGrp="1"/>
          </p:cNvSpPr>
          <p:nvPr>
            <p:ph type="body" idx="1"/>
          </p:nvPr>
        </p:nvSpPr>
        <p:spPr>
          <a:xfrm>
            <a:off x="14251" y="630049"/>
            <a:ext cx="6815475" cy="4099200"/>
          </a:xfrm>
          <a:prstGeom prst="rect">
            <a:avLst/>
          </a:prstGeom>
          <a:noFill/>
          <a:ln>
            <a:noFill/>
          </a:ln>
        </p:spPr>
        <p:txBody>
          <a:bodyPr spcFirstLastPara="1" wrap="square" lIns="97500" tIns="97500" rIns="97500" bIns="97500" anchor="t" anchorCtr="0">
            <a:normAutofit/>
          </a:bodyPr>
          <a:lstStyle>
            <a:lvl1pPr marL="457200" lvl="0" indent="-331453">
              <a:lnSpc>
                <a:spcPct val="115000"/>
              </a:lnSpc>
              <a:spcBef>
                <a:spcPts val="0"/>
              </a:spcBef>
              <a:spcAft>
                <a:spcPts val="0"/>
              </a:spcAft>
              <a:buClr>
                <a:srgbClr val="434343"/>
              </a:buClr>
              <a:buSzPts val="1620"/>
              <a:buFont typeface="Fira Sans"/>
              <a:buChar char="●"/>
              <a:defRPr sz="1620">
                <a:solidFill>
                  <a:srgbClr val="434343"/>
                </a:solidFill>
                <a:latin typeface="Fira Sans"/>
                <a:ea typeface="Fira Sans"/>
                <a:cs typeface="Fira Sans"/>
                <a:sym typeface="Fira Sans"/>
              </a:defRPr>
            </a:lvl1pPr>
            <a:lvl2pPr marL="914400" lvl="1"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2pPr>
            <a:lvl3pPr marL="1371600" lvl="2"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3pPr>
            <a:lvl4pPr marL="1828800" lvl="3"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4pPr>
            <a:lvl5pPr marL="2286000" lvl="4"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5pPr>
            <a:lvl6pPr marL="2743200" lvl="5"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6pPr>
            <a:lvl7pPr marL="3200400" lvl="6"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7pPr>
            <a:lvl8pPr marL="3657600" lvl="7"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8pPr>
            <a:lvl9pPr marL="4114800" lvl="8"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9pPr>
          </a:lstStyle>
          <a:p>
            <a:endParaRPr/>
          </a:p>
        </p:txBody>
      </p:sp>
      <p:sp>
        <p:nvSpPr>
          <p:cNvPr id="8" name="Google Shape;8;p1"/>
          <p:cNvSpPr txBox="1">
            <a:spLocks noGrp="1"/>
          </p:cNvSpPr>
          <p:nvPr>
            <p:ph type="sldNum" idx="12"/>
          </p:nvPr>
        </p:nvSpPr>
        <p:spPr>
          <a:xfrm>
            <a:off x="6446482" y="4749892"/>
            <a:ext cx="411525" cy="393600"/>
          </a:xfrm>
          <a:prstGeom prst="rect">
            <a:avLst/>
          </a:prstGeom>
          <a:noFill/>
          <a:ln>
            <a:noFill/>
          </a:ln>
        </p:spPr>
        <p:txBody>
          <a:bodyPr spcFirstLastPara="1" wrap="square" lIns="91425" tIns="91425" rIns="91425" bIns="91425" anchor="ctr" anchorCtr="0">
            <a:normAutofit/>
          </a:bodyPr>
          <a:lstStyle>
            <a:lvl1pPr lvl="0" algn="r">
              <a:buNone/>
              <a:defRPr sz="750" b="1">
                <a:solidFill>
                  <a:schemeClr val="dk2"/>
                </a:solidFill>
                <a:latin typeface="Fira Sans"/>
                <a:ea typeface="Fira Sans"/>
                <a:cs typeface="Fira Sans"/>
                <a:sym typeface="Fira Sans"/>
              </a:defRPr>
            </a:lvl1pPr>
            <a:lvl2pPr lvl="1" algn="r">
              <a:buNone/>
              <a:defRPr sz="750" b="1">
                <a:solidFill>
                  <a:schemeClr val="dk2"/>
                </a:solidFill>
                <a:latin typeface="Fira Sans"/>
                <a:ea typeface="Fira Sans"/>
                <a:cs typeface="Fira Sans"/>
                <a:sym typeface="Fira Sans"/>
              </a:defRPr>
            </a:lvl2pPr>
            <a:lvl3pPr lvl="2" algn="r">
              <a:buNone/>
              <a:defRPr sz="750" b="1">
                <a:solidFill>
                  <a:schemeClr val="dk2"/>
                </a:solidFill>
                <a:latin typeface="Fira Sans"/>
                <a:ea typeface="Fira Sans"/>
                <a:cs typeface="Fira Sans"/>
                <a:sym typeface="Fira Sans"/>
              </a:defRPr>
            </a:lvl3pPr>
            <a:lvl4pPr lvl="3" algn="r">
              <a:buNone/>
              <a:defRPr sz="750" b="1">
                <a:solidFill>
                  <a:schemeClr val="dk2"/>
                </a:solidFill>
                <a:latin typeface="Fira Sans"/>
                <a:ea typeface="Fira Sans"/>
                <a:cs typeface="Fira Sans"/>
                <a:sym typeface="Fira Sans"/>
              </a:defRPr>
            </a:lvl4pPr>
            <a:lvl5pPr lvl="4" algn="r">
              <a:buNone/>
              <a:defRPr sz="750" b="1">
                <a:solidFill>
                  <a:schemeClr val="dk2"/>
                </a:solidFill>
                <a:latin typeface="Fira Sans"/>
                <a:ea typeface="Fira Sans"/>
                <a:cs typeface="Fira Sans"/>
                <a:sym typeface="Fira Sans"/>
              </a:defRPr>
            </a:lvl5pPr>
            <a:lvl6pPr lvl="5" algn="r">
              <a:buNone/>
              <a:defRPr sz="750" b="1">
                <a:solidFill>
                  <a:schemeClr val="dk2"/>
                </a:solidFill>
                <a:latin typeface="Fira Sans"/>
                <a:ea typeface="Fira Sans"/>
                <a:cs typeface="Fira Sans"/>
                <a:sym typeface="Fira Sans"/>
              </a:defRPr>
            </a:lvl6pPr>
            <a:lvl7pPr lvl="6" algn="r">
              <a:buNone/>
              <a:defRPr sz="750" b="1">
                <a:solidFill>
                  <a:schemeClr val="dk2"/>
                </a:solidFill>
                <a:latin typeface="Fira Sans"/>
                <a:ea typeface="Fira Sans"/>
                <a:cs typeface="Fira Sans"/>
                <a:sym typeface="Fira Sans"/>
              </a:defRPr>
            </a:lvl7pPr>
            <a:lvl8pPr lvl="7" algn="r">
              <a:buNone/>
              <a:defRPr sz="750" b="1">
                <a:solidFill>
                  <a:schemeClr val="dk2"/>
                </a:solidFill>
                <a:latin typeface="Fira Sans"/>
                <a:ea typeface="Fira Sans"/>
                <a:cs typeface="Fira Sans"/>
                <a:sym typeface="Fira Sans"/>
              </a:defRPr>
            </a:lvl8pPr>
            <a:lvl9pPr lvl="8" algn="r">
              <a:buNone/>
              <a:defRPr sz="750" b="1">
                <a:solidFill>
                  <a:schemeClr val="dk2"/>
                </a:solidFill>
                <a:latin typeface="Fira Sans"/>
                <a:ea typeface="Fira Sans"/>
                <a:cs typeface="Fira Sans"/>
                <a:sym typeface="Fira Sans"/>
              </a:defRPr>
            </a:lvl9pPr>
          </a:lstStyle>
          <a:p>
            <a:fld id="{00000000-1234-1234-1234-123412341234}" type="slidenum">
              <a:rPr lang="en" smtClean="0"/>
              <a:pPr/>
              <a:t>‹#›</a:t>
            </a:fld>
            <a:endParaRPr lang="en"/>
          </a:p>
        </p:txBody>
      </p:sp>
      <p:pic>
        <p:nvPicPr>
          <p:cNvPr id="9" name="Google Shape;9;p1"/>
          <p:cNvPicPr preferRelativeResize="0"/>
          <p:nvPr/>
        </p:nvPicPr>
        <p:blipFill rotWithShape="1">
          <a:blip r:embed="rId6">
            <a:alphaModFix/>
          </a:blip>
          <a:srcRect r="79249"/>
          <a:stretch/>
        </p:blipFill>
        <p:spPr>
          <a:xfrm>
            <a:off x="0" y="4841359"/>
            <a:ext cx="342167" cy="302143"/>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60" r:id="rId2"/>
    <p:sldLayoutId id="2147483662" r:id="rId3"/>
    <p:sldLayoutId id="2147483661"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coms6998-e019.github.io/"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ik2619@columbia.edu" TargetMode="External"/><Relationship Id="rId2" Type="http://schemas.openxmlformats.org/officeDocument/2006/relationships/hyperlink" Target="mailto:rk3080@columbia.edu" TargetMode="External"/><Relationship Id="rId1" Type="http://schemas.openxmlformats.org/officeDocument/2006/relationships/slideLayout" Target="../slideLayouts/slideLayout2.xml"/><Relationship Id="rId4" Type="http://schemas.openxmlformats.org/officeDocument/2006/relationships/hyperlink" Target="http://rkrsn.u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anthropic.com/engineering/multi-agent-research-system" TargetMode="External"/><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hyperlink" Target="mailto:rk3080@columbia.edu" TargetMode="External"/><Relationship Id="rId2" Type="http://schemas.openxmlformats.org/officeDocument/2006/relationships/hyperlink" Target="https://coms6998-e019.github.io/"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mailto:rk3080@columbia.edu" TargetMode="External"/><Relationship Id="rId2" Type="http://schemas.openxmlformats.org/officeDocument/2006/relationships/hyperlink" Target="https://coms6998-e019.github.io/"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provost.columbia.edu/content/office-senior-vice-provost/ai-policy"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hyperlink" Target="http://github.com/codellm-devkit"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dirty="0"/>
              <a:t>Designing Production Agentic Systems</a:t>
            </a:r>
            <a:endParaRPr b="1" dirty="0"/>
          </a:p>
        </p:txBody>
      </p:sp>
      <p:sp>
        <p:nvSpPr>
          <p:cNvPr id="3" name="Subtitle 2"/>
          <p:cNvSpPr>
            <a:spLocks noGrp="1"/>
          </p:cNvSpPr>
          <p:nvPr>
            <p:ph type="subTitle" idx="1"/>
          </p:nvPr>
        </p:nvSpPr>
        <p:spPr/>
        <p:txBody>
          <a:bodyPr/>
          <a:lstStyle/>
          <a:p>
            <a:r>
              <a:rPr b="1" dirty="0"/>
              <a:t>Columbia · Fall 2026 · Lecture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9DA47-FA74-035D-24FD-C97FABBE9ACF}"/>
              </a:ext>
            </a:extLst>
          </p:cNvPr>
          <p:cNvSpPr>
            <a:spLocks noGrp="1"/>
          </p:cNvSpPr>
          <p:nvPr>
            <p:ph type="title"/>
          </p:nvPr>
        </p:nvSpPr>
        <p:spPr/>
        <p:txBody>
          <a:bodyPr>
            <a:normAutofit/>
          </a:bodyPr>
          <a:lstStyle/>
          <a:p>
            <a:r>
              <a:rPr lang="en-US" b="1" dirty="0"/>
              <a:t>Welcome!</a:t>
            </a:r>
          </a:p>
        </p:txBody>
      </p:sp>
      <p:sp>
        <p:nvSpPr>
          <p:cNvPr id="3" name="Content Placeholder 2">
            <a:extLst>
              <a:ext uri="{FF2B5EF4-FFF2-40B4-BE49-F238E27FC236}">
                <a16:creationId xmlns:a16="http://schemas.microsoft.com/office/drawing/2014/main" id="{6E71B270-DFC4-9954-B0A1-B8A3C70CBE08}"/>
              </a:ext>
            </a:extLst>
          </p:cNvPr>
          <p:cNvSpPr>
            <a:spLocks noGrp="1"/>
          </p:cNvSpPr>
          <p:nvPr>
            <p:ph idx="1"/>
          </p:nvPr>
        </p:nvSpPr>
        <p:spPr>
          <a:xfrm>
            <a:off x="14252" y="630051"/>
            <a:ext cx="6815475" cy="459715"/>
          </a:xfrm>
        </p:spPr>
        <p:txBody>
          <a:bodyPr>
            <a:normAutofit/>
          </a:bodyPr>
          <a:lstStyle/>
          <a:p>
            <a:pPr marL="125747" indent="0" algn="ctr">
              <a:buNone/>
            </a:pPr>
            <a:r>
              <a:rPr lang="en-US" b="1" dirty="0"/>
              <a:t>COMS 6998-019 • Designing Production Agentic Systems • Fall 2026</a:t>
            </a:r>
          </a:p>
          <a:p>
            <a:pPr marL="125747" indent="0" algn="ctr">
              <a:buNone/>
            </a:pPr>
            <a:endParaRPr lang="en-US" b="1" dirty="0"/>
          </a:p>
        </p:txBody>
      </p:sp>
      <p:graphicFrame>
        <p:nvGraphicFramePr>
          <p:cNvPr id="5" name="Table 4">
            <a:extLst>
              <a:ext uri="{FF2B5EF4-FFF2-40B4-BE49-F238E27FC236}">
                <a16:creationId xmlns:a16="http://schemas.microsoft.com/office/drawing/2014/main" id="{3D0C6519-F976-A9EC-7990-38025D3FF6EC}"/>
              </a:ext>
            </a:extLst>
          </p:cNvPr>
          <p:cNvGraphicFramePr>
            <a:graphicFrameLocks noGrp="1"/>
          </p:cNvGraphicFramePr>
          <p:nvPr>
            <p:extLst>
              <p:ext uri="{D42A27DB-BD31-4B8C-83A1-F6EECF244321}">
                <p14:modId xmlns:p14="http://schemas.microsoft.com/office/powerpoint/2010/main" val="3874501212"/>
              </p:ext>
            </p:extLst>
          </p:nvPr>
        </p:nvGraphicFramePr>
        <p:xfrm>
          <a:off x="1143000" y="1533525"/>
          <a:ext cx="4572000" cy="2076450"/>
        </p:xfrm>
        <a:graphic>
          <a:graphicData uri="http://schemas.openxmlformats.org/drawingml/2006/table">
            <a:tbl>
              <a:tblPr firstRow="1" bandRow="1">
                <a:tableStyleId>{2D5ABB26-0587-4C30-8999-92F81FD0307C}</a:tableStyleId>
              </a:tblPr>
              <a:tblGrid>
                <a:gridCol w="1149724">
                  <a:extLst>
                    <a:ext uri="{9D8B030D-6E8A-4147-A177-3AD203B41FA5}">
                      <a16:colId xmlns:a16="http://schemas.microsoft.com/office/drawing/2014/main" val="2271713243"/>
                    </a:ext>
                  </a:extLst>
                </a:gridCol>
                <a:gridCol w="3422276">
                  <a:extLst>
                    <a:ext uri="{9D8B030D-6E8A-4147-A177-3AD203B41FA5}">
                      <a16:colId xmlns:a16="http://schemas.microsoft.com/office/drawing/2014/main" val="1569624038"/>
                    </a:ext>
                  </a:extLst>
                </a:gridCol>
              </a:tblGrid>
              <a:tr h="415290">
                <a:tc>
                  <a:txBody>
                    <a:bodyPr/>
                    <a:lstStyle/>
                    <a:p>
                      <a:r>
                        <a:rPr lang="en-US" b="1" dirty="0"/>
                        <a:t>When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Fridays 2:10 PM — 4:00 PM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6892486"/>
                  </a:ext>
                </a:extLst>
              </a:tr>
              <a:tr h="415290">
                <a:tc>
                  <a:txBody>
                    <a:bodyPr/>
                    <a:lstStyle/>
                    <a:p>
                      <a:r>
                        <a:rPr lang="en-US" b="1" dirty="0"/>
                        <a:t>Location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Hamilton Hall 303</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379968"/>
                  </a:ext>
                </a:extLst>
              </a:tr>
              <a:tr h="415290">
                <a:tc>
                  <a:txBody>
                    <a:bodyPr/>
                    <a:lstStyle/>
                    <a:p>
                      <a:r>
                        <a:rPr lang="en-US" b="1" dirty="0"/>
                        <a:t>Term Dates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September 11</a:t>
                      </a:r>
                      <a:r>
                        <a:rPr lang="en-US" baseline="30000" dirty="0"/>
                        <a:t>th</a:t>
                      </a:r>
                      <a:r>
                        <a:rPr lang="en-US" dirty="0"/>
                        <a:t> to December 11</a:t>
                      </a:r>
                      <a:r>
                        <a:rPr lang="en-US" baseline="30000" dirty="0"/>
                        <a:t>th</a:t>
                      </a:r>
                      <a:r>
                        <a:rPr lang="en-US" dirty="0"/>
                        <a:t>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9828879"/>
                  </a:ext>
                </a:extLst>
              </a:tr>
              <a:tr h="415290">
                <a:tc>
                  <a:txBody>
                    <a:bodyPr/>
                    <a:lstStyle/>
                    <a:p>
                      <a:r>
                        <a:rPr lang="en-US" b="1" dirty="0"/>
                        <a:t>Course website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hlinkClick r:id="rId2"/>
                        </a:rPr>
                        <a:t>https://COMSE6998-019.github.io </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9729185"/>
                  </a:ext>
                </a:extLst>
              </a:tr>
              <a:tr h="415290">
                <a:tc>
                  <a:txBody>
                    <a:bodyPr/>
                    <a:lstStyle/>
                    <a:p>
                      <a:r>
                        <a:rPr lang="en-US" b="1" dirty="0"/>
                        <a:t>Today’s Agenda</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dirty="0">
                          <a:solidFill>
                            <a:srgbClr val="000000"/>
                          </a:solidFill>
                          <a:effectLst/>
                          <a:latin typeface="+mn-lt"/>
                        </a:rPr>
                        <a:t>Orientation, the course map, and one production trace read end to end</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576351"/>
                  </a:ext>
                </a:extLst>
              </a:tr>
            </a:tbl>
          </a:graphicData>
        </a:graphic>
      </p:graphicFrame>
    </p:spTree>
    <p:extLst>
      <p:ext uri="{BB962C8B-B14F-4D97-AF65-F5344CB8AC3E}">
        <p14:creationId xmlns:p14="http://schemas.microsoft.com/office/powerpoint/2010/main" val="24525588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602CC-2E61-D761-6C3D-D5337FF0B56B}"/>
              </a:ext>
            </a:extLst>
          </p:cNvPr>
          <p:cNvSpPr>
            <a:spLocks noGrp="1"/>
          </p:cNvSpPr>
          <p:nvPr>
            <p:ph type="title"/>
          </p:nvPr>
        </p:nvSpPr>
        <p:spPr/>
        <p:txBody>
          <a:bodyPr/>
          <a:lstStyle/>
          <a:p>
            <a:r>
              <a:rPr lang="en-US" dirty="0"/>
              <a:t>About the Instructors</a:t>
            </a:r>
          </a:p>
        </p:txBody>
      </p:sp>
      <p:sp>
        <p:nvSpPr>
          <p:cNvPr id="3" name="Content Placeholder 2">
            <a:extLst>
              <a:ext uri="{FF2B5EF4-FFF2-40B4-BE49-F238E27FC236}">
                <a16:creationId xmlns:a16="http://schemas.microsoft.com/office/drawing/2014/main" id="{86859905-1202-8C5E-10B5-C048049F64F5}"/>
              </a:ext>
            </a:extLst>
          </p:cNvPr>
          <p:cNvSpPr>
            <a:spLocks noGrp="1"/>
          </p:cNvSpPr>
          <p:nvPr>
            <p:ph idx="1"/>
          </p:nvPr>
        </p:nvSpPr>
        <p:spPr>
          <a:xfrm>
            <a:off x="127749" y="630050"/>
            <a:ext cx="6585696" cy="926797"/>
          </a:xfrm>
        </p:spPr>
        <p:txBody>
          <a:bodyPr>
            <a:normAutofit/>
          </a:bodyPr>
          <a:lstStyle/>
          <a:p>
            <a:pPr marL="125747" indent="0">
              <a:lnSpc>
                <a:spcPct val="100000"/>
              </a:lnSpc>
              <a:buNone/>
            </a:pPr>
            <a:r>
              <a:rPr lang="en-US" dirty="0"/>
              <a:t>Senior Research Scientist IBM and I was a CS Postdoc at Columbia.</a:t>
            </a:r>
            <a:endParaRPr lang="en-US" b="1" dirty="0">
              <a:solidFill>
                <a:srgbClr val="2A2A63"/>
              </a:solidFill>
            </a:endParaRPr>
          </a:p>
          <a:p>
            <a:pPr marL="125747" indent="0">
              <a:lnSpc>
                <a:spcPct val="100000"/>
              </a:lnSpc>
              <a:buNone/>
            </a:pPr>
            <a:endParaRPr lang="en-US" b="1" dirty="0">
              <a:solidFill>
                <a:srgbClr val="2A2A63"/>
              </a:solidFill>
            </a:endParaRPr>
          </a:p>
          <a:p>
            <a:pPr marL="125747" indent="0">
              <a:lnSpc>
                <a:spcPct val="100000"/>
              </a:lnSpc>
              <a:buNone/>
            </a:pPr>
            <a:r>
              <a:rPr lang="en-US" b="1" dirty="0">
                <a:solidFill>
                  <a:srgbClr val="2A2A63"/>
                </a:solidFill>
              </a:rPr>
              <a:t>What I work on: </a:t>
            </a:r>
            <a:r>
              <a:rPr lang="en-US" dirty="0">
                <a:solidFill>
                  <a:srgbClr val="2A2A63"/>
                </a:solidFill>
              </a:rPr>
              <a:t> </a:t>
            </a:r>
            <a:r>
              <a:rPr lang="en-US" b="1" dirty="0"/>
              <a:t>Program Analysis • Distributed Systems • Security • Testing</a:t>
            </a:r>
          </a:p>
        </p:txBody>
      </p:sp>
      <p:graphicFrame>
        <p:nvGraphicFramePr>
          <p:cNvPr id="4" name="Table 3">
            <a:extLst>
              <a:ext uri="{FF2B5EF4-FFF2-40B4-BE49-F238E27FC236}">
                <a16:creationId xmlns:a16="http://schemas.microsoft.com/office/drawing/2014/main" id="{CC1434B4-2139-27C5-65C1-37131B0490D6}"/>
              </a:ext>
            </a:extLst>
          </p:cNvPr>
          <p:cNvGraphicFramePr>
            <a:graphicFrameLocks noGrp="1"/>
          </p:cNvGraphicFramePr>
          <p:nvPr>
            <p:extLst>
              <p:ext uri="{D42A27DB-BD31-4B8C-83A1-F6EECF244321}">
                <p14:modId xmlns:p14="http://schemas.microsoft.com/office/powerpoint/2010/main" val="3012168786"/>
              </p:ext>
            </p:extLst>
          </p:nvPr>
        </p:nvGraphicFramePr>
        <p:xfrm>
          <a:off x="1508391" y="1856916"/>
          <a:ext cx="3841221" cy="2491740"/>
        </p:xfrm>
        <a:graphic>
          <a:graphicData uri="http://schemas.openxmlformats.org/drawingml/2006/table">
            <a:tbl>
              <a:tblPr firstRow="1" bandRow="1">
                <a:tableStyleId>{2D5ABB26-0587-4C30-8999-92F81FD0307C}</a:tableStyleId>
              </a:tblPr>
              <a:tblGrid>
                <a:gridCol w="965954">
                  <a:extLst>
                    <a:ext uri="{9D8B030D-6E8A-4147-A177-3AD203B41FA5}">
                      <a16:colId xmlns:a16="http://schemas.microsoft.com/office/drawing/2014/main" val="2271713243"/>
                    </a:ext>
                  </a:extLst>
                </a:gridCol>
                <a:gridCol w="2875267">
                  <a:extLst>
                    <a:ext uri="{9D8B030D-6E8A-4147-A177-3AD203B41FA5}">
                      <a16:colId xmlns:a16="http://schemas.microsoft.com/office/drawing/2014/main" val="1569624038"/>
                    </a:ext>
                  </a:extLst>
                </a:gridCol>
              </a:tblGrid>
              <a:tr h="415290">
                <a:tc>
                  <a:txBody>
                    <a:bodyPr/>
                    <a:lstStyle/>
                    <a:p>
                      <a:r>
                        <a:rPr lang="en-US" b="1" dirty="0"/>
                        <a:t>Instructor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Rahul Krishna • </a:t>
                      </a:r>
                      <a:r>
                        <a:rPr lang="en-US" dirty="0">
                          <a:hlinkClick r:id="rId2"/>
                        </a:rPr>
                        <a:t>rk3080@columbia.edu</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6892486"/>
                  </a:ext>
                </a:extLst>
              </a:tr>
              <a:tr h="415290">
                <a:tc>
                  <a:txBody>
                    <a:bodyPr/>
                    <a:lstStyle/>
                    <a:p>
                      <a:pPr algn="l"/>
                      <a:r>
                        <a:rPr lang="en-US" b="1" dirty="0"/>
                        <a:t>Teaching Assistant</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In Keun Kim • </a:t>
                      </a:r>
                      <a:r>
                        <a:rPr lang="en-US" dirty="0">
                          <a:hlinkClick r:id="rId3"/>
                        </a:rPr>
                        <a:t>ik2619@columbia.edu</a:t>
                      </a:r>
                      <a:r>
                        <a:rPr lang="en-US" dirty="0"/>
                        <a:t>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4504568"/>
                  </a:ext>
                </a:extLst>
              </a:tr>
              <a:tr h="415290">
                <a:tc>
                  <a:txBody>
                    <a:bodyPr/>
                    <a:lstStyle/>
                    <a:p>
                      <a:r>
                        <a:rPr lang="en-US" b="1" dirty="0"/>
                        <a:t>Office Hours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Friday 12:00—1:30 (and via zoom ad hoc)</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379968"/>
                  </a:ext>
                </a:extLst>
              </a:tr>
              <a:tr h="415290">
                <a:tc>
                  <a:txBody>
                    <a:bodyPr/>
                    <a:lstStyle/>
                    <a:p>
                      <a:r>
                        <a:rPr lang="en-US" b="1" dirty="0"/>
                        <a:t>TA</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To be announced on CourseWorks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9828879"/>
                  </a:ext>
                </a:extLst>
              </a:tr>
              <a:tr h="415290">
                <a:tc>
                  <a:txBody>
                    <a:bodyPr/>
                    <a:lstStyle/>
                    <a:p>
                      <a:r>
                        <a:rPr lang="en-US" b="1" dirty="0"/>
                        <a:t>Discussion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Slack Channel</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9729185"/>
                  </a:ext>
                </a:extLst>
              </a:tr>
              <a:tr h="415290">
                <a:tc>
                  <a:txBody>
                    <a:bodyPr/>
                    <a:lstStyle/>
                    <a:p>
                      <a:r>
                        <a:rPr lang="en-US" b="1" dirty="0"/>
                        <a:t>Website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hlinkClick r:id="rId4"/>
                        </a:rPr>
                        <a:t>rkrsn.us</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4091803"/>
                  </a:ext>
                </a:extLst>
              </a:tr>
            </a:tbl>
          </a:graphicData>
        </a:graphic>
      </p:graphicFrame>
    </p:spTree>
    <p:extLst>
      <p:ext uri="{BB962C8B-B14F-4D97-AF65-F5344CB8AC3E}">
        <p14:creationId xmlns:p14="http://schemas.microsoft.com/office/powerpoint/2010/main" val="35286497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214CCDE-7AC2-0B63-DE2D-FFDC29D92E35}"/>
              </a:ext>
            </a:extLst>
          </p:cNvPr>
          <p:cNvSpPr txBox="1"/>
          <p:nvPr/>
        </p:nvSpPr>
        <p:spPr>
          <a:xfrm>
            <a:off x="364435" y="2217807"/>
            <a:ext cx="6129130" cy="707886"/>
          </a:xfrm>
          <a:prstGeom prst="rect">
            <a:avLst/>
          </a:prstGeom>
          <a:noFill/>
        </p:spPr>
        <p:txBody>
          <a:bodyPr wrap="square" rtlCol="0">
            <a:spAutoFit/>
          </a:bodyPr>
          <a:lstStyle/>
          <a:p>
            <a:pPr algn="ctr"/>
            <a:r>
              <a:rPr lang="en-US" sz="4000" b="1" dirty="0">
                <a:solidFill>
                  <a:schemeClr val="bg2">
                    <a:lumMod val="20000"/>
                    <a:lumOff val="80000"/>
                  </a:schemeClr>
                </a:solidFill>
                <a:latin typeface="+mj-lt"/>
              </a:rPr>
              <a:t>Why This Course Exists</a:t>
            </a:r>
          </a:p>
        </p:txBody>
      </p:sp>
    </p:spTree>
    <p:extLst>
      <p:ext uri="{BB962C8B-B14F-4D97-AF65-F5344CB8AC3E}">
        <p14:creationId xmlns:p14="http://schemas.microsoft.com/office/powerpoint/2010/main" val="26317504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16487-9E35-67AA-FAF9-A2D84A93CB11}"/>
              </a:ext>
            </a:extLst>
          </p:cNvPr>
          <p:cNvSpPr>
            <a:spLocks noGrp="1"/>
          </p:cNvSpPr>
          <p:nvPr>
            <p:ph type="title"/>
          </p:nvPr>
        </p:nvSpPr>
        <p:spPr/>
        <p:txBody>
          <a:bodyPr/>
          <a:lstStyle/>
          <a:p>
            <a:r>
              <a:rPr lang="en-US" dirty="0"/>
              <a:t>The key question that motivates this course</a:t>
            </a:r>
          </a:p>
        </p:txBody>
      </p:sp>
      <p:sp>
        <p:nvSpPr>
          <p:cNvPr id="5" name="Rectangle 4">
            <a:extLst>
              <a:ext uri="{FF2B5EF4-FFF2-40B4-BE49-F238E27FC236}">
                <a16:creationId xmlns:a16="http://schemas.microsoft.com/office/drawing/2014/main" id="{C54671C3-2C9B-56C2-3DEF-AA62F8AEA951}"/>
              </a:ext>
            </a:extLst>
          </p:cNvPr>
          <p:cNvSpPr/>
          <p:nvPr/>
        </p:nvSpPr>
        <p:spPr>
          <a:xfrm>
            <a:off x="319251" y="859219"/>
            <a:ext cx="6014545" cy="610801"/>
          </a:xfrm>
          <a:prstGeom prst="rect">
            <a:avLst/>
          </a:prstGeom>
          <a:solidFill>
            <a:srgbClr val="2A2A63"/>
          </a:solidFill>
          <a:ln>
            <a:solidFill>
              <a:srgbClr val="2A2A63"/>
            </a:solidFill>
          </a:ln>
        </p:spPr>
        <p:style>
          <a:lnRef idx="2">
            <a:schemeClr val="dk1"/>
          </a:lnRef>
          <a:fillRef idx="1">
            <a:schemeClr val="lt1"/>
          </a:fillRef>
          <a:effectRef idx="0">
            <a:schemeClr val="dk1"/>
          </a:effectRef>
          <a:fontRef idx="minor">
            <a:schemeClr val="dk1"/>
          </a:fontRef>
        </p:style>
        <p:txBody>
          <a:bodyPr rtlCol="0" anchor="ctr"/>
          <a:lstStyle/>
          <a:p>
            <a:pPr>
              <a:lnSpc>
                <a:spcPct val="114000"/>
              </a:lnSpc>
            </a:pPr>
            <a:r>
              <a:rPr lang="en-US" dirty="0">
                <a:solidFill>
                  <a:schemeClr val="bg2">
                    <a:lumMod val="20000"/>
                    <a:lumOff val="80000"/>
                  </a:schemeClr>
                </a:solidFill>
              </a:rPr>
              <a:t>How do we place a probabilistic model inside a software system without surrendering the guarantees expected of production software?</a:t>
            </a:r>
          </a:p>
        </p:txBody>
      </p:sp>
    </p:spTree>
    <p:extLst>
      <p:ext uri="{BB962C8B-B14F-4D97-AF65-F5344CB8AC3E}">
        <p14:creationId xmlns:p14="http://schemas.microsoft.com/office/powerpoint/2010/main" val="2006179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8A063-A40D-62DF-A63F-AE1C79C04C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39302-CED6-27BE-CFF3-91EA8DCF60C1}"/>
              </a:ext>
            </a:extLst>
          </p:cNvPr>
          <p:cNvSpPr>
            <a:spLocks noGrp="1"/>
          </p:cNvSpPr>
          <p:nvPr>
            <p:ph type="title"/>
          </p:nvPr>
        </p:nvSpPr>
        <p:spPr/>
        <p:txBody>
          <a:bodyPr/>
          <a:lstStyle/>
          <a:p>
            <a:r>
              <a:rPr lang="en-US" dirty="0"/>
              <a:t>The key question that motivates this course</a:t>
            </a:r>
          </a:p>
        </p:txBody>
      </p:sp>
      <p:sp>
        <p:nvSpPr>
          <p:cNvPr id="3" name="Rectangle 2">
            <a:extLst>
              <a:ext uri="{FF2B5EF4-FFF2-40B4-BE49-F238E27FC236}">
                <a16:creationId xmlns:a16="http://schemas.microsoft.com/office/drawing/2014/main" id="{DA86C63F-F8C9-B040-E7D7-4EEEDA29E775}"/>
              </a:ext>
            </a:extLst>
          </p:cNvPr>
          <p:cNvSpPr/>
          <p:nvPr/>
        </p:nvSpPr>
        <p:spPr>
          <a:xfrm>
            <a:off x="319251" y="859219"/>
            <a:ext cx="6014545" cy="610801"/>
          </a:xfrm>
          <a:prstGeom prst="rect">
            <a:avLst/>
          </a:prstGeom>
          <a:solidFill>
            <a:srgbClr val="2A2A63"/>
          </a:solidFill>
          <a:ln>
            <a:solidFill>
              <a:srgbClr val="2A2A63"/>
            </a:solidFill>
          </a:ln>
        </p:spPr>
        <p:style>
          <a:lnRef idx="2">
            <a:schemeClr val="dk1"/>
          </a:lnRef>
          <a:fillRef idx="1">
            <a:schemeClr val="lt1"/>
          </a:fillRef>
          <a:effectRef idx="0">
            <a:schemeClr val="dk1"/>
          </a:effectRef>
          <a:fontRef idx="minor">
            <a:schemeClr val="dk1"/>
          </a:fontRef>
        </p:style>
        <p:txBody>
          <a:bodyPr rtlCol="0" anchor="ctr"/>
          <a:lstStyle/>
          <a:p>
            <a:pPr>
              <a:lnSpc>
                <a:spcPct val="114000"/>
              </a:lnSpc>
            </a:pPr>
            <a:r>
              <a:rPr lang="en-US" dirty="0">
                <a:solidFill>
                  <a:schemeClr val="bg2">
                    <a:lumMod val="20000"/>
                    <a:lumOff val="80000"/>
                  </a:schemeClr>
                </a:solidFill>
              </a:rPr>
              <a:t>How do we place a </a:t>
            </a:r>
            <a:r>
              <a:rPr lang="en-US" b="1" u="sng" dirty="0">
                <a:solidFill>
                  <a:schemeClr val="bg2">
                    <a:lumMod val="20000"/>
                    <a:lumOff val="80000"/>
                  </a:schemeClr>
                </a:solidFill>
              </a:rPr>
              <a:t>probabilistic</a:t>
            </a:r>
            <a:r>
              <a:rPr lang="en-US" dirty="0">
                <a:solidFill>
                  <a:schemeClr val="bg2">
                    <a:lumMod val="20000"/>
                    <a:lumOff val="80000"/>
                  </a:schemeClr>
                </a:solidFill>
              </a:rPr>
              <a:t> model </a:t>
            </a:r>
            <a:r>
              <a:rPr lang="en-US" b="1" u="sng" dirty="0">
                <a:solidFill>
                  <a:schemeClr val="bg2">
                    <a:lumMod val="20000"/>
                    <a:lumOff val="80000"/>
                  </a:schemeClr>
                </a:solidFill>
              </a:rPr>
              <a:t>inside a software system</a:t>
            </a:r>
            <a:r>
              <a:rPr lang="en-US" dirty="0">
                <a:solidFill>
                  <a:schemeClr val="bg2">
                    <a:lumMod val="20000"/>
                    <a:lumOff val="80000"/>
                  </a:schemeClr>
                </a:solidFill>
              </a:rPr>
              <a:t> without surrendering the </a:t>
            </a:r>
            <a:r>
              <a:rPr lang="en-US" b="1" u="sng" dirty="0">
                <a:solidFill>
                  <a:schemeClr val="bg2">
                    <a:lumMod val="20000"/>
                    <a:lumOff val="80000"/>
                  </a:schemeClr>
                </a:solidFill>
              </a:rPr>
              <a:t>guarantees</a:t>
            </a:r>
            <a:r>
              <a:rPr lang="en-US" dirty="0">
                <a:solidFill>
                  <a:schemeClr val="bg2">
                    <a:lumMod val="20000"/>
                    <a:lumOff val="80000"/>
                  </a:schemeClr>
                </a:solidFill>
              </a:rPr>
              <a:t> expected of production software?</a:t>
            </a:r>
          </a:p>
        </p:txBody>
      </p:sp>
      <p:graphicFrame>
        <p:nvGraphicFramePr>
          <p:cNvPr id="4" name="Table 3">
            <a:extLst>
              <a:ext uri="{FF2B5EF4-FFF2-40B4-BE49-F238E27FC236}">
                <a16:creationId xmlns:a16="http://schemas.microsoft.com/office/drawing/2014/main" id="{46819D92-EDE4-0D80-C40D-030DC2D82AD2}"/>
              </a:ext>
            </a:extLst>
          </p:cNvPr>
          <p:cNvGraphicFramePr>
            <a:graphicFrameLocks noGrp="1"/>
          </p:cNvGraphicFramePr>
          <p:nvPr>
            <p:extLst>
              <p:ext uri="{D42A27DB-BD31-4B8C-83A1-F6EECF244321}">
                <p14:modId xmlns:p14="http://schemas.microsoft.com/office/powerpoint/2010/main" val="2148744025"/>
              </p:ext>
            </p:extLst>
          </p:nvPr>
        </p:nvGraphicFramePr>
        <p:xfrm>
          <a:off x="319250" y="1884593"/>
          <a:ext cx="6014546" cy="1661160"/>
        </p:xfrm>
        <a:graphic>
          <a:graphicData uri="http://schemas.openxmlformats.org/drawingml/2006/table">
            <a:tbl>
              <a:tblPr>
                <a:tableStyleId>{2D5ABB26-0587-4C30-8999-92F81FD0307C}</a:tableStyleId>
              </a:tblPr>
              <a:tblGrid>
                <a:gridCol w="2175643">
                  <a:extLst>
                    <a:ext uri="{9D8B030D-6E8A-4147-A177-3AD203B41FA5}">
                      <a16:colId xmlns:a16="http://schemas.microsoft.com/office/drawing/2014/main" val="217211546"/>
                    </a:ext>
                  </a:extLst>
                </a:gridCol>
                <a:gridCol w="3838903">
                  <a:extLst>
                    <a:ext uri="{9D8B030D-6E8A-4147-A177-3AD203B41FA5}">
                      <a16:colId xmlns:a16="http://schemas.microsoft.com/office/drawing/2014/main" val="1714636532"/>
                    </a:ext>
                  </a:extLst>
                </a:gridCol>
              </a:tblGrid>
              <a:tr h="255270">
                <a:tc>
                  <a:txBody>
                    <a:bodyPr/>
                    <a:lstStyle/>
                    <a:p>
                      <a:pPr algn="l">
                        <a:buNone/>
                      </a:pPr>
                      <a:r>
                        <a:rPr lang="en-US" sz="1000" b="1" dirty="0">
                          <a:effectLst/>
                        </a:rPr>
                        <a:t>Phrase</a:t>
                      </a:r>
                      <a:endParaRPr lang="en-US" sz="10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rPr>
                        <a:t>Why it is in the question</a:t>
                      </a:r>
                      <a:endParaRPr lang="en-US" sz="10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0763243"/>
                  </a:ext>
                </a:extLst>
              </a:tr>
              <a:tr h="575310">
                <a:tc>
                  <a:txBody>
                    <a:bodyPr/>
                    <a:lstStyle/>
                    <a:p>
                      <a:pPr algn="l">
                        <a:buNone/>
                      </a:pPr>
                      <a:r>
                        <a:rPr lang="en-US" sz="1000" b="1" dirty="0">
                          <a:effectLst/>
                        </a:rPr>
                        <a:t>Probabilistic</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Two identical calls are </a:t>
                      </a:r>
                      <a:r>
                        <a:rPr lang="en-US" sz="1000" b="1" dirty="0">
                          <a:solidFill>
                            <a:srgbClr val="2A2A63"/>
                          </a:solidFill>
                          <a:effectLst/>
                        </a:rPr>
                        <a:t>not guaranteed to agree</a:t>
                      </a:r>
                      <a:r>
                        <a:rPr lang="en-US" sz="1000" dirty="0">
                          <a:effectLst/>
                        </a:rPr>
                        <a:t>, and nothing downstream may assume they will</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7777580"/>
                  </a:ext>
                </a:extLst>
              </a:tr>
              <a:tr h="415290">
                <a:tc>
                  <a:txBody>
                    <a:bodyPr/>
                    <a:lstStyle/>
                    <a:p>
                      <a:pPr algn="l">
                        <a:buNone/>
                      </a:pPr>
                      <a:r>
                        <a:rPr lang="en-US" sz="1000" b="1" dirty="0">
                          <a:effectLst/>
                        </a:rPr>
                        <a:t>Inside a software system</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It is </a:t>
                      </a:r>
                      <a:r>
                        <a:rPr lang="en-US" sz="1000" b="1" dirty="0">
                          <a:solidFill>
                            <a:srgbClr val="2A2A63"/>
                          </a:solidFill>
                          <a:effectLst/>
                        </a:rPr>
                        <a:t>one component among several</a:t>
                      </a:r>
                      <a:r>
                        <a:rPr lang="en-US" sz="1000" dirty="0">
                          <a:effectLst/>
                        </a:rPr>
                        <a:t>. It is called, its output is validated, and it may be refused</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361544"/>
                  </a:ext>
                </a:extLst>
              </a:tr>
              <a:tr h="415290">
                <a:tc>
                  <a:txBody>
                    <a:bodyPr/>
                    <a:lstStyle/>
                    <a:p>
                      <a:pPr algn="l">
                        <a:buNone/>
                      </a:pPr>
                      <a:r>
                        <a:rPr lang="en-US" sz="1000" b="1" dirty="0">
                          <a:effectLst/>
                        </a:rPr>
                        <a:t>Guarantees</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The “promises” a system makes to its consumers. Things a </a:t>
                      </a:r>
                      <a:r>
                        <a:rPr lang="en-US" sz="1000" b="1" dirty="0">
                          <a:solidFill>
                            <a:srgbClr val="2A2A63"/>
                          </a:solidFill>
                          <a:effectLst/>
                        </a:rPr>
                        <a:t>caller is entitled to expect</a:t>
                      </a:r>
                      <a:r>
                        <a:rPr lang="en-US" sz="1000" dirty="0">
                          <a:effectLst/>
                        </a:rPr>
                        <a:t> and rely on every time</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8098972"/>
                  </a:ext>
                </a:extLst>
              </a:tr>
            </a:tbl>
          </a:graphicData>
        </a:graphic>
      </p:graphicFrame>
    </p:spTree>
    <p:extLst>
      <p:ext uri="{BB962C8B-B14F-4D97-AF65-F5344CB8AC3E}">
        <p14:creationId xmlns:p14="http://schemas.microsoft.com/office/powerpoint/2010/main" val="18755506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3166E-AD55-87BA-F094-4A6EF9A23D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F3312-51B2-EC34-2E69-5DE12A236EDC}"/>
              </a:ext>
            </a:extLst>
          </p:cNvPr>
          <p:cNvSpPr>
            <a:spLocks noGrp="1"/>
          </p:cNvSpPr>
          <p:nvPr>
            <p:ph type="title"/>
          </p:nvPr>
        </p:nvSpPr>
        <p:spPr/>
        <p:txBody>
          <a:bodyPr/>
          <a:lstStyle/>
          <a:p>
            <a:r>
              <a:rPr lang="en-US" dirty="0"/>
              <a:t>The key question that motivates this course</a:t>
            </a:r>
          </a:p>
        </p:txBody>
      </p:sp>
      <p:sp>
        <p:nvSpPr>
          <p:cNvPr id="3" name="Rectangle 2">
            <a:extLst>
              <a:ext uri="{FF2B5EF4-FFF2-40B4-BE49-F238E27FC236}">
                <a16:creationId xmlns:a16="http://schemas.microsoft.com/office/drawing/2014/main" id="{8FFA006E-AD23-4CAC-BB92-1B5AF8509A96}"/>
              </a:ext>
            </a:extLst>
          </p:cNvPr>
          <p:cNvSpPr/>
          <p:nvPr/>
        </p:nvSpPr>
        <p:spPr>
          <a:xfrm>
            <a:off x="319251" y="859219"/>
            <a:ext cx="6014545" cy="610801"/>
          </a:xfrm>
          <a:prstGeom prst="rect">
            <a:avLst/>
          </a:prstGeom>
          <a:solidFill>
            <a:srgbClr val="2A2A63"/>
          </a:solidFill>
          <a:ln>
            <a:solidFill>
              <a:srgbClr val="2A2A63"/>
            </a:solidFill>
          </a:ln>
        </p:spPr>
        <p:style>
          <a:lnRef idx="2">
            <a:schemeClr val="dk1"/>
          </a:lnRef>
          <a:fillRef idx="1">
            <a:schemeClr val="lt1"/>
          </a:fillRef>
          <a:effectRef idx="0">
            <a:schemeClr val="dk1"/>
          </a:effectRef>
          <a:fontRef idx="minor">
            <a:schemeClr val="dk1"/>
          </a:fontRef>
        </p:style>
        <p:txBody>
          <a:bodyPr rtlCol="0" anchor="ctr"/>
          <a:lstStyle/>
          <a:p>
            <a:pPr>
              <a:lnSpc>
                <a:spcPct val="114000"/>
              </a:lnSpc>
            </a:pPr>
            <a:r>
              <a:rPr lang="en-US" dirty="0">
                <a:solidFill>
                  <a:schemeClr val="bg2">
                    <a:lumMod val="20000"/>
                    <a:lumOff val="80000"/>
                  </a:schemeClr>
                </a:solidFill>
              </a:rPr>
              <a:t>How do we place a </a:t>
            </a:r>
            <a:r>
              <a:rPr lang="en-US" b="1" u="sng" dirty="0">
                <a:solidFill>
                  <a:schemeClr val="bg2">
                    <a:lumMod val="20000"/>
                    <a:lumOff val="80000"/>
                  </a:schemeClr>
                </a:solidFill>
              </a:rPr>
              <a:t>probabilistic</a:t>
            </a:r>
            <a:r>
              <a:rPr lang="en-US" dirty="0">
                <a:solidFill>
                  <a:schemeClr val="bg2">
                    <a:lumMod val="20000"/>
                    <a:lumOff val="80000"/>
                  </a:schemeClr>
                </a:solidFill>
              </a:rPr>
              <a:t> model </a:t>
            </a:r>
            <a:r>
              <a:rPr lang="en-US" b="1" u="sng" dirty="0">
                <a:solidFill>
                  <a:schemeClr val="bg2">
                    <a:lumMod val="20000"/>
                    <a:lumOff val="80000"/>
                  </a:schemeClr>
                </a:solidFill>
              </a:rPr>
              <a:t>inside a software system</a:t>
            </a:r>
            <a:r>
              <a:rPr lang="en-US" dirty="0">
                <a:solidFill>
                  <a:schemeClr val="bg2">
                    <a:lumMod val="20000"/>
                    <a:lumOff val="80000"/>
                  </a:schemeClr>
                </a:solidFill>
              </a:rPr>
              <a:t> without surrendering the </a:t>
            </a:r>
            <a:r>
              <a:rPr lang="en-US" b="1" u="sng" dirty="0">
                <a:solidFill>
                  <a:schemeClr val="bg2">
                    <a:lumMod val="20000"/>
                    <a:lumOff val="80000"/>
                  </a:schemeClr>
                </a:solidFill>
              </a:rPr>
              <a:t>guarantees</a:t>
            </a:r>
            <a:r>
              <a:rPr lang="en-US" dirty="0">
                <a:solidFill>
                  <a:schemeClr val="bg2">
                    <a:lumMod val="20000"/>
                    <a:lumOff val="80000"/>
                  </a:schemeClr>
                </a:solidFill>
              </a:rPr>
              <a:t> expected of production software?</a:t>
            </a:r>
          </a:p>
        </p:txBody>
      </p:sp>
      <p:sp>
        <p:nvSpPr>
          <p:cNvPr id="6" name="Rectangle 5">
            <a:extLst>
              <a:ext uri="{FF2B5EF4-FFF2-40B4-BE49-F238E27FC236}">
                <a16:creationId xmlns:a16="http://schemas.microsoft.com/office/drawing/2014/main" id="{96CFEB25-375B-1C2F-4556-5BA4657E0CA1}"/>
              </a:ext>
            </a:extLst>
          </p:cNvPr>
          <p:cNvSpPr/>
          <p:nvPr/>
        </p:nvSpPr>
        <p:spPr>
          <a:xfrm>
            <a:off x="319251" y="3916457"/>
            <a:ext cx="6014545" cy="441319"/>
          </a:xfrm>
          <a:prstGeom prst="rect">
            <a:avLst/>
          </a:prstGeom>
          <a:noFill/>
          <a:ln>
            <a:solidFill>
              <a:srgbClr val="2A2A63"/>
            </a:solidFill>
          </a:ln>
        </p:spPr>
        <p:style>
          <a:lnRef idx="2">
            <a:schemeClr val="dk1"/>
          </a:lnRef>
          <a:fillRef idx="1">
            <a:schemeClr val="lt1"/>
          </a:fillRef>
          <a:effectRef idx="0">
            <a:schemeClr val="dk1"/>
          </a:effectRef>
          <a:fontRef idx="minor">
            <a:schemeClr val="dk1"/>
          </a:fontRef>
        </p:style>
        <p:txBody>
          <a:bodyPr rtlCol="0" anchor="ctr"/>
          <a:lstStyle/>
          <a:p>
            <a:r>
              <a:rPr lang="en-US" b="1" dirty="0">
                <a:solidFill>
                  <a:srgbClr val="2A2A63"/>
                </a:solidFill>
              </a:rPr>
              <a:t>The agent is a component of a larger system. It is not the entire system.</a:t>
            </a:r>
            <a:endParaRPr lang="en-US" dirty="0">
              <a:solidFill>
                <a:srgbClr val="2A2A63"/>
              </a:solidFill>
            </a:endParaRPr>
          </a:p>
        </p:txBody>
      </p:sp>
      <p:graphicFrame>
        <p:nvGraphicFramePr>
          <p:cNvPr id="5" name="Table 4">
            <a:extLst>
              <a:ext uri="{FF2B5EF4-FFF2-40B4-BE49-F238E27FC236}">
                <a16:creationId xmlns:a16="http://schemas.microsoft.com/office/drawing/2014/main" id="{D1AFF10F-E30A-D358-0FE4-A274065E8764}"/>
              </a:ext>
            </a:extLst>
          </p:cNvPr>
          <p:cNvGraphicFramePr>
            <a:graphicFrameLocks noGrp="1"/>
          </p:cNvGraphicFramePr>
          <p:nvPr>
            <p:extLst>
              <p:ext uri="{D42A27DB-BD31-4B8C-83A1-F6EECF244321}">
                <p14:modId xmlns:p14="http://schemas.microsoft.com/office/powerpoint/2010/main" val="291612122"/>
              </p:ext>
            </p:extLst>
          </p:nvPr>
        </p:nvGraphicFramePr>
        <p:xfrm>
          <a:off x="319250" y="1884593"/>
          <a:ext cx="6014546" cy="1661160"/>
        </p:xfrm>
        <a:graphic>
          <a:graphicData uri="http://schemas.openxmlformats.org/drawingml/2006/table">
            <a:tbl>
              <a:tblPr>
                <a:tableStyleId>{2D5ABB26-0587-4C30-8999-92F81FD0307C}</a:tableStyleId>
              </a:tblPr>
              <a:tblGrid>
                <a:gridCol w="2175643">
                  <a:extLst>
                    <a:ext uri="{9D8B030D-6E8A-4147-A177-3AD203B41FA5}">
                      <a16:colId xmlns:a16="http://schemas.microsoft.com/office/drawing/2014/main" val="217211546"/>
                    </a:ext>
                  </a:extLst>
                </a:gridCol>
                <a:gridCol w="3838903">
                  <a:extLst>
                    <a:ext uri="{9D8B030D-6E8A-4147-A177-3AD203B41FA5}">
                      <a16:colId xmlns:a16="http://schemas.microsoft.com/office/drawing/2014/main" val="1714636532"/>
                    </a:ext>
                  </a:extLst>
                </a:gridCol>
              </a:tblGrid>
              <a:tr h="255270">
                <a:tc>
                  <a:txBody>
                    <a:bodyPr/>
                    <a:lstStyle/>
                    <a:p>
                      <a:pPr algn="l">
                        <a:buNone/>
                      </a:pPr>
                      <a:r>
                        <a:rPr lang="en-US" sz="1000" b="1" dirty="0">
                          <a:effectLst/>
                        </a:rPr>
                        <a:t>Phrase</a:t>
                      </a:r>
                      <a:endParaRPr lang="en-US" sz="10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rPr>
                        <a:t>Why it is in the question</a:t>
                      </a:r>
                      <a:endParaRPr lang="en-US" sz="10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0763243"/>
                  </a:ext>
                </a:extLst>
              </a:tr>
              <a:tr h="575310">
                <a:tc>
                  <a:txBody>
                    <a:bodyPr/>
                    <a:lstStyle/>
                    <a:p>
                      <a:pPr algn="l">
                        <a:buNone/>
                      </a:pPr>
                      <a:r>
                        <a:rPr lang="en-US" sz="1000" b="1" dirty="0">
                          <a:effectLst/>
                        </a:rPr>
                        <a:t>Probabilistic</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Two identical calls are </a:t>
                      </a:r>
                      <a:r>
                        <a:rPr lang="en-US" sz="1000" b="1" dirty="0">
                          <a:solidFill>
                            <a:srgbClr val="2A2A63"/>
                          </a:solidFill>
                          <a:effectLst/>
                        </a:rPr>
                        <a:t>not guaranteed to agree</a:t>
                      </a:r>
                      <a:r>
                        <a:rPr lang="en-US" sz="1000" dirty="0">
                          <a:effectLst/>
                        </a:rPr>
                        <a:t>, and nothing downstream may assume they will</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7777580"/>
                  </a:ext>
                </a:extLst>
              </a:tr>
              <a:tr h="415290">
                <a:tc>
                  <a:txBody>
                    <a:bodyPr/>
                    <a:lstStyle/>
                    <a:p>
                      <a:pPr algn="l">
                        <a:buNone/>
                      </a:pPr>
                      <a:r>
                        <a:rPr lang="en-US" sz="1000" b="1" dirty="0">
                          <a:effectLst/>
                        </a:rPr>
                        <a:t>Inside a software system</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It is </a:t>
                      </a:r>
                      <a:r>
                        <a:rPr lang="en-US" sz="1000" b="1" dirty="0">
                          <a:solidFill>
                            <a:srgbClr val="2A2A63"/>
                          </a:solidFill>
                          <a:effectLst/>
                        </a:rPr>
                        <a:t>one component among several</a:t>
                      </a:r>
                      <a:r>
                        <a:rPr lang="en-US" sz="1000" dirty="0">
                          <a:effectLst/>
                        </a:rPr>
                        <a:t>. It is called, its output is validated, and it may be refused</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361544"/>
                  </a:ext>
                </a:extLst>
              </a:tr>
              <a:tr h="415290">
                <a:tc>
                  <a:txBody>
                    <a:bodyPr/>
                    <a:lstStyle/>
                    <a:p>
                      <a:pPr algn="l">
                        <a:buNone/>
                      </a:pPr>
                      <a:r>
                        <a:rPr lang="en-US" sz="1000" b="1" dirty="0">
                          <a:effectLst/>
                        </a:rPr>
                        <a:t>Guarantees</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The “promises” a system makes to its consumers. Things a </a:t>
                      </a:r>
                      <a:r>
                        <a:rPr lang="en-US" sz="1000" b="1" dirty="0">
                          <a:solidFill>
                            <a:srgbClr val="2A2A63"/>
                          </a:solidFill>
                          <a:effectLst/>
                        </a:rPr>
                        <a:t>caller is entitled to expect</a:t>
                      </a:r>
                      <a:r>
                        <a:rPr lang="en-US" sz="1000" dirty="0">
                          <a:effectLst/>
                        </a:rPr>
                        <a:t> and rely on every time</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8098972"/>
                  </a:ext>
                </a:extLst>
              </a:tr>
            </a:tbl>
          </a:graphicData>
        </a:graphic>
      </p:graphicFrame>
    </p:spTree>
    <p:extLst>
      <p:ext uri="{BB962C8B-B14F-4D97-AF65-F5344CB8AC3E}">
        <p14:creationId xmlns:p14="http://schemas.microsoft.com/office/powerpoint/2010/main" val="4163135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D56D8-1210-12BD-9564-CBFFC3122C5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E031AA2-8EA8-8E59-F8BC-9FB6ECE515A4}"/>
              </a:ext>
            </a:extLst>
          </p:cNvPr>
          <p:cNvPicPr>
            <a:picLocks noChangeAspect="1"/>
          </p:cNvPicPr>
          <p:nvPr/>
        </p:nvPicPr>
        <p:blipFill>
          <a:blip r:embed="rId2"/>
          <a:srcRect/>
          <a:stretch/>
        </p:blipFill>
        <p:spPr>
          <a:xfrm>
            <a:off x="3441794" y="971619"/>
            <a:ext cx="3340559" cy="3207496"/>
          </a:xfrm>
          <a:prstGeom prst="rect">
            <a:avLst/>
          </a:prstGeom>
        </p:spPr>
      </p:pic>
      <p:sp>
        <p:nvSpPr>
          <p:cNvPr id="2" name="Title 1">
            <a:extLst>
              <a:ext uri="{FF2B5EF4-FFF2-40B4-BE49-F238E27FC236}">
                <a16:creationId xmlns:a16="http://schemas.microsoft.com/office/drawing/2014/main" id="{15459AAC-29F4-0412-EBCB-CAFAE16717A4}"/>
              </a:ext>
            </a:extLst>
          </p:cNvPr>
          <p:cNvSpPr>
            <a:spLocks noGrp="1"/>
          </p:cNvSpPr>
          <p:nvPr>
            <p:ph type="title"/>
          </p:nvPr>
        </p:nvSpPr>
        <p:spPr/>
        <p:txBody>
          <a:bodyPr/>
          <a:lstStyle/>
          <a:p>
            <a:r>
              <a:rPr lang="en-US" dirty="0"/>
              <a:t>Prototype vs Production</a:t>
            </a:r>
          </a:p>
        </p:txBody>
      </p:sp>
      <p:sp>
        <p:nvSpPr>
          <p:cNvPr id="16" name="TextBox 15">
            <a:extLst>
              <a:ext uri="{FF2B5EF4-FFF2-40B4-BE49-F238E27FC236}">
                <a16:creationId xmlns:a16="http://schemas.microsoft.com/office/drawing/2014/main" id="{10F3F5DB-65D2-AC9F-3BB8-A1D27A6FFDA8}"/>
              </a:ext>
            </a:extLst>
          </p:cNvPr>
          <p:cNvSpPr txBox="1"/>
          <p:nvPr/>
        </p:nvSpPr>
        <p:spPr>
          <a:xfrm>
            <a:off x="345462" y="4943445"/>
            <a:ext cx="6530865" cy="200055"/>
          </a:xfrm>
          <a:prstGeom prst="rect">
            <a:avLst/>
          </a:prstGeom>
          <a:noFill/>
        </p:spPr>
        <p:txBody>
          <a:bodyPr wrap="square" rtlCol="0">
            <a:spAutoFit/>
          </a:bodyPr>
          <a:lstStyle/>
          <a:p>
            <a:pPr algn="r"/>
            <a:r>
              <a:rPr lang="en-US" sz="700" i="1" dirty="0"/>
              <a:t>Courtesy: https://blog.bytebytego.com/p/ep218-the-typical-ai-agent-stack </a:t>
            </a:r>
            <a:endParaRPr lang="en-US" sz="700" dirty="0"/>
          </a:p>
        </p:txBody>
      </p:sp>
      <p:sp>
        <p:nvSpPr>
          <p:cNvPr id="6" name="TextBox 5">
            <a:extLst>
              <a:ext uri="{FF2B5EF4-FFF2-40B4-BE49-F238E27FC236}">
                <a16:creationId xmlns:a16="http://schemas.microsoft.com/office/drawing/2014/main" id="{9A381B55-4065-305D-1AEF-BF76F60FF398}"/>
              </a:ext>
            </a:extLst>
          </p:cNvPr>
          <p:cNvSpPr txBox="1"/>
          <p:nvPr/>
        </p:nvSpPr>
        <p:spPr>
          <a:xfrm>
            <a:off x="169763" y="1907695"/>
            <a:ext cx="3104464" cy="1188787"/>
          </a:xfrm>
          <a:prstGeom prst="rect">
            <a:avLst/>
          </a:prstGeom>
          <a:noFill/>
        </p:spPr>
        <p:txBody>
          <a:bodyPr wrap="square" rtlCol="0">
            <a:spAutoFit/>
          </a:bodyPr>
          <a:lstStyle/>
          <a:p>
            <a:r>
              <a:rPr lang="en-US" dirty="0">
                <a:latin typeface="Fira Sans" panose="020B0503050000020004" pitchFamily="34" charset="0"/>
                <a:ea typeface="Fira Sans" panose="020B0503050000020004" pitchFamily="34" charset="0"/>
              </a:rPr>
              <a:t>The first </a:t>
            </a:r>
            <a:r>
              <a:rPr lang="en-US" b="1" dirty="0">
                <a:solidFill>
                  <a:srgbClr val="2A2A63"/>
                </a:solidFill>
                <a:latin typeface="Fira Sans" panose="020B0503050000020004" pitchFamily="34" charset="0"/>
                <a:ea typeface="Fira Sans" panose="020B0503050000020004" pitchFamily="34" charset="0"/>
              </a:rPr>
              <a:t>prototype is easy</a:t>
            </a:r>
            <a:r>
              <a:rPr lang="en-US" dirty="0">
                <a:latin typeface="Fira Sans" panose="020B0503050000020004" pitchFamily="34" charset="0"/>
                <a:ea typeface="Fira Sans" panose="020B0503050000020004" pitchFamily="34" charset="0"/>
              </a:rPr>
              <a:t>. You can build one in an afternoon. The model is smart, your test prompts work, </a:t>
            </a:r>
            <a:r>
              <a:rPr lang="en-US" b="1" dirty="0">
                <a:solidFill>
                  <a:srgbClr val="2A2A63"/>
                </a:solidFill>
                <a:latin typeface="Fira Sans" panose="020B0503050000020004" pitchFamily="34" charset="0"/>
                <a:ea typeface="Fira Sans" panose="020B0503050000020004" pitchFamily="34" charset="0"/>
              </a:rPr>
              <a:t>the demo is impressive, and the pilot ships in a week</a:t>
            </a:r>
            <a:r>
              <a:rPr lang="en-US" dirty="0">
                <a:latin typeface="Fira Sans" panose="020B0503050000020004" pitchFamily="34" charset="0"/>
                <a:ea typeface="Fira Sans" panose="020B0503050000020004" pitchFamily="34" charset="0"/>
              </a:rPr>
              <a:t>.</a:t>
            </a:r>
            <a:endParaRPr lang="en-US" sz="1200" dirty="0">
              <a:latin typeface="Fira Sans" panose="020B0503050000020004" pitchFamily="34" charset="0"/>
              <a:ea typeface="Fira Sans" panose="020B0503050000020004" pitchFamily="34" charset="0"/>
            </a:endParaRPr>
          </a:p>
        </p:txBody>
      </p:sp>
    </p:spTree>
    <p:extLst>
      <p:ext uri="{BB962C8B-B14F-4D97-AF65-F5344CB8AC3E}">
        <p14:creationId xmlns:p14="http://schemas.microsoft.com/office/powerpoint/2010/main" val="30069027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735BC-232B-4048-87EB-1BA3F30316E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CE489BD-D3AC-B801-EFCF-0326141AEE8F}"/>
              </a:ext>
            </a:extLst>
          </p:cNvPr>
          <p:cNvPicPr>
            <a:picLocks noChangeAspect="1"/>
          </p:cNvPicPr>
          <p:nvPr/>
        </p:nvPicPr>
        <p:blipFill>
          <a:blip r:embed="rId2"/>
          <a:stretch>
            <a:fillRect/>
          </a:stretch>
        </p:blipFill>
        <p:spPr>
          <a:xfrm>
            <a:off x="3441794" y="643841"/>
            <a:ext cx="3340559" cy="3863052"/>
          </a:xfrm>
          <a:prstGeom prst="rect">
            <a:avLst/>
          </a:prstGeom>
        </p:spPr>
      </p:pic>
      <p:sp>
        <p:nvSpPr>
          <p:cNvPr id="2" name="Title 1">
            <a:extLst>
              <a:ext uri="{FF2B5EF4-FFF2-40B4-BE49-F238E27FC236}">
                <a16:creationId xmlns:a16="http://schemas.microsoft.com/office/drawing/2014/main" id="{AD3886A5-57EA-2A4E-6010-170E786E5FA3}"/>
              </a:ext>
            </a:extLst>
          </p:cNvPr>
          <p:cNvSpPr>
            <a:spLocks noGrp="1"/>
          </p:cNvSpPr>
          <p:nvPr>
            <p:ph type="title"/>
          </p:nvPr>
        </p:nvSpPr>
        <p:spPr/>
        <p:txBody>
          <a:bodyPr/>
          <a:lstStyle/>
          <a:p>
            <a:r>
              <a:rPr lang="en-US" dirty="0"/>
              <a:t>Prototype vs Production</a:t>
            </a:r>
          </a:p>
        </p:txBody>
      </p:sp>
      <p:sp>
        <p:nvSpPr>
          <p:cNvPr id="16" name="TextBox 15">
            <a:extLst>
              <a:ext uri="{FF2B5EF4-FFF2-40B4-BE49-F238E27FC236}">
                <a16:creationId xmlns:a16="http://schemas.microsoft.com/office/drawing/2014/main" id="{4421B80F-794A-4BD1-8B2A-1351D2FE34BF}"/>
              </a:ext>
            </a:extLst>
          </p:cNvPr>
          <p:cNvSpPr txBox="1"/>
          <p:nvPr/>
        </p:nvSpPr>
        <p:spPr>
          <a:xfrm>
            <a:off x="345462" y="4943445"/>
            <a:ext cx="6530865" cy="200055"/>
          </a:xfrm>
          <a:prstGeom prst="rect">
            <a:avLst/>
          </a:prstGeom>
          <a:noFill/>
        </p:spPr>
        <p:txBody>
          <a:bodyPr wrap="square" rtlCol="0">
            <a:spAutoFit/>
          </a:bodyPr>
          <a:lstStyle/>
          <a:p>
            <a:pPr algn="r"/>
            <a:r>
              <a:rPr lang="en-US" sz="700" i="1" dirty="0"/>
              <a:t>Courtesy: https://blog.bytebytego.com/p/ep218-the-typical-ai-agent-stack </a:t>
            </a:r>
            <a:endParaRPr lang="en-US" sz="700" dirty="0"/>
          </a:p>
        </p:txBody>
      </p:sp>
      <p:sp>
        <p:nvSpPr>
          <p:cNvPr id="6" name="TextBox 5">
            <a:extLst>
              <a:ext uri="{FF2B5EF4-FFF2-40B4-BE49-F238E27FC236}">
                <a16:creationId xmlns:a16="http://schemas.microsoft.com/office/drawing/2014/main" id="{79DEB6F3-602C-918E-BACD-C64E4A496097}"/>
              </a:ext>
            </a:extLst>
          </p:cNvPr>
          <p:cNvSpPr txBox="1"/>
          <p:nvPr/>
        </p:nvSpPr>
        <p:spPr>
          <a:xfrm>
            <a:off x="138897" y="1066602"/>
            <a:ext cx="3104464" cy="2862322"/>
          </a:xfrm>
          <a:prstGeom prst="rect">
            <a:avLst/>
          </a:prstGeom>
          <a:noFill/>
        </p:spPr>
        <p:txBody>
          <a:bodyPr wrap="square" rtlCol="0">
            <a:spAutoFit/>
          </a:bodyPr>
          <a:lstStyle/>
          <a:p>
            <a:pPr algn="l"/>
            <a:r>
              <a:rPr lang="en-US" sz="1200" dirty="0">
                <a:latin typeface="+mn-lt"/>
              </a:rPr>
              <a:t>Production is where the challenges arise!</a:t>
            </a:r>
          </a:p>
          <a:p>
            <a:pPr algn="l"/>
            <a:endParaRPr lang="en-US" sz="1200" dirty="0">
              <a:latin typeface="+mn-lt"/>
            </a:endParaRPr>
          </a:p>
          <a:p>
            <a:pPr marL="171450" indent="-171450" algn="l">
              <a:buFont typeface="Wingdings" pitchFamily="2" charset="2"/>
              <a:buChar char="v"/>
            </a:pPr>
            <a:r>
              <a:rPr lang="en-US" sz="1200" b="1" dirty="0">
                <a:latin typeface="+mn-lt"/>
              </a:rPr>
              <a:t>Without identity controls</a:t>
            </a:r>
            <a:r>
              <a:rPr lang="en-US" sz="1200" dirty="0">
                <a:latin typeface="+mn-lt"/>
              </a:rPr>
              <a:t>, the agent runs as a </a:t>
            </a:r>
            <a:r>
              <a:rPr lang="en-US" sz="1200" b="1" dirty="0">
                <a:solidFill>
                  <a:srgbClr val="2A2A63"/>
                </a:solidFill>
                <a:latin typeface="+mn-lt"/>
              </a:rPr>
              <a:t>shared system principal </a:t>
            </a:r>
            <a:r>
              <a:rPr lang="en-US" sz="1200" dirty="0">
                <a:latin typeface="+mn-lt"/>
              </a:rPr>
              <a:t>and there’s no audit trail when something goes wrong. </a:t>
            </a:r>
          </a:p>
          <a:p>
            <a:pPr marL="171450" indent="-171450" algn="l">
              <a:buFont typeface="Wingdings" pitchFamily="2" charset="2"/>
              <a:buChar char="v"/>
            </a:pPr>
            <a:r>
              <a:rPr lang="en-US" sz="1200" b="1" dirty="0">
                <a:latin typeface="+mn-lt"/>
              </a:rPr>
              <a:t>Without guardrails</a:t>
            </a:r>
            <a:r>
              <a:rPr lang="en-US" sz="1200" dirty="0">
                <a:latin typeface="+mn-lt"/>
              </a:rPr>
              <a:t>, it discloses and/or emits something it shouldn’t. </a:t>
            </a:r>
          </a:p>
          <a:p>
            <a:pPr marL="171450" indent="-171450" algn="l">
              <a:buFont typeface="Wingdings" pitchFamily="2" charset="2"/>
              <a:buChar char="v"/>
            </a:pPr>
            <a:r>
              <a:rPr lang="en-US" sz="1200" b="1" dirty="0">
                <a:latin typeface="+mn-lt"/>
              </a:rPr>
              <a:t>Without observability</a:t>
            </a:r>
            <a:r>
              <a:rPr lang="en-US" sz="1200" dirty="0">
                <a:latin typeface="+mn-lt"/>
              </a:rPr>
              <a:t>, you can’t tell </a:t>
            </a:r>
            <a:r>
              <a:rPr lang="en-US" sz="1200" b="1" dirty="0">
                <a:solidFill>
                  <a:srgbClr val="2A2A63"/>
                </a:solidFill>
                <a:latin typeface="+mn-lt"/>
              </a:rPr>
              <a:t>whether quality is improving or degrading</a:t>
            </a:r>
            <a:r>
              <a:rPr lang="en-US" sz="1200" dirty="0">
                <a:latin typeface="+mn-lt"/>
              </a:rPr>
              <a:t>. </a:t>
            </a:r>
          </a:p>
          <a:p>
            <a:pPr algn="l"/>
            <a:endParaRPr lang="en-US" sz="1200" dirty="0">
              <a:latin typeface="+mn-lt"/>
            </a:endParaRPr>
          </a:p>
          <a:p>
            <a:pPr algn="l"/>
            <a:r>
              <a:rPr lang="en-US" sz="1200" dirty="0">
                <a:latin typeface="+mn-lt"/>
              </a:rPr>
              <a:t>None of these problems showed up in the prototype. All of them show up in production.</a:t>
            </a:r>
          </a:p>
        </p:txBody>
      </p:sp>
      <p:sp>
        <p:nvSpPr>
          <p:cNvPr id="7" name="Rounded Rectangle 6">
            <a:extLst>
              <a:ext uri="{FF2B5EF4-FFF2-40B4-BE49-F238E27FC236}">
                <a16:creationId xmlns:a16="http://schemas.microsoft.com/office/drawing/2014/main" id="{4CC07AE2-B649-28FD-1F63-228D33AC5822}"/>
              </a:ext>
            </a:extLst>
          </p:cNvPr>
          <p:cNvSpPr/>
          <p:nvPr/>
        </p:nvSpPr>
        <p:spPr>
          <a:xfrm>
            <a:off x="3773347" y="2160608"/>
            <a:ext cx="540152" cy="227635"/>
          </a:xfrm>
          <a:prstGeom prst="roundRect">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BA18D076-BC18-9675-8E82-53CFA3EB6F6D}"/>
              </a:ext>
            </a:extLst>
          </p:cNvPr>
          <p:cNvSpPr/>
          <p:nvPr/>
        </p:nvSpPr>
        <p:spPr>
          <a:xfrm>
            <a:off x="4413812" y="2160608"/>
            <a:ext cx="694481" cy="227635"/>
          </a:xfrm>
          <a:prstGeom prst="roundRect">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71B95960-8F0E-6D00-1BC8-0167A49961F7}"/>
              </a:ext>
            </a:extLst>
          </p:cNvPr>
          <p:cNvSpPr/>
          <p:nvPr/>
        </p:nvSpPr>
        <p:spPr>
          <a:xfrm>
            <a:off x="5200890" y="2160608"/>
            <a:ext cx="605743" cy="227635"/>
          </a:xfrm>
          <a:prstGeom prst="roundRect">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A5385BB5-F7F2-91F4-B7C5-48271905ECFC}"/>
              </a:ext>
            </a:extLst>
          </p:cNvPr>
          <p:cNvSpPr/>
          <p:nvPr/>
        </p:nvSpPr>
        <p:spPr>
          <a:xfrm>
            <a:off x="5899230" y="2160608"/>
            <a:ext cx="551728" cy="227635"/>
          </a:xfrm>
          <a:prstGeom prst="roundRect">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224D6394-AE67-3E2F-EACC-311BD099070E}"/>
              </a:ext>
            </a:extLst>
          </p:cNvPr>
          <p:cNvSpPr/>
          <p:nvPr/>
        </p:nvSpPr>
        <p:spPr>
          <a:xfrm>
            <a:off x="5656162" y="1041722"/>
            <a:ext cx="92597" cy="84881"/>
          </a:xfrm>
          <a:prstGeom prst="roundRect">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309034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2E2B4-32A8-6EC7-9C87-DBA4A43632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27FBD1-7620-CE83-B8B0-D43388631307}"/>
              </a:ext>
            </a:extLst>
          </p:cNvPr>
          <p:cNvSpPr>
            <a:spLocks noGrp="1"/>
          </p:cNvSpPr>
          <p:nvPr>
            <p:ph type="title"/>
          </p:nvPr>
        </p:nvSpPr>
        <p:spPr/>
        <p:txBody>
          <a:bodyPr/>
          <a:lstStyle/>
          <a:p>
            <a:r>
              <a:rPr lang="en-US" dirty="0"/>
              <a:t>An AI Agent Stack: All its moving parts </a:t>
            </a:r>
          </a:p>
        </p:txBody>
      </p:sp>
      <p:sp>
        <p:nvSpPr>
          <p:cNvPr id="16" name="TextBox 15">
            <a:extLst>
              <a:ext uri="{FF2B5EF4-FFF2-40B4-BE49-F238E27FC236}">
                <a16:creationId xmlns:a16="http://schemas.microsoft.com/office/drawing/2014/main" id="{57458EB5-ED0D-7478-4F15-C95A3BB782D6}"/>
              </a:ext>
            </a:extLst>
          </p:cNvPr>
          <p:cNvSpPr txBox="1"/>
          <p:nvPr/>
        </p:nvSpPr>
        <p:spPr>
          <a:xfrm>
            <a:off x="345462" y="4943445"/>
            <a:ext cx="6530865" cy="200055"/>
          </a:xfrm>
          <a:prstGeom prst="rect">
            <a:avLst/>
          </a:prstGeom>
          <a:noFill/>
        </p:spPr>
        <p:txBody>
          <a:bodyPr wrap="square" rtlCol="0">
            <a:spAutoFit/>
          </a:bodyPr>
          <a:lstStyle/>
          <a:p>
            <a:pPr algn="r"/>
            <a:r>
              <a:rPr lang="en-US" sz="700" i="1" dirty="0"/>
              <a:t>Courtesy: https://blog.bytebytego.com/p/ep218-the-typical-ai-agent-stack </a:t>
            </a:r>
            <a:endParaRPr lang="en-US" sz="700" dirty="0"/>
          </a:p>
        </p:txBody>
      </p:sp>
      <p:pic>
        <p:nvPicPr>
          <p:cNvPr id="3" name="Picture 2">
            <a:extLst>
              <a:ext uri="{FF2B5EF4-FFF2-40B4-BE49-F238E27FC236}">
                <a16:creationId xmlns:a16="http://schemas.microsoft.com/office/drawing/2014/main" id="{550B16DD-FA4F-FB2F-5037-D2C181D9BADB}"/>
              </a:ext>
            </a:extLst>
          </p:cNvPr>
          <p:cNvPicPr>
            <a:picLocks noChangeAspect="1"/>
          </p:cNvPicPr>
          <p:nvPr/>
        </p:nvPicPr>
        <p:blipFill>
          <a:blip r:embed="rId2"/>
          <a:srcRect t="9448" b="3624"/>
          <a:stretch>
            <a:fillRect/>
          </a:stretch>
        </p:blipFill>
        <p:spPr>
          <a:xfrm>
            <a:off x="1343627" y="536293"/>
            <a:ext cx="4170745" cy="4340506"/>
          </a:xfrm>
          <a:prstGeom prst="rect">
            <a:avLst/>
          </a:prstGeom>
          <a:ln w="12700">
            <a:solidFill>
              <a:srgbClr val="2A2A63"/>
            </a:solidFill>
          </a:ln>
          <a:effectLst>
            <a:outerShdw blurRad="50800" dist="38100" dir="2700000" algn="tl" rotWithShape="0">
              <a:srgbClr val="2A2A63">
                <a:alpha val="40000"/>
              </a:srgbClr>
            </a:outerShdw>
          </a:effectLst>
        </p:spPr>
      </p:pic>
    </p:spTree>
    <p:extLst>
      <p:ext uri="{BB962C8B-B14F-4D97-AF65-F5344CB8AC3E}">
        <p14:creationId xmlns:p14="http://schemas.microsoft.com/office/powerpoint/2010/main" val="13501453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5B620-D4EF-52A2-4239-18DBD7FE49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DA0450-A5CC-2E36-CE8C-4F8FD489AADA}"/>
              </a:ext>
            </a:extLst>
          </p:cNvPr>
          <p:cNvSpPr>
            <a:spLocks noGrp="1"/>
          </p:cNvSpPr>
          <p:nvPr>
            <p:ph type="title"/>
          </p:nvPr>
        </p:nvSpPr>
        <p:spPr/>
        <p:txBody>
          <a:bodyPr/>
          <a:lstStyle/>
          <a:p>
            <a:r>
              <a:rPr lang="en-US" dirty="0"/>
              <a:t>Production agentic system in action</a:t>
            </a:r>
          </a:p>
        </p:txBody>
      </p:sp>
      <p:pic>
        <p:nvPicPr>
          <p:cNvPr id="8" name="Picture 7">
            <a:extLst>
              <a:ext uri="{FF2B5EF4-FFF2-40B4-BE49-F238E27FC236}">
                <a16:creationId xmlns:a16="http://schemas.microsoft.com/office/drawing/2014/main" id="{E314764B-2FB0-7738-1386-4E02DBA61CC5}"/>
              </a:ext>
            </a:extLst>
          </p:cNvPr>
          <p:cNvPicPr>
            <a:picLocks noChangeAspect="1"/>
          </p:cNvPicPr>
          <p:nvPr/>
        </p:nvPicPr>
        <p:blipFill>
          <a:blip r:embed="rId2"/>
          <a:stretch>
            <a:fillRect/>
          </a:stretch>
        </p:blipFill>
        <p:spPr>
          <a:xfrm>
            <a:off x="268014" y="630050"/>
            <a:ext cx="6259714" cy="3516821"/>
          </a:xfrm>
          <a:prstGeom prst="rect">
            <a:avLst/>
          </a:prstGeom>
        </p:spPr>
      </p:pic>
      <p:sp>
        <p:nvSpPr>
          <p:cNvPr id="16" name="TextBox 15">
            <a:extLst>
              <a:ext uri="{FF2B5EF4-FFF2-40B4-BE49-F238E27FC236}">
                <a16:creationId xmlns:a16="http://schemas.microsoft.com/office/drawing/2014/main" id="{696F6CD3-14D1-9FA7-FB83-405D80D9CE31}"/>
              </a:ext>
            </a:extLst>
          </p:cNvPr>
          <p:cNvSpPr txBox="1"/>
          <p:nvPr/>
        </p:nvSpPr>
        <p:spPr>
          <a:xfrm>
            <a:off x="78828" y="4201967"/>
            <a:ext cx="6530865" cy="253916"/>
          </a:xfrm>
          <a:prstGeom prst="rect">
            <a:avLst/>
          </a:prstGeom>
          <a:noFill/>
        </p:spPr>
        <p:txBody>
          <a:bodyPr wrap="square" rtlCol="0">
            <a:spAutoFit/>
          </a:bodyPr>
          <a:lstStyle/>
          <a:p>
            <a:pPr algn="r"/>
            <a:r>
              <a:rPr lang="en-US" sz="1000" dirty="0"/>
              <a:t>Anthropic, </a:t>
            </a:r>
            <a:r>
              <a:rPr lang="en-US" sz="1000" i="1" dirty="0">
                <a:hlinkClick r:id="rId3"/>
              </a:rPr>
              <a:t>How we built our multi-agent research system</a:t>
            </a:r>
            <a:endParaRPr lang="en-US" sz="1000" dirty="0"/>
          </a:p>
        </p:txBody>
      </p:sp>
    </p:spTree>
    <p:extLst>
      <p:ext uri="{BB962C8B-B14F-4D97-AF65-F5344CB8AC3E}">
        <p14:creationId xmlns:p14="http://schemas.microsoft.com/office/powerpoint/2010/main" val="4544408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4BC5D-A69E-FA50-4384-649F53EF2A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3C25AA-5113-B747-65C3-74969B3DAF47}"/>
              </a:ext>
            </a:extLst>
          </p:cNvPr>
          <p:cNvSpPr>
            <a:spLocks noGrp="1"/>
          </p:cNvSpPr>
          <p:nvPr>
            <p:ph type="title"/>
          </p:nvPr>
        </p:nvSpPr>
        <p:spPr/>
        <p:txBody>
          <a:bodyPr>
            <a:normAutofit/>
          </a:bodyPr>
          <a:lstStyle/>
          <a:p>
            <a:r>
              <a:rPr lang="en-US" dirty="0"/>
              <a:t>Production agentic system in action</a:t>
            </a:r>
          </a:p>
        </p:txBody>
      </p:sp>
      <p:pic>
        <p:nvPicPr>
          <p:cNvPr id="3" name="Picture 2">
            <a:extLst>
              <a:ext uri="{FF2B5EF4-FFF2-40B4-BE49-F238E27FC236}">
                <a16:creationId xmlns:a16="http://schemas.microsoft.com/office/drawing/2014/main" id="{BDE9DC3B-597A-A70B-9447-D9DDE4C6A163}"/>
              </a:ext>
            </a:extLst>
          </p:cNvPr>
          <p:cNvPicPr>
            <a:picLocks noChangeAspect="1"/>
          </p:cNvPicPr>
          <p:nvPr/>
        </p:nvPicPr>
        <p:blipFill>
          <a:blip r:embed="rId2"/>
          <a:srcRect t="10575" b="7127"/>
          <a:stretch>
            <a:fillRect/>
          </a:stretch>
        </p:blipFill>
        <p:spPr>
          <a:xfrm>
            <a:off x="857250" y="630050"/>
            <a:ext cx="5143500" cy="4233042"/>
          </a:xfrm>
          <a:prstGeom prst="rect">
            <a:avLst/>
          </a:prstGeom>
        </p:spPr>
      </p:pic>
    </p:spTree>
    <p:extLst>
      <p:ext uri="{BB962C8B-B14F-4D97-AF65-F5344CB8AC3E}">
        <p14:creationId xmlns:p14="http://schemas.microsoft.com/office/powerpoint/2010/main" val="35711149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689ED-16AF-23BD-F4BC-EB1C8AA9D2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F88DB3-AD5A-2D4B-CE1B-E6E8EF53312B}"/>
              </a:ext>
            </a:extLst>
          </p:cNvPr>
          <p:cNvSpPr>
            <a:spLocks noGrp="1"/>
          </p:cNvSpPr>
          <p:nvPr>
            <p:ph type="title"/>
          </p:nvPr>
        </p:nvSpPr>
        <p:spPr/>
        <p:txBody>
          <a:bodyPr/>
          <a:lstStyle/>
          <a:p>
            <a:r>
              <a:rPr lang="en-US" dirty="0"/>
              <a:t>What I hope you will learn…</a:t>
            </a:r>
          </a:p>
        </p:txBody>
      </p:sp>
      <p:sp>
        <p:nvSpPr>
          <p:cNvPr id="4" name="Rectangle 3">
            <a:extLst>
              <a:ext uri="{FF2B5EF4-FFF2-40B4-BE49-F238E27FC236}">
                <a16:creationId xmlns:a16="http://schemas.microsoft.com/office/drawing/2014/main" id="{1FBAD5FE-9055-C4B2-9268-F351BBF0110C}"/>
              </a:ext>
            </a:extLst>
          </p:cNvPr>
          <p:cNvSpPr/>
          <p:nvPr/>
        </p:nvSpPr>
        <p:spPr>
          <a:xfrm>
            <a:off x="319251" y="818143"/>
            <a:ext cx="6014545" cy="610801"/>
          </a:xfrm>
          <a:prstGeom prst="rect">
            <a:avLst/>
          </a:prstGeom>
          <a:noFill/>
          <a:ln>
            <a:solidFill>
              <a:srgbClr val="2A2A63"/>
            </a:solidFill>
          </a:ln>
        </p:spPr>
        <p:style>
          <a:lnRef idx="2">
            <a:schemeClr val="dk1"/>
          </a:lnRef>
          <a:fillRef idx="1">
            <a:schemeClr val="lt1"/>
          </a:fillRef>
          <a:effectRef idx="0">
            <a:schemeClr val="dk1"/>
          </a:effectRef>
          <a:fontRef idx="minor">
            <a:schemeClr val="dk1"/>
          </a:fontRef>
        </p:style>
        <p:txBody>
          <a:bodyPr rtlCol="0" anchor="ctr"/>
          <a:lstStyle/>
          <a:p>
            <a:pPr>
              <a:lnSpc>
                <a:spcPct val="114000"/>
              </a:lnSpc>
            </a:pPr>
            <a:r>
              <a:rPr lang="en-US" dirty="0">
                <a:solidFill>
                  <a:srgbClr val="2A2A63"/>
                </a:solidFill>
              </a:rPr>
              <a:t>By the end of this semester, you will </a:t>
            </a:r>
            <a:r>
              <a:rPr lang="en-US" b="1" dirty="0">
                <a:solidFill>
                  <a:srgbClr val="2A2A63"/>
                </a:solidFill>
              </a:rPr>
              <a:t>design a production agentic system</a:t>
            </a:r>
            <a:r>
              <a:rPr lang="en-US" dirty="0">
                <a:solidFill>
                  <a:srgbClr val="2A2A63"/>
                </a:solidFill>
              </a:rPr>
              <a:t> like what you just saw from Anthropic</a:t>
            </a:r>
          </a:p>
        </p:txBody>
      </p:sp>
      <p:graphicFrame>
        <p:nvGraphicFramePr>
          <p:cNvPr id="5" name="Table 4">
            <a:extLst>
              <a:ext uri="{FF2B5EF4-FFF2-40B4-BE49-F238E27FC236}">
                <a16:creationId xmlns:a16="http://schemas.microsoft.com/office/drawing/2014/main" id="{BD6343D9-A95D-16CF-8DED-75D2330C3762}"/>
              </a:ext>
            </a:extLst>
          </p:cNvPr>
          <p:cNvGraphicFramePr>
            <a:graphicFrameLocks noGrp="1"/>
          </p:cNvGraphicFramePr>
          <p:nvPr>
            <p:extLst>
              <p:ext uri="{D42A27DB-BD31-4B8C-83A1-F6EECF244321}">
                <p14:modId xmlns:p14="http://schemas.microsoft.com/office/powerpoint/2010/main" val="3761409169"/>
              </p:ext>
            </p:extLst>
          </p:nvPr>
        </p:nvGraphicFramePr>
        <p:xfrm>
          <a:off x="319251" y="1848532"/>
          <a:ext cx="6014547" cy="2152650"/>
        </p:xfrm>
        <a:graphic>
          <a:graphicData uri="http://schemas.openxmlformats.org/drawingml/2006/table">
            <a:tbl>
              <a:tblPr>
                <a:tableStyleId>{2D5ABB26-0587-4C30-8999-92F81FD0307C}</a:tableStyleId>
              </a:tblPr>
              <a:tblGrid>
                <a:gridCol w="492673">
                  <a:extLst>
                    <a:ext uri="{9D8B030D-6E8A-4147-A177-3AD203B41FA5}">
                      <a16:colId xmlns:a16="http://schemas.microsoft.com/office/drawing/2014/main" val="2383387603"/>
                    </a:ext>
                  </a:extLst>
                </a:gridCol>
                <a:gridCol w="622738">
                  <a:extLst>
                    <a:ext uri="{9D8B030D-6E8A-4147-A177-3AD203B41FA5}">
                      <a16:colId xmlns:a16="http://schemas.microsoft.com/office/drawing/2014/main" val="3809753143"/>
                    </a:ext>
                  </a:extLst>
                </a:gridCol>
                <a:gridCol w="1221452">
                  <a:extLst>
                    <a:ext uri="{9D8B030D-6E8A-4147-A177-3AD203B41FA5}">
                      <a16:colId xmlns:a16="http://schemas.microsoft.com/office/drawing/2014/main" val="2878867459"/>
                    </a:ext>
                  </a:extLst>
                </a:gridCol>
                <a:gridCol w="2838169">
                  <a:extLst>
                    <a:ext uri="{9D8B030D-6E8A-4147-A177-3AD203B41FA5}">
                      <a16:colId xmlns:a16="http://schemas.microsoft.com/office/drawing/2014/main" val="3281739757"/>
                    </a:ext>
                  </a:extLst>
                </a:gridCol>
                <a:gridCol w="839515">
                  <a:extLst>
                    <a:ext uri="{9D8B030D-6E8A-4147-A177-3AD203B41FA5}">
                      <a16:colId xmlns:a16="http://schemas.microsoft.com/office/drawing/2014/main" val="2097169818"/>
                    </a:ext>
                  </a:extLst>
                </a:gridCol>
              </a:tblGrid>
              <a:tr h="0">
                <a:tc>
                  <a:txBody>
                    <a:bodyPr/>
                    <a:lstStyle/>
                    <a:p>
                      <a:pPr algn="l">
                        <a:buNone/>
                      </a:pPr>
                      <a:r>
                        <a:rPr lang="en-US" sz="1000" b="1" dirty="0">
                          <a:solidFill>
                            <a:schemeClr val="tx2"/>
                          </a:solidFill>
                          <a:effectLst/>
                          <a:latin typeface="+mn-lt"/>
                        </a:rPr>
                        <a:t>Unit</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A2A63"/>
                    </a:solidFill>
                  </a:tcPr>
                </a:tc>
                <a:tc>
                  <a:txBody>
                    <a:bodyPr/>
                    <a:lstStyle/>
                    <a:p>
                      <a:pPr algn="l">
                        <a:buNone/>
                      </a:pPr>
                      <a:r>
                        <a:rPr lang="en-US" sz="1000" b="1" dirty="0">
                          <a:solidFill>
                            <a:schemeClr val="tx2"/>
                          </a:solidFill>
                          <a:effectLst/>
                          <a:latin typeface="+mn-lt"/>
                        </a:rPr>
                        <a:t>Weeks</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A2A63"/>
                    </a:solidFill>
                  </a:tcPr>
                </a:tc>
                <a:tc>
                  <a:txBody>
                    <a:bodyPr/>
                    <a:lstStyle/>
                    <a:p>
                      <a:pPr algn="l">
                        <a:buNone/>
                      </a:pPr>
                      <a:r>
                        <a:rPr lang="en-US" sz="1000" b="1" dirty="0">
                          <a:solidFill>
                            <a:schemeClr val="tx2"/>
                          </a:solidFill>
                          <a:effectLst/>
                          <a:latin typeface="+mn-lt"/>
                        </a:rPr>
                        <a:t>What it covers</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A2A63"/>
                    </a:solidFill>
                  </a:tcPr>
                </a:tc>
                <a:tc>
                  <a:txBody>
                    <a:bodyPr/>
                    <a:lstStyle/>
                    <a:p>
                      <a:pPr algn="l">
                        <a:buNone/>
                      </a:pPr>
                      <a:r>
                        <a:rPr lang="en-US" sz="1000" b="1" dirty="0">
                          <a:solidFill>
                            <a:schemeClr val="tx2"/>
                          </a:solidFill>
                          <a:effectLst/>
                          <a:latin typeface="+mn-lt"/>
                        </a:rPr>
                        <a:t>What you’ll learn</a:t>
                      </a:r>
                      <a:endParaRPr lang="en-US" sz="1000" b="1" i="0" dirty="0">
                        <a:solidFill>
                          <a:schemeClr val="tx2"/>
                        </a:solidFill>
                        <a:effectLst/>
                        <a:latin typeface="+mn-lt"/>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A2A63"/>
                    </a:solidFill>
                  </a:tcPr>
                </a:tc>
                <a:tc>
                  <a:txBody>
                    <a:bodyPr/>
                    <a:lstStyle/>
                    <a:p>
                      <a:pPr algn="l">
                        <a:buNone/>
                      </a:pPr>
                      <a:r>
                        <a:rPr lang="en-US" sz="1000" b="1" i="0" dirty="0">
                          <a:solidFill>
                            <a:schemeClr val="tx2"/>
                          </a:solidFill>
                          <a:effectLst/>
                          <a:latin typeface="+mn-lt"/>
                        </a:rPr>
                        <a:t>Homework</a:t>
                      </a: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A2A63"/>
                    </a:solidFill>
                  </a:tcPr>
                </a:tc>
                <a:extLst>
                  <a:ext uri="{0D108BD9-81ED-4DB2-BD59-A6C34878D82A}">
                    <a16:rowId xmlns:a16="http://schemas.microsoft.com/office/drawing/2014/main" val="1248588683"/>
                  </a:ext>
                </a:extLst>
              </a:tr>
              <a:tr h="0">
                <a:tc>
                  <a:txBody>
                    <a:bodyPr/>
                    <a:lstStyle/>
                    <a:p>
                      <a:pPr algn="l">
                        <a:buNone/>
                      </a:pPr>
                      <a:r>
                        <a:rPr lang="en-US" sz="1000" dirty="0">
                          <a:effectLst/>
                          <a:latin typeface="+mn-lt"/>
                        </a:rPr>
                        <a:t>1</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1–3</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Agent architectures and control</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latin typeface="+mn-lt"/>
                        </a:rPr>
                        <a:t>The orchestrator: </a:t>
                      </a:r>
                      <a:r>
                        <a:rPr lang="en-US" sz="1000" dirty="0">
                          <a:effectLst/>
                          <a:latin typeface="+mn-lt"/>
                        </a:rPr>
                        <a:t>who chooses the next operation, and who decides to stop</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i="0" dirty="0">
                          <a:solidFill>
                            <a:srgbClr val="000000"/>
                          </a:solidFill>
                          <a:effectLst/>
                          <a:latin typeface="+mn-lt"/>
                        </a:rPr>
                        <a:t>HW1</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2483195"/>
                  </a:ext>
                </a:extLst>
              </a:tr>
              <a:tr h="0">
                <a:tc>
                  <a:txBody>
                    <a:bodyPr/>
                    <a:lstStyle/>
                    <a:p>
                      <a:pPr algn="l">
                        <a:buNone/>
                      </a:pPr>
                      <a:r>
                        <a:rPr lang="en-US" sz="1000">
                          <a:effectLst/>
                          <a:latin typeface="+mn-lt"/>
                        </a:rPr>
                        <a:t>2</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a:effectLst/>
                          <a:latin typeface="+mn-lt"/>
                        </a:rPr>
                        <a:t>4–6</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a:effectLst/>
                          <a:latin typeface="+mn-lt"/>
                        </a:rPr>
                        <a:t>Tool interfaces and concurrency</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latin typeface="+mn-lt"/>
                        </a:rPr>
                        <a:t>The tools and the subagents:</a:t>
                      </a:r>
                      <a:r>
                        <a:rPr lang="en-US" sz="1000" dirty="0">
                          <a:effectLst/>
                          <a:latin typeface="+mn-lt"/>
                        </a:rPr>
                        <a:t> contracts, dependencies, bounded fan-out</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i="0" dirty="0">
                          <a:solidFill>
                            <a:srgbClr val="000000"/>
                          </a:solidFill>
                          <a:effectLst/>
                          <a:latin typeface="+mn-lt"/>
                        </a:rPr>
                        <a:t>HW2</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9720258"/>
                  </a:ext>
                </a:extLst>
              </a:tr>
              <a:tr h="0">
                <a:tc>
                  <a:txBody>
                    <a:bodyPr/>
                    <a:lstStyle/>
                    <a:p>
                      <a:pPr algn="l">
                        <a:buNone/>
                      </a:pPr>
                      <a:r>
                        <a:rPr lang="en-US" sz="1000">
                          <a:effectLst/>
                          <a:latin typeface="+mn-lt"/>
                        </a:rPr>
                        <a:t>3</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a:effectLst/>
                          <a:latin typeface="+mn-lt"/>
                        </a:rPr>
                        <a:t>8–9</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a:effectLst/>
                          <a:latin typeface="+mn-lt"/>
                        </a:rPr>
                        <a:t>Context, state, and persistence</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latin typeface="+mn-lt"/>
                        </a:rPr>
                        <a:t>Memory and context:</a:t>
                      </a:r>
                      <a:r>
                        <a:rPr lang="en-US" sz="1000" dirty="0">
                          <a:effectLst/>
                          <a:latin typeface="+mn-lt"/>
                        </a:rPr>
                        <a:t> what survives truncation, and what survives a restart</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algn="l">
                        <a:buNone/>
                      </a:pPr>
                      <a:r>
                        <a:rPr lang="en-US" sz="1000" b="1" i="0" dirty="0">
                          <a:solidFill>
                            <a:srgbClr val="000000"/>
                          </a:solidFill>
                          <a:effectLst/>
                          <a:latin typeface="+mn-lt"/>
                        </a:rPr>
                        <a:t>HW3</a:t>
                      </a: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4067791"/>
                  </a:ext>
                </a:extLst>
              </a:tr>
              <a:tr h="0">
                <a:tc>
                  <a:txBody>
                    <a:bodyPr/>
                    <a:lstStyle/>
                    <a:p>
                      <a:pPr algn="l">
                        <a:buNone/>
                      </a:pPr>
                      <a:r>
                        <a:rPr lang="en-US" sz="1000">
                          <a:effectLst/>
                          <a:latin typeface="+mn-lt"/>
                        </a:rPr>
                        <a:t>4</a:t>
                      </a:r>
                      <a:endParaRPr lang="en-US" sz="1000" b="0" i="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10–12</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US" sz="1000" dirty="0">
                          <a:effectLst/>
                          <a:latin typeface="+mn-lt"/>
                        </a:rPr>
                        <a:t>Deployment, recovery, and observability</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US" sz="1000" b="1" dirty="0">
                          <a:effectLst/>
                          <a:latin typeface="+mn-lt"/>
                        </a:rPr>
                        <a:t>The service around all of it: </a:t>
                      </a:r>
                      <a:r>
                        <a:rPr lang="en-US" sz="1000" dirty="0">
                          <a:effectLst/>
                          <a:latin typeface="+mn-lt"/>
                        </a:rPr>
                        <a:t>partial failure, retries, traces</a:t>
                      </a:r>
                      <a:endParaRPr lang="en-US" sz="1000" b="0" i="0" dirty="0">
                        <a:solidFill>
                          <a:srgbClr val="000000"/>
                        </a:solidFill>
                        <a:effectLst/>
                        <a:latin typeface="+mn-lt"/>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vMerge="1">
                  <a:txBody>
                    <a:bodyPr/>
                    <a:lstStyle/>
                    <a:p>
                      <a:pPr algn="l">
                        <a:buNone/>
                      </a:pPr>
                      <a:endParaRPr lang="en-US" sz="1050" b="0" i="0" dirty="0">
                        <a:solidFill>
                          <a:srgbClr val="000000"/>
                        </a:solidFill>
                        <a:effectLst/>
                        <a:latin typeface="-apple-system"/>
                      </a:endParaRPr>
                    </a:p>
                  </a:txBody>
                  <a:tcPr marL="95250" marR="95250" marT="47625" marB="47625" anchor="ctr"/>
                </a:tc>
                <a:extLst>
                  <a:ext uri="{0D108BD9-81ED-4DB2-BD59-A6C34878D82A}">
                    <a16:rowId xmlns:a16="http://schemas.microsoft.com/office/drawing/2014/main" val="1049005399"/>
                  </a:ext>
                </a:extLst>
              </a:tr>
            </a:tbl>
          </a:graphicData>
        </a:graphic>
      </p:graphicFrame>
    </p:spTree>
    <p:extLst>
      <p:ext uri="{BB962C8B-B14F-4D97-AF65-F5344CB8AC3E}">
        <p14:creationId xmlns:p14="http://schemas.microsoft.com/office/powerpoint/2010/main" val="4497239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42FDE-675F-A948-0E22-791DEC07BD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F274F69-DC79-B0F2-4CFA-888172C68F6C}"/>
              </a:ext>
            </a:extLst>
          </p:cNvPr>
          <p:cNvSpPr txBox="1"/>
          <p:nvPr/>
        </p:nvSpPr>
        <p:spPr>
          <a:xfrm>
            <a:off x="719302" y="2217807"/>
            <a:ext cx="5419396" cy="707886"/>
          </a:xfrm>
          <a:prstGeom prst="rect">
            <a:avLst/>
          </a:prstGeom>
          <a:noFill/>
        </p:spPr>
        <p:txBody>
          <a:bodyPr wrap="square" rtlCol="0">
            <a:spAutoFit/>
          </a:bodyPr>
          <a:lstStyle/>
          <a:p>
            <a:pPr algn="ctr"/>
            <a:r>
              <a:rPr lang="en-US" sz="4000" b="1" dirty="0">
                <a:solidFill>
                  <a:schemeClr val="bg2">
                    <a:lumMod val="20000"/>
                    <a:lumOff val="80000"/>
                  </a:schemeClr>
                </a:solidFill>
                <a:latin typeface="+mj-lt"/>
              </a:rPr>
              <a:t>Course Logistics</a:t>
            </a:r>
          </a:p>
        </p:txBody>
      </p:sp>
    </p:spTree>
    <p:extLst>
      <p:ext uri="{BB962C8B-B14F-4D97-AF65-F5344CB8AC3E}">
        <p14:creationId xmlns:p14="http://schemas.microsoft.com/office/powerpoint/2010/main" val="39787148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6A287-CC8A-D1E1-E5DB-E14F4C30C1E2}"/>
              </a:ext>
            </a:extLst>
          </p:cNvPr>
          <p:cNvSpPr>
            <a:spLocks noGrp="1"/>
          </p:cNvSpPr>
          <p:nvPr>
            <p:ph type="title"/>
          </p:nvPr>
        </p:nvSpPr>
        <p:spPr/>
        <p:txBody>
          <a:bodyPr/>
          <a:lstStyle/>
          <a:p>
            <a:r>
              <a:rPr lang="en-US" dirty="0"/>
              <a:t>Where the course lives</a:t>
            </a:r>
          </a:p>
        </p:txBody>
      </p:sp>
      <p:graphicFrame>
        <p:nvGraphicFramePr>
          <p:cNvPr id="3" name="Table 2">
            <a:extLst>
              <a:ext uri="{FF2B5EF4-FFF2-40B4-BE49-F238E27FC236}">
                <a16:creationId xmlns:a16="http://schemas.microsoft.com/office/drawing/2014/main" id="{84B4B26E-4758-9CF4-1E1A-DF5072BF35A2}"/>
              </a:ext>
            </a:extLst>
          </p:cNvPr>
          <p:cNvGraphicFramePr>
            <a:graphicFrameLocks noGrp="1"/>
          </p:cNvGraphicFramePr>
          <p:nvPr>
            <p:extLst>
              <p:ext uri="{D42A27DB-BD31-4B8C-83A1-F6EECF244321}">
                <p14:modId xmlns:p14="http://schemas.microsoft.com/office/powerpoint/2010/main" val="3196178063"/>
              </p:ext>
            </p:extLst>
          </p:nvPr>
        </p:nvGraphicFramePr>
        <p:xfrm>
          <a:off x="1143000" y="1107480"/>
          <a:ext cx="4572000" cy="2388870"/>
        </p:xfrm>
        <a:graphic>
          <a:graphicData uri="http://schemas.openxmlformats.org/drawingml/2006/table">
            <a:tbl>
              <a:tblPr firstRow="1" bandRow="1">
                <a:tableStyleId>{2D5ABB26-0587-4C30-8999-92F81FD0307C}</a:tableStyleId>
              </a:tblPr>
              <a:tblGrid>
                <a:gridCol w="1149724">
                  <a:extLst>
                    <a:ext uri="{9D8B030D-6E8A-4147-A177-3AD203B41FA5}">
                      <a16:colId xmlns:a16="http://schemas.microsoft.com/office/drawing/2014/main" val="2271713243"/>
                    </a:ext>
                  </a:extLst>
                </a:gridCol>
                <a:gridCol w="3422276">
                  <a:extLst>
                    <a:ext uri="{9D8B030D-6E8A-4147-A177-3AD203B41FA5}">
                      <a16:colId xmlns:a16="http://schemas.microsoft.com/office/drawing/2014/main" val="1569624038"/>
                    </a:ext>
                  </a:extLst>
                </a:gridCol>
              </a:tblGrid>
              <a:tr h="415290">
                <a:tc>
                  <a:txBody>
                    <a:bodyPr/>
                    <a:lstStyle/>
                    <a:p>
                      <a:r>
                        <a:rPr lang="en-US" b="1" dirty="0"/>
                        <a:t>Course website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hlinkClick r:id="rId2"/>
                        </a:rPr>
                        <a:t>https://COMS6998-E019.github.io </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6892486"/>
                  </a:ext>
                </a:extLst>
              </a:tr>
              <a:tr h="415290">
                <a:tc>
                  <a:txBody>
                    <a:bodyPr/>
                    <a:lstStyle/>
                    <a:p>
                      <a:r>
                        <a:rPr lang="en-US" b="1" dirty="0"/>
                        <a:t>CourseWorks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050" b="0" i="0" u="none" strike="noStrike" cap="none" spc="0" dirty="0">
                          <a:solidFill>
                            <a:schemeClr val="tx1"/>
                          </a:solidFill>
                          <a:effectLst/>
                          <a:latin typeface="+mn-lt"/>
                          <a:ea typeface="+mn-ea"/>
                          <a:cs typeface="+mn-cs"/>
                          <a:sym typeface="Arial"/>
                        </a:rPr>
                        <a:t>Discussions for anything the class benefits from; TA announcement; grades</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379968"/>
                  </a:ext>
                </a:extLst>
              </a:tr>
              <a:tr h="415290">
                <a:tc>
                  <a:txBody>
                    <a:bodyPr/>
                    <a:lstStyle/>
                    <a:p>
                      <a:r>
                        <a:rPr lang="en-US" b="1" dirty="0"/>
                        <a:t>Course Hours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2A2A63"/>
                          </a:solidFill>
                        </a:rPr>
                        <a:t>Fridays 2:10PM to 4:00PM</a:t>
                      </a:r>
                      <a:br>
                        <a:rPr lang="en-US" b="1" dirty="0"/>
                      </a:br>
                      <a:r>
                        <a:rPr lang="en-US" dirty="0"/>
                        <a:t>•  Structured as </a:t>
                      </a:r>
                      <a:r>
                        <a:rPr lang="en-US" b="1" dirty="0">
                          <a:solidFill>
                            <a:srgbClr val="2A2A63"/>
                          </a:solidFill>
                        </a:rPr>
                        <a:t>two 45-50 min lectures</a:t>
                      </a:r>
                      <a:endParaRPr lang="en-US" b="1" dirty="0">
                        <a:solidFill>
                          <a:schemeClr val="accent4">
                            <a:lumMod val="75000"/>
                          </a:schemeClr>
                        </a:solidFill>
                      </a:endParaRPr>
                    </a:p>
                    <a:p>
                      <a:r>
                        <a:rPr lang="en-US" dirty="0"/>
                        <a:t>•  A </a:t>
                      </a:r>
                      <a:r>
                        <a:rPr lang="en-US" b="1" dirty="0">
                          <a:solidFill>
                            <a:srgbClr val="2A2A63"/>
                          </a:solidFill>
                        </a:rPr>
                        <a:t>15 min break </a:t>
                      </a:r>
                      <a:r>
                        <a:rPr lang="en-US" dirty="0"/>
                        <a:t>in between the two lectures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8894868"/>
                  </a:ext>
                </a:extLst>
              </a:tr>
              <a:tr h="415290">
                <a:tc>
                  <a:txBody>
                    <a:bodyPr/>
                    <a:lstStyle/>
                    <a:p>
                      <a:r>
                        <a:rPr lang="en-US" b="1" dirty="0"/>
                        <a:t>Office Hours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050" b="0" i="0" u="none" strike="noStrike" cap="none" spc="0" dirty="0">
                          <a:solidFill>
                            <a:schemeClr val="tx1"/>
                          </a:solidFill>
                          <a:effectLst/>
                          <a:latin typeface="+mn-lt"/>
                          <a:ea typeface="+mn-ea"/>
                          <a:cs typeface="+mn-cs"/>
                          <a:sym typeface="Arial"/>
                        </a:rPr>
                        <a:t>Fridays 12:00–13:30, immediately before lecture. And happy to meet via zoom in this time doesn’t work</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9828879"/>
                  </a:ext>
                </a:extLst>
              </a:tr>
              <a:tr h="415290">
                <a:tc>
                  <a:txBody>
                    <a:bodyPr/>
                    <a:lstStyle/>
                    <a:p>
                      <a:r>
                        <a:rPr lang="en-US" b="1" dirty="0"/>
                        <a:t>Email</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050" b="0" i="0" u="none" strike="noStrike" cap="none" spc="0" dirty="0">
                          <a:solidFill>
                            <a:schemeClr val="tx1"/>
                          </a:solidFill>
                          <a:effectLst/>
                          <a:latin typeface="+mn-lt"/>
                          <a:ea typeface="+mn-ea"/>
                          <a:cs typeface="+mn-cs"/>
                          <a:sym typeface="Arial"/>
                          <a:hlinkClick r:id="rId3"/>
                        </a:rPr>
                        <a:t>rk3080@columbia.edu</a:t>
                      </a:r>
                      <a:r>
                        <a:rPr lang="en-US" sz="1050" b="0" i="0" u="none" strike="noStrike" cap="none" spc="0" dirty="0">
                          <a:solidFill>
                            <a:schemeClr val="tx1"/>
                          </a:solidFill>
                          <a:effectLst/>
                          <a:latin typeface="+mn-lt"/>
                          <a:ea typeface="+mn-ea"/>
                          <a:cs typeface="+mn-cs"/>
                          <a:sym typeface="Arial"/>
                        </a:rPr>
                        <a:t>  for everything else incl. accommodations, illness, extensions beyond the late-day policy</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9729185"/>
                  </a:ext>
                </a:extLst>
              </a:tr>
            </a:tbl>
          </a:graphicData>
        </a:graphic>
      </p:graphicFrame>
    </p:spTree>
    <p:extLst>
      <p:ext uri="{BB962C8B-B14F-4D97-AF65-F5344CB8AC3E}">
        <p14:creationId xmlns:p14="http://schemas.microsoft.com/office/powerpoint/2010/main" val="10997967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9B85B-A21F-0290-09DE-912A698181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97E11E-81FB-D445-07CD-E4302EEC5625}"/>
              </a:ext>
            </a:extLst>
          </p:cNvPr>
          <p:cNvSpPr>
            <a:spLocks noGrp="1"/>
          </p:cNvSpPr>
          <p:nvPr>
            <p:ph type="title"/>
          </p:nvPr>
        </p:nvSpPr>
        <p:spPr/>
        <p:txBody>
          <a:bodyPr/>
          <a:lstStyle/>
          <a:p>
            <a:r>
              <a:rPr lang="en-US" dirty="0"/>
              <a:t>Where the course lives</a:t>
            </a:r>
          </a:p>
        </p:txBody>
      </p:sp>
      <p:graphicFrame>
        <p:nvGraphicFramePr>
          <p:cNvPr id="3" name="Table 2">
            <a:extLst>
              <a:ext uri="{FF2B5EF4-FFF2-40B4-BE49-F238E27FC236}">
                <a16:creationId xmlns:a16="http://schemas.microsoft.com/office/drawing/2014/main" id="{C5BF3C4E-0DC3-5BB8-FF4B-40DA9D3026E3}"/>
              </a:ext>
            </a:extLst>
          </p:cNvPr>
          <p:cNvGraphicFramePr>
            <a:graphicFrameLocks noGrp="1"/>
          </p:cNvGraphicFramePr>
          <p:nvPr>
            <p:extLst>
              <p:ext uri="{D42A27DB-BD31-4B8C-83A1-F6EECF244321}">
                <p14:modId xmlns:p14="http://schemas.microsoft.com/office/powerpoint/2010/main" val="991765030"/>
              </p:ext>
            </p:extLst>
          </p:nvPr>
        </p:nvGraphicFramePr>
        <p:xfrm>
          <a:off x="1143000" y="1107480"/>
          <a:ext cx="4572000" cy="2388870"/>
        </p:xfrm>
        <a:graphic>
          <a:graphicData uri="http://schemas.openxmlformats.org/drawingml/2006/table">
            <a:tbl>
              <a:tblPr firstRow="1" bandRow="1">
                <a:tableStyleId>{2D5ABB26-0587-4C30-8999-92F81FD0307C}</a:tableStyleId>
              </a:tblPr>
              <a:tblGrid>
                <a:gridCol w="1149724">
                  <a:extLst>
                    <a:ext uri="{9D8B030D-6E8A-4147-A177-3AD203B41FA5}">
                      <a16:colId xmlns:a16="http://schemas.microsoft.com/office/drawing/2014/main" val="2271713243"/>
                    </a:ext>
                  </a:extLst>
                </a:gridCol>
                <a:gridCol w="3422276">
                  <a:extLst>
                    <a:ext uri="{9D8B030D-6E8A-4147-A177-3AD203B41FA5}">
                      <a16:colId xmlns:a16="http://schemas.microsoft.com/office/drawing/2014/main" val="1569624038"/>
                    </a:ext>
                  </a:extLst>
                </a:gridCol>
              </a:tblGrid>
              <a:tr h="415290">
                <a:tc>
                  <a:txBody>
                    <a:bodyPr/>
                    <a:lstStyle/>
                    <a:p>
                      <a:r>
                        <a:rPr lang="en-US" b="1" dirty="0"/>
                        <a:t>Course website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hlinkClick r:id="rId2"/>
                        </a:rPr>
                        <a:t>https://COMSE6998-019.github.io </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6892486"/>
                  </a:ext>
                </a:extLst>
              </a:tr>
              <a:tr h="415290">
                <a:tc>
                  <a:txBody>
                    <a:bodyPr/>
                    <a:lstStyle/>
                    <a:p>
                      <a:r>
                        <a:rPr lang="en-US" b="1" dirty="0"/>
                        <a:t>CourseWorks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050" b="0" i="0" u="none" strike="noStrike" cap="none" spc="0" dirty="0">
                          <a:solidFill>
                            <a:schemeClr val="tx1"/>
                          </a:solidFill>
                          <a:effectLst/>
                          <a:latin typeface="+mn-lt"/>
                          <a:ea typeface="+mn-ea"/>
                          <a:cs typeface="+mn-cs"/>
                          <a:sym typeface="Arial"/>
                        </a:rPr>
                        <a:t>Discussions for anything the class benefits from; TA announcement; grades</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379968"/>
                  </a:ext>
                </a:extLst>
              </a:tr>
              <a:tr h="415290">
                <a:tc>
                  <a:txBody>
                    <a:bodyPr/>
                    <a:lstStyle/>
                    <a:p>
                      <a:r>
                        <a:rPr lang="en-US" b="1" dirty="0"/>
                        <a:t>Course Hours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a:solidFill>
                            <a:srgbClr val="2A2A63"/>
                          </a:solidFill>
                        </a:rPr>
                        <a:t>Fridays 2:10PM to 4:00PM</a:t>
                      </a:r>
                      <a:br>
                        <a:rPr lang="en-US" b="1" dirty="0"/>
                      </a:br>
                      <a:r>
                        <a:rPr lang="en-US" dirty="0"/>
                        <a:t>•  Structured as </a:t>
                      </a:r>
                      <a:r>
                        <a:rPr lang="en-US" b="1" dirty="0">
                          <a:solidFill>
                            <a:srgbClr val="2A2A63"/>
                          </a:solidFill>
                        </a:rPr>
                        <a:t>two 45-50 min lectures</a:t>
                      </a:r>
                      <a:r>
                        <a:rPr lang="en-US" b="1" dirty="0">
                          <a:solidFill>
                            <a:schemeClr val="accent4">
                              <a:lumMod val="75000"/>
                            </a:schemeClr>
                          </a:solidFill>
                        </a:rPr>
                        <a:t>*</a:t>
                      </a:r>
                    </a:p>
                    <a:p>
                      <a:r>
                        <a:rPr lang="en-US" dirty="0"/>
                        <a:t>•  A </a:t>
                      </a:r>
                      <a:r>
                        <a:rPr lang="en-US" b="1" dirty="0">
                          <a:solidFill>
                            <a:srgbClr val="2A2A63"/>
                          </a:solidFill>
                        </a:rPr>
                        <a:t>15 min break </a:t>
                      </a:r>
                      <a:r>
                        <a:rPr lang="en-US" dirty="0"/>
                        <a:t>in between the two lectures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8894868"/>
                  </a:ext>
                </a:extLst>
              </a:tr>
              <a:tr h="415290">
                <a:tc>
                  <a:txBody>
                    <a:bodyPr/>
                    <a:lstStyle/>
                    <a:p>
                      <a:r>
                        <a:rPr lang="en-US" b="1" dirty="0"/>
                        <a:t>Office Hours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050" b="0" i="0" u="none" strike="noStrike" cap="none" spc="0" dirty="0">
                          <a:solidFill>
                            <a:schemeClr val="tx1"/>
                          </a:solidFill>
                          <a:effectLst/>
                          <a:latin typeface="+mn-lt"/>
                          <a:ea typeface="+mn-ea"/>
                          <a:cs typeface="+mn-cs"/>
                          <a:sym typeface="Arial"/>
                        </a:rPr>
                        <a:t>Fridays 12:00–13:30, immediately before lecture. And happy to meet via zoom in this time doesn’t work</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9828879"/>
                  </a:ext>
                </a:extLst>
              </a:tr>
              <a:tr h="415290">
                <a:tc>
                  <a:txBody>
                    <a:bodyPr/>
                    <a:lstStyle/>
                    <a:p>
                      <a:r>
                        <a:rPr lang="en-US" b="1" dirty="0"/>
                        <a:t>Email</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050" b="0" i="0" u="none" strike="noStrike" cap="none" spc="0" dirty="0">
                          <a:solidFill>
                            <a:schemeClr val="tx1"/>
                          </a:solidFill>
                          <a:effectLst/>
                          <a:latin typeface="+mn-lt"/>
                          <a:ea typeface="+mn-ea"/>
                          <a:cs typeface="+mn-cs"/>
                          <a:sym typeface="Arial"/>
                          <a:hlinkClick r:id="rId3"/>
                        </a:rPr>
                        <a:t>rk3080@columbia.edu</a:t>
                      </a:r>
                      <a:r>
                        <a:rPr lang="en-US" sz="1050" b="0" i="0" u="none" strike="noStrike" cap="none" spc="0" dirty="0">
                          <a:solidFill>
                            <a:schemeClr val="tx1"/>
                          </a:solidFill>
                          <a:effectLst/>
                          <a:latin typeface="+mn-lt"/>
                          <a:ea typeface="+mn-ea"/>
                          <a:cs typeface="+mn-cs"/>
                          <a:sym typeface="Arial"/>
                        </a:rPr>
                        <a:t>  for everything else incl. accommodations, illness, extensions beyond the late-day policy</a:t>
                      </a:r>
                      <a:endParaRPr lang="en-US"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9729185"/>
                  </a:ext>
                </a:extLst>
              </a:tr>
            </a:tbl>
          </a:graphicData>
        </a:graphic>
      </p:graphicFrame>
      <p:sp>
        <p:nvSpPr>
          <p:cNvPr id="4" name="TextBox 3">
            <a:extLst>
              <a:ext uri="{FF2B5EF4-FFF2-40B4-BE49-F238E27FC236}">
                <a16:creationId xmlns:a16="http://schemas.microsoft.com/office/drawing/2014/main" id="{CC7150BF-0559-AB2F-828E-25560FD88704}"/>
              </a:ext>
            </a:extLst>
          </p:cNvPr>
          <p:cNvSpPr txBox="1"/>
          <p:nvPr/>
        </p:nvSpPr>
        <p:spPr>
          <a:xfrm>
            <a:off x="4845934" y="3496350"/>
            <a:ext cx="998991" cy="261610"/>
          </a:xfrm>
          <a:prstGeom prst="rect">
            <a:avLst/>
          </a:prstGeom>
          <a:noFill/>
        </p:spPr>
        <p:txBody>
          <a:bodyPr wrap="none" rtlCol="0">
            <a:spAutoFit/>
          </a:bodyPr>
          <a:lstStyle/>
          <a:p>
            <a:pPr algn="l"/>
            <a:r>
              <a:rPr lang="en-US" sz="1050" i="1" dirty="0">
                <a:solidFill>
                  <a:schemeClr val="accent4">
                    <a:lumMod val="75000"/>
                  </a:schemeClr>
                </a:solidFill>
                <a:latin typeface="+mn-lt"/>
              </a:rPr>
              <a:t>except today</a:t>
            </a:r>
          </a:p>
        </p:txBody>
      </p:sp>
    </p:spTree>
    <p:extLst>
      <p:ext uri="{BB962C8B-B14F-4D97-AF65-F5344CB8AC3E}">
        <p14:creationId xmlns:p14="http://schemas.microsoft.com/office/powerpoint/2010/main" val="7080079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D9B10-2FC6-F4ED-3C93-631A6C9AFA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947407-2FD5-97E2-19CC-83F8D36D14B7}"/>
              </a:ext>
            </a:extLst>
          </p:cNvPr>
          <p:cNvSpPr>
            <a:spLocks noGrp="1"/>
          </p:cNvSpPr>
          <p:nvPr>
            <p:ph type="title"/>
          </p:nvPr>
        </p:nvSpPr>
        <p:spPr/>
        <p:txBody>
          <a:bodyPr/>
          <a:lstStyle/>
          <a:p>
            <a:r>
              <a:rPr lang="en-US" dirty="0"/>
              <a:t>Homework, Grades, and Exams</a:t>
            </a:r>
          </a:p>
        </p:txBody>
      </p:sp>
      <p:graphicFrame>
        <p:nvGraphicFramePr>
          <p:cNvPr id="3" name="Table 2">
            <a:extLst>
              <a:ext uri="{FF2B5EF4-FFF2-40B4-BE49-F238E27FC236}">
                <a16:creationId xmlns:a16="http://schemas.microsoft.com/office/drawing/2014/main" id="{F5153355-5688-657A-F5EB-D666DB4B5D6A}"/>
              </a:ext>
            </a:extLst>
          </p:cNvPr>
          <p:cNvGraphicFramePr>
            <a:graphicFrameLocks noGrp="1"/>
          </p:cNvGraphicFramePr>
          <p:nvPr>
            <p:extLst>
              <p:ext uri="{D42A27DB-BD31-4B8C-83A1-F6EECF244321}">
                <p14:modId xmlns:p14="http://schemas.microsoft.com/office/powerpoint/2010/main" val="963060513"/>
              </p:ext>
            </p:extLst>
          </p:nvPr>
        </p:nvGraphicFramePr>
        <p:xfrm>
          <a:off x="303486" y="696000"/>
          <a:ext cx="5974188" cy="2011680"/>
        </p:xfrm>
        <a:graphic>
          <a:graphicData uri="http://schemas.openxmlformats.org/drawingml/2006/table">
            <a:tbl>
              <a:tblPr firstRow="1" bandRow="1">
                <a:tableStyleId>{2D5ABB26-0587-4C30-8999-92F81FD0307C}</a:tableStyleId>
              </a:tblPr>
              <a:tblGrid>
                <a:gridCol w="1108852">
                  <a:extLst>
                    <a:ext uri="{9D8B030D-6E8A-4147-A177-3AD203B41FA5}">
                      <a16:colId xmlns:a16="http://schemas.microsoft.com/office/drawing/2014/main" val="2271713243"/>
                    </a:ext>
                  </a:extLst>
                </a:gridCol>
                <a:gridCol w="697485">
                  <a:extLst>
                    <a:ext uri="{9D8B030D-6E8A-4147-A177-3AD203B41FA5}">
                      <a16:colId xmlns:a16="http://schemas.microsoft.com/office/drawing/2014/main" val="1569624038"/>
                    </a:ext>
                  </a:extLst>
                </a:gridCol>
                <a:gridCol w="2328231">
                  <a:extLst>
                    <a:ext uri="{9D8B030D-6E8A-4147-A177-3AD203B41FA5}">
                      <a16:colId xmlns:a16="http://schemas.microsoft.com/office/drawing/2014/main" val="3690437143"/>
                    </a:ext>
                  </a:extLst>
                </a:gridCol>
                <a:gridCol w="1839620">
                  <a:extLst>
                    <a:ext uri="{9D8B030D-6E8A-4147-A177-3AD203B41FA5}">
                      <a16:colId xmlns:a16="http://schemas.microsoft.com/office/drawing/2014/main" val="2087928053"/>
                    </a:ext>
                  </a:extLst>
                </a:gridCol>
              </a:tblGrid>
              <a:tr h="0">
                <a:tc>
                  <a:txBody>
                    <a:bodyPr/>
                    <a:lstStyle/>
                    <a:p>
                      <a:pPr algn="ctr"/>
                      <a:r>
                        <a:rPr lang="en-US" sz="1200" b="1" dirty="0">
                          <a:solidFill>
                            <a:schemeClr val="tx2"/>
                          </a:solidFill>
                        </a:rPr>
                        <a:t>Item</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A2A63"/>
                    </a:solidFill>
                  </a:tcPr>
                </a:tc>
                <a:tc>
                  <a:txBody>
                    <a:bodyPr/>
                    <a:lstStyle/>
                    <a:p>
                      <a:pPr algn="ctr"/>
                      <a:r>
                        <a:rPr lang="en-US" sz="1200" b="1" dirty="0">
                          <a:solidFill>
                            <a:schemeClr val="tx2"/>
                          </a:solidFill>
                        </a:rPr>
                        <a:t>Weight</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A2A63"/>
                    </a:solidFill>
                  </a:tcPr>
                </a:tc>
                <a:tc>
                  <a:txBody>
                    <a:bodyPr/>
                    <a:lstStyle/>
                    <a:p>
                      <a:pPr algn="ctr"/>
                      <a:r>
                        <a:rPr lang="en-US" sz="1200" b="1" dirty="0">
                          <a:solidFill>
                            <a:schemeClr val="tx2"/>
                          </a:solidFill>
                        </a:rPr>
                        <a:t>When</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A2A63"/>
                    </a:solidFill>
                  </a:tcPr>
                </a:tc>
                <a:tc>
                  <a:txBody>
                    <a:bodyPr/>
                    <a:lstStyle/>
                    <a:p>
                      <a:pPr algn="ctr"/>
                      <a:r>
                        <a:rPr lang="en-US" sz="1200" b="1" dirty="0">
                          <a:solidFill>
                            <a:schemeClr val="tx2"/>
                          </a:solidFill>
                        </a:rPr>
                        <a:t>Format</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A2A63"/>
                    </a:solidFill>
                  </a:tcPr>
                </a:tc>
                <a:extLst>
                  <a:ext uri="{0D108BD9-81ED-4DB2-BD59-A6C34878D82A}">
                    <a16:rowId xmlns:a16="http://schemas.microsoft.com/office/drawing/2014/main" val="2356892486"/>
                  </a:ext>
                </a:extLst>
              </a:tr>
              <a:tr h="0">
                <a:tc>
                  <a:txBody>
                    <a:bodyPr/>
                    <a:lstStyle/>
                    <a:p>
                      <a:r>
                        <a:rPr lang="en-US" sz="1200" b="1" dirty="0"/>
                        <a:t>Homework 1</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Dates on the site (tentative)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Team submission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379968"/>
                  </a:ext>
                </a:extLst>
              </a:tr>
              <a:tr h="0">
                <a:tc>
                  <a:txBody>
                    <a:bodyPr/>
                    <a:lstStyle/>
                    <a:p>
                      <a:r>
                        <a:rPr lang="en-US" sz="1200" b="1" dirty="0"/>
                        <a:t>Homework 2</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Dates on the site (tentative)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Team submission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9828879"/>
                  </a:ext>
                </a:extLst>
              </a:tr>
              <a:tr h="0">
                <a:tc>
                  <a:txBody>
                    <a:bodyPr/>
                    <a:lstStyle/>
                    <a:p>
                      <a:r>
                        <a:rPr lang="en-US" sz="1200" b="1" dirty="0"/>
                        <a:t>Midterm</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October 23</a:t>
                      </a:r>
                      <a:r>
                        <a:rPr lang="en-US" sz="1200" baseline="30000" dirty="0"/>
                        <a:t>rd</a:t>
                      </a:r>
                      <a:r>
                        <a:rPr lang="en-US" sz="1200" dirty="0"/>
                        <a:t>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40 mins (closed book) covering units 1 and 2</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69729185"/>
                  </a:ext>
                </a:extLst>
              </a:tr>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t>Homework 3</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Dates on the site (tentative)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200" dirty="0"/>
                        <a:t>Team submission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2416679"/>
                  </a:ext>
                </a:extLst>
              </a:tr>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t>Final</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r>
                        <a:rPr lang="en-US" sz="1200" b="1" dirty="0"/>
                        <a:t>20%</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r>
                        <a:rPr lang="en-US" sz="1200" dirty="0"/>
                        <a:t>December 17</a:t>
                      </a:r>
                      <a:r>
                        <a:rPr lang="en-US" sz="1200" baseline="30000" dirty="0"/>
                        <a:t>th</a:t>
                      </a:r>
                      <a:r>
                        <a:rPr lang="en-US" sz="1200" dirty="0"/>
                        <a:t> </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dirty="0"/>
                        <a:t>40 mins (closed book) covering units 1 to 4</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31543740"/>
                  </a:ext>
                </a:extLst>
              </a:tr>
            </a:tbl>
          </a:graphicData>
        </a:graphic>
      </p:graphicFrame>
      <p:sp>
        <p:nvSpPr>
          <p:cNvPr id="4" name="Rectangle 3">
            <a:extLst>
              <a:ext uri="{FF2B5EF4-FFF2-40B4-BE49-F238E27FC236}">
                <a16:creationId xmlns:a16="http://schemas.microsoft.com/office/drawing/2014/main" id="{42A062EF-CBC5-ACF3-52AD-AA35EE4A920E}"/>
              </a:ext>
            </a:extLst>
          </p:cNvPr>
          <p:cNvSpPr/>
          <p:nvPr/>
        </p:nvSpPr>
        <p:spPr>
          <a:xfrm>
            <a:off x="303487" y="2944702"/>
            <a:ext cx="5974188" cy="752655"/>
          </a:xfrm>
          <a:prstGeom prst="rect">
            <a:avLst/>
          </a:prstGeom>
          <a:noFill/>
          <a:ln w="19050">
            <a:solidFill>
              <a:srgbClr val="2A2A63"/>
            </a:solidFill>
          </a:ln>
        </p:spPr>
        <p:txBody>
          <a:bodyPr wrap="square">
            <a:spAutoFit/>
          </a:bodyPr>
          <a:lstStyle/>
          <a:p>
            <a:r>
              <a:rPr lang="en-US" sz="1200" dirty="0">
                <a:solidFill>
                  <a:srgbClr val="000000"/>
                </a:solidFill>
                <a:latin typeface="+mj-lt"/>
                <a:cs typeface="Arial"/>
              </a:rPr>
              <a:t>Homework is done in </a:t>
            </a:r>
            <a:r>
              <a:rPr lang="en-US" sz="1200" b="1" dirty="0">
                <a:solidFill>
                  <a:srgbClr val="2A2A63"/>
                </a:solidFill>
                <a:latin typeface="+mj-lt"/>
                <a:cs typeface="Arial"/>
              </a:rPr>
              <a:t>teams (of 2-3)</a:t>
            </a:r>
            <a:r>
              <a:rPr lang="en-US" sz="1200" dirty="0">
                <a:solidFill>
                  <a:srgbClr val="000000"/>
                </a:solidFill>
                <a:latin typeface="+mj-lt"/>
                <a:cs typeface="Arial"/>
              </a:rPr>
              <a:t>, and a team keeps </a:t>
            </a:r>
            <a:r>
              <a:rPr lang="en-US" sz="1200" b="1" dirty="0">
                <a:solidFill>
                  <a:srgbClr val="2A2A63"/>
                </a:solidFill>
                <a:latin typeface="+mj-lt"/>
                <a:cs typeface="Arial"/>
              </a:rPr>
              <a:t>one codebase for the whole semester</a:t>
            </a:r>
            <a:r>
              <a:rPr lang="en-US" sz="1200" dirty="0">
                <a:solidFill>
                  <a:srgbClr val="000000"/>
                </a:solidFill>
                <a:latin typeface="+mj-lt"/>
                <a:cs typeface="Arial"/>
              </a:rPr>
              <a:t>. Homework 2 builds on homework 1; homework 3 builds on homework 2 and so on. </a:t>
            </a:r>
          </a:p>
        </p:txBody>
      </p:sp>
      <p:sp>
        <p:nvSpPr>
          <p:cNvPr id="5" name="TextBox 4">
            <a:extLst>
              <a:ext uri="{FF2B5EF4-FFF2-40B4-BE49-F238E27FC236}">
                <a16:creationId xmlns:a16="http://schemas.microsoft.com/office/drawing/2014/main" id="{CDA6BACA-091E-F0B6-4BB4-E43178A5EAD8}"/>
              </a:ext>
            </a:extLst>
          </p:cNvPr>
          <p:cNvSpPr txBox="1"/>
          <p:nvPr/>
        </p:nvSpPr>
        <p:spPr>
          <a:xfrm>
            <a:off x="303486" y="3777700"/>
            <a:ext cx="5974188" cy="1015663"/>
          </a:xfrm>
          <a:prstGeom prst="rect">
            <a:avLst/>
          </a:prstGeom>
          <a:noFill/>
          <a:ln w="19050">
            <a:solidFill>
              <a:srgbClr val="2A2A63"/>
            </a:solidFill>
          </a:ln>
        </p:spPr>
        <p:txBody>
          <a:bodyPr wrap="square">
            <a:spAutoFit/>
          </a:bodyPr>
          <a:lstStyle/>
          <a:p>
            <a:r>
              <a:rPr lang="en-US" sz="1200" b="1" i="0" dirty="0">
                <a:solidFill>
                  <a:srgbClr val="2A2A63"/>
                </a:solidFill>
                <a:effectLst/>
                <a:latin typeface="+mj-lt"/>
              </a:rPr>
              <a:t>Tests are always written and closed book. </a:t>
            </a:r>
            <a:r>
              <a:rPr lang="en-US" sz="1200" i="0" dirty="0">
                <a:solidFill>
                  <a:srgbClr val="000000"/>
                </a:solidFill>
                <a:effectLst/>
                <a:latin typeface="+mj-lt"/>
              </a:rPr>
              <a:t>They assess conceptual understanding, architectural reasoning, and the ability to analyze system behavior.</a:t>
            </a:r>
            <a:br>
              <a:rPr lang="en-US" sz="1200" i="0" dirty="0">
                <a:solidFill>
                  <a:srgbClr val="000000"/>
                </a:solidFill>
                <a:effectLst/>
                <a:latin typeface="+mj-lt"/>
              </a:rPr>
            </a:br>
            <a:br>
              <a:rPr lang="en-US" sz="1200" i="0" dirty="0">
                <a:solidFill>
                  <a:srgbClr val="000000"/>
                </a:solidFill>
                <a:effectLst/>
                <a:latin typeface="+mj-lt"/>
              </a:rPr>
            </a:br>
            <a:r>
              <a:rPr lang="en-US" sz="1200" i="0" dirty="0">
                <a:solidFill>
                  <a:srgbClr val="000000"/>
                </a:solidFill>
                <a:effectLst/>
                <a:latin typeface="+mj-lt"/>
              </a:rPr>
              <a:t>A </a:t>
            </a:r>
            <a:r>
              <a:rPr lang="en-US" sz="1200" b="1" i="0" dirty="0">
                <a:solidFill>
                  <a:srgbClr val="2A2A63"/>
                </a:solidFill>
                <a:effectLst/>
                <a:latin typeface="+mj-lt"/>
              </a:rPr>
              <a:t>comprehensive reading list and lecture notes will be provided</a:t>
            </a:r>
            <a:r>
              <a:rPr lang="en-US" sz="1200" i="0" dirty="0">
                <a:solidFill>
                  <a:srgbClr val="000000"/>
                </a:solidFill>
                <a:effectLst/>
                <a:latin typeface="+mj-lt"/>
              </a:rPr>
              <a:t> by the teaching staff.</a:t>
            </a:r>
            <a:endParaRPr lang="en-US" sz="1200" dirty="0">
              <a:latin typeface="+mj-lt"/>
            </a:endParaRPr>
          </a:p>
        </p:txBody>
      </p:sp>
    </p:spTree>
    <p:extLst>
      <p:ext uri="{BB962C8B-B14F-4D97-AF65-F5344CB8AC3E}">
        <p14:creationId xmlns:p14="http://schemas.microsoft.com/office/powerpoint/2010/main" val="35919138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8589B-CF4B-5B2B-D753-F9C151397D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97F301-905B-6747-EF90-724A0F00AF06}"/>
              </a:ext>
            </a:extLst>
          </p:cNvPr>
          <p:cNvSpPr>
            <a:spLocks noGrp="1"/>
          </p:cNvSpPr>
          <p:nvPr>
            <p:ph type="title"/>
          </p:nvPr>
        </p:nvSpPr>
        <p:spPr/>
        <p:txBody>
          <a:bodyPr/>
          <a:lstStyle/>
          <a:p>
            <a:r>
              <a:rPr lang="en-US" dirty="0"/>
              <a:t>Prerequisites, Tech Stack, and Late days</a:t>
            </a:r>
          </a:p>
        </p:txBody>
      </p:sp>
      <p:graphicFrame>
        <p:nvGraphicFramePr>
          <p:cNvPr id="8" name="Content Placeholder 7">
            <a:extLst>
              <a:ext uri="{FF2B5EF4-FFF2-40B4-BE49-F238E27FC236}">
                <a16:creationId xmlns:a16="http://schemas.microsoft.com/office/drawing/2014/main" id="{C3A7883C-5273-1275-74A5-91F584629046}"/>
              </a:ext>
            </a:extLst>
          </p:cNvPr>
          <p:cNvGraphicFramePr>
            <a:graphicFrameLocks noGrp="1"/>
          </p:cNvGraphicFramePr>
          <p:nvPr>
            <p:ph idx="1"/>
            <p:extLst>
              <p:ext uri="{D42A27DB-BD31-4B8C-83A1-F6EECF244321}">
                <p14:modId xmlns:p14="http://schemas.microsoft.com/office/powerpoint/2010/main" val="933727729"/>
              </p:ext>
            </p:extLst>
          </p:nvPr>
        </p:nvGraphicFramePr>
        <p:xfrm>
          <a:off x="111889" y="773328"/>
          <a:ext cx="6651584" cy="3944990"/>
        </p:xfrm>
        <a:graphic>
          <a:graphicData uri="http://schemas.openxmlformats.org/drawingml/2006/table">
            <a:tbl>
              <a:tblPr firstRow="1" bandRow="1">
                <a:tableStyleId>{073A0DAA-6AF3-43AB-8588-CEC1D06C72B9}</a:tableStyleId>
              </a:tblPr>
              <a:tblGrid>
                <a:gridCol w="1520602">
                  <a:extLst>
                    <a:ext uri="{9D8B030D-6E8A-4147-A177-3AD203B41FA5}">
                      <a16:colId xmlns:a16="http://schemas.microsoft.com/office/drawing/2014/main" val="700089793"/>
                    </a:ext>
                  </a:extLst>
                </a:gridCol>
                <a:gridCol w="5130982">
                  <a:extLst>
                    <a:ext uri="{9D8B030D-6E8A-4147-A177-3AD203B41FA5}">
                      <a16:colId xmlns:a16="http://schemas.microsoft.com/office/drawing/2014/main" val="1369608622"/>
                    </a:ext>
                  </a:extLst>
                </a:gridCol>
              </a:tblGrid>
              <a:tr h="370840">
                <a:tc>
                  <a:txBody>
                    <a:bodyPr/>
                    <a:lstStyle/>
                    <a:p>
                      <a:pPr>
                        <a:lnSpc>
                          <a:spcPct val="125000"/>
                        </a:lnSpc>
                      </a:pPr>
                      <a:r>
                        <a:rPr lang="en-US" sz="1200" b="1" dirty="0">
                          <a:solidFill>
                            <a:schemeClr val="accent2"/>
                          </a:solidFill>
                        </a:rPr>
                        <a:t>Python/Typescript</a:t>
                      </a:r>
                    </a:p>
                  </a:txBody>
                  <a:tcPr anchor="ct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25000"/>
                        </a:lnSpc>
                      </a:pPr>
                      <a:r>
                        <a:rPr lang="en-US" sz="1200" b="0" dirty="0">
                          <a:solidFill>
                            <a:schemeClr val="accent2"/>
                          </a:solidFill>
                        </a:rPr>
                        <a:t>You will read and write a moderate amount of it every week and read/debug it</a:t>
                      </a: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5041080"/>
                  </a:ext>
                </a:extLst>
              </a:tr>
              <a:tr h="370840">
                <a:tc>
                  <a:txBody>
                    <a:bodyPr/>
                    <a:lstStyle/>
                    <a:p>
                      <a:pPr>
                        <a:lnSpc>
                          <a:spcPct val="125000"/>
                        </a:lnSpc>
                      </a:pPr>
                      <a:r>
                        <a:rPr lang="en-US" sz="1200" b="1" dirty="0">
                          <a:solidFill>
                            <a:schemeClr val="accent2"/>
                          </a:solidFill>
                        </a:rPr>
                        <a:t>Agent knowledge</a:t>
                      </a:r>
                    </a:p>
                  </a:txBody>
                  <a:tcPr anchor="ct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25000"/>
                        </a:lnSpc>
                      </a:pPr>
                      <a:r>
                        <a:rPr lang="en-US" sz="1200" b="0" i="0" u="none" strike="noStrike" cap="none" spc="0" dirty="0">
                          <a:solidFill>
                            <a:schemeClr val="dk1"/>
                          </a:solidFill>
                          <a:effectLst/>
                          <a:latin typeface="+mn-lt"/>
                          <a:ea typeface="+mn-ea"/>
                          <a:cs typeface="+mn-cs"/>
                          <a:sym typeface="Arial"/>
                        </a:rPr>
                        <a:t>Honestly, </a:t>
                      </a:r>
                      <a:r>
                        <a:rPr lang="en-US" sz="1200" b="1" i="0" u="none" strike="noStrike" cap="none" spc="0" dirty="0">
                          <a:solidFill>
                            <a:srgbClr val="2A2A63"/>
                          </a:solidFill>
                          <a:effectLst/>
                          <a:latin typeface="+mn-lt"/>
                          <a:ea typeface="+mn-ea"/>
                          <a:cs typeface="+mn-cs"/>
                          <a:sym typeface="Arial"/>
                        </a:rPr>
                        <a:t>not required</a:t>
                      </a:r>
                      <a:r>
                        <a:rPr lang="en-US" sz="1200" b="0" i="0" u="none" strike="noStrike" cap="none" spc="0" dirty="0">
                          <a:solidFill>
                            <a:schemeClr val="dk1"/>
                          </a:solidFill>
                          <a:effectLst/>
                          <a:latin typeface="+mn-lt"/>
                          <a:ea typeface="+mn-ea"/>
                          <a:cs typeface="+mn-cs"/>
                          <a:sym typeface="Arial"/>
                        </a:rPr>
                        <a:t>. You’ll be learning it as you work through the course. </a:t>
                      </a:r>
                      <a:endParaRPr lang="en-US" sz="1200" b="0" dirty="0">
                        <a:solidFill>
                          <a:schemeClr val="accent2"/>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3679507"/>
                  </a:ext>
                </a:extLst>
              </a:tr>
              <a:tr h="535998">
                <a:tc>
                  <a:txBody>
                    <a:bodyPr/>
                    <a:lstStyle/>
                    <a:p>
                      <a:pPr>
                        <a:lnSpc>
                          <a:spcPct val="125000"/>
                        </a:lnSpc>
                      </a:pPr>
                      <a:r>
                        <a:rPr lang="en-US" sz="1200" b="1" i="0" u="none" strike="noStrike" cap="none" spc="0" dirty="0">
                          <a:solidFill>
                            <a:schemeClr val="dk1"/>
                          </a:solidFill>
                          <a:effectLst/>
                          <a:latin typeface="+mn-lt"/>
                          <a:ea typeface="+mn-ea"/>
                          <a:cs typeface="+mn-cs"/>
                          <a:sym typeface="Arial"/>
                        </a:rPr>
                        <a:t>Systems background</a:t>
                      </a:r>
                      <a:endParaRPr lang="en-US" sz="1200" b="0" dirty="0">
                        <a:solidFill>
                          <a:schemeClr val="accent2"/>
                        </a:solidFill>
                      </a:endParaRPr>
                    </a:p>
                  </a:txBody>
                  <a:tcPr anchor="ct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25000"/>
                        </a:lnSpc>
                      </a:pPr>
                      <a:r>
                        <a:rPr lang="en-US" sz="1200" b="1" dirty="0">
                          <a:solidFill>
                            <a:srgbClr val="2A2A63"/>
                          </a:solidFill>
                        </a:rPr>
                        <a:t>Not required</a:t>
                      </a:r>
                      <a:r>
                        <a:rPr lang="en-US" sz="1200" b="1" dirty="0">
                          <a:solidFill>
                            <a:schemeClr val="accent2"/>
                          </a:solidFill>
                        </a:rPr>
                        <a:t>. </a:t>
                      </a:r>
                      <a:r>
                        <a:rPr lang="en-US" sz="1200" b="0" dirty="0">
                          <a:solidFill>
                            <a:schemeClr val="accent2"/>
                          </a:solidFill>
                        </a:rPr>
                        <a:t>We’ll talk about </a:t>
                      </a:r>
                      <a:r>
                        <a:rPr lang="en-US" sz="1200" b="0" i="0" u="none" strike="noStrike" cap="none" spc="0" dirty="0">
                          <a:solidFill>
                            <a:schemeClr val="dk1"/>
                          </a:solidFill>
                          <a:effectLst/>
                          <a:latin typeface="+mn-lt"/>
                          <a:ea typeface="+mn-ea"/>
                          <a:cs typeface="+mn-cs"/>
                          <a:sym typeface="Arial"/>
                        </a:rPr>
                        <a:t>processes, memory, concurrency, failure, etc. You’ll learn these along the way.</a:t>
                      </a:r>
                      <a:endParaRPr lang="en-US" sz="1200" b="0" dirty="0">
                        <a:solidFill>
                          <a:schemeClr val="accent2"/>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46306"/>
                  </a:ext>
                </a:extLst>
              </a:tr>
              <a:tr h="572828">
                <a:tc gridSpan="2">
                  <a:txBody>
                    <a:bodyPr/>
                    <a:lstStyle/>
                    <a:p>
                      <a:pPr marL="171450" indent="-171450">
                        <a:lnSpc>
                          <a:spcPct val="125000"/>
                        </a:lnSpc>
                        <a:buFont typeface="Arial" panose="020B0604020202020204" pitchFamily="34" charset="0"/>
                        <a:buChar char="•"/>
                      </a:pPr>
                      <a:r>
                        <a:rPr lang="en-US" sz="1200" b="1" i="0" u="none" strike="noStrike" cap="none" spc="0" dirty="0">
                          <a:solidFill>
                            <a:srgbClr val="2A2A63"/>
                          </a:solidFill>
                          <a:effectLst/>
                          <a:latin typeface="+mn-lt"/>
                          <a:ea typeface="+mn-ea"/>
                          <a:cs typeface="+mn-cs"/>
                          <a:sym typeface="Arial"/>
                        </a:rPr>
                        <a:t>Kubernetes will be taught.</a:t>
                      </a:r>
                      <a:r>
                        <a:rPr lang="en-US" sz="1200" b="0" i="0" u="none" strike="noStrike" cap="none" spc="0" dirty="0">
                          <a:solidFill>
                            <a:srgbClr val="2A2A63"/>
                          </a:solidFill>
                          <a:effectLst/>
                          <a:latin typeface="+mn-lt"/>
                          <a:ea typeface="+mn-ea"/>
                          <a:cs typeface="+mn-cs"/>
                          <a:sym typeface="Arial"/>
                        </a:rPr>
                        <a:t> </a:t>
                      </a:r>
                      <a:r>
                        <a:rPr lang="en-US" sz="1200" b="0" i="0" u="none" strike="noStrike" cap="none" spc="0" dirty="0">
                          <a:solidFill>
                            <a:schemeClr val="dk1"/>
                          </a:solidFill>
                          <a:effectLst/>
                          <a:latin typeface="+mn-lt"/>
                          <a:ea typeface="+mn-ea"/>
                          <a:cs typeface="+mn-cs"/>
                          <a:sym typeface="Arial"/>
                        </a:rPr>
                        <a:t>Big parts of units 3 and 4 run on it, and no prior Kubernetes experience is expected. If you already know it, great! Some of unit 4 will be a revision.</a:t>
                      </a:r>
                      <a:endParaRPr lang="en-US" sz="1200" b="0" dirty="0">
                        <a:solidFill>
                          <a:schemeClr val="accent2"/>
                        </a:solidFill>
                      </a:endParaRPr>
                    </a:p>
                  </a:txBody>
                  <a:tcPr anchor="ctr">
                    <a:lnL w="12700" cmpd="sng">
                      <a:noFill/>
                    </a:lnL>
                    <a:lnR w="12700" cmpd="sng">
                      <a:noFill/>
                    </a:lnR>
                    <a:lnT w="1270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b="0" dirty="0">
                        <a:solidFill>
                          <a:schemeClr val="accent2"/>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8905833"/>
                  </a:ext>
                </a:extLst>
              </a:tr>
              <a:tr h="733063">
                <a:tc gridSpan="2">
                  <a:txBody>
                    <a:bodyPr/>
                    <a:lstStyle/>
                    <a:p>
                      <a:pPr marL="171450" indent="-171450">
                        <a:lnSpc>
                          <a:spcPct val="150000"/>
                        </a:lnSpc>
                        <a:buFont typeface="Arial" panose="020B0604020202020204" pitchFamily="34" charset="0"/>
                        <a:buChar char="•"/>
                      </a:pPr>
                      <a:r>
                        <a:rPr lang="en-US" sz="1200" b="1" dirty="0">
                          <a:solidFill>
                            <a:srgbClr val="2A2A63"/>
                          </a:solidFill>
                        </a:rPr>
                        <a:t>Agent Framework. </a:t>
                      </a:r>
                      <a:r>
                        <a:rPr lang="en-US" sz="1200" b="0" dirty="0">
                          <a:solidFill>
                            <a:schemeClr val="accent2"/>
                          </a:solidFill>
                        </a:rPr>
                        <a:t>LangGraph is used for pedagogical reasons. </a:t>
                      </a:r>
                      <a:r>
                        <a:rPr lang="en-US" sz="1200" b="1" i="0" u="none" strike="noStrike" cap="none" spc="0" dirty="0">
                          <a:solidFill>
                            <a:srgbClr val="2A2A63"/>
                          </a:solidFill>
                          <a:effectLst/>
                          <a:latin typeface="+mn-lt"/>
                          <a:ea typeface="+mn-ea"/>
                          <a:cs typeface="+mn-cs"/>
                          <a:sym typeface="Arial"/>
                        </a:rPr>
                        <a:t>Another framework is acceptable</a:t>
                      </a:r>
                      <a:r>
                        <a:rPr lang="en-US" sz="1200" b="0" i="0" u="none" strike="noStrike" cap="none" spc="0" dirty="0">
                          <a:solidFill>
                            <a:schemeClr val="dk1"/>
                          </a:solidFill>
                          <a:effectLst/>
                          <a:latin typeface="+mn-lt"/>
                          <a:ea typeface="+mn-ea"/>
                          <a:cs typeface="+mn-cs"/>
                          <a:sym typeface="Arial"/>
                        </a:rPr>
                        <a:t> provided it meets the same behavioral expectations that each assignment explores.</a:t>
                      </a:r>
                      <a:endParaRPr lang="en-US" sz="1200" b="1" dirty="0">
                        <a:solidFill>
                          <a:schemeClr val="accent2"/>
                        </a:solidFill>
                      </a:endParaRPr>
                    </a:p>
                  </a:txBody>
                  <a:tcPr anchor="ctr">
                    <a:lnL w="12700" cmpd="sng">
                      <a:noFill/>
                    </a:lnL>
                    <a:lnR w="12700" cmpd="sng">
                      <a:noFill/>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b="0" dirty="0">
                        <a:solidFill>
                          <a:schemeClr val="accent2"/>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3422700"/>
                  </a:ext>
                </a:extLst>
              </a:tr>
              <a:tr h="370840">
                <a:tc gridSpan="2">
                  <a:txBody>
                    <a:bodyPr/>
                    <a:lstStyle/>
                    <a:p>
                      <a:pPr marL="171450" indent="-171450">
                        <a:lnSpc>
                          <a:spcPct val="150000"/>
                        </a:lnSpc>
                        <a:buFont typeface="Arial" panose="020B0604020202020204" pitchFamily="34" charset="0"/>
                        <a:buChar char="•"/>
                      </a:pPr>
                      <a:r>
                        <a:rPr lang="en-US" sz="1200" b="1" i="0" u="none" strike="noStrike" cap="none" spc="0" dirty="0">
                          <a:solidFill>
                            <a:srgbClr val="2A2A63"/>
                          </a:solidFill>
                          <a:effectLst/>
                          <a:latin typeface="+mn-lt"/>
                          <a:ea typeface="+mn-ea"/>
                          <a:cs typeface="+mn-cs"/>
                          <a:sym typeface="Arial"/>
                        </a:rPr>
                        <a:t>Late days.</a:t>
                      </a:r>
                      <a:r>
                        <a:rPr lang="en-US" sz="1200" b="0" i="0" u="none" strike="noStrike" cap="none" spc="0" dirty="0">
                          <a:solidFill>
                            <a:srgbClr val="2A2A63"/>
                          </a:solidFill>
                          <a:effectLst/>
                          <a:latin typeface="+mn-lt"/>
                          <a:ea typeface="+mn-ea"/>
                          <a:cs typeface="+mn-cs"/>
                          <a:sym typeface="Arial"/>
                        </a:rPr>
                        <a:t> </a:t>
                      </a:r>
                      <a:r>
                        <a:rPr lang="en-US" sz="1200" b="0" i="0" u="none" strike="noStrike" cap="none" spc="0" dirty="0">
                          <a:solidFill>
                            <a:schemeClr val="dk1"/>
                          </a:solidFill>
                          <a:effectLst/>
                          <a:latin typeface="+mn-lt"/>
                          <a:ea typeface="+mn-ea"/>
                          <a:cs typeface="+mn-cs"/>
                          <a:sym typeface="Arial"/>
                        </a:rPr>
                        <a:t>Six per student for the semester, at most three on any one assignment. No need to request days if within these windows. For a longer extension, I’ll see what I can do. Please email me.</a:t>
                      </a:r>
                      <a:endParaRPr lang="en-US" sz="1200" b="1" dirty="0">
                        <a:solidFill>
                          <a:schemeClr val="accent2"/>
                        </a:solidFill>
                      </a:endParaRPr>
                    </a:p>
                  </a:txBody>
                  <a:tcPr anchor="ctr">
                    <a:lnL w="12700" cmpd="sng">
                      <a:noFill/>
                    </a:lnL>
                    <a:lnR w="12700" cmpd="sng">
                      <a:noFill/>
                    </a:lnR>
                    <a:lnT w="1905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4247655946"/>
                  </a:ext>
                </a:extLst>
              </a:tr>
            </a:tbl>
          </a:graphicData>
        </a:graphic>
      </p:graphicFrame>
    </p:spTree>
    <p:extLst>
      <p:ext uri="{BB962C8B-B14F-4D97-AF65-F5344CB8AC3E}">
        <p14:creationId xmlns:p14="http://schemas.microsoft.com/office/powerpoint/2010/main" val="36611842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7B43-39D5-CF5B-1381-1B4B5864E4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FDB092-0FA4-ACEA-A03C-C0787BEEAEBF}"/>
              </a:ext>
            </a:extLst>
          </p:cNvPr>
          <p:cNvSpPr>
            <a:spLocks noGrp="1"/>
          </p:cNvSpPr>
          <p:nvPr>
            <p:ph type="title"/>
          </p:nvPr>
        </p:nvSpPr>
        <p:spPr/>
        <p:txBody>
          <a:bodyPr>
            <a:normAutofit/>
          </a:bodyPr>
          <a:lstStyle/>
          <a:p>
            <a:r>
              <a:rPr lang="en-US" dirty="0"/>
              <a:t>Generative AI policy</a:t>
            </a:r>
          </a:p>
        </p:txBody>
      </p:sp>
      <p:graphicFrame>
        <p:nvGraphicFramePr>
          <p:cNvPr id="8" name="Content Placeholder 7">
            <a:extLst>
              <a:ext uri="{FF2B5EF4-FFF2-40B4-BE49-F238E27FC236}">
                <a16:creationId xmlns:a16="http://schemas.microsoft.com/office/drawing/2014/main" id="{F188FEE5-8F51-78B6-BE76-01BA07F0464A}"/>
              </a:ext>
            </a:extLst>
          </p:cNvPr>
          <p:cNvGraphicFramePr>
            <a:graphicFrameLocks noGrp="1"/>
          </p:cNvGraphicFramePr>
          <p:nvPr>
            <p:ph idx="1"/>
            <p:extLst>
              <p:ext uri="{D42A27DB-BD31-4B8C-83A1-F6EECF244321}">
                <p14:modId xmlns:p14="http://schemas.microsoft.com/office/powerpoint/2010/main" val="364036206"/>
              </p:ext>
            </p:extLst>
          </p:nvPr>
        </p:nvGraphicFramePr>
        <p:xfrm>
          <a:off x="244394" y="990903"/>
          <a:ext cx="5974188" cy="1381760"/>
        </p:xfrm>
        <a:graphic>
          <a:graphicData uri="http://schemas.openxmlformats.org/drawingml/2006/table">
            <a:tbl>
              <a:tblPr firstRow="1" bandRow="1">
                <a:tableStyleId>{073A0DAA-6AF3-43AB-8588-CEC1D06C72B9}</a:tableStyleId>
              </a:tblPr>
              <a:tblGrid>
                <a:gridCol w="2869196">
                  <a:extLst>
                    <a:ext uri="{9D8B030D-6E8A-4147-A177-3AD203B41FA5}">
                      <a16:colId xmlns:a16="http://schemas.microsoft.com/office/drawing/2014/main" val="700089793"/>
                    </a:ext>
                  </a:extLst>
                </a:gridCol>
                <a:gridCol w="3104992">
                  <a:extLst>
                    <a:ext uri="{9D8B030D-6E8A-4147-A177-3AD203B41FA5}">
                      <a16:colId xmlns:a16="http://schemas.microsoft.com/office/drawing/2014/main" val="1369608622"/>
                    </a:ext>
                  </a:extLst>
                </a:gridCol>
              </a:tblGrid>
              <a:tr h="370840">
                <a:tc>
                  <a:txBody>
                    <a:bodyPr/>
                    <a:lstStyle/>
                    <a:p>
                      <a:pPr>
                        <a:lnSpc>
                          <a:spcPct val="125000"/>
                        </a:lnSpc>
                      </a:pPr>
                      <a:r>
                        <a:rPr lang="en-US" sz="1200" b="1" dirty="0">
                          <a:solidFill>
                            <a:schemeClr val="accent2"/>
                          </a:solidFill>
                        </a:rPr>
                        <a:t>What’s allowed</a:t>
                      </a:r>
                    </a:p>
                  </a:txBody>
                  <a:tcPr anchor="ctr">
                    <a:lnL w="12700" cmpd="sng">
                      <a:noFill/>
                    </a:lnL>
                    <a:lnR w="1270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25000"/>
                        </a:lnSpc>
                      </a:pPr>
                      <a:r>
                        <a:rPr lang="en-US" sz="1200" b="1" dirty="0">
                          <a:solidFill>
                            <a:schemeClr val="accent2"/>
                          </a:solidFill>
                        </a:rPr>
                        <a:t>What isn’t</a:t>
                      </a:r>
                    </a:p>
                  </a:txBody>
                  <a:tcPr anchor="ctr">
                    <a:lnL w="12700" cap="flat" cmpd="sng" algn="ctr">
                      <a:noFill/>
                      <a:prstDash val="solid"/>
                      <a:round/>
                      <a:headEnd type="none" w="med" len="med"/>
                      <a:tailEnd type="none" w="med" len="med"/>
                    </a:lnL>
                    <a:lnR w="12700" cmpd="sng">
                      <a:noFill/>
                    </a:ln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5041080"/>
                  </a:ext>
                </a:extLst>
              </a:tr>
              <a:tr h="370840">
                <a:tc>
                  <a:txBody>
                    <a:bodyPr/>
                    <a:lstStyle/>
                    <a:p>
                      <a:pPr>
                        <a:lnSpc>
                          <a:spcPct val="100000"/>
                        </a:lnSpc>
                      </a:pPr>
                      <a:r>
                        <a:rPr lang="en-US" sz="1200" b="0" i="0" u="none" strike="noStrike" cap="none" spc="0" dirty="0">
                          <a:solidFill>
                            <a:schemeClr val="dk1"/>
                          </a:solidFill>
                          <a:effectLst/>
                          <a:latin typeface="+mn-lt"/>
                          <a:ea typeface="+mn-ea"/>
                          <a:cs typeface="+mn-cs"/>
                          <a:sym typeface="Arial"/>
                        </a:rPr>
                        <a:t>Using an assistant to </a:t>
                      </a:r>
                      <a:r>
                        <a:rPr lang="en-US" sz="1200" b="1" i="0" u="none" strike="noStrike" cap="none" spc="0" dirty="0">
                          <a:solidFill>
                            <a:schemeClr val="dk1"/>
                          </a:solidFill>
                          <a:effectLst/>
                          <a:latin typeface="+mn-lt"/>
                          <a:ea typeface="+mn-ea"/>
                          <a:cs typeface="+mn-cs"/>
                          <a:sym typeface="Arial"/>
                        </a:rPr>
                        <a:t>learn—</a:t>
                      </a:r>
                      <a:r>
                        <a:rPr lang="en-US" sz="1200" b="0" i="0" u="none" strike="noStrike" cap="none" spc="0" dirty="0">
                          <a:solidFill>
                            <a:schemeClr val="dk1"/>
                          </a:solidFill>
                          <a:effectLst/>
                          <a:latin typeface="+mn-lt"/>
                          <a:ea typeface="+mn-ea"/>
                          <a:cs typeface="+mn-cs"/>
                          <a:sym typeface="Arial"/>
                        </a:rPr>
                        <a:t>explain a concept, debug your own code, review a design you wrote, critique, etc. </a:t>
                      </a:r>
                      <a:endParaRPr lang="en-US" sz="1200" b="0" dirty="0">
                        <a:solidFill>
                          <a:schemeClr val="accent2"/>
                        </a:solidFill>
                      </a:endParaRPr>
                    </a:p>
                  </a:txBody>
                  <a:tcPr anchor="ct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sz="1200" b="0" i="0" u="none" strike="noStrike" cap="none" spc="0" dirty="0">
                          <a:solidFill>
                            <a:schemeClr val="dk1"/>
                          </a:solidFill>
                          <a:effectLst/>
                          <a:latin typeface="+mn-lt"/>
                          <a:ea typeface="+mn-ea"/>
                          <a:cs typeface="+mn-cs"/>
                          <a:sym typeface="Arial"/>
                        </a:rPr>
                        <a:t>Handing an assignment to an agent and submitting what it produces</a:t>
                      </a:r>
                      <a:endParaRPr lang="en-US" sz="1200" b="0" dirty="0">
                        <a:solidFill>
                          <a:schemeClr val="accent2"/>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3679507"/>
                  </a:ext>
                </a:extLst>
              </a:tr>
              <a:tr h="370840">
                <a:tc>
                  <a:txBody>
                    <a:bodyPr/>
                    <a:lstStyle/>
                    <a:p>
                      <a:pPr>
                        <a:lnSpc>
                          <a:spcPct val="100000"/>
                        </a:lnSpc>
                      </a:pPr>
                      <a:r>
                        <a:rPr lang="en-US" sz="1200" b="0" i="0" u="none" strike="noStrike" cap="none" spc="0" dirty="0">
                          <a:solidFill>
                            <a:schemeClr val="dk1"/>
                          </a:solidFill>
                          <a:effectLst/>
                          <a:latin typeface="+mn-lt"/>
                          <a:ea typeface="+mn-ea"/>
                          <a:cs typeface="+mn-cs"/>
                          <a:sym typeface="Arial"/>
                        </a:rPr>
                        <a:t>Scoped autocomplete while you write</a:t>
                      </a:r>
                      <a:endParaRPr lang="en-US" sz="1200" b="0" dirty="0">
                        <a:solidFill>
                          <a:schemeClr val="accent2"/>
                        </a:solidFill>
                      </a:endParaRPr>
                    </a:p>
                  </a:txBody>
                  <a:tcPr anchor="ctr">
                    <a:lnL w="12700" cmpd="sng">
                      <a:noFill/>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sz="1200" b="0" i="0" u="none" strike="noStrike" cap="none" spc="0" dirty="0">
                          <a:solidFill>
                            <a:schemeClr val="dk1"/>
                          </a:solidFill>
                          <a:effectLst/>
                          <a:latin typeface="+mn-lt"/>
                          <a:ea typeface="+mn-ea"/>
                          <a:cs typeface="+mn-cs"/>
                          <a:sym typeface="Arial"/>
                        </a:rPr>
                        <a:t>Submitting work you cannot explain.</a:t>
                      </a:r>
                      <a:endParaRPr lang="en-US" sz="1200" b="0" dirty="0">
                        <a:solidFill>
                          <a:schemeClr val="accent2"/>
                        </a:solidFill>
                      </a:endParaRPr>
                    </a:p>
                  </a:txBody>
                  <a:tcPr anchor="ctr">
                    <a:lnL w="12700" cap="flat" cmpd="sng" algn="ctr">
                      <a:no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46306"/>
                  </a:ext>
                </a:extLst>
              </a:tr>
            </a:tbl>
          </a:graphicData>
        </a:graphic>
      </p:graphicFrame>
      <p:sp>
        <p:nvSpPr>
          <p:cNvPr id="4" name="TextBox 3">
            <a:extLst>
              <a:ext uri="{FF2B5EF4-FFF2-40B4-BE49-F238E27FC236}">
                <a16:creationId xmlns:a16="http://schemas.microsoft.com/office/drawing/2014/main" id="{FF57B510-6286-7029-17E8-F71B81904C90}"/>
              </a:ext>
            </a:extLst>
          </p:cNvPr>
          <p:cNvSpPr txBox="1"/>
          <p:nvPr/>
        </p:nvSpPr>
        <p:spPr>
          <a:xfrm>
            <a:off x="244394" y="2733517"/>
            <a:ext cx="5974188" cy="830997"/>
          </a:xfrm>
          <a:prstGeom prst="rect">
            <a:avLst/>
          </a:prstGeom>
          <a:noFill/>
          <a:ln w="19050">
            <a:solidFill>
              <a:srgbClr val="2A2A63"/>
            </a:solidFill>
          </a:ln>
        </p:spPr>
        <p:txBody>
          <a:bodyPr wrap="square">
            <a:spAutoFit/>
          </a:bodyPr>
          <a:lstStyle/>
          <a:p>
            <a:r>
              <a:rPr lang="en-US" sz="1200" b="1" i="0" dirty="0">
                <a:solidFill>
                  <a:srgbClr val="000000"/>
                </a:solidFill>
                <a:effectLst/>
                <a:latin typeface="+mj-lt"/>
              </a:rPr>
              <a:t>What does this mean to you</a:t>
            </a:r>
            <a:r>
              <a:rPr lang="en-US" sz="1200" b="0" i="0" dirty="0">
                <a:solidFill>
                  <a:srgbClr val="000000"/>
                </a:solidFill>
                <a:effectLst/>
                <a:latin typeface="+mj-lt"/>
              </a:rPr>
              <a:t>: Ask yourself—</a:t>
            </a:r>
            <a:r>
              <a:rPr lang="en-US" sz="1200" b="1" i="0" dirty="0">
                <a:solidFill>
                  <a:srgbClr val="000000"/>
                </a:solidFill>
                <a:effectLst/>
                <a:latin typeface="+mj-lt"/>
              </a:rPr>
              <a:t>”can every member of your team explain every part of what you submitted?”</a:t>
            </a:r>
            <a:r>
              <a:rPr lang="en-US" sz="1200" b="0" i="0" dirty="0">
                <a:solidFill>
                  <a:srgbClr val="000000"/>
                </a:solidFill>
                <a:effectLst/>
                <a:latin typeface="+mj-lt"/>
              </a:rPr>
              <a:t> In other words, if a design choice, lines of code etc., in your submission cannot be defended by the team that submitted it, the policy has been violated.</a:t>
            </a:r>
            <a:endParaRPr lang="en-US" sz="1200" dirty="0">
              <a:latin typeface="+mj-lt"/>
            </a:endParaRPr>
          </a:p>
        </p:txBody>
      </p:sp>
      <p:sp>
        <p:nvSpPr>
          <p:cNvPr id="6" name="TextBox 5">
            <a:extLst>
              <a:ext uri="{FF2B5EF4-FFF2-40B4-BE49-F238E27FC236}">
                <a16:creationId xmlns:a16="http://schemas.microsoft.com/office/drawing/2014/main" id="{3431F36A-720B-FA1F-E942-D46CC9AA7D1D}"/>
              </a:ext>
            </a:extLst>
          </p:cNvPr>
          <p:cNvSpPr txBox="1"/>
          <p:nvPr/>
        </p:nvSpPr>
        <p:spPr>
          <a:xfrm>
            <a:off x="244394" y="4004578"/>
            <a:ext cx="5974188" cy="461665"/>
          </a:xfrm>
          <a:prstGeom prst="rect">
            <a:avLst/>
          </a:prstGeom>
          <a:noFill/>
          <a:ln w="19050">
            <a:solidFill>
              <a:srgbClr val="2A2A63"/>
            </a:solidFill>
          </a:ln>
        </p:spPr>
        <p:txBody>
          <a:bodyPr wrap="square">
            <a:spAutoFit/>
          </a:bodyPr>
          <a:lstStyle/>
          <a:p>
            <a:r>
              <a:rPr lang="en-US" sz="1200" i="0" dirty="0">
                <a:solidFill>
                  <a:srgbClr val="000000"/>
                </a:solidFill>
                <a:effectLst/>
                <a:latin typeface="+mj-lt"/>
              </a:rPr>
              <a:t>Beyond this, Columbia University Generative AI policy is strictly enforced. </a:t>
            </a:r>
            <a:r>
              <a:rPr lang="en-US" sz="1200" dirty="0">
                <a:latin typeface="+mj-lt"/>
              </a:rPr>
              <a:t>See: </a:t>
            </a:r>
            <a:r>
              <a:rPr lang="en-US" sz="1200" dirty="0">
                <a:latin typeface="+mj-lt"/>
                <a:hlinkClick r:id="rId2"/>
              </a:rPr>
              <a:t>https://provost.columbia.edu/content/office-senior-vice-provost/ai-policy</a:t>
            </a:r>
            <a:r>
              <a:rPr lang="en-US" sz="1200" dirty="0">
                <a:latin typeface="+mj-lt"/>
              </a:rPr>
              <a:t> </a:t>
            </a:r>
          </a:p>
        </p:txBody>
      </p:sp>
    </p:spTree>
    <p:extLst>
      <p:ext uri="{BB962C8B-B14F-4D97-AF65-F5344CB8AC3E}">
        <p14:creationId xmlns:p14="http://schemas.microsoft.com/office/powerpoint/2010/main" val="24806711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42FDE-675F-A948-0E22-791DEC07BD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F274F69-DC79-B0F2-4CFA-888172C68F6C}"/>
              </a:ext>
            </a:extLst>
          </p:cNvPr>
          <p:cNvSpPr txBox="1"/>
          <p:nvPr/>
        </p:nvSpPr>
        <p:spPr>
          <a:xfrm>
            <a:off x="719302" y="2217807"/>
            <a:ext cx="5419396" cy="707886"/>
          </a:xfrm>
          <a:prstGeom prst="rect">
            <a:avLst/>
          </a:prstGeom>
          <a:noFill/>
        </p:spPr>
        <p:txBody>
          <a:bodyPr wrap="square" rtlCol="0">
            <a:spAutoFit/>
          </a:bodyPr>
          <a:lstStyle/>
          <a:p>
            <a:pPr algn="ctr"/>
            <a:r>
              <a:rPr lang="en-US" sz="4000" b="1" dirty="0">
                <a:solidFill>
                  <a:schemeClr val="bg2">
                    <a:lumMod val="20000"/>
                    <a:lumOff val="80000"/>
                  </a:schemeClr>
                </a:solidFill>
                <a:latin typeface="+mj-lt"/>
              </a:rPr>
              <a:t>Questions?</a:t>
            </a:r>
          </a:p>
        </p:txBody>
      </p:sp>
    </p:spTree>
    <p:extLst>
      <p:ext uri="{BB962C8B-B14F-4D97-AF65-F5344CB8AC3E}">
        <p14:creationId xmlns:p14="http://schemas.microsoft.com/office/powerpoint/2010/main" val="18123008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4304C-FB56-A423-AA86-61A999BEAF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FD64D9-A752-2D11-1C9C-3CD80DB2BA1E}"/>
              </a:ext>
            </a:extLst>
          </p:cNvPr>
          <p:cNvSpPr>
            <a:spLocks noGrp="1"/>
          </p:cNvSpPr>
          <p:nvPr>
            <p:ph type="title"/>
          </p:nvPr>
        </p:nvSpPr>
        <p:spPr/>
        <p:txBody>
          <a:bodyPr>
            <a:normAutofit/>
          </a:bodyPr>
          <a:lstStyle/>
          <a:p>
            <a:r>
              <a:rPr lang="en-US" dirty="0"/>
              <a:t>Control Loops to LLMs: The Evolution of Agents</a:t>
            </a:r>
          </a:p>
        </p:txBody>
      </p:sp>
      <p:sp>
        <p:nvSpPr>
          <p:cNvPr id="5" name="Content Placeholder 4">
            <a:extLst>
              <a:ext uri="{FF2B5EF4-FFF2-40B4-BE49-F238E27FC236}">
                <a16:creationId xmlns:a16="http://schemas.microsoft.com/office/drawing/2014/main" id="{4A914B1F-1EAA-5614-7033-5FBAAAE8F10F}"/>
              </a:ext>
            </a:extLst>
          </p:cNvPr>
          <p:cNvSpPr>
            <a:spLocks noGrp="1"/>
          </p:cNvSpPr>
          <p:nvPr>
            <p:ph idx="1"/>
          </p:nvPr>
        </p:nvSpPr>
        <p:spPr>
          <a:xfrm>
            <a:off x="537258" y="4089952"/>
            <a:ext cx="5783484" cy="736916"/>
          </a:xfrm>
          <a:solidFill>
            <a:srgbClr val="2A2A63"/>
          </a:solidFill>
        </p:spPr>
        <p:txBody>
          <a:bodyPr>
            <a:normAutofit/>
          </a:bodyPr>
          <a:lstStyle/>
          <a:p>
            <a:pPr marL="125747" indent="0">
              <a:buNone/>
            </a:pPr>
            <a:r>
              <a:rPr lang="en-US" dirty="0">
                <a:solidFill>
                  <a:schemeClr val="tx2"/>
                </a:solidFill>
              </a:rPr>
              <a:t>While the capacity of the decision maker has evolved. The problems we need to engineer around remain the same.</a:t>
            </a:r>
          </a:p>
        </p:txBody>
      </p:sp>
      <p:cxnSp>
        <p:nvCxnSpPr>
          <p:cNvPr id="9" name="Straight Arrow Connector 8">
            <a:extLst>
              <a:ext uri="{FF2B5EF4-FFF2-40B4-BE49-F238E27FC236}">
                <a16:creationId xmlns:a16="http://schemas.microsoft.com/office/drawing/2014/main" id="{55C135B4-DD8D-D7C7-F9C8-DC338DC59453}"/>
              </a:ext>
            </a:extLst>
          </p:cNvPr>
          <p:cNvCxnSpPr>
            <a:cxnSpLocks/>
          </p:cNvCxnSpPr>
          <p:nvPr/>
        </p:nvCxnSpPr>
        <p:spPr>
          <a:xfrm>
            <a:off x="318052" y="1053548"/>
            <a:ext cx="6379832" cy="0"/>
          </a:xfrm>
          <a:prstGeom prst="straightConnector1">
            <a:avLst/>
          </a:prstGeom>
          <a:ln w="25400">
            <a:solidFill>
              <a:srgbClr val="2A2A63"/>
            </a:solidFill>
            <a:tailEnd type="triangle"/>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5AEAB0ED-7EE9-69A7-AA6B-0C027BEC5991}"/>
              </a:ext>
            </a:extLst>
          </p:cNvPr>
          <p:cNvSpPr/>
          <p:nvPr/>
        </p:nvSpPr>
        <p:spPr>
          <a:xfrm>
            <a:off x="1002577" y="1016161"/>
            <a:ext cx="74773" cy="74773"/>
          </a:xfrm>
          <a:prstGeom prst="ellipse">
            <a:avLst/>
          </a:prstGeom>
          <a:solidFill>
            <a:srgbClr val="2A2A63"/>
          </a:solidFill>
          <a:ln>
            <a:solidFill>
              <a:srgbClr val="2A2A6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73BB110-77BA-CE3E-C70F-19FA2E10E1C6}"/>
              </a:ext>
            </a:extLst>
          </p:cNvPr>
          <p:cNvSpPr txBox="1"/>
          <p:nvPr/>
        </p:nvSpPr>
        <p:spPr>
          <a:xfrm>
            <a:off x="666304" y="649431"/>
            <a:ext cx="747320" cy="338554"/>
          </a:xfrm>
          <a:prstGeom prst="rect">
            <a:avLst/>
          </a:prstGeom>
          <a:noFill/>
        </p:spPr>
        <p:txBody>
          <a:bodyPr wrap="none" rtlCol="0">
            <a:spAutoFit/>
          </a:bodyPr>
          <a:lstStyle/>
          <a:p>
            <a:pPr algn="l"/>
            <a:r>
              <a:rPr lang="en-US" sz="1600" dirty="0">
                <a:solidFill>
                  <a:schemeClr val="bg2">
                    <a:lumMod val="50000"/>
                  </a:schemeClr>
                </a:solidFill>
                <a:latin typeface="+mn-lt"/>
              </a:rPr>
              <a:t>1950s </a:t>
            </a:r>
          </a:p>
        </p:txBody>
      </p:sp>
      <p:sp>
        <p:nvSpPr>
          <p:cNvPr id="12" name="TextBox 11">
            <a:extLst>
              <a:ext uri="{FF2B5EF4-FFF2-40B4-BE49-F238E27FC236}">
                <a16:creationId xmlns:a16="http://schemas.microsoft.com/office/drawing/2014/main" id="{4D5D983A-0955-58F0-DD0A-3565DE3D8617}"/>
              </a:ext>
            </a:extLst>
          </p:cNvPr>
          <p:cNvSpPr txBox="1"/>
          <p:nvPr/>
        </p:nvSpPr>
        <p:spPr>
          <a:xfrm>
            <a:off x="312842" y="1184675"/>
            <a:ext cx="1454244" cy="1015663"/>
          </a:xfrm>
          <a:prstGeom prst="rect">
            <a:avLst/>
          </a:prstGeom>
          <a:noFill/>
        </p:spPr>
        <p:txBody>
          <a:bodyPr wrap="none" rtlCol="0">
            <a:spAutoFit/>
          </a:bodyPr>
          <a:lstStyle/>
          <a:p>
            <a:pPr algn="ctr"/>
            <a:r>
              <a:rPr lang="en-US" sz="1200" b="1" dirty="0">
                <a:solidFill>
                  <a:schemeClr val="bg2">
                    <a:lumMod val="50000"/>
                  </a:schemeClr>
                </a:solidFill>
                <a:latin typeface="+mn-lt"/>
              </a:rPr>
              <a:t>Control Theory</a:t>
            </a:r>
          </a:p>
          <a:p>
            <a:pPr marL="285750" indent="-285750" algn="l">
              <a:buFont typeface="Arial" panose="020B0604020202020204" pitchFamily="34" charset="0"/>
              <a:buChar char="•"/>
            </a:pPr>
            <a:r>
              <a:rPr lang="en-US" sz="1200" dirty="0">
                <a:solidFill>
                  <a:schemeClr val="bg2">
                    <a:lumMod val="50000"/>
                  </a:schemeClr>
                </a:solidFill>
                <a:latin typeface="+mn-lt"/>
              </a:rPr>
              <a:t>Controller, </a:t>
            </a:r>
          </a:p>
          <a:p>
            <a:pPr marL="285750" indent="-285750" algn="l">
              <a:buFont typeface="Arial" panose="020B0604020202020204" pitchFamily="34" charset="0"/>
              <a:buChar char="•"/>
            </a:pPr>
            <a:r>
              <a:rPr lang="en-US" sz="1200" dirty="0">
                <a:solidFill>
                  <a:schemeClr val="bg2">
                    <a:lumMod val="50000"/>
                  </a:schemeClr>
                </a:solidFill>
                <a:latin typeface="+mn-lt"/>
              </a:rPr>
              <a:t>environment, </a:t>
            </a:r>
          </a:p>
          <a:p>
            <a:pPr marL="285750" indent="-285750" algn="l">
              <a:buFont typeface="Arial" panose="020B0604020202020204" pitchFamily="34" charset="0"/>
              <a:buChar char="•"/>
            </a:pPr>
            <a:r>
              <a:rPr lang="en-US" sz="1200" dirty="0">
                <a:solidFill>
                  <a:schemeClr val="bg2">
                    <a:lumMod val="50000"/>
                  </a:schemeClr>
                </a:solidFill>
                <a:latin typeface="+mn-lt"/>
              </a:rPr>
              <a:t>feedback, and</a:t>
            </a:r>
          </a:p>
          <a:p>
            <a:pPr marL="285750" indent="-285750" algn="l">
              <a:buFont typeface="Arial" panose="020B0604020202020204" pitchFamily="34" charset="0"/>
              <a:buChar char="•"/>
            </a:pPr>
            <a:r>
              <a:rPr lang="en-US" sz="1200" dirty="0">
                <a:solidFill>
                  <a:schemeClr val="bg2">
                    <a:lumMod val="50000"/>
                  </a:schemeClr>
                </a:solidFill>
                <a:latin typeface="+mn-lt"/>
              </a:rPr>
              <a:t>observability</a:t>
            </a:r>
          </a:p>
        </p:txBody>
      </p:sp>
      <p:sp>
        <p:nvSpPr>
          <p:cNvPr id="13" name="TextBox 12">
            <a:extLst>
              <a:ext uri="{FF2B5EF4-FFF2-40B4-BE49-F238E27FC236}">
                <a16:creationId xmlns:a16="http://schemas.microsoft.com/office/drawing/2014/main" id="{C668A838-0E88-AE46-8AC4-83C754CC1C58}"/>
              </a:ext>
            </a:extLst>
          </p:cNvPr>
          <p:cNvSpPr txBox="1"/>
          <p:nvPr/>
        </p:nvSpPr>
        <p:spPr>
          <a:xfrm>
            <a:off x="1902137" y="649431"/>
            <a:ext cx="1047082" cy="338554"/>
          </a:xfrm>
          <a:prstGeom prst="rect">
            <a:avLst/>
          </a:prstGeom>
          <a:noFill/>
        </p:spPr>
        <p:txBody>
          <a:bodyPr wrap="none" rtlCol="0">
            <a:spAutoFit/>
          </a:bodyPr>
          <a:lstStyle/>
          <a:p>
            <a:pPr algn="l"/>
            <a:r>
              <a:rPr lang="en-US" sz="1600" dirty="0">
                <a:solidFill>
                  <a:schemeClr val="bg2">
                    <a:lumMod val="50000"/>
                  </a:schemeClr>
                </a:solidFill>
                <a:latin typeface="+mn-lt"/>
              </a:rPr>
              <a:t>1970-80s </a:t>
            </a:r>
          </a:p>
        </p:txBody>
      </p:sp>
      <p:sp>
        <p:nvSpPr>
          <p:cNvPr id="14" name="TextBox 13">
            <a:extLst>
              <a:ext uri="{FF2B5EF4-FFF2-40B4-BE49-F238E27FC236}">
                <a16:creationId xmlns:a16="http://schemas.microsoft.com/office/drawing/2014/main" id="{C857BCD8-3108-90AB-1208-F111DC42BCAD}"/>
              </a:ext>
            </a:extLst>
          </p:cNvPr>
          <p:cNvSpPr txBox="1"/>
          <p:nvPr/>
        </p:nvSpPr>
        <p:spPr>
          <a:xfrm>
            <a:off x="1851643" y="1184675"/>
            <a:ext cx="1268296" cy="1015663"/>
          </a:xfrm>
          <a:prstGeom prst="rect">
            <a:avLst/>
          </a:prstGeom>
          <a:noFill/>
        </p:spPr>
        <p:txBody>
          <a:bodyPr wrap="none" rtlCol="0">
            <a:spAutoFit/>
          </a:bodyPr>
          <a:lstStyle/>
          <a:p>
            <a:pPr algn="ctr"/>
            <a:r>
              <a:rPr lang="en-US" sz="1200" b="1" dirty="0">
                <a:solidFill>
                  <a:schemeClr val="bg2">
                    <a:lumMod val="50000"/>
                  </a:schemeClr>
                </a:solidFill>
                <a:latin typeface="+mn-lt"/>
              </a:rPr>
              <a:t>Symbolic AI</a:t>
            </a:r>
            <a:endParaRPr lang="en-US" sz="1200" dirty="0">
              <a:solidFill>
                <a:schemeClr val="bg2">
                  <a:lumMod val="50000"/>
                </a:schemeClr>
              </a:solidFill>
              <a:latin typeface="+mn-lt"/>
            </a:endParaRPr>
          </a:p>
          <a:p>
            <a:pPr marL="285750" indent="-285750" algn="l">
              <a:buFont typeface="Arial" panose="020B0604020202020204" pitchFamily="34" charset="0"/>
              <a:buChar char="•"/>
            </a:pPr>
            <a:r>
              <a:rPr lang="en-US" sz="1200" dirty="0">
                <a:solidFill>
                  <a:schemeClr val="bg2">
                    <a:lumMod val="50000"/>
                  </a:schemeClr>
                </a:solidFill>
                <a:latin typeface="+mn-lt"/>
              </a:rPr>
              <a:t>Agents </a:t>
            </a:r>
          </a:p>
          <a:p>
            <a:pPr marL="285750" indent="-285750" algn="l">
              <a:buFont typeface="Arial" panose="020B0604020202020204" pitchFamily="34" charset="0"/>
              <a:buChar char="•"/>
            </a:pPr>
            <a:r>
              <a:rPr lang="en-US" sz="1200" dirty="0">
                <a:solidFill>
                  <a:schemeClr val="bg2">
                    <a:lumMod val="50000"/>
                  </a:schemeClr>
                </a:solidFill>
                <a:latin typeface="+mn-lt"/>
              </a:rPr>
              <a:t>Percepts</a:t>
            </a:r>
          </a:p>
          <a:p>
            <a:pPr marL="285750" indent="-285750" algn="l">
              <a:buFont typeface="Arial" panose="020B0604020202020204" pitchFamily="34" charset="0"/>
              <a:buChar char="•"/>
            </a:pPr>
            <a:r>
              <a:rPr lang="en-US" sz="1200" dirty="0">
                <a:solidFill>
                  <a:schemeClr val="bg2">
                    <a:lumMod val="50000"/>
                  </a:schemeClr>
                </a:solidFill>
                <a:latin typeface="+mn-lt"/>
              </a:rPr>
              <a:t>Actions</a:t>
            </a:r>
          </a:p>
          <a:p>
            <a:pPr marL="285750" indent="-285750" algn="l">
              <a:buFont typeface="Arial" panose="020B0604020202020204" pitchFamily="34" charset="0"/>
              <a:buChar char="•"/>
            </a:pPr>
            <a:r>
              <a:rPr lang="en-US" sz="1200" dirty="0">
                <a:solidFill>
                  <a:schemeClr val="bg2">
                    <a:lumMod val="50000"/>
                  </a:schemeClr>
                </a:solidFill>
                <a:latin typeface="+mn-lt"/>
              </a:rPr>
              <a:t>Belief state</a:t>
            </a:r>
          </a:p>
        </p:txBody>
      </p:sp>
      <p:sp>
        <p:nvSpPr>
          <p:cNvPr id="15" name="Oval 14">
            <a:extLst>
              <a:ext uri="{FF2B5EF4-FFF2-40B4-BE49-F238E27FC236}">
                <a16:creationId xmlns:a16="http://schemas.microsoft.com/office/drawing/2014/main" id="{EBACB4B8-70A6-925A-2EEF-900CE13E7B6F}"/>
              </a:ext>
            </a:extLst>
          </p:cNvPr>
          <p:cNvSpPr/>
          <p:nvPr/>
        </p:nvSpPr>
        <p:spPr>
          <a:xfrm>
            <a:off x="2450510" y="1016161"/>
            <a:ext cx="74773" cy="74773"/>
          </a:xfrm>
          <a:prstGeom prst="ellipse">
            <a:avLst/>
          </a:prstGeom>
          <a:solidFill>
            <a:srgbClr val="2A2A63"/>
          </a:solidFill>
          <a:ln>
            <a:solidFill>
              <a:srgbClr val="2A2A6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C383874-08C7-7EA7-D4BF-F0CB5A982C57}"/>
              </a:ext>
            </a:extLst>
          </p:cNvPr>
          <p:cNvSpPr txBox="1"/>
          <p:nvPr/>
        </p:nvSpPr>
        <p:spPr>
          <a:xfrm>
            <a:off x="3704398" y="640222"/>
            <a:ext cx="1090363" cy="338554"/>
          </a:xfrm>
          <a:prstGeom prst="rect">
            <a:avLst/>
          </a:prstGeom>
          <a:noFill/>
        </p:spPr>
        <p:txBody>
          <a:bodyPr wrap="none" rtlCol="0">
            <a:spAutoFit/>
          </a:bodyPr>
          <a:lstStyle/>
          <a:p>
            <a:pPr algn="l"/>
            <a:r>
              <a:rPr lang="en-US" sz="1600" dirty="0">
                <a:solidFill>
                  <a:schemeClr val="bg2">
                    <a:lumMod val="50000"/>
                  </a:schemeClr>
                </a:solidFill>
                <a:latin typeface="+mn-lt"/>
              </a:rPr>
              <a:t>1980-’10s </a:t>
            </a:r>
          </a:p>
        </p:txBody>
      </p:sp>
      <p:sp>
        <p:nvSpPr>
          <p:cNvPr id="17" name="TextBox 16">
            <a:extLst>
              <a:ext uri="{FF2B5EF4-FFF2-40B4-BE49-F238E27FC236}">
                <a16:creationId xmlns:a16="http://schemas.microsoft.com/office/drawing/2014/main" id="{D2DCCDCA-D86F-86F2-6F4D-A29122899ECA}"/>
              </a:ext>
            </a:extLst>
          </p:cNvPr>
          <p:cNvSpPr txBox="1"/>
          <p:nvPr/>
        </p:nvSpPr>
        <p:spPr>
          <a:xfrm>
            <a:off x="3294030" y="1184675"/>
            <a:ext cx="1911101" cy="1015663"/>
          </a:xfrm>
          <a:prstGeom prst="rect">
            <a:avLst/>
          </a:prstGeom>
          <a:noFill/>
        </p:spPr>
        <p:txBody>
          <a:bodyPr wrap="none" rtlCol="0">
            <a:spAutoFit/>
          </a:bodyPr>
          <a:lstStyle/>
          <a:p>
            <a:pPr algn="ctr"/>
            <a:r>
              <a:rPr lang="en-US" sz="1200" b="1" dirty="0">
                <a:solidFill>
                  <a:schemeClr val="bg2">
                    <a:lumMod val="50000"/>
                  </a:schemeClr>
                </a:solidFill>
                <a:latin typeface="+mn-lt"/>
              </a:rPr>
              <a:t>Cognitive Arch &amp; RL</a:t>
            </a:r>
            <a:endParaRPr lang="en-US" sz="1200" dirty="0">
              <a:solidFill>
                <a:schemeClr val="bg2">
                  <a:lumMod val="50000"/>
                </a:schemeClr>
              </a:solidFill>
              <a:latin typeface="+mn-lt"/>
            </a:endParaRPr>
          </a:p>
          <a:p>
            <a:pPr marL="285750" indent="-285750" algn="l">
              <a:buFont typeface="Arial" panose="020B0604020202020204" pitchFamily="34" charset="0"/>
              <a:buChar char="•"/>
            </a:pPr>
            <a:r>
              <a:rPr lang="en-US" sz="1200" dirty="0">
                <a:solidFill>
                  <a:schemeClr val="bg2">
                    <a:lumMod val="50000"/>
                  </a:schemeClr>
                </a:solidFill>
                <a:latin typeface="+mn-lt"/>
              </a:rPr>
              <a:t>Long-term memory, </a:t>
            </a:r>
          </a:p>
          <a:p>
            <a:pPr marL="285750" indent="-285750" algn="l">
              <a:buFont typeface="Arial" panose="020B0604020202020204" pitchFamily="34" charset="0"/>
              <a:buChar char="•"/>
            </a:pPr>
            <a:r>
              <a:rPr lang="en-US" sz="1200" dirty="0">
                <a:solidFill>
                  <a:schemeClr val="bg2">
                    <a:lumMod val="50000"/>
                  </a:schemeClr>
                </a:solidFill>
                <a:latin typeface="+mn-lt"/>
              </a:rPr>
              <a:t>Decision procedure, </a:t>
            </a:r>
          </a:p>
          <a:p>
            <a:pPr marL="285750" indent="-285750" algn="l">
              <a:buFont typeface="Arial" panose="020B0604020202020204" pitchFamily="34" charset="0"/>
              <a:buChar char="•"/>
            </a:pPr>
            <a:r>
              <a:rPr lang="en-US" sz="1200" dirty="0">
                <a:solidFill>
                  <a:schemeClr val="bg2">
                    <a:lumMod val="50000"/>
                  </a:schemeClr>
                </a:solidFill>
                <a:latin typeface="+mn-lt"/>
              </a:rPr>
              <a:t>Action selection</a:t>
            </a:r>
          </a:p>
          <a:p>
            <a:pPr marL="285750" indent="-285750">
              <a:buFont typeface="Arial" panose="020B0604020202020204" pitchFamily="34" charset="0"/>
              <a:buChar char="•"/>
            </a:pPr>
            <a:r>
              <a:rPr lang="en-US" sz="1200" dirty="0">
                <a:solidFill>
                  <a:schemeClr val="bg2">
                    <a:lumMod val="50000"/>
                  </a:schemeClr>
                </a:solidFill>
                <a:latin typeface="+mn-lt"/>
              </a:rPr>
              <a:t>Trajectory, reward</a:t>
            </a:r>
          </a:p>
        </p:txBody>
      </p:sp>
      <p:sp>
        <p:nvSpPr>
          <p:cNvPr id="18" name="Oval 17">
            <a:extLst>
              <a:ext uri="{FF2B5EF4-FFF2-40B4-BE49-F238E27FC236}">
                <a16:creationId xmlns:a16="http://schemas.microsoft.com/office/drawing/2014/main" id="{67BC76BB-9042-E45E-445D-E5FEA3F8E33F}"/>
              </a:ext>
            </a:extLst>
          </p:cNvPr>
          <p:cNvSpPr/>
          <p:nvPr/>
        </p:nvSpPr>
        <p:spPr>
          <a:xfrm>
            <a:off x="4214302" y="1016161"/>
            <a:ext cx="74773" cy="74773"/>
          </a:xfrm>
          <a:prstGeom prst="ellipse">
            <a:avLst/>
          </a:prstGeom>
          <a:solidFill>
            <a:srgbClr val="2A2A63"/>
          </a:solidFill>
          <a:ln>
            <a:solidFill>
              <a:srgbClr val="2A2A6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EE4C48BD-B377-3085-20D3-4807F063B64F}"/>
              </a:ext>
            </a:extLst>
          </p:cNvPr>
          <p:cNvSpPr txBox="1"/>
          <p:nvPr/>
        </p:nvSpPr>
        <p:spPr>
          <a:xfrm>
            <a:off x="5683664" y="640222"/>
            <a:ext cx="704039" cy="338554"/>
          </a:xfrm>
          <a:prstGeom prst="rect">
            <a:avLst/>
          </a:prstGeom>
          <a:noFill/>
        </p:spPr>
        <p:txBody>
          <a:bodyPr wrap="square" rtlCol="0">
            <a:spAutoFit/>
          </a:bodyPr>
          <a:lstStyle/>
          <a:p>
            <a:pPr algn="l"/>
            <a:r>
              <a:rPr lang="en-US" sz="1600" dirty="0">
                <a:solidFill>
                  <a:schemeClr val="bg2">
                    <a:lumMod val="50000"/>
                  </a:schemeClr>
                </a:solidFill>
                <a:latin typeface="+mn-lt"/>
              </a:rPr>
              <a:t>2022+</a:t>
            </a:r>
          </a:p>
        </p:txBody>
      </p:sp>
      <p:sp>
        <p:nvSpPr>
          <p:cNvPr id="21" name="TextBox 20">
            <a:extLst>
              <a:ext uri="{FF2B5EF4-FFF2-40B4-BE49-F238E27FC236}">
                <a16:creationId xmlns:a16="http://schemas.microsoft.com/office/drawing/2014/main" id="{4FA658B6-94E9-114F-C64B-3EE490AC0500}"/>
              </a:ext>
            </a:extLst>
          </p:cNvPr>
          <p:cNvSpPr txBox="1"/>
          <p:nvPr/>
        </p:nvSpPr>
        <p:spPr>
          <a:xfrm>
            <a:off x="5373482" y="1184675"/>
            <a:ext cx="1324402" cy="1015663"/>
          </a:xfrm>
          <a:prstGeom prst="rect">
            <a:avLst/>
          </a:prstGeom>
          <a:noFill/>
        </p:spPr>
        <p:txBody>
          <a:bodyPr wrap="none" rtlCol="0">
            <a:spAutoFit/>
          </a:bodyPr>
          <a:lstStyle/>
          <a:p>
            <a:r>
              <a:rPr lang="en-US" sz="1200" b="1" dirty="0">
                <a:solidFill>
                  <a:schemeClr val="bg2">
                    <a:lumMod val="50000"/>
                  </a:schemeClr>
                </a:solidFill>
                <a:latin typeface="+mn-lt"/>
              </a:rPr>
              <a:t>LLM-based</a:t>
            </a:r>
            <a:br>
              <a:rPr lang="en-US" sz="1200" b="1" dirty="0">
                <a:solidFill>
                  <a:schemeClr val="bg2">
                    <a:lumMod val="50000"/>
                  </a:schemeClr>
                </a:solidFill>
                <a:latin typeface="+mn-lt"/>
              </a:rPr>
            </a:br>
            <a:r>
              <a:rPr lang="en-US" sz="1200" dirty="0">
                <a:solidFill>
                  <a:schemeClr val="bg2">
                    <a:lumMod val="50000"/>
                  </a:schemeClr>
                </a:solidFill>
                <a:latin typeface="+mn-lt"/>
              </a:rPr>
              <a:t>Same structure </a:t>
            </a:r>
          </a:p>
          <a:p>
            <a:r>
              <a:rPr lang="en-US" sz="1200" dirty="0">
                <a:solidFill>
                  <a:schemeClr val="bg2">
                    <a:lumMod val="50000"/>
                  </a:schemeClr>
                </a:solidFill>
                <a:latin typeface="+mn-lt"/>
              </a:rPr>
              <a:t>with a language </a:t>
            </a:r>
          </a:p>
          <a:p>
            <a:r>
              <a:rPr lang="en-US" sz="1200" dirty="0">
                <a:solidFill>
                  <a:schemeClr val="bg2">
                    <a:lumMod val="50000"/>
                  </a:schemeClr>
                </a:solidFill>
                <a:latin typeface="+mn-lt"/>
              </a:rPr>
              <a:t>model in the </a:t>
            </a:r>
          </a:p>
          <a:p>
            <a:r>
              <a:rPr lang="en-US" sz="1200" dirty="0">
                <a:solidFill>
                  <a:schemeClr val="bg2">
                    <a:lumMod val="50000"/>
                  </a:schemeClr>
                </a:solidFill>
                <a:latin typeface="+mn-lt"/>
              </a:rPr>
              <a:t>decision box</a:t>
            </a:r>
          </a:p>
        </p:txBody>
      </p:sp>
      <p:sp>
        <p:nvSpPr>
          <p:cNvPr id="22" name="Oval 21">
            <a:extLst>
              <a:ext uri="{FF2B5EF4-FFF2-40B4-BE49-F238E27FC236}">
                <a16:creationId xmlns:a16="http://schemas.microsoft.com/office/drawing/2014/main" id="{0DF396DF-1075-FAA0-3F82-2B55B5FCD400}"/>
              </a:ext>
            </a:extLst>
          </p:cNvPr>
          <p:cNvSpPr/>
          <p:nvPr/>
        </p:nvSpPr>
        <p:spPr>
          <a:xfrm>
            <a:off x="5998298" y="1016161"/>
            <a:ext cx="74773" cy="74773"/>
          </a:xfrm>
          <a:prstGeom prst="ellipse">
            <a:avLst/>
          </a:prstGeom>
          <a:solidFill>
            <a:srgbClr val="2A2A63"/>
          </a:solidFill>
          <a:ln>
            <a:solidFill>
              <a:srgbClr val="2A2A6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3" name="Table 22">
            <a:extLst>
              <a:ext uri="{FF2B5EF4-FFF2-40B4-BE49-F238E27FC236}">
                <a16:creationId xmlns:a16="http://schemas.microsoft.com/office/drawing/2014/main" id="{996D27F0-4E13-7644-0386-9301447BE628}"/>
              </a:ext>
            </a:extLst>
          </p:cNvPr>
          <p:cNvGraphicFramePr>
            <a:graphicFrameLocks noGrp="1"/>
          </p:cNvGraphicFramePr>
          <p:nvPr>
            <p:extLst>
              <p:ext uri="{D42A27DB-BD31-4B8C-83A1-F6EECF244321}">
                <p14:modId xmlns:p14="http://schemas.microsoft.com/office/powerpoint/2010/main" val="2246650194"/>
              </p:ext>
            </p:extLst>
          </p:nvPr>
        </p:nvGraphicFramePr>
        <p:xfrm>
          <a:off x="537258" y="2495884"/>
          <a:ext cx="5783484" cy="1371600"/>
        </p:xfrm>
        <a:graphic>
          <a:graphicData uri="http://schemas.openxmlformats.org/drawingml/2006/table">
            <a:tbl>
              <a:tblPr>
                <a:tableStyleId>{2D5ABB26-0587-4C30-8999-92F81FD0307C}</a:tableStyleId>
              </a:tblPr>
              <a:tblGrid>
                <a:gridCol w="2891742">
                  <a:extLst>
                    <a:ext uri="{9D8B030D-6E8A-4147-A177-3AD203B41FA5}">
                      <a16:colId xmlns:a16="http://schemas.microsoft.com/office/drawing/2014/main" val="3897202983"/>
                    </a:ext>
                  </a:extLst>
                </a:gridCol>
                <a:gridCol w="2891742">
                  <a:extLst>
                    <a:ext uri="{9D8B030D-6E8A-4147-A177-3AD203B41FA5}">
                      <a16:colId xmlns:a16="http://schemas.microsoft.com/office/drawing/2014/main" val="2156765555"/>
                    </a:ext>
                  </a:extLst>
                </a:gridCol>
              </a:tblGrid>
              <a:tr h="251460">
                <a:tc>
                  <a:txBody>
                    <a:bodyPr/>
                    <a:lstStyle/>
                    <a:p>
                      <a:pPr algn="ctr">
                        <a:buNone/>
                      </a:pPr>
                      <a:r>
                        <a:rPr lang="en-US" sz="1100" b="1" dirty="0">
                          <a:solidFill>
                            <a:srgbClr val="2A2A63"/>
                          </a:solidFill>
                        </a:rPr>
                        <a:t>What LLM-based agents bring</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sz="1100" b="1" dirty="0">
                          <a:solidFill>
                            <a:srgbClr val="2A2A63"/>
                          </a:solidFill>
                        </a:rPr>
                        <a:t>What we still need to engineer</a:t>
                      </a:r>
                    </a:p>
                  </a:txBody>
                  <a:tcPr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9931704"/>
                  </a:ext>
                </a:extLst>
              </a:tr>
              <a:tr h="411480">
                <a:tc>
                  <a:txBody>
                    <a:bodyPr/>
                    <a:lstStyle/>
                    <a:p>
                      <a:pPr>
                        <a:buNone/>
                      </a:pPr>
                      <a:r>
                        <a:rPr lang="en-US" sz="1100" dirty="0"/>
                        <a:t>Interpret natural-language instructions and observations.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100"/>
                        <a:t>Maintain trustworthy state and manage memory.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02131264"/>
                  </a:ext>
                </a:extLst>
              </a:tr>
              <a:tr h="251460">
                <a:tc>
                  <a:txBody>
                    <a:bodyPr/>
                    <a:lstStyle/>
                    <a:p>
                      <a:pPr>
                        <a:buNone/>
                      </a:pPr>
                      <a:r>
                        <a:rPr lang="en-US" sz="1100" dirty="0"/>
                        <a:t>Generate plans and propose tool calls.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sz="1100" dirty="0"/>
                        <a:t>Enforce permissions and validate actions.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7203100"/>
                  </a:ext>
                </a:extLst>
              </a:tr>
              <a:tr h="411480">
                <a:tc>
                  <a:txBody>
                    <a:bodyPr/>
                    <a:lstStyle/>
                    <a:p>
                      <a:pPr>
                        <a:buNone/>
                      </a:pPr>
                      <a:r>
                        <a:rPr lang="en-US" sz="1100" dirty="0"/>
                        <a:t>Revise plans using feedback from the environment.</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buNone/>
                      </a:pPr>
                      <a:r>
                        <a:rPr lang="en-US" sz="1100" dirty="0"/>
                        <a:t>Verify outcomes, recover from failures, and enforce budgets.</a:t>
                      </a:r>
                    </a:p>
                  </a:txBody>
                  <a:tcPr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90161783"/>
                  </a:ext>
                </a:extLst>
              </a:tr>
            </a:tbl>
          </a:graphicData>
        </a:graphic>
      </p:graphicFrame>
    </p:spTree>
    <p:extLst>
      <p:ext uri="{BB962C8B-B14F-4D97-AF65-F5344CB8AC3E}">
        <p14:creationId xmlns:p14="http://schemas.microsoft.com/office/powerpoint/2010/main" val="15171567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D8E1F-0DFE-2911-08C0-CF13CBDDB1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332312-24A4-8EDD-72B1-C439D3815575}"/>
              </a:ext>
            </a:extLst>
          </p:cNvPr>
          <p:cNvSpPr>
            <a:spLocks noGrp="1"/>
          </p:cNvSpPr>
          <p:nvPr>
            <p:ph type="title"/>
          </p:nvPr>
        </p:nvSpPr>
        <p:spPr/>
        <p:txBody>
          <a:bodyPr>
            <a:normAutofit/>
          </a:bodyPr>
          <a:lstStyle/>
          <a:p>
            <a:r>
              <a:rPr lang="en-US" dirty="0"/>
              <a:t>What was an Agent? A pre-LLM view</a:t>
            </a:r>
          </a:p>
        </p:txBody>
      </p:sp>
      <p:sp>
        <p:nvSpPr>
          <p:cNvPr id="26" name="TextBox 25">
            <a:extLst>
              <a:ext uri="{FF2B5EF4-FFF2-40B4-BE49-F238E27FC236}">
                <a16:creationId xmlns:a16="http://schemas.microsoft.com/office/drawing/2014/main" id="{C7EA7A43-F336-F274-DC56-18E2DA6459BF}"/>
              </a:ext>
            </a:extLst>
          </p:cNvPr>
          <p:cNvSpPr txBox="1"/>
          <p:nvPr/>
        </p:nvSpPr>
        <p:spPr>
          <a:xfrm>
            <a:off x="3231267" y="4924195"/>
            <a:ext cx="3626733" cy="200055"/>
          </a:xfrm>
          <a:prstGeom prst="rect">
            <a:avLst/>
          </a:prstGeom>
          <a:noFill/>
        </p:spPr>
        <p:txBody>
          <a:bodyPr wrap="square">
            <a:spAutoFit/>
          </a:bodyPr>
          <a:lstStyle/>
          <a:p>
            <a:pPr algn="r"/>
            <a:r>
              <a:rPr lang="en-US" sz="700" baseline="30000" dirty="0"/>
              <a:t>[1] </a:t>
            </a:r>
            <a:r>
              <a:rPr lang="en-US" sz="700" dirty="0"/>
              <a:t>Poole &amp; Mackworth, </a:t>
            </a:r>
            <a:r>
              <a:rPr lang="en-US" sz="700" i="1" dirty="0"/>
              <a:t>Artificial Intelligence: Foundations of Computational Agents</a:t>
            </a:r>
            <a:endParaRPr lang="en-US" sz="700" dirty="0">
              <a:latin typeface="+mn-lt"/>
            </a:endParaRPr>
          </a:p>
        </p:txBody>
      </p:sp>
      <p:pic>
        <p:nvPicPr>
          <p:cNvPr id="33" name="Picture 32">
            <a:extLst>
              <a:ext uri="{FF2B5EF4-FFF2-40B4-BE49-F238E27FC236}">
                <a16:creationId xmlns:a16="http://schemas.microsoft.com/office/drawing/2014/main" id="{4F8E3AA9-930E-E010-CB82-A41459D5A64F}"/>
              </a:ext>
            </a:extLst>
          </p:cNvPr>
          <p:cNvPicPr>
            <a:picLocks noChangeAspect="1"/>
          </p:cNvPicPr>
          <p:nvPr/>
        </p:nvPicPr>
        <p:blipFill>
          <a:blip r:embed="rId2"/>
          <a:srcRect t="10880" b="5577"/>
          <a:stretch>
            <a:fillRect/>
          </a:stretch>
        </p:blipFill>
        <p:spPr>
          <a:xfrm>
            <a:off x="13728" y="1053295"/>
            <a:ext cx="6844272" cy="3811929"/>
          </a:xfrm>
          <a:prstGeom prst="rect">
            <a:avLst/>
          </a:prstGeom>
        </p:spPr>
      </p:pic>
      <p:sp>
        <p:nvSpPr>
          <p:cNvPr id="34" name="TextBox 33">
            <a:extLst>
              <a:ext uri="{FF2B5EF4-FFF2-40B4-BE49-F238E27FC236}">
                <a16:creationId xmlns:a16="http://schemas.microsoft.com/office/drawing/2014/main" id="{770A40DB-1BF3-BAF5-AFF7-AF60F59382AE}"/>
              </a:ext>
            </a:extLst>
          </p:cNvPr>
          <p:cNvSpPr txBox="1"/>
          <p:nvPr/>
        </p:nvSpPr>
        <p:spPr>
          <a:xfrm>
            <a:off x="28274" y="630050"/>
            <a:ext cx="5753498" cy="307777"/>
          </a:xfrm>
          <a:prstGeom prst="rect">
            <a:avLst/>
          </a:prstGeom>
          <a:noFill/>
        </p:spPr>
        <p:txBody>
          <a:bodyPr wrap="none" rtlCol="0">
            <a:spAutoFit/>
          </a:bodyPr>
          <a:lstStyle/>
          <a:p>
            <a:pPr algn="l"/>
            <a:r>
              <a:rPr lang="en-US" dirty="0">
                <a:latin typeface="+mn-lt"/>
              </a:rPr>
              <a:t>This is the classical view of agents from Poole &amp; Mackworth (2010) </a:t>
            </a:r>
            <a:r>
              <a:rPr lang="en-US" baseline="30000" dirty="0">
                <a:latin typeface="+mn-lt"/>
              </a:rPr>
              <a:t>[1]</a:t>
            </a:r>
          </a:p>
        </p:txBody>
      </p:sp>
    </p:spTree>
    <p:extLst>
      <p:ext uri="{BB962C8B-B14F-4D97-AF65-F5344CB8AC3E}">
        <p14:creationId xmlns:p14="http://schemas.microsoft.com/office/powerpoint/2010/main" val="16055501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54F6D-EA24-C62B-0C19-6305850559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0A1840-2C6B-4070-E1C9-1FD12E883E57}"/>
              </a:ext>
            </a:extLst>
          </p:cNvPr>
          <p:cNvSpPr>
            <a:spLocks noGrp="1"/>
          </p:cNvSpPr>
          <p:nvPr>
            <p:ph type="title"/>
          </p:nvPr>
        </p:nvSpPr>
        <p:spPr/>
        <p:txBody>
          <a:bodyPr>
            <a:normAutofit/>
          </a:bodyPr>
          <a:lstStyle/>
          <a:p>
            <a:r>
              <a:rPr lang="en-US" dirty="0"/>
              <a:t>What changed: The model proposes the work</a:t>
            </a:r>
          </a:p>
        </p:txBody>
      </p:sp>
      <p:sp>
        <p:nvSpPr>
          <p:cNvPr id="26" name="TextBox 25">
            <a:extLst>
              <a:ext uri="{FF2B5EF4-FFF2-40B4-BE49-F238E27FC236}">
                <a16:creationId xmlns:a16="http://schemas.microsoft.com/office/drawing/2014/main" id="{2E58C1C6-95F9-06B1-5DAC-63F1C7ECD157}"/>
              </a:ext>
            </a:extLst>
          </p:cNvPr>
          <p:cNvSpPr txBox="1"/>
          <p:nvPr/>
        </p:nvSpPr>
        <p:spPr>
          <a:xfrm>
            <a:off x="3231267" y="4924195"/>
            <a:ext cx="3626733" cy="200055"/>
          </a:xfrm>
          <a:prstGeom prst="rect">
            <a:avLst/>
          </a:prstGeom>
          <a:noFill/>
        </p:spPr>
        <p:txBody>
          <a:bodyPr wrap="square">
            <a:spAutoFit/>
          </a:bodyPr>
          <a:lstStyle/>
          <a:p>
            <a:pPr algn="r"/>
            <a:r>
              <a:rPr lang="en-US" sz="700" baseline="30000" dirty="0"/>
              <a:t>[1] </a:t>
            </a:r>
            <a:r>
              <a:rPr lang="en-US" sz="700" dirty="0"/>
              <a:t>Poole &amp; Mackworth, </a:t>
            </a:r>
            <a:r>
              <a:rPr lang="en-US" sz="700" i="1" dirty="0"/>
              <a:t>Artificial Intelligence: Foundations of Computational Agents</a:t>
            </a:r>
            <a:endParaRPr lang="en-US" sz="700" dirty="0">
              <a:latin typeface="+mn-lt"/>
            </a:endParaRPr>
          </a:p>
        </p:txBody>
      </p:sp>
      <p:pic>
        <p:nvPicPr>
          <p:cNvPr id="32" name="Picture 31">
            <a:extLst>
              <a:ext uri="{FF2B5EF4-FFF2-40B4-BE49-F238E27FC236}">
                <a16:creationId xmlns:a16="http://schemas.microsoft.com/office/drawing/2014/main" id="{A940DD8F-9322-8520-5564-6AD9BC33586A}"/>
              </a:ext>
            </a:extLst>
          </p:cNvPr>
          <p:cNvPicPr>
            <a:picLocks noChangeAspect="1"/>
          </p:cNvPicPr>
          <p:nvPr/>
        </p:nvPicPr>
        <p:blipFill>
          <a:blip r:embed="rId2"/>
          <a:srcRect l="788" t="10289" r="620" b="2115"/>
          <a:stretch>
            <a:fillRect/>
          </a:stretch>
        </p:blipFill>
        <p:spPr>
          <a:xfrm>
            <a:off x="13728" y="803618"/>
            <a:ext cx="6844272" cy="4053891"/>
          </a:xfrm>
          <a:prstGeom prst="rect">
            <a:avLst/>
          </a:prstGeom>
        </p:spPr>
      </p:pic>
      <p:sp>
        <p:nvSpPr>
          <p:cNvPr id="3" name="TextBox 2">
            <a:extLst>
              <a:ext uri="{FF2B5EF4-FFF2-40B4-BE49-F238E27FC236}">
                <a16:creationId xmlns:a16="http://schemas.microsoft.com/office/drawing/2014/main" id="{6CE735F8-E392-5F21-A514-BEECF365B2A8}"/>
              </a:ext>
            </a:extLst>
          </p:cNvPr>
          <p:cNvSpPr txBox="1"/>
          <p:nvPr/>
        </p:nvSpPr>
        <p:spPr>
          <a:xfrm>
            <a:off x="28274" y="506204"/>
            <a:ext cx="5400837" cy="307777"/>
          </a:xfrm>
          <a:prstGeom prst="rect">
            <a:avLst/>
          </a:prstGeom>
          <a:noFill/>
        </p:spPr>
        <p:txBody>
          <a:bodyPr wrap="none" rtlCol="0">
            <a:spAutoFit/>
          </a:bodyPr>
          <a:lstStyle/>
          <a:p>
            <a:pPr algn="l"/>
            <a:r>
              <a:rPr lang="en-US" dirty="0">
                <a:latin typeface="+mn-lt"/>
              </a:rPr>
              <a:t>In this updated view, LLMs are a core part of the controller loop</a:t>
            </a:r>
            <a:endParaRPr lang="en-US" baseline="30000" dirty="0">
              <a:latin typeface="+mn-lt"/>
            </a:endParaRPr>
          </a:p>
        </p:txBody>
      </p:sp>
    </p:spTree>
    <p:extLst>
      <p:ext uri="{BB962C8B-B14F-4D97-AF65-F5344CB8AC3E}">
        <p14:creationId xmlns:p14="http://schemas.microsoft.com/office/powerpoint/2010/main" val="27545943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B8C14-17E0-6B2C-A8DF-530F110E2E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ACA519-93EF-25DC-4C1C-79843CF38B51}"/>
              </a:ext>
            </a:extLst>
          </p:cNvPr>
          <p:cNvSpPr>
            <a:spLocks noGrp="1"/>
          </p:cNvSpPr>
          <p:nvPr>
            <p:ph type="title"/>
          </p:nvPr>
        </p:nvSpPr>
        <p:spPr/>
        <p:txBody>
          <a:bodyPr>
            <a:normAutofit/>
          </a:bodyPr>
          <a:lstStyle/>
          <a:p>
            <a:r>
              <a:rPr lang="en-US" dirty="0"/>
              <a:t>What changed: The model proposes the work</a:t>
            </a:r>
          </a:p>
        </p:txBody>
      </p:sp>
      <p:pic>
        <p:nvPicPr>
          <p:cNvPr id="32" name="Picture 31">
            <a:extLst>
              <a:ext uri="{FF2B5EF4-FFF2-40B4-BE49-F238E27FC236}">
                <a16:creationId xmlns:a16="http://schemas.microsoft.com/office/drawing/2014/main" id="{0BF7673B-B286-4064-1EC4-219A1273BBE3}"/>
              </a:ext>
            </a:extLst>
          </p:cNvPr>
          <p:cNvPicPr>
            <a:picLocks noChangeAspect="1"/>
          </p:cNvPicPr>
          <p:nvPr/>
        </p:nvPicPr>
        <p:blipFill>
          <a:blip r:embed="rId2"/>
          <a:srcRect l="788" t="10289" r="620" b="2115"/>
          <a:stretch>
            <a:fillRect/>
          </a:stretch>
        </p:blipFill>
        <p:spPr>
          <a:xfrm>
            <a:off x="13728" y="803618"/>
            <a:ext cx="6844272" cy="4053891"/>
          </a:xfrm>
          <a:prstGeom prst="rect">
            <a:avLst/>
          </a:prstGeom>
        </p:spPr>
      </p:pic>
      <p:sp>
        <p:nvSpPr>
          <p:cNvPr id="3" name="TextBox 2">
            <a:extLst>
              <a:ext uri="{FF2B5EF4-FFF2-40B4-BE49-F238E27FC236}">
                <a16:creationId xmlns:a16="http://schemas.microsoft.com/office/drawing/2014/main" id="{623D131E-D51D-321B-DC93-83BB3982EE8E}"/>
              </a:ext>
            </a:extLst>
          </p:cNvPr>
          <p:cNvSpPr txBox="1"/>
          <p:nvPr/>
        </p:nvSpPr>
        <p:spPr>
          <a:xfrm>
            <a:off x="28274" y="506204"/>
            <a:ext cx="5400837" cy="307777"/>
          </a:xfrm>
          <a:prstGeom prst="rect">
            <a:avLst/>
          </a:prstGeom>
          <a:noFill/>
        </p:spPr>
        <p:txBody>
          <a:bodyPr wrap="none" rtlCol="0">
            <a:spAutoFit/>
          </a:bodyPr>
          <a:lstStyle/>
          <a:p>
            <a:pPr algn="l"/>
            <a:r>
              <a:rPr lang="en-US" dirty="0">
                <a:latin typeface="+mn-lt"/>
              </a:rPr>
              <a:t>In this updated view, LLMs are a core part of the controller loop</a:t>
            </a:r>
            <a:endParaRPr lang="en-US" baseline="30000" dirty="0">
              <a:latin typeface="+mn-lt"/>
            </a:endParaRPr>
          </a:p>
        </p:txBody>
      </p:sp>
      <p:pic>
        <p:nvPicPr>
          <p:cNvPr id="4" name="Picture 3">
            <a:extLst>
              <a:ext uri="{FF2B5EF4-FFF2-40B4-BE49-F238E27FC236}">
                <a16:creationId xmlns:a16="http://schemas.microsoft.com/office/drawing/2014/main" id="{8E1B997A-7F82-6D8D-0C82-D499D862E944}"/>
              </a:ext>
            </a:extLst>
          </p:cNvPr>
          <p:cNvPicPr>
            <a:picLocks noGrp="1" noRot="1" noChangeAspect="1" noMove="1" noResize="1" noEditPoints="1" noAdjustHandles="1" noChangeArrowheads="1" noChangeShapeType="1" noCrop="1"/>
          </p:cNvPicPr>
          <p:nvPr/>
        </p:nvPicPr>
        <p:blipFill>
          <a:blip r:embed="rId3">
            <a:alphaModFix amt="94000"/>
          </a:blip>
          <a:stretch>
            <a:fillRect/>
          </a:stretch>
        </p:blipFill>
        <p:spPr>
          <a:xfrm>
            <a:off x="2487391" y="813980"/>
            <a:ext cx="4370609" cy="3612771"/>
          </a:xfrm>
          <a:prstGeom prst="rect">
            <a:avLst/>
          </a:prstGeom>
        </p:spPr>
      </p:pic>
      <p:pic>
        <p:nvPicPr>
          <p:cNvPr id="5" name="Picture 4">
            <a:extLst>
              <a:ext uri="{FF2B5EF4-FFF2-40B4-BE49-F238E27FC236}">
                <a16:creationId xmlns:a16="http://schemas.microsoft.com/office/drawing/2014/main" id="{47836E15-0BB0-3AE0-F7CD-40F505480ADA}"/>
              </a:ext>
            </a:extLst>
          </p:cNvPr>
          <p:cNvPicPr>
            <a:picLocks noGrp="1" noRot="1" noChangeAspect="1" noMove="1" noResize="1" noEditPoints="1" noAdjustHandles="1" noChangeArrowheads="1" noChangeShapeType="1" noCrop="1"/>
          </p:cNvPicPr>
          <p:nvPr/>
        </p:nvPicPr>
        <p:blipFill>
          <a:blip r:embed="rId3">
            <a:alphaModFix amt="94000"/>
          </a:blip>
          <a:stretch>
            <a:fillRect/>
          </a:stretch>
        </p:blipFill>
        <p:spPr>
          <a:xfrm>
            <a:off x="28275" y="4426751"/>
            <a:ext cx="6801452" cy="462152"/>
          </a:xfrm>
          <a:prstGeom prst="rect">
            <a:avLst/>
          </a:prstGeom>
        </p:spPr>
      </p:pic>
      <p:sp>
        <p:nvSpPr>
          <p:cNvPr id="8" name="TextBox 7">
            <a:extLst>
              <a:ext uri="{FF2B5EF4-FFF2-40B4-BE49-F238E27FC236}">
                <a16:creationId xmlns:a16="http://schemas.microsoft.com/office/drawing/2014/main" id="{B40E8576-EE40-23C2-D15E-90A456EA1AA4}"/>
              </a:ext>
            </a:extLst>
          </p:cNvPr>
          <p:cNvSpPr txBox="1"/>
          <p:nvPr/>
        </p:nvSpPr>
        <p:spPr>
          <a:xfrm>
            <a:off x="2546429" y="824343"/>
            <a:ext cx="4116729" cy="1754326"/>
          </a:xfrm>
          <a:prstGeom prst="rect">
            <a:avLst/>
          </a:prstGeom>
          <a:solidFill>
            <a:srgbClr val="EEF6FF"/>
          </a:solidFill>
          <a:effectLst>
            <a:softEdge rad="25400"/>
          </a:effectLst>
        </p:spPr>
        <p:txBody>
          <a:bodyPr wrap="square" rtlCol="0">
            <a:spAutoFit/>
          </a:bodyPr>
          <a:lstStyle/>
          <a:p>
            <a:r>
              <a:rPr lang="en-US" sz="1200" dirty="0">
                <a:solidFill>
                  <a:srgbClr val="2A2A63"/>
                </a:solidFill>
                <a:latin typeface="+mn-lt"/>
              </a:rPr>
              <a:t>The LLM based controller interacts with the environment through the body. In our implementation, this means tools. </a:t>
            </a:r>
          </a:p>
          <a:p>
            <a:endParaRPr lang="en-US" sz="1200" dirty="0">
              <a:solidFill>
                <a:srgbClr val="2A2A63"/>
              </a:solidFill>
              <a:latin typeface="+mn-lt"/>
            </a:endParaRPr>
          </a:p>
          <a:p>
            <a:pPr marL="228600" indent="-228600">
              <a:buFont typeface="+mj-lt"/>
              <a:buAutoNum type="arabicPeriod"/>
            </a:pPr>
            <a:r>
              <a:rPr lang="en-US" sz="1200" dirty="0">
                <a:solidFill>
                  <a:srgbClr val="2A2A63"/>
                </a:solidFill>
                <a:latin typeface="+mn-lt"/>
              </a:rPr>
              <a:t>Asking for a service restart =/= restarting it, and </a:t>
            </a:r>
          </a:p>
          <a:p>
            <a:pPr marL="228600" indent="-228600">
              <a:buFont typeface="+mj-lt"/>
              <a:buAutoNum type="arabicPeriod"/>
            </a:pPr>
            <a:r>
              <a:rPr lang="en-US" sz="1200" dirty="0">
                <a:solidFill>
                  <a:srgbClr val="2A2A63"/>
                </a:solidFill>
                <a:latin typeface="+mn-lt"/>
              </a:rPr>
              <a:t>Restarting it is =/= restoring service.</a:t>
            </a:r>
          </a:p>
          <a:p>
            <a:pPr marL="228600" indent="-228600">
              <a:buFont typeface="+mj-lt"/>
              <a:buAutoNum type="arabicPeriod"/>
            </a:pPr>
            <a:endParaRPr lang="en-US" sz="1200" dirty="0">
              <a:solidFill>
                <a:srgbClr val="2A2A63"/>
              </a:solidFill>
              <a:latin typeface="+mn-lt"/>
            </a:endParaRPr>
          </a:p>
          <a:p>
            <a:r>
              <a:rPr lang="en-US" sz="1200" dirty="0">
                <a:solidFill>
                  <a:srgbClr val="2A2A63"/>
                </a:solidFill>
                <a:latin typeface="+mn-lt"/>
              </a:rPr>
              <a:t>Observations must come back from the environment before we can establish what happened.</a:t>
            </a:r>
          </a:p>
        </p:txBody>
      </p:sp>
      <p:sp>
        <p:nvSpPr>
          <p:cNvPr id="9" name="TextBox 8">
            <a:extLst>
              <a:ext uri="{FF2B5EF4-FFF2-40B4-BE49-F238E27FC236}">
                <a16:creationId xmlns:a16="http://schemas.microsoft.com/office/drawing/2014/main" id="{0896B642-17DC-B10B-3A3A-BD335BC12832}"/>
              </a:ext>
            </a:extLst>
          </p:cNvPr>
          <p:cNvSpPr txBox="1"/>
          <p:nvPr/>
        </p:nvSpPr>
        <p:spPr>
          <a:xfrm>
            <a:off x="2546430" y="2699442"/>
            <a:ext cx="4116728" cy="1015663"/>
          </a:xfrm>
          <a:prstGeom prst="rect">
            <a:avLst/>
          </a:prstGeom>
          <a:noFill/>
          <a:ln w="12700">
            <a:solidFill>
              <a:srgbClr val="2A2A63"/>
            </a:solidFill>
          </a:ln>
          <a:effectLst>
            <a:softEdge rad="0"/>
          </a:effectLst>
        </p:spPr>
        <p:txBody>
          <a:bodyPr wrap="square" rtlCol="0">
            <a:spAutoFit/>
          </a:bodyPr>
          <a:lstStyle/>
          <a:p>
            <a:r>
              <a:rPr lang="en-US" sz="1200" b="1" dirty="0">
                <a:solidFill>
                  <a:srgbClr val="2A2A63"/>
                </a:solidFill>
                <a:latin typeface="+mn-lt"/>
              </a:rPr>
              <a:t>Units 1 and 2 teaches you how to build this structure </a:t>
            </a:r>
          </a:p>
          <a:p>
            <a:r>
              <a:rPr lang="en-US" sz="1200" dirty="0">
                <a:solidFill>
                  <a:srgbClr val="2A2A63"/>
                </a:solidFill>
                <a:latin typeface="+mn-lt"/>
              </a:rPr>
              <a:t>An entry point, a controller, tools, and a feedback loop. Our first assignment deliverable is a working system that can receive a task, attempt an action, observe the result, and decide whether to continue.</a:t>
            </a:r>
          </a:p>
        </p:txBody>
      </p:sp>
      <p:sp>
        <p:nvSpPr>
          <p:cNvPr id="10" name="Rectangle 9">
            <a:extLst>
              <a:ext uri="{FF2B5EF4-FFF2-40B4-BE49-F238E27FC236}">
                <a16:creationId xmlns:a16="http://schemas.microsoft.com/office/drawing/2014/main" id="{9A581175-C329-4FD7-52D7-A6924C189B5E}"/>
              </a:ext>
            </a:extLst>
          </p:cNvPr>
          <p:cNvSpPr/>
          <p:nvPr/>
        </p:nvSpPr>
        <p:spPr>
          <a:xfrm>
            <a:off x="2504947" y="2699441"/>
            <a:ext cx="72350" cy="1015663"/>
          </a:xfrm>
          <a:prstGeom prst="rect">
            <a:avLst/>
          </a:prstGeom>
          <a:solidFill>
            <a:srgbClr val="2A2A63"/>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548900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A4901-0EB6-CF42-559A-BA47016F72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ACC5ED-9EBE-D4DE-B3DE-2A65A6933DA8}"/>
              </a:ext>
            </a:extLst>
          </p:cNvPr>
          <p:cNvSpPr>
            <a:spLocks noGrp="1"/>
          </p:cNvSpPr>
          <p:nvPr>
            <p:ph type="title"/>
          </p:nvPr>
        </p:nvSpPr>
        <p:spPr/>
        <p:txBody>
          <a:bodyPr>
            <a:normAutofit/>
          </a:bodyPr>
          <a:lstStyle/>
          <a:p>
            <a:r>
              <a:rPr lang="en-US" dirty="0"/>
              <a:t>What changed: The model proposes the work</a:t>
            </a:r>
          </a:p>
        </p:txBody>
      </p:sp>
      <p:pic>
        <p:nvPicPr>
          <p:cNvPr id="32" name="Picture 31">
            <a:extLst>
              <a:ext uri="{FF2B5EF4-FFF2-40B4-BE49-F238E27FC236}">
                <a16:creationId xmlns:a16="http://schemas.microsoft.com/office/drawing/2014/main" id="{6A6A1472-FE4A-BEE6-2F99-4FEC8CA489E9}"/>
              </a:ext>
            </a:extLst>
          </p:cNvPr>
          <p:cNvPicPr>
            <a:picLocks noChangeAspect="1"/>
          </p:cNvPicPr>
          <p:nvPr/>
        </p:nvPicPr>
        <p:blipFill>
          <a:blip r:embed="rId2"/>
          <a:srcRect l="788" t="10289" r="620" b="2115"/>
          <a:stretch>
            <a:fillRect/>
          </a:stretch>
        </p:blipFill>
        <p:spPr>
          <a:xfrm>
            <a:off x="13728" y="803618"/>
            <a:ext cx="6844272" cy="4053891"/>
          </a:xfrm>
          <a:prstGeom prst="rect">
            <a:avLst/>
          </a:prstGeom>
        </p:spPr>
      </p:pic>
      <p:sp>
        <p:nvSpPr>
          <p:cNvPr id="3" name="TextBox 2">
            <a:extLst>
              <a:ext uri="{FF2B5EF4-FFF2-40B4-BE49-F238E27FC236}">
                <a16:creationId xmlns:a16="http://schemas.microsoft.com/office/drawing/2014/main" id="{8E6D3A4E-004A-2CD3-55CA-63318990FBBB}"/>
              </a:ext>
            </a:extLst>
          </p:cNvPr>
          <p:cNvSpPr txBox="1"/>
          <p:nvPr/>
        </p:nvSpPr>
        <p:spPr>
          <a:xfrm>
            <a:off x="28274" y="506204"/>
            <a:ext cx="5400837" cy="307777"/>
          </a:xfrm>
          <a:prstGeom prst="rect">
            <a:avLst/>
          </a:prstGeom>
          <a:noFill/>
        </p:spPr>
        <p:txBody>
          <a:bodyPr wrap="none" rtlCol="0">
            <a:spAutoFit/>
          </a:bodyPr>
          <a:lstStyle/>
          <a:p>
            <a:pPr algn="l"/>
            <a:r>
              <a:rPr lang="en-US" dirty="0">
                <a:latin typeface="+mn-lt"/>
              </a:rPr>
              <a:t>In this updated view, LLMs are a core part of the controller loop</a:t>
            </a:r>
            <a:endParaRPr lang="en-US" baseline="30000" dirty="0">
              <a:latin typeface="+mn-lt"/>
            </a:endParaRPr>
          </a:p>
        </p:txBody>
      </p:sp>
      <p:pic>
        <p:nvPicPr>
          <p:cNvPr id="4" name="Picture 3">
            <a:extLst>
              <a:ext uri="{FF2B5EF4-FFF2-40B4-BE49-F238E27FC236}">
                <a16:creationId xmlns:a16="http://schemas.microsoft.com/office/drawing/2014/main" id="{1DE31320-04BD-5C42-FE8E-C7C21DB31566}"/>
              </a:ext>
            </a:extLst>
          </p:cNvPr>
          <p:cNvPicPr>
            <a:picLocks noChangeAspect="1"/>
          </p:cNvPicPr>
          <p:nvPr/>
        </p:nvPicPr>
        <p:blipFill>
          <a:blip r:embed="rId3">
            <a:alphaModFix amt="94000"/>
          </a:blip>
          <a:stretch>
            <a:fillRect/>
          </a:stretch>
        </p:blipFill>
        <p:spPr>
          <a:xfrm>
            <a:off x="13728" y="813981"/>
            <a:ext cx="2436247" cy="1895823"/>
          </a:xfrm>
          <a:prstGeom prst="rect">
            <a:avLst/>
          </a:prstGeom>
        </p:spPr>
      </p:pic>
      <p:pic>
        <p:nvPicPr>
          <p:cNvPr id="5" name="Picture 4">
            <a:extLst>
              <a:ext uri="{FF2B5EF4-FFF2-40B4-BE49-F238E27FC236}">
                <a16:creationId xmlns:a16="http://schemas.microsoft.com/office/drawing/2014/main" id="{75CFF41D-0742-C1E8-1096-7614A367A620}"/>
              </a:ext>
            </a:extLst>
          </p:cNvPr>
          <p:cNvPicPr>
            <a:picLocks noChangeAspect="1"/>
          </p:cNvPicPr>
          <p:nvPr/>
        </p:nvPicPr>
        <p:blipFill>
          <a:blip r:embed="rId3">
            <a:alphaModFix amt="94000"/>
          </a:blip>
          <a:stretch>
            <a:fillRect/>
          </a:stretch>
        </p:blipFill>
        <p:spPr>
          <a:xfrm>
            <a:off x="28275" y="2709804"/>
            <a:ext cx="6801452" cy="2179099"/>
          </a:xfrm>
          <a:prstGeom prst="rect">
            <a:avLst/>
          </a:prstGeom>
        </p:spPr>
      </p:pic>
      <p:pic>
        <p:nvPicPr>
          <p:cNvPr id="6" name="Picture 5">
            <a:extLst>
              <a:ext uri="{FF2B5EF4-FFF2-40B4-BE49-F238E27FC236}">
                <a16:creationId xmlns:a16="http://schemas.microsoft.com/office/drawing/2014/main" id="{0848781E-1FA8-D963-5EEC-E3F396A6B2EE}"/>
              </a:ext>
            </a:extLst>
          </p:cNvPr>
          <p:cNvPicPr>
            <a:picLocks noChangeAspect="1"/>
          </p:cNvPicPr>
          <p:nvPr/>
        </p:nvPicPr>
        <p:blipFill>
          <a:blip r:embed="rId3">
            <a:alphaModFix amt="94000"/>
          </a:blip>
          <a:stretch>
            <a:fillRect/>
          </a:stretch>
        </p:blipFill>
        <p:spPr>
          <a:xfrm>
            <a:off x="4683889" y="815821"/>
            <a:ext cx="2174111" cy="1883621"/>
          </a:xfrm>
          <a:prstGeom prst="rect">
            <a:avLst/>
          </a:prstGeom>
        </p:spPr>
      </p:pic>
      <p:sp>
        <p:nvSpPr>
          <p:cNvPr id="8" name="TextBox 7">
            <a:extLst>
              <a:ext uri="{FF2B5EF4-FFF2-40B4-BE49-F238E27FC236}">
                <a16:creationId xmlns:a16="http://schemas.microsoft.com/office/drawing/2014/main" id="{8B46CE90-2CF7-7755-ED75-D649B9F3C52D}"/>
              </a:ext>
            </a:extLst>
          </p:cNvPr>
          <p:cNvSpPr txBox="1"/>
          <p:nvPr/>
        </p:nvSpPr>
        <p:spPr>
          <a:xfrm>
            <a:off x="57020" y="824343"/>
            <a:ext cx="2349661" cy="1384995"/>
          </a:xfrm>
          <a:prstGeom prst="rect">
            <a:avLst/>
          </a:prstGeom>
          <a:solidFill>
            <a:srgbClr val="EBF8ED"/>
          </a:solidFill>
          <a:effectLst>
            <a:softEdge rad="25400"/>
          </a:effectLst>
        </p:spPr>
        <p:txBody>
          <a:bodyPr wrap="square" rtlCol="0">
            <a:spAutoFit/>
          </a:bodyPr>
          <a:lstStyle/>
          <a:p>
            <a:r>
              <a:rPr lang="en-US" sz="1200" dirty="0">
                <a:solidFill>
                  <a:srgbClr val="2A2A63"/>
                </a:solidFill>
                <a:latin typeface="+mn-lt"/>
              </a:rPr>
              <a:t>Each step takes memory and an observation and produces a command and updated memory. Memory includes </a:t>
            </a:r>
            <a:r>
              <a:rPr lang="en-US" sz="1200" b="1" dirty="0">
                <a:solidFill>
                  <a:srgbClr val="2A2A63"/>
                </a:solidFill>
                <a:latin typeface="+mn-lt"/>
              </a:rPr>
              <a:t>more than a transcript</a:t>
            </a:r>
            <a:r>
              <a:rPr lang="en-US" sz="1200" dirty="0">
                <a:solidFill>
                  <a:srgbClr val="2A2A63"/>
                </a:solidFill>
                <a:latin typeface="+mn-lt"/>
              </a:rPr>
              <a:t>: goals, evidence, previous attempts, and unresolved work. </a:t>
            </a:r>
          </a:p>
        </p:txBody>
      </p:sp>
      <p:sp>
        <p:nvSpPr>
          <p:cNvPr id="9" name="TextBox 8">
            <a:extLst>
              <a:ext uri="{FF2B5EF4-FFF2-40B4-BE49-F238E27FC236}">
                <a16:creationId xmlns:a16="http://schemas.microsoft.com/office/drawing/2014/main" id="{F0799248-7B7C-9496-7542-674AB6AD8420}"/>
              </a:ext>
            </a:extLst>
          </p:cNvPr>
          <p:cNvSpPr txBox="1"/>
          <p:nvPr/>
        </p:nvSpPr>
        <p:spPr>
          <a:xfrm>
            <a:off x="2550289" y="2827108"/>
            <a:ext cx="2059250" cy="1384995"/>
          </a:xfrm>
          <a:prstGeom prst="rect">
            <a:avLst/>
          </a:prstGeom>
          <a:noFill/>
          <a:ln w="12700">
            <a:solidFill>
              <a:srgbClr val="235751"/>
            </a:solidFill>
          </a:ln>
          <a:effectLst>
            <a:softEdge rad="0"/>
          </a:effectLst>
        </p:spPr>
        <p:txBody>
          <a:bodyPr wrap="square" rtlCol="0">
            <a:spAutoFit/>
          </a:bodyPr>
          <a:lstStyle/>
          <a:p>
            <a:r>
              <a:rPr lang="en-US" sz="1200" b="1" dirty="0">
                <a:solidFill>
                  <a:srgbClr val="235751"/>
                </a:solidFill>
                <a:latin typeface="+mn-lt"/>
              </a:rPr>
              <a:t>Unit 3 </a:t>
            </a:r>
            <a:r>
              <a:rPr lang="en-US" sz="1200" dirty="0">
                <a:solidFill>
                  <a:srgbClr val="235751"/>
                </a:solidFill>
                <a:latin typeface="+mn-lt"/>
              </a:rPr>
              <a:t>covers what state to retain, where to store it, and how to preserve it across steps, what to do when we run out of context space and process restarts.</a:t>
            </a:r>
          </a:p>
        </p:txBody>
      </p:sp>
      <p:sp>
        <p:nvSpPr>
          <p:cNvPr id="7" name="Rectangle 6">
            <a:extLst>
              <a:ext uri="{FF2B5EF4-FFF2-40B4-BE49-F238E27FC236}">
                <a16:creationId xmlns:a16="http://schemas.microsoft.com/office/drawing/2014/main" id="{08953816-6E96-34A2-C5C2-1426DACF6437}"/>
              </a:ext>
            </a:extLst>
          </p:cNvPr>
          <p:cNvSpPr/>
          <p:nvPr/>
        </p:nvSpPr>
        <p:spPr>
          <a:xfrm>
            <a:off x="2522015" y="2827108"/>
            <a:ext cx="70714" cy="1384995"/>
          </a:xfrm>
          <a:prstGeom prst="rect">
            <a:avLst/>
          </a:prstGeom>
          <a:solidFill>
            <a:srgbClr val="235751"/>
          </a:solidFill>
          <a:ln w="12700">
            <a:solidFill>
              <a:srgbClr val="23575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250548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87EA4-6211-2169-0F35-571ADC56D3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9E8F5C-BB27-6896-E5BD-8BA7A18715B6}"/>
              </a:ext>
            </a:extLst>
          </p:cNvPr>
          <p:cNvSpPr>
            <a:spLocks noGrp="1"/>
          </p:cNvSpPr>
          <p:nvPr>
            <p:ph type="title"/>
          </p:nvPr>
        </p:nvSpPr>
        <p:spPr/>
        <p:txBody>
          <a:bodyPr>
            <a:normAutofit/>
          </a:bodyPr>
          <a:lstStyle/>
          <a:p>
            <a:r>
              <a:rPr lang="en-US" dirty="0"/>
              <a:t>What changed: The model proposes the work</a:t>
            </a:r>
          </a:p>
        </p:txBody>
      </p:sp>
      <p:pic>
        <p:nvPicPr>
          <p:cNvPr id="32" name="Picture 31">
            <a:extLst>
              <a:ext uri="{FF2B5EF4-FFF2-40B4-BE49-F238E27FC236}">
                <a16:creationId xmlns:a16="http://schemas.microsoft.com/office/drawing/2014/main" id="{484E879F-8783-A9B8-804E-779BFAECF2DA}"/>
              </a:ext>
            </a:extLst>
          </p:cNvPr>
          <p:cNvPicPr>
            <a:picLocks noChangeAspect="1"/>
          </p:cNvPicPr>
          <p:nvPr/>
        </p:nvPicPr>
        <p:blipFill>
          <a:blip r:embed="rId2"/>
          <a:srcRect l="788" t="10289" r="620" b="2115"/>
          <a:stretch>
            <a:fillRect/>
          </a:stretch>
        </p:blipFill>
        <p:spPr>
          <a:xfrm>
            <a:off x="13728" y="803618"/>
            <a:ext cx="6844272" cy="4053891"/>
          </a:xfrm>
          <a:prstGeom prst="rect">
            <a:avLst/>
          </a:prstGeom>
        </p:spPr>
      </p:pic>
      <p:sp>
        <p:nvSpPr>
          <p:cNvPr id="3" name="TextBox 2">
            <a:extLst>
              <a:ext uri="{FF2B5EF4-FFF2-40B4-BE49-F238E27FC236}">
                <a16:creationId xmlns:a16="http://schemas.microsoft.com/office/drawing/2014/main" id="{535370F6-AC67-647F-7906-5A64379249B2}"/>
              </a:ext>
            </a:extLst>
          </p:cNvPr>
          <p:cNvSpPr txBox="1"/>
          <p:nvPr/>
        </p:nvSpPr>
        <p:spPr>
          <a:xfrm>
            <a:off x="28274" y="506204"/>
            <a:ext cx="5400837" cy="307777"/>
          </a:xfrm>
          <a:prstGeom prst="rect">
            <a:avLst/>
          </a:prstGeom>
          <a:noFill/>
        </p:spPr>
        <p:txBody>
          <a:bodyPr wrap="none" rtlCol="0">
            <a:spAutoFit/>
          </a:bodyPr>
          <a:lstStyle/>
          <a:p>
            <a:pPr algn="l"/>
            <a:r>
              <a:rPr lang="en-US" dirty="0">
                <a:latin typeface="+mn-lt"/>
              </a:rPr>
              <a:t>In this updated view, LLMs are a core part of the controller loop</a:t>
            </a:r>
            <a:endParaRPr lang="en-US" baseline="30000" dirty="0">
              <a:latin typeface="+mn-lt"/>
            </a:endParaRPr>
          </a:p>
        </p:txBody>
      </p:sp>
      <p:pic>
        <p:nvPicPr>
          <p:cNvPr id="4" name="Picture 3">
            <a:extLst>
              <a:ext uri="{FF2B5EF4-FFF2-40B4-BE49-F238E27FC236}">
                <a16:creationId xmlns:a16="http://schemas.microsoft.com/office/drawing/2014/main" id="{B8543679-3581-45CC-1E8E-D46EB669A3BE}"/>
              </a:ext>
            </a:extLst>
          </p:cNvPr>
          <p:cNvPicPr>
            <a:picLocks noChangeAspect="1"/>
          </p:cNvPicPr>
          <p:nvPr/>
        </p:nvPicPr>
        <p:blipFill>
          <a:blip r:embed="rId3">
            <a:alphaModFix amt="94000"/>
          </a:blip>
          <a:stretch>
            <a:fillRect/>
          </a:stretch>
        </p:blipFill>
        <p:spPr>
          <a:xfrm>
            <a:off x="13728" y="813981"/>
            <a:ext cx="2436247" cy="1895823"/>
          </a:xfrm>
          <a:prstGeom prst="rect">
            <a:avLst/>
          </a:prstGeom>
        </p:spPr>
      </p:pic>
      <p:pic>
        <p:nvPicPr>
          <p:cNvPr id="5" name="Picture 4">
            <a:extLst>
              <a:ext uri="{FF2B5EF4-FFF2-40B4-BE49-F238E27FC236}">
                <a16:creationId xmlns:a16="http://schemas.microsoft.com/office/drawing/2014/main" id="{CDE8A0D3-CB33-F80B-C465-7292EC533EAD}"/>
              </a:ext>
            </a:extLst>
          </p:cNvPr>
          <p:cNvPicPr>
            <a:picLocks noChangeAspect="1"/>
          </p:cNvPicPr>
          <p:nvPr/>
        </p:nvPicPr>
        <p:blipFill>
          <a:blip r:embed="rId3">
            <a:alphaModFix amt="94000"/>
          </a:blip>
          <a:stretch>
            <a:fillRect/>
          </a:stretch>
        </p:blipFill>
        <p:spPr>
          <a:xfrm>
            <a:off x="28275" y="2709804"/>
            <a:ext cx="6801452" cy="2179099"/>
          </a:xfrm>
          <a:prstGeom prst="rect">
            <a:avLst/>
          </a:prstGeom>
        </p:spPr>
      </p:pic>
      <p:pic>
        <p:nvPicPr>
          <p:cNvPr id="6" name="Picture 5">
            <a:extLst>
              <a:ext uri="{FF2B5EF4-FFF2-40B4-BE49-F238E27FC236}">
                <a16:creationId xmlns:a16="http://schemas.microsoft.com/office/drawing/2014/main" id="{473D88F5-9FAE-39B2-FCD3-C0AC086F1D02}"/>
              </a:ext>
            </a:extLst>
          </p:cNvPr>
          <p:cNvPicPr>
            <a:picLocks noChangeAspect="1"/>
          </p:cNvPicPr>
          <p:nvPr/>
        </p:nvPicPr>
        <p:blipFill>
          <a:blip r:embed="rId3">
            <a:alphaModFix amt="94000"/>
          </a:blip>
          <a:stretch>
            <a:fillRect/>
          </a:stretch>
        </p:blipFill>
        <p:spPr>
          <a:xfrm>
            <a:off x="2492858" y="815821"/>
            <a:ext cx="2174111" cy="1893983"/>
          </a:xfrm>
          <a:prstGeom prst="rect">
            <a:avLst/>
          </a:prstGeom>
        </p:spPr>
      </p:pic>
      <p:sp>
        <p:nvSpPr>
          <p:cNvPr id="8" name="TextBox 7">
            <a:extLst>
              <a:ext uri="{FF2B5EF4-FFF2-40B4-BE49-F238E27FC236}">
                <a16:creationId xmlns:a16="http://schemas.microsoft.com/office/drawing/2014/main" id="{621DEF73-F245-01B2-2D13-D0CCCBD4C583}"/>
              </a:ext>
            </a:extLst>
          </p:cNvPr>
          <p:cNvSpPr txBox="1"/>
          <p:nvPr/>
        </p:nvSpPr>
        <p:spPr>
          <a:xfrm>
            <a:off x="925976" y="955015"/>
            <a:ext cx="3482052" cy="1569660"/>
          </a:xfrm>
          <a:prstGeom prst="rect">
            <a:avLst/>
          </a:prstGeom>
          <a:solidFill>
            <a:srgbClr val="FEF8E1"/>
          </a:solidFill>
          <a:effectLst>
            <a:softEdge rad="25400"/>
          </a:effectLst>
        </p:spPr>
        <p:txBody>
          <a:bodyPr wrap="square" rtlCol="0">
            <a:spAutoFit/>
          </a:bodyPr>
          <a:lstStyle/>
          <a:p>
            <a:r>
              <a:rPr lang="en-US" sz="1200" dirty="0">
                <a:solidFill>
                  <a:srgbClr val="2A2A63"/>
                </a:solidFill>
                <a:latin typeface="+mn-lt"/>
              </a:rPr>
              <a:t>These are successive steps of the same controller. Memory connects them; observations and commands connect each step to the environment.</a:t>
            </a:r>
          </a:p>
          <a:p>
            <a:endParaRPr lang="en-US" sz="1200" dirty="0">
              <a:solidFill>
                <a:srgbClr val="2A2A63"/>
              </a:solidFill>
              <a:latin typeface="+mn-lt"/>
            </a:endParaRPr>
          </a:p>
          <a:p>
            <a:r>
              <a:rPr lang="en-US" sz="1200" dirty="0">
                <a:solidFill>
                  <a:srgbClr val="2A2A63"/>
                </a:solidFill>
                <a:latin typeface="+mn-lt"/>
              </a:rPr>
              <a:t>Suppose a tool creates a ticket, but the process crashes before recording its ID. Should recovery retry, look up the ticket, or pause?</a:t>
            </a:r>
          </a:p>
        </p:txBody>
      </p:sp>
      <p:sp>
        <p:nvSpPr>
          <p:cNvPr id="9" name="TextBox 8">
            <a:extLst>
              <a:ext uri="{FF2B5EF4-FFF2-40B4-BE49-F238E27FC236}">
                <a16:creationId xmlns:a16="http://schemas.microsoft.com/office/drawing/2014/main" id="{0E09CE1A-30C0-2525-B007-C2863B983E27}"/>
              </a:ext>
            </a:extLst>
          </p:cNvPr>
          <p:cNvSpPr txBox="1"/>
          <p:nvPr/>
        </p:nvSpPr>
        <p:spPr>
          <a:xfrm>
            <a:off x="925976" y="2663869"/>
            <a:ext cx="3482053" cy="830997"/>
          </a:xfrm>
          <a:prstGeom prst="rect">
            <a:avLst/>
          </a:prstGeom>
          <a:noFill/>
          <a:ln>
            <a:solidFill>
              <a:srgbClr val="2A2A63"/>
            </a:solidFill>
          </a:ln>
          <a:effectLst>
            <a:softEdge rad="0"/>
          </a:effectLst>
        </p:spPr>
        <p:txBody>
          <a:bodyPr wrap="square" rtlCol="0">
            <a:spAutoFit/>
          </a:bodyPr>
          <a:lstStyle/>
          <a:p>
            <a:r>
              <a:rPr lang="en-US" sz="1200" b="1" dirty="0">
                <a:solidFill>
                  <a:srgbClr val="2A2A63"/>
                </a:solidFill>
                <a:latin typeface="+mn-lt"/>
              </a:rPr>
              <a:t>Unit 4 </a:t>
            </a:r>
            <a:r>
              <a:rPr lang="en-US" sz="1200" dirty="0">
                <a:solidFill>
                  <a:srgbClr val="2A2A63"/>
                </a:solidFill>
                <a:latin typeface="+mn-lt"/>
              </a:rPr>
              <a:t>addresses that gap: deploying the loop as a service, recovering from partial failures, retrying safely, and using traces to understand what happened across steps.</a:t>
            </a:r>
          </a:p>
        </p:txBody>
      </p:sp>
      <p:sp>
        <p:nvSpPr>
          <p:cNvPr id="7" name="Rectangle 6">
            <a:extLst>
              <a:ext uri="{FF2B5EF4-FFF2-40B4-BE49-F238E27FC236}">
                <a16:creationId xmlns:a16="http://schemas.microsoft.com/office/drawing/2014/main" id="{6E15D152-DD61-18D6-5E10-EBA014BC128A}"/>
              </a:ext>
            </a:extLst>
          </p:cNvPr>
          <p:cNvSpPr/>
          <p:nvPr/>
        </p:nvSpPr>
        <p:spPr>
          <a:xfrm>
            <a:off x="884494" y="2663869"/>
            <a:ext cx="76206" cy="830997"/>
          </a:xfrm>
          <a:prstGeom prst="rect">
            <a:avLst/>
          </a:prstGeom>
          <a:solidFill>
            <a:srgbClr val="2A2A63"/>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93244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FF3E1-47A6-2E8F-97F7-1A38CB6DAF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7EED6E-AFD6-8199-CDF1-E4EF01D4B6C2}"/>
              </a:ext>
            </a:extLst>
          </p:cNvPr>
          <p:cNvSpPr>
            <a:spLocks noGrp="1"/>
          </p:cNvSpPr>
          <p:nvPr>
            <p:ph type="title"/>
          </p:nvPr>
        </p:nvSpPr>
        <p:spPr/>
        <p:txBody>
          <a:bodyPr>
            <a:normAutofit/>
          </a:bodyPr>
          <a:lstStyle/>
          <a:p>
            <a:r>
              <a:rPr lang="en-US" dirty="0"/>
              <a:t>What didn’t change: New problems, old names</a:t>
            </a:r>
          </a:p>
        </p:txBody>
      </p:sp>
      <p:sp>
        <p:nvSpPr>
          <p:cNvPr id="26" name="TextBox 25">
            <a:extLst>
              <a:ext uri="{FF2B5EF4-FFF2-40B4-BE49-F238E27FC236}">
                <a16:creationId xmlns:a16="http://schemas.microsoft.com/office/drawing/2014/main" id="{22DF54D7-69E8-594A-70E3-DC9A770FD169}"/>
              </a:ext>
            </a:extLst>
          </p:cNvPr>
          <p:cNvSpPr txBox="1"/>
          <p:nvPr/>
        </p:nvSpPr>
        <p:spPr>
          <a:xfrm>
            <a:off x="3231267" y="4924195"/>
            <a:ext cx="3626733" cy="200055"/>
          </a:xfrm>
          <a:prstGeom prst="rect">
            <a:avLst/>
          </a:prstGeom>
          <a:noFill/>
        </p:spPr>
        <p:txBody>
          <a:bodyPr wrap="square">
            <a:spAutoFit/>
          </a:bodyPr>
          <a:lstStyle/>
          <a:p>
            <a:pPr algn="r"/>
            <a:r>
              <a:rPr lang="en-US" sz="700" baseline="30000" dirty="0"/>
              <a:t>[1] </a:t>
            </a:r>
            <a:r>
              <a:rPr lang="en-US" sz="700" dirty="0"/>
              <a:t>Poole &amp; Mackworth, </a:t>
            </a:r>
            <a:r>
              <a:rPr lang="en-US" sz="700" i="1" dirty="0"/>
              <a:t>Artificial Intelligence: Foundations of Computational Agents</a:t>
            </a:r>
            <a:endParaRPr lang="en-US" sz="700" dirty="0">
              <a:latin typeface="+mn-lt"/>
            </a:endParaRPr>
          </a:p>
        </p:txBody>
      </p:sp>
      <p:graphicFrame>
        <p:nvGraphicFramePr>
          <p:cNvPr id="3" name="Table 2">
            <a:extLst>
              <a:ext uri="{FF2B5EF4-FFF2-40B4-BE49-F238E27FC236}">
                <a16:creationId xmlns:a16="http://schemas.microsoft.com/office/drawing/2014/main" id="{D997CA7C-7300-4FF0-F5B0-19D645AAE4CA}"/>
              </a:ext>
            </a:extLst>
          </p:cNvPr>
          <p:cNvGraphicFramePr>
            <a:graphicFrameLocks noGrp="1"/>
          </p:cNvGraphicFramePr>
          <p:nvPr>
            <p:extLst>
              <p:ext uri="{D42A27DB-BD31-4B8C-83A1-F6EECF244321}">
                <p14:modId xmlns:p14="http://schemas.microsoft.com/office/powerpoint/2010/main" val="2331474461"/>
              </p:ext>
            </p:extLst>
          </p:nvPr>
        </p:nvGraphicFramePr>
        <p:xfrm>
          <a:off x="381785" y="769202"/>
          <a:ext cx="5698964" cy="2651760"/>
        </p:xfrm>
        <a:graphic>
          <a:graphicData uri="http://schemas.openxmlformats.org/drawingml/2006/table">
            <a:tbl>
              <a:tblPr>
                <a:tableStyleId>{2D5ABB26-0587-4C30-8999-92F81FD0307C}</a:tableStyleId>
              </a:tblPr>
              <a:tblGrid>
                <a:gridCol w="2849482">
                  <a:extLst>
                    <a:ext uri="{9D8B030D-6E8A-4147-A177-3AD203B41FA5}">
                      <a16:colId xmlns:a16="http://schemas.microsoft.com/office/drawing/2014/main" val="3030205424"/>
                    </a:ext>
                  </a:extLst>
                </a:gridCol>
                <a:gridCol w="2849482">
                  <a:extLst>
                    <a:ext uri="{9D8B030D-6E8A-4147-A177-3AD203B41FA5}">
                      <a16:colId xmlns:a16="http://schemas.microsoft.com/office/drawing/2014/main" val="4137069464"/>
                    </a:ext>
                  </a:extLst>
                </a:gridCol>
              </a:tblGrid>
              <a:tr h="255270">
                <a:tc>
                  <a:txBody>
                    <a:bodyPr/>
                    <a:lstStyle/>
                    <a:p>
                      <a:pPr algn="l">
                        <a:buNone/>
                      </a:pPr>
                      <a:r>
                        <a:rPr lang="en-US" sz="1000" b="1" dirty="0">
                          <a:effectLst/>
                        </a:rPr>
                        <a:t>What goes wrong in a run</a:t>
                      </a:r>
                      <a:endParaRPr lang="en-US" sz="10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rPr>
                        <a:t>The name it already has</a:t>
                      </a:r>
                      <a:endParaRPr lang="en-US" sz="10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93623914"/>
                  </a:ext>
                </a:extLst>
              </a:tr>
              <a:tr h="415290">
                <a:tc>
                  <a:txBody>
                    <a:bodyPr/>
                    <a:lstStyle/>
                    <a:p>
                      <a:pPr algn="l">
                        <a:buNone/>
                      </a:pPr>
                      <a:r>
                        <a:rPr lang="en-US" sz="1050" b="0" i="0" u="none" strike="noStrike" cap="none" spc="0" dirty="0">
                          <a:solidFill>
                            <a:schemeClr val="tx1"/>
                          </a:solidFill>
                          <a:effectLst/>
                          <a:latin typeface="+mn-lt"/>
                          <a:ea typeface="+mn-ea"/>
                          <a:cs typeface="+mn-cs"/>
                          <a:sym typeface="Arial"/>
                        </a:rPr>
                        <a:t>An agent (sub-agent) with no step cap holds its worker for as long as it likes: the agents around it stall, no latency can be promised to a caller.</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Bounded execution — admission control, step and token budgets, stopping rules; Nygard's blocked threads</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3026683"/>
                  </a:ext>
                </a:extLst>
              </a:tr>
              <a:tr h="415290">
                <a:tc>
                  <a:txBody>
                    <a:bodyPr/>
                    <a:lstStyle/>
                    <a:p>
                      <a:pPr algn="l">
                        <a:buNone/>
                      </a:pPr>
                      <a:r>
                        <a:rPr lang="en-US" sz="1000" dirty="0">
                          <a:effectLst/>
                        </a:rPr>
                        <a:t>A tool call that half-succeeded, and a retry that repeats the effect</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Partial failure; idempotence and transactions</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631095"/>
                  </a:ext>
                </a:extLst>
              </a:tr>
              <a:tr h="415290">
                <a:tc>
                  <a:txBody>
                    <a:bodyPr/>
                    <a:lstStyle/>
                    <a:p>
                      <a:pPr algn="l">
                        <a:buNone/>
                      </a:pPr>
                      <a:r>
                        <a:rPr lang="en-US" sz="1000" dirty="0">
                          <a:effectLst/>
                        </a:rPr>
                        <a:t>The process dies at step N, and the accepted work dies with it</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Durable state</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4980300"/>
                  </a:ext>
                </a:extLst>
              </a:tr>
              <a:tr h="415290">
                <a:tc>
                  <a:txBody>
                    <a:bodyPr/>
                    <a:lstStyle/>
                    <a:p>
                      <a:pPr algn="l">
                        <a:buNone/>
                      </a:pPr>
                      <a:r>
                        <a:rPr lang="en-US" sz="1000" dirty="0">
                          <a:effectLst/>
                        </a:rPr>
                        <a:t>A restart that re-runs from zero instead of resuming what was accepted</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Recovery, checkpointing</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9663757"/>
                  </a:ext>
                </a:extLst>
              </a:tr>
              <a:tr h="415290">
                <a:tc>
                  <a:txBody>
                    <a:bodyPr/>
                    <a:lstStyle/>
                    <a:p>
                      <a:pPr algn="l">
                        <a:buNone/>
                      </a:pPr>
                      <a:r>
                        <a:rPr lang="en-US" sz="1000" dirty="0">
                          <a:effectLst/>
                        </a:rPr>
                        <a:t>No way to say, from outside, what the run is doing right now</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tc>
                  <a:txBody>
                    <a:bodyPr/>
                    <a:lstStyle/>
                    <a:p>
                      <a:pPr algn="l">
                        <a:buNone/>
                      </a:pPr>
                      <a:r>
                        <a:rPr lang="en-US" sz="1000" dirty="0">
                          <a:effectLst/>
                        </a:rPr>
                        <a:t>Observability</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5340675"/>
                  </a:ext>
                </a:extLst>
              </a:tr>
            </a:tbl>
          </a:graphicData>
        </a:graphic>
      </p:graphicFrame>
      <p:grpSp>
        <p:nvGrpSpPr>
          <p:cNvPr id="6" name="Group 5">
            <a:extLst>
              <a:ext uri="{FF2B5EF4-FFF2-40B4-BE49-F238E27FC236}">
                <a16:creationId xmlns:a16="http://schemas.microsoft.com/office/drawing/2014/main" id="{CDC6D812-9C51-EE9D-D02C-0F0E6AA8B46C}"/>
              </a:ext>
            </a:extLst>
          </p:cNvPr>
          <p:cNvGrpSpPr/>
          <p:nvPr/>
        </p:nvGrpSpPr>
        <p:grpSpPr>
          <a:xfrm>
            <a:off x="345319" y="3676891"/>
            <a:ext cx="5771895" cy="738665"/>
            <a:chOff x="501570" y="3734764"/>
            <a:chExt cx="5771895" cy="738665"/>
          </a:xfrm>
        </p:grpSpPr>
        <p:sp>
          <p:nvSpPr>
            <p:cNvPr id="4" name="TextBox 3">
              <a:extLst>
                <a:ext uri="{FF2B5EF4-FFF2-40B4-BE49-F238E27FC236}">
                  <a16:creationId xmlns:a16="http://schemas.microsoft.com/office/drawing/2014/main" id="{FD48F44B-9900-B742-E3A6-C9E45EB3A266}"/>
                </a:ext>
              </a:extLst>
            </p:cNvPr>
            <p:cNvSpPr txBox="1"/>
            <p:nvPr/>
          </p:nvSpPr>
          <p:spPr>
            <a:xfrm>
              <a:off x="544011" y="3734765"/>
              <a:ext cx="5729454" cy="738664"/>
            </a:xfrm>
            <a:prstGeom prst="rect">
              <a:avLst/>
            </a:prstGeom>
            <a:noFill/>
            <a:ln w="12700">
              <a:solidFill>
                <a:srgbClr val="2A2A63"/>
              </a:solidFill>
            </a:ln>
          </p:spPr>
          <p:txBody>
            <a:bodyPr wrap="none" rtlCol="0">
              <a:spAutoFit/>
            </a:bodyPr>
            <a:lstStyle/>
            <a:p>
              <a:r>
                <a:rPr lang="en-US" dirty="0">
                  <a:solidFill>
                    <a:srgbClr val="2A2A63"/>
                  </a:solidFill>
                  <a:latin typeface="+mn-lt"/>
                </a:rPr>
                <a:t>What is new is exactly one thing: a probabilistic component that </a:t>
              </a:r>
            </a:p>
            <a:p>
              <a:r>
                <a:rPr lang="en-US" dirty="0">
                  <a:solidFill>
                    <a:srgbClr val="2A2A63"/>
                  </a:solidFill>
                  <a:latin typeface="+mn-lt"/>
                </a:rPr>
                <a:t>now proposes the work, probabilistically and we are responsible to </a:t>
              </a:r>
            </a:p>
            <a:p>
              <a:r>
                <a:rPr lang="en-US" dirty="0">
                  <a:solidFill>
                    <a:srgbClr val="2A2A63"/>
                  </a:solidFill>
                  <a:latin typeface="+mn-lt"/>
                </a:rPr>
                <a:t>hold it to a guarantee.</a:t>
              </a:r>
            </a:p>
          </p:txBody>
        </p:sp>
        <p:sp>
          <p:nvSpPr>
            <p:cNvPr id="5" name="Rectangle 4">
              <a:extLst>
                <a:ext uri="{FF2B5EF4-FFF2-40B4-BE49-F238E27FC236}">
                  <a16:creationId xmlns:a16="http://schemas.microsoft.com/office/drawing/2014/main" id="{A7BB7713-6370-DC6A-2411-D8CAF0129BF9}"/>
                </a:ext>
              </a:extLst>
            </p:cNvPr>
            <p:cNvSpPr/>
            <p:nvPr/>
          </p:nvSpPr>
          <p:spPr>
            <a:xfrm>
              <a:off x="501570" y="3734764"/>
              <a:ext cx="82965" cy="738663"/>
            </a:xfrm>
            <a:prstGeom prst="rect">
              <a:avLst/>
            </a:prstGeom>
            <a:solidFill>
              <a:srgbClr val="2A2A63"/>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403761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371F4-E616-2F8D-8250-06F1062B5C3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5B0A92C-6A57-520F-076C-92D5FB8BEF0C}"/>
              </a:ext>
            </a:extLst>
          </p:cNvPr>
          <p:cNvSpPr txBox="1"/>
          <p:nvPr/>
        </p:nvSpPr>
        <p:spPr>
          <a:xfrm>
            <a:off x="719302" y="1910030"/>
            <a:ext cx="5419396" cy="1323439"/>
          </a:xfrm>
          <a:prstGeom prst="rect">
            <a:avLst/>
          </a:prstGeom>
          <a:noFill/>
        </p:spPr>
        <p:txBody>
          <a:bodyPr wrap="square" rtlCol="0">
            <a:spAutoFit/>
          </a:bodyPr>
          <a:lstStyle/>
          <a:p>
            <a:pPr algn="ctr"/>
            <a:r>
              <a:rPr lang="en-US" sz="4000" b="1" dirty="0">
                <a:solidFill>
                  <a:schemeClr val="bg2">
                    <a:lumMod val="20000"/>
                    <a:lumOff val="80000"/>
                  </a:schemeClr>
                </a:solidFill>
                <a:latin typeface="+mj-lt"/>
              </a:rPr>
              <a:t>Anatomy of an agentic system</a:t>
            </a:r>
          </a:p>
        </p:txBody>
      </p:sp>
    </p:spTree>
    <p:extLst>
      <p:ext uri="{BB962C8B-B14F-4D97-AF65-F5344CB8AC3E}">
        <p14:creationId xmlns:p14="http://schemas.microsoft.com/office/powerpoint/2010/main" val="31514666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CB6DF-DADC-ABF8-8B99-B6554375D8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A59E26-246E-725C-BAFE-D9886134469B}"/>
              </a:ext>
            </a:extLst>
          </p:cNvPr>
          <p:cNvSpPr>
            <a:spLocks noGrp="1"/>
          </p:cNvSpPr>
          <p:nvPr>
            <p:ph type="title"/>
          </p:nvPr>
        </p:nvSpPr>
        <p:spPr/>
        <p:txBody>
          <a:bodyPr>
            <a:normAutofit/>
          </a:bodyPr>
          <a:lstStyle/>
          <a:p>
            <a:r>
              <a:rPr lang="en-US" dirty="0"/>
              <a:t>Agentic Systems: A Working Vocabulary</a:t>
            </a:r>
          </a:p>
        </p:txBody>
      </p:sp>
      <p:graphicFrame>
        <p:nvGraphicFramePr>
          <p:cNvPr id="4" name="Table 3">
            <a:extLst>
              <a:ext uri="{FF2B5EF4-FFF2-40B4-BE49-F238E27FC236}">
                <a16:creationId xmlns:a16="http://schemas.microsoft.com/office/drawing/2014/main" id="{C191FDFA-44F3-0161-4FAA-71C462831F06}"/>
              </a:ext>
            </a:extLst>
          </p:cNvPr>
          <p:cNvGraphicFramePr>
            <a:graphicFrameLocks noGrp="1"/>
          </p:cNvGraphicFramePr>
          <p:nvPr>
            <p:extLst>
              <p:ext uri="{D42A27DB-BD31-4B8C-83A1-F6EECF244321}">
                <p14:modId xmlns:p14="http://schemas.microsoft.com/office/powerpoint/2010/main" val="2539103834"/>
              </p:ext>
            </p:extLst>
          </p:nvPr>
        </p:nvGraphicFramePr>
        <p:xfrm>
          <a:off x="632189" y="2228547"/>
          <a:ext cx="5578997" cy="2453640"/>
        </p:xfrm>
        <a:graphic>
          <a:graphicData uri="http://schemas.openxmlformats.org/drawingml/2006/table">
            <a:tbl>
              <a:tblPr>
                <a:tableStyleId>{2D5ABB26-0587-4C30-8999-92F81FD0307C}</a:tableStyleId>
              </a:tblPr>
              <a:tblGrid>
                <a:gridCol w="1487574">
                  <a:extLst>
                    <a:ext uri="{9D8B030D-6E8A-4147-A177-3AD203B41FA5}">
                      <a16:colId xmlns:a16="http://schemas.microsoft.com/office/drawing/2014/main" val="826204326"/>
                    </a:ext>
                  </a:extLst>
                </a:gridCol>
                <a:gridCol w="2520781">
                  <a:extLst>
                    <a:ext uri="{9D8B030D-6E8A-4147-A177-3AD203B41FA5}">
                      <a16:colId xmlns:a16="http://schemas.microsoft.com/office/drawing/2014/main" val="2935441205"/>
                    </a:ext>
                  </a:extLst>
                </a:gridCol>
                <a:gridCol w="1570642">
                  <a:extLst>
                    <a:ext uri="{9D8B030D-6E8A-4147-A177-3AD203B41FA5}">
                      <a16:colId xmlns:a16="http://schemas.microsoft.com/office/drawing/2014/main" val="2971950990"/>
                    </a:ext>
                  </a:extLst>
                </a:gridCol>
              </a:tblGrid>
              <a:tr h="0">
                <a:tc>
                  <a:txBody>
                    <a:bodyPr/>
                    <a:lstStyle/>
                    <a:p>
                      <a:pPr algn="l">
                        <a:buNone/>
                      </a:pPr>
                      <a:r>
                        <a:rPr lang="en-US" sz="1000" b="1" dirty="0">
                          <a:effectLst/>
                        </a:rPr>
                        <a:t>Term</a:t>
                      </a:r>
                      <a:endParaRPr lang="en-US" sz="10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rPr>
                        <a:t>Precisely</a:t>
                      </a:r>
                      <a:endParaRPr lang="en-US" sz="10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b="1" dirty="0">
                          <a:effectLst/>
                        </a:rPr>
                        <a:t>Actor that can fail</a:t>
                      </a:r>
                      <a:endParaRPr lang="en-US" sz="10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0836564"/>
                  </a:ext>
                </a:extLst>
              </a:tr>
              <a:tr h="0">
                <a:tc>
                  <a:txBody>
                    <a:bodyPr/>
                    <a:lstStyle/>
                    <a:p>
                      <a:pPr algn="l">
                        <a:buNone/>
                      </a:pPr>
                      <a:r>
                        <a:rPr lang="en-US" sz="1000" dirty="0">
                          <a:effectLst/>
                        </a:rPr>
                        <a:t>Model call</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A </a:t>
                      </a:r>
                      <a:r>
                        <a:rPr lang="en-US" sz="1050" b="1" i="0" u="none" strike="noStrike" cap="none" spc="0" dirty="0">
                          <a:solidFill>
                            <a:schemeClr val="tx1"/>
                          </a:solidFill>
                          <a:effectLst/>
                          <a:latin typeface="+mn-lt"/>
                          <a:ea typeface="+mn-ea"/>
                          <a:cs typeface="+mn-cs"/>
                          <a:sym typeface="Arial"/>
                        </a:rPr>
                        <a:t>single request and its response</a:t>
                      </a:r>
                      <a:r>
                        <a:rPr lang="en-US" sz="1050" b="0" i="0" u="none" strike="noStrike" cap="none" spc="0" dirty="0">
                          <a:solidFill>
                            <a:schemeClr val="tx1"/>
                          </a:solidFill>
                          <a:effectLst/>
                          <a:latin typeface="+mn-lt"/>
                          <a:ea typeface="+mn-ea"/>
                          <a:cs typeface="+mn-cs"/>
                          <a:sym typeface="Arial"/>
                        </a:rPr>
                        <a:t>. Non-deterministic by construction; determinism is conditional on the sampling parameters and the seed</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The model</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0761567"/>
                  </a:ext>
                </a:extLst>
              </a:tr>
              <a:tr h="0">
                <a:tc>
                  <a:txBody>
                    <a:bodyPr/>
                    <a:lstStyle/>
                    <a:p>
                      <a:pPr algn="l">
                        <a:buNone/>
                      </a:pPr>
                      <a:r>
                        <a:rPr lang="en-US" sz="1000" dirty="0">
                          <a:effectLst/>
                        </a:rPr>
                        <a:t>Fixed workflow</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A </a:t>
                      </a:r>
                      <a:r>
                        <a:rPr lang="en-US" sz="1050" b="1" i="0" u="none" strike="noStrike" cap="none" spc="0" dirty="0">
                          <a:solidFill>
                            <a:schemeClr val="tx1"/>
                          </a:solidFill>
                          <a:effectLst/>
                          <a:latin typeface="+mn-lt"/>
                          <a:ea typeface="+mn-ea"/>
                          <a:cs typeface="+mn-cs"/>
                          <a:sym typeface="Arial"/>
                        </a:rPr>
                        <a:t>predetermined sequence of operations, one or more of which are model calls</a:t>
                      </a:r>
                      <a:r>
                        <a:rPr lang="en-US" sz="1050" b="0" i="0" u="none" strike="noStrike" cap="none" spc="0" dirty="0">
                          <a:solidFill>
                            <a:schemeClr val="tx1"/>
                          </a:solidFill>
                          <a:effectLst/>
                          <a:latin typeface="+mn-lt"/>
                          <a:ea typeface="+mn-ea"/>
                          <a:cs typeface="+mn-cs"/>
                          <a:sym typeface="Arial"/>
                        </a:rPr>
                        <a:t>. Control flow is specified in source</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Each step's contract, and the sequence's assumptions</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0086642"/>
                  </a:ext>
                </a:extLst>
              </a:tr>
              <a:tr h="0">
                <a:tc>
                  <a:txBody>
                    <a:bodyPr/>
                    <a:lstStyle/>
                    <a:p>
                      <a:pPr algn="l">
                        <a:buNone/>
                      </a:pPr>
                      <a:r>
                        <a:rPr lang="en-US" sz="1000" dirty="0">
                          <a:effectLst/>
                        </a:rPr>
                        <a:t>Autonomous agent</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The model selects the next operation. </a:t>
                      </a:r>
                      <a:r>
                        <a:rPr lang="en-US" sz="1050" b="1" i="0" u="none" strike="noStrike" cap="none" spc="0" dirty="0">
                          <a:solidFill>
                            <a:schemeClr val="tx1"/>
                          </a:solidFill>
                          <a:effectLst/>
                          <a:latin typeface="+mn-lt"/>
                          <a:ea typeface="+mn-ea"/>
                          <a:cs typeface="+mn-cs"/>
                          <a:sym typeface="Arial"/>
                        </a:rPr>
                        <a:t>Control flow is therefore determined at run time, by a non-deterministic component</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00" dirty="0">
                          <a:effectLst/>
                        </a:rPr>
                        <a:t>Termination, and the validity of the chosen operation</a:t>
                      </a:r>
                      <a:endParaRPr lang="en-US" sz="10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5493031"/>
                  </a:ext>
                </a:extLst>
              </a:tr>
            </a:tbl>
          </a:graphicData>
        </a:graphic>
      </p:graphicFrame>
      <p:pic>
        <p:nvPicPr>
          <p:cNvPr id="3" name="Picture 2">
            <a:extLst>
              <a:ext uri="{FF2B5EF4-FFF2-40B4-BE49-F238E27FC236}">
                <a16:creationId xmlns:a16="http://schemas.microsoft.com/office/drawing/2014/main" id="{66F8760A-8217-C015-C4EF-E5846DB4E770}"/>
              </a:ext>
            </a:extLst>
          </p:cNvPr>
          <p:cNvPicPr>
            <a:picLocks noChangeAspect="1"/>
          </p:cNvPicPr>
          <p:nvPr/>
        </p:nvPicPr>
        <p:blipFill>
          <a:blip r:embed="rId2"/>
          <a:srcRect l="2431" t="14438" r="2549" b="14278"/>
          <a:stretch>
            <a:fillRect/>
          </a:stretch>
        </p:blipFill>
        <p:spPr>
          <a:xfrm>
            <a:off x="1108276" y="630050"/>
            <a:ext cx="4641448" cy="1462698"/>
          </a:xfrm>
          <a:prstGeom prst="rect">
            <a:avLst/>
          </a:prstGeom>
        </p:spPr>
      </p:pic>
    </p:spTree>
    <p:extLst>
      <p:ext uri="{BB962C8B-B14F-4D97-AF65-F5344CB8AC3E}">
        <p14:creationId xmlns:p14="http://schemas.microsoft.com/office/powerpoint/2010/main" val="39612920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4F5C6-97AA-8F2B-A92E-E9D2EF3018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188FD4-DE19-DC9D-B5B6-131347157D64}"/>
              </a:ext>
            </a:extLst>
          </p:cNvPr>
          <p:cNvSpPr>
            <a:spLocks noGrp="1"/>
          </p:cNvSpPr>
          <p:nvPr>
            <p:ph type="title"/>
          </p:nvPr>
        </p:nvSpPr>
        <p:spPr/>
        <p:txBody>
          <a:bodyPr>
            <a:normAutofit/>
          </a:bodyPr>
          <a:lstStyle/>
          <a:p>
            <a:r>
              <a:rPr lang="en-US" dirty="0"/>
              <a:t>Components of a Model Invocation</a:t>
            </a:r>
          </a:p>
        </p:txBody>
      </p:sp>
      <p:graphicFrame>
        <p:nvGraphicFramePr>
          <p:cNvPr id="4" name="Table 3">
            <a:extLst>
              <a:ext uri="{FF2B5EF4-FFF2-40B4-BE49-F238E27FC236}">
                <a16:creationId xmlns:a16="http://schemas.microsoft.com/office/drawing/2014/main" id="{B0FC50D4-03BB-BD06-2EC4-0EBFAB411E6D}"/>
              </a:ext>
            </a:extLst>
          </p:cNvPr>
          <p:cNvGraphicFramePr>
            <a:graphicFrameLocks noGrp="1"/>
          </p:cNvGraphicFramePr>
          <p:nvPr/>
        </p:nvGraphicFramePr>
        <p:xfrm>
          <a:off x="115747" y="1402270"/>
          <a:ext cx="6342925" cy="3379654"/>
        </p:xfrm>
        <a:graphic>
          <a:graphicData uri="http://schemas.openxmlformats.org/drawingml/2006/table">
            <a:tbl>
              <a:tblPr>
                <a:tableStyleId>{2D5ABB26-0587-4C30-8999-92F81FD0307C}</a:tableStyleId>
              </a:tblPr>
              <a:tblGrid>
                <a:gridCol w="2353976">
                  <a:extLst>
                    <a:ext uri="{9D8B030D-6E8A-4147-A177-3AD203B41FA5}">
                      <a16:colId xmlns:a16="http://schemas.microsoft.com/office/drawing/2014/main" val="826204326"/>
                    </a:ext>
                  </a:extLst>
                </a:gridCol>
                <a:gridCol w="3988949">
                  <a:extLst>
                    <a:ext uri="{9D8B030D-6E8A-4147-A177-3AD203B41FA5}">
                      <a16:colId xmlns:a16="http://schemas.microsoft.com/office/drawing/2014/main" val="2935441205"/>
                    </a:ext>
                  </a:extLst>
                </a:gridCol>
              </a:tblGrid>
              <a:tr h="316414">
                <a:tc>
                  <a:txBody>
                    <a:bodyPr/>
                    <a:lstStyle/>
                    <a:p>
                      <a:pPr algn="l">
                        <a:buNone/>
                      </a:pPr>
                      <a:r>
                        <a:rPr lang="en-US" sz="1100" b="1" dirty="0">
                          <a:effectLst/>
                        </a:rPr>
                        <a:t>Component</a:t>
                      </a:r>
                      <a:endParaRPr lang="en-US" sz="11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100" b="1" dirty="0">
                          <a:effectLst/>
                        </a:rPr>
                        <a:t>What it is…</a:t>
                      </a:r>
                      <a:endParaRPr lang="en-US" sz="11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0836564"/>
                  </a:ext>
                </a:extLst>
              </a:tr>
              <a:tr h="647433">
                <a:tc>
                  <a:txBody>
                    <a:bodyPr/>
                    <a:lstStyle/>
                    <a:p>
                      <a:pPr algn="l">
                        <a:buNone/>
                      </a:pPr>
                      <a:r>
                        <a:rPr lang="en-US" sz="1100" b="1" i="0" u="none" strike="noStrike" cap="none" spc="0" dirty="0">
                          <a:solidFill>
                            <a:schemeClr val="tx1"/>
                          </a:solidFill>
                          <a:effectLst/>
                          <a:latin typeface="+mn-lt"/>
                          <a:ea typeface="+mn-ea"/>
                          <a:cs typeface="+mn-cs"/>
                          <a:sym typeface="Arial"/>
                        </a:rPr>
                        <a:t>Context construction</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100" b="0" i="0" u="none" strike="noStrike" cap="none" spc="0" dirty="0">
                          <a:solidFill>
                            <a:schemeClr val="tx1"/>
                          </a:solidFill>
                          <a:effectLst/>
                          <a:latin typeface="+mn-lt"/>
                          <a:ea typeface="+mn-ea"/>
                          <a:cs typeface="+mn-cs"/>
                          <a:sym typeface="Arial"/>
                        </a:rPr>
                        <a:t>Instructions, conversation history, and retrieved material constitute the input context. Its composition determines which task-specific information is explicitly available to the model.</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0761567"/>
                  </a:ext>
                </a:extLst>
              </a:tr>
              <a:tr h="472188">
                <a:tc>
                  <a:txBody>
                    <a:bodyPr/>
                    <a:lstStyle/>
                    <a:p>
                      <a:pPr algn="l">
                        <a:buNone/>
                      </a:pPr>
                      <a:r>
                        <a:rPr lang="en-US" sz="1100" b="1" dirty="0">
                          <a:effectLst/>
                        </a:rPr>
                        <a:t>Tool Specification</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100" b="0" i="0" u="none" strike="noStrike" cap="none" spc="0" dirty="0">
                          <a:solidFill>
                            <a:schemeClr val="tx1"/>
                          </a:solidFill>
                          <a:effectLst/>
                          <a:latin typeface="+mn-lt"/>
                          <a:ea typeface="+mn-ea"/>
                          <a:cs typeface="+mn-cs"/>
                          <a:sym typeface="Arial"/>
                        </a:rPr>
                        <a:t>Tool schemas describe the </a:t>
                      </a:r>
                      <a:r>
                        <a:rPr lang="en-US" sz="1100" b="1" i="0" u="none" strike="noStrike" cap="none" spc="0" dirty="0">
                          <a:solidFill>
                            <a:schemeClr val="accent1"/>
                          </a:solidFill>
                          <a:effectLst/>
                          <a:latin typeface="+mn-lt"/>
                          <a:ea typeface="+mn-ea"/>
                          <a:cs typeface="+mn-cs"/>
                          <a:sym typeface="Arial"/>
                        </a:rPr>
                        <a:t>operations the model may request and the expected structure of their arguments</a:t>
                      </a:r>
                      <a:r>
                        <a:rPr lang="en-US" sz="1100" b="0" i="0" u="none" strike="noStrike" cap="none" spc="0" dirty="0">
                          <a:solidFill>
                            <a:schemeClr val="tx1"/>
                          </a:solidFill>
                          <a:effectLst/>
                          <a:latin typeface="+mn-lt"/>
                          <a:ea typeface="+mn-ea"/>
                          <a:cs typeface="+mn-cs"/>
                          <a:sym typeface="Arial"/>
                        </a:rPr>
                        <a:t>. A generated tool request is a </a:t>
                      </a:r>
                      <a:r>
                        <a:rPr lang="en-US" sz="1100" b="1" i="0" u="none" strike="noStrike" cap="none" spc="0" dirty="0">
                          <a:solidFill>
                            <a:schemeClr val="accent1"/>
                          </a:solidFill>
                          <a:effectLst/>
                          <a:latin typeface="+mn-lt"/>
                          <a:ea typeface="+mn-ea"/>
                          <a:cs typeface="+mn-cs"/>
                          <a:sym typeface="Arial"/>
                        </a:rPr>
                        <a:t>proposed operation, not authorization to execute it</a:t>
                      </a:r>
                      <a:r>
                        <a:rPr lang="en-US" sz="1100" b="0" i="0" u="none" strike="noStrike" cap="none" spc="0" dirty="0">
                          <a:solidFill>
                            <a:schemeClr val="tx1"/>
                          </a:solidFill>
                          <a:effectLst/>
                          <a:latin typeface="+mn-lt"/>
                          <a:ea typeface="+mn-ea"/>
                          <a:cs typeface="+mn-cs"/>
                          <a:sym typeface="Arial"/>
                        </a:rPr>
                        <a:t>.</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0086642"/>
                  </a:ext>
                </a:extLst>
              </a:tr>
              <a:tr h="472188">
                <a:tc>
                  <a:txBody>
                    <a:bodyPr/>
                    <a:lstStyle/>
                    <a:p>
                      <a:pPr algn="l">
                        <a:buNone/>
                      </a:pPr>
                      <a:r>
                        <a:rPr lang="en-US" sz="1100" b="1" i="0" u="none" strike="noStrike" cap="none" spc="0" dirty="0">
                          <a:solidFill>
                            <a:schemeClr val="tx1"/>
                          </a:solidFill>
                          <a:effectLst/>
                          <a:latin typeface="+mn-lt"/>
                          <a:ea typeface="+mn-ea"/>
                          <a:cs typeface="+mn-cs"/>
                          <a:sym typeface="Arial"/>
                        </a:rPr>
                        <a:t>Response generation</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100" b="0" i="0" u="none" strike="noStrike" cap="none" spc="0" dirty="0">
                          <a:solidFill>
                            <a:schemeClr val="tx1"/>
                          </a:solidFill>
                          <a:effectLst/>
                          <a:latin typeface="+mn-lt"/>
                          <a:ea typeface="+mn-ea"/>
                          <a:cs typeface="+mn-cs"/>
                          <a:sym typeface="Arial"/>
                        </a:rPr>
                        <a:t>The model produces a response under the configured decoding procedure. </a:t>
                      </a:r>
                      <a:r>
                        <a:rPr lang="en-US" sz="1100" b="1" i="0" u="none" strike="noStrike" cap="none" spc="0" dirty="0">
                          <a:solidFill>
                            <a:schemeClr val="accent1"/>
                          </a:solidFill>
                          <a:effectLst/>
                          <a:latin typeface="+mn-lt"/>
                          <a:ea typeface="+mn-ea"/>
                          <a:cs typeface="+mn-cs"/>
                          <a:sym typeface="Arial"/>
                        </a:rPr>
                        <a:t>Repeated invocations may yield different outputs</a:t>
                      </a:r>
                      <a:r>
                        <a:rPr lang="en-US" sz="1100" b="0" i="0" u="none" strike="noStrike" cap="none" spc="0" dirty="0">
                          <a:solidFill>
                            <a:schemeClr val="tx1"/>
                          </a:solidFill>
                          <a:effectLst/>
                          <a:latin typeface="+mn-lt"/>
                          <a:ea typeface="+mn-ea"/>
                          <a:cs typeface="+mn-cs"/>
                          <a:sym typeface="Arial"/>
                        </a:rPr>
                        <a:t>; downstream components must accommodate this variability.</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5493031"/>
                  </a:ext>
                </a:extLst>
              </a:tr>
              <a:tr h="647433">
                <a:tc>
                  <a:txBody>
                    <a:bodyPr/>
                    <a:lstStyle/>
                    <a:p>
                      <a:pPr algn="l">
                        <a:buNone/>
                      </a:pPr>
                      <a:r>
                        <a:rPr lang="en-US" sz="1100" b="1" i="0" u="none" strike="noStrike" cap="none" spc="0" dirty="0">
                          <a:solidFill>
                            <a:schemeClr val="tx1"/>
                          </a:solidFill>
                          <a:effectLst/>
                          <a:latin typeface="+mn-lt"/>
                          <a:ea typeface="+mn-ea"/>
                          <a:cs typeface="+mn-cs"/>
                          <a:sym typeface="Arial"/>
                        </a:rPr>
                        <a:t>Output interpretation and validation</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100" b="0" i="0" u="none" strike="noStrike" cap="none" spc="0" dirty="0">
                          <a:solidFill>
                            <a:schemeClr val="tx1"/>
                          </a:solidFill>
                          <a:effectLst/>
                          <a:latin typeface="+mn-lt"/>
                          <a:ea typeface="+mn-ea"/>
                          <a:cs typeface="+mn-cs"/>
                          <a:sym typeface="Arial"/>
                        </a:rPr>
                        <a:t>Model outputs are converted into application data or proposed operations. </a:t>
                      </a:r>
                      <a:r>
                        <a:rPr lang="en-US" sz="1100" b="1" i="0" u="none" strike="noStrike" cap="none" spc="0" dirty="0">
                          <a:solidFill>
                            <a:schemeClr val="accent1"/>
                          </a:solidFill>
                          <a:effectLst/>
                          <a:latin typeface="+mn-lt"/>
                          <a:ea typeface="+mn-ea"/>
                          <a:cs typeface="+mn-cs"/>
                          <a:sym typeface="Arial"/>
                        </a:rPr>
                        <a:t>Structural and semantic validation must occur before those outputs are permitted to modify application state</a:t>
                      </a:r>
                      <a:r>
                        <a:rPr lang="en-US" sz="1100" b="0" i="0" u="none" strike="noStrike" cap="none" spc="0" dirty="0">
                          <a:solidFill>
                            <a:schemeClr val="tx1"/>
                          </a:solidFill>
                          <a:effectLst/>
                          <a:latin typeface="+mn-lt"/>
                          <a:ea typeface="+mn-ea"/>
                          <a:cs typeface="+mn-cs"/>
                          <a:sym typeface="Arial"/>
                        </a:rPr>
                        <a:t> or trigger external effects.</a:t>
                      </a:r>
                      <a:endParaRPr lang="en-US" sz="12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7336757"/>
                  </a:ext>
                </a:extLst>
              </a:tr>
            </a:tbl>
          </a:graphicData>
        </a:graphic>
      </p:graphicFrame>
      <p:sp>
        <p:nvSpPr>
          <p:cNvPr id="5" name="TextBox 4">
            <a:extLst>
              <a:ext uri="{FF2B5EF4-FFF2-40B4-BE49-F238E27FC236}">
                <a16:creationId xmlns:a16="http://schemas.microsoft.com/office/drawing/2014/main" id="{41227273-56D9-E190-891F-0426F657AB4E}"/>
              </a:ext>
            </a:extLst>
          </p:cNvPr>
          <p:cNvSpPr txBox="1"/>
          <p:nvPr/>
        </p:nvSpPr>
        <p:spPr>
          <a:xfrm>
            <a:off x="13951" y="630050"/>
            <a:ext cx="6815474" cy="738664"/>
          </a:xfrm>
          <a:prstGeom prst="rect">
            <a:avLst/>
          </a:prstGeom>
          <a:noFill/>
        </p:spPr>
        <p:txBody>
          <a:bodyPr wrap="square" rtlCol="0">
            <a:spAutoFit/>
          </a:bodyPr>
          <a:lstStyle/>
          <a:p>
            <a:pPr algn="l"/>
            <a:r>
              <a:rPr lang="en-US" dirty="0">
                <a:latin typeface="+mn-lt"/>
              </a:rPr>
              <a:t>In all three previous modalities, the model is a central part of the of the agentic pipeline. Below are its core components. Getting any of these wrong can lead to cascading failures downstream.</a:t>
            </a:r>
          </a:p>
        </p:txBody>
      </p:sp>
    </p:spTree>
    <p:extLst>
      <p:ext uri="{BB962C8B-B14F-4D97-AF65-F5344CB8AC3E}">
        <p14:creationId xmlns:p14="http://schemas.microsoft.com/office/powerpoint/2010/main" val="27649133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97F54-5DA2-29A0-7117-42305DC36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86336E-9C76-6E80-AA2F-CF3C44ADCEA5}"/>
              </a:ext>
            </a:extLst>
          </p:cNvPr>
          <p:cNvSpPr>
            <a:spLocks noGrp="1"/>
          </p:cNvSpPr>
          <p:nvPr>
            <p:ph type="title"/>
          </p:nvPr>
        </p:nvSpPr>
        <p:spPr/>
        <p:txBody>
          <a:bodyPr>
            <a:normAutofit/>
          </a:bodyPr>
          <a:lstStyle/>
          <a:p>
            <a:r>
              <a:rPr lang="en-US" dirty="0"/>
              <a:t>Systems Challenges of the Model</a:t>
            </a:r>
          </a:p>
        </p:txBody>
      </p:sp>
      <p:graphicFrame>
        <p:nvGraphicFramePr>
          <p:cNvPr id="4" name="Table 3">
            <a:extLst>
              <a:ext uri="{FF2B5EF4-FFF2-40B4-BE49-F238E27FC236}">
                <a16:creationId xmlns:a16="http://schemas.microsoft.com/office/drawing/2014/main" id="{DA48D5F6-C0B1-5DF9-53FE-A13946A124F4}"/>
              </a:ext>
            </a:extLst>
          </p:cNvPr>
          <p:cNvGraphicFramePr>
            <a:graphicFrameLocks noGrp="1"/>
          </p:cNvGraphicFramePr>
          <p:nvPr>
            <p:extLst>
              <p:ext uri="{D42A27DB-BD31-4B8C-83A1-F6EECF244321}">
                <p14:modId xmlns:p14="http://schemas.microsoft.com/office/powerpoint/2010/main" val="972494828"/>
              </p:ext>
            </p:extLst>
          </p:nvPr>
        </p:nvGraphicFramePr>
        <p:xfrm>
          <a:off x="115747" y="1402270"/>
          <a:ext cx="6342925" cy="3257734"/>
        </p:xfrm>
        <a:graphic>
          <a:graphicData uri="http://schemas.openxmlformats.org/drawingml/2006/table">
            <a:tbl>
              <a:tblPr>
                <a:tableStyleId>{2D5ABB26-0587-4C30-8999-92F81FD0307C}</a:tableStyleId>
              </a:tblPr>
              <a:tblGrid>
                <a:gridCol w="2353976">
                  <a:extLst>
                    <a:ext uri="{9D8B030D-6E8A-4147-A177-3AD203B41FA5}">
                      <a16:colId xmlns:a16="http://schemas.microsoft.com/office/drawing/2014/main" val="826204326"/>
                    </a:ext>
                  </a:extLst>
                </a:gridCol>
                <a:gridCol w="3988949">
                  <a:extLst>
                    <a:ext uri="{9D8B030D-6E8A-4147-A177-3AD203B41FA5}">
                      <a16:colId xmlns:a16="http://schemas.microsoft.com/office/drawing/2014/main" val="2935441205"/>
                    </a:ext>
                  </a:extLst>
                </a:gridCol>
              </a:tblGrid>
              <a:tr h="316414">
                <a:tc>
                  <a:txBody>
                    <a:bodyPr/>
                    <a:lstStyle/>
                    <a:p>
                      <a:pPr algn="l">
                        <a:buNone/>
                      </a:pPr>
                      <a:r>
                        <a:rPr lang="en-US" sz="1100" b="1" dirty="0">
                          <a:effectLst/>
                        </a:rPr>
                        <a:t>Properties/Challenges</a:t>
                      </a:r>
                      <a:endParaRPr lang="en-US" sz="11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100" b="1" dirty="0">
                          <a:effectLst/>
                        </a:rPr>
                        <a:t>Constraints</a:t>
                      </a:r>
                      <a:endParaRPr lang="en-US" sz="11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0836564"/>
                  </a:ext>
                </a:extLst>
              </a:tr>
              <a:tr h="647433">
                <a:tc>
                  <a:txBody>
                    <a:bodyPr/>
                    <a:lstStyle/>
                    <a:p>
                      <a:pPr algn="l">
                        <a:buNone/>
                      </a:pPr>
                      <a:r>
                        <a:rPr lang="en-US" sz="1050" b="1" i="0" u="none" strike="noStrike" cap="none" spc="0" dirty="0">
                          <a:solidFill>
                            <a:schemeClr val="tx1"/>
                          </a:solidFill>
                          <a:effectLst/>
                          <a:latin typeface="+mn-lt"/>
                          <a:ea typeface="+mn-ea"/>
                          <a:cs typeface="+mn-cs"/>
                          <a:sym typeface="Arial"/>
                        </a:rPr>
                        <a:t>Unbounded output space  </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The model's output space is the set of representable strings rather than the set of valid operations. Restriction is performed by the exposed schema, the validator, and the permissions the tool holds.</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0761567"/>
                  </a:ext>
                </a:extLst>
              </a:tr>
              <a:tr h="472188">
                <a:tc>
                  <a:txBody>
                    <a:bodyPr/>
                    <a:lstStyle/>
                    <a:p>
                      <a:pPr algn="l">
                        <a:buNone/>
                      </a:pPr>
                      <a:r>
                        <a:rPr lang="en-US" sz="1050" b="1" i="0" u="none" strike="noStrike" cap="none" spc="0" dirty="0">
                          <a:solidFill>
                            <a:schemeClr val="tx1"/>
                          </a:solidFill>
                          <a:effectLst/>
                          <a:latin typeface="+mn-lt"/>
                          <a:ea typeface="+mn-ea"/>
                          <a:cs typeface="+mn-cs"/>
                          <a:sym typeface="Arial"/>
                        </a:rPr>
                        <a:t>Non-reproducibility</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Identical inputs may yield unidentical outputs. A test asserting on model output tests a sample; a test asserting on the validator's response to an output tests the system, and the second kind is required.</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0086642"/>
                  </a:ext>
                </a:extLst>
              </a:tr>
              <a:tr h="472188">
                <a:tc>
                  <a:txBody>
                    <a:bodyPr/>
                    <a:lstStyle/>
                    <a:p>
                      <a:pPr algn="l">
                        <a:buNone/>
                      </a:pPr>
                      <a:r>
                        <a:rPr lang="en-US" sz="1050" b="1" i="0" u="none" strike="noStrike" cap="none" spc="0" dirty="0">
                          <a:solidFill>
                            <a:schemeClr val="tx1"/>
                          </a:solidFill>
                          <a:effectLst/>
                          <a:latin typeface="+mn-lt"/>
                          <a:ea typeface="+mn-ea"/>
                          <a:cs typeface="+mn-cs"/>
                          <a:sym typeface="Arial"/>
                        </a:rPr>
                        <a:t>No execution guarantee</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The </a:t>
                      </a:r>
                      <a:r>
                        <a:rPr lang="en-US" sz="1050" b="1" i="0" u="none" strike="noStrike" cap="none" spc="0" dirty="0">
                          <a:solidFill>
                            <a:schemeClr val="tx1"/>
                          </a:solidFill>
                          <a:effectLst/>
                          <a:latin typeface="+mn-lt"/>
                          <a:ea typeface="+mn-ea"/>
                          <a:cs typeface="+mn-cs"/>
                          <a:sym typeface="Arial"/>
                        </a:rPr>
                        <a:t>model cannot establish that an effect occurred, occurred once, or occurred at all</a:t>
                      </a:r>
                      <a:r>
                        <a:rPr lang="en-US" sz="1050" b="0" i="0" u="none" strike="noStrike" cap="none" spc="0" dirty="0">
                          <a:solidFill>
                            <a:schemeClr val="tx1"/>
                          </a:solidFill>
                          <a:effectLst/>
                          <a:latin typeface="+mn-lt"/>
                          <a:ea typeface="+mn-ea"/>
                          <a:cs typeface="+mn-cs"/>
                          <a:sym typeface="Arial"/>
                        </a:rPr>
                        <a:t>. Permission belongs to the controller, durability to state, and execution guarantees to tools and the environment.</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5493031"/>
                  </a:ext>
                </a:extLst>
              </a:tr>
              <a:tr h="647433">
                <a:tc>
                  <a:txBody>
                    <a:bodyPr/>
                    <a:lstStyle/>
                    <a:p>
                      <a:pPr algn="l">
                        <a:buNone/>
                      </a:pPr>
                      <a:r>
                        <a:rPr lang="en-US" sz="1050" b="1" i="0" u="none" strike="noStrike" cap="none" spc="0" dirty="0">
                          <a:solidFill>
                            <a:schemeClr val="tx1"/>
                          </a:solidFill>
                          <a:effectLst/>
                          <a:latin typeface="+mn-lt"/>
                          <a:ea typeface="+mn-ea"/>
                          <a:cs typeface="+mn-cs"/>
                          <a:sym typeface="Arial"/>
                        </a:rPr>
                        <a:t>Non-observability</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The component's intent is not observable; its proposals and their outcomes are. The measurement at slide 2.6 has exactly that form: which argument was passed, and whether the database reached the goal state.</a:t>
                      </a:r>
                      <a:endParaRPr lang="en-US" sz="12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7336757"/>
                  </a:ext>
                </a:extLst>
              </a:tr>
            </a:tbl>
          </a:graphicData>
        </a:graphic>
      </p:graphicFrame>
      <p:sp>
        <p:nvSpPr>
          <p:cNvPr id="5" name="TextBox 4">
            <a:extLst>
              <a:ext uri="{FF2B5EF4-FFF2-40B4-BE49-F238E27FC236}">
                <a16:creationId xmlns:a16="http://schemas.microsoft.com/office/drawing/2014/main" id="{DF544CA5-F2BA-8312-2223-7D6C39AA2CD5}"/>
              </a:ext>
            </a:extLst>
          </p:cNvPr>
          <p:cNvSpPr txBox="1"/>
          <p:nvPr/>
        </p:nvSpPr>
        <p:spPr>
          <a:xfrm>
            <a:off x="115747" y="587610"/>
            <a:ext cx="6342925" cy="646331"/>
          </a:xfrm>
          <a:prstGeom prst="rect">
            <a:avLst/>
          </a:prstGeom>
          <a:noFill/>
        </p:spPr>
        <p:txBody>
          <a:bodyPr wrap="square" rtlCol="0">
            <a:spAutoFit/>
          </a:bodyPr>
          <a:lstStyle/>
          <a:p>
            <a:pPr algn="l"/>
            <a:r>
              <a:rPr lang="en-US" sz="1200" dirty="0">
                <a:latin typeface="+mn-lt"/>
              </a:rPr>
              <a:t>The model is a central part of the of the agentic pipeline. It converts a goal and a context into an intent. This is the </a:t>
            </a:r>
            <a:r>
              <a:rPr lang="en-US" sz="1200" b="1" dirty="0">
                <a:latin typeface="+mn-lt"/>
              </a:rPr>
              <a:t>responsibility no other component can discharge</a:t>
            </a:r>
            <a:r>
              <a:rPr lang="en-US" sz="1200" dirty="0">
                <a:latin typeface="+mn-lt"/>
              </a:rPr>
              <a:t>. But it has </a:t>
            </a:r>
            <a:r>
              <a:rPr lang="en-US" sz="1200" b="1" dirty="0">
                <a:latin typeface="+mn-lt"/>
              </a:rPr>
              <a:t>some peculiar systems properties and challenges to design around</a:t>
            </a:r>
            <a:r>
              <a:rPr lang="en-US" sz="1200" dirty="0">
                <a:latin typeface="+mn-lt"/>
              </a:rPr>
              <a:t>.</a:t>
            </a:r>
          </a:p>
        </p:txBody>
      </p:sp>
    </p:spTree>
    <p:extLst>
      <p:ext uri="{BB962C8B-B14F-4D97-AF65-F5344CB8AC3E}">
        <p14:creationId xmlns:p14="http://schemas.microsoft.com/office/powerpoint/2010/main" val="40347200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C7D06-8956-45E5-ABE6-920C569DD2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AB98E-2CD3-4A2B-DB99-8602970DF603}"/>
              </a:ext>
            </a:extLst>
          </p:cNvPr>
          <p:cNvSpPr>
            <a:spLocks noGrp="1"/>
          </p:cNvSpPr>
          <p:nvPr>
            <p:ph type="title"/>
          </p:nvPr>
        </p:nvSpPr>
        <p:spPr/>
        <p:txBody>
          <a:bodyPr>
            <a:normAutofit/>
          </a:bodyPr>
          <a:lstStyle/>
          <a:p>
            <a:r>
              <a:rPr lang="en-US" dirty="0"/>
              <a:t>The Agent Harness</a:t>
            </a:r>
          </a:p>
        </p:txBody>
      </p:sp>
      <p:pic>
        <p:nvPicPr>
          <p:cNvPr id="9" name="Picture 8">
            <a:extLst>
              <a:ext uri="{FF2B5EF4-FFF2-40B4-BE49-F238E27FC236}">
                <a16:creationId xmlns:a16="http://schemas.microsoft.com/office/drawing/2014/main" id="{BAD877CC-E444-45EA-5E2F-C35043479D0B}"/>
              </a:ext>
            </a:extLst>
          </p:cNvPr>
          <p:cNvPicPr>
            <a:picLocks noChangeAspect="1"/>
          </p:cNvPicPr>
          <p:nvPr/>
        </p:nvPicPr>
        <p:blipFill>
          <a:blip r:embed="rId2"/>
          <a:srcRect l="2380" t="1466" r="2427" b="2139"/>
          <a:stretch>
            <a:fillRect/>
          </a:stretch>
        </p:blipFill>
        <p:spPr>
          <a:xfrm>
            <a:off x="1527858" y="1431403"/>
            <a:ext cx="3800355" cy="3476263"/>
          </a:xfrm>
          <a:prstGeom prst="rect">
            <a:avLst/>
          </a:prstGeom>
        </p:spPr>
      </p:pic>
      <p:sp>
        <p:nvSpPr>
          <p:cNvPr id="10" name="TextBox 9">
            <a:extLst>
              <a:ext uri="{FF2B5EF4-FFF2-40B4-BE49-F238E27FC236}">
                <a16:creationId xmlns:a16="http://schemas.microsoft.com/office/drawing/2014/main" id="{1EDC505E-737E-BBCB-4E15-F1A37D18484E}"/>
              </a:ext>
            </a:extLst>
          </p:cNvPr>
          <p:cNvSpPr txBox="1"/>
          <p:nvPr/>
        </p:nvSpPr>
        <p:spPr>
          <a:xfrm>
            <a:off x="368201" y="657058"/>
            <a:ext cx="6107574" cy="646331"/>
          </a:xfrm>
          <a:prstGeom prst="rect">
            <a:avLst/>
          </a:prstGeom>
          <a:solidFill>
            <a:srgbClr val="2A2A63"/>
          </a:solidFill>
        </p:spPr>
        <p:txBody>
          <a:bodyPr wrap="square" rtlCol="0">
            <a:spAutoFit/>
          </a:bodyPr>
          <a:lstStyle/>
          <a:p>
            <a:pPr algn="just"/>
            <a:r>
              <a:rPr lang="en-US" sz="1200" dirty="0">
                <a:solidFill>
                  <a:schemeClr val="accent2">
                    <a:lumMod val="10000"/>
                    <a:lumOff val="90000"/>
                  </a:schemeClr>
                </a:solidFill>
                <a:latin typeface="+mn-lt"/>
              </a:rPr>
              <a:t>Harness is the surrounding system's decision-making component: it assembles context, admits or refuses each proposed operation, schedules execution, and determines that the run has ended.</a:t>
            </a:r>
          </a:p>
        </p:txBody>
      </p:sp>
    </p:spTree>
    <p:extLst>
      <p:ext uri="{BB962C8B-B14F-4D97-AF65-F5344CB8AC3E}">
        <p14:creationId xmlns:p14="http://schemas.microsoft.com/office/powerpoint/2010/main" val="20431669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89CAB-8E1A-CB6E-5AA8-4995983461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EC5E26-56BC-733D-5B69-75562BF28CE1}"/>
              </a:ext>
            </a:extLst>
          </p:cNvPr>
          <p:cNvSpPr>
            <a:spLocks noGrp="1"/>
          </p:cNvSpPr>
          <p:nvPr>
            <p:ph type="title"/>
          </p:nvPr>
        </p:nvSpPr>
        <p:spPr/>
        <p:txBody>
          <a:bodyPr>
            <a:normAutofit/>
          </a:bodyPr>
          <a:lstStyle/>
          <a:p>
            <a:r>
              <a:rPr lang="en-US" dirty="0"/>
              <a:t>The Agent Harness</a:t>
            </a:r>
          </a:p>
        </p:txBody>
      </p:sp>
      <p:sp>
        <p:nvSpPr>
          <p:cNvPr id="4" name="TextBox 3">
            <a:extLst>
              <a:ext uri="{FF2B5EF4-FFF2-40B4-BE49-F238E27FC236}">
                <a16:creationId xmlns:a16="http://schemas.microsoft.com/office/drawing/2014/main" id="{14DD9002-B183-D9E3-C564-C630B8FF64CA}"/>
              </a:ext>
            </a:extLst>
          </p:cNvPr>
          <p:cNvSpPr txBox="1"/>
          <p:nvPr/>
        </p:nvSpPr>
        <p:spPr>
          <a:xfrm>
            <a:off x="159152" y="1405792"/>
            <a:ext cx="6539696" cy="3222164"/>
          </a:xfrm>
          <a:prstGeom prst="rect">
            <a:avLst/>
          </a:prstGeom>
          <a:noFill/>
        </p:spPr>
        <p:txBody>
          <a:bodyPr wrap="square">
            <a:spAutoFit/>
          </a:bodyPr>
          <a:lstStyle/>
          <a:p>
            <a:pPr marL="342900" lvl="0" indent="-342900" algn="l">
              <a:lnSpc>
                <a:spcPct val="114000"/>
              </a:lnSpc>
              <a:spcBef>
                <a:spcPts val="600"/>
              </a:spcBef>
              <a:spcAft>
                <a:spcPts val="600"/>
              </a:spcAft>
              <a:buFont typeface="Arial" panose="020B0604020202020204" pitchFamily="34" charset="0"/>
              <a:buChar char="•"/>
            </a:pPr>
            <a:r>
              <a:rPr lang="en-US" sz="1200" b="1" i="0" dirty="0">
                <a:solidFill>
                  <a:srgbClr val="000000"/>
                </a:solidFill>
                <a:effectLst/>
                <a:latin typeface="+mn-lt"/>
              </a:rPr>
              <a:t>Control flow.</a:t>
            </a:r>
            <a:r>
              <a:rPr lang="en-US" sz="1200" b="0" i="0" dirty="0">
                <a:solidFill>
                  <a:srgbClr val="000000"/>
                </a:solidFill>
                <a:effectLst/>
                <a:latin typeface="+mn-lt"/>
              </a:rPr>
              <a:t> The controller determines what happens next and in what order. To maintain guarantees, </a:t>
            </a:r>
            <a:r>
              <a:rPr lang="en-US" sz="1200" dirty="0">
                <a:latin typeface="+mn-lt"/>
              </a:rPr>
              <a:t>t</a:t>
            </a:r>
            <a:r>
              <a:rPr lang="en-US" sz="1200" b="0" i="0" dirty="0">
                <a:solidFill>
                  <a:srgbClr val="000000"/>
                </a:solidFill>
                <a:effectLst/>
                <a:latin typeface="+mn-lt"/>
              </a:rPr>
              <a:t>his is often explicit and is not delegated to the model.</a:t>
            </a:r>
          </a:p>
          <a:p>
            <a:pPr marL="342900" lvl="0" indent="-342900" algn="l">
              <a:lnSpc>
                <a:spcPct val="114000"/>
              </a:lnSpc>
              <a:spcBef>
                <a:spcPts val="600"/>
              </a:spcBef>
              <a:spcAft>
                <a:spcPts val="600"/>
              </a:spcAft>
              <a:buFont typeface="Arial" panose="020B0604020202020204" pitchFamily="34" charset="0"/>
              <a:buChar char="•"/>
            </a:pPr>
            <a:r>
              <a:rPr lang="en-US" sz="1200" b="1" i="0" dirty="0">
                <a:solidFill>
                  <a:srgbClr val="000000"/>
                </a:solidFill>
                <a:effectLst/>
                <a:latin typeface="+mn-lt"/>
              </a:rPr>
              <a:t>Admission.</a:t>
            </a:r>
            <a:r>
              <a:rPr lang="en-US" sz="1200" b="0" i="0" dirty="0">
                <a:solidFill>
                  <a:srgbClr val="000000"/>
                </a:solidFill>
                <a:effectLst/>
                <a:latin typeface="+mn-lt"/>
              </a:rPr>
              <a:t> Every proposal is admitted or refused against types, permissions and budget, and both outcomes are recorded. </a:t>
            </a:r>
          </a:p>
          <a:p>
            <a:pPr marL="342900" lvl="0" indent="-342900" algn="l">
              <a:lnSpc>
                <a:spcPct val="114000"/>
              </a:lnSpc>
              <a:spcBef>
                <a:spcPts val="600"/>
              </a:spcBef>
              <a:spcAft>
                <a:spcPts val="600"/>
              </a:spcAft>
              <a:buFont typeface="Arial" panose="020B0604020202020204" pitchFamily="34" charset="0"/>
              <a:buChar char="•"/>
            </a:pPr>
            <a:r>
              <a:rPr lang="en-US" sz="1200" b="1" i="0" dirty="0">
                <a:solidFill>
                  <a:srgbClr val="000000"/>
                </a:solidFill>
                <a:effectLst/>
                <a:latin typeface="+mn-lt"/>
              </a:rPr>
              <a:t>Budget.</a:t>
            </a:r>
            <a:r>
              <a:rPr lang="en-US" sz="1200" b="0" i="0" dirty="0">
                <a:solidFill>
                  <a:srgbClr val="000000"/>
                </a:solidFill>
                <a:effectLst/>
                <a:latin typeface="+mn-lt"/>
              </a:rPr>
              <a:t> Tokens, wall-clock, tool calls and expenditure are checked before a call is issued. A budget verified only afterwards is a post-mortem. </a:t>
            </a:r>
            <a:br>
              <a:rPr lang="en-US" sz="1200" dirty="0">
                <a:latin typeface="+mn-lt"/>
              </a:rPr>
            </a:br>
            <a:r>
              <a:rPr lang="en-US" sz="1200" b="0" i="1" dirty="0">
                <a:solidFill>
                  <a:schemeClr val="accent4">
                    <a:lumMod val="75000"/>
                  </a:schemeClr>
                </a:solidFill>
                <a:effectLst/>
                <a:latin typeface="+mn-lt"/>
              </a:rPr>
              <a:t>HW1 requires pre-call admission with an output allowance and post-call reconciliation.</a:t>
            </a:r>
          </a:p>
          <a:p>
            <a:pPr marL="342900" lvl="0" indent="-342900" algn="l">
              <a:lnSpc>
                <a:spcPct val="114000"/>
              </a:lnSpc>
              <a:spcBef>
                <a:spcPts val="600"/>
              </a:spcBef>
              <a:spcAft>
                <a:spcPts val="600"/>
              </a:spcAft>
              <a:buFont typeface="Arial" panose="020B0604020202020204" pitchFamily="34" charset="0"/>
              <a:buChar char="•"/>
            </a:pPr>
            <a:r>
              <a:rPr lang="en-US" sz="1200" b="1" i="0" dirty="0">
                <a:solidFill>
                  <a:srgbClr val="000000"/>
                </a:solidFill>
                <a:effectLst/>
                <a:latin typeface="+mn-lt"/>
              </a:rPr>
              <a:t>Scheduling.</a:t>
            </a:r>
            <a:r>
              <a:rPr lang="en-US" sz="1200" b="0" i="0" dirty="0">
                <a:solidFill>
                  <a:srgbClr val="000000"/>
                </a:solidFill>
                <a:effectLst/>
                <a:latin typeface="+mn-lt"/>
              </a:rPr>
              <a:t> Serial or concurrent execution is the controller's choice, and a concurrent bound is a number the designer selects and can state.</a:t>
            </a:r>
          </a:p>
          <a:p>
            <a:pPr marL="342900" lvl="0" indent="-342900" algn="l">
              <a:lnSpc>
                <a:spcPct val="114000"/>
              </a:lnSpc>
              <a:spcBef>
                <a:spcPts val="600"/>
              </a:spcBef>
              <a:spcAft>
                <a:spcPts val="600"/>
              </a:spcAft>
              <a:buFont typeface="Arial" panose="020B0604020202020204" pitchFamily="34" charset="0"/>
              <a:buChar char="•"/>
            </a:pPr>
            <a:r>
              <a:rPr lang="en-US" sz="1200" b="1" i="0" dirty="0">
                <a:solidFill>
                  <a:srgbClr val="000000"/>
                </a:solidFill>
                <a:effectLst/>
                <a:latin typeface="+mn-lt"/>
              </a:rPr>
              <a:t>Termination.</a:t>
            </a:r>
            <a:r>
              <a:rPr lang="en-US" sz="1200" b="0" i="0" dirty="0">
                <a:solidFill>
                  <a:srgbClr val="000000"/>
                </a:solidFill>
                <a:effectLst/>
                <a:latin typeface="+mn-lt"/>
              </a:rPr>
              <a:t> Named conditions end a run: the goal test passed, the budget is spent (a failsafe), no progress occurred over N steps, or an unrecoverable error was raised. Each writes a distinct event.</a:t>
            </a:r>
          </a:p>
        </p:txBody>
      </p:sp>
      <p:sp>
        <p:nvSpPr>
          <p:cNvPr id="5" name="TextBox 4">
            <a:extLst>
              <a:ext uri="{FF2B5EF4-FFF2-40B4-BE49-F238E27FC236}">
                <a16:creationId xmlns:a16="http://schemas.microsoft.com/office/drawing/2014/main" id="{3D188CFC-A10D-57F4-BF4A-3059E556687D}"/>
              </a:ext>
            </a:extLst>
          </p:cNvPr>
          <p:cNvSpPr txBox="1"/>
          <p:nvPr/>
        </p:nvSpPr>
        <p:spPr>
          <a:xfrm>
            <a:off x="368201" y="745797"/>
            <a:ext cx="6107574" cy="461665"/>
          </a:xfrm>
          <a:prstGeom prst="rect">
            <a:avLst/>
          </a:prstGeom>
          <a:solidFill>
            <a:srgbClr val="2A2A63"/>
          </a:solidFill>
        </p:spPr>
        <p:txBody>
          <a:bodyPr wrap="square" rtlCol="0">
            <a:spAutoFit/>
          </a:bodyPr>
          <a:lstStyle/>
          <a:p>
            <a:pPr algn="just"/>
            <a:r>
              <a:rPr lang="en-US" sz="1200" dirty="0">
                <a:solidFill>
                  <a:schemeClr val="accent2">
                    <a:lumMod val="10000"/>
                    <a:lumOff val="90000"/>
                  </a:schemeClr>
                </a:solidFill>
                <a:latin typeface="+mn-lt"/>
              </a:rPr>
              <a:t>The harness is essentially a controller. It owns control flow, admission, scheduling and termination. We’ll build these out over the semester.</a:t>
            </a:r>
          </a:p>
        </p:txBody>
      </p:sp>
    </p:spTree>
    <p:extLst>
      <p:ext uri="{BB962C8B-B14F-4D97-AF65-F5344CB8AC3E}">
        <p14:creationId xmlns:p14="http://schemas.microsoft.com/office/powerpoint/2010/main" val="21820701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078B2-7AB1-0B72-8767-86F06D1DA4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CDA4D3-F571-6B10-3E36-7B1E83FDE8B4}"/>
              </a:ext>
            </a:extLst>
          </p:cNvPr>
          <p:cNvSpPr>
            <a:spLocks noGrp="1"/>
          </p:cNvSpPr>
          <p:nvPr>
            <p:ph type="title"/>
          </p:nvPr>
        </p:nvSpPr>
        <p:spPr/>
        <p:txBody>
          <a:bodyPr>
            <a:normAutofit/>
          </a:bodyPr>
          <a:lstStyle/>
          <a:p>
            <a:r>
              <a:rPr lang="en-US" dirty="0"/>
              <a:t>Tools</a:t>
            </a:r>
          </a:p>
        </p:txBody>
      </p:sp>
      <p:sp>
        <p:nvSpPr>
          <p:cNvPr id="5" name="TextBox 4">
            <a:extLst>
              <a:ext uri="{FF2B5EF4-FFF2-40B4-BE49-F238E27FC236}">
                <a16:creationId xmlns:a16="http://schemas.microsoft.com/office/drawing/2014/main" id="{AE01230B-02C0-1BC7-D64F-35EEB4D378A1}"/>
              </a:ext>
            </a:extLst>
          </p:cNvPr>
          <p:cNvSpPr txBox="1"/>
          <p:nvPr/>
        </p:nvSpPr>
        <p:spPr>
          <a:xfrm>
            <a:off x="121272" y="630050"/>
            <a:ext cx="6591649" cy="646331"/>
          </a:xfrm>
          <a:prstGeom prst="rect">
            <a:avLst/>
          </a:prstGeom>
          <a:solidFill>
            <a:srgbClr val="2A2A63"/>
          </a:solidFill>
        </p:spPr>
        <p:txBody>
          <a:bodyPr wrap="square" rtlCol="0">
            <a:spAutoFit/>
          </a:bodyPr>
          <a:lstStyle/>
          <a:p>
            <a:pPr algn="just"/>
            <a:r>
              <a:rPr lang="en-US" sz="1200" dirty="0">
                <a:solidFill>
                  <a:schemeClr val="accent2">
                    <a:lumMod val="10000"/>
                    <a:lumOff val="90000"/>
                  </a:schemeClr>
                </a:solidFill>
                <a:latin typeface="+mn-lt"/>
              </a:rPr>
              <a:t>A tool is the only path from a proposed operation to a real effect. The model emits a structured call, the application layer executes it, and the result returns as data. A narrow and a strongly typed surface is the cheapest safety mechanism available.</a:t>
            </a:r>
          </a:p>
        </p:txBody>
      </p:sp>
      <p:pic>
        <p:nvPicPr>
          <p:cNvPr id="7" name="Picture 6">
            <a:extLst>
              <a:ext uri="{FF2B5EF4-FFF2-40B4-BE49-F238E27FC236}">
                <a16:creationId xmlns:a16="http://schemas.microsoft.com/office/drawing/2014/main" id="{38B450EA-B95F-F6F3-6F0D-1A1FCAB3BBAD}"/>
              </a:ext>
            </a:extLst>
          </p:cNvPr>
          <p:cNvPicPr>
            <a:picLocks noChangeAspect="1"/>
          </p:cNvPicPr>
          <p:nvPr/>
        </p:nvPicPr>
        <p:blipFill>
          <a:blip r:embed="rId2"/>
          <a:srcRect b="6445"/>
          <a:stretch>
            <a:fillRect/>
          </a:stretch>
        </p:blipFill>
        <p:spPr>
          <a:xfrm>
            <a:off x="121273" y="1532784"/>
            <a:ext cx="6591649" cy="3079923"/>
          </a:xfrm>
          <a:prstGeom prst="rect">
            <a:avLst/>
          </a:prstGeom>
        </p:spPr>
      </p:pic>
    </p:spTree>
    <p:extLst>
      <p:ext uri="{BB962C8B-B14F-4D97-AF65-F5344CB8AC3E}">
        <p14:creationId xmlns:p14="http://schemas.microsoft.com/office/powerpoint/2010/main" val="2888819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B3EBD-7902-7D82-4BF8-97A0A7E96A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9B53CB-55CE-3435-D3D0-47B8CC474390}"/>
              </a:ext>
            </a:extLst>
          </p:cNvPr>
          <p:cNvSpPr>
            <a:spLocks noGrp="1"/>
          </p:cNvSpPr>
          <p:nvPr>
            <p:ph type="title"/>
          </p:nvPr>
        </p:nvSpPr>
        <p:spPr/>
        <p:txBody>
          <a:bodyPr>
            <a:normAutofit/>
          </a:bodyPr>
          <a:lstStyle/>
          <a:p>
            <a:r>
              <a:rPr lang="en-US" dirty="0"/>
              <a:t>Tools</a:t>
            </a:r>
          </a:p>
        </p:txBody>
      </p:sp>
      <p:sp>
        <p:nvSpPr>
          <p:cNvPr id="5" name="TextBox 4">
            <a:extLst>
              <a:ext uri="{FF2B5EF4-FFF2-40B4-BE49-F238E27FC236}">
                <a16:creationId xmlns:a16="http://schemas.microsoft.com/office/drawing/2014/main" id="{AFEC437B-9B2B-66D5-9A62-EE93AC9CEB95}"/>
              </a:ext>
            </a:extLst>
          </p:cNvPr>
          <p:cNvSpPr txBox="1"/>
          <p:nvPr/>
        </p:nvSpPr>
        <p:spPr>
          <a:xfrm>
            <a:off x="121272" y="630050"/>
            <a:ext cx="6591649" cy="646331"/>
          </a:xfrm>
          <a:prstGeom prst="rect">
            <a:avLst/>
          </a:prstGeom>
          <a:solidFill>
            <a:srgbClr val="2A2A63"/>
          </a:solidFill>
        </p:spPr>
        <p:txBody>
          <a:bodyPr wrap="square" rtlCol="0">
            <a:spAutoFit/>
          </a:bodyPr>
          <a:lstStyle/>
          <a:p>
            <a:pPr algn="just"/>
            <a:r>
              <a:rPr lang="en-US" sz="1200" dirty="0">
                <a:solidFill>
                  <a:schemeClr val="accent2">
                    <a:lumMod val="10000"/>
                    <a:lumOff val="90000"/>
                  </a:schemeClr>
                </a:solidFill>
                <a:latin typeface="+mn-lt"/>
              </a:rPr>
              <a:t>A tool is the only path from a proposed operation to a real effect. The model emits a structured call, the application layer executes it, and the result returns as data. A narrow and a strongly typed surface is the cheapest safety mechanism available.</a:t>
            </a:r>
          </a:p>
        </p:txBody>
      </p:sp>
      <p:graphicFrame>
        <p:nvGraphicFramePr>
          <p:cNvPr id="3" name="Table 2">
            <a:extLst>
              <a:ext uri="{FF2B5EF4-FFF2-40B4-BE49-F238E27FC236}">
                <a16:creationId xmlns:a16="http://schemas.microsoft.com/office/drawing/2014/main" id="{C1BC846B-5752-FD23-13C5-11E3C66F06B5}"/>
              </a:ext>
            </a:extLst>
          </p:cNvPr>
          <p:cNvGraphicFramePr>
            <a:graphicFrameLocks noGrp="1"/>
          </p:cNvGraphicFramePr>
          <p:nvPr>
            <p:extLst>
              <p:ext uri="{D42A27DB-BD31-4B8C-83A1-F6EECF244321}">
                <p14:modId xmlns:p14="http://schemas.microsoft.com/office/powerpoint/2010/main" val="1778261143"/>
              </p:ext>
            </p:extLst>
          </p:nvPr>
        </p:nvGraphicFramePr>
        <p:xfrm>
          <a:off x="121272" y="1514159"/>
          <a:ext cx="6580470" cy="3044509"/>
        </p:xfrm>
        <a:graphic>
          <a:graphicData uri="http://schemas.openxmlformats.org/drawingml/2006/table">
            <a:tbl>
              <a:tblPr>
                <a:tableStyleId>{2D5ABB26-0587-4C30-8999-92F81FD0307C}</a:tableStyleId>
              </a:tblPr>
              <a:tblGrid>
                <a:gridCol w="1641040">
                  <a:extLst>
                    <a:ext uri="{9D8B030D-6E8A-4147-A177-3AD203B41FA5}">
                      <a16:colId xmlns:a16="http://schemas.microsoft.com/office/drawing/2014/main" val="826204326"/>
                    </a:ext>
                  </a:extLst>
                </a:gridCol>
                <a:gridCol w="4939430">
                  <a:extLst>
                    <a:ext uri="{9D8B030D-6E8A-4147-A177-3AD203B41FA5}">
                      <a16:colId xmlns:a16="http://schemas.microsoft.com/office/drawing/2014/main" val="2935441205"/>
                    </a:ext>
                  </a:extLst>
                </a:gridCol>
              </a:tblGrid>
              <a:tr h="316414">
                <a:tc>
                  <a:txBody>
                    <a:bodyPr/>
                    <a:lstStyle/>
                    <a:p>
                      <a:pPr algn="l">
                        <a:buNone/>
                      </a:pPr>
                      <a:r>
                        <a:rPr lang="en-US" sz="1100" b="1" dirty="0">
                          <a:effectLst/>
                        </a:rPr>
                        <a:t>Property</a:t>
                      </a:r>
                      <a:endParaRPr lang="en-US" sz="11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100" b="1" dirty="0">
                          <a:effectLst/>
                        </a:rPr>
                        <a:t>Constraints</a:t>
                      </a:r>
                      <a:endParaRPr lang="en-US" sz="11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0836564"/>
                  </a:ext>
                </a:extLst>
              </a:tr>
              <a:tr h="647433">
                <a:tc>
                  <a:txBody>
                    <a:bodyPr/>
                    <a:lstStyle/>
                    <a:p>
                      <a:pPr algn="l">
                        <a:buNone/>
                      </a:pPr>
                      <a:r>
                        <a:rPr lang="en-US" sz="1050" b="1" i="0" u="none" strike="noStrike" cap="none" spc="0" dirty="0">
                          <a:solidFill>
                            <a:schemeClr val="tx1"/>
                          </a:solidFill>
                          <a:effectLst/>
                          <a:latin typeface="+mn-lt"/>
                          <a:ea typeface="+mn-ea"/>
                          <a:cs typeface="+mn-cs"/>
                          <a:sym typeface="Arial"/>
                        </a:rPr>
                        <a:t>Narrow</a:t>
                      </a:r>
                      <a:r>
                        <a:rPr lang="en-US" sz="1050" b="1" i="0" u="none" strike="noStrike" cap="none" spc="0" dirty="0">
                          <a:solidFill>
                            <a:schemeClr val="accent4">
                              <a:lumMod val="75000"/>
                            </a:schemeClr>
                          </a:solidFill>
                          <a:effectLst/>
                          <a:latin typeface="+mn-lt"/>
                          <a:ea typeface="+mn-ea"/>
                          <a:cs typeface="+mn-cs"/>
                          <a:sym typeface="Arial"/>
                        </a:rPr>
                        <a:t>*</a:t>
                      </a:r>
                      <a:endParaRPr lang="en-US" sz="1100" b="0" i="0" dirty="0">
                        <a:solidFill>
                          <a:schemeClr val="accent4">
                            <a:lumMod val="75000"/>
                          </a:schemeClr>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One operation with one purpose, and arguments that are types rather than prose. A tool accepting a free-text command re-exports the whole environment through a single schema.</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0761567"/>
                  </a:ext>
                </a:extLst>
              </a:tr>
              <a:tr h="472188">
                <a:tc>
                  <a:txBody>
                    <a:bodyPr/>
                    <a:lstStyle/>
                    <a:p>
                      <a:pPr algn="l">
                        <a:buNone/>
                      </a:pPr>
                      <a:r>
                        <a:rPr lang="en-US" sz="1050" b="1" i="0" u="none" strike="noStrike" cap="none" spc="0" dirty="0">
                          <a:solidFill>
                            <a:schemeClr val="tx1"/>
                          </a:solidFill>
                          <a:effectLst/>
                          <a:latin typeface="+mn-lt"/>
                          <a:ea typeface="+mn-ea"/>
                          <a:cs typeface="+mn-cs"/>
                          <a:sym typeface="Arial"/>
                        </a:rPr>
                        <a:t>Typed</a:t>
                      </a:r>
                      <a:r>
                        <a:rPr lang="en-US" sz="1050" b="1" i="0" u="none" strike="noStrike" cap="none" spc="0" dirty="0">
                          <a:solidFill>
                            <a:schemeClr val="accent4">
                              <a:lumMod val="75000"/>
                            </a:schemeClr>
                          </a:solidFill>
                          <a:effectLst/>
                          <a:latin typeface="+mn-lt"/>
                          <a:ea typeface="+mn-ea"/>
                          <a:cs typeface="+mn-cs"/>
                          <a:sym typeface="Arial"/>
                        </a:rPr>
                        <a:t>*</a:t>
                      </a:r>
                      <a:endParaRPr lang="en-US" sz="1100" b="0" i="0" dirty="0">
                        <a:solidFill>
                          <a:schemeClr val="accent4">
                            <a:lumMod val="75000"/>
                          </a:schemeClr>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Types are the cheapest available validator and they run before the proposal reaches anything. In assignment 2, you’ll be building variants of these.</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0086642"/>
                  </a:ext>
                </a:extLst>
              </a:tr>
              <a:tr h="472188">
                <a:tc>
                  <a:txBody>
                    <a:bodyPr/>
                    <a:lstStyle/>
                    <a:p>
                      <a:pPr algn="l">
                        <a:buNone/>
                      </a:pPr>
                      <a:r>
                        <a:rPr lang="en-US" sz="1050" b="1" i="0" u="none" strike="noStrike" cap="none" spc="0" dirty="0">
                          <a:solidFill>
                            <a:schemeClr val="tx1"/>
                          </a:solidFill>
                          <a:effectLst/>
                          <a:latin typeface="+mn-lt"/>
                          <a:ea typeface="+mn-ea"/>
                          <a:cs typeface="+mn-cs"/>
                          <a:sym typeface="Arial"/>
                        </a:rPr>
                        <a:t>Idempotent</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Idempotency requires that a repeated call carrying the same caller-supplied key return the first outcome rather than produce a second effect</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5493031"/>
                  </a:ext>
                </a:extLst>
              </a:tr>
              <a:tr h="647433">
                <a:tc>
                  <a:txBody>
                    <a:bodyPr/>
                    <a:lstStyle/>
                    <a:p>
                      <a:pPr algn="l">
                        <a:buNone/>
                      </a:pPr>
                      <a:r>
                        <a:rPr lang="en-US" sz="1050" b="1" i="0" u="none" strike="noStrike" cap="none" spc="0" dirty="0">
                          <a:solidFill>
                            <a:schemeClr val="tx1"/>
                          </a:solidFill>
                          <a:effectLst/>
                          <a:latin typeface="+mn-lt"/>
                          <a:ea typeface="+mn-ea"/>
                          <a:cs typeface="+mn-cs"/>
                          <a:sym typeface="Arial"/>
                        </a:rPr>
                        <a:t>Transactional</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A retry is unavoidable, and its safety rests on transactionality that requires that the effect and the record of that key commit together or rollback together—partial effects not tolerable. </a:t>
                      </a:r>
                      <a:endParaRPr lang="en-US" sz="12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7336757"/>
                  </a:ext>
                </a:extLst>
              </a:tr>
              <a:tr h="488853">
                <a:tc>
                  <a:txBody>
                    <a:bodyPr/>
                    <a:lstStyle/>
                    <a:p>
                      <a:pPr algn="l">
                        <a:buNone/>
                      </a:pPr>
                      <a:r>
                        <a:rPr lang="en-US" sz="1050" b="1" i="0" u="none" strike="noStrike" cap="none" spc="0" dirty="0">
                          <a:solidFill>
                            <a:schemeClr val="tx1"/>
                          </a:solidFill>
                          <a:effectLst/>
                          <a:latin typeface="+mn-lt"/>
                          <a:ea typeface="+mn-ea"/>
                          <a:cs typeface="+mn-cs"/>
                          <a:sym typeface="Arial"/>
                        </a:rPr>
                        <a:t>Guarded at the</a:t>
                      </a:r>
                      <a:r>
                        <a:rPr lang="en-US" sz="1050" b="1" i="0" u="none" strike="noStrike" cap="none" spc="0" dirty="0">
                          <a:solidFill>
                            <a:schemeClr val="accent4">
                              <a:lumMod val="75000"/>
                            </a:schemeClr>
                          </a:solidFill>
                          <a:effectLst/>
                          <a:latin typeface="+mn-lt"/>
                          <a:ea typeface="+mn-ea"/>
                          <a:cs typeface="+mn-cs"/>
                          <a:sym typeface="Arial"/>
                        </a:rPr>
                        <a:t>*</a:t>
                      </a:r>
                      <a:r>
                        <a:rPr lang="en-US" sz="1050" b="1" i="0" u="none" strike="noStrike" cap="none" spc="0" dirty="0">
                          <a:solidFill>
                            <a:schemeClr val="tx1"/>
                          </a:solidFill>
                          <a:effectLst/>
                          <a:latin typeface="+mn-lt"/>
                          <a:ea typeface="+mn-ea"/>
                          <a:cs typeface="+mn-cs"/>
                          <a:sym typeface="Arial"/>
                        </a:rPr>
                        <a:t> boundary</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Content returned by a tool is data and never instruction. Authority derives from the caller and never from the content.</a:t>
                      </a:r>
                      <a:endParaRPr lang="en-US" sz="12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61973964"/>
                  </a:ext>
                </a:extLst>
              </a:tr>
            </a:tbl>
          </a:graphicData>
        </a:graphic>
      </p:graphicFrame>
      <p:sp>
        <p:nvSpPr>
          <p:cNvPr id="4" name="TextBox 3">
            <a:extLst>
              <a:ext uri="{FF2B5EF4-FFF2-40B4-BE49-F238E27FC236}">
                <a16:creationId xmlns:a16="http://schemas.microsoft.com/office/drawing/2014/main" id="{B403DA8C-838A-6A47-EE2F-2C0D266E013F}"/>
              </a:ext>
            </a:extLst>
          </p:cNvPr>
          <p:cNvSpPr txBox="1"/>
          <p:nvPr/>
        </p:nvSpPr>
        <p:spPr>
          <a:xfrm>
            <a:off x="5463251" y="4533761"/>
            <a:ext cx="1313180" cy="261610"/>
          </a:xfrm>
          <a:prstGeom prst="rect">
            <a:avLst/>
          </a:prstGeom>
          <a:noFill/>
        </p:spPr>
        <p:txBody>
          <a:bodyPr wrap="none" rtlCol="0">
            <a:spAutoFit/>
          </a:bodyPr>
          <a:lstStyle/>
          <a:p>
            <a:pPr algn="l"/>
            <a:r>
              <a:rPr lang="en-US" sz="1100" i="1" dirty="0">
                <a:solidFill>
                  <a:schemeClr val="accent4">
                    <a:lumMod val="75000"/>
                  </a:schemeClr>
                </a:solidFill>
                <a:latin typeface="+mn-lt"/>
              </a:rPr>
              <a:t>* explored in HW2</a:t>
            </a:r>
          </a:p>
        </p:txBody>
      </p:sp>
    </p:spTree>
    <p:extLst>
      <p:ext uri="{BB962C8B-B14F-4D97-AF65-F5344CB8AC3E}">
        <p14:creationId xmlns:p14="http://schemas.microsoft.com/office/powerpoint/2010/main" val="1810808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D00A3-E4D6-EAB4-249B-865D0F8845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2CFCA-935D-860A-DF3B-531E6E82E3EC}"/>
              </a:ext>
            </a:extLst>
          </p:cNvPr>
          <p:cNvSpPr>
            <a:spLocks noGrp="1"/>
          </p:cNvSpPr>
          <p:nvPr>
            <p:ph type="title"/>
          </p:nvPr>
        </p:nvSpPr>
        <p:spPr/>
        <p:txBody>
          <a:bodyPr>
            <a:normAutofit/>
          </a:bodyPr>
          <a:lstStyle/>
          <a:p>
            <a:r>
              <a:rPr lang="en-US" dirty="0"/>
              <a:t>State</a:t>
            </a:r>
          </a:p>
        </p:txBody>
      </p:sp>
      <p:sp>
        <p:nvSpPr>
          <p:cNvPr id="5" name="TextBox 4">
            <a:extLst>
              <a:ext uri="{FF2B5EF4-FFF2-40B4-BE49-F238E27FC236}">
                <a16:creationId xmlns:a16="http://schemas.microsoft.com/office/drawing/2014/main" id="{780CA432-F032-A4FC-B1CB-7A13C1A033B8}"/>
              </a:ext>
            </a:extLst>
          </p:cNvPr>
          <p:cNvSpPr txBox="1"/>
          <p:nvPr/>
        </p:nvSpPr>
        <p:spPr>
          <a:xfrm>
            <a:off x="121272" y="630050"/>
            <a:ext cx="6591649" cy="461665"/>
          </a:xfrm>
          <a:prstGeom prst="rect">
            <a:avLst/>
          </a:prstGeom>
          <a:solidFill>
            <a:srgbClr val="2A2A63"/>
          </a:solidFill>
        </p:spPr>
        <p:txBody>
          <a:bodyPr wrap="square" rtlCol="0">
            <a:spAutoFit/>
          </a:bodyPr>
          <a:lstStyle/>
          <a:p>
            <a:pPr algn="just"/>
            <a:r>
              <a:rPr lang="en-US" sz="1200" dirty="0">
                <a:solidFill>
                  <a:schemeClr val="accent2">
                    <a:lumMod val="10000"/>
                    <a:lumOff val="90000"/>
                  </a:schemeClr>
                </a:solidFill>
                <a:latin typeface="+mn-lt"/>
              </a:rPr>
              <a:t>Context is the bounded input to one model call. Durable state preserves progress, evidence, and accounting beyond the process so a run can resume after failure instead of restarting.</a:t>
            </a:r>
          </a:p>
        </p:txBody>
      </p:sp>
      <p:pic>
        <p:nvPicPr>
          <p:cNvPr id="4" name="Picture 3">
            <a:extLst>
              <a:ext uri="{FF2B5EF4-FFF2-40B4-BE49-F238E27FC236}">
                <a16:creationId xmlns:a16="http://schemas.microsoft.com/office/drawing/2014/main" id="{BBA3A2E4-E4E3-3920-8B48-082DE2716AA5}"/>
              </a:ext>
            </a:extLst>
          </p:cNvPr>
          <p:cNvPicPr>
            <a:picLocks noChangeAspect="1"/>
          </p:cNvPicPr>
          <p:nvPr/>
        </p:nvPicPr>
        <p:blipFill>
          <a:blip r:embed="rId2"/>
          <a:stretch>
            <a:fillRect/>
          </a:stretch>
        </p:blipFill>
        <p:spPr>
          <a:xfrm>
            <a:off x="1001210" y="1524798"/>
            <a:ext cx="4855580" cy="2988652"/>
          </a:xfrm>
          <a:prstGeom prst="rect">
            <a:avLst/>
          </a:prstGeom>
        </p:spPr>
      </p:pic>
    </p:spTree>
    <p:extLst>
      <p:ext uri="{BB962C8B-B14F-4D97-AF65-F5344CB8AC3E}">
        <p14:creationId xmlns:p14="http://schemas.microsoft.com/office/powerpoint/2010/main" val="28745004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39505-DA96-61F5-DC9B-370694E97E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CD0220-ECBE-BA49-6C35-CED9C1296C5B}"/>
              </a:ext>
            </a:extLst>
          </p:cNvPr>
          <p:cNvSpPr>
            <a:spLocks noGrp="1"/>
          </p:cNvSpPr>
          <p:nvPr>
            <p:ph type="title"/>
          </p:nvPr>
        </p:nvSpPr>
        <p:spPr/>
        <p:txBody>
          <a:bodyPr>
            <a:normAutofit/>
          </a:bodyPr>
          <a:lstStyle/>
          <a:p>
            <a:r>
              <a:rPr lang="en-US" dirty="0"/>
              <a:t>State: Systems Properties and Guarantees</a:t>
            </a:r>
          </a:p>
        </p:txBody>
      </p:sp>
      <p:sp>
        <p:nvSpPr>
          <p:cNvPr id="5" name="TextBox 4">
            <a:extLst>
              <a:ext uri="{FF2B5EF4-FFF2-40B4-BE49-F238E27FC236}">
                <a16:creationId xmlns:a16="http://schemas.microsoft.com/office/drawing/2014/main" id="{172858EF-C6E8-E68F-D59F-6CB13CD98218}"/>
              </a:ext>
            </a:extLst>
          </p:cNvPr>
          <p:cNvSpPr txBox="1"/>
          <p:nvPr/>
        </p:nvSpPr>
        <p:spPr>
          <a:xfrm>
            <a:off x="121272" y="630050"/>
            <a:ext cx="6591649" cy="646331"/>
          </a:xfrm>
          <a:prstGeom prst="rect">
            <a:avLst/>
          </a:prstGeom>
          <a:solidFill>
            <a:srgbClr val="2A2A63"/>
          </a:solidFill>
        </p:spPr>
        <p:txBody>
          <a:bodyPr wrap="square" rtlCol="0">
            <a:spAutoFit/>
          </a:bodyPr>
          <a:lstStyle/>
          <a:p>
            <a:pPr algn="just"/>
            <a:r>
              <a:rPr lang="en-US" sz="1200" dirty="0">
                <a:solidFill>
                  <a:schemeClr val="accent2">
                    <a:lumMod val="10000"/>
                    <a:lumOff val="90000"/>
                  </a:schemeClr>
                </a:solidFill>
                <a:latin typeface="+mn-lt"/>
              </a:rPr>
              <a:t>Agent state depends on durability, provenance, bounded working sets, resource accounting, and crash recovery. HW2 touches upon context compaction: managing a bounded working set by condensing prior context while preserving task-relevant information.</a:t>
            </a:r>
          </a:p>
        </p:txBody>
      </p:sp>
      <p:graphicFrame>
        <p:nvGraphicFramePr>
          <p:cNvPr id="3" name="Table 2">
            <a:extLst>
              <a:ext uri="{FF2B5EF4-FFF2-40B4-BE49-F238E27FC236}">
                <a16:creationId xmlns:a16="http://schemas.microsoft.com/office/drawing/2014/main" id="{2A4C0C1C-A1EE-0940-E987-313A10C8C1F2}"/>
              </a:ext>
            </a:extLst>
          </p:cNvPr>
          <p:cNvGraphicFramePr>
            <a:graphicFrameLocks noGrp="1"/>
          </p:cNvGraphicFramePr>
          <p:nvPr>
            <p:extLst>
              <p:ext uri="{D42A27DB-BD31-4B8C-83A1-F6EECF244321}">
                <p14:modId xmlns:p14="http://schemas.microsoft.com/office/powerpoint/2010/main" val="1209081387"/>
              </p:ext>
            </p:extLst>
          </p:nvPr>
        </p:nvGraphicFramePr>
        <p:xfrm>
          <a:off x="121272" y="1525734"/>
          <a:ext cx="6580470" cy="3044509"/>
        </p:xfrm>
        <a:graphic>
          <a:graphicData uri="http://schemas.openxmlformats.org/drawingml/2006/table">
            <a:tbl>
              <a:tblPr>
                <a:tableStyleId>{2D5ABB26-0587-4C30-8999-92F81FD0307C}</a:tableStyleId>
              </a:tblPr>
              <a:tblGrid>
                <a:gridCol w="1641040">
                  <a:extLst>
                    <a:ext uri="{9D8B030D-6E8A-4147-A177-3AD203B41FA5}">
                      <a16:colId xmlns:a16="http://schemas.microsoft.com/office/drawing/2014/main" val="826204326"/>
                    </a:ext>
                  </a:extLst>
                </a:gridCol>
                <a:gridCol w="4939430">
                  <a:extLst>
                    <a:ext uri="{9D8B030D-6E8A-4147-A177-3AD203B41FA5}">
                      <a16:colId xmlns:a16="http://schemas.microsoft.com/office/drawing/2014/main" val="2935441205"/>
                    </a:ext>
                  </a:extLst>
                </a:gridCol>
              </a:tblGrid>
              <a:tr h="316414">
                <a:tc>
                  <a:txBody>
                    <a:bodyPr/>
                    <a:lstStyle/>
                    <a:p>
                      <a:pPr algn="l">
                        <a:buNone/>
                      </a:pPr>
                      <a:r>
                        <a:rPr lang="en-US" sz="1100" b="1" dirty="0">
                          <a:effectLst/>
                        </a:rPr>
                        <a:t>Property</a:t>
                      </a:r>
                      <a:endParaRPr lang="en-US" sz="11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100" b="1" dirty="0">
                          <a:effectLst/>
                        </a:rPr>
                        <a:t>Required guarantee</a:t>
                      </a:r>
                      <a:endParaRPr lang="en-US" sz="11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0836564"/>
                  </a:ext>
                </a:extLst>
              </a:tr>
              <a:tr h="647433">
                <a:tc>
                  <a:txBody>
                    <a:bodyPr/>
                    <a:lstStyle/>
                    <a:p>
                      <a:pPr algn="l">
                        <a:buNone/>
                      </a:pPr>
                      <a:r>
                        <a:rPr lang="en-US" sz="1050" b="1" i="0" u="none" strike="noStrike" cap="none" spc="0" dirty="0">
                          <a:solidFill>
                            <a:schemeClr val="tx1"/>
                          </a:solidFill>
                          <a:effectLst/>
                          <a:latin typeface="+mn-lt"/>
                          <a:ea typeface="+mn-ea"/>
                          <a:cs typeface="+mn-cs"/>
                          <a:sym typeface="Arial"/>
                        </a:rPr>
                        <a:t>Durability</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dirty="0"/>
                        <a:t>Accepted work and committed progress survive process termination.</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0761567"/>
                  </a:ext>
                </a:extLst>
              </a:tr>
              <a:tr h="472188">
                <a:tc>
                  <a:txBody>
                    <a:bodyPr/>
                    <a:lstStyle/>
                    <a:p>
                      <a:pPr algn="l">
                        <a:buNone/>
                      </a:pPr>
                      <a:r>
                        <a:rPr lang="en-US" sz="1050" b="1" i="0" u="none" strike="noStrike" cap="none" spc="0" dirty="0">
                          <a:solidFill>
                            <a:schemeClr val="tx1"/>
                          </a:solidFill>
                          <a:effectLst/>
                          <a:latin typeface="+mn-lt"/>
                          <a:ea typeface="+mn-ea"/>
                          <a:cs typeface="+mn-cs"/>
                          <a:sym typeface="Arial"/>
                        </a:rPr>
                        <a:t>Provenance</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Conclusions remain linked to persistent, addressable supporting artifacts.</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0086642"/>
                  </a:ext>
                </a:extLst>
              </a:tr>
              <a:tr h="472188">
                <a:tc>
                  <a:txBody>
                    <a:bodyPr/>
                    <a:lstStyle/>
                    <a:p>
                      <a:pPr algn="l">
                        <a:buNone/>
                      </a:pPr>
                      <a:r>
                        <a:rPr lang="en-US" sz="1050" b="1" i="0" u="none" strike="noStrike" cap="none" spc="0" dirty="0">
                          <a:solidFill>
                            <a:schemeClr val="tx1"/>
                          </a:solidFill>
                          <a:effectLst/>
                          <a:latin typeface="+mn-lt"/>
                          <a:ea typeface="+mn-ea"/>
                          <a:cs typeface="+mn-cs"/>
                          <a:sym typeface="Arial"/>
                        </a:rPr>
                        <a:t>Bounded working set</a:t>
                      </a:r>
                      <a:r>
                        <a:rPr lang="en-US" sz="1050" b="1" i="0" u="none" strike="noStrike" cap="none" spc="0" dirty="0">
                          <a:solidFill>
                            <a:schemeClr val="accent4">
                              <a:lumMod val="75000"/>
                            </a:schemeClr>
                          </a:solidFill>
                          <a:effectLst/>
                          <a:latin typeface="+mn-lt"/>
                          <a:ea typeface="+mn-ea"/>
                          <a:cs typeface="+mn-cs"/>
                          <a:sym typeface="Arial"/>
                        </a:rPr>
                        <a:t>*</a:t>
                      </a:r>
                      <a:endParaRPr lang="en-US" sz="1100" b="0" i="0" dirty="0">
                        <a:solidFill>
                          <a:schemeClr val="accent4">
                            <a:lumMod val="75000"/>
                          </a:schemeClr>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Each model input respects its token limit; context selection and truncation are explicit.</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5493031"/>
                  </a:ext>
                </a:extLst>
              </a:tr>
              <a:tr h="647433">
                <a:tc>
                  <a:txBody>
                    <a:bodyPr/>
                    <a:lstStyle/>
                    <a:p>
                      <a:pPr algn="l">
                        <a:buNone/>
                      </a:pPr>
                      <a:r>
                        <a:rPr lang="en-US" sz="1050" b="1" i="0" u="none" strike="noStrike" cap="none" spc="0" dirty="0">
                          <a:solidFill>
                            <a:schemeClr val="tx1"/>
                          </a:solidFill>
                          <a:effectLst/>
                          <a:latin typeface="+mn-lt"/>
                          <a:ea typeface="+mn-ea"/>
                          <a:cs typeface="+mn-cs"/>
                          <a:sym typeface="Arial"/>
                        </a:rPr>
                        <a:t>Resource accounting</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Token usage is recorded per call, preserving distinct usage categories rather than conflating counters.</a:t>
                      </a:r>
                      <a:endParaRPr lang="en-US" sz="12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7336757"/>
                  </a:ext>
                </a:extLst>
              </a:tr>
              <a:tr h="488853">
                <a:tc>
                  <a:txBody>
                    <a:bodyPr/>
                    <a:lstStyle/>
                    <a:p>
                      <a:pPr algn="l">
                        <a:buNone/>
                      </a:pPr>
                      <a:r>
                        <a:rPr lang="en-US" sz="1050" b="1" i="0" u="none" strike="noStrike" cap="none" spc="0" dirty="0">
                          <a:solidFill>
                            <a:schemeClr val="tx1"/>
                          </a:solidFill>
                          <a:effectLst/>
                          <a:latin typeface="+mn-lt"/>
                          <a:ea typeface="+mn-ea"/>
                          <a:cs typeface="+mn-cs"/>
                          <a:sym typeface="Arial"/>
                        </a:rPr>
                        <a:t>Crash recovery</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Execution resumes from committed state after failure, preserving accepted work.</a:t>
                      </a:r>
                      <a:endParaRPr lang="en-US" sz="12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61973964"/>
                  </a:ext>
                </a:extLst>
              </a:tr>
            </a:tbl>
          </a:graphicData>
        </a:graphic>
      </p:graphicFrame>
      <p:sp>
        <p:nvSpPr>
          <p:cNvPr id="4" name="TextBox 3">
            <a:extLst>
              <a:ext uri="{FF2B5EF4-FFF2-40B4-BE49-F238E27FC236}">
                <a16:creationId xmlns:a16="http://schemas.microsoft.com/office/drawing/2014/main" id="{D276E50A-51FC-C586-8E85-BAFFEC5F3140}"/>
              </a:ext>
            </a:extLst>
          </p:cNvPr>
          <p:cNvSpPr txBox="1"/>
          <p:nvPr/>
        </p:nvSpPr>
        <p:spPr>
          <a:xfrm>
            <a:off x="5463251" y="4570243"/>
            <a:ext cx="1313180" cy="261610"/>
          </a:xfrm>
          <a:prstGeom prst="rect">
            <a:avLst/>
          </a:prstGeom>
          <a:noFill/>
        </p:spPr>
        <p:txBody>
          <a:bodyPr wrap="none" rtlCol="0">
            <a:spAutoFit/>
          </a:bodyPr>
          <a:lstStyle/>
          <a:p>
            <a:pPr algn="l"/>
            <a:r>
              <a:rPr lang="en-US" sz="1100" i="1" dirty="0">
                <a:solidFill>
                  <a:schemeClr val="accent4">
                    <a:lumMod val="75000"/>
                  </a:schemeClr>
                </a:solidFill>
                <a:latin typeface="+mn-lt"/>
              </a:rPr>
              <a:t>* explored in HW2</a:t>
            </a:r>
          </a:p>
        </p:txBody>
      </p:sp>
    </p:spTree>
    <p:extLst>
      <p:ext uri="{BB962C8B-B14F-4D97-AF65-F5344CB8AC3E}">
        <p14:creationId xmlns:p14="http://schemas.microsoft.com/office/powerpoint/2010/main" val="5399593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4ED4F-771C-AB70-58F9-7BCBC389D0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A4B6E-4A67-7B82-C8D4-54D941877401}"/>
              </a:ext>
            </a:extLst>
          </p:cNvPr>
          <p:cNvSpPr>
            <a:spLocks noGrp="1"/>
          </p:cNvSpPr>
          <p:nvPr>
            <p:ph type="title"/>
          </p:nvPr>
        </p:nvSpPr>
        <p:spPr/>
        <p:txBody>
          <a:bodyPr>
            <a:normAutofit/>
          </a:bodyPr>
          <a:lstStyle/>
          <a:p>
            <a:r>
              <a:rPr lang="en-US" dirty="0"/>
              <a:t>Environment</a:t>
            </a:r>
          </a:p>
        </p:txBody>
      </p:sp>
      <p:sp>
        <p:nvSpPr>
          <p:cNvPr id="5" name="TextBox 4">
            <a:extLst>
              <a:ext uri="{FF2B5EF4-FFF2-40B4-BE49-F238E27FC236}">
                <a16:creationId xmlns:a16="http://schemas.microsoft.com/office/drawing/2014/main" id="{F40A06B9-1B06-C15F-F678-250FCAE30FFA}"/>
              </a:ext>
            </a:extLst>
          </p:cNvPr>
          <p:cNvSpPr txBox="1"/>
          <p:nvPr/>
        </p:nvSpPr>
        <p:spPr>
          <a:xfrm>
            <a:off x="121272" y="630050"/>
            <a:ext cx="6591649" cy="830997"/>
          </a:xfrm>
          <a:prstGeom prst="rect">
            <a:avLst/>
          </a:prstGeom>
          <a:solidFill>
            <a:srgbClr val="2A2A63"/>
          </a:solidFill>
        </p:spPr>
        <p:txBody>
          <a:bodyPr wrap="square" rtlCol="0">
            <a:spAutoFit/>
          </a:bodyPr>
          <a:lstStyle/>
          <a:p>
            <a:pPr algn="just"/>
            <a:r>
              <a:rPr lang="en-US" sz="1200" dirty="0">
                <a:solidFill>
                  <a:schemeClr val="accent2">
                    <a:lumMod val="10000"/>
                    <a:lumOff val="90000"/>
                  </a:schemeClr>
                </a:solidFill>
                <a:latin typeface="+mn-lt"/>
              </a:rPr>
              <a:t>The environment can change state, exhaust resources, or interrupt execution independently of the run. Reliable agents therefore require verified outcomes, bounded resource use, explicit failure handling, and recoverable execution. Unit 4 addresses these obligations through deployment, recovery, and observability.</a:t>
            </a:r>
          </a:p>
        </p:txBody>
      </p:sp>
      <p:graphicFrame>
        <p:nvGraphicFramePr>
          <p:cNvPr id="3" name="Table 2">
            <a:extLst>
              <a:ext uri="{FF2B5EF4-FFF2-40B4-BE49-F238E27FC236}">
                <a16:creationId xmlns:a16="http://schemas.microsoft.com/office/drawing/2014/main" id="{27ED65BA-D108-6286-A8B1-F8C4D383E11B}"/>
              </a:ext>
            </a:extLst>
          </p:cNvPr>
          <p:cNvGraphicFramePr>
            <a:graphicFrameLocks noGrp="1"/>
          </p:cNvGraphicFramePr>
          <p:nvPr>
            <p:extLst>
              <p:ext uri="{D42A27DB-BD31-4B8C-83A1-F6EECF244321}">
                <p14:modId xmlns:p14="http://schemas.microsoft.com/office/powerpoint/2010/main" val="2857951967"/>
              </p:ext>
            </p:extLst>
          </p:nvPr>
        </p:nvGraphicFramePr>
        <p:xfrm>
          <a:off x="121272" y="1703212"/>
          <a:ext cx="6580470" cy="2910087"/>
        </p:xfrm>
        <a:graphic>
          <a:graphicData uri="http://schemas.openxmlformats.org/drawingml/2006/table">
            <a:tbl>
              <a:tblPr>
                <a:tableStyleId>{2D5ABB26-0587-4C30-8999-92F81FD0307C}</a:tableStyleId>
              </a:tblPr>
              <a:tblGrid>
                <a:gridCol w="1641040">
                  <a:extLst>
                    <a:ext uri="{9D8B030D-6E8A-4147-A177-3AD203B41FA5}">
                      <a16:colId xmlns:a16="http://schemas.microsoft.com/office/drawing/2014/main" val="826204326"/>
                    </a:ext>
                  </a:extLst>
                </a:gridCol>
                <a:gridCol w="4939430">
                  <a:extLst>
                    <a:ext uri="{9D8B030D-6E8A-4147-A177-3AD203B41FA5}">
                      <a16:colId xmlns:a16="http://schemas.microsoft.com/office/drawing/2014/main" val="2935441205"/>
                    </a:ext>
                  </a:extLst>
                </a:gridCol>
              </a:tblGrid>
              <a:tr h="316414">
                <a:tc>
                  <a:txBody>
                    <a:bodyPr/>
                    <a:lstStyle/>
                    <a:p>
                      <a:pPr algn="l">
                        <a:buNone/>
                      </a:pPr>
                      <a:r>
                        <a:rPr lang="en-US" sz="1100" b="1" dirty="0">
                          <a:effectLst/>
                        </a:rPr>
                        <a:t>Property</a:t>
                      </a:r>
                      <a:endParaRPr lang="en-US" sz="11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100" b="1" dirty="0">
                          <a:effectLst/>
                        </a:rPr>
                        <a:t>Required guarantee</a:t>
                      </a:r>
                      <a:endParaRPr lang="en-US" sz="110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0836564"/>
                  </a:ext>
                </a:extLst>
              </a:tr>
              <a:tr h="647433">
                <a:tc>
                  <a:txBody>
                    <a:bodyPr/>
                    <a:lstStyle/>
                    <a:p>
                      <a:pPr algn="l">
                        <a:buNone/>
                      </a:pPr>
                      <a:r>
                        <a:rPr lang="en-US" sz="1050" b="1" i="0" u="none" strike="noStrike" cap="none" spc="0" dirty="0">
                          <a:solidFill>
                            <a:schemeClr val="tx1"/>
                          </a:solidFill>
                          <a:effectLst/>
                          <a:latin typeface="+mn-lt"/>
                          <a:ea typeface="+mn-ea"/>
                          <a:cs typeface="+mn-cs"/>
                          <a:sym typeface="Arial"/>
                        </a:rPr>
                        <a:t>Outcome verification</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dirty="0"/>
                        <a:t>Ground outcome claims in authoritative observations and account for stale reads or concurrent changes.</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0761567"/>
                  </a:ext>
                </a:extLst>
              </a:tr>
              <a:tr h="472188">
                <a:tc>
                  <a:txBody>
                    <a:bodyPr/>
                    <a:lstStyle/>
                    <a:p>
                      <a:pPr algn="l">
                        <a:buNone/>
                      </a:pPr>
                      <a:r>
                        <a:rPr lang="en-US" sz="1050" b="1" i="0" u="none" strike="noStrike" cap="none" spc="0" dirty="0">
                          <a:solidFill>
                            <a:schemeClr val="tx1"/>
                          </a:solidFill>
                          <a:effectLst/>
                          <a:latin typeface="+mn-lt"/>
                          <a:ea typeface="+mn-ea"/>
                          <a:cs typeface="+mn-cs"/>
                          <a:sym typeface="Arial"/>
                        </a:rPr>
                        <a:t>Resource control</a:t>
                      </a:r>
                      <a:r>
                        <a:rPr lang="en-US" sz="1050" b="1" i="0" u="none" strike="noStrike" cap="none" spc="0" dirty="0">
                          <a:solidFill>
                            <a:schemeClr val="accent4">
                              <a:lumMod val="75000"/>
                            </a:schemeClr>
                          </a:solidFill>
                          <a:effectLst/>
                          <a:latin typeface="+mn-lt"/>
                          <a:ea typeface="+mn-ea"/>
                          <a:cs typeface="+mn-cs"/>
                          <a:sym typeface="Arial"/>
                        </a:rPr>
                        <a:t>*</a:t>
                      </a:r>
                      <a:endParaRPr lang="en-US" sz="1100" b="0" i="0" dirty="0">
                        <a:solidFill>
                          <a:schemeClr val="accent4">
                            <a:lumMod val="75000"/>
                          </a:schemeClr>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dirty="0"/>
                        <a:t>Bound consumption; apply backpressure, deferral, or rejection when capacity is exhausted.</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0086642"/>
                  </a:ext>
                </a:extLst>
              </a:tr>
              <a:tr h="472188">
                <a:tc>
                  <a:txBody>
                    <a:bodyPr/>
                    <a:lstStyle/>
                    <a:p>
                      <a:pPr algn="l">
                        <a:buNone/>
                      </a:pPr>
                      <a:r>
                        <a:rPr lang="en-US" sz="1050" b="1" i="0" u="none" strike="noStrike" cap="none" spc="0" dirty="0">
                          <a:solidFill>
                            <a:schemeClr val="tx1"/>
                          </a:solidFill>
                          <a:effectLst/>
                          <a:latin typeface="+mn-lt"/>
                          <a:ea typeface="+mn-ea"/>
                          <a:cs typeface="+mn-cs"/>
                          <a:sym typeface="Arial"/>
                        </a:rPr>
                        <a:t>Effect safety</a:t>
                      </a:r>
                      <a:endParaRPr lang="en-US" sz="1100" b="0" i="0" dirty="0">
                        <a:solidFill>
                          <a:schemeClr val="accent4">
                            <a:lumMod val="75000"/>
                          </a:schemeClr>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dirty="0"/>
                        <a:t>Account for effects that may already have committed; use idempotency or reconciliation to prevent unintended duplication.</a:t>
                      </a:r>
                      <a:endParaRPr lang="en-US" sz="11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5493031"/>
                  </a:ext>
                </a:extLst>
              </a:tr>
              <a:tr h="513011">
                <a:tc>
                  <a:txBody>
                    <a:bodyPr/>
                    <a:lstStyle/>
                    <a:p>
                      <a:pPr algn="l">
                        <a:buNone/>
                      </a:pPr>
                      <a:r>
                        <a:rPr lang="en-US" sz="1050" b="1" i="0" u="none" strike="noStrike" cap="none" spc="0" dirty="0">
                          <a:solidFill>
                            <a:schemeClr val="tx1"/>
                          </a:solidFill>
                          <a:effectLst/>
                          <a:latin typeface="+mn-lt"/>
                          <a:ea typeface="+mn-ea"/>
                          <a:cs typeface="+mn-cs"/>
                          <a:sym typeface="Arial"/>
                        </a:rPr>
                        <a:t>Failure handling</a:t>
                      </a:r>
                      <a:r>
                        <a:rPr lang="en-US" sz="1050" b="1" i="0" u="none" strike="noStrike" cap="none" spc="0" dirty="0">
                          <a:solidFill>
                            <a:schemeClr val="accent4">
                              <a:lumMod val="75000"/>
                            </a:schemeClr>
                          </a:solidFill>
                          <a:effectLst/>
                          <a:latin typeface="+mn-lt"/>
                          <a:ea typeface="+mn-ea"/>
                          <a:cs typeface="+mn-cs"/>
                          <a:sym typeface="Arial"/>
                        </a:rPr>
                        <a:t>*</a:t>
                      </a:r>
                      <a:endParaRPr lang="en-US" sz="1100" b="0" i="0" dirty="0">
                        <a:solidFill>
                          <a:schemeClr val="accent4">
                            <a:lumMod val="75000"/>
                          </a:schemeClr>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dirty="0"/>
                        <a:t>Enforce explicit deadlines, distinguish retryable failures from refusals, and treat timeouts as uncertain outcomes.</a:t>
                      </a:r>
                      <a:endParaRPr lang="en-US" sz="12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7336757"/>
                  </a:ext>
                </a:extLst>
              </a:tr>
              <a:tr h="488853">
                <a:tc>
                  <a:txBody>
                    <a:bodyPr/>
                    <a:lstStyle/>
                    <a:p>
                      <a:pPr algn="l">
                        <a:buNone/>
                      </a:pPr>
                      <a:r>
                        <a:rPr lang="en-US" sz="1050" b="1" i="0" u="none" strike="noStrike" cap="none" spc="0" dirty="0">
                          <a:solidFill>
                            <a:schemeClr val="tx1"/>
                          </a:solidFill>
                          <a:effectLst/>
                          <a:latin typeface="+mn-lt"/>
                          <a:ea typeface="+mn-ea"/>
                          <a:cs typeface="+mn-cs"/>
                          <a:sym typeface="Arial"/>
                        </a:rPr>
                        <a:t>Crash recovery</a:t>
                      </a:r>
                      <a:r>
                        <a:rPr lang="en-US" sz="1050" b="1" i="0" u="none" strike="noStrike" cap="none" spc="0" dirty="0">
                          <a:solidFill>
                            <a:schemeClr val="accent4">
                              <a:lumMod val="75000"/>
                            </a:schemeClr>
                          </a:solidFill>
                          <a:effectLst/>
                          <a:latin typeface="+mn-lt"/>
                          <a:ea typeface="+mn-ea"/>
                          <a:cs typeface="+mn-cs"/>
                          <a:sym typeface="Arial"/>
                        </a:rPr>
                        <a:t>*</a:t>
                      </a:r>
                      <a:endParaRPr lang="en-US" sz="1100" b="0" i="0" dirty="0">
                        <a:solidFill>
                          <a:schemeClr val="accent4">
                            <a:lumMod val="75000"/>
                          </a:schemeClr>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u="none" strike="noStrike" cap="none" spc="0" dirty="0">
                          <a:solidFill>
                            <a:schemeClr val="tx1"/>
                          </a:solidFill>
                          <a:effectLst/>
                          <a:latin typeface="+mn-lt"/>
                          <a:ea typeface="+mn-ea"/>
                          <a:cs typeface="+mn-cs"/>
                          <a:sym typeface="Arial"/>
                        </a:rPr>
                        <a:t>Detect interrupted runs and recover accepted work from durable state, reconciling incomplete operations.</a:t>
                      </a:r>
                      <a:endParaRPr lang="en-US" sz="120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61973964"/>
                  </a:ext>
                </a:extLst>
              </a:tr>
            </a:tbl>
          </a:graphicData>
        </a:graphic>
      </p:graphicFrame>
      <p:sp>
        <p:nvSpPr>
          <p:cNvPr id="4" name="TextBox 3">
            <a:extLst>
              <a:ext uri="{FF2B5EF4-FFF2-40B4-BE49-F238E27FC236}">
                <a16:creationId xmlns:a16="http://schemas.microsoft.com/office/drawing/2014/main" id="{C1D8A80A-7A01-0B9A-96F3-232BA741CC93}"/>
              </a:ext>
            </a:extLst>
          </p:cNvPr>
          <p:cNvSpPr txBox="1"/>
          <p:nvPr/>
        </p:nvSpPr>
        <p:spPr>
          <a:xfrm>
            <a:off x="5463251" y="4613299"/>
            <a:ext cx="1313180" cy="261610"/>
          </a:xfrm>
          <a:prstGeom prst="rect">
            <a:avLst/>
          </a:prstGeom>
          <a:noFill/>
        </p:spPr>
        <p:txBody>
          <a:bodyPr wrap="none" rtlCol="0">
            <a:spAutoFit/>
          </a:bodyPr>
          <a:lstStyle/>
          <a:p>
            <a:pPr algn="l"/>
            <a:r>
              <a:rPr lang="en-US" sz="1100" i="1" dirty="0">
                <a:solidFill>
                  <a:schemeClr val="accent4">
                    <a:lumMod val="75000"/>
                  </a:schemeClr>
                </a:solidFill>
                <a:latin typeface="+mn-lt"/>
              </a:rPr>
              <a:t>* explored in HW3</a:t>
            </a:r>
          </a:p>
        </p:txBody>
      </p:sp>
    </p:spTree>
    <p:extLst>
      <p:ext uri="{BB962C8B-B14F-4D97-AF65-F5344CB8AC3E}">
        <p14:creationId xmlns:p14="http://schemas.microsoft.com/office/powerpoint/2010/main" val="29984834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7A3F4-65D5-8496-2C3B-9120AE742E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E38648-C6FF-1FC1-1C97-6C76AD3A263C}"/>
              </a:ext>
            </a:extLst>
          </p:cNvPr>
          <p:cNvSpPr>
            <a:spLocks noGrp="1"/>
          </p:cNvSpPr>
          <p:nvPr>
            <p:ph type="title"/>
          </p:nvPr>
        </p:nvSpPr>
        <p:spPr/>
        <p:txBody>
          <a:bodyPr>
            <a:normAutofit/>
          </a:bodyPr>
          <a:lstStyle/>
          <a:p>
            <a:r>
              <a:rPr lang="en-US" dirty="0"/>
              <a:t>A summary of Roles and Guarantees</a:t>
            </a:r>
          </a:p>
        </p:txBody>
      </p:sp>
      <p:sp>
        <p:nvSpPr>
          <p:cNvPr id="5" name="TextBox 4">
            <a:extLst>
              <a:ext uri="{FF2B5EF4-FFF2-40B4-BE49-F238E27FC236}">
                <a16:creationId xmlns:a16="http://schemas.microsoft.com/office/drawing/2014/main" id="{4AEA0B31-7982-F250-A7B0-3CE720F050CF}"/>
              </a:ext>
            </a:extLst>
          </p:cNvPr>
          <p:cNvSpPr txBox="1"/>
          <p:nvPr/>
        </p:nvSpPr>
        <p:spPr>
          <a:xfrm>
            <a:off x="121272" y="630050"/>
            <a:ext cx="6591649" cy="461665"/>
          </a:xfrm>
          <a:prstGeom prst="rect">
            <a:avLst/>
          </a:prstGeom>
          <a:solidFill>
            <a:srgbClr val="2A2A63"/>
          </a:solidFill>
        </p:spPr>
        <p:txBody>
          <a:bodyPr wrap="square" rtlCol="0">
            <a:spAutoFit/>
          </a:bodyPr>
          <a:lstStyle/>
          <a:p>
            <a:pPr algn="just"/>
            <a:r>
              <a:rPr lang="en-US" sz="1200" dirty="0">
                <a:solidFill>
                  <a:schemeClr val="accent2">
                    <a:lumMod val="10000"/>
                    <a:lumOff val="90000"/>
                  </a:schemeClr>
                </a:solidFill>
                <a:latin typeface="+mn-lt"/>
              </a:rPr>
              <a:t>Six core guarantees are required of a production agentic system, and none resides within a single component.</a:t>
            </a:r>
          </a:p>
        </p:txBody>
      </p:sp>
      <p:graphicFrame>
        <p:nvGraphicFramePr>
          <p:cNvPr id="3" name="Table 2">
            <a:extLst>
              <a:ext uri="{FF2B5EF4-FFF2-40B4-BE49-F238E27FC236}">
                <a16:creationId xmlns:a16="http://schemas.microsoft.com/office/drawing/2014/main" id="{2B955A1B-D3E5-E848-8A41-1EC474B7720F}"/>
              </a:ext>
            </a:extLst>
          </p:cNvPr>
          <p:cNvGraphicFramePr>
            <a:graphicFrameLocks noGrp="1"/>
          </p:cNvGraphicFramePr>
          <p:nvPr>
            <p:extLst>
              <p:ext uri="{D42A27DB-BD31-4B8C-83A1-F6EECF244321}">
                <p14:modId xmlns:p14="http://schemas.microsoft.com/office/powerpoint/2010/main" val="26445191"/>
              </p:ext>
            </p:extLst>
          </p:nvPr>
        </p:nvGraphicFramePr>
        <p:xfrm>
          <a:off x="121272" y="1273222"/>
          <a:ext cx="6580469" cy="3498670"/>
        </p:xfrm>
        <a:graphic>
          <a:graphicData uri="http://schemas.openxmlformats.org/drawingml/2006/table">
            <a:tbl>
              <a:tblPr>
                <a:tableStyleId>{2D5ABB26-0587-4C30-8999-92F81FD0307C}</a:tableStyleId>
              </a:tblPr>
              <a:tblGrid>
                <a:gridCol w="989898">
                  <a:extLst>
                    <a:ext uri="{9D8B030D-6E8A-4147-A177-3AD203B41FA5}">
                      <a16:colId xmlns:a16="http://schemas.microsoft.com/office/drawing/2014/main" val="826204326"/>
                    </a:ext>
                  </a:extLst>
                </a:gridCol>
                <a:gridCol w="2769039">
                  <a:extLst>
                    <a:ext uri="{9D8B030D-6E8A-4147-A177-3AD203B41FA5}">
                      <a16:colId xmlns:a16="http://schemas.microsoft.com/office/drawing/2014/main" val="2935441205"/>
                    </a:ext>
                  </a:extLst>
                </a:gridCol>
                <a:gridCol w="2821532">
                  <a:extLst>
                    <a:ext uri="{9D8B030D-6E8A-4147-A177-3AD203B41FA5}">
                      <a16:colId xmlns:a16="http://schemas.microsoft.com/office/drawing/2014/main" val="1065848616"/>
                    </a:ext>
                  </a:extLst>
                </a:gridCol>
              </a:tblGrid>
              <a:tr h="316414">
                <a:tc>
                  <a:txBody>
                    <a:bodyPr/>
                    <a:lstStyle/>
                    <a:p>
                      <a:pPr algn="l">
                        <a:buNone/>
                      </a:pPr>
                      <a:r>
                        <a:rPr lang="en-US" sz="1050" b="1" dirty="0">
                          <a:effectLst/>
                        </a:rPr>
                        <a:t>Component</a:t>
                      </a:r>
                      <a:endParaRPr lang="en-US" sz="105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1" i="0" dirty="0">
                          <a:solidFill>
                            <a:srgbClr val="000000"/>
                          </a:solidFill>
                          <a:effectLst/>
                          <a:latin typeface="Fira Sans" panose="020B0503050000020004" pitchFamily="34" charset="0"/>
                        </a:rPr>
                        <a:t>Guarantees it </a:t>
                      </a:r>
                      <a:r>
                        <a:rPr lang="en-US" sz="1050" b="1" dirty="0">
                          <a:effectLst/>
                        </a:rPr>
                        <a:t>owns</a:t>
                      </a:r>
                      <a:endParaRPr lang="en-US" sz="1050" b="0" i="0" dirty="0">
                        <a:solidFill>
                          <a:srgbClr val="000000"/>
                        </a:solidFill>
                        <a:effectLst/>
                        <a:latin typeface="Fira Sans" panose="020B0503050000020004" pitchFamily="34" charset="0"/>
                      </a:endParaRP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1" i="0" dirty="0">
                          <a:solidFill>
                            <a:srgbClr val="000000"/>
                          </a:solidFill>
                          <a:effectLst/>
                          <a:latin typeface="Fira Sans" panose="020B0503050000020004" pitchFamily="34" charset="0"/>
                        </a:rPr>
                        <a:t>Guarantees it doesn’t own</a:t>
                      </a:r>
                    </a:p>
                  </a:txBody>
                  <a:tcPr marL="95250" marR="95250" marT="47625" marB="47625"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0836564"/>
                  </a:ext>
                </a:extLst>
              </a:tr>
              <a:tr h="647433">
                <a:tc>
                  <a:txBody>
                    <a:bodyPr/>
                    <a:lstStyle/>
                    <a:p>
                      <a:pPr algn="l">
                        <a:buNone/>
                      </a:pPr>
                      <a:r>
                        <a:rPr lang="en-US" sz="1050" b="1" i="0" u="none" strike="noStrike" cap="none" spc="0" dirty="0">
                          <a:solidFill>
                            <a:schemeClr val="tx1"/>
                          </a:solidFill>
                          <a:effectLst/>
                          <a:latin typeface="+mn-lt"/>
                          <a:ea typeface="+mn-ea"/>
                          <a:cs typeface="+mn-cs"/>
                          <a:sym typeface="Arial"/>
                        </a:rPr>
                        <a:t>Model</a:t>
                      </a:r>
                      <a:endParaRPr lang="en-US" sz="105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1" dirty="0"/>
                        <a:t>None. </a:t>
                      </a:r>
                      <a:r>
                        <a:rPr lang="en-US" sz="1050" dirty="0"/>
                        <a:t>The model proposes, and a proposal is not a guarantee</a:t>
                      </a:r>
                      <a:endParaRPr lang="en-US" sz="105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1" i="0" dirty="0">
                          <a:solidFill>
                            <a:srgbClr val="000000"/>
                          </a:solidFill>
                          <a:effectLst/>
                          <a:latin typeface="Fira Sans" panose="020B0503050000020004" pitchFamily="34" charset="0"/>
                        </a:rPr>
                        <a:t>All six. </a:t>
                      </a:r>
                      <a:r>
                        <a:rPr lang="en-US" sz="1050" b="0" i="0" dirty="0">
                          <a:solidFill>
                            <a:srgbClr val="000000"/>
                          </a:solidFill>
                          <a:effectLst/>
                          <a:latin typeface="Fira Sans" panose="020B0503050000020004" pitchFamily="34" charset="0"/>
                        </a:rPr>
                        <a:t>Permission, durability and execution are held by other components.</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0761567"/>
                  </a:ext>
                </a:extLst>
              </a:tr>
              <a:tr h="472188">
                <a:tc>
                  <a:txBody>
                    <a:bodyPr/>
                    <a:lstStyle/>
                    <a:p>
                      <a:pPr algn="l">
                        <a:buNone/>
                      </a:pPr>
                      <a:r>
                        <a:rPr lang="en-US" sz="1050" b="1" i="0" u="none" strike="noStrike" cap="none" spc="0" dirty="0">
                          <a:solidFill>
                            <a:schemeClr val="tx1"/>
                          </a:solidFill>
                          <a:effectLst/>
                          <a:latin typeface="+mn-lt"/>
                          <a:ea typeface="+mn-ea"/>
                          <a:cs typeface="+mn-cs"/>
                          <a:sym typeface="Arial"/>
                        </a:rPr>
                        <a:t>Controller</a:t>
                      </a:r>
                      <a:endParaRPr lang="en-US" sz="105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1" i="0" u="none" strike="noStrike" cap="none" spc="0" dirty="0">
                          <a:solidFill>
                            <a:schemeClr val="tx1"/>
                          </a:solidFill>
                          <a:effectLst/>
                          <a:latin typeface="+mn-lt"/>
                          <a:ea typeface="+mn-ea"/>
                          <a:cs typeface="+mn-cs"/>
                          <a:sym typeface="Arial"/>
                        </a:rPr>
                        <a:t>Bounded execution</a:t>
                      </a:r>
                      <a:r>
                        <a:rPr lang="en-US" sz="1050" b="0" i="0" u="none" strike="noStrike" cap="none" spc="0" dirty="0">
                          <a:solidFill>
                            <a:schemeClr val="tx1"/>
                          </a:solidFill>
                          <a:effectLst/>
                          <a:latin typeface="+mn-lt"/>
                          <a:ea typeface="+mn-ea"/>
                          <a:cs typeface="+mn-cs"/>
                          <a:sym typeface="Arial"/>
                        </a:rPr>
                        <a:t> (will this run stop, and at what cost?) • </a:t>
                      </a:r>
                      <a:r>
                        <a:rPr lang="en-US" sz="1050" b="1" i="0" u="none" strike="noStrike" cap="none" spc="0" dirty="0">
                          <a:solidFill>
                            <a:schemeClr val="tx1"/>
                          </a:solidFill>
                          <a:effectLst/>
                          <a:latin typeface="+mn-lt"/>
                          <a:ea typeface="+mn-ea"/>
                          <a:cs typeface="+mn-cs"/>
                          <a:sym typeface="Arial"/>
                        </a:rPr>
                        <a:t>Recovery </a:t>
                      </a:r>
                      <a:r>
                        <a:rPr lang="en-US" sz="1050" b="0" i="0" u="none" strike="noStrike" cap="none" spc="0" dirty="0">
                          <a:solidFill>
                            <a:schemeClr val="tx1"/>
                          </a:solidFill>
                          <a:effectLst/>
                          <a:latin typeface="+mn-lt"/>
                          <a:ea typeface="+mn-ea"/>
                          <a:cs typeface="+mn-cs"/>
                          <a:sym typeface="Arial"/>
                        </a:rPr>
                        <a:t>(can accepted work be resumed rather than restarted?)</a:t>
                      </a:r>
                      <a:endParaRPr lang="en-US" sz="105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dirty="0">
                          <a:solidFill>
                            <a:srgbClr val="000000"/>
                          </a:solidFill>
                          <a:effectLst/>
                          <a:latin typeface="Fira Sans" panose="020B0503050000020004" pitchFamily="34" charset="0"/>
                        </a:rPr>
                        <a:t>External facts, the tool boundary's security, and the trace itself. </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0086642"/>
                  </a:ext>
                </a:extLst>
              </a:tr>
              <a:tr h="472188">
                <a:tc>
                  <a:txBody>
                    <a:bodyPr/>
                    <a:lstStyle/>
                    <a:p>
                      <a:pPr algn="l">
                        <a:buNone/>
                      </a:pPr>
                      <a:r>
                        <a:rPr lang="en-US" sz="1050" b="1" i="0" u="none" strike="noStrike" cap="none" spc="0" dirty="0">
                          <a:solidFill>
                            <a:schemeClr val="tx1"/>
                          </a:solidFill>
                          <a:effectLst/>
                          <a:latin typeface="+mn-lt"/>
                          <a:ea typeface="+mn-ea"/>
                          <a:cs typeface="+mn-cs"/>
                          <a:sym typeface="Arial"/>
                        </a:rPr>
                        <a:t>Tools</a:t>
                      </a:r>
                      <a:endParaRPr lang="en-US" sz="1050" b="0" i="0" dirty="0">
                        <a:solidFill>
                          <a:schemeClr val="accent4">
                            <a:lumMod val="75000"/>
                          </a:schemeClr>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1" i="0" u="none" strike="noStrike" cap="none" spc="0" dirty="0">
                          <a:solidFill>
                            <a:schemeClr val="tx1"/>
                          </a:solidFill>
                          <a:effectLst/>
                          <a:latin typeface="+mn-lt"/>
                          <a:ea typeface="+mn-ea"/>
                          <a:cs typeface="+mn-cs"/>
                          <a:sym typeface="Arial"/>
                        </a:rPr>
                        <a:t>Partial failure</a:t>
                      </a:r>
                      <a:r>
                        <a:rPr lang="en-US" sz="1050" b="0" i="0" u="none" strike="noStrike" cap="none" spc="0" dirty="0">
                          <a:solidFill>
                            <a:schemeClr val="tx1"/>
                          </a:solidFill>
                          <a:effectLst/>
                          <a:latin typeface="+mn-lt"/>
                          <a:ea typeface="+mn-ea"/>
                          <a:cs typeface="+mn-cs"/>
                          <a:sym typeface="Arial"/>
                        </a:rPr>
                        <a:t> (what happened when the call half-succeeded?) • </a:t>
                      </a:r>
                      <a:r>
                        <a:rPr lang="en-US" sz="1050" b="1" i="0" u="none" strike="noStrike" cap="none" spc="0" dirty="0">
                          <a:solidFill>
                            <a:schemeClr val="tx1"/>
                          </a:solidFill>
                          <a:effectLst/>
                          <a:latin typeface="+mn-lt"/>
                          <a:ea typeface="+mn-ea"/>
                          <a:cs typeface="+mn-cs"/>
                          <a:sym typeface="Arial"/>
                        </a:rPr>
                        <a:t>Security and permissions </a:t>
                      </a:r>
                      <a:r>
                        <a:rPr lang="en-US" sz="1050" b="0" i="0" u="none" strike="noStrike" cap="none" spc="0" dirty="0">
                          <a:solidFill>
                            <a:schemeClr val="tx1"/>
                          </a:solidFill>
                          <a:effectLst/>
                          <a:latin typeface="+mn-lt"/>
                          <a:ea typeface="+mn-ea"/>
                          <a:cs typeface="+mn-cs"/>
                          <a:sym typeface="Arial"/>
                        </a:rPr>
                        <a:t>(what may this run do, and to what may it not?)</a:t>
                      </a:r>
                      <a:endParaRPr lang="en-US" sz="105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dirty="0">
                          <a:solidFill>
                            <a:srgbClr val="000000"/>
                          </a:solidFill>
                          <a:effectLst/>
                          <a:latin typeface="Fira Sans" panose="020B0503050000020004" pitchFamily="34" charset="0"/>
                        </a:rPr>
                        <a:t>Goals, global policy, and whether the call should be issued at all. </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55493031"/>
                  </a:ext>
                </a:extLst>
              </a:tr>
              <a:tr h="647433">
                <a:tc>
                  <a:txBody>
                    <a:bodyPr/>
                    <a:lstStyle/>
                    <a:p>
                      <a:pPr algn="l">
                        <a:buNone/>
                      </a:pPr>
                      <a:r>
                        <a:rPr lang="en-US" sz="1050" b="1" i="0" u="none" strike="noStrike" cap="none" spc="0" dirty="0">
                          <a:solidFill>
                            <a:schemeClr val="tx1"/>
                          </a:solidFill>
                          <a:effectLst/>
                          <a:latin typeface="+mn-lt"/>
                          <a:ea typeface="+mn-ea"/>
                          <a:cs typeface="+mn-cs"/>
                          <a:sym typeface="Arial"/>
                        </a:rPr>
                        <a:t>State</a:t>
                      </a:r>
                      <a:endParaRPr lang="en-US" sz="105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1" i="0" u="none" strike="noStrike" cap="none" spc="0" dirty="0">
                          <a:solidFill>
                            <a:schemeClr val="tx1"/>
                          </a:solidFill>
                          <a:effectLst/>
                          <a:latin typeface="+mn-lt"/>
                          <a:ea typeface="+mn-ea"/>
                          <a:cs typeface="+mn-cs"/>
                          <a:sym typeface="Arial"/>
                        </a:rPr>
                        <a:t>Observability</a:t>
                      </a:r>
                      <a:r>
                        <a:rPr lang="en-US" sz="1050" b="0" i="0" u="none" strike="noStrike" cap="none" spc="0" dirty="0">
                          <a:solidFill>
                            <a:schemeClr val="tx1"/>
                          </a:solidFill>
                          <a:effectLst/>
                          <a:latin typeface="+mn-lt"/>
                          <a:ea typeface="+mn-ea"/>
                          <a:cs typeface="+mn-cs"/>
                          <a:sym typeface="Arial"/>
                        </a:rPr>
                        <a:t> (what is this run doing, observed from outside it?) • </a:t>
                      </a:r>
                      <a:r>
                        <a:rPr lang="en-US" sz="1050" b="1" i="0" u="none" strike="noStrike" cap="none" spc="0" dirty="0">
                          <a:solidFill>
                            <a:schemeClr val="tx1"/>
                          </a:solidFill>
                          <a:effectLst/>
                          <a:latin typeface="+mn-lt"/>
                          <a:ea typeface="+mn-ea"/>
                          <a:cs typeface="+mn-cs"/>
                          <a:sym typeface="Arial"/>
                        </a:rPr>
                        <a:t>Reproducibility </a:t>
                      </a:r>
                      <a:r>
                        <a:rPr lang="en-US" sz="1050" b="0" i="0" u="none" strike="noStrike" cap="none" spc="0" dirty="0">
                          <a:solidFill>
                            <a:schemeClr val="tx1"/>
                          </a:solidFill>
                          <a:effectLst/>
                          <a:latin typeface="+mn-lt"/>
                          <a:ea typeface="+mn-ea"/>
                          <a:cs typeface="+mn-cs"/>
                          <a:sym typeface="Arial"/>
                        </a:rPr>
                        <a:t>(could a third party obtain a compatible result?)</a:t>
                      </a:r>
                      <a:endParaRPr lang="en-US" sz="105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0" i="0" dirty="0">
                          <a:solidFill>
                            <a:srgbClr val="000000"/>
                          </a:solidFill>
                          <a:effectLst/>
                          <a:latin typeface="Fira Sans" panose="020B0503050000020004" pitchFamily="34" charset="0"/>
                        </a:rPr>
                        <a:t>Decision-making. State records what happened and never selects what happens next</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7336757"/>
                  </a:ext>
                </a:extLst>
              </a:tr>
              <a:tr h="488853">
                <a:tc>
                  <a:txBody>
                    <a:bodyPr/>
                    <a:lstStyle/>
                    <a:p>
                      <a:pPr algn="l">
                        <a:buNone/>
                      </a:pPr>
                      <a:r>
                        <a:rPr lang="en-US" sz="1050" b="1" i="0" u="none" strike="noStrike" cap="none" spc="0" dirty="0">
                          <a:solidFill>
                            <a:schemeClr val="tx1"/>
                          </a:solidFill>
                          <a:effectLst/>
                          <a:latin typeface="+mn-lt"/>
                          <a:ea typeface="+mn-ea"/>
                          <a:cs typeface="+mn-cs"/>
                          <a:sym typeface="Arial"/>
                        </a:rPr>
                        <a:t>Environment</a:t>
                      </a:r>
                      <a:endParaRPr lang="en-US" sz="105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buNone/>
                      </a:pPr>
                      <a:r>
                        <a:rPr lang="en-US" sz="1050" b="1" i="0" u="none" strike="noStrike" cap="none" spc="0" dirty="0">
                          <a:solidFill>
                            <a:schemeClr val="tx1"/>
                          </a:solidFill>
                          <a:effectLst/>
                          <a:latin typeface="+mn-lt"/>
                          <a:ea typeface="+mn-ea"/>
                          <a:cs typeface="+mn-cs"/>
                          <a:sym typeface="Arial"/>
                        </a:rPr>
                        <a:t>None.</a:t>
                      </a:r>
                      <a:r>
                        <a:rPr lang="en-US" sz="1050" b="0" i="0" u="none" strike="noStrike" cap="none" spc="0" dirty="0">
                          <a:solidFill>
                            <a:schemeClr val="tx1"/>
                          </a:solidFill>
                          <a:effectLst/>
                          <a:latin typeface="+mn-lt"/>
                          <a:ea typeface="+mn-ea"/>
                          <a:cs typeface="+mn-cs"/>
                          <a:sym typeface="Arial"/>
                        </a:rPr>
                        <a:t> The environment is what the guarantees are held against</a:t>
                      </a:r>
                      <a:endParaRPr lang="en-US" sz="1050" b="0" i="0" dirty="0">
                        <a:solidFill>
                          <a:srgbClr val="000000"/>
                        </a:solidFill>
                        <a:effectLst/>
                        <a:latin typeface="Fira Sans" panose="020B0503050000020004" pitchFamily="34" charset="0"/>
                      </a:endParaRP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sz="1050" b="0" i="0" dirty="0">
                          <a:solidFill>
                            <a:srgbClr val="000000"/>
                          </a:solidFill>
                          <a:effectLst/>
                          <a:latin typeface="Fira Sans" panose="020B0503050000020004" pitchFamily="34" charset="0"/>
                        </a:rPr>
                        <a:t>-</a:t>
                      </a:r>
                    </a:p>
                  </a:txBody>
                  <a:tcPr marL="95250" marR="95250" marT="47625" marB="47625"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61973964"/>
                  </a:ext>
                </a:extLst>
              </a:tr>
            </a:tbl>
          </a:graphicData>
        </a:graphic>
      </p:graphicFrame>
    </p:spTree>
    <p:extLst>
      <p:ext uri="{BB962C8B-B14F-4D97-AF65-F5344CB8AC3E}">
        <p14:creationId xmlns:p14="http://schemas.microsoft.com/office/powerpoint/2010/main" val="15968239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CF385-4331-2864-08FA-EAAAF7AEF31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27153EB-CB0B-36C0-032A-4FB872EA769B}"/>
              </a:ext>
            </a:extLst>
          </p:cNvPr>
          <p:cNvSpPr txBox="1"/>
          <p:nvPr/>
        </p:nvSpPr>
        <p:spPr>
          <a:xfrm>
            <a:off x="719302" y="1910030"/>
            <a:ext cx="5419396" cy="1323439"/>
          </a:xfrm>
          <a:prstGeom prst="rect">
            <a:avLst/>
          </a:prstGeom>
          <a:noFill/>
        </p:spPr>
        <p:txBody>
          <a:bodyPr wrap="square" rtlCol="0">
            <a:spAutoFit/>
          </a:bodyPr>
          <a:lstStyle/>
          <a:p>
            <a:pPr algn="ctr"/>
            <a:r>
              <a:rPr lang="en-US" sz="4000" b="1" dirty="0">
                <a:solidFill>
                  <a:schemeClr val="bg2">
                    <a:lumMod val="20000"/>
                    <a:lumOff val="80000"/>
                  </a:schemeClr>
                </a:solidFill>
                <a:latin typeface="+mj-lt"/>
              </a:rPr>
              <a:t>Assignments and what you will build</a:t>
            </a:r>
          </a:p>
        </p:txBody>
      </p:sp>
    </p:spTree>
    <p:extLst>
      <p:ext uri="{BB962C8B-B14F-4D97-AF65-F5344CB8AC3E}">
        <p14:creationId xmlns:p14="http://schemas.microsoft.com/office/powerpoint/2010/main" val="34742737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56DFD-18EF-0051-FD03-14D19614E3C1}"/>
              </a:ext>
            </a:extLst>
          </p:cNvPr>
          <p:cNvSpPr>
            <a:spLocks noGrp="1"/>
          </p:cNvSpPr>
          <p:nvPr>
            <p:ph type="title"/>
          </p:nvPr>
        </p:nvSpPr>
        <p:spPr/>
        <p:txBody>
          <a:bodyPr/>
          <a:lstStyle/>
          <a:p>
            <a:r>
              <a:rPr lang="en-US" dirty="0"/>
              <a:t>Problem Statement</a:t>
            </a:r>
          </a:p>
        </p:txBody>
      </p:sp>
      <p:sp>
        <p:nvSpPr>
          <p:cNvPr id="3" name="Content Placeholder 2">
            <a:extLst>
              <a:ext uri="{FF2B5EF4-FFF2-40B4-BE49-F238E27FC236}">
                <a16:creationId xmlns:a16="http://schemas.microsoft.com/office/drawing/2014/main" id="{3EBAAED3-709B-D562-7761-477A32999403}"/>
              </a:ext>
            </a:extLst>
          </p:cNvPr>
          <p:cNvSpPr>
            <a:spLocks noGrp="1"/>
          </p:cNvSpPr>
          <p:nvPr>
            <p:ph idx="1"/>
          </p:nvPr>
        </p:nvSpPr>
        <p:spPr>
          <a:xfrm>
            <a:off x="196250" y="726503"/>
            <a:ext cx="6451478" cy="1368515"/>
          </a:xfrm>
          <a:ln w="19050">
            <a:solidFill>
              <a:srgbClr val="2A2A63"/>
            </a:solidFill>
          </a:ln>
        </p:spPr>
        <p:txBody>
          <a:bodyPr>
            <a:normAutofit/>
          </a:bodyPr>
          <a:lstStyle/>
          <a:p>
            <a:pPr marL="125747" indent="0">
              <a:lnSpc>
                <a:spcPct val="160000"/>
              </a:lnSpc>
              <a:buNone/>
            </a:pPr>
            <a:r>
              <a:rPr lang="en-US" sz="1200" dirty="0"/>
              <a:t>Develop an agentic system that </a:t>
            </a:r>
            <a:r>
              <a:rPr lang="en-US" sz="1200" b="1" dirty="0"/>
              <a:t>analyzes a reference application, identifies potential vulnerabilities, and produces a prioritized set of evidence-backed findings for human review</a:t>
            </a:r>
            <a:r>
              <a:rPr lang="en-US" sz="1200" dirty="0"/>
              <a:t>. The application is pinned to a specific repository commit, and a course-provided catalogue of known vulnerabilities establishes the ground truth for evaluation.</a:t>
            </a:r>
          </a:p>
        </p:txBody>
      </p:sp>
      <p:sp>
        <p:nvSpPr>
          <p:cNvPr id="4" name="TextBox 3">
            <a:extLst>
              <a:ext uri="{FF2B5EF4-FFF2-40B4-BE49-F238E27FC236}">
                <a16:creationId xmlns:a16="http://schemas.microsoft.com/office/drawing/2014/main" id="{F7C20053-6AAB-005D-32D8-7EE95366511C}"/>
              </a:ext>
            </a:extLst>
          </p:cNvPr>
          <p:cNvSpPr txBox="1"/>
          <p:nvPr/>
        </p:nvSpPr>
        <p:spPr>
          <a:xfrm>
            <a:off x="219919" y="2229475"/>
            <a:ext cx="6427809" cy="2187522"/>
          </a:xfrm>
          <a:prstGeom prst="rect">
            <a:avLst/>
          </a:prstGeom>
          <a:noFill/>
        </p:spPr>
        <p:txBody>
          <a:bodyPr wrap="square" rtlCol="0">
            <a:spAutoFit/>
          </a:bodyPr>
          <a:lstStyle/>
          <a:p>
            <a:pPr algn="l">
              <a:lnSpc>
                <a:spcPct val="150000"/>
              </a:lnSpc>
            </a:pPr>
            <a:r>
              <a:rPr lang="en-US" sz="1200" dirty="0">
                <a:latin typeface="+mn-lt"/>
              </a:rPr>
              <a:t>The system must perform three functions: </a:t>
            </a:r>
            <a:br>
              <a:rPr lang="en-US" sz="1200" dirty="0">
                <a:latin typeface="+mn-lt"/>
              </a:rPr>
            </a:br>
            <a:r>
              <a:rPr lang="en-US" sz="1200" dirty="0">
                <a:latin typeface="+mn-lt"/>
              </a:rPr>
              <a:t>1. </a:t>
            </a:r>
            <a:r>
              <a:rPr lang="en-US" sz="1200" b="1" dirty="0">
                <a:latin typeface="+mn-lt"/>
              </a:rPr>
              <a:t>Discover</a:t>
            </a:r>
            <a:r>
              <a:rPr lang="en-US" sz="1200" dirty="0">
                <a:latin typeface="+mn-lt"/>
              </a:rPr>
              <a:t> candidate vulnerabilities, </a:t>
            </a:r>
            <a:br>
              <a:rPr lang="en-US" sz="1200" dirty="0">
                <a:latin typeface="+mn-lt"/>
              </a:rPr>
            </a:br>
            <a:r>
              <a:rPr lang="en-US" sz="1200" dirty="0">
                <a:latin typeface="+mn-lt"/>
              </a:rPr>
              <a:t>2. </a:t>
            </a:r>
            <a:r>
              <a:rPr lang="en-US" sz="1200" b="1" dirty="0">
                <a:latin typeface="+mn-lt"/>
              </a:rPr>
              <a:t>Triage</a:t>
            </a:r>
            <a:r>
              <a:rPr lang="en-US" sz="1200" dirty="0">
                <a:latin typeface="+mn-lt"/>
              </a:rPr>
              <a:t> candidates to reduce unnecessary human review, and </a:t>
            </a:r>
          </a:p>
          <a:p>
            <a:pPr algn="l">
              <a:lnSpc>
                <a:spcPct val="150000"/>
              </a:lnSpc>
            </a:pPr>
            <a:r>
              <a:rPr lang="en-US" sz="1200" dirty="0">
                <a:latin typeface="+mn-lt"/>
              </a:rPr>
              <a:t>3. </a:t>
            </a:r>
            <a:r>
              <a:rPr lang="en-US" sz="1200" b="1" dirty="0">
                <a:latin typeface="+mn-lt"/>
              </a:rPr>
              <a:t>Validate</a:t>
            </a:r>
            <a:r>
              <a:rPr lang="en-US" sz="1200" dirty="0">
                <a:latin typeface="+mn-lt"/>
              </a:rPr>
              <a:t> retained candidates against inspectable evidence. </a:t>
            </a:r>
          </a:p>
          <a:p>
            <a:pPr algn="l"/>
            <a:endParaRPr lang="en-US" sz="1200" dirty="0">
              <a:latin typeface="+mn-lt"/>
            </a:endParaRPr>
          </a:p>
          <a:p>
            <a:pPr algn="l">
              <a:lnSpc>
                <a:spcPct val="150000"/>
              </a:lnSpc>
            </a:pPr>
            <a:r>
              <a:rPr lang="en-US" sz="1200" dirty="0">
                <a:latin typeface="+mn-lt"/>
              </a:rPr>
              <a:t>Each verdict must </a:t>
            </a:r>
            <a:r>
              <a:rPr lang="en-US" sz="1200" b="1" dirty="0">
                <a:latin typeface="+mn-lt"/>
              </a:rPr>
              <a:t>identify the relevant source locations, explain what was established, and reference artifacts that a reviewer can open independently </a:t>
            </a:r>
            <a:r>
              <a:rPr lang="en-US" sz="1200" dirty="0">
                <a:latin typeface="+mn-lt"/>
              </a:rPr>
              <a:t>of the agent’s conversation.</a:t>
            </a:r>
          </a:p>
        </p:txBody>
      </p:sp>
    </p:spTree>
    <p:extLst>
      <p:ext uri="{BB962C8B-B14F-4D97-AF65-F5344CB8AC3E}">
        <p14:creationId xmlns:p14="http://schemas.microsoft.com/office/powerpoint/2010/main" val="22574592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91C51-18CC-9519-B131-F75C35301D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FB4F8-21C4-F60D-F76F-E3DBEE1CA88C}"/>
              </a:ext>
            </a:extLst>
          </p:cNvPr>
          <p:cNvSpPr>
            <a:spLocks noGrp="1"/>
          </p:cNvSpPr>
          <p:nvPr>
            <p:ph type="title"/>
          </p:nvPr>
        </p:nvSpPr>
        <p:spPr/>
        <p:txBody>
          <a:bodyPr/>
          <a:lstStyle/>
          <a:p>
            <a:r>
              <a:rPr lang="en-US" dirty="0"/>
              <a:t>Cumulative assignments over the same system</a:t>
            </a:r>
          </a:p>
        </p:txBody>
      </p:sp>
      <p:sp>
        <p:nvSpPr>
          <p:cNvPr id="3" name="Content Placeholder 2">
            <a:extLst>
              <a:ext uri="{FF2B5EF4-FFF2-40B4-BE49-F238E27FC236}">
                <a16:creationId xmlns:a16="http://schemas.microsoft.com/office/drawing/2014/main" id="{4FD1E419-857B-B338-9074-4606A58CC1DD}"/>
              </a:ext>
            </a:extLst>
          </p:cNvPr>
          <p:cNvSpPr>
            <a:spLocks noGrp="1"/>
          </p:cNvSpPr>
          <p:nvPr>
            <p:ph idx="1"/>
          </p:nvPr>
        </p:nvSpPr>
        <p:spPr>
          <a:xfrm>
            <a:off x="196250" y="726504"/>
            <a:ext cx="6451478" cy="610800"/>
          </a:xfrm>
          <a:ln w="19050">
            <a:solidFill>
              <a:srgbClr val="2A2A63"/>
            </a:solidFill>
          </a:ln>
        </p:spPr>
        <p:txBody>
          <a:bodyPr>
            <a:normAutofit lnSpcReduction="10000"/>
          </a:bodyPr>
          <a:lstStyle/>
          <a:p>
            <a:pPr marL="125747" indent="0">
              <a:buNone/>
            </a:pPr>
            <a:r>
              <a:rPr lang="en-US" sz="1200" dirty="0"/>
              <a:t>Each assignment introduces a new engineering focus while preserving the mechanisms established in earlier assignments.</a:t>
            </a:r>
          </a:p>
        </p:txBody>
      </p:sp>
      <p:graphicFrame>
        <p:nvGraphicFramePr>
          <p:cNvPr id="5" name="Table 4">
            <a:extLst>
              <a:ext uri="{FF2B5EF4-FFF2-40B4-BE49-F238E27FC236}">
                <a16:creationId xmlns:a16="http://schemas.microsoft.com/office/drawing/2014/main" id="{2223B656-7B2A-2505-4804-57ABF8408DD0}"/>
              </a:ext>
            </a:extLst>
          </p:cNvPr>
          <p:cNvGraphicFramePr>
            <a:graphicFrameLocks noGrp="1"/>
          </p:cNvGraphicFramePr>
          <p:nvPr>
            <p:extLst>
              <p:ext uri="{D42A27DB-BD31-4B8C-83A1-F6EECF244321}">
                <p14:modId xmlns:p14="http://schemas.microsoft.com/office/powerpoint/2010/main" val="3718069647"/>
              </p:ext>
            </p:extLst>
          </p:nvPr>
        </p:nvGraphicFramePr>
        <p:xfrm>
          <a:off x="223056" y="1729643"/>
          <a:ext cx="6397863" cy="2781768"/>
        </p:xfrm>
        <a:graphic>
          <a:graphicData uri="http://schemas.openxmlformats.org/drawingml/2006/table">
            <a:tbl>
              <a:tblPr>
                <a:tableStyleId>{5C22544A-7EE6-4342-B048-85BDC9FD1C3A}</a:tableStyleId>
              </a:tblPr>
              <a:tblGrid>
                <a:gridCol w="1401389">
                  <a:extLst>
                    <a:ext uri="{9D8B030D-6E8A-4147-A177-3AD203B41FA5}">
                      <a16:colId xmlns:a16="http://schemas.microsoft.com/office/drawing/2014/main" val="3587578918"/>
                    </a:ext>
                  </a:extLst>
                </a:gridCol>
                <a:gridCol w="1778512">
                  <a:extLst>
                    <a:ext uri="{9D8B030D-6E8A-4147-A177-3AD203B41FA5}">
                      <a16:colId xmlns:a16="http://schemas.microsoft.com/office/drawing/2014/main" val="1386022107"/>
                    </a:ext>
                  </a:extLst>
                </a:gridCol>
                <a:gridCol w="3217962">
                  <a:extLst>
                    <a:ext uri="{9D8B030D-6E8A-4147-A177-3AD203B41FA5}">
                      <a16:colId xmlns:a16="http://schemas.microsoft.com/office/drawing/2014/main" val="84627958"/>
                    </a:ext>
                  </a:extLst>
                </a:gridCol>
              </a:tblGrid>
              <a:tr h="236064">
                <a:tc>
                  <a:txBody>
                    <a:bodyPr/>
                    <a:lstStyle/>
                    <a:p>
                      <a:pPr>
                        <a:buNone/>
                      </a:pPr>
                      <a:r>
                        <a:rPr lang="en-US" sz="1000" b="1" dirty="0"/>
                        <a:t>Assignment</a:t>
                      </a:r>
                    </a:p>
                  </a:txBody>
                  <a:tcPr marL="85841" marR="85841" marT="42921" marB="42921"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b="1"/>
                        <a:t>Engineering objective</a:t>
                      </a:r>
                    </a:p>
                  </a:txBody>
                  <a:tcPr marL="85841" marR="85841" marT="42921" marB="42921"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b="1" dirty="0"/>
                        <a:t>Required mechanisms</a:t>
                      </a:r>
                    </a:p>
                  </a:txBody>
                  <a:tcPr marL="85841" marR="85841" marT="42921" marB="42921"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7260472"/>
                  </a:ext>
                </a:extLst>
              </a:tr>
              <a:tr h="597860">
                <a:tc>
                  <a:txBody>
                    <a:bodyPr/>
                    <a:lstStyle/>
                    <a:p>
                      <a:pPr>
                        <a:buNone/>
                      </a:pPr>
                      <a:r>
                        <a:rPr lang="en-US" sz="1000" dirty="0"/>
                        <a:t>HW1 — Bounded execution</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dirty="0"/>
                        <a:t>Establish a working agent whose execution is explicit and resource-bounded.</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b="1" dirty="0"/>
                        <a:t>One sequential reactive agent</a:t>
                      </a:r>
                      <a:r>
                        <a:rPr lang="en-US" sz="1000" dirty="0"/>
                        <a:t>; local read and search tools; </a:t>
                      </a:r>
                      <a:r>
                        <a:rPr lang="en-US" sz="1000" b="1" dirty="0"/>
                        <a:t>explicit state transitions; structured findings and evidence</a:t>
                      </a:r>
                      <a:r>
                        <a:rPr lang="en-US" sz="1000" dirty="0"/>
                        <a:t>; and a configurable </a:t>
                      </a:r>
                      <a:r>
                        <a:rPr lang="en-US" sz="1000" b="1" dirty="0"/>
                        <a:t>per-run model-token budget enforced</a:t>
                      </a:r>
                      <a:r>
                        <a:rPr lang="en-US" sz="1000" dirty="0"/>
                        <a:t> before every invocation.</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37543964"/>
                  </a:ext>
                </a:extLst>
              </a:tr>
              <a:tr h="641269">
                <a:tc>
                  <a:txBody>
                    <a:bodyPr/>
                    <a:lstStyle/>
                    <a:p>
                      <a:pPr>
                        <a:buNone/>
                      </a:pPr>
                      <a:r>
                        <a:rPr lang="en-US" sz="1000"/>
                        <a:t>HW2 — Tool interfaces and coordinated execution</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dirty="0"/>
                        <a:t>Extend the agent with structured program-analysis tools (</a:t>
                      </a:r>
                      <a:r>
                        <a:rPr lang="en-US" sz="1000" dirty="0">
                          <a:hlinkClick r:id="rId2"/>
                        </a:rPr>
                        <a:t>CLDK</a:t>
                      </a:r>
                      <a:r>
                        <a:rPr lang="en-US" sz="1000" dirty="0"/>
                        <a:t>) and controlled workflow execution.</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dirty="0"/>
                        <a:t>An </a:t>
                      </a:r>
                      <a:r>
                        <a:rPr lang="en-US" sz="1000" b="1" dirty="0"/>
                        <a:t>MCP server exposing read-only </a:t>
                      </a:r>
                      <a:r>
                        <a:rPr lang="en-US" sz="1000" b="1" dirty="0">
                          <a:hlinkClick r:id="rId2"/>
                        </a:rPr>
                        <a:t>CLDK</a:t>
                      </a:r>
                      <a:r>
                        <a:rPr lang="en-US" sz="1000" b="1" dirty="0"/>
                        <a:t> operations</a:t>
                      </a:r>
                      <a:r>
                        <a:rPr lang="en-US" sz="1000" dirty="0"/>
                        <a:t>; integration with the existing agent; a </a:t>
                      </a:r>
                      <a:r>
                        <a:rPr lang="en-US" sz="1000" b="1" dirty="0"/>
                        <a:t>staged workflow with conditional routing; and sequential and bounded-concurrent execution modes</a:t>
                      </a:r>
                      <a:r>
                        <a:rPr lang="en-US" sz="1000" dirty="0"/>
                        <a:t>.</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407107"/>
                  </a:ext>
                </a:extLst>
              </a:tr>
              <a:tr h="470522">
                <a:tc>
                  <a:txBody>
                    <a:bodyPr/>
                    <a:lstStyle/>
                    <a:p>
                      <a:pPr>
                        <a:buNone/>
                      </a:pPr>
                      <a:r>
                        <a:rPr lang="en-US" sz="1000"/>
                        <a:t>HW3 — Recoverable deployment</a:t>
                      </a:r>
                    </a:p>
                  </a:txBody>
                  <a:tcPr marL="85841" marR="85841" marT="42921" marB="42921"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US" sz="1000" dirty="0"/>
                        <a:t>Integrate context management, durable state, and recovery in a deployed prototype.</a:t>
                      </a:r>
                    </a:p>
                  </a:txBody>
                  <a:tcPr marL="85841" marR="85841" marT="42921" marB="42921"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US" sz="1000" b="1" dirty="0"/>
                        <a:t>Explore context-selection and compaction mechanism</a:t>
                      </a:r>
                      <a:r>
                        <a:rPr lang="en-US" sz="1000" dirty="0"/>
                        <a:t> that preserves artifact references and source identity; </a:t>
                      </a:r>
                      <a:r>
                        <a:rPr lang="en-US" sz="1000" b="1" dirty="0"/>
                        <a:t>persisted run, progress, and accounting state; one durably committed stage checkpoint</a:t>
                      </a:r>
                      <a:r>
                        <a:rPr lang="en-US" sz="1000" dirty="0"/>
                        <a:t>; and </a:t>
                      </a:r>
                      <a:r>
                        <a:rPr lang="en-US" sz="1000" b="1" dirty="0"/>
                        <a:t>deployment on a local KIND cluster</a:t>
                      </a:r>
                      <a:r>
                        <a:rPr lang="en-US" sz="1000" dirty="0"/>
                        <a:t>.</a:t>
                      </a:r>
                    </a:p>
                  </a:txBody>
                  <a:tcPr marL="85841" marR="85841" marT="42921" marB="42921"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9360537"/>
                  </a:ext>
                </a:extLst>
              </a:tr>
            </a:tbl>
          </a:graphicData>
        </a:graphic>
      </p:graphicFrame>
    </p:spTree>
    <p:extLst>
      <p:ext uri="{BB962C8B-B14F-4D97-AF65-F5344CB8AC3E}">
        <p14:creationId xmlns:p14="http://schemas.microsoft.com/office/powerpoint/2010/main" val="15189462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D6A4A-6F12-B819-49F7-B589B44132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39CBA-E090-712D-FAEB-46D82FC39ED2}"/>
              </a:ext>
            </a:extLst>
          </p:cNvPr>
          <p:cNvSpPr>
            <a:spLocks noGrp="1"/>
          </p:cNvSpPr>
          <p:nvPr>
            <p:ph type="title"/>
          </p:nvPr>
        </p:nvSpPr>
        <p:spPr/>
        <p:txBody>
          <a:bodyPr/>
          <a:lstStyle/>
          <a:p>
            <a:r>
              <a:rPr lang="en-US" dirty="0"/>
              <a:t>What the Course Provides</a:t>
            </a:r>
          </a:p>
        </p:txBody>
      </p:sp>
      <p:sp>
        <p:nvSpPr>
          <p:cNvPr id="3" name="Content Placeholder 2">
            <a:extLst>
              <a:ext uri="{FF2B5EF4-FFF2-40B4-BE49-F238E27FC236}">
                <a16:creationId xmlns:a16="http://schemas.microsoft.com/office/drawing/2014/main" id="{51CD0270-AEE4-AC3C-1126-B177CAE98A7B}"/>
              </a:ext>
            </a:extLst>
          </p:cNvPr>
          <p:cNvSpPr>
            <a:spLocks noGrp="1"/>
          </p:cNvSpPr>
          <p:nvPr>
            <p:ph idx="1"/>
          </p:nvPr>
        </p:nvSpPr>
        <p:spPr>
          <a:xfrm>
            <a:off x="196250" y="630049"/>
            <a:ext cx="6451478" cy="1099593"/>
          </a:xfrm>
          <a:ln w="19050">
            <a:solidFill>
              <a:srgbClr val="2A2A63"/>
            </a:solidFill>
          </a:ln>
        </p:spPr>
        <p:txBody>
          <a:bodyPr>
            <a:normAutofit/>
          </a:bodyPr>
          <a:lstStyle/>
          <a:p>
            <a:pPr marL="125747" indent="0">
              <a:buNone/>
            </a:pPr>
            <a:r>
              <a:rPr lang="en-US" sz="1200" dirty="0"/>
              <a:t>The course provides the application, analysis tools, model access, and experimental scaffolding needed to begin. Students are responsible for designing the agent architecture, integrating its components, and implementing and evaluating the required systems mechanisms.</a:t>
            </a:r>
          </a:p>
        </p:txBody>
      </p:sp>
      <p:graphicFrame>
        <p:nvGraphicFramePr>
          <p:cNvPr id="5" name="Table 4">
            <a:extLst>
              <a:ext uri="{FF2B5EF4-FFF2-40B4-BE49-F238E27FC236}">
                <a16:creationId xmlns:a16="http://schemas.microsoft.com/office/drawing/2014/main" id="{BCD6238F-6B63-DAC5-A1EF-4802A4F6EE0E}"/>
              </a:ext>
            </a:extLst>
          </p:cNvPr>
          <p:cNvGraphicFramePr>
            <a:graphicFrameLocks noGrp="1"/>
          </p:cNvGraphicFramePr>
          <p:nvPr>
            <p:extLst>
              <p:ext uri="{D42A27DB-BD31-4B8C-83A1-F6EECF244321}">
                <p14:modId xmlns:p14="http://schemas.microsoft.com/office/powerpoint/2010/main" val="1845825329"/>
              </p:ext>
            </p:extLst>
          </p:nvPr>
        </p:nvGraphicFramePr>
        <p:xfrm>
          <a:off x="321597" y="1976570"/>
          <a:ext cx="6200781" cy="2648652"/>
        </p:xfrm>
        <a:graphic>
          <a:graphicData uri="http://schemas.openxmlformats.org/drawingml/2006/table">
            <a:tbl>
              <a:tblPr>
                <a:tableStyleId>{5C22544A-7EE6-4342-B048-85BDC9FD1C3A}</a:tableStyleId>
              </a:tblPr>
              <a:tblGrid>
                <a:gridCol w="1401389">
                  <a:extLst>
                    <a:ext uri="{9D8B030D-6E8A-4147-A177-3AD203B41FA5}">
                      <a16:colId xmlns:a16="http://schemas.microsoft.com/office/drawing/2014/main" val="3587578918"/>
                    </a:ext>
                  </a:extLst>
                </a:gridCol>
                <a:gridCol w="4799392">
                  <a:extLst>
                    <a:ext uri="{9D8B030D-6E8A-4147-A177-3AD203B41FA5}">
                      <a16:colId xmlns:a16="http://schemas.microsoft.com/office/drawing/2014/main" val="1386022107"/>
                    </a:ext>
                  </a:extLst>
                </a:gridCol>
              </a:tblGrid>
              <a:tr h="236064">
                <a:tc>
                  <a:txBody>
                    <a:bodyPr/>
                    <a:lstStyle/>
                    <a:p>
                      <a:pPr>
                        <a:buNone/>
                      </a:pPr>
                      <a:r>
                        <a:rPr lang="en-US" sz="1000" b="1" dirty="0"/>
                        <a:t>Support</a:t>
                      </a:r>
                    </a:p>
                  </a:txBody>
                  <a:tcPr marL="85841" marR="85841" marT="42921" marB="42921"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b="1" dirty="0"/>
                        <a:t>What students receive</a:t>
                      </a:r>
                    </a:p>
                  </a:txBody>
                  <a:tcPr marL="85841" marR="85841" marT="42921" marB="42921"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7260472"/>
                  </a:ext>
                </a:extLst>
              </a:tr>
              <a:tr h="0">
                <a:tc>
                  <a:txBody>
                    <a:bodyPr/>
                    <a:lstStyle/>
                    <a:p>
                      <a:pPr>
                        <a:buNone/>
                      </a:pPr>
                      <a:r>
                        <a:rPr lang="en-US" sz="1000" dirty="0"/>
                        <a:t>Reference applications</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dirty="0"/>
                        <a:t>A course-selected OWASP application in Python and Typescript, pinned to a specific commit, with setup instructions, test data, and a clearly defined testing scope.</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37543964"/>
                  </a:ext>
                </a:extLst>
              </a:tr>
              <a:tr h="0">
                <a:tc>
                  <a:txBody>
                    <a:bodyPr/>
                    <a:lstStyle/>
                    <a:p>
                      <a:pPr>
                        <a:buNone/>
                      </a:pPr>
                      <a:r>
                        <a:rPr lang="en-US" sz="1000" dirty="0"/>
                        <a:t>Code analysis tools</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dirty="0"/>
                        <a:t>Access to CLDK, installation guidance, API documentation, and examples of the read-only analysis operations used in the project. Students only implement the required MCP interface and agent integration.</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407107"/>
                  </a:ext>
                </a:extLst>
              </a:tr>
              <a:tr h="0">
                <a:tc>
                  <a:txBody>
                    <a:bodyPr/>
                    <a:lstStyle/>
                    <a:p>
                      <a:pPr>
                        <a:buNone/>
                      </a:pPr>
                      <a:r>
                        <a:rPr lang="en-US" sz="1000" dirty="0"/>
                        <a:t>Model API access</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dirty="0"/>
                        <a:t>Course-provided model credentials.</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9360537"/>
                  </a:ext>
                </a:extLst>
              </a:tr>
              <a:tr h="0">
                <a:tc>
                  <a:txBody>
                    <a:bodyPr/>
                    <a:lstStyle/>
                    <a:p>
                      <a:pPr>
                        <a:buNone/>
                      </a:pPr>
                      <a:r>
                        <a:rPr lang="en-US" sz="1000" dirty="0"/>
                        <a:t>Domain foundations</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dirty="0"/>
                        <a:t>An introduction to the vulnerability classes, evidence requirements, and validation criteria needed for the assignments. Prior security expertise is not assumed.</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16047103"/>
                  </a:ext>
                </a:extLst>
              </a:tr>
              <a:tr h="470522">
                <a:tc>
                  <a:txBody>
                    <a:bodyPr/>
                    <a:lstStyle/>
                    <a:p>
                      <a:pPr>
                        <a:buNone/>
                      </a:pPr>
                      <a:r>
                        <a:rPr lang="en-US" sz="1000" dirty="0"/>
                        <a:t>Design support and feedback</a:t>
                      </a:r>
                    </a:p>
                  </a:txBody>
                  <a:tcPr marL="85841" marR="85841" marT="42921" marB="42921"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US" sz="1000" dirty="0"/>
                        <a:t>Office hours for architectural brainstorming, trade-off discussions, experiment design, and debugging guidance. Published rubrics and submission checklists clarify the expected mechanisms, artifacts, and analysis.</a:t>
                      </a:r>
                    </a:p>
                  </a:txBody>
                  <a:tcPr marL="85841" marR="85841" marT="42921" marB="42921"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46767086"/>
                  </a:ext>
                </a:extLst>
              </a:tr>
            </a:tbl>
          </a:graphicData>
        </a:graphic>
      </p:graphicFrame>
    </p:spTree>
    <p:extLst>
      <p:ext uri="{BB962C8B-B14F-4D97-AF65-F5344CB8AC3E}">
        <p14:creationId xmlns:p14="http://schemas.microsoft.com/office/powerpoint/2010/main" val="31740032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2EC5C-5AD1-2C45-9A8D-BFD9738FC0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B5881B-01C8-9B39-947E-4DAC75F7F3DA}"/>
              </a:ext>
            </a:extLst>
          </p:cNvPr>
          <p:cNvSpPr>
            <a:spLocks noGrp="1"/>
          </p:cNvSpPr>
          <p:nvPr>
            <p:ph type="title"/>
          </p:nvPr>
        </p:nvSpPr>
        <p:spPr/>
        <p:txBody>
          <a:bodyPr/>
          <a:lstStyle/>
          <a:p>
            <a:r>
              <a:rPr lang="en-US" dirty="0"/>
              <a:t>Evaluation and grading</a:t>
            </a:r>
          </a:p>
        </p:txBody>
      </p:sp>
      <p:graphicFrame>
        <p:nvGraphicFramePr>
          <p:cNvPr id="5" name="Table 4">
            <a:extLst>
              <a:ext uri="{FF2B5EF4-FFF2-40B4-BE49-F238E27FC236}">
                <a16:creationId xmlns:a16="http://schemas.microsoft.com/office/drawing/2014/main" id="{3B57F229-0CAB-5349-0AB1-829455DAA413}"/>
              </a:ext>
            </a:extLst>
          </p:cNvPr>
          <p:cNvGraphicFramePr>
            <a:graphicFrameLocks noGrp="1"/>
          </p:cNvGraphicFramePr>
          <p:nvPr>
            <p:extLst>
              <p:ext uri="{D42A27DB-BD31-4B8C-83A1-F6EECF244321}">
                <p14:modId xmlns:p14="http://schemas.microsoft.com/office/powerpoint/2010/main" val="1298125256"/>
              </p:ext>
            </p:extLst>
          </p:nvPr>
        </p:nvGraphicFramePr>
        <p:xfrm>
          <a:off x="196250" y="1918697"/>
          <a:ext cx="6451477" cy="2410410"/>
        </p:xfrm>
        <a:graphic>
          <a:graphicData uri="http://schemas.openxmlformats.org/drawingml/2006/table">
            <a:tbl>
              <a:tblPr>
                <a:tableStyleId>{5C22544A-7EE6-4342-B048-85BDC9FD1C3A}</a:tableStyleId>
              </a:tblPr>
              <a:tblGrid>
                <a:gridCol w="1720679">
                  <a:extLst>
                    <a:ext uri="{9D8B030D-6E8A-4147-A177-3AD203B41FA5}">
                      <a16:colId xmlns:a16="http://schemas.microsoft.com/office/drawing/2014/main" val="3587578918"/>
                    </a:ext>
                  </a:extLst>
                </a:gridCol>
                <a:gridCol w="4730798">
                  <a:extLst>
                    <a:ext uri="{9D8B030D-6E8A-4147-A177-3AD203B41FA5}">
                      <a16:colId xmlns:a16="http://schemas.microsoft.com/office/drawing/2014/main" val="1386022107"/>
                    </a:ext>
                  </a:extLst>
                </a:gridCol>
              </a:tblGrid>
              <a:tr h="236064">
                <a:tc>
                  <a:txBody>
                    <a:bodyPr/>
                    <a:lstStyle/>
                    <a:p>
                      <a:pPr>
                        <a:buNone/>
                      </a:pPr>
                      <a:r>
                        <a:rPr lang="en-US" sz="1000" b="1" dirty="0"/>
                        <a:t>Assessment dimension</a:t>
                      </a:r>
                    </a:p>
                  </a:txBody>
                  <a:tcPr marL="85841" marR="85841" marT="42921" marB="42921"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b="1" dirty="0"/>
                        <a:t>What matters</a:t>
                      </a:r>
                    </a:p>
                  </a:txBody>
                  <a:tcPr marL="85841" marR="85841" marT="42921" marB="42921" anchor="ctr">
                    <a:lnT w="190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7260472"/>
                  </a:ext>
                </a:extLst>
              </a:tr>
              <a:tr h="0">
                <a:tc>
                  <a:txBody>
                    <a:bodyPr/>
                    <a:lstStyle/>
                    <a:p>
                      <a:pPr>
                        <a:buNone/>
                      </a:pPr>
                      <a:r>
                        <a:rPr lang="en-US" sz="1000" b="1" dirty="0"/>
                        <a:t>Implementation</a:t>
                      </a:r>
                      <a:r>
                        <a:rPr lang="en-US" sz="1000" dirty="0"/>
                        <a:t> </a:t>
                      </a:r>
                      <a:r>
                        <a:rPr lang="en-US" sz="1000" b="1" dirty="0"/>
                        <a:t>completeness</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dirty="0"/>
                        <a:t>Deliver one integrated system containing the required mechanisms from all three assignments. Earlier capabilities remain integrated as new ones are introduced.</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37543964"/>
                  </a:ext>
                </a:extLst>
              </a:tr>
              <a:tr h="0">
                <a:tc>
                  <a:txBody>
                    <a:bodyPr/>
                    <a:lstStyle/>
                    <a:p>
                      <a:pPr>
                        <a:buNone/>
                      </a:pPr>
                      <a:r>
                        <a:rPr lang="en-US" sz="1000" b="1" dirty="0"/>
                        <a:t>Architectural reasoning</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dirty="0"/>
                        <a:t>Explain the choices behind the agent loop, tool interfaces, workflow, context management, and persistence. Analyze their trade-offs rather than merely listing the components used.</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407107"/>
                  </a:ext>
                </a:extLst>
              </a:tr>
              <a:tr h="0">
                <a:tc>
                  <a:txBody>
                    <a:bodyPr/>
                    <a:lstStyle/>
                    <a:p>
                      <a:pPr>
                        <a:buNone/>
                      </a:pPr>
                      <a:r>
                        <a:rPr lang="en-US" sz="1000" b="1" dirty="0"/>
                        <a:t>Experimental completeness</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000" dirty="0"/>
                        <a:t>Conduct each prescribed runs, document the controlled conditions, retain the resulting artifacts, and compare the observed behavior.</a:t>
                      </a:r>
                    </a:p>
                  </a:txBody>
                  <a:tcPr marL="85841" marR="85841" marT="42921" marB="42921"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16047103"/>
                  </a:ext>
                </a:extLst>
              </a:tr>
              <a:tr h="470522">
                <a:tc>
                  <a:txBody>
                    <a:bodyPr/>
                    <a:lstStyle/>
                    <a:p>
                      <a:pPr>
                        <a:buNone/>
                      </a:pPr>
                      <a:r>
                        <a:rPr lang="en-US" sz="1000" b="1" dirty="0"/>
                        <a:t>Systems evaluation</a:t>
                      </a:r>
                    </a:p>
                  </a:txBody>
                  <a:tcPr marL="85841" marR="85841" marT="42921" marB="42921"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buNone/>
                      </a:pPr>
                      <a:r>
                        <a:rPr lang="en-US" sz="1000" dirty="0"/>
                        <a:t>Investigate execution bounds, concurrency, context limits, resource accounting, observability, and recovery. Support claims with measurements and records, including cases where observed behavior differs from the intended design.</a:t>
                      </a:r>
                    </a:p>
                  </a:txBody>
                  <a:tcPr marL="85841" marR="85841" marT="42921" marB="42921" anchor="ctr">
                    <a:lnT w="1270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46767086"/>
                  </a:ext>
                </a:extLst>
              </a:tr>
            </a:tbl>
          </a:graphicData>
        </a:graphic>
      </p:graphicFrame>
      <p:sp>
        <p:nvSpPr>
          <p:cNvPr id="3" name="Content Placeholder 2">
            <a:extLst>
              <a:ext uri="{FF2B5EF4-FFF2-40B4-BE49-F238E27FC236}">
                <a16:creationId xmlns:a16="http://schemas.microsoft.com/office/drawing/2014/main" id="{817A3FBF-5574-F666-CAD0-48D5BC733E0E}"/>
              </a:ext>
            </a:extLst>
          </p:cNvPr>
          <p:cNvSpPr>
            <a:spLocks noGrp="1"/>
          </p:cNvSpPr>
          <p:nvPr>
            <p:ph idx="1"/>
          </p:nvPr>
        </p:nvSpPr>
        <p:spPr>
          <a:xfrm>
            <a:off x="196250" y="630049"/>
            <a:ext cx="6451478" cy="1099593"/>
          </a:xfrm>
          <a:ln w="19050">
            <a:solidFill>
              <a:srgbClr val="2A2A63"/>
            </a:solidFill>
          </a:ln>
        </p:spPr>
        <p:txBody>
          <a:bodyPr>
            <a:normAutofit/>
          </a:bodyPr>
          <a:lstStyle/>
          <a:p>
            <a:pPr marL="125747" indent="0">
              <a:buNone/>
            </a:pPr>
            <a:r>
              <a:rPr lang="en-US" sz="1200" dirty="0"/>
              <a:t>Grades are based on the </a:t>
            </a:r>
            <a:r>
              <a:rPr lang="en-US" sz="1200" b="1" dirty="0"/>
              <a:t>completeness of the implementation</a:t>
            </a:r>
            <a:r>
              <a:rPr lang="en-US" sz="1200" dirty="0"/>
              <a:t>, experiments, and analysis and </a:t>
            </a:r>
            <a:r>
              <a:rPr lang="en-US" sz="1200" b="1" dirty="0"/>
              <a:t>not on the percentage of known vulnerabilities discovered</a:t>
            </a:r>
            <a:r>
              <a:rPr lang="en-US" sz="1200" dirty="0"/>
              <a:t>. The primary objective is to </a:t>
            </a:r>
            <a:r>
              <a:rPr lang="en-US" sz="1200" b="1" dirty="0"/>
              <a:t>build and experiment with agent architectures</a:t>
            </a:r>
            <a:r>
              <a:rPr lang="en-US" sz="1200" dirty="0"/>
              <a:t>, study </a:t>
            </a:r>
            <a:r>
              <a:rPr lang="en-US" sz="1200" b="1" dirty="0"/>
              <a:t>their systems properties, and evaluate their behavior</a:t>
            </a:r>
            <a:r>
              <a:rPr lang="en-US" sz="1200" dirty="0"/>
              <a:t> using reproducible evidence.</a:t>
            </a:r>
          </a:p>
        </p:txBody>
      </p:sp>
      <p:sp>
        <p:nvSpPr>
          <p:cNvPr id="4" name="TextBox 3">
            <a:extLst>
              <a:ext uri="{FF2B5EF4-FFF2-40B4-BE49-F238E27FC236}">
                <a16:creationId xmlns:a16="http://schemas.microsoft.com/office/drawing/2014/main" id="{3DFE99FF-3D23-8740-5D13-63FB83645216}"/>
              </a:ext>
            </a:extLst>
          </p:cNvPr>
          <p:cNvSpPr txBox="1"/>
          <p:nvPr/>
        </p:nvSpPr>
        <p:spPr>
          <a:xfrm>
            <a:off x="52932" y="4402002"/>
            <a:ext cx="6805068" cy="307777"/>
          </a:xfrm>
          <a:prstGeom prst="rect">
            <a:avLst/>
          </a:prstGeom>
          <a:noFill/>
        </p:spPr>
        <p:txBody>
          <a:bodyPr wrap="none" rtlCol="0">
            <a:spAutoFit/>
          </a:bodyPr>
          <a:lstStyle/>
          <a:p>
            <a:pPr algn="l"/>
            <a:r>
              <a:rPr lang="en-US" b="1" dirty="0">
                <a:solidFill>
                  <a:srgbClr val="2A2A63"/>
                </a:solidFill>
                <a:latin typeface="+mn-lt"/>
              </a:rPr>
              <a:t>Each Homework is 20 Points. Actual distribution per task will be clearly specified</a:t>
            </a:r>
          </a:p>
        </p:txBody>
      </p:sp>
    </p:spTree>
    <p:extLst>
      <p:ext uri="{BB962C8B-B14F-4D97-AF65-F5344CB8AC3E}">
        <p14:creationId xmlns:p14="http://schemas.microsoft.com/office/powerpoint/2010/main" val="15948372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A3F40-A5BF-5976-DF81-8BB980F642D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0F4EA78-0269-5607-C9C8-6676C6F4F48A}"/>
              </a:ext>
            </a:extLst>
          </p:cNvPr>
          <p:cNvSpPr txBox="1"/>
          <p:nvPr/>
        </p:nvSpPr>
        <p:spPr>
          <a:xfrm>
            <a:off x="719302" y="1910030"/>
            <a:ext cx="5419396" cy="707886"/>
          </a:xfrm>
          <a:prstGeom prst="rect">
            <a:avLst/>
          </a:prstGeom>
          <a:noFill/>
        </p:spPr>
        <p:txBody>
          <a:bodyPr wrap="square" rtlCol="0">
            <a:spAutoFit/>
          </a:bodyPr>
          <a:lstStyle/>
          <a:p>
            <a:pPr algn="ctr"/>
            <a:r>
              <a:rPr lang="en-US" sz="4000" b="1" dirty="0">
                <a:solidFill>
                  <a:schemeClr val="bg2">
                    <a:lumMod val="20000"/>
                    <a:lumOff val="80000"/>
                  </a:schemeClr>
                </a:solidFill>
                <a:latin typeface="+mj-lt"/>
              </a:rPr>
              <a:t>Questions</a:t>
            </a:r>
          </a:p>
        </p:txBody>
      </p:sp>
    </p:spTree>
    <p:extLst>
      <p:ext uri="{BB962C8B-B14F-4D97-AF65-F5344CB8AC3E}">
        <p14:creationId xmlns:p14="http://schemas.microsoft.com/office/powerpoint/2010/main" val="14727057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90852-81E6-565D-A6A8-D0BEB698A6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1EEDFD-37BC-1FBF-115B-7ACCDCF34D1E}"/>
              </a:ext>
            </a:extLst>
          </p:cNvPr>
          <p:cNvSpPr>
            <a:spLocks noGrp="1"/>
          </p:cNvSpPr>
          <p:nvPr>
            <p:ph type="title"/>
          </p:nvPr>
        </p:nvSpPr>
        <p:spPr/>
        <p:txBody>
          <a:bodyPr/>
          <a:lstStyle/>
          <a:p>
            <a:r>
              <a:rPr lang="en-US" dirty="0"/>
              <a:t>Next week…</a:t>
            </a:r>
          </a:p>
        </p:txBody>
      </p:sp>
      <p:pic>
        <p:nvPicPr>
          <p:cNvPr id="10" name="Picture 9">
            <a:extLst>
              <a:ext uri="{FF2B5EF4-FFF2-40B4-BE49-F238E27FC236}">
                <a16:creationId xmlns:a16="http://schemas.microsoft.com/office/drawing/2014/main" id="{579003E8-B4EB-673F-B149-BB6E45E9EEC6}"/>
              </a:ext>
            </a:extLst>
          </p:cNvPr>
          <p:cNvPicPr>
            <a:picLocks noChangeAspect="1"/>
          </p:cNvPicPr>
          <p:nvPr/>
        </p:nvPicPr>
        <p:blipFill>
          <a:blip r:embed="rId2"/>
          <a:srcRect t="7922" b="3386"/>
          <a:stretch>
            <a:fillRect/>
          </a:stretch>
        </p:blipFill>
        <p:spPr>
          <a:xfrm>
            <a:off x="0" y="630050"/>
            <a:ext cx="6858000" cy="4054999"/>
          </a:xfrm>
          <a:prstGeom prst="rect">
            <a:avLst/>
          </a:prstGeom>
        </p:spPr>
      </p:pic>
    </p:spTree>
    <p:extLst>
      <p:ext uri="{BB962C8B-B14F-4D97-AF65-F5344CB8AC3E}">
        <p14:creationId xmlns:p14="http://schemas.microsoft.com/office/powerpoint/2010/main" val="3805798507"/>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Fira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ira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none" rtlCol="0">
        <a:spAutoFit/>
      </a:bodyPr>
      <a:lstStyle>
        <a:defPPr algn="l">
          <a:defRPr dirty="0">
            <a:latin typeface="+mn-lt"/>
          </a:defRPr>
        </a:defP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Fira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ira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1794</TotalTime>
  <Words>4236</Words>
  <Application>Microsoft Macintosh PowerPoint</Application>
  <PresentationFormat>Custom</PresentationFormat>
  <Paragraphs>413</Paragraphs>
  <Slides>46</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Fira Sans</vt:lpstr>
      <vt:lpstr>Wingdings</vt:lpstr>
      <vt:lpstr>Arial</vt:lpstr>
      <vt:lpstr>Simple Light</vt:lpstr>
      <vt:lpstr>Designing Production Agentic Systems</vt:lpstr>
      <vt:lpstr>Welcome!</vt:lpstr>
      <vt:lpstr>About the Instructors</vt:lpstr>
      <vt:lpstr>PowerPoint Presentation</vt:lpstr>
      <vt:lpstr>The key question that motivates this course</vt:lpstr>
      <vt:lpstr>The key question that motivates this course</vt:lpstr>
      <vt:lpstr>The key question that motivates this course</vt:lpstr>
      <vt:lpstr>Prototype vs Production</vt:lpstr>
      <vt:lpstr>Prototype vs Production</vt:lpstr>
      <vt:lpstr>An AI Agent Stack: All its moving parts </vt:lpstr>
      <vt:lpstr>Production agentic system in action</vt:lpstr>
      <vt:lpstr>Production agentic system in action</vt:lpstr>
      <vt:lpstr>What I hope you will learn…</vt:lpstr>
      <vt:lpstr>PowerPoint Presentation</vt:lpstr>
      <vt:lpstr>Where the course lives</vt:lpstr>
      <vt:lpstr>Where the course lives</vt:lpstr>
      <vt:lpstr>Homework, Grades, and Exams</vt:lpstr>
      <vt:lpstr>Prerequisites, Tech Stack, and Late days</vt:lpstr>
      <vt:lpstr>Generative AI policy</vt:lpstr>
      <vt:lpstr>PowerPoint Presentation</vt:lpstr>
      <vt:lpstr>Control Loops to LLMs: The Evolution of Agents</vt:lpstr>
      <vt:lpstr>What was an Agent? A pre-LLM view</vt:lpstr>
      <vt:lpstr>What changed: The model proposes the work</vt:lpstr>
      <vt:lpstr>What changed: The model proposes the work</vt:lpstr>
      <vt:lpstr>What changed: The model proposes the work</vt:lpstr>
      <vt:lpstr>What changed: The model proposes the work</vt:lpstr>
      <vt:lpstr>What didn’t change: New problems, old names</vt:lpstr>
      <vt:lpstr>PowerPoint Presentation</vt:lpstr>
      <vt:lpstr>Agentic Systems: A Working Vocabulary</vt:lpstr>
      <vt:lpstr>Components of a Model Invocation</vt:lpstr>
      <vt:lpstr>Systems Challenges of the Model</vt:lpstr>
      <vt:lpstr>The Agent Harness</vt:lpstr>
      <vt:lpstr>The Agent Harness</vt:lpstr>
      <vt:lpstr>Tools</vt:lpstr>
      <vt:lpstr>Tools</vt:lpstr>
      <vt:lpstr>State</vt:lpstr>
      <vt:lpstr>State: Systems Properties and Guarantees</vt:lpstr>
      <vt:lpstr>Environment</vt:lpstr>
      <vt:lpstr>A summary of Roles and Guarantees</vt:lpstr>
      <vt:lpstr>PowerPoint Presentation</vt:lpstr>
      <vt:lpstr>Problem Statement</vt:lpstr>
      <vt:lpstr>Cumulative assignments over the same system</vt:lpstr>
      <vt:lpstr>What the Course Provides</vt:lpstr>
      <vt:lpstr>Evaluation and grading</vt:lpstr>
      <vt:lpstr>PowerPoint Presentation</vt:lpstr>
      <vt:lpstr>Next week…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35</cp:revision>
  <dcterms:modified xsi:type="dcterms:W3CDTF">2026-09-11T16:23:05Z</dcterms:modified>
</cp:coreProperties>
</file>
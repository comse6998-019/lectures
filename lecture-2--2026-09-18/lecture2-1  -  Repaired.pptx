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55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omments/modernComment_178_0.xml" ContentType="application/vnd.ms-powerpoint.comments+xml"/>
  <Override PartName="/ppt/notesSlides/notesSlide4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5"/>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81" r:id="rId15"/>
    <p:sldId id="340" r:id="rId16"/>
    <p:sldId id="341" r:id="rId17"/>
    <p:sldId id="342" r:id="rId18"/>
    <p:sldId id="343" r:id="rId19"/>
    <p:sldId id="344" r:id="rId20"/>
    <p:sldId id="345" r:id="rId21"/>
    <p:sldId id="346" r:id="rId22"/>
    <p:sldId id="347" r:id="rId23"/>
    <p:sldId id="348" r:id="rId24"/>
    <p:sldId id="349" r:id="rId25"/>
    <p:sldId id="350" r:id="rId26"/>
    <p:sldId id="362" r:id="rId27"/>
    <p:sldId id="364" r:id="rId28"/>
    <p:sldId id="352" r:id="rId29"/>
    <p:sldId id="353" r:id="rId30"/>
    <p:sldId id="355" r:id="rId31"/>
    <p:sldId id="354" r:id="rId32"/>
    <p:sldId id="356" r:id="rId33"/>
    <p:sldId id="357" r:id="rId34"/>
    <p:sldId id="358" r:id="rId35"/>
    <p:sldId id="359" r:id="rId36"/>
    <p:sldId id="360" r:id="rId37"/>
    <p:sldId id="361" r:id="rId38"/>
    <p:sldId id="365" r:id="rId39"/>
    <p:sldId id="366" r:id="rId40"/>
    <p:sldId id="367" r:id="rId41"/>
    <p:sldId id="368" r:id="rId42"/>
    <p:sldId id="378" r:id="rId43"/>
    <p:sldId id="379" r:id="rId44"/>
    <p:sldId id="380" r:id="rId45"/>
    <p:sldId id="369" r:id="rId46"/>
    <p:sldId id="370" r:id="rId47"/>
    <p:sldId id="371" r:id="rId48"/>
    <p:sldId id="372" r:id="rId49"/>
    <p:sldId id="373" r:id="rId50"/>
    <p:sldId id="374" r:id="rId51"/>
    <p:sldId id="375" r:id="rId52"/>
    <p:sldId id="376" r:id="rId53"/>
    <p:sldId id="377" r:id="rId54"/>
  </p:sldIdLst>
  <p:sldSz cx="6858000" cy="5143500"/>
  <p:notesSz cx="6858000" cy="9144000"/>
  <p:embeddedFontLst>
    <p:embeddedFont>
      <p:font typeface="Fira Sans" panose="020B0503050000020004" pitchFamily="34" charset="0"/>
      <p:regular r:id="rId56"/>
      <p:bold r:id="rId57"/>
      <p:italic r:id="rId58"/>
      <p:boldItalic r:id="rId59"/>
    </p:embeddedFont>
    <p:embeddedFont>
      <p:font typeface="Fira Sans Light" panose="020B0403050000020004" pitchFamily="34" charset="0"/>
      <p:regular r:id="rId60"/>
      <p:italic r:id="rId61"/>
    </p:embeddedFont>
    <p:embeddedFont>
      <p:font typeface="Maple Mono NF" panose="020F0509060000000000" pitchFamily="49"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81"/>
            <p14:sldId id="340"/>
            <p14:sldId id="341"/>
            <p14:sldId id="342"/>
            <p14:sldId id="343"/>
            <p14:sldId id="344"/>
            <p14:sldId id="345"/>
            <p14:sldId id="346"/>
            <p14:sldId id="347"/>
            <p14:sldId id="348"/>
            <p14:sldId id="349"/>
            <p14:sldId id="350"/>
            <p14:sldId id="362"/>
            <p14:sldId id="364"/>
            <p14:sldId id="352"/>
            <p14:sldId id="353"/>
            <p14:sldId id="355"/>
            <p14:sldId id="354"/>
            <p14:sldId id="356"/>
            <p14:sldId id="357"/>
            <p14:sldId id="358"/>
            <p14:sldId id="359"/>
            <p14:sldId id="360"/>
            <p14:sldId id="361"/>
            <p14:sldId id="365"/>
            <p14:sldId id="366"/>
            <p14:sldId id="367"/>
            <p14:sldId id="368"/>
            <p14:sldId id="378"/>
            <p14:sldId id="379"/>
            <p14:sldId id="380"/>
            <p14:sldId id="369"/>
            <p14:sldId id="370"/>
            <p14:sldId id="371"/>
            <p14:sldId id="372"/>
            <p14:sldId id="373"/>
            <p14:sldId id="374"/>
            <p14:sldId id="375"/>
            <p14:sldId id="376"/>
            <p14:sldId id="377"/>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p:restoredTop sz="98401"/>
  </p:normalViewPr>
  <p:slideViewPr>
    <p:cSldViewPr snapToGrid="0">
      <p:cViewPr varScale="1">
        <p:scale>
          <a:sx n="170" d="100"/>
          <a:sy n="170" d="100"/>
        </p:scale>
        <p:origin x="2384"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8.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notesMaster" Target="notesMasters/notesMaster1.xml"/></Relationships>
</file>

<file path=ppt/comments/modernComment_155_0.xml><?xml version="1.0" encoding="utf-8"?>
<p188:cmLst xmlns:a="http://schemas.openxmlformats.org/drawingml/2006/main" xmlns:r="http://schemas.openxmlformats.org/officeDocument/2006/relationships" xmlns:p188="http://schemas.microsoft.com/office/powerpoint/2018/8/main">
  <p188:cm id="{60000E52-6B10-8542-AE63-F9128E3BAFD3}" authorId="{BBF72F71-1B05-876B-1723-EC4BFB4CF1F1}" created="2026-09-17T09:32:05.091">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246" len="154">
        <ac:context len="509" hash="706592031"/>
      </ac:txMk>
    </ac:txMkLst>
    <p188:pos x="5909533" y="1496206"/>
    <p188:txBody>
      <a:bodyPr/>
      <a:lstStyle/>
      <a:p>
        <a:r>
          <a:rPr lang="en-US"/>
          <a:t>Make no sense?</a:t>
        </a:r>
      </a:p>
    </p188:txBody>
  </p188:cm>
  <p188:cm id="{1CDA764E-8499-0A4B-9B3C-78E025FCA5DE}" authorId="{BBF72F71-1B05-876B-1723-EC4BFB4CF1F1}" created="2026-09-17T09:35:26.286">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58" len="450">
        <ac:context len="509" hash="706592031"/>
      </ac:txMk>
    </ac:txMkLst>
    <p188:pos x="5894937" y="541404"/>
    <p188:txBody>
      <a:bodyPr/>
      <a:lstStyle/>
      <a:p>
        <a:r>
          <a:rPr lang="en-US"/>
          <a:t>In magenta, add (when does this become relavant)</a:t>
        </a:r>
      </a:p>
    </p188:txBody>
  </p188:cm>
</p188:cmLst>
</file>

<file path=ppt/comments/modernComment_178_0.xml><?xml version="1.0" encoding="utf-8"?>
<p188:cmLst xmlns:a="http://schemas.openxmlformats.org/drawingml/2006/main" xmlns:r="http://schemas.openxmlformats.org/officeDocument/2006/relationships" xmlns:p188="http://schemas.microsoft.com/office/powerpoint/2018/8/main">
  <p188:cm id="{0DB9DFDD-D770-FB4A-BC17-A1B10A085D8B}" authorId="{BBF72F71-1B05-876B-1723-EC4BFB4CF1F1}" created="2026-09-18T00:32:46.210">
    <ac:txMkLst xmlns:ac="http://schemas.microsoft.com/office/drawing/2013/main/command">
      <pc:docMk xmlns:pc="http://schemas.microsoft.com/office/powerpoint/2013/main/command"/>
      <pc:sldMk xmlns:pc="http://schemas.microsoft.com/office/powerpoint/2013/main/command" cId="0" sldId="376"/>
      <ac:spMk id="3" creationId="{00000000-0000-0000-0000-000000000000}"/>
      <ac:txMk cp="185" len="103">
        <ac:context len="420" hash="3035554411"/>
      </ac:txMk>
    </ac:txMkLst>
    <p188:pos x="5804027" y="1050525"/>
    <p188:txBody>
      <a:bodyPr/>
      <a:lstStyle/>
      <a:p>
        <a:r>
          <a:rPr lang="en-US"/>
          <a:t>Incomplete</a:t>
        </a:r>
      </a:p>
    </p188:txBody>
  </p188:cm>
  <p188:cm id="{7C91750F-0746-C143-91AF-686C36778858}" authorId="{BBF72F71-1B05-876B-1723-EC4BFB4CF1F1}" created="2026-09-18T00:33:13.202">
    <ac:txMkLst xmlns:ac="http://schemas.microsoft.com/office/drawing/2013/main/command">
      <pc:docMk xmlns:pc="http://schemas.microsoft.com/office/powerpoint/2013/main/command"/>
      <pc:sldMk xmlns:pc="http://schemas.microsoft.com/office/powerpoint/2013/main/command" cId="0" sldId="376"/>
      <ac:spMk id="4" creationId="{00000000-0000-0000-0000-000000000000}"/>
      <ac:txMk cp="0" len="57">
        <ac:context len="58" hash="3368107458"/>
      </ac:txMk>
    </ac:txMkLst>
    <p188:pos x="4163823" y="169781"/>
    <p188:txBody>
      <a:bodyPr/>
      <a:lstStyle/>
      <a:p>
        <a:r>
          <a:rPr lang="en-US"/>
          <a:t>THis just jumps out. What is the context here?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CFAC-D5EF-6213-9248-C3FF0FF5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60901-CECA-E8F6-9E7F-FE31BE9D50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CC8FA8DD-EFAD-35FE-D4BC-27874965273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295088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6D53-9ABE-FFB3-70DC-0D106C84F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A000-A127-83D3-3011-A1F9BA672CA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7A60287-4E8C-C973-B5D8-EE0A612C423C}"/>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713821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8CD6F-4F2A-885A-49C4-870F6DD0E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30CAC-4E46-2093-5A1D-D79F2F91649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8B86405-7945-5C76-1917-89F194813F99}"/>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699797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not a drawing of the idea, it is the graph the demo compiles. Three nodes. The controller is the only place a model is called. Tools validates and executes and writes the observation. Submit runs three mechanical checks. Now look at the edges, because the edges are where the architecture lives. Two of them are unconditional: start into the controller, and tools back into the controller. That second one is the loop. Everything else is dashed, meaning a predicate over state picks the successor. Notice which predicates the model controls and which it does not: it chooses between tools and submit by emitting a tool call or not, and it has no say at all in the edge that ends the run.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three nodes, the same four edges, in the code that builds them. Read it against the picture: node, node, node, then the edges. The line in magenta is the one that matters for this section, and it is one line. Take it out and you have the chain from the last section. Worth saying plainly: nothing in this file is rewritten between runs. The graph is fixed. What varies is which path a run takes through it, and that is decided at run time by predicates over state. Dynamic paths do not need a dynamic graph.</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unconditional edges, meaning the graph takes them every time it reaches them. The first is trivial: start at the controller. The second is the section. Tools always returns to the controller, which is what gives the model another turn with the observation in hand. The comment in the source is not decoration: delete that one line and every property from the last section comes back, because the program is a chain again. One line of wiring is the difference between the two architectures.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conditional edges, and they are the only places the graph branches. Read the shape: a source node, a function, and a dictionary. The function returns a key and the dictionary says which node that key means. That indirection is doing real work. The set of successors is closed at build time, so whatever the function returns, the run can only land somewhere named in that dictionary. An unrecognised key is an error, not an improvisation. So when we say the model chooses what happens next, we mean it chooses among three names we wrote down, and it chooses by calling a tool or not calling one. That is the whole of the autonomy this version has.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line to finish. Compile takes the nodes and edges we just declared and freezes them into a runnable object, and that happens once, before the program has read a single alert. Every alert we ever run goes through the same compiled graph. Worth being blunt about why that matters, because it is the sentence people get wrong: a run that takes a different path is not a different graph. The paths vary because predicates over state vary. The structure does not move. If you find yourself wanting to rewrite the graph between runs, what you actually want is another predicate.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Six lines, and this is the handover. The first branch is ours: if the status is not running, the run is over, and only the runtime writes that field. The second branch is the model's: if its last message carried a tool call we go to tools, and if it did not we go to submit. That is the entire mechanism by which the model chooses what happens next. No planner, no scheduler, no negotiation. And the trace is labelled accordingly, so when you read a trajectory you can see at a glance which decisions were the model's and which were ours. In the recorded run the model chose four edges and the runtime chose one.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decisions as the fixed workflow, side by side. Read down the middle column and everything says design time. Read down the right and the top four have moved. But the rule under the fourth row is the thing to hold on to: the last two rows do not move. We still write the tool signatures, the state schema, the routing predicate and the budget, so the model selects its next action from a set we closed in advance. A reactive loop is not an agent we have stopped programming. It is an agent whose order of operations we have stopped writing down.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One study, 150 hand-annotated failures, one backbone model held fixed across three tools. Read the shares as shares of each tool's own failures, not of all issues. Over half of the fixed workflow's failures carry a localization error, which is exactly where it commits earliest and where no later node can revisit the choice: the rest of the run elaborates a mistake it cannot see. The two loops fail instead inside the iteration, a stage the fixed workflow does not possess at all. So the machinery we just bought is also where the new failures live. And the caveat matters: holding the model fixed removes one source of variation, but these tools differ in prompts and interfaces too, so this supports a description and not a causal claim about architecture.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named shapes, and each one is answered by a later section, which is why this slide is the hinge of the lecture. Non-progressive iteration is a loop that runs without going anywhere: the same patch regenerated with trivial differences. A plan answers it by giving the run something to measure a turn against. Validation retreat is the proposer grading its own work by editing the test instead of the code. A validator answers it by handing acceptance to something that did not write the patch. Context amnesia is losing the objective over a long interaction, and reflection answers it with memory that outlives an attempt. The cost of the blindness is legible in the step counts: failed issues take about three and a half times the steps, and where one tool covers eighty percent of its successes in twenty-five rounds it needs fifty-four to cover eighty percent of failures.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Two stops, both ours, and both inside the controller node before a model call is issued. That placement is the point: checked afterwards they would be a post-mortem rather than a control. The budget is forty model calls. The second one is more interesting. The obvious rule is to stop when the same call repeats, and it looks equivalent to this one and is not: a model that varies its pattern slightly on each attempt evades it completely while making no progress at all. That is not hypothetical. On our own isolated fixture, ten consecutive searches with six distinct patterns all came back with no matches and the same-call rule never fired once; only the budget stopped the run. So this rule compares what came back rather than what was asked, which also subsumes the identical-call case because identical calls to deterministic tools return identical results. This is the non-progressive iteration from the last slide, caught by four lines.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One failure mode here belongs to us rather than to the model. If the runtime does not own the observation channel, the model will write observations itself, and the trace will then record evidence the environment never returned. The security literature has a name for it, soliloquizing, and the rates are not marginal: nearly half of trajectories on two capture-the-flag benchmarks with one model, and none at all with two others, which tells you this is a property of the pairing rather than of models in general. In the field, about a fifth of recorded misalignment episodes across twenty thousand sessions are an agent misreporting the status of its own work. The defence is structural, not a prompt: the runtime writes the observation field, and in our demo an Observation object is only ever constructed inside the dispatcher.</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real run, and short enough to read whole. Turn one, the model reads the flagged region. Turn two it reads the helper the query uses, which is the reach we paid for: nothing in the chain could have gone and got that. Turn three it edits, a parameterized query. Turn four it emits no tool call, which is how a submission is signalled in this graph, and the three mechanical checks pass: the patch applies, it touches the flagged line, the rescan is clean. Accepted. Four model calls against a budget of forty, so neither stop came near firing. Two things to point at. The model chose four of the five edges in this run and the runtime chose one, the acceptance. And search was offered on every call and never used, which is worth remembering when we look at what a plan would have changed.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55_0.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microsoft.com/office/2018/10/relationships/comments" Target="../comments/modernComment_178_0.xm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9B1EB-A560-2C25-9065-B751EE98D473}"/>
              </a:ext>
            </a:extLst>
          </p:cNvPr>
          <p:cNvSpPr>
            <a:spLocks noGrp="1"/>
          </p:cNvSpPr>
          <p:nvPr>
            <p:ph type="title"/>
          </p:nvPr>
        </p:nvSpPr>
        <p:spPr/>
        <p:txBody>
          <a:bodyPr/>
          <a:lstStyle/>
          <a:p>
            <a:endParaRPr lang="en-US"/>
          </a:p>
        </p:txBody>
      </p:sp>
      <p:sp>
        <p:nvSpPr>
          <p:cNvPr id="4" name="Rectangle 3">
            <a:extLst>
              <a:ext uri="{FF2B5EF4-FFF2-40B4-BE49-F238E27FC236}">
                <a16:creationId xmlns:a16="http://schemas.microsoft.com/office/drawing/2014/main" id="{896F3C05-1D60-B4A2-6150-67300ECCED90}"/>
              </a:ext>
            </a:extLst>
          </p:cNvPr>
          <p:cNvSpPr/>
          <p:nvPr/>
        </p:nvSpPr>
        <p:spPr>
          <a:xfrm>
            <a:off x="307298" y="966866"/>
            <a:ext cx="6130977" cy="9668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9D98156-E033-1223-F60D-5D44D18FBEF9}"/>
              </a:ext>
            </a:extLst>
          </p:cNvPr>
          <p:cNvSpPr/>
          <p:nvPr/>
        </p:nvSpPr>
        <p:spPr>
          <a:xfrm>
            <a:off x="307298" y="2038662"/>
            <a:ext cx="3016771" cy="1469036"/>
          </a:xfrm>
          <a:prstGeom prst="rect">
            <a:avLst/>
          </a:prstGeom>
        </p:spPr>
        <p:style>
          <a:lnRef idx="2">
            <a:schemeClr val="dk1"/>
          </a:lnRef>
          <a:fillRef idx="1">
            <a:schemeClr val="lt1"/>
          </a:fillRef>
          <a:effectRef idx="0">
            <a:schemeClr val="dk1"/>
          </a:effectRef>
          <a:fontRef idx="minor">
            <a:schemeClr val="dk1"/>
          </a:fontRef>
        </p:style>
        <p:txBody>
          <a:bodyPr rtlCol="0" anchor="t"/>
          <a:lstStyle/>
          <a:p>
            <a:pPr algn="ctr"/>
            <a:r>
              <a:rPr lang="en-US" b="1" dirty="0"/>
              <a:t>Coordinator</a:t>
            </a:r>
          </a:p>
        </p:txBody>
      </p:sp>
      <p:sp>
        <p:nvSpPr>
          <p:cNvPr id="6" name="Rectangle 5">
            <a:extLst>
              <a:ext uri="{FF2B5EF4-FFF2-40B4-BE49-F238E27FC236}">
                <a16:creationId xmlns:a16="http://schemas.microsoft.com/office/drawing/2014/main" id="{833AF277-7201-4800-982E-757287C90526}"/>
              </a:ext>
            </a:extLst>
          </p:cNvPr>
          <p:cNvSpPr/>
          <p:nvPr/>
        </p:nvSpPr>
        <p:spPr>
          <a:xfrm>
            <a:off x="307298" y="3612630"/>
            <a:ext cx="3016771" cy="1469036"/>
          </a:xfrm>
          <a:prstGeom prst="rect">
            <a:avLst/>
          </a:prstGeom>
        </p:spPr>
        <p:style>
          <a:lnRef idx="2">
            <a:schemeClr val="dk1"/>
          </a:lnRef>
          <a:fillRef idx="1">
            <a:schemeClr val="lt1"/>
          </a:fillRef>
          <a:effectRef idx="0">
            <a:schemeClr val="dk1"/>
          </a:effectRef>
          <a:fontRef idx="minor">
            <a:schemeClr val="dk1"/>
          </a:fontRef>
        </p:style>
        <p:txBody>
          <a:bodyPr rtlCol="0" anchor="t"/>
          <a:lstStyle/>
          <a:p>
            <a:pPr algn="ctr"/>
            <a:r>
              <a:rPr lang="en-US" b="1" dirty="0"/>
              <a:t>Parallel</a:t>
            </a:r>
          </a:p>
        </p:txBody>
      </p:sp>
      <p:sp>
        <p:nvSpPr>
          <p:cNvPr id="7" name="Rectangle 6">
            <a:extLst>
              <a:ext uri="{FF2B5EF4-FFF2-40B4-BE49-F238E27FC236}">
                <a16:creationId xmlns:a16="http://schemas.microsoft.com/office/drawing/2014/main" id="{C862AF0D-1BA0-3345-8AD5-9085B89C97F8}"/>
              </a:ext>
            </a:extLst>
          </p:cNvPr>
          <p:cNvSpPr/>
          <p:nvPr/>
        </p:nvSpPr>
        <p:spPr>
          <a:xfrm>
            <a:off x="3428999" y="2038662"/>
            <a:ext cx="3009275" cy="1469036"/>
          </a:xfrm>
          <a:prstGeom prst="rect">
            <a:avLst/>
          </a:prstGeom>
        </p:spPr>
        <p:style>
          <a:lnRef idx="2">
            <a:schemeClr val="dk1"/>
          </a:lnRef>
          <a:fillRef idx="1">
            <a:schemeClr val="lt1"/>
          </a:fillRef>
          <a:effectRef idx="0">
            <a:schemeClr val="dk1"/>
          </a:effectRef>
          <a:fontRef idx="minor">
            <a:schemeClr val="dk1"/>
          </a:fontRef>
        </p:style>
        <p:txBody>
          <a:bodyPr rtlCol="0" anchor="t"/>
          <a:lstStyle/>
          <a:p>
            <a:pPr algn="ctr"/>
            <a:r>
              <a:rPr lang="en-US" b="1" dirty="0" err="1"/>
              <a:t>Herirachical</a:t>
            </a:r>
            <a:endParaRPr lang="en-US" b="1" dirty="0"/>
          </a:p>
        </p:txBody>
      </p:sp>
      <p:sp>
        <p:nvSpPr>
          <p:cNvPr id="8" name="Rectangle 7">
            <a:extLst>
              <a:ext uri="{FF2B5EF4-FFF2-40B4-BE49-F238E27FC236}">
                <a16:creationId xmlns:a16="http://schemas.microsoft.com/office/drawing/2014/main" id="{FBF9AD97-98C1-0833-DAF3-867F2ACF0748}"/>
              </a:ext>
            </a:extLst>
          </p:cNvPr>
          <p:cNvSpPr/>
          <p:nvPr/>
        </p:nvSpPr>
        <p:spPr>
          <a:xfrm>
            <a:off x="3428999" y="3612630"/>
            <a:ext cx="3009275" cy="1469036"/>
          </a:xfrm>
          <a:prstGeom prst="rect">
            <a:avLst/>
          </a:prstGeom>
        </p:spPr>
        <p:style>
          <a:lnRef idx="2">
            <a:schemeClr val="dk1"/>
          </a:lnRef>
          <a:fillRef idx="1">
            <a:schemeClr val="lt1"/>
          </a:fillRef>
          <a:effectRef idx="0">
            <a:schemeClr val="dk1"/>
          </a:effectRef>
          <a:fontRef idx="minor">
            <a:schemeClr val="dk1"/>
          </a:fontRef>
        </p:style>
        <p:txBody>
          <a:bodyPr rtlCol="0" anchor="t"/>
          <a:lstStyle/>
          <a:p>
            <a:pPr algn="ctr"/>
            <a:r>
              <a:rPr lang="en-US" b="1" dirty="0"/>
              <a:t>Review and critique</a:t>
            </a:r>
          </a:p>
        </p:txBody>
      </p:sp>
    </p:spTree>
    <p:extLst>
      <p:ext uri="{BB962C8B-B14F-4D97-AF65-F5344CB8AC3E}">
        <p14:creationId xmlns:p14="http://schemas.microsoft.com/office/powerpoint/2010/main" val="1208681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a:solidFill>
                  <a:schemeClr val="tx1"/>
                </a:solidFill>
              </a:rPr>
              <a:t>Patch only the flagged line and the weakness survives, because the unsafe value arrives from a helper the alert never names. A better agent follows the value first.</a:t>
            </a:r>
            <a:r>
              <a:rPr sz="1400" b="1">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1" u="sng">
                <a:solidFill>
                  <a:schemeClr val="tx2"/>
                </a:solidFill>
              </a:rPr>
              <a:t>Budget</a:t>
            </a:r>
            <a:r>
              <a:rPr sz="1500" b="0" u="none">
                <a:solidFill>
                  <a:schemeClr val="tx2"/>
                </a:solidFill>
              </a:rPr>
              <a:t>, </a:t>
            </a:r>
            <a:r>
              <a:rPr sz="1500" b="1" u="sng">
                <a:solidFill>
                  <a:schemeClr val="tx2"/>
                </a:solidFill>
              </a:rPr>
              <a:t>depth of investigation</a:t>
            </a:r>
            <a:r>
              <a:rPr sz="1500" b="0" u="none">
                <a:solidFill>
                  <a:schemeClr val="tx2"/>
                </a:solidFill>
              </a:rPr>
              <a:t>, </a:t>
            </a:r>
            <a:r>
              <a:rPr sz="1500" b="1" u="sng">
                <a:solidFill>
                  <a:schemeClr val="tx2"/>
                </a:solidFill>
              </a:rPr>
              <a:t>termination</a:t>
            </a:r>
            <a:r>
              <a:rPr sz="1500" b="0" u="none">
                <a:solidFill>
                  <a:schemeClr val="tx2"/>
                </a:solidFill>
              </a:rPr>
              <a:t>. Each later section makes one of them a decision.</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CC7E3C6B-C7BA-D0CB-DAC9-A65067BE7055}"/>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p>
            <a:r>
              <a:rPr dirty="0">
                <a:solidFill>
                  <a:schemeClr val="tx2"/>
                </a:solidFill>
              </a:rPr>
              <a:t>The rest of this lecture</a:t>
            </a:r>
          </a:p>
        </p:txBody>
      </p:sp>
      <p:sp>
        <p:nvSpPr>
          <p:cNvPr id="3" name="Rectangle 2"/>
          <p:cNvSpPr/>
          <p:nvPr/>
        </p:nvSpPr>
        <p:spPr>
          <a:xfrm>
            <a:off x="319251" y="607969"/>
            <a:ext cx="6014545" cy="850801"/>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We take </a:t>
            </a:r>
            <a:r>
              <a:rPr sz="1400" dirty="0">
                <a:latin typeface="Maple Mono NF"/>
              </a:rPr>
              <a:t>mini-swe-agent</a:t>
            </a:r>
            <a:r>
              <a:rPr sz="1400" dirty="0">
                <a:solidFill>
                  <a:schemeClr val="tx2"/>
                </a:solidFill>
              </a:rPr>
              <a:t> through </a:t>
            </a:r>
            <a:r>
              <a:rPr lang="en-US" sz="1400" dirty="0">
                <a:solidFill>
                  <a:schemeClr val="tx2"/>
                </a:solidFill>
              </a:rPr>
              <a:t>four</a:t>
            </a:r>
            <a:r>
              <a:rPr sz="1400" dirty="0">
                <a:solidFill>
                  <a:schemeClr val="tx2"/>
                </a:solidFill>
              </a:rPr>
              <a:t> architectures, escalating how much of the run </a:t>
            </a:r>
            <a:r>
              <a:rPr sz="1400" b="1" dirty="0">
                <a:solidFill>
                  <a:schemeClr val="tx2"/>
                </a:solidFill>
              </a:rPr>
              <a:t>it decides for itself</a:t>
            </a:r>
            <a:r>
              <a:rPr sz="1400" dirty="0">
                <a:solidFill>
                  <a:schemeClr val="tx2"/>
                </a:solidFill>
              </a:rPr>
              <a:t>.</a:t>
            </a:r>
            <a:r>
              <a:rPr lang="en-US" sz="1400" dirty="0">
                <a:solidFill>
                  <a:schemeClr val="tx2"/>
                </a:solidFill>
              </a:rPr>
              <a:t> </a:t>
            </a:r>
          </a:p>
          <a:p>
            <a:pPr algn="just">
              <a:lnSpc>
                <a:spcPct val="114000"/>
              </a:lnSpc>
            </a:pPr>
            <a:r>
              <a:rPr lang="en-US" sz="1400" dirty="0">
                <a:solidFill>
                  <a:schemeClr val="tx2"/>
                </a:solidFill>
              </a:rPr>
              <a:t>Same agent, same alert. Only the architecture changes.</a:t>
            </a:r>
          </a:p>
        </p:txBody>
      </p:sp>
      <p:sp>
        <p:nvSpPr>
          <p:cNvPr id="7" name="Oval 6">
            <a:extLst>
              <a:ext uri="{FF2B5EF4-FFF2-40B4-BE49-F238E27FC236}">
                <a16:creationId xmlns:a16="http://schemas.microsoft.com/office/drawing/2014/main" id="{21B305C6-BCD8-3084-6066-D43E025F61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2F27B1B-E86D-93B6-6A15-3F808DA7EF2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EA1BCA0-FAD6-ABA4-FB1A-C2C8F477F7C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9249219-E78B-E432-2C71-78F496B33DBE}"/>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8C9E10-EB35-0208-E130-F840731670DB}"/>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CED59E5F-790C-6906-F1ED-1EDA098717E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664E44-8E20-FDBD-D280-B0936427DF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C041E7CC-4E34-763C-7A58-ED89ED43DDD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63401B7D-FE44-222A-179C-13B44E3895AD}"/>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FBC288C8-7E35-BE6B-C366-03D7BD8FE016}"/>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096B713C-6B2F-5C12-C8B8-D195CD24CED3}"/>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B7E80E3-FF40-2C86-0EA0-A840D613D1BC}"/>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CF5C2C-80B7-2852-F0D2-7594B6DDEC6D}"/>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DC29C1C-0719-0A0B-2E81-33CD67302615}"/>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FDC835D5-F1F0-70E7-D32F-2FD72C9DC1C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A4AD8DD-3123-71A5-8619-87DE2AC4774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8401C30-2E94-C327-F10C-F319D7A81FDA}"/>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AFA3D82-9F43-8E68-BC78-2999788646B4}"/>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4549D07-5530-0D37-9F9B-B9BB5DD56674}"/>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65A13092-A2C2-D3A2-E64D-BFDFD8A3376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83C4B0D-BE9E-297E-280E-453DF42BB388}"/>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A2BB1C92-B379-337F-5B26-F90C925ED5BA}"/>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50BA091F-1C91-FD9C-27DA-631CC57FF7F1}"/>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E4C68B4-C265-B253-DBBF-AADF4858E3C7}"/>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DA7C9E79-AF65-6712-988B-41D15EDD97D5}"/>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8BFB7F1-88BF-E579-D11E-143DAF7CE46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29596FA4-1E68-E103-4F86-8F622AB77A49}"/>
              </a:ext>
            </a:extLst>
          </p:cNvPr>
          <p:cNvSpPr txBox="1"/>
          <p:nvPr/>
        </p:nvSpPr>
        <p:spPr>
          <a:xfrm>
            <a:off x="1430696" y="533124"/>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pic>
        <p:nvPicPr>
          <p:cNvPr id="12" name="Picture 11">
            <a:extLst>
              <a:ext uri="{FF2B5EF4-FFF2-40B4-BE49-F238E27FC236}">
                <a16:creationId xmlns:a16="http://schemas.microsoft.com/office/drawing/2014/main" id="{DE6208CE-B9AF-9F32-70D8-8EAF7AB6BF8A}"/>
              </a:ext>
            </a:extLst>
          </p:cNvPr>
          <p:cNvPicPr>
            <a:picLocks noChangeAspect="1"/>
          </p:cNvPicPr>
          <p:nvPr/>
        </p:nvPicPr>
        <p:blipFill>
          <a:blip r:embed="rId3">
            <a:alphaModFix amt="90000"/>
          </a:blip>
          <a:stretch>
            <a:fillRect/>
          </a:stretch>
        </p:blipFill>
        <p:spPr>
          <a:xfrm>
            <a:off x="825474" y="2256852"/>
            <a:ext cx="5732295" cy="2628250"/>
          </a:xfrm>
          <a:prstGeom prst="rect">
            <a:avLst/>
          </a:prstGeom>
        </p:spPr>
      </p:pic>
    </p:spTree>
    <p:extLst>
      <p:ext uri="{BB962C8B-B14F-4D97-AF65-F5344CB8AC3E}">
        <p14:creationId xmlns:p14="http://schemas.microsoft.com/office/powerpoint/2010/main" val="16040836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normAutofit fontScale="92500"/>
          </a:bodyPr>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system that blurs the split pays for it in all four.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costs</a:t>
            </a:r>
          </a:p>
        </p:txBody>
      </p:sp>
      <p:sp>
        <p:nvSpPr>
          <p:cNvPr id="3" name="Content Placeholder 2"/>
          <p:cNvSpPr>
            <a:spLocks noGrp="1"/>
          </p:cNvSpPr>
          <p:nvPr>
            <p:ph idx="1"/>
          </p:nvPr>
        </p:nvSpPr>
        <p:spPr>
          <a:xfrm>
            <a:off x="319251" y="700000"/>
            <a:ext cx="6014545" cy="2150000"/>
          </a:xfrm>
        </p:spPr>
        <p:txBody>
          <a:bodyPr wrap="square">
            <a:normAutofit fontScale="92500" lnSpcReduction="10000"/>
          </a:bodyPr>
          <a:lstStyle/>
          <a:p>
            <a:pPr marL="0" indent="0">
              <a:buNone/>
            </a:pPr>
            <a:r>
              <a:rPr sz="1400" b="1">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a:solidFill>
                  <a:schemeClr val="tx1"/>
                </a:solidFill>
              </a:rPr>
              <a:t>No second look. </a:t>
            </a:r>
            <a:r>
              <a:rPr sz="140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a:solidFill>
                  <a:schemeClr val="tx1"/>
                </a:solidFill>
              </a:rPr>
              <a:t>No sense of what is missing. </a:t>
            </a:r>
            <a:r>
              <a:rPr sz="140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a:solidFill>
                  <a:schemeClr val="tx1"/>
                </a:solidFill>
              </a:rPr>
              <a:t>No way to ask. </a:t>
            </a:r>
            <a:r>
              <a:rPr sz="140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question a fixed workflow cannot ask is the one </a:t>
            </a:r>
            <a:r>
              <a:rPr sz="1400" b="1">
                <a:solidFill>
                  <a:schemeClr val="tx2"/>
                </a:solidFill>
              </a:rPr>
              <a:t>its own answer depended on</a:t>
            </a:r>
            <a:r>
              <a:rPr sz="1400">
                <a:solidFill>
                  <a:schemeClr val="tx2"/>
                </a:solidFill>
              </a:rPr>
              <a:t>.</a:t>
            </a: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does not stall and it does not report a gap. It writes a patch, and the checks pass.</a:t>
            </a:r>
            <a:r>
              <a:rPr sz="1200" b="1">
                <a:solidFill>
                  <a:srgbClr val="C73561"/>
                </a:solidFill>
              </a:rPr>
              <a:t>  (a reactive loop grows an edge back)</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Agentless</a:t>
            </a:r>
            <a:r>
              <a:rPr lang="en-US" dirty="0"/>
              <a:t>: A sample </a:t>
            </a:r>
            <a:r>
              <a:rPr dirty="0"/>
              <a:t>realization</a:t>
            </a:r>
            <a:r>
              <a:rPr lang="en-US" dirty="0"/>
              <a:t> of a workflow</a:t>
            </a:r>
            <a:endParaRPr dirty="0"/>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3"/>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arrow here was drawn before the issue arrived.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and SWE-agent</a:t>
            </a:r>
          </a:p>
        </p:txBody>
      </p:sp>
      <p:graphicFrame>
        <p:nvGraphicFramePr>
          <p:cNvPr id="3" name="Table 2"/>
          <p:cNvGraphicFramePr>
            <a:graphicFrameLocks noGrp="1"/>
          </p:cNvGraphicFramePr>
          <p:nvPr/>
        </p:nvGraphicFramePr>
        <p:xfrm>
          <a:off x="319251" y="1150000"/>
          <a:ext cx="6014545" cy="1519200"/>
        </p:xfrm>
        <a:graphic>
          <a:graphicData uri="http://schemas.openxmlformats.org/drawingml/2006/table">
            <a:tbl>
              <a:tblPr>
                <a:tableStyleId>{2D5ABB26-0587-4C30-8999-92F81FD0307C}</a:tableStyleId>
              </a:tblPr>
              <a:tblGrid>
                <a:gridCol w="1300000">
                  <a:extLst>
                    <a:ext uri="{9D8B030D-6E8A-4147-A177-3AD203B41FA5}">
                      <a16:colId xmlns:a16="http://schemas.microsoft.com/office/drawing/2014/main" val="20000"/>
                    </a:ext>
                  </a:extLst>
                </a:gridCol>
                <a:gridCol w="2357272">
                  <a:extLst>
                    <a:ext uri="{9D8B030D-6E8A-4147-A177-3AD203B41FA5}">
                      <a16:colId xmlns:a16="http://schemas.microsoft.com/office/drawing/2014/main" val="20001"/>
                    </a:ext>
                  </a:extLst>
                </a:gridCol>
                <a:gridCol w="2357273">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SWE-bench Lite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Agentless</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Three phases in a fixed order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 chooses the next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Resolved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96 of 300 (32.00%)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55 of 300 (18.33%)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Cost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$0.70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$2.53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Tokens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78,165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498,346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Grains of salt</a:t>
            </a:r>
          </a:p>
        </p:txBody>
      </p:sp>
      <p:sp>
        <p:nvSpPr>
          <p:cNvPr id="3" name="Content Placeholder 2"/>
          <p:cNvSpPr>
            <a:spLocks noGrp="1"/>
          </p:cNvSpPr>
          <p:nvPr>
            <p:ph idx="1"/>
          </p:nvPr>
        </p:nvSpPr>
        <p:spPr>
          <a:xfrm>
            <a:off x="319251" y="700000"/>
            <a:ext cx="6014545" cy="1720000"/>
          </a:xfrm>
        </p:spPr>
        <p:txBody>
          <a:bodyPr wrap="square">
            <a:normAutofit fontScale="92500" lnSpcReduction="20000"/>
          </a:bodyPr>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Our own fixture ships its answer key beside the test cases, so we strip it: </a:t>
            </a:r>
            <a:r>
              <a:rPr sz="1400" b="1">
                <a:solidFill>
                  <a:schemeClr val="tx2"/>
                </a:solidFill>
              </a:rPr>
              <a:t>a score that can be read is not earned</a:t>
            </a:r>
            <a:r>
              <a:rPr sz="1400">
                <a:solidFill>
                  <a:schemeClr val="tx2"/>
                </a:solidFill>
              </a:rPr>
              <a:t>.</a:t>
            </a:r>
          </a:p>
        </p:txBody>
      </p:sp>
      <p:sp>
        <p:nvSpPr>
          <p:cNvPr id="6" name="Rectangle 5"/>
          <p:cNvSpPr/>
          <p:nvPr/>
        </p:nvSpPr>
        <p:spPr>
          <a:xfrm>
            <a:off x="319251" y="368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None of this shows that fixed workflows win in general.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C9B572-94D2-F260-A378-F87DB56311CC}"/>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644FDCE3-F257-EE15-03D8-0D223CF9CF18}"/>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7997ACC1-A0D9-E6CD-22B8-EFF4259A1077}"/>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6DA518F-B9B9-C469-223F-9D6090415722}"/>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D6B44BD-AFE0-104D-7F51-DE8C423151A6}"/>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A9098CA-902B-6954-82D4-EC9CCE7BD1E1}"/>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C9BAADE-F74B-88C9-6A5D-40A4EECF98BC}"/>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BF9D798A-6D30-22BA-A77F-6BB8E3BFFF2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FE9D9EF-1310-068C-FE2B-6701B6A3AD09}"/>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5F30933-1ADE-68AB-0CDB-EEF83167C6F1}"/>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BFB58F08-541F-1AF1-AB6A-2EBD2A9B5C70}"/>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1F8A499E-CBDD-FD6D-0AC6-1EA0B51C20F2}"/>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E1660DCC-1805-4140-C7B4-CAE80B014E21}"/>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4AB4776-21BF-5BF6-8124-7A14DA40424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C0D74A0-67BC-A055-CB62-3C2C26804E7A}"/>
              </a:ext>
            </a:extLst>
          </p:cNvPr>
          <p:cNvSpPr txBox="1"/>
          <p:nvPr/>
        </p:nvSpPr>
        <p:spPr>
          <a:xfrm>
            <a:off x="638816" y="533124"/>
            <a:ext cx="5580374"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ReACT: </a:t>
            </a:r>
            <a:r>
              <a:rPr lang="en-US" sz="4000" dirty="0">
                <a:solidFill>
                  <a:schemeClr val="tx2"/>
                </a:solidFill>
                <a:latin typeface="Fira Sans" panose="020B0503050000020004" pitchFamily="34" charset="0"/>
              </a:rPr>
              <a:t>Reactive Agents</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7EF46ED8-ADAA-3E77-8A17-D850EC12253A}"/>
              </a:ext>
            </a:extLst>
          </p:cNvPr>
          <p:cNvPicPr>
            <a:picLocks noChangeAspect="1"/>
          </p:cNvPicPr>
          <p:nvPr/>
        </p:nvPicPr>
        <p:blipFill>
          <a:blip r:embed="rId3">
            <a:alphaModFix amt="90000"/>
          </a:blip>
          <a:stretch>
            <a:fillRect/>
          </a:stretch>
        </p:blipFill>
        <p:spPr>
          <a:xfrm>
            <a:off x="825474" y="2758466"/>
            <a:ext cx="5732295" cy="2126636"/>
          </a:xfrm>
          <a:prstGeom prst="rect">
            <a:avLst/>
          </a:prstGeom>
        </p:spPr>
      </p:pic>
      <p:pic>
        <p:nvPicPr>
          <p:cNvPr id="2" name="Picture 1">
            <a:extLst>
              <a:ext uri="{FF2B5EF4-FFF2-40B4-BE49-F238E27FC236}">
                <a16:creationId xmlns:a16="http://schemas.microsoft.com/office/drawing/2014/main" id="{2B5FFFE2-13D7-ACE4-8D27-FFD7C1F0E13B}"/>
              </a:ext>
            </a:extLst>
          </p:cNvPr>
          <p:cNvPicPr>
            <a:picLocks noChangeAspect="1"/>
          </p:cNvPicPr>
          <p:nvPr/>
        </p:nvPicPr>
        <p:blipFill>
          <a:blip r:embed="rId3">
            <a:alphaModFix amt="70000"/>
          </a:blip>
          <a:stretch>
            <a:fillRect/>
          </a:stretch>
        </p:blipFill>
        <p:spPr>
          <a:xfrm>
            <a:off x="825474" y="1566605"/>
            <a:ext cx="5732295" cy="692074"/>
          </a:xfrm>
          <a:prstGeom prst="rect">
            <a:avLst/>
          </a:prstGeom>
        </p:spPr>
      </p:pic>
    </p:spTree>
    <p:extLst>
      <p:ext uri="{BB962C8B-B14F-4D97-AF65-F5344CB8AC3E}">
        <p14:creationId xmlns:p14="http://schemas.microsoft.com/office/powerpoint/2010/main" val="16227184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5928-2319-7283-126C-5521ECD81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4768C-2BDB-2F82-F422-2216F06CD815}"/>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48C98EB0-CCB3-C813-D979-3AFE7E099FD1}"/>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p:cNvSpPr txBox="1"/>
          <p:nvPr/>
        </p:nvSpPr>
        <p:spPr>
          <a:xfrm>
            <a:off x="2933796" y="3400000"/>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spTree>
    <p:extLst>
      <p:ext uri="{BB962C8B-B14F-4D97-AF65-F5344CB8AC3E}">
        <p14:creationId xmlns:p14="http://schemas.microsoft.com/office/powerpoint/2010/main" val="2268406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graph our first demo compiles</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only </a:t>
            </a:r>
            <a:r>
              <a:rPr sz="1400">
                <a:latin typeface="Maple Mono NF"/>
              </a:rPr>
              <a:t>controller</a:t>
            </a:r>
            <a:r>
              <a:rPr sz="1400">
                <a:solidFill>
                  <a:schemeClr val="tx2"/>
                </a:solidFill>
              </a:rPr>
              <a:t> calls a model. Dashed edges carry a predicate over state; </a:t>
            </a:r>
            <a:r>
              <a:rPr sz="1400" b="1">
                <a:solidFill>
                  <a:schemeClr val="tx2"/>
                </a:solidFill>
              </a:rPr>
              <a:t>the solid edge back is the loop</a:t>
            </a:r>
            <a:r>
              <a:rPr sz="1400">
                <a:solidFill>
                  <a:schemeClr val="tx2"/>
                </a:solidFill>
              </a:rPr>
              <a:t>.</a:t>
            </a:r>
          </a:p>
        </p:txBody>
      </p:sp>
      <p:pic>
        <p:nvPicPr>
          <p:cNvPr id="4" name="Picture 3" descr="reactive-loop-deck.png"/>
          <p:cNvPicPr>
            <a:picLocks noChangeAspect="1"/>
          </p:cNvPicPr>
          <p:nvPr/>
        </p:nvPicPr>
        <p:blipFill>
          <a:blip r:embed="rId3"/>
          <a:stretch>
            <a:fillRect/>
          </a:stretch>
        </p:blipFill>
        <p:spPr>
          <a:xfrm>
            <a:off x="250147" y="1520000"/>
            <a:ext cx="6152752" cy="3076376"/>
          </a:xfrm>
          <a:prstGeom prst="rect">
            <a:avLst/>
          </a:prstGeom>
        </p:spPr>
      </p:pic>
      <p:sp>
        <p:nvSpPr>
          <p:cNvPr id="5" name="TextBox 4">
            <a:extLst>
              <a:ext uri="{FF2B5EF4-FFF2-40B4-BE49-F238E27FC236}">
                <a16:creationId xmlns:a16="http://schemas.microsoft.com/office/drawing/2014/main" id="{2AA6FBBD-EA44-EF3B-1729-463F37139742}"/>
              </a:ext>
            </a:extLst>
          </p:cNvPr>
          <p:cNvSpPr txBox="1"/>
          <p:nvPr/>
        </p:nvSpPr>
        <p:spPr>
          <a:xfrm>
            <a:off x="4589430" y="4889584"/>
            <a:ext cx="2268570" cy="253916"/>
          </a:xfrm>
          <a:prstGeom prst="rect">
            <a:avLst/>
          </a:prstGeom>
          <a:noFill/>
        </p:spPr>
        <p:txBody>
          <a:bodyPr wrap="none" rtlCol="0">
            <a:spAutoFit/>
          </a:bodyPr>
          <a:lstStyle/>
          <a:p>
            <a:r>
              <a:rPr lang="en-US" sz="1050" i="1" dirty="0">
                <a:latin typeface="+mn-lt"/>
              </a:rPr>
              <a:t>see: lec2_reactive_agent/graph.py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in code: the nodes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lec2_reactive_agent/graph.py  —  compile()</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each one is </a:t>
            </a:r>
            <a:r>
              <a:rPr sz="1400" b="1">
                <a:solidFill>
                  <a:schemeClr val="tx2"/>
                </a:solidFill>
              </a:rPr>
              <a:t>a method on the same class</a:t>
            </a:r>
            <a:r>
              <a:rPr sz="1400">
                <a:solidFill>
                  <a:schemeClr val="tx2"/>
                </a:solidFill>
              </a:rPr>
              <a:t>. Nothing here says what happens next.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node is where work happens. An edge is where the decision happens.</a:t>
            </a:r>
          </a:p>
        </p:txBody>
      </p:sp>
      <p:sp>
        <p:nvSpPr>
          <p:cNvPr id="7" name="Rounded Rectangle 6"/>
          <p:cNvSpPr/>
          <p:nvPr/>
        </p:nvSpPr>
        <p:spPr>
          <a:xfrm>
            <a:off x="319251" y="1060000"/>
            <a:ext cx="6014545" cy="15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 = StateGraph(AgentState)</a:t>
            </a:r>
          </a:p>
          <a:p>
            <a:pPr algn="l">
              <a:buNone/>
            </a:pPr>
            <a:endParaRPr sz="1100">
              <a:solidFill>
                <a:srgbClr val="28285E"/>
              </a:solidFill>
              <a:latin typeface="Maple Mono NF"/>
            </a:endParaRPr>
          </a:p>
          <a:p>
            <a:pPr algn="l">
              <a:buNone/>
            </a:pPr>
            <a:r>
              <a:rPr sz="1100">
                <a:solidFill>
                  <a:srgbClr val="28285E"/>
                </a:solidFill>
                <a:latin typeface="Maple Mono NF"/>
              </a:rPr>
              <a:t>graph.add_node("controller", self.controller)</a:t>
            </a:r>
          </a:p>
          <a:p>
            <a:pPr algn="l">
              <a:buNone/>
            </a:pPr>
            <a:r>
              <a:rPr sz="1100">
                <a:solidFill>
                  <a:srgbClr val="28285E"/>
                </a:solidFill>
                <a:latin typeface="Maple Mono NF"/>
              </a:rPr>
              <a:t>graph.add_node("tools", self.tools)</a:t>
            </a:r>
          </a:p>
          <a:p>
            <a:pPr algn="l">
              <a:buNone/>
            </a:pPr>
            <a:r>
              <a:rPr sz="1100">
                <a:solidFill>
                  <a:srgbClr val="28285E"/>
                </a:solidFill>
                <a:latin typeface="Maple Mono NF"/>
              </a:rPr>
              <a:t>graph.add_node("submit", self.submit)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the edges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6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graph.add_edge(START, "controller")</a:t>
            </a:r>
          </a:p>
          <a:p>
            <a:pPr algn="l">
              <a:buNone/>
            </a:pPr>
            <a:endParaRPr sz="1100">
              <a:solidFill>
                <a:srgbClr val="28285E"/>
              </a:solidFill>
              <a:latin typeface="Maple Mono NF"/>
            </a:endParaRPr>
          </a:p>
          <a:p>
            <a:pPr algn="l">
              <a:buNone/>
            </a:pPr>
            <a:r>
              <a:rPr sz="1100">
                <a:solidFill>
                  <a:srgbClr val="8A8A9A"/>
                </a:solidFill>
                <a:latin typeface="Maple Mono NF"/>
              </a:rPr>
              <a:t># The edge back. This one line is what makes the loop a loop.</a:t>
            </a:r>
          </a:p>
          <a:p>
            <a:pPr algn="l">
              <a:buNone/>
            </a:pPr>
            <a:r>
              <a:rPr sz="1100" b="1">
                <a:solidFill>
                  <a:srgbClr val="C73561"/>
                </a:solidFill>
                <a:latin typeface="Maple Mono NF"/>
              </a:rPr>
              <a:t>graph.add_edge("tools", "controller")</a:t>
            </a:r>
          </a:p>
        </p:txBody>
      </p:sp>
      <p:sp>
        <p:nvSpPr>
          <p:cNvPr id="5" name="Rectangle 4"/>
          <p:cNvSpPr/>
          <p:nvPr/>
        </p:nvSpPr>
        <p:spPr>
          <a:xfrm>
            <a:off x="319251" y="26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Two edges that are always taken. </a:t>
            </a:r>
            <a:r>
              <a:rPr sz="1400" b="1">
                <a:solidFill>
                  <a:schemeClr val="tx2"/>
                </a:solidFill>
              </a:rPr>
              <a:t>The second one is the whole architecture</a:t>
            </a:r>
            <a:r>
              <a:rPr sz="1400">
                <a:solidFill>
                  <a:schemeClr val="tx2"/>
                </a:solidFill>
              </a:rPr>
              <a:t>.</a:t>
            </a:r>
          </a:p>
        </p:txBody>
      </p:sp>
      <p:sp>
        <p:nvSpPr>
          <p:cNvPr id="6" name="Rectangle 5"/>
          <p:cNvSpPr/>
          <p:nvPr/>
        </p:nvSpPr>
        <p:spPr>
          <a:xfrm>
            <a:off x="319251" y="34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Delete that line and the program is a chain again.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And the conditional ones</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96499"/>
            <a:ext cx="6014545" cy="1327002"/>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err="1">
                <a:solidFill>
                  <a:srgbClr val="28285E"/>
                </a:solidFill>
                <a:latin typeface="Maple Mono NF"/>
              </a:rPr>
              <a:t>graph.add_conditional_edges</a:t>
            </a:r>
            <a:r>
              <a:rPr sz="1100" dirty="0">
                <a:solidFill>
                  <a:srgbClr val="28285E"/>
                </a:solidFill>
                <a:latin typeface="Maple Mono NF"/>
              </a:rPr>
              <a:t>("controller", </a:t>
            </a:r>
            <a:r>
              <a:rPr sz="1100" dirty="0" err="1">
                <a:solidFill>
                  <a:srgbClr val="28285E"/>
                </a:solidFill>
                <a:latin typeface="Maple Mono NF"/>
              </a:rPr>
              <a:t>self.after_controller</a:t>
            </a:r>
            <a:r>
              <a:rPr sz="1100" dirty="0">
                <a:solidFill>
                  <a:srgbClr val="28285E"/>
                </a:solidFill>
                <a:latin typeface="Maple Mono NF"/>
              </a:rPr>
              <a:t>,</a:t>
            </a:r>
          </a:p>
          <a:p>
            <a:pPr algn="l">
              <a:buNone/>
            </a:pPr>
            <a:r>
              <a:rPr sz="1100" dirty="0">
                <a:solidFill>
                  <a:srgbClr val="28285E"/>
                </a:solidFill>
                <a:latin typeface="Maple Mono NF"/>
              </a:rPr>
              <a:t>                    {"tools": "tools", "submit": "submit", END: END})</a:t>
            </a:r>
            <a:endParaRPr lang="en-US" sz="1100" dirty="0">
              <a:solidFill>
                <a:srgbClr val="28285E"/>
              </a:solidFill>
              <a:latin typeface="Maple Mono NF"/>
            </a:endParaRPr>
          </a:p>
          <a:p>
            <a:pPr algn="l">
              <a:buNone/>
            </a:pPr>
            <a:endParaRPr sz="1100" dirty="0">
              <a:solidFill>
                <a:srgbClr val="28285E"/>
              </a:solidFill>
              <a:latin typeface="Maple Mono NF"/>
            </a:endParaRPr>
          </a:p>
          <a:p>
            <a:pPr algn="l">
              <a:buNone/>
            </a:pPr>
            <a:r>
              <a:rPr sz="1100" dirty="0" err="1">
                <a:solidFill>
                  <a:srgbClr val="28285E"/>
                </a:solidFill>
                <a:latin typeface="Maple Mono NF"/>
              </a:rPr>
              <a:t>graph.add_conditional_edges</a:t>
            </a:r>
            <a:r>
              <a:rPr sz="1100" dirty="0">
                <a:solidFill>
                  <a:srgbClr val="28285E"/>
                </a:solidFill>
                <a:latin typeface="Maple Mono NF"/>
              </a:rPr>
              <a:t>("submit", </a:t>
            </a:r>
            <a:r>
              <a:rPr sz="1100" dirty="0" err="1">
                <a:solidFill>
                  <a:srgbClr val="28285E"/>
                </a:solidFill>
                <a:latin typeface="Maple Mono NF"/>
              </a:rPr>
              <a:t>self.after_submit</a:t>
            </a:r>
            <a:r>
              <a:rPr sz="1100" dirty="0">
                <a:solidFill>
                  <a:srgbClr val="28285E"/>
                </a:solidFill>
                <a:latin typeface="Maple Mono NF"/>
              </a:rPr>
              <a:t>,</a:t>
            </a:r>
          </a:p>
          <a:p>
            <a:pPr algn="l">
              <a:buNone/>
            </a:pPr>
            <a:r>
              <a:rPr sz="1100" dirty="0">
                <a:solidFill>
                  <a:srgbClr val="28285E"/>
                </a:solidFill>
                <a:latin typeface="Maple Mono NF"/>
              </a:rPr>
              <a:t>                            {"controller": "controller", END: END})</a:t>
            </a:r>
          </a:p>
        </p:txBody>
      </p:sp>
      <p:sp>
        <p:nvSpPr>
          <p:cNvPr id="5" name="Rectangle 4"/>
          <p:cNvSpPr/>
          <p:nvPr/>
        </p:nvSpPr>
        <p:spPr>
          <a:xfrm>
            <a:off x="319251" y="2719999"/>
            <a:ext cx="6014545" cy="83797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 conditional edge is a function plus </a:t>
            </a:r>
            <a:r>
              <a:rPr sz="1400" b="1">
                <a:solidFill>
                  <a:schemeClr val="tx2"/>
                </a:solidFill>
              </a:rPr>
              <a:t>the set of successors it is allowed to name</a:t>
            </a:r>
            <a:r>
              <a:rPr sz="1400">
                <a:solidFill>
                  <a:schemeClr val="tx2"/>
                </a:solidFill>
              </a:rPr>
              <a:t>. The function returns a key; the dictionary turns that key into a node.</a:t>
            </a:r>
          </a:p>
        </p:txBody>
      </p:sp>
      <p:sp>
        <p:nvSpPr>
          <p:cNvPr id="6" name="Rectangle 5"/>
          <p:cNvSpPr/>
          <p:nvPr/>
        </p:nvSpPr>
        <p:spPr>
          <a:xfrm>
            <a:off x="319251" y="3757975"/>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cannot go anywhere that is not in that dictionary.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compile</a:t>
            </a:r>
          </a:p>
        </p:txBody>
      </p:sp>
      <p:sp>
        <p:nvSpPr>
          <p:cNvPr id="3" name="TextBox 2"/>
          <p:cNvSpPr txBox="1"/>
          <p:nvPr/>
        </p:nvSpPr>
        <p:spPr>
          <a:xfrm>
            <a:off x="319251" y="82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12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compile(self):</a:t>
            </a:r>
          </a:p>
          <a:p>
            <a:pPr algn="l">
              <a:buNone/>
            </a:pPr>
            <a:r>
              <a:rPr sz="1100">
                <a:solidFill>
                  <a:srgbClr val="28285E"/>
                </a:solidFill>
                <a:latin typeface="Maple Mono NF"/>
              </a:rPr>
              <a:t>    graph = StateGraph(AgentState)</a:t>
            </a:r>
          </a:p>
          <a:p>
            <a:pPr algn="l">
              <a:buNone/>
            </a:pPr>
            <a:r>
              <a:rPr sz="1100">
                <a:solidFill>
                  <a:srgbClr val="8A8A9A"/>
                </a:solidFill>
                <a:latin typeface="Maple Mono NF"/>
              </a:rPr>
              <a:t>    ...                    # the nodes and edges, as above</a:t>
            </a:r>
          </a:p>
          <a:p>
            <a:pPr algn="l">
              <a:buNone/>
            </a:pPr>
            <a:r>
              <a:rPr sz="1100" b="1">
                <a:solidFill>
                  <a:srgbClr val="C73561"/>
                </a:solidFill>
                <a:latin typeface="Maple Mono NF"/>
              </a:rPr>
              <a:t>    return graph.compile()</a:t>
            </a:r>
          </a:p>
        </p:txBody>
      </p:sp>
      <p:sp>
        <p:nvSpPr>
          <p:cNvPr id="5" name="Rectangle 4"/>
          <p:cNvSpPr/>
          <p:nvPr/>
        </p:nvSpPr>
        <p:spPr>
          <a:xfrm>
            <a:off x="319251" y="271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Compiled once, before any alert is read. </a:t>
            </a:r>
            <a:r>
              <a:rPr sz="1400" b="1">
                <a:solidFill>
                  <a:schemeClr val="tx2"/>
                </a:solidFill>
              </a:rPr>
              <a:t>The same object runs every alert</a:t>
            </a:r>
            <a:r>
              <a:rPr sz="1400">
                <a:solidFill>
                  <a:schemeClr val="tx2"/>
                </a:solidFill>
              </a:rPr>
              <a:t>.</a:t>
            </a:r>
          </a:p>
        </p:txBody>
      </p:sp>
      <p:sp>
        <p:nvSpPr>
          <p:cNvPr id="6" name="Rectangle 5"/>
          <p:cNvSpPr/>
          <p:nvPr/>
        </p:nvSpPr>
        <p:spPr>
          <a:xfrm>
            <a:off x="319251" y="35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Dynamic paths do not need a dynamic graph.</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picks the edge</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after_controller</a:t>
            </a:r>
          </a:p>
        </p:txBody>
      </p:sp>
      <p:sp>
        <p:nvSpPr>
          <p:cNvPr id="4" name="Rounded Rectangle 3"/>
          <p:cNvSpPr/>
          <p:nvPr/>
        </p:nvSpPr>
        <p:spPr>
          <a:xfrm>
            <a:off x="319251" y="1000000"/>
            <a:ext cx="6014545" cy="15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after_controller(self, state) -&gt; str:</a:t>
            </a:r>
          </a:p>
          <a:p>
            <a:pPr algn="l">
              <a:buNone/>
            </a:pPr>
            <a:r>
              <a:rPr sz="1100">
                <a:solidFill>
                  <a:srgbClr val="28285E"/>
                </a:solidFill>
                <a:latin typeface="Maple Mono NF"/>
              </a:rPr>
              <a:t>    if state["status"] != RUNNING:</a:t>
            </a:r>
          </a:p>
          <a:p>
            <a:pPr algn="l">
              <a:buNone/>
            </a:pPr>
            <a:r>
              <a:rPr sz="1100">
                <a:solidFill>
                  <a:srgbClr val="28285E"/>
                </a:solidFill>
                <a:latin typeface="Maple Mono NF"/>
              </a:rPr>
              <a:t>        return END</a:t>
            </a:r>
          </a:p>
          <a:p>
            <a:pPr algn="l">
              <a:buNone/>
            </a:pPr>
            <a:r>
              <a:rPr sz="1100" b="1">
                <a:solidFill>
                  <a:srgbClr val="C73561"/>
                </a:solidFill>
                <a:latin typeface="Maple Mono NF"/>
              </a:rPr>
              <a:t>    if state["messages"][-1].tool_calls:</a:t>
            </a:r>
          </a:p>
          <a:p>
            <a:pPr algn="l">
              <a:buNone/>
            </a:pPr>
            <a:r>
              <a:rPr sz="1100" b="1">
                <a:solidFill>
                  <a:srgbClr val="C73561"/>
                </a:solidFill>
                <a:latin typeface="Maple Mono NF"/>
              </a:rPr>
              <a:t>        return "tools"</a:t>
            </a:r>
          </a:p>
          <a:p>
            <a:pPr algn="l">
              <a:buNone/>
            </a:pPr>
            <a:r>
              <a:rPr sz="1100" b="1">
                <a:solidFill>
                  <a:srgbClr val="C73561"/>
                </a:solidFill>
                <a:latin typeface="Maple Mono NF"/>
              </a:rPr>
              <a:t>    return "submit"</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picks its own successor by </a:t>
            </a:r>
            <a:r>
              <a:rPr sz="1400" b="1">
                <a:solidFill>
                  <a:schemeClr val="tx2"/>
                </a:solidFill>
              </a:rPr>
              <a:t>emitting a tool call, or not</a:t>
            </a:r>
            <a:r>
              <a:rPr sz="1400">
                <a:solidFill>
                  <a:schemeClr val="tx2"/>
                </a:solidFill>
              </a:rPr>
              <a: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trace records </a:t>
            </a:r>
            <a:r>
              <a:rPr sz="1200" b="1">
                <a:solidFill>
                  <a:srgbClr val="C73561"/>
                </a:solidFill>
              </a:rPr>
              <a:t>by="model"</a:t>
            </a:r>
            <a:r>
              <a:rPr sz="1200" b="1">
                <a:solidFill>
                  <a:srgbClr val="28285E"/>
                </a:solidFill>
              </a:rPr>
              <a:t> on these two edges, and </a:t>
            </a:r>
            <a:r>
              <a:rPr sz="1200" b="1">
                <a:solidFill>
                  <a:srgbClr val="C73561"/>
                </a:solidFill>
              </a:rPr>
              <a:t>by="runtime"</a:t>
            </a:r>
            <a:r>
              <a:rPr sz="1200" b="1">
                <a:solidFill>
                  <a:srgbClr val="28285E"/>
                </a:solidFill>
              </a:rPr>
              <a:t> on every other.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row moves</a:t>
            </a:r>
          </a:p>
        </p:txBody>
      </p:sp>
      <p:graphicFrame>
        <p:nvGraphicFramePr>
          <p:cNvPr id="3" name="Table 2"/>
          <p:cNvGraphicFramePr>
            <a:graphicFrameLocks noGrp="1"/>
          </p:cNvGraphicFramePr>
          <p:nvPr>
            <p:extLst>
              <p:ext uri="{D42A27DB-BD31-4B8C-83A1-F6EECF244321}">
                <p14:modId xmlns:p14="http://schemas.microsoft.com/office/powerpoint/2010/main" val="1593811576"/>
              </p:ext>
            </p:extLst>
          </p:nvPr>
        </p:nvGraphicFramePr>
        <p:xfrm>
          <a:off x="319251" y="1150000"/>
          <a:ext cx="6014545" cy="1877340"/>
        </p:xfrm>
        <a:graphic>
          <a:graphicData uri="http://schemas.openxmlformats.org/drawingml/2006/table">
            <a:tbl>
              <a:tblPr>
                <a:tableStyleId>{2D5ABB26-0587-4C30-8999-92F81FD0307C}</a:tableStyleId>
              </a:tblPr>
              <a:tblGrid>
                <a:gridCol w="2370579">
                  <a:extLst>
                    <a:ext uri="{9D8B030D-6E8A-4147-A177-3AD203B41FA5}">
                      <a16:colId xmlns:a16="http://schemas.microsoft.com/office/drawing/2014/main" val="20000"/>
                    </a:ext>
                  </a:extLst>
                </a:gridCol>
                <a:gridCol w="1629421">
                  <a:extLst>
                    <a:ext uri="{9D8B030D-6E8A-4147-A177-3AD203B41FA5}">
                      <a16:colId xmlns:a16="http://schemas.microsoft.com/office/drawing/2014/main" val="20001"/>
                    </a:ext>
                  </a:extLst>
                </a:gridCol>
                <a:gridCol w="2014545">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Fixed workflow</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Reactive loop</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at run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Whether another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until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How many model calls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Bounded by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A predicate we wrote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lgn="l">
                        <a:buNone/>
                      </a:pPr>
                      <a:r>
                        <a:rPr sz="1100" b="1">
                          <a:solidFill>
                            <a:srgbClr val="28285E"/>
                          </a:solidFill>
                        </a:rPr>
                        <a:t>Which artifacts a step touches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100" b="1" i="0" u="none" strike="noStrike" cap="none" spc="0" dirty="0">
                          <a:solidFill>
                            <a:schemeClr val="accent4"/>
                          </a:solidFill>
                          <a:latin typeface="+mn-lt"/>
                          <a:ea typeface="+mn-ea"/>
                          <a:cs typeface="+mn-cs"/>
                          <a:sym typeface="Arial"/>
                        </a:rPr>
                        <a:t>The model, by using 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100" b="1">
                          <a:solidFill>
                            <a:srgbClr val="28285E"/>
                          </a:solidFill>
                        </a:rPr>
                        <a:t>What a model call returns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4" name="Rectangle 3"/>
          <p:cNvSpPr/>
          <p:nvPr/>
        </p:nvSpPr>
        <p:spPr>
          <a:xfrm>
            <a:off x="3429000" y="3620000"/>
            <a:ext cx="2904796"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The model gains </a:t>
            </a:r>
            <a:r>
              <a:rPr lang="en-US" sz="1200" b="0" dirty="0">
                <a:solidFill>
                  <a:schemeClr val="tx2"/>
                </a:solidFill>
              </a:rPr>
              <a:t>two rows of control</a:t>
            </a:r>
            <a:r>
              <a:rPr sz="1200" b="0" dirty="0">
                <a:solidFill>
                  <a:schemeClr val="tx2"/>
                </a:solidFill>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loop buys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Three things come back for the one decision we gave away:</a:t>
            </a:r>
          </a:p>
          <a:p>
            <a:pPr marL="400050" indent="-285750">
              <a:spcBef>
                <a:spcPts val="600"/>
              </a:spcBef>
              <a:spcAft>
                <a:spcPts val="600"/>
              </a:spcAft>
              <a:buClr>
                <a:srgbClr val="28285E"/>
              </a:buClr>
              <a:buSzPts val="1260"/>
              <a:buFont typeface="Fira Sans"/>
              <a:buChar char="●"/>
            </a:pPr>
            <a:r>
              <a:rPr sz="1400" b="1">
                <a:solidFill>
                  <a:schemeClr val="tx1"/>
                </a:solidFill>
              </a:rPr>
              <a:t>Reach. </a:t>
            </a:r>
            <a:r>
              <a:rPr sz="140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a:solidFill>
                  <a:schemeClr val="tx1"/>
                </a:solidFill>
              </a:rPr>
              <a:t>Proportion. </a:t>
            </a:r>
            <a:r>
              <a:rPr sz="140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a:solidFill>
                  <a:schemeClr val="tx1"/>
                </a:solidFill>
              </a:rPr>
              <a:t>Recovery. </a:t>
            </a:r>
            <a:r>
              <a:rPr sz="1400">
                <a:solidFill>
                  <a:schemeClr val="tx1"/>
                </a:solidFill>
              </a:rPr>
              <a:t>A search that returns nothing can be followed by a different one.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costs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failures live</a:t>
            </a:r>
          </a:p>
        </p:txBody>
      </p:sp>
      <p:graphicFrame>
        <p:nvGraphicFramePr>
          <p:cNvPr id="3" name="Table 2"/>
          <p:cNvGraphicFramePr>
            <a:graphicFrameLocks noGrp="1"/>
          </p:cNvGraphicFramePr>
          <p:nvPr/>
        </p:nvGraphicFramePr>
        <p:xfrm>
          <a:off x="319251" y="1250000"/>
          <a:ext cx="6014545" cy="1256310"/>
        </p:xfrm>
        <a:graphic>
          <a:graphicData uri="http://schemas.openxmlformats.org/drawingml/2006/table">
            <a:tbl>
              <a:tblPr>
                <a:tableStyleId>{2D5ABB26-0587-4C30-8999-92F81FD0307C}</a:tableStyleId>
              </a:tblPr>
              <a:tblGrid>
                <a:gridCol w="175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1914545">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tblGrid>
              <a:tr h="300000">
                <a:tc>
                  <a:txBody>
                    <a:bodyPr/>
                    <a:lstStyle/>
                    <a:p>
                      <a:pPr algn="l">
                        <a:buNone/>
                      </a:pPr>
                      <a:r>
                        <a:rPr sz="1100" b="1">
                          <a:solidFill>
                            <a:schemeClr val="tx1"/>
                          </a:solidFill>
                        </a:rPr>
                        <a:t>Tool</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Architecture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Where the failure appears</a:t>
                      </a:r>
                    </a:p>
                  </a:txBody>
                  <a:tcPr marL="95250" marR="95250" marT="47625" marB="47625">
                    <a:lnB w="12700" cap="flat" cmpd="sng" algn="ctr">
                      <a:solidFill>
                        <a:schemeClr val="tx1"/>
                      </a:solidFill>
                    </a:lnB>
                    <a:noFill/>
                  </a:tcPr>
                </a:tc>
                <a:tc>
                  <a:txBody>
                    <a:bodyPr/>
                    <a:lstStyle/>
                    <a:p>
                      <a:pPr algn="r">
                        <a:buNone/>
                      </a:pPr>
                      <a:r>
                        <a:rPr sz="1100" b="1">
                          <a:solidFill>
                            <a:schemeClr val="tx1"/>
                          </a:solidFill>
                        </a:rPr>
                        <a:t>Share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Agentless-1.5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Fixed workflow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Localization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OpenHands-CodeAct-2.1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49.1%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Tools + Claude 3.5 Sonnet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1133796" y="2900000"/>
            <a:ext cx="5200000" cy="253916"/>
          </a:xfrm>
          <a:prstGeom prst="rect">
            <a:avLst/>
          </a:prstGeom>
          <a:noFill/>
        </p:spPr>
        <p:txBody>
          <a:bodyPr wrap="none">
            <a:spAutoFit/>
          </a:bodyPr>
          <a:lstStyle/>
          <a:p>
            <a:pPr algn="r"/>
            <a:r>
              <a:rPr sz="1050" i="1">
                <a:solidFill>
                  <a:schemeClr val="bg2"/>
                </a:solidFill>
              </a:rPr>
              <a:t>Liu et al., 150 hand-annotated failures, SWE-bench Verified, one backbone model</a:t>
            </a:r>
          </a:p>
        </p:txBody>
      </p:sp>
      <p:sp>
        <p:nvSpPr>
          <p:cNvPr id="5" name="Rectangle 4"/>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fixed workflow fails where it commits earliest. </a:t>
            </a:r>
            <a:r>
              <a:rPr sz="1400" b="1" dirty="0">
                <a:solidFill>
                  <a:schemeClr val="tx2"/>
                </a:solidFill>
              </a:rPr>
              <a:t>The loop fails inside the iteration it bought</a:t>
            </a:r>
            <a:r>
              <a:rPr lang="en-US" b="1" dirty="0">
                <a:solidFill>
                  <a:schemeClr val="tx2"/>
                </a:solidFill>
              </a:rPr>
              <a:t> with model driven automation.</a:t>
            </a:r>
            <a:endParaRPr sz="1400" dirty="0">
              <a:solidFill>
                <a:schemeClr val="tx2"/>
              </a:solidFill>
            </a:endParaRPr>
          </a:p>
        </p:txBody>
      </p:sp>
      <p:sp>
        <p:nvSpPr>
          <p:cNvPr id="6" name="Rectangle 5"/>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All three ran the same model, so this shows where each one fails. It does not prove the architecture caused it.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shapes of failure</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Roughly 65% come from flawed reasoning, in three named shapes:</a:t>
            </a:r>
          </a:p>
          <a:p>
            <a:pPr marL="400050" indent="-285750">
              <a:spcBef>
                <a:spcPts val="600"/>
              </a:spcBef>
              <a:spcAft>
                <a:spcPts val="600"/>
              </a:spcAft>
              <a:buClr>
                <a:srgbClr val="28285E"/>
              </a:buClr>
              <a:buSzPts val="1260"/>
              <a:buFont typeface="Fira Sans"/>
              <a:buChar char="●"/>
            </a:pPr>
            <a:r>
              <a:rPr sz="1400" b="1">
                <a:solidFill>
                  <a:schemeClr val="tx1"/>
                </a:solidFill>
              </a:rPr>
              <a:t>Non-progressive iteration. </a:t>
            </a:r>
            <a:r>
              <a:rPr sz="1400">
                <a:solidFill>
                  <a:schemeClr val="tx1"/>
                </a:solidFill>
              </a:rPr>
              <a:t>Near-identical patches, regenerated, while the defect persists.</a:t>
            </a:r>
            <a:r>
              <a:rPr sz="1400" b="1">
                <a:solidFill>
                  <a:srgbClr val="C73561"/>
                </a:solidFill>
              </a:rPr>
              <a:t>  (a plan answers it)</a:t>
            </a:r>
          </a:p>
          <a:p>
            <a:pPr marL="400050" indent="-285750">
              <a:spcBef>
                <a:spcPts val="600"/>
              </a:spcBef>
              <a:spcAft>
                <a:spcPts val="600"/>
              </a:spcAft>
              <a:buClr>
                <a:srgbClr val="28285E"/>
              </a:buClr>
              <a:buSzPts val="1260"/>
              <a:buFont typeface="Fira Sans"/>
              <a:buChar char="●"/>
            </a:pPr>
            <a:r>
              <a:rPr sz="1400" b="1">
                <a:solidFill>
                  <a:schemeClr val="tx1"/>
                </a:solidFill>
              </a:rPr>
              <a:t>Validation retreat. </a:t>
            </a:r>
            <a:r>
              <a:rPr sz="1400">
                <a:solidFill>
                  <a:schemeClr val="tx1"/>
                </a:solidFill>
              </a:rPr>
              <a:t>The failing test is edited instead of the code.</a:t>
            </a:r>
            <a:r>
              <a:rPr sz="1400" b="1">
                <a:solidFill>
                  <a:srgbClr val="C73561"/>
                </a:solidFill>
              </a:rPr>
              <a:t>  (a validator answers it)</a:t>
            </a:r>
          </a:p>
          <a:p>
            <a:pPr marL="400050" indent="-285750">
              <a:spcBef>
                <a:spcPts val="600"/>
              </a:spcBef>
              <a:spcAft>
                <a:spcPts val="600"/>
              </a:spcAft>
              <a:buClr>
                <a:srgbClr val="28285E"/>
              </a:buClr>
              <a:buSzPts val="1260"/>
              <a:buFont typeface="Fira Sans"/>
              <a:buChar char="●"/>
            </a:pPr>
            <a:r>
              <a:rPr sz="1400" b="1">
                <a:solidFill>
                  <a:schemeClr val="tx1"/>
                </a:solidFill>
              </a:rPr>
              <a:t>Context amnesia. </a:t>
            </a:r>
            <a:r>
              <a:rPr sz="1400">
                <a:solidFill>
                  <a:schemeClr val="tx1"/>
                </a:solidFill>
              </a:rPr>
              <a:t>The original objective is lost over a long interaction.</a:t>
            </a:r>
            <a:r>
              <a:rPr sz="1400" b="1">
                <a:solidFill>
                  <a:srgbClr val="C73561"/>
                </a:solidFill>
              </a:rPr>
              <a:t>  (reflection answers it)</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None of the three is visible to the loop while it runs. </a:t>
            </a:r>
            <a:r>
              <a:rPr sz="1400" b="1" dirty="0">
                <a:solidFill>
                  <a:schemeClr val="tx2"/>
                </a:solidFill>
              </a:rPr>
              <a:t>Failed issues burn about 3.5 times the steps of successful ones</a:t>
            </a:r>
            <a:r>
              <a:rPr sz="1400" dirty="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While it is running, the loop cannot tell a good run from a bad one.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stops are ours</a:t>
            </a:r>
          </a:p>
        </p:txBody>
      </p:sp>
      <p:sp>
        <p:nvSpPr>
          <p:cNvPr id="3" name="Content Placeholder 2"/>
          <p:cNvSpPr>
            <a:spLocks noGrp="1"/>
          </p:cNvSpPr>
          <p:nvPr>
            <p:ph idx="1"/>
          </p:nvPr>
        </p:nvSpPr>
        <p:spPr>
          <a:xfrm>
            <a:off x="319251" y="2500000"/>
            <a:ext cx="6014545" cy="1490000"/>
          </a:xfrm>
        </p:spPr>
        <p:txBody>
          <a:bodyPr wrap="square">
            <a:normAutofit fontScale="92500" lnSpcReduction="20000"/>
          </a:bodyPr>
          <a:lstStyle/>
          <a:p>
            <a:pPr marL="0" indent="0">
              <a:buNone/>
            </a:pPr>
            <a:r>
              <a:rPr lang="en-US" sz="1400" b="1" dirty="0">
                <a:solidFill>
                  <a:srgbClr val="28285E"/>
                </a:solidFill>
              </a:rPr>
              <a:t>We have t</a:t>
            </a:r>
            <a:r>
              <a:rPr sz="1400" b="1" dirty="0">
                <a:solidFill>
                  <a:srgbClr val="28285E"/>
                </a:solidFill>
              </a:rPr>
              <a:t>wo runtime stops</a:t>
            </a:r>
            <a:r>
              <a:rPr lang="en-US" sz="1400" b="1" dirty="0">
                <a:solidFill>
                  <a:srgbClr val="28285E"/>
                </a:solidFill>
              </a:rPr>
              <a:t> that differ on where they sit.</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Before the call, not after. </a:t>
            </a:r>
            <a:r>
              <a:rPr sz="1400" dirty="0">
                <a:solidFill>
                  <a:schemeClr val="tx1"/>
                </a:solidFill>
              </a:rPr>
              <a:t>Checked afterwards they are a post-mortem, not a control.</a:t>
            </a:r>
          </a:p>
          <a:p>
            <a:pPr marL="400050" indent="-285750">
              <a:spcBef>
                <a:spcPts val="600"/>
              </a:spcBef>
              <a:spcAft>
                <a:spcPts val="600"/>
              </a:spcAft>
              <a:buClr>
                <a:srgbClr val="28285E"/>
              </a:buClr>
              <a:buSzPts val="1260"/>
              <a:buFont typeface="Fira Sans"/>
              <a:buChar char="●"/>
            </a:pPr>
            <a:r>
              <a:rPr sz="1400" b="1" dirty="0">
                <a:latin typeface="Maple Mono NF"/>
              </a:rPr>
              <a:t>stalled</a:t>
            </a:r>
            <a:r>
              <a:rPr sz="1400" b="1" dirty="0">
                <a:solidFill>
                  <a:schemeClr val="tx1"/>
                </a:solidFill>
              </a:rPr>
              <a:t> compares results, not calls. </a:t>
            </a:r>
            <a:r>
              <a:rPr sz="1400" dirty="0">
                <a:solidFill>
                  <a:schemeClr val="tx1"/>
                </a:solidFill>
              </a:rPr>
              <a:t>Six distinct search patterns, all returning nothing, evade a same-call rule.</a:t>
            </a:r>
          </a:p>
        </p:txBody>
      </p:sp>
      <p:sp>
        <p:nvSpPr>
          <p:cNvPr id="4" name="TextBox 3"/>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controller, before the model call</a:t>
            </a:r>
          </a:p>
        </p:txBody>
      </p:sp>
      <p:sp>
        <p:nvSpPr>
          <p:cNvPr id="5" name="Rounded Rectangle 4"/>
          <p:cNvSpPr/>
          <p:nvPr/>
        </p:nvSpPr>
        <p:spPr>
          <a:xfrm>
            <a:off x="319251" y="1000000"/>
            <a:ext cx="6014545" cy="14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state["model_calls"] &gt;= self.config.budget:</a:t>
            </a:r>
          </a:p>
          <a:p>
            <a:pPr algn="l">
              <a:buNone/>
            </a:pPr>
            <a:r>
              <a:rPr sz="1100">
                <a:solidFill>
                  <a:srgbClr val="28285E"/>
                </a:solidFill>
                <a:latin typeface="Maple Mono NF"/>
              </a:rPr>
              <a:t>    return {"status": TerminalStatus.BUDGET_EXHAUSTED}</a:t>
            </a:r>
          </a:p>
          <a:p>
            <a:pPr algn="l">
              <a:buNone/>
            </a:pPr>
            <a:endParaRPr sz="1100">
              <a:solidFill>
                <a:srgbClr val="28285E"/>
              </a:solidFill>
              <a:latin typeface="Maple Mono NF"/>
            </a:endParaRPr>
          </a:p>
          <a:p>
            <a:pPr algn="l">
              <a:buNone/>
            </a:pPr>
            <a:r>
              <a:rPr sz="1100" b="1">
                <a:solidFill>
                  <a:srgbClr val="C73561"/>
                </a:solidFill>
                <a:latin typeface="Maple Mono NF"/>
              </a:rPr>
              <a:t>if self.stalled(state["observations"], ...):</a:t>
            </a:r>
          </a:p>
          <a:p>
            <a:pPr algn="l">
              <a:buNone/>
            </a:pPr>
            <a:r>
              <a:rPr sz="1100" b="1">
                <a:solidFill>
                  <a:srgbClr val="C73561"/>
                </a:solidFill>
                <a:latin typeface="Maple Mono NF"/>
              </a:rPr>
              <a:t>    return {"status": TerminalStatus.NO_PROGRESS}</a:t>
            </a:r>
          </a:p>
        </p:txBody>
      </p:sp>
      <p:sp>
        <p:nvSpPr>
          <p:cNvPr id="6" name="Rectangle 5"/>
          <p:cNvSpPr/>
          <p:nvPr/>
        </p:nvSpPr>
        <p:spPr>
          <a:xfrm>
            <a:off x="319251" y="41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budget = 40 model calls.  no_progress = 3 identical results.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writes the observation</a:t>
            </a:r>
          </a:p>
        </p:txBody>
      </p:sp>
      <p:sp>
        <p:nvSpPr>
          <p:cNvPr id="3" name="Content Placeholder 2"/>
          <p:cNvSpPr>
            <a:spLocks noGrp="1"/>
          </p:cNvSpPr>
          <p:nvPr>
            <p:ph idx="1"/>
          </p:nvPr>
        </p:nvSpPr>
        <p:spPr>
          <a:xfrm>
            <a:off x="319251" y="700000"/>
            <a:ext cx="6014545" cy="2350000"/>
          </a:xfrm>
        </p:spPr>
        <p:txBody>
          <a:bodyPr wrap="square">
            <a:normAutofit fontScale="92500"/>
          </a:bodyPr>
          <a:lstStyle/>
          <a:p>
            <a:pPr marL="0" indent="0">
              <a:buNone/>
            </a:pPr>
            <a:r>
              <a:rPr sz="1400" b="1">
                <a:solidFill>
                  <a:srgbClr val="28285E"/>
                </a:solidFill>
              </a:rPr>
              <a:t>The last failure here is ours, not the model's:</a:t>
            </a:r>
          </a:p>
          <a:p>
            <a:pPr marL="400050" indent="-285750">
              <a:spcBef>
                <a:spcPts val="600"/>
              </a:spcBef>
              <a:spcAft>
                <a:spcPts val="600"/>
              </a:spcAft>
              <a:buClr>
                <a:srgbClr val="28285E"/>
              </a:buClr>
              <a:buSzPts val="1260"/>
              <a:buFont typeface="Fira Sans"/>
              <a:buChar char="●"/>
            </a:pPr>
            <a:r>
              <a:rPr sz="1400" b="1">
                <a:solidFill>
                  <a:srgbClr val="28285E"/>
                </a:solidFill>
              </a:rPr>
              <a:t>Soliloquizing. </a:t>
            </a:r>
            <a:r>
              <a:rPr sz="1400">
                <a:solidFill>
                  <a:schemeClr val="tx1"/>
                </a:solidFill>
              </a:rPr>
              <a:t>The model writes a thought, an action, and an observation it invented, without touching the environment.</a:t>
            </a:r>
          </a:p>
          <a:p>
            <a:pPr marL="400050" indent="-285750">
              <a:spcBef>
                <a:spcPts val="600"/>
              </a:spcBef>
              <a:spcAft>
                <a:spcPts val="600"/>
              </a:spcAft>
              <a:buClr>
                <a:srgbClr val="28285E"/>
              </a:buClr>
              <a:buSzPts val="1260"/>
              <a:buFont typeface="Fira Sans"/>
              <a:buChar char="●"/>
            </a:pPr>
            <a:r>
              <a:rPr sz="1400" b="1">
                <a:solidFill>
                  <a:srgbClr val="28285E"/>
                </a:solidFill>
              </a:rPr>
              <a:t>It is not rare. </a:t>
            </a:r>
            <a:r>
              <a:rPr sz="1400">
                <a:solidFill>
                  <a:schemeClr val="tx1"/>
                </a:solidFill>
              </a:rPr>
              <a:t>48.4% of trajectories on one capture-the-flag benchmark with one model. Two other models produced none of it.</a:t>
            </a:r>
          </a:p>
          <a:p>
            <a:pPr marL="400050" indent="-285750">
              <a:spcBef>
                <a:spcPts val="600"/>
              </a:spcBef>
              <a:spcAft>
                <a:spcPts val="600"/>
              </a:spcAft>
              <a:buClr>
                <a:srgbClr val="28285E"/>
              </a:buClr>
              <a:buSzPts val="1260"/>
              <a:buFont typeface="Fira Sans"/>
              <a:buChar char="●"/>
            </a:pPr>
            <a:r>
              <a:rPr sz="1400" b="1">
                <a:solidFill>
                  <a:srgbClr val="28285E"/>
                </a:solidFill>
              </a:rPr>
              <a:t>The fix is structural. </a:t>
            </a:r>
            <a:r>
              <a:rPr sz="1400">
                <a:solidFill>
                  <a:schemeClr val="tx1"/>
                </a:solidFill>
              </a:rPr>
              <a:t>The runtime writes the observation field. Asking the model not to invent one is not a control.</a:t>
            </a:r>
          </a:p>
        </p:txBody>
      </p:sp>
      <p:sp>
        <p:nvSpPr>
          <p:cNvPr id="4" name="TextBox 3"/>
          <p:cNvSpPr txBox="1"/>
          <p:nvPr/>
        </p:nvSpPr>
        <p:spPr>
          <a:xfrm>
            <a:off x="2133796" y="3100000"/>
            <a:ext cx="4200000" cy="253916"/>
          </a:xfrm>
          <a:prstGeom prst="rect">
            <a:avLst/>
          </a:prstGeom>
          <a:noFill/>
        </p:spPr>
        <p:txBody>
          <a:bodyPr wrap="none">
            <a:spAutoFit/>
          </a:bodyPr>
          <a:lstStyle/>
          <a:p>
            <a:pPr algn="r"/>
            <a:r>
              <a:rPr sz="1050" i="1">
                <a:solidFill>
                  <a:srgbClr val="28285E"/>
                </a:solidFill>
              </a:rPr>
              <a:t>Abramovich et al., EnIGMA, ICML 2025, Table 4 — agents on capture-the-flag tasks</a:t>
            </a:r>
          </a:p>
        </p:txBody>
      </p:sp>
      <p:sp>
        <p:nvSpPr>
          <p:cNvPr id="5" name="Rectangle 4"/>
          <p:cNvSpPr/>
          <p:nvPr/>
        </p:nvSpPr>
        <p:spPr>
          <a:xfrm>
            <a:off x="319251" y="35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 model that writes its own observations is not acting to see. </a:t>
            </a:r>
            <a:r>
              <a:rPr sz="1400" b="1">
                <a:solidFill>
                  <a:schemeClr val="tx2"/>
                </a:solidFill>
              </a:rPr>
              <a:t>It is reasoning with extra steps</a:t>
            </a:r>
            <a:r>
              <a:rPr sz="1400">
                <a:solidFill>
                  <a:schemeClr val="tx2"/>
                </a:solidFill>
              </a:rPr>
              <a:t>.</a:t>
            </a:r>
          </a:p>
        </p:txBody>
      </p:sp>
      <p:sp>
        <p:nvSpPr>
          <p:cNvPr id="6" name="Rectangle 5"/>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In the demo an observation is only ever built inside the dispatcher.</a:t>
            </a:r>
          </a:p>
        </p:txBody>
      </p:sp>
    </p:spTree>
  </p:cSld>
  <p:clrMapOvr>
    <a:masterClrMapping/>
  </p:clrMapOvr>
  <p:extLst>
    <p:ext uri="{6950BFC3-D8DA-4A85-94F7-54DA5524770B}">
      <p188:commentRel xmlns:p188="http://schemas.microsoft.com/office/powerpoint/2018/8/main" r:id="rId3"/>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samples from our run</a:t>
            </a:r>
            <a:endParaRPr dirty="0"/>
          </a:p>
        </p:txBody>
      </p:sp>
      <p:pic>
        <p:nvPicPr>
          <p:cNvPr id="5" name="Picture 4" descr="seq-loop-run-deck.png"/>
          <p:cNvPicPr>
            <a:picLocks noChangeAspect="1"/>
          </p:cNvPicPr>
          <p:nvPr/>
        </p:nvPicPr>
        <p:blipFill>
          <a:blip r:embed="rId3"/>
          <a:stretch>
            <a:fillRect/>
          </a:stretch>
        </p:blipFill>
        <p:spPr>
          <a:xfrm>
            <a:off x="776523" y="620000"/>
            <a:ext cx="5100000" cy="3547332"/>
          </a:xfrm>
          <a:prstGeom prst="rect">
            <a:avLst/>
          </a:prstGeom>
        </p:spPr>
      </p:pic>
      <p:sp>
        <p:nvSpPr>
          <p:cNvPr id="6" name="Rectangle 5"/>
          <p:cNvSpPr/>
          <p:nvPr/>
        </p:nvSpPr>
        <p:spPr>
          <a:xfrm>
            <a:off x="319251" y="4360000"/>
            <a:ext cx="6014545" cy="3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Accepted, in four model calls against a budget of forty.</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2988</TotalTime>
  <Words>9420</Words>
  <Application>Microsoft Macintosh PowerPoint</Application>
  <PresentationFormat>Custom</PresentationFormat>
  <Paragraphs>577</Paragraphs>
  <Slides>53</Slides>
  <Notes>43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Fira Sans Light</vt:lpstr>
      <vt:lpstr>Fira Sans</vt:lpstr>
      <vt:lpstr>Maple Mono NF</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PowerPoint Presentation</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The rest of this lecture</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lpstr>What the fixed shape costs</vt:lpstr>
      <vt:lpstr>Agentless: A sample realization of a workflow</vt:lpstr>
      <vt:lpstr>Agentless and SWE-agent</vt:lpstr>
      <vt:lpstr>Grains of salt</vt:lpstr>
      <vt:lpstr>PowerPoint Presentation</vt:lpstr>
      <vt:lpstr>A reactive loop</vt:lpstr>
      <vt:lpstr>The graph our first demo compiles</vt:lpstr>
      <vt:lpstr>The graph, in code: the nodes</vt:lpstr>
      <vt:lpstr>Then the edges</vt:lpstr>
      <vt:lpstr>And the conditional ones</vt:lpstr>
      <vt:lpstr>Then compile</vt:lpstr>
      <vt:lpstr>Who picks the edge</vt:lpstr>
      <vt:lpstr>One row moves</vt:lpstr>
      <vt:lpstr>What the loop buys</vt:lpstr>
      <vt:lpstr>What it costs</vt:lpstr>
      <vt:lpstr>Where the failures live</vt:lpstr>
      <vt:lpstr>Three shapes of failure</vt:lpstr>
      <vt:lpstr>The stops are ours</vt:lpstr>
      <vt:lpstr>Who writes the observation</vt:lpstr>
      <vt:lpstr>Some samples from our run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87</cp:revision>
  <dcterms:modified xsi:type="dcterms:W3CDTF">2026-09-18T16:11:23Z</dcterms:modified>
</cp:coreProperties>
</file>
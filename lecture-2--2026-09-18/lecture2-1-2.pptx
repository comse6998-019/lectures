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2"/>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78" r:id="rId42"/>
    <p:sldId id="379" r:id="rId43"/>
    <p:sldId id="380" r:id="rId44"/>
    <p:sldId id="369" r:id="rId45"/>
    <p:sldId id="370" r:id="rId46"/>
    <p:sldId id="371" r:id="rId47"/>
    <p:sldId id="372" r:id="rId48"/>
    <p:sldId id="373" r:id="rId49"/>
    <p:sldId id="374" r:id="rId50"/>
    <p:sldId id="375" r:id="rId51"/>
    <p:sldId id="381" r:id="rId52"/>
    <p:sldId id="377" r:id="rId53"/>
    <p:sldId id="382" r:id="rId54"/>
    <p:sldId id="376" r:id="rId55"/>
    <p:sldId id="384" r:id="rId56"/>
    <p:sldId id="383" r:id="rId57"/>
    <p:sldId id="399" r:id="rId58"/>
    <p:sldId id="385" r:id="rId59"/>
    <p:sldId id="386" r:id="rId60"/>
    <p:sldId id="387" r:id="rId61"/>
    <p:sldId id="388" r:id="rId62"/>
    <p:sldId id="389" r:id="rId63"/>
    <p:sldId id="390" r:id="rId64"/>
    <p:sldId id="391" r:id="rId65"/>
    <p:sldId id="398" r:id="rId66"/>
    <p:sldId id="392" r:id="rId67"/>
    <p:sldId id="393" r:id="rId68"/>
    <p:sldId id="394" r:id="rId69"/>
    <p:sldId id="395" r:id="rId70"/>
    <p:sldId id="396" r:id="rId71"/>
  </p:sldIdLst>
  <p:sldSz cx="6858000" cy="5143500"/>
  <p:notesSz cx="6858000" cy="9144000"/>
  <p:embeddedFontLst>
    <p:embeddedFont>
      <p:font typeface="Fira Sans" panose="020B0503050000020004" pitchFamily="34" charset="0"/>
      <p:regular r:id="rId73"/>
      <p:bold r:id="rId74"/>
      <p:italic r:id="rId75"/>
      <p:boldItalic r:id="rId76"/>
    </p:embeddedFont>
    <p:embeddedFont>
      <p:font typeface="Fira Sans Light" panose="020B0403050000020004" pitchFamily="34" charset="0"/>
      <p:regular r:id="rId77"/>
      <p:italic r:id="rId78"/>
    </p:embeddedFont>
    <p:embeddedFont>
      <p:font typeface="Maple Mono NF" panose="020F0509060000000000" pitchFamily="49" charset="0"/>
      <p:regular r:id="rId79"/>
      <p:bold r:id="rId80"/>
      <p:italic r:id="rId81"/>
      <p:bold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81"/>
            <p14:sldId id="377"/>
            <p14:sldId id="382"/>
            <p14:sldId id="376"/>
            <p14:sldId id="384"/>
            <p14:sldId id="383"/>
            <p14:sldId id="399"/>
            <p14:sldId id="385"/>
            <p14:sldId id="386"/>
            <p14:sldId id="387"/>
            <p14:sldId id="388"/>
            <p14:sldId id="389"/>
            <p14:sldId id="390"/>
            <p14:sldId id="391"/>
            <p14:sldId id="398"/>
            <p14:sldId id="392"/>
            <p14:sldId id="393"/>
            <p14:sldId id="394"/>
            <p14:sldId id="395"/>
            <p14:sldId id="396"/>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9"/>
    <p:restoredTop sz="98401"/>
  </p:normalViewPr>
  <p:slideViewPr>
    <p:cSldViewPr snapToGrid="0">
      <p:cViewPr varScale="1">
        <p:scale>
          <a:sx n="358" d="100"/>
          <a:sy n="358" d="100"/>
        </p:scale>
        <p:origin x="3960"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8/10/relationships/authors" Target="authors.xml"/><Relationship Id="rId61" Type="http://schemas.openxmlformats.org/officeDocument/2006/relationships/slide" Target="slides/slide60.xml"/><Relationship Id="rId8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Close of section 3 said novelty is observable and progress is not. This is that gap, stated as three questions the program cannot answer about itself.</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distinction that matters for the demo: our reactive loop sits closest to the middle row with the plan removed.</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model nodes now: plan, controller, validate. The two solid edges are the only unconditional ones in the file; every dashed edge is an add_conditional_edges call. The curve from tools back to plan is the one the reactive loop did not have.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Teal marks what is new against the three-node loop of section 3. START no longer goes to the controller; it goes to the planner.</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V1 this situation ended the run with no_progress. That terminal status still exists, but it is now reached only after a revision has been tried.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replanned_at is the high-water mark. The stall check reads observations[replanned_at:], so the stall that caused a revision cannot go on to condemn the revision. It also doubles as the replan budget: one.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propose_plan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to spend a beat on. Students reach for wider search first and it is the wrong lever.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Being handed a clean rescan and asked whether that establishes a correct fix is the entire point of the node.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sharpest line in the demo source and it belongs on screen verbatim. It is also the answer to soliloquizing from section 3.</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Blocksworld is the honest exception: self-critique helped there, 40% to 55%, and a sound verifier still beat it. The notes carry that; the slide does not have room.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a:stCxn id="7" idx="0"/>
          </p:cNvCxnSpPr>
          <p:nvPr/>
        </p:nvCxnSpPr>
        <p:spPr>
          <a:xfrm>
            <a:off x="1063835" y="1862799"/>
            <a:ext cx="0" cy="29753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84B2E34-C6AD-8714-EA3F-688477F6CAD7}"/>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926E5BB-54FC-CFCE-578B-F9F40F0CAD5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74E4C5-6A4F-6834-F1C9-071E5FB2D0ED}"/>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0B95F9-3CB6-5D46-817F-039323FA6E6F}"/>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CE7FFB9-0C3A-9D7E-AE60-6379279BA0A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03726C-C63A-CC07-CA9D-764435DACEDD}"/>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8C9EB4FD-67A4-A824-E1FD-D86520884AC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577927-AE19-F916-E886-6F834CAC74E3}"/>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AF1E1A7-4D3C-ABD0-5DCF-3168894B877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A926C504-D51E-8EB0-9B1E-D22023C37963}"/>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A354829-D883-3A49-D9E6-EA8B7F10F7B8}"/>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2419CE68-E188-CA74-4343-918FD250BDFA}"/>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20B3974-57C0-3FED-3BD7-02A4B1B0D3F8}"/>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a:alphaModFix amt="90000"/>
          </a:blip>
          <a:stretch>
            <a:fillRect/>
          </a:stretch>
        </p:blipFill>
        <p:spPr>
          <a:xfrm>
            <a:off x="825474" y="3163440"/>
            <a:ext cx="5732295" cy="1718103"/>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a:solidFill>
                  <a:schemeClr val="tx1"/>
                </a:solidFill>
              </a:rPr>
              <a:t>Measure progress. </a:t>
            </a:r>
            <a:r>
              <a:rPr sz="1400" b="0">
                <a:solidFill>
                  <a:schemeClr val="tx1"/>
                </a:solidFill>
              </a:rPr>
              <a:t>Seeing that an observation is new is easy. Knowing whether the step in hand has finished is not.</a:t>
            </a:r>
          </a:p>
          <a:p>
            <a:pPr marL="400050" indent="-285750">
              <a:spcBef>
                <a:spcPts val="600"/>
              </a:spcBef>
              <a:spcAft>
                <a:spcPts val="600"/>
              </a:spcAft>
              <a:buClr>
                <a:srgbClr val="28285E"/>
              </a:buClr>
              <a:buSzPts val="1260"/>
              <a:buFont typeface="Fira Sans"/>
              <a:buChar char="●"/>
            </a:pPr>
            <a:r>
              <a:rPr sz="1400" b="1">
                <a:solidFill>
                  <a:schemeClr val="tx1"/>
                </a:solidFill>
              </a:rPr>
              <a:t>Show its intent. </a:t>
            </a:r>
            <a:r>
              <a:rPr sz="1400" b="0">
                <a:solidFill>
                  <a:schemeClr val="tx1"/>
                </a:solidFill>
              </a:rPr>
              <a:t>Halfway through a run the trace holds four thoughts and nothing that says where the run was going.</a:t>
            </a:r>
          </a:p>
          <a:p>
            <a:pPr marL="400050" indent="-285750">
              <a:spcBef>
                <a:spcPts val="600"/>
              </a:spcBef>
              <a:spcAft>
                <a:spcPts val="600"/>
              </a:spcAft>
              <a:buClr>
                <a:srgbClr val="28285E"/>
              </a:buClr>
              <a:buSzPts val="1260"/>
              <a:buFont typeface="Fira Sans"/>
              <a:buChar char="●"/>
            </a:pPr>
            <a:r>
              <a:rPr sz="1400" b="1">
                <a:solidFill>
                  <a:schemeClr val="tx1"/>
                </a:solidFill>
              </a:rPr>
              <a:t>Change course. </a:t>
            </a:r>
            <a:r>
              <a:rPr sz="1400" b="0">
                <a:solidFill>
                  <a:schemeClr val="tx1"/>
                </a:solidFill>
              </a:rPr>
              <a:t>When a step turns out to be impossible there is no remaining plan to revise, because no plan was ever written.</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Our reactive loop remembers everything it has seen. What it never records is what the run set out to do, so the program cannot tell a turn that </a:t>
            </a:r>
            <a:r>
              <a:rPr sz="1400" b="1">
                <a:solidFill>
                  <a:schemeClr val="tx2"/>
                </a:solidFill>
              </a:rPr>
              <a:t>helped</a:t>
            </a:r>
            <a:r>
              <a:rPr sz="1400" b="0">
                <a:solidFill>
                  <a:schemeClr val="tx2"/>
                </a:solidFill>
              </a:rPr>
              <a:t> from a turn that merely </a:t>
            </a:r>
            <a:r>
              <a:rPr sz="1400" b="1">
                <a:solidFill>
                  <a:schemeClr val="tx2"/>
                </a:solidFill>
              </a:rPr>
              <a:t>happened</a:t>
            </a:r>
            <a:r>
              <a:rPr sz="1400" b="0">
                <a:solidFill>
                  <a:schemeClr val="tx2"/>
                </a:solidFill>
              </a:rPr>
              <a:t>.</a:t>
            </a:r>
          </a:p>
        </p:txBody>
      </p:sp>
      <p:sp>
        <p:nvSpPr>
          <p:cNvPr id="5" name="Rectangle 4"/>
          <p:cNvSpPr/>
          <p:nvPr/>
        </p:nvSpPr>
        <p:spPr>
          <a:xfrm>
            <a:off x="319251" y="4100480"/>
            <a:ext cx="6014545" cy="49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 is the smallest thing we can add that lets the program check its own progress.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extLst>
              <p:ext uri="{D42A27DB-BD31-4B8C-83A1-F6EECF244321}">
                <p14:modId xmlns:p14="http://schemas.microsoft.com/office/powerpoint/2010/main" val="2599804413"/>
              </p:ext>
            </p:extLst>
          </p:nvPr>
        </p:nvGraphicFramePr>
        <p:xfrm>
          <a:off x="319251" y="1634008"/>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86817"/>
            <a:ext cx="4445035" cy="49636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
        <p:nvSpPr>
          <p:cNvPr id="5" name="Rectangle 4"/>
          <p:cNvSpPr/>
          <p:nvPr/>
        </p:nvSpPr>
        <p:spPr>
          <a:xfrm>
            <a:off x="319251" y="700000"/>
            <a:ext cx="6014545" cy="7979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The three shapes differ in one thing only: what a planner is allowed to change when the environment answers back</a:t>
            </a:r>
            <a:r>
              <a:rPr lang="en-US" sz="1400" b="0" dirty="0">
                <a:solidFill>
                  <a:schemeClr val="tx2"/>
                </a:solidFill>
              </a:rPr>
              <a:t>:</a:t>
            </a:r>
            <a:r>
              <a:rPr sz="1400" b="0" dirty="0">
                <a:solidFill>
                  <a:schemeClr val="tx2"/>
                </a:solidFill>
              </a:rPr>
              <a:t> </a:t>
            </a:r>
            <a:r>
              <a:rPr sz="1400" b="1" dirty="0">
                <a:solidFill>
                  <a:schemeClr val="tx2"/>
                </a:solidFill>
              </a:rPr>
              <a:t>Nothing</a:t>
            </a:r>
            <a:r>
              <a:rPr lang="en-US" sz="1400" b="1" dirty="0">
                <a:solidFill>
                  <a:schemeClr val="tx2"/>
                </a:solidFill>
              </a:rPr>
              <a:t>?</a:t>
            </a:r>
            <a:r>
              <a:rPr sz="1400" b="1" dirty="0">
                <a:solidFill>
                  <a:schemeClr val="tx2"/>
                </a:solidFill>
              </a:rPr>
              <a:t> </a:t>
            </a:r>
            <a:r>
              <a:rPr lang="en-US" sz="1400" b="1" dirty="0">
                <a:solidFill>
                  <a:schemeClr val="tx2"/>
                </a:solidFill>
              </a:rPr>
              <a:t>T</a:t>
            </a:r>
            <a:r>
              <a:rPr sz="1400" b="1" dirty="0">
                <a:solidFill>
                  <a:schemeClr val="tx2"/>
                </a:solidFill>
              </a:rPr>
              <a:t>he next action</a:t>
            </a:r>
            <a:r>
              <a:rPr lang="en-US" sz="1400" b="1" dirty="0">
                <a:solidFill>
                  <a:schemeClr val="tx2"/>
                </a:solidFill>
              </a:rPr>
              <a:t> only?</a:t>
            </a:r>
            <a:r>
              <a:rPr sz="1400" b="1" dirty="0">
                <a:solidFill>
                  <a:schemeClr val="tx2"/>
                </a:solidFill>
              </a:rPr>
              <a:t>, or the rest of the plan</a:t>
            </a:r>
            <a:r>
              <a:rPr lang="en-US" sz="1400" b="1" dirty="0">
                <a:solidFill>
                  <a:schemeClr val="tx2"/>
                </a:solidFill>
              </a:rPr>
              <a:t>?</a:t>
            </a:r>
            <a:endParaRPr sz="1400" b="1" dirty="0">
              <a:solidFill>
                <a:schemeClr val="tx2"/>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Only the third sends feedback back to the plan itself. The other two change the next action </a:t>
            </a:r>
            <a:r>
              <a:rPr sz="1200" b="1" dirty="0">
                <a:solidFill>
                  <a:srgbClr val="28285E"/>
                </a:solidFill>
              </a:rPr>
              <a:t>alone</a:t>
            </a:r>
            <a:r>
              <a:rPr sz="1200" dirty="0">
                <a:solidFill>
                  <a:srgbClr val="28285E"/>
                </a:solidFill>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our planner-based demo compiles</a:t>
            </a:r>
          </a:p>
        </p:txBody>
      </p:sp>
      <p:sp>
        <p:nvSpPr>
          <p:cNvPr id="3" name="Rectangle 2"/>
          <p:cNvSpPr/>
          <p:nvPr/>
        </p:nvSpPr>
        <p:spPr>
          <a:xfrm>
            <a:off x="319251" y="700000"/>
            <a:ext cx="6014545" cy="10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Five nodes</a:t>
            </a:r>
            <a:r>
              <a:rPr lang="en-US" sz="1400" dirty="0">
                <a:solidFill>
                  <a:schemeClr val="tx2"/>
                </a:solidFill>
              </a:rPr>
              <a:t> at locations where </a:t>
            </a:r>
            <a:r>
              <a:rPr sz="1400" dirty="0">
                <a:solidFill>
                  <a:schemeClr val="tx2"/>
                </a:solidFill>
              </a:rPr>
              <a:t>model </a:t>
            </a:r>
            <a:r>
              <a:rPr lang="en-US" sz="1400" dirty="0">
                <a:solidFill>
                  <a:schemeClr val="tx2"/>
                </a:solidFill>
              </a:rPr>
              <a:t>makes decisions</a:t>
            </a:r>
            <a:r>
              <a:rPr sz="1400" dirty="0">
                <a:solidFill>
                  <a:schemeClr val="tx2"/>
                </a:solidFill>
              </a:rPr>
              <a:t>. Two edges are unconditional: the one that </a:t>
            </a:r>
            <a:r>
              <a:rPr sz="1400" b="1" dirty="0">
                <a:solidFill>
                  <a:schemeClr val="tx2"/>
                </a:solidFill>
              </a:rPr>
              <a:t>starts</a:t>
            </a:r>
            <a:r>
              <a:rPr sz="1400" dirty="0">
                <a:solidFill>
                  <a:schemeClr val="tx2"/>
                </a:solidFill>
              </a:rPr>
              <a:t> a run at the planner and the one that </a:t>
            </a:r>
            <a:r>
              <a:rPr sz="1400" b="1" dirty="0">
                <a:solidFill>
                  <a:schemeClr val="tx2"/>
                </a:solidFill>
              </a:rPr>
              <a:t>ends</a:t>
            </a:r>
            <a:r>
              <a:rPr sz="1400" dirty="0">
                <a:solidFill>
                  <a:schemeClr val="tx2"/>
                </a:solidFill>
              </a:rPr>
              <a:t> it at the judge. Every other edge is a predicate we wrote over state.</a:t>
            </a:r>
          </a:p>
        </p:txBody>
      </p:sp>
      <p:pic>
        <p:nvPicPr>
          <p:cNvPr id="4" name="Picture 3" descr="graph-v2-deck.png"/>
          <p:cNvPicPr>
            <a:picLocks noChangeAspect="1"/>
          </p:cNvPicPr>
          <p:nvPr/>
        </p:nvPicPr>
        <p:blipFill>
          <a:blip/>
          <a:stretch>
            <a:fillRect/>
          </a:stretch>
        </p:blipFill>
        <p:spPr>
          <a:xfrm>
            <a:off x="250147" y="1760000"/>
            <a:ext cx="6152752" cy="2940231"/>
          </a:xfrm>
          <a:prstGeom prst="rect">
            <a:avLst/>
          </a:prstGeom>
        </p:spPr>
      </p:pic>
      <p:sp>
        <p:nvSpPr>
          <p:cNvPr id="5" name="TextBox 4"/>
          <p:cNvSpPr txBox="1"/>
          <p:nvPr/>
        </p:nvSpPr>
        <p:spPr>
          <a:xfrm>
            <a:off x="4589430" y="4889584"/>
            <a:ext cx="2268570" cy="253916"/>
          </a:xfrm>
          <a:prstGeom prst="rect">
            <a:avLst/>
          </a:prstGeom>
          <a:noFill/>
        </p:spPr>
        <p:txBody>
          <a:bodyPr wrap="none">
            <a:spAutoFit/>
          </a:bodyPr>
          <a:lstStyle/>
          <a:p>
            <a:pPr algn="r"/>
            <a:r>
              <a:rPr sz="1050" i="1">
                <a:solidFill>
                  <a:schemeClr val="bg2"/>
                </a:solidFill>
              </a:rPr>
              <a:t>see: lec2_planning_and_validation_agent/graph.py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In the reactive loop, </a:t>
            </a:r>
            <a:r>
              <a:rPr sz="1400" dirty="0">
                <a:latin typeface="Maple Mono NF"/>
              </a:rPr>
              <a:t>tools -&gt; controller</a:t>
            </a:r>
            <a:r>
              <a:rPr sz="1400" dirty="0">
                <a:solidFill>
                  <a:schemeClr val="tx2"/>
                </a:solidFill>
              </a:rPr>
              <a:t> was unconditional</a:t>
            </a:r>
            <a:r>
              <a:rPr lang="en-US" dirty="0">
                <a:solidFill>
                  <a:schemeClr val="tx2"/>
                </a:solidFill>
              </a:rPr>
              <a:t> </a:t>
            </a:r>
            <a:r>
              <a:rPr sz="1400" dirty="0">
                <a:solidFill>
                  <a:schemeClr val="tx2"/>
                </a:solidFill>
              </a:rPr>
              <a:t>that ma</a:t>
            </a:r>
            <a:r>
              <a:rPr lang="en-US" sz="1400" dirty="0">
                <a:solidFill>
                  <a:schemeClr val="tx2"/>
                </a:solidFill>
              </a:rPr>
              <a:t>de </a:t>
            </a:r>
            <a:r>
              <a:rPr sz="1400" dirty="0">
                <a:solidFill>
                  <a:schemeClr val="tx2"/>
                </a:solidFill>
              </a:rPr>
              <a:t>the agent reactive. </a:t>
            </a:r>
            <a:r>
              <a:rPr lang="en-US" sz="1400" dirty="0">
                <a:solidFill>
                  <a:schemeClr val="tx2"/>
                </a:solidFill>
              </a:rPr>
              <a:t>Now, </a:t>
            </a:r>
            <a:r>
              <a:rPr sz="1400" dirty="0">
                <a:solidFill>
                  <a:schemeClr val="tx2"/>
                </a:solidFill>
              </a:rPr>
              <a:t>it chooses, and its </a:t>
            </a:r>
            <a:r>
              <a:rPr lang="en-US" sz="1400" dirty="0">
                <a:solidFill>
                  <a:schemeClr val="tx2"/>
                </a:solidFill>
              </a:rPr>
              <a:t>other </a:t>
            </a:r>
            <a:r>
              <a:rPr sz="1400" dirty="0">
                <a:solidFill>
                  <a:schemeClr val="tx2"/>
                </a:solidFill>
              </a:rPr>
              <a:t>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lang="en-US" sz="1400" b="1" dirty="0">
                <a:solidFill>
                  <a:srgbClr val="28285E"/>
                </a:solidFill>
              </a:rPr>
              <a:t>Let’s take the “</a:t>
            </a:r>
            <a:r>
              <a:rPr sz="1400" b="1" dirty="0">
                <a:solidFill>
                  <a:srgbClr val="28285E"/>
                </a:solidFill>
              </a:rPr>
              <a:t>stall</a:t>
            </a:r>
            <a:r>
              <a:rPr lang="en-US" sz="1400" b="1" dirty="0">
                <a:solidFill>
                  <a:srgbClr val="28285E"/>
                </a:solidFill>
              </a:rPr>
              <a:t>"</a:t>
            </a:r>
            <a:r>
              <a:rPr sz="1400" b="1" dirty="0">
                <a:solidFill>
                  <a:srgbClr val="28285E"/>
                </a:solidFill>
              </a:rPr>
              <a:t> </a:t>
            </a:r>
            <a:r>
              <a:rPr lang="en-US" sz="1400" b="1" dirty="0">
                <a:solidFill>
                  <a:srgbClr val="28285E"/>
                </a:solidFill>
              </a:rPr>
              <a:t>rule we </a:t>
            </a:r>
            <a:r>
              <a:rPr sz="1400" b="1" dirty="0">
                <a:solidFill>
                  <a:srgbClr val="28285E"/>
                </a:solidFill>
              </a:rPr>
              <a:t>had</a:t>
            </a:r>
            <a:r>
              <a:rPr lang="en-US" sz="1400" b="1" dirty="0">
                <a:solidFill>
                  <a:srgbClr val="28285E"/>
                </a:solidFill>
              </a:rPr>
              <a:t>…</a:t>
            </a:r>
            <a:r>
              <a:rPr sz="1400" b="1" dirty="0">
                <a:solidFill>
                  <a:srgbClr val="28285E"/>
                </a:solidFill>
              </a:rPr>
              <a:t> </a:t>
            </a:r>
            <a:r>
              <a:rPr lang="en-US" sz="1400" b="1" dirty="0">
                <a:solidFill>
                  <a:srgbClr val="28285E"/>
                </a:solidFill>
              </a:rPr>
              <a:t>how </a:t>
            </a:r>
            <a:r>
              <a:rPr sz="1400" b="1" dirty="0">
                <a:solidFill>
                  <a:srgbClr val="28285E"/>
                </a:solidFill>
              </a:rPr>
              <a:t>it </a:t>
            </a:r>
            <a:r>
              <a:rPr lang="en-US" sz="1400" b="1" dirty="0">
                <a:solidFill>
                  <a:srgbClr val="28285E"/>
                </a:solidFill>
              </a:rPr>
              <a:t>gets </a:t>
            </a:r>
            <a:r>
              <a:rPr sz="1400" b="1" dirty="0">
                <a:solidFill>
                  <a:srgbClr val="28285E"/>
                </a:solidFill>
              </a:rPr>
              <a:t>trigger</a:t>
            </a:r>
            <a:r>
              <a:rPr lang="en-US" sz="1400" b="1" dirty="0">
                <a:solidFill>
                  <a:srgbClr val="28285E"/>
                </a:solidFill>
              </a:rPr>
              <a:t>ed </a:t>
            </a:r>
            <a:r>
              <a:rPr sz="1400" b="1" dirty="0">
                <a:solidFill>
                  <a:srgbClr val="28285E"/>
                </a:solidFill>
              </a:rPr>
              <a:t>is new:</a:t>
            </a:r>
            <a:endParaRPr lang="en-US" sz="1400" b="1" dirty="0">
              <a:solidFill>
                <a:srgbClr val="28285E"/>
              </a:solidFill>
            </a:endParaRPr>
          </a:p>
          <a:p>
            <a:pPr marL="0" indent="0">
              <a:buNone/>
            </a:pP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The runtime notices. </a:t>
            </a:r>
            <a:r>
              <a:rPr sz="1400" dirty="0">
                <a:solidFill>
                  <a:schemeClr val="tx1"/>
                </a:solidFill>
              </a:rPr>
              <a:t>When three consecutive tool calls return the same observation, the node that saw them writes one field, </a:t>
            </a:r>
            <a:r>
              <a:rPr sz="1400" dirty="0" err="1">
                <a:latin typeface="Maple Mono NF"/>
              </a:rPr>
              <a:t>failed_step</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The predicate reads one field. </a:t>
            </a:r>
            <a:r>
              <a:rPr sz="1400" dirty="0">
                <a:solidFill>
                  <a:schemeClr val="tx1"/>
                </a:solidFill>
              </a:rPr>
              <a:t>A conditional edge can only read state,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dirty="0">
                <a:solidFill>
                  <a:schemeClr val="tx1"/>
                </a:solidFill>
              </a:rPr>
              <a:t>The planner gets one chance. </a:t>
            </a:r>
            <a:r>
              <a:rPr sz="1400" dirty="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491615"/>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32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1888761" y="3660000"/>
            <a:ext cx="4445035" cy="64515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Lookahead with value propagation cuts the first-move dead end to a third, gets </a:t>
            </a:r>
            <a:r>
              <a:rPr sz="1200" b="1" dirty="0">
                <a:solidFill>
                  <a:schemeClr val="tx2"/>
                </a:solidFill>
              </a:rPr>
              <a:t>twice as far</a:t>
            </a:r>
            <a:r>
              <a:rPr sz="1200" b="0" dirty="0">
                <a:solidFill>
                  <a:schemeClr val="tx2"/>
                </a:solidFill>
              </a:rPr>
              <a:t> before the first error, and makes recovery </a:t>
            </a:r>
            <a:r>
              <a:rPr sz="1200" b="1" dirty="0">
                <a:solidFill>
                  <a:schemeClr val="tx2"/>
                </a:solidFill>
              </a:rPr>
              <a:t>five times</a:t>
            </a:r>
            <a:r>
              <a:rPr sz="1200" b="0" dirty="0">
                <a:solidFill>
                  <a:schemeClr val="tx2"/>
                </a:solidFill>
              </a:rPr>
              <a:t> more likely.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491615"/>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32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66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A run that chooses one step at a time is already lost on its first move </a:t>
            </a:r>
            <a:r>
              <a:rPr sz="1200" b="1" dirty="0">
                <a:solidFill>
                  <a:schemeClr val="tx2"/>
                </a:solidFill>
              </a:rPr>
              <a:t>more than half the time</a:t>
            </a:r>
            <a:r>
              <a:rPr sz="1200" b="0" dirty="0">
                <a:solidFill>
                  <a:schemeClr val="tx2"/>
                </a:solidFill>
              </a:rPr>
              <a:t>.</a:t>
            </a:r>
          </a:p>
        </p:txBody>
      </p:sp>
    </p:spTree>
    <p:extLst>
      <p:ext uri="{BB962C8B-B14F-4D97-AF65-F5344CB8AC3E}">
        <p14:creationId xmlns:p14="http://schemas.microsoft.com/office/powerpoint/2010/main" val="23969862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good enough</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Graph colouring</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Game of 24</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attempt,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that produced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 verifier that is always right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1, Stechly et al., ICLR 2025: 100 instances per domain</a:t>
            </a:r>
          </a:p>
        </p:txBody>
      </p:sp>
      <p:sp>
        <p:nvSpPr>
          <p:cNvPr id="5" name="Rectangle 4"/>
          <p:cNvSpPr/>
          <p:nvPr/>
        </p:nvSpPr>
        <p:spPr>
          <a:xfrm>
            <a:off x="2629345" y="3500000"/>
            <a:ext cx="3704451" cy="6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Our rescan is a program, but it is </a:t>
            </a:r>
            <a:r>
              <a:rPr sz="1200" b="1" dirty="0">
                <a:solidFill>
                  <a:schemeClr val="tx2"/>
                </a:solidFill>
              </a:rPr>
              <a:t>not always right</a:t>
            </a:r>
            <a:r>
              <a:rPr sz="1200" b="0" dirty="0">
                <a:solidFill>
                  <a:schemeClr val="tx2"/>
                </a:solidFill>
              </a:rPr>
              <a:t>: a renamed expression clears the alert and leaves the weakness.</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3342</TotalTime>
  <Words>11578</Words>
  <Application>Microsoft Macintosh PowerPoint</Application>
  <PresentationFormat>Custom</PresentationFormat>
  <Paragraphs>781</Paragraphs>
  <Slides>70</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Fira Sans Light</vt:lpstr>
      <vt:lpstr>Fira Sans</vt:lpstr>
      <vt:lpstr>Maple Mono NF</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What each shape does with an observation</vt:lpstr>
      <vt:lpstr>Shapes of Planning</vt:lpstr>
      <vt:lpstr>The graph our planner-based demo compiles</vt:lpstr>
      <vt:lpstr>The new nodes in our planner-based demo</vt:lpstr>
      <vt:lpstr>The edge from tools now has two destinations</vt:lpstr>
      <vt:lpstr>How the runtime decides the plan has failed</vt:lpstr>
      <vt:lpstr>What a planner changes compared to a react</vt:lpstr>
      <vt:lpstr>What a planner changes compared to a react</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116</cp:revision>
  <dcterms:modified xsi:type="dcterms:W3CDTF">2026-09-18T15:41:02Z</dcterms:modified>
</cp:coreProperties>
</file>
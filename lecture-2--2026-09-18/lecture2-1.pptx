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51"/>
  </p:notesMasterIdLst>
  <p:sldIdLst>
    <p:sldId id="256" r:id="rId2"/>
    <p:sldId id="332" r:id="rId3"/>
    <p:sldId id="259" r:id="rId4"/>
    <p:sldId id="418" r:id="rId5"/>
    <p:sldId id="266" r:id="rId6"/>
    <p:sldId id="334" r:id="rId7"/>
    <p:sldId id="333" r:id="rId8"/>
    <p:sldId id="288" r:id="rId9"/>
    <p:sldId id="336" r:id="rId10"/>
    <p:sldId id="335" r:id="rId11"/>
    <p:sldId id="337" r:id="rId12"/>
    <p:sldId id="460" r:id="rId13"/>
    <p:sldId id="463" r:id="rId14"/>
    <p:sldId id="461" r:id="rId15"/>
    <p:sldId id="462" r:id="rId16"/>
    <p:sldId id="338" r:id="rId17"/>
    <p:sldId id="339" r:id="rId18"/>
    <p:sldId id="464" r:id="rId19"/>
    <p:sldId id="465" r:id="rId20"/>
    <p:sldId id="340" r:id="rId21"/>
    <p:sldId id="341" r:id="rId22"/>
    <p:sldId id="466" r:id="rId23"/>
    <p:sldId id="467" r:id="rId24"/>
    <p:sldId id="468" r:id="rId25"/>
    <p:sldId id="342" r:id="rId26"/>
    <p:sldId id="469" r:id="rId27"/>
    <p:sldId id="343" r:id="rId28"/>
    <p:sldId id="344" r:id="rId29"/>
    <p:sldId id="345" r:id="rId30"/>
    <p:sldId id="346" r:id="rId31"/>
    <p:sldId id="347" r:id="rId32"/>
    <p:sldId id="348" r:id="rId33"/>
    <p:sldId id="349" r:id="rId34"/>
    <p:sldId id="350" r:id="rId35"/>
    <p:sldId id="362" r:id="rId36"/>
    <p:sldId id="364" r:id="rId37"/>
    <p:sldId id="352" r:id="rId38"/>
    <p:sldId id="353" r:id="rId39"/>
    <p:sldId id="355" r:id="rId40"/>
    <p:sldId id="354" r:id="rId41"/>
    <p:sldId id="356" r:id="rId42"/>
    <p:sldId id="357" r:id="rId43"/>
    <p:sldId id="358" r:id="rId44"/>
    <p:sldId id="359" r:id="rId45"/>
    <p:sldId id="360" r:id="rId46"/>
    <p:sldId id="361" r:id="rId47"/>
    <p:sldId id="365" r:id="rId48"/>
    <p:sldId id="366" r:id="rId49"/>
    <p:sldId id="470" r:id="rId50"/>
    <p:sldId id="471" r:id="rId51"/>
    <p:sldId id="472" r:id="rId52"/>
    <p:sldId id="473" r:id="rId53"/>
    <p:sldId id="474" r:id="rId54"/>
    <p:sldId id="367" r:id="rId55"/>
    <p:sldId id="368" r:id="rId56"/>
    <p:sldId id="378" r:id="rId57"/>
    <p:sldId id="379" r:id="rId58"/>
    <p:sldId id="380" r:id="rId59"/>
    <p:sldId id="369" r:id="rId60"/>
    <p:sldId id="370" r:id="rId61"/>
    <p:sldId id="371" r:id="rId62"/>
    <p:sldId id="475" r:id="rId63"/>
    <p:sldId id="476" r:id="rId64"/>
    <p:sldId id="477" r:id="rId65"/>
    <p:sldId id="372" r:id="rId66"/>
    <p:sldId id="478" r:id="rId67"/>
    <p:sldId id="479" r:id="rId68"/>
    <p:sldId id="480" r:id="rId69"/>
    <p:sldId id="373" r:id="rId70"/>
    <p:sldId id="374" r:id="rId71"/>
    <p:sldId id="375" r:id="rId72"/>
    <p:sldId id="381" r:id="rId73"/>
    <p:sldId id="377" r:id="rId74"/>
    <p:sldId id="382" r:id="rId75"/>
    <p:sldId id="376" r:id="rId76"/>
    <p:sldId id="383" r:id="rId77"/>
    <p:sldId id="384" r:id="rId78"/>
    <p:sldId id="399" r:id="rId79"/>
    <p:sldId id="385" r:id="rId80"/>
    <p:sldId id="386" r:id="rId81"/>
    <p:sldId id="387" r:id="rId82"/>
    <p:sldId id="388" r:id="rId83"/>
    <p:sldId id="389" r:id="rId84"/>
    <p:sldId id="390" r:id="rId85"/>
    <p:sldId id="391" r:id="rId86"/>
    <p:sldId id="398" r:id="rId87"/>
    <p:sldId id="392" r:id="rId88"/>
    <p:sldId id="393" r:id="rId89"/>
    <p:sldId id="394" r:id="rId90"/>
    <p:sldId id="395" r:id="rId91"/>
    <p:sldId id="396" r:id="rId92"/>
    <p:sldId id="432" r:id="rId93"/>
    <p:sldId id="409" r:id="rId94"/>
    <p:sldId id="401" r:id="rId95"/>
    <p:sldId id="402" r:id="rId96"/>
    <p:sldId id="403" r:id="rId97"/>
    <p:sldId id="404" r:id="rId98"/>
    <p:sldId id="405" r:id="rId99"/>
    <p:sldId id="406" r:id="rId100"/>
    <p:sldId id="407" r:id="rId101"/>
    <p:sldId id="408" r:id="rId102"/>
    <p:sldId id="410" r:id="rId103"/>
    <p:sldId id="411" r:id="rId104"/>
    <p:sldId id="412" r:id="rId105"/>
    <p:sldId id="413" r:id="rId106"/>
    <p:sldId id="414" r:id="rId107"/>
    <p:sldId id="415" r:id="rId108"/>
    <p:sldId id="416" r:id="rId109"/>
    <p:sldId id="417" r:id="rId110"/>
    <p:sldId id="419" r:id="rId111"/>
    <p:sldId id="433" r:id="rId112"/>
    <p:sldId id="458" r:id="rId113"/>
    <p:sldId id="459" r:id="rId114"/>
    <p:sldId id="420" r:id="rId115"/>
    <p:sldId id="421" r:id="rId116"/>
    <p:sldId id="422" r:id="rId117"/>
    <p:sldId id="423" r:id="rId118"/>
    <p:sldId id="424" r:id="rId119"/>
    <p:sldId id="425" r:id="rId120"/>
    <p:sldId id="426" r:id="rId121"/>
    <p:sldId id="427" r:id="rId122"/>
    <p:sldId id="428" r:id="rId123"/>
    <p:sldId id="429" r:id="rId124"/>
    <p:sldId id="430" r:id="rId125"/>
    <p:sldId id="431" r:id="rId126"/>
    <p:sldId id="457" r:id="rId127"/>
    <p:sldId id="434" r:id="rId128"/>
    <p:sldId id="435" r:id="rId129"/>
    <p:sldId id="436" r:id="rId130"/>
    <p:sldId id="437" r:id="rId131"/>
    <p:sldId id="438" r:id="rId132"/>
    <p:sldId id="439" r:id="rId133"/>
    <p:sldId id="440" r:id="rId134"/>
    <p:sldId id="441" r:id="rId135"/>
    <p:sldId id="442" r:id="rId136"/>
    <p:sldId id="443" r:id="rId137"/>
    <p:sldId id="444" r:id="rId138"/>
    <p:sldId id="445" r:id="rId139"/>
    <p:sldId id="446" r:id="rId140"/>
    <p:sldId id="447" r:id="rId141"/>
    <p:sldId id="448" r:id="rId142"/>
    <p:sldId id="449" r:id="rId143"/>
    <p:sldId id="450" r:id="rId144"/>
    <p:sldId id="451" r:id="rId145"/>
    <p:sldId id="452" r:id="rId146"/>
    <p:sldId id="453" r:id="rId147"/>
    <p:sldId id="454" r:id="rId148"/>
    <p:sldId id="455" r:id="rId149"/>
    <p:sldId id="456" r:id="rId150"/>
  </p:sldIdLst>
  <p:sldSz cx="6858000" cy="5143500"/>
  <p:notesSz cx="6858000" cy="9144000"/>
  <p:embeddedFontLst>
    <p:embeddedFont>
      <p:font typeface="Fira Sans" panose="020B0503050000020004" pitchFamily="34" charset="0"/>
      <p:regular r:id="rId152"/>
      <p:bold r:id="rId153"/>
      <p:italic r:id="rId154"/>
      <p:boldItalic r:id="rId155"/>
    </p:embeddedFont>
    <p:embeddedFont>
      <p:font typeface="Fira Sans Light" panose="020B0403050000020004" pitchFamily="34" charset="0"/>
      <p:regular r:id="rId156"/>
      <p:italic r:id="rId157"/>
    </p:embeddedFont>
    <p:embeddedFont>
      <p:font typeface="Maple Mono NF" panose="020F0509060000000000" pitchFamily="49" charset="0"/>
      <p:regular r:id="rId158"/>
      <p:bold r:id="rId159"/>
      <p:italic r:id="rId160"/>
      <p:boldItalic r:id="rId16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11472A5C-5B19-564B-9CD5-BBC972F9C943}">
          <p14:sldIdLst>
            <p14:sldId id="256"/>
            <p14:sldId id="332"/>
            <p14:sldId id="259"/>
            <p14:sldId id="418"/>
            <p14:sldId id="266"/>
            <p14:sldId id="334"/>
            <p14:sldId id="333"/>
            <p14:sldId id="288"/>
            <p14:sldId id="336"/>
            <p14:sldId id="335"/>
            <p14:sldId id="337"/>
            <p14:sldId id="460"/>
            <p14:sldId id="463"/>
            <p14:sldId id="461"/>
            <p14:sldId id="462"/>
            <p14:sldId id="338"/>
            <p14:sldId id="339"/>
            <p14:sldId id="464"/>
            <p14:sldId id="465"/>
            <p14:sldId id="340"/>
            <p14:sldId id="341"/>
            <p14:sldId id="466"/>
            <p14:sldId id="467"/>
            <p14:sldId id="468"/>
            <p14:sldId id="342"/>
            <p14:sldId id="469"/>
            <p14:sldId id="343"/>
            <p14:sldId id="344"/>
            <p14:sldId id="345"/>
            <p14:sldId id="346"/>
            <p14:sldId id="347"/>
            <p14:sldId id="348"/>
            <p14:sldId id="349"/>
            <p14:sldId id="350"/>
            <p14:sldId id="362"/>
            <p14:sldId id="364"/>
            <p14:sldId id="352"/>
            <p14:sldId id="353"/>
            <p14:sldId id="355"/>
            <p14:sldId id="354"/>
            <p14:sldId id="356"/>
            <p14:sldId id="357"/>
            <p14:sldId id="358"/>
            <p14:sldId id="359"/>
            <p14:sldId id="360"/>
            <p14:sldId id="361"/>
            <p14:sldId id="365"/>
            <p14:sldId id="366"/>
            <p14:sldId id="470"/>
            <p14:sldId id="471"/>
            <p14:sldId id="472"/>
            <p14:sldId id="473"/>
            <p14:sldId id="474"/>
            <p14:sldId id="367"/>
            <p14:sldId id="368"/>
            <p14:sldId id="378"/>
            <p14:sldId id="379"/>
            <p14:sldId id="380"/>
            <p14:sldId id="369"/>
            <p14:sldId id="370"/>
            <p14:sldId id="371"/>
            <p14:sldId id="475"/>
            <p14:sldId id="476"/>
            <p14:sldId id="477"/>
            <p14:sldId id="372"/>
            <p14:sldId id="478"/>
            <p14:sldId id="479"/>
            <p14:sldId id="480"/>
            <p14:sldId id="373"/>
            <p14:sldId id="374"/>
            <p14:sldId id="375"/>
            <p14:sldId id="381"/>
            <p14:sldId id="377"/>
            <p14:sldId id="382"/>
            <p14:sldId id="376"/>
            <p14:sldId id="383"/>
            <p14:sldId id="384"/>
            <p14:sldId id="399"/>
            <p14:sldId id="385"/>
            <p14:sldId id="386"/>
            <p14:sldId id="387"/>
            <p14:sldId id="388"/>
            <p14:sldId id="389"/>
            <p14:sldId id="390"/>
            <p14:sldId id="391"/>
            <p14:sldId id="398"/>
            <p14:sldId id="392"/>
            <p14:sldId id="393"/>
            <p14:sldId id="394"/>
            <p14:sldId id="395"/>
            <p14:sldId id="396"/>
            <p14:sldId id="432"/>
            <p14:sldId id="409"/>
            <p14:sldId id="401"/>
            <p14:sldId id="402"/>
            <p14:sldId id="403"/>
            <p14:sldId id="404"/>
            <p14:sldId id="405"/>
            <p14:sldId id="406"/>
            <p14:sldId id="407"/>
            <p14:sldId id="408"/>
            <p14:sldId id="410"/>
            <p14:sldId id="411"/>
            <p14:sldId id="412"/>
            <p14:sldId id="413"/>
            <p14:sldId id="414"/>
            <p14:sldId id="415"/>
            <p14:sldId id="416"/>
            <p14:sldId id="417"/>
            <p14:sldId id="419"/>
            <p14:sldId id="433"/>
            <p14:sldId id="458"/>
            <p14:sldId id="459"/>
            <p14:sldId id="420"/>
            <p14:sldId id="421"/>
            <p14:sldId id="422"/>
            <p14:sldId id="423"/>
            <p14:sldId id="424"/>
            <p14:sldId id="425"/>
            <p14:sldId id="426"/>
            <p14:sldId id="427"/>
            <p14:sldId id="428"/>
            <p14:sldId id="429"/>
            <p14:sldId id="430"/>
            <p14:sldId id="431"/>
            <p14:sldId id="457"/>
            <p14:sldId id="434"/>
            <p14:sldId id="435"/>
            <p14:sldId id="436"/>
            <p14:sldId id="437"/>
            <p14:sldId id="438"/>
            <p14:sldId id="439"/>
            <p14:sldId id="440"/>
            <p14:sldId id="441"/>
            <p14:sldId id="442"/>
            <p14:sldId id="443"/>
            <p14:sldId id="444"/>
            <p14:sldId id="445"/>
            <p14:sldId id="446"/>
            <p14:sldId id="447"/>
            <p14:sldId id="448"/>
            <p14:sldId id="449"/>
            <p14:sldId id="450"/>
            <p14:sldId id="451"/>
            <p14:sldId id="452"/>
            <p14:sldId id="453"/>
            <p14:sldId id="454"/>
            <p14:sldId id="455"/>
            <p14:sldId id="456"/>
          </p14:sldIdLst>
        </p14:section>
      </p14:sectionLst>
    </p:ext>
    <p:ext uri="{EFAFB233-063F-42B5-8137-9DF3F51BA10A}">
      <p15:sldGuideLst xmlns:p15="http://schemas.microsoft.com/office/powerpoint/2012/main">
        <p15:guide id="1" orient="horz" pos="1620" userDrawn="1">
          <p15:clr>
            <a:srgbClr val="747775"/>
          </p15:clr>
        </p15:guide>
        <p15:guide id="2" pos="2160" userDrawn="1">
          <p15:clr>
            <a:srgbClr val="747775"/>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F72F71-1B05-876B-1723-EC4BFB4CF1F1}" name="Rahul Krishna" initials="RK" userId="1aea23c7798fb80d"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A2A63"/>
    <a:srgbClr val="235751"/>
    <a:srgbClr val="EBF8ED"/>
    <a:srgbClr val="FEF8E1"/>
    <a:srgbClr val="EEF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572"/>
    <p:restoredTop sz="98401"/>
  </p:normalViewPr>
  <p:slideViewPr>
    <p:cSldViewPr snapToGrid="0">
      <p:cViewPr varScale="1">
        <p:scale>
          <a:sx n="212" d="100"/>
          <a:sy n="212" d="100"/>
        </p:scale>
        <p:origin x="1880" y="192"/>
      </p:cViewPr>
      <p:guideLst>
        <p:guide orient="horz" pos="162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font" Target="fonts/font8.fntdata"/><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font" Target="fonts/font9.fntdata"/><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font" Target="fonts/font10.fntdata"/><Relationship Id="rId166"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notesMaster" Target="notesMasters/notesMaster1.xml"/><Relationship Id="rId156" Type="http://schemas.openxmlformats.org/officeDocument/2006/relationships/font" Target="fonts/font5.fntdata"/><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font" Target="fonts/font6.fntdata"/><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font" Target="fonts/font1.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font" Target="fonts/font7.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font" Target="fonts/font2.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font" Target="fonts/font3.fntdata"/><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tableStyles" Target="tableStyle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3000" y="685800"/>
            <a:ext cx="4572000" cy="3429000"/>
          </a:xfrm>
        </p:spPr>
        <p:txBody>
          <a:bodyPr/>
          <a:lstStyle/>
          <a:p>
            <a:endParaRPr lang="en-US"/>
          </a:p>
        </p:txBody>
      </p:sp>
      <p:sp>
        <p:nvSpPr>
          <p:cNvPr id="3" name="Notes Placeholder 2"/>
          <p:cNvSpPr>
            <a:spLocks noGrp="1"/>
          </p:cNvSpPr>
          <p:nvPr>
            <p:ph type="body" idx="1"/>
          </p:nvPr>
        </p:nvSpPr>
        <p:spPr/>
        <p:txBody>
          <a:bodyPr/>
          <a:lstStyle/>
          <a:p>
            <a:r>
              <a:rPr dirty="0"/>
              <a:t>[40s] Course number, title, term. Say the room and the slot: Fridays 2:10 to 4:00, Hamilton 303, September 11 through December 11. Do not read the syllabus yet.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Read the definition once, slowly. Then the four things it depends on. Two of the four are ours to write down before the agent runs: the performance measure and the action set. One is the world we put it in. The last one is the only thing that changes during a run, and every architecture in this lecture is a different answer to what to do with it.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208F5-DFD9-B433-B0D6-216EADAACB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2FF6CE-3CEA-7A4D-3826-35984733A359}"/>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79EA9D2C-F73A-E8DB-DEF6-5D0892AE4A1C}"/>
              </a:ext>
            </a:extLst>
          </p:cNvPr>
          <p:cNvSpPr>
            <a:spLocks noGrp="1"/>
          </p:cNvSpPr>
          <p:nvPr>
            <p:ph type="body" idx="1"/>
          </p:nvPr>
        </p:nvSpPr>
        <p:spPr/>
        <p:txBody>
          <a:bodyPr/>
          <a:lstStyle/>
          <a:p>
            <a:r>
              <a:t>Read the definition once, slowly. Then the four things it depends on. Two of the four are ours to write down before the agent runs: the performance measure and the action set. One is the world we put it in. The last one is the only thing that changes during a run, and every architecture in this lecture is a different answer to what to do with it.</a:t>
            </a:r>
          </a:p>
        </p:txBody>
      </p:sp>
    </p:spTree>
    <p:extLst>
      <p:ext uri="{BB962C8B-B14F-4D97-AF65-F5344CB8AC3E}">
        <p14:creationId xmlns:p14="http://schemas.microsoft.com/office/powerpoint/2010/main" val="13962282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A00E2-F665-EB60-9085-AC79347EF7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C45020-C0F3-C101-00C5-E5F0DB16FEB0}"/>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D9AE47E0-738B-95DF-9258-A717E016BBDE}"/>
              </a:ext>
            </a:extLst>
          </p:cNvPr>
          <p:cNvSpPr>
            <a:spLocks noGrp="1"/>
          </p:cNvSpPr>
          <p:nvPr>
            <p:ph type="body" idx="1"/>
          </p:nvPr>
        </p:nvSpPr>
        <p:spPr/>
        <p:txBody>
          <a:bodyPr/>
          <a:lstStyle/>
          <a:p>
            <a:r>
              <a:t>Read the definition once, slowly. Then the four things it depends on. Two of the four are ours to write down before the agent runs: the performance measure and the action set. One is the world we put it in. The last one is the only thing that changes during a run, and every architecture in this lecture is a different answer to what to do with it.</a:t>
            </a:r>
          </a:p>
        </p:txBody>
      </p:sp>
    </p:spTree>
    <p:extLst>
      <p:ext uri="{BB962C8B-B14F-4D97-AF65-F5344CB8AC3E}">
        <p14:creationId xmlns:p14="http://schemas.microsoft.com/office/powerpoint/2010/main" val="3034922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54C42-0DDA-5E3D-39D6-D794010826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9B454F-EA5E-C498-3939-2D9B9390B2F1}"/>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E9386CB7-DB0B-23DE-6C6F-CEB75BEC7E2C}"/>
              </a:ext>
            </a:extLst>
          </p:cNvPr>
          <p:cNvSpPr>
            <a:spLocks noGrp="1"/>
          </p:cNvSpPr>
          <p:nvPr>
            <p:ph type="body" idx="1"/>
          </p:nvPr>
        </p:nvSpPr>
        <p:spPr/>
        <p:txBody>
          <a:bodyPr/>
          <a:lstStyle/>
          <a:p>
            <a:r>
              <a:t>Read the definition once, slowly. Then the four things it depends on. Two of the four are ours to write down before the agent runs: the performance measure and the action set. One is the world we put it in. The last one is the only thing that changes during a run, and every architecture in this lecture is a different answer to what to do with it.</a:t>
            </a:r>
          </a:p>
        </p:txBody>
      </p:sp>
    </p:spTree>
    <p:extLst>
      <p:ext uri="{BB962C8B-B14F-4D97-AF65-F5344CB8AC3E}">
        <p14:creationId xmlns:p14="http://schemas.microsoft.com/office/powerpoint/2010/main" val="16497551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39534-2276-7F0B-D3C7-1B7923CF8C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B3DFEE-4E49-DF48-08CF-E563B247A7F9}"/>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19CD2C26-7CC0-58BA-399F-5E71721D331E}"/>
              </a:ext>
            </a:extLst>
          </p:cNvPr>
          <p:cNvSpPr>
            <a:spLocks noGrp="1"/>
          </p:cNvSpPr>
          <p:nvPr>
            <p:ph type="body" idx="1"/>
          </p:nvPr>
        </p:nvSpPr>
        <p:spPr/>
        <p:txBody>
          <a:bodyPr/>
          <a:lstStyle/>
          <a:p>
            <a:r>
              <a:t>Read the definition once, slowly. Then the four things it depends on. Two of the four are ours to write down before the agent runs: the performance measure and the action set. One is the world we put it in. The last one is the only thing that changes during a run, and every architecture in this lecture is a different answer to what to do with it.</a:t>
            </a:r>
          </a:p>
        </p:txBody>
      </p:sp>
    </p:spTree>
    <p:extLst>
      <p:ext uri="{BB962C8B-B14F-4D97-AF65-F5344CB8AC3E}">
        <p14:creationId xmlns:p14="http://schemas.microsoft.com/office/powerpoint/2010/main" val="26585907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whole agent, as a state machine. Three states and five transitions. The controller decides the next action; a tool executes it and hands back an observation; the controller can instead ask to submit, and the run ends only when that submission is accepted. Read the labels as event, then condition in brackets. Every architecture in the rest of this block is a change to this machine: a new state, a new edge, or a different component deciding.</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alert points at line 46, where the query is built by interpolating a request value. The agent reads the region, edits two lines, and submits. The patch puts a placeholder in the query text and binds the value when the query runs, so the value can no longer change the shape of the statement. Two lines, one file, and the whole run is six exchanges.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23A6C-D6B3-C729-A63B-16BEBD9DCE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C233E-8F71-5989-0866-C52092F4749B}"/>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E53DA2E4-A633-8104-606B-A36AB8528EF4}"/>
              </a:ext>
            </a:extLst>
          </p:cNvPr>
          <p:cNvSpPr>
            <a:spLocks noGrp="1"/>
          </p:cNvSpPr>
          <p:nvPr>
            <p:ph type="body" idx="1"/>
          </p:nvPr>
        </p:nvSpPr>
        <p:spPr/>
        <p:txBody>
          <a:bodyPr/>
          <a:lstStyle/>
          <a:p>
            <a:r>
              <a:t>The alert points at line 46, where the query is built by interpolating a request value. The agent reads the region, edits two lines, and submits. The patch puts a placeholder in the query text and binds the value when the query runs, so the value can no longer change the shape of the statement. Two lines, one file, and the whole run is six exchanges.</a:t>
            </a:r>
          </a:p>
        </p:txBody>
      </p:sp>
    </p:spTree>
    <p:extLst>
      <p:ext uri="{BB962C8B-B14F-4D97-AF65-F5344CB8AC3E}">
        <p14:creationId xmlns:p14="http://schemas.microsoft.com/office/powerpoint/2010/main" val="21172501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16F45-0593-0A5F-0614-4A763890B0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4AE632-22BF-E656-0E18-5F5C83937F0C}"/>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1998595C-6AAA-6E65-A085-F4194B3AC7EB}"/>
              </a:ext>
            </a:extLst>
          </p:cNvPr>
          <p:cNvSpPr>
            <a:spLocks noGrp="1"/>
          </p:cNvSpPr>
          <p:nvPr>
            <p:ph type="body" idx="1"/>
          </p:nvPr>
        </p:nvSpPr>
        <p:spPr/>
        <p:txBody>
          <a:bodyPr/>
          <a:lstStyle/>
          <a:p>
            <a:r>
              <a:t>The alert points at line 46, where the query is built by interpolating a request value. The agent reads the region, edits two lines, and submits. The patch puts a placeholder in the query text and binds the value when the query runs, so the value can no longer change the shape of the statement. Two lines, one file, and the whole run is six exchanges.</a:t>
            </a:r>
          </a:p>
        </p:txBody>
      </p:sp>
    </p:spTree>
    <p:extLst>
      <p:ext uri="{BB962C8B-B14F-4D97-AF65-F5344CB8AC3E}">
        <p14:creationId xmlns:p14="http://schemas.microsoft.com/office/powerpoint/2010/main" val="33494481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Rationality is not a property of the program alone. It is a property of the program against a measure, prior knowledge, an action set, and a percept sequence. Say the four out loud, and the claim becomes checkable. The agent reads before it edits because looking is how it maximizes expected performance.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Three circumstances, and each becomes a component later. The budget is the runtime refusing a call. The depth of investigation is what the planner decides. Termination is the stopping rule the runtime owns. Close on the gap: the Submit state can check that the patch applies and that the rescan is clean, which is not the same as the endpoint still behaving as it did.</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D71DB-9132-4077-D5BF-711507D87F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6CC3A5-8908-E977-CA1A-7F429236EFEB}"/>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D579FC9E-6109-B50B-FF26-9245CE5191C1}"/>
              </a:ext>
            </a:extLst>
          </p:cNvPr>
          <p:cNvSpPr>
            <a:spLocks noGrp="1"/>
          </p:cNvSpPr>
          <p:nvPr>
            <p:ph type="body" idx="1"/>
          </p:nvPr>
        </p:nvSpPr>
        <p:spPr/>
        <p:txBody>
          <a:bodyPr/>
          <a:lstStyle/>
          <a:p>
            <a:r>
              <a:t>Three circumstances, and each becomes a component later. The budget is the runtime refusing a call. The depth of investigation is what the planner decides. Termination is the stopping rule the runtime owns. Close on the gap: the Submit state can check that the patch applies and that the rescan is clean, which is not the same as the endpoint still behaving as it did.</a:t>
            </a:r>
          </a:p>
        </p:txBody>
      </p:sp>
    </p:spTree>
    <p:extLst>
      <p:ext uri="{BB962C8B-B14F-4D97-AF65-F5344CB8AC3E}">
        <p14:creationId xmlns:p14="http://schemas.microsoft.com/office/powerpoint/2010/main" val="11811169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7DC96-9DD1-9E47-7821-1231A1AF71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2AB5AB-3505-A249-D5E9-2D16DD99AB03}"/>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7D6E6D49-4328-70C6-B6E7-4C10C4720519}"/>
              </a:ext>
            </a:extLst>
          </p:cNvPr>
          <p:cNvSpPr>
            <a:spLocks noGrp="1"/>
          </p:cNvSpPr>
          <p:nvPr>
            <p:ph type="body" idx="1"/>
          </p:nvPr>
        </p:nvSpPr>
        <p:spPr/>
        <p:txBody>
          <a:bodyPr/>
          <a:lstStyle/>
          <a:p>
            <a:r>
              <a:t>Three circumstances, and each becomes a component later. The budget is the runtime refusing a call. The depth of investigation is what the planner decides. Termination is the stopping rule the runtime owns. Close on the gap: the Submit state can check that the patch applies and that the rescan is clean, which is not the same as the endpoint still behaving as it did.</a:t>
            </a:r>
          </a:p>
        </p:txBody>
      </p:sp>
    </p:spTree>
    <p:extLst>
      <p:ext uri="{BB962C8B-B14F-4D97-AF65-F5344CB8AC3E}">
        <p14:creationId xmlns:p14="http://schemas.microsoft.com/office/powerpoint/2010/main" val="8418481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C2092-C412-871B-0E91-94B4F73C06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CA5C80-7013-4AFD-1459-D2E07A9168DD}"/>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192AD4EA-AF08-E1FD-879A-845E8771DFA8}"/>
              </a:ext>
            </a:extLst>
          </p:cNvPr>
          <p:cNvSpPr>
            <a:spLocks noGrp="1"/>
          </p:cNvSpPr>
          <p:nvPr>
            <p:ph type="body" idx="1"/>
          </p:nvPr>
        </p:nvSpPr>
        <p:spPr/>
        <p:txBody>
          <a:bodyPr/>
          <a:lstStyle/>
          <a:p>
            <a:r>
              <a:t>Three circumstances, and each becomes a component later. The budget is the runtime refusing a call. The depth of investigation is what the planner decides. Termination is the stopping rule the runtime owns. Close on the gap: the Submit state can check that the patch applies and that the rescan is clean, which is not the same as the endpoint still behaving as it did.</a:t>
            </a:r>
          </a:p>
        </p:txBody>
      </p:sp>
    </p:spTree>
    <p:extLst>
      <p:ext uri="{BB962C8B-B14F-4D97-AF65-F5344CB8AC3E}">
        <p14:creationId xmlns:p14="http://schemas.microsoft.com/office/powerpoint/2010/main" val="8281948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Write the task down before you design the program. The four slots are the whole specification: what counts as success, what world the agent acts in, what it can do, and what it can see. Everything later in the block is a choice about the program, not about these four.</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E26DF-DEA6-3506-6F77-E918D151C3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87F91D-7826-D3D6-EFC7-F1BB5739C385}"/>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993C72F4-34B2-1448-BE92-EE067FB45807}"/>
              </a:ext>
            </a:extLst>
          </p:cNvPr>
          <p:cNvSpPr>
            <a:spLocks noGrp="1"/>
          </p:cNvSpPr>
          <p:nvPr>
            <p:ph type="body" idx="1"/>
          </p:nvPr>
        </p:nvSpPr>
        <p:spPr/>
        <p:txBody>
          <a:bodyPr/>
          <a:lstStyle/>
          <a:p>
            <a:r>
              <a:t>Write the task down before you design the program. The four slots are the whole specification: what counts as success, what world the agent acts in, what it can do, and what it can see. Everything later in the block is a choice about the program, not about these four.</a:t>
            </a:r>
          </a:p>
        </p:txBody>
      </p:sp>
    </p:spTree>
    <p:extLst>
      <p:ext uri="{BB962C8B-B14F-4D97-AF65-F5344CB8AC3E}">
        <p14:creationId xmlns:p14="http://schemas.microsoft.com/office/powerpoint/2010/main" val="13229368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Fully or partially observable. Read the two definitions, then the blue box: that is where our agent sits, and why. Only the first property makes this task hard; the rest are the easy end.</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Single agent or multiagent. Read the two definitions, then the blue box: that is where our agent sits, and why. Only the first property makes this task hard; the rest are the easy end.</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Deterministic or nondeterministic. Read the two definitions, then the blue box: that is where our agent sits, and why. Only the first property makes this task hard; the rest are the easy end.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Episodic or sequential. Read the two definitions, then the blue box: that is where our agent sits, and why. Only the first property makes this task hard; the rest are the easy end.</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Static or dynamic. Read the two definitions, then the blue box: that is where our agent sits, and why. Only the first property makes this task hard; the rest are the easy end.</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Discrete or continuous. Read the two definitions, then the blue box: that is where our agent sits, and why. Only the first property makes this task hard; the rest are the easy end.</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Known or unknown. Read the two definitions, then the blue box: that is where our agent sits, and why. Only the first property makes this task hard; the rest are the easy end.</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same state machine, with three things added. The dashed box says the agent runs inside an environment, which here is the working tree and the alert. The tool node is split into one box per tool, reached by dotted lines, because the controller asks for a tool by name. And each pink label names a row of the vocabulary table, so you can point at the picture and read the row: environment, agent program, working state, actions, percepts, architecture, performance measure. Note what the picture makes obvious: the tools are the only way the program reaches the environment, and the run ends only through Submit.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So here is the route. One agent, the one on the last slide, and five architectures. We start with the fixed workflow, where every step is ours and written before the run. Then a reactive loop, where the model chooses the next action and the graph gains an edge back. Then a planner, so the intended sequence is written into state where we can read it and revise it. Then a validator, which takes acceptance away from the thing that proposed the patch. Then </a:t>
            </a:r>
            <a:r>
              <a:rPr dirty="0" err="1"/>
              <a:t>reflexion</a:t>
            </a:r>
            <a:r>
              <a:rPr dirty="0"/>
              <a:t>, where a failed attempt changes the context of the next one. Keep your eye on what stays fixed: the same agent, the same alert, the same tools. The only thing that changes down this list is the architecture, which is what makes the comparison worth anything.</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2CFAC-D5EF-6213-9248-C3FF0FF580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760901-CECA-E8F6-9E7F-FE31BE9D50F1}"/>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CC8FA8DD-EFAD-35FE-D4BC-27874965273B}"/>
              </a:ext>
            </a:extLst>
          </p:cNvPr>
          <p:cNvSpPr>
            <a:spLocks noGrp="1"/>
          </p:cNvSpPr>
          <p:nvPr>
            <p:ph type="body" idx="1"/>
          </p:nvPr>
        </p:nvSpPr>
        <p:spPr/>
        <p:txBody>
          <a:bodyPr/>
          <a:lstStyle/>
          <a:p>
            <a:r>
              <a:rPr dirty="0"/>
              <a:t>So here is the route. One agent, the one on the last slide, and five architectures. We start with the fixed workflow, where every step is ours and written before the run. Then a reactive loop, where the model chooses the next action and the graph gains an edge back. Then a planner, so the intended sequence is written into state where we can read it and revise it. Then a validator, which takes acceptance away from the thing that proposed the patch. Then </a:t>
            </a:r>
            <a:r>
              <a:rPr dirty="0" err="1"/>
              <a:t>reflexion</a:t>
            </a:r>
            <a:r>
              <a:rPr dirty="0"/>
              <a:t>, where a failed attempt changes the context of the next one. Keep your eye on what stays fixed: the same agent, the same alert, the same tools. The only thing that changes down this list is the architecture, which is what makes the comparison worth anything.</a:t>
            </a:r>
          </a:p>
        </p:txBody>
      </p:sp>
    </p:spTree>
    <p:extLst>
      <p:ext uri="{BB962C8B-B14F-4D97-AF65-F5344CB8AC3E}">
        <p14:creationId xmlns:p14="http://schemas.microsoft.com/office/powerpoint/2010/main" val="22950887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word to hold on to is control. Not which file to patch, not what the patch says — the model still decides those. Control is which operation runs next, how many times we call the model, and what ends the run. In a fixed workflow all of that is written before the program sees a task, and no model output can change it. The strip is the price: everything the program knows about this task, we put there. That is legitimate engineering, and it is also exactly what the rest of the lecture spends, one decision at a time.</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line through the middle of this table is the whole section. Above it, every decision is ours and every one is made before the run. Below it, the model decides, and it decides at run time — but only what a call returns, never what happens next. Worth saying out loud: the hard problem is below the line. Naming the file to patch is harder than deciding that a file is named before lines are read. Difficulty is not what the line sorts on. Authority is. And a fixed workflow may branch, filter, and repeat a step a set number of times: it is still fixed, because we wrote the predicate it branches on, so we can enumerate every path.</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5B46A-E1D2-A77B-7D4B-21EE12648E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75B3E9-E404-AF4D-7041-743880B3D241}"/>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D78D6366-A8EC-4CD0-ACD8-58F49B6BE64E}"/>
              </a:ext>
            </a:extLst>
          </p:cNvPr>
          <p:cNvSpPr>
            <a:spLocks noGrp="1"/>
          </p:cNvSpPr>
          <p:nvPr>
            <p:ph type="body" idx="1"/>
          </p:nvPr>
        </p:nvSpPr>
        <p:spPr/>
        <p:txBody>
          <a:bodyPr/>
          <a:lstStyle/>
          <a:p>
            <a:r>
              <a:t>The line through the middle of this table is the whole section. Above it, every decision is ours and every one is made before the run. Below it, the model decides, and it decides at run time — but only what a call returns, never what happens next. Worth saying out loud: the hard problem is below the line. Naming the file to patch is harder than deciding that a file is named before lines are read. Difficulty is not what the line sorts on. Authority is. And a fixed workflow may branch, filter, and repeat a step a set number of times: it is still fixed, because we wrote the predicate it branches on, so we can enumerate every path.</a:t>
            </a:r>
          </a:p>
        </p:txBody>
      </p:sp>
    </p:spTree>
    <p:extLst>
      <p:ext uri="{BB962C8B-B14F-4D97-AF65-F5344CB8AC3E}">
        <p14:creationId xmlns:p14="http://schemas.microsoft.com/office/powerpoint/2010/main" val="22271191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Three things, and they are worth having. We can price a thousand alerts before running any of them, because the number of model calls does not depend on what the model says. Debugging a bad patch means reading four artifacts, not reconstructing a forty-turn trajectory. And the run stops because the program ran out of operations — that is a fact about the text, not a hope about the model. Termination is the one the later versions never get back: they replace it with a step cap, which guarantees stopping but says nothing about finishing.</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CAD1E-B921-0F9E-829C-F6C5E82E45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8AA891-FB8D-2D34-73A8-5D514FA97223}"/>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DB91C000-9D5B-C82A-BA26-80279B4ACC96}"/>
              </a:ext>
            </a:extLst>
          </p:cNvPr>
          <p:cNvSpPr>
            <a:spLocks noGrp="1"/>
          </p:cNvSpPr>
          <p:nvPr>
            <p:ph type="body" idx="1"/>
          </p:nvPr>
        </p:nvSpPr>
        <p:spPr/>
        <p:txBody>
          <a:bodyPr/>
          <a:lstStyle/>
          <a:p>
            <a:r>
              <a:t>Three things, and they are worth having. We can price a thousand alerts before running any of them, because the number of model calls does not depend on what the model says. Debugging a bad patch means reading four artifacts, not reconstructing a forty-turn trajectory. And the run stops because the program ran out of operations — that is a fact about the text, not a hope about the model. Termination is the one the later versions never get back: they replace it with a step cap, which guarantees stopping but says nothing about finishing.</a:t>
            </a:r>
          </a:p>
        </p:txBody>
      </p:sp>
    </p:spTree>
    <p:extLst>
      <p:ext uri="{BB962C8B-B14F-4D97-AF65-F5344CB8AC3E}">
        <p14:creationId xmlns:p14="http://schemas.microsoft.com/office/powerpoint/2010/main" val="81667867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part that outlives the lecture. Almost nothing we build will be all fixed or all open. HW1 is the example: its intake stage is a fixed chain, and its investigation loop is not. The reason to know which is which is not tidiness, it is that four hard engineering problems get their answer from the fixed part. A budget can be priced where the calls are ours and only reserved where they are not. A checkpoint needs named artifacts to write and to resume from, and a stage boundary is where those exist. A transaction needs to know the sequence before it can say where to commit and what to roll back. And concurrency needs a stage to declare what it reads and writes before anything can safely run beside it. Every one of those is harder in the open part, which is the bill the rest of the lecture runs up.</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bill for the three properties on the last slide. A fixed workflow is rational exactly while our prior knowledge holds, and the failure is specific: when that knowledge is partial, nothing notices. There is no representation of what the program does not know. Our environment is partially observable, so a rational agent acts in order to see, and a fixed workflow does act to see. It just does its looking on a schedule we wrote before we knew what the looking would return. If the value the patch depends on comes from a helper the alert never named, there is no node in which to ask for it. The chain does not stall and it does not report a gap. It writes the patch, and the checks pass.</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A published system with exactly this shape, and not a toy: it resolved more SWE-bench Lite issues than any open-source agent of its day. Read the three phases left to right. Localization narrows three times, and each step gets a smaller input than the last: names only, then headers without bodies, then the source of just those elements. The model ranks and selects at every step and never asks for something the step did not hand it. Repair samples forty candidates in a search and replace format, so the model returns the block and the runtime writes the file. Then patch validation. Acceptance is a test outcome and a vote, not the model's opinion of its own work, so the thing that proposes a patch is not the thing that accepts one.</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pair comes closest to isolating control structure: hold the model fixed, change who decides what runs next. Read the numbers off the table, then the caveat. The two systems differ in more than their control structure, so this is the strongest available comparison, not an experiment. Two more limits worth saying out loud: Agentless did not lead the full leaderboard, and several closed-source systems scored higher while publishing neither code nor trajectories; and SWE-bench Lite has known problems, including issue descriptions that contain the developer's own patch. That last one is why we strip the answer key out of our own fixture.</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 all of it with a grain of salt, and say why out loud, because this is the habit the course is trying to build. Two limits. Agentless did not lead the full leaderboard: several closed-source systems scored higher, and the highest resolved 129 of the 300. Those systems released neither code nor execution trajectories, so there is no way to examine how their control structure contributed, which is the only thing we are trying to learn from the comparison. Second, the benchmark itself leaks. One issue description in twenty-three contains the developer's own patch. A filtered subset of 249 problems exists for exactly that reason. And that leakage is not somebody else's problem: our own fixture ships its expected results next to the test cases, so we strip them before the agent ever sees the tree. An agent that can read the answer key is not being measured on the ability we care about.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D6D53-9ABE-FFB3-70DC-0D106C84FE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31A000-A127-83D3-3011-A1F9BA672CAD}"/>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97A60287-4E8C-C973-B5D8-EE0A612C423C}"/>
              </a:ext>
            </a:extLst>
          </p:cNvPr>
          <p:cNvSpPr>
            <a:spLocks noGrp="1"/>
          </p:cNvSpPr>
          <p:nvPr>
            <p:ph type="body" idx="1"/>
          </p:nvPr>
        </p:nvSpPr>
        <p:spPr/>
        <p:txBody>
          <a:bodyPr/>
          <a:lstStyle/>
          <a:p>
            <a:r>
              <a:rPr dirty="0"/>
              <a:t>So here is the route. One agent, the one on the last slide, and five architectures. We start with the fixed workflow, where every step is ours and written before the run. Then a reactive loop, where the model chooses the next action and the graph gains an edge back. Then a planner, so the intended sequence is written into state where we can read it and revise it. Then a validator, which takes acceptance away from the thing that proposed the patch. Then </a:t>
            </a:r>
            <a:r>
              <a:rPr dirty="0" err="1"/>
              <a:t>reflexion</a:t>
            </a:r>
            <a:r>
              <a:rPr dirty="0"/>
              <a:t>, where a failed attempt changes the context of the next one. Keep your eye on what stays fixed: the same agent, the same alert, the same tools. The only thing that changes down this list is the architecture, which is what makes the comparison worth anything.</a:t>
            </a:r>
          </a:p>
        </p:txBody>
      </p:sp>
    </p:spTree>
    <p:extLst>
      <p:ext uri="{BB962C8B-B14F-4D97-AF65-F5344CB8AC3E}">
        <p14:creationId xmlns:p14="http://schemas.microsoft.com/office/powerpoint/2010/main" val="271382123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8CD6F-4F2A-885A-49C4-870F6DD0E4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730CAC-4E46-2093-5A1D-D79F2F91649D}"/>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B8B86405-7945-5C76-1917-89F194813F99}"/>
              </a:ext>
            </a:extLst>
          </p:cNvPr>
          <p:cNvSpPr>
            <a:spLocks noGrp="1"/>
          </p:cNvSpPr>
          <p:nvPr>
            <p:ph type="body" idx="1"/>
          </p:nvPr>
        </p:nvSpPr>
        <p:spPr/>
        <p:txBody>
          <a:bodyPr/>
          <a:lstStyle/>
          <a:p>
            <a:r>
              <a:t>The definition first, then the cycle it names. Decide is one model call, and it reads everything that has happened so far. Dispatch is the runtime checking the request against the signature we wrote, so a malformed call comes back as an observation instead of a crash. Observe is the step to be exact about: the runtime writes that field and the model never does, which is the whole of the security story later in this section. Route is a predicate over state. The language part is ReAct's actual contribution: the action space is the tools plus language, and an action drawn from the language part changes only the context the next decision reads.</a:t>
            </a:r>
          </a:p>
        </p:txBody>
      </p:sp>
    </p:spTree>
    <p:extLst>
      <p:ext uri="{BB962C8B-B14F-4D97-AF65-F5344CB8AC3E}">
        <p14:creationId xmlns:p14="http://schemas.microsoft.com/office/powerpoint/2010/main" val="69979706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04BD1-D441-208C-60B0-A92A1F12F8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FE2EB1-6935-8E3B-6B8F-024A31BD62AE}"/>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F3CDDA20-B614-47D0-72A2-E7610665F4EF}"/>
              </a:ext>
            </a:extLst>
          </p:cNvPr>
          <p:cNvSpPr>
            <a:spLocks noGrp="1"/>
          </p:cNvSpPr>
          <p:nvPr>
            <p:ph type="body" idx="1"/>
          </p:nvPr>
        </p:nvSpPr>
        <p:spPr/>
        <p:txBody>
          <a:bodyPr/>
          <a:lstStyle/>
          <a:p>
            <a:r>
              <a:t>The definition first, then the cycle it names. Decide is one model call, and it reads everything that has happened so far. Dispatch is the runtime checking the request against the signature we wrote, so a malformed call comes back as an observation instead of a crash. Observe is the step to be exact about: the runtime writes that field and the model never does, which is the whole of the security story later in this section. Route is a predicate over state. The language part is ReAct's actual contribution: the action space is the tools plus language, and an action drawn from the language part changes only the context the next decision reads.</a:t>
            </a:r>
          </a:p>
        </p:txBody>
      </p:sp>
    </p:spTree>
    <p:extLst>
      <p:ext uri="{BB962C8B-B14F-4D97-AF65-F5344CB8AC3E}">
        <p14:creationId xmlns:p14="http://schemas.microsoft.com/office/powerpoint/2010/main" val="82156603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E94E4-E462-98F0-93C1-A3B7F7C794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A12465-0C01-302C-BA3D-BE8B09EE1292}"/>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BA050947-608F-3BD2-DD0A-E4D3A0882D82}"/>
              </a:ext>
            </a:extLst>
          </p:cNvPr>
          <p:cNvSpPr>
            <a:spLocks noGrp="1"/>
          </p:cNvSpPr>
          <p:nvPr>
            <p:ph type="body" idx="1"/>
          </p:nvPr>
        </p:nvSpPr>
        <p:spPr/>
        <p:txBody>
          <a:bodyPr/>
          <a:lstStyle/>
          <a:p>
            <a:r>
              <a:t>The definition first, then the cycle it names. Decide is one model call, and it reads everything that has happened so far. Dispatch is the runtime checking the request against the signature we wrote, so a malformed call comes back as an observation instead of a crash. Observe is the step to be exact about: the runtime writes that field and the model never does, which is the whole of the security story later in this section. Route is a predicate over state. The language part is ReAct's actual contribution: the action space is the tools plus language, and an action drawn from the language part changes only the context the next decision reads.</a:t>
            </a:r>
          </a:p>
        </p:txBody>
      </p:sp>
    </p:spTree>
    <p:extLst>
      <p:ext uri="{BB962C8B-B14F-4D97-AF65-F5344CB8AC3E}">
        <p14:creationId xmlns:p14="http://schemas.microsoft.com/office/powerpoint/2010/main" val="2528114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149D0-71D5-D3B2-5124-3D543A774A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4E2890-CD74-0E5B-51E2-426457C2F9CB}"/>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E89354AC-76D5-6317-C3F7-5FF8ACD58156}"/>
              </a:ext>
            </a:extLst>
          </p:cNvPr>
          <p:cNvSpPr>
            <a:spLocks noGrp="1"/>
          </p:cNvSpPr>
          <p:nvPr>
            <p:ph type="body" idx="1"/>
          </p:nvPr>
        </p:nvSpPr>
        <p:spPr/>
        <p:txBody>
          <a:bodyPr/>
          <a:lstStyle/>
          <a:p>
            <a:r>
              <a:t>The definition first, then the cycle it names. Decide is one model call, and it reads everything that has happened so far. Dispatch is the runtime checking the request against the signature we wrote, so a malformed call comes back as an observation instead of a crash. Observe is the step to be exact about: the runtime writes that field and the model never does, which is the whole of the security story later in this section. Route is a predicate over state. The language part is ReAct's actual contribution: the action space is the tools plus language, and an action drawn from the language part changes only the context the next decision reads.</a:t>
            </a:r>
          </a:p>
        </p:txBody>
      </p:sp>
    </p:spTree>
    <p:extLst>
      <p:ext uri="{BB962C8B-B14F-4D97-AF65-F5344CB8AC3E}">
        <p14:creationId xmlns:p14="http://schemas.microsoft.com/office/powerpoint/2010/main" val="203031421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51FC2-C170-22CC-9967-B9C78BBDF1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B8F0FC-3AA1-66C2-4158-EBD69F5E18B3}"/>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BCCBC47D-99EA-5BEE-BB0A-0551089A949F}"/>
              </a:ext>
            </a:extLst>
          </p:cNvPr>
          <p:cNvSpPr>
            <a:spLocks noGrp="1"/>
          </p:cNvSpPr>
          <p:nvPr>
            <p:ph type="body" idx="1"/>
          </p:nvPr>
        </p:nvSpPr>
        <p:spPr/>
        <p:txBody>
          <a:bodyPr/>
          <a:lstStyle/>
          <a:p>
            <a:r>
              <a:t>The definition first, then the cycle it names. Decide is one model call, and it reads everything that has happened so far. Dispatch is the runtime checking the request against the signature we wrote, so a malformed call comes back as an observation instead of a crash. Observe is the step to be exact about: the runtime writes that field and the model never does, which is the whole of the security story later in this section. Route is a predicate over state. The language part is ReAct's actual contribution: the action space is the tools plus language, and an action drawn from the language part changes only the context the next decision reads.</a:t>
            </a:r>
          </a:p>
        </p:txBody>
      </p:sp>
    </p:spTree>
    <p:extLst>
      <p:ext uri="{BB962C8B-B14F-4D97-AF65-F5344CB8AC3E}">
        <p14:creationId xmlns:p14="http://schemas.microsoft.com/office/powerpoint/2010/main" val="346942077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057DC-21EB-77E2-4AE5-4464B935D7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AF037E-6798-3734-473B-D2D4200257CB}"/>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7BC176E6-F593-E782-0F56-9824E2393DFE}"/>
              </a:ext>
            </a:extLst>
          </p:cNvPr>
          <p:cNvSpPr>
            <a:spLocks noGrp="1"/>
          </p:cNvSpPr>
          <p:nvPr>
            <p:ph type="body" idx="1"/>
          </p:nvPr>
        </p:nvSpPr>
        <p:spPr/>
        <p:txBody>
          <a:bodyPr/>
          <a:lstStyle/>
          <a:p>
            <a:r>
              <a:t>The definition first, then the cycle it names. Decide is one model call, and it reads everything that has happened so far. Dispatch is the runtime checking the request against the signature we wrote, so a malformed call comes back as an observation instead of a crash. Observe is the step to be exact about: the runtime writes that field and the model never does, which is the whole of the security story later in this section. Route is a predicate over state. The language part is ReAct's actual contribution: the action space is the tools plus language, and an action drawn from the language part changes only the context the next decision reads.</a:t>
            </a:r>
          </a:p>
        </p:txBody>
      </p:sp>
    </p:spTree>
    <p:extLst>
      <p:ext uri="{BB962C8B-B14F-4D97-AF65-F5344CB8AC3E}">
        <p14:creationId xmlns:p14="http://schemas.microsoft.com/office/powerpoint/2010/main" val="230933185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not a drawing of the idea, it is the graph the demo compiles. Three nodes. The controller is the only place a model is called. Tools validates and executes and writes the observation. Submit runs three mechanical checks. Now look at the edges, because the edges are where the architecture lives. Two of them are unconditional: start into the controller, and tools back into the controller. That second one is the loop. Everything else is dashed, meaning a predicate over state picks the successor. Notice which predicates the model controls and which it does not: it chooses between tools and submit by emitting a tool call or not, and it has no say at all in the edge that ends the run.</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same three nodes, the same four edges, in the code that builds them. Read it against the picture: node, node, node, then the edges. The line in magenta is the one that matters for this section, and it is one line. Take it out and you have the chain from the last section. Worth saying plainly: nothing in this file is rewritten between runs. The graph is fixed. What varies is which path a run takes through it, and that is decided at run time by predicates over state. Dynamic paths do not need a dynamic graph.</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Two unconditional edges, meaning the graph takes them every time it reaches them. The first is trivial: start at the controller. The second is the section. Tools always returns to the controller, which is what gives the model another turn with the observation in hand. The comment in the source is not decoration: delete that one line and every property from the last section comes back, because the program is a chain again. One line of wiring is the difference between the two architectures.</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Two conditional edges, and they are the only places the graph branches. Read the shape: a source node, a function, and a dictionary. The function returns a key and the dictionary says which node that key means. That indirection is doing real work. The set of successors is closed at build time, so whatever the function returns, the run can only land somewhere named in that dictionary. An unrecognised key is an error, not an improvisation. So when we say the model chooses what happens next, we mean it chooses among three names we wrote down, and it chooses by calling a tool or not calling one. That is the whole of the autonomy this version has.</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One line to finish. Compile takes the nodes and edges we just declared and freezes them into a runnable object, and that happens once, before the program has read a single alert. Every alert we ever run goes through the same compiled graph. Worth being blunt about why that matters, because it is the sentence people get wrong: a run that takes a different path is not a different graph. The paths vary because predicates over state vary. The structure does not move. If you find yourself wanting to rewrite the graph between runs, what you actually want is another predicate.</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Six lines, and this is the handover. The first branch is ours: if the status is not running, the run is over, and only the runtime writes that field. The second branch is the model's: if its last message carried a tool call we go to tools, and if it did not we go to submit. That is the entire mechanism by which the model chooses what happens next. No planner, no scheduler, no negotiation. And the trace is labelled accordingly, so when you read a trajectory you can see at a glance which decisions were the model's and which were ours. In the recorded run the model chose four edges and the runtime chose one.</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same decisions as the fixed workflow, side by side. Read down the middle column and everything says design time. Read down the right and the top four have moved. But the rule under the fourth row is the thing to hold on to: the last two rows do not move. We still write the tool signatures, the state schema, the routing predicate and the budget, so the model selects its next action from a set we closed in advance. A reactive loop is not an agent we have stopped programming. It is an agent whose order of operations we have stopped writing down.</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Three gains, and they are all the same gain seen from different sides. Reach: when the flagged line names a helper, the model can go and read it and only then decide. The chain has no node in which to ask that question. Proportion: cost now follows the alert instead of being fixed in advance, so an easy fix is cheap and a hard one is not. Recovery: an unhelpful observation is no longer fatal, because there is a next turn in which to try something else. Put them together and they are one property: the edge back is the node we would otherwise have had to write.</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3C7BE-C5D5-D004-A224-A1DCAB021F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CAE0D3-1AEB-975E-AC0E-BD47CC8165A8}"/>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AB6691C5-BEB1-6E7A-D519-F5BBAD7E5FA7}"/>
              </a:ext>
            </a:extLst>
          </p:cNvPr>
          <p:cNvSpPr>
            <a:spLocks noGrp="1"/>
          </p:cNvSpPr>
          <p:nvPr>
            <p:ph type="body" idx="1"/>
          </p:nvPr>
        </p:nvSpPr>
        <p:spPr/>
        <p:txBody>
          <a:bodyPr/>
          <a:lstStyle/>
          <a:p>
            <a:r>
              <a:t>Three gains, and they are all the same gain seen from different sides. Reach: when the flagged line names a helper, the model can go and read it and only then decide. The chain has no node in which to ask that question. Proportion: cost now follows the alert instead of being fixed in advance, so an easy fix is cheap and a hard one is not. Recovery: an unhelpful observation is no longer fatal, because there is a next turn in which to try something else. Put them together and they are one property: the edge back is the node we would otherwise have had to write.</a:t>
            </a:r>
          </a:p>
        </p:txBody>
      </p:sp>
    </p:spTree>
    <p:extLst>
      <p:ext uri="{BB962C8B-B14F-4D97-AF65-F5344CB8AC3E}">
        <p14:creationId xmlns:p14="http://schemas.microsoft.com/office/powerpoint/2010/main" val="106914844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D49D4-0F4D-FAA7-6C98-D563DDC1F0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3D2544-B38E-E3F1-8E0F-01C7C0B8BF10}"/>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085E06CF-4CFC-CFDD-5D07-D33DBB307AEB}"/>
              </a:ext>
            </a:extLst>
          </p:cNvPr>
          <p:cNvSpPr>
            <a:spLocks noGrp="1"/>
          </p:cNvSpPr>
          <p:nvPr>
            <p:ph type="body" idx="1"/>
          </p:nvPr>
        </p:nvSpPr>
        <p:spPr/>
        <p:txBody>
          <a:bodyPr/>
          <a:lstStyle/>
          <a:p>
            <a:r>
              <a:t>Three gains, and they are all the same gain seen from different sides. Reach: when the flagged line names a helper, the model can go and read it and only then decide. The chain has no node in which to ask that question. Proportion: cost now follows the alert instead of being fixed in advance, so an easy fix is cheap and a hard one is not. Recovery: an unhelpful observation is no longer fatal, because there is a next turn in which to try something else. Put them together and they are one property: the edge back is the node we would otherwise have had to write.</a:t>
            </a:r>
          </a:p>
        </p:txBody>
      </p:sp>
    </p:spTree>
    <p:extLst>
      <p:ext uri="{BB962C8B-B14F-4D97-AF65-F5344CB8AC3E}">
        <p14:creationId xmlns:p14="http://schemas.microsoft.com/office/powerpoint/2010/main" val="251652305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F9002-FA36-0F92-B907-75883DDCD8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A709A3-F591-D939-471E-F8CA996965F6}"/>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674C70BA-F329-83D1-1808-3BC8CA18EAE7}"/>
              </a:ext>
            </a:extLst>
          </p:cNvPr>
          <p:cNvSpPr>
            <a:spLocks noGrp="1"/>
          </p:cNvSpPr>
          <p:nvPr>
            <p:ph type="body" idx="1"/>
          </p:nvPr>
        </p:nvSpPr>
        <p:spPr/>
        <p:txBody>
          <a:bodyPr/>
          <a:lstStyle/>
          <a:p>
            <a:r>
              <a:t>Three gains, and they are all the same gain seen from different sides. Reach: when the flagged line names a helper, the model can go and read it and only then decide. The chain has no node in which to ask that question. Proportion: cost now follows the alert instead of being fixed in advance, so an easy fix is cheap and a hard one is not. Recovery: an unhelpful observation is no longer fatal, because there is a next turn in which to try something else. Put them together and they are one property: the edge back is the node we would otherwise have had to write.</a:t>
            </a:r>
          </a:p>
        </p:txBody>
      </p:sp>
    </p:spTree>
    <p:extLst>
      <p:ext uri="{BB962C8B-B14F-4D97-AF65-F5344CB8AC3E}">
        <p14:creationId xmlns:p14="http://schemas.microsoft.com/office/powerpoint/2010/main" val="403234114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bill. Shape: the budget gives a worst case and nothing else, so a budget for one alert is a budget for the cap rather than for the work. Address: the failure is spread over turns, and finding the one that went wrong means reading the whole trajectory. Termination: the run ends because we made it end, and a run that reaches the cap has spent the budget with nothing accepted to show for it. Underneath all three is one thing. The loop cannot tell a turn that advanced the investigation from a turn that wasted a model call, because it has no representation of progress. It counts turns. Turns are all it can count. That gap is what the planner and the validator exist to fill.</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3161A-9968-DE4C-9E99-61D207294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48465C-F382-E39D-8537-3DD4E2054A89}"/>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72C78A1A-5AF8-1B1A-3930-6553060978A7}"/>
              </a:ext>
            </a:extLst>
          </p:cNvPr>
          <p:cNvSpPr>
            <a:spLocks noGrp="1"/>
          </p:cNvSpPr>
          <p:nvPr>
            <p:ph type="body" idx="1"/>
          </p:nvPr>
        </p:nvSpPr>
        <p:spPr/>
        <p:txBody>
          <a:bodyPr/>
          <a:lstStyle/>
          <a:p>
            <a:r>
              <a:t>This is the bill. Shape: the budget gives a worst case and nothing else, so a budget for one alert is a budget for the cap rather than for the work. Address: the failure is spread over turns, and finding the one that went wrong means reading the whole trajectory. Termination: the run ends because we made it end, and a run that reaches the cap has spent the budget with nothing accepted to show for it. Underneath all three is one thing. The loop cannot tell a turn that advanced the investigation from a turn that wasted a model call, because it has no representation of progress. It counts turns. Turns are all it can count. That gap is what the planner and the validator exist to fill.</a:t>
            </a:r>
          </a:p>
        </p:txBody>
      </p:sp>
    </p:spTree>
    <p:extLst>
      <p:ext uri="{BB962C8B-B14F-4D97-AF65-F5344CB8AC3E}">
        <p14:creationId xmlns:p14="http://schemas.microsoft.com/office/powerpoint/2010/main" val="130257747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3A6C9-BEB3-1818-F9FF-7B6352BD31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E36630-D64E-FF4E-F7CB-5F74A9AC84A7}"/>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50CD9CE2-ECAD-E595-D18E-05E937F6F3B1}"/>
              </a:ext>
            </a:extLst>
          </p:cNvPr>
          <p:cNvSpPr>
            <a:spLocks noGrp="1"/>
          </p:cNvSpPr>
          <p:nvPr>
            <p:ph type="body" idx="1"/>
          </p:nvPr>
        </p:nvSpPr>
        <p:spPr/>
        <p:txBody>
          <a:bodyPr/>
          <a:lstStyle/>
          <a:p>
            <a:r>
              <a:t>This is the bill. Shape: the budget gives a worst case and nothing else, so a budget for one alert is a budget for the cap rather than for the work. Address: the failure is spread over turns, and finding the one that went wrong means reading the whole trajectory. Termination: the run ends because we made it end, and a run that reaches the cap has spent the budget with nothing accepted to show for it. Underneath all three is one thing. The loop cannot tell a turn that advanced the investigation from a turn that wasted a model call, because it has no representation of progress. It counts turns. Turns are all it can count. That gap is what the planner and the validator exist to fill.</a:t>
            </a:r>
          </a:p>
        </p:txBody>
      </p:sp>
    </p:spTree>
    <p:extLst>
      <p:ext uri="{BB962C8B-B14F-4D97-AF65-F5344CB8AC3E}">
        <p14:creationId xmlns:p14="http://schemas.microsoft.com/office/powerpoint/2010/main" val="123746622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026C0-DDA8-DF83-32A0-013EA98CCF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9C605E-7CDC-4EEA-F76B-9D60B2D5E8AF}"/>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4C3C090E-A465-7F00-DCB1-91849345E4A7}"/>
              </a:ext>
            </a:extLst>
          </p:cNvPr>
          <p:cNvSpPr>
            <a:spLocks noGrp="1"/>
          </p:cNvSpPr>
          <p:nvPr>
            <p:ph type="body" idx="1"/>
          </p:nvPr>
        </p:nvSpPr>
        <p:spPr/>
        <p:txBody>
          <a:bodyPr/>
          <a:lstStyle/>
          <a:p>
            <a:r>
              <a:t>This is the bill. Shape: the budget gives a worst case and nothing else, so a budget for one alert is a budget for the cap rather than for the work. Address: the failure is spread over turns, and finding the one that went wrong means reading the whole trajectory. Termination: the run ends because we made it end, and a run that reaches the cap has spent the budget with nothing accepted to show for it. Underneath all three is one thing. The loop cannot tell a turn that advanced the investigation from a turn that wasted a model call, because it has no representation of progress. It counts turns. Turns are all it can count. That gap is what the planner and the validator exist to fill.</a:t>
            </a:r>
          </a:p>
        </p:txBody>
      </p:sp>
    </p:spTree>
    <p:extLst>
      <p:ext uri="{BB962C8B-B14F-4D97-AF65-F5344CB8AC3E}">
        <p14:creationId xmlns:p14="http://schemas.microsoft.com/office/powerpoint/2010/main" val="398757324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One study, 150 hand-annotated failures, one backbone model held fixed across three tools. Read the shares as shares of each tool's own failures, not of all issues. Over half of the fixed workflow's failures carry a localization error, which is exactly where it commits earliest and where no later node can revisit the choice: the rest of the run elaborates a mistake it cannot see. The two loops fail instead inside the iteration, a stage the fixed workflow does not possess at all. So the machinery we just bought is also where the new failures live. And the caveat matters: holding the model fixed removes one source of variation, but these tools differ in prompts and interfaces too, so this supports a description and not a causal claim about architecture.</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Three named shapes, and each one is answered by a later section, which is why this slide is the hinge of the lecture. Non-progressive iteration is a loop that runs without going anywhere: the same patch regenerated with trivial differences. A plan answers it by giving the run something to measure a turn against. Validation retreat is the proposer grading its own work by editing the test instead of the code. A validator answers it by handing acceptance to something that did not write the patch. Context amnesia is losing the objective over a long interaction, and reflection answers it with memory that outlives an attempt. The cost of the blindness is legible in the step counts: failed issues take about three and a half times the steps, and where one tool covers eighty percent of its successes in twenty-five rounds it needs fifty-four to cover eighty percent of failures.</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Two stops, both ours, and both inside the controller node before a model call is issued. That placement is the point: checked afterwards they would be a post-mortem rather than a control. The budget is forty model calls. The second one is more interesting. The obvious rule is to stop when the same call repeats, and it looks equivalent to this one and is not: a model that varies its pattern slightly on each attempt evades it completely while making no progress at all. That is not hypothetical. On our own isolated fixture, ten consecutive searches with six distinct patterns all came back with no matches and the same-call rule never fired once; only the budget stopped the run. So this rule compares what came back rather than what was asked, which also subsumes the identical-call case because identical calls to deterministic tools return identical results. This is the non-progressive iteration from the last slide, caught by four lines.</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A real run, and short enough to read whole. Turn one, the model reads the flagged region. Turn two it reads the helper the query uses, which is the reach we paid for: nothing in the chain could have gone and got that. Turn three it edits, a parameterized query. Turn four it emits no tool call, which is how a submission is signalled in this graph, and the three mechanical checks pass: the patch applies, it touches the flagged line, the rescan is clean. Accepted. Four model calls against a budget of forty, so neither stop came near firing. Two things to point at. The model chose four of the five edges in this run and the runtime chose one, the acceptance. And search was offered on every call and never used, which is worth remembering when we look at what a plan would have changed.</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785FE-8059-D97C-74C1-189A266038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B74DD9-DFE7-4DF4-2DAA-305EDA73FDC7}"/>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4B50A5FB-DD8F-D58A-7279-9997AE4A52DB}"/>
              </a:ext>
            </a:extLst>
          </p:cNvPr>
          <p:cNvSpPr>
            <a:spLocks noGrp="1"/>
          </p:cNvSpPr>
          <p:nvPr>
            <p:ph type="body" idx="1"/>
          </p:nvPr>
        </p:nvSpPr>
        <p:spPr/>
        <p:txBody>
          <a:bodyPr/>
          <a:lstStyle/>
          <a:p>
            <a:r>
              <a:rPr dirty="0"/>
              <a:t>So here is the route. One agent, the one on the last slide, and five architectures. We start with the fixed workflow, where every step is ours and written before the run. Then a reactive loop, where the model chooses the next action and the graph gains an edge back. Then a planner, so the intended sequence is written into state where we can read it and revise it. Then a validator, which takes acceptance away from the thing that proposed the patch. Then </a:t>
            </a:r>
            <a:r>
              <a:rPr dirty="0" err="1"/>
              <a:t>reflexion</a:t>
            </a:r>
            <a:r>
              <a:rPr dirty="0"/>
              <a:t>, where a failed attempt changes the context of the next one. Keep your eye on what stays fixed: the same agent, the same alert, the same tools. The only thing that changes down this list is the architecture, which is what makes the comparison worth anything.</a:t>
            </a:r>
          </a:p>
        </p:txBody>
      </p:sp>
    </p:spTree>
    <p:extLst>
      <p:ext uri="{BB962C8B-B14F-4D97-AF65-F5344CB8AC3E}">
        <p14:creationId xmlns:p14="http://schemas.microsoft.com/office/powerpoint/2010/main" val="315831152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Close of section 3 said novelty is observable and progress is not. This is that gap, stated as three questions the program cannot answer about itself.</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Left sends actions and hears nothing. Middle returns every observation but holds the plan at its initial value. Right sorts the observation and, when it contradicts the plan, strikes out the remaining actions and writes new ones.</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distinction that matters for the demo: our reactive loop sits closest to the middle row with the plan removed.</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Three model nodes now: plan, controller, validate. The two solid edges are the only unconditional ones in the file; every dashed edge is an add_conditional_edges call. The curve from tools back to plan is the one the reactive loop did not have.</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Teal marks what is new against the three-node loop of section 3. START no longer goes to the controller; it goes to the planner.</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In V1 this situation ended the run with no_progress. That terminal status still exists, but it is now reached only after a revision has been tried.</a:t>
            </a: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replanned_at is the high-water mark. The stall check reads observations[replanned_at:], so the stall that caused a revision cannot go on to condemn the revision. It also doubles as the replan budget: one.</a:t>
            </a: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Same build-pair shape as the fixed-workflow tables: the artifact alone, then the identical slide with the claim added.</a:t>
            </a: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Same build-pair shape as the fixed-workflow tables: the artifact alone, then the identical slide with the claim added.</a:t>
            </a: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propose_plan is the only tool bound to the planner. A flat list of 'goal :: evidence' strings is asked for because small local models produce it far more reliably than a list of objects.</a:t>
            </a: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Four strategies that differ only in action selection, on two fixed frameworks across four backbones. The same table shows an 8B model with lookahead beating a frontier model without it.</a:t>
            </a: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4E00D-9964-2599-DBC8-15F2CBBC6E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92D214-C308-2A64-1C01-48A5A6D8AA6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A9338FF-95C2-AB8E-D0B9-BCFC16679FDF}"/>
              </a:ext>
            </a:extLst>
          </p:cNvPr>
          <p:cNvSpPr>
            <a:spLocks noGrp="1"/>
          </p:cNvSpPr>
          <p:nvPr>
            <p:ph type="body" idx="1"/>
          </p:nvPr>
        </p:nvSpPr>
        <p:spPr/>
        <p:txBody>
          <a:bodyPr/>
          <a:lstStyle/>
          <a:p>
            <a:r>
              <a:t>Four strategies that differ only in action selection, on two fixed frameworks across four backbones. The same table shows an 8B model with lookahead beating a frontier model without it.</a:t>
            </a:r>
          </a:p>
        </p:txBody>
      </p:sp>
    </p:spTree>
    <p:extLst>
      <p:ext uri="{BB962C8B-B14F-4D97-AF65-F5344CB8AC3E}">
        <p14:creationId xmlns:p14="http://schemas.microsoft.com/office/powerpoint/2010/main" val="81805215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is the slide to spend a beat on. Students reach for wider search first and it is the wrong lever.</a:t>
            </a: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Being handed a clean rescan and asked whether that establishes a correct fix is the entire point of the node.</a:t>
            </a: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is the sharpest line in the demo source and it belongs on screen verbatim. It is also the answer to soliloquizing from section 3.</a:t>
            </a: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Intrinsic self-correction: the model revises with no external signal. Give it the ground-truth label instead and it improves, which is exactly the signal you do not have at run time.</a:t>
            </a: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Blocksworld is the honest exception: self-critique helped there, 40% to 55%, and a sound verifier still beat it. The notes carry that; the slide does not have room.</a:t>
            </a: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8EC58-9F04-6ACE-903F-46783046F8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36523C-A3C3-9677-F335-56442777DD21}"/>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639F249E-496A-6228-5EFD-0FBC8D31A302}"/>
              </a:ext>
            </a:extLst>
          </p:cNvPr>
          <p:cNvSpPr>
            <a:spLocks noGrp="1"/>
          </p:cNvSpPr>
          <p:nvPr>
            <p:ph type="body" idx="1"/>
          </p:nvPr>
        </p:nvSpPr>
        <p:spPr/>
        <p:txBody>
          <a:bodyPr/>
          <a:lstStyle/>
          <a:p>
            <a:r>
              <a:rPr dirty="0"/>
              <a:t>So here is the route. One agent, the one on the last slide, and five architectures. We start with the fixed workflow, where every step is ours and written before the run. Then a reactive loop, where the model chooses the next action and the graph gains an edge back. Then a planner, so the intended sequence is written into state where we can read it and revise it. Then a validator, which takes acceptance away from the thing that proposed the patch. Then </a:t>
            </a:r>
            <a:r>
              <a:rPr dirty="0" err="1"/>
              <a:t>reflexion</a:t>
            </a:r>
            <a:r>
              <a:rPr dirty="0"/>
              <a:t>, where a failed attempt changes the context of the next one. Keep your eye on what stays fixed: the same agent, the same alert, the same tools. The only thing that changes down this list is the architecture, which is what makes the comparison worth anything.</a:t>
            </a:r>
          </a:p>
        </p:txBody>
      </p:sp>
    </p:spTree>
    <p:extLst>
      <p:ext uri="{BB962C8B-B14F-4D97-AF65-F5344CB8AC3E}">
        <p14:creationId xmlns:p14="http://schemas.microsoft.com/office/powerpoint/2010/main" val="319165075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Row of the twelve-pattern catalogue. Sorting criterion for this block: does a model orchestrate, or does predefined logic? Here: the model, inside one agent.</a:t>
            </a: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Row of the twelve-pattern catalogue. Sorting criterion for this block: does a model orchestrate, or does predefined logic? Here: predefined logic.</a:t>
            </a: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Row of the twelve-pattern catalogue. Sorting criterion for this block: does a model orchestrate, or does predefined logic? Here: predefined logic.</a:t>
            </a: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Row of the twelve-pattern catalogue. Sorting criterion for this block: does a model orchestrate, or does predefined logic? Here: predefined logic.</a:t>
            </a: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Row of the twelve-pattern catalogue. Sorting criterion for this block: does a model orchestrate, or does predefined logic? Here: predefined logic, as a loop.</a:t>
            </a: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Row of the twelve-pattern catalogue. Sorting criterion for this block: does a model orchestrate, or does predefined logic? Here: predefined logic, as a loop.</a:t>
            </a: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Row of the twelve-pattern catalogue. Sorting criterion for this block: does a model orchestrate, or does predefined logic? Here: the model.</a:t>
            </a: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Row of the twelve-pattern catalogue. Sorting criterion for this block: does a model orchestrate, or does predefined logic? Here: the model, at several levels.</a:t>
            </a: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Row of the twelve-pattern catalogue. Sorting criterion for this block: does a model orchestrate, or does predefined logic? Here: no central orchestrator.</a:t>
            </a: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Row of the twelve-pattern catalogue. Sorting criterion for this block: does a model orchestrate, or does predefined logic? Here: predefined checkpoints.</a:t>
            </a: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Row of the twelve-pattern catalogue. Sorting criterion for this block: does a model orchestrate, or does predefined logic? Here: code the team writes.</a:t>
            </a: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One row of the axes table, across the four patterns the block discusses. The question behind every row is the same one the whole block has asked: does a model orchestrate, or does predefined logic?</a:t>
            </a: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One row of the axes table, across the four patterns the block discusses. The question behind every row is the same one the whole block has asked: does a model orchestrate, or does predefined logic?</a:t>
            </a: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One row of the axes table, across the four patterns the block discusses. The question behind every row is the same one the whole block has asked: does a model orchestrate, or does predefined logic?</a:t>
            </a: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One row of the axes table, across the four patterns the block discusses. The question behind every row is the same one the whole block has asked: does a model orchestrate, or does predefined logic?</a:t>
            </a: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One row of the axes table, across the four patterns the block discusses. The question behind every row is the same one the whole block has asked: does a model orchestrate, or does predefined logic?</a:t>
            </a: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One row of the axes table, across the four patterns the block discusses. The question behind every row is the same one the whole block has asked: does a model orchestrate, or does predefined logic?</a:t>
            </a: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Part A asked which decisions we fix at design time. Part B is the machinery that carries a decision from one step to the next: the record the runtime keeps, the code that reads it to choose the next node or to stop, and the boundary where a requested action becomes an executed one.</a:t>
            </a: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804CF-57E5-5069-A339-A46BC12C5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A0F5C1-0379-A701-4BE2-A95E7BE3D45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A0F0CE7-AE79-5A56-927D-9C71A05F3BEF}"/>
              </a:ext>
            </a:extLst>
          </p:cNvPr>
          <p:cNvSpPr>
            <a:spLocks noGrp="1"/>
          </p:cNvSpPr>
          <p:nvPr>
            <p:ph type="body" idx="1"/>
          </p:nvPr>
        </p:nvSpPr>
        <p:spPr/>
        <p:txBody>
          <a:bodyPr/>
          <a:lstStyle/>
          <a:p>
            <a:r>
              <a:t>Part A asked which decisions we fix at design time. Part B is the machinery that carries a decision from one step to the next: the record the runtime keeps, the code that reads it to choose the next node or to stop, and the boundary where a requested action becomes an executed one.</a:t>
            </a:r>
          </a:p>
        </p:txBody>
      </p:sp>
    </p:spTree>
    <p:extLst>
      <p:ext uri="{BB962C8B-B14F-4D97-AF65-F5344CB8AC3E}">
        <p14:creationId xmlns:p14="http://schemas.microsoft.com/office/powerpoint/2010/main" val="4058062319"/>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804CF-57E5-5069-A339-A46BC12C5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A0F5C1-0379-A701-4BE2-A95E7BE3D45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A0F0CE7-AE79-5A56-927D-9C71A05F3BEF}"/>
              </a:ext>
            </a:extLst>
          </p:cNvPr>
          <p:cNvSpPr>
            <a:spLocks noGrp="1"/>
          </p:cNvSpPr>
          <p:nvPr>
            <p:ph type="body" idx="1"/>
          </p:nvPr>
        </p:nvSpPr>
        <p:spPr/>
        <p:txBody>
          <a:bodyPr/>
          <a:lstStyle/>
          <a:p>
            <a:r>
              <a:t>Part A asked which decisions we fix at design time. Part B is the machinery that carries a decision from one step to the next: the record the runtime keeps, the code that reads it to choose the next node or to stop, and the boundary where a requested action becomes an executed one.</a:t>
            </a:r>
          </a:p>
        </p:txBody>
      </p:sp>
    </p:spTree>
    <p:extLst>
      <p:ext uri="{BB962C8B-B14F-4D97-AF65-F5344CB8AC3E}">
        <p14:creationId xmlns:p14="http://schemas.microsoft.com/office/powerpoint/2010/main" val="1007680980"/>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D48E6-2391-8E03-2F86-614D88FD80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3F24D9-012B-E65C-8B9C-0EDC9ED9912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309B48F-9990-2C25-A7A1-8DF0BCD7A1DF}"/>
              </a:ext>
            </a:extLst>
          </p:cNvPr>
          <p:cNvSpPr>
            <a:spLocks noGrp="1"/>
          </p:cNvSpPr>
          <p:nvPr>
            <p:ph type="body" idx="1"/>
          </p:nvPr>
        </p:nvSpPr>
        <p:spPr/>
        <p:txBody>
          <a:bodyPr/>
          <a:lstStyle/>
          <a:p>
            <a:r>
              <a:t>Part A asked which decisions we fix at design time. Part B is the machinery that carries a decision from one step to the next: the record the runtime keeps, the code that reads it to choose the next node or to stop, and the boundary where a requested action becomes an executed one.</a:t>
            </a:r>
          </a:p>
        </p:txBody>
      </p:sp>
    </p:spTree>
    <p:extLst>
      <p:ext uri="{BB962C8B-B14F-4D97-AF65-F5344CB8AC3E}">
        <p14:creationId xmlns:p14="http://schemas.microsoft.com/office/powerpoint/2010/main" val="839508458"/>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picture we drew for each version says where control is allowed to go. It says nothing about what moves along the edges. What moves is one record, and every mechanism in the rest of Part B is defined over it. Our controller returns three keys out of the loop's ten.</a:t>
            </a: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Two operations, not one. The node reads the current state together with a result that arrived from outside the program, and it returns a partial update. The runtime then merges that update key by key. Each reducer takes two arguments: the value already in state on the left, the value the node returned on the right. A node can be written without knowing which of the two its contribution will be.</a:t>
            </a: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is the term that makes the transition honest. Section 1 called the environment nondeterministic; here is where that shows up in the code. Same state, same node, different successor, and nothing has misbehaved.</a:t>
            </a: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These two are easy to confuse because most of their content overlaps. The model sees what it needs for the current call. The runtime also tracks counters and other fields used to control execution. Durability: kill the process mid-run and start again, and for the loop as it stands the agent knows nothing. Checkpointers are a later unit; what the record has to carry here is the run, not the restart.</a:t>
            </a: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clearest case of a field that stays behind. We want the check to be a comparison in the controller rather than an instruction in a prompt. Ask the room what happens if you put the budget in the system prompt instead: which record would you inspect to tell the two designs apart?</a:t>
            </a: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Atomic, factored, structured is the AIMA axis. The number a benchmark reports is a count of atomic labels. Structure is confined to the two values where the model has to defend its work: the patch it proposes and the rejection it gets back.</a:t>
            </a: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is what state.py declares today, and what the loop populates. Ten keys. Walk the reducer column rather than the description: it is the column that decides what a later step can see.</a:t>
            </a: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Below the rule are the fields the later versions add. Each arrives with the node that fills it, so a version's diff shows one change rather than a field that was always waiting. These four are designed and not yet built, which is what the colour marks throughout Part B.</a:t>
            </a: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 TypedDict returns an ordinary dictionary at run time. Its types cannot be used in isinstance tests. So a model reply that puts a string where the schema declares an integer produces a state that type-checks in the editor and is wrong in the run. Section 8 is where the check that catches it lives.</a:t>
            </a: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Each of the three answers a question about visibility rather than about storage. The stall check needs append: it compares the last three observations, which is a question no replaced field could answer. And a single usage total cannot tell you whether cache reads rose while fresh input fell.</a:t>
            </a: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is the one to slow down on. The next attempt is supposed to begin free of the reasoning that failed, and returning an empty list does not do it. The runtime has to assign the field explicitly, and it records that assignment in the trace as a state change. Identity, reflections and the counters survive the reset by design: an attempt limit enforced on a counter that resets with the attempt is not a limit at all.</a:t>
            </a: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From runs/v1-bc284c6b.jsonl, steps 3 and 4. Three things to hold on to. The node named two keys and the record has ten, so the counters advanced only where a node said so. The stored observation keeps the arguments and the ok flag alongside the text, and routing and accounting read those fields rather than the prose. And model_calls stood at one throughout and was never shown, which is how a budget stays a runtime control. The trace is a fourth record, and it is what section 7 rests on.</a:t>
            </a: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90808-CEA4-9FD2-AA69-93AE735F7B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4C276B-071E-5F6A-A852-5CF0EA8C5DA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A27BD5B-ACB8-6A7A-4AEE-70D78DCD16EA}"/>
              </a:ext>
            </a:extLst>
          </p:cNvPr>
          <p:cNvSpPr>
            <a:spLocks noGrp="1"/>
          </p:cNvSpPr>
          <p:nvPr>
            <p:ph type="body" idx="1"/>
          </p:nvPr>
        </p:nvSpPr>
        <p:spPr/>
        <p:txBody>
          <a:bodyPr/>
          <a:lstStyle/>
          <a:p>
            <a:r>
              <a:t>Part A asked which decisions we fix at design time. Part B is the machinery that carries a decision from one step to the next: the record the runtime keeps, the code that reads it to choose the next node or to stop, and the boundary where a requested action becomes an executed one.</a:t>
            </a:r>
          </a:p>
        </p:txBody>
      </p:sp>
    </p:spTree>
    <p:extLst>
      <p:ext uri="{BB962C8B-B14F-4D97-AF65-F5344CB8AC3E}">
        <p14:creationId xmlns:p14="http://schemas.microsoft.com/office/powerpoint/2010/main" val="3144478804"/>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Both things are true at once, and that is what makes the arrangement worth describing carefully. The model's output decides which way the comparison comes out. The comparison decides where the run goes. A router that reads the model's prose has handed the control decision back to the model.</a:t>
            </a: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upper back edge revises a plan inside an attempt. The lower path runs the reflection step and begins a new attempt. Compilation fixes this object; what differs between two runs on the same alert is the sequence of states, and therefore the sequence of edges the routers select.</a:t>
            </a: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Two fields, and there is no third condition. It never reads the model's prose. after_submit is one line: END when the submission was accepted, the controller otherwise.</a:t>
            </a: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When a run does something unexpected, this is the first thing to open. The decision field tells you which branch was taken; the by field tells you whether a limit fired or a model output selected it.</a:t>
            </a: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Three nodes, two conditional edge sets, one unconditional edge. The conditional edges are what give one compiled graph its different shapes at run time. A dynamic path does not require a dynamic graph.</a:t>
            </a: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One asks what to do about a step that did not work. The other asks what to do about an attempt that did not work. Both edges arrive with the planner and the reflection step, which is what the colour on the labels marks.</a:t>
            </a: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That last point is what makes the retry the runtime's decision rather than the model's: nobody is consulted, and nothing is paid for.</a:t>
            </a: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 limit checked afterwards is a post-mortem: the call has already been paid for. The stall check compares results rather than requests, because that also catches six distinct searches that all return nothing, which is the repeated-action failure ReAct reports for its own trajectories. And an attempt counter that reset with the attempt would bound nothing.</a:t>
            </a: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Errors and outcomes are not the same thing: a refused tool call is an observation inside a run that can still end accepted, and a process killed between two events leaves a run with no status at all. The reason lives in status, which we set.</a:t>
            </a: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Five statuses, three readings. The run in the third row may still be active, may have been interrupted, or may have written an incomplete trace, and the record does not say which.</a:t>
            </a: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first ending is the recorded run, runs/v1-bc284c6b.jsonl. The routing event just before the terminal one carries by=runtime: nothing in that trace is a model's opinion about whether the work was done. In the second, the evidence the run gathered is still in observations, and the absence of a finding is not the absence of work.</a:t>
            </a: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Name and purpose; the typed arguments and their constraints; the typed success result and the error representation; the side-effect class; the execution constraints. The model-facing definition covers the first two. A model that has read the description knows nothing about the other three.</a:t>
            </a: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Five operations, and each of them can end the cycle. The two dashed branches are refusals, and they rejoin at the same object the successful path produces. What state and the trace do with that observation is the previous section's material.</a:t>
            </a: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Binding checks names and arity and not types, so unambiguous type mismatches are coerced rather than spending a model call to complain about a string where an integer was wanted.</a:t>
            </a: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difference is what keeps the reactive loop alive. Both events become observations the model can read, and the ok flag is what tells them apart.</a:t>
            </a: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Which is why tools read the run's configuration from the module rather than accepting it as a parameter. A config parameter would be bindable, and a bindable parameter is one the model can set. The model never sees the workspace root in the schema and cannot pass it.</a:t>
            </a: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One read_file call on testcode/BenchmarkTest00283.py, through the artifacts it leaves, from runs/v1-bc284c6b.jsonl, steps 3 and 4. The provider's raw request stays in the message history; the trace records the dispatcher's view of it.</a:t>
            </a: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 tool call left without an answer makes the next model message malformed, which is why the dispatcher returns one observation for each, including the ones that failed.</a:t>
            </a: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SWE-agent is the clearest evidence that the action set and the shape of the feedback move outcomes, because it holds the model fixed and varies the interface. With GPT-4 Turbo the resulting system resolves 12.47% of the 2,294 SWE-bench test instances, against 3.8% for the previous best non-interactive retrieval-augmented system, and the same interface carries to another model, with Claude 3 Opus resolving 10.5%.</a:t>
            </a: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Table 3 of the SWE-agent paper. Read down the Change column rather than across: each row varies one component of one system.</a:t>
            </a: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 variant that helps this agent with this model on these instances may not transfer. That is the discipline to carry into HW1: an ablation tells you about the system it was run on.</a:t>
            </a: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workspace.resolve is where an ordinary-looking shortcut fails. It resolves both the root and the candidate path fully before comparing them, so .. segments collapse and symlinks are followed. Comparing the two as strings would look equivalent and would not be, because /tmp/ws is a prefix of the unrelated directory /tmp/ws-evil.</a:t>
            </a: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Waiting for a model to produce a forbidden request is a poor way to demonstrate a boundary, so we construct one. Set beside the permitted request, the pair shows the branch: identical tool, identical dispatcher, and the argument decides whether execution happens. That is the question HW1 puts to you, on the same fixture and the same tools.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233781" y="75500"/>
            <a:ext cx="6390450" cy="2052600"/>
          </a:xfrm>
          <a:prstGeom prst="rect">
            <a:avLst/>
          </a:prstGeom>
        </p:spPr>
        <p:txBody>
          <a:bodyPr spcFirstLastPara="1" wrap="square" lIns="97500" tIns="97500" rIns="97500" bIns="97500" anchor="b" anchorCtr="0">
            <a:normAutofit/>
          </a:bodyPr>
          <a:lstStyle>
            <a:lvl1pPr lvl="0" algn="ctr">
              <a:spcBef>
                <a:spcPts val="0"/>
              </a:spcBef>
              <a:spcAft>
                <a:spcPts val="0"/>
              </a:spcAft>
              <a:buSzPts val="4200"/>
              <a:buNone/>
              <a:defRPr sz="3150">
                <a:solidFill>
                  <a:schemeClr val="bg2"/>
                </a:solidFill>
              </a:defRPr>
            </a:lvl1pPr>
            <a:lvl2pPr lvl="1" algn="ctr">
              <a:spcBef>
                <a:spcPts val="0"/>
              </a:spcBef>
              <a:spcAft>
                <a:spcPts val="0"/>
              </a:spcAft>
              <a:buSzPts val="4200"/>
              <a:buNone/>
              <a:defRPr sz="3150"/>
            </a:lvl2pPr>
            <a:lvl3pPr lvl="2" algn="ctr">
              <a:spcBef>
                <a:spcPts val="0"/>
              </a:spcBef>
              <a:spcAft>
                <a:spcPts val="0"/>
              </a:spcAft>
              <a:buSzPts val="4200"/>
              <a:buNone/>
              <a:defRPr sz="3150"/>
            </a:lvl3pPr>
            <a:lvl4pPr lvl="3" algn="ctr">
              <a:spcBef>
                <a:spcPts val="0"/>
              </a:spcBef>
              <a:spcAft>
                <a:spcPts val="0"/>
              </a:spcAft>
              <a:buSzPts val="4200"/>
              <a:buNone/>
              <a:defRPr sz="3150"/>
            </a:lvl4pPr>
            <a:lvl5pPr lvl="4" algn="ctr">
              <a:spcBef>
                <a:spcPts val="0"/>
              </a:spcBef>
              <a:spcAft>
                <a:spcPts val="0"/>
              </a:spcAft>
              <a:buSzPts val="4200"/>
              <a:buNone/>
              <a:defRPr sz="3150"/>
            </a:lvl5pPr>
            <a:lvl6pPr lvl="5" algn="ctr">
              <a:spcBef>
                <a:spcPts val="0"/>
              </a:spcBef>
              <a:spcAft>
                <a:spcPts val="0"/>
              </a:spcAft>
              <a:buSzPts val="4200"/>
              <a:buNone/>
              <a:defRPr sz="3150"/>
            </a:lvl6pPr>
            <a:lvl7pPr lvl="6" algn="ctr">
              <a:spcBef>
                <a:spcPts val="0"/>
              </a:spcBef>
              <a:spcAft>
                <a:spcPts val="0"/>
              </a:spcAft>
              <a:buSzPts val="4200"/>
              <a:buNone/>
              <a:defRPr sz="3150"/>
            </a:lvl7pPr>
            <a:lvl8pPr lvl="7" algn="ctr">
              <a:spcBef>
                <a:spcPts val="0"/>
              </a:spcBef>
              <a:spcAft>
                <a:spcPts val="0"/>
              </a:spcAft>
              <a:buSzPts val="4200"/>
              <a:buNone/>
              <a:defRPr sz="3150"/>
            </a:lvl8pPr>
            <a:lvl9pPr lvl="8" algn="ctr">
              <a:spcBef>
                <a:spcPts val="0"/>
              </a:spcBef>
              <a:spcAft>
                <a:spcPts val="0"/>
              </a:spcAft>
              <a:buSzPts val="4200"/>
              <a:buNone/>
              <a:defRPr sz="3150"/>
            </a:lvl9pPr>
          </a:lstStyle>
          <a:p>
            <a:endParaRPr/>
          </a:p>
        </p:txBody>
      </p:sp>
      <p:sp>
        <p:nvSpPr>
          <p:cNvPr id="12" name="Google Shape;12;p2"/>
          <p:cNvSpPr txBox="1">
            <a:spLocks noGrp="1"/>
          </p:cNvSpPr>
          <p:nvPr>
            <p:ph type="subTitle" idx="1"/>
          </p:nvPr>
        </p:nvSpPr>
        <p:spPr>
          <a:xfrm>
            <a:off x="233775" y="2175450"/>
            <a:ext cx="6390450" cy="792600"/>
          </a:xfrm>
          <a:prstGeom prst="rect">
            <a:avLst/>
          </a:prstGeom>
        </p:spPr>
        <p:txBody>
          <a:bodyPr spcFirstLastPara="1" wrap="square" lIns="97500" tIns="97500" rIns="97500" bIns="97500" anchor="t" anchorCtr="0">
            <a:normAutofit/>
          </a:bodyPr>
          <a:lstStyle>
            <a:lvl1pPr lvl="0" algn="ctr">
              <a:lnSpc>
                <a:spcPct val="100000"/>
              </a:lnSpc>
              <a:spcBef>
                <a:spcPts val="0"/>
              </a:spcBef>
              <a:spcAft>
                <a:spcPts val="0"/>
              </a:spcAft>
              <a:buSzPts val="2400"/>
              <a:buNone/>
              <a:defRPr sz="1800"/>
            </a:lvl1pPr>
            <a:lvl2pPr lvl="1" algn="ctr">
              <a:lnSpc>
                <a:spcPct val="100000"/>
              </a:lnSpc>
              <a:spcBef>
                <a:spcPts val="0"/>
              </a:spcBef>
              <a:spcAft>
                <a:spcPts val="0"/>
              </a:spcAft>
              <a:buSzPts val="2400"/>
              <a:buNone/>
              <a:defRPr sz="1800"/>
            </a:lvl2pPr>
            <a:lvl3pPr lvl="2" algn="ctr">
              <a:lnSpc>
                <a:spcPct val="100000"/>
              </a:lnSpc>
              <a:spcBef>
                <a:spcPts val="0"/>
              </a:spcBef>
              <a:spcAft>
                <a:spcPts val="0"/>
              </a:spcAft>
              <a:buSzPts val="2400"/>
              <a:buNone/>
              <a:defRPr sz="1800"/>
            </a:lvl3pPr>
            <a:lvl4pPr lvl="3" algn="ctr">
              <a:lnSpc>
                <a:spcPct val="100000"/>
              </a:lnSpc>
              <a:spcBef>
                <a:spcPts val="0"/>
              </a:spcBef>
              <a:spcAft>
                <a:spcPts val="0"/>
              </a:spcAft>
              <a:buSzPts val="2400"/>
              <a:buNone/>
              <a:defRPr sz="1800"/>
            </a:lvl4pPr>
            <a:lvl5pPr lvl="4" algn="ctr">
              <a:lnSpc>
                <a:spcPct val="100000"/>
              </a:lnSpc>
              <a:spcBef>
                <a:spcPts val="0"/>
              </a:spcBef>
              <a:spcAft>
                <a:spcPts val="0"/>
              </a:spcAft>
              <a:buSzPts val="2400"/>
              <a:buNone/>
              <a:defRPr sz="1800"/>
            </a:lvl5pPr>
            <a:lvl6pPr lvl="5" algn="ctr">
              <a:lnSpc>
                <a:spcPct val="100000"/>
              </a:lnSpc>
              <a:spcBef>
                <a:spcPts val="0"/>
              </a:spcBef>
              <a:spcAft>
                <a:spcPts val="0"/>
              </a:spcAft>
              <a:buSzPts val="2400"/>
              <a:buNone/>
              <a:defRPr sz="1800"/>
            </a:lvl6pPr>
            <a:lvl7pPr lvl="6" algn="ctr">
              <a:lnSpc>
                <a:spcPct val="100000"/>
              </a:lnSpc>
              <a:spcBef>
                <a:spcPts val="0"/>
              </a:spcBef>
              <a:spcAft>
                <a:spcPts val="0"/>
              </a:spcAft>
              <a:buSzPts val="2400"/>
              <a:buNone/>
              <a:defRPr sz="1800"/>
            </a:lvl7pPr>
            <a:lvl8pPr lvl="7" algn="ctr">
              <a:lnSpc>
                <a:spcPct val="100000"/>
              </a:lnSpc>
              <a:spcBef>
                <a:spcPts val="0"/>
              </a:spcBef>
              <a:spcAft>
                <a:spcPts val="0"/>
              </a:spcAft>
              <a:buSzPts val="2400"/>
              <a:buNone/>
              <a:defRPr sz="1800"/>
            </a:lvl8pPr>
            <a:lvl9pPr lvl="8" algn="ctr">
              <a:lnSpc>
                <a:spcPct val="100000"/>
              </a:lnSpc>
              <a:spcBef>
                <a:spcPts val="0"/>
              </a:spcBef>
              <a:spcAft>
                <a:spcPts val="0"/>
              </a:spcAft>
              <a:buSzPts val="2400"/>
              <a:buNone/>
              <a:defRPr sz="1800"/>
            </a:lvl9pPr>
          </a:lstStyle>
          <a:p>
            <a:endParaRPr/>
          </a:p>
        </p:txBody>
      </p:sp>
      <p:sp>
        <p:nvSpPr>
          <p:cNvPr id="13" name="Google Shape;13;p2"/>
          <p:cNvSpPr txBox="1">
            <a:spLocks noGrp="1"/>
          </p:cNvSpPr>
          <p:nvPr>
            <p:ph type="sldNum" idx="12"/>
          </p:nvPr>
        </p:nvSpPr>
        <p:spPr>
          <a:xfrm>
            <a:off x="6446482" y="4749892"/>
            <a:ext cx="411525"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Google Shape;6;p1">
            <a:extLst>
              <a:ext uri="{FF2B5EF4-FFF2-40B4-BE49-F238E27FC236}">
                <a16:creationId xmlns:a16="http://schemas.microsoft.com/office/drawing/2014/main" id="{FD5B4268-F0EC-02C8-87DA-324BDAD9D5C3}"/>
              </a:ext>
            </a:extLst>
          </p:cNvPr>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b="1">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5" name="Google Shape;7;p1">
            <a:extLst>
              <a:ext uri="{FF2B5EF4-FFF2-40B4-BE49-F238E27FC236}">
                <a16:creationId xmlns:a16="http://schemas.microsoft.com/office/drawing/2014/main" id="{737A3DEE-178A-8526-2A30-967CA858EC94}"/>
              </a:ext>
            </a:extLst>
          </p:cNvPr>
          <p:cNvSpPr txBox="1">
            <a:spLocks noGrp="1"/>
          </p:cNvSpPr>
          <p:nvPr>
            <p:ph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40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sp>
        <p:nvSpPr>
          <p:cNvPr id="2" name="Slide Number Placeholder 1">
            <a:extLst>
              <a:ext uri="{FF2B5EF4-FFF2-40B4-BE49-F238E27FC236}">
                <a16:creationId xmlns:a16="http://schemas.microsoft.com/office/drawing/2014/main" id="{B51DF3CB-87F9-F259-44C5-76CCC8BCE32C}"/>
              </a:ext>
            </a:extLst>
          </p:cNvPr>
          <p:cNvSpPr>
            <a:spLocks noGrp="1"/>
          </p:cNvSpPr>
          <p:nvPr>
            <p:ph type="sldNum" sz="quarter" idx="10"/>
          </p:nvPr>
        </p:nvSpPr>
        <p:spPr/>
        <p:txBody>
          <a:bodyPr/>
          <a:lstStyle/>
          <a:p>
            <a:fld id="{26FBAF0E-C96E-D64F-8B24-1AA70EC4AC83}" type="slidenum">
              <a:rPr lang="en-US" smtClean="0"/>
              <a:t>‹#›</a:t>
            </a:fld>
            <a:endParaRPr lang="en-US"/>
          </a:p>
        </p:txBody>
      </p:sp>
    </p:spTree>
    <p:extLst>
      <p:ext uri="{BB962C8B-B14F-4D97-AF65-F5344CB8AC3E}">
        <p14:creationId xmlns:p14="http://schemas.microsoft.com/office/powerpoint/2010/main" val="2278275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7A59394-595B-E6C1-5B62-E3F3A7B0D40D}"/>
              </a:ext>
            </a:extLst>
          </p:cNvPr>
          <p:cNvSpPr>
            <a:spLocks noGrp="1"/>
          </p:cNvSpPr>
          <p:nvPr>
            <p:ph type="sldNum" sz="quarter" idx="10"/>
          </p:nvPr>
        </p:nvSpPr>
        <p:spPr/>
        <p:txBody>
          <a:bodyPr/>
          <a:lstStyle/>
          <a:p>
            <a:fld id="{26FBAF0E-C96E-D64F-8B24-1AA70EC4AC83}" type="slidenum">
              <a:rPr lang="en-US" smtClean="0"/>
              <a:t>‹#›</a:t>
            </a:fld>
            <a:endParaRPr lang="en-US"/>
          </a:p>
        </p:txBody>
      </p:sp>
    </p:spTree>
    <p:extLst>
      <p:ext uri="{BB962C8B-B14F-4D97-AF65-F5344CB8AC3E}">
        <p14:creationId xmlns:p14="http://schemas.microsoft.com/office/powerpoint/2010/main" val="2560574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bg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CC8073-2779-4ECB-838F-530CD4C4CDC8}"/>
              </a:ext>
            </a:extLst>
          </p:cNvPr>
          <p:cNvPicPr>
            <a:picLocks noChangeAspect="1"/>
          </p:cNvPicPr>
          <p:nvPr userDrawn="1"/>
        </p:nvPicPr>
        <p:blipFill>
          <a:blip r:embed="rId2"/>
          <a:stretch>
            <a:fillRect/>
          </a:stretch>
        </p:blipFill>
        <p:spPr>
          <a:xfrm>
            <a:off x="1" y="4989748"/>
            <a:ext cx="141585" cy="147484"/>
          </a:xfrm>
          <a:prstGeom prst="rect">
            <a:avLst/>
          </a:prstGeom>
        </p:spPr>
      </p:pic>
    </p:spTree>
    <p:extLst>
      <p:ext uri="{BB962C8B-B14F-4D97-AF65-F5344CB8AC3E}">
        <p14:creationId xmlns:p14="http://schemas.microsoft.com/office/powerpoint/2010/main" val="199617864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7" name="Google Shape;7;p1"/>
          <p:cNvSpPr txBox="1">
            <a:spLocks noGrp="1"/>
          </p:cNvSpPr>
          <p:nvPr>
            <p:ph type="body"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62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pic>
        <p:nvPicPr>
          <p:cNvPr id="9" name="Google Shape;9;p1"/>
          <p:cNvPicPr preferRelativeResize="0"/>
          <p:nvPr/>
        </p:nvPicPr>
        <p:blipFill rotWithShape="1">
          <a:blip r:embed="rId6">
            <a:alphaModFix/>
          </a:blip>
          <a:srcRect r="79249"/>
          <a:stretch/>
        </p:blipFill>
        <p:spPr>
          <a:xfrm>
            <a:off x="0" y="4841359"/>
            <a:ext cx="342167" cy="302143"/>
          </a:xfrm>
          <a:prstGeom prst="rect">
            <a:avLst/>
          </a:prstGeom>
          <a:noFill/>
          <a:ln>
            <a:noFill/>
          </a:ln>
        </p:spPr>
      </p:pic>
      <p:sp>
        <p:nvSpPr>
          <p:cNvPr id="3" name="Slide Number Placeholder 2">
            <a:extLst>
              <a:ext uri="{FF2B5EF4-FFF2-40B4-BE49-F238E27FC236}">
                <a16:creationId xmlns:a16="http://schemas.microsoft.com/office/drawing/2014/main" id="{DF71E8FB-ADDA-82C8-8A4F-6295E7491A8B}"/>
              </a:ext>
            </a:extLst>
          </p:cNvPr>
          <p:cNvSpPr>
            <a:spLocks noGrp="1"/>
          </p:cNvSpPr>
          <p:nvPr>
            <p:ph type="sldNum" sz="quarter" idx="4"/>
          </p:nvPr>
        </p:nvSpPr>
        <p:spPr>
          <a:xfrm>
            <a:off x="5314950" y="4871644"/>
            <a:ext cx="1543050" cy="274637"/>
          </a:xfrm>
          <a:prstGeom prst="rect">
            <a:avLst/>
          </a:prstGeom>
        </p:spPr>
        <p:txBody>
          <a:bodyPr vert="horz" lIns="91440" tIns="45720" rIns="91440" bIns="45720" rtlCol="0" anchor="ctr"/>
          <a:lstStyle>
            <a:lvl1pPr algn="r">
              <a:defRPr sz="1050">
                <a:solidFill>
                  <a:schemeClr val="bg2"/>
                </a:solidFill>
              </a:defRPr>
            </a:lvl1pPr>
          </a:lstStyle>
          <a:p>
            <a:fld id="{26FBAF0E-C96E-D64F-8B24-1AA70EC4AC83}"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8" r:id="rId1"/>
    <p:sldLayoutId id="2147483660" r:id="rId2"/>
    <p:sldLayoutId id="2147483662" r:id="rId3"/>
    <p:sldLayoutId id="2147483661"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hyperlink" Target="mailto:ik2619@columbia.edu" TargetMode="External"/><Relationship Id="rId2" Type="http://schemas.openxmlformats.org/officeDocument/2006/relationships/hyperlink" Target="mailto:rk3080@columbia.edu" TargetMode="External"/><Relationship Id="rId1" Type="http://schemas.openxmlformats.org/officeDocument/2006/relationships/slideLayout" Target="../slideLayouts/slideLayout2.xml"/><Relationship Id="rId4" Type="http://schemas.openxmlformats.org/officeDocument/2006/relationships/hyperlink" Target="http://rkrsn.u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4.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4.xml"/></Relationships>
</file>

<file path=ppt/slides/_rels/slide1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2.xml"/><Relationship Id="rId1" Type="http://schemas.openxmlformats.org/officeDocument/2006/relationships/slideLayout" Target="../slideLayouts/slideLayout4.xml"/></Relationships>
</file>

<file path=ppt/slides/_rels/slide1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3.xml"/><Relationship Id="rId1" Type="http://schemas.openxmlformats.org/officeDocument/2006/relationships/slideLayout" Target="../slideLayouts/slideLayout4.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4.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Designing Production Agentic Systems</a:t>
            </a:r>
            <a:endParaRPr b="1" dirty="0"/>
          </a:p>
        </p:txBody>
      </p:sp>
      <p:sp>
        <p:nvSpPr>
          <p:cNvPr id="3" name="Subtitle 2"/>
          <p:cNvSpPr>
            <a:spLocks noGrp="1"/>
          </p:cNvSpPr>
          <p:nvPr>
            <p:ph type="subTitle" idx="1"/>
          </p:nvPr>
        </p:nvSpPr>
        <p:spPr/>
        <p:txBody>
          <a:bodyPr/>
          <a:lstStyle/>
          <a:p>
            <a:r>
              <a:rPr b="1" dirty="0"/>
              <a:t>Columbia · Fall 2026 · Lecture </a:t>
            </a:r>
            <a:r>
              <a:rPr lang="en-US" b="1" dirty="0"/>
              <a:t>2</a:t>
            </a:r>
            <a:endParaRPr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214CCDE-7AC2-0B63-DE2D-FFDC29D92E35}"/>
              </a:ext>
            </a:extLst>
          </p:cNvPr>
          <p:cNvSpPr txBox="1"/>
          <p:nvPr/>
        </p:nvSpPr>
        <p:spPr>
          <a:xfrm>
            <a:off x="364435" y="2217807"/>
            <a:ext cx="6129130" cy="707886"/>
          </a:xfrm>
          <a:prstGeom prst="rect">
            <a:avLst/>
          </a:prstGeom>
          <a:noFill/>
        </p:spPr>
        <p:txBody>
          <a:bodyPr wrap="square" rtlCol="0">
            <a:spAutoFit/>
          </a:bodyPr>
          <a:lstStyle/>
          <a:p>
            <a:pPr algn="ctr"/>
            <a:r>
              <a:rPr lang="en-US" sz="4000" b="1" dirty="0">
                <a:solidFill>
                  <a:schemeClr val="tx2"/>
                </a:solidFill>
                <a:latin typeface="+mj-lt"/>
              </a:rPr>
              <a:t>Logistics and Recap</a:t>
            </a:r>
          </a:p>
        </p:txBody>
      </p:sp>
    </p:spTree>
    <p:extLst>
      <p:ext uri="{BB962C8B-B14F-4D97-AF65-F5344CB8AC3E}">
        <p14:creationId xmlns:p14="http://schemas.microsoft.com/office/powerpoint/2010/main" val="1423954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602CC-2E61-D761-6C3D-D5337FF0B56B}"/>
              </a:ext>
            </a:extLst>
          </p:cNvPr>
          <p:cNvSpPr>
            <a:spLocks noGrp="1"/>
          </p:cNvSpPr>
          <p:nvPr>
            <p:ph type="title"/>
          </p:nvPr>
        </p:nvSpPr>
        <p:spPr/>
        <p:txBody>
          <a:bodyPr/>
          <a:lstStyle/>
          <a:p>
            <a:r>
              <a:rPr lang="en-US" dirty="0"/>
              <a:t>About the Instructors</a:t>
            </a:r>
          </a:p>
        </p:txBody>
      </p:sp>
      <p:sp>
        <p:nvSpPr>
          <p:cNvPr id="3" name="Content Placeholder 2">
            <a:extLst>
              <a:ext uri="{FF2B5EF4-FFF2-40B4-BE49-F238E27FC236}">
                <a16:creationId xmlns:a16="http://schemas.microsoft.com/office/drawing/2014/main" id="{86859905-1202-8C5E-10B5-C048049F64F5}"/>
              </a:ext>
            </a:extLst>
          </p:cNvPr>
          <p:cNvSpPr>
            <a:spLocks noGrp="1"/>
          </p:cNvSpPr>
          <p:nvPr>
            <p:ph idx="1"/>
          </p:nvPr>
        </p:nvSpPr>
        <p:spPr>
          <a:xfrm>
            <a:off x="127749" y="630050"/>
            <a:ext cx="6585696" cy="926797"/>
          </a:xfrm>
        </p:spPr>
        <p:txBody>
          <a:bodyPr>
            <a:normAutofit/>
          </a:bodyPr>
          <a:lstStyle/>
          <a:p>
            <a:pPr marL="125747" indent="0">
              <a:lnSpc>
                <a:spcPct val="100000"/>
              </a:lnSpc>
              <a:buNone/>
            </a:pPr>
            <a:r>
              <a:rPr lang="en-US" dirty="0"/>
              <a:t>Senior Research Scientist IBM and I was a CS Postdoc at Columbia.</a:t>
            </a:r>
            <a:endParaRPr lang="en-US" b="1" dirty="0">
              <a:solidFill>
                <a:srgbClr val="28285E"/>
              </a:solidFill>
            </a:endParaRPr>
          </a:p>
          <a:p>
            <a:pPr marL="125747" indent="0">
              <a:lnSpc>
                <a:spcPct val="100000"/>
              </a:lnSpc>
              <a:buNone/>
            </a:pPr>
            <a:endParaRPr lang="en-US" b="1" dirty="0">
              <a:solidFill>
                <a:srgbClr val="28285E"/>
              </a:solidFill>
            </a:endParaRPr>
          </a:p>
          <a:p>
            <a:pPr marL="125747" indent="0">
              <a:lnSpc>
                <a:spcPct val="100000"/>
              </a:lnSpc>
              <a:buNone/>
            </a:pPr>
            <a:r>
              <a:rPr lang="en-US" b="1" dirty="0">
                <a:solidFill>
                  <a:srgbClr val="28285E"/>
                </a:solidFill>
              </a:rPr>
              <a:t>What I work on: </a:t>
            </a:r>
            <a:r>
              <a:rPr lang="en-US" dirty="0">
                <a:solidFill>
                  <a:srgbClr val="28285E"/>
                </a:solidFill>
              </a:rPr>
              <a:t> </a:t>
            </a:r>
            <a:r>
              <a:rPr lang="en-US" b="1" dirty="0"/>
              <a:t>Program Analysis • Distributed Systems • Security • Testing</a:t>
            </a:r>
          </a:p>
        </p:txBody>
      </p:sp>
      <p:graphicFrame>
        <p:nvGraphicFramePr>
          <p:cNvPr id="4" name="Table 3">
            <a:extLst>
              <a:ext uri="{FF2B5EF4-FFF2-40B4-BE49-F238E27FC236}">
                <a16:creationId xmlns:a16="http://schemas.microsoft.com/office/drawing/2014/main" id="{CC1434B4-2139-27C5-65C1-37131B0490D6}"/>
              </a:ext>
            </a:extLst>
          </p:cNvPr>
          <p:cNvGraphicFramePr>
            <a:graphicFrameLocks noGrp="1"/>
          </p:cNvGraphicFramePr>
          <p:nvPr>
            <p:extLst>
              <p:ext uri="{D42A27DB-BD31-4B8C-83A1-F6EECF244321}">
                <p14:modId xmlns:p14="http://schemas.microsoft.com/office/powerpoint/2010/main" val="1511280586"/>
              </p:ext>
            </p:extLst>
          </p:nvPr>
        </p:nvGraphicFramePr>
        <p:xfrm>
          <a:off x="1508391" y="1856916"/>
          <a:ext cx="3841221" cy="2491740"/>
        </p:xfrm>
        <a:graphic>
          <a:graphicData uri="http://schemas.openxmlformats.org/drawingml/2006/table">
            <a:tbl>
              <a:tblPr firstRow="1" bandRow="1">
                <a:tableStyleId>{2D5ABB26-0587-4C30-8999-92F81FD0307C}</a:tableStyleId>
              </a:tblPr>
              <a:tblGrid>
                <a:gridCol w="965954">
                  <a:extLst>
                    <a:ext uri="{9D8B030D-6E8A-4147-A177-3AD203B41FA5}">
                      <a16:colId xmlns:a16="http://schemas.microsoft.com/office/drawing/2014/main" val="2271713243"/>
                    </a:ext>
                  </a:extLst>
                </a:gridCol>
                <a:gridCol w="2875267">
                  <a:extLst>
                    <a:ext uri="{9D8B030D-6E8A-4147-A177-3AD203B41FA5}">
                      <a16:colId xmlns:a16="http://schemas.microsoft.com/office/drawing/2014/main" val="1569624038"/>
                    </a:ext>
                  </a:extLst>
                </a:gridCol>
              </a:tblGrid>
              <a:tr h="415290">
                <a:tc>
                  <a:txBody>
                    <a:bodyPr/>
                    <a:lstStyle/>
                    <a:p>
                      <a:r>
                        <a:rPr lang="en-US" b="1" dirty="0"/>
                        <a:t>Instructor</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Rahul Krishna • </a:t>
                      </a:r>
                      <a:r>
                        <a:rPr lang="en-US" dirty="0">
                          <a:hlinkClick r:id="rId2"/>
                        </a:rPr>
                        <a:t>rk3080@columbia.edu</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6892486"/>
                  </a:ext>
                </a:extLst>
              </a:tr>
              <a:tr h="415290">
                <a:tc>
                  <a:txBody>
                    <a:bodyPr/>
                    <a:lstStyle/>
                    <a:p>
                      <a:pPr algn="l"/>
                      <a:r>
                        <a:rPr lang="en-US" b="1" dirty="0"/>
                        <a:t>Teaching Assistant</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In Keun Kim • </a:t>
                      </a:r>
                      <a:r>
                        <a:rPr lang="en-US" dirty="0">
                          <a:hlinkClick r:id="rId3"/>
                        </a:rPr>
                        <a:t>ik2619@columbia.edu</a:t>
                      </a:r>
                      <a:r>
                        <a:rPr lang="en-US"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4504568"/>
                  </a:ext>
                </a:extLst>
              </a:tr>
              <a:tr h="415290">
                <a:tc>
                  <a:txBody>
                    <a:bodyPr/>
                    <a:lstStyle/>
                    <a:p>
                      <a:r>
                        <a:rPr lang="en-US" b="1" dirty="0"/>
                        <a:t>Office Hours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Friday 12:00—1:30 (and via zoom ad hoc)</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415290">
                <a:tc>
                  <a:txBody>
                    <a:bodyPr/>
                    <a:lstStyle/>
                    <a:p>
                      <a:r>
                        <a:rPr lang="en-US" b="1" dirty="0"/>
                        <a:t>TA</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To be announced on CourseWorks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415290">
                <a:tc>
                  <a:txBody>
                    <a:bodyPr/>
                    <a:lstStyle/>
                    <a:p>
                      <a:r>
                        <a:rPr lang="en-US" b="1" dirty="0"/>
                        <a:t>Discussion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Slack Channel</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415290">
                <a:tc>
                  <a:txBody>
                    <a:bodyPr/>
                    <a:lstStyle/>
                    <a:p>
                      <a:r>
                        <a:rPr lang="en-US" b="1" dirty="0"/>
                        <a:t>Website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hlinkClick r:id="rId4"/>
                        </a:rPr>
                        <a:t>rkrsn.us</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4091803"/>
                  </a:ext>
                </a:extLst>
              </a:tr>
            </a:tbl>
          </a:graphicData>
        </a:graphic>
      </p:graphicFrame>
    </p:spTree>
    <p:extLst>
      <p:ext uri="{BB962C8B-B14F-4D97-AF65-F5344CB8AC3E}">
        <p14:creationId xmlns:p14="http://schemas.microsoft.com/office/powerpoint/2010/main" val="3528649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AB3F8-7484-4BE9-6F60-620E4EBF9A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0D5227-9675-6C47-825A-AA229D3AF476}"/>
              </a:ext>
            </a:extLst>
          </p:cNvPr>
          <p:cNvSpPr>
            <a:spLocks noGrp="1"/>
          </p:cNvSpPr>
          <p:nvPr>
            <p:ph type="title"/>
          </p:nvPr>
        </p:nvSpPr>
        <p:spPr/>
        <p:txBody>
          <a:bodyPr/>
          <a:lstStyle/>
          <a:p>
            <a:r>
              <a:rPr lang="en-US" dirty="0"/>
              <a:t>Class Notifications</a:t>
            </a:r>
          </a:p>
        </p:txBody>
      </p:sp>
      <p:sp>
        <p:nvSpPr>
          <p:cNvPr id="6" name="Content Placeholder 5">
            <a:extLst>
              <a:ext uri="{FF2B5EF4-FFF2-40B4-BE49-F238E27FC236}">
                <a16:creationId xmlns:a16="http://schemas.microsoft.com/office/drawing/2014/main" id="{B8B12D9A-0C2B-7893-BB3E-BD7D9DD61BD4}"/>
              </a:ext>
            </a:extLst>
          </p:cNvPr>
          <p:cNvSpPr>
            <a:spLocks noGrp="1"/>
          </p:cNvSpPr>
          <p:nvPr>
            <p:ph idx="1"/>
          </p:nvPr>
        </p:nvSpPr>
        <p:spPr>
          <a:xfrm>
            <a:off x="14251" y="630048"/>
            <a:ext cx="6815475" cy="2505913"/>
          </a:xfrm>
        </p:spPr>
        <p:txBody>
          <a:bodyPr>
            <a:normAutofit/>
          </a:bodyPr>
          <a:lstStyle/>
          <a:p>
            <a:r>
              <a:rPr lang="en-US" sz="1800" dirty="0"/>
              <a:t>HW1 – released before next class</a:t>
            </a:r>
          </a:p>
          <a:p>
            <a:pPr lvl="1"/>
            <a:r>
              <a:rPr lang="en-US" sz="1400" dirty="0"/>
              <a:t>Procuring API credits for everyone </a:t>
            </a:r>
          </a:p>
          <a:p>
            <a:pPr lvl="1"/>
            <a:r>
              <a:rPr lang="en-US" sz="1400" dirty="0"/>
              <a:t>Assignment groups before next week so I can plan accordingly</a:t>
            </a:r>
          </a:p>
          <a:p>
            <a:r>
              <a:rPr lang="en-US" sz="1800" dirty="0"/>
              <a:t>Vergil registration closes at 9:00 PM tonight</a:t>
            </a:r>
          </a:p>
        </p:txBody>
      </p:sp>
    </p:spTree>
    <p:extLst>
      <p:ext uri="{BB962C8B-B14F-4D97-AF65-F5344CB8AC3E}">
        <p14:creationId xmlns:p14="http://schemas.microsoft.com/office/powerpoint/2010/main" val="6197839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3166E-AD55-87BA-F094-4A6EF9A23D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3F3312-51B2-EC34-2E69-5DE12A236EDC}"/>
              </a:ext>
            </a:extLst>
          </p:cNvPr>
          <p:cNvSpPr>
            <a:spLocks noGrp="1"/>
          </p:cNvSpPr>
          <p:nvPr>
            <p:ph type="title"/>
          </p:nvPr>
        </p:nvSpPr>
        <p:spPr/>
        <p:txBody>
          <a:bodyPr/>
          <a:lstStyle/>
          <a:p>
            <a:r>
              <a:rPr lang="en-US" dirty="0"/>
              <a:t>The key question that motivates this course</a:t>
            </a:r>
          </a:p>
        </p:txBody>
      </p:sp>
      <p:sp>
        <p:nvSpPr>
          <p:cNvPr id="3" name="Rectangle 2">
            <a:extLst>
              <a:ext uri="{FF2B5EF4-FFF2-40B4-BE49-F238E27FC236}">
                <a16:creationId xmlns:a16="http://schemas.microsoft.com/office/drawing/2014/main" id="{8FFA006E-AD23-4CAC-BB92-1B5AF8509A96}"/>
              </a:ext>
            </a:extLst>
          </p:cNvPr>
          <p:cNvSpPr/>
          <p:nvPr/>
        </p:nvSpPr>
        <p:spPr>
          <a:xfrm>
            <a:off x="319251" y="859219"/>
            <a:ext cx="6014545" cy="610801"/>
          </a:xfrm>
          <a:prstGeom prst="rect">
            <a:avLst/>
          </a:prstGeom>
          <a:solidFill>
            <a:srgbClr val="28285E"/>
          </a:solid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chemeClr val="tx2"/>
                </a:solidFill>
              </a:rPr>
              <a:t>How do we place a </a:t>
            </a:r>
            <a:r>
              <a:rPr lang="en-US" b="1" u="sng" dirty="0">
                <a:solidFill>
                  <a:schemeClr val="tx2"/>
                </a:solidFill>
              </a:rPr>
              <a:t>probabilistic</a:t>
            </a:r>
            <a:r>
              <a:rPr lang="en-US" dirty="0">
                <a:solidFill>
                  <a:schemeClr val="tx2"/>
                </a:solidFill>
              </a:rPr>
              <a:t> model </a:t>
            </a:r>
            <a:r>
              <a:rPr lang="en-US" b="1" u="sng" dirty="0">
                <a:solidFill>
                  <a:schemeClr val="tx2"/>
                </a:solidFill>
              </a:rPr>
              <a:t>inside a software system</a:t>
            </a:r>
            <a:r>
              <a:rPr lang="en-US" dirty="0">
                <a:solidFill>
                  <a:schemeClr val="tx2"/>
                </a:solidFill>
              </a:rPr>
              <a:t> without surrendering the </a:t>
            </a:r>
            <a:r>
              <a:rPr lang="en-US" b="1" u="sng" dirty="0">
                <a:solidFill>
                  <a:schemeClr val="tx2"/>
                </a:solidFill>
              </a:rPr>
              <a:t>guarantees</a:t>
            </a:r>
            <a:r>
              <a:rPr lang="en-US" dirty="0">
                <a:solidFill>
                  <a:schemeClr val="tx2"/>
                </a:solidFill>
              </a:rPr>
              <a:t> expected of production software?</a:t>
            </a:r>
          </a:p>
        </p:txBody>
      </p:sp>
      <p:sp>
        <p:nvSpPr>
          <p:cNvPr id="6" name="Rectangle 5">
            <a:extLst>
              <a:ext uri="{FF2B5EF4-FFF2-40B4-BE49-F238E27FC236}">
                <a16:creationId xmlns:a16="http://schemas.microsoft.com/office/drawing/2014/main" id="{96CFEB25-375B-1C2F-4556-5BA4657E0CA1}"/>
              </a:ext>
            </a:extLst>
          </p:cNvPr>
          <p:cNvSpPr/>
          <p:nvPr/>
        </p:nvSpPr>
        <p:spPr>
          <a:xfrm>
            <a:off x="319251" y="3916457"/>
            <a:ext cx="6014545" cy="441319"/>
          </a:xfrm>
          <a:prstGeom prst="rect">
            <a:avLst/>
          </a:prstGeom>
          <a:no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r>
              <a:rPr lang="en-US" b="1" dirty="0">
                <a:solidFill>
                  <a:srgbClr val="28285E"/>
                </a:solidFill>
              </a:rPr>
              <a:t>The agent is a component of a larger system. It is not the entire system.</a:t>
            </a:r>
            <a:endParaRPr lang="en-US" dirty="0">
              <a:solidFill>
                <a:srgbClr val="28285E"/>
              </a:solidFill>
            </a:endParaRPr>
          </a:p>
        </p:txBody>
      </p:sp>
      <p:graphicFrame>
        <p:nvGraphicFramePr>
          <p:cNvPr id="5" name="Table 4">
            <a:extLst>
              <a:ext uri="{FF2B5EF4-FFF2-40B4-BE49-F238E27FC236}">
                <a16:creationId xmlns:a16="http://schemas.microsoft.com/office/drawing/2014/main" id="{D1AFF10F-E30A-D358-0FE4-A274065E8764}"/>
              </a:ext>
            </a:extLst>
          </p:cNvPr>
          <p:cNvGraphicFramePr>
            <a:graphicFrameLocks noGrp="1"/>
          </p:cNvGraphicFramePr>
          <p:nvPr>
            <p:extLst>
              <p:ext uri="{D42A27DB-BD31-4B8C-83A1-F6EECF244321}">
                <p14:modId xmlns:p14="http://schemas.microsoft.com/office/powerpoint/2010/main" val="291612122"/>
              </p:ext>
            </p:extLst>
          </p:nvPr>
        </p:nvGraphicFramePr>
        <p:xfrm>
          <a:off x="319250" y="1884593"/>
          <a:ext cx="6014546" cy="1661160"/>
        </p:xfrm>
        <a:graphic>
          <a:graphicData uri="http://schemas.openxmlformats.org/drawingml/2006/table">
            <a:tbl>
              <a:tblPr>
                <a:tableStyleId>{2D5ABB26-0587-4C30-8999-92F81FD0307C}</a:tableStyleId>
              </a:tblPr>
              <a:tblGrid>
                <a:gridCol w="2175643">
                  <a:extLst>
                    <a:ext uri="{9D8B030D-6E8A-4147-A177-3AD203B41FA5}">
                      <a16:colId xmlns:a16="http://schemas.microsoft.com/office/drawing/2014/main" val="217211546"/>
                    </a:ext>
                  </a:extLst>
                </a:gridCol>
                <a:gridCol w="3838903">
                  <a:extLst>
                    <a:ext uri="{9D8B030D-6E8A-4147-A177-3AD203B41FA5}">
                      <a16:colId xmlns:a16="http://schemas.microsoft.com/office/drawing/2014/main" val="1714636532"/>
                    </a:ext>
                  </a:extLst>
                </a:gridCol>
              </a:tblGrid>
              <a:tr h="255270">
                <a:tc>
                  <a:txBody>
                    <a:bodyPr/>
                    <a:lstStyle/>
                    <a:p>
                      <a:pPr algn="l">
                        <a:buNone/>
                      </a:pPr>
                      <a:r>
                        <a:rPr lang="en-US" sz="1000" b="1" dirty="0">
                          <a:effectLst/>
                        </a:rPr>
                        <a:t>Phrase</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rPr>
                        <a:t>Why it is in the question</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0763243"/>
                  </a:ext>
                </a:extLst>
              </a:tr>
              <a:tr h="575310">
                <a:tc>
                  <a:txBody>
                    <a:bodyPr/>
                    <a:lstStyle/>
                    <a:p>
                      <a:pPr algn="l">
                        <a:buNone/>
                      </a:pPr>
                      <a:r>
                        <a:rPr lang="en-US" sz="1000" b="1" dirty="0">
                          <a:effectLst/>
                        </a:rPr>
                        <a:t>Probabilistic</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Two identical calls are </a:t>
                      </a:r>
                      <a:r>
                        <a:rPr lang="en-US" sz="1000" b="1" dirty="0">
                          <a:solidFill>
                            <a:srgbClr val="28285E"/>
                          </a:solidFill>
                          <a:effectLst/>
                        </a:rPr>
                        <a:t>not guaranteed to agree</a:t>
                      </a:r>
                      <a:r>
                        <a:rPr lang="en-US" sz="1000" dirty="0">
                          <a:effectLst/>
                        </a:rPr>
                        <a:t>, and nothing downstream may assume they will</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7777580"/>
                  </a:ext>
                </a:extLst>
              </a:tr>
              <a:tr h="415290">
                <a:tc>
                  <a:txBody>
                    <a:bodyPr/>
                    <a:lstStyle/>
                    <a:p>
                      <a:pPr algn="l">
                        <a:buNone/>
                      </a:pPr>
                      <a:r>
                        <a:rPr lang="en-US" sz="1000" b="1" dirty="0">
                          <a:effectLst/>
                        </a:rPr>
                        <a:t>Inside a software system</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It is </a:t>
                      </a:r>
                      <a:r>
                        <a:rPr lang="en-US" sz="1000" b="1" dirty="0">
                          <a:solidFill>
                            <a:srgbClr val="28285E"/>
                          </a:solidFill>
                          <a:effectLst/>
                        </a:rPr>
                        <a:t>one component among several</a:t>
                      </a:r>
                      <a:r>
                        <a:rPr lang="en-US" sz="1000" dirty="0">
                          <a:effectLst/>
                        </a:rPr>
                        <a:t>. It is called, its output is validated, and it may be refused</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361544"/>
                  </a:ext>
                </a:extLst>
              </a:tr>
              <a:tr h="415290">
                <a:tc>
                  <a:txBody>
                    <a:bodyPr/>
                    <a:lstStyle/>
                    <a:p>
                      <a:pPr algn="l">
                        <a:buNone/>
                      </a:pPr>
                      <a:r>
                        <a:rPr lang="en-US" sz="1000" b="1" dirty="0">
                          <a:effectLst/>
                        </a:rPr>
                        <a:t>Guarantees</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The “promises” a system makes to its consumers. Things a </a:t>
                      </a:r>
                      <a:r>
                        <a:rPr lang="en-US" sz="1000" b="1" dirty="0">
                          <a:solidFill>
                            <a:srgbClr val="28285E"/>
                          </a:solidFill>
                          <a:effectLst/>
                        </a:rPr>
                        <a:t>caller is entitled to expect</a:t>
                      </a:r>
                      <a:r>
                        <a:rPr lang="en-US" sz="1000" dirty="0">
                          <a:effectLst/>
                        </a:rPr>
                        <a:t> and rely on every time</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8098972"/>
                  </a:ext>
                </a:extLst>
              </a:tr>
            </a:tbl>
          </a:graphicData>
        </a:graphic>
      </p:graphicFrame>
    </p:spTree>
    <p:extLst>
      <p:ext uri="{BB962C8B-B14F-4D97-AF65-F5344CB8AC3E}">
        <p14:creationId xmlns:p14="http://schemas.microsoft.com/office/powerpoint/2010/main" val="41631351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F9010-41B1-22BD-1F44-766FA0F413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9E11C2-C252-A44F-DC09-53D2F793DB76}"/>
              </a:ext>
            </a:extLst>
          </p:cNvPr>
          <p:cNvSpPr>
            <a:spLocks noGrp="1"/>
          </p:cNvSpPr>
          <p:nvPr>
            <p:ph type="title"/>
          </p:nvPr>
        </p:nvSpPr>
        <p:spPr/>
        <p:txBody>
          <a:bodyPr/>
          <a:lstStyle/>
          <a:p>
            <a:r>
              <a:rPr lang="en-US" dirty="0"/>
              <a:t>What I hope you will learn…</a:t>
            </a:r>
          </a:p>
        </p:txBody>
      </p:sp>
      <p:sp>
        <p:nvSpPr>
          <p:cNvPr id="4" name="Rectangle 3">
            <a:extLst>
              <a:ext uri="{FF2B5EF4-FFF2-40B4-BE49-F238E27FC236}">
                <a16:creationId xmlns:a16="http://schemas.microsoft.com/office/drawing/2014/main" id="{97B85F8D-3077-7C80-361E-95E082268367}"/>
              </a:ext>
            </a:extLst>
          </p:cNvPr>
          <p:cNvSpPr/>
          <p:nvPr/>
        </p:nvSpPr>
        <p:spPr>
          <a:xfrm>
            <a:off x="319251" y="818143"/>
            <a:ext cx="6014545" cy="610801"/>
          </a:xfrm>
          <a:prstGeom prst="rect">
            <a:avLst/>
          </a:prstGeom>
          <a:no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rgbClr val="28285E"/>
                </a:solidFill>
              </a:rPr>
              <a:t>By the end of this semester, you will </a:t>
            </a:r>
            <a:r>
              <a:rPr lang="en-US" b="1" dirty="0">
                <a:solidFill>
                  <a:srgbClr val="28285E"/>
                </a:solidFill>
              </a:rPr>
              <a:t>design a production agentic system</a:t>
            </a:r>
            <a:r>
              <a:rPr lang="en-US" dirty="0">
                <a:solidFill>
                  <a:srgbClr val="28285E"/>
                </a:solidFill>
              </a:rPr>
              <a:t> like what you just saw from Anthropic</a:t>
            </a:r>
          </a:p>
        </p:txBody>
      </p:sp>
      <p:graphicFrame>
        <p:nvGraphicFramePr>
          <p:cNvPr id="5" name="Table 4">
            <a:extLst>
              <a:ext uri="{FF2B5EF4-FFF2-40B4-BE49-F238E27FC236}">
                <a16:creationId xmlns:a16="http://schemas.microsoft.com/office/drawing/2014/main" id="{820F0334-B0C3-D844-0D23-DA6A25F07A55}"/>
              </a:ext>
            </a:extLst>
          </p:cNvPr>
          <p:cNvGraphicFramePr>
            <a:graphicFrameLocks noGrp="1"/>
          </p:cNvGraphicFramePr>
          <p:nvPr/>
        </p:nvGraphicFramePr>
        <p:xfrm>
          <a:off x="319251" y="1848532"/>
          <a:ext cx="6014547" cy="2152650"/>
        </p:xfrm>
        <a:graphic>
          <a:graphicData uri="http://schemas.openxmlformats.org/drawingml/2006/table">
            <a:tbl>
              <a:tblPr>
                <a:tableStyleId>{2D5ABB26-0587-4C30-8999-92F81FD0307C}</a:tableStyleId>
              </a:tblPr>
              <a:tblGrid>
                <a:gridCol w="492673">
                  <a:extLst>
                    <a:ext uri="{9D8B030D-6E8A-4147-A177-3AD203B41FA5}">
                      <a16:colId xmlns:a16="http://schemas.microsoft.com/office/drawing/2014/main" val="2383387603"/>
                    </a:ext>
                  </a:extLst>
                </a:gridCol>
                <a:gridCol w="622738">
                  <a:extLst>
                    <a:ext uri="{9D8B030D-6E8A-4147-A177-3AD203B41FA5}">
                      <a16:colId xmlns:a16="http://schemas.microsoft.com/office/drawing/2014/main" val="3809753143"/>
                    </a:ext>
                  </a:extLst>
                </a:gridCol>
                <a:gridCol w="1221452">
                  <a:extLst>
                    <a:ext uri="{9D8B030D-6E8A-4147-A177-3AD203B41FA5}">
                      <a16:colId xmlns:a16="http://schemas.microsoft.com/office/drawing/2014/main" val="2878867459"/>
                    </a:ext>
                  </a:extLst>
                </a:gridCol>
                <a:gridCol w="2838169">
                  <a:extLst>
                    <a:ext uri="{9D8B030D-6E8A-4147-A177-3AD203B41FA5}">
                      <a16:colId xmlns:a16="http://schemas.microsoft.com/office/drawing/2014/main" val="3281739757"/>
                    </a:ext>
                  </a:extLst>
                </a:gridCol>
                <a:gridCol w="839515">
                  <a:extLst>
                    <a:ext uri="{9D8B030D-6E8A-4147-A177-3AD203B41FA5}">
                      <a16:colId xmlns:a16="http://schemas.microsoft.com/office/drawing/2014/main" val="2097169818"/>
                    </a:ext>
                  </a:extLst>
                </a:gridCol>
              </a:tblGrid>
              <a:tr h="0">
                <a:tc>
                  <a:txBody>
                    <a:bodyPr/>
                    <a:lstStyle/>
                    <a:p>
                      <a:pPr algn="l">
                        <a:buNone/>
                      </a:pPr>
                      <a:r>
                        <a:rPr lang="en-US" sz="1000" b="1" dirty="0">
                          <a:solidFill>
                            <a:schemeClr val="tx2"/>
                          </a:solidFill>
                          <a:effectLst/>
                          <a:latin typeface="+mn-lt"/>
                        </a:rPr>
                        <a:t>Unit</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dirty="0">
                          <a:solidFill>
                            <a:schemeClr val="tx2"/>
                          </a:solidFill>
                          <a:effectLst/>
                          <a:latin typeface="+mn-lt"/>
                        </a:rPr>
                        <a:t>Weeks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dirty="0">
                          <a:solidFill>
                            <a:schemeClr val="tx2"/>
                          </a:solidFill>
                          <a:effectLst/>
                          <a:latin typeface="+mn-lt"/>
                        </a:rPr>
                        <a:t>What it covers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dirty="0">
                          <a:solidFill>
                            <a:schemeClr val="tx2"/>
                          </a:solidFill>
                          <a:effectLst/>
                          <a:latin typeface="+mn-lt"/>
                        </a:rPr>
                        <a:t>What you’ll learn</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i="0" dirty="0">
                          <a:solidFill>
                            <a:schemeClr val="tx2"/>
                          </a:solidFill>
                          <a:effectLst/>
                          <a:latin typeface="+mn-lt"/>
                        </a:rPr>
                        <a:t>Homework</a:t>
                      </a: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extLst>
                  <a:ext uri="{0D108BD9-81ED-4DB2-BD59-A6C34878D82A}">
                    <a16:rowId xmlns:a16="http://schemas.microsoft.com/office/drawing/2014/main" val="1248588683"/>
                  </a:ext>
                </a:extLst>
              </a:tr>
              <a:tr h="0">
                <a:tc>
                  <a:txBody>
                    <a:bodyPr/>
                    <a:lstStyle/>
                    <a:p>
                      <a:pPr algn="l">
                        <a:buNone/>
                      </a:pPr>
                      <a:r>
                        <a:rPr lang="en-US" sz="1000" dirty="0">
                          <a:effectLst/>
                          <a:latin typeface="+mn-lt"/>
                        </a:rPr>
                        <a:t>1</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1–3</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Agent architectures and control</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orchestrator: </a:t>
                      </a:r>
                      <a:r>
                        <a:rPr lang="en-US" sz="1000" dirty="0">
                          <a:effectLst/>
                          <a:latin typeface="+mn-lt"/>
                        </a:rPr>
                        <a:t>who chooses the next operation, and who decides to stop</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HW1</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2483195"/>
                  </a:ext>
                </a:extLst>
              </a:tr>
              <a:tr h="0">
                <a:tc>
                  <a:txBody>
                    <a:bodyPr/>
                    <a:lstStyle/>
                    <a:p>
                      <a:pPr algn="l">
                        <a:buNone/>
                      </a:pPr>
                      <a:r>
                        <a:rPr lang="en-US" sz="1000">
                          <a:effectLst/>
                          <a:latin typeface="+mn-lt"/>
                        </a:rPr>
                        <a:t>2</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4–6</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Tool interfaces and concurrency</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tools and the subagents:</a:t>
                      </a:r>
                      <a:r>
                        <a:rPr lang="en-US" sz="1000" dirty="0">
                          <a:effectLst/>
                          <a:latin typeface="+mn-lt"/>
                        </a:rPr>
                        <a:t> contracts, dependencies, bounded fan-out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HW2</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9720258"/>
                  </a:ext>
                </a:extLst>
              </a:tr>
              <a:tr h="0">
                <a:tc>
                  <a:txBody>
                    <a:bodyPr/>
                    <a:lstStyle/>
                    <a:p>
                      <a:pPr algn="l">
                        <a:buNone/>
                      </a:pPr>
                      <a:r>
                        <a:rPr lang="en-US" sz="1000">
                          <a:effectLst/>
                          <a:latin typeface="+mn-lt"/>
                        </a:rPr>
                        <a:t>3</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8–9</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Context, state, and persistence</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Memory and context:</a:t>
                      </a:r>
                      <a:r>
                        <a:rPr lang="en-US" sz="1000" dirty="0">
                          <a:effectLst/>
                          <a:latin typeface="+mn-lt"/>
                        </a:rPr>
                        <a:t> what survives truncation, and what survives a restart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l">
                        <a:buNone/>
                      </a:pPr>
                      <a:r>
                        <a:rPr lang="en-US" sz="1000" b="1" i="0" dirty="0">
                          <a:solidFill>
                            <a:srgbClr val="000000"/>
                          </a:solidFill>
                          <a:effectLst/>
                          <a:latin typeface="+mn-lt"/>
                        </a:rPr>
                        <a:t>HW3</a:t>
                      </a: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067791"/>
                  </a:ext>
                </a:extLst>
              </a:tr>
              <a:tr h="0">
                <a:tc>
                  <a:txBody>
                    <a:bodyPr/>
                    <a:lstStyle/>
                    <a:p>
                      <a:pPr algn="l">
                        <a:buNone/>
                      </a:pPr>
                      <a:r>
                        <a:rPr lang="en-US" sz="1000">
                          <a:effectLst/>
                          <a:latin typeface="+mn-lt"/>
                        </a:rPr>
                        <a:t>4</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10–12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Deployment, recovery, and observability</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service around all of it: </a:t>
                      </a:r>
                      <a:r>
                        <a:rPr lang="en-US" sz="1000" dirty="0">
                          <a:effectLst/>
                          <a:latin typeface="+mn-lt"/>
                        </a:rPr>
                        <a:t>partial failure, retries, traces</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algn="l">
                        <a:buNone/>
                      </a:pPr>
                      <a:endParaRPr lang="en-US" sz="1050" b="0" i="0" dirty="0">
                        <a:solidFill>
                          <a:srgbClr val="000000"/>
                        </a:solidFill>
                        <a:effectLst/>
                        <a:latin typeface="-apple-system"/>
                      </a:endParaRPr>
                    </a:p>
                  </a:txBody>
                  <a:tcPr marL="95250" marR="95250" marT="47625" marB="47625" anchor="ctr"/>
                </a:tc>
                <a:extLst>
                  <a:ext uri="{0D108BD9-81ED-4DB2-BD59-A6C34878D82A}">
                    <a16:rowId xmlns:a16="http://schemas.microsoft.com/office/drawing/2014/main" val="1049005399"/>
                  </a:ext>
                </a:extLst>
              </a:tr>
            </a:tbl>
          </a:graphicData>
        </a:graphic>
      </p:graphicFrame>
    </p:spTree>
    <p:extLst>
      <p:ext uri="{BB962C8B-B14F-4D97-AF65-F5344CB8AC3E}">
        <p14:creationId xmlns:p14="http://schemas.microsoft.com/office/powerpoint/2010/main" val="23333935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9088B-7FD4-B27A-71D9-47A9F7EA66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30425F-96BD-0704-885E-CA04BABC0995}"/>
              </a:ext>
            </a:extLst>
          </p:cNvPr>
          <p:cNvSpPr>
            <a:spLocks noGrp="1"/>
          </p:cNvSpPr>
          <p:nvPr>
            <p:ph type="title"/>
          </p:nvPr>
        </p:nvSpPr>
        <p:spPr/>
        <p:txBody>
          <a:bodyPr/>
          <a:lstStyle/>
          <a:p>
            <a:r>
              <a:rPr lang="en-US" dirty="0"/>
              <a:t>What I hope you will learn…</a:t>
            </a:r>
          </a:p>
        </p:txBody>
      </p:sp>
      <p:sp>
        <p:nvSpPr>
          <p:cNvPr id="4" name="Rectangle 3">
            <a:extLst>
              <a:ext uri="{FF2B5EF4-FFF2-40B4-BE49-F238E27FC236}">
                <a16:creationId xmlns:a16="http://schemas.microsoft.com/office/drawing/2014/main" id="{CAA03FF4-5EEC-42C8-5806-DB14B1488049}"/>
              </a:ext>
            </a:extLst>
          </p:cNvPr>
          <p:cNvSpPr/>
          <p:nvPr/>
        </p:nvSpPr>
        <p:spPr>
          <a:xfrm>
            <a:off x="319251" y="818143"/>
            <a:ext cx="6014545" cy="610801"/>
          </a:xfrm>
          <a:prstGeom prst="rect">
            <a:avLst/>
          </a:prstGeom>
          <a:no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rgbClr val="28285E"/>
                </a:solidFill>
              </a:rPr>
              <a:t>By the end of this semester, you will </a:t>
            </a:r>
            <a:r>
              <a:rPr lang="en-US" b="1" dirty="0">
                <a:solidFill>
                  <a:srgbClr val="28285E"/>
                </a:solidFill>
              </a:rPr>
              <a:t>design a production agentic system</a:t>
            </a:r>
            <a:r>
              <a:rPr lang="en-US" dirty="0">
                <a:solidFill>
                  <a:srgbClr val="28285E"/>
                </a:solidFill>
              </a:rPr>
              <a:t> like what you just saw from Anthropic</a:t>
            </a:r>
          </a:p>
        </p:txBody>
      </p:sp>
      <p:graphicFrame>
        <p:nvGraphicFramePr>
          <p:cNvPr id="5" name="Table 4">
            <a:extLst>
              <a:ext uri="{FF2B5EF4-FFF2-40B4-BE49-F238E27FC236}">
                <a16:creationId xmlns:a16="http://schemas.microsoft.com/office/drawing/2014/main" id="{51D15C9C-9772-2F46-C144-F6E4F0B3B867}"/>
              </a:ext>
            </a:extLst>
          </p:cNvPr>
          <p:cNvGraphicFramePr>
            <a:graphicFrameLocks noGrp="1"/>
          </p:cNvGraphicFramePr>
          <p:nvPr>
            <p:extLst>
              <p:ext uri="{D42A27DB-BD31-4B8C-83A1-F6EECF244321}">
                <p14:modId xmlns:p14="http://schemas.microsoft.com/office/powerpoint/2010/main" val="2641347325"/>
              </p:ext>
            </p:extLst>
          </p:nvPr>
        </p:nvGraphicFramePr>
        <p:xfrm>
          <a:off x="319251" y="1848532"/>
          <a:ext cx="6014547" cy="2152650"/>
        </p:xfrm>
        <a:graphic>
          <a:graphicData uri="http://schemas.openxmlformats.org/drawingml/2006/table">
            <a:tbl>
              <a:tblPr>
                <a:tableStyleId>{2D5ABB26-0587-4C30-8999-92F81FD0307C}</a:tableStyleId>
              </a:tblPr>
              <a:tblGrid>
                <a:gridCol w="492673">
                  <a:extLst>
                    <a:ext uri="{9D8B030D-6E8A-4147-A177-3AD203B41FA5}">
                      <a16:colId xmlns:a16="http://schemas.microsoft.com/office/drawing/2014/main" val="2383387603"/>
                    </a:ext>
                  </a:extLst>
                </a:gridCol>
                <a:gridCol w="622738">
                  <a:extLst>
                    <a:ext uri="{9D8B030D-6E8A-4147-A177-3AD203B41FA5}">
                      <a16:colId xmlns:a16="http://schemas.microsoft.com/office/drawing/2014/main" val="3809753143"/>
                    </a:ext>
                  </a:extLst>
                </a:gridCol>
                <a:gridCol w="1221452">
                  <a:extLst>
                    <a:ext uri="{9D8B030D-6E8A-4147-A177-3AD203B41FA5}">
                      <a16:colId xmlns:a16="http://schemas.microsoft.com/office/drawing/2014/main" val="2878867459"/>
                    </a:ext>
                  </a:extLst>
                </a:gridCol>
                <a:gridCol w="2838169">
                  <a:extLst>
                    <a:ext uri="{9D8B030D-6E8A-4147-A177-3AD203B41FA5}">
                      <a16:colId xmlns:a16="http://schemas.microsoft.com/office/drawing/2014/main" val="3281739757"/>
                    </a:ext>
                  </a:extLst>
                </a:gridCol>
                <a:gridCol w="839515">
                  <a:extLst>
                    <a:ext uri="{9D8B030D-6E8A-4147-A177-3AD203B41FA5}">
                      <a16:colId xmlns:a16="http://schemas.microsoft.com/office/drawing/2014/main" val="2097169818"/>
                    </a:ext>
                  </a:extLst>
                </a:gridCol>
              </a:tblGrid>
              <a:tr h="0">
                <a:tc>
                  <a:txBody>
                    <a:bodyPr/>
                    <a:lstStyle/>
                    <a:p>
                      <a:pPr algn="l">
                        <a:buNone/>
                      </a:pPr>
                      <a:r>
                        <a:rPr lang="en-US" sz="1000" b="1" dirty="0">
                          <a:solidFill>
                            <a:schemeClr val="tx2"/>
                          </a:solidFill>
                          <a:effectLst/>
                          <a:latin typeface="+mn-lt"/>
                        </a:rPr>
                        <a:t>Unit</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Weeks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What it covers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What you’ll learn</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i="0" dirty="0">
                          <a:solidFill>
                            <a:schemeClr val="tx2"/>
                          </a:solidFill>
                          <a:effectLst/>
                          <a:latin typeface="+mn-lt"/>
                        </a:rPr>
                        <a:t>Homework</a:t>
                      </a: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248588683"/>
                  </a:ext>
                </a:extLst>
              </a:tr>
              <a:tr h="0">
                <a:tc>
                  <a:txBody>
                    <a:bodyPr/>
                    <a:lstStyle/>
                    <a:p>
                      <a:pPr algn="l">
                        <a:buNone/>
                      </a:pPr>
                      <a:r>
                        <a:rPr lang="en-US" sz="1000" dirty="0">
                          <a:solidFill>
                            <a:schemeClr val="tx1">
                              <a:lumMod val="85000"/>
                              <a:lumOff val="15000"/>
                            </a:schemeClr>
                          </a:solidFill>
                          <a:effectLst/>
                          <a:latin typeface="+mn-lt"/>
                        </a:rPr>
                        <a:t>1</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dirty="0">
                          <a:solidFill>
                            <a:schemeClr val="tx1">
                              <a:lumMod val="85000"/>
                              <a:lumOff val="15000"/>
                            </a:schemeClr>
                          </a:solidFill>
                          <a:effectLst/>
                          <a:latin typeface="+mn-lt"/>
                        </a:rPr>
                        <a:t>1–3</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dirty="0">
                          <a:solidFill>
                            <a:schemeClr val="tx1">
                              <a:lumMod val="85000"/>
                              <a:lumOff val="15000"/>
                            </a:schemeClr>
                          </a:solidFill>
                          <a:effectLst/>
                          <a:latin typeface="+mn-lt"/>
                        </a:rPr>
                        <a:t>Agent architectures and control</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b="1" dirty="0">
                          <a:solidFill>
                            <a:schemeClr val="tx1">
                              <a:lumMod val="85000"/>
                              <a:lumOff val="15000"/>
                            </a:schemeClr>
                          </a:solidFill>
                          <a:effectLst/>
                          <a:latin typeface="+mn-lt"/>
                        </a:rPr>
                        <a:t>The orchestrator: </a:t>
                      </a:r>
                      <a:r>
                        <a:rPr lang="en-US" sz="1000" dirty="0">
                          <a:solidFill>
                            <a:schemeClr val="tx1">
                              <a:lumMod val="85000"/>
                              <a:lumOff val="15000"/>
                            </a:schemeClr>
                          </a:solidFill>
                          <a:effectLst/>
                          <a:latin typeface="+mn-lt"/>
                        </a:rPr>
                        <a:t>who chooses the next operation, and who decides to stop</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b="1" i="0" dirty="0">
                          <a:solidFill>
                            <a:schemeClr val="tx1">
                              <a:lumMod val="85000"/>
                              <a:lumOff val="15000"/>
                            </a:schemeClr>
                          </a:solidFill>
                          <a:effectLst/>
                          <a:latin typeface="+mn-lt"/>
                        </a:rPr>
                        <a:t>HW1</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2483195"/>
                  </a:ext>
                </a:extLst>
              </a:tr>
              <a:tr h="0">
                <a:tc>
                  <a:txBody>
                    <a:bodyPr/>
                    <a:lstStyle/>
                    <a:p>
                      <a:pPr algn="l">
                        <a:buNone/>
                      </a:pPr>
                      <a:r>
                        <a:rPr lang="en-US" sz="1000" dirty="0">
                          <a:effectLst/>
                          <a:latin typeface="+mn-lt"/>
                        </a:rPr>
                        <a:t>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4–6</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Tool interfaces and concurrency</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tools and the subagents:</a:t>
                      </a:r>
                      <a:r>
                        <a:rPr lang="en-US" sz="1000" dirty="0">
                          <a:effectLst/>
                          <a:latin typeface="+mn-lt"/>
                        </a:rPr>
                        <a:t> contracts, dependencies, bounded fan-out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HW2</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9720258"/>
                  </a:ext>
                </a:extLst>
              </a:tr>
              <a:tr h="0">
                <a:tc>
                  <a:txBody>
                    <a:bodyPr/>
                    <a:lstStyle/>
                    <a:p>
                      <a:pPr algn="l">
                        <a:buNone/>
                      </a:pPr>
                      <a:r>
                        <a:rPr lang="en-US" sz="1000">
                          <a:effectLst/>
                          <a:latin typeface="+mn-lt"/>
                        </a:rPr>
                        <a:t>3</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8–9</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Context, state, and persistence</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Memory and context:</a:t>
                      </a:r>
                      <a:r>
                        <a:rPr lang="en-US" sz="1000" dirty="0">
                          <a:effectLst/>
                          <a:latin typeface="+mn-lt"/>
                        </a:rPr>
                        <a:t> what survives truncation, and what survives a restart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l">
                        <a:buNone/>
                      </a:pPr>
                      <a:r>
                        <a:rPr lang="en-US" sz="1000" b="1" i="0" dirty="0">
                          <a:solidFill>
                            <a:srgbClr val="000000"/>
                          </a:solidFill>
                          <a:effectLst/>
                          <a:latin typeface="+mn-lt"/>
                        </a:rPr>
                        <a:t>HW3</a:t>
                      </a: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067791"/>
                  </a:ext>
                </a:extLst>
              </a:tr>
              <a:tr h="0">
                <a:tc>
                  <a:txBody>
                    <a:bodyPr/>
                    <a:lstStyle/>
                    <a:p>
                      <a:pPr algn="l">
                        <a:buNone/>
                      </a:pPr>
                      <a:r>
                        <a:rPr lang="en-US" sz="1000">
                          <a:effectLst/>
                          <a:latin typeface="+mn-lt"/>
                        </a:rPr>
                        <a:t>4</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10–12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Deployment, recovery, and observability</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service around all of it: </a:t>
                      </a:r>
                      <a:r>
                        <a:rPr lang="en-US" sz="1000" dirty="0">
                          <a:effectLst/>
                          <a:latin typeface="+mn-lt"/>
                        </a:rPr>
                        <a:t>partial failure, retries, traces</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algn="l">
                        <a:buNone/>
                      </a:pPr>
                      <a:endParaRPr lang="en-US" sz="1050" b="0" i="0" dirty="0">
                        <a:solidFill>
                          <a:srgbClr val="000000"/>
                        </a:solidFill>
                        <a:effectLst/>
                        <a:latin typeface="-apple-system"/>
                      </a:endParaRPr>
                    </a:p>
                  </a:txBody>
                  <a:tcPr marL="95250" marR="95250" marT="47625" marB="47625" anchor="ctr"/>
                </a:tc>
                <a:extLst>
                  <a:ext uri="{0D108BD9-81ED-4DB2-BD59-A6C34878D82A}">
                    <a16:rowId xmlns:a16="http://schemas.microsoft.com/office/drawing/2014/main" val="1049005399"/>
                  </a:ext>
                </a:extLst>
              </a:tr>
            </a:tbl>
          </a:graphicData>
        </a:graphic>
      </p:graphicFrame>
      <p:pic>
        <p:nvPicPr>
          <p:cNvPr id="3" name="Picture 2">
            <a:extLst>
              <a:ext uri="{FF2B5EF4-FFF2-40B4-BE49-F238E27FC236}">
                <a16:creationId xmlns:a16="http://schemas.microsoft.com/office/drawing/2014/main" id="{A27BBBC2-4AC8-ACF0-BD82-19663A7D84C5}"/>
              </a:ext>
            </a:extLst>
          </p:cNvPr>
          <p:cNvPicPr>
            <a:picLocks noChangeAspect="1"/>
          </p:cNvPicPr>
          <p:nvPr/>
        </p:nvPicPr>
        <p:blipFill>
          <a:blip r:embed="rId2">
            <a:alphaModFix amt="94000"/>
          </a:blip>
          <a:stretch>
            <a:fillRect/>
          </a:stretch>
        </p:blipFill>
        <p:spPr>
          <a:xfrm>
            <a:off x="250147" y="2689906"/>
            <a:ext cx="6152752" cy="1361185"/>
          </a:xfrm>
          <a:prstGeom prst="rect">
            <a:avLst/>
          </a:prstGeom>
        </p:spPr>
      </p:pic>
      <p:sp>
        <p:nvSpPr>
          <p:cNvPr id="6" name="TextBox 5">
            <a:extLst>
              <a:ext uri="{FF2B5EF4-FFF2-40B4-BE49-F238E27FC236}">
                <a16:creationId xmlns:a16="http://schemas.microsoft.com/office/drawing/2014/main" id="{0566017B-7CA5-96A2-A76C-543D5E4E8AE2}"/>
              </a:ext>
            </a:extLst>
          </p:cNvPr>
          <p:cNvSpPr txBox="1"/>
          <p:nvPr/>
        </p:nvSpPr>
        <p:spPr>
          <a:xfrm>
            <a:off x="2124912" y="3027135"/>
            <a:ext cx="2403222" cy="461665"/>
          </a:xfrm>
          <a:prstGeom prst="rect">
            <a:avLst/>
          </a:prstGeom>
          <a:noFill/>
        </p:spPr>
        <p:txBody>
          <a:bodyPr wrap="none" rtlCol="0">
            <a:spAutoFit/>
          </a:bodyPr>
          <a:lstStyle/>
          <a:p>
            <a:pPr algn="l"/>
            <a:r>
              <a:rPr lang="en-US" sz="2400" b="1" dirty="0">
                <a:solidFill>
                  <a:schemeClr val="bg2"/>
                </a:solidFill>
                <a:latin typeface="+mn-lt"/>
              </a:rPr>
              <a:t>Today’s Lecture</a:t>
            </a:r>
          </a:p>
        </p:txBody>
      </p:sp>
    </p:spTree>
    <p:extLst>
      <p:ext uri="{BB962C8B-B14F-4D97-AF65-F5344CB8AC3E}">
        <p14:creationId xmlns:p14="http://schemas.microsoft.com/office/powerpoint/2010/main" val="5300598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D9B10-2FC6-F4ED-3C93-631A6C9AFA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947407-2FD5-97E2-19CC-83F8D36D14B7}"/>
              </a:ext>
            </a:extLst>
          </p:cNvPr>
          <p:cNvSpPr>
            <a:spLocks noGrp="1"/>
          </p:cNvSpPr>
          <p:nvPr>
            <p:ph type="title"/>
          </p:nvPr>
        </p:nvSpPr>
        <p:spPr/>
        <p:txBody>
          <a:bodyPr/>
          <a:lstStyle/>
          <a:p>
            <a:r>
              <a:rPr lang="en-US" dirty="0"/>
              <a:t>Homework, Grades, and Exams</a:t>
            </a:r>
          </a:p>
        </p:txBody>
      </p:sp>
      <p:graphicFrame>
        <p:nvGraphicFramePr>
          <p:cNvPr id="3" name="Table 2">
            <a:extLst>
              <a:ext uri="{FF2B5EF4-FFF2-40B4-BE49-F238E27FC236}">
                <a16:creationId xmlns:a16="http://schemas.microsoft.com/office/drawing/2014/main" id="{F5153355-5688-657A-F5EB-D666DB4B5D6A}"/>
              </a:ext>
            </a:extLst>
          </p:cNvPr>
          <p:cNvGraphicFramePr>
            <a:graphicFrameLocks noGrp="1"/>
          </p:cNvGraphicFramePr>
          <p:nvPr>
            <p:extLst>
              <p:ext uri="{D42A27DB-BD31-4B8C-83A1-F6EECF244321}">
                <p14:modId xmlns:p14="http://schemas.microsoft.com/office/powerpoint/2010/main" val="2783190986"/>
              </p:ext>
            </p:extLst>
          </p:nvPr>
        </p:nvGraphicFramePr>
        <p:xfrm>
          <a:off x="303486" y="696000"/>
          <a:ext cx="5974188" cy="2011680"/>
        </p:xfrm>
        <a:graphic>
          <a:graphicData uri="http://schemas.openxmlformats.org/drawingml/2006/table">
            <a:tbl>
              <a:tblPr firstRow="1" bandRow="1">
                <a:tableStyleId>{2D5ABB26-0587-4C30-8999-92F81FD0307C}</a:tableStyleId>
              </a:tblPr>
              <a:tblGrid>
                <a:gridCol w="1108852">
                  <a:extLst>
                    <a:ext uri="{9D8B030D-6E8A-4147-A177-3AD203B41FA5}">
                      <a16:colId xmlns:a16="http://schemas.microsoft.com/office/drawing/2014/main" val="2271713243"/>
                    </a:ext>
                  </a:extLst>
                </a:gridCol>
                <a:gridCol w="697485">
                  <a:extLst>
                    <a:ext uri="{9D8B030D-6E8A-4147-A177-3AD203B41FA5}">
                      <a16:colId xmlns:a16="http://schemas.microsoft.com/office/drawing/2014/main" val="1569624038"/>
                    </a:ext>
                  </a:extLst>
                </a:gridCol>
                <a:gridCol w="2328231">
                  <a:extLst>
                    <a:ext uri="{9D8B030D-6E8A-4147-A177-3AD203B41FA5}">
                      <a16:colId xmlns:a16="http://schemas.microsoft.com/office/drawing/2014/main" val="3690437143"/>
                    </a:ext>
                  </a:extLst>
                </a:gridCol>
                <a:gridCol w="1839620">
                  <a:extLst>
                    <a:ext uri="{9D8B030D-6E8A-4147-A177-3AD203B41FA5}">
                      <a16:colId xmlns:a16="http://schemas.microsoft.com/office/drawing/2014/main" val="2087928053"/>
                    </a:ext>
                  </a:extLst>
                </a:gridCol>
              </a:tblGrid>
              <a:tr h="0">
                <a:tc>
                  <a:txBody>
                    <a:bodyPr/>
                    <a:lstStyle/>
                    <a:p>
                      <a:pPr algn="ctr"/>
                      <a:r>
                        <a:rPr lang="en-US" sz="1200" b="1" dirty="0">
                          <a:solidFill>
                            <a:schemeClr val="tx2"/>
                          </a:solidFill>
                        </a:rPr>
                        <a:t>Item</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Weight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When</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Format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extLst>
                  <a:ext uri="{0D108BD9-81ED-4DB2-BD59-A6C34878D82A}">
                    <a16:rowId xmlns:a16="http://schemas.microsoft.com/office/drawing/2014/main" val="2356892486"/>
                  </a:ext>
                </a:extLst>
              </a:tr>
              <a:tr h="0">
                <a:tc>
                  <a:txBody>
                    <a:bodyPr/>
                    <a:lstStyle/>
                    <a:p>
                      <a:r>
                        <a:rPr lang="en-US" sz="1200" b="1" dirty="0"/>
                        <a:t>Homework 1</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0">
                <a:tc>
                  <a:txBody>
                    <a:bodyPr/>
                    <a:lstStyle/>
                    <a:p>
                      <a:r>
                        <a:rPr lang="en-US" sz="1200" b="1" dirty="0"/>
                        <a:t>Homework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0">
                <a:tc>
                  <a:txBody>
                    <a:bodyPr/>
                    <a:lstStyle/>
                    <a:p>
                      <a:r>
                        <a:rPr lang="en-US" sz="1200" b="1" dirty="0"/>
                        <a:t>Midterm</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October 23</a:t>
                      </a:r>
                      <a:r>
                        <a:rPr lang="en-US" sz="1200" baseline="30000" dirty="0"/>
                        <a:t>rd</a:t>
                      </a:r>
                      <a:r>
                        <a:rPr lang="en-US" sz="1200"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40 mins (closed book) covering units 1 and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Homework 3</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2416679"/>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Final</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dirty="0"/>
                        <a:t>December 17</a:t>
                      </a:r>
                      <a:r>
                        <a:rPr lang="en-US" sz="1200" baseline="30000" dirty="0"/>
                        <a:t>th</a:t>
                      </a:r>
                      <a:r>
                        <a:rPr lang="en-US" sz="1200" dirty="0"/>
                        <a:t> </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40 mins (closed book) covering units 1 to 4</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1543740"/>
                  </a:ext>
                </a:extLst>
              </a:tr>
            </a:tbl>
          </a:graphicData>
        </a:graphic>
      </p:graphicFrame>
      <p:sp>
        <p:nvSpPr>
          <p:cNvPr id="4" name="Rectangle 3">
            <a:extLst>
              <a:ext uri="{FF2B5EF4-FFF2-40B4-BE49-F238E27FC236}">
                <a16:creationId xmlns:a16="http://schemas.microsoft.com/office/drawing/2014/main" id="{42A062EF-CBC5-ACF3-52AD-AA35EE4A920E}"/>
              </a:ext>
            </a:extLst>
          </p:cNvPr>
          <p:cNvSpPr/>
          <p:nvPr/>
        </p:nvSpPr>
        <p:spPr>
          <a:xfrm>
            <a:off x="303487" y="2944702"/>
            <a:ext cx="5974188" cy="646331"/>
          </a:xfrm>
          <a:prstGeom prst="rect">
            <a:avLst/>
          </a:prstGeom>
          <a:noFill/>
          <a:ln w="19050">
            <a:solidFill>
              <a:srgbClr val="28285E"/>
            </a:solidFill>
          </a:ln>
        </p:spPr>
        <p:txBody>
          <a:bodyPr wrap="square">
            <a:spAutoFit/>
          </a:bodyPr>
          <a:lstStyle/>
          <a:p>
            <a:r>
              <a:rPr lang="en-US" sz="1200" dirty="0">
                <a:solidFill>
                  <a:srgbClr val="000000"/>
                </a:solidFill>
                <a:latin typeface="+mj-lt"/>
                <a:cs typeface="Arial"/>
              </a:rPr>
              <a:t>Homework is done in </a:t>
            </a:r>
            <a:r>
              <a:rPr lang="en-US" sz="1200" b="1" dirty="0">
                <a:solidFill>
                  <a:schemeClr val="bg2"/>
                </a:solidFill>
                <a:latin typeface="+mj-lt"/>
                <a:cs typeface="Arial"/>
              </a:rPr>
              <a:t>alone </a:t>
            </a:r>
            <a:r>
              <a:rPr lang="en-US" sz="1200" dirty="0">
                <a:latin typeface="+mj-lt"/>
              </a:rPr>
              <a:t>or in </a:t>
            </a:r>
            <a:r>
              <a:rPr lang="en-US" sz="1200" b="1" dirty="0">
                <a:solidFill>
                  <a:srgbClr val="28285E"/>
                </a:solidFill>
                <a:latin typeface="+mj-lt"/>
                <a:cs typeface="Arial"/>
              </a:rPr>
              <a:t>teams (of 2-3)</a:t>
            </a:r>
            <a:r>
              <a:rPr lang="en-US" sz="1200" dirty="0">
                <a:solidFill>
                  <a:srgbClr val="000000"/>
                </a:solidFill>
                <a:latin typeface="+mj-lt"/>
                <a:cs typeface="Arial"/>
              </a:rPr>
              <a:t>, and a team keeps </a:t>
            </a:r>
            <a:r>
              <a:rPr lang="en-US" sz="1200" b="1" dirty="0">
                <a:solidFill>
                  <a:srgbClr val="28285E"/>
                </a:solidFill>
                <a:latin typeface="+mj-lt"/>
                <a:cs typeface="Arial"/>
              </a:rPr>
              <a:t>one codebase for the whole semester</a:t>
            </a:r>
            <a:r>
              <a:rPr lang="en-US" sz="1200" dirty="0">
                <a:solidFill>
                  <a:srgbClr val="000000"/>
                </a:solidFill>
                <a:latin typeface="+mj-lt"/>
                <a:cs typeface="Arial"/>
              </a:rPr>
              <a:t>. Homework 2 builds on homework 1; homework 3 builds on homework 2 and so on. </a:t>
            </a:r>
          </a:p>
        </p:txBody>
      </p:sp>
      <p:sp>
        <p:nvSpPr>
          <p:cNvPr id="5" name="TextBox 4">
            <a:extLst>
              <a:ext uri="{FF2B5EF4-FFF2-40B4-BE49-F238E27FC236}">
                <a16:creationId xmlns:a16="http://schemas.microsoft.com/office/drawing/2014/main" id="{CDA6BACA-091E-F0B6-4BB4-E43178A5EAD8}"/>
              </a:ext>
            </a:extLst>
          </p:cNvPr>
          <p:cNvSpPr txBox="1"/>
          <p:nvPr/>
        </p:nvSpPr>
        <p:spPr>
          <a:xfrm>
            <a:off x="303486" y="3777700"/>
            <a:ext cx="5974188" cy="1015663"/>
          </a:xfrm>
          <a:prstGeom prst="rect">
            <a:avLst/>
          </a:prstGeom>
          <a:noFill/>
          <a:ln w="19050">
            <a:solidFill>
              <a:srgbClr val="28285E"/>
            </a:solidFill>
          </a:ln>
        </p:spPr>
        <p:txBody>
          <a:bodyPr wrap="square">
            <a:spAutoFit/>
          </a:bodyPr>
          <a:lstStyle/>
          <a:p>
            <a:r>
              <a:rPr lang="en-US" sz="1200" b="1" i="0" dirty="0">
                <a:solidFill>
                  <a:srgbClr val="28285E"/>
                </a:solidFill>
                <a:effectLst/>
                <a:latin typeface="+mj-lt"/>
              </a:rPr>
              <a:t>Tests are always written and closed book. </a:t>
            </a:r>
            <a:r>
              <a:rPr lang="en-US" sz="1200" i="0" dirty="0">
                <a:solidFill>
                  <a:srgbClr val="000000"/>
                </a:solidFill>
                <a:effectLst/>
                <a:latin typeface="+mj-lt"/>
              </a:rPr>
              <a:t>They assess conceptual understanding, architectural reasoning, and the ability to analyze system behavior.</a:t>
            </a:r>
            <a:br>
              <a:rPr lang="en-US" sz="1200" i="0" dirty="0">
                <a:solidFill>
                  <a:srgbClr val="000000"/>
                </a:solidFill>
                <a:effectLst/>
                <a:latin typeface="+mj-lt"/>
              </a:rPr>
            </a:br>
            <a:br>
              <a:rPr lang="en-US" sz="1200" i="0" dirty="0">
                <a:solidFill>
                  <a:srgbClr val="000000"/>
                </a:solidFill>
                <a:effectLst/>
                <a:latin typeface="+mj-lt"/>
              </a:rPr>
            </a:br>
            <a:r>
              <a:rPr lang="en-US" sz="1200" i="0" dirty="0">
                <a:solidFill>
                  <a:srgbClr val="000000"/>
                </a:solidFill>
                <a:effectLst/>
                <a:latin typeface="+mj-lt"/>
              </a:rPr>
              <a:t>A </a:t>
            </a:r>
            <a:r>
              <a:rPr lang="en-US" sz="1200" b="1" i="0" dirty="0">
                <a:solidFill>
                  <a:srgbClr val="28285E"/>
                </a:solidFill>
                <a:effectLst/>
                <a:latin typeface="+mj-lt"/>
              </a:rPr>
              <a:t>comprehensive reading list and lecture notes will be provided</a:t>
            </a:r>
            <a:r>
              <a:rPr lang="en-US" sz="1200" i="0" dirty="0">
                <a:solidFill>
                  <a:srgbClr val="000000"/>
                </a:solidFill>
                <a:effectLst/>
                <a:latin typeface="+mj-lt"/>
              </a:rPr>
              <a:t> by the teaching staff.</a:t>
            </a:r>
            <a:endParaRPr lang="en-US" sz="1200" dirty="0">
              <a:latin typeface="+mj-lt"/>
            </a:endParaRPr>
          </a:p>
        </p:txBody>
      </p:sp>
    </p:spTree>
    <p:extLst>
      <p:ext uri="{BB962C8B-B14F-4D97-AF65-F5344CB8AC3E}">
        <p14:creationId xmlns:p14="http://schemas.microsoft.com/office/powerpoint/2010/main" val="35919138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E9934-124B-44DB-0915-7C0AC786E3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84B10D-D49C-2005-1742-C4778B21642F}"/>
              </a:ext>
            </a:extLst>
          </p:cNvPr>
          <p:cNvSpPr>
            <a:spLocks noGrp="1"/>
          </p:cNvSpPr>
          <p:nvPr>
            <p:ph type="title"/>
          </p:nvPr>
        </p:nvSpPr>
        <p:spPr/>
        <p:txBody>
          <a:bodyPr/>
          <a:lstStyle/>
          <a:p>
            <a:r>
              <a:rPr lang="en-US" dirty="0"/>
              <a:t>Homework, Grades, and Exams</a:t>
            </a:r>
          </a:p>
        </p:txBody>
      </p:sp>
      <p:graphicFrame>
        <p:nvGraphicFramePr>
          <p:cNvPr id="3" name="Table 2">
            <a:extLst>
              <a:ext uri="{FF2B5EF4-FFF2-40B4-BE49-F238E27FC236}">
                <a16:creationId xmlns:a16="http://schemas.microsoft.com/office/drawing/2014/main" id="{A4733682-59F5-2CF5-0903-99FA3BC59F28}"/>
              </a:ext>
            </a:extLst>
          </p:cNvPr>
          <p:cNvGraphicFramePr>
            <a:graphicFrameLocks noGrp="1"/>
          </p:cNvGraphicFramePr>
          <p:nvPr/>
        </p:nvGraphicFramePr>
        <p:xfrm>
          <a:off x="303486" y="696000"/>
          <a:ext cx="5974188" cy="2011680"/>
        </p:xfrm>
        <a:graphic>
          <a:graphicData uri="http://schemas.openxmlformats.org/drawingml/2006/table">
            <a:tbl>
              <a:tblPr firstRow="1" bandRow="1">
                <a:tableStyleId>{2D5ABB26-0587-4C30-8999-92F81FD0307C}</a:tableStyleId>
              </a:tblPr>
              <a:tblGrid>
                <a:gridCol w="1108852">
                  <a:extLst>
                    <a:ext uri="{9D8B030D-6E8A-4147-A177-3AD203B41FA5}">
                      <a16:colId xmlns:a16="http://schemas.microsoft.com/office/drawing/2014/main" val="2271713243"/>
                    </a:ext>
                  </a:extLst>
                </a:gridCol>
                <a:gridCol w="697485">
                  <a:extLst>
                    <a:ext uri="{9D8B030D-6E8A-4147-A177-3AD203B41FA5}">
                      <a16:colId xmlns:a16="http://schemas.microsoft.com/office/drawing/2014/main" val="1569624038"/>
                    </a:ext>
                  </a:extLst>
                </a:gridCol>
                <a:gridCol w="2328231">
                  <a:extLst>
                    <a:ext uri="{9D8B030D-6E8A-4147-A177-3AD203B41FA5}">
                      <a16:colId xmlns:a16="http://schemas.microsoft.com/office/drawing/2014/main" val="3690437143"/>
                    </a:ext>
                  </a:extLst>
                </a:gridCol>
                <a:gridCol w="1839620">
                  <a:extLst>
                    <a:ext uri="{9D8B030D-6E8A-4147-A177-3AD203B41FA5}">
                      <a16:colId xmlns:a16="http://schemas.microsoft.com/office/drawing/2014/main" val="2087928053"/>
                    </a:ext>
                  </a:extLst>
                </a:gridCol>
              </a:tblGrid>
              <a:tr h="0">
                <a:tc>
                  <a:txBody>
                    <a:bodyPr/>
                    <a:lstStyle/>
                    <a:p>
                      <a:pPr algn="ctr"/>
                      <a:r>
                        <a:rPr lang="en-US" sz="1200" b="1" dirty="0">
                          <a:solidFill>
                            <a:schemeClr val="tx2"/>
                          </a:solidFill>
                        </a:rPr>
                        <a:t>Item</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Weight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When</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Format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extLst>
                  <a:ext uri="{0D108BD9-81ED-4DB2-BD59-A6C34878D82A}">
                    <a16:rowId xmlns:a16="http://schemas.microsoft.com/office/drawing/2014/main" val="2356892486"/>
                  </a:ext>
                </a:extLst>
              </a:tr>
              <a:tr h="0">
                <a:tc>
                  <a:txBody>
                    <a:bodyPr/>
                    <a:lstStyle/>
                    <a:p>
                      <a:r>
                        <a:rPr lang="en-US" sz="1200" b="1" dirty="0"/>
                        <a:t>Homework 1</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0">
                <a:tc>
                  <a:txBody>
                    <a:bodyPr/>
                    <a:lstStyle/>
                    <a:p>
                      <a:r>
                        <a:rPr lang="en-US" sz="1200" b="1" dirty="0"/>
                        <a:t>Homework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0">
                <a:tc>
                  <a:txBody>
                    <a:bodyPr/>
                    <a:lstStyle/>
                    <a:p>
                      <a:r>
                        <a:rPr lang="en-US" sz="1200" b="1" dirty="0"/>
                        <a:t>Midterm</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October 23</a:t>
                      </a:r>
                      <a:r>
                        <a:rPr lang="en-US" sz="1200" baseline="30000" dirty="0"/>
                        <a:t>rd</a:t>
                      </a:r>
                      <a:r>
                        <a:rPr lang="en-US" sz="1200"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40 mins (closed book) covering units 1 and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Homework 3</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2416679"/>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Final</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dirty="0"/>
                        <a:t>December 17</a:t>
                      </a:r>
                      <a:r>
                        <a:rPr lang="en-US" sz="1200" baseline="30000" dirty="0"/>
                        <a:t>th</a:t>
                      </a:r>
                      <a:r>
                        <a:rPr lang="en-US" sz="1200" dirty="0"/>
                        <a:t> </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40 mins (closed book) covering units 1 to 4</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1543740"/>
                  </a:ext>
                </a:extLst>
              </a:tr>
            </a:tbl>
          </a:graphicData>
        </a:graphic>
      </p:graphicFrame>
      <p:sp>
        <p:nvSpPr>
          <p:cNvPr id="4" name="Rectangle 3">
            <a:extLst>
              <a:ext uri="{FF2B5EF4-FFF2-40B4-BE49-F238E27FC236}">
                <a16:creationId xmlns:a16="http://schemas.microsoft.com/office/drawing/2014/main" id="{AA34D7EC-CDB0-57D6-8FDF-D384F94DBFEC}"/>
              </a:ext>
            </a:extLst>
          </p:cNvPr>
          <p:cNvSpPr/>
          <p:nvPr/>
        </p:nvSpPr>
        <p:spPr>
          <a:xfrm>
            <a:off x="303487" y="2944702"/>
            <a:ext cx="5974188" cy="646331"/>
          </a:xfrm>
          <a:prstGeom prst="rect">
            <a:avLst/>
          </a:prstGeom>
          <a:noFill/>
          <a:ln w="19050">
            <a:solidFill>
              <a:srgbClr val="28285E"/>
            </a:solidFill>
          </a:ln>
        </p:spPr>
        <p:txBody>
          <a:bodyPr wrap="square">
            <a:spAutoFit/>
          </a:bodyPr>
          <a:lstStyle/>
          <a:p>
            <a:r>
              <a:rPr lang="en-US" sz="1200" dirty="0">
                <a:solidFill>
                  <a:srgbClr val="000000"/>
                </a:solidFill>
                <a:latin typeface="+mj-lt"/>
                <a:cs typeface="Arial"/>
              </a:rPr>
              <a:t>Homework is done in </a:t>
            </a:r>
            <a:r>
              <a:rPr lang="en-US" sz="1200" b="1" dirty="0">
                <a:solidFill>
                  <a:schemeClr val="bg2"/>
                </a:solidFill>
                <a:latin typeface="+mj-lt"/>
                <a:cs typeface="Arial"/>
              </a:rPr>
              <a:t>alone </a:t>
            </a:r>
            <a:r>
              <a:rPr lang="en-US" sz="1200" dirty="0">
                <a:latin typeface="+mj-lt"/>
              </a:rPr>
              <a:t>or in </a:t>
            </a:r>
            <a:r>
              <a:rPr lang="en-US" sz="1200" b="1" dirty="0">
                <a:solidFill>
                  <a:srgbClr val="28285E"/>
                </a:solidFill>
                <a:latin typeface="+mj-lt"/>
                <a:cs typeface="Arial"/>
              </a:rPr>
              <a:t>teams (of 2-3)</a:t>
            </a:r>
            <a:r>
              <a:rPr lang="en-US" sz="1200" dirty="0">
                <a:solidFill>
                  <a:srgbClr val="000000"/>
                </a:solidFill>
                <a:latin typeface="+mj-lt"/>
                <a:cs typeface="Arial"/>
              </a:rPr>
              <a:t>, and a team keeps </a:t>
            </a:r>
            <a:r>
              <a:rPr lang="en-US" sz="1200" b="1" dirty="0">
                <a:solidFill>
                  <a:srgbClr val="28285E"/>
                </a:solidFill>
                <a:latin typeface="+mj-lt"/>
                <a:cs typeface="Arial"/>
              </a:rPr>
              <a:t>one codebase for the whole semester</a:t>
            </a:r>
            <a:r>
              <a:rPr lang="en-US" sz="1200" dirty="0">
                <a:solidFill>
                  <a:srgbClr val="000000"/>
                </a:solidFill>
                <a:latin typeface="+mj-lt"/>
                <a:cs typeface="Arial"/>
              </a:rPr>
              <a:t>. Homework 2 builds on homework 1; homework 3 builds on homework 2 and so on. </a:t>
            </a:r>
          </a:p>
        </p:txBody>
      </p:sp>
      <p:sp>
        <p:nvSpPr>
          <p:cNvPr id="5" name="TextBox 4">
            <a:extLst>
              <a:ext uri="{FF2B5EF4-FFF2-40B4-BE49-F238E27FC236}">
                <a16:creationId xmlns:a16="http://schemas.microsoft.com/office/drawing/2014/main" id="{413D7A26-C6A4-FB9B-334C-53C121A97A7D}"/>
              </a:ext>
            </a:extLst>
          </p:cNvPr>
          <p:cNvSpPr txBox="1"/>
          <p:nvPr/>
        </p:nvSpPr>
        <p:spPr>
          <a:xfrm>
            <a:off x="303486" y="3777700"/>
            <a:ext cx="5974188" cy="1015663"/>
          </a:xfrm>
          <a:prstGeom prst="rect">
            <a:avLst/>
          </a:prstGeom>
          <a:noFill/>
          <a:ln w="19050">
            <a:solidFill>
              <a:srgbClr val="28285E"/>
            </a:solidFill>
          </a:ln>
        </p:spPr>
        <p:txBody>
          <a:bodyPr wrap="square">
            <a:spAutoFit/>
          </a:bodyPr>
          <a:lstStyle/>
          <a:p>
            <a:r>
              <a:rPr lang="en-US" sz="1200" b="1" i="0" dirty="0">
                <a:solidFill>
                  <a:srgbClr val="28285E"/>
                </a:solidFill>
                <a:effectLst/>
                <a:latin typeface="+mj-lt"/>
              </a:rPr>
              <a:t>Tests are always written and closed book. </a:t>
            </a:r>
            <a:r>
              <a:rPr lang="en-US" sz="1200" i="0" dirty="0">
                <a:solidFill>
                  <a:srgbClr val="000000"/>
                </a:solidFill>
                <a:effectLst/>
                <a:latin typeface="+mj-lt"/>
              </a:rPr>
              <a:t>They assess conceptual understanding, architectural reasoning, and the ability to analyze system behavior.</a:t>
            </a:r>
            <a:br>
              <a:rPr lang="en-US" sz="1200" i="0" dirty="0">
                <a:solidFill>
                  <a:srgbClr val="000000"/>
                </a:solidFill>
                <a:effectLst/>
                <a:latin typeface="+mj-lt"/>
              </a:rPr>
            </a:br>
            <a:br>
              <a:rPr lang="en-US" sz="1200" i="0" dirty="0">
                <a:solidFill>
                  <a:srgbClr val="000000"/>
                </a:solidFill>
                <a:effectLst/>
                <a:latin typeface="+mj-lt"/>
              </a:rPr>
            </a:br>
            <a:r>
              <a:rPr lang="en-US" sz="1200" i="0" dirty="0">
                <a:solidFill>
                  <a:srgbClr val="000000"/>
                </a:solidFill>
                <a:effectLst/>
                <a:latin typeface="+mj-lt"/>
              </a:rPr>
              <a:t>A </a:t>
            </a:r>
            <a:r>
              <a:rPr lang="en-US" sz="1200" b="1" i="0" dirty="0">
                <a:solidFill>
                  <a:srgbClr val="28285E"/>
                </a:solidFill>
                <a:effectLst/>
                <a:latin typeface="+mj-lt"/>
              </a:rPr>
              <a:t>comprehensive reading list and lecture notes will be provided</a:t>
            </a:r>
            <a:r>
              <a:rPr lang="en-US" sz="1200" i="0" dirty="0">
                <a:solidFill>
                  <a:srgbClr val="000000"/>
                </a:solidFill>
                <a:effectLst/>
                <a:latin typeface="+mj-lt"/>
              </a:rPr>
              <a:t> by the teaching staff.</a:t>
            </a:r>
            <a:endParaRPr lang="en-US" sz="1200" dirty="0">
              <a:latin typeface="+mj-lt"/>
            </a:endParaRPr>
          </a:p>
        </p:txBody>
      </p:sp>
      <p:pic>
        <p:nvPicPr>
          <p:cNvPr id="6" name="Picture 5">
            <a:extLst>
              <a:ext uri="{FF2B5EF4-FFF2-40B4-BE49-F238E27FC236}">
                <a16:creationId xmlns:a16="http://schemas.microsoft.com/office/drawing/2014/main" id="{C4275ED2-1659-CB66-73B9-4CA3B428761A}"/>
              </a:ext>
            </a:extLst>
          </p:cNvPr>
          <p:cNvPicPr>
            <a:picLocks noChangeAspect="1"/>
          </p:cNvPicPr>
          <p:nvPr/>
        </p:nvPicPr>
        <p:blipFill>
          <a:blip r:embed="rId2">
            <a:alphaModFix amt="94000"/>
          </a:blip>
          <a:stretch>
            <a:fillRect/>
          </a:stretch>
        </p:blipFill>
        <p:spPr>
          <a:xfrm>
            <a:off x="250147" y="1269588"/>
            <a:ext cx="6152752" cy="3579730"/>
          </a:xfrm>
          <a:prstGeom prst="rect">
            <a:avLst/>
          </a:prstGeom>
        </p:spPr>
      </p:pic>
      <p:sp>
        <p:nvSpPr>
          <p:cNvPr id="7" name="TextBox 6">
            <a:extLst>
              <a:ext uri="{FF2B5EF4-FFF2-40B4-BE49-F238E27FC236}">
                <a16:creationId xmlns:a16="http://schemas.microsoft.com/office/drawing/2014/main" id="{122C38D9-154E-E386-7030-927E7C8E5FB8}"/>
              </a:ext>
            </a:extLst>
          </p:cNvPr>
          <p:cNvSpPr txBox="1"/>
          <p:nvPr/>
        </p:nvSpPr>
        <p:spPr>
          <a:xfrm>
            <a:off x="1370071" y="1565594"/>
            <a:ext cx="3903633" cy="461665"/>
          </a:xfrm>
          <a:prstGeom prst="rect">
            <a:avLst/>
          </a:prstGeom>
          <a:noFill/>
        </p:spPr>
        <p:txBody>
          <a:bodyPr wrap="none" rtlCol="0">
            <a:spAutoFit/>
          </a:bodyPr>
          <a:lstStyle/>
          <a:p>
            <a:pPr algn="l"/>
            <a:r>
              <a:rPr lang="en-US" sz="2400" b="1" dirty="0">
                <a:solidFill>
                  <a:schemeClr val="bg2"/>
                </a:solidFill>
                <a:latin typeface="+mn-lt"/>
              </a:rPr>
              <a:t>HW1 announced next class</a:t>
            </a:r>
          </a:p>
        </p:txBody>
      </p:sp>
    </p:spTree>
    <p:extLst>
      <p:ext uri="{BB962C8B-B14F-4D97-AF65-F5344CB8AC3E}">
        <p14:creationId xmlns:p14="http://schemas.microsoft.com/office/powerpoint/2010/main" val="24391851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22D90-3432-2B93-9629-77CEBCE6491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60178EE-BA36-3CD9-2428-780412C1571C}"/>
              </a:ext>
            </a:extLst>
          </p:cNvPr>
          <p:cNvSpPr txBox="1"/>
          <p:nvPr/>
        </p:nvSpPr>
        <p:spPr>
          <a:xfrm>
            <a:off x="364435" y="1910030"/>
            <a:ext cx="6129130" cy="1323439"/>
          </a:xfrm>
          <a:prstGeom prst="rect">
            <a:avLst/>
          </a:prstGeom>
          <a:noFill/>
        </p:spPr>
        <p:txBody>
          <a:bodyPr wrap="square" rtlCol="0">
            <a:spAutoFit/>
          </a:bodyPr>
          <a:lstStyle/>
          <a:p>
            <a:pPr algn="ctr"/>
            <a:r>
              <a:rPr lang="en-US" sz="4000" b="1" dirty="0">
                <a:solidFill>
                  <a:schemeClr val="tx2"/>
                </a:solidFill>
                <a:latin typeface="+mj-lt"/>
              </a:rPr>
              <a:t>Lecture 2 – Part 1</a:t>
            </a:r>
          </a:p>
          <a:p>
            <a:pPr algn="ctr"/>
            <a:r>
              <a:rPr lang="en-US" sz="4000" b="1" dirty="0">
                <a:solidFill>
                  <a:schemeClr val="tx2"/>
                </a:solidFill>
                <a:latin typeface="+mj-lt"/>
              </a:rPr>
              <a:t>Intelligent Agents</a:t>
            </a:r>
          </a:p>
        </p:txBody>
      </p:sp>
    </p:spTree>
    <p:extLst>
      <p:ext uri="{BB962C8B-B14F-4D97-AF65-F5344CB8AC3E}">
        <p14:creationId xmlns:p14="http://schemas.microsoft.com/office/powerpoint/2010/main" val="20257564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Rational agents</a:t>
            </a:r>
          </a:p>
        </p:txBody>
      </p:sp>
      <p:sp>
        <p:nvSpPr>
          <p:cNvPr id="3" name="Content Placeholder 2"/>
          <p:cNvSpPr>
            <a:spLocks noGrp="1"/>
          </p:cNvSpPr>
          <p:nvPr>
            <p:ph idx="1"/>
          </p:nvPr>
        </p:nvSpPr>
        <p:spPr>
          <a:xfrm>
            <a:off x="319251" y="2360000"/>
            <a:ext cx="6014545" cy="2300000"/>
          </a:xfrm>
        </p:spPr>
        <p:txBody>
          <a:bodyPr wrap="square"/>
          <a:lstStyle/>
          <a:p>
            <a:pPr marL="0" indent="0">
              <a:buNone/>
            </a:pPr>
            <a:r>
              <a:rPr sz="1500" b="1">
                <a:solidFill>
                  <a:srgbClr val="28285E"/>
                </a:solidFill>
              </a:rPr>
              <a:t>What is rational at any given time depends on four things:</a:t>
            </a:r>
          </a:p>
          <a:p>
            <a:pPr marL="400050" indent="-285750">
              <a:spcAft>
                <a:spcPts val="800"/>
              </a:spcAft>
              <a:buClr>
                <a:srgbClr val="28285E"/>
              </a:buClr>
              <a:buSzPts val="1440"/>
              <a:buFont typeface="Fira Sans"/>
              <a:buChar char="●"/>
            </a:pPr>
            <a:r>
              <a:rPr sz="1600">
                <a:solidFill>
                  <a:srgbClr val="28285E"/>
                </a:solidFill>
              </a:rPr>
              <a:t>The performance measure that defines the criterion of success</a:t>
            </a:r>
          </a:p>
          <a:p>
            <a:pPr marL="400050" indent="-285750">
              <a:spcAft>
                <a:spcPts val="800"/>
              </a:spcAft>
              <a:buClr>
                <a:srgbClr val="28285E"/>
              </a:buClr>
              <a:buSzPts val="1440"/>
              <a:buFont typeface="Fira Sans"/>
              <a:buChar char="●"/>
            </a:pPr>
            <a:r>
              <a:rPr sz="1600">
                <a:solidFill>
                  <a:srgbClr val="28285E"/>
                </a:solidFill>
              </a:rPr>
              <a:t>The agent’s prior knowledge of the environment</a:t>
            </a:r>
          </a:p>
          <a:p>
            <a:pPr marL="400050" indent="-285750">
              <a:spcAft>
                <a:spcPts val="800"/>
              </a:spcAft>
              <a:buClr>
                <a:srgbClr val="28285E"/>
              </a:buClr>
              <a:buSzPts val="1440"/>
              <a:buFont typeface="Fira Sans"/>
              <a:buChar char="●"/>
            </a:pPr>
            <a:r>
              <a:rPr sz="1600">
                <a:solidFill>
                  <a:srgbClr val="28285E"/>
                </a:solidFill>
              </a:rPr>
              <a:t>The actions that the agent can perform</a:t>
            </a:r>
          </a:p>
          <a:p>
            <a:pPr marL="400050" indent="-285750">
              <a:spcAft>
                <a:spcPts val="800"/>
              </a:spcAft>
              <a:buClr>
                <a:srgbClr val="28285E"/>
              </a:buClr>
              <a:buSzPts val="1440"/>
              <a:buFont typeface="Fira Sans"/>
              <a:buChar char="●"/>
            </a:pPr>
            <a:r>
              <a:rPr sz="1600">
                <a:solidFill>
                  <a:srgbClr val="28285E"/>
                </a:solidFill>
              </a:rPr>
              <a:t>The agent’s percept sequence to date</a:t>
            </a:r>
          </a:p>
        </p:txBody>
      </p:sp>
      <p:sp>
        <p:nvSpPr>
          <p:cNvPr id="4" name="Rectangle 3"/>
          <p:cNvSpPr/>
          <p:nvPr/>
        </p:nvSpPr>
        <p:spPr>
          <a:xfrm>
            <a:off x="319251" y="820000"/>
            <a:ext cx="6014545" cy="13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lnSpc>
                <a:spcPct val="114000"/>
              </a:lnSpc>
            </a:pPr>
            <a:r>
              <a:rPr sz="1400" dirty="0">
                <a:solidFill>
                  <a:schemeClr val="tx2"/>
                </a:solidFill>
              </a:rPr>
              <a:t>“For each possible percept sequence, a </a:t>
            </a:r>
            <a:r>
              <a:rPr sz="1400" b="1" u="sng" dirty="0">
                <a:solidFill>
                  <a:schemeClr val="tx2"/>
                </a:solidFill>
              </a:rPr>
              <a:t>rational agent should select an action that is expected to maximize its performance measure</a:t>
            </a:r>
            <a:r>
              <a:rPr sz="1400" dirty="0">
                <a:solidFill>
                  <a:schemeClr val="tx2"/>
                </a:solidFill>
              </a:rPr>
              <a:t>, given the evidence provided by the percept sequence and whatever built-in knowledge the agent has.”</a:t>
            </a:r>
          </a:p>
          <a:p>
            <a:pPr algn="r">
              <a:spcBef>
                <a:spcPts val="600"/>
              </a:spcBef>
            </a:pPr>
            <a:r>
              <a:rPr sz="1000" i="1" dirty="0">
                <a:solidFill>
                  <a:schemeClr val="tx2"/>
                </a:solidFill>
              </a:rPr>
              <a:t>Russell and Norvig, §2.2.2</a:t>
            </a:r>
          </a:p>
        </p:txBody>
      </p:sp>
      <p:pic>
        <p:nvPicPr>
          <p:cNvPr id="6" name="Picture 5">
            <a:extLst>
              <a:ext uri="{FF2B5EF4-FFF2-40B4-BE49-F238E27FC236}">
                <a16:creationId xmlns:a16="http://schemas.microsoft.com/office/drawing/2014/main" id="{DF8E934F-B38C-6D88-A7FC-855991355C0A}"/>
              </a:ext>
            </a:extLst>
          </p:cNvPr>
          <p:cNvPicPr>
            <a:picLocks noChangeAspect="1"/>
          </p:cNvPicPr>
          <p:nvPr/>
        </p:nvPicPr>
        <p:blipFill>
          <a:blip r:embed="rId3"/>
          <a:stretch>
            <a:fillRect/>
          </a:stretch>
        </p:blipFill>
        <p:spPr>
          <a:xfrm>
            <a:off x="319251" y="2339950"/>
            <a:ext cx="5817662" cy="23200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1524B-AFF2-B7A3-C416-33AB0537DD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F988DF-CCE0-75AD-C078-1D3D3FF1F9B3}"/>
              </a:ext>
            </a:extLst>
          </p:cNvPr>
          <p:cNvSpPr>
            <a:spLocks noGrp="1"/>
          </p:cNvSpPr>
          <p:nvPr>
            <p:ph type="title"/>
          </p:nvPr>
        </p:nvSpPr>
        <p:spPr/>
        <p:txBody>
          <a:bodyPr/>
          <a:lstStyle/>
          <a:p>
            <a:r>
              <a:t>Rational agents</a:t>
            </a:r>
          </a:p>
        </p:txBody>
      </p:sp>
      <p:sp>
        <p:nvSpPr>
          <p:cNvPr id="3" name="Content Placeholder 2">
            <a:extLst>
              <a:ext uri="{FF2B5EF4-FFF2-40B4-BE49-F238E27FC236}">
                <a16:creationId xmlns:a16="http://schemas.microsoft.com/office/drawing/2014/main" id="{8160F141-7049-1DA0-B41D-24A09D826D07}"/>
              </a:ext>
            </a:extLst>
          </p:cNvPr>
          <p:cNvSpPr>
            <a:spLocks noGrp="1"/>
          </p:cNvSpPr>
          <p:nvPr>
            <p:ph idx="1"/>
          </p:nvPr>
        </p:nvSpPr>
        <p:spPr>
          <a:xfrm>
            <a:off x="319251" y="2360000"/>
            <a:ext cx="6014545" cy="2300000"/>
          </a:xfrm>
        </p:spPr>
        <p:txBody>
          <a:bodyPr wrap="square"/>
          <a:lstStyle/>
          <a:p>
            <a:pPr marL="0" indent="0">
              <a:buNone/>
            </a:pPr>
            <a:r>
              <a:rPr sz="1500" b="1">
                <a:solidFill>
                  <a:srgbClr val="28285E"/>
                </a:solidFill>
              </a:rPr>
              <a:t>What is rational at any given time depends on four things:</a:t>
            </a:r>
          </a:p>
          <a:p>
            <a:pPr marL="400050" indent="-285750">
              <a:spcAft>
                <a:spcPts val="800"/>
              </a:spcAft>
              <a:buClr>
                <a:srgbClr val="28285E"/>
              </a:buClr>
              <a:buSzPts val="1440"/>
              <a:buFont typeface="Fira Sans"/>
              <a:buChar char="●"/>
            </a:pPr>
            <a:r>
              <a:rPr sz="1600">
                <a:solidFill>
                  <a:srgbClr val="28285E"/>
                </a:solidFill>
              </a:rPr>
              <a:t>The performance measure that defines the criterion of success</a:t>
            </a:r>
          </a:p>
          <a:p>
            <a:pPr marL="400050" indent="-285750">
              <a:spcAft>
                <a:spcPts val="800"/>
              </a:spcAft>
              <a:buClr>
                <a:srgbClr val="28285E"/>
              </a:buClr>
              <a:buSzPts val="1440"/>
              <a:buFont typeface="Fira Sans"/>
              <a:buChar char="●"/>
            </a:pPr>
            <a:r>
              <a:rPr sz="1600">
                <a:solidFill>
                  <a:srgbClr val="28285E"/>
                </a:solidFill>
              </a:rPr>
              <a:t>The agent’s prior knowledge of the environment</a:t>
            </a:r>
          </a:p>
          <a:p>
            <a:pPr marL="400050" indent="-285750">
              <a:spcAft>
                <a:spcPts val="800"/>
              </a:spcAft>
              <a:buClr>
                <a:srgbClr val="28285E"/>
              </a:buClr>
              <a:buSzPts val="1440"/>
              <a:buFont typeface="Fira Sans"/>
              <a:buChar char="●"/>
            </a:pPr>
            <a:r>
              <a:rPr sz="1600">
                <a:solidFill>
                  <a:srgbClr val="28285E"/>
                </a:solidFill>
              </a:rPr>
              <a:t>The actions that the agent can perform</a:t>
            </a:r>
          </a:p>
          <a:p>
            <a:pPr marL="400050" indent="-285750">
              <a:spcAft>
                <a:spcPts val="800"/>
              </a:spcAft>
              <a:buClr>
                <a:srgbClr val="28285E"/>
              </a:buClr>
              <a:buSzPts val="1440"/>
              <a:buFont typeface="Fira Sans"/>
              <a:buChar char="●"/>
            </a:pPr>
            <a:r>
              <a:rPr sz="1600">
                <a:solidFill>
                  <a:srgbClr val="28285E"/>
                </a:solidFill>
              </a:rPr>
              <a:t>The agent’s percept sequence to date</a:t>
            </a:r>
          </a:p>
        </p:txBody>
      </p:sp>
      <p:sp>
        <p:nvSpPr>
          <p:cNvPr id="4" name="Rectangle 3">
            <a:extLst>
              <a:ext uri="{FF2B5EF4-FFF2-40B4-BE49-F238E27FC236}">
                <a16:creationId xmlns:a16="http://schemas.microsoft.com/office/drawing/2014/main" id="{08DB5148-07BC-F574-876D-227547DE97C7}"/>
              </a:ext>
            </a:extLst>
          </p:cNvPr>
          <p:cNvSpPr/>
          <p:nvPr/>
        </p:nvSpPr>
        <p:spPr>
          <a:xfrm>
            <a:off x="319251" y="820000"/>
            <a:ext cx="6014545" cy="13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lnSpc>
                <a:spcPct val="114000"/>
              </a:lnSpc>
            </a:pPr>
            <a:r>
              <a:rPr sz="1400" dirty="0">
                <a:solidFill>
                  <a:schemeClr val="tx2"/>
                </a:solidFill>
              </a:rPr>
              <a:t>“For each possible percept sequence, a </a:t>
            </a:r>
            <a:r>
              <a:rPr sz="1400" b="1" u="sng" dirty="0">
                <a:solidFill>
                  <a:schemeClr val="tx2"/>
                </a:solidFill>
              </a:rPr>
              <a:t>rational agent should select an action that is expected to maximize its performance measure</a:t>
            </a:r>
            <a:r>
              <a:rPr sz="1400" dirty="0">
                <a:solidFill>
                  <a:schemeClr val="tx2"/>
                </a:solidFill>
              </a:rPr>
              <a:t>, given the evidence provided by the percept sequence and whatever built-in knowledge the agent has.”</a:t>
            </a:r>
          </a:p>
          <a:p>
            <a:pPr algn="r">
              <a:spcBef>
                <a:spcPts val="600"/>
              </a:spcBef>
            </a:pPr>
            <a:r>
              <a:rPr sz="1000" i="1" dirty="0">
                <a:solidFill>
                  <a:schemeClr val="tx2"/>
                </a:solidFill>
              </a:rPr>
              <a:t>Russell and Norvig, §2.2.2</a:t>
            </a:r>
          </a:p>
        </p:txBody>
      </p:sp>
      <p:pic>
        <p:nvPicPr>
          <p:cNvPr id="5" name="Picture 4">
            <a:extLst>
              <a:ext uri="{FF2B5EF4-FFF2-40B4-BE49-F238E27FC236}">
                <a16:creationId xmlns:a16="http://schemas.microsoft.com/office/drawing/2014/main" id="{20A5C3A3-D949-5975-4649-E63E896B0D73}"/>
              </a:ext>
            </a:extLst>
          </p:cNvPr>
          <p:cNvPicPr>
            <a:picLocks noChangeAspect="1"/>
          </p:cNvPicPr>
          <p:nvPr/>
        </p:nvPicPr>
        <p:blipFill>
          <a:blip r:embed="rId3"/>
          <a:stretch>
            <a:fillRect/>
          </a:stretch>
        </p:blipFill>
        <p:spPr>
          <a:xfrm>
            <a:off x="319251" y="3424396"/>
            <a:ext cx="5817662" cy="1235603"/>
          </a:xfrm>
          <a:prstGeom prst="rect">
            <a:avLst/>
          </a:prstGeom>
        </p:spPr>
      </p:pic>
    </p:spTree>
    <p:extLst>
      <p:ext uri="{BB962C8B-B14F-4D97-AF65-F5344CB8AC3E}">
        <p14:creationId xmlns:p14="http://schemas.microsoft.com/office/powerpoint/2010/main" val="21806455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D0294-DF93-73DB-9536-F56816976A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B2159A-ECB1-2F8D-69C7-8891FDE1690F}"/>
              </a:ext>
            </a:extLst>
          </p:cNvPr>
          <p:cNvSpPr>
            <a:spLocks noGrp="1"/>
          </p:cNvSpPr>
          <p:nvPr>
            <p:ph type="title"/>
          </p:nvPr>
        </p:nvSpPr>
        <p:spPr/>
        <p:txBody>
          <a:bodyPr/>
          <a:lstStyle/>
          <a:p>
            <a:r>
              <a:t>Rational agents</a:t>
            </a:r>
          </a:p>
        </p:txBody>
      </p:sp>
      <p:sp>
        <p:nvSpPr>
          <p:cNvPr id="3" name="Content Placeholder 2">
            <a:extLst>
              <a:ext uri="{FF2B5EF4-FFF2-40B4-BE49-F238E27FC236}">
                <a16:creationId xmlns:a16="http://schemas.microsoft.com/office/drawing/2014/main" id="{35A94AF3-A0A7-DB25-34D9-2627D8884688}"/>
              </a:ext>
            </a:extLst>
          </p:cNvPr>
          <p:cNvSpPr>
            <a:spLocks noGrp="1"/>
          </p:cNvSpPr>
          <p:nvPr>
            <p:ph idx="1"/>
          </p:nvPr>
        </p:nvSpPr>
        <p:spPr>
          <a:xfrm>
            <a:off x="319251" y="2360000"/>
            <a:ext cx="6014545" cy="2300000"/>
          </a:xfrm>
        </p:spPr>
        <p:txBody>
          <a:bodyPr wrap="square"/>
          <a:lstStyle/>
          <a:p>
            <a:pPr marL="0" indent="0">
              <a:buNone/>
            </a:pPr>
            <a:r>
              <a:rPr sz="1500" b="1">
                <a:solidFill>
                  <a:srgbClr val="28285E"/>
                </a:solidFill>
              </a:rPr>
              <a:t>What is rational at any given time depends on four things:</a:t>
            </a:r>
          </a:p>
          <a:p>
            <a:pPr marL="400050" indent="-285750">
              <a:spcAft>
                <a:spcPts val="800"/>
              </a:spcAft>
              <a:buClr>
                <a:srgbClr val="28285E"/>
              </a:buClr>
              <a:buSzPts val="1440"/>
              <a:buFont typeface="Fira Sans"/>
              <a:buChar char="●"/>
            </a:pPr>
            <a:r>
              <a:rPr sz="1600">
                <a:solidFill>
                  <a:srgbClr val="28285E"/>
                </a:solidFill>
              </a:rPr>
              <a:t>The performance measure that defines the criterion of success</a:t>
            </a:r>
          </a:p>
          <a:p>
            <a:pPr marL="400050" indent="-285750">
              <a:spcAft>
                <a:spcPts val="800"/>
              </a:spcAft>
              <a:buClr>
                <a:srgbClr val="28285E"/>
              </a:buClr>
              <a:buSzPts val="1440"/>
              <a:buFont typeface="Fira Sans"/>
              <a:buChar char="●"/>
            </a:pPr>
            <a:r>
              <a:rPr sz="1600">
                <a:solidFill>
                  <a:srgbClr val="28285E"/>
                </a:solidFill>
              </a:rPr>
              <a:t>The agent’s prior knowledge of the environment</a:t>
            </a:r>
          </a:p>
          <a:p>
            <a:pPr marL="400050" indent="-285750">
              <a:spcAft>
                <a:spcPts val="800"/>
              </a:spcAft>
              <a:buClr>
                <a:srgbClr val="28285E"/>
              </a:buClr>
              <a:buSzPts val="1440"/>
              <a:buFont typeface="Fira Sans"/>
              <a:buChar char="●"/>
            </a:pPr>
            <a:r>
              <a:rPr sz="1600">
                <a:solidFill>
                  <a:srgbClr val="28285E"/>
                </a:solidFill>
              </a:rPr>
              <a:t>The actions that the agent can perform</a:t>
            </a:r>
          </a:p>
          <a:p>
            <a:pPr marL="400050" indent="-285750">
              <a:spcAft>
                <a:spcPts val="800"/>
              </a:spcAft>
              <a:buClr>
                <a:srgbClr val="28285E"/>
              </a:buClr>
              <a:buSzPts val="1440"/>
              <a:buFont typeface="Fira Sans"/>
              <a:buChar char="●"/>
            </a:pPr>
            <a:r>
              <a:rPr sz="1600">
                <a:solidFill>
                  <a:srgbClr val="28285E"/>
                </a:solidFill>
              </a:rPr>
              <a:t>The agent’s percept sequence to date</a:t>
            </a:r>
          </a:p>
        </p:txBody>
      </p:sp>
      <p:sp>
        <p:nvSpPr>
          <p:cNvPr id="4" name="Rectangle 3">
            <a:extLst>
              <a:ext uri="{FF2B5EF4-FFF2-40B4-BE49-F238E27FC236}">
                <a16:creationId xmlns:a16="http://schemas.microsoft.com/office/drawing/2014/main" id="{3ABFBD0D-C6B2-875C-55B1-B2CCA4238FD5}"/>
              </a:ext>
            </a:extLst>
          </p:cNvPr>
          <p:cNvSpPr/>
          <p:nvPr/>
        </p:nvSpPr>
        <p:spPr>
          <a:xfrm>
            <a:off x="319251" y="820000"/>
            <a:ext cx="6014545" cy="13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lnSpc>
                <a:spcPct val="114000"/>
              </a:lnSpc>
            </a:pPr>
            <a:r>
              <a:rPr sz="1400" dirty="0">
                <a:solidFill>
                  <a:schemeClr val="tx2"/>
                </a:solidFill>
              </a:rPr>
              <a:t>“For each possible percept sequence, a </a:t>
            </a:r>
            <a:r>
              <a:rPr sz="1400" b="1" u="sng" dirty="0">
                <a:solidFill>
                  <a:schemeClr val="tx2"/>
                </a:solidFill>
              </a:rPr>
              <a:t>rational agent should select an action that is expected to maximize its performance measure</a:t>
            </a:r>
            <a:r>
              <a:rPr sz="1400" dirty="0">
                <a:solidFill>
                  <a:schemeClr val="tx2"/>
                </a:solidFill>
              </a:rPr>
              <a:t>, given the evidence provided by the percept sequence and whatever built-in knowledge the agent has.”</a:t>
            </a:r>
          </a:p>
          <a:p>
            <a:pPr algn="r">
              <a:spcBef>
                <a:spcPts val="600"/>
              </a:spcBef>
            </a:pPr>
            <a:r>
              <a:rPr sz="1000" i="1" dirty="0">
                <a:solidFill>
                  <a:schemeClr val="tx2"/>
                </a:solidFill>
              </a:rPr>
              <a:t>Russell and Norvig, §2.2.2</a:t>
            </a:r>
          </a:p>
        </p:txBody>
      </p:sp>
      <p:pic>
        <p:nvPicPr>
          <p:cNvPr id="5" name="Picture 4">
            <a:extLst>
              <a:ext uri="{FF2B5EF4-FFF2-40B4-BE49-F238E27FC236}">
                <a16:creationId xmlns:a16="http://schemas.microsoft.com/office/drawing/2014/main" id="{47384204-FBF0-47C5-1EA9-F5BDB8D97C16}"/>
              </a:ext>
            </a:extLst>
          </p:cNvPr>
          <p:cNvPicPr>
            <a:picLocks noChangeAspect="1"/>
          </p:cNvPicPr>
          <p:nvPr/>
        </p:nvPicPr>
        <p:blipFill>
          <a:blip r:embed="rId3"/>
          <a:stretch>
            <a:fillRect/>
          </a:stretch>
        </p:blipFill>
        <p:spPr>
          <a:xfrm>
            <a:off x="319251" y="3792612"/>
            <a:ext cx="5817662" cy="867388"/>
          </a:xfrm>
          <a:prstGeom prst="rect">
            <a:avLst/>
          </a:prstGeom>
        </p:spPr>
      </p:pic>
    </p:spTree>
    <p:extLst>
      <p:ext uri="{BB962C8B-B14F-4D97-AF65-F5344CB8AC3E}">
        <p14:creationId xmlns:p14="http://schemas.microsoft.com/office/powerpoint/2010/main" val="5213269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0D79A-C9CD-CEAB-2447-B16A2A0BC0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EECD13-F5E9-0B43-A9FE-7A29333C1EBD}"/>
              </a:ext>
            </a:extLst>
          </p:cNvPr>
          <p:cNvSpPr>
            <a:spLocks noGrp="1"/>
          </p:cNvSpPr>
          <p:nvPr>
            <p:ph type="title"/>
          </p:nvPr>
        </p:nvSpPr>
        <p:spPr/>
        <p:txBody>
          <a:bodyPr/>
          <a:lstStyle/>
          <a:p>
            <a:r>
              <a:t>Rational agents</a:t>
            </a:r>
          </a:p>
        </p:txBody>
      </p:sp>
      <p:sp>
        <p:nvSpPr>
          <p:cNvPr id="3" name="Content Placeholder 2">
            <a:extLst>
              <a:ext uri="{FF2B5EF4-FFF2-40B4-BE49-F238E27FC236}">
                <a16:creationId xmlns:a16="http://schemas.microsoft.com/office/drawing/2014/main" id="{131EBEAB-F1DC-4015-C356-D89C3E5AC9B7}"/>
              </a:ext>
            </a:extLst>
          </p:cNvPr>
          <p:cNvSpPr>
            <a:spLocks noGrp="1"/>
          </p:cNvSpPr>
          <p:nvPr>
            <p:ph idx="1"/>
          </p:nvPr>
        </p:nvSpPr>
        <p:spPr>
          <a:xfrm>
            <a:off x="319251" y="2360000"/>
            <a:ext cx="6014545" cy="2300000"/>
          </a:xfrm>
        </p:spPr>
        <p:txBody>
          <a:bodyPr wrap="square"/>
          <a:lstStyle/>
          <a:p>
            <a:pPr marL="0" indent="0">
              <a:buNone/>
            </a:pPr>
            <a:r>
              <a:rPr sz="1500" b="1">
                <a:solidFill>
                  <a:srgbClr val="28285E"/>
                </a:solidFill>
              </a:rPr>
              <a:t>What is rational at any given time depends on four things:</a:t>
            </a:r>
          </a:p>
          <a:p>
            <a:pPr marL="400050" indent="-285750">
              <a:spcAft>
                <a:spcPts val="800"/>
              </a:spcAft>
              <a:buClr>
                <a:srgbClr val="28285E"/>
              </a:buClr>
              <a:buSzPts val="1440"/>
              <a:buFont typeface="Fira Sans"/>
              <a:buChar char="●"/>
            </a:pPr>
            <a:r>
              <a:rPr sz="1600">
                <a:solidFill>
                  <a:srgbClr val="28285E"/>
                </a:solidFill>
              </a:rPr>
              <a:t>The performance measure that defines the criterion of success</a:t>
            </a:r>
          </a:p>
          <a:p>
            <a:pPr marL="400050" indent="-285750">
              <a:spcAft>
                <a:spcPts val="800"/>
              </a:spcAft>
              <a:buClr>
                <a:srgbClr val="28285E"/>
              </a:buClr>
              <a:buSzPts val="1440"/>
              <a:buFont typeface="Fira Sans"/>
              <a:buChar char="●"/>
            </a:pPr>
            <a:r>
              <a:rPr sz="1600">
                <a:solidFill>
                  <a:srgbClr val="28285E"/>
                </a:solidFill>
              </a:rPr>
              <a:t>The agent’s prior knowledge of the environment</a:t>
            </a:r>
          </a:p>
          <a:p>
            <a:pPr marL="400050" indent="-285750">
              <a:spcAft>
                <a:spcPts val="800"/>
              </a:spcAft>
              <a:buClr>
                <a:srgbClr val="28285E"/>
              </a:buClr>
              <a:buSzPts val="1440"/>
              <a:buFont typeface="Fira Sans"/>
              <a:buChar char="●"/>
            </a:pPr>
            <a:r>
              <a:rPr sz="1600">
                <a:solidFill>
                  <a:srgbClr val="28285E"/>
                </a:solidFill>
              </a:rPr>
              <a:t>The actions that the agent can perform</a:t>
            </a:r>
          </a:p>
          <a:p>
            <a:pPr marL="400050" indent="-285750">
              <a:spcAft>
                <a:spcPts val="800"/>
              </a:spcAft>
              <a:buClr>
                <a:srgbClr val="28285E"/>
              </a:buClr>
              <a:buSzPts val="1440"/>
              <a:buFont typeface="Fira Sans"/>
              <a:buChar char="●"/>
            </a:pPr>
            <a:r>
              <a:rPr sz="1600">
                <a:solidFill>
                  <a:srgbClr val="28285E"/>
                </a:solidFill>
              </a:rPr>
              <a:t>The agent’s percept sequence to date</a:t>
            </a:r>
          </a:p>
        </p:txBody>
      </p:sp>
      <p:sp>
        <p:nvSpPr>
          <p:cNvPr id="4" name="Rectangle 3">
            <a:extLst>
              <a:ext uri="{FF2B5EF4-FFF2-40B4-BE49-F238E27FC236}">
                <a16:creationId xmlns:a16="http://schemas.microsoft.com/office/drawing/2014/main" id="{741CADCB-2331-F6E6-0798-B0482D5EF63E}"/>
              </a:ext>
            </a:extLst>
          </p:cNvPr>
          <p:cNvSpPr/>
          <p:nvPr/>
        </p:nvSpPr>
        <p:spPr>
          <a:xfrm>
            <a:off x="319251" y="820000"/>
            <a:ext cx="6014545" cy="13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lnSpc>
                <a:spcPct val="114000"/>
              </a:lnSpc>
            </a:pPr>
            <a:r>
              <a:rPr sz="1400" dirty="0">
                <a:solidFill>
                  <a:schemeClr val="tx2"/>
                </a:solidFill>
              </a:rPr>
              <a:t>“For each possible percept sequence, a </a:t>
            </a:r>
            <a:r>
              <a:rPr sz="1400" b="1" u="sng" dirty="0">
                <a:solidFill>
                  <a:schemeClr val="tx2"/>
                </a:solidFill>
              </a:rPr>
              <a:t>rational agent should select an action that is expected to maximize its performance measure</a:t>
            </a:r>
            <a:r>
              <a:rPr sz="1400" dirty="0">
                <a:solidFill>
                  <a:schemeClr val="tx2"/>
                </a:solidFill>
              </a:rPr>
              <a:t>, given the evidence provided by the percept sequence and whatever built-in knowledge the agent has.”</a:t>
            </a:r>
          </a:p>
          <a:p>
            <a:pPr algn="r">
              <a:spcBef>
                <a:spcPts val="600"/>
              </a:spcBef>
            </a:pPr>
            <a:r>
              <a:rPr sz="1000" i="1" dirty="0">
                <a:solidFill>
                  <a:schemeClr val="tx2"/>
                </a:solidFill>
              </a:rPr>
              <a:t>Russell and Norvig, §2.2.2</a:t>
            </a:r>
          </a:p>
        </p:txBody>
      </p:sp>
      <p:pic>
        <p:nvPicPr>
          <p:cNvPr id="5" name="Picture 4">
            <a:extLst>
              <a:ext uri="{FF2B5EF4-FFF2-40B4-BE49-F238E27FC236}">
                <a16:creationId xmlns:a16="http://schemas.microsoft.com/office/drawing/2014/main" id="{A3149399-6203-3D76-9AD7-682FEAD1CC04}"/>
              </a:ext>
            </a:extLst>
          </p:cNvPr>
          <p:cNvPicPr>
            <a:picLocks noChangeAspect="1"/>
          </p:cNvPicPr>
          <p:nvPr/>
        </p:nvPicPr>
        <p:blipFill>
          <a:blip r:embed="rId3"/>
          <a:stretch>
            <a:fillRect/>
          </a:stretch>
        </p:blipFill>
        <p:spPr>
          <a:xfrm>
            <a:off x="319251" y="4124004"/>
            <a:ext cx="5817662" cy="535995"/>
          </a:xfrm>
          <a:prstGeom prst="rect">
            <a:avLst/>
          </a:prstGeom>
        </p:spPr>
      </p:pic>
    </p:spTree>
    <p:extLst>
      <p:ext uri="{BB962C8B-B14F-4D97-AF65-F5344CB8AC3E}">
        <p14:creationId xmlns:p14="http://schemas.microsoft.com/office/powerpoint/2010/main" val="19245073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39DC2-A97F-F424-B1DD-2F3957C414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7A9D2B-9441-2C10-C897-8D9A605E275B}"/>
              </a:ext>
            </a:extLst>
          </p:cNvPr>
          <p:cNvSpPr>
            <a:spLocks noGrp="1"/>
          </p:cNvSpPr>
          <p:nvPr>
            <p:ph type="title"/>
          </p:nvPr>
        </p:nvSpPr>
        <p:spPr/>
        <p:txBody>
          <a:bodyPr/>
          <a:lstStyle/>
          <a:p>
            <a:r>
              <a:t>Rational agents</a:t>
            </a:r>
          </a:p>
        </p:txBody>
      </p:sp>
      <p:sp>
        <p:nvSpPr>
          <p:cNvPr id="3" name="Content Placeholder 2">
            <a:extLst>
              <a:ext uri="{FF2B5EF4-FFF2-40B4-BE49-F238E27FC236}">
                <a16:creationId xmlns:a16="http://schemas.microsoft.com/office/drawing/2014/main" id="{DB2FB549-343A-248E-0D48-8A808BCFB073}"/>
              </a:ext>
            </a:extLst>
          </p:cNvPr>
          <p:cNvSpPr>
            <a:spLocks noGrp="1"/>
          </p:cNvSpPr>
          <p:nvPr>
            <p:ph idx="1"/>
          </p:nvPr>
        </p:nvSpPr>
        <p:spPr>
          <a:xfrm>
            <a:off x="319251" y="2360000"/>
            <a:ext cx="6014545" cy="2300000"/>
          </a:xfrm>
        </p:spPr>
        <p:txBody>
          <a:bodyPr wrap="square"/>
          <a:lstStyle/>
          <a:p>
            <a:pPr marL="0" indent="0">
              <a:buNone/>
            </a:pPr>
            <a:r>
              <a:rPr sz="1500" b="1">
                <a:solidFill>
                  <a:srgbClr val="28285E"/>
                </a:solidFill>
              </a:rPr>
              <a:t>What is rational at any given time depends on four things:</a:t>
            </a:r>
          </a:p>
          <a:p>
            <a:pPr marL="400050" indent="-285750">
              <a:spcAft>
                <a:spcPts val="800"/>
              </a:spcAft>
              <a:buClr>
                <a:srgbClr val="28285E"/>
              </a:buClr>
              <a:buSzPts val="1440"/>
              <a:buFont typeface="Fira Sans"/>
              <a:buChar char="●"/>
            </a:pPr>
            <a:r>
              <a:rPr sz="1600">
                <a:solidFill>
                  <a:srgbClr val="28285E"/>
                </a:solidFill>
              </a:rPr>
              <a:t>The performance measure that defines the criterion of success</a:t>
            </a:r>
          </a:p>
          <a:p>
            <a:pPr marL="400050" indent="-285750">
              <a:spcAft>
                <a:spcPts val="800"/>
              </a:spcAft>
              <a:buClr>
                <a:srgbClr val="28285E"/>
              </a:buClr>
              <a:buSzPts val="1440"/>
              <a:buFont typeface="Fira Sans"/>
              <a:buChar char="●"/>
            </a:pPr>
            <a:r>
              <a:rPr sz="1600">
                <a:solidFill>
                  <a:srgbClr val="28285E"/>
                </a:solidFill>
              </a:rPr>
              <a:t>The agent’s prior knowledge of the environment</a:t>
            </a:r>
          </a:p>
          <a:p>
            <a:pPr marL="400050" indent="-285750">
              <a:spcAft>
                <a:spcPts val="800"/>
              </a:spcAft>
              <a:buClr>
                <a:srgbClr val="28285E"/>
              </a:buClr>
              <a:buSzPts val="1440"/>
              <a:buFont typeface="Fira Sans"/>
              <a:buChar char="●"/>
            </a:pPr>
            <a:r>
              <a:rPr sz="1600">
                <a:solidFill>
                  <a:srgbClr val="28285E"/>
                </a:solidFill>
              </a:rPr>
              <a:t>The actions that the agent can perform</a:t>
            </a:r>
          </a:p>
          <a:p>
            <a:pPr marL="400050" indent="-285750">
              <a:spcAft>
                <a:spcPts val="800"/>
              </a:spcAft>
              <a:buClr>
                <a:srgbClr val="28285E"/>
              </a:buClr>
              <a:buSzPts val="1440"/>
              <a:buFont typeface="Fira Sans"/>
              <a:buChar char="●"/>
            </a:pPr>
            <a:r>
              <a:rPr sz="1600">
                <a:solidFill>
                  <a:srgbClr val="28285E"/>
                </a:solidFill>
              </a:rPr>
              <a:t>The agent’s percept sequence to date</a:t>
            </a:r>
          </a:p>
        </p:txBody>
      </p:sp>
      <p:sp>
        <p:nvSpPr>
          <p:cNvPr id="4" name="Rectangle 3">
            <a:extLst>
              <a:ext uri="{FF2B5EF4-FFF2-40B4-BE49-F238E27FC236}">
                <a16:creationId xmlns:a16="http://schemas.microsoft.com/office/drawing/2014/main" id="{B03F29DC-F17F-F9C8-158D-3B8F0A606FE0}"/>
              </a:ext>
            </a:extLst>
          </p:cNvPr>
          <p:cNvSpPr/>
          <p:nvPr/>
        </p:nvSpPr>
        <p:spPr>
          <a:xfrm>
            <a:off x="319251" y="820000"/>
            <a:ext cx="6014545" cy="13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lnSpc>
                <a:spcPct val="114000"/>
              </a:lnSpc>
            </a:pPr>
            <a:r>
              <a:rPr sz="1400" dirty="0">
                <a:solidFill>
                  <a:schemeClr val="tx2"/>
                </a:solidFill>
              </a:rPr>
              <a:t>“For each possible percept sequence, a </a:t>
            </a:r>
            <a:r>
              <a:rPr sz="1400" b="1" u="sng" dirty="0">
                <a:solidFill>
                  <a:schemeClr val="tx2"/>
                </a:solidFill>
              </a:rPr>
              <a:t>rational agent should select an action that is expected to maximize its performance measure</a:t>
            </a:r>
            <a:r>
              <a:rPr sz="1400" dirty="0">
                <a:solidFill>
                  <a:schemeClr val="tx2"/>
                </a:solidFill>
              </a:rPr>
              <a:t>, given the evidence provided by the percept sequence and whatever built-in knowledge the agent has.”</a:t>
            </a:r>
          </a:p>
          <a:p>
            <a:pPr algn="r">
              <a:spcBef>
                <a:spcPts val="600"/>
              </a:spcBef>
            </a:pPr>
            <a:r>
              <a:rPr sz="1000" i="1" dirty="0">
                <a:solidFill>
                  <a:schemeClr val="tx2"/>
                </a:solidFill>
              </a:rPr>
              <a:t>Russell and Norvig, §2.2.2</a:t>
            </a:r>
          </a:p>
        </p:txBody>
      </p:sp>
    </p:spTree>
    <p:extLst>
      <p:ext uri="{BB962C8B-B14F-4D97-AF65-F5344CB8AC3E}">
        <p14:creationId xmlns:p14="http://schemas.microsoft.com/office/powerpoint/2010/main" val="23791872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Today’s</a:t>
            </a:r>
            <a:r>
              <a:rPr dirty="0"/>
              <a:t> demo agent: mini-swe-agent</a:t>
            </a:r>
          </a:p>
        </p:txBody>
      </p:sp>
      <p:sp>
        <p:nvSpPr>
          <p:cNvPr id="3" name="Rectangle 2"/>
          <p:cNvSpPr/>
          <p:nvPr/>
        </p:nvSpPr>
        <p:spPr>
          <a:xfrm>
            <a:off x="319251" y="730000"/>
            <a:ext cx="6014545" cy="76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lnSpc>
                <a:spcPct val="114000"/>
              </a:lnSpc>
            </a:pPr>
            <a:r>
              <a:rPr sz="1400" dirty="0">
                <a:solidFill>
                  <a:schemeClr val="tx2"/>
                </a:solidFill>
              </a:rPr>
              <a:t>One alert from OWASP BenchmarkPython, read as an issue report. </a:t>
            </a:r>
            <a:r>
              <a:rPr sz="1400" dirty="0">
                <a:solidFill>
                  <a:schemeClr val="tx2"/>
                </a:solidFill>
                <a:latin typeface="Maple Mono NF" panose="020F0509060000000000" pitchFamily="49" charset="0"/>
                <a:ea typeface="Maple Mono NF" panose="020F0509060000000000" pitchFamily="49" charset="0"/>
              </a:rPr>
              <a:t>mini-swe-agent</a:t>
            </a:r>
            <a:r>
              <a:rPr sz="1400" dirty="0">
                <a:solidFill>
                  <a:schemeClr val="tx2"/>
                </a:solidFill>
              </a:rPr>
              <a:t> localizes the flagged code, edits it, and submits a patch. The run ends when the submission is accepted.</a:t>
            </a:r>
          </a:p>
        </p:txBody>
      </p:sp>
      <p:pic>
        <p:nvPicPr>
          <p:cNvPr id="4" name="Picture 3" descr="state-graph.png"/>
          <p:cNvPicPr>
            <a:picLocks noChangeAspect="1"/>
          </p:cNvPicPr>
          <p:nvPr/>
        </p:nvPicPr>
        <p:blipFill>
          <a:blip r:embed="rId3"/>
          <a:stretch>
            <a:fillRect/>
          </a:stretch>
        </p:blipFill>
        <p:spPr>
          <a:xfrm>
            <a:off x="751388" y="1720000"/>
            <a:ext cx="5355225" cy="3290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One alert, one run, one patch</a:t>
            </a:r>
          </a:p>
        </p:txBody>
      </p:sp>
      <p:sp>
        <p:nvSpPr>
          <p:cNvPr id="3" name="TextBox 2"/>
          <p:cNvSpPr txBox="1"/>
          <p:nvPr/>
        </p:nvSpPr>
        <p:spPr>
          <a:xfrm>
            <a:off x="319251" y="630000"/>
            <a:ext cx="6014545" cy="200000"/>
          </a:xfrm>
          <a:prstGeom prst="rect">
            <a:avLst/>
          </a:prstGeom>
          <a:noFill/>
        </p:spPr>
        <p:txBody>
          <a:bodyPr wrap="none">
            <a:spAutoFit/>
          </a:bodyPr>
          <a:lstStyle/>
          <a:p>
            <a:r>
              <a:rPr sz="1200" b="1">
                <a:solidFill>
                  <a:srgbClr val="28285E"/>
                </a:solidFill>
              </a:rPr>
              <a:t>Before: the query is built by interpolation</a:t>
            </a:r>
          </a:p>
        </p:txBody>
      </p:sp>
      <p:sp>
        <p:nvSpPr>
          <p:cNvPr id="4" name="Rounded Rectangle 3"/>
          <p:cNvSpPr/>
          <p:nvPr/>
        </p:nvSpPr>
        <p:spPr>
          <a:xfrm>
            <a:off x="319251" y="89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8A8A9A"/>
                </a:solidFill>
                <a:latin typeface="Maple Mono NF"/>
              </a:rPr>
              <a:t>46  </a:t>
            </a:r>
            <a:r>
              <a:rPr sz="1100">
                <a:solidFill>
                  <a:srgbClr val="28285E"/>
                </a:solidFill>
                <a:latin typeface="Maple Mono NF"/>
              </a:rPr>
              <a:t>sql = f'SELECT username from USERS where password = \'</a:t>
            </a:r>
            <a:r>
              <a:rPr sz="1100" b="1">
                <a:solidFill>
                  <a:srgbClr val="C73561"/>
                </a:solidFill>
                <a:latin typeface="Maple Mono NF"/>
              </a:rPr>
              <a:t>{bar}</a:t>
            </a:r>
            <a:r>
              <a:rPr sz="1100">
                <a:solidFill>
                  <a:srgbClr val="28285E"/>
                </a:solidFill>
                <a:latin typeface="Maple Mono NF"/>
              </a:rPr>
              <a:t>\''</a:t>
            </a:r>
          </a:p>
          <a:p>
            <a:pPr algn="l">
              <a:buNone/>
            </a:pPr>
            <a:r>
              <a:rPr sz="1100">
                <a:solidFill>
                  <a:srgbClr val="8A8A9A"/>
                </a:solidFill>
                <a:latin typeface="Maple Mono NF"/>
              </a:rPr>
              <a:t>49  </a:t>
            </a:r>
            <a:r>
              <a:rPr sz="1100">
                <a:solidFill>
                  <a:srgbClr val="28285E"/>
                </a:solidFill>
                <a:latin typeface="Maple Mono NF"/>
              </a:rPr>
              <a:t>cur.execute(sql)</a:t>
            </a:r>
          </a:p>
        </p:txBody>
      </p:sp>
      <p:pic>
        <p:nvPicPr>
          <p:cNvPr id="5" name="Picture 4" descr="run-compact.png"/>
          <p:cNvPicPr>
            <a:picLocks noChangeAspect="1"/>
          </p:cNvPicPr>
          <p:nvPr/>
        </p:nvPicPr>
        <p:blipFill>
          <a:blip r:embed="rId3"/>
          <a:stretch>
            <a:fillRect/>
          </a:stretch>
        </p:blipFill>
        <p:spPr>
          <a:xfrm>
            <a:off x="229000" y="1470000"/>
            <a:ext cx="6400000" cy="2142227"/>
          </a:xfrm>
          <a:prstGeom prst="rect">
            <a:avLst/>
          </a:prstGeom>
        </p:spPr>
      </p:pic>
      <p:sp>
        <p:nvSpPr>
          <p:cNvPr id="6" name="TextBox 5"/>
          <p:cNvSpPr txBox="1"/>
          <p:nvPr/>
        </p:nvSpPr>
        <p:spPr>
          <a:xfrm>
            <a:off x="319251" y="3620000"/>
            <a:ext cx="6014545" cy="200000"/>
          </a:xfrm>
          <a:prstGeom prst="rect">
            <a:avLst/>
          </a:prstGeom>
          <a:noFill/>
        </p:spPr>
        <p:txBody>
          <a:bodyPr wrap="none">
            <a:spAutoFit/>
          </a:bodyPr>
          <a:lstStyle/>
          <a:p>
            <a:r>
              <a:rPr sz="1200" b="1">
                <a:solidFill>
                  <a:srgbClr val="28285E"/>
                </a:solidFill>
              </a:rPr>
              <a:t>After: the query carries a placeholder and the value is bound</a:t>
            </a:r>
          </a:p>
        </p:txBody>
      </p:sp>
      <p:sp>
        <p:nvSpPr>
          <p:cNvPr id="7" name="Rounded Rectangle 6"/>
          <p:cNvSpPr/>
          <p:nvPr/>
        </p:nvSpPr>
        <p:spPr>
          <a:xfrm>
            <a:off x="319251" y="388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8A8A9A"/>
                </a:solidFill>
                <a:latin typeface="Maple Mono NF"/>
              </a:rPr>
              <a:t>46  </a:t>
            </a:r>
            <a:r>
              <a:rPr sz="1100">
                <a:solidFill>
                  <a:srgbClr val="28285E"/>
                </a:solidFill>
                <a:latin typeface="Maple Mono NF"/>
              </a:rPr>
              <a:t>sql = 'SELECT username from USERS where password = </a:t>
            </a:r>
            <a:r>
              <a:rPr sz="1100" b="1">
                <a:solidFill>
                  <a:srgbClr val="099191"/>
                </a:solidFill>
                <a:latin typeface="Maple Mono NF"/>
              </a:rPr>
              <a:t>?</a:t>
            </a:r>
            <a:r>
              <a:rPr sz="1100">
                <a:solidFill>
                  <a:srgbClr val="28285E"/>
                </a:solidFill>
                <a:latin typeface="Maple Mono NF"/>
              </a:rPr>
              <a:t>'</a:t>
            </a:r>
          </a:p>
          <a:p>
            <a:pPr algn="l">
              <a:buNone/>
            </a:pPr>
            <a:r>
              <a:rPr sz="1100">
                <a:solidFill>
                  <a:srgbClr val="8A8A9A"/>
                </a:solidFill>
                <a:latin typeface="Maple Mono NF"/>
              </a:rPr>
              <a:t>49  </a:t>
            </a:r>
            <a:r>
              <a:rPr sz="1100">
                <a:solidFill>
                  <a:srgbClr val="28285E"/>
                </a:solidFill>
                <a:latin typeface="Maple Mono NF"/>
              </a:rPr>
              <a:t>cur.execute(sql</a:t>
            </a:r>
            <a:r>
              <a:rPr sz="1100" b="1">
                <a:solidFill>
                  <a:srgbClr val="099191"/>
                </a:solidFill>
                <a:latin typeface="Maple Mono NF"/>
              </a:rPr>
              <a:t>, (bar,)</a:t>
            </a:r>
            <a:r>
              <a:rPr sz="1100">
                <a:solidFill>
                  <a:srgbClr val="28285E"/>
                </a:solidFill>
                <a:latin typeface="Maple Mono NF"/>
              </a:rPr>
              <a:t>)</a:t>
            </a:r>
          </a:p>
        </p:txBody>
      </p:sp>
      <p:pic>
        <p:nvPicPr>
          <p:cNvPr id="8" name="Picture 7">
            <a:extLst>
              <a:ext uri="{FF2B5EF4-FFF2-40B4-BE49-F238E27FC236}">
                <a16:creationId xmlns:a16="http://schemas.microsoft.com/office/drawing/2014/main" id="{ED90D19A-F136-4D36-226F-144028D0C364}"/>
              </a:ext>
            </a:extLst>
          </p:cNvPr>
          <p:cNvPicPr>
            <a:picLocks noChangeAspect="1"/>
          </p:cNvPicPr>
          <p:nvPr/>
        </p:nvPicPr>
        <p:blipFill>
          <a:blip r:embed="rId4"/>
          <a:stretch>
            <a:fillRect/>
          </a:stretch>
        </p:blipFill>
        <p:spPr>
          <a:xfrm>
            <a:off x="319250" y="1523500"/>
            <a:ext cx="6262023" cy="31365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CDAF4-D653-E16C-2226-58E316A1C7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E92284-9574-A649-A76C-0FAA125D8C73}"/>
              </a:ext>
            </a:extLst>
          </p:cNvPr>
          <p:cNvSpPr>
            <a:spLocks noGrp="1"/>
          </p:cNvSpPr>
          <p:nvPr>
            <p:ph type="title"/>
          </p:nvPr>
        </p:nvSpPr>
        <p:spPr/>
        <p:txBody>
          <a:bodyPr/>
          <a:lstStyle/>
          <a:p>
            <a:r>
              <a:t>One alert, one run, one patch</a:t>
            </a:r>
          </a:p>
        </p:txBody>
      </p:sp>
      <p:sp>
        <p:nvSpPr>
          <p:cNvPr id="3" name="TextBox 2">
            <a:extLst>
              <a:ext uri="{FF2B5EF4-FFF2-40B4-BE49-F238E27FC236}">
                <a16:creationId xmlns:a16="http://schemas.microsoft.com/office/drawing/2014/main" id="{20879854-C36B-0D97-DCE2-8CA554BDC653}"/>
              </a:ext>
            </a:extLst>
          </p:cNvPr>
          <p:cNvSpPr txBox="1"/>
          <p:nvPr/>
        </p:nvSpPr>
        <p:spPr>
          <a:xfrm>
            <a:off x="319251" y="630000"/>
            <a:ext cx="6014545" cy="200000"/>
          </a:xfrm>
          <a:prstGeom prst="rect">
            <a:avLst/>
          </a:prstGeom>
          <a:noFill/>
        </p:spPr>
        <p:txBody>
          <a:bodyPr wrap="none">
            <a:spAutoFit/>
          </a:bodyPr>
          <a:lstStyle/>
          <a:p>
            <a:r>
              <a:rPr sz="1200" b="1">
                <a:solidFill>
                  <a:srgbClr val="28285E"/>
                </a:solidFill>
              </a:rPr>
              <a:t>Before: the query is built by interpolation</a:t>
            </a:r>
          </a:p>
        </p:txBody>
      </p:sp>
      <p:sp>
        <p:nvSpPr>
          <p:cNvPr id="4" name="Rounded Rectangle 3">
            <a:extLst>
              <a:ext uri="{FF2B5EF4-FFF2-40B4-BE49-F238E27FC236}">
                <a16:creationId xmlns:a16="http://schemas.microsoft.com/office/drawing/2014/main" id="{8DFFFDA6-323C-6B86-434B-2B27163E4CA6}"/>
              </a:ext>
            </a:extLst>
          </p:cNvPr>
          <p:cNvSpPr/>
          <p:nvPr/>
        </p:nvSpPr>
        <p:spPr>
          <a:xfrm>
            <a:off x="319251" y="89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8A8A9A"/>
                </a:solidFill>
                <a:latin typeface="Maple Mono NF"/>
              </a:rPr>
              <a:t>46  </a:t>
            </a:r>
            <a:r>
              <a:rPr sz="1100">
                <a:solidFill>
                  <a:srgbClr val="28285E"/>
                </a:solidFill>
                <a:latin typeface="Maple Mono NF"/>
              </a:rPr>
              <a:t>sql = f'SELECT username from USERS where password = \'</a:t>
            </a:r>
            <a:r>
              <a:rPr sz="1100" b="1">
                <a:solidFill>
                  <a:srgbClr val="C73561"/>
                </a:solidFill>
                <a:latin typeface="Maple Mono NF"/>
              </a:rPr>
              <a:t>{bar}</a:t>
            </a:r>
            <a:r>
              <a:rPr sz="1100">
                <a:solidFill>
                  <a:srgbClr val="28285E"/>
                </a:solidFill>
                <a:latin typeface="Maple Mono NF"/>
              </a:rPr>
              <a:t>\''</a:t>
            </a:r>
          </a:p>
          <a:p>
            <a:pPr algn="l">
              <a:buNone/>
            </a:pPr>
            <a:r>
              <a:rPr sz="1100">
                <a:solidFill>
                  <a:srgbClr val="8A8A9A"/>
                </a:solidFill>
                <a:latin typeface="Maple Mono NF"/>
              </a:rPr>
              <a:t>49  </a:t>
            </a:r>
            <a:r>
              <a:rPr sz="1100">
                <a:solidFill>
                  <a:srgbClr val="28285E"/>
                </a:solidFill>
                <a:latin typeface="Maple Mono NF"/>
              </a:rPr>
              <a:t>cur.execute(sql)</a:t>
            </a:r>
          </a:p>
        </p:txBody>
      </p:sp>
      <p:pic>
        <p:nvPicPr>
          <p:cNvPr id="5" name="Picture 4" descr="run-compact.png">
            <a:extLst>
              <a:ext uri="{FF2B5EF4-FFF2-40B4-BE49-F238E27FC236}">
                <a16:creationId xmlns:a16="http://schemas.microsoft.com/office/drawing/2014/main" id="{CE69AFB6-7AD0-E6D2-4E3C-19B1C952EBDB}"/>
              </a:ext>
            </a:extLst>
          </p:cNvPr>
          <p:cNvPicPr>
            <a:picLocks noChangeAspect="1"/>
          </p:cNvPicPr>
          <p:nvPr/>
        </p:nvPicPr>
        <p:blipFill>
          <a:blip r:embed="rId3"/>
          <a:stretch>
            <a:fillRect/>
          </a:stretch>
        </p:blipFill>
        <p:spPr>
          <a:xfrm>
            <a:off x="229000" y="1470000"/>
            <a:ext cx="6400000" cy="2142227"/>
          </a:xfrm>
          <a:prstGeom prst="rect">
            <a:avLst/>
          </a:prstGeom>
        </p:spPr>
      </p:pic>
      <p:sp>
        <p:nvSpPr>
          <p:cNvPr id="6" name="TextBox 5">
            <a:extLst>
              <a:ext uri="{FF2B5EF4-FFF2-40B4-BE49-F238E27FC236}">
                <a16:creationId xmlns:a16="http://schemas.microsoft.com/office/drawing/2014/main" id="{C8491430-D5DB-F690-7914-099816052A81}"/>
              </a:ext>
            </a:extLst>
          </p:cNvPr>
          <p:cNvSpPr txBox="1"/>
          <p:nvPr/>
        </p:nvSpPr>
        <p:spPr>
          <a:xfrm>
            <a:off x="319251" y="3620000"/>
            <a:ext cx="6014545" cy="200000"/>
          </a:xfrm>
          <a:prstGeom prst="rect">
            <a:avLst/>
          </a:prstGeom>
          <a:noFill/>
        </p:spPr>
        <p:txBody>
          <a:bodyPr wrap="none">
            <a:spAutoFit/>
          </a:bodyPr>
          <a:lstStyle/>
          <a:p>
            <a:r>
              <a:rPr sz="1200" b="1">
                <a:solidFill>
                  <a:srgbClr val="28285E"/>
                </a:solidFill>
              </a:rPr>
              <a:t>After: the query carries a placeholder and the value is bound</a:t>
            </a:r>
          </a:p>
        </p:txBody>
      </p:sp>
      <p:sp>
        <p:nvSpPr>
          <p:cNvPr id="7" name="Rounded Rectangle 6">
            <a:extLst>
              <a:ext uri="{FF2B5EF4-FFF2-40B4-BE49-F238E27FC236}">
                <a16:creationId xmlns:a16="http://schemas.microsoft.com/office/drawing/2014/main" id="{FA201AD5-BC61-A950-867F-378D12B345B8}"/>
              </a:ext>
            </a:extLst>
          </p:cNvPr>
          <p:cNvSpPr/>
          <p:nvPr/>
        </p:nvSpPr>
        <p:spPr>
          <a:xfrm>
            <a:off x="319251" y="388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8A8A9A"/>
                </a:solidFill>
                <a:latin typeface="Maple Mono NF"/>
              </a:rPr>
              <a:t>46  </a:t>
            </a:r>
            <a:r>
              <a:rPr sz="1100">
                <a:solidFill>
                  <a:srgbClr val="28285E"/>
                </a:solidFill>
                <a:latin typeface="Maple Mono NF"/>
              </a:rPr>
              <a:t>sql = 'SELECT username from USERS where password = </a:t>
            </a:r>
            <a:r>
              <a:rPr sz="1100" b="1">
                <a:solidFill>
                  <a:srgbClr val="099191"/>
                </a:solidFill>
                <a:latin typeface="Maple Mono NF"/>
              </a:rPr>
              <a:t>?</a:t>
            </a:r>
            <a:r>
              <a:rPr sz="1100">
                <a:solidFill>
                  <a:srgbClr val="28285E"/>
                </a:solidFill>
                <a:latin typeface="Maple Mono NF"/>
              </a:rPr>
              <a:t>'</a:t>
            </a:r>
          </a:p>
          <a:p>
            <a:pPr algn="l">
              <a:buNone/>
            </a:pPr>
            <a:r>
              <a:rPr sz="1100">
                <a:solidFill>
                  <a:srgbClr val="8A8A9A"/>
                </a:solidFill>
                <a:latin typeface="Maple Mono NF"/>
              </a:rPr>
              <a:t>49  </a:t>
            </a:r>
            <a:r>
              <a:rPr sz="1100">
                <a:solidFill>
                  <a:srgbClr val="28285E"/>
                </a:solidFill>
                <a:latin typeface="Maple Mono NF"/>
              </a:rPr>
              <a:t>cur.execute(sql</a:t>
            </a:r>
            <a:r>
              <a:rPr sz="1100" b="1">
                <a:solidFill>
                  <a:srgbClr val="099191"/>
                </a:solidFill>
                <a:latin typeface="Maple Mono NF"/>
              </a:rPr>
              <a:t>, (bar,)</a:t>
            </a:r>
            <a:r>
              <a:rPr sz="1100">
                <a:solidFill>
                  <a:srgbClr val="28285E"/>
                </a:solidFill>
                <a:latin typeface="Maple Mono NF"/>
              </a:rPr>
              <a:t>)</a:t>
            </a:r>
          </a:p>
        </p:txBody>
      </p:sp>
      <p:pic>
        <p:nvPicPr>
          <p:cNvPr id="8" name="Picture 7">
            <a:extLst>
              <a:ext uri="{FF2B5EF4-FFF2-40B4-BE49-F238E27FC236}">
                <a16:creationId xmlns:a16="http://schemas.microsoft.com/office/drawing/2014/main" id="{0600FCAD-566B-67C6-C2A9-F285DD1ED8C2}"/>
              </a:ext>
            </a:extLst>
          </p:cNvPr>
          <p:cNvPicPr>
            <a:picLocks noChangeAspect="1"/>
          </p:cNvPicPr>
          <p:nvPr/>
        </p:nvPicPr>
        <p:blipFill>
          <a:blip r:embed="rId4"/>
          <a:stretch>
            <a:fillRect/>
          </a:stretch>
        </p:blipFill>
        <p:spPr>
          <a:xfrm>
            <a:off x="319250" y="3620000"/>
            <a:ext cx="6262023" cy="1040000"/>
          </a:xfrm>
          <a:prstGeom prst="rect">
            <a:avLst/>
          </a:prstGeom>
        </p:spPr>
      </p:pic>
    </p:spTree>
    <p:extLst>
      <p:ext uri="{BB962C8B-B14F-4D97-AF65-F5344CB8AC3E}">
        <p14:creationId xmlns:p14="http://schemas.microsoft.com/office/powerpoint/2010/main" val="39942036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1F46C-58C7-87CD-19D7-E12A29E56F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770F5A-B9C7-C804-4BD8-1A54B9DC1C20}"/>
              </a:ext>
            </a:extLst>
          </p:cNvPr>
          <p:cNvSpPr>
            <a:spLocks noGrp="1"/>
          </p:cNvSpPr>
          <p:nvPr>
            <p:ph type="title"/>
          </p:nvPr>
        </p:nvSpPr>
        <p:spPr/>
        <p:txBody>
          <a:bodyPr/>
          <a:lstStyle/>
          <a:p>
            <a:r>
              <a:t>One alert, one run, one patch</a:t>
            </a:r>
          </a:p>
        </p:txBody>
      </p:sp>
      <p:sp>
        <p:nvSpPr>
          <p:cNvPr id="3" name="TextBox 2">
            <a:extLst>
              <a:ext uri="{FF2B5EF4-FFF2-40B4-BE49-F238E27FC236}">
                <a16:creationId xmlns:a16="http://schemas.microsoft.com/office/drawing/2014/main" id="{7B8D182C-D707-89F0-C3D2-48CBE38300BF}"/>
              </a:ext>
            </a:extLst>
          </p:cNvPr>
          <p:cNvSpPr txBox="1"/>
          <p:nvPr/>
        </p:nvSpPr>
        <p:spPr>
          <a:xfrm>
            <a:off x="319251" y="630000"/>
            <a:ext cx="6014545" cy="200000"/>
          </a:xfrm>
          <a:prstGeom prst="rect">
            <a:avLst/>
          </a:prstGeom>
          <a:noFill/>
        </p:spPr>
        <p:txBody>
          <a:bodyPr wrap="none">
            <a:spAutoFit/>
          </a:bodyPr>
          <a:lstStyle/>
          <a:p>
            <a:r>
              <a:rPr sz="1200" b="1">
                <a:solidFill>
                  <a:srgbClr val="28285E"/>
                </a:solidFill>
              </a:rPr>
              <a:t>Before: the query is built by interpolation</a:t>
            </a:r>
          </a:p>
        </p:txBody>
      </p:sp>
      <p:sp>
        <p:nvSpPr>
          <p:cNvPr id="4" name="Rounded Rectangle 3">
            <a:extLst>
              <a:ext uri="{FF2B5EF4-FFF2-40B4-BE49-F238E27FC236}">
                <a16:creationId xmlns:a16="http://schemas.microsoft.com/office/drawing/2014/main" id="{AEB4359E-3C07-3C6C-7618-37556A131D16}"/>
              </a:ext>
            </a:extLst>
          </p:cNvPr>
          <p:cNvSpPr/>
          <p:nvPr/>
        </p:nvSpPr>
        <p:spPr>
          <a:xfrm>
            <a:off x="319251" y="89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8A8A9A"/>
                </a:solidFill>
                <a:latin typeface="Maple Mono NF"/>
              </a:rPr>
              <a:t>46  </a:t>
            </a:r>
            <a:r>
              <a:rPr sz="1100">
                <a:solidFill>
                  <a:srgbClr val="28285E"/>
                </a:solidFill>
                <a:latin typeface="Maple Mono NF"/>
              </a:rPr>
              <a:t>sql = f'SELECT username from USERS where password = \'</a:t>
            </a:r>
            <a:r>
              <a:rPr sz="1100" b="1">
                <a:solidFill>
                  <a:srgbClr val="C73561"/>
                </a:solidFill>
                <a:latin typeface="Maple Mono NF"/>
              </a:rPr>
              <a:t>{bar}</a:t>
            </a:r>
            <a:r>
              <a:rPr sz="1100">
                <a:solidFill>
                  <a:srgbClr val="28285E"/>
                </a:solidFill>
                <a:latin typeface="Maple Mono NF"/>
              </a:rPr>
              <a:t>\''</a:t>
            </a:r>
          </a:p>
          <a:p>
            <a:pPr algn="l">
              <a:buNone/>
            </a:pPr>
            <a:r>
              <a:rPr sz="1100">
                <a:solidFill>
                  <a:srgbClr val="8A8A9A"/>
                </a:solidFill>
                <a:latin typeface="Maple Mono NF"/>
              </a:rPr>
              <a:t>49  </a:t>
            </a:r>
            <a:r>
              <a:rPr sz="1100">
                <a:solidFill>
                  <a:srgbClr val="28285E"/>
                </a:solidFill>
                <a:latin typeface="Maple Mono NF"/>
              </a:rPr>
              <a:t>cur.execute(sql)</a:t>
            </a:r>
          </a:p>
        </p:txBody>
      </p:sp>
      <p:pic>
        <p:nvPicPr>
          <p:cNvPr id="5" name="Picture 4" descr="run-compact.png">
            <a:extLst>
              <a:ext uri="{FF2B5EF4-FFF2-40B4-BE49-F238E27FC236}">
                <a16:creationId xmlns:a16="http://schemas.microsoft.com/office/drawing/2014/main" id="{62168AF8-D6F9-44FE-F52D-1BC9534773D5}"/>
              </a:ext>
            </a:extLst>
          </p:cNvPr>
          <p:cNvPicPr>
            <a:picLocks noChangeAspect="1"/>
          </p:cNvPicPr>
          <p:nvPr/>
        </p:nvPicPr>
        <p:blipFill>
          <a:blip r:embed="rId3"/>
          <a:stretch>
            <a:fillRect/>
          </a:stretch>
        </p:blipFill>
        <p:spPr>
          <a:xfrm>
            <a:off x="229000" y="1470000"/>
            <a:ext cx="6400000" cy="2142227"/>
          </a:xfrm>
          <a:prstGeom prst="rect">
            <a:avLst/>
          </a:prstGeom>
        </p:spPr>
      </p:pic>
      <p:sp>
        <p:nvSpPr>
          <p:cNvPr id="6" name="TextBox 5">
            <a:extLst>
              <a:ext uri="{FF2B5EF4-FFF2-40B4-BE49-F238E27FC236}">
                <a16:creationId xmlns:a16="http://schemas.microsoft.com/office/drawing/2014/main" id="{C796C530-A1EF-67F4-A102-3F64FC9FBCF6}"/>
              </a:ext>
            </a:extLst>
          </p:cNvPr>
          <p:cNvSpPr txBox="1"/>
          <p:nvPr/>
        </p:nvSpPr>
        <p:spPr>
          <a:xfrm>
            <a:off x="319251" y="3620000"/>
            <a:ext cx="6014545" cy="200000"/>
          </a:xfrm>
          <a:prstGeom prst="rect">
            <a:avLst/>
          </a:prstGeom>
          <a:noFill/>
        </p:spPr>
        <p:txBody>
          <a:bodyPr wrap="none">
            <a:spAutoFit/>
          </a:bodyPr>
          <a:lstStyle/>
          <a:p>
            <a:r>
              <a:rPr sz="1200" b="1">
                <a:solidFill>
                  <a:srgbClr val="28285E"/>
                </a:solidFill>
              </a:rPr>
              <a:t>After: the query carries a placeholder and the value is bound</a:t>
            </a:r>
          </a:p>
        </p:txBody>
      </p:sp>
      <p:sp>
        <p:nvSpPr>
          <p:cNvPr id="7" name="Rounded Rectangle 6">
            <a:extLst>
              <a:ext uri="{FF2B5EF4-FFF2-40B4-BE49-F238E27FC236}">
                <a16:creationId xmlns:a16="http://schemas.microsoft.com/office/drawing/2014/main" id="{A33C4AA1-4570-8BA5-A26C-99C5F91EF42D}"/>
              </a:ext>
            </a:extLst>
          </p:cNvPr>
          <p:cNvSpPr/>
          <p:nvPr/>
        </p:nvSpPr>
        <p:spPr>
          <a:xfrm>
            <a:off x="319251" y="388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8A8A9A"/>
                </a:solidFill>
                <a:latin typeface="Maple Mono NF"/>
              </a:rPr>
              <a:t>46  </a:t>
            </a:r>
            <a:r>
              <a:rPr sz="1100">
                <a:solidFill>
                  <a:srgbClr val="28285E"/>
                </a:solidFill>
                <a:latin typeface="Maple Mono NF"/>
              </a:rPr>
              <a:t>sql = 'SELECT username from USERS where password = </a:t>
            </a:r>
            <a:r>
              <a:rPr sz="1100" b="1">
                <a:solidFill>
                  <a:srgbClr val="099191"/>
                </a:solidFill>
                <a:latin typeface="Maple Mono NF"/>
              </a:rPr>
              <a:t>?</a:t>
            </a:r>
            <a:r>
              <a:rPr sz="1100">
                <a:solidFill>
                  <a:srgbClr val="28285E"/>
                </a:solidFill>
                <a:latin typeface="Maple Mono NF"/>
              </a:rPr>
              <a:t>'</a:t>
            </a:r>
          </a:p>
          <a:p>
            <a:pPr algn="l">
              <a:buNone/>
            </a:pPr>
            <a:r>
              <a:rPr sz="1100">
                <a:solidFill>
                  <a:srgbClr val="8A8A9A"/>
                </a:solidFill>
                <a:latin typeface="Maple Mono NF"/>
              </a:rPr>
              <a:t>49  </a:t>
            </a:r>
            <a:r>
              <a:rPr sz="1100">
                <a:solidFill>
                  <a:srgbClr val="28285E"/>
                </a:solidFill>
                <a:latin typeface="Maple Mono NF"/>
              </a:rPr>
              <a:t>cur.execute(sql</a:t>
            </a:r>
            <a:r>
              <a:rPr sz="1100" b="1">
                <a:solidFill>
                  <a:srgbClr val="099191"/>
                </a:solidFill>
                <a:latin typeface="Maple Mono NF"/>
              </a:rPr>
              <a:t>, (bar,)</a:t>
            </a:r>
            <a:r>
              <a:rPr sz="1100">
                <a:solidFill>
                  <a:srgbClr val="28285E"/>
                </a:solidFill>
                <a:latin typeface="Maple Mono NF"/>
              </a:rPr>
              <a:t>)</a:t>
            </a:r>
          </a:p>
        </p:txBody>
      </p:sp>
    </p:spTree>
    <p:extLst>
      <p:ext uri="{BB962C8B-B14F-4D97-AF65-F5344CB8AC3E}">
        <p14:creationId xmlns:p14="http://schemas.microsoft.com/office/powerpoint/2010/main" val="41348560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this is a rational agent</a:t>
            </a:r>
          </a:p>
        </p:txBody>
      </p:sp>
      <p:sp>
        <p:nvSpPr>
          <p:cNvPr id="3" name="Content Placeholder 2"/>
          <p:cNvSpPr>
            <a:spLocks noGrp="1"/>
          </p:cNvSpPr>
          <p:nvPr>
            <p:ph idx="1"/>
          </p:nvPr>
        </p:nvSpPr>
        <p:spPr>
          <a:xfrm>
            <a:off x="319251" y="740000"/>
            <a:ext cx="6014545" cy="2700000"/>
          </a:xfrm>
        </p:spPr>
        <p:txBody>
          <a:bodyPr wrap="square"/>
          <a:lstStyle/>
          <a:p>
            <a:pPr marL="0" indent="0">
              <a:buNone/>
            </a:pPr>
            <a:r>
              <a:rPr sz="1400" b="1" dirty="0">
                <a:solidFill>
                  <a:srgbClr val="28285E"/>
                </a:solidFill>
              </a:rPr>
              <a:t>It is rational</a:t>
            </a:r>
            <a:r>
              <a:rPr lang="en-US" b="1" dirty="0">
                <a:solidFill>
                  <a:srgbClr val="28285E"/>
                </a:solidFill>
              </a:rPr>
              <a:t> </a:t>
            </a:r>
            <a:r>
              <a:rPr sz="1400" b="1" dirty="0">
                <a:solidFill>
                  <a:srgbClr val="28285E"/>
                </a:solidFill>
              </a:rPr>
              <a:t>given four things:</a:t>
            </a:r>
          </a:p>
          <a:p>
            <a:pPr marL="400050" indent="-285750">
              <a:spcAft>
                <a:spcPts val="700"/>
              </a:spcAft>
              <a:buClr>
                <a:srgbClr val="28285E"/>
              </a:buClr>
              <a:buSzPts val="1260"/>
              <a:buFont typeface="Fira Sans"/>
              <a:buChar char="●"/>
            </a:pPr>
            <a:r>
              <a:rPr sz="1400" b="1" dirty="0">
                <a:solidFill>
                  <a:srgbClr val="28285E"/>
                </a:solidFill>
              </a:rPr>
              <a:t>The performance measure:</a:t>
            </a:r>
            <a:r>
              <a:rPr sz="1400" dirty="0">
                <a:solidFill>
                  <a:srgbClr val="28285E"/>
                </a:solidFill>
              </a:rPr>
              <a:t> one point if the patch removes the reported weakness and leaves the endpoint behaving as it did</a:t>
            </a:r>
          </a:p>
          <a:p>
            <a:pPr marL="400050" indent="-285750">
              <a:spcAft>
                <a:spcPts val="700"/>
              </a:spcAft>
              <a:buClr>
                <a:srgbClr val="28285E"/>
              </a:buClr>
              <a:buSzPts val="1260"/>
              <a:buFont typeface="Fira Sans"/>
              <a:buChar char="●"/>
            </a:pPr>
            <a:r>
              <a:rPr lang="en-US" sz="1400" b="1" dirty="0">
                <a:solidFill>
                  <a:srgbClr val="28285E"/>
                </a:solidFill>
              </a:rPr>
              <a:t>Prior knowledge:</a:t>
            </a:r>
            <a:r>
              <a:rPr lang="en-US" sz="1400" dirty="0">
                <a:solidFill>
                  <a:srgbClr val="28285E"/>
                </a:solidFill>
              </a:rPr>
              <a:t> the application's layout, and what each tool </a:t>
            </a:r>
            <a:r>
              <a:rPr sz="1400" dirty="0">
                <a:solidFill>
                  <a:srgbClr val="28285E"/>
                </a:solidFill>
              </a:rPr>
              <a:t>returns</a:t>
            </a:r>
          </a:p>
          <a:p>
            <a:pPr marL="400050" indent="-285750">
              <a:spcAft>
                <a:spcPts val="700"/>
              </a:spcAft>
              <a:buClr>
                <a:srgbClr val="28285E"/>
              </a:buClr>
              <a:buSzPts val="1260"/>
              <a:buFont typeface="Fira Sans"/>
              <a:buChar char="●"/>
            </a:pPr>
            <a:r>
              <a:rPr sz="1400" b="1" dirty="0">
                <a:solidFill>
                  <a:srgbClr val="28285E"/>
                </a:solidFill>
              </a:rPr>
              <a:t>The actions available:</a:t>
            </a:r>
            <a:r>
              <a:rPr sz="1400" dirty="0">
                <a:solidFill>
                  <a:srgbClr val="28285E"/>
                </a:solidFill>
              </a:rPr>
              <a:t> read_file, search, edit, submit</a:t>
            </a:r>
          </a:p>
          <a:p>
            <a:pPr marL="400050" indent="-285750">
              <a:spcAft>
                <a:spcPts val="700"/>
              </a:spcAft>
              <a:buClr>
                <a:srgbClr val="28285E"/>
              </a:buClr>
              <a:buSzPts val="1260"/>
              <a:buFont typeface="Fira Sans"/>
              <a:buChar char="●"/>
            </a:pPr>
            <a:r>
              <a:rPr sz="1400" b="1" dirty="0">
                <a:solidFill>
                  <a:srgbClr val="28285E"/>
                </a:solidFill>
              </a:rPr>
              <a:t>The percepts:</a:t>
            </a:r>
            <a:r>
              <a:rPr sz="1400" dirty="0">
                <a:solidFill>
                  <a:srgbClr val="28285E"/>
                </a:solidFill>
              </a:rPr>
              <a:t> whatever the tools return, and nothing else</a:t>
            </a:r>
          </a:p>
        </p:txBody>
      </p:sp>
      <p:sp>
        <p:nvSpPr>
          <p:cNvPr id="4" name="Rectangle 3"/>
          <p:cNvSpPr/>
          <p:nvPr/>
        </p:nvSpPr>
        <p:spPr>
          <a:xfrm>
            <a:off x="319251" y="3297836"/>
            <a:ext cx="6014545" cy="822164"/>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400" b="0" u="none" dirty="0">
                <a:solidFill>
                  <a:schemeClr val="tx2"/>
                </a:solidFill>
              </a:rPr>
              <a:t>Reading the flagged lines before editing them is the action that </a:t>
            </a:r>
            <a:r>
              <a:rPr sz="1400" b="1" u="sng" dirty="0">
                <a:solidFill>
                  <a:schemeClr val="tx2"/>
                </a:solidFill>
              </a:rPr>
              <a:t>maximizes expected performance</a:t>
            </a:r>
            <a:r>
              <a:rPr sz="1400" b="0" u="none" dirty="0">
                <a:solidFill>
                  <a:schemeClr val="tx2"/>
                </a:solidFill>
              </a:rPr>
              <a:t>. </a:t>
            </a:r>
          </a:p>
        </p:txBody>
      </p:sp>
      <p:sp>
        <p:nvSpPr>
          <p:cNvPr id="5" name="Rectangle 4"/>
          <p:cNvSpPr/>
          <p:nvPr/>
        </p:nvSpPr>
        <p:spPr>
          <a:xfrm>
            <a:off x="319251" y="42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dirty="0">
                <a:solidFill>
                  <a:srgbClr val="28285E"/>
                </a:solidFill>
              </a:rPr>
              <a:t>Rationality is relative to </a:t>
            </a:r>
            <a:r>
              <a:rPr sz="1200" b="1">
                <a:solidFill>
                  <a:srgbClr val="28285E"/>
                </a:solidFill>
              </a:rPr>
              <a:t>those four</a:t>
            </a:r>
            <a:r>
              <a:rPr lang="en-US" sz="1200" b="1">
                <a:solidFill>
                  <a:srgbClr val="28285E"/>
                </a:solidFill>
              </a:rPr>
              <a:t>!</a:t>
            </a:r>
            <a:endParaRPr sz="1200" b="1" dirty="0">
              <a:solidFill>
                <a:srgbClr val="28285E"/>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When it is not</a:t>
            </a:r>
          </a:p>
        </p:txBody>
      </p:sp>
      <p:sp>
        <p:nvSpPr>
          <p:cNvPr id="3" name="Content Placeholder 2"/>
          <p:cNvSpPr>
            <a:spLocks noGrp="1"/>
          </p:cNvSpPr>
          <p:nvPr>
            <p:ph idx="1"/>
          </p:nvPr>
        </p:nvSpPr>
        <p:spPr>
          <a:xfrm>
            <a:off x="319251" y="700000"/>
            <a:ext cx="6014545" cy="2900000"/>
          </a:xfrm>
        </p:spPr>
        <p:txBody>
          <a:bodyPr wrap="square">
            <a:normAutofit fontScale="92500"/>
          </a:bodyPr>
          <a:lstStyle/>
          <a:p>
            <a:pPr marL="0" indent="0">
              <a:buNone/>
            </a:pPr>
            <a:r>
              <a:rPr lang="en-US" sz="1400" b="1" dirty="0">
                <a:solidFill>
                  <a:srgbClr val="28285E"/>
                </a:solidFill>
              </a:rPr>
              <a:t>Circumstances </a:t>
            </a:r>
            <a:r>
              <a:rPr lang="en-US" b="1" dirty="0">
                <a:solidFill>
                  <a:srgbClr val="28285E"/>
                </a:solidFill>
              </a:rPr>
              <a:t>under which the agent </a:t>
            </a:r>
            <a:r>
              <a:rPr sz="1400" b="1" dirty="0">
                <a:solidFill>
                  <a:srgbClr val="28285E"/>
                </a:solidFill>
              </a:rPr>
              <a:t>stops being rational:</a:t>
            </a:r>
          </a:p>
          <a:p>
            <a:pPr marL="400050" indent="-285750">
              <a:spcBef>
                <a:spcPts val="600"/>
              </a:spcBef>
              <a:spcAft>
                <a:spcPts val="800"/>
              </a:spcAft>
              <a:buClr>
                <a:srgbClr val="28285E"/>
              </a:buClr>
              <a:buSzPts val="1260"/>
              <a:buFont typeface="Fira Sans"/>
              <a:buChar char="●"/>
            </a:pPr>
            <a:r>
              <a:rPr sz="1400" b="1" dirty="0"/>
              <a:t>Optimizing per tool call</a:t>
            </a:r>
            <a:r>
              <a:rPr sz="1400" dirty="0"/>
              <a:t>, and an agent that reads whole files fares poorly. A better agent reads the smallest range that answers its question </a:t>
            </a:r>
            <a:r>
              <a:rPr sz="1400" b="1" dirty="0">
                <a:solidFill>
                  <a:srgbClr val="C73561"/>
                </a:solidFill>
              </a:rPr>
              <a:t>(becomes relevant when we build better tools)</a:t>
            </a:r>
            <a:endParaRPr sz="1400" b="1" dirty="0">
              <a:solidFill>
                <a:schemeClr val="accent4"/>
              </a:solidFill>
            </a:endParaRPr>
          </a:p>
          <a:p>
            <a:pPr marL="400050" indent="-285750">
              <a:spcAft>
                <a:spcPts val="800"/>
              </a:spcAft>
              <a:buClr>
                <a:srgbClr val="28285E"/>
              </a:buClr>
              <a:buSzPts val="1260"/>
              <a:buFont typeface="Fira Sans"/>
              <a:buChar char="●"/>
            </a:pPr>
            <a:r>
              <a:rPr sz="1400" dirty="0">
                <a:solidFill>
                  <a:schemeClr val="tx1"/>
                </a:solidFill>
              </a:rPr>
              <a:t>Patch only the flagged line and the weakness survives, because the unsafe value arrives from a helper the alert never names. A better agent follows the value first.</a:t>
            </a:r>
            <a:r>
              <a:rPr sz="1400" b="1" dirty="0">
                <a:solidFill>
                  <a:srgbClr val="C73561"/>
                </a:solidFill>
              </a:rPr>
              <a:t>(becomes relevant when we add a planner)</a:t>
            </a:r>
          </a:p>
          <a:p>
            <a:pPr marL="400050" indent="-285750">
              <a:spcAft>
                <a:spcPts val="800"/>
              </a:spcAft>
              <a:buClr>
                <a:srgbClr val="28285E"/>
              </a:buClr>
              <a:buSzPts val="1260"/>
              <a:buFont typeface="Fira Sans"/>
              <a:buChar char="●"/>
            </a:pPr>
            <a:r>
              <a:rPr sz="1400" dirty="0"/>
              <a:t>Keep editing after the submission is accepted, and every further call risks breaking behavior </a:t>
            </a:r>
            <a:r>
              <a:rPr sz="1400" b="1" dirty="0">
                <a:solidFill>
                  <a:srgbClr val="C73561"/>
                </a:solidFill>
              </a:rPr>
              <a:t>(becomes relevant when the runtime owns termination)</a:t>
            </a:r>
          </a:p>
        </p:txBody>
      </p:sp>
      <p:sp>
        <p:nvSpPr>
          <p:cNvPr id="4" name="Rectangle 3"/>
          <p:cNvSpPr/>
          <p:nvPr/>
        </p:nvSpPr>
        <p:spPr>
          <a:xfrm>
            <a:off x="319251" y="3620000"/>
            <a:ext cx="6014545" cy="62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400" b="0">
                <a:solidFill>
                  <a:schemeClr val="tx2"/>
                </a:solidFill>
              </a:rPr>
              <a:t>Budget, depth of investigation, and termination are the three we turn into decisions: the loop gets a </a:t>
            </a:r>
            <a:r>
              <a:rPr sz="1400" b="1">
                <a:solidFill>
                  <a:schemeClr val="tx2"/>
                </a:solidFill>
              </a:rPr>
              <a:t>budget</a:t>
            </a:r>
            <a:r>
              <a:rPr sz="1400" b="0">
                <a:solidFill>
                  <a:schemeClr val="tx2"/>
                </a:solidFill>
              </a:rPr>
              <a:t>, the planner sets the </a:t>
            </a:r>
            <a:r>
              <a:rPr sz="1400" b="1">
                <a:solidFill>
                  <a:schemeClr val="tx2"/>
                </a:solidFill>
              </a:rPr>
              <a:t>depth</a:t>
            </a:r>
            <a:r>
              <a:rPr sz="1400" b="0">
                <a:solidFill>
                  <a:schemeClr val="tx2"/>
                </a:solidFill>
              </a:rPr>
              <a:t>, and the runtime owns the </a:t>
            </a:r>
            <a:r>
              <a:rPr sz="1400" b="1">
                <a:solidFill>
                  <a:schemeClr val="tx2"/>
                </a:solidFill>
              </a:rPr>
              <a:t>ending</a:t>
            </a:r>
            <a:r>
              <a:rPr sz="1400" b="0">
                <a:solidFill>
                  <a:schemeClr val="tx2"/>
                </a:solidFill>
              </a:rPr>
              <a:t>.</a:t>
            </a:r>
          </a:p>
        </p:txBody>
      </p:sp>
      <p:sp>
        <p:nvSpPr>
          <p:cNvPr id="5" name="Rectangle 4"/>
          <p:cNvSpPr/>
          <p:nvPr/>
        </p:nvSpPr>
        <p:spPr>
          <a:xfrm>
            <a:off x="319251" y="43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rgbClr val="28285E"/>
                </a:solidFill>
              </a:rPr>
              <a:t>And the Submit state checks less than the measure asks:</a:t>
            </a:r>
            <a:r>
              <a:rPr sz="1200" b="1" dirty="0">
                <a:solidFill>
                  <a:srgbClr val="28285E"/>
                </a:solidFill>
              </a:rPr>
              <a:t> </a:t>
            </a:r>
            <a:r>
              <a:rPr lang="en-US" sz="1200" b="1" dirty="0">
                <a:solidFill>
                  <a:srgbClr val="28285E"/>
                </a:solidFill>
              </a:rPr>
              <a:t>A</a:t>
            </a:r>
            <a:r>
              <a:rPr sz="1200" b="1" dirty="0">
                <a:solidFill>
                  <a:srgbClr val="28285E"/>
                </a:solidFill>
              </a:rPr>
              <a:t>ccepted is not </a:t>
            </a:r>
            <a:r>
              <a:rPr lang="en-US" sz="1200" b="1" dirty="0">
                <a:solidFill>
                  <a:srgbClr val="28285E"/>
                </a:solidFill>
              </a:rPr>
              <a:t>C</a:t>
            </a:r>
            <a:r>
              <a:rPr sz="1200" b="1" dirty="0">
                <a:solidFill>
                  <a:srgbClr val="28285E"/>
                </a:solidFill>
              </a:rPr>
              <a:t>orrect.</a:t>
            </a:r>
          </a:p>
        </p:txBody>
      </p:sp>
      <p:pic>
        <p:nvPicPr>
          <p:cNvPr id="6" name="Picture 5">
            <a:extLst>
              <a:ext uri="{FF2B5EF4-FFF2-40B4-BE49-F238E27FC236}">
                <a16:creationId xmlns:a16="http://schemas.microsoft.com/office/drawing/2014/main" id="{B318EB57-17C4-281D-DE2F-1BC3A6C3F0B3}"/>
              </a:ext>
            </a:extLst>
          </p:cNvPr>
          <p:cNvPicPr>
            <a:picLocks noChangeAspect="1"/>
          </p:cNvPicPr>
          <p:nvPr/>
        </p:nvPicPr>
        <p:blipFill>
          <a:blip r:embed="rId3"/>
          <a:stretch>
            <a:fillRect/>
          </a:stretch>
        </p:blipFill>
        <p:spPr>
          <a:xfrm>
            <a:off x="265106" y="1840831"/>
            <a:ext cx="6262023" cy="3031957"/>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3E9AD-F56E-6ACD-D1CB-8FA928727E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77BBD8-EDCC-5EEB-0406-D7CCB060137A}"/>
              </a:ext>
            </a:extLst>
          </p:cNvPr>
          <p:cNvSpPr>
            <a:spLocks noGrp="1"/>
          </p:cNvSpPr>
          <p:nvPr>
            <p:ph type="title"/>
          </p:nvPr>
        </p:nvSpPr>
        <p:spPr/>
        <p:txBody>
          <a:bodyPr/>
          <a:lstStyle/>
          <a:p>
            <a:r>
              <a:t>When it is not</a:t>
            </a:r>
          </a:p>
        </p:txBody>
      </p:sp>
      <p:sp>
        <p:nvSpPr>
          <p:cNvPr id="3" name="Content Placeholder 2">
            <a:extLst>
              <a:ext uri="{FF2B5EF4-FFF2-40B4-BE49-F238E27FC236}">
                <a16:creationId xmlns:a16="http://schemas.microsoft.com/office/drawing/2014/main" id="{A8EA76F8-A0B5-954D-BED6-B6A1587E5142}"/>
              </a:ext>
            </a:extLst>
          </p:cNvPr>
          <p:cNvSpPr>
            <a:spLocks noGrp="1"/>
          </p:cNvSpPr>
          <p:nvPr>
            <p:ph idx="1"/>
          </p:nvPr>
        </p:nvSpPr>
        <p:spPr>
          <a:xfrm>
            <a:off x="319251" y="700000"/>
            <a:ext cx="6014545" cy="2900000"/>
          </a:xfrm>
        </p:spPr>
        <p:txBody>
          <a:bodyPr wrap="square">
            <a:normAutofit fontScale="92500"/>
          </a:bodyPr>
          <a:lstStyle/>
          <a:p>
            <a:pPr marL="0" indent="0">
              <a:buNone/>
            </a:pPr>
            <a:r>
              <a:rPr lang="en-US" sz="1400" b="1" dirty="0">
                <a:solidFill>
                  <a:srgbClr val="28285E"/>
                </a:solidFill>
              </a:rPr>
              <a:t>Circumstances </a:t>
            </a:r>
            <a:r>
              <a:rPr lang="en-US" b="1" dirty="0">
                <a:solidFill>
                  <a:srgbClr val="28285E"/>
                </a:solidFill>
              </a:rPr>
              <a:t>under which the agent </a:t>
            </a:r>
            <a:r>
              <a:rPr sz="1400" b="1" dirty="0">
                <a:solidFill>
                  <a:srgbClr val="28285E"/>
                </a:solidFill>
              </a:rPr>
              <a:t>stops being rational:</a:t>
            </a:r>
          </a:p>
          <a:p>
            <a:pPr marL="400050" indent="-285750">
              <a:spcBef>
                <a:spcPts val="600"/>
              </a:spcBef>
              <a:spcAft>
                <a:spcPts val="800"/>
              </a:spcAft>
              <a:buClr>
                <a:srgbClr val="28285E"/>
              </a:buClr>
              <a:buSzPts val="1260"/>
              <a:buFont typeface="Fira Sans"/>
              <a:buChar char="●"/>
            </a:pPr>
            <a:r>
              <a:rPr sz="1400" b="1" dirty="0"/>
              <a:t>Optimizing per tool call</a:t>
            </a:r>
            <a:r>
              <a:rPr sz="1400" dirty="0"/>
              <a:t>, and an agent that reads whole files fares poorly. A better agent reads the smallest range that answers its question </a:t>
            </a:r>
            <a:r>
              <a:rPr sz="1400" b="1" dirty="0">
                <a:solidFill>
                  <a:srgbClr val="C73561"/>
                </a:solidFill>
              </a:rPr>
              <a:t>(becomes relevant when we build better tools)</a:t>
            </a:r>
            <a:endParaRPr sz="1400" b="1" dirty="0">
              <a:solidFill>
                <a:schemeClr val="accent4"/>
              </a:solidFill>
            </a:endParaRPr>
          </a:p>
          <a:p>
            <a:pPr marL="400050" indent="-285750">
              <a:spcAft>
                <a:spcPts val="800"/>
              </a:spcAft>
              <a:buClr>
                <a:srgbClr val="28285E"/>
              </a:buClr>
              <a:buSzPts val="1260"/>
              <a:buFont typeface="Fira Sans"/>
              <a:buChar char="●"/>
            </a:pPr>
            <a:r>
              <a:rPr sz="1400" dirty="0">
                <a:solidFill>
                  <a:schemeClr val="tx1"/>
                </a:solidFill>
              </a:rPr>
              <a:t>Patch only the flagged line and the weakness survives, because the unsafe value arrives from a helper the alert never names. A better agent follows the value first.</a:t>
            </a:r>
            <a:r>
              <a:rPr sz="1400" b="1" dirty="0">
                <a:solidFill>
                  <a:srgbClr val="C73561"/>
                </a:solidFill>
              </a:rPr>
              <a:t>(becomes relevant when we add a planner)</a:t>
            </a:r>
          </a:p>
          <a:p>
            <a:pPr marL="400050" indent="-285750">
              <a:spcAft>
                <a:spcPts val="800"/>
              </a:spcAft>
              <a:buClr>
                <a:srgbClr val="28285E"/>
              </a:buClr>
              <a:buSzPts val="1260"/>
              <a:buFont typeface="Fira Sans"/>
              <a:buChar char="●"/>
            </a:pPr>
            <a:r>
              <a:rPr sz="1400" dirty="0"/>
              <a:t>Keep editing after the submission is accepted, and every further call risks breaking behavior </a:t>
            </a:r>
            <a:r>
              <a:rPr sz="1400" b="1" dirty="0">
                <a:solidFill>
                  <a:srgbClr val="C73561"/>
                </a:solidFill>
              </a:rPr>
              <a:t>(becomes relevant when the runtime owns termination)</a:t>
            </a:r>
          </a:p>
        </p:txBody>
      </p:sp>
      <p:sp>
        <p:nvSpPr>
          <p:cNvPr id="4" name="Rectangle 3">
            <a:extLst>
              <a:ext uri="{FF2B5EF4-FFF2-40B4-BE49-F238E27FC236}">
                <a16:creationId xmlns:a16="http://schemas.microsoft.com/office/drawing/2014/main" id="{1CB87F62-CCA1-B40B-EF74-92FE74B2207F}"/>
              </a:ext>
            </a:extLst>
          </p:cNvPr>
          <p:cNvSpPr/>
          <p:nvPr/>
        </p:nvSpPr>
        <p:spPr>
          <a:xfrm>
            <a:off x="319251" y="3620000"/>
            <a:ext cx="6014545" cy="62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400" b="0">
                <a:solidFill>
                  <a:schemeClr val="tx2"/>
                </a:solidFill>
              </a:rPr>
              <a:t>Budget, depth of investigation, and termination are the three we turn into decisions: the loop gets a </a:t>
            </a:r>
            <a:r>
              <a:rPr sz="1400" b="1">
                <a:solidFill>
                  <a:schemeClr val="tx2"/>
                </a:solidFill>
              </a:rPr>
              <a:t>budget</a:t>
            </a:r>
            <a:r>
              <a:rPr sz="1400" b="0">
                <a:solidFill>
                  <a:schemeClr val="tx2"/>
                </a:solidFill>
              </a:rPr>
              <a:t>, the planner sets the </a:t>
            </a:r>
            <a:r>
              <a:rPr sz="1400" b="1">
                <a:solidFill>
                  <a:schemeClr val="tx2"/>
                </a:solidFill>
              </a:rPr>
              <a:t>depth</a:t>
            </a:r>
            <a:r>
              <a:rPr sz="1400" b="0">
                <a:solidFill>
                  <a:schemeClr val="tx2"/>
                </a:solidFill>
              </a:rPr>
              <a:t>, and the runtime owns the </a:t>
            </a:r>
            <a:r>
              <a:rPr sz="1400" b="1">
                <a:solidFill>
                  <a:schemeClr val="tx2"/>
                </a:solidFill>
              </a:rPr>
              <a:t>ending</a:t>
            </a:r>
            <a:r>
              <a:rPr sz="1400" b="0">
                <a:solidFill>
                  <a:schemeClr val="tx2"/>
                </a:solidFill>
              </a:rPr>
              <a:t>.</a:t>
            </a:r>
          </a:p>
        </p:txBody>
      </p:sp>
      <p:sp>
        <p:nvSpPr>
          <p:cNvPr id="5" name="Rectangle 4">
            <a:extLst>
              <a:ext uri="{FF2B5EF4-FFF2-40B4-BE49-F238E27FC236}">
                <a16:creationId xmlns:a16="http://schemas.microsoft.com/office/drawing/2014/main" id="{76CA26FF-512A-2CB8-E6D9-AB8077DBD47B}"/>
              </a:ext>
            </a:extLst>
          </p:cNvPr>
          <p:cNvSpPr/>
          <p:nvPr/>
        </p:nvSpPr>
        <p:spPr>
          <a:xfrm>
            <a:off x="319251" y="43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rgbClr val="28285E"/>
                </a:solidFill>
              </a:rPr>
              <a:t>And the Submit state checks less than the measure asks:</a:t>
            </a:r>
            <a:r>
              <a:rPr sz="1200" b="1" dirty="0">
                <a:solidFill>
                  <a:srgbClr val="28285E"/>
                </a:solidFill>
              </a:rPr>
              <a:t> </a:t>
            </a:r>
            <a:r>
              <a:rPr lang="en-US" sz="1200" b="1" dirty="0">
                <a:solidFill>
                  <a:srgbClr val="28285E"/>
                </a:solidFill>
              </a:rPr>
              <a:t>A</a:t>
            </a:r>
            <a:r>
              <a:rPr sz="1200" b="1" dirty="0">
                <a:solidFill>
                  <a:srgbClr val="28285E"/>
                </a:solidFill>
              </a:rPr>
              <a:t>ccepted is not </a:t>
            </a:r>
            <a:r>
              <a:rPr lang="en-US" sz="1200" b="1" dirty="0">
                <a:solidFill>
                  <a:srgbClr val="28285E"/>
                </a:solidFill>
              </a:rPr>
              <a:t>C</a:t>
            </a:r>
            <a:r>
              <a:rPr sz="1200" b="1" dirty="0">
                <a:solidFill>
                  <a:srgbClr val="28285E"/>
                </a:solidFill>
              </a:rPr>
              <a:t>orrect.</a:t>
            </a:r>
          </a:p>
        </p:txBody>
      </p:sp>
      <p:pic>
        <p:nvPicPr>
          <p:cNvPr id="6" name="Picture 5">
            <a:extLst>
              <a:ext uri="{FF2B5EF4-FFF2-40B4-BE49-F238E27FC236}">
                <a16:creationId xmlns:a16="http://schemas.microsoft.com/office/drawing/2014/main" id="{D222E308-CA78-99B2-C04B-23F0B6D7D551}"/>
              </a:ext>
            </a:extLst>
          </p:cNvPr>
          <p:cNvPicPr>
            <a:picLocks noChangeAspect="1"/>
          </p:cNvPicPr>
          <p:nvPr/>
        </p:nvPicPr>
        <p:blipFill>
          <a:blip r:embed="rId3"/>
          <a:stretch>
            <a:fillRect/>
          </a:stretch>
        </p:blipFill>
        <p:spPr>
          <a:xfrm>
            <a:off x="265106" y="2616868"/>
            <a:ext cx="6262023" cy="2255920"/>
          </a:xfrm>
          <a:prstGeom prst="rect">
            <a:avLst/>
          </a:prstGeom>
        </p:spPr>
      </p:pic>
    </p:spTree>
    <p:extLst>
      <p:ext uri="{BB962C8B-B14F-4D97-AF65-F5344CB8AC3E}">
        <p14:creationId xmlns:p14="http://schemas.microsoft.com/office/powerpoint/2010/main" val="33417232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1736C-1792-B8A6-60FF-E4CF46B9A7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7165C8-FEFA-2989-46EE-28BD106E6526}"/>
              </a:ext>
            </a:extLst>
          </p:cNvPr>
          <p:cNvSpPr>
            <a:spLocks noGrp="1"/>
          </p:cNvSpPr>
          <p:nvPr>
            <p:ph type="title"/>
          </p:nvPr>
        </p:nvSpPr>
        <p:spPr/>
        <p:txBody>
          <a:bodyPr/>
          <a:lstStyle/>
          <a:p>
            <a:r>
              <a:t>When it is not</a:t>
            </a:r>
          </a:p>
        </p:txBody>
      </p:sp>
      <p:sp>
        <p:nvSpPr>
          <p:cNvPr id="3" name="Content Placeholder 2">
            <a:extLst>
              <a:ext uri="{FF2B5EF4-FFF2-40B4-BE49-F238E27FC236}">
                <a16:creationId xmlns:a16="http://schemas.microsoft.com/office/drawing/2014/main" id="{CBDB0F04-C1D1-9B68-52B7-5D7FB8A3F745}"/>
              </a:ext>
            </a:extLst>
          </p:cNvPr>
          <p:cNvSpPr>
            <a:spLocks noGrp="1"/>
          </p:cNvSpPr>
          <p:nvPr>
            <p:ph idx="1"/>
          </p:nvPr>
        </p:nvSpPr>
        <p:spPr>
          <a:xfrm>
            <a:off x="319251" y="700000"/>
            <a:ext cx="6014545" cy="2900000"/>
          </a:xfrm>
        </p:spPr>
        <p:txBody>
          <a:bodyPr wrap="square">
            <a:normAutofit fontScale="92500"/>
          </a:bodyPr>
          <a:lstStyle/>
          <a:p>
            <a:pPr marL="0" indent="0">
              <a:buNone/>
            </a:pPr>
            <a:r>
              <a:rPr lang="en-US" sz="1400" b="1" dirty="0">
                <a:solidFill>
                  <a:srgbClr val="28285E"/>
                </a:solidFill>
              </a:rPr>
              <a:t>Circumstances </a:t>
            </a:r>
            <a:r>
              <a:rPr lang="en-US" b="1" dirty="0">
                <a:solidFill>
                  <a:srgbClr val="28285E"/>
                </a:solidFill>
              </a:rPr>
              <a:t>under which the agent </a:t>
            </a:r>
            <a:r>
              <a:rPr sz="1400" b="1" dirty="0">
                <a:solidFill>
                  <a:srgbClr val="28285E"/>
                </a:solidFill>
              </a:rPr>
              <a:t>stops being rational:</a:t>
            </a:r>
          </a:p>
          <a:p>
            <a:pPr marL="400050" indent="-285750">
              <a:spcBef>
                <a:spcPts val="600"/>
              </a:spcBef>
              <a:spcAft>
                <a:spcPts val="800"/>
              </a:spcAft>
              <a:buClr>
                <a:srgbClr val="28285E"/>
              </a:buClr>
              <a:buSzPts val="1260"/>
              <a:buFont typeface="Fira Sans"/>
              <a:buChar char="●"/>
            </a:pPr>
            <a:r>
              <a:rPr sz="1400" b="1" dirty="0"/>
              <a:t>Optimizing per tool call</a:t>
            </a:r>
            <a:r>
              <a:rPr sz="1400" dirty="0"/>
              <a:t>, and an agent that reads whole files fares poorly. A better agent reads the smallest range that answers its question </a:t>
            </a:r>
            <a:r>
              <a:rPr sz="1400" b="1" dirty="0">
                <a:solidFill>
                  <a:srgbClr val="C73561"/>
                </a:solidFill>
              </a:rPr>
              <a:t>(becomes relevant when we build better tools)</a:t>
            </a:r>
            <a:endParaRPr sz="1400" b="1" dirty="0">
              <a:solidFill>
                <a:schemeClr val="accent4"/>
              </a:solidFill>
            </a:endParaRPr>
          </a:p>
          <a:p>
            <a:pPr marL="400050" indent="-285750">
              <a:spcAft>
                <a:spcPts val="800"/>
              </a:spcAft>
              <a:buClr>
                <a:srgbClr val="28285E"/>
              </a:buClr>
              <a:buSzPts val="1260"/>
              <a:buFont typeface="Fira Sans"/>
              <a:buChar char="●"/>
            </a:pPr>
            <a:r>
              <a:rPr sz="1400" dirty="0">
                <a:solidFill>
                  <a:schemeClr val="tx1"/>
                </a:solidFill>
              </a:rPr>
              <a:t>Patch only the flagged line and the weakness survives, because the unsafe value arrives from a helper the alert never names. A better agent follows the value first.</a:t>
            </a:r>
            <a:r>
              <a:rPr sz="1400" b="1" dirty="0">
                <a:solidFill>
                  <a:srgbClr val="C73561"/>
                </a:solidFill>
              </a:rPr>
              <a:t>(becomes relevant when we add a planner)</a:t>
            </a:r>
          </a:p>
          <a:p>
            <a:pPr marL="400050" indent="-285750">
              <a:spcAft>
                <a:spcPts val="800"/>
              </a:spcAft>
              <a:buClr>
                <a:srgbClr val="28285E"/>
              </a:buClr>
              <a:buSzPts val="1260"/>
              <a:buFont typeface="Fira Sans"/>
              <a:buChar char="●"/>
            </a:pPr>
            <a:r>
              <a:rPr sz="1400" dirty="0"/>
              <a:t>Keep editing after the submission is accepted, and every further call risks breaking behavior </a:t>
            </a:r>
            <a:r>
              <a:rPr sz="1400" b="1" dirty="0">
                <a:solidFill>
                  <a:srgbClr val="C73561"/>
                </a:solidFill>
              </a:rPr>
              <a:t>(becomes relevant when the runtime owns termination)</a:t>
            </a:r>
          </a:p>
        </p:txBody>
      </p:sp>
      <p:sp>
        <p:nvSpPr>
          <p:cNvPr id="4" name="Rectangle 3">
            <a:extLst>
              <a:ext uri="{FF2B5EF4-FFF2-40B4-BE49-F238E27FC236}">
                <a16:creationId xmlns:a16="http://schemas.microsoft.com/office/drawing/2014/main" id="{18170BB4-20C4-D63B-6FFF-FB474AA4D4C8}"/>
              </a:ext>
            </a:extLst>
          </p:cNvPr>
          <p:cNvSpPr/>
          <p:nvPr/>
        </p:nvSpPr>
        <p:spPr>
          <a:xfrm>
            <a:off x="319251" y="3620000"/>
            <a:ext cx="6014545" cy="62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400" b="0">
                <a:solidFill>
                  <a:schemeClr val="tx2"/>
                </a:solidFill>
              </a:rPr>
              <a:t>Budget, depth of investigation, and termination are the three we turn into decisions: the loop gets a </a:t>
            </a:r>
            <a:r>
              <a:rPr sz="1400" b="1">
                <a:solidFill>
                  <a:schemeClr val="tx2"/>
                </a:solidFill>
              </a:rPr>
              <a:t>budget</a:t>
            </a:r>
            <a:r>
              <a:rPr sz="1400" b="0">
                <a:solidFill>
                  <a:schemeClr val="tx2"/>
                </a:solidFill>
              </a:rPr>
              <a:t>, the planner sets the </a:t>
            </a:r>
            <a:r>
              <a:rPr sz="1400" b="1">
                <a:solidFill>
                  <a:schemeClr val="tx2"/>
                </a:solidFill>
              </a:rPr>
              <a:t>depth</a:t>
            </a:r>
            <a:r>
              <a:rPr sz="1400" b="0">
                <a:solidFill>
                  <a:schemeClr val="tx2"/>
                </a:solidFill>
              </a:rPr>
              <a:t>, and the runtime owns the </a:t>
            </a:r>
            <a:r>
              <a:rPr sz="1400" b="1">
                <a:solidFill>
                  <a:schemeClr val="tx2"/>
                </a:solidFill>
              </a:rPr>
              <a:t>ending</a:t>
            </a:r>
            <a:r>
              <a:rPr sz="1400" b="0">
                <a:solidFill>
                  <a:schemeClr val="tx2"/>
                </a:solidFill>
              </a:rPr>
              <a:t>.</a:t>
            </a:r>
          </a:p>
        </p:txBody>
      </p:sp>
      <p:sp>
        <p:nvSpPr>
          <p:cNvPr id="5" name="Rectangle 4">
            <a:extLst>
              <a:ext uri="{FF2B5EF4-FFF2-40B4-BE49-F238E27FC236}">
                <a16:creationId xmlns:a16="http://schemas.microsoft.com/office/drawing/2014/main" id="{8024157E-40D1-9135-0492-D7C9F702CD0D}"/>
              </a:ext>
            </a:extLst>
          </p:cNvPr>
          <p:cNvSpPr/>
          <p:nvPr/>
        </p:nvSpPr>
        <p:spPr>
          <a:xfrm>
            <a:off x="319251" y="43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rgbClr val="28285E"/>
                </a:solidFill>
              </a:rPr>
              <a:t>And the Submit state checks less than the measure asks:</a:t>
            </a:r>
            <a:r>
              <a:rPr sz="1200" b="1" dirty="0">
                <a:solidFill>
                  <a:srgbClr val="28285E"/>
                </a:solidFill>
              </a:rPr>
              <a:t> </a:t>
            </a:r>
            <a:r>
              <a:rPr lang="en-US" sz="1200" b="1" dirty="0">
                <a:solidFill>
                  <a:srgbClr val="28285E"/>
                </a:solidFill>
              </a:rPr>
              <a:t>A</a:t>
            </a:r>
            <a:r>
              <a:rPr sz="1200" b="1" dirty="0">
                <a:solidFill>
                  <a:srgbClr val="28285E"/>
                </a:solidFill>
              </a:rPr>
              <a:t>ccepted is not </a:t>
            </a:r>
            <a:r>
              <a:rPr lang="en-US" sz="1200" b="1" dirty="0">
                <a:solidFill>
                  <a:srgbClr val="28285E"/>
                </a:solidFill>
              </a:rPr>
              <a:t>C</a:t>
            </a:r>
            <a:r>
              <a:rPr sz="1200" b="1" dirty="0">
                <a:solidFill>
                  <a:srgbClr val="28285E"/>
                </a:solidFill>
              </a:rPr>
              <a:t>orrect.</a:t>
            </a:r>
          </a:p>
        </p:txBody>
      </p:sp>
      <p:pic>
        <p:nvPicPr>
          <p:cNvPr id="6" name="Picture 5">
            <a:extLst>
              <a:ext uri="{FF2B5EF4-FFF2-40B4-BE49-F238E27FC236}">
                <a16:creationId xmlns:a16="http://schemas.microsoft.com/office/drawing/2014/main" id="{CEA0F41A-CD1D-20FC-41FD-5242BE655877}"/>
              </a:ext>
            </a:extLst>
          </p:cNvPr>
          <p:cNvPicPr>
            <a:picLocks noChangeAspect="1"/>
          </p:cNvPicPr>
          <p:nvPr/>
        </p:nvPicPr>
        <p:blipFill>
          <a:blip r:embed="rId3"/>
          <a:stretch>
            <a:fillRect/>
          </a:stretch>
        </p:blipFill>
        <p:spPr>
          <a:xfrm>
            <a:off x="265106" y="3537284"/>
            <a:ext cx="6262023" cy="1335504"/>
          </a:xfrm>
          <a:prstGeom prst="rect">
            <a:avLst/>
          </a:prstGeom>
        </p:spPr>
      </p:pic>
    </p:spTree>
    <p:extLst>
      <p:ext uri="{BB962C8B-B14F-4D97-AF65-F5344CB8AC3E}">
        <p14:creationId xmlns:p14="http://schemas.microsoft.com/office/powerpoint/2010/main" val="18593174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BAC50-ED16-CA10-8EB0-E1C237BB89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CFF631-6A5B-ACDD-0C1D-9E8554A53EEA}"/>
              </a:ext>
            </a:extLst>
          </p:cNvPr>
          <p:cNvSpPr>
            <a:spLocks noGrp="1"/>
          </p:cNvSpPr>
          <p:nvPr>
            <p:ph type="title"/>
          </p:nvPr>
        </p:nvSpPr>
        <p:spPr/>
        <p:txBody>
          <a:bodyPr/>
          <a:lstStyle/>
          <a:p>
            <a:r>
              <a:t>When it is not</a:t>
            </a:r>
          </a:p>
        </p:txBody>
      </p:sp>
      <p:sp>
        <p:nvSpPr>
          <p:cNvPr id="3" name="Content Placeholder 2">
            <a:extLst>
              <a:ext uri="{FF2B5EF4-FFF2-40B4-BE49-F238E27FC236}">
                <a16:creationId xmlns:a16="http://schemas.microsoft.com/office/drawing/2014/main" id="{0DD51AC7-7473-070D-D55D-725242D75F61}"/>
              </a:ext>
            </a:extLst>
          </p:cNvPr>
          <p:cNvSpPr>
            <a:spLocks noGrp="1"/>
          </p:cNvSpPr>
          <p:nvPr>
            <p:ph idx="1"/>
          </p:nvPr>
        </p:nvSpPr>
        <p:spPr>
          <a:xfrm>
            <a:off x="319251" y="700000"/>
            <a:ext cx="6014545" cy="2900000"/>
          </a:xfrm>
        </p:spPr>
        <p:txBody>
          <a:bodyPr wrap="square">
            <a:normAutofit fontScale="92500"/>
          </a:bodyPr>
          <a:lstStyle/>
          <a:p>
            <a:pPr marL="0" indent="0">
              <a:buNone/>
            </a:pPr>
            <a:r>
              <a:rPr lang="en-US" sz="1400" b="1" dirty="0">
                <a:solidFill>
                  <a:srgbClr val="28285E"/>
                </a:solidFill>
              </a:rPr>
              <a:t>Circumstances </a:t>
            </a:r>
            <a:r>
              <a:rPr lang="en-US" b="1" dirty="0">
                <a:solidFill>
                  <a:srgbClr val="28285E"/>
                </a:solidFill>
              </a:rPr>
              <a:t>under which the agent </a:t>
            </a:r>
            <a:r>
              <a:rPr sz="1400" b="1" dirty="0">
                <a:solidFill>
                  <a:srgbClr val="28285E"/>
                </a:solidFill>
              </a:rPr>
              <a:t>stops being rational:</a:t>
            </a:r>
          </a:p>
          <a:p>
            <a:pPr marL="400050" indent="-285750">
              <a:spcBef>
                <a:spcPts val="600"/>
              </a:spcBef>
              <a:spcAft>
                <a:spcPts val="800"/>
              </a:spcAft>
              <a:buClr>
                <a:srgbClr val="28285E"/>
              </a:buClr>
              <a:buSzPts val="1260"/>
              <a:buFont typeface="Fira Sans"/>
              <a:buChar char="●"/>
            </a:pPr>
            <a:r>
              <a:rPr sz="1400" b="1" dirty="0"/>
              <a:t>Optimizing per tool call</a:t>
            </a:r>
            <a:r>
              <a:rPr sz="1400" dirty="0"/>
              <a:t>, and an agent that reads whole files fares poorly. A better agent reads the smallest range that answers its question </a:t>
            </a:r>
            <a:r>
              <a:rPr sz="1400" b="1" dirty="0">
                <a:solidFill>
                  <a:srgbClr val="C73561"/>
                </a:solidFill>
              </a:rPr>
              <a:t>(becomes relevant when we build better tools)</a:t>
            </a:r>
            <a:endParaRPr sz="1400" b="1" dirty="0">
              <a:solidFill>
                <a:schemeClr val="accent4"/>
              </a:solidFill>
            </a:endParaRPr>
          </a:p>
          <a:p>
            <a:pPr marL="400050" indent="-285750">
              <a:spcAft>
                <a:spcPts val="800"/>
              </a:spcAft>
              <a:buClr>
                <a:srgbClr val="28285E"/>
              </a:buClr>
              <a:buSzPts val="1260"/>
              <a:buFont typeface="Fira Sans"/>
              <a:buChar char="●"/>
            </a:pPr>
            <a:r>
              <a:rPr sz="1400" dirty="0">
                <a:solidFill>
                  <a:schemeClr val="tx1"/>
                </a:solidFill>
              </a:rPr>
              <a:t>Patch only the flagged line and the weakness survives, because the unsafe value arrives from a helper the alert never names. A better agent follows the value first.</a:t>
            </a:r>
            <a:r>
              <a:rPr sz="1400" b="1" dirty="0">
                <a:solidFill>
                  <a:srgbClr val="C73561"/>
                </a:solidFill>
              </a:rPr>
              <a:t>(becomes relevant when we add a planner)</a:t>
            </a:r>
          </a:p>
          <a:p>
            <a:pPr marL="400050" indent="-285750">
              <a:spcAft>
                <a:spcPts val="800"/>
              </a:spcAft>
              <a:buClr>
                <a:srgbClr val="28285E"/>
              </a:buClr>
              <a:buSzPts val="1260"/>
              <a:buFont typeface="Fira Sans"/>
              <a:buChar char="●"/>
            </a:pPr>
            <a:r>
              <a:rPr sz="1400" dirty="0"/>
              <a:t>Keep editing after the submission is accepted, and every further call risks breaking behavior </a:t>
            </a:r>
            <a:r>
              <a:rPr sz="1400" b="1" dirty="0">
                <a:solidFill>
                  <a:srgbClr val="C73561"/>
                </a:solidFill>
              </a:rPr>
              <a:t>(becomes relevant when the runtime owns termination)</a:t>
            </a:r>
          </a:p>
        </p:txBody>
      </p:sp>
      <p:sp>
        <p:nvSpPr>
          <p:cNvPr id="4" name="Rectangle 3">
            <a:extLst>
              <a:ext uri="{FF2B5EF4-FFF2-40B4-BE49-F238E27FC236}">
                <a16:creationId xmlns:a16="http://schemas.microsoft.com/office/drawing/2014/main" id="{1DC19F29-EF6F-BFB6-D545-8D3B6669BE2C}"/>
              </a:ext>
            </a:extLst>
          </p:cNvPr>
          <p:cNvSpPr/>
          <p:nvPr/>
        </p:nvSpPr>
        <p:spPr>
          <a:xfrm>
            <a:off x="319251" y="3620000"/>
            <a:ext cx="6014545" cy="62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400" b="0" dirty="0">
                <a:solidFill>
                  <a:schemeClr val="tx2"/>
                </a:solidFill>
              </a:rPr>
              <a:t>Budget, depth of investigation, and termination are the three we turn into decisions: the </a:t>
            </a:r>
            <a:r>
              <a:rPr sz="1400" b="1" u="sng" dirty="0">
                <a:solidFill>
                  <a:schemeClr val="tx2"/>
                </a:solidFill>
              </a:rPr>
              <a:t>loop</a:t>
            </a:r>
            <a:r>
              <a:rPr sz="1400" b="0" dirty="0">
                <a:solidFill>
                  <a:schemeClr val="tx2"/>
                </a:solidFill>
              </a:rPr>
              <a:t> gets a </a:t>
            </a:r>
            <a:r>
              <a:rPr sz="1400" b="1" u="sng" dirty="0">
                <a:solidFill>
                  <a:schemeClr val="tx2"/>
                </a:solidFill>
              </a:rPr>
              <a:t>budget</a:t>
            </a:r>
            <a:r>
              <a:rPr sz="1400" b="0" dirty="0">
                <a:solidFill>
                  <a:schemeClr val="tx2"/>
                </a:solidFill>
              </a:rPr>
              <a:t>, the </a:t>
            </a:r>
            <a:r>
              <a:rPr sz="1400" b="1" u="sng" dirty="0">
                <a:solidFill>
                  <a:schemeClr val="tx2"/>
                </a:solidFill>
              </a:rPr>
              <a:t>planner</a:t>
            </a:r>
            <a:r>
              <a:rPr sz="1400" b="0" dirty="0">
                <a:solidFill>
                  <a:schemeClr val="tx2"/>
                </a:solidFill>
              </a:rPr>
              <a:t> sets the </a:t>
            </a:r>
            <a:r>
              <a:rPr sz="1400" b="1" dirty="0">
                <a:solidFill>
                  <a:schemeClr val="tx2"/>
                </a:solidFill>
              </a:rPr>
              <a:t>depth</a:t>
            </a:r>
            <a:r>
              <a:rPr sz="1400" b="0" dirty="0">
                <a:solidFill>
                  <a:schemeClr val="tx2"/>
                </a:solidFill>
              </a:rPr>
              <a:t>, and the runtime owns the </a:t>
            </a:r>
            <a:r>
              <a:rPr sz="1400" b="1" dirty="0">
                <a:solidFill>
                  <a:schemeClr val="tx2"/>
                </a:solidFill>
              </a:rPr>
              <a:t>ending</a:t>
            </a:r>
            <a:r>
              <a:rPr sz="1400" b="0" dirty="0">
                <a:solidFill>
                  <a:schemeClr val="tx2"/>
                </a:solidFill>
              </a:rPr>
              <a:t>.</a:t>
            </a:r>
          </a:p>
        </p:txBody>
      </p:sp>
      <p:sp>
        <p:nvSpPr>
          <p:cNvPr id="5" name="Rectangle 4">
            <a:extLst>
              <a:ext uri="{FF2B5EF4-FFF2-40B4-BE49-F238E27FC236}">
                <a16:creationId xmlns:a16="http://schemas.microsoft.com/office/drawing/2014/main" id="{13DB7A3C-68D7-BFE3-52A1-713821595BE8}"/>
              </a:ext>
            </a:extLst>
          </p:cNvPr>
          <p:cNvSpPr/>
          <p:nvPr/>
        </p:nvSpPr>
        <p:spPr>
          <a:xfrm>
            <a:off x="319251" y="44435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rgbClr val="28285E"/>
                </a:solidFill>
              </a:rPr>
              <a:t>And the Submit state checks less than the measure asks:</a:t>
            </a:r>
            <a:r>
              <a:rPr sz="1200" b="1" dirty="0">
                <a:solidFill>
                  <a:srgbClr val="28285E"/>
                </a:solidFill>
              </a:rPr>
              <a:t> </a:t>
            </a:r>
            <a:r>
              <a:rPr lang="en-US" sz="1200" b="1" dirty="0">
                <a:solidFill>
                  <a:srgbClr val="28285E"/>
                </a:solidFill>
              </a:rPr>
              <a:t>A</a:t>
            </a:r>
            <a:r>
              <a:rPr sz="1200" b="1" dirty="0">
                <a:solidFill>
                  <a:srgbClr val="28285E"/>
                </a:solidFill>
              </a:rPr>
              <a:t>ccepted is not </a:t>
            </a:r>
            <a:r>
              <a:rPr lang="en-US" sz="1200" b="1" dirty="0">
                <a:solidFill>
                  <a:srgbClr val="28285E"/>
                </a:solidFill>
              </a:rPr>
              <a:t>C</a:t>
            </a:r>
            <a:r>
              <a:rPr sz="1200" b="1" dirty="0">
                <a:solidFill>
                  <a:srgbClr val="28285E"/>
                </a:solidFill>
              </a:rPr>
              <a:t>orrect.</a:t>
            </a:r>
          </a:p>
        </p:txBody>
      </p:sp>
    </p:spTree>
    <p:extLst>
      <p:ext uri="{BB962C8B-B14F-4D97-AF65-F5344CB8AC3E}">
        <p14:creationId xmlns:p14="http://schemas.microsoft.com/office/powerpoint/2010/main" val="10776695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task environment</a:t>
            </a:r>
          </a:p>
        </p:txBody>
      </p:sp>
      <p:sp>
        <p:nvSpPr>
          <p:cNvPr id="3" name="Rectangle 2"/>
          <p:cNvSpPr/>
          <p:nvPr/>
        </p:nvSpPr>
        <p:spPr>
          <a:xfrm>
            <a:off x="319251" y="677213"/>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r>
              <a:rPr sz="1400" dirty="0">
                <a:solidFill>
                  <a:schemeClr val="tx2"/>
                </a:solidFill>
              </a:rPr>
              <a:t>A task environment is a performance measure</a:t>
            </a:r>
            <a:r>
              <a:rPr lang="en-US" sz="1400" dirty="0">
                <a:solidFill>
                  <a:schemeClr val="tx2"/>
                </a:solidFill>
              </a:rPr>
              <a:t> </a:t>
            </a:r>
            <a:r>
              <a:rPr lang="en-US" sz="1400" b="1" dirty="0">
                <a:solidFill>
                  <a:schemeClr val="tx2"/>
                </a:solidFill>
              </a:rPr>
              <a:t>(P)</a:t>
            </a:r>
            <a:r>
              <a:rPr sz="1400" dirty="0">
                <a:solidFill>
                  <a:schemeClr val="tx2"/>
                </a:solidFill>
              </a:rPr>
              <a:t>, an environment</a:t>
            </a:r>
            <a:r>
              <a:rPr lang="en-US" sz="1400" dirty="0">
                <a:solidFill>
                  <a:schemeClr val="tx2"/>
                </a:solidFill>
              </a:rPr>
              <a:t> </a:t>
            </a:r>
            <a:r>
              <a:rPr lang="en-US" sz="1400" b="1" dirty="0">
                <a:solidFill>
                  <a:schemeClr val="tx2"/>
                </a:solidFill>
              </a:rPr>
              <a:t>(E)</a:t>
            </a:r>
            <a:r>
              <a:rPr sz="1400" dirty="0">
                <a:solidFill>
                  <a:schemeClr val="tx2"/>
                </a:solidFill>
              </a:rPr>
              <a:t>, actuators </a:t>
            </a:r>
            <a:r>
              <a:rPr lang="en-US" sz="1400" b="1" dirty="0">
                <a:solidFill>
                  <a:schemeClr val="tx2"/>
                </a:solidFill>
              </a:rPr>
              <a:t>(A)</a:t>
            </a:r>
            <a:r>
              <a:rPr lang="en-US" sz="1400" dirty="0">
                <a:solidFill>
                  <a:schemeClr val="tx2"/>
                </a:solidFill>
              </a:rPr>
              <a:t> </a:t>
            </a:r>
            <a:r>
              <a:rPr sz="1400" dirty="0">
                <a:solidFill>
                  <a:schemeClr val="tx2"/>
                </a:solidFill>
              </a:rPr>
              <a:t>and sensors</a:t>
            </a:r>
            <a:r>
              <a:rPr lang="en-US" sz="1400" dirty="0">
                <a:solidFill>
                  <a:schemeClr val="tx2"/>
                </a:solidFill>
              </a:rPr>
              <a:t> </a:t>
            </a:r>
            <a:r>
              <a:rPr lang="en-US" sz="1400" b="1" dirty="0">
                <a:solidFill>
                  <a:schemeClr val="tx2"/>
                </a:solidFill>
              </a:rPr>
              <a:t>(S)</a:t>
            </a:r>
            <a:r>
              <a:rPr sz="1400" dirty="0">
                <a:solidFill>
                  <a:schemeClr val="tx2"/>
                </a:solidFill>
              </a:rPr>
              <a:t>, written down as a PEAS description. </a:t>
            </a:r>
          </a:p>
        </p:txBody>
      </p:sp>
      <p:graphicFrame>
        <p:nvGraphicFramePr>
          <p:cNvPr id="4" name="Table 3"/>
          <p:cNvGraphicFramePr>
            <a:graphicFrameLocks noGrp="1"/>
          </p:cNvGraphicFramePr>
          <p:nvPr>
            <p:extLst>
              <p:ext uri="{D42A27DB-BD31-4B8C-83A1-F6EECF244321}">
                <p14:modId xmlns:p14="http://schemas.microsoft.com/office/powerpoint/2010/main" val="2079261097"/>
              </p:ext>
            </p:extLst>
          </p:nvPr>
        </p:nvGraphicFramePr>
        <p:xfrm>
          <a:off x="319251" y="1619971"/>
          <a:ext cx="6014545" cy="2144040"/>
        </p:xfrm>
        <a:graphic>
          <a:graphicData uri="http://schemas.openxmlformats.org/drawingml/2006/table">
            <a:tbl>
              <a:tblPr>
                <a:tableStyleId>{2D5ABB26-0587-4C30-8999-92F81FD0307C}</a:tableStyleId>
              </a:tblPr>
              <a:tblGrid>
                <a:gridCol w="1239525">
                  <a:extLst>
                    <a:ext uri="{9D8B030D-6E8A-4147-A177-3AD203B41FA5}">
                      <a16:colId xmlns:a16="http://schemas.microsoft.com/office/drawing/2014/main" val="20000"/>
                    </a:ext>
                  </a:extLst>
                </a:gridCol>
                <a:gridCol w="4775020">
                  <a:extLst>
                    <a:ext uri="{9D8B030D-6E8A-4147-A177-3AD203B41FA5}">
                      <a16:colId xmlns:a16="http://schemas.microsoft.com/office/drawing/2014/main" val="20001"/>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200" b="1" dirty="0">
                          <a:solidFill>
                            <a:schemeClr val="tx1">
                              <a:lumMod val="85000"/>
                              <a:lumOff val="15000"/>
                            </a:schemeClr>
                          </a:solidFill>
                        </a:rPr>
                        <a:t>For mini-swe-agent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dirty="0">
                          <a:solidFill>
                            <a:srgbClr val="28285E"/>
                          </a:solidFill>
                        </a:rPr>
                        <a:t>Performance measure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The reported </a:t>
                      </a:r>
                      <a:r>
                        <a:rPr sz="1200" b="1" dirty="0">
                          <a:solidFill>
                            <a:schemeClr val="tx1">
                              <a:lumMod val="85000"/>
                              <a:lumOff val="15000"/>
                            </a:schemeClr>
                          </a:solidFill>
                        </a:rPr>
                        <a:t>weakness is </a:t>
                      </a:r>
                      <a:r>
                        <a:rPr lang="en-US" sz="1200" b="1" dirty="0">
                          <a:solidFill>
                            <a:schemeClr val="tx1">
                              <a:lumMod val="85000"/>
                              <a:lumOff val="15000"/>
                            </a:schemeClr>
                          </a:solidFill>
                        </a:rPr>
                        <a:t>gone</a:t>
                      </a:r>
                      <a:r>
                        <a:rPr lang="en-US" sz="1200" b="0" dirty="0">
                          <a:solidFill>
                            <a:schemeClr val="tx1">
                              <a:lumMod val="85000"/>
                              <a:lumOff val="15000"/>
                            </a:schemeClr>
                          </a:solidFill>
                        </a:rPr>
                        <a:t>,</a:t>
                      </a:r>
                      <a:r>
                        <a:rPr sz="1200" b="0" dirty="0">
                          <a:solidFill>
                            <a:schemeClr val="tx1">
                              <a:lumMod val="85000"/>
                              <a:lumOff val="15000"/>
                            </a:schemeClr>
                          </a:solidFill>
                        </a:rPr>
                        <a:t> and the </a:t>
                      </a:r>
                      <a:r>
                        <a:rPr sz="1200" b="1" dirty="0">
                          <a:solidFill>
                            <a:schemeClr val="tx1">
                              <a:lumMod val="85000"/>
                              <a:lumOff val="15000"/>
                            </a:schemeClr>
                          </a:solidFill>
                        </a:rPr>
                        <a:t>endpoint still returns </a:t>
                      </a:r>
                      <a:r>
                        <a:rPr sz="1200" b="0" dirty="0">
                          <a:solidFill>
                            <a:schemeClr val="tx1">
                              <a:lumMod val="85000"/>
                              <a:lumOff val="15000"/>
                            </a:schemeClr>
                          </a:solidFill>
                        </a:rPr>
                        <a:t>what it returned before, </a:t>
                      </a:r>
                      <a:r>
                        <a:rPr sz="1200" b="1" dirty="0">
                          <a:solidFill>
                            <a:schemeClr val="tx1">
                              <a:lumMod val="85000"/>
                              <a:lumOff val="15000"/>
                            </a:schemeClr>
                          </a:solidFill>
                        </a:rPr>
                        <a:t>at bounded cost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255372">
                <a:tc>
                  <a:txBody>
                    <a:bodyPr/>
                    <a:lstStyle/>
                    <a:p>
                      <a:pPr algn="l">
                        <a:buNone/>
                      </a:pPr>
                      <a:r>
                        <a:rPr sz="1200" b="1" dirty="0">
                          <a:solidFill>
                            <a:srgbClr val="28285E"/>
                          </a:solidFill>
                        </a:rPr>
                        <a:t>Environment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OWASP </a:t>
                      </a:r>
                      <a:r>
                        <a:rPr sz="1200" b="0" dirty="0">
                          <a:solidFill>
                            <a:schemeClr val="tx1">
                              <a:lumMod val="85000"/>
                              <a:lumOff val="15000"/>
                            </a:schemeClr>
                          </a:solidFill>
                          <a:latin typeface="Maple Mono NF" panose="020F0509060000000000" pitchFamily="49" charset="0"/>
                          <a:ea typeface="Maple Mono NF" panose="020F0509060000000000" pitchFamily="49" charset="0"/>
                        </a:rPr>
                        <a:t>BenchmarkPython</a:t>
                      </a:r>
                      <a:r>
                        <a:rPr sz="1200" b="0" dirty="0">
                          <a:solidFill>
                            <a:schemeClr val="tx1">
                              <a:lumMod val="85000"/>
                              <a:lumOff val="15000"/>
                            </a:schemeClr>
                          </a:solidFill>
                        </a:rPr>
                        <a:t> at a pinned commit, one scanner alert read as an issue report, and the working tree the agent edits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Actuators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latin typeface="Maple Mono NF" panose="020F0509060000000000" pitchFamily="49" charset="0"/>
                          <a:ea typeface="Maple Mono NF" panose="020F0509060000000000" pitchFamily="49" charset="0"/>
                        </a:rPr>
                        <a:t>read_file(path, range), search(pattern), edit(path, old, new), submit(patch)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200" b="1">
                          <a:solidFill>
                            <a:srgbClr val="28285E"/>
                          </a:solidFill>
                        </a:rPr>
                        <a:t>Sensors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The alert, file excerpts, search hits, edit confirmations, the validation result, and tool errors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665FFBF3-3207-3468-0B19-E7985ADE21B1}"/>
              </a:ext>
            </a:extLst>
          </p:cNvPr>
          <p:cNvSpPr txBox="1"/>
          <p:nvPr/>
        </p:nvSpPr>
        <p:spPr>
          <a:xfrm>
            <a:off x="4565363" y="1318892"/>
            <a:ext cx="1768433" cy="253916"/>
          </a:xfrm>
          <a:prstGeom prst="rect">
            <a:avLst/>
          </a:prstGeom>
          <a:noFill/>
        </p:spPr>
        <p:txBody>
          <a:bodyPr wrap="none" rtlCol="0">
            <a:spAutoFit/>
          </a:bodyPr>
          <a:lstStyle/>
          <a:p>
            <a:r>
              <a:rPr lang="en-US" sz="1050" i="1" dirty="0">
                <a:solidFill>
                  <a:schemeClr val="bg2"/>
                </a:solidFill>
              </a:rPr>
              <a:t>Russell and Norvig, §2.3.1</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49110-FE50-8733-63E9-67AB84EF0C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6B407D-9426-7B31-091C-5FDD331BF97B}"/>
              </a:ext>
            </a:extLst>
          </p:cNvPr>
          <p:cNvSpPr>
            <a:spLocks noGrp="1"/>
          </p:cNvSpPr>
          <p:nvPr>
            <p:ph type="title"/>
          </p:nvPr>
        </p:nvSpPr>
        <p:spPr/>
        <p:txBody>
          <a:bodyPr/>
          <a:lstStyle/>
          <a:p>
            <a:r>
              <a:t>The task environment</a:t>
            </a:r>
          </a:p>
        </p:txBody>
      </p:sp>
      <p:sp>
        <p:nvSpPr>
          <p:cNvPr id="3" name="Rectangle 2">
            <a:extLst>
              <a:ext uri="{FF2B5EF4-FFF2-40B4-BE49-F238E27FC236}">
                <a16:creationId xmlns:a16="http://schemas.microsoft.com/office/drawing/2014/main" id="{3D476A7E-2DF9-70B2-7A41-73411D843BB6}"/>
              </a:ext>
            </a:extLst>
          </p:cNvPr>
          <p:cNvSpPr/>
          <p:nvPr/>
        </p:nvSpPr>
        <p:spPr>
          <a:xfrm>
            <a:off x="319251" y="677213"/>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r>
              <a:rPr sz="1400" dirty="0">
                <a:solidFill>
                  <a:schemeClr val="tx2"/>
                </a:solidFill>
              </a:rPr>
              <a:t>A task environment is a performance measure</a:t>
            </a:r>
            <a:r>
              <a:rPr lang="en-US" sz="1400" dirty="0">
                <a:solidFill>
                  <a:schemeClr val="tx2"/>
                </a:solidFill>
              </a:rPr>
              <a:t> </a:t>
            </a:r>
            <a:r>
              <a:rPr lang="en-US" sz="1400" b="1" dirty="0">
                <a:solidFill>
                  <a:schemeClr val="tx2"/>
                </a:solidFill>
              </a:rPr>
              <a:t>(P)</a:t>
            </a:r>
            <a:r>
              <a:rPr sz="1400" dirty="0">
                <a:solidFill>
                  <a:schemeClr val="tx2"/>
                </a:solidFill>
              </a:rPr>
              <a:t>, an environment</a:t>
            </a:r>
            <a:r>
              <a:rPr lang="en-US" sz="1400" dirty="0">
                <a:solidFill>
                  <a:schemeClr val="tx2"/>
                </a:solidFill>
              </a:rPr>
              <a:t> </a:t>
            </a:r>
            <a:r>
              <a:rPr lang="en-US" sz="1400" b="1" dirty="0">
                <a:solidFill>
                  <a:schemeClr val="tx2"/>
                </a:solidFill>
              </a:rPr>
              <a:t>(E)</a:t>
            </a:r>
            <a:r>
              <a:rPr sz="1400" dirty="0">
                <a:solidFill>
                  <a:schemeClr val="tx2"/>
                </a:solidFill>
              </a:rPr>
              <a:t>, actuators </a:t>
            </a:r>
            <a:r>
              <a:rPr lang="en-US" sz="1400" b="1" dirty="0">
                <a:solidFill>
                  <a:schemeClr val="tx2"/>
                </a:solidFill>
              </a:rPr>
              <a:t>(A)</a:t>
            </a:r>
            <a:r>
              <a:rPr lang="en-US" sz="1400" dirty="0">
                <a:solidFill>
                  <a:schemeClr val="tx2"/>
                </a:solidFill>
              </a:rPr>
              <a:t> </a:t>
            </a:r>
            <a:r>
              <a:rPr sz="1400" dirty="0">
                <a:solidFill>
                  <a:schemeClr val="tx2"/>
                </a:solidFill>
              </a:rPr>
              <a:t>and sensors</a:t>
            </a:r>
            <a:r>
              <a:rPr lang="en-US" sz="1400" dirty="0">
                <a:solidFill>
                  <a:schemeClr val="tx2"/>
                </a:solidFill>
              </a:rPr>
              <a:t> </a:t>
            </a:r>
            <a:r>
              <a:rPr lang="en-US" sz="1400" b="1" dirty="0">
                <a:solidFill>
                  <a:schemeClr val="tx2"/>
                </a:solidFill>
              </a:rPr>
              <a:t>(S)</a:t>
            </a:r>
            <a:r>
              <a:rPr sz="1400" dirty="0">
                <a:solidFill>
                  <a:schemeClr val="tx2"/>
                </a:solidFill>
              </a:rPr>
              <a:t>, written down as a PEAS description. </a:t>
            </a:r>
          </a:p>
        </p:txBody>
      </p:sp>
      <p:graphicFrame>
        <p:nvGraphicFramePr>
          <p:cNvPr id="4" name="Table 3">
            <a:extLst>
              <a:ext uri="{FF2B5EF4-FFF2-40B4-BE49-F238E27FC236}">
                <a16:creationId xmlns:a16="http://schemas.microsoft.com/office/drawing/2014/main" id="{F1ABD533-E5B3-98A7-BFBB-13E6845A2FD8}"/>
              </a:ext>
            </a:extLst>
          </p:cNvPr>
          <p:cNvGraphicFramePr>
            <a:graphicFrameLocks noGrp="1"/>
          </p:cNvGraphicFramePr>
          <p:nvPr/>
        </p:nvGraphicFramePr>
        <p:xfrm>
          <a:off x="319251" y="1619971"/>
          <a:ext cx="6014545" cy="2144040"/>
        </p:xfrm>
        <a:graphic>
          <a:graphicData uri="http://schemas.openxmlformats.org/drawingml/2006/table">
            <a:tbl>
              <a:tblPr>
                <a:tableStyleId>{2D5ABB26-0587-4C30-8999-92F81FD0307C}</a:tableStyleId>
              </a:tblPr>
              <a:tblGrid>
                <a:gridCol w="1239525">
                  <a:extLst>
                    <a:ext uri="{9D8B030D-6E8A-4147-A177-3AD203B41FA5}">
                      <a16:colId xmlns:a16="http://schemas.microsoft.com/office/drawing/2014/main" val="20000"/>
                    </a:ext>
                  </a:extLst>
                </a:gridCol>
                <a:gridCol w="4775020">
                  <a:extLst>
                    <a:ext uri="{9D8B030D-6E8A-4147-A177-3AD203B41FA5}">
                      <a16:colId xmlns:a16="http://schemas.microsoft.com/office/drawing/2014/main" val="20001"/>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200" b="1" dirty="0">
                          <a:solidFill>
                            <a:schemeClr val="tx1">
                              <a:lumMod val="85000"/>
                              <a:lumOff val="15000"/>
                            </a:schemeClr>
                          </a:solidFill>
                        </a:rPr>
                        <a:t>For mini-swe-agent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dirty="0">
                          <a:solidFill>
                            <a:srgbClr val="28285E"/>
                          </a:solidFill>
                        </a:rPr>
                        <a:t>Performance measure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The reported </a:t>
                      </a:r>
                      <a:r>
                        <a:rPr sz="1200" b="1" dirty="0">
                          <a:solidFill>
                            <a:schemeClr val="tx1">
                              <a:lumMod val="85000"/>
                              <a:lumOff val="15000"/>
                            </a:schemeClr>
                          </a:solidFill>
                        </a:rPr>
                        <a:t>weakness is </a:t>
                      </a:r>
                      <a:r>
                        <a:rPr lang="en-US" sz="1200" b="1" dirty="0">
                          <a:solidFill>
                            <a:schemeClr val="tx1">
                              <a:lumMod val="85000"/>
                              <a:lumOff val="15000"/>
                            </a:schemeClr>
                          </a:solidFill>
                        </a:rPr>
                        <a:t>gone</a:t>
                      </a:r>
                      <a:r>
                        <a:rPr lang="en-US" sz="1200" b="0" dirty="0">
                          <a:solidFill>
                            <a:schemeClr val="tx1">
                              <a:lumMod val="85000"/>
                              <a:lumOff val="15000"/>
                            </a:schemeClr>
                          </a:solidFill>
                        </a:rPr>
                        <a:t>,</a:t>
                      </a:r>
                      <a:r>
                        <a:rPr sz="1200" b="0" dirty="0">
                          <a:solidFill>
                            <a:schemeClr val="tx1">
                              <a:lumMod val="85000"/>
                              <a:lumOff val="15000"/>
                            </a:schemeClr>
                          </a:solidFill>
                        </a:rPr>
                        <a:t> and the </a:t>
                      </a:r>
                      <a:r>
                        <a:rPr sz="1200" b="1" dirty="0">
                          <a:solidFill>
                            <a:schemeClr val="tx1">
                              <a:lumMod val="85000"/>
                              <a:lumOff val="15000"/>
                            </a:schemeClr>
                          </a:solidFill>
                        </a:rPr>
                        <a:t>endpoint still returns </a:t>
                      </a:r>
                      <a:r>
                        <a:rPr sz="1200" b="0" dirty="0">
                          <a:solidFill>
                            <a:schemeClr val="tx1">
                              <a:lumMod val="85000"/>
                              <a:lumOff val="15000"/>
                            </a:schemeClr>
                          </a:solidFill>
                        </a:rPr>
                        <a:t>what it returned before, </a:t>
                      </a:r>
                      <a:r>
                        <a:rPr sz="1200" b="1" dirty="0">
                          <a:solidFill>
                            <a:schemeClr val="tx1">
                              <a:lumMod val="85000"/>
                              <a:lumOff val="15000"/>
                            </a:schemeClr>
                          </a:solidFill>
                        </a:rPr>
                        <a:t>at bounded cost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255372">
                <a:tc>
                  <a:txBody>
                    <a:bodyPr/>
                    <a:lstStyle/>
                    <a:p>
                      <a:pPr algn="l">
                        <a:buNone/>
                      </a:pPr>
                      <a:r>
                        <a:rPr sz="1200" b="1" dirty="0">
                          <a:solidFill>
                            <a:srgbClr val="28285E"/>
                          </a:solidFill>
                        </a:rPr>
                        <a:t>Environment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OWASP </a:t>
                      </a:r>
                      <a:r>
                        <a:rPr sz="1200" b="0" dirty="0">
                          <a:solidFill>
                            <a:schemeClr val="tx1">
                              <a:lumMod val="85000"/>
                              <a:lumOff val="15000"/>
                            </a:schemeClr>
                          </a:solidFill>
                          <a:latin typeface="Maple Mono NF" panose="020F0509060000000000" pitchFamily="49" charset="0"/>
                          <a:ea typeface="Maple Mono NF" panose="020F0509060000000000" pitchFamily="49" charset="0"/>
                        </a:rPr>
                        <a:t>BenchmarkPython</a:t>
                      </a:r>
                      <a:r>
                        <a:rPr sz="1200" b="0" dirty="0">
                          <a:solidFill>
                            <a:schemeClr val="tx1">
                              <a:lumMod val="85000"/>
                              <a:lumOff val="15000"/>
                            </a:schemeClr>
                          </a:solidFill>
                        </a:rPr>
                        <a:t> at a pinned commit, one scanner alert read as an issue report, and the working tree the agent edits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Actuators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latin typeface="Maple Mono NF" panose="020F0509060000000000" pitchFamily="49" charset="0"/>
                          <a:ea typeface="Maple Mono NF" panose="020F0509060000000000" pitchFamily="49" charset="0"/>
                        </a:rPr>
                        <a:t>read_file(path, range), search(pattern), edit(path, old, new), submit(patch)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200" b="1">
                          <a:solidFill>
                            <a:srgbClr val="28285E"/>
                          </a:solidFill>
                        </a:rPr>
                        <a:t>Sensors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The alert, file excerpts, search hits, edit confirmations, the validation result, and tool errors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F9D0F3BC-BF1E-CA4A-98A0-D3ED18C6EC10}"/>
              </a:ext>
            </a:extLst>
          </p:cNvPr>
          <p:cNvSpPr txBox="1"/>
          <p:nvPr/>
        </p:nvSpPr>
        <p:spPr>
          <a:xfrm>
            <a:off x="4565363" y="1318892"/>
            <a:ext cx="1768433" cy="253916"/>
          </a:xfrm>
          <a:prstGeom prst="rect">
            <a:avLst/>
          </a:prstGeom>
          <a:noFill/>
        </p:spPr>
        <p:txBody>
          <a:bodyPr wrap="none" rtlCol="0">
            <a:spAutoFit/>
          </a:bodyPr>
          <a:lstStyle/>
          <a:p>
            <a:r>
              <a:rPr lang="en-US" sz="1050" i="1" dirty="0">
                <a:solidFill>
                  <a:schemeClr val="bg2"/>
                </a:solidFill>
              </a:rPr>
              <a:t>Russell and Norvig, §2.3.1</a:t>
            </a:r>
          </a:p>
        </p:txBody>
      </p:sp>
      <p:sp>
        <p:nvSpPr>
          <p:cNvPr id="6" name="TextBox 5">
            <a:extLst>
              <a:ext uri="{FF2B5EF4-FFF2-40B4-BE49-F238E27FC236}">
                <a16:creationId xmlns:a16="http://schemas.microsoft.com/office/drawing/2014/main" id="{CBFDF1DF-D0B9-BECE-07B2-16034D68DB00}"/>
              </a:ext>
            </a:extLst>
          </p:cNvPr>
          <p:cNvSpPr txBox="1"/>
          <p:nvPr/>
        </p:nvSpPr>
        <p:spPr>
          <a:xfrm>
            <a:off x="233584" y="4095968"/>
            <a:ext cx="6185877" cy="261610"/>
          </a:xfrm>
          <a:prstGeom prst="rect">
            <a:avLst/>
          </a:prstGeom>
          <a:solidFill>
            <a:schemeClr val="accent4"/>
          </a:solidFill>
          <a:ln>
            <a:solidFill>
              <a:schemeClr val="accent4"/>
            </a:solidFill>
          </a:ln>
        </p:spPr>
        <p:txBody>
          <a:bodyPr wrap="square" rtlCol="0">
            <a:spAutoFit/>
          </a:bodyPr>
          <a:lstStyle/>
          <a:p>
            <a:pPr algn="just"/>
            <a:r>
              <a:rPr lang="en-US" sz="1100" b="1" dirty="0">
                <a:solidFill>
                  <a:schemeClr val="bg1"/>
                </a:solidFill>
                <a:latin typeface="Fira Sans Light" panose="020B0403050000020004" pitchFamily="34" charset="0"/>
              </a:rPr>
              <a:t>In designing an agent, the first step is to try to specify the task environment as fully as possible.</a:t>
            </a:r>
          </a:p>
        </p:txBody>
      </p:sp>
    </p:spTree>
    <p:extLst>
      <p:ext uri="{BB962C8B-B14F-4D97-AF65-F5344CB8AC3E}">
        <p14:creationId xmlns:p14="http://schemas.microsoft.com/office/powerpoint/2010/main" val="27238161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Properties: </a:t>
            </a:r>
            <a:r>
              <a:rPr dirty="0"/>
              <a:t>Fully or partially observable</a:t>
            </a:r>
          </a:p>
        </p:txBody>
      </p:sp>
      <p:graphicFrame>
        <p:nvGraphicFramePr>
          <p:cNvPr id="3" name="Table 2"/>
          <p:cNvGraphicFramePr>
            <a:graphicFrameLocks noGrp="1"/>
          </p:cNvGraphicFramePr>
          <p:nvPr>
            <p:extLst>
              <p:ext uri="{D42A27DB-BD31-4B8C-83A1-F6EECF244321}">
                <p14:modId xmlns:p14="http://schemas.microsoft.com/office/powerpoint/2010/main" val="311575709"/>
              </p:ext>
            </p:extLst>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Fully observable</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Partially observable</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dirty="0">
                          <a:solidFill>
                            <a:srgbClr val="28285E"/>
                          </a:solidFill>
                        </a:rPr>
                        <a:t>The </a:t>
                      </a:r>
                      <a:r>
                        <a:rPr sz="1100" b="1" dirty="0">
                          <a:solidFill>
                            <a:srgbClr val="28285E"/>
                          </a:solidFill>
                        </a:rPr>
                        <a:t>sensors give the agent the complete state of the environment</a:t>
                      </a:r>
                      <a:r>
                        <a:rPr sz="1100" b="0" dirty="0">
                          <a:solidFill>
                            <a:srgbClr val="28285E"/>
                          </a:solidFill>
                        </a:rPr>
                        <a:t> at each point in time, or at least every part that matters for the choice of action.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dirty="0">
                          <a:solidFill>
                            <a:srgbClr val="28285E"/>
                          </a:solidFill>
                        </a:rPr>
                        <a:t>The sensors are </a:t>
                      </a:r>
                      <a:r>
                        <a:rPr sz="1100" b="1" dirty="0">
                          <a:solidFill>
                            <a:srgbClr val="28285E"/>
                          </a:solidFill>
                        </a:rPr>
                        <a:t>noisy or inaccurate, or part of the state is simply missing</a:t>
                      </a:r>
                      <a:r>
                        <a:rPr sz="1100" b="0" dirty="0">
                          <a:solidFill>
                            <a:srgbClr val="28285E"/>
                          </a:solidFill>
                        </a:rPr>
                        <a:t>. With no sensors at all, unobservable.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with a clock, backgammon, image analysis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dirty="0">
                          <a:solidFill>
                            <a:srgbClr val="28285E"/>
                          </a:solidFill>
                        </a:rPr>
                        <a:t>Poker, taxi driving, medical diagnosis,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dirty="0">
                <a:solidFill>
                  <a:srgbClr val="348EDC"/>
                </a:solidFill>
              </a:rPr>
              <a:t>Partially observable. </a:t>
            </a:r>
            <a:r>
              <a:rPr sz="1300" dirty="0">
                <a:solidFill>
                  <a:srgbClr val="28285E"/>
                </a:solidFill>
              </a:rPr>
              <a:t>Our agent </a:t>
            </a:r>
            <a:r>
              <a:rPr sz="1300" b="1" dirty="0">
                <a:solidFill>
                  <a:srgbClr val="28285E"/>
                </a:solidFill>
              </a:rPr>
              <a:t>sees only what it reads, and it never sees whether the endpoint still works</a:t>
            </a:r>
            <a:r>
              <a:rPr lang="en-US" sz="1300" b="1" dirty="0">
                <a:solidFill>
                  <a:srgbClr val="28285E"/>
                </a:solidFill>
              </a:rPr>
              <a:t>. </a:t>
            </a:r>
            <a:r>
              <a:rPr lang="en-US" sz="1300" dirty="0">
                <a:solidFill>
                  <a:srgbClr val="28285E"/>
                </a:solidFill>
              </a:rPr>
              <a:t>How or where the application is running, the OS or what other programs are running simultaneously. </a:t>
            </a:r>
            <a:endParaRPr sz="1300" dirty="0">
              <a:solidFill>
                <a:srgbClr val="28285E"/>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Single agent or multiagent</a:t>
            </a:r>
          </a:p>
        </p:txBody>
      </p:sp>
      <p:graphicFrame>
        <p:nvGraphicFramePr>
          <p:cNvPr id="3" name="Table 2"/>
          <p:cNvGraphicFramePr>
            <a:graphicFrameLocks noGrp="1"/>
          </p:cNvGraphicFramePr>
          <p:nvPr>
            <p:extLst>
              <p:ext uri="{D42A27DB-BD31-4B8C-83A1-F6EECF244321}">
                <p14:modId xmlns:p14="http://schemas.microsoft.com/office/powerpoint/2010/main" val="4098586134"/>
              </p:ext>
            </p:extLst>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Single agent</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Multiagent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dirty="0">
                          <a:solidFill>
                            <a:srgbClr val="28285E"/>
                          </a:solidFill>
                        </a:rPr>
                        <a:t>No other entity behaves as though it were </a:t>
                      </a:r>
                      <a:r>
                        <a:rPr sz="1100" b="0" dirty="0" err="1">
                          <a:solidFill>
                            <a:srgbClr val="28285E"/>
                          </a:solidFill>
                        </a:rPr>
                        <a:t>maximising</a:t>
                      </a:r>
                      <a:r>
                        <a:rPr sz="1100" b="0" dirty="0">
                          <a:solidFill>
                            <a:srgbClr val="28285E"/>
                          </a:solidFill>
                        </a:rPr>
                        <a:t> a measure that depends on what this agent does.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dirty="0">
                          <a:solidFill>
                            <a:srgbClr val="28285E"/>
                          </a:solidFill>
                        </a:rPr>
                        <a:t>Another entity is best described as maximizing a measure whose value depends on this agent's behavior. It can compete, as in chess, or cooperate, as in traffic.</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medical diagnosis, image analysis,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dirty="0">
                          <a:solidFill>
                            <a:srgbClr val="28285E"/>
                          </a:solidFill>
                        </a:rPr>
                        <a:t>Chess with a clock, poker, backgammon, taxi driving,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dirty="0">
                <a:solidFill>
                  <a:srgbClr val="348EDC"/>
                </a:solidFill>
              </a:rPr>
              <a:t>Single agent. </a:t>
            </a:r>
            <a:r>
              <a:rPr sz="1300" dirty="0">
                <a:solidFill>
                  <a:srgbClr val="28285E"/>
                </a:solidFill>
              </a:rPr>
              <a:t>Nothing in the </a:t>
            </a:r>
            <a:r>
              <a:rPr lang="en-US" sz="1300" dirty="0">
                <a:solidFill>
                  <a:srgbClr val="28285E"/>
                </a:solidFill>
              </a:rPr>
              <a:t>architecture </a:t>
            </a:r>
            <a:r>
              <a:rPr sz="1300" dirty="0">
                <a:solidFill>
                  <a:srgbClr val="28285E"/>
                </a:solidFill>
              </a:rPr>
              <a:t>is trying to </a:t>
            </a:r>
            <a:r>
              <a:rPr lang="en-US" sz="1300">
                <a:solidFill>
                  <a:srgbClr val="28285E"/>
                </a:solidFill>
              </a:rPr>
              <a:t>cooperate with or </a:t>
            </a:r>
            <a:r>
              <a:rPr sz="1300" dirty="0">
                <a:solidFill>
                  <a:srgbClr val="28285E"/>
                </a:solidFill>
              </a:rPr>
              <a:t>beat it.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Deterministic or nondeterministic</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Deterministic</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Nondeterministic</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current state and the action the agent executes fix the next state completely.</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They do not. A partly observable environment can look nondeterministic even when it is not. Stochastic is the narrower word, for models that put numbers on the possibilities.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with a clock, image analysis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Poker, backgammon, taxi driving, medical diagnosis,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Deterministic. </a:t>
            </a:r>
            <a:r>
              <a:rPr sz="1300">
                <a:solidFill>
                  <a:srgbClr val="28285E"/>
                </a:solidFill>
              </a:rPr>
              <a:t>The same read, and the same rescan, give the same answer every time.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Episodic or sequential</a:t>
            </a:r>
          </a:p>
        </p:txBody>
      </p:sp>
      <p:graphicFrame>
        <p:nvGraphicFramePr>
          <p:cNvPr id="3" name="Table 2"/>
          <p:cNvGraphicFramePr>
            <a:graphicFrameLocks noGrp="1"/>
          </p:cNvGraphicFramePr>
          <p:nvPr>
            <p:extLst>
              <p:ext uri="{D42A27DB-BD31-4B8C-83A1-F6EECF244321}">
                <p14:modId xmlns:p14="http://schemas.microsoft.com/office/powerpoint/2010/main" val="3334931842"/>
              </p:ext>
            </p:extLst>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Episodic</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Sequential</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dirty="0">
                          <a:solidFill>
                            <a:srgbClr val="28285E"/>
                          </a:solidFill>
                        </a:rPr>
                        <a:t>Experience divides into </a:t>
                      </a:r>
                      <a:r>
                        <a:rPr sz="1100" b="1" dirty="0">
                          <a:solidFill>
                            <a:srgbClr val="28285E"/>
                          </a:solidFill>
                        </a:rPr>
                        <a:t>separate episodes</a:t>
                      </a:r>
                      <a:r>
                        <a:rPr sz="1100" b="0" dirty="0">
                          <a:solidFill>
                            <a:srgbClr val="28285E"/>
                          </a:solidFill>
                        </a:rPr>
                        <a:t>. The agent perceives, then acts once, and </a:t>
                      </a:r>
                      <a:r>
                        <a:rPr sz="1100" b="1" dirty="0">
                          <a:solidFill>
                            <a:srgbClr val="28285E"/>
                          </a:solidFill>
                        </a:rPr>
                        <a:t>the next episode owes nothing to the last</a:t>
                      </a:r>
                      <a:r>
                        <a:rPr sz="1100" b="0" dirty="0">
                          <a:solidFill>
                            <a:srgbClr val="28285E"/>
                          </a:solidFill>
                        </a:rPr>
                        <a: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current decision can affect every decision that follows.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Image analysis, part-picking robot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dirty="0">
                          <a:solidFill>
                            <a:srgbClr val="28285E"/>
                          </a:solidFill>
                        </a:rPr>
                        <a:t>Crossword, chess, poker, backgammon, taxi driving, medical diagnosis, refinery controller,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dirty="0">
                <a:solidFill>
                  <a:srgbClr val="348EDC"/>
                </a:solidFill>
              </a:rPr>
              <a:t>Both, at different scales. </a:t>
            </a:r>
            <a:r>
              <a:rPr sz="1300" b="1" dirty="0">
                <a:solidFill>
                  <a:srgbClr val="28285E"/>
                </a:solidFill>
              </a:rPr>
              <a:t>Sequential inside one alert</a:t>
            </a:r>
            <a:r>
              <a:rPr sz="1300" dirty="0">
                <a:solidFill>
                  <a:srgbClr val="28285E"/>
                </a:solidFill>
              </a:rPr>
              <a:t>, because what it reads next depends on what it just read. </a:t>
            </a:r>
            <a:r>
              <a:rPr sz="1300" b="1" dirty="0">
                <a:solidFill>
                  <a:srgbClr val="28285E"/>
                </a:solidFill>
              </a:rPr>
              <a:t>Episodic across alerts</a:t>
            </a:r>
            <a:r>
              <a:rPr sz="1300" dirty="0">
                <a:solidFill>
                  <a:srgbClr val="28285E"/>
                </a:solidFill>
              </a:rPr>
              <a:t>, because one alert teaches it nothing about the next.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Static or dynamic</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Static</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Dynamic</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environment cannot change while the agent is thinking, so the agent need not watch the clock.</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environment can change while the agent is thinking. Semidynamic if the world holds still but the score does not.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poker, backgammon; chess with a clock and image analysis are semidynamic</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Taxi driving, medical diagnosis, part-picking robot, refinery controller,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Static. </a:t>
            </a:r>
            <a:r>
              <a:rPr sz="1300">
                <a:solidFill>
                  <a:srgbClr val="28285E"/>
                </a:solidFill>
              </a:rPr>
              <a:t>The working tree changes only when our agent edits it.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Discrete or continuous</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Discrete</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Continuous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state, the handling of time, and the agent's percepts and actions all come in a finite number of distinct values.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State, time, percepts or actions sweep through a range of values.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with a clock, poker, backgammon,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Taxi driving, medical diagnosis, image analysis,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Discrete. </a:t>
            </a:r>
            <a:r>
              <a:rPr sz="1300">
                <a:solidFill>
                  <a:srgbClr val="28285E"/>
                </a:solidFill>
              </a:rPr>
              <a:t>Files, lines, hunks and edits are countable. There is nothing here to measure.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Known or unknown</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Known</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Unknown</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outcomes of every action are given. This is about what the agent knows, not about the environment itself.</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agent has to learn how the world works before it can choose well. A new video game shows the whole screen and still will not say what the buttons do.</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Chess and poker: the rules can be handed over in full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Driving a rented car in a country you have not driven in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Known. </a:t>
            </a:r>
            <a:r>
              <a:rPr sz="1300">
                <a:solidFill>
                  <a:srgbClr val="28285E"/>
                </a:solidFill>
              </a:rPr>
              <a:t>We know what each tool does. What we do not know is where the flaw is, and that is the other axis.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agent, its tools, and its environment</a:t>
            </a:r>
          </a:p>
        </p:txBody>
      </p:sp>
      <p:pic>
        <p:nvPicPr>
          <p:cNvPr id="3" name="Picture 2" descr="state-graph-annotated.png"/>
          <p:cNvPicPr>
            <a:picLocks noChangeAspect="1"/>
          </p:cNvPicPr>
          <p:nvPr/>
        </p:nvPicPr>
        <p:blipFill>
          <a:blip r:embed="rId3"/>
          <a:stretch>
            <a:fillRect/>
          </a:stretch>
        </p:blipFill>
        <p:spPr>
          <a:xfrm>
            <a:off x="250147" y="700000"/>
            <a:ext cx="6152752" cy="3496689"/>
          </a:xfrm>
          <a:prstGeom prst="rect">
            <a:avLst/>
          </a:prstGeom>
        </p:spPr>
      </p:pic>
      <p:sp>
        <p:nvSpPr>
          <p:cNvPr id="4" name="Rectangle 3"/>
          <p:cNvSpPr/>
          <p:nvPr/>
        </p:nvSpPr>
        <p:spPr>
          <a:xfrm>
            <a:off x="319251" y="4320000"/>
            <a:ext cx="6014545" cy="544308"/>
          </a:xfrm>
          <a:prstGeom prst="rect">
            <a:avLst/>
          </a:prstGeom>
          <a:noFill/>
          <a:ln w="19050">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rgbClr val="28285E"/>
                </a:solidFill>
              </a:rPr>
              <a:t>Every label in </a:t>
            </a:r>
            <a:r>
              <a:rPr lang="en-US" sz="1200" dirty="0">
                <a:solidFill>
                  <a:schemeClr val="accent4"/>
                </a:solidFill>
              </a:rPr>
              <a:t>magenta</a:t>
            </a:r>
            <a:r>
              <a:rPr sz="1200" dirty="0">
                <a:solidFill>
                  <a:schemeClr val="accent4"/>
                </a:solidFill>
              </a:rPr>
              <a:t> </a:t>
            </a:r>
            <a:r>
              <a:rPr sz="1200" dirty="0">
                <a:solidFill>
                  <a:srgbClr val="28285E"/>
                </a:solidFill>
              </a:rPr>
              <a:t>na</a:t>
            </a:r>
            <a:r>
              <a:rPr lang="en-US" sz="1200" dirty="0">
                <a:solidFill>
                  <a:srgbClr val="28285E"/>
                </a:solidFill>
              </a:rPr>
              <a:t>m</a:t>
            </a:r>
            <a:r>
              <a:rPr sz="1200" dirty="0">
                <a:solidFill>
                  <a:srgbClr val="28285E"/>
                </a:solidFill>
              </a:rPr>
              <a:t>es a row of the vocabulary table</a:t>
            </a:r>
            <a:r>
              <a:rPr lang="en-US" sz="1200" dirty="0">
                <a:solidFill>
                  <a:srgbClr val="28285E"/>
                </a:solidFill>
              </a:rPr>
              <a:t> (Table 2) in the lecture notes.</a:t>
            </a:r>
            <a:endParaRPr sz="1200" dirty="0">
              <a:solidFill>
                <a:srgbClr val="28285E"/>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CC7E3C6B-C7BA-D0CB-DAC9-A65067BE7055}"/>
              </a:ext>
            </a:extLst>
          </p:cNvPr>
          <p:cNvCxnSpPr>
            <a:cxnSpLocks/>
          </p:cNvCxnSpPr>
          <p:nvPr/>
        </p:nvCxnSpPr>
        <p:spPr>
          <a:xfrm>
            <a:off x="1063835" y="1692899"/>
            <a:ext cx="0" cy="2688142"/>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2" name="Title 1"/>
          <p:cNvSpPr>
            <a:spLocks noGrp="1"/>
          </p:cNvSpPr>
          <p:nvPr>
            <p:ph type="title"/>
          </p:nvPr>
        </p:nvSpPr>
        <p:spPr/>
        <p:txBody>
          <a:bodyPr/>
          <a:lstStyle/>
          <a:p>
            <a:r>
              <a:rPr dirty="0">
                <a:solidFill>
                  <a:schemeClr val="tx2"/>
                </a:solidFill>
              </a:rPr>
              <a:t>The rest of this lecture</a:t>
            </a:r>
          </a:p>
        </p:txBody>
      </p:sp>
      <p:sp>
        <p:nvSpPr>
          <p:cNvPr id="3" name="Rectangle 2"/>
          <p:cNvSpPr/>
          <p:nvPr/>
        </p:nvSpPr>
        <p:spPr>
          <a:xfrm>
            <a:off x="319251" y="607969"/>
            <a:ext cx="6014545" cy="850801"/>
          </a:xfrm>
          <a:prstGeom prst="rect">
            <a:avLst/>
          </a:prstGeom>
          <a:solidFill>
            <a:srgbClr val="28285E"/>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We take </a:t>
            </a:r>
            <a:r>
              <a:rPr sz="1400" dirty="0">
                <a:latin typeface="Maple Mono NF"/>
              </a:rPr>
              <a:t>mini-swe-agent</a:t>
            </a:r>
            <a:r>
              <a:rPr sz="1400" dirty="0">
                <a:solidFill>
                  <a:schemeClr val="tx2"/>
                </a:solidFill>
              </a:rPr>
              <a:t> through </a:t>
            </a:r>
            <a:r>
              <a:rPr lang="en-US" sz="1400" dirty="0">
                <a:solidFill>
                  <a:schemeClr val="tx2"/>
                </a:solidFill>
              </a:rPr>
              <a:t>three</a:t>
            </a:r>
            <a:r>
              <a:rPr sz="1400" dirty="0">
                <a:solidFill>
                  <a:schemeClr val="tx2"/>
                </a:solidFill>
              </a:rPr>
              <a:t> architectures, escalating how much of the run </a:t>
            </a:r>
            <a:r>
              <a:rPr sz="1400" b="1" dirty="0">
                <a:solidFill>
                  <a:schemeClr val="tx2"/>
                </a:solidFill>
              </a:rPr>
              <a:t>it decides for itself</a:t>
            </a:r>
            <a:r>
              <a:rPr sz="1400" dirty="0">
                <a:solidFill>
                  <a:schemeClr val="tx2"/>
                </a:solidFill>
              </a:rPr>
              <a:t>.</a:t>
            </a:r>
            <a:r>
              <a:rPr lang="en-US" sz="1400" dirty="0">
                <a:solidFill>
                  <a:schemeClr val="tx2"/>
                </a:solidFill>
              </a:rPr>
              <a:t> </a:t>
            </a:r>
          </a:p>
          <a:p>
            <a:pPr algn="just">
              <a:lnSpc>
                <a:spcPct val="114000"/>
              </a:lnSpc>
            </a:pPr>
            <a:r>
              <a:rPr lang="en-US" sz="1400" dirty="0">
                <a:solidFill>
                  <a:schemeClr val="tx2"/>
                </a:solidFill>
              </a:rPr>
              <a:t>Same agent, same alert. Only the architecture changes.</a:t>
            </a:r>
          </a:p>
        </p:txBody>
      </p:sp>
      <p:sp>
        <p:nvSpPr>
          <p:cNvPr id="7" name="Oval 6">
            <a:extLst>
              <a:ext uri="{FF2B5EF4-FFF2-40B4-BE49-F238E27FC236}">
                <a16:creationId xmlns:a16="http://schemas.microsoft.com/office/drawing/2014/main" id="{21B305C6-BCD8-3084-6066-D43E025F6128}"/>
              </a:ext>
            </a:extLst>
          </p:cNvPr>
          <p:cNvSpPr/>
          <p:nvPr/>
        </p:nvSpPr>
        <p:spPr>
          <a:xfrm>
            <a:off x="951758" y="1862799"/>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02F27B1B-E86D-93B6-6A15-3F808DA7EF2C}"/>
              </a:ext>
            </a:extLst>
          </p:cNvPr>
          <p:cNvSpPr/>
          <p:nvPr/>
        </p:nvSpPr>
        <p:spPr>
          <a:xfrm>
            <a:off x="951758" y="239649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8EA1BCA0-FAD6-ABA4-FB1A-C2C8F477F7CE}"/>
              </a:ext>
            </a:extLst>
          </p:cNvPr>
          <p:cNvSpPr/>
          <p:nvPr/>
        </p:nvSpPr>
        <p:spPr>
          <a:xfrm>
            <a:off x="951758" y="292663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79249219-E78B-E432-2C71-78F496B33DBE}"/>
              </a:ext>
            </a:extLst>
          </p:cNvPr>
          <p:cNvSpPr/>
          <p:nvPr/>
        </p:nvSpPr>
        <p:spPr>
          <a:xfrm>
            <a:off x="951758" y="3460331"/>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48C9E10-EB35-0208-E130-F840731670DB}"/>
              </a:ext>
            </a:extLst>
          </p:cNvPr>
          <p:cNvSpPr txBox="1"/>
          <p:nvPr/>
        </p:nvSpPr>
        <p:spPr>
          <a:xfrm>
            <a:off x="1259524" y="1820986"/>
            <a:ext cx="5033750" cy="307777"/>
          </a:xfrm>
          <a:prstGeom prst="rect">
            <a:avLst/>
          </a:prstGeom>
          <a:noFill/>
        </p:spPr>
        <p:txBody>
          <a:bodyPr wrap="none" rtlCol="0">
            <a:spAutoFit/>
          </a:bodyPr>
          <a:lstStyle/>
          <a:p>
            <a:r>
              <a:rPr lang="en-US" b="1" dirty="0">
                <a:solidFill>
                  <a:schemeClr val="tx2"/>
                </a:solidFill>
              </a:rPr>
              <a:t>Fixed workflow</a:t>
            </a:r>
            <a:r>
              <a:rPr lang="en-US" b="1" dirty="0">
                <a:solidFill>
                  <a:schemeClr val="tx2"/>
                </a:solidFill>
                <a:latin typeface="+mn-lt"/>
              </a:rPr>
              <a:t>: </a:t>
            </a:r>
            <a:r>
              <a:rPr lang="en-US" i="1" dirty="0">
                <a:solidFill>
                  <a:schemeClr val="tx2"/>
                </a:solidFill>
                <a:latin typeface="+mn-lt"/>
              </a:rPr>
              <a:t>The steps are ours, written before the run</a:t>
            </a:r>
            <a:r>
              <a:rPr lang="en-US" b="1" dirty="0">
                <a:solidFill>
                  <a:schemeClr val="tx2"/>
                </a:solidFill>
                <a:latin typeface="+mn-lt"/>
              </a:rPr>
              <a:t> </a:t>
            </a:r>
            <a:endParaRPr lang="en-US" b="1" dirty="0">
              <a:solidFill>
                <a:schemeClr val="tx2"/>
              </a:solidFill>
            </a:endParaRPr>
          </a:p>
        </p:txBody>
      </p:sp>
      <p:sp>
        <p:nvSpPr>
          <p:cNvPr id="11" name="Oval 10">
            <a:extLst>
              <a:ext uri="{FF2B5EF4-FFF2-40B4-BE49-F238E27FC236}">
                <a16:creationId xmlns:a16="http://schemas.microsoft.com/office/drawing/2014/main" id="{CED59E5F-790C-6906-F1ED-1EDA098717EF}"/>
              </a:ext>
            </a:extLst>
          </p:cNvPr>
          <p:cNvSpPr/>
          <p:nvPr/>
        </p:nvSpPr>
        <p:spPr>
          <a:xfrm>
            <a:off x="951758" y="3990470"/>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4E664E44-8E20-FDBD-D280-B0936427DF0F}"/>
              </a:ext>
            </a:extLst>
          </p:cNvPr>
          <p:cNvSpPr txBox="1"/>
          <p:nvPr/>
        </p:nvSpPr>
        <p:spPr>
          <a:xfrm>
            <a:off x="1259524" y="2351125"/>
            <a:ext cx="3672800" cy="307777"/>
          </a:xfrm>
          <a:prstGeom prst="rect">
            <a:avLst/>
          </a:prstGeom>
          <a:noFill/>
        </p:spPr>
        <p:txBody>
          <a:bodyPr wrap="none" rtlCol="0">
            <a:spAutoFit/>
          </a:bodyPr>
          <a:lstStyle/>
          <a:p>
            <a:r>
              <a:rPr lang="en-US" b="1" dirty="0">
                <a:solidFill>
                  <a:schemeClr val="tx2"/>
                </a:solidFill>
              </a:rPr>
              <a:t>ReACT</a:t>
            </a:r>
            <a:r>
              <a:rPr lang="en-US" b="1" dirty="0">
                <a:solidFill>
                  <a:schemeClr val="tx2"/>
                </a:solidFill>
                <a:latin typeface="+mn-lt"/>
              </a:rPr>
              <a:t>: </a:t>
            </a:r>
            <a:r>
              <a:rPr lang="en-US" i="1" dirty="0">
                <a:solidFill>
                  <a:schemeClr val="tx2"/>
                </a:solidFill>
                <a:latin typeface="+mn-lt"/>
              </a:rPr>
              <a:t>The model chooses the next action</a:t>
            </a:r>
          </a:p>
        </p:txBody>
      </p:sp>
      <p:sp>
        <p:nvSpPr>
          <p:cNvPr id="16" name="TextBox 15">
            <a:extLst>
              <a:ext uri="{FF2B5EF4-FFF2-40B4-BE49-F238E27FC236}">
                <a16:creationId xmlns:a16="http://schemas.microsoft.com/office/drawing/2014/main" id="{C041E7CC-4E34-763C-7A58-ED89ED43DDD5}"/>
              </a:ext>
            </a:extLst>
          </p:cNvPr>
          <p:cNvSpPr txBox="1"/>
          <p:nvPr/>
        </p:nvSpPr>
        <p:spPr>
          <a:xfrm>
            <a:off x="1259524" y="2884821"/>
            <a:ext cx="4806124" cy="307777"/>
          </a:xfrm>
          <a:prstGeom prst="rect">
            <a:avLst/>
          </a:prstGeom>
          <a:noFill/>
        </p:spPr>
        <p:txBody>
          <a:bodyPr wrap="none" rtlCol="0">
            <a:spAutoFit/>
          </a:bodyPr>
          <a:lstStyle/>
          <a:p>
            <a:r>
              <a:rPr lang="en-US" b="1" dirty="0">
                <a:solidFill>
                  <a:schemeClr val="tx2"/>
                </a:solidFill>
              </a:rPr>
              <a:t>Planner</a:t>
            </a:r>
            <a:r>
              <a:rPr lang="en-US" b="1" dirty="0">
                <a:solidFill>
                  <a:schemeClr val="tx2"/>
                </a:solidFill>
                <a:latin typeface="+mn-lt"/>
              </a:rPr>
              <a:t>: </a:t>
            </a:r>
            <a:r>
              <a:rPr lang="en-US" i="1" dirty="0">
                <a:solidFill>
                  <a:schemeClr val="tx2"/>
                </a:solidFill>
                <a:latin typeface="+mn-lt"/>
              </a:rPr>
              <a:t>The plan is written into state and revised there</a:t>
            </a:r>
            <a:endParaRPr lang="en-US" b="1" dirty="0">
              <a:solidFill>
                <a:schemeClr val="tx2"/>
              </a:solidFill>
            </a:endParaRPr>
          </a:p>
        </p:txBody>
      </p:sp>
      <p:sp>
        <p:nvSpPr>
          <p:cNvPr id="17" name="TextBox 16">
            <a:extLst>
              <a:ext uri="{FF2B5EF4-FFF2-40B4-BE49-F238E27FC236}">
                <a16:creationId xmlns:a16="http://schemas.microsoft.com/office/drawing/2014/main" id="{63401B7D-FE44-222A-179C-13B44E3895AD}"/>
              </a:ext>
            </a:extLst>
          </p:cNvPr>
          <p:cNvSpPr txBox="1"/>
          <p:nvPr/>
        </p:nvSpPr>
        <p:spPr>
          <a:xfrm>
            <a:off x="1259524" y="3418518"/>
            <a:ext cx="4608954" cy="307777"/>
          </a:xfrm>
          <a:prstGeom prst="rect">
            <a:avLst/>
          </a:prstGeom>
          <a:noFill/>
        </p:spPr>
        <p:txBody>
          <a:bodyPr wrap="none" rtlCol="0">
            <a:spAutoFit/>
          </a:bodyPr>
          <a:lstStyle/>
          <a:p>
            <a:r>
              <a:rPr lang="en-US" b="1" dirty="0">
                <a:solidFill>
                  <a:schemeClr val="tx2"/>
                </a:solidFill>
              </a:rPr>
              <a:t>Validator</a:t>
            </a:r>
            <a:r>
              <a:rPr lang="en-US" b="1" dirty="0">
                <a:solidFill>
                  <a:schemeClr val="tx2"/>
                </a:solidFill>
                <a:latin typeface="+mn-lt"/>
              </a:rPr>
              <a:t>: </a:t>
            </a:r>
            <a:r>
              <a:rPr lang="en-US" i="1" dirty="0">
                <a:solidFill>
                  <a:schemeClr val="tx2"/>
                </a:solidFill>
                <a:latin typeface="+mn-lt"/>
              </a:rPr>
              <a:t>Acceptance is decoupled from the controller</a:t>
            </a:r>
            <a:endParaRPr lang="en-US" b="1" dirty="0">
              <a:solidFill>
                <a:schemeClr val="tx2"/>
              </a:solidFill>
            </a:endParaRPr>
          </a:p>
        </p:txBody>
      </p:sp>
      <p:sp>
        <p:nvSpPr>
          <p:cNvPr id="20" name="TextBox 19">
            <a:extLst>
              <a:ext uri="{FF2B5EF4-FFF2-40B4-BE49-F238E27FC236}">
                <a16:creationId xmlns:a16="http://schemas.microsoft.com/office/drawing/2014/main" id="{1B7E80E3-FF40-2C86-0EA0-A840D613D1BC}"/>
              </a:ext>
            </a:extLst>
          </p:cNvPr>
          <p:cNvSpPr txBox="1"/>
          <p:nvPr/>
        </p:nvSpPr>
        <p:spPr>
          <a:xfrm>
            <a:off x="1259524" y="3948656"/>
            <a:ext cx="5298245" cy="307777"/>
          </a:xfrm>
          <a:prstGeom prst="rect">
            <a:avLst/>
          </a:prstGeom>
          <a:noFill/>
        </p:spPr>
        <p:txBody>
          <a:bodyPr wrap="none" rtlCol="0">
            <a:spAutoFit/>
          </a:bodyPr>
          <a:lstStyle/>
          <a:p>
            <a:r>
              <a:rPr lang="en-US" b="1" dirty="0">
                <a:solidFill>
                  <a:schemeClr val="tx2"/>
                </a:solidFill>
              </a:rPr>
              <a:t>Agent Architectures</a:t>
            </a:r>
            <a:r>
              <a:rPr lang="en-US" b="1" dirty="0">
                <a:solidFill>
                  <a:schemeClr val="tx2"/>
                </a:solidFill>
                <a:latin typeface="+mn-lt"/>
              </a:rPr>
              <a:t>: </a:t>
            </a:r>
            <a:r>
              <a:rPr lang="en-US" i="1" dirty="0">
                <a:solidFill>
                  <a:schemeClr val="tx2"/>
                </a:solidFill>
                <a:latin typeface="+mn-lt"/>
              </a:rPr>
              <a:t>What are some other agent architectures</a:t>
            </a:r>
            <a:endParaRPr lang="en-US" b="1" dirty="0">
              <a:solidFill>
                <a:schemeClr val="tx2"/>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BCF5C2C-80B7-2852-F0D2-7594B6DDEC6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9596FA4-1E68-E103-4F86-8F622AB77A49}"/>
              </a:ext>
            </a:extLst>
          </p:cNvPr>
          <p:cNvSpPr txBox="1"/>
          <p:nvPr/>
        </p:nvSpPr>
        <p:spPr>
          <a:xfrm>
            <a:off x="1430696" y="533124"/>
            <a:ext cx="3996607" cy="707886"/>
          </a:xfrm>
          <a:prstGeom prst="rect">
            <a:avLst/>
          </a:prstGeom>
          <a:noFill/>
        </p:spPr>
        <p:txBody>
          <a:bodyPr wrap="none">
            <a:spAutoFit/>
          </a:bodyPr>
          <a:lstStyle/>
          <a:p>
            <a:pPr algn="ctr"/>
            <a:r>
              <a:rPr sz="4000" b="1" dirty="0">
                <a:solidFill>
                  <a:schemeClr val="tx2"/>
                </a:solidFill>
                <a:latin typeface="+mj-lt"/>
              </a:rPr>
              <a:t>Fixed workflows</a:t>
            </a:r>
          </a:p>
        </p:txBody>
      </p:sp>
      <p:cxnSp>
        <p:nvCxnSpPr>
          <p:cNvPr id="29" name="Straight Arrow Connector 28">
            <a:extLst>
              <a:ext uri="{FF2B5EF4-FFF2-40B4-BE49-F238E27FC236}">
                <a16:creationId xmlns:a16="http://schemas.microsoft.com/office/drawing/2014/main" id="{4D30E45C-20F4-01FB-A96B-3BAB96908305}"/>
              </a:ext>
            </a:extLst>
          </p:cNvPr>
          <p:cNvCxnSpPr>
            <a:cxnSpLocks/>
          </p:cNvCxnSpPr>
          <p:nvPr/>
        </p:nvCxnSpPr>
        <p:spPr>
          <a:xfrm>
            <a:off x="1063835" y="1692899"/>
            <a:ext cx="0" cy="2688142"/>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30" name="Oval 29">
            <a:extLst>
              <a:ext uri="{FF2B5EF4-FFF2-40B4-BE49-F238E27FC236}">
                <a16:creationId xmlns:a16="http://schemas.microsoft.com/office/drawing/2014/main" id="{D3DB336D-14C4-B976-92CF-4F188E303E36}"/>
              </a:ext>
            </a:extLst>
          </p:cNvPr>
          <p:cNvSpPr/>
          <p:nvPr/>
        </p:nvSpPr>
        <p:spPr>
          <a:xfrm>
            <a:off x="951758" y="1862799"/>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68E9D504-BC77-1850-3361-9E8F1B81C5E7}"/>
              </a:ext>
            </a:extLst>
          </p:cNvPr>
          <p:cNvSpPr/>
          <p:nvPr/>
        </p:nvSpPr>
        <p:spPr>
          <a:xfrm>
            <a:off x="951758" y="239649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7CFEADD0-F2AA-BF45-3864-57AABAC83F87}"/>
              </a:ext>
            </a:extLst>
          </p:cNvPr>
          <p:cNvSpPr/>
          <p:nvPr/>
        </p:nvSpPr>
        <p:spPr>
          <a:xfrm>
            <a:off x="951758" y="292663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D3F1D939-5A38-5E81-EF18-328EE250C4C5}"/>
              </a:ext>
            </a:extLst>
          </p:cNvPr>
          <p:cNvSpPr/>
          <p:nvPr/>
        </p:nvSpPr>
        <p:spPr>
          <a:xfrm>
            <a:off x="951758" y="3460331"/>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9677FB2A-C80F-36D1-5DDD-3D13D4269BD3}"/>
              </a:ext>
            </a:extLst>
          </p:cNvPr>
          <p:cNvSpPr txBox="1"/>
          <p:nvPr/>
        </p:nvSpPr>
        <p:spPr>
          <a:xfrm>
            <a:off x="1259524" y="1820986"/>
            <a:ext cx="5033750" cy="307777"/>
          </a:xfrm>
          <a:prstGeom prst="rect">
            <a:avLst/>
          </a:prstGeom>
          <a:noFill/>
        </p:spPr>
        <p:txBody>
          <a:bodyPr wrap="none" rtlCol="0">
            <a:spAutoFit/>
          </a:bodyPr>
          <a:lstStyle/>
          <a:p>
            <a:r>
              <a:rPr lang="en-US" b="1" dirty="0">
                <a:solidFill>
                  <a:schemeClr val="tx2"/>
                </a:solidFill>
              </a:rPr>
              <a:t>Fixed workflow</a:t>
            </a:r>
            <a:r>
              <a:rPr lang="en-US" b="1" dirty="0">
                <a:solidFill>
                  <a:schemeClr val="tx2"/>
                </a:solidFill>
                <a:latin typeface="+mn-lt"/>
              </a:rPr>
              <a:t>: </a:t>
            </a:r>
            <a:r>
              <a:rPr lang="en-US" i="1" dirty="0">
                <a:solidFill>
                  <a:schemeClr val="tx2"/>
                </a:solidFill>
                <a:latin typeface="+mn-lt"/>
              </a:rPr>
              <a:t>The steps are ours, written before the run</a:t>
            </a:r>
            <a:r>
              <a:rPr lang="en-US" b="1" dirty="0">
                <a:solidFill>
                  <a:schemeClr val="tx2"/>
                </a:solidFill>
                <a:latin typeface="+mn-lt"/>
              </a:rPr>
              <a:t> </a:t>
            </a:r>
            <a:endParaRPr lang="en-US" b="1" dirty="0">
              <a:solidFill>
                <a:schemeClr val="tx2"/>
              </a:solidFill>
            </a:endParaRPr>
          </a:p>
        </p:txBody>
      </p:sp>
      <p:sp>
        <p:nvSpPr>
          <p:cNvPr id="35" name="Oval 34">
            <a:extLst>
              <a:ext uri="{FF2B5EF4-FFF2-40B4-BE49-F238E27FC236}">
                <a16:creationId xmlns:a16="http://schemas.microsoft.com/office/drawing/2014/main" id="{4AA2A675-CB4D-E0C9-7B1B-2CF7D1141A68}"/>
              </a:ext>
            </a:extLst>
          </p:cNvPr>
          <p:cNvSpPr/>
          <p:nvPr/>
        </p:nvSpPr>
        <p:spPr>
          <a:xfrm>
            <a:off x="951758" y="3990470"/>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9E022F5F-F596-77D2-8569-C0C0CAF664AA}"/>
              </a:ext>
            </a:extLst>
          </p:cNvPr>
          <p:cNvSpPr txBox="1"/>
          <p:nvPr/>
        </p:nvSpPr>
        <p:spPr>
          <a:xfrm>
            <a:off x="1259524" y="2351125"/>
            <a:ext cx="3672800" cy="307777"/>
          </a:xfrm>
          <a:prstGeom prst="rect">
            <a:avLst/>
          </a:prstGeom>
          <a:noFill/>
        </p:spPr>
        <p:txBody>
          <a:bodyPr wrap="none" rtlCol="0">
            <a:spAutoFit/>
          </a:bodyPr>
          <a:lstStyle/>
          <a:p>
            <a:r>
              <a:rPr lang="en-US" b="1" dirty="0">
                <a:solidFill>
                  <a:schemeClr val="tx2"/>
                </a:solidFill>
              </a:rPr>
              <a:t>ReACT</a:t>
            </a:r>
            <a:r>
              <a:rPr lang="en-US" b="1" dirty="0">
                <a:solidFill>
                  <a:schemeClr val="tx2"/>
                </a:solidFill>
                <a:latin typeface="+mn-lt"/>
              </a:rPr>
              <a:t>: </a:t>
            </a:r>
            <a:r>
              <a:rPr lang="en-US" i="1" dirty="0">
                <a:solidFill>
                  <a:schemeClr val="tx2"/>
                </a:solidFill>
                <a:latin typeface="+mn-lt"/>
              </a:rPr>
              <a:t>The model chooses the next action</a:t>
            </a:r>
          </a:p>
        </p:txBody>
      </p:sp>
      <p:sp>
        <p:nvSpPr>
          <p:cNvPr id="37" name="TextBox 36">
            <a:extLst>
              <a:ext uri="{FF2B5EF4-FFF2-40B4-BE49-F238E27FC236}">
                <a16:creationId xmlns:a16="http://schemas.microsoft.com/office/drawing/2014/main" id="{79DBDA61-987E-43AE-8F92-9E6BABE1F111}"/>
              </a:ext>
            </a:extLst>
          </p:cNvPr>
          <p:cNvSpPr txBox="1"/>
          <p:nvPr/>
        </p:nvSpPr>
        <p:spPr>
          <a:xfrm>
            <a:off x="1259524" y="2884821"/>
            <a:ext cx="4806124" cy="307777"/>
          </a:xfrm>
          <a:prstGeom prst="rect">
            <a:avLst/>
          </a:prstGeom>
          <a:noFill/>
        </p:spPr>
        <p:txBody>
          <a:bodyPr wrap="none" rtlCol="0">
            <a:spAutoFit/>
          </a:bodyPr>
          <a:lstStyle/>
          <a:p>
            <a:r>
              <a:rPr lang="en-US" b="1" dirty="0">
                <a:solidFill>
                  <a:schemeClr val="tx2"/>
                </a:solidFill>
              </a:rPr>
              <a:t>Planner</a:t>
            </a:r>
            <a:r>
              <a:rPr lang="en-US" b="1" dirty="0">
                <a:solidFill>
                  <a:schemeClr val="tx2"/>
                </a:solidFill>
                <a:latin typeface="+mn-lt"/>
              </a:rPr>
              <a:t>: </a:t>
            </a:r>
            <a:r>
              <a:rPr lang="en-US" i="1" dirty="0">
                <a:solidFill>
                  <a:schemeClr val="tx2"/>
                </a:solidFill>
                <a:latin typeface="+mn-lt"/>
              </a:rPr>
              <a:t>The plan is written into state and revised there</a:t>
            </a:r>
            <a:endParaRPr lang="en-US" b="1" dirty="0">
              <a:solidFill>
                <a:schemeClr val="tx2"/>
              </a:solidFill>
            </a:endParaRPr>
          </a:p>
        </p:txBody>
      </p:sp>
      <p:sp>
        <p:nvSpPr>
          <p:cNvPr id="38" name="TextBox 37">
            <a:extLst>
              <a:ext uri="{FF2B5EF4-FFF2-40B4-BE49-F238E27FC236}">
                <a16:creationId xmlns:a16="http://schemas.microsoft.com/office/drawing/2014/main" id="{472A6A98-9B85-39F5-AEEA-5CFD752D3959}"/>
              </a:ext>
            </a:extLst>
          </p:cNvPr>
          <p:cNvSpPr txBox="1"/>
          <p:nvPr/>
        </p:nvSpPr>
        <p:spPr>
          <a:xfrm>
            <a:off x="1259524" y="3418518"/>
            <a:ext cx="4608954" cy="307777"/>
          </a:xfrm>
          <a:prstGeom prst="rect">
            <a:avLst/>
          </a:prstGeom>
          <a:noFill/>
        </p:spPr>
        <p:txBody>
          <a:bodyPr wrap="none" rtlCol="0">
            <a:spAutoFit/>
          </a:bodyPr>
          <a:lstStyle/>
          <a:p>
            <a:r>
              <a:rPr lang="en-US" b="1" dirty="0">
                <a:solidFill>
                  <a:schemeClr val="tx2"/>
                </a:solidFill>
              </a:rPr>
              <a:t>Validator</a:t>
            </a:r>
            <a:r>
              <a:rPr lang="en-US" b="1" dirty="0">
                <a:solidFill>
                  <a:schemeClr val="tx2"/>
                </a:solidFill>
                <a:latin typeface="+mn-lt"/>
              </a:rPr>
              <a:t>: </a:t>
            </a:r>
            <a:r>
              <a:rPr lang="en-US" i="1" dirty="0">
                <a:solidFill>
                  <a:schemeClr val="tx2"/>
                </a:solidFill>
                <a:latin typeface="+mn-lt"/>
              </a:rPr>
              <a:t>Acceptance is decoupled from the controller</a:t>
            </a:r>
            <a:endParaRPr lang="en-US" b="1" dirty="0">
              <a:solidFill>
                <a:schemeClr val="tx2"/>
              </a:solidFill>
            </a:endParaRPr>
          </a:p>
        </p:txBody>
      </p:sp>
      <p:sp>
        <p:nvSpPr>
          <p:cNvPr id="39" name="TextBox 38">
            <a:extLst>
              <a:ext uri="{FF2B5EF4-FFF2-40B4-BE49-F238E27FC236}">
                <a16:creationId xmlns:a16="http://schemas.microsoft.com/office/drawing/2014/main" id="{5FAD2779-D7EA-E7C8-41B4-1F261801BB9F}"/>
              </a:ext>
            </a:extLst>
          </p:cNvPr>
          <p:cNvSpPr txBox="1"/>
          <p:nvPr/>
        </p:nvSpPr>
        <p:spPr>
          <a:xfrm>
            <a:off x="1259524" y="3948656"/>
            <a:ext cx="5298245" cy="307777"/>
          </a:xfrm>
          <a:prstGeom prst="rect">
            <a:avLst/>
          </a:prstGeom>
          <a:noFill/>
        </p:spPr>
        <p:txBody>
          <a:bodyPr wrap="none" rtlCol="0">
            <a:spAutoFit/>
          </a:bodyPr>
          <a:lstStyle/>
          <a:p>
            <a:r>
              <a:rPr lang="en-US" b="1" dirty="0">
                <a:solidFill>
                  <a:schemeClr val="tx2"/>
                </a:solidFill>
              </a:rPr>
              <a:t>Agent Architectures</a:t>
            </a:r>
            <a:r>
              <a:rPr lang="en-US" b="1" dirty="0">
                <a:solidFill>
                  <a:schemeClr val="tx2"/>
                </a:solidFill>
                <a:latin typeface="+mn-lt"/>
              </a:rPr>
              <a:t>: </a:t>
            </a:r>
            <a:r>
              <a:rPr lang="en-US" i="1" dirty="0">
                <a:solidFill>
                  <a:schemeClr val="tx2"/>
                </a:solidFill>
                <a:latin typeface="+mn-lt"/>
              </a:rPr>
              <a:t>What are some other agent architectures</a:t>
            </a:r>
            <a:endParaRPr lang="en-US" b="1" dirty="0">
              <a:solidFill>
                <a:schemeClr val="tx2"/>
              </a:solidFill>
            </a:endParaRPr>
          </a:p>
        </p:txBody>
      </p:sp>
      <p:pic>
        <p:nvPicPr>
          <p:cNvPr id="12" name="Picture 11">
            <a:extLst>
              <a:ext uri="{FF2B5EF4-FFF2-40B4-BE49-F238E27FC236}">
                <a16:creationId xmlns:a16="http://schemas.microsoft.com/office/drawing/2014/main" id="{DE6208CE-B9AF-9F32-70D8-8EAF7AB6BF8A}"/>
              </a:ext>
            </a:extLst>
          </p:cNvPr>
          <p:cNvPicPr>
            <a:picLocks noChangeAspect="1"/>
          </p:cNvPicPr>
          <p:nvPr/>
        </p:nvPicPr>
        <p:blipFill>
          <a:blip r:embed="rId3">
            <a:alphaModFix amt="90000"/>
          </a:blip>
          <a:stretch>
            <a:fillRect/>
          </a:stretch>
        </p:blipFill>
        <p:spPr>
          <a:xfrm>
            <a:off x="825474" y="2099206"/>
            <a:ext cx="5732295" cy="2785896"/>
          </a:xfrm>
          <a:prstGeom prst="rect">
            <a:avLst/>
          </a:prstGeom>
        </p:spPr>
      </p:pic>
    </p:spTree>
    <p:extLst>
      <p:ext uri="{BB962C8B-B14F-4D97-AF65-F5344CB8AC3E}">
        <p14:creationId xmlns:p14="http://schemas.microsoft.com/office/powerpoint/2010/main" val="16040836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fixed workflow</a:t>
            </a:r>
          </a:p>
        </p:txBody>
      </p:sp>
      <p:sp>
        <p:nvSpPr>
          <p:cNvPr id="3" name="Content Placeholder 2"/>
          <p:cNvSpPr>
            <a:spLocks noGrp="1"/>
          </p:cNvSpPr>
          <p:nvPr>
            <p:ph idx="1"/>
          </p:nvPr>
        </p:nvSpPr>
        <p:spPr>
          <a:xfrm>
            <a:off x="319251" y="1624859"/>
            <a:ext cx="6014545" cy="2000000"/>
          </a:xfrm>
        </p:spPr>
        <p:txBody>
          <a:bodyPr wrap="square">
            <a:normAutofit lnSpcReduction="10000"/>
          </a:bodyPr>
          <a:lstStyle/>
          <a:p>
            <a:pPr marL="0" indent="0">
              <a:buNone/>
            </a:pPr>
            <a:r>
              <a:rPr sz="1400" b="1" dirty="0">
                <a:solidFill>
                  <a:srgbClr val="28285E"/>
                </a:solidFill>
              </a:rPr>
              <a:t>The control decisions, all settled before the program sees a task:</a:t>
            </a:r>
          </a:p>
          <a:p>
            <a:pPr marL="400050" indent="-285750">
              <a:spcBef>
                <a:spcPts val="600"/>
              </a:spcBef>
              <a:spcAft>
                <a:spcPts val="600"/>
              </a:spcAft>
              <a:buClr>
                <a:srgbClr val="28285E"/>
              </a:buClr>
              <a:buSzPts val="1260"/>
              <a:buFont typeface="Fira Sans"/>
              <a:buChar char="●"/>
            </a:pPr>
            <a:r>
              <a:rPr sz="1400" b="1" dirty="0">
                <a:solidFill>
                  <a:srgbClr val="28285E"/>
                </a:solidFill>
              </a:rPr>
              <a:t>Operations: </a:t>
            </a:r>
            <a:r>
              <a:rPr sz="1400" dirty="0">
                <a:solidFill>
                  <a:srgbClr val="28285E"/>
                </a:solidFill>
              </a:rPr>
              <a:t>which one runs next, and whether any follow</a:t>
            </a:r>
          </a:p>
          <a:p>
            <a:pPr marL="400050" indent="-285750">
              <a:spcBef>
                <a:spcPts val="600"/>
              </a:spcBef>
              <a:spcAft>
                <a:spcPts val="600"/>
              </a:spcAft>
              <a:buClr>
                <a:srgbClr val="28285E"/>
              </a:buClr>
              <a:buSzPts val="1260"/>
              <a:buFont typeface="Fira Sans"/>
              <a:buChar char="●"/>
            </a:pPr>
            <a:r>
              <a:rPr sz="1400" b="1" dirty="0">
                <a:solidFill>
                  <a:srgbClr val="28285E"/>
                </a:solidFill>
              </a:rPr>
              <a:t>Model calls: </a:t>
            </a:r>
            <a:r>
              <a:rPr sz="1400" dirty="0">
                <a:solidFill>
                  <a:srgbClr val="28285E"/>
                </a:solidFill>
              </a:rPr>
              <a:t>how many the run makes</a:t>
            </a:r>
          </a:p>
          <a:p>
            <a:pPr marL="400050" indent="-285750">
              <a:spcBef>
                <a:spcPts val="600"/>
              </a:spcBef>
              <a:spcAft>
                <a:spcPts val="600"/>
              </a:spcAft>
              <a:buClr>
                <a:srgbClr val="28285E"/>
              </a:buClr>
              <a:buSzPts val="1260"/>
              <a:buFont typeface="Fira Sans"/>
              <a:buChar char="●"/>
            </a:pPr>
            <a:r>
              <a:rPr sz="1400" b="1" dirty="0">
                <a:solidFill>
                  <a:srgbClr val="28285E"/>
                </a:solidFill>
              </a:rPr>
              <a:t>Termination: </a:t>
            </a:r>
            <a:r>
              <a:rPr sz="1400" dirty="0">
                <a:solidFill>
                  <a:srgbClr val="28285E"/>
                </a:solidFill>
              </a:rPr>
              <a:t>what ends the run</a:t>
            </a:r>
          </a:p>
          <a:p>
            <a:pPr marL="400050" indent="-285750">
              <a:spcBef>
                <a:spcPts val="600"/>
              </a:spcBef>
              <a:spcAft>
                <a:spcPts val="600"/>
              </a:spcAft>
              <a:buClr>
                <a:srgbClr val="28285E"/>
              </a:buClr>
              <a:buSzPts val="1260"/>
              <a:buFont typeface="Fira Sans"/>
              <a:buChar char="●"/>
            </a:pPr>
            <a:r>
              <a:rPr sz="1400" b="1" dirty="0">
                <a:solidFill>
                  <a:srgbClr val="28285E"/>
                </a:solidFill>
              </a:rPr>
              <a:t>Artifacts: </a:t>
            </a:r>
            <a:r>
              <a:rPr sz="1400" dirty="0">
                <a:solidFill>
                  <a:srgbClr val="28285E"/>
                </a:solidFill>
              </a:rPr>
              <a:t>which ones each step reads and writes</a:t>
            </a:r>
          </a:p>
        </p:txBody>
      </p:sp>
      <p:sp>
        <p:nvSpPr>
          <p:cNvPr id="4" name="Rectangle 3"/>
          <p:cNvSpPr/>
          <p:nvPr/>
        </p:nvSpPr>
        <p:spPr>
          <a:xfrm>
            <a:off x="319251" y="74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In a fixed workflow we make </a:t>
            </a:r>
            <a:r>
              <a:rPr sz="1400" b="1">
                <a:solidFill>
                  <a:schemeClr val="tx2"/>
                </a:solidFill>
              </a:rPr>
              <a:t>every control decision at design time</a:t>
            </a:r>
            <a:r>
              <a:rPr sz="1400">
                <a:solidFill>
                  <a:schemeClr val="tx2"/>
                </a:solidFill>
              </a:rPr>
              <a:t>, and the model supplies content at the points we choose.</a:t>
            </a:r>
          </a:p>
        </p:txBody>
      </p:sp>
      <p:sp>
        <p:nvSpPr>
          <p:cNvPr id="5" name="TextBox 4"/>
          <p:cNvSpPr txBox="1"/>
          <p:nvPr/>
        </p:nvSpPr>
        <p:spPr>
          <a:xfrm>
            <a:off x="4651028" y="4140385"/>
            <a:ext cx="1768433" cy="253916"/>
          </a:xfrm>
          <a:prstGeom prst="rect">
            <a:avLst/>
          </a:prstGeom>
          <a:noFill/>
        </p:spPr>
        <p:txBody>
          <a:bodyPr wrap="none">
            <a:spAutoFit/>
          </a:bodyPr>
          <a:lstStyle/>
          <a:p>
            <a:pPr algn="r"/>
            <a:r>
              <a:rPr sz="1050" i="1" dirty="0">
                <a:solidFill>
                  <a:schemeClr val="bg2"/>
                </a:solidFill>
              </a:rPr>
              <a:t>Russell and Norvig, §2.2.3</a:t>
            </a:r>
          </a:p>
        </p:txBody>
      </p:sp>
      <p:sp>
        <p:nvSpPr>
          <p:cNvPr id="6" name="TextBox 5"/>
          <p:cNvSpPr txBox="1"/>
          <p:nvPr/>
        </p:nvSpPr>
        <p:spPr>
          <a:xfrm>
            <a:off x="250199" y="3835634"/>
            <a:ext cx="6152646" cy="261610"/>
          </a:xfrm>
          <a:prstGeom prst="rect">
            <a:avLst/>
          </a:prstGeom>
          <a:solidFill>
            <a:schemeClr val="accent4"/>
          </a:solidFill>
          <a:ln>
            <a:solidFill>
              <a:schemeClr val="accent4"/>
            </a:solidFill>
          </a:ln>
          <a:effectLst/>
        </p:spPr>
        <p:txBody>
          <a:bodyPr wrap="none" anchor="ctr">
            <a:spAutoFit/>
          </a:bodyPr>
          <a:lstStyle/>
          <a:p>
            <a:pPr algn="just">
              <a:spcBef>
                <a:spcPts val="1200"/>
              </a:spcBef>
              <a:spcAft>
                <a:spcPts val="1200"/>
              </a:spcAft>
            </a:pPr>
            <a:r>
              <a:rPr sz="1100" dirty="0">
                <a:solidFill>
                  <a:schemeClr val="tx2"/>
                </a:solidFill>
                <a:latin typeface="Fira Sans" panose="020B0503050000020004" pitchFamily="34" charset="0"/>
              </a:rPr>
              <a:t>An agent that relies on its designer’s prior knowledge, not its own percepts, </a:t>
            </a:r>
            <a:r>
              <a:rPr sz="1100" b="1" dirty="0">
                <a:solidFill>
                  <a:schemeClr val="tx2"/>
                </a:solidFill>
                <a:latin typeface="Fira Sans" panose="020B0503050000020004" pitchFamily="34" charset="0"/>
              </a:rPr>
              <a:t>lacks autonomy.</a:t>
            </a:r>
            <a:endParaRPr lang="en-US" sz="1100" b="1" dirty="0">
              <a:solidFill>
                <a:schemeClr val="tx2"/>
              </a:solidFill>
              <a:latin typeface="Fira Sans" panose="020B0503050000020004"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 design decision points</a:t>
            </a:r>
            <a:endParaRPr dirty="0"/>
          </a:p>
        </p:txBody>
      </p:sp>
      <p:graphicFrame>
        <p:nvGraphicFramePr>
          <p:cNvPr id="5" name="Table 4">
            <a:extLst>
              <a:ext uri="{FF2B5EF4-FFF2-40B4-BE49-F238E27FC236}">
                <a16:creationId xmlns:a16="http://schemas.microsoft.com/office/drawing/2014/main" id="{799E172A-075D-D190-E8D3-35DB1E9BA0E7}"/>
              </a:ext>
            </a:extLst>
          </p:cNvPr>
          <p:cNvGraphicFramePr>
            <a:graphicFrameLocks noGrp="1"/>
          </p:cNvGraphicFramePr>
          <p:nvPr>
            <p:extLst>
              <p:ext uri="{D42A27DB-BD31-4B8C-83A1-F6EECF244321}">
                <p14:modId xmlns:p14="http://schemas.microsoft.com/office/powerpoint/2010/main" val="2269503840"/>
              </p:ext>
            </p:extLst>
          </p:nvPr>
        </p:nvGraphicFramePr>
        <p:xfrm>
          <a:off x="319251" y="1491615"/>
          <a:ext cx="6014545" cy="2160270"/>
        </p:xfrm>
        <a:graphic>
          <a:graphicData uri="http://schemas.openxmlformats.org/drawingml/2006/table">
            <a:tbl>
              <a:tblPr>
                <a:tableStyleId>{2D5ABB26-0587-4C30-8999-92F81FD0307C}</a:tableStyleId>
              </a:tblPr>
              <a:tblGrid>
                <a:gridCol w="3218428">
                  <a:extLst>
                    <a:ext uri="{9D8B030D-6E8A-4147-A177-3AD203B41FA5}">
                      <a16:colId xmlns:a16="http://schemas.microsoft.com/office/drawing/2014/main" val="20000"/>
                    </a:ext>
                  </a:extLst>
                </a:gridCol>
                <a:gridCol w="1648918">
                  <a:extLst>
                    <a:ext uri="{9D8B030D-6E8A-4147-A177-3AD203B41FA5}">
                      <a16:colId xmlns:a16="http://schemas.microsoft.com/office/drawing/2014/main" val="20001"/>
                    </a:ext>
                  </a:extLst>
                </a:gridCol>
                <a:gridCol w="1147199">
                  <a:extLst>
                    <a:ext uri="{9D8B030D-6E8A-4147-A177-3AD203B41FA5}">
                      <a16:colId xmlns:a16="http://schemas.microsoft.com/office/drawing/2014/main" val="20002"/>
                    </a:ext>
                  </a:extLst>
                </a:gridCol>
              </a:tblGrid>
              <a:tr h="300000">
                <a:tc>
                  <a:txBody>
                    <a:bodyPr/>
                    <a:lstStyle/>
                    <a:p>
                      <a:pPr algn="l">
                        <a:buNone/>
                      </a:pPr>
                      <a:r>
                        <a:rPr sz="1400" b="1" dirty="0">
                          <a:solidFill>
                            <a:schemeClr val="tx1"/>
                          </a:solidFill>
                        </a:rPr>
                        <a:t>Decision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dirty="0">
                          <a:solidFill>
                            <a:schemeClr val="tx1"/>
                          </a:solidFill>
                        </a:rPr>
                        <a:t>Who decides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a:solidFill>
                            <a:schemeClr val="tx1"/>
                          </a:solidFill>
                        </a:rPr>
                        <a:t>When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400" b="1">
                          <a:solidFill>
                            <a:srgbClr val="28285E"/>
                          </a:solidFill>
                        </a:rPr>
                        <a:t>Which operation runs next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400" b="1">
                          <a:solidFill>
                            <a:srgbClr val="28285E"/>
                          </a:solidFill>
                        </a:rPr>
                        <a:t>Whether anything runs after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400" b="1">
                          <a:solidFill>
                            <a:srgbClr val="28285E"/>
                          </a:solidFill>
                        </a:rPr>
                        <a:t>How many model calls the run makes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400" b="1" dirty="0">
                          <a:solidFill>
                            <a:srgbClr val="28285E"/>
                          </a:solidFill>
                        </a:rPr>
                        <a:t>What ends the run</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0">
                <a:tc>
                  <a:txBody>
                    <a:bodyPr/>
                    <a:lstStyle/>
                    <a:p>
                      <a:pPr algn="l">
                        <a:buNone/>
                      </a:pPr>
                      <a:r>
                        <a:rPr sz="1400" b="1" dirty="0">
                          <a:solidFill>
                            <a:srgbClr val="28285E"/>
                          </a:solidFill>
                        </a:rPr>
                        <a:t>What a model call returns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The model</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Run time</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lgn="l">
                        <a:buNone/>
                      </a:pPr>
                      <a:r>
                        <a:rPr sz="1400" b="1" dirty="0">
                          <a:solidFill>
                            <a:srgbClr val="28285E"/>
                          </a:solidFill>
                        </a:rPr>
                        <a:t>Which values travel to the next step</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Run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11345-91A7-BF50-2EB9-BC22C3DC24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2C7EB0-5EA3-670D-47ED-81D7AF0C1C9B}"/>
              </a:ext>
            </a:extLst>
          </p:cNvPr>
          <p:cNvSpPr>
            <a:spLocks noGrp="1"/>
          </p:cNvSpPr>
          <p:nvPr>
            <p:ph type="title"/>
          </p:nvPr>
        </p:nvSpPr>
        <p:spPr/>
        <p:txBody>
          <a:bodyPr/>
          <a:lstStyle/>
          <a:p>
            <a:r>
              <a:rPr lang="en-US" dirty="0"/>
              <a:t>Understanding design decision points</a:t>
            </a:r>
            <a:endParaRPr dirty="0"/>
          </a:p>
        </p:txBody>
      </p:sp>
      <p:sp>
        <p:nvSpPr>
          <p:cNvPr id="4" name="Rectangle 3">
            <a:extLst>
              <a:ext uri="{FF2B5EF4-FFF2-40B4-BE49-F238E27FC236}">
                <a16:creationId xmlns:a16="http://schemas.microsoft.com/office/drawing/2014/main" id="{F7BFB2C7-9275-69B8-4138-56E333A0FDEE}"/>
              </a:ext>
            </a:extLst>
          </p:cNvPr>
          <p:cNvSpPr/>
          <p:nvPr/>
        </p:nvSpPr>
        <p:spPr>
          <a:xfrm>
            <a:off x="1888761" y="4070093"/>
            <a:ext cx="4445035" cy="430000"/>
          </a:xfrm>
          <a:prstGeom prst="rect">
            <a:avLst/>
          </a:prstGeom>
          <a:solidFill>
            <a:schemeClr val="bg2"/>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chemeClr val="tx2"/>
                </a:solidFill>
                <a:latin typeface="Fira Sans" panose="020B0503050000020004" pitchFamily="34" charset="0"/>
              </a:rPr>
              <a:t>No model output is read as an instruction. It is read as </a:t>
            </a:r>
            <a:r>
              <a:rPr sz="1200" b="1" dirty="0">
                <a:solidFill>
                  <a:schemeClr val="tx2"/>
                </a:solidFill>
                <a:latin typeface="Fira Sans" panose="020B0503050000020004" pitchFamily="34" charset="0"/>
              </a:rPr>
              <a:t>data</a:t>
            </a:r>
            <a:r>
              <a:rPr sz="1200" dirty="0">
                <a:solidFill>
                  <a:schemeClr val="tx2"/>
                </a:solidFill>
                <a:latin typeface="Fira Sans" panose="020B0503050000020004" pitchFamily="34" charset="0"/>
              </a:rPr>
              <a:t>.</a:t>
            </a:r>
          </a:p>
        </p:txBody>
      </p:sp>
      <p:graphicFrame>
        <p:nvGraphicFramePr>
          <p:cNvPr id="5" name="Table 4">
            <a:extLst>
              <a:ext uri="{FF2B5EF4-FFF2-40B4-BE49-F238E27FC236}">
                <a16:creationId xmlns:a16="http://schemas.microsoft.com/office/drawing/2014/main" id="{8159D520-A824-D2BF-790B-44D1F1E85CBF}"/>
              </a:ext>
            </a:extLst>
          </p:cNvPr>
          <p:cNvGraphicFramePr>
            <a:graphicFrameLocks noGrp="1"/>
          </p:cNvGraphicFramePr>
          <p:nvPr>
            <p:extLst>
              <p:ext uri="{D42A27DB-BD31-4B8C-83A1-F6EECF244321}">
                <p14:modId xmlns:p14="http://schemas.microsoft.com/office/powerpoint/2010/main" val="3384186411"/>
              </p:ext>
            </p:extLst>
          </p:nvPr>
        </p:nvGraphicFramePr>
        <p:xfrm>
          <a:off x="319251" y="1491615"/>
          <a:ext cx="6014545" cy="2160270"/>
        </p:xfrm>
        <a:graphic>
          <a:graphicData uri="http://schemas.openxmlformats.org/drawingml/2006/table">
            <a:tbl>
              <a:tblPr>
                <a:tableStyleId>{2D5ABB26-0587-4C30-8999-92F81FD0307C}</a:tableStyleId>
              </a:tblPr>
              <a:tblGrid>
                <a:gridCol w="3218428">
                  <a:extLst>
                    <a:ext uri="{9D8B030D-6E8A-4147-A177-3AD203B41FA5}">
                      <a16:colId xmlns:a16="http://schemas.microsoft.com/office/drawing/2014/main" val="20000"/>
                    </a:ext>
                  </a:extLst>
                </a:gridCol>
                <a:gridCol w="1648918">
                  <a:extLst>
                    <a:ext uri="{9D8B030D-6E8A-4147-A177-3AD203B41FA5}">
                      <a16:colId xmlns:a16="http://schemas.microsoft.com/office/drawing/2014/main" val="20001"/>
                    </a:ext>
                  </a:extLst>
                </a:gridCol>
                <a:gridCol w="1147199">
                  <a:extLst>
                    <a:ext uri="{9D8B030D-6E8A-4147-A177-3AD203B41FA5}">
                      <a16:colId xmlns:a16="http://schemas.microsoft.com/office/drawing/2014/main" val="20002"/>
                    </a:ext>
                  </a:extLst>
                </a:gridCol>
              </a:tblGrid>
              <a:tr h="300000">
                <a:tc>
                  <a:txBody>
                    <a:bodyPr/>
                    <a:lstStyle/>
                    <a:p>
                      <a:pPr algn="l">
                        <a:buNone/>
                      </a:pPr>
                      <a:r>
                        <a:rPr sz="1400" b="1" dirty="0">
                          <a:solidFill>
                            <a:schemeClr val="tx1"/>
                          </a:solidFill>
                        </a:rPr>
                        <a:t>Decision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dirty="0">
                          <a:solidFill>
                            <a:schemeClr val="tx1"/>
                          </a:solidFill>
                        </a:rPr>
                        <a:t>Who decides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a:solidFill>
                            <a:schemeClr val="tx1"/>
                          </a:solidFill>
                        </a:rPr>
                        <a:t>When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400" b="1">
                          <a:solidFill>
                            <a:srgbClr val="28285E"/>
                          </a:solidFill>
                        </a:rPr>
                        <a:t>Which operation runs next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400" b="1">
                          <a:solidFill>
                            <a:srgbClr val="28285E"/>
                          </a:solidFill>
                        </a:rPr>
                        <a:t>Whether anything runs after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400" b="1">
                          <a:solidFill>
                            <a:srgbClr val="28285E"/>
                          </a:solidFill>
                        </a:rPr>
                        <a:t>How many model calls the run makes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400" b="1" dirty="0">
                          <a:solidFill>
                            <a:srgbClr val="28285E"/>
                          </a:solidFill>
                        </a:rPr>
                        <a:t>What ends the run</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0">
                <a:tc>
                  <a:txBody>
                    <a:bodyPr/>
                    <a:lstStyle/>
                    <a:p>
                      <a:pPr algn="l">
                        <a:buNone/>
                      </a:pPr>
                      <a:r>
                        <a:rPr sz="1400" b="1" dirty="0">
                          <a:solidFill>
                            <a:srgbClr val="28285E"/>
                          </a:solidFill>
                        </a:rPr>
                        <a:t>What a model call returns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tc>
                  <a:txBody>
                    <a:bodyPr/>
                    <a:lstStyle/>
                    <a:p>
                      <a:pPr algn="l">
                        <a:buNone/>
                      </a:pPr>
                      <a:r>
                        <a:rPr sz="1400">
                          <a:solidFill>
                            <a:schemeClr val="tx1"/>
                          </a:solidFill>
                        </a:rPr>
                        <a:t>The model</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tc>
                  <a:txBody>
                    <a:bodyPr/>
                    <a:lstStyle/>
                    <a:p>
                      <a:pPr algn="l">
                        <a:buNone/>
                      </a:pPr>
                      <a:r>
                        <a:rPr sz="1400" dirty="0">
                          <a:solidFill>
                            <a:schemeClr val="tx1"/>
                          </a:solidFill>
                        </a:rPr>
                        <a:t>Run time</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extLst>
                  <a:ext uri="{0D108BD9-81ED-4DB2-BD59-A6C34878D82A}">
                    <a16:rowId xmlns:a16="http://schemas.microsoft.com/office/drawing/2014/main" val="10005"/>
                  </a:ext>
                </a:extLst>
              </a:tr>
              <a:tr h="0">
                <a:tc>
                  <a:txBody>
                    <a:bodyPr/>
                    <a:lstStyle/>
                    <a:p>
                      <a:pPr algn="l">
                        <a:buNone/>
                      </a:pPr>
                      <a:r>
                        <a:rPr sz="1400" b="1" dirty="0">
                          <a:solidFill>
                            <a:srgbClr val="28285E"/>
                          </a:solidFill>
                        </a:rPr>
                        <a:t>Which values travel to the next step</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buNone/>
                      </a:pPr>
                      <a:r>
                        <a:rPr sz="1400" dirty="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buNone/>
                      </a:pPr>
                      <a:r>
                        <a:rPr sz="1400" dirty="0">
                          <a:solidFill>
                            <a:schemeClr val="tx1"/>
                          </a:solidFill>
                        </a:rPr>
                        <a:t>Run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4937002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fixed shape buys</a:t>
            </a:r>
          </a:p>
        </p:txBody>
      </p:sp>
      <p:sp>
        <p:nvSpPr>
          <p:cNvPr id="3" name="Content Placeholder 2"/>
          <p:cNvSpPr>
            <a:spLocks noGrp="1"/>
          </p:cNvSpPr>
          <p:nvPr>
            <p:ph idx="1"/>
          </p:nvPr>
        </p:nvSpPr>
        <p:spPr>
          <a:xfrm>
            <a:off x="319251" y="700000"/>
            <a:ext cx="6014545" cy="2400000"/>
          </a:xfrm>
        </p:spPr>
        <p:txBody>
          <a:bodyPr wrap="square">
            <a:normAutofit lnSpcReduction="10000"/>
          </a:bodyPr>
          <a:lstStyle/>
          <a:p>
            <a:pPr marL="0" indent="0">
              <a:spcBef>
                <a:spcPts val="600"/>
              </a:spcBef>
              <a:spcAft>
                <a:spcPts val="600"/>
              </a:spcAft>
              <a:buNone/>
            </a:pPr>
            <a:r>
              <a:rPr sz="1400" b="1" dirty="0">
                <a:solidFill>
                  <a:srgbClr val="28285E"/>
                </a:solidFill>
              </a:rPr>
              <a:t>Three properties come with fixing the control decisions:</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Shape: </a:t>
            </a:r>
            <a:r>
              <a:rPr sz="1400" dirty="0">
                <a:solidFill>
                  <a:schemeClr val="tx1">
                    <a:lumMod val="85000"/>
                    <a:lumOff val="15000"/>
                  </a:schemeClr>
                </a:solidFill>
              </a:rPr>
              <a:t>the </a:t>
            </a:r>
            <a:r>
              <a:rPr sz="1400" b="1" dirty="0">
                <a:solidFill>
                  <a:schemeClr val="tx1">
                    <a:lumMod val="85000"/>
                    <a:lumOff val="15000"/>
                  </a:schemeClr>
                </a:solidFill>
              </a:rPr>
              <a:t>model calls are the ones we wrote</a:t>
            </a:r>
            <a:r>
              <a:rPr sz="1400" dirty="0">
                <a:solidFill>
                  <a:schemeClr val="tx1">
                    <a:lumMod val="85000"/>
                    <a:lumOff val="15000"/>
                  </a:schemeClr>
                </a:solidFill>
              </a:rPr>
              <a:t>, so we can budget a task before reading it</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Failure mode: </a:t>
            </a:r>
            <a:r>
              <a:rPr sz="1400" dirty="0">
                <a:solidFill>
                  <a:schemeClr val="tx1">
                    <a:lumMod val="85000"/>
                    <a:lumOff val="15000"/>
                  </a:schemeClr>
                </a:solidFill>
              </a:rPr>
              <a:t>every artifact has a named producer, so a </a:t>
            </a:r>
            <a:r>
              <a:rPr sz="1400" b="1" dirty="0">
                <a:solidFill>
                  <a:schemeClr val="tx1">
                    <a:lumMod val="85000"/>
                    <a:lumOff val="15000"/>
                  </a:schemeClr>
                </a:solidFill>
              </a:rPr>
              <a:t>wrong answer belongs to a step</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Termination: </a:t>
            </a:r>
            <a:r>
              <a:rPr sz="1400" dirty="0">
                <a:solidFill>
                  <a:schemeClr val="tx1">
                    <a:lumMod val="85000"/>
                    <a:lumOff val="15000"/>
                  </a:schemeClr>
                </a:solidFill>
              </a:rPr>
              <a:t>the run </a:t>
            </a:r>
            <a:r>
              <a:rPr sz="1400" b="1" dirty="0">
                <a:solidFill>
                  <a:schemeClr val="tx1">
                    <a:lumMod val="85000"/>
                    <a:lumOff val="15000"/>
                  </a:schemeClr>
                </a:solidFill>
              </a:rPr>
              <a:t>ends because the last operation returns</a:t>
            </a:r>
            <a:r>
              <a:rPr sz="1400" dirty="0">
                <a:solidFill>
                  <a:schemeClr val="tx1">
                    <a:lumMod val="85000"/>
                    <a:lumOff val="15000"/>
                  </a:schemeClr>
                </a:solidFill>
              </a:rPr>
              <a:t>, not because a counter ran out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BF81F-D1B1-E6DC-199B-254CF5C5A8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A7A96F-4BA1-0A52-9522-966A3F43B149}"/>
              </a:ext>
            </a:extLst>
          </p:cNvPr>
          <p:cNvSpPr>
            <a:spLocks noGrp="1"/>
          </p:cNvSpPr>
          <p:nvPr>
            <p:ph type="title"/>
          </p:nvPr>
        </p:nvSpPr>
        <p:spPr/>
        <p:txBody>
          <a:bodyPr/>
          <a:lstStyle/>
          <a:p>
            <a:r>
              <a:t>What the fixed shape buys</a:t>
            </a:r>
          </a:p>
        </p:txBody>
      </p:sp>
      <p:sp>
        <p:nvSpPr>
          <p:cNvPr id="3" name="Content Placeholder 2">
            <a:extLst>
              <a:ext uri="{FF2B5EF4-FFF2-40B4-BE49-F238E27FC236}">
                <a16:creationId xmlns:a16="http://schemas.microsoft.com/office/drawing/2014/main" id="{DDDB3920-7E8E-4F54-102B-854FFE1428F5}"/>
              </a:ext>
            </a:extLst>
          </p:cNvPr>
          <p:cNvSpPr>
            <a:spLocks noGrp="1"/>
          </p:cNvSpPr>
          <p:nvPr>
            <p:ph idx="1"/>
          </p:nvPr>
        </p:nvSpPr>
        <p:spPr>
          <a:xfrm>
            <a:off x="319251" y="700000"/>
            <a:ext cx="6014545" cy="2400000"/>
          </a:xfrm>
        </p:spPr>
        <p:txBody>
          <a:bodyPr wrap="square">
            <a:normAutofit lnSpcReduction="10000"/>
          </a:bodyPr>
          <a:lstStyle/>
          <a:p>
            <a:pPr marL="0" indent="0">
              <a:spcBef>
                <a:spcPts val="600"/>
              </a:spcBef>
              <a:spcAft>
                <a:spcPts val="600"/>
              </a:spcAft>
              <a:buNone/>
            </a:pPr>
            <a:r>
              <a:rPr sz="1400" b="1" dirty="0">
                <a:solidFill>
                  <a:srgbClr val="28285E"/>
                </a:solidFill>
              </a:rPr>
              <a:t>Three properties come with fixing the control decisions:</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Shape: </a:t>
            </a:r>
            <a:r>
              <a:rPr sz="1400" dirty="0">
                <a:solidFill>
                  <a:schemeClr val="tx1">
                    <a:lumMod val="85000"/>
                    <a:lumOff val="15000"/>
                  </a:schemeClr>
                </a:solidFill>
              </a:rPr>
              <a:t>the </a:t>
            </a:r>
            <a:r>
              <a:rPr sz="1400" b="1" dirty="0">
                <a:solidFill>
                  <a:schemeClr val="tx1">
                    <a:lumMod val="85000"/>
                    <a:lumOff val="15000"/>
                  </a:schemeClr>
                </a:solidFill>
              </a:rPr>
              <a:t>model calls are the ones we wrote</a:t>
            </a:r>
            <a:r>
              <a:rPr sz="1400" dirty="0">
                <a:solidFill>
                  <a:schemeClr val="tx1">
                    <a:lumMod val="85000"/>
                    <a:lumOff val="15000"/>
                  </a:schemeClr>
                </a:solidFill>
              </a:rPr>
              <a:t>, so we can budget a task before reading it</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Failure mode: </a:t>
            </a:r>
            <a:r>
              <a:rPr sz="1400" dirty="0">
                <a:solidFill>
                  <a:schemeClr val="tx1">
                    <a:lumMod val="85000"/>
                    <a:lumOff val="15000"/>
                  </a:schemeClr>
                </a:solidFill>
              </a:rPr>
              <a:t>every artifact has a named producer, so a </a:t>
            </a:r>
            <a:r>
              <a:rPr sz="1400" b="1" dirty="0">
                <a:solidFill>
                  <a:schemeClr val="tx1">
                    <a:lumMod val="85000"/>
                    <a:lumOff val="15000"/>
                  </a:schemeClr>
                </a:solidFill>
              </a:rPr>
              <a:t>wrong answer belongs to a step</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Termination: </a:t>
            </a:r>
            <a:r>
              <a:rPr sz="1400" dirty="0">
                <a:solidFill>
                  <a:schemeClr val="tx1">
                    <a:lumMod val="85000"/>
                    <a:lumOff val="15000"/>
                  </a:schemeClr>
                </a:solidFill>
              </a:rPr>
              <a:t>the run ends because the last operation returns, not because a counter ran out</a:t>
            </a:r>
          </a:p>
        </p:txBody>
      </p:sp>
      <p:sp>
        <p:nvSpPr>
          <p:cNvPr id="4" name="Rectangle 3">
            <a:extLst>
              <a:ext uri="{FF2B5EF4-FFF2-40B4-BE49-F238E27FC236}">
                <a16:creationId xmlns:a16="http://schemas.microsoft.com/office/drawing/2014/main" id="{08416EFC-1A53-9376-2471-5944F555FE20}"/>
              </a:ext>
            </a:extLst>
          </p:cNvPr>
          <p:cNvSpPr/>
          <p:nvPr/>
        </p:nvSpPr>
        <p:spPr>
          <a:xfrm>
            <a:off x="319251" y="332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Each of these is a property of the program </a:t>
            </a:r>
            <a:r>
              <a:rPr lang="en-US" sz="1400" dirty="0">
                <a:solidFill>
                  <a:schemeClr val="tx2"/>
                </a:solidFill>
              </a:rPr>
              <a:t>we have designed. It is</a:t>
            </a:r>
            <a:r>
              <a:rPr sz="1400" dirty="0">
                <a:solidFill>
                  <a:schemeClr val="tx2"/>
                </a:solidFill>
              </a:rPr>
              <a:t> not a prediction about what the model will do</a:t>
            </a:r>
            <a:r>
              <a:rPr lang="en-US" dirty="0">
                <a:solidFill>
                  <a:schemeClr val="tx2"/>
                </a:solidFill>
              </a:rPr>
              <a:t>.</a:t>
            </a:r>
            <a:endParaRPr sz="1400" dirty="0">
              <a:solidFill>
                <a:schemeClr val="tx2"/>
              </a:solidFill>
            </a:endParaRPr>
          </a:p>
        </p:txBody>
      </p:sp>
      <p:sp>
        <p:nvSpPr>
          <p:cNvPr id="5" name="Rectangle 4">
            <a:extLst>
              <a:ext uri="{FF2B5EF4-FFF2-40B4-BE49-F238E27FC236}">
                <a16:creationId xmlns:a16="http://schemas.microsoft.com/office/drawing/2014/main" id="{7CE8855C-804C-0880-10EF-E244143DCFB8}"/>
              </a:ext>
            </a:extLst>
          </p:cNvPr>
          <p:cNvSpPr/>
          <p:nvPr/>
        </p:nvSpPr>
        <p:spPr>
          <a:xfrm>
            <a:off x="319251" y="4130000"/>
            <a:ext cx="6014545" cy="430000"/>
          </a:xfrm>
          <a:prstGeom prst="rect">
            <a:avLst/>
          </a:prstGeom>
          <a:noFill/>
          <a:ln w="19050">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n-US" sz="1200" b="1" dirty="0">
                <a:solidFill>
                  <a:srgbClr val="28285E"/>
                </a:solidFill>
              </a:rPr>
              <a:t>When we build autonomous agents, we’ll have to incorporate these into them. They don’t come for free. </a:t>
            </a:r>
            <a:endParaRPr sz="1200" b="1" dirty="0">
              <a:solidFill>
                <a:srgbClr val="28285E"/>
              </a:solidFill>
            </a:endParaRPr>
          </a:p>
        </p:txBody>
      </p:sp>
    </p:spTree>
    <p:extLst>
      <p:ext uri="{BB962C8B-B14F-4D97-AF65-F5344CB8AC3E}">
        <p14:creationId xmlns:p14="http://schemas.microsoft.com/office/powerpoint/2010/main" val="42947472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Fixed parts and open parts</a:t>
            </a:r>
          </a:p>
        </p:txBody>
      </p:sp>
      <p:sp>
        <p:nvSpPr>
          <p:cNvPr id="3" name="Content Placeholder 2"/>
          <p:cNvSpPr>
            <a:spLocks noGrp="1"/>
          </p:cNvSpPr>
          <p:nvPr>
            <p:ph idx="1"/>
          </p:nvPr>
        </p:nvSpPr>
        <p:spPr>
          <a:xfrm>
            <a:off x="319251" y="1624859"/>
            <a:ext cx="6014545" cy="2000000"/>
          </a:xfrm>
        </p:spPr>
        <p:txBody>
          <a:bodyPr wrap="square">
            <a:normAutofit fontScale="92500"/>
          </a:bodyPr>
          <a:lstStyle/>
          <a:p>
            <a:pPr marL="0" indent="0">
              <a:buNone/>
            </a:pPr>
            <a:r>
              <a:rPr sz="1400" b="1">
                <a:solidFill>
                  <a:srgbClr val="28285E"/>
                </a:solidFill>
              </a:rPr>
              <a:t>Knowing which parts are fixed is what lets us:</a:t>
            </a:r>
          </a:p>
          <a:p>
            <a:pPr marL="400050" indent="-285750">
              <a:spcBef>
                <a:spcPts val="600"/>
              </a:spcBef>
              <a:spcAft>
                <a:spcPts val="600"/>
              </a:spcAft>
              <a:buClr>
                <a:srgbClr val="28285E"/>
              </a:buClr>
              <a:buSzPts val="1260"/>
              <a:buFont typeface="Fira Sans"/>
              <a:buChar char="●"/>
            </a:pPr>
            <a:r>
              <a:rPr sz="1400" b="1">
                <a:solidFill>
                  <a:schemeClr val="tx1"/>
                </a:solidFill>
              </a:rPr>
              <a:t>Budget: </a:t>
            </a:r>
            <a:r>
              <a:rPr sz="1400">
                <a:solidFill>
                  <a:schemeClr val="tx1"/>
                </a:solidFill>
              </a:rPr>
              <a:t>price the fixed part, and reserve for the open one</a:t>
            </a:r>
          </a:p>
          <a:p>
            <a:pPr marL="400050" indent="-285750">
              <a:spcBef>
                <a:spcPts val="600"/>
              </a:spcBef>
              <a:spcAft>
                <a:spcPts val="600"/>
              </a:spcAft>
              <a:buClr>
                <a:srgbClr val="28285E"/>
              </a:buClr>
              <a:buSzPts val="1260"/>
              <a:buFont typeface="Fira Sans"/>
              <a:buChar char="●"/>
            </a:pPr>
            <a:r>
              <a:rPr sz="1400" b="1">
                <a:solidFill>
                  <a:schemeClr val="tx1"/>
                </a:solidFill>
              </a:rPr>
              <a:t>Recover: </a:t>
            </a:r>
            <a:r>
              <a:rPr sz="1400">
                <a:solidFill>
                  <a:schemeClr val="tx1"/>
                </a:solidFill>
              </a:rPr>
              <a:t>checkpoint at a stage boundary, where artifacts have names</a:t>
            </a:r>
          </a:p>
          <a:p>
            <a:pPr marL="400050" indent="-285750">
              <a:spcBef>
                <a:spcPts val="600"/>
              </a:spcBef>
              <a:spcAft>
                <a:spcPts val="600"/>
              </a:spcAft>
              <a:buClr>
                <a:srgbClr val="28285E"/>
              </a:buClr>
              <a:buSzPts val="1260"/>
              <a:buFont typeface="Fira Sans"/>
              <a:buChar char="●"/>
            </a:pPr>
            <a:r>
              <a:rPr sz="1400" b="1">
                <a:solidFill>
                  <a:schemeClr val="tx1"/>
                </a:solidFill>
              </a:rPr>
              <a:t>Transact: </a:t>
            </a:r>
            <a:r>
              <a:rPr sz="1400">
                <a:solidFill>
                  <a:schemeClr val="tx1"/>
                </a:solidFill>
              </a:rPr>
              <a:t>commit and roll back where we know the sequence</a:t>
            </a:r>
          </a:p>
          <a:p>
            <a:pPr marL="400050" indent="-285750">
              <a:spcBef>
                <a:spcPts val="600"/>
              </a:spcBef>
              <a:spcAft>
                <a:spcPts val="600"/>
              </a:spcAft>
              <a:buClr>
                <a:srgbClr val="28285E"/>
              </a:buClr>
              <a:buSzPts val="1260"/>
              <a:buFont typeface="Fira Sans"/>
              <a:buChar char="●"/>
            </a:pPr>
            <a:r>
              <a:rPr sz="1400" b="1">
                <a:solidFill>
                  <a:schemeClr val="tx1"/>
                </a:solidFill>
              </a:rPr>
              <a:t>Run in parallel: </a:t>
            </a:r>
            <a:r>
              <a:rPr sz="1400">
                <a:solidFill>
                  <a:schemeClr val="tx1"/>
                </a:solidFill>
              </a:rPr>
              <a:t>a fixed stage declares what it reads and writes</a:t>
            </a:r>
          </a:p>
        </p:txBody>
      </p:sp>
      <p:sp>
        <p:nvSpPr>
          <p:cNvPr id="4" name="Rectangle 3"/>
          <p:cNvSpPr/>
          <p:nvPr/>
        </p:nvSpPr>
        <p:spPr>
          <a:xfrm>
            <a:off x="319251" y="74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Almost everything we build will be </a:t>
            </a:r>
            <a:r>
              <a:rPr sz="1400" b="1">
                <a:solidFill>
                  <a:schemeClr val="tx2"/>
                </a:solidFill>
              </a:rPr>
              <a:t>part fixed and part open</a:t>
            </a:r>
            <a:r>
              <a:rPr sz="1400">
                <a:solidFill>
                  <a:schemeClr val="tx2"/>
                </a:solidFill>
              </a:rPr>
              <a:t>, and where the split falls is a design decision.</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fixed shape costs</a:t>
            </a:r>
          </a:p>
        </p:txBody>
      </p:sp>
      <p:sp>
        <p:nvSpPr>
          <p:cNvPr id="3" name="Content Placeholder 2"/>
          <p:cNvSpPr>
            <a:spLocks noGrp="1"/>
          </p:cNvSpPr>
          <p:nvPr>
            <p:ph idx="1"/>
          </p:nvPr>
        </p:nvSpPr>
        <p:spPr>
          <a:xfrm>
            <a:off x="319251" y="700000"/>
            <a:ext cx="6014545" cy="2150000"/>
          </a:xfrm>
        </p:spPr>
        <p:txBody>
          <a:bodyPr wrap="square">
            <a:normAutofit fontScale="92500" lnSpcReduction="10000"/>
          </a:bodyPr>
          <a:lstStyle/>
          <a:p>
            <a:pPr marL="0" indent="0">
              <a:buNone/>
            </a:pPr>
            <a:r>
              <a:rPr sz="1400" b="1" dirty="0">
                <a:solidFill>
                  <a:srgbClr val="28285E"/>
                </a:solidFill>
              </a:rPr>
              <a:t>What a fixed workflow gives up:</a:t>
            </a:r>
          </a:p>
          <a:p>
            <a:pPr marL="400050" indent="-285750">
              <a:spcBef>
                <a:spcPts val="600"/>
              </a:spcBef>
              <a:spcAft>
                <a:spcPts val="600"/>
              </a:spcAft>
              <a:buClr>
                <a:srgbClr val="28285E"/>
              </a:buClr>
              <a:buSzPts val="1260"/>
              <a:buFont typeface="Fira Sans"/>
              <a:buChar char="●"/>
            </a:pPr>
            <a:r>
              <a:rPr sz="1400" b="1" dirty="0">
                <a:solidFill>
                  <a:schemeClr val="tx1"/>
                </a:solidFill>
              </a:rPr>
              <a:t>No second look. </a:t>
            </a:r>
            <a:r>
              <a:rPr sz="1400" dirty="0">
                <a:solidFill>
                  <a:schemeClr val="tx1"/>
                </a:solidFill>
              </a:rPr>
              <a:t>Every read is scheduled before we know what the first one returns.</a:t>
            </a:r>
          </a:p>
          <a:p>
            <a:pPr marL="400050" indent="-285750">
              <a:spcBef>
                <a:spcPts val="600"/>
              </a:spcBef>
              <a:spcAft>
                <a:spcPts val="600"/>
              </a:spcAft>
              <a:buClr>
                <a:srgbClr val="28285E"/>
              </a:buClr>
              <a:buSzPts val="1260"/>
              <a:buFont typeface="Fira Sans"/>
              <a:buChar char="●"/>
            </a:pPr>
            <a:r>
              <a:rPr sz="1400" b="1" dirty="0">
                <a:solidFill>
                  <a:schemeClr val="tx1"/>
                </a:solidFill>
              </a:rPr>
              <a:t>No sense of what is missing. </a:t>
            </a:r>
            <a:r>
              <a:rPr sz="1400" dirty="0">
                <a:solidFill>
                  <a:schemeClr val="tx1"/>
                </a:solidFill>
              </a:rPr>
              <a:t>Nothing in the run stands for evidence the agent has not seen.</a:t>
            </a:r>
          </a:p>
          <a:p>
            <a:pPr marL="400050" indent="-285750">
              <a:spcBef>
                <a:spcPts val="600"/>
              </a:spcBef>
              <a:spcAft>
                <a:spcPts val="600"/>
              </a:spcAft>
              <a:buClr>
                <a:srgbClr val="28285E"/>
              </a:buClr>
              <a:buSzPts val="1260"/>
              <a:buFont typeface="Fira Sans"/>
              <a:buChar char="●"/>
            </a:pPr>
            <a:r>
              <a:rPr sz="1400" b="1" dirty="0">
                <a:solidFill>
                  <a:schemeClr val="tx1"/>
                </a:solidFill>
              </a:rPr>
              <a:t>No way to ask. </a:t>
            </a:r>
            <a:r>
              <a:rPr sz="1400" dirty="0">
                <a:solidFill>
                  <a:schemeClr val="tx1"/>
                </a:solidFill>
              </a:rPr>
              <a:t>If the fix depends on a file the alert never names, no step exists in which to go and get it.</a:t>
            </a:r>
          </a:p>
        </p:txBody>
      </p:sp>
      <p:sp>
        <p:nvSpPr>
          <p:cNvPr id="4" name="Rectangle 3"/>
          <p:cNvSpPr/>
          <p:nvPr/>
        </p:nvSpPr>
        <p:spPr>
          <a:xfrm>
            <a:off x="319251" y="30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The question a fixed workflow cannot ask </a:t>
            </a:r>
            <a:r>
              <a:rPr lang="en-US" sz="1400" dirty="0">
                <a:solidFill>
                  <a:schemeClr val="tx2"/>
                </a:solidFill>
              </a:rPr>
              <a:t>are the ones it wasn’t designed for. </a:t>
            </a:r>
            <a:endParaRPr sz="1400" dirty="0">
              <a:solidFill>
                <a:schemeClr val="tx2"/>
              </a:solidFill>
            </a:endParaRPr>
          </a:p>
        </p:txBody>
      </p:sp>
      <p:sp>
        <p:nvSpPr>
          <p:cNvPr id="5" name="Rectangle 4"/>
          <p:cNvSpPr/>
          <p:nvPr/>
        </p:nvSpPr>
        <p:spPr>
          <a:xfrm>
            <a:off x="319251" y="3900000"/>
            <a:ext cx="6014545" cy="544308"/>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dirty="0">
                <a:solidFill>
                  <a:srgbClr val="28285E"/>
                </a:solidFill>
              </a:rPr>
              <a:t>The run does not </a:t>
            </a:r>
            <a:r>
              <a:rPr lang="en-US" sz="1200" b="1" dirty="0">
                <a:solidFill>
                  <a:srgbClr val="28285E"/>
                </a:solidFill>
              </a:rPr>
              <a:t>stall,</a:t>
            </a:r>
            <a:r>
              <a:rPr sz="1200" b="1" dirty="0">
                <a:solidFill>
                  <a:srgbClr val="28285E"/>
                </a:solidFill>
              </a:rPr>
              <a:t> and it does not report a gap. It writes a patch, and the checks pass.</a:t>
            </a:r>
            <a:r>
              <a:rPr sz="1200" b="1" dirty="0">
                <a:solidFill>
                  <a:srgbClr val="C73561"/>
                </a:solidFill>
              </a:rPr>
              <a:t>  (a reactive loop </a:t>
            </a:r>
            <a:r>
              <a:rPr lang="en-US" sz="1200" b="1" dirty="0">
                <a:solidFill>
                  <a:srgbClr val="C73561"/>
                </a:solidFill>
              </a:rPr>
              <a:t>gets</a:t>
            </a:r>
            <a:r>
              <a:rPr sz="1200" b="1" dirty="0">
                <a:solidFill>
                  <a:srgbClr val="C73561"/>
                </a:solidFill>
              </a:rPr>
              <a:t> </a:t>
            </a:r>
            <a:r>
              <a:rPr lang="en-US" sz="1200" b="1" dirty="0">
                <a:solidFill>
                  <a:srgbClr val="C73561"/>
                </a:solidFill>
              </a:rPr>
              <a:t>us that feedback</a:t>
            </a:r>
            <a:r>
              <a:rPr sz="1200" b="1" dirty="0">
                <a:solidFill>
                  <a:srgbClr val="C73561"/>
                </a:solidFill>
              </a:rPr>
              <a: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Agentless</a:t>
            </a:r>
            <a:r>
              <a:rPr lang="en-US" dirty="0"/>
              <a:t>: A sample </a:t>
            </a:r>
            <a:r>
              <a:rPr dirty="0"/>
              <a:t>realization</a:t>
            </a:r>
            <a:r>
              <a:rPr lang="en-US" dirty="0"/>
              <a:t> of a workflow</a:t>
            </a:r>
            <a:endParaRPr dirty="0"/>
          </a:p>
        </p:txBody>
      </p:sp>
      <p:sp>
        <p:nvSpPr>
          <p:cNvPr id="3" name="Rectangle 2"/>
          <p:cNvSpPr/>
          <p:nvPr/>
        </p:nvSpPr>
        <p:spPr>
          <a:xfrm>
            <a:off x="319251" y="74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Three phases in a fixed order: the model fills in content at every step, and </a:t>
            </a:r>
            <a:r>
              <a:rPr sz="1400" b="1">
                <a:solidFill>
                  <a:schemeClr val="tx2"/>
                </a:solidFill>
              </a:rPr>
              <a:t>no output of its can redirect an arrow</a:t>
            </a:r>
            <a:r>
              <a:rPr sz="1400">
                <a:solidFill>
                  <a:schemeClr val="tx2"/>
                </a:solidFill>
              </a:rPr>
              <a:t>.</a:t>
            </a:r>
          </a:p>
        </p:txBody>
      </p:sp>
      <p:pic>
        <p:nvPicPr>
          <p:cNvPr id="4" name="Picture 3" descr="agentless-phases.png"/>
          <p:cNvPicPr>
            <a:picLocks noChangeAspect="1"/>
          </p:cNvPicPr>
          <p:nvPr/>
        </p:nvPicPr>
        <p:blipFill>
          <a:blip r:embed="rId3"/>
          <a:stretch>
            <a:fillRect/>
          </a:stretch>
        </p:blipFill>
        <p:spPr>
          <a:xfrm>
            <a:off x="250147" y="1600000"/>
            <a:ext cx="6152752" cy="1403563"/>
          </a:xfrm>
          <a:prstGeom prst="rect">
            <a:avLst/>
          </a:prstGeom>
        </p:spPr>
      </p:pic>
      <p:sp>
        <p:nvSpPr>
          <p:cNvPr id="5" name="TextBox 4"/>
          <p:cNvSpPr txBox="1"/>
          <p:nvPr/>
        </p:nvSpPr>
        <p:spPr>
          <a:xfrm>
            <a:off x="3333796" y="3000000"/>
            <a:ext cx="3000000" cy="253916"/>
          </a:xfrm>
          <a:prstGeom prst="rect">
            <a:avLst/>
          </a:prstGeom>
          <a:noFill/>
        </p:spPr>
        <p:txBody>
          <a:bodyPr wrap="none">
            <a:spAutoFit/>
          </a:bodyPr>
          <a:lstStyle/>
          <a:p>
            <a:pPr algn="r"/>
            <a:r>
              <a:rPr sz="1050" i="1">
                <a:solidFill>
                  <a:schemeClr val="bg2"/>
                </a:solidFill>
              </a:rPr>
              <a:t>Redrawn after Figure 1, Xia et al., FSE 2025</a:t>
            </a:r>
          </a:p>
        </p:txBody>
      </p:sp>
      <p:sp>
        <p:nvSpPr>
          <p:cNvPr id="6" name="Rectangle 5"/>
          <p:cNvSpPr/>
          <p:nvPr/>
        </p:nvSpPr>
        <p:spPr>
          <a:xfrm>
            <a:off x="319251" y="345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Every arrow here was drawn before the issue arrived.</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Agentless and SWE-agent</a:t>
            </a:r>
          </a:p>
        </p:txBody>
      </p:sp>
      <p:graphicFrame>
        <p:nvGraphicFramePr>
          <p:cNvPr id="3" name="Table 2"/>
          <p:cNvGraphicFramePr>
            <a:graphicFrameLocks noGrp="1"/>
          </p:cNvGraphicFramePr>
          <p:nvPr/>
        </p:nvGraphicFramePr>
        <p:xfrm>
          <a:off x="319251" y="1150000"/>
          <a:ext cx="6014545" cy="1519200"/>
        </p:xfrm>
        <a:graphic>
          <a:graphicData uri="http://schemas.openxmlformats.org/drawingml/2006/table">
            <a:tbl>
              <a:tblPr>
                <a:tableStyleId>{2D5ABB26-0587-4C30-8999-92F81FD0307C}</a:tableStyleId>
              </a:tblPr>
              <a:tblGrid>
                <a:gridCol w="1300000">
                  <a:extLst>
                    <a:ext uri="{9D8B030D-6E8A-4147-A177-3AD203B41FA5}">
                      <a16:colId xmlns:a16="http://schemas.microsoft.com/office/drawing/2014/main" val="20000"/>
                    </a:ext>
                  </a:extLst>
                </a:gridCol>
                <a:gridCol w="2357272">
                  <a:extLst>
                    <a:ext uri="{9D8B030D-6E8A-4147-A177-3AD203B41FA5}">
                      <a16:colId xmlns:a16="http://schemas.microsoft.com/office/drawing/2014/main" val="20001"/>
                    </a:ext>
                  </a:extLst>
                </a:gridCol>
                <a:gridCol w="2357273">
                  <a:extLst>
                    <a:ext uri="{9D8B030D-6E8A-4147-A177-3AD203B41FA5}">
                      <a16:colId xmlns:a16="http://schemas.microsoft.com/office/drawing/2014/main" val="20002"/>
                    </a:ext>
                  </a:extLst>
                </a:gridCol>
              </a:tblGrid>
              <a:tr h="300000">
                <a:tc>
                  <a:txBody>
                    <a:bodyPr/>
                    <a:lstStyle/>
                    <a:p>
                      <a:pPr algn="l">
                        <a:buNone/>
                      </a:pPr>
                      <a:r>
                        <a:rPr sz="1100" b="1">
                          <a:solidFill>
                            <a:schemeClr val="tx1"/>
                          </a:solidFill>
                        </a:rPr>
                        <a:t>SWE-bench Lite</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Agentless</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SWE-agent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100" b="1">
                          <a:solidFill>
                            <a:srgbClr val="28285E"/>
                          </a:solidFill>
                        </a:rPr>
                        <a:t>Control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Three phases in a fixed order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The model chooses the next action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100" b="1">
                          <a:solidFill>
                            <a:srgbClr val="28285E"/>
                          </a:solidFill>
                        </a:rPr>
                        <a:t>Resolved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96 of 300 (32.00%)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55 of 300 (18.33%)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100" b="1">
                          <a:solidFill>
                            <a:srgbClr val="28285E"/>
                          </a:solidFill>
                        </a:rPr>
                        <a:t>Cost per issue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$0.70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$2.53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100" b="1">
                          <a:solidFill>
                            <a:srgbClr val="28285E"/>
                          </a:solidFill>
                        </a:rPr>
                        <a:t>Tokens per issue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78,165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498,346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4" name="Rectangle 3"/>
          <p:cNvSpPr/>
          <p:nvPr/>
        </p:nvSpPr>
        <p:spPr>
          <a:xfrm>
            <a:off x="319251" y="3060000"/>
            <a:ext cx="6014545" cy="90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Same model, different control structure. </a:t>
            </a:r>
            <a:r>
              <a:rPr sz="1300" b="0">
                <a:solidFill>
                  <a:srgbClr val="28285E"/>
                </a:solidFill>
              </a:rPr>
              <a:t>Agentless resolved more issues at about a quarter of the cost and a sixth of the tokens. The two systems differ in more than their control structure, so this is the strongest comparison available rather than a controlled experiment.</a:t>
            </a:r>
          </a:p>
        </p:txBody>
      </p:sp>
      <p:sp>
        <p:nvSpPr>
          <p:cNvPr id="5" name="TextBox 4"/>
          <p:cNvSpPr txBox="1"/>
          <p:nvPr/>
        </p:nvSpPr>
        <p:spPr>
          <a:xfrm>
            <a:off x="3333796" y="4060000"/>
            <a:ext cx="3000000" cy="253916"/>
          </a:xfrm>
          <a:prstGeom prst="rect">
            <a:avLst/>
          </a:prstGeom>
          <a:noFill/>
        </p:spPr>
        <p:txBody>
          <a:bodyPr wrap="none">
            <a:spAutoFit/>
          </a:bodyPr>
          <a:lstStyle/>
          <a:p>
            <a:pPr algn="r"/>
            <a:r>
              <a:rPr sz="1050" i="1">
                <a:solidFill>
                  <a:schemeClr val="bg2"/>
                </a:solidFill>
              </a:rPr>
              <a:t>Xia et al., FSE 2025, Table 1</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Grains of salt</a:t>
            </a:r>
          </a:p>
        </p:txBody>
      </p:sp>
      <p:sp>
        <p:nvSpPr>
          <p:cNvPr id="3" name="Content Placeholder 2"/>
          <p:cNvSpPr>
            <a:spLocks noGrp="1"/>
          </p:cNvSpPr>
          <p:nvPr>
            <p:ph idx="1"/>
          </p:nvPr>
        </p:nvSpPr>
        <p:spPr>
          <a:xfrm>
            <a:off x="319251" y="700000"/>
            <a:ext cx="6014545" cy="1720000"/>
          </a:xfrm>
        </p:spPr>
        <p:txBody>
          <a:bodyPr wrap="square">
            <a:normAutofit fontScale="92500" lnSpcReduction="20000"/>
          </a:bodyPr>
          <a:lstStyle/>
          <a:p>
            <a:pPr marL="0" indent="0">
              <a:buNone/>
            </a:pPr>
            <a:r>
              <a:rPr sz="1400" b="1">
                <a:solidFill>
                  <a:srgbClr val="28285E"/>
                </a:solidFill>
              </a:rPr>
              <a:t>Two limits on what that comparison shows:</a:t>
            </a:r>
          </a:p>
          <a:p>
            <a:pPr marL="400050" indent="-285750">
              <a:spcBef>
                <a:spcPts val="600"/>
              </a:spcBef>
              <a:spcAft>
                <a:spcPts val="600"/>
              </a:spcAft>
              <a:buClr>
                <a:srgbClr val="28285E"/>
              </a:buClr>
              <a:buSzPts val="1260"/>
              <a:buFont typeface="Fira Sans"/>
              <a:buChar char="●"/>
            </a:pPr>
            <a:r>
              <a:rPr sz="1400" b="1">
                <a:solidFill>
                  <a:schemeClr val="tx1"/>
                </a:solidFill>
              </a:rPr>
              <a:t>It is not the leaderboard. </a:t>
            </a:r>
            <a:r>
              <a:rPr sz="1400">
                <a:solidFill>
                  <a:schemeClr val="tx1"/>
                </a:solidFill>
              </a:rPr>
              <a:t>CodeStory Aide resolved 129 of 300, and published neither code nor trajectories.</a:t>
            </a:r>
          </a:p>
          <a:p>
            <a:pPr marL="400050" indent="-285750">
              <a:spcBef>
                <a:spcPts val="600"/>
              </a:spcBef>
              <a:spcAft>
                <a:spcPts val="600"/>
              </a:spcAft>
              <a:buClr>
                <a:srgbClr val="28285E"/>
              </a:buClr>
              <a:buSzPts val="1260"/>
              <a:buFont typeface="Fira Sans"/>
              <a:buChar char="●"/>
            </a:pPr>
            <a:r>
              <a:rPr sz="1400" b="1">
                <a:solidFill>
                  <a:schemeClr val="tx1"/>
                </a:solidFill>
              </a:rPr>
              <a:t>The benchmark leaks. </a:t>
            </a:r>
            <a:r>
              <a:rPr sz="1400">
                <a:solidFill>
                  <a:schemeClr val="tx1"/>
                </a:solidFill>
              </a:rPr>
              <a:t>4.3% of issue descriptions carry the developer’s own patch, and 10.0% lack the information needed to solve the issue. A filtered set of 249 excludes those cases.</a:t>
            </a:r>
          </a:p>
        </p:txBody>
      </p:sp>
      <p:sp>
        <p:nvSpPr>
          <p:cNvPr id="4" name="TextBox 3"/>
          <p:cNvSpPr txBox="1"/>
          <p:nvPr/>
        </p:nvSpPr>
        <p:spPr>
          <a:xfrm>
            <a:off x="3333796" y="2460000"/>
            <a:ext cx="3000000" cy="253916"/>
          </a:xfrm>
          <a:prstGeom prst="rect">
            <a:avLst/>
          </a:prstGeom>
          <a:noFill/>
        </p:spPr>
        <p:txBody>
          <a:bodyPr wrap="none">
            <a:spAutoFit/>
          </a:bodyPr>
          <a:lstStyle/>
          <a:p>
            <a:pPr algn="r"/>
            <a:r>
              <a:rPr sz="1050" i="1">
                <a:solidFill>
                  <a:schemeClr val="bg2"/>
                </a:solidFill>
              </a:rPr>
              <a:t>Xia et al., FSE 2025, Table 1 and §§6.1–6.2</a:t>
            </a:r>
          </a:p>
        </p:txBody>
      </p:sp>
      <p:sp>
        <p:nvSpPr>
          <p:cNvPr id="5" name="Rectangle 4"/>
          <p:cNvSpPr/>
          <p:nvPr/>
        </p:nvSpPr>
        <p:spPr>
          <a:xfrm>
            <a:off x="319251" y="29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lang="en-US" sz="1600" dirty="0">
                <a:solidFill>
                  <a:schemeClr val="tx2"/>
                </a:solidFill>
              </a:rPr>
              <a:t>None of this shows that fixed workflows win in general.</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BC9B572-94D2-F260-A378-F87DB56311CC}"/>
            </a:ext>
          </a:extLst>
        </p:cNvPr>
        <p:cNvGrpSpPr/>
        <p:nvPr/>
      </p:nvGrpSpPr>
      <p:grpSpPr>
        <a:xfrm>
          <a:off x="0" y="0"/>
          <a:ext cx="0" cy="0"/>
          <a:chOff x="0" y="0"/>
          <a:chExt cx="0" cy="0"/>
        </a:xfrm>
      </p:grpSpPr>
      <p:cxnSp>
        <p:nvCxnSpPr>
          <p:cNvPr id="3" name="Straight Arrow Connector 2">
            <a:extLst>
              <a:ext uri="{FF2B5EF4-FFF2-40B4-BE49-F238E27FC236}">
                <a16:creationId xmlns:a16="http://schemas.microsoft.com/office/drawing/2014/main" id="{17CA709B-26A2-C11F-7BB1-02C9CCE97AAA}"/>
              </a:ext>
            </a:extLst>
          </p:cNvPr>
          <p:cNvCxnSpPr>
            <a:cxnSpLocks/>
          </p:cNvCxnSpPr>
          <p:nvPr/>
        </p:nvCxnSpPr>
        <p:spPr>
          <a:xfrm>
            <a:off x="1063835" y="1692899"/>
            <a:ext cx="0" cy="2688142"/>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5" name="Oval 4">
            <a:extLst>
              <a:ext uri="{FF2B5EF4-FFF2-40B4-BE49-F238E27FC236}">
                <a16:creationId xmlns:a16="http://schemas.microsoft.com/office/drawing/2014/main" id="{19D57510-3BF4-4A6F-D910-AF3B93B504B5}"/>
              </a:ext>
            </a:extLst>
          </p:cNvPr>
          <p:cNvSpPr/>
          <p:nvPr/>
        </p:nvSpPr>
        <p:spPr>
          <a:xfrm>
            <a:off x="951758" y="1862799"/>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77F19860-B1A3-1E0E-9B94-B9E5F4F9AEA3}"/>
              </a:ext>
            </a:extLst>
          </p:cNvPr>
          <p:cNvSpPr/>
          <p:nvPr/>
        </p:nvSpPr>
        <p:spPr>
          <a:xfrm>
            <a:off x="951758" y="239649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EA7BA86E-9FB2-C1E7-E1BD-CBBCEE766D4E}"/>
              </a:ext>
            </a:extLst>
          </p:cNvPr>
          <p:cNvSpPr/>
          <p:nvPr/>
        </p:nvSpPr>
        <p:spPr>
          <a:xfrm>
            <a:off x="951758" y="292663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A81CB168-A73B-E4BC-85ED-A61DB3D6318F}"/>
              </a:ext>
            </a:extLst>
          </p:cNvPr>
          <p:cNvSpPr/>
          <p:nvPr/>
        </p:nvSpPr>
        <p:spPr>
          <a:xfrm>
            <a:off x="951758" y="3460331"/>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51696F36-21A9-28DA-4B61-2FDE363CC12F}"/>
              </a:ext>
            </a:extLst>
          </p:cNvPr>
          <p:cNvSpPr txBox="1"/>
          <p:nvPr/>
        </p:nvSpPr>
        <p:spPr>
          <a:xfrm>
            <a:off x="1259524" y="1820986"/>
            <a:ext cx="5033750" cy="307777"/>
          </a:xfrm>
          <a:prstGeom prst="rect">
            <a:avLst/>
          </a:prstGeom>
          <a:noFill/>
        </p:spPr>
        <p:txBody>
          <a:bodyPr wrap="none" rtlCol="0">
            <a:spAutoFit/>
          </a:bodyPr>
          <a:lstStyle/>
          <a:p>
            <a:r>
              <a:rPr lang="en-US" b="1" dirty="0">
                <a:solidFill>
                  <a:schemeClr val="tx2"/>
                </a:solidFill>
              </a:rPr>
              <a:t>Fixed workflow</a:t>
            </a:r>
            <a:r>
              <a:rPr lang="en-US" b="1" dirty="0">
                <a:solidFill>
                  <a:schemeClr val="tx2"/>
                </a:solidFill>
                <a:latin typeface="+mn-lt"/>
              </a:rPr>
              <a:t>: </a:t>
            </a:r>
            <a:r>
              <a:rPr lang="en-US" i="1" dirty="0">
                <a:solidFill>
                  <a:schemeClr val="tx2"/>
                </a:solidFill>
                <a:latin typeface="+mn-lt"/>
              </a:rPr>
              <a:t>The steps are ours, written before the run</a:t>
            </a:r>
            <a:r>
              <a:rPr lang="en-US" b="1" dirty="0">
                <a:solidFill>
                  <a:schemeClr val="tx2"/>
                </a:solidFill>
                <a:latin typeface="+mn-lt"/>
              </a:rPr>
              <a:t> </a:t>
            </a:r>
            <a:endParaRPr lang="en-US" b="1" dirty="0">
              <a:solidFill>
                <a:schemeClr val="tx2"/>
              </a:solidFill>
            </a:endParaRPr>
          </a:p>
        </p:txBody>
      </p:sp>
      <p:sp>
        <p:nvSpPr>
          <p:cNvPr id="24" name="Oval 23">
            <a:extLst>
              <a:ext uri="{FF2B5EF4-FFF2-40B4-BE49-F238E27FC236}">
                <a16:creationId xmlns:a16="http://schemas.microsoft.com/office/drawing/2014/main" id="{B7E1EA47-85C7-DB70-D19C-7D7DD42673D0}"/>
              </a:ext>
            </a:extLst>
          </p:cNvPr>
          <p:cNvSpPr/>
          <p:nvPr/>
        </p:nvSpPr>
        <p:spPr>
          <a:xfrm>
            <a:off x="951758" y="3990470"/>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0DD855CB-3BD8-AB7A-F9F9-B73392DAC10F}"/>
              </a:ext>
            </a:extLst>
          </p:cNvPr>
          <p:cNvSpPr txBox="1"/>
          <p:nvPr/>
        </p:nvSpPr>
        <p:spPr>
          <a:xfrm>
            <a:off x="1259524" y="2351125"/>
            <a:ext cx="3672800" cy="307777"/>
          </a:xfrm>
          <a:prstGeom prst="rect">
            <a:avLst/>
          </a:prstGeom>
          <a:noFill/>
        </p:spPr>
        <p:txBody>
          <a:bodyPr wrap="none" rtlCol="0">
            <a:spAutoFit/>
          </a:bodyPr>
          <a:lstStyle/>
          <a:p>
            <a:r>
              <a:rPr lang="en-US" b="1" dirty="0">
                <a:solidFill>
                  <a:schemeClr val="tx2"/>
                </a:solidFill>
              </a:rPr>
              <a:t>ReACT</a:t>
            </a:r>
            <a:r>
              <a:rPr lang="en-US" b="1" dirty="0">
                <a:solidFill>
                  <a:schemeClr val="tx2"/>
                </a:solidFill>
                <a:latin typeface="+mn-lt"/>
              </a:rPr>
              <a:t>: </a:t>
            </a:r>
            <a:r>
              <a:rPr lang="en-US" i="1" dirty="0">
                <a:solidFill>
                  <a:schemeClr val="tx2"/>
                </a:solidFill>
                <a:latin typeface="+mn-lt"/>
              </a:rPr>
              <a:t>The model chooses the next action</a:t>
            </a:r>
          </a:p>
        </p:txBody>
      </p:sp>
      <p:sp>
        <p:nvSpPr>
          <p:cNvPr id="26" name="TextBox 25">
            <a:extLst>
              <a:ext uri="{FF2B5EF4-FFF2-40B4-BE49-F238E27FC236}">
                <a16:creationId xmlns:a16="http://schemas.microsoft.com/office/drawing/2014/main" id="{5157FEDE-37BD-66CD-4A8D-CD04C1DAE975}"/>
              </a:ext>
            </a:extLst>
          </p:cNvPr>
          <p:cNvSpPr txBox="1"/>
          <p:nvPr/>
        </p:nvSpPr>
        <p:spPr>
          <a:xfrm>
            <a:off x="1259524" y="2884821"/>
            <a:ext cx="4806124" cy="307777"/>
          </a:xfrm>
          <a:prstGeom prst="rect">
            <a:avLst/>
          </a:prstGeom>
          <a:noFill/>
        </p:spPr>
        <p:txBody>
          <a:bodyPr wrap="none" rtlCol="0">
            <a:spAutoFit/>
          </a:bodyPr>
          <a:lstStyle/>
          <a:p>
            <a:r>
              <a:rPr lang="en-US" b="1" dirty="0">
                <a:solidFill>
                  <a:schemeClr val="tx2"/>
                </a:solidFill>
              </a:rPr>
              <a:t>Planner</a:t>
            </a:r>
            <a:r>
              <a:rPr lang="en-US" b="1" dirty="0">
                <a:solidFill>
                  <a:schemeClr val="tx2"/>
                </a:solidFill>
                <a:latin typeface="+mn-lt"/>
              </a:rPr>
              <a:t>: </a:t>
            </a:r>
            <a:r>
              <a:rPr lang="en-US" i="1" dirty="0">
                <a:solidFill>
                  <a:schemeClr val="tx2"/>
                </a:solidFill>
                <a:latin typeface="+mn-lt"/>
              </a:rPr>
              <a:t>The plan is written into state and revised there</a:t>
            </a:r>
            <a:endParaRPr lang="en-US" b="1" dirty="0">
              <a:solidFill>
                <a:schemeClr val="tx2"/>
              </a:solidFill>
            </a:endParaRPr>
          </a:p>
        </p:txBody>
      </p:sp>
      <p:sp>
        <p:nvSpPr>
          <p:cNvPr id="27" name="TextBox 26">
            <a:extLst>
              <a:ext uri="{FF2B5EF4-FFF2-40B4-BE49-F238E27FC236}">
                <a16:creationId xmlns:a16="http://schemas.microsoft.com/office/drawing/2014/main" id="{A61F3723-C560-ABF6-D385-9C43CE591875}"/>
              </a:ext>
            </a:extLst>
          </p:cNvPr>
          <p:cNvSpPr txBox="1"/>
          <p:nvPr/>
        </p:nvSpPr>
        <p:spPr>
          <a:xfrm>
            <a:off x="1259524" y="3418518"/>
            <a:ext cx="4608954" cy="307777"/>
          </a:xfrm>
          <a:prstGeom prst="rect">
            <a:avLst/>
          </a:prstGeom>
          <a:noFill/>
        </p:spPr>
        <p:txBody>
          <a:bodyPr wrap="none" rtlCol="0">
            <a:spAutoFit/>
          </a:bodyPr>
          <a:lstStyle/>
          <a:p>
            <a:r>
              <a:rPr lang="en-US" b="1" dirty="0">
                <a:solidFill>
                  <a:schemeClr val="tx2"/>
                </a:solidFill>
              </a:rPr>
              <a:t>Validator</a:t>
            </a:r>
            <a:r>
              <a:rPr lang="en-US" b="1" dirty="0">
                <a:solidFill>
                  <a:schemeClr val="tx2"/>
                </a:solidFill>
                <a:latin typeface="+mn-lt"/>
              </a:rPr>
              <a:t>: </a:t>
            </a:r>
            <a:r>
              <a:rPr lang="en-US" i="1" dirty="0">
                <a:solidFill>
                  <a:schemeClr val="tx2"/>
                </a:solidFill>
                <a:latin typeface="+mn-lt"/>
              </a:rPr>
              <a:t>Acceptance is decoupled from the controller</a:t>
            </a:r>
            <a:endParaRPr lang="en-US" b="1" dirty="0">
              <a:solidFill>
                <a:schemeClr val="tx2"/>
              </a:solidFill>
            </a:endParaRPr>
          </a:p>
        </p:txBody>
      </p:sp>
      <p:sp>
        <p:nvSpPr>
          <p:cNvPr id="28" name="TextBox 27">
            <a:extLst>
              <a:ext uri="{FF2B5EF4-FFF2-40B4-BE49-F238E27FC236}">
                <a16:creationId xmlns:a16="http://schemas.microsoft.com/office/drawing/2014/main" id="{FF9E5B53-7B61-D39C-E458-352F1419436F}"/>
              </a:ext>
            </a:extLst>
          </p:cNvPr>
          <p:cNvSpPr txBox="1"/>
          <p:nvPr/>
        </p:nvSpPr>
        <p:spPr>
          <a:xfrm>
            <a:off x="1259524" y="3948656"/>
            <a:ext cx="5298245" cy="307777"/>
          </a:xfrm>
          <a:prstGeom prst="rect">
            <a:avLst/>
          </a:prstGeom>
          <a:noFill/>
        </p:spPr>
        <p:txBody>
          <a:bodyPr wrap="none" rtlCol="0">
            <a:spAutoFit/>
          </a:bodyPr>
          <a:lstStyle/>
          <a:p>
            <a:r>
              <a:rPr lang="en-US" b="1" dirty="0">
                <a:solidFill>
                  <a:schemeClr val="tx2"/>
                </a:solidFill>
              </a:rPr>
              <a:t>Agent Architectures</a:t>
            </a:r>
            <a:r>
              <a:rPr lang="en-US" b="1" dirty="0">
                <a:solidFill>
                  <a:schemeClr val="tx2"/>
                </a:solidFill>
                <a:latin typeface="+mn-lt"/>
              </a:rPr>
              <a:t>: </a:t>
            </a:r>
            <a:r>
              <a:rPr lang="en-US" i="1" dirty="0">
                <a:solidFill>
                  <a:schemeClr val="tx2"/>
                </a:solidFill>
                <a:latin typeface="+mn-lt"/>
              </a:rPr>
              <a:t>What are some other agent architectures</a:t>
            </a:r>
            <a:endParaRPr lang="en-US" b="1" dirty="0">
              <a:solidFill>
                <a:schemeClr val="tx2"/>
              </a:solidFill>
            </a:endParaRPr>
          </a:p>
        </p:txBody>
      </p:sp>
      <p:sp>
        <p:nvSpPr>
          <p:cNvPr id="4" name="TextBox 3">
            <a:extLst>
              <a:ext uri="{FF2B5EF4-FFF2-40B4-BE49-F238E27FC236}">
                <a16:creationId xmlns:a16="http://schemas.microsoft.com/office/drawing/2014/main" id="{5C0D74A0-67BC-A055-CB62-3C2C26804E7A}"/>
              </a:ext>
            </a:extLst>
          </p:cNvPr>
          <p:cNvSpPr txBox="1"/>
          <p:nvPr/>
        </p:nvSpPr>
        <p:spPr>
          <a:xfrm>
            <a:off x="638816" y="533124"/>
            <a:ext cx="5580374" cy="707886"/>
          </a:xfrm>
          <a:prstGeom prst="rect">
            <a:avLst/>
          </a:prstGeom>
          <a:noFill/>
        </p:spPr>
        <p:txBody>
          <a:bodyPr wrap="none">
            <a:spAutoFit/>
          </a:bodyPr>
          <a:lstStyle/>
          <a:p>
            <a:pPr algn="ctr"/>
            <a:r>
              <a:rPr lang="en-US" sz="4000" b="1" dirty="0">
                <a:solidFill>
                  <a:schemeClr val="tx2"/>
                </a:solidFill>
                <a:latin typeface="Fira Sans" panose="020B0503050000020004" pitchFamily="34" charset="0"/>
              </a:rPr>
              <a:t>ReACT: </a:t>
            </a:r>
            <a:r>
              <a:rPr lang="en-US" sz="4000" dirty="0">
                <a:solidFill>
                  <a:schemeClr val="tx2"/>
                </a:solidFill>
                <a:latin typeface="Fira Sans" panose="020B0503050000020004" pitchFamily="34" charset="0"/>
              </a:rPr>
              <a:t>Reactive Agents</a:t>
            </a:r>
            <a:endParaRPr sz="4000" dirty="0">
              <a:solidFill>
                <a:schemeClr val="tx2"/>
              </a:solidFill>
              <a:latin typeface="Fira Sans" panose="020B0503050000020004" pitchFamily="34" charset="0"/>
            </a:endParaRPr>
          </a:p>
        </p:txBody>
      </p:sp>
      <p:pic>
        <p:nvPicPr>
          <p:cNvPr id="12" name="Picture 11">
            <a:extLst>
              <a:ext uri="{FF2B5EF4-FFF2-40B4-BE49-F238E27FC236}">
                <a16:creationId xmlns:a16="http://schemas.microsoft.com/office/drawing/2014/main" id="{7EF46ED8-ADAA-3E77-8A17-D850EC12253A}"/>
              </a:ext>
            </a:extLst>
          </p:cNvPr>
          <p:cNvPicPr>
            <a:picLocks noChangeAspect="1"/>
          </p:cNvPicPr>
          <p:nvPr/>
        </p:nvPicPr>
        <p:blipFill>
          <a:blip r:embed="rId3">
            <a:alphaModFix amt="90000"/>
          </a:blip>
          <a:stretch>
            <a:fillRect/>
          </a:stretch>
        </p:blipFill>
        <p:spPr>
          <a:xfrm>
            <a:off x="825474" y="2632112"/>
            <a:ext cx="5732295" cy="2252990"/>
          </a:xfrm>
          <a:prstGeom prst="rect">
            <a:avLst/>
          </a:prstGeom>
        </p:spPr>
      </p:pic>
      <p:pic>
        <p:nvPicPr>
          <p:cNvPr id="2" name="Picture 1">
            <a:extLst>
              <a:ext uri="{FF2B5EF4-FFF2-40B4-BE49-F238E27FC236}">
                <a16:creationId xmlns:a16="http://schemas.microsoft.com/office/drawing/2014/main" id="{2B5FFFE2-13D7-ACE4-8D27-FFD7C1F0E13B}"/>
              </a:ext>
            </a:extLst>
          </p:cNvPr>
          <p:cNvPicPr>
            <a:picLocks noChangeAspect="1"/>
          </p:cNvPicPr>
          <p:nvPr/>
        </p:nvPicPr>
        <p:blipFill>
          <a:blip r:embed="rId3">
            <a:alphaModFix amt="70000"/>
          </a:blip>
          <a:stretch>
            <a:fillRect/>
          </a:stretch>
        </p:blipFill>
        <p:spPr>
          <a:xfrm>
            <a:off x="825474" y="1566604"/>
            <a:ext cx="5732295" cy="818429"/>
          </a:xfrm>
          <a:prstGeom prst="rect">
            <a:avLst/>
          </a:prstGeom>
        </p:spPr>
      </p:pic>
    </p:spTree>
    <p:extLst>
      <p:ext uri="{BB962C8B-B14F-4D97-AF65-F5344CB8AC3E}">
        <p14:creationId xmlns:p14="http://schemas.microsoft.com/office/powerpoint/2010/main" val="16227184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35928-2319-7283-126C-5521ECD815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14768C-2BDB-2F82-F422-2216F06CD815}"/>
              </a:ext>
            </a:extLst>
          </p:cNvPr>
          <p:cNvSpPr>
            <a:spLocks noGrp="1"/>
          </p:cNvSpPr>
          <p:nvPr>
            <p:ph type="title"/>
          </p:nvPr>
        </p:nvSpPr>
        <p:spPr/>
        <p:txBody>
          <a:bodyPr/>
          <a:lstStyle/>
          <a:p>
            <a:r>
              <a:t>A reactive loop</a:t>
            </a:r>
          </a:p>
        </p:txBody>
      </p:sp>
      <p:sp>
        <p:nvSpPr>
          <p:cNvPr id="3" name="Content Placeholder 2">
            <a:extLst>
              <a:ext uri="{FF2B5EF4-FFF2-40B4-BE49-F238E27FC236}">
                <a16:creationId xmlns:a16="http://schemas.microsoft.com/office/drawing/2014/main" id="{48C98EB0-CCB3-C813-D979-3AFE7E099FD1}"/>
              </a:ext>
            </a:extLst>
          </p:cNvPr>
          <p:cNvSpPr>
            <a:spLocks noGrp="1"/>
          </p:cNvSpPr>
          <p:nvPr>
            <p:ph idx="1"/>
          </p:nvPr>
        </p:nvSpPr>
        <p:spPr>
          <a:xfrm>
            <a:off x="319251" y="1520000"/>
            <a:ext cx="6014545" cy="1790000"/>
          </a:xfrm>
        </p:spPr>
        <p:txBody>
          <a:bodyPr wrap="square">
            <a:normAutofit fontScale="92500" lnSpcReduction="20000"/>
          </a:bodyPr>
          <a:lstStyle/>
          <a:p>
            <a:pPr marL="0" indent="0">
              <a:buNone/>
            </a:pPr>
            <a:r>
              <a:rPr sz="1400" b="1" dirty="0">
                <a:solidFill>
                  <a:srgbClr val="28285E"/>
                </a:solidFill>
              </a:rPr>
              <a:t>Every turn is the same four steps:</a:t>
            </a:r>
            <a:endParaRPr sz="1400" dirty="0">
              <a:solidFill>
                <a:schemeClr val="tx1"/>
              </a:solidFill>
            </a:endParaRPr>
          </a:p>
          <a:p>
            <a:pPr marL="400050" indent="-285750">
              <a:spcBef>
                <a:spcPts val="600"/>
              </a:spcBef>
              <a:spcAft>
                <a:spcPts val="600"/>
              </a:spcAft>
              <a:buClr>
                <a:srgbClr val="28285E"/>
              </a:buClr>
              <a:buSzPts val="1260"/>
              <a:buFont typeface="Fira Sans"/>
              <a:buChar char="●"/>
            </a:pPr>
            <a:r>
              <a:rPr sz="1400" b="1" dirty="0">
                <a:solidFill>
                  <a:schemeClr val="tx1"/>
                </a:solidFill>
              </a:rPr>
              <a:t>Decide. </a:t>
            </a:r>
            <a:r>
              <a:rPr sz="1400" dirty="0">
                <a:solidFill>
                  <a:schemeClr val="tx1"/>
                </a:solidFill>
              </a:rPr>
              <a:t>One model call returns a tool call, or </a:t>
            </a:r>
            <a:r>
              <a:rPr lang="en-US" sz="1400" dirty="0">
                <a:solidFill>
                  <a:schemeClr val="tx1"/>
                </a:solidFill>
              </a:rPr>
              <a:t>a thought</a:t>
            </a:r>
            <a:r>
              <a:rPr sz="1400" dirty="0">
                <a:solidFill>
                  <a:schemeClr val="tx1"/>
                </a:solidFill>
              </a:rPr>
              <a:t>.</a:t>
            </a:r>
          </a:p>
          <a:p>
            <a:pPr marL="400050" indent="-285750">
              <a:spcBef>
                <a:spcPts val="600"/>
              </a:spcBef>
              <a:spcAft>
                <a:spcPts val="600"/>
              </a:spcAft>
              <a:buClr>
                <a:srgbClr val="28285E"/>
              </a:buClr>
              <a:buSzPts val="1260"/>
              <a:buFont typeface="Fira Sans"/>
              <a:buChar char="●"/>
            </a:pPr>
            <a:r>
              <a:rPr sz="1400" b="1" dirty="0">
                <a:solidFill>
                  <a:schemeClr val="tx1"/>
                </a:solidFill>
              </a:rPr>
              <a:t>Dispatch. </a:t>
            </a:r>
            <a:r>
              <a:rPr sz="1400" dirty="0">
                <a:solidFill>
                  <a:schemeClr val="tx1"/>
                </a:solidFill>
              </a:rPr>
              <a:t>The runtime checks the request against our signature.</a:t>
            </a:r>
          </a:p>
          <a:p>
            <a:pPr marL="400050" indent="-285750">
              <a:spcBef>
                <a:spcPts val="600"/>
              </a:spcBef>
              <a:spcAft>
                <a:spcPts val="600"/>
              </a:spcAft>
              <a:buClr>
                <a:srgbClr val="28285E"/>
              </a:buClr>
              <a:buSzPts val="1260"/>
              <a:buFont typeface="Fira Sans"/>
              <a:buChar char="●"/>
            </a:pPr>
            <a:r>
              <a:rPr sz="1400" b="1" dirty="0">
                <a:solidFill>
                  <a:schemeClr val="tx1"/>
                </a:solidFill>
              </a:rPr>
              <a:t>Observe. </a:t>
            </a:r>
            <a:r>
              <a:rPr sz="1400" dirty="0">
                <a:solidFill>
                  <a:schemeClr val="tx1"/>
                </a:solidFill>
              </a:rPr>
              <a:t>The runtime writes what came back, never the model.</a:t>
            </a:r>
          </a:p>
          <a:p>
            <a:pPr marL="400050" indent="-285750">
              <a:spcBef>
                <a:spcPts val="600"/>
              </a:spcBef>
              <a:spcAft>
                <a:spcPts val="600"/>
              </a:spcAft>
              <a:buClr>
                <a:srgbClr val="28285E"/>
              </a:buClr>
              <a:buSzPts val="1260"/>
              <a:buFont typeface="Fira Sans"/>
              <a:buChar char="●"/>
            </a:pPr>
            <a:r>
              <a:rPr sz="1400" b="1" dirty="0">
                <a:solidFill>
                  <a:schemeClr val="tx1"/>
                </a:solidFill>
              </a:rPr>
              <a:t>Route. </a:t>
            </a:r>
            <a:r>
              <a:rPr sz="1400" dirty="0">
                <a:solidFill>
                  <a:schemeClr val="tx1"/>
                </a:solidFill>
              </a:rPr>
              <a:t>A predicate we wrote picks the successor.</a:t>
            </a:r>
          </a:p>
        </p:txBody>
      </p:sp>
      <p:sp>
        <p:nvSpPr>
          <p:cNvPr id="4" name="Rectangle 3"/>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model selects the next action from the percepts so far, and the runtime returns the observation </a:t>
            </a:r>
            <a:r>
              <a:rPr sz="1400" b="1">
                <a:solidFill>
                  <a:schemeClr val="tx2"/>
                </a:solidFill>
              </a:rPr>
              <a:t>the next selection reads</a:t>
            </a:r>
            <a:r>
              <a:rPr sz="1400">
                <a:solidFill>
                  <a:schemeClr val="tx2"/>
                </a:solidFill>
              </a:rPr>
              <a:t>.</a:t>
            </a:r>
          </a:p>
        </p:txBody>
      </p:sp>
      <p:sp>
        <p:nvSpPr>
          <p:cNvPr id="5" name="TextBox 4"/>
          <p:cNvSpPr txBox="1"/>
          <p:nvPr/>
        </p:nvSpPr>
        <p:spPr>
          <a:xfrm>
            <a:off x="2933796" y="3224126"/>
            <a:ext cx="3400000" cy="253916"/>
          </a:xfrm>
          <a:prstGeom prst="rect">
            <a:avLst/>
          </a:prstGeom>
          <a:noFill/>
        </p:spPr>
        <p:txBody>
          <a:bodyPr wrap="none">
            <a:spAutoFit/>
          </a:bodyPr>
          <a:lstStyle/>
          <a:p>
            <a:pPr algn="r"/>
            <a:r>
              <a:rPr sz="1050" i="1">
                <a:solidFill>
                  <a:schemeClr val="bg2"/>
                </a:solidFill>
              </a:rPr>
              <a:t>Yao et al., ReAct, ICLR 2023, §2</a:t>
            </a:r>
          </a:p>
        </p:txBody>
      </p:sp>
      <p:sp>
        <p:nvSpPr>
          <p:cNvPr id="6" name="Rectangle 5"/>
          <p:cNvSpPr/>
          <p:nvPr/>
        </p:nvSpPr>
        <p:spPr>
          <a:xfrm>
            <a:off x="319251" y="3900000"/>
            <a:ext cx="6014545" cy="544308"/>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dirty="0">
                <a:solidFill>
                  <a:srgbClr val="28285E"/>
                </a:solidFill>
              </a:rPr>
              <a:t>Language is part of the action space: a thought changes the context, not the world.</a:t>
            </a:r>
          </a:p>
        </p:txBody>
      </p:sp>
      <p:pic>
        <p:nvPicPr>
          <p:cNvPr id="7" name="Picture 6">
            <a:extLst>
              <a:ext uri="{FF2B5EF4-FFF2-40B4-BE49-F238E27FC236}">
                <a16:creationId xmlns:a16="http://schemas.microsoft.com/office/drawing/2014/main" id="{66358298-9A44-57B6-2F60-717F1030CF8C}"/>
              </a:ext>
            </a:extLst>
          </p:cNvPr>
          <p:cNvPicPr>
            <a:picLocks noChangeAspect="1"/>
          </p:cNvPicPr>
          <p:nvPr/>
        </p:nvPicPr>
        <p:blipFill>
          <a:blip r:embed="rId3"/>
          <a:stretch>
            <a:fillRect/>
          </a:stretch>
        </p:blipFill>
        <p:spPr>
          <a:xfrm>
            <a:off x="139700" y="1453482"/>
            <a:ext cx="6483684" cy="3341102"/>
          </a:xfrm>
          <a:prstGeom prst="rect">
            <a:avLst/>
          </a:prstGeom>
        </p:spPr>
      </p:pic>
    </p:spTree>
    <p:extLst>
      <p:ext uri="{BB962C8B-B14F-4D97-AF65-F5344CB8AC3E}">
        <p14:creationId xmlns:p14="http://schemas.microsoft.com/office/powerpoint/2010/main" val="22684062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7C574-AC43-BBEF-40A8-B1B8497373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C20970-F1B1-AA7B-3710-D77805C66FED}"/>
              </a:ext>
            </a:extLst>
          </p:cNvPr>
          <p:cNvSpPr>
            <a:spLocks noGrp="1"/>
          </p:cNvSpPr>
          <p:nvPr>
            <p:ph type="title"/>
          </p:nvPr>
        </p:nvSpPr>
        <p:spPr/>
        <p:txBody>
          <a:bodyPr/>
          <a:lstStyle/>
          <a:p>
            <a:r>
              <a:t>A reactive loop</a:t>
            </a:r>
          </a:p>
        </p:txBody>
      </p:sp>
      <p:sp>
        <p:nvSpPr>
          <p:cNvPr id="3" name="Content Placeholder 2">
            <a:extLst>
              <a:ext uri="{FF2B5EF4-FFF2-40B4-BE49-F238E27FC236}">
                <a16:creationId xmlns:a16="http://schemas.microsoft.com/office/drawing/2014/main" id="{B1F3AC21-C594-38F8-984F-87D7B7D5EFDC}"/>
              </a:ext>
            </a:extLst>
          </p:cNvPr>
          <p:cNvSpPr>
            <a:spLocks noGrp="1"/>
          </p:cNvSpPr>
          <p:nvPr>
            <p:ph idx="1"/>
          </p:nvPr>
        </p:nvSpPr>
        <p:spPr>
          <a:xfrm>
            <a:off x="319251" y="1520000"/>
            <a:ext cx="6014545" cy="1790000"/>
          </a:xfrm>
        </p:spPr>
        <p:txBody>
          <a:bodyPr wrap="square">
            <a:normAutofit fontScale="92500" lnSpcReduction="20000"/>
          </a:bodyPr>
          <a:lstStyle/>
          <a:p>
            <a:pPr marL="0" indent="0">
              <a:buNone/>
            </a:pPr>
            <a:r>
              <a:rPr sz="1400" b="1" dirty="0">
                <a:solidFill>
                  <a:srgbClr val="28285E"/>
                </a:solidFill>
              </a:rPr>
              <a:t>Every turn is the same four steps:</a:t>
            </a:r>
            <a:endParaRPr sz="1400" dirty="0">
              <a:solidFill>
                <a:schemeClr val="tx1"/>
              </a:solidFill>
            </a:endParaRPr>
          </a:p>
          <a:p>
            <a:pPr marL="400050" indent="-285750">
              <a:spcBef>
                <a:spcPts val="600"/>
              </a:spcBef>
              <a:spcAft>
                <a:spcPts val="600"/>
              </a:spcAft>
              <a:buClr>
                <a:srgbClr val="28285E"/>
              </a:buClr>
              <a:buSzPts val="1260"/>
              <a:buFont typeface="Fira Sans"/>
              <a:buChar char="●"/>
            </a:pPr>
            <a:r>
              <a:rPr sz="1400" b="1" dirty="0">
                <a:solidFill>
                  <a:schemeClr val="tx1"/>
                </a:solidFill>
              </a:rPr>
              <a:t>Decide. </a:t>
            </a:r>
            <a:r>
              <a:rPr sz="1400" dirty="0">
                <a:solidFill>
                  <a:schemeClr val="tx1"/>
                </a:solidFill>
              </a:rPr>
              <a:t>One model call returns a tool call, or </a:t>
            </a:r>
            <a:r>
              <a:rPr lang="en-US" sz="1400" dirty="0">
                <a:solidFill>
                  <a:schemeClr val="tx1"/>
                </a:solidFill>
              </a:rPr>
              <a:t>a thought</a:t>
            </a:r>
            <a:r>
              <a:rPr sz="1400" dirty="0">
                <a:solidFill>
                  <a:schemeClr val="tx1"/>
                </a:solidFill>
              </a:rPr>
              <a:t>.</a:t>
            </a:r>
          </a:p>
          <a:p>
            <a:pPr marL="400050" indent="-285750">
              <a:spcBef>
                <a:spcPts val="600"/>
              </a:spcBef>
              <a:spcAft>
                <a:spcPts val="600"/>
              </a:spcAft>
              <a:buClr>
                <a:srgbClr val="28285E"/>
              </a:buClr>
              <a:buSzPts val="1260"/>
              <a:buFont typeface="Fira Sans"/>
              <a:buChar char="●"/>
            </a:pPr>
            <a:r>
              <a:rPr sz="1400" b="1" dirty="0">
                <a:solidFill>
                  <a:schemeClr val="tx1"/>
                </a:solidFill>
              </a:rPr>
              <a:t>Dispatch. </a:t>
            </a:r>
            <a:r>
              <a:rPr sz="1400" dirty="0">
                <a:solidFill>
                  <a:schemeClr val="tx1"/>
                </a:solidFill>
              </a:rPr>
              <a:t>The runtime checks the request against our signature.</a:t>
            </a:r>
          </a:p>
          <a:p>
            <a:pPr marL="400050" indent="-285750">
              <a:spcBef>
                <a:spcPts val="600"/>
              </a:spcBef>
              <a:spcAft>
                <a:spcPts val="600"/>
              </a:spcAft>
              <a:buClr>
                <a:srgbClr val="28285E"/>
              </a:buClr>
              <a:buSzPts val="1260"/>
              <a:buFont typeface="Fira Sans"/>
              <a:buChar char="●"/>
            </a:pPr>
            <a:r>
              <a:rPr sz="1400" b="1" dirty="0">
                <a:solidFill>
                  <a:schemeClr val="tx1"/>
                </a:solidFill>
              </a:rPr>
              <a:t>Observe. </a:t>
            </a:r>
            <a:r>
              <a:rPr sz="1400" dirty="0">
                <a:solidFill>
                  <a:schemeClr val="tx1"/>
                </a:solidFill>
              </a:rPr>
              <a:t>The runtime writes what came back, never the model.</a:t>
            </a:r>
          </a:p>
          <a:p>
            <a:pPr marL="400050" indent="-285750">
              <a:spcBef>
                <a:spcPts val="600"/>
              </a:spcBef>
              <a:spcAft>
                <a:spcPts val="600"/>
              </a:spcAft>
              <a:buClr>
                <a:srgbClr val="28285E"/>
              </a:buClr>
              <a:buSzPts val="1260"/>
              <a:buFont typeface="Fira Sans"/>
              <a:buChar char="●"/>
            </a:pPr>
            <a:r>
              <a:rPr sz="1400" b="1" dirty="0">
                <a:solidFill>
                  <a:schemeClr val="tx1"/>
                </a:solidFill>
              </a:rPr>
              <a:t>Route. </a:t>
            </a:r>
            <a:r>
              <a:rPr sz="1400" dirty="0">
                <a:solidFill>
                  <a:schemeClr val="tx1"/>
                </a:solidFill>
              </a:rPr>
              <a:t>A predicate we wrote picks the successor.</a:t>
            </a:r>
          </a:p>
        </p:txBody>
      </p:sp>
      <p:sp>
        <p:nvSpPr>
          <p:cNvPr id="4" name="Rectangle 3">
            <a:extLst>
              <a:ext uri="{FF2B5EF4-FFF2-40B4-BE49-F238E27FC236}">
                <a16:creationId xmlns:a16="http://schemas.microsoft.com/office/drawing/2014/main" id="{21A4FAE8-767E-6091-114C-EB0D3B470F8F}"/>
              </a:ext>
            </a:extLst>
          </p:cNvPr>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model selects the next action from the percepts so far, and the runtime returns the observation </a:t>
            </a:r>
            <a:r>
              <a:rPr sz="1400" b="1">
                <a:solidFill>
                  <a:schemeClr val="tx2"/>
                </a:solidFill>
              </a:rPr>
              <a:t>the next selection reads</a:t>
            </a:r>
            <a:r>
              <a:rPr sz="1400">
                <a:solidFill>
                  <a:schemeClr val="tx2"/>
                </a:solidFill>
              </a:rPr>
              <a:t>.</a:t>
            </a:r>
          </a:p>
        </p:txBody>
      </p:sp>
      <p:sp>
        <p:nvSpPr>
          <p:cNvPr id="5" name="TextBox 4">
            <a:extLst>
              <a:ext uri="{FF2B5EF4-FFF2-40B4-BE49-F238E27FC236}">
                <a16:creationId xmlns:a16="http://schemas.microsoft.com/office/drawing/2014/main" id="{17AAF7AB-AB13-0D1D-5012-549C1EACB747}"/>
              </a:ext>
            </a:extLst>
          </p:cNvPr>
          <p:cNvSpPr txBox="1"/>
          <p:nvPr/>
        </p:nvSpPr>
        <p:spPr>
          <a:xfrm>
            <a:off x="2933796" y="3224126"/>
            <a:ext cx="3400000" cy="253916"/>
          </a:xfrm>
          <a:prstGeom prst="rect">
            <a:avLst/>
          </a:prstGeom>
          <a:noFill/>
        </p:spPr>
        <p:txBody>
          <a:bodyPr wrap="none">
            <a:spAutoFit/>
          </a:bodyPr>
          <a:lstStyle/>
          <a:p>
            <a:pPr algn="r"/>
            <a:r>
              <a:rPr sz="1050" i="1">
                <a:solidFill>
                  <a:schemeClr val="bg2"/>
                </a:solidFill>
              </a:rPr>
              <a:t>Yao et al., ReAct, ICLR 2023, §2</a:t>
            </a:r>
          </a:p>
        </p:txBody>
      </p:sp>
      <p:sp>
        <p:nvSpPr>
          <p:cNvPr id="6" name="Rectangle 5">
            <a:extLst>
              <a:ext uri="{FF2B5EF4-FFF2-40B4-BE49-F238E27FC236}">
                <a16:creationId xmlns:a16="http://schemas.microsoft.com/office/drawing/2014/main" id="{FEFAF1B8-7D45-893C-158F-526C3DF76DED}"/>
              </a:ext>
            </a:extLst>
          </p:cNvPr>
          <p:cNvSpPr/>
          <p:nvPr/>
        </p:nvSpPr>
        <p:spPr>
          <a:xfrm>
            <a:off x="319251" y="3900000"/>
            <a:ext cx="6014545" cy="544308"/>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dirty="0">
                <a:solidFill>
                  <a:srgbClr val="28285E"/>
                </a:solidFill>
              </a:rPr>
              <a:t>Language is part of the action space: a thought changes the context, not the world.</a:t>
            </a:r>
          </a:p>
        </p:txBody>
      </p:sp>
      <p:pic>
        <p:nvPicPr>
          <p:cNvPr id="10" name="Picture 9">
            <a:extLst>
              <a:ext uri="{FF2B5EF4-FFF2-40B4-BE49-F238E27FC236}">
                <a16:creationId xmlns:a16="http://schemas.microsoft.com/office/drawing/2014/main" id="{85D476FC-F272-700A-E1EB-18C1AB6A0E23}"/>
              </a:ext>
            </a:extLst>
          </p:cNvPr>
          <p:cNvPicPr>
            <a:picLocks noChangeAspect="1"/>
          </p:cNvPicPr>
          <p:nvPr/>
        </p:nvPicPr>
        <p:blipFill>
          <a:blip r:embed="rId3"/>
          <a:stretch>
            <a:fillRect/>
          </a:stretch>
        </p:blipFill>
        <p:spPr>
          <a:xfrm>
            <a:off x="139700" y="2159668"/>
            <a:ext cx="6483684" cy="2634916"/>
          </a:xfrm>
          <a:prstGeom prst="rect">
            <a:avLst/>
          </a:prstGeom>
        </p:spPr>
      </p:pic>
    </p:spTree>
    <p:extLst>
      <p:ext uri="{BB962C8B-B14F-4D97-AF65-F5344CB8AC3E}">
        <p14:creationId xmlns:p14="http://schemas.microsoft.com/office/powerpoint/2010/main" val="19132681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6322D-904B-5E91-7C3D-8A3A9D4952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18FE27-15E3-78DA-CFCF-A99B185282A8}"/>
              </a:ext>
            </a:extLst>
          </p:cNvPr>
          <p:cNvSpPr>
            <a:spLocks noGrp="1"/>
          </p:cNvSpPr>
          <p:nvPr>
            <p:ph type="title"/>
          </p:nvPr>
        </p:nvSpPr>
        <p:spPr/>
        <p:txBody>
          <a:bodyPr/>
          <a:lstStyle/>
          <a:p>
            <a:r>
              <a:t>A reactive loop</a:t>
            </a:r>
          </a:p>
        </p:txBody>
      </p:sp>
      <p:sp>
        <p:nvSpPr>
          <p:cNvPr id="3" name="Content Placeholder 2">
            <a:extLst>
              <a:ext uri="{FF2B5EF4-FFF2-40B4-BE49-F238E27FC236}">
                <a16:creationId xmlns:a16="http://schemas.microsoft.com/office/drawing/2014/main" id="{785D5B92-F672-3AEC-EB13-D0C349D54745}"/>
              </a:ext>
            </a:extLst>
          </p:cNvPr>
          <p:cNvSpPr>
            <a:spLocks noGrp="1"/>
          </p:cNvSpPr>
          <p:nvPr>
            <p:ph idx="1"/>
          </p:nvPr>
        </p:nvSpPr>
        <p:spPr>
          <a:xfrm>
            <a:off x="319251" y="1520000"/>
            <a:ext cx="6014545" cy="1790000"/>
          </a:xfrm>
        </p:spPr>
        <p:txBody>
          <a:bodyPr wrap="square">
            <a:normAutofit fontScale="92500" lnSpcReduction="20000"/>
          </a:bodyPr>
          <a:lstStyle/>
          <a:p>
            <a:pPr marL="0" indent="0">
              <a:buNone/>
            </a:pPr>
            <a:r>
              <a:rPr sz="1400" b="1" dirty="0">
                <a:solidFill>
                  <a:srgbClr val="28285E"/>
                </a:solidFill>
              </a:rPr>
              <a:t>Every turn is the same four steps:</a:t>
            </a:r>
            <a:endParaRPr sz="1400" dirty="0">
              <a:solidFill>
                <a:schemeClr val="tx1"/>
              </a:solidFill>
            </a:endParaRPr>
          </a:p>
          <a:p>
            <a:pPr marL="400050" indent="-285750">
              <a:spcBef>
                <a:spcPts val="600"/>
              </a:spcBef>
              <a:spcAft>
                <a:spcPts val="600"/>
              </a:spcAft>
              <a:buClr>
                <a:srgbClr val="28285E"/>
              </a:buClr>
              <a:buSzPts val="1260"/>
              <a:buFont typeface="Fira Sans"/>
              <a:buChar char="●"/>
            </a:pPr>
            <a:r>
              <a:rPr sz="1400" b="1" dirty="0">
                <a:solidFill>
                  <a:schemeClr val="tx1"/>
                </a:solidFill>
              </a:rPr>
              <a:t>Decide. </a:t>
            </a:r>
            <a:r>
              <a:rPr sz="1400" dirty="0">
                <a:solidFill>
                  <a:schemeClr val="tx1"/>
                </a:solidFill>
              </a:rPr>
              <a:t>One model call returns a tool call, or </a:t>
            </a:r>
            <a:r>
              <a:rPr lang="en-US" sz="1400" dirty="0">
                <a:solidFill>
                  <a:schemeClr val="tx1"/>
                </a:solidFill>
              </a:rPr>
              <a:t>a thought</a:t>
            </a:r>
            <a:r>
              <a:rPr sz="1400" dirty="0">
                <a:solidFill>
                  <a:schemeClr val="tx1"/>
                </a:solidFill>
              </a:rPr>
              <a:t>.</a:t>
            </a:r>
          </a:p>
          <a:p>
            <a:pPr marL="400050" indent="-285750">
              <a:spcBef>
                <a:spcPts val="600"/>
              </a:spcBef>
              <a:spcAft>
                <a:spcPts val="600"/>
              </a:spcAft>
              <a:buClr>
                <a:srgbClr val="28285E"/>
              </a:buClr>
              <a:buSzPts val="1260"/>
              <a:buFont typeface="Fira Sans"/>
              <a:buChar char="●"/>
            </a:pPr>
            <a:r>
              <a:rPr sz="1400" b="1" dirty="0">
                <a:solidFill>
                  <a:schemeClr val="tx1"/>
                </a:solidFill>
              </a:rPr>
              <a:t>Dispatch. </a:t>
            </a:r>
            <a:r>
              <a:rPr sz="1400" dirty="0">
                <a:solidFill>
                  <a:schemeClr val="tx1"/>
                </a:solidFill>
              </a:rPr>
              <a:t>The runtime checks the request against our signature.</a:t>
            </a:r>
          </a:p>
          <a:p>
            <a:pPr marL="400050" indent="-285750">
              <a:spcBef>
                <a:spcPts val="600"/>
              </a:spcBef>
              <a:spcAft>
                <a:spcPts val="600"/>
              </a:spcAft>
              <a:buClr>
                <a:srgbClr val="28285E"/>
              </a:buClr>
              <a:buSzPts val="1260"/>
              <a:buFont typeface="Fira Sans"/>
              <a:buChar char="●"/>
            </a:pPr>
            <a:r>
              <a:rPr sz="1400" b="1" dirty="0">
                <a:solidFill>
                  <a:schemeClr val="tx1"/>
                </a:solidFill>
              </a:rPr>
              <a:t>Observe. </a:t>
            </a:r>
            <a:r>
              <a:rPr sz="1400" dirty="0">
                <a:solidFill>
                  <a:schemeClr val="tx1"/>
                </a:solidFill>
              </a:rPr>
              <a:t>The runtime writes what came back, never the model.</a:t>
            </a:r>
          </a:p>
          <a:p>
            <a:pPr marL="400050" indent="-285750">
              <a:spcBef>
                <a:spcPts val="600"/>
              </a:spcBef>
              <a:spcAft>
                <a:spcPts val="600"/>
              </a:spcAft>
              <a:buClr>
                <a:srgbClr val="28285E"/>
              </a:buClr>
              <a:buSzPts val="1260"/>
              <a:buFont typeface="Fira Sans"/>
              <a:buChar char="●"/>
            </a:pPr>
            <a:r>
              <a:rPr sz="1400" b="1" dirty="0">
                <a:solidFill>
                  <a:schemeClr val="tx1"/>
                </a:solidFill>
              </a:rPr>
              <a:t>Route. </a:t>
            </a:r>
            <a:r>
              <a:rPr sz="1400" dirty="0">
                <a:solidFill>
                  <a:schemeClr val="tx1"/>
                </a:solidFill>
              </a:rPr>
              <a:t>A predicate we wrote picks the successor.</a:t>
            </a:r>
          </a:p>
        </p:txBody>
      </p:sp>
      <p:sp>
        <p:nvSpPr>
          <p:cNvPr id="4" name="Rectangle 3">
            <a:extLst>
              <a:ext uri="{FF2B5EF4-FFF2-40B4-BE49-F238E27FC236}">
                <a16:creationId xmlns:a16="http://schemas.microsoft.com/office/drawing/2014/main" id="{DD3D44B2-F209-6604-65B0-EE003600D8A3}"/>
              </a:ext>
            </a:extLst>
          </p:cNvPr>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model selects the next action from the percepts so far, and the runtime returns the observation </a:t>
            </a:r>
            <a:r>
              <a:rPr sz="1400" b="1">
                <a:solidFill>
                  <a:schemeClr val="tx2"/>
                </a:solidFill>
              </a:rPr>
              <a:t>the next selection reads</a:t>
            </a:r>
            <a:r>
              <a:rPr sz="1400">
                <a:solidFill>
                  <a:schemeClr val="tx2"/>
                </a:solidFill>
              </a:rPr>
              <a:t>.</a:t>
            </a:r>
          </a:p>
        </p:txBody>
      </p:sp>
      <p:sp>
        <p:nvSpPr>
          <p:cNvPr id="5" name="TextBox 4">
            <a:extLst>
              <a:ext uri="{FF2B5EF4-FFF2-40B4-BE49-F238E27FC236}">
                <a16:creationId xmlns:a16="http://schemas.microsoft.com/office/drawing/2014/main" id="{7DCE1F98-92EF-353D-FB42-59B686C8027A}"/>
              </a:ext>
            </a:extLst>
          </p:cNvPr>
          <p:cNvSpPr txBox="1"/>
          <p:nvPr/>
        </p:nvSpPr>
        <p:spPr>
          <a:xfrm>
            <a:off x="2933796" y="3224126"/>
            <a:ext cx="3400000" cy="253916"/>
          </a:xfrm>
          <a:prstGeom prst="rect">
            <a:avLst/>
          </a:prstGeom>
          <a:noFill/>
        </p:spPr>
        <p:txBody>
          <a:bodyPr wrap="none">
            <a:spAutoFit/>
          </a:bodyPr>
          <a:lstStyle/>
          <a:p>
            <a:pPr algn="r"/>
            <a:r>
              <a:rPr sz="1050" i="1">
                <a:solidFill>
                  <a:schemeClr val="bg2"/>
                </a:solidFill>
              </a:rPr>
              <a:t>Yao et al., ReAct, ICLR 2023, §2</a:t>
            </a:r>
          </a:p>
        </p:txBody>
      </p:sp>
      <p:sp>
        <p:nvSpPr>
          <p:cNvPr id="6" name="Rectangle 5">
            <a:extLst>
              <a:ext uri="{FF2B5EF4-FFF2-40B4-BE49-F238E27FC236}">
                <a16:creationId xmlns:a16="http://schemas.microsoft.com/office/drawing/2014/main" id="{5BC63658-6052-4466-1201-E48318A2ED16}"/>
              </a:ext>
            </a:extLst>
          </p:cNvPr>
          <p:cNvSpPr/>
          <p:nvPr/>
        </p:nvSpPr>
        <p:spPr>
          <a:xfrm>
            <a:off x="319251" y="3900000"/>
            <a:ext cx="6014545" cy="544308"/>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dirty="0">
                <a:solidFill>
                  <a:srgbClr val="28285E"/>
                </a:solidFill>
              </a:rPr>
              <a:t>Language is part of the action space: a thought changes the context, not the world.</a:t>
            </a:r>
          </a:p>
        </p:txBody>
      </p:sp>
      <p:pic>
        <p:nvPicPr>
          <p:cNvPr id="7" name="Picture 6">
            <a:extLst>
              <a:ext uri="{FF2B5EF4-FFF2-40B4-BE49-F238E27FC236}">
                <a16:creationId xmlns:a16="http://schemas.microsoft.com/office/drawing/2014/main" id="{E92E7CBA-E8D2-CE20-EE27-5912CE37354F}"/>
              </a:ext>
            </a:extLst>
          </p:cNvPr>
          <p:cNvPicPr>
            <a:picLocks noChangeAspect="1"/>
          </p:cNvPicPr>
          <p:nvPr/>
        </p:nvPicPr>
        <p:blipFill>
          <a:blip r:embed="rId3"/>
          <a:stretch>
            <a:fillRect/>
          </a:stretch>
        </p:blipFill>
        <p:spPr>
          <a:xfrm>
            <a:off x="139700" y="2526632"/>
            <a:ext cx="6483684" cy="2267952"/>
          </a:xfrm>
          <a:prstGeom prst="rect">
            <a:avLst/>
          </a:prstGeom>
        </p:spPr>
      </p:pic>
    </p:spTree>
    <p:extLst>
      <p:ext uri="{BB962C8B-B14F-4D97-AF65-F5344CB8AC3E}">
        <p14:creationId xmlns:p14="http://schemas.microsoft.com/office/powerpoint/2010/main" val="363474761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6A906-759E-B0C0-EA8B-50356E94C4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68F4D9-7126-2118-BB56-8996EBD83813}"/>
              </a:ext>
            </a:extLst>
          </p:cNvPr>
          <p:cNvSpPr>
            <a:spLocks noGrp="1"/>
          </p:cNvSpPr>
          <p:nvPr>
            <p:ph type="title"/>
          </p:nvPr>
        </p:nvSpPr>
        <p:spPr/>
        <p:txBody>
          <a:bodyPr/>
          <a:lstStyle/>
          <a:p>
            <a:r>
              <a:t>A reactive loop</a:t>
            </a:r>
          </a:p>
        </p:txBody>
      </p:sp>
      <p:sp>
        <p:nvSpPr>
          <p:cNvPr id="3" name="Content Placeholder 2">
            <a:extLst>
              <a:ext uri="{FF2B5EF4-FFF2-40B4-BE49-F238E27FC236}">
                <a16:creationId xmlns:a16="http://schemas.microsoft.com/office/drawing/2014/main" id="{FC059A9D-39C0-BC34-3505-4B25F2F46234}"/>
              </a:ext>
            </a:extLst>
          </p:cNvPr>
          <p:cNvSpPr>
            <a:spLocks noGrp="1"/>
          </p:cNvSpPr>
          <p:nvPr>
            <p:ph idx="1"/>
          </p:nvPr>
        </p:nvSpPr>
        <p:spPr>
          <a:xfrm>
            <a:off x="319251" y="1520000"/>
            <a:ext cx="6014545" cy="1790000"/>
          </a:xfrm>
        </p:spPr>
        <p:txBody>
          <a:bodyPr wrap="square">
            <a:normAutofit fontScale="92500" lnSpcReduction="20000"/>
          </a:bodyPr>
          <a:lstStyle/>
          <a:p>
            <a:pPr marL="0" indent="0">
              <a:buNone/>
            </a:pPr>
            <a:r>
              <a:rPr sz="1400" b="1" dirty="0">
                <a:solidFill>
                  <a:srgbClr val="28285E"/>
                </a:solidFill>
              </a:rPr>
              <a:t>Every turn is the same four steps:</a:t>
            </a:r>
            <a:endParaRPr sz="1400" dirty="0">
              <a:solidFill>
                <a:schemeClr val="tx1"/>
              </a:solidFill>
            </a:endParaRPr>
          </a:p>
          <a:p>
            <a:pPr marL="400050" indent="-285750">
              <a:spcBef>
                <a:spcPts val="600"/>
              </a:spcBef>
              <a:spcAft>
                <a:spcPts val="600"/>
              </a:spcAft>
              <a:buClr>
                <a:srgbClr val="28285E"/>
              </a:buClr>
              <a:buSzPts val="1260"/>
              <a:buFont typeface="Fira Sans"/>
              <a:buChar char="●"/>
            </a:pPr>
            <a:r>
              <a:rPr sz="1400" b="1" dirty="0">
                <a:solidFill>
                  <a:schemeClr val="tx1"/>
                </a:solidFill>
              </a:rPr>
              <a:t>Decide. </a:t>
            </a:r>
            <a:r>
              <a:rPr sz="1400" dirty="0">
                <a:solidFill>
                  <a:schemeClr val="tx1"/>
                </a:solidFill>
              </a:rPr>
              <a:t>One model call returns a tool call, or </a:t>
            </a:r>
            <a:r>
              <a:rPr lang="en-US" sz="1400" dirty="0">
                <a:solidFill>
                  <a:schemeClr val="tx1"/>
                </a:solidFill>
              </a:rPr>
              <a:t>a thought</a:t>
            </a:r>
            <a:r>
              <a:rPr sz="1400" dirty="0">
                <a:solidFill>
                  <a:schemeClr val="tx1"/>
                </a:solidFill>
              </a:rPr>
              <a:t>.</a:t>
            </a:r>
          </a:p>
          <a:p>
            <a:pPr marL="400050" indent="-285750">
              <a:spcBef>
                <a:spcPts val="600"/>
              </a:spcBef>
              <a:spcAft>
                <a:spcPts val="600"/>
              </a:spcAft>
              <a:buClr>
                <a:srgbClr val="28285E"/>
              </a:buClr>
              <a:buSzPts val="1260"/>
              <a:buFont typeface="Fira Sans"/>
              <a:buChar char="●"/>
            </a:pPr>
            <a:r>
              <a:rPr sz="1400" b="1" dirty="0">
                <a:solidFill>
                  <a:schemeClr val="tx1"/>
                </a:solidFill>
              </a:rPr>
              <a:t>Dispatch. </a:t>
            </a:r>
            <a:r>
              <a:rPr sz="1400" dirty="0">
                <a:solidFill>
                  <a:schemeClr val="tx1"/>
                </a:solidFill>
              </a:rPr>
              <a:t>The runtime checks the request against our signature.</a:t>
            </a:r>
          </a:p>
          <a:p>
            <a:pPr marL="400050" indent="-285750">
              <a:spcBef>
                <a:spcPts val="600"/>
              </a:spcBef>
              <a:spcAft>
                <a:spcPts val="600"/>
              </a:spcAft>
              <a:buClr>
                <a:srgbClr val="28285E"/>
              </a:buClr>
              <a:buSzPts val="1260"/>
              <a:buFont typeface="Fira Sans"/>
              <a:buChar char="●"/>
            </a:pPr>
            <a:r>
              <a:rPr sz="1400" b="1" dirty="0">
                <a:solidFill>
                  <a:schemeClr val="tx1"/>
                </a:solidFill>
              </a:rPr>
              <a:t>Observe. </a:t>
            </a:r>
            <a:r>
              <a:rPr sz="1400" dirty="0">
                <a:solidFill>
                  <a:schemeClr val="tx1"/>
                </a:solidFill>
              </a:rPr>
              <a:t>The runtime writes what came back, never the model.</a:t>
            </a:r>
          </a:p>
          <a:p>
            <a:pPr marL="400050" indent="-285750">
              <a:spcBef>
                <a:spcPts val="600"/>
              </a:spcBef>
              <a:spcAft>
                <a:spcPts val="600"/>
              </a:spcAft>
              <a:buClr>
                <a:srgbClr val="28285E"/>
              </a:buClr>
              <a:buSzPts val="1260"/>
              <a:buFont typeface="Fira Sans"/>
              <a:buChar char="●"/>
            </a:pPr>
            <a:r>
              <a:rPr sz="1400" b="1" dirty="0">
                <a:solidFill>
                  <a:schemeClr val="tx1"/>
                </a:solidFill>
              </a:rPr>
              <a:t>Route. </a:t>
            </a:r>
            <a:r>
              <a:rPr sz="1400" dirty="0">
                <a:solidFill>
                  <a:schemeClr val="tx1"/>
                </a:solidFill>
              </a:rPr>
              <a:t>A predicate we wrote picks the successor.</a:t>
            </a:r>
          </a:p>
        </p:txBody>
      </p:sp>
      <p:sp>
        <p:nvSpPr>
          <p:cNvPr id="4" name="Rectangle 3">
            <a:extLst>
              <a:ext uri="{FF2B5EF4-FFF2-40B4-BE49-F238E27FC236}">
                <a16:creationId xmlns:a16="http://schemas.microsoft.com/office/drawing/2014/main" id="{4BE1F157-8C97-6FFC-EEB4-CDA7566A3563}"/>
              </a:ext>
            </a:extLst>
          </p:cNvPr>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model selects the next action from the percepts so far, and the runtime returns the observation </a:t>
            </a:r>
            <a:r>
              <a:rPr sz="1400" b="1">
                <a:solidFill>
                  <a:schemeClr val="tx2"/>
                </a:solidFill>
              </a:rPr>
              <a:t>the next selection reads</a:t>
            </a:r>
            <a:r>
              <a:rPr sz="1400">
                <a:solidFill>
                  <a:schemeClr val="tx2"/>
                </a:solidFill>
              </a:rPr>
              <a:t>.</a:t>
            </a:r>
          </a:p>
        </p:txBody>
      </p:sp>
      <p:sp>
        <p:nvSpPr>
          <p:cNvPr id="5" name="TextBox 4">
            <a:extLst>
              <a:ext uri="{FF2B5EF4-FFF2-40B4-BE49-F238E27FC236}">
                <a16:creationId xmlns:a16="http://schemas.microsoft.com/office/drawing/2014/main" id="{FD6940E2-5B30-7A1B-2783-5B4C21C8477F}"/>
              </a:ext>
            </a:extLst>
          </p:cNvPr>
          <p:cNvSpPr txBox="1"/>
          <p:nvPr/>
        </p:nvSpPr>
        <p:spPr>
          <a:xfrm>
            <a:off x="2933796" y="3224126"/>
            <a:ext cx="3400000" cy="253916"/>
          </a:xfrm>
          <a:prstGeom prst="rect">
            <a:avLst/>
          </a:prstGeom>
          <a:noFill/>
        </p:spPr>
        <p:txBody>
          <a:bodyPr wrap="none">
            <a:spAutoFit/>
          </a:bodyPr>
          <a:lstStyle/>
          <a:p>
            <a:pPr algn="r"/>
            <a:r>
              <a:rPr sz="1050" i="1">
                <a:solidFill>
                  <a:schemeClr val="bg2"/>
                </a:solidFill>
              </a:rPr>
              <a:t>Yao et al., ReAct, ICLR 2023, §2</a:t>
            </a:r>
          </a:p>
        </p:txBody>
      </p:sp>
      <p:sp>
        <p:nvSpPr>
          <p:cNvPr id="6" name="Rectangle 5">
            <a:extLst>
              <a:ext uri="{FF2B5EF4-FFF2-40B4-BE49-F238E27FC236}">
                <a16:creationId xmlns:a16="http://schemas.microsoft.com/office/drawing/2014/main" id="{C56C4E6B-59FA-3753-97D6-881F30FF543A}"/>
              </a:ext>
            </a:extLst>
          </p:cNvPr>
          <p:cNvSpPr/>
          <p:nvPr/>
        </p:nvSpPr>
        <p:spPr>
          <a:xfrm>
            <a:off x="319251" y="3900000"/>
            <a:ext cx="6014545" cy="544308"/>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dirty="0">
                <a:solidFill>
                  <a:srgbClr val="28285E"/>
                </a:solidFill>
              </a:rPr>
              <a:t>Language is part of the action space: a thought changes the context, not the world.</a:t>
            </a:r>
          </a:p>
        </p:txBody>
      </p:sp>
      <p:pic>
        <p:nvPicPr>
          <p:cNvPr id="7" name="Picture 6">
            <a:extLst>
              <a:ext uri="{FF2B5EF4-FFF2-40B4-BE49-F238E27FC236}">
                <a16:creationId xmlns:a16="http://schemas.microsoft.com/office/drawing/2014/main" id="{FDE90C19-E457-2D74-7ED7-E904688DF862}"/>
              </a:ext>
            </a:extLst>
          </p:cNvPr>
          <p:cNvPicPr>
            <a:picLocks noChangeAspect="1"/>
          </p:cNvPicPr>
          <p:nvPr/>
        </p:nvPicPr>
        <p:blipFill>
          <a:blip r:embed="rId3"/>
          <a:stretch>
            <a:fillRect/>
          </a:stretch>
        </p:blipFill>
        <p:spPr>
          <a:xfrm>
            <a:off x="139700" y="2833436"/>
            <a:ext cx="6483684" cy="1961147"/>
          </a:xfrm>
          <a:prstGeom prst="rect">
            <a:avLst/>
          </a:prstGeom>
        </p:spPr>
      </p:pic>
    </p:spTree>
    <p:extLst>
      <p:ext uri="{BB962C8B-B14F-4D97-AF65-F5344CB8AC3E}">
        <p14:creationId xmlns:p14="http://schemas.microsoft.com/office/powerpoint/2010/main" val="17994232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6B13B-E6EF-FA07-ACB1-6C9A2F0F64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2FA83C-D4BF-2F1A-36DC-600B1859E6C6}"/>
              </a:ext>
            </a:extLst>
          </p:cNvPr>
          <p:cNvSpPr>
            <a:spLocks noGrp="1"/>
          </p:cNvSpPr>
          <p:nvPr>
            <p:ph type="title"/>
          </p:nvPr>
        </p:nvSpPr>
        <p:spPr/>
        <p:txBody>
          <a:bodyPr/>
          <a:lstStyle/>
          <a:p>
            <a:r>
              <a:t>A reactive loop</a:t>
            </a:r>
          </a:p>
        </p:txBody>
      </p:sp>
      <p:sp>
        <p:nvSpPr>
          <p:cNvPr id="3" name="Content Placeholder 2">
            <a:extLst>
              <a:ext uri="{FF2B5EF4-FFF2-40B4-BE49-F238E27FC236}">
                <a16:creationId xmlns:a16="http://schemas.microsoft.com/office/drawing/2014/main" id="{F7D3F205-8A38-9C49-0D8A-9C1C77EB2A15}"/>
              </a:ext>
            </a:extLst>
          </p:cNvPr>
          <p:cNvSpPr>
            <a:spLocks noGrp="1"/>
          </p:cNvSpPr>
          <p:nvPr>
            <p:ph idx="1"/>
          </p:nvPr>
        </p:nvSpPr>
        <p:spPr>
          <a:xfrm>
            <a:off x="319251" y="1520000"/>
            <a:ext cx="6014545" cy="1790000"/>
          </a:xfrm>
        </p:spPr>
        <p:txBody>
          <a:bodyPr wrap="square">
            <a:normAutofit fontScale="92500" lnSpcReduction="20000"/>
          </a:bodyPr>
          <a:lstStyle/>
          <a:p>
            <a:pPr marL="0" indent="0">
              <a:buNone/>
            </a:pPr>
            <a:r>
              <a:rPr sz="1400" b="1" dirty="0">
                <a:solidFill>
                  <a:srgbClr val="28285E"/>
                </a:solidFill>
              </a:rPr>
              <a:t>Every turn is the same four steps:</a:t>
            </a:r>
            <a:endParaRPr sz="1400" dirty="0">
              <a:solidFill>
                <a:schemeClr val="tx1"/>
              </a:solidFill>
            </a:endParaRPr>
          </a:p>
          <a:p>
            <a:pPr marL="400050" indent="-285750">
              <a:spcBef>
                <a:spcPts val="600"/>
              </a:spcBef>
              <a:spcAft>
                <a:spcPts val="600"/>
              </a:spcAft>
              <a:buClr>
                <a:srgbClr val="28285E"/>
              </a:buClr>
              <a:buSzPts val="1260"/>
              <a:buFont typeface="Fira Sans"/>
              <a:buChar char="●"/>
            </a:pPr>
            <a:r>
              <a:rPr sz="1400" b="1" dirty="0">
                <a:solidFill>
                  <a:schemeClr val="tx1"/>
                </a:solidFill>
              </a:rPr>
              <a:t>Decide. </a:t>
            </a:r>
            <a:r>
              <a:rPr sz="1400" dirty="0">
                <a:solidFill>
                  <a:schemeClr val="tx1"/>
                </a:solidFill>
              </a:rPr>
              <a:t>One model call returns a tool call, or </a:t>
            </a:r>
            <a:r>
              <a:rPr lang="en-US" sz="1400" dirty="0">
                <a:solidFill>
                  <a:schemeClr val="tx1"/>
                </a:solidFill>
              </a:rPr>
              <a:t>a thought</a:t>
            </a:r>
            <a:r>
              <a:rPr sz="1400" dirty="0">
                <a:solidFill>
                  <a:schemeClr val="tx1"/>
                </a:solidFill>
              </a:rPr>
              <a:t>.</a:t>
            </a:r>
          </a:p>
          <a:p>
            <a:pPr marL="400050" indent="-285750">
              <a:spcBef>
                <a:spcPts val="600"/>
              </a:spcBef>
              <a:spcAft>
                <a:spcPts val="600"/>
              </a:spcAft>
              <a:buClr>
                <a:srgbClr val="28285E"/>
              </a:buClr>
              <a:buSzPts val="1260"/>
              <a:buFont typeface="Fira Sans"/>
              <a:buChar char="●"/>
            </a:pPr>
            <a:r>
              <a:rPr sz="1400" b="1" dirty="0">
                <a:solidFill>
                  <a:schemeClr val="tx1"/>
                </a:solidFill>
              </a:rPr>
              <a:t>Dispatch. </a:t>
            </a:r>
            <a:r>
              <a:rPr sz="1400" dirty="0">
                <a:solidFill>
                  <a:schemeClr val="tx1"/>
                </a:solidFill>
              </a:rPr>
              <a:t>The runtime checks the request against our signature.</a:t>
            </a:r>
          </a:p>
          <a:p>
            <a:pPr marL="400050" indent="-285750">
              <a:spcBef>
                <a:spcPts val="600"/>
              </a:spcBef>
              <a:spcAft>
                <a:spcPts val="600"/>
              </a:spcAft>
              <a:buClr>
                <a:srgbClr val="28285E"/>
              </a:buClr>
              <a:buSzPts val="1260"/>
              <a:buFont typeface="Fira Sans"/>
              <a:buChar char="●"/>
            </a:pPr>
            <a:r>
              <a:rPr sz="1400" b="1" dirty="0">
                <a:solidFill>
                  <a:schemeClr val="tx1"/>
                </a:solidFill>
              </a:rPr>
              <a:t>Observe. </a:t>
            </a:r>
            <a:r>
              <a:rPr sz="1400" dirty="0">
                <a:solidFill>
                  <a:schemeClr val="tx1"/>
                </a:solidFill>
              </a:rPr>
              <a:t>The runtime writes what came back, never the model.</a:t>
            </a:r>
          </a:p>
          <a:p>
            <a:pPr marL="400050" indent="-285750">
              <a:spcBef>
                <a:spcPts val="600"/>
              </a:spcBef>
              <a:spcAft>
                <a:spcPts val="600"/>
              </a:spcAft>
              <a:buClr>
                <a:srgbClr val="28285E"/>
              </a:buClr>
              <a:buSzPts val="1260"/>
              <a:buFont typeface="Fira Sans"/>
              <a:buChar char="●"/>
            </a:pPr>
            <a:r>
              <a:rPr sz="1400" b="1" dirty="0">
                <a:solidFill>
                  <a:schemeClr val="tx1"/>
                </a:solidFill>
              </a:rPr>
              <a:t>Route. </a:t>
            </a:r>
            <a:r>
              <a:rPr sz="1400" dirty="0">
                <a:solidFill>
                  <a:schemeClr val="tx1"/>
                </a:solidFill>
              </a:rPr>
              <a:t>A predicate we wrote picks the successor.</a:t>
            </a:r>
          </a:p>
        </p:txBody>
      </p:sp>
      <p:sp>
        <p:nvSpPr>
          <p:cNvPr id="4" name="Rectangle 3">
            <a:extLst>
              <a:ext uri="{FF2B5EF4-FFF2-40B4-BE49-F238E27FC236}">
                <a16:creationId xmlns:a16="http://schemas.microsoft.com/office/drawing/2014/main" id="{E7A149CA-3343-0F48-0A05-5DFEE338C2A6}"/>
              </a:ext>
            </a:extLst>
          </p:cNvPr>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model selects the next action from the percepts so far, and the runtime returns the observation </a:t>
            </a:r>
            <a:r>
              <a:rPr sz="1400" b="1">
                <a:solidFill>
                  <a:schemeClr val="tx2"/>
                </a:solidFill>
              </a:rPr>
              <a:t>the next selection reads</a:t>
            </a:r>
            <a:r>
              <a:rPr sz="1400">
                <a:solidFill>
                  <a:schemeClr val="tx2"/>
                </a:solidFill>
              </a:rPr>
              <a:t>.</a:t>
            </a:r>
          </a:p>
        </p:txBody>
      </p:sp>
      <p:sp>
        <p:nvSpPr>
          <p:cNvPr id="5" name="TextBox 4">
            <a:extLst>
              <a:ext uri="{FF2B5EF4-FFF2-40B4-BE49-F238E27FC236}">
                <a16:creationId xmlns:a16="http://schemas.microsoft.com/office/drawing/2014/main" id="{E20C4A65-6AC7-C237-224F-DFEC46A8FFC3}"/>
              </a:ext>
            </a:extLst>
          </p:cNvPr>
          <p:cNvSpPr txBox="1"/>
          <p:nvPr/>
        </p:nvSpPr>
        <p:spPr>
          <a:xfrm>
            <a:off x="2933796" y="3224126"/>
            <a:ext cx="3400000" cy="253916"/>
          </a:xfrm>
          <a:prstGeom prst="rect">
            <a:avLst/>
          </a:prstGeom>
          <a:noFill/>
        </p:spPr>
        <p:txBody>
          <a:bodyPr wrap="none">
            <a:spAutoFit/>
          </a:bodyPr>
          <a:lstStyle/>
          <a:p>
            <a:pPr algn="r"/>
            <a:r>
              <a:rPr sz="1050" i="1">
                <a:solidFill>
                  <a:schemeClr val="bg2"/>
                </a:solidFill>
              </a:rPr>
              <a:t>Yao et al., ReAct, ICLR 2023, §2</a:t>
            </a:r>
          </a:p>
        </p:txBody>
      </p:sp>
      <p:sp>
        <p:nvSpPr>
          <p:cNvPr id="6" name="Rectangle 5">
            <a:extLst>
              <a:ext uri="{FF2B5EF4-FFF2-40B4-BE49-F238E27FC236}">
                <a16:creationId xmlns:a16="http://schemas.microsoft.com/office/drawing/2014/main" id="{6E4FC701-FA26-F3C0-FECF-5D37E4719CCC}"/>
              </a:ext>
            </a:extLst>
          </p:cNvPr>
          <p:cNvSpPr/>
          <p:nvPr/>
        </p:nvSpPr>
        <p:spPr>
          <a:xfrm>
            <a:off x="319251" y="3900000"/>
            <a:ext cx="6014545" cy="544308"/>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dirty="0">
                <a:solidFill>
                  <a:srgbClr val="28285E"/>
                </a:solidFill>
              </a:rPr>
              <a:t>Language is part of the action space: a thought changes the context, not the world.</a:t>
            </a:r>
          </a:p>
        </p:txBody>
      </p:sp>
      <p:pic>
        <p:nvPicPr>
          <p:cNvPr id="7" name="Picture 6">
            <a:extLst>
              <a:ext uri="{FF2B5EF4-FFF2-40B4-BE49-F238E27FC236}">
                <a16:creationId xmlns:a16="http://schemas.microsoft.com/office/drawing/2014/main" id="{F3EF3589-3B89-6CEA-C718-FFB3E9604ABB}"/>
              </a:ext>
            </a:extLst>
          </p:cNvPr>
          <p:cNvPicPr>
            <a:picLocks noChangeAspect="1"/>
          </p:cNvPicPr>
          <p:nvPr/>
        </p:nvPicPr>
        <p:blipFill>
          <a:blip r:embed="rId3"/>
          <a:stretch>
            <a:fillRect/>
          </a:stretch>
        </p:blipFill>
        <p:spPr>
          <a:xfrm>
            <a:off x="139700" y="3519198"/>
            <a:ext cx="6483684" cy="1275385"/>
          </a:xfrm>
          <a:prstGeom prst="rect">
            <a:avLst/>
          </a:prstGeom>
        </p:spPr>
      </p:pic>
    </p:spTree>
    <p:extLst>
      <p:ext uri="{BB962C8B-B14F-4D97-AF65-F5344CB8AC3E}">
        <p14:creationId xmlns:p14="http://schemas.microsoft.com/office/powerpoint/2010/main" val="293236646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E5B74-52F1-4E48-7C92-D66A505555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C2D093-BE7E-5907-CEA3-EFAF98A71CEC}"/>
              </a:ext>
            </a:extLst>
          </p:cNvPr>
          <p:cNvSpPr>
            <a:spLocks noGrp="1"/>
          </p:cNvSpPr>
          <p:nvPr>
            <p:ph type="title"/>
          </p:nvPr>
        </p:nvSpPr>
        <p:spPr/>
        <p:txBody>
          <a:bodyPr/>
          <a:lstStyle/>
          <a:p>
            <a:r>
              <a:t>A reactive loop</a:t>
            </a:r>
          </a:p>
        </p:txBody>
      </p:sp>
      <p:sp>
        <p:nvSpPr>
          <p:cNvPr id="3" name="Content Placeholder 2">
            <a:extLst>
              <a:ext uri="{FF2B5EF4-FFF2-40B4-BE49-F238E27FC236}">
                <a16:creationId xmlns:a16="http://schemas.microsoft.com/office/drawing/2014/main" id="{7FA872E6-9C12-9632-0800-B7E35A087251}"/>
              </a:ext>
            </a:extLst>
          </p:cNvPr>
          <p:cNvSpPr>
            <a:spLocks noGrp="1"/>
          </p:cNvSpPr>
          <p:nvPr>
            <p:ph idx="1"/>
          </p:nvPr>
        </p:nvSpPr>
        <p:spPr>
          <a:xfrm>
            <a:off x="319251" y="1520000"/>
            <a:ext cx="6014545" cy="1790000"/>
          </a:xfrm>
        </p:spPr>
        <p:txBody>
          <a:bodyPr wrap="square">
            <a:normAutofit fontScale="92500" lnSpcReduction="20000"/>
          </a:bodyPr>
          <a:lstStyle/>
          <a:p>
            <a:pPr marL="0" indent="0">
              <a:buNone/>
            </a:pPr>
            <a:r>
              <a:rPr sz="1400" b="1" dirty="0">
                <a:solidFill>
                  <a:srgbClr val="28285E"/>
                </a:solidFill>
              </a:rPr>
              <a:t>Every turn is the same four steps:</a:t>
            </a:r>
            <a:endParaRPr sz="1400" dirty="0">
              <a:solidFill>
                <a:schemeClr val="tx1"/>
              </a:solidFill>
            </a:endParaRPr>
          </a:p>
          <a:p>
            <a:pPr marL="400050" indent="-285750">
              <a:spcBef>
                <a:spcPts val="600"/>
              </a:spcBef>
              <a:spcAft>
                <a:spcPts val="600"/>
              </a:spcAft>
              <a:buClr>
                <a:srgbClr val="28285E"/>
              </a:buClr>
              <a:buSzPts val="1260"/>
              <a:buFont typeface="Fira Sans"/>
              <a:buChar char="●"/>
            </a:pPr>
            <a:r>
              <a:rPr sz="1400" b="1" dirty="0">
                <a:solidFill>
                  <a:schemeClr val="tx1"/>
                </a:solidFill>
              </a:rPr>
              <a:t>Decide. </a:t>
            </a:r>
            <a:r>
              <a:rPr sz="1400" dirty="0">
                <a:solidFill>
                  <a:schemeClr val="tx1"/>
                </a:solidFill>
              </a:rPr>
              <a:t>One model call returns a tool call, or </a:t>
            </a:r>
            <a:r>
              <a:rPr lang="en-US" sz="1400" dirty="0">
                <a:solidFill>
                  <a:schemeClr val="tx1"/>
                </a:solidFill>
              </a:rPr>
              <a:t>a thought</a:t>
            </a:r>
            <a:r>
              <a:rPr sz="1400" dirty="0">
                <a:solidFill>
                  <a:schemeClr val="tx1"/>
                </a:solidFill>
              </a:rPr>
              <a:t>.</a:t>
            </a:r>
          </a:p>
          <a:p>
            <a:pPr marL="400050" indent="-285750">
              <a:spcBef>
                <a:spcPts val="600"/>
              </a:spcBef>
              <a:spcAft>
                <a:spcPts val="600"/>
              </a:spcAft>
              <a:buClr>
                <a:srgbClr val="28285E"/>
              </a:buClr>
              <a:buSzPts val="1260"/>
              <a:buFont typeface="Fira Sans"/>
              <a:buChar char="●"/>
            </a:pPr>
            <a:r>
              <a:rPr sz="1400" b="1" dirty="0">
                <a:solidFill>
                  <a:schemeClr val="tx1"/>
                </a:solidFill>
              </a:rPr>
              <a:t>Dispatch. </a:t>
            </a:r>
            <a:r>
              <a:rPr sz="1400" dirty="0">
                <a:solidFill>
                  <a:schemeClr val="tx1"/>
                </a:solidFill>
              </a:rPr>
              <a:t>The runtime checks the request against our signature.</a:t>
            </a:r>
          </a:p>
          <a:p>
            <a:pPr marL="400050" indent="-285750">
              <a:spcBef>
                <a:spcPts val="600"/>
              </a:spcBef>
              <a:spcAft>
                <a:spcPts val="600"/>
              </a:spcAft>
              <a:buClr>
                <a:srgbClr val="28285E"/>
              </a:buClr>
              <a:buSzPts val="1260"/>
              <a:buFont typeface="Fira Sans"/>
              <a:buChar char="●"/>
            </a:pPr>
            <a:r>
              <a:rPr sz="1400" b="1" dirty="0">
                <a:solidFill>
                  <a:schemeClr val="tx1"/>
                </a:solidFill>
              </a:rPr>
              <a:t>Observe. </a:t>
            </a:r>
            <a:r>
              <a:rPr sz="1400" dirty="0">
                <a:solidFill>
                  <a:schemeClr val="tx1"/>
                </a:solidFill>
              </a:rPr>
              <a:t>The runtime writes what came back, never the model.</a:t>
            </a:r>
          </a:p>
          <a:p>
            <a:pPr marL="400050" indent="-285750">
              <a:spcBef>
                <a:spcPts val="600"/>
              </a:spcBef>
              <a:spcAft>
                <a:spcPts val="600"/>
              </a:spcAft>
              <a:buClr>
                <a:srgbClr val="28285E"/>
              </a:buClr>
              <a:buSzPts val="1260"/>
              <a:buFont typeface="Fira Sans"/>
              <a:buChar char="●"/>
            </a:pPr>
            <a:r>
              <a:rPr sz="1400" b="1" dirty="0">
                <a:solidFill>
                  <a:schemeClr val="tx1"/>
                </a:solidFill>
              </a:rPr>
              <a:t>Route. </a:t>
            </a:r>
            <a:r>
              <a:rPr sz="1400" dirty="0">
                <a:solidFill>
                  <a:schemeClr val="tx1"/>
                </a:solidFill>
              </a:rPr>
              <a:t>A predicate we wrote picks the successor.</a:t>
            </a:r>
          </a:p>
        </p:txBody>
      </p:sp>
      <p:sp>
        <p:nvSpPr>
          <p:cNvPr id="4" name="Rectangle 3">
            <a:extLst>
              <a:ext uri="{FF2B5EF4-FFF2-40B4-BE49-F238E27FC236}">
                <a16:creationId xmlns:a16="http://schemas.microsoft.com/office/drawing/2014/main" id="{8CFE9AB1-AE63-82F4-A49E-03373921F02D}"/>
              </a:ext>
            </a:extLst>
          </p:cNvPr>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model selects the next action from the percepts so far, and the runtime returns the observation </a:t>
            </a:r>
            <a:r>
              <a:rPr sz="1400" b="1">
                <a:solidFill>
                  <a:schemeClr val="tx2"/>
                </a:solidFill>
              </a:rPr>
              <a:t>the next selection reads</a:t>
            </a:r>
            <a:r>
              <a:rPr sz="1400">
                <a:solidFill>
                  <a:schemeClr val="tx2"/>
                </a:solidFill>
              </a:rPr>
              <a:t>.</a:t>
            </a:r>
          </a:p>
        </p:txBody>
      </p:sp>
      <p:sp>
        <p:nvSpPr>
          <p:cNvPr id="5" name="TextBox 4">
            <a:extLst>
              <a:ext uri="{FF2B5EF4-FFF2-40B4-BE49-F238E27FC236}">
                <a16:creationId xmlns:a16="http://schemas.microsoft.com/office/drawing/2014/main" id="{9E801A04-CF71-363A-0708-00AF76098746}"/>
              </a:ext>
            </a:extLst>
          </p:cNvPr>
          <p:cNvSpPr txBox="1"/>
          <p:nvPr/>
        </p:nvSpPr>
        <p:spPr>
          <a:xfrm>
            <a:off x="2933796" y="3224126"/>
            <a:ext cx="3400000" cy="253916"/>
          </a:xfrm>
          <a:prstGeom prst="rect">
            <a:avLst/>
          </a:prstGeom>
          <a:noFill/>
        </p:spPr>
        <p:txBody>
          <a:bodyPr wrap="none">
            <a:spAutoFit/>
          </a:bodyPr>
          <a:lstStyle/>
          <a:p>
            <a:pPr algn="r"/>
            <a:r>
              <a:rPr sz="1050" i="1">
                <a:solidFill>
                  <a:schemeClr val="bg2"/>
                </a:solidFill>
              </a:rPr>
              <a:t>Yao et al., ReAct, ICLR 2023, §2</a:t>
            </a:r>
          </a:p>
        </p:txBody>
      </p:sp>
      <p:sp>
        <p:nvSpPr>
          <p:cNvPr id="6" name="Rectangle 5">
            <a:extLst>
              <a:ext uri="{FF2B5EF4-FFF2-40B4-BE49-F238E27FC236}">
                <a16:creationId xmlns:a16="http://schemas.microsoft.com/office/drawing/2014/main" id="{DEAB6081-BF46-DE2E-D97A-29B7CBE97DA7}"/>
              </a:ext>
            </a:extLst>
          </p:cNvPr>
          <p:cNvSpPr/>
          <p:nvPr/>
        </p:nvSpPr>
        <p:spPr>
          <a:xfrm>
            <a:off x="319251" y="3900000"/>
            <a:ext cx="6014545" cy="544308"/>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dirty="0">
                <a:solidFill>
                  <a:srgbClr val="28285E"/>
                </a:solidFill>
              </a:rPr>
              <a:t>Language is part of the action space: a thought changes the context, not the world.</a:t>
            </a:r>
          </a:p>
        </p:txBody>
      </p:sp>
    </p:spTree>
    <p:extLst>
      <p:ext uri="{BB962C8B-B14F-4D97-AF65-F5344CB8AC3E}">
        <p14:creationId xmlns:p14="http://schemas.microsoft.com/office/powerpoint/2010/main" val="10060218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The graph </a:t>
            </a:r>
            <a:r>
              <a:rPr lang="en-US" dirty="0"/>
              <a:t>that </a:t>
            </a:r>
            <a:r>
              <a:rPr dirty="0"/>
              <a:t>our first demo </a:t>
            </a:r>
            <a:r>
              <a:rPr lang="en-US" dirty="0"/>
              <a:t>builds</a:t>
            </a:r>
            <a:endParaRPr dirty="0"/>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Three nodes, and only </a:t>
            </a:r>
            <a:r>
              <a:rPr sz="1400">
                <a:latin typeface="Maple Mono NF"/>
              </a:rPr>
              <a:t>controller</a:t>
            </a:r>
            <a:r>
              <a:rPr sz="1400">
                <a:solidFill>
                  <a:schemeClr val="tx2"/>
                </a:solidFill>
              </a:rPr>
              <a:t> calls a model. Dashed edges carry a predicate over state; </a:t>
            </a:r>
            <a:r>
              <a:rPr sz="1400" b="1">
                <a:solidFill>
                  <a:schemeClr val="tx2"/>
                </a:solidFill>
              </a:rPr>
              <a:t>the solid edge back is the loop</a:t>
            </a:r>
            <a:r>
              <a:rPr sz="1400">
                <a:solidFill>
                  <a:schemeClr val="tx2"/>
                </a:solidFill>
              </a:rPr>
              <a:t>.</a:t>
            </a:r>
          </a:p>
        </p:txBody>
      </p:sp>
      <p:pic>
        <p:nvPicPr>
          <p:cNvPr id="4" name="Picture 3" descr="reactive-loop-deck.png"/>
          <p:cNvPicPr>
            <a:picLocks noChangeAspect="1"/>
          </p:cNvPicPr>
          <p:nvPr/>
        </p:nvPicPr>
        <p:blipFill>
          <a:blip r:embed="rId3"/>
          <a:stretch>
            <a:fillRect/>
          </a:stretch>
        </p:blipFill>
        <p:spPr>
          <a:xfrm>
            <a:off x="250147" y="1520000"/>
            <a:ext cx="6152752" cy="3076376"/>
          </a:xfrm>
          <a:prstGeom prst="rect">
            <a:avLst/>
          </a:prstGeom>
        </p:spPr>
      </p:pic>
      <p:sp>
        <p:nvSpPr>
          <p:cNvPr id="5" name="TextBox 4">
            <a:extLst>
              <a:ext uri="{FF2B5EF4-FFF2-40B4-BE49-F238E27FC236}">
                <a16:creationId xmlns:a16="http://schemas.microsoft.com/office/drawing/2014/main" id="{2AA6FBBD-EA44-EF3B-1729-463F37139742}"/>
              </a:ext>
            </a:extLst>
          </p:cNvPr>
          <p:cNvSpPr txBox="1"/>
          <p:nvPr/>
        </p:nvSpPr>
        <p:spPr>
          <a:xfrm>
            <a:off x="4589430" y="4889584"/>
            <a:ext cx="2268570" cy="253916"/>
          </a:xfrm>
          <a:prstGeom prst="rect">
            <a:avLst/>
          </a:prstGeom>
          <a:noFill/>
        </p:spPr>
        <p:txBody>
          <a:bodyPr wrap="none" rtlCol="0">
            <a:spAutoFit/>
          </a:bodyPr>
          <a:lstStyle/>
          <a:p>
            <a:r>
              <a:rPr lang="en-US" sz="1050" i="1" dirty="0">
                <a:latin typeface="+mn-lt"/>
              </a:rPr>
              <a:t>see: lec2_reactive_agent/graph.py</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graph, in code: the nodes</a:t>
            </a:r>
          </a:p>
        </p:txBody>
      </p:sp>
      <p:sp>
        <p:nvSpPr>
          <p:cNvPr id="3" name="TextBox 2"/>
          <p:cNvSpPr txBox="1"/>
          <p:nvPr/>
        </p:nvSpPr>
        <p:spPr>
          <a:xfrm>
            <a:off x="319251" y="760000"/>
            <a:ext cx="6014545" cy="200000"/>
          </a:xfrm>
          <a:prstGeom prst="rect">
            <a:avLst/>
          </a:prstGeom>
          <a:noFill/>
        </p:spPr>
        <p:txBody>
          <a:bodyPr wrap="none">
            <a:spAutoFit/>
          </a:bodyPr>
          <a:lstStyle/>
          <a:p>
            <a:r>
              <a:rPr sz="1200" b="1">
                <a:solidFill>
                  <a:srgbClr val="28285E"/>
                </a:solidFill>
                <a:latin typeface="Maple Mono NF"/>
              </a:rPr>
              <a:t>lec2_reactive_agent/graph.py  —  compile()</a:t>
            </a:r>
          </a:p>
        </p:txBody>
      </p:sp>
      <p:sp>
        <p:nvSpPr>
          <p:cNvPr id="5" name="Rectangle 4"/>
          <p:cNvSpPr/>
          <p:nvPr/>
        </p:nvSpPr>
        <p:spPr>
          <a:xfrm>
            <a:off x="319251" y="28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Three nodes, and each one is </a:t>
            </a:r>
            <a:r>
              <a:rPr sz="1400" b="1">
                <a:solidFill>
                  <a:schemeClr val="tx2"/>
                </a:solidFill>
              </a:rPr>
              <a:t>a method on the same class</a:t>
            </a:r>
            <a:r>
              <a:rPr sz="1400">
                <a:solidFill>
                  <a:schemeClr val="tx2"/>
                </a:solidFill>
              </a:rPr>
              <a:t>. Nothing here says what happens next.</a:t>
            </a:r>
          </a:p>
        </p:txBody>
      </p:sp>
      <p:sp>
        <p:nvSpPr>
          <p:cNvPr id="6" name="Rectangle 5"/>
          <p:cNvSpPr/>
          <p:nvPr/>
        </p:nvSpPr>
        <p:spPr>
          <a:xfrm>
            <a:off x="319251" y="36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node is where work happens. An edge is where the decision happens.</a:t>
            </a:r>
          </a:p>
        </p:txBody>
      </p:sp>
      <p:sp>
        <p:nvSpPr>
          <p:cNvPr id="7" name="Rounded Rectangle 6"/>
          <p:cNvSpPr/>
          <p:nvPr/>
        </p:nvSpPr>
        <p:spPr>
          <a:xfrm>
            <a:off x="319251" y="1060000"/>
            <a:ext cx="6014545" cy="150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graph = StateGraph(AgentState)</a:t>
            </a:r>
          </a:p>
          <a:p>
            <a:pPr algn="l">
              <a:buNone/>
            </a:pPr>
            <a:endParaRPr sz="1100">
              <a:solidFill>
                <a:srgbClr val="28285E"/>
              </a:solidFill>
              <a:latin typeface="Maple Mono NF"/>
            </a:endParaRPr>
          </a:p>
          <a:p>
            <a:pPr algn="l">
              <a:buNone/>
            </a:pPr>
            <a:r>
              <a:rPr sz="1100">
                <a:solidFill>
                  <a:srgbClr val="28285E"/>
                </a:solidFill>
                <a:latin typeface="Maple Mono NF"/>
              </a:rPr>
              <a:t>graph.add_node("controller", self.controller)</a:t>
            </a:r>
          </a:p>
          <a:p>
            <a:pPr algn="l">
              <a:buNone/>
            </a:pPr>
            <a:r>
              <a:rPr sz="1100">
                <a:solidFill>
                  <a:srgbClr val="28285E"/>
                </a:solidFill>
                <a:latin typeface="Maple Mono NF"/>
              </a:rPr>
              <a:t>graph.add_node("tools", self.tools)</a:t>
            </a:r>
          </a:p>
          <a:p>
            <a:pPr algn="l">
              <a:buNone/>
            </a:pPr>
            <a:r>
              <a:rPr sz="1100">
                <a:solidFill>
                  <a:srgbClr val="28285E"/>
                </a:solidFill>
                <a:latin typeface="Maple Mono NF"/>
              </a:rPr>
              <a:t>graph.add_node("submit", self.submit)</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Then the edges</a:t>
            </a:r>
          </a:p>
        </p:txBody>
      </p:sp>
      <p:sp>
        <p:nvSpPr>
          <p:cNvPr id="3" name="TextBox 2"/>
          <p:cNvSpPr txBox="1"/>
          <p:nvPr/>
        </p:nvSpPr>
        <p:spPr>
          <a:xfrm>
            <a:off x="319251" y="760000"/>
            <a:ext cx="6014545" cy="200000"/>
          </a:xfrm>
          <a:prstGeom prst="rect">
            <a:avLst/>
          </a:prstGeom>
          <a:noFill/>
        </p:spPr>
        <p:txBody>
          <a:bodyPr wrap="none">
            <a:spAutoFit/>
          </a:bodyPr>
          <a:lstStyle/>
          <a:p>
            <a:r>
              <a:rPr sz="1200" b="1">
                <a:solidFill>
                  <a:srgbClr val="28285E"/>
                </a:solidFill>
                <a:latin typeface="Maple Mono NF"/>
              </a:rPr>
              <a:t>graph.py  —  compile()</a:t>
            </a:r>
          </a:p>
        </p:txBody>
      </p:sp>
      <p:sp>
        <p:nvSpPr>
          <p:cNvPr id="4" name="Rounded Rectangle 3"/>
          <p:cNvSpPr/>
          <p:nvPr/>
        </p:nvSpPr>
        <p:spPr>
          <a:xfrm>
            <a:off x="319251" y="1060000"/>
            <a:ext cx="6014545" cy="135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graph.add_edge(START, "controller")</a:t>
            </a:r>
          </a:p>
          <a:p>
            <a:pPr algn="l">
              <a:buNone/>
            </a:pPr>
            <a:endParaRPr sz="1100">
              <a:solidFill>
                <a:srgbClr val="28285E"/>
              </a:solidFill>
              <a:latin typeface="Maple Mono NF"/>
            </a:endParaRPr>
          </a:p>
          <a:p>
            <a:pPr algn="l">
              <a:buNone/>
            </a:pPr>
            <a:r>
              <a:rPr sz="1100">
                <a:solidFill>
                  <a:srgbClr val="8A8A9A"/>
                </a:solidFill>
                <a:latin typeface="Maple Mono NF"/>
              </a:rPr>
              <a:t># The edge back. This one line is what makes the loop a loop.</a:t>
            </a:r>
          </a:p>
          <a:p>
            <a:pPr algn="l">
              <a:buNone/>
            </a:pPr>
            <a:r>
              <a:rPr sz="1100" b="1">
                <a:solidFill>
                  <a:srgbClr val="C73561"/>
                </a:solidFill>
                <a:latin typeface="Maple Mono NF"/>
              </a:rPr>
              <a:t>graph.add_edge("tools", "controller")</a:t>
            </a:r>
          </a:p>
        </p:txBody>
      </p:sp>
      <p:sp>
        <p:nvSpPr>
          <p:cNvPr id="5" name="Rectangle 4"/>
          <p:cNvSpPr/>
          <p:nvPr/>
        </p:nvSpPr>
        <p:spPr>
          <a:xfrm>
            <a:off x="319251" y="26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Two edges that are always taken. </a:t>
            </a:r>
            <a:r>
              <a:rPr sz="1400" b="1">
                <a:solidFill>
                  <a:schemeClr val="tx2"/>
                </a:solidFill>
              </a:rPr>
              <a:t>The second one is the whole architecture</a:t>
            </a:r>
            <a:r>
              <a:rPr sz="1400">
                <a:solidFill>
                  <a:schemeClr val="tx2"/>
                </a:solidFill>
              </a:rPr>
              <a:t>.</a:t>
            </a:r>
          </a:p>
        </p:txBody>
      </p:sp>
      <p:sp>
        <p:nvSpPr>
          <p:cNvPr id="6" name="Rectangle 5"/>
          <p:cNvSpPr/>
          <p:nvPr/>
        </p:nvSpPr>
        <p:spPr>
          <a:xfrm>
            <a:off x="319251" y="347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Delete that line and the program is a chain again.</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And the conditional ones</a:t>
            </a:r>
          </a:p>
        </p:txBody>
      </p:sp>
      <p:sp>
        <p:nvSpPr>
          <p:cNvPr id="3" name="TextBox 2"/>
          <p:cNvSpPr txBox="1"/>
          <p:nvPr/>
        </p:nvSpPr>
        <p:spPr>
          <a:xfrm>
            <a:off x="319251" y="700000"/>
            <a:ext cx="6014545" cy="200000"/>
          </a:xfrm>
          <a:prstGeom prst="rect">
            <a:avLst/>
          </a:prstGeom>
          <a:noFill/>
        </p:spPr>
        <p:txBody>
          <a:bodyPr wrap="none">
            <a:spAutoFit/>
          </a:bodyPr>
          <a:lstStyle/>
          <a:p>
            <a:r>
              <a:rPr sz="1200" b="1">
                <a:solidFill>
                  <a:srgbClr val="28285E"/>
                </a:solidFill>
                <a:latin typeface="Maple Mono NF"/>
              </a:rPr>
              <a:t>graph.py  —  compile()</a:t>
            </a:r>
          </a:p>
        </p:txBody>
      </p:sp>
      <p:sp>
        <p:nvSpPr>
          <p:cNvPr id="4" name="Rounded Rectangle 3"/>
          <p:cNvSpPr/>
          <p:nvPr/>
        </p:nvSpPr>
        <p:spPr>
          <a:xfrm>
            <a:off x="319251" y="1096499"/>
            <a:ext cx="6014545" cy="1327002"/>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dirty="0" err="1">
                <a:solidFill>
                  <a:srgbClr val="28285E"/>
                </a:solidFill>
                <a:latin typeface="Maple Mono NF"/>
              </a:rPr>
              <a:t>graph.add_conditional_edges</a:t>
            </a:r>
            <a:r>
              <a:rPr sz="1100" dirty="0">
                <a:solidFill>
                  <a:srgbClr val="28285E"/>
                </a:solidFill>
                <a:latin typeface="Maple Mono NF"/>
              </a:rPr>
              <a:t>("controller", </a:t>
            </a:r>
            <a:r>
              <a:rPr sz="1100" dirty="0" err="1">
                <a:solidFill>
                  <a:srgbClr val="28285E"/>
                </a:solidFill>
                <a:latin typeface="Maple Mono NF"/>
              </a:rPr>
              <a:t>self.after_controller</a:t>
            </a:r>
            <a:r>
              <a:rPr sz="1100" dirty="0">
                <a:solidFill>
                  <a:srgbClr val="28285E"/>
                </a:solidFill>
                <a:latin typeface="Maple Mono NF"/>
              </a:rPr>
              <a:t>,</a:t>
            </a:r>
          </a:p>
          <a:p>
            <a:pPr algn="l">
              <a:buNone/>
            </a:pPr>
            <a:r>
              <a:rPr sz="1100" dirty="0">
                <a:solidFill>
                  <a:srgbClr val="28285E"/>
                </a:solidFill>
                <a:latin typeface="Maple Mono NF"/>
              </a:rPr>
              <a:t>                    {"tools": "tools", "submit": "submit", END: END})</a:t>
            </a:r>
            <a:endParaRPr lang="en-US" sz="1100" dirty="0">
              <a:solidFill>
                <a:srgbClr val="28285E"/>
              </a:solidFill>
              <a:latin typeface="Maple Mono NF"/>
            </a:endParaRPr>
          </a:p>
          <a:p>
            <a:pPr algn="l">
              <a:buNone/>
            </a:pPr>
            <a:endParaRPr sz="1100" dirty="0">
              <a:solidFill>
                <a:srgbClr val="28285E"/>
              </a:solidFill>
              <a:latin typeface="Maple Mono NF"/>
            </a:endParaRPr>
          </a:p>
          <a:p>
            <a:pPr algn="l">
              <a:buNone/>
            </a:pPr>
            <a:r>
              <a:rPr sz="1100" dirty="0" err="1">
                <a:solidFill>
                  <a:srgbClr val="28285E"/>
                </a:solidFill>
                <a:latin typeface="Maple Mono NF"/>
              </a:rPr>
              <a:t>graph.add_conditional_edges</a:t>
            </a:r>
            <a:r>
              <a:rPr sz="1100" dirty="0">
                <a:solidFill>
                  <a:srgbClr val="28285E"/>
                </a:solidFill>
                <a:latin typeface="Maple Mono NF"/>
              </a:rPr>
              <a:t>("submit", </a:t>
            </a:r>
            <a:r>
              <a:rPr sz="1100" dirty="0" err="1">
                <a:solidFill>
                  <a:srgbClr val="28285E"/>
                </a:solidFill>
                <a:latin typeface="Maple Mono NF"/>
              </a:rPr>
              <a:t>self.after_submit</a:t>
            </a:r>
            <a:r>
              <a:rPr sz="1100" dirty="0">
                <a:solidFill>
                  <a:srgbClr val="28285E"/>
                </a:solidFill>
                <a:latin typeface="Maple Mono NF"/>
              </a:rPr>
              <a:t>,</a:t>
            </a:r>
          </a:p>
          <a:p>
            <a:pPr algn="l">
              <a:buNone/>
            </a:pPr>
            <a:r>
              <a:rPr sz="1100" dirty="0">
                <a:solidFill>
                  <a:srgbClr val="28285E"/>
                </a:solidFill>
                <a:latin typeface="Maple Mono NF"/>
              </a:rPr>
              <a:t>                            {"controller": "controller", END: END})</a:t>
            </a:r>
          </a:p>
        </p:txBody>
      </p:sp>
      <p:sp>
        <p:nvSpPr>
          <p:cNvPr id="5" name="Rectangle 4"/>
          <p:cNvSpPr/>
          <p:nvPr/>
        </p:nvSpPr>
        <p:spPr>
          <a:xfrm>
            <a:off x="319251" y="2719999"/>
            <a:ext cx="6014545" cy="837977"/>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A conditional edge is a function plus </a:t>
            </a:r>
            <a:r>
              <a:rPr sz="1400" b="1">
                <a:solidFill>
                  <a:schemeClr val="tx2"/>
                </a:solidFill>
              </a:rPr>
              <a:t>the set of successors it is allowed to name</a:t>
            </a:r>
            <a:r>
              <a:rPr sz="1400">
                <a:solidFill>
                  <a:schemeClr val="tx2"/>
                </a:solidFill>
              </a:rPr>
              <a:t>. The function returns a key; the dictionary turns that key into a node.</a:t>
            </a:r>
          </a:p>
        </p:txBody>
      </p:sp>
      <p:sp>
        <p:nvSpPr>
          <p:cNvPr id="6" name="Rectangle 5"/>
          <p:cNvSpPr/>
          <p:nvPr/>
        </p:nvSpPr>
        <p:spPr>
          <a:xfrm>
            <a:off x="319251" y="3757975"/>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run cannot go anywhere that is not in that dictionary.</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Then compile</a:t>
            </a:r>
          </a:p>
        </p:txBody>
      </p:sp>
      <p:sp>
        <p:nvSpPr>
          <p:cNvPr id="3" name="TextBox 2"/>
          <p:cNvSpPr txBox="1"/>
          <p:nvPr/>
        </p:nvSpPr>
        <p:spPr>
          <a:xfrm>
            <a:off x="319251" y="820000"/>
            <a:ext cx="6014545" cy="200000"/>
          </a:xfrm>
          <a:prstGeom prst="rect">
            <a:avLst/>
          </a:prstGeom>
          <a:noFill/>
        </p:spPr>
        <p:txBody>
          <a:bodyPr wrap="none">
            <a:spAutoFit/>
          </a:bodyPr>
          <a:lstStyle/>
          <a:p>
            <a:r>
              <a:rPr sz="1200" b="1">
                <a:solidFill>
                  <a:srgbClr val="28285E"/>
                </a:solidFill>
                <a:latin typeface="Maple Mono NF"/>
              </a:rPr>
              <a:t>graph.py  —  compile()</a:t>
            </a:r>
          </a:p>
        </p:txBody>
      </p:sp>
      <p:sp>
        <p:nvSpPr>
          <p:cNvPr id="4" name="Rounded Rectangle 3"/>
          <p:cNvSpPr/>
          <p:nvPr/>
        </p:nvSpPr>
        <p:spPr>
          <a:xfrm>
            <a:off x="319251" y="1120000"/>
            <a:ext cx="6014545" cy="135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def compile(self):</a:t>
            </a:r>
          </a:p>
          <a:p>
            <a:pPr algn="l">
              <a:buNone/>
            </a:pPr>
            <a:r>
              <a:rPr sz="1100">
                <a:solidFill>
                  <a:srgbClr val="28285E"/>
                </a:solidFill>
                <a:latin typeface="Maple Mono NF"/>
              </a:rPr>
              <a:t>    graph = StateGraph(AgentState)</a:t>
            </a:r>
          </a:p>
          <a:p>
            <a:pPr algn="l">
              <a:buNone/>
            </a:pPr>
            <a:r>
              <a:rPr sz="1100">
                <a:solidFill>
                  <a:srgbClr val="8A8A9A"/>
                </a:solidFill>
                <a:latin typeface="Maple Mono NF"/>
              </a:rPr>
              <a:t>    ...                    # the nodes and edges, as above</a:t>
            </a:r>
          </a:p>
          <a:p>
            <a:pPr algn="l">
              <a:buNone/>
            </a:pPr>
            <a:r>
              <a:rPr sz="1100" b="1">
                <a:solidFill>
                  <a:srgbClr val="C73561"/>
                </a:solidFill>
                <a:latin typeface="Maple Mono NF"/>
              </a:rPr>
              <a:t>    return graph.compile()</a:t>
            </a:r>
          </a:p>
        </p:txBody>
      </p:sp>
      <p:sp>
        <p:nvSpPr>
          <p:cNvPr id="5" name="Rectangle 4"/>
          <p:cNvSpPr/>
          <p:nvPr/>
        </p:nvSpPr>
        <p:spPr>
          <a:xfrm>
            <a:off x="319251" y="271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Compiled once, before any alert is read. </a:t>
            </a:r>
            <a:r>
              <a:rPr sz="1400" b="1">
                <a:solidFill>
                  <a:schemeClr val="tx2"/>
                </a:solidFill>
              </a:rPr>
              <a:t>The same object runs every alert</a:t>
            </a:r>
            <a:r>
              <a:rPr sz="1400">
                <a:solidFill>
                  <a:schemeClr val="tx2"/>
                </a:solidFill>
              </a:rPr>
              <a:t>.</a:t>
            </a:r>
          </a:p>
        </p:txBody>
      </p:sp>
      <p:sp>
        <p:nvSpPr>
          <p:cNvPr id="6" name="Rectangle 5"/>
          <p:cNvSpPr/>
          <p:nvPr/>
        </p:nvSpPr>
        <p:spPr>
          <a:xfrm>
            <a:off x="319251" y="35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Dynamic paths do not need a dynamic graph.</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Who picks the edge</a:t>
            </a:r>
          </a:p>
        </p:txBody>
      </p:sp>
      <p:sp>
        <p:nvSpPr>
          <p:cNvPr id="3" name="TextBox 2"/>
          <p:cNvSpPr txBox="1"/>
          <p:nvPr/>
        </p:nvSpPr>
        <p:spPr>
          <a:xfrm>
            <a:off x="319251" y="700000"/>
            <a:ext cx="6014545" cy="200000"/>
          </a:xfrm>
          <a:prstGeom prst="rect">
            <a:avLst/>
          </a:prstGeom>
          <a:noFill/>
        </p:spPr>
        <p:txBody>
          <a:bodyPr wrap="none">
            <a:spAutoFit/>
          </a:bodyPr>
          <a:lstStyle/>
          <a:p>
            <a:r>
              <a:rPr sz="1200" b="1">
                <a:solidFill>
                  <a:srgbClr val="28285E"/>
                </a:solidFill>
                <a:latin typeface="Maple Mono NF"/>
              </a:rPr>
              <a:t>graph.py — after_controller</a:t>
            </a:r>
          </a:p>
        </p:txBody>
      </p:sp>
      <p:sp>
        <p:nvSpPr>
          <p:cNvPr id="4" name="Rounded Rectangle 3"/>
          <p:cNvSpPr/>
          <p:nvPr/>
        </p:nvSpPr>
        <p:spPr>
          <a:xfrm>
            <a:off x="319251" y="1000000"/>
            <a:ext cx="6014545" cy="156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def after_controller(self, state) -&gt; str:</a:t>
            </a:r>
          </a:p>
          <a:p>
            <a:pPr algn="l">
              <a:buNone/>
            </a:pPr>
            <a:r>
              <a:rPr sz="1100">
                <a:solidFill>
                  <a:srgbClr val="28285E"/>
                </a:solidFill>
                <a:latin typeface="Maple Mono NF"/>
              </a:rPr>
              <a:t>    if state["status"] != RUNNING:</a:t>
            </a:r>
          </a:p>
          <a:p>
            <a:pPr algn="l">
              <a:buNone/>
            </a:pPr>
            <a:r>
              <a:rPr sz="1100">
                <a:solidFill>
                  <a:srgbClr val="28285E"/>
                </a:solidFill>
                <a:latin typeface="Maple Mono NF"/>
              </a:rPr>
              <a:t>        return END</a:t>
            </a:r>
          </a:p>
          <a:p>
            <a:pPr algn="l">
              <a:buNone/>
            </a:pPr>
            <a:r>
              <a:rPr sz="1100" b="1">
                <a:solidFill>
                  <a:srgbClr val="C73561"/>
                </a:solidFill>
                <a:latin typeface="Maple Mono NF"/>
              </a:rPr>
              <a:t>    if state["messages"][-1].tool_calls:</a:t>
            </a:r>
          </a:p>
          <a:p>
            <a:pPr algn="l">
              <a:buNone/>
            </a:pPr>
            <a:r>
              <a:rPr sz="1100" b="1">
                <a:solidFill>
                  <a:srgbClr val="C73561"/>
                </a:solidFill>
                <a:latin typeface="Maple Mono NF"/>
              </a:rPr>
              <a:t>        return "tools"</a:t>
            </a:r>
          </a:p>
          <a:p>
            <a:pPr algn="l">
              <a:buNone/>
            </a:pPr>
            <a:r>
              <a:rPr sz="1100" b="1">
                <a:solidFill>
                  <a:srgbClr val="C73561"/>
                </a:solidFill>
                <a:latin typeface="Maple Mono NF"/>
              </a:rPr>
              <a:t>    return "submit"</a:t>
            </a:r>
          </a:p>
        </p:txBody>
      </p:sp>
      <p:sp>
        <p:nvSpPr>
          <p:cNvPr id="5" name="Rectangle 4"/>
          <p:cNvSpPr/>
          <p:nvPr/>
        </p:nvSpPr>
        <p:spPr>
          <a:xfrm>
            <a:off x="319251" y="28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model picks its own successor by </a:t>
            </a:r>
            <a:r>
              <a:rPr sz="1400" b="1">
                <a:solidFill>
                  <a:schemeClr val="tx2"/>
                </a:solidFill>
              </a:rPr>
              <a:t>emitting a tool call, or not</a:t>
            </a:r>
            <a:r>
              <a:rPr sz="1400">
                <a:solidFill>
                  <a:schemeClr val="tx2"/>
                </a:solidFill>
              </a:rPr>
              <a:t>.</a:t>
            </a:r>
          </a:p>
        </p:txBody>
      </p:sp>
      <p:sp>
        <p:nvSpPr>
          <p:cNvPr id="6" name="Rectangle 5"/>
          <p:cNvSpPr/>
          <p:nvPr/>
        </p:nvSpPr>
        <p:spPr>
          <a:xfrm>
            <a:off x="319251" y="36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trace records </a:t>
            </a:r>
            <a:r>
              <a:rPr sz="1200" b="1">
                <a:solidFill>
                  <a:srgbClr val="C73561"/>
                </a:solidFill>
              </a:rPr>
              <a:t>by="model"</a:t>
            </a:r>
            <a:r>
              <a:rPr sz="1200" b="1">
                <a:solidFill>
                  <a:srgbClr val="28285E"/>
                </a:solidFill>
              </a:rPr>
              <a:t> on these two edges, and </a:t>
            </a:r>
            <a:r>
              <a:rPr sz="1200" b="1">
                <a:solidFill>
                  <a:srgbClr val="C73561"/>
                </a:solidFill>
              </a:rPr>
              <a:t>by="runtime"</a:t>
            </a:r>
            <a:r>
              <a:rPr sz="1200" b="1">
                <a:solidFill>
                  <a:srgbClr val="28285E"/>
                </a:solidFill>
              </a:rPr>
              <a:t> on every other.</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Model’s autonomy increases</a:t>
            </a:r>
            <a:endParaRPr dirty="0"/>
          </a:p>
        </p:txBody>
      </p:sp>
      <p:graphicFrame>
        <p:nvGraphicFramePr>
          <p:cNvPr id="3" name="Table 2"/>
          <p:cNvGraphicFramePr>
            <a:graphicFrameLocks noGrp="1"/>
          </p:cNvGraphicFramePr>
          <p:nvPr>
            <p:extLst>
              <p:ext uri="{D42A27DB-BD31-4B8C-83A1-F6EECF244321}">
                <p14:modId xmlns:p14="http://schemas.microsoft.com/office/powerpoint/2010/main" val="1593811576"/>
              </p:ext>
            </p:extLst>
          </p:nvPr>
        </p:nvGraphicFramePr>
        <p:xfrm>
          <a:off x="319251" y="1150000"/>
          <a:ext cx="6014545" cy="1877340"/>
        </p:xfrm>
        <a:graphic>
          <a:graphicData uri="http://schemas.openxmlformats.org/drawingml/2006/table">
            <a:tbl>
              <a:tblPr>
                <a:tableStyleId>{2D5ABB26-0587-4C30-8999-92F81FD0307C}</a:tableStyleId>
              </a:tblPr>
              <a:tblGrid>
                <a:gridCol w="2370579">
                  <a:extLst>
                    <a:ext uri="{9D8B030D-6E8A-4147-A177-3AD203B41FA5}">
                      <a16:colId xmlns:a16="http://schemas.microsoft.com/office/drawing/2014/main" val="20000"/>
                    </a:ext>
                  </a:extLst>
                </a:gridCol>
                <a:gridCol w="1629421">
                  <a:extLst>
                    <a:ext uri="{9D8B030D-6E8A-4147-A177-3AD203B41FA5}">
                      <a16:colId xmlns:a16="http://schemas.microsoft.com/office/drawing/2014/main" val="20001"/>
                    </a:ext>
                  </a:extLst>
                </a:gridCol>
                <a:gridCol w="2014545">
                  <a:extLst>
                    <a:ext uri="{9D8B030D-6E8A-4147-A177-3AD203B41FA5}">
                      <a16:colId xmlns:a16="http://schemas.microsoft.com/office/drawing/2014/main" val="20002"/>
                    </a:ext>
                  </a:extLst>
                </a:gridCol>
              </a:tblGrid>
              <a:tr h="300000">
                <a:tc>
                  <a:txBody>
                    <a:bodyPr/>
                    <a:lstStyle/>
                    <a:p>
                      <a:pPr algn="l">
                        <a:buNone/>
                      </a:pPr>
                      <a:r>
                        <a:rPr sz="1100" b="1">
                          <a:solidFill>
                            <a:schemeClr val="tx1"/>
                          </a:solidFill>
                        </a:rPr>
                        <a:t>Decision</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Fixed workflow</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Reactive loop</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100" b="1">
                          <a:solidFill>
                            <a:srgbClr val="28285E"/>
                          </a:solidFill>
                        </a:rPr>
                        <a:t>Which operation runs next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1" dirty="0">
                          <a:solidFill>
                            <a:schemeClr val="accent4"/>
                          </a:solidFill>
                        </a:rPr>
                        <a:t>The model, at run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100" b="1">
                          <a:solidFill>
                            <a:srgbClr val="28285E"/>
                          </a:solidFill>
                        </a:rPr>
                        <a:t>Whether another runs after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1" dirty="0">
                          <a:solidFill>
                            <a:schemeClr val="accent4"/>
                          </a:solidFill>
                        </a:rPr>
                        <a:t>The model, until the budget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100" b="1">
                          <a:solidFill>
                            <a:srgbClr val="28285E"/>
                          </a:solidFill>
                        </a:rPr>
                        <a:t>How many model calls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dirty="0">
                          <a:solidFill>
                            <a:schemeClr val="tx1"/>
                          </a:solidFill>
                        </a:rPr>
                        <a:t>Bounded by the budget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100" b="1">
                          <a:solidFill>
                            <a:srgbClr val="28285E"/>
                          </a:solidFill>
                        </a:rPr>
                        <a:t>What ends the run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dirty="0">
                          <a:solidFill>
                            <a:schemeClr val="tx1"/>
                          </a:solidFill>
                        </a:rPr>
                        <a:t>A predicate we wrote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r h="0">
                <a:tc>
                  <a:txBody>
                    <a:bodyPr/>
                    <a:lstStyle/>
                    <a:p>
                      <a:pPr algn="l">
                        <a:buNone/>
                      </a:pPr>
                      <a:r>
                        <a:rPr sz="1100" b="1">
                          <a:solidFill>
                            <a:srgbClr val="28285E"/>
                          </a:solidFill>
                        </a:rPr>
                        <a:t>Which artifacts a step touches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100" b="1" i="0" u="none" strike="noStrike" cap="none" spc="0" dirty="0">
                          <a:solidFill>
                            <a:schemeClr val="accent4"/>
                          </a:solidFill>
                          <a:latin typeface="+mn-lt"/>
                          <a:ea typeface="+mn-ea"/>
                          <a:cs typeface="+mn-cs"/>
                          <a:sym typeface="Arial"/>
                        </a:rPr>
                        <a:t>The model, by using tools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lgn="l">
                        <a:buNone/>
                      </a:pPr>
                      <a:r>
                        <a:rPr sz="1100" b="1">
                          <a:solidFill>
                            <a:srgbClr val="28285E"/>
                          </a:solidFill>
                        </a:rPr>
                        <a:t>What a model call returns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dirty="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6"/>
                  </a:ext>
                </a:extLst>
              </a:tr>
            </a:tbl>
          </a:graphicData>
        </a:graphic>
      </p:graphicFrame>
      <p:sp>
        <p:nvSpPr>
          <p:cNvPr id="4" name="Rectangle 3"/>
          <p:cNvSpPr/>
          <p:nvPr/>
        </p:nvSpPr>
        <p:spPr>
          <a:xfrm>
            <a:off x="3308684" y="3620000"/>
            <a:ext cx="3025112"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dirty="0">
                <a:solidFill>
                  <a:schemeClr val="tx2"/>
                </a:solidFill>
              </a:rPr>
              <a:t>The model gains </a:t>
            </a:r>
            <a:r>
              <a:rPr lang="en-US" sz="1200" b="0" dirty="0">
                <a:solidFill>
                  <a:schemeClr val="tx2"/>
                </a:solidFill>
              </a:rPr>
              <a:t>more rows of control</a:t>
            </a:r>
            <a:r>
              <a:rPr sz="1200" b="0" dirty="0">
                <a:solidFill>
                  <a:schemeClr val="tx2"/>
                </a:solidFill>
              </a:rPr>
              <a:t>. </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loop buys</a:t>
            </a:r>
          </a:p>
        </p:txBody>
      </p:sp>
      <p:sp>
        <p:nvSpPr>
          <p:cNvPr id="3" name="Content Placeholder 2"/>
          <p:cNvSpPr>
            <a:spLocks noGrp="1"/>
          </p:cNvSpPr>
          <p:nvPr>
            <p:ph idx="1"/>
          </p:nvPr>
        </p:nvSpPr>
        <p:spPr>
          <a:xfrm>
            <a:off x="319251" y="700000"/>
            <a:ext cx="6014545" cy="2200000"/>
          </a:xfrm>
        </p:spPr>
        <p:txBody>
          <a:bodyPr wrap="square">
            <a:normAutofit fontScale="92500" lnSpcReduction="10000"/>
          </a:bodyPr>
          <a:lstStyle/>
          <a:p>
            <a:pPr marL="0" indent="0">
              <a:buNone/>
            </a:pPr>
            <a:r>
              <a:rPr sz="1400" b="1" dirty="0">
                <a:solidFill>
                  <a:srgbClr val="28285E"/>
                </a:solidFill>
              </a:rPr>
              <a:t>Three things come back for the decision</a:t>
            </a:r>
            <a:r>
              <a:rPr lang="en-US" sz="1400" b="1" dirty="0">
                <a:solidFill>
                  <a:srgbClr val="28285E"/>
                </a:solidFill>
              </a:rPr>
              <a:t>s </a:t>
            </a:r>
            <a:r>
              <a:rPr sz="1400" b="1" dirty="0">
                <a:solidFill>
                  <a:srgbClr val="28285E"/>
                </a:solidFill>
              </a:rPr>
              <a:t>we </a:t>
            </a:r>
            <a:r>
              <a:rPr lang="en-US" sz="1400" b="1" dirty="0">
                <a:solidFill>
                  <a:srgbClr val="28285E"/>
                </a:solidFill>
              </a:rPr>
              <a:t>relinquished</a:t>
            </a:r>
            <a:r>
              <a:rPr sz="1400" b="1" dirty="0">
                <a:solidFill>
                  <a:srgbClr val="28285E"/>
                </a:solidFill>
              </a:rPr>
              <a:t>:</a:t>
            </a:r>
            <a:r>
              <a:rPr lang="en-US" sz="1400" b="1" dirty="0">
                <a:solidFill>
                  <a:srgbClr val="28285E"/>
                </a:solidFill>
              </a:rPr>
              <a:t> </a:t>
            </a:r>
            <a:endParaRPr sz="1400" b="1" dirty="0">
              <a:solidFill>
                <a:srgbClr val="28285E"/>
              </a:solidFill>
            </a:endParaRPr>
          </a:p>
          <a:p>
            <a:pPr marL="400050" indent="-285750">
              <a:spcBef>
                <a:spcPts val="600"/>
              </a:spcBef>
              <a:spcAft>
                <a:spcPts val="600"/>
              </a:spcAft>
              <a:buClr>
                <a:srgbClr val="28285E"/>
              </a:buClr>
              <a:buSzPts val="1260"/>
              <a:buFont typeface="Fira Sans"/>
              <a:buChar char="●"/>
            </a:pPr>
            <a:r>
              <a:rPr sz="1400" b="1" dirty="0">
                <a:solidFill>
                  <a:schemeClr val="tx1"/>
                </a:solidFill>
              </a:rPr>
              <a:t>Reach. </a:t>
            </a:r>
            <a:r>
              <a:rPr sz="1400" dirty="0">
                <a:solidFill>
                  <a:schemeClr val="tx1"/>
                </a:solidFill>
              </a:rPr>
              <a:t>The agent can act to see: read the helper the flagged line names, then decide.</a:t>
            </a:r>
          </a:p>
          <a:p>
            <a:pPr marL="400050" indent="-285750">
              <a:spcBef>
                <a:spcPts val="600"/>
              </a:spcBef>
              <a:spcAft>
                <a:spcPts val="600"/>
              </a:spcAft>
              <a:buClr>
                <a:srgbClr val="28285E"/>
              </a:buClr>
              <a:buSzPts val="1260"/>
              <a:buFont typeface="Fira Sans"/>
              <a:buChar char="●"/>
            </a:pPr>
            <a:r>
              <a:rPr sz="1400" b="1" dirty="0">
                <a:solidFill>
                  <a:schemeClr val="tx1"/>
                </a:solidFill>
              </a:rPr>
              <a:t>Proportion. </a:t>
            </a:r>
            <a:r>
              <a:rPr sz="1400" dirty="0">
                <a:solidFill>
                  <a:schemeClr val="tx1"/>
                </a:solidFill>
              </a:rPr>
              <a:t>A two-line fix costs two or three turns. The chain pays one price for every alert.</a:t>
            </a:r>
          </a:p>
          <a:p>
            <a:pPr marL="400050" indent="-285750">
              <a:spcBef>
                <a:spcPts val="600"/>
              </a:spcBef>
              <a:spcAft>
                <a:spcPts val="600"/>
              </a:spcAft>
              <a:buClr>
                <a:srgbClr val="28285E"/>
              </a:buClr>
              <a:buSzPts val="1260"/>
              <a:buFont typeface="Fira Sans"/>
              <a:buChar char="●"/>
            </a:pPr>
            <a:r>
              <a:rPr sz="1400" b="1" dirty="0">
                <a:solidFill>
                  <a:schemeClr val="tx1"/>
                </a:solidFill>
              </a:rPr>
              <a:t>Recovery. </a:t>
            </a:r>
            <a:r>
              <a:rPr sz="1400" dirty="0">
                <a:solidFill>
                  <a:schemeClr val="tx1"/>
                </a:solidFill>
              </a:rPr>
              <a:t>A search that returns nothing can be followed by a different one.</a:t>
            </a:r>
          </a:p>
        </p:txBody>
      </p:sp>
      <p:sp>
        <p:nvSpPr>
          <p:cNvPr id="4" name="Rectangle 3"/>
          <p:cNvSpPr/>
          <p:nvPr/>
        </p:nvSpPr>
        <p:spPr>
          <a:xfrm>
            <a:off x="319251" y="31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All three come from the same edge. </a:t>
            </a:r>
            <a:r>
              <a:rPr sz="1400" b="1">
                <a:solidFill>
                  <a:schemeClr val="tx2"/>
                </a:solidFill>
              </a:rPr>
              <a:t>A loop needs no new node, because the edge back is the node</a:t>
            </a:r>
            <a:r>
              <a:rPr sz="1400">
                <a:solidFill>
                  <a:schemeClr val="tx2"/>
                </a:solidFill>
              </a:rPr>
              <a:t>.</a:t>
            </a:r>
          </a:p>
        </p:txBody>
      </p:sp>
      <p:sp>
        <p:nvSpPr>
          <p:cNvPr id="5" name="Rectangle 4"/>
          <p:cNvSpPr/>
          <p:nvPr/>
        </p:nvSpPr>
        <p:spPr>
          <a:xfrm>
            <a:off x="319251" y="39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chain carries a bad read all the way to the patch.</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E5E89-3CA7-9DCA-5534-1AE161CBB1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0318D4-1A1C-D471-996D-E952637BBA90}"/>
              </a:ext>
            </a:extLst>
          </p:cNvPr>
          <p:cNvSpPr>
            <a:spLocks noGrp="1"/>
          </p:cNvSpPr>
          <p:nvPr>
            <p:ph type="title"/>
          </p:nvPr>
        </p:nvSpPr>
        <p:spPr/>
        <p:txBody>
          <a:bodyPr/>
          <a:lstStyle/>
          <a:p>
            <a:r>
              <a:t>What the loop buys</a:t>
            </a:r>
          </a:p>
        </p:txBody>
      </p:sp>
      <p:sp>
        <p:nvSpPr>
          <p:cNvPr id="3" name="Content Placeholder 2">
            <a:extLst>
              <a:ext uri="{FF2B5EF4-FFF2-40B4-BE49-F238E27FC236}">
                <a16:creationId xmlns:a16="http://schemas.microsoft.com/office/drawing/2014/main" id="{A4071612-1628-C674-F9EB-E9EEEC56B3D2}"/>
              </a:ext>
            </a:extLst>
          </p:cNvPr>
          <p:cNvSpPr>
            <a:spLocks noGrp="1"/>
          </p:cNvSpPr>
          <p:nvPr>
            <p:ph idx="1"/>
          </p:nvPr>
        </p:nvSpPr>
        <p:spPr>
          <a:xfrm>
            <a:off x="319251" y="700000"/>
            <a:ext cx="6014545" cy="2200000"/>
          </a:xfrm>
        </p:spPr>
        <p:txBody>
          <a:bodyPr wrap="square">
            <a:normAutofit fontScale="92500" lnSpcReduction="10000"/>
          </a:bodyPr>
          <a:lstStyle/>
          <a:p>
            <a:pPr marL="0" indent="0">
              <a:buNone/>
            </a:pPr>
            <a:r>
              <a:rPr sz="1400" b="1" dirty="0">
                <a:solidFill>
                  <a:srgbClr val="28285E"/>
                </a:solidFill>
              </a:rPr>
              <a:t>Three things come back for the decision</a:t>
            </a:r>
            <a:r>
              <a:rPr lang="en-US" sz="1400" b="1" dirty="0">
                <a:solidFill>
                  <a:srgbClr val="28285E"/>
                </a:solidFill>
              </a:rPr>
              <a:t>s </a:t>
            </a:r>
            <a:r>
              <a:rPr sz="1400" b="1" dirty="0">
                <a:solidFill>
                  <a:srgbClr val="28285E"/>
                </a:solidFill>
              </a:rPr>
              <a:t>we </a:t>
            </a:r>
            <a:r>
              <a:rPr lang="en-US" sz="1400" b="1" dirty="0">
                <a:solidFill>
                  <a:srgbClr val="28285E"/>
                </a:solidFill>
              </a:rPr>
              <a:t>relinquished</a:t>
            </a:r>
            <a:r>
              <a:rPr sz="1400" b="1" dirty="0">
                <a:solidFill>
                  <a:srgbClr val="28285E"/>
                </a:solidFill>
              </a:rPr>
              <a:t>:</a:t>
            </a:r>
            <a:r>
              <a:rPr lang="en-US" sz="1400" b="1" dirty="0">
                <a:solidFill>
                  <a:srgbClr val="28285E"/>
                </a:solidFill>
              </a:rPr>
              <a:t> </a:t>
            </a:r>
            <a:endParaRPr sz="1400" b="1" dirty="0">
              <a:solidFill>
                <a:srgbClr val="28285E"/>
              </a:solidFill>
            </a:endParaRPr>
          </a:p>
          <a:p>
            <a:pPr marL="400050" indent="-285750">
              <a:spcBef>
                <a:spcPts val="600"/>
              </a:spcBef>
              <a:spcAft>
                <a:spcPts val="600"/>
              </a:spcAft>
              <a:buClr>
                <a:srgbClr val="28285E"/>
              </a:buClr>
              <a:buSzPts val="1260"/>
              <a:buFont typeface="Fira Sans"/>
              <a:buChar char="●"/>
            </a:pPr>
            <a:r>
              <a:rPr sz="1400" b="1" dirty="0">
                <a:solidFill>
                  <a:schemeClr val="tx1"/>
                </a:solidFill>
              </a:rPr>
              <a:t>Reach. </a:t>
            </a:r>
            <a:r>
              <a:rPr sz="1400" dirty="0">
                <a:solidFill>
                  <a:schemeClr val="tx1"/>
                </a:solidFill>
              </a:rPr>
              <a:t>The agent can act to see: read the helper the flagged line names, then decide.</a:t>
            </a:r>
          </a:p>
          <a:p>
            <a:pPr marL="400050" indent="-285750">
              <a:spcBef>
                <a:spcPts val="600"/>
              </a:spcBef>
              <a:spcAft>
                <a:spcPts val="600"/>
              </a:spcAft>
              <a:buClr>
                <a:srgbClr val="28285E"/>
              </a:buClr>
              <a:buSzPts val="1260"/>
              <a:buFont typeface="Fira Sans"/>
              <a:buChar char="●"/>
            </a:pPr>
            <a:r>
              <a:rPr sz="1400" b="1" dirty="0">
                <a:solidFill>
                  <a:schemeClr val="tx1"/>
                </a:solidFill>
              </a:rPr>
              <a:t>Proportion. </a:t>
            </a:r>
            <a:r>
              <a:rPr sz="1400" dirty="0">
                <a:solidFill>
                  <a:schemeClr val="tx1"/>
                </a:solidFill>
              </a:rPr>
              <a:t>A two-line fix costs two or three turns. The chain pays one price for every alert.</a:t>
            </a:r>
          </a:p>
          <a:p>
            <a:pPr marL="400050" indent="-285750">
              <a:spcBef>
                <a:spcPts val="600"/>
              </a:spcBef>
              <a:spcAft>
                <a:spcPts val="600"/>
              </a:spcAft>
              <a:buClr>
                <a:srgbClr val="28285E"/>
              </a:buClr>
              <a:buSzPts val="1260"/>
              <a:buFont typeface="Fira Sans"/>
              <a:buChar char="●"/>
            </a:pPr>
            <a:r>
              <a:rPr sz="1400" b="1" dirty="0">
                <a:solidFill>
                  <a:schemeClr val="tx1"/>
                </a:solidFill>
              </a:rPr>
              <a:t>Recovery. </a:t>
            </a:r>
            <a:r>
              <a:rPr sz="1400" dirty="0">
                <a:solidFill>
                  <a:schemeClr val="tx1"/>
                </a:solidFill>
              </a:rPr>
              <a:t>A search that returns nothing can be followed by a different one.</a:t>
            </a:r>
          </a:p>
        </p:txBody>
      </p:sp>
      <p:sp>
        <p:nvSpPr>
          <p:cNvPr id="4" name="Rectangle 3">
            <a:extLst>
              <a:ext uri="{FF2B5EF4-FFF2-40B4-BE49-F238E27FC236}">
                <a16:creationId xmlns:a16="http://schemas.microsoft.com/office/drawing/2014/main" id="{03AC1F29-784F-2CDC-4EFE-88C92BE9B3AF}"/>
              </a:ext>
            </a:extLst>
          </p:cNvPr>
          <p:cNvSpPr/>
          <p:nvPr/>
        </p:nvSpPr>
        <p:spPr>
          <a:xfrm>
            <a:off x="319251" y="31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All three come from the same edge. </a:t>
            </a:r>
            <a:r>
              <a:rPr sz="1400" b="1">
                <a:solidFill>
                  <a:schemeClr val="tx2"/>
                </a:solidFill>
              </a:rPr>
              <a:t>A loop needs no new node, because the edge back is the node</a:t>
            </a:r>
            <a:r>
              <a:rPr sz="1400">
                <a:solidFill>
                  <a:schemeClr val="tx2"/>
                </a:solidFill>
              </a:rPr>
              <a:t>.</a:t>
            </a:r>
          </a:p>
        </p:txBody>
      </p:sp>
      <p:sp>
        <p:nvSpPr>
          <p:cNvPr id="5" name="Rectangle 4">
            <a:extLst>
              <a:ext uri="{FF2B5EF4-FFF2-40B4-BE49-F238E27FC236}">
                <a16:creationId xmlns:a16="http://schemas.microsoft.com/office/drawing/2014/main" id="{1561957A-EFB7-27A4-C5DD-B5F2B4D9663B}"/>
              </a:ext>
            </a:extLst>
          </p:cNvPr>
          <p:cNvSpPr/>
          <p:nvPr/>
        </p:nvSpPr>
        <p:spPr>
          <a:xfrm>
            <a:off x="319251" y="39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chain carries a bad read all the way to the patch.</a:t>
            </a:r>
          </a:p>
        </p:txBody>
      </p:sp>
      <p:pic>
        <p:nvPicPr>
          <p:cNvPr id="6" name="Picture 5">
            <a:extLst>
              <a:ext uri="{FF2B5EF4-FFF2-40B4-BE49-F238E27FC236}">
                <a16:creationId xmlns:a16="http://schemas.microsoft.com/office/drawing/2014/main" id="{12DACF56-5178-BCA1-DC70-C24813741200}"/>
              </a:ext>
            </a:extLst>
          </p:cNvPr>
          <p:cNvPicPr>
            <a:picLocks noChangeAspect="1"/>
          </p:cNvPicPr>
          <p:nvPr/>
        </p:nvPicPr>
        <p:blipFill>
          <a:blip r:embed="rId3"/>
          <a:stretch>
            <a:fillRect/>
          </a:stretch>
        </p:blipFill>
        <p:spPr>
          <a:xfrm>
            <a:off x="139700" y="1666374"/>
            <a:ext cx="6483684" cy="3128210"/>
          </a:xfrm>
          <a:prstGeom prst="rect">
            <a:avLst/>
          </a:prstGeom>
        </p:spPr>
      </p:pic>
    </p:spTree>
    <p:extLst>
      <p:ext uri="{BB962C8B-B14F-4D97-AF65-F5344CB8AC3E}">
        <p14:creationId xmlns:p14="http://schemas.microsoft.com/office/powerpoint/2010/main" val="74887720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7467C-9A72-D847-B89B-47EF85C1AE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422696-1782-7DA5-4F0B-9A171A03315E}"/>
              </a:ext>
            </a:extLst>
          </p:cNvPr>
          <p:cNvSpPr>
            <a:spLocks noGrp="1"/>
          </p:cNvSpPr>
          <p:nvPr>
            <p:ph type="title"/>
          </p:nvPr>
        </p:nvSpPr>
        <p:spPr/>
        <p:txBody>
          <a:bodyPr/>
          <a:lstStyle/>
          <a:p>
            <a:r>
              <a:t>What the loop buys</a:t>
            </a:r>
          </a:p>
        </p:txBody>
      </p:sp>
      <p:sp>
        <p:nvSpPr>
          <p:cNvPr id="3" name="Content Placeholder 2">
            <a:extLst>
              <a:ext uri="{FF2B5EF4-FFF2-40B4-BE49-F238E27FC236}">
                <a16:creationId xmlns:a16="http://schemas.microsoft.com/office/drawing/2014/main" id="{9E6AED1C-D55E-A351-37EE-6A063876169A}"/>
              </a:ext>
            </a:extLst>
          </p:cNvPr>
          <p:cNvSpPr>
            <a:spLocks noGrp="1"/>
          </p:cNvSpPr>
          <p:nvPr>
            <p:ph idx="1"/>
          </p:nvPr>
        </p:nvSpPr>
        <p:spPr>
          <a:xfrm>
            <a:off x="319251" y="700000"/>
            <a:ext cx="6014545" cy="2200000"/>
          </a:xfrm>
        </p:spPr>
        <p:txBody>
          <a:bodyPr wrap="square">
            <a:normAutofit fontScale="92500" lnSpcReduction="10000"/>
          </a:bodyPr>
          <a:lstStyle/>
          <a:p>
            <a:pPr marL="0" indent="0">
              <a:buNone/>
            </a:pPr>
            <a:r>
              <a:rPr sz="1400" b="1" dirty="0">
                <a:solidFill>
                  <a:srgbClr val="28285E"/>
                </a:solidFill>
              </a:rPr>
              <a:t>Three things come back for the decision</a:t>
            </a:r>
            <a:r>
              <a:rPr lang="en-US" sz="1400" b="1" dirty="0">
                <a:solidFill>
                  <a:srgbClr val="28285E"/>
                </a:solidFill>
              </a:rPr>
              <a:t>s </a:t>
            </a:r>
            <a:r>
              <a:rPr sz="1400" b="1" dirty="0">
                <a:solidFill>
                  <a:srgbClr val="28285E"/>
                </a:solidFill>
              </a:rPr>
              <a:t>we </a:t>
            </a:r>
            <a:r>
              <a:rPr lang="en-US" sz="1400" b="1" dirty="0">
                <a:solidFill>
                  <a:srgbClr val="28285E"/>
                </a:solidFill>
              </a:rPr>
              <a:t>relinquished</a:t>
            </a:r>
            <a:r>
              <a:rPr sz="1400" b="1" dirty="0">
                <a:solidFill>
                  <a:srgbClr val="28285E"/>
                </a:solidFill>
              </a:rPr>
              <a:t>:</a:t>
            </a:r>
            <a:r>
              <a:rPr lang="en-US" sz="1400" b="1" dirty="0">
                <a:solidFill>
                  <a:srgbClr val="28285E"/>
                </a:solidFill>
              </a:rPr>
              <a:t> </a:t>
            </a:r>
            <a:endParaRPr sz="1400" b="1" dirty="0">
              <a:solidFill>
                <a:srgbClr val="28285E"/>
              </a:solidFill>
            </a:endParaRPr>
          </a:p>
          <a:p>
            <a:pPr marL="400050" indent="-285750">
              <a:spcBef>
                <a:spcPts val="600"/>
              </a:spcBef>
              <a:spcAft>
                <a:spcPts val="600"/>
              </a:spcAft>
              <a:buClr>
                <a:srgbClr val="28285E"/>
              </a:buClr>
              <a:buSzPts val="1260"/>
              <a:buFont typeface="Fira Sans"/>
              <a:buChar char="●"/>
            </a:pPr>
            <a:r>
              <a:rPr sz="1400" b="1" dirty="0">
                <a:solidFill>
                  <a:schemeClr val="tx1"/>
                </a:solidFill>
              </a:rPr>
              <a:t>Reach. </a:t>
            </a:r>
            <a:r>
              <a:rPr sz="1400" dirty="0">
                <a:solidFill>
                  <a:schemeClr val="tx1"/>
                </a:solidFill>
              </a:rPr>
              <a:t>The agent can act to see: read the helper the flagged line names, then decide.</a:t>
            </a:r>
          </a:p>
          <a:p>
            <a:pPr marL="400050" indent="-285750">
              <a:spcBef>
                <a:spcPts val="600"/>
              </a:spcBef>
              <a:spcAft>
                <a:spcPts val="600"/>
              </a:spcAft>
              <a:buClr>
                <a:srgbClr val="28285E"/>
              </a:buClr>
              <a:buSzPts val="1260"/>
              <a:buFont typeface="Fira Sans"/>
              <a:buChar char="●"/>
            </a:pPr>
            <a:r>
              <a:rPr sz="1400" b="1" dirty="0">
                <a:solidFill>
                  <a:schemeClr val="tx1"/>
                </a:solidFill>
              </a:rPr>
              <a:t>Proportion. </a:t>
            </a:r>
            <a:r>
              <a:rPr sz="1400" dirty="0">
                <a:solidFill>
                  <a:schemeClr val="tx1"/>
                </a:solidFill>
              </a:rPr>
              <a:t>A two-line fix costs two or three turns. The chain pays one price for every alert.</a:t>
            </a:r>
          </a:p>
          <a:p>
            <a:pPr marL="400050" indent="-285750">
              <a:spcBef>
                <a:spcPts val="600"/>
              </a:spcBef>
              <a:spcAft>
                <a:spcPts val="600"/>
              </a:spcAft>
              <a:buClr>
                <a:srgbClr val="28285E"/>
              </a:buClr>
              <a:buSzPts val="1260"/>
              <a:buFont typeface="Fira Sans"/>
              <a:buChar char="●"/>
            </a:pPr>
            <a:r>
              <a:rPr sz="1400" b="1" dirty="0">
                <a:solidFill>
                  <a:schemeClr val="tx1"/>
                </a:solidFill>
              </a:rPr>
              <a:t>Recovery. </a:t>
            </a:r>
            <a:r>
              <a:rPr sz="1400" dirty="0">
                <a:solidFill>
                  <a:schemeClr val="tx1"/>
                </a:solidFill>
              </a:rPr>
              <a:t>A search that returns nothing can be followed by a different one.</a:t>
            </a:r>
          </a:p>
        </p:txBody>
      </p:sp>
      <p:sp>
        <p:nvSpPr>
          <p:cNvPr id="4" name="Rectangle 3">
            <a:extLst>
              <a:ext uri="{FF2B5EF4-FFF2-40B4-BE49-F238E27FC236}">
                <a16:creationId xmlns:a16="http://schemas.microsoft.com/office/drawing/2014/main" id="{CD40CBCF-7A5E-EED3-33B8-2761EB412970}"/>
              </a:ext>
            </a:extLst>
          </p:cNvPr>
          <p:cNvSpPr/>
          <p:nvPr/>
        </p:nvSpPr>
        <p:spPr>
          <a:xfrm>
            <a:off x="319251" y="31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All three come from the same edge. </a:t>
            </a:r>
            <a:r>
              <a:rPr sz="1400" b="1">
                <a:solidFill>
                  <a:schemeClr val="tx2"/>
                </a:solidFill>
              </a:rPr>
              <a:t>A loop needs no new node, because the edge back is the node</a:t>
            </a:r>
            <a:r>
              <a:rPr sz="1400">
                <a:solidFill>
                  <a:schemeClr val="tx2"/>
                </a:solidFill>
              </a:rPr>
              <a:t>.</a:t>
            </a:r>
          </a:p>
        </p:txBody>
      </p:sp>
      <p:sp>
        <p:nvSpPr>
          <p:cNvPr id="5" name="Rectangle 4">
            <a:extLst>
              <a:ext uri="{FF2B5EF4-FFF2-40B4-BE49-F238E27FC236}">
                <a16:creationId xmlns:a16="http://schemas.microsoft.com/office/drawing/2014/main" id="{013D1798-DE13-1FF8-F24B-8433A8626273}"/>
              </a:ext>
            </a:extLst>
          </p:cNvPr>
          <p:cNvSpPr/>
          <p:nvPr/>
        </p:nvSpPr>
        <p:spPr>
          <a:xfrm>
            <a:off x="319251" y="39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chain carries a bad read all the way to the patch.</a:t>
            </a:r>
          </a:p>
        </p:txBody>
      </p:sp>
      <p:pic>
        <p:nvPicPr>
          <p:cNvPr id="6" name="Picture 5">
            <a:extLst>
              <a:ext uri="{FF2B5EF4-FFF2-40B4-BE49-F238E27FC236}">
                <a16:creationId xmlns:a16="http://schemas.microsoft.com/office/drawing/2014/main" id="{5BD4001A-1324-2AF3-1551-678287534904}"/>
              </a:ext>
            </a:extLst>
          </p:cNvPr>
          <p:cNvPicPr>
            <a:picLocks noChangeAspect="1"/>
          </p:cNvPicPr>
          <p:nvPr/>
        </p:nvPicPr>
        <p:blipFill>
          <a:blip r:embed="rId3"/>
          <a:stretch>
            <a:fillRect/>
          </a:stretch>
        </p:blipFill>
        <p:spPr>
          <a:xfrm>
            <a:off x="139700" y="2183732"/>
            <a:ext cx="6483684" cy="2610852"/>
          </a:xfrm>
          <a:prstGeom prst="rect">
            <a:avLst/>
          </a:prstGeom>
        </p:spPr>
      </p:pic>
    </p:spTree>
    <p:extLst>
      <p:ext uri="{BB962C8B-B14F-4D97-AF65-F5344CB8AC3E}">
        <p14:creationId xmlns:p14="http://schemas.microsoft.com/office/powerpoint/2010/main" val="208499496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B322C-DA6D-E820-8C22-1CAAE5779A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C4CE13-4300-C294-5F22-D7969F799478}"/>
              </a:ext>
            </a:extLst>
          </p:cNvPr>
          <p:cNvSpPr>
            <a:spLocks noGrp="1"/>
          </p:cNvSpPr>
          <p:nvPr>
            <p:ph type="title"/>
          </p:nvPr>
        </p:nvSpPr>
        <p:spPr/>
        <p:txBody>
          <a:bodyPr/>
          <a:lstStyle/>
          <a:p>
            <a:r>
              <a:t>What the loop buys</a:t>
            </a:r>
          </a:p>
        </p:txBody>
      </p:sp>
      <p:sp>
        <p:nvSpPr>
          <p:cNvPr id="3" name="Content Placeholder 2">
            <a:extLst>
              <a:ext uri="{FF2B5EF4-FFF2-40B4-BE49-F238E27FC236}">
                <a16:creationId xmlns:a16="http://schemas.microsoft.com/office/drawing/2014/main" id="{23BD1521-9935-1C8B-2A4B-D274AF6026DB}"/>
              </a:ext>
            </a:extLst>
          </p:cNvPr>
          <p:cNvSpPr>
            <a:spLocks noGrp="1"/>
          </p:cNvSpPr>
          <p:nvPr>
            <p:ph idx="1"/>
          </p:nvPr>
        </p:nvSpPr>
        <p:spPr>
          <a:xfrm>
            <a:off x="319251" y="700000"/>
            <a:ext cx="6014545" cy="2200000"/>
          </a:xfrm>
        </p:spPr>
        <p:txBody>
          <a:bodyPr wrap="square">
            <a:normAutofit fontScale="92500" lnSpcReduction="10000"/>
          </a:bodyPr>
          <a:lstStyle/>
          <a:p>
            <a:pPr marL="0" indent="0">
              <a:buNone/>
            </a:pPr>
            <a:r>
              <a:rPr sz="1400" b="1" dirty="0">
                <a:solidFill>
                  <a:srgbClr val="28285E"/>
                </a:solidFill>
              </a:rPr>
              <a:t>Three things come back for the decision</a:t>
            </a:r>
            <a:r>
              <a:rPr lang="en-US" sz="1400" b="1" dirty="0">
                <a:solidFill>
                  <a:srgbClr val="28285E"/>
                </a:solidFill>
              </a:rPr>
              <a:t>s </a:t>
            </a:r>
            <a:r>
              <a:rPr sz="1400" b="1" dirty="0">
                <a:solidFill>
                  <a:srgbClr val="28285E"/>
                </a:solidFill>
              </a:rPr>
              <a:t>we </a:t>
            </a:r>
            <a:r>
              <a:rPr lang="en-US" sz="1400" b="1" dirty="0">
                <a:solidFill>
                  <a:srgbClr val="28285E"/>
                </a:solidFill>
              </a:rPr>
              <a:t>relinquished</a:t>
            </a:r>
            <a:r>
              <a:rPr sz="1400" b="1" dirty="0">
                <a:solidFill>
                  <a:srgbClr val="28285E"/>
                </a:solidFill>
              </a:rPr>
              <a:t>:</a:t>
            </a:r>
            <a:r>
              <a:rPr lang="en-US" sz="1400" b="1" dirty="0">
                <a:solidFill>
                  <a:srgbClr val="28285E"/>
                </a:solidFill>
              </a:rPr>
              <a:t> </a:t>
            </a:r>
            <a:endParaRPr sz="1400" b="1" dirty="0">
              <a:solidFill>
                <a:srgbClr val="28285E"/>
              </a:solidFill>
            </a:endParaRPr>
          </a:p>
          <a:p>
            <a:pPr marL="400050" indent="-285750">
              <a:spcBef>
                <a:spcPts val="600"/>
              </a:spcBef>
              <a:spcAft>
                <a:spcPts val="600"/>
              </a:spcAft>
              <a:buClr>
                <a:srgbClr val="28285E"/>
              </a:buClr>
              <a:buSzPts val="1260"/>
              <a:buFont typeface="Fira Sans"/>
              <a:buChar char="●"/>
            </a:pPr>
            <a:r>
              <a:rPr sz="1400" b="1" dirty="0">
                <a:solidFill>
                  <a:schemeClr val="tx1"/>
                </a:solidFill>
              </a:rPr>
              <a:t>Reach. </a:t>
            </a:r>
            <a:r>
              <a:rPr sz="1400" dirty="0">
                <a:solidFill>
                  <a:schemeClr val="tx1"/>
                </a:solidFill>
              </a:rPr>
              <a:t>The agent can act to see: read the helper the flagged line names, then decide.</a:t>
            </a:r>
          </a:p>
          <a:p>
            <a:pPr marL="400050" indent="-285750">
              <a:spcBef>
                <a:spcPts val="600"/>
              </a:spcBef>
              <a:spcAft>
                <a:spcPts val="600"/>
              </a:spcAft>
              <a:buClr>
                <a:srgbClr val="28285E"/>
              </a:buClr>
              <a:buSzPts val="1260"/>
              <a:buFont typeface="Fira Sans"/>
              <a:buChar char="●"/>
            </a:pPr>
            <a:r>
              <a:rPr sz="1400" b="1" dirty="0">
                <a:solidFill>
                  <a:schemeClr val="tx1"/>
                </a:solidFill>
              </a:rPr>
              <a:t>Proportion. </a:t>
            </a:r>
            <a:r>
              <a:rPr sz="1400" dirty="0">
                <a:solidFill>
                  <a:schemeClr val="tx1"/>
                </a:solidFill>
              </a:rPr>
              <a:t>A two-line fix costs two or three turns. The chain pays one price for every alert.</a:t>
            </a:r>
          </a:p>
          <a:p>
            <a:pPr marL="400050" indent="-285750">
              <a:spcBef>
                <a:spcPts val="600"/>
              </a:spcBef>
              <a:spcAft>
                <a:spcPts val="600"/>
              </a:spcAft>
              <a:buClr>
                <a:srgbClr val="28285E"/>
              </a:buClr>
              <a:buSzPts val="1260"/>
              <a:buFont typeface="Fira Sans"/>
              <a:buChar char="●"/>
            </a:pPr>
            <a:r>
              <a:rPr sz="1400" b="1" dirty="0">
                <a:solidFill>
                  <a:schemeClr val="tx1"/>
                </a:solidFill>
              </a:rPr>
              <a:t>Recovery. </a:t>
            </a:r>
            <a:r>
              <a:rPr sz="1400" dirty="0">
                <a:solidFill>
                  <a:schemeClr val="tx1"/>
                </a:solidFill>
              </a:rPr>
              <a:t>A search that returns nothing can be followed by a different one.</a:t>
            </a:r>
          </a:p>
        </p:txBody>
      </p:sp>
      <p:sp>
        <p:nvSpPr>
          <p:cNvPr id="4" name="Rectangle 3">
            <a:extLst>
              <a:ext uri="{FF2B5EF4-FFF2-40B4-BE49-F238E27FC236}">
                <a16:creationId xmlns:a16="http://schemas.microsoft.com/office/drawing/2014/main" id="{0C175D55-F006-6DA1-2B86-636E6E115C94}"/>
              </a:ext>
            </a:extLst>
          </p:cNvPr>
          <p:cNvSpPr/>
          <p:nvPr/>
        </p:nvSpPr>
        <p:spPr>
          <a:xfrm>
            <a:off x="319251" y="31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All three come from the same edge. </a:t>
            </a:r>
            <a:r>
              <a:rPr sz="1400" b="1">
                <a:solidFill>
                  <a:schemeClr val="tx2"/>
                </a:solidFill>
              </a:rPr>
              <a:t>A loop needs no new node, because the edge back is the node</a:t>
            </a:r>
            <a:r>
              <a:rPr sz="1400">
                <a:solidFill>
                  <a:schemeClr val="tx2"/>
                </a:solidFill>
              </a:rPr>
              <a:t>.</a:t>
            </a:r>
          </a:p>
        </p:txBody>
      </p:sp>
      <p:sp>
        <p:nvSpPr>
          <p:cNvPr id="5" name="Rectangle 4">
            <a:extLst>
              <a:ext uri="{FF2B5EF4-FFF2-40B4-BE49-F238E27FC236}">
                <a16:creationId xmlns:a16="http://schemas.microsoft.com/office/drawing/2014/main" id="{DE416E34-FC69-E02A-9FB6-9E0E32D5C4A9}"/>
              </a:ext>
            </a:extLst>
          </p:cNvPr>
          <p:cNvSpPr/>
          <p:nvPr/>
        </p:nvSpPr>
        <p:spPr>
          <a:xfrm>
            <a:off x="319251" y="39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chain carries a bad read all the way to the patch.</a:t>
            </a:r>
          </a:p>
        </p:txBody>
      </p:sp>
      <p:pic>
        <p:nvPicPr>
          <p:cNvPr id="6" name="Picture 5">
            <a:extLst>
              <a:ext uri="{FF2B5EF4-FFF2-40B4-BE49-F238E27FC236}">
                <a16:creationId xmlns:a16="http://schemas.microsoft.com/office/drawing/2014/main" id="{BA2E77C2-08B4-E024-0560-980B9E19E54E}"/>
              </a:ext>
            </a:extLst>
          </p:cNvPr>
          <p:cNvPicPr>
            <a:picLocks noChangeAspect="1"/>
          </p:cNvPicPr>
          <p:nvPr/>
        </p:nvPicPr>
        <p:blipFill>
          <a:blip r:embed="rId3"/>
          <a:stretch>
            <a:fillRect/>
          </a:stretch>
        </p:blipFill>
        <p:spPr>
          <a:xfrm>
            <a:off x="139700" y="2761246"/>
            <a:ext cx="6483684" cy="2033337"/>
          </a:xfrm>
          <a:prstGeom prst="rect">
            <a:avLst/>
          </a:prstGeom>
        </p:spPr>
      </p:pic>
    </p:spTree>
    <p:extLst>
      <p:ext uri="{BB962C8B-B14F-4D97-AF65-F5344CB8AC3E}">
        <p14:creationId xmlns:p14="http://schemas.microsoft.com/office/powerpoint/2010/main" val="199610953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it costs</a:t>
            </a:r>
          </a:p>
        </p:txBody>
      </p:sp>
      <p:sp>
        <p:nvSpPr>
          <p:cNvPr id="3" name="Content Placeholder 2"/>
          <p:cNvSpPr>
            <a:spLocks noGrp="1"/>
          </p:cNvSpPr>
          <p:nvPr>
            <p:ph idx="1"/>
          </p:nvPr>
        </p:nvSpPr>
        <p:spPr>
          <a:xfrm>
            <a:off x="319251" y="700000"/>
            <a:ext cx="6014545" cy="2200000"/>
          </a:xfrm>
        </p:spPr>
        <p:txBody>
          <a:bodyPr wrap="square">
            <a:normAutofit fontScale="92500" lnSpcReduction="10000"/>
          </a:bodyPr>
          <a:lstStyle/>
          <a:p>
            <a:pPr marL="0" indent="0">
              <a:buNone/>
            </a:pPr>
            <a:r>
              <a:rPr sz="1400" b="1">
                <a:solidFill>
                  <a:srgbClr val="28285E"/>
                </a:solidFill>
              </a:rPr>
              <a:t>The three guarantees of the fixed shape go, and they go together:</a:t>
            </a:r>
          </a:p>
          <a:p>
            <a:pPr marL="400050" indent="-285750">
              <a:spcBef>
                <a:spcPts val="600"/>
              </a:spcBef>
              <a:spcAft>
                <a:spcPts val="600"/>
              </a:spcAft>
              <a:buClr>
                <a:srgbClr val="28285E"/>
              </a:buClr>
              <a:buSzPts val="1260"/>
              <a:buFont typeface="Fira Sans"/>
              <a:buChar char="●"/>
            </a:pPr>
            <a:r>
              <a:rPr sz="1400" b="1">
                <a:solidFill>
                  <a:schemeClr val="tx1"/>
                </a:solidFill>
              </a:rPr>
              <a:t>Shape. </a:t>
            </a:r>
            <a:r>
              <a:rPr sz="1400">
                <a:solidFill>
                  <a:schemeClr val="tx1"/>
                </a:solidFill>
              </a:rPr>
              <a:t>We cannot price a run before it starts. The budget is a worst case, not an estimate.</a:t>
            </a:r>
          </a:p>
          <a:p>
            <a:pPr marL="400050" indent="-285750">
              <a:spcBef>
                <a:spcPts val="600"/>
              </a:spcBef>
              <a:spcAft>
                <a:spcPts val="600"/>
              </a:spcAft>
              <a:buClr>
                <a:srgbClr val="28285E"/>
              </a:buClr>
              <a:buSzPts val="1260"/>
              <a:buFont typeface="Fira Sans"/>
              <a:buChar char="●"/>
            </a:pPr>
            <a:r>
              <a:rPr sz="1400" b="1">
                <a:solidFill>
                  <a:schemeClr val="tx1"/>
                </a:solidFill>
              </a:rPr>
              <a:t>Address. </a:t>
            </a:r>
            <a:r>
              <a:rPr sz="1400">
                <a:solidFill>
                  <a:schemeClr val="tx1"/>
                </a:solidFill>
              </a:rPr>
              <a:t>A failure is spread over turns, each of which looks reasonable on its own.</a:t>
            </a:r>
          </a:p>
          <a:p>
            <a:pPr marL="400050" indent="-285750">
              <a:spcBef>
                <a:spcPts val="600"/>
              </a:spcBef>
              <a:spcAft>
                <a:spcPts val="600"/>
              </a:spcAft>
              <a:buClr>
                <a:srgbClr val="28285E"/>
              </a:buClr>
              <a:buSzPts val="1260"/>
              <a:buFont typeface="Fira Sans"/>
              <a:buChar char="●"/>
            </a:pPr>
            <a:r>
              <a:rPr sz="1400" b="1">
                <a:solidFill>
                  <a:schemeClr val="tx1"/>
                </a:solidFill>
              </a:rPr>
              <a:t>Termination. </a:t>
            </a:r>
            <a:r>
              <a:rPr sz="1400">
                <a:solidFill>
                  <a:schemeClr val="tx1"/>
                </a:solidFill>
              </a:rPr>
              <a:t>The run stops because we made it stop, and stopping is not finishing.</a:t>
            </a:r>
          </a:p>
        </p:txBody>
      </p:sp>
      <p:sp>
        <p:nvSpPr>
          <p:cNvPr id="4" name="Rectangle 3"/>
          <p:cNvSpPr/>
          <p:nvPr/>
        </p:nvSpPr>
        <p:spPr>
          <a:xfrm>
            <a:off x="319251" y="31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loop has no measure of progress. </a:t>
            </a:r>
            <a:r>
              <a:rPr sz="1400" b="1">
                <a:solidFill>
                  <a:schemeClr val="tx2"/>
                </a:solidFill>
              </a:rPr>
              <a:t>It counts turns, because turns are all it can count</a:t>
            </a:r>
            <a:r>
              <a:rPr sz="1400">
                <a:solidFill>
                  <a:schemeClr val="tx2"/>
                </a:solidFill>
              </a:rPr>
              <a:t>.</a:t>
            </a:r>
          </a:p>
        </p:txBody>
      </p:sp>
      <p:sp>
        <p:nvSpPr>
          <p:cNvPr id="5" name="Rectangle 4"/>
          <p:cNvSpPr/>
          <p:nvPr/>
        </p:nvSpPr>
        <p:spPr>
          <a:xfrm>
            <a:off x="319251" y="39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run that hits the budget has paid for every call and has no patch to show.</a:t>
            </a:r>
            <a:r>
              <a:rPr sz="1200" b="1">
                <a:solidFill>
                  <a:srgbClr val="C73561"/>
                </a:solidFill>
              </a:rPr>
              <a:t>  (a plan gives it something to aim at)</a:t>
            </a:r>
          </a:p>
        </p:txBody>
      </p:sp>
      <p:pic>
        <p:nvPicPr>
          <p:cNvPr id="6" name="Picture 5">
            <a:extLst>
              <a:ext uri="{FF2B5EF4-FFF2-40B4-BE49-F238E27FC236}">
                <a16:creationId xmlns:a16="http://schemas.microsoft.com/office/drawing/2014/main" id="{D6861D24-697F-60B4-6E97-56DA084D9000}"/>
              </a:ext>
            </a:extLst>
          </p:cNvPr>
          <p:cNvPicPr>
            <a:picLocks noChangeAspect="1"/>
          </p:cNvPicPr>
          <p:nvPr/>
        </p:nvPicPr>
        <p:blipFill>
          <a:blip r:embed="rId3"/>
          <a:stretch>
            <a:fillRect/>
          </a:stretch>
        </p:blipFill>
        <p:spPr>
          <a:xfrm>
            <a:off x="139700" y="1546058"/>
            <a:ext cx="6483684" cy="3248526"/>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D55B1-12A1-7FBD-4046-D134CF6698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E9AAB0-800B-5F3B-2754-E638993B1BFA}"/>
              </a:ext>
            </a:extLst>
          </p:cNvPr>
          <p:cNvSpPr>
            <a:spLocks noGrp="1"/>
          </p:cNvSpPr>
          <p:nvPr>
            <p:ph type="title"/>
          </p:nvPr>
        </p:nvSpPr>
        <p:spPr/>
        <p:txBody>
          <a:bodyPr/>
          <a:lstStyle/>
          <a:p>
            <a:r>
              <a:t>What it costs</a:t>
            </a:r>
          </a:p>
        </p:txBody>
      </p:sp>
      <p:sp>
        <p:nvSpPr>
          <p:cNvPr id="3" name="Content Placeholder 2">
            <a:extLst>
              <a:ext uri="{FF2B5EF4-FFF2-40B4-BE49-F238E27FC236}">
                <a16:creationId xmlns:a16="http://schemas.microsoft.com/office/drawing/2014/main" id="{7D3310FC-FB44-EDDE-2276-3C1B2744D975}"/>
              </a:ext>
            </a:extLst>
          </p:cNvPr>
          <p:cNvSpPr>
            <a:spLocks noGrp="1"/>
          </p:cNvSpPr>
          <p:nvPr>
            <p:ph idx="1"/>
          </p:nvPr>
        </p:nvSpPr>
        <p:spPr>
          <a:xfrm>
            <a:off x="319251" y="700000"/>
            <a:ext cx="6014545" cy="2200000"/>
          </a:xfrm>
        </p:spPr>
        <p:txBody>
          <a:bodyPr wrap="square">
            <a:normAutofit fontScale="92500" lnSpcReduction="10000"/>
          </a:bodyPr>
          <a:lstStyle/>
          <a:p>
            <a:pPr marL="0" indent="0">
              <a:buNone/>
            </a:pPr>
            <a:r>
              <a:rPr sz="1400" b="1">
                <a:solidFill>
                  <a:srgbClr val="28285E"/>
                </a:solidFill>
              </a:rPr>
              <a:t>The three guarantees of the fixed shape go, and they go together:</a:t>
            </a:r>
          </a:p>
          <a:p>
            <a:pPr marL="400050" indent="-285750">
              <a:spcBef>
                <a:spcPts val="600"/>
              </a:spcBef>
              <a:spcAft>
                <a:spcPts val="600"/>
              </a:spcAft>
              <a:buClr>
                <a:srgbClr val="28285E"/>
              </a:buClr>
              <a:buSzPts val="1260"/>
              <a:buFont typeface="Fira Sans"/>
              <a:buChar char="●"/>
            </a:pPr>
            <a:r>
              <a:rPr sz="1400" b="1">
                <a:solidFill>
                  <a:schemeClr val="tx1"/>
                </a:solidFill>
              </a:rPr>
              <a:t>Shape. </a:t>
            </a:r>
            <a:r>
              <a:rPr sz="1400">
                <a:solidFill>
                  <a:schemeClr val="tx1"/>
                </a:solidFill>
              </a:rPr>
              <a:t>We cannot price a run before it starts. The budget is a worst case, not an estimate.</a:t>
            </a:r>
          </a:p>
          <a:p>
            <a:pPr marL="400050" indent="-285750">
              <a:spcBef>
                <a:spcPts val="600"/>
              </a:spcBef>
              <a:spcAft>
                <a:spcPts val="600"/>
              </a:spcAft>
              <a:buClr>
                <a:srgbClr val="28285E"/>
              </a:buClr>
              <a:buSzPts val="1260"/>
              <a:buFont typeface="Fira Sans"/>
              <a:buChar char="●"/>
            </a:pPr>
            <a:r>
              <a:rPr sz="1400" b="1">
                <a:solidFill>
                  <a:schemeClr val="tx1"/>
                </a:solidFill>
              </a:rPr>
              <a:t>Address. </a:t>
            </a:r>
            <a:r>
              <a:rPr sz="1400">
                <a:solidFill>
                  <a:schemeClr val="tx1"/>
                </a:solidFill>
              </a:rPr>
              <a:t>A failure is spread over turns, each of which looks reasonable on its own.</a:t>
            </a:r>
          </a:p>
          <a:p>
            <a:pPr marL="400050" indent="-285750">
              <a:spcBef>
                <a:spcPts val="600"/>
              </a:spcBef>
              <a:spcAft>
                <a:spcPts val="600"/>
              </a:spcAft>
              <a:buClr>
                <a:srgbClr val="28285E"/>
              </a:buClr>
              <a:buSzPts val="1260"/>
              <a:buFont typeface="Fira Sans"/>
              <a:buChar char="●"/>
            </a:pPr>
            <a:r>
              <a:rPr sz="1400" b="1">
                <a:solidFill>
                  <a:schemeClr val="tx1"/>
                </a:solidFill>
              </a:rPr>
              <a:t>Termination. </a:t>
            </a:r>
            <a:r>
              <a:rPr sz="1400">
                <a:solidFill>
                  <a:schemeClr val="tx1"/>
                </a:solidFill>
              </a:rPr>
              <a:t>The run stops because we made it stop, and stopping is not finishing.</a:t>
            </a:r>
          </a:p>
        </p:txBody>
      </p:sp>
      <p:sp>
        <p:nvSpPr>
          <p:cNvPr id="4" name="Rectangle 3">
            <a:extLst>
              <a:ext uri="{FF2B5EF4-FFF2-40B4-BE49-F238E27FC236}">
                <a16:creationId xmlns:a16="http://schemas.microsoft.com/office/drawing/2014/main" id="{9CD17CDA-1A6C-E31A-688D-492584E3292A}"/>
              </a:ext>
            </a:extLst>
          </p:cNvPr>
          <p:cNvSpPr/>
          <p:nvPr/>
        </p:nvSpPr>
        <p:spPr>
          <a:xfrm>
            <a:off x="319251" y="31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loop has no measure of progress. </a:t>
            </a:r>
            <a:r>
              <a:rPr sz="1400" b="1">
                <a:solidFill>
                  <a:schemeClr val="tx2"/>
                </a:solidFill>
              </a:rPr>
              <a:t>It counts turns, because turns are all it can count</a:t>
            </a:r>
            <a:r>
              <a:rPr sz="1400">
                <a:solidFill>
                  <a:schemeClr val="tx2"/>
                </a:solidFill>
              </a:rPr>
              <a:t>.</a:t>
            </a:r>
          </a:p>
        </p:txBody>
      </p:sp>
      <p:sp>
        <p:nvSpPr>
          <p:cNvPr id="5" name="Rectangle 4">
            <a:extLst>
              <a:ext uri="{FF2B5EF4-FFF2-40B4-BE49-F238E27FC236}">
                <a16:creationId xmlns:a16="http://schemas.microsoft.com/office/drawing/2014/main" id="{36BBB442-8DAD-D952-43A3-1E37917DA7D3}"/>
              </a:ext>
            </a:extLst>
          </p:cNvPr>
          <p:cNvSpPr/>
          <p:nvPr/>
        </p:nvSpPr>
        <p:spPr>
          <a:xfrm>
            <a:off x="319251" y="39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run that hits the budget has paid for every call and has no patch to show.</a:t>
            </a:r>
            <a:r>
              <a:rPr sz="1200" b="1">
                <a:solidFill>
                  <a:srgbClr val="C73561"/>
                </a:solidFill>
              </a:rPr>
              <a:t>  (a plan gives it something to aim at)</a:t>
            </a:r>
          </a:p>
        </p:txBody>
      </p:sp>
      <p:pic>
        <p:nvPicPr>
          <p:cNvPr id="6" name="Picture 5">
            <a:extLst>
              <a:ext uri="{FF2B5EF4-FFF2-40B4-BE49-F238E27FC236}">
                <a16:creationId xmlns:a16="http://schemas.microsoft.com/office/drawing/2014/main" id="{7FD1F795-FCBB-26DD-269B-A828060EB6ED}"/>
              </a:ext>
            </a:extLst>
          </p:cNvPr>
          <p:cNvPicPr>
            <a:picLocks noChangeAspect="1"/>
          </p:cNvPicPr>
          <p:nvPr/>
        </p:nvPicPr>
        <p:blipFill>
          <a:blip r:embed="rId3"/>
          <a:stretch>
            <a:fillRect/>
          </a:stretch>
        </p:blipFill>
        <p:spPr>
          <a:xfrm>
            <a:off x="139700" y="2087478"/>
            <a:ext cx="6483684" cy="2707105"/>
          </a:xfrm>
          <a:prstGeom prst="rect">
            <a:avLst/>
          </a:prstGeom>
        </p:spPr>
      </p:pic>
    </p:spTree>
    <p:extLst>
      <p:ext uri="{BB962C8B-B14F-4D97-AF65-F5344CB8AC3E}">
        <p14:creationId xmlns:p14="http://schemas.microsoft.com/office/powerpoint/2010/main" val="142634053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E0885-3A70-CDA5-804A-75018C324B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E40C3F-33BF-4952-2AB4-66382F222D7F}"/>
              </a:ext>
            </a:extLst>
          </p:cNvPr>
          <p:cNvSpPr>
            <a:spLocks noGrp="1"/>
          </p:cNvSpPr>
          <p:nvPr>
            <p:ph type="title"/>
          </p:nvPr>
        </p:nvSpPr>
        <p:spPr/>
        <p:txBody>
          <a:bodyPr/>
          <a:lstStyle/>
          <a:p>
            <a:r>
              <a:t>What it costs</a:t>
            </a:r>
          </a:p>
        </p:txBody>
      </p:sp>
      <p:sp>
        <p:nvSpPr>
          <p:cNvPr id="3" name="Content Placeholder 2">
            <a:extLst>
              <a:ext uri="{FF2B5EF4-FFF2-40B4-BE49-F238E27FC236}">
                <a16:creationId xmlns:a16="http://schemas.microsoft.com/office/drawing/2014/main" id="{FB92D66C-A958-E549-0597-AB7A8145F438}"/>
              </a:ext>
            </a:extLst>
          </p:cNvPr>
          <p:cNvSpPr>
            <a:spLocks noGrp="1"/>
          </p:cNvSpPr>
          <p:nvPr>
            <p:ph idx="1"/>
          </p:nvPr>
        </p:nvSpPr>
        <p:spPr>
          <a:xfrm>
            <a:off x="319251" y="700000"/>
            <a:ext cx="6014545" cy="2200000"/>
          </a:xfrm>
        </p:spPr>
        <p:txBody>
          <a:bodyPr wrap="square">
            <a:normAutofit fontScale="92500" lnSpcReduction="10000"/>
          </a:bodyPr>
          <a:lstStyle/>
          <a:p>
            <a:pPr marL="0" indent="0">
              <a:buNone/>
            </a:pPr>
            <a:r>
              <a:rPr sz="1400" b="1">
                <a:solidFill>
                  <a:srgbClr val="28285E"/>
                </a:solidFill>
              </a:rPr>
              <a:t>The three guarantees of the fixed shape go, and they go together:</a:t>
            </a:r>
          </a:p>
          <a:p>
            <a:pPr marL="400050" indent="-285750">
              <a:spcBef>
                <a:spcPts val="600"/>
              </a:spcBef>
              <a:spcAft>
                <a:spcPts val="600"/>
              </a:spcAft>
              <a:buClr>
                <a:srgbClr val="28285E"/>
              </a:buClr>
              <a:buSzPts val="1260"/>
              <a:buFont typeface="Fira Sans"/>
              <a:buChar char="●"/>
            </a:pPr>
            <a:r>
              <a:rPr sz="1400" b="1">
                <a:solidFill>
                  <a:schemeClr val="tx1"/>
                </a:solidFill>
              </a:rPr>
              <a:t>Shape. </a:t>
            </a:r>
            <a:r>
              <a:rPr sz="1400">
                <a:solidFill>
                  <a:schemeClr val="tx1"/>
                </a:solidFill>
              </a:rPr>
              <a:t>We cannot price a run before it starts. The budget is a worst case, not an estimate.</a:t>
            </a:r>
          </a:p>
          <a:p>
            <a:pPr marL="400050" indent="-285750">
              <a:spcBef>
                <a:spcPts val="600"/>
              </a:spcBef>
              <a:spcAft>
                <a:spcPts val="600"/>
              </a:spcAft>
              <a:buClr>
                <a:srgbClr val="28285E"/>
              </a:buClr>
              <a:buSzPts val="1260"/>
              <a:buFont typeface="Fira Sans"/>
              <a:buChar char="●"/>
            </a:pPr>
            <a:r>
              <a:rPr sz="1400" b="1">
                <a:solidFill>
                  <a:schemeClr val="tx1"/>
                </a:solidFill>
              </a:rPr>
              <a:t>Address. </a:t>
            </a:r>
            <a:r>
              <a:rPr sz="1400">
                <a:solidFill>
                  <a:schemeClr val="tx1"/>
                </a:solidFill>
              </a:rPr>
              <a:t>A failure is spread over turns, each of which looks reasonable on its own.</a:t>
            </a:r>
          </a:p>
          <a:p>
            <a:pPr marL="400050" indent="-285750">
              <a:spcBef>
                <a:spcPts val="600"/>
              </a:spcBef>
              <a:spcAft>
                <a:spcPts val="600"/>
              </a:spcAft>
              <a:buClr>
                <a:srgbClr val="28285E"/>
              </a:buClr>
              <a:buSzPts val="1260"/>
              <a:buFont typeface="Fira Sans"/>
              <a:buChar char="●"/>
            </a:pPr>
            <a:r>
              <a:rPr sz="1400" b="1">
                <a:solidFill>
                  <a:schemeClr val="tx1"/>
                </a:solidFill>
              </a:rPr>
              <a:t>Termination. </a:t>
            </a:r>
            <a:r>
              <a:rPr sz="1400">
                <a:solidFill>
                  <a:schemeClr val="tx1"/>
                </a:solidFill>
              </a:rPr>
              <a:t>The run stops because we made it stop, and stopping is not finishing.</a:t>
            </a:r>
          </a:p>
        </p:txBody>
      </p:sp>
      <p:sp>
        <p:nvSpPr>
          <p:cNvPr id="4" name="Rectangle 3">
            <a:extLst>
              <a:ext uri="{FF2B5EF4-FFF2-40B4-BE49-F238E27FC236}">
                <a16:creationId xmlns:a16="http://schemas.microsoft.com/office/drawing/2014/main" id="{B70996EB-B607-C24B-95F2-D75766C14EF8}"/>
              </a:ext>
            </a:extLst>
          </p:cNvPr>
          <p:cNvSpPr/>
          <p:nvPr/>
        </p:nvSpPr>
        <p:spPr>
          <a:xfrm>
            <a:off x="319251" y="31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loop has no measure of progress. </a:t>
            </a:r>
            <a:r>
              <a:rPr sz="1400" b="1">
                <a:solidFill>
                  <a:schemeClr val="tx2"/>
                </a:solidFill>
              </a:rPr>
              <a:t>It counts turns, because turns are all it can count</a:t>
            </a:r>
            <a:r>
              <a:rPr sz="1400">
                <a:solidFill>
                  <a:schemeClr val="tx2"/>
                </a:solidFill>
              </a:rPr>
              <a:t>.</a:t>
            </a:r>
          </a:p>
        </p:txBody>
      </p:sp>
      <p:sp>
        <p:nvSpPr>
          <p:cNvPr id="5" name="Rectangle 4">
            <a:extLst>
              <a:ext uri="{FF2B5EF4-FFF2-40B4-BE49-F238E27FC236}">
                <a16:creationId xmlns:a16="http://schemas.microsoft.com/office/drawing/2014/main" id="{51D54DDC-F27E-7809-FE1F-93C53A81110D}"/>
              </a:ext>
            </a:extLst>
          </p:cNvPr>
          <p:cNvSpPr/>
          <p:nvPr/>
        </p:nvSpPr>
        <p:spPr>
          <a:xfrm>
            <a:off x="319251" y="39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run that hits the budget has paid for every call and has no patch to show.</a:t>
            </a:r>
            <a:r>
              <a:rPr sz="1200" b="1">
                <a:solidFill>
                  <a:srgbClr val="C73561"/>
                </a:solidFill>
              </a:rPr>
              <a:t>  (a plan gives it something to aim at)</a:t>
            </a:r>
          </a:p>
        </p:txBody>
      </p:sp>
      <p:pic>
        <p:nvPicPr>
          <p:cNvPr id="6" name="Picture 5">
            <a:extLst>
              <a:ext uri="{FF2B5EF4-FFF2-40B4-BE49-F238E27FC236}">
                <a16:creationId xmlns:a16="http://schemas.microsoft.com/office/drawing/2014/main" id="{6AC4E2AB-09C8-1AF1-CB47-5A318FE15575}"/>
              </a:ext>
            </a:extLst>
          </p:cNvPr>
          <p:cNvPicPr>
            <a:picLocks noChangeAspect="1"/>
          </p:cNvPicPr>
          <p:nvPr/>
        </p:nvPicPr>
        <p:blipFill>
          <a:blip r:embed="rId3"/>
          <a:stretch>
            <a:fillRect/>
          </a:stretch>
        </p:blipFill>
        <p:spPr>
          <a:xfrm>
            <a:off x="139700" y="2839452"/>
            <a:ext cx="6483684" cy="1955131"/>
          </a:xfrm>
          <a:prstGeom prst="rect">
            <a:avLst/>
          </a:prstGeom>
        </p:spPr>
      </p:pic>
    </p:spTree>
    <p:extLst>
      <p:ext uri="{BB962C8B-B14F-4D97-AF65-F5344CB8AC3E}">
        <p14:creationId xmlns:p14="http://schemas.microsoft.com/office/powerpoint/2010/main" val="222422848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FA46C-7A19-CF46-0A16-F691B5464D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35104A-E7AB-DA2A-C5AE-64B50E7536E0}"/>
              </a:ext>
            </a:extLst>
          </p:cNvPr>
          <p:cNvSpPr>
            <a:spLocks noGrp="1"/>
          </p:cNvSpPr>
          <p:nvPr>
            <p:ph type="title"/>
          </p:nvPr>
        </p:nvSpPr>
        <p:spPr/>
        <p:txBody>
          <a:bodyPr/>
          <a:lstStyle/>
          <a:p>
            <a:r>
              <a:t>What it costs</a:t>
            </a:r>
          </a:p>
        </p:txBody>
      </p:sp>
      <p:sp>
        <p:nvSpPr>
          <p:cNvPr id="3" name="Content Placeholder 2">
            <a:extLst>
              <a:ext uri="{FF2B5EF4-FFF2-40B4-BE49-F238E27FC236}">
                <a16:creationId xmlns:a16="http://schemas.microsoft.com/office/drawing/2014/main" id="{36C5CEA9-66CA-2EE0-5DD5-E4A8B9BC3FCC}"/>
              </a:ext>
            </a:extLst>
          </p:cNvPr>
          <p:cNvSpPr>
            <a:spLocks noGrp="1"/>
          </p:cNvSpPr>
          <p:nvPr>
            <p:ph idx="1"/>
          </p:nvPr>
        </p:nvSpPr>
        <p:spPr>
          <a:xfrm>
            <a:off x="319251" y="700000"/>
            <a:ext cx="6014545" cy="2200000"/>
          </a:xfrm>
        </p:spPr>
        <p:txBody>
          <a:bodyPr wrap="square">
            <a:normAutofit fontScale="92500" lnSpcReduction="10000"/>
          </a:bodyPr>
          <a:lstStyle/>
          <a:p>
            <a:pPr marL="0" indent="0">
              <a:buNone/>
            </a:pPr>
            <a:r>
              <a:rPr sz="1400" b="1">
                <a:solidFill>
                  <a:srgbClr val="28285E"/>
                </a:solidFill>
              </a:rPr>
              <a:t>The three guarantees of the fixed shape go, and they go together:</a:t>
            </a:r>
          </a:p>
          <a:p>
            <a:pPr marL="400050" indent="-285750">
              <a:spcBef>
                <a:spcPts val="600"/>
              </a:spcBef>
              <a:spcAft>
                <a:spcPts val="600"/>
              </a:spcAft>
              <a:buClr>
                <a:srgbClr val="28285E"/>
              </a:buClr>
              <a:buSzPts val="1260"/>
              <a:buFont typeface="Fira Sans"/>
              <a:buChar char="●"/>
            </a:pPr>
            <a:r>
              <a:rPr sz="1400" b="1">
                <a:solidFill>
                  <a:schemeClr val="tx1"/>
                </a:solidFill>
              </a:rPr>
              <a:t>Shape. </a:t>
            </a:r>
            <a:r>
              <a:rPr sz="1400">
                <a:solidFill>
                  <a:schemeClr val="tx1"/>
                </a:solidFill>
              </a:rPr>
              <a:t>We cannot price a run before it starts. The budget is a worst case, not an estimate.</a:t>
            </a:r>
          </a:p>
          <a:p>
            <a:pPr marL="400050" indent="-285750">
              <a:spcBef>
                <a:spcPts val="600"/>
              </a:spcBef>
              <a:spcAft>
                <a:spcPts val="600"/>
              </a:spcAft>
              <a:buClr>
                <a:srgbClr val="28285E"/>
              </a:buClr>
              <a:buSzPts val="1260"/>
              <a:buFont typeface="Fira Sans"/>
              <a:buChar char="●"/>
            </a:pPr>
            <a:r>
              <a:rPr sz="1400" b="1">
                <a:solidFill>
                  <a:schemeClr val="tx1"/>
                </a:solidFill>
              </a:rPr>
              <a:t>Address. </a:t>
            </a:r>
            <a:r>
              <a:rPr sz="1400">
                <a:solidFill>
                  <a:schemeClr val="tx1"/>
                </a:solidFill>
              </a:rPr>
              <a:t>A failure is spread over turns, each of which looks reasonable on its own.</a:t>
            </a:r>
          </a:p>
          <a:p>
            <a:pPr marL="400050" indent="-285750">
              <a:spcBef>
                <a:spcPts val="600"/>
              </a:spcBef>
              <a:spcAft>
                <a:spcPts val="600"/>
              </a:spcAft>
              <a:buClr>
                <a:srgbClr val="28285E"/>
              </a:buClr>
              <a:buSzPts val="1260"/>
              <a:buFont typeface="Fira Sans"/>
              <a:buChar char="●"/>
            </a:pPr>
            <a:r>
              <a:rPr sz="1400" b="1">
                <a:solidFill>
                  <a:schemeClr val="tx1"/>
                </a:solidFill>
              </a:rPr>
              <a:t>Termination. </a:t>
            </a:r>
            <a:r>
              <a:rPr sz="1400">
                <a:solidFill>
                  <a:schemeClr val="tx1"/>
                </a:solidFill>
              </a:rPr>
              <a:t>The run stops because we made it stop, and stopping is not finishing.</a:t>
            </a:r>
          </a:p>
        </p:txBody>
      </p:sp>
      <p:sp>
        <p:nvSpPr>
          <p:cNvPr id="4" name="Rectangle 3">
            <a:extLst>
              <a:ext uri="{FF2B5EF4-FFF2-40B4-BE49-F238E27FC236}">
                <a16:creationId xmlns:a16="http://schemas.microsoft.com/office/drawing/2014/main" id="{C54CF42B-2A9C-D3BB-0C23-1084F6306E10}"/>
              </a:ext>
            </a:extLst>
          </p:cNvPr>
          <p:cNvSpPr/>
          <p:nvPr/>
        </p:nvSpPr>
        <p:spPr>
          <a:xfrm>
            <a:off x="319251" y="31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loop has no measure of progress. </a:t>
            </a:r>
            <a:r>
              <a:rPr sz="1400" b="1">
                <a:solidFill>
                  <a:schemeClr val="tx2"/>
                </a:solidFill>
              </a:rPr>
              <a:t>It counts turns, because turns are all it can count</a:t>
            </a:r>
            <a:r>
              <a:rPr sz="1400">
                <a:solidFill>
                  <a:schemeClr val="tx2"/>
                </a:solidFill>
              </a:rPr>
              <a:t>.</a:t>
            </a:r>
          </a:p>
        </p:txBody>
      </p:sp>
      <p:sp>
        <p:nvSpPr>
          <p:cNvPr id="5" name="Rectangle 4">
            <a:extLst>
              <a:ext uri="{FF2B5EF4-FFF2-40B4-BE49-F238E27FC236}">
                <a16:creationId xmlns:a16="http://schemas.microsoft.com/office/drawing/2014/main" id="{60A6B65C-1014-E974-D6F0-60C55829A3A7}"/>
              </a:ext>
            </a:extLst>
          </p:cNvPr>
          <p:cNvSpPr/>
          <p:nvPr/>
        </p:nvSpPr>
        <p:spPr>
          <a:xfrm>
            <a:off x="319251" y="39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run that hits the budget has paid for every call and has no patch to show.</a:t>
            </a:r>
            <a:r>
              <a:rPr sz="1200" b="1">
                <a:solidFill>
                  <a:srgbClr val="C73561"/>
                </a:solidFill>
              </a:rPr>
              <a:t>  (a plan gives it something to aim at)</a:t>
            </a:r>
          </a:p>
        </p:txBody>
      </p:sp>
    </p:spTree>
    <p:extLst>
      <p:ext uri="{BB962C8B-B14F-4D97-AF65-F5344CB8AC3E}">
        <p14:creationId xmlns:p14="http://schemas.microsoft.com/office/powerpoint/2010/main" val="183705526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Where the failures live</a:t>
            </a:r>
          </a:p>
        </p:txBody>
      </p:sp>
      <p:graphicFrame>
        <p:nvGraphicFramePr>
          <p:cNvPr id="3" name="Table 2"/>
          <p:cNvGraphicFramePr>
            <a:graphicFrameLocks noGrp="1"/>
          </p:cNvGraphicFramePr>
          <p:nvPr/>
        </p:nvGraphicFramePr>
        <p:xfrm>
          <a:off x="319251" y="1250000"/>
          <a:ext cx="6014545" cy="1256310"/>
        </p:xfrm>
        <a:graphic>
          <a:graphicData uri="http://schemas.openxmlformats.org/drawingml/2006/table">
            <a:tbl>
              <a:tblPr>
                <a:tableStyleId>{2D5ABB26-0587-4C30-8999-92F81FD0307C}</a:tableStyleId>
              </a:tblPr>
              <a:tblGrid>
                <a:gridCol w="1750000">
                  <a:extLst>
                    <a:ext uri="{9D8B030D-6E8A-4147-A177-3AD203B41FA5}">
                      <a16:colId xmlns:a16="http://schemas.microsoft.com/office/drawing/2014/main" val="20000"/>
                    </a:ext>
                  </a:extLst>
                </a:gridCol>
                <a:gridCol w="1450000">
                  <a:extLst>
                    <a:ext uri="{9D8B030D-6E8A-4147-A177-3AD203B41FA5}">
                      <a16:colId xmlns:a16="http://schemas.microsoft.com/office/drawing/2014/main" val="20001"/>
                    </a:ext>
                  </a:extLst>
                </a:gridCol>
                <a:gridCol w="1914545">
                  <a:extLst>
                    <a:ext uri="{9D8B030D-6E8A-4147-A177-3AD203B41FA5}">
                      <a16:colId xmlns:a16="http://schemas.microsoft.com/office/drawing/2014/main" val="20002"/>
                    </a:ext>
                  </a:extLst>
                </a:gridCol>
                <a:gridCol w="900000">
                  <a:extLst>
                    <a:ext uri="{9D8B030D-6E8A-4147-A177-3AD203B41FA5}">
                      <a16:colId xmlns:a16="http://schemas.microsoft.com/office/drawing/2014/main" val="20003"/>
                    </a:ext>
                  </a:extLst>
                </a:gridCol>
              </a:tblGrid>
              <a:tr h="300000">
                <a:tc>
                  <a:txBody>
                    <a:bodyPr/>
                    <a:lstStyle/>
                    <a:p>
                      <a:pPr algn="l">
                        <a:buNone/>
                      </a:pPr>
                      <a:r>
                        <a:rPr sz="1100" b="1">
                          <a:solidFill>
                            <a:schemeClr val="tx1"/>
                          </a:solidFill>
                        </a:rPr>
                        <a:t>Tool</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Architecture</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Where the failure appears</a:t>
                      </a:r>
                    </a:p>
                  </a:txBody>
                  <a:tcPr marL="95250" marR="95250" marT="47625" marB="47625">
                    <a:lnB w="12700" cap="flat" cmpd="sng" algn="ctr">
                      <a:solidFill>
                        <a:schemeClr val="tx1"/>
                      </a:solidFill>
                    </a:lnB>
                    <a:noFill/>
                  </a:tcPr>
                </a:tc>
                <a:tc>
                  <a:txBody>
                    <a:bodyPr/>
                    <a:lstStyle/>
                    <a:p>
                      <a:pPr algn="r">
                        <a:buNone/>
                      </a:pPr>
                      <a:r>
                        <a:rPr sz="1100" b="1">
                          <a:solidFill>
                            <a:schemeClr val="tx1"/>
                          </a:solidFill>
                        </a:rPr>
                        <a:t>Share</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100" b="1">
                          <a:solidFill>
                            <a:srgbClr val="28285E"/>
                          </a:solidFill>
                        </a:rPr>
                        <a:t>Agentless-1.5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Fixed workflow</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Localization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r">
                        <a:buNone/>
                      </a:pPr>
                      <a:r>
                        <a:rPr sz="1100">
                          <a:solidFill>
                            <a:schemeClr val="tx1"/>
                          </a:solidFill>
                        </a:rPr>
                        <a:t>51.3%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100" b="1">
                          <a:solidFill>
                            <a:srgbClr val="28285E"/>
                          </a:solidFill>
                        </a:rPr>
                        <a:t>OpenHands-CodeAct-2.1</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Reactive 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Iteration and validation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r">
                        <a:buNone/>
                      </a:pPr>
                      <a:r>
                        <a:rPr sz="1100">
                          <a:solidFill>
                            <a:schemeClr val="tx1"/>
                          </a:solidFill>
                        </a:rPr>
                        <a:t>49.1%</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100" b="1">
                          <a:solidFill>
                            <a:srgbClr val="28285E"/>
                          </a:solidFill>
                        </a:rPr>
                        <a:t>Tools + Claude 3.5 Sonnet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Reactive 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Iteration and validation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r">
                        <a:buNone/>
                      </a:pPr>
                      <a:r>
                        <a:rPr sz="1100">
                          <a:solidFill>
                            <a:schemeClr val="tx1"/>
                          </a:solidFill>
                        </a:rPr>
                        <a:t>51.7%</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4" name="TextBox 3"/>
          <p:cNvSpPr txBox="1"/>
          <p:nvPr/>
        </p:nvSpPr>
        <p:spPr>
          <a:xfrm>
            <a:off x="1133796" y="2900000"/>
            <a:ext cx="5200000" cy="253916"/>
          </a:xfrm>
          <a:prstGeom prst="rect">
            <a:avLst/>
          </a:prstGeom>
          <a:noFill/>
        </p:spPr>
        <p:txBody>
          <a:bodyPr wrap="none">
            <a:spAutoFit/>
          </a:bodyPr>
          <a:lstStyle/>
          <a:p>
            <a:pPr algn="r"/>
            <a:r>
              <a:rPr sz="1050" i="1">
                <a:solidFill>
                  <a:schemeClr val="bg2"/>
                </a:solidFill>
              </a:rPr>
              <a:t>Liu et al., 150 hand-annotated failures, SWE-bench Verified, one backbone model</a:t>
            </a:r>
          </a:p>
        </p:txBody>
      </p:sp>
      <p:sp>
        <p:nvSpPr>
          <p:cNvPr id="5" name="Rectangle 4"/>
          <p:cNvSpPr/>
          <p:nvPr/>
        </p:nvSpPr>
        <p:spPr>
          <a:xfrm>
            <a:off x="319251" y="332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The fixed workflow fails where it commits earliest. </a:t>
            </a:r>
            <a:r>
              <a:rPr sz="1400" b="1" dirty="0">
                <a:solidFill>
                  <a:schemeClr val="tx2"/>
                </a:solidFill>
              </a:rPr>
              <a:t>The loop fails inside the iteration</a:t>
            </a:r>
            <a:r>
              <a:rPr lang="en-US" sz="1400" b="1" dirty="0">
                <a:solidFill>
                  <a:schemeClr val="tx2"/>
                </a:solidFill>
              </a:rPr>
              <a:t>s </a:t>
            </a:r>
            <a:r>
              <a:rPr lang="en-US" b="1" dirty="0">
                <a:solidFill>
                  <a:schemeClr val="tx2"/>
                </a:solidFill>
              </a:rPr>
              <a:t>with model driven automation.</a:t>
            </a:r>
            <a:endParaRPr sz="1400" dirty="0">
              <a:solidFill>
                <a:schemeClr val="tx2"/>
              </a:solidFill>
            </a:endParaRPr>
          </a:p>
        </p:txBody>
      </p:sp>
      <p:sp>
        <p:nvSpPr>
          <p:cNvPr id="6" name="Rectangle 5"/>
          <p:cNvSpPr/>
          <p:nvPr/>
        </p:nvSpPr>
        <p:spPr>
          <a:xfrm>
            <a:off x="319251" y="41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dirty="0">
                <a:solidFill>
                  <a:srgbClr val="28285E"/>
                </a:solidFill>
              </a:rPr>
              <a:t>All three ran the same model, so this shows where each one fails. </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Three shapes of failure</a:t>
            </a:r>
          </a:p>
        </p:txBody>
      </p:sp>
      <p:sp>
        <p:nvSpPr>
          <p:cNvPr id="3" name="Content Placeholder 2"/>
          <p:cNvSpPr>
            <a:spLocks noGrp="1"/>
          </p:cNvSpPr>
          <p:nvPr>
            <p:ph idx="1"/>
          </p:nvPr>
        </p:nvSpPr>
        <p:spPr>
          <a:xfrm>
            <a:off x="319251" y="700000"/>
            <a:ext cx="6014545" cy="2200000"/>
          </a:xfrm>
        </p:spPr>
        <p:txBody>
          <a:bodyPr wrap="square">
            <a:normAutofit fontScale="92500" lnSpcReduction="10000"/>
          </a:bodyPr>
          <a:lstStyle/>
          <a:p>
            <a:pPr marL="0" indent="0">
              <a:buNone/>
            </a:pPr>
            <a:r>
              <a:rPr sz="1400" b="1">
                <a:solidFill>
                  <a:srgbClr val="28285E"/>
                </a:solidFill>
              </a:rPr>
              <a:t>Roughly 65% come from flawed reasoning, in three named shapes:</a:t>
            </a:r>
          </a:p>
          <a:p>
            <a:pPr marL="400050" indent="-285750">
              <a:spcBef>
                <a:spcPts val="600"/>
              </a:spcBef>
              <a:spcAft>
                <a:spcPts val="600"/>
              </a:spcAft>
              <a:buClr>
                <a:srgbClr val="28285E"/>
              </a:buClr>
              <a:buSzPts val="1260"/>
              <a:buFont typeface="Fira Sans"/>
              <a:buChar char="●"/>
            </a:pPr>
            <a:r>
              <a:rPr sz="1400" b="1">
                <a:solidFill>
                  <a:schemeClr val="tx1"/>
                </a:solidFill>
              </a:rPr>
              <a:t>Non-progressive iteration. </a:t>
            </a:r>
            <a:r>
              <a:rPr sz="1400">
                <a:solidFill>
                  <a:schemeClr val="tx1"/>
                </a:solidFill>
              </a:rPr>
              <a:t>Near-identical patches, regenerated, while the defect persists.</a:t>
            </a:r>
            <a:r>
              <a:rPr sz="1400" b="1">
                <a:solidFill>
                  <a:srgbClr val="C73561"/>
                </a:solidFill>
              </a:rPr>
              <a:t>  (a plan answers it)</a:t>
            </a:r>
          </a:p>
          <a:p>
            <a:pPr marL="400050" indent="-285750">
              <a:spcBef>
                <a:spcPts val="600"/>
              </a:spcBef>
              <a:spcAft>
                <a:spcPts val="600"/>
              </a:spcAft>
              <a:buClr>
                <a:srgbClr val="28285E"/>
              </a:buClr>
              <a:buSzPts val="1260"/>
              <a:buFont typeface="Fira Sans"/>
              <a:buChar char="●"/>
            </a:pPr>
            <a:r>
              <a:rPr sz="1400" b="1">
                <a:solidFill>
                  <a:schemeClr val="tx1"/>
                </a:solidFill>
              </a:rPr>
              <a:t>Validation retreat. </a:t>
            </a:r>
            <a:r>
              <a:rPr sz="1400">
                <a:solidFill>
                  <a:schemeClr val="tx1"/>
                </a:solidFill>
              </a:rPr>
              <a:t>The failing test is edited instead of the code.</a:t>
            </a:r>
            <a:r>
              <a:rPr sz="1400" b="1">
                <a:solidFill>
                  <a:srgbClr val="C73561"/>
                </a:solidFill>
              </a:rPr>
              <a:t>  (a validator answers it)</a:t>
            </a:r>
          </a:p>
          <a:p>
            <a:pPr marL="400050" indent="-285750">
              <a:spcBef>
                <a:spcPts val="600"/>
              </a:spcBef>
              <a:spcAft>
                <a:spcPts val="600"/>
              </a:spcAft>
              <a:buClr>
                <a:srgbClr val="28285E"/>
              </a:buClr>
              <a:buSzPts val="1260"/>
              <a:buFont typeface="Fira Sans"/>
              <a:buChar char="●"/>
            </a:pPr>
            <a:r>
              <a:rPr sz="1400" b="1">
                <a:solidFill>
                  <a:schemeClr val="tx1"/>
                </a:solidFill>
              </a:rPr>
              <a:t>Context amnesia. </a:t>
            </a:r>
            <a:r>
              <a:rPr sz="1400">
                <a:solidFill>
                  <a:schemeClr val="tx1"/>
                </a:solidFill>
              </a:rPr>
              <a:t>The original objective is lost over a long interaction.</a:t>
            </a:r>
            <a:r>
              <a:rPr sz="1400" b="1">
                <a:solidFill>
                  <a:srgbClr val="C73561"/>
                </a:solidFill>
              </a:rPr>
              <a:t>  (reflection answers it)</a:t>
            </a:r>
          </a:p>
        </p:txBody>
      </p:sp>
      <p:sp>
        <p:nvSpPr>
          <p:cNvPr id="4" name="Rectangle 3"/>
          <p:cNvSpPr/>
          <p:nvPr/>
        </p:nvSpPr>
        <p:spPr>
          <a:xfrm>
            <a:off x="319251" y="31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None of the three is visible to the loop while it runs. </a:t>
            </a:r>
            <a:r>
              <a:rPr sz="1400" b="1" dirty="0">
                <a:solidFill>
                  <a:schemeClr val="tx2"/>
                </a:solidFill>
              </a:rPr>
              <a:t>Failed issues burn about 3.5 times the steps of successful ones</a:t>
            </a:r>
            <a:r>
              <a:rPr sz="1400" dirty="0">
                <a:solidFill>
                  <a:schemeClr val="tx2"/>
                </a:solidFill>
              </a:rPr>
              <a:t>.</a:t>
            </a:r>
          </a:p>
        </p:txBody>
      </p:sp>
      <p:sp>
        <p:nvSpPr>
          <p:cNvPr id="5" name="Rectangle 4"/>
          <p:cNvSpPr/>
          <p:nvPr/>
        </p:nvSpPr>
        <p:spPr>
          <a:xfrm>
            <a:off x="319251" y="39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While it is running, the loop cannot tell a good run from a bad one.</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stops are ours</a:t>
            </a:r>
          </a:p>
        </p:txBody>
      </p:sp>
      <p:sp>
        <p:nvSpPr>
          <p:cNvPr id="3" name="Content Placeholder 2"/>
          <p:cNvSpPr>
            <a:spLocks noGrp="1"/>
          </p:cNvSpPr>
          <p:nvPr>
            <p:ph idx="1"/>
          </p:nvPr>
        </p:nvSpPr>
        <p:spPr>
          <a:xfrm>
            <a:off x="319251" y="2500000"/>
            <a:ext cx="6014545" cy="1490000"/>
          </a:xfrm>
        </p:spPr>
        <p:txBody>
          <a:bodyPr wrap="square">
            <a:normAutofit fontScale="92500" lnSpcReduction="20000"/>
          </a:bodyPr>
          <a:lstStyle/>
          <a:p>
            <a:pPr marL="0" indent="0">
              <a:buNone/>
            </a:pPr>
            <a:r>
              <a:rPr lang="en-US" sz="1400" b="1" dirty="0">
                <a:solidFill>
                  <a:srgbClr val="28285E"/>
                </a:solidFill>
              </a:rPr>
              <a:t>We have t</a:t>
            </a:r>
            <a:r>
              <a:rPr sz="1400" b="1" dirty="0">
                <a:solidFill>
                  <a:srgbClr val="28285E"/>
                </a:solidFill>
              </a:rPr>
              <a:t>wo runtime stops</a:t>
            </a:r>
            <a:r>
              <a:rPr lang="en-US" sz="1400" b="1" dirty="0">
                <a:solidFill>
                  <a:srgbClr val="28285E"/>
                </a:solidFill>
              </a:rPr>
              <a:t> that differ on where they sit.</a:t>
            </a:r>
            <a:endParaRPr sz="1400" b="1" dirty="0">
              <a:solidFill>
                <a:srgbClr val="28285E"/>
              </a:solidFill>
            </a:endParaRPr>
          </a:p>
          <a:p>
            <a:pPr marL="400050" indent="-285750">
              <a:spcBef>
                <a:spcPts val="600"/>
              </a:spcBef>
              <a:spcAft>
                <a:spcPts val="600"/>
              </a:spcAft>
              <a:buClr>
                <a:srgbClr val="28285E"/>
              </a:buClr>
              <a:buSzPts val="1260"/>
              <a:buFont typeface="Fira Sans"/>
              <a:buChar char="●"/>
            </a:pPr>
            <a:r>
              <a:rPr sz="1400" b="1" dirty="0">
                <a:solidFill>
                  <a:schemeClr val="tx1"/>
                </a:solidFill>
              </a:rPr>
              <a:t>Before the call, not after. </a:t>
            </a:r>
            <a:r>
              <a:rPr sz="1400" dirty="0">
                <a:solidFill>
                  <a:schemeClr val="tx1"/>
                </a:solidFill>
              </a:rPr>
              <a:t>Checked afterwards they are a post-mortem, not a control.</a:t>
            </a:r>
          </a:p>
          <a:p>
            <a:pPr marL="400050" indent="-285750">
              <a:spcBef>
                <a:spcPts val="600"/>
              </a:spcBef>
              <a:spcAft>
                <a:spcPts val="600"/>
              </a:spcAft>
              <a:buClr>
                <a:srgbClr val="28285E"/>
              </a:buClr>
              <a:buSzPts val="1260"/>
              <a:buFont typeface="Fira Sans"/>
              <a:buChar char="●"/>
            </a:pPr>
            <a:r>
              <a:rPr sz="1400" b="1" dirty="0">
                <a:latin typeface="Maple Mono NF"/>
              </a:rPr>
              <a:t>stalled</a:t>
            </a:r>
            <a:r>
              <a:rPr sz="1400" b="1" dirty="0">
                <a:solidFill>
                  <a:schemeClr val="tx1"/>
                </a:solidFill>
              </a:rPr>
              <a:t> compares results, not calls. </a:t>
            </a:r>
            <a:r>
              <a:rPr sz="1400" dirty="0">
                <a:solidFill>
                  <a:schemeClr val="tx1"/>
                </a:solidFill>
              </a:rPr>
              <a:t>Six distinct search patterns, all returning nothing, evade a same-call rule.</a:t>
            </a:r>
          </a:p>
        </p:txBody>
      </p:sp>
      <p:sp>
        <p:nvSpPr>
          <p:cNvPr id="4" name="TextBox 3"/>
          <p:cNvSpPr txBox="1"/>
          <p:nvPr/>
        </p:nvSpPr>
        <p:spPr>
          <a:xfrm>
            <a:off x="319251" y="700000"/>
            <a:ext cx="6014545" cy="200000"/>
          </a:xfrm>
          <a:prstGeom prst="rect">
            <a:avLst/>
          </a:prstGeom>
          <a:noFill/>
        </p:spPr>
        <p:txBody>
          <a:bodyPr wrap="none">
            <a:spAutoFit/>
          </a:bodyPr>
          <a:lstStyle/>
          <a:p>
            <a:r>
              <a:rPr sz="1200" b="1">
                <a:solidFill>
                  <a:srgbClr val="28285E"/>
                </a:solidFill>
                <a:latin typeface="Maple Mono NF"/>
              </a:rPr>
              <a:t>graph.py — controller, before the model call</a:t>
            </a:r>
          </a:p>
        </p:txBody>
      </p:sp>
      <p:sp>
        <p:nvSpPr>
          <p:cNvPr id="5" name="Rounded Rectangle 4"/>
          <p:cNvSpPr/>
          <p:nvPr/>
        </p:nvSpPr>
        <p:spPr>
          <a:xfrm>
            <a:off x="319251" y="1000000"/>
            <a:ext cx="6014545" cy="140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if state["model_calls"] &gt;= self.config.budget:</a:t>
            </a:r>
          </a:p>
          <a:p>
            <a:pPr algn="l">
              <a:buNone/>
            </a:pPr>
            <a:r>
              <a:rPr sz="1100">
                <a:solidFill>
                  <a:srgbClr val="28285E"/>
                </a:solidFill>
                <a:latin typeface="Maple Mono NF"/>
              </a:rPr>
              <a:t>    return {"status": TerminalStatus.BUDGET_EXHAUSTED}</a:t>
            </a:r>
          </a:p>
          <a:p>
            <a:pPr algn="l">
              <a:buNone/>
            </a:pPr>
            <a:endParaRPr sz="1100">
              <a:solidFill>
                <a:srgbClr val="28285E"/>
              </a:solidFill>
              <a:latin typeface="Maple Mono NF"/>
            </a:endParaRPr>
          </a:p>
          <a:p>
            <a:pPr algn="l">
              <a:buNone/>
            </a:pPr>
            <a:r>
              <a:rPr sz="1100" b="1">
                <a:solidFill>
                  <a:srgbClr val="C73561"/>
                </a:solidFill>
                <a:latin typeface="Maple Mono NF"/>
              </a:rPr>
              <a:t>if self.stalled(state["observations"], ...):</a:t>
            </a:r>
          </a:p>
          <a:p>
            <a:pPr algn="l">
              <a:buNone/>
            </a:pPr>
            <a:r>
              <a:rPr sz="1100" b="1">
                <a:solidFill>
                  <a:srgbClr val="C73561"/>
                </a:solidFill>
                <a:latin typeface="Maple Mono NF"/>
              </a:rPr>
              <a:t>    return {"status": TerminalStatus.NO_PROGRESS}</a:t>
            </a:r>
          </a:p>
        </p:txBody>
      </p:sp>
      <p:sp>
        <p:nvSpPr>
          <p:cNvPr id="6" name="Rectangle 5"/>
          <p:cNvSpPr/>
          <p:nvPr/>
        </p:nvSpPr>
        <p:spPr>
          <a:xfrm>
            <a:off x="319251" y="41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budget = 40 model calls.  no_progress = 3 identical results.</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AE3D2-9B11-5A62-6840-5C732B0393B3}"/>
              </a:ext>
            </a:extLst>
          </p:cNvPr>
          <p:cNvSpPr>
            <a:spLocks noGrp="1"/>
          </p:cNvSpPr>
          <p:nvPr>
            <p:ph type="ctrTitle"/>
          </p:nvPr>
        </p:nvSpPr>
        <p:spPr>
          <a:xfrm>
            <a:off x="233781" y="1545450"/>
            <a:ext cx="6390450" cy="2052600"/>
          </a:xfrm>
        </p:spPr>
        <p:txBody>
          <a:bodyPr anchor="ctr"/>
          <a:lstStyle/>
          <a:p>
            <a:r>
              <a:rPr lang="en-US" dirty="0"/>
              <a:t>Demo &lt;/&gt;</a:t>
            </a:r>
          </a:p>
        </p:txBody>
      </p:sp>
    </p:spTree>
    <p:extLst>
      <p:ext uri="{BB962C8B-B14F-4D97-AF65-F5344CB8AC3E}">
        <p14:creationId xmlns:p14="http://schemas.microsoft.com/office/powerpoint/2010/main" val="125704796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samples from our run</a:t>
            </a:r>
            <a:endParaRPr dirty="0"/>
          </a:p>
        </p:txBody>
      </p:sp>
      <p:pic>
        <p:nvPicPr>
          <p:cNvPr id="5" name="Picture 4" descr="seq-loop-run-deck.png"/>
          <p:cNvPicPr>
            <a:picLocks noChangeAspect="1"/>
          </p:cNvPicPr>
          <p:nvPr/>
        </p:nvPicPr>
        <p:blipFill>
          <a:blip r:embed="rId3"/>
          <a:stretch>
            <a:fillRect/>
          </a:stretch>
        </p:blipFill>
        <p:spPr>
          <a:xfrm>
            <a:off x="776523" y="620000"/>
            <a:ext cx="5100000" cy="3547332"/>
          </a:xfrm>
          <a:prstGeom prst="rect">
            <a:avLst/>
          </a:prstGeom>
        </p:spPr>
      </p:pic>
      <p:sp>
        <p:nvSpPr>
          <p:cNvPr id="6" name="Rectangle 5"/>
          <p:cNvSpPr/>
          <p:nvPr/>
        </p:nvSpPr>
        <p:spPr>
          <a:xfrm>
            <a:off x="319251" y="4360000"/>
            <a:ext cx="6014545" cy="3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Accepted, in four model calls against a budget of forty.</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ADA2851-9F49-6C5B-2F2A-A9DC57C2691B}"/>
            </a:ext>
          </a:extLst>
        </p:cNvPr>
        <p:cNvGrpSpPr/>
        <p:nvPr/>
      </p:nvGrpSpPr>
      <p:grpSpPr>
        <a:xfrm>
          <a:off x="0" y="0"/>
          <a:ext cx="0" cy="0"/>
          <a:chOff x="0" y="0"/>
          <a:chExt cx="0" cy="0"/>
        </a:xfrm>
      </p:grpSpPr>
      <p:cxnSp>
        <p:nvCxnSpPr>
          <p:cNvPr id="3" name="Straight Arrow Connector 2">
            <a:extLst>
              <a:ext uri="{FF2B5EF4-FFF2-40B4-BE49-F238E27FC236}">
                <a16:creationId xmlns:a16="http://schemas.microsoft.com/office/drawing/2014/main" id="{A39AB180-D7A6-9F54-3DA9-E194AD3378FA}"/>
              </a:ext>
            </a:extLst>
          </p:cNvPr>
          <p:cNvCxnSpPr>
            <a:cxnSpLocks/>
          </p:cNvCxnSpPr>
          <p:nvPr/>
        </p:nvCxnSpPr>
        <p:spPr>
          <a:xfrm>
            <a:off x="1063835" y="1692899"/>
            <a:ext cx="0" cy="2688142"/>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5" name="Oval 4">
            <a:extLst>
              <a:ext uri="{FF2B5EF4-FFF2-40B4-BE49-F238E27FC236}">
                <a16:creationId xmlns:a16="http://schemas.microsoft.com/office/drawing/2014/main" id="{3C68B90D-82C0-8CD6-E5F1-026BC14232D9}"/>
              </a:ext>
            </a:extLst>
          </p:cNvPr>
          <p:cNvSpPr/>
          <p:nvPr/>
        </p:nvSpPr>
        <p:spPr>
          <a:xfrm>
            <a:off x="951758" y="1862799"/>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CB75E8B2-9726-1D9D-80F8-7B7056F8622B}"/>
              </a:ext>
            </a:extLst>
          </p:cNvPr>
          <p:cNvSpPr/>
          <p:nvPr/>
        </p:nvSpPr>
        <p:spPr>
          <a:xfrm>
            <a:off x="951758" y="239649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A2E8F379-99EB-39A0-3757-AA078753E0E4}"/>
              </a:ext>
            </a:extLst>
          </p:cNvPr>
          <p:cNvSpPr/>
          <p:nvPr/>
        </p:nvSpPr>
        <p:spPr>
          <a:xfrm>
            <a:off x="951758" y="292663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2C709B9A-B976-D285-2D18-F8837BCA181C}"/>
              </a:ext>
            </a:extLst>
          </p:cNvPr>
          <p:cNvSpPr/>
          <p:nvPr/>
        </p:nvSpPr>
        <p:spPr>
          <a:xfrm>
            <a:off x="951758" y="3460331"/>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ED0ACCC9-43DD-7BC1-4EE8-966D5DFE1128}"/>
              </a:ext>
            </a:extLst>
          </p:cNvPr>
          <p:cNvSpPr txBox="1"/>
          <p:nvPr/>
        </p:nvSpPr>
        <p:spPr>
          <a:xfrm>
            <a:off x="1259524" y="1820986"/>
            <a:ext cx="5033750" cy="307777"/>
          </a:xfrm>
          <a:prstGeom prst="rect">
            <a:avLst/>
          </a:prstGeom>
          <a:noFill/>
        </p:spPr>
        <p:txBody>
          <a:bodyPr wrap="none" rtlCol="0">
            <a:spAutoFit/>
          </a:bodyPr>
          <a:lstStyle/>
          <a:p>
            <a:r>
              <a:rPr lang="en-US" b="1" dirty="0">
                <a:solidFill>
                  <a:schemeClr val="tx2"/>
                </a:solidFill>
              </a:rPr>
              <a:t>Fixed workflow</a:t>
            </a:r>
            <a:r>
              <a:rPr lang="en-US" b="1" dirty="0">
                <a:solidFill>
                  <a:schemeClr val="tx2"/>
                </a:solidFill>
                <a:latin typeface="+mn-lt"/>
              </a:rPr>
              <a:t>: </a:t>
            </a:r>
            <a:r>
              <a:rPr lang="en-US" i="1" dirty="0">
                <a:solidFill>
                  <a:schemeClr val="tx2"/>
                </a:solidFill>
                <a:latin typeface="+mn-lt"/>
              </a:rPr>
              <a:t>The steps are ours, written before the run</a:t>
            </a:r>
            <a:r>
              <a:rPr lang="en-US" b="1" dirty="0">
                <a:solidFill>
                  <a:schemeClr val="tx2"/>
                </a:solidFill>
                <a:latin typeface="+mn-lt"/>
              </a:rPr>
              <a:t> </a:t>
            </a:r>
            <a:endParaRPr lang="en-US" b="1" dirty="0">
              <a:solidFill>
                <a:schemeClr val="tx2"/>
              </a:solidFill>
            </a:endParaRPr>
          </a:p>
        </p:txBody>
      </p:sp>
      <p:sp>
        <p:nvSpPr>
          <p:cNvPr id="24" name="Oval 23">
            <a:extLst>
              <a:ext uri="{FF2B5EF4-FFF2-40B4-BE49-F238E27FC236}">
                <a16:creationId xmlns:a16="http://schemas.microsoft.com/office/drawing/2014/main" id="{70EDB00C-DECA-21A5-9927-5AAFA716FB1F}"/>
              </a:ext>
            </a:extLst>
          </p:cNvPr>
          <p:cNvSpPr/>
          <p:nvPr/>
        </p:nvSpPr>
        <p:spPr>
          <a:xfrm>
            <a:off x="951758" y="3990470"/>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E833BBB3-12BC-4FF1-CFFF-ECC733C3442B}"/>
              </a:ext>
            </a:extLst>
          </p:cNvPr>
          <p:cNvSpPr txBox="1"/>
          <p:nvPr/>
        </p:nvSpPr>
        <p:spPr>
          <a:xfrm>
            <a:off x="1259524" y="2351125"/>
            <a:ext cx="3672800" cy="307777"/>
          </a:xfrm>
          <a:prstGeom prst="rect">
            <a:avLst/>
          </a:prstGeom>
          <a:noFill/>
        </p:spPr>
        <p:txBody>
          <a:bodyPr wrap="none" rtlCol="0">
            <a:spAutoFit/>
          </a:bodyPr>
          <a:lstStyle/>
          <a:p>
            <a:r>
              <a:rPr lang="en-US" b="1" dirty="0">
                <a:solidFill>
                  <a:schemeClr val="tx2"/>
                </a:solidFill>
              </a:rPr>
              <a:t>ReACT</a:t>
            </a:r>
            <a:r>
              <a:rPr lang="en-US" b="1" dirty="0">
                <a:solidFill>
                  <a:schemeClr val="tx2"/>
                </a:solidFill>
                <a:latin typeface="+mn-lt"/>
              </a:rPr>
              <a:t>: </a:t>
            </a:r>
            <a:r>
              <a:rPr lang="en-US" i="1" dirty="0">
                <a:solidFill>
                  <a:schemeClr val="tx2"/>
                </a:solidFill>
                <a:latin typeface="+mn-lt"/>
              </a:rPr>
              <a:t>The model chooses the next action</a:t>
            </a:r>
          </a:p>
        </p:txBody>
      </p:sp>
      <p:sp>
        <p:nvSpPr>
          <p:cNvPr id="26" name="TextBox 25">
            <a:extLst>
              <a:ext uri="{FF2B5EF4-FFF2-40B4-BE49-F238E27FC236}">
                <a16:creationId xmlns:a16="http://schemas.microsoft.com/office/drawing/2014/main" id="{FD976B1B-8066-4089-D758-3424380F82FE}"/>
              </a:ext>
            </a:extLst>
          </p:cNvPr>
          <p:cNvSpPr txBox="1"/>
          <p:nvPr/>
        </p:nvSpPr>
        <p:spPr>
          <a:xfrm>
            <a:off x="1259524" y="2884821"/>
            <a:ext cx="4806124" cy="307777"/>
          </a:xfrm>
          <a:prstGeom prst="rect">
            <a:avLst/>
          </a:prstGeom>
          <a:noFill/>
        </p:spPr>
        <p:txBody>
          <a:bodyPr wrap="none" rtlCol="0">
            <a:spAutoFit/>
          </a:bodyPr>
          <a:lstStyle/>
          <a:p>
            <a:r>
              <a:rPr lang="en-US" b="1" dirty="0">
                <a:solidFill>
                  <a:schemeClr val="tx2"/>
                </a:solidFill>
              </a:rPr>
              <a:t>Planner</a:t>
            </a:r>
            <a:r>
              <a:rPr lang="en-US" b="1" dirty="0">
                <a:solidFill>
                  <a:schemeClr val="tx2"/>
                </a:solidFill>
                <a:latin typeface="+mn-lt"/>
              </a:rPr>
              <a:t>: </a:t>
            </a:r>
            <a:r>
              <a:rPr lang="en-US" i="1" dirty="0">
                <a:solidFill>
                  <a:schemeClr val="tx2"/>
                </a:solidFill>
                <a:latin typeface="+mn-lt"/>
              </a:rPr>
              <a:t>The plan is written into state and revised there</a:t>
            </a:r>
            <a:endParaRPr lang="en-US" b="1" dirty="0">
              <a:solidFill>
                <a:schemeClr val="tx2"/>
              </a:solidFill>
            </a:endParaRPr>
          </a:p>
        </p:txBody>
      </p:sp>
      <p:sp>
        <p:nvSpPr>
          <p:cNvPr id="27" name="TextBox 26">
            <a:extLst>
              <a:ext uri="{FF2B5EF4-FFF2-40B4-BE49-F238E27FC236}">
                <a16:creationId xmlns:a16="http://schemas.microsoft.com/office/drawing/2014/main" id="{A3EE4684-8600-80AC-1F08-EEC8EA5D8DF1}"/>
              </a:ext>
            </a:extLst>
          </p:cNvPr>
          <p:cNvSpPr txBox="1"/>
          <p:nvPr/>
        </p:nvSpPr>
        <p:spPr>
          <a:xfrm>
            <a:off x="1259524" y="3418518"/>
            <a:ext cx="4608954" cy="307777"/>
          </a:xfrm>
          <a:prstGeom prst="rect">
            <a:avLst/>
          </a:prstGeom>
          <a:noFill/>
        </p:spPr>
        <p:txBody>
          <a:bodyPr wrap="none" rtlCol="0">
            <a:spAutoFit/>
          </a:bodyPr>
          <a:lstStyle/>
          <a:p>
            <a:r>
              <a:rPr lang="en-US" b="1" dirty="0">
                <a:solidFill>
                  <a:schemeClr val="tx2"/>
                </a:solidFill>
              </a:rPr>
              <a:t>Validator</a:t>
            </a:r>
            <a:r>
              <a:rPr lang="en-US" b="1" dirty="0">
                <a:solidFill>
                  <a:schemeClr val="tx2"/>
                </a:solidFill>
                <a:latin typeface="+mn-lt"/>
              </a:rPr>
              <a:t>: </a:t>
            </a:r>
            <a:r>
              <a:rPr lang="en-US" i="1" dirty="0">
                <a:solidFill>
                  <a:schemeClr val="tx2"/>
                </a:solidFill>
                <a:latin typeface="+mn-lt"/>
              </a:rPr>
              <a:t>Acceptance is decoupled from the controller</a:t>
            </a:r>
            <a:endParaRPr lang="en-US" b="1" dirty="0">
              <a:solidFill>
                <a:schemeClr val="tx2"/>
              </a:solidFill>
            </a:endParaRPr>
          </a:p>
        </p:txBody>
      </p:sp>
      <p:sp>
        <p:nvSpPr>
          <p:cNvPr id="28" name="TextBox 27">
            <a:extLst>
              <a:ext uri="{FF2B5EF4-FFF2-40B4-BE49-F238E27FC236}">
                <a16:creationId xmlns:a16="http://schemas.microsoft.com/office/drawing/2014/main" id="{77B566F1-8D2F-E8E2-EC92-ED8DFF5010C7}"/>
              </a:ext>
            </a:extLst>
          </p:cNvPr>
          <p:cNvSpPr txBox="1"/>
          <p:nvPr/>
        </p:nvSpPr>
        <p:spPr>
          <a:xfrm>
            <a:off x="1259524" y="3948656"/>
            <a:ext cx="5298245" cy="307777"/>
          </a:xfrm>
          <a:prstGeom prst="rect">
            <a:avLst/>
          </a:prstGeom>
          <a:noFill/>
        </p:spPr>
        <p:txBody>
          <a:bodyPr wrap="none" rtlCol="0">
            <a:spAutoFit/>
          </a:bodyPr>
          <a:lstStyle/>
          <a:p>
            <a:r>
              <a:rPr lang="en-US" b="1" dirty="0">
                <a:solidFill>
                  <a:schemeClr val="tx2"/>
                </a:solidFill>
              </a:rPr>
              <a:t>Agent Architectures</a:t>
            </a:r>
            <a:r>
              <a:rPr lang="en-US" b="1" dirty="0">
                <a:solidFill>
                  <a:schemeClr val="tx2"/>
                </a:solidFill>
                <a:latin typeface="+mn-lt"/>
              </a:rPr>
              <a:t>: </a:t>
            </a:r>
            <a:r>
              <a:rPr lang="en-US" i="1" dirty="0">
                <a:solidFill>
                  <a:schemeClr val="tx2"/>
                </a:solidFill>
                <a:latin typeface="+mn-lt"/>
              </a:rPr>
              <a:t>What are some other agent architectures</a:t>
            </a:r>
            <a:endParaRPr lang="en-US" b="1" dirty="0">
              <a:solidFill>
                <a:schemeClr val="tx2"/>
              </a:solidFill>
            </a:endParaRPr>
          </a:p>
        </p:txBody>
      </p:sp>
      <p:sp>
        <p:nvSpPr>
          <p:cNvPr id="4" name="TextBox 3">
            <a:extLst>
              <a:ext uri="{FF2B5EF4-FFF2-40B4-BE49-F238E27FC236}">
                <a16:creationId xmlns:a16="http://schemas.microsoft.com/office/drawing/2014/main" id="{581B5BBE-6A43-E642-8BB5-1E53AEBC2B94}"/>
              </a:ext>
            </a:extLst>
          </p:cNvPr>
          <p:cNvSpPr txBox="1"/>
          <p:nvPr/>
        </p:nvSpPr>
        <p:spPr>
          <a:xfrm>
            <a:off x="545848" y="533124"/>
            <a:ext cx="5766322" cy="707886"/>
          </a:xfrm>
          <a:prstGeom prst="rect">
            <a:avLst/>
          </a:prstGeom>
          <a:noFill/>
        </p:spPr>
        <p:txBody>
          <a:bodyPr wrap="none">
            <a:spAutoFit/>
          </a:bodyPr>
          <a:lstStyle/>
          <a:p>
            <a:pPr algn="ctr"/>
            <a:r>
              <a:rPr lang="en-US" sz="4000" b="1" dirty="0">
                <a:solidFill>
                  <a:schemeClr val="tx2"/>
                </a:solidFill>
                <a:latin typeface="Fira Sans" panose="020B0503050000020004" pitchFamily="34" charset="0"/>
              </a:rPr>
              <a:t>Planning and Validation</a:t>
            </a:r>
            <a:endParaRPr sz="4000" dirty="0">
              <a:solidFill>
                <a:schemeClr val="tx2"/>
              </a:solidFill>
              <a:latin typeface="Fira Sans" panose="020B0503050000020004" pitchFamily="34" charset="0"/>
            </a:endParaRPr>
          </a:p>
        </p:txBody>
      </p:sp>
      <p:pic>
        <p:nvPicPr>
          <p:cNvPr id="12" name="Picture 11">
            <a:extLst>
              <a:ext uri="{FF2B5EF4-FFF2-40B4-BE49-F238E27FC236}">
                <a16:creationId xmlns:a16="http://schemas.microsoft.com/office/drawing/2014/main" id="{5B26C98D-6DD4-D8D8-48C5-F0C30D3B5D32}"/>
              </a:ext>
            </a:extLst>
          </p:cNvPr>
          <p:cNvPicPr>
            <a:picLocks noChangeAspect="1"/>
          </p:cNvPicPr>
          <p:nvPr/>
        </p:nvPicPr>
        <p:blipFill>
          <a:blip r:embed="rId3">
            <a:alphaModFix amt="90000"/>
          </a:blip>
          <a:stretch>
            <a:fillRect/>
          </a:stretch>
        </p:blipFill>
        <p:spPr>
          <a:xfrm>
            <a:off x="825474" y="3697995"/>
            <a:ext cx="5732295" cy="1183548"/>
          </a:xfrm>
          <a:prstGeom prst="rect">
            <a:avLst/>
          </a:prstGeom>
        </p:spPr>
      </p:pic>
      <p:pic>
        <p:nvPicPr>
          <p:cNvPr id="2" name="Picture 1">
            <a:extLst>
              <a:ext uri="{FF2B5EF4-FFF2-40B4-BE49-F238E27FC236}">
                <a16:creationId xmlns:a16="http://schemas.microsoft.com/office/drawing/2014/main" id="{3C85195E-8F87-9F97-1DB2-96CC95B82822}"/>
              </a:ext>
            </a:extLst>
          </p:cNvPr>
          <p:cNvPicPr>
            <a:picLocks noChangeAspect="1"/>
          </p:cNvPicPr>
          <p:nvPr/>
        </p:nvPicPr>
        <p:blipFill>
          <a:blip r:embed="rId3">
            <a:alphaModFix amt="70000"/>
          </a:blip>
          <a:stretch>
            <a:fillRect/>
          </a:stretch>
        </p:blipFill>
        <p:spPr>
          <a:xfrm>
            <a:off x="825474" y="1570162"/>
            <a:ext cx="5732295" cy="1343821"/>
          </a:xfrm>
          <a:prstGeom prst="rect">
            <a:avLst/>
          </a:prstGeom>
        </p:spPr>
      </p:pic>
    </p:spTree>
    <p:extLst>
      <p:ext uri="{BB962C8B-B14F-4D97-AF65-F5344CB8AC3E}">
        <p14:creationId xmlns:p14="http://schemas.microsoft.com/office/powerpoint/2010/main" val="262089799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Challenges with React Loop</a:t>
            </a:r>
            <a:endParaRPr dirty="0"/>
          </a:p>
        </p:txBody>
      </p:sp>
      <p:sp>
        <p:nvSpPr>
          <p:cNvPr id="3" name="Content Placeholder 2"/>
          <p:cNvSpPr>
            <a:spLocks noGrp="1"/>
          </p:cNvSpPr>
          <p:nvPr>
            <p:ph idx="1"/>
          </p:nvPr>
        </p:nvSpPr>
        <p:spPr>
          <a:xfrm>
            <a:off x="319251" y="1690480"/>
            <a:ext cx="6014545" cy="2150000"/>
          </a:xfrm>
        </p:spPr>
        <p:txBody>
          <a:bodyPr wrap="square">
            <a:normAutofit fontScale="92500" lnSpcReduction="10000"/>
          </a:bodyPr>
          <a:lstStyle/>
          <a:p>
            <a:pPr marL="0" indent="0">
              <a:buNone/>
            </a:pPr>
            <a:r>
              <a:rPr sz="1400" b="1" dirty="0">
                <a:solidFill>
                  <a:srgbClr val="28285E"/>
                </a:solidFill>
              </a:rPr>
              <a:t>There are three questions the loop cannot answer about itself:</a:t>
            </a:r>
            <a:endParaRPr sz="1400" dirty="0">
              <a:solidFill>
                <a:schemeClr val="tx1"/>
              </a:solidFill>
            </a:endParaRPr>
          </a:p>
          <a:p>
            <a:pPr marL="400050" indent="-285750">
              <a:spcBef>
                <a:spcPts val="600"/>
              </a:spcBef>
              <a:spcAft>
                <a:spcPts val="600"/>
              </a:spcAft>
              <a:buClr>
                <a:srgbClr val="28285E"/>
              </a:buClr>
              <a:buSzPts val="1260"/>
              <a:buFont typeface="Fira Sans"/>
              <a:buChar char="●"/>
            </a:pPr>
            <a:r>
              <a:rPr sz="1400" b="1" dirty="0">
                <a:solidFill>
                  <a:schemeClr val="tx1"/>
                </a:solidFill>
              </a:rPr>
              <a:t>Measure progress. </a:t>
            </a:r>
            <a:r>
              <a:rPr sz="1400" b="0" dirty="0">
                <a:solidFill>
                  <a:schemeClr val="tx1"/>
                </a:solidFill>
              </a:rPr>
              <a:t>Seeing that an observation is new is easy</a:t>
            </a:r>
            <a:r>
              <a:rPr lang="en-US" sz="1400" b="0" dirty="0">
                <a:solidFill>
                  <a:schemeClr val="tx1"/>
                </a:solidFill>
              </a:rPr>
              <a:t> but not</a:t>
            </a:r>
            <a:r>
              <a:rPr sz="1400" b="0" dirty="0">
                <a:solidFill>
                  <a:schemeClr val="tx1"/>
                </a:solidFill>
              </a:rPr>
              <a:t> Knowing whether the step in hand has finished is not.</a:t>
            </a:r>
          </a:p>
          <a:p>
            <a:pPr marL="400050" indent="-285750">
              <a:spcBef>
                <a:spcPts val="600"/>
              </a:spcBef>
              <a:spcAft>
                <a:spcPts val="600"/>
              </a:spcAft>
              <a:buClr>
                <a:srgbClr val="28285E"/>
              </a:buClr>
              <a:buSzPts val="1260"/>
              <a:buFont typeface="Fira Sans"/>
              <a:buChar char="●"/>
            </a:pPr>
            <a:r>
              <a:rPr sz="1400" b="1" dirty="0">
                <a:solidFill>
                  <a:schemeClr val="tx1"/>
                </a:solidFill>
              </a:rPr>
              <a:t>Show its intent. </a:t>
            </a:r>
            <a:r>
              <a:rPr sz="1400" b="0" dirty="0">
                <a:solidFill>
                  <a:schemeClr val="tx1"/>
                </a:solidFill>
              </a:rPr>
              <a:t>Halfway through a run the trace holds four thoughts </a:t>
            </a:r>
            <a:r>
              <a:rPr lang="en-US" sz="1400" b="0" dirty="0">
                <a:solidFill>
                  <a:schemeClr val="tx1"/>
                </a:solidFill>
              </a:rPr>
              <a:t>but </a:t>
            </a:r>
            <a:r>
              <a:rPr sz="1400" b="0" dirty="0">
                <a:solidFill>
                  <a:schemeClr val="tx1"/>
                </a:solidFill>
              </a:rPr>
              <a:t>that says </a:t>
            </a:r>
            <a:r>
              <a:rPr lang="en-US" sz="1400" b="0" dirty="0">
                <a:solidFill>
                  <a:schemeClr val="tx1"/>
                </a:solidFill>
              </a:rPr>
              <a:t>nothing about </a:t>
            </a:r>
            <a:r>
              <a:rPr sz="1400" b="0" dirty="0">
                <a:solidFill>
                  <a:schemeClr val="tx1"/>
                </a:solidFill>
              </a:rPr>
              <a:t>where the run was going.</a:t>
            </a:r>
          </a:p>
          <a:p>
            <a:pPr marL="400050" indent="-285750">
              <a:spcBef>
                <a:spcPts val="600"/>
              </a:spcBef>
              <a:spcAft>
                <a:spcPts val="600"/>
              </a:spcAft>
              <a:buClr>
                <a:srgbClr val="28285E"/>
              </a:buClr>
              <a:buSzPts val="1260"/>
              <a:buFont typeface="Fira Sans"/>
              <a:buChar char="●"/>
            </a:pPr>
            <a:r>
              <a:rPr sz="1400" b="1" dirty="0">
                <a:solidFill>
                  <a:schemeClr val="tx1"/>
                </a:solidFill>
              </a:rPr>
              <a:t>Change course. </a:t>
            </a:r>
            <a:r>
              <a:rPr sz="1400" b="0" dirty="0">
                <a:solidFill>
                  <a:schemeClr val="tx1"/>
                </a:solidFill>
              </a:rPr>
              <a:t>When a step turns out to be impossible there is no remaining plan to revise, because no plan was ever written.</a:t>
            </a:r>
          </a:p>
        </p:txBody>
      </p:sp>
      <p:sp>
        <p:nvSpPr>
          <p:cNvPr id="4" name="Rectangle 3"/>
          <p:cNvSpPr/>
          <p:nvPr/>
        </p:nvSpPr>
        <p:spPr>
          <a:xfrm>
            <a:off x="319251" y="700000"/>
            <a:ext cx="6014545" cy="828997"/>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dirty="0">
                <a:solidFill>
                  <a:schemeClr val="tx2"/>
                </a:solidFill>
              </a:rPr>
              <a:t>Our reactive loop remembers </a:t>
            </a:r>
            <a:r>
              <a:rPr sz="1400" b="1" dirty="0">
                <a:solidFill>
                  <a:schemeClr val="tx2"/>
                </a:solidFill>
              </a:rPr>
              <a:t>everything it has </a:t>
            </a:r>
            <a:r>
              <a:rPr lang="en-US" sz="1400" b="1" dirty="0">
                <a:solidFill>
                  <a:schemeClr val="tx2"/>
                </a:solidFill>
              </a:rPr>
              <a:t>seen but not </a:t>
            </a:r>
            <a:r>
              <a:rPr sz="1400" b="1" dirty="0">
                <a:solidFill>
                  <a:schemeClr val="tx2"/>
                </a:solidFill>
              </a:rPr>
              <a:t>the run set out to do</a:t>
            </a:r>
            <a:r>
              <a:rPr sz="1400" b="0" dirty="0">
                <a:solidFill>
                  <a:schemeClr val="tx2"/>
                </a:solidFill>
              </a:rPr>
              <a:t>, so the program cannot tell a turn that </a:t>
            </a:r>
            <a:r>
              <a:rPr sz="1400" b="1" dirty="0">
                <a:solidFill>
                  <a:schemeClr val="tx2"/>
                </a:solidFill>
              </a:rPr>
              <a:t>helped</a:t>
            </a:r>
            <a:r>
              <a:rPr sz="1400" b="0" dirty="0">
                <a:solidFill>
                  <a:schemeClr val="tx2"/>
                </a:solidFill>
              </a:rPr>
              <a:t> from a turn that merely </a:t>
            </a:r>
            <a:r>
              <a:rPr sz="1400" b="1" dirty="0">
                <a:solidFill>
                  <a:schemeClr val="tx2"/>
                </a:solidFill>
              </a:rPr>
              <a:t>happened</a:t>
            </a:r>
            <a:r>
              <a:rPr sz="1400" b="0" dirty="0">
                <a:solidFill>
                  <a:schemeClr val="tx2"/>
                </a:solidFill>
              </a:rPr>
              <a:t>.</a:t>
            </a:r>
          </a:p>
        </p:txBody>
      </p:sp>
      <p:sp>
        <p:nvSpPr>
          <p:cNvPr id="5" name="Rectangle 4"/>
          <p:cNvSpPr/>
          <p:nvPr/>
        </p:nvSpPr>
        <p:spPr>
          <a:xfrm>
            <a:off x="319251" y="3953500"/>
            <a:ext cx="6014545" cy="490000"/>
          </a:xfrm>
          <a:prstGeom prst="rect">
            <a:avLst/>
          </a:prstGeom>
          <a:solidFill>
            <a:schemeClr val="accent4"/>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bg1"/>
                </a:solidFill>
              </a:rPr>
              <a:t>A plan is the smallest thing we can add that lets the program check its own progress.</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t>
            </a:r>
            <a:r>
              <a:rPr dirty="0"/>
              <a:t>hapes</a:t>
            </a:r>
            <a:r>
              <a:rPr lang="en-US" dirty="0"/>
              <a:t> of Planning</a:t>
            </a:r>
            <a:endParaRPr dirty="0"/>
          </a:p>
        </p:txBody>
      </p:sp>
      <p:pic>
        <p:nvPicPr>
          <p:cNvPr id="3" name="Picture 2" descr="adaplanner-fig1-closed-loop.png"/>
          <p:cNvPicPr>
            <a:picLocks noChangeAspect="1"/>
          </p:cNvPicPr>
          <p:nvPr/>
        </p:nvPicPr>
        <p:blipFill>
          <a:blip r:embed="rId3"/>
          <a:stretch>
            <a:fillRect/>
          </a:stretch>
        </p:blipFill>
        <p:spPr>
          <a:xfrm>
            <a:off x="250147" y="880000"/>
            <a:ext cx="6152752" cy="2836155"/>
          </a:xfrm>
          <a:prstGeom prst="rect">
            <a:avLst/>
          </a:prstGeom>
        </p:spPr>
      </p:pic>
      <p:sp>
        <p:nvSpPr>
          <p:cNvPr id="4" name="TextBox 3"/>
          <p:cNvSpPr txBox="1"/>
          <p:nvPr/>
        </p:nvSpPr>
        <p:spPr>
          <a:xfrm>
            <a:off x="2433796" y="3790000"/>
            <a:ext cx="3900000" cy="253916"/>
          </a:xfrm>
          <a:prstGeom prst="rect">
            <a:avLst/>
          </a:prstGeom>
          <a:noFill/>
        </p:spPr>
        <p:txBody>
          <a:bodyPr wrap="none">
            <a:spAutoFit/>
          </a:bodyPr>
          <a:lstStyle/>
          <a:p>
            <a:pPr algn="r"/>
            <a:r>
              <a:rPr sz="1050" i="1">
                <a:solidFill>
                  <a:schemeClr val="bg2"/>
                </a:solidFill>
              </a:rPr>
              <a:t>Figure 1, Sun et al., AdaPlanner, NeurIPS 2023</a:t>
            </a:r>
          </a:p>
        </p:txBody>
      </p:sp>
      <p:sp>
        <p:nvSpPr>
          <p:cNvPr id="5" name="Rectangle 4"/>
          <p:cNvSpPr/>
          <p:nvPr/>
        </p:nvSpPr>
        <p:spPr>
          <a:xfrm>
            <a:off x="319251" y="41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rgbClr val="28285E"/>
                </a:solidFill>
              </a:rPr>
              <a:t>Only the third sends feedback back to the plan itself. The other two change the next action </a:t>
            </a:r>
            <a:r>
              <a:rPr sz="1200" b="1" dirty="0">
                <a:solidFill>
                  <a:srgbClr val="28285E"/>
                </a:solidFill>
              </a:rPr>
              <a:t>alone</a:t>
            </a:r>
            <a:r>
              <a:rPr sz="1200" dirty="0">
                <a:solidFill>
                  <a:srgbClr val="28285E"/>
                </a:solidFill>
              </a:rPr>
              <a:t>.</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each shape does with an observation</a:t>
            </a:r>
          </a:p>
        </p:txBody>
      </p:sp>
      <p:graphicFrame>
        <p:nvGraphicFramePr>
          <p:cNvPr id="3" name="Table 2"/>
          <p:cNvGraphicFramePr>
            <a:graphicFrameLocks noGrp="1"/>
          </p:cNvGraphicFramePr>
          <p:nvPr>
            <p:extLst>
              <p:ext uri="{D42A27DB-BD31-4B8C-83A1-F6EECF244321}">
                <p14:modId xmlns:p14="http://schemas.microsoft.com/office/powerpoint/2010/main" val="2599804413"/>
              </p:ext>
            </p:extLst>
          </p:nvPr>
        </p:nvGraphicFramePr>
        <p:xfrm>
          <a:off x="319251" y="1634008"/>
          <a:ext cx="6014545" cy="1447800"/>
        </p:xfrm>
        <a:graphic>
          <a:graphicData uri="http://schemas.openxmlformats.org/drawingml/2006/table">
            <a:tbl>
              <a:tblPr>
                <a:tableStyleId>{2D5ABB26-0587-4C30-8999-92F81FD0307C}</a:tableStyleId>
              </a:tblPr>
              <a:tblGrid>
                <a:gridCol w="1900000">
                  <a:extLst>
                    <a:ext uri="{9D8B030D-6E8A-4147-A177-3AD203B41FA5}">
                      <a16:colId xmlns:a16="http://schemas.microsoft.com/office/drawing/2014/main" val="20000"/>
                    </a:ext>
                  </a:extLst>
                </a:gridCol>
                <a:gridCol w="2157272">
                  <a:extLst>
                    <a:ext uri="{9D8B030D-6E8A-4147-A177-3AD203B41FA5}">
                      <a16:colId xmlns:a16="http://schemas.microsoft.com/office/drawing/2014/main" val="20001"/>
                    </a:ext>
                  </a:extLst>
                </a:gridCol>
                <a:gridCol w="1957273">
                  <a:extLst>
                    <a:ext uri="{9D8B030D-6E8A-4147-A177-3AD203B41FA5}">
                      <a16:colId xmlns:a16="http://schemas.microsoft.com/office/drawing/2014/main" val="20002"/>
                    </a:ext>
                  </a:extLst>
                </a:gridCol>
              </a:tblGrid>
              <a:tr h="300000">
                <a:tc>
                  <a:txBody>
                    <a:bodyPr/>
                    <a:lstStyle/>
                    <a:p>
                      <a:pPr algn="l">
                        <a:buNone/>
                      </a:pPr>
                      <a:r>
                        <a:rPr sz="1400" b="1">
                          <a:solidFill>
                            <a:schemeClr val="tx1"/>
                          </a:solidFill>
                        </a:rPr>
                        <a:t>Planner</a:t>
                      </a:r>
                    </a:p>
                  </a:txBody>
                  <a:tcPr marL="95250" marR="95250" marT="47625" marB="47625">
                    <a:lnB w="12700" cap="flat" cmpd="sng" algn="ctr">
                      <a:solidFill>
                        <a:schemeClr val="tx1"/>
                      </a:solidFill>
                    </a:lnB>
                    <a:noFill/>
                  </a:tcPr>
                </a:tc>
                <a:tc>
                  <a:txBody>
                    <a:bodyPr/>
                    <a:lstStyle/>
                    <a:p>
                      <a:pPr algn="l">
                        <a:buNone/>
                      </a:pPr>
                      <a:r>
                        <a:rPr sz="1400" b="1">
                          <a:solidFill>
                            <a:schemeClr val="tx1"/>
                          </a:solidFill>
                        </a:rPr>
                        <a:t>What comes back</a:t>
                      </a:r>
                    </a:p>
                  </a:txBody>
                  <a:tcPr marL="95250" marR="95250" marT="47625" marB="47625">
                    <a:lnB w="12700" cap="flat" cmpd="sng" algn="ctr">
                      <a:solidFill>
                        <a:schemeClr val="tx1"/>
                      </a:solidFill>
                    </a:lnB>
                    <a:noFill/>
                  </a:tcPr>
                </a:tc>
                <a:tc>
                  <a:txBody>
                    <a:bodyPr/>
                    <a:lstStyle/>
                    <a:p>
                      <a:pPr algn="l">
                        <a:buNone/>
                      </a:pPr>
                      <a:r>
                        <a:rPr sz="1400" b="1">
                          <a:solidFill>
                            <a:schemeClr val="tx1"/>
                          </a:solidFill>
                        </a:rPr>
                        <a:t>What changes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400" b="1">
                          <a:solidFill>
                            <a:srgbClr val="28285E"/>
                          </a:solidFill>
                        </a:rPr>
                        <a:t>Open-loop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Nothing at all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Nothing</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400" b="1">
                          <a:solidFill>
                            <a:srgbClr val="28285E"/>
                          </a:solidFill>
                        </a:rPr>
                        <a:t>Implicit closed-loop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Every observation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The next action only</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400" b="1">
                          <a:solidFill>
                            <a:srgbClr val="28285E"/>
                          </a:solidFill>
                        </a:rPr>
                        <a:t>Explicit closed-loop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dirty="0">
                          <a:solidFill>
                            <a:schemeClr val="tx1"/>
                          </a:solidFill>
                        </a:rPr>
                        <a:t>Every observation, sorted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dirty="0">
                          <a:solidFill>
                            <a:schemeClr val="tx1"/>
                          </a:solidFill>
                        </a:rPr>
                        <a:t>The rest of the plan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4" name="Rectangle 3"/>
          <p:cNvSpPr/>
          <p:nvPr/>
        </p:nvSpPr>
        <p:spPr>
          <a:xfrm>
            <a:off x="1888761" y="3486817"/>
            <a:ext cx="4445035" cy="496366"/>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tx2"/>
                </a:solidFill>
              </a:rPr>
              <a:t>A revision </a:t>
            </a:r>
            <a:r>
              <a:rPr sz="1200" b="1">
                <a:solidFill>
                  <a:schemeClr val="tx2"/>
                </a:solidFill>
              </a:rPr>
              <a:t>replaces</a:t>
            </a:r>
            <a:r>
              <a:rPr sz="1200" b="0">
                <a:solidFill>
                  <a:schemeClr val="tx2"/>
                </a:solidFill>
              </a:rPr>
              <a:t> the remainder of the plan. Our loop only ever </a:t>
            </a:r>
            <a:r>
              <a:rPr sz="1200" b="1">
                <a:solidFill>
                  <a:schemeClr val="tx2"/>
                </a:solidFill>
              </a:rPr>
              <a:t>adds</a:t>
            </a:r>
            <a:r>
              <a:rPr sz="1200" b="0">
                <a:solidFill>
                  <a:schemeClr val="tx2"/>
                </a:solidFill>
              </a:rPr>
              <a:t> to its context.</a:t>
            </a:r>
          </a:p>
        </p:txBody>
      </p:sp>
      <p:sp>
        <p:nvSpPr>
          <p:cNvPr id="5" name="Rectangle 4"/>
          <p:cNvSpPr/>
          <p:nvPr/>
        </p:nvSpPr>
        <p:spPr>
          <a:xfrm>
            <a:off x="319251" y="700000"/>
            <a:ext cx="6014545" cy="797908"/>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dirty="0">
                <a:solidFill>
                  <a:schemeClr val="tx2"/>
                </a:solidFill>
              </a:rPr>
              <a:t>The three shapes differ in one thing only: what a planner is allowed to change when the environment answers back</a:t>
            </a:r>
            <a:r>
              <a:rPr lang="en-US" sz="1400" b="0" dirty="0">
                <a:solidFill>
                  <a:schemeClr val="tx2"/>
                </a:solidFill>
              </a:rPr>
              <a:t>:</a:t>
            </a:r>
            <a:r>
              <a:rPr sz="1400" b="0" dirty="0">
                <a:solidFill>
                  <a:schemeClr val="tx2"/>
                </a:solidFill>
              </a:rPr>
              <a:t> </a:t>
            </a:r>
            <a:r>
              <a:rPr sz="1400" b="1" dirty="0">
                <a:solidFill>
                  <a:schemeClr val="tx2"/>
                </a:solidFill>
              </a:rPr>
              <a:t>Nothing</a:t>
            </a:r>
            <a:r>
              <a:rPr lang="en-US" sz="1400" b="1" dirty="0">
                <a:solidFill>
                  <a:schemeClr val="tx2"/>
                </a:solidFill>
              </a:rPr>
              <a:t>?</a:t>
            </a:r>
            <a:r>
              <a:rPr sz="1400" b="1" dirty="0">
                <a:solidFill>
                  <a:schemeClr val="tx2"/>
                </a:solidFill>
              </a:rPr>
              <a:t> </a:t>
            </a:r>
            <a:r>
              <a:rPr lang="en-US" sz="1400" b="1" dirty="0">
                <a:solidFill>
                  <a:schemeClr val="tx2"/>
                </a:solidFill>
              </a:rPr>
              <a:t>T</a:t>
            </a:r>
            <a:r>
              <a:rPr sz="1400" b="1" dirty="0">
                <a:solidFill>
                  <a:schemeClr val="tx2"/>
                </a:solidFill>
              </a:rPr>
              <a:t>he next action</a:t>
            </a:r>
            <a:r>
              <a:rPr lang="en-US" sz="1400" b="1" dirty="0">
                <a:solidFill>
                  <a:schemeClr val="tx2"/>
                </a:solidFill>
              </a:rPr>
              <a:t> only?</a:t>
            </a:r>
            <a:r>
              <a:rPr sz="1400" b="1" dirty="0">
                <a:solidFill>
                  <a:schemeClr val="tx2"/>
                </a:solidFill>
              </a:rPr>
              <a:t>, or the rest of the plan</a:t>
            </a:r>
            <a:r>
              <a:rPr lang="en-US" sz="1400" b="1" dirty="0">
                <a:solidFill>
                  <a:schemeClr val="tx2"/>
                </a:solidFill>
              </a:rPr>
              <a:t>?</a:t>
            </a:r>
            <a:endParaRPr sz="1400" b="1" dirty="0">
              <a:solidFill>
                <a:schemeClr val="tx2"/>
              </a:solidFil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The graph our planner-based </a:t>
            </a:r>
            <a:r>
              <a:t>demo </a:t>
            </a:r>
            <a:r>
              <a:rPr lang="en-US"/>
              <a:t>builds</a:t>
            </a:r>
            <a:endParaRPr dirty="0"/>
          </a:p>
        </p:txBody>
      </p:sp>
      <p:sp>
        <p:nvSpPr>
          <p:cNvPr id="3" name="Rectangle 2"/>
          <p:cNvSpPr/>
          <p:nvPr/>
        </p:nvSpPr>
        <p:spPr>
          <a:xfrm>
            <a:off x="319251" y="700000"/>
            <a:ext cx="6014545" cy="106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Five nodes</a:t>
            </a:r>
            <a:r>
              <a:rPr lang="en-US" sz="1400" dirty="0">
                <a:solidFill>
                  <a:schemeClr val="tx2"/>
                </a:solidFill>
              </a:rPr>
              <a:t> at locations where </a:t>
            </a:r>
            <a:r>
              <a:rPr sz="1400" dirty="0">
                <a:solidFill>
                  <a:schemeClr val="tx2"/>
                </a:solidFill>
              </a:rPr>
              <a:t>model </a:t>
            </a:r>
            <a:r>
              <a:rPr lang="en-US" sz="1400" dirty="0">
                <a:solidFill>
                  <a:schemeClr val="tx2"/>
                </a:solidFill>
              </a:rPr>
              <a:t>makes decisions</a:t>
            </a:r>
            <a:r>
              <a:rPr sz="1400" dirty="0">
                <a:solidFill>
                  <a:schemeClr val="tx2"/>
                </a:solidFill>
              </a:rPr>
              <a:t>. Two edges are unconditional: the one that </a:t>
            </a:r>
            <a:r>
              <a:rPr sz="1400" b="1" dirty="0">
                <a:solidFill>
                  <a:schemeClr val="tx2"/>
                </a:solidFill>
              </a:rPr>
              <a:t>starts</a:t>
            </a:r>
            <a:r>
              <a:rPr sz="1400" dirty="0">
                <a:solidFill>
                  <a:schemeClr val="tx2"/>
                </a:solidFill>
              </a:rPr>
              <a:t> a run at the planner and the one that </a:t>
            </a:r>
            <a:r>
              <a:rPr sz="1400" b="1" dirty="0">
                <a:solidFill>
                  <a:schemeClr val="tx2"/>
                </a:solidFill>
              </a:rPr>
              <a:t>ends</a:t>
            </a:r>
            <a:r>
              <a:rPr sz="1400" dirty="0">
                <a:solidFill>
                  <a:schemeClr val="tx2"/>
                </a:solidFill>
              </a:rPr>
              <a:t> it at the judge. Every other edge is a predicate we wrote over state.</a:t>
            </a:r>
          </a:p>
        </p:txBody>
      </p:sp>
      <p:pic>
        <p:nvPicPr>
          <p:cNvPr id="4" name="Picture 3" descr="graph-v2-deck.png"/>
          <p:cNvPicPr>
            <a:picLocks noChangeAspect="1"/>
          </p:cNvPicPr>
          <p:nvPr/>
        </p:nvPicPr>
        <p:blipFill>
          <a:blip r:embed="rId3"/>
          <a:stretch>
            <a:fillRect/>
          </a:stretch>
        </p:blipFill>
        <p:spPr>
          <a:xfrm>
            <a:off x="250147" y="1760000"/>
            <a:ext cx="6152752" cy="2940231"/>
          </a:xfrm>
          <a:prstGeom prst="rect">
            <a:avLst/>
          </a:prstGeom>
        </p:spPr>
      </p:pic>
      <p:sp>
        <p:nvSpPr>
          <p:cNvPr id="5" name="TextBox 4"/>
          <p:cNvSpPr txBox="1"/>
          <p:nvPr/>
        </p:nvSpPr>
        <p:spPr>
          <a:xfrm>
            <a:off x="4589430" y="4889584"/>
            <a:ext cx="2268570" cy="253916"/>
          </a:xfrm>
          <a:prstGeom prst="rect">
            <a:avLst/>
          </a:prstGeom>
          <a:noFill/>
        </p:spPr>
        <p:txBody>
          <a:bodyPr wrap="none">
            <a:spAutoFit/>
          </a:bodyPr>
          <a:lstStyle/>
          <a:p>
            <a:pPr algn="r"/>
            <a:r>
              <a:rPr sz="1050" i="1">
                <a:solidFill>
                  <a:schemeClr val="bg2"/>
                </a:solidFill>
              </a:rPr>
              <a:t>see: lec2_planning_and_validation_agent/graph.py</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The </a:t>
            </a:r>
            <a:r>
              <a:rPr lang="en-US" dirty="0"/>
              <a:t>new n</a:t>
            </a:r>
            <a:r>
              <a:rPr dirty="0"/>
              <a:t>odes </a:t>
            </a:r>
            <a:r>
              <a:rPr lang="en-US" dirty="0"/>
              <a:t>in our </a:t>
            </a:r>
            <a:r>
              <a:rPr dirty="0"/>
              <a:t>planner</a:t>
            </a:r>
            <a:r>
              <a:rPr lang="en-US" dirty="0"/>
              <a:t>-based </a:t>
            </a:r>
            <a:r>
              <a:rPr dirty="0"/>
              <a:t>demo</a:t>
            </a:r>
          </a:p>
        </p:txBody>
      </p:sp>
      <p:sp>
        <p:nvSpPr>
          <p:cNvPr id="3" name="TextBox 2"/>
          <p:cNvSpPr txBox="1"/>
          <p:nvPr/>
        </p:nvSpPr>
        <p:spPr>
          <a:xfrm>
            <a:off x="319251" y="760000"/>
            <a:ext cx="6014545" cy="200000"/>
          </a:xfrm>
          <a:prstGeom prst="rect">
            <a:avLst/>
          </a:prstGeom>
          <a:noFill/>
        </p:spPr>
        <p:txBody>
          <a:bodyPr wrap="none">
            <a:spAutoFit/>
          </a:bodyPr>
          <a:lstStyle/>
          <a:p>
            <a:r>
              <a:rPr sz="1200" b="1">
                <a:solidFill>
                  <a:srgbClr val="28285E"/>
                </a:solidFill>
                <a:latin typeface="Maple Mono NF"/>
              </a:rPr>
              <a:t>graph.py</a:t>
            </a:r>
          </a:p>
        </p:txBody>
      </p:sp>
      <p:sp>
        <p:nvSpPr>
          <p:cNvPr id="4" name="Rounded Rectangle 3"/>
          <p:cNvSpPr/>
          <p:nvPr/>
        </p:nvSpPr>
        <p:spPr>
          <a:xfrm>
            <a:off x="319251" y="1020000"/>
            <a:ext cx="6014545" cy="218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b="1" dirty="0" err="1">
                <a:solidFill>
                  <a:schemeClr val="accent4"/>
                </a:solidFill>
                <a:latin typeface="Maple Mono NF"/>
              </a:rPr>
              <a:t>graph.add_node</a:t>
            </a:r>
            <a:r>
              <a:rPr sz="1100" b="1" dirty="0">
                <a:solidFill>
                  <a:schemeClr val="accent4"/>
                </a:solidFill>
                <a:latin typeface="Maple Mono NF"/>
              </a:rPr>
              <a:t>("plan", </a:t>
            </a:r>
            <a:r>
              <a:rPr sz="1100" b="1" dirty="0" err="1">
                <a:solidFill>
                  <a:schemeClr val="accent4"/>
                </a:solidFill>
                <a:latin typeface="Maple Mono NF"/>
              </a:rPr>
              <a:t>self.plan</a:t>
            </a:r>
            <a:r>
              <a:rPr sz="1100" b="1" dirty="0">
                <a:solidFill>
                  <a:schemeClr val="accent4"/>
                </a:solidFill>
                <a:latin typeface="Maple Mono NF"/>
              </a:rPr>
              <a:t>)</a:t>
            </a:r>
          </a:p>
          <a:p>
            <a:pPr algn="l">
              <a:buNone/>
            </a:pPr>
            <a:r>
              <a:rPr sz="1100" dirty="0" err="1">
                <a:solidFill>
                  <a:srgbClr val="28285E"/>
                </a:solidFill>
                <a:latin typeface="Maple Mono NF"/>
              </a:rPr>
              <a:t>graph.add_node</a:t>
            </a:r>
            <a:r>
              <a:rPr sz="1100" dirty="0">
                <a:solidFill>
                  <a:srgbClr val="28285E"/>
                </a:solidFill>
                <a:latin typeface="Maple Mono NF"/>
              </a:rPr>
              <a:t>("controller", </a:t>
            </a:r>
            <a:r>
              <a:rPr sz="1100" dirty="0" err="1">
                <a:solidFill>
                  <a:srgbClr val="28285E"/>
                </a:solidFill>
                <a:latin typeface="Maple Mono NF"/>
              </a:rPr>
              <a:t>self.controller</a:t>
            </a:r>
            <a:r>
              <a:rPr sz="1100" dirty="0">
                <a:solidFill>
                  <a:srgbClr val="28285E"/>
                </a:solidFill>
                <a:latin typeface="Maple Mono NF"/>
              </a:rPr>
              <a:t>)</a:t>
            </a:r>
          </a:p>
          <a:p>
            <a:pPr algn="l">
              <a:buNone/>
            </a:pPr>
            <a:r>
              <a:rPr sz="1100" dirty="0" err="1">
                <a:solidFill>
                  <a:srgbClr val="28285E"/>
                </a:solidFill>
                <a:latin typeface="Maple Mono NF"/>
              </a:rPr>
              <a:t>graph.add_node</a:t>
            </a:r>
            <a:r>
              <a:rPr sz="1100" dirty="0">
                <a:solidFill>
                  <a:srgbClr val="28285E"/>
                </a:solidFill>
                <a:latin typeface="Maple Mono NF"/>
              </a:rPr>
              <a:t>("tools", </a:t>
            </a:r>
            <a:r>
              <a:rPr sz="1100" dirty="0" err="1">
                <a:solidFill>
                  <a:srgbClr val="28285E"/>
                </a:solidFill>
                <a:latin typeface="Maple Mono NF"/>
              </a:rPr>
              <a:t>self.tools</a:t>
            </a:r>
            <a:r>
              <a:rPr sz="1100" dirty="0">
                <a:solidFill>
                  <a:srgbClr val="28285E"/>
                </a:solidFill>
                <a:latin typeface="Maple Mono NF"/>
              </a:rPr>
              <a:t>)</a:t>
            </a:r>
          </a:p>
          <a:p>
            <a:pPr algn="l">
              <a:buNone/>
            </a:pPr>
            <a:r>
              <a:rPr sz="1100" dirty="0" err="1">
                <a:solidFill>
                  <a:srgbClr val="28285E"/>
                </a:solidFill>
                <a:latin typeface="Maple Mono NF"/>
              </a:rPr>
              <a:t>graph.add_node</a:t>
            </a:r>
            <a:r>
              <a:rPr sz="1100" dirty="0">
                <a:solidFill>
                  <a:srgbClr val="28285E"/>
                </a:solidFill>
                <a:latin typeface="Maple Mono NF"/>
              </a:rPr>
              <a:t>("submit", </a:t>
            </a:r>
            <a:r>
              <a:rPr sz="1100" dirty="0" err="1">
                <a:solidFill>
                  <a:srgbClr val="28285E"/>
                </a:solidFill>
                <a:latin typeface="Maple Mono NF"/>
              </a:rPr>
              <a:t>self.submit</a:t>
            </a:r>
            <a:r>
              <a:rPr sz="1100" dirty="0">
                <a:solidFill>
                  <a:srgbClr val="28285E"/>
                </a:solidFill>
                <a:latin typeface="Maple Mono NF"/>
              </a:rPr>
              <a:t>)</a:t>
            </a:r>
          </a:p>
          <a:p>
            <a:pPr algn="l">
              <a:buNone/>
            </a:pPr>
            <a:r>
              <a:rPr sz="1100" b="1" dirty="0" err="1">
                <a:solidFill>
                  <a:schemeClr val="accent4"/>
                </a:solidFill>
                <a:latin typeface="Maple Mono NF"/>
              </a:rPr>
              <a:t>graph.add_node</a:t>
            </a:r>
            <a:r>
              <a:rPr sz="1100" b="1" dirty="0">
                <a:solidFill>
                  <a:schemeClr val="accent4"/>
                </a:solidFill>
                <a:latin typeface="Maple Mono NF"/>
              </a:rPr>
              <a:t>("validate", </a:t>
            </a:r>
            <a:r>
              <a:rPr sz="1100" b="1" dirty="0" err="1">
                <a:solidFill>
                  <a:schemeClr val="accent4"/>
                </a:solidFill>
                <a:latin typeface="Maple Mono NF"/>
              </a:rPr>
              <a:t>self.validate</a:t>
            </a:r>
            <a:r>
              <a:rPr sz="1100" b="1" dirty="0">
                <a:solidFill>
                  <a:schemeClr val="accent4"/>
                </a:solidFill>
                <a:latin typeface="Maple Mono NF"/>
              </a:rPr>
              <a:t>)</a:t>
            </a:r>
          </a:p>
          <a:p>
            <a:pPr algn="l">
              <a:buNone/>
            </a:pPr>
            <a:endParaRPr sz="1100" dirty="0">
              <a:solidFill>
                <a:srgbClr val="28285E"/>
              </a:solidFill>
              <a:latin typeface="Maple Mono NF"/>
            </a:endParaRPr>
          </a:p>
          <a:p>
            <a:pPr algn="l">
              <a:buNone/>
            </a:pPr>
            <a:r>
              <a:rPr sz="1100" b="1" dirty="0" err="1">
                <a:solidFill>
                  <a:schemeClr val="accent4"/>
                </a:solidFill>
                <a:latin typeface="Maple Mono NF"/>
              </a:rPr>
              <a:t>graph.add_edge</a:t>
            </a:r>
            <a:r>
              <a:rPr sz="1100" b="1" dirty="0">
                <a:solidFill>
                  <a:schemeClr val="accent4"/>
                </a:solidFill>
                <a:latin typeface="Maple Mono NF"/>
              </a:rPr>
              <a:t>(START, "plan")</a:t>
            </a:r>
          </a:p>
          <a:p>
            <a:pPr algn="l">
              <a:buNone/>
            </a:pPr>
            <a:r>
              <a:rPr sz="1100" b="1" dirty="0" err="1">
                <a:solidFill>
                  <a:schemeClr val="accent4"/>
                </a:solidFill>
                <a:latin typeface="Maple Mono NF"/>
              </a:rPr>
              <a:t>graph.add_edge</a:t>
            </a:r>
            <a:r>
              <a:rPr sz="1100" b="1" dirty="0">
                <a:solidFill>
                  <a:schemeClr val="accent4"/>
                </a:solidFill>
                <a:latin typeface="Maple Mono NF"/>
              </a:rPr>
              <a:t>("validate", END)</a:t>
            </a:r>
          </a:p>
        </p:txBody>
      </p:sp>
      <p:sp>
        <p:nvSpPr>
          <p:cNvPr id="5" name="Rectangle 4"/>
          <p:cNvSpPr/>
          <p:nvPr/>
        </p:nvSpPr>
        <p:spPr>
          <a:xfrm>
            <a:off x="319251" y="387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rgbClr val="28285E"/>
                </a:solidFill>
              </a:rPr>
              <a:t>Five nodes now. A run </a:t>
            </a:r>
            <a:r>
              <a:rPr sz="1200" b="1">
                <a:solidFill>
                  <a:srgbClr val="28285E"/>
                </a:solidFill>
              </a:rPr>
              <a:t>begins</a:t>
            </a:r>
            <a:r>
              <a:rPr sz="1200" b="0">
                <a:solidFill>
                  <a:srgbClr val="28285E"/>
                </a:solidFill>
              </a:rPr>
              <a:t> by planning, and the only way it can end accepted is through the validator.</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edge from tools now has two destinations</a:t>
            </a:r>
          </a:p>
        </p:txBody>
      </p:sp>
      <p:sp>
        <p:nvSpPr>
          <p:cNvPr id="3" name="Rectangle 2"/>
          <p:cNvSpPr/>
          <p:nvPr/>
        </p:nvSpPr>
        <p:spPr>
          <a:xfrm>
            <a:off x="319251" y="700000"/>
            <a:ext cx="6014545" cy="79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In the reactive loop, </a:t>
            </a:r>
            <a:r>
              <a:rPr sz="1400" dirty="0">
                <a:latin typeface="Maple Mono NF"/>
              </a:rPr>
              <a:t>tools -&gt; controller</a:t>
            </a:r>
            <a:r>
              <a:rPr sz="1400" dirty="0">
                <a:solidFill>
                  <a:schemeClr val="tx2"/>
                </a:solidFill>
              </a:rPr>
              <a:t> was unconditional</a:t>
            </a:r>
            <a:r>
              <a:rPr lang="en-US" dirty="0">
                <a:solidFill>
                  <a:schemeClr val="tx2"/>
                </a:solidFill>
              </a:rPr>
              <a:t> </a:t>
            </a:r>
            <a:r>
              <a:rPr sz="1400" dirty="0">
                <a:solidFill>
                  <a:schemeClr val="tx2"/>
                </a:solidFill>
              </a:rPr>
              <a:t>that ma</a:t>
            </a:r>
            <a:r>
              <a:rPr lang="en-US" sz="1400" dirty="0">
                <a:solidFill>
                  <a:schemeClr val="tx2"/>
                </a:solidFill>
              </a:rPr>
              <a:t>de </a:t>
            </a:r>
            <a:r>
              <a:rPr sz="1400" dirty="0">
                <a:solidFill>
                  <a:schemeClr val="tx2"/>
                </a:solidFill>
              </a:rPr>
              <a:t>the agent reactive. </a:t>
            </a:r>
            <a:r>
              <a:rPr lang="en-US" sz="1400" dirty="0">
                <a:solidFill>
                  <a:schemeClr val="tx2"/>
                </a:solidFill>
              </a:rPr>
              <a:t>Now, </a:t>
            </a:r>
            <a:r>
              <a:rPr sz="1400" dirty="0">
                <a:solidFill>
                  <a:schemeClr val="tx2"/>
                </a:solidFill>
              </a:rPr>
              <a:t>it chooses, and its </a:t>
            </a:r>
            <a:r>
              <a:rPr lang="en-US" sz="1400" dirty="0">
                <a:solidFill>
                  <a:schemeClr val="tx2"/>
                </a:solidFill>
              </a:rPr>
              <a:t>other </a:t>
            </a:r>
            <a:r>
              <a:rPr sz="1400" dirty="0">
                <a:solidFill>
                  <a:schemeClr val="tx2"/>
                </a:solidFill>
              </a:rPr>
              <a:t>destination is the planner.</a:t>
            </a:r>
          </a:p>
        </p:txBody>
      </p:sp>
      <p:sp>
        <p:nvSpPr>
          <p:cNvPr id="4" name="TextBox 3"/>
          <p:cNvSpPr txBox="1"/>
          <p:nvPr/>
        </p:nvSpPr>
        <p:spPr>
          <a:xfrm>
            <a:off x="319251" y="1750000"/>
            <a:ext cx="6014545" cy="200000"/>
          </a:xfrm>
          <a:prstGeom prst="rect">
            <a:avLst/>
          </a:prstGeom>
          <a:noFill/>
        </p:spPr>
        <p:txBody>
          <a:bodyPr wrap="none">
            <a:spAutoFit/>
          </a:bodyPr>
          <a:lstStyle/>
          <a:p>
            <a:r>
              <a:rPr sz="1200" b="1">
                <a:solidFill>
                  <a:srgbClr val="28285E"/>
                </a:solidFill>
                <a:latin typeface="Maple Mono NF"/>
              </a:rPr>
              <a:t>graph.py, after_tools</a:t>
            </a:r>
          </a:p>
        </p:txBody>
      </p:sp>
      <p:sp>
        <p:nvSpPr>
          <p:cNvPr id="5" name="Rounded Rectangle 4"/>
          <p:cNvSpPr/>
          <p:nvPr/>
        </p:nvSpPr>
        <p:spPr>
          <a:xfrm>
            <a:off x="319251" y="2010000"/>
            <a:ext cx="6014545" cy="88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if state.get(</a:t>
            </a:r>
            <a:r>
              <a:rPr sz="1100" b="1">
                <a:solidFill>
                  <a:srgbClr val="C73561"/>
                </a:solidFill>
                <a:latin typeface="Maple Mono NF"/>
              </a:rPr>
              <a:t>"failed_step"</a:t>
            </a:r>
            <a:r>
              <a:rPr sz="1100">
                <a:solidFill>
                  <a:srgbClr val="28285E"/>
                </a:solidFill>
                <a:latin typeface="Maple Mono NF"/>
              </a:rPr>
              <a:t>):</a:t>
            </a:r>
          </a:p>
          <a:p>
            <a:pPr algn="l">
              <a:buNone/>
            </a:pPr>
            <a:r>
              <a:rPr sz="1100">
                <a:solidFill>
                  <a:srgbClr val="28285E"/>
                </a:solidFill>
                <a:latin typeface="Maple Mono NF"/>
              </a:rPr>
              <a:t>    return </a:t>
            </a:r>
            <a:r>
              <a:rPr sz="1100" b="1">
                <a:solidFill>
                  <a:srgbClr val="099191"/>
                </a:solidFill>
                <a:latin typeface="Maple Mono NF"/>
              </a:rPr>
              <a:t>"plan"</a:t>
            </a:r>
          </a:p>
          <a:p>
            <a:pPr algn="l">
              <a:buNone/>
            </a:pPr>
            <a:r>
              <a:rPr sz="1100">
                <a:solidFill>
                  <a:srgbClr val="28285E"/>
                </a:solidFill>
                <a:latin typeface="Maple Mono NF"/>
              </a:rPr>
              <a:t>return "controller"</a:t>
            </a:r>
          </a:p>
        </p:txBody>
      </p:sp>
      <p:sp>
        <p:nvSpPr>
          <p:cNvPr id="6" name="Rectangle 5"/>
          <p:cNvSpPr/>
          <p:nvPr/>
        </p:nvSpPr>
        <p:spPr>
          <a:xfrm>
            <a:off x="319251" y="387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rgbClr val="28285E"/>
                </a:solidFill>
              </a:rPr>
              <a:t>A run that has stopped learning now gets its plan replaced </a:t>
            </a:r>
            <a:r>
              <a:rPr sz="1200" b="1">
                <a:solidFill>
                  <a:srgbClr val="28285E"/>
                </a:solidFill>
              </a:rPr>
              <a:t>before</a:t>
            </a:r>
            <a:r>
              <a:rPr sz="1200" b="0">
                <a:solidFill>
                  <a:srgbClr val="28285E"/>
                </a:solidFill>
              </a:rPr>
              <a:t> it gets abandoned.</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the runtime decides the plan has failed</a:t>
            </a:r>
          </a:p>
        </p:txBody>
      </p:sp>
      <p:sp>
        <p:nvSpPr>
          <p:cNvPr id="3" name="Content Placeholder 2"/>
          <p:cNvSpPr>
            <a:spLocks noGrp="1"/>
          </p:cNvSpPr>
          <p:nvPr>
            <p:ph idx="1"/>
          </p:nvPr>
        </p:nvSpPr>
        <p:spPr>
          <a:xfrm>
            <a:off x="319251" y="760000"/>
            <a:ext cx="6014545" cy="3003840"/>
          </a:xfrm>
        </p:spPr>
        <p:txBody>
          <a:bodyPr wrap="square">
            <a:normAutofit fontScale="92500"/>
          </a:bodyPr>
          <a:lstStyle/>
          <a:p>
            <a:pPr marL="0" indent="0">
              <a:buNone/>
            </a:pPr>
            <a:r>
              <a:rPr lang="en-US" sz="1400" b="1" dirty="0">
                <a:solidFill>
                  <a:srgbClr val="28285E"/>
                </a:solidFill>
              </a:rPr>
              <a:t>Let’s take the “</a:t>
            </a:r>
            <a:r>
              <a:rPr sz="1400" b="1" dirty="0">
                <a:solidFill>
                  <a:srgbClr val="28285E"/>
                </a:solidFill>
              </a:rPr>
              <a:t>stall</a:t>
            </a:r>
            <a:r>
              <a:rPr lang="en-US" sz="1400" b="1" dirty="0">
                <a:solidFill>
                  <a:srgbClr val="28285E"/>
                </a:solidFill>
              </a:rPr>
              <a:t>"</a:t>
            </a:r>
            <a:r>
              <a:rPr sz="1400" b="1" dirty="0">
                <a:solidFill>
                  <a:srgbClr val="28285E"/>
                </a:solidFill>
              </a:rPr>
              <a:t> </a:t>
            </a:r>
            <a:r>
              <a:rPr lang="en-US" sz="1400" b="1" dirty="0">
                <a:solidFill>
                  <a:srgbClr val="28285E"/>
                </a:solidFill>
              </a:rPr>
              <a:t>rule we </a:t>
            </a:r>
            <a:r>
              <a:rPr sz="1400" b="1" dirty="0">
                <a:solidFill>
                  <a:srgbClr val="28285E"/>
                </a:solidFill>
              </a:rPr>
              <a:t>had</a:t>
            </a:r>
            <a:r>
              <a:rPr lang="en-US" sz="1400" b="1" dirty="0">
                <a:solidFill>
                  <a:srgbClr val="28285E"/>
                </a:solidFill>
              </a:rPr>
              <a:t>…</a:t>
            </a:r>
            <a:r>
              <a:rPr sz="1400" b="1" dirty="0">
                <a:solidFill>
                  <a:srgbClr val="28285E"/>
                </a:solidFill>
              </a:rPr>
              <a:t> </a:t>
            </a:r>
            <a:r>
              <a:rPr lang="en-US" sz="1400" b="1" dirty="0">
                <a:solidFill>
                  <a:srgbClr val="28285E"/>
                </a:solidFill>
              </a:rPr>
              <a:t>how </a:t>
            </a:r>
            <a:r>
              <a:rPr sz="1400" b="1" dirty="0">
                <a:solidFill>
                  <a:srgbClr val="28285E"/>
                </a:solidFill>
              </a:rPr>
              <a:t>it </a:t>
            </a:r>
            <a:r>
              <a:rPr lang="en-US" sz="1400" b="1" dirty="0">
                <a:solidFill>
                  <a:srgbClr val="28285E"/>
                </a:solidFill>
              </a:rPr>
              <a:t>gets </a:t>
            </a:r>
            <a:r>
              <a:rPr sz="1400" b="1" dirty="0">
                <a:solidFill>
                  <a:srgbClr val="28285E"/>
                </a:solidFill>
              </a:rPr>
              <a:t>trigger</a:t>
            </a:r>
            <a:r>
              <a:rPr lang="en-US" sz="1400" b="1" dirty="0">
                <a:solidFill>
                  <a:srgbClr val="28285E"/>
                </a:solidFill>
              </a:rPr>
              <a:t>ed </a:t>
            </a:r>
            <a:r>
              <a:rPr sz="1400" b="1" dirty="0">
                <a:solidFill>
                  <a:srgbClr val="28285E"/>
                </a:solidFill>
              </a:rPr>
              <a:t>is new:</a:t>
            </a:r>
            <a:endParaRPr lang="en-US" sz="1400" b="1" dirty="0">
              <a:solidFill>
                <a:srgbClr val="28285E"/>
              </a:solidFill>
            </a:endParaRPr>
          </a:p>
          <a:p>
            <a:pPr marL="0" indent="0">
              <a:buNone/>
            </a:pPr>
            <a:endParaRPr sz="1400" b="1" dirty="0">
              <a:solidFill>
                <a:srgbClr val="28285E"/>
              </a:solidFill>
            </a:endParaRPr>
          </a:p>
          <a:p>
            <a:pPr marL="400050" indent="-285750">
              <a:spcBef>
                <a:spcPts val="600"/>
              </a:spcBef>
              <a:spcAft>
                <a:spcPts val="600"/>
              </a:spcAft>
              <a:buClr>
                <a:srgbClr val="28285E"/>
              </a:buClr>
              <a:buSzPts val="1260"/>
              <a:buFont typeface="Fira Sans"/>
              <a:buChar char="●"/>
            </a:pPr>
            <a:r>
              <a:rPr sz="1400" b="1" dirty="0">
                <a:solidFill>
                  <a:schemeClr val="tx1"/>
                </a:solidFill>
              </a:rPr>
              <a:t>The runtime notices. </a:t>
            </a:r>
            <a:r>
              <a:rPr sz="1400" dirty="0">
                <a:solidFill>
                  <a:schemeClr val="tx1"/>
                </a:solidFill>
              </a:rPr>
              <a:t>When three consecutive tool calls return the same observation, the node that saw them writes one field, </a:t>
            </a:r>
            <a:r>
              <a:rPr sz="1400" dirty="0" err="1">
                <a:latin typeface="Maple Mono NF"/>
              </a:rPr>
              <a:t>failed_step</a:t>
            </a:r>
            <a:r>
              <a:rPr sz="1400" dirty="0">
                <a:solidFill>
                  <a:schemeClr val="tx1"/>
                </a:solidFill>
              </a:rPr>
              <a:t>.</a:t>
            </a:r>
          </a:p>
          <a:p>
            <a:pPr marL="400050" indent="-285750">
              <a:spcBef>
                <a:spcPts val="600"/>
              </a:spcBef>
              <a:spcAft>
                <a:spcPts val="600"/>
              </a:spcAft>
              <a:buClr>
                <a:srgbClr val="28285E"/>
              </a:buClr>
              <a:buSzPts val="1260"/>
              <a:buFont typeface="Fira Sans"/>
              <a:buChar char="●"/>
            </a:pPr>
            <a:r>
              <a:rPr sz="1400" b="1" dirty="0">
                <a:solidFill>
                  <a:schemeClr val="tx1"/>
                </a:solidFill>
              </a:rPr>
              <a:t>The predicate reads one field. </a:t>
            </a:r>
            <a:r>
              <a:rPr sz="1400" dirty="0">
                <a:solidFill>
                  <a:schemeClr val="tx1"/>
                </a:solidFill>
              </a:rPr>
              <a:t>A conditional edge can only read state, so the judgement is made where the observations are and the edge just looks it up.</a:t>
            </a:r>
          </a:p>
          <a:p>
            <a:pPr marL="400050" indent="-285750">
              <a:spcBef>
                <a:spcPts val="600"/>
              </a:spcBef>
              <a:spcAft>
                <a:spcPts val="600"/>
              </a:spcAft>
              <a:buClr>
                <a:srgbClr val="28285E"/>
              </a:buClr>
              <a:buSzPts val="1260"/>
              <a:buFont typeface="Fira Sans"/>
              <a:buChar char="●"/>
            </a:pPr>
            <a:r>
              <a:rPr sz="1400" b="1" dirty="0">
                <a:solidFill>
                  <a:schemeClr val="tx1"/>
                </a:solidFill>
              </a:rPr>
              <a:t>The planner gets one chance. </a:t>
            </a:r>
            <a:r>
              <a:rPr sz="1400" dirty="0">
                <a:solidFill>
                  <a:schemeClr val="tx1"/>
                </a:solidFill>
              </a:rPr>
              <a:t>After a revision the window resets, and a second stall ends the run with the same terminal status the loop had.</a:t>
            </a:r>
          </a:p>
        </p:txBody>
      </p:sp>
      <p:sp>
        <p:nvSpPr>
          <p:cNvPr id="4" name="Rectangle 3"/>
          <p:cNvSpPr/>
          <p:nvPr/>
        </p:nvSpPr>
        <p:spPr>
          <a:xfrm>
            <a:off x="319251" y="401384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model never writes the field that decides whether its own plan is still working.</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What a planner changes</a:t>
            </a:r>
            <a:r>
              <a:rPr lang="en-US" dirty="0"/>
              <a:t> compared to a react</a:t>
            </a:r>
            <a:endParaRPr dirty="0"/>
          </a:p>
        </p:txBody>
      </p:sp>
      <p:graphicFrame>
        <p:nvGraphicFramePr>
          <p:cNvPr id="3" name="Table 2"/>
          <p:cNvGraphicFramePr>
            <a:graphicFrameLocks noGrp="1"/>
          </p:cNvGraphicFramePr>
          <p:nvPr>
            <p:extLst>
              <p:ext uri="{D42A27DB-BD31-4B8C-83A1-F6EECF244321}">
                <p14:modId xmlns:p14="http://schemas.microsoft.com/office/powerpoint/2010/main" val="3942712601"/>
              </p:ext>
            </p:extLst>
          </p:nvPr>
        </p:nvGraphicFramePr>
        <p:xfrm>
          <a:off x="319251" y="1491615"/>
          <a:ext cx="6014545" cy="2144040"/>
        </p:xfrm>
        <a:graphic>
          <a:graphicData uri="http://schemas.openxmlformats.org/drawingml/2006/table">
            <a:tbl>
              <a:tblPr>
                <a:tableStyleId>{2D5ABB26-0587-4C30-8999-92F81FD0307C}</a:tableStyleId>
              </a:tblPr>
              <a:tblGrid>
                <a:gridCol w="2500000">
                  <a:extLst>
                    <a:ext uri="{9D8B030D-6E8A-4147-A177-3AD203B41FA5}">
                      <a16:colId xmlns:a16="http://schemas.microsoft.com/office/drawing/2014/main" val="20000"/>
                    </a:ext>
                  </a:extLst>
                </a:gridCol>
                <a:gridCol w="1757272">
                  <a:extLst>
                    <a:ext uri="{9D8B030D-6E8A-4147-A177-3AD203B41FA5}">
                      <a16:colId xmlns:a16="http://schemas.microsoft.com/office/drawing/2014/main" val="20001"/>
                    </a:ext>
                  </a:extLst>
                </a:gridCol>
                <a:gridCol w="1757273">
                  <a:extLst>
                    <a:ext uri="{9D8B030D-6E8A-4147-A177-3AD203B41FA5}">
                      <a16:colId xmlns:a16="http://schemas.microsoft.com/office/drawing/2014/main" val="20002"/>
                    </a:ext>
                  </a:extLst>
                </a:gridCol>
              </a:tblGrid>
              <a:tr h="300000">
                <a:tc>
                  <a:txBody>
                    <a:bodyPr/>
                    <a:lstStyle/>
                    <a:p>
                      <a:pPr algn="l">
                        <a:buNone/>
                      </a:pPr>
                      <a:r>
                        <a:rPr sz="1200" b="1">
                          <a:solidFill>
                            <a:schemeClr val="tx1"/>
                          </a:solidFill>
                        </a:rPr>
                        <a:t>Decision</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Reactive loop</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With a planner</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a:solidFill>
                            <a:srgbClr val="28285E"/>
                          </a:solidFill>
                        </a:rPr>
                        <a:t>Who chooses the next operation?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dirty="0">
                          <a:solidFill>
                            <a:schemeClr val="tx1"/>
                          </a:solidFill>
                        </a:rPr>
                        <a:t>The model, for the whole task</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dirty="0">
                          <a:solidFill>
                            <a:schemeClr val="accent4"/>
                          </a:solidFill>
                        </a:rPr>
                        <a:t>The model, inside the current subgoal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200" b="1">
                          <a:solidFill>
                            <a:srgbClr val="28285E"/>
                          </a:solidFill>
                        </a:rPr>
                        <a:t>Where are subgoals recorded?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Nothing records them</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dirty="0">
                          <a:solidFill>
                            <a:schemeClr val="accent4"/>
                          </a:solidFill>
                        </a:rPr>
                        <a:t>In the plan, held in state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What does a step call for?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dirty="0">
                          <a:solidFill>
                            <a:schemeClr val="tx1"/>
                          </a:solidFill>
                        </a:rPr>
                        <a:t>No explicit condition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dirty="0">
                          <a:solidFill>
                            <a:schemeClr val="accent4"/>
                          </a:solidFill>
                        </a:rPr>
                        <a:t>The evidence the planner named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200" b="1">
                          <a:solidFill>
                            <a:srgbClr val="28285E"/>
                          </a:solidFill>
                        </a:rPr>
                        <a:t>What happens when the run stops learning?</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The run ends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dirty="0">
                          <a:solidFill>
                            <a:schemeClr val="accent4"/>
                          </a:solidFill>
                        </a:rPr>
                        <a:t>The plan is replaced, once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What a planner changes</a:t>
            </a:r>
            <a:r>
              <a:rPr lang="en-US" dirty="0"/>
              <a:t> compared to a react</a:t>
            </a:r>
            <a:endParaRPr dirty="0"/>
          </a:p>
        </p:txBody>
      </p:sp>
      <p:graphicFrame>
        <p:nvGraphicFramePr>
          <p:cNvPr id="3" name="Table 2"/>
          <p:cNvGraphicFramePr>
            <a:graphicFrameLocks noGrp="1"/>
          </p:cNvGraphicFramePr>
          <p:nvPr>
            <p:extLst>
              <p:ext uri="{D42A27DB-BD31-4B8C-83A1-F6EECF244321}">
                <p14:modId xmlns:p14="http://schemas.microsoft.com/office/powerpoint/2010/main" val="3709026688"/>
              </p:ext>
            </p:extLst>
          </p:nvPr>
        </p:nvGraphicFramePr>
        <p:xfrm>
          <a:off x="319251" y="1491615"/>
          <a:ext cx="6014545" cy="2144040"/>
        </p:xfrm>
        <a:graphic>
          <a:graphicData uri="http://schemas.openxmlformats.org/drawingml/2006/table">
            <a:tbl>
              <a:tblPr>
                <a:tableStyleId>{2D5ABB26-0587-4C30-8999-92F81FD0307C}</a:tableStyleId>
              </a:tblPr>
              <a:tblGrid>
                <a:gridCol w="2500000">
                  <a:extLst>
                    <a:ext uri="{9D8B030D-6E8A-4147-A177-3AD203B41FA5}">
                      <a16:colId xmlns:a16="http://schemas.microsoft.com/office/drawing/2014/main" val="20000"/>
                    </a:ext>
                  </a:extLst>
                </a:gridCol>
                <a:gridCol w="1757272">
                  <a:extLst>
                    <a:ext uri="{9D8B030D-6E8A-4147-A177-3AD203B41FA5}">
                      <a16:colId xmlns:a16="http://schemas.microsoft.com/office/drawing/2014/main" val="20001"/>
                    </a:ext>
                  </a:extLst>
                </a:gridCol>
                <a:gridCol w="1757273">
                  <a:extLst>
                    <a:ext uri="{9D8B030D-6E8A-4147-A177-3AD203B41FA5}">
                      <a16:colId xmlns:a16="http://schemas.microsoft.com/office/drawing/2014/main" val="20002"/>
                    </a:ext>
                  </a:extLst>
                </a:gridCol>
              </a:tblGrid>
              <a:tr h="300000">
                <a:tc>
                  <a:txBody>
                    <a:bodyPr/>
                    <a:lstStyle/>
                    <a:p>
                      <a:pPr algn="l">
                        <a:buNone/>
                      </a:pPr>
                      <a:r>
                        <a:rPr sz="1200" b="1">
                          <a:solidFill>
                            <a:schemeClr val="tx1"/>
                          </a:solidFill>
                        </a:rPr>
                        <a:t>Decision</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Reactive loop</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With a planner</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a:solidFill>
                            <a:srgbClr val="28285E"/>
                          </a:solidFill>
                        </a:rPr>
                        <a:t>Who chooses the next operation?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The model, for the whole task</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a:solidFill>
                            <a:schemeClr val="accent4"/>
                          </a:solidFill>
                        </a:rPr>
                        <a:t>The model, inside the current subgoal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200" b="1">
                          <a:solidFill>
                            <a:srgbClr val="28285E"/>
                          </a:solidFill>
                        </a:rPr>
                        <a:t>Where are subgoals recorded?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Nothing records them</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a:solidFill>
                            <a:schemeClr val="accent4"/>
                          </a:solidFill>
                        </a:rPr>
                        <a:t>In the plan, held in state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What does a step call for?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No explicit condition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a:solidFill>
                            <a:schemeClr val="accent4"/>
                          </a:solidFill>
                        </a:rPr>
                        <a:t>The evidence the planner named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200" b="1">
                          <a:solidFill>
                            <a:srgbClr val="28285E"/>
                          </a:solidFill>
                        </a:rPr>
                        <a:t>What happens when the run stops learning?</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The run ends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dirty="0">
                          <a:solidFill>
                            <a:schemeClr val="accent4"/>
                          </a:solidFill>
                        </a:rPr>
                        <a:t>The plan is replaced, once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4" name="Rectangle 3"/>
          <p:cNvSpPr/>
          <p:nvPr/>
        </p:nvSpPr>
        <p:spPr>
          <a:xfrm>
            <a:off x="1888761" y="3971648"/>
            <a:ext cx="4445035"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a:solidFill>
                  <a:schemeClr val="tx2"/>
                </a:solidFill>
              </a:rPr>
              <a:t>The model now writes down what it is </a:t>
            </a:r>
            <a:r>
              <a:rPr sz="1200" b="1">
                <a:solidFill>
                  <a:schemeClr val="tx2"/>
                </a:solidFill>
              </a:rPr>
              <a:t>aiming at</a:t>
            </a:r>
            <a:r>
              <a:rPr sz="1200">
                <a:solidFill>
                  <a:schemeClr val="tx2"/>
                </a:solidFill>
              </a:rPr>
              <a:t>, and a turn can be measured against it.</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one plan step records</a:t>
            </a:r>
          </a:p>
        </p:txBody>
      </p:sp>
      <p:sp>
        <p:nvSpPr>
          <p:cNvPr id="3" name="Content Placeholder 2"/>
          <p:cNvSpPr>
            <a:spLocks noGrp="1"/>
          </p:cNvSpPr>
          <p:nvPr>
            <p:ph idx="1"/>
          </p:nvPr>
        </p:nvSpPr>
        <p:spPr>
          <a:xfrm>
            <a:off x="319251" y="2010000"/>
            <a:ext cx="6014545" cy="1728976"/>
          </a:xfrm>
        </p:spPr>
        <p:txBody>
          <a:bodyPr wrap="square"/>
          <a:lstStyle/>
          <a:p>
            <a:pPr marL="0" indent="0">
              <a:buNone/>
            </a:pPr>
            <a:r>
              <a:rPr sz="1400" b="1">
                <a:solidFill>
                  <a:srgbClr val="28285E"/>
                </a:solidFill>
              </a:rPr>
              <a:t>Two things about that record are deliberate:</a:t>
            </a:r>
          </a:p>
          <a:p>
            <a:pPr marL="400050" indent="-285750">
              <a:spcBef>
                <a:spcPts val="600"/>
              </a:spcBef>
              <a:spcAft>
                <a:spcPts val="600"/>
              </a:spcAft>
              <a:buClr>
                <a:srgbClr val="28285E"/>
              </a:buClr>
              <a:buSzPts val="1260"/>
              <a:buFont typeface="Fira Sans"/>
              <a:buChar char="●"/>
            </a:pPr>
            <a:r>
              <a:rPr sz="1400" b="1">
                <a:solidFill>
                  <a:schemeClr val="tx1"/>
                </a:solidFill>
              </a:rPr>
              <a:t>The goal is what to do. </a:t>
            </a:r>
            <a:r>
              <a:rPr sz="1400">
                <a:solidFill>
                  <a:schemeClr val="tx1"/>
                </a:solidFill>
              </a:rPr>
              <a:t>The evidence is what would show it was done, which is the part the loop had nowhere to put.</a:t>
            </a:r>
          </a:p>
          <a:p>
            <a:pPr marL="400050" indent="-285750">
              <a:spcBef>
                <a:spcPts val="600"/>
              </a:spcBef>
              <a:spcAft>
                <a:spcPts val="600"/>
              </a:spcAft>
              <a:buClr>
                <a:srgbClr val="28285E"/>
              </a:buClr>
              <a:buSzPts val="1260"/>
              <a:buFont typeface="Fira Sans"/>
              <a:buChar char="●"/>
            </a:pPr>
            <a:r>
              <a:rPr sz="1400" b="1">
                <a:solidFill>
                  <a:schemeClr val="tx1"/>
                </a:solidFill>
              </a:rPr>
              <a:t>It arrives as input. </a:t>
            </a:r>
            <a:r>
              <a:rPr sz="1400">
                <a:solidFill>
                  <a:schemeClr val="tx1"/>
                </a:solidFill>
              </a:rPr>
              <a:t>The plan reaches the executor as a human message, so the executor never looks like it planned its own work.</a:t>
            </a:r>
          </a:p>
        </p:txBody>
      </p:sp>
      <p:sp>
        <p:nvSpPr>
          <p:cNvPr id="4" name="TextBox 3"/>
          <p:cNvSpPr txBox="1"/>
          <p:nvPr/>
        </p:nvSpPr>
        <p:spPr>
          <a:xfrm>
            <a:off x="319251" y="760000"/>
            <a:ext cx="6014545" cy="200000"/>
          </a:xfrm>
          <a:prstGeom prst="rect">
            <a:avLst/>
          </a:prstGeom>
          <a:noFill/>
        </p:spPr>
        <p:txBody>
          <a:bodyPr wrap="none">
            <a:spAutoFit/>
          </a:bodyPr>
          <a:lstStyle/>
          <a:p>
            <a:r>
              <a:rPr sz="1200" b="1">
                <a:solidFill>
                  <a:srgbClr val="28285E"/>
                </a:solidFill>
                <a:latin typeface="Maple Mono NF"/>
              </a:rPr>
              <a:t>one step, as the planner returns it</a:t>
            </a:r>
          </a:p>
        </p:txBody>
      </p:sp>
      <p:sp>
        <p:nvSpPr>
          <p:cNvPr id="5" name="Rounded Rectangle 4"/>
          <p:cNvSpPr/>
          <p:nvPr/>
        </p:nvSpPr>
        <p:spPr>
          <a:xfrm>
            <a:off x="319251" y="1020000"/>
            <a:ext cx="6014545" cy="76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dirty="0">
                <a:solidFill>
                  <a:srgbClr val="28285E"/>
                </a:solidFill>
                <a:latin typeface="Maple Mono NF"/>
              </a:rPr>
              <a:t>{"id": 2, </a:t>
            </a:r>
            <a:r>
              <a:rPr sz="1100" b="1" dirty="0">
                <a:solidFill>
                  <a:schemeClr val="accent4"/>
                </a:solidFill>
                <a:latin typeface="Maple Mono NF"/>
              </a:rPr>
              <a:t>"goal"</a:t>
            </a:r>
            <a:r>
              <a:rPr sz="1100" dirty="0">
                <a:solidFill>
                  <a:srgbClr val="28285E"/>
                </a:solidFill>
                <a:latin typeface="Maple Mono NF"/>
              </a:rPr>
              <a:t>: "read the helper the flagged line calls",</a:t>
            </a:r>
          </a:p>
          <a:p>
            <a:pPr algn="l">
              <a:buNone/>
            </a:pPr>
            <a:r>
              <a:rPr sz="1100" dirty="0">
                <a:solidFill>
                  <a:srgbClr val="28285E"/>
                </a:solidFill>
                <a:latin typeface="Maple Mono NF"/>
              </a:rPr>
              <a:t>  </a:t>
            </a:r>
            <a:r>
              <a:rPr sz="1100" b="1" dirty="0">
                <a:solidFill>
                  <a:schemeClr val="accent4"/>
                </a:solidFill>
                <a:latin typeface="Maple Mono NF"/>
              </a:rPr>
              <a:t>"evidence"</a:t>
            </a:r>
            <a:r>
              <a:rPr sz="1100" dirty="0">
                <a:solidFill>
                  <a:srgbClr val="28285E"/>
                </a:solidFill>
                <a:latin typeface="Maple Mono NF"/>
              </a:rPr>
              <a:t>: "the value that reaches line 46"}</a:t>
            </a:r>
          </a:p>
        </p:txBody>
      </p:sp>
      <p:sp>
        <p:nvSpPr>
          <p:cNvPr id="6" name="Rectangle 5"/>
          <p:cNvSpPr/>
          <p:nvPr/>
        </p:nvSpPr>
        <p:spPr>
          <a:xfrm>
            <a:off x="319251" y="3928976"/>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planner that fails to plan returns no steps, and the run continues without one. It cannot end the run.</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Where a run goes wrong</a:t>
            </a:r>
          </a:p>
        </p:txBody>
      </p:sp>
      <p:graphicFrame>
        <p:nvGraphicFramePr>
          <p:cNvPr id="3" name="Table 2"/>
          <p:cNvGraphicFramePr>
            <a:graphicFrameLocks noGrp="1"/>
          </p:cNvGraphicFramePr>
          <p:nvPr/>
        </p:nvGraphicFramePr>
        <p:xfrm>
          <a:off x="319251" y="1620000"/>
          <a:ext cx="6014545" cy="1390650"/>
        </p:xfrm>
        <a:graphic>
          <a:graphicData uri="http://schemas.openxmlformats.org/drawingml/2006/table">
            <a:tbl>
              <a:tblPr>
                <a:tableStyleId>{2D5ABB26-0587-4C30-8999-92F81FD0307C}</a:tableStyleId>
              </a:tblPr>
              <a:tblGrid>
                <a:gridCol w="2300000">
                  <a:extLst>
                    <a:ext uri="{9D8B030D-6E8A-4147-A177-3AD203B41FA5}">
                      <a16:colId xmlns:a16="http://schemas.microsoft.com/office/drawing/2014/main" val="20000"/>
                    </a:ext>
                  </a:extLst>
                </a:gridCol>
                <a:gridCol w="1350000">
                  <a:extLst>
                    <a:ext uri="{9D8B030D-6E8A-4147-A177-3AD203B41FA5}">
                      <a16:colId xmlns:a16="http://schemas.microsoft.com/office/drawing/2014/main" val="20001"/>
                    </a:ext>
                  </a:extLst>
                </a:gridCol>
                <a:gridCol w="1200000">
                  <a:extLst>
                    <a:ext uri="{9D8B030D-6E8A-4147-A177-3AD203B41FA5}">
                      <a16:colId xmlns:a16="http://schemas.microsoft.com/office/drawing/2014/main" val="20002"/>
                    </a:ext>
                  </a:extLst>
                </a:gridCol>
                <a:gridCol w="1164545">
                  <a:extLst>
                    <a:ext uri="{9D8B030D-6E8A-4147-A177-3AD203B41FA5}">
                      <a16:colId xmlns:a16="http://schemas.microsoft.com/office/drawing/2014/main" val="20003"/>
                    </a:ext>
                  </a:extLst>
                </a:gridCol>
              </a:tblGrid>
              <a:tr h="300000">
                <a:tc>
                  <a:txBody>
                    <a:bodyPr/>
                    <a:lstStyle/>
                    <a:p>
                      <a:pPr algn="l">
                        <a:buNone/>
                      </a:pPr>
                      <a:r>
                        <a:rPr sz="1000" b="1">
                          <a:solidFill>
                            <a:schemeClr val="tx1"/>
                          </a:solidFill>
                        </a:rPr>
                        <a:t>How the next action is chosen</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Dead end on move one</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Step of first error</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Recovers after it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000" b="1">
                          <a:solidFill>
                            <a:srgbClr val="28285E"/>
                          </a:solidFill>
                        </a:rPr>
                        <a:t>One step at a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55.6%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1.6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5.4%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000" b="1">
                          <a:solidFill>
                            <a:srgbClr val="28285E"/>
                          </a:solidFill>
                        </a:rPr>
                        <a:t>Beam search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71.9%</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11.4%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000" b="1">
                          <a:solidFill>
                            <a:srgbClr val="28285E"/>
                          </a:solidFill>
                        </a:rPr>
                        <a:t>Lookahead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23.6%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2.8</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22.4%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000" b="1">
                          <a:solidFill>
                            <a:srgbClr val="28285E"/>
                          </a:solidFill>
                        </a:rPr>
                        <a:t>Lookahead with value propagation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17.8%</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3.2</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29.7%</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4" name="TextBox 3"/>
          <p:cNvSpPr txBox="1"/>
          <p:nvPr/>
        </p:nvSpPr>
        <p:spPr>
          <a:xfrm>
            <a:off x="2433796" y="3450000"/>
            <a:ext cx="3900000" cy="253916"/>
          </a:xfrm>
          <a:prstGeom prst="rect">
            <a:avLst/>
          </a:prstGeom>
          <a:noFill/>
        </p:spPr>
        <p:txBody>
          <a:bodyPr wrap="none">
            <a:spAutoFit/>
          </a:bodyPr>
          <a:lstStyle/>
          <a:p>
            <a:pPr algn="r"/>
            <a:r>
              <a:rPr sz="1050" i="1">
                <a:solidFill>
                  <a:schemeClr val="bg2"/>
                </a:solidFill>
              </a:rPr>
              <a:t>Table 3, Wang et al., 2026 (arXiv:2601.22311), three benchmarks</a:t>
            </a:r>
          </a:p>
        </p:txBody>
      </p:sp>
      <p:sp>
        <p:nvSpPr>
          <p:cNvPr id="5" name="Rectangle 4"/>
          <p:cNvSpPr/>
          <p:nvPr/>
        </p:nvSpPr>
        <p:spPr>
          <a:xfrm>
            <a:off x="319251" y="700000"/>
            <a:ext cx="6014545" cy="85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All four pick the next action, and differ only in what they score it against: </a:t>
            </a:r>
            <a:r>
              <a:rPr sz="1400" b="1">
                <a:solidFill>
                  <a:schemeClr val="tx2"/>
                </a:solidFill>
              </a:rPr>
              <a:t>the step itself</a:t>
            </a:r>
            <a:r>
              <a:rPr sz="1400" b="0">
                <a:solidFill>
                  <a:schemeClr val="tx2"/>
                </a:solidFill>
              </a:rPr>
              <a:t>, the same step with more candidates, </a:t>
            </a:r>
            <a:r>
              <a:rPr sz="1400" b="1">
                <a:solidFill>
                  <a:schemeClr val="tx2"/>
                </a:solidFill>
              </a:rPr>
              <a:t>the futures it leads to</a:t>
            </a:r>
            <a:r>
              <a:rPr sz="1400" b="0">
                <a:solidFill>
                  <a:schemeClr val="tx2"/>
                </a:solidFill>
              </a:rPr>
              <a:t>, or those futures fed back to revise the choice that led there.</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EF624-635C-176E-2827-44177171D0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61A694-8F73-5DF6-82DB-43130EE70C59}"/>
              </a:ext>
            </a:extLst>
          </p:cNvPr>
          <p:cNvSpPr>
            <a:spLocks noGrp="1"/>
          </p:cNvSpPr>
          <p:nvPr>
            <p:ph type="title"/>
          </p:nvPr>
        </p:nvSpPr>
        <p:spPr/>
        <p:txBody>
          <a:bodyPr/>
          <a:lstStyle/>
          <a:p>
            <a:r>
              <a:rPr dirty="0"/>
              <a:t>Where a run goes wrong</a:t>
            </a:r>
          </a:p>
        </p:txBody>
      </p:sp>
      <p:graphicFrame>
        <p:nvGraphicFramePr>
          <p:cNvPr id="3" name="Table 2">
            <a:extLst>
              <a:ext uri="{FF2B5EF4-FFF2-40B4-BE49-F238E27FC236}">
                <a16:creationId xmlns:a16="http://schemas.microsoft.com/office/drawing/2014/main" id="{1D6D0EDA-2DC4-9975-FB7A-A7EFCE922DCA}"/>
              </a:ext>
            </a:extLst>
          </p:cNvPr>
          <p:cNvGraphicFramePr>
            <a:graphicFrameLocks noGrp="1"/>
          </p:cNvGraphicFramePr>
          <p:nvPr>
            <p:extLst>
              <p:ext uri="{D42A27DB-BD31-4B8C-83A1-F6EECF244321}">
                <p14:modId xmlns:p14="http://schemas.microsoft.com/office/powerpoint/2010/main" val="592902914"/>
              </p:ext>
            </p:extLst>
          </p:nvPr>
        </p:nvGraphicFramePr>
        <p:xfrm>
          <a:off x="319251" y="1620000"/>
          <a:ext cx="6014545" cy="1390650"/>
        </p:xfrm>
        <a:graphic>
          <a:graphicData uri="http://schemas.openxmlformats.org/drawingml/2006/table">
            <a:tbl>
              <a:tblPr>
                <a:tableStyleId>{2D5ABB26-0587-4C30-8999-92F81FD0307C}</a:tableStyleId>
              </a:tblPr>
              <a:tblGrid>
                <a:gridCol w="2300000">
                  <a:extLst>
                    <a:ext uri="{9D8B030D-6E8A-4147-A177-3AD203B41FA5}">
                      <a16:colId xmlns:a16="http://schemas.microsoft.com/office/drawing/2014/main" val="20000"/>
                    </a:ext>
                  </a:extLst>
                </a:gridCol>
                <a:gridCol w="1350000">
                  <a:extLst>
                    <a:ext uri="{9D8B030D-6E8A-4147-A177-3AD203B41FA5}">
                      <a16:colId xmlns:a16="http://schemas.microsoft.com/office/drawing/2014/main" val="20001"/>
                    </a:ext>
                  </a:extLst>
                </a:gridCol>
                <a:gridCol w="1200000">
                  <a:extLst>
                    <a:ext uri="{9D8B030D-6E8A-4147-A177-3AD203B41FA5}">
                      <a16:colId xmlns:a16="http://schemas.microsoft.com/office/drawing/2014/main" val="20002"/>
                    </a:ext>
                  </a:extLst>
                </a:gridCol>
                <a:gridCol w="1164545">
                  <a:extLst>
                    <a:ext uri="{9D8B030D-6E8A-4147-A177-3AD203B41FA5}">
                      <a16:colId xmlns:a16="http://schemas.microsoft.com/office/drawing/2014/main" val="20003"/>
                    </a:ext>
                  </a:extLst>
                </a:gridCol>
              </a:tblGrid>
              <a:tr h="300000">
                <a:tc>
                  <a:txBody>
                    <a:bodyPr/>
                    <a:lstStyle/>
                    <a:p>
                      <a:pPr algn="l">
                        <a:buNone/>
                      </a:pPr>
                      <a:r>
                        <a:rPr sz="1000" b="1">
                          <a:solidFill>
                            <a:schemeClr val="tx1"/>
                          </a:solidFill>
                        </a:rPr>
                        <a:t>How the next action is chosen</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Dead end on move one</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Step of first error</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Recovers after it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000" b="1">
                          <a:solidFill>
                            <a:srgbClr val="28285E"/>
                          </a:solidFill>
                        </a:rPr>
                        <a:t>One step at a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55.6%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1.6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5.4%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000" b="1">
                          <a:solidFill>
                            <a:srgbClr val="28285E"/>
                          </a:solidFill>
                        </a:rPr>
                        <a:t>Beam search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71.9%</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11.4%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000" b="1">
                          <a:solidFill>
                            <a:srgbClr val="28285E"/>
                          </a:solidFill>
                        </a:rPr>
                        <a:t>Lookahead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23.6%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2.8</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22.4%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000" b="1" dirty="0">
                          <a:solidFill>
                            <a:schemeClr val="accent4"/>
                          </a:solidFill>
                        </a:rPr>
                        <a:t>Lookahead with value propagation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accent4"/>
                          </a:solidFill>
                        </a:rPr>
                        <a:t>17.8%</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accent4"/>
                          </a:solidFill>
                        </a:rPr>
                        <a:t>3.2</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dirty="0">
                          <a:solidFill>
                            <a:schemeClr val="accent4"/>
                          </a:solidFill>
                        </a:rPr>
                        <a:t>29.7%</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4" name="TextBox 3">
            <a:extLst>
              <a:ext uri="{FF2B5EF4-FFF2-40B4-BE49-F238E27FC236}">
                <a16:creationId xmlns:a16="http://schemas.microsoft.com/office/drawing/2014/main" id="{3018C3B7-624A-0171-9291-1106C147C651}"/>
              </a:ext>
            </a:extLst>
          </p:cNvPr>
          <p:cNvSpPr txBox="1"/>
          <p:nvPr/>
        </p:nvSpPr>
        <p:spPr>
          <a:xfrm>
            <a:off x="2433796" y="3450000"/>
            <a:ext cx="3900000" cy="253916"/>
          </a:xfrm>
          <a:prstGeom prst="rect">
            <a:avLst/>
          </a:prstGeom>
          <a:noFill/>
        </p:spPr>
        <p:txBody>
          <a:bodyPr wrap="none">
            <a:spAutoFit/>
          </a:bodyPr>
          <a:lstStyle/>
          <a:p>
            <a:pPr algn="r"/>
            <a:r>
              <a:rPr sz="1050" i="1">
                <a:solidFill>
                  <a:schemeClr val="bg2"/>
                </a:solidFill>
              </a:rPr>
              <a:t>Table 3, Wang et al., 2026 (arXiv:2601.22311), three benchmarks</a:t>
            </a:r>
          </a:p>
        </p:txBody>
      </p:sp>
      <p:sp>
        <p:nvSpPr>
          <p:cNvPr id="5" name="Rectangle 4">
            <a:extLst>
              <a:ext uri="{FF2B5EF4-FFF2-40B4-BE49-F238E27FC236}">
                <a16:creationId xmlns:a16="http://schemas.microsoft.com/office/drawing/2014/main" id="{8C5AF8AC-0C2A-E0CF-9DD7-D7F19410D774}"/>
              </a:ext>
            </a:extLst>
          </p:cNvPr>
          <p:cNvSpPr/>
          <p:nvPr/>
        </p:nvSpPr>
        <p:spPr>
          <a:xfrm>
            <a:off x="1888761" y="3790000"/>
            <a:ext cx="4445035" cy="51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tx2"/>
                </a:solidFill>
              </a:rPr>
              <a:t>Lookahead with value propagation cuts the first-move dead end to a third, gets </a:t>
            </a:r>
            <a:r>
              <a:rPr sz="1200" b="1">
                <a:solidFill>
                  <a:schemeClr val="tx2"/>
                </a:solidFill>
              </a:rPr>
              <a:t>twice as far</a:t>
            </a:r>
            <a:r>
              <a:rPr sz="1200" b="0">
                <a:solidFill>
                  <a:schemeClr val="tx2"/>
                </a:solidFill>
              </a:rPr>
              <a:t> before the first error, and makes recovery </a:t>
            </a:r>
            <a:r>
              <a:rPr sz="1200" b="1">
                <a:solidFill>
                  <a:schemeClr val="tx2"/>
                </a:solidFill>
              </a:rPr>
              <a:t>five times</a:t>
            </a:r>
            <a:r>
              <a:rPr sz="1200" b="0">
                <a:solidFill>
                  <a:schemeClr val="tx2"/>
                </a:solidFill>
              </a:rPr>
              <a:t> more likely.</a:t>
            </a:r>
          </a:p>
        </p:txBody>
      </p:sp>
      <p:sp>
        <p:nvSpPr>
          <p:cNvPr id="6" name="Rectangle 5"/>
          <p:cNvSpPr/>
          <p:nvPr/>
        </p:nvSpPr>
        <p:spPr>
          <a:xfrm>
            <a:off x="319251" y="700000"/>
            <a:ext cx="6014545" cy="85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All four pick the next action, and differ only in what they score it against: </a:t>
            </a:r>
            <a:r>
              <a:rPr sz="1400" b="1">
                <a:solidFill>
                  <a:schemeClr val="tx2"/>
                </a:solidFill>
              </a:rPr>
              <a:t>the step itself</a:t>
            </a:r>
            <a:r>
              <a:rPr sz="1400" b="0">
                <a:solidFill>
                  <a:schemeClr val="tx2"/>
                </a:solidFill>
              </a:rPr>
              <a:t>, the same step with more candidates, </a:t>
            </a:r>
            <a:r>
              <a:rPr sz="1400" b="1">
                <a:solidFill>
                  <a:schemeClr val="tx2"/>
                </a:solidFill>
              </a:rPr>
              <a:t>the futures it leads to</a:t>
            </a:r>
            <a:r>
              <a:rPr sz="1400" b="0">
                <a:solidFill>
                  <a:schemeClr val="tx2"/>
                </a:solidFill>
              </a:rPr>
              <a:t>, or those futures fed back to revise the choice that led there.</a:t>
            </a:r>
          </a:p>
        </p:txBody>
      </p:sp>
    </p:spTree>
    <p:extLst>
      <p:ext uri="{BB962C8B-B14F-4D97-AF65-F5344CB8AC3E}">
        <p14:creationId xmlns:p14="http://schemas.microsoft.com/office/powerpoint/2010/main" val="239698629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wider search does not fix myopia</a:t>
            </a:r>
          </a:p>
        </p:txBody>
      </p:sp>
      <p:sp>
        <p:nvSpPr>
          <p:cNvPr id="3" name="Content Placeholder 2"/>
          <p:cNvSpPr>
            <a:spLocks noGrp="1"/>
          </p:cNvSpPr>
          <p:nvPr>
            <p:ph idx="1"/>
          </p:nvPr>
        </p:nvSpPr>
        <p:spPr>
          <a:xfrm>
            <a:off x="319251" y="1620000"/>
            <a:ext cx="6014545" cy="1900000"/>
          </a:xfrm>
        </p:spPr>
        <p:txBody>
          <a:bodyPr wrap="square">
            <a:normAutofit fontScale="92500" lnSpcReduction="20000"/>
          </a:bodyPr>
          <a:lstStyle/>
          <a:p>
            <a:pPr marL="0" indent="0">
              <a:buNone/>
            </a:pPr>
            <a:r>
              <a:rPr sz="1400" b="1" dirty="0">
                <a:solidFill>
                  <a:srgbClr val="28285E"/>
                </a:solidFill>
              </a:rPr>
              <a:t>The reason is worth carrying into your own agent:</a:t>
            </a:r>
          </a:p>
          <a:p>
            <a:pPr marL="400050" indent="-285750">
              <a:spcBef>
                <a:spcPts val="600"/>
              </a:spcBef>
              <a:spcAft>
                <a:spcPts val="600"/>
              </a:spcAft>
              <a:buClr>
                <a:srgbClr val="28285E"/>
              </a:buClr>
              <a:buSzPts val="1260"/>
              <a:buFont typeface="Fira Sans"/>
              <a:buChar char="●"/>
            </a:pPr>
            <a:r>
              <a:rPr sz="1400" b="1" dirty="0">
                <a:solidFill>
                  <a:schemeClr val="tx1"/>
                </a:solidFill>
              </a:rPr>
              <a:t>The score is the problem. </a:t>
            </a:r>
            <a:r>
              <a:rPr sz="1400" dirty="0">
                <a:solidFill>
                  <a:schemeClr val="tx1"/>
                </a:solidFill>
              </a:rPr>
              <a:t>Beam search </a:t>
            </a:r>
            <a:r>
              <a:rPr sz="1400" b="1" dirty="0">
                <a:solidFill>
                  <a:schemeClr val="tx1"/>
                </a:solidFill>
              </a:rPr>
              <a:t>ranks</a:t>
            </a:r>
            <a:r>
              <a:rPr sz="1400" dirty="0">
                <a:solidFill>
                  <a:schemeClr val="tx1"/>
                </a:solidFill>
              </a:rPr>
              <a:t> more candidates, but it ranks them </a:t>
            </a:r>
            <a:r>
              <a:rPr sz="1400" b="1" dirty="0">
                <a:solidFill>
                  <a:schemeClr val="tx1"/>
                </a:solidFill>
              </a:rPr>
              <a:t>with the same next-step plausibility </a:t>
            </a:r>
            <a:r>
              <a:rPr sz="1400" dirty="0">
                <a:solidFill>
                  <a:schemeClr val="tx1"/>
                </a:solidFill>
              </a:rPr>
              <a:t>that misled the single-step run.</a:t>
            </a:r>
          </a:p>
          <a:p>
            <a:pPr marL="400050" indent="-285750">
              <a:spcBef>
                <a:spcPts val="600"/>
              </a:spcBef>
              <a:spcAft>
                <a:spcPts val="600"/>
              </a:spcAft>
              <a:buClr>
                <a:srgbClr val="28285E"/>
              </a:buClr>
              <a:buSzPts val="1260"/>
              <a:buFont typeface="Fira Sans"/>
              <a:buChar char="●"/>
            </a:pPr>
            <a:r>
              <a:rPr sz="1400" b="1" dirty="0">
                <a:solidFill>
                  <a:schemeClr val="tx1"/>
                </a:solidFill>
              </a:rPr>
              <a:t>The fix</a:t>
            </a:r>
            <a:r>
              <a:rPr lang="en-US" sz="1400" b="1" dirty="0">
                <a:solidFill>
                  <a:schemeClr val="tx1"/>
                </a:solidFill>
              </a:rPr>
              <a:t>: choose</a:t>
            </a:r>
            <a:r>
              <a:rPr sz="1400" b="1" dirty="0">
                <a:solidFill>
                  <a:schemeClr val="tx1"/>
                </a:solidFill>
              </a:rPr>
              <a:t> what you score with</a:t>
            </a:r>
            <a:r>
              <a:rPr lang="en-US" sz="1400" b="1" dirty="0">
                <a:solidFill>
                  <a:schemeClr val="tx1"/>
                </a:solidFill>
              </a:rPr>
              <a:t> wisely</a:t>
            </a:r>
            <a:r>
              <a:rPr sz="1400" b="1" dirty="0">
                <a:solidFill>
                  <a:schemeClr val="tx1"/>
                </a:solidFill>
              </a:rPr>
              <a:t>. </a:t>
            </a:r>
            <a:r>
              <a:rPr sz="1400" dirty="0">
                <a:solidFill>
                  <a:schemeClr val="tx1"/>
                </a:solidFill>
              </a:rPr>
              <a:t>What moved every column in that table was </a:t>
            </a:r>
            <a:r>
              <a:rPr sz="1400" b="1" dirty="0">
                <a:solidFill>
                  <a:schemeClr val="tx1"/>
                </a:solidFill>
              </a:rPr>
              <a:t>evaluating an action by what follows it rather than by how good it looks now</a:t>
            </a:r>
            <a:r>
              <a:rPr sz="1400" dirty="0">
                <a:solidFill>
                  <a:schemeClr val="tx1"/>
                </a:solidFill>
              </a:rPr>
              <a:t>.</a:t>
            </a:r>
          </a:p>
        </p:txBody>
      </p:sp>
      <p:sp>
        <p:nvSpPr>
          <p:cNvPr id="4" name="Rectangle 3"/>
          <p:cNvSpPr/>
          <p:nvPr/>
        </p:nvSpPr>
        <p:spPr>
          <a:xfrm>
            <a:off x="319251" y="756323"/>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Beam search explores more branches than choosing one step at a time, and it walks into the first-move trap </a:t>
            </a:r>
            <a:r>
              <a:rPr sz="1400" b="1">
                <a:solidFill>
                  <a:schemeClr val="tx2"/>
                </a:solidFill>
              </a:rPr>
              <a:t>more often</a:t>
            </a:r>
            <a:r>
              <a:rPr sz="1400">
                <a:solidFill>
                  <a:schemeClr val="tx2"/>
                </a:solidFill>
              </a:rPr>
              <a:t>.</a:t>
            </a:r>
          </a:p>
        </p:txBody>
      </p:sp>
      <p:sp>
        <p:nvSpPr>
          <p:cNvPr id="5" name="Rectangle 4"/>
          <p:cNvSpPr/>
          <p:nvPr/>
        </p:nvSpPr>
        <p:spPr>
          <a:xfrm>
            <a:off x="319251" y="380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accent4"/>
                </a:solidFill>
              </a:rPr>
              <a:t>When your agent stalls, look at </a:t>
            </a:r>
            <a:r>
              <a:rPr sz="1200" b="1">
                <a:solidFill>
                  <a:schemeClr val="accent4"/>
                </a:solidFill>
              </a:rPr>
              <a:t>what it is scoring</a:t>
            </a:r>
            <a:r>
              <a:rPr sz="1200" b="0">
                <a:solidFill>
                  <a:schemeClr val="accent4"/>
                </a:solidFill>
              </a:rPr>
              <a:t> before you look at how much it is searching.</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Why submit can no longer accept a patch</a:t>
            </a:r>
          </a:p>
        </p:txBody>
      </p:sp>
      <p:sp>
        <p:nvSpPr>
          <p:cNvPr id="3" name="Content Placeholder 2"/>
          <p:cNvSpPr>
            <a:spLocks noGrp="1"/>
          </p:cNvSpPr>
          <p:nvPr>
            <p:ph idx="1"/>
          </p:nvPr>
        </p:nvSpPr>
        <p:spPr>
          <a:xfrm>
            <a:off x="319251" y="2670000"/>
            <a:ext cx="6014545" cy="1858038"/>
          </a:xfrm>
        </p:spPr>
        <p:txBody>
          <a:bodyPr wrap="square">
            <a:normAutofit lnSpcReduction="10000"/>
          </a:bodyPr>
          <a:lstStyle/>
          <a:p>
            <a:pPr marL="0" indent="0">
              <a:buNone/>
            </a:pPr>
            <a:r>
              <a:rPr sz="1400" b="1" dirty="0">
                <a:solidFill>
                  <a:srgbClr val="28285E"/>
                </a:solidFill>
              </a:rPr>
              <a:t>So the three checks and the validator are not alternatives:</a:t>
            </a:r>
          </a:p>
          <a:p>
            <a:pPr marL="400050" indent="-285750">
              <a:spcBef>
                <a:spcPts val="600"/>
              </a:spcBef>
              <a:spcAft>
                <a:spcPts val="600"/>
              </a:spcAft>
              <a:buClr>
                <a:srgbClr val="28285E"/>
              </a:buClr>
              <a:buSzPts val="1260"/>
              <a:buFont typeface="Fira Sans"/>
              <a:buChar char="●"/>
            </a:pPr>
            <a:r>
              <a:rPr sz="1400" b="1" dirty="0">
                <a:solidFill>
                  <a:schemeClr val="tx1"/>
                </a:solidFill>
              </a:rPr>
              <a:t>The checks are a gate. </a:t>
            </a:r>
            <a:r>
              <a:rPr sz="1400" dirty="0">
                <a:solidFill>
                  <a:schemeClr val="tx1"/>
                </a:solidFill>
              </a:rPr>
              <a:t>A patch that fails them never reaches the judge; it goes back to the controller with the reasons.</a:t>
            </a:r>
          </a:p>
          <a:p>
            <a:pPr marL="400050" indent="-285750">
              <a:spcBef>
                <a:spcPts val="600"/>
              </a:spcBef>
              <a:spcAft>
                <a:spcPts val="600"/>
              </a:spcAft>
              <a:buClr>
                <a:srgbClr val="28285E"/>
              </a:buClr>
              <a:buSzPts val="1260"/>
              <a:buFont typeface="Fira Sans"/>
              <a:buChar char="●"/>
            </a:pPr>
            <a:r>
              <a:rPr sz="1400" b="1" dirty="0">
                <a:solidFill>
                  <a:schemeClr val="tx1"/>
                </a:solidFill>
              </a:rPr>
              <a:t>The validator is the only exit. </a:t>
            </a:r>
            <a:r>
              <a:rPr sz="1400" dirty="0">
                <a:solidFill>
                  <a:schemeClr val="tx1"/>
                </a:solidFill>
              </a:rPr>
              <a:t>It is the one node that can end a run accepted, and it is handed a patch that has already passed everything mechanical.</a:t>
            </a:r>
          </a:p>
        </p:txBody>
      </p:sp>
      <p:sp>
        <p:nvSpPr>
          <p:cNvPr id="4" name="Rectangle 3"/>
          <p:cNvSpPr/>
          <p:nvPr/>
        </p:nvSpPr>
        <p:spPr>
          <a:xfrm>
            <a:off x="319251" y="699999"/>
            <a:ext cx="6014545" cy="768315"/>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Acceptance is decoupled from the controller already, because </a:t>
            </a:r>
            <a:r>
              <a:rPr sz="1400" b="1" u="sng" dirty="0">
                <a:latin typeface="Maple Mono NF"/>
              </a:rPr>
              <a:t>submit</a:t>
            </a:r>
            <a:r>
              <a:rPr sz="1400" b="1" u="sng" dirty="0">
                <a:solidFill>
                  <a:schemeClr val="tx2"/>
                </a:solidFill>
              </a:rPr>
              <a:t> runs three mechanical checks</a:t>
            </a:r>
            <a:r>
              <a:rPr sz="1400" dirty="0">
                <a:solidFill>
                  <a:schemeClr val="tx2"/>
                </a:solidFill>
              </a:rPr>
              <a:t> that no model writes. What changes here is that </a:t>
            </a:r>
            <a:r>
              <a:rPr sz="1400" b="1" u="sng" dirty="0">
                <a:latin typeface="Maple Mono NF"/>
              </a:rPr>
              <a:t>submit</a:t>
            </a:r>
            <a:r>
              <a:rPr sz="1400" b="1" u="sng" dirty="0">
                <a:solidFill>
                  <a:schemeClr val="tx2"/>
                </a:solidFill>
              </a:rPr>
              <a:t> can no longer accept</a:t>
            </a:r>
            <a:r>
              <a:rPr sz="1400" dirty="0">
                <a:solidFill>
                  <a:schemeClr val="tx2"/>
                </a:solidFill>
              </a:rPr>
              <a:t>.</a:t>
            </a:r>
          </a:p>
        </p:txBody>
      </p:sp>
      <p:sp>
        <p:nvSpPr>
          <p:cNvPr id="5" name="TextBox 4"/>
          <p:cNvSpPr txBox="1"/>
          <p:nvPr/>
        </p:nvSpPr>
        <p:spPr>
          <a:xfrm>
            <a:off x="319251" y="1660000"/>
            <a:ext cx="6014545" cy="200000"/>
          </a:xfrm>
          <a:prstGeom prst="rect">
            <a:avLst/>
          </a:prstGeom>
          <a:noFill/>
        </p:spPr>
        <p:txBody>
          <a:bodyPr wrap="none">
            <a:spAutoFit/>
          </a:bodyPr>
          <a:lstStyle/>
          <a:p>
            <a:r>
              <a:rPr sz="1200" b="1">
                <a:solidFill>
                  <a:srgbClr val="28285E"/>
                </a:solidFill>
                <a:latin typeface="Maple Mono NF"/>
              </a:rPr>
              <a:t>graph.py, after_submit</a:t>
            </a:r>
          </a:p>
        </p:txBody>
      </p:sp>
      <p:sp>
        <p:nvSpPr>
          <p:cNvPr id="6" name="Rounded Rectangle 5"/>
          <p:cNvSpPr/>
          <p:nvPr/>
        </p:nvSpPr>
        <p:spPr>
          <a:xfrm>
            <a:off x="319251" y="192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return </a:t>
            </a:r>
            <a:r>
              <a:rPr sz="1100" b="1">
                <a:solidFill>
                  <a:srgbClr val="099191"/>
                </a:solidFill>
                <a:latin typeface="Maple Mono NF"/>
              </a:rPr>
              <a:t>"validate"</a:t>
            </a:r>
            <a:r>
              <a:rPr sz="1100">
                <a:solidFill>
                  <a:srgbClr val="28285E"/>
                </a:solidFill>
                <a:latin typeface="Maple Mono NF"/>
              </a:rPr>
              <a:t> if checks.passed else "controller"</a:t>
            </a:r>
          </a:p>
        </p:txBody>
      </p:sp>
      <p:sp>
        <p:nvSpPr>
          <p:cNvPr id="7" name="TextBox 6">
            <a:extLst>
              <a:ext uri="{FF2B5EF4-FFF2-40B4-BE49-F238E27FC236}">
                <a16:creationId xmlns:a16="http://schemas.microsoft.com/office/drawing/2014/main" id="{DE89E9DB-2438-B99D-A84A-A2191191E2AA}"/>
              </a:ext>
            </a:extLst>
          </p:cNvPr>
          <p:cNvSpPr txBox="1"/>
          <p:nvPr/>
        </p:nvSpPr>
        <p:spPr>
          <a:xfrm>
            <a:off x="2031023" y="4826977"/>
            <a:ext cx="4700326" cy="307777"/>
          </a:xfrm>
          <a:prstGeom prst="rect">
            <a:avLst/>
          </a:prstGeom>
          <a:noFill/>
        </p:spPr>
        <p:txBody>
          <a:bodyPr wrap="none" rtlCol="0">
            <a:spAutoFit/>
          </a:bodyPr>
          <a:lstStyle/>
          <a:p>
            <a:r>
              <a:rPr lang="en-US" dirty="0">
                <a:latin typeface="+mn-lt"/>
              </a:rPr>
              <a:t>See: lec2_planning_and_validation_agent/graph.py:433</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the validator never sees the conversation</a:t>
            </a:r>
          </a:p>
        </p:txBody>
      </p:sp>
      <p:sp>
        <p:nvSpPr>
          <p:cNvPr id="3" name="Content Placeholder 2"/>
          <p:cNvSpPr>
            <a:spLocks noGrp="1"/>
          </p:cNvSpPr>
          <p:nvPr>
            <p:ph idx="1"/>
          </p:nvPr>
        </p:nvSpPr>
        <p:spPr>
          <a:xfrm>
            <a:off x="319251" y="760000"/>
            <a:ext cx="6014545" cy="2400000"/>
          </a:xfrm>
        </p:spPr>
        <p:txBody>
          <a:bodyPr wrap="square">
            <a:normAutofit fontScale="92500"/>
          </a:bodyPr>
          <a:lstStyle/>
          <a:p>
            <a:pPr marL="0" indent="0">
              <a:buNone/>
            </a:pPr>
            <a:r>
              <a:rPr sz="1400" b="1" dirty="0">
                <a:solidFill>
                  <a:srgbClr val="28285E"/>
                </a:solidFill>
              </a:rPr>
              <a:t>The validator sees four things</a:t>
            </a:r>
            <a:r>
              <a:rPr lang="en-US" sz="1400" b="1" dirty="0">
                <a:solidFill>
                  <a:srgbClr val="28285E"/>
                </a:solidFill>
              </a:rPr>
              <a:t>:</a:t>
            </a:r>
          </a:p>
          <a:p>
            <a:pPr marL="400050" indent="-285750">
              <a:spcBef>
                <a:spcPts val="600"/>
              </a:spcBef>
              <a:spcAft>
                <a:spcPts val="600"/>
              </a:spcAft>
              <a:buClr>
                <a:srgbClr val="28285E"/>
              </a:buClr>
              <a:buSzPts val="1260"/>
              <a:buFont typeface="Fira Sans"/>
              <a:buChar char="●"/>
            </a:pPr>
            <a:r>
              <a:rPr lang="en-US" sz="1400" b="1" dirty="0">
                <a:solidFill>
                  <a:schemeClr val="tx1"/>
                </a:solidFill>
              </a:rPr>
              <a:t>It reads the alert, the patch, and the three check results. </a:t>
            </a:r>
            <a:r>
              <a:rPr lang="en-US" sz="1400" dirty="0">
                <a:solidFill>
                  <a:schemeClr val="tx1"/>
                </a:solidFill>
              </a:rPr>
              <a:t>Those are what a reviewer would be given.</a:t>
            </a:r>
          </a:p>
          <a:p>
            <a:pPr marL="400050" indent="-285750">
              <a:spcBef>
                <a:spcPts val="600"/>
              </a:spcBef>
              <a:spcAft>
                <a:spcPts val="600"/>
              </a:spcAft>
              <a:buClr>
                <a:srgbClr val="28285E"/>
              </a:buClr>
              <a:buSzPts val="1260"/>
              <a:buFont typeface="Fira Sans"/>
              <a:buChar char="●"/>
            </a:pPr>
            <a:r>
              <a:rPr sz="1400" b="1" dirty="0">
                <a:solidFill>
                  <a:schemeClr val="tx1"/>
                </a:solidFill>
              </a:rPr>
              <a:t>It reads the observations. </a:t>
            </a:r>
            <a:r>
              <a:rPr sz="1400" dirty="0">
                <a:solidFill>
                  <a:schemeClr val="tx1"/>
                </a:solidFill>
              </a:rPr>
              <a:t>That is the trajectory the runtime recorded: what the tools actually returned.</a:t>
            </a:r>
          </a:p>
          <a:p>
            <a:pPr marL="400050" indent="-285750">
              <a:spcBef>
                <a:spcPts val="600"/>
              </a:spcBef>
              <a:spcAft>
                <a:spcPts val="600"/>
              </a:spcAft>
              <a:buClr>
                <a:srgbClr val="28285E"/>
              </a:buClr>
              <a:buSzPts val="1260"/>
              <a:buFont typeface="Fira Sans"/>
              <a:buChar char="●"/>
            </a:pPr>
            <a:r>
              <a:rPr sz="1400" b="1" dirty="0">
                <a:solidFill>
                  <a:schemeClr val="tx1"/>
                </a:solidFill>
              </a:rPr>
              <a:t>It never reads the messages. </a:t>
            </a:r>
            <a:r>
              <a:rPr sz="1400" dirty="0">
                <a:solidFill>
                  <a:schemeClr val="tx1"/>
                </a:solidFill>
              </a:rPr>
              <a:t>The conversation is what </a:t>
            </a:r>
            <a:r>
              <a:rPr sz="1400" b="1" dirty="0">
                <a:solidFill>
                  <a:schemeClr val="tx1"/>
                </a:solidFill>
              </a:rPr>
              <a:t>the model said about the evidence, and it is kept away from the judge on purpose</a:t>
            </a:r>
            <a:r>
              <a:rPr sz="1400" dirty="0">
                <a:solidFill>
                  <a:schemeClr val="tx1"/>
                </a:solidFill>
              </a:rPr>
              <a:t>.</a:t>
            </a:r>
          </a:p>
        </p:txBody>
      </p:sp>
      <p:sp>
        <p:nvSpPr>
          <p:cNvPr id="4" name="Rectangle 3"/>
          <p:cNvSpPr/>
          <p:nvPr/>
        </p:nvSpPr>
        <p:spPr>
          <a:xfrm>
            <a:off x="319251" y="34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dirty="0">
                <a:solidFill>
                  <a:srgbClr val="28285E"/>
                </a:solidFill>
              </a:rPr>
              <a:t>A judge </a:t>
            </a:r>
            <a:r>
              <a:rPr lang="en-US" sz="1200" b="0" dirty="0">
                <a:solidFill>
                  <a:srgbClr val="28285E"/>
                </a:solidFill>
              </a:rPr>
              <a:t>shouldn't take the </a:t>
            </a:r>
            <a:r>
              <a:rPr sz="1200" b="0" dirty="0">
                <a:solidFill>
                  <a:srgbClr val="28285E"/>
                </a:solidFill>
              </a:rPr>
              <a:t>defendant's account of the evidence.</a:t>
            </a:r>
            <a:r>
              <a:rPr lang="en-US" sz="1200" b="0" dirty="0">
                <a:solidFill>
                  <a:srgbClr val="28285E"/>
                </a:solidFill>
              </a:rPr>
              <a:t> So the judge judges impartially.</a:t>
            </a:r>
            <a:endParaRPr sz="1200" b="0" dirty="0">
              <a:solidFill>
                <a:srgbClr val="28285E"/>
              </a:solidFill>
            </a:endParaRPr>
          </a:p>
        </p:txBody>
      </p:sp>
      <p:sp>
        <p:nvSpPr>
          <p:cNvPr id="5" name="TextBox 4"/>
          <p:cNvSpPr txBox="1"/>
          <p:nvPr/>
        </p:nvSpPr>
        <p:spPr>
          <a:xfrm>
            <a:off x="2433796" y="3980000"/>
            <a:ext cx="3900000" cy="253916"/>
          </a:xfrm>
          <a:prstGeom prst="rect">
            <a:avLst/>
          </a:prstGeom>
          <a:noFill/>
        </p:spPr>
        <p:txBody>
          <a:bodyPr wrap="none">
            <a:spAutoFit/>
          </a:bodyPr>
          <a:lstStyle/>
          <a:p>
            <a:pPr algn="r"/>
            <a:r>
              <a:rPr sz="1050" i="1">
                <a:solidFill>
                  <a:schemeClr val="bg2"/>
                </a:solidFill>
              </a:rPr>
              <a:t>the demo's own comment, graph.py</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Self-review, measured: accuracy and cost</a:t>
            </a:r>
          </a:p>
        </p:txBody>
      </p:sp>
      <p:graphicFrame>
        <p:nvGraphicFramePr>
          <p:cNvPr id="3" name="Table 2"/>
          <p:cNvGraphicFramePr>
            <a:graphicFrameLocks noGrp="1"/>
          </p:cNvGraphicFramePr>
          <p:nvPr/>
        </p:nvGraphicFramePr>
        <p:xfrm>
          <a:off x="319251" y="1491615"/>
          <a:ext cx="6014545" cy="1134390"/>
        </p:xfrm>
        <a:graphic>
          <a:graphicData uri="http://schemas.openxmlformats.org/drawingml/2006/table">
            <a:tbl>
              <a:tblPr>
                <a:tableStyleId>{2D5ABB26-0587-4C30-8999-92F81FD0307C}</a:tableStyleId>
              </a:tblPr>
              <a:tblGrid>
                <a:gridCol w="3214545">
                  <a:extLst>
                    <a:ext uri="{9D8B030D-6E8A-4147-A177-3AD203B41FA5}">
                      <a16:colId xmlns:a16="http://schemas.microsoft.com/office/drawing/2014/main" val="20000"/>
                    </a:ext>
                  </a:extLst>
                </a:gridCol>
                <a:gridCol w="1400000">
                  <a:extLst>
                    <a:ext uri="{9D8B030D-6E8A-4147-A177-3AD203B41FA5}">
                      <a16:colId xmlns:a16="http://schemas.microsoft.com/office/drawing/2014/main" val="20001"/>
                    </a:ext>
                  </a:extLst>
                </a:gridCol>
                <a:gridCol w="1400000">
                  <a:extLst>
                    <a:ext uri="{9D8B030D-6E8A-4147-A177-3AD203B41FA5}">
                      <a16:colId xmlns:a16="http://schemas.microsoft.com/office/drawing/2014/main" val="20002"/>
                    </a:ext>
                  </a:extLst>
                </a:gridCol>
              </a:tblGrid>
              <a:tr h="300000">
                <a:tc>
                  <a:txBody>
                    <a:bodyPr/>
                    <a:lstStyle/>
                    <a:p>
                      <a:pPr algn="l">
                        <a:buNone/>
                      </a:pPr>
                      <a:r>
                        <a:rPr sz="1200" b="1">
                          <a:solidFill>
                            <a:schemeClr val="tx1"/>
                          </a:solidFill>
                        </a:rPr>
                        <a:t>Who decides the answer is done</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Accuracy</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Model calls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a:solidFill>
                            <a:srgbClr val="28285E"/>
                          </a:solidFill>
                        </a:rPr>
                        <a:t>Nobody: one call, no review</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95.5%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1</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200" b="1">
                          <a:solidFill>
                            <a:srgbClr val="28285E"/>
                          </a:solidFill>
                        </a:rPr>
                        <a:t>The model reviews itself once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91.5%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The model reviews itself twice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89.0%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4" name="TextBox 3"/>
          <p:cNvSpPr txBox="1"/>
          <p:nvPr/>
        </p:nvSpPr>
        <p:spPr>
          <a:xfrm>
            <a:off x="2433796" y="3080000"/>
            <a:ext cx="3900000" cy="253916"/>
          </a:xfrm>
          <a:prstGeom prst="rect">
            <a:avLst/>
          </a:prstGeom>
          <a:noFill/>
        </p:spPr>
        <p:txBody>
          <a:bodyPr wrap="none">
            <a:spAutoFit/>
          </a:bodyPr>
          <a:lstStyle/>
          <a:p>
            <a:pPr algn="r"/>
            <a:r>
              <a:rPr sz="1050" i="1">
                <a:solidFill>
                  <a:schemeClr val="bg2"/>
                </a:solidFill>
              </a:rPr>
              <a:t>Table 3, Huang et al., ICLR 2024: GPT-4 on a grade-school maths benchmark</a:t>
            </a:r>
          </a:p>
        </p:txBody>
      </p:sp>
      <p:sp>
        <p:nvSpPr>
          <p:cNvPr id="5" name="Rectangle 4"/>
          <p:cNvSpPr/>
          <p:nvPr/>
        </p:nvSpPr>
        <p:spPr>
          <a:xfrm>
            <a:off x="1888761" y="3870000"/>
            <a:ext cx="4445035"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tx2"/>
                </a:solidFill>
              </a:rPr>
              <a:t>Accuracy fell and the bill went up </a:t>
            </a:r>
            <a:r>
              <a:rPr sz="1200" b="1">
                <a:solidFill>
                  <a:schemeClr val="tx2"/>
                </a:solidFill>
              </a:rPr>
              <a:t>five times over</a:t>
            </a:r>
            <a:r>
              <a:rPr sz="1200" b="0">
                <a:solidFill>
                  <a:schemeClr val="tx2"/>
                </a:solidFill>
              </a:rPr>
              <a:t>.</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 verifier against sound verifier</a:t>
            </a:r>
          </a:p>
        </p:txBody>
      </p:sp>
      <p:graphicFrame>
        <p:nvGraphicFramePr>
          <p:cNvPr id="3" name="Table 2"/>
          <p:cNvGraphicFramePr>
            <a:graphicFrameLocks noGrp="1"/>
          </p:cNvGraphicFramePr>
          <p:nvPr/>
        </p:nvGraphicFramePr>
        <p:xfrm>
          <a:off x="319251" y="1491615"/>
          <a:ext cx="6014545" cy="1134390"/>
        </p:xfrm>
        <a:graphic>
          <a:graphicData uri="http://schemas.openxmlformats.org/drawingml/2006/table">
            <a:tbl>
              <a:tblPr>
                <a:tableStyleId>{2D5ABB26-0587-4C30-8999-92F81FD0307C}</a:tableStyleId>
              </a:tblPr>
              <a:tblGrid>
                <a:gridCol w="3214545">
                  <a:extLst>
                    <a:ext uri="{9D8B030D-6E8A-4147-A177-3AD203B41FA5}">
                      <a16:colId xmlns:a16="http://schemas.microsoft.com/office/drawing/2014/main" val="20000"/>
                    </a:ext>
                  </a:extLst>
                </a:gridCol>
                <a:gridCol w="1400000">
                  <a:extLst>
                    <a:ext uri="{9D8B030D-6E8A-4147-A177-3AD203B41FA5}">
                      <a16:colId xmlns:a16="http://schemas.microsoft.com/office/drawing/2014/main" val="20001"/>
                    </a:ext>
                  </a:extLst>
                </a:gridCol>
                <a:gridCol w="1400000">
                  <a:extLst>
                    <a:ext uri="{9D8B030D-6E8A-4147-A177-3AD203B41FA5}">
                      <a16:colId xmlns:a16="http://schemas.microsoft.com/office/drawing/2014/main" val="20002"/>
                    </a:ext>
                  </a:extLst>
                </a:gridCol>
              </a:tblGrid>
              <a:tr h="300000">
                <a:tc>
                  <a:txBody>
                    <a:bodyPr/>
                    <a:lstStyle/>
                    <a:p>
                      <a:pPr algn="l">
                        <a:buNone/>
                      </a:pPr>
                      <a:r>
                        <a:rPr sz="1200" b="1">
                          <a:solidFill>
                            <a:schemeClr val="tx1"/>
                          </a:solidFill>
                        </a:rPr>
                        <a:t>Who decides the answer is good enough</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Graph colouring</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Game of 24</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a:solidFill>
                            <a:srgbClr val="28285E"/>
                          </a:solidFill>
                        </a:rPr>
                        <a:t>Nobody: one attempt, no review</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16%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200" b="1">
                          <a:solidFill>
                            <a:srgbClr val="28285E"/>
                          </a:solidFill>
                        </a:rPr>
                        <a:t>The model that produced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2%</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A verifier that is always right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38%</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36%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4" name="TextBox 3"/>
          <p:cNvSpPr txBox="1"/>
          <p:nvPr/>
        </p:nvSpPr>
        <p:spPr>
          <a:xfrm>
            <a:off x="2433796" y="3080000"/>
            <a:ext cx="3900000" cy="253916"/>
          </a:xfrm>
          <a:prstGeom prst="rect">
            <a:avLst/>
          </a:prstGeom>
          <a:noFill/>
        </p:spPr>
        <p:txBody>
          <a:bodyPr wrap="none">
            <a:spAutoFit/>
          </a:bodyPr>
          <a:lstStyle/>
          <a:p>
            <a:pPr algn="r"/>
            <a:r>
              <a:rPr sz="1050" i="1">
                <a:solidFill>
                  <a:schemeClr val="bg2"/>
                </a:solidFill>
              </a:rPr>
              <a:t>Table 1, Stechly et al., ICLR 2025: 100 instances per domain</a:t>
            </a:r>
          </a:p>
        </p:txBody>
      </p:sp>
      <p:sp>
        <p:nvSpPr>
          <p:cNvPr id="5" name="Rectangle 4"/>
          <p:cNvSpPr/>
          <p:nvPr/>
        </p:nvSpPr>
        <p:spPr>
          <a:xfrm>
            <a:off x="1888761" y="3500000"/>
            <a:ext cx="4445035" cy="60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tx2"/>
                </a:solidFill>
              </a:rPr>
              <a:t>Our rescan is a program, but it is </a:t>
            </a:r>
            <a:r>
              <a:rPr sz="1200" b="1">
                <a:solidFill>
                  <a:schemeClr val="tx2"/>
                </a:solidFill>
              </a:rPr>
              <a:t>not always right</a:t>
            </a:r>
            <a:r>
              <a:rPr sz="1200" b="0">
                <a:solidFill>
                  <a:schemeClr val="tx2"/>
                </a:solidFill>
              </a:rPr>
              <a:t>: a renamed expression clears the alert and leaves the weakness.</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1ADF80B-7760-E8FB-27A4-8FA61C67B0C0}"/>
            </a:ext>
          </a:extLst>
        </p:cNvPr>
        <p:cNvGrpSpPr/>
        <p:nvPr/>
      </p:nvGrpSpPr>
      <p:grpSpPr>
        <a:xfrm>
          <a:off x="0" y="0"/>
          <a:ext cx="0" cy="0"/>
          <a:chOff x="0" y="0"/>
          <a:chExt cx="0" cy="0"/>
        </a:xfrm>
      </p:grpSpPr>
      <p:cxnSp>
        <p:nvCxnSpPr>
          <p:cNvPr id="3" name="Straight Arrow Connector 2">
            <a:extLst>
              <a:ext uri="{FF2B5EF4-FFF2-40B4-BE49-F238E27FC236}">
                <a16:creationId xmlns:a16="http://schemas.microsoft.com/office/drawing/2014/main" id="{42753606-7DA5-3B93-2A10-21A44692EB1E}"/>
              </a:ext>
            </a:extLst>
          </p:cNvPr>
          <p:cNvCxnSpPr>
            <a:cxnSpLocks/>
            <a:endCxn id="24" idx="4"/>
          </p:cNvCxnSpPr>
          <p:nvPr/>
        </p:nvCxnSpPr>
        <p:spPr>
          <a:xfrm>
            <a:off x="1063835" y="1692899"/>
            <a:ext cx="0" cy="2521724"/>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5" name="Oval 4">
            <a:extLst>
              <a:ext uri="{FF2B5EF4-FFF2-40B4-BE49-F238E27FC236}">
                <a16:creationId xmlns:a16="http://schemas.microsoft.com/office/drawing/2014/main" id="{C5AB6180-B2C0-6620-979A-52C40B6ACD28}"/>
              </a:ext>
            </a:extLst>
          </p:cNvPr>
          <p:cNvSpPr/>
          <p:nvPr/>
        </p:nvSpPr>
        <p:spPr>
          <a:xfrm>
            <a:off x="951758" y="1862799"/>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A60CB921-728F-A446-8C1C-546C57F4CBD0}"/>
              </a:ext>
            </a:extLst>
          </p:cNvPr>
          <p:cNvSpPr/>
          <p:nvPr/>
        </p:nvSpPr>
        <p:spPr>
          <a:xfrm>
            <a:off x="951758" y="239649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EE3BF016-459A-24C6-B050-AE8044597EBA}"/>
              </a:ext>
            </a:extLst>
          </p:cNvPr>
          <p:cNvSpPr/>
          <p:nvPr/>
        </p:nvSpPr>
        <p:spPr>
          <a:xfrm>
            <a:off x="951758" y="292663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ADED7274-D75A-E73F-11D5-069BAB8AE288}"/>
              </a:ext>
            </a:extLst>
          </p:cNvPr>
          <p:cNvSpPr/>
          <p:nvPr/>
        </p:nvSpPr>
        <p:spPr>
          <a:xfrm>
            <a:off x="951758" y="3460331"/>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46487E64-7222-9E54-A7A5-CBA3665031DC}"/>
              </a:ext>
            </a:extLst>
          </p:cNvPr>
          <p:cNvSpPr txBox="1"/>
          <p:nvPr/>
        </p:nvSpPr>
        <p:spPr>
          <a:xfrm>
            <a:off x="1259524" y="1820986"/>
            <a:ext cx="5033750" cy="307777"/>
          </a:xfrm>
          <a:prstGeom prst="rect">
            <a:avLst/>
          </a:prstGeom>
          <a:noFill/>
        </p:spPr>
        <p:txBody>
          <a:bodyPr wrap="none" rtlCol="0">
            <a:spAutoFit/>
          </a:bodyPr>
          <a:lstStyle/>
          <a:p>
            <a:r>
              <a:rPr lang="en-US" b="1" dirty="0">
                <a:solidFill>
                  <a:schemeClr val="tx2"/>
                </a:solidFill>
              </a:rPr>
              <a:t>Fixed workflow</a:t>
            </a:r>
            <a:r>
              <a:rPr lang="en-US" b="1" dirty="0">
                <a:solidFill>
                  <a:schemeClr val="tx2"/>
                </a:solidFill>
                <a:latin typeface="+mn-lt"/>
              </a:rPr>
              <a:t>: </a:t>
            </a:r>
            <a:r>
              <a:rPr lang="en-US" i="1" dirty="0">
                <a:solidFill>
                  <a:schemeClr val="tx2"/>
                </a:solidFill>
                <a:latin typeface="+mn-lt"/>
              </a:rPr>
              <a:t>The steps are ours, written before the run</a:t>
            </a:r>
            <a:r>
              <a:rPr lang="en-US" b="1" dirty="0">
                <a:solidFill>
                  <a:schemeClr val="tx2"/>
                </a:solidFill>
                <a:latin typeface="+mn-lt"/>
              </a:rPr>
              <a:t> </a:t>
            </a:r>
            <a:endParaRPr lang="en-US" b="1" dirty="0">
              <a:solidFill>
                <a:schemeClr val="tx2"/>
              </a:solidFill>
            </a:endParaRPr>
          </a:p>
        </p:txBody>
      </p:sp>
      <p:sp>
        <p:nvSpPr>
          <p:cNvPr id="24" name="Oval 23">
            <a:extLst>
              <a:ext uri="{FF2B5EF4-FFF2-40B4-BE49-F238E27FC236}">
                <a16:creationId xmlns:a16="http://schemas.microsoft.com/office/drawing/2014/main" id="{E626A101-791B-B009-DCAA-E366D2C056D7}"/>
              </a:ext>
            </a:extLst>
          </p:cNvPr>
          <p:cNvSpPr/>
          <p:nvPr/>
        </p:nvSpPr>
        <p:spPr>
          <a:xfrm>
            <a:off x="951758" y="3990470"/>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CFA11ABE-D67C-CCDE-BBBB-11DD0B649509}"/>
              </a:ext>
            </a:extLst>
          </p:cNvPr>
          <p:cNvSpPr txBox="1"/>
          <p:nvPr/>
        </p:nvSpPr>
        <p:spPr>
          <a:xfrm>
            <a:off x="1259524" y="2351125"/>
            <a:ext cx="3672800" cy="307777"/>
          </a:xfrm>
          <a:prstGeom prst="rect">
            <a:avLst/>
          </a:prstGeom>
          <a:noFill/>
        </p:spPr>
        <p:txBody>
          <a:bodyPr wrap="none" rtlCol="0">
            <a:spAutoFit/>
          </a:bodyPr>
          <a:lstStyle/>
          <a:p>
            <a:r>
              <a:rPr lang="en-US" b="1" dirty="0">
                <a:solidFill>
                  <a:schemeClr val="tx2"/>
                </a:solidFill>
              </a:rPr>
              <a:t>ReACT</a:t>
            </a:r>
            <a:r>
              <a:rPr lang="en-US" b="1" dirty="0">
                <a:solidFill>
                  <a:schemeClr val="tx2"/>
                </a:solidFill>
                <a:latin typeface="+mn-lt"/>
              </a:rPr>
              <a:t>: </a:t>
            </a:r>
            <a:r>
              <a:rPr lang="en-US" i="1" dirty="0">
                <a:solidFill>
                  <a:schemeClr val="tx2"/>
                </a:solidFill>
                <a:latin typeface="+mn-lt"/>
              </a:rPr>
              <a:t>The model chooses the next action</a:t>
            </a:r>
          </a:p>
        </p:txBody>
      </p:sp>
      <p:sp>
        <p:nvSpPr>
          <p:cNvPr id="26" name="TextBox 25">
            <a:extLst>
              <a:ext uri="{FF2B5EF4-FFF2-40B4-BE49-F238E27FC236}">
                <a16:creationId xmlns:a16="http://schemas.microsoft.com/office/drawing/2014/main" id="{A36A84B3-D3CF-2513-EF38-FC451ED1EF6D}"/>
              </a:ext>
            </a:extLst>
          </p:cNvPr>
          <p:cNvSpPr txBox="1"/>
          <p:nvPr/>
        </p:nvSpPr>
        <p:spPr>
          <a:xfrm>
            <a:off x="1259524" y="2884821"/>
            <a:ext cx="4806124" cy="307777"/>
          </a:xfrm>
          <a:prstGeom prst="rect">
            <a:avLst/>
          </a:prstGeom>
          <a:noFill/>
        </p:spPr>
        <p:txBody>
          <a:bodyPr wrap="none" rtlCol="0">
            <a:spAutoFit/>
          </a:bodyPr>
          <a:lstStyle/>
          <a:p>
            <a:r>
              <a:rPr lang="en-US" b="1" dirty="0">
                <a:solidFill>
                  <a:schemeClr val="tx2"/>
                </a:solidFill>
              </a:rPr>
              <a:t>Planner</a:t>
            </a:r>
            <a:r>
              <a:rPr lang="en-US" b="1" dirty="0">
                <a:solidFill>
                  <a:schemeClr val="tx2"/>
                </a:solidFill>
                <a:latin typeface="+mn-lt"/>
              </a:rPr>
              <a:t>: </a:t>
            </a:r>
            <a:r>
              <a:rPr lang="en-US" i="1" dirty="0">
                <a:solidFill>
                  <a:schemeClr val="tx2"/>
                </a:solidFill>
                <a:latin typeface="+mn-lt"/>
              </a:rPr>
              <a:t>The plan is written into state and revised there</a:t>
            </a:r>
            <a:endParaRPr lang="en-US" b="1" dirty="0">
              <a:solidFill>
                <a:schemeClr val="tx2"/>
              </a:solidFill>
            </a:endParaRPr>
          </a:p>
        </p:txBody>
      </p:sp>
      <p:sp>
        <p:nvSpPr>
          <p:cNvPr id="27" name="TextBox 26">
            <a:extLst>
              <a:ext uri="{FF2B5EF4-FFF2-40B4-BE49-F238E27FC236}">
                <a16:creationId xmlns:a16="http://schemas.microsoft.com/office/drawing/2014/main" id="{5B5EB560-45A9-1C8D-780D-C4FC21BC1E28}"/>
              </a:ext>
            </a:extLst>
          </p:cNvPr>
          <p:cNvSpPr txBox="1"/>
          <p:nvPr/>
        </p:nvSpPr>
        <p:spPr>
          <a:xfrm>
            <a:off x="1259524" y="3418518"/>
            <a:ext cx="4608954" cy="307777"/>
          </a:xfrm>
          <a:prstGeom prst="rect">
            <a:avLst/>
          </a:prstGeom>
          <a:noFill/>
        </p:spPr>
        <p:txBody>
          <a:bodyPr wrap="none" rtlCol="0">
            <a:spAutoFit/>
          </a:bodyPr>
          <a:lstStyle/>
          <a:p>
            <a:r>
              <a:rPr lang="en-US" b="1" dirty="0">
                <a:solidFill>
                  <a:schemeClr val="tx2"/>
                </a:solidFill>
              </a:rPr>
              <a:t>Validator</a:t>
            </a:r>
            <a:r>
              <a:rPr lang="en-US" b="1" dirty="0">
                <a:solidFill>
                  <a:schemeClr val="tx2"/>
                </a:solidFill>
                <a:latin typeface="+mn-lt"/>
              </a:rPr>
              <a:t>: </a:t>
            </a:r>
            <a:r>
              <a:rPr lang="en-US" i="1" dirty="0">
                <a:solidFill>
                  <a:schemeClr val="tx2"/>
                </a:solidFill>
                <a:latin typeface="+mn-lt"/>
              </a:rPr>
              <a:t>Acceptance is decoupled from the controller</a:t>
            </a:r>
            <a:endParaRPr lang="en-US" b="1" dirty="0">
              <a:solidFill>
                <a:schemeClr val="tx2"/>
              </a:solidFill>
            </a:endParaRPr>
          </a:p>
        </p:txBody>
      </p:sp>
      <p:sp>
        <p:nvSpPr>
          <p:cNvPr id="28" name="TextBox 27">
            <a:extLst>
              <a:ext uri="{FF2B5EF4-FFF2-40B4-BE49-F238E27FC236}">
                <a16:creationId xmlns:a16="http://schemas.microsoft.com/office/drawing/2014/main" id="{D524D944-496F-91C3-5E7B-7F7A73749A9B}"/>
              </a:ext>
            </a:extLst>
          </p:cNvPr>
          <p:cNvSpPr txBox="1"/>
          <p:nvPr/>
        </p:nvSpPr>
        <p:spPr>
          <a:xfrm>
            <a:off x="1259524" y="3948656"/>
            <a:ext cx="5298245" cy="307777"/>
          </a:xfrm>
          <a:prstGeom prst="rect">
            <a:avLst/>
          </a:prstGeom>
          <a:noFill/>
        </p:spPr>
        <p:txBody>
          <a:bodyPr wrap="none" rtlCol="0">
            <a:spAutoFit/>
          </a:bodyPr>
          <a:lstStyle/>
          <a:p>
            <a:r>
              <a:rPr lang="en-US" b="1" dirty="0">
                <a:solidFill>
                  <a:schemeClr val="tx2"/>
                </a:solidFill>
              </a:rPr>
              <a:t>Agent Architectures</a:t>
            </a:r>
            <a:r>
              <a:rPr lang="en-US" b="1" dirty="0">
                <a:solidFill>
                  <a:schemeClr val="tx2"/>
                </a:solidFill>
                <a:latin typeface="+mn-lt"/>
              </a:rPr>
              <a:t>: </a:t>
            </a:r>
            <a:r>
              <a:rPr lang="en-US" i="1" dirty="0">
                <a:solidFill>
                  <a:schemeClr val="tx2"/>
                </a:solidFill>
                <a:latin typeface="+mn-lt"/>
              </a:rPr>
              <a:t>What are some other agent architectures</a:t>
            </a:r>
            <a:endParaRPr lang="en-US" b="1" dirty="0">
              <a:solidFill>
                <a:schemeClr val="tx2"/>
              </a:solidFill>
            </a:endParaRPr>
          </a:p>
        </p:txBody>
      </p:sp>
      <p:sp>
        <p:nvSpPr>
          <p:cNvPr id="4" name="TextBox 3">
            <a:extLst>
              <a:ext uri="{FF2B5EF4-FFF2-40B4-BE49-F238E27FC236}">
                <a16:creationId xmlns:a16="http://schemas.microsoft.com/office/drawing/2014/main" id="{04EF11E8-6279-1A00-191A-7DCBF4DBC516}"/>
              </a:ext>
            </a:extLst>
          </p:cNvPr>
          <p:cNvSpPr txBox="1"/>
          <p:nvPr/>
        </p:nvSpPr>
        <p:spPr>
          <a:xfrm>
            <a:off x="545848" y="533124"/>
            <a:ext cx="5766322" cy="707886"/>
          </a:xfrm>
          <a:prstGeom prst="rect">
            <a:avLst/>
          </a:prstGeom>
          <a:noFill/>
        </p:spPr>
        <p:txBody>
          <a:bodyPr wrap="none">
            <a:spAutoFit/>
          </a:bodyPr>
          <a:lstStyle/>
          <a:p>
            <a:pPr algn="ctr"/>
            <a:r>
              <a:rPr lang="en-US" sz="4000" b="1" dirty="0">
                <a:solidFill>
                  <a:schemeClr val="tx2"/>
                </a:solidFill>
                <a:latin typeface="Fira Sans" panose="020B0503050000020004" pitchFamily="34" charset="0"/>
              </a:rPr>
              <a:t>Planning and Validation</a:t>
            </a:r>
            <a:endParaRPr sz="4000" dirty="0">
              <a:solidFill>
                <a:schemeClr val="tx2"/>
              </a:solidFill>
              <a:latin typeface="Fira Sans" panose="020B0503050000020004" pitchFamily="34" charset="0"/>
            </a:endParaRPr>
          </a:p>
        </p:txBody>
      </p:sp>
      <p:pic>
        <p:nvPicPr>
          <p:cNvPr id="2" name="Picture 1">
            <a:extLst>
              <a:ext uri="{FF2B5EF4-FFF2-40B4-BE49-F238E27FC236}">
                <a16:creationId xmlns:a16="http://schemas.microsoft.com/office/drawing/2014/main" id="{DF292C1C-C59D-6616-20DC-B840C60F644B}"/>
              </a:ext>
            </a:extLst>
          </p:cNvPr>
          <p:cNvPicPr>
            <a:picLocks noChangeAspect="1"/>
          </p:cNvPicPr>
          <p:nvPr/>
        </p:nvPicPr>
        <p:blipFill>
          <a:blip r:embed="rId3">
            <a:alphaModFix amt="70000"/>
          </a:blip>
          <a:stretch>
            <a:fillRect/>
          </a:stretch>
        </p:blipFill>
        <p:spPr>
          <a:xfrm>
            <a:off x="825474" y="1573834"/>
            <a:ext cx="5732295" cy="2403255"/>
          </a:xfrm>
          <a:prstGeom prst="rect">
            <a:avLst/>
          </a:prstGeom>
        </p:spPr>
      </p:pic>
    </p:spTree>
    <p:extLst>
      <p:ext uri="{BB962C8B-B14F-4D97-AF65-F5344CB8AC3E}">
        <p14:creationId xmlns:p14="http://schemas.microsoft.com/office/powerpoint/2010/main" val="102721485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Reason and act</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Thought, action and observation repeat until an answer, a cap or an error. Orchestrated by </a:t>
            </a:r>
            <a:r>
              <a:rPr sz="1400" b="1">
                <a:solidFill>
                  <a:schemeClr val="tx2"/>
                </a:solidFill>
              </a:rPr>
              <a:t>the model, inside one agent</a:t>
            </a:r>
            <a:r>
              <a:rPr sz="1400" b="0">
                <a:solidFill>
                  <a:schemeClr val="tx2"/>
                </a:solidFill>
              </a:rPr>
              <a:t>.</a:t>
            </a:r>
          </a:p>
        </p:txBody>
      </p:sp>
      <p:pic>
        <p:nvPicPr>
          <p:cNvPr id="4" name="Picture 3" descr="gcp-react.png"/>
          <p:cNvPicPr>
            <a:picLocks noChangeAspect="1"/>
          </p:cNvPicPr>
          <p:nvPr/>
        </p:nvPicPr>
        <p:blipFill>
          <a:blip r:embed="rId3"/>
          <a:stretch>
            <a:fillRect/>
          </a:stretch>
        </p:blipFill>
        <p:spPr>
          <a:xfrm>
            <a:off x="250148" y="1684382"/>
            <a:ext cx="6152752" cy="1701235"/>
          </a:xfrm>
          <a:prstGeom prst="rect">
            <a:avLst/>
          </a:prstGeom>
        </p:spPr>
      </p:pic>
      <p:sp>
        <p:nvSpPr>
          <p:cNvPr id="5" name="Rectangle 4"/>
          <p:cNvSpPr/>
          <p:nvPr/>
        </p:nvSpPr>
        <p:spPr>
          <a:xfrm>
            <a:off x="319251"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Use it when </a:t>
            </a:r>
            <a:r>
              <a:rPr sz="1200">
                <a:solidFill>
                  <a:schemeClr val="tx1"/>
                </a:solidFill>
              </a:rPr>
              <a:t>the task is dynamic and the next move depends on what the last one returned.</a:t>
            </a:r>
          </a:p>
        </p:txBody>
      </p:sp>
      <p:sp>
        <p:nvSpPr>
          <p:cNvPr id="6" name="Rectangle 5"/>
          <p:cNvSpPr/>
          <p:nvPr/>
        </p:nvSpPr>
        <p:spPr>
          <a:xfrm>
            <a:off x="3419857"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one query would do: latency is higher and a misleading tool result reaches the answer.</a:t>
            </a:r>
          </a:p>
        </p:txBody>
      </p:sp>
      <p:sp>
        <p:nvSpPr>
          <p:cNvPr id="7" name="TextBox 6"/>
          <p:cNvSpPr txBox="1"/>
          <p:nvPr/>
        </p:nvSpPr>
        <p:spPr>
          <a:xfrm>
            <a:off x="2433796" y="4620000"/>
            <a:ext cx="3900000" cy="253916"/>
          </a:xfrm>
          <a:prstGeom prst="rect">
            <a:avLst/>
          </a:prstGeom>
          <a:noFill/>
        </p:spPr>
        <p:txBody>
          <a:bodyPr wrap="none">
            <a:spAutoFit/>
          </a:bodyPr>
          <a:lstStyle/>
          <a:p>
            <a:pPr algn="r"/>
            <a:r>
              <a:rPr sz="1050" i="1">
                <a:solidFill>
                  <a:schemeClr val="bg2"/>
                </a:solidFill>
              </a:rPr>
              <a:t>Google Cloud Architecture Center, agentic design patterns, CC BY 4.0</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Sequential</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Specialized agents run in a fixed linear order, each output feeding the next. Orchestrated by </a:t>
            </a:r>
            <a:r>
              <a:rPr sz="1400" b="1">
                <a:solidFill>
                  <a:schemeClr val="tx2"/>
                </a:solidFill>
              </a:rPr>
              <a:t>predefined logic</a:t>
            </a:r>
            <a:r>
              <a:rPr sz="1400" b="0">
                <a:solidFill>
                  <a:schemeClr val="tx2"/>
                </a:solidFill>
              </a:rPr>
              <a:t>.</a:t>
            </a:r>
          </a:p>
        </p:txBody>
      </p:sp>
      <p:pic>
        <p:nvPicPr>
          <p:cNvPr id="4" name="Picture 3" descr="gcp-sequential.png"/>
          <p:cNvPicPr>
            <a:picLocks noChangeAspect="1"/>
          </p:cNvPicPr>
          <p:nvPr/>
        </p:nvPicPr>
        <p:blipFill>
          <a:blip r:embed="rId3"/>
          <a:stretch>
            <a:fillRect/>
          </a:stretch>
        </p:blipFill>
        <p:spPr>
          <a:xfrm>
            <a:off x="250148" y="2195060"/>
            <a:ext cx="6152752" cy="679879"/>
          </a:xfrm>
          <a:prstGeom prst="rect">
            <a:avLst/>
          </a:prstGeom>
        </p:spPr>
      </p:pic>
      <p:sp>
        <p:nvSpPr>
          <p:cNvPr id="5" name="Rectangle 4"/>
          <p:cNvSpPr/>
          <p:nvPr/>
        </p:nvSpPr>
        <p:spPr>
          <a:xfrm>
            <a:off x="319251"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dirty="0">
                <a:solidFill>
                  <a:srgbClr val="28285E"/>
                </a:solidFill>
              </a:rPr>
              <a:t>Use it when </a:t>
            </a:r>
            <a:r>
              <a:rPr sz="1200" dirty="0">
                <a:solidFill>
                  <a:schemeClr val="tx1"/>
                </a:solidFill>
              </a:rPr>
              <a:t>the process is structured and repeatable, like extract, then clean, then load.</a:t>
            </a:r>
          </a:p>
        </p:txBody>
      </p:sp>
      <p:sp>
        <p:nvSpPr>
          <p:cNvPr id="6" name="Rectangle 5"/>
          <p:cNvSpPr/>
          <p:nvPr/>
        </p:nvSpPr>
        <p:spPr>
          <a:xfrm>
            <a:off x="3419857"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a run needs to skip a step it does not need, or one slow step holds up the rest.</a:t>
            </a:r>
          </a:p>
        </p:txBody>
      </p:sp>
      <p:sp>
        <p:nvSpPr>
          <p:cNvPr id="7" name="TextBox 6"/>
          <p:cNvSpPr txBox="1"/>
          <p:nvPr/>
        </p:nvSpPr>
        <p:spPr>
          <a:xfrm>
            <a:off x="2433796" y="4620000"/>
            <a:ext cx="3900000" cy="253916"/>
          </a:xfrm>
          <a:prstGeom prst="rect">
            <a:avLst/>
          </a:prstGeom>
          <a:noFill/>
        </p:spPr>
        <p:txBody>
          <a:bodyPr wrap="none">
            <a:spAutoFit/>
          </a:bodyPr>
          <a:lstStyle/>
          <a:p>
            <a:pPr algn="r"/>
            <a:r>
              <a:rPr sz="1050" i="1">
                <a:solidFill>
                  <a:schemeClr val="bg2"/>
                </a:solidFill>
              </a:rPr>
              <a:t>Google Cloud Architecture Center, agentic design patterns, CC BY 4.0</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Parallel</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Independent subagents run at the same time and a gather step synthesizes them. Orchestrated by </a:t>
            </a:r>
            <a:r>
              <a:rPr sz="1400" b="1">
                <a:solidFill>
                  <a:schemeClr val="tx2"/>
                </a:solidFill>
              </a:rPr>
              <a:t>predefined logic</a:t>
            </a:r>
            <a:r>
              <a:rPr sz="1400" b="0">
                <a:solidFill>
                  <a:schemeClr val="tx2"/>
                </a:solidFill>
              </a:rPr>
              <a:t>.</a:t>
            </a:r>
          </a:p>
        </p:txBody>
      </p:sp>
      <p:pic>
        <p:nvPicPr>
          <p:cNvPr id="4" name="Picture 3" descr="gcp-parallel.png"/>
          <p:cNvPicPr>
            <a:picLocks noChangeAspect="1"/>
          </p:cNvPicPr>
          <p:nvPr/>
        </p:nvPicPr>
        <p:blipFill>
          <a:blip r:embed="rId3"/>
          <a:stretch>
            <a:fillRect/>
          </a:stretch>
        </p:blipFill>
        <p:spPr>
          <a:xfrm>
            <a:off x="1678840" y="1450000"/>
            <a:ext cx="3295368" cy="2170000"/>
          </a:xfrm>
          <a:prstGeom prst="rect">
            <a:avLst/>
          </a:prstGeom>
        </p:spPr>
      </p:pic>
      <p:sp>
        <p:nvSpPr>
          <p:cNvPr id="5" name="Rectangle 4"/>
          <p:cNvSpPr/>
          <p:nvPr/>
        </p:nvSpPr>
        <p:spPr>
          <a:xfrm>
            <a:off x="319251"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Use it when </a:t>
            </a:r>
            <a:r>
              <a:rPr sz="1200">
                <a:solidFill>
                  <a:schemeClr val="tx1"/>
                </a:solidFill>
              </a:rPr>
              <a:t>the work genuinely splits, like collecting from several sources at once.</a:t>
            </a:r>
          </a:p>
        </p:txBody>
      </p:sp>
      <p:sp>
        <p:nvSpPr>
          <p:cNvPr id="6" name="Rectangle 5"/>
          <p:cNvSpPr/>
          <p:nvPr/>
        </p:nvSpPr>
        <p:spPr>
          <a:xfrm>
            <a:off x="3419857"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the results can conflict: cost and token use rise at once and the join gets hard.</a:t>
            </a:r>
          </a:p>
        </p:txBody>
      </p:sp>
      <p:sp>
        <p:nvSpPr>
          <p:cNvPr id="7" name="TextBox 6"/>
          <p:cNvSpPr txBox="1"/>
          <p:nvPr/>
        </p:nvSpPr>
        <p:spPr>
          <a:xfrm>
            <a:off x="2433796" y="4620000"/>
            <a:ext cx="3900000" cy="253916"/>
          </a:xfrm>
          <a:prstGeom prst="rect">
            <a:avLst/>
          </a:prstGeom>
          <a:noFill/>
        </p:spPr>
        <p:txBody>
          <a:bodyPr wrap="none">
            <a:spAutoFit/>
          </a:bodyPr>
          <a:lstStyle/>
          <a:p>
            <a:pPr algn="r"/>
            <a:r>
              <a:rPr sz="1050" i="1">
                <a:solidFill>
                  <a:schemeClr val="bg2"/>
                </a:solidFill>
              </a:rPr>
              <a:t>Google Cloud Architecture Center, agentic design patterns, CC BY 4.0</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Loop</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A sequence of subagents repeats until a termination condition is met. Orchestrated by </a:t>
            </a:r>
            <a:r>
              <a:rPr sz="1400" b="1">
                <a:solidFill>
                  <a:schemeClr val="tx2"/>
                </a:solidFill>
              </a:rPr>
              <a:t>predefined logic</a:t>
            </a:r>
            <a:r>
              <a:rPr sz="1400" b="0">
                <a:solidFill>
                  <a:schemeClr val="tx2"/>
                </a:solidFill>
              </a:rPr>
              <a:t>.</a:t>
            </a:r>
          </a:p>
        </p:txBody>
      </p:sp>
      <p:pic>
        <p:nvPicPr>
          <p:cNvPr id="4" name="Picture 3" descr="gcp-loop.png"/>
          <p:cNvPicPr>
            <a:picLocks noChangeAspect="1"/>
          </p:cNvPicPr>
          <p:nvPr/>
        </p:nvPicPr>
        <p:blipFill>
          <a:blip r:embed="rId3"/>
          <a:stretch>
            <a:fillRect/>
          </a:stretch>
        </p:blipFill>
        <p:spPr>
          <a:xfrm>
            <a:off x="250148" y="1539792"/>
            <a:ext cx="6152752" cy="1990415"/>
          </a:xfrm>
          <a:prstGeom prst="rect">
            <a:avLst/>
          </a:prstGeom>
        </p:spPr>
      </p:pic>
      <p:sp>
        <p:nvSpPr>
          <p:cNvPr id="5" name="Rectangle 4"/>
          <p:cNvSpPr/>
          <p:nvPr/>
        </p:nvSpPr>
        <p:spPr>
          <a:xfrm>
            <a:off x="319251"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Use it when </a:t>
            </a:r>
            <a:r>
              <a:rPr sz="1200">
                <a:solidFill>
                  <a:schemeClr val="tx1"/>
                </a:solidFill>
              </a:rPr>
              <a:t>the work needs iterating or self-correction before it is good enough.</a:t>
            </a:r>
          </a:p>
        </p:txBody>
      </p:sp>
      <p:sp>
        <p:nvSpPr>
          <p:cNvPr id="6" name="Rectangle 5"/>
          <p:cNvSpPr/>
          <p:nvPr/>
        </p:nvSpPr>
        <p:spPr>
          <a:xfrm>
            <a:off x="3419857"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the exit condition is not defined: the loop runs on and spends the budget doing it.</a:t>
            </a:r>
          </a:p>
        </p:txBody>
      </p:sp>
      <p:sp>
        <p:nvSpPr>
          <p:cNvPr id="7" name="TextBox 6"/>
          <p:cNvSpPr txBox="1"/>
          <p:nvPr/>
        </p:nvSpPr>
        <p:spPr>
          <a:xfrm>
            <a:off x="2433796" y="4620000"/>
            <a:ext cx="3900000" cy="253916"/>
          </a:xfrm>
          <a:prstGeom prst="rect">
            <a:avLst/>
          </a:prstGeom>
          <a:noFill/>
        </p:spPr>
        <p:txBody>
          <a:bodyPr wrap="none">
            <a:spAutoFit/>
          </a:bodyPr>
          <a:lstStyle/>
          <a:p>
            <a:pPr algn="r"/>
            <a:r>
              <a:rPr sz="1050" i="1">
                <a:solidFill>
                  <a:schemeClr val="bg2"/>
                </a:solidFill>
              </a:rPr>
              <a:t>Google Cloud Architecture Center, agentic design patterns, CC BY 4.0</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Review and critique</a:t>
            </a:r>
          </a:p>
        </p:txBody>
      </p:sp>
      <p:sp>
        <p:nvSpPr>
          <p:cNvPr id="3" name="Rectangle 2"/>
          <p:cNvSpPr/>
          <p:nvPr/>
        </p:nvSpPr>
        <p:spPr>
          <a:xfrm>
            <a:off x="319251" y="700000"/>
            <a:ext cx="6014545" cy="69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A generator produces, and a critic judges it against criteria and approves, rejects or returns feedback. Orchestrated by </a:t>
            </a:r>
            <a:r>
              <a:rPr sz="1400" b="1">
                <a:solidFill>
                  <a:schemeClr val="tx2"/>
                </a:solidFill>
              </a:rPr>
              <a:t>predefined logic, as a loop</a:t>
            </a:r>
            <a:r>
              <a:rPr sz="1400" b="0">
                <a:solidFill>
                  <a:schemeClr val="tx2"/>
                </a:solidFill>
              </a:rPr>
              <a:t>.</a:t>
            </a:r>
          </a:p>
        </p:txBody>
      </p:sp>
      <p:pic>
        <p:nvPicPr>
          <p:cNvPr id="4" name="Picture 3" descr="gcp-review-critique.png"/>
          <p:cNvPicPr>
            <a:picLocks noChangeAspect="1"/>
          </p:cNvPicPr>
          <p:nvPr/>
        </p:nvPicPr>
        <p:blipFill>
          <a:blip r:embed="rId3"/>
          <a:stretch>
            <a:fillRect/>
          </a:stretch>
        </p:blipFill>
        <p:spPr>
          <a:xfrm>
            <a:off x="250148" y="1515181"/>
            <a:ext cx="6152752" cy="2039637"/>
          </a:xfrm>
          <a:prstGeom prst="rect">
            <a:avLst/>
          </a:prstGeom>
        </p:spPr>
      </p:pic>
      <p:sp>
        <p:nvSpPr>
          <p:cNvPr id="5" name="Rectangle 4"/>
          <p:cNvSpPr/>
          <p:nvPr/>
        </p:nvSpPr>
        <p:spPr>
          <a:xfrm>
            <a:off x="319251"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Use it when </a:t>
            </a:r>
            <a:r>
              <a:rPr sz="1200">
                <a:solidFill>
                  <a:schemeClr val="tx1"/>
                </a:solidFill>
              </a:rPr>
              <a:t>the output has to be accurate or meet strict rules, like code that needs an audit.</a:t>
            </a:r>
          </a:p>
        </p:txBody>
      </p:sp>
      <p:sp>
        <p:nvSpPr>
          <p:cNvPr id="6" name="Rectangle 5"/>
          <p:cNvSpPr/>
          <p:nvPr/>
        </p:nvSpPr>
        <p:spPr>
          <a:xfrm>
            <a:off x="3419857"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speed matters: every evaluation is at least one more model call, and revisions stack.</a:t>
            </a:r>
          </a:p>
        </p:txBody>
      </p:sp>
      <p:sp>
        <p:nvSpPr>
          <p:cNvPr id="7" name="TextBox 6"/>
          <p:cNvSpPr txBox="1"/>
          <p:nvPr/>
        </p:nvSpPr>
        <p:spPr>
          <a:xfrm>
            <a:off x="2433796" y="4620000"/>
            <a:ext cx="3900000" cy="253916"/>
          </a:xfrm>
          <a:prstGeom prst="rect">
            <a:avLst/>
          </a:prstGeom>
          <a:noFill/>
        </p:spPr>
        <p:txBody>
          <a:bodyPr wrap="none">
            <a:spAutoFit/>
          </a:bodyPr>
          <a:lstStyle/>
          <a:p>
            <a:pPr algn="r"/>
            <a:r>
              <a:rPr sz="1050" i="1">
                <a:solidFill>
                  <a:schemeClr val="bg2"/>
                </a:solidFill>
              </a:rPr>
              <a:t>Google Cloud Architecture Center, agentic design patterns, CC BY 4.0</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Iterative refinement</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One or more agents improve a result held in state until a quality threshold or a cap. Orchestrated by </a:t>
            </a:r>
            <a:r>
              <a:rPr sz="1400" b="1">
                <a:solidFill>
                  <a:schemeClr val="tx2"/>
                </a:solidFill>
              </a:rPr>
              <a:t>predefined logic, as a loop</a:t>
            </a:r>
            <a:r>
              <a:rPr sz="1400" b="0">
                <a:solidFill>
                  <a:schemeClr val="tx2"/>
                </a:solidFill>
              </a:rPr>
              <a:t>.</a:t>
            </a:r>
          </a:p>
        </p:txBody>
      </p:sp>
      <p:pic>
        <p:nvPicPr>
          <p:cNvPr id="4" name="Picture 3" descr="gcp-iterative-refinement.png"/>
          <p:cNvPicPr>
            <a:picLocks noChangeAspect="1"/>
          </p:cNvPicPr>
          <p:nvPr/>
        </p:nvPicPr>
        <p:blipFill>
          <a:blip r:embed="rId3"/>
          <a:stretch>
            <a:fillRect/>
          </a:stretch>
        </p:blipFill>
        <p:spPr>
          <a:xfrm>
            <a:off x="1114496" y="1450000"/>
            <a:ext cx="4424057" cy="2170000"/>
          </a:xfrm>
          <a:prstGeom prst="rect">
            <a:avLst/>
          </a:prstGeom>
        </p:spPr>
      </p:pic>
      <p:sp>
        <p:nvSpPr>
          <p:cNvPr id="5" name="Rectangle 4"/>
          <p:cNvSpPr/>
          <p:nvPr/>
        </p:nvSpPr>
        <p:spPr>
          <a:xfrm>
            <a:off x="319251"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Use it when </a:t>
            </a:r>
            <a:r>
              <a:rPr sz="1200">
                <a:solidFill>
                  <a:schemeClr val="tx1"/>
                </a:solidFill>
              </a:rPr>
              <a:t>the task is hard to get right in one pass, like drafting or debugging.</a:t>
            </a:r>
          </a:p>
        </p:txBody>
      </p:sp>
      <p:sp>
        <p:nvSpPr>
          <p:cNvPr id="6" name="Rectangle 5"/>
          <p:cNvSpPr/>
          <p:nvPr/>
        </p:nvSpPr>
        <p:spPr>
          <a:xfrm>
            <a:off x="3419857"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the exit condition is vague: each cycle costs latency and money whether it helps or not.</a:t>
            </a:r>
          </a:p>
        </p:txBody>
      </p:sp>
      <p:sp>
        <p:nvSpPr>
          <p:cNvPr id="7" name="TextBox 6"/>
          <p:cNvSpPr txBox="1"/>
          <p:nvPr/>
        </p:nvSpPr>
        <p:spPr>
          <a:xfrm>
            <a:off x="2433796" y="4620000"/>
            <a:ext cx="3900000" cy="253916"/>
          </a:xfrm>
          <a:prstGeom prst="rect">
            <a:avLst/>
          </a:prstGeom>
          <a:noFill/>
        </p:spPr>
        <p:txBody>
          <a:bodyPr wrap="none">
            <a:spAutoFit/>
          </a:bodyPr>
          <a:lstStyle/>
          <a:p>
            <a:pPr algn="r"/>
            <a:r>
              <a:rPr sz="1050" i="1">
                <a:solidFill>
                  <a:schemeClr val="bg2"/>
                </a:solidFill>
              </a:rPr>
              <a:t>Google Cloud Architecture Center, agentic design patterns, CC BY 4.0</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Coordinator</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A central agent reads the request, splits it, and dispatches the parts to specialists. Orchestrated by </a:t>
            </a:r>
            <a:r>
              <a:rPr sz="1400" b="1">
                <a:solidFill>
                  <a:schemeClr val="tx2"/>
                </a:solidFill>
              </a:rPr>
              <a:t>the model</a:t>
            </a:r>
            <a:r>
              <a:rPr sz="1400" b="0">
                <a:solidFill>
                  <a:schemeClr val="tx2"/>
                </a:solidFill>
              </a:rPr>
              <a:t>.</a:t>
            </a:r>
          </a:p>
        </p:txBody>
      </p:sp>
      <p:pic>
        <p:nvPicPr>
          <p:cNvPr id="4" name="Picture 3" descr="gcp-coordinator.png"/>
          <p:cNvPicPr>
            <a:picLocks noChangeAspect="1"/>
          </p:cNvPicPr>
          <p:nvPr/>
        </p:nvPicPr>
        <p:blipFill>
          <a:blip r:embed="rId3"/>
          <a:stretch>
            <a:fillRect/>
          </a:stretch>
        </p:blipFill>
        <p:spPr>
          <a:xfrm>
            <a:off x="2091465" y="1450000"/>
            <a:ext cx="2470119" cy="2170000"/>
          </a:xfrm>
          <a:prstGeom prst="rect">
            <a:avLst/>
          </a:prstGeom>
        </p:spPr>
      </p:pic>
      <p:sp>
        <p:nvSpPr>
          <p:cNvPr id="5" name="Rectangle 4"/>
          <p:cNvSpPr/>
          <p:nvPr/>
        </p:nvSpPr>
        <p:spPr>
          <a:xfrm>
            <a:off x="319251"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Use it when </a:t>
            </a:r>
            <a:r>
              <a:rPr sz="1200">
                <a:solidFill>
                  <a:schemeClr val="tx1"/>
                </a:solidFill>
              </a:rPr>
              <a:t>a structured process needs routing that adapts to what the request turns out to be.</a:t>
            </a:r>
          </a:p>
        </p:txBody>
      </p:sp>
      <p:sp>
        <p:nvSpPr>
          <p:cNvPr id="6" name="Rectangle 5"/>
          <p:cNvSpPr/>
          <p:nvPr/>
        </p:nvSpPr>
        <p:spPr>
          <a:xfrm>
            <a:off x="3419857"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a single agent would do: this costs more model calls, more tokens and more latency.</a:t>
            </a:r>
          </a:p>
        </p:txBody>
      </p:sp>
      <p:sp>
        <p:nvSpPr>
          <p:cNvPr id="7" name="TextBox 6"/>
          <p:cNvSpPr txBox="1"/>
          <p:nvPr/>
        </p:nvSpPr>
        <p:spPr>
          <a:xfrm>
            <a:off x="2433796" y="4620000"/>
            <a:ext cx="3900000" cy="253916"/>
          </a:xfrm>
          <a:prstGeom prst="rect">
            <a:avLst/>
          </a:prstGeom>
          <a:noFill/>
        </p:spPr>
        <p:txBody>
          <a:bodyPr wrap="none">
            <a:spAutoFit/>
          </a:bodyPr>
          <a:lstStyle/>
          <a:p>
            <a:pPr algn="r"/>
            <a:r>
              <a:rPr sz="1050" i="1">
                <a:solidFill>
                  <a:schemeClr val="bg2"/>
                </a:solidFill>
              </a:rPr>
              <a:t>Google Cloud Architecture Center, agentic design patterns, CC BY 4.0</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Hierarchical task decomposition</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A root agent decomposes, and subagents decompose again until workers can execute. Orchestrated by </a:t>
            </a:r>
            <a:r>
              <a:rPr sz="1400" b="1">
                <a:solidFill>
                  <a:schemeClr val="tx2"/>
                </a:solidFill>
              </a:rPr>
              <a:t>the model, at several levels</a:t>
            </a:r>
            <a:r>
              <a:rPr sz="1400" b="0">
                <a:solidFill>
                  <a:schemeClr val="tx2"/>
                </a:solidFill>
              </a:rPr>
              <a:t>.</a:t>
            </a:r>
          </a:p>
        </p:txBody>
      </p:sp>
      <p:pic>
        <p:nvPicPr>
          <p:cNvPr id="4" name="Picture 3" descr="gcp-hierarchical-task.png"/>
          <p:cNvPicPr>
            <a:picLocks noChangeAspect="1"/>
          </p:cNvPicPr>
          <p:nvPr/>
        </p:nvPicPr>
        <p:blipFill>
          <a:blip r:embed="rId3"/>
          <a:stretch>
            <a:fillRect/>
          </a:stretch>
        </p:blipFill>
        <p:spPr>
          <a:xfrm>
            <a:off x="1907296" y="1450000"/>
            <a:ext cx="2838456" cy="2170000"/>
          </a:xfrm>
          <a:prstGeom prst="rect">
            <a:avLst/>
          </a:prstGeom>
        </p:spPr>
      </p:pic>
      <p:sp>
        <p:nvSpPr>
          <p:cNvPr id="5" name="Rectangle 4"/>
          <p:cNvSpPr/>
          <p:nvPr/>
        </p:nvSpPr>
        <p:spPr>
          <a:xfrm>
            <a:off x="319251"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Use it when </a:t>
            </a:r>
            <a:r>
              <a:rPr sz="1200">
                <a:solidFill>
                  <a:schemeClr val="tx1"/>
                </a:solidFill>
              </a:rPr>
              <a:t>the problem is open-ended and needs research, planning and synthesis together.</a:t>
            </a:r>
          </a:p>
        </p:txBody>
      </p:sp>
      <p:sp>
        <p:nvSpPr>
          <p:cNvPr id="6" name="Rectangle 5"/>
          <p:cNvSpPr/>
          <p:nvPr/>
        </p:nvSpPr>
        <p:spPr>
          <a:xfrm>
            <a:off x="3419857"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you have to debug it: the complexity is considerable and the model calls are many.</a:t>
            </a:r>
          </a:p>
        </p:txBody>
      </p:sp>
      <p:sp>
        <p:nvSpPr>
          <p:cNvPr id="7" name="TextBox 6"/>
          <p:cNvSpPr txBox="1"/>
          <p:nvPr/>
        </p:nvSpPr>
        <p:spPr>
          <a:xfrm>
            <a:off x="2433796" y="4620000"/>
            <a:ext cx="3900000" cy="253916"/>
          </a:xfrm>
          <a:prstGeom prst="rect">
            <a:avLst/>
          </a:prstGeom>
          <a:noFill/>
        </p:spPr>
        <p:txBody>
          <a:bodyPr wrap="none">
            <a:spAutoFit/>
          </a:bodyPr>
          <a:lstStyle/>
          <a:p>
            <a:pPr algn="r"/>
            <a:r>
              <a:rPr sz="1050" i="1">
                <a:solidFill>
                  <a:schemeClr val="bg2"/>
                </a:solidFill>
              </a:rPr>
              <a:t>Google Cloud Architecture Center, agentic design patterns, CC BY 4.0</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Swarm</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Specialists talk to one another all-to-all and refine together, with an explicit exit condition. Orchestrated by </a:t>
            </a:r>
            <a:r>
              <a:rPr sz="1400" b="1">
                <a:solidFill>
                  <a:schemeClr val="tx2"/>
                </a:solidFill>
              </a:rPr>
              <a:t>no central orchestrator</a:t>
            </a:r>
            <a:r>
              <a:rPr sz="1400" b="0">
                <a:solidFill>
                  <a:schemeClr val="tx2"/>
                </a:solidFill>
              </a:rPr>
              <a:t>.</a:t>
            </a:r>
          </a:p>
        </p:txBody>
      </p:sp>
      <p:pic>
        <p:nvPicPr>
          <p:cNvPr id="4" name="Picture 3" descr="gcp-swarm.png"/>
          <p:cNvPicPr>
            <a:picLocks noChangeAspect="1"/>
          </p:cNvPicPr>
          <p:nvPr/>
        </p:nvPicPr>
        <p:blipFill>
          <a:blip r:embed="rId3"/>
          <a:stretch>
            <a:fillRect/>
          </a:stretch>
        </p:blipFill>
        <p:spPr>
          <a:xfrm>
            <a:off x="2180196" y="1450000"/>
            <a:ext cx="2292657" cy="2170000"/>
          </a:xfrm>
          <a:prstGeom prst="rect">
            <a:avLst/>
          </a:prstGeom>
        </p:spPr>
      </p:pic>
      <p:sp>
        <p:nvSpPr>
          <p:cNvPr id="5" name="Rectangle 4"/>
          <p:cNvSpPr/>
          <p:nvPr/>
        </p:nvSpPr>
        <p:spPr>
          <a:xfrm>
            <a:off x="319251"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Use it when </a:t>
            </a:r>
            <a:r>
              <a:rPr sz="1200">
                <a:solidFill>
                  <a:schemeClr val="tx1"/>
                </a:solidFill>
              </a:rPr>
              <a:t>the problem is ambiguous and genuinely benefits from argument between perspectives.</a:t>
            </a:r>
          </a:p>
        </p:txBody>
      </p:sp>
      <p:sp>
        <p:nvSpPr>
          <p:cNvPr id="6" name="Rectangle 5"/>
          <p:cNvSpPr/>
          <p:nvPr/>
        </p:nvSpPr>
        <p:spPr>
          <a:xfrm>
            <a:off x="3419857"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almost always: it is the costliest of the twelve and may never converge.</a:t>
            </a:r>
          </a:p>
        </p:txBody>
      </p:sp>
      <p:sp>
        <p:nvSpPr>
          <p:cNvPr id="7" name="TextBox 6"/>
          <p:cNvSpPr txBox="1"/>
          <p:nvPr/>
        </p:nvSpPr>
        <p:spPr>
          <a:xfrm>
            <a:off x="2433796" y="4620000"/>
            <a:ext cx="3900000" cy="253916"/>
          </a:xfrm>
          <a:prstGeom prst="rect">
            <a:avLst/>
          </a:prstGeom>
          <a:noFill/>
        </p:spPr>
        <p:txBody>
          <a:bodyPr wrap="none">
            <a:spAutoFit/>
          </a:bodyPr>
          <a:lstStyle/>
          <a:p>
            <a:pPr algn="r"/>
            <a:r>
              <a:rPr sz="1050" i="1">
                <a:solidFill>
                  <a:schemeClr val="bg2"/>
                </a:solidFill>
              </a:rPr>
              <a:t>Google Cloud Architecture Center, agentic design patterns, CC BY 4.0</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Human in the loop</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The agent pauses at a checkpoint and waits for a person to approve, correct or supply input. Orchestrated by </a:t>
            </a:r>
            <a:r>
              <a:rPr sz="1400" b="1">
                <a:solidFill>
                  <a:schemeClr val="tx2"/>
                </a:solidFill>
              </a:rPr>
              <a:t>predefined checkpoints</a:t>
            </a:r>
            <a:r>
              <a:rPr sz="1400" b="0">
                <a:solidFill>
                  <a:schemeClr val="tx2"/>
                </a:solidFill>
              </a:rPr>
              <a:t>.</a:t>
            </a:r>
          </a:p>
        </p:txBody>
      </p:sp>
      <p:pic>
        <p:nvPicPr>
          <p:cNvPr id="4" name="Picture 3" descr="gcp-human-in-the-loop.png"/>
          <p:cNvPicPr>
            <a:picLocks noChangeAspect="1"/>
          </p:cNvPicPr>
          <p:nvPr/>
        </p:nvPicPr>
        <p:blipFill>
          <a:blip r:embed="rId3"/>
          <a:stretch>
            <a:fillRect/>
          </a:stretch>
        </p:blipFill>
        <p:spPr>
          <a:xfrm>
            <a:off x="250148" y="1728989"/>
            <a:ext cx="6152752" cy="1612021"/>
          </a:xfrm>
          <a:prstGeom prst="rect">
            <a:avLst/>
          </a:prstGeom>
        </p:spPr>
      </p:pic>
      <p:sp>
        <p:nvSpPr>
          <p:cNvPr id="5" name="Rectangle 4"/>
          <p:cNvSpPr/>
          <p:nvPr/>
        </p:nvSpPr>
        <p:spPr>
          <a:xfrm>
            <a:off x="319251"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Use it when </a:t>
            </a:r>
            <a:r>
              <a:rPr sz="1200">
                <a:solidFill>
                  <a:schemeClr val="tx1"/>
                </a:solidFill>
              </a:rPr>
              <a:t>the decision is high-stakes or subjective, like a payment or a sensitive document.</a:t>
            </a:r>
          </a:p>
        </p:txBody>
      </p:sp>
      <p:sp>
        <p:nvSpPr>
          <p:cNvPr id="6" name="Rectangle 5"/>
          <p:cNvSpPr/>
          <p:nvPr/>
        </p:nvSpPr>
        <p:spPr>
          <a:xfrm>
            <a:off x="3419857"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there is nobody to ask: it needs an interaction system built and then maintained.</a:t>
            </a:r>
          </a:p>
        </p:txBody>
      </p:sp>
      <p:sp>
        <p:nvSpPr>
          <p:cNvPr id="7" name="TextBox 6"/>
          <p:cNvSpPr txBox="1"/>
          <p:nvPr/>
        </p:nvSpPr>
        <p:spPr>
          <a:xfrm>
            <a:off x="2433796" y="4620000"/>
            <a:ext cx="3900000" cy="253916"/>
          </a:xfrm>
          <a:prstGeom prst="rect">
            <a:avLst/>
          </a:prstGeom>
          <a:noFill/>
        </p:spPr>
        <p:txBody>
          <a:bodyPr wrap="none">
            <a:spAutoFit/>
          </a:bodyPr>
          <a:lstStyle/>
          <a:p>
            <a:pPr algn="r"/>
            <a:r>
              <a:rPr sz="1050" i="1">
                <a:solidFill>
                  <a:schemeClr val="bg2"/>
                </a:solidFill>
              </a:rPr>
              <a:t>Google Cloud Architecture Center, agentic design patterns, CC BY 4.0</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Custom logic</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Conditional orchestration written in code, mixing the other patterns as needed. Orchestrated by </a:t>
            </a:r>
            <a:r>
              <a:rPr sz="1400" b="1">
                <a:solidFill>
                  <a:schemeClr val="tx2"/>
                </a:solidFill>
              </a:rPr>
              <a:t>code the team writes</a:t>
            </a:r>
            <a:r>
              <a:rPr sz="1400" b="0">
                <a:solidFill>
                  <a:schemeClr val="tx2"/>
                </a:solidFill>
              </a:rPr>
              <a:t>.</a:t>
            </a:r>
          </a:p>
        </p:txBody>
      </p:sp>
      <p:sp>
        <p:nvSpPr>
          <p:cNvPr id="4" name="Rectangle 3"/>
          <p:cNvSpPr/>
          <p:nvPr/>
        </p:nvSpPr>
        <p:spPr>
          <a:xfrm>
            <a:off x="319251" y="1700000"/>
            <a:ext cx="2913939" cy="120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Use it when </a:t>
            </a:r>
            <a:r>
              <a:rPr sz="1200">
                <a:solidFill>
                  <a:schemeClr val="tx1"/>
                </a:solidFill>
              </a:rPr>
              <a:t>the branching goes beyond a linear sequence, or fixed rules mix with model reasoning.</a:t>
            </a:r>
          </a:p>
        </p:txBody>
      </p:sp>
      <p:sp>
        <p:nvSpPr>
          <p:cNvPr id="5" name="Rectangle 4"/>
          <p:cNvSpPr/>
          <p:nvPr/>
        </p:nvSpPr>
        <p:spPr>
          <a:xfrm>
            <a:off x="3419857" y="1700000"/>
            <a:ext cx="2913939" cy="120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a named pattern already fits: the team now owns and debugs the whole flow.</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Task ownership</a:t>
            </a:r>
          </a:p>
        </p:txBody>
      </p:sp>
      <p:sp>
        <p:nvSpPr>
          <p:cNvPr id="3" name="Rectangle 2"/>
          <p:cNvSpPr/>
          <p:nvPr/>
        </p:nvSpPr>
        <p:spPr>
          <a:xfrm>
            <a:off x="319251" y="700000"/>
            <a:ext cx="6014545" cy="85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dirty="0">
                <a:solidFill>
                  <a:schemeClr val="tx2"/>
                </a:solidFill>
              </a:rPr>
              <a:t>Who owns the whole task, and who owns only a piece of it.</a:t>
            </a:r>
          </a:p>
        </p:txBody>
      </p:sp>
      <p:sp>
        <p:nvSpPr>
          <p:cNvPr id="4" name="Rectangle 3"/>
          <p:cNvSpPr/>
          <p:nvPr/>
        </p:nvSpPr>
        <p:spPr>
          <a:xfrm>
            <a:off x="319251" y="174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dirty="0">
                <a:solidFill>
                  <a:srgbClr val="28285E"/>
                </a:solidFill>
              </a:rPr>
              <a:t>Coordinator</a:t>
            </a:r>
          </a:p>
          <a:p>
            <a:pPr algn="l">
              <a:spcBef>
                <a:spcPts val="600"/>
              </a:spcBef>
            </a:pPr>
            <a:r>
              <a:rPr sz="1200" dirty="0">
                <a:solidFill>
                  <a:schemeClr val="tx1"/>
                </a:solidFill>
              </a:rPr>
              <a:t>The </a:t>
            </a:r>
            <a:r>
              <a:rPr sz="1200" b="1" dirty="0">
                <a:solidFill>
                  <a:schemeClr val="tx1"/>
                </a:solidFill>
              </a:rPr>
              <a:t>coordinator owns the task and delegates pieces</a:t>
            </a:r>
            <a:r>
              <a:rPr sz="1200" dirty="0">
                <a:solidFill>
                  <a:schemeClr val="tx1"/>
                </a:solidFill>
              </a:rPr>
              <a:t>; a specialist owns only its piece.</a:t>
            </a:r>
          </a:p>
        </p:txBody>
      </p:sp>
      <p:sp>
        <p:nvSpPr>
          <p:cNvPr id="5" name="Rectangle 4"/>
          <p:cNvSpPr/>
          <p:nvPr/>
        </p:nvSpPr>
        <p:spPr>
          <a:xfrm>
            <a:off x="3419857" y="174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dirty="0">
                <a:solidFill>
                  <a:srgbClr val="28285E"/>
                </a:solidFill>
              </a:rPr>
              <a:t>Hierarchical</a:t>
            </a:r>
          </a:p>
          <a:p>
            <a:pPr algn="l">
              <a:spcBef>
                <a:spcPts val="600"/>
              </a:spcBef>
            </a:pPr>
            <a:r>
              <a:rPr sz="1200" dirty="0">
                <a:solidFill>
                  <a:schemeClr val="tx1"/>
                </a:solidFill>
              </a:rPr>
              <a:t>Ownership is </a:t>
            </a:r>
            <a:r>
              <a:rPr sz="1200" b="1" dirty="0">
                <a:solidFill>
                  <a:schemeClr val="tx1"/>
                </a:solidFill>
              </a:rPr>
              <a:t>nested</a:t>
            </a:r>
            <a:r>
              <a:rPr sz="1200" dirty="0">
                <a:solidFill>
                  <a:schemeClr val="tx1"/>
                </a:solidFill>
              </a:rPr>
              <a:t>: each level </a:t>
            </a:r>
            <a:r>
              <a:rPr sz="1200" b="1" dirty="0">
                <a:solidFill>
                  <a:schemeClr val="tx1"/>
                </a:solidFill>
              </a:rPr>
              <a:t>owns the</a:t>
            </a:r>
            <a:r>
              <a:rPr sz="1200" dirty="0">
                <a:solidFill>
                  <a:schemeClr val="tx1"/>
                </a:solidFill>
              </a:rPr>
              <a:t> </a:t>
            </a:r>
            <a:r>
              <a:rPr sz="1200" b="1" dirty="0">
                <a:solidFill>
                  <a:schemeClr val="tx1"/>
                </a:solidFill>
              </a:rPr>
              <a:t>decomposition</a:t>
            </a:r>
            <a:r>
              <a:rPr sz="1200" dirty="0">
                <a:solidFill>
                  <a:schemeClr val="tx1"/>
                </a:solidFill>
              </a:rPr>
              <a:t> it made.</a:t>
            </a:r>
          </a:p>
        </p:txBody>
      </p:sp>
      <p:sp>
        <p:nvSpPr>
          <p:cNvPr id="6" name="Rectangle 5"/>
          <p:cNvSpPr/>
          <p:nvPr/>
        </p:nvSpPr>
        <p:spPr>
          <a:xfrm>
            <a:off x="319251" y="321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dirty="0">
                <a:solidFill>
                  <a:srgbClr val="28285E"/>
                </a:solidFill>
              </a:rPr>
              <a:t>Parallel</a:t>
            </a:r>
          </a:p>
          <a:p>
            <a:pPr algn="l">
              <a:spcBef>
                <a:spcPts val="600"/>
              </a:spcBef>
            </a:pPr>
            <a:r>
              <a:rPr sz="1200" dirty="0">
                <a:solidFill>
                  <a:schemeClr val="tx1"/>
                </a:solidFill>
              </a:rPr>
              <a:t>Each </a:t>
            </a:r>
            <a:r>
              <a:rPr sz="1200" b="1" dirty="0">
                <a:solidFill>
                  <a:schemeClr val="tx1"/>
                </a:solidFill>
              </a:rPr>
              <a:t>worker owns one independent piece</a:t>
            </a:r>
            <a:r>
              <a:rPr sz="1200" dirty="0">
                <a:solidFill>
                  <a:schemeClr val="tx1"/>
                </a:solidFill>
              </a:rPr>
              <a:t>; the </a:t>
            </a:r>
            <a:r>
              <a:rPr sz="1200" b="1" dirty="0">
                <a:solidFill>
                  <a:schemeClr val="tx1"/>
                </a:solidFill>
              </a:rPr>
              <a:t>gather step owns the whole</a:t>
            </a:r>
            <a:r>
              <a:rPr sz="1200" dirty="0">
                <a:solidFill>
                  <a:schemeClr val="tx1"/>
                </a:solidFill>
              </a:rPr>
              <a:t>.</a:t>
            </a:r>
          </a:p>
        </p:txBody>
      </p:sp>
      <p:sp>
        <p:nvSpPr>
          <p:cNvPr id="7" name="Rectangle 6"/>
          <p:cNvSpPr/>
          <p:nvPr/>
        </p:nvSpPr>
        <p:spPr>
          <a:xfrm>
            <a:off x="3419857" y="321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dirty="0">
                <a:solidFill>
                  <a:srgbClr val="28285E"/>
                </a:solidFill>
              </a:rPr>
              <a:t>Review and critique</a:t>
            </a:r>
          </a:p>
          <a:p>
            <a:pPr algn="l">
              <a:spcBef>
                <a:spcPts val="600"/>
              </a:spcBef>
            </a:pPr>
            <a:r>
              <a:rPr lang="en-US" sz="1200" dirty="0">
                <a:solidFill>
                  <a:schemeClr val="tx1"/>
                </a:solidFill>
              </a:rPr>
              <a:t>T</a:t>
            </a:r>
            <a:r>
              <a:rPr sz="1200" dirty="0">
                <a:solidFill>
                  <a:schemeClr val="tx1"/>
                </a:solidFill>
              </a:rPr>
              <a:t>he generator owns the candidate</a:t>
            </a:r>
            <a:r>
              <a:rPr lang="en-US" sz="1200" dirty="0">
                <a:solidFill>
                  <a:schemeClr val="tx1"/>
                </a:solidFill>
              </a:rPr>
              <a:t> and</a:t>
            </a:r>
            <a:r>
              <a:rPr sz="1200" dirty="0">
                <a:solidFill>
                  <a:schemeClr val="tx1"/>
                </a:solidFill>
              </a:rPr>
              <a:t> the critic owns acceptance.</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State boundaries</a:t>
            </a:r>
          </a:p>
        </p:txBody>
      </p:sp>
      <p:sp>
        <p:nvSpPr>
          <p:cNvPr id="3" name="Rectangle 2"/>
          <p:cNvSpPr/>
          <p:nvPr/>
        </p:nvSpPr>
        <p:spPr>
          <a:xfrm>
            <a:off x="319251" y="700000"/>
            <a:ext cx="6014545" cy="85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What each component can see, and what has to </a:t>
            </a:r>
            <a:r>
              <a:rPr sz="1400" b="1">
                <a:solidFill>
                  <a:schemeClr val="tx2"/>
                </a:solidFill>
              </a:rPr>
              <a:t>cross</a:t>
            </a:r>
            <a:r>
              <a:rPr sz="1400" b="0">
                <a:solidFill>
                  <a:schemeClr val="tx2"/>
                </a:solidFill>
              </a:rPr>
              <a:t> from one to another.</a:t>
            </a:r>
          </a:p>
        </p:txBody>
      </p:sp>
      <p:sp>
        <p:nvSpPr>
          <p:cNvPr id="4" name="Rectangle 3"/>
          <p:cNvSpPr/>
          <p:nvPr/>
        </p:nvSpPr>
        <p:spPr>
          <a:xfrm>
            <a:off x="319251" y="174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Coordinator</a:t>
            </a:r>
          </a:p>
          <a:p>
            <a:pPr algn="l">
              <a:spcBef>
                <a:spcPts val="600"/>
              </a:spcBef>
            </a:pPr>
            <a:r>
              <a:rPr sz="1200">
                <a:solidFill>
                  <a:schemeClr val="tx1"/>
                </a:solidFill>
              </a:rPr>
              <a:t>The coordinator's context and each specialist's are separate; what crosses is what the coordinator passes.</a:t>
            </a:r>
          </a:p>
        </p:txBody>
      </p:sp>
      <p:sp>
        <p:nvSpPr>
          <p:cNvPr id="5" name="Rectangle 4"/>
          <p:cNvSpPr/>
          <p:nvPr/>
        </p:nvSpPr>
        <p:spPr>
          <a:xfrm>
            <a:off x="3419857" y="174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Hierarchical</a:t>
            </a:r>
          </a:p>
          <a:p>
            <a:pPr algn="l">
              <a:spcBef>
                <a:spcPts val="600"/>
              </a:spcBef>
            </a:pPr>
            <a:r>
              <a:rPr sz="1200">
                <a:solidFill>
                  <a:schemeClr val="tx1"/>
                </a:solidFill>
              </a:rPr>
              <a:t>A state boundary per level, and partial results cross upward.</a:t>
            </a:r>
          </a:p>
        </p:txBody>
      </p:sp>
      <p:sp>
        <p:nvSpPr>
          <p:cNvPr id="6" name="Rectangle 5"/>
          <p:cNvSpPr/>
          <p:nvPr/>
        </p:nvSpPr>
        <p:spPr>
          <a:xfrm>
            <a:off x="319251" y="321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Parallel</a:t>
            </a:r>
          </a:p>
          <a:p>
            <a:pPr algn="l">
              <a:spcBef>
                <a:spcPts val="600"/>
              </a:spcBef>
            </a:pPr>
            <a:r>
              <a:rPr sz="1200">
                <a:solidFill>
                  <a:schemeClr val="tx1"/>
                </a:solidFill>
              </a:rPr>
              <a:t>One state record per worker; the join reads all of them.</a:t>
            </a:r>
          </a:p>
        </p:txBody>
      </p:sp>
      <p:sp>
        <p:nvSpPr>
          <p:cNvPr id="7" name="Rectangle 6"/>
          <p:cNvSpPr/>
          <p:nvPr/>
        </p:nvSpPr>
        <p:spPr>
          <a:xfrm>
            <a:off x="3419857" y="321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Review and critique</a:t>
            </a:r>
          </a:p>
          <a:p>
            <a:pPr algn="l">
              <a:spcBef>
                <a:spcPts val="600"/>
              </a:spcBef>
            </a:pPr>
            <a:r>
              <a:rPr sz="1200">
                <a:solidFill>
                  <a:schemeClr val="tx1"/>
                </a:solidFill>
              </a:rPr>
              <a:t>Unchanged: one record, with the critic's reasons added to it.</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Model-call overhead</a:t>
            </a:r>
          </a:p>
        </p:txBody>
      </p:sp>
      <p:sp>
        <p:nvSpPr>
          <p:cNvPr id="3" name="Rectangle 2"/>
          <p:cNvSpPr/>
          <p:nvPr/>
        </p:nvSpPr>
        <p:spPr>
          <a:xfrm>
            <a:off x="319251" y="700000"/>
            <a:ext cx="6014545" cy="85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How many model calls the shape adds </a:t>
            </a:r>
            <a:r>
              <a:rPr sz="1400" b="1">
                <a:solidFill>
                  <a:schemeClr val="tx2"/>
                </a:solidFill>
              </a:rPr>
              <a:t>on top of the work itself</a:t>
            </a:r>
            <a:r>
              <a:rPr sz="1400" b="0">
                <a:solidFill>
                  <a:schemeClr val="tx2"/>
                </a:solidFill>
              </a:rPr>
              <a:t>.</a:t>
            </a:r>
          </a:p>
        </p:txBody>
      </p:sp>
      <p:sp>
        <p:nvSpPr>
          <p:cNvPr id="4" name="Rectangle 3"/>
          <p:cNvSpPr/>
          <p:nvPr/>
        </p:nvSpPr>
        <p:spPr>
          <a:xfrm>
            <a:off x="319251" y="174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Coordinator</a:t>
            </a:r>
          </a:p>
          <a:p>
            <a:pPr algn="l">
              <a:spcBef>
                <a:spcPts val="600"/>
              </a:spcBef>
            </a:pPr>
            <a:r>
              <a:rPr sz="1200">
                <a:solidFill>
                  <a:schemeClr val="tx1"/>
                </a:solidFill>
              </a:rPr>
              <a:t>One routing call per request, plus the specialists' calls.</a:t>
            </a:r>
          </a:p>
        </p:txBody>
      </p:sp>
      <p:sp>
        <p:nvSpPr>
          <p:cNvPr id="5" name="Rectangle 4"/>
          <p:cNvSpPr/>
          <p:nvPr/>
        </p:nvSpPr>
        <p:spPr>
          <a:xfrm>
            <a:off x="3419857" y="174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Hierarchical</a:t>
            </a:r>
          </a:p>
          <a:p>
            <a:pPr algn="l">
              <a:spcBef>
                <a:spcPts val="600"/>
              </a:spcBef>
            </a:pPr>
            <a:r>
              <a:rPr sz="1200">
                <a:solidFill>
                  <a:schemeClr val="tx1"/>
                </a:solidFill>
              </a:rPr>
              <a:t>Multiplied by the depth of the hierarchy.</a:t>
            </a:r>
          </a:p>
        </p:txBody>
      </p:sp>
      <p:sp>
        <p:nvSpPr>
          <p:cNvPr id="6" name="Rectangle 5"/>
          <p:cNvSpPr/>
          <p:nvPr/>
        </p:nvSpPr>
        <p:spPr>
          <a:xfrm>
            <a:off x="319251" y="321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Parallel</a:t>
            </a:r>
          </a:p>
          <a:p>
            <a:pPr algn="l">
              <a:spcBef>
                <a:spcPts val="600"/>
              </a:spcBef>
            </a:pPr>
            <a:r>
              <a:rPr sz="1200">
                <a:solidFill>
                  <a:schemeClr val="tx1"/>
                </a:solidFill>
              </a:rPr>
              <a:t>The sum of the workers' calls, run concurrently.</a:t>
            </a:r>
          </a:p>
        </p:txBody>
      </p:sp>
      <p:sp>
        <p:nvSpPr>
          <p:cNvPr id="7" name="Rectangle 6"/>
          <p:cNvSpPr/>
          <p:nvPr/>
        </p:nvSpPr>
        <p:spPr>
          <a:xfrm>
            <a:off x="3419857" y="321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Review and critique</a:t>
            </a:r>
          </a:p>
          <a:p>
            <a:pPr algn="l">
              <a:spcBef>
                <a:spcPts val="600"/>
              </a:spcBef>
            </a:pPr>
            <a:r>
              <a:rPr sz="1200">
                <a:solidFill>
                  <a:schemeClr val="tx1"/>
                </a:solidFill>
              </a:rPr>
              <a:t>One evaluator call per candidate, plus one per revision.</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Latency</a:t>
            </a:r>
          </a:p>
        </p:txBody>
      </p:sp>
      <p:sp>
        <p:nvSpPr>
          <p:cNvPr id="3" name="Rectangle 2"/>
          <p:cNvSpPr/>
          <p:nvPr/>
        </p:nvSpPr>
        <p:spPr>
          <a:xfrm>
            <a:off x="319251" y="700000"/>
            <a:ext cx="6014545" cy="85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How much wall-clock time the shape adds to a single request.</a:t>
            </a:r>
          </a:p>
        </p:txBody>
      </p:sp>
      <p:sp>
        <p:nvSpPr>
          <p:cNvPr id="4" name="Rectangle 3"/>
          <p:cNvSpPr/>
          <p:nvPr/>
        </p:nvSpPr>
        <p:spPr>
          <a:xfrm>
            <a:off x="319251" y="174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Coordinator</a:t>
            </a:r>
          </a:p>
          <a:p>
            <a:pPr algn="l">
              <a:spcBef>
                <a:spcPts val="600"/>
              </a:spcBef>
            </a:pPr>
            <a:r>
              <a:rPr sz="1200">
                <a:solidFill>
                  <a:schemeClr val="tx1"/>
                </a:solidFill>
              </a:rPr>
              <a:t>The routing call sits on the critical path.</a:t>
            </a:r>
          </a:p>
        </p:txBody>
      </p:sp>
      <p:sp>
        <p:nvSpPr>
          <p:cNvPr id="5" name="Rectangle 4"/>
          <p:cNvSpPr/>
          <p:nvPr/>
        </p:nvSpPr>
        <p:spPr>
          <a:xfrm>
            <a:off x="3419857" y="174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Hierarchical</a:t>
            </a:r>
          </a:p>
          <a:p>
            <a:pPr algn="l">
              <a:spcBef>
                <a:spcPts val="600"/>
              </a:spcBef>
            </a:pPr>
            <a:r>
              <a:rPr sz="1200">
                <a:solidFill>
                  <a:schemeClr val="tx1"/>
                </a:solidFill>
              </a:rPr>
              <a:t>Each level adds a round trip.</a:t>
            </a:r>
          </a:p>
        </p:txBody>
      </p:sp>
      <p:sp>
        <p:nvSpPr>
          <p:cNvPr id="6" name="Rectangle 5"/>
          <p:cNvSpPr/>
          <p:nvPr/>
        </p:nvSpPr>
        <p:spPr>
          <a:xfrm>
            <a:off x="319251" y="321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Parallel</a:t>
            </a:r>
          </a:p>
          <a:p>
            <a:pPr algn="l">
              <a:spcBef>
                <a:spcPts val="600"/>
              </a:spcBef>
            </a:pPr>
            <a:r>
              <a:rPr sz="1200">
                <a:solidFill>
                  <a:schemeClr val="tx1"/>
                </a:solidFill>
              </a:rPr>
              <a:t>Reduced to the slowest worker plus the join.</a:t>
            </a:r>
          </a:p>
        </p:txBody>
      </p:sp>
      <p:sp>
        <p:nvSpPr>
          <p:cNvPr id="7" name="Rectangle 6"/>
          <p:cNvSpPr/>
          <p:nvPr/>
        </p:nvSpPr>
        <p:spPr>
          <a:xfrm>
            <a:off x="3419857" y="321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Review and critique</a:t>
            </a:r>
          </a:p>
          <a:p>
            <a:pPr algn="l">
              <a:spcBef>
                <a:spcPts val="600"/>
              </a:spcBef>
            </a:pPr>
            <a:r>
              <a:rPr sz="1200">
                <a:solidFill>
                  <a:schemeClr val="tx1"/>
                </a:solidFill>
              </a:rPr>
              <a:t>Each revision adds a round trip.</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Failure propagation</a:t>
            </a:r>
          </a:p>
        </p:txBody>
      </p:sp>
      <p:sp>
        <p:nvSpPr>
          <p:cNvPr id="3" name="Rectangle 2"/>
          <p:cNvSpPr/>
          <p:nvPr/>
        </p:nvSpPr>
        <p:spPr>
          <a:xfrm>
            <a:off x="319251" y="700000"/>
            <a:ext cx="6014545" cy="85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Where a mistake goes after it is made, and who is in a position to </a:t>
            </a:r>
            <a:r>
              <a:rPr sz="1400" b="1">
                <a:solidFill>
                  <a:schemeClr val="tx2"/>
                </a:solidFill>
              </a:rPr>
              <a:t>notice</a:t>
            </a:r>
            <a:r>
              <a:rPr sz="1400" b="0">
                <a:solidFill>
                  <a:schemeClr val="tx2"/>
                </a:solidFill>
              </a:rPr>
              <a:t>.</a:t>
            </a:r>
          </a:p>
        </p:txBody>
      </p:sp>
      <p:sp>
        <p:nvSpPr>
          <p:cNvPr id="4" name="Rectangle 3"/>
          <p:cNvSpPr/>
          <p:nvPr/>
        </p:nvSpPr>
        <p:spPr>
          <a:xfrm>
            <a:off x="319251" y="174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Coordinator</a:t>
            </a:r>
          </a:p>
          <a:p>
            <a:pPr algn="l">
              <a:spcBef>
                <a:spcPts val="600"/>
              </a:spcBef>
            </a:pPr>
            <a:r>
              <a:rPr sz="1200">
                <a:solidFill>
                  <a:schemeClr val="tx1"/>
                </a:solidFill>
              </a:rPr>
              <a:t>A misrouted task fails inside the wrong specialist, and the coordinator may not notice.</a:t>
            </a:r>
          </a:p>
        </p:txBody>
      </p:sp>
      <p:sp>
        <p:nvSpPr>
          <p:cNvPr id="5" name="Rectangle 4"/>
          <p:cNvSpPr/>
          <p:nvPr/>
        </p:nvSpPr>
        <p:spPr>
          <a:xfrm>
            <a:off x="3419857" y="174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Hierarchical</a:t>
            </a:r>
          </a:p>
          <a:p>
            <a:pPr algn="l">
              <a:spcBef>
                <a:spcPts val="600"/>
              </a:spcBef>
            </a:pPr>
            <a:r>
              <a:rPr sz="1200">
                <a:solidFill>
                  <a:schemeClr val="tx1"/>
                </a:solidFill>
              </a:rPr>
              <a:t>A wrong decomposition propagates downward and its cost multiplies.</a:t>
            </a:r>
          </a:p>
        </p:txBody>
      </p:sp>
      <p:sp>
        <p:nvSpPr>
          <p:cNvPr id="6" name="Rectangle 5"/>
          <p:cNvSpPr/>
          <p:nvPr/>
        </p:nvSpPr>
        <p:spPr>
          <a:xfrm>
            <a:off x="319251" y="321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Parallel</a:t>
            </a:r>
          </a:p>
          <a:p>
            <a:pPr algn="l">
              <a:spcBef>
                <a:spcPts val="600"/>
              </a:spcBef>
            </a:pPr>
            <a:r>
              <a:rPr sz="1200">
                <a:solidFill>
                  <a:schemeClr val="tx1"/>
                </a:solidFill>
              </a:rPr>
              <a:t>Contained per worker until the join, where a missing piece blocks the whole.</a:t>
            </a:r>
          </a:p>
        </p:txBody>
      </p:sp>
      <p:sp>
        <p:nvSpPr>
          <p:cNvPr id="7" name="Rectangle 6"/>
          <p:cNvSpPr/>
          <p:nvPr/>
        </p:nvSpPr>
        <p:spPr>
          <a:xfrm>
            <a:off x="3419857" y="321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Review and critique</a:t>
            </a:r>
          </a:p>
          <a:p>
            <a:pPr algn="l">
              <a:spcBef>
                <a:spcPts val="600"/>
              </a:spcBef>
            </a:pPr>
            <a:r>
              <a:rPr sz="1200">
                <a:solidFill>
                  <a:schemeClr val="tx1"/>
                </a:solidFill>
              </a:rPr>
              <a:t>A critic that accepts a wrong candidate passes it on; one that rejects a right one costs a revision.</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Inspectability</a:t>
            </a:r>
          </a:p>
        </p:txBody>
      </p:sp>
      <p:sp>
        <p:nvSpPr>
          <p:cNvPr id="3" name="Rectangle 2"/>
          <p:cNvSpPr/>
          <p:nvPr/>
        </p:nvSpPr>
        <p:spPr>
          <a:xfrm>
            <a:off x="319251" y="700000"/>
            <a:ext cx="6014545" cy="85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What someone reading the trace afterwards can reconstruct about </a:t>
            </a:r>
            <a:r>
              <a:rPr sz="1400" b="1">
                <a:solidFill>
                  <a:schemeClr val="tx2"/>
                </a:solidFill>
              </a:rPr>
              <a:t>who decided what</a:t>
            </a:r>
            <a:r>
              <a:rPr sz="1400" b="0">
                <a:solidFill>
                  <a:schemeClr val="tx2"/>
                </a:solidFill>
              </a:rPr>
              <a:t>.</a:t>
            </a:r>
          </a:p>
        </p:txBody>
      </p:sp>
      <p:sp>
        <p:nvSpPr>
          <p:cNvPr id="4" name="Rectangle 3"/>
          <p:cNvSpPr/>
          <p:nvPr/>
        </p:nvSpPr>
        <p:spPr>
          <a:xfrm>
            <a:off x="319251" y="174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Coordinator</a:t>
            </a:r>
          </a:p>
          <a:p>
            <a:pPr algn="l">
              <a:spcBef>
                <a:spcPts val="600"/>
              </a:spcBef>
            </a:pPr>
            <a:r>
              <a:rPr sz="1200">
                <a:solidFill>
                  <a:schemeClr val="tx1"/>
                </a:solidFill>
              </a:rPr>
              <a:t>The routing decision and its reasons are in the trace, if we recorded them.</a:t>
            </a:r>
          </a:p>
        </p:txBody>
      </p:sp>
      <p:sp>
        <p:nvSpPr>
          <p:cNvPr id="5" name="Rectangle 4"/>
          <p:cNvSpPr/>
          <p:nvPr/>
        </p:nvSpPr>
        <p:spPr>
          <a:xfrm>
            <a:off x="3419857" y="174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Hierarchical</a:t>
            </a:r>
          </a:p>
          <a:p>
            <a:pPr algn="l">
              <a:spcBef>
                <a:spcPts val="600"/>
              </a:spcBef>
            </a:pPr>
            <a:r>
              <a:rPr sz="1200">
                <a:solidFill>
                  <a:schemeClr val="tx1"/>
                </a:solidFill>
              </a:rPr>
              <a:t>Traces nest, so which level decided what has to stay recoverable.</a:t>
            </a:r>
          </a:p>
        </p:txBody>
      </p:sp>
      <p:sp>
        <p:nvSpPr>
          <p:cNvPr id="6" name="Rectangle 5"/>
          <p:cNvSpPr/>
          <p:nvPr/>
        </p:nvSpPr>
        <p:spPr>
          <a:xfrm>
            <a:off x="319251" y="321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Parallel</a:t>
            </a:r>
          </a:p>
          <a:p>
            <a:pPr algn="l">
              <a:spcBef>
                <a:spcPts val="600"/>
              </a:spcBef>
            </a:pPr>
            <a:r>
              <a:rPr sz="1200">
                <a:solidFill>
                  <a:schemeClr val="tx1"/>
                </a:solidFill>
              </a:rPr>
              <a:t>Traces interleave, so which worker wrote what has to stay recoverable.</a:t>
            </a:r>
          </a:p>
        </p:txBody>
      </p:sp>
      <p:sp>
        <p:nvSpPr>
          <p:cNvPr id="7" name="Rectangle 6"/>
          <p:cNvSpPr/>
          <p:nvPr/>
        </p:nvSpPr>
        <p:spPr>
          <a:xfrm>
            <a:off x="3419857" y="321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Review and critique</a:t>
            </a:r>
          </a:p>
          <a:p>
            <a:pPr algn="l">
              <a:spcBef>
                <a:spcPts val="600"/>
              </a:spcBef>
            </a:pPr>
            <a:r>
              <a:rPr sz="1200">
                <a:solidFill>
                  <a:schemeClr val="tx1"/>
                </a:solidFill>
              </a:rPr>
              <a:t>Improved: acceptance now carries its reasons.</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EA294D9-636A-79A6-37BA-8F354C6812ED}"/>
              </a:ext>
            </a:extLst>
          </p:cNvPr>
          <p:cNvSpPr/>
          <p:nvPr/>
        </p:nvSpPr>
        <p:spPr>
          <a:xfrm>
            <a:off x="692685" y="746623"/>
            <a:ext cx="5472630" cy="3650254"/>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929000" y="2217807"/>
            <a:ext cx="5000000" cy="707886"/>
          </a:xfrm>
          <a:prstGeom prst="rect">
            <a:avLst/>
          </a:prstGeom>
          <a:noFill/>
        </p:spPr>
        <p:txBody>
          <a:bodyPr wrap="square" anchor="ctr">
            <a:spAutoFit/>
          </a:bodyPr>
          <a:lstStyle/>
          <a:p>
            <a:pPr algn="ctr"/>
            <a:r>
              <a:rPr lang="en-US" sz="4000" b="1" dirty="0">
                <a:solidFill>
                  <a:schemeClr val="bg1"/>
                </a:solidFill>
                <a:latin typeface="+mj-lt"/>
              </a:rPr>
              <a:t>Break</a:t>
            </a:r>
            <a:endParaRPr sz="4000" b="1" dirty="0">
              <a:solidFill>
                <a:schemeClr val="bg1"/>
              </a:solidFill>
              <a:latin typeface="+mj-lt"/>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C4440-B142-1A59-503D-805E67E9667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B6CA18B-F676-D6FD-5DB7-C2DF50D1A01A}"/>
              </a:ext>
            </a:extLst>
          </p:cNvPr>
          <p:cNvSpPr txBox="1"/>
          <p:nvPr/>
        </p:nvSpPr>
        <p:spPr>
          <a:xfrm>
            <a:off x="929000" y="2217807"/>
            <a:ext cx="5000000" cy="707886"/>
          </a:xfrm>
          <a:prstGeom prst="rect">
            <a:avLst/>
          </a:prstGeom>
          <a:noFill/>
        </p:spPr>
        <p:txBody>
          <a:bodyPr wrap="square" anchor="ctr">
            <a:spAutoFit/>
          </a:bodyPr>
          <a:lstStyle/>
          <a:p>
            <a:pPr algn="ctr"/>
            <a:r>
              <a:rPr lang="en-US" sz="4000" b="1" dirty="0">
                <a:solidFill>
                  <a:schemeClr val="bg1"/>
                </a:solidFill>
                <a:latin typeface="+mj-lt"/>
              </a:rPr>
              <a:t>Lecture 2 Part 2</a:t>
            </a:r>
            <a:endParaRPr sz="4000" b="1" dirty="0">
              <a:solidFill>
                <a:schemeClr val="bg1"/>
              </a:solidFill>
              <a:latin typeface="+mj-lt"/>
            </a:endParaRPr>
          </a:p>
        </p:txBody>
      </p:sp>
    </p:spTree>
    <p:extLst>
      <p:ext uri="{BB962C8B-B14F-4D97-AF65-F5344CB8AC3E}">
        <p14:creationId xmlns:p14="http://schemas.microsoft.com/office/powerpoint/2010/main" val="9055148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C4440-B142-1A59-503D-805E67E9667F}"/>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237D6A81-4385-7852-81F8-06B39637518F}"/>
              </a:ext>
            </a:extLst>
          </p:cNvPr>
          <p:cNvPicPr>
            <a:picLocks noChangeAspect="1"/>
          </p:cNvPicPr>
          <p:nvPr/>
        </p:nvPicPr>
        <p:blipFill>
          <a:blip r:embed="rId3">
            <a:alphaModFix amt="70000"/>
          </a:blip>
          <a:stretch>
            <a:fillRect/>
          </a:stretch>
        </p:blipFill>
        <p:spPr>
          <a:xfrm>
            <a:off x="825474" y="1899091"/>
            <a:ext cx="5732295" cy="2403255"/>
          </a:xfrm>
          <a:prstGeom prst="rect">
            <a:avLst/>
          </a:prstGeom>
        </p:spPr>
      </p:pic>
      <p:sp>
        <p:nvSpPr>
          <p:cNvPr id="3" name="TextBox 2">
            <a:extLst>
              <a:ext uri="{FF2B5EF4-FFF2-40B4-BE49-F238E27FC236}">
                <a16:creationId xmlns:a16="http://schemas.microsoft.com/office/drawing/2014/main" id="{CD673071-5FFC-A11F-33BA-D8532061400F}"/>
              </a:ext>
            </a:extLst>
          </p:cNvPr>
          <p:cNvSpPr txBox="1"/>
          <p:nvPr/>
        </p:nvSpPr>
        <p:spPr>
          <a:xfrm>
            <a:off x="929000" y="265338"/>
            <a:ext cx="5000000" cy="1323439"/>
          </a:xfrm>
          <a:prstGeom prst="rect">
            <a:avLst/>
          </a:prstGeom>
          <a:noFill/>
        </p:spPr>
        <p:txBody>
          <a:bodyPr wrap="square" anchor="ctr">
            <a:spAutoFit/>
          </a:bodyPr>
          <a:lstStyle/>
          <a:p>
            <a:pPr algn="ctr"/>
            <a:r>
              <a:rPr sz="4000" b="1" dirty="0">
                <a:solidFill>
                  <a:schemeClr val="bg1"/>
                </a:solidFill>
                <a:latin typeface="+mj-lt"/>
              </a:rPr>
              <a:t>Execution machinery</a:t>
            </a:r>
          </a:p>
        </p:txBody>
      </p:sp>
      <p:cxnSp>
        <p:nvCxnSpPr>
          <p:cNvPr id="4" name="Straight Arrow Connector 3">
            <a:extLst>
              <a:ext uri="{FF2B5EF4-FFF2-40B4-BE49-F238E27FC236}">
                <a16:creationId xmlns:a16="http://schemas.microsoft.com/office/drawing/2014/main" id="{CEFED53E-32C4-C4E2-85A5-C7734EFFFBD2}"/>
              </a:ext>
            </a:extLst>
          </p:cNvPr>
          <p:cNvCxnSpPr>
            <a:cxnSpLocks/>
          </p:cNvCxnSpPr>
          <p:nvPr/>
        </p:nvCxnSpPr>
        <p:spPr>
          <a:xfrm>
            <a:off x="1063835" y="2018156"/>
            <a:ext cx="0" cy="1627170"/>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5" name="Oval 4">
            <a:extLst>
              <a:ext uri="{FF2B5EF4-FFF2-40B4-BE49-F238E27FC236}">
                <a16:creationId xmlns:a16="http://schemas.microsoft.com/office/drawing/2014/main" id="{601E0B9D-CC0E-3422-CD9B-F1516821E4FD}"/>
              </a:ext>
            </a:extLst>
          </p:cNvPr>
          <p:cNvSpPr/>
          <p:nvPr/>
        </p:nvSpPr>
        <p:spPr>
          <a:xfrm>
            <a:off x="951758" y="218805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A43F1170-EE5F-BE19-1404-7DC2A17583C7}"/>
              </a:ext>
            </a:extLst>
          </p:cNvPr>
          <p:cNvSpPr/>
          <p:nvPr/>
        </p:nvSpPr>
        <p:spPr>
          <a:xfrm>
            <a:off x="951758" y="2721753"/>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D1512B09-27FE-E36B-F89B-61B48A1606CC}"/>
              </a:ext>
            </a:extLst>
          </p:cNvPr>
          <p:cNvSpPr/>
          <p:nvPr/>
        </p:nvSpPr>
        <p:spPr>
          <a:xfrm>
            <a:off x="951758" y="3251892"/>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EC5A9F1-BB96-C339-D56C-2BC6E0DA0570}"/>
              </a:ext>
            </a:extLst>
          </p:cNvPr>
          <p:cNvSpPr txBox="1"/>
          <p:nvPr/>
        </p:nvSpPr>
        <p:spPr>
          <a:xfrm>
            <a:off x="1259524" y="2146243"/>
            <a:ext cx="3018775" cy="338554"/>
          </a:xfrm>
          <a:prstGeom prst="rect">
            <a:avLst/>
          </a:prstGeom>
          <a:noFill/>
        </p:spPr>
        <p:txBody>
          <a:bodyPr wrap="none" rtlCol="0">
            <a:spAutoFit/>
          </a:bodyPr>
          <a:lstStyle/>
          <a:p>
            <a:r>
              <a:rPr lang="en-US" sz="1600" b="1" dirty="0">
                <a:solidFill>
                  <a:schemeClr val="tx2"/>
                </a:solidFill>
                <a:latin typeface="+mj-lt"/>
              </a:rPr>
              <a:t>States, Records, and Reducers</a:t>
            </a:r>
          </a:p>
        </p:txBody>
      </p:sp>
      <p:sp>
        <p:nvSpPr>
          <p:cNvPr id="12" name="TextBox 11">
            <a:extLst>
              <a:ext uri="{FF2B5EF4-FFF2-40B4-BE49-F238E27FC236}">
                <a16:creationId xmlns:a16="http://schemas.microsoft.com/office/drawing/2014/main" id="{05AFBEDE-06A3-A656-9089-367CC0A8E3BC}"/>
              </a:ext>
            </a:extLst>
          </p:cNvPr>
          <p:cNvSpPr txBox="1"/>
          <p:nvPr/>
        </p:nvSpPr>
        <p:spPr>
          <a:xfrm>
            <a:off x="1259524" y="3210078"/>
            <a:ext cx="1973617" cy="338554"/>
          </a:xfrm>
          <a:prstGeom prst="rect">
            <a:avLst/>
          </a:prstGeom>
          <a:noFill/>
        </p:spPr>
        <p:txBody>
          <a:bodyPr wrap="none" rtlCol="0">
            <a:spAutoFit/>
          </a:bodyPr>
          <a:lstStyle/>
          <a:p>
            <a:r>
              <a:rPr lang="en-US" sz="1600" b="1" dirty="0">
                <a:solidFill>
                  <a:schemeClr val="tx2"/>
                </a:solidFill>
                <a:latin typeface="Fira Sans" panose="020B0503050000020004" pitchFamily="34" charset="0"/>
              </a:rPr>
              <a:t>The tool boundary</a:t>
            </a:r>
          </a:p>
        </p:txBody>
      </p:sp>
      <p:sp>
        <p:nvSpPr>
          <p:cNvPr id="11" name="TextBox 10">
            <a:extLst>
              <a:ext uri="{FF2B5EF4-FFF2-40B4-BE49-F238E27FC236}">
                <a16:creationId xmlns:a16="http://schemas.microsoft.com/office/drawing/2014/main" id="{094ED687-C55F-414D-DBBF-411E837220F3}"/>
              </a:ext>
            </a:extLst>
          </p:cNvPr>
          <p:cNvSpPr txBox="1"/>
          <p:nvPr/>
        </p:nvSpPr>
        <p:spPr>
          <a:xfrm>
            <a:off x="1259524" y="2676382"/>
            <a:ext cx="4067139" cy="338554"/>
          </a:xfrm>
          <a:prstGeom prst="rect">
            <a:avLst/>
          </a:prstGeom>
          <a:noFill/>
        </p:spPr>
        <p:txBody>
          <a:bodyPr wrap="none" rtlCol="0">
            <a:spAutoFit/>
          </a:bodyPr>
          <a:lstStyle/>
          <a:p>
            <a:r>
              <a:rPr lang="en-US" sz="1600" b="1" dirty="0">
                <a:solidFill>
                  <a:schemeClr val="tx2"/>
                </a:solidFill>
                <a:latin typeface="+mj-lt"/>
              </a:rPr>
              <a:t>Routing, feedback loops, and termination</a:t>
            </a:r>
            <a:endParaRPr lang="en-US" sz="1600" i="1" dirty="0">
              <a:solidFill>
                <a:schemeClr val="tx2"/>
              </a:solidFill>
              <a:latin typeface="+mj-lt"/>
            </a:endParaRPr>
          </a:p>
        </p:txBody>
      </p:sp>
    </p:spTree>
    <p:extLst>
      <p:ext uri="{BB962C8B-B14F-4D97-AF65-F5344CB8AC3E}">
        <p14:creationId xmlns:p14="http://schemas.microsoft.com/office/powerpoint/2010/main" val="211291187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9C877-5566-2E23-1702-8D918A30AF1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B486798-157B-61A4-9C7C-B695CE1ACE95}"/>
              </a:ext>
            </a:extLst>
          </p:cNvPr>
          <p:cNvSpPr txBox="1"/>
          <p:nvPr/>
        </p:nvSpPr>
        <p:spPr>
          <a:xfrm>
            <a:off x="929000" y="265338"/>
            <a:ext cx="5000000" cy="1323439"/>
          </a:xfrm>
          <a:prstGeom prst="rect">
            <a:avLst/>
          </a:prstGeom>
          <a:noFill/>
        </p:spPr>
        <p:txBody>
          <a:bodyPr wrap="square" anchor="ctr">
            <a:spAutoFit/>
          </a:bodyPr>
          <a:lstStyle/>
          <a:p>
            <a:pPr algn="ctr"/>
            <a:r>
              <a:rPr lang="en-US" sz="4000" b="1" dirty="0">
                <a:solidFill>
                  <a:schemeClr val="bg1"/>
                </a:solidFill>
                <a:latin typeface="+mj-lt"/>
              </a:rPr>
              <a:t>States, Records, and Reducers</a:t>
            </a:r>
            <a:endParaRPr sz="4000" b="1" dirty="0">
              <a:solidFill>
                <a:schemeClr val="bg1"/>
              </a:solidFill>
              <a:latin typeface="+mj-lt"/>
            </a:endParaRPr>
          </a:p>
        </p:txBody>
      </p:sp>
      <p:cxnSp>
        <p:nvCxnSpPr>
          <p:cNvPr id="4" name="Straight Arrow Connector 3">
            <a:extLst>
              <a:ext uri="{FF2B5EF4-FFF2-40B4-BE49-F238E27FC236}">
                <a16:creationId xmlns:a16="http://schemas.microsoft.com/office/drawing/2014/main" id="{3AD5CF53-0946-683E-F442-B3BC0351AF4F}"/>
              </a:ext>
            </a:extLst>
          </p:cNvPr>
          <p:cNvCxnSpPr>
            <a:cxnSpLocks/>
          </p:cNvCxnSpPr>
          <p:nvPr/>
        </p:nvCxnSpPr>
        <p:spPr>
          <a:xfrm>
            <a:off x="1063835" y="2018156"/>
            <a:ext cx="0" cy="1627170"/>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5" name="Oval 4">
            <a:extLst>
              <a:ext uri="{FF2B5EF4-FFF2-40B4-BE49-F238E27FC236}">
                <a16:creationId xmlns:a16="http://schemas.microsoft.com/office/drawing/2014/main" id="{1CADCF5A-4CBA-D43E-DFE4-9A28FCE4EE82}"/>
              </a:ext>
            </a:extLst>
          </p:cNvPr>
          <p:cNvSpPr/>
          <p:nvPr/>
        </p:nvSpPr>
        <p:spPr>
          <a:xfrm>
            <a:off x="951758" y="218805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6A08BC57-4939-6FB8-7C3C-E9AAF841B81B}"/>
              </a:ext>
            </a:extLst>
          </p:cNvPr>
          <p:cNvSpPr/>
          <p:nvPr/>
        </p:nvSpPr>
        <p:spPr>
          <a:xfrm>
            <a:off x="951758" y="2721753"/>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66525709-37B2-C26B-CFEF-4C71EFB68A5B}"/>
              </a:ext>
            </a:extLst>
          </p:cNvPr>
          <p:cNvSpPr/>
          <p:nvPr/>
        </p:nvSpPr>
        <p:spPr>
          <a:xfrm>
            <a:off x="951758" y="3251892"/>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8A1D087-8772-6BF3-EC4E-3E7E25349152}"/>
              </a:ext>
            </a:extLst>
          </p:cNvPr>
          <p:cNvSpPr txBox="1"/>
          <p:nvPr/>
        </p:nvSpPr>
        <p:spPr>
          <a:xfrm>
            <a:off x="1259524" y="2146243"/>
            <a:ext cx="3018775" cy="338554"/>
          </a:xfrm>
          <a:prstGeom prst="rect">
            <a:avLst/>
          </a:prstGeom>
          <a:noFill/>
        </p:spPr>
        <p:txBody>
          <a:bodyPr wrap="none" rtlCol="0">
            <a:spAutoFit/>
          </a:bodyPr>
          <a:lstStyle/>
          <a:p>
            <a:r>
              <a:rPr lang="en-US" sz="1600" b="1" dirty="0">
                <a:solidFill>
                  <a:schemeClr val="tx2"/>
                </a:solidFill>
                <a:latin typeface="+mj-lt"/>
              </a:rPr>
              <a:t>States, Records, and Reducers</a:t>
            </a:r>
          </a:p>
        </p:txBody>
      </p:sp>
      <p:sp>
        <p:nvSpPr>
          <p:cNvPr id="12" name="TextBox 11">
            <a:extLst>
              <a:ext uri="{FF2B5EF4-FFF2-40B4-BE49-F238E27FC236}">
                <a16:creationId xmlns:a16="http://schemas.microsoft.com/office/drawing/2014/main" id="{879FE573-642F-114B-052F-AAA8E7BDCE26}"/>
              </a:ext>
            </a:extLst>
          </p:cNvPr>
          <p:cNvSpPr txBox="1"/>
          <p:nvPr/>
        </p:nvSpPr>
        <p:spPr>
          <a:xfrm>
            <a:off x="1259524" y="3210078"/>
            <a:ext cx="1973617" cy="338554"/>
          </a:xfrm>
          <a:prstGeom prst="rect">
            <a:avLst/>
          </a:prstGeom>
          <a:noFill/>
        </p:spPr>
        <p:txBody>
          <a:bodyPr wrap="none" rtlCol="0">
            <a:spAutoFit/>
          </a:bodyPr>
          <a:lstStyle/>
          <a:p>
            <a:r>
              <a:rPr lang="en-US" sz="1600" b="1" dirty="0">
                <a:solidFill>
                  <a:schemeClr val="tx2"/>
                </a:solidFill>
                <a:latin typeface="Fira Sans" panose="020B0503050000020004" pitchFamily="34" charset="0"/>
              </a:rPr>
              <a:t>The tool boundary</a:t>
            </a:r>
          </a:p>
        </p:txBody>
      </p:sp>
      <p:sp>
        <p:nvSpPr>
          <p:cNvPr id="11" name="TextBox 10">
            <a:extLst>
              <a:ext uri="{FF2B5EF4-FFF2-40B4-BE49-F238E27FC236}">
                <a16:creationId xmlns:a16="http://schemas.microsoft.com/office/drawing/2014/main" id="{346757F0-4DFF-1E20-CDC1-6E67A304AEC2}"/>
              </a:ext>
            </a:extLst>
          </p:cNvPr>
          <p:cNvSpPr txBox="1"/>
          <p:nvPr/>
        </p:nvSpPr>
        <p:spPr>
          <a:xfrm>
            <a:off x="1259524" y="2676382"/>
            <a:ext cx="4067139" cy="338554"/>
          </a:xfrm>
          <a:prstGeom prst="rect">
            <a:avLst/>
          </a:prstGeom>
          <a:noFill/>
        </p:spPr>
        <p:txBody>
          <a:bodyPr wrap="none" rtlCol="0">
            <a:spAutoFit/>
          </a:bodyPr>
          <a:lstStyle/>
          <a:p>
            <a:r>
              <a:rPr lang="en-US" sz="1600" b="1" dirty="0">
                <a:solidFill>
                  <a:schemeClr val="tx2"/>
                </a:solidFill>
                <a:latin typeface="+mj-lt"/>
              </a:rPr>
              <a:t>Routing, feedback loops, and termination</a:t>
            </a:r>
            <a:endParaRPr lang="en-US" sz="1600" i="1" dirty="0">
              <a:solidFill>
                <a:schemeClr val="tx2"/>
              </a:solidFill>
              <a:latin typeface="+mj-lt"/>
            </a:endParaRPr>
          </a:p>
        </p:txBody>
      </p:sp>
      <p:pic>
        <p:nvPicPr>
          <p:cNvPr id="14" name="Picture 13">
            <a:extLst>
              <a:ext uri="{FF2B5EF4-FFF2-40B4-BE49-F238E27FC236}">
                <a16:creationId xmlns:a16="http://schemas.microsoft.com/office/drawing/2014/main" id="{1DB686E2-B4DB-D0ED-0AE5-04CE63ABC410}"/>
              </a:ext>
            </a:extLst>
          </p:cNvPr>
          <p:cNvPicPr>
            <a:picLocks noChangeAspect="1"/>
          </p:cNvPicPr>
          <p:nvPr/>
        </p:nvPicPr>
        <p:blipFill>
          <a:blip r:embed="rId3">
            <a:alphaModFix amt="70000"/>
          </a:blip>
          <a:stretch>
            <a:fillRect/>
          </a:stretch>
        </p:blipFill>
        <p:spPr>
          <a:xfrm>
            <a:off x="825474" y="2424483"/>
            <a:ext cx="5732295" cy="1890137"/>
          </a:xfrm>
          <a:prstGeom prst="rect">
            <a:avLst/>
          </a:prstGeom>
        </p:spPr>
      </p:pic>
    </p:spTree>
    <p:extLst>
      <p:ext uri="{BB962C8B-B14F-4D97-AF65-F5344CB8AC3E}">
        <p14:creationId xmlns:p14="http://schemas.microsoft.com/office/powerpoint/2010/main" val="232297618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The record every node reads and writes</a:t>
            </a:r>
          </a:p>
        </p:txBody>
      </p:sp>
      <p:sp>
        <p:nvSpPr>
          <p:cNvPr id="3" name="Content Placeholder 2"/>
          <p:cNvSpPr>
            <a:spLocks noGrp="1"/>
          </p:cNvSpPr>
          <p:nvPr>
            <p:ph idx="1"/>
          </p:nvPr>
        </p:nvSpPr>
        <p:spPr>
          <a:xfrm>
            <a:off x="319251" y="700000"/>
            <a:ext cx="6014545" cy="1780000"/>
          </a:xfrm>
        </p:spPr>
        <p:txBody>
          <a:bodyPr wrap="square" anchor="ctr">
            <a:normAutofit lnSpcReduction="10000"/>
          </a:bodyPr>
          <a:lstStyle/>
          <a:p>
            <a:pPr marL="0" indent="0">
              <a:buNone/>
            </a:pPr>
            <a:r>
              <a:rPr sz="1400" b="1" dirty="0">
                <a:solidFill>
                  <a:srgbClr val="28285E"/>
                </a:solidFill>
              </a:rPr>
              <a:t>A graph shows where control may go</a:t>
            </a:r>
            <a:r>
              <a:rPr lang="en-US" sz="1400" b="1" dirty="0">
                <a:solidFill>
                  <a:srgbClr val="28285E"/>
                </a:solidFill>
              </a:rPr>
              <a:t> a </a:t>
            </a:r>
            <a:r>
              <a:rPr sz="1400" b="1" dirty="0">
                <a:solidFill>
                  <a:srgbClr val="28285E"/>
                </a:solidFill>
              </a:rPr>
              <a:t>record </a:t>
            </a:r>
            <a:r>
              <a:rPr lang="en-US" sz="1400" b="1" dirty="0">
                <a:solidFill>
                  <a:srgbClr val="28285E"/>
                </a:solidFill>
              </a:rPr>
              <a:t>is what </a:t>
            </a:r>
            <a:r>
              <a:rPr sz="1400" b="1" dirty="0">
                <a:solidFill>
                  <a:srgbClr val="28285E"/>
                </a:solidFill>
              </a:rPr>
              <a:t>travels th</a:t>
            </a:r>
            <a:r>
              <a:rPr lang="en-US" sz="1400" b="1" dirty="0">
                <a:solidFill>
                  <a:srgbClr val="28285E"/>
                </a:solidFill>
              </a:rPr>
              <a:t>at</a:t>
            </a:r>
            <a:r>
              <a:rPr sz="1400" b="1" dirty="0">
                <a:solidFill>
                  <a:srgbClr val="28285E"/>
                </a:solidFill>
              </a:rPr>
              <a:t> edge.</a:t>
            </a:r>
          </a:p>
          <a:p>
            <a:pPr marL="400050" indent="-285750">
              <a:spcBef>
                <a:spcPts val="600"/>
              </a:spcBef>
              <a:spcAft>
                <a:spcPts val="600"/>
              </a:spcAft>
              <a:buClr>
                <a:srgbClr val="28285E"/>
              </a:buClr>
              <a:buSzPts val="1260"/>
              <a:buFont typeface="+mn-lt"/>
              <a:buChar char="●"/>
            </a:pPr>
            <a:r>
              <a:rPr sz="1400" b="1" dirty="0">
                <a:solidFill>
                  <a:schemeClr val="tx1"/>
                </a:solidFill>
              </a:rPr>
              <a:t>Declared as a schema. </a:t>
            </a:r>
            <a:r>
              <a:rPr sz="1400" b="0" dirty="0">
                <a:solidFill>
                  <a:schemeClr val="tx1"/>
                </a:solidFill>
              </a:rPr>
              <a:t>A named set of fields with their types.</a:t>
            </a:r>
          </a:p>
          <a:p>
            <a:pPr marL="400050" indent="-285750">
              <a:spcBef>
                <a:spcPts val="600"/>
              </a:spcBef>
              <a:spcAft>
                <a:spcPts val="600"/>
              </a:spcAft>
              <a:buClr>
                <a:srgbClr val="28285E"/>
              </a:buClr>
              <a:buSzPts val="1260"/>
              <a:buFont typeface="+mn-lt"/>
              <a:buChar char="●"/>
            </a:pPr>
            <a:r>
              <a:rPr sz="1400" b="1" dirty="0">
                <a:solidFill>
                  <a:schemeClr val="tx1"/>
                </a:solidFill>
              </a:rPr>
              <a:t>Every node receives it </a:t>
            </a:r>
            <a:r>
              <a:rPr sz="1400" b="0" dirty="0">
                <a:solidFill>
                  <a:schemeClr val="tx1"/>
                </a:solidFill>
              </a:rPr>
              <a:t>as input and returns an update as output.</a:t>
            </a:r>
          </a:p>
          <a:p>
            <a:pPr marL="400050" indent="-285750">
              <a:spcBef>
                <a:spcPts val="600"/>
              </a:spcBef>
              <a:spcAft>
                <a:spcPts val="600"/>
              </a:spcAft>
              <a:buClr>
                <a:srgbClr val="28285E"/>
              </a:buClr>
              <a:buSzPts val="1260"/>
              <a:buFont typeface="+mn-lt"/>
              <a:buChar char="●"/>
            </a:pPr>
            <a:r>
              <a:rPr sz="1400" b="1" dirty="0">
                <a:solidFill>
                  <a:schemeClr val="tx1"/>
                </a:solidFill>
              </a:rPr>
              <a:t>Routing and dispatch </a:t>
            </a:r>
            <a:r>
              <a:rPr sz="1400" b="0" dirty="0">
                <a:solidFill>
                  <a:schemeClr val="tx1"/>
                </a:solidFill>
              </a:rPr>
              <a:t>are both defined over it, so the rest of Part B reads this record.</a:t>
            </a:r>
          </a:p>
        </p:txBody>
      </p:sp>
      <p:sp>
        <p:nvSpPr>
          <p:cNvPr id="4" name="Rectangle 3"/>
          <p:cNvSpPr/>
          <p:nvPr/>
        </p:nvSpPr>
        <p:spPr>
          <a:xfrm>
            <a:off x="319251" y="2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dirty="0">
                <a:solidFill>
                  <a:schemeClr val="tx2"/>
                </a:solidFill>
              </a:rPr>
              <a:t>State is a shared data structure that represents the current snapshot of your application.</a:t>
            </a:r>
          </a:p>
        </p:txBody>
      </p:sp>
      <p:sp>
        <p:nvSpPr>
          <p:cNvPr id="5" name="TextBox 4"/>
          <p:cNvSpPr txBox="1"/>
          <p:nvPr/>
        </p:nvSpPr>
        <p:spPr>
          <a:xfrm>
            <a:off x="319251" y="3341801"/>
            <a:ext cx="6014545" cy="200000"/>
          </a:xfrm>
          <a:prstGeom prst="rect">
            <a:avLst/>
          </a:prstGeom>
          <a:noFill/>
        </p:spPr>
        <p:txBody>
          <a:bodyPr wrap="square" lIns="0" tIns="0" rIns="0" bIns="0">
            <a:spAutoFit/>
          </a:bodyPr>
          <a:lstStyle/>
          <a:p>
            <a:pPr algn="r"/>
            <a:r>
              <a:rPr sz="1050" i="1">
                <a:solidFill>
                  <a:schemeClr val="bg2"/>
                </a:solidFill>
              </a:rPr>
              <a:t>LangGraph, Graph API</a:t>
            </a:r>
          </a:p>
        </p:txBody>
      </p:sp>
      <p:sp>
        <p:nvSpPr>
          <p:cNvPr id="6" name="Rectangle 5"/>
          <p:cNvSpPr/>
          <p:nvPr/>
        </p:nvSpPr>
        <p:spPr>
          <a:xfrm>
            <a:off x="319251" y="37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node returns only the keys it touched.</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a:t>
            </a:r>
            <a:r>
              <a:rPr dirty="0"/>
              <a:t> </a:t>
            </a:r>
            <a:r>
              <a:rPr lang="en-US" dirty="0"/>
              <a:t>simple </a:t>
            </a:r>
            <a:r>
              <a:rPr dirty="0"/>
              <a:t>transition</a:t>
            </a:r>
            <a:r>
              <a:rPr lang="en-US" dirty="0"/>
              <a:t>--P</a:t>
            </a:r>
            <a:r>
              <a:rPr dirty="0"/>
              <a:t>ropose, then </a:t>
            </a:r>
            <a:r>
              <a:rPr lang="en-US" dirty="0"/>
              <a:t>M</a:t>
            </a:r>
            <a:r>
              <a:rPr dirty="0"/>
              <a:t>erge</a:t>
            </a:r>
          </a:p>
        </p:txBody>
      </p:sp>
      <p:pic>
        <p:nvPicPr>
          <p:cNvPr id="3" name="Picture 2" descr="state-transition-deck.png"/>
          <p:cNvPicPr>
            <a:picLocks noChangeAspect="1"/>
          </p:cNvPicPr>
          <p:nvPr/>
        </p:nvPicPr>
        <p:blipFill>
          <a:blip r:embed="rId3"/>
          <a:stretch>
            <a:fillRect/>
          </a:stretch>
        </p:blipFill>
        <p:spPr>
          <a:xfrm>
            <a:off x="250147" y="800000"/>
            <a:ext cx="6152752" cy="2838559"/>
          </a:xfrm>
          <a:prstGeom prst="rect">
            <a:avLst/>
          </a:prstGeom>
        </p:spPr>
      </p:pic>
      <p:sp>
        <p:nvSpPr>
          <p:cNvPr id="4" name="Rectangle 3"/>
          <p:cNvSpPr/>
          <p:nvPr/>
        </p:nvSpPr>
        <p:spPr>
          <a:xfrm>
            <a:off x="319251" y="390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node proposes an update; the runtime merges it, one reducer per key.</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two runs from one state diverge</a:t>
            </a:r>
          </a:p>
        </p:txBody>
      </p:sp>
      <p:sp>
        <p:nvSpPr>
          <p:cNvPr id="3" name="Content Placeholder 2"/>
          <p:cNvSpPr>
            <a:spLocks noGrp="1"/>
          </p:cNvSpPr>
          <p:nvPr>
            <p:ph idx="1"/>
          </p:nvPr>
        </p:nvSpPr>
        <p:spPr>
          <a:xfrm>
            <a:off x="319251" y="700000"/>
            <a:ext cx="6014545" cy="1560000"/>
          </a:xfrm>
        </p:spPr>
        <p:txBody>
          <a:bodyPr wrap="square" anchor="ctr">
            <a:normAutofit fontScale="85000" lnSpcReduction="10000"/>
          </a:bodyPr>
          <a:lstStyle/>
          <a:p>
            <a:pPr marL="0" indent="0">
              <a:buNone/>
            </a:pPr>
            <a:r>
              <a:rPr sz="1400" b="1">
                <a:solidFill>
                  <a:srgbClr val="28285E"/>
                </a:solidFill>
              </a:rPr>
              <a:t>A transition consumes a result that arrives from outside the program.</a:t>
            </a:r>
          </a:p>
          <a:p>
            <a:pPr marL="400050" indent="-285750">
              <a:spcBef>
                <a:spcPts val="600"/>
              </a:spcBef>
              <a:spcAft>
                <a:spcPts val="600"/>
              </a:spcAft>
              <a:buClr>
                <a:srgbClr val="28285E"/>
              </a:buClr>
              <a:buSzPts val="1260"/>
              <a:buFont typeface="+mn-lt"/>
              <a:buChar char="●"/>
            </a:pPr>
            <a:r>
              <a:rPr sz="1400" b="1">
                <a:solidFill>
                  <a:schemeClr val="tx1"/>
                </a:solidFill>
              </a:rPr>
              <a:t>A model reply </a:t>
            </a:r>
            <a:r>
              <a:rPr sz="1400" b="0">
                <a:solidFill>
                  <a:schemeClr val="tx1"/>
                </a:solidFill>
              </a:rPr>
              <a:t>is sampled from a distribution.</a:t>
            </a:r>
          </a:p>
          <a:p>
            <a:pPr marL="400050" indent="-285750">
              <a:spcBef>
                <a:spcPts val="600"/>
              </a:spcBef>
              <a:spcAft>
                <a:spcPts val="600"/>
              </a:spcAft>
              <a:buClr>
                <a:srgbClr val="28285E"/>
              </a:buClr>
              <a:buSzPts val="1260"/>
              <a:buFont typeface="+mn-lt"/>
              <a:buChar char="●"/>
            </a:pPr>
            <a:r>
              <a:rPr sz="1400" b="1">
                <a:solidFill>
                  <a:schemeClr val="tx1"/>
                </a:solidFill>
              </a:rPr>
              <a:t>A tool observation </a:t>
            </a:r>
            <a:r>
              <a:rPr sz="1400" b="0">
                <a:solidFill>
                  <a:schemeClr val="tx1"/>
                </a:solidFill>
              </a:rPr>
              <a:t>depends on a fixture the run itself may have modified.</a:t>
            </a:r>
          </a:p>
          <a:p>
            <a:pPr marL="400050" indent="-285750">
              <a:spcBef>
                <a:spcPts val="600"/>
              </a:spcBef>
              <a:spcAft>
                <a:spcPts val="600"/>
              </a:spcAft>
              <a:buClr>
                <a:srgbClr val="28285E"/>
              </a:buClr>
              <a:buSzPts val="1260"/>
              <a:buFont typeface="+mn-lt"/>
              <a:buChar char="●"/>
            </a:pPr>
            <a:r>
              <a:rPr sz="1400" b="1">
                <a:solidFill>
                  <a:schemeClr val="tx1"/>
                </a:solidFill>
              </a:rPr>
              <a:t>Neither is determined </a:t>
            </a:r>
            <a:r>
              <a:rPr sz="1400" b="0">
                <a:solidFill>
                  <a:schemeClr val="tx1"/>
                </a:solidFill>
              </a:rPr>
              <a:t>by the current state alone.</a:t>
            </a:r>
          </a:p>
        </p:txBody>
      </p:sp>
      <p:sp>
        <p:nvSpPr>
          <p:cNvPr id="4" name="Rectangle 3"/>
          <p:cNvSpPr/>
          <p:nvPr/>
        </p:nvSpPr>
        <p:spPr>
          <a:xfrm>
            <a:off x="319251" y="25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The same state can produce different successors, so a run can go wrong here even when every node behaves correctly.</a:t>
            </a:r>
          </a:p>
        </p:txBody>
      </p:sp>
      <p:sp>
        <p:nvSpPr>
          <p:cNvPr id="5" name="Rectangle 4"/>
          <p:cNvSpPr/>
          <p:nvPr/>
        </p:nvSpPr>
        <p:spPr>
          <a:xfrm>
            <a:off x="319251" y="340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This is the nondeterminism of the task environment, arriving at one point.</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Three records, and who reads each</a:t>
            </a:r>
          </a:p>
        </p:txBody>
      </p:sp>
      <p:graphicFrame>
        <p:nvGraphicFramePr>
          <p:cNvPr id="3" name="Table 2"/>
          <p:cNvGraphicFramePr>
            <a:graphicFrameLocks noGrp="1"/>
          </p:cNvGraphicFramePr>
          <p:nvPr/>
        </p:nvGraphicFramePr>
        <p:xfrm>
          <a:off x="319251" y="1491615"/>
          <a:ext cx="6014545" cy="1683030"/>
        </p:xfrm>
        <a:graphic>
          <a:graphicData uri="http://schemas.openxmlformats.org/drawingml/2006/table">
            <a:tbl>
              <a:tblPr firstRow="1" bandRow="1">
                <a:tableStyleId>{5C22544A-7EE6-4342-B048-85BDC9FD1C3A}</a:tableStyleId>
              </a:tblPr>
              <a:tblGrid>
                <a:gridCol w="1450000">
                  <a:extLst>
                    <a:ext uri="{9D8B030D-6E8A-4147-A177-3AD203B41FA5}">
                      <a16:colId xmlns:a16="http://schemas.microsoft.com/office/drawing/2014/main" val="20000"/>
                    </a:ext>
                  </a:extLst>
                </a:gridCol>
                <a:gridCol w="3064545">
                  <a:extLst>
                    <a:ext uri="{9D8B030D-6E8A-4147-A177-3AD203B41FA5}">
                      <a16:colId xmlns:a16="http://schemas.microsoft.com/office/drawing/2014/main" val="20001"/>
                    </a:ext>
                  </a:extLst>
                </a:gridCol>
                <a:gridCol w="1500000">
                  <a:extLst>
                    <a:ext uri="{9D8B030D-6E8A-4147-A177-3AD203B41FA5}">
                      <a16:colId xmlns:a16="http://schemas.microsoft.com/office/drawing/2014/main" val="20002"/>
                    </a:ext>
                  </a:extLst>
                </a:gridCol>
              </a:tblGrid>
              <a:tr h="300000">
                <a:tc>
                  <a:txBody>
                    <a:bodyPr/>
                    <a:lstStyle/>
                    <a:p>
                      <a:pPr>
                        <a:buNone/>
                      </a:pPr>
                      <a:r>
                        <a:rPr sz="1200" b="1">
                          <a:solidFill>
                            <a:schemeClr val="tx1"/>
                          </a:solidFill>
                        </a:rPr>
                        <a:t>Record</a:t>
                      </a:r>
                    </a:p>
                  </a:txBody>
                  <a:tcPr marL="95250" marR="95250" marT="47625" marB="47625">
                    <a:lnB w="12700" cap="flat" cmpd="sng" algn="ctr">
                      <a:solidFill>
                        <a:schemeClr val="tx1"/>
                      </a:solidFill>
                    </a:lnB>
                    <a:noFill/>
                  </a:tcPr>
                </a:tc>
                <a:tc>
                  <a:txBody>
                    <a:bodyPr/>
                    <a:lstStyle/>
                    <a:p>
                      <a:pPr>
                        <a:buNone/>
                      </a:pPr>
                      <a:r>
                        <a:rPr sz="1200" b="1">
                          <a:solidFill>
                            <a:schemeClr val="tx1"/>
                          </a:solidFill>
                        </a:rPr>
                        <a:t>What it holds</a:t>
                      </a:r>
                    </a:p>
                  </a:txBody>
                  <a:tcPr marL="95250" marR="95250" marT="47625" marB="47625">
                    <a:lnB w="12700" cap="flat" cmpd="sng" algn="ctr">
                      <a:solidFill>
                        <a:schemeClr val="tx1"/>
                      </a:solidFill>
                    </a:lnB>
                    <a:noFill/>
                  </a:tcPr>
                </a:tc>
                <a:tc>
                  <a:txBody>
                    <a:bodyPr/>
                    <a:lstStyle/>
                    <a:p>
                      <a:pPr>
                        <a:buNone/>
                      </a:pPr>
                      <a:r>
                        <a:rPr sz="1200" b="1">
                          <a:solidFill>
                            <a:schemeClr val="tx1"/>
                          </a:solidFill>
                        </a:rPr>
                        <a:t>Who reads it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buNone/>
                      </a:pPr>
                      <a:r>
                        <a:rPr sz="1200" b="1">
                          <a:solidFill>
                            <a:srgbClr val="28285E"/>
                          </a:solidFill>
                        </a:rPr>
                        <a:t>Model context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200" b="0">
                          <a:solidFill>
                            <a:schemeClr val="tx1"/>
                          </a:solidFill>
                        </a:rPr>
                        <a:t>Instructions, the selected history, and the observations for one call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200" b="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buNone/>
                      </a:pPr>
                      <a:r>
                        <a:rPr sz="1200" b="1">
                          <a:solidFill>
                            <a:srgbClr val="28285E"/>
                          </a:solidFill>
                        </a:rPr>
                        <a:t>Runtime state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200" b="0">
                          <a:solidFill>
                            <a:schemeClr val="tx1"/>
                          </a:solidFill>
                        </a:rPr>
                        <a:t>The record kept between steps, including fields that enter no model call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200" b="0">
                          <a:solidFill>
                            <a:schemeClr val="tx1"/>
                          </a:solidFill>
                        </a:rPr>
                        <a:t>Nodes, routers, our limits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buNone/>
                      </a:pPr>
                      <a:r>
                        <a:rPr sz="1200" b="1">
                          <a:solidFill>
                            <a:srgbClr val="28285E"/>
                          </a:solidFill>
                        </a:rPr>
                        <a:t>Durable state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200" b="0">
                          <a:solidFill>
                            <a:schemeClr val="tx1"/>
                          </a:solidFill>
                        </a:rPr>
                        <a:t>State written where it survives the end of the process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200" b="0">
                          <a:solidFill>
                            <a:schemeClr val="tx1"/>
                          </a:solidFill>
                        </a:rPr>
                        <a:t>A resumed run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4" name="Rectangle 3"/>
          <p:cNvSpPr/>
          <p:nvPr/>
        </p:nvSpPr>
        <p:spPr>
          <a:xfrm>
            <a:off x="1888761" y="3500000"/>
            <a:ext cx="4445035"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tx2"/>
                </a:solidFill>
              </a:rPr>
              <a:t>Model context is assembled from runtime state at </a:t>
            </a:r>
            <a:r>
              <a:rPr sz="1200" b="1">
                <a:solidFill>
                  <a:schemeClr val="tx2"/>
                </a:solidFill>
              </a:rPr>
              <a:t>every call</a:t>
            </a:r>
            <a:r>
              <a:rPr sz="1200" b="0">
                <a:solidFill>
                  <a:schemeClr val="tx2"/>
                </a:solidFill>
              </a:rPr>
              <a:t>.</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counters the model never sees</a:t>
            </a:r>
          </a:p>
        </p:txBody>
      </p:sp>
      <p:sp>
        <p:nvSpPr>
          <p:cNvPr id="3" name="Content Placeholder 2"/>
          <p:cNvSpPr>
            <a:spLocks noGrp="1"/>
          </p:cNvSpPr>
          <p:nvPr>
            <p:ph idx="1"/>
          </p:nvPr>
        </p:nvSpPr>
        <p:spPr>
          <a:xfrm>
            <a:off x="319251" y="700000"/>
            <a:ext cx="6014545" cy="1990000"/>
          </a:xfrm>
        </p:spPr>
        <p:txBody>
          <a:bodyPr wrap="square" anchor="ctr">
            <a:normAutofit fontScale="92500" lnSpcReduction="20000"/>
          </a:bodyPr>
          <a:lstStyle/>
          <a:p>
            <a:pPr marL="0" indent="0">
              <a:buNone/>
            </a:pPr>
            <a:r>
              <a:rPr sz="1400" b="1">
                <a:solidFill>
                  <a:srgbClr val="28285E"/>
                </a:solidFill>
              </a:rPr>
              <a:t>Two limits live in fields that enter no model call.</a:t>
            </a:r>
          </a:p>
          <a:p>
            <a:pPr marL="400050" indent="-285750">
              <a:spcBef>
                <a:spcPts val="600"/>
              </a:spcBef>
              <a:spcAft>
                <a:spcPts val="600"/>
              </a:spcAft>
              <a:buClr>
                <a:srgbClr val="28285E"/>
              </a:buClr>
              <a:buSzPts val="1260"/>
              <a:buFont typeface="+mn-lt"/>
              <a:buChar char="●"/>
            </a:pPr>
            <a:r>
              <a:rPr sz="1400" b="1">
                <a:solidFill>
                  <a:schemeClr val="tx1"/>
                </a:solidFill>
              </a:rPr>
              <a:t>Forty model calls. </a:t>
            </a:r>
            <a:r>
              <a:rPr sz="1400" b="0">
                <a:solidFill>
                  <a:schemeClr val="tx1"/>
                </a:solidFill>
              </a:rPr>
              <a:t>The controller refuses a call once </a:t>
            </a:r>
            <a:r>
              <a:rPr sz="1400" b="0">
                <a:latin typeface="Maple Mono NF"/>
              </a:rPr>
              <a:t>model_calls</a:t>
            </a:r>
            <a:r>
              <a:rPr sz="1400" b="0">
                <a:solidFill>
                  <a:schemeClr val="tx1"/>
                </a:solidFill>
              </a:rPr>
              <a:t> reaches forty.</a:t>
            </a:r>
          </a:p>
          <a:p>
            <a:pPr marL="400050" indent="-285750">
              <a:spcBef>
                <a:spcPts val="600"/>
              </a:spcBef>
              <a:spcAft>
                <a:spcPts val="600"/>
              </a:spcAft>
              <a:buClr>
                <a:srgbClr val="28285E"/>
              </a:buClr>
              <a:buSzPts val="1260"/>
              <a:buFont typeface="+mn-lt"/>
              <a:buChar char="●"/>
            </a:pPr>
            <a:r>
              <a:rPr sz="1400" b="1">
                <a:solidFill>
                  <a:schemeClr val="tx1"/>
                </a:solidFill>
              </a:rPr>
              <a:t>Three identical observations. </a:t>
            </a:r>
            <a:r>
              <a:rPr sz="1400" b="0">
                <a:solidFill>
                  <a:schemeClr val="tx1"/>
                </a:solidFill>
              </a:rPr>
              <a:t>The run stops when the last three came back the same.</a:t>
            </a:r>
          </a:p>
          <a:p>
            <a:pPr marL="400050" indent="-285750">
              <a:spcBef>
                <a:spcPts val="600"/>
              </a:spcBef>
              <a:spcAft>
                <a:spcPts val="600"/>
              </a:spcAft>
              <a:buClr>
                <a:srgbClr val="28285E"/>
              </a:buClr>
              <a:buSzPts val="1260"/>
              <a:buFont typeface="+mn-lt"/>
              <a:buChar char="●"/>
            </a:pPr>
            <a:r>
              <a:rPr sz="1400" b="1">
                <a:solidFill>
                  <a:schemeClr val="tx1"/>
                </a:solidFill>
              </a:rPr>
              <a:t>Neither number is shown to the model. </a:t>
            </a:r>
            <a:r>
              <a:rPr sz="1400" b="0">
                <a:solidFill>
                  <a:schemeClr val="tx1"/>
                </a:solidFill>
              </a:rPr>
              <a:t>The check is a comparison in the controller.</a:t>
            </a:r>
          </a:p>
        </p:txBody>
      </p:sp>
      <p:sp>
        <p:nvSpPr>
          <p:cNvPr id="4" name="Rectangle 3"/>
          <p:cNvSpPr/>
          <p:nvPr/>
        </p:nvSpPr>
        <p:spPr>
          <a:xfrm>
            <a:off x="319251" y="287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A limit the model can read is a limit the model can argue with.</a:t>
            </a:r>
          </a:p>
        </p:txBody>
      </p:sp>
      <p:sp>
        <p:nvSpPr>
          <p:cNvPr id="5" name="Rectangle 4"/>
          <p:cNvSpPr/>
          <p:nvPr/>
        </p:nvSpPr>
        <p:spPr>
          <a:xfrm>
            <a:off x="319251" y="370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We keep them out on purpose.</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mini-swe-agent represents a state</a:t>
            </a:r>
          </a:p>
        </p:txBody>
      </p:sp>
      <p:sp>
        <p:nvSpPr>
          <p:cNvPr id="3" name="Content Placeholder 2"/>
          <p:cNvSpPr>
            <a:spLocks noGrp="1"/>
          </p:cNvSpPr>
          <p:nvPr>
            <p:ph idx="1"/>
          </p:nvPr>
        </p:nvSpPr>
        <p:spPr>
          <a:xfrm>
            <a:off x="319251" y="700000"/>
            <a:ext cx="6014545" cy="2010000"/>
          </a:xfrm>
        </p:spPr>
        <p:txBody>
          <a:bodyPr wrap="square" anchor="ctr">
            <a:normAutofit fontScale="92500" lnSpcReduction="20000"/>
          </a:bodyPr>
          <a:lstStyle/>
          <a:p>
            <a:pPr marL="0" indent="0">
              <a:buNone/>
            </a:pPr>
            <a:r>
              <a:rPr sz="1400" b="1">
                <a:solidFill>
                  <a:srgbClr val="28285E"/>
                </a:solidFill>
              </a:rPr>
              <a:t>Three representations of increasing expressive power, all in one agent.</a:t>
            </a:r>
          </a:p>
          <a:p>
            <a:pPr marL="400050" indent="-285750">
              <a:spcBef>
                <a:spcPts val="600"/>
              </a:spcBef>
              <a:spcAft>
                <a:spcPts val="600"/>
              </a:spcAft>
              <a:buClr>
                <a:srgbClr val="28285E"/>
              </a:buClr>
              <a:buSzPts val="1260"/>
              <a:buFont typeface="+mn-lt"/>
              <a:buChar char="●"/>
            </a:pPr>
            <a:r>
              <a:rPr sz="1400" b="1">
                <a:solidFill>
                  <a:schemeClr val="tx1"/>
                </a:solidFill>
              </a:rPr>
              <a:t>Atomic. </a:t>
            </a:r>
            <a:r>
              <a:rPr sz="1400" b="0">
                <a:solidFill>
                  <a:schemeClr val="tx1"/>
                </a:solidFill>
              </a:rPr>
              <a:t>The run's outcome. Accepted or stopped is a label with no internal structure.</a:t>
            </a:r>
          </a:p>
          <a:p>
            <a:pPr marL="400050" indent="-285750">
              <a:spcBef>
                <a:spcPts val="600"/>
              </a:spcBef>
              <a:spcAft>
                <a:spcPts val="600"/>
              </a:spcAft>
              <a:buClr>
                <a:srgbClr val="28285E"/>
              </a:buClr>
              <a:buSzPts val="1260"/>
              <a:buFont typeface="+mn-lt"/>
              <a:buChar char="●"/>
            </a:pPr>
            <a:r>
              <a:rPr sz="1400" b="1">
                <a:solidFill>
                  <a:schemeClr val="tx1"/>
                </a:solidFill>
              </a:rPr>
              <a:t>Factored. </a:t>
            </a:r>
            <a:r>
              <a:rPr sz="1400" b="0">
                <a:solidFill>
                  <a:schemeClr val="tx1"/>
                </a:solidFill>
              </a:rPr>
              <a:t>The record itself. Named fields with values, so two states can agree on some and differ on others.</a:t>
            </a:r>
          </a:p>
          <a:p>
            <a:pPr marL="400050" indent="-285750">
              <a:spcBef>
                <a:spcPts val="600"/>
              </a:spcBef>
              <a:spcAft>
                <a:spcPts val="600"/>
              </a:spcAft>
              <a:buClr>
                <a:srgbClr val="28285E"/>
              </a:buClr>
              <a:buSzPts val="1260"/>
              <a:buFont typeface="+mn-lt"/>
              <a:buChar char="●"/>
            </a:pPr>
            <a:r>
              <a:rPr sz="1400" b="1">
                <a:solidFill>
                  <a:schemeClr val="tx1"/>
                </a:solidFill>
              </a:rPr>
              <a:t>Structured. </a:t>
            </a:r>
            <a:r>
              <a:rPr sz="1400" b="0">
                <a:solidFill>
                  <a:schemeClr val="tx1"/>
                </a:solidFill>
              </a:rPr>
              <a:t>The patch and the rejection. A patch is a set of hunks, each over a file and a range of lines.</a:t>
            </a:r>
          </a:p>
        </p:txBody>
      </p:sp>
      <p:sp>
        <p:nvSpPr>
          <p:cNvPr id="4" name="Rectangle 3"/>
          <p:cNvSpPr/>
          <p:nvPr/>
        </p:nvSpPr>
        <p:spPr>
          <a:xfrm>
            <a:off x="319251" y="289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The expressive representation is the exception, because reasoning over structure is harder for us and for the model both.</a:t>
            </a:r>
          </a:p>
        </p:txBody>
      </p:sp>
      <p:sp>
        <p:nvSpPr>
          <p:cNvPr id="5" name="TextBox 4"/>
          <p:cNvSpPr txBox="1"/>
          <p:nvPr/>
        </p:nvSpPr>
        <p:spPr>
          <a:xfrm>
            <a:off x="319251" y="3531801"/>
            <a:ext cx="6014545" cy="200000"/>
          </a:xfrm>
          <a:prstGeom prst="rect">
            <a:avLst/>
          </a:prstGeom>
          <a:noFill/>
        </p:spPr>
        <p:txBody>
          <a:bodyPr wrap="square" lIns="0" tIns="0" rIns="0" bIns="0">
            <a:spAutoFit/>
          </a:bodyPr>
          <a:lstStyle/>
          <a:p>
            <a:pPr algn="r"/>
            <a:r>
              <a:rPr sz="1050" i="1">
                <a:solidFill>
                  <a:schemeClr val="bg2"/>
                </a:solidFill>
              </a:rPr>
              <a:t>Russell and Norvig, §2.4.7</a:t>
            </a:r>
          </a:p>
        </p:txBody>
      </p:sp>
      <p:sp>
        <p:nvSpPr>
          <p:cNvPr id="6" name="Rectangle 5"/>
          <p:cNvSpPr/>
          <p:nvPr/>
        </p:nvSpPr>
        <p:spPr>
          <a:xfrm>
            <a:off x="319251" y="395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Keeping the record factored is what buys us reducers, routing and limits.</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state schema, field by field</a:t>
            </a:r>
          </a:p>
        </p:txBody>
      </p:sp>
      <p:graphicFrame>
        <p:nvGraphicFramePr>
          <p:cNvPr id="3" name="Table 2"/>
          <p:cNvGraphicFramePr>
            <a:graphicFrameLocks noGrp="1"/>
          </p:cNvGraphicFramePr>
          <p:nvPr/>
        </p:nvGraphicFramePr>
        <p:xfrm>
          <a:off x="319251" y="1050000"/>
          <a:ext cx="6014545" cy="2243100"/>
        </p:xfrm>
        <a:graphic>
          <a:graphicData uri="http://schemas.openxmlformats.org/drawingml/2006/table">
            <a:tbl>
              <a:tblPr firstRow="1" bandRow="1">
                <a:tableStyleId>{5C22544A-7EE6-4342-B048-85BDC9FD1C3A}</a:tableStyleId>
              </a:tblPr>
              <a:tblGrid>
                <a:gridCol w="1900000">
                  <a:extLst>
                    <a:ext uri="{9D8B030D-6E8A-4147-A177-3AD203B41FA5}">
                      <a16:colId xmlns:a16="http://schemas.microsoft.com/office/drawing/2014/main" val="20000"/>
                    </a:ext>
                  </a:extLst>
                </a:gridCol>
                <a:gridCol w="1050000">
                  <a:extLst>
                    <a:ext uri="{9D8B030D-6E8A-4147-A177-3AD203B41FA5}">
                      <a16:colId xmlns:a16="http://schemas.microsoft.com/office/drawing/2014/main" val="20001"/>
                    </a:ext>
                  </a:extLst>
                </a:gridCol>
                <a:gridCol w="3064545">
                  <a:extLst>
                    <a:ext uri="{9D8B030D-6E8A-4147-A177-3AD203B41FA5}">
                      <a16:colId xmlns:a16="http://schemas.microsoft.com/office/drawing/2014/main" val="20002"/>
                    </a:ext>
                  </a:extLst>
                </a:gridCol>
              </a:tblGrid>
              <a:tr h="300000">
                <a:tc>
                  <a:txBody>
                    <a:bodyPr/>
                    <a:lstStyle/>
                    <a:p>
                      <a:pPr>
                        <a:buNone/>
                      </a:pPr>
                      <a:r>
                        <a:rPr sz="1000" b="1">
                          <a:solidFill>
                            <a:schemeClr val="tx1"/>
                          </a:solidFill>
                        </a:rPr>
                        <a:t>Field</a:t>
                      </a:r>
                    </a:p>
                  </a:txBody>
                  <a:tcPr marL="95250" marR="95250" marT="47625" marB="47625">
                    <a:lnB w="12700" cap="flat" cmpd="sng" algn="ctr">
                      <a:solidFill>
                        <a:schemeClr val="tx1"/>
                      </a:solidFill>
                    </a:lnB>
                    <a:noFill/>
                  </a:tcPr>
                </a:tc>
                <a:tc>
                  <a:txBody>
                    <a:bodyPr/>
                    <a:lstStyle/>
                    <a:p>
                      <a:pPr>
                        <a:buNone/>
                      </a:pPr>
                      <a:r>
                        <a:rPr sz="1000" b="1">
                          <a:solidFill>
                            <a:schemeClr val="tx1"/>
                          </a:solidFill>
                        </a:rPr>
                        <a:t>Reducer</a:t>
                      </a:r>
                    </a:p>
                  </a:txBody>
                  <a:tcPr marL="95250" marR="95250" marT="47625" marB="47625">
                    <a:lnB w="12700" cap="flat" cmpd="sng" algn="ctr">
                      <a:solidFill>
                        <a:schemeClr val="tx1"/>
                      </a:solidFill>
                    </a:lnB>
                    <a:noFill/>
                  </a:tcPr>
                </a:tc>
                <a:tc>
                  <a:txBody>
                    <a:bodyPr/>
                    <a:lstStyle/>
                    <a:p>
                      <a:pPr>
                        <a:buNone/>
                      </a:pPr>
                      <a:r>
                        <a:rPr sz="1000" b="1">
                          <a:solidFill>
                            <a:schemeClr val="tx1"/>
                          </a:solidFill>
                        </a:rPr>
                        <a:t>What it holds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buNone/>
                      </a:pPr>
                      <a:r>
                        <a:rPr sz="1000" b="1">
                          <a:solidFill>
                            <a:srgbClr val="28285E"/>
                          </a:solidFill>
                          <a:latin typeface="Maple Mono NF"/>
                        </a:rPr>
                        <a:t>alert, repo, commit, workspace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none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Set once: the alert, the fixture, the pinned commit, the workspace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buNone/>
                      </a:pPr>
                      <a:r>
                        <a:rPr sz="1000" b="1">
                          <a:solidFill>
                            <a:srgbClr val="28285E"/>
                          </a:solidFill>
                          <a:latin typeface="Maple Mono NF"/>
                        </a:rPr>
                        <a:t>messages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append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conversation, in provider form</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buNone/>
                      </a:pPr>
                      <a:r>
                        <a:rPr sz="1000" b="1">
                          <a:solidFill>
                            <a:srgbClr val="28285E"/>
                          </a:solidFill>
                          <a:latin typeface="Maple Mono NF"/>
                        </a:rPr>
                        <a:t>observations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append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One record per dispatched tool call, refused or not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buNone/>
                      </a:pPr>
                      <a:r>
                        <a:rPr sz="1000" b="1">
                          <a:solidFill>
                            <a:srgbClr val="28285E"/>
                          </a:solidFill>
                          <a:latin typeface="Maple Mono NF"/>
                        </a:rPr>
                        <a:t>candidate_patch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replace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patch currently proposed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r h="0">
                <a:tc>
                  <a:txBody>
                    <a:bodyPr/>
                    <a:lstStyle/>
                    <a:p>
                      <a:pPr>
                        <a:buNone/>
                      </a:pPr>
                      <a:r>
                        <a:rPr sz="1000" b="1">
                          <a:solidFill>
                            <a:srgbClr val="28285E"/>
                          </a:solidFill>
                          <a:latin typeface="Maple Mono NF"/>
                        </a:rPr>
                        <a:t>model_calls, usage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accumulate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Calls issued and tokens spent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buNone/>
                      </a:pPr>
                      <a:r>
                        <a:rPr sz="1000" b="1">
                          <a:solidFill>
                            <a:srgbClr val="28285E"/>
                          </a:solidFill>
                          <a:latin typeface="Maple Mono NF"/>
                        </a:rPr>
                        <a:t>status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replace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Running, or the terminal status that ended the run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state schema, field by field</a:t>
            </a:r>
          </a:p>
        </p:txBody>
      </p:sp>
      <p:graphicFrame>
        <p:nvGraphicFramePr>
          <p:cNvPr id="3" name="Table 2"/>
          <p:cNvGraphicFramePr>
            <a:graphicFrameLocks noGrp="1"/>
          </p:cNvGraphicFramePr>
          <p:nvPr/>
        </p:nvGraphicFramePr>
        <p:xfrm>
          <a:off x="319251" y="1050000"/>
          <a:ext cx="6014545" cy="3233700"/>
        </p:xfrm>
        <a:graphic>
          <a:graphicData uri="http://schemas.openxmlformats.org/drawingml/2006/table">
            <a:tbl>
              <a:tblPr firstRow="1" bandRow="1">
                <a:tableStyleId>{5C22544A-7EE6-4342-B048-85BDC9FD1C3A}</a:tableStyleId>
              </a:tblPr>
              <a:tblGrid>
                <a:gridCol w="1900000">
                  <a:extLst>
                    <a:ext uri="{9D8B030D-6E8A-4147-A177-3AD203B41FA5}">
                      <a16:colId xmlns:a16="http://schemas.microsoft.com/office/drawing/2014/main" val="20000"/>
                    </a:ext>
                  </a:extLst>
                </a:gridCol>
                <a:gridCol w="1050000">
                  <a:extLst>
                    <a:ext uri="{9D8B030D-6E8A-4147-A177-3AD203B41FA5}">
                      <a16:colId xmlns:a16="http://schemas.microsoft.com/office/drawing/2014/main" val="20001"/>
                    </a:ext>
                  </a:extLst>
                </a:gridCol>
                <a:gridCol w="3064545">
                  <a:extLst>
                    <a:ext uri="{9D8B030D-6E8A-4147-A177-3AD203B41FA5}">
                      <a16:colId xmlns:a16="http://schemas.microsoft.com/office/drawing/2014/main" val="20002"/>
                    </a:ext>
                  </a:extLst>
                </a:gridCol>
              </a:tblGrid>
              <a:tr h="300000">
                <a:tc>
                  <a:txBody>
                    <a:bodyPr/>
                    <a:lstStyle/>
                    <a:p>
                      <a:pPr>
                        <a:buNone/>
                      </a:pPr>
                      <a:r>
                        <a:rPr sz="1000" b="1">
                          <a:solidFill>
                            <a:schemeClr val="tx1"/>
                          </a:solidFill>
                        </a:rPr>
                        <a:t>Field</a:t>
                      </a:r>
                    </a:p>
                  </a:txBody>
                  <a:tcPr marL="95250" marR="95250" marT="47625" marB="47625">
                    <a:lnB w="12700" cap="flat" cmpd="sng" algn="ctr">
                      <a:solidFill>
                        <a:schemeClr val="tx1"/>
                      </a:solidFill>
                    </a:lnB>
                    <a:noFill/>
                  </a:tcPr>
                </a:tc>
                <a:tc>
                  <a:txBody>
                    <a:bodyPr/>
                    <a:lstStyle/>
                    <a:p>
                      <a:pPr>
                        <a:buNone/>
                      </a:pPr>
                      <a:r>
                        <a:rPr sz="1000" b="1">
                          <a:solidFill>
                            <a:schemeClr val="tx1"/>
                          </a:solidFill>
                        </a:rPr>
                        <a:t>Reducer</a:t>
                      </a:r>
                    </a:p>
                  </a:txBody>
                  <a:tcPr marL="95250" marR="95250" marT="47625" marB="47625">
                    <a:lnB w="12700" cap="flat" cmpd="sng" algn="ctr">
                      <a:solidFill>
                        <a:schemeClr val="tx1"/>
                      </a:solidFill>
                    </a:lnB>
                    <a:noFill/>
                  </a:tcPr>
                </a:tc>
                <a:tc>
                  <a:txBody>
                    <a:bodyPr/>
                    <a:lstStyle/>
                    <a:p>
                      <a:pPr>
                        <a:buNone/>
                      </a:pPr>
                      <a:r>
                        <a:rPr sz="1000" b="1">
                          <a:solidFill>
                            <a:schemeClr val="tx1"/>
                          </a:solidFill>
                        </a:rPr>
                        <a:t>What it holds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buNone/>
                      </a:pPr>
                      <a:r>
                        <a:rPr sz="1000" b="1">
                          <a:solidFill>
                            <a:srgbClr val="28285E"/>
                          </a:solidFill>
                          <a:latin typeface="Maple Mono NF"/>
                        </a:rPr>
                        <a:t>alert, repo, commit, workspace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none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Set once: the alert, the fixture, the pinned commit, the workspace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buNone/>
                      </a:pPr>
                      <a:r>
                        <a:rPr sz="1000" b="1">
                          <a:solidFill>
                            <a:srgbClr val="28285E"/>
                          </a:solidFill>
                          <a:latin typeface="Maple Mono NF"/>
                        </a:rPr>
                        <a:t>messages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append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conversation, in provider form</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buNone/>
                      </a:pPr>
                      <a:r>
                        <a:rPr sz="1000" b="1">
                          <a:solidFill>
                            <a:srgbClr val="28285E"/>
                          </a:solidFill>
                          <a:latin typeface="Maple Mono NF"/>
                        </a:rPr>
                        <a:t>observations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append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One record per dispatched tool call, refused or not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buNone/>
                      </a:pPr>
                      <a:r>
                        <a:rPr sz="1000" b="1">
                          <a:solidFill>
                            <a:srgbClr val="28285E"/>
                          </a:solidFill>
                          <a:latin typeface="Maple Mono NF"/>
                        </a:rPr>
                        <a:t>candidate_patch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replace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patch currently proposed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r h="0">
                <a:tc>
                  <a:txBody>
                    <a:bodyPr/>
                    <a:lstStyle/>
                    <a:p>
                      <a:pPr>
                        <a:buNone/>
                      </a:pPr>
                      <a:r>
                        <a:rPr sz="1000" b="1">
                          <a:solidFill>
                            <a:srgbClr val="28285E"/>
                          </a:solidFill>
                          <a:latin typeface="Maple Mono NF"/>
                        </a:rPr>
                        <a:t>model_calls, usage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accumulate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Calls issued and tokens spent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buNone/>
                      </a:pPr>
                      <a:r>
                        <a:rPr sz="1000" b="1">
                          <a:solidFill>
                            <a:srgbClr val="28285E"/>
                          </a:solidFill>
                          <a:latin typeface="Maple Mono NF"/>
                        </a:rPr>
                        <a:t>status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replace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Running, or the terminal status that ended the run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6"/>
                  </a:ext>
                </a:extLst>
              </a:tr>
              <a:tr h="0">
                <a:tc>
                  <a:txBody>
                    <a:bodyPr/>
                    <a:lstStyle/>
                    <a:p>
                      <a:pPr>
                        <a:buNone/>
                      </a:pPr>
                      <a:r>
                        <a:rPr sz="1000" b="1">
                          <a:solidFill>
                            <a:schemeClr val="accent4"/>
                          </a:solidFill>
                        </a:rPr>
                        <a:t>plan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replace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subgoals and their status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7"/>
                  </a:ext>
                </a:extLst>
              </a:tr>
              <a:tr h="0">
                <a:tc>
                  <a:txBody>
                    <a:bodyPr/>
                    <a:lstStyle/>
                    <a:p>
                      <a:pPr>
                        <a:buNone/>
                      </a:pPr>
                      <a:r>
                        <a:rPr sz="1000" b="1">
                          <a:solidFill>
                            <a:schemeClr val="accent4"/>
                          </a:solidFill>
                        </a:rPr>
                        <a:t>validation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replace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latest acceptance decision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8"/>
                  </a:ext>
                </a:extLst>
              </a:tr>
              <a:tr h="0">
                <a:tc>
                  <a:txBody>
                    <a:bodyPr/>
                    <a:lstStyle/>
                    <a:p>
                      <a:pPr>
                        <a:buNone/>
                      </a:pPr>
                      <a:r>
                        <a:rPr sz="1000" b="1">
                          <a:solidFill>
                            <a:schemeClr val="accent4"/>
                          </a:solidFill>
                        </a:rPr>
                        <a:t>reflections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append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Guidance kept from rejected attempts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9"/>
                  </a:ext>
                </a:extLst>
              </a:tr>
              <a:tr h="0">
                <a:tc>
                  <a:txBody>
                    <a:bodyPr/>
                    <a:lstStyle/>
                    <a:p>
                      <a:pPr>
                        <a:buNone/>
                      </a:pPr>
                      <a:r>
                        <a:rPr sz="1000" b="1">
                          <a:solidFill>
                            <a:schemeClr val="accent4"/>
                          </a:solidFill>
                        </a:rPr>
                        <a:t>attempt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explicit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Which attempt is running</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10"/>
                  </a:ext>
                </a:extLst>
              </a:tr>
            </a:tbl>
          </a:graphicData>
        </a:graphic>
      </p:graphicFrame>
      <p:sp>
        <p:nvSpPr>
          <p:cNvPr id="4" name="Rectangle 3"/>
          <p:cNvSpPr/>
          <p:nvPr/>
        </p:nvSpPr>
        <p:spPr>
          <a:xfrm>
            <a:off x="1888761" y="4140000"/>
            <a:ext cx="4445035"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tx2"/>
                </a:solidFill>
              </a:rPr>
              <a:t>The four below the rule arrive with the planner, the validator and the reflection step.</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TypedDict checks nothing at run time</a:t>
            </a:r>
          </a:p>
        </p:txBody>
      </p:sp>
      <p:sp>
        <p:nvSpPr>
          <p:cNvPr id="3" name="TextBox 2"/>
          <p:cNvSpPr txBox="1"/>
          <p:nvPr/>
        </p:nvSpPr>
        <p:spPr>
          <a:xfrm>
            <a:off x="319251" y="900000"/>
            <a:ext cx="6014545" cy="200000"/>
          </a:xfrm>
          <a:prstGeom prst="rect">
            <a:avLst/>
          </a:prstGeom>
          <a:noFill/>
        </p:spPr>
        <p:txBody>
          <a:bodyPr wrap="none" lIns="0" tIns="0" rIns="0" bIns="0">
            <a:spAutoFit/>
          </a:bodyPr>
          <a:lstStyle/>
          <a:p>
            <a:r>
              <a:rPr sz="1200" b="1">
                <a:solidFill>
                  <a:srgbClr val="28285E"/>
                </a:solidFill>
              </a:rPr>
              <a:t>The annotation is for a type checker, and nothing else</a:t>
            </a:r>
          </a:p>
        </p:txBody>
      </p:sp>
      <p:sp>
        <p:nvSpPr>
          <p:cNvPr id="4" name="Rounded Rectangle 3"/>
          <p:cNvSpPr/>
          <p:nvPr/>
        </p:nvSpPr>
        <p:spPr>
          <a:xfrm>
            <a:off x="319251" y="1160000"/>
            <a:ext cx="6014545" cy="90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dirty="0">
                <a:solidFill>
                  <a:srgbClr val="28285E"/>
                </a:solidFill>
                <a:latin typeface="Maple Mono NF"/>
              </a:rPr>
              <a:t>class </a:t>
            </a:r>
            <a:r>
              <a:rPr sz="1100" dirty="0" err="1">
                <a:solidFill>
                  <a:srgbClr val="28285E"/>
                </a:solidFill>
                <a:latin typeface="Maple Mono NF"/>
              </a:rPr>
              <a:t>AgentState</a:t>
            </a:r>
            <a:r>
              <a:rPr sz="1100" dirty="0">
                <a:solidFill>
                  <a:srgbClr val="28285E"/>
                </a:solidFill>
                <a:latin typeface="Maple Mono NF"/>
              </a:rPr>
              <a:t>(</a:t>
            </a:r>
            <a:r>
              <a:rPr sz="1100" dirty="0" err="1">
                <a:solidFill>
                  <a:srgbClr val="28285E"/>
                </a:solidFill>
                <a:latin typeface="Maple Mono NF"/>
              </a:rPr>
              <a:t>TypedDict</a:t>
            </a:r>
            <a:r>
              <a:rPr sz="1100" dirty="0">
                <a:solidFill>
                  <a:srgbClr val="28285E"/>
                </a:solidFill>
                <a:latin typeface="Maple Mono NF"/>
              </a:rPr>
              <a:t>, total=False):</a:t>
            </a:r>
          </a:p>
          <a:p>
            <a:pPr algn="l">
              <a:buNone/>
            </a:pPr>
            <a:r>
              <a:rPr sz="1100" dirty="0">
                <a:solidFill>
                  <a:srgbClr val="28285E"/>
                </a:solidFill>
                <a:latin typeface="Maple Mono NF"/>
              </a:rPr>
              <a:t>    </a:t>
            </a:r>
            <a:r>
              <a:rPr sz="1100" dirty="0" err="1">
                <a:solidFill>
                  <a:srgbClr val="28285E"/>
                </a:solidFill>
                <a:latin typeface="Maple Mono NF"/>
              </a:rPr>
              <a:t>model_calls</a:t>
            </a:r>
            <a:r>
              <a:rPr sz="1100" dirty="0">
                <a:solidFill>
                  <a:srgbClr val="28285E"/>
                </a:solidFill>
                <a:latin typeface="Maple Mono NF"/>
              </a:rPr>
              <a:t>: Annotated[int, </a:t>
            </a:r>
            <a:r>
              <a:rPr sz="1100" dirty="0" err="1">
                <a:solidFill>
                  <a:srgbClr val="28285E"/>
                </a:solidFill>
                <a:latin typeface="Maple Mono NF"/>
              </a:rPr>
              <a:t>operator.add</a:t>
            </a:r>
            <a:r>
              <a:rPr sz="1100" dirty="0">
                <a:solidFill>
                  <a:srgbClr val="28285E"/>
                </a:solidFill>
                <a:latin typeface="Maple Mono NF"/>
              </a:rPr>
              <a:t>]</a:t>
            </a:r>
          </a:p>
          <a:p>
            <a:pPr algn="l">
              <a:buNone/>
            </a:pPr>
            <a:endParaRPr sz="1100" dirty="0">
              <a:solidFill>
                <a:srgbClr val="28285E"/>
              </a:solidFill>
              <a:latin typeface="Maple Mono NF"/>
            </a:endParaRPr>
          </a:p>
          <a:p>
            <a:pPr algn="l">
              <a:buNone/>
            </a:pPr>
            <a:r>
              <a:rPr sz="1100" dirty="0">
                <a:solidFill>
                  <a:srgbClr val="8A8A9A"/>
                </a:solidFill>
                <a:latin typeface="Maple Mono NF"/>
              </a:rPr>
              <a:t># a model reply puts </a:t>
            </a:r>
            <a:r>
              <a:rPr sz="1100" b="1" dirty="0">
                <a:solidFill>
                  <a:srgbClr val="C73561"/>
                </a:solidFill>
                <a:latin typeface="Maple Mono NF"/>
              </a:rPr>
              <a:t>"forty"</a:t>
            </a:r>
            <a:r>
              <a:rPr sz="1100" dirty="0">
                <a:solidFill>
                  <a:srgbClr val="8A8A9A"/>
                </a:solidFill>
                <a:latin typeface="Maple Mono NF"/>
              </a:rPr>
              <a:t> here: type-checks, and is wrong at run time</a:t>
            </a:r>
          </a:p>
        </p:txBody>
      </p:sp>
      <p:sp>
        <p:nvSpPr>
          <p:cNvPr id="5" name="Rectangle 4"/>
          <p:cNvSpPr/>
          <p:nvPr/>
        </p:nvSpPr>
        <p:spPr>
          <a:xfrm>
            <a:off x="319251" y="23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Every guarantee about the contents of state rests on code we write.</a:t>
            </a:r>
          </a:p>
        </p:txBody>
      </p:sp>
      <p:sp>
        <p:nvSpPr>
          <p:cNvPr id="6" name="TextBox 5"/>
          <p:cNvSpPr txBox="1"/>
          <p:nvPr/>
        </p:nvSpPr>
        <p:spPr>
          <a:xfrm>
            <a:off x="319251" y="2991801"/>
            <a:ext cx="6014545" cy="200000"/>
          </a:xfrm>
          <a:prstGeom prst="rect">
            <a:avLst/>
          </a:prstGeom>
          <a:noFill/>
        </p:spPr>
        <p:txBody>
          <a:bodyPr wrap="square" lIns="0" tIns="0" rIns="0" bIns="0">
            <a:spAutoFit/>
          </a:bodyPr>
          <a:lstStyle/>
          <a:p>
            <a:pPr algn="r"/>
            <a:r>
              <a:rPr sz="1050" i="1">
                <a:solidFill>
                  <a:schemeClr val="bg2"/>
                </a:solidFill>
              </a:rPr>
              <a:t>PEP 589</a:t>
            </a:r>
          </a:p>
        </p:txBody>
      </p:sp>
      <p:sp>
        <p:nvSpPr>
          <p:cNvPr id="7" name="Rectangle 6"/>
          <p:cNvSpPr/>
          <p:nvPr/>
        </p:nvSpPr>
        <p:spPr>
          <a:xfrm>
            <a:off x="319251" y="34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check that catches it is the argument validation at the tool boundary.</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Three reducers, three kinds of visibility</a:t>
            </a:r>
          </a:p>
        </p:txBody>
      </p:sp>
      <p:sp>
        <p:nvSpPr>
          <p:cNvPr id="3" name="Content Placeholder 2"/>
          <p:cNvSpPr>
            <a:spLocks noGrp="1"/>
          </p:cNvSpPr>
          <p:nvPr>
            <p:ph idx="1"/>
          </p:nvPr>
        </p:nvSpPr>
        <p:spPr>
          <a:xfrm>
            <a:off x="319251" y="700000"/>
            <a:ext cx="6014545" cy="2010000"/>
          </a:xfrm>
        </p:spPr>
        <p:txBody>
          <a:bodyPr wrap="square" anchor="ctr">
            <a:normAutofit fontScale="92500" lnSpcReduction="20000"/>
          </a:bodyPr>
          <a:lstStyle/>
          <a:p>
            <a:pPr marL="0" indent="0">
              <a:buNone/>
            </a:pPr>
            <a:r>
              <a:rPr sz="1400" b="1">
                <a:solidFill>
                  <a:srgbClr val="28285E"/>
                </a:solidFill>
              </a:rPr>
              <a:t>A reducer decides what every later step is allowed to see.</a:t>
            </a:r>
          </a:p>
          <a:p>
            <a:pPr marL="400050" indent="-285750">
              <a:spcBef>
                <a:spcPts val="600"/>
              </a:spcBef>
              <a:spcAft>
                <a:spcPts val="600"/>
              </a:spcAft>
              <a:buClr>
                <a:srgbClr val="28285E"/>
              </a:buClr>
              <a:buSzPts val="1260"/>
              <a:buFont typeface="+mn-lt"/>
              <a:buChar char="●"/>
            </a:pPr>
            <a:r>
              <a:rPr sz="1400" b="1">
                <a:solidFill>
                  <a:schemeClr val="tx1"/>
                </a:solidFill>
              </a:rPr>
              <a:t>Append. </a:t>
            </a:r>
            <a:r>
              <a:rPr sz="1400" b="0">
                <a:latin typeface="Maple Mono NF"/>
              </a:rPr>
              <a:t>observations</a:t>
            </a:r>
            <a:r>
              <a:rPr sz="1400" b="0">
                <a:solidFill>
                  <a:schemeClr val="tx1"/>
                </a:solidFill>
              </a:rPr>
              <a:t> and </a:t>
            </a:r>
            <a:r>
              <a:rPr sz="1400" b="0">
                <a:latin typeface="Maple Mono NF"/>
              </a:rPr>
              <a:t>messages</a:t>
            </a:r>
            <a:r>
              <a:rPr sz="1400" b="0">
                <a:solidFill>
                  <a:schemeClr val="tx1"/>
                </a:solidFill>
              </a:rPr>
              <a:t> keep the whole attempt, which is what the stall check compares.</a:t>
            </a:r>
          </a:p>
          <a:p>
            <a:pPr marL="400050" indent="-285750">
              <a:spcBef>
                <a:spcPts val="600"/>
              </a:spcBef>
              <a:spcAft>
                <a:spcPts val="600"/>
              </a:spcAft>
              <a:buClr>
                <a:srgbClr val="28285E"/>
              </a:buClr>
              <a:buSzPts val="1260"/>
              <a:buFont typeface="+mn-lt"/>
              <a:buChar char="●"/>
            </a:pPr>
            <a:r>
              <a:rPr sz="1400" b="1">
                <a:solidFill>
                  <a:schemeClr val="tx1"/>
                </a:solidFill>
              </a:rPr>
              <a:t>Replace. </a:t>
            </a:r>
            <a:r>
              <a:rPr sz="1400" b="0">
                <a:latin typeface="Maple Mono NF"/>
              </a:rPr>
              <a:t>candidate_patch</a:t>
            </a:r>
            <a:r>
              <a:rPr sz="1400" b="0">
                <a:solidFill>
                  <a:schemeClr val="tx1"/>
                </a:solidFill>
              </a:rPr>
              <a:t>, </a:t>
            </a:r>
            <a:r>
              <a:rPr sz="1400" b="0">
                <a:latin typeface="Maple Mono NF"/>
              </a:rPr>
              <a:t>plan</a:t>
            </a:r>
            <a:r>
              <a:rPr sz="1400" b="0">
                <a:solidFill>
                  <a:schemeClr val="tx1"/>
                </a:solidFill>
              </a:rPr>
              <a:t> and </a:t>
            </a:r>
            <a:r>
              <a:rPr sz="1400" b="0">
                <a:latin typeface="Maple Mono NF"/>
              </a:rPr>
              <a:t>status</a:t>
            </a:r>
            <a:r>
              <a:rPr sz="1400" b="0">
                <a:solidFill>
                  <a:schemeClr val="tx1"/>
                </a:solidFill>
              </a:rPr>
              <a:t> each name what is true now.</a:t>
            </a:r>
          </a:p>
          <a:p>
            <a:pPr marL="400050" indent="-285750">
              <a:spcBef>
                <a:spcPts val="600"/>
              </a:spcBef>
              <a:spcAft>
                <a:spcPts val="600"/>
              </a:spcAft>
              <a:buClr>
                <a:srgbClr val="28285E"/>
              </a:buClr>
              <a:buSzPts val="1260"/>
              <a:buFont typeface="+mn-lt"/>
              <a:buChar char="●"/>
            </a:pPr>
            <a:r>
              <a:rPr sz="1400" b="1">
                <a:solidFill>
                  <a:schemeClr val="tx1"/>
                </a:solidFill>
              </a:rPr>
              <a:t>Accumulate. </a:t>
            </a:r>
            <a:r>
              <a:rPr sz="1400" b="0">
                <a:latin typeface="Maple Mono NF"/>
              </a:rPr>
              <a:t>usage</a:t>
            </a:r>
            <a:r>
              <a:rPr sz="1400" b="0">
                <a:solidFill>
                  <a:schemeClr val="tx1"/>
                </a:solidFill>
              </a:rPr>
              <a:t> sums four token counters and produces no total, so no node ever holds the running total.</a:t>
            </a:r>
          </a:p>
        </p:txBody>
      </p:sp>
      <p:sp>
        <p:nvSpPr>
          <p:cNvPr id="4" name="Rectangle 3"/>
          <p:cNvSpPr/>
          <p:nvPr/>
        </p:nvSpPr>
        <p:spPr>
          <a:xfrm>
            <a:off x="319251" y="289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“Each key in the State has its own independent reducer function.”</a:t>
            </a:r>
          </a:p>
        </p:txBody>
      </p:sp>
      <p:sp>
        <p:nvSpPr>
          <p:cNvPr id="5" name="TextBox 4"/>
          <p:cNvSpPr txBox="1"/>
          <p:nvPr/>
        </p:nvSpPr>
        <p:spPr>
          <a:xfrm>
            <a:off x="319251" y="3531801"/>
            <a:ext cx="6014545" cy="200000"/>
          </a:xfrm>
          <a:prstGeom prst="rect">
            <a:avLst/>
          </a:prstGeom>
          <a:noFill/>
        </p:spPr>
        <p:txBody>
          <a:bodyPr wrap="square" lIns="0" tIns="0" rIns="0" bIns="0">
            <a:spAutoFit/>
          </a:bodyPr>
          <a:lstStyle/>
          <a:p>
            <a:pPr algn="r"/>
            <a:r>
              <a:rPr sz="1050" i="1">
                <a:solidFill>
                  <a:schemeClr val="bg2"/>
                </a:solidFill>
              </a:rPr>
              <a:t>LangGraph, Graph API</a:t>
            </a:r>
          </a:p>
        </p:txBody>
      </p:sp>
      <p:sp>
        <p:nvSpPr>
          <p:cNvPr id="6" name="Rectangle 5"/>
          <p:cNvSpPr/>
          <p:nvPr/>
        </p:nvSpPr>
        <p:spPr>
          <a:xfrm>
            <a:off x="319251" y="395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four token counters stay apart because they are not interchangeable.</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Clearing a field that appends</a:t>
            </a:r>
          </a:p>
        </p:txBody>
      </p:sp>
      <p:sp>
        <p:nvSpPr>
          <p:cNvPr id="3" name="TextBox 2"/>
          <p:cNvSpPr txBox="1"/>
          <p:nvPr/>
        </p:nvSpPr>
        <p:spPr>
          <a:xfrm>
            <a:off x="319251" y="800000"/>
            <a:ext cx="6014545" cy="200000"/>
          </a:xfrm>
          <a:prstGeom prst="rect">
            <a:avLst/>
          </a:prstGeom>
          <a:noFill/>
        </p:spPr>
        <p:txBody>
          <a:bodyPr wrap="none" lIns="0" tIns="0" rIns="0" bIns="0">
            <a:spAutoFit/>
          </a:bodyPr>
          <a:lstStyle/>
          <a:p>
            <a:r>
              <a:rPr sz="1200" b="1">
                <a:solidFill>
                  <a:srgbClr val="28285E"/>
                </a:solidFill>
              </a:rPr>
              <a:t>The reset that does not reset</a:t>
            </a:r>
          </a:p>
        </p:txBody>
      </p:sp>
      <p:sp>
        <p:nvSpPr>
          <p:cNvPr id="4" name="Rounded Rectangle 3"/>
          <p:cNvSpPr/>
          <p:nvPr/>
        </p:nvSpPr>
        <p:spPr>
          <a:xfrm>
            <a:off x="319251" y="1060000"/>
            <a:ext cx="6014545" cy="76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8A8A9A"/>
                </a:solidFill>
                <a:latin typeface="Maple Mono NF"/>
              </a:rPr>
              <a:t># the reflection step, starting a new attempt</a:t>
            </a:r>
          </a:p>
          <a:p>
            <a:pPr algn="l">
              <a:buNone/>
            </a:pPr>
            <a:r>
              <a:rPr sz="1100">
                <a:solidFill>
                  <a:srgbClr val="28285E"/>
                </a:solidFill>
                <a:latin typeface="Maple Mono NF"/>
              </a:rPr>
              <a:t>return {"observations": </a:t>
            </a:r>
            <a:r>
              <a:rPr sz="1100" b="1">
                <a:solidFill>
                  <a:srgbClr val="C73561"/>
                </a:solidFill>
                <a:latin typeface="Maple Mono NF"/>
              </a:rPr>
              <a:t>[]</a:t>
            </a:r>
            <a:r>
              <a:rPr sz="1100">
                <a:solidFill>
                  <a:srgbClr val="28285E"/>
                </a:solidFill>
                <a:latin typeface="Maple Mono NF"/>
              </a:rPr>
              <a:t>}</a:t>
            </a:r>
          </a:p>
          <a:p>
            <a:pPr algn="l">
              <a:buNone/>
            </a:pPr>
            <a:r>
              <a:rPr sz="1100">
                <a:solidFill>
                  <a:srgbClr val="8A8A9A"/>
                </a:solidFill>
                <a:latin typeface="Maple Mono NF"/>
              </a:rPr>
              <a:t># merged: every earlier observation is still exactly where it was</a:t>
            </a:r>
          </a:p>
        </p:txBody>
      </p:sp>
      <p:sp>
        <p:nvSpPr>
          <p:cNvPr id="5" name="Rectangle 4"/>
          <p:cNvSpPr/>
          <p:nvPr/>
        </p:nvSpPr>
        <p:spPr>
          <a:xfrm>
            <a:off x="319251" y="21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An append reducer given an empty update leaves every earlier observation exactly where it was.</a:t>
            </a:r>
          </a:p>
        </p:txBody>
      </p:sp>
      <p:sp>
        <p:nvSpPr>
          <p:cNvPr id="6" name="Rectangle 5"/>
          <p:cNvSpPr/>
          <p:nvPr/>
        </p:nvSpPr>
        <p:spPr>
          <a:xfrm>
            <a:off x="319251" y="300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Clearing an appended field takes an explicit assignment the runtime owns.</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One tool result becoming state</a:t>
            </a:r>
          </a:p>
        </p:txBody>
      </p:sp>
      <p:sp>
        <p:nvSpPr>
          <p:cNvPr id="3" name="TextBox 2"/>
          <p:cNvSpPr txBox="1"/>
          <p:nvPr/>
        </p:nvSpPr>
        <p:spPr>
          <a:xfrm>
            <a:off x="319251" y="750000"/>
            <a:ext cx="6014545" cy="200000"/>
          </a:xfrm>
          <a:prstGeom prst="rect">
            <a:avLst/>
          </a:prstGeom>
          <a:noFill/>
        </p:spPr>
        <p:txBody>
          <a:bodyPr wrap="none" lIns="0" tIns="0" rIns="0" bIns="0">
            <a:spAutoFit/>
          </a:bodyPr>
          <a:lstStyle/>
          <a:p>
            <a:r>
              <a:rPr sz="1200" b="1">
                <a:solidFill>
                  <a:srgbClr val="28285E"/>
                </a:solidFill>
              </a:rPr>
              <a:t>Four events in, the dispatcher returns 1,665 characters of source</a:t>
            </a:r>
          </a:p>
        </p:txBody>
      </p:sp>
      <p:sp>
        <p:nvSpPr>
          <p:cNvPr id="4" name="Rounded Rectangle 3"/>
          <p:cNvSpPr/>
          <p:nvPr/>
        </p:nvSpPr>
        <p:spPr>
          <a:xfrm>
            <a:off x="319251" y="1010000"/>
            <a:ext cx="6014545" cy="130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8A8A9A"/>
                </a:solidFill>
                <a:latin typeface="Maple Mono NF"/>
              </a:rPr>
              <a:t># before: observations [], messages 3, model_calls 1</a:t>
            </a:r>
          </a:p>
          <a:p>
            <a:pPr algn="l">
              <a:buNone/>
            </a:pPr>
            <a:r>
              <a:rPr sz="1100">
                <a:solidFill>
                  <a:srgbClr val="28285E"/>
                </a:solidFill>
                <a:latin typeface="Maple Mono NF"/>
              </a:rPr>
              <a:t>return {"observations": [{"tool": "read_file", "ok": True,</a:t>
            </a:r>
          </a:p>
          <a:p>
            <a:pPr algn="l">
              <a:buNone/>
            </a:pPr>
            <a:r>
              <a:rPr sz="1100">
                <a:solidFill>
                  <a:srgbClr val="28285E"/>
                </a:solidFill>
                <a:latin typeface="Maple Mono NF"/>
              </a:rPr>
              <a:t>                          "result": "&lt;1665 chars of source&gt;"}],</a:t>
            </a:r>
          </a:p>
          <a:p>
            <a:pPr algn="l">
              <a:buNone/>
            </a:pPr>
            <a:r>
              <a:rPr sz="1100">
                <a:solidFill>
                  <a:srgbClr val="28285E"/>
                </a:solidFill>
                <a:latin typeface="Maple Mono NF"/>
              </a:rPr>
              <a:t>        "messages": [ToolMessage(...)]}</a:t>
            </a:r>
          </a:p>
          <a:p>
            <a:pPr algn="l">
              <a:buNone/>
            </a:pPr>
            <a:r>
              <a:rPr sz="1100">
                <a:solidFill>
                  <a:srgbClr val="8A8A9A"/>
                </a:solidFill>
                <a:latin typeface="Maple Mono NF"/>
              </a:rPr>
              <a:t># merged: observations +1, messages +1, every other key untouched</a:t>
            </a:r>
          </a:p>
          <a:p>
            <a:pPr algn="l">
              <a:buNone/>
            </a:pPr>
            <a:r>
              <a:rPr sz="1100">
                <a:solidFill>
                  <a:srgbClr val="8A8A9A"/>
                </a:solidFill>
                <a:latin typeface="Maple Mono NF"/>
              </a:rPr>
              <a:t># the next model input is built from messages alone</a:t>
            </a:r>
          </a:p>
        </p:txBody>
      </p:sp>
      <p:sp>
        <p:nvSpPr>
          <p:cNvPr id="5" name="Rectangle 4"/>
          <p:cNvSpPr/>
          <p:nvPr/>
        </p:nvSpPr>
        <p:spPr>
          <a:xfrm>
            <a:off x="319251" y="256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The observation the runtime stored is richer than the message the model receives.</a:t>
            </a:r>
          </a:p>
        </p:txBody>
      </p:sp>
      <p:sp>
        <p:nvSpPr>
          <p:cNvPr id="6" name="Rectangle 5"/>
          <p:cNvSpPr/>
          <p:nvPr/>
        </p:nvSpPr>
        <p:spPr>
          <a:xfrm>
            <a:off x="319251" y="340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State answers what the run knows now; the trace answers what the run did.</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2E722-9963-9174-3800-AD1711030F6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763DD4E-7ECA-EA09-4C99-843157D6D4D7}"/>
              </a:ext>
            </a:extLst>
          </p:cNvPr>
          <p:cNvSpPr txBox="1"/>
          <p:nvPr/>
        </p:nvSpPr>
        <p:spPr>
          <a:xfrm>
            <a:off x="929000" y="1910031"/>
            <a:ext cx="5000000" cy="1323439"/>
          </a:xfrm>
          <a:prstGeom prst="rect">
            <a:avLst/>
          </a:prstGeom>
          <a:noFill/>
        </p:spPr>
        <p:txBody>
          <a:bodyPr wrap="square" anchor="ctr">
            <a:spAutoFit/>
          </a:bodyPr>
          <a:lstStyle/>
          <a:p>
            <a:pPr algn="ctr"/>
            <a:r>
              <a:rPr sz="4000" b="1" dirty="0">
                <a:solidFill>
                  <a:schemeClr val="bg1"/>
                </a:solidFill>
                <a:latin typeface="+mj-lt"/>
              </a:rPr>
              <a:t>Execution machinery</a:t>
            </a:r>
          </a:p>
        </p:txBody>
      </p:sp>
    </p:spTree>
    <p:extLst>
      <p:ext uri="{BB962C8B-B14F-4D97-AF65-F5344CB8AC3E}">
        <p14:creationId xmlns:p14="http://schemas.microsoft.com/office/powerpoint/2010/main" val="1490090669"/>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Where the next node is chosen</a:t>
            </a:r>
          </a:p>
        </p:txBody>
      </p:sp>
      <p:sp>
        <p:nvSpPr>
          <p:cNvPr id="3" name="Content Placeholder 2"/>
          <p:cNvSpPr>
            <a:spLocks noGrp="1"/>
          </p:cNvSpPr>
          <p:nvPr>
            <p:ph idx="1"/>
          </p:nvPr>
        </p:nvSpPr>
        <p:spPr>
          <a:xfrm>
            <a:off x="319251" y="700000"/>
            <a:ext cx="6014545" cy="1970000"/>
          </a:xfrm>
        </p:spPr>
        <p:txBody>
          <a:bodyPr wrap="square" anchor="ctr">
            <a:normAutofit fontScale="92500" lnSpcReduction="10000"/>
          </a:bodyPr>
          <a:lstStyle/>
          <a:p>
            <a:pPr marL="0" indent="0">
              <a:buNone/>
            </a:pPr>
            <a:r>
              <a:rPr sz="1400" b="1">
                <a:solidFill>
                  <a:srgbClr val="28285E"/>
                </a:solidFill>
              </a:rPr>
              <a:t>Three responsibilities, on three different components.</a:t>
            </a:r>
          </a:p>
          <a:p>
            <a:pPr marL="400050" indent="-285750">
              <a:spcBef>
                <a:spcPts val="600"/>
              </a:spcBef>
              <a:spcAft>
                <a:spcPts val="600"/>
              </a:spcAft>
              <a:buClr>
                <a:srgbClr val="28285E"/>
              </a:buClr>
              <a:buSzPts val="1260"/>
              <a:buFont typeface="+mn-lt"/>
              <a:buChar char="●"/>
            </a:pPr>
            <a:r>
              <a:rPr sz="1400" b="1">
                <a:solidFill>
                  <a:schemeClr val="tx1"/>
                </a:solidFill>
              </a:rPr>
              <a:t>The model proposes. </a:t>
            </a:r>
            <a:r>
              <a:rPr sz="1400" b="0">
                <a:solidFill>
                  <a:schemeClr val="tx1"/>
                </a:solidFill>
              </a:rPr>
              <a:t>A tool call, a plan, a candidate, a judgement. Every one of those is a value.</a:t>
            </a:r>
          </a:p>
          <a:p>
            <a:pPr marL="400050" indent="-285750">
              <a:spcBef>
                <a:spcPts val="600"/>
              </a:spcBef>
              <a:spcAft>
                <a:spcPts val="600"/>
              </a:spcAft>
              <a:buClr>
                <a:srgbClr val="28285E"/>
              </a:buClr>
              <a:buSzPts val="1260"/>
              <a:buFont typeface="+mn-lt"/>
              <a:buChar char="●"/>
            </a:pPr>
            <a:r>
              <a:rPr sz="1400" b="1">
                <a:solidFill>
                  <a:schemeClr val="tx1"/>
                </a:solidFill>
              </a:rPr>
              <a:t>The runtime records. </a:t>
            </a:r>
            <a:r>
              <a:rPr sz="1400" b="0">
                <a:solidFill>
                  <a:schemeClr val="tx1"/>
                </a:solidFill>
              </a:rPr>
              <a:t>It merges the proposal through the reducers and writes what happened to the trace.</a:t>
            </a:r>
          </a:p>
          <a:p>
            <a:pPr marL="400050" indent="-285750">
              <a:spcBef>
                <a:spcPts val="600"/>
              </a:spcBef>
              <a:spcAft>
                <a:spcPts val="600"/>
              </a:spcAft>
              <a:buClr>
                <a:srgbClr val="28285E"/>
              </a:buClr>
              <a:buSzPts val="1260"/>
              <a:buFont typeface="+mn-lt"/>
              <a:buChar char="●"/>
            </a:pPr>
            <a:r>
              <a:rPr sz="1400" b="1">
                <a:solidFill>
                  <a:schemeClr val="tx1"/>
                </a:solidFill>
              </a:rPr>
              <a:t>The router decides. </a:t>
            </a:r>
            <a:r>
              <a:rPr sz="1400" b="0">
                <a:solidFill>
                  <a:schemeClr val="tx1"/>
                </a:solidFill>
              </a:rPr>
              <a:t>It reads named fields and returns a node name.</a:t>
            </a:r>
          </a:p>
        </p:txBody>
      </p:sp>
      <p:sp>
        <p:nvSpPr>
          <p:cNvPr id="4" name="Rectangle 3"/>
          <p:cNvSpPr/>
          <p:nvPr/>
        </p:nvSpPr>
        <p:spPr>
          <a:xfrm>
            <a:off x="319251" y="282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A conditional edge is a function that receives the current state and returns the name of the next node.</a:t>
            </a:r>
          </a:p>
        </p:txBody>
      </p:sp>
      <p:sp>
        <p:nvSpPr>
          <p:cNvPr id="5" name="TextBox 4"/>
          <p:cNvSpPr txBox="1"/>
          <p:nvPr/>
        </p:nvSpPr>
        <p:spPr>
          <a:xfrm>
            <a:off x="319251" y="3461801"/>
            <a:ext cx="6014545" cy="200000"/>
          </a:xfrm>
          <a:prstGeom prst="rect">
            <a:avLst/>
          </a:prstGeom>
          <a:noFill/>
        </p:spPr>
        <p:txBody>
          <a:bodyPr wrap="square" lIns="0" tIns="0" rIns="0" bIns="0">
            <a:spAutoFit/>
          </a:bodyPr>
          <a:lstStyle/>
          <a:p>
            <a:pPr algn="r"/>
            <a:r>
              <a:rPr sz="1050" i="1">
                <a:solidFill>
                  <a:schemeClr val="bg2"/>
                </a:solidFill>
              </a:rPr>
              <a:t>LangGraph, Graph API</a:t>
            </a:r>
          </a:p>
        </p:txBody>
      </p:sp>
      <p:sp>
        <p:nvSpPr>
          <p:cNvPr id="6" name="Rectangle 5"/>
          <p:cNvSpPr/>
          <p:nvPr/>
        </p:nvSpPr>
        <p:spPr>
          <a:xfrm>
            <a:off x="319251" y="369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It runs in the runtime's process, and its return value is the transition.</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complete graph, with both back edges</a:t>
            </a:r>
          </a:p>
        </p:txBody>
      </p:sp>
      <p:pic>
        <p:nvPicPr>
          <p:cNvPr id="3" name="Picture 2" descr="graph-v4-deck.png"/>
          <p:cNvPicPr>
            <a:picLocks noChangeAspect="1"/>
          </p:cNvPicPr>
          <p:nvPr/>
        </p:nvPicPr>
        <p:blipFill>
          <a:blip r:embed="rId3"/>
          <a:stretch>
            <a:fillRect/>
          </a:stretch>
        </p:blipFill>
        <p:spPr>
          <a:xfrm>
            <a:off x="250147" y="800000"/>
            <a:ext cx="6152752" cy="2169671"/>
          </a:xfrm>
          <a:prstGeom prst="rect">
            <a:avLst/>
          </a:prstGeom>
        </p:spPr>
      </p:pic>
      <p:sp>
        <p:nvSpPr>
          <p:cNvPr id="4" name="Rectangle 3"/>
          <p:cNvSpPr/>
          <p:nvPr/>
        </p:nvSpPr>
        <p:spPr>
          <a:xfrm>
            <a:off x="319251" y="325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Every edge is a line of wiring code, and every label is a predicate over state.</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router actually reads</a:t>
            </a:r>
          </a:p>
        </p:txBody>
      </p:sp>
      <p:sp>
        <p:nvSpPr>
          <p:cNvPr id="3" name="TextBox 2"/>
          <p:cNvSpPr txBox="1"/>
          <p:nvPr/>
        </p:nvSpPr>
        <p:spPr>
          <a:xfrm>
            <a:off x="319251" y="800000"/>
            <a:ext cx="6014545" cy="200000"/>
          </a:xfrm>
          <a:prstGeom prst="rect">
            <a:avLst/>
          </a:prstGeom>
          <a:noFill/>
        </p:spPr>
        <p:txBody>
          <a:bodyPr wrap="none" lIns="0" tIns="0" rIns="0" bIns="0">
            <a:spAutoFit/>
          </a:bodyPr>
          <a:lstStyle/>
          <a:p>
            <a:r>
              <a:rPr sz="1200" b="1">
                <a:solidFill>
                  <a:srgbClr val="28285E"/>
                </a:solidFill>
              </a:rPr>
              <a:t>after_controller, the loop's only branch</a:t>
            </a:r>
          </a:p>
        </p:txBody>
      </p:sp>
      <p:sp>
        <p:nvSpPr>
          <p:cNvPr id="4" name="Rounded Rectangle 3"/>
          <p:cNvSpPr/>
          <p:nvPr/>
        </p:nvSpPr>
        <p:spPr>
          <a:xfrm>
            <a:off x="319251" y="1060000"/>
            <a:ext cx="6014545" cy="125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def after_controller(self, state) -&gt; str:</a:t>
            </a:r>
          </a:p>
          <a:p>
            <a:pPr algn="l">
              <a:buNone/>
            </a:pPr>
            <a:r>
              <a:rPr sz="1100">
                <a:solidFill>
                  <a:srgbClr val="28285E"/>
                </a:solidFill>
                <a:latin typeface="Maple Mono NF"/>
              </a:rPr>
              <a:t>    if state["status"] != RUNNING:</a:t>
            </a:r>
          </a:p>
          <a:p>
            <a:pPr algn="l">
              <a:buNone/>
            </a:pPr>
            <a:r>
              <a:rPr sz="1100">
                <a:solidFill>
                  <a:srgbClr val="28285E"/>
                </a:solidFill>
                <a:latin typeface="Maple Mono NF"/>
              </a:rPr>
              <a:t>        return END</a:t>
            </a:r>
          </a:p>
          <a:p>
            <a:pPr algn="l">
              <a:buNone/>
            </a:pPr>
            <a:r>
              <a:rPr sz="1100">
                <a:solidFill>
                  <a:srgbClr val="28285E"/>
                </a:solidFill>
                <a:latin typeface="Maple Mono NF"/>
              </a:rPr>
              <a:t>    if state["messages"][-1].tool_calls:</a:t>
            </a:r>
          </a:p>
          <a:p>
            <a:pPr algn="l">
              <a:buNone/>
            </a:pPr>
            <a:r>
              <a:rPr sz="1100">
                <a:solidFill>
                  <a:srgbClr val="28285E"/>
                </a:solidFill>
                <a:latin typeface="Maple Mono NF"/>
              </a:rPr>
              <a:t>        return "tools"</a:t>
            </a:r>
          </a:p>
          <a:p>
            <a:pPr algn="l">
              <a:buNone/>
            </a:pPr>
            <a:r>
              <a:rPr sz="1100">
                <a:solidFill>
                  <a:srgbClr val="28285E"/>
                </a:solidFill>
                <a:latin typeface="Maple Mono NF"/>
              </a:rPr>
              <a:t>    return "submit"</a:t>
            </a:r>
          </a:p>
        </p:txBody>
      </p:sp>
      <p:sp>
        <p:nvSpPr>
          <p:cNvPr id="5" name="Rectangle 4"/>
          <p:cNvSpPr/>
          <p:nvPr/>
        </p:nvSpPr>
        <p:spPr>
          <a:xfrm>
            <a:off x="319251" y="26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A model that writes “I am confident, submit it” moves the run exactly as far as a model that writes nothing.</a:t>
            </a:r>
          </a:p>
        </p:txBody>
      </p:sp>
      <p:sp>
        <p:nvSpPr>
          <p:cNvPr id="6" name="Rectangle 5"/>
          <p:cNvSpPr/>
          <p:nvPr/>
        </p:nvSpPr>
        <p:spPr>
          <a:xfrm>
            <a:off x="319251" y="345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branch is taken on the presence of a tool call.</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Reading who decided from the trace</a:t>
            </a:r>
          </a:p>
        </p:txBody>
      </p:sp>
      <p:sp>
        <p:nvSpPr>
          <p:cNvPr id="3" name="Content Placeholder 2"/>
          <p:cNvSpPr>
            <a:spLocks noGrp="1"/>
          </p:cNvSpPr>
          <p:nvPr>
            <p:ph idx="1"/>
          </p:nvPr>
        </p:nvSpPr>
        <p:spPr>
          <a:xfrm>
            <a:off x="319251" y="700000"/>
            <a:ext cx="6014545" cy="1780000"/>
          </a:xfrm>
        </p:spPr>
        <p:txBody>
          <a:bodyPr wrap="square" anchor="ctr">
            <a:normAutofit lnSpcReduction="10000"/>
          </a:bodyPr>
          <a:lstStyle/>
          <a:p>
            <a:pPr marL="0" indent="0">
              <a:buNone/>
            </a:pPr>
            <a:r>
              <a:rPr sz="1400" b="1">
                <a:solidFill>
                  <a:srgbClr val="28285E"/>
                </a:solidFill>
              </a:rPr>
              <a:t>A routing event names who supplied the value the predicate tested.</a:t>
            </a:r>
          </a:p>
          <a:p>
            <a:pPr marL="400050" indent="-285750">
              <a:spcBef>
                <a:spcPts val="600"/>
              </a:spcBef>
              <a:spcAft>
                <a:spcPts val="600"/>
              </a:spcAft>
              <a:buClr>
                <a:srgbClr val="28285E"/>
              </a:buClr>
              <a:buSzPts val="1260"/>
              <a:buFont typeface="+mn-lt"/>
              <a:buChar char="●"/>
            </a:pPr>
            <a:r>
              <a:rPr sz="1400" b="0">
                <a:latin typeface="Maple Mono NF"/>
              </a:rPr>
              <a:t>by="runtime" </a:t>
            </a:r>
            <a:r>
              <a:rPr sz="1400" b="0">
                <a:solidFill>
                  <a:schemeClr val="tx1"/>
                </a:solidFill>
              </a:rPr>
              <a:t>when a limit fired before any call was issued.</a:t>
            </a:r>
          </a:p>
          <a:p>
            <a:pPr marL="400050" indent="-285750">
              <a:spcBef>
                <a:spcPts val="600"/>
              </a:spcBef>
              <a:spcAft>
                <a:spcPts val="600"/>
              </a:spcAft>
              <a:buClr>
                <a:srgbClr val="28285E"/>
              </a:buClr>
              <a:buSzPts val="1260"/>
              <a:buFont typeface="+mn-lt"/>
              <a:buChar char="●"/>
            </a:pPr>
            <a:r>
              <a:rPr sz="1400" b="0">
                <a:latin typeface="Maple Mono NF"/>
              </a:rPr>
              <a:t>by="model" </a:t>
            </a:r>
            <a:r>
              <a:rPr sz="1400" b="0">
                <a:solidFill>
                  <a:schemeClr val="tx1"/>
                </a:solidFill>
              </a:rPr>
              <a:t>when the model's output selected the branch.</a:t>
            </a:r>
          </a:p>
          <a:p>
            <a:pPr marL="400050" indent="-285750">
              <a:spcBef>
                <a:spcPts val="600"/>
              </a:spcBef>
              <a:spcAft>
                <a:spcPts val="600"/>
              </a:spcAft>
              <a:buClr>
                <a:srgbClr val="28285E"/>
              </a:buClr>
              <a:buSzPts val="1260"/>
              <a:buFont typeface="+mn-lt"/>
              <a:buChar char="●"/>
            </a:pPr>
            <a:r>
              <a:rPr sz="1400" b="1">
                <a:solidFill>
                  <a:schemeClr val="tx1"/>
                </a:solidFill>
              </a:rPr>
              <a:t>Neither means the model chose the edge. </a:t>
            </a:r>
            <a:r>
              <a:rPr sz="1400" b="0">
                <a:solidFill>
                  <a:schemeClr val="tx1"/>
                </a:solidFill>
              </a:rPr>
              <a:t>The edge was chosen when we wrote the predicate.</a:t>
            </a:r>
          </a:p>
        </p:txBody>
      </p:sp>
      <p:sp>
        <p:nvSpPr>
          <p:cNvPr id="4" name="Rectangle 3"/>
          <p:cNvSpPr/>
          <p:nvPr/>
        </p:nvSpPr>
        <p:spPr>
          <a:xfrm>
            <a:off x="319251" y="2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The routing event names the origin of the value, and the predicate stays ours.</a:t>
            </a:r>
          </a:p>
        </p:txBody>
      </p:sp>
      <p:sp>
        <p:nvSpPr>
          <p:cNvPr id="5" name="Rectangle 4"/>
          <p:cNvSpPr/>
          <p:nvPr/>
        </p:nvSpPr>
        <p:spPr>
          <a:xfrm>
            <a:off x="319251" y="355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This is the field to read when a run surprises us.</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One compiled graph, different paths</a:t>
            </a:r>
          </a:p>
        </p:txBody>
      </p:sp>
      <p:sp>
        <p:nvSpPr>
          <p:cNvPr id="3" name="TextBox 2"/>
          <p:cNvSpPr txBox="1"/>
          <p:nvPr/>
        </p:nvSpPr>
        <p:spPr>
          <a:xfrm>
            <a:off x="319251" y="800000"/>
            <a:ext cx="6014545" cy="200000"/>
          </a:xfrm>
          <a:prstGeom prst="rect">
            <a:avLst/>
          </a:prstGeom>
          <a:noFill/>
        </p:spPr>
        <p:txBody>
          <a:bodyPr wrap="none" lIns="0" tIns="0" rIns="0" bIns="0">
            <a:spAutoFit/>
          </a:bodyPr>
          <a:lstStyle/>
          <a:p>
            <a:r>
              <a:rPr sz="1200" b="1">
                <a:solidFill>
                  <a:srgbClr val="28285E"/>
                </a:solidFill>
              </a:rPr>
              <a:t>compile() wires it once, and the object is the same on every run</a:t>
            </a:r>
          </a:p>
        </p:txBody>
      </p:sp>
      <p:sp>
        <p:nvSpPr>
          <p:cNvPr id="4" name="Rounded Rectangle 3"/>
          <p:cNvSpPr/>
          <p:nvPr/>
        </p:nvSpPr>
        <p:spPr>
          <a:xfrm>
            <a:off x="319251" y="1060000"/>
            <a:ext cx="6014545" cy="100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graph.add_edge(START, "controller")</a:t>
            </a:r>
          </a:p>
          <a:p>
            <a:pPr algn="l">
              <a:buNone/>
            </a:pPr>
            <a:r>
              <a:rPr sz="1100">
                <a:solidFill>
                  <a:srgbClr val="28285E"/>
                </a:solidFill>
                <a:latin typeface="Maple Mono NF"/>
              </a:rPr>
              <a:t>graph.add_conditional_edges("controller", self.after_controller, ...)</a:t>
            </a:r>
          </a:p>
          <a:p>
            <a:pPr algn="l">
              <a:buNone/>
            </a:pPr>
            <a:r>
              <a:rPr sz="1100">
                <a:solidFill>
                  <a:srgbClr val="28285E"/>
                </a:solidFill>
                <a:latin typeface="Maple Mono NF"/>
              </a:rPr>
              <a:t>graph.add_edge("tools", "controller")</a:t>
            </a:r>
            <a:r>
              <a:rPr sz="1100">
                <a:solidFill>
                  <a:srgbClr val="8A8A9A"/>
                </a:solidFill>
                <a:latin typeface="Maple Mono NF"/>
              </a:rPr>
              <a:t>   # the loop's one back edge</a:t>
            </a:r>
          </a:p>
          <a:p>
            <a:pPr algn="l">
              <a:buNone/>
            </a:pPr>
            <a:r>
              <a:rPr sz="1100">
                <a:solidFill>
                  <a:srgbClr val="28285E"/>
                </a:solidFill>
                <a:latin typeface="Maple Mono NF"/>
              </a:rPr>
              <a:t>graph.add_conditional_edges("submit", self.after_submit, ...)</a:t>
            </a:r>
          </a:p>
        </p:txBody>
      </p:sp>
      <p:sp>
        <p:nvSpPr>
          <p:cNvPr id="5" name="Rectangle 4"/>
          <p:cNvSpPr/>
          <p:nvPr/>
        </p:nvSpPr>
        <p:spPr>
          <a:xfrm>
            <a:off x="319251" y="23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Delete that one line and the same three nodes become a chain.</a:t>
            </a:r>
          </a:p>
        </p:txBody>
      </p:sp>
      <p:sp>
        <p:nvSpPr>
          <p:cNvPr id="6" name="Rectangle 5"/>
          <p:cNvSpPr/>
          <p:nvPr/>
        </p:nvSpPr>
        <p:spPr>
          <a:xfrm>
            <a:off x="319251" y="320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recorded run enters the controller four times, and the graph never changes.</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Two returns to the planner</a:t>
            </a:r>
          </a:p>
        </p:txBody>
      </p:sp>
      <p:graphicFrame>
        <p:nvGraphicFramePr>
          <p:cNvPr id="3" name="Table 2"/>
          <p:cNvGraphicFramePr>
            <a:graphicFrameLocks noGrp="1"/>
          </p:cNvGraphicFramePr>
          <p:nvPr/>
        </p:nvGraphicFramePr>
        <p:xfrm>
          <a:off x="319251" y="1400000"/>
          <a:ext cx="6014545" cy="1500000"/>
        </p:xfrm>
        <a:graphic>
          <a:graphicData uri="http://schemas.openxmlformats.org/drawingml/2006/table">
            <a:tbl>
              <a:tblPr firstRow="1" bandRow="1">
                <a:tableStyleId>{5C22544A-7EE6-4342-B048-85BDC9FD1C3A}</a:tableStyleId>
              </a:tblPr>
              <a:tblGrid>
                <a:gridCol w="1250000">
                  <a:extLst>
                    <a:ext uri="{9D8B030D-6E8A-4147-A177-3AD203B41FA5}">
                      <a16:colId xmlns:a16="http://schemas.microsoft.com/office/drawing/2014/main" val="20000"/>
                    </a:ext>
                  </a:extLst>
                </a:gridCol>
                <a:gridCol w="1650000">
                  <a:extLst>
                    <a:ext uri="{9D8B030D-6E8A-4147-A177-3AD203B41FA5}">
                      <a16:colId xmlns:a16="http://schemas.microsoft.com/office/drawing/2014/main" val="20001"/>
                    </a:ext>
                  </a:extLst>
                </a:gridCol>
                <a:gridCol w="1557272">
                  <a:extLst>
                    <a:ext uri="{9D8B030D-6E8A-4147-A177-3AD203B41FA5}">
                      <a16:colId xmlns:a16="http://schemas.microsoft.com/office/drawing/2014/main" val="20002"/>
                    </a:ext>
                  </a:extLst>
                </a:gridCol>
                <a:gridCol w="1557273">
                  <a:extLst>
                    <a:ext uri="{9D8B030D-6E8A-4147-A177-3AD203B41FA5}">
                      <a16:colId xmlns:a16="http://schemas.microsoft.com/office/drawing/2014/main" val="20003"/>
                    </a:ext>
                  </a:extLst>
                </a:gridCol>
              </a:tblGrid>
              <a:tr h="300000">
                <a:tc>
                  <a:txBody>
                    <a:bodyPr/>
                    <a:lstStyle/>
                    <a:p>
                      <a:pPr>
                        <a:buNone/>
                      </a:pPr>
                      <a:r>
                        <a:rPr sz="1000" b="1">
                          <a:solidFill>
                            <a:schemeClr val="tx1"/>
                          </a:solidFill>
                        </a:rPr>
                        <a:t>Back edge</a:t>
                      </a:r>
                    </a:p>
                  </a:txBody>
                  <a:tcPr marL="95250" marR="95250" marT="47625" marB="47625">
                    <a:lnB w="12700" cap="flat" cmpd="sng" algn="ctr">
                      <a:solidFill>
                        <a:schemeClr val="tx1"/>
                      </a:solidFill>
                    </a:lnB>
                    <a:noFill/>
                  </a:tcPr>
                </a:tc>
                <a:tc>
                  <a:txBody>
                    <a:bodyPr/>
                    <a:lstStyle/>
                    <a:p>
                      <a:pPr>
                        <a:buNone/>
                      </a:pPr>
                      <a:r>
                        <a:rPr sz="1000" b="1">
                          <a:solidFill>
                            <a:schemeClr val="tx1"/>
                          </a:solidFill>
                        </a:rPr>
                        <a:t>Trigger</a:t>
                      </a:r>
                    </a:p>
                  </a:txBody>
                  <a:tcPr marL="95250" marR="95250" marT="47625" marB="47625">
                    <a:lnB w="12700" cap="flat" cmpd="sng" algn="ctr">
                      <a:solidFill>
                        <a:schemeClr val="tx1"/>
                      </a:solidFill>
                    </a:lnB>
                    <a:noFill/>
                  </a:tcPr>
                </a:tc>
                <a:tc>
                  <a:txBody>
                    <a:bodyPr/>
                    <a:lstStyle/>
                    <a:p>
                      <a:pPr>
                        <a:buNone/>
                      </a:pPr>
                      <a:r>
                        <a:rPr sz="1000" b="1">
                          <a:solidFill>
                            <a:schemeClr val="tx1"/>
                          </a:solidFill>
                        </a:rPr>
                        <a:t>Retained</a:t>
                      </a:r>
                    </a:p>
                  </a:txBody>
                  <a:tcPr marL="95250" marR="95250" marT="47625" marB="47625">
                    <a:lnB w="12700" cap="flat" cmpd="sng" algn="ctr">
                      <a:solidFill>
                        <a:schemeClr val="tx1"/>
                      </a:solidFill>
                    </a:lnB>
                    <a:noFill/>
                  </a:tcPr>
                </a:tc>
                <a:tc>
                  <a:txBody>
                    <a:bodyPr/>
                    <a:lstStyle/>
                    <a:p>
                      <a:pPr>
                        <a:buNone/>
                      </a:pPr>
                      <a:r>
                        <a:rPr sz="1000" b="1">
                          <a:solidFill>
                            <a:schemeClr val="tx1"/>
                          </a:solidFill>
                        </a:rPr>
                        <a:t>Reset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buNone/>
                      </a:pPr>
                      <a:r>
                        <a:rPr sz="1000" b="1">
                          <a:solidFill>
                            <a:schemeClr val="accent4"/>
                          </a:solidFill>
                        </a:rPr>
                        <a:t>In-run plan revision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 planned step still fails after the runtime's free retry</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attempt's observations and its accounting</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remaining subgoals, which the planner rewrites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buNone/>
                      </a:pPr>
                      <a:r>
                        <a:rPr sz="1000" b="1">
                          <a:solidFill>
                            <a:schemeClr val="accent4"/>
                          </a:solidFill>
                        </a:rPr>
                        <a:t>New attempt after reflection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validator rejects and the attempt limit permits another try</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Reflections, identity, the counters, the usage ledger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Observations, plan, candidate patch, validation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1888761" y="3250000"/>
            <a:ext cx="4445035"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tx2"/>
                </a:solidFill>
              </a:rPr>
              <a:t>Collapse them and the system rewrites its plan over every </a:t>
            </a:r>
            <a:r>
              <a:rPr sz="1200" b="1">
                <a:solidFill>
                  <a:schemeClr val="tx2"/>
                </a:solidFill>
              </a:rPr>
              <a:t>transient tool error</a:t>
            </a:r>
            <a:r>
              <a:rPr sz="1200" b="0">
                <a:solidFill>
                  <a:schemeClr val="tx2"/>
                </a:solidFill>
              </a:rPr>
              <a:t>.</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Who owns each return</a:t>
            </a:r>
          </a:p>
        </p:txBody>
      </p:sp>
      <p:sp>
        <p:nvSpPr>
          <p:cNvPr id="3" name="Content Placeholder 2"/>
          <p:cNvSpPr>
            <a:spLocks noGrp="1"/>
          </p:cNvSpPr>
          <p:nvPr>
            <p:ph idx="1"/>
          </p:nvPr>
        </p:nvSpPr>
        <p:spPr>
          <a:xfrm>
            <a:off x="319251" y="700000"/>
            <a:ext cx="6014545" cy="1990000"/>
          </a:xfrm>
        </p:spPr>
        <p:txBody>
          <a:bodyPr wrap="square" anchor="ctr">
            <a:normAutofit fontScale="92500" lnSpcReduction="10000"/>
          </a:bodyPr>
          <a:lstStyle/>
          <a:p>
            <a:pPr marL="0" indent="0">
              <a:buNone/>
            </a:pPr>
            <a:r>
              <a:rPr sz="1400" b="1">
                <a:solidFill>
                  <a:srgbClr val="28285E"/>
                </a:solidFill>
              </a:rPr>
              <a:t>Ownership divides on the same line as the two edges.</a:t>
            </a:r>
          </a:p>
          <a:p>
            <a:pPr marL="400050" indent="-285750">
              <a:spcBef>
                <a:spcPts val="600"/>
              </a:spcBef>
              <a:spcAft>
                <a:spcPts val="600"/>
              </a:spcAft>
              <a:buClr>
                <a:srgbClr val="28285E"/>
              </a:buClr>
              <a:buSzPts val="1260"/>
              <a:buFont typeface="+mn-lt"/>
              <a:buChar char="●"/>
            </a:pPr>
            <a:r>
              <a:rPr sz="1400" b="1">
                <a:solidFill>
                  <a:schemeClr val="tx1"/>
                </a:solidFill>
              </a:rPr>
              <a:t>The free retry is ours. </a:t>
            </a:r>
            <a:r>
              <a:rPr sz="1400" b="0">
                <a:solidFill>
                  <a:schemeClr val="tx1"/>
                </a:solidFill>
              </a:rPr>
              <a:t>The runtime reissues a failed tool call once, because a transient failure is not evidence about the plan.</a:t>
            </a:r>
          </a:p>
          <a:p>
            <a:pPr marL="400050" indent="-285750">
              <a:spcBef>
                <a:spcPts val="600"/>
              </a:spcBef>
              <a:spcAft>
                <a:spcPts val="600"/>
              </a:spcAft>
              <a:buClr>
                <a:srgbClr val="28285E"/>
              </a:buClr>
              <a:buSzPts val="1260"/>
              <a:buFont typeface="+mn-lt"/>
              <a:buChar char="●"/>
            </a:pPr>
            <a:r>
              <a:rPr sz="1400" b="1">
                <a:solidFill>
                  <a:schemeClr val="tx1"/>
                </a:solidFill>
              </a:rPr>
              <a:t>The revision is the model's proposal. </a:t>
            </a:r>
            <a:r>
              <a:rPr sz="1400" b="0">
                <a:solidFill>
                  <a:schemeClr val="tx1"/>
                </a:solidFill>
              </a:rPr>
              <a:t>The runtime records it and merges it into </a:t>
            </a:r>
            <a:r>
              <a:rPr sz="1400" b="0">
                <a:latin typeface="Maple Mono NF"/>
              </a:rPr>
              <a:t>plan</a:t>
            </a:r>
            <a:r>
              <a:rPr sz="1400" b="0">
                <a:solidFill>
                  <a:schemeClr val="tx1"/>
                </a:solidFill>
              </a:rPr>
              <a:t>.</a:t>
            </a:r>
          </a:p>
          <a:p>
            <a:pPr marL="400050" indent="-285750">
              <a:spcBef>
                <a:spcPts val="600"/>
              </a:spcBef>
              <a:spcAft>
                <a:spcPts val="600"/>
              </a:spcAft>
              <a:buClr>
                <a:srgbClr val="28285E"/>
              </a:buClr>
              <a:buSzPts val="1260"/>
              <a:buFont typeface="+mn-lt"/>
              <a:buChar char="●"/>
            </a:pPr>
            <a:r>
              <a:rPr sz="1400" b="1">
                <a:solidFill>
                  <a:schemeClr val="tx1"/>
                </a:solidFill>
              </a:rPr>
              <a:t>The new attempt is ours. </a:t>
            </a:r>
            <a:r>
              <a:rPr sz="1400" b="0">
                <a:solidFill>
                  <a:schemeClr val="tx1"/>
                </a:solidFill>
              </a:rPr>
              <a:t>It is a comparison on the attempt counter.</a:t>
            </a:r>
          </a:p>
        </p:txBody>
      </p:sp>
      <p:sp>
        <p:nvSpPr>
          <p:cNvPr id="4" name="Rectangle 3"/>
          <p:cNvSpPr/>
          <p:nvPr/>
        </p:nvSpPr>
        <p:spPr>
          <a:xfrm>
            <a:off x="319251" y="28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A limit that the model can talk its way past is not a limit.</a:t>
            </a:r>
          </a:p>
        </p:txBody>
      </p:sp>
      <p:sp>
        <p:nvSpPr>
          <p:cNvPr id="5" name="Rectangle 4"/>
          <p:cNvSpPr/>
          <p:nvPr/>
        </p:nvSpPr>
        <p:spPr>
          <a:xfrm>
            <a:off x="319251" y="370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retry before the upper edge costs no model call.</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Three limits the runtime checks</a:t>
            </a:r>
          </a:p>
        </p:txBody>
      </p:sp>
      <p:sp>
        <p:nvSpPr>
          <p:cNvPr id="3" name="Content Placeholder 2"/>
          <p:cNvSpPr>
            <a:spLocks noGrp="1"/>
          </p:cNvSpPr>
          <p:nvPr>
            <p:ph idx="1"/>
          </p:nvPr>
        </p:nvSpPr>
        <p:spPr>
          <a:xfrm>
            <a:off x="319251" y="700000"/>
            <a:ext cx="6014545" cy="2200000"/>
          </a:xfrm>
        </p:spPr>
        <p:txBody>
          <a:bodyPr wrap="square" anchor="ctr">
            <a:normAutofit fontScale="92500" lnSpcReduction="20000"/>
          </a:bodyPr>
          <a:lstStyle/>
          <a:p>
            <a:pPr marL="0" indent="0">
              <a:buNone/>
            </a:pPr>
            <a:r>
              <a:rPr sz="1400" b="1">
                <a:solidFill>
                  <a:srgbClr val="28285E"/>
                </a:solidFill>
              </a:rPr>
              <a:t>An acceptance condition says when a loop may stop. It does not establish that it will.</a:t>
            </a:r>
          </a:p>
          <a:p>
            <a:pPr marL="400050" indent="-285750">
              <a:spcBef>
                <a:spcPts val="600"/>
              </a:spcBef>
              <a:spcAft>
                <a:spcPts val="600"/>
              </a:spcAft>
              <a:buClr>
                <a:srgbClr val="28285E"/>
              </a:buClr>
              <a:buSzPts val="1260"/>
              <a:buFont typeface="+mn-lt"/>
              <a:buChar char="●"/>
            </a:pPr>
            <a:r>
              <a:rPr sz="1400" b="1">
                <a:solidFill>
                  <a:schemeClr val="tx1"/>
                </a:solidFill>
              </a:rPr>
              <a:t>The model-call budget. </a:t>
            </a:r>
            <a:r>
              <a:rPr sz="1400" b="0">
                <a:solidFill>
                  <a:schemeClr val="tx1"/>
                </a:solidFill>
              </a:rPr>
              <a:t>Forty per run, checked before the call is issued rather than after.</a:t>
            </a:r>
          </a:p>
          <a:p>
            <a:pPr marL="400050" indent="-285750">
              <a:spcBef>
                <a:spcPts val="600"/>
              </a:spcBef>
              <a:spcAft>
                <a:spcPts val="600"/>
              </a:spcAft>
              <a:buClr>
                <a:srgbClr val="28285E"/>
              </a:buClr>
              <a:buSzPts val="1260"/>
              <a:buFont typeface="+mn-lt"/>
              <a:buChar char="●"/>
            </a:pPr>
            <a:r>
              <a:rPr sz="1400" b="1">
                <a:solidFill>
                  <a:schemeClr val="tx1"/>
                </a:solidFill>
              </a:rPr>
              <a:t>The stall check. </a:t>
            </a:r>
            <a:r>
              <a:rPr sz="1400" b="0">
                <a:solidFill>
                  <a:schemeClr val="tx1"/>
                </a:solidFill>
              </a:rPr>
              <a:t>Three consecutive observations with identical results end the run.</a:t>
            </a:r>
          </a:p>
          <a:p>
            <a:pPr marL="400050" indent="-285750">
              <a:spcBef>
                <a:spcPts val="600"/>
              </a:spcBef>
              <a:spcAft>
                <a:spcPts val="600"/>
              </a:spcAft>
              <a:buClr>
                <a:srgbClr val="28285E"/>
              </a:buClr>
              <a:buSzPts val="1260"/>
              <a:buFont typeface="+mn-lt"/>
              <a:buChar char="●"/>
            </a:pPr>
            <a:r>
              <a:rPr sz="1400" b="1">
                <a:solidFill>
                  <a:schemeClr val="tx1"/>
                </a:solidFill>
              </a:rPr>
              <a:t>The attempt limit. </a:t>
            </a:r>
            <a:r>
              <a:rPr sz="1400" b="0">
                <a:solidFill>
                  <a:schemeClr val="tx1"/>
                </a:solidFill>
              </a:rPr>
              <a:t>Two attempts, counted in a field that survives the reflection reset.</a:t>
            </a:r>
          </a:p>
        </p:txBody>
      </p:sp>
      <p:sp>
        <p:nvSpPr>
          <p:cNvPr id="4" name="Rectangle 3"/>
          <p:cNvSpPr/>
          <p:nvPr/>
        </p:nvSpPr>
        <p:spPr>
          <a:xfrm>
            <a:off x="319251" y="301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All three are comparisons the runtime performs on fields it owns.</a:t>
            </a:r>
          </a:p>
        </p:txBody>
      </p:sp>
      <p:sp>
        <p:nvSpPr>
          <p:cNvPr id="5" name="Rectangle 4"/>
          <p:cNvSpPr/>
          <p:nvPr/>
        </p:nvSpPr>
        <p:spPr>
          <a:xfrm>
            <a:off x="319251" y="38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framework's recursion limit sits underneath, as a failsafe on wiring.</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five terminal statuses</a:t>
            </a:r>
          </a:p>
        </p:txBody>
      </p:sp>
      <p:sp>
        <p:nvSpPr>
          <p:cNvPr id="3" name="Content Placeholder 2"/>
          <p:cNvSpPr>
            <a:spLocks noGrp="1"/>
          </p:cNvSpPr>
          <p:nvPr>
            <p:ph idx="1"/>
          </p:nvPr>
        </p:nvSpPr>
        <p:spPr>
          <a:xfrm>
            <a:off x="319251" y="700000"/>
            <a:ext cx="6014545" cy="1780000"/>
          </a:xfrm>
        </p:spPr>
        <p:txBody>
          <a:bodyPr wrap="square" anchor="ctr">
            <a:normAutofit fontScale="85000" lnSpcReduction="10000"/>
          </a:bodyPr>
          <a:lstStyle/>
          <a:p>
            <a:pPr marL="0" indent="0">
              <a:buNone/>
            </a:pPr>
            <a:r>
              <a:rPr sz="1400" b="1">
                <a:solidFill>
                  <a:srgbClr val="28285E"/>
                </a:solidFill>
              </a:rPr>
              <a:t>The vocabulary is closed on purpose.</a:t>
            </a:r>
          </a:p>
          <a:p>
            <a:pPr marL="400050" indent="-285750">
              <a:spcBef>
                <a:spcPts val="600"/>
              </a:spcBef>
              <a:spcAft>
                <a:spcPts val="600"/>
              </a:spcAft>
              <a:buClr>
                <a:srgbClr val="28285E"/>
              </a:buClr>
              <a:buSzPts val="1260"/>
              <a:buFont typeface="+mn-lt"/>
              <a:buChar char="●"/>
            </a:pPr>
            <a:r>
              <a:rPr sz="1400" b="1">
                <a:solidFill>
                  <a:schemeClr val="tx1"/>
                </a:solidFill>
              </a:rPr>
              <a:t>Set by the loop. </a:t>
            </a:r>
            <a:r>
              <a:rPr sz="1400" b="0">
                <a:latin typeface="Maple Mono NF"/>
              </a:rPr>
              <a:t>accepted</a:t>
            </a:r>
            <a:r>
              <a:rPr sz="1400" b="0">
                <a:solidFill>
                  <a:schemeClr val="tx1"/>
                </a:solidFill>
              </a:rPr>
              <a:t>, </a:t>
            </a:r>
            <a:r>
              <a:rPr sz="1400" b="0">
                <a:latin typeface="Maple Mono NF"/>
              </a:rPr>
              <a:t>budget_exhausted</a:t>
            </a:r>
            <a:r>
              <a:rPr sz="1400" b="0">
                <a:solidFill>
                  <a:schemeClr val="tx1"/>
                </a:solidFill>
              </a:rPr>
              <a:t>, </a:t>
            </a:r>
            <a:r>
              <a:rPr sz="1400" b="0">
                <a:latin typeface="Maple Mono NF"/>
              </a:rPr>
              <a:t>no_progress</a:t>
            </a:r>
            <a:r>
              <a:rPr sz="1400" b="0">
                <a:solidFill>
                  <a:schemeClr val="tx1"/>
                </a:solidFill>
              </a:rPr>
              <a:t> and </a:t>
            </a:r>
            <a:r>
              <a:rPr sz="1400" b="0">
                <a:latin typeface="Maple Mono NF"/>
              </a:rPr>
              <a:t>error</a:t>
            </a:r>
            <a:r>
              <a:rPr sz="1400" b="0">
                <a:solidFill>
                  <a:schemeClr val="tx1"/>
                </a:solidFill>
              </a:rPr>
              <a:t>.</a:t>
            </a:r>
          </a:p>
          <a:p>
            <a:pPr marL="400050" indent="-285750">
              <a:spcBef>
                <a:spcPts val="600"/>
              </a:spcBef>
              <a:spcAft>
                <a:spcPts val="600"/>
              </a:spcAft>
              <a:buClr>
                <a:srgbClr val="28285E"/>
              </a:buClr>
              <a:buSzPts val="1260"/>
              <a:buFont typeface="+mn-lt"/>
              <a:buChar char="●"/>
            </a:pPr>
            <a:r>
              <a:rPr sz="1400" b="1">
                <a:solidFill>
                  <a:schemeClr val="tx1"/>
                </a:solidFill>
              </a:rPr>
              <a:t>Arrives with the attempt limit. </a:t>
            </a:r>
            <a:r>
              <a:rPr sz="1400" b="1">
                <a:solidFill>
                  <a:schemeClr val="accent4"/>
                </a:solidFill>
              </a:rPr>
              <a:t>unresolved</a:t>
            </a:r>
            <a:r>
              <a:rPr sz="1400" b="0">
                <a:solidFill>
                  <a:schemeClr val="tx1"/>
                </a:solidFill>
              </a:rPr>
              <a:t>.</a:t>
            </a:r>
          </a:p>
          <a:p>
            <a:pPr marL="400050" indent="-285750">
              <a:spcBef>
                <a:spcPts val="600"/>
              </a:spcBef>
              <a:spcAft>
                <a:spcPts val="600"/>
              </a:spcAft>
              <a:buClr>
                <a:srgbClr val="28285E"/>
              </a:buClr>
              <a:buSzPts val="1260"/>
              <a:buFont typeface="+mn-lt"/>
              <a:buChar char="●"/>
            </a:pPr>
            <a:r>
              <a:rPr sz="1400" b="1">
                <a:solidFill>
                  <a:schemeClr val="tx1"/>
                </a:solidFill>
              </a:rPr>
              <a:t>The trace writer refuses both mistakes. </a:t>
            </a:r>
            <a:r>
              <a:rPr sz="1400" b="0">
                <a:solidFill>
                  <a:schemeClr val="tx1"/>
                </a:solidFill>
              </a:rPr>
              <a:t>A status outside the set, and a trace closed with no terminal event.</a:t>
            </a:r>
          </a:p>
        </p:txBody>
      </p:sp>
      <p:sp>
        <p:nvSpPr>
          <p:cNvPr id="4" name="Rectangle 3"/>
          <p:cNvSpPr/>
          <p:nvPr/>
        </p:nvSpPr>
        <p:spPr>
          <a:xfrm>
            <a:off x="319251" y="2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A run that never said how it ended is a defect in our instrumentation rather than an outcome we can report.</a:t>
            </a:r>
          </a:p>
        </p:txBody>
      </p:sp>
      <p:sp>
        <p:nvSpPr>
          <p:cNvPr id="5" name="Rectangle 4"/>
          <p:cNvSpPr/>
          <p:nvPr/>
        </p:nvSpPr>
        <p:spPr>
          <a:xfrm>
            <a:off x="319251" y="355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Reaching END establishes only that the graph stopped.</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a trace lets you conclude</a:t>
            </a:r>
          </a:p>
        </p:txBody>
      </p:sp>
      <p:graphicFrame>
        <p:nvGraphicFramePr>
          <p:cNvPr id="3" name="Table 2"/>
          <p:cNvGraphicFramePr>
            <a:graphicFrameLocks noGrp="1"/>
          </p:cNvGraphicFramePr>
          <p:nvPr/>
        </p:nvGraphicFramePr>
        <p:xfrm>
          <a:off x="319251" y="1491615"/>
          <a:ext cx="6014545" cy="1865910"/>
        </p:xfrm>
        <a:graphic>
          <a:graphicData uri="http://schemas.openxmlformats.org/drawingml/2006/table">
            <a:tbl>
              <a:tblPr firstRow="1" bandRow="1">
                <a:tableStyleId>{5C22544A-7EE6-4342-B048-85BDC9FD1C3A}</a:tableStyleId>
              </a:tblPr>
              <a:tblGrid>
                <a:gridCol w="2400000">
                  <a:extLst>
                    <a:ext uri="{9D8B030D-6E8A-4147-A177-3AD203B41FA5}">
                      <a16:colId xmlns:a16="http://schemas.microsoft.com/office/drawing/2014/main" val="20000"/>
                    </a:ext>
                  </a:extLst>
                </a:gridCol>
                <a:gridCol w="3614545">
                  <a:extLst>
                    <a:ext uri="{9D8B030D-6E8A-4147-A177-3AD203B41FA5}">
                      <a16:colId xmlns:a16="http://schemas.microsoft.com/office/drawing/2014/main" val="20001"/>
                    </a:ext>
                  </a:extLst>
                </a:gridCol>
              </a:tblGrid>
              <a:tr h="300000">
                <a:tc>
                  <a:txBody>
                    <a:bodyPr/>
                    <a:lstStyle/>
                    <a:p>
                      <a:pPr>
                        <a:buNone/>
                      </a:pPr>
                      <a:r>
                        <a:rPr sz="1200" b="1">
                          <a:solidFill>
                            <a:schemeClr val="tx1"/>
                          </a:solidFill>
                        </a:rPr>
                        <a:t>What the trace records</a:t>
                      </a:r>
                    </a:p>
                  </a:txBody>
                  <a:tcPr marL="95250" marR="95250" marT="47625" marB="47625">
                    <a:lnB w="12700" cap="flat" cmpd="sng" algn="ctr">
                      <a:solidFill>
                        <a:schemeClr val="tx1"/>
                      </a:solidFill>
                    </a:lnB>
                    <a:noFill/>
                  </a:tcPr>
                </a:tc>
                <a:tc>
                  <a:txBody>
                    <a:bodyPr/>
                    <a:lstStyle/>
                    <a:p>
                      <a:pPr>
                        <a:buNone/>
                      </a:pPr>
                      <a:r>
                        <a:rPr sz="1200" b="1">
                          <a:solidFill>
                            <a:schemeClr val="tx1"/>
                          </a:solidFill>
                        </a:rPr>
                        <a:t>What it supports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buNone/>
                      </a:pPr>
                      <a:r>
                        <a:rPr sz="1200" b="1">
                          <a:solidFill>
                            <a:srgbClr val="28285E"/>
                          </a:solidFill>
                        </a:rPr>
                        <a:t>A verdict, then a terminal event with status accepted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200" b="0">
                          <a:solidFill>
                            <a:schemeClr val="tx1"/>
                          </a:solidFill>
                        </a:rPr>
                        <a:t>A completed assessment under the runtime's acceptance rules, whose quality is a separate question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buNone/>
                      </a:pPr>
                      <a:r>
                        <a:rPr sz="1200" b="1">
                          <a:solidFill>
                            <a:srgbClr val="28285E"/>
                          </a:solidFill>
                        </a:rPr>
                        <a:t>A terminal event with a stop status and its reason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200" b="0">
                          <a:solidFill>
                            <a:schemeClr val="tx1"/>
                          </a:solidFill>
                        </a:rPr>
                        <a:t>A declared end to execution, with whatever partial evidence the run had gathered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buNone/>
                      </a:pPr>
                      <a:r>
                        <a:rPr sz="1200" b="1">
                          <a:solidFill>
                            <a:srgbClr val="28285E"/>
                          </a:solidFill>
                        </a:rPr>
                        <a:t>No terminal event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200" b="0">
                          <a:solidFill>
                            <a:schemeClr val="tx1"/>
                          </a:solidFill>
                        </a:rPr>
                        <a:t>Completion has not been established by this record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4" name="Rectangle 3"/>
          <p:cNvSpPr/>
          <p:nvPr/>
        </p:nvSpPr>
        <p:spPr>
          <a:xfrm>
            <a:off x="1888761" y="3600000"/>
            <a:ext cx="4445035" cy="54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tx2"/>
                </a:solidFill>
              </a:rPr>
              <a:t>The third is a statement about the evidence. Treating it as an </a:t>
            </a:r>
            <a:r>
              <a:rPr sz="1200" b="1">
                <a:solidFill>
                  <a:schemeClr val="tx2"/>
                </a:solidFill>
              </a:rPr>
              <a:t>error</a:t>
            </a:r>
            <a:r>
              <a:rPr sz="1200" b="0">
                <a:solidFill>
                  <a:schemeClr val="tx2"/>
                </a:solidFill>
              </a:rPr>
              <a:t> attributes a cause the record does not carry.</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Three endings, in the recorded runs</a:t>
            </a:r>
          </a:p>
        </p:txBody>
      </p:sp>
      <p:sp>
        <p:nvSpPr>
          <p:cNvPr id="3" name="Content Placeholder 2"/>
          <p:cNvSpPr>
            <a:spLocks noGrp="1"/>
          </p:cNvSpPr>
          <p:nvPr>
            <p:ph idx="1"/>
          </p:nvPr>
        </p:nvSpPr>
        <p:spPr>
          <a:xfrm>
            <a:off x="319251" y="700000"/>
            <a:ext cx="6014545" cy="2010000"/>
          </a:xfrm>
        </p:spPr>
        <p:txBody>
          <a:bodyPr wrap="square" anchor="ctr">
            <a:normAutofit fontScale="92500" lnSpcReduction="20000"/>
          </a:bodyPr>
          <a:lstStyle/>
          <a:p>
            <a:pPr marL="0" indent="0">
              <a:buNone/>
            </a:pPr>
            <a:r>
              <a:rPr sz="1400" b="1">
                <a:solidFill>
                  <a:srgbClr val="28285E"/>
                </a:solidFill>
              </a:rPr>
              <a:t>The difference between them is where the last event sits.</a:t>
            </a:r>
          </a:p>
          <a:p>
            <a:pPr marL="400050" indent="-285750">
              <a:spcBef>
                <a:spcPts val="600"/>
              </a:spcBef>
              <a:spcAft>
                <a:spcPts val="600"/>
              </a:spcAft>
              <a:buClr>
                <a:srgbClr val="28285E"/>
              </a:buClr>
              <a:buSzPts val="1260"/>
              <a:buFont typeface="+mn-lt"/>
              <a:buChar char="●"/>
            </a:pPr>
            <a:r>
              <a:rPr sz="1400" b="1">
                <a:solidFill>
                  <a:schemeClr val="tx1"/>
                </a:solidFill>
              </a:rPr>
              <a:t>Accepted. </a:t>
            </a:r>
            <a:r>
              <a:rPr sz="1400" b="0">
                <a:solidFill>
                  <a:schemeClr val="tx1"/>
                </a:solidFill>
              </a:rPr>
              <a:t>Event seventeen is a terminal record with the usage totals, written after submit reported three passing checks.</a:t>
            </a:r>
          </a:p>
          <a:p>
            <a:pPr marL="400050" indent="-285750">
              <a:spcBef>
                <a:spcPts val="600"/>
              </a:spcBef>
              <a:spcAft>
                <a:spcPts val="600"/>
              </a:spcAft>
              <a:buClr>
                <a:srgbClr val="28285E"/>
              </a:buClr>
              <a:buSzPts val="1260"/>
              <a:buFont typeface="+mn-lt"/>
              <a:buChar char="●"/>
            </a:pPr>
            <a:r>
              <a:rPr sz="1400" b="1">
                <a:solidFill>
                  <a:schemeClr val="tx1"/>
                </a:solidFill>
              </a:rPr>
              <a:t>Budget exhausted. </a:t>
            </a:r>
            <a:r>
              <a:rPr sz="1400" b="0">
                <a:solidFill>
                  <a:schemeClr val="tx1"/>
                </a:solidFill>
              </a:rPr>
              <a:t>The check fires before the call, so no fifth model call sits between the routing event and the terminal one.</a:t>
            </a:r>
          </a:p>
          <a:p>
            <a:pPr marL="400050" indent="-285750">
              <a:spcBef>
                <a:spcPts val="600"/>
              </a:spcBef>
              <a:spcAft>
                <a:spcPts val="600"/>
              </a:spcAft>
              <a:buClr>
                <a:srgbClr val="28285E"/>
              </a:buClr>
              <a:buSzPts val="1260"/>
              <a:buFont typeface="+mn-lt"/>
              <a:buChar char="●"/>
            </a:pPr>
            <a:r>
              <a:rPr sz="1400" b="1">
                <a:solidFill>
                  <a:schemeClr val="tx1"/>
                </a:solidFill>
              </a:rPr>
              <a:t>No ending observed. </a:t>
            </a:r>
            <a:r>
              <a:rPr sz="1400" b="0">
                <a:solidFill>
                  <a:schemeClr val="tx1"/>
                </a:solidFill>
              </a:rPr>
              <a:t>Interrupt between a tool result and the next model call: every event is valid and no terminal record arrives.</a:t>
            </a:r>
          </a:p>
        </p:txBody>
      </p:sp>
      <p:sp>
        <p:nvSpPr>
          <p:cNvPr id="4" name="Rectangle 3"/>
          <p:cNvSpPr/>
          <p:nvPr/>
        </p:nvSpPr>
        <p:spPr>
          <a:xfrm>
            <a:off x="319251" y="287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What we may not say is which ending would have arrived.</a:t>
            </a:r>
          </a:p>
        </p:txBody>
      </p:sp>
      <p:sp>
        <p:nvSpPr>
          <p:cNvPr id="5" name="Rectangle 4"/>
          <p:cNvSpPr/>
          <p:nvPr/>
        </p:nvSpPr>
        <p:spPr>
          <a:xfrm>
            <a:off x="319251" y="37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An excerpt used in teaching is worth marking with how it was produced.</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a tool contract contains</a:t>
            </a:r>
          </a:p>
        </p:txBody>
      </p:sp>
      <p:sp>
        <p:nvSpPr>
          <p:cNvPr id="3" name="Content Placeholder 2"/>
          <p:cNvSpPr>
            <a:spLocks noGrp="1"/>
          </p:cNvSpPr>
          <p:nvPr>
            <p:ph idx="1"/>
          </p:nvPr>
        </p:nvSpPr>
        <p:spPr>
          <a:xfrm>
            <a:off x="319251" y="700000"/>
            <a:ext cx="6014545" cy="1850000"/>
          </a:xfrm>
        </p:spPr>
        <p:txBody>
          <a:bodyPr wrap="square" anchor="ctr">
            <a:normAutofit fontScale="92500" lnSpcReduction="20000"/>
          </a:bodyPr>
          <a:lstStyle/>
          <a:p>
            <a:pPr marL="0" indent="0">
              <a:buNone/>
            </a:pPr>
            <a:r>
              <a:rPr sz="1400" b="1">
                <a:solidFill>
                  <a:srgbClr val="28285E"/>
                </a:solidFill>
              </a:rPr>
              <a:t>A tool has two faces, and only one of them is visible to the model.</a:t>
            </a:r>
          </a:p>
          <a:p>
            <a:pPr marL="400050" indent="-285750">
              <a:spcBef>
                <a:spcPts val="600"/>
              </a:spcBef>
              <a:spcAft>
                <a:spcPts val="600"/>
              </a:spcAft>
              <a:buClr>
                <a:srgbClr val="28285E"/>
              </a:buClr>
              <a:buSzPts val="1260"/>
              <a:buFont typeface="+mn-lt"/>
              <a:buChar char="●"/>
            </a:pPr>
            <a:r>
              <a:rPr sz="1400" b="1">
                <a:solidFill>
                  <a:schemeClr val="tx1"/>
                </a:solidFill>
              </a:rPr>
              <a:t>The model reads </a:t>
            </a:r>
            <a:r>
              <a:rPr sz="1400" b="0">
                <a:solidFill>
                  <a:schemeClr val="tx1"/>
                </a:solidFill>
              </a:rPr>
              <a:t>a name, a description, and an argument schema.</a:t>
            </a:r>
          </a:p>
          <a:p>
            <a:pPr marL="400050" indent="-285750">
              <a:spcBef>
                <a:spcPts val="600"/>
              </a:spcBef>
              <a:spcAft>
                <a:spcPts val="600"/>
              </a:spcAft>
              <a:buClr>
                <a:srgbClr val="28285E"/>
              </a:buClr>
              <a:buSzPts val="1260"/>
              <a:buFont typeface="+mn-lt"/>
              <a:buChar char="●"/>
            </a:pPr>
            <a:r>
              <a:rPr sz="1400" b="1">
                <a:solidFill>
                  <a:schemeClr val="tx1"/>
                </a:solidFill>
              </a:rPr>
              <a:t>The runtime holds </a:t>
            </a:r>
            <a:r>
              <a:rPr sz="1400" b="0">
                <a:solidFill>
                  <a:schemeClr val="tx1"/>
                </a:solidFill>
              </a:rPr>
              <a:t>the result type, the side-effect class, and the constraints on where the tool may operate.</a:t>
            </a:r>
          </a:p>
          <a:p>
            <a:pPr marL="400050" indent="-285750">
              <a:spcBef>
                <a:spcPts val="600"/>
              </a:spcBef>
              <a:spcAft>
                <a:spcPts val="600"/>
              </a:spcAft>
              <a:buClr>
                <a:srgbClr val="28285E"/>
              </a:buClr>
              <a:buSzPts val="1260"/>
              <a:buFont typeface="+mn-lt"/>
              <a:buChar char="●"/>
            </a:pPr>
            <a:r>
              <a:rPr sz="1400" b="1">
                <a:solidFill>
                  <a:schemeClr val="tx1"/>
                </a:solidFill>
              </a:rPr>
              <a:t>Calling the first face the tool </a:t>
            </a:r>
            <a:r>
              <a:rPr sz="1400" b="0">
                <a:solidFill>
                  <a:schemeClr val="tx1"/>
                </a:solidFill>
              </a:rPr>
              <a:t>is the mistake this section exists to prevent.</a:t>
            </a:r>
          </a:p>
        </p:txBody>
      </p:sp>
      <p:sp>
        <p:nvSpPr>
          <p:cNvPr id="4" name="Rectangle 3"/>
          <p:cNvSpPr/>
          <p:nvPr/>
        </p:nvSpPr>
        <p:spPr>
          <a:xfrm>
            <a:off x="319251" y="27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A tool contract is the complete specification of one tool, and it has five parts.</a:t>
            </a:r>
          </a:p>
        </p:txBody>
      </p:sp>
      <p:sp>
        <p:nvSpPr>
          <p:cNvPr id="5" name="Rectangle 4"/>
          <p:cNvSpPr/>
          <p:nvPr/>
        </p:nvSpPr>
        <p:spPr>
          <a:xfrm>
            <a:off x="319251" y="36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Two of the five reach the model. Three are properties of the implementation.</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One request through the dispatcher</a:t>
            </a:r>
          </a:p>
        </p:txBody>
      </p:sp>
      <p:pic>
        <p:nvPicPr>
          <p:cNvPr id="3" name="Picture 2" descr="dispatch-cycle-deck.png"/>
          <p:cNvPicPr>
            <a:picLocks noChangeAspect="1"/>
          </p:cNvPicPr>
          <p:nvPr/>
        </p:nvPicPr>
        <p:blipFill>
          <a:blip r:embed="rId3"/>
          <a:stretch>
            <a:fillRect/>
          </a:stretch>
        </p:blipFill>
        <p:spPr>
          <a:xfrm>
            <a:off x="250147" y="900000"/>
            <a:ext cx="6152752" cy="1817349"/>
          </a:xfrm>
          <a:prstGeom prst="rect">
            <a:avLst/>
          </a:prstGeom>
        </p:spPr>
      </p:pic>
      <p:sp>
        <p:nvSpPr>
          <p:cNvPr id="4" name="Rectangle 3"/>
          <p:cNvSpPr/>
          <p:nvPr/>
        </p:nvSpPr>
        <p:spPr>
          <a:xfrm>
            <a:off x="319251" y="315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Every path produces an observation, which is what lets a run continue after a refusal.</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Five operations, each able to stop</a:t>
            </a:r>
          </a:p>
        </p:txBody>
      </p:sp>
      <p:sp>
        <p:nvSpPr>
          <p:cNvPr id="3" name="Content Placeholder 2"/>
          <p:cNvSpPr>
            <a:spLocks noGrp="1"/>
          </p:cNvSpPr>
          <p:nvPr>
            <p:ph idx="1"/>
          </p:nvPr>
        </p:nvSpPr>
        <p:spPr>
          <a:xfrm>
            <a:off x="319251" y="700000"/>
            <a:ext cx="6014545" cy="2620000"/>
          </a:xfrm>
        </p:spPr>
        <p:txBody>
          <a:bodyPr wrap="square" anchor="ctr">
            <a:normAutofit fontScale="92500" lnSpcReduction="20000"/>
          </a:bodyPr>
          <a:lstStyle/>
          <a:p>
            <a:pPr marL="0" indent="0">
              <a:buNone/>
            </a:pPr>
            <a:r>
              <a:rPr sz="1400" b="1">
                <a:solidFill>
                  <a:srgbClr val="28285E"/>
                </a:solidFill>
              </a:rPr>
              <a:t>Between a model's request and a result, five things happen.</a:t>
            </a:r>
          </a:p>
          <a:p>
            <a:pPr marL="400050" indent="-285750">
              <a:spcBef>
                <a:spcPts val="600"/>
              </a:spcBef>
              <a:spcAft>
                <a:spcPts val="600"/>
              </a:spcAft>
              <a:buClr>
                <a:srgbClr val="28285E"/>
              </a:buClr>
              <a:buSzPts val="1260"/>
              <a:buFont typeface="+mn-lt"/>
              <a:buChar char="●"/>
            </a:pPr>
            <a:r>
              <a:rPr sz="1400" b="1">
                <a:solidFill>
                  <a:schemeClr val="tx1"/>
                </a:solidFill>
              </a:rPr>
              <a:t>Resolve the name. </a:t>
            </a:r>
            <a:r>
              <a:rPr sz="1400" b="0">
                <a:solidFill>
                  <a:schemeClr val="tx1"/>
                </a:solidFill>
              </a:rPr>
              <a:t>A request naming a tool outside the registry is refused, and the refusal names the tools that do exist.</a:t>
            </a:r>
          </a:p>
          <a:p>
            <a:pPr marL="400050" indent="-285750">
              <a:spcBef>
                <a:spcPts val="600"/>
              </a:spcBef>
              <a:spcAft>
                <a:spcPts val="600"/>
              </a:spcAft>
              <a:buClr>
                <a:srgbClr val="28285E"/>
              </a:buClr>
              <a:buSzPts val="1260"/>
              <a:buFont typeface="+mn-lt"/>
              <a:buChar char="●"/>
            </a:pPr>
            <a:r>
              <a:rPr sz="1400" b="1">
                <a:solidFill>
                  <a:schemeClr val="tx1"/>
                </a:solidFill>
              </a:rPr>
              <a:t>Bind the arguments. </a:t>
            </a:r>
            <a:r>
              <a:rPr sz="1400" b="0">
                <a:solidFill>
                  <a:schemeClr val="tx1"/>
                </a:solidFill>
              </a:rPr>
              <a:t>Binding checks names and arity, so a wrong argument name becomes a readable refusal.</a:t>
            </a:r>
          </a:p>
          <a:p>
            <a:pPr marL="400050" indent="-285750">
              <a:spcBef>
                <a:spcPts val="600"/>
              </a:spcBef>
              <a:spcAft>
                <a:spcPts val="600"/>
              </a:spcAft>
              <a:buClr>
                <a:srgbClr val="28285E"/>
              </a:buClr>
              <a:buSzPts val="1260"/>
              <a:buFont typeface="+mn-lt"/>
              <a:buChar char="●"/>
            </a:pPr>
            <a:r>
              <a:rPr sz="1400" b="1">
                <a:solidFill>
                  <a:schemeClr val="tx1"/>
                </a:solidFill>
              </a:rPr>
              <a:t>Check the policy. </a:t>
            </a:r>
            <a:r>
              <a:rPr sz="1400" b="0">
                <a:solidFill>
                  <a:schemeClr val="tx1"/>
                </a:solidFill>
              </a:rPr>
              <a:t>Every path argument is resolved inside the workspace root before any file is opened.</a:t>
            </a:r>
          </a:p>
          <a:p>
            <a:pPr marL="400050" indent="-285750">
              <a:spcBef>
                <a:spcPts val="600"/>
              </a:spcBef>
              <a:spcAft>
                <a:spcPts val="600"/>
              </a:spcAft>
              <a:buClr>
                <a:srgbClr val="28285E"/>
              </a:buClr>
              <a:buSzPts val="1260"/>
              <a:buFont typeface="+mn-lt"/>
              <a:buChar char="●"/>
            </a:pPr>
            <a:r>
              <a:rPr sz="1400" b="1">
                <a:solidFill>
                  <a:schemeClr val="tx1"/>
                </a:solidFill>
              </a:rPr>
              <a:t>Execute, then observe. </a:t>
            </a:r>
            <a:r>
              <a:rPr sz="1400" b="0">
                <a:solidFill>
                  <a:schemeClr val="tx1"/>
                </a:solidFill>
              </a:rPr>
              <a:t>Success and failure alike become an observation and a </a:t>
            </a:r>
            <a:r>
              <a:rPr sz="1400" b="0">
                <a:latin typeface="Maple Mono NF"/>
              </a:rPr>
              <a:t>tool_result</a:t>
            </a:r>
            <a:r>
              <a:rPr sz="1400" b="0">
                <a:solidFill>
                  <a:schemeClr val="tx1"/>
                </a:solidFill>
              </a:rPr>
              <a:t> event.</a:t>
            </a:r>
          </a:p>
        </p:txBody>
      </p:sp>
      <p:sp>
        <p:nvSpPr>
          <p:cNvPr id="4" name="Rectangle 3"/>
          <p:cNvSpPr/>
          <p:nvPr/>
        </p:nvSpPr>
        <p:spPr>
          <a:xfrm>
            <a:off x="319251" y="351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The registry is built from the tool enumeration, so there is one list and no way to advertise a tool without registering it.</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a refusal is an observation</a:t>
            </a:r>
          </a:p>
        </p:txBody>
      </p:sp>
      <p:sp>
        <p:nvSpPr>
          <p:cNvPr id="3" name="Content Placeholder 2"/>
          <p:cNvSpPr>
            <a:spLocks noGrp="1"/>
          </p:cNvSpPr>
          <p:nvPr>
            <p:ph idx="1"/>
          </p:nvPr>
        </p:nvSpPr>
        <p:spPr>
          <a:xfrm>
            <a:off x="319251" y="700000"/>
            <a:ext cx="6014545" cy="2000000"/>
          </a:xfrm>
        </p:spPr>
        <p:txBody>
          <a:bodyPr wrap="square" anchor="ctr">
            <a:normAutofit fontScale="92500" lnSpcReduction="20000"/>
          </a:bodyPr>
          <a:lstStyle/>
          <a:p>
            <a:pPr marL="0" indent="0">
              <a:buNone/>
            </a:pPr>
            <a:r>
              <a:rPr sz="1400" b="1">
                <a:solidFill>
                  <a:srgbClr val="28285E"/>
                </a:solidFill>
              </a:rPr>
              <a:t>A refused request and a permitted call that fails have the same shape.</a:t>
            </a:r>
          </a:p>
          <a:p>
            <a:pPr marL="400050" indent="-285750">
              <a:spcBef>
                <a:spcPts val="600"/>
              </a:spcBef>
              <a:spcAft>
                <a:spcPts val="600"/>
              </a:spcAft>
              <a:buClr>
                <a:srgbClr val="28285E"/>
              </a:buClr>
              <a:buSzPts val="1260"/>
              <a:buFont typeface="+mn-lt"/>
              <a:buChar char="●"/>
            </a:pPr>
            <a:r>
              <a:rPr sz="1400" b="1">
                <a:solidFill>
                  <a:schemeClr val="tx1"/>
                </a:solidFill>
              </a:rPr>
              <a:t>An exception ends the run. </a:t>
            </a:r>
            <a:r>
              <a:rPr sz="1400" b="0">
                <a:solidFill>
                  <a:schemeClr val="tx1"/>
                </a:solidFill>
              </a:rPr>
              <a:t>It stays for the genuinely unrecoverable, such as a trace that cannot be written.</a:t>
            </a:r>
          </a:p>
          <a:p>
            <a:pPr marL="400050" indent="-285750">
              <a:spcBef>
                <a:spcPts val="600"/>
              </a:spcBef>
              <a:spcAft>
                <a:spcPts val="600"/>
              </a:spcAft>
              <a:buClr>
                <a:srgbClr val="28285E"/>
              </a:buClr>
              <a:buSzPts val="1260"/>
              <a:buFont typeface="+mn-lt"/>
              <a:buChar char="●"/>
            </a:pPr>
            <a:r>
              <a:rPr sz="1400" b="1">
                <a:solidFill>
                  <a:schemeClr val="tx1"/>
                </a:solidFill>
              </a:rPr>
              <a:t>An observation goes back to the model, </a:t>
            </a:r>
            <a:r>
              <a:rPr sz="1400" b="0">
                <a:solidFill>
                  <a:schemeClr val="tx1"/>
                </a:solidFill>
              </a:rPr>
              <a:t>which reads what went wrong and chooses again.</a:t>
            </a:r>
          </a:p>
          <a:p>
            <a:pPr marL="400050" indent="-285750">
              <a:spcBef>
                <a:spcPts val="600"/>
              </a:spcBef>
              <a:spcAft>
                <a:spcPts val="600"/>
              </a:spcAft>
              <a:buClr>
                <a:srgbClr val="28285E"/>
              </a:buClr>
              <a:buSzPts val="1260"/>
              <a:buFont typeface="+mn-lt"/>
              <a:buChar char="●"/>
            </a:pPr>
            <a:r>
              <a:rPr sz="1400" b="1">
                <a:solidFill>
                  <a:schemeClr val="tx1"/>
                </a:solidFill>
              </a:rPr>
              <a:t>When edit refuses an ambiguous target, </a:t>
            </a:r>
            <a:r>
              <a:rPr sz="1400" b="0">
                <a:solidFill>
                  <a:schemeClr val="tx1"/>
                </a:solidFill>
              </a:rPr>
              <a:t>the model retries with more context.</a:t>
            </a:r>
          </a:p>
        </p:txBody>
      </p:sp>
      <p:sp>
        <p:nvSpPr>
          <p:cNvPr id="4" name="Rectangle 3"/>
          <p:cNvSpPr/>
          <p:nvPr/>
        </p:nvSpPr>
        <p:spPr>
          <a:xfrm>
            <a:off x="319251" y="28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A run that raised instead would die on its first imprecise edit.</a:t>
            </a:r>
          </a:p>
        </p:txBody>
      </p:sp>
      <p:sp>
        <p:nvSpPr>
          <p:cNvPr id="5" name="Rectangle 4"/>
          <p:cNvSpPr/>
          <p:nvPr/>
        </p:nvSpPr>
        <p:spPr>
          <a:xfrm>
            <a:off x="319251" y="37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Only one of the two ever reached the implementation.</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config is not a parameter</a:t>
            </a:r>
          </a:p>
        </p:txBody>
      </p:sp>
      <p:sp>
        <p:nvSpPr>
          <p:cNvPr id="3" name="TextBox 2"/>
          <p:cNvSpPr txBox="1"/>
          <p:nvPr/>
        </p:nvSpPr>
        <p:spPr>
          <a:xfrm>
            <a:off x="319251" y="800000"/>
            <a:ext cx="6014545" cy="200000"/>
          </a:xfrm>
          <a:prstGeom prst="rect">
            <a:avLst/>
          </a:prstGeom>
          <a:noFill/>
        </p:spPr>
        <p:txBody>
          <a:bodyPr wrap="none" lIns="0" tIns="0" rIns="0" bIns="0">
            <a:spAutoFit/>
          </a:bodyPr>
          <a:lstStyle/>
          <a:p>
            <a:r>
              <a:rPr sz="1200" b="1">
                <a:solidFill>
                  <a:srgbClr val="28285E"/>
                </a:solidFill>
              </a:rPr>
              <a:t>The dispatcher binds the model's arguments against the signature</a:t>
            </a:r>
          </a:p>
        </p:txBody>
      </p:sp>
      <p:sp>
        <p:nvSpPr>
          <p:cNvPr id="4" name="Rounded Rectangle 3"/>
          <p:cNvSpPr/>
          <p:nvPr/>
        </p:nvSpPr>
        <p:spPr>
          <a:xfrm>
            <a:off x="319251" y="1060000"/>
            <a:ext cx="6014545" cy="125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def read_file(ws: Path, path: str, start: int | None = None,</a:t>
            </a:r>
          </a:p>
          <a:p>
            <a:pPr algn="l">
              <a:buNone/>
            </a:pPr>
            <a:r>
              <a:rPr sz="1100">
                <a:solidFill>
                  <a:srgbClr val="28285E"/>
                </a:solidFill>
                <a:latin typeface="Maple Mono NF"/>
              </a:rPr>
              <a:t>              end: int | None = None) -&gt; str:</a:t>
            </a:r>
          </a:p>
          <a:p>
            <a:pPr algn="l">
              <a:buNone/>
            </a:pPr>
            <a:endParaRPr sz="1100">
              <a:solidFill>
                <a:srgbClr val="28285E"/>
              </a:solidFill>
              <a:latin typeface="Maple Mono NF"/>
            </a:endParaRPr>
          </a:p>
          <a:p>
            <a:pPr algn="l">
              <a:buNone/>
            </a:pPr>
            <a:r>
              <a:rPr sz="1100">
                <a:solidFill>
                  <a:srgbClr val="28285E"/>
                </a:solidFill>
                <a:latin typeface="Maple Mono NF"/>
              </a:rPr>
              <a:t>inspect.signature(function).bind(self.ws, **args)</a:t>
            </a:r>
          </a:p>
          <a:p>
            <a:pPr algn="l">
              <a:buNone/>
            </a:pPr>
            <a:r>
              <a:rPr sz="1100">
                <a:solidFill>
                  <a:srgbClr val="8A8A9A"/>
                </a:solidFill>
                <a:latin typeface="Maple Mono NF"/>
              </a:rPr>
              <a:t># add a </a:t>
            </a:r>
            <a:r>
              <a:rPr sz="1100" b="1">
                <a:solidFill>
                  <a:srgbClr val="C73561"/>
                </a:solidFill>
                <a:latin typeface="Maple Mono NF"/>
              </a:rPr>
              <a:t>config</a:t>
            </a:r>
            <a:r>
              <a:rPr sz="1100">
                <a:solidFill>
                  <a:srgbClr val="8A8A9A"/>
                </a:solidFill>
                <a:latin typeface="Maple Mono NF"/>
              </a:rPr>
              <a:t> parameter and the model can set it</a:t>
            </a:r>
          </a:p>
        </p:txBody>
      </p:sp>
      <p:sp>
        <p:nvSpPr>
          <p:cNvPr id="5" name="Rectangle 4"/>
          <p:cNvSpPr/>
          <p:nvPr/>
        </p:nvSpPr>
        <p:spPr>
          <a:xfrm>
            <a:off x="319251" y="26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Every parameter in a tool's signature is a value the model is permitted to supply.</a:t>
            </a:r>
          </a:p>
        </p:txBody>
      </p:sp>
      <p:sp>
        <p:nvSpPr>
          <p:cNvPr id="6" name="Rectangle 5"/>
          <p:cNvSpPr/>
          <p:nvPr/>
        </p:nvSpPr>
        <p:spPr>
          <a:xfrm>
            <a:off x="319251" y="345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workspace root is a parameter, and the dispatcher is what supplies it.</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Six artifacts, six different claims</a:t>
            </a:r>
          </a:p>
        </p:txBody>
      </p:sp>
      <p:graphicFrame>
        <p:nvGraphicFramePr>
          <p:cNvPr id="3" name="Table 2"/>
          <p:cNvGraphicFramePr>
            <a:graphicFrameLocks noGrp="1"/>
          </p:cNvGraphicFramePr>
          <p:nvPr/>
        </p:nvGraphicFramePr>
        <p:xfrm>
          <a:off x="319251" y="1100000"/>
          <a:ext cx="6014545" cy="2547900"/>
        </p:xfrm>
        <a:graphic>
          <a:graphicData uri="http://schemas.openxmlformats.org/drawingml/2006/table">
            <a:tbl>
              <a:tblPr firstRow="1" bandRow="1">
                <a:tableStyleId>{5C22544A-7EE6-4342-B048-85BDC9FD1C3A}</a:tableStyleId>
              </a:tblPr>
              <a:tblGrid>
                <a:gridCol w="1500000">
                  <a:extLst>
                    <a:ext uri="{9D8B030D-6E8A-4147-A177-3AD203B41FA5}">
                      <a16:colId xmlns:a16="http://schemas.microsoft.com/office/drawing/2014/main" val="20000"/>
                    </a:ext>
                  </a:extLst>
                </a:gridCol>
                <a:gridCol w="2100000">
                  <a:extLst>
                    <a:ext uri="{9D8B030D-6E8A-4147-A177-3AD203B41FA5}">
                      <a16:colId xmlns:a16="http://schemas.microsoft.com/office/drawing/2014/main" val="20001"/>
                    </a:ext>
                  </a:extLst>
                </a:gridCol>
                <a:gridCol w="2414545">
                  <a:extLst>
                    <a:ext uri="{9D8B030D-6E8A-4147-A177-3AD203B41FA5}">
                      <a16:colId xmlns:a16="http://schemas.microsoft.com/office/drawing/2014/main" val="20002"/>
                    </a:ext>
                  </a:extLst>
                </a:gridCol>
              </a:tblGrid>
              <a:tr h="300000">
                <a:tc>
                  <a:txBody>
                    <a:bodyPr/>
                    <a:lstStyle/>
                    <a:p>
                      <a:pPr>
                        <a:buNone/>
                      </a:pPr>
                      <a:r>
                        <a:rPr sz="1000" b="1">
                          <a:solidFill>
                            <a:schemeClr val="tx1"/>
                          </a:solidFill>
                        </a:rPr>
                        <a:t>Artifact</a:t>
                      </a:r>
                    </a:p>
                  </a:txBody>
                  <a:tcPr marL="95250" marR="95250" marT="47625" marB="47625">
                    <a:lnB w="12700" cap="flat" cmpd="sng" algn="ctr">
                      <a:solidFill>
                        <a:schemeClr val="tx1"/>
                      </a:solidFill>
                    </a:lnB>
                    <a:noFill/>
                  </a:tcPr>
                </a:tc>
                <a:tc>
                  <a:txBody>
                    <a:bodyPr/>
                    <a:lstStyle/>
                    <a:p>
                      <a:pPr>
                        <a:buNone/>
                      </a:pPr>
                      <a:r>
                        <a:rPr sz="1000" b="1">
                          <a:solidFill>
                            <a:schemeClr val="tx1"/>
                          </a:solidFill>
                        </a:rPr>
                        <a:t>What it contains</a:t>
                      </a:r>
                    </a:p>
                  </a:txBody>
                  <a:tcPr marL="95250" marR="95250" marT="47625" marB="47625">
                    <a:lnB w="12700" cap="flat" cmpd="sng" algn="ctr">
                      <a:solidFill>
                        <a:schemeClr val="tx1"/>
                      </a:solidFill>
                    </a:lnB>
                    <a:noFill/>
                  </a:tcPr>
                </a:tc>
                <a:tc>
                  <a:txBody>
                    <a:bodyPr/>
                    <a:lstStyle/>
                    <a:p>
                      <a:pPr>
                        <a:buNone/>
                      </a:pPr>
                      <a:r>
                        <a:rPr sz="1000" b="1">
                          <a:solidFill>
                            <a:schemeClr val="tx1"/>
                          </a:solidFill>
                        </a:rPr>
                        <a:t>What it establishes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buNone/>
                      </a:pPr>
                      <a:r>
                        <a:rPr sz="1000" b="1">
                          <a:solidFill>
                            <a:srgbClr val="28285E"/>
                          </a:solidFill>
                        </a:rPr>
                        <a:t>Model input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tool definitions and the conversation so far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Which operations were offered, and on what description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buNone/>
                      </a:pPr>
                      <a:r>
                        <a:rPr sz="1000" b="1">
                          <a:solidFill>
                            <a:srgbClr val="28285E"/>
                          </a:solidFill>
                        </a:rPr>
                        <a:t>Model response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 tool call: an identifier, a name, arguments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That the model requested an operation. Nothing more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buNone/>
                      </a:pPr>
                      <a:r>
                        <a:rPr sz="1000" b="1">
                          <a:solidFill>
                            <a:srgbClr val="28285E"/>
                          </a:solidFill>
                          <a:latin typeface="Maple Mono NF"/>
                        </a:rPr>
                        <a:t>tool_request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name and arguments as the dispatcher received them</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That the request reached the dispatcher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buNone/>
                      </a:pPr>
                      <a:r>
                        <a:rPr sz="1000" b="1">
                          <a:solidFill>
                            <a:srgbClr val="28285E"/>
                          </a:solidFill>
                        </a:rPr>
                        <a:t>Dispatcher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Registry lookup, argument binding, path resolution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That the request satisfied the contract, or why it did not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r h="0">
                <a:tc>
                  <a:txBody>
                    <a:bodyPr/>
                    <a:lstStyle/>
                    <a:p>
                      <a:pPr>
                        <a:buNone/>
                      </a:pPr>
                      <a:r>
                        <a:rPr sz="1000" b="1">
                          <a:solidFill>
                            <a:srgbClr val="28285E"/>
                          </a:solidFill>
                          <a:latin typeface="Maple Mono NF"/>
                        </a:rPr>
                        <a:t>tool_result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ok=true, 1,665 characters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That the function ran and returned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buNone/>
                      </a:pPr>
                      <a:r>
                        <a:rPr sz="1000" b="1">
                          <a:solidFill>
                            <a:srgbClr val="28285E"/>
                          </a:solidFill>
                        </a:rPr>
                        <a:t>State and next input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One observation appended, one tool message appended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What the next model call was allowed to see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6"/>
                  </a:ext>
                </a:extLst>
              </a:tr>
            </a:tbl>
          </a:graphicData>
        </a:graphic>
      </p:graphicFrame>
      <p:sp>
        <p:nvSpPr>
          <p:cNvPr id="4" name="Rectangle 3"/>
          <p:cNvSpPr/>
          <p:nvPr/>
        </p:nvSpPr>
        <p:spPr>
          <a:xfrm>
            <a:off x="1888761" y="3830000"/>
            <a:ext cx="4445035"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tx2"/>
                </a:solidFill>
              </a:rPr>
              <a:t>Rows two and five are the pair worth separating.</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proves a function ran</a:t>
            </a:r>
          </a:p>
        </p:txBody>
      </p:sp>
      <p:sp>
        <p:nvSpPr>
          <p:cNvPr id="3" name="Content Placeholder 2"/>
          <p:cNvSpPr>
            <a:spLocks noGrp="1"/>
          </p:cNvSpPr>
          <p:nvPr>
            <p:ph idx="1"/>
          </p:nvPr>
        </p:nvSpPr>
        <p:spPr>
          <a:xfrm>
            <a:off x="319251" y="700000"/>
            <a:ext cx="6014545" cy="1990000"/>
          </a:xfrm>
        </p:spPr>
        <p:txBody>
          <a:bodyPr wrap="square" anchor="ctr">
            <a:normAutofit fontScale="92500" lnSpcReduction="10000"/>
          </a:bodyPr>
          <a:lstStyle/>
          <a:p>
            <a:pPr marL="0" indent="0">
              <a:buNone/>
            </a:pPr>
            <a:r>
              <a:rPr sz="1400" b="1">
                <a:solidFill>
                  <a:srgbClr val="28285E"/>
                </a:solidFill>
              </a:rPr>
              <a:t>A model response establishes that a tool was requested.</a:t>
            </a:r>
          </a:p>
          <a:p>
            <a:pPr marL="400050" indent="-285750">
              <a:spcBef>
                <a:spcPts val="600"/>
              </a:spcBef>
              <a:spcAft>
                <a:spcPts val="600"/>
              </a:spcAft>
              <a:buClr>
                <a:srgbClr val="28285E"/>
              </a:buClr>
              <a:buSzPts val="1260"/>
              <a:buFont typeface="+mn-lt"/>
              <a:buChar char="●"/>
            </a:pPr>
            <a:r>
              <a:rPr sz="1400" b="1">
                <a:solidFill>
                  <a:schemeClr val="tx1"/>
                </a:solidFill>
              </a:rPr>
              <a:t>A tool call in a response </a:t>
            </a:r>
            <a:r>
              <a:rPr sz="1400" b="0">
                <a:solidFill>
                  <a:schemeClr val="tx1"/>
                </a:solidFill>
              </a:rPr>
              <a:t>is evidence about the model, and not about the file system.</a:t>
            </a:r>
          </a:p>
          <a:p>
            <a:pPr marL="400050" indent="-285750">
              <a:spcBef>
                <a:spcPts val="600"/>
              </a:spcBef>
              <a:spcAft>
                <a:spcPts val="600"/>
              </a:spcAft>
              <a:buClr>
                <a:srgbClr val="28285E"/>
              </a:buClr>
              <a:buSzPts val="1260"/>
              <a:buFont typeface="+mn-lt"/>
              <a:buChar char="●"/>
            </a:pPr>
            <a:r>
              <a:rPr sz="1400" b="1">
                <a:solidFill>
                  <a:schemeClr val="tx1"/>
                </a:solidFill>
              </a:rPr>
              <a:t>A transcript showing a request and a plausible result </a:t>
            </a:r>
            <a:r>
              <a:rPr sz="1400" b="0">
                <a:solidFill>
                  <a:schemeClr val="tx1"/>
                </a:solidFill>
              </a:rPr>
              <a:t>establishes nothing, because the model produced both.</a:t>
            </a:r>
          </a:p>
          <a:p>
            <a:pPr marL="400050" indent="-285750">
              <a:spcBef>
                <a:spcPts val="600"/>
              </a:spcBef>
              <a:spcAft>
                <a:spcPts val="600"/>
              </a:spcAft>
              <a:buClr>
                <a:srgbClr val="28285E"/>
              </a:buClr>
              <a:buSzPts val="1260"/>
              <a:buFont typeface="+mn-lt"/>
              <a:buChar char="●"/>
            </a:pPr>
            <a:r>
              <a:rPr sz="1400" b="1">
                <a:solidFill>
                  <a:schemeClr val="tx1"/>
                </a:solidFill>
              </a:rPr>
              <a:t>The </a:t>
            </a:r>
            <a:r>
              <a:rPr sz="1400" b="0">
                <a:latin typeface="Maple Mono NF"/>
              </a:rPr>
              <a:t>tool_result</a:t>
            </a:r>
            <a:r>
              <a:rPr sz="1400" b="1">
                <a:solidFill>
                  <a:schemeClr val="tx1"/>
                </a:solidFill>
              </a:rPr>
              <a:t> event </a:t>
            </a:r>
            <a:r>
              <a:rPr sz="1400" b="0">
                <a:solidFill>
                  <a:schemeClr val="tx1"/>
                </a:solidFill>
              </a:rPr>
              <a:t>is our record of entering the function.</a:t>
            </a:r>
          </a:p>
        </p:txBody>
      </p:sp>
      <p:sp>
        <p:nvSpPr>
          <p:cNvPr id="4" name="Rectangle 3"/>
          <p:cNvSpPr/>
          <p:nvPr/>
        </p:nvSpPr>
        <p:spPr>
          <a:xfrm>
            <a:off x="319251" y="28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The evidence that a function was entered is the runtime's own record of entering it.</a:t>
            </a:r>
          </a:p>
        </p:txBody>
      </p:sp>
      <p:sp>
        <p:nvSpPr>
          <p:cNvPr id="5" name="Rectangle 4"/>
          <p:cNvSpPr/>
          <p:nvPr/>
        </p:nvSpPr>
        <p:spPr>
          <a:xfrm>
            <a:off x="319251" y="370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Several tool calls in one response are dispatched one at a time, each answered.</a:t>
            </a: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agent-computer interface</a:t>
            </a:r>
          </a:p>
        </p:txBody>
      </p:sp>
      <p:sp>
        <p:nvSpPr>
          <p:cNvPr id="3" name="Content Placeholder 2"/>
          <p:cNvSpPr>
            <a:spLocks noGrp="1"/>
          </p:cNvSpPr>
          <p:nvPr>
            <p:ph idx="1"/>
          </p:nvPr>
        </p:nvSpPr>
        <p:spPr>
          <a:xfrm>
            <a:off x="319251" y="700000"/>
            <a:ext cx="6014545" cy="2390000"/>
          </a:xfrm>
        </p:spPr>
        <p:txBody>
          <a:bodyPr wrap="square" anchor="ctr">
            <a:normAutofit fontScale="92500" lnSpcReduction="20000"/>
          </a:bodyPr>
          <a:lstStyle/>
          <a:p>
            <a:pPr marL="0" indent="0">
              <a:buNone/>
            </a:pPr>
            <a:r>
              <a:rPr sz="1400" b="1">
                <a:solidFill>
                  <a:srgbClr val="28285E"/>
                </a:solidFill>
              </a:rPr>
              <a:t>Four principles come out of that work, and each has a counterpart in our dispatcher.</a:t>
            </a:r>
          </a:p>
          <a:p>
            <a:pPr marL="400050" indent="-285750">
              <a:spcBef>
                <a:spcPts val="600"/>
              </a:spcBef>
              <a:spcAft>
                <a:spcPts val="600"/>
              </a:spcAft>
              <a:buClr>
                <a:srgbClr val="28285E"/>
              </a:buClr>
              <a:buSzPts val="1260"/>
              <a:buFont typeface="+mn-lt"/>
              <a:buChar char="●"/>
            </a:pPr>
            <a:r>
              <a:rPr sz="1400" b="1">
                <a:solidFill>
                  <a:schemeClr val="tx1"/>
                </a:solidFill>
              </a:rPr>
              <a:t>Actions are simple and few.</a:t>
            </a:r>
          </a:p>
          <a:p>
            <a:pPr marL="400050" indent="-285750">
              <a:spcBef>
                <a:spcPts val="600"/>
              </a:spcBef>
              <a:spcAft>
                <a:spcPts val="600"/>
              </a:spcAft>
              <a:buClr>
                <a:srgbClr val="28285E"/>
              </a:buClr>
              <a:buSzPts val="1260"/>
              <a:buFont typeface="+mn-lt"/>
              <a:buChar char="●"/>
            </a:pPr>
            <a:r>
              <a:rPr sz="1400" b="1">
                <a:solidFill>
                  <a:schemeClr val="tx1"/>
                </a:solidFill>
              </a:rPr>
              <a:t>Important operations are consolidated, </a:t>
            </a:r>
            <a:r>
              <a:rPr sz="1400" b="0">
                <a:solidFill>
                  <a:schemeClr val="tx1"/>
                </a:solidFill>
              </a:rPr>
              <a:t>so that one action makes real progress.</a:t>
            </a:r>
          </a:p>
          <a:p>
            <a:pPr marL="400050" indent="-285750">
              <a:spcBef>
                <a:spcPts val="600"/>
              </a:spcBef>
              <a:spcAft>
                <a:spcPts val="600"/>
              </a:spcAft>
              <a:buClr>
                <a:srgbClr val="28285E"/>
              </a:buClr>
              <a:buSzPts val="1260"/>
              <a:buFont typeface="+mn-lt"/>
              <a:buChar char="●"/>
            </a:pPr>
            <a:r>
              <a:rPr sz="1400" b="1">
                <a:solidFill>
                  <a:schemeClr val="tx1"/>
                </a:solidFill>
              </a:rPr>
              <a:t>Feedback is informative and concise.</a:t>
            </a:r>
          </a:p>
          <a:p>
            <a:pPr marL="400050" indent="-285750">
              <a:spcBef>
                <a:spcPts val="600"/>
              </a:spcBef>
              <a:spcAft>
                <a:spcPts val="600"/>
              </a:spcAft>
              <a:buClr>
                <a:srgbClr val="28285E"/>
              </a:buClr>
              <a:buSzPts val="1260"/>
              <a:buFont typeface="+mn-lt"/>
              <a:buChar char="●"/>
            </a:pPr>
            <a:r>
              <a:rPr sz="1400" b="1">
                <a:solidFill>
                  <a:schemeClr val="tx1"/>
                </a:solidFill>
              </a:rPr>
              <a:t>Guardrails catch the mistakes models make, </a:t>
            </a:r>
            <a:r>
              <a:rPr sz="1400" b="0">
                <a:solidFill>
                  <a:schemeClr val="tx1"/>
                </a:solidFill>
              </a:rPr>
              <a:t>so an error does not propagate through the turns that follow.</a:t>
            </a:r>
          </a:p>
        </p:txBody>
      </p:sp>
      <p:sp>
        <p:nvSpPr>
          <p:cNvPr id="4" name="Rectangle 3"/>
          <p:cNvSpPr/>
          <p:nvPr/>
        </p:nvSpPr>
        <p:spPr>
          <a:xfrm>
            <a:off x="319251" y="328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An agent-computer interface specifies the commands available to the model, and how environment state is communicated back to it.</a:t>
            </a:r>
          </a:p>
        </p:txBody>
      </p:sp>
      <p:sp>
        <p:nvSpPr>
          <p:cNvPr id="5" name="TextBox 4"/>
          <p:cNvSpPr txBox="1"/>
          <p:nvPr/>
        </p:nvSpPr>
        <p:spPr>
          <a:xfrm>
            <a:off x="319251" y="3921801"/>
            <a:ext cx="6014545" cy="200000"/>
          </a:xfrm>
          <a:prstGeom prst="rect">
            <a:avLst/>
          </a:prstGeom>
          <a:noFill/>
        </p:spPr>
        <p:txBody>
          <a:bodyPr wrap="square" lIns="0" tIns="0" rIns="0" bIns="0">
            <a:spAutoFit/>
          </a:bodyPr>
          <a:lstStyle/>
          <a:p>
            <a:pPr algn="r"/>
            <a:r>
              <a:rPr sz="1050" i="1">
                <a:solidFill>
                  <a:schemeClr val="bg2"/>
                </a:solidFill>
              </a:rPr>
              <a:t>Yang et al., §2</a:t>
            </a: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each interface component is worth</a:t>
            </a:r>
          </a:p>
        </p:txBody>
      </p:sp>
      <p:graphicFrame>
        <p:nvGraphicFramePr>
          <p:cNvPr id="3" name="Table 2"/>
          <p:cNvGraphicFramePr>
            <a:graphicFrameLocks noGrp="1"/>
          </p:cNvGraphicFramePr>
          <p:nvPr/>
        </p:nvGraphicFramePr>
        <p:xfrm>
          <a:off x="319251" y="1100000"/>
          <a:ext cx="6014545" cy="2566950"/>
        </p:xfrm>
        <a:graphic>
          <a:graphicData uri="http://schemas.openxmlformats.org/drawingml/2006/table">
            <a:tbl>
              <a:tblPr firstRow="1" bandRow="1">
                <a:tableStyleId>{5C22544A-7EE6-4342-B048-85BDC9FD1C3A}</a:tableStyleId>
              </a:tblPr>
              <a:tblGrid>
                <a:gridCol w="1300000">
                  <a:extLst>
                    <a:ext uri="{9D8B030D-6E8A-4147-A177-3AD203B41FA5}">
                      <a16:colId xmlns:a16="http://schemas.microsoft.com/office/drawing/2014/main" val="20000"/>
                    </a:ext>
                  </a:extLst>
                </a:gridCol>
                <a:gridCol w="2300000">
                  <a:extLst>
                    <a:ext uri="{9D8B030D-6E8A-4147-A177-3AD203B41FA5}">
                      <a16:colId xmlns:a16="http://schemas.microsoft.com/office/drawing/2014/main" val="20001"/>
                    </a:ext>
                  </a:extLst>
                </a:gridCol>
                <a:gridCol w="900000">
                  <a:extLst>
                    <a:ext uri="{9D8B030D-6E8A-4147-A177-3AD203B41FA5}">
                      <a16:colId xmlns:a16="http://schemas.microsoft.com/office/drawing/2014/main" val="20002"/>
                    </a:ext>
                  </a:extLst>
                </a:gridCol>
                <a:gridCol w="1514545">
                  <a:extLst>
                    <a:ext uri="{9D8B030D-6E8A-4147-A177-3AD203B41FA5}">
                      <a16:colId xmlns:a16="http://schemas.microsoft.com/office/drawing/2014/main" val="20003"/>
                    </a:ext>
                  </a:extLst>
                </a:gridCol>
              </a:tblGrid>
              <a:tr h="300000">
                <a:tc>
                  <a:txBody>
                    <a:bodyPr/>
                    <a:lstStyle/>
                    <a:p>
                      <a:pPr>
                        <a:buNone/>
                      </a:pPr>
                      <a:r>
                        <a:rPr sz="1000" b="1">
                          <a:solidFill>
                            <a:schemeClr val="tx1"/>
                          </a:solidFill>
                        </a:rPr>
                        <a:t>Component</a:t>
                      </a:r>
                    </a:p>
                  </a:txBody>
                  <a:tcPr marL="95250" marR="95250" marT="47625" marB="47625">
                    <a:lnB w="12700" cap="flat" cmpd="sng" algn="ctr">
                      <a:solidFill>
                        <a:schemeClr val="tx1"/>
                      </a:solidFill>
                    </a:lnB>
                    <a:noFill/>
                  </a:tcPr>
                </a:tc>
                <a:tc>
                  <a:txBody>
                    <a:bodyPr/>
                    <a:lstStyle/>
                    <a:p>
                      <a:pPr>
                        <a:buNone/>
                      </a:pPr>
                      <a:r>
                        <a:rPr sz="1000" b="1">
                          <a:solidFill>
                            <a:schemeClr val="tx1"/>
                          </a:solidFill>
                        </a:rPr>
                        <a:t>Variant</a:t>
                      </a:r>
                    </a:p>
                  </a:txBody>
                  <a:tcPr marL="95250" marR="95250" marT="47625" marB="47625">
                    <a:lnB w="12700" cap="flat" cmpd="sng" algn="ctr">
                      <a:solidFill>
                        <a:schemeClr val="tx1"/>
                      </a:solidFill>
                    </a:lnB>
                    <a:noFill/>
                  </a:tcPr>
                </a:tc>
                <a:tc>
                  <a:txBody>
                    <a:bodyPr/>
                    <a:lstStyle/>
                    <a:p>
                      <a:pPr>
                        <a:buNone/>
                      </a:pPr>
                      <a:r>
                        <a:rPr sz="1000" b="1">
                          <a:solidFill>
                            <a:schemeClr val="tx1"/>
                          </a:solidFill>
                        </a:rPr>
                        <a:t>Resolved</a:t>
                      </a:r>
                    </a:p>
                  </a:txBody>
                  <a:tcPr marL="95250" marR="95250" marT="47625" marB="47625">
                    <a:lnB w="12700" cap="flat" cmpd="sng" algn="ctr">
                      <a:solidFill>
                        <a:schemeClr val="tx1"/>
                      </a:solidFill>
                    </a:lnB>
                    <a:noFill/>
                  </a:tcPr>
                </a:tc>
                <a:tc>
                  <a:txBody>
                    <a:bodyPr/>
                    <a:lstStyle/>
                    <a:p>
                      <a:pPr>
                        <a:buNone/>
                      </a:pPr>
                      <a:r>
                        <a:rPr sz="1000" b="1">
                          <a:solidFill>
                            <a:schemeClr val="tx1"/>
                          </a:solidFill>
                        </a:rPr>
                        <a:t>Change</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buNone/>
                      </a:pPr>
                      <a:r>
                        <a:rPr sz="1000" b="1">
                          <a:solidFill>
                            <a:srgbClr val="28285E"/>
                          </a:solidFill>
                        </a:rPr>
                        <a:t>SWE-agent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as configured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18.0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buNone/>
                      </a:pPr>
                      <a:r>
                        <a:rPr sz="1000" b="1">
                          <a:solidFill>
                            <a:srgbClr val="28285E"/>
                          </a:solidFill>
                        </a:rPr>
                        <a:t>Editor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edit action without linting</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15.0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−3.0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buNone/>
                      </a:pPr>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no edit action at all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10.3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1">
                          <a:solidFill>
                            <a:schemeClr val="tx1"/>
                          </a:solidFill>
                        </a:rPr>
                        <a:t>−7.7</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buNone/>
                      </a:pPr>
                      <a:r>
                        <a:rPr sz="1000" b="1">
                          <a:solidFill>
                            <a:srgbClr val="28285E"/>
                          </a:solidFill>
                        </a:rPr>
                        <a:t>Search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iterative search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12.0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−6.0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r h="0">
                <a:tc>
                  <a:txBody>
                    <a:bodyPr/>
                    <a:lstStyle/>
                    <a:p>
                      <a:pPr>
                        <a:buNone/>
                      </a:pPr>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no search tools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15.7</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−2.3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buNone/>
                      </a:pPr>
                      <a:r>
                        <a:rPr sz="1000" b="1">
                          <a:solidFill>
                            <a:srgbClr val="28285E"/>
                          </a:solidFill>
                        </a:rPr>
                        <a:t>File viewer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30-line window</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14.3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−3.7</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6"/>
                  </a:ext>
                </a:extLst>
              </a:tr>
              <a:tr h="0">
                <a:tc>
                  <a:txBody>
                    <a:bodyPr/>
                    <a:lstStyle/>
                    <a:p>
                      <a:pPr>
                        <a:buNone/>
                      </a:pPr>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whole file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12.7</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−5.3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7"/>
                  </a:ext>
                </a:extLst>
              </a:tr>
              <a:tr h="0">
                <a:tc>
                  <a:txBody>
                    <a:bodyPr/>
                    <a:lstStyle/>
                    <a:p>
                      <a:pPr>
                        <a:buNone/>
                      </a:pPr>
                      <a:r>
                        <a:rPr sz="1000" b="1">
                          <a:solidFill>
                            <a:srgbClr val="28285E"/>
                          </a:solidFill>
                        </a:rPr>
                        <a:t>Context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full history</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15.0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−3.0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8"/>
                  </a:ext>
                </a:extLst>
              </a:tr>
              <a:tr h="0">
                <a:tc>
                  <a:txBody>
                    <a:bodyPr/>
                    <a:lstStyle/>
                    <a:p>
                      <a:pPr>
                        <a:buNone/>
                      </a:pPr>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no demonstration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16.3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−1.7</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9"/>
                  </a:ext>
                </a:extLst>
              </a:tr>
            </a:tbl>
          </a:graphicData>
        </a:graphic>
      </p:graphicFrame>
      <p:sp>
        <p:nvSpPr>
          <p:cNvPr id="4" name="Rectangle 3"/>
          <p:cNvSpPr/>
          <p:nvPr/>
        </p:nvSpPr>
        <p:spPr>
          <a:xfrm>
            <a:off x="1888761" y="3780000"/>
            <a:ext cx="4445035"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tx2"/>
                </a:solidFill>
              </a:rPr>
              <a:t>Percent of SWE-bench Lite resolved, with the base model </a:t>
            </a:r>
            <a:r>
              <a:rPr sz="1200" b="1">
                <a:solidFill>
                  <a:schemeClr val="tx2"/>
                </a:solidFill>
              </a:rPr>
              <a:t>held fixed</a:t>
            </a:r>
            <a:r>
              <a:rPr sz="1200" b="0">
                <a:solidFill>
                  <a:schemeClr val="tx2"/>
                </a:solidFill>
              </a:rPr>
              <a:t>.</a:t>
            </a: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ablation table does not say</a:t>
            </a:r>
          </a:p>
        </p:txBody>
      </p:sp>
      <p:sp>
        <p:nvSpPr>
          <p:cNvPr id="3" name="Content Placeholder 2"/>
          <p:cNvSpPr>
            <a:spLocks noGrp="1"/>
          </p:cNvSpPr>
          <p:nvPr>
            <p:ph idx="1"/>
          </p:nvPr>
        </p:nvSpPr>
        <p:spPr>
          <a:xfrm>
            <a:off x="319251" y="700000"/>
            <a:ext cx="6014545" cy="2300000"/>
          </a:xfrm>
        </p:spPr>
        <p:txBody>
          <a:bodyPr wrap="square" anchor="ctr">
            <a:normAutofit fontScale="92500" lnSpcReduction="20000"/>
          </a:bodyPr>
          <a:lstStyle/>
          <a:p>
            <a:pPr marL="0" indent="0">
              <a:buNone/>
            </a:pPr>
            <a:r>
              <a:rPr sz="1400" b="1">
                <a:solidFill>
                  <a:srgbClr val="28285E"/>
                </a:solidFill>
              </a:rPr>
              <a:t>Two readings of that table are worth separating.</a:t>
            </a:r>
          </a:p>
          <a:p>
            <a:pPr marL="400050" indent="-285750">
              <a:spcBef>
                <a:spcPts val="600"/>
              </a:spcBef>
              <a:spcAft>
                <a:spcPts val="600"/>
              </a:spcAft>
              <a:buClr>
                <a:srgbClr val="28285E"/>
              </a:buClr>
              <a:buSzPts val="1260"/>
              <a:buFont typeface="+mn-lt"/>
              <a:buChar char="●"/>
            </a:pPr>
            <a:r>
              <a:rPr sz="1400" b="1">
                <a:solidFill>
                  <a:schemeClr val="tx1"/>
                </a:solidFill>
              </a:rPr>
              <a:t>It supports </a:t>
            </a:r>
            <a:r>
              <a:rPr sz="1400" b="0">
                <a:solidFill>
                  <a:schemeClr val="tx1"/>
                </a:solidFill>
              </a:rPr>
              <a:t>the claim that interface choices move outcomes by several points each, and the 7.7-point edit gap is larger than the gap between many published systems.</a:t>
            </a:r>
          </a:p>
          <a:p>
            <a:pPr marL="400050" indent="-285750">
              <a:spcBef>
                <a:spcPts val="600"/>
              </a:spcBef>
              <a:spcAft>
                <a:spcPts val="600"/>
              </a:spcAft>
              <a:buClr>
                <a:srgbClr val="28285E"/>
              </a:buClr>
              <a:buSzPts val="1260"/>
              <a:buFont typeface="+mn-lt"/>
              <a:buChar char="●"/>
            </a:pPr>
            <a:r>
              <a:rPr sz="1400" b="1">
                <a:solidFill>
                  <a:schemeClr val="tx1"/>
                </a:solidFill>
              </a:rPr>
              <a:t>It does not support </a:t>
            </a:r>
            <a:r>
              <a:rPr sz="1400" b="0">
                <a:solidFill>
                  <a:schemeClr val="tx1"/>
                </a:solidFill>
              </a:rPr>
              <a:t>a general ranking of interfaces: one system, one base model, a 300-instance subset.</a:t>
            </a:r>
          </a:p>
          <a:p>
            <a:pPr marL="400050" indent="-285750">
              <a:spcBef>
                <a:spcPts val="600"/>
              </a:spcBef>
              <a:spcAft>
                <a:spcPts val="600"/>
              </a:spcAft>
              <a:buClr>
                <a:srgbClr val="28285E"/>
              </a:buClr>
              <a:buSzPts val="1260"/>
              <a:buFont typeface="+mn-lt"/>
              <a:buChar char="●"/>
            </a:pPr>
            <a:r>
              <a:rPr sz="1400" b="1">
                <a:solidFill>
                  <a:schemeClr val="tx1"/>
                </a:solidFill>
              </a:rPr>
              <a:t>The row to dwell on </a:t>
            </a:r>
            <a:r>
              <a:rPr sz="1400" b="0">
                <a:solidFill>
                  <a:schemeClr val="tx1"/>
                </a:solidFill>
              </a:rPr>
              <a:t>is search, where returning results one at a time scores 12.0, below having no search tool at all at 15.7.</a:t>
            </a:r>
          </a:p>
        </p:txBody>
      </p:sp>
      <p:sp>
        <p:nvSpPr>
          <p:cNvPr id="4" name="Rectangle 3"/>
          <p:cNvSpPr/>
          <p:nvPr/>
        </p:nvSpPr>
        <p:spPr>
          <a:xfrm>
            <a:off x="319251" y="31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A well-intentioned interface can be worse than nothing when it invites the model to work through every match in turn.</a:t>
            </a: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Each guarantee, and what enforces it</a:t>
            </a:r>
          </a:p>
        </p:txBody>
      </p:sp>
      <p:graphicFrame>
        <p:nvGraphicFramePr>
          <p:cNvPr id="3" name="Table 2"/>
          <p:cNvGraphicFramePr>
            <a:graphicFrameLocks noGrp="1"/>
          </p:cNvGraphicFramePr>
          <p:nvPr/>
        </p:nvGraphicFramePr>
        <p:xfrm>
          <a:off x="319251" y="1150000"/>
          <a:ext cx="6014545" cy="2883180"/>
        </p:xfrm>
        <a:graphic>
          <a:graphicData uri="http://schemas.openxmlformats.org/drawingml/2006/table">
            <a:tbl>
              <a:tblPr firstRow="1" bandRow="1">
                <a:tableStyleId>{5C22544A-7EE6-4342-B048-85BDC9FD1C3A}</a:tableStyleId>
              </a:tblPr>
              <a:tblGrid>
                <a:gridCol w="3200000">
                  <a:extLst>
                    <a:ext uri="{9D8B030D-6E8A-4147-A177-3AD203B41FA5}">
                      <a16:colId xmlns:a16="http://schemas.microsoft.com/office/drawing/2014/main" val="20000"/>
                    </a:ext>
                  </a:extLst>
                </a:gridCol>
                <a:gridCol w="2814545">
                  <a:extLst>
                    <a:ext uri="{9D8B030D-6E8A-4147-A177-3AD203B41FA5}">
                      <a16:colId xmlns:a16="http://schemas.microsoft.com/office/drawing/2014/main" val="20001"/>
                    </a:ext>
                  </a:extLst>
                </a:gridCol>
              </a:tblGrid>
              <a:tr h="300000">
                <a:tc>
                  <a:txBody>
                    <a:bodyPr/>
                    <a:lstStyle/>
                    <a:p>
                      <a:pPr>
                        <a:buNone/>
                      </a:pPr>
                      <a:r>
                        <a:rPr sz="1100" b="1">
                          <a:solidFill>
                            <a:schemeClr val="tx1"/>
                          </a:solidFill>
                        </a:rPr>
                        <a:t>Guarantee</a:t>
                      </a:r>
                    </a:p>
                  </a:txBody>
                  <a:tcPr marL="95250" marR="95250" marT="47625" marB="47625">
                    <a:lnB w="12700" cap="flat" cmpd="sng" algn="ctr">
                      <a:solidFill>
                        <a:schemeClr val="tx1"/>
                      </a:solidFill>
                    </a:lnB>
                    <a:noFill/>
                  </a:tcPr>
                </a:tc>
                <a:tc>
                  <a:txBody>
                    <a:bodyPr/>
                    <a:lstStyle/>
                    <a:p>
                      <a:pPr>
                        <a:buNone/>
                      </a:pPr>
                      <a:r>
                        <a:rPr sz="1100" b="1">
                          <a:solidFill>
                            <a:schemeClr val="tx1"/>
                          </a:solidFill>
                        </a:rPr>
                        <a:t>Where it is enforced</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buNone/>
                      </a:pPr>
                      <a:r>
                        <a:rPr sz="1100" b="1">
                          <a:solidFill>
                            <a:srgbClr val="28285E"/>
                          </a:solidFill>
                        </a:rPr>
                        <a:t>Only registered tools run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The registry, consulted before anything is called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buNone/>
                      </a:pPr>
                      <a:r>
                        <a:rPr sz="1100" b="1">
                          <a:solidFill>
                            <a:srgbClr val="28285E"/>
                          </a:solidFill>
                        </a:rPr>
                        <a:t>Arguments satisfy the contract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Signature binding and coercion, before the call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buNone/>
                      </a:pPr>
                      <a:r>
                        <a:rPr sz="1100" b="1">
                          <a:solidFill>
                            <a:srgbClr val="28285E"/>
                          </a:solidFill>
                        </a:rPr>
                        <a:t>No file outside the workspace is touched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workspace.resolve, on every path argument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buNone/>
                      </a:pPr>
                      <a:r>
                        <a:rPr sz="1100" b="1">
                          <a:solidFill>
                            <a:srgbClr val="28285E"/>
                          </a:solidFill>
                        </a:rPr>
                        <a:t>Inspection does not modify the fixture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The tool implementations, and the pinned commit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r h="0">
                <a:tc>
                  <a:txBody>
                    <a:bodyPr/>
                    <a:lstStyle/>
                    <a:p>
                      <a:pPr>
                        <a:buNone/>
                      </a:pPr>
                      <a:r>
                        <a:rPr sz="1100" b="1">
                          <a:solidFill>
                            <a:srgbClr val="28285E"/>
                          </a:solidFill>
                        </a:rPr>
                        <a:t>An exhausted budget prevents another call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The controller's check, made before the call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buNone/>
                      </a:pPr>
                      <a:r>
                        <a:rPr sz="1100" b="1">
                          <a:solidFill>
                            <a:srgbClr val="28285E"/>
                          </a:solidFill>
                        </a:rPr>
                        <a:t>A back edge obeys the attempt limit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The routing function and the attempt counter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6"/>
                  </a:ext>
                </a:extLst>
              </a:tr>
            </a:tbl>
          </a:graphicData>
        </a:graphic>
      </p:graphicFrame>
      <p:sp>
        <p:nvSpPr>
          <p:cNvPr id="4" name="Rectangle 3"/>
          <p:cNvSpPr/>
          <p:nvPr/>
        </p:nvSpPr>
        <p:spPr>
          <a:xfrm>
            <a:off x="1888761" y="4180000"/>
            <a:ext cx="4445035"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tx2"/>
                </a:solidFill>
              </a:rPr>
              <a:t>No row is enforced by a sentence in a </a:t>
            </a:r>
            <a:r>
              <a:rPr sz="1200" b="1">
                <a:solidFill>
                  <a:schemeClr val="tx2"/>
                </a:solidFill>
              </a:rPr>
              <a:t>prompt</a:t>
            </a:r>
            <a:r>
              <a:rPr sz="1200" b="0">
                <a:solidFill>
                  <a:schemeClr val="tx2"/>
                </a:solidFill>
              </a:rPr>
              <a:t>.</a:t>
            </a: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refused request, side by side</a:t>
            </a:r>
          </a:p>
        </p:txBody>
      </p:sp>
      <p:sp>
        <p:nvSpPr>
          <p:cNvPr id="3" name="Content Placeholder 2"/>
          <p:cNvSpPr>
            <a:spLocks noGrp="1"/>
          </p:cNvSpPr>
          <p:nvPr>
            <p:ph idx="1"/>
          </p:nvPr>
        </p:nvSpPr>
        <p:spPr>
          <a:xfrm>
            <a:off x="319251" y="700000"/>
            <a:ext cx="6014545" cy="2100000"/>
          </a:xfrm>
        </p:spPr>
        <p:txBody>
          <a:bodyPr wrap="square" anchor="ctr">
            <a:normAutofit fontScale="92500" lnSpcReduction="20000"/>
          </a:bodyPr>
          <a:lstStyle/>
          <a:p>
            <a:pPr marL="0" indent="0">
              <a:buNone/>
            </a:pPr>
            <a:r>
              <a:rPr sz="1400" b="1">
                <a:solidFill>
                  <a:srgbClr val="28285E"/>
                </a:solidFill>
              </a:rPr>
              <a:t>Two requests, the same dispatcher, and only the arguments differ.</a:t>
            </a:r>
          </a:p>
          <a:p>
            <a:pPr marL="400050" indent="-285750">
              <a:spcBef>
                <a:spcPts val="600"/>
              </a:spcBef>
              <a:spcAft>
                <a:spcPts val="600"/>
              </a:spcAft>
              <a:buClr>
                <a:srgbClr val="28285E"/>
              </a:buClr>
              <a:buSzPts val="1260"/>
              <a:buFont typeface="+mn-lt"/>
              <a:buChar char="●"/>
            </a:pPr>
            <a:r>
              <a:rPr sz="1400" b="1">
                <a:solidFill>
                  <a:schemeClr val="tx1"/>
                </a:solidFill>
              </a:rPr>
              <a:t>The request. </a:t>
            </a:r>
            <a:r>
              <a:rPr sz="1400" b="0">
                <a:latin typeface="Maple Mono NF"/>
              </a:rPr>
              <a:t>read_file</a:t>
            </a:r>
            <a:r>
              <a:rPr sz="1400" b="0">
                <a:solidFill>
                  <a:schemeClr val="tx1"/>
                </a:solidFill>
              </a:rPr>
              <a:t> on </a:t>
            </a:r>
            <a:r>
              <a:rPr sz="1400" b="0">
                <a:latin typeface="Maple Mono NF"/>
              </a:rPr>
              <a:t>../../etc/passwd</a:t>
            </a:r>
            <a:r>
              <a:rPr sz="1400" b="0">
                <a:solidFill>
                  <a:schemeClr val="tx1"/>
                </a:solidFill>
              </a:rPr>
              <a:t>, constructed rather than one the model made.</a:t>
            </a:r>
          </a:p>
          <a:p>
            <a:pPr marL="400050" indent="-285750">
              <a:spcBef>
                <a:spcPts val="600"/>
              </a:spcBef>
              <a:spcAft>
                <a:spcPts val="600"/>
              </a:spcAft>
              <a:buClr>
                <a:srgbClr val="28285E"/>
              </a:buClr>
              <a:buSzPts val="1260"/>
              <a:buFont typeface="+mn-lt"/>
              <a:buChar char="●"/>
            </a:pPr>
            <a:r>
              <a:rPr sz="1400" b="1">
                <a:solidFill>
                  <a:schemeClr val="tx1"/>
                </a:solidFill>
              </a:rPr>
              <a:t>The check. </a:t>
            </a:r>
            <a:r>
              <a:rPr sz="1400" b="0">
                <a:latin typeface="Maple Mono NF"/>
              </a:rPr>
              <a:t>workspace.resolve</a:t>
            </a:r>
            <a:r>
              <a:rPr sz="1400" b="0">
                <a:solidFill>
                  <a:schemeClr val="tx1"/>
                </a:solidFill>
              </a:rPr>
              <a:t> raises </a:t>
            </a:r>
            <a:r>
              <a:rPr sz="1400" b="0">
                <a:latin typeface="Maple Mono NF"/>
              </a:rPr>
              <a:t>PathEscapeException</a:t>
            </a:r>
            <a:r>
              <a:rPr sz="1400" b="0">
                <a:solidFill>
                  <a:schemeClr val="tx1"/>
                </a:solidFill>
              </a:rPr>
              <a:t>, the dispatcher catches it, and no file is opened.</a:t>
            </a:r>
          </a:p>
          <a:p>
            <a:pPr marL="400050" indent="-285750">
              <a:spcBef>
                <a:spcPts val="600"/>
              </a:spcBef>
              <a:spcAft>
                <a:spcPts val="600"/>
              </a:spcAft>
              <a:buClr>
                <a:srgbClr val="28285E"/>
              </a:buClr>
              <a:buSzPts val="1260"/>
              <a:buFont typeface="+mn-lt"/>
              <a:buChar char="●"/>
            </a:pPr>
            <a:r>
              <a:rPr sz="1400" b="1">
                <a:solidFill>
                  <a:schemeClr val="tx1"/>
                </a:solidFill>
              </a:rPr>
              <a:t>The evidence. </a:t>
            </a:r>
            <a:r>
              <a:rPr sz="1400" b="0">
                <a:solidFill>
                  <a:schemeClr val="tx1"/>
                </a:solidFill>
              </a:rPr>
              <a:t>A </a:t>
            </a:r>
            <a:r>
              <a:rPr sz="1400" b="0">
                <a:latin typeface="Maple Mono NF"/>
              </a:rPr>
              <a:t>tool_request</a:t>
            </a:r>
            <a:r>
              <a:rPr sz="1400" b="0">
                <a:solidFill>
                  <a:schemeClr val="tx1"/>
                </a:solidFill>
              </a:rPr>
              <a:t> event, a failed </a:t>
            </a:r>
            <a:r>
              <a:rPr sz="1400" b="0">
                <a:latin typeface="Maple Mono NF"/>
              </a:rPr>
              <a:t>tool_result</a:t>
            </a:r>
            <a:r>
              <a:rPr sz="1400" b="0">
                <a:solidFill>
                  <a:schemeClr val="tx1"/>
                </a:solidFill>
              </a:rPr>
              <a:t>, and no entry recorded in the implementation.</a:t>
            </a:r>
          </a:p>
        </p:txBody>
      </p:sp>
      <p:sp>
        <p:nvSpPr>
          <p:cNvPr id="4" name="Rectangle 3"/>
          <p:cNvSpPr/>
          <p:nvPr/>
        </p:nvSpPr>
        <p:spPr>
          <a:xfrm>
            <a:off x="319251" y="29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The model proposes, the runtime executes, and the runtime may refuse.</a:t>
            </a:r>
          </a:p>
        </p:txBody>
      </p:sp>
      <p:sp>
        <p:nvSpPr>
          <p:cNvPr id="5" name="Rectangle 4"/>
          <p:cNvSpPr/>
          <p:nvPr/>
        </p:nvSpPr>
        <p:spPr>
          <a:xfrm>
            <a:off x="319251" y="380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Name the component that made each decision, and the artifact that proves it.</a:t>
            </a:r>
          </a:p>
        </p:txBody>
      </p:sp>
    </p:spTree>
  </p:cSld>
  <p:clrMapOvr>
    <a:masterClrMapping/>
  </p:clrMapOvr>
</p:sld>
</file>

<file path=ppt/theme/theme1.xml><?xml version="1.0" encoding="utf-8"?>
<a:theme xmlns:a="http://schemas.openxmlformats.org/drawingml/2006/main" name="Simple Light">
  <a:themeElements>
    <a:clrScheme name="Columbia University">
      <a:dk1>
        <a:srgbClr val="000000"/>
      </a:dk1>
      <a:lt1>
        <a:srgbClr val="FFFFFF"/>
      </a:lt1>
      <a:dk2>
        <a:srgbClr val="28285E"/>
      </a:dk2>
      <a:lt2>
        <a:srgbClr val="E8E8E8"/>
      </a:lt2>
      <a:accent1>
        <a:srgbClr val="28285D"/>
      </a:accent1>
      <a:accent2>
        <a:srgbClr val="348EDC"/>
      </a:accent2>
      <a:accent3>
        <a:srgbClr val="099191"/>
      </a:accent3>
      <a:accent4>
        <a:srgbClr val="C73561"/>
      </a:accent4>
      <a:accent5>
        <a:srgbClr val="772482"/>
      </a:accent5>
      <a:accent6>
        <a:srgbClr val="EDB15D"/>
      </a:accent6>
      <a:hlink>
        <a:srgbClr val="467886"/>
      </a:hlink>
      <a:folHlink>
        <a:srgbClr val="96607D"/>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lgn="l">
          <a:defRPr dirty="0">
            <a:latin typeface="+mn-lt"/>
          </a:defRPr>
        </a:defP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3426</TotalTime>
  <Words>23576</Words>
  <Application>Microsoft Macintosh PowerPoint</Application>
  <PresentationFormat>Custom</PresentationFormat>
  <Paragraphs>1518</Paragraphs>
  <Slides>149</Slides>
  <Notes>139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149</vt:i4>
      </vt:variant>
    </vt:vector>
  </HeadingPairs>
  <TitlesOfParts>
    <vt:vector size="154" baseType="lpstr">
      <vt:lpstr>Arial</vt:lpstr>
      <vt:lpstr>Fira Sans Light</vt:lpstr>
      <vt:lpstr>Fira Sans</vt:lpstr>
      <vt:lpstr>Maple Mono NF</vt:lpstr>
      <vt:lpstr>Simple Light</vt:lpstr>
      <vt:lpstr>Designing Production Agentic Systems</vt:lpstr>
      <vt:lpstr>PowerPoint Presentation</vt:lpstr>
      <vt:lpstr>About the Instructors</vt:lpstr>
      <vt:lpstr>Class Notifications</vt:lpstr>
      <vt:lpstr>The key question that motivates this course</vt:lpstr>
      <vt:lpstr>What I hope you will learn…</vt:lpstr>
      <vt:lpstr>What I hope you will learn…</vt:lpstr>
      <vt:lpstr>Homework, Grades, and Exams</vt:lpstr>
      <vt:lpstr>Homework, Grades, and Exams</vt:lpstr>
      <vt:lpstr>PowerPoint Presentation</vt:lpstr>
      <vt:lpstr>Rational agents</vt:lpstr>
      <vt:lpstr>Rational agents</vt:lpstr>
      <vt:lpstr>Rational agents</vt:lpstr>
      <vt:lpstr>Rational agents</vt:lpstr>
      <vt:lpstr>Rational agents</vt:lpstr>
      <vt:lpstr>Today’s demo agent: mini-swe-agent</vt:lpstr>
      <vt:lpstr>One alert, one run, one patch</vt:lpstr>
      <vt:lpstr>One alert, one run, one patch</vt:lpstr>
      <vt:lpstr>One alert, one run, one patch</vt:lpstr>
      <vt:lpstr>Why this is a rational agent</vt:lpstr>
      <vt:lpstr>When it is not</vt:lpstr>
      <vt:lpstr>When it is not</vt:lpstr>
      <vt:lpstr>When it is not</vt:lpstr>
      <vt:lpstr>When it is not</vt:lpstr>
      <vt:lpstr>The task environment</vt:lpstr>
      <vt:lpstr>The task environment</vt:lpstr>
      <vt:lpstr>Properties: Fully or partially observable</vt:lpstr>
      <vt:lpstr>Single agent or multiagent</vt:lpstr>
      <vt:lpstr>Deterministic or nondeterministic</vt:lpstr>
      <vt:lpstr>Episodic or sequential</vt:lpstr>
      <vt:lpstr>Static or dynamic</vt:lpstr>
      <vt:lpstr>Discrete or continuous</vt:lpstr>
      <vt:lpstr>Known or unknown</vt:lpstr>
      <vt:lpstr>The agent, its tools, and its environment</vt:lpstr>
      <vt:lpstr>The rest of this lecture</vt:lpstr>
      <vt:lpstr>PowerPoint Presentation</vt:lpstr>
      <vt:lpstr>A fixed workflow</vt:lpstr>
      <vt:lpstr>Understanding design decision points</vt:lpstr>
      <vt:lpstr>Understanding design decision points</vt:lpstr>
      <vt:lpstr>What the fixed shape buys</vt:lpstr>
      <vt:lpstr>What the fixed shape buys</vt:lpstr>
      <vt:lpstr>Fixed parts and open parts</vt:lpstr>
      <vt:lpstr>What the fixed shape costs</vt:lpstr>
      <vt:lpstr>Agentless: A sample realization of a workflow</vt:lpstr>
      <vt:lpstr>Agentless and SWE-agent</vt:lpstr>
      <vt:lpstr>Grains of salt</vt:lpstr>
      <vt:lpstr>PowerPoint Presentation</vt:lpstr>
      <vt:lpstr>A reactive loop</vt:lpstr>
      <vt:lpstr>A reactive loop</vt:lpstr>
      <vt:lpstr>A reactive loop</vt:lpstr>
      <vt:lpstr>A reactive loop</vt:lpstr>
      <vt:lpstr>A reactive loop</vt:lpstr>
      <vt:lpstr>A reactive loop</vt:lpstr>
      <vt:lpstr>The graph that our first demo builds</vt:lpstr>
      <vt:lpstr>The graph, in code: the nodes</vt:lpstr>
      <vt:lpstr>Then the edges</vt:lpstr>
      <vt:lpstr>And the conditional ones</vt:lpstr>
      <vt:lpstr>Then compile</vt:lpstr>
      <vt:lpstr>Who picks the edge</vt:lpstr>
      <vt:lpstr>Model’s autonomy increases</vt:lpstr>
      <vt:lpstr>What the loop buys</vt:lpstr>
      <vt:lpstr>What the loop buys</vt:lpstr>
      <vt:lpstr>What the loop buys</vt:lpstr>
      <vt:lpstr>What the loop buys</vt:lpstr>
      <vt:lpstr>What it costs</vt:lpstr>
      <vt:lpstr>What it costs</vt:lpstr>
      <vt:lpstr>What it costs</vt:lpstr>
      <vt:lpstr>What it costs</vt:lpstr>
      <vt:lpstr>Where the failures live</vt:lpstr>
      <vt:lpstr>Three shapes of failure</vt:lpstr>
      <vt:lpstr>The stops are ours</vt:lpstr>
      <vt:lpstr>Demo &lt;/&gt;</vt:lpstr>
      <vt:lpstr>Some samples from our run</vt:lpstr>
      <vt:lpstr>PowerPoint Presentation</vt:lpstr>
      <vt:lpstr>Challenges with React Loop</vt:lpstr>
      <vt:lpstr>Shapes of Planning</vt:lpstr>
      <vt:lpstr>What each shape does with an observation</vt:lpstr>
      <vt:lpstr>The graph our planner-based demo builds</vt:lpstr>
      <vt:lpstr>The new nodes in our planner-based demo</vt:lpstr>
      <vt:lpstr>The edge from tools now has two destinations</vt:lpstr>
      <vt:lpstr>How the runtime decides the plan has failed</vt:lpstr>
      <vt:lpstr>What a planner changes compared to a react</vt:lpstr>
      <vt:lpstr>What a planner changes compared to a react</vt:lpstr>
      <vt:lpstr>What one plan step records</vt:lpstr>
      <vt:lpstr>Where a run goes wrong</vt:lpstr>
      <vt:lpstr>Where a run goes wrong</vt:lpstr>
      <vt:lpstr>Why wider search does not fix myopia</vt:lpstr>
      <vt:lpstr>Why submit can no longer accept a patch</vt:lpstr>
      <vt:lpstr>Why the validator never sees the conversation</vt:lpstr>
      <vt:lpstr>Self-review, measured: accuracy and cost</vt:lpstr>
      <vt:lpstr>Model verifier against sound verifier</vt:lpstr>
      <vt:lpstr>PowerPoint Presentation</vt:lpstr>
      <vt:lpstr>Reason and act</vt:lpstr>
      <vt:lpstr>Sequential</vt:lpstr>
      <vt:lpstr>Parallel</vt:lpstr>
      <vt:lpstr>Loop</vt:lpstr>
      <vt:lpstr>Review and critique</vt:lpstr>
      <vt:lpstr>Iterative refinement</vt:lpstr>
      <vt:lpstr>Coordinator</vt:lpstr>
      <vt:lpstr>Hierarchical task decomposition</vt:lpstr>
      <vt:lpstr>Swarm</vt:lpstr>
      <vt:lpstr>Human in the loop</vt:lpstr>
      <vt:lpstr>Custom logic</vt:lpstr>
      <vt:lpstr>Task ownership</vt:lpstr>
      <vt:lpstr>State boundaries</vt:lpstr>
      <vt:lpstr>Model-call overhead</vt:lpstr>
      <vt:lpstr>Latency</vt:lpstr>
      <vt:lpstr>Failure propagation</vt:lpstr>
      <vt:lpstr>Inspectability</vt:lpstr>
      <vt:lpstr>PowerPoint Presentation</vt:lpstr>
      <vt:lpstr>PowerPoint Presentation</vt:lpstr>
      <vt:lpstr>PowerPoint Presentation</vt:lpstr>
      <vt:lpstr>PowerPoint Presentation</vt:lpstr>
      <vt:lpstr>The record every node reads and writes</vt:lpstr>
      <vt:lpstr>A simple transition--Propose, then Merge</vt:lpstr>
      <vt:lpstr>Why two runs from one state diverge</vt:lpstr>
      <vt:lpstr>Three records, and who reads each</vt:lpstr>
      <vt:lpstr>The counters the model never sees</vt:lpstr>
      <vt:lpstr>How mini-swe-agent represents a state</vt:lpstr>
      <vt:lpstr>The state schema, field by field</vt:lpstr>
      <vt:lpstr>The state schema, field by field</vt:lpstr>
      <vt:lpstr>A TypedDict checks nothing at run time</vt:lpstr>
      <vt:lpstr>Three reducers, three kinds of visibility</vt:lpstr>
      <vt:lpstr>Clearing a field that appends</vt:lpstr>
      <vt:lpstr>One tool result becoming state</vt:lpstr>
      <vt:lpstr>PowerPoint Presentation</vt:lpstr>
      <vt:lpstr>Where the next node is chosen</vt:lpstr>
      <vt:lpstr>The complete graph, with both back edges</vt:lpstr>
      <vt:lpstr>What the router actually reads</vt:lpstr>
      <vt:lpstr>Reading who decided from the trace</vt:lpstr>
      <vt:lpstr>One compiled graph, different paths</vt:lpstr>
      <vt:lpstr>Two returns to the planner</vt:lpstr>
      <vt:lpstr>Who owns each return</vt:lpstr>
      <vt:lpstr>Three limits the runtime checks</vt:lpstr>
      <vt:lpstr>The five terminal statuses</vt:lpstr>
      <vt:lpstr>What a trace lets you conclude</vt:lpstr>
      <vt:lpstr>Three endings, in the recorded runs</vt:lpstr>
      <vt:lpstr>What a tool contract contains</vt:lpstr>
      <vt:lpstr>One request through the dispatcher</vt:lpstr>
      <vt:lpstr>Five operations, each able to stop</vt:lpstr>
      <vt:lpstr>Why a refusal is an observation</vt:lpstr>
      <vt:lpstr>Why config is not a parameter</vt:lpstr>
      <vt:lpstr>Six artifacts, six different claims</vt:lpstr>
      <vt:lpstr>What proves a function ran</vt:lpstr>
      <vt:lpstr>The agent-computer interface</vt:lpstr>
      <vt:lpstr>What each interface component is worth</vt:lpstr>
      <vt:lpstr>What the ablation table does not say</vt:lpstr>
      <vt:lpstr>Each guarantee, and what enforces it</vt:lpstr>
      <vt:lpstr>A refused request, side by side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Rahul Krishna</cp:lastModifiedBy>
  <cp:revision>165</cp:revision>
  <dcterms:modified xsi:type="dcterms:W3CDTF">2026-09-18T17:57:35Z</dcterms:modified>
</cp:coreProperties>
</file>
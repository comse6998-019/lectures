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5.xml" ContentType="application/vnd.openxmlformats-officedocument.presentationml.slide+xml"/>
  <Override PartName="/ppt/slides/slide133.xml" ContentType="application/vnd.openxmlformats-officedocument.presentationml.slide+xml"/>
  <Override PartName="/ppt/slides/slide137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1"/>
  </p:notesMasterIdLst>
  <p:sldIdLst>
    <p:sldId id="425" r:id="rId120"/>
    <p:sldId id="426" r:id="rId121"/>
    <p:sldId id="427" r:id="rId122"/>
    <p:sldId id="428" r:id="rId123"/>
    <p:sldId id="431" r:id="rId126"/>
    <p:sldId id="440" r:id="rId134"/>
    <p:sldId id="444" r:id="rId138"/>
    <p:sldId id="451" r:id="rId145"/>
    <p:sldId id="452" r:id="rId146"/>
    <p:sldId id="453" r:id="rId147"/>
    <p:sldId id="454" r:id="rId148"/>
  </p:sldIdLst>
  <p:sldSz cx="6858000" cy="5143500"/>
  <p:notesSz cx="6858000" cy="9144000"/>
  <p:embeddedFontLst>
    <p:embeddedFont>
      <p:font typeface="Fira Sans" panose="020B0503050000020004" pitchFamily="34" charset="0"/>
      <p:regular r:id="rId152"/>
      <p:bold r:id="rId153"/>
      <p:italic r:id="rId154"/>
      <p:boldItalic r:id="rId155"/>
    </p:embeddedFont>
    <p:embeddedFont>
      <p:font typeface="Fira Sans Light" panose="020B0403050000020004" pitchFamily="34" charset="0"/>
      <p:regular r:id="rId156"/>
      <p:italic r:id="rId157"/>
    </p:embeddedFont>
    <p:embeddedFont>
      <p:font typeface="Maple Mono NF" panose="020F0509060000000000" pitchFamily="49" charset="0"/>
      <p:regular r:id="rId158"/>
      <p:bold r:id="rId159"/>
      <p:italic r:id="rId160"/>
      <p:boldItalic r:id="rId1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11472A5C-5B19-564B-9CD5-BBC972F9C943}">
          <p14:sldIdLst>
            <p14:sldId id="425"/>
            <p14:sldId id="426"/>
            <p14:sldId id="427"/>
            <p14:sldId id="428"/>
            <p14:sldId id="431"/>
            <p14:sldId id="440"/>
            <p14:sldId id="444"/>
            <p14:sldId id="451"/>
            <p14:sldId id="452"/>
            <p14:sldId id="453"/>
            <p14:sldId id="4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160" userDrawn="1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F72F71-1B05-876B-1723-EC4BFB4CF1F1}" name="Rahul Krishna" initials="RK" userId="1aea23c7798fb80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63"/>
    <a:srgbClr val="235751"/>
    <a:srgbClr val="EBF8ED"/>
    <a:srgbClr val="FEF8E1"/>
    <a:srgbClr val="EE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2"/>
    <p:restoredTop sz="98401"/>
  </p:normalViewPr>
  <p:slideViewPr>
    <p:cSldViewPr snapToGrid="0">
      <p:cViewPr varScale="1">
        <p:scale>
          <a:sx n="358" d="100"/>
          <a:sy n="358" d="100"/>
        </p:scale>
        <p:origin x="3920" y="176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6" Type="http://schemas.openxmlformats.org/officeDocument/2006/relationships/slide" Target="slides/slide125.xml"/><Relationship Id="rId134" Type="http://schemas.openxmlformats.org/officeDocument/2006/relationships/slide" Target="slides/slide133.xml"/><Relationship Id="rId138" Type="http://schemas.openxmlformats.org/officeDocument/2006/relationships/slide" Target="slides/slide137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51" Type="http://schemas.openxmlformats.org/officeDocument/2006/relationships/notesMaster" Target="notesMasters/notesMaster1.xml"/><Relationship Id="rId152" Type="http://schemas.openxmlformats.org/officeDocument/2006/relationships/font" Target="fonts/font1.fntdata"/><Relationship Id="rId153" Type="http://schemas.openxmlformats.org/officeDocument/2006/relationships/font" Target="fonts/font2.fntdata"/><Relationship Id="rId154" Type="http://schemas.openxmlformats.org/officeDocument/2006/relationships/font" Target="fonts/font3.fntdata"/><Relationship Id="rId155" Type="http://schemas.openxmlformats.org/officeDocument/2006/relationships/font" Target="fonts/font4.fntdata"/><Relationship Id="rId156" Type="http://schemas.openxmlformats.org/officeDocument/2006/relationships/font" Target="fonts/font5.fntdata"/><Relationship Id="rId157" Type="http://schemas.openxmlformats.org/officeDocument/2006/relationships/font" Target="fonts/font6.fntdata"/><Relationship Id="rId158" Type="http://schemas.openxmlformats.org/officeDocument/2006/relationships/font" Target="fonts/font7.fntdata"/><Relationship Id="rId159" Type="http://schemas.openxmlformats.org/officeDocument/2006/relationships/font" Target="fonts/font8.fntdata"/><Relationship Id="rId160" Type="http://schemas.openxmlformats.org/officeDocument/2006/relationships/font" Target="fonts/font9.fntdata"/><Relationship Id="rId161" Type="http://schemas.openxmlformats.org/officeDocument/2006/relationships/font" Target="fonts/font10.fntdata"/><Relationship Id="rId162" Type="http://schemas.openxmlformats.org/officeDocument/2006/relationships/presProps" Target="presProps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Relationship Id="rId166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Atomic, factored, structured is the AIMA axis. The number a benchmark reports is a count of atomic labels. Structure is confined to the two values where the model has to defend its work: the patch it proposes and the rejection it gets back.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is what </a:t>
            </a:r>
            <a:r>
              <a:rPr dirty="0" err="1"/>
              <a:t>state.py</a:t>
            </a:r>
            <a:r>
              <a:rPr dirty="0"/>
              <a:t> declares today, and what the loop populates. Ten keys. Walk the reducer column rather than the description: it is the column that decides what a later step can see.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Below the rule are the fields the later versions add. Each arrives with the node that fills it, so a version's diff shows one change rather than a field that was always waiting. These four are designed and not yet built, which is what the </a:t>
            </a:r>
            <a:r>
              <a:rPr dirty="0" err="1"/>
              <a:t>colour</a:t>
            </a:r>
            <a:r>
              <a:rPr dirty="0"/>
              <a:t> marks throughout Part B.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dirty="0" err="1"/>
              <a:t>TypedDict</a:t>
            </a:r>
            <a:r>
              <a:rPr dirty="0"/>
              <a:t> returns an ordinary dictionary at run time. Its types cannot be used in </a:t>
            </a:r>
            <a:r>
              <a:rPr dirty="0" err="1"/>
              <a:t>isinstance</a:t>
            </a:r>
            <a:r>
              <a:rPr dirty="0"/>
              <a:t> tests. So a model reply that puts a string where the schema declares an integer produces a state that type-checks in the editor and is wrong in the run. Section 8 is where the check that catches it lives.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From runs/v1-bc284c6b.jsonl, steps 3 and 4. Three things to hold on to. The node named two keys and the record has ten, so the counters advanced only where a node said so. The stored observation keeps the arguments and the ok flag alongside the text, and routing and accounting read those fields rather than the prose. And </a:t>
            </a:r>
            <a:r>
              <a:rPr dirty="0" err="1"/>
              <a:t>model_calls</a:t>
            </a:r>
            <a:r>
              <a:rPr dirty="0"/>
              <a:t> stood at one throughout and was never shown, which is how a budget stays a runtime control. The trace is a fourth record, and it is what section 7 rests on.</a:t>
            </a: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That last point is what makes the retry the runtime's decision rather than the model's: nobody is consulted, and nothing is paid for.</a:t>
            </a: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first ending is the recorded run, runs/v1-bc284c6b.jsonl. The routing event just before the terminal one carries by=runtime: nothing in that trace is a model's opinion about whether the work was done. In the second, the evidence the run gathered is still in observations, and the absence of a finding is not the absence of work.</a:t>
            </a: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tool call left without an answer makes the next model message malformed, which is why the dispatcher returns one observation for each, including the ones that failed.</a:t>
            </a: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SWE-agent is the clearest evidence that the action set and the shape of the feedback move outcomes, because it holds the model fixed and varies the interface. With GPT-4 Turbo the resulting system resolves 12.47% of the 2,294 SWE-bench test instances, against 3.8% for the previous best non-interactive retrieval-augmented system, and the same interface carries to another model, with Claude 3 Opus resolving 10.5%.</a:t>
            </a: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Table 3 of the SWE-agent paper. Read down the Change column rather than across: each row varies one component of one system.</a:t>
            </a: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variant that helps this agent with this model on these instances may not transfer. That is the discipline to carry into HW1: an ablation tells you about the system it was run 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33781" y="75500"/>
            <a:ext cx="6390450" cy="2052600"/>
          </a:xfrm>
          <a:prstGeom prst="rect">
            <a:avLst/>
          </a:prstGeom>
        </p:spPr>
        <p:txBody>
          <a:bodyPr spcFirstLastPara="1" wrap="square" lIns="97500" tIns="97500" rIns="97500" bIns="975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>
                <a:solidFill>
                  <a:schemeClr val="bg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33775" y="2175450"/>
            <a:ext cx="6390450" cy="792600"/>
          </a:xfrm>
          <a:prstGeom prst="rect">
            <a:avLst/>
          </a:prstGeom>
        </p:spPr>
        <p:txBody>
          <a:bodyPr spcFirstLastPara="1" wrap="square" lIns="97500" tIns="97500" rIns="97500" bIns="97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6446482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;p1">
            <a:extLst>
              <a:ext uri="{FF2B5EF4-FFF2-40B4-BE49-F238E27FC236}">
                <a16:creationId xmlns:a16="http://schemas.microsoft.com/office/drawing/2014/main" id="{FD5B4268-F0EC-02C8-87DA-324BDAD9D5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251" y="19250"/>
            <a:ext cx="6815475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00" tIns="97500" rIns="97500" bIns="975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D2A62"/>
              </a:buClr>
              <a:buSzPts val="2400"/>
              <a:buFont typeface="Fira Sans"/>
              <a:buNone/>
              <a:defRPr sz="2400" b="1">
                <a:solidFill>
                  <a:srgbClr val="2D2A6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 dirty="0"/>
          </a:p>
        </p:txBody>
      </p:sp>
      <p:sp>
        <p:nvSpPr>
          <p:cNvPr id="5" name="Google Shape;7;p1">
            <a:extLst>
              <a:ext uri="{FF2B5EF4-FFF2-40B4-BE49-F238E27FC236}">
                <a16:creationId xmlns:a16="http://schemas.microsoft.com/office/drawing/2014/main" id="{737A3DEE-178A-8526-2A30-967CA858EC9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251" y="630049"/>
            <a:ext cx="6815475" cy="4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00" tIns="97500" rIns="97500" bIns="97500" anchor="t" anchorCtr="0">
            <a:normAutofit/>
          </a:bodyPr>
          <a:lstStyle>
            <a:lvl1pPr marL="457200" lvl="0" indent="-33145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20"/>
              <a:buFont typeface="Fira Sans"/>
              <a:buChar char="●"/>
              <a:defRPr sz="1400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○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■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●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○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■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●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○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■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1DF3CB-87F9-F259-44C5-76CCC8BCE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BAF0E-C96E-D64F-8B24-1AA70EC4A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7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A59394-595B-E6C1-5B62-E3F3A7B0D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BAF0E-C96E-D64F-8B24-1AA70EC4A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7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CC8073-2779-4ECB-838F-530CD4C4C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4989748"/>
            <a:ext cx="141585" cy="14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786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251" y="19250"/>
            <a:ext cx="6815475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00" tIns="97500" rIns="97500" bIns="975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D2A62"/>
              </a:buClr>
              <a:buSzPts val="2400"/>
              <a:buFont typeface="Fira Sans"/>
              <a:buNone/>
              <a:defRPr sz="2400">
                <a:solidFill>
                  <a:srgbClr val="2D2A6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251" y="630049"/>
            <a:ext cx="6815475" cy="4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00" tIns="97500" rIns="97500" bIns="97500" anchor="t" anchorCtr="0">
            <a:normAutofit/>
          </a:bodyPr>
          <a:lstStyle>
            <a:lvl1pPr marL="457200" lvl="0" indent="-33145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20"/>
              <a:buFont typeface="Fira Sans"/>
              <a:buChar char="●"/>
              <a:defRPr sz="1620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○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■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●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○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■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●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○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■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6">
            <a:alphaModFix/>
          </a:blip>
          <a:srcRect r="79249"/>
          <a:stretch/>
        </p:blipFill>
        <p:spPr>
          <a:xfrm>
            <a:off x="0" y="4841359"/>
            <a:ext cx="342167" cy="3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71E8FB-ADDA-82C8-8A4F-6295E7491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14950" y="4871644"/>
            <a:ext cx="154305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2"/>
                </a:solidFill>
              </a:defRPr>
            </a:lvl1pPr>
          </a:lstStyle>
          <a:p>
            <a:fld id="{26FBAF0E-C96E-D64F-8B24-1AA70EC4AC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0" r:id="rId2"/>
    <p:sldLayoutId id="2147483662" r:id="rId3"/>
    <p:sldLayoutId id="214748366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chemeClr val="accent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mini-swe-agent represents a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251" y="700000"/>
            <a:ext cx="6014545" cy="2010000"/>
          </a:xfrm>
        </p:spPr>
        <p:txBody>
          <a:bodyPr wrap="square" anchor="ctr">
            <a:normAutofit fontScale="92500" lnSpcReduction="20000"/>
          </a:bodyPr>
          <a:lstStyle/>
          <a:p>
            <a:pPr marL="0" indent="0">
              <a:buNone/>
            </a:pPr>
            <a:r>
              <a:rPr sz="1400" b="1">
                <a:solidFill>
                  <a:srgbClr val="28285E"/>
                </a:solidFill>
              </a:rPr>
              <a:t>Three representations of increasing expressive power, all in one agent.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Atomic. </a:t>
            </a:r>
            <a:r>
              <a:rPr sz="1400" b="0">
                <a:solidFill>
                  <a:schemeClr val="tx1"/>
                </a:solidFill>
              </a:rPr>
              <a:t>The run's outcome. Accepted or stopped is a label with no internal structure.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Factored. </a:t>
            </a:r>
            <a:r>
              <a:rPr sz="1400" b="0">
                <a:solidFill>
                  <a:schemeClr val="tx1"/>
                </a:solidFill>
              </a:rPr>
              <a:t>The record itself. Named fields with values, so two states can agree on some and differ on others.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Structured. </a:t>
            </a:r>
            <a:r>
              <a:rPr sz="1400" b="0">
                <a:solidFill>
                  <a:schemeClr val="tx1"/>
                </a:solidFill>
              </a:rPr>
              <a:t>The patch and the rejection. A patch is a set of hunks, each over a file and a range of lines.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9251" y="2890000"/>
            <a:ext cx="6014545" cy="610801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0">
                <a:solidFill>
                  <a:schemeClr val="tx2"/>
                </a:solidFill>
              </a:rPr>
              <a:t>The expressive representation is the exception, because reasoning over structure is harder for us and for the model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251" y="3531801"/>
            <a:ext cx="601454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i="1">
                <a:solidFill>
                  <a:schemeClr val="bg2"/>
                </a:solidFill>
              </a:rPr>
              <a:t>Russell and Norvig, §2.4.7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251" y="3950000"/>
            <a:ext cx="6014545" cy="430000"/>
          </a:xfrm>
          <a:prstGeom prst="rect">
            <a:avLst/>
          </a:prstGeom>
          <a:noFill/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200" b="1">
                <a:solidFill>
                  <a:srgbClr val="28285E"/>
                </a:solidFill>
              </a:rPr>
              <a:t>Keeping the record factored is what buys us reducers, routing and limits.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state schema, field by field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9251" y="1050000"/>
          <a:ext cx="6014545" cy="22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4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Field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Reducer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What it holds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alert, repo, commit, workspace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Set once: the alert, the fixture, the pinned commit, the workspace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messages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append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The conversation, in provider form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observations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append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One record per dispatched tool call, refused or not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candidate_patch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replace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The patch currently proposed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model_calls, usage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accumulate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Calls issued and tokens spent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status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replace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Running, or the terminal status that ended the run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state schema, field by field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9251" y="1050000"/>
          <a:ext cx="6014545" cy="323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4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Field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Reducer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What it holds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alert, repo, commit, workspace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Set once: the alert, the fixture, the pinned commit, the workspace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messages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append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The conversation, in provider form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observations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append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One record per dispatched tool call, refused or not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candidate_patch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replace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The patch currently proposed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model_calls, usage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accumulate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Calls issued and tokens spent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  <a:latin typeface="Maple Mono NF"/>
                        </a:rPr>
                        <a:t>status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replace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Running, or the terminal status that ended the run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accent4"/>
                          </a:solidFill>
                        </a:rPr>
                        <a:t>plan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replace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The subgoals and their status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accent4"/>
                          </a:solidFill>
                        </a:rPr>
                        <a:t>validation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replace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The latest acceptance decision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accent4"/>
                          </a:solidFill>
                        </a:rPr>
                        <a:t>reflections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append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Guidance kept from rejected attempts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accent4"/>
                          </a:solidFill>
                        </a:rPr>
                        <a:t>attempt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explicit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Which attempt is running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888761" y="4488650"/>
            <a:ext cx="4445035" cy="430000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200" b="0" dirty="0">
                <a:solidFill>
                  <a:schemeClr val="tx2"/>
                </a:solidFill>
              </a:rPr>
              <a:t>The four below the rule arrive with the planner, the validator and the reflection step.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TypedDict checks nothing at run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9251" y="900000"/>
            <a:ext cx="6014545" cy="2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28285E"/>
                </a:solidFill>
              </a:rPr>
              <a:t>The annotation is for a type checker, and nothing else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9251" y="1160000"/>
            <a:ext cx="6014545" cy="900000"/>
          </a:xfrm>
          <a:prstGeom prst="roundRect">
            <a:avLst>
              <a:gd name="adj" fmla="val 4000"/>
            </a:avLst>
          </a:prstGeom>
          <a:solidFill>
            <a:srgbClr val="F2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0000" tIns="60000" bIns="60000" rtlCol="0" anchor="ctr"/>
          <a:lstStyle/>
          <a:p>
            <a:pPr algn="l">
              <a:buNone/>
            </a:pPr>
            <a:r>
              <a:rPr sz="1100" dirty="0">
                <a:solidFill>
                  <a:srgbClr val="28285E"/>
                </a:solidFill>
                <a:latin typeface="Maple Mono NF"/>
              </a:rPr>
              <a:t>class </a:t>
            </a:r>
            <a:r>
              <a:rPr sz="1100" dirty="0" err="1">
                <a:solidFill>
                  <a:srgbClr val="28285E"/>
                </a:solidFill>
                <a:latin typeface="Maple Mono NF"/>
              </a:rPr>
              <a:t>AgentState</a:t>
            </a:r>
            <a:r>
              <a:rPr sz="1100" dirty="0">
                <a:solidFill>
                  <a:srgbClr val="28285E"/>
                </a:solidFill>
                <a:latin typeface="Maple Mono NF"/>
              </a:rPr>
              <a:t>(</a:t>
            </a:r>
            <a:r>
              <a:rPr sz="1100" dirty="0" err="1">
                <a:solidFill>
                  <a:srgbClr val="28285E"/>
                </a:solidFill>
                <a:latin typeface="Maple Mono NF"/>
              </a:rPr>
              <a:t>TypedDict</a:t>
            </a:r>
            <a:r>
              <a:rPr sz="1100" dirty="0">
                <a:solidFill>
                  <a:srgbClr val="28285E"/>
                </a:solidFill>
                <a:latin typeface="Maple Mono NF"/>
              </a:rPr>
              <a:t>, total=False):</a:t>
            </a:r>
          </a:p>
          <a:p>
            <a:pPr algn="l">
              <a:buNone/>
            </a:pPr>
            <a:r>
              <a:rPr sz="1100" dirty="0">
                <a:solidFill>
                  <a:srgbClr val="28285E"/>
                </a:solidFill>
                <a:latin typeface="Maple Mono NF"/>
              </a:rPr>
              <a:t>    </a:t>
            </a:r>
            <a:r>
              <a:rPr sz="1100" dirty="0" err="1">
                <a:solidFill>
                  <a:srgbClr val="28285E"/>
                </a:solidFill>
                <a:latin typeface="Maple Mono NF"/>
              </a:rPr>
              <a:t>model_calls</a:t>
            </a:r>
            <a:r>
              <a:rPr sz="1100" dirty="0">
                <a:solidFill>
                  <a:srgbClr val="28285E"/>
                </a:solidFill>
                <a:latin typeface="Maple Mono NF"/>
              </a:rPr>
              <a:t>: Annotated[int, </a:t>
            </a:r>
            <a:r>
              <a:rPr sz="1100" dirty="0" err="1">
                <a:solidFill>
                  <a:srgbClr val="28285E"/>
                </a:solidFill>
                <a:latin typeface="Maple Mono NF"/>
              </a:rPr>
              <a:t>operator.add</a:t>
            </a:r>
            <a:r>
              <a:rPr sz="1100" dirty="0">
                <a:solidFill>
                  <a:srgbClr val="28285E"/>
                </a:solidFill>
                <a:latin typeface="Maple Mono NF"/>
              </a:rPr>
              <a:t>]</a:t>
            </a:r>
          </a:p>
          <a:p>
            <a:pPr algn="l">
              <a:buNone/>
            </a:pPr>
            <a:endParaRPr sz="1100" dirty="0">
              <a:solidFill>
                <a:srgbClr val="28285E"/>
              </a:solidFill>
              <a:latin typeface="Maple Mono NF"/>
            </a:endParaRPr>
          </a:p>
          <a:p>
            <a:pPr algn="l">
              <a:buNone/>
            </a:pPr>
            <a:r>
              <a:rPr sz="1100" dirty="0">
                <a:solidFill>
                  <a:srgbClr val="8A8A9A"/>
                </a:solidFill>
                <a:latin typeface="Maple Mono NF"/>
              </a:rPr>
              <a:t># a model reply puts </a:t>
            </a:r>
            <a:r>
              <a:rPr sz="1100" b="1" dirty="0">
                <a:solidFill>
                  <a:srgbClr val="C73561"/>
                </a:solidFill>
                <a:latin typeface="Maple Mono NF"/>
              </a:rPr>
              <a:t>"forty"</a:t>
            </a:r>
            <a:r>
              <a:rPr sz="1100" dirty="0">
                <a:solidFill>
                  <a:srgbClr val="8A8A9A"/>
                </a:solidFill>
                <a:latin typeface="Maple Mono NF"/>
              </a:rPr>
              <a:t> here: type-checks, and is wrong at run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9251" y="2350000"/>
            <a:ext cx="6014545" cy="610801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0">
                <a:solidFill>
                  <a:schemeClr val="tx2"/>
                </a:solidFill>
              </a:rPr>
              <a:t>Every guarantee about the contents of state rests on code we write.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9251" y="2991801"/>
            <a:ext cx="601454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i="1">
                <a:solidFill>
                  <a:schemeClr val="bg2"/>
                </a:solidFill>
              </a:rPr>
              <a:t>PEP 589</a:t>
            </a:r>
          </a:p>
        </p:txBody>
      </p:sp>
      <p:sp>
        <p:nvSpPr>
          <p:cNvPr id="7" name="Rectangle 6"/>
          <p:cNvSpPr/>
          <p:nvPr/>
        </p:nvSpPr>
        <p:spPr>
          <a:xfrm>
            <a:off x="319251" y="3420000"/>
            <a:ext cx="6014545" cy="430000"/>
          </a:xfrm>
          <a:prstGeom prst="rect">
            <a:avLst/>
          </a:prstGeom>
          <a:noFill/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200" b="1">
                <a:solidFill>
                  <a:srgbClr val="28285E"/>
                </a:solidFill>
              </a:rPr>
              <a:t>The check that catches it is the argument validation at the tool boundary.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tool result becoming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9251" y="750000"/>
            <a:ext cx="6014545" cy="2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28285E"/>
                </a:solidFill>
              </a:rPr>
              <a:t>Four events in, the dispatcher returns 1,665 characters of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9251" y="1010000"/>
            <a:ext cx="6014545" cy="1300000"/>
          </a:xfrm>
          <a:prstGeom prst="roundRect">
            <a:avLst>
              <a:gd name="adj" fmla="val 4000"/>
            </a:avLst>
          </a:prstGeom>
          <a:solidFill>
            <a:srgbClr val="F2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50000" tIns="60000" bIns="60000" rtlCol="0" anchor="ctr"/>
          <a:lstStyle/>
          <a:p>
            <a:pPr algn="l">
              <a:buNone/>
            </a:pPr>
            <a:r>
              <a:rPr sz="1100">
                <a:solidFill>
                  <a:srgbClr val="8A8A9A"/>
                </a:solidFill>
                <a:latin typeface="Maple Mono NF"/>
              </a:rPr>
              <a:t># before: observations [], messages 3, model_calls 1</a:t>
            </a:r>
          </a:p>
          <a:p>
            <a:pPr algn="l">
              <a:buNone/>
            </a:pPr>
            <a:r>
              <a:rPr sz="1100">
                <a:solidFill>
                  <a:srgbClr val="28285E"/>
                </a:solidFill>
                <a:latin typeface="Maple Mono NF"/>
              </a:rPr>
              <a:t>return {"observations": [{"tool": "read_file", "ok": True,</a:t>
            </a:r>
          </a:p>
          <a:p>
            <a:pPr algn="l">
              <a:buNone/>
            </a:pPr>
            <a:r>
              <a:rPr sz="1100">
                <a:solidFill>
                  <a:srgbClr val="28285E"/>
                </a:solidFill>
                <a:latin typeface="Maple Mono NF"/>
              </a:rPr>
              <a:t>                          "result": "&lt;1665 chars of source&gt;"}],</a:t>
            </a:r>
          </a:p>
          <a:p>
            <a:pPr algn="l">
              <a:buNone/>
            </a:pPr>
            <a:r>
              <a:rPr sz="1100">
                <a:solidFill>
                  <a:srgbClr val="28285E"/>
                </a:solidFill>
                <a:latin typeface="Maple Mono NF"/>
              </a:rPr>
              <a:t>        "messages": [ToolMessage(...)]}</a:t>
            </a:r>
          </a:p>
          <a:p>
            <a:pPr algn="l">
              <a:buNone/>
            </a:pPr>
            <a:r>
              <a:rPr sz="1100">
                <a:solidFill>
                  <a:srgbClr val="8A8A9A"/>
                </a:solidFill>
                <a:latin typeface="Maple Mono NF"/>
              </a:rPr>
              <a:t># merged: observations +1, messages +1, every other key untouched</a:t>
            </a:r>
          </a:p>
          <a:p>
            <a:pPr algn="l">
              <a:buNone/>
            </a:pPr>
            <a:r>
              <a:rPr sz="1100">
                <a:solidFill>
                  <a:srgbClr val="8A8A9A"/>
                </a:solidFill>
                <a:latin typeface="Maple Mono NF"/>
              </a:rPr>
              <a:t># the next model input is built from messages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9251" y="2560000"/>
            <a:ext cx="6014545" cy="610801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0">
                <a:solidFill>
                  <a:schemeClr val="tx2"/>
                </a:solidFill>
              </a:rPr>
              <a:t>The observation the runtime stored is richer than the message the model receives.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251" y="3400000"/>
            <a:ext cx="6014545" cy="430000"/>
          </a:xfrm>
          <a:prstGeom prst="rect">
            <a:avLst/>
          </a:prstGeom>
          <a:noFill/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200" b="1">
                <a:solidFill>
                  <a:srgbClr val="28285E"/>
                </a:solidFill>
              </a:rPr>
              <a:t>State answers what the run knows now; the trace answers what the run did.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owns each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251" y="700000"/>
            <a:ext cx="6014545" cy="1990000"/>
          </a:xfrm>
        </p:spPr>
        <p:txBody>
          <a:bodyPr wrap="square" anchor="ctr">
            <a:normAutofit fontScale="92500" lnSpcReduction="10000"/>
          </a:bodyPr>
          <a:lstStyle/>
          <a:p>
            <a:pPr marL="0" indent="0">
              <a:buNone/>
            </a:pPr>
            <a:r>
              <a:rPr sz="1400" b="1">
                <a:solidFill>
                  <a:srgbClr val="28285E"/>
                </a:solidFill>
              </a:rPr>
              <a:t>Ownership divides on the same line as the two edges.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The free retry is ours. </a:t>
            </a:r>
            <a:r>
              <a:rPr sz="1400" b="0">
                <a:solidFill>
                  <a:schemeClr val="tx1"/>
                </a:solidFill>
              </a:rPr>
              <a:t>The runtime reissues a failed tool call once, because a transient failure is not evidence about the plan.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The revision is the model's proposal. </a:t>
            </a:r>
            <a:r>
              <a:rPr sz="1400" b="0">
                <a:solidFill>
                  <a:schemeClr val="tx1"/>
                </a:solidFill>
              </a:rPr>
              <a:t>The runtime records it and merges it into </a:t>
            </a:r>
            <a:r>
              <a:rPr sz="1400" b="0">
                <a:latin typeface="Maple Mono NF"/>
              </a:rPr>
              <a:t>plan</a:t>
            </a:r>
            <a:r>
              <a:rPr sz="1400" b="0">
                <a:solidFill>
                  <a:schemeClr val="tx1"/>
                </a:solidFill>
              </a:rPr>
              <a:t>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The new attempt is ours. </a:t>
            </a:r>
            <a:r>
              <a:rPr sz="1400" b="0">
                <a:solidFill>
                  <a:schemeClr val="tx1"/>
                </a:solidFill>
              </a:rPr>
              <a:t>It is a comparison on the attempt counter.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9251" y="2850000"/>
            <a:ext cx="6014545" cy="610801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0">
                <a:solidFill>
                  <a:schemeClr val="tx2"/>
                </a:solidFill>
              </a:rPr>
              <a:t>A limit that the model can talk its way past is not a limit.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19251" y="3700000"/>
            <a:ext cx="6014545" cy="430000"/>
          </a:xfrm>
          <a:prstGeom prst="rect">
            <a:avLst/>
          </a:prstGeom>
          <a:noFill/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200" b="1">
                <a:solidFill>
                  <a:srgbClr val="28285E"/>
                </a:solidFill>
              </a:rPr>
              <a:t>The retry before the upper edge costs no model call.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endings, in the recorded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251" y="700000"/>
            <a:ext cx="6014545" cy="2010000"/>
          </a:xfrm>
        </p:spPr>
        <p:txBody>
          <a:bodyPr wrap="square" anchor="ctr">
            <a:normAutofit fontScale="92500" lnSpcReduction="20000"/>
          </a:bodyPr>
          <a:lstStyle/>
          <a:p>
            <a:pPr marL="0" indent="0">
              <a:buNone/>
            </a:pPr>
            <a:r>
              <a:rPr sz="1400" b="1">
                <a:solidFill>
                  <a:srgbClr val="28285E"/>
                </a:solidFill>
              </a:rPr>
              <a:t>The difference between them is where the last event sits.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Accepted. </a:t>
            </a:r>
            <a:r>
              <a:rPr sz="1400" b="0">
                <a:solidFill>
                  <a:schemeClr val="tx1"/>
                </a:solidFill>
              </a:rPr>
              <a:t>Event seventeen is a terminal record with the usage totals, written after submit reported three passing checks.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Budget exhausted. </a:t>
            </a:r>
            <a:r>
              <a:rPr sz="1400" b="0">
                <a:solidFill>
                  <a:schemeClr val="tx1"/>
                </a:solidFill>
              </a:rPr>
              <a:t>The check fires before the call, so no fifth model call sits between the routing event and the terminal one.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No ending observed. </a:t>
            </a:r>
            <a:r>
              <a:rPr sz="1400" b="0">
                <a:solidFill>
                  <a:schemeClr val="tx1"/>
                </a:solidFill>
              </a:rPr>
              <a:t>Interrupt between a tool result and the next model call: every event is valid and no terminal record arrives.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9251" y="2870000"/>
            <a:ext cx="6014545" cy="610801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0">
                <a:solidFill>
                  <a:schemeClr val="tx2"/>
                </a:solidFill>
              </a:rPr>
              <a:t>What we may not say is which ending would have arrived.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19251" y="3720000"/>
            <a:ext cx="6014545" cy="430000"/>
          </a:xfrm>
          <a:prstGeom prst="rect">
            <a:avLst/>
          </a:prstGeom>
          <a:noFill/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200" b="1">
                <a:solidFill>
                  <a:srgbClr val="28285E"/>
                </a:solidFill>
              </a:rPr>
              <a:t>An excerpt used in teaching is worth marking with how it was produced.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proves a function 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251" y="700000"/>
            <a:ext cx="6014545" cy="1990000"/>
          </a:xfrm>
        </p:spPr>
        <p:txBody>
          <a:bodyPr wrap="square" anchor="ctr">
            <a:normAutofit fontScale="92500" lnSpcReduction="10000"/>
          </a:bodyPr>
          <a:lstStyle/>
          <a:p>
            <a:pPr marL="0" indent="0">
              <a:buNone/>
            </a:pPr>
            <a:r>
              <a:rPr sz="1400" b="1">
                <a:solidFill>
                  <a:srgbClr val="28285E"/>
                </a:solidFill>
              </a:rPr>
              <a:t>A model response establishes that a tool was requested.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A tool call in a response </a:t>
            </a:r>
            <a:r>
              <a:rPr sz="1400" b="0">
                <a:solidFill>
                  <a:schemeClr val="tx1"/>
                </a:solidFill>
              </a:rPr>
              <a:t>is evidence about the model, and not about the file system.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A transcript showing a request and a plausible result </a:t>
            </a:r>
            <a:r>
              <a:rPr sz="1400" b="0">
                <a:solidFill>
                  <a:schemeClr val="tx1"/>
                </a:solidFill>
              </a:rPr>
              <a:t>establishes nothing, because the model produced both.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The </a:t>
            </a:r>
            <a:r>
              <a:rPr sz="1400" b="0">
                <a:latin typeface="Maple Mono NF"/>
              </a:rPr>
              <a:t>tool_result</a:t>
            </a:r>
            <a:r>
              <a:rPr sz="1400" b="1">
                <a:solidFill>
                  <a:schemeClr val="tx1"/>
                </a:solidFill>
              </a:rPr>
              <a:t> event </a:t>
            </a:r>
            <a:r>
              <a:rPr sz="1400" b="0">
                <a:solidFill>
                  <a:schemeClr val="tx1"/>
                </a:solidFill>
              </a:rPr>
              <a:t>is our record of entering the function.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9251" y="2850000"/>
            <a:ext cx="6014545" cy="610801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0">
                <a:solidFill>
                  <a:schemeClr val="tx2"/>
                </a:solidFill>
              </a:rPr>
              <a:t>The evidence that a function was entered is the runtime's own record of entering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19251" y="3700000"/>
            <a:ext cx="6014545" cy="430000"/>
          </a:xfrm>
          <a:prstGeom prst="rect">
            <a:avLst/>
          </a:prstGeom>
          <a:noFill/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200" b="1">
                <a:solidFill>
                  <a:srgbClr val="28285E"/>
                </a:solidFill>
              </a:rPr>
              <a:t>Several tool calls in one response are dispatched one at a time, each answered.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agent-computer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251" y="700000"/>
            <a:ext cx="6014545" cy="2390000"/>
          </a:xfrm>
        </p:spPr>
        <p:txBody>
          <a:bodyPr wrap="square" anchor="ctr">
            <a:normAutofit fontScale="92500" lnSpcReduction="20000"/>
          </a:bodyPr>
          <a:lstStyle/>
          <a:p>
            <a:pPr marL="0" indent="0">
              <a:buNone/>
            </a:pPr>
            <a:r>
              <a:rPr sz="1400" b="1">
                <a:solidFill>
                  <a:srgbClr val="28285E"/>
                </a:solidFill>
              </a:rPr>
              <a:t>Four principles come out of that work, and each has a counterpart in our dispatcher.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Actions are simple and few.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Important operations are consolidated, </a:t>
            </a:r>
            <a:r>
              <a:rPr sz="1400" b="0">
                <a:solidFill>
                  <a:schemeClr val="tx1"/>
                </a:solidFill>
              </a:rPr>
              <a:t>so that one action makes real progress.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Feedback is informative and concise.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Guardrails catch the mistakes models make, </a:t>
            </a:r>
            <a:r>
              <a:rPr sz="1400" b="0">
                <a:solidFill>
                  <a:schemeClr val="tx1"/>
                </a:solidFill>
              </a:rPr>
              <a:t>so an error does not propagate through the turns that follow.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9251" y="3280000"/>
            <a:ext cx="6014545" cy="610801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0">
                <a:solidFill>
                  <a:schemeClr val="tx2"/>
                </a:solidFill>
              </a:rPr>
              <a:t>An agent-computer interface specifies the commands available to the model, and how environment state is communicated back 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251" y="3921801"/>
            <a:ext cx="601454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i="1">
                <a:solidFill>
                  <a:schemeClr val="bg2"/>
                </a:solidFill>
              </a:rPr>
              <a:t>Yang et al., §2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each interface component is worth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9251" y="1100000"/>
          <a:ext cx="6014545" cy="256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Component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Variant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Resolved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Change</a:t>
                      </a:r>
                    </a:p>
                  </a:txBody>
                  <a:tcPr marL="95250" marR="95250" marT="47625" marB="47625"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</a:rPr>
                        <a:t>SWE-agent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as configured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18.0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</a:rPr>
                        <a:t>Editor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edit action without linting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15.0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−3.0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no edit action at all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10.3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−7.7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</a:rPr>
                        <a:t>Search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iterative search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12.0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−6.0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no search tools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15.7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−2.3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</a:rPr>
                        <a:t>File viewer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30-line window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14.3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−3.7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whole file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12.7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−5.3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1">
                          <a:solidFill>
                            <a:srgbClr val="28285E"/>
                          </a:solidFill>
                        </a:rPr>
                        <a:t>Context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full history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15.0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−3.0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no demonstration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16.3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−1.7</a:t>
                      </a:r>
                    </a:p>
                  </a:txBody>
                  <a:tcPr marL="95250" marR="95250" marT="47625" marB="47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888761" y="3780000"/>
            <a:ext cx="4445035" cy="430000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200" b="0">
                <a:solidFill>
                  <a:schemeClr val="tx2"/>
                </a:solidFill>
              </a:rPr>
              <a:t>Percent of SWE-bench Lite resolved, with the base model </a:t>
            </a:r>
            <a:r>
              <a:rPr sz="1200" b="1">
                <a:solidFill>
                  <a:schemeClr val="tx2"/>
                </a:solidFill>
              </a:rPr>
              <a:t>held fixed</a:t>
            </a:r>
            <a:r>
              <a:rPr sz="1200" b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ablation table does not 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251" y="700000"/>
            <a:ext cx="6014545" cy="2300000"/>
          </a:xfrm>
        </p:spPr>
        <p:txBody>
          <a:bodyPr wrap="square" anchor="ctr">
            <a:normAutofit fontScale="92500" lnSpcReduction="20000"/>
          </a:bodyPr>
          <a:lstStyle/>
          <a:p>
            <a:pPr marL="0" indent="0">
              <a:buNone/>
            </a:pPr>
            <a:r>
              <a:rPr sz="1400" b="1">
                <a:solidFill>
                  <a:srgbClr val="28285E"/>
                </a:solidFill>
              </a:rPr>
              <a:t>Two readings of that table are worth separating.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It supports </a:t>
            </a:r>
            <a:r>
              <a:rPr sz="1400" b="0">
                <a:solidFill>
                  <a:schemeClr val="tx1"/>
                </a:solidFill>
              </a:rPr>
              <a:t>the claim that interface choices move outcomes by several points each, and the 7.7-point edit gap is larger than the gap between many published systems.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It does not support </a:t>
            </a:r>
            <a:r>
              <a:rPr sz="1400" b="0">
                <a:solidFill>
                  <a:schemeClr val="tx1"/>
                </a:solidFill>
              </a:rPr>
              <a:t>a general ranking of interfaces: one system, one base model, a 300-instance subset.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Clr>
                <a:srgbClr val="28285E"/>
              </a:buClr>
              <a:buSzPts val="1260"/>
              <a:buFont typeface="+mn-lt"/>
              <a:buChar char="●"/>
            </a:pPr>
            <a:r>
              <a:rPr sz="1400" b="1">
                <a:solidFill>
                  <a:schemeClr val="tx1"/>
                </a:solidFill>
              </a:rPr>
              <a:t>The row to dwell on </a:t>
            </a:r>
            <a:r>
              <a:rPr sz="1400" b="0">
                <a:solidFill>
                  <a:schemeClr val="tx1"/>
                </a:solidFill>
              </a:rPr>
              <a:t>is search, where returning results one at a time scores 12.0, below having no search tool at all at 15.7.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9251" y="3150000"/>
            <a:ext cx="6014545" cy="610801"/>
          </a:xfrm>
          <a:prstGeom prst="rect">
            <a:avLst/>
          </a:prstGeom>
          <a:solidFill>
            <a:srgbClr val="28285E"/>
          </a:solidFill>
          <a:ln>
            <a:solidFill>
              <a:srgbClr val="2828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0">
                <a:solidFill>
                  <a:schemeClr val="tx2"/>
                </a:solidFill>
              </a:rPr>
              <a:t>A well-intentioned interface can be worse than nothing when it invites the model to work through every match in turn.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Columbia University">
      <a:dk1>
        <a:srgbClr val="000000"/>
      </a:dk1>
      <a:lt1>
        <a:srgbClr val="FFFFFF"/>
      </a:lt1>
      <a:dk2>
        <a:srgbClr val="28285E"/>
      </a:dk2>
      <a:lt2>
        <a:srgbClr val="E8E8E8"/>
      </a:lt2>
      <a:accent1>
        <a:srgbClr val="28285D"/>
      </a:accent1>
      <a:accent2>
        <a:srgbClr val="348EDC"/>
      </a:accent2>
      <a:accent3>
        <a:srgbClr val="099191"/>
      </a:accent3>
      <a:accent4>
        <a:srgbClr val="C73561"/>
      </a:accent4>
      <a:accent5>
        <a:srgbClr val="772482"/>
      </a:accent5>
      <a:accent6>
        <a:srgbClr val="EDB15D"/>
      </a:accent6>
      <a:hlink>
        <a:srgbClr val="467886"/>
      </a:hlink>
      <a:folHlink>
        <a:srgbClr val="96607D"/>
      </a:folHlink>
    </a:clrScheme>
    <a:fontScheme name="Office">
      <a:maj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8701</TotalTime>
  <Words>23576</Words>
  <Application>Microsoft Macintosh PowerPoint</Application>
  <PresentationFormat>Custom</PresentationFormat>
  <Paragraphs>1518</Paragraphs>
  <Slides>149</Slides>
  <Notes>139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149</vt:i4>
      </vt:variant>
    </vt:vector>
  </HeadingPairs>
  <TitlesOfParts>
    <vt:vector size="154" baseType="lpstr">
      <vt:lpstr>Arial</vt:lpstr>
      <vt:lpstr>Fira Sans Light</vt:lpstr>
      <vt:lpstr>Fira Sans</vt:lpstr>
      <vt:lpstr>Maple Mono NF</vt:lpstr>
      <vt:lpstr>Simple Light</vt:lpstr>
      <vt:lpstr>Designing Production Agentic Systems</vt:lpstr>
      <vt:lpstr>PowerPoint Presentation</vt:lpstr>
      <vt:lpstr>About the Instructors</vt:lpstr>
      <vt:lpstr>Class Notifications</vt:lpstr>
      <vt:lpstr>The key question that motivates this course</vt:lpstr>
      <vt:lpstr>What I hope you will learn…</vt:lpstr>
      <vt:lpstr>What I hope you will learn…</vt:lpstr>
      <vt:lpstr>Homework, Grades, and Exams</vt:lpstr>
      <vt:lpstr>Homework, Grades, and Exams</vt:lpstr>
      <vt:lpstr>PowerPoint Presentation</vt:lpstr>
      <vt:lpstr>Rational agents</vt:lpstr>
      <vt:lpstr>Rational agents</vt:lpstr>
      <vt:lpstr>Rational agents</vt:lpstr>
      <vt:lpstr>Rational agents</vt:lpstr>
      <vt:lpstr>Rational agents</vt:lpstr>
      <vt:lpstr>Today’s demo agent: mini-swe-agent</vt:lpstr>
      <vt:lpstr>One alert, one run, one patch</vt:lpstr>
      <vt:lpstr>One alert, one run, one patch</vt:lpstr>
      <vt:lpstr>One alert, one run, one patch</vt:lpstr>
      <vt:lpstr>Why this is a rational agent</vt:lpstr>
      <vt:lpstr>When it is not</vt:lpstr>
      <vt:lpstr>When it is not</vt:lpstr>
      <vt:lpstr>When it is not</vt:lpstr>
      <vt:lpstr>When it is not</vt:lpstr>
      <vt:lpstr>The task environment</vt:lpstr>
      <vt:lpstr>The task environment</vt:lpstr>
      <vt:lpstr>Properties: Fully or partially observable</vt:lpstr>
      <vt:lpstr>Single agent or multiagent</vt:lpstr>
      <vt:lpstr>Deterministic or nondeterministic</vt:lpstr>
      <vt:lpstr>Episodic or sequential</vt:lpstr>
      <vt:lpstr>Static or dynamic</vt:lpstr>
      <vt:lpstr>Discrete or continuous</vt:lpstr>
      <vt:lpstr>Known or unknown</vt:lpstr>
      <vt:lpstr>The agent, its tools, and its environment</vt:lpstr>
      <vt:lpstr>The rest of this lecture</vt:lpstr>
      <vt:lpstr>PowerPoint Presentation</vt:lpstr>
      <vt:lpstr>A fixed workflow</vt:lpstr>
      <vt:lpstr>Understanding design decision points</vt:lpstr>
      <vt:lpstr>Understanding design decision points</vt:lpstr>
      <vt:lpstr>What the fixed shape buys</vt:lpstr>
      <vt:lpstr>What the fixed shape buys</vt:lpstr>
      <vt:lpstr>Fixed parts and open parts</vt:lpstr>
      <vt:lpstr>What the fixed shape costs</vt:lpstr>
      <vt:lpstr>Agentless: A sample realization of a workflow</vt:lpstr>
      <vt:lpstr>Agentless and SWE-agent</vt:lpstr>
      <vt:lpstr>Grains of salt</vt:lpstr>
      <vt:lpstr>PowerPoint Presentation</vt:lpstr>
      <vt:lpstr>A reactive loop</vt:lpstr>
      <vt:lpstr>A reactive loop</vt:lpstr>
      <vt:lpstr>A reactive loop</vt:lpstr>
      <vt:lpstr>A reactive loop</vt:lpstr>
      <vt:lpstr>A reactive loop</vt:lpstr>
      <vt:lpstr>A reactive loop</vt:lpstr>
      <vt:lpstr>The graph that our first demo builds</vt:lpstr>
      <vt:lpstr>The graph, in code: the nodes</vt:lpstr>
      <vt:lpstr>Then the edges</vt:lpstr>
      <vt:lpstr>And the conditional ones</vt:lpstr>
      <vt:lpstr>Then compile</vt:lpstr>
      <vt:lpstr>Who picks the edge</vt:lpstr>
      <vt:lpstr>Model’s autonomy increases</vt:lpstr>
      <vt:lpstr>What the loop buys</vt:lpstr>
      <vt:lpstr>What the loop buys</vt:lpstr>
      <vt:lpstr>What the loop buys</vt:lpstr>
      <vt:lpstr>What the loop buys</vt:lpstr>
      <vt:lpstr>What it costs</vt:lpstr>
      <vt:lpstr>What it costs</vt:lpstr>
      <vt:lpstr>What it costs</vt:lpstr>
      <vt:lpstr>What it costs</vt:lpstr>
      <vt:lpstr>Where the failures live</vt:lpstr>
      <vt:lpstr>Three shapes of failure</vt:lpstr>
      <vt:lpstr>The stops are ours</vt:lpstr>
      <vt:lpstr>Demo &lt;/&gt;</vt:lpstr>
      <vt:lpstr>Some samples from our run</vt:lpstr>
      <vt:lpstr>PowerPoint Presentation</vt:lpstr>
      <vt:lpstr>Challenges with React Loop</vt:lpstr>
      <vt:lpstr>Shapes of Planning</vt:lpstr>
      <vt:lpstr>What each shape does with an observation</vt:lpstr>
      <vt:lpstr>The graph our planner-based demo builds</vt:lpstr>
      <vt:lpstr>The new nodes in our planner-based demo</vt:lpstr>
      <vt:lpstr>The edge from tools now has two destinations</vt:lpstr>
      <vt:lpstr>How the runtime decides the plan has failed</vt:lpstr>
      <vt:lpstr>What a planner changes compared to a react</vt:lpstr>
      <vt:lpstr>What a planner changes compared to a react</vt:lpstr>
      <vt:lpstr>What one plan step records</vt:lpstr>
      <vt:lpstr>Where a run goes wrong</vt:lpstr>
      <vt:lpstr>Where a run goes wrong</vt:lpstr>
      <vt:lpstr>Why wider search does not fix myopia</vt:lpstr>
      <vt:lpstr>Why submit can no longer accept a patch</vt:lpstr>
      <vt:lpstr>Why the validator never sees the conversation</vt:lpstr>
      <vt:lpstr>Self-review, measured: accuracy and cost</vt:lpstr>
      <vt:lpstr>Model verifier against sound verifier</vt:lpstr>
      <vt:lpstr>PowerPoint Presentation</vt:lpstr>
      <vt:lpstr>Reason and act</vt:lpstr>
      <vt:lpstr>Sequential</vt:lpstr>
      <vt:lpstr>Parallel</vt:lpstr>
      <vt:lpstr>Loop</vt:lpstr>
      <vt:lpstr>Review and critique</vt:lpstr>
      <vt:lpstr>Iterative refinement</vt:lpstr>
      <vt:lpstr>Coordinator</vt:lpstr>
      <vt:lpstr>Hierarchical task decomposition</vt:lpstr>
      <vt:lpstr>Swarm</vt:lpstr>
      <vt:lpstr>Human in the loop</vt:lpstr>
      <vt:lpstr>Custom logic</vt:lpstr>
      <vt:lpstr>Task ownership</vt:lpstr>
      <vt:lpstr>State boundaries</vt:lpstr>
      <vt:lpstr>Model-call overhead</vt:lpstr>
      <vt:lpstr>Latency</vt:lpstr>
      <vt:lpstr>Failure propagation</vt:lpstr>
      <vt:lpstr>Inspectability</vt:lpstr>
      <vt:lpstr>PowerPoint Presentation</vt:lpstr>
      <vt:lpstr>PowerPoint Presentation</vt:lpstr>
      <vt:lpstr>PowerPoint Presentation</vt:lpstr>
      <vt:lpstr>PowerPoint Presentation</vt:lpstr>
      <vt:lpstr>The record every node reads and writes</vt:lpstr>
      <vt:lpstr>A simple transition--Propose, then Merge</vt:lpstr>
      <vt:lpstr>Why two runs from one state diverge</vt:lpstr>
      <vt:lpstr>Three records, and who reads each</vt:lpstr>
      <vt:lpstr>The counters the model never sees</vt:lpstr>
      <vt:lpstr>How mini-swe-agent represents a state</vt:lpstr>
      <vt:lpstr>The state schema, field by field</vt:lpstr>
      <vt:lpstr>The state schema, field by field</vt:lpstr>
      <vt:lpstr>A TypedDict checks nothing at run time</vt:lpstr>
      <vt:lpstr>Three reducers, three kinds of visibility</vt:lpstr>
      <vt:lpstr>Clearing a field that appends</vt:lpstr>
      <vt:lpstr>One tool result becoming state</vt:lpstr>
      <vt:lpstr>PowerPoint Presentation</vt:lpstr>
      <vt:lpstr>Where the next node is chosen</vt:lpstr>
      <vt:lpstr>The complete graph, with both back edges</vt:lpstr>
      <vt:lpstr>What the router actually reads</vt:lpstr>
      <vt:lpstr>Reading who decided from the trace</vt:lpstr>
      <vt:lpstr>One compiled graph, different paths</vt:lpstr>
      <vt:lpstr>Two returns to the planner</vt:lpstr>
      <vt:lpstr>Who owns each return</vt:lpstr>
      <vt:lpstr>Three limits the runtime checks</vt:lpstr>
      <vt:lpstr>The five terminal statuses</vt:lpstr>
      <vt:lpstr>What a trace lets you conclude</vt:lpstr>
      <vt:lpstr>Three endings, in the recorded runs</vt:lpstr>
      <vt:lpstr>What a tool contract contains</vt:lpstr>
      <vt:lpstr>One request through the dispatcher</vt:lpstr>
      <vt:lpstr>Five operations, each able to stop</vt:lpstr>
      <vt:lpstr>Why a refusal is an observation</vt:lpstr>
      <vt:lpstr>Why config is not a parameter</vt:lpstr>
      <vt:lpstr>Six artifacts, six different claims</vt:lpstr>
      <vt:lpstr>What proves a function ran</vt:lpstr>
      <vt:lpstr>The agent-computer interface</vt:lpstr>
      <vt:lpstr>What each interface component is worth</vt:lpstr>
      <vt:lpstr>What the ablation table does not say</vt:lpstr>
      <vt:lpstr>Each guarantee, and what enforces it</vt:lpstr>
      <vt:lpstr>A refused request, side by side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Rahul Krishna</cp:lastModifiedBy>
  <cp:revision>166</cp:revision>
  <dcterms:modified xsi:type="dcterms:W3CDTF">2026-09-22T09:52:22Z</dcterms:modified>
</cp:coreProperties>
</file>
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5.xml" ContentType="application/vnd.openxmlformats-officedocument.presentationml.notesSlide+xml"/>
  <Override PartName="/ppt/notesSlides/notesSlide12.xml" ContentType="application/vnd.openxmlformats-officedocument.presentationml.notesSlide+xml"/>
  <Override PartName="/ppt/notesSlides/notesSlide123.xml" ContentType="application/vnd.openxmlformats-officedocument.presentationml.notesSlide+xml"/>
  <Override PartName="/ppt/notesSlides/notesSlide127.xml" ContentType="application/vnd.openxmlformats-officedocument.presentationml.notesSlide+xml"/>
  <Override PartName="/ppt/notesSlides/notesSlide1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5.xml" ContentType="application/vnd.openxmlformats-officedocument.presentationml.slide+xml"/>
  <Override PartName="/ppt/slides/slide13.xml" ContentType="application/vnd.openxmlformats-officedocument.presentationml.slide+xml"/>
  <Override PartName="/ppt/slides/slide133.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1"/>
  </p:notesMasterIdLst>
  <p:sldIdLst>
    <p:sldId id="256" r:id="rId2"/>
    <p:sldId id="332" r:id="rId3"/>
    <p:sldId id="259" r:id="rId4"/>
    <p:sldId id="418" r:id="rId5"/>
    <p:sldId id="266" r:id="rId6"/>
    <p:sldId id="334" r:id="rId7"/>
    <p:sldId id="333" r:id="rId8"/>
    <p:sldId id="288" r:id="rId9"/>
    <p:sldId id="336" r:id="rId10"/>
    <p:sldId id="335" r:id="rId11"/>
    <p:sldId id="337" r:id="rId12"/>
    <p:sldId id="460" r:id="rId13"/>
    <p:sldId id="463" r:id="rId14"/>
    <p:sldId id="461" r:id="rId15"/>
    <p:sldId id="462" r:id="rId16"/>
    <p:sldId id="338" r:id="rId17"/>
    <p:sldId id="339" r:id="rId18"/>
    <p:sldId id="464" r:id="rId19"/>
    <p:sldId id="465" r:id="rId20"/>
    <p:sldId id="340" r:id="rId21"/>
    <p:sldId id="341" r:id="rId22"/>
    <p:sldId id="466" r:id="rId23"/>
    <p:sldId id="467" r:id="rId24"/>
    <p:sldId id="468" r:id="rId25"/>
    <p:sldId id="342" r:id="rId26"/>
    <p:sldId id="469" r:id="rId27"/>
    <p:sldId id="343" r:id="rId28"/>
    <p:sldId id="344" r:id="rId29"/>
    <p:sldId id="345" r:id="rId30"/>
    <p:sldId id="346" r:id="rId31"/>
    <p:sldId id="347" r:id="rId32"/>
    <p:sldId id="348" r:id="rId33"/>
    <p:sldId id="349" r:id="rId34"/>
    <p:sldId id="350" r:id="rId35"/>
    <p:sldId id="362" r:id="rId36"/>
    <p:sldId id="364" r:id="rId37"/>
    <p:sldId id="352" r:id="rId38"/>
    <p:sldId id="353" r:id="rId39"/>
    <p:sldId id="355" r:id="rId40"/>
    <p:sldId id="354" r:id="rId41"/>
    <p:sldId id="356" r:id="rId42"/>
    <p:sldId id="357" r:id="rId43"/>
    <p:sldId id="358" r:id="rId44"/>
    <p:sldId id="359" r:id="rId45"/>
    <p:sldId id="360" r:id="rId46"/>
    <p:sldId id="361" r:id="rId47"/>
    <p:sldId id="365" r:id="rId48"/>
    <p:sldId id="366" r:id="rId49"/>
    <p:sldId id="470" r:id="rId50"/>
    <p:sldId id="471" r:id="rId51"/>
    <p:sldId id="472" r:id="rId52"/>
    <p:sldId id="473" r:id="rId53"/>
    <p:sldId id="474" r:id="rId54"/>
    <p:sldId id="367" r:id="rId55"/>
    <p:sldId id="368" r:id="rId56"/>
    <p:sldId id="378" r:id="rId57"/>
    <p:sldId id="379" r:id="rId58"/>
    <p:sldId id="380" r:id="rId59"/>
    <p:sldId id="369" r:id="rId60"/>
    <p:sldId id="370" r:id="rId61"/>
    <p:sldId id="371" r:id="rId62"/>
    <p:sldId id="475" r:id="rId63"/>
    <p:sldId id="476" r:id="rId64"/>
    <p:sldId id="477" r:id="rId65"/>
    <p:sldId id="372" r:id="rId66"/>
    <p:sldId id="478" r:id="rId67"/>
    <p:sldId id="479" r:id="rId68"/>
    <p:sldId id="480" r:id="rId69"/>
    <p:sldId id="373" r:id="rId70"/>
    <p:sldId id="374" r:id="rId71"/>
    <p:sldId id="375" r:id="rId72"/>
    <p:sldId id="381" r:id="rId73"/>
    <p:sldId id="377" r:id="rId74"/>
    <p:sldId id="382" r:id="rId75"/>
    <p:sldId id="376" r:id="rId76"/>
    <p:sldId id="383" r:id="rId77"/>
    <p:sldId id="384" r:id="rId78"/>
    <p:sldId id="399" r:id="rId79"/>
    <p:sldId id="385" r:id="rId80"/>
    <p:sldId id="386" r:id="rId81"/>
    <p:sldId id="387" r:id="rId82"/>
    <p:sldId id="388" r:id="rId83"/>
    <p:sldId id="389" r:id="rId84"/>
    <p:sldId id="390" r:id="rId85"/>
    <p:sldId id="391" r:id="rId86"/>
    <p:sldId id="398" r:id="rId87"/>
    <p:sldId id="392" r:id="rId88"/>
    <p:sldId id="393" r:id="rId89"/>
    <p:sldId id="394" r:id="rId90"/>
    <p:sldId id="395" r:id="rId91"/>
    <p:sldId id="396" r:id="rId92"/>
    <p:sldId id="432" r:id="rId93"/>
    <p:sldId id="409" r:id="rId94"/>
    <p:sldId id="401" r:id="rId95"/>
    <p:sldId id="402" r:id="rId96"/>
    <p:sldId id="403" r:id="rId97"/>
    <p:sldId id="404" r:id="rId98"/>
    <p:sldId id="405" r:id="rId99"/>
    <p:sldId id="406" r:id="rId100"/>
    <p:sldId id="407" r:id="rId101"/>
    <p:sldId id="408" r:id="rId102"/>
    <p:sldId id="410" r:id="rId103"/>
    <p:sldId id="411" r:id="rId104"/>
    <p:sldId id="412" r:id="rId105"/>
    <p:sldId id="413" r:id="rId106"/>
    <p:sldId id="414" r:id="rId107"/>
    <p:sldId id="415" r:id="rId108"/>
    <p:sldId id="416" r:id="rId109"/>
    <p:sldId id="417" r:id="rId110"/>
    <p:sldId id="425" r:id="rId120"/>
    <p:sldId id="426" r:id="rId121"/>
    <p:sldId id="427" r:id="rId122"/>
    <p:sldId id="428" r:id="rId123"/>
    <p:sldId id="431" r:id="rId126"/>
    <p:sldId id="440" r:id="rId134"/>
    <p:sldId id="444" r:id="rId138"/>
    <p:sldId id="451" r:id="rId145"/>
    <p:sldId id="452" r:id="rId146"/>
    <p:sldId id="453" r:id="rId147"/>
    <p:sldId id="454" r:id="rId148"/>
  </p:sldIdLst>
  <p:sldSz cx="6858000" cy="5143500"/>
  <p:notesSz cx="6858000" cy="9144000"/>
  <p:embeddedFontLst>
    <p:embeddedFont>
      <p:font typeface="Fira Sans" panose="020B0503050000020004" pitchFamily="34" charset="0"/>
      <p:regular r:id="rId152"/>
      <p:bold r:id="rId153"/>
      <p:italic r:id="rId154"/>
      <p:boldItalic r:id="rId155"/>
    </p:embeddedFont>
    <p:embeddedFont>
      <p:font typeface="Fira Sans Light" panose="020B0403050000020004" pitchFamily="34" charset="0"/>
      <p:regular r:id="rId156"/>
      <p:italic r:id="rId157"/>
    </p:embeddedFont>
    <p:embeddedFont>
      <p:font typeface="Maple Mono NF" panose="020F0509060000000000" pitchFamily="49" charset="0"/>
      <p:regular r:id="rId158"/>
      <p:bold r:id="rId159"/>
      <p:italic r:id="rId160"/>
      <p:boldItalic r:id="rId1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418"/>
            <p14:sldId id="266"/>
            <p14:sldId id="334"/>
            <p14:sldId id="333"/>
            <p14:sldId id="288"/>
            <p14:sldId id="336"/>
            <p14:sldId id="335"/>
            <p14:sldId id="337"/>
            <p14:sldId id="460"/>
            <p14:sldId id="463"/>
            <p14:sldId id="461"/>
            <p14:sldId id="462"/>
            <p14:sldId id="338"/>
            <p14:sldId id="339"/>
            <p14:sldId id="464"/>
            <p14:sldId id="465"/>
            <p14:sldId id="340"/>
            <p14:sldId id="341"/>
            <p14:sldId id="466"/>
            <p14:sldId id="467"/>
            <p14:sldId id="468"/>
            <p14:sldId id="342"/>
            <p14:sldId id="469"/>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470"/>
            <p14:sldId id="471"/>
            <p14:sldId id="472"/>
            <p14:sldId id="473"/>
            <p14:sldId id="474"/>
            <p14:sldId id="367"/>
            <p14:sldId id="368"/>
            <p14:sldId id="378"/>
            <p14:sldId id="379"/>
            <p14:sldId id="380"/>
            <p14:sldId id="369"/>
            <p14:sldId id="370"/>
            <p14:sldId id="371"/>
            <p14:sldId id="475"/>
            <p14:sldId id="476"/>
            <p14:sldId id="477"/>
            <p14:sldId id="372"/>
            <p14:sldId id="478"/>
            <p14:sldId id="479"/>
            <p14:sldId id="480"/>
            <p14:sldId id="373"/>
            <p14:sldId id="374"/>
            <p14:sldId id="375"/>
            <p14:sldId id="381"/>
            <p14:sldId id="377"/>
            <p14:sldId id="382"/>
            <p14:sldId id="376"/>
            <p14:sldId id="383"/>
            <p14:sldId id="384"/>
            <p14:sldId id="399"/>
            <p14:sldId id="385"/>
            <p14:sldId id="386"/>
            <p14:sldId id="387"/>
            <p14:sldId id="388"/>
            <p14:sldId id="389"/>
            <p14:sldId id="390"/>
            <p14:sldId id="391"/>
            <p14:sldId id="398"/>
            <p14:sldId id="392"/>
            <p14:sldId id="393"/>
            <p14:sldId id="394"/>
            <p14:sldId id="395"/>
            <p14:sldId id="396"/>
            <p14:sldId id="432"/>
            <p14:sldId id="409"/>
            <p14:sldId id="401"/>
            <p14:sldId id="402"/>
            <p14:sldId id="403"/>
            <p14:sldId id="404"/>
            <p14:sldId id="405"/>
            <p14:sldId id="406"/>
            <p14:sldId id="407"/>
            <p14:sldId id="408"/>
            <p14:sldId id="410"/>
            <p14:sldId id="411"/>
            <p14:sldId id="412"/>
            <p14:sldId id="413"/>
            <p14:sldId id="414"/>
            <p14:sldId id="415"/>
            <p14:sldId id="416"/>
            <p14:sldId id="417"/>
            <p14:sldId id="425"/>
            <p14:sldId id="426"/>
            <p14:sldId id="427"/>
            <p14:sldId id="428"/>
            <p14:sldId id="431"/>
            <p14:sldId id="440"/>
            <p14:sldId id="444"/>
            <p14:sldId id="451"/>
            <p14:sldId id="452"/>
            <p14:sldId id="453"/>
            <p14:sldId id="454"/>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72"/>
    <p:restoredTop sz="98401"/>
  </p:normalViewPr>
  <p:slideViewPr>
    <p:cSldViewPr snapToGrid="0">
      <p:cViewPr varScale="1">
        <p:scale>
          <a:sx n="358" d="100"/>
          <a:sy n="358" d="100"/>
        </p:scale>
        <p:origin x="3920"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6" Type="http://schemas.openxmlformats.org/officeDocument/2006/relationships/slide" Target="slides/slide125.xml"/><Relationship Id="rId134" Type="http://schemas.openxmlformats.org/officeDocument/2006/relationships/slide" Target="slides/slide133.xml"/><Relationship Id="rId138" Type="http://schemas.openxmlformats.org/officeDocument/2006/relationships/slide" Target="slides/slide137.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51" Type="http://schemas.openxmlformats.org/officeDocument/2006/relationships/notesMaster" Target="notesMasters/notesMaster1.xml"/><Relationship Id="rId152" Type="http://schemas.openxmlformats.org/officeDocument/2006/relationships/font" Target="fonts/font1.fntdata"/><Relationship Id="rId153" Type="http://schemas.openxmlformats.org/officeDocument/2006/relationships/font" Target="fonts/font2.fntdata"/><Relationship Id="rId154" Type="http://schemas.openxmlformats.org/officeDocument/2006/relationships/font" Target="fonts/font3.fntdata"/><Relationship Id="rId155" Type="http://schemas.openxmlformats.org/officeDocument/2006/relationships/font" Target="fonts/font4.fntdata"/><Relationship Id="rId156" Type="http://schemas.openxmlformats.org/officeDocument/2006/relationships/font" Target="fonts/font5.fntdata"/><Relationship Id="rId157" Type="http://schemas.openxmlformats.org/officeDocument/2006/relationships/font" Target="fonts/font6.fntdata"/><Relationship Id="rId158" Type="http://schemas.openxmlformats.org/officeDocument/2006/relationships/font" Target="fonts/font7.fntdata"/><Relationship Id="rId159" Type="http://schemas.openxmlformats.org/officeDocument/2006/relationships/font" Target="fonts/font8.fntdata"/><Relationship Id="rId160" Type="http://schemas.openxmlformats.org/officeDocument/2006/relationships/font" Target="fonts/font9.fntdata"/><Relationship Id="rId161" Type="http://schemas.openxmlformats.org/officeDocument/2006/relationships/font" Target="fonts/font10.fntdata"/><Relationship Id="rId162" Type="http://schemas.openxmlformats.org/officeDocument/2006/relationships/presProps" Target="presProps.xml"/><Relationship Id="rId163" Type="http://schemas.openxmlformats.org/officeDocument/2006/relationships/viewProps" Target="viewProps.xml"/><Relationship Id="rId164" Type="http://schemas.openxmlformats.org/officeDocument/2006/relationships/theme" Target="theme/theme1.xml"/><Relationship Id="rId165" Type="http://schemas.openxmlformats.org/officeDocument/2006/relationships/tableStyles" Target="tableStyles.xml"/><Relationship Id="rId166"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208F5-DFD9-B433-B0D6-216EADAAC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FF6CE-3CEA-7A4D-3826-35984733A359}"/>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9EA9D2C-F73A-E8DB-DEF6-5D0892AE4A1C}"/>
              </a:ext>
            </a:extLst>
          </p:cNvPr>
          <p:cNvSpPr>
            <a:spLocks noGrp="1"/>
          </p:cNvSpPr>
          <p:nvPr>
            <p:ph type="body" idx="1"/>
          </p:nvPr>
        </p:nvSpPr>
        <p:spPr/>
        <p:txBody>
          <a:bodyPr/>
          <a:lstStyle/>
          <a:p>
            <a:r>
              <a:rPr dirty="0"/>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extLst>
      <p:ext uri="{BB962C8B-B14F-4D97-AF65-F5344CB8AC3E}">
        <p14:creationId xmlns:p14="http://schemas.microsoft.com/office/powerpoint/2010/main" val="1396228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A00E2-F665-EB60-9085-AC79347EF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45020-C0F3-C101-00C5-E5F0DB16FEB0}"/>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9AE47E0-738B-95DF-9258-A717E016BBDE}"/>
              </a:ext>
            </a:extLst>
          </p:cNvPr>
          <p:cNvSpPr>
            <a:spLocks noGrp="1"/>
          </p:cNvSpPr>
          <p:nvPr>
            <p:ph type="body" idx="1"/>
          </p:nvPr>
        </p:nvSpPr>
        <p:spPr/>
        <p:txBody>
          <a:bodyPr/>
          <a:lstStyle/>
          <a:p>
            <a:r>
              <a:rPr dirty="0"/>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extLst>
      <p:ext uri="{BB962C8B-B14F-4D97-AF65-F5344CB8AC3E}">
        <p14:creationId xmlns:p14="http://schemas.microsoft.com/office/powerpoint/2010/main" val="303492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54C42-0DDA-5E3D-39D6-D79401082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B454F-EA5E-C498-3939-2D9B9390B2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E9386CB7-DB0B-23DE-6C6F-CEB75BEC7E2C}"/>
              </a:ext>
            </a:extLst>
          </p:cNvPr>
          <p:cNvSpPr>
            <a:spLocks noGrp="1"/>
          </p:cNvSpPr>
          <p:nvPr>
            <p:ph type="body" idx="1"/>
          </p:nvPr>
        </p:nvSpPr>
        <p:spPr/>
        <p:txBody>
          <a:bodyPr/>
          <a:lstStyle/>
          <a:p>
            <a:r>
              <a:rPr dirty="0"/>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extLst>
      <p:ext uri="{BB962C8B-B14F-4D97-AF65-F5344CB8AC3E}">
        <p14:creationId xmlns:p14="http://schemas.microsoft.com/office/powerpoint/2010/main" val="1649755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39534-2276-7F0B-D3C7-1B7923CF8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3DFEE-4E49-DF48-08CF-E563B247A7F9}"/>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9CD2C26-7CC0-58BA-399F-5E71721D331E}"/>
              </a:ext>
            </a:extLst>
          </p:cNvPr>
          <p:cNvSpPr>
            <a:spLocks noGrp="1"/>
          </p:cNvSpPr>
          <p:nvPr>
            <p:ph type="body" idx="1"/>
          </p:nvPr>
        </p:nvSpPr>
        <p:spPr/>
        <p:txBody>
          <a:bodyPr/>
          <a:lstStyle/>
          <a:p>
            <a:r>
              <a:rPr dirty="0"/>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extLst>
      <p:ext uri="{BB962C8B-B14F-4D97-AF65-F5344CB8AC3E}">
        <p14:creationId xmlns:p14="http://schemas.microsoft.com/office/powerpoint/2010/main" val="2658590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23A6C-D6B3-C729-A63B-16BEBD9DC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C233E-8F71-5989-0866-C52092F4749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E53DA2E4-A633-8104-606B-A36AB8528EF4}"/>
              </a:ext>
            </a:extLst>
          </p:cNvPr>
          <p:cNvSpPr>
            <a:spLocks noGrp="1"/>
          </p:cNvSpPr>
          <p:nvPr>
            <p:ph type="body" idx="1"/>
          </p:nvPr>
        </p:nvSpPr>
        <p:spPr/>
        <p:txBody>
          <a:bodyPr/>
          <a:lstStyle/>
          <a:p>
            <a:r>
              <a:rPr dirty="0"/>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extLst>
      <p:ext uri="{BB962C8B-B14F-4D97-AF65-F5344CB8AC3E}">
        <p14:creationId xmlns:p14="http://schemas.microsoft.com/office/powerpoint/2010/main" val="2117250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6F45-0593-0A5F-0614-4A763890B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AE632-22BF-E656-0E18-5F5C83937F0C}"/>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998595C-6AAA-6E65-A085-F4194B3AC7EB}"/>
              </a:ext>
            </a:extLst>
          </p:cNvPr>
          <p:cNvSpPr>
            <a:spLocks noGrp="1"/>
          </p:cNvSpPr>
          <p:nvPr>
            <p:ph type="body" idx="1"/>
          </p:nvPr>
        </p:nvSpPr>
        <p:spPr/>
        <p:txBody>
          <a:bodyPr/>
          <a:lstStyle/>
          <a:p>
            <a:r>
              <a:rPr dirty="0"/>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extLst>
      <p:ext uri="{BB962C8B-B14F-4D97-AF65-F5344CB8AC3E}">
        <p14:creationId xmlns:p14="http://schemas.microsoft.com/office/powerpoint/2010/main" val="3349448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D71DB-9132-4077-D5BF-711507D87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CC3A5-8908-E977-CA1A-7F429236EFE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579FC9E-6109-B50B-FF26-9245CE5191C1}"/>
              </a:ext>
            </a:extLst>
          </p:cNvPr>
          <p:cNvSpPr>
            <a:spLocks noGrp="1"/>
          </p:cNvSpPr>
          <p:nvPr>
            <p:ph type="body" idx="1"/>
          </p:nvPr>
        </p:nvSpPr>
        <p:spPr/>
        <p:txBody>
          <a:bodyPr/>
          <a:lstStyle/>
          <a:p>
            <a:r>
              <a:rPr dirty="0"/>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extLst>
      <p:ext uri="{BB962C8B-B14F-4D97-AF65-F5344CB8AC3E}">
        <p14:creationId xmlns:p14="http://schemas.microsoft.com/office/powerpoint/2010/main" val="11811169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7DC96-9DD1-9E47-7821-1231A1AF7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AB5AB-3505-A249-D5E9-2D16DD99AB0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D6E6D49-4328-70C6-B6E7-4C10C4720519}"/>
              </a:ext>
            </a:extLst>
          </p:cNvPr>
          <p:cNvSpPr>
            <a:spLocks noGrp="1"/>
          </p:cNvSpPr>
          <p:nvPr>
            <p:ph type="body" idx="1"/>
          </p:nvPr>
        </p:nvSpPr>
        <p:spPr/>
        <p:txBody>
          <a:bodyPr/>
          <a:lstStyle/>
          <a:p>
            <a:r>
              <a:rPr dirty="0"/>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extLst>
      <p:ext uri="{BB962C8B-B14F-4D97-AF65-F5344CB8AC3E}">
        <p14:creationId xmlns:p14="http://schemas.microsoft.com/office/powerpoint/2010/main" val="841848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C2092-C412-871B-0E91-94B4F73C0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A5C80-7013-4AFD-1459-D2E07A9168D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92AD4EA-AF08-E1FD-879A-845E8771DFA8}"/>
              </a:ext>
            </a:extLst>
          </p:cNvPr>
          <p:cNvSpPr>
            <a:spLocks noGrp="1"/>
          </p:cNvSpPr>
          <p:nvPr>
            <p:ph type="body" idx="1"/>
          </p:nvPr>
        </p:nvSpPr>
        <p:spPr/>
        <p:txBody>
          <a:bodyPr/>
          <a:lstStyle/>
          <a:p>
            <a:r>
              <a:rPr dirty="0"/>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extLst>
      <p:ext uri="{BB962C8B-B14F-4D97-AF65-F5344CB8AC3E}">
        <p14:creationId xmlns:p14="http://schemas.microsoft.com/office/powerpoint/2010/main" val="828194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E26DF-DEA6-3506-6F77-E918D151C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7F91D-7826-D3D6-EFC7-F1BB5739C385}"/>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93C72F4-34B2-1448-BE92-EE067FB45807}"/>
              </a:ext>
            </a:extLst>
          </p:cNvPr>
          <p:cNvSpPr>
            <a:spLocks noGrp="1"/>
          </p:cNvSpPr>
          <p:nvPr>
            <p:ph type="body" idx="1"/>
          </p:nvPr>
        </p:nvSpPr>
        <p:spPr/>
        <p:txBody>
          <a:bodyPr/>
          <a:lstStyle/>
          <a:p>
            <a:r>
              <a:rPr dirty="0"/>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extLst>
      <p:ext uri="{BB962C8B-B14F-4D97-AF65-F5344CB8AC3E}">
        <p14:creationId xmlns:p14="http://schemas.microsoft.com/office/powerpoint/2010/main" val="1322936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rPr dirty="0"/>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rPr dirty="0"/>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rPr dirty="0"/>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a:t>
            </a:r>
            <a:r>
              <a:rPr dirty="0" err="1"/>
              <a:t>ReAct's</a:t>
            </a:r>
            <a:r>
              <a:rPr dirty="0"/>
              <a:t>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04BD1-D441-208C-60B0-A92A1F12F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E2EB1-6935-8E3B-6B8F-024A31BD62AE}"/>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F3CDDA20-B614-47D0-72A2-E7610665F4EF}"/>
              </a:ext>
            </a:extLst>
          </p:cNvPr>
          <p:cNvSpPr>
            <a:spLocks noGrp="1"/>
          </p:cNvSpPr>
          <p:nvPr>
            <p:ph type="body" idx="1"/>
          </p:nvPr>
        </p:nvSpPr>
        <p:spPr/>
        <p:txBody>
          <a:bodyPr/>
          <a:lstStyle/>
          <a:p>
            <a:r>
              <a:rPr dirty="0"/>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a:t>
            </a:r>
            <a:r>
              <a:rPr dirty="0" err="1"/>
              <a:t>ReAct's</a:t>
            </a:r>
            <a:r>
              <a:rPr dirty="0"/>
              <a:t>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8215660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E94E4-E462-98F0-93C1-A3B7F7C79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12465-0C01-302C-BA3D-BE8B09EE1292}"/>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A050947-608F-3BD2-DD0A-E4D3A0882D82}"/>
              </a:ext>
            </a:extLst>
          </p:cNvPr>
          <p:cNvSpPr>
            <a:spLocks noGrp="1"/>
          </p:cNvSpPr>
          <p:nvPr>
            <p:ph type="body" idx="1"/>
          </p:nvPr>
        </p:nvSpPr>
        <p:spPr/>
        <p:txBody>
          <a:bodyPr/>
          <a:lstStyle/>
          <a:p>
            <a:r>
              <a:rPr dirty="0"/>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a:t>
            </a:r>
            <a:r>
              <a:rPr dirty="0" err="1"/>
              <a:t>ReAct's</a:t>
            </a:r>
            <a:r>
              <a:rPr dirty="0"/>
              <a:t>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252811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149D0-71D5-D3B2-5124-3D543A774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E2890-CD74-0E5B-51E2-426457C2F9C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E89354AC-76D5-6317-C3F7-5FF8ACD58156}"/>
              </a:ext>
            </a:extLst>
          </p:cNvPr>
          <p:cNvSpPr>
            <a:spLocks noGrp="1"/>
          </p:cNvSpPr>
          <p:nvPr>
            <p:ph type="body" idx="1"/>
          </p:nvPr>
        </p:nvSpPr>
        <p:spPr/>
        <p:txBody>
          <a:bodyPr/>
          <a:lstStyle/>
          <a:p>
            <a:r>
              <a:rPr dirty="0"/>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a:t>
            </a:r>
            <a:r>
              <a:rPr dirty="0" err="1"/>
              <a:t>ReAct's</a:t>
            </a:r>
            <a:r>
              <a:rPr dirty="0"/>
              <a:t>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20303142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51FC2-C170-22CC-9967-B9C78BBDF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8F0FC-3AA1-66C2-4158-EBD69F5E18B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CCBC47D-99EA-5BEE-BB0A-0551089A949F}"/>
              </a:ext>
            </a:extLst>
          </p:cNvPr>
          <p:cNvSpPr>
            <a:spLocks noGrp="1"/>
          </p:cNvSpPr>
          <p:nvPr>
            <p:ph type="body" idx="1"/>
          </p:nvPr>
        </p:nvSpPr>
        <p:spPr/>
        <p:txBody>
          <a:bodyPr/>
          <a:lstStyle/>
          <a:p>
            <a:r>
              <a:rPr dirty="0"/>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a:t>
            </a:r>
            <a:r>
              <a:rPr dirty="0" err="1"/>
              <a:t>ReAct's</a:t>
            </a:r>
            <a:r>
              <a:rPr dirty="0"/>
              <a:t>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34694207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057DC-21EB-77E2-4AE5-4464B935D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F037E-6798-3734-473B-D2D4200257C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BC176E6-F593-E782-0F56-9824E2393DFE}"/>
              </a:ext>
            </a:extLst>
          </p:cNvPr>
          <p:cNvSpPr>
            <a:spLocks noGrp="1"/>
          </p:cNvSpPr>
          <p:nvPr>
            <p:ph type="body" idx="1"/>
          </p:nvPr>
        </p:nvSpPr>
        <p:spPr/>
        <p:txBody>
          <a:bodyPr/>
          <a:lstStyle/>
          <a:p>
            <a:r>
              <a:rPr dirty="0"/>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a:t>
            </a:r>
            <a:r>
              <a:rPr dirty="0" err="1"/>
              <a:t>ReAct's</a:t>
            </a:r>
            <a:r>
              <a:rPr dirty="0"/>
              <a:t>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23093318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a:t>
            </a:r>
            <a:r>
              <a:rPr dirty="0" err="1"/>
              <a:t>unrecognised</a:t>
            </a:r>
            <a:r>
              <a:rPr dirty="0"/>
              <a:t>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3C7BE-C5D5-D004-A224-A1DCAB021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AE0D3-1AEB-975E-AC0E-BD47CC8165A8}"/>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AB6691C5-BEB1-6E7A-D519-F5BBAD7E5FA7}"/>
              </a:ext>
            </a:extLst>
          </p:cNvPr>
          <p:cNvSpPr>
            <a:spLocks noGrp="1"/>
          </p:cNvSpPr>
          <p:nvPr>
            <p:ph type="body" idx="1"/>
          </p:nvPr>
        </p:nvSpPr>
        <p:spPr/>
        <p:txBody>
          <a:bodyPr/>
          <a:lstStyle/>
          <a:p>
            <a:r>
              <a:rPr dirty="0"/>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extLst>
      <p:ext uri="{BB962C8B-B14F-4D97-AF65-F5344CB8AC3E}">
        <p14:creationId xmlns:p14="http://schemas.microsoft.com/office/powerpoint/2010/main" val="10691484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D49D4-0F4D-FAA7-6C98-D563DDC1F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D2544-B38E-E3F1-8E0F-01C7C0B8BF10}"/>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085E06CF-4CFC-CFDD-5D07-D33DBB307AEB}"/>
              </a:ext>
            </a:extLst>
          </p:cNvPr>
          <p:cNvSpPr>
            <a:spLocks noGrp="1"/>
          </p:cNvSpPr>
          <p:nvPr>
            <p:ph type="body" idx="1"/>
          </p:nvPr>
        </p:nvSpPr>
        <p:spPr/>
        <p:txBody>
          <a:bodyPr/>
          <a:lstStyle/>
          <a:p>
            <a:r>
              <a:rPr dirty="0"/>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extLst>
      <p:ext uri="{BB962C8B-B14F-4D97-AF65-F5344CB8AC3E}">
        <p14:creationId xmlns:p14="http://schemas.microsoft.com/office/powerpoint/2010/main" val="25165230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F9002-FA36-0F92-B907-75883DDCD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709A3-F591-D939-471E-F8CA996965F6}"/>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674C70BA-F329-83D1-1808-3BC8CA18EAE7}"/>
              </a:ext>
            </a:extLst>
          </p:cNvPr>
          <p:cNvSpPr>
            <a:spLocks noGrp="1"/>
          </p:cNvSpPr>
          <p:nvPr>
            <p:ph type="body" idx="1"/>
          </p:nvPr>
        </p:nvSpPr>
        <p:spPr/>
        <p:txBody>
          <a:bodyPr/>
          <a:lstStyle/>
          <a:p>
            <a:r>
              <a:rPr dirty="0"/>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extLst>
      <p:ext uri="{BB962C8B-B14F-4D97-AF65-F5344CB8AC3E}">
        <p14:creationId xmlns:p14="http://schemas.microsoft.com/office/powerpoint/2010/main" val="40323411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3161A-9968-DE4C-9E99-61D207294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8465C-F382-E39D-8537-3DD4E2054A89}"/>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2C78A1A-5AF8-1B1A-3930-6553060978A7}"/>
              </a:ext>
            </a:extLst>
          </p:cNvPr>
          <p:cNvSpPr>
            <a:spLocks noGrp="1"/>
          </p:cNvSpPr>
          <p:nvPr>
            <p:ph type="body" idx="1"/>
          </p:nvPr>
        </p:nvSpPr>
        <p:spPr/>
        <p:txBody>
          <a:bodyPr/>
          <a:lstStyle/>
          <a:p>
            <a:r>
              <a:rPr dirty="0"/>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extLst>
      <p:ext uri="{BB962C8B-B14F-4D97-AF65-F5344CB8AC3E}">
        <p14:creationId xmlns:p14="http://schemas.microsoft.com/office/powerpoint/2010/main" val="13025774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3A6C9-BEB3-1818-F9FF-7B6352BD3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36630-D64E-FF4E-F7CB-5F74A9AC84A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50CD9CE2-ECAD-E595-D18E-05E937F6F3B1}"/>
              </a:ext>
            </a:extLst>
          </p:cNvPr>
          <p:cNvSpPr>
            <a:spLocks noGrp="1"/>
          </p:cNvSpPr>
          <p:nvPr>
            <p:ph type="body" idx="1"/>
          </p:nvPr>
        </p:nvSpPr>
        <p:spPr/>
        <p:txBody>
          <a:bodyPr/>
          <a:lstStyle/>
          <a:p>
            <a:r>
              <a:rPr dirty="0"/>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extLst>
      <p:ext uri="{BB962C8B-B14F-4D97-AF65-F5344CB8AC3E}">
        <p14:creationId xmlns:p14="http://schemas.microsoft.com/office/powerpoint/2010/main" val="12374662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26C0-DDA8-DF83-32A0-013EA98CC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C605E-7CDC-4EEA-F76B-9D60B2D5E8AF}"/>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C3C090E-A465-7F00-DCB1-91849345E4A7}"/>
              </a:ext>
            </a:extLst>
          </p:cNvPr>
          <p:cNvSpPr>
            <a:spLocks noGrp="1"/>
          </p:cNvSpPr>
          <p:nvPr>
            <p:ph type="body" idx="1"/>
          </p:nvPr>
        </p:nvSpPr>
        <p:spPr/>
        <p:txBody>
          <a:bodyPr/>
          <a:lstStyle/>
          <a:p>
            <a:r>
              <a:rPr dirty="0"/>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extLst>
      <p:ext uri="{BB962C8B-B14F-4D97-AF65-F5344CB8AC3E}">
        <p14:creationId xmlns:p14="http://schemas.microsoft.com/office/powerpoint/2010/main" val="39875732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a:t>
            </a:r>
            <a:r>
              <a:rPr dirty="0" err="1"/>
              <a:t>signalled</a:t>
            </a:r>
            <a:r>
              <a:rPr dirty="0"/>
              <a:t>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Close of section 3 said novelty is observable and progress is not. This is that gap, stated as three questions the program cannot answer about itself.</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Left sends actions and hears nothing. Middle returns every observation but holds the plan at its initial value. Right sorts the observation and, when it contradicts the plan, strikes out the remaining actions and writes new ones.</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distinction that matters for the demo: our reactive loop sits closest to the middle row with the plan removed.</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Three model nodes now: plan, controller, validate. The two solid edges are the only unconditional ones in the file; every dashed edge is an </a:t>
            </a:r>
            <a:r>
              <a:rPr dirty="0" err="1"/>
              <a:t>add_conditional_edges</a:t>
            </a:r>
            <a:r>
              <a:rPr dirty="0"/>
              <a:t> call. The curve from tools back to plan is the one the reactive loop did not have.</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Teal marks what is new against the three-node loop of section 3. START no longer goes to the controller; it goes to the planner.</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In V1 this situation ended the run with </a:t>
            </a:r>
            <a:r>
              <a:rPr dirty="0" err="1"/>
              <a:t>no_progress</a:t>
            </a:r>
            <a:r>
              <a:rPr dirty="0"/>
              <a:t>. That terminal status still exists, but it is now reached only after a revision has been tried.</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err="1"/>
              <a:t>replanned_at</a:t>
            </a:r>
            <a:r>
              <a:rPr dirty="0"/>
              <a:t> is the high-water mark. The stall check reads observations[</a:t>
            </a:r>
            <a:r>
              <a:rPr dirty="0" err="1"/>
              <a:t>replanned_at</a:t>
            </a:r>
            <a:r>
              <a:rPr dirty="0"/>
              <a:t>:], so the stall that caused a revision cannot go on to condemn the revision. It also doubles as the replan budget: one.</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Same build-pair shape as the fixed-workflow tables: the artifact alone, then the identical slide with the claim added.</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Same build-pair shape as the fixed-workflow tables: the artifact alone, then the identical slide with the claim added.</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err="1"/>
              <a:t>propose_plan</a:t>
            </a:r>
            <a:r>
              <a:rPr dirty="0"/>
              <a:t> is the only tool bound to the planner. A flat list of 'goal :: evidence' strings is asked for because small local models produce it far more reliably than a list of objects.</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Four strategies that differ only in action selection, on two fixed frameworks across four backbones. The same table shows an 8B model with lookahead beating a frontier model without it.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E00D-9964-2599-DBC8-15F2CBBC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2D214-C308-2A64-1C01-48A5A6D8AA6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338FF-95C2-AB8E-D0B9-BCFC16679FDF}"/>
              </a:ext>
            </a:extLst>
          </p:cNvPr>
          <p:cNvSpPr>
            <a:spLocks noGrp="1"/>
          </p:cNvSpPr>
          <p:nvPr>
            <p:ph type="body" idx="1"/>
          </p:nvPr>
        </p:nvSpPr>
        <p:spPr/>
        <p:txBody>
          <a:bodyPr/>
          <a:lstStyle/>
          <a:p>
            <a:r>
              <a:rPr dirty="0"/>
              <a:t>Four strategies that differ only in action selection, on two fixed frameworks across four backbones. The same table shows an 8B model with lookahead beating a frontier model without it.</a:t>
            </a:r>
          </a:p>
        </p:txBody>
      </p:sp>
    </p:spTree>
    <p:extLst>
      <p:ext uri="{BB962C8B-B14F-4D97-AF65-F5344CB8AC3E}">
        <p14:creationId xmlns:p14="http://schemas.microsoft.com/office/powerpoint/2010/main" val="81805215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This is the slide to spend a beat on. Students reach for wider search first and it is the wrong lever.</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Being handed a clean rescan and asked whether that establishes a correct fix is the entire point of the node.</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This is the sharpest line in the demo source and it belongs on screen verbatim. It is also the answer to soliloquizing from section 3.</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Intrinsic self-correction: the model revises with no external signal. Give it the ground-truth label instead and it improves, which is exactly the signal you do not have at run time.</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err="1"/>
              <a:t>Blocksworld</a:t>
            </a:r>
            <a:r>
              <a:rPr dirty="0"/>
              <a:t> is the honest exception: self-critique helped there, 40% to 55%, and a sound verifier still beat it. The notes carry that; the slide does not have room.</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8EC58-9F04-6ACE-903F-46783046F8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6523C-A3C3-9677-F335-56442777DD2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639F249E-496A-6228-5EFD-0FBC8D31A302}"/>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9165075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the model, inside one agent.</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predefined logic.</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predefined logic.</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predefined logic.</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predefined logic, as a loop.</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predefined logic, as a loop.</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the model.</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the model, at several levels.</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no central orchestrator.</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predefined checkpoints.</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Row of the twelve-pattern catalogue. Sorting criterion for this block: does a model orchestrate, or does predefined logic? Here: code the team writes.</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Atomic, factored, structured is the AIMA axis. The number a benchmark reports is a count of atomic labels. Structure is confined to the two values where the model has to defend its work: the patch it proposes and the rejection it gets back.</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This is what </a:t>
            </a:r>
            <a:r>
              <a:rPr dirty="0" err="1"/>
              <a:t>state.py</a:t>
            </a:r>
            <a:r>
              <a:rPr dirty="0"/>
              <a:t> declares today, and what the loop populates. Ten keys. Walk the reducer column rather than the description: it is the column that decides what a later step can see.</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Below the rule are the fields the later versions add. Each arrives with the node that fills it, so a version's diff shows one change rather than a field that was always waiting. These four are designed and not yet built, which is what the </a:t>
            </a:r>
            <a:r>
              <a:rPr dirty="0" err="1"/>
              <a:t>colour</a:t>
            </a:r>
            <a:r>
              <a:rPr dirty="0"/>
              <a:t> marks throughout Part B.</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A </a:t>
            </a:r>
            <a:r>
              <a:rPr dirty="0" err="1"/>
              <a:t>TypedDict</a:t>
            </a:r>
            <a:r>
              <a:rPr dirty="0"/>
              <a:t> returns an ordinary dictionary at run time. Its types cannot be used in </a:t>
            </a:r>
            <a:r>
              <a:rPr dirty="0" err="1"/>
              <a:t>isinstance</a:t>
            </a:r>
            <a:r>
              <a:rPr dirty="0"/>
              <a:t> tests. So a model reply that puts a string where the schema declares an integer produces a state that type-checks in the editor and is wrong in the run. Section 8 is where the check that catches it lives.</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From runs/v1-bc284c6b.jsonl, steps 3 and 4. Three things to hold on to. The node named two keys and the record has ten, so the counters advanced only where a node said so. The stored observation keeps the arguments and the ok flag alongside the text, and routing and accounting read those fields rather than the prose. And </a:t>
            </a:r>
            <a:r>
              <a:rPr dirty="0" err="1"/>
              <a:t>model_calls</a:t>
            </a:r>
            <a:r>
              <a:rPr dirty="0"/>
              <a:t> stood at one throughout and was never shown, which is how a budget stays a runtime control. The trace is a fourth record, and it is what section 7 rests on.</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That last point is what makes the retry the runtime's decision rather than the model's: nobody is consulted, and nothing is paid for.</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first ending is the recorded run, runs/v1-bc284c6b.jsonl. The routing event just before the terminal one carries by=runtime: nothing in that trace is a model's opinion about whether the work was done. In the second, the evidence the run gathered is still in observations, and the absence of a finding is not the absence of work.</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tool call left without an answer makes the next model message malformed, which is why the dispatcher returns one observation for each, including the ones that failed.</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SWE-agent is the clearest evidence that the action set and the shape of the feedback move outcomes, because it holds the model fixed and varies the interface. With GPT-4 Turbo the resulting system resolves 12.47% of the 2,294 SWE-bench test instances, against 3.8% for the previous best non-interactive retrieval-augmented system, and the same interface carries to another model, with Claude 3 Opus resolving 10.5%.</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Table 3 of the SWE-agent paper. Read down the Change column rather than across: each row varies one component of one system.</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variant that helps this agent with this model on these instances may not transfer. That is the discipline to carry into HW1: an ablation tells you about the system it was run 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rk3080@columbia.edu" TargetMode="External"/><Relationship Id="rId3" Type="http://schemas.openxmlformats.org/officeDocument/2006/relationships/hyperlink" Target="mailto:ik2619@columbia.edu" TargetMode="Externa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1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1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1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1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1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2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2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2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2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B3F8-7484-4BE9-6F60-620E4EBF9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D5227-9675-6C47-825A-AA229D3AF476}"/>
              </a:ext>
            </a:extLst>
          </p:cNvPr>
          <p:cNvSpPr>
            <a:spLocks noGrp="1"/>
          </p:cNvSpPr>
          <p:nvPr>
            <p:ph type="title"/>
          </p:nvPr>
        </p:nvSpPr>
        <p:spPr/>
        <p:txBody>
          <a:bodyPr/>
          <a:lstStyle/>
          <a:p>
            <a:r>
              <a:rPr lang="en-US" dirty="0"/>
              <a:t>Class Notifications</a:t>
            </a:r>
          </a:p>
        </p:txBody>
      </p:sp>
      <p:sp>
        <p:nvSpPr>
          <p:cNvPr id="6" name="Content Placeholder 5">
            <a:extLst>
              <a:ext uri="{FF2B5EF4-FFF2-40B4-BE49-F238E27FC236}">
                <a16:creationId xmlns:a16="http://schemas.microsoft.com/office/drawing/2014/main" id="{B8B12D9A-0C2B-7893-BB3E-BD7D9DD61BD4}"/>
              </a:ext>
            </a:extLst>
          </p:cNvPr>
          <p:cNvSpPr>
            <a:spLocks noGrp="1"/>
          </p:cNvSpPr>
          <p:nvPr>
            <p:ph idx="1"/>
          </p:nvPr>
        </p:nvSpPr>
        <p:spPr>
          <a:xfrm>
            <a:off x="14251" y="630048"/>
            <a:ext cx="6815475" cy="2505913"/>
          </a:xfrm>
        </p:spPr>
        <p:txBody>
          <a:bodyPr>
            <a:normAutofit/>
          </a:bodyPr>
          <a:lstStyle/>
          <a:p>
            <a:r>
              <a:rPr lang="en-US" sz="1800" dirty="0"/>
              <a:t>HW1 – released before next class</a:t>
            </a:r>
          </a:p>
          <a:p>
            <a:pPr lvl="1"/>
            <a:r>
              <a:rPr lang="en-US" sz="1400" dirty="0"/>
              <a:t>Procuring API credits for everyone </a:t>
            </a:r>
          </a:p>
          <a:p>
            <a:pPr lvl="1"/>
            <a:r>
              <a:rPr lang="en-US" sz="1400" dirty="0"/>
              <a:t>Assignment groups before next week so I can plan accordingly</a:t>
            </a:r>
          </a:p>
          <a:p>
            <a:r>
              <a:rPr lang="en-US" sz="1800" dirty="0"/>
              <a:t>Vergil registration closes at 9:00 PM tonight</a:t>
            </a:r>
          </a:p>
        </p:txBody>
      </p:sp>
    </p:spTree>
    <p:extLst>
      <p:ext uri="{BB962C8B-B14F-4D97-AF65-F5344CB8AC3E}">
        <p14:creationId xmlns:p14="http://schemas.microsoft.com/office/powerpoint/2010/main" val="61978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1370071" y="1565594"/>
            <a:ext cx="3903633" cy="461665"/>
          </a:xfrm>
          <a:prstGeom prst="rect">
            <a:avLst/>
          </a:prstGeom>
          <a:noFill/>
        </p:spPr>
        <p:txBody>
          <a:bodyPr wrap="none" rtlCol="0">
            <a:spAutoFit/>
          </a:bodyPr>
          <a:lstStyle/>
          <a:p>
            <a:pPr algn="l"/>
            <a:r>
              <a:rPr lang="en-US" sz="2400" b="1" dirty="0">
                <a:solidFill>
                  <a:schemeClr val="bg2"/>
                </a:solidFill>
                <a:latin typeface="+mn-lt"/>
              </a:rPr>
              <a:t>HW1 announced next class</a:t>
            </a:r>
          </a:p>
        </p:txBody>
      </p:sp>
    </p:spTree>
    <p:extLst>
      <p:ext uri="{BB962C8B-B14F-4D97-AF65-F5344CB8AC3E}">
        <p14:creationId xmlns:p14="http://schemas.microsoft.com/office/powerpoint/2010/main" val="2439185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1910030"/>
            <a:ext cx="6129130" cy="1323439"/>
          </a:xfrm>
          <a:prstGeom prst="rect">
            <a:avLst/>
          </a:prstGeom>
          <a:noFill/>
        </p:spPr>
        <p:txBody>
          <a:bodyPr wrap="square" rtlCol="0">
            <a:spAutoFit/>
          </a:bodyPr>
          <a:lstStyle/>
          <a:p>
            <a:pPr algn="ctr"/>
            <a:r>
              <a:rPr lang="en-US" sz="4000" b="1" dirty="0">
                <a:solidFill>
                  <a:schemeClr val="tx2"/>
                </a:solidFill>
                <a:latin typeface="+mj-lt"/>
              </a:rPr>
              <a:t>Lecture 2 – Part 1</a:t>
            </a:r>
          </a:p>
          <a:p>
            <a:pPr algn="ctr"/>
            <a:r>
              <a:rPr lang="en-US" sz="4000" b="1" dirty="0">
                <a:solidFill>
                  <a:schemeClr val="tx2"/>
                </a:solidFill>
                <a:latin typeface="+mj-lt"/>
              </a:rPr>
              <a:t>Intelligent Agents</a:t>
            </a:r>
          </a:p>
        </p:txBody>
      </p:sp>
    </p:spTree>
    <p:extLst>
      <p:ext uri="{BB962C8B-B14F-4D97-AF65-F5344CB8AC3E}">
        <p14:creationId xmlns:p14="http://schemas.microsoft.com/office/powerpoint/2010/main" val="2025756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pic>
        <p:nvPicPr>
          <p:cNvPr id="6" name="Picture 5">
            <a:extLst>
              <a:ext uri="{FF2B5EF4-FFF2-40B4-BE49-F238E27FC236}">
                <a16:creationId xmlns:a16="http://schemas.microsoft.com/office/drawing/2014/main" id="{DF8E934F-B38C-6D88-A7FC-855991355C0A}"/>
              </a:ext>
            </a:extLst>
          </p:cNvPr>
          <p:cNvPicPr>
            <a:picLocks noChangeAspect="1"/>
          </p:cNvPicPr>
          <p:nvPr/>
        </p:nvPicPr>
        <p:blipFill>
          <a:blip r:embed="rId3"/>
          <a:stretch>
            <a:fillRect/>
          </a:stretch>
        </p:blipFill>
        <p:spPr>
          <a:xfrm>
            <a:off x="319251" y="2339950"/>
            <a:ext cx="5817662" cy="23200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1524B-AFF2-B7A3-C416-33AB0537D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988DF-CCE0-75AD-C078-1D3D3FF1F9B3}"/>
              </a:ext>
            </a:extLst>
          </p:cNvPr>
          <p:cNvSpPr>
            <a:spLocks noGrp="1"/>
          </p:cNvSpPr>
          <p:nvPr>
            <p:ph type="title"/>
          </p:nvPr>
        </p:nvSpPr>
        <p:spPr/>
        <p:txBody>
          <a:bodyPr/>
          <a:lstStyle/>
          <a:p>
            <a:r>
              <a:t>Rational agents</a:t>
            </a:r>
          </a:p>
        </p:txBody>
      </p:sp>
      <p:sp>
        <p:nvSpPr>
          <p:cNvPr id="3" name="Content Placeholder 2">
            <a:extLst>
              <a:ext uri="{FF2B5EF4-FFF2-40B4-BE49-F238E27FC236}">
                <a16:creationId xmlns:a16="http://schemas.microsoft.com/office/drawing/2014/main" id="{8160F141-7049-1DA0-B41D-24A09D826D07}"/>
              </a:ext>
            </a:extLst>
          </p:cNvPr>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a:extLst>
              <a:ext uri="{FF2B5EF4-FFF2-40B4-BE49-F238E27FC236}">
                <a16:creationId xmlns:a16="http://schemas.microsoft.com/office/drawing/2014/main" id="{08DB5148-07BC-F574-876D-227547DE97C7}"/>
              </a:ext>
            </a:extLst>
          </p:cNvPr>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pic>
        <p:nvPicPr>
          <p:cNvPr id="5" name="Picture 4">
            <a:extLst>
              <a:ext uri="{FF2B5EF4-FFF2-40B4-BE49-F238E27FC236}">
                <a16:creationId xmlns:a16="http://schemas.microsoft.com/office/drawing/2014/main" id="{20A5C3A3-D949-5975-4649-E63E896B0D73}"/>
              </a:ext>
            </a:extLst>
          </p:cNvPr>
          <p:cNvPicPr>
            <a:picLocks noChangeAspect="1"/>
          </p:cNvPicPr>
          <p:nvPr/>
        </p:nvPicPr>
        <p:blipFill>
          <a:blip r:embed="rId3"/>
          <a:stretch>
            <a:fillRect/>
          </a:stretch>
        </p:blipFill>
        <p:spPr>
          <a:xfrm>
            <a:off x="319251" y="3424396"/>
            <a:ext cx="5817662" cy="1235603"/>
          </a:xfrm>
          <a:prstGeom prst="rect">
            <a:avLst/>
          </a:prstGeom>
        </p:spPr>
      </p:pic>
    </p:spTree>
    <p:extLst>
      <p:ext uri="{BB962C8B-B14F-4D97-AF65-F5344CB8AC3E}">
        <p14:creationId xmlns:p14="http://schemas.microsoft.com/office/powerpoint/2010/main" val="2180645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D0294-DF93-73DB-9536-F56816976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2159A-ECB1-2F8D-69C7-8891FDE1690F}"/>
              </a:ext>
            </a:extLst>
          </p:cNvPr>
          <p:cNvSpPr>
            <a:spLocks noGrp="1"/>
          </p:cNvSpPr>
          <p:nvPr>
            <p:ph type="title"/>
          </p:nvPr>
        </p:nvSpPr>
        <p:spPr/>
        <p:txBody>
          <a:bodyPr/>
          <a:lstStyle/>
          <a:p>
            <a:r>
              <a:t>Rational agents</a:t>
            </a:r>
          </a:p>
        </p:txBody>
      </p:sp>
      <p:sp>
        <p:nvSpPr>
          <p:cNvPr id="3" name="Content Placeholder 2">
            <a:extLst>
              <a:ext uri="{FF2B5EF4-FFF2-40B4-BE49-F238E27FC236}">
                <a16:creationId xmlns:a16="http://schemas.microsoft.com/office/drawing/2014/main" id="{35A94AF3-A0A7-DB25-34D9-2627D8884688}"/>
              </a:ext>
            </a:extLst>
          </p:cNvPr>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a:extLst>
              <a:ext uri="{FF2B5EF4-FFF2-40B4-BE49-F238E27FC236}">
                <a16:creationId xmlns:a16="http://schemas.microsoft.com/office/drawing/2014/main" id="{3ABFBD0D-C6B2-875C-55B1-B2CCA4238FD5}"/>
              </a:ext>
            </a:extLst>
          </p:cNvPr>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pic>
        <p:nvPicPr>
          <p:cNvPr id="5" name="Picture 4">
            <a:extLst>
              <a:ext uri="{FF2B5EF4-FFF2-40B4-BE49-F238E27FC236}">
                <a16:creationId xmlns:a16="http://schemas.microsoft.com/office/drawing/2014/main" id="{47384204-FBF0-47C5-1EA9-F5BDB8D97C16}"/>
              </a:ext>
            </a:extLst>
          </p:cNvPr>
          <p:cNvPicPr>
            <a:picLocks noChangeAspect="1"/>
          </p:cNvPicPr>
          <p:nvPr/>
        </p:nvPicPr>
        <p:blipFill>
          <a:blip r:embed="rId3"/>
          <a:stretch>
            <a:fillRect/>
          </a:stretch>
        </p:blipFill>
        <p:spPr>
          <a:xfrm>
            <a:off x="319251" y="3792612"/>
            <a:ext cx="5817662" cy="867388"/>
          </a:xfrm>
          <a:prstGeom prst="rect">
            <a:avLst/>
          </a:prstGeom>
        </p:spPr>
      </p:pic>
    </p:spTree>
    <p:extLst>
      <p:ext uri="{BB962C8B-B14F-4D97-AF65-F5344CB8AC3E}">
        <p14:creationId xmlns:p14="http://schemas.microsoft.com/office/powerpoint/2010/main" val="521326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D79A-C9CD-CEAB-2447-B16A2A0BC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ECD13-F5E9-0B43-A9FE-7A29333C1EBD}"/>
              </a:ext>
            </a:extLst>
          </p:cNvPr>
          <p:cNvSpPr>
            <a:spLocks noGrp="1"/>
          </p:cNvSpPr>
          <p:nvPr>
            <p:ph type="title"/>
          </p:nvPr>
        </p:nvSpPr>
        <p:spPr/>
        <p:txBody>
          <a:bodyPr/>
          <a:lstStyle/>
          <a:p>
            <a:r>
              <a:t>Rational agents</a:t>
            </a:r>
          </a:p>
        </p:txBody>
      </p:sp>
      <p:sp>
        <p:nvSpPr>
          <p:cNvPr id="3" name="Content Placeholder 2">
            <a:extLst>
              <a:ext uri="{FF2B5EF4-FFF2-40B4-BE49-F238E27FC236}">
                <a16:creationId xmlns:a16="http://schemas.microsoft.com/office/drawing/2014/main" id="{131EBEAB-F1DC-4015-C356-D89C3E5AC9B7}"/>
              </a:ext>
            </a:extLst>
          </p:cNvPr>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a:extLst>
              <a:ext uri="{FF2B5EF4-FFF2-40B4-BE49-F238E27FC236}">
                <a16:creationId xmlns:a16="http://schemas.microsoft.com/office/drawing/2014/main" id="{741CADCB-2331-F6E6-0798-B0482D5EF63E}"/>
              </a:ext>
            </a:extLst>
          </p:cNvPr>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pic>
        <p:nvPicPr>
          <p:cNvPr id="5" name="Picture 4">
            <a:extLst>
              <a:ext uri="{FF2B5EF4-FFF2-40B4-BE49-F238E27FC236}">
                <a16:creationId xmlns:a16="http://schemas.microsoft.com/office/drawing/2014/main" id="{A3149399-6203-3D76-9AD7-682FEAD1CC04}"/>
              </a:ext>
            </a:extLst>
          </p:cNvPr>
          <p:cNvPicPr>
            <a:picLocks noChangeAspect="1"/>
          </p:cNvPicPr>
          <p:nvPr/>
        </p:nvPicPr>
        <p:blipFill>
          <a:blip r:embed="rId3"/>
          <a:stretch>
            <a:fillRect/>
          </a:stretch>
        </p:blipFill>
        <p:spPr>
          <a:xfrm>
            <a:off x="319251" y="4124004"/>
            <a:ext cx="5817662" cy="535995"/>
          </a:xfrm>
          <a:prstGeom prst="rect">
            <a:avLst/>
          </a:prstGeom>
        </p:spPr>
      </p:pic>
    </p:spTree>
    <p:extLst>
      <p:ext uri="{BB962C8B-B14F-4D97-AF65-F5344CB8AC3E}">
        <p14:creationId xmlns:p14="http://schemas.microsoft.com/office/powerpoint/2010/main" val="1924507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39DC2-A97F-F424-B1DD-2F3957C41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A9D2B-9441-2C10-C897-8D9A605E275B}"/>
              </a:ext>
            </a:extLst>
          </p:cNvPr>
          <p:cNvSpPr>
            <a:spLocks noGrp="1"/>
          </p:cNvSpPr>
          <p:nvPr>
            <p:ph type="title"/>
          </p:nvPr>
        </p:nvSpPr>
        <p:spPr/>
        <p:txBody>
          <a:bodyPr/>
          <a:lstStyle/>
          <a:p>
            <a:r>
              <a:t>Rational agents</a:t>
            </a:r>
          </a:p>
        </p:txBody>
      </p:sp>
      <p:sp>
        <p:nvSpPr>
          <p:cNvPr id="3" name="Content Placeholder 2">
            <a:extLst>
              <a:ext uri="{FF2B5EF4-FFF2-40B4-BE49-F238E27FC236}">
                <a16:creationId xmlns:a16="http://schemas.microsoft.com/office/drawing/2014/main" id="{DB2FB549-343A-248E-0D48-8A808BCFB073}"/>
              </a:ext>
            </a:extLst>
          </p:cNvPr>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a:extLst>
              <a:ext uri="{FF2B5EF4-FFF2-40B4-BE49-F238E27FC236}">
                <a16:creationId xmlns:a16="http://schemas.microsoft.com/office/drawing/2014/main" id="{B03F29DC-F17F-F9C8-158D-3B8F0A606FE0}"/>
              </a:ext>
            </a:extLst>
          </p:cNvPr>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spTree>
    <p:extLst>
      <p:ext uri="{BB962C8B-B14F-4D97-AF65-F5344CB8AC3E}">
        <p14:creationId xmlns:p14="http://schemas.microsoft.com/office/powerpoint/2010/main" val="2379187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a:t>
            </a:r>
            <a:r>
              <a:rPr dirty="0"/>
              <a:t>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a:t>
            </a:r>
            <a:r>
              <a:rPr sz="1400" dirty="0">
                <a:solidFill>
                  <a:schemeClr val="tx2"/>
                </a:solidFill>
                <a:latin typeface="Maple Mono NF" panose="020F0509060000000000" pitchFamily="49" charset="0"/>
                <a:ea typeface="Maple Mono NF" panose="020F0509060000000000" pitchFamily="49" charset="0"/>
              </a:rPr>
              <a:t>mini-swe-agent</a:t>
            </a:r>
            <a:r>
              <a:rPr sz="1400" dirty="0">
                <a:solidFill>
                  <a:schemeClr val="tx2"/>
                </a:solidFill>
              </a:rPr>
              <a: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pic>
        <p:nvPicPr>
          <p:cNvPr id="8" name="Picture 7">
            <a:extLst>
              <a:ext uri="{FF2B5EF4-FFF2-40B4-BE49-F238E27FC236}">
                <a16:creationId xmlns:a16="http://schemas.microsoft.com/office/drawing/2014/main" id="{ED90D19A-F136-4D36-226F-144028D0C364}"/>
              </a:ext>
            </a:extLst>
          </p:cNvPr>
          <p:cNvPicPr>
            <a:picLocks noChangeAspect="1"/>
          </p:cNvPicPr>
          <p:nvPr/>
        </p:nvPicPr>
        <p:blipFill>
          <a:blip r:embed="rId4"/>
          <a:stretch>
            <a:fillRect/>
          </a:stretch>
        </p:blipFill>
        <p:spPr>
          <a:xfrm>
            <a:off x="319250" y="1523500"/>
            <a:ext cx="6262023" cy="3136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CDAF4-D653-E16C-2226-58E316A1C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92284-9574-A649-A76C-0FAA125D8C73}"/>
              </a:ext>
            </a:extLst>
          </p:cNvPr>
          <p:cNvSpPr>
            <a:spLocks noGrp="1"/>
          </p:cNvSpPr>
          <p:nvPr>
            <p:ph type="title"/>
          </p:nvPr>
        </p:nvSpPr>
        <p:spPr/>
        <p:txBody>
          <a:bodyPr/>
          <a:lstStyle/>
          <a:p>
            <a:r>
              <a:t>One alert, one run, one patch</a:t>
            </a:r>
          </a:p>
        </p:txBody>
      </p:sp>
      <p:sp>
        <p:nvSpPr>
          <p:cNvPr id="3" name="TextBox 2">
            <a:extLst>
              <a:ext uri="{FF2B5EF4-FFF2-40B4-BE49-F238E27FC236}">
                <a16:creationId xmlns:a16="http://schemas.microsoft.com/office/drawing/2014/main" id="{20879854-C36B-0D97-DCE2-8CA554BDC653}"/>
              </a:ext>
            </a:extLst>
          </p:cNvPr>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a:extLst>
              <a:ext uri="{FF2B5EF4-FFF2-40B4-BE49-F238E27FC236}">
                <a16:creationId xmlns:a16="http://schemas.microsoft.com/office/drawing/2014/main" id="{8DFFFDA6-323C-6B86-434B-2B27163E4CA6}"/>
              </a:ext>
            </a:extLst>
          </p:cNvPr>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a:extLst>
              <a:ext uri="{FF2B5EF4-FFF2-40B4-BE49-F238E27FC236}">
                <a16:creationId xmlns:a16="http://schemas.microsoft.com/office/drawing/2014/main" id="{CE69AFB6-7AD0-E6D2-4E3C-19B1C952EBDB}"/>
              </a:ext>
            </a:extLst>
          </p:cNvPr>
          <p:cNvPicPr>
            <a:picLocks noChangeAspect="1"/>
          </p:cNvPicPr>
          <p:nvPr/>
        </p:nvPicPr>
        <p:blipFill>
          <a:blip r:embed="rId3"/>
          <a:stretch>
            <a:fillRect/>
          </a:stretch>
        </p:blipFill>
        <p:spPr>
          <a:xfrm>
            <a:off x="229000" y="1470000"/>
            <a:ext cx="6400000" cy="2142227"/>
          </a:xfrm>
          <a:prstGeom prst="rect">
            <a:avLst/>
          </a:prstGeom>
        </p:spPr>
      </p:pic>
      <p:sp>
        <p:nvSpPr>
          <p:cNvPr id="6" name="TextBox 5">
            <a:extLst>
              <a:ext uri="{FF2B5EF4-FFF2-40B4-BE49-F238E27FC236}">
                <a16:creationId xmlns:a16="http://schemas.microsoft.com/office/drawing/2014/main" id="{C8491430-D5DB-F690-7914-099816052A81}"/>
              </a:ext>
            </a:extLst>
          </p:cNvPr>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a:extLst>
              <a:ext uri="{FF2B5EF4-FFF2-40B4-BE49-F238E27FC236}">
                <a16:creationId xmlns:a16="http://schemas.microsoft.com/office/drawing/2014/main" id="{FA201AD5-BC61-A950-867F-378D12B345B8}"/>
              </a:ext>
            </a:extLst>
          </p:cNvPr>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pic>
        <p:nvPicPr>
          <p:cNvPr id="8" name="Picture 7">
            <a:extLst>
              <a:ext uri="{FF2B5EF4-FFF2-40B4-BE49-F238E27FC236}">
                <a16:creationId xmlns:a16="http://schemas.microsoft.com/office/drawing/2014/main" id="{0600FCAD-566B-67C6-C2A9-F285DD1ED8C2}"/>
              </a:ext>
            </a:extLst>
          </p:cNvPr>
          <p:cNvPicPr>
            <a:picLocks noChangeAspect="1"/>
          </p:cNvPicPr>
          <p:nvPr/>
        </p:nvPicPr>
        <p:blipFill>
          <a:blip r:embed="rId4"/>
          <a:stretch>
            <a:fillRect/>
          </a:stretch>
        </p:blipFill>
        <p:spPr>
          <a:xfrm>
            <a:off x="319250" y="3620000"/>
            <a:ext cx="6262023" cy="1040000"/>
          </a:xfrm>
          <a:prstGeom prst="rect">
            <a:avLst/>
          </a:prstGeom>
        </p:spPr>
      </p:pic>
    </p:spTree>
    <p:extLst>
      <p:ext uri="{BB962C8B-B14F-4D97-AF65-F5344CB8AC3E}">
        <p14:creationId xmlns:p14="http://schemas.microsoft.com/office/powerpoint/2010/main" val="3994203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1F46C-58C7-87CD-19D7-E12A29E56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70F5A-B9C7-C804-4BD8-1A54B9DC1C20}"/>
              </a:ext>
            </a:extLst>
          </p:cNvPr>
          <p:cNvSpPr>
            <a:spLocks noGrp="1"/>
          </p:cNvSpPr>
          <p:nvPr>
            <p:ph type="title"/>
          </p:nvPr>
        </p:nvSpPr>
        <p:spPr/>
        <p:txBody>
          <a:bodyPr/>
          <a:lstStyle/>
          <a:p>
            <a:r>
              <a:t>One alert, one run, one patch</a:t>
            </a:r>
          </a:p>
        </p:txBody>
      </p:sp>
      <p:sp>
        <p:nvSpPr>
          <p:cNvPr id="3" name="TextBox 2">
            <a:extLst>
              <a:ext uri="{FF2B5EF4-FFF2-40B4-BE49-F238E27FC236}">
                <a16:creationId xmlns:a16="http://schemas.microsoft.com/office/drawing/2014/main" id="{7B8D182C-D707-89F0-C3D2-48CBE38300BF}"/>
              </a:ext>
            </a:extLst>
          </p:cNvPr>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a:extLst>
              <a:ext uri="{FF2B5EF4-FFF2-40B4-BE49-F238E27FC236}">
                <a16:creationId xmlns:a16="http://schemas.microsoft.com/office/drawing/2014/main" id="{AEB4359E-3C07-3C6C-7618-37556A131D16}"/>
              </a:ext>
            </a:extLst>
          </p:cNvPr>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a:extLst>
              <a:ext uri="{FF2B5EF4-FFF2-40B4-BE49-F238E27FC236}">
                <a16:creationId xmlns:a16="http://schemas.microsoft.com/office/drawing/2014/main" id="{62168AF8-D6F9-44FE-F52D-1BC9534773D5}"/>
              </a:ext>
            </a:extLst>
          </p:cNvPr>
          <p:cNvPicPr>
            <a:picLocks noChangeAspect="1"/>
          </p:cNvPicPr>
          <p:nvPr/>
        </p:nvPicPr>
        <p:blipFill>
          <a:blip r:embed="rId3"/>
          <a:stretch>
            <a:fillRect/>
          </a:stretch>
        </p:blipFill>
        <p:spPr>
          <a:xfrm>
            <a:off x="229000" y="1470000"/>
            <a:ext cx="6400000" cy="2142227"/>
          </a:xfrm>
          <a:prstGeom prst="rect">
            <a:avLst/>
          </a:prstGeom>
        </p:spPr>
      </p:pic>
      <p:sp>
        <p:nvSpPr>
          <p:cNvPr id="6" name="TextBox 5">
            <a:extLst>
              <a:ext uri="{FF2B5EF4-FFF2-40B4-BE49-F238E27FC236}">
                <a16:creationId xmlns:a16="http://schemas.microsoft.com/office/drawing/2014/main" id="{C796C530-A1EF-67F4-A102-3F64FC9FBCF6}"/>
              </a:ext>
            </a:extLst>
          </p:cNvPr>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a:extLst>
              <a:ext uri="{FF2B5EF4-FFF2-40B4-BE49-F238E27FC236}">
                <a16:creationId xmlns:a16="http://schemas.microsoft.com/office/drawing/2014/main" id="{A33C4AA1-4570-8BA5-A26C-99C5F91EF42D}"/>
              </a:ext>
            </a:extLst>
          </p:cNvPr>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extLst>
      <p:ext uri="{BB962C8B-B14F-4D97-AF65-F5344CB8AC3E}">
        <p14:creationId xmlns:p14="http://schemas.microsoft.com/office/powerpoint/2010/main" val="4134856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a:t>
            </a:r>
            <a:r>
              <a:rPr lang="en-US" b="1" dirty="0">
                <a:solidFill>
                  <a:srgbClr val="28285E"/>
                </a:solidFill>
              </a:rPr>
              <a:t> </a:t>
            </a:r>
            <a:r>
              <a:rPr sz="1400" b="1" dirty="0">
                <a:solidFill>
                  <a:srgbClr val="28285E"/>
                </a:solidFill>
              </a:rPr>
              <a:t>given four things:</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b="1" dirty="0"/>
              <a:t>Optimizing per tool call</a:t>
            </a:r>
            <a:r>
              <a:rPr sz="1400" dirty="0"/>
              <a:t>,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solidFill>
                  <a:schemeClr val="tx1"/>
                </a:solidFill>
              </a:rPr>
              <a:t>Patch only the flagged line and the weakness survives, because the unsafe value arrives from a helper the alert never names. A better agent follows the value first.</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pic>
        <p:nvPicPr>
          <p:cNvPr id="6" name="Picture 5">
            <a:extLst>
              <a:ext uri="{FF2B5EF4-FFF2-40B4-BE49-F238E27FC236}">
                <a16:creationId xmlns:a16="http://schemas.microsoft.com/office/drawing/2014/main" id="{B318EB57-17C4-281D-DE2F-1BC3A6C3F0B3}"/>
              </a:ext>
            </a:extLst>
          </p:cNvPr>
          <p:cNvPicPr>
            <a:picLocks noChangeAspect="1"/>
          </p:cNvPicPr>
          <p:nvPr/>
        </p:nvPicPr>
        <p:blipFill>
          <a:blip r:embed="rId3"/>
          <a:stretch>
            <a:fillRect/>
          </a:stretch>
        </p:blipFill>
        <p:spPr>
          <a:xfrm>
            <a:off x="265106" y="1840831"/>
            <a:ext cx="6262023" cy="303195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E9AD-F56E-6ACD-D1CB-8FA928727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7BBD8-EDCC-5EEB-0406-D7CCB060137A}"/>
              </a:ext>
            </a:extLst>
          </p:cNvPr>
          <p:cNvSpPr>
            <a:spLocks noGrp="1"/>
          </p:cNvSpPr>
          <p:nvPr>
            <p:ph type="title"/>
          </p:nvPr>
        </p:nvSpPr>
        <p:spPr/>
        <p:txBody>
          <a:bodyPr/>
          <a:lstStyle/>
          <a:p>
            <a:r>
              <a:t>When it is not</a:t>
            </a:r>
          </a:p>
        </p:txBody>
      </p:sp>
      <p:sp>
        <p:nvSpPr>
          <p:cNvPr id="3" name="Content Placeholder 2">
            <a:extLst>
              <a:ext uri="{FF2B5EF4-FFF2-40B4-BE49-F238E27FC236}">
                <a16:creationId xmlns:a16="http://schemas.microsoft.com/office/drawing/2014/main" id="{A8EA76F8-A0B5-954D-BED6-B6A1587E5142}"/>
              </a:ext>
            </a:extLst>
          </p:cNvPr>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b="1" dirty="0"/>
              <a:t>Optimizing per tool call</a:t>
            </a:r>
            <a:r>
              <a:rPr sz="1400" dirty="0"/>
              <a:t>,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solidFill>
                  <a:schemeClr val="tx1"/>
                </a:solidFill>
              </a:rPr>
              <a:t>Patch only the flagged line and the weakness survives, because the unsafe value arrives from a helper the alert never names. A better agent follows the value first.</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a:extLst>
              <a:ext uri="{FF2B5EF4-FFF2-40B4-BE49-F238E27FC236}">
                <a16:creationId xmlns:a16="http://schemas.microsoft.com/office/drawing/2014/main" id="{1CB87F62-CCA1-B40B-EF74-92FE74B2207F}"/>
              </a:ext>
            </a:extLst>
          </p:cNvPr>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a:extLst>
              <a:ext uri="{FF2B5EF4-FFF2-40B4-BE49-F238E27FC236}">
                <a16:creationId xmlns:a16="http://schemas.microsoft.com/office/drawing/2014/main" id="{76CA26FF-512A-2CB8-E6D9-AB8077DBD47B}"/>
              </a:ext>
            </a:extLst>
          </p:cNvPr>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pic>
        <p:nvPicPr>
          <p:cNvPr id="6" name="Picture 5">
            <a:extLst>
              <a:ext uri="{FF2B5EF4-FFF2-40B4-BE49-F238E27FC236}">
                <a16:creationId xmlns:a16="http://schemas.microsoft.com/office/drawing/2014/main" id="{D222E308-CA78-99B2-C04B-23F0B6D7D551}"/>
              </a:ext>
            </a:extLst>
          </p:cNvPr>
          <p:cNvPicPr>
            <a:picLocks noChangeAspect="1"/>
          </p:cNvPicPr>
          <p:nvPr/>
        </p:nvPicPr>
        <p:blipFill>
          <a:blip r:embed="rId3"/>
          <a:stretch>
            <a:fillRect/>
          </a:stretch>
        </p:blipFill>
        <p:spPr>
          <a:xfrm>
            <a:off x="265106" y="2616868"/>
            <a:ext cx="6262023" cy="2255920"/>
          </a:xfrm>
          <a:prstGeom prst="rect">
            <a:avLst/>
          </a:prstGeom>
        </p:spPr>
      </p:pic>
    </p:spTree>
    <p:extLst>
      <p:ext uri="{BB962C8B-B14F-4D97-AF65-F5344CB8AC3E}">
        <p14:creationId xmlns:p14="http://schemas.microsoft.com/office/powerpoint/2010/main" val="3341723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1736C-1792-B8A6-60FF-E4CF46B9A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165C8-FEFA-2989-46EE-28BD106E6526}"/>
              </a:ext>
            </a:extLst>
          </p:cNvPr>
          <p:cNvSpPr>
            <a:spLocks noGrp="1"/>
          </p:cNvSpPr>
          <p:nvPr>
            <p:ph type="title"/>
          </p:nvPr>
        </p:nvSpPr>
        <p:spPr/>
        <p:txBody>
          <a:bodyPr/>
          <a:lstStyle/>
          <a:p>
            <a:r>
              <a:t>When it is not</a:t>
            </a:r>
          </a:p>
        </p:txBody>
      </p:sp>
      <p:sp>
        <p:nvSpPr>
          <p:cNvPr id="3" name="Content Placeholder 2">
            <a:extLst>
              <a:ext uri="{FF2B5EF4-FFF2-40B4-BE49-F238E27FC236}">
                <a16:creationId xmlns:a16="http://schemas.microsoft.com/office/drawing/2014/main" id="{CBDB0F04-C1D1-9B68-52B7-5D7FB8A3F745}"/>
              </a:ext>
            </a:extLst>
          </p:cNvPr>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b="1" dirty="0"/>
              <a:t>Optimizing per tool call</a:t>
            </a:r>
            <a:r>
              <a:rPr sz="1400" dirty="0"/>
              <a:t>,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solidFill>
                  <a:schemeClr val="tx1"/>
                </a:solidFill>
              </a:rPr>
              <a:t>Patch only the flagged line and the weakness survives, because the unsafe value arrives from a helper the alert never names. A better agent follows the value first.</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a:extLst>
              <a:ext uri="{FF2B5EF4-FFF2-40B4-BE49-F238E27FC236}">
                <a16:creationId xmlns:a16="http://schemas.microsoft.com/office/drawing/2014/main" id="{18170BB4-20C4-D63B-6FFF-FB474AA4D4C8}"/>
              </a:ext>
            </a:extLst>
          </p:cNvPr>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a:extLst>
              <a:ext uri="{FF2B5EF4-FFF2-40B4-BE49-F238E27FC236}">
                <a16:creationId xmlns:a16="http://schemas.microsoft.com/office/drawing/2014/main" id="{8024157E-40D1-9135-0492-D7C9F702CD0D}"/>
              </a:ext>
            </a:extLst>
          </p:cNvPr>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pic>
        <p:nvPicPr>
          <p:cNvPr id="6" name="Picture 5">
            <a:extLst>
              <a:ext uri="{FF2B5EF4-FFF2-40B4-BE49-F238E27FC236}">
                <a16:creationId xmlns:a16="http://schemas.microsoft.com/office/drawing/2014/main" id="{CEA0F41A-CD1D-20FC-41FD-5242BE655877}"/>
              </a:ext>
            </a:extLst>
          </p:cNvPr>
          <p:cNvPicPr>
            <a:picLocks noChangeAspect="1"/>
          </p:cNvPicPr>
          <p:nvPr/>
        </p:nvPicPr>
        <p:blipFill>
          <a:blip r:embed="rId3"/>
          <a:stretch>
            <a:fillRect/>
          </a:stretch>
        </p:blipFill>
        <p:spPr>
          <a:xfrm>
            <a:off x="265106" y="3537284"/>
            <a:ext cx="6262023" cy="1335504"/>
          </a:xfrm>
          <a:prstGeom prst="rect">
            <a:avLst/>
          </a:prstGeom>
        </p:spPr>
      </p:pic>
    </p:spTree>
    <p:extLst>
      <p:ext uri="{BB962C8B-B14F-4D97-AF65-F5344CB8AC3E}">
        <p14:creationId xmlns:p14="http://schemas.microsoft.com/office/powerpoint/2010/main" val="1859317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BAC50-ED16-CA10-8EB0-E1C237BB8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FF631-6A5B-ACDD-0C1D-9E8554A53EEA}"/>
              </a:ext>
            </a:extLst>
          </p:cNvPr>
          <p:cNvSpPr>
            <a:spLocks noGrp="1"/>
          </p:cNvSpPr>
          <p:nvPr>
            <p:ph type="title"/>
          </p:nvPr>
        </p:nvSpPr>
        <p:spPr/>
        <p:txBody>
          <a:bodyPr/>
          <a:lstStyle/>
          <a:p>
            <a:r>
              <a:t>When it is not</a:t>
            </a:r>
          </a:p>
        </p:txBody>
      </p:sp>
      <p:sp>
        <p:nvSpPr>
          <p:cNvPr id="3" name="Content Placeholder 2">
            <a:extLst>
              <a:ext uri="{FF2B5EF4-FFF2-40B4-BE49-F238E27FC236}">
                <a16:creationId xmlns:a16="http://schemas.microsoft.com/office/drawing/2014/main" id="{0DD51AC7-7473-070D-D55D-725242D75F61}"/>
              </a:ext>
            </a:extLst>
          </p:cNvPr>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b="1" dirty="0"/>
              <a:t>Optimizing per tool call</a:t>
            </a:r>
            <a:r>
              <a:rPr sz="1400" dirty="0"/>
              <a:t>,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solidFill>
                  <a:schemeClr val="tx1"/>
                </a:solidFill>
              </a:rPr>
              <a:t>Patch only the flagged line and the weakness survives, because the unsafe value arrives from a helper the alert never names. A better agent follows the value first.</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a:extLst>
              <a:ext uri="{FF2B5EF4-FFF2-40B4-BE49-F238E27FC236}">
                <a16:creationId xmlns:a16="http://schemas.microsoft.com/office/drawing/2014/main" id="{1DC19F29-EF6F-BFB6-D545-8D3B6669BE2C}"/>
              </a:ext>
            </a:extLst>
          </p:cNvPr>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dirty="0">
                <a:solidFill>
                  <a:schemeClr val="tx2"/>
                </a:solidFill>
              </a:rPr>
              <a:t>Budget, depth of investigation, and termination are the three we turn into decisions: the </a:t>
            </a:r>
            <a:r>
              <a:rPr sz="1400" b="1" u="sng" dirty="0">
                <a:solidFill>
                  <a:schemeClr val="tx2"/>
                </a:solidFill>
              </a:rPr>
              <a:t>loop</a:t>
            </a:r>
            <a:r>
              <a:rPr sz="1400" b="0" dirty="0">
                <a:solidFill>
                  <a:schemeClr val="tx2"/>
                </a:solidFill>
              </a:rPr>
              <a:t> gets a </a:t>
            </a:r>
            <a:r>
              <a:rPr sz="1400" b="1" u="sng" dirty="0">
                <a:solidFill>
                  <a:schemeClr val="tx2"/>
                </a:solidFill>
              </a:rPr>
              <a:t>budget</a:t>
            </a:r>
            <a:r>
              <a:rPr sz="1400" b="0" dirty="0">
                <a:solidFill>
                  <a:schemeClr val="tx2"/>
                </a:solidFill>
              </a:rPr>
              <a:t>, the </a:t>
            </a:r>
            <a:r>
              <a:rPr sz="1400" b="1" u="sng" dirty="0">
                <a:solidFill>
                  <a:schemeClr val="tx2"/>
                </a:solidFill>
              </a:rPr>
              <a:t>planner</a:t>
            </a:r>
            <a:r>
              <a:rPr sz="1400" b="0" dirty="0">
                <a:solidFill>
                  <a:schemeClr val="tx2"/>
                </a:solidFill>
              </a:rPr>
              <a:t> sets the </a:t>
            </a:r>
            <a:r>
              <a:rPr sz="1400" b="1" dirty="0">
                <a:solidFill>
                  <a:schemeClr val="tx2"/>
                </a:solidFill>
              </a:rPr>
              <a:t>depth</a:t>
            </a:r>
            <a:r>
              <a:rPr sz="1400" b="0" dirty="0">
                <a:solidFill>
                  <a:schemeClr val="tx2"/>
                </a:solidFill>
              </a:rPr>
              <a:t>, and the runtime owns the </a:t>
            </a:r>
            <a:r>
              <a:rPr sz="1400" b="1" dirty="0">
                <a:solidFill>
                  <a:schemeClr val="tx2"/>
                </a:solidFill>
              </a:rPr>
              <a:t>ending</a:t>
            </a:r>
            <a:r>
              <a:rPr sz="1400" b="0" dirty="0">
                <a:solidFill>
                  <a:schemeClr val="tx2"/>
                </a:solidFill>
              </a:rPr>
              <a:t>.</a:t>
            </a:r>
          </a:p>
        </p:txBody>
      </p:sp>
      <p:sp>
        <p:nvSpPr>
          <p:cNvPr id="5" name="Rectangle 4">
            <a:extLst>
              <a:ext uri="{FF2B5EF4-FFF2-40B4-BE49-F238E27FC236}">
                <a16:creationId xmlns:a16="http://schemas.microsoft.com/office/drawing/2014/main" id="{13DB7A3C-68D7-BFE3-52A1-713821595BE8}"/>
              </a:ext>
            </a:extLst>
          </p:cNvPr>
          <p:cNvSpPr/>
          <p:nvPr/>
        </p:nvSpPr>
        <p:spPr>
          <a:xfrm>
            <a:off x="319251" y="44435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extLst>
      <p:ext uri="{BB962C8B-B14F-4D97-AF65-F5344CB8AC3E}">
        <p14:creationId xmlns:p14="http://schemas.microsoft.com/office/powerpoint/2010/main" val="1077669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2079261097"/>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dirty="0">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a:t>
                      </a:r>
                      <a:r>
                        <a:rPr sz="1200" b="1" dirty="0">
                          <a:solidFill>
                            <a:schemeClr val="tx1">
                              <a:lumMod val="85000"/>
                              <a:lumOff val="15000"/>
                            </a:schemeClr>
                          </a:solidFill>
                        </a:rPr>
                        <a:t>weakness is </a:t>
                      </a:r>
                      <a:r>
                        <a:rPr lang="en-US" sz="1200" b="1" dirty="0">
                          <a:solidFill>
                            <a:schemeClr val="tx1">
                              <a:lumMod val="85000"/>
                              <a:lumOff val="15000"/>
                            </a:schemeClr>
                          </a:solidFill>
                        </a:rPr>
                        <a:t>gone</a:t>
                      </a:r>
                      <a:r>
                        <a:rPr lang="en-US" sz="1200" b="0" dirty="0">
                          <a:solidFill>
                            <a:schemeClr val="tx1">
                              <a:lumMod val="85000"/>
                              <a:lumOff val="15000"/>
                            </a:schemeClr>
                          </a:solidFill>
                        </a:rPr>
                        <a:t>,</a:t>
                      </a:r>
                      <a:r>
                        <a:rPr sz="1200" b="0" dirty="0">
                          <a:solidFill>
                            <a:schemeClr val="tx1">
                              <a:lumMod val="85000"/>
                              <a:lumOff val="15000"/>
                            </a:schemeClr>
                          </a:solidFill>
                        </a:rPr>
                        <a:t> and the </a:t>
                      </a:r>
                      <a:r>
                        <a:rPr sz="1200" b="1" dirty="0">
                          <a:solidFill>
                            <a:schemeClr val="tx1">
                              <a:lumMod val="85000"/>
                              <a:lumOff val="15000"/>
                            </a:schemeClr>
                          </a:solidFill>
                        </a:rPr>
                        <a:t>endpoint still returns </a:t>
                      </a:r>
                      <a:r>
                        <a:rPr sz="1200" b="0" dirty="0">
                          <a:solidFill>
                            <a:schemeClr val="tx1">
                              <a:lumMod val="85000"/>
                              <a:lumOff val="15000"/>
                            </a:schemeClr>
                          </a:solidFill>
                        </a:rPr>
                        <a:t>what it returned before, </a:t>
                      </a:r>
                      <a:r>
                        <a:rPr sz="1200" b="1" dirty="0">
                          <a:solidFill>
                            <a:schemeClr val="tx1">
                              <a:lumMod val="85000"/>
                              <a:lumOff val="15000"/>
                            </a:schemeClr>
                          </a:solidFill>
                        </a:rPr>
                        <a:t>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dirty="0">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latin typeface="Maple Mono NF" panose="020F0509060000000000" pitchFamily="49" charset="0"/>
                          <a:ea typeface="Maple Mono NF" panose="020F0509060000000000" pitchFamily="49" charset="0"/>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49110-FE50-8733-63E9-67AB84EF0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407D-9426-7B31-091C-5FDD331BF97B}"/>
              </a:ext>
            </a:extLst>
          </p:cNvPr>
          <p:cNvSpPr>
            <a:spLocks noGrp="1"/>
          </p:cNvSpPr>
          <p:nvPr>
            <p:ph type="title"/>
          </p:nvPr>
        </p:nvSpPr>
        <p:spPr/>
        <p:txBody>
          <a:bodyPr/>
          <a:lstStyle/>
          <a:p>
            <a:r>
              <a:t>The task environment</a:t>
            </a:r>
          </a:p>
        </p:txBody>
      </p:sp>
      <p:sp>
        <p:nvSpPr>
          <p:cNvPr id="3" name="Rectangle 2">
            <a:extLst>
              <a:ext uri="{FF2B5EF4-FFF2-40B4-BE49-F238E27FC236}">
                <a16:creationId xmlns:a16="http://schemas.microsoft.com/office/drawing/2014/main" id="{3D476A7E-2DF9-70B2-7A41-73411D843BB6}"/>
              </a:ext>
            </a:extLst>
          </p:cNvPr>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a:extLst>
              <a:ext uri="{FF2B5EF4-FFF2-40B4-BE49-F238E27FC236}">
                <a16:creationId xmlns:a16="http://schemas.microsoft.com/office/drawing/2014/main" id="{F1ABD533-E5B3-98A7-BFBB-13E6845A2FD8}"/>
              </a:ext>
            </a:extLst>
          </p:cNvPr>
          <p:cNvGraphicFramePr>
            <a:graphicFrameLocks noGrp="1"/>
          </p:cNvGraphicFramePr>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dirty="0">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a:t>
                      </a:r>
                      <a:r>
                        <a:rPr sz="1200" b="1" dirty="0">
                          <a:solidFill>
                            <a:schemeClr val="tx1">
                              <a:lumMod val="85000"/>
                              <a:lumOff val="15000"/>
                            </a:schemeClr>
                          </a:solidFill>
                        </a:rPr>
                        <a:t>weakness is </a:t>
                      </a:r>
                      <a:r>
                        <a:rPr lang="en-US" sz="1200" b="1" dirty="0">
                          <a:solidFill>
                            <a:schemeClr val="tx1">
                              <a:lumMod val="85000"/>
                              <a:lumOff val="15000"/>
                            </a:schemeClr>
                          </a:solidFill>
                        </a:rPr>
                        <a:t>gone</a:t>
                      </a:r>
                      <a:r>
                        <a:rPr lang="en-US" sz="1200" b="0" dirty="0">
                          <a:solidFill>
                            <a:schemeClr val="tx1">
                              <a:lumMod val="85000"/>
                              <a:lumOff val="15000"/>
                            </a:schemeClr>
                          </a:solidFill>
                        </a:rPr>
                        <a:t>,</a:t>
                      </a:r>
                      <a:r>
                        <a:rPr sz="1200" b="0" dirty="0">
                          <a:solidFill>
                            <a:schemeClr val="tx1">
                              <a:lumMod val="85000"/>
                              <a:lumOff val="15000"/>
                            </a:schemeClr>
                          </a:solidFill>
                        </a:rPr>
                        <a:t> and the </a:t>
                      </a:r>
                      <a:r>
                        <a:rPr sz="1200" b="1" dirty="0">
                          <a:solidFill>
                            <a:schemeClr val="tx1">
                              <a:lumMod val="85000"/>
                              <a:lumOff val="15000"/>
                            </a:schemeClr>
                          </a:solidFill>
                        </a:rPr>
                        <a:t>endpoint still returns </a:t>
                      </a:r>
                      <a:r>
                        <a:rPr sz="1200" b="0" dirty="0">
                          <a:solidFill>
                            <a:schemeClr val="tx1">
                              <a:lumMod val="85000"/>
                              <a:lumOff val="15000"/>
                            </a:schemeClr>
                          </a:solidFill>
                        </a:rPr>
                        <a:t>what it returned before, </a:t>
                      </a:r>
                      <a:r>
                        <a:rPr sz="1200" b="1" dirty="0">
                          <a:solidFill>
                            <a:schemeClr val="tx1">
                              <a:lumMod val="85000"/>
                              <a:lumOff val="15000"/>
                            </a:schemeClr>
                          </a:solidFill>
                        </a:rPr>
                        <a:t>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dirty="0">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latin typeface="Maple Mono NF" panose="020F0509060000000000" pitchFamily="49" charset="0"/>
                          <a:ea typeface="Maple Mono NF" panose="020F0509060000000000" pitchFamily="49" charset="0"/>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F9D0F3BC-BF1E-CA4A-98A0-D3ED18C6EC10}"/>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CBFDF1DF-D0B9-BECE-07B2-16034D68DB00}"/>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extLst>
      <p:ext uri="{BB962C8B-B14F-4D97-AF65-F5344CB8AC3E}">
        <p14:creationId xmlns:p14="http://schemas.microsoft.com/office/powerpoint/2010/main" val="2723816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a:t>
            </a:r>
            <a:r>
              <a:rPr dirty="0"/>
              <a:t>Fully or partially observable</a:t>
            </a:r>
          </a:p>
        </p:txBody>
      </p:sp>
      <p:graphicFrame>
        <p:nvGraphicFramePr>
          <p:cNvPr id="3" name="Table 2"/>
          <p:cNvGraphicFramePr>
            <a:graphicFrameLocks noGrp="1"/>
          </p:cNvGraphicFramePr>
          <p:nvPr>
            <p:extLst>
              <p:ext uri="{D42A27DB-BD31-4B8C-83A1-F6EECF244321}">
                <p14:modId xmlns:p14="http://schemas.microsoft.com/office/powerpoint/2010/main" val="311575709"/>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The </a:t>
                      </a:r>
                      <a:r>
                        <a:rPr sz="1100" b="1" dirty="0">
                          <a:solidFill>
                            <a:srgbClr val="28285E"/>
                          </a:solidFill>
                        </a:rPr>
                        <a:t>sensors give the agent the complete state of the environment</a:t>
                      </a:r>
                      <a:r>
                        <a:rPr sz="1100" b="0" dirty="0">
                          <a:solidFill>
                            <a:srgbClr val="28285E"/>
                          </a:solidFill>
                        </a:rPr>
                        <a: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The sensors are </a:t>
                      </a:r>
                      <a:r>
                        <a:rPr sz="1100" b="1" dirty="0">
                          <a:solidFill>
                            <a:srgbClr val="28285E"/>
                          </a:solidFill>
                        </a:rPr>
                        <a:t>noisy or inaccurate, or part of the state is simply missing</a:t>
                      </a:r>
                      <a:r>
                        <a:rPr sz="1100" b="0" dirty="0">
                          <a:solidFill>
                            <a:srgbClr val="28285E"/>
                          </a:solidFill>
                        </a:rPr>
                        <a:t>.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a:t>
            </a:r>
            <a:r>
              <a:rPr sz="1300" b="1" dirty="0">
                <a:solidFill>
                  <a:srgbClr val="28285E"/>
                </a:solidFill>
              </a:rPr>
              <a:t>sees only what it reads, and it never sees whether the endpoint still works</a:t>
            </a:r>
            <a:r>
              <a:rPr lang="en-US" sz="1300" b="1" dirty="0">
                <a:solidFill>
                  <a:srgbClr val="28285E"/>
                </a:solidFill>
              </a:rPr>
              <a:t>. </a:t>
            </a:r>
            <a:r>
              <a:rPr lang="en-US" sz="1300" dirty="0">
                <a:solidFill>
                  <a:srgbClr val="28285E"/>
                </a:solidFill>
              </a:rPr>
              <a:t>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No other entity behaves as though it were </a:t>
                      </a:r>
                      <a:r>
                        <a:rPr sz="1100" b="0" dirty="0" err="1">
                          <a:solidFill>
                            <a:srgbClr val="28285E"/>
                          </a:solidFill>
                        </a:rPr>
                        <a:t>maximising</a:t>
                      </a:r>
                      <a:r>
                        <a:rPr sz="1100" b="0" dirty="0">
                          <a:solidFill>
                            <a:srgbClr val="28285E"/>
                          </a:solidFill>
                        </a:rPr>
                        <a:t>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extLst>
              <p:ext uri="{D42A27DB-BD31-4B8C-83A1-F6EECF244321}">
                <p14:modId xmlns:p14="http://schemas.microsoft.com/office/powerpoint/2010/main" val="3334931842"/>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Experience divides into </a:t>
                      </a:r>
                      <a:r>
                        <a:rPr sz="1100" b="1" dirty="0">
                          <a:solidFill>
                            <a:srgbClr val="28285E"/>
                          </a:solidFill>
                        </a:rPr>
                        <a:t>separate episodes</a:t>
                      </a:r>
                      <a:r>
                        <a:rPr sz="1100" b="0" dirty="0">
                          <a:solidFill>
                            <a:srgbClr val="28285E"/>
                          </a:solidFill>
                        </a:rPr>
                        <a:t>. The agent perceives, then acts once, and </a:t>
                      </a:r>
                      <a:r>
                        <a:rPr sz="1100" b="1" dirty="0">
                          <a:solidFill>
                            <a:srgbClr val="28285E"/>
                          </a:solidFill>
                        </a:rPr>
                        <a:t>the next episode owes nothing to the last</a:t>
                      </a:r>
                      <a:r>
                        <a:rPr sz="1100" b="0" dirty="0">
                          <a:solidFill>
                            <a:srgbClr val="28285E"/>
                          </a:solidFill>
                        </a:rPr>
                        <a: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Both, at different scales. </a:t>
            </a:r>
            <a:r>
              <a:rPr sz="1300" b="1" dirty="0">
                <a:solidFill>
                  <a:srgbClr val="28285E"/>
                </a:solidFill>
              </a:rPr>
              <a:t>Sequential inside one alert</a:t>
            </a:r>
            <a:r>
              <a:rPr sz="1300" dirty="0">
                <a:solidFill>
                  <a:srgbClr val="28285E"/>
                </a:solidFill>
              </a:rPr>
              <a:t>, because what it reads next depends on what it just read. </a:t>
            </a:r>
            <a:r>
              <a:rPr sz="1300" b="1" dirty="0">
                <a:solidFill>
                  <a:srgbClr val="28285E"/>
                </a:solidFill>
              </a:rPr>
              <a:t>Episodic across alerts</a:t>
            </a:r>
            <a:r>
              <a:rPr sz="1300" dirty="0">
                <a:solidFill>
                  <a:srgbClr val="28285E"/>
                </a:solidFill>
              </a:rPr>
              <a:t>, because one alert teaches it nothing about the next.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three</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cxnSp>
        <p:nvCxnSpPr>
          <p:cNvPr id="29" name="Straight Arrow Connector 28">
            <a:extLst>
              <a:ext uri="{FF2B5EF4-FFF2-40B4-BE49-F238E27FC236}">
                <a16:creationId xmlns:a16="http://schemas.microsoft.com/office/drawing/2014/main" id="{4D30E45C-20F4-01FB-A96B-3BAB96908305}"/>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30" name="Oval 29">
            <a:extLst>
              <a:ext uri="{FF2B5EF4-FFF2-40B4-BE49-F238E27FC236}">
                <a16:creationId xmlns:a16="http://schemas.microsoft.com/office/drawing/2014/main" id="{D3DB336D-14C4-B976-92CF-4F188E303E36}"/>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8E9D504-BC77-1850-3361-9E8F1B81C5E7}"/>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CFEADD0-F2AA-BF45-3864-57AABAC83F87}"/>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3F1D939-5A38-5E81-EF18-328EE250C4C5}"/>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677FB2A-C80F-36D1-5DDD-3D13D4269BD3}"/>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35" name="Oval 34">
            <a:extLst>
              <a:ext uri="{FF2B5EF4-FFF2-40B4-BE49-F238E27FC236}">
                <a16:creationId xmlns:a16="http://schemas.microsoft.com/office/drawing/2014/main" id="{4AA2A675-CB4D-E0C9-7B1B-2CF7D1141A6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9E022F5F-F596-77D2-8569-C0C0CAF664AA}"/>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37" name="TextBox 36">
            <a:extLst>
              <a:ext uri="{FF2B5EF4-FFF2-40B4-BE49-F238E27FC236}">
                <a16:creationId xmlns:a16="http://schemas.microsoft.com/office/drawing/2014/main" id="{79DBDA61-987E-43AE-8F92-9E6BABE1F11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38" name="TextBox 37">
            <a:extLst>
              <a:ext uri="{FF2B5EF4-FFF2-40B4-BE49-F238E27FC236}">
                <a16:creationId xmlns:a16="http://schemas.microsoft.com/office/drawing/2014/main" id="{472A6A98-9B85-39F5-AEEA-5CFD752D3959}"/>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39" name="TextBox 38">
            <a:extLst>
              <a:ext uri="{FF2B5EF4-FFF2-40B4-BE49-F238E27FC236}">
                <a16:creationId xmlns:a16="http://schemas.microsoft.com/office/drawing/2014/main" id="{5FAD2779-D7EA-E7C8-41B4-1F261801BB9F}"/>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a:t>
            </a:r>
            <a:r>
              <a:rPr sz="1400" b="1" dirty="0">
                <a:solidFill>
                  <a:schemeClr val="tx1">
                    <a:lumMod val="85000"/>
                    <a:lumOff val="15000"/>
                  </a:schemeClr>
                </a:solidFill>
              </a:rPr>
              <a:t>model calls are the ones we wrote</a:t>
            </a:r>
            <a:r>
              <a:rPr sz="1400" dirty="0">
                <a:solidFill>
                  <a:schemeClr val="tx1">
                    <a:lumMod val="85000"/>
                    <a:lumOff val="15000"/>
                  </a:schemeClr>
                </a:solidFill>
              </a:rPr>
              <a:t>,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a:t>
            </a:r>
            <a:r>
              <a:rPr sz="1400" b="1" dirty="0">
                <a:solidFill>
                  <a:schemeClr val="tx1">
                    <a:lumMod val="85000"/>
                    <a:lumOff val="15000"/>
                  </a:schemeClr>
                </a:solidFill>
              </a:rPr>
              <a:t>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a:t>
            </a:r>
            <a:r>
              <a:rPr sz="1400" b="1" dirty="0">
                <a:solidFill>
                  <a:schemeClr val="tx1">
                    <a:lumMod val="85000"/>
                    <a:lumOff val="15000"/>
                  </a:schemeClr>
                </a:solidFill>
              </a:rPr>
              <a:t>ends because the last operation returns</a:t>
            </a:r>
            <a:r>
              <a:rPr sz="1400" dirty="0">
                <a:solidFill>
                  <a:schemeClr val="tx1">
                    <a:lumMod val="85000"/>
                    <a:lumOff val="15000"/>
                  </a:schemeClr>
                </a:solidFill>
              </a:rPr>
              <a:t>, not because a counter ran out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a:t>
            </a:r>
            <a:r>
              <a:rPr sz="1400" b="1" dirty="0">
                <a:solidFill>
                  <a:schemeClr val="tx1">
                    <a:lumMod val="85000"/>
                    <a:lumOff val="15000"/>
                  </a:schemeClr>
                </a:solidFill>
              </a:rPr>
              <a:t>model calls are the ones we wrote</a:t>
            </a:r>
            <a:r>
              <a:rPr sz="1400" dirty="0">
                <a:solidFill>
                  <a:schemeClr val="tx1">
                    <a:lumMod val="85000"/>
                    <a:lumOff val="15000"/>
                  </a:schemeClr>
                </a:solidFill>
              </a:rPr>
              <a:t>,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a:t>
            </a:r>
            <a:r>
              <a:rPr sz="1400" b="1" dirty="0">
                <a:solidFill>
                  <a:schemeClr val="tx1">
                    <a:lumMod val="85000"/>
                    <a:lumOff val="15000"/>
                  </a:schemeClr>
                </a:solidFill>
              </a:rPr>
              <a:t>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dirty="0">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dirty="0">
                <a:solidFill>
                  <a:schemeClr val="tx1"/>
                </a:solidFill>
              </a:rPr>
              <a:t>No second look. </a:t>
            </a:r>
            <a:r>
              <a:rPr sz="1400" dirty="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dirty="0">
                <a:solidFill>
                  <a:schemeClr val="tx1"/>
                </a:solidFill>
              </a:rPr>
              <a:t>No sense of what is missing. </a:t>
            </a:r>
            <a:r>
              <a:rPr sz="1400" dirty="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dirty="0">
                <a:solidFill>
                  <a:schemeClr val="tx1"/>
                </a:solidFill>
              </a:rPr>
              <a:t>No way to ask. </a:t>
            </a:r>
            <a:r>
              <a:rPr sz="1400" dirty="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question a fixed workflow cannot ask </a:t>
            </a:r>
            <a:r>
              <a:rPr lang="en-US" sz="1400" dirty="0">
                <a:solidFill>
                  <a:schemeClr val="tx2"/>
                </a:solidFill>
              </a:rPr>
              <a:t>are the ones it wasn’t designed for. </a:t>
            </a:r>
            <a:endParaRPr sz="1400" dirty="0">
              <a:solidFill>
                <a:schemeClr val="tx2"/>
              </a:solidFill>
            </a:endParaRP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The run does not </a:t>
            </a:r>
            <a:r>
              <a:rPr lang="en-US" sz="1200" b="1" dirty="0">
                <a:solidFill>
                  <a:srgbClr val="28285E"/>
                </a:solidFill>
              </a:rPr>
              <a:t>stall,</a:t>
            </a:r>
            <a:r>
              <a:rPr sz="1200" b="1" dirty="0">
                <a:solidFill>
                  <a:srgbClr val="28285E"/>
                </a:solidFill>
              </a:rPr>
              <a:t> and it does not report a gap. It writes a patch, and the checks pass.</a:t>
            </a:r>
            <a:r>
              <a:rPr sz="1200" b="1" dirty="0">
                <a:solidFill>
                  <a:srgbClr val="C73561"/>
                </a:solidFill>
              </a:rPr>
              <a:t>  (a reactive loop </a:t>
            </a:r>
            <a:r>
              <a:rPr lang="en-US" sz="1200" b="1" dirty="0">
                <a:solidFill>
                  <a:srgbClr val="C73561"/>
                </a:solidFill>
              </a:rPr>
              <a:t>gets</a:t>
            </a:r>
            <a:r>
              <a:rPr sz="1200" b="1" dirty="0">
                <a:solidFill>
                  <a:srgbClr val="C73561"/>
                </a:solidFill>
              </a:rPr>
              <a:t> </a:t>
            </a:r>
            <a:r>
              <a:rPr lang="en-US" sz="1200" b="1" dirty="0">
                <a:solidFill>
                  <a:srgbClr val="C73561"/>
                </a:solidFill>
              </a:rPr>
              <a:t>us that feedback</a:t>
            </a:r>
            <a:r>
              <a:rPr sz="1200" b="1" dirty="0">
                <a:solidFill>
                  <a:srgbClr val="C73561"/>
                </a:solidFill>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lang="en-US" sz="1600" dirty="0">
                <a:solidFill>
                  <a:schemeClr val="tx2"/>
                </a:solidFill>
              </a:rPr>
              <a:t>None of this shows that fixed workflows win in general.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17CA709B-26A2-C11F-7BB1-02C9CCE97AAA}"/>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19D57510-3BF4-4A6F-D910-AF3B93B504B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7F19860-B1A3-1E0E-9B94-B9E5F4F9AEA3}"/>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A7BA86E-9FB2-C1E7-E1BD-CBBCEE766D4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81CB168-A73B-E4BC-85ED-A61DB3D6318F}"/>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1696F36-21A9-28DA-4B61-2FDE363CC12F}"/>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24" name="Oval 23">
            <a:extLst>
              <a:ext uri="{FF2B5EF4-FFF2-40B4-BE49-F238E27FC236}">
                <a16:creationId xmlns:a16="http://schemas.microsoft.com/office/drawing/2014/main" id="{B7E1EA47-85C7-DB70-D19C-7D7DD42673D0}"/>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DD855CB-3BD8-AB7A-F9F9-B73392DAC1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26" name="TextBox 25">
            <a:extLst>
              <a:ext uri="{FF2B5EF4-FFF2-40B4-BE49-F238E27FC236}">
                <a16:creationId xmlns:a16="http://schemas.microsoft.com/office/drawing/2014/main" id="{5157FEDE-37BD-66CD-4A8D-CD04C1DAE97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27" name="TextBox 26">
            <a:extLst>
              <a:ext uri="{FF2B5EF4-FFF2-40B4-BE49-F238E27FC236}">
                <a16:creationId xmlns:a16="http://schemas.microsoft.com/office/drawing/2014/main" id="{A61F3723-C560-ABF6-D385-9C43CE591875}"/>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8" name="TextBox 27">
            <a:extLst>
              <a:ext uri="{FF2B5EF4-FFF2-40B4-BE49-F238E27FC236}">
                <a16:creationId xmlns:a16="http://schemas.microsoft.com/office/drawing/2014/main" id="{FF9E5B53-7B61-D39C-E458-352F1419436F}"/>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7" name="Picture 6">
            <a:extLst>
              <a:ext uri="{FF2B5EF4-FFF2-40B4-BE49-F238E27FC236}">
                <a16:creationId xmlns:a16="http://schemas.microsoft.com/office/drawing/2014/main" id="{66358298-9A44-57B6-2F60-717F1030CF8C}"/>
              </a:ext>
            </a:extLst>
          </p:cNvPr>
          <p:cNvPicPr>
            <a:picLocks noChangeAspect="1"/>
          </p:cNvPicPr>
          <p:nvPr/>
        </p:nvPicPr>
        <p:blipFill>
          <a:blip r:embed="rId3"/>
          <a:stretch>
            <a:fillRect/>
          </a:stretch>
        </p:blipFill>
        <p:spPr>
          <a:xfrm>
            <a:off x="139700" y="1453482"/>
            <a:ext cx="6483684" cy="3341102"/>
          </a:xfrm>
          <a:prstGeom prst="rect">
            <a:avLst/>
          </a:prstGeom>
        </p:spPr>
      </p:pic>
    </p:spTree>
    <p:extLst>
      <p:ext uri="{BB962C8B-B14F-4D97-AF65-F5344CB8AC3E}">
        <p14:creationId xmlns:p14="http://schemas.microsoft.com/office/powerpoint/2010/main" val="2268406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7C574-AC43-BBEF-40A8-B1B849737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20970-F1B1-AA7B-3710-D77805C66FED}"/>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B1F3AC21-C594-38F8-984F-87D7B7D5EFDC}"/>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21A4FAE8-767E-6091-114C-EB0D3B470F8F}"/>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17AAF7AB-AB13-0D1D-5012-549C1EACB747}"/>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FEFAF1B8-7D45-893C-158F-526C3DF76DED}"/>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10" name="Picture 9">
            <a:extLst>
              <a:ext uri="{FF2B5EF4-FFF2-40B4-BE49-F238E27FC236}">
                <a16:creationId xmlns:a16="http://schemas.microsoft.com/office/drawing/2014/main" id="{85D476FC-F272-700A-E1EB-18C1AB6A0E23}"/>
              </a:ext>
            </a:extLst>
          </p:cNvPr>
          <p:cNvPicPr>
            <a:picLocks noChangeAspect="1"/>
          </p:cNvPicPr>
          <p:nvPr/>
        </p:nvPicPr>
        <p:blipFill>
          <a:blip r:embed="rId3"/>
          <a:stretch>
            <a:fillRect/>
          </a:stretch>
        </p:blipFill>
        <p:spPr>
          <a:xfrm>
            <a:off x="139700" y="2159668"/>
            <a:ext cx="6483684" cy="2634916"/>
          </a:xfrm>
          <a:prstGeom prst="rect">
            <a:avLst/>
          </a:prstGeom>
        </p:spPr>
      </p:pic>
    </p:spTree>
    <p:extLst>
      <p:ext uri="{BB962C8B-B14F-4D97-AF65-F5344CB8AC3E}">
        <p14:creationId xmlns:p14="http://schemas.microsoft.com/office/powerpoint/2010/main" val="19132681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322D-904B-5E91-7C3D-8A3A9D495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18FE27-15E3-78DA-CFCF-A99B185282A8}"/>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785D5B92-F672-3AEC-EB13-D0C349D54745}"/>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DD3D44B2-F209-6604-65B0-EE003600D8A3}"/>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7DCE1F98-92EF-353D-FB42-59B686C8027A}"/>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5BC63658-6052-4466-1201-E48318A2ED16}"/>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7" name="Picture 6">
            <a:extLst>
              <a:ext uri="{FF2B5EF4-FFF2-40B4-BE49-F238E27FC236}">
                <a16:creationId xmlns:a16="http://schemas.microsoft.com/office/drawing/2014/main" id="{E92E7CBA-E8D2-CE20-EE27-5912CE37354F}"/>
              </a:ext>
            </a:extLst>
          </p:cNvPr>
          <p:cNvPicPr>
            <a:picLocks noChangeAspect="1"/>
          </p:cNvPicPr>
          <p:nvPr/>
        </p:nvPicPr>
        <p:blipFill>
          <a:blip r:embed="rId3"/>
          <a:stretch>
            <a:fillRect/>
          </a:stretch>
        </p:blipFill>
        <p:spPr>
          <a:xfrm>
            <a:off x="139700" y="2526632"/>
            <a:ext cx="6483684" cy="2267952"/>
          </a:xfrm>
          <a:prstGeom prst="rect">
            <a:avLst/>
          </a:prstGeom>
        </p:spPr>
      </p:pic>
    </p:spTree>
    <p:extLst>
      <p:ext uri="{BB962C8B-B14F-4D97-AF65-F5344CB8AC3E}">
        <p14:creationId xmlns:p14="http://schemas.microsoft.com/office/powerpoint/2010/main" val="36347476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6A906-759E-B0C0-EA8B-50356E94C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68F4D9-7126-2118-BB56-8996EBD83813}"/>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FC059A9D-39C0-BC34-3505-4B25F2F46234}"/>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4BE1F157-8C97-6FFC-EEB4-CDA7566A3563}"/>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FD6940E2-5B30-7A1B-2783-5B4C21C8477F}"/>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C56C4E6B-59FA-3753-97D6-881F30FF543A}"/>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7" name="Picture 6">
            <a:extLst>
              <a:ext uri="{FF2B5EF4-FFF2-40B4-BE49-F238E27FC236}">
                <a16:creationId xmlns:a16="http://schemas.microsoft.com/office/drawing/2014/main" id="{FDE90C19-E457-2D74-7ED7-E904688DF862}"/>
              </a:ext>
            </a:extLst>
          </p:cNvPr>
          <p:cNvPicPr>
            <a:picLocks noChangeAspect="1"/>
          </p:cNvPicPr>
          <p:nvPr/>
        </p:nvPicPr>
        <p:blipFill>
          <a:blip r:embed="rId3"/>
          <a:stretch>
            <a:fillRect/>
          </a:stretch>
        </p:blipFill>
        <p:spPr>
          <a:xfrm>
            <a:off x="139700" y="2833436"/>
            <a:ext cx="6483684" cy="1961147"/>
          </a:xfrm>
          <a:prstGeom prst="rect">
            <a:avLst/>
          </a:prstGeom>
        </p:spPr>
      </p:pic>
    </p:spTree>
    <p:extLst>
      <p:ext uri="{BB962C8B-B14F-4D97-AF65-F5344CB8AC3E}">
        <p14:creationId xmlns:p14="http://schemas.microsoft.com/office/powerpoint/2010/main" val="17994232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6B13B-E6EF-FA07-ACB1-6C9A2F0F6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FA83C-D4BF-2F1A-36DC-600B1859E6C6}"/>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F7D3F205-8A38-9C49-0D8A-9C1C77EB2A15}"/>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E7A149CA-3343-0F48-0A05-5DFEE338C2A6}"/>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E20C4A65-6AC7-C237-224F-DFEC46A8FFC3}"/>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6E4FC701-FA26-F3C0-FECF-5D37E4719CCC}"/>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7" name="Picture 6">
            <a:extLst>
              <a:ext uri="{FF2B5EF4-FFF2-40B4-BE49-F238E27FC236}">
                <a16:creationId xmlns:a16="http://schemas.microsoft.com/office/drawing/2014/main" id="{F3EF3589-3B89-6CEA-C718-FFB3E9604ABB}"/>
              </a:ext>
            </a:extLst>
          </p:cNvPr>
          <p:cNvPicPr>
            <a:picLocks noChangeAspect="1"/>
          </p:cNvPicPr>
          <p:nvPr/>
        </p:nvPicPr>
        <p:blipFill>
          <a:blip r:embed="rId3"/>
          <a:stretch>
            <a:fillRect/>
          </a:stretch>
        </p:blipFill>
        <p:spPr>
          <a:xfrm>
            <a:off x="139700" y="3519198"/>
            <a:ext cx="6483684" cy="1275385"/>
          </a:xfrm>
          <a:prstGeom prst="rect">
            <a:avLst/>
          </a:prstGeom>
        </p:spPr>
      </p:pic>
    </p:spTree>
    <p:extLst>
      <p:ext uri="{BB962C8B-B14F-4D97-AF65-F5344CB8AC3E}">
        <p14:creationId xmlns:p14="http://schemas.microsoft.com/office/powerpoint/2010/main" val="2932366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E5B74-52F1-4E48-7C92-D66A50555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C2D093-BE7E-5907-CEA3-EFAF98A71CEC}"/>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7FA872E6-9C12-9632-0800-B7E35A08725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8CFE9AB1-AE63-82F4-A49E-03373921F02D}"/>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9E801A04-CF71-363A-0708-00AF76098746}"/>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DEAB6081-BF46-DE2E-D97A-29B7CBE97DA7}"/>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1006021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a:t>
            </a:r>
            <a:r>
              <a:rPr lang="en-US" dirty="0"/>
              <a:t>that </a:t>
            </a:r>
            <a:r>
              <a:rPr dirty="0"/>
              <a:t>our first demo </a:t>
            </a:r>
            <a:r>
              <a:rPr lang="en-US" dirty="0"/>
              <a:t>builds</a:t>
            </a:r>
            <a:endParaRPr dirty="0"/>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Model’s autonomy increases</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308684" y="3620000"/>
            <a:ext cx="3025112"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more rows of control</a:t>
            </a:r>
            <a:r>
              <a:rPr sz="1200" b="0" dirty="0">
                <a:solidFill>
                  <a:schemeClr val="tx2"/>
                </a:solidFill>
              </a:rPr>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dirty="0">
                <a:solidFill>
                  <a:srgbClr val="28285E"/>
                </a:solidFill>
              </a:rPr>
              <a:t>Three things come back for the decision</a:t>
            </a:r>
            <a:r>
              <a:rPr lang="en-US" sz="1400" b="1" dirty="0">
                <a:solidFill>
                  <a:srgbClr val="28285E"/>
                </a:solidFill>
              </a:rPr>
              <a:t>s </a:t>
            </a:r>
            <a:r>
              <a:rPr sz="1400" b="1" dirty="0">
                <a:solidFill>
                  <a:srgbClr val="28285E"/>
                </a:solidFill>
              </a:rPr>
              <a:t>we </a:t>
            </a:r>
            <a:r>
              <a:rPr lang="en-US" sz="1400" b="1" dirty="0">
                <a:solidFill>
                  <a:srgbClr val="28285E"/>
                </a:solidFill>
              </a:rPr>
              <a:t>relinquished</a:t>
            </a:r>
            <a:r>
              <a:rPr sz="1400" b="1" dirty="0">
                <a:solidFill>
                  <a:srgbClr val="28285E"/>
                </a:solidFill>
              </a:rPr>
              <a:t>:</a:t>
            </a:r>
            <a:r>
              <a:rPr lang="en-US" sz="1400" b="1" dirty="0">
                <a:solidFill>
                  <a:srgbClr val="28285E"/>
                </a:solidFill>
              </a:rPr>
              <a:t> </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Reach. </a:t>
            </a:r>
            <a:r>
              <a:rPr sz="1400" dirty="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dirty="0">
                <a:solidFill>
                  <a:schemeClr val="tx1"/>
                </a:solidFill>
              </a:rPr>
              <a:t>Proportion. </a:t>
            </a:r>
            <a:r>
              <a:rPr sz="1400" dirty="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dirty="0">
                <a:solidFill>
                  <a:schemeClr val="tx1"/>
                </a:solidFill>
              </a:rPr>
              <a:t>Recovery. </a:t>
            </a:r>
            <a:r>
              <a:rPr sz="1400" dirty="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E5E89-3CA7-9DCA-5534-1AE161CBB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318D4-1A1C-D471-996D-E952637BBA90}"/>
              </a:ext>
            </a:extLst>
          </p:cNvPr>
          <p:cNvSpPr>
            <a:spLocks noGrp="1"/>
          </p:cNvSpPr>
          <p:nvPr>
            <p:ph type="title"/>
          </p:nvPr>
        </p:nvSpPr>
        <p:spPr/>
        <p:txBody>
          <a:bodyPr/>
          <a:lstStyle/>
          <a:p>
            <a:r>
              <a:t>What the loop buys</a:t>
            </a:r>
          </a:p>
        </p:txBody>
      </p:sp>
      <p:sp>
        <p:nvSpPr>
          <p:cNvPr id="3" name="Content Placeholder 2">
            <a:extLst>
              <a:ext uri="{FF2B5EF4-FFF2-40B4-BE49-F238E27FC236}">
                <a16:creationId xmlns:a16="http://schemas.microsoft.com/office/drawing/2014/main" id="{A4071612-1628-C674-F9EB-E9EEEC56B3D2}"/>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dirty="0">
                <a:solidFill>
                  <a:srgbClr val="28285E"/>
                </a:solidFill>
              </a:rPr>
              <a:t>Three things come back for the decision</a:t>
            </a:r>
            <a:r>
              <a:rPr lang="en-US" sz="1400" b="1" dirty="0">
                <a:solidFill>
                  <a:srgbClr val="28285E"/>
                </a:solidFill>
              </a:rPr>
              <a:t>s </a:t>
            </a:r>
            <a:r>
              <a:rPr sz="1400" b="1" dirty="0">
                <a:solidFill>
                  <a:srgbClr val="28285E"/>
                </a:solidFill>
              </a:rPr>
              <a:t>we </a:t>
            </a:r>
            <a:r>
              <a:rPr lang="en-US" sz="1400" b="1" dirty="0">
                <a:solidFill>
                  <a:srgbClr val="28285E"/>
                </a:solidFill>
              </a:rPr>
              <a:t>relinquished</a:t>
            </a:r>
            <a:r>
              <a:rPr sz="1400" b="1" dirty="0">
                <a:solidFill>
                  <a:srgbClr val="28285E"/>
                </a:solidFill>
              </a:rPr>
              <a:t>:</a:t>
            </a:r>
            <a:r>
              <a:rPr lang="en-US" sz="1400" b="1" dirty="0">
                <a:solidFill>
                  <a:srgbClr val="28285E"/>
                </a:solidFill>
              </a:rPr>
              <a:t> </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Reach. </a:t>
            </a:r>
            <a:r>
              <a:rPr sz="1400" dirty="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dirty="0">
                <a:solidFill>
                  <a:schemeClr val="tx1"/>
                </a:solidFill>
              </a:rPr>
              <a:t>Proportion. </a:t>
            </a:r>
            <a:r>
              <a:rPr sz="1400" dirty="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dirty="0">
                <a:solidFill>
                  <a:schemeClr val="tx1"/>
                </a:solidFill>
              </a:rPr>
              <a:t>Recovery. </a:t>
            </a:r>
            <a:r>
              <a:rPr sz="1400" dirty="0">
                <a:solidFill>
                  <a:schemeClr val="tx1"/>
                </a:solidFill>
              </a:rPr>
              <a:t>A search that returns nothing can be followed by a different one.</a:t>
            </a:r>
          </a:p>
        </p:txBody>
      </p:sp>
      <p:sp>
        <p:nvSpPr>
          <p:cNvPr id="4" name="Rectangle 3">
            <a:extLst>
              <a:ext uri="{FF2B5EF4-FFF2-40B4-BE49-F238E27FC236}">
                <a16:creationId xmlns:a16="http://schemas.microsoft.com/office/drawing/2014/main" id="{03AC1F29-784F-2CDC-4EFE-88C92BE9B3AF}"/>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a:extLst>
              <a:ext uri="{FF2B5EF4-FFF2-40B4-BE49-F238E27FC236}">
                <a16:creationId xmlns:a16="http://schemas.microsoft.com/office/drawing/2014/main" id="{1561957A-EFB7-27A4-C5DD-B5F2B4D9663B}"/>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pic>
        <p:nvPicPr>
          <p:cNvPr id="6" name="Picture 5">
            <a:extLst>
              <a:ext uri="{FF2B5EF4-FFF2-40B4-BE49-F238E27FC236}">
                <a16:creationId xmlns:a16="http://schemas.microsoft.com/office/drawing/2014/main" id="{12DACF56-5178-BCA1-DC70-C24813741200}"/>
              </a:ext>
            </a:extLst>
          </p:cNvPr>
          <p:cNvPicPr>
            <a:picLocks noChangeAspect="1"/>
          </p:cNvPicPr>
          <p:nvPr/>
        </p:nvPicPr>
        <p:blipFill>
          <a:blip r:embed="rId3"/>
          <a:stretch>
            <a:fillRect/>
          </a:stretch>
        </p:blipFill>
        <p:spPr>
          <a:xfrm>
            <a:off x="139700" y="1666374"/>
            <a:ext cx="6483684" cy="3128210"/>
          </a:xfrm>
          <a:prstGeom prst="rect">
            <a:avLst/>
          </a:prstGeom>
        </p:spPr>
      </p:pic>
    </p:spTree>
    <p:extLst>
      <p:ext uri="{BB962C8B-B14F-4D97-AF65-F5344CB8AC3E}">
        <p14:creationId xmlns:p14="http://schemas.microsoft.com/office/powerpoint/2010/main" val="7488772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7467C-9A72-D847-B89B-47EF85C1A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22696-1782-7DA5-4F0B-9A171A03315E}"/>
              </a:ext>
            </a:extLst>
          </p:cNvPr>
          <p:cNvSpPr>
            <a:spLocks noGrp="1"/>
          </p:cNvSpPr>
          <p:nvPr>
            <p:ph type="title"/>
          </p:nvPr>
        </p:nvSpPr>
        <p:spPr/>
        <p:txBody>
          <a:bodyPr/>
          <a:lstStyle/>
          <a:p>
            <a:r>
              <a:t>What the loop buys</a:t>
            </a:r>
          </a:p>
        </p:txBody>
      </p:sp>
      <p:sp>
        <p:nvSpPr>
          <p:cNvPr id="3" name="Content Placeholder 2">
            <a:extLst>
              <a:ext uri="{FF2B5EF4-FFF2-40B4-BE49-F238E27FC236}">
                <a16:creationId xmlns:a16="http://schemas.microsoft.com/office/drawing/2014/main" id="{9E6AED1C-D55E-A351-37EE-6A063876169A}"/>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dirty="0">
                <a:solidFill>
                  <a:srgbClr val="28285E"/>
                </a:solidFill>
              </a:rPr>
              <a:t>Three things come back for the decision</a:t>
            </a:r>
            <a:r>
              <a:rPr lang="en-US" sz="1400" b="1" dirty="0">
                <a:solidFill>
                  <a:srgbClr val="28285E"/>
                </a:solidFill>
              </a:rPr>
              <a:t>s </a:t>
            </a:r>
            <a:r>
              <a:rPr sz="1400" b="1" dirty="0">
                <a:solidFill>
                  <a:srgbClr val="28285E"/>
                </a:solidFill>
              </a:rPr>
              <a:t>we </a:t>
            </a:r>
            <a:r>
              <a:rPr lang="en-US" sz="1400" b="1" dirty="0">
                <a:solidFill>
                  <a:srgbClr val="28285E"/>
                </a:solidFill>
              </a:rPr>
              <a:t>relinquished</a:t>
            </a:r>
            <a:r>
              <a:rPr sz="1400" b="1" dirty="0">
                <a:solidFill>
                  <a:srgbClr val="28285E"/>
                </a:solidFill>
              </a:rPr>
              <a:t>:</a:t>
            </a:r>
            <a:r>
              <a:rPr lang="en-US" sz="1400" b="1" dirty="0">
                <a:solidFill>
                  <a:srgbClr val="28285E"/>
                </a:solidFill>
              </a:rPr>
              <a:t> </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Reach. </a:t>
            </a:r>
            <a:r>
              <a:rPr sz="1400" dirty="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dirty="0">
                <a:solidFill>
                  <a:schemeClr val="tx1"/>
                </a:solidFill>
              </a:rPr>
              <a:t>Proportion. </a:t>
            </a:r>
            <a:r>
              <a:rPr sz="1400" dirty="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dirty="0">
                <a:solidFill>
                  <a:schemeClr val="tx1"/>
                </a:solidFill>
              </a:rPr>
              <a:t>Recovery. </a:t>
            </a:r>
            <a:r>
              <a:rPr sz="1400" dirty="0">
                <a:solidFill>
                  <a:schemeClr val="tx1"/>
                </a:solidFill>
              </a:rPr>
              <a:t>A search that returns nothing can be followed by a different one.</a:t>
            </a:r>
          </a:p>
        </p:txBody>
      </p:sp>
      <p:sp>
        <p:nvSpPr>
          <p:cNvPr id="4" name="Rectangle 3">
            <a:extLst>
              <a:ext uri="{FF2B5EF4-FFF2-40B4-BE49-F238E27FC236}">
                <a16:creationId xmlns:a16="http://schemas.microsoft.com/office/drawing/2014/main" id="{CD40CBCF-7A5E-EED3-33B8-2761EB412970}"/>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a:extLst>
              <a:ext uri="{FF2B5EF4-FFF2-40B4-BE49-F238E27FC236}">
                <a16:creationId xmlns:a16="http://schemas.microsoft.com/office/drawing/2014/main" id="{013D1798-DE13-1FF8-F24B-8433A8626273}"/>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pic>
        <p:nvPicPr>
          <p:cNvPr id="6" name="Picture 5">
            <a:extLst>
              <a:ext uri="{FF2B5EF4-FFF2-40B4-BE49-F238E27FC236}">
                <a16:creationId xmlns:a16="http://schemas.microsoft.com/office/drawing/2014/main" id="{5BD4001A-1324-2AF3-1551-678287534904}"/>
              </a:ext>
            </a:extLst>
          </p:cNvPr>
          <p:cNvPicPr>
            <a:picLocks noChangeAspect="1"/>
          </p:cNvPicPr>
          <p:nvPr/>
        </p:nvPicPr>
        <p:blipFill>
          <a:blip r:embed="rId3"/>
          <a:stretch>
            <a:fillRect/>
          </a:stretch>
        </p:blipFill>
        <p:spPr>
          <a:xfrm>
            <a:off x="139700" y="2183732"/>
            <a:ext cx="6483684" cy="2610852"/>
          </a:xfrm>
          <a:prstGeom prst="rect">
            <a:avLst/>
          </a:prstGeom>
        </p:spPr>
      </p:pic>
    </p:spTree>
    <p:extLst>
      <p:ext uri="{BB962C8B-B14F-4D97-AF65-F5344CB8AC3E}">
        <p14:creationId xmlns:p14="http://schemas.microsoft.com/office/powerpoint/2010/main" val="20849949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B322C-DA6D-E820-8C22-1CAAE5779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C4CE13-4300-C294-5F22-D7969F799478}"/>
              </a:ext>
            </a:extLst>
          </p:cNvPr>
          <p:cNvSpPr>
            <a:spLocks noGrp="1"/>
          </p:cNvSpPr>
          <p:nvPr>
            <p:ph type="title"/>
          </p:nvPr>
        </p:nvSpPr>
        <p:spPr/>
        <p:txBody>
          <a:bodyPr/>
          <a:lstStyle/>
          <a:p>
            <a:r>
              <a:t>What the loop buys</a:t>
            </a:r>
          </a:p>
        </p:txBody>
      </p:sp>
      <p:sp>
        <p:nvSpPr>
          <p:cNvPr id="3" name="Content Placeholder 2">
            <a:extLst>
              <a:ext uri="{FF2B5EF4-FFF2-40B4-BE49-F238E27FC236}">
                <a16:creationId xmlns:a16="http://schemas.microsoft.com/office/drawing/2014/main" id="{23BD1521-9935-1C8B-2A4B-D274AF6026DB}"/>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dirty="0">
                <a:solidFill>
                  <a:srgbClr val="28285E"/>
                </a:solidFill>
              </a:rPr>
              <a:t>Three things come back for the decision</a:t>
            </a:r>
            <a:r>
              <a:rPr lang="en-US" sz="1400" b="1" dirty="0">
                <a:solidFill>
                  <a:srgbClr val="28285E"/>
                </a:solidFill>
              </a:rPr>
              <a:t>s </a:t>
            </a:r>
            <a:r>
              <a:rPr sz="1400" b="1" dirty="0">
                <a:solidFill>
                  <a:srgbClr val="28285E"/>
                </a:solidFill>
              </a:rPr>
              <a:t>we </a:t>
            </a:r>
            <a:r>
              <a:rPr lang="en-US" sz="1400" b="1" dirty="0">
                <a:solidFill>
                  <a:srgbClr val="28285E"/>
                </a:solidFill>
              </a:rPr>
              <a:t>relinquished</a:t>
            </a:r>
            <a:r>
              <a:rPr sz="1400" b="1" dirty="0">
                <a:solidFill>
                  <a:srgbClr val="28285E"/>
                </a:solidFill>
              </a:rPr>
              <a:t>:</a:t>
            </a:r>
            <a:r>
              <a:rPr lang="en-US" sz="1400" b="1" dirty="0">
                <a:solidFill>
                  <a:srgbClr val="28285E"/>
                </a:solidFill>
              </a:rPr>
              <a:t> </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Reach. </a:t>
            </a:r>
            <a:r>
              <a:rPr sz="1400" dirty="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dirty="0">
                <a:solidFill>
                  <a:schemeClr val="tx1"/>
                </a:solidFill>
              </a:rPr>
              <a:t>Proportion. </a:t>
            </a:r>
            <a:r>
              <a:rPr sz="1400" dirty="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dirty="0">
                <a:solidFill>
                  <a:schemeClr val="tx1"/>
                </a:solidFill>
              </a:rPr>
              <a:t>Recovery. </a:t>
            </a:r>
            <a:r>
              <a:rPr sz="1400" dirty="0">
                <a:solidFill>
                  <a:schemeClr val="tx1"/>
                </a:solidFill>
              </a:rPr>
              <a:t>A search that returns nothing can be followed by a different one.</a:t>
            </a:r>
          </a:p>
        </p:txBody>
      </p:sp>
      <p:sp>
        <p:nvSpPr>
          <p:cNvPr id="4" name="Rectangle 3">
            <a:extLst>
              <a:ext uri="{FF2B5EF4-FFF2-40B4-BE49-F238E27FC236}">
                <a16:creationId xmlns:a16="http://schemas.microsoft.com/office/drawing/2014/main" id="{0C175D55-F006-6DA1-2B86-636E6E115C94}"/>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a:extLst>
              <a:ext uri="{FF2B5EF4-FFF2-40B4-BE49-F238E27FC236}">
                <a16:creationId xmlns:a16="http://schemas.microsoft.com/office/drawing/2014/main" id="{DE416E34-FC69-E02A-9FB6-9E0E32D5C4A9}"/>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pic>
        <p:nvPicPr>
          <p:cNvPr id="6" name="Picture 5">
            <a:extLst>
              <a:ext uri="{FF2B5EF4-FFF2-40B4-BE49-F238E27FC236}">
                <a16:creationId xmlns:a16="http://schemas.microsoft.com/office/drawing/2014/main" id="{BA2E77C2-08B4-E024-0560-980B9E19E54E}"/>
              </a:ext>
            </a:extLst>
          </p:cNvPr>
          <p:cNvPicPr>
            <a:picLocks noChangeAspect="1"/>
          </p:cNvPicPr>
          <p:nvPr/>
        </p:nvPicPr>
        <p:blipFill>
          <a:blip r:embed="rId3"/>
          <a:stretch>
            <a:fillRect/>
          </a:stretch>
        </p:blipFill>
        <p:spPr>
          <a:xfrm>
            <a:off x="139700" y="2761246"/>
            <a:ext cx="6483684" cy="2033337"/>
          </a:xfrm>
          <a:prstGeom prst="rect">
            <a:avLst/>
          </a:prstGeom>
        </p:spPr>
      </p:pic>
    </p:spTree>
    <p:extLst>
      <p:ext uri="{BB962C8B-B14F-4D97-AF65-F5344CB8AC3E}">
        <p14:creationId xmlns:p14="http://schemas.microsoft.com/office/powerpoint/2010/main" val="19961095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pic>
        <p:nvPicPr>
          <p:cNvPr id="6" name="Picture 5">
            <a:extLst>
              <a:ext uri="{FF2B5EF4-FFF2-40B4-BE49-F238E27FC236}">
                <a16:creationId xmlns:a16="http://schemas.microsoft.com/office/drawing/2014/main" id="{D6861D24-697F-60B4-6E97-56DA084D9000}"/>
              </a:ext>
            </a:extLst>
          </p:cNvPr>
          <p:cNvPicPr>
            <a:picLocks noChangeAspect="1"/>
          </p:cNvPicPr>
          <p:nvPr/>
        </p:nvPicPr>
        <p:blipFill>
          <a:blip r:embed="rId3"/>
          <a:stretch>
            <a:fillRect/>
          </a:stretch>
        </p:blipFill>
        <p:spPr>
          <a:xfrm>
            <a:off x="139700" y="1546058"/>
            <a:ext cx="6483684" cy="3248526"/>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D55B1-12A1-7FBD-4046-D134CF669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9AAB0-800B-5F3B-2754-E638993B1BFA}"/>
              </a:ext>
            </a:extLst>
          </p:cNvPr>
          <p:cNvSpPr>
            <a:spLocks noGrp="1"/>
          </p:cNvSpPr>
          <p:nvPr>
            <p:ph type="title"/>
          </p:nvPr>
        </p:nvSpPr>
        <p:spPr/>
        <p:txBody>
          <a:bodyPr/>
          <a:lstStyle/>
          <a:p>
            <a:r>
              <a:t>What it costs</a:t>
            </a:r>
          </a:p>
        </p:txBody>
      </p:sp>
      <p:sp>
        <p:nvSpPr>
          <p:cNvPr id="3" name="Content Placeholder 2">
            <a:extLst>
              <a:ext uri="{FF2B5EF4-FFF2-40B4-BE49-F238E27FC236}">
                <a16:creationId xmlns:a16="http://schemas.microsoft.com/office/drawing/2014/main" id="{7D3310FC-FB44-EDDE-2276-3C1B2744D975}"/>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a:extLst>
              <a:ext uri="{FF2B5EF4-FFF2-40B4-BE49-F238E27FC236}">
                <a16:creationId xmlns:a16="http://schemas.microsoft.com/office/drawing/2014/main" id="{9CD17CDA-1A6C-E31A-688D-492584E3292A}"/>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a:extLst>
              <a:ext uri="{FF2B5EF4-FFF2-40B4-BE49-F238E27FC236}">
                <a16:creationId xmlns:a16="http://schemas.microsoft.com/office/drawing/2014/main" id="{36BBB442-8DAD-D952-43A3-1E37917DA7D3}"/>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pic>
        <p:nvPicPr>
          <p:cNvPr id="6" name="Picture 5">
            <a:extLst>
              <a:ext uri="{FF2B5EF4-FFF2-40B4-BE49-F238E27FC236}">
                <a16:creationId xmlns:a16="http://schemas.microsoft.com/office/drawing/2014/main" id="{7FD1F795-FCBB-26DD-269B-A828060EB6ED}"/>
              </a:ext>
            </a:extLst>
          </p:cNvPr>
          <p:cNvPicPr>
            <a:picLocks noChangeAspect="1"/>
          </p:cNvPicPr>
          <p:nvPr/>
        </p:nvPicPr>
        <p:blipFill>
          <a:blip r:embed="rId3"/>
          <a:stretch>
            <a:fillRect/>
          </a:stretch>
        </p:blipFill>
        <p:spPr>
          <a:xfrm>
            <a:off x="139700" y="2087478"/>
            <a:ext cx="6483684" cy="2707105"/>
          </a:xfrm>
          <a:prstGeom prst="rect">
            <a:avLst/>
          </a:prstGeom>
        </p:spPr>
      </p:pic>
    </p:spTree>
    <p:extLst>
      <p:ext uri="{BB962C8B-B14F-4D97-AF65-F5344CB8AC3E}">
        <p14:creationId xmlns:p14="http://schemas.microsoft.com/office/powerpoint/2010/main" val="14263405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E0885-3A70-CDA5-804A-75018C324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40C3F-33BF-4952-2AB4-66382F222D7F}"/>
              </a:ext>
            </a:extLst>
          </p:cNvPr>
          <p:cNvSpPr>
            <a:spLocks noGrp="1"/>
          </p:cNvSpPr>
          <p:nvPr>
            <p:ph type="title"/>
          </p:nvPr>
        </p:nvSpPr>
        <p:spPr/>
        <p:txBody>
          <a:bodyPr/>
          <a:lstStyle/>
          <a:p>
            <a:r>
              <a:t>What it costs</a:t>
            </a:r>
          </a:p>
        </p:txBody>
      </p:sp>
      <p:sp>
        <p:nvSpPr>
          <p:cNvPr id="3" name="Content Placeholder 2">
            <a:extLst>
              <a:ext uri="{FF2B5EF4-FFF2-40B4-BE49-F238E27FC236}">
                <a16:creationId xmlns:a16="http://schemas.microsoft.com/office/drawing/2014/main" id="{FB92D66C-A958-E549-0597-AB7A8145F438}"/>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a:extLst>
              <a:ext uri="{FF2B5EF4-FFF2-40B4-BE49-F238E27FC236}">
                <a16:creationId xmlns:a16="http://schemas.microsoft.com/office/drawing/2014/main" id="{B70996EB-B607-C24B-95F2-D75766C14EF8}"/>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a:extLst>
              <a:ext uri="{FF2B5EF4-FFF2-40B4-BE49-F238E27FC236}">
                <a16:creationId xmlns:a16="http://schemas.microsoft.com/office/drawing/2014/main" id="{51D54DDC-F27E-7809-FE1F-93C53A81110D}"/>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pic>
        <p:nvPicPr>
          <p:cNvPr id="6" name="Picture 5">
            <a:extLst>
              <a:ext uri="{FF2B5EF4-FFF2-40B4-BE49-F238E27FC236}">
                <a16:creationId xmlns:a16="http://schemas.microsoft.com/office/drawing/2014/main" id="{6AC4E2AB-09C8-1AF1-CB47-5A318FE15575}"/>
              </a:ext>
            </a:extLst>
          </p:cNvPr>
          <p:cNvPicPr>
            <a:picLocks noChangeAspect="1"/>
          </p:cNvPicPr>
          <p:nvPr/>
        </p:nvPicPr>
        <p:blipFill>
          <a:blip r:embed="rId3"/>
          <a:stretch>
            <a:fillRect/>
          </a:stretch>
        </p:blipFill>
        <p:spPr>
          <a:xfrm>
            <a:off x="139700" y="2839452"/>
            <a:ext cx="6483684" cy="1955131"/>
          </a:xfrm>
          <a:prstGeom prst="rect">
            <a:avLst/>
          </a:prstGeom>
        </p:spPr>
      </p:pic>
    </p:spTree>
    <p:extLst>
      <p:ext uri="{BB962C8B-B14F-4D97-AF65-F5344CB8AC3E}">
        <p14:creationId xmlns:p14="http://schemas.microsoft.com/office/powerpoint/2010/main" val="22242284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FA46C-7A19-CF46-0A16-F691B5464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5104A-E7AB-DA2A-C5AE-64B50E7536E0}"/>
              </a:ext>
            </a:extLst>
          </p:cNvPr>
          <p:cNvSpPr>
            <a:spLocks noGrp="1"/>
          </p:cNvSpPr>
          <p:nvPr>
            <p:ph type="title"/>
          </p:nvPr>
        </p:nvSpPr>
        <p:spPr/>
        <p:txBody>
          <a:bodyPr/>
          <a:lstStyle/>
          <a:p>
            <a:r>
              <a:t>What it costs</a:t>
            </a:r>
          </a:p>
        </p:txBody>
      </p:sp>
      <p:sp>
        <p:nvSpPr>
          <p:cNvPr id="3" name="Content Placeholder 2">
            <a:extLst>
              <a:ext uri="{FF2B5EF4-FFF2-40B4-BE49-F238E27FC236}">
                <a16:creationId xmlns:a16="http://schemas.microsoft.com/office/drawing/2014/main" id="{36C5CEA9-66CA-2EE0-5DD5-E4A8B9BC3FCC}"/>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a:extLst>
              <a:ext uri="{FF2B5EF4-FFF2-40B4-BE49-F238E27FC236}">
                <a16:creationId xmlns:a16="http://schemas.microsoft.com/office/drawing/2014/main" id="{C54CF42B-2A9C-D3BB-0C23-1084F6306E10}"/>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a:extLst>
              <a:ext uri="{FF2B5EF4-FFF2-40B4-BE49-F238E27FC236}">
                <a16:creationId xmlns:a16="http://schemas.microsoft.com/office/drawing/2014/main" id="{60A6B65C-1014-E974-D6F0-60C55829A3A7}"/>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extLst>
      <p:ext uri="{BB962C8B-B14F-4D97-AF65-F5344CB8AC3E}">
        <p14:creationId xmlns:p14="http://schemas.microsoft.com/office/powerpoint/2010/main" val="18370552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dirty="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a:t>
            </a:r>
            <a:r>
              <a:rPr lang="en-US" sz="1400" b="1" dirty="0">
                <a:solidFill>
                  <a:schemeClr val="tx2"/>
                </a:solidFill>
              </a:rPr>
              <a:t>s </a:t>
            </a:r>
            <a:r>
              <a:rPr lang="en-US" b="1" dirty="0">
                <a:solidFill>
                  <a:schemeClr val="tx2"/>
                </a:solidFill>
              </a:rPr>
              <a:t>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All three ran the same model, so this shows where each one fails.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A39AB180-D7A6-9F54-3DA9-E194AD3378FA}"/>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3C68B90D-82C0-8CD6-E5F1-026BC14232D9}"/>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B75E8B2-9726-1D9D-80F8-7B7056F8622B}"/>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2E8F379-99EB-39A0-3757-AA078753E0E4}"/>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C709B9A-B976-D285-2D18-F8837BCA181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D0ACCC9-43DD-7BC1-4EE8-966D5DFE1128}"/>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24" name="Oval 23">
            <a:extLst>
              <a:ext uri="{FF2B5EF4-FFF2-40B4-BE49-F238E27FC236}">
                <a16:creationId xmlns:a16="http://schemas.microsoft.com/office/drawing/2014/main" id="{70EDB00C-DECA-21A5-9927-5AAFA716FB1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833BBB3-12BC-4FF1-CFFF-ECC733C3442B}"/>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26" name="TextBox 25">
            <a:extLst>
              <a:ext uri="{FF2B5EF4-FFF2-40B4-BE49-F238E27FC236}">
                <a16:creationId xmlns:a16="http://schemas.microsoft.com/office/drawing/2014/main" id="{FD976B1B-8066-4089-D758-3424380F82F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27" name="TextBox 26">
            <a:extLst>
              <a:ext uri="{FF2B5EF4-FFF2-40B4-BE49-F238E27FC236}">
                <a16:creationId xmlns:a16="http://schemas.microsoft.com/office/drawing/2014/main" id="{A3EE4684-8600-80AC-1F08-EEC8EA5D8D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8" name="TextBox 27">
            <a:extLst>
              <a:ext uri="{FF2B5EF4-FFF2-40B4-BE49-F238E27FC236}">
                <a16:creationId xmlns:a16="http://schemas.microsoft.com/office/drawing/2014/main" id="{77B566F1-8D2F-E8E2-EC92-ED8DFF5010C7}"/>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r:embed="rId3">
            <a:alphaModFix amt="90000"/>
          </a:blip>
          <a:stretch>
            <a:fillRect/>
          </a:stretch>
        </p:blipFill>
        <p:spPr>
          <a:xfrm>
            <a:off x="825474" y="3697995"/>
            <a:ext cx="5732295" cy="1183548"/>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r:embed="rId3">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React Loop</a:t>
            </a:r>
            <a:endParaRPr dirty="0"/>
          </a:p>
        </p:txBody>
      </p:sp>
      <p:sp>
        <p:nvSpPr>
          <p:cNvPr id="3" name="Content Placeholder 2"/>
          <p:cNvSpPr>
            <a:spLocks noGrp="1"/>
          </p:cNvSpPr>
          <p:nvPr>
            <p:ph idx="1"/>
          </p:nvPr>
        </p:nvSpPr>
        <p:spPr>
          <a:xfrm>
            <a:off x="319251" y="1690480"/>
            <a:ext cx="6014545" cy="2150000"/>
          </a:xfrm>
        </p:spPr>
        <p:txBody>
          <a:bodyPr wrap="square">
            <a:normAutofit fontScale="92500" lnSpcReduction="10000"/>
          </a:bodyPr>
          <a:lstStyle/>
          <a:p>
            <a:pPr marL="0" indent="0">
              <a:buNone/>
            </a:pPr>
            <a:r>
              <a:rPr sz="1400" b="1" dirty="0">
                <a:solidFill>
                  <a:srgbClr val="28285E"/>
                </a:solidFill>
              </a:rPr>
              <a:t>There are three questions the loop cannot answer about itself:</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Measure progress. </a:t>
            </a:r>
            <a:r>
              <a:rPr sz="1400" b="0" dirty="0">
                <a:solidFill>
                  <a:schemeClr val="tx1"/>
                </a:solidFill>
              </a:rPr>
              <a:t>Seeing that an observation is new is easy</a:t>
            </a:r>
            <a:r>
              <a:rPr lang="en-US" sz="1400" b="0" dirty="0">
                <a:solidFill>
                  <a:schemeClr val="tx1"/>
                </a:solidFill>
              </a:rPr>
              <a:t> but not</a:t>
            </a:r>
            <a:r>
              <a:rPr sz="1400" b="0" dirty="0">
                <a:solidFill>
                  <a:schemeClr val="tx1"/>
                </a:solidFill>
              </a:rPr>
              <a:t> Knowing whether the step in hand has finished is not.</a:t>
            </a:r>
          </a:p>
          <a:p>
            <a:pPr marL="400050" indent="-285750">
              <a:spcBef>
                <a:spcPts val="600"/>
              </a:spcBef>
              <a:spcAft>
                <a:spcPts val="600"/>
              </a:spcAft>
              <a:buClr>
                <a:srgbClr val="28285E"/>
              </a:buClr>
              <a:buSzPts val="1260"/>
              <a:buFont typeface="Fira Sans"/>
              <a:buChar char="●"/>
            </a:pPr>
            <a:r>
              <a:rPr sz="1400" b="1" dirty="0">
                <a:solidFill>
                  <a:schemeClr val="tx1"/>
                </a:solidFill>
              </a:rPr>
              <a:t>Show its intent. </a:t>
            </a:r>
            <a:r>
              <a:rPr sz="1400" b="0" dirty="0">
                <a:solidFill>
                  <a:schemeClr val="tx1"/>
                </a:solidFill>
              </a:rPr>
              <a:t>Halfway through a run the trace holds four thoughts </a:t>
            </a:r>
            <a:r>
              <a:rPr lang="en-US" sz="1400" b="0" dirty="0">
                <a:solidFill>
                  <a:schemeClr val="tx1"/>
                </a:solidFill>
              </a:rPr>
              <a:t>but </a:t>
            </a:r>
            <a:r>
              <a:rPr sz="1400" b="0" dirty="0">
                <a:solidFill>
                  <a:schemeClr val="tx1"/>
                </a:solidFill>
              </a:rPr>
              <a:t>that says </a:t>
            </a:r>
            <a:r>
              <a:rPr lang="en-US" sz="1400" b="0" dirty="0">
                <a:solidFill>
                  <a:schemeClr val="tx1"/>
                </a:solidFill>
              </a:rPr>
              <a:t>nothing about </a:t>
            </a:r>
            <a:r>
              <a:rPr sz="1400" b="0" dirty="0">
                <a:solidFill>
                  <a:schemeClr val="tx1"/>
                </a:solidFill>
              </a:rPr>
              <a:t>where the run was going.</a:t>
            </a:r>
          </a:p>
          <a:p>
            <a:pPr marL="400050" indent="-285750">
              <a:spcBef>
                <a:spcPts val="600"/>
              </a:spcBef>
              <a:spcAft>
                <a:spcPts val="600"/>
              </a:spcAft>
              <a:buClr>
                <a:srgbClr val="28285E"/>
              </a:buClr>
              <a:buSzPts val="1260"/>
              <a:buFont typeface="Fira Sans"/>
              <a:buChar char="●"/>
            </a:pPr>
            <a:r>
              <a:rPr sz="1400" b="1" dirty="0">
                <a:solidFill>
                  <a:schemeClr val="tx1"/>
                </a:solidFill>
              </a:rPr>
              <a:t>Change course. </a:t>
            </a:r>
            <a:r>
              <a:rPr sz="1400" b="0" dirty="0">
                <a:solidFill>
                  <a:schemeClr val="tx1"/>
                </a:solidFill>
              </a:rPr>
              <a:t>When a step turns out to be impossible there is no remaining plan to revise, because no plan was ever written.</a:t>
            </a:r>
          </a:p>
        </p:txBody>
      </p:sp>
      <p:sp>
        <p:nvSpPr>
          <p:cNvPr id="4" name="Rectangle 3"/>
          <p:cNvSpPr/>
          <p:nvPr/>
        </p:nvSpPr>
        <p:spPr>
          <a:xfrm>
            <a:off x="319251" y="700000"/>
            <a:ext cx="6014545" cy="82899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Our reactive loop remembers </a:t>
            </a:r>
            <a:r>
              <a:rPr sz="1400" b="1" dirty="0">
                <a:solidFill>
                  <a:schemeClr val="tx2"/>
                </a:solidFill>
              </a:rPr>
              <a:t>everything it has </a:t>
            </a:r>
            <a:r>
              <a:rPr lang="en-US" sz="1400" b="1" dirty="0">
                <a:solidFill>
                  <a:schemeClr val="tx2"/>
                </a:solidFill>
              </a:rPr>
              <a:t>seen but not </a:t>
            </a:r>
            <a:r>
              <a:rPr sz="1400" b="1" dirty="0">
                <a:solidFill>
                  <a:schemeClr val="tx2"/>
                </a:solidFill>
              </a:rPr>
              <a:t>the run set out to do</a:t>
            </a:r>
            <a:r>
              <a:rPr sz="1400" b="0" dirty="0">
                <a:solidFill>
                  <a:schemeClr val="tx2"/>
                </a:solidFill>
              </a:rPr>
              <a:t>, so the program cannot tell a turn that </a:t>
            </a:r>
            <a:r>
              <a:rPr sz="1400" b="1" dirty="0">
                <a:solidFill>
                  <a:schemeClr val="tx2"/>
                </a:solidFill>
              </a:rPr>
              <a:t>helped</a:t>
            </a:r>
            <a:r>
              <a:rPr sz="1400" b="0" dirty="0">
                <a:solidFill>
                  <a:schemeClr val="tx2"/>
                </a:solidFill>
              </a:rPr>
              <a:t> from a turn that merely </a:t>
            </a:r>
            <a:r>
              <a:rPr sz="1400" b="1" dirty="0">
                <a:solidFill>
                  <a:schemeClr val="tx2"/>
                </a:solidFill>
              </a:rPr>
              <a:t>happened</a:t>
            </a:r>
            <a:r>
              <a:rPr sz="1400" b="0" dirty="0">
                <a:solidFill>
                  <a:schemeClr val="tx2"/>
                </a:solidFill>
              </a:rPr>
              <a:t>.</a:t>
            </a:r>
          </a:p>
        </p:txBody>
      </p:sp>
      <p:sp>
        <p:nvSpPr>
          <p:cNvPr id="5" name="Rectangle 4"/>
          <p:cNvSpPr/>
          <p:nvPr/>
        </p:nvSpPr>
        <p:spPr>
          <a:xfrm>
            <a:off x="319251" y="3953500"/>
            <a:ext cx="6014545" cy="490000"/>
          </a:xfrm>
          <a:prstGeom prst="rect">
            <a:avLst/>
          </a:prstGeom>
          <a:solidFill>
            <a:schemeClr val="accent4"/>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bg1"/>
                </a:solidFill>
              </a:rPr>
              <a:t>A plan is the smallest thing we can add that lets the program check its own progress.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dirty="0"/>
              <a:t>hapes</a:t>
            </a:r>
            <a:r>
              <a:rPr lang="en-US" dirty="0"/>
              <a:t> of Planning</a:t>
            </a:r>
            <a:endParaRPr dirty="0"/>
          </a:p>
        </p:txBody>
      </p:sp>
      <p:pic>
        <p:nvPicPr>
          <p:cNvPr id="3" name="Picture 2" descr="adaplanner-fig1-closed-loop.png"/>
          <p:cNvPicPr>
            <a:picLocks noChangeAspect="1"/>
          </p:cNvPicPr>
          <p:nvPr/>
        </p:nvPicPr>
        <p:blipFill>
          <a:blip r:embed="rId3"/>
          <a:stretch>
            <a:fillRect/>
          </a:stretch>
        </p:blipFill>
        <p:spPr>
          <a:xfrm>
            <a:off x="250147" y="880000"/>
            <a:ext cx="6152752" cy="2836155"/>
          </a:xfrm>
          <a:prstGeom prst="rect">
            <a:avLst/>
          </a:prstGeom>
        </p:spPr>
      </p:pic>
      <p:sp>
        <p:nvSpPr>
          <p:cNvPr id="4" name="TextBox 3"/>
          <p:cNvSpPr txBox="1"/>
          <p:nvPr/>
        </p:nvSpPr>
        <p:spPr>
          <a:xfrm>
            <a:off x="2433796" y="3790000"/>
            <a:ext cx="3900000" cy="253916"/>
          </a:xfrm>
          <a:prstGeom prst="rect">
            <a:avLst/>
          </a:prstGeom>
          <a:noFill/>
        </p:spPr>
        <p:txBody>
          <a:bodyPr wrap="none">
            <a:spAutoFit/>
          </a:bodyPr>
          <a:lstStyle/>
          <a:p>
            <a:pPr algn="r"/>
            <a:r>
              <a:rPr sz="1050" i="1">
                <a:solidFill>
                  <a:schemeClr val="bg2"/>
                </a:solidFill>
              </a:rPr>
              <a:t>Figure 1, Sun et al., AdaPlanner, NeurIPS 2023</a:t>
            </a:r>
          </a:p>
        </p:txBody>
      </p:sp>
      <p:sp>
        <p:nvSpPr>
          <p:cNvPr id="5" name="Rectangle 4"/>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Only the third sends feedback back to the plan itself. The other two change the next action </a:t>
            </a:r>
            <a:r>
              <a:rPr sz="1200" b="1" dirty="0">
                <a:solidFill>
                  <a:srgbClr val="28285E"/>
                </a:solidFill>
              </a:rPr>
              <a:t>alone</a:t>
            </a:r>
            <a:r>
              <a:rPr sz="1200" dirty="0">
                <a:solidFill>
                  <a:srgbClr val="28285E"/>
                </a:solidFill>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shape does with an observation</a:t>
            </a:r>
          </a:p>
        </p:txBody>
      </p:sp>
      <p:graphicFrame>
        <p:nvGraphicFramePr>
          <p:cNvPr id="3" name="Table 2"/>
          <p:cNvGraphicFramePr>
            <a:graphicFrameLocks noGrp="1"/>
          </p:cNvGraphicFramePr>
          <p:nvPr>
            <p:extLst>
              <p:ext uri="{D42A27DB-BD31-4B8C-83A1-F6EECF244321}">
                <p14:modId xmlns:p14="http://schemas.microsoft.com/office/powerpoint/2010/main" val="2599804413"/>
              </p:ext>
            </p:extLst>
          </p:nvPr>
        </p:nvGraphicFramePr>
        <p:xfrm>
          <a:off x="319251" y="1634008"/>
          <a:ext cx="6014545" cy="14478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2157272">
                  <a:extLst>
                    <a:ext uri="{9D8B030D-6E8A-4147-A177-3AD203B41FA5}">
                      <a16:colId xmlns:a16="http://schemas.microsoft.com/office/drawing/2014/main" val="20001"/>
                    </a:ext>
                  </a:extLst>
                </a:gridCol>
                <a:gridCol w="1957273">
                  <a:extLst>
                    <a:ext uri="{9D8B030D-6E8A-4147-A177-3AD203B41FA5}">
                      <a16:colId xmlns:a16="http://schemas.microsoft.com/office/drawing/2014/main" val="20002"/>
                    </a:ext>
                  </a:extLst>
                </a:gridCol>
              </a:tblGrid>
              <a:tr h="300000">
                <a:tc>
                  <a:txBody>
                    <a:bodyPr/>
                    <a:lstStyle/>
                    <a:p>
                      <a:pPr algn="l">
                        <a:buNone/>
                      </a:pPr>
                      <a:r>
                        <a:rPr sz="1400" b="1">
                          <a:solidFill>
                            <a:schemeClr val="tx1"/>
                          </a:solidFill>
                        </a:rPr>
                        <a:t>Planner</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comes back</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changes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Open-loop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Implicit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next action only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Explicit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Every observation, sorted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The rest of the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486817"/>
            <a:ext cx="4445035" cy="49636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revision </a:t>
            </a:r>
            <a:r>
              <a:rPr sz="1200" b="1">
                <a:solidFill>
                  <a:schemeClr val="tx2"/>
                </a:solidFill>
              </a:rPr>
              <a:t>replaces</a:t>
            </a:r>
            <a:r>
              <a:rPr sz="1200" b="0">
                <a:solidFill>
                  <a:schemeClr val="tx2"/>
                </a:solidFill>
              </a:rPr>
              <a:t> the remainder of the plan. Our loop only ever </a:t>
            </a:r>
            <a:r>
              <a:rPr sz="1200" b="1">
                <a:solidFill>
                  <a:schemeClr val="tx2"/>
                </a:solidFill>
              </a:rPr>
              <a:t>adds</a:t>
            </a:r>
            <a:r>
              <a:rPr sz="1200" b="0">
                <a:solidFill>
                  <a:schemeClr val="tx2"/>
                </a:solidFill>
              </a:rPr>
              <a:t> to its context.</a:t>
            </a:r>
          </a:p>
        </p:txBody>
      </p:sp>
      <p:sp>
        <p:nvSpPr>
          <p:cNvPr id="5" name="Rectangle 4"/>
          <p:cNvSpPr/>
          <p:nvPr/>
        </p:nvSpPr>
        <p:spPr>
          <a:xfrm>
            <a:off x="319251" y="700000"/>
            <a:ext cx="6014545" cy="7979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The three shapes differ in one thing only: what a planner is allowed to change when the environment answers back</a:t>
            </a:r>
            <a:r>
              <a:rPr lang="en-US" sz="1400" b="0" dirty="0">
                <a:solidFill>
                  <a:schemeClr val="tx2"/>
                </a:solidFill>
              </a:rPr>
              <a:t>:</a:t>
            </a:r>
            <a:r>
              <a:rPr sz="1400" b="0" dirty="0">
                <a:solidFill>
                  <a:schemeClr val="tx2"/>
                </a:solidFill>
              </a:rPr>
              <a:t> </a:t>
            </a:r>
            <a:r>
              <a:rPr sz="1400" b="1" dirty="0">
                <a:solidFill>
                  <a:schemeClr val="tx2"/>
                </a:solidFill>
              </a:rPr>
              <a:t>Nothing</a:t>
            </a:r>
            <a:r>
              <a:rPr lang="en-US" sz="1400" b="1" dirty="0">
                <a:solidFill>
                  <a:schemeClr val="tx2"/>
                </a:solidFill>
              </a:rPr>
              <a:t>?</a:t>
            </a:r>
            <a:r>
              <a:rPr sz="1400" b="1" dirty="0">
                <a:solidFill>
                  <a:schemeClr val="tx2"/>
                </a:solidFill>
              </a:rPr>
              <a:t> </a:t>
            </a:r>
            <a:r>
              <a:rPr lang="en-US" sz="1400" b="1" dirty="0">
                <a:solidFill>
                  <a:schemeClr val="tx2"/>
                </a:solidFill>
              </a:rPr>
              <a:t>T</a:t>
            </a:r>
            <a:r>
              <a:rPr sz="1400" b="1" dirty="0">
                <a:solidFill>
                  <a:schemeClr val="tx2"/>
                </a:solidFill>
              </a:rPr>
              <a:t>he next action</a:t>
            </a:r>
            <a:r>
              <a:rPr lang="en-US" sz="1400" b="1" dirty="0">
                <a:solidFill>
                  <a:schemeClr val="tx2"/>
                </a:solidFill>
              </a:rPr>
              <a:t> only?</a:t>
            </a:r>
            <a:r>
              <a:rPr sz="1400" b="1" dirty="0">
                <a:solidFill>
                  <a:schemeClr val="tx2"/>
                </a:solidFill>
              </a:rPr>
              <a:t>, or the rest of the plan</a:t>
            </a:r>
            <a:r>
              <a:rPr lang="en-US" sz="1400" b="1" dirty="0">
                <a:solidFill>
                  <a:schemeClr val="tx2"/>
                </a:solidFill>
              </a:rPr>
              <a:t>?</a:t>
            </a:r>
            <a:endParaRPr sz="1400" b="1" dirty="0">
              <a:solidFill>
                <a:schemeClr val="tx2"/>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planner-based demo </a:t>
            </a:r>
            <a:r>
              <a:rPr lang="en-US" dirty="0"/>
              <a:t>builds</a:t>
            </a:r>
            <a:endParaRPr dirty="0"/>
          </a:p>
        </p:txBody>
      </p:sp>
      <p:sp>
        <p:nvSpPr>
          <p:cNvPr id="3" name="Rectangle 2"/>
          <p:cNvSpPr/>
          <p:nvPr/>
        </p:nvSpPr>
        <p:spPr>
          <a:xfrm>
            <a:off x="319251" y="700000"/>
            <a:ext cx="6014545" cy="10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Five nodes</a:t>
            </a:r>
            <a:r>
              <a:rPr lang="en-US" sz="1400" dirty="0">
                <a:solidFill>
                  <a:schemeClr val="tx2"/>
                </a:solidFill>
              </a:rPr>
              <a:t> at locations where </a:t>
            </a:r>
            <a:r>
              <a:rPr sz="1400" dirty="0">
                <a:solidFill>
                  <a:schemeClr val="tx2"/>
                </a:solidFill>
              </a:rPr>
              <a:t>model </a:t>
            </a:r>
            <a:r>
              <a:rPr lang="en-US" sz="1400" dirty="0">
                <a:solidFill>
                  <a:schemeClr val="tx2"/>
                </a:solidFill>
              </a:rPr>
              <a:t>makes decisions</a:t>
            </a:r>
            <a:r>
              <a:rPr sz="1400" dirty="0">
                <a:solidFill>
                  <a:schemeClr val="tx2"/>
                </a:solidFill>
              </a:rPr>
              <a:t>. Two edges are unconditional: the one that </a:t>
            </a:r>
            <a:r>
              <a:rPr sz="1400" b="1" dirty="0">
                <a:solidFill>
                  <a:schemeClr val="tx2"/>
                </a:solidFill>
              </a:rPr>
              <a:t>starts</a:t>
            </a:r>
            <a:r>
              <a:rPr sz="1400" dirty="0">
                <a:solidFill>
                  <a:schemeClr val="tx2"/>
                </a:solidFill>
              </a:rPr>
              <a:t> a run at the planner and the one that </a:t>
            </a:r>
            <a:r>
              <a:rPr sz="1400" b="1" dirty="0">
                <a:solidFill>
                  <a:schemeClr val="tx2"/>
                </a:solidFill>
              </a:rPr>
              <a:t>ends</a:t>
            </a:r>
            <a:r>
              <a:rPr sz="1400" dirty="0">
                <a:solidFill>
                  <a:schemeClr val="tx2"/>
                </a:solidFill>
              </a:rPr>
              <a:t> it at the judge. Every other edge is a predicate we wrote over state.</a:t>
            </a:r>
          </a:p>
        </p:txBody>
      </p:sp>
      <p:pic>
        <p:nvPicPr>
          <p:cNvPr id="4" name="Picture 3" descr="graph-v2-deck.png"/>
          <p:cNvPicPr>
            <a:picLocks noChangeAspect="1"/>
          </p:cNvPicPr>
          <p:nvPr/>
        </p:nvPicPr>
        <p:blipFill>
          <a:blip r:embed="rId3"/>
          <a:stretch>
            <a:fillRect/>
          </a:stretch>
        </p:blipFill>
        <p:spPr>
          <a:xfrm>
            <a:off x="250147" y="1760000"/>
            <a:ext cx="6152752" cy="2940231"/>
          </a:xfrm>
          <a:prstGeom prst="rect">
            <a:avLst/>
          </a:prstGeom>
        </p:spPr>
      </p:pic>
      <p:sp>
        <p:nvSpPr>
          <p:cNvPr id="5" name="TextBox 4"/>
          <p:cNvSpPr txBox="1"/>
          <p:nvPr/>
        </p:nvSpPr>
        <p:spPr>
          <a:xfrm>
            <a:off x="4589430" y="4889584"/>
            <a:ext cx="2268570" cy="253916"/>
          </a:xfrm>
          <a:prstGeom prst="rect">
            <a:avLst/>
          </a:prstGeom>
          <a:noFill/>
        </p:spPr>
        <p:txBody>
          <a:bodyPr wrap="none">
            <a:spAutoFit/>
          </a:bodyPr>
          <a:lstStyle/>
          <a:p>
            <a:pPr algn="r"/>
            <a:r>
              <a:rPr sz="1050" i="1">
                <a:solidFill>
                  <a:schemeClr val="bg2"/>
                </a:solidFill>
              </a:rPr>
              <a:t>see: lec2_planning_and_validation_agent/graph.py</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a:t>
            </a:r>
            <a:r>
              <a:rPr lang="en-US" dirty="0"/>
              <a:t>new n</a:t>
            </a:r>
            <a:r>
              <a:rPr dirty="0"/>
              <a:t>odes </a:t>
            </a:r>
            <a:r>
              <a:rPr lang="en-US" dirty="0"/>
              <a:t>in our </a:t>
            </a:r>
            <a:r>
              <a:rPr dirty="0"/>
              <a:t>planner</a:t>
            </a:r>
            <a:r>
              <a:rPr lang="en-US" dirty="0"/>
              <a:t>-based </a:t>
            </a:r>
            <a:r>
              <a:rPr dirty="0"/>
              <a:t>demo</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a:t>
            </a:r>
          </a:p>
        </p:txBody>
      </p:sp>
      <p:sp>
        <p:nvSpPr>
          <p:cNvPr id="4" name="Rounded Rectangle 3"/>
          <p:cNvSpPr/>
          <p:nvPr/>
        </p:nvSpPr>
        <p:spPr>
          <a:xfrm>
            <a:off x="319251" y="1020000"/>
            <a:ext cx="6014545" cy="21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b="1" dirty="0" err="1">
                <a:solidFill>
                  <a:schemeClr val="accent4"/>
                </a:solidFill>
                <a:latin typeface="Maple Mono NF"/>
              </a:rPr>
              <a:t>graph.add_node</a:t>
            </a:r>
            <a:r>
              <a:rPr sz="1100" b="1" dirty="0">
                <a:solidFill>
                  <a:schemeClr val="accent4"/>
                </a:solidFill>
                <a:latin typeface="Maple Mono NF"/>
              </a:rPr>
              <a:t>("plan", </a:t>
            </a:r>
            <a:r>
              <a:rPr sz="1100" b="1" dirty="0" err="1">
                <a:solidFill>
                  <a:schemeClr val="accent4"/>
                </a:solidFill>
                <a:latin typeface="Maple Mono NF"/>
              </a:rPr>
              <a:t>self.plan</a:t>
            </a:r>
            <a:r>
              <a:rPr sz="1100" b="1" dirty="0">
                <a:solidFill>
                  <a:schemeClr val="accent4"/>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r>
              <a:rPr sz="1100" b="1" dirty="0" err="1">
                <a:solidFill>
                  <a:schemeClr val="accent4"/>
                </a:solidFill>
                <a:latin typeface="Maple Mono NF"/>
              </a:rPr>
              <a:t>graph.add_node</a:t>
            </a:r>
            <a:r>
              <a:rPr sz="1100" b="1" dirty="0">
                <a:solidFill>
                  <a:schemeClr val="accent4"/>
                </a:solidFill>
                <a:latin typeface="Maple Mono NF"/>
              </a:rPr>
              <a:t>("validate", </a:t>
            </a:r>
            <a:r>
              <a:rPr sz="1100" b="1" dirty="0" err="1">
                <a:solidFill>
                  <a:schemeClr val="accent4"/>
                </a:solidFill>
                <a:latin typeface="Maple Mono NF"/>
              </a:rPr>
              <a:t>self.validate</a:t>
            </a:r>
            <a:r>
              <a:rPr sz="1100" b="1" dirty="0">
                <a:solidFill>
                  <a:schemeClr val="accent4"/>
                </a:solidFill>
                <a:latin typeface="Maple Mono NF"/>
              </a:rPr>
              <a:t>)</a:t>
            </a:r>
          </a:p>
          <a:p>
            <a:pPr algn="l">
              <a:buNone/>
            </a:pPr>
            <a:endParaRPr sz="1100" dirty="0">
              <a:solidFill>
                <a:srgbClr val="28285E"/>
              </a:solidFill>
              <a:latin typeface="Maple Mono NF"/>
            </a:endParaRPr>
          </a:p>
          <a:p>
            <a:pPr algn="l">
              <a:buNone/>
            </a:pPr>
            <a:r>
              <a:rPr sz="1100" b="1" dirty="0" err="1">
                <a:solidFill>
                  <a:schemeClr val="accent4"/>
                </a:solidFill>
                <a:latin typeface="Maple Mono NF"/>
              </a:rPr>
              <a:t>graph.add_edge</a:t>
            </a:r>
            <a:r>
              <a:rPr sz="1100" b="1" dirty="0">
                <a:solidFill>
                  <a:schemeClr val="accent4"/>
                </a:solidFill>
                <a:latin typeface="Maple Mono NF"/>
              </a:rPr>
              <a:t>(START, "plan")</a:t>
            </a:r>
          </a:p>
          <a:p>
            <a:pPr algn="l">
              <a:buNone/>
            </a:pPr>
            <a:r>
              <a:rPr sz="1100" b="1" dirty="0" err="1">
                <a:solidFill>
                  <a:schemeClr val="accent4"/>
                </a:solidFill>
                <a:latin typeface="Maple Mono NF"/>
              </a:rPr>
              <a:t>graph.add_edge</a:t>
            </a:r>
            <a:r>
              <a:rPr sz="1100" b="1" dirty="0">
                <a:solidFill>
                  <a:schemeClr val="accent4"/>
                </a:solidFill>
                <a:latin typeface="Maple Mono NF"/>
              </a:rPr>
              <a:t>("validate", END)</a:t>
            </a:r>
          </a:p>
        </p:txBody>
      </p:sp>
      <p:sp>
        <p:nvSpPr>
          <p:cNvPr id="5" name="Rectangle 4"/>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Five nodes now. A run </a:t>
            </a:r>
            <a:r>
              <a:rPr sz="1200" b="1">
                <a:solidFill>
                  <a:srgbClr val="28285E"/>
                </a:solidFill>
              </a:rPr>
              <a:t>begins</a:t>
            </a:r>
            <a:r>
              <a:rPr sz="1200" b="0">
                <a:solidFill>
                  <a:srgbClr val="28285E"/>
                </a:solidFill>
              </a:rPr>
              <a:t> by planning, and the only way it can end accepted is through the validator.</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from tools now has two destinations</a:t>
            </a:r>
          </a:p>
        </p:txBody>
      </p:sp>
      <p:sp>
        <p:nvSpPr>
          <p:cNvPr id="3" name="Rectangle 2"/>
          <p:cNvSpPr/>
          <p:nvPr/>
        </p:nvSpPr>
        <p:spPr>
          <a:xfrm>
            <a:off x="319251" y="700000"/>
            <a:ext cx="6014545" cy="79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In the reactive loop, </a:t>
            </a:r>
            <a:r>
              <a:rPr sz="1400" dirty="0">
                <a:latin typeface="Maple Mono NF"/>
              </a:rPr>
              <a:t>tools -&gt; controller</a:t>
            </a:r>
            <a:r>
              <a:rPr sz="1400" dirty="0">
                <a:solidFill>
                  <a:schemeClr val="tx2"/>
                </a:solidFill>
              </a:rPr>
              <a:t> was unconditional</a:t>
            </a:r>
            <a:r>
              <a:rPr lang="en-US" dirty="0">
                <a:solidFill>
                  <a:schemeClr val="tx2"/>
                </a:solidFill>
              </a:rPr>
              <a:t> </a:t>
            </a:r>
            <a:r>
              <a:rPr sz="1400" dirty="0">
                <a:solidFill>
                  <a:schemeClr val="tx2"/>
                </a:solidFill>
              </a:rPr>
              <a:t>that ma</a:t>
            </a:r>
            <a:r>
              <a:rPr lang="en-US" sz="1400" dirty="0">
                <a:solidFill>
                  <a:schemeClr val="tx2"/>
                </a:solidFill>
              </a:rPr>
              <a:t>de </a:t>
            </a:r>
            <a:r>
              <a:rPr sz="1400" dirty="0">
                <a:solidFill>
                  <a:schemeClr val="tx2"/>
                </a:solidFill>
              </a:rPr>
              <a:t>the agent reactive. </a:t>
            </a:r>
            <a:r>
              <a:rPr lang="en-US" sz="1400" dirty="0">
                <a:solidFill>
                  <a:schemeClr val="tx2"/>
                </a:solidFill>
              </a:rPr>
              <a:t>Now, </a:t>
            </a:r>
            <a:r>
              <a:rPr sz="1400" dirty="0">
                <a:solidFill>
                  <a:schemeClr val="tx2"/>
                </a:solidFill>
              </a:rPr>
              <a:t>it chooses, and its </a:t>
            </a:r>
            <a:r>
              <a:rPr lang="en-US" sz="1400" dirty="0">
                <a:solidFill>
                  <a:schemeClr val="tx2"/>
                </a:solidFill>
              </a:rPr>
              <a:t>other </a:t>
            </a:r>
            <a:r>
              <a:rPr sz="1400" dirty="0">
                <a:solidFill>
                  <a:schemeClr val="tx2"/>
                </a:solidFill>
              </a:rPr>
              <a:t>destination is the planner.</a:t>
            </a:r>
          </a:p>
        </p:txBody>
      </p:sp>
      <p:sp>
        <p:nvSpPr>
          <p:cNvPr id="4" name="TextBox 3"/>
          <p:cNvSpPr txBox="1"/>
          <p:nvPr/>
        </p:nvSpPr>
        <p:spPr>
          <a:xfrm>
            <a:off x="319251" y="1750000"/>
            <a:ext cx="6014545" cy="200000"/>
          </a:xfrm>
          <a:prstGeom prst="rect">
            <a:avLst/>
          </a:prstGeom>
          <a:noFill/>
        </p:spPr>
        <p:txBody>
          <a:bodyPr wrap="none">
            <a:spAutoFit/>
          </a:bodyPr>
          <a:lstStyle/>
          <a:p>
            <a:r>
              <a:rPr sz="1200" b="1">
                <a:solidFill>
                  <a:srgbClr val="28285E"/>
                </a:solidFill>
                <a:latin typeface="Maple Mono NF"/>
              </a:rPr>
              <a:t>graph.py, after_tools</a:t>
            </a:r>
          </a:p>
        </p:txBody>
      </p:sp>
      <p:sp>
        <p:nvSpPr>
          <p:cNvPr id="5" name="Rounded Rectangle 4"/>
          <p:cNvSpPr/>
          <p:nvPr/>
        </p:nvSpPr>
        <p:spPr>
          <a:xfrm>
            <a:off x="319251" y="2010000"/>
            <a:ext cx="6014545" cy="8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state.get(</a:t>
            </a:r>
            <a:r>
              <a:rPr sz="1100" b="1">
                <a:solidFill>
                  <a:srgbClr val="C73561"/>
                </a:solidFill>
                <a:latin typeface="Maple Mono NF"/>
              </a:rPr>
              <a:t>"failed_step"</a:t>
            </a:r>
            <a:r>
              <a:rPr sz="1100">
                <a:solidFill>
                  <a:srgbClr val="28285E"/>
                </a:solidFill>
                <a:latin typeface="Maple Mono NF"/>
              </a:rPr>
              <a:t>):</a:t>
            </a:r>
          </a:p>
          <a:p>
            <a:pPr algn="l">
              <a:buNone/>
            </a:pPr>
            <a:r>
              <a:rPr sz="1100">
                <a:solidFill>
                  <a:srgbClr val="28285E"/>
                </a:solidFill>
                <a:latin typeface="Maple Mono NF"/>
              </a:rPr>
              <a:t>    return </a:t>
            </a:r>
            <a:r>
              <a:rPr sz="1100" b="1">
                <a:solidFill>
                  <a:srgbClr val="099191"/>
                </a:solidFill>
                <a:latin typeface="Maple Mono NF"/>
              </a:rPr>
              <a:t>"plan"</a:t>
            </a:r>
          </a:p>
          <a:p>
            <a:pPr algn="l">
              <a:buNone/>
            </a:pPr>
            <a:r>
              <a:rPr sz="1100">
                <a:solidFill>
                  <a:srgbClr val="28285E"/>
                </a:solidFill>
                <a:latin typeface="Maple Mono NF"/>
              </a:rPr>
              <a:t>return "controller"</a:t>
            </a:r>
          </a:p>
        </p:txBody>
      </p:sp>
      <p:sp>
        <p:nvSpPr>
          <p:cNvPr id="6" name="Rectangle 5"/>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run that has stopped learning now gets its plan replaced </a:t>
            </a:r>
            <a:r>
              <a:rPr sz="1200" b="1">
                <a:solidFill>
                  <a:srgbClr val="28285E"/>
                </a:solidFill>
              </a:rPr>
              <a:t>before</a:t>
            </a:r>
            <a:r>
              <a:rPr sz="1200" b="0">
                <a:solidFill>
                  <a:srgbClr val="28285E"/>
                </a:solidFill>
              </a:rPr>
              <a:t> it gets abandoned.</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runtime decides the plan has failed</a:t>
            </a:r>
          </a:p>
        </p:txBody>
      </p:sp>
      <p:sp>
        <p:nvSpPr>
          <p:cNvPr id="3" name="Content Placeholder 2"/>
          <p:cNvSpPr>
            <a:spLocks noGrp="1"/>
          </p:cNvSpPr>
          <p:nvPr>
            <p:ph idx="1"/>
          </p:nvPr>
        </p:nvSpPr>
        <p:spPr>
          <a:xfrm>
            <a:off x="319251" y="760000"/>
            <a:ext cx="6014545" cy="3003840"/>
          </a:xfrm>
        </p:spPr>
        <p:txBody>
          <a:bodyPr wrap="square">
            <a:normAutofit fontScale="92500"/>
          </a:bodyPr>
          <a:lstStyle/>
          <a:p>
            <a:pPr marL="0" indent="0">
              <a:buNone/>
            </a:pPr>
            <a:r>
              <a:rPr lang="en-US" sz="1400" b="1" dirty="0">
                <a:solidFill>
                  <a:srgbClr val="28285E"/>
                </a:solidFill>
              </a:rPr>
              <a:t>Let’s take the “</a:t>
            </a:r>
            <a:r>
              <a:rPr sz="1400" b="1" dirty="0">
                <a:solidFill>
                  <a:srgbClr val="28285E"/>
                </a:solidFill>
              </a:rPr>
              <a:t>stall</a:t>
            </a:r>
            <a:r>
              <a:rPr lang="en-US" sz="1400" b="1" dirty="0">
                <a:solidFill>
                  <a:srgbClr val="28285E"/>
                </a:solidFill>
              </a:rPr>
              <a:t>"</a:t>
            </a:r>
            <a:r>
              <a:rPr sz="1400" b="1" dirty="0">
                <a:solidFill>
                  <a:srgbClr val="28285E"/>
                </a:solidFill>
              </a:rPr>
              <a:t> </a:t>
            </a:r>
            <a:r>
              <a:rPr lang="en-US" sz="1400" b="1" dirty="0">
                <a:solidFill>
                  <a:srgbClr val="28285E"/>
                </a:solidFill>
              </a:rPr>
              <a:t>rule we </a:t>
            </a:r>
            <a:r>
              <a:rPr sz="1400" b="1" dirty="0">
                <a:solidFill>
                  <a:srgbClr val="28285E"/>
                </a:solidFill>
              </a:rPr>
              <a:t>had</a:t>
            </a:r>
            <a:r>
              <a:rPr lang="en-US" sz="1400" b="1" dirty="0">
                <a:solidFill>
                  <a:srgbClr val="28285E"/>
                </a:solidFill>
              </a:rPr>
              <a:t>…</a:t>
            </a:r>
            <a:r>
              <a:rPr sz="1400" b="1" dirty="0">
                <a:solidFill>
                  <a:srgbClr val="28285E"/>
                </a:solidFill>
              </a:rPr>
              <a:t> </a:t>
            </a:r>
            <a:r>
              <a:rPr lang="en-US" sz="1400" b="1" dirty="0">
                <a:solidFill>
                  <a:srgbClr val="28285E"/>
                </a:solidFill>
              </a:rPr>
              <a:t>how </a:t>
            </a:r>
            <a:r>
              <a:rPr sz="1400" b="1" dirty="0">
                <a:solidFill>
                  <a:srgbClr val="28285E"/>
                </a:solidFill>
              </a:rPr>
              <a:t>it </a:t>
            </a:r>
            <a:r>
              <a:rPr lang="en-US" sz="1400" b="1" dirty="0">
                <a:solidFill>
                  <a:srgbClr val="28285E"/>
                </a:solidFill>
              </a:rPr>
              <a:t>gets </a:t>
            </a:r>
            <a:r>
              <a:rPr sz="1400" b="1" dirty="0">
                <a:solidFill>
                  <a:srgbClr val="28285E"/>
                </a:solidFill>
              </a:rPr>
              <a:t>trigger</a:t>
            </a:r>
            <a:r>
              <a:rPr lang="en-US" sz="1400" b="1" dirty="0">
                <a:solidFill>
                  <a:srgbClr val="28285E"/>
                </a:solidFill>
              </a:rPr>
              <a:t>ed </a:t>
            </a:r>
            <a:r>
              <a:rPr sz="1400" b="1" dirty="0">
                <a:solidFill>
                  <a:srgbClr val="28285E"/>
                </a:solidFill>
              </a:rPr>
              <a:t>is new:</a:t>
            </a:r>
            <a:endParaRPr lang="en-US" sz="1400" b="1" dirty="0">
              <a:solidFill>
                <a:srgbClr val="28285E"/>
              </a:solidFill>
            </a:endParaRPr>
          </a:p>
          <a:p>
            <a:pPr marL="0" indent="0">
              <a:buNone/>
            </a:pP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The runtime notices. </a:t>
            </a:r>
            <a:r>
              <a:rPr sz="1400" dirty="0">
                <a:solidFill>
                  <a:schemeClr val="tx1"/>
                </a:solidFill>
              </a:rPr>
              <a:t>When three consecutive tool calls return the same observation, the node that saw them writes one field, </a:t>
            </a:r>
            <a:r>
              <a:rPr sz="1400" dirty="0" err="1">
                <a:latin typeface="Maple Mono NF"/>
              </a:rPr>
              <a:t>failed_step</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The predicate reads one field. </a:t>
            </a:r>
            <a:r>
              <a:rPr sz="1400" dirty="0">
                <a:solidFill>
                  <a:schemeClr val="tx1"/>
                </a:solidFill>
              </a:rPr>
              <a:t>A </a:t>
            </a:r>
            <a:r>
              <a:rPr sz="1400" b="1" dirty="0">
                <a:solidFill>
                  <a:schemeClr val="tx1"/>
                </a:solidFill>
              </a:rPr>
              <a:t>conditional edge can only read state</a:t>
            </a:r>
            <a:r>
              <a:rPr sz="1400" dirty="0">
                <a:solidFill>
                  <a:schemeClr val="tx1"/>
                </a:solidFill>
              </a:rPr>
              <a:t>, so the judgement is made where the observations are and the edge just looks it up.</a:t>
            </a:r>
          </a:p>
          <a:p>
            <a:pPr marL="400050" indent="-285750">
              <a:spcBef>
                <a:spcPts val="600"/>
              </a:spcBef>
              <a:spcAft>
                <a:spcPts val="600"/>
              </a:spcAft>
              <a:buClr>
                <a:srgbClr val="28285E"/>
              </a:buClr>
              <a:buSzPts val="1260"/>
              <a:buFont typeface="Fira Sans"/>
              <a:buChar char="●"/>
            </a:pPr>
            <a:r>
              <a:rPr sz="1400" b="1" dirty="0">
                <a:solidFill>
                  <a:schemeClr val="tx1"/>
                </a:solidFill>
              </a:rPr>
              <a:t>The planner gets one chance. </a:t>
            </a:r>
            <a:r>
              <a:rPr sz="1400" dirty="0">
                <a:solidFill>
                  <a:schemeClr val="tx1"/>
                </a:solidFill>
              </a:rPr>
              <a:t>After a revision the window resets, and a second stall ends the run with the same terminal status the loop had.</a:t>
            </a:r>
          </a:p>
        </p:txBody>
      </p:sp>
      <p:sp>
        <p:nvSpPr>
          <p:cNvPr id="4" name="Rectangle 3"/>
          <p:cNvSpPr/>
          <p:nvPr/>
        </p:nvSpPr>
        <p:spPr>
          <a:xfrm>
            <a:off x="319251" y="401384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never writes the field that decides whether its own plan is still working.</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942712601"/>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709026688"/>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1888761" y="3971648"/>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chemeClr val="tx2"/>
                </a:solidFill>
              </a:rPr>
              <a:t>The model now writes down what it is </a:t>
            </a:r>
            <a:r>
              <a:rPr sz="1200" b="1">
                <a:solidFill>
                  <a:schemeClr val="tx2"/>
                </a:solidFill>
              </a:rPr>
              <a:t>aiming at</a:t>
            </a:r>
            <a:r>
              <a:rPr sz="1200">
                <a:solidFill>
                  <a:schemeClr val="tx2"/>
                </a:solidFill>
              </a:rPr>
              <a:t>, and a turn can be measured against it.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one plan step records</a:t>
            </a:r>
          </a:p>
        </p:txBody>
      </p:sp>
      <p:sp>
        <p:nvSpPr>
          <p:cNvPr id="3" name="Content Placeholder 2"/>
          <p:cNvSpPr>
            <a:spLocks noGrp="1"/>
          </p:cNvSpPr>
          <p:nvPr>
            <p:ph idx="1"/>
          </p:nvPr>
        </p:nvSpPr>
        <p:spPr>
          <a:xfrm>
            <a:off x="319251" y="2010000"/>
            <a:ext cx="6014545" cy="1728976"/>
          </a:xfrm>
        </p:spPr>
        <p:txBody>
          <a:bodyPr wrap="square"/>
          <a:lstStyle/>
          <a:p>
            <a:pPr marL="0" indent="0">
              <a:buNone/>
            </a:pPr>
            <a:r>
              <a:rPr sz="1400" b="1">
                <a:solidFill>
                  <a:srgbClr val="28285E"/>
                </a:solidFill>
              </a:rPr>
              <a:t>Two things about that record are deliberate:</a:t>
            </a:r>
          </a:p>
          <a:p>
            <a:pPr marL="400050" indent="-285750">
              <a:spcBef>
                <a:spcPts val="600"/>
              </a:spcBef>
              <a:spcAft>
                <a:spcPts val="600"/>
              </a:spcAft>
              <a:buClr>
                <a:srgbClr val="28285E"/>
              </a:buClr>
              <a:buSzPts val="1260"/>
              <a:buFont typeface="Fira Sans"/>
              <a:buChar char="●"/>
            </a:pPr>
            <a:r>
              <a:rPr sz="1400" b="1">
                <a:solidFill>
                  <a:schemeClr val="tx1"/>
                </a:solidFill>
              </a:rPr>
              <a:t>The goal is what to do. </a:t>
            </a:r>
            <a:r>
              <a:rPr sz="1400">
                <a:solidFill>
                  <a:schemeClr val="tx1"/>
                </a:solidFill>
              </a:rPr>
              <a:t>The evidence is what would show it was done, which is the part the loop had nowhere to put.</a:t>
            </a:r>
          </a:p>
          <a:p>
            <a:pPr marL="400050" indent="-285750">
              <a:spcBef>
                <a:spcPts val="600"/>
              </a:spcBef>
              <a:spcAft>
                <a:spcPts val="600"/>
              </a:spcAft>
              <a:buClr>
                <a:srgbClr val="28285E"/>
              </a:buClr>
              <a:buSzPts val="1260"/>
              <a:buFont typeface="Fira Sans"/>
              <a:buChar char="●"/>
            </a:pPr>
            <a:r>
              <a:rPr sz="1400" b="1">
                <a:solidFill>
                  <a:schemeClr val="tx1"/>
                </a:solidFill>
              </a:rPr>
              <a:t>It arrives as input. </a:t>
            </a:r>
            <a:r>
              <a:rPr sz="1400">
                <a:solidFill>
                  <a:schemeClr val="tx1"/>
                </a:solidFill>
              </a:rPr>
              <a:t>The plan reaches the executor as a human message, so the executor never looks like it planned its own work.</a:t>
            </a:r>
          </a:p>
        </p:txBody>
      </p:sp>
      <p:sp>
        <p:nvSpPr>
          <p:cNvPr id="4" name="TextBox 3"/>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one step, as the planner returns it</a:t>
            </a:r>
          </a:p>
        </p:txBody>
      </p:sp>
      <p:sp>
        <p:nvSpPr>
          <p:cNvPr id="5" name="Rounded Rectangle 4"/>
          <p:cNvSpPr/>
          <p:nvPr/>
        </p:nvSpPr>
        <p:spPr>
          <a:xfrm>
            <a:off x="319251" y="102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{"id": 2, </a:t>
            </a:r>
            <a:r>
              <a:rPr sz="1100" b="1" dirty="0">
                <a:solidFill>
                  <a:schemeClr val="accent4"/>
                </a:solidFill>
                <a:latin typeface="Maple Mono NF"/>
              </a:rPr>
              <a:t>"goal"</a:t>
            </a:r>
            <a:r>
              <a:rPr sz="1100" dirty="0">
                <a:solidFill>
                  <a:srgbClr val="28285E"/>
                </a:solidFill>
                <a:latin typeface="Maple Mono NF"/>
              </a:rPr>
              <a:t>: "read the helper the flagged line calls",</a:t>
            </a:r>
          </a:p>
          <a:p>
            <a:pPr algn="l">
              <a:buNone/>
            </a:pPr>
            <a:r>
              <a:rPr sz="1100" dirty="0">
                <a:solidFill>
                  <a:srgbClr val="28285E"/>
                </a:solidFill>
                <a:latin typeface="Maple Mono NF"/>
              </a:rPr>
              <a:t>  </a:t>
            </a:r>
            <a:r>
              <a:rPr sz="1100" b="1" dirty="0">
                <a:solidFill>
                  <a:schemeClr val="accent4"/>
                </a:solidFill>
                <a:latin typeface="Maple Mono NF"/>
              </a:rPr>
              <a:t>"evidence"</a:t>
            </a:r>
            <a:r>
              <a:rPr sz="1100" dirty="0">
                <a:solidFill>
                  <a:srgbClr val="28285E"/>
                </a:solidFill>
                <a:latin typeface="Maple Mono NF"/>
              </a:rPr>
              <a:t>: "the value that reaches line 46"}</a:t>
            </a:r>
          </a:p>
        </p:txBody>
      </p:sp>
      <p:sp>
        <p:nvSpPr>
          <p:cNvPr id="6" name="Rectangle 5"/>
          <p:cNvSpPr/>
          <p:nvPr/>
        </p:nvSpPr>
        <p:spPr>
          <a:xfrm>
            <a:off x="319251" y="39289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planner that fails to plan returns no steps, and the run continues without one. It cannot end the run.</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a run goes wrong</a:t>
            </a:r>
          </a:p>
        </p:txBody>
      </p:sp>
      <p:graphicFrame>
        <p:nvGraphicFramePr>
          <p:cNvPr id="3" name="Table 2"/>
          <p:cNvGraphicFramePr>
            <a:graphicFrameLocks noGrp="1"/>
          </p:cNvGraphicFramePr>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a:solidFill>
                            <a:srgbClr val="28285E"/>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p:cNvSpPr/>
          <p:nvPr/>
        </p:nvSpPr>
        <p:spPr>
          <a:xfrm>
            <a:off x="319251" y="505326"/>
            <a:ext cx="6014545" cy="104467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All four pick the next action, and differ only in what they score it against: </a:t>
            </a:r>
            <a:r>
              <a:rPr sz="1400" b="1" dirty="0">
                <a:solidFill>
                  <a:schemeClr val="tx2"/>
                </a:solidFill>
              </a:rPr>
              <a:t>the step itself</a:t>
            </a:r>
            <a:r>
              <a:rPr sz="1400" b="0" dirty="0">
                <a:solidFill>
                  <a:schemeClr val="tx2"/>
                </a:solidFill>
              </a:rPr>
              <a:t>, the same step with more candidates, </a:t>
            </a:r>
            <a:r>
              <a:rPr sz="1400" b="1" dirty="0">
                <a:solidFill>
                  <a:schemeClr val="tx2"/>
                </a:solidFill>
              </a:rPr>
              <a:t>the futures it leads to</a:t>
            </a:r>
            <a:r>
              <a:rPr sz="1400" b="0" dirty="0">
                <a:solidFill>
                  <a:schemeClr val="tx2"/>
                </a:solidFill>
              </a:rPr>
              <a:t>, or those futures fed back to revise the choice that led there.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F624-635C-176E-2827-44177171D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1A694-8F73-5DF6-82DB-43130EE70C59}"/>
              </a:ext>
            </a:extLst>
          </p:cNvPr>
          <p:cNvSpPr>
            <a:spLocks noGrp="1"/>
          </p:cNvSpPr>
          <p:nvPr>
            <p:ph type="title"/>
          </p:nvPr>
        </p:nvSpPr>
        <p:spPr/>
        <p:txBody>
          <a:bodyPr/>
          <a:lstStyle/>
          <a:p>
            <a:r>
              <a:rPr dirty="0"/>
              <a:t>Where a run goes wrong</a:t>
            </a:r>
          </a:p>
        </p:txBody>
      </p:sp>
      <p:graphicFrame>
        <p:nvGraphicFramePr>
          <p:cNvPr id="3" name="Table 2">
            <a:extLst>
              <a:ext uri="{FF2B5EF4-FFF2-40B4-BE49-F238E27FC236}">
                <a16:creationId xmlns:a16="http://schemas.microsoft.com/office/drawing/2014/main" id="{1D6D0EDA-2DC4-9975-FB7A-A7EFCE922DCA}"/>
              </a:ext>
            </a:extLst>
          </p:cNvPr>
          <p:cNvGraphicFramePr>
            <a:graphicFrameLocks noGrp="1"/>
          </p:cNvGraphicFramePr>
          <p:nvPr>
            <p:extLst>
              <p:ext uri="{D42A27DB-BD31-4B8C-83A1-F6EECF244321}">
                <p14:modId xmlns:p14="http://schemas.microsoft.com/office/powerpoint/2010/main" val="592902914"/>
              </p:ext>
            </p:extLst>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dirty="0">
                          <a:solidFill>
                            <a:schemeClr val="accent4"/>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dirty="0">
                          <a:solidFill>
                            <a:schemeClr val="accent4"/>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018C3B7-624A-0171-9291-1106C147C651}"/>
              </a:ext>
            </a:extLst>
          </p:cNvPr>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a:extLst>
              <a:ext uri="{FF2B5EF4-FFF2-40B4-BE49-F238E27FC236}">
                <a16:creationId xmlns:a16="http://schemas.microsoft.com/office/drawing/2014/main" id="{8C5AF8AC-0C2A-E0CF-9DD7-D7F19410D774}"/>
              </a:ext>
            </a:extLst>
          </p:cNvPr>
          <p:cNvSpPr/>
          <p:nvPr/>
        </p:nvSpPr>
        <p:spPr>
          <a:xfrm>
            <a:off x="1888761" y="3790000"/>
            <a:ext cx="4445035" cy="51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Lookahead with value propagation cuts the first-move dead end to a third, gets </a:t>
            </a:r>
            <a:r>
              <a:rPr sz="1200" b="1">
                <a:solidFill>
                  <a:schemeClr val="tx2"/>
                </a:solidFill>
              </a:rPr>
              <a:t>twice as far</a:t>
            </a:r>
            <a:r>
              <a:rPr sz="1200" b="0">
                <a:solidFill>
                  <a:schemeClr val="tx2"/>
                </a:solidFill>
              </a:rPr>
              <a:t> before the first error, and makes recovery </a:t>
            </a:r>
            <a:r>
              <a:rPr sz="1200" b="1">
                <a:solidFill>
                  <a:schemeClr val="tx2"/>
                </a:solidFill>
              </a:rPr>
              <a:t>five times</a:t>
            </a:r>
            <a:r>
              <a:rPr sz="1200" b="0">
                <a:solidFill>
                  <a:schemeClr val="tx2"/>
                </a:solidFill>
              </a:rPr>
              <a:t> more likely.</a:t>
            </a:r>
          </a:p>
        </p:txBody>
      </p:sp>
      <p:sp>
        <p:nvSpPr>
          <p:cNvPr id="6" name="Rectangle 5"/>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extLst>
      <p:ext uri="{BB962C8B-B14F-4D97-AF65-F5344CB8AC3E}">
        <p14:creationId xmlns:p14="http://schemas.microsoft.com/office/powerpoint/2010/main" val="23969862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wider search does not fix myopia</a:t>
            </a:r>
          </a:p>
        </p:txBody>
      </p:sp>
      <p:sp>
        <p:nvSpPr>
          <p:cNvPr id="3" name="Content Placeholder 2"/>
          <p:cNvSpPr>
            <a:spLocks noGrp="1"/>
          </p:cNvSpPr>
          <p:nvPr>
            <p:ph idx="1"/>
          </p:nvPr>
        </p:nvSpPr>
        <p:spPr>
          <a:xfrm>
            <a:off x="319251" y="1620000"/>
            <a:ext cx="6014545" cy="1900000"/>
          </a:xfrm>
        </p:spPr>
        <p:txBody>
          <a:bodyPr wrap="square">
            <a:normAutofit fontScale="92500" lnSpcReduction="20000"/>
          </a:bodyPr>
          <a:lstStyle/>
          <a:p>
            <a:pPr marL="0" indent="0">
              <a:buNone/>
            </a:pPr>
            <a:r>
              <a:rPr sz="1400" b="1" dirty="0">
                <a:solidFill>
                  <a:srgbClr val="28285E"/>
                </a:solidFill>
              </a:rPr>
              <a:t>The reason is worth carrying into your own agent:</a:t>
            </a:r>
          </a:p>
          <a:p>
            <a:pPr marL="400050" indent="-285750">
              <a:spcBef>
                <a:spcPts val="600"/>
              </a:spcBef>
              <a:spcAft>
                <a:spcPts val="600"/>
              </a:spcAft>
              <a:buClr>
                <a:srgbClr val="28285E"/>
              </a:buClr>
              <a:buSzPts val="1260"/>
              <a:buFont typeface="Fira Sans"/>
              <a:buChar char="●"/>
            </a:pPr>
            <a:r>
              <a:rPr sz="1400" b="1" dirty="0">
                <a:solidFill>
                  <a:schemeClr val="tx1"/>
                </a:solidFill>
              </a:rPr>
              <a:t>The score is the problem. </a:t>
            </a:r>
            <a:r>
              <a:rPr sz="1400" dirty="0">
                <a:solidFill>
                  <a:schemeClr val="tx1"/>
                </a:solidFill>
              </a:rPr>
              <a:t>Beam search </a:t>
            </a:r>
            <a:r>
              <a:rPr sz="1400" b="1" dirty="0">
                <a:solidFill>
                  <a:schemeClr val="tx1"/>
                </a:solidFill>
              </a:rPr>
              <a:t>ranks</a:t>
            </a:r>
            <a:r>
              <a:rPr sz="1400" dirty="0">
                <a:solidFill>
                  <a:schemeClr val="tx1"/>
                </a:solidFill>
              </a:rPr>
              <a:t> more candidates, but it ranks them </a:t>
            </a:r>
            <a:r>
              <a:rPr sz="1400" b="1" dirty="0">
                <a:solidFill>
                  <a:schemeClr val="tx1"/>
                </a:solidFill>
              </a:rPr>
              <a:t>with the same next-step plausibility </a:t>
            </a:r>
            <a:r>
              <a:rPr sz="1400" dirty="0">
                <a:solidFill>
                  <a:schemeClr val="tx1"/>
                </a:solidFill>
              </a:rPr>
              <a:t>that misled the single-step run.</a:t>
            </a:r>
          </a:p>
          <a:p>
            <a:pPr marL="400050" indent="-285750">
              <a:spcBef>
                <a:spcPts val="600"/>
              </a:spcBef>
              <a:spcAft>
                <a:spcPts val="600"/>
              </a:spcAft>
              <a:buClr>
                <a:srgbClr val="28285E"/>
              </a:buClr>
              <a:buSzPts val="1260"/>
              <a:buFont typeface="Fira Sans"/>
              <a:buChar char="●"/>
            </a:pPr>
            <a:r>
              <a:rPr sz="1400" b="1" dirty="0">
                <a:solidFill>
                  <a:schemeClr val="tx1"/>
                </a:solidFill>
              </a:rPr>
              <a:t>The fix</a:t>
            </a:r>
            <a:r>
              <a:rPr lang="en-US" sz="1400" b="1" dirty="0">
                <a:solidFill>
                  <a:schemeClr val="tx1"/>
                </a:solidFill>
              </a:rPr>
              <a:t>: choose</a:t>
            </a:r>
            <a:r>
              <a:rPr sz="1400" b="1" dirty="0">
                <a:solidFill>
                  <a:schemeClr val="tx1"/>
                </a:solidFill>
              </a:rPr>
              <a:t> what you score with</a:t>
            </a:r>
            <a:r>
              <a:rPr lang="en-US" sz="1400" b="1" dirty="0">
                <a:solidFill>
                  <a:schemeClr val="tx1"/>
                </a:solidFill>
              </a:rPr>
              <a:t> wisely</a:t>
            </a:r>
            <a:r>
              <a:rPr sz="1400" b="1" dirty="0">
                <a:solidFill>
                  <a:schemeClr val="tx1"/>
                </a:solidFill>
              </a:rPr>
              <a:t>. </a:t>
            </a:r>
            <a:r>
              <a:rPr sz="1400" dirty="0">
                <a:solidFill>
                  <a:schemeClr val="tx1"/>
                </a:solidFill>
              </a:rPr>
              <a:t>What moved every column in that table was </a:t>
            </a:r>
            <a:r>
              <a:rPr sz="1400" b="1" dirty="0">
                <a:solidFill>
                  <a:schemeClr val="tx1"/>
                </a:solidFill>
              </a:rPr>
              <a:t>evaluating an action by what follows it rather than by how good it looks now</a:t>
            </a:r>
            <a:r>
              <a:rPr sz="1400" dirty="0">
                <a:solidFill>
                  <a:schemeClr val="tx1"/>
                </a:solidFill>
              </a:rPr>
              <a:t>.</a:t>
            </a:r>
          </a:p>
        </p:txBody>
      </p:sp>
      <p:sp>
        <p:nvSpPr>
          <p:cNvPr id="4" name="Rectangle 3"/>
          <p:cNvSpPr/>
          <p:nvPr/>
        </p:nvSpPr>
        <p:spPr>
          <a:xfrm>
            <a:off x="319251" y="75632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Beam search explores more branches than choosing one step at a time, and it walks into the first-move trap </a:t>
            </a:r>
            <a:r>
              <a:rPr sz="1400" b="1">
                <a:solidFill>
                  <a:schemeClr val="tx2"/>
                </a:solidFill>
              </a:rPr>
              <a:t>more often</a:t>
            </a:r>
            <a:r>
              <a:rPr sz="1400">
                <a:solidFill>
                  <a:schemeClr val="tx2"/>
                </a:solidFill>
              </a:rPr>
              <a:t>.</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accent4"/>
                </a:solidFill>
              </a:rPr>
              <a:t>When your agent stalls, look at </a:t>
            </a:r>
            <a:r>
              <a:rPr sz="1200" b="1">
                <a:solidFill>
                  <a:schemeClr val="accent4"/>
                </a:solidFill>
              </a:rPr>
              <a:t>what it is scoring</a:t>
            </a:r>
            <a:r>
              <a:rPr sz="1200" b="0">
                <a:solidFill>
                  <a:schemeClr val="accent4"/>
                </a:solidFill>
              </a:rPr>
              <a:t> before you look at how much it is searching.</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submit can no longer accept a patch</a:t>
            </a:r>
          </a:p>
        </p:txBody>
      </p:sp>
      <p:sp>
        <p:nvSpPr>
          <p:cNvPr id="3" name="Content Placeholder 2"/>
          <p:cNvSpPr>
            <a:spLocks noGrp="1"/>
          </p:cNvSpPr>
          <p:nvPr>
            <p:ph idx="1"/>
          </p:nvPr>
        </p:nvSpPr>
        <p:spPr>
          <a:xfrm>
            <a:off x="319251" y="2670000"/>
            <a:ext cx="6014545" cy="1858038"/>
          </a:xfrm>
        </p:spPr>
        <p:txBody>
          <a:bodyPr wrap="square">
            <a:normAutofit lnSpcReduction="10000"/>
          </a:bodyPr>
          <a:lstStyle/>
          <a:p>
            <a:pPr marL="0" indent="0">
              <a:buNone/>
            </a:pPr>
            <a:r>
              <a:rPr sz="1400" b="1" dirty="0">
                <a:solidFill>
                  <a:srgbClr val="28285E"/>
                </a:solidFill>
              </a:rPr>
              <a:t>So the three checks and the validator are not alternatives:</a:t>
            </a:r>
          </a:p>
          <a:p>
            <a:pPr marL="400050" indent="-285750">
              <a:spcBef>
                <a:spcPts val="600"/>
              </a:spcBef>
              <a:spcAft>
                <a:spcPts val="600"/>
              </a:spcAft>
              <a:buClr>
                <a:srgbClr val="28285E"/>
              </a:buClr>
              <a:buSzPts val="1260"/>
              <a:buFont typeface="Fira Sans"/>
              <a:buChar char="●"/>
            </a:pPr>
            <a:r>
              <a:rPr sz="1400" b="1" dirty="0">
                <a:solidFill>
                  <a:schemeClr val="tx1"/>
                </a:solidFill>
              </a:rPr>
              <a:t>The checks are a gate. </a:t>
            </a:r>
            <a:r>
              <a:rPr sz="1400" dirty="0">
                <a:solidFill>
                  <a:schemeClr val="tx1"/>
                </a:solidFill>
              </a:rPr>
              <a:t>A patch that fails them never reaches the judge; it goes back to the controller with the reasons.</a:t>
            </a:r>
          </a:p>
          <a:p>
            <a:pPr marL="400050" indent="-285750">
              <a:spcBef>
                <a:spcPts val="600"/>
              </a:spcBef>
              <a:spcAft>
                <a:spcPts val="600"/>
              </a:spcAft>
              <a:buClr>
                <a:srgbClr val="28285E"/>
              </a:buClr>
              <a:buSzPts val="1260"/>
              <a:buFont typeface="Fira Sans"/>
              <a:buChar char="●"/>
            </a:pPr>
            <a:r>
              <a:rPr sz="1400" b="1" dirty="0">
                <a:solidFill>
                  <a:schemeClr val="tx1"/>
                </a:solidFill>
              </a:rPr>
              <a:t>The validator is the only exit. </a:t>
            </a:r>
            <a:r>
              <a:rPr sz="1400" dirty="0">
                <a:solidFill>
                  <a:schemeClr val="tx1"/>
                </a:solidFill>
              </a:rPr>
              <a:t>It is the one node that can end a run accepted, and it is handed a patch that has already passed everything mechanical.</a:t>
            </a:r>
          </a:p>
        </p:txBody>
      </p:sp>
      <p:sp>
        <p:nvSpPr>
          <p:cNvPr id="4" name="Rectangle 3"/>
          <p:cNvSpPr/>
          <p:nvPr/>
        </p:nvSpPr>
        <p:spPr>
          <a:xfrm>
            <a:off x="319251" y="699999"/>
            <a:ext cx="6014545" cy="768315"/>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Acceptance is decoupled from the controller already, because </a:t>
            </a:r>
            <a:r>
              <a:rPr sz="1400" b="1" u="sng" dirty="0">
                <a:latin typeface="Maple Mono NF"/>
              </a:rPr>
              <a:t>submit</a:t>
            </a:r>
            <a:r>
              <a:rPr sz="1400" b="1" u="sng" dirty="0">
                <a:solidFill>
                  <a:schemeClr val="tx2"/>
                </a:solidFill>
              </a:rPr>
              <a:t> runs three mechanical checks</a:t>
            </a:r>
            <a:r>
              <a:rPr sz="1400" dirty="0">
                <a:solidFill>
                  <a:schemeClr val="tx2"/>
                </a:solidFill>
              </a:rPr>
              <a:t> that no model writes. What changes here is that </a:t>
            </a:r>
            <a:r>
              <a:rPr sz="1400" b="1" u="sng" dirty="0">
                <a:latin typeface="Maple Mono NF"/>
              </a:rPr>
              <a:t>submit</a:t>
            </a:r>
            <a:r>
              <a:rPr sz="1400" b="1" u="sng" dirty="0">
                <a:solidFill>
                  <a:schemeClr val="tx2"/>
                </a:solidFill>
              </a:rPr>
              <a:t> can no longer accept</a:t>
            </a:r>
            <a:r>
              <a:rPr sz="1400" dirty="0">
                <a:solidFill>
                  <a:schemeClr val="tx2"/>
                </a:solidFill>
              </a:rPr>
              <a:t>.</a:t>
            </a:r>
          </a:p>
        </p:txBody>
      </p:sp>
      <p:sp>
        <p:nvSpPr>
          <p:cNvPr id="5" name="TextBox 4"/>
          <p:cNvSpPr txBox="1"/>
          <p:nvPr/>
        </p:nvSpPr>
        <p:spPr>
          <a:xfrm>
            <a:off x="319251" y="1660000"/>
            <a:ext cx="6014545" cy="200000"/>
          </a:xfrm>
          <a:prstGeom prst="rect">
            <a:avLst/>
          </a:prstGeom>
          <a:noFill/>
        </p:spPr>
        <p:txBody>
          <a:bodyPr wrap="none">
            <a:spAutoFit/>
          </a:bodyPr>
          <a:lstStyle/>
          <a:p>
            <a:r>
              <a:rPr sz="1200" b="1">
                <a:solidFill>
                  <a:srgbClr val="28285E"/>
                </a:solidFill>
                <a:latin typeface="Maple Mono NF"/>
              </a:rPr>
              <a:t>graph.py, after_submit</a:t>
            </a:r>
          </a:p>
        </p:txBody>
      </p:sp>
      <p:sp>
        <p:nvSpPr>
          <p:cNvPr id="6" name="Rounded Rectangle 5"/>
          <p:cNvSpPr/>
          <p:nvPr/>
        </p:nvSpPr>
        <p:spPr>
          <a:xfrm>
            <a:off x="319251" y="192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return </a:t>
            </a:r>
            <a:r>
              <a:rPr sz="1100" b="1">
                <a:solidFill>
                  <a:srgbClr val="099191"/>
                </a:solidFill>
                <a:latin typeface="Maple Mono NF"/>
              </a:rPr>
              <a:t>"validate"</a:t>
            </a:r>
            <a:r>
              <a:rPr sz="1100">
                <a:solidFill>
                  <a:srgbClr val="28285E"/>
                </a:solidFill>
                <a:latin typeface="Maple Mono NF"/>
              </a:rPr>
              <a:t> if checks.passed else "controller"</a:t>
            </a:r>
          </a:p>
        </p:txBody>
      </p:sp>
      <p:sp>
        <p:nvSpPr>
          <p:cNvPr id="7" name="TextBox 6">
            <a:extLst>
              <a:ext uri="{FF2B5EF4-FFF2-40B4-BE49-F238E27FC236}">
                <a16:creationId xmlns:a16="http://schemas.microsoft.com/office/drawing/2014/main" id="{DE89E9DB-2438-B99D-A84A-A2191191E2AA}"/>
              </a:ext>
            </a:extLst>
          </p:cNvPr>
          <p:cNvSpPr txBox="1"/>
          <p:nvPr/>
        </p:nvSpPr>
        <p:spPr>
          <a:xfrm>
            <a:off x="2031023" y="4826977"/>
            <a:ext cx="4700326" cy="307777"/>
          </a:xfrm>
          <a:prstGeom prst="rect">
            <a:avLst/>
          </a:prstGeom>
          <a:noFill/>
        </p:spPr>
        <p:txBody>
          <a:bodyPr wrap="none" rtlCol="0">
            <a:spAutoFit/>
          </a:bodyPr>
          <a:lstStyle/>
          <a:p>
            <a:r>
              <a:rPr lang="en-US" dirty="0">
                <a:latin typeface="+mn-lt"/>
              </a:rPr>
              <a:t>See: lec2_planning_and_validation_agent/graph.py:433</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validator never sees the conversation</a:t>
            </a:r>
          </a:p>
        </p:txBody>
      </p:sp>
      <p:sp>
        <p:nvSpPr>
          <p:cNvPr id="3" name="Content Placeholder 2"/>
          <p:cNvSpPr>
            <a:spLocks noGrp="1"/>
          </p:cNvSpPr>
          <p:nvPr>
            <p:ph idx="1"/>
          </p:nvPr>
        </p:nvSpPr>
        <p:spPr>
          <a:xfrm>
            <a:off x="319251" y="760000"/>
            <a:ext cx="6014545" cy="2400000"/>
          </a:xfrm>
        </p:spPr>
        <p:txBody>
          <a:bodyPr wrap="square">
            <a:normAutofit fontScale="92500"/>
          </a:bodyPr>
          <a:lstStyle/>
          <a:p>
            <a:pPr marL="0" indent="0">
              <a:buNone/>
            </a:pPr>
            <a:r>
              <a:rPr sz="1400" b="1" dirty="0">
                <a:solidFill>
                  <a:srgbClr val="28285E"/>
                </a:solidFill>
              </a:rPr>
              <a:t>The validator sees four things</a:t>
            </a:r>
            <a:r>
              <a:rPr lang="en-US" sz="1400" b="1" dirty="0">
                <a:solidFill>
                  <a:srgbClr val="28285E"/>
                </a:solidFill>
              </a:rPr>
              <a:t>:</a:t>
            </a:r>
          </a:p>
          <a:p>
            <a:pPr marL="400050" indent="-285750">
              <a:spcBef>
                <a:spcPts val="600"/>
              </a:spcBef>
              <a:spcAft>
                <a:spcPts val="600"/>
              </a:spcAft>
              <a:buClr>
                <a:srgbClr val="28285E"/>
              </a:buClr>
              <a:buSzPts val="1260"/>
              <a:buFont typeface="Fira Sans"/>
              <a:buChar char="●"/>
            </a:pPr>
            <a:r>
              <a:rPr lang="en-US" sz="1400" b="1" dirty="0">
                <a:solidFill>
                  <a:schemeClr val="tx1"/>
                </a:solidFill>
              </a:rPr>
              <a:t>It reads the alert, the patch, and the three check results. </a:t>
            </a:r>
            <a:r>
              <a:rPr lang="en-US" sz="1400" dirty="0">
                <a:solidFill>
                  <a:schemeClr val="tx1"/>
                </a:solidFill>
              </a:rPr>
              <a:t>Those are what a reviewer would be given.</a:t>
            </a:r>
          </a:p>
          <a:p>
            <a:pPr marL="400050" indent="-285750">
              <a:spcBef>
                <a:spcPts val="600"/>
              </a:spcBef>
              <a:spcAft>
                <a:spcPts val="600"/>
              </a:spcAft>
              <a:buClr>
                <a:srgbClr val="28285E"/>
              </a:buClr>
              <a:buSzPts val="1260"/>
              <a:buFont typeface="Fira Sans"/>
              <a:buChar char="●"/>
            </a:pPr>
            <a:r>
              <a:rPr sz="1400" b="1" dirty="0">
                <a:solidFill>
                  <a:schemeClr val="tx1"/>
                </a:solidFill>
              </a:rPr>
              <a:t>It reads the observations. </a:t>
            </a:r>
            <a:r>
              <a:rPr sz="1400" dirty="0">
                <a:solidFill>
                  <a:schemeClr val="tx1"/>
                </a:solidFill>
              </a:rPr>
              <a:t>That is the trajectory the runtime recorded: what the tools actually returned.</a:t>
            </a:r>
          </a:p>
          <a:p>
            <a:pPr marL="400050" indent="-285750">
              <a:spcBef>
                <a:spcPts val="600"/>
              </a:spcBef>
              <a:spcAft>
                <a:spcPts val="600"/>
              </a:spcAft>
              <a:buClr>
                <a:srgbClr val="28285E"/>
              </a:buClr>
              <a:buSzPts val="1260"/>
              <a:buFont typeface="Fira Sans"/>
              <a:buChar char="●"/>
            </a:pPr>
            <a:r>
              <a:rPr sz="1400" b="1" dirty="0">
                <a:solidFill>
                  <a:schemeClr val="tx1"/>
                </a:solidFill>
              </a:rPr>
              <a:t>It never reads the messages. </a:t>
            </a:r>
            <a:r>
              <a:rPr sz="1400" dirty="0">
                <a:solidFill>
                  <a:schemeClr val="tx1"/>
                </a:solidFill>
              </a:rPr>
              <a:t>The conversation is what </a:t>
            </a:r>
            <a:r>
              <a:rPr sz="1400" b="1" dirty="0">
                <a:solidFill>
                  <a:schemeClr val="tx1"/>
                </a:solidFill>
              </a:rPr>
              <a:t>the model said about the evidence, and it is kept away from the judge on purpose</a:t>
            </a:r>
            <a:r>
              <a:rPr sz="1400" dirty="0">
                <a:solidFill>
                  <a:schemeClr val="tx1"/>
                </a:solidFill>
              </a:rPr>
              <a:t>.</a:t>
            </a:r>
          </a:p>
        </p:txBody>
      </p:sp>
      <p:sp>
        <p:nvSpPr>
          <p:cNvPr id="4" name="Rectangle 3"/>
          <p:cNvSpPr/>
          <p:nvPr/>
        </p:nvSpPr>
        <p:spPr>
          <a:xfrm>
            <a:off x="319251" y="34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rgbClr val="28285E"/>
                </a:solidFill>
              </a:rPr>
              <a:t>A judge </a:t>
            </a:r>
            <a:r>
              <a:rPr lang="en-US" sz="1200" b="0" dirty="0">
                <a:solidFill>
                  <a:srgbClr val="28285E"/>
                </a:solidFill>
              </a:rPr>
              <a:t>shouldn't take the </a:t>
            </a:r>
            <a:r>
              <a:rPr sz="1200" b="0" dirty="0">
                <a:solidFill>
                  <a:srgbClr val="28285E"/>
                </a:solidFill>
              </a:rPr>
              <a:t>defendant's account of the evidence.</a:t>
            </a:r>
            <a:r>
              <a:rPr lang="en-US" sz="1200" b="0" dirty="0">
                <a:solidFill>
                  <a:srgbClr val="28285E"/>
                </a:solidFill>
              </a:rPr>
              <a:t> So the judge judges impartially.</a:t>
            </a:r>
            <a:endParaRPr sz="1200" b="0" dirty="0">
              <a:solidFill>
                <a:srgbClr val="28285E"/>
              </a:solidFill>
            </a:endParaRPr>
          </a:p>
        </p:txBody>
      </p:sp>
      <p:sp>
        <p:nvSpPr>
          <p:cNvPr id="5" name="TextBox 4"/>
          <p:cNvSpPr txBox="1"/>
          <p:nvPr/>
        </p:nvSpPr>
        <p:spPr>
          <a:xfrm>
            <a:off x="2433796" y="3980000"/>
            <a:ext cx="3900000" cy="253916"/>
          </a:xfrm>
          <a:prstGeom prst="rect">
            <a:avLst/>
          </a:prstGeom>
          <a:noFill/>
        </p:spPr>
        <p:txBody>
          <a:bodyPr wrap="none">
            <a:spAutoFit/>
          </a:bodyPr>
          <a:lstStyle/>
          <a:p>
            <a:pPr algn="r"/>
            <a:r>
              <a:rPr sz="1050" i="1">
                <a:solidFill>
                  <a:schemeClr val="bg2"/>
                </a:solidFill>
              </a:rPr>
              <a:t>the demo's own comment, graph.py</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Self-review, measured: accuracy and cost</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done</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Accuracy</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Model calls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call,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95.5%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reviews itself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The model reviews itself twice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89.0%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3, Huang et al., ICLR 2024: GPT-4 on a grade-school maths benchmark</a:t>
            </a:r>
          </a:p>
        </p:txBody>
      </p:sp>
      <p:sp>
        <p:nvSpPr>
          <p:cNvPr id="5" name="Rectangle 4"/>
          <p:cNvSpPr/>
          <p:nvPr/>
        </p:nvSpPr>
        <p:spPr>
          <a:xfrm>
            <a:off x="1888761" y="387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Accuracy fell and the bill went up </a:t>
            </a:r>
            <a:r>
              <a:rPr sz="1200" b="1">
                <a:solidFill>
                  <a:schemeClr val="tx2"/>
                </a:solidFill>
              </a:rPr>
              <a:t>five times over</a:t>
            </a:r>
            <a:r>
              <a:rPr sz="1200" b="0">
                <a:solidFill>
                  <a:schemeClr val="tx2"/>
                </a:solidFill>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verifier against sound verifier</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good enough</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Graph colouring</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Game of 24</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attempt,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that produced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 verifier that is always right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1, Stechly et al., ICLR 2025: 100 instances per domain</a:t>
            </a:r>
          </a:p>
        </p:txBody>
      </p:sp>
      <p:sp>
        <p:nvSpPr>
          <p:cNvPr id="5" name="Rectangle 4"/>
          <p:cNvSpPr/>
          <p:nvPr/>
        </p:nvSpPr>
        <p:spPr>
          <a:xfrm>
            <a:off x="1888761" y="3500000"/>
            <a:ext cx="4445035" cy="6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Our rescan is a program, but it is </a:t>
            </a:r>
            <a:r>
              <a:rPr sz="1200" b="1">
                <a:solidFill>
                  <a:schemeClr val="tx2"/>
                </a:solidFill>
              </a:rPr>
              <a:t>not always right</a:t>
            </a:r>
            <a:r>
              <a:rPr sz="1200" b="0">
                <a:solidFill>
                  <a:schemeClr val="tx2"/>
                </a:solidFill>
              </a:rPr>
              <a:t>: a renamed expression clears the alert and leaves the weakness.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1ADF80B-7760-E8FB-27A4-8FA61C67B0C0}"/>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42753606-7DA5-3B93-2A10-21A44692EB1E}"/>
              </a:ext>
            </a:extLst>
          </p:cNvPr>
          <p:cNvCxnSpPr>
            <a:cxnSpLocks/>
            <a:endCxn id="24" idx="4"/>
          </p:cNvCxnSpPr>
          <p:nvPr/>
        </p:nvCxnSpPr>
        <p:spPr>
          <a:xfrm>
            <a:off x="1063835" y="1692899"/>
            <a:ext cx="0" cy="252172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C5AB6180-B2C0-6620-979A-52C40B6ACD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60CB921-728F-A446-8C1C-546C57F4CBD0}"/>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E3BF016-459A-24C6-B050-AE8044597EB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DED7274-D75A-E73F-11D5-069BAB8AE288}"/>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6487E64-7222-9E54-A7A5-CBA3665031D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24" name="Oval 23">
            <a:extLst>
              <a:ext uri="{FF2B5EF4-FFF2-40B4-BE49-F238E27FC236}">
                <a16:creationId xmlns:a16="http://schemas.microsoft.com/office/drawing/2014/main" id="{E626A101-791B-B009-DCAA-E366D2C056D7}"/>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FA11ABE-D67C-CCDE-BBBB-11DD0B6495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26" name="TextBox 25">
            <a:extLst>
              <a:ext uri="{FF2B5EF4-FFF2-40B4-BE49-F238E27FC236}">
                <a16:creationId xmlns:a16="http://schemas.microsoft.com/office/drawing/2014/main" id="{A36A84B3-D3CF-2513-EF38-FC451ED1EF6D}"/>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27" name="TextBox 26">
            <a:extLst>
              <a:ext uri="{FF2B5EF4-FFF2-40B4-BE49-F238E27FC236}">
                <a16:creationId xmlns:a16="http://schemas.microsoft.com/office/drawing/2014/main" id="{5B5EB560-45A9-1C8D-780D-C4FC21BC1E28}"/>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8" name="TextBox 27">
            <a:extLst>
              <a:ext uri="{FF2B5EF4-FFF2-40B4-BE49-F238E27FC236}">
                <a16:creationId xmlns:a16="http://schemas.microsoft.com/office/drawing/2014/main" id="{D524D944-496F-91C3-5E7B-7F7A73749A9B}"/>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04EF11E8-6279-1A00-191A-7DCBF4DBC516}"/>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2" name="Picture 1">
            <a:extLst>
              <a:ext uri="{FF2B5EF4-FFF2-40B4-BE49-F238E27FC236}">
                <a16:creationId xmlns:a16="http://schemas.microsoft.com/office/drawing/2014/main" id="{DF292C1C-C59D-6616-20DC-B840C60F644B}"/>
              </a:ext>
            </a:extLst>
          </p:cNvPr>
          <p:cNvPicPr>
            <a:picLocks noChangeAspect="1"/>
          </p:cNvPicPr>
          <p:nvPr/>
        </p:nvPicPr>
        <p:blipFill>
          <a:blip r:embed="rId3">
            <a:alphaModFix amt="70000"/>
          </a:blip>
          <a:stretch>
            <a:fillRect/>
          </a:stretch>
        </p:blipFill>
        <p:spPr>
          <a:xfrm>
            <a:off x="825474" y="1573834"/>
            <a:ext cx="5732295" cy="2403255"/>
          </a:xfrm>
          <a:prstGeom prst="rect">
            <a:avLst/>
          </a:prstGeom>
        </p:spPr>
      </p:pic>
    </p:spTree>
    <p:extLst>
      <p:ext uri="{BB962C8B-B14F-4D97-AF65-F5344CB8AC3E}">
        <p14:creationId xmlns:p14="http://schemas.microsoft.com/office/powerpoint/2010/main" val="10272148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Reason and act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Thought, action and observation repeat until an answer, a cap or an error. Orchestrated by </a:t>
            </a:r>
            <a:r>
              <a:rPr sz="1400" b="1">
                <a:solidFill>
                  <a:schemeClr val="tx2"/>
                </a:solidFill>
              </a:rPr>
              <a:t>the model, inside one agent</a:t>
            </a:r>
            <a:r>
              <a:rPr sz="1400" b="0">
                <a:solidFill>
                  <a:schemeClr val="tx2"/>
                </a:solidFill>
              </a:rPr>
              <a:t>.</a:t>
            </a:r>
          </a:p>
        </p:txBody>
      </p:sp>
      <p:pic>
        <p:nvPicPr>
          <p:cNvPr id="4" name="Picture 3" descr="gcp-react.png"/>
          <p:cNvPicPr>
            <a:picLocks noChangeAspect="1"/>
          </p:cNvPicPr>
          <p:nvPr/>
        </p:nvPicPr>
        <p:blipFill>
          <a:blip r:embed="rId3"/>
          <a:stretch>
            <a:fillRect/>
          </a:stretch>
        </p:blipFill>
        <p:spPr>
          <a:xfrm>
            <a:off x="250148" y="1684382"/>
            <a:ext cx="6152752" cy="170123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dynamic and the next move depends on what the last one returned.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one query would do: latency is higher and a misleading tool result reaches the answer.</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Sequential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Specialized agents run in a fixed linear order, each output feeding the next. Orchestrated by </a:t>
            </a:r>
            <a:r>
              <a:rPr sz="1400" b="1">
                <a:solidFill>
                  <a:schemeClr val="tx2"/>
                </a:solidFill>
              </a:rPr>
              <a:t>predefined logic</a:t>
            </a:r>
            <a:r>
              <a:rPr sz="1400" b="0">
                <a:solidFill>
                  <a:schemeClr val="tx2"/>
                </a:solidFill>
              </a:rPr>
              <a:t>.</a:t>
            </a:r>
          </a:p>
        </p:txBody>
      </p:sp>
      <p:pic>
        <p:nvPicPr>
          <p:cNvPr id="4" name="Picture 3" descr="gcp-sequential.png"/>
          <p:cNvPicPr>
            <a:picLocks noChangeAspect="1"/>
          </p:cNvPicPr>
          <p:nvPr/>
        </p:nvPicPr>
        <p:blipFill>
          <a:blip r:embed="rId3"/>
          <a:stretch>
            <a:fillRect/>
          </a:stretch>
        </p:blipFill>
        <p:spPr>
          <a:xfrm>
            <a:off x="250148" y="2195060"/>
            <a:ext cx="6152752" cy="679879"/>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dirty="0">
                <a:solidFill>
                  <a:srgbClr val="28285E"/>
                </a:solidFill>
              </a:rPr>
              <a:t>Use it when </a:t>
            </a:r>
            <a:r>
              <a:rPr sz="1200" dirty="0">
                <a:solidFill>
                  <a:schemeClr val="tx1"/>
                </a:solidFill>
              </a:rPr>
              <a:t>the process is structured and repeatable, like extract, then clean, then load.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run needs to skip a step it does not need, or one slow step holds up the rest.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Independent subagents run at the same time and a gather step synthesizes them. Orchestrated by </a:t>
            </a:r>
            <a:r>
              <a:rPr sz="1400" b="1">
                <a:solidFill>
                  <a:schemeClr val="tx2"/>
                </a:solidFill>
              </a:rPr>
              <a:t>predefined logic</a:t>
            </a:r>
            <a:r>
              <a:rPr sz="1400" b="0">
                <a:solidFill>
                  <a:schemeClr val="tx2"/>
                </a:solidFill>
              </a:rPr>
              <a:t>.</a:t>
            </a:r>
          </a:p>
        </p:txBody>
      </p:sp>
      <p:pic>
        <p:nvPicPr>
          <p:cNvPr id="4" name="Picture 3" descr="gcp-parallel.png"/>
          <p:cNvPicPr>
            <a:picLocks noChangeAspect="1"/>
          </p:cNvPicPr>
          <p:nvPr/>
        </p:nvPicPr>
        <p:blipFill>
          <a:blip r:embed="rId3"/>
          <a:stretch>
            <a:fillRect/>
          </a:stretch>
        </p:blipFill>
        <p:spPr>
          <a:xfrm>
            <a:off x="1678840" y="1450000"/>
            <a:ext cx="3295368"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genuinely splits, like collecting from several sources at once.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results can conflict: cost and token use rise at once and the join gets hard.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sequence of subagents repeats until a termination condition is met. Orchestrated by </a:t>
            </a:r>
            <a:r>
              <a:rPr sz="1400" b="1">
                <a:solidFill>
                  <a:schemeClr val="tx2"/>
                </a:solidFill>
              </a:rPr>
              <a:t>predefined logic</a:t>
            </a:r>
            <a:r>
              <a:rPr sz="1400" b="0">
                <a:solidFill>
                  <a:schemeClr val="tx2"/>
                </a:solidFill>
              </a:rPr>
              <a:t>.</a:t>
            </a:r>
          </a:p>
        </p:txBody>
      </p:sp>
      <p:pic>
        <p:nvPicPr>
          <p:cNvPr id="4" name="Picture 3" descr="gcp-loop.png"/>
          <p:cNvPicPr>
            <a:picLocks noChangeAspect="1"/>
          </p:cNvPicPr>
          <p:nvPr/>
        </p:nvPicPr>
        <p:blipFill>
          <a:blip r:embed="rId3"/>
          <a:stretch>
            <a:fillRect/>
          </a:stretch>
        </p:blipFill>
        <p:spPr>
          <a:xfrm>
            <a:off x="250148" y="1539792"/>
            <a:ext cx="6152752" cy="199041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needs iterating or self-correction before it is good enough.</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not defined: the loop runs on and spends the budget doing it.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Review and critique</a:t>
            </a:r>
          </a:p>
        </p:txBody>
      </p:sp>
      <p:sp>
        <p:nvSpPr>
          <p:cNvPr id="3" name="Rectangle 2"/>
          <p:cNvSpPr/>
          <p:nvPr/>
        </p:nvSpPr>
        <p:spPr>
          <a:xfrm>
            <a:off x="319251" y="700000"/>
            <a:ext cx="6014545" cy="69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generator produces, and a critic judges it against criteria and approves, rejects or returns feedback. Orchestrated by </a:t>
            </a:r>
            <a:r>
              <a:rPr sz="1400" b="1">
                <a:solidFill>
                  <a:schemeClr val="tx2"/>
                </a:solidFill>
              </a:rPr>
              <a:t>predefined logic, as a loop</a:t>
            </a:r>
            <a:r>
              <a:rPr sz="1400" b="0">
                <a:solidFill>
                  <a:schemeClr val="tx2"/>
                </a:solidFill>
              </a:rPr>
              <a:t>.</a:t>
            </a:r>
          </a:p>
        </p:txBody>
      </p:sp>
      <p:pic>
        <p:nvPicPr>
          <p:cNvPr id="4" name="Picture 3" descr="gcp-review-critique.png"/>
          <p:cNvPicPr>
            <a:picLocks noChangeAspect="1"/>
          </p:cNvPicPr>
          <p:nvPr/>
        </p:nvPicPr>
        <p:blipFill>
          <a:blip r:embed="rId3"/>
          <a:stretch>
            <a:fillRect/>
          </a:stretch>
        </p:blipFill>
        <p:spPr>
          <a:xfrm>
            <a:off x="250148" y="1515181"/>
            <a:ext cx="6152752" cy="2039637"/>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output has to be accurate or meet strict rules, like code that needs an audit.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speed matters: every evaluation is at least one more model call, and revisions stack.</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Iterative refinement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One or more agents improve a result held in state until a quality threshold or a cap. Orchestrated by </a:t>
            </a:r>
            <a:r>
              <a:rPr sz="1400" b="1">
                <a:solidFill>
                  <a:schemeClr val="tx2"/>
                </a:solidFill>
              </a:rPr>
              <a:t>predefined logic, as a loop</a:t>
            </a:r>
            <a:r>
              <a:rPr sz="1400" b="0">
                <a:solidFill>
                  <a:schemeClr val="tx2"/>
                </a:solidFill>
              </a:rPr>
              <a:t>.</a:t>
            </a:r>
          </a:p>
        </p:txBody>
      </p:sp>
      <p:pic>
        <p:nvPicPr>
          <p:cNvPr id="4" name="Picture 3" descr="gcp-iterative-refinement.png"/>
          <p:cNvPicPr>
            <a:picLocks noChangeAspect="1"/>
          </p:cNvPicPr>
          <p:nvPr/>
        </p:nvPicPr>
        <p:blipFill>
          <a:blip r:embed="rId3"/>
          <a:stretch>
            <a:fillRect/>
          </a:stretch>
        </p:blipFill>
        <p:spPr>
          <a:xfrm>
            <a:off x="1114496" y="1450000"/>
            <a:ext cx="44240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hard to get right in one pass, like drafting or debugging.</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vague: each cycle costs latency and money whether it helps or not.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Coordinator</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central agent reads the request, splits it, and dispatches the parts to specialists. Orchestrated by </a:t>
            </a:r>
            <a:r>
              <a:rPr sz="1400" b="1">
                <a:solidFill>
                  <a:schemeClr val="tx2"/>
                </a:solidFill>
              </a:rPr>
              <a:t>the model</a:t>
            </a:r>
            <a:r>
              <a:rPr sz="1400" b="0">
                <a:solidFill>
                  <a:schemeClr val="tx2"/>
                </a:solidFill>
              </a:rPr>
              <a:t>.</a:t>
            </a:r>
          </a:p>
        </p:txBody>
      </p:sp>
      <p:pic>
        <p:nvPicPr>
          <p:cNvPr id="4" name="Picture 3" descr="gcp-coordinator.png"/>
          <p:cNvPicPr>
            <a:picLocks noChangeAspect="1"/>
          </p:cNvPicPr>
          <p:nvPr/>
        </p:nvPicPr>
        <p:blipFill>
          <a:blip r:embed="rId3"/>
          <a:stretch>
            <a:fillRect/>
          </a:stretch>
        </p:blipFill>
        <p:spPr>
          <a:xfrm>
            <a:off x="2091465" y="1450000"/>
            <a:ext cx="2470119"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a structured process needs routing that adapts to what the request turns out to be.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single agent would do: this costs more model calls, more tokens and more latency.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Hierarchical task decomposition</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root agent decomposes, and subagents decompose again until workers can execute. Orchestrated by </a:t>
            </a:r>
            <a:r>
              <a:rPr sz="1400" b="1">
                <a:solidFill>
                  <a:schemeClr val="tx2"/>
                </a:solidFill>
              </a:rPr>
              <a:t>the model, at several levels</a:t>
            </a:r>
            <a:r>
              <a:rPr sz="1400" b="0">
                <a:solidFill>
                  <a:schemeClr val="tx2"/>
                </a:solidFill>
              </a:rPr>
              <a:t>.</a:t>
            </a:r>
          </a:p>
        </p:txBody>
      </p:sp>
      <p:pic>
        <p:nvPicPr>
          <p:cNvPr id="4" name="Picture 3" descr="gcp-hierarchical-task.png"/>
          <p:cNvPicPr>
            <a:picLocks noChangeAspect="1"/>
          </p:cNvPicPr>
          <p:nvPr/>
        </p:nvPicPr>
        <p:blipFill>
          <a:blip r:embed="rId3"/>
          <a:stretch>
            <a:fillRect/>
          </a:stretch>
        </p:blipFill>
        <p:spPr>
          <a:xfrm>
            <a:off x="1907296" y="1450000"/>
            <a:ext cx="2838456"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open-ended and needs research, planning and synthesis together.</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you have to debug it: the complexity is considerable and the model calls are many.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Swarm</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Specialists talk to one another all-to-all and refine together, with an explicit exit condition. Orchestrated by </a:t>
            </a:r>
            <a:r>
              <a:rPr sz="1400" b="1">
                <a:solidFill>
                  <a:schemeClr val="tx2"/>
                </a:solidFill>
              </a:rPr>
              <a:t>no central orchestrator</a:t>
            </a:r>
            <a:r>
              <a:rPr sz="1400" b="0">
                <a:solidFill>
                  <a:schemeClr val="tx2"/>
                </a:solidFill>
              </a:rPr>
              <a:t>.</a:t>
            </a:r>
          </a:p>
        </p:txBody>
      </p:sp>
      <p:pic>
        <p:nvPicPr>
          <p:cNvPr id="4" name="Picture 3" descr="gcp-swarm.png"/>
          <p:cNvPicPr>
            <a:picLocks noChangeAspect="1"/>
          </p:cNvPicPr>
          <p:nvPr/>
        </p:nvPicPr>
        <p:blipFill>
          <a:blip r:embed="rId3"/>
          <a:stretch>
            <a:fillRect/>
          </a:stretch>
        </p:blipFill>
        <p:spPr>
          <a:xfrm>
            <a:off x="2180196" y="1450000"/>
            <a:ext cx="22926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ambiguous and genuinely benefits from argument between perspectives.</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almost always: it is the costliest of the twelve and may never converge.</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Human in the 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The agent pauses at a checkpoint and waits for a person to approve, correct or supply input. Orchestrated by </a:t>
            </a:r>
            <a:r>
              <a:rPr sz="1400" b="1">
                <a:solidFill>
                  <a:schemeClr val="tx2"/>
                </a:solidFill>
              </a:rPr>
              <a:t>predefined checkpoints</a:t>
            </a:r>
            <a:r>
              <a:rPr sz="1400" b="0">
                <a:solidFill>
                  <a:schemeClr val="tx2"/>
                </a:solidFill>
              </a:rPr>
              <a:t>.</a:t>
            </a:r>
          </a:p>
        </p:txBody>
      </p:sp>
      <p:pic>
        <p:nvPicPr>
          <p:cNvPr id="4" name="Picture 3" descr="gcp-human-in-the-loop.png"/>
          <p:cNvPicPr>
            <a:picLocks noChangeAspect="1"/>
          </p:cNvPicPr>
          <p:nvPr/>
        </p:nvPicPr>
        <p:blipFill>
          <a:blip r:embed="rId3"/>
          <a:stretch>
            <a:fillRect/>
          </a:stretch>
        </p:blipFill>
        <p:spPr>
          <a:xfrm>
            <a:off x="250148" y="1728989"/>
            <a:ext cx="6152752" cy="1612021"/>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decision is high-stakes or subjective, like a payment or a sensitive document.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there is nobody to ask: it needs an interaction system built and then maintained.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Custom logic</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Conditional orchestration written in code, mixing the other patterns as needed. Orchestrated by </a:t>
            </a:r>
            <a:r>
              <a:rPr sz="1400" b="1">
                <a:solidFill>
                  <a:schemeClr val="tx2"/>
                </a:solidFill>
              </a:rPr>
              <a:t>code the team writes</a:t>
            </a:r>
            <a:r>
              <a:rPr sz="1400" b="0">
                <a:solidFill>
                  <a:schemeClr val="tx2"/>
                </a:solidFill>
              </a:rPr>
              <a:t>.</a:t>
            </a:r>
          </a:p>
        </p:txBody>
      </p:sp>
      <p:sp>
        <p:nvSpPr>
          <p:cNvPr id="4" name="Rectangle 3"/>
          <p:cNvSpPr/>
          <p:nvPr/>
        </p:nvSpPr>
        <p:spPr>
          <a:xfrm>
            <a:off x="319251"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branching goes beyond a linear sequence, or fixed rules mix with model reasoning.</a:t>
            </a:r>
          </a:p>
        </p:txBody>
      </p:sp>
      <p:sp>
        <p:nvSpPr>
          <p:cNvPr id="5" name="Rectangle 4"/>
          <p:cNvSpPr/>
          <p:nvPr/>
        </p:nvSpPr>
        <p:spPr>
          <a:xfrm>
            <a:off x="3419857"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named pattern already fits: the team now owns and debugs the whole flow.</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Task ownership</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Who owns the whole task, and who owns only a piece of it.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Coordinator</a:t>
            </a:r>
          </a:p>
          <a:p>
            <a:pPr algn="l">
              <a:spcBef>
                <a:spcPts val="600"/>
              </a:spcBef>
            </a:pPr>
            <a:r>
              <a:rPr sz="1200" dirty="0">
                <a:solidFill>
                  <a:schemeClr val="tx1"/>
                </a:solidFill>
              </a:rPr>
              <a:t>The </a:t>
            </a:r>
            <a:r>
              <a:rPr sz="1200" b="1" dirty="0">
                <a:solidFill>
                  <a:schemeClr val="tx1"/>
                </a:solidFill>
              </a:rPr>
              <a:t>coordinator owns the task and delegates pieces</a:t>
            </a:r>
            <a:r>
              <a:rPr sz="1200" dirty="0">
                <a:solidFill>
                  <a:schemeClr val="tx1"/>
                </a:solidFill>
              </a:rPr>
              <a:t>; a specialist owns only its piece.</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Hierarchical</a:t>
            </a:r>
          </a:p>
          <a:p>
            <a:pPr algn="l">
              <a:spcBef>
                <a:spcPts val="600"/>
              </a:spcBef>
            </a:pPr>
            <a:r>
              <a:rPr sz="1200" dirty="0">
                <a:solidFill>
                  <a:schemeClr val="tx1"/>
                </a:solidFill>
              </a:rPr>
              <a:t>Ownership is </a:t>
            </a:r>
            <a:r>
              <a:rPr sz="1200" b="1" dirty="0">
                <a:solidFill>
                  <a:schemeClr val="tx1"/>
                </a:solidFill>
              </a:rPr>
              <a:t>nested</a:t>
            </a:r>
            <a:r>
              <a:rPr sz="1200" dirty="0">
                <a:solidFill>
                  <a:schemeClr val="tx1"/>
                </a:solidFill>
              </a:rPr>
              <a:t>: each level </a:t>
            </a:r>
            <a:r>
              <a:rPr sz="1200" b="1" dirty="0">
                <a:solidFill>
                  <a:schemeClr val="tx1"/>
                </a:solidFill>
              </a:rPr>
              <a:t>owns the</a:t>
            </a:r>
            <a:r>
              <a:rPr sz="1200" dirty="0">
                <a:solidFill>
                  <a:schemeClr val="tx1"/>
                </a:solidFill>
              </a:rPr>
              <a:t> </a:t>
            </a:r>
            <a:r>
              <a:rPr sz="1200" b="1" dirty="0">
                <a:solidFill>
                  <a:schemeClr val="tx1"/>
                </a:solidFill>
              </a:rPr>
              <a:t>decomposition</a:t>
            </a:r>
            <a:r>
              <a:rPr sz="1200" dirty="0">
                <a:solidFill>
                  <a:schemeClr val="tx1"/>
                </a:solidFill>
              </a:rPr>
              <a:t> it made.</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Parallel</a:t>
            </a:r>
          </a:p>
          <a:p>
            <a:pPr algn="l">
              <a:spcBef>
                <a:spcPts val="600"/>
              </a:spcBef>
            </a:pPr>
            <a:r>
              <a:rPr sz="1200" dirty="0">
                <a:solidFill>
                  <a:schemeClr val="tx1"/>
                </a:solidFill>
              </a:rPr>
              <a:t>Each </a:t>
            </a:r>
            <a:r>
              <a:rPr sz="1200" b="1" dirty="0">
                <a:solidFill>
                  <a:schemeClr val="tx1"/>
                </a:solidFill>
              </a:rPr>
              <a:t>worker owns one independent piece</a:t>
            </a:r>
            <a:r>
              <a:rPr sz="1200" dirty="0">
                <a:solidFill>
                  <a:schemeClr val="tx1"/>
                </a:solidFill>
              </a:rPr>
              <a:t>; the </a:t>
            </a:r>
            <a:r>
              <a:rPr sz="1200" b="1" dirty="0">
                <a:solidFill>
                  <a:schemeClr val="tx1"/>
                </a:solidFill>
              </a:rPr>
              <a:t>gather step owns the whole</a:t>
            </a:r>
            <a:r>
              <a:rPr sz="1200" dirty="0">
                <a:solidFill>
                  <a:schemeClr val="tx1"/>
                </a:solidFill>
              </a:rPr>
              <a:t>.</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Review and critique</a:t>
            </a:r>
          </a:p>
          <a:p>
            <a:pPr algn="l">
              <a:spcBef>
                <a:spcPts val="600"/>
              </a:spcBef>
            </a:pPr>
            <a:r>
              <a:rPr lang="en-US" sz="1200" dirty="0">
                <a:solidFill>
                  <a:schemeClr val="tx1"/>
                </a:solidFill>
              </a:rPr>
              <a:t>T</a:t>
            </a:r>
            <a:r>
              <a:rPr sz="1200" dirty="0">
                <a:solidFill>
                  <a:schemeClr val="tx1"/>
                </a:solidFill>
              </a:rPr>
              <a:t>he generator owns the candidate</a:t>
            </a:r>
            <a:r>
              <a:rPr lang="en-US" sz="1200" dirty="0">
                <a:solidFill>
                  <a:schemeClr val="tx1"/>
                </a:solidFill>
              </a:rPr>
              <a:t> and</a:t>
            </a:r>
            <a:r>
              <a:rPr sz="1200" dirty="0">
                <a:solidFill>
                  <a:schemeClr val="tx1"/>
                </a:solidFill>
              </a:rPr>
              <a:t> the critic owns acceptance.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boundaries</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What each component can see, and what has to </a:t>
            </a:r>
            <a:r>
              <a:rPr sz="1400" b="1">
                <a:solidFill>
                  <a:schemeClr val="tx2"/>
                </a:solidFill>
              </a:rPr>
              <a:t>cross</a:t>
            </a:r>
            <a:r>
              <a:rPr sz="1400" b="0">
                <a:solidFill>
                  <a:schemeClr val="tx2"/>
                </a:solidFill>
              </a:rPr>
              <a:t> from one to another.</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Coordinator</a:t>
            </a:r>
          </a:p>
          <a:p>
            <a:pPr algn="l">
              <a:spcBef>
                <a:spcPts val="600"/>
              </a:spcBef>
            </a:pPr>
            <a:r>
              <a:rPr sz="1200" dirty="0">
                <a:solidFill>
                  <a:schemeClr val="tx1"/>
                </a:solidFill>
              </a:rPr>
              <a:t>The </a:t>
            </a:r>
            <a:r>
              <a:rPr sz="1200" b="1" dirty="0">
                <a:solidFill>
                  <a:schemeClr val="tx1"/>
                </a:solidFill>
              </a:rPr>
              <a:t>coordinator's context and each specialist's are separate</a:t>
            </a:r>
            <a:r>
              <a:rPr sz="1200" dirty="0">
                <a:solidFill>
                  <a:schemeClr val="tx1"/>
                </a:solidFill>
              </a:rPr>
              <a:t>; what crosses is what the coordinator passes.</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Hierarchical</a:t>
            </a:r>
          </a:p>
          <a:p>
            <a:pPr algn="l">
              <a:spcBef>
                <a:spcPts val="600"/>
              </a:spcBef>
            </a:pPr>
            <a:r>
              <a:rPr sz="1200" dirty="0">
                <a:solidFill>
                  <a:schemeClr val="tx1"/>
                </a:solidFill>
              </a:rPr>
              <a:t>A </a:t>
            </a:r>
            <a:r>
              <a:rPr sz="1200" b="1" dirty="0">
                <a:solidFill>
                  <a:schemeClr val="tx1"/>
                </a:solidFill>
              </a:rPr>
              <a:t>state boundary per level</a:t>
            </a:r>
            <a:r>
              <a:rPr sz="1200" dirty="0">
                <a:solidFill>
                  <a:schemeClr val="tx1"/>
                </a:solidFill>
              </a:rPr>
              <a:t>, and partial results cross upward.</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Parallel</a:t>
            </a:r>
          </a:p>
          <a:p>
            <a:pPr algn="l">
              <a:spcBef>
                <a:spcPts val="600"/>
              </a:spcBef>
            </a:pPr>
            <a:r>
              <a:rPr sz="1200" dirty="0">
                <a:solidFill>
                  <a:schemeClr val="tx1"/>
                </a:solidFill>
              </a:rPr>
              <a:t>One state record per worker; the join reads all of them.</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Unchanged: one record, with the critic's reasons added to it.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Model-call overhead</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How many model calls the shape adds </a:t>
            </a:r>
            <a:r>
              <a:rPr sz="1400" b="1">
                <a:solidFill>
                  <a:schemeClr val="tx2"/>
                </a:solidFill>
              </a:rPr>
              <a:t>on top of the work itself</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One routing call per request, plus the specialists' calls.</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Multiplied by the depth of the hierarchy.</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The sum of the workers' calls, run concurrently.</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One evaluator call per candidate, plus one per revision.</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Latency</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How much wall-clock time the shape adds to a single request.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routing call sits on the critical path.</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Each level adds a round trip.</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Reduced to the slowest worker plus the join.</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Each revision adds a round trip.</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Failure propagation</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Where a mistake goes after it is made, and who is in a position to </a:t>
            </a:r>
            <a:r>
              <a:rPr sz="1400" b="1">
                <a:solidFill>
                  <a:schemeClr val="tx2"/>
                </a:solidFill>
              </a:rPr>
              <a:t>notice</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A misrouted task fails inside the wrong specialist, and the coordinator may not notice.</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A wrong decomposition propagates downward and its cost multiplies.</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Contained per worker until the join, where a missing piece blocks the whole.</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A critic that accepts a wrong candidate passes it on; one that rejects a right one costs a revision.</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Inspectability</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What someone reading the trace afterwards can reconstruct about </a:t>
            </a:r>
            <a:r>
              <a:rPr sz="1400" b="1">
                <a:solidFill>
                  <a:schemeClr val="tx2"/>
                </a:solidFill>
              </a:rPr>
              <a:t>who decided what</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routing decision and its reasons are in the trace, if we recorded them.</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Traces nest, so which level decided what has to stay recoverable.</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Traces interleave, so which worker wrote what has to stay recoverable.</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Improved: acceptance now carries its reasons.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mini-swe-agent represents a state</a:t>
            </a:r>
          </a:p>
        </p:txBody>
      </p:sp>
      <p:sp>
        <p:nvSpPr>
          <p:cNvPr id="3" name="Content Placeholder 2"/>
          <p:cNvSpPr>
            <a:spLocks noGrp="1"/>
          </p:cNvSpPr>
          <p:nvPr>
            <p:ph idx="1"/>
          </p:nvPr>
        </p:nvSpPr>
        <p:spPr>
          <a:xfrm>
            <a:off x="319251" y="700000"/>
            <a:ext cx="6014545" cy="2010000"/>
          </a:xfrm>
        </p:spPr>
        <p:txBody>
          <a:bodyPr wrap="square" anchor="ctr">
            <a:normAutofit fontScale="92500" lnSpcReduction="20000"/>
          </a:bodyPr>
          <a:lstStyle/>
          <a:p>
            <a:pPr marL="0" indent="0">
              <a:buNone/>
            </a:pPr>
            <a:r>
              <a:rPr sz="1400" b="1">
                <a:solidFill>
                  <a:srgbClr val="28285E"/>
                </a:solidFill>
              </a:rPr>
              <a:t>Three representations of increasing expressive power, all in one agent.</a:t>
            </a:r>
          </a:p>
          <a:p>
            <a:pPr marL="400050" indent="-285750">
              <a:spcBef>
                <a:spcPts val="600"/>
              </a:spcBef>
              <a:spcAft>
                <a:spcPts val="600"/>
              </a:spcAft>
              <a:buClr>
                <a:srgbClr val="28285E"/>
              </a:buClr>
              <a:buSzPts val="1260"/>
              <a:buFont typeface="+mn-lt"/>
              <a:buChar char="●"/>
            </a:pPr>
            <a:r>
              <a:rPr sz="1400" b="1">
                <a:solidFill>
                  <a:schemeClr val="tx1"/>
                </a:solidFill>
              </a:rPr>
              <a:t>Atomic. </a:t>
            </a:r>
            <a:r>
              <a:rPr sz="1400" b="0">
                <a:solidFill>
                  <a:schemeClr val="tx1"/>
                </a:solidFill>
              </a:rPr>
              <a:t>The run's outcome. Accepted or stopped is a label with no internal structure.</a:t>
            </a:r>
          </a:p>
          <a:p>
            <a:pPr marL="400050" indent="-285750">
              <a:spcBef>
                <a:spcPts val="600"/>
              </a:spcBef>
              <a:spcAft>
                <a:spcPts val="600"/>
              </a:spcAft>
              <a:buClr>
                <a:srgbClr val="28285E"/>
              </a:buClr>
              <a:buSzPts val="1260"/>
              <a:buFont typeface="+mn-lt"/>
              <a:buChar char="●"/>
            </a:pPr>
            <a:r>
              <a:rPr sz="1400" b="1">
                <a:solidFill>
                  <a:schemeClr val="tx1"/>
                </a:solidFill>
              </a:rPr>
              <a:t>Factored. </a:t>
            </a:r>
            <a:r>
              <a:rPr sz="1400" b="0">
                <a:solidFill>
                  <a:schemeClr val="tx1"/>
                </a:solidFill>
              </a:rPr>
              <a:t>The record itself. Named fields with values, so two states can agree on some and differ on others.</a:t>
            </a:r>
          </a:p>
          <a:p>
            <a:pPr marL="400050" indent="-285750">
              <a:spcBef>
                <a:spcPts val="600"/>
              </a:spcBef>
              <a:spcAft>
                <a:spcPts val="600"/>
              </a:spcAft>
              <a:buClr>
                <a:srgbClr val="28285E"/>
              </a:buClr>
              <a:buSzPts val="1260"/>
              <a:buFont typeface="+mn-lt"/>
              <a:buChar char="●"/>
            </a:pPr>
            <a:r>
              <a:rPr sz="1400" b="1">
                <a:solidFill>
                  <a:schemeClr val="tx1"/>
                </a:solidFill>
              </a:rPr>
              <a:t>Structured. </a:t>
            </a:r>
            <a:r>
              <a:rPr sz="1400" b="0">
                <a:solidFill>
                  <a:schemeClr val="tx1"/>
                </a:solidFill>
              </a:rPr>
              <a:t>The patch and the rejection. A patch is a set of hunks, each over a file and a range of lines.</a:t>
            </a:r>
          </a:p>
        </p:txBody>
      </p:sp>
      <p:sp>
        <p:nvSpPr>
          <p:cNvPr id="4" name="Rectangle 3"/>
          <p:cNvSpPr/>
          <p:nvPr/>
        </p:nvSpPr>
        <p:spPr>
          <a:xfrm>
            <a:off x="319251" y="289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expressive representation is the exception, because reasoning over structure is harder for us and for the model both.</a:t>
            </a:r>
          </a:p>
        </p:txBody>
      </p:sp>
      <p:sp>
        <p:nvSpPr>
          <p:cNvPr id="5" name="TextBox 4"/>
          <p:cNvSpPr txBox="1"/>
          <p:nvPr/>
        </p:nvSpPr>
        <p:spPr>
          <a:xfrm>
            <a:off x="319251" y="3531801"/>
            <a:ext cx="6014545" cy="200000"/>
          </a:xfrm>
          <a:prstGeom prst="rect">
            <a:avLst/>
          </a:prstGeom>
          <a:noFill/>
        </p:spPr>
        <p:txBody>
          <a:bodyPr wrap="square" lIns="0" tIns="0" rIns="0" bIns="0">
            <a:spAutoFit/>
          </a:bodyPr>
          <a:lstStyle/>
          <a:p>
            <a:pPr algn="r"/>
            <a:r>
              <a:rPr sz="1050" i="1">
                <a:solidFill>
                  <a:schemeClr val="bg2"/>
                </a:solidFill>
              </a:rPr>
              <a:t>Russell and Norvig, §2.4.7</a:t>
            </a:r>
          </a:p>
        </p:txBody>
      </p:sp>
      <p:sp>
        <p:nvSpPr>
          <p:cNvPr id="6" name="Rectangle 5"/>
          <p:cNvSpPr/>
          <p:nvPr/>
        </p:nvSpPr>
        <p:spPr>
          <a:xfrm>
            <a:off x="319251" y="39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Keeping the record factored is what buys us reducers, routing and limits.</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state schema, field by field</a:t>
            </a:r>
          </a:p>
        </p:txBody>
      </p:sp>
      <p:graphicFrame>
        <p:nvGraphicFramePr>
          <p:cNvPr id="3" name="Table 2"/>
          <p:cNvGraphicFramePr>
            <a:graphicFrameLocks noGrp="1"/>
          </p:cNvGraphicFramePr>
          <p:nvPr/>
        </p:nvGraphicFramePr>
        <p:xfrm>
          <a:off x="319251" y="1050000"/>
          <a:ext cx="6014545" cy="22431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050000">
                  <a:extLst>
                    <a:ext uri="{9D8B030D-6E8A-4147-A177-3AD203B41FA5}">
                      <a16:colId xmlns:a16="http://schemas.microsoft.com/office/drawing/2014/main" val="20001"/>
                    </a:ext>
                  </a:extLst>
                </a:gridCol>
                <a:gridCol w="3064545">
                  <a:extLst>
                    <a:ext uri="{9D8B030D-6E8A-4147-A177-3AD203B41FA5}">
                      <a16:colId xmlns:a16="http://schemas.microsoft.com/office/drawing/2014/main" val="20002"/>
                    </a:ext>
                  </a:extLst>
                </a:gridCol>
              </a:tblGrid>
              <a:tr h="300000">
                <a:tc>
                  <a:txBody>
                    <a:bodyPr/>
                    <a:lstStyle/>
                    <a:p>
                      <a:pPr>
                        <a:buNone/>
                      </a:pPr>
                      <a:r>
                        <a:rPr sz="1000" b="1">
                          <a:solidFill>
                            <a:schemeClr val="tx1"/>
                          </a:solidFill>
                        </a:rPr>
                        <a:t>Field</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Reducer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holds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latin typeface="Maple Mono NF"/>
                        </a:rPr>
                        <a:t>alert, repo, commit,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Set once: the alert, the fixture, the pinned commit,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latin typeface="Maple Mono NF"/>
                        </a:rPr>
                        <a:t>messages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conversation, in provider form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latin typeface="Maple Mono NF"/>
                        </a:rPr>
                        <a:t>observations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record per dispatched tool call, refused or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latin typeface="Maple Mono NF"/>
                        </a:rPr>
                        <a:t>candidate_patch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patch currently proposed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latin typeface="Maple Mono NF"/>
                        </a:rPr>
                        <a:t>model_calls, usage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accumulate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Calls issued and tokens spent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latin typeface="Maple Mono NF"/>
                        </a:rPr>
                        <a:t>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Running, or the terminal status that ended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state schema, field by field</a:t>
            </a:r>
          </a:p>
        </p:txBody>
      </p:sp>
      <p:graphicFrame>
        <p:nvGraphicFramePr>
          <p:cNvPr id="3" name="Table 2"/>
          <p:cNvGraphicFramePr>
            <a:graphicFrameLocks noGrp="1"/>
          </p:cNvGraphicFramePr>
          <p:nvPr/>
        </p:nvGraphicFramePr>
        <p:xfrm>
          <a:off x="319251" y="1050000"/>
          <a:ext cx="6014545" cy="32337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050000">
                  <a:extLst>
                    <a:ext uri="{9D8B030D-6E8A-4147-A177-3AD203B41FA5}">
                      <a16:colId xmlns:a16="http://schemas.microsoft.com/office/drawing/2014/main" val="20001"/>
                    </a:ext>
                  </a:extLst>
                </a:gridCol>
                <a:gridCol w="3064545">
                  <a:extLst>
                    <a:ext uri="{9D8B030D-6E8A-4147-A177-3AD203B41FA5}">
                      <a16:colId xmlns:a16="http://schemas.microsoft.com/office/drawing/2014/main" val="20002"/>
                    </a:ext>
                  </a:extLst>
                </a:gridCol>
              </a:tblGrid>
              <a:tr h="300000">
                <a:tc>
                  <a:txBody>
                    <a:bodyPr/>
                    <a:lstStyle/>
                    <a:p>
                      <a:pPr>
                        <a:buNone/>
                      </a:pPr>
                      <a:r>
                        <a:rPr sz="1000" b="1">
                          <a:solidFill>
                            <a:schemeClr val="tx1"/>
                          </a:solidFill>
                        </a:rPr>
                        <a:t>Field</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Reducer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holds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latin typeface="Maple Mono NF"/>
                        </a:rPr>
                        <a:t>alert, repo, commit,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Set once: the alert, the fixture, the pinned commit,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latin typeface="Maple Mono NF"/>
                        </a:rPr>
                        <a:t>messages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conversation, in provider form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latin typeface="Maple Mono NF"/>
                        </a:rPr>
                        <a:t>observations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record per dispatched tool call, refused or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latin typeface="Maple Mono NF"/>
                        </a:rPr>
                        <a:t>candidate_patch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patch currently proposed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latin typeface="Maple Mono NF"/>
                        </a:rPr>
                        <a:t>model_calls, usage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accumulate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Calls issued and tokens spent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latin typeface="Maple Mono NF"/>
                        </a:rPr>
                        <a:t>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Running, or the terminal status that ended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chemeClr val="accent4"/>
                          </a:solidFill>
                        </a:rPr>
                        <a:t>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subgoals and their 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chemeClr val="accent4"/>
                          </a:solidFill>
                        </a:rPr>
                        <a:t>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latest acceptance decision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r h="0">
                <a:tc>
                  <a:txBody>
                    <a:bodyPr/>
                    <a:lstStyle/>
                    <a:p>
                      <a:pPr>
                        <a:buNone/>
                      </a:pPr>
                      <a:r>
                        <a:rPr sz="1000" b="1">
                          <a:solidFill>
                            <a:schemeClr val="accent4"/>
                          </a:solidFill>
                        </a:rPr>
                        <a:t>reflections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Guidance kept from rejected attempts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9"/>
                  </a:ext>
                </a:extLst>
              </a:tr>
              <a:tr h="0">
                <a:tc>
                  <a:txBody>
                    <a:bodyPr/>
                    <a:lstStyle/>
                    <a:p>
                      <a:pPr>
                        <a:buNone/>
                      </a:pPr>
                      <a:r>
                        <a:rPr sz="1000" b="1">
                          <a:solidFill>
                            <a:schemeClr val="accent4"/>
                          </a:solidFill>
                        </a:rPr>
                        <a:t>attempt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explicit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Which attempt is running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10"/>
                  </a:ext>
                </a:extLst>
              </a:tr>
            </a:tbl>
          </a:graphicData>
        </a:graphic>
      </p:graphicFrame>
      <p:sp>
        <p:nvSpPr>
          <p:cNvPr id="4" name="Rectangle 3"/>
          <p:cNvSpPr/>
          <p:nvPr/>
        </p:nvSpPr>
        <p:spPr>
          <a:xfrm>
            <a:off x="1888761" y="448865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four below the rule arrive with the planner, the validator and the reflection step.</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TypedDict checks nothing at run time</a:t>
            </a:r>
          </a:p>
        </p:txBody>
      </p:sp>
      <p:sp>
        <p:nvSpPr>
          <p:cNvPr id="3" name="TextBox 2"/>
          <p:cNvSpPr txBox="1"/>
          <p:nvPr/>
        </p:nvSpPr>
        <p:spPr>
          <a:xfrm>
            <a:off x="319251" y="900000"/>
            <a:ext cx="6014545" cy="200000"/>
          </a:xfrm>
          <a:prstGeom prst="rect">
            <a:avLst/>
          </a:prstGeom>
          <a:noFill/>
        </p:spPr>
        <p:txBody>
          <a:bodyPr wrap="none" lIns="0" tIns="0" rIns="0" bIns="0">
            <a:spAutoFit/>
          </a:bodyPr>
          <a:lstStyle/>
          <a:p>
            <a:r>
              <a:rPr sz="1200" b="1">
                <a:solidFill>
                  <a:srgbClr val="28285E"/>
                </a:solidFill>
              </a:rPr>
              <a:t>The annotation is for a type checker, and nothing else</a:t>
            </a:r>
          </a:p>
        </p:txBody>
      </p:sp>
      <p:sp>
        <p:nvSpPr>
          <p:cNvPr id="4" name="Rounded Rectangle 3"/>
          <p:cNvSpPr/>
          <p:nvPr/>
        </p:nvSpPr>
        <p:spPr>
          <a:xfrm>
            <a:off x="319251" y="1160000"/>
            <a:ext cx="6014545" cy="9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class </a:t>
            </a:r>
            <a:r>
              <a:rPr sz="1100" dirty="0" err="1">
                <a:solidFill>
                  <a:srgbClr val="28285E"/>
                </a:solidFill>
                <a:latin typeface="Maple Mono NF"/>
              </a:rPr>
              <a:t>AgentState</a:t>
            </a:r>
            <a:r>
              <a:rPr sz="1100" dirty="0">
                <a:solidFill>
                  <a:srgbClr val="28285E"/>
                </a:solidFill>
                <a:latin typeface="Maple Mono NF"/>
              </a:rPr>
              <a:t>(</a:t>
            </a:r>
            <a:r>
              <a:rPr sz="1100" dirty="0" err="1">
                <a:solidFill>
                  <a:srgbClr val="28285E"/>
                </a:solidFill>
                <a:latin typeface="Maple Mono NF"/>
              </a:rPr>
              <a:t>TypedDict</a:t>
            </a:r>
            <a:r>
              <a:rPr sz="1100" dirty="0">
                <a:solidFill>
                  <a:srgbClr val="28285E"/>
                </a:solidFill>
                <a:latin typeface="Maple Mono NF"/>
              </a:rPr>
              <a:t>, total=False):</a:t>
            </a:r>
          </a:p>
          <a:p>
            <a:pPr algn="l">
              <a:buNone/>
            </a:pPr>
            <a:r>
              <a:rPr sz="1100" dirty="0">
                <a:solidFill>
                  <a:srgbClr val="28285E"/>
                </a:solidFill>
                <a:latin typeface="Maple Mono NF"/>
              </a:rPr>
              <a:t>    </a:t>
            </a:r>
            <a:r>
              <a:rPr sz="1100" dirty="0" err="1">
                <a:solidFill>
                  <a:srgbClr val="28285E"/>
                </a:solidFill>
                <a:latin typeface="Maple Mono NF"/>
              </a:rPr>
              <a:t>model_calls</a:t>
            </a:r>
            <a:r>
              <a:rPr sz="1100" dirty="0">
                <a:solidFill>
                  <a:srgbClr val="28285E"/>
                </a:solidFill>
                <a:latin typeface="Maple Mono NF"/>
              </a:rPr>
              <a:t>: Annotated[int, </a:t>
            </a:r>
            <a:r>
              <a:rPr sz="1100" dirty="0" err="1">
                <a:solidFill>
                  <a:srgbClr val="28285E"/>
                </a:solidFill>
                <a:latin typeface="Maple Mono NF"/>
              </a:rPr>
              <a:t>operator.add</a:t>
            </a:r>
            <a:r>
              <a:rPr sz="1100" dirty="0">
                <a:solidFill>
                  <a:srgbClr val="28285E"/>
                </a:solidFill>
                <a:latin typeface="Maple Mono NF"/>
              </a:rPr>
              <a:t>]</a:t>
            </a:r>
          </a:p>
          <a:p>
            <a:pPr algn="l">
              <a:buNone/>
            </a:pPr>
            <a:endParaRPr sz="1100" dirty="0">
              <a:solidFill>
                <a:srgbClr val="28285E"/>
              </a:solidFill>
              <a:latin typeface="Maple Mono NF"/>
            </a:endParaRPr>
          </a:p>
          <a:p>
            <a:pPr algn="l">
              <a:buNone/>
            </a:pPr>
            <a:r>
              <a:rPr sz="1100" dirty="0">
                <a:solidFill>
                  <a:srgbClr val="8A8A9A"/>
                </a:solidFill>
                <a:latin typeface="Maple Mono NF"/>
              </a:rPr>
              <a:t># a model reply puts </a:t>
            </a:r>
            <a:r>
              <a:rPr sz="1100" b="1" dirty="0">
                <a:solidFill>
                  <a:srgbClr val="C73561"/>
                </a:solidFill>
                <a:latin typeface="Maple Mono NF"/>
              </a:rPr>
              <a:t>"forty"</a:t>
            </a:r>
            <a:r>
              <a:rPr sz="1100" dirty="0">
                <a:solidFill>
                  <a:srgbClr val="8A8A9A"/>
                </a:solidFill>
                <a:latin typeface="Maple Mono NF"/>
              </a:rPr>
              <a:t> here: type-checks, and is wrong at run time</a:t>
            </a:r>
          </a:p>
        </p:txBody>
      </p:sp>
      <p:sp>
        <p:nvSpPr>
          <p:cNvPr id="5" name="Rectangle 4"/>
          <p:cNvSpPr/>
          <p:nvPr/>
        </p:nvSpPr>
        <p:spPr>
          <a:xfrm>
            <a:off x="319251" y="23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Every guarantee about the contents of state rests on code we write.</a:t>
            </a:r>
          </a:p>
        </p:txBody>
      </p:sp>
      <p:sp>
        <p:nvSpPr>
          <p:cNvPr id="6" name="TextBox 5"/>
          <p:cNvSpPr txBox="1"/>
          <p:nvPr/>
        </p:nvSpPr>
        <p:spPr>
          <a:xfrm>
            <a:off x="319251" y="2991801"/>
            <a:ext cx="6014545" cy="200000"/>
          </a:xfrm>
          <a:prstGeom prst="rect">
            <a:avLst/>
          </a:prstGeom>
          <a:noFill/>
        </p:spPr>
        <p:txBody>
          <a:bodyPr wrap="square" lIns="0" tIns="0" rIns="0" bIns="0">
            <a:spAutoFit/>
          </a:bodyPr>
          <a:lstStyle/>
          <a:p>
            <a:pPr algn="r"/>
            <a:r>
              <a:rPr sz="1050" i="1">
                <a:solidFill>
                  <a:schemeClr val="bg2"/>
                </a:solidFill>
              </a:rPr>
              <a:t>PEP 589</a:t>
            </a:r>
          </a:p>
        </p:txBody>
      </p:sp>
      <p:sp>
        <p:nvSpPr>
          <p:cNvPr id="7" name="Rectangle 6"/>
          <p:cNvSpPr/>
          <p:nvPr/>
        </p:nvSpPr>
        <p:spPr>
          <a:xfrm>
            <a:off x="319251" y="34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check that catches it is the argument validation at the tool boundary.</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tool result becoming state</a:t>
            </a:r>
          </a:p>
        </p:txBody>
      </p:sp>
      <p:sp>
        <p:nvSpPr>
          <p:cNvPr id="3" name="TextBox 2"/>
          <p:cNvSpPr txBox="1"/>
          <p:nvPr/>
        </p:nvSpPr>
        <p:spPr>
          <a:xfrm>
            <a:off x="319251" y="750000"/>
            <a:ext cx="6014545" cy="200000"/>
          </a:xfrm>
          <a:prstGeom prst="rect">
            <a:avLst/>
          </a:prstGeom>
          <a:noFill/>
        </p:spPr>
        <p:txBody>
          <a:bodyPr wrap="none" lIns="0" tIns="0" rIns="0" bIns="0">
            <a:spAutoFit/>
          </a:bodyPr>
          <a:lstStyle/>
          <a:p>
            <a:r>
              <a:rPr sz="1200" b="1">
                <a:solidFill>
                  <a:srgbClr val="28285E"/>
                </a:solidFill>
              </a:rPr>
              <a:t>Four events in, the dispatcher returns 1,665 characters of source</a:t>
            </a:r>
          </a:p>
        </p:txBody>
      </p:sp>
      <p:sp>
        <p:nvSpPr>
          <p:cNvPr id="4" name="Rounded Rectangle 3"/>
          <p:cNvSpPr/>
          <p:nvPr/>
        </p:nvSpPr>
        <p:spPr>
          <a:xfrm>
            <a:off x="319251" y="1010000"/>
            <a:ext cx="6014545" cy="13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 before: observations [], messages 3, model_calls 1</a:t>
            </a:r>
          </a:p>
          <a:p>
            <a:pPr algn="l">
              <a:buNone/>
            </a:pPr>
            <a:r>
              <a:rPr sz="1100">
                <a:solidFill>
                  <a:srgbClr val="28285E"/>
                </a:solidFill>
                <a:latin typeface="Maple Mono NF"/>
              </a:rPr>
              <a:t>return {"observations": [{"tool": "read_file", "ok": True,</a:t>
            </a:r>
          </a:p>
          <a:p>
            <a:pPr algn="l">
              <a:buNone/>
            </a:pPr>
            <a:r>
              <a:rPr sz="1100">
                <a:solidFill>
                  <a:srgbClr val="28285E"/>
                </a:solidFill>
                <a:latin typeface="Maple Mono NF"/>
              </a:rPr>
              <a:t>                          "result": "&lt;1665 chars of source&gt;"}],</a:t>
            </a:r>
          </a:p>
          <a:p>
            <a:pPr algn="l">
              <a:buNone/>
            </a:pPr>
            <a:r>
              <a:rPr sz="1100">
                <a:solidFill>
                  <a:srgbClr val="28285E"/>
                </a:solidFill>
                <a:latin typeface="Maple Mono NF"/>
              </a:rPr>
              <a:t>        "messages": [ToolMessage(...)]}</a:t>
            </a:r>
          </a:p>
          <a:p>
            <a:pPr algn="l">
              <a:buNone/>
            </a:pPr>
            <a:r>
              <a:rPr sz="1100">
                <a:solidFill>
                  <a:srgbClr val="8A8A9A"/>
                </a:solidFill>
                <a:latin typeface="Maple Mono NF"/>
              </a:rPr>
              <a:t># merged: observations +1, messages +1, every other key untouched</a:t>
            </a:r>
          </a:p>
          <a:p>
            <a:pPr algn="l">
              <a:buNone/>
            </a:pPr>
            <a:r>
              <a:rPr sz="1100">
                <a:solidFill>
                  <a:srgbClr val="8A8A9A"/>
                </a:solidFill>
                <a:latin typeface="Maple Mono NF"/>
              </a:rPr>
              <a:t># the next model input is built from messages alone</a:t>
            </a:r>
          </a:p>
        </p:txBody>
      </p:sp>
      <p:sp>
        <p:nvSpPr>
          <p:cNvPr id="5" name="Rectangle 4"/>
          <p:cNvSpPr/>
          <p:nvPr/>
        </p:nvSpPr>
        <p:spPr>
          <a:xfrm>
            <a:off x="319251" y="256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observation the runtime stored is richer than the message the model receives.</a:t>
            </a:r>
          </a:p>
        </p:txBody>
      </p:sp>
      <p:sp>
        <p:nvSpPr>
          <p:cNvPr id="6" name="Rectangle 5"/>
          <p:cNvSpPr/>
          <p:nvPr/>
        </p:nvSpPr>
        <p:spPr>
          <a:xfrm>
            <a:off x="319251" y="34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State answers what the run knows now; the trace answers what the run did.</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owns each return</a:t>
            </a:r>
          </a:p>
        </p:txBody>
      </p:sp>
      <p:sp>
        <p:nvSpPr>
          <p:cNvPr id="3" name="Content Placeholder 2"/>
          <p:cNvSpPr>
            <a:spLocks noGrp="1"/>
          </p:cNvSpPr>
          <p:nvPr>
            <p:ph idx="1"/>
          </p:nvPr>
        </p:nvSpPr>
        <p:spPr>
          <a:xfrm>
            <a:off x="319251" y="700000"/>
            <a:ext cx="6014545" cy="1990000"/>
          </a:xfrm>
        </p:spPr>
        <p:txBody>
          <a:bodyPr wrap="square" anchor="ctr">
            <a:normAutofit fontScale="92500" lnSpcReduction="10000"/>
          </a:bodyPr>
          <a:lstStyle/>
          <a:p>
            <a:pPr marL="0" indent="0">
              <a:buNone/>
            </a:pPr>
            <a:r>
              <a:rPr sz="1400" b="1">
                <a:solidFill>
                  <a:srgbClr val="28285E"/>
                </a:solidFill>
              </a:rPr>
              <a:t>Ownership divides on the same line as the two edges.</a:t>
            </a:r>
          </a:p>
          <a:p>
            <a:pPr marL="400050" indent="-285750">
              <a:spcBef>
                <a:spcPts val="600"/>
              </a:spcBef>
              <a:spcAft>
                <a:spcPts val="600"/>
              </a:spcAft>
              <a:buClr>
                <a:srgbClr val="28285E"/>
              </a:buClr>
              <a:buSzPts val="1260"/>
              <a:buFont typeface="+mn-lt"/>
              <a:buChar char="●"/>
            </a:pPr>
            <a:r>
              <a:rPr sz="1400" b="1">
                <a:solidFill>
                  <a:schemeClr val="tx1"/>
                </a:solidFill>
              </a:rPr>
              <a:t>The free retry is ours. </a:t>
            </a:r>
            <a:r>
              <a:rPr sz="1400" b="0">
                <a:solidFill>
                  <a:schemeClr val="tx1"/>
                </a:solidFill>
              </a:rPr>
              <a:t>The runtime reissues a failed tool call once, because a transient failure is not evidence about the plan.</a:t>
            </a:r>
          </a:p>
          <a:p>
            <a:pPr marL="400050" indent="-285750">
              <a:spcBef>
                <a:spcPts val="600"/>
              </a:spcBef>
              <a:spcAft>
                <a:spcPts val="600"/>
              </a:spcAft>
              <a:buClr>
                <a:srgbClr val="28285E"/>
              </a:buClr>
              <a:buSzPts val="1260"/>
              <a:buFont typeface="+mn-lt"/>
              <a:buChar char="●"/>
            </a:pPr>
            <a:r>
              <a:rPr sz="1400" b="1">
                <a:solidFill>
                  <a:schemeClr val="tx1"/>
                </a:solidFill>
              </a:rPr>
              <a:t>The revision is the model's proposal. </a:t>
            </a:r>
            <a:r>
              <a:rPr sz="1400" b="0">
                <a:solidFill>
                  <a:schemeClr val="tx1"/>
                </a:solidFill>
              </a:rPr>
              <a:t>The runtime records it and merges it into </a:t>
            </a:r>
            <a:r>
              <a:rPr sz="1400" b="0">
                <a:latin typeface="Maple Mono NF"/>
              </a:rPr>
              <a:t>plan</a:t>
            </a:r>
            <a:r>
              <a:rPr sz="1400" b="0">
                <a:solidFill>
                  <a:schemeClr val="tx1"/>
                </a:solidFill>
              </a:rPr>
              <a:t>.</a:t>
            </a:r>
          </a:p>
          <a:p>
            <a:pPr marL="400050" indent="-285750">
              <a:spcBef>
                <a:spcPts val="600"/>
              </a:spcBef>
              <a:spcAft>
                <a:spcPts val="600"/>
              </a:spcAft>
              <a:buClr>
                <a:srgbClr val="28285E"/>
              </a:buClr>
              <a:buSzPts val="1260"/>
              <a:buFont typeface="+mn-lt"/>
              <a:buChar char="●"/>
            </a:pPr>
            <a:r>
              <a:rPr sz="1400" b="1">
                <a:solidFill>
                  <a:schemeClr val="tx1"/>
                </a:solidFill>
              </a:rPr>
              <a:t>The new attempt is ours. </a:t>
            </a:r>
            <a:r>
              <a:rPr sz="1400" b="0">
                <a:solidFill>
                  <a:schemeClr val="tx1"/>
                </a:solidFill>
              </a:rPr>
              <a:t>It is a comparison on the attempt counter.</a:t>
            </a:r>
          </a:p>
        </p:txBody>
      </p:sp>
      <p:sp>
        <p:nvSpPr>
          <p:cNvPr id="4" name="Rectangle 3"/>
          <p:cNvSpPr/>
          <p:nvPr/>
        </p:nvSpPr>
        <p:spPr>
          <a:xfrm>
            <a:off x="319251" y="28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limit that the model can talk its way past is not a limit.</a:t>
            </a:r>
          </a:p>
        </p:txBody>
      </p:sp>
      <p:sp>
        <p:nvSpPr>
          <p:cNvPr id="5" name="Rectangle 4"/>
          <p:cNvSpPr/>
          <p:nvPr/>
        </p:nvSpPr>
        <p:spPr>
          <a:xfrm>
            <a:off x="319251" y="37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retry before the upper edge costs no model call.</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endings, in the recorded runs</a:t>
            </a:r>
          </a:p>
        </p:txBody>
      </p:sp>
      <p:sp>
        <p:nvSpPr>
          <p:cNvPr id="3" name="Content Placeholder 2"/>
          <p:cNvSpPr>
            <a:spLocks noGrp="1"/>
          </p:cNvSpPr>
          <p:nvPr>
            <p:ph idx="1"/>
          </p:nvPr>
        </p:nvSpPr>
        <p:spPr>
          <a:xfrm>
            <a:off x="319251" y="700000"/>
            <a:ext cx="6014545" cy="2010000"/>
          </a:xfrm>
        </p:spPr>
        <p:txBody>
          <a:bodyPr wrap="square" anchor="ctr">
            <a:normAutofit fontScale="92500" lnSpcReduction="20000"/>
          </a:bodyPr>
          <a:lstStyle/>
          <a:p>
            <a:pPr marL="0" indent="0">
              <a:buNone/>
            </a:pPr>
            <a:r>
              <a:rPr sz="1400" b="1">
                <a:solidFill>
                  <a:srgbClr val="28285E"/>
                </a:solidFill>
              </a:rPr>
              <a:t>The difference between them is where the last event sits.</a:t>
            </a:r>
          </a:p>
          <a:p>
            <a:pPr marL="400050" indent="-285750">
              <a:spcBef>
                <a:spcPts val="600"/>
              </a:spcBef>
              <a:spcAft>
                <a:spcPts val="600"/>
              </a:spcAft>
              <a:buClr>
                <a:srgbClr val="28285E"/>
              </a:buClr>
              <a:buSzPts val="1260"/>
              <a:buFont typeface="+mn-lt"/>
              <a:buChar char="●"/>
            </a:pPr>
            <a:r>
              <a:rPr sz="1400" b="1">
                <a:solidFill>
                  <a:schemeClr val="tx1"/>
                </a:solidFill>
              </a:rPr>
              <a:t>Accepted. </a:t>
            </a:r>
            <a:r>
              <a:rPr sz="1400" b="0">
                <a:solidFill>
                  <a:schemeClr val="tx1"/>
                </a:solidFill>
              </a:rPr>
              <a:t>Event seventeen is a terminal record with the usage totals, written after submit reported three passing checks.</a:t>
            </a:r>
          </a:p>
          <a:p>
            <a:pPr marL="400050" indent="-285750">
              <a:spcBef>
                <a:spcPts val="600"/>
              </a:spcBef>
              <a:spcAft>
                <a:spcPts val="600"/>
              </a:spcAft>
              <a:buClr>
                <a:srgbClr val="28285E"/>
              </a:buClr>
              <a:buSzPts val="1260"/>
              <a:buFont typeface="+mn-lt"/>
              <a:buChar char="●"/>
            </a:pPr>
            <a:r>
              <a:rPr sz="1400" b="1">
                <a:solidFill>
                  <a:schemeClr val="tx1"/>
                </a:solidFill>
              </a:rPr>
              <a:t>Budget exhausted. </a:t>
            </a:r>
            <a:r>
              <a:rPr sz="1400" b="0">
                <a:solidFill>
                  <a:schemeClr val="tx1"/>
                </a:solidFill>
              </a:rPr>
              <a:t>The check fires before the call, so no fifth model call sits between the routing event and the terminal one.</a:t>
            </a:r>
          </a:p>
          <a:p>
            <a:pPr marL="400050" indent="-285750">
              <a:spcBef>
                <a:spcPts val="600"/>
              </a:spcBef>
              <a:spcAft>
                <a:spcPts val="600"/>
              </a:spcAft>
              <a:buClr>
                <a:srgbClr val="28285E"/>
              </a:buClr>
              <a:buSzPts val="1260"/>
              <a:buFont typeface="+mn-lt"/>
              <a:buChar char="●"/>
            </a:pPr>
            <a:r>
              <a:rPr sz="1400" b="1">
                <a:solidFill>
                  <a:schemeClr val="tx1"/>
                </a:solidFill>
              </a:rPr>
              <a:t>No ending observed. </a:t>
            </a:r>
            <a:r>
              <a:rPr sz="1400" b="0">
                <a:solidFill>
                  <a:schemeClr val="tx1"/>
                </a:solidFill>
              </a:rPr>
              <a:t>Interrupt between a tool result and the next model call: every event is valid and no terminal record arrives.</a:t>
            </a:r>
          </a:p>
        </p:txBody>
      </p:sp>
      <p:sp>
        <p:nvSpPr>
          <p:cNvPr id="4" name="Rectangle 3"/>
          <p:cNvSpPr/>
          <p:nvPr/>
        </p:nvSpPr>
        <p:spPr>
          <a:xfrm>
            <a:off x="319251" y="287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What we may not say is which ending would have arrived.</a:t>
            </a:r>
          </a:p>
        </p:txBody>
      </p:sp>
      <p:sp>
        <p:nvSpPr>
          <p:cNvPr id="5" name="Rectangle 4"/>
          <p:cNvSpPr/>
          <p:nvPr/>
        </p:nvSpPr>
        <p:spPr>
          <a:xfrm>
            <a:off x="319251" y="37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An excerpt used in teaching is worth marking with how it was produced.</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proves a function ran</a:t>
            </a:r>
          </a:p>
        </p:txBody>
      </p:sp>
      <p:sp>
        <p:nvSpPr>
          <p:cNvPr id="3" name="Content Placeholder 2"/>
          <p:cNvSpPr>
            <a:spLocks noGrp="1"/>
          </p:cNvSpPr>
          <p:nvPr>
            <p:ph idx="1"/>
          </p:nvPr>
        </p:nvSpPr>
        <p:spPr>
          <a:xfrm>
            <a:off x="319251" y="700000"/>
            <a:ext cx="6014545" cy="1990000"/>
          </a:xfrm>
        </p:spPr>
        <p:txBody>
          <a:bodyPr wrap="square" anchor="ctr">
            <a:normAutofit fontScale="92500" lnSpcReduction="10000"/>
          </a:bodyPr>
          <a:lstStyle/>
          <a:p>
            <a:pPr marL="0" indent="0">
              <a:buNone/>
            </a:pPr>
            <a:r>
              <a:rPr sz="1400" b="1">
                <a:solidFill>
                  <a:srgbClr val="28285E"/>
                </a:solidFill>
              </a:rPr>
              <a:t>A model response establishes that a tool was requested.</a:t>
            </a:r>
          </a:p>
          <a:p>
            <a:pPr marL="400050" indent="-285750">
              <a:spcBef>
                <a:spcPts val="600"/>
              </a:spcBef>
              <a:spcAft>
                <a:spcPts val="600"/>
              </a:spcAft>
              <a:buClr>
                <a:srgbClr val="28285E"/>
              </a:buClr>
              <a:buSzPts val="1260"/>
              <a:buFont typeface="+mn-lt"/>
              <a:buChar char="●"/>
            </a:pPr>
            <a:r>
              <a:rPr sz="1400" b="1">
                <a:solidFill>
                  <a:schemeClr val="tx1"/>
                </a:solidFill>
              </a:rPr>
              <a:t>A tool call in a response </a:t>
            </a:r>
            <a:r>
              <a:rPr sz="1400" b="0">
                <a:solidFill>
                  <a:schemeClr val="tx1"/>
                </a:solidFill>
              </a:rPr>
              <a:t>is evidence about the model, and not about the file system.</a:t>
            </a:r>
          </a:p>
          <a:p>
            <a:pPr marL="400050" indent="-285750">
              <a:spcBef>
                <a:spcPts val="600"/>
              </a:spcBef>
              <a:spcAft>
                <a:spcPts val="600"/>
              </a:spcAft>
              <a:buClr>
                <a:srgbClr val="28285E"/>
              </a:buClr>
              <a:buSzPts val="1260"/>
              <a:buFont typeface="+mn-lt"/>
              <a:buChar char="●"/>
            </a:pPr>
            <a:r>
              <a:rPr sz="1400" b="1">
                <a:solidFill>
                  <a:schemeClr val="tx1"/>
                </a:solidFill>
              </a:rPr>
              <a:t>A transcript showing a request and a plausible result </a:t>
            </a:r>
            <a:r>
              <a:rPr sz="1400" b="0">
                <a:solidFill>
                  <a:schemeClr val="tx1"/>
                </a:solidFill>
              </a:rPr>
              <a:t>establishes nothing, because the model produced both.</a:t>
            </a:r>
          </a:p>
          <a:p>
            <a:pPr marL="400050" indent="-285750">
              <a:spcBef>
                <a:spcPts val="600"/>
              </a:spcBef>
              <a:spcAft>
                <a:spcPts val="600"/>
              </a:spcAft>
              <a:buClr>
                <a:srgbClr val="28285E"/>
              </a:buClr>
              <a:buSzPts val="1260"/>
              <a:buFont typeface="+mn-lt"/>
              <a:buChar char="●"/>
            </a:pPr>
            <a:r>
              <a:rPr sz="1400" b="1">
                <a:solidFill>
                  <a:schemeClr val="tx1"/>
                </a:solidFill>
              </a:rPr>
              <a:t>The </a:t>
            </a:r>
            <a:r>
              <a:rPr sz="1400" b="0">
                <a:latin typeface="Maple Mono NF"/>
              </a:rPr>
              <a:t>tool_result</a:t>
            </a:r>
            <a:r>
              <a:rPr sz="1400" b="1">
                <a:solidFill>
                  <a:schemeClr val="tx1"/>
                </a:solidFill>
              </a:rPr>
              <a:t> event </a:t>
            </a:r>
            <a:r>
              <a:rPr sz="1400" b="0">
                <a:solidFill>
                  <a:schemeClr val="tx1"/>
                </a:solidFill>
              </a:rPr>
              <a:t>is our record of entering the function.</a:t>
            </a:r>
          </a:p>
        </p:txBody>
      </p:sp>
      <p:sp>
        <p:nvSpPr>
          <p:cNvPr id="4" name="Rectangle 3"/>
          <p:cNvSpPr/>
          <p:nvPr/>
        </p:nvSpPr>
        <p:spPr>
          <a:xfrm>
            <a:off x="319251" y="28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evidence that a function was entered is the runtime's own record of entering it.</a:t>
            </a:r>
          </a:p>
        </p:txBody>
      </p:sp>
      <p:sp>
        <p:nvSpPr>
          <p:cNvPr id="5" name="Rectangle 4"/>
          <p:cNvSpPr/>
          <p:nvPr/>
        </p:nvSpPr>
        <p:spPr>
          <a:xfrm>
            <a:off x="319251" y="37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Several tool calls in one response are dispatched one at a time, each answered.</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agent-computer interface</a:t>
            </a:r>
          </a:p>
        </p:txBody>
      </p:sp>
      <p:sp>
        <p:nvSpPr>
          <p:cNvPr id="3" name="Content Placeholder 2"/>
          <p:cNvSpPr>
            <a:spLocks noGrp="1"/>
          </p:cNvSpPr>
          <p:nvPr>
            <p:ph idx="1"/>
          </p:nvPr>
        </p:nvSpPr>
        <p:spPr>
          <a:xfrm>
            <a:off x="319251" y="700000"/>
            <a:ext cx="6014545" cy="2390000"/>
          </a:xfrm>
        </p:spPr>
        <p:txBody>
          <a:bodyPr wrap="square" anchor="ctr">
            <a:normAutofit fontScale="92500" lnSpcReduction="20000"/>
          </a:bodyPr>
          <a:lstStyle/>
          <a:p>
            <a:pPr marL="0" indent="0">
              <a:buNone/>
            </a:pPr>
            <a:r>
              <a:rPr sz="1400" b="1">
                <a:solidFill>
                  <a:srgbClr val="28285E"/>
                </a:solidFill>
              </a:rPr>
              <a:t>Four principles come out of that work, and each has a counterpart in our dispatcher.</a:t>
            </a:r>
          </a:p>
          <a:p>
            <a:pPr marL="400050" indent="-285750">
              <a:spcBef>
                <a:spcPts val="600"/>
              </a:spcBef>
              <a:spcAft>
                <a:spcPts val="600"/>
              </a:spcAft>
              <a:buClr>
                <a:srgbClr val="28285E"/>
              </a:buClr>
              <a:buSzPts val="1260"/>
              <a:buFont typeface="+mn-lt"/>
              <a:buChar char="●"/>
            </a:pPr>
            <a:r>
              <a:rPr sz="1400" b="1">
                <a:solidFill>
                  <a:schemeClr val="tx1"/>
                </a:solidFill>
              </a:rPr>
              <a:t>Actions are simple and few.</a:t>
            </a:r>
          </a:p>
          <a:p>
            <a:pPr marL="400050" indent="-285750">
              <a:spcBef>
                <a:spcPts val="600"/>
              </a:spcBef>
              <a:spcAft>
                <a:spcPts val="600"/>
              </a:spcAft>
              <a:buClr>
                <a:srgbClr val="28285E"/>
              </a:buClr>
              <a:buSzPts val="1260"/>
              <a:buFont typeface="+mn-lt"/>
              <a:buChar char="●"/>
            </a:pPr>
            <a:r>
              <a:rPr sz="1400" b="1">
                <a:solidFill>
                  <a:schemeClr val="tx1"/>
                </a:solidFill>
              </a:rPr>
              <a:t>Important operations are consolidated, </a:t>
            </a:r>
            <a:r>
              <a:rPr sz="1400" b="0">
                <a:solidFill>
                  <a:schemeClr val="tx1"/>
                </a:solidFill>
              </a:rPr>
              <a:t>so that one action makes real progress.</a:t>
            </a:r>
          </a:p>
          <a:p>
            <a:pPr marL="400050" indent="-285750">
              <a:spcBef>
                <a:spcPts val="600"/>
              </a:spcBef>
              <a:spcAft>
                <a:spcPts val="600"/>
              </a:spcAft>
              <a:buClr>
                <a:srgbClr val="28285E"/>
              </a:buClr>
              <a:buSzPts val="1260"/>
              <a:buFont typeface="+mn-lt"/>
              <a:buChar char="●"/>
            </a:pPr>
            <a:r>
              <a:rPr sz="1400" b="1">
                <a:solidFill>
                  <a:schemeClr val="tx1"/>
                </a:solidFill>
              </a:rPr>
              <a:t>Feedback is informative and concise.</a:t>
            </a:r>
          </a:p>
          <a:p>
            <a:pPr marL="400050" indent="-285750">
              <a:spcBef>
                <a:spcPts val="600"/>
              </a:spcBef>
              <a:spcAft>
                <a:spcPts val="600"/>
              </a:spcAft>
              <a:buClr>
                <a:srgbClr val="28285E"/>
              </a:buClr>
              <a:buSzPts val="1260"/>
              <a:buFont typeface="+mn-lt"/>
              <a:buChar char="●"/>
            </a:pPr>
            <a:r>
              <a:rPr sz="1400" b="1">
                <a:solidFill>
                  <a:schemeClr val="tx1"/>
                </a:solidFill>
              </a:rPr>
              <a:t>Guardrails catch the mistakes models make, </a:t>
            </a:r>
            <a:r>
              <a:rPr sz="1400" b="0">
                <a:solidFill>
                  <a:schemeClr val="tx1"/>
                </a:solidFill>
              </a:rPr>
              <a:t>so an error does not propagate through the turns that follow.</a:t>
            </a:r>
          </a:p>
        </p:txBody>
      </p:sp>
      <p:sp>
        <p:nvSpPr>
          <p:cNvPr id="4" name="Rectangle 3"/>
          <p:cNvSpPr/>
          <p:nvPr/>
        </p:nvSpPr>
        <p:spPr>
          <a:xfrm>
            <a:off x="319251" y="328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agent-computer interface specifies the commands available to the model, and how environment state is communicated back to it.</a:t>
            </a:r>
          </a:p>
        </p:txBody>
      </p:sp>
      <p:sp>
        <p:nvSpPr>
          <p:cNvPr id="5" name="TextBox 4"/>
          <p:cNvSpPr txBox="1"/>
          <p:nvPr/>
        </p:nvSpPr>
        <p:spPr>
          <a:xfrm>
            <a:off x="319251" y="3921801"/>
            <a:ext cx="6014545" cy="200000"/>
          </a:xfrm>
          <a:prstGeom prst="rect">
            <a:avLst/>
          </a:prstGeom>
          <a:noFill/>
        </p:spPr>
        <p:txBody>
          <a:bodyPr wrap="square" lIns="0" tIns="0" rIns="0" bIns="0">
            <a:spAutoFit/>
          </a:bodyPr>
          <a:lstStyle/>
          <a:p>
            <a:pPr algn="r"/>
            <a:r>
              <a:rPr sz="1050" i="1">
                <a:solidFill>
                  <a:schemeClr val="bg2"/>
                </a:solidFill>
              </a:rPr>
              <a:t>Yang et al., §2</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interface component is worth</a:t>
            </a:r>
          </a:p>
        </p:txBody>
      </p:sp>
      <p:graphicFrame>
        <p:nvGraphicFramePr>
          <p:cNvPr id="3" name="Table 2"/>
          <p:cNvGraphicFramePr>
            <a:graphicFrameLocks noGrp="1"/>
          </p:cNvGraphicFramePr>
          <p:nvPr/>
        </p:nvGraphicFramePr>
        <p:xfrm>
          <a:off x="319251" y="1100000"/>
          <a:ext cx="6014545" cy="2566950"/>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23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1514545">
                  <a:extLst>
                    <a:ext uri="{9D8B030D-6E8A-4147-A177-3AD203B41FA5}">
                      <a16:colId xmlns:a16="http://schemas.microsoft.com/office/drawing/2014/main" val="20003"/>
                    </a:ext>
                  </a:extLst>
                </a:gridCol>
              </a:tblGrid>
              <a:tr h="300000">
                <a:tc>
                  <a:txBody>
                    <a:bodyPr/>
                    <a:lstStyle/>
                    <a:p>
                      <a:pPr>
                        <a:buNone/>
                      </a:pPr>
                      <a:r>
                        <a:rPr sz="1000" b="1">
                          <a:solidFill>
                            <a:schemeClr val="tx1"/>
                          </a:solidFill>
                        </a:rPr>
                        <a:t>Component</a:t>
                      </a:r>
                    </a:p>
                  </a:txBody>
                  <a:tcPr marL="95250" marR="95250" marT="47625" marB="47625">
                    <a:lnB w="12700" cap="flat" cmpd="sng" algn="ctr">
                      <a:solidFill>
                        <a:schemeClr val="tx1"/>
                      </a:solidFill>
                    </a:lnB>
                    <a:noFill/>
                  </a:tcPr>
                </a:tc>
                <a:tc>
                  <a:txBody>
                    <a:bodyPr/>
                    <a:lstStyle/>
                    <a:p>
                      <a:pPr>
                        <a:buNone/>
                      </a:pPr>
                      <a:r>
                        <a:rPr sz="1000" b="1">
                          <a:solidFill>
                            <a:schemeClr val="tx1"/>
                          </a:solidFill>
                        </a:rPr>
                        <a:t>Variant</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Resolved</a:t>
                      </a:r>
                    </a:p>
                  </a:txBody>
                  <a:tcPr marL="95250" marR="95250" marT="47625" marB="47625">
                    <a:lnB w="12700" cap="flat" cmpd="sng" algn="ctr">
                      <a:solidFill>
                        <a:schemeClr val="tx1"/>
                      </a:solidFill>
                    </a:lnB>
                    <a:noFill/>
                  </a:tcPr>
                </a:tc>
                <a:tc>
                  <a:txBody>
                    <a:bodyPr/>
                    <a:lstStyle/>
                    <a:p>
                      <a:pPr>
                        <a:buNone/>
                      </a:pPr>
                      <a:r>
                        <a:rPr sz="1000" b="1">
                          <a:solidFill>
                            <a:schemeClr val="tx1"/>
                          </a:solidFill>
                        </a:rPr>
                        <a:t>Change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SWE-agent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as configured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18.0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Editor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edit action without linting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15.0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−3.0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 edit action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10.3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1">
                          <a:solidFill>
                            <a:schemeClr val="tx1"/>
                          </a:solidFill>
                        </a:rPr>
                        <a:t>−7.7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iterative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−6.0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 search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15.7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−2.3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File viewer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30-line window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14.3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−3.7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whole file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12.7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rgbClr val="28285E"/>
                          </a:solidFill>
                        </a:rPr>
                        <a:t>Context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full history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15.0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−3.0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r h="0">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 demonstration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16.3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9"/>
                  </a:ext>
                </a:extLst>
              </a:tr>
            </a:tbl>
          </a:graphicData>
        </a:graphic>
      </p:graphicFrame>
      <p:sp>
        <p:nvSpPr>
          <p:cNvPr id="4" name="Rectangle 3"/>
          <p:cNvSpPr/>
          <p:nvPr/>
        </p:nvSpPr>
        <p:spPr>
          <a:xfrm>
            <a:off x="1888761" y="378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Percent of SWE-bench Lite resolved, with the base model </a:t>
            </a:r>
            <a:r>
              <a:rPr sz="1200" b="1">
                <a:solidFill>
                  <a:schemeClr val="tx2"/>
                </a:solidFill>
              </a:rPr>
              <a:t>held fixed</a:t>
            </a:r>
            <a:r>
              <a:rPr sz="1200" b="0">
                <a:solidFill>
                  <a:schemeClr val="tx2"/>
                </a:solidFill>
              </a:rPr>
              <a:t>.</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ablation table does not say</a:t>
            </a:r>
          </a:p>
        </p:txBody>
      </p:sp>
      <p:sp>
        <p:nvSpPr>
          <p:cNvPr id="3" name="Content Placeholder 2"/>
          <p:cNvSpPr>
            <a:spLocks noGrp="1"/>
          </p:cNvSpPr>
          <p:nvPr>
            <p:ph idx="1"/>
          </p:nvPr>
        </p:nvSpPr>
        <p:spPr>
          <a:xfrm>
            <a:off x="319251" y="700000"/>
            <a:ext cx="6014545" cy="2300000"/>
          </a:xfrm>
        </p:spPr>
        <p:txBody>
          <a:bodyPr wrap="square" anchor="ctr">
            <a:normAutofit fontScale="92500" lnSpcReduction="20000"/>
          </a:bodyPr>
          <a:lstStyle/>
          <a:p>
            <a:pPr marL="0" indent="0">
              <a:buNone/>
            </a:pPr>
            <a:r>
              <a:rPr sz="1400" b="1">
                <a:solidFill>
                  <a:srgbClr val="28285E"/>
                </a:solidFill>
              </a:rPr>
              <a:t>Two readings of that table are worth separating.</a:t>
            </a:r>
          </a:p>
          <a:p>
            <a:pPr marL="400050" indent="-285750">
              <a:spcBef>
                <a:spcPts val="600"/>
              </a:spcBef>
              <a:spcAft>
                <a:spcPts val="600"/>
              </a:spcAft>
              <a:buClr>
                <a:srgbClr val="28285E"/>
              </a:buClr>
              <a:buSzPts val="1260"/>
              <a:buFont typeface="+mn-lt"/>
              <a:buChar char="●"/>
            </a:pPr>
            <a:r>
              <a:rPr sz="1400" b="1">
                <a:solidFill>
                  <a:schemeClr val="tx1"/>
                </a:solidFill>
              </a:rPr>
              <a:t>It supports </a:t>
            </a:r>
            <a:r>
              <a:rPr sz="1400" b="0">
                <a:solidFill>
                  <a:schemeClr val="tx1"/>
                </a:solidFill>
              </a:rPr>
              <a:t>the claim that interface choices move outcomes by several points each, and the 7.7-point edit gap is larger than the gap between many published systems.</a:t>
            </a:r>
          </a:p>
          <a:p>
            <a:pPr marL="400050" indent="-285750">
              <a:spcBef>
                <a:spcPts val="600"/>
              </a:spcBef>
              <a:spcAft>
                <a:spcPts val="600"/>
              </a:spcAft>
              <a:buClr>
                <a:srgbClr val="28285E"/>
              </a:buClr>
              <a:buSzPts val="1260"/>
              <a:buFont typeface="+mn-lt"/>
              <a:buChar char="●"/>
            </a:pPr>
            <a:r>
              <a:rPr sz="1400" b="1">
                <a:solidFill>
                  <a:schemeClr val="tx1"/>
                </a:solidFill>
              </a:rPr>
              <a:t>It does not support </a:t>
            </a:r>
            <a:r>
              <a:rPr sz="1400" b="0">
                <a:solidFill>
                  <a:schemeClr val="tx1"/>
                </a:solidFill>
              </a:rPr>
              <a:t>a general ranking of interfaces: one system, one base model, a 300-instance subset.</a:t>
            </a:r>
          </a:p>
          <a:p>
            <a:pPr marL="400050" indent="-285750">
              <a:spcBef>
                <a:spcPts val="600"/>
              </a:spcBef>
              <a:spcAft>
                <a:spcPts val="600"/>
              </a:spcAft>
              <a:buClr>
                <a:srgbClr val="28285E"/>
              </a:buClr>
              <a:buSzPts val="1260"/>
              <a:buFont typeface="+mn-lt"/>
              <a:buChar char="●"/>
            </a:pPr>
            <a:r>
              <a:rPr sz="1400" b="1">
                <a:solidFill>
                  <a:schemeClr val="tx1"/>
                </a:solidFill>
              </a:rPr>
              <a:t>The row to dwell on </a:t>
            </a:r>
            <a:r>
              <a:rPr sz="1400" b="0">
                <a:solidFill>
                  <a:schemeClr val="tx1"/>
                </a:solidFill>
              </a:rPr>
              <a:t>is search, where returning results one at a time scores 12.0, below having no search tool at all at 15.7.</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well-intentioned interface can be worse than nothing when it invites the model to work through every match in turn.</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8701</TotalTime>
  <Words>23576</Words>
  <Application>Microsoft Macintosh PowerPoint</Application>
  <PresentationFormat>Custom</PresentationFormat>
  <Paragraphs>1518</Paragraphs>
  <Slides>149</Slides>
  <Notes>139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149</vt:i4>
      </vt:variant>
    </vt:vector>
  </HeadingPairs>
  <TitlesOfParts>
    <vt:vector size="154" baseType="lpstr">
      <vt:lpstr>Arial</vt:lpstr>
      <vt:lpstr>Fira Sans Light</vt:lpstr>
      <vt:lpstr>Fira Sans</vt:lpstr>
      <vt:lpstr>Maple Mono NF</vt:lpstr>
      <vt:lpstr>Simple Light</vt:lpstr>
      <vt:lpstr>Designing Production Agentic Systems</vt:lpstr>
      <vt:lpstr>PowerPoint Presentation</vt:lpstr>
      <vt:lpstr>About the Instructors</vt:lpstr>
      <vt:lpstr>Class Notifications</vt:lpstr>
      <vt:lpstr>The key question that motivates this course</vt:lpstr>
      <vt:lpstr>What I hope you will learn…</vt:lpstr>
      <vt:lpstr>What I hope you will learn…</vt:lpstr>
      <vt:lpstr>Homework, Grades, and Exams</vt:lpstr>
      <vt:lpstr>Homework, Grades, and Exams</vt:lpstr>
      <vt:lpstr>PowerPoint Presentation</vt:lpstr>
      <vt:lpstr>Rational agents</vt:lpstr>
      <vt:lpstr>Rational agents</vt:lpstr>
      <vt:lpstr>Rational agents</vt:lpstr>
      <vt:lpstr>Rational agents</vt:lpstr>
      <vt:lpstr>Rational agents</vt:lpstr>
      <vt:lpstr>Today’s demo agent: mini-swe-agent</vt:lpstr>
      <vt:lpstr>One alert, one run, one patch</vt:lpstr>
      <vt:lpstr>One alert, one run, one patch</vt:lpstr>
      <vt:lpstr>One alert, one run, one patch</vt:lpstr>
      <vt:lpstr>Why this is a rational agent</vt:lpstr>
      <vt:lpstr>When it is not</vt:lpstr>
      <vt:lpstr>When it is not</vt:lpstr>
      <vt:lpstr>When it is not</vt:lpstr>
      <vt:lpstr>When it is not</vt:lpstr>
      <vt:lpstr>The task environment</vt:lpstr>
      <vt:lpstr>The task environment</vt:lpstr>
      <vt:lpstr>Properties: 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A reactive loop</vt:lpstr>
      <vt:lpstr>A reactive loop</vt:lpstr>
      <vt:lpstr>A reactive loop</vt:lpstr>
      <vt:lpstr>A reactive loop</vt:lpstr>
      <vt:lpstr>A reactive loop</vt:lpstr>
      <vt:lpstr>The graph that our first demo builds</vt:lpstr>
      <vt:lpstr>The graph, in code: the nodes</vt:lpstr>
      <vt:lpstr>Then the edges</vt:lpstr>
      <vt:lpstr>And the conditional ones</vt:lpstr>
      <vt:lpstr>Then compile</vt:lpstr>
      <vt:lpstr>Who picks the edge</vt:lpstr>
      <vt:lpstr>Model’s autonomy increases</vt:lpstr>
      <vt:lpstr>What the loop buys</vt:lpstr>
      <vt:lpstr>What the loop buys</vt:lpstr>
      <vt:lpstr>What the loop buys</vt:lpstr>
      <vt:lpstr>What the loop buys</vt:lpstr>
      <vt:lpstr>What it costs</vt:lpstr>
      <vt:lpstr>What it costs</vt:lpstr>
      <vt:lpstr>What it costs</vt:lpstr>
      <vt:lpstr>What it costs</vt:lpstr>
      <vt:lpstr>Where the failures live</vt:lpstr>
      <vt:lpstr>Three shapes of failure</vt:lpstr>
      <vt:lpstr>The stops are ours</vt:lpstr>
      <vt:lpstr>Demo &lt;/&gt;</vt:lpstr>
      <vt:lpstr>Some samples from our run</vt:lpstr>
      <vt:lpstr>PowerPoint Presentation</vt:lpstr>
      <vt:lpstr>Challenges with React Loop</vt:lpstr>
      <vt:lpstr>Shapes of Planning</vt:lpstr>
      <vt:lpstr>What each shape does with an observation</vt:lpstr>
      <vt:lpstr>The graph our planner-based demo builds</vt:lpstr>
      <vt:lpstr>The new nodes in our planner-based demo</vt:lpstr>
      <vt:lpstr>The edge from tools now has two destinations</vt:lpstr>
      <vt:lpstr>How the runtime decides the plan has failed</vt:lpstr>
      <vt:lpstr>What a planner changes compared to a react</vt:lpstr>
      <vt:lpstr>What a planner changes compared to a react</vt:lpstr>
      <vt:lpstr>What one plan step records</vt:lpstr>
      <vt:lpstr>Where a run goes wrong</vt:lpstr>
      <vt:lpstr>Where a run goes wrong</vt:lpstr>
      <vt:lpstr>Why wider search does not fix myopia</vt:lpstr>
      <vt:lpstr>Why submit can no longer accept a patch</vt:lpstr>
      <vt:lpstr>Why the validator never sees the conversation</vt:lpstr>
      <vt:lpstr>Self-review, measured: accuracy and cost</vt:lpstr>
      <vt:lpstr>Model verifier against sound verifier</vt:lpstr>
      <vt:lpstr>PowerPoint Presentation</vt:lpstr>
      <vt:lpstr>Reason and act</vt:lpstr>
      <vt:lpstr>Sequential</vt:lpstr>
      <vt:lpstr>Parallel</vt:lpstr>
      <vt:lpstr>Loop</vt:lpstr>
      <vt:lpstr>Review and critique</vt:lpstr>
      <vt:lpstr>Iterative refinement</vt:lpstr>
      <vt:lpstr>Coordinator</vt:lpstr>
      <vt:lpstr>Hierarchical task decomposition</vt:lpstr>
      <vt:lpstr>Swarm</vt:lpstr>
      <vt:lpstr>Human in the loop</vt:lpstr>
      <vt:lpstr>Custom logic</vt:lpstr>
      <vt:lpstr>Task ownership</vt:lpstr>
      <vt:lpstr>State boundaries</vt:lpstr>
      <vt:lpstr>Model-call overhead</vt:lpstr>
      <vt:lpstr>Latency</vt:lpstr>
      <vt:lpstr>Failure propagation</vt:lpstr>
      <vt:lpstr>Inspectability</vt:lpstr>
      <vt:lpstr>PowerPoint Presentation</vt:lpstr>
      <vt:lpstr>PowerPoint Presentation</vt:lpstr>
      <vt:lpstr>PowerPoint Presentation</vt:lpstr>
      <vt:lpstr>PowerPoint Presentation</vt:lpstr>
      <vt:lpstr>The record every node reads and writes</vt:lpstr>
      <vt:lpstr>A simple transition--Propose, then Merge</vt:lpstr>
      <vt:lpstr>Why two runs from one state diverge</vt:lpstr>
      <vt:lpstr>Three records, and who reads each</vt:lpstr>
      <vt:lpstr>The counters the model never sees</vt:lpstr>
      <vt:lpstr>How mini-swe-agent represents a state</vt:lpstr>
      <vt:lpstr>The state schema, field by field</vt:lpstr>
      <vt:lpstr>The state schema, field by field</vt:lpstr>
      <vt:lpstr>A TypedDict checks nothing at run time</vt:lpstr>
      <vt:lpstr>Three reducers, three kinds of visibility</vt:lpstr>
      <vt:lpstr>Clearing a field that appends</vt:lpstr>
      <vt:lpstr>One tool result becoming state</vt:lpstr>
      <vt:lpstr>PowerPoint Presentation</vt:lpstr>
      <vt:lpstr>Where the next node is chosen</vt:lpstr>
      <vt:lpstr>The complete graph, with both back edges</vt:lpstr>
      <vt:lpstr>What the router actually reads</vt:lpstr>
      <vt:lpstr>Reading who decided from the trace</vt:lpstr>
      <vt:lpstr>One compiled graph, different paths</vt:lpstr>
      <vt:lpstr>Two returns to the planner</vt:lpstr>
      <vt:lpstr>Who owns each return</vt:lpstr>
      <vt:lpstr>Three limits the runtime checks</vt:lpstr>
      <vt:lpstr>The five terminal statuses</vt:lpstr>
      <vt:lpstr>What a trace lets you conclude</vt:lpstr>
      <vt:lpstr>Three endings, in the recorded runs</vt:lpstr>
      <vt:lpstr>What a tool contract contains</vt:lpstr>
      <vt:lpstr>One request through the dispatcher</vt:lpstr>
      <vt:lpstr>Five operations, each able to stop</vt:lpstr>
      <vt:lpstr>Why a refusal is an observation</vt:lpstr>
      <vt:lpstr>Why config is not a parameter</vt:lpstr>
      <vt:lpstr>Six artifacts, six different claims</vt:lpstr>
      <vt:lpstr>What proves a function ran</vt:lpstr>
      <vt:lpstr>The agent-computer interface</vt:lpstr>
      <vt:lpstr>What each interface component is worth</vt:lpstr>
      <vt:lpstr>What the ablation table does not say</vt:lpstr>
      <vt:lpstr>Each guarantee, and what enforces it</vt:lpstr>
      <vt:lpstr>A refused request, side by side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166</cp:revision>
  <dcterms:modified xsi:type="dcterms:W3CDTF">2026-09-22T09:52:22Z</dcterms:modified>
</cp:coreProperties>
</file>
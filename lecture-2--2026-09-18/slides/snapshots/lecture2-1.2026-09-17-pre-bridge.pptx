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comments/modernComment_155_0.xml" ContentType="application/vnd.ms-powerpoint.comment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33"/>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51" r:id="rId26"/>
    <p:sldId id="352" r:id="rId27"/>
    <p:sldId id="353" r:id="rId28"/>
    <p:sldId id="355" r:id="rId29"/>
    <p:sldId id="354" r:id="rId30"/>
    <p:sldId id="356" r:id="rId31"/>
    <p:sldId id="357" r:id="rId32"/>
    <p:sldId id="358" r:id="rId49"/>
    <p:sldId id="359" r:id="rId50"/>
    <p:sldId id="360" r:id="rId51"/>
    <p:sldId id="361" r:id="rId52"/>
    <p:sldId id="362" r:id="rId53"/>
    <p:sldId id="363" r:id="rId54"/>
    <p:sldId id="364" r:id="rId55"/>
  </p:sldIdLst>
  <p:sldSz cx="6858000" cy="5143500"/>
  <p:notesSz cx="6858000" cy="9144000"/>
  <p:embeddedFontLst>
    <p:embeddedFont>
      <p:font typeface="Fira Sans" panose="020B0503050000020004" pitchFamily="34" charset="0"/>
      <p:regular r:id="rId34"/>
      <p:bold r:id="rId35"/>
      <p:italic r:id="rId36"/>
      <p:boldItalic r:id="rId37"/>
    </p:embeddedFont>
    <p:embeddedFont>
      <p:font typeface="Fira Sans Light" panose="020B0403050000020004" pitchFamily="34" charset="0"/>
      <p:regular r:id="rId38"/>
      <p:italic r:id="rId39"/>
    </p:embeddedFont>
    <p:embeddedFont>
      <p:font typeface="Maple Mono NF" panose="020F0509060000000000" pitchFamily="49" charset="0"/>
      <p:regular r:id="rId40"/>
      <p:bold r:id="rId41"/>
      <p:italic r:id="rId42"/>
      <p:boldItalic r:id="rId4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51"/>
            <p14:sldId id="352"/>
            <p14:sldId id="353"/>
            <p14:sldId id="355"/>
            <p14:sldId id="354"/>
            <p14:sldId id="356"/>
            <p14:sldId id="35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644"/>
    <p:restoredTop sz="98401"/>
  </p:normalViewPr>
  <p:slideViewPr>
    <p:cSldViewPr snapToGrid="0">
      <p:cViewPr varScale="1">
        <p:scale>
          <a:sx n="358" d="100"/>
          <a:sy n="358" d="100"/>
        </p:scale>
        <p:origin x="3136"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notesMaster" Target="notesMasters/notesMaster1.xml"/><Relationship Id="rId34" Type="http://schemas.openxmlformats.org/officeDocument/2006/relationships/font" Target="fonts/font1.fntdata"/><Relationship Id="rId35" Type="http://schemas.openxmlformats.org/officeDocument/2006/relationships/font" Target="fonts/font2.fntdata"/><Relationship Id="rId36" Type="http://schemas.openxmlformats.org/officeDocument/2006/relationships/font" Target="fonts/font3.fntdata"/><Relationship Id="rId37" Type="http://schemas.openxmlformats.org/officeDocument/2006/relationships/font" Target="fonts/font4.fntdata"/><Relationship Id="rId38" Type="http://schemas.openxmlformats.org/officeDocument/2006/relationships/font" Target="fonts/font5.fntdata"/><Relationship Id="rId39" Type="http://schemas.openxmlformats.org/officeDocument/2006/relationships/font" Target="fonts/font6.fntdata"/><Relationship Id="rId40" Type="http://schemas.openxmlformats.org/officeDocument/2006/relationships/font" Target="fonts/font7.fntdata"/><Relationship Id="rId41" Type="http://schemas.openxmlformats.org/officeDocument/2006/relationships/font" Target="fonts/font8.fntdata"/><Relationship Id="rId42" Type="http://schemas.openxmlformats.org/officeDocument/2006/relationships/font" Target="fonts/font9.fntdata"/><Relationship Id="rId43" Type="http://schemas.openxmlformats.org/officeDocument/2006/relationships/font" Target="fonts/font10.fntdata"/><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 Id="rId48" Type="http://schemas.microsoft.com/office/2018/10/relationships/authors" Target="authors.xml"/><Relationship Id="rId49" Type="http://schemas.openxmlformats.org/officeDocument/2006/relationships/slide" Target="slides/slide32.xml"/><Relationship Id="rId50" Type="http://schemas.openxmlformats.org/officeDocument/2006/relationships/slide" Target="slides/slide33.xml"/><Relationship Id="rId51" Type="http://schemas.openxmlformats.org/officeDocument/2006/relationships/slide" Target="slides/slide34.xml"/><Relationship Id="rId52" Type="http://schemas.openxmlformats.org/officeDocument/2006/relationships/slide" Target="slides/slide35.xml"/><Relationship Id="rId53" Type="http://schemas.openxmlformats.org/officeDocument/2006/relationships/slide" Target="slides/slide36.xml"/><Relationship Id="rId54" Type="http://schemas.openxmlformats.org/officeDocument/2006/relationships/slide" Target="slides/slide37.xml"/><Relationship Id="rId55" Type="http://schemas.openxmlformats.org/officeDocument/2006/relationships/slide" Target="slides/slide38.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Section 2. We have a definition of a rational agent and a machine to point at. Now the first architecture, and it is the one that gives the model the least: every control decision is ours, made before the program sees a task.</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Before the first one, the shape of the whole lecture. We build one agent, five times, and the only axis is the one from the decisions table: which decisions are ours at design time, and which are deferred to run time. V0 defers none, which is why it belongs in this section and the other four do not. V1 hands over the choice of the next action, and that single handover costs us all three properties we counted earlier. V2 hands over the plan and its revision. V3 takes acceptance away from the thing that proposes. V4 hands the runtime the question of whether to try again at all. Everything after the break is one of these rows. All five are published after class, so the code behind each row is something you can read.</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Our own version of the same shape. Agentless spends two phases recovering a file and a region from an issue report; a scanner alert hands us both, so localization collapses into a runtime step and the model is called exactly twice. Four nodes, and every run traverses them in this order. Price it before you run it: two model calls and one read per alert, so we can cost a thousand alerts before reading any of them. Four artifacts, so a wrong patch belongs to the node that produced it. And the run ends because Submit returns, with no step cap, because there is nothing to cap.</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Two gaps, and neither is a bug. Both are things we decided. The first: search is one of mini-swe-agent's tools, and no node in that chain can call it. The value the flagged query interpolates arrives from helpers/separate_request.py through get_form_parameter, so an alert whose fix depends on what that helper does is an alert V0 patches blind. The second: Submit's three checks are all we have, and none of them checks that the endpoint still returns what it returned before, which is part of the performance measure we wrote down in section one. So V0 can accept a patch that deletes the query outright and passes every check. That is the standing cost of letting the proposer's own artifacts define acceptance.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 Id="rId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mailto:rk3080@columbia.edu" TargetMode="External"/><Relationship Id="rId3" Type="http://schemas.openxmlformats.org/officeDocument/2006/relationships/hyperlink" Target="mailto:ik2619@columbia.edu" TargetMode="Externa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microsoft.com/office/2018/10/relationships/comments" Target="../comments/modernComment_155_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png"/><Relationship Id="rId3" Type="http://schemas.openxmlformats.org/officeDocument/2006/relationships/notesSlide" Target="../notesSlides/notesSlide2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430696" y="2217807"/>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rP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a:t>Fixed parts and open parts</a:t>
            </a:r>
          </a:p>
        </p:txBody>
      </p:sp>
      <p:sp>
        <p:nvSpPr>
          <p:cNvPr id="3" name="Content Placeholder 2"/>
          <p:cNvSpPr>
            <a:spLocks noGrp="1"/>
          </p:cNvSpPr>
          <p:nvPr>
            <p:ph idx="1"/>
          </p:nvPr>
        </p:nvSpPr>
        <p:spPr>
          <a:xfrm>
            <a:off x="319251" y="1624859"/>
            <a:ext cx="6014545" cy="2000000"/>
          </a:xfrm>
        </p:spPr>
        <p:txBody>
          <a:bodyPr wrap="square"/>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What the fixed shape costs</a:t>
            </a:r>
          </a:p>
        </p:txBody>
      </p:sp>
      <p:sp>
        <p:nvSpPr>
          <p:cNvPr id="3" name="Content Placeholder 2"/>
          <p:cNvSpPr>
            <a:spLocks noGrp="1"/>
          </p:cNvSpPr>
          <p:nvPr>
            <p:ph idx="1"/>
          </p:nvPr>
        </p:nvSpPr>
        <p:spPr>
          <a:xfrm>
            <a:off x="319251" y="700000"/>
            <a:ext cx="6014545" cy="2150000"/>
          </a:xfrm>
        </p:spPr>
        <p:txBody>
          <a:bodyPr wrap="square"/>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Agentless, one realization</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2"/>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Every arrow here was drawn before the issue arrived.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Agentless and SWE-agent</a:t>
            </a:r>
          </a:p>
        </p:txBody>
      </p:sp>
      <p:graphicFrame>
        <p:nvGraphicFramePr>
          <p:cNvPr id="3" name="Table 2"/>
          <p:cNvGraphicFramePr>
            <a:graphicFrameLocks noGrp="1"/>
          </p:cNvGraphicFramePr>
          <p:nvPr/>
        </p:nvGraphicFramePr>
        <p:xfrm>
          <a:off x="319251" y="1150000"/>
          <a:ext cx="6014545" cy="1500000"/>
        </p:xfrm>
        <a:graphic>
          <a:graphicData uri="http://schemas.openxmlformats.org/drawingml/2006/table">
            <a:tbl>
              <a:tblPr>
                <a:tableStyleId>{2D5ABB26-0587-4C30-8999-92F81FD0307C}</a:tableStyleId>
              </a:tblPr>
              <a:tblGrid>
                <a:gridCol w="1300000"/>
                <a:gridCol w="2357272"/>
                <a:gridCol w="2357273"/>
              </a:tblGrid>
              <a:tr h="300000">
                <a:tc>
                  <a:txBody>
                    <a:bodyPr wrap="square"/>
                    <a:lstStyle/>
                    <a:p>
                      <a:pPr algn="l">
                        <a:buNone/>
                      </a:pPr>
                      <a:r>
                        <a:rPr sz="1100" b="1">
                          <a:solidFill>
                            <a:schemeClr val="tx1"/>
                          </a:solidFill>
                        </a:rPr>
                        <a:t>SWE-bench Lite</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b="1">
                          <a:solidFill>
                            <a:schemeClr val="tx1"/>
                          </a:solidFill>
                        </a:rPr>
                        <a:t>Agentless</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b="1">
                          <a:solidFill>
                            <a:schemeClr val="tx1"/>
                          </a:solidFill>
                        </a:rPr>
                        <a:t>SWE-agent</a:t>
                      </a:r>
                    </a:p>
                  </a:txBody>
                  <a:tcPr marL="95250" marR="95250" marT="47625" marB="47625" anchor="t">
                    <a:lnB w="12700" cap="flat" cmpd="sng" algn="ctr">
                      <a:solidFill>
                        <a:schemeClr val="tx1"/>
                      </a:solidFill>
                    </a:lnB>
                    <a:lnT w="19050" cap="flat" cmpd="sng" algn="ctr">
                      <a:solidFill>
                        <a:schemeClr val="tx1"/>
                      </a:solidFill>
                    </a:lnT>
                    <a:noFill/>
                  </a:tcPr>
                </a:tc>
              </a:tr>
              <a:tr h="0">
                <a:tc>
                  <a:txBody>
                    <a:bodyPr wrap="square"/>
                    <a:lstStyle/>
                    <a:p>
                      <a:pPr algn="l">
                        <a:buNone/>
                      </a:pPr>
                      <a:r>
                        <a:rPr sz="1100" b="1">
                          <a:solidFill>
                            <a:srgbClr val="28285E"/>
                          </a:solidFill>
                        </a:rPr>
                        <a:t>Control</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Three phases in a fixed order</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The model chooses the next action</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100" b="1">
                          <a:solidFill>
                            <a:srgbClr val="28285E"/>
                          </a:solidFill>
                        </a:rPr>
                        <a:t>Resolved</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a:solidFill>
                            <a:schemeClr val="tx1"/>
                          </a:solidFill>
                        </a:rPr>
                        <a:t>96 of 300 (32.00%)</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100">
                          <a:solidFill>
                            <a:schemeClr val="tx1"/>
                          </a:solidFill>
                        </a:rPr>
                        <a:t>55 of 300 (18.33%)</a:t>
                      </a:r>
                    </a:p>
                  </a:txBody>
                  <a:tcPr marL="95250" marR="95250" marT="47625" marB="47625" anchor="t">
                    <a:lnB w="12700" cap="flat" cmpd="sng" algn="ctr">
                      <a:solidFill>
                        <a:schemeClr val="tx1"/>
                      </a:solidFill>
                    </a:lnB>
                    <a:lnT w="19050" cap="flat" cmpd="sng" algn="ctr">
                      <a:solidFill>
                        <a:schemeClr val="tx1"/>
                      </a:solidFill>
                    </a:lnT>
                    <a:noFill/>
                  </a:tcPr>
                </a:tc>
              </a:tr>
              <a:tr h="0">
                <a:tc>
                  <a:txBody>
                    <a:bodyPr wrap="square"/>
                    <a:lstStyle/>
                    <a:p>
                      <a:pPr algn="l">
                        <a:buNone/>
                      </a:pPr>
                      <a:r>
                        <a:rPr sz="1100" b="1">
                          <a:solidFill>
                            <a:srgbClr val="28285E"/>
                          </a:solidFill>
                        </a:rPr>
                        <a:t>Cost per issue</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$0.70</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$2.53</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100" b="1">
                          <a:solidFill>
                            <a:srgbClr val="28285E"/>
                          </a:solidFill>
                        </a:rPr>
                        <a:t>Tokens per issue</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78,165</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100">
                          <a:solidFill>
                            <a:schemeClr val="tx1"/>
                          </a:solidFill>
                        </a:rPr>
                        <a:t>498,346</a:t>
                      </a:r>
                    </a:p>
                  </a:txBody>
                  <a:tcPr marL="95250" marR="95250" marT="47625" marB="47625" anchor="t">
                    <a:lnB w="12700" cap="flat" cmpd="sng" algn="ctr">
                      <a:solidFill>
                        <a:schemeClr val="tx1"/>
                      </a:solidFill>
                    </a:lnB>
                    <a:lnT w="12700" cap="flat" cmpd="sng" algn="ctr">
                      <a:solidFill>
                        <a:schemeClr val="tx1"/>
                      </a:solidFill>
                    </a:lnT>
                    <a:noFill/>
                  </a:tcPr>
                </a:tc>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Grains of salt</a:t>
            </a:r>
          </a:p>
        </p:txBody>
      </p:sp>
      <p:sp>
        <p:nvSpPr>
          <p:cNvPr id="3" name="Content Placeholder 2"/>
          <p:cNvSpPr>
            <a:spLocks noGrp="1"/>
          </p:cNvSpPr>
          <p:nvPr>
            <p:ph idx="1"/>
          </p:nvPr>
        </p:nvSpPr>
        <p:spPr>
          <a:xfrm>
            <a:off x="319251" y="700000"/>
            <a:ext cx="6014545" cy="1720000"/>
          </a:xfrm>
        </p:spPr>
        <p:txBody>
          <a:bodyPr wrap="square"/>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None of this shows that fixed workflows win in general.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One agent, five versions</a:t>
            </a:r>
          </a:p>
        </p:txBody>
      </p:sp>
      <p:graphicFrame>
        <p:nvGraphicFramePr>
          <p:cNvPr id="3" name="Table 2"/>
          <p:cNvGraphicFramePr>
            <a:graphicFrameLocks noGrp="1"/>
          </p:cNvGraphicFramePr>
          <p:nvPr/>
        </p:nvGraphicFramePr>
        <p:xfrm>
          <a:off x="319251" y="1491615"/>
          <a:ext cx="6014545" cy="1840000"/>
        </p:xfrm>
        <a:graphic>
          <a:graphicData uri="http://schemas.openxmlformats.org/drawingml/2006/table">
            <a:tbl>
              <a:tblPr>
                <a:tableStyleId>{2D5ABB26-0587-4C30-8999-92F81FD0307C}</a:tableStyleId>
              </a:tblPr>
              <a:tblGrid>
                <a:gridCol w="900000"/>
                <a:gridCol w="3400000"/>
                <a:gridCol w="1714545"/>
              </a:tblGrid>
              <a:tr h="300000">
                <a:tc>
                  <a:txBody>
                    <a:bodyPr wrap="square"/>
                    <a:lstStyle/>
                    <a:p>
                      <a:pPr algn="l">
                        <a:buNone/>
                      </a:pPr>
                      <a:r>
                        <a:rPr sz="1400" b="1">
                          <a:solidFill>
                            <a:schemeClr val="tx1"/>
                          </a:solidFill>
                        </a:rPr>
                        <a:t>Version</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400" b="1">
                          <a:solidFill>
                            <a:schemeClr val="tx1"/>
                          </a:solidFill>
                        </a:rPr>
                        <a:t>Decision moved to run time</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400" b="1">
                          <a:solidFill>
                            <a:schemeClr val="tx1"/>
                          </a:solidFill>
                        </a:rPr>
                        <a:t>Who decides it</a:t>
                      </a:r>
                    </a:p>
                  </a:txBody>
                  <a:tcPr marL="95250" marR="95250" marT="47625" marB="47625" anchor="t">
                    <a:lnB w="12700" cap="flat" cmpd="sng" algn="ctr">
                      <a:solidFill>
                        <a:schemeClr val="tx1"/>
                      </a:solidFill>
                    </a:lnB>
                    <a:lnT w="19050" cap="flat" cmpd="sng" algn="ctr">
                      <a:solidFill>
                        <a:schemeClr val="tx1"/>
                      </a:solidFill>
                    </a:lnT>
                    <a:noFill/>
                  </a:tcPr>
                </a:tc>
              </a:tr>
              <a:tr h="0">
                <a:tc>
                  <a:txBody>
                    <a:bodyPr wrap="square"/>
                    <a:lstStyle/>
                    <a:p>
                      <a:pPr algn="l">
                        <a:buNone/>
                      </a:pPr>
                      <a:r>
                        <a:rPr sz="1400" b="1">
                          <a:solidFill>
                            <a:srgbClr val="28285E"/>
                          </a:solidFill>
                        </a:rPr>
                        <a:t>V0</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None. Every control decision is ours</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We do</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400" b="1">
                          <a:solidFill>
                            <a:srgbClr val="28285E"/>
                          </a:solidFill>
                        </a:rPr>
                        <a:t>V1</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400">
                          <a:solidFill>
                            <a:schemeClr val="tx1"/>
                          </a:solidFill>
                        </a:rPr>
                        <a:t>Which action runs next</a:t>
                      </a:r>
                    </a:p>
                  </a:txBody>
                  <a:tcPr marL="95250" marR="95250" marT="47625" marB="47625" anchor="t">
                    <a:lnB w="12700" cap="flat" cmpd="sng" algn="ctr">
                      <a:solidFill>
                        <a:schemeClr val="tx1"/>
                      </a:solidFill>
                    </a:lnB>
                    <a:lnT w="19050" cap="flat" cmpd="sng" algn="ctr">
                      <a:solidFill>
                        <a:schemeClr val="tx1"/>
                      </a:solidFill>
                    </a:lnT>
                    <a:noFill/>
                  </a:tcPr>
                </a:tc>
                <a:tc>
                  <a:txBody>
                    <a:bodyPr wrap="square"/>
                    <a:lstStyle/>
                    <a:p>
                      <a:pPr algn="l">
                        <a:buNone/>
                      </a:pPr>
                      <a:r>
                        <a:rPr sz="1400">
                          <a:solidFill>
                            <a:schemeClr val="tx1"/>
                          </a:solidFill>
                        </a:rPr>
                        <a:t>The model</a:t>
                      </a:r>
                    </a:p>
                  </a:txBody>
                  <a:tcPr marL="95250" marR="95250" marT="47625" marB="47625" anchor="t">
                    <a:lnB w="12700" cap="flat" cmpd="sng" algn="ctr">
                      <a:solidFill>
                        <a:schemeClr val="tx1"/>
                      </a:solidFill>
                    </a:lnB>
                    <a:lnT w="19050" cap="flat" cmpd="sng" algn="ctr">
                      <a:solidFill>
                        <a:schemeClr val="tx1"/>
                      </a:solidFill>
                    </a:lnT>
                    <a:noFill/>
                  </a:tcPr>
                </a:tc>
              </a:tr>
              <a:tr h="0">
                <a:tc>
                  <a:txBody>
                    <a:bodyPr wrap="square"/>
                    <a:lstStyle/>
                    <a:p>
                      <a:pPr algn="l">
                        <a:buNone/>
                      </a:pPr>
                      <a:r>
                        <a:rPr sz="1400" b="1">
                          <a:solidFill>
                            <a:srgbClr val="28285E"/>
                          </a:solidFill>
                        </a:rPr>
                        <a:t>V2</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The plan, and its revision</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The model</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400" b="1">
                          <a:solidFill>
                            <a:srgbClr val="28285E"/>
                          </a:solidFill>
                        </a:rPr>
                        <a:t>V3</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Whether the patch is accepted</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A validator</a:t>
                      </a:r>
                    </a:p>
                  </a:txBody>
                  <a:tcPr marL="95250" marR="95250" marT="47625" marB="47625" anchor="t">
                    <a:lnB w="12700" cap="flat" cmpd="sng" algn="ctr">
                      <a:solidFill>
                        <a:schemeClr val="tx1"/>
                      </a:solidFill>
                    </a:lnB>
                    <a:lnT w="12700" cap="flat" cmpd="sng" algn="ctr">
                      <a:solidFill>
                        <a:schemeClr val="tx1"/>
                      </a:solidFill>
                    </a:lnT>
                    <a:noFill/>
                  </a:tcPr>
                </a:tc>
              </a:tr>
              <a:tr h="0">
                <a:tc>
                  <a:txBody>
                    <a:bodyPr wrap="square"/>
                    <a:lstStyle/>
                    <a:p>
                      <a:pPr algn="l">
                        <a:buNone/>
                      </a:pPr>
                      <a:r>
                        <a:rPr sz="1400" b="1">
                          <a:solidFill>
                            <a:srgbClr val="28285E"/>
                          </a:solidFill>
                        </a:rPr>
                        <a:t>V4</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Whether to try again</a:t>
                      </a:r>
                    </a:p>
                  </a:txBody>
                  <a:tcPr marL="95250" marR="95250" marT="47625" marB="47625" anchor="t">
                    <a:lnB w="12700" cap="flat" cmpd="sng" algn="ctr">
                      <a:solidFill>
                        <a:schemeClr val="tx1"/>
                      </a:solidFill>
                    </a:lnB>
                    <a:lnT w="12700" cap="flat" cmpd="sng" algn="ctr">
                      <a:solidFill>
                        <a:schemeClr val="tx1"/>
                      </a:solidFill>
                    </a:lnT>
                    <a:noFill/>
                  </a:tcPr>
                </a:tc>
                <a:tc>
                  <a:txBody>
                    <a:bodyPr wrap="square"/>
                    <a:lstStyle/>
                    <a:p>
                      <a:pPr algn="l">
                        <a:buNone/>
                      </a:pPr>
                      <a:r>
                        <a:rPr sz="1400">
                          <a:solidFill>
                            <a:schemeClr val="tx1"/>
                          </a:solidFill>
                        </a:rPr>
                        <a:t>The runtime</a:t>
                      </a:r>
                    </a:p>
                  </a:txBody>
                  <a:tcPr marL="95250" marR="95250" marT="47625" marB="47625" anchor="t">
                    <a:lnB w="12700" cap="flat" cmpd="sng" algn="ctr">
                      <a:solidFill>
                        <a:schemeClr val="tx1"/>
                      </a:solidFill>
                    </a:lnB>
                    <a:lnT w="12700" cap="flat" cmpd="sng" algn="ctr">
                      <a:solidFill>
                        <a:schemeClr val="tx1"/>
                      </a:solidFill>
                    </a:lnT>
                    <a:noFill/>
                  </a:tcPr>
                </a:tc>
              </a:tr>
            </a:tbl>
          </a:graphicData>
        </a:graphic>
      </p:graphicFrame>
      <p:sp>
        <p:nvSpPr>
          <p:cNvPr id="4" name="Rectangle 3"/>
          <p:cNvSpPr/>
          <p:nvPr/>
        </p:nvSpPr>
        <p:spPr>
          <a:xfrm>
            <a:off x="1888761" y="3600000"/>
            <a:ext cx="4445035"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0">
                <a:solidFill>
                  <a:schemeClr val="tx2"/>
                </a:solidFill>
              </a:rPr>
              <a:t>Each version hands over </a:t>
            </a:r>
            <a:r>
              <a:rPr sz="1200" b="1">
                <a:solidFill>
                  <a:schemeClr val="tx2"/>
                </a:solidFill>
              </a:rPr>
              <a:t>one more decision</a:t>
            </a:r>
            <a:r>
              <a:rPr sz="1200" b="0">
                <a:solidFill>
                  <a:schemeClr val="tx2"/>
                </a:solidFill>
              </a:rPr>
              <a: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V0, the fixed workflow</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V0 is our fixed workflow: the alert already names the file and the line, so localization is a runtime step and </a:t>
            </a:r>
            <a:r>
              <a:rPr sz="1400" b="1">
                <a:solidFill>
                  <a:schemeClr val="tx2"/>
                </a:solidFill>
              </a:rPr>
              <a:t>the model is called twice</a:t>
            </a:r>
            <a:r>
              <a:rPr sz="1400">
                <a:solidFill>
                  <a:schemeClr val="tx2"/>
                </a:solidFill>
              </a:rPr>
              <a:t>.</a:t>
            </a:r>
          </a:p>
        </p:txBody>
      </p:sp>
      <p:pic>
        <p:nvPicPr>
          <p:cNvPr id="4" name="Picture 3" descr="graph-v0-deck.png"/>
          <p:cNvPicPr>
            <a:picLocks noChangeAspect="1"/>
          </p:cNvPicPr>
          <p:nvPr/>
        </p:nvPicPr>
        <p:blipFill>
          <a:blip r:embed="rId2"/>
          <a:stretch>
            <a:fillRect/>
          </a:stretch>
        </p:blipFill>
        <p:spPr>
          <a:xfrm>
            <a:off x="250147" y="1700000"/>
            <a:ext cx="6152752" cy="945975"/>
          </a:xfrm>
          <a:prstGeom prst="rect">
            <a:avLst/>
          </a:prstGeom>
        </p:spPr>
      </p:pic>
      <p:sp>
        <p:nvSpPr>
          <p:cNvPr id="5" name="Rectangle 4"/>
          <p:cNvSpPr/>
          <p:nvPr/>
        </p:nvSpPr>
        <p:spPr>
          <a:xfrm>
            <a:off x="319251" y="30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Two model calls and one read, whatever the alert. On the worked B608 alert, both calls have what they need and V0 resolves it every time.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t>What V0 cannot ask</a:t>
            </a:r>
          </a:p>
        </p:txBody>
      </p:sp>
      <p:sp>
        <p:nvSpPr>
          <p:cNvPr id="3" name="Content Placeholder 2"/>
          <p:cNvSpPr>
            <a:spLocks noGrp="1"/>
          </p:cNvSpPr>
          <p:nvPr>
            <p:ph idx="1"/>
          </p:nvPr>
        </p:nvSpPr>
        <p:spPr>
          <a:xfrm>
            <a:off x="319251" y="700000"/>
            <a:ext cx="6014545" cy="2200000"/>
          </a:xfrm>
        </p:spPr>
        <p:txBody>
          <a:bodyPr wrap="square"/>
          <a:lstStyle/>
          <a:p>
            <a:pPr marL="0" indent="0">
              <a:buNone/>
            </a:pPr>
            <a:r>
              <a:rPr sz="1400" b="1">
                <a:solidFill>
                  <a:srgbClr val="28285E"/>
                </a:solidFill>
              </a:rPr>
              <a:t>Two gaps, one in what V0 can see and one in what it accepts:</a:t>
            </a:r>
          </a:p>
          <a:p>
            <a:pPr marL="400050" indent="-285750">
              <a:spcBef>
                <a:spcPts val="600"/>
              </a:spcBef>
              <a:spcAft>
                <a:spcPts val="600"/>
              </a:spcAft>
              <a:buClr>
                <a:srgbClr val="28285E"/>
              </a:buClr>
              <a:buSzPts val="1260"/>
              <a:buFont typeface="Fira Sans"/>
              <a:buChar char="●"/>
            </a:pPr>
            <a:r>
              <a:rPr sz="1400" b="1">
                <a:solidFill>
                  <a:schemeClr val="tx1"/>
                </a:solidFill>
              </a:rPr>
              <a:t>No node calls </a:t>
            </a:r>
            <a:r>
              <a:rPr sz="1400" b="1">
                <a:latin typeface="Maple Mono NF"/>
                <a:solidFill>
                  <a:schemeClr val="tx1"/>
                </a:solidFill>
              </a:rPr>
              <a:t>search</a:t>
            </a:r>
            <a:r>
              <a:rPr sz="1400" b="1">
                <a:solidFill>
                  <a:schemeClr val="tx1"/>
                </a:solidFill>
              </a:rPr>
              <a:t>. </a:t>
            </a:r>
            <a:r>
              <a:rPr sz="1400">
                <a:solidFill>
                  <a:schemeClr val="tx1"/>
                </a:solidFill>
              </a:rPr>
              <a:t>The value the flagged query interpolates comes from a helper the alert never names.</a:t>
            </a:r>
          </a:p>
          <a:p>
            <a:pPr marL="400050" indent="-285750">
              <a:spcBef>
                <a:spcPts val="600"/>
              </a:spcBef>
              <a:spcAft>
                <a:spcPts val="600"/>
              </a:spcAft>
              <a:buClr>
                <a:srgbClr val="28285E"/>
              </a:buClr>
              <a:buSzPts val="1260"/>
              <a:buFont typeface="Fira Sans"/>
              <a:buChar char="●"/>
            </a:pPr>
            <a:r>
              <a:rPr sz="1400" b="1">
                <a:solidFill>
                  <a:schemeClr val="tx1"/>
                </a:solidFill>
              </a:rPr>
              <a:t>Submit checks three things. </a:t>
            </a:r>
            <a:r>
              <a:rPr sz="1400">
                <a:solidFill>
                  <a:schemeClr val="tx1"/>
                </a:solidFill>
              </a:rPr>
              <a:t>The patch applies, it touches the flagged line, the rescan is clean.</a:t>
            </a:r>
          </a:p>
          <a:p>
            <a:pPr marL="400050" indent="-285750">
              <a:spcBef>
                <a:spcPts val="600"/>
              </a:spcBef>
              <a:spcAft>
                <a:spcPts val="600"/>
              </a:spcAft>
              <a:buClr>
                <a:srgbClr val="28285E"/>
              </a:buClr>
              <a:buSzPts val="1260"/>
              <a:buFont typeface="Fira Sans"/>
              <a:buChar char="●"/>
            </a:pPr>
            <a:r>
              <a:rPr sz="1400" b="1">
                <a:solidFill>
                  <a:schemeClr val="tx1"/>
                </a:solidFill>
              </a:rPr>
              <a:t>None of them checks behavior. </a:t>
            </a:r>
            <a:r>
              <a:rPr sz="1400">
                <a:solidFill>
                  <a:schemeClr val="tx1"/>
                </a:solidFill>
              </a:rPr>
              <a:t>A patch that deletes the query passes all three.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just">
              <a:lnSpc>
                <a:spcPct val="114000"/>
              </a:lnSpc>
            </a:pPr>
            <a:r>
              <a:rPr sz="1400">
                <a:solidFill>
                  <a:schemeClr val="tx2"/>
                </a:solidFill>
              </a:rPr>
              <a:t>V0 does not fail and it does not report a gap. It writes a plausible patch, and </a:t>
            </a:r>
            <a:r>
              <a:rPr sz="1400" b="1">
                <a:solidFill>
                  <a:schemeClr val="tx2"/>
                </a:solidFill>
              </a:rPr>
              <a:t>the checks pass</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a:solidFill>
                  <a:srgbClr val="28285E"/>
                </a:solidFill>
              </a:rPr>
              <a:t>Here the proposer’s own artifacts define acceptance.</a:t>
            </a:r>
            <a:r>
              <a:rPr sz="1200" b="1">
                <a:solidFill>
                  <a:srgbClr val="C73561"/>
                </a:solidFill>
              </a:rPr>
              <a:t>  (a validator separates them)</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2517</TotalTime>
  <Words>4357</Words>
  <Application>Microsoft Macintosh PowerPoint</Application>
  <PresentationFormat>Custom</PresentationFormat>
  <Paragraphs>353</Paragraphs>
  <Slides>31</Slides>
  <Notes>22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Maple Mono NF</vt:lpstr>
      <vt:lpstr>Fira Sans Light</vt:lpstr>
      <vt:lpstr>Menlo</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69</cp:revision>
  <dcterms:modified xsi:type="dcterms:W3CDTF">2026-09-17T13:56:53Z</dcterms:modified>
</cp:coreProperties>
</file>
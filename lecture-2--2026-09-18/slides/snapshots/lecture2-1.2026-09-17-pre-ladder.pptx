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55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9"/>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51" r:id="rId26"/>
    <p:sldId id="352" r:id="rId27"/>
    <p:sldId id="353" r:id="rId28"/>
    <p:sldId id="355" r:id="rId29"/>
    <p:sldId id="354" r:id="rId30"/>
    <p:sldId id="356" r:id="rId31"/>
    <p:sldId id="357" r:id="rId32"/>
    <p:sldId id="358" r:id="rId33"/>
    <p:sldId id="359" r:id="rId34"/>
    <p:sldId id="360" r:id="rId35"/>
    <p:sldId id="361" r:id="rId36"/>
    <p:sldId id="362" r:id="rId37"/>
    <p:sldId id="363" r:id="rId38"/>
  </p:sldIdLst>
  <p:sldSz cx="6858000" cy="5143500"/>
  <p:notesSz cx="6858000" cy="9144000"/>
  <p:embeddedFontLst>
    <p:embeddedFont>
      <p:font typeface="Fira Sans" panose="020B0503050000020004" pitchFamily="34" charset="0"/>
      <p:regular r:id="rId40"/>
      <p:bold r:id="rId41"/>
      <p:italic r:id="rId42"/>
      <p:boldItalic r:id="rId43"/>
    </p:embeddedFont>
    <p:embeddedFont>
      <p:font typeface="Fira Sans Light" panose="020B0403050000020004" pitchFamily="34" charset="0"/>
      <p:regular r:id="rId44"/>
      <p:italic r:id="rId45"/>
    </p:embeddedFont>
    <p:embeddedFont>
      <p:font typeface="Maple Mono NF" panose="020F0509060000000000" pitchFamily="49"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 id="350"/>
            <p14:sldId id="351"/>
            <p14:sldId id="352"/>
            <p14:sldId id="353"/>
            <p14:sldId id="355"/>
            <p14:sldId id="354"/>
            <p14:sldId id="356"/>
            <p14:sldId id="357"/>
            <p14:sldId id="358"/>
            <p14:sldId id="359"/>
            <p14:sldId id="360"/>
            <p14:sldId id="361"/>
            <p14:sldId id="362"/>
            <p14:sldId id="363"/>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74"/>
    <p:restoredTop sz="98401"/>
  </p:normalViewPr>
  <p:slideViewPr>
    <p:cSldViewPr snapToGrid="0">
      <p:cViewPr varScale="1">
        <p:scale>
          <a:sx n="334" d="100"/>
          <a:sy n="334" d="100"/>
        </p:scale>
        <p:origin x="184" y="560"/>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54"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s>
</file>

<file path=ppt/comments/modernComment_155_0.xml><?xml version="1.0" encoding="utf-8"?>
<p188:cmLst xmlns:a="http://schemas.openxmlformats.org/drawingml/2006/main" xmlns:r="http://schemas.openxmlformats.org/officeDocument/2006/relationships" xmlns:p188="http://schemas.microsoft.com/office/powerpoint/2018/8/main">
  <p188:cm id="{60000E52-6B10-8542-AE63-F9128E3BAFD3}" authorId="{BBF72F71-1B05-876B-1723-EC4BFB4CF1F1}" created="2026-09-17T09:32:05.091">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246" len="154">
        <ac:context len="509" hash="706592031"/>
      </ac:txMk>
    </ac:txMkLst>
    <p188:pos x="5909533" y="1496206"/>
    <p188:txBody>
      <a:bodyPr/>
      <a:lstStyle/>
      <a:p>
        <a:r>
          <a:rPr lang="en-US"/>
          <a:t>Make no sense?</a:t>
        </a:r>
      </a:p>
    </p188:txBody>
  </p188:cm>
  <p188:cm id="{1CDA764E-8499-0A4B-9B3C-78E025FCA5DE}" authorId="{BBF72F71-1B05-876B-1723-EC4BFB4CF1F1}" created="2026-09-17T09:35:26.286">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58" len="450">
        <ac:context len="509" hash="706592031"/>
      </ac:txMk>
    </ac:txMkLst>
    <p188:pos x="5894937" y="541404"/>
    <p188:txBody>
      <a:bodyPr/>
      <a:lstStyle/>
      <a:p>
        <a:r>
          <a:rPr lang="en-US"/>
          <a:t>In magenta, add (when does this become relavant)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2. We have a definition of a rational agent and a machine to point at. Now the first architecture, and it is the one that gives the model the least: every control decision is ours, made before the program sees a task.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Our own version of the same shape. Agentless spends two phases recovering a file and a region from an issue report; a scanner alert hands us both, so localization collapses into a runtime step and the model is called exactly twice. Four nodes, and every run traverses them in this order. Price it before you run it: two model calls and one read per alert, so we can cost a thousand alerts before reading any of them. Four artifacts, so a wrong patch belongs to the node that produced it. And the run ends because Submit returns, with no step cap, because there is nothing to cap.</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gaps, and neither is a bug. Both are things we decided. The first: search is one of mini-swe-agent's tools, and no node in that chain can call it. The value the flagged query interpolates arrives from helpers/separate_request.py through get_form_parameter, so an alert whose fix depends on what that helper does is an alert V0 patches blind. The second: Submit's three checks are all we have, and none of them checks that the endpoint still returns what it returned before, which is part of the performance measure we wrote down in section one. So V0 can accept a patch that deletes the query outright and passes every check. That is the standing cost of letting the proposer's own artifacts define acceptance.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55_0.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dirty="0"/>
              <a:t>Patching only the flagged line, and the weakness survives when the unsafe value comes from a helper the alert never names. A better agent follows the value first </a:t>
            </a:r>
            <a:r>
              <a:rPr sz="1400" b="1" dirty="0">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1" u="sng">
                <a:solidFill>
                  <a:schemeClr val="tx2"/>
                </a:solidFill>
              </a:rPr>
              <a:t>Budget</a:t>
            </a:r>
            <a:r>
              <a:rPr sz="1500" b="0" u="none">
                <a:solidFill>
                  <a:schemeClr val="tx2"/>
                </a:solidFill>
              </a:rPr>
              <a:t>, </a:t>
            </a:r>
            <a:r>
              <a:rPr sz="1500" b="1" u="sng">
                <a:solidFill>
                  <a:schemeClr val="tx2"/>
                </a:solidFill>
              </a:rPr>
              <a:t>depth of investigation</a:t>
            </a:r>
            <a:r>
              <a:rPr sz="1500" b="0" u="none">
                <a:solidFill>
                  <a:schemeClr val="tx2"/>
                </a:solidFill>
              </a:rPr>
              <a:t>, </a:t>
            </a:r>
            <a:r>
              <a:rPr sz="1500" b="1" u="sng">
                <a:solidFill>
                  <a:schemeClr val="tx2"/>
                </a:solidFill>
              </a:rPr>
              <a:t>termination</a:t>
            </a:r>
            <a:r>
              <a:rPr sz="1500" b="0" u="none">
                <a:solidFill>
                  <a:schemeClr val="tx2"/>
                </a:solidFill>
              </a:rPr>
              <a:t>. Each later section makes one of them a decision.</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30696" y="2217807"/>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system that blurs the split pays for it in all four.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costs</a:t>
            </a:r>
          </a:p>
        </p:txBody>
      </p:sp>
      <p:sp>
        <p:nvSpPr>
          <p:cNvPr id="3" name="Content Placeholder 2"/>
          <p:cNvSpPr>
            <a:spLocks noGrp="1"/>
          </p:cNvSpPr>
          <p:nvPr>
            <p:ph idx="1"/>
          </p:nvPr>
        </p:nvSpPr>
        <p:spPr>
          <a:xfrm>
            <a:off x="319251" y="700000"/>
            <a:ext cx="6014545" cy="2150000"/>
          </a:xfrm>
        </p:spPr>
        <p:txBody>
          <a:bodyPr wrap="square"/>
          <a:lstStyle/>
          <a:p>
            <a:pPr marL="0" indent="0">
              <a:buNone/>
            </a:pPr>
            <a:r>
              <a:rPr sz="1400" b="1">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a:solidFill>
                  <a:schemeClr val="tx1"/>
                </a:solidFill>
              </a:rPr>
              <a:t>No second look. </a:t>
            </a:r>
            <a:r>
              <a:rPr sz="140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a:solidFill>
                  <a:schemeClr val="tx1"/>
                </a:solidFill>
              </a:rPr>
              <a:t>No sense of what is missing. </a:t>
            </a:r>
            <a:r>
              <a:rPr sz="140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a:solidFill>
                  <a:schemeClr val="tx1"/>
                </a:solidFill>
              </a:rPr>
              <a:t>No way to ask. </a:t>
            </a:r>
            <a:r>
              <a:rPr sz="140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question a fixed workflow cannot ask is the one </a:t>
            </a:r>
            <a:r>
              <a:rPr sz="1400" b="1">
                <a:solidFill>
                  <a:schemeClr val="tx2"/>
                </a:solidFill>
              </a:rPr>
              <a:t>its own answer depended on</a:t>
            </a:r>
            <a:r>
              <a:rPr sz="1400">
                <a:solidFill>
                  <a:schemeClr val="tx2"/>
                </a:solidFill>
              </a:rPr>
              <a:t>.</a:t>
            </a: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does not stall and it does not report a gap. It writes a patch, and the checks pass.</a:t>
            </a:r>
            <a:r>
              <a:rPr sz="1200" b="1">
                <a:solidFill>
                  <a:srgbClr val="C73561"/>
                </a:solidFill>
              </a:rPr>
              <a:t>  (V1 grows an edge back)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one realization</a:t>
            </a:r>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3"/>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arrow here was drawn before the issue arrived.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and SWE-agent</a:t>
            </a:r>
          </a:p>
        </p:txBody>
      </p:sp>
      <p:graphicFrame>
        <p:nvGraphicFramePr>
          <p:cNvPr id="3" name="Table 2"/>
          <p:cNvGraphicFramePr>
            <a:graphicFrameLocks noGrp="1"/>
          </p:cNvGraphicFramePr>
          <p:nvPr/>
        </p:nvGraphicFramePr>
        <p:xfrm>
          <a:off x="319251" y="1150000"/>
          <a:ext cx="6014545" cy="1519200"/>
        </p:xfrm>
        <a:graphic>
          <a:graphicData uri="http://schemas.openxmlformats.org/drawingml/2006/table">
            <a:tbl>
              <a:tblPr>
                <a:tableStyleId>{2D5ABB26-0587-4C30-8999-92F81FD0307C}</a:tableStyleId>
              </a:tblPr>
              <a:tblGrid>
                <a:gridCol w="1300000">
                  <a:extLst>
                    <a:ext uri="{9D8B030D-6E8A-4147-A177-3AD203B41FA5}">
                      <a16:colId xmlns:a16="http://schemas.microsoft.com/office/drawing/2014/main" val="20000"/>
                    </a:ext>
                  </a:extLst>
                </a:gridCol>
                <a:gridCol w="2357272">
                  <a:extLst>
                    <a:ext uri="{9D8B030D-6E8A-4147-A177-3AD203B41FA5}">
                      <a16:colId xmlns:a16="http://schemas.microsoft.com/office/drawing/2014/main" val="20001"/>
                    </a:ext>
                  </a:extLst>
                </a:gridCol>
                <a:gridCol w="2357273">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SWE-bench Lite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Agentless</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Three phases in a fixed order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 chooses the next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Resolved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96 of 300 (32.00%)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55 of 300 (18.33%)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Cost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$0.70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$2.53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Tokens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78,165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498,346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Grains of salt</a:t>
            </a:r>
          </a:p>
        </p:txBody>
      </p:sp>
      <p:sp>
        <p:nvSpPr>
          <p:cNvPr id="3" name="Content Placeholder 2"/>
          <p:cNvSpPr>
            <a:spLocks noGrp="1"/>
          </p:cNvSpPr>
          <p:nvPr>
            <p:ph idx="1"/>
          </p:nvPr>
        </p:nvSpPr>
        <p:spPr>
          <a:xfrm>
            <a:off x="319251" y="700000"/>
            <a:ext cx="6014545" cy="1720000"/>
          </a:xfrm>
        </p:spPr>
        <p:txBody>
          <a:bodyPr wrap="square"/>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Our own fixture ships its answer key beside the test cases, so we strip it: </a:t>
            </a:r>
            <a:r>
              <a:rPr sz="1400" b="1">
                <a:solidFill>
                  <a:schemeClr val="tx2"/>
                </a:solidFill>
              </a:rPr>
              <a:t>a score that can be read is not earned</a:t>
            </a:r>
            <a:r>
              <a:rPr sz="1400">
                <a:solidFill>
                  <a:schemeClr val="tx2"/>
                </a:solidFill>
              </a:rPr>
              <a:t>.</a:t>
            </a:r>
          </a:p>
        </p:txBody>
      </p:sp>
      <p:sp>
        <p:nvSpPr>
          <p:cNvPr id="6" name="Rectangle 5"/>
          <p:cNvSpPr/>
          <p:nvPr/>
        </p:nvSpPr>
        <p:spPr>
          <a:xfrm>
            <a:off x="319251" y="368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None of this shows that fixed workflows win in general.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V0, the fixed workflow</a:t>
            </a:r>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alert names the file and the line, so V0's localization is a runtime </a:t>
            </a:r>
            <a:r>
              <a:rPr lang="en-US" sz="1400" dirty="0">
                <a:solidFill>
                  <a:schemeClr val="tx2"/>
                </a:solidFill>
              </a:rPr>
              <a:t>step,</a:t>
            </a:r>
            <a:r>
              <a:rPr sz="1400" dirty="0">
                <a:solidFill>
                  <a:schemeClr val="tx2"/>
                </a:solidFill>
              </a:rPr>
              <a:t> and </a:t>
            </a:r>
            <a:r>
              <a:rPr sz="1400" b="1" dirty="0">
                <a:solidFill>
                  <a:schemeClr val="tx2"/>
                </a:solidFill>
              </a:rPr>
              <a:t>the model is called twice</a:t>
            </a:r>
            <a:r>
              <a:rPr sz="1400" dirty="0">
                <a:solidFill>
                  <a:schemeClr val="tx2"/>
                </a:solidFill>
              </a:rPr>
              <a:t>.</a:t>
            </a:r>
          </a:p>
        </p:txBody>
      </p:sp>
      <p:pic>
        <p:nvPicPr>
          <p:cNvPr id="4" name="Picture 3" descr="graph-v0-deck.png"/>
          <p:cNvPicPr>
            <a:picLocks noChangeAspect="1"/>
          </p:cNvPicPr>
          <p:nvPr/>
        </p:nvPicPr>
        <p:blipFill>
          <a:blip r:embed="rId3"/>
          <a:stretch>
            <a:fillRect/>
          </a:stretch>
        </p:blipFill>
        <p:spPr>
          <a:xfrm>
            <a:off x="250147" y="1700000"/>
            <a:ext cx="6152752" cy="945975"/>
          </a:xfrm>
          <a:prstGeom prst="rect">
            <a:avLst/>
          </a:prstGeom>
        </p:spPr>
      </p:pic>
      <p:sp>
        <p:nvSpPr>
          <p:cNvPr id="5" name="Rectangle 4"/>
          <p:cNvSpPr/>
          <p:nvPr/>
        </p:nvSpPr>
        <p:spPr>
          <a:xfrm>
            <a:off x="319251" y="30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Two model calls and one read, whatever the alert. On the worked B608 alert, both calls have what they need and V0 resolves it every time.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V0 cannot ask</a:t>
            </a:r>
          </a:p>
        </p:txBody>
      </p:sp>
      <p:sp>
        <p:nvSpPr>
          <p:cNvPr id="3" name="Content Placeholder 2"/>
          <p:cNvSpPr>
            <a:spLocks noGrp="1"/>
          </p:cNvSpPr>
          <p:nvPr>
            <p:ph idx="1"/>
          </p:nvPr>
        </p:nvSpPr>
        <p:spPr>
          <a:xfrm>
            <a:off x="319251" y="700000"/>
            <a:ext cx="6014545" cy="2200000"/>
          </a:xfrm>
        </p:spPr>
        <p:txBody>
          <a:bodyPr wrap="square"/>
          <a:lstStyle/>
          <a:p>
            <a:pPr marL="0" indent="0">
              <a:buNone/>
            </a:pPr>
            <a:r>
              <a:rPr sz="1400" b="1" dirty="0">
                <a:solidFill>
                  <a:srgbClr val="28285E"/>
                </a:solidFill>
              </a:rPr>
              <a:t>Two gaps, one in what V0 can see and one in what it accepts:</a:t>
            </a:r>
          </a:p>
          <a:p>
            <a:pPr marL="400050" indent="-285750">
              <a:spcBef>
                <a:spcPts val="600"/>
              </a:spcBef>
              <a:spcAft>
                <a:spcPts val="600"/>
              </a:spcAft>
              <a:buClr>
                <a:srgbClr val="28285E"/>
              </a:buClr>
              <a:buSzPts val="1260"/>
              <a:buFont typeface="Fira Sans"/>
              <a:buChar char="●"/>
            </a:pPr>
            <a:r>
              <a:rPr sz="1400" b="1" dirty="0">
                <a:solidFill>
                  <a:schemeClr val="tx1"/>
                </a:solidFill>
              </a:rPr>
              <a:t>No node calls </a:t>
            </a:r>
            <a:r>
              <a:rPr sz="1400" b="1" dirty="0">
                <a:latin typeface="Maple Mono NF"/>
              </a:rPr>
              <a:t>search</a:t>
            </a:r>
            <a:r>
              <a:rPr sz="1400" b="1" dirty="0">
                <a:solidFill>
                  <a:schemeClr val="tx1"/>
                </a:solidFill>
              </a:rPr>
              <a:t>. </a:t>
            </a:r>
            <a:r>
              <a:rPr sz="1400" dirty="0">
                <a:solidFill>
                  <a:schemeClr val="tx1"/>
                </a:solidFill>
              </a:rPr>
              <a:t>The value the flagged query interpolates comes from a helper the alert never names.</a:t>
            </a:r>
          </a:p>
          <a:p>
            <a:pPr marL="400050" indent="-285750">
              <a:spcBef>
                <a:spcPts val="600"/>
              </a:spcBef>
              <a:spcAft>
                <a:spcPts val="600"/>
              </a:spcAft>
              <a:buClr>
                <a:srgbClr val="28285E"/>
              </a:buClr>
              <a:buSzPts val="1260"/>
              <a:buFont typeface="Fira Sans"/>
              <a:buChar char="●"/>
            </a:pPr>
            <a:r>
              <a:rPr sz="1400" b="1" dirty="0">
                <a:solidFill>
                  <a:schemeClr val="tx1"/>
                </a:solidFill>
              </a:rPr>
              <a:t>Submit checks three things. </a:t>
            </a:r>
            <a:r>
              <a:rPr sz="1400" dirty="0">
                <a:solidFill>
                  <a:schemeClr val="tx1"/>
                </a:solidFill>
              </a:rPr>
              <a:t>The patch applies, it touches the flagged line, the rescan is clean.</a:t>
            </a:r>
          </a:p>
          <a:p>
            <a:pPr marL="400050" indent="-285750">
              <a:spcBef>
                <a:spcPts val="600"/>
              </a:spcBef>
              <a:spcAft>
                <a:spcPts val="600"/>
              </a:spcAft>
              <a:buClr>
                <a:srgbClr val="28285E"/>
              </a:buClr>
              <a:buSzPts val="1260"/>
              <a:buFont typeface="Fira Sans"/>
              <a:buChar char="●"/>
            </a:pPr>
            <a:r>
              <a:rPr sz="1400" b="1" dirty="0">
                <a:solidFill>
                  <a:schemeClr val="tx1"/>
                </a:solidFill>
              </a:rPr>
              <a:t>None of them checks behavior. </a:t>
            </a:r>
            <a:r>
              <a:rPr sz="1400" dirty="0">
                <a:solidFill>
                  <a:schemeClr val="tx1"/>
                </a:solidFill>
              </a:rPr>
              <a:t>A patch that deletes the query passes all three.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V0 does not fail and it does not report a gap. It writes a plausible patch, and </a:t>
            </a:r>
            <a:r>
              <a:rPr sz="1400" b="1" dirty="0">
                <a:solidFill>
                  <a:schemeClr val="tx2"/>
                </a:solidFill>
              </a:rPr>
              <a:t>the checks pass</a:t>
            </a:r>
            <a:r>
              <a:rPr sz="1400" dirty="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Here the proposer’s own artifacts</a:t>
            </a:r>
            <a:r>
              <a:rPr lang="en-US" sz="1200" b="1" dirty="0">
                <a:solidFill>
                  <a:srgbClr val="28285E"/>
                </a:solidFill>
              </a:rPr>
              <a:t> (i.e., the model’s)</a:t>
            </a:r>
            <a:r>
              <a:rPr sz="1200" b="1" dirty="0">
                <a:solidFill>
                  <a:srgbClr val="28285E"/>
                </a:solidFill>
              </a:rPr>
              <a:t> define acceptance.</a:t>
            </a:r>
            <a:endParaRPr sz="1200" b="1" dirty="0">
              <a:solidFill>
                <a:srgbClr val="C73561"/>
              </a:solidFill>
            </a:endParaRP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2531</TotalTime>
  <Words>5776</Words>
  <Application>Microsoft Macintosh PowerPoint</Application>
  <PresentationFormat>Custom</PresentationFormat>
  <Paragraphs>405</Paragraphs>
  <Slides>37</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Maple Mono NF</vt:lpstr>
      <vt:lpstr>Fira Sans Light</vt:lpstr>
      <vt:lpstr>Fira Sans</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lpstr>What the fixed shape costs</vt:lpstr>
      <vt:lpstr>Agentless, one realization</vt:lpstr>
      <vt:lpstr>Agentless and SWE-agent</vt:lpstr>
      <vt:lpstr>Grains of salt</vt:lpstr>
      <vt:lpstr>V0, the fixed workflow</vt:lpstr>
      <vt:lpstr>What V0 cannot 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71</cp:revision>
  <dcterms:modified xsi:type="dcterms:W3CDTF">2026-09-17T14:54:49Z</dcterms:modified>
</cp:coreProperties>
</file>
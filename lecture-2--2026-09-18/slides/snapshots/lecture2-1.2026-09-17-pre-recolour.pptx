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55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51" r:id="rId26"/>
    <p:sldId id="352" r:id="rId27"/>
    <p:sldId id="353" r:id="rId28"/>
    <p:sldId id="355" r:id="rId29"/>
    <p:sldId id="354" r:id="rId30"/>
    <p:sldId id="356" r:id="rId31"/>
  </p:sldIdLst>
  <p:sldSz cx="6858000" cy="5143500"/>
  <p:notesSz cx="6858000" cy="9144000"/>
  <p:embeddedFontLst>
    <p:embeddedFont>
      <p:font typeface="Fira Sans" panose="020B0503050000020004" pitchFamily="34" charset="0"/>
      <p:regular r:id="rId33"/>
      <p:bold r:id="rId34"/>
      <p:italic r:id="rId35"/>
      <p:boldItalic r:id="rId36"/>
    </p:embeddedFont>
    <p:embeddedFont>
      <p:font typeface="Fira Sans Light" panose="020B0403050000020004" pitchFamily="34" charset="0"/>
      <p:regular r:id="rId37"/>
      <p:italic r:id="rId38"/>
    </p:embeddedFont>
    <p:embeddedFont>
      <p:font typeface="Maple Mono NF" panose="020F0509060000000000" pitchFamily="49"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51"/>
            <p14:sldId id="352"/>
            <p14:sldId id="353"/>
            <p14:sldId id="355"/>
            <p14:sldId id="354"/>
            <p14:sldId id="356"/>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45"/>
    <p:restoredTop sz="98401"/>
  </p:normalViewPr>
  <p:slideViewPr>
    <p:cSldViewPr snapToGrid="0">
      <p:cViewPr varScale="1">
        <p:scale>
          <a:sx n="312" d="100"/>
          <a:sy n="312" d="100"/>
        </p:scale>
        <p:origin x="192" y="920"/>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9.fntdata"/></Relationships>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2. We have a definition of a rational agent and a machine to point at. Now the first architecture, and it is the one that gives the model the least: every control decision is ours, made before the program sees a task.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55_0.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A2A63"/>
              </a:solidFill>
            </a:endParaRPr>
          </a:p>
          <a:p>
            <a:pPr marL="125747" indent="0">
              <a:lnSpc>
                <a:spcPct val="100000"/>
              </a:lnSpc>
              <a:buNone/>
            </a:pPr>
            <a:endParaRPr lang="en-US" b="1" dirty="0">
              <a:solidFill>
                <a:srgbClr val="2A2A63"/>
              </a:solidFill>
            </a:endParaRPr>
          </a:p>
          <a:p>
            <a:pPr marL="125747" indent="0">
              <a:lnSpc>
                <a:spcPct val="100000"/>
              </a:lnSpc>
              <a:buNone/>
            </a:pPr>
            <a:r>
              <a:rPr lang="en-US" b="1" dirty="0">
                <a:solidFill>
                  <a:srgbClr val="2A2A63"/>
                </a:solidFill>
              </a:rPr>
              <a:t>What I work on: </a:t>
            </a:r>
            <a:r>
              <a:rPr lang="en-US" dirty="0">
                <a:solidFill>
                  <a:srgbClr val="2A2A63"/>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A2A63"/>
          </a:solid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A2A63"/>
                </a:solidFill>
              </a:rPr>
              <a:t>The agent is a component of a larger system. It is not the entire system.</a:t>
            </a:r>
            <a:endParaRPr lang="en-US" dirty="0">
              <a:solidFill>
                <a:srgbClr val="2A2A63"/>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A2A63"/>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A2A63"/>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A2A63"/>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A2A63"/>
                </a:solidFill>
              </a:rPr>
              <a:t>By the end of this semester, you will </a:t>
            </a:r>
            <a:r>
              <a:rPr lang="en-US" b="1" dirty="0">
                <a:solidFill>
                  <a:srgbClr val="2A2A63"/>
                </a:solidFill>
              </a:rPr>
              <a:t>design a production agentic system</a:t>
            </a:r>
            <a:r>
              <a:rPr lang="en-US" dirty="0">
                <a:solidFill>
                  <a:srgbClr val="2A2A63"/>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A2A63"/>
                </a:solidFill>
              </a:rPr>
              <a:t>By the end of this semester, you will </a:t>
            </a:r>
            <a:r>
              <a:rPr lang="en-US" b="1" dirty="0">
                <a:solidFill>
                  <a:srgbClr val="2A2A63"/>
                </a:solidFill>
              </a:rPr>
              <a:t>design a production agentic system</a:t>
            </a:r>
            <a:r>
              <a:rPr lang="en-US" dirty="0">
                <a:solidFill>
                  <a:srgbClr val="2A2A63"/>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A2A63"/>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A2A63"/>
                </a:solidFill>
                <a:latin typeface="+mj-lt"/>
                <a:cs typeface="Arial"/>
              </a:rPr>
              <a:t>teams (of 2-3)</a:t>
            </a:r>
            <a:r>
              <a:rPr lang="en-US" sz="1200" dirty="0">
                <a:solidFill>
                  <a:srgbClr val="000000"/>
                </a:solidFill>
                <a:latin typeface="+mj-lt"/>
                <a:cs typeface="Arial"/>
              </a:rPr>
              <a:t>, and a team keeps </a:t>
            </a:r>
            <a:r>
              <a:rPr lang="en-US" sz="1200" b="1" dirty="0">
                <a:solidFill>
                  <a:srgbClr val="2A2A63"/>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A2A63"/>
            </a:solidFill>
          </a:ln>
        </p:spPr>
        <p:txBody>
          <a:bodyPr wrap="square">
            <a:spAutoFit/>
          </a:bodyPr>
          <a:lstStyle/>
          <a:p>
            <a:r>
              <a:rPr lang="en-US" sz="1200" b="1" i="0" dirty="0">
                <a:solidFill>
                  <a:srgbClr val="2A2A63"/>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A2A63"/>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A2A63"/>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A2A63"/>
                </a:solidFill>
                <a:latin typeface="+mj-lt"/>
                <a:cs typeface="Arial"/>
              </a:rPr>
              <a:t>teams (of 2-3)</a:t>
            </a:r>
            <a:r>
              <a:rPr lang="en-US" sz="1200" dirty="0">
                <a:solidFill>
                  <a:srgbClr val="000000"/>
                </a:solidFill>
                <a:latin typeface="+mj-lt"/>
                <a:cs typeface="Arial"/>
              </a:rPr>
              <a:t>, and a team keeps </a:t>
            </a:r>
            <a:r>
              <a:rPr lang="en-US" sz="1200" b="1" dirty="0">
                <a:solidFill>
                  <a:srgbClr val="2A2A63"/>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A2A63"/>
            </a:solidFill>
          </a:ln>
        </p:spPr>
        <p:txBody>
          <a:bodyPr wrap="square">
            <a:spAutoFit/>
          </a:bodyPr>
          <a:lstStyle/>
          <a:p>
            <a:r>
              <a:rPr lang="en-US" sz="1200" b="1" i="0" dirty="0">
                <a:solidFill>
                  <a:srgbClr val="2A2A63"/>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A2A63"/>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A2A63"/>
                </a:solidFill>
              </a:rPr>
              <a:t>What is rational at any given time depends on four things:</a:t>
            </a:r>
          </a:p>
          <a:p>
            <a:pPr marL="400050" indent="-285750">
              <a:spcAft>
                <a:spcPts val="800"/>
              </a:spcAft>
              <a:buClr>
                <a:srgbClr val="2A2A63"/>
              </a:buClr>
              <a:buSzPts val="1440"/>
              <a:buFont typeface="Fira Sans"/>
              <a:buChar char="●"/>
            </a:pPr>
            <a:r>
              <a:rPr sz="1600">
                <a:solidFill>
                  <a:srgbClr val="2A2A63"/>
                </a:solidFill>
              </a:rPr>
              <a:t>The performance measure that defines the criterion of success</a:t>
            </a:r>
          </a:p>
          <a:p>
            <a:pPr marL="400050" indent="-285750">
              <a:spcAft>
                <a:spcPts val="800"/>
              </a:spcAft>
              <a:buClr>
                <a:srgbClr val="2A2A63"/>
              </a:buClr>
              <a:buSzPts val="1440"/>
              <a:buFont typeface="Fira Sans"/>
              <a:buChar char="●"/>
            </a:pPr>
            <a:r>
              <a:rPr sz="1600">
                <a:solidFill>
                  <a:srgbClr val="2A2A63"/>
                </a:solidFill>
              </a:rPr>
              <a:t>The agent’s prior knowledge of the environment</a:t>
            </a:r>
          </a:p>
          <a:p>
            <a:pPr marL="400050" indent="-285750">
              <a:spcAft>
                <a:spcPts val="800"/>
              </a:spcAft>
              <a:buClr>
                <a:srgbClr val="2A2A63"/>
              </a:buClr>
              <a:buSzPts val="1440"/>
              <a:buFont typeface="Fira Sans"/>
              <a:buChar char="●"/>
            </a:pPr>
            <a:r>
              <a:rPr sz="1600">
                <a:solidFill>
                  <a:srgbClr val="2A2A63"/>
                </a:solidFill>
              </a:rPr>
              <a:t>The actions that the agent can perform</a:t>
            </a:r>
          </a:p>
          <a:p>
            <a:pPr marL="400050" indent="-285750">
              <a:spcAft>
                <a:spcPts val="800"/>
              </a:spcAft>
              <a:buClr>
                <a:srgbClr val="2A2A63"/>
              </a:buClr>
              <a:buSzPts val="1440"/>
              <a:buFont typeface="Fira Sans"/>
              <a:buChar char="●"/>
            </a:pPr>
            <a:r>
              <a:rPr sz="1600">
                <a:solidFill>
                  <a:srgbClr val="2A2A63"/>
                </a:solidFill>
              </a:rPr>
              <a:t>The agent’s percept sequence to date</a:t>
            </a:r>
          </a:p>
        </p:txBody>
      </p:sp>
      <p:sp>
        <p:nvSpPr>
          <p:cNvPr id="4" name="Rectangle 3"/>
          <p:cNvSpPr/>
          <p:nvPr/>
        </p:nvSpPr>
        <p:spPr>
          <a:xfrm>
            <a:off x="319251" y="820000"/>
            <a:ext cx="6014545" cy="1330000"/>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A2A63"/>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enlo"/>
              </a:rPr>
              <a:t>46  </a:t>
            </a:r>
            <a:r>
              <a:rPr sz="1100">
                <a:solidFill>
                  <a:srgbClr val="2A2A63"/>
                </a:solidFill>
                <a:latin typeface="Menlo"/>
              </a:rPr>
              <a:t>sql = f'SELECT username from USERS where password = \'</a:t>
            </a:r>
            <a:r>
              <a:rPr sz="1100" b="1">
                <a:solidFill>
                  <a:srgbClr val="C73561"/>
                </a:solidFill>
                <a:latin typeface="Menlo"/>
              </a:rPr>
              <a:t>{bar}</a:t>
            </a:r>
            <a:r>
              <a:rPr sz="1100">
                <a:solidFill>
                  <a:srgbClr val="2A2A63"/>
                </a:solidFill>
                <a:latin typeface="Menlo"/>
              </a:rPr>
              <a:t>\''</a:t>
            </a:r>
          </a:p>
          <a:p>
            <a:pPr algn="l">
              <a:buNone/>
            </a:pPr>
            <a:r>
              <a:rPr sz="1100">
                <a:solidFill>
                  <a:srgbClr val="8A8A9A"/>
                </a:solidFill>
                <a:latin typeface="Menlo"/>
              </a:rPr>
              <a:t>49  </a:t>
            </a:r>
            <a:r>
              <a:rPr sz="1100">
                <a:solidFill>
                  <a:srgbClr val="2A2A63"/>
                </a:solidFill>
                <a:latin typeface="Menlo"/>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A2A63"/>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enlo"/>
              </a:rPr>
              <a:t>46  </a:t>
            </a:r>
            <a:r>
              <a:rPr sz="1100">
                <a:solidFill>
                  <a:srgbClr val="2A2A63"/>
                </a:solidFill>
                <a:latin typeface="Menlo"/>
              </a:rPr>
              <a:t>sql = 'SELECT username from USERS where password = </a:t>
            </a:r>
            <a:r>
              <a:rPr sz="1100" b="1">
                <a:solidFill>
                  <a:srgbClr val="099191"/>
                </a:solidFill>
                <a:latin typeface="Menlo"/>
              </a:rPr>
              <a:t>?</a:t>
            </a:r>
            <a:r>
              <a:rPr sz="1100">
                <a:solidFill>
                  <a:srgbClr val="2A2A63"/>
                </a:solidFill>
                <a:latin typeface="Menlo"/>
              </a:rPr>
              <a:t>'</a:t>
            </a:r>
          </a:p>
          <a:p>
            <a:pPr algn="l">
              <a:buNone/>
            </a:pPr>
            <a:r>
              <a:rPr sz="1100">
                <a:solidFill>
                  <a:srgbClr val="8A8A9A"/>
                </a:solidFill>
                <a:latin typeface="Menlo"/>
              </a:rPr>
              <a:t>49  </a:t>
            </a:r>
            <a:r>
              <a:rPr sz="1100">
                <a:solidFill>
                  <a:srgbClr val="2A2A63"/>
                </a:solidFill>
                <a:latin typeface="Menlo"/>
              </a:rPr>
              <a:t>cur.execute(sql</a:t>
            </a:r>
            <a:r>
              <a:rPr sz="1100" b="1">
                <a:solidFill>
                  <a:srgbClr val="099191"/>
                </a:solidFill>
                <a:latin typeface="Menlo"/>
              </a:rPr>
              <a:t>, (bar,)</a:t>
            </a:r>
            <a:r>
              <a:rPr sz="1100">
                <a:solidFill>
                  <a:srgbClr val="2A2A63"/>
                </a:solidFill>
                <a:latin typeface="Menlo"/>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A2A63"/>
                </a:solidFill>
              </a:rPr>
              <a:t>It is rational, but only given four things we </a:t>
            </a:r>
            <a:r>
              <a:rPr lang="en-US" sz="1400" b="1" dirty="0">
                <a:solidFill>
                  <a:srgbClr val="2A2A63"/>
                </a:solidFill>
              </a:rPr>
              <a:t>must</a:t>
            </a:r>
            <a:r>
              <a:rPr sz="1400" b="1" dirty="0">
                <a:solidFill>
                  <a:srgbClr val="2A2A63"/>
                </a:solidFill>
              </a:rPr>
              <a:t> state:</a:t>
            </a:r>
          </a:p>
          <a:p>
            <a:pPr marL="400050" indent="-285750">
              <a:spcAft>
                <a:spcPts val="700"/>
              </a:spcAft>
              <a:buClr>
                <a:srgbClr val="2A2A63"/>
              </a:buClr>
              <a:buSzPts val="1260"/>
              <a:buFont typeface="Fira Sans"/>
              <a:buChar char="●"/>
            </a:pPr>
            <a:r>
              <a:rPr sz="1400" b="1" dirty="0">
                <a:solidFill>
                  <a:srgbClr val="2A2A63"/>
                </a:solidFill>
              </a:rPr>
              <a:t>The performance measure:</a:t>
            </a:r>
            <a:r>
              <a:rPr sz="1400" dirty="0">
                <a:solidFill>
                  <a:srgbClr val="2A2A63"/>
                </a:solidFill>
              </a:rPr>
              <a:t> one point if the patch removes the reported weakness and leaves the endpoint behaving as it did</a:t>
            </a:r>
          </a:p>
          <a:p>
            <a:pPr marL="400050" indent="-285750">
              <a:spcAft>
                <a:spcPts val="700"/>
              </a:spcAft>
              <a:buClr>
                <a:srgbClr val="2A2A63"/>
              </a:buClr>
              <a:buSzPts val="1260"/>
              <a:buFont typeface="Fira Sans"/>
              <a:buChar char="●"/>
            </a:pPr>
            <a:r>
              <a:rPr lang="en-US" sz="1400" b="1" dirty="0">
                <a:solidFill>
                  <a:srgbClr val="2A2A63"/>
                </a:solidFill>
              </a:rPr>
              <a:t>Prior knowledge:</a:t>
            </a:r>
            <a:r>
              <a:rPr lang="en-US" sz="1400" dirty="0">
                <a:solidFill>
                  <a:srgbClr val="2A2A63"/>
                </a:solidFill>
              </a:rPr>
              <a:t> the application's layout, and what each tool </a:t>
            </a:r>
            <a:r>
              <a:rPr sz="1400" dirty="0">
                <a:solidFill>
                  <a:srgbClr val="2A2A63"/>
                </a:solidFill>
              </a:rPr>
              <a:t>returns</a:t>
            </a:r>
          </a:p>
          <a:p>
            <a:pPr marL="400050" indent="-285750">
              <a:spcAft>
                <a:spcPts val="700"/>
              </a:spcAft>
              <a:buClr>
                <a:srgbClr val="2A2A63"/>
              </a:buClr>
              <a:buSzPts val="1260"/>
              <a:buFont typeface="Fira Sans"/>
              <a:buChar char="●"/>
            </a:pPr>
            <a:r>
              <a:rPr sz="1400" b="1" dirty="0">
                <a:solidFill>
                  <a:srgbClr val="2A2A63"/>
                </a:solidFill>
              </a:rPr>
              <a:t>The actions available:</a:t>
            </a:r>
            <a:r>
              <a:rPr sz="1400" dirty="0">
                <a:solidFill>
                  <a:srgbClr val="2A2A63"/>
                </a:solidFill>
              </a:rPr>
              <a:t> read_file, search, edit, submit</a:t>
            </a:r>
          </a:p>
          <a:p>
            <a:pPr marL="400050" indent="-285750">
              <a:spcAft>
                <a:spcPts val="700"/>
              </a:spcAft>
              <a:buClr>
                <a:srgbClr val="2A2A63"/>
              </a:buClr>
              <a:buSzPts val="1260"/>
              <a:buFont typeface="Fira Sans"/>
              <a:buChar char="●"/>
            </a:pPr>
            <a:r>
              <a:rPr sz="1400" b="1" dirty="0">
                <a:solidFill>
                  <a:srgbClr val="2A2A63"/>
                </a:solidFill>
              </a:rPr>
              <a:t>The percepts:</a:t>
            </a:r>
            <a:r>
              <a:rPr sz="1400" dirty="0">
                <a:solidFill>
                  <a:srgbClr val="2A2A63"/>
                </a:solidFill>
              </a:rPr>
              <a:t> whatever the tools return, and nothing else</a:t>
            </a:r>
          </a:p>
        </p:txBody>
      </p:sp>
      <p:sp>
        <p:nvSpPr>
          <p:cNvPr id="4" name="Rectangle 3"/>
          <p:cNvSpPr/>
          <p:nvPr/>
        </p:nvSpPr>
        <p:spPr>
          <a:xfrm>
            <a:off x="319251" y="3297836"/>
            <a:ext cx="6014545" cy="822164"/>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A2A63"/>
                </a:solidFill>
              </a:rPr>
              <a:t>Rationality is relative to </a:t>
            </a:r>
            <a:r>
              <a:rPr sz="1200" b="1">
                <a:solidFill>
                  <a:srgbClr val="2A2A63"/>
                </a:solidFill>
              </a:rPr>
              <a:t>those four</a:t>
            </a:r>
            <a:r>
              <a:rPr lang="en-US" sz="1200" b="1">
                <a:solidFill>
                  <a:srgbClr val="2A2A63"/>
                </a:solidFill>
              </a:rPr>
              <a:t>!</a:t>
            </a:r>
            <a:endParaRPr sz="1200" b="1" dirty="0">
              <a:solidFill>
                <a:srgbClr val="2A2A6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A2A63"/>
                </a:solidFill>
              </a:rPr>
              <a:t>Circumstances </a:t>
            </a:r>
            <a:r>
              <a:rPr lang="en-US" b="1" dirty="0">
                <a:solidFill>
                  <a:srgbClr val="2A2A63"/>
                </a:solidFill>
              </a:rPr>
              <a:t>under which the agent </a:t>
            </a:r>
            <a:r>
              <a:rPr sz="1400" b="1" dirty="0">
                <a:solidFill>
                  <a:srgbClr val="2A2A63"/>
                </a:solidFill>
              </a:rPr>
              <a:t>stops being rational:</a:t>
            </a:r>
          </a:p>
          <a:p>
            <a:pPr marL="400050" indent="-285750">
              <a:spcBef>
                <a:spcPts val="600"/>
              </a:spcBef>
              <a:spcAft>
                <a:spcPts val="800"/>
              </a:spcAft>
              <a:buClr>
                <a:srgbClr val="2A2A63"/>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A2A63"/>
              </a:buClr>
              <a:buSzPts val="1260"/>
              <a:buFont typeface="Fira Sans"/>
              <a:buChar char="●"/>
            </a:pPr>
            <a:r>
              <a:rPr sz="1400" dirty="0"/>
              <a:t>Patching only the flagged line, and the weakness survives when the unsafe value comes from a helper the alert never names. A better agent follows the value first </a:t>
            </a:r>
            <a:r>
              <a:rPr sz="1400" b="1" dirty="0">
                <a:solidFill>
                  <a:srgbClr val="C73561"/>
                </a:solidFill>
              </a:rPr>
              <a:t>(becomes relevant when we add a planner)</a:t>
            </a:r>
          </a:p>
          <a:p>
            <a:pPr marL="400050" indent="-285750">
              <a:spcAft>
                <a:spcPts val="800"/>
              </a:spcAft>
              <a:buClr>
                <a:srgbClr val="2A2A63"/>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A2A63"/>
                </a:solidFill>
              </a:rPr>
              <a:t>And the Submit state checks less than the measure asks:</a:t>
            </a:r>
            <a:r>
              <a:rPr sz="1200" b="1" dirty="0">
                <a:solidFill>
                  <a:srgbClr val="2A2A63"/>
                </a:solidFill>
              </a:rPr>
              <a:t> </a:t>
            </a:r>
            <a:r>
              <a:rPr lang="en-US" sz="1200" b="1" dirty="0">
                <a:solidFill>
                  <a:srgbClr val="2A2A63"/>
                </a:solidFill>
              </a:rPr>
              <a:t>A</a:t>
            </a:r>
            <a:r>
              <a:rPr sz="1200" b="1" dirty="0">
                <a:solidFill>
                  <a:srgbClr val="2A2A63"/>
                </a:solidFill>
              </a:rPr>
              <a:t>ccepted is not </a:t>
            </a:r>
            <a:r>
              <a:rPr lang="en-US" sz="1200" b="1" dirty="0">
                <a:solidFill>
                  <a:srgbClr val="2A2A63"/>
                </a:solidFill>
              </a:rPr>
              <a:t>C</a:t>
            </a:r>
            <a:r>
              <a:rPr sz="1200" b="1" dirty="0">
                <a:solidFill>
                  <a:srgbClr val="2A2A63"/>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A2A63"/>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A2A63"/>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A2A63"/>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A2A63"/>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A2A63"/>
                </a:solidFill>
              </a:rPr>
              <a:t>Our agent sees only what it reads, and it never sees whether the endpoint still works.</a:t>
            </a:r>
            <a:r>
              <a:rPr lang="en-US" sz="1300" dirty="0">
                <a:solidFill>
                  <a:srgbClr val="2A2A63"/>
                </a:solidFill>
              </a:rPr>
              <a:t> How or where the application is running, the OS or what other programs are running simultaneously. </a:t>
            </a:r>
            <a:endParaRPr sz="1300" dirty="0">
              <a:solidFill>
                <a:srgbClr val="2A2A6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A2A63"/>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A2A63"/>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A2A63"/>
                </a:solidFill>
              </a:rPr>
              <a:t>Nothing in the </a:t>
            </a:r>
            <a:r>
              <a:rPr lang="en-US" sz="1300" dirty="0">
                <a:solidFill>
                  <a:srgbClr val="2A2A63"/>
                </a:solidFill>
              </a:rPr>
              <a:t>architecture </a:t>
            </a:r>
            <a:r>
              <a:rPr sz="1300" dirty="0">
                <a:solidFill>
                  <a:srgbClr val="2A2A63"/>
                </a:solidFill>
              </a:rPr>
              <a:t>is trying to </a:t>
            </a:r>
            <a:r>
              <a:rPr lang="en-US" sz="1300">
                <a:solidFill>
                  <a:srgbClr val="2A2A63"/>
                </a:solidFill>
              </a:rPr>
              <a:t>cooperate with or </a:t>
            </a:r>
            <a:r>
              <a:rPr sz="1300" dirty="0">
                <a:solidFill>
                  <a:srgbClr val="2A2A63"/>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A2A63"/>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A2A63"/>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A2A63"/>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A2A63"/>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A2A63"/>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A2A63"/>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A2A63"/>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A2A63"/>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A2A63"/>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A2A63"/>
                </a:solidFill>
              </a:rPr>
              <a:t>Every label in </a:t>
            </a:r>
            <a:r>
              <a:rPr lang="en-US" sz="1200" dirty="0">
                <a:solidFill>
                  <a:schemeClr val="accent4"/>
                </a:solidFill>
              </a:rPr>
              <a:t>magenta</a:t>
            </a:r>
            <a:r>
              <a:rPr sz="1200" dirty="0">
                <a:solidFill>
                  <a:schemeClr val="accent4"/>
                </a:solidFill>
              </a:rPr>
              <a:t> </a:t>
            </a:r>
            <a:r>
              <a:rPr sz="1200" dirty="0">
                <a:solidFill>
                  <a:srgbClr val="2A2A63"/>
                </a:solidFill>
              </a:rPr>
              <a:t>na</a:t>
            </a:r>
            <a:r>
              <a:rPr lang="en-US" sz="1200" dirty="0">
                <a:solidFill>
                  <a:srgbClr val="2A2A63"/>
                </a:solidFill>
              </a:rPr>
              <a:t>m</a:t>
            </a:r>
            <a:r>
              <a:rPr sz="1200" dirty="0">
                <a:solidFill>
                  <a:srgbClr val="2A2A63"/>
                </a:solidFill>
              </a:rPr>
              <a:t>es a row of the vocabulary table</a:t>
            </a:r>
            <a:r>
              <a:rPr lang="en-US" sz="1200" dirty="0">
                <a:solidFill>
                  <a:srgbClr val="2A2A63"/>
                </a:solidFill>
              </a:rPr>
              <a:t> (Table 2) in the lecture notes.</a:t>
            </a:r>
            <a:endParaRPr sz="1200" dirty="0">
              <a:solidFill>
                <a:srgbClr val="2A2A63"/>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30696" y="2217807"/>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A2A63"/>
                </a:solidFill>
              </a:rPr>
              <a:t>The control decisions, all settled before the program sees a task:</a:t>
            </a:r>
          </a:p>
          <a:p>
            <a:pPr marL="400050" indent="-285750">
              <a:spcBef>
                <a:spcPts val="600"/>
              </a:spcBef>
              <a:spcAft>
                <a:spcPts val="600"/>
              </a:spcAft>
              <a:buClr>
                <a:srgbClr val="2A2A63"/>
              </a:buClr>
              <a:buSzPts val="1260"/>
              <a:buFont typeface="Fira Sans"/>
              <a:buChar char="●"/>
            </a:pPr>
            <a:r>
              <a:rPr sz="1400" b="1" dirty="0">
                <a:solidFill>
                  <a:srgbClr val="2A2A63"/>
                </a:solidFill>
              </a:rPr>
              <a:t>Operations: </a:t>
            </a:r>
            <a:r>
              <a:rPr sz="1400" dirty="0">
                <a:solidFill>
                  <a:srgbClr val="2A2A63"/>
                </a:solidFill>
              </a:rPr>
              <a:t>which one runs next, and whether any follow</a:t>
            </a:r>
          </a:p>
          <a:p>
            <a:pPr marL="400050" indent="-285750">
              <a:spcBef>
                <a:spcPts val="600"/>
              </a:spcBef>
              <a:spcAft>
                <a:spcPts val="600"/>
              </a:spcAft>
              <a:buClr>
                <a:srgbClr val="2A2A63"/>
              </a:buClr>
              <a:buSzPts val="1260"/>
              <a:buFont typeface="Fira Sans"/>
              <a:buChar char="●"/>
            </a:pPr>
            <a:r>
              <a:rPr sz="1400" b="1" dirty="0">
                <a:solidFill>
                  <a:srgbClr val="2A2A63"/>
                </a:solidFill>
              </a:rPr>
              <a:t>Model calls: </a:t>
            </a:r>
            <a:r>
              <a:rPr sz="1400" dirty="0">
                <a:solidFill>
                  <a:srgbClr val="2A2A63"/>
                </a:solidFill>
              </a:rPr>
              <a:t>how many the run makes</a:t>
            </a:r>
          </a:p>
          <a:p>
            <a:pPr marL="400050" indent="-285750">
              <a:spcBef>
                <a:spcPts val="600"/>
              </a:spcBef>
              <a:spcAft>
                <a:spcPts val="600"/>
              </a:spcAft>
              <a:buClr>
                <a:srgbClr val="2A2A63"/>
              </a:buClr>
              <a:buSzPts val="1260"/>
              <a:buFont typeface="Fira Sans"/>
              <a:buChar char="●"/>
            </a:pPr>
            <a:r>
              <a:rPr sz="1400" b="1" dirty="0">
                <a:solidFill>
                  <a:srgbClr val="2A2A63"/>
                </a:solidFill>
              </a:rPr>
              <a:t>Termination: </a:t>
            </a:r>
            <a:r>
              <a:rPr sz="1400" dirty="0">
                <a:solidFill>
                  <a:srgbClr val="2A2A63"/>
                </a:solidFill>
              </a:rPr>
              <a:t>what ends the run</a:t>
            </a:r>
          </a:p>
          <a:p>
            <a:pPr marL="400050" indent="-285750">
              <a:spcBef>
                <a:spcPts val="600"/>
              </a:spcBef>
              <a:spcAft>
                <a:spcPts val="600"/>
              </a:spcAft>
              <a:buClr>
                <a:srgbClr val="2A2A63"/>
              </a:buClr>
              <a:buSzPts val="1260"/>
              <a:buFont typeface="Fira Sans"/>
              <a:buChar char="●"/>
            </a:pPr>
            <a:r>
              <a:rPr sz="1400" b="1" dirty="0">
                <a:solidFill>
                  <a:srgbClr val="2A2A63"/>
                </a:solidFill>
              </a:rPr>
              <a:t>Artifacts: </a:t>
            </a:r>
            <a:r>
              <a:rPr sz="1400" dirty="0">
                <a:solidFill>
                  <a:srgbClr val="2A2A63"/>
                </a:solidFill>
              </a:rPr>
              <a:t>which ones each step reads and writes</a:t>
            </a:r>
          </a:p>
        </p:txBody>
      </p:sp>
      <p:sp>
        <p:nvSpPr>
          <p:cNvPr id="4" name="Rectangle 3"/>
          <p:cNvSpPr/>
          <p:nvPr/>
        </p:nvSpPr>
        <p:spPr>
          <a:xfrm>
            <a:off x="319251" y="749199"/>
            <a:ext cx="6014545" cy="610801"/>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A2A63"/>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A2A63"/>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A2A63"/>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A2A63"/>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A2A63"/>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A2A63"/>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A2A63"/>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A2A63"/>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A2A63"/>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A2A63"/>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A2A63"/>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A2A63"/>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A2A63"/>
                </a:solidFill>
              </a:rPr>
              <a:t>Three properties come with fixing the control decisions:</a:t>
            </a:r>
          </a:p>
          <a:p>
            <a:pPr marL="400050" indent="-285750">
              <a:spcBef>
                <a:spcPts val="600"/>
              </a:spcBef>
              <a:spcAft>
                <a:spcPts val="600"/>
              </a:spcAft>
              <a:buClr>
                <a:srgbClr val="2A2A63"/>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A2A63"/>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A2A63"/>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A2A63"/>
                </a:solidFill>
              </a:rPr>
              <a:t>Three properties come with fixing the control decisions:</a:t>
            </a:r>
          </a:p>
          <a:p>
            <a:pPr marL="400050" indent="-285750">
              <a:spcBef>
                <a:spcPts val="600"/>
              </a:spcBef>
              <a:spcAft>
                <a:spcPts val="600"/>
              </a:spcAft>
              <a:buClr>
                <a:srgbClr val="2A2A63"/>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A2A63"/>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A2A63"/>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A2A63"/>
          </a:solid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a:solidFill>
              <a:srgbClr val="2A2A63"/>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A2A63"/>
                </a:solidFill>
              </a:rPr>
              <a:t>When we build autonomous agents, we’ll have to incorporate these into them. They don’t come for free. </a:t>
            </a:r>
            <a:endParaRPr sz="1200" b="1" dirty="0">
              <a:solidFill>
                <a:srgbClr val="2A2A63"/>
              </a:solidFill>
            </a:endParaRPr>
          </a:p>
        </p:txBody>
      </p:sp>
    </p:spTree>
    <p:extLst>
      <p:ext uri="{BB962C8B-B14F-4D97-AF65-F5344CB8AC3E}">
        <p14:creationId xmlns:p14="http://schemas.microsoft.com/office/powerpoint/2010/main" val="4294747253"/>
      </p:ext>
    </p:extLst>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2517</TotalTime>
  <Words>4090</Words>
  <Application>Microsoft Macintosh PowerPoint</Application>
  <PresentationFormat>Custom</PresentationFormat>
  <Paragraphs>344</Paragraphs>
  <Slides>30</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Maple Mono NF</vt:lpstr>
      <vt:lpstr>Fira Sans Light</vt:lpstr>
      <vt:lpstr>Menlo</vt:lpstr>
      <vt:lpstr>Fira Sans</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PowerPoint Presentation</vt:lpstr>
      <vt:lpstr>A fixed workflow</vt:lpstr>
      <vt:lpstr>Understanding design decision points</vt:lpstr>
      <vt:lpstr>Understanding design decision points</vt:lpstr>
      <vt:lpstr>What the fixed shape buys</vt:lpstr>
      <vt:lpstr>What the fixed shape buys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68</cp:revision>
  <dcterms:modified xsi:type="dcterms:W3CDTF">2026-09-17T13:49:47Z</dcterms:modified>
</cp:coreProperties>
</file>
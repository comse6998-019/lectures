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55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6"/>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Lst>
  <p:sldSz cx="6858000" cy="5143500"/>
  <p:notesSz cx="6858000" cy="9144000"/>
  <p:embeddedFontLst>
    <p:embeddedFont>
      <p:font typeface="Fira Sans" panose="020B0503050000020004" pitchFamily="34" charset="0"/>
      <p:regular r:id="rId27"/>
      <p:bold r:id="rId28"/>
      <p:italic r:id="rId29"/>
      <p:boldItalic r:id="rId30"/>
    </p:embeddedFont>
    <p:embeddedFont>
      <p:font typeface="Fira Sans Light" panose="020B0403050000020004" pitchFamily="34" charset="0"/>
      <p:regular r:id="rId31"/>
      <p:italic r:id="rId32"/>
    </p:embeddedFont>
    <p:embeddedFont>
      <p:font typeface="Maple Mono NF" panose="020F0509060000000000" pitchFamily="49"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40"/>
            <p14:sldId id="341"/>
            <p14:sldId id="342"/>
            <p14:sldId id="343"/>
            <p14:sldId id="344"/>
            <p14:sldId id="345"/>
            <p14:sldId id="346"/>
            <p14:sldId id="347"/>
            <p14:sldId id="348"/>
            <p14:sldId id="349"/>
            <p14:sldId id="350"/>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53"/>
    <p:restoredTop sz="98401"/>
  </p:normalViewPr>
  <p:slideViewPr>
    <p:cSldViewPr snapToGrid="0">
      <p:cViewPr varScale="1">
        <p:scale>
          <a:sx n="170" d="100"/>
          <a:sy n="170" d="100"/>
        </p:scale>
        <p:origin x="1632"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viewProps" Target="viewProps.xml"/></Relationships>
</file>

<file path=ppt/comments/modernComment_155_0.xml><?xml version="1.0" encoding="utf-8"?>
<p188:cmLst xmlns:a="http://schemas.openxmlformats.org/drawingml/2006/main" xmlns:r="http://schemas.openxmlformats.org/officeDocument/2006/relationships" xmlns:p188="http://schemas.microsoft.com/office/powerpoint/2018/8/main">
  <p188:cm id="{60000E52-6B10-8542-AE63-F9128E3BAFD3}" authorId="{BBF72F71-1B05-876B-1723-EC4BFB4CF1F1}" created="2026-09-17T09:32:05.091">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246" len="154">
        <ac:context len="509" hash="706592031"/>
      </ac:txMk>
    </ac:txMkLst>
    <p188:pos x="5909533" y="1496206"/>
    <p188:txBody>
      <a:bodyPr/>
      <a:lstStyle/>
      <a:p>
        <a:r>
          <a:rPr lang="en-US"/>
          <a:t>Make no sense?</a:t>
        </a:r>
      </a:p>
    </p188:txBody>
  </p188:cm>
  <p188:cm id="{1CDA764E-8499-0A4B-9B3C-78E025FCA5DE}" authorId="{BBF72F71-1B05-876B-1723-EC4BFB4CF1F1}" created="2026-09-17T09:35:26.286">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58" len="450">
        <ac:context len="509" hash="706592031"/>
      </ac:txMk>
    </ac:txMkLst>
    <p188:pos x="5894937" y="541404"/>
    <p188:txBody>
      <a:bodyPr/>
      <a:lstStyle/>
      <a:p>
        <a:r>
          <a:rPr lang="en-US"/>
          <a:t>In magenta, add (when does this become relavant)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55_0.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A2A63"/>
              </a:solidFill>
            </a:endParaRPr>
          </a:p>
          <a:p>
            <a:pPr marL="125747" indent="0">
              <a:lnSpc>
                <a:spcPct val="100000"/>
              </a:lnSpc>
              <a:buNone/>
            </a:pPr>
            <a:endParaRPr lang="en-US" b="1" dirty="0">
              <a:solidFill>
                <a:srgbClr val="2A2A63"/>
              </a:solidFill>
            </a:endParaRPr>
          </a:p>
          <a:p>
            <a:pPr marL="125747" indent="0">
              <a:lnSpc>
                <a:spcPct val="100000"/>
              </a:lnSpc>
              <a:buNone/>
            </a:pPr>
            <a:r>
              <a:rPr lang="en-US" b="1" dirty="0">
                <a:solidFill>
                  <a:srgbClr val="2A2A63"/>
                </a:solidFill>
              </a:rPr>
              <a:t>What I work on: </a:t>
            </a:r>
            <a:r>
              <a:rPr lang="en-US" dirty="0">
                <a:solidFill>
                  <a:srgbClr val="2A2A63"/>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A2A63"/>
          </a:solid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A2A63"/>
                </a:solidFill>
              </a:rPr>
              <a:t>The agent is a component of a larger system. It is not the entire system.</a:t>
            </a:r>
            <a:endParaRPr lang="en-US" dirty="0">
              <a:solidFill>
                <a:srgbClr val="2A2A63"/>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A2A63"/>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A2A63"/>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A2A63"/>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A2A63"/>
                </a:solidFill>
              </a:rPr>
              <a:t>By the end of this semester, you will </a:t>
            </a:r>
            <a:r>
              <a:rPr lang="en-US" b="1" dirty="0">
                <a:solidFill>
                  <a:srgbClr val="2A2A63"/>
                </a:solidFill>
              </a:rPr>
              <a:t>design a production agentic system</a:t>
            </a:r>
            <a:r>
              <a:rPr lang="en-US" dirty="0">
                <a:solidFill>
                  <a:srgbClr val="2A2A63"/>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A2A63"/>
                </a:solidFill>
              </a:rPr>
              <a:t>By the end of this semester, you will </a:t>
            </a:r>
            <a:r>
              <a:rPr lang="en-US" b="1" dirty="0">
                <a:solidFill>
                  <a:srgbClr val="2A2A63"/>
                </a:solidFill>
              </a:rPr>
              <a:t>design a production agentic system</a:t>
            </a:r>
            <a:r>
              <a:rPr lang="en-US" dirty="0">
                <a:solidFill>
                  <a:srgbClr val="2A2A63"/>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A2A63"/>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A2A63"/>
                </a:solidFill>
                <a:latin typeface="+mj-lt"/>
                <a:cs typeface="Arial"/>
              </a:rPr>
              <a:t>teams (of 2-3)</a:t>
            </a:r>
            <a:r>
              <a:rPr lang="en-US" sz="1200" dirty="0">
                <a:solidFill>
                  <a:srgbClr val="000000"/>
                </a:solidFill>
                <a:latin typeface="+mj-lt"/>
                <a:cs typeface="Arial"/>
              </a:rPr>
              <a:t>, and a team keeps </a:t>
            </a:r>
            <a:r>
              <a:rPr lang="en-US" sz="1200" b="1" dirty="0">
                <a:solidFill>
                  <a:srgbClr val="2A2A63"/>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A2A63"/>
            </a:solidFill>
          </a:ln>
        </p:spPr>
        <p:txBody>
          <a:bodyPr wrap="square">
            <a:spAutoFit/>
          </a:bodyPr>
          <a:lstStyle/>
          <a:p>
            <a:r>
              <a:rPr lang="en-US" sz="1200" b="1" i="0" dirty="0">
                <a:solidFill>
                  <a:srgbClr val="2A2A63"/>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A2A63"/>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A2A63"/>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A2A63"/>
                </a:solidFill>
                <a:latin typeface="+mj-lt"/>
                <a:cs typeface="Arial"/>
              </a:rPr>
              <a:t>teams (of 2-3)</a:t>
            </a:r>
            <a:r>
              <a:rPr lang="en-US" sz="1200" dirty="0">
                <a:solidFill>
                  <a:srgbClr val="000000"/>
                </a:solidFill>
                <a:latin typeface="+mj-lt"/>
                <a:cs typeface="Arial"/>
              </a:rPr>
              <a:t>, and a team keeps </a:t>
            </a:r>
            <a:r>
              <a:rPr lang="en-US" sz="1200" b="1" dirty="0">
                <a:solidFill>
                  <a:srgbClr val="2A2A63"/>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A2A63"/>
            </a:solidFill>
          </a:ln>
        </p:spPr>
        <p:txBody>
          <a:bodyPr wrap="square">
            <a:spAutoFit/>
          </a:bodyPr>
          <a:lstStyle/>
          <a:p>
            <a:r>
              <a:rPr lang="en-US" sz="1200" b="1" i="0" dirty="0">
                <a:solidFill>
                  <a:srgbClr val="2A2A63"/>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A2A63"/>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A2A63"/>
                </a:solidFill>
              </a:rPr>
              <a:t>What is rational at any given time depends on four things:</a:t>
            </a:r>
          </a:p>
          <a:p>
            <a:pPr marL="400050" indent="-285750">
              <a:spcAft>
                <a:spcPts val="800"/>
              </a:spcAft>
              <a:buClr>
                <a:srgbClr val="2A2A63"/>
              </a:buClr>
              <a:buSzPts val="1440"/>
              <a:buFont typeface="Fira Sans"/>
              <a:buChar char="●"/>
            </a:pPr>
            <a:r>
              <a:rPr sz="1600">
                <a:solidFill>
                  <a:srgbClr val="2A2A63"/>
                </a:solidFill>
              </a:rPr>
              <a:t>The performance measure that defines the criterion of success</a:t>
            </a:r>
          </a:p>
          <a:p>
            <a:pPr marL="400050" indent="-285750">
              <a:spcAft>
                <a:spcPts val="800"/>
              </a:spcAft>
              <a:buClr>
                <a:srgbClr val="2A2A63"/>
              </a:buClr>
              <a:buSzPts val="1440"/>
              <a:buFont typeface="Fira Sans"/>
              <a:buChar char="●"/>
            </a:pPr>
            <a:r>
              <a:rPr sz="1600">
                <a:solidFill>
                  <a:srgbClr val="2A2A63"/>
                </a:solidFill>
              </a:rPr>
              <a:t>The agent’s prior knowledge of the environment</a:t>
            </a:r>
          </a:p>
          <a:p>
            <a:pPr marL="400050" indent="-285750">
              <a:spcAft>
                <a:spcPts val="800"/>
              </a:spcAft>
              <a:buClr>
                <a:srgbClr val="2A2A63"/>
              </a:buClr>
              <a:buSzPts val="1440"/>
              <a:buFont typeface="Fira Sans"/>
              <a:buChar char="●"/>
            </a:pPr>
            <a:r>
              <a:rPr sz="1600">
                <a:solidFill>
                  <a:srgbClr val="2A2A63"/>
                </a:solidFill>
              </a:rPr>
              <a:t>The actions that the agent can perform</a:t>
            </a:r>
          </a:p>
          <a:p>
            <a:pPr marL="400050" indent="-285750">
              <a:spcAft>
                <a:spcPts val="800"/>
              </a:spcAft>
              <a:buClr>
                <a:srgbClr val="2A2A63"/>
              </a:buClr>
              <a:buSzPts val="1440"/>
              <a:buFont typeface="Fira Sans"/>
              <a:buChar char="●"/>
            </a:pPr>
            <a:r>
              <a:rPr sz="1600">
                <a:solidFill>
                  <a:srgbClr val="2A2A63"/>
                </a:solidFill>
              </a:rPr>
              <a:t>The agent’s percept sequence to date</a:t>
            </a:r>
          </a:p>
        </p:txBody>
      </p:sp>
      <p:sp>
        <p:nvSpPr>
          <p:cNvPr id="4" name="Rectangle 3"/>
          <p:cNvSpPr/>
          <p:nvPr/>
        </p:nvSpPr>
        <p:spPr>
          <a:xfrm>
            <a:off x="319251" y="820000"/>
            <a:ext cx="6014545" cy="1330000"/>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A2A63"/>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enlo"/>
              </a:rPr>
              <a:t>46  </a:t>
            </a:r>
            <a:r>
              <a:rPr sz="1100">
                <a:solidFill>
                  <a:srgbClr val="2A2A63"/>
                </a:solidFill>
                <a:latin typeface="Menlo"/>
              </a:rPr>
              <a:t>sql = f'SELECT username from USERS where password = \'</a:t>
            </a:r>
            <a:r>
              <a:rPr sz="1100" b="1">
                <a:solidFill>
                  <a:srgbClr val="C73561"/>
                </a:solidFill>
                <a:latin typeface="Menlo"/>
              </a:rPr>
              <a:t>{bar}</a:t>
            </a:r>
            <a:r>
              <a:rPr sz="1100">
                <a:solidFill>
                  <a:srgbClr val="2A2A63"/>
                </a:solidFill>
                <a:latin typeface="Menlo"/>
              </a:rPr>
              <a:t>\''</a:t>
            </a:r>
          </a:p>
          <a:p>
            <a:pPr algn="l">
              <a:buNone/>
            </a:pPr>
            <a:r>
              <a:rPr sz="1100">
                <a:solidFill>
                  <a:srgbClr val="8A8A9A"/>
                </a:solidFill>
                <a:latin typeface="Menlo"/>
              </a:rPr>
              <a:t>49  </a:t>
            </a:r>
            <a:r>
              <a:rPr sz="1100">
                <a:solidFill>
                  <a:srgbClr val="2A2A63"/>
                </a:solidFill>
                <a:latin typeface="Menlo"/>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A2A63"/>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enlo"/>
              </a:rPr>
              <a:t>46  </a:t>
            </a:r>
            <a:r>
              <a:rPr sz="1100">
                <a:solidFill>
                  <a:srgbClr val="2A2A63"/>
                </a:solidFill>
                <a:latin typeface="Menlo"/>
              </a:rPr>
              <a:t>sql = 'SELECT username from USERS where password = </a:t>
            </a:r>
            <a:r>
              <a:rPr sz="1100" b="1">
                <a:solidFill>
                  <a:srgbClr val="099191"/>
                </a:solidFill>
                <a:latin typeface="Menlo"/>
              </a:rPr>
              <a:t>?</a:t>
            </a:r>
            <a:r>
              <a:rPr sz="1100">
                <a:solidFill>
                  <a:srgbClr val="2A2A63"/>
                </a:solidFill>
                <a:latin typeface="Menlo"/>
              </a:rPr>
              <a:t>'</a:t>
            </a:r>
          </a:p>
          <a:p>
            <a:pPr algn="l">
              <a:buNone/>
            </a:pPr>
            <a:r>
              <a:rPr sz="1100">
                <a:solidFill>
                  <a:srgbClr val="8A8A9A"/>
                </a:solidFill>
                <a:latin typeface="Menlo"/>
              </a:rPr>
              <a:t>49  </a:t>
            </a:r>
            <a:r>
              <a:rPr sz="1100">
                <a:solidFill>
                  <a:srgbClr val="2A2A63"/>
                </a:solidFill>
                <a:latin typeface="Menlo"/>
              </a:rPr>
              <a:t>cur.execute(sql</a:t>
            </a:r>
            <a:r>
              <a:rPr sz="1100" b="1">
                <a:solidFill>
                  <a:srgbClr val="099191"/>
                </a:solidFill>
                <a:latin typeface="Menlo"/>
              </a:rPr>
              <a:t>, (bar,)</a:t>
            </a:r>
            <a:r>
              <a:rPr sz="1100">
                <a:solidFill>
                  <a:srgbClr val="2A2A63"/>
                </a:solidFill>
                <a:latin typeface="Menlo"/>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A2A63"/>
                </a:solidFill>
              </a:rPr>
              <a:t>It is rational, but only given four things we </a:t>
            </a:r>
            <a:r>
              <a:rPr lang="en-US" sz="1400" b="1" dirty="0">
                <a:solidFill>
                  <a:srgbClr val="2A2A63"/>
                </a:solidFill>
              </a:rPr>
              <a:t>must</a:t>
            </a:r>
            <a:r>
              <a:rPr sz="1400" b="1" dirty="0">
                <a:solidFill>
                  <a:srgbClr val="2A2A63"/>
                </a:solidFill>
              </a:rPr>
              <a:t> state:</a:t>
            </a:r>
          </a:p>
          <a:p>
            <a:pPr marL="400050" indent="-285750">
              <a:spcAft>
                <a:spcPts val="700"/>
              </a:spcAft>
              <a:buClr>
                <a:srgbClr val="2A2A63"/>
              </a:buClr>
              <a:buSzPts val="1260"/>
              <a:buFont typeface="Fira Sans"/>
              <a:buChar char="●"/>
            </a:pPr>
            <a:r>
              <a:rPr sz="1400" b="1" dirty="0">
                <a:solidFill>
                  <a:srgbClr val="2A2A63"/>
                </a:solidFill>
              </a:rPr>
              <a:t>The performance measure:</a:t>
            </a:r>
            <a:r>
              <a:rPr sz="1400" dirty="0">
                <a:solidFill>
                  <a:srgbClr val="2A2A63"/>
                </a:solidFill>
              </a:rPr>
              <a:t> one point if the patch removes the reported weakness and leaves the endpoint behaving as it did</a:t>
            </a:r>
          </a:p>
          <a:p>
            <a:pPr marL="400050" indent="-285750">
              <a:spcAft>
                <a:spcPts val="700"/>
              </a:spcAft>
              <a:buClr>
                <a:srgbClr val="2A2A63"/>
              </a:buClr>
              <a:buSzPts val="1260"/>
              <a:buFont typeface="Fira Sans"/>
              <a:buChar char="●"/>
            </a:pPr>
            <a:r>
              <a:rPr lang="en-US" sz="1400" b="1" dirty="0">
                <a:solidFill>
                  <a:srgbClr val="2A2A63"/>
                </a:solidFill>
              </a:rPr>
              <a:t>Prior knowledge:</a:t>
            </a:r>
            <a:r>
              <a:rPr lang="en-US" sz="1400" dirty="0">
                <a:solidFill>
                  <a:srgbClr val="2A2A63"/>
                </a:solidFill>
              </a:rPr>
              <a:t> the application's layout, and what each tool </a:t>
            </a:r>
            <a:r>
              <a:rPr sz="1400" dirty="0">
                <a:solidFill>
                  <a:srgbClr val="2A2A63"/>
                </a:solidFill>
              </a:rPr>
              <a:t>returns</a:t>
            </a:r>
          </a:p>
          <a:p>
            <a:pPr marL="400050" indent="-285750">
              <a:spcAft>
                <a:spcPts val="700"/>
              </a:spcAft>
              <a:buClr>
                <a:srgbClr val="2A2A63"/>
              </a:buClr>
              <a:buSzPts val="1260"/>
              <a:buFont typeface="Fira Sans"/>
              <a:buChar char="●"/>
            </a:pPr>
            <a:r>
              <a:rPr sz="1400" b="1" dirty="0">
                <a:solidFill>
                  <a:srgbClr val="2A2A63"/>
                </a:solidFill>
              </a:rPr>
              <a:t>The actions available:</a:t>
            </a:r>
            <a:r>
              <a:rPr sz="1400" dirty="0">
                <a:solidFill>
                  <a:srgbClr val="2A2A63"/>
                </a:solidFill>
              </a:rPr>
              <a:t> read_file, search, edit, submit</a:t>
            </a:r>
          </a:p>
          <a:p>
            <a:pPr marL="400050" indent="-285750">
              <a:spcAft>
                <a:spcPts val="700"/>
              </a:spcAft>
              <a:buClr>
                <a:srgbClr val="2A2A63"/>
              </a:buClr>
              <a:buSzPts val="1260"/>
              <a:buFont typeface="Fira Sans"/>
              <a:buChar char="●"/>
            </a:pPr>
            <a:r>
              <a:rPr sz="1400" b="1" dirty="0">
                <a:solidFill>
                  <a:srgbClr val="2A2A63"/>
                </a:solidFill>
              </a:rPr>
              <a:t>The percepts:</a:t>
            </a:r>
            <a:r>
              <a:rPr sz="1400" dirty="0">
                <a:solidFill>
                  <a:srgbClr val="2A2A63"/>
                </a:solidFill>
              </a:rPr>
              <a:t> whatever the tools return, and nothing else</a:t>
            </a:r>
          </a:p>
        </p:txBody>
      </p:sp>
      <p:sp>
        <p:nvSpPr>
          <p:cNvPr id="4" name="Rectangle 3"/>
          <p:cNvSpPr/>
          <p:nvPr/>
        </p:nvSpPr>
        <p:spPr>
          <a:xfrm>
            <a:off x="319251" y="3297836"/>
            <a:ext cx="6014545" cy="822164"/>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A2A63"/>
                </a:solidFill>
              </a:rPr>
              <a:t>Rationality is relative to </a:t>
            </a:r>
            <a:r>
              <a:rPr sz="1200" b="1">
                <a:solidFill>
                  <a:srgbClr val="2A2A63"/>
                </a:solidFill>
              </a:rPr>
              <a:t>those four</a:t>
            </a:r>
            <a:r>
              <a:rPr lang="en-US" sz="1200" b="1">
                <a:solidFill>
                  <a:srgbClr val="2A2A63"/>
                </a:solidFill>
              </a:rPr>
              <a:t>!</a:t>
            </a:r>
            <a:endParaRPr sz="1200" b="1" dirty="0">
              <a:solidFill>
                <a:srgbClr val="2A2A6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A2A63"/>
                </a:solidFill>
              </a:rPr>
              <a:t>Circumstances </a:t>
            </a:r>
            <a:r>
              <a:rPr lang="en-US" b="1" dirty="0">
                <a:solidFill>
                  <a:srgbClr val="2A2A63"/>
                </a:solidFill>
              </a:rPr>
              <a:t>under which the agent </a:t>
            </a:r>
            <a:r>
              <a:rPr sz="1400" b="1" dirty="0">
                <a:solidFill>
                  <a:srgbClr val="2A2A63"/>
                </a:solidFill>
              </a:rPr>
              <a:t>stops being rational:</a:t>
            </a:r>
          </a:p>
          <a:p>
            <a:pPr marL="400050" indent="-285750">
              <a:spcBef>
                <a:spcPts val="600"/>
              </a:spcBef>
              <a:spcAft>
                <a:spcPts val="800"/>
              </a:spcAft>
              <a:buClr>
                <a:srgbClr val="2A2A63"/>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A2A63"/>
              </a:buClr>
              <a:buSzPts val="1260"/>
              <a:buFont typeface="Fira Sans"/>
              <a:buChar char="●"/>
            </a:pPr>
            <a:r>
              <a:rPr sz="1400" dirty="0"/>
              <a:t>Patching only the flagged line, and the weakness survives when the unsafe value comes from a helper the alert never names. A better agent follows the value first </a:t>
            </a:r>
            <a:r>
              <a:rPr sz="1400" b="1" dirty="0">
                <a:solidFill>
                  <a:srgbClr val="C73561"/>
                </a:solidFill>
              </a:rPr>
              <a:t>(becomes relevant when we add a planner)</a:t>
            </a:r>
          </a:p>
          <a:p>
            <a:pPr marL="400050" indent="-285750">
              <a:spcAft>
                <a:spcPts val="800"/>
              </a:spcAft>
              <a:buClr>
                <a:srgbClr val="2A2A63"/>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1" u="sng">
                <a:solidFill>
                  <a:schemeClr val="tx2"/>
                </a:solidFill>
              </a:rPr>
              <a:t>Budget</a:t>
            </a:r>
            <a:r>
              <a:rPr sz="1500" b="0" u="none">
                <a:solidFill>
                  <a:schemeClr val="tx2"/>
                </a:solidFill>
              </a:rPr>
              <a:t>, </a:t>
            </a:r>
            <a:r>
              <a:rPr sz="1500" b="1" u="sng">
                <a:solidFill>
                  <a:schemeClr val="tx2"/>
                </a:solidFill>
              </a:rPr>
              <a:t>depth of investigation</a:t>
            </a:r>
            <a:r>
              <a:rPr sz="1500" b="0" u="none">
                <a:solidFill>
                  <a:schemeClr val="tx2"/>
                </a:solidFill>
              </a:rPr>
              <a:t>, </a:t>
            </a:r>
            <a:r>
              <a:rPr sz="1500" b="1" u="sng">
                <a:solidFill>
                  <a:schemeClr val="tx2"/>
                </a:solidFill>
              </a:rPr>
              <a:t>termination</a:t>
            </a:r>
            <a:r>
              <a:rPr sz="1500" b="0" u="none">
                <a:solidFill>
                  <a:schemeClr val="tx2"/>
                </a:solidFill>
              </a:rPr>
              <a:t>. Each later section makes one of them a decision.</a:t>
            </a:r>
          </a:p>
        </p:txBody>
      </p:sp>
      <p:sp>
        <p:nvSpPr>
          <p:cNvPr id="5" name="Rectangle 4"/>
          <p:cNvSpPr/>
          <p:nvPr/>
        </p:nvSpPr>
        <p:spPr>
          <a:xfrm>
            <a:off x="319251" y="4330000"/>
            <a:ext cx="6014545" cy="430000"/>
          </a:xfrm>
          <a:prstGeom prst="rect">
            <a:avLst/>
          </a:prstGeom>
          <a:no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A2A63"/>
                </a:solidFill>
              </a:rPr>
              <a:t>And the Submit state checks less than the measure asks:</a:t>
            </a:r>
            <a:r>
              <a:rPr sz="1200" b="1" dirty="0">
                <a:solidFill>
                  <a:srgbClr val="2A2A63"/>
                </a:solidFill>
              </a:rPr>
              <a:t> </a:t>
            </a:r>
            <a:r>
              <a:rPr lang="en-US" sz="1200" b="1" dirty="0">
                <a:solidFill>
                  <a:srgbClr val="2A2A63"/>
                </a:solidFill>
              </a:rPr>
              <a:t>A</a:t>
            </a:r>
            <a:r>
              <a:rPr sz="1200" b="1" dirty="0">
                <a:solidFill>
                  <a:srgbClr val="2A2A63"/>
                </a:solidFill>
              </a:rPr>
              <a:t>ccepted is not </a:t>
            </a:r>
            <a:r>
              <a:rPr lang="en-US" sz="1200" b="1" dirty="0">
                <a:solidFill>
                  <a:srgbClr val="2A2A63"/>
                </a:solidFill>
              </a:rPr>
              <a:t>C</a:t>
            </a:r>
            <a:r>
              <a:rPr sz="1200" b="1" dirty="0">
                <a:solidFill>
                  <a:srgbClr val="2A2A63"/>
                </a:solidFill>
              </a:rPr>
              <a:t>orrect.</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A2A63"/>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A2A63"/>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A2A63"/>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A2A63"/>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A2A63"/>
                </a:solidFill>
              </a:rPr>
              <a:t>Our agent sees only what it reads, and it never sees whether the endpoint still works.</a:t>
            </a:r>
            <a:r>
              <a:rPr lang="en-US" sz="1300" dirty="0">
                <a:solidFill>
                  <a:srgbClr val="2A2A63"/>
                </a:solidFill>
              </a:rPr>
              <a:t> How or where the application is running, the OS or what other programs are running simultaneously. </a:t>
            </a:r>
            <a:endParaRPr sz="1300" dirty="0">
              <a:solidFill>
                <a:srgbClr val="2A2A63"/>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A2A63"/>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A2A63"/>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A2A63"/>
                </a:solidFill>
              </a:rPr>
              <a:t>Nothing in the </a:t>
            </a:r>
            <a:r>
              <a:rPr lang="en-US" sz="1300" dirty="0">
                <a:solidFill>
                  <a:srgbClr val="2A2A63"/>
                </a:solidFill>
              </a:rPr>
              <a:t>architecture </a:t>
            </a:r>
            <a:r>
              <a:rPr sz="1300" dirty="0">
                <a:solidFill>
                  <a:srgbClr val="2A2A63"/>
                </a:solidFill>
              </a:rPr>
              <a:t>is trying to </a:t>
            </a:r>
            <a:r>
              <a:rPr lang="en-US" sz="1300">
                <a:solidFill>
                  <a:srgbClr val="2A2A63"/>
                </a:solidFill>
              </a:rPr>
              <a:t>cooperate with or </a:t>
            </a:r>
            <a:r>
              <a:rPr sz="1300" dirty="0">
                <a:solidFill>
                  <a:srgbClr val="2A2A63"/>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A2A63"/>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A2A63"/>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A2A63"/>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A2A63"/>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A2A63"/>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A2A63"/>
                </a:solidFill>
              </a:rPr>
              <a:t>Every label in </a:t>
            </a:r>
            <a:r>
              <a:rPr lang="en-US" sz="1200" dirty="0">
                <a:solidFill>
                  <a:schemeClr val="accent4"/>
                </a:solidFill>
              </a:rPr>
              <a:t>magenta</a:t>
            </a:r>
            <a:r>
              <a:rPr sz="1200" dirty="0">
                <a:solidFill>
                  <a:schemeClr val="accent4"/>
                </a:solidFill>
              </a:rPr>
              <a:t> </a:t>
            </a:r>
            <a:r>
              <a:rPr sz="1200" dirty="0">
                <a:solidFill>
                  <a:srgbClr val="2A2A63"/>
                </a:solidFill>
              </a:rPr>
              <a:t>na</a:t>
            </a:r>
            <a:r>
              <a:rPr lang="en-US" sz="1200" dirty="0">
                <a:solidFill>
                  <a:srgbClr val="2A2A63"/>
                </a:solidFill>
              </a:rPr>
              <a:t>m</a:t>
            </a:r>
            <a:r>
              <a:rPr sz="1200" dirty="0">
                <a:solidFill>
                  <a:srgbClr val="2A2A63"/>
                </a:solidFill>
              </a:rPr>
              <a:t>es a row of the vocabulary table</a:t>
            </a:r>
            <a:r>
              <a:rPr lang="en-US" sz="1200" dirty="0">
                <a:solidFill>
                  <a:srgbClr val="2A2A63"/>
                </a:solidFill>
              </a:rPr>
              <a:t> (Table 2) in the lecture notes.</a:t>
            </a:r>
            <a:endParaRPr sz="1200" dirty="0">
              <a:solidFill>
                <a:srgbClr val="2A2A63"/>
              </a:solidFill>
            </a:endParaRP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2496</TotalTime>
  <Words>3019</Words>
  <Application>Microsoft Macintosh PowerPoint</Application>
  <PresentationFormat>Custom</PresentationFormat>
  <Paragraphs>271</Paragraphs>
  <Slides>24</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Maple Mono NF</vt:lpstr>
      <vt:lpstr>Fira Sans Light</vt:lpstr>
      <vt:lpstr>Menlo</vt:lpstr>
      <vt:lpstr>Fira Sans</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62</cp:revision>
  <dcterms:modified xsi:type="dcterms:W3CDTF">2026-09-17T10:41:16Z</dcterms:modified>
</cp:coreProperties>
</file>
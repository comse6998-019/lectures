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5" r:id="rId29"/>
    <p:sldId id="354" r:id="rId30"/>
    <p:sldId id="356" r:id="rId31"/>
    <p:sldId id="357" r:id="rId32"/>
  </p:sldIdLst>
  <p:sldSz cx="6858000" cy="5143500"/>
  <p:notesSz cx="6858000" cy="9144000"/>
  <p:embeddedFontLst>
    <p:embeddedFont>
      <p:font typeface="Fira Sans" panose="020B0503050000020004" pitchFamily="34" charset="0"/>
      <p:regular r:id="rId34"/>
      <p:bold r:id="rId35"/>
      <p:italic r:id="rId36"/>
      <p:boldItalic r:id="rId37"/>
    </p:embeddedFont>
    <p:embeddedFont>
      <p:font typeface="Fira Sans Light" panose="020B0403050000020004" pitchFamily="34" charset="0"/>
      <p:regular r:id="rId38"/>
      <p:italic r:id="rId39"/>
    </p:embeddedFont>
    <p:embeddedFont>
      <p:font typeface="Maple Mono NF" panose="020F0509060000000000" pitchFamily="49"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51"/>
            <p14:sldId id="352"/>
            <p14:sldId id="353"/>
            <p14:sldId id="355"/>
            <p14:sldId id="354"/>
            <p14:sldId id="356"/>
            <p14:sldId id="35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44"/>
    <p:restoredTop sz="98401"/>
  </p:normalViewPr>
  <p:slideViewPr>
    <p:cSldViewPr snapToGrid="0">
      <p:cViewPr varScale="1">
        <p:scale>
          <a:sx n="358" d="100"/>
          <a:sy n="358" d="100"/>
        </p:scale>
        <p:origin x="3136"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 We have a definition of a rational agent and a machine to point at. Now the first architecture, and it is the one that gives the model the least: every control decision is ours, made before the program sees a task.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part that outlives the lecture. Almost nothing you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8285E"/>
                </a:solidFill>
                <a:latin typeface="Menlo"/>
              </a:rPr>
              <a:t>sql = f'SELECT username from USERS where password = \'</a:t>
            </a:r>
            <a:r>
              <a:rPr sz="1100" b="1">
                <a:solidFill>
                  <a:srgbClr val="C73561"/>
                </a:solidFill>
                <a:latin typeface="Menlo"/>
              </a:rPr>
              <a:t>{bar}</a:t>
            </a:r>
            <a:r>
              <a:rPr sz="1100">
                <a:solidFill>
                  <a:srgbClr val="28285E"/>
                </a:solidFill>
                <a:latin typeface="Menlo"/>
              </a:rPr>
              <a:t>\''</a:t>
            </a:r>
          </a:p>
          <a:p>
            <a:pPr algn="l">
              <a:buNone/>
            </a:pPr>
            <a:r>
              <a:rPr sz="1100">
                <a:solidFill>
                  <a:srgbClr val="8A8A9A"/>
                </a:solidFill>
                <a:latin typeface="Menlo"/>
              </a:rPr>
              <a:t>49  </a:t>
            </a:r>
            <a:r>
              <a:rPr sz="1100">
                <a:solidFill>
                  <a:srgbClr val="28285E"/>
                </a:solidFill>
                <a:latin typeface="Menlo"/>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8285E"/>
                </a:solidFill>
                <a:latin typeface="Menlo"/>
              </a:rPr>
              <a:t>sql = 'SELECT username from USERS where password = </a:t>
            </a:r>
            <a:r>
              <a:rPr sz="1100" b="1">
                <a:solidFill>
                  <a:srgbClr val="099191"/>
                </a:solidFill>
                <a:latin typeface="Menlo"/>
              </a:rPr>
              <a:t>?</a:t>
            </a:r>
            <a:r>
              <a:rPr sz="1100">
                <a:solidFill>
                  <a:srgbClr val="28285E"/>
                </a:solidFill>
                <a:latin typeface="Menlo"/>
              </a:rPr>
              <a:t>'</a:t>
            </a:r>
          </a:p>
          <a:p>
            <a:pPr algn="l">
              <a:buNone/>
            </a:pPr>
            <a:r>
              <a:rPr sz="1100">
                <a:solidFill>
                  <a:srgbClr val="8A8A9A"/>
                </a:solidFill>
                <a:latin typeface="Menlo"/>
              </a:rPr>
              <a:t>49  </a:t>
            </a:r>
            <a:r>
              <a:rPr sz="1100">
                <a:solidFill>
                  <a:srgbClr val="28285E"/>
                </a:solidFill>
                <a:latin typeface="Menlo"/>
              </a:rPr>
              <a:t>cur.execute(sql</a:t>
            </a:r>
            <a:r>
              <a:rPr sz="1100" b="1">
                <a:solidFill>
                  <a:srgbClr val="099191"/>
                </a:solidFill>
                <a:latin typeface="Menlo"/>
              </a:rPr>
              <a:t>, (bar,)</a:t>
            </a:r>
            <a:r>
              <a:rPr sz="1100">
                <a:solidFill>
                  <a:srgbClr val="28285E"/>
                </a:solidFill>
                <a:latin typeface="Menl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0696" y="2217807"/>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four get harder the moment the shape stops being fixed.</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2517</TotalTime>
  <Words>4357</Words>
  <Application>Microsoft Macintosh PowerPoint</Application>
  <PresentationFormat>Custom</PresentationFormat>
  <Paragraphs>353</Paragraphs>
  <Slides>31</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Maple Mono NF</vt:lpstr>
      <vt:lpstr>Fira Sans Light</vt:lpstr>
      <vt:lpstr>Menlo</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69</cp:revision>
  <dcterms:modified xsi:type="dcterms:W3CDTF">2026-09-17T13:56:53Z</dcterms:modified>
</cp:coreProperties>
</file>
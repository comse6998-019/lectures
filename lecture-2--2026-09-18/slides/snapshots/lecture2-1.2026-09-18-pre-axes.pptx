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3"/>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78" r:id="rId42"/>
    <p:sldId id="379" r:id="rId43"/>
    <p:sldId id="380" r:id="rId44"/>
    <p:sldId id="369" r:id="rId45"/>
    <p:sldId id="370" r:id="rId46"/>
    <p:sldId id="371" r:id="rId47"/>
    <p:sldId id="372" r:id="rId48"/>
    <p:sldId id="373" r:id="rId49"/>
    <p:sldId id="374" r:id="rId50"/>
    <p:sldId id="375" r:id="rId51"/>
    <p:sldId id="381" r:id="rId52"/>
    <p:sldId id="377" r:id="rId53"/>
    <p:sldId id="382" r:id="rId54"/>
    <p:sldId id="376" r:id="rId55"/>
    <p:sldId id="384" r:id="rId56"/>
    <p:sldId id="383" r:id="rId57"/>
    <p:sldId id="399" r:id="rId58"/>
    <p:sldId id="385" r:id="rId59"/>
    <p:sldId id="386" r:id="rId60"/>
    <p:sldId id="387" r:id="rId61"/>
    <p:sldId id="388" r:id="rId62"/>
    <p:sldId id="389" r:id="rId63"/>
    <p:sldId id="390" r:id="rId64"/>
    <p:sldId id="391" r:id="rId65"/>
    <p:sldId id="398" r:id="rId66"/>
    <p:sldId id="392" r:id="rId67"/>
    <p:sldId id="393" r:id="rId68"/>
    <p:sldId id="394" r:id="rId69"/>
    <p:sldId id="395" r:id="rId70"/>
    <p:sldId id="396" r:id="rId71"/>
    <p:sldId id="409" r:id="rId72"/>
    <p:sldId id="401" r:id="rId73"/>
    <p:sldId id="402" r:id="rId74"/>
    <p:sldId id="403" r:id="rId75"/>
    <p:sldId id="404" r:id="rId76"/>
    <p:sldId id="405" r:id="rId77"/>
    <p:sldId id="406" r:id="rId78"/>
    <p:sldId id="407" r:id="rId79"/>
    <p:sldId id="408" r:id="rId80"/>
    <p:sldId id="410" r:id="rId81"/>
    <p:sldId id="411" r:id="rId82"/>
  </p:sldIdLst>
  <p:sldSz cx="6858000" cy="5143500"/>
  <p:notesSz cx="6858000" cy="9144000"/>
  <p:embeddedFontLst>
    <p:embeddedFont>
      <p:font typeface="Fira Sans" panose="020B0503050000020004" pitchFamily="34" charset="0"/>
      <p:regular r:id="rId84"/>
      <p:bold r:id="rId85"/>
      <p:italic r:id="rId86"/>
      <p:boldItalic r:id="rId87"/>
    </p:embeddedFont>
    <p:embeddedFont>
      <p:font typeface="Fira Sans Light" panose="020B0403050000020004" pitchFamily="34" charset="0"/>
      <p:regular r:id="rId88"/>
      <p:italic r:id="rId89"/>
    </p:embeddedFont>
    <p:embeddedFont>
      <p:font typeface="Maple Mono NF" panose="020F0509060000000000" pitchFamily="49" charset="0"/>
      <p:regular r:id="rId90"/>
      <p:bold r:id="rId91"/>
      <p:italic r:id="rId92"/>
      <p:boldItalic r:id="rId9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81"/>
            <p14:sldId id="377"/>
            <p14:sldId id="382"/>
            <p14:sldId id="376"/>
            <p14:sldId id="384"/>
            <p14:sldId id="383"/>
            <p14:sldId id="399"/>
            <p14:sldId id="385"/>
            <p14:sldId id="386"/>
            <p14:sldId id="387"/>
            <p14:sldId id="388"/>
            <p14:sldId id="389"/>
            <p14:sldId id="390"/>
            <p14:sldId id="391"/>
            <p14:sldId id="398"/>
            <p14:sldId id="392"/>
            <p14:sldId id="393"/>
            <p14:sldId id="394"/>
            <p14:sldId id="395"/>
            <p14:sldId id="396"/>
            <p14:sldId id="409"/>
            <p14:sldId id="401"/>
            <p14:sldId id="402"/>
            <p14:sldId id="403"/>
            <p14:sldId id="404"/>
            <p14:sldId id="405"/>
            <p14:sldId id="406"/>
            <p14:sldId id="407"/>
            <p14:sldId id="408"/>
            <p14:sldId id="410"/>
            <p14:sldId id="411"/>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43"/>
    <p:restoredTop sz="98401"/>
  </p:normalViewPr>
  <p:slideViewPr>
    <p:cSldViewPr snapToGrid="0">
      <p:cViewPr varScale="1">
        <p:scale>
          <a:sx n="358" d="100"/>
          <a:sy n="358" d="100"/>
        </p:scale>
        <p:origin x="3960"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7.fntdata"/><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5.fntdata"/><Relationship Id="rId91" Type="http://schemas.openxmlformats.org/officeDocument/2006/relationships/font" Target="fonts/font8.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0.fntdata"/><Relationship Id="rId98"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Close of section 3 said novelty is observable and progress is not. This is that gap, stated as three questions the program cannot answer about itself.</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distinction that matters for the demo: our reactive loop sits closest to the middle row with the plan removed.</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model nodes now: plan, controller, validate. The two solid edges are the only unconditional ones in the file; every dashed edge is an add_conditional_edges call. The curve from tools back to plan is the one the reactive loop did not have.</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Teal marks what is new against the three-node loop of section 3. START no longer goes to the controller; it goes to the planner.</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V1 this situation ended the run with no_progress. That terminal status still exists, but it is now reached only after a revision has been tried.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replanned_at is the high-water mark. The stall check reads observations[replanned_at:], so the stall that caused a revision cannot go on to condemn the revision. It also doubles as the replan budget: one.</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propose_plan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to spend a beat on. Students reach for wider search first and it is the wrong lever.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Being handed a clean rescan and asked whether that establishes a correct fix is the entire point of the node.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sharpest line in the demo source and it belongs on screen verbatim. It is also the answer to soliloquizing from section 3.</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Blocksworld is the honest exception: self-critique helped there, 40% to 55%, and a sound verifier still beat it. The notes carry that; the slide does not have room.</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 inside one agent.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 as a loop.</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logic, as a loop.</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the model, at several levels.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no central orchestrator.</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predefined checkpoints.</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Row of the twelve-pattern catalogue. Sorting criterion for this block: does a model orchestrate, or does predefined logic? Here: code the team writes.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a:solidFill>
                  <a:schemeClr val="tx2"/>
                </a:solidFill>
              </a:rPr>
              <a:t>Budget, depth of investigation, and termination are the three we turn into decisions: the loop gets a </a:t>
            </a:r>
            <a:r>
              <a:rPr sz="1400" b="1">
                <a:solidFill>
                  <a:schemeClr val="tx2"/>
                </a:solidFill>
              </a:rPr>
              <a:t>budget</a:t>
            </a:r>
            <a:r>
              <a:rPr sz="1400" b="0">
                <a:solidFill>
                  <a:schemeClr val="tx2"/>
                </a:solidFill>
              </a:rPr>
              <a:t>, the planner sets the </a:t>
            </a:r>
            <a:r>
              <a:rPr sz="1400" b="1">
                <a:solidFill>
                  <a:schemeClr val="tx2"/>
                </a:solidFill>
              </a:rPr>
              <a:t>depth</a:t>
            </a:r>
            <a:r>
              <a:rPr sz="1400" b="0">
                <a:solidFill>
                  <a:schemeClr val="tx2"/>
                </a:solidFill>
              </a:rPr>
              <a:t>, and the runtime owns the </a:t>
            </a:r>
            <a:r>
              <a:rPr sz="1400" b="1">
                <a:solidFill>
                  <a:schemeClr val="tx2"/>
                </a:solidFill>
              </a:rPr>
              <a:t>ending</a:t>
            </a:r>
            <a:r>
              <a:rPr sz="1400" b="0">
                <a:solidFill>
                  <a:schemeClr val="tx2"/>
                </a:solidFill>
              </a:rPr>
              <a:t>.</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a:stCxn id="7" idx="0"/>
          </p:cNvCxnSpPr>
          <p:nvPr/>
        </p:nvCxnSpPr>
        <p:spPr>
          <a:xfrm>
            <a:off x="1063835" y="1862799"/>
            <a:ext cx="0" cy="29753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84B2E34-C6AD-8714-EA3F-688477F6CAD7}"/>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926E5BB-54FC-CFCE-578B-F9F40F0CAD5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74E4C5-6A4F-6834-F1C9-071E5FB2D0ED}"/>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0B95F9-3CB6-5D46-817F-039323FA6E6F}"/>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CE7FFB9-0C3A-9D7E-AE60-6379279BA0A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03726C-C63A-CC07-CA9D-764435DACEDD}"/>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8C9EB4FD-67A4-A824-E1FD-D86520884AC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577927-AE19-F916-E886-6F834CAC74E3}"/>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AF1E1A7-4D3C-ABD0-5DCF-3168894B877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A926C504-D51E-8EB0-9B1E-D22023C37963}"/>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A354829-D883-3A49-D9E6-EA8B7F10F7B8}"/>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2419CE68-E188-CA74-4343-918FD250BDFA}"/>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20B3974-57C0-3FED-3BD7-02A4B1B0D3F8}"/>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163440"/>
            <a:ext cx="5732295" cy="1718103"/>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a:solidFill>
                  <a:schemeClr val="tx1"/>
                </a:solidFill>
              </a:rPr>
              <a:t>Measure progress. </a:t>
            </a:r>
            <a:r>
              <a:rPr sz="1400" b="0">
                <a:solidFill>
                  <a:schemeClr val="tx1"/>
                </a:solidFill>
              </a:rPr>
              <a:t>Seeing that an observation is new is easy. Knowing whether the step in hand has finished is not.</a:t>
            </a:r>
          </a:p>
          <a:p>
            <a:pPr marL="400050" indent="-285750">
              <a:spcBef>
                <a:spcPts val="600"/>
              </a:spcBef>
              <a:spcAft>
                <a:spcPts val="600"/>
              </a:spcAft>
              <a:buClr>
                <a:srgbClr val="28285E"/>
              </a:buClr>
              <a:buSzPts val="1260"/>
              <a:buFont typeface="Fira Sans"/>
              <a:buChar char="●"/>
            </a:pPr>
            <a:r>
              <a:rPr sz="1400" b="1">
                <a:solidFill>
                  <a:schemeClr val="tx1"/>
                </a:solidFill>
              </a:rPr>
              <a:t>Show its intent. </a:t>
            </a:r>
            <a:r>
              <a:rPr sz="1400" b="0">
                <a:solidFill>
                  <a:schemeClr val="tx1"/>
                </a:solidFill>
              </a:rPr>
              <a:t>Halfway through a run the trace holds four thoughts and nothing that says where the run was going.</a:t>
            </a:r>
          </a:p>
          <a:p>
            <a:pPr marL="400050" indent="-285750">
              <a:spcBef>
                <a:spcPts val="600"/>
              </a:spcBef>
              <a:spcAft>
                <a:spcPts val="600"/>
              </a:spcAft>
              <a:buClr>
                <a:srgbClr val="28285E"/>
              </a:buClr>
              <a:buSzPts val="1260"/>
              <a:buFont typeface="Fira Sans"/>
              <a:buChar char="●"/>
            </a:pPr>
            <a:r>
              <a:rPr sz="1400" b="1">
                <a:solidFill>
                  <a:schemeClr val="tx1"/>
                </a:solidFill>
              </a:rPr>
              <a:t>Change course. </a:t>
            </a:r>
            <a:r>
              <a:rPr sz="1400" b="0">
                <a:solidFill>
                  <a:schemeClr val="tx1"/>
                </a:solidFill>
              </a:rPr>
              <a:t>When a step turns out to be impossible there is no remaining plan to revise, because no plan was ever written.</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Our reactive loop remembers everything it has seen. What it never records is what the run set out to do, so the program cannot tell a turn that </a:t>
            </a:r>
            <a:r>
              <a:rPr sz="1400" b="1">
                <a:solidFill>
                  <a:schemeClr val="tx2"/>
                </a:solidFill>
              </a:rPr>
              <a:t>helped</a:t>
            </a:r>
            <a:r>
              <a:rPr sz="1400" b="0">
                <a:solidFill>
                  <a:schemeClr val="tx2"/>
                </a:solidFill>
              </a:rPr>
              <a:t> from a turn that merely </a:t>
            </a:r>
            <a:r>
              <a:rPr sz="1400" b="1">
                <a:solidFill>
                  <a:schemeClr val="tx2"/>
                </a:solidFill>
              </a:rPr>
              <a:t>happened</a:t>
            </a:r>
            <a:r>
              <a:rPr sz="1400" b="0">
                <a:solidFill>
                  <a:schemeClr val="tx2"/>
                </a:solidFill>
              </a:rPr>
              <a:t>.</a:t>
            </a:r>
          </a:p>
        </p:txBody>
      </p:sp>
      <p:sp>
        <p:nvSpPr>
          <p:cNvPr id="5" name="Rectangle 4"/>
          <p:cNvSpPr/>
          <p:nvPr/>
        </p:nvSpPr>
        <p:spPr>
          <a:xfrm>
            <a:off x="319251" y="4100480"/>
            <a:ext cx="6014545" cy="49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 is the smallest thing we can add that lets the program check its own progress.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extLst>
              <p:ext uri="{D42A27DB-BD31-4B8C-83A1-F6EECF244321}">
                <p14:modId xmlns:p14="http://schemas.microsoft.com/office/powerpoint/2010/main" val="2599804413"/>
              </p:ext>
            </p:extLst>
          </p:nvPr>
        </p:nvGraphicFramePr>
        <p:xfrm>
          <a:off x="319251" y="1634008"/>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86817"/>
            <a:ext cx="4445035" cy="496366"/>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
        <p:nvSpPr>
          <p:cNvPr id="5" name="Rectangle 4"/>
          <p:cNvSpPr/>
          <p:nvPr/>
        </p:nvSpPr>
        <p:spPr>
          <a:xfrm>
            <a:off x="319251" y="700000"/>
            <a:ext cx="6014545" cy="797908"/>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dirty="0">
                <a:solidFill>
                  <a:schemeClr val="tx2"/>
                </a:solidFill>
              </a:rPr>
              <a:t>The three shapes differ in one thing only: what a planner is allowed to change when the environment answers back</a:t>
            </a:r>
            <a:r>
              <a:rPr lang="en-US" sz="1400" b="0" dirty="0">
                <a:solidFill>
                  <a:schemeClr val="tx2"/>
                </a:solidFill>
              </a:rPr>
              <a:t>:</a:t>
            </a:r>
            <a:r>
              <a:rPr sz="1400" b="0" dirty="0">
                <a:solidFill>
                  <a:schemeClr val="tx2"/>
                </a:solidFill>
              </a:rPr>
              <a:t> </a:t>
            </a:r>
            <a:r>
              <a:rPr sz="1400" b="1" dirty="0">
                <a:solidFill>
                  <a:schemeClr val="tx2"/>
                </a:solidFill>
              </a:rPr>
              <a:t>Nothing</a:t>
            </a:r>
            <a:r>
              <a:rPr lang="en-US" sz="1400" b="1" dirty="0">
                <a:solidFill>
                  <a:schemeClr val="tx2"/>
                </a:solidFill>
              </a:rPr>
              <a:t>?</a:t>
            </a:r>
            <a:r>
              <a:rPr sz="1400" b="1" dirty="0">
                <a:solidFill>
                  <a:schemeClr val="tx2"/>
                </a:solidFill>
              </a:rPr>
              <a:t> </a:t>
            </a:r>
            <a:r>
              <a:rPr lang="en-US" sz="1400" b="1" dirty="0">
                <a:solidFill>
                  <a:schemeClr val="tx2"/>
                </a:solidFill>
              </a:rPr>
              <a:t>T</a:t>
            </a:r>
            <a:r>
              <a:rPr sz="1400" b="1" dirty="0">
                <a:solidFill>
                  <a:schemeClr val="tx2"/>
                </a:solidFill>
              </a:rPr>
              <a:t>he next action</a:t>
            </a:r>
            <a:r>
              <a:rPr lang="en-US" sz="1400" b="1" dirty="0">
                <a:solidFill>
                  <a:schemeClr val="tx2"/>
                </a:solidFill>
              </a:rPr>
              <a:t> only?</a:t>
            </a:r>
            <a:r>
              <a:rPr sz="1400" b="1" dirty="0">
                <a:solidFill>
                  <a:schemeClr val="tx2"/>
                </a:solidFill>
              </a:rPr>
              <a:t>, or the rest of the plan</a:t>
            </a:r>
            <a:r>
              <a:rPr lang="en-US" sz="1400" b="1" dirty="0">
                <a:solidFill>
                  <a:schemeClr val="tx2"/>
                </a:solidFill>
              </a:rPr>
              <a:t>?</a:t>
            </a:r>
            <a:endParaRPr sz="1400" b="1" dirty="0">
              <a:solidFill>
                <a:schemeClr val="tx2"/>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r:embed="rId3"/>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Only the third sends feedback back to the plan itself. The other two change the next action </a:t>
            </a:r>
            <a:r>
              <a:rPr sz="1200" b="1" dirty="0">
                <a:solidFill>
                  <a:srgbClr val="28285E"/>
                </a:solidFill>
              </a:rPr>
              <a:t>alone</a:t>
            </a:r>
            <a:r>
              <a:rPr sz="1200" dirty="0">
                <a:solidFill>
                  <a:srgbClr val="28285E"/>
                </a:solidFill>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our planner-based demo compiles</a:t>
            </a:r>
          </a:p>
        </p:txBody>
      </p:sp>
      <p:sp>
        <p:nvSpPr>
          <p:cNvPr id="3" name="Rectangle 2"/>
          <p:cNvSpPr/>
          <p:nvPr/>
        </p:nvSpPr>
        <p:spPr>
          <a:xfrm>
            <a:off x="319251" y="700000"/>
            <a:ext cx="6014545" cy="10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Five nodes</a:t>
            </a:r>
            <a:r>
              <a:rPr lang="en-US" sz="1400" dirty="0">
                <a:solidFill>
                  <a:schemeClr val="tx2"/>
                </a:solidFill>
              </a:rPr>
              <a:t> at locations where </a:t>
            </a:r>
            <a:r>
              <a:rPr sz="1400" dirty="0">
                <a:solidFill>
                  <a:schemeClr val="tx2"/>
                </a:solidFill>
              </a:rPr>
              <a:t>model </a:t>
            </a:r>
            <a:r>
              <a:rPr lang="en-US" sz="1400" dirty="0">
                <a:solidFill>
                  <a:schemeClr val="tx2"/>
                </a:solidFill>
              </a:rPr>
              <a:t>makes decisions</a:t>
            </a:r>
            <a:r>
              <a:rPr sz="1400" dirty="0">
                <a:solidFill>
                  <a:schemeClr val="tx2"/>
                </a:solidFill>
              </a:rPr>
              <a:t>. Two edges are unconditional: the one that </a:t>
            </a:r>
            <a:r>
              <a:rPr sz="1400" b="1" dirty="0">
                <a:solidFill>
                  <a:schemeClr val="tx2"/>
                </a:solidFill>
              </a:rPr>
              <a:t>starts</a:t>
            </a:r>
            <a:r>
              <a:rPr sz="1400" dirty="0">
                <a:solidFill>
                  <a:schemeClr val="tx2"/>
                </a:solidFill>
              </a:rPr>
              <a:t> a run at the planner and the one that </a:t>
            </a:r>
            <a:r>
              <a:rPr sz="1400" b="1" dirty="0">
                <a:solidFill>
                  <a:schemeClr val="tx2"/>
                </a:solidFill>
              </a:rPr>
              <a:t>ends</a:t>
            </a:r>
            <a:r>
              <a:rPr sz="1400" dirty="0">
                <a:solidFill>
                  <a:schemeClr val="tx2"/>
                </a:solidFill>
              </a:rPr>
              <a:t> it at the judge. Every other edge is a predicate we wrote over state.</a:t>
            </a:r>
          </a:p>
        </p:txBody>
      </p:sp>
      <p:pic>
        <p:nvPicPr>
          <p:cNvPr id="4" name="Picture 3" descr="graph-v2-deck.png"/>
          <p:cNvPicPr>
            <a:picLocks noChangeAspect="1"/>
          </p:cNvPicPr>
          <p:nvPr/>
        </p:nvPicPr>
        <p:blipFill>
          <a:blip r:embed="rId3"/>
          <a:stretch>
            <a:fillRect/>
          </a:stretch>
        </p:blipFill>
        <p:spPr>
          <a:xfrm>
            <a:off x="250147" y="1760000"/>
            <a:ext cx="6152752" cy="2940231"/>
          </a:xfrm>
          <a:prstGeom prst="rect">
            <a:avLst/>
          </a:prstGeom>
        </p:spPr>
      </p:pic>
      <p:sp>
        <p:nvSpPr>
          <p:cNvPr id="5" name="TextBox 4"/>
          <p:cNvSpPr txBox="1"/>
          <p:nvPr/>
        </p:nvSpPr>
        <p:spPr>
          <a:xfrm>
            <a:off x="4589430" y="4889584"/>
            <a:ext cx="2268570" cy="253916"/>
          </a:xfrm>
          <a:prstGeom prst="rect">
            <a:avLst/>
          </a:prstGeom>
          <a:noFill/>
        </p:spPr>
        <p:txBody>
          <a:bodyPr wrap="none">
            <a:spAutoFit/>
          </a:bodyPr>
          <a:lstStyle/>
          <a:p>
            <a:pPr algn="r"/>
            <a:r>
              <a:rPr sz="1050" i="1">
                <a:solidFill>
                  <a:schemeClr val="bg2"/>
                </a:solidFill>
              </a:rPr>
              <a:t>see: lec2_planning_and_validation_agent/graph.py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In the reactive loop, </a:t>
            </a:r>
            <a:r>
              <a:rPr sz="1400" dirty="0">
                <a:latin typeface="Maple Mono NF"/>
              </a:rPr>
              <a:t>tools -&gt; controller</a:t>
            </a:r>
            <a:r>
              <a:rPr sz="1400" dirty="0">
                <a:solidFill>
                  <a:schemeClr val="tx2"/>
                </a:solidFill>
              </a:rPr>
              <a:t> was unconditional</a:t>
            </a:r>
            <a:r>
              <a:rPr lang="en-US" dirty="0">
                <a:solidFill>
                  <a:schemeClr val="tx2"/>
                </a:solidFill>
              </a:rPr>
              <a:t> </a:t>
            </a:r>
            <a:r>
              <a:rPr sz="1400" dirty="0">
                <a:solidFill>
                  <a:schemeClr val="tx2"/>
                </a:solidFill>
              </a:rPr>
              <a:t>that ma</a:t>
            </a:r>
            <a:r>
              <a:rPr lang="en-US" sz="1400" dirty="0">
                <a:solidFill>
                  <a:schemeClr val="tx2"/>
                </a:solidFill>
              </a:rPr>
              <a:t>de </a:t>
            </a:r>
            <a:r>
              <a:rPr sz="1400" dirty="0">
                <a:solidFill>
                  <a:schemeClr val="tx2"/>
                </a:solidFill>
              </a:rPr>
              <a:t>the agent reactive. </a:t>
            </a:r>
            <a:r>
              <a:rPr lang="en-US" sz="1400" dirty="0">
                <a:solidFill>
                  <a:schemeClr val="tx2"/>
                </a:solidFill>
              </a:rPr>
              <a:t>Now, </a:t>
            </a:r>
            <a:r>
              <a:rPr sz="1400" dirty="0">
                <a:solidFill>
                  <a:schemeClr val="tx2"/>
                </a:solidFill>
              </a:rPr>
              <a:t>it chooses, and its </a:t>
            </a:r>
            <a:r>
              <a:rPr lang="en-US" sz="1400" dirty="0">
                <a:solidFill>
                  <a:schemeClr val="tx2"/>
                </a:solidFill>
              </a:rPr>
              <a:t>other </a:t>
            </a:r>
            <a:r>
              <a:rPr sz="1400" dirty="0">
                <a:solidFill>
                  <a:schemeClr val="tx2"/>
                </a:solidFill>
              </a:rPr>
              <a:t>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lang="en-US" sz="1400" b="1" dirty="0">
                <a:solidFill>
                  <a:srgbClr val="28285E"/>
                </a:solidFill>
              </a:rPr>
              <a:t>Let’s take the “</a:t>
            </a:r>
            <a:r>
              <a:rPr sz="1400" b="1" dirty="0">
                <a:solidFill>
                  <a:srgbClr val="28285E"/>
                </a:solidFill>
              </a:rPr>
              <a:t>stall</a:t>
            </a:r>
            <a:r>
              <a:rPr lang="en-US" sz="1400" b="1" dirty="0">
                <a:solidFill>
                  <a:srgbClr val="28285E"/>
                </a:solidFill>
              </a:rPr>
              <a:t>"</a:t>
            </a:r>
            <a:r>
              <a:rPr sz="1400" b="1" dirty="0">
                <a:solidFill>
                  <a:srgbClr val="28285E"/>
                </a:solidFill>
              </a:rPr>
              <a:t> </a:t>
            </a:r>
            <a:r>
              <a:rPr lang="en-US" sz="1400" b="1" dirty="0">
                <a:solidFill>
                  <a:srgbClr val="28285E"/>
                </a:solidFill>
              </a:rPr>
              <a:t>rule we </a:t>
            </a:r>
            <a:r>
              <a:rPr sz="1400" b="1" dirty="0">
                <a:solidFill>
                  <a:srgbClr val="28285E"/>
                </a:solidFill>
              </a:rPr>
              <a:t>had</a:t>
            </a:r>
            <a:r>
              <a:rPr lang="en-US" sz="1400" b="1" dirty="0">
                <a:solidFill>
                  <a:srgbClr val="28285E"/>
                </a:solidFill>
              </a:rPr>
              <a:t>…</a:t>
            </a:r>
            <a:r>
              <a:rPr sz="1400" b="1" dirty="0">
                <a:solidFill>
                  <a:srgbClr val="28285E"/>
                </a:solidFill>
              </a:rPr>
              <a:t> </a:t>
            </a:r>
            <a:r>
              <a:rPr lang="en-US" sz="1400" b="1" dirty="0">
                <a:solidFill>
                  <a:srgbClr val="28285E"/>
                </a:solidFill>
              </a:rPr>
              <a:t>how </a:t>
            </a:r>
            <a:r>
              <a:rPr sz="1400" b="1" dirty="0">
                <a:solidFill>
                  <a:srgbClr val="28285E"/>
                </a:solidFill>
              </a:rPr>
              <a:t>it </a:t>
            </a:r>
            <a:r>
              <a:rPr lang="en-US" sz="1400" b="1" dirty="0">
                <a:solidFill>
                  <a:srgbClr val="28285E"/>
                </a:solidFill>
              </a:rPr>
              <a:t>gets </a:t>
            </a:r>
            <a:r>
              <a:rPr sz="1400" b="1" dirty="0">
                <a:solidFill>
                  <a:srgbClr val="28285E"/>
                </a:solidFill>
              </a:rPr>
              <a:t>trigger</a:t>
            </a:r>
            <a:r>
              <a:rPr lang="en-US" sz="1400" b="1" dirty="0">
                <a:solidFill>
                  <a:srgbClr val="28285E"/>
                </a:solidFill>
              </a:rPr>
              <a:t>ed </a:t>
            </a:r>
            <a:r>
              <a:rPr sz="1400" b="1" dirty="0">
                <a:solidFill>
                  <a:srgbClr val="28285E"/>
                </a:solidFill>
              </a:rPr>
              <a:t>is new:</a:t>
            </a:r>
            <a:endParaRPr lang="en-US" sz="1400" b="1" dirty="0">
              <a:solidFill>
                <a:srgbClr val="28285E"/>
              </a:solidFill>
            </a:endParaRPr>
          </a:p>
          <a:p>
            <a:pPr marL="0" indent="0">
              <a:buNone/>
            </a:pP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The runtime notices. </a:t>
            </a:r>
            <a:r>
              <a:rPr sz="1400" dirty="0">
                <a:solidFill>
                  <a:schemeClr val="tx1"/>
                </a:solidFill>
              </a:rPr>
              <a:t>When three consecutive tool calls return the same observation, the node that saw them writes one field, </a:t>
            </a:r>
            <a:r>
              <a:rPr sz="1400" dirty="0" err="1">
                <a:latin typeface="Maple Mono NF"/>
              </a:rPr>
              <a:t>failed_step</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The predicate reads one field. </a:t>
            </a:r>
            <a:r>
              <a:rPr sz="1400" dirty="0">
                <a:solidFill>
                  <a:schemeClr val="tx1"/>
                </a:solidFill>
              </a:rPr>
              <a:t>A conditional edge can only read state,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dirty="0">
                <a:solidFill>
                  <a:schemeClr val="tx1"/>
                </a:solidFill>
              </a:rPr>
              <a:t>The planner gets one chance. </a:t>
            </a:r>
            <a:r>
              <a:rPr sz="1400" dirty="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a planner changes</a:t>
            </a:r>
            <a:r>
              <a:rPr lang="en-US" dirty="0"/>
              <a:t> compared to a react</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620000"/>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45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790000"/>
            <a:ext cx="4445035" cy="51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Lookahead with value propagation cuts the first-move dead end to a third, gets </a:t>
            </a:r>
            <a:r>
              <a:rPr sz="1200" b="1">
                <a:solidFill>
                  <a:schemeClr val="tx2"/>
                </a:solidFill>
              </a:rPr>
              <a:t>twice as far</a:t>
            </a:r>
            <a:r>
              <a:rPr sz="1200" b="0">
                <a:solidFill>
                  <a:schemeClr val="tx2"/>
                </a:solidFill>
              </a:rPr>
              <a:t> before the first error, and makes recovery </a:t>
            </a:r>
            <a:r>
              <a:rPr sz="1200" b="1">
                <a:solidFill>
                  <a:schemeClr val="tx2"/>
                </a:solidFill>
              </a:rPr>
              <a:t>five times</a:t>
            </a:r>
            <a:r>
              <a:rPr sz="1200" b="0">
                <a:solidFill>
                  <a:schemeClr val="tx2"/>
                </a:solidFill>
              </a:rPr>
              <a:t> more likely.</a:t>
            </a:r>
          </a:p>
        </p:txBody>
      </p:sp>
      <p:sp>
        <p:nvSpPr>
          <p:cNvPr id="6" name="Rectangle 5"/>
          <p:cNvSpPr/>
          <p:nvPr/>
        </p:nvSpPr>
        <p:spPr>
          <a:xfrm>
            <a:off x="319251" y="700000"/>
            <a:ext cx="6014545" cy="85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All four pick the next action, and differ only in what they score it against: </a:t>
            </a:r>
            <a:r>
              <a:rPr sz="1400" b="1">
                <a:solidFill>
                  <a:schemeClr val="tx2"/>
                </a:solidFill>
              </a:rPr>
              <a:t>the step itself</a:t>
            </a:r>
            <a:r>
              <a:rPr sz="1400" b="0">
                <a:solidFill>
                  <a:schemeClr val="tx2"/>
                </a:solidFill>
              </a:rPr>
              <a:t>, the same step with more candidates, </a:t>
            </a:r>
            <a:r>
              <a:rPr sz="1400" b="1">
                <a:solidFill>
                  <a:schemeClr val="tx2"/>
                </a:solidFill>
              </a:rPr>
              <a:t>the futures it leads to</a:t>
            </a:r>
            <a:r>
              <a:rPr sz="1400" b="0">
                <a:solidFill>
                  <a:schemeClr val="tx2"/>
                </a:solidFill>
              </a:rPr>
              <a:t>, or those futures fed back to revise the choice that led there.</a:t>
            </a:r>
          </a:p>
        </p:txBody>
      </p:sp>
    </p:spTree>
    <p:extLst>
      <p:ext uri="{BB962C8B-B14F-4D97-AF65-F5344CB8AC3E}">
        <p14:creationId xmlns:p14="http://schemas.microsoft.com/office/powerpoint/2010/main" val="23969862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good enough</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Graph colouring</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Game of 24</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attempt,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that produced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 verifier that is always right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1, Stechly et al., ICLR 2025: 100 instances per domain</a:t>
            </a:r>
          </a:p>
        </p:txBody>
      </p:sp>
      <p:sp>
        <p:nvSpPr>
          <p:cNvPr id="5" name="Rectangle 4"/>
          <p:cNvSpPr/>
          <p:nvPr/>
        </p:nvSpPr>
        <p:spPr>
          <a:xfrm>
            <a:off x="1888761" y="3500000"/>
            <a:ext cx="4445035" cy="60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Our rescan is a program, but it is </a:t>
            </a:r>
            <a:r>
              <a:rPr sz="1200" b="1">
                <a:solidFill>
                  <a:schemeClr val="tx2"/>
                </a:solidFill>
              </a:rPr>
              <a:t>not always right</a:t>
            </a:r>
            <a:r>
              <a:rPr sz="1200" b="0">
                <a:solidFill>
                  <a:schemeClr val="tx2"/>
                </a:solidFill>
              </a:rPr>
              <a:t>: a renamed expression clears the alert and leaves the weakness.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Reason and act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Thought, action and observation repeat until an answer, a cap or an error. Orchestrated by </a:t>
            </a:r>
            <a:r>
              <a:rPr sz="1400" b="1">
                <a:solidFill>
                  <a:schemeClr val="tx2"/>
                </a:solidFill>
              </a:rPr>
              <a:t>the model, inside one agent</a:t>
            </a:r>
            <a:r>
              <a:rPr sz="1400" b="0">
                <a:solidFill>
                  <a:schemeClr val="tx2"/>
                </a:solidFill>
              </a:rPr>
              <a:t>.</a:t>
            </a:r>
          </a:p>
        </p:txBody>
      </p:sp>
      <p:pic>
        <p:nvPicPr>
          <p:cNvPr id="4" name="Picture 3" descr="gcp-react.png"/>
          <p:cNvPicPr>
            <a:picLocks noChangeAspect="1"/>
          </p:cNvPicPr>
          <p:nvPr/>
        </p:nvPicPr>
        <p:blipFill>
          <a:blip r:embed="rId3"/>
          <a:stretch>
            <a:fillRect/>
          </a:stretch>
        </p:blipFill>
        <p:spPr>
          <a:xfrm>
            <a:off x="250148" y="1684382"/>
            <a:ext cx="6152752" cy="170123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dynamic and the next move depends on what the last one returned.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one query would do: latency is higher and a misleading tool result reaches the answer.</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Sequential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Specialized agents run in a fixed linear order, each output feeding the next. Orchestrated by </a:t>
            </a:r>
            <a:r>
              <a:rPr sz="1400" b="1">
                <a:solidFill>
                  <a:schemeClr val="tx2"/>
                </a:solidFill>
              </a:rPr>
              <a:t>predefined logic</a:t>
            </a:r>
            <a:r>
              <a:rPr sz="1400" b="0">
                <a:solidFill>
                  <a:schemeClr val="tx2"/>
                </a:solidFill>
              </a:rPr>
              <a:t>.</a:t>
            </a:r>
          </a:p>
        </p:txBody>
      </p:sp>
      <p:pic>
        <p:nvPicPr>
          <p:cNvPr id="4" name="Picture 3" descr="gcp-sequential.png"/>
          <p:cNvPicPr>
            <a:picLocks noChangeAspect="1"/>
          </p:cNvPicPr>
          <p:nvPr/>
        </p:nvPicPr>
        <p:blipFill>
          <a:blip r:embed="rId3"/>
          <a:stretch>
            <a:fillRect/>
          </a:stretch>
        </p:blipFill>
        <p:spPr>
          <a:xfrm>
            <a:off x="250148" y="2195060"/>
            <a:ext cx="6152752" cy="679879"/>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dirty="0">
                <a:solidFill>
                  <a:srgbClr val="28285E"/>
                </a:solidFill>
              </a:rPr>
              <a:t>Use it when </a:t>
            </a:r>
            <a:r>
              <a:rPr sz="1200" dirty="0">
                <a:solidFill>
                  <a:schemeClr val="tx1"/>
                </a:solidFill>
              </a:rPr>
              <a:t>the process is structured and repeatable, like extract, then clean, then load.</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run needs to skip a step it does not need, or one slow step holds up the rest.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Independent subagents run at the same time and a gather step synthesizes them. Orchestrated by </a:t>
            </a:r>
            <a:r>
              <a:rPr sz="1400" b="1">
                <a:solidFill>
                  <a:schemeClr val="tx2"/>
                </a:solidFill>
              </a:rPr>
              <a:t>predefined logic</a:t>
            </a:r>
            <a:r>
              <a:rPr sz="1400" b="0">
                <a:solidFill>
                  <a:schemeClr val="tx2"/>
                </a:solidFill>
              </a:rPr>
              <a:t>.</a:t>
            </a:r>
          </a:p>
        </p:txBody>
      </p:sp>
      <p:pic>
        <p:nvPicPr>
          <p:cNvPr id="4" name="Picture 3" descr="gcp-parallel.png"/>
          <p:cNvPicPr>
            <a:picLocks noChangeAspect="1"/>
          </p:cNvPicPr>
          <p:nvPr/>
        </p:nvPicPr>
        <p:blipFill>
          <a:blip r:embed="rId3"/>
          <a:stretch>
            <a:fillRect/>
          </a:stretch>
        </p:blipFill>
        <p:spPr>
          <a:xfrm>
            <a:off x="1678840" y="1450000"/>
            <a:ext cx="3295368"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genuinely splits, like collecting from several sources at once.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results can conflict: cost and token use rise at once and the join gets hard.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sequence of subagents repeats until a termination condition is met. Orchestrated by </a:t>
            </a:r>
            <a:r>
              <a:rPr sz="1400" b="1">
                <a:solidFill>
                  <a:schemeClr val="tx2"/>
                </a:solidFill>
              </a:rPr>
              <a:t>predefined logic</a:t>
            </a:r>
            <a:r>
              <a:rPr sz="1400" b="0">
                <a:solidFill>
                  <a:schemeClr val="tx2"/>
                </a:solidFill>
              </a:rPr>
              <a:t>.</a:t>
            </a:r>
          </a:p>
        </p:txBody>
      </p:sp>
      <p:pic>
        <p:nvPicPr>
          <p:cNvPr id="4" name="Picture 3" descr="gcp-loop.png"/>
          <p:cNvPicPr>
            <a:picLocks noChangeAspect="1"/>
          </p:cNvPicPr>
          <p:nvPr/>
        </p:nvPicPr>
        <p:blipFill>
          <a:blip r:embed="rId3"/>
          <a:stretch>
            <a:fillRect/>
          </a:stretch>
        </p:blipFill>
        <p:spPr>
          <a:xfrm>
            <a:off x="250148" y="1539792"/>
            <a:ext cx="6152752" cy="1990415"/>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work needs iterating or self-correction before it is good enough.</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not defined: the loop runs on and spends the budget doing it.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Review and critique</a:t>
            </a:r>
          </a:p>
        </p:txBody>
      </p:sp>
      <p:sp>
        <p:nvSpPr>
          <p:cNvPr id="3" name="Rectangle 2"/>
          <p:cNvSpPr/>
          <p:nvPr/>
        </p:nvSpPr>
        <p:spPr>
          <a:xfrm>
            <a:off x="319251" y="700000"/>
            <a:ext cx="6014545" cy="69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generator produces, and a critic judges it against criteria and approves, rejects or returns feedback. Orchestrated by </a:t>
            </a:r>
            <a:r>
              <a:rPr sz="1400" b="1">
                <a:solidFill>
                  <a:schemeClr val="tx2"/>
                </a:solidFill>
              </a:rPr>
              <a:t>predefined logic, as a loop</a:t>
            </a:r>
            <a:r>
              <a:rPr sz="1400" b="0">
                <a:solidFill>
                  <a:schemeClr val="tx2"/>
                </a:solidFill>
              </a:rPr>
              <a:t>.</a:t>
            </a:r>
          </a:p>
        </p:txBody>
      </p:sp>
      <p:pic>
        <p:nvPicPr>
          <p:cNvPr id="4" name="Picture 3" descr="gcp-review-critique.png"/>
          <p:cNvPicPr>
            <a:picLocks noChangeAspect="1"/>
          </p:cNvPicPr>
          <p:nvPr/>
        </p:nvPicPr>
        <p:blipFill>
          <a:blip r:embed="rId3"/>
          <a:stretch>
            <a:fillRect/>
          </a:stretch>
        </p:blipFill>
        <p:spPr>
          <a:xfrm>
            <a:off x="250148" y="1515181"/>
            <a:ext cx="6152752" cy="2039637"/>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output has to be accurate or meet strict rules, like code that needs an audit.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speed matters: every evaluation is at least one more model call, and revisions stack.</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Iterative refinement</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One or more agents improve a result held in state until a quality threshold or a cap. Orchestrated by </a:t>
            </a:r>
            <a:r>
              <a:rPr sz="1400" b="1">
                <a:solidFill>
                  <a:schemeClr val="tx2"/>
                </a:solidFill>
              </a:rPr>
              <a:t>predefined logic, as a loop</a:t>
            </a:r>
            <a:r>
              <a:rPr sz="1400" b="0">
                <a:solidFill>
                  <a:schemeClr val="tx2"/>
                </a:solidFill>
              </a:rPr>
              <a:t>.</a:t>
            </a:r>
          </a:p>
        </p:txBody>
      </p:sp>
      <p:pic>
        <p:nvPicPr>
          <p:cNvPr id="4" name="Picture 3" descr="gcp-iterative-refinement.png"/>
          <p:cNvPicPr>
            <a:picLocks noChangeAspect="1"/>
          </p:cNvPicPr>
          <p:nvPr/>
        </p:nvPicPr>
        <p:blipFill>
          <a:blip r:embed="rId3"/>
          <a:stretch>
            <a:fillRect/>
          </a:stretch>
        </p:blipFill>
        <p:spPr>
          <a:xfrm>
            <a:off x="1114496" y="1450000"/>
            <a:ext cx="44240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task is hard to get right in one pass, like drafting or debugging.</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 exit condition is vague: each cycle costs latency and money whether it helps or not.</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Coordinator</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central agent reads the request, splits it, and dispatches the parts to specialists. Orchestrated by </a:t>
            </a:r>
            <a:r>
              <a:rPr sz="1400" b="1">
                <a:solidFill>
                  <a:schemeClr val="tx2"/>
                </a:solidFill>
              </a:rPr>
              <a:t>the model</a:t>
            </a:r>
            <a:r>
              <a:rPr sz="1400" b="0">
                <a:solidFill>
                  <a:schemeClr val="tx2"/>
                </a:solidFill>
              </a:rPr>
              <a:t>.</a:t>
            </a:r>
          </a:p>
        </p:txBody>
      </p:sp>
      <p:pic>
        <p:nvPicPr>
          <p:cNvPr id="4" name="Picture 3" descr="gcp-coordinator.png"/>
          <p:cNvPicPr>
            <a:picLocks noChangeAspect="1"/>
          </p:cNvPicPr>
          <p:nvPr/>
        </p:nvPicPr>
        <p:blipFill>
          <a:blip r:embed="rId3"/>
          <a:stretch>
            <a:fillRect/>
          </a:stretch>
        </p:blipFill>
        <p:spPr>
          <a:xfrm>
            <a:off x="2091465" y="1450000"/>
            <a:ext cx="2470119"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a structured process needs routing that adapts to what the request turns out to be.</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single agent would do: this costs more model calls, more tokens and more latency.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Hierarchical task decomposition</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A root agent decomposes, and subagents decompose again until workers can execute. Orchestrated by </a:t>
            </a:r>
            <a:r>
              <a:rPr sz="1400" b="1">
                <a:solidFill>
                  <a:schemeClr val="tx2"/>
                </a:solidFill>
              </a:rPr>
              <a:t>the model, at several levels</a:t>
            </a:r>
            <a:r>
              <a:rPr sz="1400" b="0">
                <a:solidFill>
                  <a:schemeClr val="tx2"/>
                </a:solidFill>
              </a:rPr>
              <a:t>.</a:t>
            </a:r>
          </a:p>
        </p:txBody>
      </p:sp>
      <p:pic>
        <p:nvPicPr>
          <p:cNvPr id="4" name="Picture 3" descr="gcp-hierarchical-task.png"/>
          <p:cNvPicPr>
            <a:picLocks noChangeAspect="1"/>
          </p:cNvPicPr>
          <p:nvPr/>
        </p:nvPicPr>
        <p:blipFill>
          <a:blip r:embed="rId3"/>
          <a:stretch>
            <a:fillRect/>
          </a:stretch>
        </p:blipFill>
        <p:spPr>
          <a:xfrm>
            <a:off x="1907296" y="1450000"/>
            <a:ext cx="2838456"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open-ended and needs research, planning and synthesis together.</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you have to debug it: the complexity is considerable and the model calls are many.</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Swarm</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Specialists talk to one another all-to-all and refine together, with an explicit exit condition. Orchestrated by </a:t>
            </a:r>
            <a:r>
              <a:rPr sz="1400" b="1">
                <a:solidFill>
                  <a:schemeClr val="tx2"/>
                </a:solidFill>
              </a:rPr>
              <a:t>no central orchestrator</a:t>
            </a:r>
            <a:r>
              <a:rPr sz="1400" b="0">
                <a:solidFill>
                  <a:schemeClr val="tx2"/>
                </a:solidFill>
              </a:rPr>
              <a:t>.</a:t>
            </a:r>
          </a:p>
        </p:txBody>
      </p:sp>
      <p:pic>
        <p:nvPicPr>
          <p:cNvPr id="4" name="Picture 3" descr="gcp-swarm.png"/>
          <p:cNvPicPr>
            <a:picLocks noChangeAspect="1"/>
          </p:cNvPicPr>
          <p:nvPr/>
        </p:nvPicPr>
        <p:blipFill>
          <a:blip r:embed="rId3"/>
          <a:stretch>
            <a:fillRect/>
          </a:stretch>
        </p:blipFill>
        <p:spPr>
          <a:xfrm>
            <a:off x="2180196" y="1450000"/>
            <a:ext cx="2292657" cy="2170000"/>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problem is ambiguous and genuinely benefits from argument between perspectives.</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almost always: it is the costliest of the twelve and may never converge.</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Human in the loop</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The agent pauses at a checkpoint and waits for a person to approve, correct or supply input. Orchestrated by </a:t>
            </a:r>
            <a:r>
              <a:rPr sz="1400" b="1">
                <a:solidFill>
                  <a:schemeClr val="tx2"/>
                </a:solidFill>
              </a:rPr>
              <a:t>predefined checkpoints</a:t>
            </a:r>
            <a:r>
              <a:rPr sz="1400" b="0">
                <a:solidFill>
                  <a:schemeClr val="tx2"/>
                </a:solidFill>
              </a:rPr>
              <a:t>.</a:t>
            </a:r>
          </a:p>
        </p:txBody>
      </p:sp>
      <p:pic>
        <p:nvPicPr>
          <p:cNvPr id="4" name="Picture 3" descr="gcp-human-in-the-loop.png"/>
          <p:cNvPicPr>
            <a:picLocks noChangeAspect="1"/>
          </p:cNvPicPr>
          <p:nvPr/>
        </p:nvPicPr>
        <p:blipFill>
          <a:blip r:embed="rId3"/>
          <a:stretch>
            <a:fillRect/>
          </a:stretch>
        </p:blipFill>
        <p:spPr>
          <a:xfrm>
            <a:off x="250148" y="1728989"/>
            <a:ext cx="6152752" cy="1612021"/>
          </a:xfrm>
          <a:prstGeom prst="rect">
            <a:avLst/>
          </a:prstGeom>
        </p:spPr>
      </p:pic>
      <p:sp>
        <p:nvSpPr>
          <p:cNvPr id="5" name="Rectangle 4"/>
          <p:cNvSpPr/>
          <p:nvPr/>
        </p:nvSpPr>
        <p:spPr>
          <a:xfrm>
            <a:off x="319251"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decision is high-stakes or subjective, like a payment or a sensitive document.</a:t>
            </a:r>
          </a:p>
        </p:txBody>
      </p:sp>
      <p:sp>
        <p:nvSpPr>
          <p:cNvPr id="6" name="Rectangle 5"/>
          <p:cNvSpPr/>
          <p:nvPr/>
        </p:nvSpPr>
        <p:spPr>
          <a:xfrm>
            <a:off x="3419857" y="3700000"/>
            <a:ext cx="2913939" cy="8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there is nobody to ask: it needs an interaction system built and then maintained.</a:t>
            </a:r>
          </a:p>
        </p:txBody>
      </p:sp>
      <p:sp>
        <p:nvSpPr>
          <p:cNvPr id="7" name="TextBox 6"/>
          <p:cNvSpPr txBox="1"/>
          <p:nvPr/>
        </p:nvSpPr>
        <p:spPr>
          <a:xfrm>
            <a:off x="2433796" y="4620000"/>
            <a:ext cx="3900000" cy="253916"/>
          </a:xfrm>
          <a:prstGeom prst="rect">
            <a:avLst/>
          </a:prstGeom>
          <a:noFill/>
        </p:spPr>
        <p:txBody>
          <a:bodyPr wrap="none">
            <a:spAutoFit/>
          </a:bodyPr>
          <a:lstStyle/>
          <a:p>
            <a:pPr algn="r"/>
            <a:r>
              <a:rPr sz="1050" i="1">
                <a:solidFill>
                  <a:schemeClr val="bg2"/>
                </a:solidFill>
              </a:rPr>
              <a:t>Google Cloud Architecture Center, agentic design patterns, CC BY 4.0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Custom logic</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b="0">
                <a:solidFill>
                  <a:schemeClr val="tx2"/>
                </a:solidFill>
              </a:rPr>
              <a:t>Conditional orchestration written in code, mixing the other patterns as needed. Orchestrated by </a:t>
            </a:r>
            <a:r>
              <a:rPr sz="1400" b="1">
                <a:solidFill>
                  <a:schemeClr val="tx2"/>
                </a:solidFill>
              </a:rPr>
              <a:t>code the team writes</a:t>
            </a:r>
            <a:r>
              <a:rPr sz="1400" b="0">
                <a:solidFill>
                  <a:schemeClr val="tx2"/>
                </a:solidFill>
              </a:rPr>
              <a:t>.</a:t>
            </a:r>
          </a:p>
        </p:txBody>
      </p:sp>
      <p:sp>
        <p:nvSpPr>
          <p:cNvPr id="4" name="Rectangle 3"/>
          <p:cNvSpPr/>
          <p:nvPr/>
        </p:nvSpPr>
        <p:spPr>
          <a:xfrm>
            <a:off x="319251"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Use it when </a:t>
            </a:r>
            <a:r>
              <a:rPr sz="1200">
                <a:solidFill>
                  <a:schemeClr val="tx1"/>
                </a:solidFill>
              </a:rPr>
              <a:t>the branching goes beyond a linear sequence, or fixed rules mix with model reasoning.</a:t>
            </a:r>
          </a:p>
        </p:txBody>
      </p:sp>
      <p:sp>
        <p:nvSpPr>
          <p:cNvPr id="5" name="Rectangle 4"/>
          <p:cNvSpPr/>
          <p:nvPr/>
        </p:nvSpPr>
        <p:spPr>
          <a:xfrm>
            <a:off x="3419857" y="1700000"/>
            <a:ext cx="2913939" cy="120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a:solidFill>
                  <a:srgbClr val="28285E"/>
                </a:solidFill>
              </a:rPr>
              <a:t>Think twice when </a:t>
            </a:r>
            <a:r>
              <a:rPr sz="1200">
                <a:solidFill>
                  <a:schemeClr val="tx1"/>
                </a:solidFill>
              </a:rPr>
              <a:t>a named pattern already fits: the team now owns and debugs the whole flow.</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3345</TotalTime>
  <Words>12775</Words>
  <Application>Microsoft Macintosh PowerPoint</Application>
  <PresentationFormat>Custom</PresentationFormat>
  <Paragraphs>847</Paragraphs>
  <Slides>81</Slides>
  <Notes>71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81</vt:i4>
      </vt:variant>
    </vt:vector>
  </HeadingPairs>
  <TitlesOfParts>
    <vt:vector size="86" baseType="lpstr">
      <vt:lpstr>Arial</vt:lpstr>
      <vt:lpstr>Fira Sans Light</vt:lpstr>
      <vt:lpstr>Fira Sans</vt:lpstr>
      <vt:lpstr>Maple Mono NF</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What each shape does with an observation</vt:lpstr>
      <vt:lpstr>Shapes of Planning</vt:lpstr>
      <vt:lpstr>The graph our planner-based demo compiles</vt:lpstr>
      <vt:lpstr>The new nodes in our planner-based demo</vt:lpstr>
      <vt:lpstr>The edge from tools now has two destinations</vt:lpstr>
      <vt:lpstr>How the runtime decides the plan has failed</vt:lpstr>
      <vt:lpstr>What a planner changes compared to a react</vt:lpstr>
      <vt:lpstr>What a planner changes compared to a react</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lpstr>Reason and act</vt:lpstr>
      <vt:lpstr>Sequential</vt:lpstr>
      <vt:lpstr>Parallel</vt:lpstr>
      <vt:lpstr>Loop</vt:lpstr>
      <vt:lpstr>Review and critique</vt:lpstr>
      <vt:lpstr>Iterative refinement</vt:lpstr>
      <vt:lpstr>Coordinator</vt:lpstr>
      <vt:lpstr>Hierarchical task decomposition</vt:lpstr>
      <vt:lpstr>Swarm</vt:lpstr>
      <vt:lpstr>Human in the loop</vt:lpstr>
      <vt:lpstr>Custom logic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115</cp:revision>
  <dcterms:modified xsi:type="dcterms:W3CDTF">2026-09-18T16:04:26Z</dcterms:modified>
</cp:coreProperties>
</file>
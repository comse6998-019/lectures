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55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omments/modernComment_178_0.xml" ContentType="application/vnd.ms-powerpoint.comment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omments/modernComment_17F_0.xml" ContentType="application/vnd.ms-powerpoint.comment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omments/modernComment_18E_8EDF1BB8.xml" ContentType="application/vnd.ms-powerpoint.comment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2"/>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62" r:id="rId26"/>
    <p:sldId id="364" r:id="rId27"/>
    <p:sldId id="352" r:id="rId28"/>
    <p:sldId id="353" r:id="rId29"/>
    <p:sldId id="355" r:id="rId30"/>
    <p:sldId id="354" r:id="rId31"/>
    <p:sldId id="356" r:id="rId32"/>
    <p:sldId id="357" r:id="rId33"/>
    <p:sldId id="358" r:id="rId34"/>
    <p:sldId id="359" r:id="rId35"/>
    <p:sldId id="360" r:id="rId36"/>
    <p:sldId id="361" r:id="rId37"/>
    <p:sldId id="365" r:id="rId38"/>
    <p:sldId id="366" r:id="rId39"/>
    <p:sldId id="367" r:id="rId40"/>
    <p:sldId id="368" r:id="rId41"/>
    <p:sldId id="378" r:id="rId42"/>
    <p:sldId id="379" r:id="rId43"/>
    <p:sldId id="380" r:id="rId44"/>
    <p:sldId id="369" r:id="rId45"/>
    <p:sldId id="370" r:id="rId46"/>
    <p:sldId id="371" r:id="rId47"/>
    <p:sldId id="372" r:id="rId48"/>
    <p:sldId id="373" r:id="rId49"/>
    <p:sldId id="374" r:id="rId50"/>
    <p:sldId id="375" r:id="rId51"/>
    <p:sldId id="381" r:id="rId52"/>
    <p:sldId id="377" r:id="rId53"/>
    <p:sldId id="382" r:id="rId54"/>
    <p:sldId id="376" r:id="rId55"/>
    <p:sldId id="384" r:id="rId56"/>
    <p:sldId id="383" r:id="rId57"/>
    <p:sldId id="399" r:id="rId58"/>
    <p:sldId id="385" r:id="rId59"/>
    <p:sldId id="386" r:id="rId60"/>
    <p:sldId id="387" r:id="rId61"/>
    <p:sldId id="388" r:id="rId62"/>
    <p:sldId id="389" r:id="rId63"/>
    <p:sldId id="390" r:id="rId64"/>
    <p:sldId id="391" r:id="rId65"/>
    <p:sldId id="398" r:id="rId66"/>
    <p:sldId id="392" r:id="rId67"/>
    <p:sldId id="393" r:id="rId68"/>
    <p:sldId id="394" r:id="rId69"/>
    <p:sldId id="395" r:id="rId70"/>
    <p:sldId id="396" r:id="rId71"/>
  </p:sldIdLst>
  <p:sldSz cx="6858000" cy="5143500"/>
  <p:notesSz cx="6858000" cy="9144000"/>
  <p:embeddedFontLst>
    <p:embeddedFont>
      <p:font typeface="Fira Sans" panose="020B0503050000020004" pitchFamily="34" charset="0"/>
      <p:regular r:id="rId73"/>
      <p:bold r:id="rId74"/>
      <p:italic r:id="rId75"/>
      <p:boldItalic r:id="rId76"/>
    </p:embeddedFont>
    <p:embeddedFont>
      <p:font typeface="Fira Sans Light" panose="020B0403050000020004" pitchFamily="34" charset="0"/>
      <p:regular r:id="rId77"/>
      <p:italic r:id="rId78"/>
    </p:embeddedFont>
    <p:embeddedFont>
      <p:font typeface="Maple Mono NF" panose="020F0509060000000000" pitchFamily="49" charset="0"/>
      <p:regular r:id="rId79"/>
      <p:bold r:id="rId80"/>
      <p:italic r:id="rId81"/>
      <p:boldItalic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 id="367"/>
            <p14:sldId id="368"/>
            <p14:sldId id="378"/>
            <p14:sldId id="379"/>
            <p14:sldId id="380"/>
            <p14:sldId id="369"/>
            <p14:sldId id="370"/>
            <p14:sldId id="371"/>
            <p14:sldId id="372"/>
            <p14:sldId id="373"/>
            <p14:sldId id="374"/>
            <p14:sldId id="375"/>
            <p14:sldId id="381"/>
            <p14:sldId id="377"/>
            <p14:sldId id="382"/>
            <p14:sldId id="376"/>
            <p14:sldId id="384"/>
            <p14:sldId id="383"/>
            <p14:sldId id="399"/>
            <p14:sldId id="385"/>
            <p14:sldId id="386"/>
            <p14:sldId id="387"/>
            <p14:sldId id="388"/>
            <p14:sldId id="389"/>
            <p14:sldId id="390"/>
            <p14:sldId id="391"/>
            <p14:sldId id="398"/>
            <p14:sldId id="392"/>
            <p14:sldId id="393"/>
            <p14:sldId id="394"/>
            <p14:sldId id="395"/>
            <p14:sldId id="396"/>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748"/>
    <p:restoredTop sz="98401"/>
  </p:normalViewPr>
  <p:slideViewPr>
    <p:cSldViewPr snapToGrid="0">
      <p:cViewPr varScale="1">
        <p:scale>
          <a:sx n="358" d="100"/>
          <a:sy n="358" d="100"/>
        </p:scale>
        <p:origin x="3848"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8/10/relationships/authors" Target="authors.xml"/><Relationship Id="rId61" Type="http://schemas.openxmlformats.org/officeDocument/2006/relationships/slide" Target="slides/slide60.xml"/><Relationship Id="rId82" Type="http://schemas.openxmlformats.org/officeDocument/2006/relationships/font" Target="fonts/font10.fntdata"/></Relationships>
</file>

<file path=ppt/comments/modernComment_17F_0.xml><?xml version="1.0" encoding="utf-8"?>
<p188:cmLst xmlns:a="http://schemas.openxmlformats.org/drawingml/2006/main" xmlns:r="http://schemas.openxmlformats.org/officeDocument/2006/relationships" xmlns:p188="http://schemas.microsoft.com/office/powerpoint/2018/8/main">
  <p188:cm id="{CD9734C0-2FD2-E849-85F7-2F69C91F7D22}" authorId="{BBF72F71-1B05-876B-1723-EC4BFB4CF1F1}" created="2026-09-18T14:18:46.210">
    <pc:sldMkLst xmlns:pc="http://schemas.microsoft.com/office/powerpoint/2013/main/command">
      <pc:docMk/>
      <pc:sldMk cId="0" sldId="383"/>
    </pc:sldMkLst>
    <p188:txBody>
      <a:bodyPr/>
      <a:lstStyle/>
      <a:p>
        <a:r>
          <a:rPr lang="en-US"/>
          <a:t>Explain what these are before the slides. I have no way of knowing by just looking at it</a:t>
        </a:r>
      </a:p>
    </p188:txBody>
  </p188:cm>
</p188:cmLst>
</file>

<file path=ppt/comments/modernComment_18E_8EDF1BB8.xml><?xml version="1.0" encoding="utf-8"?>
<p188:cmLst xmlns:a="http://schemas.openxmlformats.org/drawingml/2006/main" xmlns:r="http://schemas.openxmlformats.org/officeDocument/2006/relationships" xmlns:p188="http://schemas.microsoft.com/office/powerpoint/2018/8/main">
  <p188:cm id="{45DCA36F-5FDE-4640-A92C-8F4961635510}" authorId="{BBF72F71-1B05-876B-1723-EC4BFB4CF1F1}" created="2026-09-18T14:33:31.262">
    <ac:txMkLst xmlns:ac="http://schemas.microsoft.com/office/drawing/2013/main/command">
      <pc:docMk xmlns:pc="http://schemas.microsoft.com/office/powerpoint/2013/main/command"/>
      <pc:sldMk xmlns:pc="http://schemas.microsoft.com/office/powerpoint/2013/main/command" cId="2396986296" sldId="398"/>
      <ac:spMk id="5" creationId="{8C5AF8AC-0C2A-E0CF-9DD7-D7F19410D774}"/>
      <ac:txMk cp="0" len="96">
        <ac:context len="97" hash="866637486"/>
      </ac:txMk>
    </ac:txMkLst>
    <p188:pos x="4296627" y="191031"/>
    <p188:txBody>
      <a:bodyPr/>
      <a:lstStyle/>
      <a:p>
        <a:r>
          <a:rPr lang="en-US"/>
          <a:t>Update this match how lookahead with value propagation helps</a:t>
        </a:r>
      </a:p>
    </p188:txBody>
  </p188:cm>
</p188:cmLst>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comments/modernComment_178_0.xml><?xml version="1.0" encoding="utf-8"?>
<p188:cmLst xmlns:a="http://schemas.openxmlformats.org/drawingml/2006/main" xmlns:r="http://schemas.openxmlformats.org/officeDocument/2006/relationships" xmlns:p188="http://schemas.microsoft.com/office/powerpoint/2018/8/main">
  <p188:cm id="{0D807121-70ED-624B-9EBB-5CCF6A5220A8}" authorId="{BBF72F71-1B05-876B-1723-EC4BFB4CF1F1}" created="2026-09-18T14:08:19.270">
    <ac:txMkLst xmlns:ac="http://schemas.microsoft.com/office/drawing/2013/main/command">
      <pc:docMk xmlns:pc="http://schemas.microsoft.com/office/powerpoint/2013/main/command"/>
      <pc:sldMk xmlns:pc="http://schemas.microsoft.com/office/powerpoint/2013/main/command" cId="0" sldId="376"/>
      <ac:spMk id="3" creationId="{00000000-0000-0000-0000-000000000000}"/>
      <ac:txMk cp="63" len="118">
        <ac:context len="422" hash="989357155"/>
      </ac:txMk>
    </ac:txMkLst>
    <p188:pos x="5804027" y="430074"/>
    <p188:txBody>
      <a:bodyPr/>
      <a:lstStyle/>
      <a:p>
        <a:r>
          <a:rPr lang="en-US"/>
          <a:t>Explain better</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699797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not a drawing of the idea, it is the graph the demo compiles. Three nodes. The controller is the only place a model is called. Tools validates and executes and writes the observation. Submit runs three mechanical checks. Now look at the edges, because the edges are where the architecture lives. Two of them are unconditional: start into the controller, and tools back into the controller. That second one is the loop. Everything else is dashed, meaning a predicate over state picks the successor. Notice which predicates the model controls and which it does not: it chooses between tools and submit by emitting a tool call or not, and it has no say at all in the edge that ends the run.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three nodes, the same four edges, in the code that builds them. Read it against the picture: node, node, node, then the edges. The line in magenta is the one that matters for this section, and it is one line. Take it out and you have the chain from the last section. Worth saying plainly: nothing in this file is rewritten between runs. The graph is fixed. What varies is which path a run takes through it, and that is decided at run time by predicates over state. Dynamic paths do not need a dynamic graph.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unconditional edges, meaning the graph takes them every time it reaches them. The first is trivial: start at the controller. The second is the section. Tools always returns to the controller, which is what gives the model another turn with the observation in hand. The comment in the source is not decoration: delete that one line and every property from the last section comes back, because the program is a chain again. One line of wiring is the difference between the two architectures.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conditional edges, and they are the only places the graph branches. Read the shape: a source node, a function, and a dictionary. The function returns a key and the dictionary says which node that key means. That indirection is doing real work. The set of successors is closed at build time, so whatever the function returns, the run can only land somewhere named in that dictionary. An unrecognised key is an error, not an improvisation. So when we say the model chooses what happens next, we mean it chooses among three names we wrote down, and it chooses by calling a tool or not calling one. That is the whole of the autonomy this version has.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line to finish. Compile takes the nodes and edges we just declared and freezes them into a runnable object, and that happens once, before the program has read a single alert. Every alert we ever run goes through the same compiled graph. Worth being blunt about why that matters, because it is the sentence people get wrong: a run that takes a different path is not a different graph. The paths vary because predicates over state vary. The structure does not move. If you find yourself wanting to rewrite the graph between runs, what you actually want is another predicate.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Six lines, and this is the handover. The first branch is ours: if the status is not running, the run is over, and only the runtime writes that field. The second branch is the model's: if its last message carried a tool call we go to tools, and if it did not we go to submit. That is the entire mechanism by which the model chooses what happens next. No planner, no scheduler, no negotiation. And the trace is labelled accordingly, so when you read a trajectory you can see at a glance which decisions were the model's and which were ours. In the recorded run the model chose four edges and the runtime chose 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decisions as the fixed workflow, side by side. Read down the middle column and everything says design time. Read down the right and the top four have moved. But the rule under the fourth row is the thing to hold on to: the last two rows do not move. We still write the tool signatures, the state schema, the routing predicate and the budget, so the model selects its next action from a set we closed in advance. A reactive loop is not an agent we have stopped programming. It is an agent whose order of operations we have stopped writing down.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study, 150 hand-annotated failures, one backbone model held fixed across three tools. Read the shares as shares of each tool's own failures, not of all issues. Over half of the fixed workflow's failures carry a localization error, which is exactly where it commits earliest and where no later node can revisit the choice: the rest of the run elaborates a mistake it cannot see. The two loops fail instead inside the iteration, a stage the fixed workflow does not possess at all. So the machinery we just bought is also where the new failures live. And the caveat matters: holding the model fixed removes one source of variation, but these tools differ in prompts and interfaces too, so this supports a description and not a causal claim about architecture.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named shapes, and each one is answered by a later section, which is why this slide is the hinge of the lecture. Non-progressive iteration is a loop that runs without going anywhere: the same patch regenerated with trivial differences. A plan answers it by giving the run something to measure a turn against. Validation retreat is the proposer grading its own work by editing the test instead of the code. A validator answers it by handing acceptance to something that did not write the patch. Context amnesia is losing the objective over a long interaction, and reflection answers it with memory that outlives an attempt. The cost of the blindness is legible in the step counts: failed issues take about three and a half times the steps, and where one tool covers eighty percent of its successes in twenty-five rounds it needs fifty-four to cover eighty percent of failures.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Two stops, both ours, and both inside the controller node before a model call is issued. That placement is the point: checked afterwards they would be a post-mortem rather than a control. The budget is forty model calls. The second one is more interesting. The obvious rule is to stop when the same call repeats, and it looks equivalent to this one and is not: a model that varies its pattern slightly on each attempt evades it completely while making no progress at all. That is not hypothetical. On our own isolated fixture, ten consecutive searches with six distinct patterns all came back with no matches and the same-call rule never fired once; only the budget stopped the run. So this rule compares what came back rather than what was asked, which also subsumes the identical-call case because identical calls to deterministic tools return identical results. This is the non-progressive iteration from the last slide, caught by four lines.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real run, and short enough to read whole. Turn one, the model reads the flagged region. Turn two it reads the helper the query uses, which is the reach we paid for: nothing in the chain could have gone and got that. Turn three it edits, a parameterized query. Turn four it emits no tool call, which is how a submission is signalled in this graph, and the three mechanical checks pass: the patch applies, it touches the flagged line, the rescan is clean. Accepted. Four model calls against a budget of forty, so neither stop came near firing. Two things to point at. The model chose four of the five edges in this run and the runtime chose one, the acceptance. And search was offered on every call and never used, which is worth remembering when we look at what a plan would have changed.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85FE-8059-D97C-74C1-189A26603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74DD9-DFE7-4DF4-2DAA-305EDA73FDC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B50A5FB-DD8F-D58A-7279-9997AE4A52D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583115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Close of section 3 said novelty is observable and progress is not. This is that gap, stated as three questions the program cannot answer about itself.</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distinction that matters for the demo: our reactive loop sits closest to the middle row with the plan removed.</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Left sends actions and hears nothing. Middle returns every observation but holds the plan at its initial value. Right sorts the observation and, when it contradicts the plan, strikes out the remaining actions and writes new ones.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model nodes now: plan, controller, validate. The two solid edges are the only unconditional ones in the file; every dashed edge is an add_conditional_edges call. The curve from tools back to plan is the one the reactive loop did not have.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Teal marks what is new against the three-node loop of section 3. START no longer goes to the controller; it goes to the planner.</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V1 this situation ended the run with no_progress. That terminal status still exists, but it is now reached only after a revision has been tried.</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replanned_at is the high-water mark. The stall check reads observations[replanned_at:], so the stall that caused a revision cannot go on to condemn the revision. It also doubles as the replan budget: one.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propose_plan is the only tool bound to the planner. A flat list of 'goal :: evidence' strings is asked for because small local models produce it far more reliably than a list of objects.</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E00D-9964-2599-DBC8-15F2CBBC6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2D214-C308-2A64-1C01-48A5A6D8AA6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9338FF-95C2-AB8E-D0B9-BCFC16679FDF}"/>
              </a:ext>
            </a:extLst>
          </p:cNvPr>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extLst>
      <p:ext uri="{BB962C8B-B14F-4D97-AF65-F5344CB8AC3E}">
        <p14:creationId xmlns:p14="http://schemas.microsoft.com/office/powerpoint/2010/main" val="8180521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slide to spend a beat on. Students reach for wider search first and it is the wrong lever.</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Being handed a clean rescan and asked whether that establishes a correct fix is the entire point of the node.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sharpest line in the demo source and it belongs on screen verbatim. It is also the answer to soliloquizing from section 3.</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Intrinsic self-correction: the model revises with no external signal. Give it the ground-truth label instead and it improves, which is exactly the signal you do not have at run time.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Blocksworld is the honest exception: self-critique helped there, 40% to 55%, and a sound verifier still beat it. The notes carry that; the slide does not have room.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55_0.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microsoft.com/office/2018/10/relationships/comments" Target="../comments/modernComment_178_0.xm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microsoft.com/office/2018/10/relationships/comments" Target="../comments/modernComment_17F_0.xm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microsoft.com/office/2018/10/relationships/comments" Target="../comments/modernComment_18E_8EDF1BB8.xml"/><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a:solidFill>
                  <a:schemeClr val="tx1"/>
                </a:solidFill>
              </a:rPr>
              <a:t>Patch only the flagged line and the weakness survives, because the unsafe value arrives from a helper the alert never names. A better agent follows the value first.</a:t>
            </a:r>
            <a:r>
              <a:rPr sz="1400" b="1">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a:solidFill>
                  <a:schemeClr val="tx2"/>
                </a:solidFill>
              </a:rPr>
              <a:t>Budget, depth of investigation, and termination are the three we turn into decisions: the loop gets a </a:t>
            </a:r>
            <a:r>
              <a:rPr sz="1400" b="1">
                <a:solidFill>
                  <a:schemeClr val="tx2"/>
                </a:solidFill>
              </a:rPr>
              <a:t>budget</a:t>
            </a:r>
            <a:r>
              <a:rPr sz="1400" b="0">
                <a:solidFill>
                  <a:schemeClr val="tx2"/>
                </a:solidFill>
              </a:rPr>
              <a:t>, the planner sets the </a:t>
            </a:r>
            <a:r>
              <a:rPr sz="1400" b="1">
                <a:solidFill>
                  <a:schemeClr val="tx2"/>
                </a:solidFill>
              </a:rPr>
              <a:t>depth</a:t>
            </a:r>
            <a:r>
              <a:rPr sz="1400" b="0">
                <a:solidFill>
                  <a:schemeClr val="tx2"/>
                </a:solidFill>
              </a:rPr>
              <a:t>, and the runtime owns the </a:t>
            </a:r>
            <a:r>
              <a:rPr sz="1400" b="1">
                <a:solidFill>
                  <a:schemeClr val="tx2"/>
                </a:solidFill>
              </a:rPr>
              <a:t>ending</a:t>
            </a:r>
            <a:r>
              <a:rPr sz="1400" b="0">
                <a:solidFill>
                  <a:schemeClr val="tx2"/>
                </a:solidFill>
              </a:rPr>
              <a:t>.</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four</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FBC288C8-7E35-BE6B-C366-03D7BD8FE016}"/>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096B713C-6B2F-5C12-C8B8-D195CD24CED3}"/>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DC29C1C-0719-0A0B-2E81-33CD67302615}"/>
              </a:ext>
            </a:extLst>
          </p:cNvPr>
          <p:cNvCxnSpPr>
            <a:cxnSpLocks/>
            <a:stCxn id="7" idx="0"/>
          </p:cNvCxnSpPr>
          <p:nvPr/>
        </p:nvCxnSpPr>
        <p:spPr>
          <a:xfrm>
            <a:off x="1063835" y="1862799"/>
            <a:ext cx="0" cy="29753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FDC835D5-F1F0-70E7-D32F-2FD72C9DC1C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4AD8DD-3123-71A5-8619-87DE2AC4774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8401C30-2E94-C327-F10C-F319D7A81FD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AFA3D82-9F43-8E68-BC78-2999788646B4}"/>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549D07-5530-0D37-9F9B-B9BB5DD56674}"/>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65A13092-A2C2-D3A2-E64D-BFDFD8A3376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83C4B0D-BE9E-297E-280E-453DF42BB388}"/>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A2BB1C92-B379-337F-5B26-F90C925ED5BA}"/>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50BA091F-1C91-FD9C-27DA-631CC57FF7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E4C68B4-C265-B253-DBBF-AADF4858E3C7}"/>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DA7C9E79-AF65-6712-988B-41D15EDD97D5}"/>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8BFB7F1-88BF-E579-D11E-143DAF7CE46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r:embed="rId3">
            <a:alphaModFix amt="90000"/>
          </a:blip>
          <a:stretch>
            <a:fillRect/>
          </a:stretch>
        </p:blipFill>
        <p:spPr>
          <a:xfrm>
            <a:off x="825474" y="2099206"/>
            <a:ext cx="5732295" cy="2785896"/>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does not stall and it does not report a gap. It writes a patch, and the checks pass.</a:t>
            </a:r>
            <a:r>
              <a:rPr sz="1200" b="1">
                <a:solidFill>
                  <a:srgbClr val="C73561"/>
                </a:solidFill>
              </a:rPr>
              <a:t>  (a reactive loop grows an edge back)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Agentless</a:t>
            </a:r>
            <a:r>
              <a:rPr lang="en-US" dirty="0"/>
              <a:t>: A sample </a:t>
            </a:r>
            <a:r>
              <a:rPr dirty="0"/>
              <a:t>realization</a:t>
            </a:r>
            <a:r>
              <a:rPr lang="en-US" dirty="0"/>
              <a:t> of a workflow</a:t>
            </a:r>
            <a:endParaRPr dirty="0"/>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None of this shows that fixed workflows win in general.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44FDCE3-F257-EE15-03D8-0D223CF9CF18}"/>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7997ACC1-A0D9-E6CD-22B8-EFF4259A1077}"/>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6DA518F-B9B9-C469-223F-9D6090415722}"/>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D6B44BD-AFE0-104D-7F51-DE8C423151A6}"/>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A9098CA-902B-6954-82D4-EC9CCE7BD1E1}"/>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C9BAADE-F74B-88C9-6A5D-40A4EECF98B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BF9D798A-6D30-22BA-A77F-6BB8E3BFFF2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FE9D9EF-1310-068C-FE2B-6701B6A3AD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5F30933-1ADE-68AB-0CDB-EEF83167C6F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BFB58F08-541F-1AF1-AB6A-2EBD2A9B5C70}"/>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1F8A499E-CBDD-FD6D-0AC6-1EA0B51C20F2}"/>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E1660DCC-1805-4140-C7B4-CAE80B014E21}"/>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4AB4776-21BF-5BF6-8124-7A14DA40424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r:embed="rId3">
            <a:alphaModFix amt="90000"/>
          </a:blip>
          <a:stretch>
            <a:fillRect/>
          </a:stretch>
        </p:blipFill>
        <p:spPr>
          <a:xfrm>
            <a:off x="825474" y="2632112"/>
            <a:ext cx="5732295" cy="2252990"/>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r:embed="rId3">
            <a:alphaModFix amt="70000"/>
          </a:blip>
          <a:stretch>
            <a:fillRect/>
          </a:stretch>
        </p:blipFill>
        <p:spPr>
          <a:xfrm>
            <a:off x="825474" y="1566604"/>
            <a:ext cx="5732295" cy="818429"/>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p:cNvSpPr txBox="1"/>
          <p:nvPr/>
        </p:nvSpPr>
        <p:spPr>
          <a:xfrm>
            <a:off x="2933796" y="3400000"/>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spTree>
    <p:extLst>
      <p:ext uri="{BB962C8B-B14F-4D97-AF65-F5344CB8AC3E}">
        <p14:creationId xmlns:p14="http://schemas.microsoft.com/office/powerpoint/2010/main" val="22684062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our first demo compiles</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only </a:t>
            </a:r>
            <a:r>
              <a:rPr sz="1400">
                <a:latin typeface="Maple Mono NF"/>
              </a:rPr>
              <a:t>controller</a:t>
            </a:r>
            <a:r>
              <a:rPr sz="1400">
                <a:solidFill>
                  <a:schemeClr val="tx2"/>
                </a:solidFill>
              </a:rPr>
              <a:t> calls a model. Dashed edges carry a predicate over state; </a:t>
            </a:r>
            <a:r>
              <a:rPr sz="1400" b="1">
                <a:solidFill>
                  <a:schemeClr val="tx2"/>
                </a:solidFill>
              </a:rPr>
              <a:t>the solid edge back is the loop</a:t>
            </a:r>
            <a:r>
              <a:rPr sz="1400">
                <a:solidFill>
                  <a:schemeClr val="tx2"/>
                </a:solidFill>
              </a:rPr>
              <a:t>.</a:t>
            </a:r>
          </a:p>
        </p:txBody>
      </p:sp>
      <p:pic>
        <p:nvPicPr>
          <p:cNvPr id="4" name="Picture 3" descr="reactive-loop-deck.png"/>
          <p:cNvPicPr>
            <a:picLocks noChangeAspect="1"/>
          </p:cNvPicPr>
          <p:nvPr/>
        </p:nvPicPr>
        <p:blipFill>
          <a:blip r:embed="rId3"/>
          <a:stretch>
            <a:fillRect/>
          </a:stretch>
        </p:blipFill>
        <p:spPr>
          <a:xfrm>
            <a:off x="250147" y="1520000"/>
            <a:ext cx="6152752" cy="3076376"/>
          </a:xfrm>
          <a:prstGeom prst="rect">
            <a:avLst/>
          </a:prstGeom>
        </p:spPr>
      </p:pic>
      <p:sp>
        <p:nvSpPr>
          <p:cNvPr id="5" name="TextBox 4">
            <a:extLst>
              <a:ext uri="{FF2B5EF4-FFF2-40B4-BE49-F238E27FC236}">
                <a16:creationId xmlns:a16="http://schemas.microsoft.com/office/drawing/2014/main" id="{2AA6FBBD-EA44-EF3B-1729-463F37139742}"/>
              </a:ext>
            </a:extLst>
          </p:cNvPr>
          <p:cNvSpPr txBox="1"/>
          <p:nvPr/>
        </p:nvSpPr>
        <p:spPr>
          <a:xfrm>
            <a:off x="4589430" y="4889584"/>
            <a:ext cx="2268570" cy="253916"/>
          </a:xfrm>
          <a:prstGeom prst="rect">
            <a:avLst/>
          </a:prstGeom>
          <a:noFill/>
        </p:spPr>
        <p:txBody>
          <a:bodyPr wrap="none" rtlCol="0">
            <a:spAutoFit/>
          </a:bodyPr>
          <a:lstStyle/>
          <a:p>
            <a:r>
              <a:rPr lang="en-US" sz="1050" i="1" dirty="0">
                <a:latin typeface="+mn-lt"/>
              </a:rPr>
              <a:t>see: lec2_reactive_agent/graph.py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in code: the nodes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lec2_reactive_agent/graph.py  —  compile()</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each one is </a:t>
            </a:r>
            <a:r>
              <a:rPr sz="1400" b="1">
                <a:solidFill>
                  <a:schemeClr val="tx2"/>
                </a:solidFill>
              </a:rPr>
              <a:t>a method on the same class</a:t>
            </a:r>
            <a:r>
              <a:rPr sz="1400">
                <a:solidFill>
                  <a:schemeClr val="tx2"/>
                </a:solidFill>
              </a:rPr>
              <a:t>. Nothing here says what happens next.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is where work happens. An edge is where the decision happens.</a:t>
            </a:r>
          </a:p>
        </p:txBody>
      </p:sp>
      <p:sp>
        <p:nvSpPr>
          <p:cNvPr id="7" name="Rounded Rectangle 6"/>
          <p:cNvSpPr/>
          <p:nvPr/>
        </p:nvSpPr>
        <p:spPr>
          <a:xfrm>
            <a:off x="319251" y="1060000"/>
            <a:ext cx="6014545" cy="15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 = StateGraph(AgentState)</a:t>
            </a:r>
          </a:p>
          <a:p>
            <a:pPr algn="l">
              <a:buNone/>
            </a:pPr>
            <a:endParaRPr sz="1100">
              <a:solidFill>
                <a:srgbClr val="28285E"/>
              </a:solidFill>
              <a:latin typeface="Maple Mono NF"/>
            </a:endParaRPr>
          </a:p>
          <a:p>
            <a:pPr algn="l">
              <a:buNone/>
            </a:pPr>
            <a:r>
              <a:rPr sz="1100">
                <a:solidFill>
                  <a:srgbClr val="28285E"/>
                </a:solidFill>
                <a:latin typeface="Maple Mono NF"/>
              </a:rPr>
              <a:t>graph.add_node("controller", self.controller)</a:t>
            </a:r>
          </a:p>
          <a:p>
            <a:pPr algn="l">
              <a:buNone/>
            </a:pPr>
            <a:r>
              <a:rPr sz="1100">
                <a:solidFill>
                  <a:srgbClr val="28285E"/>
                </a:solidFill>
                <a:latin typeface="Maple Mono NF"/>
              </a:rPr>
              <a:t>graph.add_node("tools", self.tools)</a:t>
            </a:r>
          </a:p>
          <a:p>
            <a:pPr algn="l">
              <a:buNone/>
            </a:pPr>
            <a:r>
              <a:rPr sz="1100">
                <a:solidFill>
                  <a:srgbClr val="28285E"/>
                </a:solidFill>
                <a:latin typeface="Maple Mono NF"/>
              </a:rPr>
              <a:t>graph.add_node("submit", self.submit)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the edges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6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graph.add_edge(START, "controller")</a:t>
            </a:r>
          </a:p>
          <a:p>
            <a:pPr algn="l">
              <a:buNone/>
            </a:pPr>
            <a:endParaRPr sz="1100">
              <a:solidFill>
                <a:srgbClr val="28285E"/>
              </a:solidFill>
              <a:latin typeface="Maple Mono NF"/>
            </a:endParaRPr>
          </a:p>
          <a:p>
            <a:pPr algn="l">
              <a:buNone/>
            </a:pPr>
            <a:r>
              <a:rPr sz="1100">
                <a:solidFill>
                  <a:srgbClr val="8A8A9A"/>
                </a:solidFill>
                <a:latin typeface="Maple Mono NF"/>
              </a:rPr>
              <a:t># The edge back. This one line is what makes the loop a loop.</a:t>
            </a:r>
          </a:p>
          <a:p>
            <a:pPr algn="l">
              <a:buNone/>
            </a:pPr>
            <a:r>
              <a:rPr sz="1100" b="1">
                <a:solidFill>
                  <a:srgbClr val="C73561"/>
                </a:solidFill>
                <a:latin typeface="Maple Mono NF"/>
              </a:rPr>
              <a:t>graph.add_edge("tools", "controller")</a:t>
            </a:r>
          </a:p>
        </p:txBody>
      </p:sp>
      <p:sp>
        <p:nvSpPr>
          <p:cNvPr id="5" name="Rectangle 4"/>
          <p:cNvSpPr/>
          <p:nvPr/>
        </p:nvSpPr>
        <p:spPr>
          <a:xfrm>
            <a:off x="319251" y="26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Two edges that are always taken. </a:t>
            </a:r>
            <a:r>
              <a:rPr sz="1400" b="1">
                <a:solidFill>
                  <a:schemeClr val="tx2"/>
                </a:solidFill>
              </a:rPr>
              <a:t>The second one is the whole architecture</a:t>
            </a:r>
            <a:r>
              <a:rPr sz="1400">
                <a:solidFill>
                  <a:schemeClr val="tx2"/>
                </a:solidFill>
              </a:rPr>
              <a:t>.</a:t>
            </a:r>
          </a:p>
        </p:txBody>
      </p:sp>
      <p:sp>
        <p:nvSpPr>
          <p:cNvPr id="6" name="Rectangle 5"/>
          <p:cNvSpPr/>
          <p:nvPr/>
        </p:nvSpPr>
        <p:spPr>
          <a:xfrm>
            <a:off x="319251" y="34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Delete that line and the program is a chain again.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And the conditional ones</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96499"/>
            <a:ext cx="6014545" cy="1327002"/>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err="1">
                <a:solidFill>
                  <a:srgbClr val="28285E"/>
                </a:solidFill>
                <a:latin typeface="Maple Mono NF"/>
              </a:rPr>
              <a:t>graph.add_conditional_edges</a:t>
            </a:r>
            <a:r>
              <a:rPr sz="1100" dirty="0">
                <a:solidFill>
                  <a:srgbClr val="28285E"/>
                </a:solidFill>
                <a:latin typeface="Maple Mono NF"/>
              </a:rPr>
              <a:t>("controller", </a:t>
            </a:r>
            <a:r>
              <a:rPr sz="1100" dirty="0" err="1">
                <a:solidFill>
                  <a:srgbClr val="28285E"/>
                </a:solidFill>
                <a:latin typeface="Maple Mono NF"/>
              </a:rPr>
              <a:t>self.after_controller</a:t>
            </a:r>
            <a:r>
              <a:rPr sz="1100" dirty="0">
                <a:solidFill>
                  <a:srgbClr val="28285E"/>
                </a:solidFill>
                <a:latin typeface="Maple Mono NF"/>
              </a:rPr>
              <a:t>,</a:t>
            </a:r>
          </a:p>
          <a:p>
            <a:pPr algn="l">
              <a:buNone/>
            </a:pPr>
            <a:r>
              <a:rPr sz="1100" dirty="0">
                <a:solidFill>
                  <a:srgbClr val="28285E"/>
                </a:solidFill>
                <a:latin typeface="Maple Mono NF"/>
              </a:rPr>
              <a:t>                    {"tools": "tools", "submit": "submit", END: END})</a:t>
            </a:r>
            <a:endParaRPr lang="en-US" sz="1100" dirty="0">
              <a:solidFill>
                <a:srgbClr val="28285E"/>
              </a:solidFill>
              <a:latin typeface="Maple Mono NF"/>
            </a:endParaRPr>
          </a:p>
          <a:p>
            <a:pPr algn="l">
              <a:buNone/>
            </a:pPr>
            <a:endParaRPr sz="1100" dirty="0">
              <a:solidFill>
                <a:srgbClr val="28285E"/>
              </a:solidFill>
              <a:latin typeface="Maple Mono NF"/>
            </a:endParaRPr>
          </a:p>
          <a:p>
            <a:pPr algn="l">
              <a:buNone/>
            </a:pPr>
            <a:r>
              <a:rPr sz="1100" dirty="0" err="1">
                <a:solidFill>
                  <a:srgbClr val="28285E"/>
                </a:solidFill>
                <a:latin typeface="Maple Mono NF"/>
              </a:rPr>
              <a:t>graph.add_conditional_edges</a:t>
            </a:r>
            <a:r>
              <a:rPr sz="1100" dirty="0">
                <a:solidFill>
                  <a:srgbClr val="28285E"/>
                </a:solidFill>
                <a:latin typeface="Maple Mono NF"/>
              </a:rPr>
              <a:t>("submit", </a:t>
            </a:r>
            <a:r>
              <a:rPr sz="1100" dirty="0" err="1">
                <a:solidFill>
                  <a:srgbClr val="28285E"/>
                </a:solidFill>
                <a:latin typeface="Maple Mono NF"/>
              </a:rPr>
              <a:t>self.after_submit</a:t>
            </a:r>
            <a:r>
              <a:rPr sz="1100" dirty="0">
                <a:solidFill>
                  <a:srgbClr val="28285E"/>
                </a:solidFill>
                <a:latin typeface="Maple Mono NF"/>
              </a:rPr>
              <a:t>,</a:t>
            </a:r>
          </a:p>
          <a:p>
            <a:pPr algn="l">
              <a:buNone/>
            </a:pPr>
            <a:r>
              <a:rPr sz="1100" dirty="0">
                <a:solidFill>
                  <a:srgbClr val="28285E"/>
                </a:solidFill>
                <a:latin typeface="Maple Mono NF"/>
              </a:rPr>
              <a:t>                            {"controller": "controller", END: END})</a:t>
            </a:r>
          </a:p>
        </p:txBody>
      </p:sp>
      <p:sp>
        <p:nvSpPr>
          <p:cNvPr id="5" name="Rectangle 4"/>
          <p:cNvSpPr/>
          <p:nvPr/>
        </p:nvSpPr>
        <p:spPr>
          <a:xfrm>
            <a:off x="319251" y="2719999"/>
            <a:ext cx="6014545" cy="83797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conditional edge is a function plus </a:t>
            </a:r>
            <a:r>
              <a:rPr sz="1400" b="1">
                <a:solidFill>
                  <a:schemeClr val="tx2"/>
                </a:solidFill>
              </a:rPr>
              <a:t>the set of successors it is allowed to name</a:t>
            </a:r>
            <a:r>
              <a:rPr sz="1400">
                <a:solidFill>
                  <a:schemeClr val="tx2"/>
                </a:solidFill>
              </a:rPr>
              <a:t>. The function returns a key; the dictionary turns that key into a node.</a:t>
            </a:r>
          </a:p>
        </p:txBody>
      </p:sp>
      <p:sp>
        <p:nvSpPr>
          <p:cNvPr id="6" name="Rectangle 5"/>
          <p:cNvSpPr/>
          <p:nvPr/>
        </p:nvSpPr>
        <p:spPr>
          <a:xfrm>
            <a:off x="319251" y="375797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cannot go anywhere that is not in that dictionary.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compile</a:t>
            </a:r>
          </a:p>
        </p:txBody>
      </p:sp>
      <p:sp>
        <p:nvSpPr>
          <p:cNvPr id="3" name="TextBox 2"/>
          <p:cNvSpPr txBox="1"/>
          <p:nvPr/>
        </p:nvSpPr>
        <p:spPr>
          <a:xfrm>
            <a:off x="319251" y="82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12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compile(self):</a:t>
            </a:r>
          </a:p>
          <a:p>
            <a:pPr algn="l">
              <a:buNone/>
            </a:pPr>
            <a:r>
              <a:rPr sz="1100">
                <a:solidFill>
                  <a:srgbClr val="28285E"/>
                </a:solidFill>
                <a:latin typeface="Maple Mono NF"/>
              </a:rPr>
              <a:t>    graph = StateGraph(AgentState)</a:t>
            </a:r>
          </a:p>
          <a:p>
            <a:pPr algn="l">
              <a:buNone/>
            </a:pPr>
            <a:r>
              <a:rPr sz="1100">
                <a:solidFill>
                  <a:srgbClr val="8A8A9A"/>
                </a:solidFill>
                <a:latin typeface="Maple Mono NF"/>
              </a:rPr>
              <a:t>    ...                    # the nodes and edges, as above</a:t>
            </a:r>
          </a:p>
          <a:p>
            <a:pPr algn="l">
              <a:buNone/>
            </a:pPr>
            <a:r>
              <a:rPr sz="1100" b="1">
                <a:solidFill>
                  <a:srgbClr val="C73561"/>
                </a:solidFill>
                <a:latin typeface="Maple Mono NF"/>
              </a:rPr>
              <a:t>    return graph.compile()</a:t>
            </a:r>
          </a:p>
        </p:txBody>
      </p:sp>
      <p:sp>
        <p:nvSpPr>
          <p:cNvPr id="5" name="Rectangle 4"/>
          <p:cNvSpPr/>
          <p:nvPr/>
        </p:nvSpPr>
        <p:spPr>
          <a:xfrm>
            <a:off x="319251" y="27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Compiled once, before any alert is read. </a:t>
            </a:r>
            <a:r>
              <a:rPr sz="1400" b="1">
                <a:solidFill>
                  <a:schemeClr val="tx2"/>
                </a:solidFill>
              </a:rPr>
              <a:t>The same object runs every alert</a:t>
            </a:r>
            <a:r>
              <a:rPr sz="1400">
                <a:solidFill>
                  <a:schemeClr val="tx2"/>
                </a:solidFill>
              </a:rPr>
              <a:t>.</a:t>
            </a:r>
          </a:p>
        </p:txBody>
      </p:sp>
      <p:sp>
        <p:nvSpPr>
          <p:cNvPr id="6" name="Rectangle 5"/>
          <p:cNvSpPr/>
          <p:nvPr/>
        </p:nvSpPr>
        <p:spPr>
          <a:xfrm>
            <a:off x="319251" y="35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Dynamic paths do not need a dynamic graph.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picks the edge</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after_controller</a:t>
            </a:r>
          </a:p>
        </p:txBody>
      </p:sp>
      <p:sp>
        <p:nvSpPr>
          <p:cNvPr id="4" name="Rounded Rectangle 3"/>
          <p:cNvSpPr/>
          <p:nvPr/>
        </p:nvSpPr>
        <p:spPr>
          <a:xfrm>
            <a:off x="319251" y="1000000"/>
            <a:ext cx="6014545" cy="15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b="1">
                <a:solidFill>
                  <a:srgbClr val="C73561"/>
                </a:solidFill>
                <a:latin typeface="Maple Mono NF"/>
              </a:rPr>
              <a:t>    if state["messages"][-1].tool_calls:</a:t>
            </a:r>
          </a:p>
          <a:p>
            <a:pPr algn="l">
              <a:buNone/>
            </a:pPr>
            <a:r>
              <a:rPr sz="1100" b="1">
                <a:solidFill>
                  <a:srgbClr val="C73561"/>
                </a:solidFill>
                <a:latin typeface="Maple Mono NF"/>
              </a:rPr>
              <a:t>        return "tools"</a:t>
            </a:r>
          </a:p>
          <a:p>
            <a:pPr algn="l">
              <a:buNone/>
            </a:pPr>
            <a:r>
              <a:rPr sz="1100" b="1">
                <a:solidFill>
                  <a:srgbClr val="C73561"/>
                </a:solidFill>
                <a:latin typeface="Maple Mono NF"/>
              </a:rPr>
              <a:t>    return "submit"</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picks its own successor by </a:t>
            </a:r>
            <a:r>
              <a:rPr sz="1400" b="1">
                <a:solidFill>
                  <a:schemeClr val="tx2"/>
                </a:solidFill>
              </a:rPr>
              <a:t>emitting a tool call, or not</a:t>
            </a:r>
            <a:r>
              <a:rPr sz="1400">
                <a:solidFill>
                  <a:schemeClr val="tx2"/>
                </a:solidFill>
              </a:rPr>
              <a: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records </a:t>
            </a:r>
            <a:r>
              <a:rPr sz="1200" b="1">
                <a:solidFill>
                  <a:srgbClr val="C73561"/>
                </a:solidFill>
              </a:rPr>
              <a:t>by="model"</a:t>
            </a:r>
            <a:r>
              <a:rPr sz="1200" b="1">
                <a:solidFill>
                  <a:srgbClr val="28285E"/>
                </a:solidFill>
              </a:rPr>
              <a:t> on these two edges, and </a:t>
            </a:r>
            <a:r>
              <a:rPr sz="1200" b="1">
                <a:solidFill>
                  <a:srgbClr val="C73561"/>
                </a:solidFill>
              </a:rPr>
              <a:t>by="runtime"</a:t>
            </a:r>
            <a:r>
              <a:rPr sz="1200" b="1">
                <a:solidFill>
                  <a:srgbClr val="28285E"/>
                </a:solidFill>
              </a:rPr>
              <a:t> on every other.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row moves</a:t>
            </a:r>
          </a:p>
        </p:txBody>
      </p:sp>
      <p:graphicFrame>
        <p:nvGraphicFramePr>
          <p:cNvPr id="3" name="Table 2"/>
          <p:cNvGraphicFramePr>
            <a:graphicFrameLocks noGrp="1"/>
          </p:cNvGraphicFramePr>
          <p:nvPr>
            <p:extLst>
              <p:ext uri="{D42A27DB-BD31-4B8C-83A1-F6EECF244321}">
                <p14:modId xmlns:p14="http://schemas.microsoft.com/office/powerpoint/2010/main" val="1593811576"/>
              </p:ext>
            </p:extLst>
          </p:nvPr>
        </p:nvGraphicFramePr>
        <p:xfrm>
          <a:off x="319251" y="1150000"/>
          <a:ext cx="6014545" cy="1877340"/>
        </p:xfrm>
        <a:graphic>
          <a:graphicData uri="http://schemas.openxmlformats.org/drawingml/2006/table">
            <a:tbl>
              <a:tblPr>
                <a:tableStyleId>{2D5ABB26-0587-4C30-8999-92F81FD0307C}</a:tableStyleId>
              </a:tblPr>
              <a:tblGrid>
                <a:gridCol w="2370579">
                  <a:extLst>
                    <a:ext uri="{9D8B030D-6E8A-4147-A177-3AD203B41FA5}">
                      <a16:colId xmlns:a16="http://schemas.microsoft.com/office/drawing/2014/main" val="20000"/>
                    </a:ext>
                  </a:extLst>
                </a:gridCol>
                <a:gridCol w="1629421">
                  <a:extLst>
                    <a:ext uri="{9D8B030D-6E8A-4147-A177-3AD203B41FA5}">
                      <a16:colId xmlns:a16="http://schemas.microsoft.com/office/drawing/2014/main" val="20001"/>
                    </a:ext>
                  </a:extLst>
                </a:gridCol>
                <a:gridCol w="20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Fixed workflow</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Reactive loop</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at run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Whether another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until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How many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Bounded by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A predicate we wrote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lgn="l">
                        <a:buNone/>
                      </a:pPr>
                      <a:r>
                        <a:rPr sz="1100" b="1">
                          <a:solidFill>
                            <a:srgbClr val="28285E"/>
                          </a:solidFill>
                        </a:rPr>
                        <a:t>Which artifacts a step touches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100" b="1" i="0" u="none" strike="noStrike" cap="none" spc="0" dirty="0">
                          <a:solidFill>
                            <a:schemeClr val="accent4"/>
                          </a:solidFill>
                          <a:latin typeface="+mn-lt"/>
                          <a:ea typeface="+mn-ea"/>
                          <a:cs typeface="+mn-cs"/>
                          <a:sym typeface="Arial"/>
                        </a:rPr>
                        <a:t>The model, by using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100" b="1">
                          <a:solidFill>
                            <a:srgbClr val="28285E"/>
                          </a:solidFill>
                        </a:rPr>
                        <a:t>What a model call returns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3429000" y="3620000"/>
            <a:ext cx="2904796"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model gains </a:t>
            </a:r>
            <a:r>
              <a:rPr lang="en-US" sz="1200" b="0" dirty="0">
                <a:solidFill>
                  <a:schemeClr val="tx2"/>
                </a:solidFill>
              </a:rPr>
              <a:t>two rows of control</a:t>
            </a:r>
            <a:r>
              <a:rPr sz="1200" b="0" dirty="0">
                <a:solidFill>
                  <a:schemeClr val="tx2"/>
                </a:solid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loop buys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Three things come back for the one decision we gave away:</a:t>
            </a:r>
          </a:p>
          <a:p>
            <a:pPr marL="400050" indent="-285750">
              <a:spcBef>
                <a:spcPts val="600"/>
              </a:spcBef>
              <a:spcAft>
                <a:spcPts val="600"/>
              </a:spcAft>
              <a:buClr>
                <a:srgbClr val="28285E"/>
              </a:buClr>
              <a:buSzPts val="1260"/>
              <a:buFont typeface="Fira Sans"/>
              <a:buChar char="●"/>
            </a:pPr>
            <a:r>
              <a:rPr sz="1400" b="1">
                <a:solidFill>
                  <a:schemeClr val="tx1"/>
                </a:solidFill>
              </a:rPr>
              <a:t>Reach. </a:t>
            </a:r>
            <a:r>
              <a:rPr sz="140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a:solidFill>
                  <a:schemeClr val="tx1"/>
                </a:solidFill>
              </a:rPr>
              <a:t>Proportion. </a:t>
            </a:r>
            <a:r>
              <a:rPr sz="140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a:solidFill>
                  <a:schemeClr val="tx1"/>
                </a:solidFill>
              </a:rPr>
              <a:t>Recovery. </a:t>
            </a:r>
            <a:r>
              <a:rPr sz="1400">
                <a:solidFill>
                  <a:schemeClr val="tx1"/>
                </a:solidFill>
              </a:rPr>
              <a:t>A search that returns nothing can be followed by a different one.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failures live</a:t>
            </a:r>
          </a:p>
        </p:txBody>
      </p:sp>
      <p:graphicFrame>
        <p:nvGraphicFramePr>
          <p:cNvPr id="3" name="Table 2"/>
          <p:cNvGraphicFramePr>
            <a:graphicFrameLocks noGrp="1"/>
          </p:cNvGraphicFramePr>
          <p:nvPr/>
        </p:nvGraphicFramePr>
        <p:xfrm>
          <a:off x="319251" y="1250000"/>
          <a:ext cx="6014545" cy="1256310"/>
        </p:xfrm>
        <a:graphic>
          <a:graphicData uri="http://schemas.openxmlformats.org/drawingml/2006/table">
            <a:tbl>
              <a:tblPr>
                <a:tableStyleId>{2D5ABB26-0587-4C30-8999-92F81FD0307C}</a:tableStyleId>
              </a:tblPr>
              <a:tblGrid>
                <a:gridCol w="175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914545">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tblGrid>
              <a:tr h="300000">
                <a:tc>
                  <a:txBody>
                    <a:bodyPr/>
                    <a:lstStyle/>
                    <a:p>
                      <a:pPr algn="l">
                        <a:buNone/>
                      </a:pPr>
                      <a:r>
                        <a:rPr sz="1100" b="1">
                          <a:solidFill>
                            <a:schemeClr val="tx1"/>
                          </a:solidFill>
                        </a:rPr>
                        <a:t>Tool</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Architecture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Where the failure appears</a:t>
                      </a:r>
                    </a:p>
                  </a:txBody>
                  <a:tcPr marL="95250" marR="95250" marT="47625" marB="47625">
                    <a:lnB w="12700" cap="flat" cmpd="sng" algn="ctr">
                      <a:solidFill>
                        <a:schemeClr val="tx1"/>
                      </a:solidFill>
                    </a:lnB>
                    <a:noFill/>
                  </a:tcPr>
                </a:tc>
                <a:tc>
                  <a:txBody>
                    <a:bodyPr/>
                    <a:lstStyle/>
                    <a:p>
                      <a:pPr algn="r">
                        <a:buNone/>
                      </a:pPr>
                      <a:r>
                        <a:rPr sz="1100" b="1">
                          <a:solidFill>
                            <a:schemeClr val="tx1"/>
                          </a:solidFill>
                        </a:rPr>
                        <a:t>Share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Agentless-1.5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Fixed workflow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Localization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OpenHands-CodeAct-2.1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49.1%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Tools + Claude 3.5 Sonnet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1133796" y="2900000"/>
            <a:ext cx="5200000" cy="253916"/>
          </a:xfrm>
          <a:prstGeom prst="rect">
            <a:avLst/>
          </a:prstGeom>
          <a:noFill/>
        </p:spPr>
        <p:txBody>
          <a:bodyPr wrap="none">
            <a:spAutoFit/>
          </a:bodyPr>
          <a:lstStyle/>
          <a:p>
            <a:pPr algn="r"/>
            <a:r>
              <a:rPr sz="1050" i="1">
                <a:solidFill>
                  <a:schemeClr val="bg2"/>
                </a:solidFill>
              </a:rPr>
              <a:t>Liu et al., 150 hand-annotated failures, SWE-bench Verified, one backbone model</a:t>
            </a:r>
          </a:p>
        </p:txBody>
      </p:sp>
      <p:sp>
        <p:nvSpPr>
          <p:cNvPr id="5" name="Rectangle 4"/>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fixed workflow fails where it commits earliest. </a:t>
            </a:r>
            <a:r>
              <a:rPr sz="1400" b="1" dirty="0">
                <a:solidFill>
                  <a:schemeClr val="tx2"/>
                </a:solidFill>
              </a:rPr>
              <a:t>The loop fails inside the iteration it bought</a:t>
            </a:r>
            <a:r>
              <a:rPr lang="en-US" b="1" dirty="0">
                <a:solidFill>
                  <a:schemeClr val="tx2"/>
                </a:solidFill>
              </a:rPr>
              <a:t> with model driven automation.</a:t>
            </a:r>
            <a:endParaRPr sz="1400" dirty="0">
              <a:solidFill>
                <a:schemeClr val="tx2"/>
              </a:solidFill>
            </a:endParaRPr>
          </a:p>
        </p:txBody>
      </p:sp>
      <p:sp>
        <p:nvSpPr>
          <p:cNvPr id="6" name="Rectangle 5"/>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All three ran the same model, so this shows where each one fails. It does not prove the architecture caused it.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shapes of failure</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Roughly 65% come from flawed reasoning, in three named shapes:</a:t>
            </a:r>
          </a:p>
          <a:p>
            <a:pPr marL="400050" indent="-285750">
              <a:spcBef>
                <a:spcPts val="600"/>
              </a:spcBef>
              <a:spcAft>
                <a:spcPts val="600"/>
              </a:spcAft>
              <a:buClr>
                <a:srgbClr val="28285E"/>
              </a:buClr>
              <a:buSzPts val="1260"/>
              <a:buFont typeface="Fira Sans"/>
              <a:buChar char="●"/>
            </a:pPr>
            <a:r>
              <a:rPr sz="1400" b="1">
                <a:solidFill>
                  <a:schemeClr val="tx1"/>
                </a:solidFill>
              </a:rPr>
              <a:t>Non-progressive iteration. </a:t>
            </a:r>
            <a:r>
              <a:rPr sz="1400">
                <a:solidFill>
                  <a:schemeClr val="tx1"/>
                </a:solidFill>
              </a:rPr>
              <a:t>Near-identical patches, regenerated, while the defect persists.</a:t>
            </a:r>
            <a:r>
              <a:rPr sz="1400" b="1">
                <a:solidFill>
                  <a:srgbClr val="C73561"/>
                </a:solidFill>
              </a:rPr>
              <a:t>  (a plan answers it)</a:t>
            </a:r>
          </a:p>
          <a:p>
            <a:pPr marL="400050" indent="-285750">
              <a:spcBef>
                <a:spcPts val="600"/>
              </a:spcBef>
              <a:spcAft>
                <a:spcPts val="600"/>
              </a:spcAft>
              <a:buClr>
                <a:srgbClr val="28285E"/>
              </a:buClr>
              <a:buSzPts val="1260"/>
              <a:buFont typeface="Fira Sans"/>
              <a:buChar char="●"/>
            </a:pPr>
            <a:r>
              <a:rPr sz="1400" b="1">
                <a:solidFill>
                  <a:schemeClr val="tx1"/>
                </a:solidFill>
              </a:rPr>
              <a:t>Validation retreat. </a:t>
            </a:r>
            <a:r>
              <a:rPr sz="1400">
                <a:solidFill>
                  <a:schemeClr val="tx1"/>
                </a:solidFill>
              </a:rPr>
              <a:t>The failing test is edited instead of the code.</a:t>
            </a:r>
            <a:r>
              <a:rPr sz="1400" b="1">
                <a:solidFill>
                  <a:srgbClr val="C73561"/>
                </a:solidFill>
              </a:rPr>
              <a:t>  (a validator answers it)</a:t>
            </a:r>
          </a:p>
          <a:p>
            <a:pPr marL="400050" indent="-285750">
              <a:spcBef>
                <a:spcPts val="600"/>
              </a:spcBef>
              <a:spcAft>
                <a:spcPts val="600"/>
              </a:spcAft>
              <a:buClr>
                <a:srgbClr val="28285E"/>
              </a:buClr>
              <a:buSzPts val="1260"/>
              <a:buFont typeface="Fira Sans"/>
              <a:buChar char="●"/>
            </a:pPr>
            <a:r>
              <a:rPr sz="1400" b="1">
                <a:solidFill>
                  <a:schemeClr val="tx1"/>
                </a:solidFill>
              </a:rPr>
              <a:t>Context amnesia. </a:t>
            </a:r>
            <a:r>
              <a:rPr sz="1400">
                <a:solidFill>
                  <a:schemeClr val="tx1"/>
                </a:solidFill>
              </a:rPr>
              <a:t>The original objective is lost over a long interaction.</a:t>
            </a:r>
            <a:r>
              <a:rPr sz="1400" b="1">
                <a:solidFill>
                  <a:srgbClr val="C73561"/>
                </a:solidFill>
              </a:rPr>
              <a:t>  (reflection answers it)</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None of the three is visible to the loop while it runs. </a:t>
            </a:r>
            <a:r>
              <a:rPr sz="1400" b="1" dirty="0">
                <a:solidFill>
                  <a:schemeClr val="tx2"/>
                </a:solidFill>
              </a:rPr>
              <a:t>Failed issues burn about 3.5 times the steps of successful ones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While it is running, the loop cannot tell a good run from a bad 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stops are ours</a:t>
            </a:r>
          </a:p>
        </p:txBody>
      </p:sp>
      <p:sp>
        <p:nvSpPr>
          <p:cNvPr id="3" name="Content Placeholder 2"/>
          <p:cNvSpPr>
            <a:spLocks noGrp="1"/>
          </p:cNvSpPr>
          <p:nvPr>
            <p:ph idx="1"/>
          </p:nvPr>
        </p:nvSpPr>
        <p:spPr>
          <a:xfrm>
            <a:off x="319251" y="2500000"/>
            <a:ext cx="6014545" cy="1490000"/>
          </a:xfrm>
        </p:spPr>
        <p:txBody>
          <a:bodyPr wrap="square">
            <a:normAutofit fontScale="92500" lnSpcReduction="20000"/>
          </a:bodyPr>
          <a:lstStyle/>
          <a:p>
            <a:pPr marL="0" indent="0">
              <a:buNone/>
            </a:pPr>
            <a:r>
              <a:rPr lang="en-US" sz="1400" b="1" dirty="0">
                <a:solidFill>
                  <a:srgbClr val="28285E"/>
                </a:solidFill>
              </a:rPr>
              <a:t>We have t</a:t>
            </a:r>
            <a:r>
              <a:rPr sz="1400" b="1" dirty="0">
                <a:solidFill>
                  <a:srgbClr val="28285E"/>
                </a:solidFill>
              </a:rPr>
              <a:t>wo runtime stops</a:t>
            </a:r>
            <a:r>
              <a:rPr lang="en-US" sz="1400" b="1" dirty="0">
                <a:solidFill>
                  <a:srgbClr val="28285E"/>
                </a:solidFill>
              </a:rPr>
              <a:t> that differ on where they sit.</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Before the call, not after. </a:t>
            </a:r>
            <a:r>
              <a:rPr sz="1400" dirty="0">
                <a:solidFill>
                  <a:schemeClr val="tx1"/>
                </a:solidFill>
              </a:rPr>
              <a:t>Checked afterwards they are a post-mortem, not a control.</a:t>
            </a:r>
          </a:p>
          <a:p>
            <a:pPr marL="400050" indent="-285750">
              <a:spcBef>
                <a:spcPts val="600"/>
              </a:spcBef>
              <a:spcAft>
                <a:spcPts val="600"/>
              </a:spcAft>
              <a:buClr>
                <a:srgbClr val="28285E"/>
              </a:buClr>
              <a:buSzPts val="1260"/>
              <a:buFont typeface="Fira Sans"/>
              <a:buChar char="●"/>
            </a:pPr>
            <a:r>
              <a:rPr sz="1400" b="1" dirty="0">
                <a:latin typeface="Maple Mono NF"/>
              </a:rPr>
              <a:t>stalled</a:t>
            </a:r>
            <a:r>
              <a:rPr sz="1400" b="1" dirty="0">
                <a:solidFill>
                  <a:schemeClr val="tx1"/>
                </a:solidFill>
              </a:rPr>
              <a:t> compares results, not calls. </a:t>
            </a:r>
            <a:r>
              <a:rPr sz="1400" dirty="0">
                <a:solidFill>
                  <a:schemeClr val="tx1"/>
                </a:solidFill>
              </a:rPr>
              <a:t>Six distinct search patterns, all returning nothing, evade a same-call rule.</a:t>
            </a:r>
          </a:p>
        </p:txBody>
      </p:sp>
      <p:sp>
        <p:nvSpPr>
          <p:cNvPr id="4" name="TextBox 3"/>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controller, before the model call</a:t>
            </a:r>
          </a:p>
        </p:txBody>
      </p:sp>
      <p:sp>
        <p:nvSpPr>
          <p:cNvPr id="5" name="Rounded Rectangle 4"/>
          <p:cNvSpPr/>
          <p:nvPr/>
        </p:nvSpPr>
        <p:spPr>
          <a:xfrm>
            <a:off x="319251" y="1000000"/>
            <a:ext cx="6014545" cy="14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state["model_calls"] &gt;= self.config.budget:</a:t>
            </a:r>
          </a:p>
          <a:p>
            <a:pPr algn="l">
              <a:buNone/>
            </a:pPr>
            <a:r>
              <a:rPr sz="1100">
                <a:solidFill>
                  <a:srgbClr val="28285E"/>
                </a:solidFill>
                <a:latin typeface="Maple Mono NF"/>
              </a:rPr>
              <a:t>    return {"status": TerminalStatus.BUDGET_EXHAUSTED}</a:t>
            </a:r>
          </a:p>
          <a:p>
            <a:pPr algn="l">
              <a:buNone/>
            </a:pPr>
            <a:endParaRPr sz="1100">
              <a:solidFill>
                <a:srgbClr val="28285E"/>
              </a:solidFill>
              <a:latin typeface="Maple Mono NF"/>
            </a:endParaRPr>
          </a:p>
          <a:p>
            <a:pPr algn="l">
              <a:buNone/>
            </a:pPr>
            <a:r>
              <a:rPr sz="1100" b="1">
                <a:solidFill>
                  <a:srgbClr val="C73561"/>
                </a:solidFill>
                <a:latin typeface="Maple Mono NF"/>
              </a:rPr>
              <a:t>if self.stalled(state["observations"], ...):</a:t>
            </a:r>
          </a:p>
          <a:p>
            <a:pPr algn="l">
              <a:buNone/>
            </a:pPr>
            <a:r>
              <a:rPr sz="1100" b="1">
                <a:solidFill>
                  <a:srgbClr val="C73561"/>
                </a:solidFill>
                <a:latin typeface="Maple Mono NF"/>
              </a:rPr>
              <a:t>    return {"status": TerminalStatus.NO_PROGRESS}</a:t>
            </a:r>
          </a:p>
        </p:txBody>
      </p:sp>
      <p:sp>
        <p:nvSpPr>
          <p:cNvPr id="6" name="Rectangle 5"/>
          <p:cNvSpPr/>
          <p:nvPr/>
        </p:nvSpPr>
        <p:spPr>
          <a:xfrm>
            <a:off x="319251" y="41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budget = 40 model calls.  no_progress = 3 identical results.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AE3D2-9B11-5A62-6840-5C732B0393B3}"/>
              </a:ext>
            </a:extLst>
          </p:cNvPr>
          <p:cNvSpPr>
            <a:spLocks noGrp="1"/>
          </p:cNvSpPr>
          <p:nvPr>
            <p:ph type="ctrTitle"/>
          </p:nvPr>
        </p:nvSpPr>
        <p:spPr>
          <a:xfrm>
            <a:off x="233781" y="1545450"/>
            <a:ext cx="6390450" cy="2052600"/>
          </a:xfrm>
        </p:spPr>
        <p:txBody>
          <a:bodyPr anchor="ctr"/>
          <a:lstStyle/>
          <a:p>
            <a:r>
              <a:rPr lang="en-US" dirty="0"/>
              <a:t>Demo &lt;/&gt;</a:t>
            </a:r>
          </a:p>
        </p:txBody>
      </p:sp>
    </p:spTree>
    <p:extLst>
      <p:ext uri="{BB962C8B-B14F-4D97-AF65-F5344CB8AC3E}">
        <p14:creationId xmlns:p14="http://schemas.microsoft.com/office/powerpoint/2010/main" val="1257047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samples from our run</a:t>
            </a:r>
            <a:endParaRPr dirty="0"/>
          </a:p>
        </p:txBody>
      </p:sp>
      <p:pic>
        <p:nvPicPr>
          <p:cNvPr id="5" name="Picture 4" descr="seq-loop-run-deck.png"/>
          <p:cNvPicPr>
            <a:picLocks noChangeAspect="1"/>
          </p:cNvPicPr>
          <p:nvPr/>
        </p:nvPicPr>
        <p:blipFill>
          <a:blip r:embed="rId3"/>
          <a:stretch>
            <a:fillRect/>
          </a:stretch>
        </p:blipFill>
        <p:spPr>
          <a:xfrm>
            <a:off x="776523" y="620000"/>
            <a:ext cx="5100000" cy="3547332"/>
          </a:xfrm>
          <a:prstGeom prst="rect">
            <a:avLst/>
          </a:prstGeom>
        </p:spPr>
      </p:pic>
      <p:sp>
        <p:nvSpPr>
          <p:cNvPr id="6" name="Rectangle 5"/>
          <p:cNvSpPr/>
          <p:nvPr/>
        </p:nvSpPr>
        <p:spPr>
          <a:xfrm>
            <a:off x="319251" y="4360000"/>
            <a:ext cx="6014545" cy="3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Accepted, in four model calls against a budget of forty.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ADA2851-9F49-6C5B-2F2A-A9DC57C2691B}"/>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84B2E34-C6AD-8714-EA3F-688477F6CAD7}"/>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B926E5BB-54FC-CFCE-578B-F9F40F0CAD5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474E4C5-6A4F-6834-F1C9-071E5FB2D0ED}"/>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30B95F9-3CB6-5D46-817F-039323FA6E6F}"/>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CE7FFB9-0C3A-9D7E-AE60-6379279BA0AC}"/>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803726C-C63A-CC07-CA9D-764435DACEDD}"/>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8C9EB4FD-67A4-A824-E1FD-D86520884AC8}"/>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F577927-AE19-F916-E886-6F834CAC74E3}"/>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AF1E1A7-4D3C-ABD0-5DCF-3168894B877E}"/>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A926C504-D51E-8EB0-9B1E-D22023C37963}"/>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A354829-D883-3A49-D9E6-EA8B7F10F7B8}"/>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2419CE68-E188-CA74-4343-918FD250BDFA}"/>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20B3974-57C0-3FED-3BD7-02A4B1B0D3F8}"/>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81B5BBE-6A43-E642-8BB5-1E53AEBC2B94}"/>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5B26C98D-6DD4-D8D8-48C5-F0C30D3B5D32}"/>
              </a:ext>
            </a:extLst>
          </p:cNvPr>
          <p:cNvPicPr>
            <a:picLocks noChangeAspect="1"/>
          </p:cNvPicPr>
          <p:nvPr/>
        </p:nvPicPr>
        <p:blipFill>
          <a:blip r:embed="rId3">
            <a:alphaModFix amt="90000"/>
          </a:blip>
          <a:stretch>
            <a:fillRect/>
          </a:stretch>
        </p:blipFill>
        <p:spPr>
          <a:xfrm>
            <a:off x="825474" y="3163440"/>
            <a:ext cx="5732295" cy="1718103"/>
          </a:xfrm>
          <a:prstGeom prst="rect">
            <a:avLst/>
          </a:prstGeom>
        </p:spPr>
      </p:pic>
      <p:pic>
        <p:nvPicPr>
          <p:cNvPr id="2" name="Picture 1">
            <a:extLst>
              <a:ext uri="{FF2B5EF4-FFF2-40B4-BE49-F238E27FC236}">
                <a16:creationId xmlns:a16="http://schemas.microsoft.com/office/drawing/2014/main" id="{3C85195E-8F87-9F97-1DB2-96CC95B82822}"/>
              </a:ext>
            </a:extLst>
          </p:cNvPr>
          <p:cNvPicPr>
            <a:picLocks noChangeAspect="1"/>
          </p:cNvPicPr>
          <p:nvPr/>
        </p:nvPicPr>
        <p:blipFill>
          <a:blip r:embed="rId3">
            <a:alphaModFix amt="70000"/>
          </a:blip>
          <a:stretch>
            <a:fillRect/>
          </a:stretch>
        </p:blipFill>
        <p:spPr>
          <a:xfrm>
            <a:off x="825474" y="1570162"/>
            <a:ext cx="5732295" cy="1343821"/>
          </a:xfrm>
          <a:prstGeom prst="rect">
            <a:avLst/>
          </a:prstGeom>
        </p:spPr>
      </p:pic>
    </p:spTree>
    <p:extLst>
      <p:ext uri="{BB962C8B-B14F-4D97-AF65-F5344CB8AC3E}">
        <p14:creationId xmlns:p14="http://schemas.microsoft.com/office/powerpoint/2010/main" val="26208979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with React Loop</a:t>
            </a:r>
            <a:endParaRPr dirty="0"/>
          </a:p>
        </p:txBody>
      </p:sp>
      <p:sp>
        <p:nvSpPr>
          <p:cNvPr id="3" name="Content Placeholder 2"/>
          <p:cNvSpPr>
            <a:spLocks noGrp="1"/>
          </p:cNvSpPr>
          <p:nvPr>
            <p:ph idx="1"/>
          </p:nvPr>
        </p:nvSpPr>
        <p:spPr>
          <a:xfrm>
            <a:off x="319251" y="1690480"/>
            <a:ext cx="6014545" cy="2150000"/>
          </a:xfrm>
        </p:spPr>
        <p:txBody>
          <a:bodyPr wrap="square">
            <a:normAutofit fontScale="92500" lnSpcReduction="10000"/>
          </a:bodyPr>
          <a:lstStyle/>
          <a:p>
            <a:pPr marL="0" indent="0">
              <a:buNone/>
            </a:pPr>
            <a:r>
              <a:rPr sz="1400" b="1">
                <a:solidFill>
                  <a:srgbClr val="28285E"/>
                </a:solidFill>
              </a:rPr>
              <a:t>There are three questions the loop cannot answer about itself:</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a:solidFill>
                  <a:schemeClr val="tx1"/>
                </a:solidFill>
              </a:rPr>
              <a:t>Measure progress. </a:t>
            </a:r>
            <a:r>
              <a:rPr sz="1400" b="0">
                <a:solidFill>
                  <a:schemeClr val="tx1"/>
                </a:solidFill>
              </a:rPr>
              <a:t>Seeing that an observation is new is easy. Knowing whether the step in hand has finished is not.</a:t>
            </a:r>
          </a:p>
          <a:p>
            <a:pPr marL="400050" indent="-285750">
              <a:spcBef>
                <a:spcPts val="600"/>
              </a:spcBef>
              <a:spcAft>
                <a:spcPts val="600"/>
              </a:spcAft>
              <a:buClr>
                <a:srgbClr val="28285E"/>
              </a:buClr>
              <a:buSzPts val="1260"/>
              <a:buFont typeface="Fira Sans"/>
              <a:buChar char="●"/>
            </a:pPr>
            <a:r>
              <a:rPr sz="1400" b="1">
                <a:solidFill>
                  <a:schemeClr val="tx1"/>
                </a:solidFill>
              </a:rPr>
              <a:t>Show its intent. </a:t>
            </a:r>
            <a:r>
              <a:rPr sz="1400" b="0">
                <a:solidFill>
                  <a:schemeClr val="tx1"/>
                </a:solidFill>
              </a:rPr>
              <a:t>Halfway through a run the trace holds four thoughts and nothing that says where the run was going.</a:t>
            </a:r>
          </a:p>
          <a:p>
            <a:pPr marL="400050" indent="-285750">
              <a:spcBef>
                <a:spcPts val="600"/>
              </a:spcBef>
              <a:spcAft>
                <a:spcPts val="600"/>
              </a:spcAft>
              <a:buClr>
                <a:srgbClr val="28285E"/>
              </a:buClr>
              <a:buSzPts val="1260"/>
              <a:buFont typeface="Fira Sans"/>
              <a:buChar char="●"/>
            </a:pPr>
            <a:r>
              <a:rPr sz="1400" b="1">
                <a:solidFill>
                  <a:schemeClr val="tx1"/>
                </a:solidFill>
              </a:rPr>
              <a:t>Change course. </a:t>
            </a:r>
            <a:r>
              <a:rPr sz="1400" b="0">
                <a:solidFill>
                  <a:schemeClr val="tx1"/>
                </a:solidFill>
              </a:rPr>
              <a:t>When a step turns out to be impossible there is no remaining plan to revise, because no plan was ever written.</a:t>
            </a:r>
          </a:p>
        </p:txBody>
      </p:sp>
      <p:sp>
        <p:nvSpPr>
          <p:cNvPr id="4" name="Rectangle 3"/>
          <p:cNvSpPr/>
          <p:nvPr/>
        </p:nvSpPr>
        <p:spPr>
          <a:xfrm>
            <a:off x="319251" y="700000"/>
            <a:ext cx="6014545" cy="82899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Our reactive loop remembers everything it has seen. What it never records is what the run set out to do, so the program cannot tell a turn that </a:t>
            </a:r>
            <a:r>
              <a:rPr sz="1400" b="1">
                <a:solidFill>
                  <a:schemeClr val="tx2"/>
                </a:solidFill>
              </a:rPr>
              <a:t>helped</a:t>
            </a:r>
            <a:r>
              <a:rPr sz="1400" b="0">
                <a:solidFill>
                  <a:schemeClr val="tx2"/>
                </a:solidFill>
              </a:rPr>
              <a:t> from a turn that merely </a:t>
            </a:r>
            <a:r>
              <a:rPr sz="1400" b="1">
                <a:solidFill>
                  <a:schemeClr val="tx2"/>
                </a:solidFill>
              </a:rPr>
              <a:t>happened</a:t>
            </a:r>
            <a:r>
              <a:rPr sz="1400" b="0">
                <a:solidFill>
                  <a:schemeClr val="tx2"/>
                </a:solidFill>
              </a:rPr>
              <a:t>.</a:t>
            </a:r>
          </a:p>
        </p:txBody>
      </p:sp>
      <p:sp>
        <p:nvSpPr>
          <p:cNvPr id="5" name="Rectangle 4"/>
          <p:cNvSpPr/>
          <p:nvPr/>
        </p:nvSpPr>
        <p:spPr>
          <a:xfrm>
            <a:off x="319251" y="4100480"/>
            <a:ext cx="6014545" cy="49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 is the smallest thing we can add that lets the program check its own progress.</a:t>
            </a:r>
          </a:p>
        </p:txBody>
      </p:sp>
    </p:spTree>
  </p:cSld>
  <p:clrMapOvr>
    <a:masterClrMapping/>
  </p:clrMapOvr>
  <p:extLst>
    <p:ext uri="{6950BFC3-D8DA-4A85-94F7-54DA5524770B}">
      <p188:commentRel xmlns:p188="http://schemas.microsoft.com/office/powerpoint/2018/8/main" r:id="rId3"/>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shape does with an observation</a:t>
            </a:r>
          </a:p>
        </p:txBody>
      </p:sp>
      <p:graphicFrame>
        <p:nvGraphicFramePr>
          <p:cNvPr id="3" name="Table 2"/>
          <p:cNvGraphicFramePr>
            <a:graphicFrameLocks noGrp="1"/>
          </p:cNvGraphicFramePr>
          <p:nvPr>
            <p:extLst>
              <p:ext uri="{D42A27DB-BD31-4B8C-83A1-F6EECF244321}">
                <p14:modId xmlns:p14="http://schemas.microsoft.com/office/powerpoint/2010/main" val="2599804413"/>
              </p:ext>
            </p:extLst>
          </p:nvPr>
        </p:nvGraphicFramePr>
        <p:xfrm>
          <a:off x="319251" y="1634008"/>
          <a:ext cx="6014545" cy="1447800"/>
        </p:xfrm>
        <a:graphic>
          <a:graphicData uri="http://schemas.openxmlformats.org/drawingml/2006/table">
            <a:tbl>
              <a:tblPr>
                <a:tableStyleId>{2D5ABB26-0587-4C30-8999-92F81FD0307C}</a:tableStyleId>
              </a:tblPr>
              <a:tblGrid>
                <a:gridCol w="1900000">
                  <a:extLst>
                    <a:ext uri="{9D8B030D-6E8A-4147-A177-3AD203B41FA5}">
                      <a16:colId xmlns:a16="http://schemas.microsoft.com/office/drawing/2014/main" val="20000"/>
                    </a:ext>
                  </a:extLst>
                </a:gridCol>
                <a:gridCol w="2157272">
                  <a:extLst>
                    <a:ext uri="{9D8B030D-6E8A-4147-A177-3AD203B41FA5}">
                      <a16:colId xmlns:a16="http://schemas.microsoft.com/office/drawing/2014/main" val="20001"/>
                    </a:ext>
                  </a:extLst>
                </a:gridCol>
                <a:gridCol w="1957273">
                  <a:extLst>
                    <a:ext uri="{9D8B030D-6E8A-4147-A177-3AD203B41FA5}">
                      <a16:colId xmlns:a16="http://schemas.microsoft.com/office/drawing/2014/main" val="20002"/>
                    </a:ext>
                  </a:extLst>
                </a:gridCol>
              </a:tblGrid>
              <a:tr h="300000">
                <a:tc>
                  <a:txBody>
                    <a:bodyPr/>
                    <a:lstStyle/>
                    <a:p>
                      <a:pPr algn="l">
                        <a:buNone/>
                      </a:pPr>
                      <a:r>
                        <a:rPr sz="1400" b="1">
                          <a:solidFill>
                            <a:schemeClr val="tx1"/>
                          </a:solidFill>
                        </a:rPr>
                        <a:t>Planner</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comes back</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changes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Open-loop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 at 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Implicit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Every observation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next action only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Explicit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Every observation, sorted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The rest of the 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Rectangle 3"/>
          <p:cNvSpPr/>
          <p:nvPr/>
        </p:nvSpPr>
        <p:spPr>
          <a:xfrm>
            <a:off x="1888761" y="3486817"/>
            <a:ext cx="4445035" cy="496366"/>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 revision </a:t>
            </a:r>
            <a:r>
              <a:rPr sz="1200" b="1">
                <a:solidFill>
                  <a:schemeClr val="tx2"/>
                </a:solidFill>
              </a:rPr>
              <a:t>replaces</a:t>
            </a:r>
            <a:r>
              <a:rPr sz="1200" b="0">
                <a:solidFill>
                  <a:schemeClr val="tx2"/>
                </a:solidFill>
              </a:rPr>
              <a:t> the remainder of the plan. Our loop only ever </a:t>
            </a:r>
            <a:r>
              <a:rPr sz="1200" b="1">
                <a:solidFill>
                  <a:schemeClr val="tx2"/>
                </a:solidFill>
              </a:rPr>
              <a:t>adds</a:t>
            </a:r>
            <a:r>
              <a:rPr sz="1200" b="0">
                <a:solidFill>
                  <a:schemeClr val="tx2"/>
                </a:solidFill>
              </a:rPr>
              <a:t> to its context.</a:t>
            </a:r>
          </a:p>
        </p:txBody>
      </p:sp>
      <p:sp>
        <p:nvSpPr>
          <p:cNvPr id="5" name="Rectangle 4"/>
          <p:cNvSpPr/>
          <p:nvPr/>
        </p:nvSpPr>
        <p:spPr>
          <a:xfrm>
            <a:off x="319251" y="700000"/>
            <a:ext cx="6014545" cy="797908"/>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The three shapes differ in one thing only: what a planner is allowed to change when the environment answers back</a:t>
            </a:r>
            <a:r>
              <a:rPr lang="en-US" sz="1400" b="0" dirty="0">
                <a:solidFill>
                  <a:schemeClr val="tx2"/>
                </a:solidFill>
              </a:rPr>
              <a:t>:</a:t>
            </a:r>
            <a:r>
              <a:rPr sz="1400" b="0" dirty="0">
                <a:solidFill>
                  <a:schemeClr val="tx2"/>
                </a:solidFill>
              </a:rPr>
              <a:t> </a:t>
            </a:r>
            <a:r>
              <a:rPr sz="1400" b="1" dirty="0">
                <a:solidFill>
                  <a:schemeClr val="tx2"/>
                </a:solidFill>
              </a:rPr>
              <a:t>Nothing</a:t>
            </a:r>
            <a:r>
              <a:rPr lang="en-US" sz="1400" b="1" dirty="0">
                <a:solidFill>
                  <a:schemeClr val="tx2"/>
                </a:solidFill>
              </a:rPr>
              <a:t>?</a:t>
            </a:r>
            <a:r>
              <a:rPr sz="1400" b="1" dirty="0">
                <a:solidFill>
                  <a:schemeClr val="tx2"/>
                </a:solidFill>
              </a:rPr>
              <a:t> </a:t>
            </a:r>
            <a:r>
              <a:rPr lang="en-US" sz="1400" b="1" dirty="0">
                <a:solidFill>
                  <a:schemeClr val="tx2"/>
                </a:solidFill>
              </a:rPr>
              <a:t>T</a:t>
            </a:r>
            <a:r>
              <a:rPr sz="1400" b="1" dirty="0">
                <a:solidFill>
                  <a:schemeClr val="tx2"/>
                </a:solidFill>
              </a:rPr>
              <a:t>he next action</a:t>
            </a:r>
            <a:r>
              <a:rPr lang="en-US" sz="1400" b="1" dirty="0">
                <a:solidFill>
                  <a:schemeClr val="tx2"/>
                </a:solidFill>
              </a:rPr>
              <a:t> only?</a:t>
            </a:r>
            <a:r>
              <a:rPr sz="1400" b="1" dirty="0">
                <a:solidFill>
                  <a:schemeClr val="tx2"/>
                </a:solidFill>
              </a:rPr>
              <a:t>, or the rest of the plan</a:t>
            </a:r>
            <a:r>
              <a:rPr lang="en-US" sz="1400" b="1" dirty="0">
                <a:solidFill>
                  <a:schemeClr val="tx2"/>
                </a:solidFill>
              </a:rPr>
              <a:t>?</a:t>
            </a:r>
            <a:endParaRPr sz="1400" b="1" dirty="0">
              <a:solidFill>
                <a:schemeClr val="tx2"/>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dirty="0"/>
              <a:t>hapes</a:t>
            </a:r>
            <a:r>
              <a:rPr lang="en-US" dirty="0"/>
              <a:t> of Planning</a:t>
            </a:r>
            <a:endParaRPr dirty="0"/>
          </a:p>
        </p:txBody>
      </p:sp>
      <p:pic>
        <p:nvPicPr>
          <p:cNvPr id="3" name="Picture 2" descr="adaplanner-fig1-closed-loop.png"/>
          <p:cNvPicPr>
            <a:picLocks noChangeAspect="1"/>
          </p:cNvPicPr>
          <p:nvPr/>
        </p:nvPicPr>
        <p:blipFill>
          <a:blip r:embed="rId4"/>
          <a:stretch>
            <a:fillRect/>
          </a:stretch>
        </p:blipFill>
        <p:spPr>
          <a:xfrm>
            <a:off x="250147" y="880000"/>
            <a:ext cx="6152752" cy="2836155"/>
          </a:xfrm>
          <a:prstGeom prst="rect">
            <a:avLst/>
          </a:prstGeom>
        </p:spPr>
      </p:pic>
      <p:sp>
        <p:nvSpPr>
          <p:cNvPr id="4" name="TextBox 3"/>
          <p:cNvSpPr txBox="1"/>
          <p:nvPr/>
        </p:nvSpPr>
        <p:spPr>
          <a:xfrm>
            <a:off x="2433796" y="3790000"/>
            <a:ext cx="3900000" cy="253916"/>
          </a:xfrm>
          <a:prstGeom prst="rect">
            <a:avLst/>
          </a:prstGeom>
          <a:noFill/>
        </p:spPr>
        <p:txBody>
          <a:bodyPr wrap="none">
            <a:spAutoFit/>
          </a:bodyPr>
          <a:lstStyle/>
          <a:p>
            <a:pPr algn="r"/>
            <a:r>
              <a:rPr sz="1050" i="1">
                <a:solidFill>
                  <a:schemeClr val="bg2"/>
                </a:solidFill>
              </a:rPr>
              <a:t>Figure 1, Sun et al., AdaPlanner, NeurIPS 2023</a:t>
            </a:r>
          </a:p>
        </p:txBody>
      </p:sp>
      <p:sp>
        <p:nvSpPr>
          <p:cNvPr id="5" name="Rectangle 4"/>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Only the third sends feedback back to the plan itself. The other two change the next action </a:t>
            </a:r>
            <a:r>
              <a:rPr sz="1200" b="1" dirty="0">
                <a:solidFill>
                  <a:srgbClr val="28285E"/>
                </a:solidFill>
              </a:rPr>
              <a:t>alone</a:t>
            </a:r>
            <a:r>
              <a:rPr sz="1200" dirty="0">
                <a:solidFill>
                  <a:srgbClr val="28285E"/>
                </a:solidFill>
              </a:rPr>
              <a:t>.</a:t>
            </a:r>
          </a:p>
        </p:txBody>
      </p:sp>
    </p:spTree>
  </p:cSld>
  <p:clrMapOvr>
    <a:masterClrMapping/>
  </p:clrMapOvr>
  <p:extLst>
    <p:ext uri="{6950BFC3-D8DA-4A85-94F7-54DA5524770B}">
      <p188:commentRel xmlns:p188="http://schemas.microsoft.com/office/powerpoint/2018/8/main" r:id="rId3"/>
    </p:ext>
  </p:extLs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our planner-based demo compiles</a:t>
            </a:r>
          </a:p>
        </p:txBody>
      </p:sp>
      <p:sp>
        <p:nvSpPr>
          <p:cNvPr id="3" name="Rectangle 2"/>
          <p:cNvSpPr/>
          <p:nvPr/>
        </p:nvSpPr>
        <p:spPr>
          <a:xfrm>
            <a:off x="319251" y="700000"/>
            <a:ext cx="6014545" cy="10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Five nodes</a:t>
            </a:r>
            <a:r>
              <a:rPr lang="en-US" sz="1400" dirty="0">
                <a:solidFill>
                  <a:schemeClr val="tx2"/>
                </a:solidFill>
              </a:rPr>
              <a:t> at locations where </a:t>
            </a:r>
            <a:r>
              <a:rPr sz="1400" dirty="0">
                <a:solidFill>
                  <a:schemeClr val="tx2"/>
                </a:solidFill>
              </a:rPr>
              <a:t>model </a:t>
            </a:r>
            <a:r>
              <a:rPr lang="en-US" sz="1400" dirty="0">
                <a:solidFill>
                  <a:schemeClr val="tx2"/>
                </a:solidFill>
              </a:rPr>
              <a:t>makes decisions</a:t>
            </a:r>
            <a:r>
              <a:rPr sz="1400" dirty="0">
                <a:solidFill>
                  <a:schemeClr val="tx2"/>
                </a:solidFill>
              </a:rPr>
              <a:t>. Two edges are unconditional: the one that </a:t>
            </a:r>
            <a:r>
              <a:rPr sz="1400" b="1" dirty="0">
                <a:solidFill>
                  <a:schemeClr val="tx2"/>
                </a:solidFill>
              </a:rPr>
              <a:t>starts</a:t>
            </a:r>
            <a:r>
              <a:rPr sz="1400" dirty="0">
                <a:solidFill>
                  <a:schemeClr val="tx2"/>
                </a:solidFill>
              </a:rPr>
              <a:t> a run at the planner and the one that </a:t>
            </a:r>
            <a:r>
              <a:rPr sz="1400" b="1" dirty="0">
                <a:solidFill>
                  <a:schemeClr val="tx2"/>
                </a:solidFill>
              </a:rPr>
              <a:t>ends</a:t>
            </a:r>
            <a:r>
              <a:rPr sz="1400" dirty="0">
                <a:solidFill>
                  <a:schemeClr val="tx2"/>
                </a:solidFill>
              </a:rPr>
              <a:t> it at the judge. Every other edge is a predicate we wrote over state.</a:t>
            </a:r>
          </a:p>
        </p:txBody>
      </p:sp>
      <p:pic>
        <p:nvPicPr>
          <p:cNvPr id="4" name="Picture 3" descr="graph-v2-deck.png"/>
          <p:cNvPicPr>
            <a:picLocks noChangeAspect="1"/>
          </p:cNvPicPr>
          <p:nvPr/>
        </p:nvPicPr>
        <p:blipFill>
          <a:blip r:embed="rId3"/>
          <a:stretch>
            <a:fillRect/>
          </a:stretch>
        </p:blipFill>
        <p:spPr>
          <a:xfrm>
            <a:off x="250147" y="1760000"/>
            <a:ext cx="6152752" cy="2940231"/>
          </a:xfrm>
          <a:prstGeom prst="rect">
            <a:avLst/>
          </a:prstGeom>
        </p:spPr>
      </p:pic>
      <p:sp>
        <p:nvSpPr>
          <p:cNvPr id="5" name="TextBox 4"/>
          <p:cNvSpPr txBox="1"/>
          <p:nvPr/>
        </p:nvSpPr>
        <p:spPr>
          <a:xfrm>
            <a:off x="4589430" y="4889584"/>
            <a:ext cx="2268570" cy="253916"/>
          </a:xfrm>
          <a:prstGeom prst="rect">
            <a:avLst/>
          </a:prstGeom>
          <a:noFill/>
        </p:spPr>
        <p:txBody>
          <a:bodyPr wrap="none">
            <a:spAutoFit/>
          </a:bodyPr>
          <a:lstStyle/>
          <a:p>
            <a:pPr algn="r"/>
            <a:r>
              <a:rPr sz="1050" i="1">
                <a:solidFill>
                  <a:schemeClr val="bg2"/>
                </a:solidFill>
              </a:rPr>
              <a:t>see: lec2_planning_and_validation_agent/graph.py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The </a:t>
            </a:r>
            <a:r>
              <a:rPr lang="en-US" dirty="0"/>
              <a:t>new n</a:t>
            </a:r>
            <a:r>
              <a:rPr dirty="0"/>
              <a:t>odes </a:t>
            </a:r>
            <a:r>
              <a:rPr lang="en-US" dirty="0"/>
              <a:t>in our </a:t>
            </a:r>
            <a:r>
              <a:rPr dirty="0"/>
              <a:t>planner</a:t>
            </a:r>
            <a:r>
              <a:rPr lang="en-US" dirty="0"/>
              <a:t>-based </a:t>
            </a:r>
            <a:r>
              <a:rPr dirty="0"/>
              <a:t>demo</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a:t>
            </a:r>
          </a:p>
        </p:txBody>
      </p:sp>
      <p:sp>
        <p:nvSpPr>
          <p:cNvPr id="4" name="Rounded Rectangle 3"/>
          <p:cNvSpPr/>
          <p:nvPr/>
        </p:nvSpPr>
        <p:spPr>
          <a:xfrm>
            <a:off x="319251" y="1020000"/>
            <a:ext cx="6014545" cy="21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b="1" dirty="0" err="1">
                <a:solidFill>
                  <a:schemeClr val="accent4"/>
                </a:solidFill>
                <a:latin typeface="Maple Mono NF"/>
              </a:rPr>
              <a:t>graph.add_node</a:t>
            </a:r>
            <a:r>
              <a:rPr sz="1100" b="1" dirty="0">
                <a:solidFill>
                  <a:schemeClr val="accent4"/>
                </a:solidFill>
                <a:latin typeface="Maple Mono NF"/>
              </a:rPr>
              <a:t>("plan", </a:t>
            </a:r>
            <a:r>
              <a:rPr sz="1100" b="1" dirty="0" err="1">
                <a:solidFill>
                  <a:schemeClr val="accent4"/>
                </a:solidFill>
                <a:latin typeface="Maple Mono NF"/>
              </a:rPr>
              <a:t>self.plan</a:t>
            </a:r>
            <a:r>
              <a:rPr sz="1100" b="1" dirty="0">
                <a:solidFill>
                  <a:schemeClr val="accent4"/>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("controller", </a:t>
            </a:r>
            <a:r>
              <a:rPr sz="1100" dirty="0" err="1">
                <a:solidFill>
                  <a:srgbClr val="28285E"/>
                </a:solidFill>
                <a:latin typeface="Maple Mono NF"/>
              </a:rPr>
              <a:t>self.controller</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("tools", </a:t>
            </a:r>
            <a:r>
              <a:rPr sz="1100" dirty="0" err="1">
                <a:solidFill>
                  <a:srgbClr val="28285E"/>
                </a:solidFill>
                <a:latin typeface="Maple Mono NF"/>
              </a:rPr>
              <a:t>self.tools</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("submit", </a:t>
            </a:r>
            <a:r>
              <a:rPr sz="1100" dirty="0" err="1">
                <a:solidFill>
                  <a:srgbClr val="28285E"/>
                </a:solidFill>
                <a:latin typeface="Maple Mono NF"/>
              </a:rPr>
              <a:t>self.submit</a:t>
            </a:r>
            <a:r>
              <a:rPr sz="1100" dirty="0">
                <a:solidFill>
                  <a:srgbClr val="28285E"/>
                </a:solidFill>
                <a:latin typeface="Maple Mono NF"/>
              </a:rPr>
              <a:t>)</a:t>
            </a:r>
          </a:p>
          <a:p>
            <a:pPr algn="l">
              <a:buNone/>
            </a:pPr>
            <a:r>
              <a:rPr sz="1100" b="1" dirty="0" err="1">
                <a:solidFill>
                  <a:schemeClr val="accent4"/>
                </a:solidFill>
                <a:latin typeface="Maple Mono NF"/>
              </a:rPr>
              <a:t>graph.add_node</a:t>
            </a:r>
            <a:r>
              <a:rPr sz="1100" b="1" dirty="0">
                <a:solidFill>
                  <a:schemeClr val="accent4"/>
                </a:solidFill>
                <a:latin typeface="Maple Mono NF"/>
              </a:rPr>
              <a:t>("validate", </a:t>
            </a:r>
            <a:r>
              <a:rPr sz="1100" b="1" dirty="0" err="1">
                <a:solidFill>
                  <a:schemeClr val="accent4"/>
                </a:solidFill>
                <a:latin typeface="Maple Mono NF"/>
              </a:rPr>
              <a:t>self.validate</a:t>
            </a:r>
            <a:r>
              <a:rPr sz="1100" b="1" dirty="0">
                <a:solidFill>
                  <a:schemeClr val="accent4"/>
                </a:solidFill>
                <a:latin typeface="Maple Mono NF"/>
              </a:rPr>
              <a:t>)</a:t>
            </a:r>
          </a:p>
          <a:p>
            <a:pPr algn="l">
              <a:buNone/>
            </a:pPr>
            <a:endParaRPr sz="1100" dirty="0">
              <a:solidFill>
                <a:srgbClr val="28285E"/>
              </a:solidFill>
              <a:latin typeface="Maple Mono NF"/>
            </a:endParaRPr>
          </a:p>
          <a:p>
            <a:pPr algn="l">
              <a:buNone/>
            </a:pPr>
            <a:r>
              <a:rPr sz="1100" b="1" dirty="0" err="1">
                <a:solidFill>
                  <a:schemeClr val="accent4"/>
                </a:solidFill>
                <a:latin typeface="Maple Mono NF"/>
              </a:rPr>
              <a:t>graph.add_edge</a:t>
            </a:r>
            <a:r>
              <a:rPr sz="1100" b="1" dirty="0">
                <a:solidFill>
                  <a:schemeClr val="accent4"/>
                </a:solidFill>
                <a:latin typeface="Maple Mono NF"/>
              </a:rPr>
              <a:t>(START, "plan")</a:t>
            </a:r>
          </a:p>
          <a:p>
            <a:pPr algn="l">
              <a:buNone/>
            </a:pPr>
            <a:r>
              <a:rPr sz="1100" b="1" dirty="0" err="1">
                <a:solidFill>
                  <a:schemeClr val="accent4"/>
                </a:solidFill>
                <a:latin typeface="Maple Mono NF"/>
              </a:rPr>
              <a:t>graph.add_edge</a:t>
            </a:r>
            <a:r>
              <a:rPr sz="1100" b="1" dirty="0">
                <a:solidFill>
                  <a:schemeClr val="accent4"/>
                </a:solidFill>
                <a:latin typeface="Maple Mono NF"/>
              </a:rPr>
              <a:t>("validate", END)</a:t>
            </a:r>
          </a:p>
        </p:txBody>
      </p:sp>
      <p:sp>
        <p:nvSpPr>
          <p:cNvPr id="5" name="Rectangle 4"/>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Five nodes now. A run </a:t>
            </a:r>
            <a:r>
              <a:rPr sz="1200" b="1">
                <a:solidFill>
                  <a:srgbClr val="28285E"/>
                </a:solidFill>
              </a:rPr>
              <a:t>begins</a:t>
            </a:r>
            <a:r>
              <a:rPr sz="1200" b="0">
                <a:solidFill>
                  <a:srgbClr val="28285E"/>
                </a:solidFill>
              </a:rPr>
              <a:t> by planning, and the only way it can end accepted is through the validator.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edge from tools now has two destinations</a:t>
            </a:r>
          </a:p>
        </p:txBody>
      </p:sp>
      <p:sp>
        <p:nvSpPr>
          <p:cNvPr id="3" name="Rectangle 2"/>
          <p:cNvSpPr/>
          <p:nvPr/>
        </p:nvSpPr>
        <p:spPr>
          <a:xfrm>
            <a:off x="319251" y="700000"/>
            <a:ext cx="6014545" cy="79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In the reactive loop, </a:t>
            </a:r>
            <a:r>
              <a:rPr sz="1400" dirty="0">
                <a:latin typeface="Maple Mono NF"/>
              </a:rPr>
              <a:t>tools -&gt; controller</a:t>
            </a:r>
            <a:r>
              <a:rPr sz="1400" dirty="0">
                <a:solidFill>
                  <a:schemeClr val="tx2"/>
                </a:solidFill>
              </a:rPr>
              <a:t> was unconditional</a:t>
            </a:r>
            <a:r>
              <a:rPr lang="en-US" dirty="0">
                <a:solidFill>
                  <a:schemeClr val="tx2"/>
                </a:solidFill>
              </a:rPr>
              <a:t> </a:t>
            </a:r>
            <a:r>
              <a:rPr sz="1400" dirty="0">
                <a:solidFill>
                  <a:schemeClr val="tx2"/>
                </a:solidFill>
              </a:rPr>
              <a:t>that ma</a:t>
            </a:r>
            <a:r>
              <a:rPr lang="en-US" sz="1400" dirty="0">
                <a:solidFill>
                  <a:schemeClr val="tx2"/>
                </a:solidFill>
              </a:rPr>
              <a:t>de </a:t>
            </a:r>
            <a:r>
              <a:rPr sz="1400" dirty="0">
                <a:solidFill>
                  <a:schemeClr val="tx2"/>
                </a:solidFill>
              </a:rPr>
              <a:t>the agent reactive. </a:t>
            </a:r>
            <a:r>
              <a:rPr lang="en-US" sz="1400" dirty="0">
                <a:solidFill>
                  <a:schemeClr val="tx2"/>
                </a:solidFill>
              </a:rPr>
              <a:t>Now, </a:t>
            </a:r>
            <a:r>
              <a:rPr sz="1400" dirty="0">
                <a:solidFill>
                  <a:schemeClr val="tx2"/>
                </a:solidFill>
              </a:rPr>
              <a:t>it chooses, and its </a:t>
            </a:r>
            <a:r>
              <a:rPr lang="en-US" sz="1400" dirty="0">
                <a:solidFill>
                  <a:schemeClr val="tx2"/>
                </a:solidFill>
              </a:rPr>
              <a:t>other </a:t>
            </a:r>
            <a:r>
              <a:rPr sz="1400" dirty="0">
                <a:solidFill>
                  <a:schemeClr val="tx2"/>
                </a:solidFill>
              </a:rPr>
              <a:t>destination is the planner.</a:t>
            </a:r>
          </a:p>
        </p:txBody>
      </p:sp>
      <p:sp>
        <p:nvSpPr>
          <p:cNvPr id="4" name="TextBox 3"/>
          <p:cNvSpPr txBox="1"/>
          <p:nvPr/>
        </p:nvSpPr>
        <p:spPr>
          <a:xfrm>
            <a:off x="319251" y="1750000"/>
            <a:ext cx="6014545" cy="200000"/>
          </a:xfrm>
          <a:prstGeom prst="rect">
            <a:avLst/>
          </a:prstGeom>
          <a:noFill/>
        </p:spPr>
        <p:txBody>
          <a:bodyPr wrap="none">
            <a:spAutoFit/>
          </a:bodyPr>
          <a:lstStyle/>
          <a:p>
            <a:r>
              <a:rPr sz="1200" b="1">
                <a:solidFill>
                  <a:srgbClr val="28285E"/>
                </a:solidFill>
                <a:latin typeface="Maple Mono NF"/>
              </a:rPr>
              <a:t>graph.py, after_tools</a:t>
            </a:r>
          </a:p>
        </p:txBody>
      </p:sp>
      <p:sp>
        <p:nvSpPr>
          <p:cNvPr id="5" name="Rounded Rectangle 4"/>
          <p:cNvSpPr/>
          <p:nvPr/>
        </p:nvSpPr>
        <p:spPr>
          <a:xfrm>
            <a:off x="319251" y="2010000"/>
            <a:ext cx="6014545" cy="8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state.get(</a:t>
            </a:r>
            <a:r>
              <a:rPr sz="1100" b="1">
                <a:solidFill>
                  <a:srgbClr val="C73561"/>
                </a:solidFill>
                <a:latin typeface="Maple Mono NF"/>
              </a:rPr>
              <a:t>"failed_step"</a:t>
            </a:r>
            <a:r>
              <a:rPr sz="1100">
                <a:solidFill>
                  <a:srgbClr val="28285E"/>
                </a:solidFill>
                <a:latin typeface="Maple Mono NF"/>
              </a:rPr>
              <a:t>):</a:t>
            </a:r>
          </a:p>
          <a:p>
            <a:pPr algn="l">
              <a:buNone/>
            </a:pPr>
            <a:r>
              <a:rPr sz="1100">
                <a:solidFill>
                  <a:srgbClr val="28285E"/>
                </a:solidFill>
                <a:latin typeface="Maple Mono NF"/>
              </a:rPr>
              <a:t>    return </a:t>
            </a:r>
            <a:r>
              <a:rPr sz="1100" b="1">
                <a:solidFill>
                  <a:srgbClr val="099191"/>
                </a:solidFill>
                <a:latin typeface="Maple Mono NF"/>
              </a:rPr>
              <a:t>"plan"</a:t>
            </a:r>
          </a:p>
          <a:p>
            <a:pPr algn="l">
              <a:buNone/>
            </a:pPr>
            <a:r>
              <a:rPr sz="1100">
                <a:solidFill>
                  <a:srgbClr val="28285E"/>
                </a:solidFill>
                <a:latin typeface="Maple Mono NF"/>
              </a:rPr>
              <a:t>return "controller"</a:t>
            </a:r>
          </a:p>
        </p:txBody>
      </p:sp>
      <p:sp>
        <p:nvSpPr>
          <p:cNvPr id="6" name="Rectangle 5"/>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A run that has stopped learning now gets its plan replaced </a:t>
            </a:r>
            <a:r>
              <a:rPr sz="1200" b="1">
                <a:solidFill>
                  <a:srgbClr val="28285E"/>
                </a:solidFill>
              </a:rPr>
              <a:t>before</a:t>
            </a:r>
            <a:r>
              <a:rPr sz="1200" b="0">
                <a:solidFill>
                  <a:srgbClr val="28285E"/>
                </a:solidFill>
              </a:rPr>
              <a:t> it gets abandoned.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runtime decides the plan has failed</a:t>
            </a:r>
          </a:p>
        </p:txBody>
      </p:sp>
      <p:sp>
        <p:nvSpPr>
          <p:cNvPr id="3" name="Content Placeholder 2"/>
          <p:cNvSpPr>
            <a:spLocks noGrp="1"/>
          </p:cNvSpPr>
          <p:nvPr>
            <p:ph idx="1"/>
          </p:nvPr>
        </p:nvSpPr>
        <p:spPr>
          <a:xfrm>
            <a:off x="319251" y="760000"/>
            <a:ext cx="6014545" cy="3003840"/>
          </a:xfrm>
        </p:spPr>
        <p:txBody>
          <a:bodyPr wrap="square">
            <a:normAutofit fontScale="92500"/>
          </a:bodyPr>
          <a:lstStyle/>
          <a:p>
            <a:pPr marL="0" indent="0">
              <a:buNone/>
            </a:pPr>
            <a:r>
              <a:rPr lang="en-US" sz="1400" b="1" dirty="0">
                <a:solidFill>
                  <a:srgbClr val="28285E"/>
                </a:solidFill>
              </a:rPr>
              <a:t>Let’s take the “</a:t>
            </a:r>
            <a:r>
              <a:rPr sz="1400" b="1" dirty="0">
                <a:solidFill>
                  <a:srgbClr val="28285E"/>
                </a:solidFill>
              </a:rPr>
              <a:t>stall</a:t>
            </a:r>
            <a:r>
              <a:rPr lang="en-US" sz="1400" b="1" dirty="0">
                <a:solidFill>
                  <a:srgbClr val="28285E"/>
                </a:solidFill>
              </a:rPr>
              <a:t>"</a:t>
            </a:r>
            <a:r>
              <a:rPr sz="1400" b="1" dirty="0">
                <a:solidFill>
                  <a:srgbClr val="28285E"/>
                </a:solidFill>
              </a:rPr>
              <a:t> </a:t>
            </a:r>
            <a:r>
              <a:rPr lang="en-US" sz="1400" b="1" dirty="0">
                <a:solidFill>
                  <a:srgbClr val="28285E"/>
                </a:solidFill>
              </a:rPr>
              <a:t>rule we </a:t>
            </a:r>
            <a:r>
              <a:rPr sz="1400" b="1" dirty="0">
                <a:solidFill>
                  <a:srgbClr val="28285E"/>
                </a:solidFill>
              </a:rPr>
              <a:t>had</a:t>
            </a:r>
            <a:r>
              <a:rPr lang="en-US" sz="1400" b="1" dirty="0">
                <a:solidFill>
                  <a:srgbClr val="28285E"/>
                </a:solidFill>
              </a:rPr>
              <a:t>…</a:t>
            </a:r>
            <a:r>
              <a:rPr sz="1400" b="1" dirty="0">
                <a:solidFill>
                  <a:srgbClr val="28285E"/>
                </a:solidFill>
              </a:rPr>
              <a:t> </a:t>
            </a:r>
            <a:r>
              <a:rPr lang="en-US" sz="1400" b="1" dirty="0">
                <a:solidFill>
                  <a:srgbClr val="28285E"/>
                </a:solidFill>
              </a:rPr>
              <a:t>how </a:t>
            </a:r>
            <a:r>
              <a:rPr sz="1400" b="1" dirty="0">
                <a:solidFill>
                  <a:srgbClr val="28285E"/>
                </a:solidFill>
              </a:rPr>
              <a:t>it </a:t>
            </a:r>
            <a:r>
              <a:rPr lang="en-US" sz="1400" b="1" dirty="0">
                <a:solidFill>
                  <a:srgbClr val="28285E"/>
                </a:solidFill>
              </a:rPr>
              <a:t>gets </a:t>
            </a:r>
            <a:r>
              <a:rPr sz="1400" b="1" dirty="0">
                <a:solidFill>
                  <a:srgbClr val="28285E"/>
                </a:solidFill>
              </a:rPr>
              <a:t>trigger</a:t>
            </a:r>
            <a:r>
              <a:rPr lang="en-US" sz="1400" b="1" dirty="0">
                <a:solidFill>
                  <a:srgbClr val="28285E"/>
                </a:solidFill>
              </a:rPr>
              <a:t>ed </a:t>
            </a:r>
            <a:r>
              <a:rPr sz="1400" b="1" dirty="0">
                <a:solidFill>
                  <a:srgbClr val="28285E"/>
                </a:solidFill>
              </a:rPr>
              <a:t>is new:</a:t>
            </a:r>
            <a:endParaRPr lang="en-US" sz="1400" b="1" dirty="0">
              <a:solidFill>
                <a:srgbClr val="28285E"/>
              </a:solidFill>
            </a:endParaRPr>
          </a:p>
          <a:p>
            <a:pPr marL="0" indent="0">
              <a:buNone/>
            </a:pP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The runtime notices. </a:t>
            </a:r>
            <a:r>
              <a:rPr sz="1400" dirty="0">
                <a:solidFill>
                  <a:schemeClr val="tx1"/>
                </a:solidFill>
              </a:rPr>
              <a:t>When three consecutive tool calls return the same observation, the node that saw them writes one field, </a:t>
            </a:r>
            <a:r>
              <a:rPr sz="1400" dirty="0" err="1">
                <a:latin typeface="Maple Mono NF"/>
              </a:rPr>
              <a:t>failed_step</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The predicate reads one field. </a:t>
            </a:r>
            <a:r>
              <a:rPr sz="1400" dirty="0">
                <a:solidFill>
                  <a:schemeClr val="tx1"/>
                </a:solidFill>
              </a:rPr>
              <a:t>A conditional edge can only read state, so the judgement is made where the observations are and the edge just looks it up.</a:t>
            </a:r>
          </a:p>
          <a:p>
            <a:pPr marL="400050" indent="-285750">
              <a:spcBef>
                <a:spcPts val="600"/>
              </a:spcBef>
              <a:spcAft>
                <a:spcPts val="600"/>
              </a:spcAft>
              <a:buClr>
                <a:srgbClr val="28285E"/>
              </a:buClr>
              <a:buSzPts val="1260"/>
              <a:buFont typeface="Fira Sans"/>
              <a:buChar char="●"/>
            </a:pPr>
            <a:r>
              <a:rPr sz="1400" b="1" dirty="0">
                <a:solidFill>
                  <a:schemeClr val="tx1"/>
                </a:solidFill>
              </a:rPr>
              <a:t>The planner gets one chance. </a:t>
            </a:r>
            <a:r>
              <a:rPr sz="1400" dirty="0">
                <a:solidFill>
                  <a:schemeClr val="tx1"/>
                </a:solidFill>
              </a:rPr>
              <a:t>After a revision the window resets, and a second stall ends the run with the same terminal status the loop had.</a:t>
            </a:r>
          </a:p>
        </p:txBody>
      </p:sp>
      <p:sp>
        <p:nvSpPr>
          <p:cNvPr id="4" name="Rectangle 3"/>
          <p:cNvSpPr/>
          <p:nvPr/>
        </p:nvSpPr>
        <p:spPr>
          <a:xfrm>
            <a:off x="319251" y="401384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model never writes the field that decides whether its own plan is still working.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942712601"/>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709026688"/>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1888761" y="3971648"/>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a:solidFill>
                  <a:schemeClr val="tx2"/>
                </a:solidFill>
              </a:rPr>
              <a:t>The model now writes down what it is </a:t>
            </a:r>
            <a:r>
              <a:rPr sz="1200" b="1">
                <a:solidFill>
                  <a:schemeClr val="tx2"/>
                </a:solidFill>
              </a:rPr>
              <a:t>aiming at</a:t>
            </a:r>
            <a:r>
              <a:rPr sz="1200">
                <a:solidFill>
                  <a:schemeClr val="tx2"/>
                </a:solidFill>
              </a:rPr>
              <a:t>, and a turn can be measured against it.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one plan step records</a:t>
            </a:r>
          </a:p>
        </p:txBody>
      </p:sp>
      <p:sp>
        <p:nvSpPr>
          <p:cNvPr id="3" name="Content Placeholder 2"/>
          <p:cNvSpPr>
            <a:spLocks noGrp="1"/>
          </p:cNvSpPr>
          <p:nvPr>
            <p:ph idx="1"/>
          </p:nvPr>
        </p:nvSpPr>
        <p:spPr>
          <a:xfrm>
            <a:off x="319251" y="2010000"/>
            <a:ext cx="6014545" cy="1728976"/>
          </a:xfrm>
        </p:spPr>
        <p:txBody>
          <a:bodyPr wrap="square"/>
          <a:lstStyle/>
          <a:p>
            <a:pPr marL="0" indent="0">
              <a:buNone/>
            </a:pPr>
            <a:r>
              <a:rPr sz="1400" b="1">
                <a:solidFill>
                  <a:srgbClr val="28285E"/>
                </a:solidFill>
              </a:rPr>
              <a:t>Two things about that record are deliberate:</a:t>
            </a:r>
          </a:p>
          <a:p>
            <a:pPr marL="400050" indent="-285750">
              <a:spcBef>
                <a:spcPts val="600"/>
              </a:spcBef>
              <a:spcAft>
                <a:spcPts val="600"/>
              </a:spcAft>
              <a:buClr>
                <a:srgbClr val="28285E"/>
              </a:buClr>
              <a:buSzPts val="1260"/>
              <a:buFont typeface="Fira Sans"/>
              <a:buChar char="●"/>
            </a:pPr>
            <a:r>
              <a:rPr sz="1400" b="1">
                <a:solidFill>
                  <a:schemeClr val="tx1"/>
                </a:solidFill>
              </a:rPr>
              <a:t>The goal is what to do. </a:t>
            </a:r>
            <a:r>
              <a:rPr sz="1400">
                <a:solidFill>
                  <a:schemeClr val="tx1"/>
                </a:solidFill>
              </a:rPr>
              <a:t>The evidence is what would show it was done, which is the part the loop had nowhere to put.</a:t>
            </a:r>
          </a:p>
          <a:p>
            <a:pPr marL="400050" indent="-285750">
              <a:spcBef>
                <a:spcPts val="600"/>
              </a:spcBef>
              <a:spcAft>
                <a:spcPts val="600"/>
              </a:spcAft>
              <a:buClr>
                <a:srgbClr val="28285E"/>
              </a:buClr>
              <a:buSzPts val="1260"/>
              <a:buFont typeface="Fira Sans"/>
              <a:buChar char="●"/>
            </a:pPr>
            <a:r>
              <a:rPr sz="1400" b="1">
                <a:solidFill>
                  <a:schemeClr val="tx1"/>
                </a:solidFill>
              </a:rPr>
              <a:t>It arrives as input. </a:t>
            </a:r>
            <a:r>
              <a:rPr sz="1400">
                <a:solidFill>
                  <a:schemeClr val="tx1"/>
                </a:solidFill>
              </a:rPr>
              <a:t>The plan reaches the executor as a human message, so the executor never looks like it planned its own work.</a:t>
            </a:r>
          </a:p>
        </p:txBody>
      </p:sp>
      <p:sp>
        <p:nvSpPr>
          <p:cNvPr id="4" name="TextBox 3"/>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one step, as the planner returns it</a:t>
            </a:r>
          </a:p>
        </p:txBody>
      </p:sp>
      <p:sp>
        <p:nvSpPr>
          <p:cNvPr id="5" name="Rounded Rectangle 4"/>
          <p:cNvSpPr/>
          <p:nvPr/>
        </p:nvSpPr>
        <p:spPr>
          <a:xfrm>
            <a:off x="319251" y="1020000"/>
            <a:ext cx="6014545" cy="7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a:solidFill>
                  <a:srgbClr val="28285E"/>
                </a:solidFill>
                <a:latin typeface="Maple Mono NF"/>
              </a:rPr>
              <a:t>{"id": 2, </a:t>
            </a:r>
            <a:r>
              <a:rPr sz="1100" b="1" dirty="0">
                <a:solidFill>
                  <a:schemeClr val="accent4"/>
                </a:solidFill>
                <a:latin typeface="Maple Mono NF"/>
              </a:rPr>
              <a:t>"goal"</a:t>
            </a:r>
            <a:r>
              <a:rPr sz="1100" dirty="0">
                <a:solidFill>
                  <a:srgbClr val="28285E"/>
                </a:solidFill>
                <a:latin typeface="Maple Mono NF"/>
              </a:rPr>
              <a:t>: "read the helper the flagged line calls",</a:t>
            </a:r>
          </a:p>
          <a:p>
            <a:pPr algn="l">
              <a:buNone/>
            </a:pPr>
            <a:r>
              <a:rPr sz="1100" dirty="0">
                <a:solidFill>
                  <a:srgbClr val="28285E"/>
                </a:solidFill>
                <a:latin typeface="Maple Mono NF"/>
              </a:rPr>
              <a:t>  </a:t>
            </a:r>
            <a:r>
              <a:rPr sz="1100" b="1" dirty="0">
                <a:solidFill>
                  <a:schemeClr val="accent4"/>
                </a:solidFill>
                <a:latin typeface="Maple Mono NF"/>
              </a:rPr>
              <a:t>"evidence"</a:t>
            </a:r>
            <a:r>
              <a:rPr sz="1100" dirty="0">
                <a:solidFill>
                  <a:srgbClr val="28285E"/>
                </a:solidFill>
                <a:latin typeface="Maple Mono NF"/>
              </a:rPr>
              <a:t>: "the value that reaches line 46"}</a:t>
            </a:r>
          </a:p>
        </p:txBody>
      </p:sp>
      <p:sp>
        <p:nvSpPr>
          <p:cNvPr id="6" name="Rectangle 5"/>
          <p:cNvSpPr/>
          <p:nvPr/>
        </p:nvSpPr>
        <p:spPr>
          <a:xfrm>
            <a:off x="319251" y="3928976"/>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planner that fails to plan returns no steps, and the run continues without one. It cannot end the run.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Where a run goes wrong</a:t>
            </a:r>
          </a:p>
        </p:txBody>
      </p:sp>
      <p:graphicFrame>
        <p:nvGraphicFramePr>
          <p:cNvPr id="3" name="Table 2"/>
          <p:cNvGraphicFramePr>
            <a:graphicFrameLocks noGrp="1"/>
          </p:cNvGraphicFramePr>
          <p:nvPr/>
        </p:nvGraphicFramePr>
        <p:xfrm>
          <a:off x="319251" y="1491615"/>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a:solidFill>
                            <a:srgbClr val="28285E"/>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p:cNvSpPr txBox="1"/>
          <p:nvPr/>
        </p:nvSpPr>
        <p:spPr>
          <a:xfrm>
            <a:off x="2433796" y="332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p:cNvSpPr/>
          <p:nvPr/>
        </p:nvSpPr>
        <p:spPr>
          <a:xfrm>
            <a:off x="1888761" y="3660000"/>
            <a:ext cx="4445035" cy="51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Lookahead with value propagation cuts the first-move dead end to a third, gets </a:t>
            </a:r>
            <a:r>
              <a:rPr sz="1200" b="1">
                <a:solidFill>
                  <a:schemeClr val="tx2"/>
                </a:solidFill>
              </a:rPr>
              <a:t>twice as far</a:t>
            </a:r>
            <a:r>
              <a:rPr sz="1200" b="0">
                <a:solidFill>
                  <a:schemeClr val="tx2"/>
                </a:solidFill>
              </a:rPr>
              <a:t> before the first error, and makes recovery </a:t>
            </a:r>
            <a:r>
              <a:rPr sz="1200" b="1">
                <a:solidFill>
                  <a:schemeClr val="tx2"/>
                </a:solidFill>
              </a:rPr>
              <a:t>five times</a:t>
            </a:r>
            <a:r>
              <a:rPr sz="1200" b="0">
                <a:solidFill>
                  <a:schemeClr val="tx2"/>
                </a:solidFill>
              </a:rPr>
              <a:t> more likely.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F624-635C-176E-2827-44177171D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1A694-8F73-5DF6-82DB-43130EE70C59}"/>
              </a:ext>
            </a:extLst>
          </p:cNvPr>
          <p:cNvSpPr>
            <a:spLocks noGrp="1"/>
          </p:cNvSpPr>
          <p:nvPr>
            <p:ph type="title"/>
          </p:nvPr>
        </p:nvSpPr>
        <p:spPr/>
        <p:txBody>
          <a:bodyPr/>
          <a:lstStyle/>
          <a:p>
            <a:r>
              <a:rPr dirty="0"/>
              <a:t>Where a run goes wrong</a:t>
            </a:r>
          </a:p>
        </p:txBody>
      </p:sp>
      <p:graphicFrame>
        <p:nvGraphicFramePr>
          <p:cNvPr id="3" name="Table 2">
            <a:extLst>
              <a:ext uri="{FF2B5EF4-FFF2-40B4-BE49-F238E27FC236}">
                <a16:creationId xmlns:a16="http://schemas.microsoft.com/office/drawing/2014/main" id="{1D6D0EDA-2DC4-9975-FB7A-A7EFCE922DCA}"/>
              </a:ext>
            </a:extLst>
          </p:cNvPr>
          <p:cNvGraphicFramePr>
            <a:graphicFrameLocks noGrp="1"/>
          </p:cNvGraphicFramePr>
          <p:nvPr>
            <p:extLst>
              <p:ext uri="{D42A27DB-BD31-4B8C-83A1-F6EECF244321}">
                <p14:modId xmlns:p14="http://schemas.microsoft.com/office/powerpoint/2010/main" val="592902914"/>
              </p:ext>
            </p:extLst>
          </p:nvPr>
        </p:nvGraphicFramePr>
        <p:xfrm>
          <a:off x="319251" y="1491615"/>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dirty="0">
                          <a:solidFill>
                            <a:schemeClr val="accent4"/>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dirty="0">
                          <a:solidFill>
                            <a:schemeClr val="accent4"/>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3018C3B7-624A-0171-9291-1106C147C651}"/>
              </a:ext>
            </a:extLst>
          </p:cNvPr>
          <p:cNvSpPr txBox="1"/>
          <p:nvPr/>
        </p:nvSpPr>
        <p:spPr>
          <a:xfrm>
            <a:off x="2433796" y="332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a:extLst>
              <a:ext uri="{FF2B5EF4-FFF2-40B4-BE49-F238E27FC236}">
                <a16:creationId xmlns:a16="http://schemas.microsoft.com/office/drawing/2014/main" id="{8C5AF8AC-0C2A-E0CF-9DD7-D7F19410D774}"/>
              </a:ext>
            </a:extLst>
          </p:cNvPr>
          <p:cNvSpPr/>
          <p:nvPr/>
        </p:nvSpPr>
        <p:spPr>
          <a:xfrm>
            <a:off x="1888761" y="366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A run that chooses one step at a time is already lost on its first move </a:t>
            </a:r>
            <a:r>
              <a:rPr sz="1200" b="1" dirty="0">
                <a:solidFill>
                  <a:schemeClr val="tx2"/>
                </a:solidFill>
              </a:rPr>
              <a:t>more than half the time</a:t>
            </a:r>
            <a:r>
              <a:rPr sz="1200" b="0" dirty="0">
                <a:solidFill>
                  <a:schemeClr val="tx2"/>
                </a:solidFill>
              </a:rPr>
              <a:t>.</a:t>
            </a:r>
          </a:p>
        </p:txBody>
      </p:sp>
    </p:spTree>
    <p:extLst>
      <p:ext uri="{BB962C8B-B14F-4D97-AF65-F5344CB8AC3E}">
        <p14:creationId xmlns:p14="http://schemas.microsoft.com/office/powerpoint/2010/main" val="2396986296"/>
      </p:ext>
    </p:extLst>
  </p:cSld>
  <p:clrMapOvr>
    <a:masterClrMapping/>
  </p:clrMapOvr>
  <p:extLst>
    <p:ext uri="{6950BFC3-D8DA-4A85-94F7-54DA5524770B}">
      <p188:commentRel xmlns:p188="http://schemas.microsoft.com/office/powerpoint/2018/8/main" r:id="rId3"/>
    </p:ext>
  </p:extLs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wider search does not fix myopia</a:t>
            </a:r>
          </a:p>
        </p:txBody>
      </p:sp>
      <p:sp>
        <p:nvSpPr>
          <p:cNvPr id="3" name="Content Placeholder 2"/>
          <p:cNvSpPr>
            <a:spLocks noGrp="1"/>
          </p:cNvSpPr>
          <p:nvPr>
            <p:ph idx="1"/>
          </p:nvPr>
        </p:nvSpPr>
        <p:spPr>
          <a:xfrm>
            <a:off x="319251" y="1620000"/>
            <a:ext cx="6014545" cy="1900000"/>
          </a:xfrm>
        </p:spPr>
        <p:txBody>
          <a:bodyPr wrap="square">
            <a:normAutofit fontScale="92500" lnSpcReduction="20000"/>
          </a:bodyPr>
          <a:lstStyle/>
          <a:p>
            <a:pPr marL="0" indent="0">
              <a:buNone/>
            </a:pPr>
            <a:r>
              <a:rPr sz="1400" b="1" dirty="0">
                <a:solidFill>
                  <a:srgbClr val="28285E"/>
                </a:solidFill>
              </a:rPr>
              <a:t>The reason is worth carrying into your own agent:</a:t>
            </a:r>
          </a:p>
          <a:p>
            <a:pPr marL="400050" indent="-285750">
              <a:spcBef>
                <a:spcPts val="600"/>
              </a:spcBef>
              <a:spcAft>
                <a:spcPts val="600"/>
              </a:spcAft>
              <a:buClr>
                <a:srgbClr val="28285E"/>
              </a:buClr>
              <a:buSzPts val="1260"/>
              <a:buFont typeface="Fira Sans"/>
              <a:buChar char="●"/>
            </a:pPr>
            <a:r>
              <a:rPr sz="1400" b="1" dirty="0">
                <a:solidFill>
                  <a:schemeClr val="tx1"/>
                </a:solidFill>
              </a:rPr>
              <a:t>The score is the problem. </a:t>
            </a:r>
            <a:r>
              <a:rPr sz="1400" dirty="0">
                <a:solidFill>
                  <a:schemeClr val="tx1"/>
                </a:solidFill>
              </a:rPr>
              <a:t>Beam search </a:t>
            </a:r>
            <a:r>
              <a:rPr sz="1400" b="1" dirty="0">
                <a:solidFill>
                  <a:schemeClr val="tx1"/>
                </a:solidFill>
              </a:rPr>
              <a:t>ranks</a:t>
            </a:r>
            <a:r>
              <a:rPr sz="1400" dirty="0">
                <a:solidFill>
                  <a:schemeClr val="tx1"/>
                </a:solidFill>
              </a:rPr>
              <a:t> more candidates, but it ranks them </a:t>
            </a:r>
            <a:r>
              <a:rPr sz="1400" b="1" dirty="0">
                <a:solidFill>
                  <a:schemeClr val="tx1"/>
                </a:solidFill>
              </a:rPr>
              <a:t>with the same next-step plausibility </a:t>
            </a:r>
            <a:r>
              <a:rPr sz="1400" dirty="0">
                <a:solidFill>
                  <a:schemeClr val="tx1"/>
                </a:solidFill>
              </a:rPr>
              <a:t>that misled the single-step run.</a:t>
            </a:r>
          </a:p>
          <a:p>
            <a:pPr marL="400050" indent="-285750">
              <a:spcBef>
                <a:spcPts val="600"/>
              </a:spcBef>
              <a:spcAft>
                <a:spcPts val="600"/>
              </a:spcAft>
              <a:buClr>
                <a:srgbClr val="28285E"/>
              </a:buClr>
              <a:buSzPts val="1260"/>
              <a:buFont typeface="Fira Sans"/>
              <a:buChar char="●"/>
            </a:pPr>
            <a:r>
              <a:rPr sz="1400" b="1" dirty="0">
                <a:solidFill>
                  <a:schemeClr val="tx1"/>
                </a:solidFill>
              </a:rPr>
              <a:t>The fix</a:t>
            </a:r>
            <a:r>
              <a:rPr lang="en-US" sz="1400" b="1" dirty="0">
                <a:solidFill>
                  <a:schemeClr val="tx1"/>
                </a:solidFill>
              </a:rPr>
              <a:t>: choose</a:t>
            </a:r>
            <a:r>
              <a:rPr sz="1400" b="1" dirty="0">
                <a:solidFill>
                  <a:schemeClr val="tx1"/>
                </a:solidFill>
              </a:rPr>
              <a:t> what you score with</a:t>
            </a:r>
            <a:r>
              <a:rPr lang="en-US" sz="1400" b="1" dirty="0">
                <a:solidFill>
                  <a:schemeClr val="tx1"/>
                </a:solidFill>
              </a:rPr>
              <a:t> wisely</a:t>
            </a:r>
            <a:r>
              <a:rPr sz="1400" b="1" dirty="0">
                <a:solidFill>
                  <a:schemeClr val="tx1"/>
                </a:solidFill>
              </a:rPr>
              <a:t>. </a:t>
            </a:r>
            <a:r>
              <a:rPr sz="1400" dirty="0">
                <a:solidFill>
                  <a:schemeClr val="tx1"/>
                </a:solidFill>
              </a:rPr>
              <a:t>What moved every column in that table was </a:t>
            </a:r>
            <a:r>
              <a:rPr sz="1400" b="1" dirty="0">
                <a:solidFill>
                  <a:schemeClr val="tx1"/>
                </a:solidFill>
              </a:rPr>
              <a:t>evaluating an action by what follows it rather than by how good it looks now</a:t>
            </a:r>
            <a:r>
              <a:rPr sz="1400" dirty="0">
                <a:solidFill>
                  <a:schemeClr val="tx1"/>
                </a:solidFill>
              </a:rPr>
              <a:t>.</a:t>
            </a:r>
          </a:p>
        </p:txBody>
      </p:sp>
      <p:sp>
        <p:nvSpPr>
          <p:cNvPr id="4" name="Rectangle 3"/>
          <p:cNvSpPr/>
          <p:nvPr/>
        </p:nvSpPr>
        <p:spPr>
          <a:xfrm>
            <a:off x="319251" y="75632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Beam search explores more branches than choosing one step at a time, and it walks into the first-move trap </a:t>
            </a:r>
            <a:r>
              <a:rPr sz="1400" b="1">
                <a:solidFill>
                  <a:schemeClr val="tx2"/>
                </a:solidFill>
              </a:rPr>
              <a:t>more often</a:t>
            </a:r>
            <a:r>
              <a:rPr sz="1400">
                <a:solidFill>
                  <a:schemeClr val="tx2"/>
                </a:solidFill>
              </a:rPr>
              <a:t>.</a:t>
            </a:r>
          </a:p>
        </p:txBody>
      </p:sp>
      <p:sp>
        <p:nvSpPr>
          <p:cNvPr id="5" name="Rectangle 4"/>
          <p:cNvSpPr/>
          <p:nvPr/>
        </p:nvSpPr>
        <p:spPr>
          <a:xfrm>
            <a:off x="319251" y="38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accent4"/>
                </a:solidFill>
              </a:rPr>
              <a:t>When your agent stalls, look at </a:t>
            </a:r>
            <a:r>
              <a:rPr sz="1200" b="1">
                <a:solidFill>
                  <a:schemeClr val="accent4"/>
                </a:solidFill>
              </a:rPr>
              <a:t>what it is scoring</a:t>
            </a:r>
            <a:r>
              <a:rPr sz="1200" b="0">
                <a:solidFill>
                  <a:schemeClr val="accent4"/>
                </a:solidFill>
              </a:rPr>
              <a:t> before you look at how much it is searching.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submit can no longer accept a patch</a:t>
            </a:r>
          </a:p>
        </p:txBody>
      </p:sp>
      <p:sp>
        <p:nvSpPr>
          <p:cNvPr id="3" name="Content Placeholder 2"/>
          <p:cNvSpPr>
            <a:spLocks noGrp="1"/>
          </p:cNvSpPr>
          <p:nvPr>
            <p:ph idx="1"/>
          </p:nvPr>
        </p:nvSpPr>
        <p:spPr>
          <a:xfrm>
            <a:off x="319251" y="2670000"/>
            <a:ext cx="6014545" cy="1858038"/>
          </a:xfrm>
        </p:spPr>
        <p:txBody>
          <a:bodyPr wrap="square">
            <a:normAutofit lnSpcReduction="10000"/>
          </a:bodyPr>
          <a:lstStyle/>
          <a:p>
            <a:pPr marL="0" indent="0">
              <a:buNone/>
            </a:pPr>
            <a:r>
              <a:rPr sz="1400" b="1" dirty="0">
                <a:solidFill>
                  <a:srgbClr val="28285E"/>
                </a:solidFill>
              </a:rPr>
              <a:t>So the three checks and the validator are not alternatives:</a:t>
            </a:r>
          </a:p>
          <a:p>
            <a:pPr marL="400050" indent="-285750">
              <a:spcBef>
                <a:spcPts val="600"/>
              </a:spcBef>
              <a:spcAft>
                <a:spcPts val="600"/>
              </a:spcAft>
              <a:buClr>
                <a:srgbClr val="28285E"/>
              </a:buClr>
              <a:buSzPts val="1260"/>
              <a:buFont typeface="Fira Sans"/>
              <a:buChar char="●"/>
            </a:pPr>
            <a:r>
              <a:rPr sz="1400" b="1" dirty="0">
                <a:solidFill>
                  <a:schemeClr val="tx1"/>
                </a:solidFill>
              </a:rPr>
              <a:t>The checks are a gate. </a:t>
            </a:r>
            <a:r>
              <a:rPr sz="1400" dirty="0">
                <a:solidFill>
                  <a:schemeClr val="tx1"/>
                </a:solidFill>
              </a:rPr>
              <a:t>A patch that fails them never reaches the judge; it goes back to the controller with the reasons.</a:t>
            </a:r>
          </a:p>
          <a:p>
            <a:pPr marL="400050" indent="-285750">
              <a:spcBef>
                <a:spcPts val="600"/>
              </a:spcBef>
              <a:spcAft>
                <a:spcPts val="600"/>
              </a:spcAft>
              <a:buClr>
                <a:srgbClr val="28285E"/>
              </a:buClr>
              <a:buSzPts val="1260"/>
              <a:buFont typeface="Fira Sans"/>
              <a:buChar char="●"/>
            </a:pPr>
            <a:r>
              <a:rPr sz="1400" b="1" dirty="0">
                <a:solidFill>
                  <a:schemeClr val="tx1"/>
                </a:solidFill>
              </a:rPr>
              <a:t>The validator is the only exit. </a:t>
            </a:r>
            <a:r>
              <a:rPr sz="1400" dirty="0">
                <a:solidFill>
                  <a:schemeClr val="tx1"/>
                </a:solidFill>
              </a:rPr>
              <a:t>It is the one node that can end a run accepted, and it is handed a patch that has already passed everything mechanical.</a:t>
            </a:r>
          </a:p>
        </p:txBody>
      </p:sp>
      <p:sp>
        <p:nvSpPr>
          <p:cNvPr id="4" name="Rectangle 3"/>
          <p:cNvSpPr/>
          <p:nvPr/>
        </p:nvSpPr>
        <p:spPr>
          <a:xfrm>
            <a:off x="319251" y="699999"/>
            <a:ext cx="6014545" cy="768315"/>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Acceptance is decoupled from the controller already, because </a:t>
            </a:r>
            <a:r>
              <a:rPr sz="1400" b="1" u="sng" dirty="0">
                <a:latin typeface="Maple Mono NF"/>
              </a:rPr>
              <a:t>submit</a:t>
            </a:r>
            <a:r>
              <a:rPr sz="1400" b="1" u="sng" dirty="0">
                <a:solidFill>
                  <a:schemeClr val="tx2"/>
                </a:solidFill>
              </a:rPr>
              <a:t> runs three mechanical checks</a:t>
            </a:r>
            <a:r>
              <a:rPr sz="1400" dirty="0">
                <a:solidFill>
                  <a:schemeClr val="tx2"/>
                </a:solidFill>
              </a:rPr>
              <a:t> that no model writes. What changes here is that </a:t>
            </a:r>
            <a:r>
              <a:rPr sz="1400" b="1" u="sng" dirty="0">
                <a:latin typeface="Maple Mono NF"/>
              </a:rPr>
              <a:t>submit</a:t>
            </a:r>
            <a:r>
              <a:rPr sz="1400" b="1" u="sng" dirty="0">
                <a:solidFill>
                  <a:schemeClr val="tx2"/>
                </a:solidFill>
              </a:rPr>
              <a:t> can no longer accept</a:t>
            </a:r>
            <a:r>
              <a:rPr sz="1400" dirty="0">
                <a:solidFill>
                  <a:schemeClr val="tx2"/>
                </a:solidFill>
              </a:rPr>
              <a:t>.</a:t>
            </a:r>
          </a:p>
        </p:txBody>
      </p:sp>
      <p:sp>
        <p:nvSpPr>
          <p:cNvPr id="5" name="TextBox 4"/>
          <p:cNvSpPr txBox="1"/>
          <p:nvPr/>
        </p:nvSpPr>
        <p:spPr>
          <a:xfrm>
            <a:off x="319251" y="1660000"/>
            <a:ext cx="6014545" cy="200000"/>
          </a:xfrm>
          <a:prstGeom prst="rect">
            <a:avLst/>
          </a:prstGeom>
          <a:noFill/>
        </p:spPr>
        <p:txBody>
          <a:bodyPr wrap="none">
            <a:spAutoFit/>
          </a:bodyPr>
          <a:lstStyle/>
          <a:p>
            <a:r>
              <a:rPr sz="1200" b="1">
                <a:solidFill>
                  <a:srgbClr val="28285E"/>
                </a:solidFill>
                <a:latin typeface="Maple Mono NF"/>
              </a:rPr>
              <a:t>graph.py, after_submit</a:t>
            </a:r>
          </a:p>
        </p:txBody>
      </p:sp>
      <p:sp>
        <p:nvSpPr>
          <p:cNvPr id="6" name="Rounded Rectangle 5"/>
          <p:cNvSpPr/>
          <p:nvPr/>
        </p:nvSpPr>
        <p:spPr>
          <a:xfrm>
            <a:off x="319251" y="192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return </a:t>
            </a:r>
            <a:r>
              <a:rPr sz="1100" b="1">
                <a:solidFill>
                  <a:srgbClr val="099191"/>
                </a:solidFill>
                <a:latin typeface="Maple Mono NF"/>
              </a:rPr>
              <a:t>"validate"</a:t>
            </a:r>
            <a:r>
              <a:rPr sz="1100">
                <a:solidFill>
                  <a:srgbClr val="28285E"/>
                </a:solidFill>
                <a:latin typeface="Maple Mono NF"/>
              </a:rPr>
              <a:t> if checks.passed else "controller"</a:t>
            </a:r>
          </a:p>
        </p:txBody>
      </p:sp>
      <p:sp>
        <p:nvSpPr>
          <p:cNvPr id="7" name="TextBox 6">
            <a:extLst>
              <a:ext uri="{FF2B5EF4-FFF2-40B4-BE49-F238E27FC236}">
                <a16:creationId xmlns:a16="http://schemas.microsoft.com/office/drawing/2014/main" id="{DE89E9DB-2438-B99D-A84A-A2191191E2AA}"/>
              </a:ext>
            </a:extLst>
          </p:cNvPr>
          <p:cNvSpPr txBox="1"/>
          <p:nvPr/>
        </p:nvSpPr>
        <p:spPr>
          <a:xfrm>
            <a:off x="2031023" y="4826977"/>
            <a:ext cx="4700326" cy="307777"/>
          </a:xfrm>
          <a:prstGeom prst="rect">
            <a:avLst/>
          </a:prstGeom>
          <a:noFill/>
        </p:spPr>
        <p:txBody>
          <a:bodyPr wrap="none" rtlCol="0">
            <a:spAutoFit/>
          </a:bodyPr>
          <a:lstStyle/>
          <a:p>
            <a:r>
              <a:rPr lang="en-US" dirty="0">
                <a:latin typeface="+mn-lt"/>
              </a:rPr>
              <a:t>See: lec2_planning_and_validation_agent/graph.py:433</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validator never sees the conversation</a:t>
            </a:r>
          </a:p>
        </p:txBody>
      </p:sp>
      <p:sp>
        <p:nvSpPr>
          <p:cNvPr id="3" name="Content Placeholder 2"/>
          <p:cNvSpPr>
            <a:spLocks noGrp="1"/>
          </p:cNvSpPr>
          <p:nvPr>
            <p:ph idx="1"/>
          </p:nvPr>
        </p:nvSpPr>
        <p:spPr>
          <a:xfrm>
            <a:off x="319251" y="760000"/>
            <a:ext cx="6014545" cy="2400000"/>
          </a:xfrm>
        </p:spPr>
        <p:txBody>
          <a:bodyPr wrap="square">
            <a:normAutofit fontScale="92500"/>
          </a:bodyPr>
          <a:lstStyle/>
          <a:p>
            <a:pPr marL="0" indent="0">
              <a:buNone/>
            </a:pPr>
            <a:r>
              <a:rPr sz="1400" b="1" dirty="0">
                <a:solidFill>
                  <a:srgbClr val="28285E"/>
                </a:solidFill>
              </a:rPr>
              <a:t>The validator sees four things</a:t>
            </a:r>
            <a:r>
              <a:rPr lang="en-US" sz="1400" b="1" dirty="0">
                <a:solidFill>
                  <a:srgbClr val="28285E"/>
                </a:solidFill>
              </a:rPr>
              <a:t>:</a:t>
            </a:r>
          </a:p>
          <a:p>
            <a:pPr marL="400050" indent="-285750">
              <a:spcBef>
                <a:spcPts val="600"/>
              </a:spcBef>
              <a:spcAft>
                <a:spcPts val="600"/>
              </a:spcAft>
              <a:buClr>
                <a:srgbClr val="28285E"/>
              </a:buClr>
              <a:buSzPts val="1260"/>
              <a:buFont typeface="Fira Sans"/>
              <a:buChar char="●"/>
            </a:pPr>
            <a:r>
              <a:rPr lang="en-US" sz="1400" b="1" dirty="0">
                <a:solidFill>
                  <a:schemeClr val="tx1"/>
                </a:solidFill>
              </a:rPr>
              <a:t>It reads the alert, the patch, and the three check results. </a:t>
            </a:r>
            <a:r>
              <a:rPr lang="en-US" sz="1400" dirty="0">
                <a:solidFill>
                  <a:schemeClr val="tx1"/>
                </a:solidFill>
              </a:rPr>
              <a:t>Those are what a reviewer would be given.</a:t>
            </a:r>
          </a:p>
          <a:p>
            <a:pPr marL="400050" indent="-285750">
              <a:spcBef>
                <a:spcPts val="600"/>
              </a:spcBef>
              <a:spcAft>
                <a:spcPts val="600"/>
              </a:spcAft>
              <a:buClr>
                <a:srgbClr val="28285E"/>
              </a:buClr>
              <a:buSzPts val="1260"/>
              <a:buFont typeface="Fira Sans"/>
              <a:buChar char="●"/>
            </a:pPr>
            <a:r>
              <a:rPr sz="1400" b="1" dirty="0">
                <a:solidFill>
                  <a:schemeClr val="tx1"/>
                </a:solidFill>
              </a:rPr>
              <a:t>It reads the observations. </a:t>
            </a:r>
            <a:r>
              <a:rPr sz="1400" dirty="0">
                <a:solidFill>
                  <a:schemeClr val="tx1"/>
                </a:solidFill>
              </a:rPr>
              <a:t>That is the trajectory the runtime recorded: what the tools actually returned.</a:t>
            </a:r>
          </a:p>
          <a:p>
            <a:pPr marL="400050" indent="-285750">
              <a:spcBef>
                <a:spcPts val="600"/>
              </a:spcBef>
              <a:spcAft>
                <a:spcPts val="600"/>
              </a:spcAft>
              <a:buClr>
                <a:srgbClr val="28285E"/>
              </a:buClr>
              <a:buSzPts val="1260"/>
              <a:buFont typeface="Fira Sans"/>
              <a:buChar char="●"/>
            </a:pPr>
            <a:r>
              <a:rPr sz="1400" b="1" dirty="0">
                <a:solidFill>
                  <a:schemeClr val="tx1"/>
                </a:solidFill>
              </a:rPr>
              <a:t>It never reads the messages. </a:t>
            </a:r>
            <a:r>
              <a:rPr sz="1400" dirty="0">
                <a:solidFill>
                  <a:schemeClr val="tx1"/>
                </a:solidFill>
              </a:rPr>
              <a:t>The conversation is what </a:t>
            </a:r>
            <a:r>
              <a:rPr sz="1400" b="1" dirty="0">
                <a:solidFill>
                  <a:schemeClr val="tx1"/>
                </a:solidFill>
              </a:rPr>
              <a:t>the model said about the evidence, and it is kept away from the judge on purpose</a:t>
            </a:r>
            <a:r>
              <a:rPr sz="1400" dirty="0">
                <a:solidFill>
                  <a:schemeClr val="tx1"/>
                </a:solidFill>
              </a:rPr>
              <a:t>.</a:t>
            </a:r>
          </a:p>
        </p:txBody>
      </p:sp>
      <p:sp>
        <p:nvSpPr>
          <p:cNvPr id="4" name="Rectangle 3"/>
          <p:cNvSpPr/>
          <p:nvPr/>
        </p:nvSpPr>
        <p:spPr>
          <a:xfrm>
            <a:off x="319251" y="34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rgbClr val="28285E"/>
                </a:solidFill>
              </a:rPr>
              <a:t>A judge </a:t>
            </a:r>
            <a:r>
              <a:rPr lang="en-US" sz="1200" b="0" dirty="0">
                <a:solidFill>
                  <a:srgbClr val="28285E"/>
                </a:solidFill>
              </a:rPr>
              <a:t>shouldn't take the </a:t>
            </a:r>
            <a:r>
              <a:rPr sz="1200" b="0" dirty="0">
                <a:solidFill>
                  <a:srgbClr val="28285E"/>
                </a:solidFill>
              </a:rPr>
              <a:t>defendant's account of the evidence.</a:t>
            </a:r>
            <a:r>
              <a:rPr lang="en-US" sz="1200" b="0" dirty="0">
                <a:solidFill>
                  <a:srgbClr val="28285E"/>
                </a:solidFill>
              </a:rPr>
              <a:t> So the judge judges impartially.</a:t>
            </a:r>
            <a:endParaRPr sz="1200" b="0" dirty="0">
              <a:solidFill>
                <a:srgbClr val="28285E"/>
              </a:solidFill>
            </a:endParaRPr>
          </a:p>
        </p:txBody>
      </p:sp>
      <p:sp>
        <p:nvSpPr>
          <p:cNvPr id="5" name="TextBox 4"/>
          <p:cNvSpPr txBox="1"/>
          <p:nvPr/>
        </p:nvSpPr>
        <p:spPr>
          <a:xfrm>
            <a:off x="2433796" y="3980000"/>
            <a:ext cx="3900000" cy="253916"/>
          </a:xfrm>
          <a:prstGeom prst="rect">
            <a:avLst/>
          </a:prstGeom>
          <a:noFill/>
        </p:spPr>
        <p:txBody>
          <a:bodyPr wrap="none">
            <a:spAutoFit/>
          </a:bodyPr>
          <a:lstStyle/>
          <a:p>
            <a:pPr algn="r"/>
            <a:r>
              <a:rPr sz="1050" i="1">
                <a:solidFill>
                  <a:schemeClr val="bg2"/>
                </a:solidFill>
              </a:rPr>
              <a:t>the demo's own comment, graph.py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Self-review, measured: accuracy and cost</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done</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Accuracy</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Model calls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call,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95.5%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reviews itself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The model reviews itself twice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89.0%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3, Huang et al., ICLR 2024: GPT-4 on a grade-school maths benchmark</a:t>
            </a:r>
          </a:p>
        </p:txBody>
      </p:sp>
      <p:sp>
        <p:nvSpPr>
          <p:cNvPr id="5" name="Rectangle 4"/>
          <p:cNvSpPr/>
          <p:nvPr/>
        </p:nvSpPr>
        <p:spPr>
          <a:xfrm>
            <a:off x="1888761" y="387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Accuracy fell and the bill went up </a:t>
            </a:r>
            <a:r>
              <a:rPr sz="1200" b="1">
                <a:solidFill>
                  <a:schemeClr val="tx2"/>
                </a:solidFill>
              </a:rPr>
              <a:t>five times over</a:t>
            </a:r>
            <a:r>
              <a:rPr sz="1200" b="0">
                <a:solidFill>
                  <a:schemeClr val="tx2"/>
                </a:solidFill>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verifier against sound verifier</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good enough</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Graph colouring</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Game of 24</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attempt,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that produced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 verifier that is always right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1, Stechly et al., ICLR 2025: 100 instances per domain</a:t>
            </a:r>
          </a:p>
        </p:txBody>
      </p:sp>
      <p:sp>
        <p:nvSpPr>
          <p:cNvPr id="5" name="Rectangle 4"/>
          <p:cNvSpPr/>
          <p:nvPr/>
        </p:nvSpPr>
        <p:spPr>
          <a:xfrm>
            <a:off x="1888761" y="3500000"/>
            <a:ext cx="4445035" cy="6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Our rescan is a program, but it is </a:t>
            </a:r>
            <a:r>
              <a:rPr sz="1200" b="1">
                <a:solidFill>
                  <a:schemeClr val="tx2"/>
                </a:solidFill>
              </a:rPr>
              <a:t>not always right</a:t>
            </a:r>
            <a:r>
              <a:rPr sz="1200" b="0">
                <a:solidFill>
                  <a:schemeClr val="tx2"/>
                </a:solidFill>
              </a:rPr>
              <a:t>: a renamed expression clears the alert and leaves the weakness.</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3339</TotalTime>
  <Words>11578</Words>
  <Application>Microsoft Macintosh PowerPoint</Application>
  <PresentationFormat>Custom</PresentationFormat>
  <Paragraphs>781</Paragraphs>
  <Slides>70</Slides>
  <Notes>60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Fira Sans Light</vt:lpstr>
      <vt:lpstr>Fira Sans</vt:lpstr>
      <vt:lpstr>Maple Mono NF</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A sample realization of a workflow</vt:lpstr>
      <vt:lpstr>Agentless and SWE-agent</vt:lpstr>
      <vt:lpstr>Grains of salt</vt:lpstr>
      <vt:lpstr>PowerPoint Presentation</vt:lpstr>
      <vt:lpstr>A reactive loop</vt:lpstr>
      <vt:lpstr>The graph our first demo compiles</vt:lpstr>
      <vt:lpstr>The graph, in code: the nodes</vt:lpstr>
      <vt:lpstr>Then the edges</vt:lpstr>
      <vt:lpstr>And the conditional ones</vt:lpstr>
      <vt:lpstr>Then compile</vt:lpstr>
      <vt:lpstr>Who picks the edge</vt:lpstr>
      <vt:lpstr>One row moves</vt:lpstr>
      <vt:lpstr>What the loop buys</vt:lpstr>
      <vt:lpstr>What it costs</vt:lpstr>
      <vt:lpstr>Where the failures live</vt:lpstr>
      <vt:lpstr>Three shapes of failure</vt:lpstr>
      <vt:lpstr>The stops are ours</vt:lpstr>
      <vt:lpstr>Demo &lt;/&gt;</vt:lpstr>
      <vt:lpstr>Some samples from our run</vt:lpstr>
      <vt:lpstr>PowerPoint Presentation</vt:lpstr>
      <vt:lpstr>Challenges with React Loop</vt:lpstr>
      <vt:lpstr>What each shape does with an observation</vt:lpstr>
      <vt:lpstr>Shapes of Planning</vt:lpstr>
      <vt:lpstr>The graph our planner-based demo compiles</vt:lpstr>
      <vt:lpstr>The new nodes in our planner-based demo</vt:lpstr>
      <vt:lpstr>The edge from tools now has two destinations</vt:lpstr>
      <vt:lpstr>How the runtime decides the plan has failed</vt:lpstr>
      <vt:lpstr>What a planner changes compared to a react</vt:lpstr>
      <vt:lpstr>What a planner changes compared to a react</vt:lpstr>
      <vt:lpstr>What one plan step records</vt:lpstr>
      <vt:lpstr>Where a run goes wrong</vt:lpstr>
      <vt:lpstr>Where a run goes wrong</vt:lpstr>
      <vt:lpstr>Why wider search does not fix myopia</vt:lpstr>
      <vt:lpstr>Why submit can no longer accept a patch</vt:lpstr>
      <vt:lpstr>Why the validator never sees the conversation</vt:lpstr>
      <vt:lpstr>Self-review, measured: accuracy and cost</vt:lpstr>
      <vt:lpstr>Model verifier against sound verifier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113</cp:revision>
  <dcterms:modified xsi:type="dcterms:W3CDTF">2026-09-18T15:29:40Z</dcterms:modified>
</cp:coreProperties>
</file>
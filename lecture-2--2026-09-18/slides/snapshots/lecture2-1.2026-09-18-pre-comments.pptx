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55_0.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omments/modernComment_178_0.xml" ContentType="application/vnd.ms-powerpoint.comments+xml"/>
  <Override PartName="/ppt/notesSlides/notesSlide45.xml" ContentType="application/vnd.openxmlformats-officedocument.presentationml.notesSlide+xml"/>
  <Override PartName="/ppt/comments/modernComment_17F_0.xml" ContentType="application/vnd.ms-powerpoint.comment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omments/modernComment_18E_8EDF1BB8.xml" ContentType="application/vnd.ms-powerpoint.comments+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comments/modernComment_18D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2"/>
  </p:notesMasterIdLst>
  <p:sldIdLst>
    <p:sldId id="256" r:id="rId2"/>
    <p:sldId id="332" r:id="rId3"/>
    <p:sldId id="259" r:id="rId4"/>
    <p:sldId id="266" r:id="rId5"/>
    <p:sldId id="334" r:id="rId6"/>
    <p:sldId id="333" r:id="rId7"/>
    <p:sldId id="288" r:id="rId8"/>
    <p:sldId id="336" r:id="rId9"/>
    <p:sldId id="335" r:id="rId10"/>
    <p:sldId id="293" r:id="rId11"/>
    <p:sldId id="337" r:id="rId12"/>
    <p:sldId id="338" r:id="rId13"/>
    <p:sldId id="339" r:id="rId14"/>
    <p:sldId id="340" r:id="rId15"/>
    <p:sldId id="341" r:id="rId16"/>
    <p:sldId id="342" r:id="rId17"/>
    <p:sldId id="343" r:id="rId18"/>
    <p:sldId id="344" r:id="rId19"/>
    <p:sldId id="345" r:id="rId20"/>
    <p:sldId id="346" r:id="rId21"/>
    <p:sldId id="347" r:id="rId22"/>
    <p:sldId id="348" r:id="rId23"/>
    <p:sldId id="349" r:id="rId24"/>
    <p:sldId id="350" r:id="rId25"/>
    <p:sldId id="362" r:id="rId26"/>
    <p:sldId id="364" r:id="rId27"/>
    <p:sldId id="352" r:id="rId28"/>
    <p:sldId id="353" r:id="rId29"/>
    <p:sldId id="355" r:id="rId30"/>
    <p:sldId id="354" r:id="rId31"/>
    <p:sldId id="356" r:id="rId32"/>
    <p:sldId id="357" r:id="rId33"/>
    <p:sldId id="358" r:id="rId34"/>
    <p:sldId id="359" r:id="rId35"/>
    <p:sldId id="360" r:id="rId36"/>
    <p:sldId id="361" r:id="rId37"/>
    <p:sldId id="365" r:id="rId38"/>
    <p:sldId id="366" r:id="rId39"/>
    <p:sldId id="367" r:id="rId40"/>
    <p:sldId id="368" r:id="rId41"/>
    <p:sldId id="378" r:id="rId42"/>
    <p:sldId id="379" r:id="rId43"/>
    <p:sldId id="380" r:id="rId44"/>
    <p:sldId id="369" r:id="rId45"/>
    <p:sldId id="370" r:id="rId46"/>
    <p:sldId id="371" r:id="rId47"/>
    <p:sldId id="372" r:id="rId48"/>
    <p:sldId id="373" r:id="rId49"/>
    <p:sldId id="374" r:id="rId50"/>
    <p:sldId id="375" r:id="rId51"/>
    <p:sldId id="381" r:id="rId52"/>
    <p:sldId id="377" r:id="rId53"/>
    <p:sldId id="382" r:id="rId54"/>
    <p:sldId id="376" r:id="rId55"/>
    <p:sldId id="383" r:id="rId56"/>
    <p:sldId id="384" r:id="rId57"/>
    <p:sldId id="385" r:id="rId58"/>
    <p:sldId id="386" r:id="rId59"/>
    <p:sldId id="387" r:id="rId60"/>
    <p:sldId id="388" r:id="rId61"/>
    <p:sldId id="389" r:id="rId62"/>
    <p:sldId id="390" r:id="rId63"/>
    <p:sldId id="391" r:id="rId64"/>
    <p:sldId id="398" r:id="rId65"/>
    <p:sldId id="392" r:id="rId66"/>
    <p:sldId id="393" r:id="rId67"/>
    <p:sldId id="394" r:id="rId68"/>
    <p:sldId id="395" r:id="rId69"/>
    <p:sldId id="396" r:id="rId70"/>
    <p:sldId id="397" r:id="rId71"/>
  </p:sldIdLst>
  <p:sldSz cx="6858000" cy="5143500"/>
  <p:notesSz cx="6858000" cy="9144000"/>
  <p:embeddedFontLst>
    <p:embeddedFont>
      <p:font typeface="Fira Sans" panose="020B0503050000020004" pitchFamily="34" charset="0"/>
      <p:regular r:id="rId73"/>
      <p:bold r:id="rId74"/>
      <p:italic r:id="rId75"/>
      <p:boldItalic r:id="rId76"/>
    </p:embeddedFont>
    <p:embeddedFont>
      <p:font typeface="Fira Sans Light" panose="020B0403050000020004" pitchFamily="34" charset="0"/>
      <p:regular r:id="rId77"/>
      <p:italic r:id="rId78"/>
    </p:embeddedFont>
    <p:embeddedFont>
      <p:font typeface="Maple Mono NF" panose="020F0509060000000000" pitchFamily="49" charset="0"/>
      <p:regular r:id="rId79"/>
      <p:bold r:id="rId80"/>
      <p:italic r:id="rId81"/>
      <p:boldItalic r:id="rId8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332"/>
            <p14:sldId id="259"/>
            <p14:sldId id="266"/>
            <p14:sldId id="334"/>
            <p14:sldId id="333"/>
            <p14:sldId id="288"/>
            <p14:sldId id="336"/>
            <p14:sldId id="335"/>
            <p14:sldId id="293"/>
            <p14:sldId id="337"/>
            <p14:sldId id="338"/>
            <p14:sldId id="339"/>
            <p14:sldId id="340"/>
            <p14:sldId id="341"/>
            <p14:sldId id="342"/>
            <p14:sldId id="343"/>
            <p14:sldId id="344"/>
            <p14:sldId id="345"/>
            <p14:sldId id="346"/>
            <p14:sldId id="347"/>
            <p14:sldId id="348"/>
            <p14:sldId id="349"/>
            <p14:sldId id="350"/>
            <p14:sldId id="362"/>
            <p14:sldId id="364"/>
            <p14:sldId id="352"/>
            <p14:sldId id="353"/>
            <p14:sldId id="355"/>
            <p14:sldId id="354"/>
            <p14:sldId id="356"/>
            <p14:sldId id="357"/>
            <p14:sldId id="358"/>
            <p14:sldId id="359"/>
            <p14:sldId id="360"/>
            <p14:sldId id="361"/>
            <p14:sldId id="365"/>
            <p14:sldId id="366"/>
            <p14:sldId id="367"/>
            <p14:sldId id="368"/>
            <p14:sldId id="378"/>
            <p14:sldId id="379"/>
            <p14:sldId id="380"/>
            <p14:sldId id="369"/>
            <p14:sldId id="370"/>
            <p14:sldId id="371"/>
            <p14:sldId id="372"/>
            <p14:sldId id="373"/>
            <p14:sldId id="374"/>
            <p14:sldId id="375"/>
            <p14:sldId id="381"/>
            <p14:sldId id="377"/>
            <p14:sldId id="382"/>
            <p14:sldId id="376"/>
            <p14:sldId id="383"/>
            <p14:sldId id="384"/>
            <p14:sldId id="385"/>
            <p14:sldId id="386"/>
            <p14:sldId id="387"/>
            <p14:sldId id="388"/>
            <p14:sldId id="389"/>
            <p14:sldId id="390"/>
            <p14:sldId id="391"/>
            <p14:sldId id="398"/>
            <p14:sldId id="392"/>
            <p14:sldId id="393"/>
            <p14:sldId id="394"/>
            <p14:sldId id="395"/>
            <p14:sldId id="396"/>
            <p14:sldId id="397"/>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F72F71-1B05-876B-1723-EC4BFB4CF1F1}" name="Rahul Krishna" initials="RK" userId="1aea23c7798fb8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059"/>
    <p:restoredTop sz="98401"/>
  </p:normalViewPr>
  <p:slideViewPr>
    <p:cSldViewPr snapToGrid="0">
      <p:cViewPr varScale="1">
        <p:scale>
          <a:sx n="290" d="100"/>
          <a:sy n="290" d="100"/>
        </p:scale>
        <p:origin x="184" y="1280"/>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2.fntdata"/><Relationship Id="rId79" Type="http://schemas.openxmlformats.org/officeDocument/2006/relationships/font" Target="fonts/font7.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80" Type="http://schemas.openxmlformats.org/officeDocument/2006/relationships/font" Target="fonts/font8.fntdata"/><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3.fntdata"/><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1.fntdata"/><Relationship Id="rId78" Type="http://schemas.openxmlformats.org/officeDocument/2006/relationships/font" Target="fonts/font6.fntdata"/><Relationship Id="rId81" Type="http://schemas.openxmlformats.org/officeDocument/2006/relationships/font" Target="fonts/font9.fntdata"/><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microsoft.com/office/2018/10/relationships/authors" Target="authors.xml"/><Relationship Id="rId61" Type="http://schemas.openxmlformats.org/officeDocument/2006/relationships/slide" Target="slides/slide60.xml"/><Relationship Id="rId82" Type="http://schemas.openxmlformats.org/officeDocument/2006/relationships/font" Target="fonts/font10.fntdata"/></Relationships>
</file>

<file path=ppt/comments/modernComment_17F_0.xml><?xml version="1.0" encoding="utf-8"?>
<p188:cmLst xmlns:a="http://schemas.openxmlformats.org/drawingml/2006/main" xmlns:r="http://schemas.openxmlformats.org/officeDocument/2006/relationships" xmlns:p188="http://schemas.microsoft.com/office/powerpoint/2018/8/main">
  <p188:cm id="{CD9734C0-2FD2-E849-85F7-2F69C91F7D22}" authorId="{BBF72F71-1B05-876B-1723-EC4BFB4CF1F1}" created="2026-09-18T14:18:46.210">
    <pc:sldMkLst xmlns:pc="http://schemas.microsoft.com/office/powerpoint/2013/main/command">
      <pc:docMk/>
      <pc:sldMk cId="0" sldId="383"/>
    </pc:sldMkLst>
    <p188:txBody>
      <a:bodyPr/>
      <a:lstStyle/>
      <a:p>
        <a:r>
          <a:rPr lang="en-US"/>
          <a:t>Explain what these are before the slides. I have no way of knowing by just looking at it</a:t>
        </a:r>
      </a:p>
    </p188:txBody>
  </p188:cm>
</p188:cmLst>
</file>

<file path=ppt/comments/modernComment_18D_0.xml><?xml version="1.0" encoding="utf-8"?>
<p188:cmLst xmlns:a="http://schemas.openxmlformats.org/drawingml/2006/main" xmlns:r="http://schemas.openxmlformats.org/officeDocument/2006/relationships" xmlns:p188="http://schemas.microsoft.com/office/powerpoint/2018/8/main">
  <p188:cm id="{03A336D1-7B41-2240-A903-F219806FC342}" authorId="{BBF72F71-1B05-876B-1723-EC4BFB4CF1F1}" created="2026-09-18T14:45:38.499">
    <pc:sldMkLst xmlns:pc="http://schemas.microsoft.com/office/powerpoint/2013/main/command">
      <pc:docMk/>
      <pc:sldMk cId="0" sldId="397"/>
    </pc:sldMkLst>
    <p188:txBody>
      <a:bodyPr/>
      <a:lstStyle/>
      <a:p>
        <a:r>
          <a:rPr lang="en-US"/>
          <a:t>Hard to understand. What is this doing? Please visualize if needed</a:t>
        </a:r>
      </a:p>
    </p188:txBody>
  </p188:cm>
</p188:cmLst>
</file>

<file path=ppt/comments/modernComment_18E_8EDF1BB8.xml><?xml version="1.0" encoding="utf-8"?>
<p188:cmLst xmlns:a="http://schemas.openxmlformats.org/drawingml/2006/main" xmlns:r="http://schemas.openxmlformats.org/officeDocument/2006/relationships" xmlns:p188="http://schemas.microsoft.com/office/powerpoint/2018/8/main">
  <p188:cm id="{45DCA36F-5FDE-4640-A92C-8F4961635510}" authorId="{BBF72F71-1B05-876B-1723-EC4BFB4CF1F1}" created="2026-09-18T14:33:31.262">
    <ac:txMkLst xmlns:ac="http://schemas.microsoft.com/office/drawing/2013/main/command">
      <pc:docMk xmlns:pc="http://schemas.microsoft.com/office/powerpoint/2013/main/command"/>
      <pc:sldMk xmlns:pc="http://schemas.microsoft.com/office/powerpoint/2013/main/command" cId="2396986296" sldId="398"/>
      <ac:spMk id="5" creationId="{8C5AF8AC-0C2A-E0CF-9DD7-D7F19410D774}"/>
      <ac:txMk cp="0" len="96">
        <ac:context len="97" hash="866637486"/>
      </ac:txMk>
    </ac:txMkLst>
    <p188:pos x="4296627" y="191031"/>
    <p188:txBody>
      <a:bodyPr/>
      <a:lstStyle/>
      <a:p>
        <a:r>
          <a:rPr lang="en-US"/>
          <a:t>Update this match how lookahead with value propagation helps</a:t>
        </a:r>
      </a:p>
    </p188:txBody>
  </p188:cm>
</p188:cmLst>
</file>

<file path=ppt/comments/modernComment_155_0.xml><?xml version="1.0" encoding="utf-8"?>
<p188:cmLst xmlns:a="http://schemas.openxmlformats.org/drawingml/2006/main" xmlns:r="http://schemas.openxmlformats.org/officeDocument/2006/relationships" xmlns:p188="http://schemas.microsoft.com/office/powerpoint/2018/8/main">
  <p188:cm id="{60000E52-6B10-8542-AE63-F9128E3BAFD3}" authorId="{BBF72F71-1B05-876B-1723-EC4BFB4CF1F1}" created="2026-09-17T09:32:05.091">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246" len="154">
        <ac:context len="509" hash="706592031"/>
      </ac:txMk>
    </ac:txMkLst>
    <p188:pos x="5909533" y="1496206"/>
    <p188:txBody>
      <a:bodyPr/>
      <a:lstStyle/>
      <a:p>
        <a:r>
          <a:rPr lang="en-US"/>
          <a:t>Make no sense?</a:t>
        </a:r>
      </a:p>
    </p188:txBody>
  </p188:cm>
  <p188:cm id="{1CDA764E-8499-0A4B-9B3C-78E025FCA5DE}" authorId="{BBF72F71-1B05-876B-1723-EC4BFB4CF1F1}" created="2026-09-17T09:35:26.286">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58" len="450">
        <ac:context len="509" hash="706592031"/>
      </ac:txMk>
    </ac:txMkLst>
    <p188:pos x="5894937" y="541404"/>
    <p188:txBody>
      <a:bodyPr/>
      <a:lstStyle/>
      <a:p>
        <a:r>
          <a:rPr lang="en-US"/>
          <a:t>In magenta, add (when does this become relavant)</a:t>
        </a:r>
      </a:p>
    </p188:txBody>
  </p188:cm>
</p188:cmLst>
</file>

<file path=ppt/comments/modernComment_178_0.xml><?xml version="1.0" encoding="utf-8"?>
<p188:cmLst xmlns:a="http://schemas.openxmlformats.org/drawingml/2006/main" xmlns:r="http://schemas.openxmlformats.org/officeDocument/2006/relationships" xmlns:p188="http://schemas.microsoft.com/office/powerpoint/2018/8/main">
  <p188:cm id="{0D807121-70ED-624B-9EBB-5CCF6A5220A8}" authorId="{BBF72F71-1B05-876B-1723-EC4BFB4CF1F1}" created="2026-09-18T14:08:19.270">
    <ac:txMkLst xmlns:ac="http://schemas.microsoft.com/office/drawing/2013/main/command">
      <pc:docMk xmlns:pc="http://schemas.microsoft.com/office/powerpoint/2013/main/command"/>
      <pc:sldMk xmlns:pc="http://schemas.microsoft.com/office/powerpoint/2013/main/command" cId="0" sldId="376"/>
      <ac:spMk id="3" creationId="{00000000-0000-0000-0000-000000000000}"/>
      <ac:txMk cp="63" len="118">
        <ac:context len="422" hash="989357155"/>
      </ac:txMk>
    </ac:txMkLst>
    <p188:pos x="5804027" y="430074"/>
    <p188:txBody>
      <a:bodyPr/>
      <a:lstStyle/>
      <a:p>
        <a:r>
          <a:rPr lang="en-US"/>
          <a:t>Explain better</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r>
              <a:rPr dirty="0"/>
              <a:t>[40s] Course number, title, term. Say the room and the slot: Fridays 2:10 to 4:00, Hamilton 303, September 11 through December 11. Do not read the syllabus yet.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whole agent, as a state machine. Three states and five transitions. The controller decides the next action; a tool executes it and hands back an observation; the controller can instead ask to submit, and the run ends only when that submission is accepted. Read the labels as event, then condition in brackets. Every architecture in the rest of this block is a change to this machine: a new state, a new edge, or a different component deciding.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alert points at line 46, where the query is built by interpolating a request value. The agent reads the region, edits two lines, and submits. The patch puts a placeholder in the query text and binds the value when the query runs, so the value can no longer change the shape of the statement. Two lines, one file, and the whole run is six exchanges.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Rationality is not a property of the program alone. It is a property of the program against a measure, prior knowledge, an action set, and a percept sequence. Say the four out loud, and the claim becomes checkable. The agent reads before it edits because looking is how it maximizes expected performance.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Write the task down before you design the program. The four slots are the whole specification: what counts as success, what world the agent acts in, what it can do, and what it can see. Everything later in the block is a choice about the program, not about these four.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Fully or partially observable. Read the two definitions, then the blue box: that is where our agent sits, and why. Only the first property makes this task hard; the rest are the easy end.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Single agent or multiagent. Read the two definitions, then the blue box: that is where our agent sits, and why. Only the first property makes this task hard; the rest are the easy end.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Deterministic or nondeterministic. Read the two definitions, then the blue box: that is where our agent sits, and why. Only the first property makes this task hard; the rest are the easy end.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Episodic or sequential. Read the two definitions, then the blue box: that is where our agent sits, and why. Only the first property makes this task hard; the rest are the easy end.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Static or dynamic. Read the two definitions, then the blue box: that is where our agent sits, and why. Only the first property makes this task hard; the rest are the easy end.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Discrete or continuous. Read the two definitions, then the blue box: that is where our agent sits, and why. Only the first property makes this task hard; the rest are the easy end.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Known or unknown. Read the two definitions, then the blue box: that is where our agent sits, and why. Only the first property makes this task hard; the rest are the easy end.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state machine, with three things added. The dashed box says the agent runs inside an environment, which here is the working tree and the alert. The tool node is split into one box per tool, reached by dotted lines, because the controller asks for a tool by name. And each pink label names a row of the vocabulary table, so you can point at the picture and read the row: environment, agent program, working state, actions, percepts, architecture, performance measure. Note what the picture makes obvious: the tools are the only way the program reaches the environment, and the run ends only through Submit.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2CFAC-D5EF-6213-9248-C3FF0FF58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60901-CECA-E8F6-9E7F-FE31BE9D50F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CC8FA8DD-EFAD-35FE-D4BC-27874965273B}"/>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2950887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word to hold on to is control. Not which file to patch, not what the patch says — the model still decides those. Control is which operation runs next, how many times we call the model, and what ends the run. In a fixed workflow all of that is written before the program sees a task, and no model output can change it. The strip is the price: everything the program knows about this task, we put there. That is legitimate engineering, and it is also exactly what the rest of the lecture spends, one decision at a time.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5B46A-E1D2-A77B-7D4B-21EE12648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5B3E9-E404-AF4D-7041-743880B3D24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78D6366-A8EC-4CD0-ACD8-58F49B6BE64E}"/>
              </a:ext>
            </a:extLst>
          </p:cNvPr>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extLst>
      <p:ext uri="{BB962C8B-B14F-4D97-AF65-F5344CB8AC3E}">
        <p14:creationId xmlns:p14="http://schemas.microsoft.com/office/powerpoint/2010/main" val="22271191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CAD1E-B921-0F9E-829C-F6C5E82E4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AA891-FB8D-2D34-73A8-5D514FA97223}"/>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B91C000-9D5B-C82A-BA26-80279B4ACC96}"/>
              </a:ext>
            </a:extLst>
          </p:cNvPr>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extLst>
      <p:ext uri="{BB962C8B-B14F-4D97-AF65-F5344CB8AC3E}">
        <p14:creationId xmlns:p14="http://schemas.microsoft.com/office/powerpoint/2010/main" val="8166786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part that outlives the lecture. Almost nothing we build will be all fixed or all open. HW1 is the example: its intake stage is a fixed chain, and its investigation loop is not. The reason to know which is which is not tidiness, it is that four hard engineering problems get their answer from the fixed part. A budget can be priced where the calls are ours and only reserved where they are not. A checkpoint needs named artifacts to write and to resume from, and a stage boundary is where those exist. A transaction needs to know the sequence before it can say where to commit and what to roll back. And concurrency needs a stage to declare what it reads and writes before anything can safely run beside it. Every one of those is harder in the open part, which is the bill the rest of the lecture runs up.</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bill for the three properties on the last slide. A fixed workflow is rational exactly while our prior knowledge holds, and the failure is specific: when that knowledge is partial, nothing notices. There is no representation of what the program does not know. Our environment is partially observable, so a rational agent acts in order to see, and a fixed workflow does act to see. It just does its looking on a schedule we wrote before we knew what the looking would return. If the value the patch depends on comes from a helper the alert never named, there is no node in which to ask for it. The chain does not stall and it does not report a gap. It writes the patch, and the checks pass.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published system with exactly this shape, and not a toy: it resolved more SWE-bench Lite issues than any open-source agent of its day. Read the three phases left to right. Localization narrows three times, and each step gets a smaller input than the last: names only, then headers without bodies, then the source of just those elements. The model ranks and selects at every step and never asks for something the step did not hand it. Repair samples forty candidates in a search and replace format, so the model returns the block and the runtime writes the file. Then patch validation. Acceptance is a test outcome and a vote, not the model's opinion of its own work, so the thing that proposes a patch is not the thing that accepts one.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pair comes closest to isolating control structure: hold the model fixed, change who decides what runs next. Read the numbers off the table, then the caveat. The two systems differ in more than their control structure, so this is the strongest available comparison, not an experiment. Two more limits worth saying out loud: Agentless did not lead the full leaderboard, and several closed-source systems scored higher while publishing neither code nor trajectories; and SWE-bench Lite has known problems, including issue descriptions that contain the developer's own patch. That last one is why we strip the answer key out of our own fixture.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 all of it with a grain of salt, and say why out loud, because this is the habit the course is trying to build. Two limits. Agentless did not lead the full leaderboard: several closed-source systems scored higher, and the highest resolved 129 of the 300. Those systems released neither code nor execution trajectories, so there is no way to examine how their control structure contributed, which is the only thing we are trying to learn from the comparison. Second, the benchmark itself leaks. One issue description in twenty-three contains the developer's own patch. A filtered subset of 249 problems exists for exactly that reason. And that leakage is not somebody else's problem: our own fixture ships its expected results next to the test cases, so we strip them before the agent ever sees the tree. An agent that can read the answer key is not being measured on the ability we care about.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D6D53-9ABE-FFB3-70DC-0D106C84FE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1A000-A127-83D3-3011-A1F9BA672CA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97A60287-4E8C-C973-B5D8-EE0A612C423C}"/>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7138212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8CD6F-4F2A-885A-49C4-870F6DD0E4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730CAC-4E46-2093-5A1D-D79F2F91649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B8B86405-7945-5C76-1917-89F194813F99}"/>
              </a:ext>
            </a:extLst>
          </p:cNvPr>
          <p:cNvSpPr>
            <a:spLocks noGrp="1"/>
          </p:cNvSpPr>
          <p:nvPr>
            <p:ph type="body" idx="1"/>
          </p:nvPr>
        </p:nvSpPr>
        <p:spPr/>
        <p:txBody>
          <a:bodyPr/>
          <a:lstStyle/>
          <a:p>
            <a:r>
              <a:t>The definition first, then the cycle it names. Decide is one model call, and it reads everything that has happened so far. Dispatch is the runtime checking the request against the signature we wrote, so a malformed call comes back as an observation instead of a crash. Observe is the step to be exact about: the runtime writes that field and the model never does, which is the whole of the security story later in this section. Route is a predicate over state. The language part is ReAct's actual contribution: the action space is the tools plus language, and an action drawn from the language part changes only the context the next decision reads.</a:t>
            </a:r>
          </a:p>
        </p:txBody>
      </p:sp>
    </p:spTree>
    <p:extLst>
      <p:ext uri="{BB962C8B-B14F-4D97-AF65-F5344CB8AC3E}">
        <p14:creationId xmlns:p14="http://schemas.microsoft.com/office/powerpoint/2010/main" val="6997970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not a drawing of the idea, it is the graph the demo compiles. Three nodes. The controller is the only place a model is called. Tools validates and executes and writes the observation. Submit runs three mechanical checks. Now look at the edges, because the edges are where the architecture lives. Two of them are unconditional: start into the controller, and tools back into the controller. That second one is the loop. Everything else is dashed, meaning a predicate over state picks the successor. Notice which predicates the model controls and which it does not: it chooses between tools and submit by emitting a tool call or not, and it has no say at all in the edge that ends the run.</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three nodes, the same four edges, in the code that builds them. Read it against the picture: node, node, node, then the edges. The line in magenta is the one that matters for this section, and it is one line. Take it out and you have the chain from the last section. Worth saying plainly: nothing in this file is rewritten between runs. The graph is fixed. What varies is which path a run takes through it, and that is decided at run time by predicates over state. Dynamic paths do not need a dynamic graph.</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unconditional edges, meaning the graph takes them every time it reaches them. The first is trivial: start at the controller. The second is the section. Tools always returns to the controller, which is what gives the model another turn with the observation in hand. The comment in the source is not decoration: delete that one line and every property from the last section comes back, because the program is a chain again. One line of wiring is the difference between the two architectures.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Two conditional edges, and they are the only places the graph branches. Read the shape: a source node, a function, and a dictionary. The function returns a key and the dictionary says which node that key means. That indirection is doing real work. The set of successors is closed at build time, so whatever the function returns, the run can only land somewhere named in that dictionary. An unrecognised key is an error, not an improvisation. So when we say the model chooses what happens next, we mean it chooses among three names we wrote down, and it chooses by calling a tool or not calling one. That is the whole of the autonomy this version has.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One line to finish. Compile takes the nodes and edges we just declared and freezes them into a runnable object, and that happens once, before the program has read a single alert. Every alert we ever run goes through the same compiled graph. Worth being blunt about why that matters, because it is the sentence people get wrong: a run that takes a different path is not a different graph. The paths vary because predicates over state vary. The structure does not move. If you find yourself wanting to rewrite the graph between runs, what you actually want is another predicate.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Six lines, and this is the handover. The first branch is ours: if the status is not running, the run is over, and only the runtime writes that field. The second branch is the model's: if its last message carried a tool call we go to tools, and if it did not we go to submit. That is the entire mechanism by which the model chooses what happens next. No planner, no scheduler, no negotiation. And the trace is labelled accordingly, so when you read a trajectory you can see at a glance which decisions were the model's and which were ours. In the recorded run the model chose four edges and the runtime chose one.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decisions as the fixed workflow, side by side. Read down the middle column and everything says design time. Read down the right and the top four have moved. But the rule under the fourth row is the thing to hold on to: the last two rows do not move. We still write the tool signatures, the state schema, the routing predicate and the budget, so the model selects its next action from a set we closed in advance. A reactive loop is not an agent we have stopped programming. It is an agent whose order of operations we have stopped writing down.</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gains, and they are all the same gain seen from different sides. Reach: when the flagged line names a helper, the model can go and read it and only then decide. The chain has no node in which to ask that question. Proportion: cost now follows the alert instead of being fixed in advance, so an easy fix is cheap and a hard one is not. Recovery: an unhelpful observation is no longer fatal, because there is a next turn in which to try something else. Put them together and they are one property: the edge back is the node we would otherwise have had to write.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bill. Shape: the budget gives a worst case and nothing else, so a budget for one alert is a budget for the cap rather than for the work. Address: the failure is spread over turns, and finding the one that went wrong means reading the whole trajectory. Termination: the run ends because we made it end, and a run that reaches the cap has spent the budget with nothing accepted to show for it. Underneath all three is one thing. The loop cannot tell a turn that advanced the investigation from a turn that wasted a model call, because it has no representation of progress. It counts turns. Turns are all it can count. That gap is what the planner and the validator exist to fill.</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One study, 150 hand-annotated failures, one backbone model held fixed across three tools. Read the shares as shares of each tool's own failures, not of all issues. Over half of the fixed workflow's failures carry a localization error, which is exactly where it commits earliest and where no later node can revisit the choice: the rest of the run elaborates a mistake it cannot see. The two loops fail instead inside the iteration, a stage the fixed workflow does not possess at all. So the machinery we just bought is also where the new failures live. And the caveat matters: holding the model fixed removes one source of variation, but these tools differ in prompts and interfaces too, so this supports a description and not a causal claim about architecture.</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named shapes, and each one is answered by a later section, which is why this slide is the hinge of the lecture. Non-progressive iteration is a loop that runs without going anywhere: the same patch regenerated with trivial differences. A plan answers it by giving the run something to measure a turn against. Validation retreat is the proposer grading its own work by editing the test instead of the code. A validator answers it by handing acceptance to something that did not write the patch. Context amnesia is losing the objective over a long interaction, and reflection answers it with memory that outlives an attempt. The cost of the blindness is legible in the step counts: failed issues take about three and a half times the steps, and where one tool covers eighty percent of its successes in twenty-five rounds it needs fifty-four to cover eighty percent of failures.</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Two stops, both ours, and both inside the controller node before a model call is issued. That placement is the point: checked afterwards they would be a post-mortem rather than a control. The budget is forty model calls. The second one is more interesting. The obvious rule is to stop when the same call repeats, and it looks equivalent to this one and is not: a model that varies its pattern slightly on each attempt evades it completely while making no progress at all. That is not hypothetical. On our own isolated fixture, ten consecutive searches with six distinct patterns all came back with no matches and the same-call rule never fired once; only the budget stopped the run. So this rule compares what came back rather than what was asked, which also subsumes the identical-call case because identical calls to deterministic tools return identical results. This is the non-progressive iteration from the last slide, caught by four lines.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real run, and short enough to read whole. Turn one, the model reads the flagged region. Turn two it reads the helper the query uses, which is the reach we paid for: nothing in the chain could have gone and got that. Turn three it edits, a parameterized query. Turn four it emits no tool call, which is how a submission is signalled in this graph, and the three mechanical checks pass: the patch applies, it touches the flagged line, the rescan is clean. Accepted. Four model calls against a budget of forty, so neither stop came near firing. Two things to point at. The model chose four of the five edges in this run and the runtime chose one, the acceptance. And search was offered on every call and never used, which is worth remembering when we look at what a plan would have changed.</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785FE-8059-D97C-74C1-189A266038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B74DD9-DFE7-4DF4-2DAA-305EDA73FDC7}"/>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4B50A5FB-DD8F-D58A-7279-9997AE4A52DB}"/>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31583115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Close of section 3 said novelty is observable and progress is not. This is that gap, stated as three questions the program cannot answer about itself.</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Left sends actions and hears nothing. Middle returns every observation but holds the plan at its initial value. Right sorts the observation and, when it contradicts the plan, strikes out the remaining actions and writes new ones.</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distinction that matters for the demo: our reactive loop sits closest to the middle row with the plan removed.</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Teal marks what is new against the three-node loop of section 3. START no longer goes to the controller; it goes to the planner.</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 V1 this situation ended the run with no_progress. That terminal status still exists, but it is now reached only after a revision has been tried.</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replanned_at is the high-water mark. The stall check reads observations[replanned_at:], so the stall that caused a revision cannot go on to condemn the revision. It also doubles as the replan budget: one.</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Same build-pair shape as the fixed-workflow tables: the artifact alone, then the identical slide with the claim added.</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Same build-pair shape as the fixed-workflow tables: the artifact alone, then the identical slide with the claim added.</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propose_plan is the only tool bound to the planner. A flat list of 'goal :: evidence' strings is asked for because small local models produce it far more reliably than a list of objects.</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Four strategies that differ only in action selection, on two fixed frameworks across four backbones. The same table shows an 8B model with lookahead beating a frontier model without it.</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4E00D-9964-2599-DBC8-15F2CBBC6E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2D214-C308-2A64-1C01-48A5A6D8AA6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A9338FF-95C2-AB8E-D0B9-BCFC16679FDF}"/>
              </a:ext>
            </a:extLst>
          </p:cNvPr>
          <p:cNvSpPr>
            <a:spLocks noGrp="1"/>
          </p:cNvSpPr>
          <p:nvPr>
            <p:ph type="body" idx="1"/>
          </p:nvPr>
        </p:nvSpPr>
        <p:spPr/>
        <p:txBody>
          <a:bodyPr/>
          <a:lstStyle/>
          <a:p>
            <a:r>
              <a:t>Four strategies that differ only in action selection, on two fixed frameworks across four backbones. The same table shows an 8B model with lookahead beating a frontier model without it.</a:t>
            </a:r>
          </a:p>
        </p:txBody>
      </p:sp>
    </p:spTree>
    <p:extLst>
      <p:ext uri="{BB962C8B-B14F-4D97-AF65-F5344CB8AC3E}">
        <p14:creationId xmlns:p14="http://schemas.microsoft.com/office/powerpoint/2010/main" val="81805215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slide to spend a beat on. Students reach for wider search first and it is the wrong lever.</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Being handed a clean rescan and asked whether that establishes a correct fix is the entire point of the node.</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sharpest line in the demo source and it belongs on screen verbatim. It is also the answer to soliloquizing from section 3.</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Intrinsic self-correction: the model revises with no external signal. Give it the ground-truth label instead and it improves, which is exactly the signal you do not have at run time.</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Blocksworld is the honest exception: self-critique helped there, 40% to 55%, and a sound verifier still beat it. The notes carry that; the slide does not have room.</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decided_by keeps a machine failure and a considered refusal apart in the trace. Reflexion in section 5 is what gives a refused attempt somewhere to go.</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2" name="Slide Number Placeholder 1">
            <a:extLst>
              <a:ext uri="{FF2B5EF4-FFF2-40B4-BE49-F238E27FC236}">
                <a16:creationId xmlns:a16="http://schemas.microsoft.com/office/drawing/2014/main" id="{B51DF3CB-87F9-F259-44C5-76CCC8BCE32C}"/>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59394-595B-E6C1-5B62-E3F3A7B0D40D}"/>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
        <p:nvSpPr>
          <p:cNvPr id="3" name="Slide Number Placeholder 2">
            <a:extLst>
              <a:ext uri="{FF2B5EF4-FFF2-40B4-BE49-F238E27FC236}">
                <a16:creationId xmlns:a16="http://schemas.microsoft.com/office/drawing/2014/main" id="{DF71E8FB-ADDA-82C8-8A4F-6295E7491A8B}"/>
              </a:ext>
            </a:extLst>
          </p:cNvPr>
          <p:cNvSpPr>
            <a:spLocks noGrp="1"/>
          </p:cNvSpPr>
          <p:nvPr>
            <p:ph type="sldNum" sz="quarter" idx="4"/>
          </p:nvPr>
        </p:nvSpPr>
        <p:spPr>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fld id="{26FBAF0E-C96E-D64F-8B24-1AA70EC4AC83}"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mailto:ik2619@columbia.edu" TargetMode="External"/><Relationship Id="rId2" Type="http://schemas.openxmlformats.org/officeDocument/2006/relationships/hyperlink" Target="mailto:rk3080@columbia.edu" TargetMode="External"/><Relationship Id="rId1" Type="http://schemas.openxmlformats.org/officeDocument/2006/relationships/slideLayout" Target="../slideLayouts/slideLayout2.xml"/><Relationship Id="rId4" Type="http://schemas.openxmlformats.org/officeDocument/2006/relationships/hyperlink" Target="http://rkrsn.u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55_0.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microsoft.com/office/2018/10/relationships/comments" Target="../comments/modernComment_178_0.xml"/><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microsoft.com/office/2018/10/relationships/comments" Target="../comments/modernComment_17F_0.xml"/><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microsoft.com/office/2018/10/relationships/comments" Target="../comments/modernComment_18E_8EDF1BB8.xml"/><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microsoft.com/office/2018/10/relationships/comments" Target="../comments/modernComment_18D_0.xml"/><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a:t>
            </a:r>
            <a:r>
              <a:rPr lang="en-US" b="1" dirty="0"/>
              <a:t>2</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14CCDE-7AC2-0B63-DE2D-FFDC29D92E35}"/>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142395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02CC-2E61-D761-6C3D-D5337FF0B56B}"/>
              </a:ext>
            </a:extLst>
          </p:cNvPr>
          <p:cNvSpPr>
            <a:spLocks noGrp="1"/>
          </p:cNvSpPr>
          <p:nvPr>
            <p:ph type="title"/>
          </p:nvPr>
        </p:nvSpPr>
        <p:spPr/>
        <p:txBody>
          <a:bodyPr/>
          <a:lstStyle/>
          <a:p>
            <a:r>
              <a:rPr lang="en-US" dirty="0"/>
              <a:t>About the Instructors</a:t>
            </a:r>
          </a:p>
        </p:txBody>
      </p:sp>
      <p:sp>
        <p:nvSpPr>
          <p:cNvPr id="3" name="Content Placeholder 2">
            <a:extLst>
              <a:ext uri="{FF2B5EF4-FFF2-40B4-BE49-F238E27FC236}">
                <a16:creationId xmlns:a16="http://schemas.microsoft.com/office/drawing/2014/main" id="{86859905-1202-8C5E-10B5-C048049F64F5}"/>
              </a:ext>
            </a:extLst>
          </p:cNvPr>
          <p:cNvSpPr>
            <a:spLocks noGrp="1"/>
          </p:cNvSpPr>
          <p:nvPr>
            <p:ph idx="1"/>
          </p:nvPr>
        </p:nvSpPr>
        <p:spPr>
          <a:xfrm>
            <a:off x="127749" y="630050"/>
            <a:ext cx="6585696" cy="926797"/>
          </a:xfrm>
        </p:spPr>
        <p:txBody>
          <a:bodyPr>
            <a:normAutofit/>
          </a:bodyPr>
          <a:lstStyle/>
          <a:p>
            <a:pPr marL="125747" indent="0">
              <a:lnSpc>
                <a:spcPct val="100000"/>
              </a:lnSpc>
              <a:buNone/>
            </a:pPr>
            <a:r>
              <a:rPr lang="en-US" dirty="0"/>
              <a:t>Senior Research Scientist IBM and I was a CS Postdoc at Columbia.</a:t>
            </a:r>
            <a:endParaRPr lang="en-US" b="1" dirty="0">
              <a:solidFill>
                <a:srgbClr val="28285E"/>
              </a:solidFill>
            </a:endParaRPr>
          </a:p>
          <a:p>
            <a:pPr marL="125747" indent="0">
              <a:lnSpc>
                <a:spcPct val="100000"/>
              </a:lnSpc>
              <a:buNone/>
            </a:pPr>
            <a:endParaRPr lang="en-US" b="1" dirty="0">
              <a:solidFill>
                <a:srgbClr val="28285E"/>
              </a:solidFill>
            </a:endParaRPr>
          </a:p>
          <a:p>
            <a:pPr marL="125747" indent="0">
              <a:lnSpc>
                <a:spcPct val="100000"/>
              </a:lnSpc>
              <a:buNone/>
            </a:pPr>
            <a:r>
              <a:rPr lang="en-US" b="1" dirty="0">
                <a:solidFill>
                  <a:srgbClr val="28285E"/>
                </a:solidFill>
              </a:rPr>
              <a:t>What I work on: </a:t>
            </a:r>
            <a:r>
              <a:rPr lang="en-US" dirty="0">
                <a:solidFill>
                  <a:srgbClr val="28285E"/>
                </a:solidFill>
              </a:rPr>
              <a:t> </a:t>
            </a:r>
            <a:r>
              <a:rPr lang="en-US" b="1" dirty="0"/>
              <a:t>Program Analysis • Distributed Systems • Security • Testing</a:t>
            </a:r>
          </a:p>
        </p:txBody>
      </p:sp>
      <p:graphicFrame>
        <p:nvGraphicFramePr>
          <p:cNvPr id="4" name="Table 3">
            <a:extLst>
              <a:ext uri="{FF2B5EF4-FFF2-40B4-BE49-F238E27FC236}">
                <a16:creationId xmlns:a16="http://schemas.microsoft.com/office/drawing/2014/main" id="{CC1434B4-2139-27C5-65C1-37131B0490D6}"/>
              </a:ext>
            </a:extLst>
          </p:cNvPr>
          <p:cNvGraphicFramePr>
            <a:graphicFrameLocks noGrp="1"/>
          </p:cNvGraphicFramePr>
          <p:nvPr>
            <p:extLst>
              <p:ext uri="{D42A27DB-BD31-4B8C-83A1-F6EECF244321}">
                <p14:modId xmlns:p14="http://schemas.microsoft.com/office/powerpoint/2010/main" val="1511280586"/>
              </p:ext>
            </p:extLst>
          </p:nvPr>
        </p:nvGraphicFramePr>
        <p:xfrm>
          <a:off x="1508391" y="1856916"/>
          <a:ext cx="3841221" cy="2491740"/>
        </p:xfrm>
        <a:graphic>
          <a:graphicData uri="http://schemas.openxmlformats.org/drawingml/2006/table">
            <a:tbl>
              <a:tblPr firstRow="1" bandRow="1">
                <a:tableStyleId>{2D5ABB26-0587-4C30-8999-92F81FD0307C}</a:tableStyleId>
              </a:tblPr>
              <a:tblGrid>
                <a:gridCol w="965954">
                  <a:extLst>
                    <a:ext uri="{9D8B030D-6E8A-4147-A177-3AD203B41FA5}">
                      <a16:colId xmlns:a16="http://schemas.microsoft.com/office/drawing/2014/main" val="2271713243"/>
                    </a:ext>
                  </a:extLst>
                </a:gridCol>
                <a:gridCol w="2875267">
                  <a:extLst>
                    <a:ext uri="{9D8B030D-6E8A-4147-A177-3AD203B41FA5}">
                      <a16:colId xmlns:a16="http://schemas.microsoft.com/office/drawing/2014/main" val="1569624038"/>
                    </a:ext>
                  </a:extLst>
                </a:gridCol>
              </a:tblGrid>
              <a:tr h="415290">
                <a:tc>
                  <a:txBody>
                    <a:bodyPr/>
                    <a:lstStyle/>
                    <a:p>
                      <a:r>
                        <a:rPr lang="en-US" b="1" dirty="0"/>
                        <a:t>Instructor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Rahul Krishna • </a:t>
                      </a:r>
                      <a:r>
                        <a:rPr lang="en-US" dirty="0">
                          <a:hlinkClick r:id="rId2"/>
                        </a:rPr>
                        <a:t>rk3080@columbia.edu</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pPr algn="l"/>
                      <a:r>
                        <a:rPr lang="en-US" b="1" dirty="0"/>
                        <a:t>Teaching Assistant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 Keun Kim • </a:t>
                      </a:r>
                      <a:r>
                        <a:rPr lang="en-US" dirty="0">
                          <a:hlinkClick r:id="rId3"/>
                        </a:rPr>
                        <a:t>ik2619@columbia.edu</a:t>
                      </a:r>
                      <a:r>
                        <a:rPr lang="en-US"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45045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Friday 12:00—1:30 (and via zoom ad hoc)</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TA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To be announced on 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Discussion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Slack Channel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415290">
                <a:tc>
                  <a:txBody>
                    <a:bodyPr/>
                    <a:lstStyle/>
                    <a:p>
                      <a:r>
                        <a:rPr lang="en-US" b="1" dirty="0"/>
                        <a:t>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4"/>
                        </a:rPr>
                        <a:t>rkrsn.us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4091803"/>
                  </a:ext>
                </a:extLst>
              </a:tr>
            </a:tbl>
          </a:graphicData>
        </a:graphic>
      </p:graphicFrame>
    </p:spTree>
    <p:extLst>
      <p:ext uri="{BB962C8B-B14F-4D97-AF65-F5344CB8AC3E}">
        <p14:creationId xmlns:p14="http://schemas.microsoft.com/office/powerpoint/2010/main" val="3528649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166E-AD55-87BA-F094-4A6EF9A23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F3312-51B2-EC34-2E69-5DE12A236EDC}"/>
              </a:ext>
            </a:extLst>
          </p:cNvPr>
          <p:cNvSpPr>
            <a:spLocks noGrp="1"/>
          </p:cNvSpPr>
          <p:nvPr>
            <p:ph type="title"/>
          </p:nvPr>
        </p:nvSpPr>
        <p:spPr/>
        <p:txBody>
          <a:bodyPr/>
          <a:lstStyle/>
          <a:p>
            <a:r>
              <a:rPr lang="en-US" dirty="0"/>
              <a:t>The key question that motivates this course</a:t>
            </a:r>
          </a:p>
        </p:txBody>
      </p:sp>
      <p:sp>
        <p:nvSpPr>
          <p:cNvPr id="3" name="Rectangle 2">
            <a:extLst>
              <a:ext uri="{FF2B5EF4-FFF2-40B4-BE49-F238E27FC236}">
                <a16:creationId xmlns:a16="http://schemas.microsoft.com/office/drawing/2014/main" id="{8FFA006E-AD23-4CAC-BB92-1B5AF8509A96}"/>
              </a:ext>
            </a:extLst>
          </p:cNvPr>
          <p:cNvSpPr/>
          <p:nvPr/>
        </p:nvSpPr>
        <p:spPr>
          <a:xfrm>
            <a:off x="319251" y="859219"/>
            <a:ext cx="6014545" cy="610801"/>
          </a:xfrm>
          <a:prstGeom prst="rect">
            <a:avLst/>
          </a:prstGeom>
          <a:solidFill>
            <a:srgbClr val="28285E"/>
          </a:solid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tx2"/>
                </a:solidFill>
              </a:rPr>
              <a:t>How do we place a </a:t>
            </a:r>
            <a:r>
              <a:rPr lang="en-US" b="1" u="sng" dirty="0">
                <a:solidFill>
                  <a:schemeClr val="tx2"/>
                </a:solidFill>
              </a:rPr>
              <a:t>probabilistic</a:t>
            </a:r>
            <a:r>
              <a:rPr lang="en-US" dirty="0">
                <a:solidFill>
                  <a:schemeClr val="tx2"/>
                </a:solidFill>
              </a:rPr>
              <a:t> model </a:t>
            </a:r>
            <a:r>
              <a:rPr lang="en-US" b="1" u="sng" dirty="0">
                <a:solidFill>
                  <a:schemeClr val="tx2"/>
                </a:solidFill>
              </a:rPr>
              <a:t>inside a software system</a:t>
            </a:r>
            <a:r>
              <a:rPr lang="en-US" dirty="0">
                <a:solidFill>
                  <a:schemeClr val="tx2"/>
                </a:solidFill>
              </a:rPr>
              <a:t> without surrendering the </a:t>
            </a:r>
            <a:r>
              <a:rPr lang="en-US" b="1" u="sng" dirty="0">
                <a:solidFill>
                  <a:schemeClr val="tx2"/>
                </a:solidFill>
              </a:rPr>
              <a:t>guarantees</a:t>
            </a:r>
            <a:r>
              <a:rPr lang="en-US" dirty="0">
                <a:solidFill>
                  <a:schemeClr val="tx2"/>
                </a:solidFill>
              </a:rPr>
              <a:t> expected of production software?</a:t>
            </a:r>
          </a:p>
        </p:txBody>
      </p:sp>
      <p:sp>
        <p:nvSpPr>
          <p:cNvPr id="6" name="Rectangle 5">
            <a:extLst>
              <a:ext uri="{FF2B5EF4-FFF2-40B4-BE49-F238E27FC236}">
                <a16:creationId xmlns:a16="http://schemas.microsoft.com/office/drawing/2014/main" id="{96CFEB25-375B-1C2F-4556-5BA4657E0CA1}"/>
              </a:ext>
            </a:extLst>
          </p:cNvPr>
          <p:cNvSpPr/>
          <p:nvPr/>
        </p:nvSpPr>
        <p:spPr>
          <a:xfrm>
            <a:off x="319251" y="3916457"/>
            <a:ext cx="6014545" cy="441319"/>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rgbClr val="28285E"/>
                </a:solidFill>
              </a:rPr>
              <a:t>The agent is a component of a larger system. It is not the entire system.</a:t>
            </a:r>
            <a:endParaRPr lang="en-US" dirty="0">
              <a:solidFill>
                <a:srgbClr val="28285E"/>
              </a:solidFill>
            </a:endParaRPr>
          </a:p>
        </p:txBody>
      </p:sp>
      <p:graphicFrame>
        <p:nvGraphicFramePr>
          <p:cNvPr id="5" name="Table 4">
            <a:extLst>
              <a:ext uri="{FF2B5EF4-FFF2-40B4-BE49-F238E27FC236}">
                <a16:creationId xmlns:a16="http://schemas.microsoft.com/office/drawing/2014/main" id="{D1AFF10F-E30A-D358-0FE4-A274065E8764}"/>
              </a:ext>
            </a:extLst>
          </p:cNvPr>
          <p:cNvGraphicFramePr>
            <a:graphicFrameLocks noGrp="1"/>
          </p:cNvGraphicFramePr>
          <p:nvPr>
            <p:extLst>
              <p:ext uri="{D42A27DB-BD31-4B8C-83A1-F6EECF244321}">
                <p14:modId xmlns:p14="http://schemas.microsoft.com/office/powerpoint/2010/main" val="291612122"/>
              </p:ext>
            </p:extLst>
          </p:nvPr>
        </p:nvGraphicFramePr>
        <p:xfrm>
          <a:off x="319250" y="1884593"/>
          <a:ext cx="6014546" cy="1661160"/>
        </p:xfrm>
        <a:graphic>
          <a:graphicData uri="http://schemas.openxmlformats.org/drawingml/2006/table">
            <a:tbl>
              <a:tblPr>
                <a:tableStyleId>{2D5ABB26-0587-4C30-8999-92F81FD0307C}</a:tableStyleId>
              </a:tblPr>
              <a:tblGrid>
                <a:gridCol w="2175643">
                  <a:extLst>
                    <a:ext uri="{9D8B030D-6E8A-4147-A177-3AD203B41FA5}">
                      <a16:colId xmlns:a16="http://schemas.microsoft.com/office/drawing/2014/main" val="217211546"/>
                    </a:ext>
                  </a:extLst>
                </a:gridCol>
                <a:gridCol w="3838903">
                  <a:extLst>
                    <a:ext uri="{9D8B030D-6E8A-4147-A177-3AD203B41FA5}">
                      <a16:colId xmlns:a16="http://schemas.microsoft.com/office/drawing/2014/main" val="1714636532"/>
                    </a:ext>
                  </a:extLst>
                </a:gridCol>
              </a:tblGrid>
              <a:tr h="255270">
                <a:tc>
                  <a:txBody>
                    <a:bodyPr/>
                    <a:lstStyle/>
                    <a:p>
                      <a:pPr algn="l">
                        <a:buNone/>
                      </a:pPr>
                      <a:r>
                        <a:rPr lang="en-US" sz="1000" b="1" dirty="0">
                          <a:effectLst/>
                        </a:rPr>
                        <a:t>Phrase</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Why it is in the question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763243"/>
                  </a:ext>
                </a:extLst>
              </a:tr>
              <a:tr h="575310">
                <a:tc>
                  <a:txBody>
                    <a:bodyPr/>
                    <a:lstStyle/>
                    <a:p>
                      <a:pPr algn="l">
                        <a:buNone/>
                      </a:pPr>
                      <a:r>
                        <a:rPr lang="en-US" sz="1000" b="1" dirty="0">
                          <a:effectLst/>
                        </a:rPr>
                        <a:t>Probabilistic</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Two identical calls are </a:t>
                      </a:r>
                      <a:r>
                        <a:rPr lang="en-US" sz="1000" b="1" dirty="0">
                          <a:solidFill>
                            <a:srgbClr val="28285E"/>
                          </a:solidFill>
                          <a:effectLst/>
                        </a:rPr>
                        <a:t>not guaranteed to agree</a:t>
                      </a:r>
                      <a:r>
                        <a:rPr lang="en-US" sz="1000" dirty="0">
                          <a:effectLst/>
                        </a:rPr>
                        <a:t>, and nothing downstream may assume they will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777580"/>
                  </a:ext>
                </a:extLst>
              </a:tr>
              <a:tr h="415290">
                <a:tc>
                  <a:txBody>
                    <a:bodyPr/>
                    <a:lstStyle/>
                    <a:p>
                      <a:pPr algn="l">
                        <a:buNone/>
                      </a:pPr>
                      <a:r>
                        <a:rPr lang="en-US" sz="1000" b="1" dirty="0">
                          <a:effectLst/>
                        </a:rPr>
                        <a:t>Inside a software system</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It is </a:t>
                      </a:r>
                      <a:r>
                        <a:rPr lang="en-US" sz="1000" b="1" dirty="0">
                          <a:solidFill>
                            <a:srgbClr val="28285E"/>
                          </a:solidFill>
                          <a:effectLst/>
                        </a:rPr>
                        <a:t>one component among several</a:t>
                      </a:r>
                      <a:r>
                        <a:rPr lang="en-US" sz="1000" dirty="0">
                          <a:effectLst/>
                        </a:rPr>
                        <a:t>. It is called, its output is validated, and it may be refused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61544"/>
                  </a:ext>
                </a:extLst>
              </a:tr>
              <a:tr h="415290">
                <a:tc>
                  <a:txBody>
                    <a:bodyPr/>
                    <a:lstStyle/>
                    <a:p>
                      <a:pPr algn="l">
                        <a:buNone/>
                      </a:pPr>
                      <a:r>
                        <a:rPr lang="en-US" sz="1000" b="1" dirty="0">
                          <a:effectLst/>
                        </a:rPr>
                        <a:t>Guarantees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“promises” a system makes to its consumers. Things a </a:t>
                      </a:r>
                      <a:r>
                        <a:rPr lang="en-US" sz="1000" b="1" dirty="0">
                          <a:solidFill>
                            <a:srgbClr val="28285E"/>
                          </a:solidFill>
                          <a:effectLst/>
                        </a:rPr>
                        <a:t>caller is entitled to expect</a:t>
                      </a:r>
                      <a:r>
                        <a:rPr lang="en-US" sz="1000" dirty="0">
                          <a:effectLst/>
                        </a:rPr>
                        <a:t> and rely on every time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098972"/>
                  </a:ext>
                </a:extLst>
              </a:tr>
            </a:tbl>
          </a:graphicData>
        </a:graphic>
      </p:graphicFrame>
    </p:spTree>
    <p:extLst>
      <p:ext uri="{BB962C8B-B14F-4D97-AF65-F5344CB8AC3E}">
        <p14:creationId xmlns:p14="http://schemas.microsoft.com/office/powerpoint/2010/main" val="4163135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F9010-41B1-22BD-1F44-766FA0F41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E11C2-C252-A44F-DC09-53D2F793DB76}"/>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97B85F8D-3077-7C80-361E-95E082268367}"/>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820F0334-B0C3-D844-0D23-DA6A25F07A55}"/>
              </a:ext>
            </a:extLst>
          </p:cNvPr>
          <p:cNvGraphicFramePr>
            <a:graphicFrameLocks noGrp="1"/>
          </p:cNvGraphicFramePr>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1248588683"/>
                  </a:ext>
                </a:extLst>
              </a:tr>
              <a:tr h="0">
                <a:tc>
                  <a:txBody>
                    <a:bodyPr/>
                    <a:lstStyle/>
                    <a:p>
                      <a:pPr algn="l">
                        <a:buNone/>
                      </a:pPr>
                      <a:r>
                        <a:rPr lang="en-US" sz="1000" dirty="0">
                          <a:effectLst/>
                          <a:latin typeface="+mn-lt"/>
                        </a:rPr>
                        <a:t>1</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1–3</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Agent architectures and control</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orchestrator: </a:t>
                      </a:r>
                      <a:r>
                        <a:rPr lang="en-US" sz="1000" dirty="0">
                          <a:effectLst/>
                          <a:latin typeface="+mn-lt"/>
                        </a:rPr>
                        <a:t>who chooses the next operation, and who decides to stop</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83195"/>
                  </a:ext>
                </a:extLst>
              </a:tr>
              <a:tr h="0">
                <a:tc>
                  <a:txBody>
                    <a:bodyPr/>
                    <a:lstStyle/>
                    <a:p>
                      <a:pPr algn="l">
                        <a:buNone/>
                      </a:pPr>
                      <a:r>
                        <a:rPr lang="en-US" sz="1000">
                          <a:effectLst/>
                          <a:latin typeface="+mn-lt"/>
                        </a:rPr>
                        <a:t>2</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4–6</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8–9</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Context, state, and persistence</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spTree>
    <p:extLst>
      <p:ext uri="{BB962C8B-B14F-4D97-AF65-F5344CB8AC3E}">
        <p14:creationId xmlns:p14="http://schemas.microsoft.com/office/powerpoint/2010/main" val="2333393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088B-7FD4-B27A-71D9-47A9F7EA6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0425F-96BD-0704-885E-CA04BABC0995}"/>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CAA03FF4-5EEC-42C8-5806-DB14B1488049}"/>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51D15C9C-9772-2F46-C144-F6E4F0B3B867}"/>
              </a:ext>
            </a:extLst>
          </p:cNvPr>
          <p:cNvGraphicFramePr>
            <a:graphicFrameLocks noGrp="1"/>
          </p:cNvGraphicFramePr>
          <p:nvPr>
            <p:extLst>
              <p:ext uri="{D42A27DB-BD31-4B8C-83A1-F6EECF244321}">
                <p14:modId xmlns:p14="http://schemas.microsoft.com/office/powerpoint/2010/main" val="2641347325"/>
              </p:ext>
            </p:extLst>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48588683"/>
                  </a:ext>
                </a:extLst>
              </a:tr>
              <a:tr h="0">
                <a:tc>
                  <a:txBody>
                    <a:bodyPr/>
                    <a:lstStyle/>
                    <a:p>
                      <a:pPr algn="l">
                        <a:buNone/>
                      </a:pPr>
                      <a:r>
                        <a:rPr lang="en-US" sz="1000" dirty="0">
                          <a:solidFill>
                            <a:schemeClr val="tx1">
                              <a:lumMod val="85000"/>
                              <a:lumOff val="15000"/>
                            </a:schemeClr>
                          </a:solidFill>
                          <a:effectLst/>
                          <a:latin typeface="+mn-lt"/>
                        </a:rPr>
                        <a:t>1</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1–3</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Agent architectures and control</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dirty="0">
                          <a:solidFill>
                            <a:schemeClr val="tx1">
                              <a:lumMod val="85000"/>
                              <a:lumOff val="15000"/>
                            </a:schemeClr>
                          </a:solidFill>
                          <a:effectLst/>
                          <a:latin typeface="+mn-lt"/>
                        </a:rPr>
                        <a:t>The orchestrator: </a:t>
                      </a:r>
                      <a:r>
                        <a:rPr lang="en-US" sz="1000" dirty="0">
                          <a:solidFill>
                            <a:schemeClr val="tx1">
                              <a:lumMod val="85000"/>
                              <a:lumOff val="15000"/>
                            </a:schemeClr>
                          </a:solidFill>
                          <a:effectLst/>
                          <a:latin typeface="+mn-lt"/>
                        </a:rPr>
                        <a:t>who chooses the next operation, and who decides to stop</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i="0" dirty="0">
                          <a:solidFill>
                            <a:schemeClr val="tx1">
                              <a:lumMod val="85000"/>
                              <a:lumOff val="15000"/>
                            </a:schemeClr>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2483195"/>
                  </a:ext>
                </a:extLst>
              </a:tr>
              <a:tr h="0">
                <a:tc>
                  <a:txBody>
                    <a:bodyPr/>
                    <a:lstStyle/>
                    <a:p>
                      <a:pPr algn="l">
                        <a:buNone/>
                      </a:pPr>
                      <a:r>
                        <a:rPr lang="en-US" sz="1000" dirty="0">
                          <a:effectLst/>
                          <a:latin typeface="+mn-lt"/>
                        </a:rPr>
                        <a:t>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4–6</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8–9</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Context, state, and persistence</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pic>
        <p:nvPicPr>
          <p:cNvPr id="3" name="Picture 2">
            <a:extLst>
              <a:ext uri="{FF2B5EF4-FFF2-40B4-BE49-F238E27FC236}">
                <a16:creationId xmlns:a16="http://schemas.microsoft.com/office/drawing/2014/main" id="{A27BBBC2-4AC8-ACF0-BD82-19663A7D84C5}"/>
              </a:ext>
            </a:extLst>
          </p:cNvPr>
          <p:cNvPicPr>
            <a:picLocks noChangeAspect="1"/>
          </p:cNvPicPr>
          <p:nvPr/>
        </p:nvPicPr>
        <p:blipFill>
          <a:blip r:embed="rId2">
            <a:alphaModFix amt="94000"/>
          </a:blip>
          <a:stretch>
            <a:fillRect/>
          </a:stretch>
        </p:blipFill>
        <p:spPr>
          <a:xfrm>
            <a:off x="250147" y="2689906"/>
            <a:ext cx="6152752" cy="1361185"/>
          </a:xfrm>
          <a:prstGeom prst="rect">
            <a:avLst/>
          </a:prstGeom>
        </p:spPr>
      </p:pic>
      <p:sp>
        <p:nvSpPr>
          <p:cNvPr id="6" name="TextBox 5">
            <a:extLst>
              <a:ext uri="{FF2B5EF4-FFF2-40B4-BE49-F238E27FC236}">
                <a16:creationId xmlns:a16="http://schemas.microsoft.com/office/drawing/2014/main" id="{0566017B-7CA5-96A2-A76C-543D5E4E8AE2}"/>
              </a:ext>
            </a:extLst>
          </p:cNvPr>
          <p:cNvSpPr txBox="1"/>
          <p:nvPr/>
        </p:nvSpPr>
        <p:spPr>
          <a:xfrm>
            <a:off x="2124912" y="3027135"/>
            <a:ext cx="2403222" cy="461665"/>
          </a:xfrm>
          <a:prstGeom prst="rect">
            <a:avLst/>
          </a:prstGeom>
          <a:noFill/>
        </p:spPr>
        <p:txBody>
          <a:bodyPr wrap="none" rtlCol="0">
            <a:spAutoFit/>
          </a:bodyPr>
          <a:lstStyle/>
          <a:p>
            <a:pPr algn="l"/>
            <a:r>
              <a:rPr lang="en-US" sz="2400" b="1" dirty="0">
                <a:solidFill>
                  <a:schemeClr val="bg2"/>
                </a:solidFill>
                <a:latin typeface="+mn-lt"/>
              </a:rPr>
              <a:t>Today’s Lecture</a:t>
            </a:r>
          </a:p>
        </p:txBody>
      </p:sp>
    </p:spTree>
    <p:extLst>
      <p:ext uri="{BB962C8B-B14F-4D97-AF65-F5344CB8AC3E}">
        <p14:creationId xmlns:p14="http://schemas.microsoft.com/office/powerpoint/2010/main" val="530059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9B10-2FC6-F4ED-3C93-631A6C9AF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47407-2FD5-97E2-19CC-83F8D36D14B7}"/>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F5153355-5688-657A-F5EB-D666DB4B5D6A}"/>
              </a:ext>
            </a:extLst>
          </p:cNvPr>
          <p:cNvGraphicFramePr>
            <a:graphicFrameLocks noGrp="1"/>
          </p:cNvGraphicFramePr>
          <p:nvPr>
            <p:extLst>
              <p:ext uri="{D42A27DB-BD31-4B8C-83A1-F6EECF244321}">
                <p14:modId xmlns:p14="http://schemas.microsoft.com/office/powerpoint/2010/main" val="2783190986"/>
              </p:ext>
            </p:extLst>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42A062EF-CBC5-ACF3-52AD-AA35EE4A920E}"/>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CDA6BACA-091E-F0B6-4BB4-E43178A5EAD8}"/>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spTree>
    <p:extLst>
      <p:ext uri="{BB962C8B-B14F-4D97-AF65-F5344CB8AC3E}">
        <p14:creationId xmlns:p14="http://schemas.microsoft.com/office/powerpoint/2010/main" val="3591913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934-124B-44DB-0915-7C0AC786E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4B10D-D49C-2005-1742-C4778B21642F}"/>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A4733682-59F5-2CF5-0903-99FA3BC59F28}"/>
              </a:ext>
            </a:extLst>
          </p:cNvPr>
          <p:cNvGraphicFramePr>
            <a:graphicFrameLocks noGrp="1"/>
          </p:cNvGraphicFramePr>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AA34D7EC-CDB0-57D6-8FDF-D384F94DBFEC}"/>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413D7A26-C6A4-FB9B-334C-53C121A97A7D}"/>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pic>
        <p:nvPicPr>
          <p:cNvPr id="6" name="Picture 5">
            <a:extLst>
              <a:ext uri="{FF2B5EF4-FFF2-40B4-BE49-F238E27FC236}">
                <a16:creationId xmlns:a16="http://schemas.microsoft.com/office/drawing/2014/main" id="{C4275ED2-1659-CB66-73B9-4CA3B428761A}"/>
              </a:ext>
            </a:extLst>
          </p:cNvPr>
          <p:cNvPicPr>
            <a:picLocks noChangeAspect="1"/>
          </p:cNvPicPr>
          <p:nvPr/>
        </p:nvPicPr>
        <p:blipFill>
          <a:blip r:embed="rId2">
            <a:alphaModFix amt="94000"/>
          </a:blip>
          <a:stretch>
            <a:fillRect/>
          </a:stretch>
        </p:blipFill>
        <p:spPr>
          <a:xfrm>
            <a:off x="250147" y="1269588"/>
            <a:ext cx="6152752" cy="3579730"/>
          </a:xfrm>
          <a:prstGeom prst="rect">
            <a:avLst/>
          </a:prstGeom>
        </p:spPr>
      </p:pic>
      <p:sp>
        <p:nvSpPr>
          <p:cNvPr id="7" name="TextBox 6">
            <a:extLst>
              <a:ext uri="{FF2B5EF4-FFF2-40B4-BE49-F238E27FC236}">
                <a16:creationId xmlns:a16="http://schemas.microsoft.com/office/drawing/2014/main" id="{122C38D9-154E-E386-7030-927E7C8E5FB8}"/>
              </a:ext>
            </a:extLst>
          </p:cNvPr>
          <p:cNvSpPr txBox="1"/>
          <p:nvPr/>
        </p:nvSpPr>
        <p:spPr>
          <a:xfrm>
            <a:off x="2124912" y="1565594"/>
            <a:ext cx="2614818" cy="461665"/>
          </a:xfrm>
          <a:prstGeom prst="rect">
            <a:avLst/>
          </a:prstGeom>
          <a:noFill/>
        </p:spPr>
        <p:txBody>
          <a:bodyPr wrap="none" rtlCol="0">
            <a:spAutoFit/>
          </a:bodyPr>
          <a:lstStyle/>
          <a:p>
            <a:pPr algn="l"/>
            <a:r>
              <a:rPr lang="en-US" sz="2400" b="1" dirty="0">
                <a:solidFill>
                  <a:schemeClr val="bg2"/>
                </a:solidFill>
                <a:latin typeface="+mn-lt"/>
              </a:rPr>
              <a:t>End of day today</a:t>
            </a:r>
          </a:p>
        </p:txBody>
      </p:sp>
    </p:spTree>
    <p:extLst>
      <p:ext uri="{BB962C8B-B14F-4D97-AF65-F5344CB8AC3E}">
        <p14:creationId xmlns:p14="http://schemas.microsoft.com/office/powerpoint/2010/main" val="2439185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2D90-3432-2B93-9629-77CEBCE649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0178EE-BA36-3CD9-2428-780412C1571C}"/>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2025756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4C-FB56-A423-AA86-61A999BEAF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1850EC-7212-3194-CAF3-3C4416C26DC7}"/>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E043E961-DB40-39E3-BD85-B9175226295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17156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Rational agents</a:t>
            </a:r>
          </a:p>
        </p:txBody>
      </p:sp>
      <p:sp>
        <p:nvSpPr>
          <p:cNvPr id="3" name="Content Placeholder 2"/>
          <p:cNvSpPr>
            <a:spLocks noGrp="1"/>
          </p:cNvSpPr>
          <p:nvPr>
            <p:ph idx="1"/>
          </p:nvPr>
        </p:nvSpPr>
        <p:spPr>
          <a:xfrm>
            <a:off x="319251" y="2360000"/>
            <a:ext cx="6014545" cy="2300000"/>
          </a:xfrm>
        </p:spPr>
        <p:txBody>
          <a:bodyPr wrap="square"/>
          <a:lstStyle/>
          <a:p>
            <a:pPr marL="0" indent="0">
              <a:buNone/>
            </a:pPr>
            <a:r>
              <a:rPr sz="1500" b="1">
                <a:solidFill>
                  <a:srgbClr val="28285E"/>
                </a:solidFill>
              </a:rPr>
              <a:t>What is rational at any given time depends on four things:</a:t>
            </a:r>
          </a:p>
          <a:p>
            <a:pPr marL="400050" indent="-285750">
              <a:spcAft>
                <a:spcPts val="800"/>
              </a:spcAft>
              <a:buClr>
                <a:srgbClr val="28285E"/>
              </a:buClr>
              <a:buSzPts val="1440"/>
              <a:buFont typeface="Fira Sans"/>
              <a:buChar char="●"/>
            </a:pPr>
            <a:r>
              <a:rPr sz="1600">
                <a:solidFill>
                  <a:srgbClr val="28285E"/>
                </a:solidFill>
              </a:rPr>
              <a:t>The performance measure that defines the criterion of success</a:t>
            </a:r>
          </a:p>
          <a:p>
            <a:pPr marL="400050" indent="-285750">
              <a:spcAft>
                <a:spcPts val="800"/>
              </a:spcAft>
              <a:buClr>
                <a:srgbClr val="28285E"/>
              </a:buClr>
              <a:buSzPts val="1440"/>
              <a:buFont typeface="Fira Sans"/>
              <a:buChar char="●"/>
            </a:pPr>
            <a:r>
              <a:rPr sz="1600">
                <a:solidFill>
                  <a:srgbClr val="28285E"/>
                </a:solidFill>
              </a:rPr>
              <a:t>The agent’s prior knowledge of the environment</a:t>
            </a:r>
          </a:p>
          <a:p>
            <a:pPr marL="400050" indent="-285750">
              <a:spcAft>
                <a:spcPts val="800"/>
              </a:spcAft>
              <a:buClr>
                <a:srgbClr val="28285E"/>
              </a:buClr>
              <a:buSzPts val="1440"/>
              <a:buFont typeface="Fira Sans"/>
              <a:buChar char="●"/>
            </a:pPr>
            <a:r>
              <a:rPr sz="1600">
                <a:solidFill>
                  <a:srgbClr val="28285E"/>
                </a:solidFill>
              </a:rPr>
              <a:t>The actions that the agent can perform</a:t>
            </a:r>
          </a:p>
          <a:p>
            <a:pPr marL="400050" indent="-285750">
              <a:spcAft>
                <a:spcPts val="800"/>
              </a:spcAft>
              <a:buClr>
                <a:srgbClr val="28285E"/>
              </a:buClr>
              <a:buSzPts val="1440"/>
              <a:buFont typeface="Fira Sans"/>
              <a:buChar char="●"/>
            </a:pPr>
            <a:r>
              <a:rPr sz="1600">
                <a:solidFill>
                  <a:srgbClr val="28285E"/>
                </a:solidFill>
              </a:rPr>
              <a:t>The agent’s percept sequence to date</a:t>
            </a:r>
          </a:p>
        </p:txBody>
      </p:sp>
      <p:sp>
        <p:nvSpPr>
          <p:cNvPr id="4" name="Rectangle 3"/>
          <p:cNvSpPr/>
          <p:nvPr/>
        </p:nvSpPr>
        <p:spPr>
          <a:xfrm>
            <a:off x="319251" y="820000"/>
            <a:ext cx="6014545" cy="13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a:solidFill>
                  <a:schemeClr val="tx2"/>
                </a:solidFill>
              </a:rPr>
              <a:t>“For each possible percept sequence, a rational agent should select an action that is expected to maximize its performance measure, given the evidence provided by the percept sequence and whatever built-in knowledge the agent has.”</a:t>
            </a:r>
          </a:p>
          <a:p>
            <a:pPr algn="r">
              <a:spcBef>
                <a:spcPts val="600"/>
              </a:spcBef>
            </a:pPr>
            <a:r>
              <a:rPr sz="1000" i="1">
                <a:solidFill>
                  <a:schemeClr val="tx2"/>
                </a:solidFill>
              </a:rPr>
              <a:t>Russell and Norvig, §2.2.2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demo agent: mini-swe-agent</a:t>
            </a:r>
          </a:p>
        </p:txBody>
      </p:sp>
      <p:sp>
        <p:nvSpPr>
          <p:cNvPr id="3" name="Rectangle 2"/>
          <p:cNvSpPr/>
          <p:nvPr/>
        </p:nvSpPr>
        <p:spPr>
          <a:xfrm>
            <a:off x="319251" y="730000"/>
            <a:ext cx="6014545" cy="76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One alert from OWASP BenchmarkPython, read as an issue report. mini-swe-agent localizes the flagged code, edits it, and submits a patch. The run ends when the submission is accepted.</a:t>
            </a:r>
          </a:p>
        </p:txBody>
      </p:sp>
      <p:pic>
        <p:nvPicPr>
          <p:cNvPr id="4" name="Picture 3" descr="state-graph.png"/>
          <p:cNvPicPr>
            <a:picLocks noChangeAspect="1"/>
          </p:cNvPicPr>
          <p:nvPr/>
        </p:nvPicPr>
        <p:blipFill>
          <a:blip r:embed="rId3"/>
          <a:stretch>
            <a:fillRect/>
          </a:stretch>
        </p:blipFill>
        <p:spPr>
          <a:xfrm>
            <a:off x="751388" y="1720000"/>
            <a:ext cx="5355225" cy="329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alert, one run, one patch</a:t>
            </a:r>
          </a:p>
        </p:txBody>
      </p:sp>
      <p:sp>
        <p:nvSpPr>
          <p:cNvPr id="3" name="TextBox 2"/>
          <p:cNvSpPr txBox="1"/>
          <p:nvPr/>
        </p:nvSpPr>
        <p:spPr>
          <a:xfrm>
            <a:off x="319251" y="630000"/>
            <a:ext cx="6014545" cy="200000"/>
          </a:xfrm>
          <a:prstGeom prst="rect">
            <a:avLst/>
          </a:prstGeom>
          <a:noFill/>
        </p:spPr>
        <p:txBody>
          <a:bodyPr wrap="none">
            <a:spAutoFit/>
          </a:bodyPr>
          <a:lstStyle/>
          <a:p>
            <a:r>
              <a:rPr sz="1200" b="1">
                <a:solidFill>
                  <a:srgbClr val="28285E"/>
                </a:solidFill>
              </a:rPr>
              <a:t>Before: the query is built by interpolation</a:t>
            </a:r>
          </a:p>
        </p:txBody>
      </p:sp>
      <p:sp>
        <p:nvSpPr>
          <p:cNvPr id="4" name="Rounded Rectangle 3"/>
          <p:cNvSpPr/>
          <p:nvPr/>
        </p:nvSpPr>
        <p:spPr>
          <a:xfrm>
            <a:off x="319251" y="89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f'SELECT username from USERS where password = \'</a:t>
            </a:r>
            <a:r>
              <a:rPr sz="1100" b="1">
                <a:solidFill>
                  <a:srgbClr val="C73561"/>
                </a:solidFill>
                <a:latin typeface="Maple Mono NF"/>
              </a:rPr>
              <a:t>{bar}</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p>
        </p:txBody>
      </p:sp>
      <p:pic>
        <p:nvPicPr>
          <p:cNvPr id="5" name="Picture 4" descr="run-compact.png"/>
          <p:cNvPicPr>
            <a:picLocks noChangeAspect="1"/>
          </p:cNvPicPr>
          <p:nvPr/>
        </p:nvPicPr>
        <p:blipFill>
          <a:blip r:embed="rId3"/>
          <a:stretch>
            <a:fillRect/>
          </a:stretch>
        </p:blipFill>
        <p:spPr>
          <a:xfrm>
            <a:off x="229000" y="1470000"/>
            <a:ext cx="6400000" cy="2142227"/>
          </a:xfrm>
          <a:prstGeom prst="rect">
            <a:avLst/>
          </a:prstGeom>
        </p:spPr>
      </p:pic>
      <p:sp>
        <p:nvSpPr>
          <p:cNvPr id="6" name="TextBox 5"/>
          <p:cNvSpPr txBox="1"/>
          <p:nvPr/>
        </p:nvSpPr>
        <p:spPr>
          <a:xfrm>
            <a:off x="319251" y="3620000"/>
            <a:ext cx="6014545" cy="200000"/>
          </a:xfrm>
          <a:prstGeom prst="rect">
            <a:avLst/>
          </a:prstGeom>
          <a:noFill/>
        </p:spPr>
        <p:txBody>
          <a:bodyPr wrap="none">
            <a:spAutoFit/>
          </a:bodyPr>
          <a:lstStyle/>
          <a:p>
            <a:r>
              <a:rPr sz="1200" b="1">
                <a:solidFill>
                  <a:srgbClr val="28285E"/>
                </a:solidFill>
              </a:rPr>
              <a:t>After: the query carries a placeholder and the value is bound</a:t>
            </a:r>
          </a:p>
        </p:txBody>
      </p:sp>
      <p:sp>
        <p:nvSpPr>
          <p:cNvPr id="7" name="Rounded Rectangle 6"/>
          <p:cNvSpPr/>
          <p:nvPr/>
        </p:nvSpPr>
        <p:spPr>
          <a:xfrm>
            <a:off x="319251" y="388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'SELECT username from USERS where password = </a:t>
            </a:r>
            <a:r>
              <a:rPr sz="1100" b="1">
                <a:solidFill>
                  <a:srgbClr val="099191"/>
                </a:solidFill>
                <a:latin typeface="Maple Mono NF"/>
              </a:rPr>
              <a:t>?</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r>
              <a:rPr sz="1100" b="1">
                <a:solidFill>
                  <a:srgbClr val="099191"/>
                </a:solidFill>
                <a:latin typeface="Maple Mono NF"/>
              </a:rPr>
              <a:t>, (bar,)</a:t>
            </a:r>
            <a:r>
              <a:rPr sz="1100">
                <a:solidFill>
                  <a:srgbClr val="28285E"/>
                </a:solidFill>
                <a:latin typeface="Maple Mono NF"/>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this is a rational agent</a:t>
            </a:r>
          </a:p>
        </p:txBody>
      </p:sp>
      <p:sp>
        <p:nvSpPr>
          <p:cNvPr id="3" name="Content Placeholder 2"/>
          <p:cNvSpPr>
            <a:spLocks noGrp="1"/>
          </p:cNvSpPr>
          <p:nvPr>
            <p:ph idx="1"/>
          </p:nvPr>
        </p:nvSpPr>
        <p:spPr>
          <a:xfrm>
            <a:off x="319251" y="740000"/>
            <a:ext cx="6014545" cy="2700000"/>
          </a:xfrm>
        </p:spPr>
        <p:txBody>
          <a:bodyPr wrap="square"/>
          <a:lstStyle/>
          <a:p>
            <a:pPr marL="0" indent="0">
              <a:buNone/>
            </a:pPr>
            <a:r>
              <a:rPr sz="1400" b="1" dirty="0">
                <a:solidFill>
                  <a:srgbClr val="28285E"/>
                </a:solidFill>
              </a:rPr>
              <a:t>It is rational, but only given four things we </a:t>
            </a:r>
            <a:r>
              <a:rPr lang="en-US" sz="1400" b="1" dirty="0">
                <a:solidFill>
                  <a:srgbClr val="28285E"/>
                </a:solidFill>
              </a:rPr>
              <a:t>must</a:t>
            </a:r>
            <a:r>
              <a:rPr sz="1400" b="1" dirty="0">
                <a:solidFill>
                  <a:srgbClr val="28285E"/>
                </a:solidFill>
              </a:rPr>
              <a:t> state:</a:t>
            </a:r>
          </a:p>
          <a:p>
            <a:pPr marL="400050" indent="-285750">
              <a:spcAft>
                <a:spcPts val="700"/>
              </a:spcAft>
              <a:buClr>
                <a:srgbClr val="28285E"/>
              </a:buClr>
              <a:buSzPts val="1260"/>
              <a:buFont typeface="Fira Sans"/>
              <a:buChar char="●"/>
            </a:pPr>
            <a:r>
              <a:rPr sz="1400" b="1" dirty="0">
                <a:solidFill>
                  <a:srgbClr val="28285E"/>
                </a:solidFill>
              </a:rPr>
              <a:t>The performance measure:</a:t>
            </a:r>
            <a:r>
              <a:rPr sz="1400" dirty="0">
                <a:solidFill>
                  <a:srgbClr val="28285E"/>
                </a:solidFill>
              </a:rPr>
              <a:t> one point if the patch removes the reported weakness and leaves the endpoint behaving as it did</a:t>
            </a:r>
          </a:p>
          <a:p>
            <a:pPr marL="400050" indent="-285750">
              <a:spcAft>
                <a:spcPts val="700"/>
              </a:spcAft>
              <a:buClr>
                <a:srgbClr val="28285E"/>
              </a:buClr>
              <a:buSzPts val="1260"/>
              <a:buFont typeface="Fira Sans"/>
              <a:buChar char="●"/>
            </a:pPr>
            <a:r>
              <a:rPr lang="en-US" sz="1400" b="1" dirty="0">
                <a:solidFill>
                  <a:srgbClr val="28285E"/>
                </a:solidFill>
              </a:rPr>
              <a:t>Prior knowledge:</a:t>
            </a:r>
            <a:r>
              <a:rPr lang="en-US" sz="1400" dirty="0">
                <a:solidFill>
                  <a:srgbClr val="28285E"/>
                </a:solidFill>
              </a:rPr>
              <a:t> the application's layout, and what each tool </a:t>
            </a:r>
            <a:r>
              <a:rPr sz="1400" dirty="0">
                <a:solidFill>
                  <a:srgbClr val="28285E"/>
                </a:solidFill>
              </a:rPr>
              <a:t>returns</a:t>
            </a:r>
          </a:p>
          <a:p>
            <a:pPr marL="400050" indent="-285750">
              <a:spcAft>
                <a:spcPts val="700"/>
              </a:spcAft>
              <a:buClr>
                <a:srgbClr val="28285E"/>
              </a:buClr>
              <a:buSzPts val="1260"/>
              <a:buFont typeface="Fira Sans"/>
              <a:buChar char="●"/>
            </a:pPr>
            <a:r>
              <a:rPr sz="1400" b="1" dirty="0">
                <a:solidFill>
                  <a:srgbClr val="28285E"/>
                </a:solidFill>
              </a:rPr>
              <a:t>The actions available:</a:t>
            </a:r>
            <a:r>
              <a:rPr sz="1400" dirty="0">
                <a:solidFill>
                  <a:srgbClr val="28285E"/>
                </a:solidFill>
              </a:rPr>
              <a:t> read_file, search, edit, submit</a:t>
            </a:r>
          </a:p>
          <a:p>
            <a:pPr marL="400050" indent="-285750">
              <a:spcAft>
                <a:spcPts val="700"/>
              </a:spcAft>
              <a:buClr>
                <a:srgbClr val="28285E"/>
              </a:buClr>
              <a:buSzPts val="1260"/>
              <a:buFont typeface="Fira Sans"/>
              <a:buChar char="●"/>
            </a:pPr>
            <a:r>
              <a:rPr sz="1400" b="1" dirty="0">
                <a:solidFill>
                  <a:srgbClr val="28285E"/>
                </a:solidFill>
              </a:rPr>
              <a:t>The percepts:</a:t>
            </a:r>
            <a:r>
              <a:rPr sz="1400" dirty="0">
                <a:solidFill>
                  <a:srgbClr val="28285E"/>
                </a:solidFill>
              </a:rPr>
              <a:t> whatever the tools return, and nothing else</a:t>
            </a:r>
          </a:p>
        </p:txBody>
      </p:sp>
      <p:sp>
        <p:nvSpPr>
          <p:cNvPr id="4" name="Rectangle 3"/>
          <p:cNvSpPr/>
          <p:nvPr/>
        </p:nvSpPr>
        <p:spPr>
          <a:xfrm>
            <a:off x="319251" y="3297836"/>
            <a:ext cx="6014545" cy="822164"/>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u="none" dirty="0">
                <a:solidFill>
                  <a:schemeClr val="tx2"/>
                </a:solidFill>
              </a:rPr>
              <a:t>Reading the flagged lines before editing them is the action that </a:t>
            </a:r>
            <a:r>
              <a:rPr sz="1400" b="1" u="sng" dirty="0">
                <a:solidFill>
                  <a:schemeClr val="tx2"/>
                </a:solidFill>
              </a:rPr>
              <a:t>maximizes expected performance</a:t>
            </a:r>
            <a:r>
              <a:rPr sz="1400" b="0" u="none" dirty="0">
                <a:solidFill>
                  <a:schemeClr val="tx2"/>
                </a:solidFill>
              </a:rPr>
              <a:t>. </a:t>
            </a:r>
          </a:p>
        </p:txBody>
      </p:sp>
      <p:sp>
        <p:nvSpPr>
          <p:cNvPr id="5" name="Rectangle 4"/>
          <p:cNvSpPr/>
          <p:nvPr/>
        </p:nvSpPr>
        <p:spPr>
          <a:xfrm>
            <a:off x="319251" y="42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Rationality is relative to </a:t>
            </a:r>
            <a:r>
              <a:rPr sz="1200" b="1">
                <a:solidFill>
                  <a:srgbClr val="28285E"/>
                </a:solidFill>
              </a:rPr>
              <a:t>those four</a:t>
            </a:r>
            <a:r>
              <a:rPr lang="en-US" sz="1200" b="1">
                <a:solidFill>
                  <a:srgbClr val="28285E"/>
                </a:solidFill>
              </a:rPr>
              <a:t>!</a:t>
            </a:r>
            <a:endParaRPr sz="1200" b="1" dirty="0">
              <a:solidFill>
                <a:srgbClr val="28285E"/>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it is not</a:t>
            </a:r>
          </a:p>
        </p:txBody>
      </p:sp>
      <p:sp>
        <p:nvSpPr>
          <p:cNvPr id="3" name="Content Placeholder 2"/>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8285E"/>
                </a:solidFill>
              </a:rPr>
              <a:t>Circumstances </a:t>
            </a:r>
            <a:r>
              <a:rPr lang="en-US" b="1" dirty="0">
                <a:solidFill>
                  <a:srgbClr val="28285E"/>
                </a:solidFill>
              </a:rPr>
              <a:t>under which the agent </a:t>
            </a:r>
            <a:r>
              <a:rPr sz="1400" b="1" dirty="0">
                <a:solidFill>
                  <a:srgbClr val="28285E"/>
                </a:solidFill>
              </a:rPr>
              <a:t>stops being rational:</a:t>
            </a:r>
          </a:p>
          <a:p>
            <a:pPr marL="400050" indent="-285750">
              <a:spcBef>
                <a:spcPts val="600"/>
              </a:spcBef>
              <a:spcAft>
                <a:spcPts val="800"/>
              </a:spcAft>
              <a:buClr>
                <a:srgbClr val="28285E"/>
              </a:buClr>
              <a:buSzPts val="1260"/>
              <a:buFont typeface="Fira Sans"/>
              <a:buChar char="●"/>
            </a:pPr>
            <a:r>
              <a:rPr sz="1400" dirty="0"/>
              <a:t>Optimizing per tool call,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8285E"/>
              </a:buClr>
              <a:buSzPts val="1260"/>
              <a:buFont typeface="Fira Sans"/>
              <a:buChar char="●"/>
            </a:pPr>
            <a:r>
              <a:rPr sz="1400">
                <a:solidFill>
                  <a:schemeClr val="tx1"/>
                </a:solidFill>
              </a:rPr>
              <a:t>Patch only the flagged line and the weakness survives, because the unsafe value arrives from a helper the alert never names. A better agent follows the value first.</a:t>
            </a:r>
            <a:r>
              <a:rPr sz="1400" b="1">
                <a:solidFill>
                  <a:srgbClr val="C73561"/>
                </a:solidFill>
              </a:rPr>
              <a:t>(becomes relevant when we add a planner)</a:t>
            </a:r>
          </a:p>
          <a:p>
            <a:pPr marL="400050" indent="-285750">
              <a:spcAft>
                <a:spcPts val="800"/>
              </a:spcAft>
              <a:buClr>
                <a:srgbClr val="28285E"/>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p:cNvSpPr/>
          <p:nvPr/>
        </p:nvSpPr>
        <p:spPr>
          <a:xfrm>
            <a:off x="319251" y="3620000"/>
            <a:ext cx="6014545" cy="62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500" b="1" u="sng">
                <a:solidFill>
                  <a:schemeClr val="tx2"/>
                </a:solidFill>
              </a:rPr>
              <a:t>Budget</a:t>
            </a:r>
            <a:r>
              <a:rPr sz="1500" b="0" u="none">
                <a:solidFill>
                  <a:schemeClr val="tx2"/>
                </a:solidFill>
              </a:rPr>
              <a:t>, </a:t>
            </a:r>
            <a:r>
              <a:rPr sz="1500" b="1" u="sng">
                <a:solidFill>
                  <a:schemeClr val="tx2"/>
                </a:solidFill>
              </a:rPr>
              <a:t>depth of investigation</a:t>
            </a:r>
            <a:r>
              <a:rPr sz="1500" b="0" u="none">
                <a:solidFill>
                  <a:schemeClr val="tx2"/>
                </a:solidFill>
              </a:rPr>
              <a:t>, </a:t>
            </a:r>
            <a:r>
              <a:rPr sz="1500" b="1" u="sng">
                <a:solidFill>
                  <a:schemeClr val="tx2"/>
                </a:solidFill>
              </a:rPr>
              <a:t>termination</a:t>
            </a:r>
            <a:r>
              <a:rPr sz="1500" b="0" u="none">
                <a:solidFill>
                  <a:schemeClr val="tx2"/>
                </a:solidFill>
              </a:rPr>
              <a:t>. Each later section makes one of them a decision.</a:t>
            </a:r>
          </a:p>
        </p:txBody>
      </p:sp>
      <p:sp>
        <p:nvSpPr>
          <p:cNvPr id="5" name="Rectangle 4"/>
          <p:cNvSpPr/>
          <p:nvPr/>
        </p:nvSpPr>
        <p:spPr>
          <a:xfrm>
            <a:off x="319251" y="43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And the Submit state checks less than the measure asks:</a:t>
            </a:r>
            <a:r>
              <a:rPr sz="1200" b="1" dirty="0">
                <a:solidFill>
                  <a:srgbClr val="28285E"/>
                </a:solidFill>
              </a:rPr>
              <a:t> </a:t>
            </a:r>
            <a:r>
              <a:rPr lang="en-US" sz="1200" b="1" dirty="0">
                <a:solidFill>
                  <a:srgbClr val="28285E"/>
                </a:solidFill>
              </a:rPr>
              <a:t>A</a:t>
            </a:r>
            <a:r>
              <a:rPr sz="1200" b="1" dirty="0">
                <a:solidFill>
                  <a:srgbClr val="28285E"/>
                </a:solidFill>
              </a:rPr>
              <a:t>ccepted is not </a:t>
            </a:r>
            <a:r>
              <a:rPr lang="en-US" sz="1200" b="1" dirty="0">
                <a:solidFill>
                  <a:srgbClr val="28285E"/>
                </a:solidFill>
              </a:rPr>
              <a:t>C</a:t>
            </a:r>
            <a:r>
              <a:rPr sz="1200" b="1" dirty="0">
                <a:solidFill>
                  <a:srgbClr val="28285E"/>
                </a:solidFill>
              </a:rPr>
              <a:t>orrect.</a:t>
            </a:r>
          </a:p>
        </p:txBody>
      </p:sp>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task environment</a:t>
            </a:r>
          </a:p>
        </p:txBody>
      </p:sp>
      <p:sp>
        <p:nvSpPr>
          <p:cNvPr id="3" name="Rectangle 2"/>
          <p:cNvSpPr/>
          <p:nvPr/>
        </p:nvSpPr>
        <p:spPr>
          <a:xfrm>
            <a:off x="319251" y="67721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r>
              <a:rPr sz="1400" dirty="0">
                <a:solidFill>
                  <a:schemeClr val="tx2"/>
                </a:solidFill>
              </a:rPr>
              <a:t>A task environment is a performance measure</a:t>
            </a:r>
            <a:r>
              <a:rPr lang="en-US" sz="1400" dirty="0">
                <a:solidFill>
                  <a:schemeClr val="tx2"/>
                </a:solidFill>
              </a:rPr>
              <a:t> </a:t>
            </a:r>
            <a:r>
              <a:rPr lang="en-US" sz="1400" b="1" dirty="0">
                <a:solidFill>
                  <a:schemeClr val="tx2"/>
                </a:solidFill>
              </a:rPr>
              <a:t>(P)</a:t>
            </a:r>
            <a:r>
              <a:rPr sz="1400" dirty="0">
                <a:solidFill>
                  <a:schemeClr val="tx2"/>
                </a:solidFill>
              </a:rPr>
              <a:t>, an environment</a:t>
            </a:r>
            <a:r>
              <a:rPr lang="en-US" sz="1400" dirty="0">
                <a:solidFill>
                  <a:schemeClr val="tx2"/>
                </a:solidFill>
              </a:rPr>
              <a:t> </a:t>
            </a:r>
            <a:r>
              <a:rPr lang="en-US" sz="1400" b="1" dirty="0">
                <a:solidFill>
                  <a:schemeClr val="tx2"/>
                </a:solidFill>
              </a:rPr>
              <a:t>(E)</a:t>
            </a:r>
            <a:r>
              <a:rPr sz="1400" dirty="0">
                <a:solidFill>
                  <a:schemeClr val="tx2"/>
                </a:solidFill>
              </a:rPr>
              <a:t>, actuators </a:t>
            </a:r>
            <a:r>
              <a:rPr lang="en-US" sz="1400" b="1" dirty="0">
                <a:solidFill>
                  <a:schemeClr val="tx2"/>
                </a:solidFill>
              </a:rPr>
              <a:t>(A)</a:t>
            </a:r>
            <a:r>
              <a:rPr lang="en-US" sz="1400" dirty="0">
                <a:solidFill>
                  <a:schemeClr val="tx2"/>
                </a:solidFill>
              </a:rPr>
              <a:t> </a:t>
            </a:r>
            <a:r>
              <a:rPr sz="1400" dirty="0">
                <a:solidFill>
                  <a:schemeClr val="tx2"/>
                </a:solidFill>
              </a:rPr>
              <a:t>and sensors</a:t>
            </a:r>
            <a:r>
              <a:rPr lang="en-US" sz="1400" dirty="0">
                <a:solidFill>
                  <a:schemeClr val="tx2"/>
                </a:solidFill>
              </a:rPr>
              <a:t> </a:t>
            </a:r>
            <a:r>
              <a:rPr lang="en-US" sz="1400" b="1" dirty="0">
                <a:solidFill>
                  <a:schemeClr val="tx2"/>
                </a:solidFill>
              </a:rPr>
              <a:t>(S)</a:t>
            </a:r>
            <a:r>
              <a:rPr sz="1400" dirty="0">
                <a:solidFill>
                  <a:schemeClr val="tx2"/>
                </a:solidFill>
              </a:rPr>
              <a:t>, written down as a PEAS description. </a:t>
            </a:r>
          </a:p>
        </p:txBody>
      </p:sp>
      <p:graphicFrame>
        <p:nvGraphicFramePr>
          <p:cNvPr id="4" name="Table 3"/>
          <p:cNvGraphicFramePr>
            <a:graphicFrameLocks noGrp="1"/>
          </p:cNvGraphicFramePr>
          <p:nvPr>
            <p:extLst>
              <p:ext uri="{D42A27DB-BD31-4B8C-83A1-F6EECF244321}">
                <p14:modId xmlns:p14="http://schemas.microsoft.com/office/powerpoint/2010/main" val="4095265410"/>
              </p:ext>
            </p:extLst>
          </p:nvPr>
        </p:nvGraphicFramePr>
        <p:xfrm>
          <a:off x="319251" y="1619971"/>
          <a:ext cx="6014545" cy="2144040"/>
        </p:xfrm>
        <a:graphic>
          <a:graphicData uri="http://schemas.openxmlformats.org/drawingml/2006/table">
            <a:tbl>
              <a:tblPr>
                <a:tableStyleId>{2D5ABB26-0587-4C30-8999-92F81FD0307C}</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200" b="1" dirty="0">
                          <a:solidFill>
                            <a:schemeClr val="tx1">
                              <a:lumMod val="85000"/>
                              <a:lumOff val="15000"/>
                            </a:schemeClr>
                          </a:solidFill>
                        </a:rPr>
                        <a:t>For mini-swe-agent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Performance measure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reported weakness is </a:t>
                      </a:r>
                      <a:r>
                        <a:rPr lang="en-US" sz="1200" b="0" dirty="0">
                          <a:solidFill>
                            <a:schemeClr val="tx1">
                              <a:lumMod val="85000"/>
                              <a:lumOff val="15000"/>
                            </a:schemeClr>
                          </a:solidFill>
                        </a:rPr>
                        <a:t>gone,</a:t>
                      </a:r>
                      <a:r>
                        <a:rPr sz="1200" b="0" dirty="0">
                          <a:solidFill>
                            <a:schemeClr val="tx1">
                              <a:lumMod val="85000"/>
                              <a:lumOff val="15000"/>
                            </a:schemeClr>
                          </a:solidFill>
                        </a:rPr>
                        <a:t> and the endpoint still returns what it returned before, at bounded cost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255372">
                <a:tc>
                  <a:txBody>
                    <a:bodyPr/>
                    <a:lstStyle/>
                    <a:p>
                      <a:pPr algn="l">
                        <a:buNone/>
                      </a:pPr>
                      <a:r>
                        <a:rPr sz="1200" b="1">
                          <a:solidFill>
                            <a:srgbClr val="28285E"/>
                          </a:solidFill>
                        </a:rPr>
                        <a:t>Environment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OWASP </a:t>
                      </a:r>
                      <a:r>
                        <a:rPr sz="1200" b="0" dirty="0">
                          <a:solidFill>
                            <a:schemeClr val="tx1">
                              <a:lumMod val="85000"/>
                              <a:lumOff val="15000"/>
                            </a:schemeClr>
                          </a:solidFill>
                          <a:latin typeface="Maple Mono NF" panose="020F0509060000000000" pitchFamily="49" charset="0"/>
                          <a:ea typeface="Maple Mono NF" panose="020F0509060000000000" pitchFamily="49" charset="0"/>
                        </a:rPr>
                        <a:t>BenchmarkPython</a:t>
                      </a:r>
                      <a:r>
                        <a:rPr sz="1200" b="0" dirty="0">
                          <a:solidFill>
                            <a:schemeClr val="tx1">
                              <a:lumMod val="85000"/>
                              <a:lumOff val="15000"/>
                            </a:schemeClr>
                          </a:solidFill>
                        </a:rPr>
                        <a:t> at a pinned commit, one scanner alert read as an issue report, and the working tree the agent edits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Actuators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a:solidFill>
                            <a:schemeClr val="tx1">
                              <a:lumMod val="85000"/>
                              <a:lumOff val="15000"/>
                            </a:schemeClr>
                          </a:solidFill>
                        </a:rPr>
                        <a:t>read_file(path, range), search(pattern), edit(path, old, new), submit(patch)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Sensors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alert, file excerpts, search hits, edit confirmations, the validation result, and tool errors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665FFBF3-3207-3468-0B19-E7985ADE21B1}"/>
              </a:ext>
            </a:extLst>
          </p:cNvPr>
          <p:cNvSpPr txBox="1"/>
          <p:nvPr/>
        </p:nvSpPr>
        <p:spPr>
          <a:xfrm>
            <a:off x="4565363" y="1318892"/>
            <a:ext cx="1768433" cy="253916"/>
          </a:xfrm>
          <a:prstGeom prst="rect">
            <a:avLst/>
          </a:prstGeom>
          <a:noFill/>
        </p:spPr>
        <p:txBody>
          <a:bodyPr wrap="none" rtlCol="0">
            <a:spAutoFit/>
          </a:bodyPr>
          <a:lstStyle/>
          <a:p>
            <a:r>
              <a:rPr lang="en-US" sz="1050" i="1" dirty="0">
                <a:solidFill>
                  <a:schemeClr val="bg2"/>
                </a:solidFill>
              </a:rPr>
              <a:t>Russell and Norvig, §2.3.1</a:t>
            </a:r>
          </a:p>
        </p:txBody>
      </p:sp>
      <p:sp>
        <p:nvSpPr>
          <p:cNvPr id="6" name="TextBox 5">
            <a:extLst>
              <a:ext uri="{FF2B5EF4-FFF2-40B4-BE49-F238E27FC236}">
                <a16:creationId xmlns:a16="http://schemas.microsoft.com/office/drawing/2014/main" id="{6F6A8D69-4A73-6D44-5200-482241C2294D}"/>
              </a:ext>
            </a:extLst>
          </p:cNvPr>
          <p:cNvSpPr txBox="1"/>
          <p:nvPr/>
        </p:nvSpPr>
        <p:spPr>
          <a:xfrm>
            <a:off x="233584" y="4095968"/>
            <a:ext cx="6185877" cy="261610"/>
          </a:xfrm>
          <a:prstGeom prst="rect">
            <a:avLst/>
          </a:prstGeom>
          <a:solidFill>
            <a:schemeClr val="accent4"/>
          </a:solidFill>
          <a:ln>
            <a:solidFill>
              <a:schemeClr val="accent4"/>
            </a:solidFill>
          </a:ln>
        </p:spPr>
        <p:txBody>
          <a:bodyPr wrap="square" rtlCol="0">
            <a:spAutoFit/>
          </a:bodyPr>
          <a:lstStyle/>
          <a:p>
            <a:pPr algn="just"/>
            <a:r>
              <a:rPr lang="en-US" sz="1100" b="1" dirty="0">
                <a:solidFill>
                  <a:schemeClr val="bg1"/>
                </a:solidFill>
                <a:latin typeface="Fira Sans Light" panose="020B0403050000020004" pitchFamily="34" charset="0"/>
              </a:rPr>
              <a:t>In designing an agent, the first step is to try to specify the task environment as fully as possible.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Fully or partially observable</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Fully observable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Partially observable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give the agent the complete state of the environment at each point in time, or at least every part that matters for the choice of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are noisy or inaccurate, or part of the state is simply missing. With no sensors at all, unobservable.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backgammon,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taxi driving, medical diagnosis,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Partially observable. </a:t>
            </a:r>
            <a:r>
              <a:rPr sz="1300" dirty="0">
                <a:solidFill>
                  <a:srgbClr val="28285E"/>
                </a:solidFill>
              </a:rPr>
              <a:t>Our agent sees only what it reads, and it never sees whether the endpoint still works.</a:t>
            </a:r>
            <a:r>
              <a:rPr lang="en-US" sz="1300" dirty="0">
                <a:solidFill>
                  <a:srgbClr val="28285E"/>
                </a:solidFill>
              </a:rPr>
              <a:t> How or where the application is running, the OS or what other programs are running simultaneously. </a:t>
            </a:r>
            <a:endParaRPr sz="1300" dirty="0">
              <a:solidFill>
                <a:srgbClr val="28285E"/>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Single agent or multiagent</a:t>
            </a:r>
          </a:p>
        </p:txBody>
      </p:sp>
      <p:graphicFrame>
        <p:nvGraphicFramePr>
          <p:cNvPr id="3" name="Table 2"/>
          <p:cNvGraphicFramePr>
            <a:graphicFrameLocks noGrp="1"/>
          </p:cNvGraphicFramePr>
          <p:nvPr>
            <p:extLst>
              <p:ext uri="{D42A27DB-BD31-4B8C-83A1-F6EECF244321}">
                <p14:modId xmlns:p14="http://schemas.microsoft.com/office/powerpoint/2010/main" val="4098586134"/>
              </p:ext>
            </p:extLst>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Single agent</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Multiagent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No other entity behaves as though it were maximising a measure that depends on what this agent does.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Another entity is best described as maximizing a measure whose value depends on this agent's behavior. It can compete, as in chess, or cooperate, as in traffic.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Chess with a clock, poker, backgammon, taxi driving,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Single agent. </a:t>
            </a:r>
            <a:r>
              <a:rPr sz="1300" dirty="0">
                <a:solidFill>
                  <a:srgbClr val="28285E"/>
                </a:solidFill>
              </a:rPr>
              <a:t>Nothing in the </a:t>
            </a:r>
            <a:r>
              <a:rPr lang="en-US" sz="1300" dirty="0">
                <a:solidFill>
                  <a:srgbClr val="28285E"/>
                </a:solidFill>
              </a:rPr>
              <a:t>architecture </a:t>
            </a:r>
            <a:r>
              <a:rPr sz="1300" dirty="0">
                <a:solidFill>
                  <a:srgbClr val="28285E"/>
                </a:solidFill>
              </a:rPr>
              <a:t>is trying to </a:t>
            </a:r>
            <a:r>
              <a:rPr lang="en-US" sz="1300">
                <a:solidFill>
                  <a:srgbClr val="28285E"/>
                </a:solidFill>
              </a:rPr>
              <a:t>cooperate with or </a:t>
            </a:r>
            <a:r>
              <a:rPr sz="1300" dirty="0">
                <a:solidFill>
                  <a:srgbClr val="28285E"/>
                </a:solidFill>
              </a:rPr>
              <a:t>beat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Deterministic or nondeterministic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Deterministic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Nondeterministic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state and the action the agent executes fix the next state completely.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They do not. A partly observable environment can look nondeterministic even when it is not. Stochastic is the narrower word, for models that put numbers on the possibilities.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backgammon, taxi driving, medical diagnosis,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Deterministic. </a:t>
            </a:r>
            <a:r>
              <a:rPr sz="1300">
                <a:solidFill>
                  <a:srgbClr val="28285E"/>
                </a:solidFill>
              </a:rPr>
              <a:t>The same read, and the same rescan, give the same answer every time.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Episodic or sequential</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Episodic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Sequential</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Experience divides into separate episodes. The agent perceives, then acts once, and the next episode owes nothing to the last.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decision can affect every decision that follows.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Image analysis, part-picking robot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poker, backgammon, taxi driving, medical diagnosis,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Both, at different scales. </a:t>
            </a:r>
            <a:r>
              <a:rPr sz="1300">
                <a:solidFill>
                  <a:srgbClr val="28285E"/>
                </a:solidFill>
              </a:rPr>
              <a:t>Sequential inside one alert, because what it reads next depends on what it just read. Episodic across alerts, because one alert teaches it nothing about the next.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Static or dynamic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Static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Dynamic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cannot change while the agent is thinking, so the agent need not watch the clock.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 change while the agent is thinking. Semidynamic if the world holds still but the score does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poker, backgammon; chess with a clock and image analysis are semidynamic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part-picking robot,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Static. </a:t>
            </a:r>
            <a:r>
              <a:rPr sz="1300">
                <a:solidFill>
                  <a:srgbClr val="28285E"/>
                </a:solidFill>
              </a:rPr>
              <a:t>The working tree changes only when our agent edits 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Discrete or continuous</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Discrete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Continuous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state, the handling of time, and the agent's percepts and actions all come in a finite number of distinct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State, time, percepts or actions sweep through a range of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poker, backgammon,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Discrete. </a:t>
            </a:r>
            <a:r>
              <a:rPr sz="1300">
                <a:solidFill>
                  <a:srgbClr val="28285E"/>
                </a:solidFill>
              </a:rPr>
              <a:t>Files, lines, hunks and edits are countable. There is nothing here to measure.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Known or unknown</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Known</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Unknown</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outcomes of every action are given. This is about what the agent knows, not about the environment itself.</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agent has to learn how the world works before it can choose well. A new video game shows the whole screen and still will not say what the buttons do.</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Chess and poker: the rules can be handed over in full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Driving a rented car in a country you have not driven in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Known. </a:t>
            </a:r>
            <a:r>
              <a:rPr sz="1300">
                <a:solidFill>
                  <a:srgbClr val="28285E"/>
                </a:solidFill>
              </a:rPr>
              <a:t>We know what each tool does. What we do not know is where the flaw is, and that is the other axis.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agent, its tools, and its environment</a:t>
            </a:r>
          </a:p>
        </p:txBody>
      </p:sp>
      <p:pic>
        <p:nvPicPr>
          <p:cNvPr id="3" name="Picture 2" descr="state-graph-annotated.png"/>
          <p:cNvPicPr>
            <a:picLocks noChangeAspect="1"/>
          </p:cNvPicPr>
          <p:nvPr/>
        </p:nvPicPr>
        <p:blipFill>
          <a:blip r:embed="rId3"/>
          <a:stretch>
            <a:fillRect/>
          </a:stretch>
        </p:blipFill>
        <p:spPr>
          <a:xfrm>
            <a:off x="250147" y="700000"/>
            <a:ext cx="6152752" cy="3496689"/>
          </a:xfrm>
          <a:prstGeom prst="rect">
            <a:avLst/>
          </a:prstGeom>
        </p:spPr>
      </p:pic>
      <p:sp>
        <p:nvSpPr>
          <p:cNvPr id="4" name="Rectangle 3"/>
          <p:cNvSpPr/>
          <p:nvPr/>
        </p:nvSpPr>
        <p:spPr>
          <a:xfrm>
            <a:off x="319251" y="4320000"/>
            <a:ext cx="6014545" cy="544308"/>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Every label in </a:t>
            </a:r>
            <a:r>
              <a:rPr lang="en-US" sz="1200" dirty="0">
                <a:solidFill>
                  <a:schemeClr val="accent4"/>
                </a:solidFill>
              </a:rPr>
              <a:t>magenta</a:t>
            </a:r>
            <a:r>
              <a:rPr sz="1200" dirty="0">
                <a:solidFill>
                  <a:schemeClr val="accent4"/>
                </a:solidFill>
              </a:rPr>
              <a:t> </a:t>
            </a:r>
            <a:r>
              <a:rPr sz="1200" dirty="0">
                <a:solidFill>
                  <a:srgbClr val="28285E"/>
                </a:solidFill>
              </a:rPr>
              <a:t>na</a:t>
            </a:r>
            <a:r>
              <a:rPr lang="en-US" sz="1200" dirty="0">
                <a:solidFill>
                  <a:srgbClr val="28285E"/>
                </a:solidFill>
              </a:rPr>
              <a:t>m</a:t>
            </a:r>
            <a:r>
              <a:rPr sz="1200" dirty="0">
                <a:solidFill>
                  <a:srgbClr val="28285E"/>
                </a:solidFill>
              </a:rPr>
              <a:t>es a row of the vocabulary table</a:t>
            </a:r>
            <a:r>
              <a:rPr lang="en-US" sz="1200" dirty="0">
                <a:solidFill>
                  <a:srgbClr val="28285E"/>
                </a:solidFill>
              </a:rPr>
              <a:t> (Table 2) in the lecture notes.</a:t>
            </a:r>
            <a:endParaRPr sz="1200" dirty="0">
              <a:solidFill>
                <a:srgbClr val="28285E"/>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CC7E3C6B-C7BA-D0CB-DAC9-A65067BE7055}"/>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2" name="Title 1"/>
          <p:cNvSpPr>
            <a:spLocks noGrp="1"/>
          </p:cNvSpPr>
          <p:nvPr>
            <p:ph type="title"/>
          </p:nvPr>
        </p:nvSpPr>
        <p:spPr/>
        <p:txBody>
          <a:bodyPr/>
          <a:lstStyle/>
          <a:p>
            <a:r>
              <a:rPr dirty="0">
                <a:solidFill>
                  <a:schemeClr val="tx2"/>
                </a:solidFill>
              </a:rPr>
              <a:t>The rest of this lecture</a:t>
            </a:r>
          </a:p>
        </p:txBody>
      </p:sp>
      <p:sp>
        <p:nvSpPr>
          <p:cNvPr id="3" name="Rectangle 2"/>
          <p:cNvSpPr/>
          <p:nvPr/>
        </p:nvSpPr>
        <p:spPr>
          <a:xfrm>
            <a:off x="319251" y="607969"/>
            <a:ext cx="6014545" cy="850801"/>
          </a:xfrm>
          <a:prstGeom prst="rect">
            <a:avLst/>
          </a:prstGeom>
          <a:solidFill>
            <a:srgbClr val="28285E"/>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We take </a:t>
            </a:r>
            <a:r>
              <a:rPr sz="1400" dirty="0">
                <a:latin typeface="Maple Mono NF"/>
              </a:rPr>
              <a:t>mini-swe-agent</a:t>
            </a:r>
            <a:r>
              <a:rPr sz="1400" dirty="0">
                <a:solidFill>
                  <a:schemeClr val="tx2"/>
                </a:solidFill>
              </a:rPr>
              <a:t> through </a:t>
            </a:r>
            <a:r>
              <a:rPr lang="en-US" sz="1400" dirty="0">
                <a:solidFill>
                  <a:schemeClr val="tx2"/>
                </a:solidFill>
              </a:rPr>
              <a:t>four</a:t>
            </a:r>
            <a:r>
              <a:rPr sz="1400" dirty="0">
                <a:solidFill>
                  <a:schemeClr val="tx2"/>
                </a:solidFill>
              </a:rPr>
              <a:t> architectures, escalating how much of the run </a:t>
            </a:r>
            <a:r>
              <a:rPr sz="1400" b="1" dirty="0">
                <a:solidFill>
                  <a:schemeClr val="tx2"/>
                </a:solidFill>
              </a:rPr>
              <a:t>it decides for itself</a:t>
            </a:r>
            <a:r>
              <a:rPr sz="1400" dirty="0">
                <a:solidFill>
                  <a:schemeClr val="tx2"/>
                </a:solidFill>
              </a:rPr>
              <a:t>.</a:t>
            </a:r>
            <a:r>
              <a:rPr lang="en-US" sz="1400" dirty="0">
                <a:solidFill>
                  <a:schemeClr val="tx2"/>
                </a:solidFill>
              </a:rPr>
              <a:t> </a:t>
            </a:r>
          </a:p>
          <a:p>
            <a:pPr algn="just">
              <a:lnSpc>
                <a:spcPct val="114000"/>
              </a:lnSpc>
            </a:pPr>
            <a:r>
              <a:rPr lang="en-US" sz="1400" dirty="0">
                <a:solidFill>
                  <a:schemeClr val="tx2"/>
                </a:solidFill>
              </a:rPr>
              <a:t>Same agent, same alert. Only the architecture changes.</a:t>
            </a:r>
          </a:p>
        </p:txBody>
      </p:sp>
      <p:sp>
        <p:nvSpPr>
          <p:cNvPr id="7" name="Oval 6">
            <a:extLst>
              <a:ext uri="{FF2B5EF4-FFF2-40B4-BE49-F238E27FC236}">
                <a16:creationId xmlns:a16="http://schemas.microsoft.com/office/drawing/2014/main" id="{21B305C6-BCD8-3084-6066-D43E025F6128}"/>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2F27B1B-E86D-93B6-6A15-3F808DA7EF2C}"/>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EA1BCA0-FAD6-ABA4-FB1A-C2C8F477F7CE}"/>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9249219-E78B-E432-2C71-78F496B33DBE}"/>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48C9E10-EB35-0208-E130-F840731670DB}"/>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CED59E5F-790C-6906-F1ED-1EDA098717EF}"/>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E664E44-8E20-FDBD-D280-B0936427DF0F}"/>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C041E7CC-4E34-763C-7A58-ED89ED43DDD5}"/>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63401B7D-FE44-222A-179C-13B44E3895AD}"/>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FBC288C8-7E35-BE6B-C366-03D7BD8FE016}"/>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096B713C-6B2F-5C12-C8B8-D195CD24CED3}"/>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B7E80E3-FF40-2C86-0EA0-A840D613D1BC}"/>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BCF5C2C-80B7-2852-F0D2-7594B6DDEC6D}"/>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EDC29C1C-0719-0A0B-2E81-33CD67302615}"/>
              </a:ext>
            </a:extLst>
          </p:cNvPr>
          <p:cNvCxnSpPr>
            <a:cxnSpLocks/>
            <a:stCxn id="7" idx="0"/>
          </p:cNvCxnSpPr>
          <p:nvPr/>
        </p:nvCxnSpPr>
        <p:spPr>
          <a:xfrm>
            <a:off x="1063835" y="1862799"/>
            <a:ext cx="0" cy="29753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FDC835D5-F1F0-70E7-D32F-2FD72C9DC1C5}"/>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A4AD8DD-3123-71A5-8619-87DE2AC4774C}"/>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8401C30-2E94-C327-F10C-F319D7A81FDA}"/>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AFA3D82-9F43-8E68-BC78-2999788646B4}"/>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4549D07-5530-0D37-9F9B-B9BB5DD56674}"/>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65A13092-A2C2-D3A2-E64D-BFDFD8A3376A}"/>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83C4B0D-BE9E-297E-280E-453DF42BB388}"/>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A2BB1C92-B379-337F-5B26-F90C925ED5BA}"/>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50BA091F-1C91-FD9C-27DA-631CC57FF7F1}"/>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CE4C68B4-C265-B253-DBBF-AADF4858E3C7}"/>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DA7C9E79-AF65-6712-988B-41D15EDD97D5}"/>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8BFB7F1-88BF-E579-D11E-143DAF7CE463}"/>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29596FA4-1E68-E103-4F86-8F622AB77A49}"/>
              </a:ext>
            </a:extLst>
          </p:cNvPr>
          <p:cNvSpPr txBox="1"/>
          <p:nvPr/>
        </p:nvSpPr>
        <p:spPr>
          <a:xfrm>
            <a:off x="1430696" y="533124"/>
            <a:ext cx="3996607" cy="707886"/>
          </a:xfrm>
          <a:prstGeom prst="rect">
            <a:avLst/>
          </a:prstGeom>
          <a:noFill/>
        </p:spPr>
        <p:txBody>
          <a:bodyPr wrap="none">
            <a:spAutoFit/>
          </a:bodyPr>
          <a:lstStyle/>
          <a:p>
            <a:pPr algn="ctr"/>
            <a:r>
              <a:rPr sz="4000" b="1" dirty="0">
                <a:solidFill>
                  <a:schemeClr val="tx2"/>
                </a:solidFill>
                <a:latin typeface="+mj-lt"/>
              </a:rPr>
              <a:t>Fixed workflows</a:t>
            </a:r>
          </a:p>
        </p:txBody>
      </p:sp>
      <p:pic>
        <p:nvPicPr>
          <p:cNvPr id="12" name="Picture 11">
            <a:extLst>
              <a:ext uri="{FF2B5EF4-FFF2-40B4-BE49-F238E27FC236}">
                <a16:creationId xmlns:a16="http://schemas.microsoft.com/office/drawing/2014/main" id="{DE6208CE-B9AF-9F32-70D8-8EAF7AB6BF8A}"/>
              </a:ext>
            </a:extLst>
          </p:cNvPr>
          <p:cNvPicPr>
            <a:picLocks noChangeAspect="1"/>
          </p:cNvPicPr>
          <p:nvPr/>
        </p:nvPicPr>
        <p:blipFill>
          <a:blip r:embed="rId3">
            <a:alphaModFix amt="90000"/>
          </a:blip>
          <a:stretch>
            <a:fillRect/>
          </a:stretch>
        </p:blipFill>
        <p:spPr>
          <a:xfrm>
            <a:off x="825474" y="2099206"/>
            <a:ext cx="5732295" cy="2785896"/>
          </a:xfrm>
          <a:prstGeom prst="rect">
            <a:avLst/>
          </a:prstGeom>
        </p:spPr>
      </p:pic>
    </p:spTree>
    <p:extLst>
      <p:ext uri="{BB962C8B-B14F-4D97-AF65-F5344CB8AC3E}">
        <p14:creationId xmlns:p14="http://schemas.microsoft.com/office/powerpoint/2010/main" val="1604083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fixed workflow</a:t>
            </a:r>
          </a:p>
        </p:txBody>
      </p:sp>
      <p:sp>
        <p:nvSpPr>
          <p:cNvPr id="3" name="Content Placeholder 2"/>
          <p:cNvSpPr>
            <a:spLocks noGrp="1"/>
          </p:cNvSpPr>
          <p:nvPr>
            <p:ph idx="1"/>
          </p:nvPr>
        </p:nvSpPr>
        <p:spPr>
          <a:xfrm>
            <a:off x="319251" y="1624859"/>
            <a:ext cx="6014545" cy="2000000"/>
          </a:xfrm>
        </p:spPr>
        <p:txBody>
          <a:bodyPr wrap="square">
            <a:normAutofit lnSpcReduction="10000"/>
          </a:bodyPr>
          <a:lstStyle/>
          <a:p>
            <a:pPr marL="0" indent="0">
              <a:buNone/>
            </a:pPr>
            <a:r>
              <a:rPr sz="1400" b="1" dirty="0">
                <a:solidFill>
                  <a:srgbClr val="28285E"/>
                </a:solidFill>
              </a:rPr>
              <a:t>The control decisions, all settled before the program sees a task:</a:t>
            </a:r>
          </a:p>
          <a:p>
            <a:pPr marL="400050" indent="-285750">
              <a:spcBef>
                <a:spcPts val="600"/>
              </a:spcBef>
              <a:spcAft>
                <a:spcPts val="600"/>
              </a:spcAft>
              <a:buClr>
                <a:srgbClr val="28285E"/>
              </a:buClr>
              <a:buSzPts val="1260"/>
              <a:buFont typeface="Fira Sans"/>
              <a:buChar char="●"/>
            </a:pPr>
            <a:r>
              <a:rPr sz="1400" b="1" dirty="0">
                <a:solidFill>
                  <a:srgbClr val="28285E"/>
                </a:solidFill>
              </a:rPr>
              <a:t>Operations: </a:t>
            </a:r>
            <a:r>
              <a:rPr sz="1400" dirty="0">
                <a:solidFill>
                  <a:srgbClr val="28285E"/>
                </a:solidFill>
              </a:rPr>
              <a:t>which one runs next, and whether any follow</a:t>
            </a:r>
          </a:p>
          <a:p>
            <a:pPr marL="400050" indent="-285750">
              <a:spcBef>
                <a:spcPts val="600"/>
              </a:spcBef>
              <a:spcAft>
                <a:spcPts val="600"/>
              </a:spcAft>
              <a:buClr>
                <a:srgbClr val="28285E"/>
              </a:buClr>
              <a:buSzPts val="1260"/>
              <a:buFont typeface="Fira Sans"/>
              <a:buChar char="●"/>
            </a:pPr>
            <a:r>
              <a:rPr sz="1400" b="1" dirty="0">
                <a:solidFill>
                  <a:srgbClr val="28285E"/>
                </a:solidFill>
              </a:rPr>
              <a:t>Model calls: </a:t>
            </a:r>
            <a:r>
              <a:rPr sz="1400" dirty="0">
                <a:solidFill>
                  <a:srgbClr val="28285E"/>
                </a:solidFill>
              </a:rPr>
              <a:t>how many the run makes</a:t>
            </a:r>
          </a:p>
          <a:p>
            <a:pPr marL="400050" indent="-285750">
              <a:spcBef>
                <a:spcPts val="600"/>
              </a:spcBef>
              <a:spcAft>
                <a:spcPts val="600"/>
              </a:spcAft>
              <a:buClr>
                <a:srgbClr val="28285E"/>
              </a:buClr>
              <a:buSzPts val="1260"/>
              <a:buFont typeface="Fira Sans"/>
              <a:buChar char="●"/>
            </a:pPr>
            <a:r>
              <a:rPr sz="1400" b="1" dirty="0">
                <a:solidFill>
                  <a:srgbClr val="28285E"/>
                </a:solidFill>
              </a:rPr>
              <a:t>Termination: </a:t>
            </a:r>
            <a:r>
              <a:rPr sz="1400" dirty="0">
                <a:solidFill>
                  <a:srgbClr val="28285E"/>
                </a:solidFill>
              </a:rPr>
              <a:t>what ends the run</a:t>
            </a:r>
          </a:p>
          <a:p>
            <a:pPr marL="400050" indent="-285750">
              <a:spcBef>
                <a:spcPts val="600"/>
              </a:spcBef>
              <a:spcAft>
                <a:spcPts val="600"/>
              </a:spcAft>
              <a:buClr>
                <a:srgbClr val="28285E"/>
              </a:buClr>
              <a:buSzPts val="1260"/>
              <a:buFont typeface="Fira Sans"/>
              <a:buChar char="●"/>
            </a:pPr>
            <a:r>
              <a:rPr sz="1400" b="1" dirty="0">
                <a:solidFill>
                  <a:srgbClr val="28285E"/>
                </a:solidFill>
              </a:rPr>
              <a:t>Artifacts: </a:t>
            </a:r>
            <a:r>
              <a:rPr sz="1400" dirty="0">
                <a:solidFill>
                  <a:srgbClr val="28285E"/>
                </a:solidFill>
              </a:rPr>
              <a:t>which ones each step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In a fixed workflow we make </a:t>
            </a:r>
            <a:r>
              <a:rPr sz="1400" b="1">
                <a:solidFill>
                  <a:schemeClr val="tx2"/>
                </a:solidFill>
              </a:rPr>
              <a:t>every control decision at design time</a:t>
            </a:r>
            <a:r>
              <a:rPr sz="1400">
                <a:solidFill>
                  <a:schemeClr val="tx2"/>
                </a:solidFill>
              </a:rPr>
              <a:t>, and the model supplies content at the points we choose.</a:t>
            </a:r>
          </a:p>
        </p:txBody>
      </p:sp>
      <p:sp>
        <p:nvSpPr>
          <p:cNvPr id="5" name="TextBox 4"/>
          <p:cNvSpPr txBox="1"/>
          <p:nvPr/>
        </p:nvSpPr>
        <p:spPr>
          <a:xfrm>
            <a:off x="4651028" y="4140385"/>
            <a:ext cx="1768433" cy="253916"/>
          </a:xfrm>
          <a:prstGeom prst="rect">
            <a:avLst/>
          </a:prstGeom>
          <a:noFill/>
        </p:spPr>
        <p:txBody>
          <a:bodyPr wrap="none">
            <a:spAutoFit/>
          </a:bodyPr>
          <a:lstStyle/>
          <a:p>
            <a:pPr algn="r"/>
            <a:r>
              <a:rPr sz="1050" i="1" dirty="0">
                <a:solidFill>
                  <a:schemeClr val="bg2"/>
                </a:solidFill>
              </a:rPr>
              <a:t>Russell and Norvig, §2.2.3</a:t>
            </a:r>
          </a:p>
        </p:txBody>
      </p:sp>
      <p:sp>
        <p:nvSpPr>
          <p:cNvPr id="6" name="TextBox 5"/>
          <p:cNvSpPr txBox="1"/>
          <p:nvPr/>
        </p:nvSpPr>
        <p:spPr>
          <a:xfrm>
            <a:off x="250199" y="3835634"/>
            <a:ext cx="6152646" cy="261610"/>
          </a:xfrm>
          <a:prstGeom prst="rect">
            <a:avLst/>
          </a:prstGeom>
          <a:solidFill>
            <a:schemeClr val="accent4"/>
          </a:solidFill>
          <a:ln>
            <a:solidFill>
              <a:schemeClr val="accent4"/>
            </a:solidFill>
          </a:ln>
          <a:effectLst/>
        </p:spPr>
        <p:txBody>
          <a:bodyPr wrap="none" anchor="ctr">
            <a:spAutoFit/>
          </a:bodyPr>
          <a:lstStyle/>
          <a:p>
            <a:pPr algn="just">
              <a:spcBef>
                <a:spcPts val="1200"/>
              </a:spcBef>
              <a:spcAft>
                <a:spcPts val="1200"/>
              </a:spcAft>
            </a:pPr>
            <a:r>
              <a:rPr sz="1100" dirty="0">
                <a:solidFill>
                  <a:schemeClr val="tx2"/>
                </a:solidFill>
                <a:latin typeface="Fira Sans" panose="020B0503050000020004" pitchFamily="34" charset="0"/>
              </a:rPr>
              <a:t>An agent that relies on its designer’s prior knowledge, not its own percepts, </a:t>
            </a:r>
            <a:r>
              <a:rPr sz="1100" b="1" dirty="0">
                <a:solidFill>
                  <a:schemeClr val="tx2"/>
                </a:solidFill>
                <a:latin typeface="Fira Sans" panose="020B0503050000020004" pitchFamily="34" charset="0"/>
              </a:rPr>
              <a:t>lacks autonomy.</a:t>
            </a:r>
            <a:endParaRPr lang="en-US" sz="1100" b="1" dirty="0">
              <a:solidFill>
                <a:schemeClr val="tx2"/>
              </a:solidFill>
              <a:latin typeface="Fira Sans" panose="020B05030500000200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design decision points</a:t>
            </a:r>
            <a:endParaRPr dirty="0"/>
          </a:p>
        </p:txBody>
      </p:sp>
      <p:graphicFrame>
        <p:nvGraphicFramePr>
          <p:cNvPr id="5" name="Table 4">
            <a:extLst>
              <a:ext uri="{FF2B5EF4-FFF2-40B4-BE49-F238E27FC236}">
                <a16:creationId xmlns:a16="http://schemas.microsoft.com/office/drawing/2014/main" id="{799E172A-075D-D190-E8D3-35DB1E9BA0E7}"/>
              </a:ext>
            </a:extLst>
          </p:cNvPr>
          <p:cNvGraphicFramePr>
            <a:graphicFrameLocks noGrp="1"/>
          </p:cNvGraphicFramePr>
          <p:nvPr>
            <p:extLst>
              <p:ext uri="{D42A27DB-BD31-4B8C-83A1-F6EECF244321}">
                <p14:modId xmlns:p14="http://schemas.microsoft.com/office/powerpoint/2010/main" val="2269503840"/>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11345-91A7-BF50-2EB9-BC22C3DC2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C7EB0-5EA3-670D-47ED-81D7AF0C1C9B}"/>
              </a:ext>
            </a:extLst>
          </p:cNvPr>
          <p:cNvSpPr>
            <a:spLocks noGrp="1"/>
          </p:cNvSpPr>
          <p:nvPr>
            <p:ph type="title"/>
          </p:nvPr>
        </p:nvSpPr>
        <p:spPr/>
        <p:txBody>
          <a:bodyPr/>
          <a:lstStyle/>
          <a:p>
            <a:r>
              <a:rPr lang="en-US" dirty="0"/>
              <a:t>Understanding design decision points</a:t>
            </a:r>
            <a:endParaRPr dirty="0"/>
          </a:p>
        </p:txBody>
      </p:sp>
      <p:sp>
        <p:nvSpPr>
          <p:cNvPr id="4" name="Rectangle 3">
            <a:extLst>
              <a:ext uri="{FF2B5EF4-FFF2-40B4-BE49-F238E27FC236}">
                <a16:creationId xmlns:a16="http://schemas.microsoft.com/office/drawing/2014/main" id="{F7BFB2C7-9275-69B8-4138-56E333A0FDEE}"/>
              </a:ext>
            </a:extLst>
          </p:cNvPr>
          <p:cNvSpPr/>
          <p:nvPr/>
        </p:nvSpPr>
        <p:spPr>
          <a:xfrm>
            <a:off x="1888761" y="4070093"/>
            <a:ext cx="4445035" cy="430000"/>
          </a:xfrm>
          <a:prstGeom prst="rect">
            <a:avLst/>
          </a:prstGeom>
          <a:solidFill>
            <a:schemeClr val="bg2"/>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chemeClr val="tx2"/>
                </a:solidFill>
                <a:latin typeface="Fira Sans" panose="020B0503050000020004" pitchFamily="34" charset="0"/>
              </a:rPr>
              <a:t>No model output is read as an instruction. It is read as </a:t>
            </a:r>
            <a:r>
              <a:rPr sz="1200" b="1" dirty="0">
                <a:solidFill>
                  <a:schemeClr val="tx2"/>
                </a:solidFill>
                <a:latin typeface="Fira Sans" panose="020B0503050000020004" pitchFamily="34" charset="0"/>
              </a:rPr>
              <a:t>data</a:t>
            </a:r>
            <a:r>
              <a:rPr sz="1200" dirty="0">
                <a:solidFill>
                  <a:schemeClr val="tx2"/>
                </a:solidFill>
                <a:latin typeface="Fira Sans" panose="020B0503050000020004" pitchFamily="34" charset="0"/>
              </a:rPr>
              <a:t>.</a:t>
            </a:r>
          </a:p>
        </p:txBody>
      </p:sp>
      <p:graphicFrame>
        <p:nvGraphicFramePr>
          <p:cNvPr id="5" name="Table 4">
            <a:extLst>
              <a:ext uri="{FF2B5EF4-FFF2-40B4-BE49-F238E27FC236}">
                <a16:creationId xmlns:a16="http://schemas.microsoft.com/office/drawing/2014/main" id="{8159D520-A824-D2BF-790B-44D1F1E85CBF}"/>
              </a:ext>
            </a:extLst>
          </p:cNvPr>
          <p:cNvGraphicFramePr>
            <a:graphicFrameLocks noGrp="1"/>
          </p:cNvGraphicFramePr>
          <p:nvPr>
            <p:extLst>
              <p:ext uri="{D42A27DB-BD31-4B8C-83A1-F6EECF244321}">
                <p14:modId xmlns:p14="http://schemas.microsoft.com/office/powerpoint/2010/main" val="3384186411"/>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937002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buys</a:t>
            </a:r>
          </a:p>
        </p:txBody>
      </p:sp>
      <p:sp>
        <p:nvSpPr>
          <p:cNvPr id="3" name="Content Placeholder 2"/>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BF81F-D1B1-E6DC-199B-254CF5C5A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7A96F-4BA1-0A52-9522-966A3F43B149}"/>
              </a:ext>
            </a:extLst>
          </p:cNvPr>
          <p:cNvSpPr>
            <a:spLocks noGrp="1"/>
          </p:cNvSpPr>
          <p:nvPr>
            <p:ph type="title"/>
          </p:nvPr>
        </p:nvSpPr>
        <p:spPr/>
        <p:txBody>
          <a:bodyPr/>
          <a:lstStyle/>
          <a:p>
            <a:r>
              <a:t>What the fixed shape buys</a:t>
            </a:r>
          </a:p>
        </p:txBody>
      </p:sp>
      <p:sp>
        <p:nvSpPr>
          <p:cNvPr id="3" name="Content Placeholder 2">
            <a:extLst>
              <a:ext uri="{FF2B5EF4-FFF2-40B4-BE49-F238E27FC236}">
                <a16:creationId xmlns:a16="http://schemas.microsoft.com/office/drawing/2014/main" id="{DDDB3920-7E8E-4F54-102B-854FFE1428F5}"/>
              </a:ext>
            </a:extLst>
          </p:cNvPr>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
        <p:nvSpPr>
          <p:cNvPr id="4" name="Rectangle 3">
            <a:extLst>
              <a:ext uri="{FF2B5EF4-FFF2-40B4-BE49-F238E27FC236}">
                <a16:creationId xmlns:a16="http://schemas.microsoft.com/office/drawing/2014/main" id="{08416EFC-1A53-9376-2471-5944F555FE20}"/>
              </a:ext>
            </a:extLst>
          </p:cNvPr>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Each of these is a property of the program </a:t>
            </a:r>
            <a:r>
              <a:rPr lang="en-US" sz="1400" dirty="0">
                <a:solidFill>
                  <a:schemeClr val="tx2"/>
                </a:solidFill>
              </a:rPr>
              <a:t>we have designed. It is</a:t>
            </a:r>
            <a:r>
              <a:rPr sz="1400" dirty="0">
                <a:solidFill>
                  <a:schemeClr val="tx2"/>
                </a:solidFill>
              </a:rPr>
              <a:t> not a prediction about what the model will do</a:t>
            </a:r>
            <a:r>
              <a:rPr lang="en-US" dirty="0">
                <a:solidFill>
                  <a:schemeClr val="tx2"/>
                </a:solidFill>
              </a:rPr>
              <a:t>.</a:t>
            </a:r>
            <a:endParaRPr sz="1400" dirty="0">
              <a:solidFill>
                <a:schemeClr val="tx2"/>
              </a:solidFill>
            </a:endParaRPr>
          </a:p>
        </p:txBody>
      </p:sp>
      <p:sp>
        <p:nvSpPr>
          <p:cNvPr id="5" name="Rectangle 4">
            <a:extLst>
              <a:ext uri="{FF2B5EF4-FFF2-40B4-BE49-F238E27FC236}">
                <a16:creationId xmlns:a16="http://schemas.microsoft.com/office/drawing/2014/main" id="{7CE8855C-804C-0880-10EF-E244143DCFB8}"/>
              </a:ext>
            </a:extLst>
          </p:cNvPr>
          <p:cNvSpPr/>
          <p:nvPr/>
        </p:nvSpPr>
        <p:spPr>
          <a:xfrm>
            <a:off x="319251" y="4130000"/>
            <a:ext cx="6014545" cy="430000"/>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200" b="1" dirty="0">
                <a:solidFill>
                  <a:srgbClr val="28285E"/>
                </a:solidFill>
              </a:rPr>
              <a:t>When we build autonomous agents, we’ll have to incorporate these into them. They don’t come for free. </a:t>
            </a:r>
            <a:endParaRPr sz="1200" b="1" dirty="0">
              <a:solidFill>
                <a:srgbClr val="28285E"/>
              </a:solidFill>
            </a:endParaRPr>
          </a:p>
        </p:txBody>
      </p:sp>
    </p:spTree>
    <p:extLst>
      <p:ext uri="{BB962C8B-B14F-4D97-AF65-F5344CB8AC3E}">
        <p14:creationId xmlns:p14="http://schemas.microsoft.com/office/powerpoint/2010/main" val="42947472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Fixed parts and open parts</a:t>
            </a:r>
          </a:p>
        </p:txBody>
      </p:sp>
      <p:sp>
        <p:nvSpPr>
          <p:cNvPr id="3" name="Content Placeholder 2"/>
          <p:cNvSpPr>
            <a:spLocks noGrp="1"/>
          </p:cNvSpPr>
          <p:nvPr>
            <p:ph idx="1"/>
          </p:nvPr>
        </p:nvSpPr>
        <p:spPr>
          <a:xfrm>
            <a:off x="319251" y="1624859"/>
            <a:ext cx="6014545" cy="2000000"/>
          </a:xfrm>
        </p:spPr>
        <p:txBody>
          <a:bodyPr wrap="square">
            <a:normAutofit fontScale="92500"/>
          </a:bodyPr>
          <a:lstStyle/>
          <a:p>
            <a:pPr marL="0" indent="0">
              <a:buNone/>
            </a:pPr>
            <a:r>
              <a:rPr sz="1400" b="1">
                <a:solidFill>
                  <a:srgbClr val="28285E"/>
                </a:solidFill>
              </a:rPr>
              <a:t>Knowing which parts are fixed is what lets us:</a:t>
            </a:r>
          </a:p>
          <a:p>
            <a:pPr marL="400050" indent="-285750">
              <a:spcBef>
                <a:spcPts val="600"/>
              </a:spcBef>
              <a:spcAft>
                <a:spcPts val="600"/>
              </a:spcAft>
              <a:buClr>
                <a:srgbClr val="28285E"/>
              </a:buClr>
              <a:buSzPts val="1260"/>
              <a:buFont typeface="Fira Sans"/>
              <a:buChar char="●"/>
            </a:pPr>
            <a:r>
              <a:rPr sz="1400" b="1">
                <a:solidFill>
                  <a:schemeClr val="tx1"/>
                </a:solidFill>
              </a:rPr>
              <a:t>Budget: </a:t>
            </a:r>
            <a:r>
              <a:rPr sz="1400">
                <a:solidFill>
                  <a:schemeClr val="tx1"/>
                </a:solidFill>
              </a:rPr>
              <a:t>price the fixed part, and reserve for the open one</a:t>
            </a:r>
          </a:p>
          <a:p>
            <a:pPr marL="400050" indent="-285750">
              <a:spcBef>
                <a:spcPts val="600"/>
              </a:spcBef>
              <a:spcAft>
                <a:spcPts val="600"/>
              </a:spcAft>
              <a:buClr>
                <a:srgbClr val="28285E"/>
              </a:buClr>
              <a:buSzPts val="1260"/>
              <a:buFont typeface="Fira Sans"/>
              <a:buChar char="●"/>
            </a:pPr>
            <a:r>
              <a:rPr sz="1400" b="1">
                <a:solidFill>
                  <a:schemeClr val="tx1"/>
                </a:solidFill>
              </a:rPr>
              <a:t>Recover: </a:t>
            </a:r>
            <a:r>
              <a:rPr sz="1400">
                <a:solidFill>
                  <a:schemeClr val="tx1"/>
                </a:solidFill>
              </a:rPr>
              <a:t>checkpoint at a stage boundary, where artifacts have names</a:t>
            </a:r>
          </a:p>
          <a:p>
            <a:pPr marL="400050" indent="-285750">
              <a:spcBef>
                <a:spcPts val="600"/>
              </a:spcBef>
              <a:spcAft>
                <a:spcPts val="600"/>
              </a:spcAft>
              <a:buClr>
                <a:srgbClr val="28285E"/>
              </a:buClr>
              <a:buSzPts val="1260"/>
              <a:buFont typeface="Fira Sans"/>
              <a:buChar char="●"/>
            </a:pPr>
            <a:r>
              <a:rPr sz="1400" b="1">
                <a:solidFill>
                  <a:schemeClr val="tx1"/>
                </a:solidFill>
              </a:rPr>
              <a:t>Transact: </a:t>
            </a:r>
            <a:r>
              <a:rPr sz="1400">
                <a:solidFill>
                  <a:schemeClr val="tx1"/>
                </a:solidFill>
              </a:rPr>
              <a:t>commit and roll back where we know the sequence</a:t>
            </a:r>
          </a:p>
          <a:p>
            <a:pPr marL="400050" indent="-285750">
              <a:spcBef>
                <a:spcPts val="600"/>
              </a:spcBef>
              <a:spcAft>
                <a:spcPts val="600"/>
              </a:spcAft>
              <a:buClr>
                <a:srgbClr val="28285E"/>
              </a:buClr>
              <a:buSzPts val="1260"/>
              <a:buFont typeface="Fira Sans"/>
              <a:buChar char="●"/>
            </a:pPr>
            <a:r>
              <a:rPr sz="1400" b="1">
                <a:solidFill>
                  <a:schemeClr val="tx1"/>
                </a:solidFill>
              </a:rPr>
              <a:t>Run in parallel: </a:t>
            </a:r>
            <a:r>
              <a:rPr sz="1400">
                <a:solidFill>
                  <a:schemeClr val="tx1"/>
                </a:solidFill>
              </a:rPr>
              <a:t>a fixed stage declares what it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Almost everything we build will be </a:t>
            </a:r>
            <a:r>
              <a:rPr sz="1400" b="1">
                <a:solidFill>
                  <a:schemeClr val="tx2"/>
                </a:solidFill>
              </a:rPr>
              <a:t>part fixed and part open</a:t>
            </a:r>
            <a:r>
              <a:rPr sz="1400">
                <a:solidFill>
                  <a:schemeClr val="tx2"/>
                </a:solidFill>
              </a:rPr>
              <a:t>, and where the split falls is a design decision.</a:t>
            </a:r>
          </a:p>
        </p:txBody>
      </p:sp>
      <p:sp>
        <p:nvSpPr>
          <p:cNvPr id="5" name="Rectangle 4"/>
          <p:cNvSpPr/>
          <p:nvPr/>
        </p:nvSpPr>
        <p:spPr>
          <a:xfrm>
            <a:off x="319251" y="38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system that blurs the split pays for it in all four.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costs</a:t>
            </a:r>
          </a:p>
        </p:txBody>
      </p:sp>
      <p:sp>
        <p:nvSpPr>
          <p:cNvPr id="3" name="Content Placeholder 2"/>
          <p:cNvSpPr>
            <a:spLocks noGrp="1"/>
          </p:cNvSpPr>
          <p:nvPr>
            <p:ph idx="1"/>
          </p:nvPr>
        </p:nvSpPr>
        <p:spPr>
          <a:xfrm>
            <a:off x="319251" y="700000"/>
            <a:ext cx="6014545" cy="2150000"/>
          </a:xfrm>
        </p:spPr>
        <p:txBody>
          <a:bodyPr wrap="square">
            <a:normAutofit fontScale="92500" lnSpcReduction="10000"/>
          </a:bodyPr>
          <a:lstStyle/>
          <a:p>
            <a:pPr marL="0" indent="0">
              <a:buNone/>
            </a:pPr>
            <a:r>
              <a:rPr sz="1400" b="1">
                <a:solidFill>
                  <a:srgbClr val="28285E"/>
                </a:solidFill>
              </a:rPr>
              <a:t>What a fixed workflow gives up:</a:t>
            </a:r>
          </a:p>
          <a:p>
            <a:pPr marL="400050" indent="-285750">
              <a:spcBef>
                <a:spcPts val="600"/>
              </a:spcBef>
              <a:spcAft>
                <a:spcPts val="600"/>
              </a:spcAft>
              <a:buClr>
                <a:srgbClr val="28285E"/>
              </a:buClr>
              <a:buSzPts val="1260"/>
              <a:buFont typeface="Fira Sans"/>
              <a:buChar char="●"/>
            </a:pPr>
            <a:r>
              <a:rPr sz="1400" b="1">
                <a:solidFill>
                  <a:schemeClr val="tx1"/>
                </a:solidFill>
              </a:rPr>
              <a:t>No second look. </a:t>
            </a:r>
            <a:r>
              <a:rPr sz="1400">
                <a:solidFill>
                  <a:schemeClr val="tx1"/>
                </a:solidFill>
              </a:rPr>
              <a:t>Every read is scheduled before we know what the first one returns.</a:t>
            </a:r>
          </a:p>
          <a:p>
            <a:pPr marL="400050" indent="-285750">
              <a:spcBef>
                <a:spcPts val="600"/>
              </a:spcBef>
              <a:spcAft>
                <a:spcPts val="600"/>
              </a:spcAft>
              <a:buClr>
                <a:srgbClr val="28285E"/>
              </a:buClr>
              <a:buSzPts val="1260"/>
              <a:buFont typeface="Fira Sans"/>
              <a:buChar char="●"/>
            </a:pPr>
            <a:r>
              <a:rPr sz="1400" b="1">
                <a:solidFill>
                  <a:schemeClr val="tx1"/>
                </a:solidFill>
              </a:rPr>
              <a:t>No sense of what is missing. </a:t>
            </a:r>
            <a:r>
              <a:rPr sz="1400">
                <a:solidFill>
                  <a:schemeClr val="tx1"/>
                </a:solidFill>
              </a:rPr>
              <a:t>Nothing in the run stands for evidence the agent has not seen.</a:t>
            </a:r>
          </a:p>
          <a:p>
            <a:pPr marL="400050" indent="-285750">
              <a:spcBef>
                <a:spcPts val="600"/>
              </a:spcBef>
              <a:spcAft>
                <a:spcPts val="600"/>
              </a:spcAft>
              <a:buClr>
                <a:srgbClr val="28285E"/>
              </a:buClr>
              <a:buSzPts val="1260"/>
              <a:buFont typeface="Fira Sans"/>
              <a:buChar char="●"/>
            </a:pPr>
            <a:r>
              <a:rPr sz="1400" b="1">
                <a:solidFill>
                  <a:schemeClr val="tx1"/>
                </a:solidFill>
              </a:rPr>
              <a:t>No way to ask. </a:t>
            </a:r>
            <a:r>
              <a:rPr sz="1400">
                <a:solidFill>
                  <a:schemeClr val="tx1"/>
                </a:solidFill>
              </a:rPr>
              <a:t>If the fix depends on a file the alert never names, no step exists in which to go and get it.</a:t>
            </a:r>
          </a:p>
        </p:txBody>
      </p:sp>
      <p:sp>
        <p:nvSpPr>
          <p:cNvPr id="4" name="Rectangle 3"/>
          <p:cNvSpPr/>
          <p:nvPr/>
        </p:nvSpPr>
        <p:spPr>
          <a:xfrm>
            <a:off x="319251" y="30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question a fixed workflow cannot ask is the one </a:t>
            </a:r>
            <a:r>
              <a:rPr sz="1400" b="1">
                <a:solidFill>
                  <a:schemeClr val="tx2"/>
                </a:solidFill>
              </a:rPr>
              <a:t>its own answer depended on</a:t>
            </a:r>
            <a:r>
              <a:rPr sz="1400">
                <a:solidFill>
                  <a:schemeClr val="tx2"/>
                </a:solidFill>
              </a:rPr>
              <a:t>.</a:t>
            </a:r>
          </a:p>
        </p:txBody>
      </p:sp>
      <p:sp>
        <p:nvSpPr>
          <p:cNvPr id="5" name="Rectangle 4"/>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 does not stall and it does not report a gap. It writes a patch, and the checks pass.</a:t>
            </a:r>
            <a:r>
              <a:rPr sz="1200" b="1">
                <a:solidFill>
                  <a:srgbClr val="C73561"/>
                </a:solidFill>
              </a:rPr>
              <a:t>  (a reactive loop grows an edge back)</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Agentless</a:t>
            </a:r>
            <a:r>
              <a:rPr lang="en-US" dirty="0"/>
              <a:t>: A sample </a:t>
            </a:r>
            <a:r>
              <a:rPr dirty="0"/>
              <a:t>realization</a:t>
            </a:r>
            <a:r>
              <a:rPr lang="en-US" dirty="0"/>
              <a:t> of a workflow</a:t>
            </a:r>
            <a:endParaRPr dirty="0"/>
          </a:p>
        </p:txBody>
      </p:sp>
      <p:sp>
        <p:nvSpPr>
          <p:cNvPr id="3" name="Rectangle 2"/>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phases in a fixed order: the model fills in content at every step, and </a:t>
            </a:r>
            <a:r>
              <a:rPr sz="1400" b="1">
                <a:solidFill>
                  <a:schemeClr val="tx2"/>
                </a:solidFill>
              </a:rPr>
              <a:t>no output of its can redirect an arrow</a:t>
            </a:r>
            <a:r>
              <a:rPr sz="1400">
                <a:solidFill>
                  <a:schemeClr val="tx2"/>
                </a:solidFill>
              </a:rPr>
              <a:t>.</a:t>
            </a:r>
          </a:p>
        </p:txBody>
      </p:sp>
      <p:pic>
        <p:nvPicPr>
          <p:cNvPr id="4" name="Picture 3" descr="agentless-phases.png"/>
          <p:cNvPicPr>
            <a:picLocks noChangeAspect="1"/>
          </p:cNvPicPr>
          <p:nvPr/>
        </p:nvPicPr>
        <p:blipFill>
          <a:blip r:embed="rId3"/>
          <a:stretch>
            <a:fillRect/>
          </a:stretch>
        </p:blipFill>
        <p:spPr>
          <a:xfrm>
            <a:off x="250147" y="1600000"/>
            <a:ext cx="6152752" cy="1403563"/>
          </a:xfrm>
          <a:prstGeom prst="rect">
            <a:avLst/>
          </a:prstGeom>
        </p:spPr>
      </p:pic>
      <p:sp>
        <p:nvSpPr>
          <p:cNvPr id="5" name="TextBox 4"/>
          <p:cNvSpPr txBox="1"/>
          <p:nvPr/>
        </p:nvSpPr>
        <p:spPr>
          <a:xfrm>
            <a:off x="3333796" y="3000000"/>
            <a:ext cx="3000000" cy="253916"/>
          </a:xfrm>
          <a:prstGeom prst="rect">
            <a:avLst/>
          </a:prstGeom>
          <a:noFill/>
        </p:spPr>
        <p:txBody>
          <a:bodyPr wrap="none">
            <a:spAutoFit/>
          </a:bodyPr>
          <a:lstStyle/>
          <a:p>
            <a:pPr algn="r"/>
            <a:r>
              <a:rPr sz="1050" i="1">
                <a:solidFill>
                  <a:schemeClr val="bg2"/>
                </a:solidFill>
              </a:rPr>
              <a:t>Redrawn after Figure 1, Xia et al., FSE 2025</a:t>
            </a:r>
          </a:p>
        </p:txBody>
      </p:sp>
      <p:sp>
        <p:nvSpPr>
          <p:cNvPr id="6" name="Rectangle 5"/>
          <p:cNvSpPr/>
          <p:nvPr/>
        </p:nvSpPr>
        <p:spPr>
          <a:xfrm>
            <a:off x="319251" y="34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Every arrow here was drawn before the issue arrived.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Agentless and SWE-agent</a:t>
            </a:r>
          </a:p>
        </p:txBody>
      </p:sp>
      <p:graphicFrame>
        <p:nvGraphicFramePr>
          <p:cNvPr id="3" name="Table 2"/>
          <p:cNvGraphicFramePr>
            <a:graphicFrameLocks noGrp="1"/>
          </p:cNvGraphicFramePr>
          <p:nvPr/>
        </p:nvGraphicFramePr>
        <p:xfrm>
          <a:off x="319251" y="1150000"/>
          <a:ext cx="6014545" cy="1519200"/>
        </p:xfrm>
        <a:graphic>
          <a:graphicData uri="http://schemas.openxmlformats.org/drawingml/2006/table">
            <a:tbl>
              <a:tblPr>
                <a:tableStyleId>{2D5ABB26-0587-4C30-8999-92F81FD0307C}</a:tableStyleId>
              </a:tblPr>
              <a:tblGrid>
                <a:gridCol w="1300000">
                  <a:extLst>
                    <a:ext uri="{9D8B030D-6E8A-4147-A177-3AD203B41FA5}">
                      <a16:colId xmlns:a16="http://schemas.microsoft.com/office/drawing/2014/main" val="20000"/>
                    </a:ext>
                  </a:extLst>
                </a:gridCol>
                <a:gridCol w="2357272">
                  <a:extLst>
                    <a:ext uri="{9D8B030D-6E8A-4147-A177-3AD203B41FA5}">
                      <a16:colId xmlns:a16="http://schemas.microsoft.com/office/drawing/2014/main" val="20001"/>
                    </a:ext>
                  </a:extLst>
                </a:gridCol>
                <a:gridCol w="2357273">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SWE-bench Lite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Agentless</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Control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Three phases in a fixed order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 chooses the next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Resolved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96 of 300 (32.00%)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55 of 300 (18.33%)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Cost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$0.70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$2.53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Tokens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78,165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498,346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Rectangle 3"/>
          <p:cNvSpPr/>
          <p:nvPr/>
        </p:nvSpPr>
        <p:spPr>
          <a:xfrm>
            <a:off x="319251" y="3060000"/>
            <a:ext cx="6014545" cy="90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Same model, different control structure. </a:t>
            </a:r>
            <a:r>
              <a:rPr sz="1300" b="0">
                <a:solidFill>
                  <a:srgbClr val="28285E"/>
                </a:solidFill>
              </a:rPr>
              <a:t>Agentless resolved more issues at about a quarter of the cost and a sixth of the tokens. The two systems differ in more than their control structure, so this is the strongest comparison available rather than a controlled experiment.</a:t>
            </a:r>
          </a:p>
        </p:txBody>
      </p:sp>
      <p:sp>
        <p:nvSpPr>
          <p:cNvPr id="5" name="TextBox 4"/>
          <p:cNvSpPr txBox="1"/>
          <p:nvPr/>
        </p:nvSpPr>
        <p:spPr>
          <a:xfrm>
            <a:off x="3333796" y="4060000"/>
            <a:ext cx="3000000" cy="253916"/>
          </a:xfrm>
          <a:prstGeom prst="rect">
            <a:avLst/>
          </a:prstGeom>
          <a:noFill/>
        </p:spPr>
        <p:txBody>
          <a:bodyPr wrap="none">
            <a:spAutoFit/>
          </a:bodyPr>
          <a:lstStyle/>
          <a:p>
            <a:pPr algn="r"/>
            <a:r>
              <a:rPr sz="1050" i="1">
                <a:solidFill>
                  <a:schemeClr val="bg2"/>
                </a:solidFill>
              </a:rPr>
              <a:t>Xia et al., FSE 2025, Table 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Grains of salt</a:t>
            </a:r>
          </a:p>
        </p:txBody>
      </p:sp>
      <p:sp>
        <p:nvSpPr>
          <p:cNvPr id="3" name="Content Placeholder 2"/>
          <p:cNvSpPr>
            <a:spLocks noGrp="1"/>
          </p:cNvSpPr>
          <p:nvPr>
            <p:ph idx="1"/>
          </p:nvPr>
        </p:nvSpPr>
        <p:spPr>
          <a:xfrm>
            <a:off x="319251" y="700000"/>
            <a:ext cx="6014545" cy="1720000"/>
          </a:xfrm>
        </p:spPr>
        <p:txBody>
          <a:bodyPr wrap="square">
            <a:normAutofit fontScale="92500" lnSpcReduction="20000"/>
          </a:bodyPr>
          <a:lstStyle/>
          <a:p>
            <a:pPr marL="0" indent="0">
              <a:buNone/>
            </a:pPr>
            <a:r>
              <a:rPr sz="1400" b="1">
                <a:solidFill>
                  <a:srgbClr val="28285E"/>
                </a:solidFill>
              </a:rPr>
              <a:t>Two limits on what that comparison shows:</a:t>
            </a:r>
          </a:p>
          <a:p>
            <a:pPr marL="400050" indent="-285750">
              <a:spcBef>
                <a:spcPts val="600"/>
              </a:spcBef>
              <a:spcAft>
                <a:spcPts val="600"/>
              </a:spcAft>
              <a:buClr>
                <a:srgbClr val="28285E"/>
              </a:buClr>
              <a:buSzPts val="1260"/>
              <a:buFont typeface="Fira Sans"/>
              <a:buChar char="●"/>
            </a:pPr>
            <a:r>
              <a:rPr sz="1400" b="1">
                <a:solidFill>
                  <a:schemeClr val="tx1"/>
                </a:solidFill>
              </a:rPr>
              <a:t>It is not the leaderboard. </a:t>
            </a:r>
            <a:r>
              <a:rPr sz="1400">
                <a:solidFill>
                  <a:schemeClr val="tx1"/>
                </a:solidFill>
              </a:rPr>
              <a:t>CodeStory Aide resolved 129 of 300, and published neither code nor trajectories.</a:t>
            </a:r>
          </a:p>
          <a:p>
            <a:pPr marL="400050" indent="-285750">
              <a:spcBef>
                <a:spcPts val="600"/>
              </a:spcBef>
              <a:spcAft>
                <a:spcPts val="600"/>
              </a:spcAft>
              <a:buClr>
                <a:srgbClr val="28285E"/>
              </a:buClr>
              <a:buSzPts val="1260"/>
              <a:buFont typeface="Fira Sans"/>
              <a:buChar char="●"/>
            </a:pPr>
            <a:r>
              <a:rPr sz="1400" b="1">
                <a:solidFill>
                  <a:schemeClr val="tx1"/>
                </a:solidFill>
              </a:rPr>
              <a:t>The benchmark leaks. </a:t>
            </a:r>
            <a:r>
              <a:rPr sz="1400">
                <a:solidFill>
                  <a:schemeClr val="tx1"/>
                </a:solidFill>
              </a:rPr>
              <a:t>4.3% of issue descriptions carry the developer’s own patch, and 10.0% lack the information needed to solve the issue. A filtered set of 249 excludes those cases.</a:t>
            </a:r>
          </a:p>
        </p:txBody>
      </p:sp>
      <p:sp>
        <p:nvSpPr>
          <p:cNvPr id="4" name="TextBox 3"/>
          <p:cNvSpPr txBox="1"/>
          <p:nvPr/>
        </p:nvSpPr>
        <p:spPr>
          <a:xfrm>
            <a:off x="3333796" y="2460000"/>
            <a:ext cx="3000000" cy="253916"/>
          </a:xfrm>
          <a:prstGeom prst="rect">
            <a:avLst/>
          </a:prstGeom>
          <a:noFill/>
        </p:spPr>
        <p:txBody>
          <a:bodyPr wrap="none">
            <a:spAutoFit/>
          </a:bodyPr>
          <a:lstStyle/>
          <a:p>
            <a:pPr algn="r"/>
            <a:r>
              <a:rPr sz="1050" i="1">
                <a:solidFill>
                  <a:schemeClr val="bg2"/>
                </a:solidFill>
              </a:rPr>
              <a:t>Xia et al., FSE 2025, Table 1 and §§6.1–6.2</a:t>
            </a:r>
          </a:p>
        </p:txBody>
      </p:sp>
      <p:sp>
        <p:nvSpPr>
          <p:cNvPr id="5" name="Rectangle 4"/>
          <p:cNvSpPr/>
          <p:nvPr/>
        </p:nvSpPr>
        <p:spPr>
          <a:xfrm>
            <a:off x="319251" y="29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Our own fixture ships its answer key beside the test cases, so we strip it: </a:t>
            </a:r>
            <a:r>
              <a:rPr sz="1400" b="1">
                <a:solidFill>
                  <a:schemeClr val="tx2"/>
                </a:solidFill>
              </a:rPr>
              <a:t>a score that can be read is not earned</a:t>
            </a:r>
            <a:r>
              <a:rPr sz="1400">
                <a:solidFill>
                  <a:schemeClr val="tx2"/>
                </a:solidFill>
              </a:rPr>
              <a:t>.</a:t>
            </a:r>
          </a:p>
        </p:txBody>
      </p:sp>
      <p:sp>
        <p:nvSpPr>
          <p:cNvPr id="6" name="Rectangle 5"/>
          <p:cNvSpPr/>
          <p:nvPr/>
        </p:nvSpPr>
        <p:spPr>
          <a:xfrm>
            <a:off x="319251" y="368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None of this shows that fixed workflows win in general.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BC9B572-94D2-F260-A378-F87DB56311CC}"/>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644FDCE3-F257-EE15-03D8-0D223CF9CF18}"/>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7997ACC1-A0D9-E6CD-22B8-EFF4259A1077}"/>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6DA518F-B9B9-C469-223F-9D6090415722}"/>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D6B44BD-AFE0-104D-7F51-DE8C423151A6}"/>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A9098CA-902B-6954-82D4-EC9CCE7BD1E1}"/>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C9BAADE-F74B-88C9-6A5D-40A4EECF98BC}"/>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BF9D798A-6D30-22BA-A77F-6BB8E3BFFF2A}"/>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FE9D9EF-1310-068C-FE2B-6701B6A3AD09}"/>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45F30933-1ADE-68AB-0CDB-EEF83167C6F1}"/>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BFB58F08-541F-1AF1-AB6A-2EBD2A9B5C70}"/>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1F8A499E-CBDD-FD6D-0AC6-1EA0B51C20F2}"/>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E1660DCC-1805-4140-C7B4-CAE80B014E21}"/>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4AB4776-21BF-5BF6-8124-7A14DA404243}"/>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5C0D74A0-67BC-A055-CB62-3C2C26804E7A}"/>
              </a:ext>
            </a:extLst>
          </p:cNvPr>
          <p:cNvSpPr txBox="1"/>
          <p:nvPr/>
        </p:nvSpPr>
        <p:spPr>
          <a:xfrm>
            <a:off x="638816" y="533124"/>
            <a:ext cx="5580374"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ReACT: </a:t>
            </a:r>
            <a:r>
              <a:rPr lang="en-US" sz="4000" dirty="0">
                <a:solidFill>
                  <a:schemeClr val="tx2"/>
                </a:solidFill>
                <a:latin typeface="Fira Sans" panose="020B0503050000020004" pitchFamily="34" charset="0"/>
              </a:rPr>
              <a:t>Reactive Agents</a:t>
            </a:r>
            <a:endParaRPr sz="4000" dirty="0">
              <a:solidFill>
                <a:schemeClr val="tx2"/>
              </a:solidFill>
              <a:latin typeface="Fira Sans" panose="020B0503050000020004" pitchFamily="34" charset="0"/>
            </a:endParaRPr>
          </a:p>
        </p:txBody>
      </p:sp>
      <p:pic>
        <p:nvPicPr>
          <p:cNvPr id="12" name="Picture 11">
            <a:extLst>
              <a:ext uri="{FF2B5EF4-FFF2-40B4-BE49-F238E27FC236}">
                <a16:creationId xmlns:a16="http://schemas.microsoft.com/office/drawing/2014/main" id="{7EF46ED8-ADAA-3E77-8A17-D850EC12253A}"/>
              </a:ext>
            </a:extLst>
          </p:cNvPr>
          <p:cNvPicPr>
            <a:picLocks noChangeAspect="1"/>
          </p:cNvPicPr>
          <p:nvPr/>
        </p:nvPicPr>
        <p:blipFill>
          <a:blip r:embed="rId3">
            <a:alphaModFix amt="90000"/>
          </a:blip>
          <a:stretch>
            <a:fillRect/>
          </a:stretch>
        </p:blipFill>
        <p:spPr>
          <a:xfrm>
            <a:off x="825474" y="2632112"/>
            <a:ext cx="5732295" cy="2252990"/>
          </a:xfrm>
          <a:prstGeom prst="rect">
            <a:avLst/>
          </a:prstGeom>
        </p:spPr>
      </p:pic>
      <p:pic>
        <p:nvPicPr>
          <p:cNvPr id="2" name="Picture 1">
            <a:extLst>
              <a:ext uri="{FF2B5EF4-FFF2-40B4-BE49-F238E27FC236}">
                <a16:creationId xmlns:a16="http://schemas.microsoft.com/office/drawing/2014/main" id="{2B5FFFE2-13D7-ACE4-8D27-FFD7C1F0E13B}"/>
              </a:ext>
            </a:extLst>
          </p:cNvPr>
          <p:cNvPicPr>
            <a:picLocks noChangeAspect="1"/>
          </p:cNvPicPr>
          <p:nvPr/>
        </p:nvPicPr>
        <p:blipFill>
          <a:blip r:embed="rId3">
            <a:alphaModFix amt="70000"/>
          </a:blip>
          <a:stretch>
            <a:fillRect/>
          </a:stretch>
        </p:blipFill>
        <p:spPr>
          <a:xfrm>
            <a:off x="825474" y="1566604"/>
            <a:ext cx="5732295" cy="818429"/>
          </a:xfrm>
          <a:prstGeom prst="rect">
            <a:avLst/>
          </a:prstGeom>
        </p:spPr>
      </p:pic>
    </p:spTree>
    <p:extLst>
      <p:ext uri="{BB962C8B-B14F-4D97-AF65-F5344CB8AC3E}">
        <p14:creationId xmlns:p14="http://schemas.microsoft.com/office/powerpoint/2010/main" val="1622718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35928-2319-7283-126C-5521ECD81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14768C-2BDB-2F82-F422-2216F06CD815}"/>
              </a:ext>
            </a:extLst>
          </p:cNvPr>
          <p:cNvSpPr>
            <a:spLocks noGrp="1"/>
          </p:cNvSpPr>
          <p:nvPr>
            <p:ph type="title"/>
          </p:nvPr>
        </p:nvSpPr>
        <p:spPr/>
        <p:txBody>
          <a:bodyPr/>
          <a:lstStyle/>
          <a:p>
            <a:r>
              <a:t>A reactive loop</a:t>
            </a:r>
          </a:p>
        </p:txBody>
      </p:sp>
      <p:sp>
        <p:nvSpPr>
          <p:cNvPr id="3" name="Content Placeholder 2">
            <a:extLst>
              <a:ext uri="{FF2B5EF4-FFF2-40B4-BE49-F238E27FC236}">
                <a16:creationId xmlns:a16="http://schemas.microsoft.com/office/drawing/2014/main" id="{48C98EB0-CCB3-C813-D979-3AFE7E099FD1}"/>
              </a:ext>
            </a:extLst>
          </p:cNvPr>
          <p:cNvSpPr>
            <a:spLocks noGrp="1"/>
          </p:cNvSpPr>
          <p:nvPr>
            <p:ph idx="1"/>
          </p:nvPr>
        </p:nvSpPr>
        <p:spPr>
          <a:xfrm>
            <a:off x="319251" y="1520000"/>
            <a:ext cx="6014545" cy="1790000"/>
          </a:xfrm>
        </p:spPr>
        <p:txBody>
          <a:bodyPr wrap="square">
            <a:normAutofit fontScale="92500" lnSpcReduction="20000"/>
          </a:bodyPr>
          <a:lstStyle/>
          <a:p>
            <a:pPr marL="0" indent="0">
              <a:buNone/>
            </a:pPr>
            <a:r>
              <a:rPr sz="1400" b="1" dirty="0">
                <a:solidFill>
                  <a:srgbClr val="28285E"/>
                </a:solidFill>
              </a:rPr>
              <a:t>Every turn is the same four steps:</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Decide. </a:t>
            </a:r>
            <a:r>
              <a:rPr sz="1400" dirty="0">
                <a:solidFill>
                  <a:schemeClr val="tx1"/>
                </a:solidFill>
              </a:rPr>
              <a:t>One model call returns a tool call, or </a:t>
            </a:r>
            <a:r>
              <a:rPr lang="en-US" sz="1400" dirty="0">
                <a:solidFill>
                  <a:schemeClr val="tx1"/>
                </a:solidFill>
              </a:rPr>
              <a:t>a thought</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Dispatch. </a:t>
            </a:r>
            <a:r>
              <a:rPr sz="1400" dirty="0">
                <a:solidFill>
                  <a:schemeClr val="tx1"/>
                </a:solidFill>
              </a:rPr>
              <a:t>The runtime checks the request against our signature.</a:t>
            </a:r>
          </a:p>
          <a:p>
            <a:pPr marL="400050" indent="-285750">
              <a:spcBef>
                <a:spcPts val="600"/>
              </a:spcBef>
              <a:spcAft>
                <a:spcPts val="600"/>
              </a:spcAft>
              <a:buClr>
                <a:srgbClr val="28285E"/>
              </a:buClr>
              <a:buSzPts val="1260"/>
              <a:buFont typeface="Fira Sans"/>
              <a:buChar char="●"/>
            </a:pPr>
            <a:r>
              <a:rPr sz="1400" b="1" dirty="0">
                <a:solidFill>
                  <a:schemeClr val="tx1"/>
                </a:solidFill>
              </a:rPr>
              <a:t>Observe. </a:t>
            </a:r>
            <a:r>
              <a:rPr sz="1400" dirty="0">
                <a:solidFill>
                  <a:schemeClr val="tx1"/>
                </a:solidFill>
              </a:rPr>
              <a:t>The runtime writes what came back, never the model.</a:t>
            </a:r>
          </a:p>
          <a:p>
            <a:pPr marL="400050" indent="-285750">
              <a:spcBef>
                <a:spcPts val="600"/>
              </a:spcBef>
              <a:spcAft>
                <a:spcPts val="600"/>
              </a:spcAft>
              <a:buClr>
                <a:srgbClr val="28285E"/>
              </a:buClr>
              <a:buSzPts val="1260"/>
              <a:buFont typeface="Fira Sans"/>
              <a:buChar char="●"/>
            </a:pPr>
            <a:r>
              <a:rPr sz="1400" b="1" dirty="0">
                <a:solidFill>
                  <a:schemeClr val="tx1"/>
                </a:solidFill>
              </a:rPr>
              <a:t>Route. </a:t>
            </a:r>
            <a:r>
              <a:rPr sz="1400" dirty="0">
                <a:solidFill>
                  <a:schemeClr val="tx1"/>
                </a:solidFill>
              </a:rPr>
              <a:t>A predicate we wrote picks the successor.</a:t>
            </a:r>
          </a:p>
        </p:txBody>
      </p:sp>
      <p:sp>
        <p:nvSpPr>
          <p:cNvPr id="4" name="Rectangle 3"/>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selects the next action from the percepts so far, and the runtime returns the observation </a:t>
            </a:r>
            <a:r>
              <a:rPr sz="1400" b="1">
                <a:solidFill>
                  <a:schemeClr val="tx2"/>
                </a:solidFill>
              </a:rPr>
              <a:t>the next selection reads</a:t>
            </a:r>
            <a:r>
              <a:rPr sz="1400">
                <a:solidFill>
                  <a:schemeClr val="tx2"/>
                </a:solidFill>
              </a:rPr>
              <a:t>.</a:t>
            </a:r>
          </a:p>
        </p:txBody>
      </p:sp>
      <p:sp>
        <p:nvSpPr>
          <p:cNvPr id="5" name="TextBox 4"/>
          <p:cNvSpPr txBox="1"/>
          <p:nvPr/>
        </p:nvSpPr>
        <p:spPr>
          <a:xfrm>
            <a:off x="2933796" y="3400000"/>
            <a:ext cx="3400000" cy="253916"/>
          </a:xfrm>
          <a:prstGeom prst="rect">
            <a:avLst/>
          </a:prstGeom>
          <a:noFill/>
        </p:spPr>
        <p:txBody>
          <a:bodyPr wrap="none">
            <a:spAutoFit/>
          </a:bodyPr>
          <a:lstStyle/>
          <a:p>
            <a:pPr algn="r"/>
            <a:r>
              <a:rPr sz="1050" i="1">
                <a:solidFill>
                  <a:schemeClr val="bg2"/>
                </a:solidFill>
              </a:rPr>
              <a:t>Yao et al., ReAct, ICLR 2023, §2</a:t>
            </a:r>
          </a:p>
        </p:txBody>
      </p:sp>
      <p:sp>
        <p:nvSpPr>
          <p:cNvPr id="6" name="Rectangle 5"/>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Language is part of the action space: a thought changes the context, not the world.</a:t>
            </a:r>
          </a:p>
        </p:txBody>
      </p:sp>
    </p:spTree>
    <p:extLst>
      <p:ext uri="{BB962C8B-B14F-4D97-AF65-F5344CB8AC3E}">
        <p14:creationId xmlns:p14="http://schemas.microsoft.com/office/powerpoint/2010/main" val="22684062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graph our first demo compiles</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nodes, and only </a:t>
            </a:r>
            <a:r>
              <a:rPr sz="1400">
                <a:latin typeface="Maple Mono NF"/>
              </a:rPr>
              <a:t>controller</a:t>
            </a:r>
            <a:r>
              <a:rPr sz="1400">
                <a:solidFill>
                  <a:schemeClr val="tx2"/>
                </a:solidFill>
              </a:rPr>
              <a:t> calls a model. Dashed edges carry a predicate over state; </a:t>
            </a:r>
            <a:r>
              <a:rPr sz="1400" b="1">
                <a:solidFill>
                  <a:schemeClr val="tx2"/>
                </a:solidFill>
              </a:rPr>
              <a:t>the solid edge back is the loop</a:t>
            </a:r>
            <a:r>
              <a:rPr sz="1400">
                <a:solidFill>
                  <a:schemeClr val="tx2"/>
                </a:solidFill>
              </a:rPr>
              <a:t>.</a:t>
            </a:r>
          </a:p>
        </p:txBody>
      </p:sp>
      <p:pic>
        <p:nvPicPr>
          <p:cNvPr id="4" name="Picture 3" descr="reactive-loop-deck.png"/>
          <p:cNvPicPr>
            <a:picLocks noChangeAspect="1"/>
          </p:cNvPicPr>
          <p:nvPr/>
        </p:nvPicPr>
        <p:blipFill>
          <a:blip r:embed="rId3"/>
          <a:stretch>
            <a:fillRect/>
          </a:stretch>
        </p:blipFill>
        <p:spPr>
          <a:xfrm>
            <a:off x="250147" y="1520000"/>
            <a:ext cx="6152752" cy="3076376"/>
          </a:xfrm>
          <a:prstGeom prst="rect">
            <a:avLst/>
          </a:prstGeom>
        </p:spPr>
      </p:pic>
      <p:sp>
        <p:nvSpPr>
          <p:cNvPr id="5" name="TextBox 4">
            <a:extLst>
              <a:ext uri="{FF2B5EF4-FFF2-40B4-BE49-F238E27FC236}">
                <a16:creationId xmlns:a16="http://schemas.microsoft.com/office/drawing/2014/main" id="{2AA6FBBD-EA44-EF3B-1729-463F37139742}"/>
              </a:ext>
            </a:extLst>
          </p:cNvPr>
          <p:cNvSpPr txBox="1"/>
          <p:nvPr/>
        </p:nvSpPr>
        <p:spPr>
          <a:xfrm>
            <a:off x="4589430" y="4889584"/>
            <a:ext cx="2268570" cy="253916"/>
          </a:xfrm>
          <a:prstGeom prst="rect">
            <a:avLst/>
          </a:prstGeom>
          <a:noFill/>
        </p:spPr>
        <p:txBody>
          <a:bodyPr wrap="none" rtlCol="0">
            <a:spAutoFit/>
          </a:bodyPr>
          <a:lstStyle/>
          <a:p>
            <a:r>
              <a:rPr lang="en-US" sz="1050" i="1" dirty="0">
                <a:latin typeface="+mn-lt"/>
              </a:rPr>
              <a:t>see: lec2_reactive_agent/graph.py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graph, in code: the nodes</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lec2_reactive_agent/graph.py  —  compile()</a:t>
            </a:r>
          </a:p>
        </p:txBody>
      </p:sp>
      <p:sp>
        <p:nvSpPr>
          <p:cNvPr id="5" name="Rectangle 4"/>
          <p:cNvSpPr/>
          <p:nvPr/>
        </p:nvSpPr>
        <p:spPr>
          <a:xfrm>
            <a:off x="319251" y="28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nodes, and each one is </a:t>
            </a:r>
            <a:r>
              <a:rPr sz="1400" b="1">
                <a:solidFill>
                  <a:schemeClr val="tx2"/>
                </a:solidFill>
              </a:rPr>
              <a:t>a method on the same class</a:t>
            </a:r>
            <a:r>
              <a:rPr sz="1400">
                <a:solidFill>
                  <a:schemeClr val="tx2"/>
                </a:solidFill>
              </a:rPr>
              <a:t>. Nothing here says what happens next.</a:t>
            </a:r>
          </a:p>
        </p:txBody>
      </p:sp>
      <p:sp>
        <p:nvSpPr>
          <p:cNvPr id="6" name="Rectangle 5"/>
          <p:cNvSpPr/>
          <p:nvPr/>
        </p:nvSpPr>
        <p:spPr>
          <a:xfrm>
            <a:off x="319251" y="36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node is where work happens. An edge is where the decision happens.</a:t>
            </a:r>
          </a:p>
        </p:txBody>
      </p:sp>
      <p:sp>
        <p:nvSpPr>
          <p:cNvPr id="7" name="Rounded Rectangle 6"/>
          <p:cNvSpPr/>
          <p:nvPr/>
        </p:nvSpPr>
        <p:spPr>
          <a:xfrm>
            <a:off x="319251" y="1060000"/>
            <a:ext cx="6014545" cy="15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graph = StateGraph(AgentState)</a:t>
            </a:r>
          </a:p>
          <a:p>
            <a:pPr algn="l">
              <a:buNone/>
            </a:pPr>
            <a:endParaRPr sz="1100">
              <a:solidFill>
                <a:srgbClr val="28285E"/>
              </a:solidFill>
              <a:latin typeface="Maple Mono NF"/>
            </a:endParaRPr>
          </a:p>
          <a:p>
            <a:pPr algn="l">
              <a:buNone/>
            </a:pPr>
            <a:r>
              <a:rPr sz="1100">
                <a:solidFill>
                  <a:srgbClr val="28285E"/>
                </a:solidFill>
                <a:latin typeface="Maple Mono NF"/>
              </a:rPr>
              <a:t>graph.add_node("controller", self.controller)</a:t>
            </a:r>
          </a:p>
          <a:p>
            <a:pPr algn="l">
              <a:buNone/>
            </a:pPr>
            <a:r>
              <a:rPr sz="1100">
                <a:solidFill>
                  <a:srgbClr val="28285E"/>
                </a:solidFill>
                <a:latin typeface="Maple Mono NF"/>
              </a:rPr>
              <a:t>graph.add_node("tools", self.tools)</a:t>
            </a:r>
          </a:p>
          <a:p>
            <a:pPr algn="l">
              <a:buNone/>
            </a:pPr>
            <a:r>
              <a:rPr sz="1100">
                <a:solidFill>
                  <a:srgbClr val="28285E"/>
                </a:solidFill>
                <a:latin typeface="Maple Mono NF"/>
              </a:rPr>
              <a:t>graph.add_node("submit", self.submit)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Then the edges</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060000"/>
            <a:ext cx="6014545" cy="135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graph.add_edge(START, "controller")</a:t>
            </a:r>
          </a:p>
          <a:p>
            <a:pPr algn="l">
              <a:buNone/>
            </a:pPr>
            <a:endParaRPr sz="1100">
              <a:solidFill>
                <a:srgbClr val="28285E"/>
              </a:solidFill>
              <a:latin typeface="Maple Mono NF"/>
            </a:endParaRPr>
          </a:p>
          <a:p>
            <a:pPr algn="l">
              <a:buNone/>
            </a:pPr>
            <a:r>
              <a:rPr sz="1100">
                <a:solidFill>
                  <a:srgbClr val="8A8A9A"/>
                </a:solidFill>
                <a:latin typeface="Maple Mono NF"/>
              </a:rPr>
              <a:t># The edge back. This one line is what makes the loop a loop.</a:t>
            </a:r>
          </a:p>
          <a:p>
            <a:pPr algn="l">
              <a:buNone/>
            </a:pPr>
            <a:r>
              <a:rPr sz="1100" b="1">
                <a:solidFill>
                  <a:srgbClr val="C73561"/>
                </a:solidFill>
                <a:latin typeface="Maple Mono NF"/>
              </a:rPr>
              <a:t>graph.add_edge("tools", "controller")</a:t>
            </a:r>
          </a:p>
        </p:txBody>
      </p:sp>
      <p:sp>
        <p:nvSpPr>
          <p:cNvPr id="5" name="Rectangle 4"/>
          <p:cNvSpPr/>
          <p:nvPr/>
        </p:nvSpPr>
        <p:spPr>
          <a:xfrm>
            <a:off x="319251" y="26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Two edges that are always taken. </a:t>
            </a:r>
            <a:r>
              <a:rPr sz="1400" b="1">
                <a:solidFill>
                  <a:schemeClr val="tx2"/>
                </a:solidFill>
              </a:rPr>
              <a:t>The second one is the whole architecture</a:t>
            </a:r>
            <a:r>
              <a:rPr sz="1400">
                <a:solidFill>
                  <a:schemeClr val="tx2"/>
                </a:solidFill>
              </a:rPr>
              <a:t>.</a:t>
            </a:r>
          </a:p>
        </p:txBody>
      </p:sp>
      <p:sp>
        <p:nvSpPr>
          <p:cNvPr id="6" name="Rectangle 5"/>
          <p:cNvSpPr/>
          <p:nvPr/>
        </p:nvSpPr>
        <p:spPr>
          <a:xfrm>
            <a:off x="319251" y="34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Delete that line and the program is a chain again.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And the conditional ones</a:t>
            </a:r>
          </a:p>
        </p:txBody>
      </p:sp>
      <p:sp>
        <p:nvSpPr>
          <p:cNvPr id="3" name="TextBox 2"/>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096499"/>
            <a:ext cx="6014545" cy="1327002"/>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dirty="0" err="1">
                <a:solidFill>
                  <a:srgbClr val="28285E"/>
                </a:solidFill>
                <a:latin typeface="Maple Mono NF"/>
              </a:rPr>
              <a:t>graph.add_conditional_edges</a:t>
            </a:r>
            <a:r>
              <a:rPr sz="1100" dirty="0">
                <a:solidFill>
                  <a:srgbClr val="28285E"/>
                </a:solidFill>
                <a:latin typeface="Maple Mono NF"/>
              </a:rPr>
              <a:t>("controller", </a:t>
            </a:r>
            <a:r>
              <a:rPr sz="1100" dirty="0" err="1">
                <a:solidFill>
                  <a:srgbClr val="28285E"/>
                </a:solidFill>
                <a:latin typeface="Maple Mono NF"/>
              </a:rPr>
              <a:t>self.after_controller</a:t>
            </a:r>
            <a:r>
              <a:rPr sz="1100" dirty="0">
                <a:solidFill>
                  <a:srgbClr val="28285E"/>
                </a:solidFill>
                <a:latin typeface="Maple Mono NF"/>
              </a:rPr>
              <a:t>,</a:t>
            </a:r>
          </a:p>
          <a:p>
            <a:pPr algn="l">
              <a:buNone/>
            </a:pPr>
            <a:r>
              <a:rPr sz="1100" dirty="0">
                <a:solidFill>
                  <a:srgbClr val="28285E"/>
                </a:solidFill>
                <a:latin typeface="Maple Mono NF"/>
              </a:rPr>
              <a:t>                    {"tools": "tools", "submit": "submit", END: END})</a:t>
            </a:r>
            <a:endParaRPr lang="en-US" sz="1100" dirty="0">
              <a:solidFill>
                <a:srgbClr val="28285E"/>
              </a:solidFill>
              <a:latin typeface="Maple Mono NF"/>
            </a:endParaRPr>
          </a:p>
          <a:p>
            <a:pPr algn="l">
              <a:buNone/>
            </a:pPr>
            <a:endParaRPr sz="1100" dirty="0">
              <a:solidFill>
                <a:srgbClr val="28285E"/>
              </a:solidFill>
              <a:latin typeface="Maple Mono NF"/>
            </a:endParaRPr>
          </a:p>
          <a:p>
            <a:pPr algn="l">
              <a:buNone/>
            </a:pPr>
            <a:r>
              <a:rPr sz="1100" dirty="0" err="1">
                <a:solidFill>
                  <a:srgbClr val="28285E"/>
                </a:solidFill>
                <a:latin typeface="Maple Mono NF"/>
              </a:rPr>
              <a:t>graph.add_conditional_edges</a:t>
            </a:r>
            <a:r>
              <a:rPr sz="1100" dirty="0">
                <a:solidFill>
                  <a:srgbClr val="28285E"/>
                </a:solidFill>
                <a:latin typeface="Maple Mono NF"/>
              </a:rPr>
              <a:t>("submit", </a:t>
            </a:r>
            <a:r>
              <a:rPr sz="1100" dirty="0" err="1">
                <a:solidFill>
                  <a:srgbClr val="28285E"/>
                </a:solidFill>
                <a:latin typeface="Maple Mono NF"/>
              </a:rPr>
              <a:t>self.after_submit</a:t>
            </a:r>
            <a:r>
              <a:rPr sz="1100" dirty="0">
                <a:solidFill>
                  <a:srgbClr val="28285E"/>
                </a:solidFill>
                <a:latin typeface="Maple Mono NF"/>
              </a:rPr>
              <a:t>,</a:t>
            </a:r>
          </a:p>
          <a:p>
            <a:pPr algn="l">
              <a:buNone/>
            </a:pPr>
            <a:r>
              <a:rPr sz="1100" dirty="0">
                <a:solidFill>
                  <a:srgbClr val="28285E"/>
                </a:solidFill>
                <a:latin typeface="Maple Mono NF"/>
              </a:rPr>
              <a:t>                            {"controller": "controller", END: END})</a:t>
            </a:r>
          </a:p>
        </p:txBody>
      </p:sp>
      <p:sp>
        <p:nvSpPr>
          <p:cNvPr id="5" name="Rectangle 4"/>
          <p:cNvSpPr/>
          <p:nvPr/>
        </p:nvSpPr>
        <p:spPr>
          <a:xfrm>
            <a:off x="319251" y="2719999"/>
            <a:ext cx="6014545" cy="837977"/>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 conditional edge is a function plus </a:t>
            </a:r>
            <a:r>
              <a:rPr sz="1400" b="1">
                <a:solidFill>
                  <a:schemeClr val="tx2"/>
                </a:solidFill>
              </a:rPr>
              <a:t>the set of successors it is allowed to name</a:t>
            </a:r>
            <a:r>
              <a:rPr sz="1400">
                <a:solidFill>
                  <a:schemeClr val="tx2"/>
                </a:solidFill>
              </a:rPr>
              <a:t>. The function returns a key; the dictionary turns that key into a node.</a:t>
            </a:r>
          </a:p>
        </p:txBody>
      </p:sp>
      <p:sp>
        <p:nvSpPr>
          <p:cNvPr id="6" name="Rectangle 5"/>
          <p:cNvSpPr/>
          <p:nvPr/>
        </p:nvSpPr>
        <p:spPr>
          <a:xfrm>
            <a:off x="319251" y="3757975"/>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 cannot go anywhere that is not in that dictionary.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Then compile</a:t>
            </a:r>
          </a:p>
        </p:txBody>
      </p:sp>
      <p:sp>
        <p:nvSpPr>
          <p:cNvPr id="3" name="TextBox 2"/>
          <p:cNvSpPr txBox="1"/>
          <p:nvPr/>
        </p:nvSpPr>
        <p:spPr>
          <a:xfrm>
            <a:off x="319251" y="820000"/>
            <a:ext cx="6014545" cy="200000"/>
          </a:xfrm>
          <a:prstGeom prst="rect">
            <a:avLst/>
          </a:prstGeom>
          <a:noFill/>
        </p:spPr>
        <p:txBody>
          <a:bodyPr wrap="none">
            <a:spAutoFit/>
          </a:bodyPr>
          <a:lstStyle/>
          <a:p>
            <a:r>
              <a:rPr sz="1200" b="1">
                <a:solidFill>
                  <a:srgbClr val="28285E"/>
                </a:solidFill>
                <a:latin typeface="Maple Mono NF"/>
              </a:rPr>
              <a:t>graph.py  —  compile()</a:t>
            </a:r>
          </a:p>
        </p:txBody>
      </p:sp>
      <p:sp>
        <p:nvSpPr>
          <p:cNvPr id="4" name="Rounded Rectangle 3"/>
          <p:cNvSpPr/>
          <p:nvPr/>
        </p:nvSpPr>
        <p:spPr>
          <a:xfrm>
            <a:off x="319251" y="1120000"/>
            <a:ext cx="6014545" cy="135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def compile(self):</a:t>
            </a:r>
          </a:p>
          <a:p>
            <a:pPr algn="l">
              <a:buNone/>
            </a:pPr>
            <a:r>
              <a:rPr sz="1100">
                <a:solidFill>
                  <a:srgbClr val="28285E"/>
                </a:solidFill>
                <a:latin typeface="Maple Mono NF"/>
              </a:rPr>
              <a:t>    graph = StateGraph(AgentState)</a:t>
            </a:r>
          </a:p>
          <a:p>
            <a:pPr algn="l">
              <a:buNone/>
            </a:pPr>
            <a:r>
              <a:rPr sz="1100">
                <a:solidFill>
                  <a:srgbClr val="8A8A9A"/>
                </a:solidFill>
                <a:latin typeface="Maple Mono NF"/>
              </a:rPr>
              <a:t>    ...                    # the nodes and edges, as above</a:t>
            </a:r>
          </a:p>
          <a:p>
            <a:pPr algn="l">
              <a:buNone/>
            </a:pPr>
            <a:r>
              <a:rPr sz="1100" b="1">
                <a:solidFill>
                  <a:srgbClr val="C73561"/>
                </a:solidFill>
                <a:latin typeface="Maple Mono NF"/>
              </a:rPr>
              <a:t>    return graph.compile()</a:t>
            </a:r>
          </a:p>
        </p:txBody>
      </p:sp>
      <p:sp>
        <p:nvSpPr>
          <p:cNvPr id="5" name="Rectangle 4"/>
          <p:cNvSpPr/>
          <p:nvPr/>
        </p:nvSpPr>
        <p:spPr>
          <a:xfrm>
            <a:off x="319251" y="271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Compiled once, before any alert is read. </a:t>
            </a:r>
            <a:r>
              <a:rPr sz="1400" b="1">
                <a:solidFill>
                  <a:schemeClr val="tx2"/>
                </a:solidFill>
              </a:rPr>
              <a:t>The same object runs every alert</a:t>
            </a:r>
            <a:r>
              <a:rPr sz="1400">
                <a:solidFill>
                  <a:schemeClr val="tx2"/>
                </a:solidFill>
              </a:rPr>
              <a:t>.</a:t>
            </a:r>
          </a:p>
        </p:txBody>
      </p:sp>
      <p:sp>
        <p:nvSpPr>
          <p:cNvPr id="6" name="Rectangle 5"/>
          <p:cNvSpPr/>
          <p:nvPr/>
        </p:nvSpPr>
        <p:spPr>
          <a:xfrm>
            <a:off x="319251" y="35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Dynamic paths do not need a dynamic graph.</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Who picks the edge</a:t>
            </a:r>
          </a:p>
        </p:txBody>
      </p:sp>
      <p:sp>
        <p:nvSpPr>
          <p:cNvPr id="3" name="TextBox 2"/>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after_controller</a:t>
            </a:r>
          </a:p>
        </p:txBody>
      </p:sp>
      <p:sp>
        <p:nvSpPr>
          <p:cNvPr id="4" name="Rounded Rectangle 3"/>
          <p:cNvSpPr/>
          <p:nvPr/>
        </p:nvSpPr>
        <p:spPr>
          <a:xfrm>
            <a:off x="319251" y="1000000"/>
            <a:ext cx="6014545" cy="156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def after_controller(self, state) -&gt; str:</a:t>
            </a:r>
          </a:p>
          <a:p>
            <a:pPr algn="l">
              <a:buNone/>
            </a:pPr>
            <a:r>
              <a:rPr sz="1100">
                <a:solidFill>
                  <a:srgbClr val="28285E"/>
                </a:solidFill>
                <a:latin typeface="Maple Mono NF"/>
              </a:rPr>
              <a:t>    if state["status"] != RUNNING:</a:t>
            </a:r>
          </a:p>
          <a:p>
            <a:pPr algn="l">
              <a:buNone/>
            </a:pPr>
            <a:r>
              <a:rPr sz="1100">
                <a:solidFill>
                  <a:srgbClr val="28285E"/>
                </a:solidFill>
                <a:latin typeface="Maple Mono NF"/>
              </a:rPr>
              <a:t>        return END</a:t>
            </a:r>
          </a:p>
          <a:p>
            <a:pPr algn="l">
              <a:buNone/>
            </a:pPr>
            <a:r>
              <a:rPr sz="1100" b="1">
                <a:solidFill>
                  <a:srgbClr val="C73561"/>
                </a:solidFill>
                <a:latin typeface="Maple Mono NF"/>
              </a:rPr>
              <a:t>    if state["messages"][-1].tool_calls:</a:t>
            </a:r>
          </a:p>
          <a:p>
            <a:pPr algn="l">
              <a:buNone/>
            </a:pPr>
            <a:r>
              <a:rPr sz="1100" b="1">
                <a:solidFill>
                  <a:srgbClr val="C73561"/>
                </a:solidFill>
                <a:latin typeface="Maple Mono NF"/>
              </a:rPr>
              <a:t>        return "tools"</a:t>
            </a:r>
          </a:p>
          <a:p>
            <a:pPr algn="l">
              <a:buNone/>
            </a:pPr>
            <a:r>
              <a:rPr sz="1100" b="1">
                <a:solidFill>
                  <a:srgbClr val="C73561"/>
                </a:solidFill>
                <a:latin typeface="Maple Mono NF"/>
              </a:rPr>
              <a:t>    return "submit"</a:t>
            </a:r>
          </a:p>
        </p:txBody>
      </p:sp>
      <p:sp>
        <p:nvSpPr>
          <p:cNvPr id="5" name="Rectangle 4"/>
          <p:cNvSpPr/>
          <p:nvPr/>
        </p:nvSpPr>
        <p:spPr>
          <a:xfrm>
            <a:off x="319251" y="28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picks its own successor by </a:t>
            </a:r>
            <a:r>
              <a:rPr sz="1400" b="1">
                <a:solidFill>
                  <a:schemeClr val="tx2"/>
                </a:solidFill>
              </a:rPr>
              <a:t>emitting a tool call, or not</a:t>
            </a:r>
            <a:r>
              <a:rPr sz="1400">
                <a:solidFill>
                  <a:schemeClr val="tx2"/>
                </a:solidFill>
              </a:rPr>
              <a:t>.</a:t>
            </a:r>
          </a:p>
        </p:txBody>
      </p:sp>
      <p:sp>
        <p:nvSpPr>
          <p:cNvPr id="6" name="Rectangle 5"/>
          <p:cNvSpPr/>
          <p:nvPr/>
        </p:nvSpPr>
        <p:spPr>
          <a:xfrm>
            <a:off x="319251" y="36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trace records </a:t>
            </a:r>
            <a:r>
              <a:rPr sz="1200" b="1">
                <a:solidFill>
                  <a:srgbClr val="C73561"/>
                </a:solidFill>
              </a:rPr>
              <a:t>by="model"</a:t>
            </a:r>
            <a:r>
              <a:rPr sz="1200" b="1">
                <a:solidFill>
                  <a:srgbClr val="28285E"/>
                </a:solidFill>
              </a:rPr>
              <a:t> on these two edges, and </a:t>
            </a:r>
            <a:r>
              <a:rPr sz="1200" b="1">
                <a:solidFill>
                  <a:srgbClr val="C73561"/>
                </a:solidFill>
              </a:rPr>
              <a:t>by="runtime"</a:t>
            </a:r>
            <a:r>
              <a:rPr sz="1200" b="1">
                <a:solidFill>
                  <a:srgbClr val="28285E"/>
                </a:solidFill>
              </a:rPr>
              <a:t> on every other.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row moves</a:t>
            </a:r>
          </a:p>
        </p:txBody>
      </p:sp>
      <p:graphicFrame>
        <p:nvGraphicFramePr>
          <p:cNvPr id="3" name="Table 2"/>
          <p:cNvGraphicFramePr>
            <a:graphicFrameLocks noGrp="1"/>
          </p:cNvGraphicFramePr>
          <p:nvPr>
            <p:extLst>
              <p:ext uri="{D42A27DB-BD31-4B8C-83A1-F6EECF244321}">
                <p14:modId xmlns:p14="http://schemas.microsoft.com/office/powerpoint/2010/main" val="1593811576"/>
              </p:ext>
            </p:extLst>
          </p:nvPr>
        </p:nvGraphicFramePr>
        <p:xfrm>
          <a:off x="319251" y="1150000"/>
          <a:ext cx="6014545" cy="1877340"/>
        </p:xfrm>
        <a:graphic>
          <a:graphicData uri="http://schemas.openxmlformats.org/drawingml/2006/table">
            <a:tbl>
              <a:tblPr>
                <a:tableStyleId>{2D5ABB26-0587-4C30-8999-92F81FD0307C}</a:tableStyleId>
              </a:tblPr>
              <a:tblGrid>
                <a:gridCol w="2370579">
                  <a:extLst>
                    <a:ext uri="{9D8B030D-6E8A-4147-A177-3AD203B41FA5}">
                      <a16:colId xmlns:a16="http://schemas.microsoft.com/office/drawing/2014/main" val="20000"/>
                    </a:ext>
                  </a:extLst>
                </a:gridCol>
                <a:gridCol w="1629421">
                  <a:extLst>
                    <a:ext uri="{9D8B030D-6E8A-4147-A177-3AD203B41FA5}">
                      <a16:colId xmlns:a16="http://schemas.microsoft.com/office/drawing/2014/main" val="20001"/>
                    </a:ext>
                  </a:extLst>
                </a:gridCol>
                <a:gridCol w="2014545">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Fixed workflow</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Reactive loop</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1" dirty="0">
                          <a:solidFill>
                            <a:schemeClr val="accent4"/>
                          </a:solidFill>
                        </a:rPr>
                        <a:t>The model, at run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Whether another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1" dirty="0">
                          <a:solidFill>
                            <a:schemeClr val="accent4"/>
                          </a:solidFill>
                        </a:rPr>
                        <a:t>The model, until the budget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How many model calls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Bounded by the budget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A predicate we wrote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lgn="l">
                        <a:buNone/>
                      </a:pPr>
                      <a:r>
                        <a:rPr sz="1100" b="1">
                          <a:solidFill>
                            <a:srgbClr val="28285E"/>
                          </a:solidFill>
                        </a:rPr>
                        <a:t>Which artifacts a step touches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100" b="1" i="0" u="none" strike="noStrike" cap="none" spc="0" dirty="0">
                          <a:solidFill>
                            <a:schemeClr val="accent4"/>
                          </a:solidFill>
                          <a:latin typeface="+mn-lt"/>
                          <a:ea typeface="+mn-ea"/>
                          <a:cs typeface="+mn-cs"/>
                          <a:sym typeface="Arial"/>
                        </a:rPr>
                        <a:t>The model, by using tools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100" b="1">
                          <a:solidFill>
                            <a:srgbClr val="28285E"/>
                          </a:solidFill>
                        </a:rPr>
                        <a:t>What a model call returns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bl>
          </a:graphicData>
        </a:graphic>
      </p:graphicFrame>
      <p:sp>
        <p:nvSpPr>
          <p:cNvPr id="4" name="Rectangle 3"/>
          <p:cNvSpPr/>
          <p:nvPr/>
        </p:nvSpPr>
        <p:spPr>
          <a:xfrm>
            <a:off x="3429000" y="3620000"/>
            <a:ext cx="2904796"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chemeClr val="tx2"/>
                </a:solidFill>
              </a:rPr>
              <a:t>The model gains </a:t>
            </a:r>
            <a:r>
              <a:rPr lang="en-US" sz="1200" b="0" dirty="0">
                <a:solidFill>
                  <a:schemeClr val="tx2"/>
                </a:solidFill>
              </a:rPr>
              <a:t>two rows of control</a:t>
            </a:r>
            <a:r>
              <a:rPr sz="1200" b="0" dirty="0">
                <a:solidFill>
                  <a:schemeClr val="tx2"/>
                </a:solidFill>
              </a:rPr>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loop buys</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Three things come back for the one decision we gave away:</a:t>
            </a:r>
          </a:p>
          <a:p>
            <a:pPr marL="400050" indent="-285750">
              <a:spcBef>
                <a:spcPts val="600"/>
              </a:spcBef>
              <a:spcAft>
                <a:spcPts val="600"/>
              </a:spcAft>
              <a:buClr>
                <a:srgbClr val="28285E"/>
              </a:buClr>
              <a:buSzPts val="1260"/>
              <a:buFont typeface="Fira Sans"/>
              <a:buChar char="●"/>
            </a:pPr>
            <a:r>
              <a:rPr sz="1400" b="1">
                <a:solidFill>
                  <a:schemeClr val="tx1"/>
                </a:solidFill>
              </a:rPr>
              <a:t>Reach. </a:t>
            </a:r>
            <a:r>
              <a:rPr sz="1400">
                <a:solidFill>
                  <a:schemeClr val="tx1"/>
                </a:solidFill>
              </a:rPr>
              <a:t>The agent can act to see: read the helper the flagged line names, then decide.</a:t>
            </a:r>
          </a:p>
          <a:p>
            <a:pPr marL="400050" indent="-285750">
              <a:spcBef>
                <a:spcPts val="600"/>
              </a:spcBef>
              <a:spcAft>
                <a:spcPts val="600"/>
              </a:spcAft>
              <a:buClr>
                <a:srgbClr val="28285E"/>
              </a:buClr>
              <a:buSzPts val="1260"/>
              <a:buFont typeface="Fira Sans"/>
              <a:buChar char="●"/>
            </a:pPr>
            <a:r>
              <a:rPr sz="1400" b="1">
                <a:solidFill>
                  <a:schemeClr val="tx1"/>
                </a:solidFill>
              </a:rPr>
              <a:t>Proportion. </a:t>
            </a:r>
            <a:r>
              <a:rPr sz="1400">
                <a:solidFill>
                  <a:schemeClr val="tx1"/>
                </a:solidFill>
              </a:rPr>
              <a:t>A two-line fix costs two or three turns. The chain pays one price for every alert.</a:t>
            </a:r>
          </a:p>
          <a:p>
            <a:pPr marL="400050" indent="-285750">
              <a:spcBef>
                <a:spcPts val="600"/>
              </a:spcBef>
              <a:spcAft>
                <a:spcPts val="600"/>
              </a:spcAft>
              <a:buClr>
                <a:srgbClr val="28285E"/>
              </a:buClr>
              <a:buSzPts val="1260"/>
              <a:buFont typeface="Fira Sans"/>
              <a:buChar char="●"/>
            </a:pPr>
            <a:r>
              <a:rPr sz="1400" b="1">
                <a:solidFill>
                  <a:schemeClr val="tx1"/>
                </a:solidFill>
              </a:rPr>
              <a:t>Recovery. </a:t>
            </a:r>
            <a:r>
              <a:rPr sz="1400">
                <a:solidFill>
                  <a:schemeClr val="tx1"/>
                </a:solidFill>
              </a:rPr>
              <a:t>A search that returns nothing can be followed by a different one.</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All three come from the same edge. </a:t>
            </a:r>
            <a:r>
              <a:rPr sz="1400" b="1">
                <a:solidFill>
                  <a:schemeClr val="tx2"/>
                </a:solidFill>
              </a:rPr>
              <a:t>A loop needs no new node, because the edge back is the node</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chain carries a bad read all the way to the patch.</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it costs</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The three guarantees of the fixed shape go, and they go together:</a:t>
            </a:r>
          </a:p>
          <a:p>
            <a:pPr marL="400050" indent="-285750">
              <a:spcBef>
                <a:spcPts val="600"/>
              </a:spcBef>
              <a:spcAft>
                <a:spcPts val="600"/>
              </a:spcAft>
              <a:buClr>
                <a:srgbClr val="28285E"/>
              </a:buClr>
              <a:buSzPts val="1260"/>
              <a:buFont typeface="Fira Sans"/>
              <a:buChar char="●"/>
            </a:pPr>
            <a:r>
              <a:rPr sz="1400" b="1">
                <a:solidFill>
                  <a:schemeClr val="tx1"/>
                </a:solidFill>
              </a:rPr>
              <a:t>Shape. </a:t>
            </a:r>
            <a:r>
              <a:rPr sz="1400">
                <a:solidFill>
                  <a:schemeClr val="tx1"/>
                </a:solidFill>
              </a:rPr>
              <a:t>We cannot price a run before it starts. The budget is a worst case, not an estimate.</a:t>
            </a:r>
          </a:p>
          <a:p>
            <a:pPr marL="400050" indent="-285750">
              <a:spcBef>
                <a:spcPts val="600"/>
              </a:spcBef>
              <a:spcAft>
                <a:spcPts val="600"/>
              </a:spcAft>
              <a:buClr>
                <a:srgbClr val="28285E"/>
              </a:buClr>
              <a:buSzPts val="1260"/>
              <a:buFont typeface="Fira Sans"/>
              <a:buChar char="●"/>
            </a:pPr>
            <a:r>
              <a:rPr sz="1400" b="1">
                <a:solidFill>
                  <a:schemeClr val="tx1"/>
                </a:solidFill>
              </a:rPr>
              <a:t>Address. </a:t>
            </a:r>
            <a:r>
              <a:rPr sz="1400">
                <a:solidFill>
                  <a:schemeClr val="tx1"/>
                </a:solidFill>
              </a:rPr>
              <a:t>A failure is spread over turns, each of which looks reasonable on its own.</a:t>
            </a:r>
          </a:p>
          <a:p>
            <a:pPr marL="400050" indent="-285750">
              <a:spcBef>
                <a:spcPts val="600"/>
              </a:spcBef>
              <a:spcAft>
                <a:spcPts val="600"/>
              </a:spcAft>
              <a:buClr>
                <a:srgbClr val="28285E"/>
              </a:buClr>
              <a:buSzPts val="1260"/>
              <a:buFont typeface="Fira Sans"/>
              <a:buChar char="●"/>
            </a:pPr>
            <a:r>
              <a:rPr sz="1400" b="1">
                <a:solidFill>
                  <a:schemeClr val="tx1"/>
                </a:solidFill>
              </a:rPr>
              <a:t>Termination. </a:t>
            </a:r>
            <a:r>
              <a:rPr sz="1400">
                <a:solidFill>
                  <a:schemeClr val="tx1"/>
                </a:solidFill>
              </a:rPr>
              <a:t>The run stops because we made it stop, and stopping is not finishing.</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loop has no measure of progress. </a:t>
            </a:r>
            <a:r>
              <a:rPr sz="1400" b="1">
                <a:solidFill>
                  <a:schemeClr val="tx2"/>
                </a:solidFill>
              </a:rPr>
              <a:t>It counts turns, because turns are all it can count</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run that hits the budget has paid for every call and has no patch to show.</a:t>
            </a:r>
            <a:r>
              <a:rPr sz="1200" b="1">
                <a:solidFill>
                  <a:srgbClr val="C73561"/>
                </a:solidFill>
              </a:rPr>
              <a:t>  (a plan gives it something to aim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the failures live</a:t>
            </a:r>
          </a:p>
        </p:txBody>
      </p:sp>
      <p:graphicFrame>
        <p:nvGraphicFramePr>
          <p:cNvPr id="3" name="Table 2"/>
          <p:cNvGraphicFramePr>
            <a:graphicFrameLocks noGrp="1"/>
          </p:cNvGraphicFramePr>
          <p:nvPr/>
        </p:nvGraphicFramePr>
        <p:xfrm>
          <a:off x="319251" y="1250000"/>
          <a:ext cx="6014545" cy="1256310"/>
        </p:xfrm>
        <a:graphic>
          <a:graphicData uri="http://schemas.openxmlformats.org/drawingml/2006/table">
            <a:tbl>
              <a:tblPr>
                <a:tableStyleId>{2D5ABB26-0587-4C30-8999-92F81FD0307C}</a:tableStyleId>
              </a:tblPr>
              <a:tblGrid>
                <a:gridCol w="1750000">
                  <a:extLst>
                    <a:ext uri="{9D8B030D-6E8A-4147-A177-3AD203B41FA5}">
                      <a16:colId xmlns:a16="http://schemas.microsoft.com/office/drawing/2014/main" val="20000"/>
                    </a:ext>
                  </a:extLst>
                </a:gridCol>
                <a:gridCol w="1450000">
                  <a:extLst>
                    <a:ext uri="{9D8B030D-6E8A-4147-A177-3AD203B41FA5}">
                      <a16:colId xmlns:a16="http://schemas.microsoft.com/office/drawing/2014/main" val="20001"/>
                    </a:ext>
                  </a:extLst>
                </a:gridCol>
                <a:gridCol w="1914545">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tblGrid>
              <a:tr h="300000">
                <a:tc>
                  <a:txBody>
                    <a:bodyPr/>
                    <a:lstStyle/>
                    <a:p>
                      <a:pPr algn="l">
                        <a:buNone/>
                      </a:pPr>
                      <a:r>
                        <a:rPr sz="1100" b="1">
                          <a:solidFill>
                            <a:schemeClr val="tx1"/>
                          </a:solidFill>
                        </a:rPr>
                        <a:t>Tool</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Architecture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Where the failure appears</a:t>
                      </a:r>
                    </a:p>
                  </a:txBody>
                  <a:tcPr marL="95250" marR="95250" marT="47625" marB="47625">
                    <a:lnB w="12700" cap="flat" cmpd="sng" algn="ctr">
                      <a:solidFill>
                        <a:schemeClr val="tx1"/>
                      </a:solidFill>
                    </a:lnB>
                    <a:noFill/>
                  </a:tcPr>
                </a:tc>
                <a:tc>
                  <a:txBody>
                    <a:bodyPr/>
                    <a:lstStyle/>
                    <a:p>
                      <a:pPr algn="r">
                        <a:buNone/>
                      </a:pPr>
                      <a:r>
                        <a:rPr sz="1100" b="1">
                          <a:solidFill>
                            <a:schemeClr val="tx1"/>
                          </a:solidFill>
                        </a:rPr>
                        <a:t>Share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Agentless-1.5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Fixed workflow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Localization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51.3%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OpenHands-CodeAct-2.1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Reactive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Iteration and 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49.1%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Tools + Claude 3.5 Sonnet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Reactive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Iteration and 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51.7%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1133796" y="2900000"/>
            <a:ext cx="5200000" cy="253916"/>
          </a:xfrm>
          <a:prstGeom prst="rect">
            <a:avLst/>
          </a:prstGeom>
          <a:noFill/>
        </p:spPr>
        <p:txBody>
          <a:bodyPr wrap="none">
            <a:spAutoFit/>
          </a:bodyPr>
          <a:lstStyle/>
          <a:p>
            <a:pPr algn="r"/>
            <a:r>
              <a:rPr sz="1050" i="1">
                <a:solidFill>
                  <a:schemeClr val="bg2"/>
                </a:solidFill>
              </a:rPr>
              <a:t>Liu et al., 150 hand-annotated failures, SWE-bench Verified, one backbone model</a:t>
            </a:r>
          </a:p>
        </p:txBody>
      </p:sp>
      <p:sp>
        <p:nvSpPr>
          <p:cNvPr id="5" name="Rectangle 4"/>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The fixed workflow fails where it commits earliest. </a:t>
            </a:r>
            <a:r>
              <a:rPr sz="1400" b="1" dirty="0">
                <a:solidFill>
                  <a:schemeClr val="tx2"/>
                </a:solidFill>
              </a:rPr>
              <a:t>The loop fails inside the iteration it bought</a:t>
            </a:r>
            <a:r>
              <a:rPr lang="en-US" b="1" dirty="0">
                <a:solidFill>
                  <a:schemeClr val="tx2"/>
                </a:solidFill>
              </a:rPr>
              <a:t> with model driven automation.</a:t>
            </a:r>
            <a:endParaRPr sz="1400" dirty="0">
              <a:solidFill>
                <a:schemeClr val="tx2"/>
              </a:solidFill>
            </a:endParaRPr>
          </a:p>
        </p:txBody>
      </p:sp>
      <p:sp>
        <p:nvSpPr>
          <p:cNvPr id="6" name="Rectangle 5"/>
          <p:cNvSpPr/>
          <p:nvPr/>
        </p:nvSpPr>
        <p:spPr>
          <a:xfrm>
            <a:off x="319251" y="41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All three ran the same model, so this shows where each one fails. It does not prove the architecture caused it.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shapes of failure</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Roughly 65% come from flawed reasoning, in three named shapes:</a:t>
            </a:r>
          </a:p>
          <a:p>
            <a:pPr marL="400050" indent="-285750">
              <a:spcBef>
                <a:spcPts val="600"/>
              </a:spcBef>
              <a:spcAft>
                <a:spcPts val="600"/>
              </a:spcAft>
              <a:buClr>
                <a:srgbClr val="28285E"/>
              </a:buClr>
              <a:buSzPts val="1260"/>
              <a:buFont typeface="Fira Sans"/>
              <a:buChar char="●"/>
            </a:pPr>
            <a:r>
              <a:rPr sz="1400" b="1">
                <a:solidFill>
                  <a:schemeClr val="tx1"/>
                </a:solidFill>
              </a:rPr>
              <a:t>Non-progressive iteration. </a:t>
            </a:r>
            <a:r>
              <a:rPr sz="1400">
                <a:solidFill>
                  <a:schemeClr val="tx1"/>
                </a:solidFill>
              </a:rPr>
              <a:t>Near-identical patches, regenerated, while the defect persists.</a:t>
            </a:r>
            <a:r>
              <a:rPr sz="1400" b="1">
                <a:solidFill>
                  <a:srgbClr val="C73561"/>
                </a:solidFill>
              </a:rPr>
              <a:t>  (a plan answers it)</a:t>
            </a:r>
          </a:p>
          <a:p>
            <a:pPr marL="400050" indent="-285750">
              <a:spcBef>
                <a:spcPts val="600"/>
              </a:spcBef>
              <a:spcAft>
                <a:spcPts val="600"/>
              </a:spcAft>
              <a:buClr>
                <a:srgbClr val="28285E"/>
              </a:buClr>
              <a:buSzPts val="1260"/>
              <a:buFont typeface="Fira Sans"/>
              <a:buChar char="●"/>
            </a:pPr>
            <a:r>
              <a:rPr sz="1400" b="1">
                <a:solidFill>
                  <a:schemeClr val="tx1"/>
                </a:solidFill>
              </a:rPr>
              <a:t>Validation retreat. </a:t>
            </a:r>
            <a:r>
              <a:rPr sz="1400">
                <a:solidFill>
                  <a:schemeClr val="tx1"/>
                </a:solidFill>
              </a:rPr>
              <a:t>The failing test is edited instead of the code.</a:t>
            </a:r>
            <a:r>
              <a:rPr sz="1400" b="1">
                <a:solidFill>
                  <a:srgbClr val="C73561"/>
                </a:solidFill>
              </a:rPr>
              <a:t>  (a validator answers it)</a:t>
            </a:r>
          </a:p>
          <a:p>
            <a:pPr marL="400050" indent="-285750">
              <a:spcBef>
                <a:spcPts val="600"/>
              </a:spcBef>
              <a:spcAft>
                <a:spcPts val="600"/>
              </a:spcAft>
              <a:buClr>
                <a:srgbClr val="28285E"/>
              </a:buClr>
              <a:buSzPts val="1260"/>
              <a:buFont typeface="Fira Sans"/>
              <a:buChar char="●"/>
            </a:pPr>
            <a:r>
              <a:rPr sz="1400" b="1">
                <a:solidFill>
                  <a:schemeClr val="tx1"/>
                </a:solidFill>
              </a:rPr>
              <a:t>Context amnesia. </a:t>
            </a:r>
            <a:r>
              <a:rPr sz="1400">
                <a:solidFill>
                  <a:schemeClr val="tx1"/>
                </a:solidFill>
              </a:rPr>
              <a:t>The original objective is lost over a long interaction.</a:t>
            </a:r>
            <a:r>
              <a:rPr sz="1400" b="1">
                <a:solidFill>
                  <a:srgbClr val="C73561"/>
                </a:solidFill>
              </a:rPr>
              <a:t>  (reflection answers it)</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None of the three is visible to the loop while it runs. </a:t>
            </a:r>
            <a:r>
              <a:rPr sz="1400" b="1" dirty="0">
                <a:solidFill>
                  <a:schemeClr val="tx2"/>
                </a:solidFill>
              </a:rPr>
              <a:t>Failed issues burn about 3.5 times the steps of successful ones</a:t>
            </a:r>
            <a:r>
              <a:rPr sz="1400" dirty="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While it is running, the loop cannot tell a good run from a bad one.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stops are ours</a:t>
            </a:r>
          </a:p>
        </p:txBody>
      </p:sp>
      <p:sp>
        <p:nvSpPr>
          <p:cNvPr id="3" name="Content Placeholder 2"/>
          <p:cNvSpPr>
            <a:spLocks noGrp="1"/>
          </p:cNvSpPr>
          <p:nvPr>
            <p:ph idx="1"/>
          </p:nvPr>
        </p:nvSpPr>
        <p:spPr>
          <a:xfrm>
            <a:off x="319251" y="2500000"/>
            <a:ext cx="6014545" cy="1490000"/>
          </a:xfrm>
        </p:spPr>
        <p:txBody>
          <a:bodyPr wrap="square">
            <a:normAutofit fontScale="92500" lnSpcReduction="20000"/>
          </a:bodyPr>
          <a:lstStyle/>
          <a:p>
            <a:pPr marL="0" indent="0">
              <a:buNone/>
            </a:pPr>
            <a:r>
              <a:rPr lang="en-US" sz="1400" b="1" dirty="0">
                <a:solidFill>
                  <a:srgbClr val="28285E"/>
                </a:solidFill>
              </a:rPr>
              <a:t>We have t</a:t>
            </a:r>
            <a:r>
              <a:rPr sz="1400" b="1" dirty="0">
                <a:solidFill>
                  <a:srgbClr val="28285E"/>
                </a:solidFill>
              </a:rPr>
              <a:t>wo runtime stops</a:t>
            </a:r>
            <a:r>
              <a:rPr lang="en-US" sz="1400" b="1" dirty="0">
                <a:solidFill>
                  <a:srgbClr val="28285E"/>
                </a:solidFill>
              </a:rPr>
              <a:t> that differ on where they sit.</a:t>
            </a: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Before the call, not after. </a:t>
            </a:r>
            <a:r>
              <a:rPr sz="1400" dirty="0">
                <a:solidFill>
                  <a:schemeClr val="tx1"/>
                </a:solidFill>
              </a:rPr>
              <a:t>Checked afterwards they are a post-mortem, not a control.</a:t>
            </a:r>
          </a:p>
          <a:p>
            <a:pPr marL="400050" indent="-285750">
              <a:spcBef>
                <a:spcPts val="600"/>
              </a:spcBef>
              <a:spcAft>
                <a:spcPts val="600"/>
              </a:spcAft>
              <a:buClr>
                <a:srgbClr val="28285E"/>
              </a:buClr>
              <a:buSzPts val="1260"/>
              <a:buFont typeface="Fira Sans"/>
              <a:buChar char="●"/>
            </a:pPr>
            <a:r>
              <a:rPr sz="1400" b="1" dirty="0">
                <a:latin typeface="Maple Mono NF"/>
              </a:rPr>
              <a:t>stalled</a:t>
            </a:r>
            <a:r>
              <a:rPr sz="1400" b="1" dirty="0">
                <a:solidFill>
                  <a:schemeClr val="tx1"/>
                </a:solidFill>
              </a:rPr>
              <a:t> compares results, not calls. </a:t>
            </a:r>
            <a:r>
              <a:rPr sz="1400" dirty="0">
                <a:solidFill>
                  <a:schemeClr val="tx1"/>
                </a:solidFill>
              </a:rPr>
              <a:t>Six distinct search patterns, all returning nothing, evade a same-call rule.</a:t>
            </a:r>
          </a:p>
        </p:txBody>
      </p:sp>
      <p:sp>
        <p:nvSpPr>
          <p:cNvPr id="4" name="TextBox 3"/>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controller, before the model call</a:t>
            </a:r>
          </a:p>
        </p:txBody>
      </p:sp>
      <p:sp>
        <p:nvSpPr>
          <p:cNvPr id="5" name="Rounded Rectangle 4"/>
          <p:cNvSpPr/>
          <p:nvPr/>
        </p:nvSpPr>
        <p:spPr>
          <a:xfrm>
            <a:off x="319251" y="1000000"/>
            <a:ext cx="6014545" cy="14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if state["model_calls"] &gt;= self.config.budget:</a:t>
            </a:r>
          </a:p>
          <a:p>
            <a:pPr algn="l">
              <a:buNone/>
            </a:pPr>
            <a:r>
              <a:rPr sz="1100">
                <a:solidFill>
                  <a:srgbClr val="28285E"/>
                </a:solidFill>
                <a:latin typeface="Maple Mono NF"/>
              </a:rPr>
              <a:t>    return {"status": TerminalStatus.BUDGET_EXHAUSTED}</a:t>
            </a:r>
          </a:p>
          <a:p>
            <a:pPr algn="l">
              <a:buNone/>
            </a:pPr>
            <a:endParaRPr sz="1100">
              <a:solidFill>
                <a:srgbClr val="28285E"/>
              </a:solidFill>
              <a:latin typeface="Maple Mono NF"/>
            </a:endParaRPr>
          </a:p>
          <a:p>
            <a:pPr algn="l">
              <a:buNone/>
            </a:pPr>
            <a:r>
              <a:rPr sz="1100" b="1">
                <a:solidFill>
                  <a:srgbClr val="C73561"/>
                </a:solidFill>
                <a:latin typeface="Maple Mono NF"/>
              </a:rPr>
              <a:t>if self.stalled(state["observations"], ...):</a:t>
            </a:r>
          </a:p>
          <a:p>
            <a:pPr algn="l">
              <a:buNone/>
            </a:pPr>
            <a:r>
              <a:rPr sz="1100" b="1">
                <a:solidFill>
                  <a:srgbClr val="C73561"/>
                </a:solidFill>
                <a:latin typeface="Maple Mono NF"/>
              </a:rPr>
              <a:t>    return {"status": TerminalStatus.NO_PROGRESS}</a:t>
            </a:r>
          </a:p>
        </p:txBody>
      </p:sp>
      <p:sp>
        <p:nvSpPr>
          <p:cNvPr id="6" name="Rectangle 5"/>
          <p:cNvSpPr/>
          <p:nvPr/>
        </p:nvSpPr>
        <p:spPr>
          <a:xfrm>
            <a:off x="319251" y="41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budget = 40 model calls.  no_progress = 3 identical results.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AE3D2-9B11-5A62-6840-5C732B0393B3}"/>
              </a:ext>
            </a:extLst>
          </p:cNvPr>
          <p:cNvSpPr>
            <a:spLocks noGrp="1"/>
          </p:cNvSpPr>
          <p:nvPr>
            <p:ph type="ctrTitle"/>
          </p:nvPr>
        </p:nvSpPr>
        <p:spPr>
          <a:xfrm>
            <a:off x="233781" y="1545450"/>
            <a:ext cx="6390450" cy="2052600"/>
          </a:xfrm>
        </p:spPr>
        <p:txBody>
          <a:bodyPr anchor="ctr"/>
          <a:lstStyle/>
          <a:p>
            <a:r>
              <a:rPr lang="en-US" dirty="0"/>
              <a:t>Demo &lt;/&gt;</a:t>
            </a:r>
          </a:p>
        </p:txBody>
      </p:sp>
    </p:spTree>
    <p:extLst>
      <p:ext uri="{BB962C8B-B14F-4D97-AF65-F5344CB8AC3E}">
        <p14:creationId xmlns:p14="http://schemas.microsoft.com/office/powerpoint/2010/main" val="12570479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samples from our run</a:t>
            </a:r>
            <a:endParaRPr dirty="0"/>
          </a:p>
        </p:txBody>
      </p:sp>
      <p:pic>
        <p:nvPicPr>
          <p:cNvPr id="5" name="Picture 4" descr="seq-loop-run-deck.png"/>
          <p:cNvPicPr>
            <a:picLocks noChangeAspect="1"/>
          </p:cNvPicPr>
          <p:nvPr/>
        </p:nvPicPr>
        <p:blipFill>
          <a:blip r:embed="rId3"/>
          <a:stretch>
            <a:fillRect/>
          </a:stretch>
        </p:blipFill>
        <p:spPr>
          <a:xfrm>
            <a:off x="776523" y="620000"/>
            <a:ext cx="5100000" cy="3547332"/>
          </a:xfrm>
          <a:prstGeom prst="rect">
            <a:avLst/>
          </a:prstGeom>
        </p:spPr>
      </p:pic>
      <p:sp>
        <p:nvSpPr>
          <p:cNvPr id="6" name="Rectangle 5"/>
          <p:cNvSpPr/>
          <p:nvPr/>
        </p:nvSpPr>
        <p:spPr>
          <a:xfrm>
            <a:off x="319251" y="4360000"/>
            <a:ext cx="6014545" cy="38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Accepted, in four model calls against a budget of forty.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ADA2851-9F49-6C5B-2F2A-A9DC57C2691B}"/>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E84B2E34-C6AD-8714-EA3F-688477F6CAD7}"/>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B926E5BB-54FC-CFCE-578B-F9F40F0CAD55}"/>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474E4C5-6A4F-6834-F1C9-071E5FB2D0ED}"/>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30B95F9-3CB6-5D46-817F-039323FA6E6F}"/>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CE7FFB9-0C3A-9D7E-AE60-6379279BA0AC}"/>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803726C-C63A-CC07-CA9D-764435DACEDD}"/>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8C9EB4FD-67A4-A824-E1FD-D86520884AC8}"/>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F577927-AE19-F916-E886-6F834CAC74E3}"/>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4AF1E1A7-4D3C-ABD0-5DCF-3168894B877E}"/>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A926C504-D51E-8EB0-9B1E-D22023C37963}"/>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CA354829-D883-3A49-D9E6-EA8B7F10F7B8}"/>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2419CE68-E188-CA74-4343-918FD250BDFA}"/>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20B3974-57C0-3FED-3BD7-02A4B1B0D3F8}"/>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581B5BBE-6A43-E642-8BB5-1E53AEBC2B94}"/>
              </a:ext>
            </a:extLst>
          </p:cNvPr>
          <p:cNvSpPr txBox="1"/>
          <p:nvPr/>
        </p:nvSpPr>
        <p:spPr>
          <a:xfrm>
            <a:off x="545848" y="533124"/>
            <a:ext cx="5766322"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Planning and Validation</a:t>
            </a:r>
            <a:endParaRPr sz="4000" dirty="0">
              <a:solidFill>
                <a:schemeClr val="tx2"/>
              </a:solidFill>
              <a:latin typeface="Fira Sans" panose="020B0503050000020004" pitchFamily="34" charset="0"/>
            </a:endParaRPr>
          </a:p>
        </p:txBody>
      </p:sp>
      <p:pic>
        <p:nvPicPr>
          <p:cNvPr id="12" name="Picture 11">
            <a:extLst>
              <a:ext uri="{FF2B5EF4-FFF2-40B4-BE49-F238E27FC236}">
                <a16:creationId xmlns:a16="http://schemas.microsoft.com/office/drawing/2014/main" id="{5B26C98D-6DD4-D8D8-48C5-F0C30D3B5D32}"/>
              </a:ext>
            </a:extLst>
          </p:cNvPr>
          <p:cNvPicPr>
            <a:picLocks noChangeAspect="1"/>
          </p:cNvPicPr>
          <p:nvPr/>
        </p:nvPicPr>
        <p:blipFill>
          <a:blip r:embed="rId3">
            <a:alphaModFix amt="90000"/>
          </a:blip>
          <a:stretch>
            <a:fillRect/>
          </a:stretch>
        </p:blipFill>
        <p:spPr>
          <a:xfrm>
            <a:off x="825474" y="3163440"/>
            <a:ext cx="5732295" cy="1718103"/>
          </a:xfrm>
          <a:prstGeom prst="rect">
            <a:avLst/>
          </a:prstGeom>
        </p:spPr>
      </p:pic>
      <p:pic>
        <p:nvPicPr>
          <p:cNvPr id="2" name="Picture 1">
            <a:extLst>
              <a:ext uri="{FF2B5EF4-FFF2-40B4-BE49-F238E27FC236}">
                <a16:creationId xmlns:a16="http://schemas.microsoft.com/office/drawing/2014/main" id="{3C85195E-8F87-9F97-1DB2-96CC95B82822}"/>
              </a:ext>
            </a:extLst>
          </p:cNvPr>
          <p:cNvPicPr>
            <a:picLocks noChangeAspect="1"/>
          </p:cNvPicPr>
          <p:nvPr/>
        </p:nvPicPr>
        <p:blipFill>
          <a:blip r:embed="rId3">
            <a:alphaModFix amt="70000"/>
          </a:blip>
          <a:stretch>
            <a:fillRect/>
          </a:stretch>
        </p:blipFill>
        <p:spPr>
          <a:xfrm>
            <a:off x="825474" y="1570162"/>
            <a:ext cx="5732295" cy="1343821"/>
          </a:xfrm>
          <a:prstGeom prst="rect">
            <a:avLst/>
          </a:prstGeom>
        </p:spPr>
      </p:pic>
    </p:spTree>
    <p:extLst>
      <p:ext uri="{BB962C8B-B14F-4D97-AF65-F5344CB8AC3E}">
        <p14:creationId xmlns:p14="http://schemas.microsoft.com/office/powerpoint/2010/main" val="26208979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with React Loop</a:t>
            </a:r>
            <a:endParaRPr dirty="0"/>
          </a:p>
        </p:txBody>
      </p:sp>
      <p:sp>
        <p:nvSpPr>
          <p:cNvPr id="3" name="Content Placeholder 2"/>
          <p:cNvSpPr>
            <a:spLocks noGrp="1"/>
          </p:cNvSpPr>
          <p:nvPr>
            <p:ph idx="1"/>
          </p:nvPr>
        </p:nvSpPr>
        <p:spPr>
          <a:xfrm>
            <a:off x="319251" y="1690480"/>
            <a:ext cx="6014545" cy="2150000"/>
          </a:xfrm>
        </p:spPr>
        <p:txBody>
          <a:bodyPr wrap="square">
            <a:normAutofit fontScale="92500" lnSpcReduction="10000"/>
          </a:bodyPr>
          <a:lstStyle/>
          <a:p>
            <a:pPr marL="0" indent="0">
              <a:buNone/>
            </a:pPr>
            <a:r>
              <a:rPr sz="1400" b="1" dirty="0">
                <a:solidFill>
                  <a:srgbClr val="28285E"/>
                </a:solidFill>
              </a:rPr>
              <a:t>There are three questions the loop cannot answer about itself:</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Progress. </a:t>
            </a:r>
            <a:r>
              <a:rPr sz="1400" dirty="0">
                <a:solidFill>
                  <a:schemeClr val="tx1"/>
                </a:solidFill>
              </a:rPr>
              <a:t>It can see that an observation is new. It cannot see whether the thing it was in the middle of has finished.</a:t>
            </a:r>
          </a:p>
          <a:p>
            <a:pPr marL="400050" indent="-285750">
              <a:spcBef>
                <a:spcPts val="600"/>
              </a:spcBef>
              <a:spcAft>
                <a:spcPts val="600"/>
              </a:spcAft>
              <a:buClr>
                <a:srgbClr val="28285E"/>
              </a:buClr>
              <a:buSzPts val="1260"/>
              <a:buFont typeface="Fira Sans"/>
              <a:buChar char="●"/>
            </a:pPr>
            <a:r>
              <a:rPr sz="1400" b="1" dirty="0">
                <a:solidFill>
                  <a:schemeClr val="tx1"/>
                </a:solidFill>
              </a:rPr>
              <a:t>Intent</a:t>
            </a:r>
            <a:r>
              <a:rPr lang="en-US" sz="1400" b="1" dirty="0">
                <a:solidFill>
                  <a:schemeClr val="tx1"/>
                </a:solidFill>
              </a:rPr>
              <a:t> Ambiguity</a:t>
            </a:r>
            <a:r>
              <a:rPr sz="1400" b="1" dirty="0">
                <a:solidFill>
                  <a:schemeClr val="tx1"/>
                </a:solidFill>
              </a:rPr>
              <a:t>. </a:t>
            </a:r>
            <a:r>
              <a:rPr sz="1400" dirty="0">
                <a:solidFill>
                  <a:schemeClr val="tx1"/>
                </a:solidFill>
              </a:rPr>
              <a:t>Anyone reading the trace halfway through finds four thoughts and </a:t>
            </a:r>
            <a:r>
              <a:rPr sz="1400" b="1" dirty="0">
                <a:solidFill>
                  <a:schemeClr val="tx1"/>
                </a:solidFill>
              </a:rPr>
              <a:t>no statement of what the run is for</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Recovery. </a:t>
            </a:r>
            <a:r>
              <a:rPr sz="1400" dirty="0">
                <a:solidFill>
                  <a:schemeClr val="tx1"/>
                </a:solidFill>
              </a:rPr>
              <a:t>When a step turns out to be impossible, there </a:t>
            </a:r>
            <a:r>
              <a:rPr sz="1400" b="1" dirty="0">
                <a:solidFill>
                  <a:schemeClr val="tx1"/>
                </a:solidFill>
              </a:rPr>
              <a:t>is no remaining plan to revise, because there was never a plan</a:t>
            </a:r>
            <a:r>
              <a:rPr sz="1400" dirty="0">
                <a:solidFill>
                  <a:schemeClr val="tx1"/>
                </a:solidFill>
              </a:rPr>
              <a:t>.</a:t>
            </a:r>
          </a:p>
        </p:txBody>
      </p:sp>
      <p:sp>
        <p:nvSpPr>
          <p:cNvPr id="4" name="Rectangle 3"/>
          <p:cNvSpPr/>
          <p:nvPr/>
        </p:nvSpPr>
        <p:spPr>
          <a:xfrm>
            <a:off x="319251" y="700000"/>
            <a:ext cx="6014545" cy="828997"/>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Our reactive loop keeps every observation it has ever seen, but nothing in state says what the run was trying to achieve, so </a:t>
            </a:r>
            <a:r>
              <a:rPr sz="1400" b="1" dirty="0">
                <a:solidFill>
                  <a:schemeClr val="tx2"/>
                </a:solidFill>
              </a:rPr>
              <a:t>no turn can fall short of anything</a:t>
            </a:r>
            <a:r>
              <a:rPr sz="1400" dirty="0">
                <a:solidFill>
                  <a:schemeClr val="tx2"/>
                </a:solidFill>
              </a:rPr>
              <a:t>.</a:t>
            </a:r>
          </a:p>
        </p:txBody>
      </p:sp>
      <p:sp>
        <p:nvSpPr>
          <p:cNvPr id="5" name="Rectangle 4"/>
          <p:cNvSpPr/>
          <p:nvPr/>
        </p:nvSpPr>
        <p:spPr>
          <a:xfrm>
            <a:off x="319251" y="4100480"/>
            <a:ext cx="6014545" cy="49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plan is the smallest thing we can add that gives a turn something to fall short of.</a:t>
            </a:r>
          </a:p>
        </p:txBody>
      </p:sp>
    </p:spTree>
  </p:cSld>
  <p:clrMapOvr>
    <a:masterClrMapping/>
  </p:clrMapOvr>
  <p:extLst>
    <p:ext uri="{6950BFC3-D8DA-4A85-94F7-54DA5524770B}">
      <p188:commentRel xmlns:p188="http://schemas.microsoft.com/office/powerpoint/2018/8/main" r:id="rId3"/>
    </p:ext>
  </p:extLs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t>
            </a:r>
            <a:r>
              <a:rPr dirty="0"/>
              <a:t>hapes</a:t>
            </a:r>
            <a:r>
              <a:rPr lang="en-US" dirty="0"/>
              <a:t> of Planning</a:t>
            </a:r>
            <a:endParaRPr dirty="0"/>
          </a:p>
        </p:txBody>
      </p:sp>
      <p:pic>
        <p:nvPicPr>
          <p:cNvPr id="3" name="Picture 2" descr="adaplanner-fig1-closed-loop.png"/>
          <p:cNvPicPr>
            <a:picLocks noChangeAspect="1"/>
          </p:cNvPicPr>
          <p:nvPr/>
        </p:nvPicPr>
        <p:blipFill>
          <a:blip r:embed="rId4"/>
          <a:stretch>
            <a:fillRect/>
          </a:stretch>
        </p:blipFill>
        <p:spPr>
          <a:xfrm>
            <a:off x="250147" y="880000"/>
            <a:ext cx="6152752" cy="2836155"/>
          </a:xfrm>
          <a:prstGeom prst="rect">
            <a:avLst/>
          </a:prstGeom>
        </p:spPr>
      </p:pic>
      <p:sp>
        <p:nvSpPr>
          <p:cNvPr id="4" name="TextBox 3"/>
          <p:cNvSpPr txBox="1"/>
          <p:nvPr/>
        </p:nvSpPr>
        <p:spPr>
          <a:xfrm>
            <a:off x="2433796" y="3790000"/>
            <a:ext cx="3900000" cy="253916"/>
          </a:xfrm>
          <a:prstGeom prst="rect">
            <a:avLst/>
          </a:prstGeom>
          <a:noFill/>
        </p:spPr>
        <p:txBody>
          <a:bodyPr wrap="none">
            <a:spAutoFit/>
          </a:bodyPr>
          <a:lstStyle/>
          <a:p>
            <a:pPr algn="r"/>
            <a:r>
              <a:rPr sz="1050" i="1">
                <a:solidFill>
                  <a:schemeClr val="bg2"/>
                </a:solidFill>
              </a:rPr>
              <a:t>Figure 1, Sun et al., AdaPlanner, NeurIPS 2023</a:t>
            </a:r>
          </a:p>
        </p:txBody>
      </p:sp>
      <p:sp>
        <p:nvSpPr>
          <p:cNvPr id="5" name="Rectangle 4"/>
          <p:cNvSpPr/>
          <p:nvPr/>
        </p:nvSpPr>
        <p:spPr>
          <a:xfrm>
            <a:off x="319251" y="41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a:solidFill>
                  <a:srgbClr val="28285E"/>
                </a:solidFill>
              </a:rPr>
              <a:t>Only the third sends feedback back to the plan itself. The other two change the next action </a:t>
            </a:r>
            <a:r>
              <a:rPr sz="1200" b="1">
                <a:solidFill>
                  <a:srgbClr val="28285E"/>
                </a:solidFill>
              </a:rPr>
              <a:t>alone</a:t>
            </a:r>
            <a:r>
              <a:rPr sz="1200">
                <a:solidFill>
                  <a:srgbClr val="28285E"/>
                </a:solidFill>
              </a:rPr>
              <a:t>.</a:t>
            </a:r>
          </a:p>
        </p:txBody>
      </p:sp>
    </p:spTree>
  </p:cSld>
  <p:clrMapOvr>
    <a:masterClrMapping/>
  </p:clrMapOvr>
  <p:extLst>
    <p:ext uri="{6950BFC3-D8DA-4A85-94F7-54DA5524770B}">
      <p188:commentRel xmlns:p188="http://schemas.microsoft.com/office/powerpoint/2018/8/main" r:id="rId3"/>
    </p:ext>
  </p:extLs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each shape does with an observation</a:t>
            </a:r>
          </a:p>
        </p:txBody>
      </p:sp>
      <p:graphicFrame>
        <p:nvGraphicFramePr>
          <p:cNvPr id="3" name="Table 2"/>
          <p:cNvGraphicFramePr>
            <a:graphicFrameLocks noGrp="1"/>
          </p:cNvGraphicFramePr>
          <p:nvPr/>
        </p:nvGraphicFramePr>
        <p:xfrm>
          <a:off x="319251" y="1491615"/>
          <a:ext cx="6014545" cy="1447800"/>
        </p:xfrm>
        <a:graphic>
          <a:graphicData uri="http://schemas.openxmlformats.org/drawingml/2006/table">
            <a:tbl>
              <a:tblPr>
                <a:tableStyleId>{2D5ABB26-0587-4C30-8999-92F81FD0307C}</a:tableStyleId>
              </a:tblPr>
              <a:tblGrid>
                <a:gridCol w="1900000">
                  <a:extLst>
                    <a:ext uri="{9D8B030D-6E8A-4147-A177-3AD203B41FA5}">
                      <a16:colId xmlns:a16="http://schemas.microsoft.com/office/drawing/2014/main" val="20000"/>
                    </a:ext>
                  </a:extLst>
                </a:gridCol>
                <a:gridCol w="2157272">
                  <a:extLst>
                    <a:ext uri="{9D8B030D-6E8A-4147-A177-3AD203B41FA5}">
                      <a16:colId xmlns:a16="http://schemas.microsoft.com/office/drawing/2014/main" val="20001"/>
                    </a:ext>
                  </a:extLst>
                </a:gridCol>
                <a:gridCol w="1957273">
                  <a:extLst>
                    <a:ext uri="{9D8B030D-6E8A-4147-A177-3AD203B41FA5}">
                      <a16:colId xmlns:a16="http://schemas.microsoft.com/office/drawing/2014/main" val="20002"/>
                    </a:ext>
                  </a:extLst>
                </a:gridCol>
              </a:tblGrid>
              <a:tr h="300000">
                <a:tc>
                  <a:txBody>
                    <a:bodyPr/>
                    <a:lstStyle/>
                    <a:p>
                      <a:pPr algn="l">
                        <a:buNone/>
                      </a:pPr>
                      <a:r>
                        <a:rPr sz="1400" b="1">
                          <a:solidFill>
                            <a:schemeClr val="tx1"/>
                          </a:solidFill>
                        </a:rPr>
                        <a:t>Planner</a:t>
                      </a:r>
                    </a:p>
                  </a:txBody>
                  <a:tcPr marL="95250" marR="95250" marT="47625" marB="47625">
                    <a:lnB w="12700" cap="flat" cmpd="sng" algn="ctr">
                      <a:solidFill>
                        <a:schemeClr val="tx1"/>
                      </a:solidFill>
                    </a:lnB>
                    <a:noFill/>
                  </a:tcPr>
                </a:tc>
                <a:tc>
                  <a:txBody>
                    <a:bodyPr/>
                    <a:lstStyle/>
                    <a:p>
                      <a:pPr algn="l">
                        <a:buNone/>
                      </a:pPr>
                      <a:r>
                        <a:rPr sz="1400" b="1">
                          <a:solidFill>
                            <a:schemeClr val="tx1"/>
                          </a:solidFill>
                        </a:rPr>
                        <a:t>What comes back</a:t>
                      </a:r>
                    </a:p>
                  </a:txBody>
                  <a:tcPr marL="95250" marR="95250" marT="47625" marB="47625">
                    <a:lnB w="12700" cap="flat" cmpd="sng" algn="ctr">
                      <a:solidFill>
                        <a:schemeClr val="tx1"/>
                      </a:solidFill>
                    </a:lnB>
                    <a:noFill/>
                  </a:tcPr>
                </a:tc>
                <a:tc>
                  <a:txBody>
                    <a:bodyPr/>
                    <a:lstStyle/>
                    <a:p>
                      <a:pPr algn="l">
                        <a:buNone/>
                      </a:pPr>
                      <a:r>
                        <a:rPr sz="1400" b="1">
                          <a:solidFill>
                            <a:schemeClr val="tx1"/>
                          </a:solidFill>
                        </a:rPr>
                        <a:t>What changes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Open-loop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Nothing at all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Nothing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Implicit closed-loop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Every observation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next action only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Explicit closed-loop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Every observation, sorted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rest of the plan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Rectangle 3"/>
          <p:cNvSpPr/>
          <p:nvPr/>
        </p:nvSpPr>
        <p:spPr>
          <a:xfrm>
            <a:off x="1888761" y="3452365"/>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A revision </a:t>
            </a:r>
            <a:r>
              <a:rPr sz="1200" b="1">
                <a:solidFill>
                  <a:schemeClr val="tx2"/>
                </a:solidFill>
              </a:rPr>
              <a:t>replaces</a:t>
            </a:r>
            <a:r>
              <a:rPr sz="1200" b="0">
                <a:solidFill>
                  <a:schemeClr val="tx2"/>
                </a:solidFill>
              </a:rPr>
              <a:t> the remainder of the plan. Our loop only ever </a:t>
            </a:r>
            <a:r>
              <a:rPr sz="1200" b="1">
                <a:solidFill>
                  <a:schemeClr val="tx2"/>
                </a:solidFill>
              </a:rPr>
              <a:t>adds</a:t>
            </a:r>
            <a:r>
              <a:rPr sz="1200" b="0">
                <a:solidFill>
                  <a:schemeClr val="tx2"/>
                </a:solidFill>
              </a:rPr>
              <a:t> to its context.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The </a:t>
            </a:r>
            <a:r>
              <a:rPr lang="en-US" dirty="0"/>
              <a:t>new n</a:t>
            </a:r>
            <a:r>
              <a:rPr dirty="0"/>
              <a:t>odes </a:t>
            </a:r>
            <a:r>
              <a:rPr lang="en-US" dirty="0"/>
              <a:t>in our </a:t>
            </a:r>
            <a:r>
              <a:rPr dirty="0"/>
              <a:t>planner</a:t>
            </a:r>
            <a:r>
              <a:rPr lang="en-US" dirty="0"/>
              <a:t>-based </a:t>
            </a:r>
            <a:r>
              <a:rPr dirty="0"/>
              <a:t>demo</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graph.py</a:t>
            </a:r>
          </a:p>
        </p:txBody>
      </p:sp>
      <p:sp>
        <p:nvSpPr>
          <p:cNvPr id="4" name="Rounded Rectangle 3"/>
          <p:cNvSpPr/>
          <p:nvPr/>
        </p:nvSpPr>
        <p:spPr>
          <a:xfrm>
            <a:off x="319251" y="1020000"/>
            <a:ext cx="6014545" cy="218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b="1" dirty="0" err="1">
                <a:solidFill>
                  <a:schemeClr val="accent4"/>
                </a:solidFill>
                <a:latin typeface="Maple Mono NF"/>
              </a:rPr>
              <a:t>graph.add_node</a:t>
            </a:r>
            <a:r>
              <a:rPr sz="1100" b="1" dirty="0">
                <a:solidFill>
                  <a:schemeClr val="accent4"/>
                </a:solidFill>
                <a:latin typeface="Maple Mono NF"/>
              </a:rPr>
              <a:t>("plan", </a:t>
            </a:r>
            <a:r>
              <a:rPr sz="1100" b="1" dirty="0" err="1">
                <a:solidFill>
                  <a:schemeClr val="accent4"/>
                </a:solidFill>
                <a:latin typeface="Maple Mono NF"/>
              </a:rPr>
              <a:t>self.plan</a:t>
            </a:r>
            <a:r>
              <a:rPr sz="1100" b="1" dirty="0">
                <a:solidFill>
                  <a:schemeClr val="accent4"/>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("controller", </a:t>
            </a:r>
            <a:r>
              <a:rPr sz="1100" dirty="0" err="1">
                <a:solidFill>
                  <a:srgbClr val="28285E"/>
                </a:solidFill>
                <a:latin typeface="Maple Mono NF"/>
              </a:rPr>
              <a:t>self.controller</a:t>
            </a:r>
            <a:r>
              <a:rPr sz="1100" dirty="0">
                <a:solidFill>
                  <a:srgbClr val="28285E"/>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("tools", </a:t>
            </a:r>
            <a:r>
              <a:rPr sz="1100" dirty="0" err="1">
                <a:solidFill>
                  <a:srgbClr val="28285E"/>
                </a:solidFill>
                <a:latin typeface="Maple Mono NF"/>
              </a:rPr>
              <a:t>self.tools</a:t>
            </a:r>
            <a:r>
              <a:rPr sz="1100" dirty="0">
                <a:solidFill>
                  <a:srgbClr val="28285E"/>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("submit", </a:t>
            </a:r>
            <a:r>
              <a:rPr sz="1100" dirty="0" err="1">
                <a:solidFill>
                  <a:srgbClr val="28285E"/>
                </a:solidFill>
                <a:latin typeface="Maple Mono NF"/>
              </a:rPr>
              <a:t>self.submit</a:t>
            </a:r>
            <a:r>
              <a:rPr sz="1100" dirty="0">
                <a:solidFill>
                  <a:srgbClr val="28285E"/>
                </a:solidFill>
                <a:latin typeface="Maple Mono NF"/>
              </a:rPr>
              <a:t>)</a:t>
            </a:r>
          </a:p>
          <a:p>
            <a:pPr algn="l">
              <a:buNone/>
            </a:pPr>
            <a:r>
              <a:rPr sz="1100" b="1" dirty="0" err="1">
                <a:solidFill>
                  <a:schemeClr val="accent4"/>
                </a:solidFill>
                <a:latin typeface="Maple Mono NF"/>
              </a:rPr>
              <a:t>graph.add_node</a:t>
            </a:r>
            <a:r>
              <a:rPr sz="1100" b="1" dirty="0">
                <a:solidFill>
                  <a:schemeClr val="accent4"/>
                </a:solidFill>
                <a:latin typeface="Maple Mono NF"/>
              </a:rPr>
              <a:t>("validate", </a:t>
            </a:r>
            <a:r>
              <a:rPr sz="1100" b="1" dirty="0" err="1">
                <a:solidFill>
                  <a:schemeClr val="accent4"/>
                </a:solidFill>
                <a:latin typeface="Maple Mono NF"/>
              </a:rPr>
              <a:t>self.validate</a:t>
            </a:r>
            <a:r>
              <a:rPr sz="1100" b="1" dirty="0">
                <a:solidFill>
                  <a:schemeClr val="accent4"/>
                </a:solidFill>
                <a:latin typeface="Maple Mono NF"/>
              </a:rPr>
              <a:t>)</a:t>
            </a:r>
          </a:p>
          <a:p>
            <a:pPr algn="l">
              <a:buNone/>
            </a:pPr>
            <a:endParaRPr sz="1100" dirty="0">
              <a:solidFill>
                <a:srgbClr val="28285E"/>
              </a:solidFill>
              <a:latin typeface="Maple Mono NF"/>
            </a:endParaRPr>
          </a:p>
          <a:p>
            <a:pPr algn="l">
              <a:buNone/>
            </a:pPr>
            <a:r>
              <a:rPr sz="1100" b="1" dirty="0" err="1">
                <a:solidFill>
                  <a:schemeClr val="accent4"/>
                </a:solidFill>
                <a:latin typeface="Maple Mono NF"/>
              </a:rPr>
              <a:t>graph.add_edge</a:t>
            </a:r>
            <a:r>
              <a:rPr sz="1100" b="1" dirty="0">
                <a:solidFill>
                  <a:schemeClr val="accent4"/>
                </a:solidFill>
                <a:latin typeface="Maple Mono NF"/>
              </a:rPr>
              <a:t>(START, "plan")</a:t>
            </a:r>
          </a:p>
          <a:p>
            <a:pPr algn="l">
              <a:buNone/>
            </a:pPr>
            <a:r>
              <a:rPr sz="1100" b="1" dirty="0" err="1">
                <a:solidFill>
                  <a:schemeClr val="accent4"/>
                </a:solidFill>
                <a:latin typeface="Maple Mono NF"/>
              </a:rPr>
              <a:t>graph.add_edge</a:t>
            </a:r>
            <a:r>
              <a:rPr sz="1100" b="1" dirty="0">
                <a:solidFill>
                  <a:schemeClr val="accent4"/>
                </a:solidFill>
                <a:latin typeface="Maple Mono NF"/>
              </a:rPr>
              <a:t>("validate", END)</a:t>
            </a:r>
          </a:p>
        </p:txBody>
      </p:sp>
      <p:sp>
        <p:nvSpPr>
          <p:cNvPr id="5" name="Rectangle 4"/>
          <p:cNvSpPr/>
          <p:nvPr/>
        </p:nvSpPr>
        <p:spPr>
          <a:xfrm>
            <a:off x="319251" y="38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rgbClr val="28285E"/>
                </a:solidFill>
              </a:rPr>
              <a:t>Five nodes now. A run </a:t>
            </a:r>
            <a:r>
              <a:rPr sz="1200" b="1">
                <a:solidFill>
                  <a:srgbClr val="28285E"/>
                </a:solidFill>
              </a:rPr>
              <a:t>begins</a:t>
            </a:r>
            <a:r>
              <a:rPr sz="1200" b="0">
                <a:solidFill>
                  <a:srgbClr val="28285E"/>
                </a:solidFill>
              </a:rPr>
              <a:t> by planning, and the only way it can end accepted is through the validator.</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edge from tools now has two destinations</a:t>
            </a:r>
          </a:p>
        </p:txBody>
      </p:sp>
      <p:sp>
        <p:nvSpPr>
          <p:cNvPr id="3" name="Rectangle 2"/>
          <p:cNvSpPr/>
          <p:nvPr/>
        </p:nvSpPr>
        <p:spPr>
          <a:xfrm>
            <a:off x="319251" y="700000"/>
            <a:ext cx="6014545" cy="79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In the reactive loop, </a:t>
            </a:r>
            <a:r>
              <a:rPr sz="1400">
                <a:latin typeface="Maple Mono NF"/>
              </a:rPr>
              <a:t>tools -&gt; controller</a:t>
            </a:r>
            <a:r>
              <a:rPr sz="1400">
                <a:solidFill>
                  <a:schemeClr val="tx2"/>
                </a:solidFill>
              </a:rPr>
              <a:t> was unconditional, and its own comment called it the line that makes the agent reactive. Here it chooses, and its second destination is the planner.</a:t>
            </a:r>
          </a:p>
        </p:txBody>
      </p:sp>
      <p:sp>
        <p:nvSpPr>
          <p:cNvPr id="4" name="TextBox 3"/>
          <p:cNvSpPr txBox="1"/>
          <p:nvPr/>
        </p:nvSpPr>
        <p:spPr>
          <a:xfrm>
            <a:off x="319251" y="1750000"/>
            <a:ext cx="6014545" cy="200000"/>
          </a:xfrm>
          <a:prstGeom prst="rect">
            <a:avLst/>
          </a:prstGeom>
          <a:noFill/>
        </p:spPr>
        <p:txBody>
          <a:bodyPr wrap="none">
            <a:spAutoFit/>
          </a:bodyPr>
          <a:lstStyle/>
          <a:p>
            <a:r>
              <a:rPr sz="1200" b="1">
                <a:solidFill>
                  <a:srgbClr val="28285E"/>
                </a:solidFill>
                <a:latin typeface="Maple Mono NF"/>
              </a:rPr>
              <a:t>graph.py, after_tools</a:t>
            </a:r>
          </a:p>
        </p:txBody>
      </p:sp>
      <p:sp>
        <p:nvSpPr>
          <p:cNvPr id="5" name="Rounded Rectangle 4"/>
          <p:cNvSpPr/>
          <p:nvPr/>
        </p:nvSpPr>
        <p:spPr>
          <a:xfrm>
            <a:off x="319251" y="2010000"/>
            <a:ext cx="6014545" cy="88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if state.get(</a:t>
            </a:r>
            <a:r>
              <a:rPr sz="1100" b="1">
                <a:solidFill>
                  <a:srgbClr val="C73561"/>
                </a:solidFill>
                <a:latin typeface="Maple Mono NF"/>
              </a:rPr>
              <a:t>"failed_step"</a:t>
            </a:r>
            <a:r>
              <a:rPr sz="1100">
                <a:solidFill>
                  <a:srgbClr val="28285E"/>
                </a:solidFill>
                <a:latin typeface="Maple Mono NF"/>
              </a:rPr>
              <a:t>):</a:t>
            </a:r>
          </a:p>
          <a:p>
            <a:pPr algn="l">
              <a:buNone/>
            </a:pPr>
            <a:r>
              <a:rPr sz="1100">
                <a:solidFill>
                  <a:srgbClr val="28285E"/>
                </a:solidFill>
                <a:latin typeface="Maple Mono NF"/>
              </a:rPr>
              <a:t>    return </a:t>
            </a:r>
            <a:r>
              <a:rPr sz="1100" b="1">
                <a:solidFill>
                  <a:srgbClr val="099191"/>
                </a:solidFill>
                <a:latin typeface="Maple Mono NF"/>
              </a:rPr>
              <a:t>"plan"</a:t>
            </a:r>
          </a:p>
          <a:p>
            <a:pPr algn="l">
              <a:buNone/>
            </a:pPr>
            <a:r>
              <a:rPr sz="1100">
                <a:solidFill>
                  <a:srgbClr val="28285E"/>
                </a:solidFill>
                <a:latin typeface="Maple Mono NF"/>
              </a:rPr>
              <a:t>return "controller"</a:t>
            </a:r>
          </a:p>
        </p:txBody>
      </p:sp>
      <p:sp>
        <p:nvSpPr>
          <p:cNvPr id="6" name="Rectangle 5"/>
          <p:cNvSpPr/>
          <p:nvPr/>
        </p:nvSpPr>
        <p:spPr>
          <a:xfrm>
            <a:off x="319251" y="387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rgbClr val="28285E"/>
                </a:solidFill>
              </a:rPr>
              <a:t>A run that has stopped learning now gets its plan replaced </a:t>
            </a:r>
            <a:r>
              <a:rPr sz="1200" b="1">
                <a:solidFill>
                  <a:srgbClr val="28285E"/>
                </a:solidFill>
              </a:rPr>
              <a:t>before</a:t>
            </a:r>
            <a:r>
              <a:rPr sz="1200" b="0">
                <a:solidFill>
                  <a:srgbClr val="28285E"/>
                </a:solidFill>
              </a:rPr>
              <a:t> it gets abandoned.</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the runtime decides the plan has failed</a:t>
            </a:r>
          </a:p>
        </p:txBody>
      </p:sp>
      <p:sp>
        <p:nvSpPr>
          <p:cNvPr id="3" name="Content Placeholder 2"/>
          <p:cNvSpPr>
            <a:spLocks noGrp="1"/>
          </p:cNvSpPr>
          <p:nvPr>
            <p:ph idx="1"/>
          </p:nvPr>
        </p:nvSpPr>
        <p:spPr>
          <a:xfrm>
            <a:off x="319251" y="760000"/>
            <a:ext cx="6014545" cy="3003840"/>
          </a:xfrm>
        </p:spPr>
        <p:txBody>
          <a:bodyPr wrap="square">
            <a:normAutofit fontScale="92500"/>
          </a:bodyPr>
          <a:lstStyle/>
          <a:p>
            <a:pPr marL="0" indent="0">
              <a:buNone/>
            </a:pPr>
            <a:r>
              <a:rPr sz="1400" b="1">
                <a:solidFill>
                  <a:srgbClr val="28285E"/>
                </a:solidFill>
              </a:rPr>
              <a:t>The stall rule is the same one the reactive loop had. What it triggers is new:</a:t>
            </a:r>
          </a:p>
          <a:p>
            <a:pPr marL="400050" indent="-285750">
              <a:spcBef>
                <a:spcPts val="600"/>
              </a:spcBef>
              <a:spcAft>
                <a:spcPts val="600"/>
              </a:spcAft>
              <a:buClr>
                <a:srgbClr val="28285E"/>
              </a:buClr>
              <a:buSzPts val="1260"/>
              <a:buFont typeface="Fira Sans"/>
              <a:buChar char="●"/>
            </a:pPr>
            <a:r>
              <a:rPr sz="1400" b="1">
                <a:solidFill>
                  <a:schemeClr val="tx1"/>
                </a:solidFill>
              </a:rPr>
              <a:t>The runtime notices. </a:t>
            </a:r>
            <a:r>
              <a:rPr sz="1400">
                <a:solidFill>
                  <a:schemeClr val="tx1"/>
                </a:solidFill>
              </a:rPr>
              <a:t>When three consecutive tool calls return the same observation, the node that saw them writes one field, </a:t>
            </a:r>
            <a:r>
              <a:rPr sz="1400">
                <a:latin typeface="Maple Mono NF"/>
              </a:rPr>
              <a:t>failed_step</a:t>
            </a:r>
            <a:r>
              <a:rPr sz="1400">
                <a:solidFill>
                  <a:schemeClr val="tx1"/>
                </a:solidFill>
              </a:rPr>
              <a:t>.</a:t>
            </a:r>
          </a:p>
          <a:p>
            <a:pPr marL="400050" indent="-285750">
              <a:spcBef>
                <a:spcPts val="600"/>
              </a:spcBef>
              <a:spcAft>
                <a:spcPts val="600"/>
              </a:spcAft>
              <a:buClr>
                <a:srgbClr val="28285E"/>
              </a:buClr>
              <a:buSzPts val="1260"/>
              <a:buFont typeface="Fira Sans"/>
              <a:buChar char="●"/>
            </a:pPr>
            <a:r>
              <a:rPr sz="1400" b="1">
                <a:solidFill>
                  <a:schemeClr val="tx1"/>
                </a:solidFill>
              </a:rPr>
              <a:t>The predicate reads one field. </a:t>
            </a:r>
            <a:r>
              <a:rPr sz="1400">
                <a:solidFill>
                  <a:schemeClr val="tx1"/>
                </a:solidFill>
              </a:rPr>
              <a:t>A conditional edge can only read state, so the judgement is made where the observations are and the edge just looks it up.</a:t>
            </a:r>
          </a:p>
          <a:p>
            <a:pPr marL="400050" indent="-285750">
              <a:spcBef>
                <a:spcPts val="600"/>
              </a:spcBef>
              <a:spcAft>
                <a:spcPts val="600"/>
              </a:spcAft>
              <a:buClr>
                <a:srgbClr val="28285E"/>
              </a:buClr>
              <a:buSzPts val="1260"/>
              <a:buFont typeface="Fira Sans"/>
              <a:buChar char="●"/>
            </a:pPr>
            <a:r>
              <a:rPr sz="1400" b="1">
                <a:solidFill>
                  <a:schemeClr val="tx1"/>
                </a:solidFill>
              </a:rPr>
              <a:t>The planner gets one chance. </a:t>
            </a:r>
            <a:r>
              <a:rPr sz="1400">
                <a:solidFill>
                  <a:schemeClr val="tx1"/>
                </a:solidFill>
              </a:rPr>
              <a:t>After a revision the window resets, and a second stall ends the run with the same terminal status the loop had.</a:t>
            </a:r>
          </a:p>
        </p:txBody>
      </p:sp>
      <p:sp>
        <p:nvSpPr>
          <p:cNvPr id="4" name="Rectangle 3"/>
          <p:cNvSpPr/>
          <p:nvPr/>
        </p:nvSpPr>
        <p:spPr>
          <a:xfrm>
            <a:off x="319251" y="401384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model never writes the field that decides whether its own plan is still working.</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a planner changes, decision by decision</a:t>
            </a:r>
          </a:p>
        </p:txBody>
      </p:sp>
      <p:graphicFrame>
        <p:nvGraphicFramePr>
          <p:cNvPr id="3" name="Table 2"/>
          <p:cNvGraphicFramePr>
            <a:graphicFrameLocks noGrp="1"/>
          </p:cNvGraphicFramePr>
          <p:nvPr>
            <p:extLst>
              <p:ext uri="{D42A27DB-BD31-4B8C-83A1-F6EECF244321}">
                <p14:modId xmlns:p14="http://schemas.microsoft.com/office/powerpoint/2010/main" val="3942712601"/>
              </p:ext>
            </p:extLst>
          </p:nvPr>
        </p:nvGraphicFramePr>
        <p:xfrm>
          <a:off x="319251" y="1491615"/>
          <a:ext cx="6014545" cy="2144040"/>
        </p:xfrm>
        <a:graphic>
          <a:graphicData uri="http://schemas.openxmlformats.org/drawingml/2006/table">
            <a:tbl>
              <a:tblPr>
                <a:tableStyleId>{2D5ABB26-0587-4C30-8999-92F81FD0307C}</a:tableStyleId>
              </a:tblPr>
              <a:tblGrid>
                <a:gridCol w="2500000">
                  <a:extLst>
                    <a:ext uri="{9D8B030D-6E8A-4147-A177-3AD203B41FA5}">
                      <a16:colId xmlns:a16="http://schemas.microsoft.com/office/drawing/2014/main" val="20000"/>
                    </a:ext>
                  </a:extLst>
                </a:gridCol>
                <a:gridCol w="1757272">
                  <a:extLst>
                    <a:ext uri="{9D8B030D-6E8A-4147-A177-3AD203B41FA5}">
                      <a16:colId xmlns:a16="http://schemas.microsoft.com/office/drawing/2014/main" val="20001"/>
                    </a:ext>
                  </a:extLst>
                </a:gridCol>
                <a:gridCol w="1757273">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Reactive loop</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With a planner</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Who chooses the next operation?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dirty="0">
                          <a:solidFill>
                            <a:schemeClr val="tx1"/>
                          </a:solidFill>
                        </a:rPr>
                        <a:t>The model, for the whole task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model, inside the current subgoal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Where are subgoals recorded?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Nothing records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In the plan, held in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What does a step call for?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dirty="0">
                          <a:solidFill>
                            <a:schemeClr val="tx1"/>
                          </a:solidFill>
                        </a:rPr>
                        <a:t>No explicit condition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evidence the planner named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What happens when the run stops learning?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run ends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plan is replaced,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a planner changes, decision by decision</a:t>
            </a:r>
          </a:p>
        </p:txBody>
      </p:sp>
      <p:graphicFrame>
        <p:nvGraphicFramePr>
          <p:cNvPr id="3" name="Table 2"/>
          <p:cNvGraphicFramePr>
            <a:graphicFrameLocks noGrp="1"/>
          </p:cNvGraphicFramePr>
          <p:nvPr>
            <p:extLst>
              <p:ext uri="{D42A27DB-BD31-4B8C-83A1-F6EECF244321}">
                <p14:modId xmlns:p14="http://schemas.microsoft.com/office/powerpoint/2010/main" val="3709026688"/>
              </p:ext>
            </p:extLst>
          </p:nvPr>
        </p:nvGraphicFramePr>
        <p:xfrm>
          <a:off x="319251" y="1491615"/>
          <a:ext cx="6014545" cy="2144040"/>
        </p:xfrm>
        <a:graphic>
          <a:graphicData uri="http://schemas.openxmlformats.org/drawingml/2006/table">
            <a:tbl>
              <a:tblPr>
                <a:tableStyleId>{2D5ABB26-0587-4C30-8999-92F81FD0307C}</a:tableStyleId>
              </a:tblPr>
              <a:tblGrid>
                <a:gridCol w="2500000">
                  <a:extLst>
                    <a:ext uri="{9D8B030D-6E8A-4147-A177-3AD203B41FA5}">
                      <a16:colId xmlns:a16="http://schemas.microsoft.com/office/drawing/2014/main" val="20000"/>
                    </a:ext>
                  </a:extLst>
                </a:gridCol>
                <a:gridCol w="1757272">
                  <a:extLst>
                    <a:ext uri="{9D8B030D-6E8A-4147-A177-3AD203B41FA5}">
                      <a16:colId xmlns:a16="http://schemas.microsoft.com/office/drawing/2014/main" val="20001"/>
                    </a:ext>
                  </a:extLst>
                </a:gridCol>
                <a:gridCol w="1757273">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Reactive loop</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With a planner</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Who chooses the next operation?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model, for the whole task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The model, inside the current subgoal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Where are subgoals recorded?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Nothing records them</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In the plan, held in state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What does a step call for?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No explicit condition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a:solidFill>
                            <a:schemeClr val="accent4"/>
                          </a:solidFill>
                        </a:rPr>
                        <a:t>The evidence the planner named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What happens when the run stops learning?</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The run ends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1" dirty="0">
                          <a:solidFill>
                            <a:schemeClr val="accent4"/>
                          </a:solidFill>
                        </a:rPr>
                        <a:t>The plan is replaced,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Rectangle 3"/>
          <p:cNvSpPr/>
          <p:nvPr/>
        </p:nvSpPr>
        <p:spPr>
          <a:xfrm>
            <a:off x="1888761" y="3971648"/>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a:solidFill>
                  <a:schemeClr val="tx2"/>
                </a:solidFill>
              </a:rPr>
              <a:t>The model now writes down what it is </a:t>
            </a:r>
            <a:r>
              <a:rPr sz="1200" b="1">
                <a:solidFill>
                  <a:schemeClr val="tx2"/>
                </a:solidFill>
              </a:rPr>
              <a:t>aiming at</a:t>
            </a:r>
            <a:r>
              <a:rPr sz="1200">
                <a:solidFill>
                  <a:schemeClr val="tx2"/>
                </a:solidFill>
              </a:rPr>
              <a:t>, and a turn can be measured against it.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one plan step records</a:t>
            </a:r>
          </a:p>
        </p:txBody>
      </p:sp>
      <p:sp>
        <p:nvSpPr>
          <p:cNvPr id="3" name="Content Placeholder 2"/>
          <p:cNvSpPr>
            <a:spLocks noGrp="1"/>
          </p:cNvSpPr>
          <p:nvPr>
            <p:ph idx="1"/>
          </p:nvPr>
        </p:nvSpPr>
        <p:spPr>
          <a:xfrm>
            <a:off x="319251" y="2010000"/>
            <a:ext cx="6014545" cy="1728976"/>
          </a:xfrm>
        </p:spPr>
        <p:txBody>
          <a:bodyPr wrap="square"/>
          <a:lstStyle/>
          <a:p>
            <a:pPr marL="0" indent="0">
              <a:buNone/>
            </a:pPr>
            <a:r>
              <a:rPr sz="1400" b="1">
                <a:solidFill>
                  <a:srgbClr val="28285E"/>
                </a:solidFill>
              </a:rPr>
              <a:t>Two things about that record are deliberate:</a:t>
            </a:r>
          </a:p>
          <a:p>
            <a:pPr marL="400050" indent="-285750">
              <a:spcBef>
                <a:spcPts val="600"/>
              </a:spcBef>
              <a:spcAft>
                <a:spcPts val="600"/>
              </a:spcAft>
              <a:buClr>
                <a:srgbClr val="28285E"/>
              </a:buClr>
              <a:buSzPts val="1260"/>
              <a:buFont typeface="Fira Sans"/>
              <a:buChar char="●"/>
            </a:pPr>
            <a:r>
              <a:rPr sz="1400" b="1">
                <a:solidFill>
                  <a:schemeClr val="tx1"/>
                </a:solidFill>
              </a:rPr>
              <a:t>The goal is what to do. </a:t>
            </a:r>
            <a:r>
              <a:rPr sz="1400">
                <a:solidFill>
                  <a:schemeClr val="tx1"/>
                </a:solidFill>
              </a:rPr>
              <a:t>The evidence is what would show it was done, which is the part the loop had nowhere to put.</a:t>
            </a:r>
          </a:p>
          <a:p>
            <a:pPr marL="400050" indent="-285750">
              <a:spcBef>
                <a:spcPts val="600"/>
              </a:spcBef>
              <a:spcAft>
                <a:spcPts val="600"/>
              </a:spcAft>
              <a:buClr>
                <a:srgbClr val="28285E"/>
              </a:buClr>
              <a:buSzPts val="1260"/>
              <a:buFont typeface="Fira Sans"/>
              <a:buChar char="●"/>
            </a:pPr>
            <a:r>
              <a:rPr sz="1400" b="1">
                <a:solidFill>
                  <a:schemeClr val="tx1"/>
                </a:solidFill>
              </a:rPr>
              <a:t>It arrives as input. </a:t>
            </a:r>
            <a:r>
              <a:rPr sz="1400">
                <a:solidFill>
                  <a:schemeClr val="tx1"/>
                </a:solidFill>
              </a:rPr>
              <a:t>The plan reaches the executor as a human message, so the executor never looks like it planned its own work.</a:t>
            </a:r>
          </a:p>
        </p:txBody>
      </p:sp>
      <p:sp>
        <p:nvSpPr>
          <p:cNvPr id="4" name="TextBox 3"/>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one step, as the planner returns it</a:t>
            </a:r>
          </a:p>
        </p:txBody>
      </p:sp>
      <p:sp>
        <p:nvSpPr>
          <p:cNvPr id="5" name="Rounded Rectangle 4"/>
          <p:cNvSpPr/>
          <p:nvPr/>
        </p:nvSpPr>
        <p:spPr>
          <a:xfrm>
            <a:off x="319251" y="1020000"/>
            <a:ext cx="6014545" cy="76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dirty="0">
                <a:solidFill>
                  <a:srgbClr val="28285E"/>
                </a:solidFill>
                <a:latin typeface="Maple Mono NF"/>
              </a:rPr>
              <a:t>{"id": 2, </a:t>
            </a:r>
            <a:r>
              <a:rPr sz="1100" b="1" dirty="0">
                <a:solidFill>
                  <a:schemeClr val="accent4"/>
                </a:solidFill>
                <a:latin typeface="Maple Mono NF"/>
              </a:rPr>
              <a:t>"goal"</a:t>
            </a:r>
            <a:r>
              <a:rPr sz="1100" dirty="0">
                <a:solidFill>
                  <a:srgbClr val="28285E"/>
                </a:solidFill>
                <a:latin typeface="Maple Mono NF"/>
              </a:rPr>
              <a:t>: "read the helper the flagged line calls",</a:t>
            </a:r>
          </a:p>
          <a:p>
            <a:pPr algn="l">
              <a:buNone/>
            </a:pPr>
            <a:r>
              <a:rPr sz="1100" dirty="0">
                <a:solidFill>
                  <a:srgbClr val="28285E"/>
                </a:solidFill>
                <a:latin typeface="Maple Mono NF"/>
              </a:rPr>
              <a:t>  </a:t>
            </a:r>
            <a:r>
              <a:rPr sz="1100" b="1" dirty="0">
                <a:solidFill>
                  <a:schemeClr val="accent4"/>
                </a:solidFill>
                <a:latin typeface="Maple Mono NF"/>
              </a:rPr>
              <a:t>"evidence"</a:t>
            </a:r>
            <a:r>
              <a:rPr sz="1100" dirty="0">
                <a:solidFill>
                  <a:srgbClr val="28285E"/>
                </a:solidFill>
                <a:latin typeface="Maple Mono NF"/>
              </a:rPr>
              <a:t>: "the value that reaches line 46"}</a:t>
            </a:r>
          </a:p>
        </p:txBody>
      </p:sp>
      <p:sp>
        <p:nvSpPr>
          <p:cNvPr id="6" name="Rectangle 5"/>
          <p:cNvSpPr/>
          <p:nvPr/>
        </p:nvSpPr>
        <p:spPr>
          <a:xfrm>
            <a:off x="319251" y="3928976"/>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planner that fails to plan returns no steps, and the run continues without one. It cannot end the run.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Where a run goes wrong</a:t>
            </a:r>
          </a:p>
        </p:txBody>
      </p:sp>
      <p:graphicFrame>
        <p:nvGraphicFramePr>
          <p:cNvPr id="3" name="Table 2"/>
          <p:cNvGraphicFramePr>
            <a:graphicFrameLocks noGrp="1"/>
          </p:cNvGraphicFramePr>
          <p:nvPr/>
        </p:nvGraphicFramePr>
        <p:xfrm>
          <a:off x="319251" y="1491615"/>
          <a:ext cx="6014545" cy="1390650"/>
        </p:xfrm>
        <a:graphic>
          <a:graphicData uri="http://schemas.openxmlformats.org/drawingml/2006/table">
            <a:tbl>
              <a:tblPr>
                <a:tableStyleId>{2D5ABB26-0587-4C30-8999-92F81FD0307C}</a:tableStyleId>
              </a:tblPr>
              <a:tblGrid>
                <a:gridCol w="230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gridCol w="1200000">
                  <a:extLst>
                    <a:ext uri="{9D8B030D-6E8A-4147-A177-3AD203B41FA5}">
                      <a16:colId xmlns:a16="http://schemas.microsoft.com/office/drawing/2014/main" val="20002"/>
                    </a:ext>
                  </a:extLst>
                </a:gridCol>
                <a:gridCol w="1164545">
                  <a:extLst>
                    <a:ext uri="{9D8B030D-6E8A-4147-A177-3AD203B41FA5}">
                      <a16:colId xmlns:a16="http://schemas.microsoft.com/office/drawing/2014/main" val="20003"/>
                    </a:ext>
                  </a:extLst>
                </a:gridCol>
              </a:tblGrid>
              <a:tr h="300000">
                <a:tc>
                  <a:txBody>
                    <a:bodyPr/>
                    <a:lstStyle/>
                    <a:p>
                      <a:pPr algn="l">
                        <a:buNone/>
                      </a:pPr>
                      <a:r>
                        <a:rPr sz="1000" b="1">
                          <a:solidFill>
                            <a:schemeClr val="tx1"/>
                          </a:solidFill>
                        </a:rPr>
                        <a:t>How the next action is chosen</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Dead end on move one</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Step of first error</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Recovers after it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000" b="1">
                          <a:solidFill>
                            <a:srgbClr val="28285E"/>
                          </a:solidFill>
                        </a:rPr>
                        <a:t>One step at a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55.6%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000" b="1">
                          <a:solidFill>
                            <a:srgbClr val="28285E"/>
                          </a:solidFill>
                        </a:rPr>
                        <a:t>Beam search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71.9%</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11.4%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000" b="1">
                          <a:solidFill>
                            <a:srgbClr val="28285E"/>
                          </a:solidFill>
                        </a:rPr>
                        <a:t>Lookahead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22.4%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000" b="1">
                          <a:solidFill>
                            <a:srgbClr val="28285E"/>
                          </a:solidFill>
                        </a:rPr>
                        <a:t>Lookahead with value propagation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17.8%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3.2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29.7%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TextBox 3"/>
          <p:cNvSpPr txBox="1"/>
          <p:nvPr/>
        </p:nvSpPr>
        <p:spPr>
          <a:xfrm>
            <a:off x="2433796" y="3320000"/>
            <a:ext cx="3900000" cy="253916"/>
          </a:xfrm>
          <a:prstGeom prst="rect">
            <a:avLst/>
          </a:prstGeom>
          <a:noFill/>
        </p:spPr>
        <p:txBody>
          <a:bodyPr wrap="none">
            <a:spAutoFit/>
          </a:bodyPr>
          <a:lstStyle/>
          <a:p>
            <a:pPr algn="r"/>
            <a:r>
              <a:rPr sz="1050" i="1">
                <a:solidFill>
                  <a:schemeClr val="bg2"/>
                </a:solidFill>
              </a:rPr>
              <a:t>Table 3, Wang et al., 2026 (arXiv:2601.22311), three benchmarks</a:t>
            </a:r>
          </a:p>
        </p:txBody>
      </p:sp>
      <p:sp>
        <p:nvSpPr>
          <p:cNvPr id="5" name="Rectangle 4"/>
          <p:cNvSpPr/>
          <p:nvPr/>
        </p:nvSpPr>
        <p:spPr>
          <a:xfrm>
            <a:off x="1888761" y="366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A run that chooses one step at a time is already lost on its first move </a:t>
            </a:r>
            <a:r>
              <a:rPr sz="1200" b="1">
                <a:solidFill>
                  <a:schemeClr val="tx2"/>
                </a:solidFill>
              </a:rPr>
              <a:t>more than half the time</a:t>
            </a:r>
            <a:r>
              <a:rPr sz="1200" b="0">
                <a:solidFill>
                  <a:schemeClr val="tx2"/>
                </a:solidFill>
              </a:rPr>
              <a: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EF624-635C-176E-2827-44177171D0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1A694-8F73-5DF6-82DB-43130EE70C59}"/>
              </a:ext>
            </a:extLst>
          </p:cNvPr>
          <p:cNvSpPr>
            <a:spLocks noGrp="1"/>
          </p:cNvSpPr>
          <p:nvPr>
            <p:ph type="title"/>
          </p:nvPr>
        </p:nvSpPr>
        <p:spPr/>
        <p:txBody>
          <a:bodyPr/>
          <a:lstStyle/>
          <a:p>
            <a:r>
              <a:rPr dirty="0"/>
              <a:t>Where a run goes wrong</a:t>
            </a:r>
          </a:p>
        </p:txBody>
      </p:sp>
      <p:graphicFrame>
        <p:nvGraphicFramePr>
          <p:cNvPr id="3" name="Table 2">
            <a:extLst>
              <a:ext uri="{FF2B5EF4-FFF2-40B4-BE49-F238E27FC236}">
                <a16:creationId xmlns:a16="http://schemas.microsoft.com/office/drawing/2014/main" id="{1D6D0EDA-2DC4-9975-FB7A-A7EFCE922DCA}"/>
              </a:ext>
            </a:extLst>
          </p:cNvPr>
          <p:cNvGraphicFramePr>
            <a:graphicFrameLocks noGrp="1"/>
          </p:cNvGraphicFramePr>
          <p:nvPr>
            <p:extLst>
              <p:ext uri="{D42A27DB-BD31-4B8C-83A1-F6EECF244321}">
                <p14:modId xmlns:p14="http://schemas.microsoft.com/office/powerpoint/2010/main" val="592902914"/>
              </p:ext>
            </p:extLst>
          </p:nvPr>
        </p:nvGraphicFramePr>
        <p:xfrm>
          <a:off x="319251" y="1491615"/>
          <a:ext cx="6014545" cy="1390650"/>
        </p:xfrm>
        <a:graphic>
          <a:graphicData uri="http://schemas.openxmlformats.org/drawingml/2006/table">
            <a:tbl>
              <a:tblPr>
                <a:tableStyleId>{2D5ABB26-0587-4C30-8999-92F81FD0307C}</a:tableStyleId>
              </a:tblPr>
              <a:tblGrid>
                <a:gridCol w="230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gridCol w="1200000">
                  <a:extLst>
                    <a:ext uri="{9D8B030D-6E8A-4147-A177-3AD203B41FA5}">
                      <a16:colId xmlns:a16="http://schemas.microsoft.com/office/drawing/2014/main" val="20002"/>
                    </a:ext>
                  </a:extLst>
                </a:gridCol>
                <a:gridCol w="1164545">
                  <a:extLst>
                    <a:ext uri="{9D8B030D-6E8A-4147-A177-3AD203B41FA5}">
                      <a16:colId xmlns:a16="http://schemas.microsoft.com/office/drawing/2014/main" val="20003"/>
                    </a:ext>
                  </a:extLst>
                </a:gridCol>
              </a:tblGrid>
              <a:tr h="300000">
                <a:tc>
                  <a:txBody>
                    <a:bodyPr/>
                    <a:lstStyle/>
                    <a:p>
                      <a:pPr algn="l">
                        <a:buNone/>
                      </a:pPr>
                      <a:r>
                        <a:rPr sz="1000" b="1">
                          <a:solidFill>
                            <a:schemeClr val="tx1"/>
                          </a:solidFill>
                        </a:rPr>
                        <a:t>How the next action is chosen</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Dead end on move one</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Step of first error</a:t>
                      </a:r>
                    </a:p>
                  </a:txBody>
                  <a:tcPr marL="95250" marR="95250" marT="47625" marB="47625">
                    <a:lnB w="12700" cap="flat" cmpd="sng" algn="ctr">
                      <a:solidFill>
                        <a:schemeClr val="tx1"/>
                      </a:solidFill>
                    </a:lnB>
                    <a:noFill/>
                  </a:tcPr>
                </a:tc>
                <a:tc>
                  <a:txBody>
                    <a:bodyPr/>
                    <a:lstStyle/>
                    <a:p>
                      <a:pPr algn="l">
                        <a:buNone/>
                      </a:pPr>
                      <a:r>
                        <a:rPr sz="1000" b="1">
                          <a:solidFill>
                            <a:schemeClr val="tx1"/>
                          </a:solidFill>
                        </a:rPr>
                        <a:t>Recovers after it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000" b="1">
                          <a:solidFill>
                            <a:srgbClr val="28285E"/>
                          </a:solidFill>
                        </a:rPr>
                        <a:t>One step at a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55.6%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5.4%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000" b="1">
                          <a:solidFill>
                            <a:srgbClr val="28285E"/>
                          </a:solidFill>
                        </a:rPr>
                        <a:t>Beam search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71.9%</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11.4%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000" b="1">
                          <a:solidFill>
                            <a:srgbClr val="28285E"/>
                          </a:solidFill>
                        </a:rPr>
                        <a:t>Lookahead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23.6%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tx1"/>
                          </a:solidFill>
                        </a:rPr>
                        <a:t>22.4%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000" b="1" dirty="0">
                          <a:solidFill>
                            <a:schemeClr val="accent4"/>
                          </a:solidFill>
                        </a:rPr>
                        <a:t>Lookahead with value propagation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accent4"/>
                          </a:solidFill>
                        </a:rPr>
                        <a:t>17.8%</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a:solidFill>
                            <a:schemeClr val="accent4"/>
                          </a:solidFill>
                        </a:rPr>
                        <a:t>3.2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000" dirty="0">
                          <a:solidFill>
                            <a:schemeClr val="accent4"/>
                          </a:solidFill>
                        </a:rPr>
                        <a:t>29.7%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TextBox 3">
            <a:extLst>
              <a:ext uri="{FF2B5EF4-FFF2-40B4-BE49-F238E27FC236}">
                <a16:creationId xmlns:a16="http://schemas.microsoft.com/office/drawing/2014/main" id="{3018C3B7-624A-0171-9291-1106C147C651}"/>
              </a:ext>
            </a:extLst>
          </p:cNvPr>
          <p:cNvSpPr txBox="1"/>
          <p:nvPr/>
        </p:nvSpPr>
        <p:spPr>
          <a:xfrm>
            <a:off x="2433796" y="3320000"/>
            <a:ext cx="3900000" cy="253916"/>
          </a:xfrm>
          <a:prstGeom prst="rect">
            <a:avLst/>
          </a:prstGeom>
          <a:noFill/>
        </p:spPr>
        <p:txBody>
          <a:bodyPr wrap="none">
            <a:spAutoFit/>
          </a:bodyPr>
          <a:lstStyle/>
          <a:p>
            <a:pPr algn="r"/>
            <a:r>
              <a:rPr sz="1050" i="1">
                <a:solidFill>
                  <a:schemeClr val="bg2"/>
                </a:solidFill>
              </a:rPr>
              <a:t>Table 3, Wang et al., 2026 (arXiv:2601.22311), three benchmarks</a:t>
            </a:r>
          </a:p>
        </p:txBody>
      </p:sp>
      <p:sp>
        <p:nvSpPr>
          <p:cNvPr id="5" name="Rectangle 4">
            <a:extLst>
              <a:ext uri="{FF2B5EF4-FFF2-40B4-BE49-F238E27FC236}">
                <a16:creationId xmlns:a16="http://schemas.microsoft.com/office/drawing/2014/main" id="{8C5AF8AC-0C2A-E0CF-9DD7-D7F19410D774}"/>
              </a:ext>
            </a:extLst>
          </p:cNvPr>
          <p:cNvSpPr/>
          <p:nvPr/>
        </p:nvSpPr>
        <p:spPr>
          <a:xfrm>
            <a:off x="1888761" y="366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chemeClr val="tx2"/>
                </a:solidFill>
              </a:rPr>
              <a:t>A run that chooses one step at a time is already lost on its first move </a:t>
            </a:r>
            <a:r>
              <a:rPr sz="1200" b="1" dirty="0">
                <a:solidFill>
                  <a:schemeClr val="tx2"/>
                </a:solidFill>
              </a:rPr>
              <a:t>more than half the time</a:t>
            </a:r>
            <a:r>
              <a:rPr sz="1200" b="0" dirty="0">
                <a:solidFill>
                  <a:schemeClr val="tx2"/>
                </a:solidFill>
              </a:rPr>
              <a:t>.</a:t>
            </a:r>
          </a:p>
        </p:txBody>
      </p:sp>
    </p:spTree>
    <p:extLst>
      <p:ext uri="{BB962C8B-B14F-4D97-AF65-F5344CB8AC3E}">
        <p14:creationId xmlns:p14="http://schemas.microsoft.com/office/powerpoint/2010/main" val="2396986296"/>
      </p:ext>
    </p:extLst>
  </p:cSld>
  <p:clrMapOvr>
    <a:masterClrMapping/>
  </p:clrMapOvr>
  <p:extLst>
    <p:ext uri="{6950BFC3-D8DA-4A85-94F7-54DA5524770B}">
      <p188:commentRel xmlns:p188="http://schemas.microsoft.com/office/powerpoint/2018/8/main" r:id="rId3"/>
    </p:ext>
  </p:extLs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wider search does not fix myopia</a:t>
            </a:r>
          </a:p>
        </p:txBody>
      </p:sp>
      <p:sp>
        <p:nvSpPr>
          <p:cNvPr id="3" name="Content Placeholder 2"/>
          <p:cNvSpPr>
            <a:spLocks noGrp="1"/>
          </p:cNvSpPr>
          <p:nvPr>
            <p:ph idx="1"/>
          </p:nvPr>
        </p:nvSpPr>
        <p:spPr>
          <a:xfrm>
            <a:off x="319251" y="1620000"/>
            <a:ext cx="6014545" cy="1900000"/>
          </a:xfrm>
        </p:spPr>
        <p:txBody>
          <a:bodyPr wrap="square">
            <a:normAutofit fontScale="92500" lnSpcReduction="20000"/>
          </a:bodyPr>
          <a:lstStyle/>
          <a:p>
            <a:pPr marL="0" indent="0">
              <a:buNone/>
            </a:pPr>
            <a:r>
              <a:rPr sz="1400" b="1" dirty="0">
                <a:solidFill>
                  <a:srgbClr val="28285E"/>
                </a:solidFill>
              </a:rPr>
              <a:t>The reason is worth carrying into your own agent:</a:t>
            </a:r>
          </a:p>
          <a:p>
            <a:pPr marL="400050" indent="-285750">
              <a:spcBef>
                <a:spcPts val="600"/>
              </a:spcBef>
              <a:spcAft>
                <a:spcPts val="600"/>
              </a:spcAft>
              <a:buClr>
                <a:srgbClr val="28285E"/>
              </a:buClr>
              <a:buSzPts val="1260"/>
              <a:buFont typeface="Fira Sans"/>
              <a:buChar char="●"/>
            </a:pPr>
            <a:r>
              <a:rPr sz="1400" b="1" dirty="0">
                <a:solidFill>
                  <a:schemeClr val="tx1"/>
                </a:solidFill>
              </a:rPr>
              <a:t>The score is the problem. </a:t>
            </a:r>
            <a:r>
              <a:rPr sz="1400" dirty="0">
                <a:solidFill>
                  <a:schemeClr val="tx1"/>
                </a:solidFill>
              </a:rPr>
              <a:t>Beam search </a:t>
            </a:r>
            <a:r>
              <a:rPr sz="1400" b="1" dirty="0">
                <a:solidFill>
                  <a:schemeClr val="tx1"/>
                </a:solidFill>
              </a:rPr>
              <a:t>ranks</a:t>
            </a:r>
            <a:r>
              <a:rPr sz="1400" dirty="0">
                <a:solidFill>
                  <a:schemeClr val="tx1"/>
                </a:solidFill>
              </a:rPr>
              <a:t> more candidates, but it ranks them </a:t>
            </a:r>
            <a:r>
              <a:rPr sz="1400" b="1" dirty="0">
                <a:solidFill>
                  <a:schemeClr val="tx1"/>
                </a:solidFill>
              </a:rPr>
              <a:t>with the same next-step plausibility </a:t>
            </a:r>
            <a:r>
              <a:rPr sz="1400" dirty="0">
                <a:solidFill>
                  <a:schemeClr val="tx1"/>
                </a:solidFill>
              </a:rPr>
              <a:t>that misled the single-step run.</a:t>
            </a:r>
          </a:p>
          <a:p>
            <a:pPr marL="400050" indent="-285750">
              <a:spcBef>
                <a:spcPts val="600"/>
              </a:spcBef>
              <a:spcAft>
                <a:spcPts val="600"/>
              </a:spcAft>
              <a:buClr>
                <a:srgbClr val="28285E"/>
              </a:buClr>
              <a:buSzPts val="1260"/>
              <a:buFont typeface="Fira Sans"/>
              <a:buChar char="●"/>
            </a:pPr>
            <a:r>
              <a:rPr sz="1400" b="1" dirty="0">
                <a:solidFill>
                  <a:schemeClr val="tx1"/>
                </a:solidFill>
              </a:rPr>
              <a:t>The fix</a:t>
            </a:r>
            <a:r>
              <a:rPr lang="en-US" sz="1400" b="1" dirty="0">
                <a:solidFill>
                  <a:schemeClr val="tx1"/>
                </a:solidFill>
              </a:rPr>
              <a:t>: choose</a:t>
            </a:r>
            <a:r>
              <a:rPr sz="1400" b="1" dirty="0">
                <a:solidFill>
                  <a:schemeClr val="tx1"/>
                </a:solidFill>
              </a:rPr>
              <a:t> what you score with</a:t>
            </a:r>
            <a:r>
              <a:rPr lang="en-US" sz="1400" b="1" dirty="0">
                <a:solidFill>
                  <a:schemeClr val="tx1"/>
                </a:solidFill>
              </a:rPr>
              <a:t> wisely</a:t>
            </a:r>
            <a:r>
              <a:rPr sz="1400" b="1" dirty="0">
                <a:solidFill>
                  <a:schemeClr val="tx1"/>
                </a:solidFill>
              </a:rPr>
              <a:t>. </a:t>
            </a:r>
            <a:r>
              <a:rPr sz="1400" dirty="0">
                <a:solidFill>
                  <a:schemeClr val="tx1"/>
                </a:solidFill>
              </a:rPr>
              <a:t>What moved every column in that table was </a:t>
            </a:r>
            <a:r>
              <a:rPr sz="1400" b="1" dirty="0">
                <a:solidFill>
                  <a:schemeClr val="tx1"/>
                </a:solidFill>
              </a:rPr>
              <a:t>evaluating an action by what follows it rather than by how good it looks now</a:t>
            </a:r>
            <a:r>
              <a:rPr sz="1400" dirty="0">
                <a:solidFill>
                  <a:schemeClr val="tx1"/>
                </a:solidFill>
              </a:rPr>
              <a:t>.</a:t>
            </a:r>
          </a:p>
        </p:txBody>
      </p:sp>
      <p:sp>
        <p:nvSpPr>
          <p:cNvPr id="4" name="Rectangle 3"/>
          <p:cNvSpPr/>
          <p:nvPr/>
        </p:nvSpPr>
        <p:spPr>
          <a:xfrm>
            <a:off x="319251" y="75632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Beam search explores more branches than choosing one step at a time, and it walks into the first-move trap </a:t>
            </a:r>
            <a:r>
              <a:rPr sz="1400" b="1">
                <a:solidFill>
                  <a:schemeClr val="tx2"/>
                </a:solidFill>
              </a:rPr>
              <a:t>more often</a:t>
            </a:r>
            <a:r>
              <a:rPr sz="1400">
                <a:solidFill>
                  <a:schemeClr val="tx2"/>
                </a:solidFill>
              </a:rPr>
              <a:t>.</a:t>
            </a:r>
          </a:p>
        </p:txBody>
      </p:sp>
      <p:sp>
        <p:nvSpPr>
          <p:cNvPr id="5" name="Rectangle 4"/>
          <p:cNvSpPr/>
          <p:nvPr/>
        </p:nvSpPr>
        <p:spPr>
          <a:xfrm>
            <a:off x="319251" y="380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accent4"/>
                </a:solidFill>
              </a:rPr>
              <a:t>When your agent stalls, look at </a:t>
            </a:r>
            <a:r>
              <a:rPr sz="1200" b="1">
                <a:solidFill>
                  <a:schemeClr val="accent4"/>
                </a:solidFill>
              </a:rPr>
              <a:t>what it is scoring</a:t>
            </a:r>
            <a:r>
              <a:rPr sz="1200" b="0">
                <a:solidFill>
                  <a:schemeClr val="accent4"/>
                </a:solidFill>
              </a:rPr>
              <a:t> before you look at how much it is searching.</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Why submit can no longer accept a patch</a:t>
            </a:r>
          </a:p>
        </p:txBody>
      </p:sp>
      <p:sp>
        <p:nvSpPr>
          <p:cNvPr id="3" name="Content Placeholder 2"/>
          <p:cNvSpPr>
            <a:spLocks noGrp="1"/>
          </p:cNvSpPr>
          <p:nvPr>
            <p:ph idx="1"/>
          </p:nvPr>
        </p:nvSpPr>
        <p:spPr>
          <a:xfrm>
            <a:off x="319251" y="2670000"/>
            <a:ext cx="6014545" cy="1858038"/>
          </a:xfrm>
        </p:spPr>
        <p:txBody>
          <a:bodyPr wrap="square">
            <a:normAutofit lnSpcReduction="10000"/>
          </a:bodyPr>
          <a:lstStyle/>
          <a:p>
            <a:pPr marL="0" indent="0">
              <a:buNone/>
            </a:pPr>
            <a:r>
              <a:rPr sz="1400" b="1" dirty="0">
                <a:solidFill>
                  <a:srgbClr val="28285E"/>
                </a:solidFill>
              </a:rPr>
              <a:t>So the three checks and the validator are not alternatives:</a:t>
            </a:r>
          </a:p>
          <a:p>
            <a:pPr marL="400050" indent="-285750">
              <a:spcBef>
                <a:spcPts val="600"/>
              </a:spcBef>
              <a:spcAft>
                <a:spcPts val="600"/>
              </a:spcAft>
              <a:buClr>
                <a:srgbClr val="28285E"/>
              </a:buClr>
              <a:buSzPts val="1260"/>
              <a:buFont typeface="Fira Sans"/>
              <a:buChar char="●"/>
            </a:pPr>
            <a:r>
              <a:rPr sz="1400" b="1" dirty="0">
                <a:solidFill>
                  <a:schemeClr val="tx1"/>
                </a:solidFill>
              </a:rPr>
              <a:t>The checks are a gate. </a:t>
            </a:r>
            <a:r>
              <a:rPr sz="1400" dirty="0">
                <a:solidFill>
                  <a:schemeClr val="tx1"/>
                </a:solidFill>
              </a:rPr>
              <a:t>A patch that fails them never reaches the judge; it goes back to the controller with the reasons.</a:t>
            </a:r>
          </a:p>
          <a:p>
            <a:pPr marL="400050" indent="-285750">
              <a:spcBef>
                <a:spcPts val="600"/>
              </a:spcBef>
              <a:spcAft>
                <a:spcPts val="600"/>
              </a:spcAft>
              <a:buClr>
                <a:srgbClr val="28285E"/>
              </a:buClr>
              <a:buSzPts val="1260"/>
              <a:buFont typeface="Fira Sans"/>
              <a:buChar char="●"/>
            </a:pPr>
            <a:r>
              <a:rPr sz="1400" b="1" dirty="0">
                <a:solidFill>
                  <a:schemeClr val="tx1"/>
                </a:solidFill>
              </a:rPr>
              <a:t>The validator is the only exit. </a:t>
            </a:r>
            <a:r>
              <a:rPr sz="1400" dirty="0">
                <a:solidFill>
                  <a:schemeClr val="tx1"/>
                </a:solidFill>
              </a:rPr>
              <a:t>It is the one node that can end a run accepted, and it is handed a patch that has already passed everything mechanical.</a:t>
            </a:r>
          </a:p>
        </p:txBody>
      </p:sp>
      <p:sp>
        <p:nvSpPr>
          <p:cNvPr id="4" name="Rectangle 3"/>
          <p:cNvSpPr/>
          <p:nvPr/>
        </p:nvSpPr>
        <p:spPr>
          <a:xfrm>
            <a:off x="319251" y="699999"/>
            <a:ext cx="6014545" cy="768315"/>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Acceptance is decoupled from the controller already, because </a:t>
            </a:r>
            <a:r>
              <a:rPr sz="1400" b="1" u="sng" dirty="0">
                <a:latin typeface="Maple Mono NF"/>
              </a:rPr>
              <a:t>submit</a:t>
            </a:r>
            <a:r>
              <a:rPr sz="1400" b="1" u="sng" dirty="0">
                <a:solidFill>
                  <a:schemeClr val="tx2"/>
                </a:solidFill>
              </a:rPr>
              <a:t> runs three mechanical checks</a:t>
            </a:r>
            <a:r>
              <a:rPr sz="1400" dirty="0">
                <a:solidFill>
                  <a:schemeClr val="tx2"/>
                </a:solidFill>
              </a:rPr>
              <a:t> that no model writes. What changes here is that </a:t>
            </a:r>
            <a:r>
              <a:rPr sz="1400" b="1" u="sng" dirty="0">
                <a:latin typeface="Maple Mono NF"/>
              </a:rPr>
              <a:t>submit</a:t>
            </a:r>
            <a:r>
              <a:rPr sz="1400" b="1" u="sng" dirty="0">
                <a:solidFill>
                  <a:schemeClr val="tx2"/>
                </a:solidFill>
              </a:rPr>
              <a:t> can no longer accept</a:t>
            </a:r>
            <a:r>
              <a:rPr sz="1400" dirty="0">
                <a:solidFill>
                  <a:schemeClr val="tx2"/>
                </a:solidFill>
              </a:rPr>
              <a:t>.</a:t>
            </a:r>
          </a:p>
        </p:txBody>
      </p:sp>
      <p:sp>
        <p:nvSpPr>
          <p:cNvPr id="5" name="TextBox 4"/>
          <p:cNvSpPr txBox="1"/>
          <p:nvPr/>
        </p:nvSpPr>
        <p:spPr>
          <a:xfrm>
            <a:off x="319251" y="1660000"/>
            <a:ext cx="6014545" cy="200000"/>
          </a:xfrm>
          <a:prstGeom prst="rect">
            <a:avLst/>
          </a:prstGeom>
          <a:noFill/>
        </p:spPr>
        <p:txBody>
          <a:bodyPr wrap="none">
            <a:spAutoFit/>
          </a:bodyPr>
          <a:lstStyle/>
          <a:p>
            <a:r>
              <a:rPr sz="1200" b="1">
                <a:solidFill>
                  <a:srgbClr val="28285E"/>
                </a:solidFill>
                <a:latin typeface="Maple Mono NF"/>
              </a:rPr>
              <a:t>graph.py, after_submit</a:t>
            </a:r>
          </a:p>
        </p:txBody>
      </p:sp>
      <p:sp>
        <p:nvSpPr>
          <p:cNvPr id="6" name="Rounded Rectangle 5"/>
          <p:cNvSpPr/>
          <p:nvPr/>
        </p:nvSpPr>
        <p:spPr>
          <a:xfrm>
            <a:off x="319251" y="192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return </a:t>
            </a:r>
            <a:r>
              <a:rPr sz="1100" b="1">
                <a:solidFill>
                  <a:srgbClr val="099191"/>
                </a:solidFill>
                <a:latin typeface="Maple Mono NF"/>
              </a:rPr>
              <a:t>"validate"</a:t>
            </a:r>
            <a:r>
              <a:rPr sz="1100">
                <a:solidFill>
                  <a:srgbClr val="28285E"/>
                </a:solidFill>
                <a:latin typeface="Maple Mono NF"/>
              </a:rPr>
              <a:t> if checks.passed else "controller"</a:t>
            </a:r>
          </a:p>
        </p:txBody>
      </p:sp>
      <p:sp>
        <p:nvSpPr>
          <p:cNvPr id="7" name="TextBox 6">
            <a:extLst>
              <a:ext uri="{FF2B5EF4-FFF2-40B4-BE49-F238E27FC236}">
                <a16:creationId xmlns:a16="http://schemas.microsoft.com/office/drawing/2014/main" id="{DE89E9DB-2438-B99D-A84A-A2191191E2AA}"/>
              </a:ext>
            </a:extLst>
          </p:cNvPr>
          <p:cNvSpPr txBox="1"/>
          <p:nvPr/>
        </p:nvSpPr>
        <p:spPr>
          <a:xfrm>
            <a:off x="2031023" y="4826977"/>
            <a:ext cx="4700326" cy="307777"/>
          </a:xfrm>
          <a:prstGeom prst="rect">
            <a:avLst/>
          </a:prstGeom>
          <a:noFill/>
        </p:spPr>
        <p:txBody>
          <a:bodyPr wrap="none" rtlCol="0">
            <a:spAutoFit/>
          </a:bodyPr>
          <a:lstStyle/>
          <a:p>
            <a:r>
              <a:rPr lang="en-US" dirty="0">
                <a:latin typeface="+mn-lt"/>
              </a:rPr>
              <a:t>See: lec2_planning_and_validation_agent/graph.py:433</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the validator never sees the conversation</a:t>
            </a:r>
          </a:p>
        </p:txBody>
      </p:sp>
      <p:sp>
        <p:nvSpPr>
          <p:cNvPr id="3" name="Content Placeholder 2"/>
          <p:cNvSpPr>
            <a:spLocks noGrp="1"/>
          </p:cNvSpPr>
          <p:nvPr>
            <p:ph idx="1"/>
          </p:nvPr>
        </p:nvSpPr>
        <p:spPr>
          <a:xfrm>
            <a:off x="319251" y="760000"/>
            <a:ext cx="6014545" cy="2400000"/>
          </a:xfrm>
        </p:spPr>
        <p:txBody>
          <a:bodyPr wrap="square">
            <a:normAutofit fontScale="92500"/>
          </a:bodyPr>
          <a:lstStyle/>
          <a:p>
            <a:pPr marL="0" indent="0">
              <a:buNone/>
            </a:pPr>
            <a:r>
              <a:rPr sz="1400" b="1" dirty="0">
                <a:solidFill>
                  <a:srgbClr val="28285E"/>
                </a:solidFill>
              </a:rPr>
              <a:t>The validator sees four things</a:t>
            </a:r>
            <a:r>
              <a:rPr lang="en-US" sz="1400" b="1" dirty="0">
                <a:solidFill>
                  <a:srgbClr val="28285E"/>
                </a:solidFill>
              </a:rPr>
              <a:t>:</a:t>
            </a:r>
          </a:p>
          <a:p>
            <a:pPr marL="400050" indent="-285750">
              <a:spcBef>
                <a:spcPts val="600"/>
              </a:spcBef>
              <a:spcAft>
                <a:spcPts val="600"/>
              </a:spcAft>
              <a:buClr>
                <a:srgbClr val="28285E"/>
              </a:buClr>
              <a:buSzPts val="1260"/>
              <a:buFont typeface="Fira Sans"/>
              <a:buChar char="●"/>
            </a:pPr>
            <a:r>
              <a:rPr lang="en-US" sz="1400" b="1" dirty="0">
                <a:solidFill>
                  <a:schemeClr val="tx1"/>
                </a:solidFill>
              </a:rPr>
              <a:t>It reads the alert, the patch, and the three check results. </a:t>
            </a:r>
            <a:r>
              <a:rPr lang="en-US" sz="1400" dirty="0">
                <a:solidFill>
                  <a:schemeClr val="tx1"/>
                </a:solidFill>
              </a:rPr>
              <a:t>Those are what a reviewer would be given.</a:t>
            </a:r>
          </a:p>
          <a:p>
            <a:pPr marL="400050" indent="-285750">
              <a:spcBef>
                <a:spcPts val="600"/>
              </a:spcBef>
              <a:spcAft>
                <a:spcPts val="600"/>
              </a:spcAft>
              <a:buClr>
                <a:srgbClr val="28285E"/>
              </a:buClr>
              <a:buSzPts val="1260"/>
              <a:buFont typeface="Fira Sans"/>
              <a:buChar char="●"/>
            </a:pPr>
            <a:r>
              <a:rPr sz="1400" b="1" dirty="0">
                <a:solidFill>
                  <a:schemeClr val="tx1"/>
                </a:solidFill>
              </a:rPr>
              <a:t>It reads the observations. </a:t>
            </a:r>
            <a:r>
              <a:rPr sz="1400" dirty="0">
                <a:solidFill>
                  <a:schemeClr val="tx1"/>
                </a:solidFill>
              </a:rPr>
              <a:t>That is the trajectory the runtime recorded: what the tools actually returned.</a:t>
            </a:r>
          </a:p>
          <a:p>
            <a:pPr marL="400050" indent="-285750">
              <a:spcBef>
                <a:spcPts val="600"/>
              </a:spcBef>
              <a:spcAft>
                <a:spcPts val="600"/>
              </a:spcAft>
              <a:buClr>
                <a:srgbClr val="28285E"/>
              </a:buClr>
              <a:buSzPts val="1260"/>
              <a:buFont typeface="Fira Sans"/>
              <a:buChar char="●"/>
            </a:pPr>
            <a:r>
              <a:rPr sz="1400" b="1" dirty="0">
                <a:solidFill>
                  <a:schemeClr val="tx1"/>
                </a:solidFill>
              </a:rPr>
              <a:t>It never reads the messages. </a:t>
            </a:r>
            <a:r>
              <a:rPr sz="1400" dirty="0">
                <a:solidFill>
                  <a:schemeClr val="tx1"/>
                </a:solidFill>
              </a:rPr>
              <a:t>The conversation is what </a:t>
            </a:r>
            <a:r>
              <a:rPr sz="1400" b="1" dirty="0">
                <a:solidFill>
                  <a:schemeClr val="tx1"/>
                </a:solidFill>
              </a:rPr>
              <a:t>the model said about the evidence, and it is kept away from the judge on purpose</a:t>
            </a:r>
            <a:r>
              <a:rPr sz="1400" dirty="0">
                <a:solidFill>
                  <a:schemeClr val="tx1"/>
                </a:solidFill>
              </a:rPr>
              <a:t>.</a:t>
            </a:r>
          </a:p>
        </p:txBody>
      </p:sp>
      <p:sp>
        <p:nvSpPr>
          <p:cNvPr id="4" name="Rectangle 3"/>
          <p:cNvSpPr/>
          <p:nvPr/>
        </p:nvSpPr>
        <p:spPr>
          <a:xfrm>
            <a:off x="319251" y="34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rgbClr val="28285E"/>
                </a:solidFill>
              </a:rPr>
              <a:t>A judge </a:t>
            </a:r>
            <a:r>
              <a:rPr lang="en-US" sz="1200" b="0" dirty="0">
                <a:solidFill>
                  <a:srgbClr val="28285E"/>
                </a:solidFill>
              </a:rPr>
              <a:t>shouldn't take the </a:t>
            </a:r>
            <a:r>
              <a:rPr sz="1200" b="0" dirty="0">
                <a:solidFill>
                  <a:srgbClr val="28285E"/>
                </a:solidFill>
              </a:rPr>
              <a:t>defendant's account of the evidence.</a:t>
            </a:r>
            <a:r>
              <a:rPr lang="en-US" sz="1200" b="0" dirty="0">
                <a:solidFill>
                  <a:srgbClr val="28285E"/>
                </a:solidFill>
              </a:rPr>
              <a:t> So the judge judges impartially.</a:t>
            </a:r>
            <a:endParaRPr sz="1200" b="0" dirty="0">
              <a:solidFill>
                <a:srgbClr val="28285E"/>
              </a:solidFill>
            </a:endParaRPr>
          </a:p>
        </p:txBody>
      </p:sp>
      <p:sp>
        <p:nvSpPr>
          <p:cNvPr id="5" name="TextBox 4"/>
          <p:cNvSpPr txBox="1"/>
          <p:nvPr/>
        </p:nvSpPr>
        <p:spPr>
          <a:xfrm>
            <a:off x="2433796" y="3980000"/>
            <a:ext cx="3900000" cy="253916"/>
          </a:xfrm>
          <a:prstGeom prst="rect">
            <a:avLst/>
          </a:prstGeom>
          <a:noFill/>
        </p:spPr>
        <p:txBody>
          <a:bodyPr wrap="none">
            <a:spAutoFit/>
          </a:bodyPr>
          <a:lstStyle/>
          <a:p>
            <a:pPr algn="r"/>
            <a:r>
              <a:rPr sz="1050" i="1">
                <a:solidFill>
                  <a:schemeClr val="bg2"/>
                </a:solidFill>
              </a:rPr>
              <a:t>the demo's own comment, graph.py</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Self-review, measured: accuracy and cost</a:t>
            </a:r>
          </a:p>
        </p:txBody>
      </p:sp>
      <p:graphicFrame>
        <p:nvGraphicFramePr>
          <p:cNvPr id="3" name="Table 2"/>
          <p:cNvGraphicFramePr>
            <a:graphicFrameLocks noGrp="1"/>
          </p:cNvGraphicFramePr>
          <p:nvPr/>
        </p:nvGraphicFramePr>
        <p:xfrm>
          <a:off x="319251" y="1491615"/>
          <a:ext cx="6014545" cy="1134390"/>
        </p:xfrm>
        <a:graphic>
          <a:graphicData uri="http://schemas.openxmlformats.org/drawingml/2006/table">
            <a:tbl>
              <a:tblPr>
                <a:tableStyleId>{2D5ABB26-0587-4C30-8999-92F81FD0307C}</a:tableStyleId>
              </a:tblPr>
              <a:tblGrid>
                <a:gridCol w="3214545">
                  <a:extLst>
                    <a:ext uri="{9D8B030D-6E8A-4147-A177-3AD203B41FA5}">
                      <a16:colId xmlns:a16="http://schemas.microsoft.com/office/drawing/2014/main" val="20000"/>
                    </a:ext>
                  </a:extLst>
                </a:gridCol>
                <a:gridCol w="1400000">
                  <a:extLst>
                    <a:ext uri="{9D8B030D-6E8A-4147-A177-3AD203B41FA5}">
                      <a16:colId xmlns:a16="http://schemas.microsoft.com/office/drawing/2014/main" val="20001"/>
                    </a:ext>
                  </a:extLst>
                </a:gridCol>
                <a:gridCol w="1400000">
                  <a:extLst>
                    <a:ext uri="{9D8B030D-6E8A-4147-A177-3AD203B41FA5}">
                      <a16:colId xmlns:a16="http://schemas.microsoft.com/office/drawing/2014/main" val="20002"/>
                    </a:ext>
                  </a:extLst>
                </a:gridCol>
              </a:tblGrid>
              <a:tr h="300000">
                <a:tc>
                  <a:txBody>
                    <a:bodyPr/>
                    <a:lstStyle/>
                    <a:p>
                      <a:pPr algn="l">
                        <a:buNone/>
                      </a:pPr>
                      <a:r>
                        <a:rPr sz="1200" b="1">
                          <a:solidFill>
                            <a:schemeClr val="tx1"/>
                          </a:solidFill>
                        </a:rPr>
                        <a:t>Who decides the answer is done</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Accuracy</a:t>
                      </a:r>
                    </a:p>
                  </a:txBody>
                  <a:tcPr marL="95250" marR="95250" marT="47625" marB="47625">
                    <a:lnB w="12700" cap="flat" cmpd="sng" algn="ctr">
                      <a:solidFill>
                        <a:schemeClr val="tx1"/>
                      </a:solidFill>
                    </a:lnB>
                    <a:noFill/>
                  </a:tcPr>
                </a:tc>
                <a:tc>
                  <a:txBody>
                    <a:bodyPr/>
                    <a:lstStyle/>
                    <a:p>
                      <a:pPr algn="l">
                        <a:buNone/>
                      </a:pPr>
                      <a:r>
                        <a:rPr sz="1200" b="1">
                          <a:solidFill>
                            <a:schemeClr val="tx1"/>
                          </a:solidFill>
                        </a:rPr>
                        <a:t>Model calls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Nobody: one call, no review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95.5%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200" b="1">
                          <a:solidFill>
                            <a:srgbClr val="28285E"/>
                          </a:solidFill>
                        </a:rPr>
                        <a:t>The model reviews itself once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91.5%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The model reviews itself twice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89.0%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a:solidFill>
                            <a:schemeClr val="tx1"/>
                          </a:solidFill>
                        </a:rPr>
                        <a:t>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2433796" y="3080000"/>
            <a:ext cx="3900000" cy="253916"/>
          </a:xfrm>
          <a:prstGeom prst="rect">
            <a:avLst/>
          </a:prstGeom>
          <a:noFill/>
        </p:spPr>
        <p:txBody>
          <a:bodyPr wrap="none">
            <a:spAutoFit/>
          </a:bodyPr>
          <a:lstStyle/>
          <a:p>
            <a:pPr algn="r"/>
            <a:r>
              <a:rPr sz="1050" i="1">
                <a:solidFill>
                  <a:schemeClr val="bg2"/>
                </a:solidFill>
              </a:rPr>
              <a:t>Table 3, Huang et al., ICLR 2024: GPT-4 on a grade-school maths benchmark</a:t>
            </a:r>
          </a:p>
        </p:txBody>
      </p:sp>
      <p:sp>
        <p:nvSpPr>
          <p:cNvPr id="5" name="Rectangle 4"/>
          <p:cNvSpPr/>
          <p:nvPr/>
        </p:nvSpPr>
        <p:spPr>
          <a:xfrm>
            <a:off x="1888761" y="387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chemeClr val="tx2"/>
                </a:solidFill>
              </a:rPr>
              <a:t>Accuracy fell and the bill went up </a:t>
            </a:r>
            <a:r>
              <a:rPr sz="1200" b="1">
                <a:solidFill>
                  <a:schemeClr val="tx2"/>
                </a:solidFill>
              </a:rPr>
              <a:t>five times over</a:t>
            </a:r>
            <a:r>
              <a:rPr sz="1200" b="0">
                <a:solidFill>
                  <a:schemeClr val="tx2"/>
                </a:solidFill>
              </a:rPr>
              <a: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verifier against sound verifier</a:t>
            </a:r>
          </a:p>
        </p:txBody>
      </p:sp>
      <p:sp>
        <p:nvSpPr>
          <p:cNvPr id="3" name="Content Placeholder 2"/>
          <p:cNvSpPr>
            <a:spLocks noGrp="1"/>
          </p:cNvSpPr>
          <p:nvPr>
            <p:ph idx="1"/>
          </p:nvPr>
        </p:nvSpPr>
        <p:spPr>
          <a:xfrm>
            <a:off x="319251" y="760000"/>
            <a:ext cx="6014545" cy="2780208"/>
          </a:xfrm>
        </p:spPr>
        <p:txBody>
          <a:bodyPr wrap="square">
            <a:normAutofit fontScale="92500"/>
          </a:bodyPr>
          <a:lstStyle/>
          <a:p>
            <a:pPr marL="0" indent="0">
              <a:buNone/>
            </a:pPr>
            <a:r>
              <a:rPr sz="1400" b="1" dirty="0">
                <a:solidFill>
                  <a:srgbClr val="28285E"/>
                </a:solidFill>
              </a:rPr>
              <a:t>A second study swapped only the verifier and left everything else alone:</a:t>
            </a:r>
          </a:p>
          <a:p>
            <a:pPr marL="400050" indent="-285750">
              <a:spcBef>
                <a:spcPts val="600"/>
              </a:spcBef>
              <a:spcAft>
                <a:spcPts val="600"/>
              </a:spcAft>
              <a:buClr>
                <a:srgbClr val="28285E"/>
              </a:buClr>
              <a:buSzPts val="1260"/>
              <a:buFont typeface="Fira Sans"/>
              <a:buChar char="●"/>
            </a:pPr>
            <a:r>
              <a:rPr sz="1400" b="1" dirty="0">
                <a:solidFill>
                  <a:schemeClr val="tx1"/>
                </a:solidFill>
              </a:rPr>
              <a:t>With the model judging. </a:t>
            </a:r>
            <a:r>
              <a:rPr sz="1400" dirty="0">
                <a:solidFill>
                  <a:schemeClr val="tx1"/>
                </a:solidFill>
              </a:rPr>
              <a:t>A graph-</a:t>
            </a:r>
            <a:r>
              <a:rPr sz="1400" dirty="0" err="1">
                <a:solidFill>
                  <a:schemeClr val="tx1"/>
                </a:solidFill>
              </a:rPr>
              <a:t>colouring</a:t>
            </a:r>
            <a:r>
              <a:rPr sz="1400" dirty="0">
                <a:solidFill>
                  <a:schemeClr val="tx1"/>
                </a:solidFill>
              </a:rPr>
              <a:t> result went from 16% to 2%, because the judge refused 95.8% of the answers that were already correct.</a:t>
            </a:r>
          </a:p>
          <a:p>
            <a:pPr marL="400050" indent="-285750">
              <a:spcBef>
                <a:spcPts val="600"/>
              </a:spcBef>
              <a:spcAft>
                <a:spcPts val="600"/>
              </a:spcAft>
              <a:buClr>
                <a:srgbClr val="28285E"/>
              </a:buClr>
              <a:buSzPts val="1260"/>
              <a:buFont typeface="Fira Sans"/>
              <a:buChar char="●"/>
            </a:pPr>
            <a:r>
              <a:rPr sz="1400" b="1" dirty="0">
                <a:solidFill>
                  <a:schemeClr val="tx1"/>
                </a:solidFill>
              </a:rPr>
              <a:t>With a sound verifier. </a:t>
            </a:r>
            <a:r>
              <a:rPr sz="1400" dirty="0">
                <a:solidFill>
                  <a:schemeClr val="tx1"/>
                </a:solidFill>
              </a:rPr>
              <a:t>The same setup reached 38%, and </a:t>
            </a:r>
            <a:r>
              <a:rPr sz="1400" b="1" dirty="0">
                <a:solidFill>
                  <a:schemeClr val="tx1"/>
                </a:solidFill>
              </a:rPr>
              <a:t>a bare accept-or-reject bit did almost as well as a detailed critique</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What that says for us. </a:t>
            </a:r>
            <a:r>
              <a:rPr sz="1400" dirty="0">
                <a:solidFill>
                  <a:schemeClr val="tx1"/>
                </a:solidFill>
              </a:rPr>
              <a:t>Our rescan is a program, but it is not sound: a renamed expression clears the alert and leaves the weakness. </a:t>
            </a:r>
            <a:r>
              <a:rPr sz="1400" dirty="0">
                <a:solidFill>
                  <a:srgbClr val="C73561"/>
                </a:solidFill>
              </a:rPr>
              <a:t>(cheap and reproducible is not the same as correct)</a:t>
            </a:r>
          </a:p>
        </p:txBody>
      </p:sp>
      <p:sp>
        <p:nvSpPr>
          <p:cNvPr id="4" name="TextBox 3"/>
          <p:cNvSpPr txBox="1"/>
          <p:nvPr/>
        </p:nvSpPr>
        <p:spPr>
          <a:xfrm>
            <a:off x="2433796" y="3640208"/>
            <a:ext cx="3900000" cy="253916"/>
          </a:xfrm>
          <a:prstGeom prst="rect">
            <a:avLst/>
          </a:prstGeom>
          <a:noFill/>
        </p:spPr>
        <p:txBody>
          <a:bodyPr wrap="none">
            <a:spAutoFit/>
          </a:bodyPr>
          <a:lstStyle/>
          <a:p>
            <a:pPr algn="r"/>
            <a:r>
              <a:rPr sz="1050" i="1">
                <a:solidFill>
                  <a:schemeClr val="bg2"/>
                </a:solidFill>
              </a:rPr>
              <a:t>Tables 1 and 2, Stechly et al., ICLR 2025</a:t>
            </a:r>
          </a:p>
        </p:txBody>
      </p:sp>
      <p:sp>
        <p:nvSpPr>
          <p:cNvPr id="5" name="Rectangle 4"/>
          <p:cNvSpPr/>
          <p:nvPr/>
        </p:nvSpPr>
        <p:spPr>
          <a:xfrm>
            <a:off x="319251" y="3980208"/>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a:solidFill>
                  <a:srgbClr val="28285E"/>
                </a:solidFill>
              </a:rPr>
              <a:t>A signal is worth </a:t>
            </a:r>
            <a:r>
              <a:rPr sz="1200" b="1">
                <a:solidFill>
                  <a:srgbClr val="28285E"/>
                </a:solidFill>
              </a:rPr>
              <a:t>what its source is worth</a:t>
            </a:r>
            <a:r>
              <a:rPr sz="1200" b="0">
                <a:solidFill>
                  <a:srgbClr val="28285E"/>
                </a:solidFill>
              </a:rPr>
              <a:t>, and that is true of the plan as much as the patch.</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the accepting decision sits</a:t>
            </a:r>
          </a:p>
        </p:txBody>
      </p:sp>
      <p:sp>
        <p:nvSpPr>
          <p:cNvPr id="3" name="Content Placeholder 2"/>
          <p:cNvSpPr>
            <a:spLocks noGrp="1"/>
          </p:cNvSpPr>
          <p:nvPr>
            <p:ph idx="1"/>
          </p:nvPr>
        </p:nvSpPr>
        <p:spPr>
          <a:xfrm>
            <a:off x="319251" y="1620000"/>
            <a:ext cx="6014545" cy="1959456"/>
          </a:xfrm>
        </p:spPr>
        <p:txBody>
          <a:bodyPr wrap="square">
            <a:normAutofit fontScale="92500"/>
          </a:bodyPr>
          <a:lstStyle/>
          <a:p>
            <a:pPr marL="0" indent="0">
              <a:buNone/>
            </a:pPr>
            <a:r>
              <a:rPr sz="1400" b="1">
                <a:solidFill>
                  <a:srgbClr val="28285E"/>
                </a:solidFill>
              </a:rPr>
              <a:t>That wiring buys two things you would otherwise have to hope for:</a:t>
            </a:r>
          </a:p>
          <a:p>
            <a:pPr marL="400050" indent="-285750">
              <a:spcBef>
                <a:spcPts val="600"/>
              </a:spcBef>
              <a:spcAft>
                <a:spcPts val="600"/>
              </a:spcAft>
              <a:buClr>
                <a:srgbClr val="28285E"/>
              </a:buClr>
              <a:buSzPts val="1260"/>
              <a:buFont typeface="Fira Sans"/>
              <a:buChar char="●"/>
            </a:pPr>
            <a:r>
              <a:rPr sz="1400" b="1">
                <a:solidFill>
                  <a:schemeClr val="tx1"/>
                </a:solidFill>
              </a:rPr>
              <a:t>Its mistakes are the affordable kind. </a:t>
            </a:r>
            <a:r>
              <a:rPr sz="1400">
                <a:solidFill>
                  <a:schemeClr val="tx1"/>
                </a:solidFill>
              </a:rPr>
              <a:t>A judge confined to refusal can waste a turn, but it cannot end a run on a patch that does not apply.</a:t>
            </a:r>
          </a:p>
          <a:p>
            <a:pPr marL="400050" indent="-285750">
              <a:spcBef>
                <a:spcPts val="600"/>
              </a:spcBef>
              <a:spcAft>
                <a:spcPts val="600"/>
              </a:spcAft>
              <a:buClr>
                <a:srgbClr val="28285E"/>
              </a:buClr>
              <a:buSzPts val="1260"/>
              <a:buFont typeface="Fira Sans"/>
              <a:buChar char="●"/>
            </a:pPr>
            <a:r>
              <a:rPr sz="1400" b="1">
                <a:solidFill>
                  <a:schemeClr val="tx1"/>
                </a:solidFill>
              </a:rPr>
              <a:t>A silent judge is recorded as silent. </a:t>
            </a:r>
            <a:r>
              <a:rPr sz="1400">
                <a:solidFill>
                  <a:schemeClr val="tx1"/>
                </a:solidFill>
              </a:rPr>
              <a:t>If the validator returns no decision the runtime records that as its own call, which keeps a machine failure and a considered refusal apart.</a:t>
            </a:r>
          </a:p>
        </p:txBody>
      </p:sp>
      <p:sp>
        <p:nvSpPr>
          <p:cNvPr id="4" name="Rectangle 3"/>
          <p:cNvSpPr/>
          <p:nvPr/>
        </p:nvSpPr>
        <p:spPr>
          <a:xfrm>
            <a:off x="319251" y="700000"/>
            <a:ext cx="6014545" cy="851842"/>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The mechanical checks keep the </a:t>
            </a:r>
            <a:r>
              <a:rPr lang="en-US" sz="1400" dirty="0">
                <a:solidFill>
                  <a:schemeClr val="tx2"/>
                </a:solidFill>
              </a:rPr>
              <a:t>gate,</a:t>
            </a:r>
            <a:r>
              <a:rPr sz="1400" dirty="0">
                <a:solidFill>
                  <a:schemeClr val="tx2"/>
                </a:solidFill>
              </a:rPr>
              <a:t> and the validator keeps the verdict. It may refuse a patch that passed all three checks, and it </a:t>
            </a:r>
            <a:r>
              <a:rPr sz="1400" b="1" dirty="0">
                <a:solidFill>
                  <a:schemeClr val="tx2"/>
                </a:solidFill>
              </a:rPr>
              <a:t>may not release one that failed them</a:t>
            </a:r>
            <a:r>
              <a:rPr sz="1400" dirty="0">
                <a:solidFill>
                  <a:schemeClr val="tx2"/>
                </a:solidFill>
              </a:rPr>
              <a:t>.</a:t>
            </a:r>
          </a:p>
        </p:txBody>
      </p:sp>
      <p:sp>
        <p:nvSpPr>
          <p:cNvPr id="5" name="Rectangle 4"/>
          <p:cNvSpPr/>
          <p:nvPr/>
        </p:nvSpPr>
        <p:spPr>
          <a:xfrm>
            <a:off x="319251" y="3879456"/>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a:solidFill>
                  <a:srgbClr val="28285E"/>
                </a:solidFill>
              </a:rPr>
              <a:t>The graph you compile settles whether the judge is the proposer. </a:t>
            </a:r>
            <a:r>
              <a:rPr sz="1200" b="1">
                <a:solidFill>
                  <a:srgbClr val="28285E"/>
                </a:solidFill>
              </a:rPr>
              <a:t>No prompt can.</a:t>
            </a:r>
          </a:p>
        </p:txBody>
      </p:sp>
    </p:spTree>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3313</TotalTime>
  <Words>11627</Words>
  <Application>Microsoft Macintosh PowerPoint</Application>
  <PresentationFormat>Custom</PresentationFormat>
  <Paragraphs>774</Paragraphs>
  <Slides>70</Slides>
  <Notes>60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70</vt:i4>
      </vt:variant>
    </vt:vector>
  </HeadingPairs>
  <TitlesOfParts>
    <vt:vector size="75" baseType="lpstr">
      <vt:lpstr>Arial</vt:lpstr>
      <vt:lpstr>Fira Sans Light</vt:lpstr>
      <vt:lpstr>Fira Sans</vt:lpstr>
      <vt:lpstr>Maple Mono NF</vt:lpstr>
      <vt:lpstr>Simple Light</vt:lpstr>
      <vt:lpstr>Designing Production Agentic Systems</vt:lpstr>
      <vt:lpstr>PowerPoint Presentation</vt:lpstr>
      <vt:lpstr>About the Instructors</vt:lpstr>
      <vt:lpstr>The key question that motivates this course</vt:lpstr>
      <vt:lpstr>What I hope you will learn…</vt:lpstr>
      <vt:lpstr>What I hope you will learn…</vt:lpstr>
      <vt:lpstr>Homework, Grades, and Exams</vt:lpstr>
      <vt:lpstr>Homework, Grades, and Exams</vt:lpstr>
      <vt:lpstr>PowerPoint Presentation</vt:lpstr>
      <vt:lpstr>PowerPoint Presentation</vt:lpstr>
      <vt:lpstr>Rational agents</vt:lpstr>
      <vt:lpstr>A demo agent: mini-swe-agent</vt:lpstr>
      <vt:lpstr>One alert, one run, one patch</vt:lpstr>
      <vt:lpstr>Why this is a rational agent</vt:lpstr>
      <vt:lpstr>When it is not</vt:lpstr>
      <vt:lpstr>The task environment</vt:lpstr>
      <vt:lpstr>Fully or partially observable</vt:lpstr>
      <vt:lpstr>Single agent or multiagent</vt:lpstr>
      <vt:lpstr>Deterministic or nondeterministic</vt:lpstr>
      <vt:lpstr>Episodic or sequential</vt:lpstr>
      <vt:lpstr>Static or dynamic</vt:lpstr>
      <vt:lpstr>Discrete or continuous</vt:lpstr>
      <vt:lpstr>Known or unknown</vt:lpstr>
      <vt:lpstr>The agent, its tools, and its environment</vt:lpstr>
      <vt:lpstr>The rest of this lecture</vt:lpstr>
      <vt:lpstr>PowerPoint Presentation</vt:lpstr>
      <vt:lpstr>A fixed workflow</vt:lpstr>
      <vt:lpstr>Understanding design decision points</vt:lpstr>
      <vt:lpstr>Understanding design decision points</vt:lpstr>
      <vt:lpstr>What the fixed shape buys</vt:lpstr>
      <vt:lpstr>What the fixed shape buys</vt:lpstr>
      <vt:lpstr>Fixed parts and open parts</vt:lpstr>
      <vt:lpstr>What the fixed shape costs</vt:lpstr>
      <vt:lpstr>Agentless: A sample realization of a workflow</vt:lpstr>
      <vt:lpstr>Agentless and SWE-agent</vt:lpstr>
      <vt:lpstr>Grains of salt</vt:lpstr>
      <vt:lpstr>PowerPoint Presentation</vt:lpstr>
      <vt:lpstr>A reactive loop</vt:lpstr>
      <vt:lpstr>The graph our first demo compiles</vt:lpstr>
      <vt:lpstr>The graph, in code: the nodes</vt:lpstr>
      <vt:lpstr>Then the edges</vt:lpstr>
      <vt:lpstr>And the conditional ones</vt:lpstr>
      <vt:lpstr>Then compile</vt:lpstr>
      <vt:lpstr>Who picks the edge</vt:lpstr>
      <vt:lpstr>One row moves</vt:lpstr>
      <vt:lpstr>What the loop buys</vt:lpstr>
      <vt:lpstr>What it costs</vt:lpstr>
      <vt:lpstr>Where the failures live</vt:lpstr>
      <vt:lpstr>Three shapes of failure</vt:lpstr>
      <vt:lpstr>The stops are ours</vt:lpstr>
      <vt:lpstr>Demo &lt;/&gt;</vt:lpstr>
      <vt:lpstr>Some samples from our run</vt:lpstr>
      <vt:lpstr>PowerPoint Presentation</vt:lpstr>
      <vt:lpstr>Challenges with React Loop</vt:lpstr>
      <vt:lpstr>Shapes of Planning</vt:lpstr>
      <vt:lpstr>What each shape does with an observation</vt:lpstr>
      <vt:lpstr>The new nodes in our planner-based demo</vt:lpstr>
      <vt:lpstr>The edge from tools now has two destinations</vt:lpstr>
      <vt:lpstr>How the runtime decides the plan has failed</vt:lpstr>
      <vt:lpstr>What a planner changes, decision by decision</vt:lpstr>
      <vt:lpstr>What a planner changes, decision by decision</vt:lpstr>
      <vt:lpstr>What one plan step records</vt:lpstr>
      <vt:lpstr>Where a run goes wrong</vt:lpstr>
      <vt:lpstr>Where a run goes wrong</vt:lpstr>
      <vt:lpstr>Why wider search does not fix myopia</vt:lpstr>
      <vt:lpstr>Why submit can no longer accept a patch</vt:lpstr>
      <vt:lpstr>Why the validator never sees the conversation</vt:lpstr>
      <vt:lpstr>Self-review, measured: accuracy and cost</vt:lpstr>
      <vt:lpstr>Model verifier against sound verifier</vt:lpstr>
      <vt:lpstr>Where the accepting decision sits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105</cp:revision>
  <dcterms:modified xsi:type="dcterms:W3CDTF">2026-09-18T14:47:03Z</dcterms:modified>
</cp:coreProperties>
</file>
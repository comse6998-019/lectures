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9"/>
  </p:notesMasterIdLst>
  <p:sldIdLst>
    <p:sldId id="256" r:id="rId2"/>
    <p:sldId id="332" r:id="rId3"/>
    <p:sldId id="259" r:id="rId4"/>
    <p:sldId id="418" r:id="rId5"/>
    <p:sldId id="266" r:id="rId6"/>
    <p:sldId id="334" r:id="rId7"/>
    <p:sldId id="333" r:id="rId8"/>
    <p:sldId id="288" r:id="rId9"/>
    <p:sldId id="336" r:id="rId10"/>
    <p:sldId id="335"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 id="409" r:id="rId72"/>
    <p:sldId id="401" r:id="rId73"/>
    <p:sldId id="402" r:id="rId74"/>
    <p:sldId id="403" r:id="rId75"/>
    <p:sldId id="404" r:id="rId76"/>
    <p:sldId id="405" r:id="rId77"/>
    <p:sldId id="406" r:id="rId78"/>
    <p:sldId id="407" r:id="rId79"/>
    <p:sldId id="408" r:id="rId80"/>
    <p:sldId id="410" r:id="rId81"/>
    <p:sldId id="411" r:id="rId82"/>
    <p:sldId id="412" r:id="rId83"/>
    <p:sldId id="413" r:id="rId84"/>
    <p:sldId id="414" r:id="rId85"/>
    <p:sldId id="415" r:id="rId86"/>
    <p:sldId id="416" r:id="rId87"/>
    <p:sldId id="417" r:id="rId88"/>
  </p:sldIdLst>
  <p:sldSz cx="6858000" cy="5143500"/>
  <p:notesSz cx="6858000" cy="9144000"/>
  <p:embeddedFontLst>
    <p:embeddedFont>
      <p:font typeface="Fira Sans" panose="020B0503050000020004" pitchFamily="34" charset="0"/>
      <p:regular r:id="rId90"/>
      <p:bold r:id="rId91"/>
      <p:italic r:id="rId92"/>
      <p:boldItalic r:id="rId93"/>
    </p:embeddedFont>
    <p:embeddedFont>
      <p:font typeface="Fira Sans Light" panose="020B0403050000020004" pitchFamily="34" charset="0"/>
      <p:regular r:id="rId94"/>
      <p:italic r:id="rId95"/>
    </p:embeddedFont>
    <p:embeddedFont>
      <p:font typeface="Maple Mono NF" panose="020F0509060000000000" pitchFamily="49"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418"/>
            <p14:sldId id="266"/>
            <p14:sldId id="334"/>
            <p14:sldId id="333"/>
            <p14:sldId id="288"/>
            <p14:sldId id="336"/>
            <p14:sldId id="335"/>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 id="409"/>
            <p14:sldId id="401"/>
            <p14:sldId id="402"/>
            <p14:sldId id="403"/>
            <p14:sldId id="404"/>
            <p14:sldId id="405"/>
            <p14:sldId id="406"/>
            <p14:sldId id="407"/>
            <p14:sldId id="408"/>
            <p14:sldId id="410"/>
            <p14:sldId id="411"/>
            <p14:sldId id="412"/>
            <p14:sldId id="413"/>
            <p14:sldId id="414"/>
            <p14:sldId id="415"/>
            <p14:sldId id="416"/>
            <p14:sldId id="41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04"/>
    <p:restoredTop sz="98401"/>
  </p:normalViewPr>
  <p:slideViewPr>
    <p:cSldViewPr snapToGrid="0">
      <p:cViewPr varScale="1">
        <p:scale>
          <a:sx n="347" d="100"/>
          <a:sy n="347" d="100"/>
        </p:scale>
        <p:origin x="192" y="3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104"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inside one agent.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at several levels.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no central orchestrator.</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checkpoints.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code the team writes.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Notifications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9"/>
            <a:ext cx="6815475" cy="1139994"/>
          </a:xfrm>
        </p:spPr>
        <p:txBody>
          <a:bodyPr/>
          <a:lstStyle/>
          <a:p>
            <a:r>
              <a:rPr lang="en-US" dirty="0"/>
              <a:t>HW1 – released before next class</a:t>
            </a:r>
          </a:p>
          <a:p>
            <a:pPr lvl="1"/>
            <a:r>
              <a:rPr lang="en-US" dirty="0"/>
              <a:t>Procuring API credits for everyone </a:t>
            </a:r>
          </a:p>
          <a:p>
            <a:pPr lvl="1"/>
            <a:r>
              <a:rPr lang="en-US" dirty="0"/>
              <a:t>Assignment groups before next week so I can plan accordingly</a:t>
            </a:r>
          </a:p>
          <a:p>
            <a:r>
              <a:rPr lang="en-US" dirty="0"/>
              <a:t>Vergil registration closes at 9:00 PM tonight</a:t>
            </a:r>
          </a:p>
        </p:txBody>
      </p:sp>
    </p:spTree>
    <p:extLst>
      <p:ext uri="{BB962C8B-B14F-4D97-AF65-F5344CB8AC3E}">
        <p14:creationId xmlns:p14="http://schemas.microsoft.com/office/powerpoint/2010/main" val="61978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01994" cy="461665"/>
          </a:xfrm>
          <a:prstGeom prst="rect">
            <a:avLst/>
          </a:prstGeom>
          <a:noFill/>
        </p:spPr>
        <p:txBody>
          <a:bodyPr wrap="none" rtlCol="0">
            <a:spAutoFit/>
          </a:bodyPr>
          <a:lstStyle/>
          <a:p>
            <a:pPr algn="l"/>
            <a:r>
              <a:rPr lang="en-US" sz="2400" b="1" dirty="0">
                <a:solidFill>
                  <a:schemeClr val="bg2"/>
                </a:solidFill>
                <a:latin typeface="+mn-lt"/>
              </a:rPr>
              <a:t>Before next class</a:t>
            </a:r>
          </a:p>
        </p:txBody>
      </p:sp>
    </p:spTree>
    <p:extLst>
      <p:ext uri="{BB962C8B-B14F-4D97-AF65-F5344CB8AC3E}">
        <p14:creationId xmlns:p14="http://schemas.microsoft.com/office/powerpoint/2010/main" val="243918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dirty="0">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 and act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Thought, action and observation repeat until an answer, a cap or an error. Orchestrated by </a:t>
            </a:r>
            <a:r>
              <a:rPr sz="1400" b="1">
                <a:solidFill>
                  <a:schemeClr val="tx2"/>
                </a:solidFill>
              </a:rPr>
              <a:t>the model, inside one agent</a:t>
            </a:r>
            <a:r>
              <a:rPr sz="1400" b="0">
                <a:solidFill>
                  <a:schemeClr val="tx2"/>
                </a:solidFill>
              </a:rPr>
              <a:t>.</a:t>
            </a:r>
          </a:p>
        </p:txBody>
      </p:sp>
      <p:pic>
        <p:nvPicPr>
          <p:cNvPr id="4" name="Picture 3" descr="gcp-react.png"/>
          <p:cNvPicPr>
            <a:picLocks noChangeAspect="1"/>
          </p:cNvPicPr>
          <p:nvPr/>
        </p:nvPicPr>
        <p:blipFill>
          <a:blip r:embed="rId3"/>
          <a:stretch>
            <a:fillRect/>
          </a:stretch>
        </p:blipFill>
        <p:spPr>
          <a:xfrm>
            <a:off x="250148" y="1684382"/>
            <a:ext cx="6152752" cy="170123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dynamic and the next move depends on what the last one returned.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one query would do: latency is higher and a misleading tool result reaches the answer.</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Sequential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Specialized agents run in a fixed linear order, each output feeding the next. Orchestrated by </a:t>
            </a:r>
            <a:r>
              <a:rPr sz="1400" b="1">
                <a:solidFill>
                  <a:schemeClr val="tx2"/>
                </a:solidFill>
              </a:rPr>
              <a:t>predefined logic</a:t>
            </a:r>
            <a:r>
              <a:rPr sz="1400" b="0">
                <a:solidFill>
                  <a:schemeClr val="tx2"/>
                </a:solidFill>
              </a:rPr>
              <a:t>.</a:t>
            </a:r>
          </a:p>
        </p:txBody>
      </p:sp>
      <p:pic>
        <p:nvPicPr>
          <p:cNvPr id="4" name="Picture 3" descr="gcp-sequential.png"/>
          <p:cNvPicPr>
            <a:picLocks noChangeAspect="1"/>
          </p:cNvPicPr>
          <p:nvPr/>
        </p:nvPicPr>
        <p:blipFill>
          <a:blip r:embed="rId3"/>
          <a:stretch>
            <a:fillRect/>
          </a:stretch>
        </p:blipFill>
        <p:spPr>
          <a:xfrm>
            <a:off x="250148" y="2195060"/>
            <a:ext cx="6152752" cy="679879"/>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dirty="0">
                <a:solidFill>
                  <a:srgbClr val="28285E"/>
                </a:solidFill>
              </a:rPr>
              <a:t>Use it when </a:t>
            </a:r>
            <a:r>
              <a:rPr sz="1200" dirty="0">
                <a:solidFill>
                  <a:schemeClr val="tx1"/>
                </a:solidFill>
              </a:rPr>
              <a:t>the process is structured and repeatable, like extract, then clean, then load.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run needs to skip a step it does not need, or one slow step holds up the rest.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Independent subagents run at the same time and a gather step synthesizes them. Orchestrated by </a:t>
            </a:r>
            <a:r>
              <a:rPr sz="1400" b="1">
                <a:solidFill>
                  <a:schemeClr val="tx2"/>
                </a:solidFill>
              </a:rPr>
              <a:t>predefined logic</a:t>
            </a:r>
            <a:r>
              <a:rPr sz="1400" b="0">
                <a:solidFill>
                  <a:schemeClr val="tx2"/>
                </a:solidFill>
              </a:rPr>
              <a:t>.</a:t>
            </a:r>
          </a:p>
        </p:txBody>
      </p:sp>
      <p:pic>
        <p:nvPicPr>
          <p:cNvPr id="4" name="Picture 3" descr="gcp-parallel.png"/>
          <p:cNvPicPr>
            <a:picLocks noChangeAspect="1"/>
          </p:cNvPicPr>
          <p:nvPr/>
        </p:nvPicPr>
        <p:blipFill>
          <a:blip r:embed="rId3"/>
          <a:stretch>
            <a:fillRect/>
          </a:stretch>
        </p:blipFill>
        <p:spPr>
          <a:xfrm>
            <a:off x="1678840" y="1450000"/>
            <a:ext cx="3295368"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genuinely splits, like collecting from several sources at once.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results can conflict: cost and token use rise at once and the join gets hard.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sequence of subagents repeats until a termination condition is met. Orchestrated by </a:t>
            </a:r>
            <a:r>
              <a:rPr sz="1400" b="1">
                <a:solidFill>
                  <a:schemeClr val="tx2"/>
                </a:solidFill>
              </a:rPr>
              <a:t>predefined logic</a:t>
            </a:r>
            <a:r>
              <a:rPr sz="1400" b="0">
                <a:solidFill>
                  <a:schemeClr val="tx2"/>
                </a:solidFill>
              </a:rPr>
              <a:t>.</a:t>
            </a:r>
          </a:p>
        </p:txBody>
      </p:sp>
      <p:pic>
        <p:nvPicPr>
          <p:cNvPr id="4" name="Picture 3" descr="gcp-loop.png"/>
          <p:cNvPicPr>
            <a:picLocks noChangeAspect="1"/>
          </p:cNvPicPr>
          <p:nvPr/>
        </p:nvPicPr>
        <p:blipFill>
          <a:blip r:embed="rId3"/>
          <a:stretch>
            <a:fillRect/>
          </a:stretch>
        </p:blipFill>
        <p:spPr>
          <a:xfrm>
            <a:off x="250148" y="1539792"/>
            <a:ext cx="6152752" cy="199041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needs iterating or self-correction before it is good enough.</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not defined: the loop runs on and spends the budget doing it.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Review and critique</a:t>
            </a:r>
          </a:p>
        </p:txBody>
      </p:sp>
      <p:sp>
        <p:nvSpPr>
          <p:cNvPr id="3" name="Rectangle 2"/>
          <p:cNvSpPr/>
          <p:nvPr/>
        </p:nvSpPr>
        <p:spPr>
          <a:xfrm>
            <a:off x="319251" y="700000"/>
            <a:ext cx="6014545" cy="69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generator produces, and a critic judges it against criteria and approves, rejects or returns feedback. Orchestrated by </a:t>
            </a:r>
            <a:r>
              <a:rPr sz="1400" b="1">
                <a:solidFill>
                  <a:schemeClr val="tx2"/>
                </a:solidFill>
              </a:rPr>
              <a:t>predefined logic, as a loop</a:t>
            </a:r>
            <a:r>
              <a:rPr sz="1400" b="0">
                <a:solidFill>
                  <a:schemeClr val="tx2"/>
                </a:solidFill>
              </a:rPr>
              <a:t>.</a:t>
            </a:r>
          </a:p>
        </p:txBody>
      </p:sp>
      <p:pic>
        <p:nvPicPr>
          <p:cNvPr id="4" name="Picture 3" descr="gcp-review-critique.png"/>
          <p:cNvPicPr>
            <a:picLocks noChangeAspect="1"/>
          </p:cNvPicPr>
          <p:nvPr/>
        </p:nvPicPr>
        <p:blipFill>
          <a:blip r:embed="rId3"/>
          <a:stretch>
            <a:fillRect/>
          </a:stretch>
        </p:blipFill>
        <p:spPr>
          <a:xfrm>
            <a:off x="250148" y="1515181"/>
            <a:ext cx="6152752" cy="2039637"/>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output has to be accurate or meet strict rules, like code that needs an audit.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speed matters: every evaluation is at least one more model call, and revisions stack.</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refinement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One or more agents improve a result held in state until a quality threshold or a cap. Orchestrated by </a:t>
            </a:r>
            <a:r>
              <a:rPr sz="1400" b="1">
                <a:solidFill>
                  <a:schemeClr val="tx2"/>
                </a:solidFill>
              </a:rPr>
              <a:t>predefined logic, as a loop</a:t>
            </a:r>
            <a:r>
              <a:rPr sz="1400" b="0">
                <a:solidFill>
                  <a:schemeClr val="tx2"/>
                </a:solidFill>
              </a:rPr>
              <a:t>.</a:t>
            </a:r>
          </a:p>
        </p:txBody>
      </p:sp>
      <p:pic>
        <p:nvPicPr>
          <p:cNvPr id="4" name="Picture 3" descr="gcp-iterative-refinement.png"/>
          <p:cNvPicPr>
            <a:picLocks noChangeAspect="1"/>
          </p:cNvPicPr>
          <p:nvPr/>
        </p:nvPicPr>
        <p:blipFill>
          <a:blip r:embed="rId3"/>
          <a:stretch>
            <a:fillRect/>
          </a:stretch>
        </p:blipFill>
        <p:spPr>
          <a:xfrm>
            <a:off x="1114496" y="1450000"/>
            <a:ext cx="44240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hard to get right in one pass, like drafting or debugging.</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vague: each cycle costs latency and money whether it helps or not.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Coordinator</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central agent reads the request, splits it, and dispatches the parts to specialists. Orchestrated by </a:t>
            </a:r>
            <a:r>
              <a:rPr sz="1400" b="1">
                <a:solidFill>
                  <a:schemeClr val="tx2"/>
                </a:solidFill>
              </a:rPr>
              <a:t>the model</a:t>
            </a:r>
            <a:r>
              <a:rPr sz="1400" b="0">
                <a:solidFill>
                  <a:schemeClr val="tx2"/>
                </a:solidFill>
              </a:rPr>
              <a:t>.</a:t>
            </a:r>
          </a:p>
        </p:txBody>
      </p:sp>
      <p:pic>
        <p:nvPicPr>
          <p:cNvPr id="4" name="Picture 3" descr="gcp-coordinator.png"/>
          <p:cNvPicPr>
            <a:picLocks noChangeAspect="1"/>
          </p:cNvPicPr>
          <p:nvPr/>
        </p:nvPicPr>
        <p:blipFill>
          <a:blip r:embed="rId3"/>
          <a:stretch>
            <a:fillRect/>
          </a:stretch>
        </p:blipFill>
        <p:spPr>
          <a:xfrm>
            <a:off x="2091465" y="1450000"/>
            <a:ext cx="2470119"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a structured process needs routing that adapts to what the request turns out to be.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single agent would do: this costs more model calls, more tokens and more latency.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Hierarchical task decomposition</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root agent decomposes, and subagents decompose again until workers can execute. Orchestrated by </a:t>
            </a:r>
            <a:r>
              <a:rPr sz="1400" b="1">
                <a:solidFill>
                  <a:schemeClr val="tx2"/>
                </a:solidFill>
              </a:rPr>
              <a:t>the model, at several levels</a:t>
            </a:r>
            <a:r>
              <a:rPr sz="1400" b="0">
                <a:solidFill>
                  <a:schemeClr val="tx2"/>
                </a:solidFill>
              </a:rPr>
              <a:t>.</a:t>
            </a:r>
          </a:p>
        </p:txBody>
      </p:sp>
      <p:pic>
        <p:nvPicPr>
          <p:cNvPr id="4" name="Picture 3" descr="gcp-hierarchical-task.png"/>
          <p:cNvPicPr>
            <a:picLocks noChangeAspect="1"/>
          </p:cNvPicPr>
          <p:nvPr/>
        </p:nvPicPr>
        <p:blipFill>
          <a:blip r:embed="rId3"/>
          <a:stretch>
            <a:fillRect/>
          </a:stretch>
        </p:blipFill>
        <p:spPr>
          <a:xfrm>
            <a:off x="1907296" y="1450000"/>
            <a:ext cx="2838456"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open-ended and needs research, planning and synthesis together.</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you have to debug it: the complexity is considerable and the model calls are many.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Swarm</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Specialists talk to one another all-to-all and refine together, with an explicit exit condition. Orchestrated by </a:t>
            </a:r>
            <a:r>
              <a:rPr sz="1400" b="1">
                <a:solidFill>
                  <a:schemeClr val="tx2"/>
                </a:solidFill>
              </a:rPr>
              <a:t>no central orchestrator</a:t>
            </a:r>
            <a:r>
              <a:rPr sz="1400" b="0">
                <a:solidFill>
                  <a:schemeClr val="tx2"/>
                </a:solidFill>
              </a:rPr>
              <a:t>.</a:t>
            </a:r>
          </a:p>
        </p:txBody>
      </p:sp>
      <p:pic>
        <p:nvPicPr>
          <p:cNvPr id="4" name="Picture 3" descr="gcp-swarm.png"/>
          <p:cNvPicPr>
            <a:picLocks noChangeAspect="1"/>
          </p:cNvPicPr>
          <p:nvPr/>
        </p:nvPicPr>
        <p:blipFill>
          <a:blip r:embed="rId3"/>
          <a:stretch>
            <a:fillRect/>
          </a:stretch>
        </p:blipFill>
        <p:spPr>
          <a:xfrm>
            <a:off x="2180196" y="1450000"/>
            <a:ext cx="22926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ambiguous and genuinely benefits from argument between perspectives.</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almost always: it is the costliest of the twelve and may never converge.</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 in the 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The agent pauses at a checkpoint and waits for a person to approve, correct or supply input. Orchestrated by </a:t>
            </a:r>
            <a:r>
              <a:rPr sz="1400" b="1">
                <a:solidFill>
                  <a:schemeClr val="tx2"/>
                </a:solidFill>
              </a:rPr>
              <a:t>predefined checkpoints</a:t>
            </a:r>
            <a:r>
              <a:rPr sz="1400" b="0">
                <a:solidFill>
                  <a:schemeClr val="tx2"/>
                </a:solidFill>
              </a:rPr>
              <a:t>.</a:t>
            </a:r>
          </a:p>
        </p:txBody>
      </p:sp>
      <p:pic>
        <p:nvPicPr>
          <p:cNvPr id="4" name="Picture 3" descr="gcp-human-in-the-loop.png"/>
          <p:cNvPicPr>
            <a:picLocks noChangeAspect="1"/>
          </p:cNvPicPr>
          <p:nvPr/>
        </p:nvPicPr>
        <p:blipFill>
          <a:blip r:embed="rId3"/>
          <a:stretch>
            <a:fillRect/>
          </a:stretch>
        </p:blipFill>
        <p:spPr>
          <a:xfrm>
            <a:off x="250148" y="1728989"/>
            <a:ext cx="6152752" cy="1612021"/>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decision is high-stakes or subjective, like a payment or a sensitive document.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there is nobody to ask: it needs an interaction system built and then maintained.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 logic</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Conditional orchestration written in code, mixing the other patterns as needed. Orchestrated by </a:t>
            </a:r>
            <a:r>
              <a:rPr sz="1400" b="1">
                <a:solidFill>
                  <a:schemeClr val="tx2"/>
                </a:solidFill>
              </a:rPr>
              <a:t>code the team writes</a:t>
            </a:r>
            <a:r>
              <a:rPr sz="1400" b="0">
                <a:solidFill>
                  <a:schemeClr val="tx2"/>
                </a:solidFill>
              </a:rPr>
              <a:t>.</a:t>
            </a:r>
          </a:p>
        </p:txBody>
      </p:sp>
      <p:sp>
        <p:nvSpPr>
          <p:cNvPr id="4" name="Rectangle 3"/>
          <p:cNvSpPr/>
          <p:nvPr/>
        </p:nvSpPr>
        <p:spPr>
          <a:xfrm>
            <a:off x="319251"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branching goes beyond a linear sequence, or fixed rules mix with model reasoning.</a:t>
            </a:r>
          </a:p>
        </p:txBody>
      </p:sp>
      <p:sp>
        <p:nvSpPr>
          <p:cNvPr id="5" name="Rectangle 4"/>
          <p:cNvSpPr/>
          <p:nvPr/>
        </p:nvSpPr>
        <p:spPr>
          <a:xfrm>
            <a:off x="3419857"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named pattern already fits: the team now owns and debugs the whole flow.</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 ownership</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Who owns the whole task, and who owns only a piece of it.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Coordinator</a:t>
            </a:r>
          </a:p>
          <a:p>
            <a:pPr algn="l">
              <a:spcBef>
                <a:spcPts val="600"/>
              </a:spcBef>
            </a:pPr>
            <a:r>
              <a:rPr sz="1200" dirty="0">
                <a:solidFill>
                  <a:schemeClr val="tx1"/>
                </a:solidFill>
              </a:rPr>
              <a:t>The </a:t>
            </a:r>
            <a:r>
              <a:rPr sz="1200" b="1" dirty="0">
                <a:solidFill>
                  <a:schemeClr val="tx1"/>
                </a:solidFill>
              </a:rPr>
              <a:t>coordinator owns the task and delegates pieces</a:t>
            </a:r>
            <a:r>
              <a:rPr sz="1200" dirty="0">
                <a:solidFill>
                  <a:schemeClr val="tx1"/>
                </a:solidFill>
              </a:rPr>
              <a:t>; a specialist owns only its piece.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Hierarchical</a:t>
            </a:r>
          </a:p>
          <a:p>
            <a:pPr algn="l">
              <a:spcBef>
                <a:spcPts val="600"/>
              </a:spcBef>
            </a:pPr>
            <a:r>
              <a:rPr sz="1200" dirty="0">
                <a:solidFill>
                  <a:schemeClr val="tx1"/>
                </a:solidFill>
              </a:rPr>
              <a:t>Ownership is </a:t>
            </a:r>
            <a:r>
              <a:rPr sz="1200" b="1" dirty="0">
                <a:solidFill>
                  <a:schemeClr val="tx1"/>
                </a:solidFill>
              </a:rPr>
              <a:t>nested</a:t>
            </a:r>
            <a:r>
              <a:rPr sz="1200" dirty="0">
                <a:solidFill>
                  <a:schemeClr val="tx1"/>
                </a:solidFill>
              </a:rPr>
              <a:t>: each level </a:t>
            </a:r>
            <a:r>
              <a:rPr sz="1200" b="1" dirty="0">
                <a:solidFill>
                  <a:schemeClr val="tx1"/>
                </a:solidFill>
              </a:rPr>
              <a:t>owns the</a:t>
            </a:r>
            <a:r>
              <a:rPr sz="1200" dirty="0">
                <a:solidFill>
                  <a:schemeClr val="tx1"/>
                </a:solidFill>
              </a:rPr>
              <a:t> </a:t>
            </a:r>
            <a:r>
              <a:rPr sz="1200" b="1" dirty="0">
                <a:solidFill>
                  <a:schemeClr val="tx1"/>
                </a:solidFill>
              </a:rPr>
              <a:t>decomposition</a:t>
            </a:r>
            <a:r>
              <a:rPr sz="1200" dirty="0">
                <a:solidFill>
                  <a:schemeClr val="tx1"/>
                </a:solidFill>
              </a:rPr>
              <a:t> it made.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Parallel</a:t>
            </a:r>
          </a:p>
          <a:p>
            <a:pPr algn="l">
              <a:spcBef>
                <a:spcPts val="600"/>
              </a:spcBef>
            </a:pPr>
            <a:r>
              <a:rPr sz="1200" dirty="0">
                <a:solidFill>
                  <a:schemeClr val="tx1"/>
                </a:solidFill>
              </a:rPr>
              <a:t>Each </a:t>
            </a:r>
            <a:r>
              <a:rPr sz="1200" b="1" dirty="0">
                <a:solidFill>
                  <a:schemeClr val="tx1"/>
                </a:solidFill>
              </a:rPr>
              <a:t>worker owns one independent piece</a:t>
            </a:r>
            <a:r>
              <a:rPr sz="1200" dirty="0">
                <a:solidFill>
                  <a:schemeClr val="tx1"/>
                </a:solidFill>
              </a:rPr>
              <a:t>; the </a:t>
            </a:r>
            <a:r>
              <a:rPr sz="1200" b="1" dirty="0">
                <a:solidFill>
                  <a:schemeClr val="tx1"/>
                </a:solidFill>
              </a:rPr>
              <a:t>gather step owns the whole</a:t>
            </a:r>
            <a:r>
              <a:rPr sz="1200" dirty="0">
                <a:solidFill>
                  <a:schemeClr val="tx1"/>
                </a:solidFill>
              </a:rPr>
              <a:t>.</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Review and critique</a:t>
            </a:r>
          </a:p>
          <a:p>
            <a:pPr algn="l">
              <a:spcBef>
                <a:spcPts val="600"/>
              </a:spcBef>
            </a:pPr>
            <a:r>
              <a:rPr lang="en-US" sz="1200" dirty="0">
                <a:solidFill>
                  <a:schemeClr val="tx1"/>
                </a:solidFill>
              </a:rPr>
              <a:t>T</a:t>
            </a:r>
            <a:r>
              <a:rPr sz="1200" dirty="0">
                <a:solidFill>
                  <a:schemeClr val="tx1"/>
                </a:solidFill>
              </a:rPr>
              <a:t>he generator owns the candidate</a:t>
            </a:r>
            <a:r>
              <a:rPr lang="en-US" sz="1200" dirty="0">
                <a:solidFill>
                  <a:schemeClr val="tx1"/>
                </a:solidFill>
              </a:rPr>
              <a:t> and</a:t>
            </a:r>
            <a:r>
              <a:rPr sz="1200" dirty="0">
                <a:solidFill>
                  <a:schemeClr val="tx1"/>
                </a:solidFill>
              </a:rPr>
              <a:t> the critic owns acceptance.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boundaries</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each component can see, and what has to </a:t>
            </a:r>
            <a:r>
              <a:rPr sz="1400" b="1">
                <a:solidFill>
                  <a:schemeClr val="tx2"/>
                </a:solidFill>
              </a:rPr>
              <a:t>cross</a:t>
            </a:r>
            <a:r>
              <a:rPr sz="1400" b="0">
                <a:solidFill>
                  <a:schemeClr val="tx2"/>
                </a:solidFill>
              </a:rPr>
              <a:t> from one to another.</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coordinator's context and each specialist's are separate; what crosses is what the coordinator passes.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state boundary per level, and partial results cross upward.</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One state record per worker; the join reads all of them.</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Unchanged: one record, with the critic's reasons added to it.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Model-call overhead</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many model calls the shape adds </a:t>
            </a:r>
            <a:r>
              <a:rPr sz="1400" b="1">
                <a:solidFill>
                  <a:schemeClr val="tx2"/>
                </a:solidFill>
              </a:rPr>
              <a:t>on top of the work itself</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One routing call per request, plus the specialists' calls.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Multiplied by the depth of the hierarchy.</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The sum of the workers' calls, run concurrently.</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One evaluator call per candidate, plus one per revision.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Latency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much wall-clock time the shape adds to a single request.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call sits on the critical path.</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Each level adds a round trip.</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Reduced to the slowest worker plus the join.</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Each revision adds a round trip.</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Failure propagation</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Where a mistake goes after it is made, and who is in a position to </a:t>
            </a:r>
            <a:r>
              <a:rPr sz="1400" b="1">
                <a:solidFill>
                  <a:schemeClr val="tx2"/>
                </a:solidFill>
              </a:rPr>
              <a:t>notice</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A misrouted task fails inside the wrong specialist, and the coordinator may not notice.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wrong decomposition propagates downward and its cost multiplies.</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Contained per worker until the join, where a missing piece blocks the whole.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A critic that accepts a wrong candidate passes it on; one that rejects a right one costs a revision.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Inspectability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someone reading the trace afterwards can reconstruct about </a:t>
            </a:r>
            <a:r>
              <a:rPr sz="1400" b="1">
                <a:solidFill>
                  <a:schemeClr val="tx2"/>
                </a:solidFill>
              </a:rPr>
              <a:t>who decided what</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decision and its reasons are in the trace, if we recorded them.</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Traces nest, so which level decided what has to stay recoverable.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Traces interleave, so which worker wrote what has to stay recoverable.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Improved: acceptance now carries its reasons.</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3366</TotalTime>
  <Words>13473</Words>
  <Application>Microsoft Macintosh PowerPoint</Application>
  <PresentationFormat>Custom</PresentationFormat>
  <Paragraphs>918</Paragraphs>
  <Slides>87</Slides>
  <Notes>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87</vt:i4>
      </vt:variant>
    </vt:vector>
  </HeadingPairs>
  <TitlesOfParts>
    <vt:vector size="92" baseType="lpstr">
      <vt:lpstr>Arial</vt:lpstr>
      <vt:lpstr>Fira Sans Light</vt:lpstr>
      <vt:lpstr>Fira Sans</vt:lpstr>
      <vt:lpstr>Maple Mono NF</vt:lpstr>
      <vt:lpstr>Simple Light</vt:lpstr>
      <vt:lpstr>Designing Production Agentic Systems</vt:lpstr>
      <vt:lpstr>PowerPoint Presentation</vt:lpstr>
      <vt:lpstr>About the Instructors</vt:lpstr>
      <vt:lpstr>Class Notifications</vt:lpstr>
      <vt:lpstr>The key question that motivates this course</vt:lpstr>
      <vt:lpstr>What I hope you will learn…</vt:lpstr>
      <vt:lpstr>What I hope you will learn…</vt:lpstr>
      <vt:lpstr>Homework, Grades, and Exams</vt:lpstr>
      <vt:lpstr>Homework, Grades, and Exams</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Reason and act</vt:lpstr>
      <vt:lpstr>Sequential</vt:lpstr>
      <vt:lpstr>Parallel</vt:lpstr>
      <vt:lpstr>Loop</vt:lpstr>
      <vt:lpstr>Review and critique</vt:lpstr>
      <vt:lpstr>Iterative refinement</vt:lpstr>
      <vt:lpstr>Coordinator</vt:lpstr>
      <vt:lpstr>Hierarchical task decomposition</vt:lpstr>
      <vt:lpstr>Swarm</vt:lpstr>
      <vt:lpstr>Human in the loop</vt:lpstr>
      <vt:lpstr>Custom logic</vt:lpstr>
      <vt:lpstr>Task ownership</vt:lpstr>
      <vt:lpstr>State boundaries</vt:lpstr>
      <vt:lpstr>Model-call overhead</vt:lpstr>
      <vt:lpstr>Latency</vt:lpstr>
      <vt:lpstr>Failure propagation</vt:lpstr>
      <vt:lpstr>Inspectability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120</cp:revision>
  <dcterms:modified xsi:type="dcterms:W3CDTF">2026-09-18T16:41:10Z</dcterms:modified>
</cp:coreProperties>
</file>
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4" r:id="rId56"/>
    <p:sldId id="383" r:id="rId57"/>
    <p:sldId id="399" r:id="rId58"/>
    <p:sldId id="385" r:id="rId59"/>
    <p:sldId id="386" r:id="rId60"/>
    <p:sldId id="387" r:id="rId61"/>
    <p:sldId id="388" r:id="rId62"/>
    <p:sldId id="389" r:id="rId63"/>
    <p:sldId id="390" r:id="rId64"/>
    <p:sldId id="391" r:id="rId65"/>
    <p:sldId id="398" r:id="rId66"/>
    <p:sldId id="392" r:id="rId67"/>
    <p:sldId id="393" r:id="rId68"/>
    <p:sldId id="394" r:id="rId69"/>
    <p:sldId id="395" r:id="rId70"/>
    <p:sldId id="396" r:id="rId71"/>
  </p:sldIdLst>
  <p:sldSz cx="6858000" cy="5143500"/>
  <p:notesSz cx="6858000" cy="9144000"/>
  <p:embeddedFontLst>
    <p:embeddedFont>
      <p:font typeface="Fira Sans" panose="020B0503050000020004" pitchFamily="34" charset="0"/>
      <p:regular r:id="rId73"/>
      <p:bold r:id="rId74"/>
      <p:italic r:id="rId75"/>
      <p:boldItalic r:id="rId76"/>
    </p:embeddedFont>
    <p:embeddedFont>
      <p:font typeface="Fira Sans Light" panose="020B0403050000020004" pitchFamily="34" charset="0"/>
      <p:regular r:id="rId77"/>
      <p:italic r:id="rId78"/>
    </p:embeddedFont>
    <p:embeddedFont>
      <p:font typeface="Maple Mono NF" panose="020F0509060000000000" pitchFamily="49"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4"/>
            <p14:sldId id="383"/>
            <p14:sldId id="399"/>
            <p14:sldId id="385"/>
            <p14:sldId id="386"/>
            <p14:sldId id="387"/>
            <p14:sldId id="388"/>
            <p14:sldId id="389"/>
            <p14:sldId id="390"/>
            <p14:sldId id="391"/>
            <p14:sldId id="398"/>
            <p14:sldId id="392"/>
            <p14:sldId id="393"/>
            <p14:sldId id="394"/>
            <p14:sldId id="395"/>
            <p14:sldId id="39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9"/>
    <p:restoredTop sz="98401"/>
  </p:normalViewPr>
  <p:slideViewPr>
    <p:cSldViewPr snapToGrid="0">
      <p:cViewPr varScale="1">
        <p:scale>
          <a:sx n="358" d="100"/>
          <a:sy n="358" d="100"/>
        </p:scale>
        <p:origin x="3960"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font" Target="fonts/font1.fntdata"/><Relationship Id="rId74" Type="http://schemas.openxmlformats.org/officeDocument/2006/relationships/font" Target="fonts/font2.fntdata"/><Relationship Id="rId75" Type="http://schemas.openxmlformats.org/officeDocument/2006/relationships/font" Target="fonts/font3.fntdata"/><Relationship Id="rId76" Type="http://schemas.openxmlformats.org/officeDocument/2006/relationships/font" Target="fonts/font4.fntdata"/><Relationship Id="rId77" Type="http://schemas.openxmlformats.org/officeDocument/2006/relationships/font" Target="fonts/font5.fntdata"/><Relationship Id="rId78" Type="http://schemas.openxmlformats.org/officeDocument/2006/relationships/font" Target="fonts/font6.fntdata"/><Relationship Id="rId79" Type="http://schemas.openxmlformats.org/officeDocument/2006/relationships/font" Target="fonts/font7.fntdata"/><Relationship Id="rId80" Type="http://schemas.openxmlformats.org/officeDocument/2006/relationships/font" Target="fonts/font8.fntdata"/><Relationship Id="rId81" Type="http://schemas.openxmlformats.org/officeDocument/2006/relationships/font" Target="fonts/font9.fntdata"/><Relationship Id="rId82" Type="http://schemas.openxmlformats.org/officeDocument/2006/relationships/font" Target="fonts/font10.fnt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 Id="rId8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rk3080@columbia.edu" TargetMode="External"/><Relationship Id="rId3" Type="http://schemas.openxmlformats.org/officeDocument/2006/relationships/hyperlink" Target="mailto:ik2619@columbia.edu" TargetMode="Externa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a:solidFill>
                  <a:schemeClr val="tx1"/>
                </a:solidFill>
              </a:rPr>
              <a:t>Measure progress. </a:t>
            </a:r>
            <a:r>
              <a:rPr sz="1400" b="0">
                <a:solidFill>
                  <a:schemeClr val="tx1"/>
                </a:solidFill>
              </a:rPr>
              <a:t>Seeing that an observation is new is easy. Knowing whether the step in hand has finished is not.</a:t>
            </a:r>
          </a:p>
          <a:p>
            <a:pPr marL="400050" indent="-285750">
              <a:spcBef>
                <a:spcPts val="600"/>
              </a:spcBef>
              <a:spcAft>
                <a:spcPts val="600"/>
              </a:spcAft>
              <a:buClr>
                <a:srgbClr val="28285E"/>
              </a:buClr>
              <a:buSzPts val="1260"/>
              <a:buFont typeface="Fira Sans"/>
              <a:buChar char="●"/>
            </a:pPr>
            <a:r>
              <a:rPr sz="1400" b="1">
                <a:solidFill>
                  <a:schemeClr val="tx1"/>
                </a:solidFill>
              </a:rPr>
              <a:t>Show its intent. </a:t>
            </a:r>
            <a:r>
              <a:rPr sz="1400" b="0">
                <a:solidFill>
                  <a:schemeClr val="tx1"/>
                </a:solidFill>
              </a:rPr>
              <a:t>Halfway through a run the trace holds four thoughts and nothing that says where the run was going.</a:t>
            </a:r>
          </a:p>
          <a:p>
            <a:pPr marL="400050" indent="-285750">
              <a:spcBef>
                <a:spcPts val="600"/>
              </a:spcBef>
              <a:spcAft>
                <a:spcPts val="600"/>
              </a:spcAft>
              <a:buClr>
                <a:srgbClr val="28285E"/>
              </a:buClr>
              <a:buSzPts val="1260"/>
              <a:buFont typeface="Fira Sans"/>
              <a:buChar char="●"/>
            </a:pPr>
            <a:r>
              <a:rPr sz="1400" b="1">
                <a:solidFill>
                  <a:schemeClr val="tx1"/>
                </a:solidFill>
              </a:rPr>
              <a:t>Change course. </a:t>
            </a:r>
            <a:r>
              <a:rPr sz="1400" b="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Our reactive loop remembers everything it has seen. What it never records is what the run set out to do, so the program cannot tell a turn that </a:t>
            </a:r>
            <a:r>
              <a:rPr sz="1400" b="1">
                <a:solidFill>
                  <a:schemeClr val="tx2"/>
                </a:solidFill>
              </a:rPr>
              <a:t>helped</a:t>
            </a:r>
            <a:r>
              <a:rPr sz="1400" b="0">
                <a:solidFill>
                  <a:schemeClr val="tx2"/>
                </a:solidFill>
              </a:rPr>
              <a:t> from a turn that merely </a:t>
            </a:r>
            <a:r>
              <a:rPr sz="1400" b="1">
                <a:solidFill>
                  <a:schemeClr val="tx2"/>
                </a:solidFill>
              </a:rPr>
              <a:t>happened</a:t>
            </a:r>
            <a:r>
              <a:rPr sz="1400" b="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lets the program check its own progress.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3"/>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our planner-based demo compiles</a:t>
            </a:r>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79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
        <p:nvSpPr>
          <p:cNvPr id="6" name="Rectangle 5"/>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extLst>
      <p:ext uri="{BB962C8B-B14F-4D97-AF65-F5344CB8AC3E}">
        <p14:creationId xmlns:p14="http://schemas.microsoft.com/office/powerpoint/2010/main" val="2396986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3339</TotalTime>
  <Words>11578</Words>
  <Application>Microsoft Macintosh PowerPoint</Application>
  <PresentationFormat>Custom</PresentationFormat>
  <Paragraphs>781</Paragraphs>
  <Slides>70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What each shape does with an observation</vt:lpstr>
      <vt:lpstr>Shapes of Planning</vt:lpstr>
      <vt:lpstr>The graph our planner-based demo compiles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114</cp:revision>
  <dcterms:modified xsi:type="dcterms:W3CDTF">2026-09-18T15:38:18Z</dcterms:modified>
</cp:coreProperties>
</file>
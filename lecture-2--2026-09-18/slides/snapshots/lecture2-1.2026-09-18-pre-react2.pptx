
<file path=[Content_Types].xml><?xml version="1.0" encoding="utf-8"?>
<Types xmlns="http://schemas.openxmlformats.org/package/2006/content-types">
  <Default Extension="fntdata" ContentType="application/x-fontdata"/>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slides/slide49.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comments/modernComment_155_0.xml" ContentType="application/vnd.ms-powerpoint.comments+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comments/modernComment_178_0.xml" ContentType="application/vnd.ms-powerpoint.comments+xml"/>
  <Override PartName="/ppt/notesSlides/notesSlide40.xml" ContentType="application/vnd.openxmlformats-officedocument.presentationml.notesSlide+xml"/>
  <Override PartName="/ppt/authors.xml" ContentType="application/vnd.ms-powerpoint.authors+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officeDocument/2006/relationships/extended-properties" Target="docProps/app.xml"/><Relationship Id="rId2" Type="http://schemas.openxmlformats.org/package/2006/relationships/metadata/core-properties" Target="docProps/core.xml"/><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embedTrueTypeFonts="1" saveSubsetFonts="1" autoCompressPictures="0">
  <p:sldMasterIdLst>
    <p:sldMasterId id="2147483659" r:id="rId1"/>
  </p:sldMasterIdLst>
  <p:notesMasterIdLst>
    <p:notesMasterId r:id="rId51"/>
  </p:notesMasterIdLst>
  <p:sldIdLst>
    <p:sldId id="256" r:id="rId2"/>
    <p:sldId id="332" r:id="rId3"/>
    <p:sldId id="259" r:id="rId4"/>
    <p:sldId id="266" r:id="rId5"/>
    <p:sldId id="334" r:id="rId6"/>
    <p:sldId id="333" r:id="rId7"/>
    <p:sldId id="288" r:id="rId8"/>
    <p:sldId id="336" r:id="rId9"/>
    <p:sldId id="335" r:id="rId10"/>
    <p:sldId id="293" r:id="rId11"/>
    <p:sldId id="337" r:id="rId12"/>
    <p:sldId id="338" r:id="rId13"/>
    <p:sldId id="339" r:id="rId14"/>
    <p:sldId id="340" r:id="rId15"/>
    <p:sldId id="341" r:id="rId16"/>
    <p:sldId id="342" r:id="rId17"/>
    <p:sldId id="343" r:id="rId18"/>
    <p:sldId id="344" r:id="rId19"/>
    <p:sldId id="345" r:id="rId20"/>
    <p:sldId id="346" r:id="rId21"/>
    <p:sldId id="347" r:id="rId22"/>
    <p:sldId id="348" r:id="rId23"/>
    <p:sldId id="349" r:id="rId24"/>
    <p:sldId id="350" r:id="rId25"/>
    <p:sldId id="362" r:id="rId26"/>
    <p:sldId id="364" r:id="rId27"/>
    <p:sldId id="352" r:id="rId28"/>
    <p:sldId id="353" r:id="rId29"/>
    <p:sldId id="355" r:id="rId30"/>
    <p:sldId id="354" r:id="rId31"/>
    <p:sldId id="356" r:id="rId32"/>
    <p:sldId id="357" r:id="rId33"/>
    <p:sldId id="358" r:id="rId34"/>
    <p:sldId id="359" r:id="rId35"/>
    <p:sldId id="360" r:id="rId36"/>
    <p:sldId id="361" r:id="rId37"/>
    <p:sldId id="365" r:id="rId38"/>
    <p:sldId id="366" r:id="rId39"/>
    <p:sldId id="367" r:id="rId40"/>
    <p:sldId id="368" r:id="rId41"/>
    <p:sldId id="369" r:id="rId42"/>
    <p:sldId id="370" r:id="rId43"/>
    <p:sldId id="371" r:id="rId44"/>
    <p:sldId id="372" r:id="rId45"/>
    <p:sldId id="373" r:id="rId46"/>
    <p:sldId id="374" r:id="rId47"/>
    <p:sldId id="375" r:id="rId48"/>
    <p:sldId id="376" r:id="rId49"/>
    <p:sldId id="377" r:id="rId50"/>
  </p:sldIdLst>
  <p:sldSz cx="6858000" cy="5143500"/>
  <p:notesSz cx="6858000" cy="9144000"/>
  <p:embeddedFontLst>
    <p:embeddedFont>
      <p:font typeface="Fira Sans" panose="020B0503050000020004" pitchFamily="34" charset="0"/>
      <p:regular r:id="rId52"/>
      <p:bold r:id="rId53"/>
      <p:italic r:id="rId54"/>
      <p:boldItalic r:id="rId55"/>
    </p:embeddedFont>
    <p:embeddedFont>
      <p:font typeface="Fira Sans Light" panose="020B0403050000020004" pitchFamily="34" charset="0"/>
      <p:regular r:id="rId56"/>
      <p:italic r:id="rId57"/>
    </p:embeddedFont>
    <p:embeddedFont>
      <p:font typeface="Maple Mono NF" panose="020F0509060000000000" pitchFamily="49" charset="0"/>
      <p:regular r:id="rId58"/>
      <p:bold r:id="rId59"/>
      <p:italic r:id="rId60"/>
      <p:boldItalic r:id="rId61"/>
    </p:embeddedFont>
  </p:embeddedFontLst>
  <p:defaultText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defaultTextStyle>
  <p:extLst>
    <p:ext uri="{521415D9-36F7-43E2-AB2F-B90AF26B5E84}">
      <p14:sectionLst xmlns:p14="http://schemas.microsoft.com/office/powerpoint/2010/main">
        <p14:section name="Default Section" id="{11472A5C-5B19-564B-9CD5-BBC972F9C943}">
          <p14:sldIdLst>
            <p14:sldId id="256"/>
            <p14:sldId id="332"/>
            <p14:sldId id="259"/>
            <p14:sldId id="266"/>
            <p14:sldId id="334"/>
            <p14:sldId id="333"/>
            <p14:sldId id="288"/>
            <p14:sldId id="336"/>
            <p14:sldId id="335"/>
            <p14:sldId id="293"/>
            <p14:sldId id="337"/>
            <p14:sldId id="338"/>
            <p14:sldId id="339"/>
            <p14:sldId id="340"/>
            <p14:sldId id="341"/>
            <p14:sldId id="342"/>
            <p14:sldId id="343"/>
            <p14:sldId id="344"/>
            <p14:sldId id="345"/>
            <p14:sldId id="346"/>
            <p14:sldId id="347"/>
            <p14:sldId id="348"/>
            <p14:sldId id="349"/>
            <p14:sldId id="350"/>
            <p14:sldId id="362"/>
            <p14:sldId id="364"/>
            <p14:sldId id="352"/>
            <p14:sldId id="353"/>
            <p14:sldId id="355"/>
            <p14:sldId id="354"/>
            <p14:sldId id="356"/>
            <p14:sldId id="357"/>
            <p14:sldId id="358"/>
            <p14:sldId id="359"/>
            <p14:sldId id="360"/>
            <p14:sldId id="361"/>
            <p14:sldId id="365"/>
            <p14:sldId id="366"/>
            <p14:sldId id="367"/>
            <p14:sldId id="368"/>
            <p14:sldId id="369"/>
            <p14:sldId id="370"/>
            <p14:sldId id="371"/>
            <p14:sldId id="372"/>
            <p14:sldId id="373"/>
            <p14:sldId id="374"/>
            <p14:sldId id="375"/>
            <p14:sldId id="376"/>
            <p14:sldId id="377"/>
          </p14:sldIdLst>
        </p14:section>
      </p14:sectionLst>
    </p:ext>
    <p:ext uri="{EFAFB233-063F-42B5-8137-9DF3F51BA10A}">
      <p15:sldGuideLst xmlns:p15="http://schemas.microsoft.com/office/powerpoint/2012/main">
        <p15:guide id="1" orient="horz" pos="1620" userDrawn="1">
          <p15:clr>
            <a:srgbClr val="747775"/>
          </p15:clr>
        </p15:guide>
        <p15:guide id="2" pos="2160" userDrawn="1">
          <p15:clr>
            <a:srgbClr val="747775"/>
          </p15:clr>
        </p15:guide>
      </p15:sldGuideLst>
    </p:ext>
  </p:extLst>
</p:presentation>
</file>

<file path=ppt/authors.xml><?xml version="1.0" encoding="utf-8"?>
<p188:authorLst xmlns:a="http://schemas.openxmlformats.org/drawingml/2006/main" xmlns:r="http://schemas.openxmlformats.org/officeDocument/2006/relationships" xmlns:p188="http://schemas.microsoft.com/office/powerpoint/2018/8/main">
  <p188:author id="{BBF72F71-1B05-876B-1723-EC4BFB4CF1F1}" name="Rahul Krishna" initials="RK" userId="1aea23c7798fb80d" providerId="Windows Live"/>
</p188:authorLst>
</file>

<file path=ppt/presProps.xml><?xml version="1.0" encoding="utf-8"?>
<p:presentationPr xmlns:a="http://schemas.openxmlformats.org/drawingml/2006/main" xmlns:r="http://schemas.openxmlformats.org/officeDocument/2006/relationships" xmlns:p="http://schemas.openxmlformats.org/presentationml/2006/main">
  <p:clrMru>
    <a:srgbClr val="2A2A63"/>
    <a:srgbClr val="235751"/>
    <a:srgbClr val="EBF8ED"/>
    <a:srgbClr val="FEF8E1"/>
    <a:srgbClr val="EEF6FF"/>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No Style, No Grid">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073A0DAA-6AF3-43AB-8588-CEC1D06C72B9}" styleName="Medium Style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21E4AEA4-8DFA-4A89-87EB-49C32662AFE0}" styleName="Medium Style 2 - Accent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2">
              <a:tint val="20000"/>
            </a:schemeClr>
          </a:solidFill>
        </a:fill>
      </a:tcStyle>
    </a:wholeTbl>
    <a:band1H>
      <a:tcStyle>
        <a:tcBdr/>
        <a:fill>
          <a:solidFill>
            <a:schemeClr val="accent2">
              <a:tint val="40000"/>
            </a:schemeClr>
          </a:solidFill>
        </a:fill>
      </a:tcStyle>
    </a:band1H>
    <a:band2H>
      <a:tcStyle>
        <a:tcBdr/>
      </a:tcStyle>
    </a:band2H>
    <a:band1V>
      <a:tcStyle>
        <a:tcBdr/>
        <a:fill>
          <a:solidFill>
            <a:schemeClr val="accent2">
              <a:tint val="40000"/>
            </a:schemeClr>
          </a:solidFill>
        </a:fill>
      </a:tcStyle>
    </a:band1V>
    <a:band2V>
      <a:tcStyle>
        <a:tcBdr/>
      </a:tcStyle>
    </a:band2V>
    <a:lastCol>
      <a:tcTxStyle b="on">
        <a:fontRef idx="minor">
          <a:prstClr val="black"/>
        </a:fontRef>
        <a:schemeClr val="lt1"/>
      </a:tcTxStyle>
      <a:tcStyle>
        <a:tcBdr/>
        <a:fill>
          <a:solidFill>
            <a:schemeClr val="accent2"/>
          </a:solidFill>
        </a:fill>
      </a:tcStyle>
    </a:lastCol>
    <a:firstCol>
      <a:tcTxStyle b="on">
        <a:fontRef idx="minor">
          <a:prstClr val="black"/>
        </a:fontRef>
        <a:schemeClr val="lt1"/>
      </a:tcTxStyle>
      <a:tcStyle>
        <a:tcBdr/>
        <a:fill>
          <a:solidFill>
            <a:schemeClr val="accent2"/>
          </a:solidFill>
        </a:fill>
      </a:tcStyle>
    </a:firstCol>
    <a:lastRow>
      <a:tcTxStyle b="on">
        <a:fontRef idx="minor">
          <a:prstClr val="black"/>
        </a:fontRef>
        <a:schemeClr val="lt1"/>
      </a:tcTxStyle>
      <a:tcStyle>
        <a:tcBdr>
          <a:top>
            <a:ln w="38100" cmpd="sng">
              <a:solidFill>
                <a:schemeClr val="lt1"/>
              </a:solidFill>
            </a:ln>
          </a:top>
        </a:tcBdr>
        <a:fill>
          <a:solidFill>
            <a:schemeClr val="accent2"/>
          </a:solidFill>
        </a:fill>
      </a:tcStyle>
    </a:lastRow>
    <a:firstRow>
      <a:tcTxStyle b="on">
        <a:fontRef idx="minor">
          <a:prstClr val="black"/>
        </a:fontRef>
        <a:schemeClr val="lt1"/>
      </a:tcTxStyle>
      <a:tcStyle>
        <a:tcBdr>
          <a:bottom>
            <a:ln w="38100" cmpd="sng">
              <a:solidFill>
                <a:schemeClr val="lt1"/>
              </a:solidFill>
            </a:ln>
          </a:bottom>
        </a:tcBdr>
        <a:fill>
          <a:solidFill>
            <a:schemeClr val="accent2"/>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5625"/>
    <p:restoredTop sz="98401"/>
  </p:normalViewPr>
  <p:slideViewPr>
    <p:cSldViewPr snapToGrid="0">
      <p:cViewPr varScale="1">
        <p:scale>
          <a:sx n="358" d="100"/>
          <a:sy n="358" d="100"/>
        </p:scale>
        <p:origin x="2456" y="176"/>
      </p:cViewPr>
      <p:guideLst>
        <p:guide orient="horz" pos="1620"/>
        <p:guide pos="216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26" Type="http://schemas.openxmlformats.org/officeDocument/2006/relationships/slide" Target="slides/slide25.xml"/><Relationship Id="rId21" Type="http://schemas.openxmlformats.org/officeDocument/2006/relationships/slide" Target="slides/slide20.xml"/><Relationship Id="rId34" Type="http://schemas.openxmlformats.org/officeDocument/2006/relationships/slide" Target="slides/slide33.xml"/><Relationship Id="rId42" Type="http://schemas.openxmlformats.org/officeDocument/2006/relationships/slide" Target="slides/slide41.xml"/><Relationship Id="rId47" Type="http://schemas.openxmlformats.org/officeDocument/2006/relationships/slide" Target="slides/slide46.xml"/><Relationship Id="rId50" Type="http://schemas.openxmlformats.org/officeDocument/2006/relationships/slide" Target="slides/slide49.xml"/><Relationship Id="rId55" Type="http://schemas.openxmlformats.org/officeDocument/2006/relationships/font" Target="fonts/font4.fntdata"/><Relationship Id="rId63" Type="http://schemas.openxmlformats.org/officeDocument/2006/relationships/viewProps" Target="viewProps.xml"/><Relationship Id="rId7" Type="http://schemas.openxmlformats.org/officeDocument/2006/relationships/slide" Target="slides/slide6.xml"/><Relationship Id="rId2" Type="http://schemas.openxmlformats.org/officeDocument/2006/relationships/slide" Target="slides/slide1.xml"/><Relationship Id="rId16" Type="http://schemas.openxmlformats.org/officeDocument/2006/relationships/slide" Target="slides/slide15.xml"/><Relationship Id="rId29" Type="http://schemas.openxmlformats.org/officeDocument/2006/relationships/slide" Target="slides/slide28.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slide" Target="slides/slide36.xml"/><Relationship Id="rId40" Type="http://schemas.openxmlformats.org/officeDocument/2006/relationships/slide" Target="slides/slide39.xml"/><Relationship Id="rId45" Type="http://schemas.openxmlformats.org/officeDocument/2006/relationships/slide" Target="slides/slide44.xml"/><Relationship Id="rId53" Type="http://schemas.openxmlformats.org/officeDocument/2006/relationships/font" Target="fonts/font2.fntdata"/><Relationship Id="rId58" Type="http://schemas.openxmlformats.org/officeDocument/2006/relationships/font" Target="fonts/font7.fntdata"/><Relationship Id="rId66" Type="http://schemas.microsoft.com/office/2018/10/relationships/authors" Target="authors.xml"/><Relationship Id="rId5" Type="http://schemas.openxmlformats.org/officeDocument/2006/relationships/slide" Target="slides/slide4.xml"/><Relationship Id="rId61" Type="http://schemas.openxmlformats.org/officeDocument/2006/relationships/font" Target="fonts/font10.fntdata"/><Relationship Id="rId19" Type="http://schemas.openxmlformats.org/officeDocument/2006/relationships/slide" Target="slides/slide1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slide" Target="slides/slide34.xml"/><Relationship Id="rId43" Type="http://schemas.openxmlformats.org/officeDocument/2006/relationships/slide" Target="slides/slide42.xml"/><Relationship Id="rId48" Type="http://schemas.openxmlformats.org/officeDocument/2006/relationships/slide" Target="slides/slide47.xml"/><Relationship Id="rId56" Type="http://schemas.openxmlformats.org/officeDocument/2006/relationships/font" Target="fonts/font5.fntdata"/><Relationship Id="rId64" Type="http://schemas.openxmlformats.org/officeDocument/2006/relationships/theme" Target="theme/theme1.xml"/><Relationship Id="rId8" Type="http://schemas.openxmlformats.org/officeDocument/2006/relationships/slide" Target="slides/slide7.xml"/><Relationship Id="rId51" Type="http://schemas.openxmlformats.org/officeDocument/2006/relationships/notesMaster" Target="notesMasters/notesMaster1.xml"/><Relationship Id="rId3" Type="http://schemas.openxmlformats.org/officeDocument/2006/relationships/slide" Target="slides/slide2.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slide" Target="slides/slide32.xml"/><Relationship Id="rId38" Type="http://schemas.openxmlformats.org/officeDocument/2006/relationships/slide" Target="slides/slide37.xml"/><Relationship Id="rId46" Type="http://schemas.openxmlformats.org/officeDocument/2006/relationships/slide" Target="slides/slide45.xml"/><Relationship Id="rId59" Type="http://schemas.openxmlformats.org/officeDocument/2006/relationships/font" Target="fonts/font8.fntdata"/><Relationship Id="rId20" Type="http://schemas.openxmlformats.org/officeDocument/2006/relationships/slide" Target="slides/slide19.xml"/><Relationship Id="rId41" Type="http://schemas.openxmlformats.org/officeDocument/2006/relationships/slide" Target="slides/slide40.xml"/><Relationship Id="rId54" Type="http://schemas.openxmlformats.org/officeDocument/2006/relationships/font" Target="fonts/font3.fntdata"/><Relationship Id="rId62"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slide" Target="slides/slide35.xml"/><Relationship Id="rId49" Type="http://schemas.openxmlformats.org/officeDocument/2006/relationships/slide" Target="slides/slide48.xml"/><Relationship Id="rId57" Type="http://schemas.openxmlformats.org/officeDocument/2006/relationships/font" Target="fonts/font6.fntdata"/><Relationship Id="rId10" Type="http://schemas.openxmlformats.org/officeDocument/2006/relationships/slide" Target="slides/slide9.xml"/><Relationship Id="rId31" Type="http://schemas.openxmlformats.org/officeDocument/2006/relationships/slide" Target="slides/slide30.xml"/><Relationship Id="rId44" Type="http://schemas.openxmlformats.org/officeDocument/2006/relationships/slide" Target="slides/slide43.xml"/><Relationship Id="rId52" Type="http://schemas.openxmlformats.org/officeDocument/2006/relationships/font" Target="fonts/font1.fntdata"/><Relationship Id="rId60" Type="http://schemas.openxmlformats.org/officeDocument/2006/relationships/font" Target="fonts/font9.fntdata"/><Relationship Id="rId65" Type="http://schemas.openxmlformats.org/officeDocument/2006/relationships/tableStyles" Target="tableStyles.xml"/><Relationship Id="rId4" Type="http://schemas.openxmlformats.org/officeDocument/2006/relationships/slide" Target="slides/slide3.xml"/><Relationship Id="rId9" Type="http://schemas.openxmlformats.org/officeDocument/2006/relationships/slide" Target="slides/slide8.xml"/><Relationship Id="rId13" Type="http://schemas.openxmlformats.org/officeDocument/2006/relationships/slide" Target="slides/slide12.xml"/><Relationship Id="rId18" Type="http://schemas.openxmlformats.org/officeDocument/2006/relationships/slide" Target="slides/slide17.xml"/><Relationship Id="rId39" Type="http://schemas.openxmlformats.org/officeDocument/2006/relationships/slide" Target="slides/slide38.xml"/></Relationships>
</file>

<file path=ppt/comments/modernComment_155_0.xml><?xml version="1.0" encoding="utf-8"?>
<p188:cmLst xmlns:a="http://schemas.openxmlformats.org/drawingml/2006/main" xmlns:r="http://schemas.openxmlformats.org/officeDocument/2006/relationships" xmlns:p188="http://schemas.microsoft.com/office/powerpoint/2018/8/main">
  <p188:cm id="{60000E52-6B10-8542-AE63-F9128E3BAFD3}" authorId="{BBF72F71-1B05-876B-1723-EC4BFB4CF1F1}" created="2026-09-17T09:32:05.091">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246" len="154">
        <ac:context len="509" hash="706592031"/>
      </ac:txMk>
    </ac:txMkLst>
    <p188:pos x="5909533" y="1496206"/>
    <p188:txBody>
      <a:bodyPr/>
      <a:lstStyle/>
      <a:p>
        <a:r>
          <a:rPr lang="en-US"/>
          <a:t>Make no sense?</a:t>
        </a:r>
      </a:p>
    </p188:txBody>
  </p188:cm>
  <p188:cm id="{1CDA764E-8499-0A4B-9B3C-78E025FCA5DE}" authorId="{BBF72F71-1B05-876B-1723-EC4BFB4CF1F1}" created="2026-09-17T09:35:26.286">
    <ac:txMkLst xmlns:ac="http://schemas.microsoft.com/office/drawing/2013/main/command">
      <pc:docMk xmlns:pc="http://schemas.microsoft.com/office/powerpoint/2013/main/command"/>
      <pc:sldMk xmlns:pc="http://schemas.microsoft.com/office/powerpoint/2013/main/command" cId="0" sldId="341"/>
      <ac:spMk id="3" creationId="{00000000-0000-0000-0000-000000000000}"/>
      <ac:txMk cp="58" len="450">
        <ac:context len="509" hash="706592031"/>
      </ac:txMk>
    </ac:txMkLst>
    <p188:pos x="5894937" y="541404"/>
    <p188:txBody>
      <a:bodyPr/>
      <a:lstStyle/>
      <a:p>
        <a:r>
          <a:rPr lang="en-US"/>
          <a:t>In magenta, add (when does this become relavant)</a:t>
        </a:r>
      </a:p>
    </p188:txBody>
  </p188:cm>
</p188:cmLst>
</file>

<file path=ppt/comments/modernComment_178_0.xml><?xml version="1.0" encoding="utf-8"?>
<p188:cmLst xmlns:a="http://schemas.openxmlformats.org/drawingml/2006/main" xmlns:r="http://schemas.openxmlformats.org/officeDocument/2006/relationships" xmlns:p188="http://schemas.microsoft.com/office/powerpoint/2018/8/main">
  <p188:cm id="{0DB9DFDD-D770-FB4A-BC17-A1B10A085D8B}" authorId="{BBF72F71-1B05-876B-1723-EC4BFB4CF1F1}" created="2026-09-18T00:32:46.210">
    <ac:txMkLst xmlns:ac="http://schemas.microsoft.com/office/drawing/2013/main/command">
      <pc:docMk xmlns:pc="http://schemas.microsoft.com/office/powerpoint/2013/main/command"/>
      <pc:sldMk xmlns:pc="http://schemas.microsoft.com/office/powerpoint/2013/main/command" cId="0" sldId="376"/>
      <ac:spMk id="3" creationId="{00000000-0000-0000-0000-000000000000}"/>
      <ac:txMk cp="185" len="103">
        <ac:context len="420" hash="3035554411"/>
      </ac:txMk>
    </ac:txMkLst>
    <p188:pos x="5804027" y="1050525"/>
    <p188:txBody>
      <a:bodyPr/>
      <a:lstStyle/>
      <a:p>
        <a:r>
          <a:rPr lang="en-US"/>
          <a:t>Incomplete</a:t>
        </a:r>
      </a:p>
    </p188:txBody>
  </p188:cm>
  <p188:cm id="{7C91750F-0746-C143-91AF-686C36778858}" authorId="{BBF72F71-1B05-876B-1723-EC4BFB4CF1F1}" created="2026-09-18T00:33:13.202">
    <ac:txMkLst xmlns:ac="http://schemas.microsoft.com/office/drawing/2013/main/command">
      <pc:docMk xmlns:pc="http://schemas.microsoft.com/office/powerpoint/2013/main/command"/>
      <pc:sldMk xmlns:pc="http://schemas.microsoft.com/office/powerpoint/2013/main/command" cId="0" sldId="376"/>
      <ac:spMk id="4" creationId="{00000000-0000-0000-0000-000000000000}"/>
      <ac:txMk cp="0" len="57">
        <ac:context len="58" hash="3368107458"/>
      </ac:txMk>
    </ac:txMkLst>
    <p188:pos x="4163823" y="169781"/>
    <p188:txBody>
      <a:bodyPr/>
      <a:lstStyle/>
      <a:p>
        <a:r>
          <a:rPr lang="en-US"/>
          <a:t>THis just jumps out. What is the context here? </a:t>
        </a:r>
      </a:p>
    </p188:txBody>
  </p188:cm>
</p188:cmLst>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Shape 2"/>
        <p:cNvGrpSpPr/>
        <p:nvPr/>
      </p:nvGrpSpPr>
      <p:grpSpPr>
        <a:xfrm>
          <a:off x="0" y="0"/>
          <a:ext cx="0" cy="0"/>
          <a:chOff x="0" y="0"/>
          <a:chExt cx="0" cy="0"/>
        </a:xfrm>
      </p:grpSpPr>
      <p:sp>
        <p:nvSpPr>
          <p:cNvPr id="3" name="Google Shape;3;n"/>
          <p:cNvSpPr>
            <a:spLocks noGrp="1" noRot="1" noChangeAspect="1"/>
          </p:cNvSpPr>
          <p:nvPr>
            <p:ph type="sldImg" idx="2"/>
          </p:nvPr>
        </p:nvSpPr>
        <p:spPr>
          <a:xfrm>
            <a:off x="1143000" y="685800"/>
            <a:ext cx="4572000" cy="3429000"/>
          </a:xfrm>
          <a:custGeom>
            <a:avLst/>
            <a:gdLst/>
            <a:ahLst/>
            <a:cxnLst/>
            <a:rect l="l" t="t" r="r" b="b"/>
            <a:pathLst>
              <a:path w="120000" h="120000" extrusionOk="0">
                <a:moveTo>
                  <a:pt x="0" y="0"/>
                </a:moveTo>
                <a:lnTo>
                  <a:pt x="120000" y="0"/>
                </a:lnTo>
                <a:lnTo>
                  <a:pt x="120000" y="120000"/>
                </a:lnTo>
                <a:lnTo>
                  <a:pt x="0" y="120000"/>
                </a:lnTo>
                <a:close/>
              </a:path>
            </a:pathLst>
          </a:custGeom>
          <a:noFill/>
          <a:ln w="9525" cap="flat" cmpd="sng">
            <a:solidFill>
              <a:srgbClr val="000000"/>
            </a:solidFill>
            <a:prstDash val="solid"/>
            <a:round/>
            <a:headEnd type="none" w="sm" len="sm"/>
            <a:tailEnd type="none" w="sm" len="sm"/>
          </a:ln>
        </p:spPr>
        <p:txBody>
          <a:bodyPr/>
          <a:lstStyle/>
          <a:p>
            <a:endParaRPr lang="en-US"/>
          </a:p>
        </p:txBody>
      </p:sp>
      <p:sp>
        <p:nvSpPr>
          <p:cNvPr id="4" name="Google Shape;4;n"/>
          <p:cNvSpPr txBox="1">
            <a:spLocks noGrp="1"/>
          </p:cNvSpPr>
          <p:nvPr>
            <p:ph type="body" idx="1"/>
          </p:nvPr>
        </p:nvSpPr>
        <p:spPr>
          <a:xfrm>
            <a:off x="685800" y="4343400"/>
            <a:ext cx="5486400" cy="4114800"/>
          </a:xfrm>
          <a:prstGeom prst="rect">
            <a:avLst/>
          </a:prstGeom>
          <a:noFill/>
          <a:ln>
            <a:noFill/>
          </a:ln>
        </p:spPr>
        <p:txBody>
          <a:bodyPr spcFirstLastPara="1" wrap="square" lIns="91425" tIns="91425" rIns="91425" bIns="91425" anchor="t" anchorCtr="0">
            <a:noAutofit/>
          </a:bodyPr>
          <a:lstStyle>
            <a:lvl1pPr marL="457200" lvl="0" indent="-298450">
              <a:spcBef>
                <a:spcPts val="0"/>
              </a:spcBef>
              <a:spcAft>
                <a:spcPts val="0"/>
              </a:spcAft>
              <a:buSzPts val="1100"/>
              <a:buChar char="●"/>
              <a:defRPr sz="1100"/>
            </a:lvl1pPr>
            <a:lvl2pPr marL="914400" lvl="1" indent="-298450">
              <a:spcBef>
                <a:spcPts val="0"/>
              </a:spcBef>
              <a:spcAft>
                <a:spcPts val="0"/>
              </a:spcAft>
              <a:buSzPts val="1100"/>
              <a:buChar char="○"/>
              <a:defRPr sz="1100"/>
            </a:lvl2pPr>
            <a:lvl3pPr marL="1371600" lvl="2" indent="-298450">
              <a:spcBef>
                <a:spcPts val="0"/>
              </a:spcBef>
              <a:spcAft>
                <a:spcPts val="0"/>
              </a:spcAft>
              <a:buSzPts val="1100"/>
              <a:buChar char="■"/>
              <a:defRPr sz="1100"/>
            </a:lvl3pPr>
            <a:lvl4pPr marL="1828800" lvl="3" indent="-298450">
              <a:spcBef>
                <a:spcPts val="0"/>
              </a:spcBef>
              <a:spcAft>
                <a:spcPts val="0"/>
              </a:spcAft>
              <a:buSzPts val="1100"/>
              <a:buChar char="●"/>
              <a:defRPr sz="1100"/>
            </a:lvl4pPr>
            <a:lvl5pPr marL="2286000" lvl="4" indent="-298450">
              <a:spcBef>
                <a:spcPts val="0"/>
              </a:spcBef>
              <a:spcAft>
                <a:spcPts val="0"/>
              </a:spcAft>
              <a:buSzPts val="1100"/>
              <a:buChar char="○"/>
              <a:defRPr sz="1100"/>
            </a:lvl5pPr>
            <a:lvl6pPr marL="2743200" lvl="5" indent="-298450">
              <a:spcBef>
                <a:spcPts val="0"/>
              </a:spcBef>
              <a:spcAft>
                <a:spcPts val="0"/>
              </a:spcAft>
              <a:buSzPts val="1100"/>
              <a:buChar char="■"/>
              <a:defRPr sz="1100"/>
            </a:lvl6pPr>
            <a:lvl7pPr marL="3200400" lvl="6" indent="-298450">
              <a:spcBef>
                <a:spcPts val="0"/>
              </a:spcBef>
              <a:spcAft>
                <a:spcPts val="0"/>
              </a:spcAft>
              <a:buSzPts val="1100"/>
              <a:buChar char="●"/>
              <a:defRPr sz="1100"/>
            </a:lvl7pPr>
            <a:lvl8pPr marL="3657600" lvl="7" indent="-298450">
              <a:spcBef>
                <a:spcPts val="0"/>
              </a:spcBef>
              <a:spcAft>
                <a:spcPts val="0"/>
              </a:spcAft>
              <a:buSzPts val="1100"/>
              <a:buChar char="○"/>
              <a:defRPr sz="1100"/>
            </a:lvl8pPr>
            <a:lvl9pPr marL="4114800" lvl="8" indent="-298450">
              <a:spcBef>
                <a:spcPts val="0"/>
              </a:spcBef>
              <a:spcAft>
                <a:spcPts val="0"/>
              </a:spcAft>
              <a:buSzPts val="1100"/>
              <a:buChar char="■"/>
              <a:defRPr sz="1100"/>
            </a:lvl9pPr>
          </a:lstStyle>
          <a:p>
            <a:endParaRPr/>
          </a:p>
        </p:txBody>
      </p:sp>
    </p:spTree>
  </p:cSld>
  <p:clrMap bg1="lt1" tx1="dk1" bg2="dk2" tx2="lt2" accent1="accent1" accent2="accent2" accent3="accent3" accent4="accent4" accent5="accent5" accent6="accent6" hlink="hlink" folHlink="folHlink"/>
  <p:notes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400" b="0" i="0" u="none" strike="noStrike" cap="none" spc="0">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1.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12.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9.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21.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22.xml"/><Relationship Id="rId1" Type="http://schemas.openxmlformats.org/officeDocument/2006/relationships/notesMaster" Target="../notesMasters/notesMaster1.xml"/></Relationships>
</file>

<file path=ppt/notesSlides/_rels/notesSlide14.xml.rels><?xml version="1.0" encoding="UTF-8" standalone="yes"?>
<Relationships xmlns="http://schemas.openxmlformats.org/package/2006/relationships"><Relationship Id="rId2" Type="http://schemas.openxmlformats.org/officeDocument/2006/relationships/slide" Target="../slides/slide23.xml"/><Relationship Id="rId1" Type="http://schemas.openxmlformats.org/officeDocument/2006/relationships/notesMaster" Target="../notesMasters/notesMaster1.xml"/></Relationships>
</file>

<file path=ppt/notesSlides/_rels/notesSlide15.xml.rels><?xml version="1.0" encoding="UTF-8" standalone="yes"?>
<Relationships xmlns="http://schemas.openxmlformats.org/package/2006/relationships"><Relationship Id="rId2" Type="http://schemas.openxmlformats.org/officeDocument/2006/relationships/slide" Target="../slides/slide24.xml"/><Relationship Id="rId1" Type="http://schemas.openxmlformats.org/officeDocument/2006/relationships/notesMaster" Target="../notesMasters/notesMaster1.xml"/></Relationships>
</file>

<file path=ppt/notesSlides/_rels/notesSlide16.xml.rels><?xml version="1.0" encoding="UTF-8" standalone="yes"?>
<Relationships xmlns="http://schemas.openxmlformats.org/package/2006/relationships"><Relationship Id="rId2" Type="http://schemas.openxmlformats.org/officeDocument/2006/relationships/slide" Target="../slides/slide25.xml"/><Relationship Id="rId1" Type="http://schemas.openxmlformats.org/officeDocument/2006/relationships/notesMaster" Target="../notesMasters/notesMaster1.xml"/></Relationships>
</file>

<file path=ppt/notesSlides/_rels/notesSlide17.xml.rels><?xml version="1.0" encoding="UTF-8" standalone="yes"?>
<Relationships xmlns="http://schemas.openxmlformats.org/package/2006/relationships"><Relationship Id="rId2" Type="http://schemas.openxmlformats.org/officeDocument/2006/relationships/slide" Target="../slides/slide26.xml"/><Relationship Id="rId1" Type="http://schemas.openxmlformats.org/officeDocument/2006/relationships/notesMaster" Target="../notesMasters/notesMaster1.xml"/></Relationships>
</file>

<file path=ppt/notesSlides/_rels/notesSlide18.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_rels/notesSlide19.xml.rels><?xml version="1.0" encoding="UTF-8" standalone="yes"?>
<Relationships xmlns="http://schemas.openxmlformats.org/package/2006/relationships"><Relationship Id="rId2" Type="http://schemas.openxmlformats.org/officeDocument/2006/relationships/slide" Target="../slides/slide28.xml"/><Relationship Id="rId1" Type="http://schemas.openxmlformats.org/officeDocument/2006/relationships/notesMaster" Target="../notesMasters/notesMaster1.xml"/></Relationships>
</file>

<file path=ppt/notesSlides/_rels/notesSlide20.xml.rels><?xml version="1.0" encoding="UTF-8" standalone="yes"?>
<Relationships xmlns="http://schemas.openxmlformats.org/package/2006/relationships"><Relationship Id="rId2" Type="http://schemas.openxmlformats.org/officeDocument/2006/relationships/slide" Target="../slides/slide29.xml"/><Relationship Id="rId1" Type="http://schemas.openxmlformats.org/officeDocument/2006/relationships/notesMaster" Target="../notesMasters/notesMaster1.xml"/></Relationships>
</file>

<file path=ppt/notesSlides/_rels/notesSlide21.xml.rels><?xml version="1.0" encoding="UTF-8" standalone="yes"?>
<Relationships xmlns="http://schemas.openxmlformats.org/package/2006/relationships"><Relationship Id="rId2" Type="http://schemas.openxmlformats.org/officeDocument/2006/relationships/slide" Target="../slides/slide30.xml"/><Relationship Id="rId1" Type="http://schemas.openxmlformats.org/officeDocument/2006/relationships/notesMaster" Target="../notesMasters/notesMaster1.xml"/></Relationships>
</file>

<file path=ppt/notesSlides/_rels/notesSlide22.xml.rels><?xml version="1.0" encoding="UTF-8" standalone="yes"?>
<Relationships xmlns="http://schemas.openxmlformats.org/package/2006/relationships"><Relationship Id="rId2" Type="http://schemas.openxmlformats.org/officeDocument/2006/relationships/slide" Target="../slides/slide31.xml"/><Relationship Id="rId1" Type="http://schemas.openxmlformats.org/officeDocument/2006/relationships/notesMaster" Target="../notesMasters/notesMaster1.xml"/></Relationships>
</file>

<file path=ppt/notesSlides/_rels/notesSlide23.xml.rels><?xml version="1.0" encoding="UTF-8" standalone="yes"?>
<Relationships xmlns="http://schemas.openxmlformats.org/package/2006/relationships"><Relationship Id="rId2" Type="http://schemas.openxmlformats.org/officeDocument/2006/relationships/slide" Target="../slides/slide32.xml"/><Relationship Id="rId1" Type="http://schemas.openxmlformats.org/officeDocument/2006/relationships/notesMaster" Target="../notesMasters/notesMaster1.xml"/></Relationships>
</file>

<file path=ppt/notesSlides/_rels/notesSlide24.xml.rels><?xml version="1.0" encoding="UTF-8" standalone="yes"?>
<Relationships xmlns="http://schemas.openxmlformats.org/package/2006/relationships"><Relationship Id="rId2" Type="http://schemas.openxmlformats.org/officeDocument/2006/relationships/slide" Target="../slides/slide33.xml"/><Relationship Id="rId1" Type="http://schemas.openxmlformats.org/officeDocument/2006/relationships/notesMaster" Target="../notesMasters/notesMaster1.xml"/></Relationships>
</file>

<file path=ppt/notesSlides/_rels/notesSlide25.xml.rels><?xml version="1.0" encoding="UTF-8" standalone="yes"?>
<Relationships xmlns="http://schemas.openxmlformats.org/package/2006/relationships"><Relationship Id="rId2" Type="http://schemas.openxmlformats.org/officeDocument/2006/relationships/slide" Target="../slides/slide34.xml"/><Relationship Id="rId1" Type="http://schemas.openxmlformats.org/officeDocument/2006/relationships/notesMaster" Target="../notesMasters/notesMaster1.xml"/></Relationships>
</file>

<file path=ppt/notesSlides/_rels/notesSlide26.xml.rels><?xml version="1.0" encoding="UTF-8" standalone="yes"?>
<Relationships xmlns="http://schemas.openxmlformats.org/package/2006/relationships"><Relationship Id="rId2" Type="http://schemas.openxmlformats.org/officeDocument/2006/relationships/slide" Target="../slides/slide35.xml"/><Relationship Id="rId1" Type="http://schemas.openxmlformats.org/officeDocument/2006/relationships/notesMaster" Target="../notesMasters/notesMaster1.xml"/></Relationships>
</file>

<file path=ppt/notesSlides/_rels/notesSlide27.xml.rels><?xml version="1.0" encoding="UTF-8" standalone="yes"?>
<Relationships xmlns="http://schemas.openxmlformats.org/package/2006/relationships"><Relationship Id="rId2" Type="http://schemas.openxmlformats.org/officeDocument/2006/relationships/slide" Target="../slides/slide36.xml"/><Relationship Id="rId1" Type="http://schemas.openxmlformats.org/officeDocument/2006/relationships/notesMaster" Target="../notesMasters/notesMaster1.xml"/></Relationships>
</file>

<file path=ppt/notesSlides/_rels/notesSlide28.xml.rels><?xml version="1.0" encoding="UTF-8" standalone="yes"?>
<Relationships xmlns="http://schemas.openxmlformats.org/package/2006/relationships"><Relationship Id="rId2" Type="http://schemas.openxmlformats.org/officeDocument/2006/relationships/slide" Target="../slides/slide37.xml"/><Relationship Id="rId1" Type="http://schemas.openxmlformats.org/officeDocument/2006/relationships/notesMaster" Target="../notesMasters/notesMaster1.xml"/></Relationships>
</file>

<file path=ppt/notesSlides/_rels/notesSlide29.xml.rels><?xml version="1.0" encoding="UTF-8" standalone="yes"?>
<Relationships xmlns="http://schemas.openxmlformats.org/package/2006/relationships"><Relationship Id="rId2" Type="http://schemas.openxmlformats.org/officeDocument/2006/relationships/slide" Target="../slides/slide38.xml"/><Relationship Id="rId1" Type="http://schemas.openxmlformats.org/officeDocument/2006/relationships/notesMaster" Target="../notesMasters/notesMaster1.xml"/></Relationships>
</file>

<file path=ppt/notesSlides/_rels/notesSlide30.xml.rels><?xml version="1.0" encoding="UTF-8" standalone="yes"?>
<Relationships xmlns="http://schemas.openxmlformats.org/package/2006/relationships"><Relationship Id="rId2" Type="http://schemas.openxmlformats.org/officeDocument/2006/relationships/slide" Target="../slides/slide39.xml"/><Relationship Id="rId1" Type="http://schemas.openxmlformats.org/officeDocument/2006/relationships/notesMaster" Target="../notesMasters/notesMaster1.xml"/></Relationships>
</file>

<file path=ppt/notesSlides/_rels/notesSlide3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32.xml.rels><?xml version="1.0" encoding="UTF-8" standalone="yes"?>
<Relationships xmlns="http://schemas.openxmlformats.org/package/2006/relationships"><Relationship Id="rId2" Type="http://schemas.openxmlformats.org/officeDocument/2006/relationships/slide" Target="../slides/slide41.xml"/><Relationship Id="rId1" Type="http://schemas.openxmlformats.org/officeDocument/2006/relationships/notesMaster" Target="../notesMasters/notesMaster1.xml"/></Relationships>
</file>

<file path=ppt/notesSlides/_rels/notesSlide33.xml.rels><?xml version="1.0" encoding="UTF-8" standalone="yes"?>
<Relationships xmlns="http://schemas.openxmlformats.org/package/2006/relationships"><Relationship Id="rId2" Type="http://schemas.openxmlformats.org/officeDocument/2006/relationships/slide" Target="../slides/slide42.xml"/><Relationship Id="rId1" Type="http://schemas.openxmlformats.org/officeDocument/2006/relationships/notesMaster" Target="../notesMasters/notesMaster1.xml"/></Relationships>
</file>

<file path=ppt/notesSlides/_rels/notesSlide34.xml.rels><?xml version="1.0" encoding="UTF-8" standalone="yes"?>
<Relationships xmlns="http://schemas.openxmlformats.org/package/2006/relationships"><Relationship Id="rId2" Type="http://schemas.openxmlformats.org/officeDocument/2006/relationships/slide" Target="../slides/slide43.xml"/><Relationship Id="rId1" Type="http://schemas.openxmlformats.org/officeDocument/2006/relationships/notesMaster" Target="../notesMasters/notesMaster1.xml"/></Relationships>
</file>

<file path=ppt/notesSlides/_rels/notesSlide35.xml.rels><?xml version="1.0" encoding="UTF-8" standalone="yes"?>
<Relationships xmlns="http://schemas.openxmlformats.org/package/2006/relationships"><Relationship Id="rId2" Type="http://schemas.openxmlformats.org/officeDocument/2006/relationships/slide" Target="../slides/slide44.xml"/><Relationship Id="rId1" Type="http://schemas.openxmlformats.org/officeDocument/2006/relationships/notesMaster" Target="../notesMasters/notesMaster1.xml"/></Relationships>
</file>

<file path=ppt/notesSlides/_rels/notesSlide36.xml.rels><?xml version="1.0" encoding="UTF-8" standalone="yes"?>
<Relationships xmlns="http://schemas.openxmlformats.org/package/2006/relationships"><Relationship Id="rId2" Type="http://schemas.openxmlformats.org/officeDocument/2006/relationships/slide" Target="../slides/slide45.xml"/><Relationship Id="rId1" Type="http://schemas.openxmlformats.org/officeDocument/2006/relationships/notesMaster" Target="../notesMasters/notesMaster1.xml"/></Relationships>
</file>

<file path=ppt/notesSlides/_rels/notesSlide37.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38.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_rels/notesSlide39.xml.rels><?xml version="1.0" encoding="UTF-8" standalone="yes"?>
<Relationships xmlns="http://schemas.openxmlformats.org/package/2006/relationships"><Relationship Id="rId2" Type="http://schemas.openxmlformats.org/officeDocument/2006/relationships/slide" Target="../slides/slide48.xml"/><Relationship Id="rId1" Type="http://schemas.openxmlformats.org/officeDocument/2006/relationships/notesMaster" Target="../notesMasters/notesMaster1.xml"/></Relationships>
</file>

<file path=ppt/notesSlides/_rels/notesSlide40.xml.rels><?xml version="1.0" encoding="UTF-8" standalone="yes"?>
<Relationships xmlns="http://schemas.openxmlformats.org/package/2006/relationships"><Relationship Id="rId2" Type="http://schemas.openxmlformats.org/officeDocument/2006/relationships/slide" Target="../slides/slide49.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a:xfrm>
            <a:off x="1143000" y="685800"/>
            <a:ext cx="4572000" cy="3429000"/>
          </a:xfrm>
        </p:spPr>
        <p:txBody>
          <a:bodyPr/>
          <a:lstStyle/>
          <a:p>
            <a:endParaRPr lang="en-US"/>
          </a:p>
        </p:txBody>
      </p:sp>
      <p:sp>
        <p:nvSpPr>
          <p:cNvPr id="3" name="Notes Placeholder 2"/>
          <p:cNvSpPr>
            <a:spLocks noGrp="1"/>
          </p:cNvSpPr>
          <p:nvPr>
            <p:ph type="body" idx="1"/>
          </p:nvPr>
        </p:nvSpPr>
        <p:spPr/>
        <p:txBody>
          <a:bodyPr/>
          <a:lstStyle/>
          <a:p>
            <a:r>
              <a:rPr dirty="0"/>
              <a:t>[40s] Course number, title, term. Say the room and the slot: Fridays 2:10 to 4:00, Hamilton 303, September 11 through December 11. Do not read the syllabus yet.</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Read the definition once, slowly. Then the four things it depends on. Two of the four are ours to write down before the agent runs: the performance measure and the action set. One is the world we put it in. The last one is the only thing that changes during a run, and every architecture in this lecture is a different answer to what to do with it.</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whole agent, as a state machine. Three states and five transitions. The controller decides the next action; a tool executes it and hands back an observation; the controller can instead ask to submit, and the run ends only when that submission is accepted. Read the labels as event, then condition in brackets. Every architecture in the rest of this block is a change to this machine: a new state, a new edge, or a different component deciding.</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alert points at line 46, where the query is built by interpolating a request value. The agent reads the region, edits two lines, and submits. The patch puts a placeholder in the query text and binds the value when the query runs, so the value can no longer change the shape of the statement. Two lines, one file, and the whole run is six exchanges.</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Rationality is not a property of the program alone. It is a property of the program against a measure, prior knowledge, an action set, and a percept sequence. Say the four out loud, and the claim becomes checkable. The agent reads before it edits because looking is how it maximizes expected performance.</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circumstances, and each becomes a component later. The budget is the runtime refusing a call. The depth of investigation is what the planner decides. Termination is the stopping rule the runtime owns. Close on the gap: the Submit state can check that the patch applies and that the rescan is clean, which is not the same as the endpoint still behaving as it did.</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Write the task down before you design the program. The four slots are the whole specification: what counts as success, what world the agent acts in, what it can do, and what it can see. Everything later in the block is a choice about the program, not about these four.</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Fully or partially observable. Read the two definitions, then the blue box: that is where our agent sits, and why. Only the first property makes this task hard; the rest are the easy end.</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Single agent or multiagent. Read the two definitions, then the blue box: that is where our agent sits, and why. Only the first property makes this task hard; the rest are the easy end.</a:t>
            </a: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Deterministic or nondeterministic. Read the two definitions, then the blue box: that is where our agent sits, and why. Only the first property makes this task hard; the rest are the easy end.</a:t>
            </a:r>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Episodic or sequential. Read the two definitions, then the blue box: that is where our agent sits, and why. Only the first property makes this task hard; the rest are the easy end.</a:t>
            </a:r>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Static or dynamic. Read the two definitions, then the blue box: that is where our agent sits, and why. Only the first property makes this task hard; the rest are the easy end.</a:t>
            </a:r>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Discrete or continuous. Read the two definitions, then the blue box: that is where our agent sits, and why. Only the first property makes this task hard; the rest are the easy end.</a:t>
            </a:r>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Known or unknown. Read the two definitions, then the blue box: that is where our agent sits, and why. Only the first property makes this task hard; the rest are the easy end.</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state machine, with three things added. The dashed box says the agent runs inside an environment, which here is the working tree and the alert. The tool node is split into one box per tool, reached by dotted lines, because the controller asks for a tool by name. And each pink label names a row of the vocabulary table, so you can point at the picture and read the row: environment, agent program, working state, actions, percepts, architecture, performance measure. Note what the picture makes obvious: the tools are the only way the program reaches the environment, and the run ends only through Submit.</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862CFAC-D5EF-6213-9248-C3FF0FF5806A}"/>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3B760901-CECA-E8F6-9E7F-FE31BE9D50F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CC8FA8DD-EFAD-35FE-D4BC-27874965273B}"/>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2950887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word to hold on to is control. Not which file to patch, not what the patch says — the model still decides those. Control is which operation runs next, how many times we call the model, and what ends the run. In a fixed workflow all of that is written before the program sees a task, and no model output can change it. The strip is the price: everything the program knows about this task, we put there. That is legitimate engineering, and it is also exactly what the rest of the lecture spends, one decision at a time.</a:t>
            </a:r>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15B46A-E1D2-A77B-7D4B-21EE12648E4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175B3E9-E404-AF4D-7041-743880B3D241}"/>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78D6366-A8EC-4CD0-ACD8-58F49B6BE64E}"/>
              </a:ext>
            </a:extLst>
          </p:cNvPr>
          <p:cNvSpPr>
            <a:spLocks noGrp="1"/>
          </p:cNvSpPr>
          <p:nvPr>
            <p:ph type="body" idx="1"/>
          </p:nvPr>
        </p:nvSpPr>
        <p:spPr/>
        <p:txBody>
          <a:bodyPr/>
          <a:lstStyle/>
          <a:p>
            <a:r>
              <a:t>The line through the middle of this table is the whole section. Above it, every decision is ours and every one is made before the run. Below it, the model decides, and it decides at run time — but only what a call returns, never what happens next. Worth saying out loud: the hard problem is below the line. Naming the file to patch is harder than deciding that a file is named before lines are read. Difficulty is not what the line sorts on. Authority is. And a fixed workflow may branch, filter, and repeat a step a set number of times: it is still fixed, because we wrote the predicate it branches on, so we can enumerate every path.</a:t>
            </a:r>
          </a:p>
        </p:txBody>
      </p:sp>
    </p:spTree>
    <p:extLst>
      <p:ext uri="{BB962C8B-B14F-4D97-AF65-F5344CB8AC3E}">
        <p14:creationId xmlns:p14="http://schemas.microsoft.com/office/powerpoint/2010/main" val="222711912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94CAD1E-B921-0F9E-829C-F6C5E82E452B}"/>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178AA891-FB8D-2D34-73A8-5D514FA97223}"/>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DB91C000-9D5B-C82A-BA26-80279B4ACC96}"/>
              </a:ext>
            </a:extLst>
          </p:cNvPr>
          <p:cNvSpPr>
            <a:spLocks noGrp="1"/>
          </p:cNvSpPr>
          <p:nvPr>
            <p:ph type="body" idx="1"/>
          </p:nvPr>
        </p:nvSpPr>
        <p:spPr/>
        <p:txBody>
          <a:bodyPr/>
          <a:lstStyle/>
          <a:p>
            <a:r>
              <a:t>Three things, and they are worth having. We can price a thousand alerts before running any of them, because the number of model calls does not depend on what the model says. Debugging a bad patch means reading four artifacts, not reconstructing a forty-turn trajectory. And the run stops because the program ran out of operations — that is a fact about the text, not a hope about the model. Termination is the one the later versions never get back: they replace it with a step cap, which guarantees stopping but says nothing about finishing.</a:t>
            </a:r>
          </a:p>
        </p:txBody>
      </p:sp>
    </p:spTree>
    <p:extLst>
      <p:ext uri="{BB962C8B-B14F-4D97-AF65-F5344CB8AC3E}">
        <p14:creationId xmlns:p14="http://schemas.microsoft.com/office/powerpoint/2010/main" val="816678675"/>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part that outlives the lecture. Almost nothing we build will be all fixed or all open. HW1 is the example: its intake stage is a fixed chain, and its investigation loop is not. The reason to know which is which is not tidiness, it is that four hard engineering problems get their answer from the fixed part. A budget can be priced where the calls are ours and only reserved where they are not. A checkpoint needs named artifacts to write and to resume from, and a stage boundary is where those exist. A transaction needs to know the sequence before it can say where to commit and what to roll back. And concurrency needs a stage to declare what it reads and writes before anything can safely run beside it. Every one of those is harder in the open part, which is the bill the rest of the lecture runs up.</a:t>
            </a:r>
          </a:p>
        </p:txBody>
      </p:sp>
    </p:spTree>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for the three properties on the last slide. A fixed workflow is rational exactly while our prior knowledge holds, and the failure is specific: when that knowledge is partial, nothing notices. There is no representation of what the program does not know. Our environment is partially observable, so a rational agent acts in order to see, and a fixed workflow does act to see. It just does its looking on a schedule we wrote before we knew what the looking would return. If the value the patch depends on comes from a helper the alert never named, there is no node in which to ask for it. The chain does not stall and it does not report a gap. It writes the patch, and the checks pass.</a:t>
            </a:r>
          </a:p>
        </p:txBody>
      </p:sp>
    </p:spTree>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published system with exactly this shape, and not a toy: it resolved more SWE-bench Lite issues than any open-source agent of its day. Read the three phases left to right. Localization narrows three times, and each step gets a smaller input than the last: names only, then headers without bodies, then the source of just those elements. The model ranks and selects at every step and never asks for something the step did not hand it. Repair samples forty candidates in a search and replace format, so the model returns the block and the runtime writes the file. Then patch validation. Acceptance is a test outcome and a vote, not the model's opinion of its own work, so the thing that proposes a patch is not the thing that accepts one.</a:t>
            </a:r>
          </a:p>
        </p:txBody>
      </p:sp>
    </p:spTree>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pair comes closest to isolating control structure: hold the model fixed, change who decides what runs next. Read the numbers off the table, then the caveat. The two systems differ in more than their control structure, so this is the strongest available comparison, not an experiment. Two more limits worth saying out loud: Agentless did not lead the full leaderboard, and several closed-source systems scored higher while publishing neither code nor trajectories; and SWE-bench Lite has known problems, including issue descriptions that contain the developer's own patch. That last one is why we strip the answer key out of our own fixture.</a:t>
            </a:r>
          </a:p>
        </p:txBody>
      </p:sp>
    </p:spTree>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Take all of it with a grain of salt, and say why out loud, because this is the habit the course is trying to build. Two limits. Agentless did not lead the full leaderboard: several closed-source systems scored higher, and the highest resolved 129 of the 300. Those systems released neither code nor execution trajectories, so there is no way to examine how their control structure contributed, which is the only thing we are trying to learn from the comparison. Second, the benchmark itself leaks. One issue description in twenty-three contains the developer's own patch. A filtered subset of 249 problems exists for exactly that reason. And that leakage is not somebody else's problem: our own fixture ships its expected results next to the test cases, so we strip them before the agent ever sees the tree. An agent that can read the answer key is not being measured on the ability we care about.</a:t>
            </a:r>
          </a:p>
        </p:txBody>
      </p:sp>
    </p:spTree>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E8D6D53-9ABE-FFB3-70DC-0D106C84FECD}"/>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D031A000-A127-83D3-3011-A1F9BA672CA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97A60287-4E8C-C973-B5D8-EE0A612C423C}"/>
              </a:ext>
            </a:extLst>
          </p:cNvPr>
          <p:cNvSpPr>
            <a:spLocks noGrp="1"/>
          </p:cNvSpPr>
          <p:nvPr>
            <p:ph type="body" idx="1"/>
          </p:nvPr>
        </p:nvSpPr>
        <p:spPr/>
        <p:txBody>
          <a:bodyPr/>
          <a:lstStyle/>
          <a:p>
            <a:r>
              <a:rPr dirty="0"/>
              <a:t>So here is the route. One agent, the one on the last slide, and five architectures. We start with the fixed workflow, where every step is ours and written before the run. Then a reactive loop, where the model chooses the next action and the graph gains an edge back. Then a planner, so the intended sequence is written into state where we can read it and revise it. Then a validator, which takes acceptance away from the thing that proposed the patch. Then </a:t>
            </a:r>
            <a:r>
              <a:rPr dirty="0" err="1"/>
              <a:t>reflexion</a:t>
            </a:r>
            <a:r>
              <a:rPr dirty="0"/>
              <a:t>, where a failed attempt changes the context of the next one. Keep your eye on what stays fixed: the same agent, the same alert, the same tools. The only thing that changes down this list is the architecture, which is what makes the comparison worth anything.</a:t>
            </a:r>
          </a:p>
        </p:txBody>
      </p:sp>
    </p:spTree>
    <p:extLst>
      <p:ext uri="{BB962C8B-B14F-4D97-AF65-F5344CB8AC3E}">
        <p14:creationId xmlns:p14="http://schemas.microsoft.com/office/powerpoint/2010/main" val="2713821233"/>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C38CD6F-4F2A-885A-49C4-870F6DD0E4FF}"/>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FA730CAC-4E46-2093-5A1D-D79F2F91649D}"/>
              </a:ext>
            </a:extLst>
          </p:cNvPr>
          <p:cNvSpPr>
            <a:spLocks noGrp="1" noRot="1" noChangeAspect="1"/>
          </p:cNvSpPr>
          <p:nvPr>
            <p:ph type="sldImg" idx="2"/>
          </p:nvPr>
        </p:nvSpPr>
        <p:spPr/>
        <p:txBody>
          <a:bodyPr/>
          <a:lstStyle/>
          <a:p>
            <a:endParaRPr lang="en-US"/>
          </a:p>
        </p:txBody>
      </p:sp>
      <p:sp>
        <p:nvSpPr>
          <p:cNvPr id="3" name="Notes Placeholder 2">
            <a:extLst>
              <a:ext uri="{FF2B5EF4-FFF2-40B4-BE49-F238E27FC236}">
                <a16:creationId xmlns:a16="http://schemas.microsoft.com/office/drawing/2014/main" id="{B8B86405-7945-5C76-1917-89F194813F99}"/>
              </a:ext>
            </a:extLst>
          </p:cNvPr>
          <p:cNvSpPr>
            <a:spLocks noGrp="1"/>
          </p:cNvSpPr>
          <p:nvPr>
            <p:ph type="body" idx="1"/>
          </p:nvPr>
        </p:nvSpPr>
        <p:spPr/>
        <p:txBody>
          <a:bodyPr/>
          <a:lstStyle/>
          <a:p>
            <a:r>
              <a:t>The definition first, then the cycle it names. Decide is one model call, and it reads everything that has happened so far. Dispatch is the runtime checking the request against the signature we wrote, so a malformed call comes back as an observation instead of a crash. Observe is the step to be exact about: the runtime writes that field and the model never does, which is the whole of the security story later in this section. Route is a predicate over state. The language part is ReAct's actual contribution: the action space is the tools plus language, and an action drawn from the language part changes only the context the next decision reads.</a:t>
            </a:r>
          </a:p>
        </p:txBody>
      </p:sp>
    </p:spTree>
    <p:extLst>
      <p:ext uri="{BB962C8B-B14F-4D97-AF65-F5344CB8AC3E}">
        <p14:creationId xmlns:p14="http://schemas.microsoft.com/office/powerpoint/2010/main" val="699797065"/>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not a drawing of the idea, it is the graph the demo compiles. Three nodes. The controller is the only place a model is called. Tools validates and executes and writes the observation. Submit runs three mechanical checks. Now look at the edges, because the edges are where the architecture lives. Two of them are unconditional: start into the controller, and tools back into the controller. That second one is the loop. Everything else is dashed, meaning a predicate over state picks the successor. Notice which predicates the model controls and which it does not: it chooses between tools and submit by emitting a tool call or not, and it has no say at all in the edge that ends the run.</a:t>
            </a:r>
          </a:p>
        </p:txBody>
      </p:sp>
    </p:spTree>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three nodes, the same four edges, in the code that builds them. Read it against the picture: node, node, node, then the edges. The line in magenta is the one that matters for this section, and it is one line. Take it out and you have the chain from the last section. Worth saying plainly: nothing in this file is rewritten between runs. The graph is fixed. What varies is which path a run takes through it, and that is decided at run time by predicates over state. Dynamic paths do not need a dynamic graph.</a:t>
            </a:r>
          </a:p>
        </p:txBody>
      </p:sp>
    </p:spTree>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Six lines, and this is the handover. The first branch is ours: if the status is not running, the run is over, and only the runtime writes that field. The second branch is the model's: if its last message carried a tool call we go to tools, and if it did not we go to submit. That is the entire mechanism by which the model chooses what happens next. No planner, no scheduler, no negotiation. And the trace is labelled accordingly, so when you read a trajectory you can see at a glance which decisions were the model's and which were ours. In the recorded run the model chose four edges and the runtime chose one.</a:t>
            </a:r>
          </a:p>
        </p:txBody>
      </p:sp>
    </p:spTree>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The same decisions as the fixed workflow, side by side. Read down the middle column and everything says design time. Read down the right and the top four have moved. But the rule under the fourth row is the thing to hold on to: the last two rows do not move. We still write the tool signatures, the state schema, the routing predicate and the budget, so the model selects its next action from a set we closed in advance. A reactive loop is not an agent we have stopped programming. It is an agent whose order of operations we have stopped writing down.</a:t>
            </a:r>
          </a:p>
        </p:txBody>
      </p:sp>
    </p:spTree>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gains, and they are all the same gain seen from different sides. Reach: when the flagged line names a helper, the model can go and read it and only then decide. The chain has no node in which to ask that question. Proportion: cost now follows the alert instead of being fixed in advance, so an easy fix is cheap and a hard one is not. Recovery: an unhelpful observation is no longer fatal, because there is a next turn in which to try something else. Put them together and they are one property: the edge back is the node we would otherwise have had to write.</a:t>
            </a:r>
          </a:p>
        </p:txBody>
      </p:sp>
    </p:spTree>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This is the bill. Shape: the budget gives a worst case and nothing else, so a budget for one alert is a budget for the cap rather than for the work. Address: the failure is spread over turns, and finding the one that went wrong means reading the whole trajectory. Termination: the run ends because we made it end, and a run that reaches the cap has spent the budget with nothing accepted to show for it. Underneath all three is one thing. The loop cannot tell a turn that advanced the investigation from a turn that wasted a model call, because it has no representation of progress. It counts turns. Turns are all it can count. That gap is what the planner and the validator exist to fill.</a:t>
            </a:r>
          </a:p>
        </p:txBody>
      </p:sp>
    </p:spTree>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One study, 150 hand-annotated failures, one backbone model held fixed across three tools. Read the shares as shares of each tool's own failures, not of all issues. Over half of the fixed workflow's failures carry a localization error, which is exactly where it commits earliest and where no later node can revisit the choice: the rest of the run elaborates a mistake it cannot see. The two loops fail instead inside the iteration, a stage the fixed workflow does not possess at all. So the machinery we just bought is also where the new failures live. And the caveat matters: holding the model fixed removes one source of variation, but these tools differ in prompts and interfaces too, so this supports a description and not a causal claim about architecture.</a:t>
            </a:r>
          </a:p>
        </p:txBody>
      </p:sp>
    </p:spTree>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Three named shapes, and each one is answered by a later section, which is why this slide is the hinge of the lecture. Non-progressive iteration is a loop that runs without going anywhere: the same patch regenerated with trivial differences. A plan answers it by giving the run something to measure a turn against. Validation retreat is the proposer grading its own work by editing the test instead of the code. A validator answers it by handing acceptance to something that did not write the patch. Context amnesia is losing the objective over a long interaction, and reflection answers it with memory that outlives an attempt. The cost of the blindness is legible in the step counts: failed issues take about three and a half times the steps, and where one tool covers eighty percent of its successes in twenty-five rounds it needs fifty-four to cover eighty percent of failures.</a:t>
            </a:r>
          </a:p>
        </p:txBody>
      </p:sp>
    </p:spTree>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Two stops, both ours, and both inside the controller node before a model call is issued. That placement is the point: checked afterwards they would be a post-mortem rather than a control. The budget is forty model calls. The second one is more interesting. The obvious rule is to stop when the same call repeats, and it looks equivalent to this one and is not: a model that varies its pattern slightly on each attempt evades it completely while making no progress at all. That is not hypothetical. On our own isolated fixture, ten consecutive searches with six distinct patterns all came back with no matches and the same-call rule never fired once; only the budget stopped the run. So this rule compares what came back rather than what was asked, which also subsumes the identical-call case because identical calls to deterministic tools return identical results. This is the non-progressive iteration from the last slide, caught by four lines.</a:t>
            </a:r>
          </a:p>
        </p:txBody>
      </p:sp>
    </p:spTree>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One failure mode here belongs to us rather than to the model. If the runtime does not own the observation channel, the model will write observations itself, and the trace will then record evidence the environment never returned. The security literature has a name for it, soliloquizing, and the rates are not marginal: nearly half of trajectories on two capture-the-flag benchmarks with one model, and none at all with two others, which tells you this is a property of the pairing rather than of models in general. In the field, about a fifth of recorded misalignment episodes across twenty thousand sessions are an agent misreporting the status of its own work. The defence is structural, not a prompt: the runtime writes the observation field, and in our demo an Observation object is only ever constructed inside the dispatcher.</a:t>
            </a:r>
          </a:p>
        </p:txBody>
      </p:sp>
    </p:spTree>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txBody>
          <a:bodyPr/>
          <a:lstStyle/>
          <a:p>
            <a:endParaRPr lang="en-US"/>
          </a:p>
        </p:txBody>
      </p:sp>
      <p:sp>
        <p:nvSpPr>
          <p:cNvPr id="3" name="Notes Placeholder 2"/>
          <p:cNvSpPr>
            <a:spLocks noGrp="1"/>
          </p:cNvSpPr>
          <p:nvPr>
            <p:ph type="body" idx="1"/>
          </p:nvPr>
        </p:nvSpPr>
        <p:spPr/>
        <p:txBody>
          <a:bodyPr/>
          <a:lstStyle/>
          <a:p>
            <a:r>
              <a:t>A real run, and short enough to read whole. Turn one, the model reads the flagged region. Turn two it reads the helper the query uses, which is the reach we paid for: nothing in the chain could have gone and got that. Turn three it edits, a parameterized query. Turn four it emits no tool call, which is how a submission is signalled in this graph, and the three mechanical checks pass: the patch applies, it touches the flagged line, the rescan is clean. Accepted. Four model calls against a budget of forty, so neither stop came near firing. Two things to point at. The model chose four of the five edges in this run and the runtime chose one, the acceptance. And search was offered on every call and never used, which is worth remembering when we look at what a plan would have changed.</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matchingName="Title slide" type="title">
  <p:cSld name="TITLE">
    <p:spTree>
      <p:nvGrpSpPr>
        <p:cNvPr id="1" name="Shape 10"/>
        <p:cNvGrpSpPr/>
        <p:nvPr/>
      </p:nvGrpSpPr>
      <p:grpSpPr>
        <a:xfrm>
          <a:off x="0" y="0"/>
          <a:ext cx="0" cy="0"/>
          <a:chOff x="0" y="0"/>
          <a:chExt cx="0" cy="0"/>
        </a:xfrm>
      </p:grpSpPr>
      <p:sp>
        <p:nvSpPr>
          <p:cNvPr id="11" name="Google Shape;11;p2"/>
          <p:cNvSpPr txBox="1">
            <a:spLocks noGrp="1"/>
          </p:cNvSpPr>
          <p:nvPr>
            <p:ph type="ctrTitle"/>
          </p:nvPr>
        </p:nvSpPr>
        <p:spPr>
          <a:xfrm>
            <a:off x="233781" y="75500"/>
            <a:ext cx="6390450" cy="2052600"/>
          </a:xfrm>
          <a:prstGeom prst="rect">
            <a:avLst/>
          </a:prstGeom>
        </p:spPr>
        <p:txBody>
          <a:bodyPr spcFirstLastPara="1" wrap="square" lIns="97500" tIns="97500" rIns="97500" bIns="97500" anchor="b" anchorCtr="0">
            <a:normAutofit/>
          </a:bodyPr>
          <a:lstStyle>
            <a:lvl1pPr lvl="0" algn="ctr">
              <a:spcBef>
                <a:spcPts val="0"/>
              </a:spcBef>
              <a:spcAft>
                <a:spcPts val="0"/>
              </a:spcAft>
              <a:buSzPts val="4200"/>
              <a:buNone/>
              <a:defRPr sz="3150">
                <a:solidFill>
                  <a:schemeClr val="bg2"/>
                </a:solidFill>
              </a:defRPr>
            </a:lvl1pPr>
            <a:lvl2pPr lvl="1" algn="ctr">
              <a:spcBef>
                <a:spcPts val="0"/>
              </a:spcBef>
              <a:spcAft>
                <a:spcPts val="0"/>
              </a:spcAft>
              <a:buSzPts val="4200"/>
              <a:buNone/>
              <a:defRPr sz="3150"/>
            </a:lvl2pPr>
            <a:lvl3pPr lvl="2" algn="ctr">
              <a:spcBef>
                <a:spcPts val="0"/>
              </a:spcBef>
              <a:spcAft>
                <a:spcPts val="0"/>
              </a:spcAft>
              <a:buSzPts val="4200"/>
              <a:buNone/>
              <a:defRPr sz="3150"/>
            </a:lvl3pPr>
            <a:lvl4pPr lvl="3" algn="ctr">
              <a:spcBef>
                <a:spcPts val="0"/>
              </a:spcBef>
              <a:spcAft>
                <a:spcPts val="0"/>
              </a:spcAft>
              <a:buSzPts val="4200"/>
              <a:buNone/>
              <a:defRPr sz="3150"/>
            </a:lvl4pPr>
            <a:lvl5pPr lvl="4" algn="ctr">
              <a:spcBef>
                <a:spcPts val="0"/>
              </a:spcBef>
              <a:spcAft>
                <a:spcPts val="0"/>
              </a:spcAft>
              <a:buSzPts val="4200"/>
              <a:buNone/>
              <a:defRPr sz="3150"/>
            </a:lvl5pPr>
            <a:lvl6pPr lvl="5" algn="ctr">
              <a:spcBef>
                <a:spcPts val="0"/>
              </a:spcBef>
              <a:spcAft>
                <a:spcPts val="0"/>
              </a:spcAft>
              <a:buSzPts val="4200"/>
              <a:buNone/>
              <a:defRPr sz="3150"/>
            </a:lvl6pPr>
            <a:lvl7pPr lvl="6" algn="ctr">
              <a:spcBef>
                <a:spcPts val="0"/>
              </a:spcBef>
              <a:spcAft>
                <a:spcPts val="0"/>
              </a:spcAft>
              <a:buSzPts val="4200"/>
              <a:buNone/>
              <a:defRPr sz="3150"/>
            </a:lvl7pPr>
            <a:lvl8pPr lvl="7" algn="ctr">
              <a:spcBef>
                <a:spcPts val="0"/>
              </a:spcBef>
              <a:spcAft>
                <a:spcPts val="0"/>
              </a:spcAft>
              <a:buSzPts val="4200"/>
              <a:buNone/>
              <a:defRPr sz="3150"/>
            </a:lvl8pPr>
            <a:lvl9pPr lvl="8" algn="ctr">
              <a:spcBef>
                <a:spcPts val="0"/>
              </a:spcBef>
              <a:spcAft>
                <a:spcPts val="0"/>
              </a:spcAft>
              <a:buSzPts val="4200"/>
              <a:buNone/>
              <a:defRPr sz="3150"/>
            </a:lvl9pPr>
          </a:lstStyle>
          <a:p>
            <a:endParaRPr/>
          </a:p>
        </p:txBody>
      </p:sp>
      <p:sp>
        <p:nvSpPr>
          <p:cNvPr id="12" name="Google Shape;12;p2"/>
          <p:cNvSpPr txBox="1">
            <a:spLocks noGrp="1"/>
          </p:cNvSpPr>
          <p:nvPr>
            <p:ph type="subTitle" idx="1"/>
          </p:nvPr>
        </p:nvSpPr>
        <p:spPr>
          <a:xfrm>
            <a:off x="233775" y="2175450"/>
            <a:ext cx="6390450" cy="792600"/>
          </a:xfrm>
          <a:prstGeom prst="rect">
            <a:avLst/>
          </a:prstGeom>
        </p:spPr>
        <p:txBody>
          <a:bodyPr spcFirstLastPara="1" wrap="square" lIns="97500" tIns="97500" rIns="97500" bIns="97500" anchor="t" anchorCtr="0">
            <a:normAutofit/>
          </a:bodyPr>
          <a:lstStyle>
            <a:lvl1pPr lvl="0" algn="ctr">
              <a:lnSpc>
                <a:spcPct val="100000"/>
              </a:lnSpc>
              <a:spcBef>
                <a:spcPts val="0"/>
              </a:spcBef>
              <a:spcAft>
                <a:spcPts val="0"/>
              </a:spcAft>
              <a:buSzPts val="2400"/>
              <a:buNone/>
              <a:defRPr sz="1800"/>
            </a:lvl1pPr>
            <a:lvl2pPr lvl="1" algn="ctr">
              <a:lnSpc>
                <a:spcPct val="100000"/>
              </a:lnSpc>
              <a:spcBef>
                <a:spcPts val="0"/>
              </a:spcBef>
              <a:spcAft>
                <a:spcPts val="0"/>
              </a:spcAft>
              <a:buSzPts val="2400"/>
              <a:buNone/>
              <a:defRPr sz="1800"/>
            </a:lvl2pPr>
            <a:lvl3pPr lvl="2" algn="ctr">
              <a:lnSpc>
                <a:spcPct val="100000"/>
              </a:lnSpc>
              <a:spcBef>
                <a:spcPts val="0"/>
              </a:spcBef>
              <a:spcAft>
                <a:spcPts val="0"/>
              </a:spcAft>
              <a:buSzPts val="2400"/>
              <a:buNone/>
              <a:defRPr sz="1800"/>
            </a:lvl3pPr>
            <a:lvl4pPr lvl="3" algn="ctr">
              <a:lnSpc>
                <a:spcPct val="100000"/>
              </a:lnSpc>
              <a:spcBef>
                <a:spcPts val="0"/>
              </a:spcBef>
              <a:spcAft>
                <a:spcPts val="0"/>
              </a:spcAft>
              <a:buSzPts val="2400"/>
              <a:buNone/>
              <a:defRPr sz="1800"/>
            </a:lvl4pPr>
            <a:lvl5pPr lvl="4" algn="ctr">
              <a:lnSpc>
                <a:spcPct val="100000"/>
              </a:lnSpc>
              <a:spcBef>
                <a:spcPts val="0"/>
              </a:spcBef>
              <a:spcAft>
                <a:spcPts val="0"/>
              </a:spcAft>
              <a:buSzPts val="2400"/>
              <a:buNone/>
              <a:defRPr sz="1800"/>
            </a:lvl5pPr>
            <a:lvl6pPr lvl="5" algn="ctr">
              <a:lnSpc>
                <a:spcPct val="100000"/>
              </a:lnSpc>
              <a:spcBef>
                <a:spcPts val="0"/>
              </a:spcBef>
              <a:spcAft>
                <a:spcPts val="0"/>
              </a:spcAft>
              <a:buSzPts val="2400"/>
              <a:buNone/>
              <a:defRPr sz="1800"/>
            </a:lvl6pPr>
            <a:lvl7pPr lvl="6" algn="ctr">
              <a:lnSpc>
                <a:spcPct val="100000"/>
              </a:lnSpc>
              <a:spcBef>
                <a:spcPts val="0"/>
              </a:spcBef>
              <a:spcAft>
                <a:spcPts val="0"/>
              </a:spcAft>
              <a:buSzPts val="2400"/>
              <a:buNone/>
              <a:defRPr sz="1800"/>
            </a:lvl7pPr>
            <a:lvl8pPr lvl="7" algn="ctr">
              <a:lnSpc>
                <a:spcPct val="100000"/>
              </a:lnSpc>
              <a:spcBef>
                <a:spcPts val="0"/>
              </a:spcBef>
              <a:spcAft>
                <a:spcPts val="0"/>
              </a:spcAft>
              <a:buSzPts val="2400"/>
              <a:buNone/>
              <a:defRPr sz="1800"/>
            </a:lvl8pPr>
            <a:lvl9pPr lvl="8" algn="ctr">
              <a:lnSpc>
                <a:spcPct val="100000"/>
              </a:lnSpc>
              <a:spcBef>
                <a:spcPts val="0"/>
              </a:spcBef>
              <a:spcAft>
                <a:spcPts val="0"/>
              </a:spcAft>
              <a:buSzPts val="2400"/>
              <a:buNone/>
              <a:defRPr sz="1800"/>
            </a:lvl9pPr>
          </a:lstStyle>
          <a:p>
            <a:endParaRPr/>
          </a:p>
        </p:txBody>
      </p:sp>
      <p:sp>
        <p:nvSpPr>
          <p:cNvPr id="13" name="Google Shape;13;p2"/>
          <p:cNvSpPr txBox="1">
            <a:spLocks noGrp="1"/>
          </p:cNvSpPr>
          <p:nvPr>
            <p:ph type="sldNum" idx="12"/>
          </p:nvPr>
        </p:nvSpPr>
        <p:spPr>
          <a:xfrm>
            <a:off x="6446482" y="4749892"/>
            <a:ext cx="411525" cy="393600"/>
          </a:xfrm>
          <a:prstGeom prst="rect">
            <a:avLst/>
          </a:prstGeom>
        </p:spPr>
        <p:txBody>
          <a:bodyPr spcFirstLastPara="1" wrap="square" lIns="91425" tIns="91425" rIns="91425" bIns="91425" anchor="ctr" anchorCtr="0">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fld id="{00000000-1234-1234-1234-123412341234}" type="slidenum">
              <a:rPr lang="en" smtClean="0"/>
              <a:pPr/>
              <a:t>‹#›</a:t>
            </a:fld>
            <a:endParaRPr lang="en"/>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Custom Layout">
    <p:spTree>
      <p:nvGrpSpPr>
        <p:cNvPr id="1" name=""/>
        <p:cNvGrpSpPr/>
        <p:nvPr/>
      </p:nvGrpSpPr>
      <p:grpSpPr>
        <a:xfrm>
          <a:off x="0" y="0"/>
          <a:ext cx="0" cy="0"/>
          <a:chOff x="0" y="0"/>
          <a:chExt cx="0" cy="0"/>
        </a:xfrm>
      </p:grpSpPr>
      <p:sp>
        <p:nvSpPr>
          <p:cNvPr id="4" name="Google Shape;6;p1">
            <a:extLst>
              <a:ext uri="{FF2B5EF4-FFF2-40B4-BE49-F238E27FC236}">
                <a16:creationId xmlns:a16="http://schemas.microsoft.com/office/drawing/2014/main" id="{FD5B4268-F0EC-02C8-87DA-324BDAD9D5C3}"/>
              </a:ext>
            </a:extLst>
          </p:cNvPr>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b="1">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5" name="Google Shape;7;p1">
            <a:extLst>
              <a:ext uri="{FF2B5EF4-FFF2-40B4-BE49-F238E27FC236}">
                <a16:creationId xmlns:a16="http://schemas.microsoft.com/office/drawing/2014/main" id="{737A3DEE-178A-8526-2A30-967CA858EC94}"/>
              </a:ext>
            </a:extLst>
          </p:cNvPr>
          <p:cNvSpPr txBox="1">
            <a:spLocks noGrp="1"/>
          </p:cNvSpPr>
          <p:nvPr>
            <p:ph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40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sp>
        <p:nvSpPr>
          <p:cNvPr id="2" name="Slide Number Placeholder 1">
            <a:extLst>
              <a:ext uri="{FF2B5EF4-FFF2-40B4-BE49-F238E27FC236}">
                <a16:creationId xmlns:a16="http://schemas.microsoft.com/office/drawing/2014/main" id="{B51DF3CB-87F9-F259-44C5-76CCC8BCE32C}"/>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278275144"/>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2_Custom Layout">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C7A59394-595B-E6C1-5B62-E3F3A7B0D40D}"/>
              </a:ext>
            </a:extLst>
          </p:cNvPr>
          <p:cNvSpPr>
            <a:spLocks noGrp="1"/>
          </p:cNvSpPr>
          <p:nvPr>
            <p:ph type="sldNum" sz="quarter" idx="10"/>
          </p:nvPr>
        </p:nvSpPr>
        <p:spPr/>
        <p:txBody>
          <a:bodyPr/>
          <a:lstStyle/>
          <a:p>
            <a:fld id="{26FBAF0E-C96E-D64F-8B24-1AA70EC4AC83}" type="slidenum">
              <a:rPr lang="en-US" smtClean="0"/>
              <a:t>‹#›</a:t>
            </a:fld>
            <a:endParaRPr lang="en-US"/>
          </a:p>
        </p:txBody>
      </p:sp>
    </p:spTree>
    <p:extLst>
      <p:ext uri="{BB962C8B-B14F-4D97-AF65-F5344CB8AC3E}">
        <p14:creationId xmlns:p14="http://schemas.microsoft.com/office/powerpoint/2010/main" val="256057448"/>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1_Custom Layout">
    <p:bg>
      <p:bgPr>
        <a:solidFill>
          <a:schemeClr val="bg2"/>
        </a:solidFill>
        <a:effectLst/>
      </p:bgPr>
    </p:bg>
    <p:spTree>
      <p:nvGrpSpPr>
        <p:cNvPr id="1" name=""/>
        <p:cNvGrpSpPr/>
        <p:nvPr/>
      </p:nvGrpSpPr>
      <p:grpSpPr>
        <a:xfrm>
          <a:off x="0" y="0"/>
          <a:ext cx="0" cy="0"/>
          <a:chOff x="0" y="0"/>
          <a:chExt cx="0" cy="0"/>
        </a:xfrm>
      </p:grpSpPr>
      <p:pic>
        <p:nvPicPr>
          <p:cNvPr id="2" name="Picture 1">
            <a:extLst>
              <a:ext uri="{FF2B5EF4-FFF2-40B4-BE49-F238E27FC236}">
                <a16:creationId xmlns:a16="http://schemas.microsoft.com/office/drawing/2014/main" id="{0BCC8073-2779-4ECB-838F-530CD4C4CDC8}"/>
              </a:ext>
            </a:extLst>
          </p:cNvPr>
          <p:cNvPicPr>
            <a:picLocks noChangeAspect="1"/>
          </p:cNvPicPr>
          <p:nvPr userDrawn="1"/>
        </p:nvPicPr>
        <p:blipFill>
          <a:blip r:embed="rId2"/>
          <a:stretch>
            <a:fillRect/>
          </a:stretch>
        </p:blipFill>
        <p:spPr>
          <a:xfrm>
            <a:off x="1" y="4989748"/>
            <a:ext cx="141585" cy="147484"/>
          </a:xfrm>
          <a:prstGeom prst="rect">
            <a:avLst/>
          </a:prstGeom>
        </p:spPr>
      </p:pic>
    </p:spTree>
    <p:extLst>
      <p:ext uri="{BB962C8B-B14F-4D97-AF65-F5344CB8AC3E}">
        <p14:creationId xmlns:p14="http://schemas.microsoft.com/office/powerpoint/2010/main" val="1996178645"/>
      </p:ext>
    </p:extLst>
  </p:cSld>
  <p:clrMapOvr>
    <a:masterClrMapping/>
  </p:clrMapOvr>
</p:sldLayout>
</file>

<file path=ppt/slideMasters/_rels/slideMaster1.xml.rels><?xml version="1.0" encoding="UTF-8" standalone="yes"?>
<Relationships xmlns="http://schemas.openxmlformats.org/package/2006/relationships"><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image" Target="../media/image1.png"/><Relationship Id="rId5" Type="http://schemas.openxmlformats.org/officeDocument/2006/relationships/theme" Target="../theme/theme1.xml"/><Relationship Id="rId4" Type="http://schemas.openxmlformats.org/officeDocument/2006/relationships/slideLayout" Target="../slideLayouts/slideLayout4.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simple-light-2">
    <p:bg>
      <p:bgPr>
        <a:solidFill>
          <a:schemeClr val="lt1"/>
        </a:solidFill>
        <a:effectLst/>
      </p:bgPr>
    </p:bg>
    <p:spTree>
      <p:nvGrpSpPr>
        <p:cNvPr id="1" name="Shape 5"/>
        <p:cNvGrpSpPr/>
        <p:nvPr/>
      </p:nvGrpSpPr>
      <p:grpSpPr>
        <a:xfrm>
          <a:off x="0" y="0"/>
          <a:ext cx="0" cy="0"/>
          <a:chOff x="0" y="0"/>
          <a:chExt cx="0" cy="0"/>
        </a:xfrm>
      </p:grpSpPr>
      <p:sp>
        <p:nvSpPr>
          <p:cNvPr id="6" name="Google Shape;6;p1"/>
          <p:cNvSpPr txBox="1">
            <a:spLocks noGrp="1"/>
          </p:cNvSpPr>
          <p:nvPr>
            <p:ph type="title"/>
          </p:nvPr>
        </p:nvSpPr>
        <p:spPr>
          <a:xfrm>
            <a:off x="14251" y="19250"/>
            <a:ext cx="6815475" cy="610800"/>
          </a:xfrm>
          <a:prstGeom prst="rect">
            <a:avLst/>
          </a:prstGeom>
          <a:noFill/>
          <a:ln>
            <a:noFill/>
          </a:ln>
        </p:spPr>
        <p:txBody>
          <a:bodyPr spcFirstLastPara="1" wrap="square" lIns="97500" tIns="97500" rIns="97500" bIns="97500" anchor="t" anchorCtr="0">
            <a:normAutofit/>
          </a:bodyPr>
          <a:lstStyle>
            <a:lvl1pPr lvl="0">
              <a:spcBef>
                <a:spcPts val="0"/>
              </a:spcBef>
              <a:spcAft>
                <a:spcPts val="0"/>
              </a:spcAft>
              <a:buClr>
                <a:srgbClr val="2D2A62"/>
              </a:buClr>
              <a:buSzPts val="2400"/>
              <a:buFont typeface="Fira Sans"/>
              <a:buNone/>
              <a:defRPr sz="2400">
                <a:solidFill>
                  <a:srgbClr val="2D2A62"/>
                </a:solidFill>
                <a:latin typeface="Fira Sans"/>
                <a:ea typeface="Fira Sans"/>
                <a:cs typeface="Fira Sans"/>
                <a:sym typeface="Fira Sans"/>
              </a:defRPr>
            </a:lvl1pPr>
            <a:lvl2pPr lvl="1">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2pPr>
            <a:lvl3pPr lvl="2">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3pPr>
            <a:lvl4pPr lvl="3">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4pPr>
            <a:lvl5pPr lvl="4">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5pPr>
            <a:lvl6pPr lvl="5">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6pPr>
            <a:lvl7pPr lvl="6">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7pPr>
            <a:lvl8pPr lvl="7">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8pPr>
            <a:lvl9pPr lvl="8">
              <a:spcBef>
                <a:spcPts val="0"/>
              </a:spcBef>
              <a:spcAft>
                <a:spcPts val="0"/>
              </a:spcAft>
              <a:buClr>
                <a:schemeClr val="dk1"/>
              </a:buClr>
              <a:buSzPts val="2400"/>
              <a:buFont typeface="Fira Sans"/>
              <a:buNone/>
              <a:defRPr sz="2400">
                <a:solidFill>
                  <a:schemeClr val="dk1"/>
                </a:solidFill>
                <a:latin typeface="Fira Sans"/>
                <a:ea typeface="Fira Sans"/>
                <a:cs typeface="Fira Sans"/>
                <a:sym typeface="Fira Sans"/>
              </a:defRPr>
            </a:lvl9pPr>
          </a:lstStyle>
          <a:p>
            <a:endParaRPr dirty="0"/>
          </a:p>
        </p:txBody>
      </p:sp>
      <p:sp>
        <p:nvSpPr>
          <p:cNvPr id="7" name="Google Shape;7;p1"/>
          <p:cNvSpPr txBox="1">
            <a:spLocks noGrp="1"/>
          </p:cNvSpPr>
          <p:nvPr>
            <p:ph type="body" idx="1"/>
          </p:nvPr>
        </p:nvSpPr>
        <p:spPr>
          <a:xfrm>
            <a:off x="14251" y="630049"/>
            <a:ext cx="6815475" cy="4099200"/>
          </a:xfrm>
          <a:prstGeom prst="rect">
            <a:avLst/>
          </a:prstGeom>
          <a:noFill/>
          <a:ln>
            <a:noFill/>
          </a:ln>
        </p:spPr>
        <p:txBody>
          <a:bodyPr spcFirstLastPara="1" wrap="square" lIns="97500" tIns="97500" rIns="97500" bIns="97500" anchor="t" anchorCtr="0">
            <a:normAutofit/>
          </a:bodyPr>
          <a:lstStyle>
            <a:lvl1pPr marL="457200" lvl="0" indent="-331453">
              <a:lnSpc>
                <a:spcPct val="115000"/>
              </a:lnSpc>
              <a:spcBef>
                <a:spcPts val="0"/>
              </a:spcBef>
              <a:spcAft>
                <a:spcPts val="0"/>
              </a:spcAft>
              <a:buClr>
                <a:srgbClr val="434343"/>
              </a:buClr>
              <a:buSzPts val="1620"/>
              <a:buFont typeface="Fira Sans"/>
              <a:buChar char="●"/>
              <a:defRPr sz="1620">
                <a:solidFill>
                  <a:srgbClr val="434343"/>
                </a:solidFill>
                <a:latin typeface="Fira Sans"/>
                <a:ea typeface="Fira Sans"/>
                <a:cs typeface="Fira Sans"/>
                <a:sym typeface="Fira Sans"/>
              </a:defRPr>
            </a:lvl1pPr>
            <a:lvl2pPr marL="914400" lvl="1"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2pPr>
            <a:lvl3pPr marL="1371600" lvl="2"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3pPr>
            <a:lvl4pPr marL="1828800" lvl="3"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4pPr>
            <a:lvl5pPr marL="2286000" lvl="4"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5pPr>
            <a:lvl6pPr marL="2743200" lvl="5"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6pPr>
            <a:lvl7pPr marL="3200400" lvl="6"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7pPr>
            <a:lvl8pPr marL="3657600" lvl="7"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8pPr>
            <a:lvl9pPr marL="4114800" lvl="8" indent="-304363">
              <a:lnSpc>
                <a:spcPct val="115000"/>
              </a:lnSpc>
              <a:spcBef>
                <a:spcPts val="0"/>
              </a:spcBef>
              <a:spcAft>
                <a:spcPts val="0"/>
              </a:spcAft>
              <a:buClr>
                <a:srgbClr val="434343"/>
              </a:buClr>
              <a:buSzPts val="1193"/>
              <a:buFont typeface="Fira Sans"/>
              <a:buChar char="■"/>
              <a:defRPr sz="1193">
                <a:solidFill>
                  <a:srgbClr val="434343"/>
                </a:solidFill>
                <a:latin typeface="Fira Sans"/>
                <a:ea typeface="Fira Sans"/>
                <a:cs typeface="Fira Sans"/>
                <a:sym typeface="Fira Sans"/>
              </a:defRPr>
            </a:lvl9pPr>
          </a:lstStyle>
          <a:p>
            <a:endParaRPr/>
          </a:p>
        </p:txBody>
      </p:sp>
      <p:pic>
        <p:nvPicPr>
          <p:cNvPr id="9" name="Google Shape;9;p1"/>
          <p:cNvPicPr preferRelativeResize="0"/>
          <p:nvPr/>
        </p:nvPicPr>
        <p:blipFill rotWithShape="1">
          <a:blip r:embed="rId6">
            <a:alphaModFix/>
          </a:blip>
          <a:srcRect r="79249"/>
          <a:stretch/>
        </p:blipFill>
        <p:spPr>
          <a:xfrm>
            <a:off x="0" y="4841359"/>
            <a:ext cx="342167" cy="302143"/>
          </a:xfrm>
          <a:prstGeom prst="rect">
            <a:avLst/>
          </a:prstGeom>
          <a:noFill/>
          <a:ln>
            <a:noFill/>
          </a:ln>
        </p:spPr>
      </p:pic>
      <p:sp>
        <p:nvSpPr>
          <p:cNvPr id="3" name="Slide Number Placeholder 2">
            <a:extLst>
              <a:ext uri="{FF2B5EF4-FFF2-40B4-BE49-F238E27FC236}">
                <a16:creationId xmlns:a16="http://schemas.microsoft.com/office/drawing/2014/main" id="{DF71E8FB-ADDA-82C8-8A4F-6295E7491A8B}"/>
              </a:ext>
            </a:extLst>
          </p:cNvPr>
          <p:cNvSpPr>
            <a:spLocks noGrp="1"/>
          </p:cNvSpPr>
          <p:nvPr>
            <p:ph type="sldNum" sz="quarter" idx="4"/>
          </p:nvPr>
        </p:nvSpPr>
        <p:spPr>
          <a:xfrm>
            <a:off x="5314950" y="4871644"/>
            <a:ext cx="1543050" cy="274637"/>
          </a:xfrm>
          <a:prstGeom prst="rect">
            <a:avLst/>
          </a:prstGeom>
        </p:spPr>
        <p:txBody>
          <a:bodyPr vert="horz" lIns="91440" tIns="45720" rIns="91440" bIns="45720" rtlCol="0" anchor="ctr"/>
          <a:lstStyle>
            <a:lvl1pPr algn="r">
              <a:defRPr sz="1050">
                <a:solidFill>
                  <a:schemeClr val="bg2"/>
                </a:solidFill>
              </a:defRPr>
            </a:lvl1pPr>
          </a:lstStyle>
          <a:p>
            <a:fld id="{26FBAF0E-C96E-D64F-8B24-1AA70EC4AC83}" type="slidenum">
              <a:rPr lang="en-US" smtClean="0"/>
              <a:pPr/>
              <a:t>‹#›</a:t>
            </a:fld>
            <a:endParaRPr lang="en-US"/>
          </a:p>
        </p:txBody>
      </p:sp>
    </p:spTree>
  </p:cSld>
  <p:clrMap bg1="lt1" tx1="dk1" bg2="dk2" tx2="lt2" accent1="accent1" accent2="accent2" accent3="accent3" accent4="accent4" accent5="accent5" accent6="accent6" hlink="hlink" folHlink="folHlink"/>
  <p:sldLayoutIdLst>
    <p:sldLayoutId id="2147483648" r:id="rId1"/>
    <p:sldLayoutId id="2147483660" r:id="rId2"/>
    <p:sldLayoutId id="2147483662" r:id="rId3"/>
    <p:sldLayoutId id="2147483661" r:id="rId4"/>
  </p:sldLayoutIdLst>
  <p:hf sldNum="0" hdr="0" ftr="0" dt="0"/>
  <p:txStyles>
    <p:title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chemeClr val="accent1"/>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titleStyle>
    <p:body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bodyStyle>
    <p:otherStyle>
      <a:defPPr marR="0" lvl="0" algn="l" rtl="0">
        <a:lnSpc>
          <a:spcPct val="100000"/>
        </a:lnSpc>
        <a:spcBef>
          <a:spcPts val="0"/>
        </a:spcBef>
        <a:spcAft>
          <a:spcPts val="0"/>
        </a:spcAft>
      </a:defPPr>
      <a:lvl1pPr marR="0" lvl="0"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1pPr>
      <a:lvl2pPr marR="0" lvl="1"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2pPr>
      <a:lvl3pPr marR="0" lvl="2"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3pPr>
      <a:lvl4pPr marR="0" lvl="3"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4pPr>
      <a:lvl5pPr marR="0" lvl="4"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5pPr>
      <a:lvl6pPr marR="0" lvl="5"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6pPr>
      <a:lvl7pPr marR="0" lvl="6"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7pPr>
      <a:lvl8pPr marR="0" lvl="7"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8pPr>
      <a:lvl9pPr marR="0" lvl="8" algn="l" rtl="0">
        <a:lnSpc>
          <a:spcPct val="100000"/>
        </a:lnSpc>
        <a:spcBef>
          <a:spcPts val="0"/>
        </a:spcBef>
        <a:spcAft>
          <a:spcPts val="0"/>
        </a:spcAft>
        <a:buClr>
          <a:srgbClr val="000000"/>
        </a:buClr>
        <a:buFont typeface="Arial"/>
        <a:defRPr sz="1050" b="0" i="0" u="none" strike="noStrike" cap="none" spc="0">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3.xml.rels><?xml version="1.0" encoding="UTF-8" standalone="yes"?>
<Relationships xmlns="http://schemas.openxmlformats.org/package/2006/relationships"><Relationship Id="rId3" Type="http://schemas.openxmlformats.org/officeDocument/2006/relationships/hyperlink" Target="mailto:ik2619@columbia.edu" TargetMode="External"/><Relationship Id="rId2" Type="http://schemas.openxmlformats.org/officeDocument/2006/relationships/hyperlink" Target="mailto:rk3080@columbia.edu" TargetMode="External"/><Relationship Id="rId1" Type="http://schemas.openxmlformats.org/officeDocument/2006/relationships/slideLayout" Target="../slideLayouts/slideLayout2.xml"/><Relationship Id="rId4" Type="http://schemas.openxmlformats.org/officeDocument/2006/relationships/hyperlink" Target="http://rkrsn.us/" TargetMode="Externa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2.xm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notesSlide" Target="../notesSlides/notesSlide3.xml"/><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notesSlide" Target="../notesSlides/notesSlide4.xml"/><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3" Type="http://schemas.microsoft.com/office/2018/10/relationships/comments" Target="../comments/modernComment_155_0.xml"/><Relationship Id="rId2" Type="http://schemas.openxmlformats.org/officeDocument/2006/relationships/notesSlide" Target="../notesSlides/notesSlide6.xml"/><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0.xml"/><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notesSlide" Target="../notesSlides/notesSlide14.xml"/><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notesSlide" Target="../notesSlides/notesSlide15.xml"/><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17.xml"/><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notesSlide" Target="../notesSlides/notesSlide20.xml"/><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2" Type="http://schemas.openxmlformats.org/officeDocument/2006/relationships/notesSlide" Target="../notesSlides/notesSlide21.xml"/><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notesSlide" Target="../notesSlides/notesSlide22.xml"/><Relationship Id="rId1" Type="http://schemas.openxmlformats.org/officeDocument/2006/relationships/slideLayout" Target="../slideLayouts/slideLayout2.xml"/></Relationships>
</file>

<file path=ppt/slides/_rels/slide32.xml.rels><?xml version="1.0" encoding="UTF-8" standalone="yes"?>
<Relationships xmlns="http://schemas.openxmlformats.org/package/2006/relationships"><Relationship Id="rId2" Type="http://schemas.openxmlformats.org/officeDocument/2006/relationships/notesSlide" Target="../notesSlides/notesSlide23.xml"/><Relationship Id="rId1" Type="http://schemas.openxmlformats.org/officeDocument/2006/relationships/slideLayout" Target="../slideLayouts/slideLayout2.xml"/></Relationships>
</file>

<file path=ppt/slides/_rels/slide33.xml.rels><?xml version="1.0" encoding="UTF-8" standalone="yes"?>
<Relationships xmlns="http://schemas.openxmlformats.org/package/2006/relationships"><Relationship Id="rId2" Type="http://schemas.openxmlformats.org/officeDocument/2006/relationships/notesSlide" Target="../notesSlides/notesSlide24.xml"/><Relationship Id="rId1" Type="http://schemas.openxmlformats.org/officeDocument/2006/relationships/slideLayout" Target="../slideLayouts/slideLayout2.xml"/></Relationships>
</file>

<file path=ppt/slides/_rels/slide34.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25.xml"/><Relationship Id="rId1" Type="http://schemas.openxmlformats.org/officeDocument/2006/relationships/slideLayout" Target="../slideLayouts/slideLayout2.xml"/></Relationships>
</file>

<file path=ppt/slides/_rels/slide35.xml.rels><?xml version="1.0" encoding="UTF-8" standalone="yes"?>
<Relationships xmlns="http://schemas.openxmlformats.org/package/2006/relationships"><Relationship Id="rId2" Type="http://schemas.openxmlformats.org/officeDocument/2006/relationships/notesSlide" Target="../notesSlides/notesSlide26.xml"/><Relationship Id="rId1" Type="http://schemas.openxmlformats.org/officeDocument/2006/relationships/slideLayout" Target="../slideLayouts/slideLayout2.xml"/></Relationships>
</file>

<file path=ppt/slides/_rels/slide36.xml.rels><?xml version="1.0" encoding="UTF-8" standalone="yes"?>
<Relationships xmlns="http://schemas.openxmlformats.org/package/2006/relationships"><Relationship Id="rId2" Type="http://schemas.openxmlformats.org/officeDocument/2006/relationships/notesSlide" Target="../notesSlides/notesSlide27.xml"/><Relationship Id="rId1" Type="http://schemas.openxmlformats.org/officeDocument/2006/relationships/slideLayout" Target="../slideLayouts/slideLayout2.xml"/></Relationships>
</file>

<file path=ppt/slides/_rels/slide37.xml.rels><?xml version="1.0" encoding="UTF-8" standalone="yes"?>
<Relationships xmlns="http://schemas.openxmlformats.org/package/2006/relationships"><Relationship Id="rId3" Type="http://schemas.openxmlformats.org/officeDocument/2006/relationships/image" Target="../media/image7.png"/><Relationship Id="rId2" Type="http://schemas.openxmlformats.org/officeDocument/2006/relationships/notesSlide" Target="../notesSlides/notesSlide28.xml"/><Relationship Id="rId1" Type="http://schemas.openxmlformats.org/officeDocument/2006/relationships/slideLayout" Target="../slideLayouts/slideLayout2.xml"/></Relationships>
</file>

<file path=ppt/slides/_rels/slide38.xml.rels><?xml version="1.0" encoding="UTF-8" standalone="yes"?>
<Relationships xmlns="http://schemas.openxmlformats.org/package/2006/relationships"><Relationship Id="rId2" Type="http://schemas.openxmlformats.org/officeDocument/2006/relationships/notesSlide" Target="../notesSlides/notesSlide29.xml"/><Relationship Id="rId1" Type="http://schemas.openxmlformats.org/officeDocument/2006/relationships/slideLayout" Target="../slideLayouts/slideLayout2.xml"/></Relationships>
</file>

<file path=ppt/slides/_rels/slide39.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notesSlide" Target="../notesSlides/notesSlide30.xml"/><Relationship Id="rId1" Type="http://schemas.openxmlformats.org/officeDocument/2006/relationships/slideLayout" Target="../slideLayouts/slideLayout2.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31.xml"/><Relationship Id="rId1" Type="http://schemas.openxmlformats.org/officeDocument/2006/relationships/slideLayout" Target="../slideLayouts/slideLayout2.xml"/></Relationships>
</file>

<file path=ppt/slides/_rels/slide41.xml.rels><?xml version="1.0" encoding="UTF-8" standalone="yes"?>
<Relationships xmlns="http://schemas.openxmlformats.org/package/2006/relationships"><Relationship Id="rId2" Type="http://schemas.openxmlformats.org/officeDocument/2006/relationships/notesSlide" Target="../notesSlides/notesSlide32.xml"/><Relationship Id="rId1" Type="http://schemas.openxmlformats.org/officeDocument/2006/relationships/slideLayout" Target="../slideLayouts/slideLayout2.xml"/></Relationships>
</file>

<file path=ppt/slides/_rels/slide42.xml.rels><?xml version="1.0" encoding="UTF-8" standalone="yes"?>
<Relationships xmlns="http://schemas.openxmlformats.org/package/2006/relationships"><Relationship Id="rId2" Type="http://schemas.openxmlformats.org/officeDocument/2006/relationships/notesSlide" Target="../notesSlides/notesSlide33.xml"/><Relationship Id="rId1" Type="http://schemas.openxmlformats.org/officeDocument/2006/relationships/slideLayout" Target="../slideLayouts/slideLayout2.xml"/></Relationships>
</file>

<file path=ppt/slides/_rels/slide43.xml.rels><?xml version="1.0" encoding="UTF-8" standalone="yes"?>
<Relationships xmlns="http://schemas.openxmlformats.org/package/2006/relationships"><Relationship Id="rId2" Type="http://schemas.openxmlformats.org/officeDocument/2006/relationships/notesSlide" Target="../notesSlides/notesSlide34.xml"/><Relationship Id="rId1" Type="http://schemas.openxmlformats.org/officeDocument/2006/relationships/slideLayout" Target="../slideLayouts/slideLayout2.xml"/></Relationships>
</file>

<file path=ppt/slides/_rels/slide44.xml.rels><?xml version="1.0" encoding="UTF-8" standalone="yes"?>
<Relationships xmlns="http://schemas.openxmlformats.org/package/2006/relationships"><Relationship Id="rId2" Type="http://schemas.openxmlformats.org/officeDocument/2006/relationships/notesSlide" Target="../notesSlides/notesSlide35.xml"/><Relationship Id="rId1" Type="http://schemas.openxmlformats.org/officeDocument/2006/relationships/slideLayout" Target="../slideLayouts/slideLayout2.xml"/></Relationships>
</file>

<file path=ppt/slides/_rels/slide45.xml.rels><?xml version="1.0" encoding="UTF-8" standalone="yes"?>
<Relationships xmlns="http://schemas.openxmlformats.org/package/2006/relationships"><Relationship Id="rId2" Type="http://schemas.openxmlformats.org/officeDocument/2006/relationships/notesSlide" Target="../notesSlides/notesSlide36.xml"/><Relationship Id="rId1" Type="http://schemas.openxmlformats.org/officeDocument/2006/relationships/slideLayout" Target="../slideLayouts/slideLayout2.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37.xml"/><Relationship Id="rId1" Type="http://schemas.openxmlformats.org/officeDocument/2006/relationships/slideLayout" Target="../slideLayouts/slideLayout2.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38.xml"/><Relationship Id="rId1" Type="http://schemas.openxmlformats.org/officeDocument/2006/relationships/slideLayout" Target="../slideLayouts/slideLayout2.xml"/></Relationships>
</file>

<file path=ppt/slides/_rels/slide48.xml.rels><?xml version="1.0" encoding="UTF-8" standalone="yes"?>
<Relationships xmlns="http://schemas.openxmlformats.org/package/2006/relationships"><Relationship Id="rId3" Type="http://schemas.microsoft.com/office/2018/10/relationships/comments" Target="../comments/modernComment_178_0.xml"/><Relationship Id="rId2" Type="http://schemas.openxmlformats.org/officeDocument/2006/relationships/notesSlide" Target="../notesSlides/notesSlide39.xml"/><Relationship Id="rId1" Type="http://schemas.openxmlformats.org/officeDocument/2006/relationships/slideLayout" Target="../slideLayouts/slideLayout2.xml"/></Relationships>
</file>

<file path=ppt/slides/_rels/slide49.xml.rels><?xml version="1.0" encoding="UTF-8" standalone="yes"?>
<Relationships xmlns="http://schemas.openxmlformats.org/package/2006/relationships"><Relationship Id="rId2" Type="http://schemas.openxmlformats.org/officeDocument/2006/relationships/notesSlide" Target="../notesSlides/notesSlide40.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ctrTitle"/>
          </p:nvPr>
        </p:nvSpPr>
        <p:spPr/>
        <p:txBody>
          <a:bodyPr/>
          <a:lstStyle/>
          <a:p>
            <a:r>
              <a:rPr lang="en-US" b="1" dirty="0"/>
              <a:t>Designing Production Agentic Systems</a:t>
            </a:r>
            <a:endParaRPr b="1" dirty="0"/>
          </a:p>
        </p:txBody>
      </p:sp>
      <p:sp>
        <p:nvSpPr>
          <p:cNvPr id="3" name="Subtitle 2"/>
          <p:cNvSpPr>
            <a:spLocks noGrp="1"/>
          </p:cNvSpPr>
          <p:nvPr>
            <p:ph type="subTitle" idx="1"/>
          </p:nvPr>
        </p:nvSpPr>
        <p:spPr/>
        <p:txBody>
          <a:bodyPr/>
          <a:lstStyle/>
          <a:p>
            <a:r>
              <a:rPr b="1" dirty="0"/>
              <a:t>Columbia · Fall 2026 · Lecture </a:t>
            </a:r>
            <a:r>
              <a:rPr lang="en-US" b="1" dirty="0"/>
              <a:t>2</a:t>
            </a:r>
            <a:endParaRPr b="1"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extBox 3">
            <a:extLst>
              <a:ext uri="{FF2B5EF4-FFF2-40B4-BE49-F238E27FC236}">
                <a16:creationId xmlns:a16="http://schemas.microsoft.com/office/drawing/2014/main" id="{D214CCDE-7AC2-0B63-DE2D-FFDC29D92E35}"/>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14239541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F602CC-2E61-D761-6C3D-D5337FF0B56B}"/>
              </a:ext>
            </a:extLst>
          </p:cNvPr>
          <p:cNvSpPr>
            <a:spLocks noGrp="1"/>
          </p:cNvSpPr>
          <p:nvPr>
            <p:ph type="title"/>
          </p:nvPr>
        </p:nvSpPr>
        <p:spPr/>
        <p:txBody>
          <a:bodyPr/>
          <a:lstStyle/>
          <a:p>
            <a:r>
              <a:rPr lang="en-US" dirty="0"/>
              <a:t>About the Instructors</a:t>
            </a:r>
          </a:p>
        </p:txBody>
      </p:sp>
      <p:sp>
        <p:nvSpPr>
          <p:cNvPr id="3" name="Content Placeholder 2">
            <a:extLst>
              <a:ext uri="{FF2B5EF4-FFF2-40B4-BE49-F238E27FC236}">
                <a16:creationId xmlns:a16="http://schemas.microsoft.com/office/drawing/2014/main" id="{86859905-1202-8C5E-10B5-C048049F64F5}"/>
              </a:ext>
            </a:extLst>
          </p:cNvPr>
          <p:cNvSpPr>
            <a:spLocks noGrp="1"/>
          </p:cNvSpPr>
          <p:nvPr>
            <p:ph idx="1"/>
          </p:nvPr>
        </p:nvSpPr>
        <p:spPr>
          <a:xfrm>
            <a:off x="127749" y="630050"/>
            <a:ext cx="6585696" cy="926797"/>
          </a:xfrm>
        </p:spPr>
        <p:txBody>
          <a:bodyPr>
            <a:normAutofit/>
          </a:bodyPr>
          <a:lstStyle/>
          <a:p>
            <a:pPr marL="125747" indent="0">
              <a:lnSpc>
                <a:spcPct val="100000"/>
              </a:lnSpc>
              <a:buNone/>
            </a:pPr>
            <a:r>
              <a:rPr lang="en-US" dirty="0"/>
              <a:t>Senior Research Scientist IBM and I was a CS Postdoc at Columbia.</a:t>
            </a:r>
            <a:endParaRPr lang="en-US" b="1" dirty="0">
              <a:solidFill>
                <a:srgbClr val="28285E"/>
              </a:solidFill>
            </a:endParaRPr>
          </a:p>
          <a:p>
            <a:pPr marL="125747" indent="0">
              <a:lnSpc>
                <a:spcPct val="100000"/>
              </a:lnSpc>
              <a:buNone/>
            </a:pPr>
            <a:endParaRPr lang="en-US" b="1" dirty="0">
              <a:solidFill>
                <a:srgbClr val="28285E"/>
              </a:solidFill>
            </a:endParaRPr>
          </a:p>
          <a:p>
            <a:pPr marL="125747" indent="0">
              <a:lnSpc>
                <a:spcPct val="100000"/>
              </a:lnSpc>
              <a:buNone/>
            </a:pPr>
            <a:r>
              <a:rPr lang="en-US" b="1" dirty="0">
                <a:solidFill>
                  <a:srgbClr val="28285E"/>
                </a:solidFill>
              </a:rPr>
              <a:t>What I work on: </a:t>
            </a:r>
            <a:r>
              <a:rPr lang="en-US" dirty="0">
                <a:solidFill>
                  <a:srgbClr val="28285E"/>
                </a:solidFill>
              </a:rPr>
              <a:t> </a:t>
            </a:r>
            <a:r>
              <a:rPr lang="en-US" b="1" dirty="0"/>
              <a:t>Program Analysis • Distributed Systems • Security • Testing</a:t>
            </a:r>
          </a:p>
        </p:txBody>
      </p:sp>
      <p:graphicFrame>
        <p:nvGraphicFramePr>
          <p:cNvPr id="4" name="Table 3">
            <a:extLst>
              <a:ext uri="{FF2B5EF4-FFF2-40B4-BE49-F238E27FC236}">
                <a16:creationId xmlns:a16="http://schemas.microsoft.com/office/drawing/2014/main" id="{CC1434B4-2139-27C5-65C1-37131B0490D6}"/>
              </a:ext>
            </a:extLst>
          </p:cNvPr>
          <p:cNvGraphicFramePr>
            <a:graphicFrameLocks noGrp="1"/>
          </p:cNvGraphicFramePr>
          <p:nvPr>
            <p:extLst>
              <p:ext uri="{D42A27DB-BD31-4B8C-83A1-F6EECF244321}">
                <p14:modId xmlns:p14="http://schemas.microsoft.com/office/powerpoint/2010/main" val="1511280586"/>
              </p:ext>
            </p:extLst>
          </p:nvPr>
        </p:nvGraphicFramePr>
        <p:xfrm>
          <a:off x="1508391" y="1856916"/>
          <a:ext cx="3841221" cy="2491740"/>
        </p:xfrm>
        <a:graphic>
          <a:graphicData uri="http://schemas.openxmlformats.org/drawingml/2006/table">
            <a:tbl>
              <a:tblPr firstRow="1" bandRow="1">
                <a:tableStyleId>{2D5ABB26-0587-4C30-8999-92F81FD0307C}</a:tableStyleId>
              </a:tblPr>
              <a:tblGrid>
                <a:gridCol w="965954">
                  <a:extLst>
                    <a:ext uri="{9D8B030D-6E8A-4147-A177-3AD203B41FA5}">
                      <a16:colId xmlns:a16="http://schemas.microsoft.com/office/drawing/2014/main" val="2271713243"/>
                    </a:ext>
                  </a:extLst>
                </a:gridCol>
                <a:gridCol w="2875267">
                  <a:extLst>
                    <a:ext uri="{9D8B030D-6E8A-4147-A177-3AD203B41FA5}">
                      <a16:colId xmlns:a16="http://schemas.microsoft.com/office/drawing/2014/main" val="1569624038"/>
                    </a:ext>
                  </a:extLst>
                </a:gridCol>
              </a:tblGrid>
              <a:tr h="415290">
                <a:tc>
                  <a:txBody>
                    <a:bodyPr/>
                    <a:lstStyle/>
                    <a:p>
                      <a:r>
                        <a:rPr lang="en-US" b="1" dirty="0"/>
                        <a:t>Instructor</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Rahul Krishna • </a:t>
                      </a:r>
                      <a:r>
                        <a:rPr lang="en-US" dirty="0">
                          <a:hlinkClick r:id="rId2"/>
                        </a:rPr>
                        <a:t>rk3080@columbia.edu</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56892486"/>
                  </a:ext>
                </a:extLst>
              </a:tr>
              <a:tr h="415290">
                <a:tc>
                  <a:txBody>
                    <a:bodyPr/>
                    <a:lstStyle/>
                    <a:p>
                      <a:pPr algn="l"/>
                      <a:r>
                        <a:rPr lang="en-US" b="1" dirty="0"/>
                        <a:t>Teaching Assistant</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In Keun Kim • </a:t>
                      </a:r>
                      <a:r>
                        <a:rPr lang="en-US" dirty="0">
                          <a:hlinkClick r:id="rId3"/>
                        </a:rPr>
                        <a:t>ik2619@columbia.edu</a:t>
                      </a:r>
                      <a:r>
                        <a:rPr lang="en-US"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744504568"/>
                  </a:ext>
                </a:extLst>
              </a:tr>
              <a:tr h="415290">
                <a:tc>
                  <a:txBody>
                    <a:bodyPr/>
                    <a:lstStyle/>
                    <a:p>
                      <a:r>
                        <a:rPr lang="en-US" b="1" dirty="0"/>
                        <a:t>Office Hours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Friday 12:00—1:30 (and via zoom ad hoc)</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415290">
                <a:tc>
                  <a:txBody>
                    <a:bodyPr/>
                    <a:lstStyle/>
                    <a:p>
                      <a:r>
                        <a:rPr lang="en-US" b="1" dirty="0"/>
                        <a:t>TA</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To be announced on CourseWorks</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415290">
                <a:tc>
                  <a:txBody>
                    <a:bodyPr/>
                    <a:lstStyle/>
                    <a:p>
                      <a:r>
                        <a:rPr lang="en-US" b="1" dirty="0"/>
                        <a:t>Discussion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t>Slack Channel</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415290">
                <a:tc>
                  <a:txBody>
                    <a:bodyPr/>
                    <a:lstStyle/>
                    <a:p>
                      <a:r>
                        <a:rPr lang="en-US" b="1" dirty="0"/>
                        <a:t>Website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dirty="0">
                          <a:hlinkClick r:id="rId4"/>
                        </a:rPr>
                        <a:t>rkrsn.us</a:t>
                      </a:r>
                      <a:endParaRPr lang="en-US" dirty="0"/>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24091803"/>
                  </a:ext>
                </a:extLst>
              </a:tr>
            </a:tbl>
          </a:graphicData>
        </a:graphic>
      </p:graphicFrame>
    </p:spTree>
    <p:extLst>
      <p:ext uri="{BB962C8B-B14F-4D97-AF65-F5344CB8AC3E}">
        <p14:creationId xmlns:p14="http://schemas.microsoft.com/office/powerpoint/2010/main" val="352864974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ED3166E-AD55-87BA-F094-4A6EF9A23DDB}"/>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E43F3312-51B2-EC34-2E69-5DE12A236EDC}"/>
              </a:ext>
            </a:extLst>
          </p:cNvPr>
          <p:cNvSpPr>
            <a:spLocks noGrp="1"/>
          </p:cNvSpPr>
          <p:nvPr>
            <p:ph type="title"/>
          </p:nvPr>
        </p:nvSpPr>
        <p:spPr/>
        <p:txBody>
          <a:bodyPr/>
          <a:lstStyle/>
          <a:p>
            <a:r>
              <a:rPr lang="en-US" dirty="0"/>
              <a:t>The key question that motivates this course</a:t>
            </a:r>
          </a:p>
        </p:txBody>
      </p:sp>
      <p:sp>
        <p:nvSpPr>
          <p:cNvPr id="3" name="Rectangle 2">
            <a:extLst>
              <a:ext uri="{FF2B5EF4-FFF2-40B4-BE49-F238E27FC236}">
                <a16:creationId xmlns:a16="http://schemas.microsoft.com/office/drawing/2014/main" id="{8FFA006E-AD23-4CAC-BB92-1B5AF8509A96}"/>
              </a:ext>
            </a:extLst>
          </p:cNvPr>
          <p:cNvSpPr/>
          <p:nvPr/>
        </p:nvSpPr>
        <p:spPr>
          <a:xfrm>
            <a:off x="319251" y="859219"/>
            <a:ext cx="6014545" cy="610801"/>
          </a:xfrm>
          <a:prstGeom prst="rect">
            <a:avLst/>
          </a:prstGeom>
          <a:solidFill>
            <a:srgbClr val="28285E"/>
          </a:solid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chemeClr val="tx2"/>
                </a:solidFill>
              </a:rPr>
              <a:t>How do we place a </a:t>
            </a:r>
            <a:r>
              <a:rPr lang="en-US" b="1" u="sng" dirty="0">
                <a:solidFill>
                  <a:schemeClr val="tx2"/>
                </a:solidFill>
              </a:rPr>
              <a:t>probabilistic</a:t>
            </a:r>
            <a:r>
              <a:rPr lang="en-US" dirty="0">
                <a:solidFill>
                  <a:schemeClr val="tx2"/>
                </a:solidFill>
              </a:rPr>
              <a:t> model </a:t>
            </a:r>
            <a:r>
              <a:rPr lang="en-US" b="1" u="sng" dirty="0">
                <a:solidFill>
                  <a:schemeClr val="tx2"/>
                </a:solidFill>
              </a:rPr>
              <a:t>inside a software system</a:t>
            </a:r>
            <a:r>
              <a:rPr lang="en-US" dirty="0">
                <a:solidFill>
                  <a:schemeClr val="tx2"/>
                </a:solidFill>
              </a:rPr>
              <a:t> without surrendering the </a:t>
            </a:r>
            <a:r>
              <a:rPr lang="en-US" b="1" u="sng" dirty="0">
                <a:solidFill>
                  <a:schemeClr val="tx2"/>
                </a:solidFill>
              </a:rPr>
              <a:t>guarantees</a:t>
            </a:r>
            <a:r>
              <a:rPr lang="en-US" dirty="0">
                <a:solidFill>
                  <a:schemeClr val="tx2"/>
                </a:solidFill>
              </a:rPr>
              <a:t> expected of production software?</a:t>
            </a:r>
          </a:p>
        </p:txBody>
      </p:sp>
      <p:sp>
        <p:nvSpPr>
          <p:cNvPr id="6" name="Rectangle 5">
            <a:extLst>
              <a:ext uri="{FF2B5EF4-FFF2-40B4-BE49-F238E27FC236}">
                <a16:creationId xmlns:a16="http://schemas.microsoft.com/office/drawing/2014/main" id="{96CFEB25-375B-1C2F-4556-5BA4657E0CA1}"/>
              </a:ext>
            </a:extLst>
          </p:cNvPr>
          <p:cNvSpPr/>
          <p:nvPr/>
        </p:nvSpPr>
        <p:spPr>
          <a:xfrm>
            <a:off x="319251" y="3916457"/>
            <a:ext cx="6014545" cy="441319"/>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r>
              <a:rPr lang="en-US" b="1" dirty="0">
                <a:solidFill>
                  <a:srgbClr val="28285E"/>
                </a:solidFill>
              </a:rPr>
              <a:t>The agent is a component of a larger system. It is not the entire system.</a:t>
            </a:r>
            <a:endParaRPr lang="en-US" dirty="0">
              <a:solidFill>
                <a:srgbClr val="28285E"/>
              </a:solidFill>
            </a:endParaRPr>
          </a:p>
        </p:txBody>
      </p:sp>
      <p:graphicFrame>
        <p:nvGraphicFramePr>
          <p:cNvPr id="5" name="Table 4">
            <a:extLst>
              <a:ext uri="{FF2B5EF4-FFF2-40B4-BE49-F238E27FC236}">
                <a16:creationId xmlns:a16="http://schemas.microsoft.com/office/drawing/2014/main" id="{D1AFF10F-E30A-D358-0FE4-A274065E8764}"/>
              </a:ext>
            </a:extLst>
          </p:cNvPr>
          <p:cNvGraphicFramePr>
            <a:graphicFrameLocks noGrp="1"/>
          </p:cNvGraphicFramePr>
          <p:nvPr>
            <p:extLst>
              <p:ext uri="{D42A27DB-BD31-4B8C-83A1-F6EECF244321}">
                <p14:modId xmlns:p14="http://schemas.microsoft.com/office/powerpoint/2010/main" val="291612122"/>
              </p:ext>
            </p:extLst>
          </p:nvPr>
        </p:nvGraphicFramePr>
        <p:xfrm>
          <a:off x="319250" y="1884593"/>
          <a:ext cx="6014546" cy="1661160"/>
        </p:xfrm>
        <a:graphic>
          <a:graphicData uri="http://schemas.openxmlformats.org/drawingml/2006/table">
            <a:tbl>
              <a:tblPr>
                <a:tableStyleId>{2D5ABB26-0587-4C30-8999-92F81FD0307C}</a:tableStyleId>
              </a:tblPr>
              <a:tblGrid>
                <a:gridCol w="2175643">
                  <a:extLst>
                    <a:ext uri="{9D8B030D-6E8A-4147-A177-3AD203B41FA5}">
                      <a16:colId xmlns:a16="http://schemas.microsoft.com/office/drawing/2014/main" val="217211546"/>
                    </a:ext>
                  </a:extLst>
                </a:gridCol>
                <a:gridCol w="3838903">
                  <a:extLst>
                    <a:ext uri="{9D8B030D-6E8A-4147-A177-3AD203B41FA5}">
                      <a16:colId xmlns:a16="http://schemas.microsoft.com/office/drawing/2014/main" val="1714636532"/>
                    </a:ext>
                  </a:extLst>
                </a:gridCol>
              </a:tblGrid>
              <a:tr h="255270">
                <a:tc>
                  <a:txBody>
                    <a:bodyPr/>
                    <a:lstStyle/>
                    <a:p>
                      <a:pPr algn="l">
                        <a:buNone/>
                      </a:pPr>
                      <a:r>
                        <a:rPr lang="en-US" sz="1000" b="1" dirty="0">
                          <a:effectLst/>
                        </a:rPr>
                        <a:t>Phrase</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rPr>
                        <a:t>Why it is in the question</a:t>
                      </a:r>
                      <a:endParaRPr lang="en-US" sz="1000" b="0" i="0" dirty="0">
                        <a:solidFill>
                          <a:srgbClr val="000000"/>
                        </a:solidFill>
                        <a:effectLst/>
                        <a:latin typeface="Fira Sans" panose="020B0503050000020004" pitchFamily="34" charset="0"/>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680763243"/>
                  </a:ext>
                </a:extLst>
              </a:tr>
              <a:tr h="575310">
                <a:tc>
                  <a:txBody>
                    <a:bodyPr/>
                    <a:lstStyle/>
                    <a:p>
                      <a:pPr algn="l">
                        <a:buNone/>
                      </a:pPr>
                      <a:r>
                        <a:rPr lang="en-US" sz="1000" b="1" dirty="0">
                          <a:effectLst/>
                        </a:rPr>
                        <a:t>Probabilistic</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Two identical calls are </a:t>
                      </a:r>
                      <a:r>
                        <a:rPr lang="en-US" sz="1000" b="1" dirty="0">
                          <a:solidFill>
                            <a:srgbClr val="28285E"/>
                          </a:solidFill>
                          <a:effectLst/>
                        </a:rPr>
                        <a:t>not guaranteed to agree</a:t>
                      </a:r>
                      <a:r>
                        <a:rPr lang="en-US" sz="1000" dirty="0">
                          <a:effectLst/>
                        </a:rPr>
                        <a:t>, and nothing downstream may assume they will</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907777580"/>
                  </a:ext>
                </a:extLst>
              </a:tr>
              <a:tr h="415290">
                <a:tc>
                  <a:txBody>
                    <a:bodyPr/>
                    <a:lstStyle/>
                    <a:p>
                      <a:pPr algn="l">
                        <a:buNone/>
                      </a:pPr>
                      <a:r>
                        <a:rPr lang="en-US" sz="1000" b="1" dirty="0">
                          <a:effectLst/>
                        </a:rPr>
                        <a:t>Inside a software system</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It is </a:t>
                      </a:r>
                      <a:r>
                        <a:rPr lang="en-US" sz="1000" b="1" dirty="0">
                          <a:solidFill>
                            <a:srgbClr val="28285E"/>
                          </a:solidFill>
                          <a:effectLst/>
                        </a:rPr>
                        <a:t>one component among several</a:t>
                      </a:r>
                      <a:r>
                        <a:rPr lang="en-US" sz="1000" dirty="0">
                          <a:effectLst/>
                        </a:rPr>
                        <a:t>. It is called, its output is validated, and it may be refused</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7361544"/>
                  </a:ext>
                </a:extLst>
              </a:tr>
              <a:tr h="415290">
                <a:tc>
                  <a:txBody>
                    <a:bodyPr/>
                    <a:lstStyle/>
                    <a:p>
                      <a:pPr algn="l">
                        <a:buNone/>
                      </a:pPr>
                      <a:r>
                        <a:rPr lang="en-US" sz="1000" b="1" dirty="0">
                          <a:effectLst/>
                        </a:rPr>
                        <a:t>Guarantees</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rPr>
                        <a:t>The “promises” a system makes to its consumers. Things a </a:t>
                      </a:r>
                      <a:r>
                        <a:rPr lang="en-US" sz="1000" b="1" dirty="0">
                          <a:solidFill>
                            <a:srgbClr val="28285E"/>
                          </a:solidFill>
                          <a:effectLst/>
                        </a:rPr>
                        <a:t>caller is entitled to expect</a:t>
                      </a:r>
                      <a:r>
                        <a:rPr lang="en-US" sz="1000" dirty="0">
                          <a:effectLst/>
                        </a:rPr>
                        <a:t> and rely on every time</a:t>
                      </a:r>
                      <a:endParaRPr lang="en-US" sz="1000" b="0" i="0" dirty="0">
                        <a:solidFill>
                          <a:srgbClr val="000000"/>
                        </a:solidFill>
                        <a:effectLst/>
                        <a:latin typeface="Fira Sans" panose="020B0503050000020004" pitchFamily="34" charset="0"/>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4108098972"/>
                  </a:ext>
                </a:extLst>
              </a:tr>
            </a:tbl>
          </a:graphicData>
        </a:graphic>
      </p:graphicFrame>
    </p:spTree>
    <p:extLst>
      <p:ext uri="{BB962C8B-B14F-4D97-AF65-F5344CB8AC3E}">
        <p14:creationId xmlns:p14="http://schemas.microsoft.com/office/powerpoint/2010/main" val="4163135146"/>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EEF9010-41B1-22BD-1F44-766FA0F41389}"/>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699E11C2-C252-A44F-DC09-53D2F793DB76}"/>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97B85F8D-3077-7C80-361E-95E082268367}"/>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820F0334-B0C3-D844-0D23-DA6A25F07A55}"/>
              </a:ext>
            </a:extLst>
          </p:cNvPr>
          <p:cNvGraphicFramePr>
            <a:graphicFrameLocks noGrp="1"/>
          </p:cNvGraphicFramePr>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1248588683"/>
                  </a:ext>
                </a:extLst>
              </a:tr>
              <a:tr h="0">
                <a:tc>
                  <a:txBody>
                    <a:bodyPr/>
                    <a:lstStyle/>
                    <a:p>
                      <a:pPr algn="l">
                        <a:buNone/>
                      </a:pPr>
                      <a:r>
                        <a:rPr lang="en-US" sz="1000" dirty="0">
                          <a:effectLst/>
                          <a:latin typeface="+mn-lt"/>
                        </a:rPr>
                        <a:t>1</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1–3</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Agent architectures and control</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orchestrator: </a:t>
                      </a:r>
                      <a:r>
                        <a:rPr lang="en-US" sz="1000" dirty="0">
                          <a:effectLst/>
                          <a:latin typeface="+mn-lt"/>
                        </a:rPr>
                        <a:t>who chooses the next operation, and who decides to stop</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302483195"/>
                  </a:ext>
                </a:extLst>
              </a:tr>
              <a:tr h="0">
                <a:tc>
                  <a:txBody>
                    <a:bodyPr/>
                    <a:lstStyle/>
                    <a:p>
                      <a:pPr algn="l">
                        <a:buNone/>
                      </a:pPr>
                      <a:r>
                        <a:rPr lang="en-US" sz="1000">
                          <a:effectLst/>
                          <a:latin typeface="+mn-lt"/>
                        </a:rPr>
                        <a:t>2</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4–6</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8–9</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Context, state, and persistence</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spTree>
    <p:extLst>
      <p:ext uri="{BB962C8B-B14F-4D97-AF65-F5344CB8AC3E}">
        <p14:creationId xmlns:p14="http://schemas.microsoft.com/office/powerpoint/2010/main" val="233339357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8F9088B-7FD4-B27A-71D9-47A9F7EA660A}"/>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BD30425F-96BD-0704-885E-CA04BABC0995}"/>
              </a:ext>
            </a:extLst>
          </p:cNvPr>
          <p:cNvSpPr>
            <a:spLocks noGrp="1"/>
          </p:cNvSpPr>
          <p:nvPr>
            <p:ph type="title"/>
          </p:nvPr>
        </p:nvSpPr>
        <p:spPr/>
        <p:txBody>
          <a:bodyPr/>
          <a:lstStyle/>
          <a:p>
            <a:r>
              <a:rPr lang="en-US" dirty="0"/>
              <a:t>What I hope you will learn…</a:t>
            </a:r>
          </a:p>
        </p:txBody>
      </p:sp>
      <p:sp>
        <p:nvSpPr>
          <p:cNvPr id="4" name="Rectangle 3">
            <a:extLst>
              <a:ext uri="{FF2B5EF4-FFF2-40B4-BE49-F238E27FC236}">
                <a16:creationId xmlns:a16="http://schemas.microsoft.com/office/drawing/2014/main" id="{CAA03FF4-5EEC-42C8-5806-DB14B1488049}"/>
              </a:ext>
            </a:extLst>
          </p:cNvPr>
          <p:cNvSpPr/>
          <p:nvPr/>
        </p:nvSpPr>
        <p:spPr>
          <a:xfrm>
            <a:off x="319251" y="818143"/>
            <a:ext cx="6014545" cy="610801"/>
          </a:xfrm>
          <a:prstGeom prst="rect">
            <a:avLst/>
          </a:prstGeom>
          <a:noFill/>
          <a:ln>
            <a:solidFill>
              <a:srgbClr val="28285E"/>
            </a:solidFill>
          </a:ln>
        </p:spPr>
        <p:style>
          <a:lnRef idx="2">
            <a:schemeClr val="dk1"/>
          </a:lnRef>
          <a:fillRef idx="1">
            <a:schemeClr val="lt1"/>
          </a:fillRef>
          <a:effectRef idx="0">
            <a:schemeClr val="dk1"/>
          </a:effectRef>
          <a:fontRef idx="minor">
            <a:schemeClr val="dk1"/>
          </a:fontRef>
        </p:style>
        <p:txBody>
          <a:bodyPr rtlCol="0" anchor="ctr"/>
          <a:lstStyle/>
          <a:p>
            <a:pPr>
              <a:lnSpc>
                <a:spcPct val="114000"/>
              </a:lnSpc>
            </a:pPr>
            <a:r>
              <a:rPr lang="en-US" dirty="0">
                <a:solidFill>
                  <a:srgbClr val="28285E"/>
                </a:solidFill>
              </a:rPr>
              <a:t>By the end of this semester, you will </a:t>
            </a:r>
            <a:r>
              <a:rPr lang="en-US" b="1" dirty="0">
                <a:solidFill>
                  <a:srgbClr val="28285E"/>
                </a:solidFill>
              </a:rPr>
              <a:t>design a production agentic system</a:t>
            </a:r>
            <a:r>
              <a:rPr lang="en-US" dirty="0">
                <a:solidFill>
                  <a:srgbClr val="28285E"/>
                </a:solidFill>
              </a:rPr>
              <a:t> like what you just saw from Anthropic</a:t>
            </a:r>
          </a:p>
        </p:txBody>
      </p:sp>
      <p:graphicFrame>
        <p:nvGraphicFramePr>
          <p:cNvPr id="5" name="Table 4">
            <a:extLst>
              <a:ext uri="{FF2B5EF4-FFF2-40B4-BE49-F238E27FC236}">
                <a16:creationId xmlns:a16="http://schemas.microsoft.com/office/drawing/2014/main" id="{51D15C9C-9772-2F46-C144-F6E4F0B3B867}"/>
              </a:ext>
            </a:extLst>
          </p:cNvPr>
          <p:cNvGraphicFramePr>
            <a:graphicFrameLocks noGrp="1"/>
          </p:cNvGraphicFramePr>
          <p:nvPr>
            <p:extLst>
              <p:ext uri="{D42A27DB-BD31-4B8C-83A1-F6EECF244321}">
                <p14:modId xmlns:p14="http://schemas.microsoft.com/office/powerpoint/2010/main" val="2641347325"/>
              </p:ext>
            </p:extLst>
          </p:nvPr>
        </p:nvGraphicFramePr>
        <p:xfrm>
          <a:off x="319251" y="1848532"/>
          <a:ext cx="6014547" cy="2152650"/>
        </p:xfrm>
        <a:graphic>
          <a:graphicData uri="http://schemas.openxmlformats.org/drawingml/2006/table">
            <a:tbl>
              <a:tblPr>
                <a:tableStyleId>{2D5ABB26-0587-4C30-8999-92F81FD0307C}</a:tableStyleId>
              </a:tblPr>
              <a:tblGrid>
                <a:gridCol w="492673">
                  <a:extLst>
                    <a:ext uri="{9D8B030D-6E8A-4147-A177-3AD203B41FA5}">
                      <a16:colId xmlns:a16="http://schemas.microsoft.com/office/drawing/2014/main" val="2383387603"/>
                    </a:ext>
                  </a:extLst>
                </a:gridCol>
                <a:gridCol w="622738">
                  <a:extLst>
                    <a:ext uri="{9D8B030D-6E8A-4147-A177-3AD203B41FA5}">
                      <a16:colId xmlns:a16="http://schemas.microsoft.com/office/drawing/2014/main" val="3809753143"/>
                    </a:ext>
                  </a:extLst>
                </a:gridCol>
                <a:gridCol w="1221452">
                  <a:extLst>
                    <a:ext uri="{9D8B030D-6E8A-4147-A177-3AD203B41FA5}">
                      <a16:colId xmlns:a16="http://schemas.microsoft.com/office/drawing/2014/main" val="2878867459"/>
                    </a:ext>
                  </a:extLst>
                </a:gridCol>
                <a:gridCol w="2838169">
                  <a:extLst>
                    <a:ext uri="{9D8B030D-6E8A-4147-A177-3AD203B41FA5}">
                      <a16:colId xmlns:a16="http://schemas.microsoft.com/office/drawing/2014/main" val="3281739757"/>
                    </a:ext>
                  </a:extLst>
                </a:gridCol>
                <a:gridCol w="839515">
                  <a:extLst>
                    <a:ext uri="{9D8B030D-6E8A-4147-A177-3AD203B41FA5}">
                      <a16:colId xmlns:a16="http://schemas.microsoft.com/office/drawing/2014/main" val="2097169818"/>
                    </a:ext>
                  </a:extLst>
                </a:gridCol>
              </a:tblGrid>
              <a:tr h="0">
                <a:tc>
                  <a:txBody>
                    <a:bodyPr/>
                    <a:lstStyle/>
                    <a:p>
                      <a:pPr algn="l">
                        <a:buNone/>
                      </a:pPr>
                      <a:r>
                        <a:rPr lang="en-US" sz="1000" b="1" dirty="0">
                          <a:solidFill>
                            <a:schemeClr val="tx2"/>
                          </a:solidFill>
                          <a:effectLst/>
                          <a:latin typeface="+mn-lt"/>
                        </a:rPr>
                        <a:t>Unit</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Weeks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it covers</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dirty="0">
                          <a:solidFill>
                            <a:schemeClr val="tx2"/>
                          </a:solidFill>
                          <a:effectLst/>
                          <a:latin typeface="+mn-lt"/>
                        </a:rPr>
                        <a:t>What you’ll learn</a:t>
                      </a:r>
                      <a:endParaRPr lang="en-US" sz="1000" b="1" i="0" dirty="0">
                        <a:solidFill>
                          <a:schemeClr val="tx2"/>
                        </a:solidFill>
                        <a:effectLst/>
                        <a:latin typeface="+mn-lt"/>
                      </a:endParaRP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tc>
                  <a:txBody>
                    <a:bodyPr/>
                    <a:lstStyle/>
                    <a:p>
                      <a:pPr algn="l">
                        <a:buNone/>
                      </a:pPr>
                      <a:r>
                        <a:rPr lang="en-US" sz="1000" b="1" i="0" dirty="0">
                          <a:solidFill>
                            <a:schemeClr val="tx2"/>
                          </a:solidFill>
                          <a:effectLst/>
                          <a:latin typeface="+mn-lt"/>
                        </a:rPr>
                        <a:t>Homework</a:t>
                      </a:r>
                    </a:p>
                  </a:txBody>
                  <a:tcPr marL="95250" marR="95250" marT="47625" marB="47625"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2"/>
                    </a:solidFill>
                  </a:tcPr>
                </a:tc>
                <a:extLst>
                  <a:ext uri="{0D108BD9-81ED-4DB2-BD59-A6C34878D82A}">
                    <a16:rowId xmlns:a16="http://schemas.microsoft.com/office/drawing/2014/main" val="1248588683"/>
                  </a:ext>
                </a:extLst>
              </a:tr>
              <a:tr h="0">
                <a:tc>
                  <a:txBody>
                    <a:bodyPr/>
                    <a:lstStyle/>
                    <a:p>
                      <a:pPr algn="l">
                        <a:buNone/>
                      </a:pPr>
                      <a:r>
                        <a:rPr lang="en-US" sz="1000" dirty="0">
                          <a:solidFill>
                            <a:schemeClr val="tx1">
                              <a:lumMod val="85000"/>
                              <a:lumOff val="15000"/>
                            </a:schemeClr>
                          </a:solidFill>
                          <a:effectLst/>
                          <a:latin typeface="+mn-lt"/>
                        </a:rPr>
                        <a:t>1</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1–3</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dirty="0">
                          <a:solidFill>
                            <a:schemeClr val="tx1">
                              <a:lumMod val="85000"/>
                              <a:lumOff val="15000"/>
                            </a:schemeClr>
                          </a:solidFill>
                          <a:effectLst/>
                          <a:latin typeface="+mn-lt"/>
                        </a:rPr>
                        <a:t>Agent architectures and control</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dirty="0">
                          <a:solidFill>
                            <a:schemeClr val="tx1">
                              <a:lumMod val="85000"/>
                              <a:lumOff val="15000"/>
                            </a:schemeClr>
                          </a:solidFill>
                          <a:effectLst/>
                          <a:latin typeface="+mn-lt"/>
                        </a:rPr>
                        <a:t>The orchestrator: </a:t>
                      </a:r>
                      <a:r>
                        <a:rPr lang="en-US" sz="1000" dirty="0">
                          <a:solidFill>
                            <a:schemeClr val="tx1">
                              <a:lumMod val="85000"/>
                              <a:lumOff val="15000"/>
                            </a:schemeClr>
                          </a:solidFill>
                          <a:effectLst/>
                          <a:latin typeface="+mn-lt"/>
                        </a:rPr>
                        <a:t>who chooses the next operation, and who decides to stop</a:t>
                      </a:r>
                      <a:endParaRPr lang="en-US" sz="1000" b="0" i="0" dirty="0">
                        <a:solidFill>
                          <a:schemeClr val="tx1">
                            <a:lumMod val="85000"/>
                            <a:lumOff val="15000"/>
                          </a:schemeClr>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tc>
                  <a:txBody>
                    <a:bodyPr/>
                    <a:lstStyle/>
                    <a:p>
                      <a:pPr algn="l">
                        <a:buNone/>
                      </a:pPr>
                      <a:r>
                        <a:rPr lang="en-US" sz="1000" b="1" i="0" dirty="0">
                          <a:solidFill>
                            <a:schemeClr val="tx1">
                              <a:lumMod val="85000"/>
                              <a:lumOff val="15000"/>
                            </a:schemeClr>
                          </a:solidFill>
                          <a:effectLst/>
                          <a:latin typeface="+mn-lt"/>
                        </a:rPr>
                        <a:t>HW1</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chemeClr val="bg1"/>
                    </a:solidFill>
                  </a:tcPr>
                </a:tc>
                <a:extLst>
                  <a:ext uri="{0D108BD9-81ED-4DB2-BD59-A6C34878D82A}">
                    <a16:rowId xmlns:a16="http://schemas.microsoft.com/office/drawing/2014/main" val="2302483195"/>
                  </a:ext>
                </a:extLst>
              </a:tr>
              <a:tr h="0">
                <a:tc>
                  <a:txBody>
                    <a:bodyPr/>
                    <a:lstStyle/>
                    <a:p>
                      <a:pPr algn="l">
                        <a:buNone/>
                      </a:pPr>
                      <a:r>
                        <a:rPr lang="en-US" sz="1000" dirty="0">
                          <a:effectLst/>
                          <a:latin typeface="+mn-lt"/>
                        </a:rPr>
                        <a:t>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4–6</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a:effectLst/>
                          <a:latin typeface="+mn-lt"/>
                        </a:rPr>
                        <a:t>Tool interfaces and concurrency</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tools and the subagents:</a:t>
                      </a:r>
                      <a:r>
                        <a:rPr lang="en-US" sz="1000" dirty="0">
                          <a:effectLst/>
                          <a:latin typeface="+mn-lt"/>
                        </a:rPr>
                        <a:t> contracts, dependencies, bounded fan-out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i="0" dirty="0">
                          <a:solidFill>
                            <a:srgbClr val="000000"/>
                          </a:solidFill>
                          <a:effectLst/>
                          <a:latin typeface="+mn-lt"/>
                        </a:rPr>
                        <a:t>HW2</a:t>
                      </a: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19720258"/>
                  </a:ext>
                </a:extLst>
              </a:tr>
              <a:tr h="0">
                <a:tc>
                  <a:txBody>
                    <a:bodyPr/>
                    <a:lstStyle/>
                    <a:p>
                      <a:pPr algn="l">
                        <a:buNone/>
                      </a:pPr>
                      <a:r>
                        <a:rPr lang="en-US" sz="1000">
                          <a:effectLst/>
                          <a:latin typeface="+mn-lt"/>
                        </a:rPr>
                        <a:t>3</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8–9</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Context, state, and persistence</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Memory and context:</a:t>
                      </a:r>
                      <a:r>
                        <a:rPr lang="en-US" sz="1000" dirty="0">
                          <a:effectLst/>
                          <a:latin typeface="+mn-lt"/>
                        </a:rPr>
                        <a:t> what survives truncation, and what survives a restart</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rowSpan="2">
                  <a:txBody>
                    <a:bodyPr/>
                    <a:lstStyle/>
                    <a:p>
                      <a:pPr algn="l">
                        <a:buNone/>
                      </a:pPr>
                      <a:r>
                        <a:rPr lang="en-US" sz="1000" b="1" i="0" dirty="0">
                          <a:solidFill>
                            <a:srgbClr val="000000"/>
                          </a:solidFill>
                          <a:effectLst/>
                          <a:latin typeface="+mn-lt"/>
                        </a:rPr>
                        <a:t>HW3</a:t>
                      </a: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1474067791"/>
                  </a:ext>
                </a:extLst>
              </a:tr>
              <a:tr h="0">
                <a:tc>
                  <a:txBody>
                    <a:bodyPr/>
                    <a:lstStyle/>
                    <a:p>
                      <a:pPr algn="l">
                        <a:buNone/>
                      </a:pPr>
                      <a:r>
                        <a:rPr lang="en-US" sz="1000">
                          <a:effectLst/>
                          <a:latin typeface="+mn-lt"/>
                        </a:rPr>
                        <a:t>4</a:t>
                      </a:r>
                      <a:endParaRPr lang="en-US" sz="1000" b="0" i="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10–12</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dirty="0">
                          <a:effectLst/>
                          <a:latin typeface="+mn-lt"/>
                        </a:rPr>
                        <a:t>Deployment, recovery, and observability</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algn="l">
                        <a:buNone/>
                      </a:pPr>
                      <a:r>
                        <a:rPr lang="en-US" sz="1000" b="1" dirty="0">
                          <a:effectLst/>
                          <a:latin typeface="+mn-lt"/>
                        </a:rPr>
                        <a:t>The service around all of it: </a:t>
                      </a:r>
                      <a:r>
                        <a:rPr lang="en-US" sz="1000" dirty="0">
                          <a:effectLst/>
                          <a:latin typeface="+mn-lt"/>
                        </a:rPr>
                        <a:t>partial failure, retries, traces</a:t>
                      </a:r>
                      <a:endParaRPr lang="en-US" sz="1000" b="0" i="0" dirty="0">
                        <a:solidFill>
                          <a:srgbClr val="000000"/>
                        </a:solidFill>
                        <a:effectLst/>
                        <a:latin typeface="+mn-lt"/>
                      </a:endParaRPr>
                    </a:p>
                  </a:txBody>
                  <a:tcPr marL="95250" marR="95250" marT="47625" marB="47625"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vMerge="1">
                  <a:txBody>
                    <a:bodyPr/>
                    <a:lstStyle/>
                    <a:p>
                      <a:pPr algn="l">
                        <a:buNone/>
                      </a:pPr>
                      <a:endParaRPr lang="en-US" sz="1050" b="0" i="0" dirty="0">
                        <a:solidFill>
                          <a:srgbClr val="000000"/>
                        </a:solidFill>
                        <a:effectLst/>
                        <a:latin typeface="-apple-system"/>
                      </a:endParaRPr>
                    </a:p>
                  </a:txBody>
                  <a:tcPr marL="95250" marR="95250" marT="47625" marB="47625" anchor="ctr"/>
                </a:tc>
                <a:extLst>
                  <a:ext uri="{0D108BD9-81ED-4DB2-BD59-A6C34878D82A}">
                    <a16:rowId xmlns:a16="http://schemas.microsoft.com/office/drawing/2014/main" val="1049005399"/>
                  </a:ext>
                </a:extLst>
              </a:tr>
            </a:tbl>
          </a:graphicData>
        </a:graphic>
      </p:graphicFrame>
      <p:pic>
        <p:nvPicPr>
          <p:cNvPr id="3" name="Picture 2">
            <a:extLst>
              <a:ext uri="{FF2B5EF4-FFF2-40B4-BE49-F238E27FC236}">
                <a16:creationId xmlns:a16="http://schemas.microsoft.com/office/drawing/2014/main" id="{A27BBBC2-4AC8-ACF0-BD82-19663A7D84C5}"/>
              </a:ext>
            </a:extLst>
          </p:cNvPr>
          <p:cNvPicPr>
            <a:picLocks noChangeAspect="1"/>
          </p:cNvPicPr>
          <p:nvPr/>
        </p:nvPicPr>
        <p:blipFill>
          <a:blip r:embed="rId2">
            <a:alphaModFix amt="94000"/>
          </a:blip>
          <a:stretch>
            <a:fillRect/>
          </a:stretch>
        </p:blipFill>
        <p:spPr>
          <a:xfrm>
            <a:off x="250147" y="2689906"/>
            <a:ext cx="6152752" cy="1361185"/>
          </a:xfrm>
          <a:prstGeom prst="rect">
            <a:avLst/>
          </a:prstGeom>
        </p:spPr>
      </p:pic>
      <p:sp>
        <p:nvSpPr>
          <p:cNvPr id="6" name="TextBox 5">
            <a:extLst>
              <a:ext uri="{FF2B5EF4-FFF2-40B4-BE49-F238E27FC236}">
                <a16:creationId xmlns:a16="http://schemas.microsoft.com/office/drawing/2014/main" id="{0566017B-7CA5-96A2-A76C-543D5E4E8AE2}"/>
              </a:ext>
            </a:extLst>
          </p:cNvPr>
          <p:cNvSpPr txBox="1"/>
          <p:nvPr/>
        </p:nvSpPr>
        <p:spPr>
          <a:xfrm>
            <a:off x="2124912" y="3027135"/>
            <a:ext cx="2403222" cy="461665"/>
          </a:xfrm>
          <a:prstGeom prst="rect">
            <a:avLst/>
          </a:prstGeom>
          <a:noFill/>
        </p:spPr>
        <p:txBody>
          <a:bodyPr wrap="none" rtlCol="0">
            <a:spAutoFit/>
          </a:bodyPr>
          <a:lstStyle/>
          <a:p>
            <a:pPr algn="l"/>
            <a:r>
              <a:rPr lang="en-US" sz="2400" b="1" dirty="0">
                <a:solidFill>
                  <a:schemeClr val="bg2"/>
                </a:solidFill>
                <a:latin typeface="+mn-lt"/>
              </a:rPr>
              <a:t>Today’s Lecture</a:t>
            </a:r>
          </a:p>
        </p:txBody>
      </p:sp>
    </p:spTree>
    <p:extLst>
      <p:ext uri="{BB962C8B-B14F-4D97-AF65-F5344CB8AC3E}">
        <p14:creationId xmlns:p14="http://schemas.microsoft.com/office/powerpoint/2010/main" val="53005980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19D9B10-2FC6-F4ED-3C93-631A6C9AFA97}"/>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CF947407-2FD5-97E2-19CC-83F8D36D14B7}"/>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F5153355-5688-657A-F5EB-D666DB4B5D6A}"/>
              </a:ext>
            </a:extLst>
          </p:cNvPr>
          <p:cNvGraphicFramePr>
            <a:graphicFrameLocks noGrp="1"/>
          </p:cNvGraphicFramePr>
          <p:nvPr>
            <p:extLst>
              <p:ext uri="{D42A27DB-BD31-4B8C-83A1-F6EECF244321}">
                <p14:modId xmlns:p14="http://schemas.microsoft.com/office/powerpoint/2010/main" val="2783190986"/>
              </p:ext>
            </p:extLst>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42A062EF-CBC5-ACF3-52AD-AA35EE4A920E}"/>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CDA6BACA-091E-F0B6-4BB4-E43178A5EAD8}"/>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spTree>
    <p:extLst>
      <p:ext uri="{BB962C8B-B14F-4D97-AF65-F5344CB8AC3E}">
        <p14:creationId xmlns:p14="http://schemas.microsoft.com/office/powerpoint/2010/main" val="359191381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B3E9934-124B-44DB-0915-7C0AC786E384}"/>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F84B10D-D49C-2005-1742-C4778B21642F}"/>
              </a:ext>
            </a:extLst>
          </p:cNvPr>
          <p:cNvSpPr>
            <a:spLocks noGrp="1"/>
          </p:cNvSpPr>
          <p:nvPr>
            <p:ph type="title"/>
          </p:nvPr>
        </p:nvSpPr>
        <p:spPr/>
        <p:txBody>
          <a:bodyPr/>
          <a:lstStyle/>
          <a:p>
            <a:r>
              <a:rPr lang="en-US" dirty="0"/>
              <a:t>Homework, Grades, and Exams</a:t>
            </a:r>
          </a:p>
        </p:txBody>
      </p:sp>
      <p:graphicFrame>
        <p:nvGraphicFramePr>
          <p:cNvPr id="3" name="Table 2">
            <a:extLst>
              <a:ext uri="{FF2B5EF4-FFF2-40B4-BE49-F238E27FC236}">
                <a16:creationId xmlns:a16="http://schemas.microsoft.com/office/drawing/2014/main" id="{A4733682-59F5-2CF5-0903-99FA3BC59F28}"/>
              </a:ext>
            </a:extLst>
          </p:cNvPr>
          <p:cNvGraphicFramePr>
            <a:graphicFrameLocks noGrp="1"/>
          </p:cNvGraphicFramePr>
          <p:nvPr/>
        </p:nvGraphicFramePr>
        <p:xfrm>
          <a:off x="303486" y="696000"/>
          <a:ext cx="5974188" cy="2011680"/>
        </p:xfrm>
        <a:graphic>
          <a:graphicData uri="http://schemas.openxmlformats.org/drawingml/2006/table">
            <a:tbl>
              <a:tblPr firstRow="1" bandRow="1">
                <a:tableStyleId>{2D5ABB26-0587-4C30-8999-92F81FD0307C}</a:tableStyleId>
              </a:tblPr>
              <a:tblGrid>
                <a:gridCol w="1108852">
                  <a:extLst>
                    <a:ext uri="{9D8B030D-6E8A-4147-A177-3AD203B41FA5}">
                      <a16:colId xmlns:a16="http://schemas.microsoft.com/office/drawing/2014/main" val="2271713243"/>
                    </a:ext>
                  </a:extLst>
                </a:gridCol>
                <a:gridCol w="697485">
                  <a:extLst>
                    <a:ext uri="{9D8B030D-6E8A-4147-A177-3AD203B41FA5}">
                      <a16:colId xmlns:a16="http://schemas.microsoft.com/office/drawing/2014/main" val="1569624038"/>
                    </a:ext>
                  </a:extLst>
                </a:gridCol>
                <a:gridCol w="2328231">
                  <a:extLst>
                    <a:ext uri="{9D8B030D-6E8A-4147-A177-3AD203B41FA5}">
                      <a16:colId xmlns:a16="http://schemas.microsoft.com/office/drawing/2014/main" val="3690437143"/>
                    </a:ext>
                  </a:extLst>
                </a:gridCol>
                <a:gridCol w="1839620">
                  <a:extLst>
                    <a:ext uri="{9D8B030D-6E8A-4147-A177-3AD203B41FA5}">
                      <a16:colId xmlns:a16="http://schemas.microsoft.com/office/drawing/2014/main" val="2087928053"/>
                    </a:ext>
                  </a:extLst>
                </a:gridCol>
              </a:tblGrid>
              <a:tr h="0">
                <a:tc>
                  <a:txBody>
                    <a:bodyPr/>
                    <a:lstStyle/>
                    <a:p>
                      <a:pPr algn="ctr"/>
                      <a:r>
                        <a:rPr lang="en-US" sz="1200" b="1" dirty="0">
                          <a:solidFill>
                            <a:schemeClr val="tx2"/>
                          </a:solidFill>
                        </a:rPr>
                        <a:t>Item</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Weight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When</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tc>
                  <a:txBody>
                    <a:bodyPr/>
                    <a:lstStyle/>
                    <a:p>
                      <a:pPr algn="ctr"/>
                      <a:r>
                        <a:rPr lang="en-US" sz="1200" b="1" dirty="0">
                          <a:solidFill>
                            <a:schemeClr val="tx2"/>
                          </a:solidFill>
                        </a:rPr>
                        <a:t>Format</a:t>
                      </a:r>
                    </a:p>
                  </a:txBody>
                  <a:tcPr anchor="ctr">
                    <a:lnT w="1905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solidFill>
                      <a:srgbClr val="28285E"/>
                    </a:solidFill>
                  </a:tcPr>
                </a:tc>
                <a:extLst>
                  <a:ext uri="{0D108BD9-81ED-4DB2-BD59-A6C34878D82A}">
                    <a16:rowId xmlns:a16="http://schemas.microsoft.com/office/drawing/2014/main" val="2356892486"/>
                  </a:ext>
                </a:extLst>
              </a:tr>
              <a:tr h="0">
                <a:tc>
                  <a:txBody>
                    <a:bodyPr/>
                    <a:lstStyle/>
                    <a:p>
                      <a:r>
                        <a:rPr lang="en-US" sz="1200" b="1" dirty="0"/>
                        <a:t>Homework 1</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57379968"/>
                  </a:ext>
                </a:extLst>
              </a:tr>
              <a:tr h="0">
                <a:tc>
                  <a:txBody>
                    <a:bodyPr/>
                    <a:lstStyle/>
                    <a:p>
                      <a:r>
                        <a:rPr lang="en-US" sz="1200" b="1" dirty="0"/>
                        <a:t>Homework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149828879"/>
                  </a:ext>
                </a:extLst>
              </a:tr>
              <a:tr h="0">
                <a:tc>
                  <a:txBody>
                    <a:bodyPr/>
                    <a:lstStyle/>
                    <a:p>
                      <a:r>
                        <a:rPr lang="en-US" sz="1200" b="1" dirty="0"/>
                        <a:t>Midterm</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October 23</a:t>
                      </a:r>
                      <a:r>
                        <a:rPr lang="en-US" sz="1200" baseline="30000" dirty="0"/>
                        <a:t>rd</a:t>
                      </a:r>
                      <a:r>
                        <a:rPr lang="en-US" sz="1200" dirty="0"/>
                        <a:t> </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40 mins (closed book) covering units 1 and 2</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2069729185"/>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Homework 3</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Dates on the site (tentative)</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tc>
                  <a:txBody>
                    <a:bodyPr/>
                    <a:lstStyle/>
                    <a:p>
                      <a:r>
                        <a:rPr lang="en-US" sz="1200" dirty="0"/>
                        <a:t>Solo/Team submission</a:t>
                      </a:r>
                    </a:p>
                  </a:txBody>
                  <a:tcPr anchor="ctr">
                    <a:lnT w="12700" cap="flat" cmpd="sng" algn="ctr">
                      <a:solidFill>
                        <a:schemeClr val="tx1"/>
                      </a:solidFill>
                      <a:prstDash val="solid"/>
                      <a:round/>
                      <a:headEnd type="none" w="med" len="med"/>
                      <a:tailEnd type="none" w="med" len="med"/>
                    </a:lnT>
                    <a:lnB w="1270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3992416679"/>
                  </a:ext>
                </a:extLst>
              </a:tr>
              <a:tr h="0">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b="1" dirty="0"/>
                        <a:t>Final</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b="1" dirty="0"/>
                        <a:t>20%</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r>
                        <a:rPr lang="en-US" sz="1200" dirty="0"/>
                        <a:t>December 17</a:t>
                      </a:r>
                      <a:r>
                        <a:rPr lang="en-US" sz="1200" baseline="30000" dirty="0"/>
                        <a:t>th</a:t>
                      </a:r>
                      <a:r>
                        <a:rPr lang="en-US" sz="1200" dirty="0"/>
                        <a:t> </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tc>
                  <a:txBody>
                    <a:bodyPr/>
                    <a:lstStyle/>
                    <a:p>
                      <a:pPr marL="0" marR="0" lvl="0" indent="0" algn="l" defTabSz="914400" rtl="0" eaLnBrk="1" fontAlgn="auto" latinLnBrk="0" hangingPunct="1">
                        <a:lnSpc>
                          <a:spcPct val="100000"/>
                        </a:lnSpc>
                        <a:spcBef>
                          <a:spcPts val="0"/>
                        </a:spcBef>
                        <a:spcAft>
                          <a:spcPts val="0"/>
                        </a:spcAft>
                        <a:buClr>
                          <a:srgbClr val="000000"/>
                        </a:buClr>
                        <a:buSzTx/>
                        <a:buFont typeface="Arial"/>
                        <a:buNone/>
                        <a:tabLst/>
                        <a:defRPr/>
                      </a:pPr>
                      <a:r>
                        <a:rPr lang="en-US" sz="1200" dirty="0"/>
                        <a:t>40 mins (closed book) covering units 1 to 4</a:t>
                      </a:r>
                    </a:p>
                  </a:txBody>
                  <a:tcPr anchor="ctr">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tcPr>
                </a:tc>
                <a:extLst>
                  <a:ext uri="{0D108BD9-81ED-4DB2-BD59-A6C34878D82A}">
                    <a16:rowId xmlns:a16="http://schemas.microsoft.com/office/drawing/2014/main" val="931543740"/>
                  </a:ext>
                </a:extLst>
              </a:tr>
            </a:tbl>
          </a:graphicData>
        </a:graphic>
      </p:graphicFrame>
      <p:sp>
        <p:nvSpPr>
          <p:cNvPr id="4" name="Rectangle 3">
            <a:extLst>
              <a:ext uri="{FF2B5EF4-FFF2-40B4-BE49-F238E27FC236}">
                <a16:creationId xmlns:a16="http://schemas.microsoft.com/office/drawing/2014/main" id="{AA34D7EC-CDB0-57D6-8FDF-D384F94DBFEC}"/>
              </a:ext>
            </a:extLst>
          </p:cNvPr>
          <p:cNvSpPr/>
          <p:nvPr/>
        </p:nvSpPr>
        <p:spPr>
          <a:xfrm>
            <a:off x="303487" y="2944702"/>
            <a:ext cx="5974188" cy="646331"/>
          </a:xfrm>
          <a:prstGeom prst="rect">
            <a:avLst/>
          </a:prstGeom>
          <a:noFill/>
          <a:ln w="19050">
            <a:solidFill>
              <a:srgbClr val="28285E"/>
            </a:solidFill>
          </a:ln>
        </p:spPr>
        <p:txBody>
          <a:bodyPr wrap="square">
            <a:spAutoFit/>
          </a:bodyPr>
          <a:lstStyle/>
          <a:p>
            <a:r>
              <a:rPr lang="en-US" sz="1200" dirty="0">
                <a:solidFill>
                  <a:srgbClr val="000000"/>
                </a:solidFill>
                <a:latin typeface="+mj-lt"/>
                <a:cs typeface="Arial"/>
              </a:rPr>
              <a:t>Homework is done in </a:t>
            </a:r>
            <a:r>
              <a:rPr lang="en-US" sz="1200" b="1" dirty="0">
                <a:solidFill>
                  <a:schemeClr val="bg2"/>
                </a:solidFill>
                <a:latin typeface="+mj-lt"/>
                <a:cs typeface="Arial"/>
              </a:rPr>
              <a:t>alone </a:t>
            </a:r>
            <a:r>
              <a:rPr lang="en-US" sz="1200" dirty="0">
                <a:latin typeface="+mj-lt"/>
              </a:rPr>
              <a:t>or in </a:t>
            </a:r>
            <a:r>
              <a:rPr lang="en-US" sz="1200" b="1" dirty="0">
                <a:solidFill>
                  <a:srgbClr val="28285E"/>
                </a:solidFill>
                <a:latin typeface="+mj-lt"/>
                <a:cs typeface="Arial"/>
              </a:rPr>
              <a:t>teams (of 2-3)</a:t>
            </a:r>
            <a:r>
              <a:rPr lang="en-US" sz="1200" dirty="0">
                <a:solidFill>
                  <a:srgbClr val="000000"/>
                </a:solidFill>
                <a:latin typeface="+mj-lt"/>
                <a:cs typeface="Arial"/>
              </a:rPr>
              <a:t>, and a team keeps </a:t>
            </a:r>
            <a:r>
              <a:rPr lang="en-US" sz="1200" b="1" dirty="0">
                <a:solidFill>
                  <a:srgbClr val="28285E"/>
                </a:solidFill>
                <a:latin typeface="+mj-lt"/>
                <a:cs typeface="Arial"/>
              </a:rPr>
              <a:t>one codebase for the whole semester</a:t>
            </a:r>
            <a:r>
              <a:rPr lang="en-US" sz="1200" dirty="0">
                <a:solidFill>
                  <a:srgbClr val="000000"/>
                </a:solidFill>
                <a:latin typeface="+mj-lt"/>
                <a:cs typeface="Arial"/>
              </a:rPr>
              <a:t>. Homework 2 builds on homework 1; homework 3 builds on homework 2 and so on. </a:t>
            </a:r>
          </a:p>
        </p:txBody>
      </p:sp>
      <p:sp>
        <p:nvSpPr>
          <p:cNvPr id="5" name="TextBox 4">
            <a:extLst>
              <a:ext uri="{FF2B5EF4-FFF2-40B4-BE49-F238E27FC236}">
                <a16:creationId xmlns:a16="http://schemas.microsoft.com/office/drawing/2014/main" id="{413D7A26-C6A4-FB9B-334C-53C121A97A7D}"/>
              </a:ext>
            </a:extLst>
          </p:cNvPr>
          <p:cNvSpPr txBox="1"/>
          <p:nvPr/>
        </p:nvSpPr>
        <p:spPr>
          <a:xfrm>
            <a:off x="303486" y="3777700"/>
            <a:ext cx="5974188" cy="1015663"/>
          </a:xfrm>
          <a:prstGeom prst="rect">
            <a:avLst/>
          </a:prstGeom>
          <a:noFill/>
          <a:ln w="19050">
            <a:solidFill>
              <a:srgbClr val="28285E"/>
            </a:solidFill>
          </a:ln>
        </p:spPr>
        <p:txBody>
          <a:bodyPr wrap="square">
            <a:spAutoFit/>
          </a:bodyPr>
          <a:lstStyle/>
          <a:p>
            <a:r>
              <a:rPr lang="en-US" sz="1200" b="1" i="0" dirty="0">
                <a:solidFill>
                  <a:srgbClr val="28285E"/>
                </a:solidFill>
                <a:effectLst/>
                <a:latin typeface="+mj-lt"/>
              </a:rPr>
              <a:t>Tests are always written and closed book. </a:t>
            </a:r>
            <a:r>
              <a:rPr lang="en-US" sz="1200" i="0" dirty="0">
                <a:solidFill>
                  <a:srgbClr val="000000"/>
                </a:solidFill>
                <a:effectLst/>
                <a:latin typeface="+mj-lt"/>
              </a:rPr>
              <a:t>They assess conceptual understanding, architectural reasoning, and the ability to analyze system behavior.</a:t>
            </a:r>
            <a:br>
              <a:rPr lang="en-US" sz="1200" i="0" dirty="0">
                <a:solidFill>
                  <a:srgbClr val="000000"/>
                </a:solidFill>
                <a:effectLst/>
                <a:latin typeface="+mj-lt"/>
              </a:rPr>
            </a:br>
            <a:br>
              <a:rPr lang="en-US" sz="1200" i="0" dirty="0">
                <a:solidFill>
                  <a:srgbClr val="000000"/>
                </a:solidFill>
                <a:effectLst/>
                <a:latin typeface="+mj-lt"/>
              </a:rPr>
            </a:br>
            <a:r>
              <a:rPr lang="en-US" sz="1200" i="0" dirty="0">
                <a:solidFill>
                  <a:srgbClr val="000000"/>
                </a:solidFill>
                <a:effectLst/>
                <a:latin typeface="+mj-lt"/>
              </a:rPr>
              <a:t>A </a:t>
            </a:r>
            <a:r>
              <a:rPr lang="en-US" sz="1200" b="1" i="0" dirty="0">
                <a:solidFill>
                  <a:srgbClr val="28285E"/>
                </a:solidFill>
                <a:effectLst/>
                <a:latin typeface="+mj-lt"/>
              </a:rPr>
              <a:t>comprehensive reading list and lecture notes will be provided</a:t>
            </a:r>
            <a:r>
              <a:rPr lang="en-US" sz="1200" i="0" dirty="0">
                <a:solidFill>
                  <a:srgbClr val="000000"/>
                </a:solidFill>
                <a:effectLst/>
                <a:latin typeface="+mj-lt"/>
              </a:rPr>
              <a:t> by the teaching staff.</a:t>
            </a:r>
            <a:endParaRPr lang="en-US" sz="1200" dirty="0">
              <a:latin typeface="+mj-lt"/>
            </a:endParaRPr>
          </a:p>
        </p:txBody>
      </p:sp>
      <p:pic>
        <p:nvPicPr>
          <p:cNvPr id="6" name="Picture 5">
            <a:extLst>
              <a:ext uri="{FF2B5EF4-FFF2-40B4-BE49-F238E27FC236}">
                <a16:creationId xmlns:a16="http://schemas.microsoft.com/office/drawing/2014/main" id="{C4275ED2-1659-CB66-73B9-4CA3B428761A}"/>
              </a:ext>
            </a:extLst>
          </p:cNvPr>
          <p:cNvPicPr>
            <a:picLocks noChangeAspect="1"/>
          </p:cNvPicPr>
          <p:nvPr/>
        </p:nvPicPr>
        <p:blipFill>
          <a:blip r:embed="rId2">
            <a:alphaModFix amt="94000"/>
          </a:blip>
          <a:stretch>
            <a:fillRect/>
          </a:stretch>
        </p:blipFill>
        <p:spPr>
          <a:xfrm>
            <a:off x="250147" y="1269588"/>
            <a:ext cx="6152752" cy="3579730"/>
          </a:xfrm>
          <a:prstGeom prst="rect">
            <a:avLst/>
          </a:prstGeom>
        </p:spPr>
      </p:pic>
      <p:sp>
        <p:nvSpPr>
          <p:cNvPr id="7" name="TextBox 6">
            <a:extLst>
              <a:ext uri="{FF2B5EF4-FFF2-40B4-BE49-F238E27FC236}">
                <a16:creationId xmlns:a16="http://schemas.microsoft.com/office/drawing/2014/main" id="{122C38D9-154E-E386-7030-927E7C8E5FB8}"/>
              </a:ext>
            </a:extLst>
          </p:cNvPr>
          <p:cNvSpPr txBox="1"/>
          <p:nvPr/>
        </p:nvSpPr>
        <p:spPr>
          <a:xfrm>
            <a:off x="2124912" y="1565594"/>
            <a:ext cx="2614818" cy="461665"/>
          </a:xfrm>
          <a:prstGeom prst="rect">
            <a:avLst/>
          </a:prstGeom>
          <a:noFill/>
        </p:spPr>
        <p:txBody>
          <a:bodyPr wrap="none" rtlCol="0">
            <a:spAutoFit/>
          </a:bodyPr>
          <a:lstStyle/>
          <a:p>
            <a:pPr algn="l"/>
            <a:r>
              <a:rPr lang="en-US" sz="2400" b="1" dirty="0">
                <a:solidFill>
                  <a:schemeClr val="bg2"/>
                </a:solidFill>
                <a:latin typeface="+mn-lt"/>
              </a:rPr>
              <a:t>End of day today</a:t>
            </a:r>
          </a:p>
        </p:txBody>
      </p:sp>
    </p:spTree>
    <p:extLst>
      <p:ext uri="{BB962C8B-B14F-4D97-AF65-F5344CB8AC3E}">
        <p14:creationId xmlns:p14="http://schemas.microsoft.com/office/powerpoint/2010/main" val="2439185131"/>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6322D90-3432-2B93-9629-77CEBCE6491E}"/>
            </a:ext>
          </a:extLst>
        </p:cNvPr>
        <p:cNvGrpSpPr/>
        <p:nvPr/>
      </p:nvGrpSpPr>
      <p:grpSpPr>
        <a:xfrm>
          <a:off x="0" y="0"/>
          <a:ext cx="0" cy="0"/>
          <a:chOff x="0" y="0"/>
          <a:chExt cx="0" cy="0"/>
        </a:xfrm>
      </p:grpSpPr>
      <p:sp>
        <p:nvSpPr>
          <p:cNvPr id="4" name="TextBox 3">
            <a:extLst>
              <a:ext uri="{FF2B5EF4-FFF2-40B4-BE49-F238E27FC236}">
                <a16:creationId xmlns:a16="http://schemas.microsoft.com/office/drawing/2014/main" id="{760178EE-BA36-3CD9-2428-780412C1571C}"/>
              </a:ext>
            </a:extLst>
          </p:cNvPr>
          <p:cNvSpPr txBox="1"/>
          <p:nvPr/>
        </p:nvSpPr>
        <p:spPr>
          <a:xfrm>
            <a:off x="364435" y="2217807"/>
            <a:ext cx="6129130" cy="707886"/>
          </a:xfrm>
          <a:prstGeom prst="rect">
            <a:avLst/>
          </a:prstGeom>
          <a:noFill/>
        </p:spPr>
        <p:txBody>
          <a:bodyPr wrap="square" rtlCol="0">
            <a:spAutoFit/>
          </a:bodyPr>
          <a:lstStyle/>
          <a:p>
            <a:pPr algn="ctr"/>
            <a:r>
              <a:rPr lang="en-US" sz="4000" b="1" dirty="0">
                <a:solidFill>
                  <a:schemeClr val="tx2"/>
                </a:solidFill>
                <a:latin typeface="+mj-lt"/>
              </a:rPr>
              <a:t>Logistics and Recap</a:t>
            </a:r>
          </a:p>
        </p:txBody>
      </p:sp>
    </p:spTree>
    <p:extLst>
      <p:ext uri="{BB962C8B-B14F-4D97-AF65-F5344CB8AC3E}">
        <p14:creationId xmlns:p14="http://schemas.microsoft.com/office/powerpoint/2010/main" val="202575648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354304C-FB56-A423-AA86-61A999BEAFDC}"/>
            </a:ext>
          </a:extLst>
        </p:cNvPr>
        <p:cNvGrpSpPr/>
        <p:nvPr/>
      </p:nvGrpSpPr>
      <p:grpSpPr>
        <a:xfrm>
          <a:off x="0" y="0"/>
          <a:ext cx="0" cy="0"/>
          <a:chOff x="0" y="0"/>
          <a:chExt cx="0" cy="0"/>
        </a:xfrm>
      </p:grpSpPr>
      <p:sp>
        <p:nvSpPr>
          <p:cNvPr id="3" name="Title 2">
            <a:extLst>
              <a:ext uri="{FF2B5EF4-FFF2-40B4-BE49-F238E27FC236}">
                <a16:creationId xmlns:a16="http://schemas.microsoft.com/office/drawing/2014/main" id="{AE1850EC-7212-3194-CAF3-3C4416C26DC7}"/>
              </a:ext>
            </a:extLst>
          </p:cNvPr>
          <p:cNvSpPr>
            <a:spLocks noGrp="1"/>
          </p:cNvSpPr>
          <p:nvPr>
            <p:ph type="title"/>
          </p:nvPr>
        </p:nvSpPr>
        <p:spPr/>
        <p:txBody>
          <a:bodyPr/>
          <a:lstStyle/>
          <a:p>
            <a:endParaRPr lang="en-US"/>
          </a:p>
        </p:txBody>
      </p:sp>
      <p:sp>
        <p:nvSpPr>
          <p:cNvPr id="4" name="Content Placeholder 3">
            <a:extLst>
              <a:ext uri="{FF2B5EF4-FFF2-40B4-BE49-F238E27FC236}">
                <a16:creationId xmlns:a16="http://schemas.microsoft.com/office/drawing/2014/main" id="{E043E961-DB40-39E3-BD85-B91752262955}"/>
              </a:ext>
            </a:extLst>
          </p:cNvPr>
          <p:cNvSpPr>
            <a:spLocks noGrp="1"/>
          </p:cNvSpPr>
          <p:nvPr>
            <p:ph idx="1"/>
          </p:nvPr>
        </p:nvSpPr>
        <p:spPr/>
        <p:txBody>
          <a:bodyPr/>
          <a:lstStyle/>
          <a:p>
            <a:endParaRPr lang="en-US"/>
          </a:p>
        </p:txBody>
      </p:sp>
    </p:spTree>
    <p:extLst>
      <p:ext uri="{BB962C8B-B14F-4D97-AF65-F5344CB8AC3E}">
        <p14:creationId xmlns:p14="http://schemas.microsoft.com/office/powerpoint/2010/main" val="1517156731"/>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Rational agents</a:t>
            </a:r>
          </a:p>
        </p:txBody>
      </p:sp>
      <p:sp>
        <p:nvSpPr>
          <p:cNvPr id="3" name="Content Placeholder 2"/>
          <p:cNvSpPr>
            <a:spLocks noGrp="1"/>
          </p:cNvSpPr>
          <p:nvPr>
            <p:ph idx="1"/>
          </p:nvPr>
        </p:nvSpPr>
        <p:spPr>
          <a:xfrm>
            <a:off x="319251" y="2360000"/>
            <a:ext cx="6014545" cy="2300000"/>
          </a:xfrm>
        </p:spPr>
        <p:txBody>
          <a:bodyPr wrap="square"/>
          <a:lstStyle/>
          <a:p>
            <a:pPr marL="0" indent="0">
              <a:buNone/>
            </a:pPr>
            <a:r>
              <a:rPr sz="1500" b="1">
                <a:solidFill>
                  <a:srgbClr val="28285E"/>
                </a:solidFill>
              </a:rPr>
              <a:t>What is rational at any given time depends on four things:</a:t>
            </a:r>
          </a:p>
          <a:p>
            <a:pPr marL="400050" indent="-285750">
              <a:spcAft>
                <a:spcPts val="800"/>
              </a:spcAft>
              <a:buClr>
                <a:srgbClr val="28285E"/>
              </a:buClr>
              <a:buSzPts val="1440"/>
              <a:buFont typeface="Fira Sans"/>
              <a:buChar char="●"/>
            </a:pPr>
            <a:r>
              <a:rPr sz="1600">
                <a:solidFill>
                  <a:srgbClr val="28285E"/>
                </a:solidFill>
              </a:rPr>
              <a:t>The performance measure that defines the criterion of success</a:t>
            </a:r>
          </a:p>
          <a:p>
            <a:pPr marL="400050" indent="-285750">
              <a:spcAft>
                <a:spcPts val="800"/>
              </a:spcAft>
              <a:buClr>
                <a:srgbClr val="28285E"/>
              </a:buClr>
              <a:buSzPts val="1440"/>
              <a:buFont typeface="Fira Sans"/>
              <a:buChar char="●"/>
            </a:pPr>
            <a:r>
              <a:rPr sz="1600">
                <a:solidFill>
                  <a:srgbClr val="28285E"/>
                </a:solidFill>
              </a:rPr>
              <a:t>The agent’s prior knowledge of the environment</a:t>
            </a:r>
          </a:p>
          <a:p>
            <a:pPr marL="400050" indent="-285750">
              <a:spcAft>
                <a:spcPts val="800"/>
              </a:spcAft>
              <a:buClr>
                <a:srgbClr val="28285E"/>
              </a:buClr>
              <a:buSzPts val="1440"/>
              <a:buFont typeface="Fira Sans"/>
              <a:buChar char="●"/>
            </a:pPr>
            <a:r>
              <a:rPr sz="1600">
                <a:solidFill>
                  <a:srgbClr val="28285E"/>
                </a:solidFill>
              </a:rPr>
              <a:t>The actions that the agent can perform</a:t>
            </a:r>
          </a:p>
          <a:p>
            <a:pPr marL="400050" indent="-285750">
              <a:spcAft>
                <a:spcPts val="800"/>
              </a:spcAft>
              <a:buClr>
                <a:srgbClr val="28285E"/>
              </a:buClr>
              <a:buSzPts val="1440"/>
              <a:buFont typeface="Fira Sans"/>
              <a:buChar char="●"/>
            </a:pPr>
            <a:r>
              <a:rPr sz="1600">
                <a:solidFill>
                  <a:srgbClr val="28285E"/>
                </a:solidFill>
              </a:rPr>
              <a:t>The agent’s percept sequence to date</a:t>
            </a:r>
          </a:p>
        </p:txBody>
      </p:sp>
      <p:sp>
        <p:nvSpPr>
          <p:cNvPr id="4" name="Rectangle 3"/>
          <p:cNvSpPr/>
          <p:nvPr/>
        </p:nvSpPr>
        <p:spPr>
          <a:xfrm>
            <a:off x="319251" y="820000"/>
            <a:ext cx="6014545" cy="13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a:solidFill>
                  <a:schemeClr val="tx2"/>
                </a:solidFill>
              </a:rPr>
              <a:t>“For each possible percept sequence, a rational agent should select an action that is expected to maximize its performance measure, given the evidence provided by the percept sequence and whatever built-in knowledge the agent has.”</a:t>
            </a:r>
          </a:p>
          <a:p>
            <a:pPr algn="r">
              <a:spcBef>
                <a:spcPts val="600"/>
              </a:spcBef>
            </a:pPr>
            <a:r>
              <a:rPr sz="1000" i="1">
                <a:solidFill>
                  <a:schemeClr val="tx2"/>
                </a:solidFill>
              </a:rPr>
              <a:t>Russell and Norvig, §2.2.2</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demo agent: mini-swe-agent</a:t>
            </a:r>
          </a:p>
        </p:txBody>
      </p:sp>
      <p:sp>
        <p:nvSpPr>
          <p:cNvPr id="3" name="Rectangle 2"/>
          <p:cNvSpPr/>
          <p:nvPr/>
        </p:nvSpPr>
        <p:spPr>
          <a:xfrm>
            <a:off x="319251" y="730000"/>
            <a:ext cx="6014545" cy="76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ctr">
              <a:lnSpc>
                <a:spcPct val="114000"/>
              </a:lnSpc>
            </a:pPr>
            <a:r>
              <a:rPr sz="1400" dirty="0">
                <a:solidFill>
                  <a:schemeClr val="tx2"/>
                </a:solidFill>
              </a:rPr>
              <a:t>One alert from OWASP BenchmarkPython, read as an issue report. mini-swe-agent localizes the flagged code, edits it, and submits a patch. The run ends when the submission is accepted.</a:t>
            </a:r>
          </a:p>
        </p:txBody>
      </p:sp>
      <p:pic>
        <p:nvPicPr>
          <p:cNvPr id="4" name="Picture 3" descr="state-graph.png"/>
          <p:cNvPicPr>
            <a:picLocks noChangeAspect="1"/>
          </p:cNvPicPr>
          <p:nvPr/>
        </p:nvPicPr>
        <p:blipFill>
          <a:blip r:embed="rId3"/>
          <a:stretch>
            <a:fillRect/>
          </a:stretch>
        </p:blipFill>
        <p:spPr>
          <a:xfrm>
            <a:off x="751388" y="1720000"/>
            <a:ext cx="5355225" cy="3290000"/>
          </a:xfrm>
          <a:prstGeom prst="rect">
            <a:avLst/>
          </a:prstGeom>
        </p:spPr>
      </p:pic>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alert, one run, one patch</a:t>
            </a:r>
          </a:p>
        </p:txBody>
      </p:sp>
      <p:sp>
        <p:nvSpPr>
          <p:cNvPr id="3" name="TextBox 2"/>
          <p:cNvSpPr txBox="1"/>
          <p:nvPr/>
        </p:nvSpPr>
        <p:spPr>
          <a:xfrm>
            <a:off x="319251" y="630000"/>
            <a:ext cx="6014545" cy="200000"/>
          </a:xfrm>
          <a:prstGeom prst="rect">
            <a:avLst/>
          </a:prstGeom>
          <a:noFill/>
        </p:spPr>
        <p:txBody>
          <a:bodyPr wrap="none">
            <a:spAutoFit/>
          </a:bodyPr>
          <a:lstStyle/>
          <a:p>
            <a:r>
              <a:rPr sz="1200" b="1">
                <a:solidFill>
                  <a:srgbClr val="28285E"/>
                </a:solidFill>
              </a:rPr>
              <a:t>Before: the query is built by interpolation</a:t>
            </a:r>
          </a:p>
        </p:txBody>
      </p:sp>
      <p:sp>
        <p:nvSpPr>
          <p:cNvPr id="4" name="Rounded Rectangle 3"/>
          <p:cNvSpPr/>
          <p:nvPr/>
        </p:nvSpPr>
        <p:spPr>
          <a:xfrm>
            <a:off x="319251" y="89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f'SELECT username from USERS where password = \'</a:t>
            </a:r>
            <a:r>
              <a:rPr sz="1100" b="1">
                <a:solidFill>
                  <a:srgbClr val="C73561"/>
                </a:solidFill>
                <a:latin typeface="Maple Mono NF"/>
              </a:rPr>
              <a:t>{bar}</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p>
        </p:txBody>
      </p:sp>
      <p:pic>
        <p:nvPicPr>
          <p:cNvPr id="5" name="Picture 4" descr="run-compact.png"/>
          <p:cNvPicPr>
            <a:picLocks noChangeAspect="1"/>
          </p:cNvPicPr>
          <p:nvPr/>
        </p:nvPicPr>
        <p:blipFill>
          <a:blip r:embed="rId3"/>
          <a:stretch>
            <a:fillRect/>
          </a:stretch>
        </p:blipFill>
        <p:spPr>
          <a:xfrm>
            <a:off x="229000" y="1470000"/>
            <a:ext cx="6400000" cy="2142227"/>
          </a:xfrm>
          <a:prstGeom prst="rect">
            <a:avLst/>
          </a:prstGeom>
        </p:spPr>
      </p:pic>
      <p:sp>
        <p:nvSpPr>
          <p:cNvPr id="6" name="TextBox 5"/>
          <p:cNvSpPr txBox="1"/>
          <p:nvPr/>
        </p:nvSpPr>
        <p:spPr>
          <a:xfrm>
            <a:off x="319251" y="3620000"/>
            <a:ext cx="6014545" cy="200000"/>
          </a:xfrm>
          <a:prstGeom prst="rect">
            <a:avLst/>
          </a:prstGeom>
          <a:noFill/>
        </p:spPr>
        <p:txBody>
          <a:bodyPr wrap="none">
            <a:spAutoFit/>
          </a:bodyPr>
          <a:lstStyle/>
          <a:p>
            <a:r>
              <a:rPr sz="1200" b="1">
                <a:solidFill>
                  <a:srgbClr val="28285E"/>
                </a:solidFill>
              </a:rPr>
              <a:t>After: the query carries a placeholder and the value is bound</a:t>
            </a:r>
          </a:p>
        </p:txBody>
      </p:sp>
      <p:sp>
        <p:nvSpPr>
          <p:cNvPr id="7" name="Rounded Rectangle 6"/>
          <p:cNvSpPr/>
          <p:nvPr/>
        </p:nvSpPr>
        <p:spPr>
          <a:xfrm>
            <a:off x="319251" y="3880000"/>
            <a:ext cx="6014545" cy="52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8A8A9A"/>
                </a:solidFill>
                <a:latin typeface="Maple Mono NF"/>
              </a:rPr>
              <a:t>46  </a:t>
            </a:r>
            <a:r>
              <a:rPr sz="1100">
                <a:solidFill>
                  <a:srgbClr val="28285E"/>
                </a:solidFill>
                <a:latin typeface="Maple Mono NF"/>
              </a:rPr>
              <a:t>sql = 'SELECT username from USERS where password = </a:t>
            </a:r>
            <a:r>
              <a:rPr sz="1100" b="1">
                <a:solidFill>
                  <a:srgbClr val="099191"/>
                </a:solidFill>
                <a:latin typeface="Maple Mono NF"/>
              </a:rPr>
              <a:t>?</a:t>
            </a:r>
            <a:r>
              <a:rPr sz="1100">
                <a:solidFill>
                  <a:srgbClr val="28285E"/>
                </a:solidFill>
                <a:latin typeface="Maple Mono NF"/>
              </a:rPr>
              <a:t>'</a:t>
            </a:r>
          </a:p>
          <a:p>
            <a:pPr algn="l">
              <a:buNone/>
            </a:pPr>
            <a:r>
              <a:rPr sz="1100">
                <a:solidFill>
                  <a:srgbClr val="8A8A9A"/>
                </a:solidFill>
                <a:latin typeface="Maple Mono NF"/>
              </a:rPr>
              <a:t>49  </a:t>
            </a:r>
            <a:r>
              <a:rPr sz="1100">
                <a:solidFill>
                  <a:srgbClr val="28285E"/>
                </a:solidFill>
                <a:latin typeface="Maple Mono NF"/>
              </a:rPr>
              <a:t>cur.execute(sql</a:t>
            </a:r>
            <a:r>
              <a:rPr sz="1100" b="1">
                <a:solidFill>
                  <a:srgbClr val="099191"/>
                </a:solidFill>
                <a:latin typeface="Maple Mono NF"/>
              </a:rPr>
              <a:t>, (bar,)</a:t>
            </a:r>
            <a:r>
              <a:rPr sz="1100">
                <a:solidFill>
                  <a:srgbClr val="28285E"/>
                </a:solidFill>
                <a:latin typeface="Maple Mono NF"/>
              </a:rPr>
              <a:t>)</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Why this is a rational agent</a:t>
            </a:r>
          </a:p>
        </p:txBody>
      </p:sp>
      <p:sp>
        <p:nvSpPr>
          <p:cNvPr id="3" name="Content Placeholder 2"/>
          <p:cNvSpPr>
            <a:spLocks noGrp="1"/>
          </p:cNvSpPr>
          <p:nvPr>
            <p:ph idx="1"/>
          </p:nvPr>
        </p:nvSpPr>
        <p:spPr>
          <a:xfrm>
            <a:off x="319251" y="740000"/>
            <a:ext cx="6014545" cy="2700000"/>
          </a:xfrm>
        </p:spPr>
        <p:txBody>
          <a:bodyPr wrap="square"/>
          <a:lstStyle/>
          <a:p>
            <a:pPr marL="0" indent="0">
              <a:buNone/>
            </a:pPr>
            <a:r>
              <a:rPr sz="1400" b="1" dirty="0">
                <a:solidFill>
                  <a:srgbClr val="28285E"/>
                </a:solidFill>
              </a:rPr>
              <a:t>It is rational, but only given four things we </a:t>
            </a:r>
            <a:r>
              <a:rPr lang="en-US" sz="1400" b="1" dirty="0">
                <a:solidFill>
                  <a:srgbClr val="28285E"/>
                </a:solidFill>
              </a:rPr>
              <a:t>must</a:t>
            </a:r>
            <a:r>
              <a:rPr sz="1400" b="1" dirty="0">
                <a:solidFill>
                  <a:srgbClr val="28285E"/>
                </a:solidFill>
              </a:rPr>
              <a:t> state:</a:t>
            </a:r>
          </a:p>
          <a:p>
            <a:pPr marL="400050" indent="-285750">
              <a:spcAft>
                <a:spcPts val="700"/>
              </a:spcAft>
              <a:buClr>
                <a:srgbClr val="28285E"/>
              </a:buClr>
              <a:buSzPts val="1260"/>
              <a:buFont typeface="Fira Sans"/>
              <a:buChar char="●"/>
            </a:pPr>
            <a:r>
              <a:rPr sz="1400" b="1" dirty="0">
                <a:solidFill>
                  <a:srgbClr val="28285E"/>
                </a:solidFill>
              </a:rPr>
              <a:t>The performance measure:</a:t>
            </a:r>
            <a:r>
              <a:rPr sz="1400" dirty="0">
                <a:solidFill>
                  <a:srgbClr val="28285E"/>
                </a:solidFill>
              </a:rPr>
              <a:t> one point if the patch removes the reported weakness and leaves the endpoint behaving as it did</a:t>
            </a:r>
          </a:p>
          <a:p>
            <a:pPr marL="400050" indent="-285750">
              <a:spcAft>
                <a:spcPts val="700"/>
              </a:spcAft>
              <a:buClr>
                <a:srgbClr val="28285E"/>
              </a:buClr>
              <a:buSzPts val="1260"/>
              <a:buFont typeface="Fira Sans"/>
              <a:buChar char="●"/>
            </a:pPr>
            <a:r>
              <a:rPr lang="en-US" sz="1400" b="1" dirty="0">
                <a:solidFill>
                  <a:srgbClr val="28285E"/>
                </a:solidFill>
              </a:rPr>
              <a:t>Prior knowledge:</a:t>
            </a:r>
            <a:r>
              <a:rPr lang="en-US" sz="1400" dirty="0">
                <a:solidFill>
                  <a:srgbClr val="28285E"/>
                </a:solidFill>
              </a:rPr>
              <a:t> the application's layout, and what each tool </a:t>
            </a:r>
            <a:r>
              <a:rPr sz="1400" dirty="0">
                <a:solidFill>
                  <a:srgbClr val="28285E"/>
                </a:solidFill>
              </a:rPr>
              <a:t>returns</a:t>
            </a:r>
          </a:p>
          <a:p>
            <a:pPr marL="400050" indent="-285750">
              <a:spcAft>
                <a:spcPts val="700"/>
              </a:spcAft>
              <a:buClr>
                <a:srgbClr val="28285E"/>
              </a:buClr>
              <a:buSzPts val="1260"/>
              <a:buFont typeface="Fira Sans"/>
              <a:buChar char="●"/>
            </a:pPr>
            <a:r>
              <a:rPr sz="1400" b="1" dirty="0">
                <a:solidFill>
                  <a:srgbClr val="28285E"/>
                </a:solidFill>
              </a:rPr>
              <a:t>The actions available:</a:t>
            </a:r>
            <a:r>
              <a:rPr sz="1400" dirty="0">
                <a:solidFill>
                  <a:srgbClr val="28285E"/>
                </a:solidFill>
              </a:rPr>
              <a:t> read_file, search, edit, submit</a:t>
            </a:r>
          </a:p>
          <a:p>
            <a:pPr marL="400050" indent="-285750">
              <a:spcAft>
                <a:spcPts val="700"/>
              </a:spcAft>
              <a:buClr>
                <a:srgbClr val="28285E"/>
              </a:buClr>
              <a:buSzPts val="1260"/>
              <a:buFont typeface="Fira Sans"/>
              <a:buChar char="●"/>
            </a:pPr>
            <a:r>
              <a:rPr sz="1400" b="1" dirty="0">
                <a:solidFill>
                  <a:srgbClr val="28285E"/>
                </a:solidFill>
              </a:rPr>
              <a:t>The percepts:</a:t>
            </a:r>
            <a:r>
              <a:rPr sz="1400" dirty="0">
                <a:solidFill>
                  <a:srgbClr val="28285E"/>
                </a:solidFill>
              </a:rPr>
              <a:t> whatever the tools return, and nothing else</a:t>
            </a:r>
          </a:p>
        </p:txBody>
      </p:sp>
      <p:sp>
        <p:nvSpPr>
          <p:cNvPr id="4" name="Rectangle 3"/>
          <p:cNvSpPr/>
          <p:nvPr/>
        </p:nvSpPr>
        <p:spPr>
          <a:xfrm>
            <a:off x="319251" y="3297836"/>
            <a:ext cx="6014545" cy="822164"/>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400" b="0" u="none" dirty="0">
                <a:solidFill>
                  <a:schemeClr val="tx2"/>
                </a:solidFill>
              </a:rPr>
              <a:t>Reading the flagged lines before editing them is the action that </a:t>
            </a:r>
            <a:r>
              <a:rPr sz="1400" b="1" u="sng" dirty="0">
                <a:solidFill>
                  <a:schemeClr val="tx2"/>
                </a:solidFill>
              </a:rPr>
              <a:t>maximizes expected performance</a:t>
            </a:r>
            <a:r>
              <a:rPr sz="1400" b="0" u="none" dirty="0">
                <a:solidFill>
                  <a:schemeClr val="tx2"/>
                </a:solidFill>
              </a:rPr>
              <a:t>. </a:t>
            </a:r>
          </a:p>
        </p:txBody>
      </p:sp>
      <p:sp>
        <p:nvSpPr>
          <p:cNvPr id="5" name="Rectangle 4"/>
          <p:cNvSpPr/>
          <p:nvPr/>
        </p:nvSpPr>
        <p:spPr>
          <a:xfrm>
            <a:off x="319251" y="42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Rationality is relative to </a:t>
            </a:r>
            <a:r>
              <a:rPr sz="1200" b="1">
                <a:solidFill>
                  <a:srgbClr val="28285E"/>
                </a:solidFill>
              </a:rPr>
              <a:t>those four</a:t>
            </a:r>
            <a:r>
              <a:rPr lang="en-US" sz="1200" b="1">
                <a:solidFill>
                  <a:srgbClr val="28285E"/>
                </a:solidFill>
              </a:rPr>
              <a:t>!</a:t>
            </a:r>
            <a:endParaRPr sz="1200" b="1" dirty="0">
              <a:solidFill>
                <a:srgbClr val="28285E"/>
              </a:solidFill>
            </a:endParaRP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When it is not</a:t>
            </a:r>
          </a:p>
        </p:txBody>
      </p:sp>
      <p:sp>
        <p:nvSpPr>
          <p:cNvPr id="3" name="Content Placeholder 2"/>
          <p:cNvSpPr>
            <a:spLocks noGrp="1"/>
          </p:cNvSpPr>
          <p:nvPr>
            <p:ph idx="1"/>
          </p:nvPr>
        </p:nvSpPr>
        <p:spPr>
          <a:xfrm>
            <a:off x="319251" y="700000"/>
            <a:ext cx="6014545" cy="2900000"/>
          </a:xfrm>
        </p:spPr>
        <p:txBody>
          <a:bodyPr wrap="square">
            <a:normAutofit fontScale="92500"/>
          </a:bodyPr>
          <a:lstStyle/>
          <a:p>
            <a:pPr marL="0" indent="0">
              <a:buNone/>
            </a:pPr>
            <a:r>
              <a:rPr lang="en-US" sz="1400" b="1" dirty="0">
                <a:solidFill>
                  <a:srgbClr val="28285E"/>
                </a:solidFill>
              </a:rPr>
              <a:t>Circumstances </a:t>
            </a:r>
            <a:r>
              <a:rPr lang="en-US" b="1" dirty="0">
                <a:solidFill>
                  <a:srgbClr val="28285E"/>
                </a:solidFill>
              </a:rPr>
              <a:t>under which the agent </a:t>
            </a:r>
            <a:r>
              <a:rPr sz="1400" b="1" dirty="0">
                <a:solidFill>
                  <a:srgbClr val="28285E"/>
                </a:solidFill>
              </a:rPr>
              <a:t>stops being rational:</a:t>
            </a:r>
          </a:p>
          <a:p>
            <a:pPr marL="400050" indent="-285750">
              <a:spcBef>
                <a:spcPts val="600"/>
              </a:spcBef>
              <a:spcAft>
                <a:spcPts val="800"/>
              </a:spcAft>
              <a:buClr>
                <a:srgbClr val="28285E"/>
              </a:buClr>
              <a:buSzPts val="1260"/>
              <a:buFont typeface="Fira Sans"/>
              <a:buChar char="●"/>
            </a:pPr>
            <a:r>
              <a:rPr sz="1400" dirty="0"/>
              <a:t>Optimizing per tool call, and an agent that reads whole files fares poorly. A better agent reads the smallest range that answers its question </a:t>
            </a:r>
            <a:r>
              <a:rPr sz="1400" b="1" dirty="0">
                <a:solidFill>
                  <a:srgbClr val="C73561"/>
                </a:solidFill>
              </a:rPr>
              <a:t>(becomes relevant when we build better tools)</a:t>
            </a:r>
            <a:endParaRPr sz="1400" b="1" dirty="0">
              <a:solidFill>
                <a:schemeClr val="accent4"/>
              </a:solidFill>
            </a:endParaRPr>
          </a:p>
          <a:p>
            <a:pPr marL="400050" indent="-285750">
              <a:spcAft>
                <a:spcPts val="800"/>
              </a:spcAft>
              <a:buClr>
                <a:srgbClr val="28285E"/>
              </a:buClr>
              <a:buSzPts val="1260"/>
              <a:buFont typeface="Fira Sans"/>
              <a:buChar char="●"/>
            </a:pPr>
            <a:r>
              <a:rPr sz="1400" dirty="0"/>
              <a:t>Patching only the flagged line, and the weakness survives when the unsafe value comes from a helper the alert never names. A better agent follows the value first </a:t>
            </a:r>
            <a:r>
              <a:rPr sz="1400" b="1" dirty="0">
                <a:solidFill>
                  <a:srgbClr val="C73561"/>
                </a:solidFill>
              </a:rPr>
              <a:t>(becomes relevant when we add a planner)</a:t>
            </a:r>
          </a:p>
          <a:p>
            <a:pPr marL="400050" indent="-285750">
              <a:spcAft>
                <a:spcPts val="800"/>
              </a:spcAft>
              <a:buClr>
                <a:srgbClr val="28285E"/>
              </a:buClr>
              <a:buSzPts val="1260"/>
              <a:buFont typeface="Fira Sans"/>
              <a:buChar char="●"/>
            </a:pPr>
            <a:r>
              <a:rPr sz="1400" dirty="0"/>
              <a:t>Keep editing after the submission is accepted, and every further call risks breaking behavior </a:t>
            </a:r>
            <a:r>
              <a:rPr sz="1400" b="1" dirty="0">
                <a:solidFill>
                  <a:srgbClr val="C73561"/>
                </a:solidFill>
              </a:rPr>
              <a:t>(becomes relevant when the runtime owns termination)</a:t>
            </a:r>
          </a:p>
        </p:txBody>
      </p:sp>
      <p:sp>
        <p:nvSpPr>
          <p:cNvPr id="4" name="Rectangle 3"/>
          <p:cNvSpPr/>
          <p:nvPr/>
        </p:nvSpPr>
        <p:spPr>
          <a:xfrm>
            <a:off x="319251" y="3620000"/>
            <a:ext cx="6014545" cy="62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500" b="1" u="sng">
                <a:solidFill>
                  <a:schemeClr val="tx2"/>
                </a:solidFill>
              </a:rPr>
              <a:t>Budget</a:t>
            </a:r>
            <a:r>
              <a:rPr sz="1500" b="0" u="none">
                <a:solidFill>
                  <a:schemeClr val="tx2"/>
                </a:solidFill>
              </a:rPr>
              <a:t>, </a:t>
            </a:r>
            <a:r>
              <a:rPr sz="1500" b="1" u="sng">
                <a:solidFill>
                  <a:schemeClr val="tx2"/>
                </a:solidFill>
              </a:rPr>
              <a:t>depth of investigation</a:t>
            </a:r>
            <a:r>
              <a:rPr sz="1500" b="0" u="none">
                <a:solidFill>
                  <a:schemeClr val="tx2"/>
                </a:solidFill>
              </a:rPr>
              <a:t>, </a:t>
            </a:r>
            <a:r>
              <a:rPr sz="1500" b="1" u="sng">
                <a:solidFill>
                  <a:schemeClr val="tx2"/>
                </a:solidFill>
              </a:rPr>
              <a:t>termination</a:t>
            </a:r>
            <a:r>
              <a:rPr sz="1500" b="0" u="none">
                <a:solidFill>
                  <a:schemeClr val="tx2"/>
                </a:solidFill>
              </a:rPr>
              <a:t>. Each later section makes one of them a decision.</a:t>
            </a:r>
          </a:p>
        </p:txBody>
      </p:sp>
      <p:sp>
        <p:nvSpPr>
          <p:cNvPr id="5" name="Rectangle 4"/>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And the Submit state checks less than the measure asks:</a:t>
            </a:r>
            <a:r>
              <a:rPr sz="1200" b="1" dirty="0">
                <a:solidFill>
                  <a:srgbClr val="28285E"/>
                </a:solidFill>
              </a:rPr>
              <a:t> </a:t>
            </a:r>
            <a:r>
              <a:rPr lang="en-US" sz="1200" b="1" dirty="0">
                <a:solidFill>
                  <a:srgbClr val="28285E"/>
                </a:solidFill>
              </a:rPr>
              <a:t>A</a:t>
            </a:r>
            <a:r>
              <a:rPr sz="1200" b="1" dirty="0">
                <a:solidFill>
                  <a:srgbClr val="28285E"/>
                </a:solidFill>
              </a:rPr>
              <a:t>ccepted is not </a:t>
            </a:r>
            <a:r>
              <a:rPr lang="en-US" sz="1200" b="1" dirty="0">
                <a:solidFill>
                  <a:srgbClr val="28285E"/>
                </a:solidFill>
              </a:rPr>
              <a:t>C</a:t>
            </a:r>
            <a:r>
              <a:rPr sz="1200" b="1" dirty="0">
                <a:solidFill>
                  <a:srgbClr val="28285E"/>
                </a:solidFill>
              </a:rPr>
              <a:t>orrect.</a:t>
            </a:r>
          </a:p>
        </p:txBody>
      </p:sp>
    </p:spTree>
  </p:cSld>
  <p:clrMapOvr>
    <a:masterClrMapping/>
  </p:clrMapOvr>
  <p:extLst>
    <p:ext uri="{6950BFC3-D8DA-4A85-94F7-54DA5524770B}">
      <p188:commentRel xmlns:p188="http://schemas.microsoft.com/office/powerpoint/2018/8/main" r:id="rId3"/>
    </p:ext>
  </p:extLst>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task environment</a:t>
            </a:r>
          </a:p>
        </p:txBody>
      </p:sp>
      <p:sp>
        <p:nvSpPr>
          <p:cNvPr id="3" name="Rectangle 2"/>
          <p:cNvSpPr/>
          <p:nvPr/>
        </p:nvSpPr>
        <p:spPr>
          <a:xfrm>
            <a:off x="319251" y="677213"/>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r>
              <a:rPr sz="1400" dirty="0">
                <a:solidFill>
                  <a:schemeClr val="tx2"/>
                </a:solidFill>
              </a:rPr>
              <a:t>A task environment is a performance measure</a:t>
            </a:r>
            <a:r>
              <a:rPr lang="en-US" sz="1400" dirty="0">
                <a:solidFill>
                  <a:schemeClr val="tx2"/>
                </a:solidFill>
              </a:rPr>
              <a:t> </a:t>
            </a:r>
            <a:r>
              <a:rPr lang="en-US" sz="1400" b="1" dirty="0">
                <a:solidFill>
                  <a:schemeClr val="tx2"/>
                </a:solidFill>
              </a:rPr>
              <a:t>(P)</a:t>
            </a:r>
            <a:r>
              <a:rPr sz="1400" dirty="0">
                <a:solidFill>
                  <a:schemeClr val="tx2"/>
                </a:solidFill>
              </a:rPr>
              <a:t>, an environment</a:t>
            </a:r>
            <a:r>
              <a:rPr lang="en-US" sz="1400" dirty="0">
                <a:solidFill>
                  <a:schemeClr val="tx2"/>
                </a:solidFill>
              </a:rPr>
              <a:t> </a:t>
            </a:r>
            <a:r>
              <a:rPr lang="en-US" sz="1400" b="1" dirty="0">
                <a:solidFill>
                  <a:schemeClr val="tx2"/>
                </a:solidFill>
              </a:rPr>
              <a:t>(E)</a:t>
            </a:r>
            <a:r>
              <a:rPr sz="1400" dirty="0">
                <a:solidFill>
                  <a:schemeClr val="tx2"/>
                </a:solidFill>
              </a:rPr>
              <a:t>, actuators </a:t>
            </a:r>
            <a:r>
              <a:rPr lang="en-US" sz="1400" b="1" dirty="0">
                <a:solidFill>
                  <a:schemeClr val="tx2"/>
                </a:solidFill>
              </a:rPr>
              <a:t>(A)</a:t>
            </a:r>
            <a:r>
              <a:rPr lang="en-US" sz="1400" dirty="0">
                <a:solidFill>
                  <a:schemeClr val="tx2"/>
                </a:solidFill>
              </a:rPr>
              <a:t> </a:t>
            </a:r>
            <a:r>
              <a:rPr sz="1400" dirty="0">
                <a:solidFill>
                  <a:schemeClr val="tx2"/>
                </a:solidFill>
              </a:rPr>
              <a:t>and sensors</a:t>
            </a:r>
            <a:r>
              <a:rPr lang="en-US" sz="1400" dirty="0">
                <a:solidFill>
                  <a:schemeClr val="tx2"/>
                </a:solidFill>
              </a:rPr>
              <a:t> </a:t>
            </a:r>
            <a:r>
              <a:rPr lang="en-US" sz="1400" b="1" dirty="0">
                <a:solidFill>
                  <a:schemeClr val="tx2"/>
                </a:solidFill>
              </a:rPr>
              <a:t>(S)</a:t>
            </a:r>
            <a:r>
              <a:rPr sz="1400" dirty="0">
                <a:solidFill>
                  <a:schemeClr val="tx2"/>
                </a:solidFill>
              </a:rPr>
              <a:t>, written down as a PEAS description. </a:t>
            </a:r>
          </a:p>
        </p:txBody>
      </p:sp>
      <p:graphicFrame>
        <p:nvGraphicFramePr>
          <p:cNvPr id="4" name="Table 3"/>
          <p:cNvGraphicFramePr>
            <a:graphicFrameLocks noGrp="1"/>
          </p:cNvGraphicFramePr>
          <p:nvPr>
            <p:extLst>
              <p:ext uri="{D42A27DB-BD31-4B8C-83A1-F6EECF244321}">
                <p14:modId xmlns:p14="http://schemas.microsoft.com/office/powerpoint/2010/main" val="4095265410"/>
              </p:ext>
            </p:extLst>
          </p:nvPr>
        </p:nvGraphicFramePr>
        <p:xfrm>
          <a:off x="319251" y="1619971"/>
          <a:ext cx="6014545" cy="2144040"/>
        </p:xfrm>
        <a:graphic>
          <a:graphicData uri="http://schemas.openxmlformats.org/drawingml/2006/table">
            <a:tbl>
              <a:tblPr>
                <a:tableStyleId>{2D5ABB26-0587-4C30-8999-92F81FD0307C}</a:tableStyleId>
              </a:tblPr>
              <a:tblGrid>
                <a:gridCol w="1239525">
                  <a:extLst>
                    <a:ext uri="{9D8B030D-6E8A-4147-A177-3AD203B41FA5}">
                      <a16:colId xmlns:a16="http://schemas.microsoft.com/office/drawing/2014/main" val="20000"/>
                    </a:ext>
                  </a:extLst>
                </a:gridCol>
                <a:gridCol w="4775020">
                  <a:extLst>
                    <a:ext uri="{9D8B030D-6E8A-4147-A177-3AD203B41FA5}">
                      <a16:colId xmlns:a16="http://schemas.microsoft.com/office/drawing/2014/main" val="20001"/>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200" b="1" dirty="0">
                          <a:solidFill>
                            <a:schemeClr val="tx1">
                              <a:lumMod val="85000"/>
                              <a:lumOff val="15000"/>
                            </a:schemeClr>
                          </a:solidFill>
                        </a:rPr>
                        <a:t>For mini-swe-agent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200" b="1">
                          <a:solidFill>
                            <a:srgbClr val="28285E"/>
                          </a:solidFill>
                        </a:rPr>
                        <a:t>Performance measure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reported weakness is </a:t>
                      </a:r>
                      <a:r>
                        <a:rPr lang="en-US" sz="1200" b="0" dirty="0">
                          <a:solidFill>
                            <a:schemeClr val="tx1">
                              <a:lumMod val="85000"/>
                              <a:lumOff val="15000"/>
                            </a:schemeClr>
                          </a:solidFill>
                        </a:rPr>
                        <a:t>gone,</a:t>
                      </a:r>
                      <a:r>
                        <a:rPr sz="1200" b="0" dirty="0">
                          <a:solidFill>
                            <a:schemeClr val="tx1">
                              <a:lumMod val="85000"/>
                              <a:lumOff val="15000"/>
                            </a:schemeClr>
                          </a:solidFill>
                        </a:rPr>
                        <a:t> and the endpoint still returns what it returned before, at bounded cost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255372">
                <a:tc>
                  <a:txBody>
                    <a:bodyPr/>
                    <a:lstStyle/>
                    <a:p>
                      <a:pPr algn="l">
                        <a:buNone/>
                      </a:pPr>
                      <a:r>
                        <a:rPr sz="1200" b="1">
                          <a:solidFill>
                            <a:srgbClr val="28285E"/>
                          </a:solidFill>
                        </a:rPr>
                        <a:t>Environment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OWASP </a:t>
                      </a:r>
                      <a:r>
                        <a:rPr sz="1200" b="0" dirty="0">
                          <a:solidFill>
                            <a:schemeClr val="tx1">
                              <a:lumMod val="85000"/>
                              <a:lumOff val="15000"/>
                            </a:schemeClr>
                          </a:solidFill>
                          <a:latin typeface="Maple Mono NF" panose="020F0509060000000000" pitchFamily="49" charset="0"/>
                          <a:ea typeface="Maple Mono NF" panose="020F0509060000000000" pitchFamily="49" charset="0"/>
                        </a:rPr>
                        <a:t>BenchmarkPython</a:t>
                      </a:r>
                      <a:r>
                        <a:rPr sz="1200" b="0" dirty="0">
                          <a:solidFill>
                            <a:schemeClr val="tx1">
                              <a:lumMod val="85000"/>
                              <a:lumOff val="15000"/>
                            </a:schemeClr>
                          </a:solidFill>
                        </a:rPr>
                        <a:t> at a pinned commit, one scanner alert read as an issue report, and the working tree the agent edits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200" b="1">
                          <a:solidFill>
                            <a:srgbClr val="28285E"/>
                          </a:solidFill>
                        </a:rPr>
                        <a:t>Actuators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a:solidFill>
                            <a:schemeClr val="tx1">
                              <a:lumMod val="85000"/>
                              <a:lumOff val="15000"/>
                            </a:schemeClr>
                          </a:solidFill>
                        </a:rPr>
                        <a:t>read_file(path, range), search(pattern), edit(path, old, new), submit(patch)</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200" b="1">
                          <a:solidFill>
                            <a:srgbClr val="28285E"/>
                          </a:solidFill>
                        </a:rPr>
                        <a:t>Sensors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200" b="0" dirty="0">
                          <a:solidFill>
                            <a:schemeClr val="tx1">
                              <a:lumMod val="85000"/>
                              <a:lumOff val="15000"/>
                            </a:schemeClr>
                          </a:solidFill>
                        </a:rPr>
                        <a:t>The alert, file excerpts, search hits, edit confirmations, the validation result, and tool errors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5" name="TextBox 4">
            <a:extLst>
              <a:ext uri="{FF2B5EF4-FFF2-40B4-BE49-F238E27FC236}">
                <a16:creationId xmlns:a16="http://schemas.microsoft.com/office/drawing/2014/main" id="{665FFBF3-3207-3468-0B19-E7985ADE21B1}"/>
              </a:ext>
            </a:extLst>
          </p:cNvPr>
          <p:cNvSpPr txBox="1"/>
          <p:nvPr/>
        </p:nvSpPr>
        <p:spPr>
          <a:xfrm>
            <a:off x="4565363" y="1318892"/>
            <a:ext cx="1768433" cy="253916"/>
          </a:xfrm>
          <a:prstGeom prst="rect">
            <a:avLst/>
          </a:prstGeom>
          <a:noFill/>
        </p:spPr>
        <p:txBody>
          <a:bodyPr wrap="none" rtlCol="0">
            <a:spAutoFit/>
          </a:bodyPr>
          <a:lstStyle/>
          <a:p>
            <a:r>
              <a:rPr lang="en-US" sz="1050" i="1" dirty="0">
                <a:solidFill>
                  <a:schemeClr val="bg2"/>
                </a:solidFill>
              </a:rPr>
              <a:t>Russell and Norvig, §2.3.1</a:t>
            </a:r>
          </a:p>
        </p:txBody>
      </p:sp>
      <p:sp>
        <p:nvSpPr>
          <p:cNvPr id="6" name="TextBox 5">
            <a:extLst>
              <a:ext uri="{FF2B5EF4-FFF2-40B4-BE49-F238E27FC236}">
                <a16:creationId xmlns:a16="http://schemas.microsoft.com/office/drawing/2014/main" id="{6F6A8D69-4A73-6D44-5200-482241C2294D}"/>
              </a:ext>
            </a:extLst>
          </p:cNvPr>
          <p:cNvSpPr txBox="1"/>
          <p:nvPr/>
        </p:nvSpPr>
        <p:spPr>
          <a:xfrm>
            <a:off x="233584" y="4095968"/>
            <a:ext cx="6185877" cy="261610"/>
          </a:xfrm>
          <a:prstGeom prst="rect">
            <a:avLst/>
          </a:prstGeom>
          <a:solidFill>
            <a:schemeClr val="accent4"/>
          </a:solidFill>
          <a:ln>
            <a:solidFill>
              <a:schemeClr val="accent4"/>
            </a:solidFill>
          </a:ln>
        </p:spPr>
        <p:txBody>
          <a:bodyPr wrap="square" rtlCol="0">
            <a:spAutoFit/>
          </a:bodyPr>
          <a:lstStyle/>
          <a:p>
            <a:pPr algn="just"/>
            <a:r>
              <a:rPr lang="en-US" sz="1100" b="1" dirty="0">
                <a:solidFill>
                  <a:schemeClr val="bg1"/>
                </a:solidFill>
                <a:latin typeface="Fira Sans Light" panose="020B0403050000020004" pitchFamily="34" charset="0"/>
              </a:rPr>
              <a:t>In designing an agent, the first step is to try to specify the task environment as fully as possible.</a:t>
            </a: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Fully or partially observable</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Fully observable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Partially observable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give the agent the complete state of the environment at each point in time, or at least every part that matters for the choice of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sensors are noisy or inaccurate, or part of the state is simply missing. With no sensors at all, unobservable.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backgammon,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taxi driving, medical diagnosis,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Partially observable. </a:t>
            </a:r>
            <a:r>
              <a:rPr sz="1300" dirty="0">
                <a:solidFill>
                  <a:srgbClr val="28285E"/>
                </a:solidFill>
              </a:rPr>
              <a:t>Our agent sees only what it reads, and it never sees whether the endpoint still works.</a:t>
            </a:r>
            <a:r>
              <a:rPr lang="en-US" sz="1300" dirty="0">
                <a:solidFill>
                  <a:srgbClr val="28285E"/>
                </a:solidFill>
              </a:rPr>
              <a:t> How or where the application is running, the OS or what other programs are running simultaneously. </a:t>
            </a:r>
            <a:endParaRPr sz="1300" dirty="0">
              <a:solidFill>
                <a:srgbClr val="28285E"/>
              </a:solidFill>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Single agent or multiagent</a:t>
            </a:r>
          </a:p>
        </p:txBody>
      </p:sp>
      <p:graphicFrame>
        <p:nvGraphicFramePr>
          <p:cNvPr id="3" name="Table 2"/>
          <p:cNvGraphicFramePr>
            <a:graphicFrameLocks noGrp="1"/>
          </p:cNvGraphicFramePr>
          <p:nvPr>
            <p:extLst>
              <p:ext uri="{D42A27DB-BD31-4B8C-83A1-F6EECF244321}">
                <p14:modId xmlns:p14="http://schemas.microsoft.com/office/powerpoint/2010/main" val="4098586134"/>
              </p:ext>
            </p:extLst>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Single agent</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Multiagent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No other entity behaves as though it were maximising a measure that depends on what this agent does.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Another entity is best described as maximizing a measure whose value depends on this agent's behavior. It can compete, as in chess, or cooperate, as in traffic.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dirty="0">
                          <a:solidFill>
                            <a:srgbClr val="28285E"/>
                          </a:solidFill>
                        </a:rPr>
                        <a:t>Chess with a clock, poker, backgammon, taxi driving,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dirty="0">
                <a:solidFill>
                  <a:srgbClr val="348EDC"/>
                </a:solidFill>
              </a:rPr>
              <a:t>Single agent. </a:t>
            </a:r>
            <a:r>
              <a:rPr sz="1300" dirty="0">
                <a:solidFill>
                  <a:srgbClr val="28285E"/>
                </a:solidFill>
              </a:rPr>
              <a:t>Nothing in the </a:t>
            </a:r>
            <a:r>
              <a:rPr lang="en-US" sz="1300" dirty="0">
                <a:solidFill>
                  <a:srgbClr val="28285E"/>
                </a:solidFill>
              </a:rPr>
              <a:t>architecture </a:t>
            </a:r>
            <a:r>
              <a:rPr sz="1300" dirty="0">
                <a:solidFill>
                  <a:srgbClr val="28285E"/>
                </a:solidFill>
              </a:rPr>
              <a:t>is trying to </a:t>
            </a:r>
            <a:r>
              <a:rPr lang="en-US" sz="1300">
                <a:solidFill>
                  <a:srgbClr val="28285E"/>
                </a:solidFill>
              </a:rPr>
              <a:t>cooperate with or </a:t>
            </a:r>
            <a:r>
              <a:rPr sz="1300" dirty="0">
                <a:solidFill>
                  <a:srgbClr val="28285E"/>
                </a:solidFill>
              </a:rPr>
              <a:t>beat it.</a:t>
            </a: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Deterministic or nondeterministic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Deterministic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Nondeterministic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state and the action the agent executes fix the next state completely.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They do not. A partly observable environment can look nondeterministic even when it is not. Stochastic is the narrower word, for models that put numbers on the possibilities.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image analysis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Poker, backgammon, taxi driving, medical diagnosis,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Deterministic. </a:t>
            </a:r>
            <a:r>
              <a:rPr sz="1300">
                <a:solidFill>
                  <a:srgbClr val="28285E"/>
                </a:solidFill>
              </a:rPr>
              <a:t>The same read, and the same rescan, give the same answer every time.</a:t>
            </a: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Episodic or sequential</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Episodic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Sequential</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Experience divides into separate episodes. The agent perceives, then acts once, and the next episode owes nothing to the last.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current decision can affect every decision that follows.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Image analysis, part-picking robot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poker, backgammon, taxi driving, medical diagnosis,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Both, at different scales. </a:t>
            </a:r>
            <a:r>
              <a:rPr sz="1300">
                <a:solidFill>
                  <a:srgbClr val="28285E"/>
                </a:solidFill>
              </a:rPr>
              <a:t>Sequential inside one alert, because what it reads next depends on what it just read. Episodic across alerts, because one alert teaches it nothing about the next.</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Static or dynamic</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Static</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Dynamic</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cannot change while the agent is thinking, so the agent need not watch the clock.</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environment can change while the agent is thinking. Semidynamic if the world holds still but the score does not.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poker, backgammon; chess with a clock and image analysis are semidynamic</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part-picking robot, refinery controller,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Static. </a:t>
            </a:r>
            <a:r>
              <a:rPr sz="1300">
                <a:solidFill>
                  <a:srgbClr val="28285E"/>
                </a:solidFill>
              </a:rPr>
              <a:t>The working tree changes only when our agent edits it.</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Discrete or continuous</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Discrete</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Continuous</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state, the handling of time, and the agent's percepts and actions all come in a finite number of distinct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State, time, percepts or actions sweep through a range of values.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Crossword, chess with a clock, poker, backgammon, English tutor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Taxi driving, medical diagnosis, image analysis, part-picking robot, refinery controller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Discrete. </a:t>
            </a:r>
            <a:r>
              <a:rPr sz="1300">
                <a:solidFill>
                  <a:srgbClr val="28285E"/>
                </a:solidFill>
              </a:rPr>
              <a:t>Files, lines, hunks and edits are countable. There is nothing here to measure.</a:t>
            </a:r>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Known or unknown</a:t>
            </a:r>
          </a:p>
        </p:txBody>
      </p:sp>
      <p:graphicFrame>
        <p:nvGraphicFramePr>
          <p:cNvPr id="3" name="Table 2"/>
          <p:cNvGraphicFramePr>
            <a:graphicFrameLocks noGrp="1"/>
          </p:cNvGraphicFramePr>
          <p:nvPr/>
        </p:nvGraphicFramePr>
        <p:xfrm>
          <a:off x="319251" y="700000"/>
          <a:ext cx="6014545" cy="2450000"/>
        </p:xfrm>
        <a:graphic>
          <a:graphicData uri="http://schemas.openxmlformats.org/drawingml/2006/table">
            <a:tbl>
              <a:tblPr>
                <a:tableStyleId>{2D5ABB26-0587-4C30-8999-92F81FD0307C}</a:tableStyleId>
              </a:tblPr>
              <a:tblGrid>
                <a:gridCol w="1150000">
                  <a:extLst>
                    <a:ext uri="{9D8B030D-6E8A-4147-A177-3AD203B41FA5}">
                      <a16:colId xmlns:a16="http://schemas.microsoft.com/office/drawing/2014/main" val="20000"/>
                    </a:ext>
                  </a:extLst>
                </a:gridCol>
                <a:gridCol w="2432272">
                  <a:extLst>
                    <a:ext uri="{9D8B030D-6E8A-4147-A177-3AD203B41FA5}">
                      <a16:colId xmlns:a16="http://schemas.microsoft.com/office/drawing/2014/main" val="20001"/>
                    </a:ext>
                  </a:extLst>
                </a:gridCol>
                <a:gridCol w="2432273">
                  <a:extLst>
                    <a:ext uri="{9D8B030D-6E8A-4147-A177-3AD203B41FA5}">
                      <a16:colId xmlns:a16="http://schemas.microsoft.com/office/drawing/2014/main" val="20002"/>
                    </a:ext>
                  </a:extLst>
                </a:gridCol>
              </a:tblGrid>
              <a:tr h="300000">
                <a:tc>
                  <a:txBody>
                    <a:bodyPr/>
                    <a:lstStyle/>
                    <a:p>
                      <a:pPr algn="l">
                        <a:buNone/>
                      </a:pPr>
                      <a:endParaRP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Known</a:t>
                      </a:r>
                    </a:p>
                  </a:txBody>
                  <a:tcPr marL="95250" marR="95250" marT="47625" marB="47625">
                    <a:lnB w="12700" cap="flat" cmpd="sng" algn="ctr">
                      <a:solidFill>
                        <a:schemeClr val="tx1"/>
                      </a:solidFill>
                    </a:lnB>
                    <a:noFill/>
                  </a:tcPr>
                </a:tc>
                <a:tc>
                  <a:txBody>
                    <a:bodyPr/>
                    <a:lstStyle/>
                    <a:p>
                      <a:pPr algn="l">
                        <a:buNone/>
                      </a:pPr>
                      <a:r>
                        <a:rPr sz="1100" b="1">
                          <a:solidFill>
                            <a:srgbClr val="28285E"/>
                          </a:solidFill>
                        </a:rPr>
                        <a:t>Unknown</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1350000">
                <a:tc>
                  <a:txBody>
                    <a:bodyPr/>
                    <a:lstStyle/>
                    <a:p>
                      <a:pPr algn="l">
                        <a:buNone/>
                      </a:pPr>
                      <a:r>
                        <a:rPr sz="1100" b="1">
                          <a:solidFill>
                            <a:srgbClr val="28285E"/>
                          </a:solidFill>
                        </a:rPr>
                        <a:t>Definition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outcomes of every action are given. This is about what the agent knows, not about the environment itself.</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The agent has to learn how the world works before it can choose well. A new video game shows the whole screen and still will not say what the buttons do.</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800000">
                <a:tc>
                  <a:txBody>
                    <a:bodyPr/>
                    <a:lstStyle/>
                    <a:p>
                      <a:pPr algn="l">
                        <a:buNone/>
                      </a:pPr>
                      <a:r>
                        <a:rPr sz="1100" b="1">
                          <a:solidFill>
                            <a:srgbClr val="28285E"/>
                          </a:solidFill>
                        </a:rPr>
                        <a:t>Examples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Chess and poker: the rules can be handed over in full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0">
                          <a:solidFill>
                            <a:srgbClr val="28285E"/>
                          </a:solidFill>
                        </a:rPr>
                        <a:t>Driving a rented car in a country you have not driven in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bl>
          </a:graphicData>
        </a:graphic>
      </p:graphicFrame>
      <p:sp>
        <p:nvSpPr>
          <p:cNvPr id="4" name="Rectangle 3"/>
          <p:cNvSpPr/>
          <p:nvPr/>
        </p:nvSpPr>
        <p:spPr>
          <a:xfrm>
            <a:off x="319251" y="3560000"/>
            <a:ext cx="6014545" cy="82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Known. </a:t>
            </a:r>
            <a:r>
              <a:rPr sz="1300">
                <a:solidFill>
                  <a:srgbClr val="28285E"/>
                </a:solidFill>
              </a:rPr>
              <a:t>We know what each tool does. What we do not know is where the flaw is, and that is the other axis.</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agent, its tools, and its environment</a:t>
            </a:r>
          </a:p>
        </p:txBody>
      </p:sp>
      <p:pic>
        <p:nvPicPr>
          <p:cNvPr id="3" name="Picture 2" descr="state-graph-annotated.png"/>
          <p:cNvPicPr>
            <a:picLocks noChangeAspect="1"/>
          </p:cNvPicPr>
          <p:nvPr/>
        </p:nvPicPr>
        <p:blipFill>
          <a:blip r:embed="rId3"/>
          <a:stretch>
            <a:fillRect/>
          </a:stretch>
        </p:blipFill>
        <p:spPr>
          <a:xfrm>
            <a:off x="250147" y="700000"/>
            <a:ext cx="6152752" cy="3496689"/>
          </a:xfrm>
          <a:prstGeom prst="rect">
            <a:avLst/>
          </a:prstGeom>
        </p:spPr>
      </p:pic>
      <p:sp>
        <p:nvSpPr>
          <p:cNvPr id="4" name="Rectangle 3"/>
          <p:cNvSpPr/>
          <p:nvPr/>
        </p:nvSpPr>
        <p:spPr>
          <a:xfrm>
            <a:off x="319251" y="4320000"/>
            <a:ext cx="6014545" cy="544308"/>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rgbClr val="28285E"/>
                </a:solidFill>
              </a:rPr>
              <a:t>Every label in </a:t>
            </a:r>
            <a:r>
              <a:rPr lang="en-US" sz="1200" dirty="0">
                <a:solidFill>
                  <a:schemeClr val="accent4"/>
                </a:solidFill>
              </a:rPr>
              <a:t>magenta</a:t>
            </a:r>
            <a:r>
              <a:rPr sz="1200" dirty="0">
                <a:solidFill>
                  <a:schemeClr val="accent4"/>
                </a:solidFill>
              </a:rPr>
              <a:t> </a:t>
            </a:r>
            <a:r>
              <a:rPr sz="1200" dirty="0">
                <a:solidFill>
                  <a:srgbClr val="28285E"/>
                </a:solidFill>
              </a:rPr>
              <a:t>na</a:t>
            </a:r>
            <a:r>
              <a:rPr lang="en-US" sz="1200" dirty="0">
                <a:solidFill>
                  <a:srgbClr val="28285E"/>
                </a:solidFill>
              </a:rPr>
              <a:t>m</a:t>
            </a:r>
            <a:r>
              <a:rPr sz="1200" dirty="0">
                <a:solidFill>
                  <a:srgbClr val="28285E"/>
                </a:solidFill>
              </a:rPr>
              <a:t>es a row of the vocabulary table</a:t>
            </a:r>
            <a:r>
              <a:rPr lang="en-US" sz="1200" dirty="0">
                <a:solidFill>
                  <a:srgbClr val="28285E"/>
                </a:solidFill>
              </a:rPr>
              <a:t> (Table 2) in the lecture notes.</a:t>
            </a:r>
            <a:endParaRPr sz="1200" dirty="0">
              <a:solidFill>
                <a:srgbClr val="28285E"/>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CC7E3C6B-C7BA-D0CB-DAC9-A65067BE7055}"/>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2" name="Title 1"/>
          <p:cNvSpPr>
            <a:spLocks noGrp="1"/>
          </p:cNvSpPr>
          <p:nvPr>
            <p:ph type="title"/>
          </p:nvPr>
        </p:nvSpPr>
        <p:spPr/>
        <p:txBody>
          <a:bodyPr/>
          <a:lstStyle/>
          <a:p>
            <a:r>
              <a:rPr dirty="0">
                <a:solidFill>
                  <a:schemeClr val="tx2"/>
                </a:solidFill>
              </a:rPr>
              <a:t>The rest of this lecture</a:t>
            </a:r>
          </a:p>
        </p:txBody>
      </p:sp>
      <p:sp>
        <p:nvSpPr>
          <p:cNvPr id="3" name="Rectangle 2"/>
          <p:cNvSpPr/>
          <p:nvPr/>
        </p:nvSpPr>
        <p:spPr>
          <a:xfrm>
            <a:off x="319251" y="607969"/>
            <a:ext cx="6014545" cy="850801"/>
          </a:xfrm>
          <a:prstGeom prst="rect">
            <a:avLst/>
          </a:prstGeom>
          <a:solidFill>
            <a:srgbClr val="28285E"/>
          </a:solidFill>
          <a:ln>
            <a:solidFill>
              <a:schemeClr val="bg1"/>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We take </a:t>
            </a:r>
            <a:r>
              <a:rPr sz="1400" dirty="0">
                <a:latin typeface="Maple Mono NF"/>
              </a:rPr>
              <a:t>mini-swe-agent</a:t>
            </a:r>
            <a:r>
              <a:rPr sz="1400" dirty="0">
                <a:solidFill>
                  <a:schemeClr val="tx2"/>
                </a:solidFill>
              </a:rPr>
              <a:t> through </a:t>
            </a:r>
            <a:r>
              <a:rPr lang="en-US" sz="1400" dirty="0">
                <a:solidFill>
                  <a:schemeClr val="tx2"/>
                </a:solidFill>
              </a:rPr>
              <a:t>four</a:t>
            </a:r>
            <a:r>
              <a:rPr sz="1400" dirty="0">
                <a:solidFill>
                  <a:schemeClr val="tx2"/>
                </a:solidFill>
              </a:rPr>
              <a:t> architectures, escalating how much of the run </a:t>
            </a:r>
            <a:r>
              <a:rPr sz="1400" b="1" dirty="0">
                <a:solidFill>
                  <a:schemeClr val="tx2"/>
                </a:solidFill>
              </a:rPr>
              <a:t>it decides for itself</a:t>
            </a:r>
            <a:r>
              <a:rPr sz="1400" dirty="0">
                <a:solidFill>
                  <a:schemeClr val="tx2"/>
                </a:solidFill>
              </a:rPr>
              <a:t>.</a:t>
            </a:r>
            <a:r>
              <a:rPr lang="en-US" sz="1400" dirty="0">
                <a:solidFill>
                  <a:schemeClr val="tx2"/>
                </a:solidFill>
              </a:rPr>
              <a:t> </a:t>
            </a:r>
          </a:p>
          <a:p>
            <a:pPr algn="just">
              <a:lnSpc>
                <a:spcPct val="114000"/>
              </a:lnSpc>
            </a:pPr>
            <a:r>
              <a:rPr lang="en-US" sz="1400" dirty="0">
                <a:solidFill>
                  <a:schemeClr val="tx2"/>
                </a:solidFill>
              </a:rPr>
              <a:t>Same agent, same alert. Only the architecture changes.</a:t>
            </a:r>
          </a:p>
        </p:txBody>
      </p:sp>
      <p:sp>
        <p:nvSpPr>
          <p:cNvPr id="7" name="Oval 6">
            <a:extLst>
              <a:ext uri="{FF2B5EF4-FFF2-40B4-BE49-F238E27FC236}">
                <a16:creationId xmlns:a16="http://schemas.microsoft.com/office/drawing/2014/main" id="{21B305C6-BCD8-3084-6066-D43E025F6128}"/>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02F27B1B-E86D-93B6-6A15-3F808DA7EF2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8EA1BCA0-FAD6-ABA4-FB1A-C2C8F477F7CE}"/>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79249219-E78B-E432-2C71-78F496B33DBE}"/>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448C9E10-EB35-0208-E130-F840731670DB}"/>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CED59E5F-790C-6906-F1ED-1EDA098717EF}"/>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4E664E44-8E20-FDBD-D280-B0936427DF0F}"/>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C041E7CC-4E34-763C-7A58-ED89ED43DDD5}"/>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63401B7D-FE44-222A-179C-13B44E3895AD}"/>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FBC288C8-7E35-BE6B-C366-03D7BD8FE016}"/>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096B713C-6B2F-5C12-C8B8-D195CD24CED3}"/>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1B7E80E3-FF40-2C86-0EA0-A840D613D1BC}"/>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0BCF5C2C-80B7-2852-F0D2-7594B6DDEC6D}"/>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EDC29C1C-0719-0A0B-2E81-33CD67302615}"/>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FDC835D5-F1F0-70E7-D32F-2FD72C9DC1C5}"/>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8A4AD8DD-3123-71A5-8619-87DE2AC4774C}"/>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D8401C30-2E94-C327-F10C-F319D7A81FDA}"/>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DAFA3D82-9F43-8E68-BC78-2999788646B4}"/>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64549D07-5530-0D37-9F9B-B9BB5DD56674}"/>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65A13092-A2C2-D3A2-E64D-BFDFD8A3376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83C4B0D-BE9E-297E-280E-453DF42BB388}"/>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A2BB1C92-B379-337F-5B26-F90C925ED5BA}"/>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50BA091F-1C91-FD9C-27DA-631CC57FF7F1}"/>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CE4C68B4-C265-B253-DBBF-AADF4858E3C7}"/>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DA7C9E79-AF65-6712-988B-41D15EDD97D5}"/>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A8BFB7F1-88BF-E579-D11E-143DAF7CE46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29596FA4-1E68-E103-4F86-8F622AB77A49}"/>
              </a:ext>
            </a:extLst>
          </p:cNvPr>
          <p:cNvSpPr txBox="1"/>
          <p:nvPr/>
        </p:nvSpPr>
        <p:spPr>
          <a:xfrm>
            <a:off x="1430696" y="533124"/>
            <a:ext cx="3996607" cy="707886"/>
          </a:xfrm>
          <a:prstGeom prst="rect">
            <a:avLst/>
          </a:prstGeom>
          <a:noFill/>
        </p:spPr>
        <p:txBody>
          <a:bodyPr wrap="none">
            <a:spAutoFit/>
          </a:bodyPr>
          <a:lstStyle/>
          <a:p>
            <a:pPr algn="ctr"/>
            <a:r>
              <a:rPr sz="4000" b="1" dirty="0">
                <a:solidFill>
                  <a:schemeClr val="tx2"/>
                </a:solidFill>
                <a:latin typeface="+mj-lt"/>
              </a:rPr>
              <a:t>Fixed workflows</a:t>
            </a:r>
          </a:p>
        </p:txBody>
      </p:sp>
      <p:pic>
        <p:nvPicPr>
          <p:cNvPr id="12" name="Picture 11">
            <a:extLst>
              <a:ext uri="{FF2B5EF4-FFF2-40B4-BE49-F238E27FC236}">
                <a16:creationId xmlns:a16="http://schemas.microsoft.com/office/drawing/2014/main" id="{DE6208CE-B9AF-9F32-70D8-8EAF7AB6BF8A}"/>
              </a:ext>
            </a:extLst>
          </p:cNvPr>
          <p:cNvPicPr>
            <a:picLocks noChangeAspect="1"/>
          </p:cNvPicPr>
          <p:nvPr/>
        </p:nvPicPr>
        <p:blipFill>
          <a:blip r:embed="rId3">
            <a:alphaModFix amt="90000"/>
          </a:blip>
          <a:stretch>
            <a:fillRect/>
          </a:stretch>
        </p:blipFill>
        <p:spPr>
          <a:xfrm>
            <a:off x="825474" y="2256852"/>
            <a:ext cx="5732295" cy="2628250"/>
          </a:xfrm>
          <a:prstGeom prst="rect">
            <a:avLst/>
          </a:prstGeom>
        </p:spPr>
      </p:pic>
    </p:spTree>
    <p:extLst>
      <p:ext uri="{BB962C8B-B14F-4D97-AF65-F5344CB8AC3E}">
        <p14:creationId xmlns:p14="http://schemas.microsoft.com/office/powerpoint/2010/main" val="1604083613"/>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 fixed workflow</a:t>
            </a:r>
          </a:p>
        </p:txBody>
      </p:sp>
      <p:sp>
        <p:nvSpPr>
          <p:cNvPr id="3" name="Content Placeholder 2"/>
          <p:cNvSpPr>
            <a:spLocks noGrp="1"/>
          </p:cNvSpPr>
          <p:nvPr>
            <p:ph idx="1"/>
          </p:nvPr>
        </p:nvSpPr>
        <p:spPr>
          <a:xfrm>
            <a:off x="319251" y="1624859"/>
            <a:ext cx="6014545" cy="2000000"/>
          </a:xfrm>
        </p:spPr>
        <p:txBody>
          <a:bodyPr wrap="square">
            <a:normAutofit lnSpcReduction="10000"/>
          </a:bodyPr>
          <a:lstStyle/>
          <a:p>
            <a:pPr marL="0" indent="0">
              <a:buNone/>
            </a:pPr>
            <a:r>
              <a:rPr sz="1400" b="1" dirty="0">
                <a:solidFill>
                  <a:srgbClr val="28285E"/>
                </a:solidFill>
              </a:rPr>
              <a:t>The control decisions, all settled before the program sees a task:</a:t>
            </a:r>
          </a:p>
          <a:p>
            <a:pPr marL="400050" indent="-285750">
              <a:spcBef>
                <a:spcPts val="600"/>
              </a:spcBef>
              <a:spcAft>
                <a:spcPts val="600"/>
              </a:spcAft>
              <a:buClr>
                <a:srgbClr val="28285E"/>
              </a:buClr>
              <a:buSzPts val="1260"/>
              <a:buFont typeface="Fira Sans"/>
              <a:buChar char="●"/>
            </a:pPr>
            <a:r>
              <a:rPr sz="1400" b="1" dirty="0">
                <a:solidFill>
                  <a:srgbClr val="28285E"/>
                </a:solidFill>
              </a:rPr>
              <a:t>Operations: </a:t>
            </a:r>
            <a:r>
              <a:rPr sz="1400" dirty="0">
                <a:solidFill>
                  <a:srgbClr val="28285E"/>
                </a:solidFill>
              </a:rPr>
              <a:t>which one runs next, and whether any follow</a:t>
            </a:r>
          </a:p>
          <a:p>
            <a:pPr marL="400050" indent="-285750">
              <a:spcBef>
                <a:spcPts val="600"/>
              </a:spcBef>
              <a:spcAft>
                <a:spcPts val="600"/>
              </a:spcAft>
              <a:buClr>
                <a:srgbClr val="28285E"/>
              </a:buClr>
              <a:buSzPts val="1260"/>
              <a:buFont typeface="Fira Sans"/>
              <a:buChar char="●"/>
            </a:pPr>
            <a:r>
              <a:rPr sz="1400" b="1" dirty="0">
                <a:solidFill>
                  <a:srgbClr val="28285E"/>
                </a:solidFill>
              </a:rPr>
              <a:t>Model calls: </a:t>
            </a:r>
            <a:r>
              <a:rPr sz="1400" dirty="0">
                <a:solidFill>
                  <a:srgbClr val="28285E"/>
                </a:solidFill>
              </a:rPr>
              <a:t>how many the run makes</a:t>
            </a:r>
          </a:p>
          <a:p>
            <a:pPr marL="400050" indent="-285750">
              <a:spcBef>
                <a:spcPts val="600"/>
              </a:spcBef>
              <a:spcAft>
                <a:spcPts val="600"/>
              </a:spcAft>
              <a:buClr>
                <a:srgbClr val="28285E"/>
              </a:buClr>
              <a:buSzPts val="1260"/>
              <a:buFont typeface="Fira Sans"/>
              <a:buChar char="●"/>
            </a:pPr>
            <a:r>
              <a:rPr sz="1400" b="1" dirty="0">
                <a:solidFill>
                  <a:srgbClr val="28285E"/>
                </a:solidFill>
              </a:rPr>
              <a:t>Termination: </a:t>
            </a:r>
            <a:r>
              <a:rPr sz="1400" dirty="0">
                <a:solidFill>
                  <a:srgbClr val="28285E"/>
                </a:solidFill>
              </a:rPr>
              <a:t>what ends the run</a:t>
            </a:r>
          </a:p>
          <a:p>
            <a:pPr marL="400050" indent="-285750">
              <a:spcBef>
                <a:spcPts val="600"/>
              </a:spcBef>
              <a:spcAft>
                <a:spcPts val="600"/>
              </a:spcAft>
              <a:buClr>
                <a:srgbClr val="28285E"/>
              </a:buClr>
              <a:buSzPts val="1260"/>
              <a:buFont typeface="Fira Sans"/>
              <a:buChar char="●"/>
            </a:pPr>
            <a:r>
              <a:rPr sz="1400" b="1" dirty="0">
                <a:solidFill>
                  <a:srgbClr val="28285E"/>
                </a:solidFill>
              </a:rPr>
              <a:t>Artifacts: </a:t>
            </a:r>
            <a:r>
              <a:rPr sz="1400" dirty="0">
                <a:solidFill>
                  <a:srgbClr val="28285E"/>
                </a:solidFill>
              </a:rPr>
              <a:t>which ones each step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In a fixed workflow we make </a:t>
            </a:r>
            <a:r>
              <a:rPr sz="1400" b="1">
                <a:solidFill>
                  <a:schemeClr val="tx2"/>
                </a:solidFill>
              </a:rPr>
              <a:t>every control decision at design time</a:t>
            </a:r>
            <a:r>
              <a:rPr sz="1400">
                <a:solidFill>
                  <a:schemeClr val="tx2"/>
                </a:solidFill>
              </a:rPr>
              <a:t>, and the model supplies content at the points we choose.</a:t>
            </a:r>
          </a:p>
        </p:txBody>
      </p:sp>
      <p:sp>
        <p:nvSpPr>
          <p:cNvPr id="5" name="TextBox 4"/>
          <p:cNvSpPr txBox="1"/>
          <p:nvPr/>
        </p:nvSpPr>
        <p:spPr>
          <a:xfrm>
            <a:off x="4651028" y="4140385"/>
            <a:ext cx="1768433" cy="253916"/>
          </a:xfrm>
          <a:prstGeom prst="rect">
            <a:avLst/>
          </a:prstGeom>
          <a:noFill/>
        </p:spPr>
        <p:txBody>
          <a:bodyPr wrap="none">
            <a:spAutoFit/>
          </a:bodyPr>
          <a:lstStyle/>
          <a:p>
            <a:pPr algn="r"/>
            <a:r>
              <a:rPr sz="1050" i="1" dirty="0">
                <a:solidFill>
                  <a:schemeClr val="bg2"/>
                </a:solidFill>
              </a:rPr>
              <a:t>Russell and Norvig, §2.2.3</a:t>
            </a:r>
          </a:p>
        </p:txBody>
      </p:sp>
      <p:sp>
        <p:nvSpPr>
          <p:cNvPr id="6" name="TextBox 5"/>
          <p:cNvSpPr txBox="1"/>
          <p:nvPr/>
        </p:nvSpPr>
        <p:spPr>
          <a:xfrm>
            <a:off x="250199" y="3835634"/>
            <a:ext cx="6152646" cy="261610"/>
          </a:xfrm>
          <a:prstGeom prst="rect">
            <a:avLst/>
          </a:prstGeom>
          <a:solidFill>
            <a:schemeClr val="accent4"/>
          </a:solidFill>
          <a:ln>
            <a:solidFill>
              <a:schemeClr val="accent4"/>
            </a:solidFill>
          </a:ln>
          <a:effectLst/>
        </p:spPr>
        <p:txBody>
          <a:bodyPr wrap="none" anchor="ctr">
            <a:spAutoFit/>
          </a:bodyPr>
          <a:lstStyle/>
          <a:p>
            <a:pPr algn="just">
              <a:spcBef>
                <a:spcPts val="1200"/>
              </a:spcBef>
              <a:spcAft>
                <a:spcPts val="1200"/>
              </a:spcAft>
            </a:pPr>
            <a:r>
              <a:rPr sz="1100" dirty="0">
                <a:solidFill>
                  <a:schemeClr val="tx2"/>
                </a:solidFill>
                <a:latin typeface="Fira Sans" panose="020B0503050000020004" pitchFamily="34" charset="0"/>
              </a:rPr>
              <a:t>An agent that relies on its designer’s prior knowledge, not its own percepts, </a:t>
            </a:r>
            <a:r>
              <a:rPr sz="1100" b="1" dirty="0">
                <a:solidFill>
                  <a:schemeClr val="tx2"/>
                </a:solidFill>
                <a:latin typeface="Fira Sans" panose="020B0503050000020004" pitchFamily="34" charset="0"/>
              </a:rPr>
              <a:t>lacks autonomy.</a:t>
            </a:r>
            <a:endParaRPr lang="en-US" sz="1100" b="1" dirty="0">
              <a:solidFill>
                <a:schemeClr val="tx2"/>
              </a:solidFill>
              <a:latin typeface="Fira Sans" panose="020B0503050000020004" pitchFamily="34"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Understanding design decision points</a:t>
            </a:r>
            <a:endParaRPr dirty="0"/>
          </a:p>
        </p:txBody>
      </p:sp>
      <p:graphicFrame>
        <p:nvGraphicFramePr>
          <p:cNvPr id="5" name="Table 4">
            <a:extLst>
              <a:ext uri="{FF2B5EF4-FFF2-40B4-BE49-F238E27FC236}">
                <a16:creationId xmlns:a16="http://schemas.microsoft.com/office/drawing/2014/main" id="{799E172A-075D-D190-E8D3-35DB1E9BA0E7}"/>
              </a:ext>
            </a:extLst>
          </p:cNvPr>
          <p:cNvGraphicFramePr>
            <a:graphicFrameLocks noGrp="1"/>
          </p:cNvGraphicFramePr>
          <p:nvPr>
            <p:extLst>
              <p:ext uri="{D42A27DB-BD31-4B8C-83A1-F6EECF244321}">
                <p14:modId xmlns:p14="http://schemas.microsoft.com/office/powerpoint/2010/main" val="2269503840"/>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6"/>
                  </a:ext>
                </a:extLst>
              </a:tr>
            </a:tbl>
          </a:graphicData>
        </a:graphic>
      </p:graphicFrame>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811345-91A7-BF50-2EB9-BC22C3DC2485}"/>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A12C7EB0-5EA3-670D-47ED-81D7AF0C1C9B}"/>
              </a:ext>
            </a:extLst>
          </p:cNvPr>
          <p:cNvSpPr>
            <a:spLocks noGrp="1"/>
          </p:cNvSpPr>
          <p:nvPr>
            <p:ph type="title"/>
          </p:nvPr>
        </p:nvSpPr>
        <p:spPr/>
        <p:txBody>
          <a:bodyPr/>
          <a:lstStyle/>
          <a:p>
            <a:r>
              <a:rPr lang="en-US" dirty="0"/>
              <a:t>Understanding design decision points</a:t>
            </a:r>
            <a:endParaRPr dirty="0"/>
          </a:p>
        </p:txBody>
      </p:sp>
      <p:sp>
        <p:nvSpPr>
          <p:cNvPr id="4" name="Rectangle 3">
            <a:extLst>
              <a:ext uri="{FF2B5EF4-FFF2-40B4-BE49-F238E27FC236}">
                <a16:creationId xmlns:a16="http://schemas.microsoft.com/office/drawing/2014/main" id="{F7BFB2C7-9275-69B8-4138-56E333A0FDEE}"/>
              </a:ext>
            </a:extLst>
          </p:cNvPr>
          <p:cNvSpPr/>
          <p:nvPr/>
        </p:nvSpPr>
        <p:spPr>
          <a:xfrm>
            <a:off x="1888761" y="4070093"/>
            <a:ext cx="4445035" cy="430000"/>
          </a:xfrm>
          <a:prstGeom prst="rect">
            <a:avLst/>
          </a:prstGeom>
          <a:solidFill>
            <a:schemeClr val="bg2"/>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dirty="0">
                <a:solidFill>
                  <a:schemeClr val="tx2"/>
                </a:solidFill>
                <a:latin typeface="Fira Sans" panose="020B0503050000020004" pitchFamily="34" charset="0"/>
              </a:rPr>
              <a:t>No model output is read as an instruction. It is read as </a:t>
            </a:r>
            <a:r>
              <a:rPr sz="1200" b="1" dirty="0">
                <a:solidFill>
                  <a:schemeClr val="tx2"/>
                </a:solidFill>
                <a:latin typeface="Fira Sans" panose="020B0503050000020004" pitchFamily="34" charset="0"/>
              </a:rPr>
              <a:t>data</a:t>
            </a:r>
            <a:r>
              <a:rPr sz="1200" dirty="0">
                <a:solidFill>
                  <a:schemeClr val="tx2"/>
                </a:solidFill>
                <a:latin typeface="Fira Sans" panose="020B0503050000020004" pitchFamily="34" charset="0"/>
              </a:rPr>
              <a:t>.</a:t>
            </a:r>
          </a:p>
        </p:txBody>
      </p:sp>
      <p:graphicFrame>
        <p:nvGraphicFramePr>
          <p:cNvPr id="5" name="Table 4">
            <a:extLst>
              <a:ext uri="{FF2B5EF4-FFF2-40B4-BE49-F238E27FC236}">
                <a16:creationId xmlns:a16="http://schemas.microsoft.com/office/drawing/2014/main" id="{8159D520-A824-D2BF-790B-44D1F1E85CBF}"/>
              </a:ext>
            </a:extLst>
          </p:cNvPr>
          <p:cNvGraphicFramePr>
            <a:graphicFrameLocks noGrp="1"/>
          </p:cNvGraphicFramePr>
          <p:nvPr>
            <p:extLst>
              <p:ext uri="{D42A27DB-BD31-4B8C-83A1-F6EECF244321}">
                <p14:modId xmlns:p14="http://schemas.microsoft.com/office/powerpoint/2010/main" val="3384186411"/>
              </p:ext>
            </p:extLst>
          </p:nvPr>
        </p:nvGraphicFramePr>
        <p:xfrm>
          <a:off x="319251" y="1491615"/>
          <a:ext cx="6014545" cy="2160270"/>
        </p:xfrm>
        <a:graphic>
          <a:graphicData uri="http://schemas.openxmlformats.org/drawingml/2006/table">
            <a:tbl>
              <a:tblPr>
                <a:tableStyleId>{2D5ABB26-0587-4C30-8999-92F81FD0307C}</a:tableStyleId>
              </a:tblPr>
              <a:tblGrid>
                <a:gridCol w="3218428">
                  <a:extLst>
                    <a:ext uri="{9D8B030D-6E8A-4147-A177-3AD203B41FA5}">
                      <a16:colId xmlns:a16="http://schemas.microsoft.com/office/drawing/2014/main" val="20000"/>
                    </a:ext>
                  </a:extLst>
                </a:gridCol>
                <a:gridCol w="1648918">
                  <a:extLst>
                    <a:ext uri="{9D8B030D-6E8A-4147-A177-3AD203B41FA5}">
                      <a16:colId xmlns:a16="http://schemas.microsoft.com/office/drawing/2014/main" val="20001"/>
                    </a:ext>
                  </a:extLst>
                </a:gridCol>
                <a:gridCol w="1147199">
                  <a:extLst>
                    <a:ext uri="{9D8B030D-6E8A-4147-A177-3AD203B41FA5}">
                      <a16:colId xmlns:a16="http://schemas.microsoft.com/office/drawing/2014/main" val="20002"/>
                    </a:ext>
                  </a:extLst>
                </a:gridCol>
              </a:tblGrid>
              <a:tr h="300000">
                <a:tc>
                  <a:txBody>
                    <a:bodyPr/>
                    <a:lstStyle/>
                    <a:p>
                      <a:pPr algn="l">
                        <a:buNone/>
                      </a:pPr>
                      <a:r>
                        <a:rPr sz="1400" b="1" dirty="0">
                          <a:solidFill>
                            <a:schemeClr val="tx1"/>
                          </a:solidFill>
                        </a:rPr>
                        <a:t>Decision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dirty="0">
                          <a:solidFill>
                            <a:schemeClr val="tx1"/>
                          </a:solidFill>
                        </a:rPr>
                        <a:t>Who decides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b="1">
                          <a:solidFill>
                            <a:schemeClr val="tx1"/>
                          </a:solidFill>
                        </a:rPr>
                        <a:t>When</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4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400" b="1">
                          <a:solidFill>
                            <a:srgbClr val="28285E"/>
                          </a:solidFill>
                        </a:rPr>
                        <a:t>Whether anything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400" b="1">
                          <a:solidFill>
                            <a:srgbClr val="28285E"/>
                          </a:solidFill>
                        </a:rPr>
                        <a:t>How many model calls the run makes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40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400" b="1" dirty="0">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lang="en-US" sz="1400" dirty="0">
                          <a:solidFill>
                            <a:schemeClr val="tx1"/>
                          </a:solidFill>
                        </a:rPr>
                        <a:t>Us</a:t>
                      </a:r>
                      <a:endParaRPr sz="1400" dirty="0">
                        <a:solidFill>
                          <a:schemeClr val="tx1"/>
                        </a:solidFill>
                      </a:endParaRP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tc>
                  <a:txBody>
                    <a:bodyPr/>
                    <a:lstStyle/>
                    <a:p>
                      <a:pPr algn="l">
                        <a:buNone/>
                      </a:pPr>
                      <a:r>
                        <a:rPr sz="1400" dirty="0">
                          <a:solidFill>
                            <a:schemeClr val="tx1"/>
                          </a:solidFill>
                        </a:rPr>
                        <a:t>Design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noFill/>
                  </a:tcPr>
                </a:tc>
                <a:extLst>
                  <a:ext uri="{0D108BD9-81ED-4DB2-BD59-A6C34878D82A}">
                    <a16:rowId xmlns:a16="http://schemas.microsoft.com/office/drawing/2014/main" val="10004"/>
                  </a:ext>
                </a:extLst>
              </a:tr>
              <a:tr h="0">
                <a:tc>
                  <a:txBody>
                    <a:bodyPr/>
                    <a:lstStyle/>
                    <a:p>
                      <a:pPr algn="l">
                        <a:buNone/>
                      </a:pPr>
                      <a:r>
                        <a:rPr sz="1400" b="1" dirty="0">
                          <a:solidFill>
                            <a:srgbClr val="28285E"/>
                          </a:solidFill>
                        </a:rPr>
                        <a:t>What a model call returns</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a:solidFill>
                            <a:schemeClr val="tx1"/>
                          </a:solidFill>
                        </a:rPr>
                        <a:t>The model</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9050" cap="flat" cmpd="sng" algn="ctr">
                      <a:solidFill>
                        <a:schemeClr val="tx1"/>
                      </a:solidFill>
                      <a:prstDash val="solid"/>
                      <a:round/>
                      <a:headEnd type="none" w="med" len="med"/>
                      <a:tailEnd type="none" w="med" len="med"/>
                    </a:lnT>
                    <a:lnB w="12700" cap="flat" cmpd="sng" algn="ctr">
                      <a:solidFill>
                        <a:schemeClr val="tx1"/>
                      </a:solidFill>
                    </a:lnB>
                    <a:solidFill>
                      <a:schemeClr val="accent1">
                        <a:lumMod val="20000"/>
                        <a:lumOff val="80000"/>
                      </a:schemeClr>
                    </a:solidFill>
                  </a:tcPr>
                </a:tc>
                <a:extLst>
                  <a:ext uri="{0D108BD9-81ED-4DB2-BD59-A6C34878D82A}">
                    <a16:rowId xmlns:a16="http://schemas.microsoft.com/office/drawing/2014/main" val="10005"/>
                  </a:ext>
                </a:extLst>
              </a:tr>
              <a:tr h="0">
                <a:tc>
                  <a:txBody>
                    <a:bodyPr/>
                    <a:lstStyle/>
                    <a:p>
                      <a:pPr algn="l">
                        <a:buNone/>
                      </a:pPr>
                      <a:r>
                        <a:rPr sz="1400" b="1" dirty="0">
                          <a:solidFill>
                            <a:srgbClr val="28285E"/>
                          </a:solidFill>
                        </a:rPr>
                        <a:t>Which values travel to the next step</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tc>
                  <a:txBody>
                    <a:bodyPr/>
                    <a:lstStyle/>
                    <a:p>
                      <a:pPr algn="l">
                        <a:buNone/>
                      </a:pPr>
                      <a:r>
                        <a:rPr sz="1400" dirty="0">
                          <a:solidFill>
                            <a:schemeClr val="tx1"/>
                          </a:solidFill>
                        </a:rPr>
                        <a:t>Run time</a:t>
                      </a:r>
                    </a:p>
                  </a:txBody>
                  <a:tcPr marL="95250" marR="95250" marT="47625" marB="47625">
                    <a:lnT w="12700" cap="flat" cmpd="sng" algn="ctr">
                      <a:solidFill>
                        <a:schemeClr val="tx1"/>
                      </a:solidFill>
                      <a:prstDash val="solid"/>
                      <a:round/>
                      <a:headEnd type="none" w="med" len="med"/>
                      <a:tailEnd type="none" w="med" len="med"/>
                    </a:lnT>
                    <a:lnB w="19050" cap="flat" cmpd="sng" algn="ctr">
                      <a:solidFill>
                        <a:schemeClr val="tx1"/>
                      </a:solidFill>
                      <a:prstDash val="solid"/>
                      <a:round/>
                      <a:headEnd type="none" w="med" len="med"/>
                      <a:tailEnd type="none" w="med" len="med"/>
                    </a:lnB>
                    <a:solidFill>
                      <a:schemeClr val="accent1">
                        <a:lumMod val="20000"/>
                        <a:lumOff val="80000"/>
                      </a:schemeClr>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493700230"/>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buys</a:t>
            </a:r>
          </a:p>
        </p:txBody>
      </p:sp>
      <p:sp>
        <p:nvSpPr>
          <p:cNvPr id="3" name="Content Placeholder 2"/>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43BF81F-D1B1-E6DC-199B-254CF5C5A8C3}"/>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2AA7A96F-4BA1-0A52-9522-966A3F43B149}"/>
              </a:ext>
            </a:extLst>
          </p:cNvPr>
          <p:cNvSpPr>
            <a:spLocks noGrp="1"/>
          </p:cNvSpPr>
          <p:nvPr>
            <p:ph type="title"/>
          </p:nvPr>
        </p:nvSpPr>
        <p:spPr/>
        <p:txBody>
          <a:bodyPr/>
          <a:lstStyle/>
          <a:p>
            <a:r>
              <a:t>What the fixed shape buys</a:t>
            </a:r>
          </a:p>
        </p:txBody>
      </p:sp>
      <p:sp>
        <p:nvSpPr>
          <p:cNvPr id="3" name="Content Placeholder 2">
            <a:extLst>
              <a:ext uri="{FF2B5EF4-FFF2-40B4-BE49-F238E27FC236}">
                <a16:creationId xmlns:a16="http://schemas.microsoft.com/office/drawing/2014/main" id="{DDDB3920-7E8E-4F54-102B-854FFE1428F5}"/>
              </a:ext>
            </a:extLst>
          </p:cNvPr>
          <p:cNvSpPr>
            <a:spLocks noGrp="1"/>
          </p:cNvSpPr>
          <p:nvPr>
            <p:ph idx="1"/>
          </p:nvPr>
        </p:nvSpPr>
        <p:spPr>
          <a:xfrm>
            <a:off x="319251" y="700000"/>
            <a:ext cx="6014545" cy="2400000"/>
          </a:xfrm>
        </p:spPr>
        <p:txBody>
          <a:bodyPr wrap="square">
            <a:normAutofit lnSpcReduction="10000"/>
          </a:bodyPr>
          <a:lstStyle/>
          <a:p>
            <a:pPr marL="0" indent="0">
              <a:spcBef>
                <a:spcPts val="600"/>
              </a:spcBef>
              <a:spcAft>
                <a:spcPts val="600"/>
              </a:spcAft>
              <a:buNone/>
            </a:pPr>
            <a:r>
              <a:rPr sz="1400" b="1" dirty="0">
                <a:solidFill>
                  <a:srgbClr val="28285E"/>
                </a:solidFill>
              </a:rPr>
              <a:t>Three properties come with fixing the control decisions:</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Shape: </a:t>
            </a:r>
            <a:r>
              <a:rPr sz="1400" dirty="0">
                <a:solidFill>
                  <a:schemeClr val="tx1">
                    <a:lumMod val="85000"/>
                    <a:lumOff val="15000"/>
                  </a:schemeClr>
                </a:solidFill>
              </a:rPr>
              <a:t>the model calls are the ones we wrote, so we can budget a task before reading it</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Failure mode: </a:t>
            </a:r>
            <a:r>
              <a:rPr sz="1400" dirty="0">
                <a:solidFill>
                  <a:schemeClr val="tx1">
                    <a:lumMod val="85000"/>
                    <a:lumOff val="15000"/>
                  </a:schemeClr>
                </a:solidFill>
              </a:rPr>
              <a:t>every artifact has a named producer, so a wrong answer belongs to a step</a:t>
            </a:r>
          </a:p>
          <a:p>
            <a:pPr marL="400050" indent="-285750">
              <a:spcBef>
                <a:spcPts val="600"/>
              </a:spcBef>
              <a:spcAft>
                <a:spcPts val="600"/>
              </a:spcAft>
              <a:buClr>
                <a:srgbClr val="28285E"/>
              </a:buClr>
              <a:buSzPts val="1260"/>
              <a:buFont typeface="Fira Sans"/>
              <a:buChar char="●"/>
            </a:pPr>
            <a:r>
              <a:rPr sz="1400" b="1" dirty="0">
                <a:solidFill>
                  <a:schemeClr val="tx1">
                    <a:lumMod val="85000"/>
                    <a:lumOff val="15000"/>
                  </a:schemeClr>
                </a:solidFill>
              </a:rPr>
              <a:t>Termination: </a:t>
            </a:r>
            <a:r>
              <a:rPr sz="1400" dirty="0">
                <a:solidFill>
                  <a:schemeClr val="tx1">
                    <a:lumMod val="85000"/>
                    <a:lumOff val="15000"/>
                  </a:schemeClr>
                </a:solidFill>
              </a:rPr>
              <a:t>the run ends because the last operation returns, not because a counter ran out</a:t>
            </a:r>
          </a:p>
        </p:txBody>
      </p:sp>
      <p:sp>
        <p:nvSpPr>
          <p:cNvPr id="4" name="Rectangle 3">
            <a:extLst>
              <a:ext uri="{FF2B5EF4-FFF2-40B4-BE49-F238E27FC236}">
                <a16:creationId xmlns:a16="http://schemas.microsoft.com/office/drawing/2014/main" id="{08416EFC-1A53-9376-2471-5944F555FE20}"/>
              </a:ext>
            </a:extLst>
          </p:cNvPr>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Each of these is a property of the program </a:t>
            </a:r>
            <a:r>
              <a:rPr lang="en-US" sz="1400" dirty="0">
                <a:solidFill>
                  <a:schemeClr val="tx2"/>
                </a:solidFill>
              </a:rPr>
              <a:t>we have designed. It is</a:t>
            </a:r>
            <a:r>
              <a:rPr sz="1400" dirty="0">
                <a:solidFill>
                  <a:schemeClr val="tx2"/>
                </a:solidFill>
              </a:rPr>
              <a:t> not a prediction about what the model will do</a:t>
            </a:r>
            <a:r>
              <a:rPr lang="en-US" dirty="0">
                <a:solidFill>
                  <a:schemeClr val="tx2"/>
                </a:solidFill>
              </a:rPr>
              <a:t>.</a:t>
            </a:r>
            <a:endParaRPr sz="1400" dirty="0">
              <a:solidFill>
                <a:schemeClr val="tx2"/>
              </a:solidFill>
            </a:endParaRPr>
          </a:p>
        </p:txBody>
      </p:sp>
      <p:sp>
        <p:nvSpPr>
          <p:cNvPr id="5" name="Rectangle 4">
            <a:extLst>
              <a:ext uri="{FF2B5EF4-FFF2-40B4-BE49-F238E27FC236}">
                <a16:creationId xmlns:a16="http://schemas.microsoft.com/office/drawing/2014/main" id="{7CE8855C-804C-0880-10EF-E244143DCFB8}"/>
              </a:ext>
            </a:extLst>
          </p:cNvPr>
          <p:cNvSpPr/>
          <p:nvPr/>
        </p:nvSpPr>
        <p:spPr>
          <a:xfrm>
            <a:off x="319251" y="4130000"/>
            <a:ext cx="6014545" cy="430000"/>
          </a:xfrm>
          <a:prstGeom prst="rect">
            <a:avLst/>
          </a:prstGeom>
          <a:noFill/>
          <a:ln w="19050">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lang="en-US" sz="1200" b="1" dirty="0">
                <a:solidFill>
                  <a:srgbClr val="28285E"/>
                </a:solidFill>
              </a:rPr>
              <a:t>When we build autonomous agents, we’ll have to incorporate these into them. They don’t come for free. </a:t>
            </a:r>
            <a:endParaRPr sz="1200" b="1" dirty="0">
              <a:solidFill>
                <a:srgbClr val="28285E"/>
              </a:solidFill>
            </a:endParaRPr>
          </a:p>
        </p:txBody>
      </p:sp>
    </p:spTree>
    <p:extLst>
      <p:ext uri="{BB962C8B-B14F-4D97-AF65-F5344CB8AC3E}">
        <p14:creationId xmlns:p14="http://schemas.microsoft.com/office/powerpoint/2010/main" val="4294747253"/>
      </p:ext>
    </p:extLst>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Fixed parts and open parts</a:t>
            </a:r>
          </a:p>
        </p:txBody>
      </p:sp>
      <p:sp>
        <p:nvSpPr>
          <p:cNvPr id="3" name="Content Placeholder 2"/>
          <p:cNvSpPr>
            <a:spLocks noGrp="1"/>
          </p:cNvSpPr>
          <p:nvPr>
            <p:ph idx="1"/>
          </p:nvPr>
        </p:nvSpPr>
        <p:spPr>
          <a:xfrm>
            <a:off x="319251" y="1624859"/>
            <a:ext cx="6014545" cy="2000000"/>
          </a:xfrm>
        </p:spPr>
        <p:txBody>
          <a:bodyPr wrap="square">
            <a:normAutofit fontScale="92500"/>
          </a:bodyPr>
          <a:lstStyle/>
          <a:p>
            <a:pPr marL="0" indent="0">
              <a:buNone/>
            </a:pPr>
            <a:r>
              <a:rPr sz="1400" b="1">
                <a:solidFill>
                  <a:srgbClr val="28285E"/>
                </a:solidFill>
              </a:rPr>
              <a:t>Knowing which parts are fixed is what lets us:</a:t>
            </a:r>
          </a:p>
          <a:p>
            <a:pPr marL="400050" indent="-285750">
              <a:spcBef>
                <a:spcPts val="600"/>
              </a:spcBef>
              <a:spcAft>
                <a:spcPts val="600"/>
              </a:spcAft>
              <a:buClr>
                <a:srgbClr val="28285E"/>
              </a:buClr>
              <a:buSzPts val="1260"/>
              <a:buFont typeface="Fira Sans"/>
              <a:buChar char="●"/>
            </a:pPr>
            <a:r>
              <a:rPr sz="1400" b="1">
                <a:solidFill>
                  <a:schemeClr val="tx1"/>
                </a:solidFill>
              </a:rPr>
              <a:t>Budget: </a:t>
            </a:r>
            <a:r>
              <a:rPr sz="1400">
                <a:solidFill>
                  <a:schemeClr val="tx1"/>
                </a:solidFill>
              </a:rPr>
              <a:t>price the fixed part, and reserve for the open one</a:t>
            </a:r>
          </a:p>
          <a:p>
            <a:pPr marL="400050" indent="-285750">
              <a:spcBef>
                <a:spcPts val="600"/>
              </a:spcBef>
              <a:spcAft>
                <a:spcPts val="600"/>
              </a:spcAft>
              <a:buClr>
                <a:srgbClr val="28285E"/>
              </a:buClr>
              <a:buSzPts val="1260"/>
              <a:buFont typeface="Fira Sans"/>
              <a:buChar char="●"/>
            </a:pPr>
            <a:r>
              <a:rPr sz="1400" b="1">
                <a:solidFill>
                  <a:schemeClr val="tx1"/>
                </a:solidFill>
              </a:rPr>
              <a:t>Recover: </a:t>
            </a:r>
            <a:r>
              <a:rPr sz="1400">
                <a:solidFill>
                  <a:schemeClr val="tx1"/>
                </a:solidFill>
              </a:rPr>
              <a:t>checkpoint at a stage boundary, where artifacts have names</a:t>
            </a:r>
          </a:p>
          <a:p>
            <a:pPr marL="400050" indent="-285750">
              <a:spcBef>
                <a:spcPts val="600"/>
              </a:spcBef>
              <a:spcAft>
                <a:spcPts val="600"/>
              </a:spcAft>
              <a:buClr>
                <a:srgbClr val="28285E"/>
              </a:buClr>
              <a:buSzPts val="1260"/>
              <a:buFont typeface="Fira Sans"/>
              <a:buChar char="●"/>
            </a:pPr>
            <a:r>
              <a:rPr sz="1400" b="1">
                <a:solidFill>
                  <a:schemeClr val="tx1"/>
                </a:solidFill>
              </a:rPr>
              <a:t>Transact: </a:t>
            </a:r>
            <a:r>
              <a:rPr sz="1400">
                <a:solidFill>
                  <a:schemeClr val="tx1"/>
                </a:solidFill>
              </a:rPr>
              <a:t>commit and roll back where we know the sequence</a:t>
            </a:r>
          </a:p>
          <a:p>
            <a:pPr marL="400050" indent="-285750">
              <a:spcBef>
                <a:spcPts val="600"/>
              </a:spcBef>
              <a:spcAft>
                <a:spcPts val="600"/>
              </a:spcAft>
              <a:buClr>
                <a:srgbClr val="28285E"/>
              </a:buClr>
              <a:buSzPts val="1260"/>
              <a:buFont typeface="Fira Sans"/>
              <a:buChar char="●"/>
            </a:pPr>
            <a:r>
              <a:rPr sz="1400" b="1">
                <a:solidFill>
                  <a:schemeClr val="tx1"/>
                </a:solidFill>
              </a:rPr>
              <a:t>Run in parallel: </a:t>
            </a:r>
            <a:r>
              <a:rPr sz="1400">
                <a:solidFill>
                  <a:schemeClr val="tx1"/>
                </a:solidFill>
              </a:rPr>
              <a:t>a fixed stage declares what it reads and writes</a:t>
            </a:r>
          </a:p>
        </p:txBody>
      </p:sp>
      <p:sp>
        <p:nvSpPr>
          <p:cNvPr id="4" name="Rectangle 3"/>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Almost everything we build will be </a:t>
            </a:r>
            <a:r>
              <a:rPr sz="1400" b="1">
                <a:solidFill>
                  <a:schemeClr val="tx2"/>
                </a:solidFill>
              </a:rPr>
              <a:t>part fixed and part open</a:t>
            </a:r>
            <a:r>
              <a:rPr sz="1400">
                <a:solidFill>
                  <a:schemeClr val="tx2"/>
                </a:solidFill>
              </a:rPr>
              <a:t>, and where the split falls is a design decision.</a:t>
            </a:r>
          </a:p>
        </p:txBody>
      </p:sp>
      <p:sp>
        <p:nvSpPr>
          <p:cNvPr id="5" name="Rectangle 4"/>
          <p:cNvSpPr/>
          <p:nvPr/>
        </p:nvSpPr>
        <p:spPr>
          <a:xfrm>
            <a:off x="319251" y="38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system that blurs the split pays for it in all four.</a:t>
            </a:r>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fixed shape costs</a:t>
            </a:r>
          </a:p>
        </p:txBody>
      </p:sp>
      <p:sp>
        <p:nvSpPr>
          <p:cNvPr id="3" name="Content Placeholder 2"/>
          <p:cNvSpPr>
            <a:spLocks noGrp="1"/>
          </p:cNvSpPr>
          <p:nvPr>
            <p:ph idx="1"/>
          </p:nvPr>
        </p:nvSpPr>
        <p:spPr>
          <a:xfrm>
            <a:off x="319251" y="700000"/>
            <a:ext cx="6014545" cy="2150000"/>
          </a:xfrm>
        </p:spPr>
        <p:txBody>
          <a:bodyPr wrap="square">
            <a:normAutofit fontScale="92500" lnSpcReduction="10000"/>
          </a:bodyPr>
          <a:lstStyle/>
          <a:p>
            <a:pPr marL="0" indent="0">
              <a:buNone/>
            </a:pPr>
            <a:r>
              <a:rPr sz="1400" b="1">
                <a:solidFill>
                  <a:srgbClr val="28285E"/>
                </a:solidFill>
              </a:rPr>
              <a:t>What a fixed workflow gives up:</a:t>
            </a:r>
          </a:p>
          <a:p>
            <a:pPr marL="400050" indent="-285750">
              <a:spcBef>
                <a:spcPts val="600"/>
              </a:spcBef>
              <a:spcAft>
                <a:spcPts val="600"/>
              </a:spcAft>
              <a:buClr>
                <a:srgbClr val="28285E"/>
              </a:buClr>
              <a:buSzPts val="1260"/>
              <a:buFont typeface="Fira Sans"/>
              <a:buChar char="●"/>
            </a:pPr>
            <a:r>
              <a:rPr sz="1400" b="1">
                <a:solidFill>
                  <a:schemeClr val="tx1"/>
                </a:solidFill>
              </a:rPr>
              <a:t>No second look. </a:t>
            </a:r>
            <a:r>
              <a:rPr sz="1400">
                <a:solidFill>
                  <a:schemeClr val="tx1"/>
                </a:solidFill>
              </a:rPr>
              <a:t>Every read is scheduled before we know what the first one returns.</a:t>
            </a:r>
          </a:p>
          <a:p>
            <a:pPr marL="400050" indent="-285750">
              <a:spcBef>
                <a:spcPts val="600"/>
              </a:spcBef>
              <a:spcAft>
                <a:spcPts val="600"/>
              </a:spcAft>
              <a:buClr>
                <a:srgbClr val="28285E"/>
              </a:buClr>
              <a:buSzPts val="1260"/>
              <a:buFont typeface="Fira Sans"/>
              <a:buChar char="●"/>
            </a:pPr>
            <a:r>
              <a:rPr sz="1400" b="1">
                <a:solidFill>
                  <a:schemeClr val="tx1"/>
                </a:solidFill>
              </a:rPr>
              <a:t>No sense of what is missing. </a:t>
            </a:r>
            <a:r>
              <a:rPr sz="1400">
                <a:solidFill>
                  <a:schemeClr val="tx1"/>
                </a:solidFill>
              </a:rPr>
              <a:t>Nothing in the run stands for evidence the agent has not seen.</a:t>
            </a:r>
          </a:p>
          <a:p>
            <a:pPr marL="400050" indent="-285750">
              <a:spcBef>
                <a:spcPts val="600"/>
              </a:spcBef>
              <a:spcAft>
                <a:spcPts val="600"/>
              </a:spcAft>
              <a:buClr>
                <a:srgbClr val="28285E"/>
              </a:buClr>
              <a:buSzPts val="1260"/>
              <a:buFont typeface="Fira Sans"/>
              <a:buChar char="●"/>
            </a:pPr>
            <a:r>
              <a:rPr sz="1400" b="1">
                <a:solidFill>
                  <a:schemeClr val="tx1"/>
                </a:solidFill>
              </a:rPr>
              <a:t>No way to ask. </a:t>
            </a:r>
            <a:r>
              <a:rPr sz="1400">
                <a:solidFill>
                  <a:schemeClr val="tx1"/>
                </a:solidFill>
              </a:rPr>
              <a:t>If the fix depends on a file the alert never names, no step exists in which to go and get it.</a:t>
            </a:r>
          </a:p>
        </p:txBody>
      </p:sp>
      <p:sp>
        <p:nvSpPr>
          <p:cNvPr id="4" name="Rectangle 3"/>
          <p:cNvSpPr/>
          <p:nvPr/>
        </p:nvSpPr>
        <p:spPr>
          <a:xfrm>
            <a:off x="319251" y="30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question a fixed workflow cannot ask is the one </a:t>
            </a:r>
            <a:r>
              <a:rPr sz="1400" b="1">
                <a:solidFill>
                  <a:schemeClr val="tx2"/>
                </a:solidFill>
              </a:rPr>
              <a:t>its own answer depended on</a:t>
            </a:r>
            <a:r>
              <a:rPr sz="1400">
                <a:solidFill>
                  <a:schemeClr val="tx2"/>
                </a:solidFill>
              </a:rPr>
              <a:t>.</a:t>
            </a:r>
          </a:p>
        </p:txBody>
      </p:sp>
      <p:sp>
        <p:nvSpPr>
          <p:cNvPr id="5" name="Rectangle 4"/>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run does not stall and it does not report a gap. It writes a patch, and the checks pass.</a:t>
            </a:r>
            <a:r>
              <a:rPr sz="1200" b="1">
                <a:solidFill>
                  <a:srgbClr val="C73561"/>
                </a:solidFill>
              </a:rPr>
              <a:t>  (a reactive loop grows an edge back)</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Agentless, one realization</a:t>
            </a:r>
          </a:p>
        </p:txBody>
      </p:sp>
      <p:sp>
        <p:nvSpPr>
          <p:cNvPr id="3" name="Rectangle 2"/>
          <p:cNvSpPr/>
          <p:nvPr/>
        </p:nvSpPr>
        <p:spPr>
          <a:xfrm>
            <a:off x="319251" y="749199"/>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phases in a fixed order: the model fills in content at every step, and </a:t>
            </a:r>
            <a:r>
              <a:rPr sz="1400" b="1">
                <a:solidFill>
                  <a:schemeClr val="tx2"/>
                </a:solidFill>
              </a:rPr>
              <a:t>no output of its can redirect an arrow</a:t>
            </a:r>
            <a:r>
              <a:rPr sz="1400">
                <a:solidFill>
                  <a:schemeClr val="tx2"/>
                </a:solidFill>
              </a:rPr>
              <a:t>.</a:t>
            </a:r>
          </a:p>
        </p:txBody>
      </p:sp>
      <p:pic>
        <p:nvPicPr>
          <p:cNvPr id="4" name="Picture 3" descr="agentless-phases.png"/>
          <p:cNvPicPr>
            <a:picLocks noChangeAspect="1"/>
          </p:cNvPicPr>
          <p:nvPr/>
        </p:nvPicPr>
        <p:blipFill>
          <a:blip r:embed="rId3"/>
          <a:stretch>
            <a:fillRect/>
          </a:stretch>
        </p:blipFill>
        <p:spPr>
          <a:xfrm>
            <a:off x="250147" y="1600000"/>
            <a:ext cx="6152752" cy="1403563"/>
          </a:xfrm>
          <a:prstGeom prst="rect">
            <a:avLst/>
          </a:prstGeom>
        </p:spPr>
      </p:pic>
      <p:sp>
        <p:nvSpPr>
          <p:cNvPr id="5" name="TextBox 4"/>
          <p:cNvSpPr txBox="1"/>
          <p:nvPr/>
        </p:nvSpPr>
        <p:spPr>
          <a:xfrm>
            <a:off x="3333796" y="3000000"/>
            <a:ext cx="3000000" cy="253916"/>
          </a:xfrm>
          <a:prstGeom prst="rect">
            <a:avLst/>
          </a:prstGeom>
          <a:noFill/>
        </p:spPr>
        <p:txBody>
          <a:bodyPr wrap="none">
            <a:spAutoFit/>
          </a:bodyPr>
          <a:lstStyle/>
          <a:p>
            <a:pPr algn="r"/>
            <a:r>
              <a:rPr sz="1050" i="1">
                <a:solidFill>
                  <a:schemeClr val="bg2"/>
                </a:solidFill>
              </a:rPr>
              <a:t>Redrawn after Figure 1, Xia et al., FSE 2025</a:t>
            </a:r>
          </a:p>
        </p:txBody>
      </p:sp>
      <p:sp>
        <p:nvSpPr>
          <p:cNvPr id="6" name="Rectangle 5"/>
          <p:cNvSpPr/>
          <p:nvPr/>
        </p:nvSpPr>
        <p:spPr>
          <a:xfrm>
            <a:off x="319251" y="345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arrow here was drawn before the issue arrived.</a:t>
            </a:r>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Agentless and SWE-agent</a:t>
            </a:r>
          </a:p>
        </p:txBody>
      </p:sp>
      <p:graphicFrame>
        <p:nvGraphicFramePr>
          <p:cNvPr id="3" name="Table 2"/>
          <p:cNvGraphicFramePr>
            <a:graphicFrameLocks noGrp="1"/>
          </p:cNvGraphicFramePr>
          <p:nvPr/>
        </p:nvGraphicFramePr>
        <p:xfrm>
          <a:off x="319251" y="1150000"/>
          <a:ext cx="6014545" cy="1519200"/>
        </p:xfrm>
        <a:graphic>
          <a:graphicData uri="http://schemas.openxmlformats.org/drawingml/2006/table">
            <a:tbl>
              <a:tblPr>
                <a:tableStyleId>{2D5ABB26-0587-4C30-8999-92F81FD0307C}</a:tableStyleId>
              </a:tblPr>
              <a:tblGrid>
                <a:gridCol w="1300000">
                  <a:extLst>
                    <a:ext uri="{9D8B030D-6E8A-4147-A177-3AD203B41FA5}">
                      <a16:colId xmlns:a16="http://schemas.microsoft.com/office/drawing/2014/main" val="20000"/>
                    </a:ext>
                  </a:extLst>
                </a:gridCol>
                <a:gridCol w="2357272">
                  <a:extLst>
                    <a:ext uri="{9D8B030D-6E8A-4147-A177-3AD203B41FA5}">
                      <a16:colId xmlns:a16="http://schemas.microsoft.com/office/drawing/2014/main" val="20001"/>
                    </a:ext>
                  </a:extLst>
                </a:gridCol>
                <a:gridCol w="2357273">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SWE-bench Lite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Agentless</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SWE-agent</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Control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Three phases in a fixed order</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 chooses the next action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Resolved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96 of 300 (32.00%)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55 of 300 (18.33%)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Cost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$0.70</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$2.53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Tokens per issue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78,165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498,346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319251" y="3060000"/>
            <a:ext cx="6014545" cy="900000"/>
          </a:xfrm>
          <a:prstGeom prst="rect">
            <a:avLst/>
          </a:prstGeom>
          <a:solidFill>
            <a:srgbClr val="FFFFFF"/>
          </a:solidFill>
          <a:ln w="19050">
            <a:solidFill>
              <a:srgbClr val="348EDC"/>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l"/>
            <a:r>
              <a:rPr sz="1300" b="1">
                <a:solidFill>
                  <a:srgbClr val="348EDC"/>
                </a:solidFill>
              </a:rPr>
              <a:t>Same model, different control structure. </a:t>
            </a:r>
            <a:r>
              <a:rPr sz="1300" b="0">
                <a:solidFill>
                  <a:srgbClr val="28285E"/>
                </a:solidFill>
              </a:rPr>
              <a:t>Agentless resolved more issues at about a quarter of the cost and a sixth of the tokens. The two systems differ in more than their control structure, so this is the strongest comparison available rather than a controlled experiment.</a:t>
            </a:r>
          </a:p>
        </p:txBody>
      </p:sp>
      <p:sp>
        <p:nvSpPr>
          <p:cNvPr id="5" name="TextBox 4"/>
          <p:cNvSpPr txBox="1"/>
          <p:nvPr/>
        </p:nvSpPr>
        <p:spPr>
          <a:xfrm>
            <a:off x="3333796" y="4060000"/>
            <a:ext cx="3000000" cy="253916"/>
          </a:xfrm>
          <a:prstGeom prst="rect">
            <a:avLst/>
          </a:prstGeom>
          <a:noFill/>
        </p:spPr>
        <p:txBody>
          <a:bodyPr wrap="none">
            <a:spAutoFit/>
          </a:bodyPr>
          <a:lstStyle/>
          <a:p>
            <a:pPr algn="r"/>
            <a:r>
              <a:rPr sz="1050" i="1">
                <a:solidFill>
                  <a:schemeClr val="bg2"/>
                </a:solidFill>
              </a:rPr>
              <a:t>Xia et al., FSE 2025, Table 1</a:t>
            </a:r>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Grains of salt</a:t>
            </a:r>
          </a:p>
        </p:txBody>
      </p:sp>
      <p:sp>
        <p:nvSpPr>
          <p:cNvPr id="3" name="Content Placeholder 2"/>
          <p:cNvSpPr>
            <a:spLocks noGrp="1"/>
          </p:cNvSpPr>
          <p:nvPr>
            <p:ph idx="1"/>
          </p:nvPr>
        </p:nvSpPr>
        <p:spPr>
          <a:xfrm>
            <a:off x="319251" y="700000"/>
            <a:ext cx="6014545" cy="1720000"/>
          </a:xfrm>
        </p:spPr>
        <p:txBody>
          <a:bodyPr wrap="square">
            <a:normAutofit fontScale="92500" lnSpcReduction="20000"/>
          </a:bodyPr>
          <a:lstStyle/>
          <a:p>
            <a:pPr marL="0" indent="0">
              <a:buNone/>
            </a:pPr>
            <a:r>
              <a:rPr sz="1400" b="1">
                <a:solidFill>
                  <a:srgbClr val="28285E"/>
                </a:solidFill>
              </a:rPr>
              <a:t>Two limits on what that comparison shows:</a:t>
            </a:r>
          </a:p>
          <a:p>
            <a:pPr marL="400050" indent="-285750">
              <a:spcBef>
                <a:spcPts val="600"/>
              </a:spcBef>
              <a:spcAft>
                <a:spcPts val="600"/>
              </a:spcAft>
              <a:buClr>
                <a:srgbClr val="28285E"/>
              </a:buClr>
              <a:buSzPts val="1260"/>
              <a:buFont typeface="Fira Sans"/>
              <a:buChar char="●"/>
            </a:pPr>
            <a:r>
              <a:rPr sz="1400" b="1">
                <a:solidFill>
                  <a:schemeClr val="tx1"/>
                </a:solidFill>
              </a:rPr>
              <a:t>It is not the leaderboard. </a:t>
            </a:r>
            <a:r>
              <a:rPr sz="1400">
                <a:solidFill>
                  <a:schemeClr val="tx1"/>
                </a:solidFill>
              </a:rPr>
              <a:t>CodeStory Aide resolved 129 of 300, and published neither code nor trajectories.</a:t>
            </a:r>
          </a:p>
          <a:p>
            <a:pPr marL="400050" indent="-285750">
              <a:spcBef>
                <a:spcPts val="600"/>
              </a:spcBef>
              <a:spcAft>
                <a:spcPts val="600"/>
              </a:spcAft>
              <a:buClr>
                <a:srgbClr val="28285E"/>
              </a:buClr>
              <a:buSzPts val="1260"/>
              <a:buFont typeface="Fira Sans"/>
              <a:buChar char="●"/>
            </a:pPr>
            <a:r>
              <a:rPr sz="1400" b="1">
                <a:solidFill>
                  <a:schemeClr val="tx1"/>
                </a:solidFill>
              </a:rPr>
              <a:t>The benchmark leaks. </a:t>
            </a:r>
            <a:r>
              <a:rPr sz="1400">
                <a:solidFill>
                  <a:schemeClr val="tx1"/>
                </a:solidFill>
              </a:rPr>
              <a:t>4.3% of issue descriptions carry the developer’s own patch, and 10.0% lack the information needed to solve the issue. A filtered set of 249 excludes those cases.</a:t>
            </a:r>
          </a:p>
        </p:txBody>
      </p:sp>
      <p:sp>
        <p:nvSpPr>
          <p:cNvPr id="4" name="TextBox 3"/>
          <p:cNvSpPr txBox="1"/>
          <p:nvPr/>
        </p:nvSpPr>
        <p:spPr>
          <a:xfrm>
            <a:off x="3333796" y="2460000"/>
            <a:ext cx="3000000" cy="253916"/>
          </a:xfrm>
          <a:prstGeom prst="rect">
            <a:avLst/>
          </a:prstGeom>
          <a:noFill/>
        </p:spPr>
        <p:txBody>
          <a:bodyPr wrap="none">
            <a:spAutoFit/>
          </a:bodyPr>
          <a:lstStyle/>
          <a:p>
            <a:pPr algn="r"/>
            <a:r>
              <a:rPr sz="1050" i="1">
                <a:solidFill>
                  <a:schemeClr val="bg2"/>
                </a:solidFill>
              </a:rPr>
              <a:t>Xia et al., FSE 2025, Table 1 and §§6.1–6.2</a:t>
            </a:r>
          </a:p>
        </p:txBody>
      </p:sp>
      <p:sp>
        <p:nvSpPr>
          <p:cNvPr id="5" name="Rectangle 4"/>
          <p:cNvSpPr/>
          <p:nvPr/>
        </p:nvSpPr>
        <p:spPr>
          <a:xfrm>
            <a:off x="319251" y="29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Our own fixture ships its answer key beside the test cases, so we strip it: </a:t>
            </a:r>
            <a:r>
              <a:rPr sz="1400" b="1">
                <a:solidFill>
                  <a:schemeClr val="tx2"/>
                </a:solidFill>
              </a:rPr>
              <a:t>a score that can be read is not earned</a:t>
            </a:r>
            <a:r>
              <a:rPr sz="1400">
                <a:solidFill>
                  <a:schemeClr val="tx2"/>
                </a:solidFill>
              </a:rPr>
              <a:t>.</a:t>
            </a:r>
          </a:p>
        </p:txBody>
      </p:sp>
      <p:sp>
        <p:nvSpPr>
          <p:cNvPr id="6" name="Rectangle 5"/>
          <p:cNvSpPr/>
          <p:nvPr/>
        </p:nvSpPr>
        <p:spPr>
          <a:xfrm>
            <a:off x="319251" y="368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None of this shows that fixed workflows win in general.</a:t>
            </a:r>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p:bg>
      <p:bgPr>
        <a:solidFill>
          <a:schemeClr val="bg2"/>
        </a:solidFill>
        <a:effectLst/>
      </p:bgPr>
    </p:bg>
    <p:spTree>
      <p:nvGrpSpPr>
        <p:cNvPr id="1" name="">
          <a:extLst>
            <a:ext uri="{FF2B5EF4-FFF2-40B4-BE49-F238E27FC236}">
              <a16:creationId xmlns:a16="http://schemas.microsoft.com/office/drawing/2014/main" id="{4BC9B572-94D2-F260-A378-F87DB56311CC}"/>
            </a:ext>
          </a:extLst>
        </p:cNvPr>
        <p:cNvGrpSpPr/>
        <p:nvPr/>
      </p:nvGrpSpPr>
      <p:grpSpPr>
        <a:xfrm>
          <a:off x="0" y="0"/>
          <a:ext cx="0" cy="0"/>
          <a:chOff x="0" y="0"/>
          <a:chExt cx="0" cy="0"/>
        </a:xfrm>
      </p:grpSpPr>
      <p:cxnSp>
        <p:nvCxnSpPr>
          <p:cNvPr id="13" name="Straight Arrow Connector 12">
            <a:extLst>
              <a:ext uri="{FF2B5EF4-FFF2-40B4-BE49-F238E27FC236}">
                <a16:creationId xmlns:a16="http://schemas.microsoft.com/office/drawing/2014/main" id="{644FDCE3-F257-EE15-03D8-0D223CF9CF18}"/>
              </a:ext>
            </a:extLst>
          </p:cNvPr>
          <p:cNvCxnSpPr>
            <a:cxnSpLocks/>
          </p:cNvCxnSpPr>
          <p:nvPr/>
        </p:nvCxnSpPr>
        <p:spPr>
          <a:xfrm>
            <a:off x="1063835" y="1692899"/>
            <a:ext cx="0" cy="3145251"/>
          </a:xfrm>
          <a:prstGeom prst="straightConnector1">
            <a:avLst/>
          </a:prstGeom>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cxnSp>
      <p:sp>
        <p:nvSpPr>
          <p:cNvPr id="7" name="Oval 6">
            <a:extLst>
              <a:ext uri="{FF2B5EF4-FFF2-40B4-BE49-F238E27FC236}">
                <a16:creationId xmlns:a16="http://schemas.microsoft.com/office/drawing/2014/main" id="{7997ACC1-A0D9-E6CD-22B8-EFF4259A1077}"/>
              </a:ext>
            </a:extLst>
          </p:cNvPr>
          <p:cNvSpPr/>
          <p:nvPr/>
        </p:nvSpPr>
        <p:spPr>
          <a:xfrm>
            <a:off x="951758" y="1862799"/>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8" name="Oval 7">
            <a:extLst>
              <a:ext uri="{FF2B5EF4-FFF2-40B4-BE49-F238E27FC236}">
                <a16:creationId xmlns:a16="http://schemas.microsoft.com/office/drawing/2014/main" id="{A6DA518F-B9B9-C469-223F-9D6090415722}"/>
              </a:ext>
            </a:extLst>
          </p:cNvPr>
          <p:cNvSpPr/>
          <p:nvPr/>
        </p:nvSpPr>
        <p:spPr>
          <a:xfrm>
            <a:off x="951758" y="2396496"/>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9" name="Oval 8">
            <a:extLst>
              <a:ext uri="{FF2B5EF4-FFF2-40B4-BE49-F238E27FC236}">
                <a16:creationId xmlns:a16="http://schemas.microsoft.com/office/drawing/2014/main" id="{CD6B44BD-AFE0-104D-7F51-DE8C423151A6}"/>
              </a:ext>
            </a:extLst>
          </p:cNvPr>
          <p:cNvSpPr/>
          <p:nvPr/>
        </p:nvSpPr>
        <p:spPr>
          <a:xfrm>
            <a:off x="951758" y="292663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0" name="Oval 9">
            <a:extLst>
              <a:ext uri="{FF2B5EF4-FFF2-40B4-BE49-F238E27FC236}">
                <a16:creationId xmlns:a16="http://schemas.microsoft.com/office/drawing/2014/main" id="{BA9098CA-902B-6954-82D4-EC9CCE7BD1E1}"/>
              </a:ext>
            </a:extLst>
          </p:cNvPr>
          <p:cNvSpPr/>
          <p:nvPr/>
        </p:nvSpPr>
        <p:spPr>
          <a:xfrm>
            <a:off x="951758" y="3460331"/>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4" name="TextBox 13">
            <a:extLst>
              <a:ext uri="{FF2B5EF4-FFF2-40B4-BE49-F238E27FC236}">
                <a16:creationId xmlns:a16="http://schemas.microsoft.com/office/drawing/2014/main" id="{1C9BAADE-F74B-88C9-6A5D-40A4EECF98BC}"/>
              </a:ext>
            </a:extLst>
          </p:cNvPr>
          <p:cNvSpPr txBox="1"/>
          <p:nvPr/>
        </p:nvSpPr>
        <p:spPr>
          <a:xfrm>
            <a:off x="1259524" y="1820986"/>
            <a:ext cx="5033750" cy="307777"/>
          </a:xfrm>
          <a:prstGeom prst="rect">
            <a:avLst/>
          </a:prstGeom>
          <a:noFill/>
        </p:spPr>
        <p:txBody>
          <a:bodyPr wrap="none" rtlCol="0">
            <a:spAutoFit/>
          </a:bodyPr>
          <a:lstStyle/>
          <a:p>
            <a:r>
              <a:rPr lang="en-US" b="1" dirty="0">
                <a:solidFill>
                  <a:schemeClr val="tx2"/>
                </a:solidFill>
              </a:rPr>
              <a:t>Fixed workflow</a:t>
            </a:r>
            <a:r>
              <a:rPr lang="en-US" b="1" dirty="0">
                <a:solidFill>
                  <a:schemeClr val="tx2"/>
                </a:solidFill>
                <a:latin typeface="+mn-lt"/>
              </a:rPr>
              <a:t>: </a:t>
            </a:r>
            <a:r>
              <a:rPr lang="en-US" i="1" dirty="0">
                <a:solidFill>
                  <a:schemeClr val="tx2"/>
                </a:solidFill>
                <a:latin typeface="+mn-lt"/>
              </a:rPr>
              <a:t>The steps are ours, written before the run</a:t>
            </a:r>
            <a:r>
              <a:rPr lang="en-US" b="1" dirty="0">
                <a:solidFill>
                  <a:schemeClr val="tx2"/>
                </a:solidFill>
                <a:latin typeface="+mn-lt"/>
              </a:rPr>
              <a:t> </a:t>
            </a:r>
            <a:endParaRPr lang="en-US" b="1" dirty="0">
              <a:solidFill>
                <a:schemeClr val="tx2"/>
              </a:solidFill>
            </a:endParaRPr>
          </a:p>
        </p:txBody>
      </p:sp>
      <p:sp>
        <p:nvSpPr>
          <p:cNvPr id="11" name="Oval 10">
            <a:extLst>
              <a:ext uri="{FF2B5EF4-FFF2-40B4-BE49-F238E27FC236}">
                <a16:creationId xmlns:a16="http://schemas.microsoft.com/office/drawing/2014/main" id="{BF9D798A-6D30-22BA-A77F-6BB8E3BFFF2A}"/>
              </a:ext>
            </a:extLst>
          </p:cNvPr>
          <p:cNvSpPr/>
          <p:nvPr/>
        </p:nvSpPr>
        <p:spPr>
          <a:xfrm>
            <a:off x="951758" y="3990470"/>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15" name="TextBox 14">
            <a:extLst>
              <a:ext uri="{FF2B5EF4-FFF2-40B4-BE49-F238E27FC236}">
                <a16:creationId xmlns:a16="http://schemas.microsoft.com/office/drawing/2014/main" id="{9FE9D9EF-1310-068C-FE2B-6701B6A3AD09}"/>
              </a:ext>
            </a:extLst>
          </p:cNvPr>
          <p:cNvSpPr txBox="1"/>
          <p:nvPr/>
        </p:nvSpPr>
        <p:spPr>
          <a:xfrm>
            <a:off x="1259524" y="2351125"/>
            <a:ext cx="3672800" cy="307777"/>
          </a:xfrm>
          <a:prstGeom prst="rect">
            <a:avLst/>
          </a:prstGeom>
          <a:noFill/>
        </p:spPr>
        <p:txBody>
          <a:bodyPr wrap="none" rtlCol="0">
            <a:spAutoFit/>
          </a:bodyPr>
          <a:lstStyle/>
          <a:p>
            <a:r>
              <a:rPr lang="en-US" b="1" dirty="0">
                <a:solidFill>
                  <a:schemeClr val="tx2"/>
                </a:solidFill>
              </a:rPr>
              <a:t>ReACT</a:t>
            </a:r>
            <a:r>
              <a:rPr lang="en-US" b="1" dirty="0">
                <a:solidFill>
                  <a:schemeClr val="tx2"/>
                </a:solidFill>
                <a:latin typeface="+mn-lt"/>
              </a:rPr>
              <a:t>: </a:t>
            </a:r>
            <a:r>
              <a:rPr lang="en-US" i="1" dirty="0">
                <a:solidFill>
                  <a:schemeClr val="tx2"/>
                </a:solidFill>
                <a:latin typeface="+mn-lt"/>
              </a:rPr>
              <a:t>The model chooses the next action</a:t>
            </a:r>
          </a:p>
        </p:txBody>
      </p:sp>
      <p:sp>
        <p:nvSpPr>
          <p:cNvPr id="16" name="TextBox 15">
            <a:extLst>
              <a:ext uri="{FF2B5EF4-FFF2-40B4-BE49-F238E27FC236}">
                <a16:creationId xmlns:a16="http://schemas.microsoft.com/office/drawing/2014/main" id="{45F30933-1ADE-68AB-0CDB-EEF83167C6F1}"/>
              </a:ext>
            </a:extLst>
          </p:cNvPr>
          <p:cNvSpPr txBox="1"/>
          <p:nvPr/>
        </p:nvSpPr>
        <p:spPr>
          <a:xfrm>
            <a:off x="1259524" y="2884821"/>
            <a:ext cx="4806124" cy="307777"/>
          </a:xfrm>
          <a:prstGeom prst="rect">
            <a:avLst/>
          </a:prstGeom>
          <a:noFill/>
        </p:spPr>
        <p:txBody>
          <a:bodyPr wrap="none" rtlCol="0">
            <a:spAutoFit/>
          </a:bodyPr>
          <a:lstStyle/>
          <a:p>
            <a:r>
              <a:rPr lang="en-US" b="1" dirty="0">
                <a:solidFill>
                  <a:schemeClr val="tx2"/>
                </a:solidFill>
              </a:rPr>
              <a:t>Planner</a:t>
            </a:r>
            <a:r>
              <a:rPr lang="en-US" b="1" dirty="0">
                <a:solidFill>
                  <a:schemeClr val="tx2"/>
                </a:solidFill>
                <a:latin typeface="+mn-lt"/>
              </a:rPr>
              <a:t>: </a:t>
            </a:r>
            <a:r>
              <a:rPr lang="en-US" i="1" dirty="0">
                <a:solidFill>
                  <a:schemeClr val="tx2"/>
                </a:solidFill>
                <a:latin typeface="+mn-lt"/>
              </a:rPr>
              <a:t>The plan is written into state and revised there</a:t>
            </a:r>
            <a:endParaRPr lang="en-US" b="1" dirty="0">
              <a:solidFill>
                <a:schemeClr val="tx2"/>
              </a:solidFill>
            </a:endParaRPr>
          </a:p>
        </p:txBody>
      </p:sp>
      <p:sp>
        <p:nvSpPr>
          <p:cNvPr id="17" name="TextBox 16">
            <a:extLst>
              <a:ext uri="{FF2B5EF4-FFF2-40B4-BE49-F238E27FC236}">
                <a16:creationId xmlns:a16="http://schemas.microsoft.com/office/drawing/2014/main" id="{BFB58F08-541F-1AF1-AB6A-2EBD2A9B5C70}"/>
              </a:ext>
            </a:extLst>
          </p:cNvPr>
          <p:cNvSpPr txBox="1"/>
          <p:nvPr/>
        </p:nvSpPr>
        <p:spPr>
          <a:xfrm>
            <a:off x="1259524" y="3418518"/>
            <a:ext cx="4608954" cy="307777"/>
          </a:xfrm>
          <a:prstGeom prst="rect">
            <a:avLst/>
          </a:prstGeom>
          <a:noFill/>
        </p:spPr>
        <p:txBody>
          <a:bodyPr wrap="none" rtlCol="0">
            <a:spAutoFit/>
          </a:bodyPr>
          <a:lstStyle/>
          <a:p>
            <a:r>
              <a:rPr lang="en-US" b="1" dirty="0">
                <a:solidFill>
                  <a:schemeClr val="tx2"/>
                </a:solidFill>
              </a:rPr>
              <a:t>Validator</a:t>
            </a:r>
            <a:r>
              <a:rPr lang="en-US" b="1" dirty="0">
                <a:solidFill>
                  <a:schemeClr val="tx2"/>
                </a:solidFill>
                <a:latin typeface="+mn-lt"/>
              </a:rPr>
              <a:t>: </a:t>
            </a:r>
            <a:r>
              <a:rPr lang="en-US" i="1" dirty="0">
                <a:solidFill>
                  <a:schemeClr val="tx2"/>
                </a:solidFill>
                <a:latin typeface="+mn-lt"/>
              </a:rPr>
              <a:t>Acceptance is decoupled from the controller</a:t>
            </a:r>
            <a:endParaRPr lang="en-US" b="1" dirty="0">
              <a:solidFill>
                <a:schemeClr val="tx2"/>
              </a:solidFill>
            </a:endParaRPr>
          </a:p>
        </p:txBody>
      </p:sp>
      <p:sp>
        <p:nvSpPr>
          <p:cNvPr id="18" name="TextBox 17">
            <a:extLst>
              <a:ext uri="{FF2B5EF4-FFF2-40B4-BE49-F238E27FC236}">
                <a16:creationId xmlns:a16="http://schemas.microsoft.com/office/drawing/2014/main" id="{1F8A499E-CBDD-FD6D-0AC6-1EA0B51C20F2}"/>
              </a:ext>
            </a:extLst>
          </p:cNvPr>
          <p:cNvSpPr txBox="1"/>
          <p:nvPr/>
        </p:nvSpPr>
        <p:spPr>
          <a:xfrm>
            <a:off x="1259524" y="3948656"/>
            <a:ext cx="4150495" cy="307777"/>
          </a:xfrm>
          <a:prstGeom prst="rect">
            <a:avLst/>
          </a:prstGeom>
          <a:noFill/>
        </p:spPr>
        <p:txBody>
          <a:bodyPr wrap="none" rtlCol="0">
            <a:spAutoFit/>
          </a:bodyPr>
          <a:lstStyle/>
          <a:p>
            <a:r>
              <a:rPr lang="en-US" b="1" dirty="0">
                <a:solidFill>
                  <a:schemeClr val="tx2"/>
                </a:solidFill>
              </a:rPr>
              <a:t>Reflexion</a:t>
            </a:r>
            <a:r>
              <a:rPr lang="en-US" b="1" dirty="0">
                <a:solidFill>
                  <a:schemeClr val="tx2"/>
                </a:solidFill>
                <a:latin typeface="+mn-lt"/>
              </a:rPr>
              <a:t>: </a:t>
            </a:r>
            <a:r>
              <a:rPr lang="en-US" i="1" dirty="0">
                <a:solidFill>
                  <a:schemeClr val="tx2"/>
                </a:solidFill>
                <a:latin typeface="+mn-lt"/>
              </a:rPr>
              <a:t>A failed attempt changes the next one</a:t>
            </a:r>
          </a:p>
        </p:txBody>
      </p:sp>
      <p:sp>
        <p:nvSpPr>
          <p:cNvPr id="19" name="Oval 18">
            <a:extLst>
              <a:ext uri="{FF2B5EF4-FFF2-40B4-BE49-F238E27FC236}">
                <a16:creationId xmlns:a16="http://schemas.microsoft.com/office/drawing/2014/main" id="{E1660DCC-1805-4140-C7B4-CAE80B014E21}"/>
              </a:ext>
            </a:extLst>
          </p:cNvPr>
          <p:cNvSpPr/>
          <p:nvPr/>
        </p:nvSpPr>
        <p:spPr>
          <a:xfrm>
            <a:off x="951758" y="4474355"/>
            <a:ext cx="224153" cy="224153"/>
          </a:xfrm>
          <a:prstGeom prst="ellipse">
            <a:avLst/>
          </a:prstGeom>
          <a:solidFill>
            <a:schemeClr val="accent1">
              <a:lumMod val="20000"/>
              <a:lumOff val="80000"/>
            </a:schemeClr>
          </a:solidFill>
          <a:ln>
            <a:solidFill>
              <a:schemeClr val="bg2">
                <a:lumMod val="20000"/>
                <a:lumOff val="8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en-US"/>
          </a:p>
        </p:txBody>
      </p:sp>
      <p:sp>
        <p:nvSpPr>
          <p:cNvPr id="20" name="TextBox 19">
            <a:extLst>
              <a:ext uri="{FF2B5EF4-FFF2-40B4-BE49-F238E27FC236}">
                <a16:creationId xmlns:a16="http://schemas.microsoft.com/office/drawing/2014/main" id="{64AB4776-21BF-5BF6-8124-7A14DA404243}"/>
              </a:ext>
            </a:extLst>
          </p:cNvPr>
          <p:cNvSpPr txBox="1"/>
          <p:nvPr/>
        </p:nvSpPr>
        <p:spPr>
          <a:xfrm>
            <a:off x="1259524" y="4432541"/>
            <a:ext cx="5298245" cy="307777"/>
          </a:xfrm>
          <a:prstGeom prst="rect">
            <a:avLst/>
          </a:prstGeom>
          <a:noFill/>
        </p:spPr>
        <p:txBody>
          <a:bodyPr wrap="none" rtlCol="0">
            <a:spAutoFit/>
          </a:bodyPr>
          <a:lstStyle/>
          <a:p>
            <a:r>
              <a:rPr lang="en-US" b="1" dirty="0">
                <a:solidFill>
                  <a:schemeClr val="tx2"/>
                </a:solidFill>
              </a:rPr>
              <a:t>Agent Architectures</a:t>
            </a:r>
            <a:r>
              <a:rPr lang="en-US" b="1" dirty="0">
                <a:solidFill>
                  <a:schemeClr val="tx2"/>
                </a:solidFill>
                <a:latin typeface="+mn-lt"/>
              </a:rPr>
              <a:t>: </a:t>
            </a:r>
            <a:r>
              <a:rPr lang="en-US" i="1" dirty="0">
                <a:solidFill>
                  <a:schemeClr val="tx2"/>
                </a:solidFill>
                <a:latin typeface="+mn-lt"/>
              </a:rPr>
              <a:t>What are some other agent architectures</a:t>
            </a:r>
            <a:endParaRPr lang="en-US" b="1" dirty="0">
              <a:solidFill>
                <a:schemeClr val="tx2"/>
              </a:solidFill>
            </a:endParaRPr>
          </a:p>
        </p:txBody>
      </p:sp>
      <p:sp>
        <p:nvSpPr>
          <p:cNvPr id="4" name="TextBox 3">
            <a:extLst>
              <a:ext uri="{FF2B5EF4-FFF2-40B4-BE49-F238E27FC236}">
                <a16:creationId xmlns:a16="http://schemas.microsoft.com/office/drawing/2014/main" id="{5C0D74A0-67BC-A055-CB62-3C2C26804E7A}"/>
              </a:ext>
            </a:extLst>
          </p:cNvPr>
          <p:cNvSpPr txBox="1"/>
          <p:nvPr/>
        </p:nvSpPr>
        <p:spPr>
          <a:xfrm>
            <a:off x="638816" y="533124"/>
            <a:ext cx="5580374" cy="707886"/>
          </a:xfrm>
          <a:prstGeom prst="rect">
            <a:avLst/>
          </a:prstGeom>
          <a:noFill/>
        </p:spPr>
        <p:txBody>
          <a:bodyPr wrap="none">
            <a:spAutoFit/>
          </a:bodyPr>
          <a:lstStyle/>
          <a:p>
            <a:pPr algn="ctr"/>
            <a:r>
              <a:rPr lang="en-US" sz="4000" b="1" dirty="0">
                <a:solidFill>
                  <a:schemeClr val="tx2"/>
                </a:solidFill>
                <a:latin typeface="Fira Sans" panose="020B0503050000020004" pitchFamily="34" charset="0"/>
              </a:rPr>
              <a:t>ReACT: </a:t>
            </a:r>
            <a:r>
              <a:rPr lang="en-US" sz="4000" dirty="0">
                <a:solidFill>
                  <a:schemeClr val="tx2"/>
                </a:solidFill>
                <a:latin typeface="Fira Sans" panose="020B0503050000020004" pitchFamily="34" charset="0"/>
              </a:rPr>
              <a:t>Reactive Agents</a:t>
            </a:r>
            <a:endParaRPr sz="4000" dirty="0">
              <a:solidFill>
                <a:schemeClr val="tx2"/>
              </a:solidFill>
              <a:latin typeface="Fira Sans" panose="020B0503050000020004" pitchFamily="34" charset="0"/>
            </a:endParaRPr>
          </a:p>
        </p:txBody>
      </p:sp>
      <p:pic>
        <p:nvPicPr>
          <p:cNvPr id="12" name="Picture 11">
            <a:extLst>
              <a:ext uri="{FF2B5EF4-FFF2-40B4-BE49-F238E27FC236}">
                <a16:creationId xmlns:a16="http://schemas.microsoft.com/office/drawing/2014/main" id="{7EF46ED8-ADAA-3E77-8A17-D850EC12253A}"/>
              </a:ext>
            </a:extLst>
          </p:cNvPr>
          <p:cNvPicPr>
            <a:picLocks noChangeAspect="1"/>
          </p:cNvPicPr>
          <p:nvPr/>
        </p:nvPicPr>
        <p:blipFill>
          <a:blip r:embed="rId3">
            <a:alphaModFix amt="90000"/>
          </a:blip>
          <a:stretch>
            <a:fillRect/>
          </a:stretch>
        </p:blipFill>
        <p:spPr>
          <a:xfrm>
            <a:off x="825474" y="2758466"/>
            <a:ext cx="5732295" cy="2126636"/>
          </a:xfrm>
          <a:prstGeom prst="rect">
            <a:avLst/>
          </a:prstGeom>
        </p:spPr>
      </p:pic>
      <p:pic>
        <p:nvPicPr>
          <p:cNvPr id="2" name="Picture 1">
            <a:extLst>
              <a:ext uri="{FF2B5EF4-FFF2-40B4-BE49-F238E27FC236}">
                <a16:creationId xmlns:a16="http://schemas.microsoft.com/office/drawing/2014/main" id="{2B5FFFE2-13D7-ACE4-8D27-FFD7C1F0E13B}"/>
              </a:ext>
            </a:extLst>
          </p:cNvPr>
          <p:cNvPicPr>
            <a:picLocks noChangeAspect="1"/>
          </p:cNvPicPr>
          <p:nvPr/>
        </p:nvPicPr>
        <p:blipFill>
          <a:blip r:embed="rId3">
            <a:alphaModFix amt="70000"/>
          </a:blip>
          <a:stretch>
            <a:fillRect/>
          </a:stretch>
        </p:blipFill>
        <p:spPr>
          <a:xfrm>
            <a:off x="825474" y="1566605"/>
            <a:ext cx="5732295" cy="692074"/>
          </a:xfrm>
          <a:prstGeom prst="rect">
            <a:avLst/>
          </a:prstGeom>
        </p:spPr>
      </p:pic>
    </p:spTree>
    <p:extLst>
      <p:ext uri="{BB962C8B-B14F-4D97-AF65-F5344CB8AC3E}">
        <p14:creationId xmlns:p14="http://schemas.microsoft.com/office/powerpoint/2010/main" val="1622718432"/>
      </p:ext>
    </p:extLst>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C335928-2319-7283-126C-5521ECD81580}"/>
            </a:ext>
          </a:extLst>
        </p:cNvPr>
        <p:cNvGrpSpPr/>
        <p:nvPr/>
      </p:nvGrpSpPr>
      <p:grpSpPr>
        <a:xfrm>
          <a:off x="0" y="0"/>
          <a:ext cx="0" cy="0"/>
          <a:chOff x="0" y="0"/>
          <a:chExt cx="0" cy="0"/>
        </a:xfrm>
      </p:grpSpPr>
      <p:sp>
        <p:nvSpPr>
          <p:cNvPr id="2" name="Title 1">
            <a:extLst>
              <a:ext uri="{FF2B5EF4-FFF2-40B4-BE49-F238E27FC236}">
                <a16:creationId xmlns:a16="http://schemas.microsoft.com/office/drawing/2014/main" id="{FC14768C-2BDB-2F82-F422-2216F06CD815}"/>
              </a:ext>
            </a:extLst>
          </p:cNvPr>
          <p:cNvSpPr>
            <a:spLocks noGrp="1"/>
          </p:cNvSpPr>
          <p:nvPr>
            <p:ph type="title"/>
          </p:nvPr>
        </p:nvSpPr>
        <p:spPr/>
        <p:txBody>
          <a:bodyPr/>
          <a:lstStyle/>
          <a:p>
            <a:r>
              <a:t>A reactive loop</a:t>
            </a:r>
          </a:p>
        </p:txBody>
      </p:sp>
      <p:sp>
        <p:nvSpPr>
          <p:cNvPr id="3" name="Content Placeholder 2">
            <a:extLst>
              <a:ext uri="{FF2B5EF4-FFF2-40B4-BE49-F238E27FC236}">
                <a16:creationId xmlns:a16="http://schemas.microsoft.com/office/drawing/2014/main" id="{48C98EB0-CCB3-C813-D979-3AFE7E099FD1}"/>
              </a:ext>
            </a:extLst>
          </p:cNvPr>
          <p:cNvSpPr>
            <a:spLocks noGrp="1"/>
          </p:cNvSpPr>
          <p:nvPr>
            <p:ph idx="1"/>
          </p:nvPr>
        </p:nvSpPr>
        <p:spPr>
          <a:xfrm>
            <a:off x="319251" y="1520000"/>
            <a:ext cx="6014545" cy="1790000"/>
          </a:xfrm>
        </p:spPr>
        <p:txBody>
          <a:bodyPr wrap="square">
            <a:normAutofit fontScale="92500" lnSpcReduction="20000"/>
          </a:bodyPr>
          <a:lstStyle/>
          <a:p>
            <a:pPr marL="0" indent="0">
              <a:buNone/>
            </a:pPr>
            <a:r>
              <a:rPr sz="1400" b="1" dirty="0">
                <a:solidFill>
                  <a:srgbClr val="28285E"/>
                </a:solidFill>
              </a:rPr>
              <a:t>Every turn is the same four steps:</a:t>
            </a:r>
            <a:endParaRPr sz="1400" dirty="0">
              <a:solidFill>
                <a:schemeClr val="tx1"/>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Decide. </a:t>
            </a:r>
            <a:r>
              <a:rPr sz="1400" dirty="0">
                <a:solidFill>
                  <a:schemeClr val="tx1"/>
                </a:solidFill>
              </a:rPr>
              <a:t>One model call returns a tool call, or </a:t>
            </a:r>
            <a:r>
              <a:rPr lang="en-US" sz="1400" dirty="0">
                <a:solidFill>
                  <a:schemeClr val="tx1"/>
                </a:solidFill>
              </a:rPr>
              <a:t>a thought</a:t>
            </a:r>
            <a:r>
              <a:rPr sz="1400" dirty="0">
                <a:solidFill>
                  <a:schemeClr val="tx1"/>
                </a:solidFill>
              </a:rPr>
              <a:t>.</a:t>
            </a:r>
          </a:p>
          <a:p>
            <a:pPr marL="400050" indent="-285750">
              <a:spcBef>
                <a:spcPts val="600"/>
              </a:spcBef>
              <a:spcAft>
                <a:spcPts val="600"/>
              </a:spcAft>
              <a:buClr>
                <a:srgbClr val="28285E"/>
              </a:buClr>
              <a:buSzPts val="1260"/>
              <a:buFont typeface="Fira Sans"/>
              <a:buChar char="●"/>
            </a:pPr>
            <a:r>
              <a:rPr sz="1400" b="1" dirty="0">
                <a:solidFill>
                  <a:schemeClr val="tx1"/>
                </a:solidFill>
              </a:rPr>
              <a:t>Dispatch. </a:t>
            </a:r>
            <a:r>
              <a:rPr sz="1400" dirty="0">
                <a:solidFill>
                  <a:schemeClr val="tx1"/>
                </a:solidFill>
              </a:rPr>
              <a:t>The runtime checks the request against our signature.</a:t>
            </a:r>
          </a:p>
          <a:p>
            <a:pPr marL="400050" indent="-285750">
              <a:spcBef>
                <a:spcPts val="600"/>
              </a:spcBef>
              <a:spcAft>
                <a:spcPts val="600"/>
              </a:spcAft>
              <a:buClr>
                <a:srgbClr val="28285E"/>
              </a:buClr>
              <a:buSzPts val="1260"/>
              <a:buFont typeface="Fira Sans"/>
              <a:buChar char="●"/>
            </a:pPr>
            <a:r>
              <a:rPr sz="1400" b="1" dirty="0">
                <a:solidFill>
                  <a:schemeClr val="tx1"/>
                </a:solidFill>
              </a:rPr>
              <a:t>Observe. </a:t>
            </a:r>
            <a:r>
              <a:rPr sz="1400" dirty="0">
                <a:solidFill>
                  <a:schemeClr val="tx1"/>
                </a:solidFill>
              </a:rPr>
              <a:t>The runtime writes what came back, never the model.</a:t>
            </a:r>
          </a:p>
          <a:p>
            <a:pPr marL="400050" indent="-285750">
              <a:spcBef>
                <a:spcPts val="600"/>
              </a:spcBef>
              <a:spcAft>
                <a:spcPts val="600"/>
              </a:spcAft>
              <a:buClr>
                <a:srgbClr val="28285E"/>
              </a:buClr>
              <a:buSzPts val="1260"/>
              <a:buFont typeface="Fira Sans"/>
              <a:buChar char="●"/>
            </a:pPr>
            <a:r>
              <a:rPr sz="1400" b="1" dirty="0">
                <a:solidFill>
                  <a:schemeClr val="tx1"/>
                </a:solidFill>
              </a:rPr>
              <a:t>Route. </a:t>
            </a:r>
            <a:r>
              <a:rPr sz="1400" dirty="0">
                <a:solidFill>
                  <a:schemeClr val="tx1"/>
                </a:solidFill>
              </a:rPr>
              <a:t>A predicate we wrote picks the successor.</a:t>
            </a:r>
          </a:p>
        </p:txBody>
      </p:sp>
      <p:sp>
        <p:nvSpPr>
          <p:cNvPr id="4" name="Rectangle 3"/>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selects the next action from the percepts so far, and the runtime returns the observation </a:t>
            </a:r>
            <a:r>
              <a:rPr sz="1400" b="1">
                <a:solidFill>
                  <a:schemeClr val="tx2"/>
                </a:solidFill>
              </a:rPr>
              <a:t>the next selection reads</a:t>
            </a:r>
            <a:r>
              <a:rPr sz="1400">
                <a:solidFill>
                  <a:schemeClr val="tx2"/>
                </a:solidFill>
              </a:rPr>
              <a:t>.</a:t>
            </a:r>
          </a:p>
        </p:txBody>
      </p:sp>
      <p:sp>
        <p:nvSpPr>
          <p:cNvPr id="5" name="TextBox 4"/>
          <p:cNvSpPr txBox="1"/>
          <p:nvPr/>
        </p:nvSpPr>
        <p:spPr>
          <a:xfrm>
            <a:off x="2933796" y="3400000"/>
            <a:ext cx="3400000" cy="253916"/>
          </a:xfrm>
          <a:prstGeom prst="rect">
            <a:avLst/>
          </a:prstGeom>
          <a:noFill/>
        </p:spPr>
        <p:txBody>
          <a:bodyPr wrap="none">
            <a:spAutoFit/>
          </a:bodyPr>
          <a:lstStyle/>
          <a:p>
            <a:pPr algn="r"/>
            <a:r>
              <a:rPr sz="1050" i="1">
                <a:solidFill>
                  <a:schemeClr val="bg2"/>
                </a:solidFill>
              </a:rPr>
              <a:t>Yao et al., ReAct, ICLR 2023, §2</a:t>
            </a:r>
          </a:p>
        </p:txBody>
      </p:sp>
      <p:sp>
        <p:nvSpPr>
          <p:cNvPr id="6" name="Rectangle 5"/>
          <p:cNvSpPr/>
          <p:nvPr/>
        </p:nvSpPr>
        <p:spPr>
          <a:xfrm>
            <a:off x="319251" y="3900000"/>
            <a:ext cx="6014545" cy="544308"/>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Language is part of the action space: a thought changes the context, not the world.</a:t>
            </a:r>
          </a:p>
        </p:txBody>
      </p:sp>
    </p:spTree>
    <p:extLst>
      <p:ext uri="{BB962C8B-B14F-4D97-AF65-F5344CB8AC3E}">
        <p14:creationId xmlns:p14="http://schemas.microsoft.com/office/powerpoint/2010/main" val="2268406285"/>
      </p:ext>
    </p:extLst>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dirty="0"/>
              <a:t>The graph </a:t>
            </a:r>
            <a:r>
              <a:rPr lang="en-US" dirty="0"/>
              <a:t>our first </a:t>
            </a:r>
            <a:r>
              <a:rPr dirty="0"/>
              <a:t>the demo compiles</a:t>
            </a:r>
          </a:p>
        </p:txBody>
      </p:sp>
      <p:sp>
        <p:nvSpPr>
          <p:cNvPr id="3" name="Rectangle 2"/>
          <p:cNvSpPr/>
          <p:nvPr/>
        </p:nvSpPr>
        <p:spPr>
          <a:xfrm>
            <a:off x="319251" y="7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Three nodes, and only </a:t>
            </a:r>
            <a:r>
              <a:rPr sz="1400">
                <a:latin typeface="Maple Mono NF"/>
              </a:rPr>
              <a:t>controller</a:t>
            </a:r>
            <a:r>
              <a:rPr sz="1400">
                <a:solidFill>
                  <a:schemeClr val="tx2"/>
                </a:solidFill>
              </a:rPr>
              <a:t> calls a model. Dashed edges carry a predicate over state; </a:t>
            </a:r>
            <a:r>
              <a:rPr sz="1400" b="1">
                <a:solidFill>
                  <a:schemeClr val="tx2"/>
                </a:solidFill>
              </a:rPr>
              <a:t>the solid edge back is the loop</a:t>
            </a:r>
            <a:r>
              <a:rPr sz="1400">
                <a:solidFill>
                  <a:schemeClr val="tx2"/>
                </a:solidFill>
              </a:rPr>
              <a:t>.</a:t>
            </a:r>
          </a:p>
        </p:txBody>
      </p:sp>
      <p:pic>
        <p:nvPicPr>
          <p:cNvPr id="4" name="Picture 3" descr="reactive-loop-deck.png"/>
          <p:cNvPicPr>
            <a:picLocks noChangeAspect="1"/>
          </p:cNvPicPr>
          <p:nvPr/>
        </p:nvPicPr>
        <p:blipFill>
          <a:blip r:embed="rId3"/>
          <a:stretch>
            <a:fillRect/>
          </a:stretch>
        </p:blipFill>
        <p:spPr>
          <a:xfrm>
            <a:off x="250147" y="1520000"/>
            <a:ext cx="6152752" cy="3076376"/>
          </a:xfrm>
          <a:prstGeom prst="rect">
            <a:avLst/>
          </a:prstGeom>
        </p:spPr>
      </p:pic>
      <p:sp>
        <p:nvSpPr>
          <p:cNvPr id="5" name="TextBox 4">
            <a:extLst>
              <a:ext uri="{FF2B5EF4-FFF2-40B4-BE49-F238E27FC236}">
                <a16:creationId xmlns:a16="http://schemas.microsoft.com/office/drawing/2014/main" id="{2AA6FBBD-EA44-EF3B-1729-463F37139742}"/>
              </a:ext>
            </a:extLst>
          </p:cNvPr>
          <p:cNvSpPr txBox="1"/>
          <p:nvPr/>
        </p:nvSpPr>
        <p:spPr>
          <a:xfrm>
            <a:off x="4589430" y="4889584"/>
            <a:ext cx="2268570" cy="253916"/>
          </a:xfrm>
          <a:prstGeom prst="rect">
            <a:avLst/>
          </a:prstGeom>
          <a:noFill/>
        </p:spPr>
        <p:txBody>
          <a:bodyPr wrap="none" rtlCol="0">
            <a:spAutoFit/>
          </a:bodyPr>
          <a:lstStyle/>
          <a:p>
            <a:r>
              <a:rPr lang="en-US" sz="1050" i="1" dirty="0">
                <a:latin typeface="+mn-lt"/>
              </a:rPr>
              <a:t>see: lec2_reactive_agent/graph.py</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same graph, in code</a:t>
            </a:r>
          </a:p>
        </p:txBody>
      </p:sp>
      <p:sp>
        <p:nvSpPr>
          <p:cNvPr id="3" name="TextBox 2"/>
          <p:cNvSpPr txBox="1"/>
          <p:nvPr/>
        </p:nvSpPr>
        <p:spPr>
          <a:xfrm>
            <a:off x="319251" y="760000"/>
            <a:ext cx="6014545" cy="200000"/>
          </a:xfrm>
          <a:prstGeom prst="rect">
            <a:avLst/>
          </a:prstGeom>
          <a:noFill/>
        </p:spPr>
        <p:txBody>
          <a:bodyPr wrap="none">
            <a:spAutoFit/>
          </a:bodyPr>
          <a:lstStyle/>
          <a:p>
            <a:r>
              <a:rPr sz="1200" b="1">
                <a:solidFill>
                  <a:srgbClr val="28285E"/>
                </a:solidFill>
                <a:latin typeface="Maple Mono NF"/>
              </a:rPr>
              <a:t>lec2_reactive_agent/graph.py</a:t>
            </a:r>
          </a:p>
        </p:txBody>
      </p:sp>
      <p:sp>
        <p:nvSpPr>
          <p:cNvPr id="4" name="Rounded Rectangle 3"/>
          <p:cNvSpPr/>
          <p:nvPr/>
        </p:nvSpPr>
        <p:spPr>
          <a:xfrm>
            <a:off x="319251" y="1060000"/>
            <a:ext cx="6014545" cy="195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dirty="0" err="1">
                <a:solidFill>
                  <a:srgbClr val="28285E"/>
                </a:solidFill>
                <a:latin typeface="Maple Mono NF"/>
              </a:rPr>
              <a:t>graph.add_node</a:t>
            </a:r>
            <a:r>
              <a:rPr sz="1100" dirty="0">
                <a:solidFill>
                  <a:srgbClr val="28285E"/>
                </a:solidFill>
                <a:latin typeface="Maple Mono NF"/>
              </a:rPr>
              <a:t>("controller", </a:t>
            </a:r>
            <a:r>
              <a:rPr sz="1100" dirty="0" err="1">
                <a:solidFill>
                  <a:srgbClr val="28285E"/>
                </a:solidFill>
                <a:latin typeface="Maple Mono NF"/>
              </a:rPr>
              <a:t>self.controller</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("tools", </a:t>
            </a:r>
            <a:r>
              <a:rPr sz="1100" dirty="0" err="1">
                <a:solidFill>
                  <a:srgbClr val="28285E"/>
                </a:solidFill>
                <a:latin typeface="Maple Mono NF"/>
              </a:rPr>
              <a:t>self.tools</a:t>
            </a:r>
            <a:r>
              <a:rPr sz="1100" dirty="0">
                <a:solidFill>
                  <a:srgbClr val="28285E"/>
                </a:solidFill>
                <a:latin typeface="Maple Mono NF"/>
              </a:rPr>
              <a:t>)</a:t>
            </a:r>
          </a:p>
          <a:p>
            <a:pPr algn="l">
              <a:buNone/>
            </a:pPr>
            <a:r>
              <a:rPr sz="1100" dirty="0" err="1">
                <a:solidFill>
                  <a:srgbClr val="28285E"/>
                </a:solidFill>
                <a:latin typeface="Maple Mono NF"/>
              </a:rPr>
              <a:t>graph.add_node</a:t>
            </a:r>
            <a:r>
              <a:rPr sz="1100" dirty="0">
                <a:solidFill>
                  <a:srgbClr val="28285E"/>
                </a:solidFill>
                <a:latin typeface="Maple Mono NF"/>
              </a:rPr>
              <a:t>("submit", </a:t>
            </a:r>
            <a:r>
              <a:rPr sz="1100" dirty="0" err="1">
                <a:solidFill>
                  <a:srgbClr val="28285E"/>
                </a:solidFill>
                <a:latin typeface="Maple Mono NF"/>
              </a:rPr>
              <a:t>self.submit</a:t>
            </a:r>
            <a:r>
              <a:rPr sz="1100" dirty="0">
                <a:solidFill>
                  <a:srgbClr val="28285E"/>
                </a:solidFill>
                <a:latin typeface="Maple Mono NF"/>
              </a:rPr>
              <a:t>)</a:t>
            </a:r>
          </a:p>
          <a:p>
            <a:pPr algn="l">
              <a:buNone/>
            </a:pPr>
            <a:endParaRPr sz="1100" dirty="0">
              <a:solidFill>
                <a:srgbClr val="28285E"/>
              </a:solidFill>
              <a:latin typeface="Maple Mono NF"/>
            </a:endParaRPr>
          </a:p>
          <a:p>
            <a:pPr algn="l">
              <a:buNone/>
            </a:pPr>
            <a:r>
              <a:rPr sz="1100" dirty="0" err="1">
                <a:solidFill>
                  <a:srgbClr val="28285E"/>
                </a:solidFill>
                <a:latin typeface="Maple Mono NF"/>
              </a:rPr>
              <a:t>graph.add_edge</a:t>
            </a:r>
            <a:r>
              <a:rPr sz="1100" dirty="0">
                <a:solidFill>
                  <a:srgbClr val="28285E"/>
                </a:solidFill>
                <a:latin typeface="Maple Mono NF"/>
              </a:rPr>
              <a:t>(START, "controller")</a:t>
            </a:r>
          </a:p>
          <a:p>
            <a:pPr algn="l">
              <a:buNone/>
            </a:pPr>
            <a:r>
              <a:rPr sz="1100" dirty="0" err="1">
                <a:solidFill>
                  <a:srgbClr val="28285E"/>
                </a:solidFill>
                <a:latin typeface="Maple Mono NF"/>
              </a:rPr>
              <a:t>graph.add_conditional_edges</a:t>
            </a:r>
            <a:r>
              <a:rPr sz="1100" dirty="0">
                <a:solidFill>
                  <a:srgbClr val="28285E"/>
                </a:solidFill>
                <a:latin typeface="Maple Mono NF"/>
              </a:rPr>
              <a:t>("controller", </a:t>
            </a:r>
            <a:r>
              <a:rPr sz="1100" dirty="0" err="1">
                <a:solidFill>
                  <a:srgbClr val="28285E"/>
                </a:solidFill>
                <a:latin typeface="Maple Mono NF"/>
              </a:rPr>
              <a:t>self.after_controller</a:t>
            </a:r>
            <a:r>
              <a:rPr sz="1100" dirty="0">
                <a:solidFill>
                  <a:srgbClr val="28285E"/>
                </a:solidFill>
                <a:latin typeface="Maple Mono NF"/>
              </a:rPr>
              <a:t>, ...)</a:t>
            </a:r>
          </a:p>
          <a:p>
            <a:pPr algn="l">
              <a:buNone/>
            </a:pPr>
            <a:r>
              <a:rPr sz="1100" b="1" dirty="0" err="1">
                <a:solidFill>
                  <a:srgbClr val="C73561"/>
                </a:solidFill>
                <a:latin typeface="Maple Mono NF"/>
              </a:rPr>
              <a:t>graph.add_edge</a:t>
            </a:r>
            <a:r>
              <a:rPr sz="1100" b="1" dirty="0">
                <a:solidFill>
                  <a:srgbClr val="C73561"/>
                </a:solidFill>
                <a:latin typeface="Maple Mono NF"/>
              </a:rPr>
              <a:t>("tools", "controller")</a:t>
            </a:r>
          </a:p>
          <a:p>
            <a:pPr algn="l">
              <a:buNone/>
            </a:pPr>
            <a:r>
              <a:rPr sz="1100" dirty="0" err="1">
                <a:solidFill>
                  <a:srgbClr val="28285E"/>
                </a:solidFill>
                <a:latin typeface="Maple Mono NF"/>
              </a:rPr>
              <a:t>graph.add_conditional_edges</a:t>
            </a:r>
            <a:r>
              <a:rPr sz="1100" dirty="0">
                <a:solidFill>
                  <a:srgbClr val="28285E"/>
                </a:solidFill>
                <a:latin typeface="Maple Mono NF"/>
              </a:rPr>
              <a:t>("submit", </a:t>
            </a:r>
            <a:r>
              <a:rPr sz="1100" dirty="0" err="1">
                <a:solidFill>
                  <a:srgbClr val="28285E"/>
                </a:solidFill>
                <a:latin typeface="Maple Mono NF"/>
              </a:rPr>
              <a:t>self.after_submit</a:t>
            </a:r>
            <a:r>
              <a:rPr sz="1100" dirty="0">
                <a:solidFill>
                  <a:srgbClr val="28285E"/>
                </a:solidFill>
                <a:latin typeface="Maple Mono NF"/>
              </a:rPr>
              <a:t>, ...)</a:t>
            </a:r>
          </a:p>
        </p:txBody>
      </p:sp>
      <p:sp>
        <p:nvSpPr>
          <p:cNvPr id="5" name="Rectangle 4"/>
          <p:cNvSpPr/>
          <p:nvPr/>
        </p:nvSpPr>
        <p:spPr>
          <a:xfrm>
            <a:off x="319251" y="32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graph definition is fixed. </a:t>
            </a:r>
            <a:r>
              <a:rPr sz="1400" b="1">
                <a:solidFill>
                  <a:schemeClr val="tx2"/>
                </a:solidFill>
              </a:rPr>
              <a:t>Which path a run takes is a predicate over state</a:t>
            </a:r>
            <a:r>
              <a:rPr sz="1400">
                <a:solidFill>
                  <a:schemeClr val="tx2"/>
                </a:solidFill>
              </a:rPr>
              <a:t>, not a different graph.</a:t>
            </a:r>
          </a:p>
        </p:txBody>
      </p:sp>
      <p:sp>
        <p:nvSpPr>
          <p:cNvPr id="6" name="Rectangle 5"/>
          <p:cNvSpPr/>
          <p:nvPr/>
        </p:nvSpPr>
        <p:spPr>
          <a:xfrm>
            <a:off x="319251" y="40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Every line here is an arrow on the last slide. </a:t>
            </a:r>
            <a:r>
              <a:rPr sz="1200" b="1">
                <a:solidFill>
                  <a:srgbClr val="C73561"/>
                </a:solidFill>
              </a:rPr>
              <a:t>The magenta one is the loop.</a:t>
            </a:r>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picks the edge</a:t>
            </a:r>
          </a:p>
        </p:txBody>
      </p:sp>
      <p:sp>
        <p:nvSpPr>
          <p:cNvPr id="3" name="TextBox 2"/>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after_controller</a:t>
            </a:r>
          </a:p>
        </p:txBody>
      </p:sp>
      <p:sp>
        <p:nvSpPr>
          <p:cNvPr id="4" name="Rounded Rectangle 3"/>
          <p:cNvSpPr/>
          <p:nvPr/>
        </p:nvSpPr>
        <p:spPr>
          <a:xfrm>
            <a:off x="319251" y="1000000"/>
            <a:ext cx="6014545" cy="156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def after_controller(self, state) -&gt; str:</a:t>
            </a:r>
          </a:p>
          <a:p>
            <a:pPr algn="l">
              <a:buNone/>
            </a:pPr>
            <a:r>
              <a:rPr sz="1100">
                <a:solidFill>
                  <a:srgbClr val="28285E"/>
                </a:solidFill>
                <a:latin typeface="Maple Mono NF"/>
              </a:rPr>
              <a:t>    if state["status"] != RUNNING:</a:t>
            </a:r>
          </a:p>
          <a:p>
            <a:pPr algn="l">
              <a:buNone/>
            </a:pPr>
            <a:r>
              <a:rPr sz="1100">
                <a:solidFill>
                  <a:srgbClr val="28285E"/>
                </a:solidFill>
                <a:latin typeface="Maple Mono NF"/>
              </a:rPr>
              <a:t>        return END</a:t>
            </a:r>
          </a:p>
          <a:p>
            <a:pPr algn="l">
              <a:buNone/>
            </a:pPr>
            <a:r>
              <a:rPr sz="1100" b="1">
                <a:solidFill>
                  <a:srgbClr val="C73561"/>
                </a:solidFill>
                <a:latin typeface="Maple Mono NF"/>
              </a:rPr>
              <a:t>    if state["messages"][-1].tool_calls:</a:t>
            </a:r>
          </a:p>
          <a:p>
            <a:pPr algn="l">
              <a:buNone/>
            </a:pPr>
            <a:r>
              <a:rPr sz="1100" b="1">
                <a:solidFill>
                  <a:srgbClr val="C73561"/>
                </a:solidFill>
                <a:latin typeface="Maple Mono NF"/>
              </a:rPr>
              <a:t>        return "tools"</a:t>
            </a:r>
          </a:p>
          <a:p>
            <a:pPr algn="l">
              <a:buNone/>
            </a:pPr>
            <a:r>
              <a:rPr sz="1100" b="1">
                <a:solidFill>
                  <a:srgbClr val="C73561"/>
                </a:solidFill>
                <a:latin typeface="Maple Mono NF"/>
              </a:rPr>
              <a:t>    return "submit"</a:t>
            </a:r>
          </a:p>
        </p:txBody>
      </p:sp>
      <p:sp>
        <p:nvSpPr>
          <p:cNvPr id="5" name="Rectangle 4"/>
          <p:cNvSpPr/>
          <p:nvPr/>
        </p:nvSpPr>
        <p:spPr>
          <a:xfrm>
            <a:off x="319251" y="28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model picks its own successor by </a:t>
            </a:r>
            <a:r>
              <a:rPr sz="1400" b="1">
                <a:solidFill>
                  <a:schemeClr val="tx2"/>
                </a:solidFill>
              </a:rPr>
              <a:t>emitting a tool call, or not</a:t>
            </a:r>
            <a:r>
              <a:rPr sz="1400">
                <a:solidFill>
                  <a:schemeClr val="tx2"/>
                </a:solidFill>
              </a:rPr>
              <a:t>.</a:t>
            </a:r>
          </a:p>
        </p:txBody>
      </p:sp>
      <p:sp>
        <p:nvSpPr>
          <p:cNvPr id="6" name="Rectangle 5"/>
          <p:cNvSpPr/>
          <p:nvPr/>
        </p:nvSpPr>
        <p:spPr>
          <a:xfrm>
            <a:off x="319251" y="36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trace records </a:t>
            </a:r>
            <a:r>
              <a:rPr sz="1200" b="1">
                <a:solidFill>
                  <a:srgbClr val="C73561"/>
                </a:solidFill>
              </a:rPr>
              <a:t>by="model"</a:t>
            </a:r>
            <a:r>
              <a:rPr sz="1200" b="1">
                <a:solidFill>
                  <a:srgbClr val="28285E"/>
                </a:solidFill>
              </a:rPr>
              <a:t> on these two edges, and </a:t>
            </a:r>
            <a:r>
              <a:rPr sz="1200" b="1">
                <a:solidFill>
                  <a:srgbClr val="C73561"/>
                </a:solidFill>
              </a:rPr>
              <a:t>by="runtime"</a:t>
            </a:r>
            <a:r>
              <a:rPr sz="1200" b="1">
                <a:solidFill>
                  <a:srgbClr val="28285E"/>
                </a:solidFill>
              </a:rPr>
              <a:t> on every other.</a:t>
            </a: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One row moves</a:t>
            </a:r>
          </a:p>
        </p:txBody>
      </p:sp>
      <p:graphicFrame>
        <p:nvGraphicFramePr>
          <p:cNvPr id="3" name="Table 2"/>
          <p:cNvGraphicFramePr>
            <a:graphicFrameLocks noGrp="1"/>
          </p:cNvGraphicFramePr>
          <p:nvPr>
            <p:extLst>
              <p:ext uri="{D42A27DB-BD31-4B8C-83A1-F6EECF244321}">
                <p14:modId xmlns:p14="http://schemas.microsoft.com/office/powerpoint/2010/main" val="1593811576"/>
              </p:ext>
            </p:extLst>
          </p:nvPr>
        </p:nvGraphicFramePr>
        <p:xfrm>
          <a:off x="319251" y="1150000"/>
          <a:ext cx="6014545" cy="1877340"/>
        </p:xfrm>
        <a:graphic>
          <a:graphicData uri="http://schemas.openxmlformats.org/drawingml/2006/table">
            <a:tbl>
              <a:tblPr>
                <a:tableStyleId>{2D5ABB26-0587-4C30-8999-92F81FD0307C}</a:tableStyleId>
              </a:tblPr>
              <a:tblGrid>
                <a:gridCol w="2370579">
                  <a:extLst>
                    <a:ext uri="{9D8B030D-6E8A-4147-A177-3AD203B41FA5}">
                      <a16:colId xmlns:a16="http://schemas.microsoft.com/office/drawing/2014/main" val="20000"/>
                    </a:ext>
                  </a:extLst>
                </a:gridCol>
                <a:gridCol w="1629421">
                  <a:extLst>
                    <a:ext uri="{9D8B030D-6E8A-4147-A177-3AD203B41FA5}">
                      <a16:colId xmlns:a16="http://schemas.microsoft.com/office/drawing/2014/main" val="20001"/>
                    </a:ext>
                  </a:extLst>
                </a:gridCol>
                <a:gridCol w="2014545">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Decision</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Fixed workflow</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Reactive loop</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Which operation runs next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at run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Whether another runs after it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b="1" dirty="0">
                          <a:solidFill>
                            <a:schemeClr val="accent4"/>
                          </a:solidFill>
                        </a:rPr>
                        <a:t>The model, until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How many model calls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Bounded by the budget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What ends the run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A predicate we wrote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r h="0">
                <a:tc>
                  <a:txBody>
                    <a:bodyPr/>
                    <a:lstStyle/>
                    <a:p>
                      <a:pPr algn="l">
                        <a:buNone/>
                      </a:pPr>
                      <a:r>
                        <a:rPr sz="1100" b="1">
                          <a:solidFill>
                            <a:srgbClr val="28285E"/>
                          </a:solidFill>
                        </a:rPr>
                        <a:t>Which artifacts a step touches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Us, at design time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lang="en-US" sz="1100" b="1" i="0" u="none" strike="noStrike" cap="none" spc="0" dirty="0">
                          <a:solidFill>
                            <a:schemeClr val="accent4"/>
                          </a:solidFill>
                          <a:latin typeface="+mn-lt"/>
                          <a:ea typeface="+mn-ea"/>
                          <a:cs typeface="+mn-cs"/>
                          <a:sym typeface="Arial"/>
                        </a:rPr>
                        <a:t>The model, by using tools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5"/>
                  </a:ext>
                </a:extLst>
              </a:tr>
              <a:tr h="0">
                <a:tc>
                  <a:txBody>
                    <a:bodyPr/>
                    <a:lstStyle/>
                    <a:p>
                      <a:pPr algn="l">
                        <a:buNone/>
                      </a:pPr>
                      <a:r>
                        <a:rPr sz="1100" b="1">
                          <a:solidFill>
                            <a:srgbClr val="28285E"/>
                          </a:solidFill>
                        </a:rPr>
                        <a:t>What a model call returns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The model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6"/>
                  </a:ext>
                </a:extLst>
              </a:tr>
            </a:tbl>
          </a:graphicData>
        </a:graphic>
      </p:graphicFrame>
      <p:sp>
        <p:nvSpPr>
          <p:cNvPr id="4" name="Rectangle 3"/>
          <p:cNvSpPr/>
          <p:nvPr/>
        </p:nvSpPr>
        <p:spPr>
          <a:xfrm>
            <a:off x="3429000" y="3620000"/>
            <a:ext cx="2904796" cy="430000"/>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0" dirty="0">
                <a:solidFill>
                  <a:schemeClr val="tx2"/>
                </a:solidFill>
              </a:rPr>
              <a:t>The model gains </a:t>
            </a:r>
            <a:r>
              <a:rPr lang="en-US" sz="1200" b="0" dirty="0">
                <a:solidFill>
                  <a:schemeClr val="tx2"/>
                </a:solidFill>
              </a:rPr>
              <a:t>two rows of control</a:t>
            </a:r>
            <a:r>
              <a:rPr sz="1200" b="0" dirty="0">
                <a:solidFill>
                  <a:schemeClr val="tx2"/>
                </a:solidFill>
              </a:rPr>
              <a:t>. </a:t>
            </a:r>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the loop buys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Three things come back for the one decision we gave away:</a:t>
            </a:r>
          </a:p>
          <a:p>
            <a:pPr marL="400050" indent="-285750">
              <a:spcBef>
                <a:spcPts val="600"/>
              </a:spcBef>
              <a:spcAft>
                <a:spcPts val="600"/>
              </a:spcAft>
              <a:buClr>
                <a:srgbClr val="28285E"/>
              </a:buClr>
              <a:buSzPts val="1260"/>
              <a:buFont typeface="Fira Sans"/>
              <a:buChar char="●"/>
            </a:pPr>
            <a:r>
              <a:rPr sz="1400" b="1">
                <a:solidFill>
                  <a:schemeClr val="tx1"/>
                </a:solidFill>
              </a:rPr>
              <a:t>Reach. </a:t>
            </a:r>
            <a:r>
              <a:rPr sz="1400">
                <a:solidFill>
                  <a:schemeClr val="tx1"/>
                </a:solidFill>
              </a:rPr>
              <a:t>The agent can act to see: read the helper the flagged line names, then decide.</a:t>
            </a:r>
          </a:p>
          <a:p>
            <a:pPr marL="400050" indent="-285750">
              <a:spcBef>
                <a:spcPts val="600"/>
              </a:spcBef>
              <a:spcAft>
                <a:spcPts val="600"/>
              </a:spcAft>
              <a:buClr>
                <a:srgbClr val="28285E"/>
              </a:buClr>
              <a:buSzPts val="1260"/>
              <a:buFont typeface="Fira Sans"/>
              <a:buChar char="●"/>
            </a:pPr>
            <a:r>
              <a:rPr sz="1400" b="1">
                <a:solidFill>
                  <a:schemeClr val="tx1"/>
                </a:solidFill>
              </a:rPr>
              <a:t>Proportion. </a:t>
            </a:r>
            <a:r>
              <a:rPr sz="1400">
                <a:solidFill>
                  <a:schemeClr val="tx1"/>
                </a:solidFill>
              </a:rPr>
              <a:t>A two-line fix costs two or three turns. The chain pays one price for every alert.</a:t>
            </a:r>
          </a:p>
          <a:p>
            <a:pPr marL="400050" indent="-285750">
              <a:spcBef>
                <a:spcPts val="600"/>
              </a:spcBef>
              <a:spcAft>
                <a:spcPts val="600"/>
              </a:spcAft>
              <a:buClr>
                <a:srgbClr val="28285E"/>
              </a:buClr>
              <a:buSzPts val="1260"/>
              <a:buFont typeface="Fira Sans"/>
              <a:buChar char="●"/>
            </a:pPr>
            <a:r>
              <a:rPr sz="1400" b="1">
                <a:solidFill>
                  <a:schemeClr val="tx1"/>
                </a:solidFill>
              </a:rPr>
              <a:t>Recovery. </a:t>
            </a:r>
            <a:r>
              <a:rPr sz="1400">
                <a:solidFill>
                  <a:schemeClr val="tx1"/>
                </a:solidFill>
              </a:rPr>
              <a:t>A search that returns nothing can be followed by a different one.</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All three come from the same edge. </a:t>
            </a:r>
            <a:r>
              <a:rPr sz="1400" b="1">
                <a:solidFill>
                  <a:schemeClr val="tx2"/>
                </a:solidFill>
              </a:rPr>
              <a:t>A loop needs no new node, because the edge back is the node</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chain carries a bad read all the way to the patch.</a:t>
            </a:r>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What it costs</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The three guarantees of the fixed shape go, and they go together:</a:t>
            </a:r>
          </a:p>
          <a:p>
            <a:pPr marL="400050" indent="-285750">
              <a:spcBef>
                <a:spcPts val="600"/>
              </a:spcBef>
              <a:spcAft>
                <a:spcPts val="600"/>
              </a:spcAft>
              <a:buClr>
                <a:srgbClr val="28285E"/>
              </a:buClr>
              <a:buSzPts val="1260"/>
              <a:buFont typeface="Fira Sans"/>
              <a:buChar char="●"/>
            </a:pPr>
            <a:r>
              <a:rPr sz="1400" b="1">
                <a:solidFill>
                  <a:schemeClr val="tx1"/>
                </a:solidFill>
              </a:rPr>
              <a:t>Shape. </a:t>
            </a:r>
            <a:r>
              <a:rPr sz="1400">
                <a:solidFill>
                  <a:schemeClr val="tx1"/>
                </a:solidFill>
              </a:rPr>
              <a:t>We cannot price a run before it starts. The budget is a worst case, not an estimate.</a:t>
            </a:r>
          </a:p>
          <a:p>
            <a:pPr marL="400050" indent="-285750">
              <a:spcBef>
                <a:spcPts val="600"/>
              </a:spcBef>
              <a:spcAft>
                <a:spcPts val="600"/>
              </a:spcAft>
              <a:buClr>
                <a:srgbClr val="28285E"/>
              </a:buClr>
              <a:buSzPts val="1260"/>
              <a:buFont typeface="Fira Sans"/>
              <a:buChar char="●"/>
            </a:pPr>
            <a:r>
              <a:rPr sz="1400" b="1">
                <a:solidFill>
                  <a:schemeClr val="tx1"/>
                </a:solidFill>
              </a:rPr>
              <a:t>Address. </a:t>
            </a:r>
            <a:r>
              <a:rPr sz="1400">
                <a:solidFill>
                  <a:schemeClr val="tx1"/>
                </a:solidFill>
              </a:rPr>
              <a:t>A failure is spread over turns, each of which looks reasonable on its own.</a:t>
            </a:r>
          </a:p>
          <a:p>
            <a:pPr marL="400050" indent="-285750">
              <a:spcBef>
                <a:spcPts val="600"/>
              </a:spcBef>
              <a:spcAft>
                <a:spcPts val="600"/>
              </a:spcAft>
              <a:buClr>
                <a:srgbClr val="28285E"/>
              </a:buClr>
              <a:buSzPts val="1260"/>
              <a:buFont typeface="Fira Sans"/>
              <a:buChar char="●"/>
            </a:pPr>
            <a:r>
              <a:rPr sz="1400" b="1">
                <a:solidFill>
                  <a:schemeClr val="tx1"/>
                </a:solidFill>
              </a:rPr>
              <a:t>Termination. </a:t>
            </a:r>
            <a:r>
              <a:rPr sz="1400">
                <a:solidFill>
                  <a:schemeClr val="tx1"/>
                </a:solidFill>
              </a:rPr>
              <a:t>The run stops because we made it stop, and stopping is not finishing.</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The loop has no measure of progress. </a:t>
            </a:r>
            <a:r>
              <a:rPr sz="1400" b="1">
                <a:solidFill>
                  <a:schemeClr val="tx2"/>
                </a:solidFill>
              </a:rPr>
              <a:t>It counts turns, because turns are all it can count</a:t>
            </a:r>
            <a:r>
              <a:rPr sz="140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A run that hits the budget has spent it either way.</a:t>
            </a:r>
            <a:r>
              <a:rPr sz="1200" b="1">
                <a:solidFill>
                  <a:srgbClr val="C73561"/>
                </a:solidFill>
              </a:rPr>
              <a:t>  (a plan gives it something to count against)</a:t>
            </a:r>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Where the failures live</a:t>
            </a:r>
          </a:p>
        </p:txBody>
      </p:sp>
      <p:graphicFrame>
        <p:nvGraphicFramePr>
          <p:cNvPr id="3" name="Table 2"/>
          <p:cNvGraphicFramePr>
            <a:graphicFrameLocks noGrp="1"/>
          </p:cNvGraphicFramePr>
          <p:nvPr/>
        </p:nvGraphicFramePr>
        <p:xfrm>
          <a:off x="319251" y="1250000"/>
          <a:ext cx="6014545" cy="1256310"/>
        </p:xfrm>
        <a:graphic>
          <a:graphicData uri="http://schemas.openxmlformats.org/drawingml/2006/table">
            <a:tbl>
              <a:tblPr>
                <a:tableStyleId>{2D5ABB26-0587-4C30-8999-92F81FD0307C}</a:tableStyleId>
              </a:tblPr>
              <a:tblGrid>
                <a:gridCol w="1750000">
                  <a:extLst>
                    <a:ext uri="{9D8B030D-6E8A-4147-A177-3AD203B41FA5}">
                      <a16:colId xmlns:a16="http://schemas.microsoft.com/office/drawing/2014/main" val="20000"/>
                    </a:ext>
                  </a:extLst>
                </a:gridCol>
                <a:gridCol w="1450000">
                  <a:extLst>
                    <a:ext uri="{9D8B030D-6E8A-4147-A177-3AD203B41FA5}">
                      <a16:colId xmlns:a16="http://schemas.microsoft.com/office/drawing/2014/main" val="20001"/>
                    </a:ext>
                  </a:extLst>
                </a:gridCol>
                <a:gridCol w="1914545">
                  <a:extLst>
                    <a:ext uri="{9D8B030D-6E8A-4147-A177-3AD203B41FA5}">
                      <a16:colId xmlns:a16="http://schemas.microsoft.com/office/drawing/2014/main" val="20002"/>
                    </a:ext>
                  </a:extLst>
                </a:gridCol>
                <a:gridCol w="900000">
                  <a:extLst>
                    <a:ext uri="{9D8B030D-6E8A-4147-A177-3AD203B41FA5}">
                      <a16:colId xmlns:a16="http://schemas.microsoft.com/office/drawing/2014/main" val="20003"/>
                    </a:ext>
                  </a:extLst>
                </a:gridCol>
              </a:tblGrid>
              <a:tr h="300000">
                <a:tc>
                  <a:txBody>
                    <a:bodyPr/>
                    <a:lstStyle/>
                    <a:p>
                      <a:pPr algn="l">
                        <a:buNone/>
                      </a:pPr>
                      <a:r>
                        <a:rPr sz="1100" b="1">
                          <a:solidFill>
                            <a:schemeClr val="tx1"/>
                          </a:solidFill>
                        </a:rPr>
                        <a:t>Tool</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Architecture</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Where the failure appears</a:t>
                      </a:r>
                    </a:p>
                  </a:txBody>
                  <a:tcPr marL="95250" marR="95250" marT="47625" marB="47625">
                    <a:lnB w="12700" cap="flat" cmpd="sng" algn="ctr">
                      <a:solidFill>
                        <a:schemeClr val="tx1"/>
                      </a:solidFill>
                    </a:lnB>
                    <a:noFill/>
                  </a:tcPr>
                </a:tc>
                <a:tc>
                  <a:txBody>
                    <a:bodyPr/>
                    <a:lstStyle/>
                    <a:p>
                      <a:pPr algn="r">
                        <a:buNone/>
                      </a:pPr>
                      <a:r>
                        <a:rPr sz="1100" b="1">
                          <a:solidFill>
                            <a:schemeClr val="tx1"/>
                          </a:solidFill>
                        </a:rPr>
                        <a:t>Share</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Agentless-1.5</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Fixed workflow</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Localization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OpenHands-CodeAct-2.1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49.1%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Tools + Claude 3.5 Sonnet</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Reactive loop</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Iteration and validation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r">
                        <a:buNone/>
                      </a:pPr>
                      <a:r>
                        <a:rPr sz="1100">
                          <a:solidFill>
                            <a:schemeClr val="tx1"/>
                          </a:solidFill>
                        </a:rPr>
                        <a:t>51.7%</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bl>
          </a:graphicData>
        </a:graphic>
      </p:graphicFrame>
      <p:sp>
        <p:nvSpPr>
          <p:cNvPr id="4" name="TextBox 3"/>
          <p:cNvSpPr txBox="1"/>
          <p:nvPr/>
        </p:nvSpPr>
        <p:spPr>
          <a:xfrm>
            <a:off x="1133796" y="2900000"/>
            <a:ext cx="5200000" cy="253916"/>
          </a:xfrm>
          <a:prstGeom prst="rect">
            <a:avLst/>
          </a:prstGeom>
          <a:noFill/>
        </p:spPr>
        <p:txBody>
          <a:bodyPr wrap="none">
            <a:spAutoFit/>
          </a:bodyPr>
          <a:lstStyle/>
          <a:p>
            <a:pPr algn="r"/>
            <a:r>
              <a:rPr sz="1050" i="1">
                <a:solidFill>
                  <a:schemeClr val="bg2"/>
                </a:solidFill>
              </a:rPr>
              <a:t>Liu et al., 150 hand-annotated failures, SWE-bench Verified, one backbone model</a:t>
            </a:r>
          </a:p>
        </p:txBody>
      </p:sp>
      <p:sp>
        <p:nvSpPr>
          <p:cNvPr id="5" name="Rectangle 4"/>
          <p:cNvSpPr/>
          <p:nvPr/>
        </p:nvSpPr>
        <p:spPr>
          <a:xfrm>
            <a:off x="319251" y="33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The fixed workflow fails where it commits earliest. </a:t>
            </a:r>
            <a:r>
              <a:rPr sz="1400" b="1" dirty="0">
                <a:solidFill>
                  <a:schemeClr val="tx2"/>
                </a:solidFill>
              </a:rPr>
              <a:t>The loop fails inside the iteration it bought</a:t>
            </a:r>
            <a:r>
              <a:rPr lang="en-US" b="1" dirty="0">
                <a:solidFill>
                  <a:schemeClr val="tx2"/>
                </a:solidFill>
              </a:rPr>
              <a:t> with model driven automation.</a:t>
            </a:r>
            <a:endParaRPr sz="1400" dirty="0">
              <a:solidFill>
                <a:schemeClr val="tx2"/>
              </a:solidFill>
            </a:endParaRPr>
          </a:p>
        </p:txBody>
      </p:sp>
      <p:sp>
        <p:nvSpPr>
          <p:cNvPr id="6" name="Rectangle 5"/>
          <p:cNvSpPr/>
          <p:nvPr/>
        </p:nvSpPr>
        <p:spPr>
          <a:xfrm>
            <a:off x="319251" y="41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dirty="0">
                <a:solidFill>
                  <a:srgbClr val="28285E"/>
                </a:solidFill>
              </a:rPr>
              <a:t>Same backbone model, but the tools differ in more than architecture: descriptive, not causal.</a:t>
            </a:r>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Three shapes of failure</a:t>
            </a:r>
          </a:p>
        </p:txBody>
      </p:sp>
      <p:sp>
        <p:nvSpPr>
          <p:cNvPr id="3" name="Content Placeholder 2"/>
          <p:cNvSpPr>
            <a:spLocks noGrp="1"/>
          </p:cNvSpPr>
          <p:nvPr>
            <p:ph idx="1"/>
          </p:nvPr>
        </p:nvSpPr>
        <p:spPr>
          <a:xfrm>
            <a:off x="319251" y="700000"/>
            <a:ext cx="6014545" cy="2200000"/>
          </a:xfrm>
        </p:spPr>
        <p:txBody>
          <a:bodyPr wrap="square">
            <a:normAutofit fontScale="92500" lnSpcReduction="10000"/>
          </a:bodyPr>
          <a:lstStyle/>
          <a:p>
            <a:pPr marL="0" indent="0">
              <a:buNone/>
            </a:pPr>
            <a:r>
              <a:rPr sz="1400" b="1">
                <a:solidFill>
                  <a:srgbClr val="28285E"/>
                </a:solidFill>
              </a:rPr>
              <a:t>Roughly 65% come from flawed reasoning, in three named shapes:</a:t>
            </a:r>
          </a:p>
          <a:p>
            <a:pPr marL="400050" indent="-285750">
              <a:spcBef>
                <a:spcPts val="600"/>
              </a:spcBef>
              <a:spcAft>
                <a:spcPts val="600"/>
              </a:spcAft>
              <a:buClr>
                <a:srgbClr val="28285E"/>
              </a:buClr>
              <a:buSzPts val="1260"/>
              <a:buFont typeface="Fira Sans"/>
              <a:buChar char="●"/>
            </a:pPr>
            <a:r>
              <a:rPr sz="1400" b="1">
                <a:solidFill>
                  <a:schemeClr val="tx1"/>
                </a:solidFill>
              </a:rPr>
              <a:t>Non-progressive iteration. </a:t>
            </a:r>
            <a:r>
              <a:rPr sz="1400">
                <a:solidFill>
                  <a:schemeClr val="tx1"/>
                </a:solidFill>
              </a:rPr>
              <a:t>Near-identical patches, regenerated, while the defect persists.</a:t>
            </a:r>
            <a:r>
              <a:rPr sz="1400" b="1">
                <a:solidFill>
                  <a:srgbClr val="C73561"/>
                </a:solidFill>
              </a:rPr>
              <a:t>  (a plan answers it)</a:t>
            </a:r>
          </a:p>
          <a:p>
            <a:pPr marL="400050" indent="-285750">
              <a:spcBef>
                <a:spcPts val="600"/>
              </a:spcBef>
              <a:spcAft>
                <a:spcPts val="600"/>
              </a:spcAft>
              <a:buClr>
                <a:srgbClr val="28285E"/>
              </a:buClr>
              <a:buSzPts val="1260"/>
              <a:buFont typeface="Fira Sans"/>
              <a:buChar char="●"/>
            </a:pPr>
            <a:r>
              <a:rPr sz="1400" b="1">
                <a:solidFill>
                  <a:schemeClr val="tx1"/>
                </a:solidFill>
              </a:rPr>
              <a:t>Validation retreat. </a:t>
            </a:r>
            <a:r>
              <a:rPr sz="1400">
                <a:solidFill>
                  <a:schemeClr val="tx1"/>
                </a:solidFill>
              </a:rPr>
              <a:t>The failing test is edited instead of the code.</a:t>
            </a:r>
            <a:r>
              <a:rPr sz="1400" b="1">
                <a:solidFill>
                  <a:srgbClr val="C73561"/>
                </a:solidFill>
              </a:rPr>
              <a:t>  (a validator answers it)</a:t>
            </a:r>
          </a:p>
          <a:p>
            <a:pPr marL="400050" indent="-285750">
              <a:spcBef>
                <a:spcPts val="600"/>
              </a:spcBef>
              <a:spcAft>
                <a:spcPts val="600"/>
              </a:spcAft>
              <a:buClr>
                <a:srgbClr val="28285E"/>
              </a:buClr>
              <a:buSzPts val="1260"/>
              <a:buFont typeface="Fira Sans"/>
              <a:buChar char="●"/>
            </a:pPr>
            <a:r>
              <a:rPr sz="1400" b="1">
                <a:solidFill>
                  <a:schemeClr val="tx1"/>
                </a:solidFill>
              </a:rPr>
              <a:t>Context amnesia. </a:t>
            </a:r>
            <a:r>
              <a:rPr sz="1400">
                <a:solidFill>
                  <a:schemeClr val="tx1"/>
                </a:solidFill>
              </a:rPr>
              <a:t>The original objective is lost over a long interaction.</a:t>
            </a:r>
            <a:r>
              <a:rPr sz="1400" b="1">
                <a:solidFill>
                  <a:srgbClr val="C73561"/>
                </a:solidFill>
              </a:rPr>
              <a:t>  (reflection answers it)</a:t>
            </a:r>
          </a:p>
        </p:txBody>
      </p:sp>
      <p:sp>
        <p:nvSpPr>
          <p:cNvPr id="4" name="Rectangle 3"/>
          <p:cNvSpPr/>
          <p:nvPr/>
        </p:nvSpPr>
        <p:spPr>
          <a:xfrm>
            <a:off x="319251" y="315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dirty="0">
                <a:solidFill>
                  <a:schemeClr val="tx2"/>
                </a:solidFill>
              </a:rPr>
              <a:t>None of the three is visible to the loop while it runs. </a:t>
            </a:r>
            <a:r>
              <a:rPr sz="1400" b="1" dirty="0">
                <a:solidFill>
                  <a:schemeClr val="tx2"/>
                </a:solidFill>
              </a:rPr>
              <a:t>Failed issues burn about 3.5 times the steps of successful ones</a:t>
            </a:r>
            <a:r>
              <a:rPr sz="1400" dirty="0">
                <a:solidFill>
                  <a:schemeClr val="tx2"/>
                </a:solidFill>
              </a:rPr>
              <a:t>.</a:t>
            </a:r>
          </a:p>
        </p:txBody>
      </p:sp>
      <p:sp>
        <p:nvSpPr>
          <p:cNvPr id="5" name="Rectangle 4"/>
          <p:cNvSpPr/>
          <p:nvPr/>
        </p:nvSpPr>
        <p:spPr>
          <a:xfrm>
            <a:off x="319251" y="396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The loop cannot tell which of the two runs it is in.</a:t>
            </a:r>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The stops are ours</a:t>
            </a:r>
          </a:p>
        </p:txBody>
      </p:sp>
      <p:sp>
        <p:nvSpPr>
          <p:cNvPr id="3" name="Content Placeholder 2"/>
          <p:cNvSpPr>
            <a:spLocks noGrp="1"/>
          </p:cNvSpPr>
          <p:nvPr>
            <p:ph idx="1"/>
          </p:nvPr>
        </p:nvSpPr>
        <p:spPr>
          <a:xfrm>
            <a:off x="319251" y="2500000"/>
            <a:ext cx="6014545" cy="1490000"/>
          </a:xfrm>
        </p:spPr>
        <p:txBody>
          <a:bodyPr wrap="square">
            <a:normAutofit fontScale="92500" lnSpcReduction="20000"/>
          </a:bodyPr>
          <a:lstStyle/>
          <a:p>
            <a:pPr marL="0" indent="0">
              <a:buNone/>
            </a:pPr>
            <a:r>
              <a:rPr lang="en-US" sz="1400" b="1" dirty="0">
                <a:solidFill>
                  <a:srgbClr val="28285E"/>
                </a:solidFill>
              </a:rPr>
              <a:t>We have t</a:t>
            </a:r>
            <a:r>
              <a:rPr sz="1400" b="1" dirty="0">
                <a:solidFill>
                  <a:srgbClr val="28285E"/>
                </a:solidFill>
              </a:rPr>
              <a:t>wo runtime stops</a:t>
            </a:r>
            <a:r>
              <a:rPr lang="en-US" sz="1400" b="1" dirty="0">
                <a:solidFill>
                  <a:srgbClr val="28285E"/>
                </a:solidFill>
              </a:rPr>
              <a:t> that differ on where they sit.</a:t>
            </a:r>
            <a:endParaRPr sz="1400" b="1" dirty="0">
              <a:solidFill>
                <a:srgbClr val="28285E"/>
              </a:solidFill>
            </a:endParaRPr>
          </a:p>
          <a:p>
            <a:pPr marL="400050" indent="-285750">
              <a:spcBef>
                <a:spcPts val="600"/>
              </a:spcBef>
              <a:spcAft>
                <a:spcPts val="600"/>
              </a:spcAft>
              <a:buClr>
                <a:srgbClr val="28285E"/>
              </a:buClr>
              <a:buSzPts val="1260"/>
              <a:buFont typeface="Fira Sans"/>
              <a:buChar char="●"/>
            </a:pPr>
            <a:r>
              <a:rPr sz="1400" b="1" dirty="0">
                <a:solidFill>
                  <a:schemeClr val="tx1"/>
                </a:solidFill>
              </a:rPr>
              <a:t>Before the call, not after. </a:t>
            </a:r>
            <a:r>
              <a:rPr sz="1400" dirty="0">
                <a:solidFill>
                  <a:schemeClr val="tx1"/>
                </a:solidFill>
              </a:rPr>
              <a:t>Checked afterwards they are a post-mortem, not a control.</a:t>
            </a:r>
          </a:p>
          <a:p>
            <a:pPr marL="400050" indent="-285750">
              <a:spcBef>
                <a:spcPts val="600"/>
              </a:spcBef>
              <a:spcAft>
                <a:spcPts val="600"/>
              </a:spcAft>
              <a:buClr>
                <a:srgbClr val="28285E"/>
              </a:buClr>
              <a:buSzPts val="1260"/>
              <a:buFont typeface="Fira Sans"/>
              <a:buChar char="●"/>
            </a:pPr>
            <a:r>
              <a:rPr sz="1400" b="1" dirty="0">
                <a:latin typeface="Maple Mono NF"/>
              </a:rPr>
              <a:t>stalled</a:t>
            </a:r>
            <a:r>
              <a:rPr sz="1400" b="1" dirty="0">
                <a:solidFill>
                  <a:schemeClr val="tx1"/>
                </a:solidFill>
              </a:rPr>
              <a:t> compares results, not calls. </a:t>
            </a:r>
            <a:r>
              <a:rPr sz="1400" dirty="0">
                <a:solidFill>
                  <a:schemeClr val="tx1"/>
                </a:solidFill>
              </a:rPr>
              <a:t>Six distinct search patterns, all returning nothing, evade a same-call rule.</a:t>
            </a:r>
          </a:p>
        </p:txBody>
      </p:sp>
      <p:sp>
        <p:nvSpPr>
          <p:cNvPr id="4" name="TextBox 3"/>
          <p:cNvSpPr txBox="1"/>
          <p:nvPr/>
        </p:nvSpPr>
        <p:spPr>
          <a:xfrm>
            <a:off x="319251" y="700000"/>
            <a:ext cx="6014545" cy="200000"/>
          </a:xfrm>
          <a:prstGeom prst="rect">
            <a:avLst/>
          </a:prstGeom>
          <a:noFill/>
        </p:spPr>
        <p:txBody>
          <a:bodyPr wrap="none">
            <a:spAutoFit/>
          </a:bodyPr>
          <a:lstStyle/>
          <a:p>
            <a:r>
              <a:rPr sz="1200" b="1">
                <a:solidFill>
                  <a:srgbClr val="28285E"/>
                </a:solidFill>
                <a:latin typeface="Maple Mono NF"/>
              </a:rPr>
              <a:t>graph.py — controller, before the model call</a:t>
            </a:r>
          </a:p>
        </p:txBody>
      </p:sp>
      <p:sp>
        <p:nvSpPr>
          <p:cNvPr id="5" name="Rounded Rectangle 4"/>
          <p:cNvSpPr/>
          <p:nvPr/>
        </p:nvSpPr>
        <p:spPr>
          <a:xfrm>
            <a:off x="319251" y="1000000"/>
            <a:ext cx="6014545" cy="1400000"/>
          </a:xfrm>
          <a:prstGeom prst="roundRect">
            <a:avLst>
              <a:gd name="adj" fmla="val 4000"/>
            </a:avLst>
          </a:prstGeom>
          <a:solidFill>
            <a:srgbClr val="F2F2F6"/>
          </a:solidFill>
          <a:ln>
            <a:noFill/>
          </a:ln>
          <a:effectLst/>
        </p:spPr>
        <p:style>
          <a:lnRef idx="1">
            <a:schemeClr val="accent1"/>
          </a:lnRef>
          <a:fillRef idx="3">
            <a:schemeClr val="accent1"/>
          </a:fillRef>
          <a:effectRef idx="2">
            <a:schemeClr val="accent1"/>
          </a:effectRef>
          <a:fontRef idx="minor">
            <a:schemeClr val="lt1"/>
          </a:fontRef>
        </p:style>
        <p:txBody>
          <a:bodyPr wrap="none" lIns="150000" tIns="60000" bIns="60000" rtlCol="0" anchor="ctr"/>
          <a:lstStyle/>
          <a:p>
            <a:pPr algn="l">
              <a:buNone/>
            </a:pPr>
            <a:r>
              <a:rPr sz="1100">
                <a:solidFill>
                  <a:srgbClr val="28285E"/>
                </a:solidFill>
                <a:latin typeface="Maple Mono NF"/>
              </a:rPr>
              <a:t>if state["model_calls"] &gt;= self.config.budget:</a:t>
            </a:r>
          </a:p>
          <a:p>
            <a:pPr algn="l">
              <a:buNone/>
            </a:pPr>
            <a:r>
              <a:rPr sz="1100">
                <a:solidFill>
                  <a:srgbClr val="28285E"/>
                </a:solidFill>
                <a:latin typeface="Maple Mono NF"/>
              </a:rPr>
              <a:t>    return {"status": TerminalStatus.BUDGET_EXHAUSTED}</a:t>
            </a:r>
          </a:p>
          <a:p>
            <a:pPr algn="l">
              <a:buNone/>
            </a:pPr>
            <a:endParaRPr sz="1100">
              <a:solidFill>
                <a:srgbClr val="28285E"/>
              </a:solidFill>
              <a:latin typeface="Maple Mono NF"/>
            </a:endParaRPr>
          </a:p>
          <a:p>
            <a:pPr algn="l">
              <a:buNone/>
            </a:pPr>
            <a:r>
              <a:rPr sz="1100" b="1">
                <a:solidFill>
                  <a:srgbClr val="C73561"/>
                </a:solidFill>
                <a:latin typeface="Maple Mono NF"/>
              </a:rPr>
              <a:t>if self.stalled(state["observations"], ...):</a:t>
            </a:r>
          </a:p>
          <a:p>
            <a:pPr algn="l">
              <a:buNone/>
            </a:pPr>
            <a:r>
              <a:rPr sz="1100" b="1">
                <a:solidFill>
                  <a:srgbClr val="C73561"/>
                </a:solidFill>
                <a:latin typeface="Maple Mono NF"/>
              </a:rPr>
              <a:t>    return {"status": TerminalStatus.NO_PROGRESS}</a:t>
            </a:r>
          </a:p>
        </p:txBody>
      </p:sp>
      <p:sp>
        <p:nvSpPr>
          <p:cNvPr id="6" name="Rectangle 5"/>
          <p:cNvSpPr/>
          <p:nvPr/>
        </p:nvSpPr>
        <p:spPr>
          <a:xfrm>
            <a:off x="319251" y="41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budget = 40 model calls.  no_progress = 3 identical results.</a:t>
            </a:r>
          </a:p>
        </p:txBody>
      </p:sp>
    </p:spTree>
  </p:cSld>
  <p:clrMapOvr>
    <a:masterClrMapping/>
  </p:clrMapOvr>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t>Who writes the observation</a:t>
            </a:r>
          </a:p>
        </p:txBody>
      </p:sp>
      <p:sp>
        <p:nvSpPr>
          <p:cNvPr id="3" name="Content Placeholder 2"/>
          <p:cNvSpPr>
            <a:spLocks noGrp="1"/>
          </p:cNvSpPr>
          <p:nvPr>
            <p:ph idx="1"/>
          </p:nvPr>
        </p:nvSpPr>
        <p:spPr>
          <a:xfrm>
            <a:off x="319251" y="700000"/>
            <a:ext cx="6014545" cy="2350000"/>
          </a:xfrm>
        </p:spPr>
        <p:txBody>
          <a:bodyPr wrap="square">
            <a:normAutofit lnSpcReduction="10000"/>
          </a:bodyPr>
          <a:lstStyle/>
          <a:p>
            <a:pPr marL="0" indent="0">
              <a:buNone/>
            </a:pPr>
            <a:r>
              <a:rPr sz="1400" b="1" dirty="0">
                <a:solidFill>
                  <a:srgbClr val="28285E"/>
                </a:solidFill>
              </a:rPr>
              <a:t>Unless the runtime owns that field, the model will supply it itself:</a:t>
            </a:r>
          </a:p>
          <a:p>
            <a:pPr marL="400050" indent="-285750">
              <a:spcBef>
                <a:spcPts val="600"/>
              </a:spcBef>
              <a:spcAft>
                <a:spcPts val="600"/>
              </a:spcAft>
              <a:buClr>
                <a:srgbClr val="28285E"/>
              </a:buClr>
              <a:buSzPts val="1260"/>
              <a:buFont typeface="Fira Sans"/>
              <a:buChar char="●"/>
            </a:pPr>
            <a:r>
              <a:rPr sz="1400" b="1" dirty="0">
                <a:solidFill>
                  <a:schemeClr val="tx1"/>
                </a:solidFill>
              </a:rPr>
              <a:t>Soliloquizing. </a:t>
            </a:r>
            <a:r>
              <a:rPr sz="1400" dirty="0">
                <a:solidFill>
                  <a:schemeClr val="tx1"/>
                </a:solidFill>
              </a:rPr>
              <a:t>The model emits a thought, an action and a fabricated observation, without touching the environment.</a:t>
            </a:r>
          </a:p>
          <a:p>
            <a:pPr marL="400050" indent="-285750">
              <a:spcBef>
                <a:spcPts val="600"/>
              </a:spcBef>
              <a:spcAft>
                <a:spcPts val="600"/>
              </a:spcAft>
              <a:buClr>
                <a:srgbClr val="28285E"/>
              </a:buClr>
              <a:buSzPts val="1260"/>
              <a:buFont typeface="Fira Sans"/>
              <a:buChar char="●"/>
            </a:pPr>
            <a:r>
              <a:rPr sz="1400" b="1" dirty="0">
                <a:solidFill>
                  <a:schemeClr val="tx1"/>
                </a:solidFill>
              </a:rPr>
              <a:t>It is not rare. </a:t>
            </a:r>
            <a:r>
              <a:rPr sz="1400" dirty="0">
                <a:solidFill>
                  <a:schemeClr val="tx1"/>
                </a:solidFill>
              </a:rPr>
              <a:t>48.4% and 47.5% of trajectories on two benchmarks with one model, none with two others.</a:t>
            </a:r>
          </a:p>
          <a:p>
            <a:pPr marL="400050" indent="-285750">
              <a:spcBef>
                <a:spcPts val="600"/>
              </a:spcBef>
              <a:spcAft>
                <a:spcPts val="600"/>
              </a:spcAft>
              <a:buClr>
                <a:srgbClr val="28285E"/>
              </a:buClr>
              <a:buSzPts val="1260"/>
              <a:buFont typeface="Fira Sans"/>
              <a:buChar char="●"/>
            </a:pPr>
            <a:r>
              <a:rPr sz="1400" b="1" dirty="0">
                <a:solidFill>
                  <a:schemeClr val="tx1"/>
                </a:solidFill>
              </a:rPr>
              <a:t>It shows up in the wild. </a:t>
            </a:r>
            <a:r>
              <a:rPr sz="1400" dirty="0">
                <a:solidFill>
                  <a:schemeClr val="tx1"/>
                </a:solidFill>
              </a:rPr>
              <a:t>In 20,574 coding-agent sessions, 22.58% of misalignment episodes are the agent misreporting its own work.</a:t>
            </a:r>
          </a:p>
        </p:txBody>
      </p:sp>
      <p:sp>
        <p:nvSpPr>
          <p:cNvPr id="4" name="TextBox 3"/>
          <p:cNvSpPr txBox="1"/>
          <p:nvPr/>
        </p:nvSpPr>
        <p:spPr>
          <a:xfrm>
            <a:off x="2133796" y="3100000"/>
            <a:ext cx="4200000" cy="253916"/>
          </a:xfrm>
          <a:prstGeom prst="rect">
            <a:avLst/>
          </a:prstGeom>
          <a:noFill/>
        </p:spPr>
        <p:txBody>
          <a:bodyPr wrap="none">
            <a:spAutoFit/>
          </a:bodyPr>
          <a:lstStyle/>
          <a:p>
            <a:pPr algn="r"/>
            <a:r>
              <a:rPr sz="1050" i="1" dirty="0">
                <a:solidFill>
                  <a:schemeClr val="bg2"/>
                </a:solidFill>
              </a:rPr>
              <a:t>Abramovich et al., </a:t>
            </a:r>
            <a:r>
              <a:rPr sz="1050" i="1" dirty="0" err="1">
                <a:solidFill>
                  <a:schemeClr val="bg2"/>
                </a:solidFill>
              </a:rPr>
              <a:t>EnIGMA</a:t>
            </a:r>
            <a:r>
              <a:rPr sz="1050" i="1" dirty="0">
                <a:solidFill>
                  <a:schemeClr val="bg2"/>
                </a:solidFill>
              </a:rPr>
              <a:t>, Table 4;  Tang et al., Table 3</a:t>
            </a:r>
          </a:p>
        </p:txBody>
      </p:sp>
      <p:sp>
        <p:nvSpPr>
          <p:cNvPr id="5" name="Rectangle 4"/>
          <p:cNvSpPr/>
          <p:nvPr/>
        </p:nvSpPr>
        <p:spPr>
          <a:xfrm>
            <a:off x="319251" y="352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 model that writes its own observations is not acting to see. </a:t>
            </a:r>
            <a:r>
              <a:rPr sz="1400" b="1">
                <a:solidFill>
                  <a:schemeClr val="tx2"/>
                </a:solidFill>
              </a:rPr>
              <a:t>It is reasoning with extra steps</a:t>
            </a:r>
            <a:r>
              <a:rPr sz="1400">
                <a:solidFill>
                  <a:schemeClr val="tx2"/>
                </a:solidFill>
              </a:rPr>
              <a:t>.</a:t>
            </a:r>
          </a:p>
        </p:txBody>
      </p:sp>
      <p:sp>
        <p:nvSpPr>
          <p:cNvPr id="6" name="Rectangle 5"/>
          <p:cNvSpPr/>
          <p:nvPr/>
        </p:nvSpPr>
        <p:spPr>
          <a:xfrm>
            <a:off x="319251" y="433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In the demo an observation is only ever built inside the dispatcher.</a:t>
            </a:r>
          </a:p>
        </p:txBody>
      </p:sp>
    </p:spTree>
  </p:cSld>
  <p:clrMapOvr>
    <a:masterClrMapping/>
  </p:clrMapOvr>
  <p:extLst>
    <p:ext uri="{6950BFC3-D8DA-4A85-94F7-54DA5524770B}">
      <p188:commentRel xmlns:p188="http://schemas.microsoft.com/office/powerpoint/2018/8/main" r:id="rId3"/>
    </p:ext>
  </p:extLst>
</p:sld>
</file>

<file path=ppt/slides/slide4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dirty="0"/>
              <a:t>Some samples from our run</a:t>
            </a:r>
            <a:endParaRPr dirty="0"/>
          </a:p>
        </p:txBody>
      </p:sp>
      <p:graphicFrame>
        <p:nvGraphicFramePr>
          <p:cNvPr id="3" name="Table 2"/>
          <p:cNvGraphicFramePr>
            <a:graphicFrameLocks noGrp="1"/>
          </p:cNvGraphicFramePr>
          <p:nvPr>
            <p:extLst>
              <p:ext uri="{D42A27DB-BD31-4B8C-83A1-F6EECF244321}">
                <p14:modId xmlns:p14="http://schemas.microsoft.com/office/powerpoint/2010/main" val="1992232855"/>
              </p:ext>
            </p:extLst>
          </p:nvPr>
        </p:nvGraphicFramePr>
        <p:xfrm>
          <a:off x="319251" y="1050000"/>
          <a:ext cx="6014545" cy="1351560"/>
        </p:xfrm>
        <a:graphic>
          <a:graphicData uri="http://schemas.openxmlformats.org/drawingml/2006/table">
            <a:tbl>
              <a:tblPr>
                <a:tableStyleId>{2D5ABB26-0587-4C30-8999-92F81FD0307C}</a:tableStyleId>
              </a:tblPr>
              <a:tblGrid>
                <a:gridCol w="700000">
                  <a:extLst>
                    <a:ext uri="{9D8B030D-6E8A-4147-A177-3AD203B41FA5}">
                      <a16:colId xmlns:a16="http://schemas.microsoft.com/office/drawing/2014/main" val="20000"/>
                    </a:ext>
                  </a:extLst>
                </a:gridCol>
                <a:gridCol w="2700000">
                  <a:extLst>
                    <a:ext uri="{9D8B030D-6E8A-4147-A177-3AD203B41FA5}">
                      <a16:colId xmlns:a16="http://schemas.microsoft.com/office/drawing/2014/main" val="20001"/>
                    </a:ext>
                  </a:extLst>
                </a:gridCol>
                <a:gridCol w="2614545">
                  <a:extLst>
                    <a:ext uri="{9D8B030D-6E8A-4147-A177-3AD203B41FA5}">
                      <a16:colId xmlns:a16="http://schemas.microsoft.com/office/drawing/2014/main" val="20002"/>
                    </a:ext>
                  </a:extLst>
                </a:gridCol>
              </a:tblGrid>
              <a:tr h="300000">
                <a:tc>
                  <a:txBody>
                    <a:bodyPr/>
                    <a:lstStyle/>
                    <a:p>
                      <a:pPr algn="l">
                        <a:buNone/>
                      </a:pPr>
                      <a:r>
                        <a:rPr sz="1100" b="1">
                          <a:solidFill>
                            <a:schemeClr val="tx1"/>
                          </a:solidFill>
                        </a:rPr>
                        <a:t>Turn</a:t>
                      </a:r>
                    </a:p>
                  </a:txBody>
                  <a:tcPr marL="95250" marR="95250" marT="47625" marB="47625">
                    <a:lnB w="12700" cap="flat" cmpd="sng" algn="ctr">
                      <a:solidFill>
                        <a:schemeClr val="tx1"/>
                      </a:solidFill>
                    </a:lnB>
                    <a:noFill/>
                  </a:tcPr>
                </a:tc>
                <a:tc>
                  <a:txBody>
                    <a:bodyPr/>
                    <a:lstStyle/>
                    <a:p>
                      <a:pPr algn="l">
                        <a:buNone/>
                      </a:pPr>
                      <a:r>
                        <a:rPr sz="1100" b="1" dirty="0">
                          <a:solidFill>
                            <a:schemeClr val="tx1"/>
                          </a:solidFill>
                        </a:rPr>
                        <a:t>The model decided</a:t>
                      </a:r>
                    </a:p>
                  </a:txBody>
                  <a:tcPr marL="95250" marR="95250" marT="47625" marB="47625">
                    <a:lnB w="12700" cap="flat" cmpd="sng" algn="ctr">
                      <a:solidFill>
                        <a:schemeClr val="tx1"/>
                      </a:solidFill>
                    </a:lnB>
                    <a:noFill/>
                  </a:tcPr>
                </a:tc>
                <a:tc>
                  <a:txBody>
                    <a:bodyPr/>
                    <a:lstStyle/>
                    <a:p>
                      <a:pPr algn="l">
                        <a:buNone/>
                      </a:pPr>
                      <a:r>
                        <a:rPr sz="1100" b="1">
                          <a:solidFill>
                            <a:schemeClr val="tx1"/>
                          </a:solidFill>
                        </a:rPr>
                        <a:t>What came back</a:t>
                      </a:r>
                    </a:p>
                  </a:txBody>
                  <a:tcPr marL="95250" marR="95250" marT="47625" marB="47625">
                    <a:lnB w="12700" cap="flat" cmpd="sng" algn="ctr">
                      <a:solidFill>
                        <a:schemeClr val="tx1"/>
                      </a:solidFill>
                    </a:lnB>
                    <a:noFill/>
                  </a:tcPr>
                </a:tc>
                <a:extLst>
                  <a:ext uri="{0D108BD9-81ED-4DB2-BD59-A6C34878D82A}">
                    <a16:rowId xmlns:a16="http://schemas.microsoft.com/office/drawing/2014/main" val="10000"/>
                  </a:ext>
                </a:extLst>
              </a:tr>
              <a:tr h="0">
                <a:tc>
                  <a:txBody>
                    <a:bodyPr/>
                    <a:lstStyle/>
                    <a:p>
                      <a:pPr algn="l">
                        <a:buNone/>
                      </a:pPr>
                      <a:r>
                        <a:rPr sz="1100" b="1">
                          <a:solidFill>
                            <a:srgbClr val="28285E"/>
                          </a:solidFill>
                        </a:rPr>
                        <a:t>1</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accent4"/>
                          </a:solidFill>
                          <a:latin typeface="Maple Mono NF" panose="020F0509060000000000" pitchFamily="49" charset="0"/>
                          <a:ea typeface="Maple Mono NF" panose="020F0509060000000000" pitchFamily="49" charset="0"/>
                        </a:rPr>
                        <a:t>read_file</a:t>
                      </a:r>
                      <a:r>
                        <a:rPr sz="1100" dirty="0">
                          <a:solidFill>
                            <a:schemeClr val="tx1"/>
                          </a:solidFill>
                        </a:rPr>
                        <a:t>, the flagged region</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file around line 46</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1"/>
                  </a:ext>
                </a:extLst>
              </a:tr>
              <a:tr h="0">
                <a:tc>
                  <a:txBody>
                    <a:bodyPr/>
                    <a:lstStyle/>
                    <a:p>
                      <a:pPr algn="l">
                        <a:buNone/>
                      </a:pPr>
                      <a:r>
                        <a:rPr sz="1100" b="1">
                          <a:solidFill>
                            <a:srgbClr val="28285E"/>
                          </a:solidFill>
                        </a:rPr>
                        <a:t>2</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read_file, helpers/db_sqlite.py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helper's source</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2"/>
                  </a:ext>
                </a:extLst>
              </a:tr>
              <a:tr h="0">
                <a:tc>
                  <a:txBody>
                    <a:bodyPr/>
                    <a:lstStyle/>
                    <a:p>
                      <a:pPr algn="l">
                        <a:buNone/>
                      </a:pPr>
                      <a:r>
                        <a:rPr sz="1100" b="1">
                          <a:solidFill>
                            <a:srgbClr val="28285E"/>
                          </a:solidFill>
                        </a:rPr>
                        <a:t>3</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edit, a parameterized query</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the edit applied</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3"/>
                  </a:ext>
                </a:extLst>
              </a:tr>
              <a:tr h="0">
                <a:tc>
                  <a:txBody>
                    <a:bodyPr/>
                    <a:lstStyle/>
                    <a:p>
                      <a:pPr algn="l">
                        <a:buNone/>
                      </a:pPr>
                      <a:r>
                        <a:rPr sz="1100" b="1">
                          <a:solidFill>
                            <a:srgbClr val="28285E"/>
                          </a:solidFill>
                        </a:rPr>
                        <a:t>4</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a:solidFill>
                            <a:schemeClr val="tx1"/>
                          </a:solidFill>
                        </a:rPr>
                        <a:t>no tool call</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tc>
                  <a:txBody>
                    <a:bodyPr/>
                    <a:lstStyle/>
                    <a:p>
                      <a:pPr algn="l">
                        <a:buNone/>
                      </a:pPr>
                      <a:r>
                        <a:rPr sz="1100" dirty="0">
                          <a:solidFill>
                            <a:schemeClr val="tx1"/>
                          </a:solidFill>
                        </a:rPr>
                        <a:t>submit, and three checks</a:t>
                      </a:r>
                    </a:p>
                  </a:txBody>
                  <a:tcPr marL="95250" marR="95250" marT="47625" marB="47625">
                    <a:lnT w="12700" cap="flat" cmpd="sng" algn="ctr">
                      <a:solidFill>
                        <a:schemeClr val="tx1"/>
                      </a:solidFill>
                      <a:prstDash val="solid"/>
                      <a:round/>
                      <a:headEnd type="none" w="med" len="med"/>
                      <a:tailEnd type="none" w="med" len="med"/>
                    </a:lnT>
                    <a:lnB w="12700" cap="flat" cmpd="sng" algn="ctr">
                      <a:solidFill>
                        <a:schemeClr val="tx1"/>
                      </a:solidFill>
                    </a:lnB>
                    <a:noFill/>
                  </a:tcPr>
                </a:tc>
                <a:extLst>
                  <a:ext uri="{0D108BD9-81ED-4DB2-BD59-A6C34878D82A}">
                    <a16:rowId xmlns:a16="http://schemas.microsoft.com/office/drawing/2014/main" val="10004"/>
                  </a:ext>
                </a:extLst>
              </a:tr>
            </a:tbl>
          </a:graphicData>
        </a:graphic>
      </p:graphicFrame>
      <p:sp>
        <p:nvSpPr>
          <p:cNvPr id="4" name="Rectangle 3"/>
          <p:cNvSpPr/>
          <p:nvPr/>
        </p:nvSpPr>
        <p:spPr>
          <a:xfrm>
            <a:off x="319251" y="2900000"/>
            <a:ext cx="6014545" cy="610801"/>
          </a:xfrm>
          <a:prstGeom prst="rect">
            <a:avLst/>
          </a:prstGeom>
          <a:solidFill>
            <a:srgbClr val="28285E"/>
          </a:solid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82880" rIns="182880" rtlCol="0" anchor="ctr"/>
          <a:lstStyle/>
          <a:p>
            <a:pPr algn="just">
              <a:lnSpc>
                <a:spcPct val="114000"/>
              </a:lnSpc>
            </a:pPr>
            <a:r>
              <a:rPr sz="1400">
                <a:solidFill>
                  <a:schemeClr val="tx2"/>
                </a:solidFill>
              </a:rPr>
              <a:t>Accepted. Four model calls against a budget of forty, </a:t>
            </a:r>
            <a:r>
              <a:rPr sz="1400" b="1">
                <a:solidFill>
                  <a:schemeClr val="tx2"/>
                </a:solidFill>
              </a:rPr>
              <a:t>and the model chose four of the five edges</a:t>
            </a:r>
            <a:r>
              <a:rPr sz="1400">
                <a:solidFill>
                  <a:schemeClr val="tx2"/>
                </a:solidFill>
              </a:rPr>
              <a:t>.</a:t>
            </a:r>
          </a:p>
        </p:txBody>
      </p:sp>
      <p:sp>
        <p:nvSpPr>
          <p:cNvPr id="5" name="Rectangle 4"/>
          <p:cNvSpPr/>
          <p:nvPr/>
        </p:nvSpPr>
        <p:spPr>
          <a:xfrm>
            <a:off x="319251" y="3720000"/>
            <a:ext cx="6014545" cy="430000"/>
          </a:xfrm>
          <a:prstGeom prst="rect">
            <a:avLst/>
          </a:prstGeom>
          <a:noFill/>
          <a:ln>
            <a:solidFill>
              <a:srgbClr val="28285E"/>
            </a:solidFill>
          </a:ln>
          <a:effectLst/>
        </p:spPr>
        <p:style>
          <a:lnRef idx="1">
            <a:schemeClr val="accent1"/>
          </a:lnRef>
          <a:fillRef idx="3">
            <a:schemeClr val="accent1"/>
          </a:fillRef>
          <a:effectRef idx="2">
            <a:schemeClr val="accent1"/>
          </a:effectRef>
          <a:fontRef idx="minor">
            <a:schemeClr val="lt1"/>
          </a:fontRef>
        </p:style>
        <p:txBody>
          <a:bodyPr wrap="square" lIns="137160" rIns="137160" rtlCol="0" anchor="ctr"/>
          <a:lstStyle/>
          <a:p>
            <a:pPr algn="ctr"/>
            <a:r>
              <a:rPr sz="1200" b="1">
                <a:solidFill>
                  <a:srgbClr val="28285E"/>
                </a:solidFill>
              </a:rPr>
              <a:t>6,955 input tokens and 443 output. Counted apart, never summed.</a:t>
            </a:r>
          </a:p>
        </p:txBody>
      </p:sp>
      <p:sp>
        <p:nvSpPr>
          <p:cNvPr id="6" name="TextBox 5"/>
          <p:cNvSpPr txBox="1"/>
          <p:nvPr/>
        </p:nvSpPr>
        <p:spPr>
          <a:xfrm>
            <a:off x="933796" y="4230000"/>
            <a:ext cx="5400000" cy="253916"/>
          </a:xfrm>
          <a:prstGeom prst="rect">
            <a:avLst/>
          </a:prstGeom>
          <a:noFill/>
        </p:spPr>
        <p:txBody>
          <a:bodyPr wrap="none">
            <a:spAutoFit/>
          </a:bodyPr>
          <a:lstStyle/>
          <a:p>
            <a:pPr algn="r"/>
            <a:r>
              <a:rPr sz="1050" i="1">
                <a:solidFill>
                  <a:schemeClr val="bg2"/>
                </a:solidFill>
              </a:rPr>
              <a:t>demo/runs/v1-bc284c6b.jsonl  —  bandit B608, BenchmarkTest00283.py:46</a:t>
            </a:r>
          </a:p>
        </p:txBody>
      </p:sp>
    </p:spTree>
  </p:cSld>
  <p:clrMapOvr>
    <a:masterClrMapping/>
  </p:clrMapOvr>
</p:sld>
</file>

<file path=ppt/theme/theme1.xml><?xml version="1.0" encoding="utf-8"?>
<a:theme xmlns:a="http://schemas.openxmlformats.org/drawingml/2006/main" name="Simple Light">
  <a:themeElements>
    <a:clrScheme name="Columbia University">
      <a:dk1>
        <a:srgbClr val="000000"/>
      </a:dk1>
      <a:lt1>
        <a:srgbClr val="FFFFFF"/>
      </a:lt1>
      <a:dk2>
        <a:srgbClr val="28285E"/>
      </a:dk2>
      <a:lt2>
        <a:srgbClr val="E8E8E8"/>
      </a:lt2>
      <a:accent1>
        <a:srgbClr val="28285D"/>
      </a:accent1>
      <a:accent2>
        <a:srgbClr val="348EDC"/>
      </a:accent2>
      <a:accent3>
        <a:srgbClr val="099191"/>
      </a:accent3>
      <a:accent4>
        <a:srgbClr val="C73561"/>
      </a:accent4>
      <a:accent5>
        <a:srgbClr val="772482"/>
      </a:accent5>
      <a:accent6>
        <a:srgbClr val="EDB15D"/>
      </a:accent6>
      <a:hlink>
        <a:srgbClr val="467886"/>
      </a:hlink>
      <a:folHlink>
        <a:srgbClr val="96607D"/>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txDef>
      <a:spPr>
        <a:noFill/>
      </a:spPr>
      <a:bodyPr wrap="none" rtlCol="0">
        <a:spAutoFit/>
      </a:bodyPr>
      <a:lstStyle>
        <a:defPPr algn="l">
          <a:defRPr dirty="0">
            <a:latin typeface="+mn-lt"/>
          </a:defRPr>
        </a:defPPr>
      </a:lstStyle>
    </a:txDef>
  </a:objectDefaults>
  <a:extraClrSchemeLst/>
</a:theme>
</file>

<file path=ppt/theme/theme2.xml><?xml version="1.0" encoding="utf-8"?>
<a:theme xmlns:a="http://schemas.openxmlformats.org/drawingml/2006/main">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Fira Sans"/>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Fira Sans"/>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2981</TotalTime>
  <Words>8945</Words>
  <Application>Microsoft Macintosh PowerPoint</Application>
  <PresentationFormat>Custom</PresentationFormat>
  <Paragraphs>565</Paragraphs>
  <Slides>49</Slides>
  <Notes>40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49</vt:i4>
      </vt:variant>
    </vt:vector>
  </HeadingPairs>
  <TitlesOfParts>
    <vt:vector size="54" baseType="lpstr">
      <vt:lpstr>Arial</vt:lpstr>
      <vt:lpstr>Maple Mono NF</vt:lpstr>
      <vt:lpstr>Fira Sans Light</vt:lpstr>
      <vt:lpstr>Fira Sans</vt:lpstr>
      <vt:lpstr>Simple Light</vt:lpstr>
      <vt:lpstr>Designing Production Agentic Systems</vt:lpstr>
      <vt:lpstr>PowerPoint Presentation</vt:lpstr>
      <vt:lpstr>About the Instructors</vt:lpstr>
      <vt:lpstr>The key question that motivates this course</vt:lpstr>
      <vt:lpstr>What I hope you will learn…</vt:lpstr>
      <vt:lpstr>What I hope you will learn…</vt:lpstr>
      <vt:lpstr>Homework, Grades, and Exams</vt:lpstr>
      <vt:lpstr>Homework, Grades, and Exams</vt:lpstr>
      <vt:lpstr>PowerPoint Presentation</vt:lpstr>
      <vt:lpstr>PowerPoint Presentation</vt:lpstr>
      <vt:lpstr>Rational agents</vt:lpstr>
      <vt:lpstr>A demo agent: mini-swe-agent</vt:lpstr>
      <vt:lpstr>One alert, one run, one patch</vt:lpstr>
      <vt:lpstr>Why this is a rational agent</vt:lpstr>
      <vt:lpstr>When it is not</vt:lpstr>
      <vt:lpstr>The task environment</vt:lpstr>
      <vt:lpstr>Fully or partially observable</vt:lpstr>
      <vt:lpstr>Single agent or multiagent</vt:lpstr>
      <vt:lpstr>Deterministic or nondeterministic</vt:lpstr>
      <vt:lpstr>Episodic or sequential</vt:lpstr>
      <vt:lpstr>Static or dynamic</vt:lpstr>
      <vt:lpstr>Discrete or continuous</vt:lpstr>
      <vt:lpstr>Known or unknown</vt:lpstr>
      <vt:lpstr>The agent, its tools, and its environment</vt:lpstr>
      <vt:lpstr>The rest of this lecture</vt:lpstr>
      <vt:lpstr>PowerPoint Presentation</vt:lpstr>
      <vt:lpstr>A fixed workflow</vt:lpstr>
      <vt:lpstr>Understanding design decision points</vt:lpstr>
      <vt:lpstr>Understanding design decision points</vt:lpstr>
      <vt:lpstr>What the fixed shape buys</vt:lpstr>
      <vt:lpstr>What the fixed shape buys</vt:lpstr>
      <vt:lpstr>Fixed parts and open parts</vt:lpstr>
      <vt:lpstr>What the fixed shape costs</vt:lpstr>
      <vt:lpstr>Agentless, one realization</vt:lpstr>
      <vt:lpstr>Agentless and SWE-agent</vt:lpstr>
      <vt:lpstr>Grains of salt</vt:lpstr>
      <vt:lpstr>PowerPoint Presentation</vt:lpstr>
      <vt:lpstr>A reactive loop</vt:lpstr>
      <vt:lpstr>The graph our first the demo compiles</vt:lpstr>
      <vt:lpstr>The same graph, in code</vt:lpstr>
      <vt:lpstr>Who picks the edge</vt:lpstr>
      <vt:lpstr>One row moves</vt:lpstr>
      <vt:lpstr>What the loop buys</vt:lpstr>
      <vt:lpstr>What it costs</vt:lpstr>
      <vt:lpstr>Where the failures live</vt:lpstr>
      <vt:lpstr>Three shapes of failure</vt:lpstr>
      <vt:lpstr>The stops are ours</vt:lpstr>
      <vt:lpstr>Who writes the observation</vt:lpstr>
      <vt:lpstr>Some samples from our run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cp:lastModifiedBy>Rahul Krishna</cp:lastModifiedBy>
  <cp:revision>84</cp:revision>
  <dcterms:modified xsi:type="dcterms:W3CDTF">2026-09-18T00:34:12Z</dcterms:modified>
</cp:coreProperties>
</file>
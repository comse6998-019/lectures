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4"/>
  </p:notesMasterIdLst>
  <p:sldIdLst>
    <p:sldId id="256" r:id="rId2"/>
    <p:sldId id="332" r:id="rId3"/>
    <p:sldId id="259" r:id="rId4"/>
    <p:sldId id="418" r:id="rId5"/>
    <p:sldId id="266" r:id="rId6"/>
    <p:sldId id="334" r:id="rId7"/>
    <p:sldId id="333" r:id="rId8"/>
    <p:sldId id="288" r:id="rId9"/>
    <p:sldId id="336" r:id="rId10"/>
    <p:sldId id="335"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 id="384" r:id="rId56"/>
    <p:sldId id="383" r:id="rId57"/>
    <p:sldId id="399" r:id="rId58"/>
    <p:sldId id="385" r:id="rId59"/>
    <p:sldId id="386" r:id="rId60"/>
    <p:sldId id="387" r:id="rId61"/>
    <p:sldId id="388" r:id="rId62"/>
    <p:sldId id="389" r:id="rId63"/>
    <p:sldId id="390" r:id="rId64"/>
    <p:sldId id="391" r:id="rId65"/>
    <p:sldId id="398" r:id="rId66"/>
    <p:sldId id="392" r:id="rId67"/>
    <p:sldId id="393" r:id="rId68"/>
    <p:sldId id="394" r:id="rId69"/>
    <p:sldId id="395" r:id="rId70"/>
    <p:sldId id="396" r:id="rId71"/>
    <p:sldId id="432" r:id="rId72"/>
    <p:sldId id="409" r:id="rId73"/>
    <p:sldId id="401" r:id="rId74"/>
    <p:sldId id="402" r:id="rId75"/>
    <p:sldId id="403" r:id="rId76"/>
    <p:sldId id="404" r:id="rId77"/>
    <p:sldId id="405" r:id="rId78"/>
    <p:sldId id="406" r:id="rId79"/>
    <p:sldId id="407" r:id="rId80"/>
    <p:sldId id="408" r:id="rId81"/>
    <p:sldId id="410" r:id="rId82"/>
    <p:sldId id="411" r:id="rId83"/>
    <p:sldId id="412" r:id="rId84"/>
    <p:sldId id="413" r:id="rId85"/>
    <p:sldId id="414" r:id="rId86"/>
    <p:sldId id="415" r:id="rId87"/>
    <p:sldId id="416" r:id="rId88"/>
    <p:sldId id="417" r:id="rId89"/>
    <p:sldId id="419" r:id="rId90"/>
    <p:sldId id="433" r:id="rId91"/>
    <p:sldId id="420" r:id="rId92"/>
    <p:sldId id="421" r:id="rId93"/>
    <p:sldId id="422" r:id="rId94"/>
    <p:sldId id="423" r:id="rId95"/>
    <p:sldId id="424" r:id="rId96"/>
    <p:sldId id="425" r:id="rId97"/>
    <p:sldId id="426" r:id="rId98"/>
    <p:sldId id="427" r:id="rId99"/>
    <p:sldId id="428" r:id="rId100"/>
    <p:sldId id="429" r:id="rId101"/>
    <p:sldId id="430" r:id="rId102"/>
    <p:sldId id="431" r:id="rId103"/>
  </p:sldIdLst>
  <p:sldSz cx="6858000" cy="5143500"/>
  <p:notesSz cx="6858000" cy="9144000"/>
  <p:embeddedFontLst>
    <p:embeddedFont>
      <p:font typeface="Fira Sans" panose="020B0503050000020004" pitchFamily="34" charset="0"/>
      <p:regular r:id="rId105"/>
      <p:bold r:id="rId106"/>
      <p:italic r:id="rId107"/>
      <p:boldItalic r:id="rId108"/>
    </p:embeddedFont>
    <p:embeddedFont>
      <p:font typeface="Fira Sans Light" panose="020B0403050000020004" pitchFamily="34" charset="0"/>
      <p:regular r:id="rId109"/>
      <p:italic r:id="rId110"/>
    </p:embeddedFont>
    <p:embeddedFont>
      <p:font typeface="Maple Mono NF" panose="020F0509060000000000" pitchFamily="49" charset="0"/>
      <p:regular r:id="rId111"/>
      <p:bold r:id="rId112"/>
      <p:italic r:id="rId113"/>
      <p:boldItalic r:id="rId1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418"/>
            <p14:sldId id="266"/>
            <p14:sldId id="334"/>
            <p14:sldId id="333"/>
            <p14:sldId id="288"/>
            <p14:sldId id="336"/>
            <p14:sldId id="335"/>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 id="384"/>
            <p14:sldId id="383"/>
            <p14:sldId id="399"/>
            <p14:sldId id="385"/>
            <p14:sldId id="386"/>
            <p14:sldId id="387"/>
            <p14:sldId id="388"/>
            <p14:sldId id="389"/>
            <p14:sldId id="390"/>
            <p14:sldId id="391"/>
            <p14:sldId id="398"/>
            <p14:sldId id="392"/>
            <p14:sldId id="393"/>
            <p14:sldId id="394"/>
            <p14:sldId id="395"/>
            <p14:sldId id="396"/>
            <p14:sldId id="432"/>
            <p14:sldId id="409"/>
            <p14:sldId id="401"/>
            <p14:sldId id="402"/>
            <p14:sldId id="403"/>
            <p14:sldId id="404"/>
            <p14:sldId id="405"/>
            <p14:sldId id="406"/>
            <p14:sldId id="407"/>
            <p14:sldId id="408"/>
            <p14:sldId id="410"/>
            <p14:sldId id="411"/>
            <p14:sldId id="412"/>
            <p14:sldId id="413"/>
            <p14:sldId id="414"/>
            <p14:sldId id="415"/>
            <p14:sldId id="416"/>
            <p14:sldId id="417"/>
            <p14:sldId id="419"/>
            <p14:sldId id="433"/>
            <p14:sldId id="420"/>
            <p14:sldId id="421"/>
            <p14:sldId id="422"/>
            <p14:sldId id="423"/>
            <p14:sldId id="424"/>
            <p14:sldId id="425"/>
            <p14:sldId id="426"/>
            <p14:sldId id="427"/>
            <p14:sldId id="428"/>
            <p14:sldId id="429"/>
            <p14:sldId id="430"/>
            <p14:sldId id="431"/>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71"/>
    <p:restoredTop sz="98401"/>
  </p:normalViewPr>
  <p:slideViewPr>
    <p:cSldViewPr snapToGrid="0">
      <p:cViewPr varScale="1">
        <p:scale>
          <a:sx n="346" d="100"/>
          <a:sy n="346" d="100"/>
        </p:scale>
        <p:origin x="168" y="36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8.fntdata"/><Relationship Id="rId16" Type="http://schemas.openxmlformats.org/officeDocument/2006/relationships/slide" Target="slides/slide15.xml"/><Relationship Id="rId107" Type="http://schemas.openxmlformats.org/officeDocument/2006/relationships/font" Target="fonts/font3.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9.fntdata"/><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4.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0.fntdata"/><Relationship Id="rId119"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5.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6.fntdata"/><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7.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model nodes now: plan, controller, validate. The two solid edges are the only unconditional ones in the file; every dashed edge is an add_conditional_edges call. The curve from tools back to plan is the one the reactive loop did not have.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8EC58-9F04-6ACE-903F-46783046F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6523C-A3C3-9677-F335-56442777DD2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639F249E-496A-6228-5EFD-0FBC8D31A302}"/>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916507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inside one agent.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at several levels.</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no central orchestrator.</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checkpoints.</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code the team writes.</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row of the axes table, across the four patterns the block discusses. The question behind every row is the same one the whole block has asked: does a model orchestrate, or does predefined logic?</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Part A asked which decisions we fix at design time. Part B is the machinery that carries a decision from one step to the next: the record the runtime keeps, the code that reads it to choose the next node or to stop, and the boundary where a requested action becomes an executed one.</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t>Part A asked which decisions we fix at design time. Part B is the machinery that carries a decision from one step to the next: the record the runtime keeps, the code that reads it to choose the next node or to stop, and the boundary where a requested action becomes an executed one.</a:t>
            </a:r>
          </a:p>
        </p:txBody>
      </p:sp>
    </p:spTree>
    <p:extLst>
      <p:ext uri="{BB962C8B-B14F-4D97-AF65-F5344CB8AC3E}">
        <p14:creationId xmlns:p14="http://schemas.microsoft.com/office/powerpoint/2010/main" val="405806231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picture we drew for each version says where control is allowed to go. It says nothing about what moves along the edges. What moves is one record, and every mechanism in the rest of Part B is defined over it. Our controller returns three keys out of the loop's ten.</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operations, not one. The node reads the current state together with a result that arrived from outside the program, and it returns a partial update. The runtime then merges that update key by key. Each reducer takes two arguments: the value already in state on the left, the value the node returned on the right. A node can be written without knowing which of the two its contribution will be.</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term that makes the transition honest. Section 1 called the environment nondeterministic; here is where that shows up in the code. Same state, same node, different successor, and nothing has misbehaved.</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two are easy to confuse because most of their content overlaps. The model sees what it needs for the current call. The runtime also tracks counters and other fields used to control execution. Durability: kill the process mid-run and start again, and for the loop as it stands the agent knows nothing. Checkpointers are a later unit; what the record has to carry here is the run, not the restart.</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clearest case of a field that stays behind. We want the check to be a comparison in the controller rather than an instruction in a prompt. Ask the room what happens if you put the budget in the system prompt instead: which record would you inspect to tell the two designs apart?</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Atomic, factored, structured is the AIMA axis. The number a benchmark reports is a count of atomic labels. Structure is confined to the two values where the model has to defend its work: the patch it proposes and the rejection it gets back.</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what state.py declares today, and what the loop populates. Ten keys. Walk the reducer column rather than the description: it is the column that decides what a later step can see.</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Below the rule are the fields the later versions add. Each arrives with the node that fills it, so a version's diff shows one change rather than a field that was always waiting. These four are designed and not yet built, which is what the colour marks throughout Part B.</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TypedDict returns an ordinary dictionary at run time. Its types cannot be used in isinstance tests. So a model reply that puts a string where the schema declares an integer produces a state that type-checks in the editor and is wrong in the run. Section 8 is where the check that catches it lives.</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of the three answers a question about visibility rather than about storage. The stall check needs append: it compares the last three observations, which is a question no replaced field could answer. And a single usage total cannot tell you whether cache reads rose while fresh input fell.</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one to slow down on. The next attempt is supposed to begin free of the reasoning that failed, and returning an empty list does not do it. The runtime has to assign the field explicitly, and it records that assignment in the trace as a state change. Identity, reflections and the counters survive the reset by design: an attempt limit enforced on a counter that resets with the attempt is not a limit at all.</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From runs/v1-bc284c6b.jsonl, steps 3 and 4. Three things to hold on to. The node named two keys and the record has ten, so the counters advanced only where a node said so. The stored observation keeps the arguments and the ok flag alongside the text, and routing and accounting read those fields rather than the prose. And model_calls stood at one throughout and was never shown, which is how a budget stays a runtime control. The trace is a fourth record, and it is what section 7 rests 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3F8-7484-4BE9-6F60-620E4EBF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D5227-9675-6C47-825A-AA229D3AF476}"/>
              </a:ext>
            </a:extLst>
          </p:cNvPr>
          <p:cNvSpPr>
            <a:spLocks noGrp="1"/>
          </p:cNvSpPr>
          <p:nvPr>
            <p:ph type="title"/>
          </p:nvPr>
        </p:nvSpPr>
        <p:spPr/>
        <p:txBody>
          <a:bodyPr/>
          <a:lstStyle/>
          <a:p>
            <a:r>
              <a:rPr lang="en-US" dirty="0"/>
              <a:t>Class Notifications</a:t>
            </a:r>
          </a:p>
        </p:txBody>
      </p:sp>
      <p:sp>
        <p:nvSpPr>
          <p:cNvPr id="6" name="Content Placeholder 5">
            <a:extLst>
              <a:ext uri="{FF2B5EF4-FFF2-40B4-BE49-F238E27FC236}">
                <a16:creationId xmlns:a16="http://schemas.microsoft.com/office/drawing/2014/main" id="{B8B12D9A-0C2B-7893-BB3E-BD7D9DD61BD4}"/>
              </a:ext>
            </a:extLst>
          </p:cNvPr>
          <p:cNvSpPr>
            <a:spLocks noGrp="1"/>
          </p:cNvSpPr>
          <p:nvPr>
            <p:ph idx="1"/>
          </p:nvPr>
        </p:nvSpPr>
        <p:spPr>
          <a:xfrm>
            <a:off x="14251" y="630049"/>
            <a:ext cx="6815475" cy="1139994"/>
          </a:xfrm>
        </p:spPr>
        <p:txBody>
          <a:bodyPr/>
          <a:lstStyle/>
          <a:p>
            <a:r>
              <a:rPr lang="en-US" dirty="0"/>
              <a:t>HW1 – released before next class</a:t>
            </a:r>
          </a:p>
          <a:p>
            <a:pPr lvl="1"/>
            <a:r>
              <a:rPr lang="en-US" dirty="0"/>
              <a:t>Procuring API credits for everyone </a:t>
            </a:r>
          </a:p>
          <a:p>
            <a:pPr lvl="1"/>
            <a:r>
              <a:rPr lang="en-US" dirty="0"/>
              <a:t>Assignment groups before next week so I can plan accordingly</a:t>
            </a:r>
          </a:p>
          <a:p>
            <a:r>
              <a:rPr lang="en-US" dirty="0"/>
              <a:t>Vergil registration closes at 9:00 PM tonight</a:t>
            </a:r>
          </a:p>
        </p:txBody>
      </p:sp>
    </p:spTree>
    <p:extLst>
      <p:ext uri="{BB962C8B-B14F-4D97-AF65-F5344CB8AC3E}">
        <p14:creationId xmlns:p14="http://schemas.microsoft.com/office/powerpoint/2010/main" val="61978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01994" cy="461665"/>
          </a:xfrm>
          <a:prstGeom prst="rect">
            <a:avLst/>
          </a:prstGeom>
          <a:noFill/>
        </p:spPr>
        <p:txBody>
          <a:bodyPr wrap="none" rtlCol="0">
            <a:spAutoFit/>
          </a:bodyPr>
          <a:lstStyle/>
          <a:p>
            <a:pPr algn="l"/>
            <a:r>
              <a:rPr lang="en-US" sz="2400" b="1" dirty="0">
                <a:solidFill>
                  <a:schemeClr val="bg2"/>
                </a:solidFill>
                <a:latin typeface="+mn-lt"/>
              </a:rPr>
              <a:t>Before next class</a:t>
            </a:r>
          </a:p>
        </p:txBody>
      </p:sp>
    </p:spTree>
    <p:extLst>
      <p:ext uri="{BB962C8B-B14F-4D97-AF65-F5344CB8AC3E}">
        <p14:creationId xmlns:p14="http://schemas.microsoft.com/office/powerpoint/2010/main" val="2439185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dirty="0">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cxnSp>
        <p:nvCxnSpPr>
          <p:cNvPr id="29" name="Straight Arrow Connector 28">
            <a:extLst>
              <a:ext uri="{FF2B5EF4-FFF2-40B4-BE49-F238E27FC236}">
                <a16:creationId xmlns:a16="http://schemas.microsoft.com/office/drawing/2014/main" id="{4D30E45C-20F4-01FB-A96B-3BAB96908305}"/>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30" name="Oval 29">
            <a:extLst>
              <a:ext uri="{FF2B5EF4-FFF2-40B4-BE49-F238E27FC236}">
                <a16:creationId xmlns:a16="http://schemas.microsoft.com/office/drawing/2014/main" id="{D3DB336D-14C4-B976-92CF-4F188E303E36}"/>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8E9D504-BC77-1850-3361-9E8F1B81C5E7}"/>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CFEADD0-F2AA-BF45-3864-57AABAC83F87}"/>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3F1D939-5A38-5E81-EF18-328EE250C4C5}"/>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677FB2A-C80F-36D1-5DDD-3D13D4269BD3}"/>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35" name="Oval 34">
            <a:extLst>
              <a:ext uri="{FF2B5EF4-FFF2-40B4-BE49-F238E27FC236}">
                <a16:creationId xmlns:a16="http://schemas.microsoft.com/office/drawing/2014/main" id="{4AA2A675-CB4D-E0C9-7B1B-2CF7D1141A6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E022F5F-F596-77D2-8569-C0C0CAF664AA}"/>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37" name="TextBox 36">
            <a:extLst>
              <a:ext uri="{FF2B5EF4-FFF2-40B4-BE49-F238E27FC236}">
                <a16:creationId xmlns:a16="http://schemas.microsoft.com/office/drawing/2014/main" id="{79DBDA61-987E-43AE-8F92-9E6BABE1F11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38" name="TextBox 37">
            <a:extLst>
              <a:ext uri="{FF2B5EF4-FFF2-40B4-BE49-F238E27FC236}">
                <a16:creationId xmlns:a16="http://schemas.microsoft.com/office/drawing/2014/main" id="{472A6A98-9B85-39F5-AEEA-5CFD752D3959}"/>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39" name="TextBox 38">
            <a:extLst>
              <a:ext uri="{FF2B5EF4-FFF2-40B4-BE49-F238E27FC236}">
                <a16:creationId xmlns:a16="http://schemas.microsoft.com/office/drawing/2014/main" id="{5FAD2779-D7EA-E7C8-41B4-1F261801BB9F}"/>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17CA709B-26A2-C11F-7BB1-02C9CCE97AAA}"/>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19D57510-3BF4-4A6F-D910-AF3B93B504B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7F19860-B1A3-1E0E-9B94-B9E5F4F9AEA3}"/>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A7BA86E-9FB2-C1E7-E1BD-CBBCEE766D4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81CB168-A73B-E4BC-85ED-A61DB3D6318F}"/>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1696F36-21A9-28DA-4B61-2FDE363CC12F}"/>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B7E1EA47-85C7-DB70-D19C-7D7DD42673D0}"/>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DD855CB-3BD8-AB7A-F9F9-B73392DAC1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5157FEDE-37BD-66CD-4A8D-CD04C1DAE97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A61F3723-C560-ABF6-D385-9C43CE591875}"/>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FF9E5B53-7B61-D39C-E458-352F1419436F}"/>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A39AB180-D7A6-9F54-3DA9-E194AD3378FA}"/>
              </a:ext>
            </a:extLst>
          </p:cNvPr>
          <p:cNvCxnSpPr>
            <a:cxnSpLocks/>
          </p:cNvCxnSpPr>
          <p:nvPr/>
        </p:nvCxnSpPr>
        <p:spPr>
          <a:xfrm>
            <a:off x="1063835" y="1692899"/>
            <a:ext cx="0" cy="2688142"/>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3C68B90D-82C0-8CD6-E5F1-026BC14232D9}"/>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B75E8B2-9726-1D9D-80F8-7B7056F8622B}"/>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2E8F379-99EB-39A0-3757-AA078753E0E4}"/>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C709B9A-B976-D285-2D18-F8837BCA181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D0ACCC9-43DD-7BC1-4EE8-966D5DFE1128}"/>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70EDB00C-DECA-21A5-9927-5AAFA716FB1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833BBB3-12BC-4FF1-CFFF-ECC733C3442B}"/>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FD976B1B-8066-4089-D758-3424380F82F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A3EE4684-8600-80AC-1F08-EEC8EA5D8D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77B566F1-8D2F-E8E2-EC92-ED8DFF5010C7}"/>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697995"/>
            <a:ext cx="5732295" cy="1183548"/>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a:solidFill>
                  <a:schemeClr val="tx1"/>
                </a:solidFill>
              </a:rPr>
              <a:t>Measure progress. </a:t>
            </a:r>
            <a:r>
              <a:rPr sz="1400" b="0">
                <a:solidFill>
                  <a:schemeClr val="tx1"/>
                </a:solidFill>
              </a:rPr>
              <a:t>Seeing that an observation is new is easy. Knowing whether the step in hand has finished is not.</a:t>
            </a:r>
          </a:p>
          <a:p>
            <a:pPr marL="400050" indent="-285750">
              <a:spcBef>
                <a:spcPts val="600"/>
              </a:spcBef>
              <a:spcAft>
                <a:spcPts val="600"/>
              </a:spcAft>
              <a:buClr>
                <a:srgbClr val="28285E"/>
              </a:buClr>
              <a:buSzPts val="1260"/>
              <a:buFont typeface="Fira Sans"/>
              <a:buChar char="●"/>
            </a:pPr>
            <a:r>
              <a:rPr sz="1400" b="1">
                <a:solidFill>
                  <a:schemeClr val="tx1"/>
                </a:solidFill>
              </a:rPr>
              <a:t>Show its intent. </a:t>
            </a:r>
            <a:r>
              <a:rPr sz="1400" b="0">
                <a:solidFill>
                  <a:schemeClr val="tx1"/>
                </a:solidFill>
              </a:rPr>
              <a:t>Halfway through a run the trace holds four thoughts and nothing that says where the run was going.</a:t>
            </a:r>
          </a:p>
          <a:p>
            <a:pPr marL="400050" indent="-285750">
              <a:spcBef>
                <a:spcPts val="600"/>
              </a:spcBef>
              <a:spcAft>
                <a:spcPts val="600"/>
              </a:spcAft>
              <a:buClr>
                <a:srgbClr val="28285E"/>
              </a:buClr>
              <a:buSzPts val="1260"/>
              <a:buFont typeface="Fira Sans"/>
              <a:buChar char="●"/>
            </a:pPr>
            <a:r>
              <a:rPr sz="1400" b="1">
                <a:solidFill>
                  <a:schemeClr val="tx1"/>
                </a:solidFill>
              </a:rPr>
              <a:t>Change course. </a:t>
            </a:r>
            <a:r>
              <a:rPr sz="1400" b="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Our reactive loop remembers everything it has seen. What it never records is what the run set out to do, so the program cannot tell a turn that </a:t>
            </a:r>
            <a:r>
              <a:rPr sz="1400" b="1">
                <a:solidFill>
                  <a:schemeClr val="tx2"/>
                </a:solidFill>
              </a:rPr>
              <a:t>helped</a:t>
            </a:r>
            <a:r>
              <a:rPr sz="1400" b="0">
                <a:solidFill>
                  <a:schemeClr val="tx2"/>
                </a:solidFill>
              </a:rPr>
              <a:t> from a turn that merely </a:t>
            </a:r>
            <a:r>
              <a:rPr sz="1400" b="1">
                <a:solidFill>
                  <a:schemeClr val="tx2"/>
                </a:solidFill>
              </a:rPr>
              <a:t>happened</a:t>
            </a:r>
            <a:r>
              <a:rPr sz="1400" b="0">
                <a:solidFill>
                  <a:schemeClr val="tx2"/>
                </a:solidFill>
              </a:rPr>
              <a:t>.</a:t>
            </a:r>
          </a:p>
        </p:txBody>
      </p:sp>
      <p:sp>
        <p:nvSpPr>
          <p:cNvPr id="5" name="Rectangle 4"/>
          <p:cNvSpPr/>
          <p:nvPr/>
        </p:nvSpPr>
        <p:spPr>
          <a:xfrm>
            <a:off x="319251" y="4100480"/>
            <a:ext cx="6014545" cy="49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 is the smallest thing we can add that lets the program check its own progress.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3"/>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our planner-based demo compiles</a:t>
            </a:r>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r:embed="rId3"/>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790000"/>
            <a:ext cx="4445035" cy="51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Lookahead with value propagation cuts the first-move dead end to a third, gets </a:t>
            </a:r>
            <a:r>
              <a:rPr sz="1200" b="1">
                <a:solidFill>
                  <a:schemeClr val="tx2"/>
                </a:solidFill>
              </a:rPr>
              <a:t>twice as far</a:t>
            </a:r>
            <a:r>
              <a:rPr sz="1200" b="0">
                <a:solidFill>
                  <a:schemeClr val="tx2"/>
                </a:solidFill>
              </a:rPr>
              <a:t> before the first error, and makes recovery </a:t>
            </a:r>
            <a:r>
              <a:rPr sz="1200" b="1">
                <a:solidFill>
                  <a:schemeClr val="tx2"/>
                </a:solidFill>
              </a:rPr>
              <a:t>five times</a:t>
            </a:r>
            <a:r>
              <a:rPr sz="1200" b="0">
                <a:solidFill>
                  <a:schemeClr val="tx2"/>
                </a:solidFill>
              </a:rPr>
              <a:t> more likely.</a:t>
            </a:r>
          </a:p>
        </p:txBody>
      </p:sp>
      <p:sp>
        <p:nvSpPr>
          <p:cNvPr id="6" name="Rectangle 5"/>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extLst>
      <p:ext uri="{BB962C8B-B14F-4D97-AF65-F5344CB8AC3E}">
        <p14:creationId xmlns:p14="http://schemas.microsoft.com/office/powerpoint/2010/main" val="2396986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1888761" y="3500000"/>
            <a:ext cx="4445035"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Our rescan is a program, but it is </a:t>
            </a:r>
            <a:r>
              <a:rPr sz="1200" b="1">
                <a:solidFill>
                  <a:schemeClr val="tx2"/>
                </a:solidFill>
              </a:rPr>
              <a:t>not always right</a:t>
            </a:r>
            <a:r>
              <a:rPr sz="1200" b="0">
                <a:solidFill>
                  <a:schemeClr val="tx2"/>
                </a:solidFill>
              </a:rPr>
              <a:t>: a renamed expression clears the alert and leaves the weakness.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1ADF80B-7760-E8FB-27A4-8FA61C67B0C0}"/>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42753606-7DA5-3B93-2A10-21A44692EB1E}"/>
              </a:ext>
            </a:extLst>
          </p:cNvPr>
          <p:cNvCxnSpPr>
            <a:cxnSpLocks/>
            <a:endCxn id="24" idx="4"/>
          </p:cNvCxnSpPr>
          <p:nvPr/>
        </p:nvCxnSpPr>
        <p:spPr>
          <a:xfrm>
            <a:off x="1063835" y="1692899"/>
            <a:ext cx="0" cy="252172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C5AB6180-B2C0-6620-979A-52C40B6ACD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60CB921-728F-A446-8C1C-546C57F4CBD0}"/>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E3BF016-459A-24C6-B050-AE8044597EB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ED7274-D75A-E73F-11D5-069BAB8AE288}"/>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6487E64-7222-9E54-A7A5-CBA3665031D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24" name="Oval 23">
            <a:extLst>
              <a:ext uri="{FF2B5EF4-FFF2-40B4-BE49-F238E27FC236}">
                <a16:creationId xmlns:a16="http://schemas.microsoft.com/office/drawing/2014/main" id="{E626A101-791B-B009-DCAA-E366D2C056D7}"/>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FA11ABE-D67C-CCDE-BBBB-11DD0B6495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26" name="TextBox 25">
            <a:extLst>
              <a:ext uri="{FF2B5EF4-FFF2-40B4-BE49-F238E27FC236}">
                <a16:creationId xmlns:a16="http://schemas.microsoft.com/office/drawing/2014/main" id="{A36A84B3-D3CF-2513-EF38-FC451ED1EF6D}"/>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27" name="TextBox 26">
            <a:extLst>
              <a:ext uri="{FF2B5EF4-FFF2-40B4-BE49-F238E27FC236}">
                <a16:creationId xmlns:a16="http://schemas.microsoft.com/office/drawing/2014/main" id="{5B5EB560-45A9-1C8D-780D-C4FC21BC1E28}"/>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28" name="TextBox 27">
            <a:extLst>
              <a:ext uri="{FF2B5EF4-FFF2-40B4-BE49-F238E27FC236}">
                <a16:creationId xmlns:a16="http://schemas.microsoft.com/office/drawing/2014/main" id="{D524D944-496F-91C3-5E7B-7F7A73749A9B}"/>
              </a:ext>
            </a:extLst>
          </p:cNvPr>
          <p:cNvSpPr txBox="1"/>
          <p:nvPr/>
        </p:nvSpPr>
        <p:spPr>
          <a:xfrm>
            <a:off x="1259524" y="3948656"/>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04EF11E8-6279-1A00-191A-7DCBF4DBC516}"/>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2" name="Picture 1">
            <a:extLst>
              <a:ext uri="{FF2B5EF4-FFF2-40B4-BE49-F238E27FC236}">
                <a16:creationId xmlns:a16="http://schemas.microsoft.com/office/drawing/2014/main" id="{DF292C1C-C59D-6616-20DC-B840C60F644B}"/>
              </a:ext>
            </a:extLst>
          </p:cNvPr>
          <p:cNvPicPr>
            <a:picLocks noChangeAspect="1"/>
          </p:cNvPicPr>
          <p:nvPr/>
        </p:nvPicPr>
        <p:blipFill>
          <a:blip r:embed="rId3">
            <a:alphaModFix amt="70000"/>
          </a:blip>
          <a:stretch>
            <a:fillRect/>
          </a:stretch>
        </p:blipFill>
        <p:spPr>
          <a:xfrm>
            <a:off x="825474" y="1573834"/>
            <a:ext cx="5732295" cy="2403255"/>
          </a:xfrm>
          <a:prstGeom prst="rect">
            <a:avLst/>
          </a:prstGeom>
        </p:spPr>
      </p:pic>
    </p:spTree>
    <p:extLst>
      <p:ext uri="{BB962C8B-B14F-4D97-AF65-F5344CB8AC3E}">
        <p14:creationId xmlns:p14="http://schemas.microsoft.com/office/powerpoint/2010/main" val="10272148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Reason and act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Thought, action and observation repeat until an answer, a cap or an error. Orchestrated by </a:t>
            </a:r>
            <a:r>
              <a:rPr sz="1400" b="1">
                <a:solidFill>
                  <a:schemeClr val="tx2"/>
                </a:solidFill>
              </a:rPr>
              <a:t>the model, inside one agent</a:t>
            </a:r>
            <a:r>
              <a:rPr sz="1400" b="0">
                <a:solidFill>
                  <a:schemeClr val="tx2"/>
                </a:solidFill>
              </a:rPr>
              <a:t>.</a:t>
            </a:r>
          </a:p>
        </p:txBody>
      </p:sp>
      <p:pic>
        <p:nvPicPr>
          <p:cNvPr id="4" name="Picture 3" descr="gcp-react.png"/>
          <p:cNvPicPr>
            <a:picLocks noChangeAspect="1"/>
          </p:cNvPicPr>
          <p:nvPr/>
        </p:nvPicPr>
        <p:blipFill>
          <a:blip r:embed="rId3"/>
          <a:stretch>
            <a:fillRect/>
          </a:stretch>
        </p:blipFill>
        <p:spPr>
          <a:xfrm>
            <a:off x="250148" y="1684382"/>
            <a:ext cx="6152752" cy="170123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dynamic and the next move depends on what the last one returned.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one query would do: latency is higher and a misleading tool result reaches the answer.</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Sequential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Specialized agents run in a fixed linear order, each output feeding the next. Orchestrated by </a:t>
            </a:r>
            <a:r>
              <a:rPr sz="1400" b="1">
                <a:solidFill>
                  <a:schemeClr val="tx2"/>
                </a:solidFill>
              </a:rPr>
              <a:t>predefined logic</a:t>
            </a:r>
            <a:r>
              <a:rPr sz="1400" b="0">
                <a:solidFill>
                  <a:schemeClr val="tx2"/>
                </a:solidFill>
              </a:rPr>
              <a:t>.</a:t>
            </a:r>
          </a:p>
        </p:txBody>
      </p:sp>
      <p:pic>
        <p:nvPicPr>
          <p:cNvPr id="4" name="Picture 3" descr="gcp-sequential.png"/>
          <p:cNvPicPr>
            <a:picLocks noChangeAspect="1"/>
          </p:cNvPicPr>
          <p:nvPr/>
        </p:nvPicPr>
        <p:blipFill>
          <a:blip r:embed="rId3"/>
          <a:stretch>
            <a:fillRect/>
          </a:stretch>
        </p:blipFill>
        <p:spPr>
          <a:xfrm>
            <a:off x="250148" y="2195060"/>
            <a:ext cx="6152752" cy="679879"/>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dirty="0">
                <a:solidFill>
                  <a:srgbClr val="28285E"/>
                </a:solidFill>
              </a:rPr>
              <a:t>Use it when </a:t>
            </a:r>
            <a:r>
              <a:rPr sz="1200" dirty="0">
                <a:solidFill>
                  <a:schemeClr val="tx1"/>
                </a:solidFill>
              </a:rPr>
              <a:t>the process is structured and repeatable, like extract, then clean, then load.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run needs to skip a step it does not need, or one slow step holds up the rest.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Independent subagents run at the same time and a gather step synthesizes them. Orchestrated by </a:t>
            </a:r>
            <a:r>
              <a:rPr sz="1400" b="1">
                <a:solidFill>
                  <a:schemeClr val="tx2"/>
                </a:solidFill>
              </a:rPr>
              <a:t>predefined logic</a:t>
            </a:r>
            <a:r>
              <a:rPr sz="1400" b="0">
                <a:solidFill>
                  <a:schemeClr val="tx2"/>
                </a:solidFill>
              </a:rPr>
              <a:t>.</a:t>
            </a:r>
          </a:p>
        </p:txBody>
      </p:sp>
      <p:pic>
        <p:nvPicPr>
          <p:cNvPr id="4" name="Picture 3" descr="gcp-parallel.png"/>
          <p:cNvPicPr>
            <a:picLocks noChangeAspect="1"/>
          </p:cNvPicPr>
          <p:nvPr/>
        </p:nvPicPr>
        <p:blipFill>
          <a:blip r:embed="rId3"/>
          <a:stretch>
            <a:fillRect/>
          </a:stretch>
        </p:blipFill>
        <p:spPr>
          <a:xfrm>
            <a:off x="1678840" y="1450000"/>
            <a:ext cx="3295368"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genuinely splits, like collecting from several sources at once.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results can conflict: cost and token use rise at once and the join gets hard.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sequence of subagents repeats until a termination condition is met. Orchestrated by </a:t>
            </a:r>
            <a:r>
              <a:rPr sz="1400" b="1">
                <a:solidFill>
                  <a:schemeClr val="tx2"/>
                </a:solidFill>
              </a:rPr>
              <a:t>predefined logic</a:t>
            </a:r>
            <a:r>
              <a:rPr sz="1400" b="0">
                <a:solidFill>
                  <a:schemeClr val="tx2"/>
                </a:solidFill>
              </a:rPr>
              <a:t>.</a:t>
            </a:r>
          </a:p>
        </p:txBody>
      </p:sp>
      <p:pic>
        <p:nvPicPr>
          <p:cNvPr id="4" name="Picture 3" descr="gcp-loop.png"/>
          <p:cNvPicPr>
            <a:picLocks noChangeAspect="1"/>
          </p:cNvPicPr>
          <p:nvPr/>
        </p:nvPicPr>
        <p:blipFill>
          <a:blip r:embed="rId3"/>
          <a:stretch>
            <a:fillRect/>
          </a:stretch>
        </p:blipFill>
        <p:spPr>
          <a:xfrm>
            <a:off x="250148" y="1539792"/>
            <a:ext cx="6152752" cy="199041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needs iterating or self-correction before it is good enough.</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not defined: the loop runs on and spends the budget doing it.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Review and critique</a:t>
            </a:r>
          </a:p>
        </p:txBody>
      </p:sp>
      <p:sp>
        <p:nvSpPr>
          <p:cNvPr id="3" name="Rectangle 2"/>
          <p:cNvSpPr/>
          <p:nvPr/>
        </p:nvSpPr>
        <p:spPr>
          <a:xfrm>
            <a:off x="319251" y="700000"/>
            <a:ext cx="6014545" cy="69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generator produces, and a critic judges it against criteria and approves, rejects or returns feedback. Orchestrated by </a:t>
            </a:r>
            <a:r>
              <a:rPr sz="1400" b="1">
                <a:solidFill>
                  <a:schemeClr val="tx2"/>
                </a:solidFill>
              </a:rPr>
              <a:t>predefined logic, as a loop</a:t>
            </a:r>
            <a:r>
              <a:rPr sz="1400" b="0">
                <a:solidFill>
                  <a:schemeClr val="tx2"/>
                </a:solidFill>
              </a:rPr>
              <a:t>.</a:t>
            </a:r>
          </a:p>
        </p:txBody>
      </p:sp>
      <p:pic>
        <p:nvPicPr>
          <p:cNvPr id="4" name="Picture 3" descr="gcp-review-critique.png"/>
          <p:cNvPicPr>
            <a:picLocks noChangeAspect="1"/>
          </p:cNvPicPr>
          <p:nvPr/>
        </p:nvPicPr>
        <p:blipFill>
          <a:blip r:embed="rId3"/>
          <a:stretch>
            <a:fillRect/>
          </a:stretch>
        </p:blipFill>
        <p:spPr>
          <a:xfrm>
            <a:off x="250148" y="1515181"/>
            <a:ext cx="6152752" cy="2039637"/>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output has to be accurate or meet strict rules, like code that needs an audit.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speed matters: every evaluation is at least one more model call, and revisions stack.</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Iterative refinement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One or more agents improve a result held in state until a quality threshold or a cap. Orchestrated by </a:t>
            </a:r>
            <a:r>
              <a:rPr sz="1400" b="1">
                <a:solidFill>
                  <a:schemeClr val="tx2"/>
                </a:solidFill>
              </a:rPr>
              <a:t>predefined logic, as a loop</a:t>
            </a:r>
            <a:r>
              <a:rPr sz="1400" b="0">
                <a:solidFill>
                  <a:schemeClr val="tx2"/>
                </a:solidFill>
              </a:rPr>
              <a:t>.</a:t>
            </a:r>
          </a:p>
        </p:txBody>
      </p:sp>
      <p:pic>
        <p:nvPicPr>
          <p:cNvPr id="4" name="Picture 3" descr="gcp-iterative-refinement.png"/>
          <p:cNvPicPr>
            <a:picLocks noChangeAspect="1"/>
          </p:cNvPicPr>
          <p:nvPr/>
        </p:nvPicPr>
        <p:blipFill>
          <a:blip r:embed="rId3"/>
          <a:stretch>
            <a:fillRect/>
          </a:stretch>
        </p:blipFill>
        <p:spPr>
          <a:xfrm>
            <a:off x="1114496" y="1450000"/>
            <a:ext cx="44240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hard to get right in one pass, like drafting or debugging.</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vague: each cycle costs latency and money whether it helps or not.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Coordinator</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central agent reads the request, splits it, and dispatches the parts to specialists. Orchestrated by </a:t>
            </a:r>
            <a:r>
              <a:rPr sz="1400" b="1">
                <a:solidFill>
                  <a:schemeClr val="tx2"/>
                </a:solidFill>
              </a:rPr>
              <a:t>the model</a:t>
            </a:r>
            <a:r>
              <a:rPr sz="1400" b="0">
                <a:solidFill>
                  <a:schemeClr val="tx2"/>
                </a:solidFill>
              </a:rPr>
              <a:t>.</a:t>
            </a:r>
          </a:p>
        </p:txBody>
      </p:sp>
      <p:pic>
        <p:nvPicPr>
          <p:cNvPr id="4" name="Picture 3" descr="gcp-coordinator.png"/>
          <p:cNvPicPr>
            <a:picLocks noChangeAspect="1"/>
          </p:cNvPicPr>
          <p:nvPr/>
        </p:nvPicPr>
        <p:blipFill>
          <a:blip r:embed="rId3"/>
          <a:stretch>
            <a:fillRect/>
          </a:stretch>
        </p:blipFill>
        <p:spPr>
          <a:xfrm>
            <a:off x="2091465" y="1450000"/>
            <a:ext cx="2470119"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a structured process needs routing that adapts to what the request turns out to be.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single agent would do: this costs more model calls, more tokens and more latency.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Hierarchical task decomposition</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root agent decomposes, and subagents decompose again until workers can execute. Orchestrated by </a:t>
            </a:r>
            <a:r>
              <a:rPr sz="1400" b="1">
                <a:solidFill>
                  <a:schemeClr val="tx2"/>
                </a:solidFill>
              </a:rPr>
              <a:t>the model, at several levels</a:t>
            </a:r>
            <a:r>
              <a:rPr sz="1400" b="0">
                <a:solidFill>
                  <a:schemeClr val="tx2"/>
                </a:solidFill>
              </a:rPr>
              <a:t>.</a:t>
            </a:r>
          </a:p>
        </p:txBody>
      </p:sp>
      <p:pic>
        <p:nvPicPr>
          <p:cNvPr id="4" name="Picture 3" descr="gcp-hierarchical-task.png"/>
          <p:cNvPicPr>
            <a:picLocks noChangeAspect="1"/>
          </p:cNvPicPr>
          <p:nvPr/>
        </p:nvPicPr>
        <p:blipFill>
          <a:blip r:embed="rId3"/>
          <a:stretch>
            <a:fillRect/>
          </a:stretch>
        </p:blipFill>
        <p:spPr>
          <a:xfrm>
            <a:off x="1907296" y="1450000"/>
            <a:ext cx="2838456"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open-ended and needs research, planning and synthesis together.</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you have to debug it: the complexity is considerable and the model calls are many.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Swarm</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Specialists talk to one another all-to-all and refine together, with an explicit exit condition. Orchestrated by </a:t>
            </a:r>
            <a:r>
              <a:rPr sz="1400" b="1">
                <a:solidFill>
                  <a:schemeClr val="tx2"/>
                </a:solidFill>
              </a:rPr>
              <a:t>no central orchestrator</a:t>
            </a:r>
            <a:r>
              <a:rPr sz="1400" b="0">
                <a:solidFill>
                  <a:schemeClr val="tx2"/>
                </a:solidFill>
              </a:rPr>
              <a:t>.</a:t>
            </a:r>
          </a:p>
        </p:txBody>
      </p:sp>
      <p:pic>
        <p:nvPicPr>
          <p:cNvPr id="4" name="Picture 3" descr="gcp-swarm.png"/>
          <p:cNvPicPr>
            <a:picLocks noChangeAspect="1"/>
          </p:cNvPicPr>
          <p:nvPr/>
        </p:nvPicPr>
        <p:blipFill>
          <a:blip r:embed="rId3"/>
          <a:stretch>
            <a:fillRect/>
          </a:stretch>
        </p:blipFill>
        <p:spPr>
          <a:xfrm>
            <a:off x="2180196" y="1450000"/>
            <a:ext cx="22926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ambiguous and genuinely benefits from argument between perspectives.</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almost always: it is the costliest of the twelve and may never converge.</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Human in the 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The agent pauses at a checkpoint and waits for a person to approve, correct or supply input. Orchestrated by </a:t>
            </a:r>
            <a:r>
              <a:rPr sz="1400" b="1">
                <a:solidFill>
                  <a:schemeClr val="tx2"/>
                </a:solidFill>
              </a:rPr>
              <a:t>predefined checkpoints</a:t>
            </a:r>
            <a:r>
              <a:rPr sz="1400" b="0">
                <a:solidFill>
                  <a:schemeClr val="tx2"/>
                </a:solidFill>
              </a:rPr>
              <a:t>.</a:t>
            </a:r>
          </a:p>
        </p:txBody>
      </p:sp>
      <p:pic>
        <p:nvPicPr>
          <p:cNvPr id="4" name="Picture 3" descr="gcp-human-in-the-loop.png"/>
          <p:cNvPicPr>
            <a:picLocks noChangeAspect="1"/>
          </p:cNvPicPr>
          <p:nvPr/>
        </p:nvPicPr>
        <p:blipFill>
          <a:blip r:embed="rId3"/>
          <a:stretch>
            <a:fillRect/>
          </a:stretch>
        </p:blipFill>
        <p:spPr>
          <a:xfrm>
            <a:off x="250148" y="1728989"/>
            <a:ext cx="6152752" cy="1612021"/>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decision is high-stakes or subjective, like a payment or a sensitive document.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there is nobody to ask: it needs an interaction system built and then maintained.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 logic</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Conditional orchestration written in code, mixing the other patterns as needed. Orchestrated by </a:t>
            </a:r>
            <a:r>
              <a:rPr sz="1400" b="1">
                <a:solidFill>
                  <a:schemeClr val="tx2"/>
                </a:solidFill>
              </a:rPr>
              <a:t>code the team writes</a:t>
            </a:r>
            <a:r>
              <a:rPr sz="1400" b="0">
                <a:solidFill>
                  <a:schemeClr val="tx2"/>
                </a:solidFill>
              </a:rPr>
              <a:t>.</a:t>
            </a:r>
          </a:p>
        </p:txBody>
      </p:sp>
      <p:sp>
        <p:nvSpPr>
          <p:cNvPr id="4" name="Rectangle 3"/>
          <p:cNvSpPr/>
          <p:nvPr/>
        </p:nvSpPr>
        <p:spPr>
          <a:xfrm>
            <a:off x="319251"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branching goes beyond a linear sequence, or fixed rules mix with model reasoning.</a:t>
            </a:r>
          </a:p>
        </p:txBody>
      </p:sp>
      <p:sp>
        <p:nvSpPr>
          <p:cNvPr id="5" name="Rectangle 4"/>
          <p:cNvSpPr/>
          <p:nvPr/>
        </p:nvSpPr>
        <p:spPr>
          <a:xfrm>
            <a:off x="3419857"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named pattern already fits: the team now owns and debugs the whole flow.</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Task ownership</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Who owns the whole task, and who owns only a piece of it.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Coordinator</a:t>
            </a:r>
          </a:p>
          <a:p>
            <a:pPr algn="l">
              <a:spcBef>
                <a:spcPts val="600"/>
              </a:spcBef>
            </a:pPr>
            <a:r>
              <a:rPr sz="1200" dirty="0">
                <a:solidFill>
                  <a:schemeClr val="tx1"/>
                </a:solidFill>
              </a:rPr>
              <a:t>The </a:t>
            </a:r>
            <a:r>
              <a:rPr sz="1200" b="1" dirty="0">
                <a:solidFill>
                  <a:schemeClr val="tx1"/>
                </a:solidFill>
              </a:rPr>
              <a:t>coordinator owns the task and delegates pieces</a:t>
            </a:r>
            <a:r>
              <a:rPr sz="1200" dirty="0">
                <a:solidFill>
                  <a:schemeClr val="tx1"/>
                </a:solidFill>
              </a:rPr>
              <a:t>; a specialist owns only its piece.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Hierarchical</a:t>
            </a:r>
          </a:p>
          <a:p>
            <a:pPr algn="l">
              <a:spcBef>
                <a:spcPts val="600"/>
              </a:spcBef>
            </a:pPr>
            <a:r>
              <a:rPr sz="1200" dirty="0">
                <a:solidFill>
                  <a:schemeClr val="tx1"/>
                </a:solidFill>
              </a:rPr>
              <a:t>Ownership is </a:t>
            </a:r>
            <a:r>
              <a:rPr sz="1200" b="1" dirty="0">
                <a:solidFill>
                  <a:schemeClr val="tx1"/>
                </a:solidFill>
              </a:rPr>
              <a:t>nested</a:t>
            </a:r>
            <a:r>
              <a:rPr sz="1200" dirty="0">
                <a:solidFill>
                  <a:schemeClr val="tx1"/>
                </a:solidFill>
              </a:rPr>
              <a:t>: each level </a:t>
            </a:r>
            <a:r>
              <a:rPr sz="1200" b="1" dirty="0">
                <a:solidFill>
                  <a:schemeClr val="tx1"/>
                </a:solidFill>
              </a:rPr>
              <a:t>owns the</a:t>
            </a:r>
            <a:r>
              <a:rPr sz="1200" dirty="0">
                <a:solidFill>
                  <a:schemeClr val="tx1"/>
                </a:solidFill>
              </a:rPr>
              <a:t> </a:t>
            </a:r>
            <a:r>
              <a:rPr sz="1200" b="1" dirty="0">
                <a:solidFill>
                  <a:schemeClr val="tx1"/>
                </a:solidFill>
              </a:rPr>
              <a:t>decomposition</a:t>
            </a:r>
            <a:r>
              <a:rPr sz="1200" dirty="0">
                <a:solidFill>
                  <a:schemeClr val="tx1"/>
                </a:solidFill>
              </a:rPr>
              <a:t> it made.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Parallel</a:t>
            </a:r>
          </a:p>
          <a:p>
            <a:pPr algn="l">
              <a:spcBef>
                <a:spcPts val="600"/>
              </a:spcBef>
            </a:pPr>
            <a:r>
              <a:rPr sz="1200" dirty="0">
                <a:solidFill>
                  <a:schemeClr val="tx1"/>
                </a:solidFill>
              </a:rPr>
              <a:t>Each </a:t>
            </a:r>
            <a:r>
              <a:rPr sz="1200" b="1" dirty="0">
                <a:solidFill>
                  <a:schemeClr val="tx1"/>
                </a:solidFill>
              </a:rPr>
              <a:t>worker owns one independent piece</a:t>
            </a:r>
            <a:r>
              <a:rPr sz="1200" dirty="0">
                <a:solidFill>
                  <a:schemeClr val="tx1"/>
                </a:solidFill>
              </a:rPr>
              <a:t>; the </a:t>
            </a:r>
            <a:r>
              <a:rPr sz="1200" b="1" dirty="0">
                <a:solidFill>
                  <a:schemeClr val="tx1"/>
                </a:solidFill>
              </a:rPr>
              <a:t>gather step owns the whole</a:t>
            </a:r>
            <a:r>
              <a:rPr sz="1200" dirty="0">
                <a:solidFill>
                  <a:schemeClr val="tx1"/>
                </a:solidFill>
              </a:rPr>
              <a:t>.</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dirty="0">
                <a:solidFill>
                  <a:srgbClr val="28285E"/>
                </a:solidFill>
              </a:rPr>
              <a:t>Review and critique</a:t>
            </a:r>
          </a:p>
          <a:p>
            <a:pPr algn="l">
              <a:spcBef>
                <a:spcPts val="600"/>
              </a:spcBef>
            </a:pPr>
            <a:r>
              <a:rPr lang="en-US" sz="1200" dirty="0">
                <a:solidFill>
                  <a:schemeClr val="tx1"/>
                </a:solidFill>
              </a:rPr>
              <a:t>T</a:t>
            </a:r>
            <a:r>
              <a:rPr sz="1200" dirty="0">
                <a:solidFill>
                  <a:schemeClr val="tx1"/>
                </a:solidFill>
              </a:rPr>
              <a:t>he generator owns the candidate</a:t>
            </a:r>
            <a:r>
              <a:rPr lang="en-US" sz="1200" dirty="0">
                <a:solidFill>
                  <a:schemeClr val="tx1"/>
                </a:solidFill>
              </a:rPr>
              <a:t> and</a:t>
            </a:r>
            <a:r>
              <a:rPr sz="1200" dirty="0">
                <a:solidFill>
                  <a:schemeClr val="tx1"/>
                </a:solidFill>
              </a:rPr>
              <a:t> the critic owns acceptance.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boundaries</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each component can see, and what has to </a:t>
            </a:r>
            <a:r>
              <a:rPr sz="1400" b="1">
                <a:solidFill>
                  <a:schemeClr val="tx2"/>
                </a:solidFill>
              </a:rPr>
              <a:t>cross</a:t>
            </a:r>
            <a:r>
              <a:rPr sz="1400" b="0">
                <a:solidFill>
                  <a:schemeClr val="tx2"/>
                </a:solidFill>
              </a:rPr>
              <a:t> from one to another.</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coordinator's context and each specialist's are separate; what crosses is what the coordinator passes.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A state boundary per level, and partial results cross upward.</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One state record per worker; the join reads all of them.</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Unchanged: one record, with the critic's reasons added to it.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Model-call overhead</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many model calls the shape adds </a:t>
            </a:r>
            <a:r>
              <a:rPr sz="1400" b="1">
                <a:solidFill>
                  <a:schemeClr val="tx2"/>
                </a:solidFill>
              </a:rPr>
              <a:t>on top of the work itself</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One routing call per request, plus the specialists' calls.</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Multiplied by the depth of the hierarchy.</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The sum of the workers' calls, run concurrently.</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One evaluator call per candidate, plus one per revision.</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Latency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How much wall-clock time the shape adds to a single request.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call sits on the critical path.</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Each level adds a round trip.</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Reduced to the slowest worker plus the join.</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Each revision adds a round trip.</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Failure propagation</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Where a mistake goes after it is made, and who is in a position to </a:t>
            </a:r>
            <a:r>
              <a:rPr sz="1400" b="1">
                <a:solidFill>
                  <a:schemeClr val="tx2"/>
                </a:solidFill>
              </a:rPr>
              <a:t>notice</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A misrouted task fails inside the wrong specialist, and the coordinator may not notice.</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A wrong decomposition propagates downward and its cost multiplies.</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Contained per worker until the join, where a missing piece blocks the whole.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A critic that accepts a wrong candidate passes it on; one that rejects a right one costs a revision.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Inspectability</a:t>
            </a:r>
          </a:p>
        </p:txBody>
      </p:sp>
      <p:sp>
        <p:nvSpPr>
          <p:cNvPr id="3" name="Rectangle 2"/>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What someone reading the trace afterwards can reconstruct about </a:t>
            </a:r>
            <a:r>
              <a:rPr sz="1400" b="1">
                <a:solidFill>
                  <a:schemeClr val="tx2"/>
                </a:solidFill>
              </a:rPr>
              <a:t>who decided what</a:t>
            </a:r>
            <a:r>
              <a:rPr sz="1400" b="0">
                <a:solidFill>
                  <a:schemeClr val="tx2"/>
                </a:solidFill>
              </a:rPr>
              <a:t>.</a:t>
            </a:r>
          </a:p>
        </p:txBody>
      </p:sp>
      <p:sp>
        <p:nvSpPr>
          <p:cNvPr id="4" name="Rectangle 3"/>
          <p:cNvSpPr/>
          <p:nvPr/>
        </p:nvSpPr>
        <p:spPr>
          <a:xfrm>
            <a:off x="319251"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Coordinator</a:t>
            </a:r>
          </a:p>
          <a:p>
            <a:pPr algn="l">
              <a:spcBef>
                <a:spcPts val="600"/>
              </a:spcBef>
            </a:pPr>
            <a:r>
              <a:rPr sz="1200">
                <a:solidFill>
                  <a:schemeClr val="tx1"/>
                </a:solidFill>
              </a:rPr>
              <a:t>The routing decision and its reasons are in the trace, if we recorded them.</a:t>
            </a:r>
          </a:p>
        </p:txBody>
      </p:sp>
      <p:sp>
        <p:nvSpPr>
          <p:cNvPr id="5" name="Rectangle 4"/>
          <p:cNvSpPr/>
          <p:nvPr/>
        </p:nvSpPr>
        <p:spPr>
          <a:xfrm>
            <a:off x="3419857" y="174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Hierarchical</a:t>
            </a:r>
          </a:p>
          <a:p>
            <a:pPr algn="l">
              <a:spcBef>
                <a:spcPts val="600"/>
              </a:spcBef>
            </a:pPr>
            <a:r>
              <a:rPr sz="1200">
                <a:solidFill>
                  <a:schemeClr val="tx1"/>
                </a:solidFill>
              </a:rPr>
              <a:t>Traces nest, so which level decided what has to stay recoverable.</a:t>
            </a:r>
          </a:p>
        </p:txBody>
      </p:sp>
      <p:sp>
        <p:nvSpPr>
          <p:cNvPr id="6" name="Rectangle 5"/>
          <p:cNvSpPr/>
          <p:nvPr/>
        </p:nvSpPr>
        <p:spPr>
          <a:xfrm>
            <a:off x="319251"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Parallel</a:t>
            </a:r>
          </a:p>
          <a:p>
            <a:pPr algn="l">
              <a:spcBef>
                <a:spcPts val="600"/>
              </a:spcBef>
            </a:pPr>
            <a:r>
              <a:rPr sz="1200">
                <a:solidFill>
                  <a:schemeClr val="tx1"/>
                </a:solidFill>
              </a:rPr>
              <a:t>Traces interleave, so which worker wrote what has to stay recoverable.</a:t>
            </a:r>
          </a:p>
        </p:txBody>
      </p:sp>
      <p:sp>
        <p:nvSpPr>
          <p:cNvPr id="7" name="Rectangle 6"/>
          <p:cNvSpPr/>
          <p:nvPr/>
        </p:nvSpPr>
        <p:spPr>
          <a:xfrm>
            <a:off x="3419857" y="3210000"/>
            <a:ext cx="2913939" cy="12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ctr"/>
            <a:r>
              <a:rPr sz="1400" b="1">
                <a:solidFill>
                  <a:srgbClr val="28285E"/>
                </a:solidFill>
              </a:rPr>
              <a:t>Review and critique</a:t>
            </a:r>
          </a:p>
          <a:p>
            <a:pPr algn="l">
              <a:spcBef>
                <a:spcPts val="600"/>
              </a:spcBef>
            </a:pPr>
            <a:r>
              <a:rPr sz="1200">
                <a:solidFill>
                  <a:schemeClr val="tx1"/>
                </a:solidFill>
              </a:rPr>
              <a:t>Improved: acceptance now carries its reasons.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A294D9-636A-79A6-37BA-8F354C6812ED}"/>
              </a:ext>
            </a:extLst>
          </p:cNvPr>
          <p:cNvSpPr/>
          <p:nvPr/>
        </p:nvSpPr>
        <p:spPr>
          <a:xfrm>
            <a:off x="692685" y="746623"/>
            <a:ext cx="5472630" cy="365025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929000" y="2217807"/>
            <a:ext cx="5000000" cy="707886"/>
          </a:xfrm>
          <a:prstGeom prst="rect">
            <a:avLst/>
          </a:prstGeom>
          <a:noFill/>
        </p:spPr>
        <p:txBody>
          <a:bodyPr wrap="square" anchor="ctr">
            <a:spAutoFit/>
          </a:bodyPr>
          <a:lstStyle/>
          <a:p>
            <a:pPr algn="ctr"/>
            <a:r>
              <a:rPr lang="en-US" sz="4000" b="1" dirty="0">
                <a:solidFill>
                  <a:schemeClr val="bg1"/>
                </a:solidFill>
                <a:latin typeface="+mj-lt"/>
              </a:rPr>
              <a:t>Break</a:t>
            </a:r>
            <a:endParaRPr sz="4000" b="1" dirty="0">
              <a:solidFill>
                <a:schemeClr val="bg1"/>
              </a:solidFill>
              <a:latin typeface="+mj-lt"/>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6CA18B-F676-D6FD-5DB7-C2DF50D1A01A}"/>
              </a:ext>
            </a:extLst>
          </p:cNvPr>
          <p:cNvSpPr txBox="1"/>
          <p:nvPr/>
        </p:nvSpPr>
        <p:spPr>
          <a:xfrm>
            <a:off x="929000" y="1910031"/>
            <a:ext cx="5000000" cy="1323439"/>
          </a:xfrm>
          <a:prstGeom prst="rect">
            <a:avLst/>
          </a:prstGeom>
          <a:noFill/>
        </p:spPr>
        <p:txBody>
          <a:bodyPr wrap="square" anchor="ctr">
            <a:spAutoFit/>
          </a:bodyPr>
          <a:lstStyle/>
          <a:p>
            <a:pPr algn="ctr"/>
            <a:r>
              <a:rPr sz="4000" b="1" dirty="0">
                <a:solidFill>
                  <a:schemeClr val="bg1"/>
                </a:solidFill>
                <a:latin typeface="+mj-lt"/>
              </a:rPr>
              <a:t>Execution machinery</a:t>
            </a:r>
          </a:p>
        </p:txBody>
      </p:sp>
    </p:spTree>
    <p:extLst>
      <p:ext uri="{BB962C8B-B14F-4D97-AF65-F5344CB8AC3E}">
        <p14:creationId xmlns:p14="http://schemas.microsoft.com/office/powerpoint/2010/main" val="905514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record every node reads and writes</a:t>
            </a:r>
          </a:p>
        </p:txBody>
      </p:sp>
      <p:sp>
        <p:nvSpPr>
          <p:cNvPr id="3" name="Content Placeholder 2"/>
          <p:cNvSpPr>
            <a:spLocks noGrp="1"/>
          </p:cNvSpPr>
          <p:nvPr>
            <p:ph idx="1"/>
          </p:nvPr>
        </p:nvSpPr>
        <p:spPr>
          <a:xfrm>
            <a:off x="319251" y="700000"/>
            <a:ext cx="6014545" cy="1780000"/>
          </a:xfrm>
        </p:spPr>
        <p:txBody>
          <a:bodyPr wrap="square" anchor="ctr">
            <a:normAutofit lnSpcReduction="10000"/>
          </a:bodyPr>
          <a:lstStyle/>
          <a:p>
            <a:pPr marL="0" indent="0">
              <a:buNone/>
            </a:pPr>
            <a:r>
              <a:rPr sz="1400" b="1" dirty="0">
                <a:solidFill>
                  <a:srgbClr val="28285E"/>
                </a:solidFill>
              </a:rPr>
              <a:t>A graph shows where control may go</a:t>
            </a:r>
            <a:r>
              <a:rPr lang="en-US" sz="1400" b="1" dirty="0">
                <a:solidFill>
                  <a:srgbClr val="28285E"/>
                </a:solidFill>
              </a:rPr>
              <a:t> a </a:t>
            </a:r>
            <a:r>
              <a:rPr sz="1400" b="1" dirty="0">
                <a:solidFill>
                  <a:srgbClr val="28285E"/>
                </a:solidFill>
              </a:rPr>
              <a:t>record </a:t>
            </a:r>
            <a:r>
              <a:rPr lang="en-US" sz="1400" b="1" dirty="0">
                <a:solidFill>
                  <a:srgbClr val="28285E"/>
                </a:solidFill>
              </a:rPr>
              <a:t>is what </a:t>
            </a:r>
            <a:r>
              <a:rPr sz="1400" b="1" dirty="0">
                <a:solidFill>
                  <a:srgbClr val="28285E"/>
                </a:solidFill>
              </a:rPr>
              <a:t>travels th</a:t>
            </a:r>
            <a:r>
              <a:rPr lang="en-US" sz="1400" b="1" dirty="0">
                <a:solidFill>
                  <a:srgbClr val="28285E"/>
                </a:solidFill>
              </a:rPr>
              <a:t>at</a:t>
            </a:r>
            <a:r>
              <a:rPr sz="1400" b="1" dirty="0">
                <a:solidFill>
                  <a:srgbClr val="28285E"/>
                </a:solidFill>
              </a:rPr>
              <a:t> edge.</a:t>
            </a:r>
          </a:p>
          <a:p>
            <a:pPr marL="400050" indent="-285750">
              <a:spcBef>
                <a:spcPts val="600"/>
              </a:spcBef>
              <a:spcAft>
                <a:spcPts val="600"/>
              </a:spcAft>
              <a:buClr>
                <a:srgbClr val="28285E"/>
              </a:buClr>
              <a:buSzPts val="1260"/>
              <a:buFont typeface="+mn-lt"/>
              <a:buChar char="●"/>
            </a:pPr>
            <a:r>
              <a:rPr sz="1400" b="1" dirty="0">
                <a:solidFill>
                  <a:schemeClr val="tx1"/>
                </a:solidFill>
              </a:rPr>
              <a:t>Declared as a schema. </a:t>
            </a:r>
            <a:r>
              <a:rPr sz="1400" b="0" dirty="0">
                <a:solidFill>
                  <a:schemeClr val="tx1"/>
                </a:solidFill>
              </a:rPr>
              <a:t>A named set of fields with their types.</a:t>
            </a:r>
          </a:p>
          <a:p>
            <a:pPr marL="400050" indent="-285750">
              <a:spcBef>
                <a:spcPts val="600"/>
              </a:spcBef>
              <a:spcAft>
                <a:spcPts val="600"/>
              </a:spcAft>
              <a:buClr>
                <a:srgbClr val="28285E"/>
              </a:buClr>
              <a:buSzPts val="1260"/>
              <a:buFont typeface="+mn-lt"/>
              <a:buChar char="●"/>
            </a:pPr>
            <a:r>
              <a:rPr sz="1400" b="1" dirty="0">
                <a:solidFill>
                  <a:schemeClr val="tx1"/>
                </a:solidFill>
              </a:rPr>
              <a:t>Every node receives it </a:t>
            </a:r>
            <a:r>
              <a:rPr sz="1400" b="0" dirty="0">
                <a:solidFill>
                  <a:schemeClr val="tx1"/>
                </a:solidFill>
              </a:rPr>
              <a:t>as input and returns an update as output.</a:t>
            </a:r>
          </a:p>
          <a:p>
            <a:pPr marL="400050" indent="-285750">
              <a:spcBef>
                <a:spcPts val="600"/>
              </a:spcBef>
              <a:spcAft>
                <a:spcPts val="600"/>
              </a:spcAft>
              <a:buClr>
                <a:srgbClr val="28285E"/>
              </a:buClr>
              <a:buSzPts val="1260"/>
              <a:buFont typeface="+mn-lt"/>
              <a:buChar char="●"/>
            </a:pPr>
            <a:r>
              <a:rPr sz="1400" b="1" dirty="0">
                <a:solidFill>
                  <a:schemeClr val="tx1"/>
                </a:solidFill>
              </a:rPr>
              <a:t>Routing and dispatch </a:t>
            </a:r>
            <a:r>
              <a:rPr sz="1400" b="0" dirty="0">
                <a:solidFill>
                  <a:schemeClr val="tx1"/>
                </a:solidFill>
              </a:rPr>
              <a:t>are both defined over it, so the rest of Part B reads this record.</a:t>
            </a:r>
          </a:p>
        </p:txBody>
      </p:sp>
      <p:sp>
        <p:nvSpPr>
          <p:cNvPr id="4" name="Rectangle 3"/>
          <p:cNvSpPr/>
          <p:nvPr/>
        </p:nvSpPr>
        <p:spPr>
          <a:xfrm>
            <a:off x="319251" y="2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dirty="0">
                <a:solidFill>
                  <a:schemeClr val="tx2"/>
                </a:solidFill>
              </a:rPr>
              <a:t>State is a shared data structure that represents the current snapshot of your application.</a:t>
            </a:r>
          </a:p>
        </p:txBody>
      </p:sp>
      <p:sp>
        <p:nvSpPr>
          <p:cNvPr id="5" name="TextBox 4"/>
          <p:cNvSpPr txBox="1"/>
          <p:nvPr/>
        </p:nvSpPr>
        <p:spPr>
          <a:xfrm>
            <a:off x="319251" y="3341801"/>
            <a:ext cx="6014545" cy="200000"/>
          </a:xfrm>
          <a:prstGeom prst="rect">
            <a:avLst/>
          </a:prstGeom>
          <a:noFill/>
        </p:spPr>
        <p:txBody>
          <a:bodyPr wrap="square" lIns="0" tIns="0" rIns="0" bIns="0">
            <a:spAutoFit/>
          </a:bodyPr>
          <a:lstStyle/>
          <a:p>
            <a:pPr algn="r"/>
            <a:r>
              <a:rPr sz="1050" i="1">
                <a:solidFill>
                  <a:schemeClr val="bg2"/>
                </a:solidFill>
              </a:rPr>
              <a:t>LangGraph, Graph API</a:t>
            </a:r>
          </a:p>
        </p:txBody>
      </p:sp>
      <p:sp>
        <p:nvSpPr>
          <p:cNvPr id="6" name="Rectangle 5"/>
          <p:cNvSpPr/>
          <p:nvPr/>
        </p:nvSpPr>
        <p:spPr>
          <a:xfrm>
            <a:off x="319251" y="37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returns only the keys it touched.</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a:t>
            </a:r>
            <a:r>
              <a:rPr dirty="0"/>
              <a:t> </a:t>
            </a:r>
            <a:r>
              <a:rPr lang="en-US" dirty="0"/>
              <a:t>simple </a:t>
            </a:r>
            <a:r>
              <a:rPr dirty="0"/>
              <a:t>transition</a:t>
            </a:r>
            <a:r>
              <a:rPr lang="en-US" dirty="0"/>
              <a:t>--P</a:t>
            </a:r>
            <a:r>
              <a:rPr dirty="0"/>
              <a:t>ropose, then </a:t>
            </a:r>
            <a:r>
              <a:rPr lang="en-US" dirty="0"/>
              <a:t>M</a:t>
            </a:r>
            <a:r>
              <a:rPr dirty="0"/>
              <a:t>erge</a:t>
            </a:r>
          </a:p>
        </p:txBody>
      </p:sp>
      <p:pic>
        <p:nvPicPr>
          <p:cNvPr id="3" name="Picture 2" descr="state-transition-deck.png"/>
          <p:cNvPicPr>
            <a:picLocks noChangeAspect="1"/>
          </p:cNvPicPr>
          <p:nvPr/>
        </p:nvPicPr>
        <p:blipFill>
          <a:blip r:embed="rId3"/>
          <a:stretch>
            <a:fillRect/>
          </a:stretch>
        </p:blipFill>
        <p:spPr>
          <a:xfrm>
            <a:off x="250147" y="800000"/>
            <a:ext cx="6152752" cy="2838559"/>
          </a:xfrm>
          <a:prstGeom prst="rect">
            <a:avLst/>
          </a:prstGeom>
        </p:spPr>
      </p:pic>
      <p:sp>
        <p:nvSpPr>
          <p:cNvPr id="4" name="Rectangle 3"/>
          <p:cNvSpPr/>
          <p:nvPr/>
        </p:nvSpPr>
        <p:spPr>
          <a:xfrm>
            <a:off x="319251" y="39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node proposes an update; the runtime merges it, one reducer per key.</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two runs from one state diverge</a:t>
            </a:r>
          </a:p>
        </p:txBody>
      </p:sp>
      <p:sp>
        <p:nvSpPr>
          <p:cNvPr id="3" name="Content Placeholder 2"/>
          <p:cNvSpPr>
            <a:spLocks noGrp="1"/>
          </p:cNvSpPr>
          <p:nvPr>
            <p:ph idx="1"/>
          </p:nvPr>
        </p:nvSpPr>
        <p:spPr>
          <a:xfrm>
            <a:off x="319251" y="700000"/>
            <a:ext cx="6014545" cy="1560000"/>
          </a:xfrm>
        </p:spPr>
        <p:txBody>
          <a:bodyPr wrap="square" anchor="ctr">
            <a:normAutofit fontScale="85000" lnSpcReduction="10000"/>
          </a:bodyPr>
          <a:lstStyle/>
          <a:p>
            <a:pPr marL="0" indent="0">
              <a:buNone/>
            </a:pPr>
            <a:r>
              <a:rPr sz="1400" b="1">
                <a:solidFill>
                  <a:srgbClr val="28285E"/>
                </a:solidFill>
              </a:rPr>
              <a:t>A transition consumes a result that arrives from outside the program.</a:t>
            </a:r>
          </a:p>
          <a:p>
            <a:pPr marL="400050" indent="-285750">
              <a:spcBef>
                <a:spcPts val="600"/>
              </a:spcBef>
              <a:spcAft>
                <a:spcPts val="600"/>
              </a:spcAft>
              <a:buClr>
                <a:srgbClr val="28285E"/>
              </a:buClr>
              <a:buSzPts val="1260"/>
              <a:buFont typeface="+mn-lt"/>
              <a:buChar char="●"/>
            </a:pPr>
            <a:r>
              <a:rPr sz="1400" b="1">
                <a:solidFill>
                  <a:schemeClr val="tx1"/>
                </a:solidFill>
              </a:rPr>
              <a:t>A model reply </a:t>
            </a:r>
            <a:r>
              <a:rPr sz="1400" b="0">
                <a:solidFill>
                  <a:schemeClr val="tx1"/>
                </a:solidFill>
              </a:rPr>
              <a:t>is sampled from a distribution.</a:t>
            </a:r>
          </a:p>
          <a:p>
            <a:pPr marL="400050" indent="-285750">
              <a:spcBef>
                <a:spcPts val="600"/>
              </a:spcBef>
              <a:spcAft>
                <a:spcPts val="600"/>
              </a:spcAft>
              <a:buClr>
                <a:srgbClr val="28285E"/>
              </a:buClr>
              <a:buSzPts val="1260"/>
              <a:buFont typeface="+mn-lt"/>
              <a:buChar char="●"/>
            </a:pPr>
            <a:r>
              <a:rPr sz="1400" b="1">
                <a:solidFill>
                  <a:schemeClr val="tx1"/>
                </a:solidFill>
              </a:rPr>
              <a:t>A tool observation </a:t>
            </a:r>
            <a:r>
              <a:rPr sz="1400" b="0">
                <a:solidFill>
                  <a:schemeClr val="tx1"/>
                </a:solidFill>
              </a:rPr>
              <a:t>depends on a fixture the run itself may have modified.</a:t>
            </a:r>
          </a:p>
          <a:p>
            <a:pPr marL="400050" indent="-285750">
              <a:spcBef>
                <a:spcPts val="600"/>
              </a:spcBef>
              <a:spcAft>
                <a:spcPts val="600"/>
              </a:spcAft>
              <a:buClr>
                <a:srgbClr val="28285E"/>
              </a:buClr>
              <a:buSzPts val="1260"/>
              <a:buFont typeface="+mn-lt"/>
              <a:buChar char="●"/>
            </a:pPr>
            <a:r>
              <a:rPr sz="1400" b="1">
                <a:solidFill>
                  <a:schemeClr val="tx1"/>
                </a:solidFill>
              </a:rPr>
              <a:t>Neither is determined </a:t>
            </a:r>
            <a:r>
              <a:rPr sz="1400" b="0">
                <a:solidFill>
                  <a:schemeClr val="tx1"/>
                </a:solidFill>
              </a:rPr>
              <a:t>by the current state alone.</a:t>
            </a:r>
          </a:p>
        </p:txBody>
      </p:sp>
      <p:sp>
        <p:nvSpPr>
          <p:cNvPr id="4" name="Rectangle 3"/>
          <p:cNvSpPr/>
          <p:nvPr/>
        </p:nvSpPr>
        <p:spPr>
          <a:xfrm>
            <a:off x="319251" y="25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same state can produce different successors, so a run can go wrong here even when every node behaves correctly.</a:t>
            </a:r>
          </a:p>
        </p:txBody>
      </p:sp>
      <p:sp>
        <p:nvSpPr>
          <p:cNvPr id="5" name="Rectangle 4"/>
          <p:cNvSpPr/>
          <p:nvPr/>
        </p:nvSpPr>
        <p:spPr>
          <a:xfrm>
            <a:off x="319251" y="34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This is the nondeterminism of the task environment, arriving at one point.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records, and who reads each</a:t>
            </a:r>
          </a:p>
        </p:txBody>
      </p:sp>
      <p:graphicFrame>
        <p:nvGraphicFramePr>
          <p:cNvPr id="3" name="Table 2"/>
          <p:cNvGraphicFramePr>
            <a:graphicFrameLocks noGrp="1"/>
          </p:cNvGraphicFramePr>
          <p:nvPr/>
        </p:nvGraphicFramePr>
        <p:xfrm>
          <a:off x="319251" y="1491615"/>
          <a:ext cx="6014545" cy="1683030"/>
        </p:xfrm>
        <a:graphic>
          <a:graphicData uri="http://schemas.openxmlformats.org/drawingml/2006/table">
            <a:tbl>
              <a:tblPr firstRow="1" bandRow="1">
                <a:tableStyleId>{5C22544A-7EE6-4342-B048-85BDC9FD1C3A}</a:tableStyleId>
              </a:tblPr>
              <a:tblGrid>
                <a:gridCol w="1450000">
                  <a:extLst>
                    <a:ext uri="{9D8B030D-6E8A-4147-A177-3AD203B41FA5}">
                      <a16:colId xmlns:a16="http://schemas.microsoft.com/office/drawing/2014/main" val="20000"/>
                    </a:ext>
                  </a:extLst>
                </a:gridCol>
                <a:gridCol w="3064545">
                  <a:extLst>
                    <a:ext uri="{9D8B030D-6E8A-4147-A177-3AD203B41FA5}">
                      <a16:colId xmlns:a16="http://schemas.microsoft.com/office/drawing/2014/main" val="20001"/>
                    </a:ext>
                  </a:extLst>
                </a:gridCol>
                <a:gridCol w="1500000">
                  <a:extLst>
                    <a:ext uri="{9D8B030D-6E8A-4147-A177-3AD203B41FA5}">
                      <a16:colId xmlns:a16="http://schemas.microsoft.com/office/drawing/2014/main" val="20002"/>
                    </a:ext>
                  </a:extLst>
                </a:gridCol>
              </a:tblGrid>
              <a:tr h="300000">
                <a:tc>
                  <a:txBody>
                    <a:bodyPr/>
                    <a:lstStyle/>
                    <a:p>
                      <a:pPr>
                        <a:buNone/>
                      </a:pPr>
                      <a:r>
                        <a:rPr sz="1200" b="1">
                          <a:solidFill>
                            <a:schemeClr val="tx1"/>
                          </a:solidFill>
                        </a:rPr>
                        <a:t>Record</a:t>
                      </a:r>
                    </a:p>
                  </a:txBody>
                  <a:tcPr marL="95250" marR="95250" marT="47625" marB="47625">
                    <a:lnB w="12700" cap="flat" cmpd="sng" algn="ctr">
                      <a:solidFill>
                        <a:schemeClr val="tx1"/>
                      </a:solidFill>
                    </a:lnB>
                    <a:noFill/>
                  </a:tcPr>
                </a:tc>
                <a:tc>
                  <a:txBody>
                    <a:bodyPr/>
                    <a:lstStyle/>
                    <a:p>
                      <a:pPr>
                        <a:buNone/>
                      </a:pPr>
                      <a:r>
                        <a:rPr sz="1200" b="1">
                          <a:solidFill>
                            <a:schemeClr val="tx1"/>
                          </a:solidFill>
                        </a:rPr>
                        <a:t>What it holds</a:t>
                      </a:r>
                    </a:p>
                  </a:txBody>
                  <a:tcPr marL="95250" marR="95250" marT="47625" marB="47625">
                    <a:lnB w="12700" cap="flat" cmpd="sng" algn="ctr">
                      <a:solidFill>
                        <a:schemeClr val="tx1"/>
                      </a:solidFill>
                    </a:lnB>
                    <a:noFill/>
                  </a:tcPr>
                </a:tc>
                <a:tc>
                  <a:txBody>
                    <a:bodyPr/>
                    <a:lstStyle/>
                    <a:p>
                      <a:pPr>
                        <a:buNone/>
                      </a:pPr>
                      <a:r>
                        <a:rPr sz="1200" b="1">
                          <a:solidFill>
                            <a:schemeClr val="tx1"/>
                          </a:solidFill>
                        </a:rPr>
                        <a:t>Who reads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200" b="1">
                          <a:solidFill>
                            <a:srgbClr val="28285E"/>
                          </a:solidFill>
                        </a:rPr>
                        <a:t>Model context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Instructions, the selected history, and the observations for one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200" b="1">
                          <a:solidFill>
                            <a:srgbClr val="28285E"/>
                          </a:solidFill>
                        </a:rPr>
                        <a:t>Runtime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The record kept between steps, including fields that enter no model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Nodes, routers, our limits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200" b="1">
                          <a:solidFill>
                            <a:srgbClr val="28285E"/>
                          </a:solidFill>
                        </a:rPr>
                        <a:t>Durable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State written where it survives the end of the process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200" b="0">
                          <a:solidFill>
                            <a:schemeClr val="tx1"/>
                          </a:solidFill>
                        </a:rPr>
                        <a:t>A resumed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50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Model context is assembled from runtime state at </a:t>
            </a:r>
            <a:r>
              <a:rPr sz="1200" b="1">
                <a:solidFill>
                  <a:schemeClr val="tx2"/>
                </a:solidFill>
              </a:rPr>
              <a:t>every call</a:t>
            </a:r>
            <a:r>
              <a:rPr sz="1200" b="0">
                <a:solidFill>
                  <a:schemeClr val="tx2"/>
                </a:solidFill>
              </a:rPr>
              <a: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counters the model never sees</a:t>
            </a:r>
          </a:p>
        </p:txBody>
      </p:sp>
      <p:sp>
        <p:nvSpPr>
          <p:cNvPr id="3" name="Content Placeholder 2"/>
          <p:cNvSpPr>
            <a:spLocks noGrp="1"/>
          </p:cNvSpPr>
          <p:nvPr>
            <p:ph idx="1"/>
          </p:nvPr>
        </p:nvSpPr>
        <p:spPr>
          <a:xfrm>
            <a:off x="319251" y="700000"/>
            <a:ext cx="6014545" cy="1990000"/>
          </a:xfrm>
        </p:spPr>
        <p:txBody>
          <a:bodyPr wrap="square" anchor="ctr">
            <a:normAutofit fontScale="92500" lnSpcReduction="20000"/>
          </a:bodyPr>
          <a:lstStyle/>
          <a:p>
            <a:pPr marL="0" indent="0">
              <a:buNone/>
            </a:pPr>
            <a:r>
              <a:rPr sz="1400" b="1">
                <a:solidFill>
                  <a:srgbClr val="28285E"/>
                </a:solidFill>
              </a:rPr>
              <a:t>Two limits live in fields that enter no model call.</a:t>
            </a:r>
          </a:p>
          <a:p>
            <a:pPr marL="400050" indent="-285750">
              <a:spcBef>
                <a:spcPts val="600"/>
              </a:spcBef>
              <a:spcAft>
                <a:spcPts val="600"/>
              </a:spcAft>
              <a:buClr>
                <a:srgbClr val="28285E"/>
              </a:buClr>
              <a:buSzPts val="1260"/>
              <a:buFont typeface="+mn-lt"/>
              <a:buChar char="●"/>
            </a:pPr>
            <a:r>
              <a:rPr sz="1400" b="1">
                <a:solidFill>
                  <a:schemeClr val="tx1"/>
                </a:solidFill>
              </a:rPr>
              <a:t>Forty model calls. </a:t>
            </a:r>
            <a:r>
              <a:rPr sz="1400" b="0">
                <a:solidFill>
                  <a:schemeClr val="tx1"/>
                </a:solidFill>
              </a:rPr>
              <a:t>The controller refuses a call once </a:t>
            </a:r>
            <a:r>
              <a:rPr sz="1400" b="0">
                <a:latin typeface="Maple Mono NF"/>
              </a:rPr>
              <a:t>model_calls</a:t>
            </a:r>
            <a:r>
              <a:rPr sz="1400" b="0">
                <a:solidFill>
                  <a:schemeClr val="tx1"/>
                </a:solidFill>
              </a:rPr>
              <a:t> reaches forty.</a:t>
            </a:r>
          </a:p>
          <a:p>
            <a:pPr marL="400050" indent="-285750">
              <a:spcBef>
                <a:spcPts val="600"/>
              </a:spcBef>
              <a:spcAft>
                <a:spcPts val="600"/>
              </a:spcAft>
              <a:buClr>
                <a:srgbClr val="28285E"/>
              </a:buClr>
              <a:buSzPts val="1260"/>
              <a:buFont typeface="+mn-lt"/>
              <a:buChar char="●"/>
            </a:pPr>
            <a:r>
              <a:rPr sz="1400" b="1">
                <a:solidFill>
                  <a:schemeClr val="tx1"/>
                </a:solidFill>
              </a:rPr>
              <a:t>Three identical observations. </a:t>
            </a:r>
            <a:r>
              <a:rPr sz="1400" b="0">
                <a:solidFill>
                  <a:schemeClr val="tx1"/>
                </a:solidFill>
              </a:rPr>
              <a:t>The run stops when the last three came back the same.</a:t>
            </a:r>
          </a:p>
          <a:p>
            <a:pPr marL="400050" indent="-285750">
              <a:spcBef>
                <a:spcPts val="600"/>
              </a:spcBef>
              <a:spcAft>
                <a:spcPts val="600"/>
              </a:spcAft>
              <a:buClr>
                <a:srgbClr val="28285E"/>
              </a:buClr>
              <a:buSzPts val="1260"/>
              <a:buFont typeface="+mn-lt"/>
              <a:buChar char="●"/>
            </a:pPr>
            <a:r>
              <a:rPr sz="1400" b="1">
                <a:solidFill>
                  <a:schemeClr val="tx1"/>
                </a:solidFill>
              </a:rPr>
              <a:t>Neither number is shown to the model. </a:t>
            </a:r>
            <a:r>
              <a:rPr sz="1400" b="0">
                <a:solidFill>
                  <a:schemeClr val="tx1"/>
                </a:solidFill>
              </a:rPr>
              <a:t>The check is a comparison in the controller.</a:t>
            </a:r>
          </a:p>
        </p:txBody>
      </p:sp>
      <p:sp>
        <p:nvSpPr>
          <p:cNvPr id="4" name="Rectangle 3"/>
          <p:cNvSpPr/>
          <p:nvPr/>
        </p:nvSpPr>
        <p:spPr>
          <a:xfrm>
            <a:off x="319251" y="287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limit the model can read is a limit the model can argue with.</a:t>
            </a:r>
          </a:p>
        </p:txBody>
      </p:sp>
      <p:sp>
        <p:nvSpPr>
          <p:cNvPr id="5" name="Rectangle 4"/>
          <p:cNvSpPr/>
          <p:nvPr/>
        </p:nvSpPr>
        <p:spPr>
          <a:xfrm>
            <a:off x="319251" y="37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We keep them out on purpose.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mini-swe-agent represents a state</a:t>
            </a:r>
          </a:p>
        </p:txBody>
      </p:sp>
      <p:sp>
        <p:nvSpPr>
          <p:cNvPr id="3" name="Content Placeholder 2"/>
          <p:cNvSpPr>
            <a:spLocks noGrp="1"/>
          </p:cNvSpPr>
          <p:nvPr>
            <p:ph idx="1"/>
          </p:nvPr>
        </p:nvSpPr>
        <p:spPr>
          <a:xfrm>
            <a:off x="319251" y="700000"/>
            <a:ext cx="6014545" cy="2010000"/>
          </a:xfrm>
        </p:spPr>
        <p:txBody>
          <a:bodyPr wrap="square" anchor="ctr">
            <a:normAutofit fontScale="92500" lnSpcReduction="20000"/>
          </a:bodyPr>
          <a:lstStyle/>
          <a:p>
            <a:pPr marL="0" indent="0">
              <a:buNone/>
            </a:pPr>
            <a:r>
              <a:rPr sz="1400" b="1">
                <a:solidFill>
                  <a:srgbClr val="28285E"/>
                </a:solidFill>
              </a:rPr>
              <a:t>Three representations of increasing expressive power, all in one agent.</a:t>
            </a:r>
          </a:p>
          <a:p>
            <a:pPr marL="400050" indent="-285750">
              <a:spcBef>
                <a:spcPts val="600"/>
              </a:spcBef>
              <a:spcAft>
                <a:spcPts val="600"/>
              </a:spcAft>
              <a:buClr>
                <a:srgbClr val="28285E"/>
              </a:buClr>
              <a:buSzPts val="1260"/>
              <a:buFont typeface="+mn-lt"/>
              <a:buChar char="●"/>
            </a:pPr>
            <a:r>
              <a:rPr sz="1400" b="1">
                <a:solidFill>
                  <a:schemeClr val="tx1"/>
                </a:solidFill>
              </a:rPr>
              <a:t>Atomic. </a:t>
            </a:r>
            <a:r>
              <a:rPr sz="1400" b="0">
                <a:solidFill>
                  <a:schemeClr val="tx1"/>
                </a:solidFill>
              </a:rPr>
              <a:t>The run's outcome. Accepted or stopped is a label with no internal structure.</a:t>
            </a:r>
          </a:p>
          <a:p>
            <a:pPr marL="400050" indent="-285750">
              <a:spcBef>
                <a:spcPts val="600"/>
              </a:spcBef>
              <a:spcAft>
                <a:spcPts val="600"/>
              </a:spcAft>
              <a:buClr>
                <a:srgbClr val="28285E"/>
              </a:buClr>
              <a:buSzPts val="1260"/>
              <a:buFont typeface="+mn-lt"/>
              <a:buChar char="●"/>
            </a:pPr>
            <a:r>
              <a:rPr sz="1400" b="1">
                <a:solidFill>
                  <a:schemeClr val="tx1"/>
                </a:solidFill>
              </a:rPr>
              <a:t>Factored. </a:t>
            </a:r>
            <a:r>
              <a:rPr sz="1400" b="0">
                <a:solidFill>
                  <a:schemeClr val="tx1"/>
                </a:solidFill>
              </a:rPr>
              <a:t>The record itself. Named fields with values, so two states can agree on some and differ on others.</a:t>
            </a:r>
          </a:p>
          <a:p>
            <a:pPr marL="400050" indent="-285750">
              <a:spcBef>
                <a:spcPts val="600"/>
              </a:spcBef>
              <a:spcAft>
                <a:spcPts val="600"/>
              </a:spcAft>
              <a:buClr>
                <a:srgbClr val="28285E"/>
              </a:buClr>
              <a:buSzPts val="1260"/>
              <a:buFont typeface="+mn-lt"/>
              <a:buChar char="●"/>
            </a:pPr>
            <a:r>
              <a:rPr sz="1400" b="1">
                <a:solidFill>
                  <a:schemeClr val="tx1"/>
                </a:solidFill>
              </a:rPr>
              <a:t>Structured. </a:t>
            </a:r>
            <a:r>
              <a:rPr sz="1400" b="0">
                <a:solidFill>
                  <a:schemeClr val="tx1"/>
                </a:solidFill>
              </a:rPr>
              <a:t>The patch and the rejection. A patch is a set of hunks, each over a file and a range of lines.</a:t>
            </a:r>
          </a:p>
        </p:txBody>
      </p:sp>
      <p:sp>
        <p:nvSpPr>
          <p:cNvPr id="4" name="Rectangle 3"/>
          <p:cNvSpPr/>
          <p:nvPr/>
        </p:nvSpPr>
        <p:spPr>
          <a:xfrm>
            <a:off x="319251" y="289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expressive representation is the exception, because reasoning over structure is harder for us and for the model both.</a:t>
            </a:r>
          </a:p>
        </p:txBody>
      </p:sp>
      <p:sp>
        <p:nvSpPr>
          <p:cNvPr id="5" name="TextBox 4"/>
          <p:cNvSpPr txBox="1"/>
          <p:nvPr/>
        </p:nvSpPr>
        <p:spPr>
          <a:xfrm>
            <a:off x="319251" y="3531801"/>
            <a:ext cx="6014545" cy="200000"/>
          </a:xfrm>
          <a:prstGeom prst="rect">
            <a:avLst/>
          </a:prstGeom>
          <a:noFill/>
        </p:spPr>
        <p:txBody>
          <a:bodyPr wrap="square" lIns="0" tIns="0" rIns="0" bIns="0">
            <a:spAutoFit/>
          </a:bodyPr>
          <a:lstStyle/>
          <a:p>
            <a:pPr algn="r"/>
            <a:r>
              <a:rPr sz="1050" i="1">
                <a:solidFill>
                  <a:schemeClr val="bg2"/>
                </a:solidFill>
              </a:rPr>
              <a:t>Russell and Norvig, §2.4.7</a:t>
            </a:r>
          </a:p>
        </p:txBody>
      </p:sp>
      <p:sp>
        <p:nvSpPr>
          <p:cNvPr id="6" name="Rectangle 5"/>
          <p:cNvSpPr/>
          <p:nvPr/>
        </p:nvSpPr>
        <p:spPr>
          <a:xfrm>
            <a:off x="319251" y="39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Keeping the record factored is what buys us reducers, routing and limits.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state schema, field by field</a:t>
            </a:r>
          </a:p>
        </p:txBody>
      </p:sp>
      <p:graphicFrame>
        <p:nvGraphicFramePr>
          <p:cNvPr id="3" name="Table 2"/>
          <p:cNvGraphicFramePr>
            <a:graphicFrameLocks noGrp="1"/>
          </p:cNvGraphicFramePr>
          <p:nvPr/>
        </p:nvGraphicFramePr>
        <p:xfrm>
          <a:off x="319251" y="1050000"/>
          <a:ext cx="6014545" cy="22431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050000">
                  <a:extLst>
                    <a:ext uri="{9D8B030D-6E8A-4147-A177-3AD203B41FA5}">
                      <a16:colId xmlns:a16="http://schemas.microsoft.com/office/drawing/2014/main" val="20001"/>
                    </a:ext>
                  </a:extLst>
                </a:gridCol>
                <a:gridCol w="3064545">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Field</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Reducer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holds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latin typeface="Maple Mono NF"/>
                        </a:rPr>
                        <a:t>alert, repo, commit,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Set once: the alert, the fixture, the pinned commit,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latin typeface="Maple Mono NF"/>
                        </a:rPr>
                        <a:t>messages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conversation, in provider form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latin typeface="Maple Mono NF"/>
                        </a:rPr>
                        <a:t>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record per dispatched tool call, refused or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latin typeface="Maple Mono NF"/>
                        </a:rPr>
                        <a:t>candidate_patch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patch currently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latin typeface="Maple Mono NF"/>
                        </a:rPr>
                        <a:t>model_calls, usage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accumulate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Calls issued and tokens spent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latin typeface="Maple Mono NF"/>
                        </a:rPr>
                        <a:t>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Running, or the terminal status that ended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state schema, field by field</a:t>
            </a:r>
          </a:p>
        </p:txBody>
      </p:sp>
      <p:graphicFrame>
        <p:nvGraphicFramePr>
          <p:cNvPr id="3" name="Table 2"/>
          <p:cNvGraphicFramePr>
            <a:graphicFrameLocks noGrp="1"/>
          </p:cNvGraphicFramePr>
          <p:nvPr/>
        </p:nvGraphicFramePr>
        <p:xfrm>
          <a:off x="319251" y="1050000"/>
          <a:ext cx="6014545" cy="32337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050000">
                  <a:extLst>
                    <a:ext uri="{9D8B030D-6E8A-4147-A177-3AD203B41FA5}">
                      <a16:colId xmlns:a16="http://schemas.microsoft.com/office/drawing/2014/main" val="20001"/>
                    </a:ext>
                  </a:extLst>
                </a:gridCol>
                <a:gridCol w="3064545">
                  <a:extLst>
                    <a:ext uri="{9D8B030D-6E8A-4147-A177-3AD203B41FA5}">
                      <a16:colId xmlns:a16="http://schemas.microsoft.com/office/drawing/2014/main" val="20002"/>
                    </a:ext>
                  </a:extLst>
                </a:gridCol>
              </a:tblGrid>
              <a:tr h="300000">
                <a:tc>
                  <a:txBody>
                    <a:bodyPr/>
                    <a:lstStyle/>
                    <a:p>
                      <a:pPr>
                        <a:buNone/>
                      </a:pPr>
                      <a:r>
                        <a:rPr sz="1000" b="1">
                          <a:solidFill>
                            <a:schemeClr val="tx1"/>
                          </a:solidFill>
                        </a:rPr>
                        <a:t>Field</a:t>
                      </a:r>
                    </a:p>
                  </a:txBody>
                  <a:tcPr marL="95250" marR="95250" marT="47625" marB="47625">
                    <a:lnB w="12700" cap="flat" cmpd="sng" algn="ctr">
                      <a:solidFill>
                        <a:schemeClr val="tx1"/>
                      </a:solidFill>
                    </a:lnB>
                    <a:noFill/>
                  </a:tcPr>
                </a:tc>
                <a:tc>
                  <a:txBody>
                    <a:bodyPr/>
                    <a:lstStyle/>
                    <a:p>
                      <a:pPr>
                        <a:buNone/>
                      </a:pPr>
                      <a:r>
                        <a:rPr sz="1000" b="1">
                          <a:solidFill>
                            <a:schemeClr val="tx1"/>
                          </a:solidFill>
                        </a:rPr>
                        <a:t>Reducer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holds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latin typeface="Maple Mono NF"/>
                        </a:rPr>
                        <a:t>alert, repo, commit,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Set once: the alert, the fixture, the pinned commit,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latin typeface="Maple Mono NF"/>
                        </a:rPr>
                        <a:t>messages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conversation, in provider form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latin typeface="Maple Mono NF"/>
                        </a:rPr>
                        <a:t>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record per dispatched tool call, refused or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latin typeface="Maple Mono NF"/>
                        </a:rPr>
                        <a:t>candidate_patch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patch currently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latin typeface="Maple Mono NF"/>
                        </a:rPr>
                        <a:t>model_calls, usage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accumulate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Calls issued and tokens spent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latin typeface="Maple Mono NF"/>
                        </a:rPr>
                        <a:t>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Running, or the terminal status that ended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chemeClr val="accent4"/>
                          </a:solidFill>
                        </a:rPr>
                        <a:t>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subgoals and their 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chemeClr val="accent4"/>
                          </a:solidFill>
                        </a:rPr>
                        <a:t>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replace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latest acceptance decision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r>
                        <a:rPr sz="1000" b="1">
                          <a:solidFill>
                            <a:schemeClr val="accent4"/>
                          </a:solidFill>
                        </a:rPr>
                        <a:t>reflections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append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Guidance kept from rejected attempts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r h="0">
                <a:tc>
                  <a:txBody>
                    <a:bodyPr/>
                    <a:lstStyle/>
                    <a:p>
                      <a:pPr>
                        <a:buNone/>
                      </a:pPr>
                      <a:r>
                        <a:rPr sz="1000" b="1">
                          <a:solidFill>
                            <a:schemeClr val="accent4"/>
                          </a:solidFill>
                        </a:rPr>
                        <a:t>attempt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explicit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Which attempt is running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10"/>
                  </a:ext>
                </a:extLst>
              </a:tr>
            </a:tbl>
          </a:graphicData>
        </a:graphic>
      </p:graphicFrame>
      <p:sp>
        <p:nvSpPr>
          <p:cNvPr id="4" name="Rectangle 3"/>
          <p:cNvSpPr/>
          <p:nvPr/>
        </p:nvSpPr>
        <p:spPr>
          <a:xfrm>
            <a:off x="1888761" y="414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The four below the rule arrive with the planner, the validator and the reflection step.</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TypedDict checks nothing at run time</a:t>
            </a:r>
          </a:p>
        </p:txBody>
      </p:sp>
      <p:sp>
        <p:nvSpPr>
          <p:cNvPr id="3" name="TextBox 2"/>
          <p:cNvSpPr txBox="1"/>
          <p:nvPr/>
        </p:nvSpPr>
        <p:spPr>
          <a:xfrm>
            <a:off x="319251" y="900000"/>
            <a:ext cx="6014545" cy="200000"/>
          </a:xfrm>
          <a:prstGeom prst="rect">
            <a:avLst/>
          </a:prstGeom>
          <a:noFill/>
        </p:spPr>
        <p:txBody>
          <a:bodyPr wrap="none" lIns="0" tIns="0" rIns="0" bIns="0">
            <a:spAutoFit/>
          </a:bodyPr>
          <a:lstStyle/>
          <a:p>
            <a:r>
              <a:rPr sz="1200" b="1">
                <a:solidFill>
                  <a:srgbClr val="28285E"/>
                </a:solidFill>
              </a:rPr>
              <a:t>The annotation is for a type checker, and nothing else</a:t>
            </a:r>
          </a:p>
        </p:txBody>
      </p:sp>
      <p:sp>
        <p:nvSpPr>
          <p:cNvPr id="4" name="Rounded Rectangle 3"/>
          <p:cNvSpPr/>
          <p:nvPr/>
        </p:nvSpPr>
        <p:spPr>
          <a:xfrm>
            <a:off x="319251" y="1160000"/>
            <a:ext cx="6014545" cy="9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class AgentState(TypedDict, total=False):</a:t>
            </a:r>
          </a:p>
          <a:p>
            <a:pPr algn="l">
              <a:buNone/>
            </a:pPr>
            <a:r>
              <a:rPr sz="1100">
                <a:solidFill>
                  <a:srgbClr val="28285E"/>
                </a:solidFill>
                <a:latin typeface="Maple Mono NF"/>
              </a:rPr>
              <a:t>    model_calls: Annotated[int, operator.add]</a:t>
            </a:r>
          </a:p>
          <a:p>
            <a:pPr algn="l">
              <a:buNone/>
            </a:pPr>
            <a:endParaRPr sz="1100">
              <a:solidFill>
                <a:srgbClr val="28285E"/>
              </a:solidFill>
              <a:latin typeface="Maple Mono NF"/>
            </a:endParaRPr>
          </a:p>
          <a:p>
            <a:pPr algn="l">
              <a:buNone/>
            </a:pPr>
            <a:r>
              <a:rPr sz="1100">
                <a:solidFill>
                  <a:srgbClr val="8A8A9A"/>
                </a:solidFill>
                <a:latin typeface="Maple Mono NF"/>
              </a:rPr>
              <a:t># a model reply puts </a:t>
            </a:r>
            <a:r>
              <a:rPr sz="1100" b="1">
                <a:solidFill>
                  <a:srgbClr val="C73561"/>
                </a:solidFill>
                <a:latin typeface="Maple Mono NF"/>
              </a:rPr>
              <a:t>"forty"</a:t>
            </a:r>
            <a:r>
              <a:rPr sz="1100">
                <a:solidFill>
                  <a:srgbClr val="8A8A9A"/>
                </a:solidFill>
                <a:latin typeface="Maple Mono NF"/>
              </a:rPr>
              <a:t> here: type-checks, and is wrong at run time</a:t>
            </a:r>
          </a:p>
        </p:txBody>
      </p:sp>
      <p:sp>
        <p:nvSpPr>
          <p:cNvPr id="5" name="Rectangle 4"/>
          <p:cNvSpPr/>
          <p:nvPr/>
        </p:nvSpPr>
        <p:spPr>
          <a:xfrm>
            <a:off x="319251" y="23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Every guarantee about the contents of state rests on code we write.</a:t>
            </a:r>
          </a:p>
        </p:txBody>
      </p:sp>
      <p:sp>
        <p:nvSpPr>
          <p:cNvPr id="6" name="TextBox 5"/>
          <p:cNvSpPr txBox="1"/>
          <p:nvPr/>
        </p:nvSpPr>
        <p:spPr>
          <a:xfrm>
            <a:off x="319251" y="2991801"/>
            <a:ext cx="6014545" cy="200000"/>
          </a:xfrm>
          <a:prstGeom prst="rect">
            <a:avLst/>
          </a:prstGeom>
          <a:noFill/>
        </p:spPr>
        <p:txBody>
          <a:bodyPr wrap="square" lIns="0" tIns="0" rIns="0" bIns="0">
            <a:spAutoFit/>
          </a:bodyPr>
          <a:lstStyle/>
          <a:p>
            <a:pPr algn="r"/>
            <a:r>
              <a:rPr sz="1050" i="1">
                <a:solidFill>
                  <a:schemeClr val="bg2"/>
                </a:solidFill>
              </a:rPr>
              <a:t>PEP 589</a:t>
            </a:r>
          </a:p>
        </p:txBody>
      </p:sp>
      <p:sp>
        <p:nvSpPr>
          <p:cNvPr id="7" name="Rectangle 6"/>
          <p:cNvSpPr/>
          <p:nvPr/>
        </p:nvSpPr>
        <p:spPr>
          <a:xfrm>
            <a:off x="319251" y="34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check that catches it is the argument validation at the tool boundary.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reducers, three kinds of visibility</a:t>
            </a:r>
          </a:p>
        </p:txBody>
      </p:sp>
      <p:sp>
        <p:nvSpPr>
          <p:cNvPr id="3" name="Content Placeholder 2"/>
          <p:cNvSpPr>
            <a:spLocks noGrp="1"/>
          </p:cNvSpPr>
          <p:nvPr>
            <p:ph idx="1"/>
          </p:nvPr>
        </p:nvSpPr>
        <p:spPr>
          <a:xfrm>
            <a:off x="319251" y="700000"/>
            <a:ext cx="6014545" cy="2010000"/>
          </a:xfrm>
        </p:spPr>
        <p:txBody>
          <a:bodyPr wrap="square" anchor="ctr">
            <a:normAutofit fontScale="92500" lnSpcReduction="20000"/>
          </a:bodyPr>
          <a:lstStyle/>
          <a:p>
            <a:pPr marL="0" indent="0">
              <a:buNone/>
            </a:pPr>
            <a:r>
              <a:rPr sz="1400" b="1">
                <a:solidFill>
                  <a:srgbClr val="28285E"/>
                </a:solidFill>
              </a:rPr>
              <a:t>A reducer decides what every later step is allowed to see.</a:t>
            </a:r>
          </a:p>
          <a:p>
            <a:pPr marL="400050" indent="-285750">
              <a:spcBef>
                <a:spcPts val="600"/>
              </a:spcBef>
              <a:spcAft>
                <a:spcPts val="600"/>
              </a:spcAft>
              <a:buClr>
                <a:srgbClr val="28285E"/>
              </a:buClr>
              <a:buSzPts val="1260"/>
              <a:buFont typeface="+mn-lt"/>
              <a:buChar char="●"/>
            </a:pPr>
            <a:r>
              <a:rPr sz="1400" b="1">
                <a:solidFill>
                  <a:schemeClr val="tx1"/>
                </a:solidFill>
              </a:rPr>
              <a:t>Append. </a:t>
            </a:r>
            <a:r>
              <a:rPr sz="1400" b="0">
                <a:latin typeface="Maple Mono NF"/>
              </a:rPr>
              <a:t>observations</a:t>
            </a:r>
            <a:r>
              <a:rPr sz="1400" b="0">
                <a:solidFill>
                  <a:schemeClr val="tx1"/>
                </a:solidFill>
              </a:rPr>
              <a:t> and </a:t>
            </a:r>
            <a:r>
              <a:rPr sz="1400" b="0">
                <a:latin typeface="Maple Mono NF"/>
              </a:rPr>
              <a:t>messages</a:t>
            </a:r>
            <a:r>
              <a:rPr sz="1400" b="0">
                <a:solidFill>
                  <a:schemeClr val="tx1"/>
                </a:solidFill>
              </a:rPr>
              <a:t> keep the whole attempt, which is what the stall check compares.</a:t>
            </a:r>
          </a:p>
          <a:p>
            <a:pPr marL="400050" indent="-285750">
              <a:spcBef>
                <a:spcPts val="600"/>
              </a:spcBef>
              <a:spcAft>
                <a:spcPts val="600"/>
              </a:spcAft>
              <a:buClr>
                <a:srgbClr val="28285E"/>
              </a:buClr>
              <a:buSzPts val="1260"/>
              <a:buFont typeface="+mn-lt"/>
              <a:buChar char="●"/>
            </a:pPr>
            <a:r>
              <a:rPr sz="1400" b="1">
                <a:solidFill>
                  <a:schemeClr val="tx1"/>
                </a:solidFill>
              </a:rPr>
              <a:t>Replace. </a:t>
            </a:r>
            <a:r>
              <a:rPr sz="1400" b="0">
                <a:latin typeface="Maple Mono NF"/>
              </a:rPr>
              <a:t>candidate_patch</a:t>
            </a:r>
            <a:r>
              <a:rPr sz="1400" b="0">
                <a:solidFill>
                  <a:schemeClr val="tx1"/>
                </a:solidFill>
              </a:rPr>
              <a:t>, </a:t>
            </a:r>
            <a:r>
              <a:rPr sz="1400" b="0">
                <a:latin typeface="Maple Mono NF"/>
              </a:rPr>
              <a:t>plan</a:t>
            </a:r>
            <a:r>
              <a:rPr sz="1400" b="0">
                <a:solidFill>
                  <a:schemeClr val="tx1"/>
                </a:solidFill>
              </a:rPr>
              <a:t> and </a:t>
            </a:r>
            <a:r>
              <a:rPr sz="1400" b="0">
                <a:latin typeface="Maple Mono NF"/>
              </a:rPr>
              <a:t>status</a:t>
            </a:r>
            <a:r>
              <a:rPr sz="1400" b="0">
                <a:solidFill>
                  <a:schemeClr val="tx1"/>
                </a:solidFill>
              </a:rPr>
              <a:t> each name what is true now.</a:t>
            </a:r>
          </a:p>
          <a:p>
            <a:pPr marL="400050" indent="-285750">
              <a:spcBef>
                <a:spcPts val="600"/>
              </a:spcBef>
              <a:spcAft>
                <a:spcPts val="600"/>
              </a:spcAft>
              <a:buClr>
                <a:srgbClr val="28285E"/>
              </a:buClr>
              <a:buSzPts val="1260"/>
              <a:buFont typeface="+mn-lt"/>
              <a:buChar char="●"/>
            </a:pPr>
            <a:r>
              <a:rPr sz="1400" b="1">
                <a:solidFill>
                  <a:schemeClr val="tx1"/>
                </a:solidFill>
              </a:rPr>
              <a:t>Accumulate. </a:t>
            </a:r>
            <a:r>
              <a:rPr sz="1400" b="0">
                <a:latin typeface="Maple Mono NF"/>
              </a:rPr>
              <a:t>usage</a:t>
            </a:r>
            <a:r>
              <a:rPr sz="1400" b="0">
                <a:solidFill>
                  <a:schemeClr val="tx1"/>
                </a:solidFill>
              </a:rPr>
              <a:t> sums four token counters and produces no total, so no node ever holds the running total.</a:t>
            </a:r>
          </a:p>
        </p:txBody>
      </p:sp>
      <p:sp>
        <p:nvSpPr>
          <p:cNvPr id="4" name="Rectangle 3"/>
          <p:cNvSpPr/>
          <p:nvPr/>
        </p:nvSpPr>
        <p:spPr>
          <a:xfrm>
            <a:off x="319251" y="289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“Each key in the State has its own independent reducer function.”</a:t>
            </a:r>
          </a:p>
        </p:txBody>
      </p:sp>
      <p:sp>
        <p:nvSpPr>
          <p:cNvPr id="5" name="TextBox 4"/>
          <p:cNvSpPr txBox="1"/>
          <p:nvPr/>
        </p:nvSpPr>
        <p:spPr>
          <a:xfrm>
            <a:off x="319251" y="3531801"/>
            <a:ext cx="6014545" cy="200000"/>
          </a:xfrm>
          <a:prstGeom prst="rect">
            <a:avLst/>
          </a:prstGeom>
          <a:noFill/>
        </p:spPr>
        <p:txBody>
          <a:bodyPr wrap="square" lIns="0" tIns="0" rIns="0" bIns="0">
            <a:spAutoFit/>
          </a:bodyPr>
          <a:lstStyle/>
          <a:p>
            <a:pPr algn="r"/>
            <a:r>
              <a:rPr sz="1050" i="1">
                <a:solidFill>
                  <a:schemeClr val="bg2"/>
                </a:solidFill>
              </a:rPr>
              <a:t>LangGraph, Graph API</a:t>
            </a:r>
          </a:p>
        </p:txBody>
      </p:sp>
      <p:sp>
        <p:nvSpPr>
          <p:cNvPr id="6" name="Rectangle 5"/>
          <p:cNvSpPr/>
          <p:nvPr/>
        </p:nvSpPr>
        <p:spPr>
          <a:xfrm>
            <a:off x="319251" y="39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four token counters stay apart because they are not interchangeable.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Clearing a field that appends</a:t>
            </a:r>
          </a:p>
        </p:txBody>
      </p:sp>
      <p:sp>
        <p:nvSpPr>
          <p:cNvPr id="3" name="TextBox 2"/>
          <p:cNvSpPr txBox="1"/>
          <p:nvPr/>
        </p:nvSpPr>
        <p:spPr>
          <a:xfrm>
            <a:off x="319251" y="800000"/>
            <a:ext cx="6014545" cy="200000"/>
          </a:xfrm>
          <a:prstGeom prst="rect">
            <a:avLst/>
          </a:prstGeom>
          <a:noFill/>
        </p:spPr>
        <p:txBody>
          <a:bodyPr wrap="none" lIns="0" tIns="0" rIns="0" bIns="0">
            <a:spAutoFit/>
          </a:bodyPr>
          <a:lstStyle/>
          <a:p>
            <a:r>
              <a:rPr sz="1200" b="1">
                <a:solidFill>
                  <a:srgbClr val="28285E"/>
                </a:solidFill>
              </a:rPr>
              <a:t>The reset that does not reset</a:t>
            </a:r>
          </a:p>
        </p:txBody>
      </p:sp>
      <p:sp>
        <p:nvSpPr>
          <p:cNvPr id="4" name="Rounded Rectangle 3"/>
          <p:cNvSpPr/>
          <p:nvPr/>
        </p:nvSpPr>
        <p:spPr>
          <a:xfrm>
            <a:off x="319251" y="106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 the reflection step, starting a new attempt</a:t>
            </a:r>
          </a:p>
          <a:p>
            <a:pPr algn="l">
              <a:buNone/>
            </a:pPr>
            <a:r>
              <a:rPr sz="1100">
                <a:solidFill>
                  <a:srgbClr val="28285E"/>
                </a:solidFill>
                <a:latin typeface="Maple Mono NF"/>
              </a:rPr>
              <a:t>return {"observations": </a:t>
            </a:r>
            <a:r>
              <a:rPr sz="1100" b="1">
                <a:solidFill>
                  <a:srgbClr val="C73561"/>
                </a:solidFill>
                <a:latin typeface="Maple Mono NF"/>
              </a:rPr>
              <a:t>[]</a:t>
            </a:r>
            <a:r>
              <a:rPr sz="1100">
                <a:solidFill>
                  <a:srgbClr val="28285E"/>
                </a:solidFill>
                <a:latin typeface="Maple Mono NF"/>
              </a:rPr>
              <a:t>}</a:t>
            </a:r>
          </a:p>
          <a:p>
            <a:pPr algn="l">
              <a:buNone/>
            </a:pPr>
            <a:r>
              <a:rPr sz="1100">
                <a:solidFill>
                  <a:srgbClr val="8A8A9A"/>
                </a:solidFill>
                <a:latin typeface="Maple Mono NF"/>
              </a:rPr>
              <a:t># merged: every earlier observation is still exactly where it was</a:t>
            </a:r>
          </a:p>
        </p:txBody>
      </p:sp>
      <p:sp>
        <p:nvSpPr>
          <p:cNvPr id="5" name="Rectangle 4"/>
          <p:cNvSpPr/>
          <p:nvPr/>
        </p:nvSpPr>
        <p:spPr>
          <a:xfrm>
            <a:off x="319251" y="21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append reducer given an empty update leaves every earlier observation exactly where it was.</a:t>
            </a:r>
          </a:p>
        </p:txBody>
      </p:sp>
      <p:sp>
        <p:nvSpPr>
          <p:cNvPr id="6" name="Rectangle 5"/>
          <p:cNvSpPr/>
          <p:nvPr/>
        </p:nvSpPr>
        <p:spPr>
          <a:xfrm>
            <a:off x="319251" y="30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Clearing an appended field takes an explicit assignment the runtime owns.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tool result becoming state</a:t>
            </a:r>
          </a:p>
        </p:txBody>
      </p:sp>
      <p:sp>
        <p:nvSpPr>
          <p:cNvPr id="3" name="TextBox 2"/>
          <p:cNvSpPr txBox="1"/>
          <p:nvPr/>
        </p:nvSpPr>
        <p:spPr>
          <a:xfrm>
            <a:off x="319251" y="750000"/>
            <a:ext cx="6014545" cy="200000"/>
          </a:xfrm>
          <a:prstGeom prst="rect">
            <a:avLst/>
          </a:prstGeom>
          <a:noFill/>
        </p:spPr>
        <p:txBody>
          <a:bodyPr wrap="none" lIns="0" tIns="0" rIns="0" bIns="0">
            <a:spAutoFit/>
          </a:bodyPr>
          <a:lstStyle/>
          <a:p>
            <a:r>
              <a:rPr sz="1200" b="1">
                <a:solidFill>
                  <a:srgbClr val="28285E"/>
                </a:solidFill>
              </a:rPr>
              <a:t>Four events in, the dispatcher returns 1,665 characters of source</a:t>
            </a:r>
          </a:p>
        </p:txBody>
      </p:sp>
      <p:sp>
        <p:nvSpPr>
          <p:cNvPr id="4" name="Rounded Rectangle 3"/>
          <p:cNvSpPr/>
          <p:nvPr/>
        </p:nvSpPr>
        <p:spPr>
          <a:xfrm>
            <a:off x="319251" y="1010000"/>
            <a:ext cx="6014545" cy="13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 before: observations [], messages 3, model_calls 1</a:t>
            </a:r>
          </a:p>
          <a:p>
            <a:pPr algn="l">
              <a:buNone/>
            </a:pPr>
            <a:r>
              <a:rPr sz="1100">
                <a:solidFill>
                  <a:srgbClr val="28285E"/>
                </a:solidFill>
                <a:latin typeface="Maple Mono NF"/>
              </a:rPr>
              <a:t>return {"observations": [{"tool": "read_file", "ok": True,</a:t>
            </a:r>
          </a:p>
          <a:p>
            <a:pPr algn="l">
              <a:buNone/>
            </a:pPr>
            <a:r>
              <a:rPr sz="1100">
                <a:solidFill>
                  <a:srgbClr val="28285E"/>
                </a:solidFill>
                <a:latin typeface="Maple Mono NF"/>
              </a:rPr>
              <a:t>                          "result": "&lt;1665 chars of source&gt;"}],</a:t>
            </a:r>
          </a:p>
          <a:p>
            <a:pPr algn="l">
              <a:buNone/>
            </a:pPr>
            <a:r>
              <a:rPr sz="1100">
                <a:solidFill>
                  <a:srgbClr val="28285E"/>
                </a:solidFill>
                <a:latin typeface="Maple Mono NF"/>
              </a:rPr>
              <a:t>        "messages": [ToolMessage(...)]}</a:t>
            </a:r>
          </a:p>
          <a:p>
            <a:pPr algn="l">
              <a:buNone/>
            </a:pPr>
            <a:r>
              <a:rPr sz="1100">
                <a:solidFill>
                  <a:srgbClr val="8A8A9A"/>
                </a:solidFill>
                <a:latin typeface="Maple Mono NF"/>
              </a:rPr>
              <a:t># merged: observations +1, messages +1, every other key untouched</a:t>
            </a:r>
          </a:p>
          <a:p>
            <a:pPr algn="l">
              <a:buNone/>
            </a:pPr>
            <a:r>
              <a:rPr sz="1100">
                <a:solidFill>
                  <a:srgbClr val="8A8A9A"/>
                </a:solidFill>
                <a:latin typeface="Maple Mono NF"/>
              </a:rPr>
              <a:t># the next model input is built from messages alone</a:t>
            </a:r>
          </a:p>
        </p:txBody>
      </p:sp>
      <p:sp>
        <p:nvSpPr>
          <p:cNvPr id="5" name="Rectangle 4"/>
          <p:cNvSpPr/>
          <p:nvPr/>
        </p:nvSpPr>
        <p:spPr>
          <a:xfrm>
            <a:off x="319251" y="256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observation the runtime stored is richer than the message the model receives.</a:t>
            </a:r>
          </a:p>
        </p:txBody>
      </p:sp>
      <p:sp>
        <p:nvSpPr>
          <p:cNvPr id="6" name="Rectangle 5"/>
          <p:cNvSpPr/>
          <p:nvPr/>
        </p:nvSpPr>
        <p:spPr>
          <a:xfrm>
            <a:off x="319251" y="34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State answers what the run knows now; the trace answers what the run did.</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3374</TotalTime>
  <Words>15610</Words>
  <Application>Microsoft Macintosh PowerPoint</Application>
  <PresentationFormat>Custom</PresentationFormat>
  <Paragraphs>1074</Paragraphs>
  <Slides>102</Slides>
  <Notes>92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102</vt:i4>
      </vt:variant>
    </vt:vector>
  </HeadingPairs>
  <TitlesOfParts>
    <vt:vector size="107" baseType="lpstr">
      <vt:lpstr>Arial</vt:lpstr>
      <vt:lpstr>Fira Sans Light</vt:lpstr>
      <vt:lpstr>Fira Sans</vt:lpstr>
      <vt:lpstr>Maple Mono NF</vt:lpstr>
      <vt:lpstr>Simple Light</vt:lpstr>
      <vt:lpstr>Designing Production Agentic Systems</vt:lpstr>
      <vt:lpstr>PowerPoint Presentation</vt:lpstr>
      <vt:lpstr>About the Instructors</vt:lpstr>
      <vt:lpstr>Class Notifications</vt:lpstr>
      <vt:lpstr>The key question that motivates this course</vt:lpstr>
      <vt:lpstr>What I hope you will learn…</vt:lpstr>
      <vt:lpstr>What I hope you will learn…</vt:lpstr>
      <vt:lpstr>Homework, Grades, and Exams</vt:lpstr>
      <vt:lpstr>Homework, Grades, and Exams</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What each shape does with an observation</vt:lpstr>
      <vt:lpstr>Shapes of Planning</vt:lpstr>
      <vt:lpstr>The graph our planner-based demo compiles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lpstr>PowerPoint Presentation</vt:lpstr>
      <vt:lpstr>Reason and act</vt:lpstr>
      <vt:lpstr>Sequential</vt:lpstr>
      <vt:lpstr>Parallel</vt:lpstr>
      <vt:lpstr>Loop</vt:lpstr>
      <vt:lpstr>Review and critique</vt:lpstr>
      <vt:lpstr>Iterative refinement</vt:lpstr>
      <vt:lpstr>Coordinator</vt:lpstr>
      <vt:lpstr>Hierarchical task decomposition</vt:lpstr>
      <vt:lpstr>Swarm</vt:lpstr>
      <vt:lpstr>Human in the loop</vt:lpstr>
      <vt:lpstr>Custom logic</vt:lpstr>
      <vt:lpstr>Task ownership</vt:lpstr>
      <vt:lpstr>State boundaries</vt:lpstr>
      <vt:lpstr>Model-call overhead</vt:lpstr>
      <vt:lpstr>Latency</vt:lpstr>
      <vt:lpstr>Failure propagation</vt:lpstr>
      <vt:lpstr>Inspectability</vt:lpstr>
      <vt:lpstr>PowerPoint Presentation</vt:lpstr>
      <vt:lpstr>PowerPoint Presentation</vt:lpstr>
      <vt:lpstr>The record every node reads and writes</vt:lpstr>
      <vt:lpstr>A simple transition--Propose, then Merge</vt:lpstr>
      <vt:lpstr>Why two runs from one state diverge</vt:lpstr>
      <vt:lpstr>Three records, and who reads each</vt:lpstr>
      <vt:lpstr>The counters the model never sees</vt:lpstr>
      <vt:lpstr>How mini-swe-agent represents a state</vt:lpstr>
      <vt:lpstr>The state schema, field by field</vt:lpstr>
      <vt:lpstr>The state schema, field by field</vt:lpstr>
      <vt:lpstr>A TypedDict checks nothing at run time</vt:lpstr>
      <vt:lpstr>Three reducers, three kinds of visibility</vt:lpstr>
      <vt:lpstr>Clearing a field that appends</vt:lpstr>
      <vt:lpstr>One tool result becoming state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128</cp:revision>
  <dcterms:modified xsi:type="dcterms:W3CDTF">2026-09-18T17:03:05Z</dcterms:modified>
</cp:coreProperties>
</file>
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2"/>
  </p:notesMasterIdLst>
  <p:sldIdLst>
    <p:sldId id="256" r:id="rId2"/>
    <p:sldId id="332" r:id="rId3"/>
    <p:sldId id="418" r:id="rId4"/>
    <p:sldId id="433" r:id="rId5"/>
    <p:sldId id="458" r:id="rId6"/>
    <p:sldId id="459" r:id="rId7"/>
    <p:sldId id="461" r:id="rId8"/>
    <p:sldId id="462" r:id="rId9"/>
    <p:sldId id="484" r:id="rId10"/>
    <p:sldId id="485" r:id="rId11"/>
    <p:sldId id="486" r:id="rId12"/>
    <p:sldId id="468" r:id="rId13"/>
    <p:sldId id="469" r:id="rId14"/>
    <p:sldId id="488" r:id="rId15"/>
    <p:sldId id="471" r:id="rId16"/>
    <p:sldId id="489" r:id="rId17"/>
    <p:sldId id="490" r:id="rId18"/>
    <p:sldId id="491" r:id="rId19"/>
    <p:sldId id="475" r:id="rId20"/>
    <p:sldId id="476" r:id="rId21"/>
    <p:sldId id="477" r:id="rId22"/>
    <p:sldId id="478" r:id="rId23"/>
    <p:sldId id="479" r:id="rId24"/>
    <p:sldId id="480" r:id="rId25"/>
    <p:sldId id="481" r:id="rId26"/>
    <p:sldId id="493" r:id="rId27"/>
    <p:sldId id="494" r:id="rId28"/>
    <p:sldId id="495" r:id="rId29"/>
    <p:sldId id="496" r:id="rId30"/>
    <p:sldId id="497" r:id="rId31"/>
    <p:sldId id="498" r:id="rId32"/>
    <p:sldId id="499" r:id="rId33"/>
    <p:sldId id="500" r:id="rId34"/>
    <p:sldId id="501" r:id="rId35"/>
    <p:sldId id="502" r:id="rId36"/>
    <p:sldId id="503" r:id="rId37"/>
    <p:sldId id="504" r:id="rId38"/>
    <p:sldId id="505" r:id="rId39"/>
    <p:sldId id="506" r:id="rId40"/>
    <p:sldId id="507" r:id="rId41"/>
    <p:sldId id="508" r:id="rId42"/>
    <p:sldId id="509" r:id="rId43"/>
    <p:sldId id="510" r:id="rId44"/>
    <p:sldId id="511" r:id="rId45"/>
    <p:sldId id="512" r:id="rId46"/>
    <p:sldId id="513" r:id="rId47"/>
    <p:sldId id="514" r:id="rId48"/>
    <p:sldId id="515" r:id="rId49"/>
    <p:sldId id="516" r:id="rId50"/>
    <p:sldId id="517" r:id="rId51"/>
    <p:sldId id="518" r:id="rId52"/>
    <p:sldId id="519" r:id="rId53"/>
    <p:sldId id="520" r:id="rId54"/>
    <p:sldId id="521" r:id="rId55"/>
    <p:sldId id="522" r:id="rId56"/>
    <p:sldId id="523" r:id="rId57"/>
    <p:sldId id="525" r:id="rId58"/>
    <p:sldId id="526" r:id="rId59"/>
    <p:sldId id="527" r:id="rId60"/>
    <p:sldId id="528" r:id="rId61"/>
    <p:sldId id="529" r:id="rId62"/>
    <p:sldId id="530" r:id="rId63"/>
    <p:sldId id="531" r:id="rId64"/>
    <p:sldId id="532" r:id="rId65"/>
    <p:sldId id="533" r:id="rId66"/>
    <p:sldId id="534" r:id="rId67"/>
    <p:sldId id="535" r:id="rId68"/>
    <p:sldId id="536" r:id="rId69"/>
    <p:sldId id="537" r:id="rId70"/>
    <p:sldId id="538" r:id="rId71"/>
  </p:sldIdLst>
  <p:sldSz cx="6858000" cy="5143500"/>
  <p:notesSz cx="6858000" cy="9144000"/>
  <p:embeddedFontLst>
    <p:embeddedFont>
      <p:font typeface="Fira Sans" panose="020B0503050000020004" pitchFamily="34" charset="0"/>
      <p:regular r:id="rId73"/>
      <p:bold r:id="rId74"/>
      <p:italic r:id="rId75"/>
      <p:boldItalic r:id="rId76"/>
    </p:embeddedFont>
    <p:embeddedFont>
      <p:font typeface="Maple Mono NF" panose="020F0509060000000000" pitchFamily="49" charset="0"/>
      <p:regular r:id="rId77"/>
      <p:bold r:id="rId78"/>
      <p:italic r:id="rId79"/>
      <p:boldItalic r:id="rId80"/>
    </p:embeddedFont>
    <p:embeddedFont>
      <p:font typeface="Maple Mono NF Light" panose="020F0509060000000000" pitchFamily="49" charset="0"/>
      <p:regular r:id="rId81"/>
      <p: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418"/>
            <p14:sldId id="433"/>
            <p14:sldId id="458"/>
            <p14:sldId id="459"/>
            <p14:sldId id="461"/>
            <p14:sldId id="462"/>
            <p14:sldId id="484"/>
            <p14:sldId id="485"/>
            <p14:sldId id="486"/>
            <p14:sldId id="468"/>
            <p14:sldId id="469"/>
            <p14:sldId id="488"/>
            <p14:sldId id="471"/>
            <p14:sldId id="489"/>
            <p14:sldId id="490"/>
            <p14:sldId id="491"/>
            <p14:sldId id="475"/>
            <p14:sldId id="476"/>
            <p14:sldId id="477"/>
            <p14:sldId id="478"/>
            <p14:sldId id="479"/>
            <p14:sldId id="480"/>
            <p14:sldId id="481"/>
            <p14:sldId id="493"/>
            <p14:sldId id="494"/>
            <p14:sldId id="495"/>
            <p14:sldId id="496"/>
            <p14:sldId id="497"/>
            <p14:sldId id="498"/>
            <p14:sldId id="499"/>
            <p14:sldId id="500"/>
            <p14:sldId id="501"/>
            <p14:sldId id="502"/>
            <p14:sldId id="503"/>
            <p14:sldId id="504"/>
            <p14:sldId id="505"/>
            <p14:sldId id="506"/>
            <p14:sldId id="507"/>
            <p14:sldId id="508"/>
            <p14:sldId id="509"/>
            <p14:sldId id="510"/>
            <p14:sldId id="511"/>
            <p14:sldId id="512"/>
            <p14:sldId id="513"/>
            <p14:sldId id="514"/>
            <p14:sldId id="515"/>
            <p14:sldId id="516"/>
            <p14:sldId id="517"/>
            <p14:sldId id="518"/>
            <p14:sldId id="519"/>
            <p14:sldId id="520"/>
            <p14:sldId id="521"/>
            <p14:sldId id="522"/>
            <p14:sldId id="523"/>
            <p14:sldId id="525"/>
            <p14:sldId id="526"/>
            <p14:sldId id="527"/>
            <p14:sldId id="528"/>
            <p14:sldId id="529"/>
            <p14:sldId id="530"/>
            <p14:sldId id="531"/>
            <p14:sldId id="532"/>
            <p14:sldId id="533"/>
            <p14:sldId id="534"/>
            <p14:sldId id="535"/>
            <p14:sldId id="536"/>
            <p14:sldId id="537"/>
            <p14:sldId id="538"/>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41"/>
    <p:restoredTop sz="98401"/>
  </p:normalViewPr>
  <p:slideViewPr>
    <p:cSldViewPr snapToGrid="0">
      <p:cViewPr varScale="1">
        <p:scale>
          <a:sx n="332" d="100"/>
          <a:sy n="332" d="100"/>
        </p:scale>
        <p:origin x="176" y="584"/>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8/10/relationships/authors" Target="authors.xml"/><Relationship Id="rId61" Type="http://schemas.openxmlformats.org/officeDocument/2006/relationships/slide" Target="slides/slide60.xml"/><Relationship Id="rId8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Introduce Lecture 3: execution machinery for agentic systems.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04CF-57E5-5069-A339-A46BC12C5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F5C1-0379-A701-4BE2-A95E7BE3D45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0F0CE7-AE79-5A56-927D-9C71A05F3BEF}"/>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4058062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804CF-57E5-5069-A339-A46BC12C5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0F5C1-0379-A701-4BE2-A95E7BE3D45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0F0CE7-AE79-5A56-927D-9C71A05F3BEF}"/>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1007680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D48E6-2391-8E03-2F86-614D88FD8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F24D9-012B-E65C-8B9C-0EDC9ED991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309B48F-9990-2C25-A7A1-8DF0BCD7A1DF}"/>
              </a:ext>
            </a:extLst>
          </p:cNvPr>
          <p:cNvSpPr>
            <a:spLocks noGrp="1"/>
          </p:cNvSpPr>
          <p:nvPr>
            <p:ph type="body" idx="1"/>
          </p:nvPr>
        </p:nvSpPr>
        <p:spPr/>
        <p:txBody>
          <a:bodyPr/>
          <a:lstStyle/>
          <a:p>
            <a:r>
              <a:rPr dirty="0"/>
              <a:t>This lecture describes agents as state machines, then examines state records, routing, scheduling and tool execution.</a:t>
            </a:r>
          </a:p>
        </p:txBody>
      </p:sp>
    </p:spTree>
    <p:extLst>
      <p:ext uri="{BB962C8B-B14F-4D97-AF65-F5344CB8AC3E}">
        <p14:creationId xmlns:p14="http://schemas.microsoft.com/office/powerpoint/2010/main" val="839508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1.1 describes five components: states, inputs, outputs, an initial configuration and a transition rule. A workflow intended to terminate also specifies terminal configurations.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diagram represents plan_and_validation/graph.py when the two runs were recorded. As Section 1.5 explains, the current code adds scan and normalize before plan.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probabilistic machine assigns a probability to each transition. A nondeterministic machine permits any enabled transition without assigning probabilities. We use nondeterminism to represent unobserved choices.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displayed values describe run bc284c6b before its third controller call: two observations have been recorded, three model calls have completed, and the status is running.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slide introduces the transition notation. Later slides describe the same operations in prose.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excerpts come from controller at graph.py line 296 and after_controller at line 452. Trace calls and the admission check are omitted. The model_calls field uses operator.add, so returning 1 increments the stored count by one.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trace contains six kinds of event: tool_request, tool_result, model_call, routing, state_change and terminal. When status is running, after_controller routes to submit if the last reply has no tool calls.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plan, controller and validate nodes call a model. The tools and submit nodes perform runtime work. Each model node checks the forty-call budget before making a call.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controller receives the plan as a message. When the status is running, the runtime uses the controller's reply to choose tools or submit. The routing function does not inspect the plan's subgoal list. The submit node checks whether the patch applies, touches the flagged line and produces no finding on a rescan.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stall test examines the last three observations since the most recent plan revision, or since the run began if no revision has occurred. It reports a stall when all three are identical and none records a successful edit. After revising the plan, the plan node sets replanned_at to the current number of observations. Later stall tests start from this stored index.</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Events 1 and 2 record planning. Events 3–18 record four tool rounds: read_file, search, read_file and edit. Events 19–22 record submission. Events 23–25 record validation and the terminal event. The run logged 12,693 input tokens and 3,755 output tokens.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2.1 separates the EFSM configuration into a control location and variable values. The runtime tracks the location. The state record holds values such as messages and model_calls. AgentState declares their names and types. The record for a particular run supplies their current values.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runtime passes the current state s_t to the node. During execution, the node obtains a model reply or tool observation e_t and returns a partial update u_t. For each updated field, the reducer receives the stored value as its left argument and the returned value as its right argument. The merged record is the next state s_(t+1).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Figure 4 applies the three controller return paths to the loop’s ten-key record. After a model call, the update contains the reply, one completed call and its token usage. A stopping path returns only status, whose update replaces the stored status string. The six fields untouched by every path keep their previous values.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controller begins at graph.py line 296. When the call budget is exhausted, _admit returns a status update that ends the run. Otherwise, it returns None and the controller continues. After a model call, returning model_calls: 1 contributes one to the accumulated count. For example, a stored count of 2 becomes 3.</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Our graphs keep state in memory and are compiled without a checkpointer. After process exit, a new process cannot recover that state from the JSONL trace: the trace records selected events and omits values needed for resumption. A later unit covers saved state, pending work and the external workspace needed to resume.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2.6 explains that none of the planning agent’s prompts mentions the call budget. Admission enforces it by comparing the call counter with the configured limit before each call.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reducer combines a field’s stored value with the value returned for that field. Annotated[T, fn] attaches the reducer fn to a field of type T. An append reducer treats [] as zero new items. Clearing the list therefore requires Overwrite to replace its contents directly. The reset should receive a separate trace event.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add_usage maintains four separate token counters. Keeping the counters separate preserves the distinction between cache reads and fresh input tokens.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plan node writes plan, submit writes checks, and validate writes validation. Each field holds the latest value until its writer replaces it. The tools node writes failed_step for the plan node to read and clear. The replanned_at index marks where observations under the current plan begin.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counter that limits the entire run must keep its total across attempts. For example, resetting model_calls to zero after a failed attempt would allow later calls to ignore the calls already spent. Section 2.4 calls this the run lifetime. Attempt-lifetime fields are cleared before a retry because their old results no longer apply.</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plan node sets replanned_at to the number of observations stored when revision completes. The slice observations[replanned_at:] therefore starts with observations made under the revised plan. Earlier observations remain in the full history, while the stall check reads only observations made since revision. Clearing failed_step removes the request for the revision just completed.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preservation proof considers every configuration satisfying the predicate, including configurations that no run reaches. This can make the desired property alone too weak for an induction proof. In the call-budget example, we add the condition that the stored counter equals the number of completed calls. The next slide explains how admission, counting and preservation maintain both conditions.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argument covers completed calls only. An interrupted call may consume tokens without being counted.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add_node associates a node name with the function that the runtime will call. That function receives the state and returns a partial update. add_edge names the node to run after a source node finishes. add_conditional_edges instead calls a routing function after the source node’s update is merged. The function reads the updated record and selects the destination.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six steps appear at the end of Section 2.6. Omit fields that no computation reads.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routing guard tests information in the merged record, including values retained from earlier steps. The trace field by records model for a value from model output, and runtime for a value from a check, limit, or default. The programmer defines the edge and its guard in both cases. Returning END stops the run. The status field records why it stopped.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If the run remains active, a reply that both claims the patch is correct and requests a tool routes to tools. The after_controller function tests tool_calls and does not read the reply’s prose.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computation tree has a separate node for each visit to a control location. Each node represents that visit's configuration: the location and the record's values.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Revision replaces a stalled plan. Repair asks the controller for another patch after a failed check. Both add work to the run, so each needs a limit on how often it can occur.</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attempt counter must count attempts across the whole run. If each reset erases that count, the runtime cannot enforce a limit on the total number of attempts.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example variant is B − c: the call budget minus calls already made. The admission check keeps this quantity nonnegative. Every continuing cycle must reduce it, and each step must return or time out. These conditions bound the number of cycles. They do not by themselves bound the duration of a step. Our stall check detects repeated identical observations, one form of non-progress described in ReACT's recorded trajectories.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runtime checks the budget before each model call. Checking afterwards would allow the call to incur cost before enforcing the limit. The recursion limit is four times the call budget and counts supersteps without considering the task or the cost of a step.</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acceptance procedure produces evidence about the patch. Passing that procedure does not prove that the patch satisfies the task's postcondition.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If an exception escapes the run, the trace writer records terminal status error. It then writes a separate record naming the exception.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Steps 27–38 contain three rounds in which the controller requests tools and receives their results. It then submits again. At step 41, the rescan is clean, but the patch still leaves the flagged line unchanged. At step 42, the runtime returns that reason to the controller.</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trace does not establish what the process was doing between event 50 and the interrupt. Neither recorded run ends with status budget_exhausted. The description of that ending comes from the code.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LangGraph organizes execution into Pregel supersteps. Multiple writes to one field in the same superstep require a reducer that combines them. Without one, the runtime rejects the competing writes.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Our graph has no parallel branches, so each superstep runs one node. The routing function reads the record after the controller's reply has been merged.</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three tools are read_file, search and edit. Only edit writes files, and all three receive the workspace root as their first parameter.</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MIT 6.031’s specification structure assigns obligations to the caller and implementer. A method specification may make no promises after a precondition violation. Because models can supply invalid arguments, tool contracts must specify how the runtime detects violations, reports refusal and prevents side effects from refused requests.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Tools read the run's configuration from the module. A request that names ws fails to bind, because the dispatcher has already supplied that argument.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dispatch cycle finds the requested tool, binds arguments to its parameters, checks the access policy, performs the permitted operation and produces an observation. The dashed branches show refused requests, which also produce observations.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Binding checks argument names and the number of arguments. The dispatcher converts unambiguous type mismatches, such as a string supplied where an integer is required. Exceptions that escape the dispatcher end the run and are reserved for unrecoverable failures, such as an unwritable trace.</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Step 4 is the routing event between the model response and the tool request. It records decision tools and by="model", identifying the selected control location. It does not describe tool execution.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guard model from MIT 6.033 requires a check on every resource access. A routing function can select an edge during execution while applying a rule fixed by the programmer. A model’s request or claim of a result does not establish that the runtime performed the action.</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Joining an absolute path to the root yields the absolute path itself, which the check then refuses if its resolved destination lies outside the root.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4.6 describes a constructed dispatcher test. The permitted read returns 1,665 characters, matching step 6 of the recorded run. The refused request produces a tool_request and a failed tool_result with a reason and no character count.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3</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Lecture 2: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B3F8-7484-4BE9-6F60-620E4EBF9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D5227-9675-6C47-825A-AA229D3AF476}"/>
              </a:ext>
            </a:extLst>
          </p:cNvPr>
          <p:cNvSpPr>
            <a:spLocks noGrp="1"/>
          </p:cNvSpPr>
          <p:nvPr>
            <p:ph type="title"/>
          </p:nvPr>
        </p:nvSpPr>
        <p:spPr/>
        <p:txBody>
          <a:bodyPr/>
          <a:lstStyle/>
          <a:p>
            <a:r>
              <a:rPr lang="en-US" dirty="0"/>
              <a:t>Class announcements</a:t>
            </a:r>
          </a:p>
        </p:txBody>
      </p:sp>
      <p:sp>
        <p:nvSpPr>
          <p:cNvPr id="6" name="Content Placeholder 5">
            <a:extLst>
              <a:ext uri="{FF2B5EF4-FFF2-40B4-BE49-F238E27FC236}">
                <a16:creationId xmlns:a16="http://schemas.microsoft.com/office/drawing/2014/main" id="{B8B12D9A-0C2B-7893-BB3E-BD7D9DD61BD4}"/>
              </a:ext>
            </a:extLst>
          </p:cNvPr>
          <p:cNvSpPr>
            <a:spLocks noGrp="1"/>
          </p:cNvSpPr>
          <p:nvPr>
            <p:ph idx="1"/>
          </p:nvPr>
        </p:nvSpPr>
        <p:spPr>
          <a:xfrm>
            <a:off x="14251" y="630048"/>
            <a:ext cx="6815475" cy="2505913"/>
          </a:xfrm>
        </p:spPr>
        <p:txBody>
          <a:bodyPr>
            <a:normAutofit/>
          </a:bodyPr>
          <a:lstStyle/>
          <a:p>
            <a:r>
              <a:rPr lang="en-US" sz="1800" dirty="0"/>
              <a:t>HW1 is released today.</a:t>
            </a:r>
            <a:endParaRPr lang="en-US" dirty="0"/>
          </a:p>
          <a:p>
            <a:pPr lvl="1"/>
            <a:r>
              <a:rPr lang="en-US" sz="1400" dirty="0"/>
              <a:t>Assignment groups after class today so I can plan accordingly</a:t>
            </a:r>
          </a:p>
        </p:txBody>
      </p:sp>
    </p:spTree>
    <p:extLst>
      <p:ext uri="{BB962C8B-B14F-4D97-AF65-F5344CB8AC3E}">
        <p14:creationId xmlns:p14="http://schemas.microsoft.com/office/powerpoint/2010/main" val="619783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4440-B142-1A59-503D-805E67E966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6CA18B-F676-D6FD-5DB7-C2DF50D1A01A}"/>
              </a:ext>
            </a:extLst>
          </p:cNvPr>
          <p:cNvSpPr txBox="1"/>
          <p:nvPr/>
        </p:nvSpPr>
        <p:spPr>
          <a:xfrm>
            <a:off x="929000" y="1910031"/>
            <a:ext cx="5000000" cy="1323439"/>
          </a:xfrm>
          <a:prstGeom prst="rect">
            <a:avLst/>
          </a:prstGeom>
          <a:noFill/>
        </p:spPr>
        <p:txBody>
          <a:bodyPr wrap="square" anchor="ctr">
            <a:spAutoFit/>
          </a:bodyPr>
          <a:lstStyle/>
          <a:p>
            <a:pPr algn="ctr"/>
            <a:r>
              <a:rPr lang="en-US" sz="4000" b="1" dirty="0">
                <a:solidFill>
                  <a:schemeClr val="bg1"/>
                </a:solidFill>
                <a:latin typeface="+mj-lt"/>
              </a:rPr>
              <a:t>Lecture 3: Execution Machinery</a:t>
            </a:r>
            <a:endParaRPr sz="4000" b="1" dirty="0">
              <a:solidFill>
                <a:schemeClr val="bg1"/>
              </a:solidFill>
              <a:latin typeface="+mj-lt"/>
            </a:endParaRPr>
          </a:p>
        </p:txBody>
      </p:sp>
    </p:spTree>
    <p:extLst>
      <p:ext uri="{BB962C8B-B14F-4D97-AF65-F5344CB8AC3E}">
        <p14:creationId xmlns:p14="http://schemas.microsoft.com/office/powerpoint/2010/main" val="90551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4440-B142-1A59-503D-805E67E9667F}"/>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37D6A81-4385-7852-81F8-06B39637518F}"/>
              </a:ext>
            </a:extLst>
          </p:cNvPr>
          <p:cNvPicPr>
            <a:picLocks noChangeAspect="1"/>
          </p:cNvPicPr>
          <p:nvPr/>
        </p:nvPicPr>
        <p:blipFill>
          <a:blip r:embed="rId3">
            <a:alphaModFix amt="70000"/>
          </a:blip>
          <a:stretch>
            <a:fillRect/>
          </a:stretch>
        </p:blipFill>
        <p:spPr>
          <a:xfrm>
            <a:off x="825474" y="1899091"/>
            <a:ext cx="5732295" cy="2403255"/>
          </a:xfrm>
          <a:prstGeom prst="rect">
            <a:avLst/>
          </a:prstGeom>
        </p:spPr>
      </p:pic>
      <p:sp>
        <p:nvSpPr>
          <p:cNvPr id="3" name="TextBox 2">
            <a:extLst>
              <a:ext uri="{FF2B5EF4-FFF2-40B4-BE49-F238E27FC236}">
                <a16:creationId xmlns:a16="http://schemas.microsoft.com/office/drawing/2014/main" id="{CD673071-5FFC-A11F-33BA-D8532061400F}"/>
              </a:ext>
            </a:extLst>
          </p:cNvPr>
          <p:cNvSpPr txBox="1"/>
          <p:nvPr/>
        </p:nvSpPr>
        <p:spPr>
          <a:xfrm>
            <a:off x="929000" y="265338"/>
            <a:ext cx="5000000" cy="1323439"/>
          </a:xfrm>
          <a:prstGeom prst="rect">
            <a:avLst/>
          </a:prstGeom>
          <a:noFill/>
        </p:spPr>
        <p:txBody>
          <a:bodyPr wrap="square" anchor="ctr">
            <a:spAutoFit/>
          </a:bodyPr>
          <a:lstStyle/>
          <a:p>
            <a:pPr algn="ctr"/>
            <a:r>
              <a:rPr sz="4000" b="1" dirty="0">
                <a:solidFill>
                  <a:schemeClr val="bg1"/>
                </a:solidFill>
                <a:latin typeface="+mj-lt"/>
              </a:rPr>
              <a:t>Execution machinery</a:t>
            </a:r>
          </a:p>
        </p:txBody>
      </p:sp>
      <p:cxnSp>
        <p:nvCxnSpPr>
          <p:cNvPr id="4" name="Straight Arrow Connector 3">
            <a:extLst>
              <a:ext uri="{FF2B5EF4-FFF2-40B4-BE49-F238E27FC236}">
                <a16:creationId xmlns:a16="http://schemas.microsoft.com/office/drawing/2014/main" id="{CEFED53E-32C4-C4E2-85A5-C7734EFFFBD2}"/>
              </a:ext>
            </a:extLst>
          </p:cNvPr>
          <p:cNvCxnSpPr>
            <a:cxnSpLocks/>
          </p:cNvCxnSpPr>
          <p:nvPr/>
        </p:nvCxnSpPr>
        <p:spPr>
          <a:xfrm>
            <a:off x="1063835" y="2018156"/>
            <a:ext cx="0" cy="21608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 name="Oval 7">
            <a:extLst>
              <a:ext uri="{FF2B5EF4-FFF2-40B4-BE49-F238E27FC236}">
                <a16:creationId xmlns:a16="http://schemas.microsoft.com/office/drawing/2014/main" id="{601E0B9D-CC0E-3422-CD9B-F1516821E4FD}"/>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01E0B9D-CC0E-3422-CD9B-F1516821E4FD}"/>
              </a:ext>
            </a:extLst>
          </p:cNvPr>
          <p:cNvSpPr/>
          <p:nvPr/>
        </p:nvSpPr>
        <p:spPr>
          <a:xfrm>
            <a:off x="951758" y="27217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43F1170-EE5F-BE19-1404-7DC2A17583C7}"/>
              </a:ext>
            </a:extLst>
          </p:cNvPr>
          <p:cNvSpPr/>
          <p:nvPr/>
        </p:nvSpPr>
        <p:spPr>
          <a:xfrm>
            <a:off x="951758" y="32554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512B09-27FE-E36B-F89B-61B48A1606CC}"/>
              </a:ext>
            </a:extLst>
          </p:cNvPr>
          <p:cNvSpPr/>
          <p:nvPr/>
        </p:nvSpPr>
        <p:spPr>
          <a:xfrm>
            <a:off x="951758" y="37855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2">
            <a:extLst>
              <a:ext uri="{FF2B5EF4-FFF2-40B4-BE49-F238E27FC236}">
                <a16:creationId xmlns:a16="http://schemas.microsoft.com/office/drawing/2014/main" id="{7EC5A9F1-BB96-C339-D56C-2BC6E0DA0570}"/>
              </a:ext>
            </a:extLst>
          </p:cNvPr>
          <p:cNvSpPr txBox="1"/>
          <p:nvPr/>
        </p:nvSpPr>
        <p:spPr>
          <a:xfrm>
            <a:off x="1259524" y="2146243"/>
            <a:ext cx="5074272" cy="338554"/>
          </a:xfrm>
          <a:prstGeom prst="rect">
            <a:avLst/>
          </a:prstGeom>
          <a:noFill/>
        </p:spPr>
        <p:txBody>
          <a:bodyPr wrap="none" rtlCol="0">
            <a:spAutoFit/>
          </a:bodyPr>
          <a:lstStyle/>
          <a:p>
            <a:r>
              <a:rPr lang="en-US" sz="1600" b="1" dirty="0">
                <a:solidFill>
                  <a:schemeClr val="tx2"/>
                </a:solidFill>
                <a:latin typeface="+mj-lt"/>
              </a:rPr>
              <a:t>Agents as state machines</a:t>
            </a:r>
          </a:p>
        </p:txBody>
      </p:sp>
      <p:sp>
        <p:nvSpPr>
          <p:cNvPr id="9" name="TextBox 8">
            <a:extLst>
              <a:ext uri="{FF2B5EF4-FFF2-40B4-BE49-F238E27FC236}">
                <a16:creationId xmlns:a16="http://schemas.microsoft.com/office/drawing/2014/main" id="{7EC5A9F1-BB96-C339-D56C-2BC6E0DA0570}"/>
              </a:ext>
            </a:extLst>
          </p:cNvPr>
          <p:cNvSpPr txBox="1"/>
          <p:nvPr/>
        </p:nvSpPr>
        <p:spPr>
          <a:xfrm>
            <a:off x="1259524" y="2679943"/>
            <a:ext cx="5074272" cy="338554"/>
          </a:xfrm>
          <a:prstGeom prst="rect">
            <a:avLst/>
          </a:prstGeom>
          <a:noFill/>
        </p:spPr>
        <p:txBody>
          <a:bodyPr wrap="none" rtlCol="0">
            <a:spAutoFit/>
          </a:bodyPr>
          <a:lstStyle/>
          <a:p>
            <a:r>
              <a:rPr lang="en-US" sz="1600" b="1" dirty="0">
                <a:solidFill>
                  <a:schemeClr val="tx2"/>
                </a:solidFill>
                <a:latin typeface="+mj-lt"/>
              </a:rPr>
              <a:t>State, records and reducers</a:t>
            </a:r>
          </a:p>
        </p:txBody>
      </p:sp>
      <p:sp>
        <p:nvSpPr>
          <p:cNvPr id="12" name="TextBox 11">
            <a:extLst>
              <a:ext uri="{FF2B5EF4-FFF2-40B4-BE49-F238E27FC236}">
                <a16:creationId xmlns:a16="http://schemas.microsoft.com/office/drawing/2014/main" id="{05AFBEDE-06A3-A656-9089-367CC0A8E3BC}"/>
              </a:ext>
            </a:extLst>
          </p:cNvPr>
          <p:cNvSpPr txBox="1"/>
          <p:nvPr/>
        </p:nvSpPr>
        <p:spPr>
          <a:xfrm>
            <a:off x="1259524" y="3743778"/>
            <a:ext cx="5074272" cy="338554"/>
          </a:xfrm>
          <a:prstGeom prst="rect">
            <a:avLst/>
          </a:prstGeom>
          <a:noFill/>
        </p:spPr>
        <p:txBody>
          <a:bodyPr wrap="none" rtlCol="0">
            <a:spAutoFit/>
          </a:bodyPr>
          <a:lstStyle/>
          <a:p>
            <a:r>
              <a:rPr lang="en-US" sz="1600" b="1" dirty="0">
                <a:solidFill>
                  <a:schemeClr val="tx2"/>
                </a:solidFill>
                <a:latin typeface="Fira Sans" panose="020B0503050000020004" pitchFamily="34" charset="0"/>
              </a:rPr>
              <a:t>Scheduling and tool execution</a:t>
            </a:r>
          </a:p>
        </p:txBody>
      </p:sp>
      <p:sp>
        <p:nvSpPr>
          <p:cNvPr id="11" name="TextBox 10">
            <a:extLst>
              <a:ext uri="{FF2B5EF4-FFF2-40B4-BE49-F238E27FC236}">
                <a16:creationId xmlns:a16="http://schemas.microsoft.com/office/drawing/2014/main" id="{094ED687-C55F-414D-DBBF-411E837220F3}"/>
              </a:ext>
            </a:extLst>
          </p:cNvPr>
          <p:cNvSpPr txBox="1"/>
          <p:nvPr/>
        </p:nvSpPr>
        <p:spPr>
          <a:xfrm>
            <a:off x="1259524" y="3210082"/>
            <a:ext cx="5074272" cy="338554"/>
          </a:xfrm>
          <a:prstGeom prst="rect">
            <a:avLst/>
          </a:prstGeom>
          <a:noFill/>
        </p:spPr>
        <p:txBody>
          <a:bodyPr wrap="none" rtlCol="0">
            <a:spAutoFit/>
          </a:bodyPr>
          <a:lstStyle/>
          <a:p>
            <a:r>
              <a:rPr lang="en-US" sz="1600" b="1" dirty="0">
                <a:solidFill>
                  <a:schemeClr val="tx2"/>
                </a:solidFill>
                <a:latin typeface="+mj-lt"/>
              </a:rPr>
              <a:t>Routing, feedback and stopping</a:t>
            </a:r>
            <a:endParaRPr lang="en-US" sz="1600" i="1" dirty="0">
              <a:solidFill>
                <a:schemeClr val="tx2"/>
              </a:solidFill>
              <a:latin typeface="+mj-lt"/>
            </a:endParaRPr>
          </a:p>
        </p:txBody>
      </p:sp>
    </p:spTree>
    <p:extLst>
      <p:ext uri="{BB962C8B-B14F-4D97-AF65-F5344CB8AC3E}">
        <p14:creationId xmlns:p14="http://schemas.microsoft.com/office/powerpoint/2010/main" val="2112911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C877-5566-2E23-1702-8D918A30AF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86798-157B-61A4-9C7C-B695CE1ACE95}"/>
              </a:ext>
            </a:extLst>
          </p:cNvPr>
          <p:cNvSpPr txBox="1"/>
          <p:nvPr/>
        </p:nvSpPr>
        <p:spPr>
          <a:xfrm>
            <a:off x="929000" y="265338"/>
            <a:ext cx="5000000" cy="1323439"/>
          </a:xfrm>
          <a:prstGeom prst="rect">
            <a:avLst/>
          </a:prstGeom>
          <a:noFill/>
        </p:spPr>
        <p:txBody>
          <a:bodyPr wrap="square" anchor="ctr">
            <a:spAutoFit/>
          </a:bodyPr>
          <a:lstStyle/>
          <a:p>
            <a:pPr algn="ctr"/>
            <a:r>
              <a:rPr lang="en-US" sz="4000" b="1" dirty="0">
                <a:solidFill>
                  <a:schemeClr val="bg1"/>
                </a:solidFill>
                <a:latin typeface="+mj-lt"/>
              </a:rPr>
              <a:t>Agents as state machines</a:t>
            </a:r>
            <a:endParaRPr sz="4000" b="1" dirty="0">
              <a:solidFill>
                <a:schemeClr val="bg1"/>
              </a:solidFill>
              <a:latin typeface="+mj-lt"/>
            </a:endParaRPr>
          </a:p>
        </p:txBody>
      </p:sp>
      <p:cxnSp>
        <p:nvCxnSpPr>
          <p:cNvPr id="4" name="Straight Arrow Connector 3">
            <a:extLst>
              <a:ext uri="{FF2B5EF4-FFF2-40B4-BE49-F238E27FC236}">
                <a16:creationId xmlns:a16="http://schemas.microsoft.com/office/drawing/2014/main" id="{3AD5CF53-0946-683E-F442-B3BC0351AF4F}"/>
              </a:ext>
            </a:extLst>
          </p:cNvPr>
          <p:cNvCxnSpPr>
            <a:cxnSpLocks/>
          </p:cNvCxnSpPr>
          <p:nvPr/>
        </p:nvCxnSpPr>
        <p:spPr>
          <a:xfrm>
            <a:off x="1063835" y="2018156"/>
            <a:ext cx="0" cy="2160870"/>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6" name="Oval 7">
            <a:extLst>
              <a:ext uri="{FF2B5EF4-FFF2-40B4-BE49-F238E27FC236}">
                <a16:creationId xmlns:a16="http://schemas.microsoft.com/office/drawing/2014/main" id="{1CADCF5A-4CBA-D43E-DFE4-9A28FCE4EE82}"/>
              </a:ext>
            </a:extLst>
          </p:cNvPr>
          <p:cNvSpPr/>
          <p:nvPr/>
        </p:nvSpPr>
        <p:spPr>
          <a:xfrm>
            <a:off x="951758" y="21880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CADCF5A-4CBA-D43E-DFE4-9A28FCE4EE82}"/>
              </a:ext>
            </a:extLst>
          </p:cNvPr>
          <p:cNvSpPr/>
          <p:nvPr/>
        </p:nvSpPr>
        <p:spPr>
          <a:xfrm>
            <a:off x="951758" y="272175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A08BC57-4939-6FB8-7C3C-E9AAF841B81B}"/>
              </a:ext>
            </a:extLst>
          </p:cNvPr>
          <p:cNvSpPr/>
          <p:nvPr/>
        </p:nvSpPr>
        <p:spPr>
          <a:xfrm>
            <a:off x="951758" y="3255453"/>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6525709-37B2-C26B-CFEF-4C71EFB68A5B}"/>
              </a:ext>
            </a:extLst>
          </p:cNvPr>
          <p:cNvSpPr/>
          <p:nvPr/>
        </p:nvSpPr>
        <p:spPr>
          <a:xfrm>
            <a:off x="951758" y="3785592"/>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2">
            <a:extLst>
              <a:ext uri="{FF2B5EF4-FFF2-40B4-BE49-F238E27FC236}">
                <a16:creationId xmlns:a16="http://schemas.microsoft.com/office/drawing/2014/main" id="{48A1D087-8772-6BF3-EC4E-3E7E25349152}"/>
              </a:ext>
            </a:extLst>
          </p:cNvPr>
          <p:cNvSpPr txBox="1"/>
          <p:nvPr/>
        </p:nvSpPr>
        <p:spPr>
          <a:xfrm>
            <a:off x="1259524" y="2146243"/>
            <a:ext cx="5074272" cy="338554"/>
          </a:xfrm>
          <a:prstGeom prst="rect">
            <a:avLst/>
          </a:prstGeom>
          <a:noFill/>
        </p:spPr>
        <p:txBody>
          <a:bodyPr wrap="none" rtlCol="0">
            <a:spAutoFit/>
          </a:bodyPr>
          <a:lstStyle/>
          <a:p>
            <a:r>
              <a:rPr lang="en-US" sz="1600" b="1" dirty="0">
                <a:solidFill>
                  <a:schemeClr val="tx2"/>
                </a:solidFill>
                <a:latin typeface="+mj-lt"/>
              </a:rPr>
              <a:t>Agents as state machines</a:t>
            </a:r>
          </a:p>
        </p:txBody>
      </p:sp>
      <p:sp>
        <p:nvSpPr>
          <p:cNvPr id="9" name="TextBox 8">
            <a:extLst>
              <a:ext uri="{FF2B5EF4-FFF2-40B4-BE49-F238E27FC236}">
                <a16:creationId xmlns:a16="http://schemas.microsoft.com/office/drawing/2014/main" id="{48A1D087-8772-6BF3-EC4E-3E7E25349152}"/>
              </a:ext>
            </a:extLst>
          </p:cNvPr>
          <p:cNvSpPr txBox="1"/>
          <p:nvPr/>
        </p:nvSpPr>
        <p:spPr>
          <a:xfrm>
            <a:off x="1259524" y="2679943"/>
            <a:ext cx="5074272" cy="338554"/>
          </a:xfrm>
          <a:prstGeom prst="rect">
            <a:avLst/>
          </a:prstGeom>
          <a:noFill/>
        </p:spPr>
        <p:txBody>
          <a:bodyPr wrap="none" rtlCol="0">
            <a:spAutoFit/>
          </a:bodyPr>
          <a:lstStyle/>
          <a:p>
            <a:r>
              <a:rPr lang="en-US" sz="1600" b="1" dirty="0">
                <a:solidFill>
                  <a:schemeClr val="tx2">
                    <a:lumMod val="55000"/>
                  </a:schemeClr>
                </a:solidFill>
                <a:latin typeface="+mj-lt"/>
              </a:rPr>
              <a:t>State, records and reducers</a:t>
            </a:r>
          </a:p>
        </p:txBody>
      </p:sp>
      <p:sp>
        <p:nvSpPr>
          <p:cNvPr id="12" name="TextBox 11">
            <a:extLst>
              <a:ext uri="{FF2B5EF4-FFF2-40B4-BE49-F238E27FC236}">
                <a16:creationId xmlns:a16="http://schemas.microsoft.com/office/drawing/2014/main" id="{879FE573-642F-114B-052F-AAA8E7BDCE26}"/>
              </a:ext>
            </a:extLst>
          </p:cNvPr>
          <p:cNvSpPr txBox="1"/>
          <p:nvPr/>
        </p:nvSpPr>
        <p:spPr>
          <a:xfrm>
            <a:off x="1259524" y="3743778"/>
            <a:ext cx="5074272" cy="338554"/>
          </a:xfrm>
          <a:prstGeom prst="rect">
            <a:avLst/>
          </a:prstGeom>
          <a:noFill/>
        </p:spPr>
        <p:txBody>
          <a:bodyPr wrap="none" rtlCol="0">
            <a:spAutoFit/>
          </a:bodyPr>
          <a:lstStyle/>
          <a:p>
            <a:r>
              <a:rPr lang="en-US" sz="1600" b="1" dirty="0">
                <a:solidFill>
                  <a:schemeClr val="tx2">
                    <a:lumMod val="55000"/>
                  </a:schemeClr>
                </a:solidFill>
                <a:latin typeface="Fira Sans" panose="020B0503050000020004" pitchFamily="34" charset="0"/>
              </a:rPr>
              <a:t>Scheduling and tool execution</a:t>
            </a:r>
          </a:p>
        </p:txBody>
      </p:sp>
      <p:sp>
        <p:nvSpPr>
          <p:cNvPr id="11" name="TextBox 10">
            <a:extLst>
              <a:ext uri="{FF2B5EF4-FFF2-40B4-BE49-F238E27FC236}">
                <a16:creationId xmlns:a16="http://schemas.microsoft.com/office/drawing/2014/main" id="{346757F0-4DFF-1E20-CDC1-6E67A304AEC2}"/>
              </a:ext>
            </a:extLst>
          </p:cNvPr>
          <p:cNvSpPr txBox="1"/>
          <p:nvPr/>
        </p:nvSpPr>
        <p:spPr>
          <a:xfrm>
            <a:off x="1259524" y="3210082"/>
            <a:ext cx="5074272" cy="338554"/>
          </a:xfrm>
          <a:prstGeom prst="rect">
            <a:avLst/>
          </a:prstGeom>
          <a:noFill/>
        </p:spPr>
        <p:txBody>
          <a:bodyPr wrap="none" rtlCol="0">
            <a:spAutoFit/>
          </a:bodyPr>
          <a:lstStyle/>
          <a:p>
            <a:r>
              <a:rPr lang="en-US" sz="1600" b="1" dirty="0">
                <a:solidFill>
                  <a:schemeClr val="tx2">
                    <a:lumMod val="55000"/>
                  </a:schemeClr>
                </a:solidFill>
                <a:latin typeface="+mj-lt"/>
              </a:rPr>
              <a:t>Routing, feedback and stopping</a:t>
            </a:r>
            <a:endParaRPr lang="en-US" sz="1600" i="1" dirty="0">
              <a:solidFill>
                <a:schemeClr val="tx2"/>
              </a:solidFill>
              <a:latin typeface="+mj-lt"/>
            </a:endParaRPr>
          </a:p>
        </p:txBody>
      </p:sp>
      <p:pic>
        <p:nvPicPr>
          <p:cNvPr id="14" name="Picture 13">
            <a:extLst>
              <a:ext uri="{FF2B5EF4-FFF2-40B4-BE49-F238E27FC236}">
                <a16:creationId xmlns:a16="http://schemas.microsoft.com/office/drawing/2014/main" id="{1DB686E2-B4DB-D0ED-0AE5-04CE63ABC410}"/>
              </a:ext>
            </a:extLst>
          </p:cNvPr>
          <p:cNvPicPr>
            <a:picLocks noChangeAspect="1"/>
          </p:cNvPicPr>
          <p:nvPr/>
        </p:nvPicPr>
        <p:blipFill>
          <a:blip r:embed="rId3">
            <a:alphaModFix amt="70000"/>
          </a:blip>
          <a:stretch>
            <a:fillRect/>
          </a:stretch>
        </p:blipFill>
        <p:spPr>
          <a:xfrm>
            <a:off x="825474" y="2424483"/>
            <a:ext cx="5732295" cy="1890137"/>
          </a:xfrm>
          <a:prstGeom prst="rect">
            <a:avLst/>
          </a:prstGeom>
        </p:spPr>
      </p:pic>
    </p:spTree>
    <p:extLst>
      <p:ext uri="{BB962C8B-B14F-4D97-AF65-F5344CB8AC3E}">
        <p14:creationId xmlns:p14="http://schemas.microsoft.com/office/powerpoint/2010/main" val="2322976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state machine as a description of an agent</a:t>
            </a:r>
          </a:p>
        </p:txBody>
      </p:sp>
      <p:sp>
        <p:nvSpPr>
          <p:cNvPr id="3" name="Content Placeholder 2"/>
          <p:cNvSpPr>
            <a:spLocks noGrp="1"/>
          </p:cNvSpPr>
          <p:nvPr>
            <p:ph idx="1"/>
          </p:nvPr>
        </p:nvSpPr>
        <p:spPr>
          <a:xfrm>
            <a:off x="319251" y="700000"/>
            <a:ext cx="6014545" cy="2450000"/>
          </a:xfrm>
        </p:spPr>
        <p:txBody>
          <a:bodyPr wrap="square" anchor="ctr">
            <a:normAutofit fontScale="92500" lnSpcReduction="10000"/>
          </a:bodyPr>
          <a:lstStyle/>
          <a:p>
            <a:pPr marL="0" indent="0">
              <a:buNone/>
            </a:pPr>
            <a:r>
              <a:rPr sz="1400" b="1">
                <a:solidFill>
                  <a:srgbClr val="28285E"/>
                </a:solidFill>
              </a:rPr>
              <a:t>An agent runs in discrete steps: model calls, tool calls and checks.</a:t>
            </a:r>
          </a:p>
          <a:p>
            <a:pPr marL="400050" indent="-285750">
              <a:spcBef>
                <a:spcPts val="600"/>
              </a:spcBef>
              <a:spcAft>
                <a:spcPts val="600"/>
              </a:spcAft>
              <a:buClr>
                <a:srgbClr val="28285E"/>
              </a:buClr>
              <a:buSzPts val="1260"/>
              <a:buFont typeface="+mn-lt"/>
              <a:buChar char="●"/>
            </a:pPr>
            <a:r>
              <a:rPr sz="1400" b="1">
                <a:solidFill>
                  <a:schemeClr val="tx1"/>
                </a:solidFill>
              </a:rPr>
              <a:t>Between steps,</a:t>
            </a:r>
            <a:r>
              <a:rPr sz="1400" b="0">
                <a:solidFill>
                  <a:schemeClr val="tx1"/>
                </a:solidFill>
              </a:rPr>
              <a:t> the agent retains information. The program decides which stored values may change and which computation may run next.</a:t>
            </a:r>
          </a:p>
          <a:p>
            <a:pPr marL="400050" indent="-285750">
              <a:spcBef>
                <a:spcPts val="600"/>
              </a:spcBef>
              <a:spcAft>
                <a:spcPts val="600"/>
              </a:spcAft>
              <a:buClr>
                <a:srgbClr val="28285E"/>
              </a:buClr>
              <a:buSzPts val="1260"/>
              <a:buFont typeface="+mn-lt"/>
              <a:buChar char="●"/>
            </a:pPr>
            <a:r>
              <a:rPr sz="1400" b="1">
                <a:solidFill>
                  <a:schemeClr val="tx1"/>
                </a:solidFill>
              </a:rPr>
              <a:t>The initial configuration</a:t>
            </a:r>
            <a:r>
              <a:rPr sz="1400" b="0">
                <a:solidFill>
                  <a:schemeClr val="tx1"/>
                </a:solidFill>
              </a:rPr>
              <a:t> describes how the agent starts. A transition rule specifies how its state changes in response to an input and what output it produces.</a:t>
            </a:r>
          </a:p>
          <a:p>
            <a:pPr marL="400050" indent="-285750">
              <a:spcBef>
                <a:spcPts val="600"/>
              </a:spcBef>
              <a:spcAft>
                <a:spcPts val="600"/>
              </a:spcAft>
              <a:buClr>
                <a:srgbClr val="28285E"/>
              </a:buClr>
              <a:buSzPts val="1260"/>
              <a:buFont typeface="+mn-lt"/>
              <a:buChar char="●"/>
            </a:pPr>
            <a:r>
              <a:rPr sz="1400" b="1">
                <a:solidFill>
                  <a:schemeClr val="tx1"/>
                </a:solidFill>
              </a:rPr>
              <a:t>A terminal configuration</a:t>
            </a:r>
            <a:r>
              <a:rPr sz="1400" b="0">
                <a:solidFill>
                  <a:schemeClr val="tx1"/>
                </a:solidFill>
              </a:rPr>
              <a:t> is one from which the runtime schedules no further step. It marks the end of the run.</a:t>
            </a:r>
          </a:p>
        </p:txBody>
      </p:sp>
      <p:sp>
        <p:nvSpPr>
          <p:cNvPr id="4" name="Rectangle 3"/>
          <p:cNvSpPr/>
          <p:nvPr/>
        </p:nvSpPr>
        <p:spPr>
          <a:xfrm>
            <a:off x="319251" y="3340000"/>
            <a:ext cx="6014545" cy="8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state machine is a simplified description of an agent. It omits the prompts, the model and the tool code.</a:t>
            </a:r>
          </a:p>
        </p:txBody>
      </p:sp>
      <p:sp>
        <p:nvSpPr>
          <p:cNvPr id="5" name="Rectangle 4"/>
          <p:cNvSpPr/>
          <p:nvPr/>
        </p:nvSpPr>
        <p:spPr>
          <a:xfrm>
            <a:off x="319251" y="433000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This description lets us examine execution without describing the whole program.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control locations</a:t>
            </a:r>
          </a:p>
        </p:txBody>
      </p:sp>
      <p:sp>
        <p:nvSpPr>
          <p:cNvPr id="3" name="Content Placeholder 2"/>
          <p:cNvSpPr>
            <a:spLocks noGrp="1"/>
          </p:cNvSpPr>
          <p:nvPr>
            <p:ph idx="1"/>
          </p:nvPr>
        </p:nvSpPr>
        <p:spPr>
          <a:xfrm>
            <a:off x="319251" y="700000"/>
            <a:ext cx="6014545" cy="450000"/>
          </a:xfrm>
        </p:spPr>
        <p:txBody>
          <a:bodyPr wrap="square" anchor="ctr">
            <a:normAutofit fontScale="77500" lnSpcReduction="20000"/>
          </a:bodyPr>
          <a:lstStyle/>
          <a:p>
            <a:pPr marL="0" indent="0">
              <a:buNone/>
            </a:pPr>
            <a:r>
              <a:rPr sz="1400" b="1">
                <a:solidFill>
                  <a:srgbClr val="28285E"/>
                </a:solidFill>
              </a:rPr>
              <a:t>A control location names the computation to run next or marks the end of the run. Nodes show locations, and arrows show allowed transitions.</a:t>
            </a:r>
          </a:p>
        </p:txBody>
      </p:sp>
      <p:pic>
        <p:nvPicPr>
          <p:cNvPr id="4" name="Figure efsm-skeleton" descr="efsm-skeleton.png"/>
          <p:cNvPicPr>
            <a:picLocks noChangeAspect="1"/>
          </p:cNvPicPr>
          <p:nvPr/>
        </p:nvPicPr>
        <p:blipFill>
          <a:blip r:embed="rId3"/>
          <a:stretch>
            <a:fillRect/>
          </a:stretch>
        </p:blipFill>
        <p:spPr>
          <a:xfrm>
            <a:off x="250148" y="1240000"/>
            <a:ext cx="6152752" cy="2417281"/>
          </a:xfrm>
          <a:prstGeom prst="rect">
            <a:avLst/>
          </a:prstGeom>
        </p:spPr>
      </p:pic>
      <p:sp>
        <p:nvSpPr>
          <p:cNvPr id="5" name="Rectangle 4"/>
          <p:cNvSpPr/>
          <p:nvPr/>
        </p:nvSpPr>
        <p:spPr>
          <a:xfrm>
            <a:off x="319251" y="3858622"/>
            <a:ext cx="6014545" cy="54430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Blue nodes call a model. Grey nodes run tools or checks.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what the agent keeps between steps</a:t>
            </a:r>
          </a:p>
        </p:txBody>
      </p:sp>
      <p:sp>
        <p:nvSpPr>
          <p:cNvPr id="3" name="Content Placeholder 2"/>
          <p:cNvSpPr>
            <a:spLocks noGrp="1"/>
          </p:cNvSpPr>
          <p:nvPr>
            <p:ph idx="1"/>
          </p:nvPr>
        </p:nvSpPr>
        <p:spPr>
          <a:xfrm>
            <a:off x="319251" y="700000"/>
            <a:ext cx="6014545" cy="1950000"/>
          </a:xfrm>
        </p:spPr>
        <p:txBody>
          <a:bodyPr wrap="square" anchor="ctr">
            <a:normAutofit fontScale="92500" lnSpcReduction="20000"/>
          </a:bodyPr>
          <a:lstStyle/>
          <a:p>
            <a:pPr marL="0" indent="0">
              <a:buNone/>
            </a:pPr>
            <a:r>
              <a:rPr sz="1400" b="1">
                <a:solidFill>
                  <a:srgbClr val="28285E"/>
                </a:solidFill>
              </a:rPr>
              <a:t>An agent runs in discrete steps. Between two steps, some information persists.</a:t>
            </a:r>
          </a:p>
          <a:p>
            <a:pPr marL="400050" indent="-285750">
              <a:spcBef>
                <a:spcPts val="600"/>
              </a:spcBef>
              <a:spcAft>
                <a:spcPts val="600"/>
              </a:spcAft>
              <a:buClr>
                <a:srgbClr val="28285E"/>
              </a:buClr>
              <a:buSzPts val="1260"/>
              <a:buFont typeface="+mn-lt"/>
              <a:buChar char="●"/>
            </a:pPr>
            <a:r>
              <a:rPr sz="1400" b="1">
                <a:solidFill>
                  <a:schemeClr val="tx1"/>
                </a:solidFill>
              </a:rPr>
              <a:t>The controller</a:t>
            </a:r>
            <a:r>
              <a:rPr sz="1400" b="0">
                <a:solidFill>
                  <a:schemeClr val="tx1"/>
                </a:solidFill>
              </a:rPr>
              <a:t> uses its instructions and earlier observations to choose an action. The runtime uses the call count to decide whether another model call is allowed.</a:t>
            </a:r>
          </a:p>
          <a:p>
            <a:pPr marL="400050" indent="-285750">
              <a:spcBef>
                <a:spcPts val="600"/>
              </a:spcBef>
              <a:spcAft>
                <a:spcPts val="600"/>
              </a:spcAft>
              <a:buClr>
                <a:srgbClr val="28285E"/>
              </a:buClr>
              <a:buSzPts val="1260"/>
              <a:buFont typeface="+mn-lt"/>
              <a:buChar char="●"/>
            </a:pPr>
            <a:r>
              <a:rPr sz="1400" b="1">
                <a:solidFill>
                  <a:schemeClr val="tx1"/>
                </a:solidFill>
              </a:rPr>
              <a:t>Two visits to the controller </a:t>
            </a:r>
            <a:r>
              <a:rPr sz="1400" b="0">
                <a:solidFill>
                  <a:schemeClr val="tx1"/>
                </a:solidFill>
              </a:rPr>
              <a:t>can therefore lead to different next steps, because the retained data differ.</a:t>
            </a:r>
          </a:p>
        </p:txBody>
      </p:sp>
      <p:pic>
        <p:nvPicPr>
          <p:cNvPr id="4" name="Figure step-state" descr="step-state.png"/>
          <p:cNvPicPr>
            <a:picLocks noChangeAspect="1"/>
          </p:cNvPicPr>
          <p:nvPr/>
        </p:nvPicPr>
        <p:blipFill>
          <a:blip r:embed="rId2"/>
          <a:stretch>
            <a:fillRect/>
          </a:stretch>
        </p:blipFill>
        <p:spPr>
          <a:xfrm>
            <a:off x="826524" y="2840000"/>
            <a:ext cx="5000000" cy="1084905"/>
          </a:xfrm>
          <a:prstGeom prst="rect">
            <a:avLst/>
          </a:prstGeom>
        </p:spPr>
      </p:pic>
      <p:sp>
        <p:nvSpPr>
          <p:cNvPr id="5" name="Rectangle 4"/>
          <p:cNvSpPr/>
          <p:nvPr/>
        </p:nvSpPr>
        <p:spPr>
          <a:xfrm>
            <a:off x="319251" y="4114905"/>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State is the information retained between steps that can affect what the agent does next.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Inputs: what arrives during a step</a:t>
            </a:r>
          </a:p>
        </p:txBody>
      </p:sp>
      <p:sp>
        <p:nvSpPr>
          <p:cNvPr id="3" name="Content Placeholder 2"/>
          <p:cNvSpPr>
            <a:spLocks noGrp="1"/>
          </p:cNvSpPr>
          <p:nvPr>
            <p:ph idx="1"/>
          </p:nvPr>
        </p:nvSpPr>
        <p:spPr>
          <a:xfrm>
            <a:off x="319251" y="700000"/>
            <a:ext cx="6014545" cy="1932880"/>
          </a:xfrm>
        </p:spPr>
        <p:txBody>
          <a:bodyPr wrap="square" anchor="ctr">
            <a:normAutofit fontScale="92500"/>
          </a:bodyPr>
          <a:lstStyle/>
          <a:p>
            <a:pPr marL="0" indent="0">
              <a:buNone/>
            </a:pPr>
            <a:r>
              <a:rPr sz="1400" b="1">
                <a:solidFill>
                  <a:srgbClr val="28285E"/>
                </a:solidFill>
              </a:rPr>
              <a:t>The runtime receives model replies and tool results during a step. Its stored state alone does not determine those results.</a:t>
            </a:r>
          </a:p>
          <a:p>
            <a:pPr marL="400050" indent="-285750">
              <a:spcBef>
                <a:spcPts val="600"/>
              </a:spcBef>
              <a:spcAft>
                <a:spcPts val="600"/>
              </a:spcAft>
              <a:buClr>
                <a:srgbClr val="28285E"/>
              </a:buClr>
              <a:buSzPts val="1260"/>
              <a:buFont typeface="+mn-lt"/>
              <a:buChar char="●"/>
            </a:pPr>
            <a:r>
              <a:rPr sz="1400" b="1">
                <a:solidFill>
                  <a:schemeClr val="tx1"/>
                </a:solidFill>
              </a:rPr>
              <a:t>A model reply is an input. </a:t>
            </a:r>
            <a:r>
              <a:rPr sz="1400" b="0">
                <a:solidFill>
                  <a:schemeClr val="tx1"/>
                </a:solidFill>
              </a:rPr>
              <a:t>The same state can receive a different reply next time.</a:t>
            </a:r>
          </a:p>
          <a:p>
            <a:pPr marL="400050" indent="-285750">
              <a:spcBef>
                <a:spcPts val="600"/>
              </a:spcBef>
              <a:spcAft>
                <a:spcPts val="600"/>
              </a:spcAft>
              <a:buClr>
                <a:srgbClr val="28285E"/>
              </a:buClr>
              <a:buSzPts val="1260"/>
              <a:buFont typeface="+mn-lt"/>
              <a:buChar char="●"/>
            </a:pPr>
            <a:r>
              <a:rPr sz="1400" b="1">
                <a:solidFill>
                  <a:schemeClr val="tx1"/>
                </a:solidFill>
              </a:rPr>
              <a:t>Workspace files</a:t>
            </a:r>
            <a:r>
              <a:rPr sz="1400" b="0">
                <a:solidFill>
                  <a:schemeClr val="tx1"/>
                </a:solidFill>
              </a:rPr>
              <a:t> are outside the state in this description. A tool's report about those files enters the state machine as an input observation.</a:t>
            </a:r>
          </a:p>
        </p:txBody>
      </p:sp>
      <p:pic>
        <p:nvPicPr>
          <p:cNvPr id="4" name="Figure step-input" descr="step-input.png"/>
          <p:cNvPicPr>
            <a:picLocks noChangeAspect="1"/>
          </p:cNvPicPr>
          <p:nvPr/>
        </p:nvPicPr>
        <p:blipFill>
          <a:blip r:embed="rId2"/>
          <a:stretch>
            <a:fillRect/>
          </a:stretch>
        </p:blipFill>
        <p:spPr>
          <a:xfrm>
            <a:off x="626524" y="2822880"/>
            <a:ext cx="5400000" cy="1082888"/>
          </a:xfrm>
          <a:prstGeom prst="rect">
            <a:avLst/>
          </a:prstGeom>
        </p:spPr>
      </p:pic>
      <p:sp>
        <p:nvSpPr>
          <p:cNvPr id="5" name="Rectangle 4"/>
          <p:cNvSpPr/>
          <p:nvPr/>
        </p:nvSpPr>
        <p:spPr>
          <a:xfrm>
            <a:off x="319251" y="4095768"/>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State determines which transitions are permitted. It does not determine which result arrives.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Determinism: two ways to treat the reply</a:t>
            </a:r>
          </a:p>
        </p:txBody>
      </p:sp>
      <p:sp>
        <p:nvSpPr>
          <p:cNvPr id="3" name="Content Placeholder 2"/>
          <p:cNvSpPr>
            <a:spLocks noGrp="1"/>
          </p:cNvSpPr>
          <p:nvPr>
            <p:ph idx="1"/>
          </p:nvPr>
        </p:nvSpPr>
        <p:spPr>
          <a:xfrm>
            <a:off x="319251" y="700000"/>
            <a:ext cx="6014545" cy="731648"/>
          </a:xfrm>
        </p:spPr>
        <p:txBody>
          <a:bodyPr wrap="square" anchor="ctr">
            <a:normAutofit fontScale="85000" lnSpcReduction="10000"/>
          </a:bodyPr>
          <a:lstStyle/>
          <a:p>
            <a:pPr marL="0" indent="0">
              <a:buNone/>
            </a:pPr>
            <a:r>
              <a:rPr sz="1400" b="1">
                <a:solidFill>
                  <a:srgbClr val="28285E"/>
                </a:solidFill>
              </a:rPr>
              <a:t>We can treat the model's reply as an input supplied to the machine, or represent the model choosing among possible replies during a transition.</a:t>
            </a:r>
          </a:p>
        </p:txBody>
      </p:sp>
      <p:graphicFrame>
        <p:nvGraphicFramePr>
          <p:cNvPr id="4" name="Table 3"/>
          <p:cNvGraphicFramePr>
            <a:graphicFrameLocks noGrp="1"/>
          </p:cNvGraphicFramePr>
          <p:nvPr/>
        </p:nvGraphicFramePr>
        <p:xfrm>
          <a:off x="319251" y="1521648"/>
          <a:ext cx="6014545" cy="2860320"/>
        </p:xfrm>
        <a:graphic>
          <a:graphicData uri="http://schemas.openxmlformats.org/drawingml/2006/table">
            <a:tbl>
              <a:tblPr firstRow="1" bandRow="1">
                <a:tableStyleId>{5C22544A-7EE6-4342-B048-85BDC9FD1C3A}</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buNone/>
                      </a:pPr>
                      <a:endParaRPr/>
                    </a:p>
                  </a:txBody>
                  <a:tcPr marL="95250" marR="95250" marT="47625" marB="47625">
                    <a:lnB w="12700" cap="flat" cmpd="sng" algn="ctr">
                      <a:solidFill>
                        <a:schemeClr val="tx1"/>
                      </a:solidFill>
                    </a:lnB>
                    <a:noFill/>
                  </a:tcPr>
                </a:tc>
                <a:tc>
                  <a:txBody>
                    <a:bodyPr/>
                    <a:lstStyle/>
                    <a:p>
                      <a:pPr>
                        <a:buNone/>
                      </a:pPr>
                      <a:r>
                        <a:rPr sz="1100" b="1">
                          <a:solidFill>
                            <a:schemeClr val="tx1"/>
                          </a:solidFill>
                        </a:rPr>
                        <a:t>The reply is an input</a:t>
                      </a:r>
                    </a:p>
                  </a:txBody>
                  <a:tcPr marL="95250" marR="95250" marT="47625" marB="47625">
                    <a:lnB w="12700" cap="flat" cmpd="sng" algn="ctr">
                      <a:solidFill>
                        <a:schemeClr val="tx1"/>
                      </a:solidFill>
                    </a:lnB>
                    <a:noFill/>
                  </a:tcPr>
                </a:tc>
                <a:tc>
                  <a:txBody>
                    <a:bodyPr/>
                    <a:lstStyle/>
                    <a:p>
                      <a:pPr>
                        <a:buNone/>
                      </a:pPr>
                      <a:r>
                        <a:rPr sz="1100" b="1">
                          <a:solidFill>
                            <a:schemeClr val="tx1"/>
                          </a:solidFill>
                        </a:rPr>
                        <a:t>The reply is an internal choice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A model reply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We supply the model reply as an input to the state machine.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model chooses the reply during the run. We represent its possible choices without specifying how it chooses.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Transitions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Given the stored state and a supplied reply, the transition rule selects exactly one next step.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Given the stored state alone, either a tool call or a submission may follow the model's reply.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Behaviours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When the supplied inputs are fixed, the run follows one sequence of steps.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Even with the external inputs fixed, the model's possible choices can produce different sequences of steps.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100" b="1">
                          <a:solidFill>
                            <a:srgbClr val="28285E"/>
                          </a:solidFill>
                        </a:rPr>
                        <a:t>Probabilities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This description assigns no probabilities.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This description assigns no probabilities.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Extended state machines and configurations</a:t>
            </a:r>
          </a:p>
        </p:txBody>
      </p:sp>
      <p:sp>
        <p:nvSpPr>
          <p:cNvPr id="3" name="Content Placeholder 2"/>
          <p:cNvSpPr>
            <a:spLocks noGrp="1"/>
          </p:cNvSpPr>
          <p:nvPr>
            <p:ph idx="1"/>
          </p:nvPr>
        </p:nvSpPr>
        <p:spPr>
          <a:xfrm>
            <a:off x="319251" y="700000"/>
            <a:ext cx="6014545" cy="450000"/>
          </a:xfrm>
        </p:spPr>
        <p:txBody>
          <a:bodyPr wrap="square" anchor="ctr">
            <a:normAutofit fontScale="92500"/>
          </a:bodyPr>
          <a:lstStyle/>
          <a:p>
            <a:pPr marL="0" indent="0">
              <a:buNone/>
            </a:pPr>
            <a:r>
              <a:rPr sz="1400" b="1">
                <a:solidFill>
                  <a:srgbClr val="28285E"/>
                </a:solidFill>
              </a:rPr>
              <a:t>An agent has a small number of control locations and a large amount of data.</a:t>
            </a:r>
          </a:p>
        </p:txBody>
      </p:sp>
      <p:pic>
        <p:nvPicPr>
          <p:cNvPr id="4" name="Figure location-card" descr="location-card.png"/>
          <p:cNvPicPr>
            <a:picLocks noChangeAspect="1"/>
          </p:cNvPicPr>
          <p:nvPr/>
        </p:nvPicPr>
        <p:blipFill>
          <a:blip r:embed="rId3"/>
          <a:stretch>
            <a:fillRect/>
          </a:stretch>
        </p:blipFill>
        <p:spPr>
          <a:xfrm>
            <a:off x="526524" y="1240000"/>
            <a:ext cx="5600000" cy="1922615"/>
          </a:xfrm>
          <a:prstGeom prst="rect">
            <a:avLst/>
          </a:prstGeom>
        </p:spPr>
      </p:pic>
      <p:sp>
        <p:nvSpPr>
          <p:cNvPr id="5" name="Rectangle 4"/>
          <p:cNvSpPr/>
          <p:nvPr/>
        </p:nvSpPr>
        <p:spPr>
          <a:xfrm>
            <a:off x="319251" y="3252615"/>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dirty="0">
                <a:solidFill>
                  <a:schemeClr val="tx2"/>
                </a:solidFill>
              </a:rPr>
              <a:t>An extended state machine has finitely many control locations and variables that store data. A configuration pairs the current location with the current value of every variable.</a:t>
            </a:r>
          </a:p>
        </p:txBody>
      </p:sp>
      <p:sp>
        <p:nvSpPr>
          <p:cNvPr id="6" name="Rectangle 5"/>
          <p:cNvSpPr/>
          <p:nvPr/>
        </p:nvSpPr>
        <p:spPr>
          <a:xfrm>
            <a:off x="319251" y="4099273"/>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Run </a:t>
            </a:r>
            <a:r>
              <a:rPr sz="1200" b="0">
                <a:solidFill>
                  <a:srgbClr val="28285E"/>
                </a:solidFill>
                <a:latin typeface="Maple Mono NF"/>
              </a:rPr>
              <a:t>bc284c6b</a:t>
            </a:r>
            <a:r>
              <a:rPr sz="1200" b="1">
                <a:solidFill>
                  <a:srgbClr val="28285E"/>
                </a:solidFill>
              </a:rPr>
              <a:t> visits the controller five times. Each visit has a different configuration because the stored values have changed.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Configurations: finite control, unbounded data</a:t>
            </a:r>
          </a:p>
        </p:txBody>
      </p:sp>
      <p:sp>
        <p:nvSpPr>
          <p:cNvPr id="3" name="Content Placeholder 2"/>
          <p:cNvSpPr>
            <a:spLocks noGrp="1"/>
          </p:cNvSpPr>
          <p:nvPr>
            <p:ph idx="1"/>
          </p:nvPr>
        </p:nvSpPr>
        <p:spPr>
          <a:xfrm>
            <a:off x="319251" y="700000"/>
            <a:ext cx="6014545" cy="2450000"/>
          </a:xfrm>
        </p:spPr>
        <p:txBody>
          <a:bodyPr wrap="square" anchor="ctr"/>
          <a:lstStyle/>
          <a:p>
            <a:pPr marL="0" indent="0">
              <a:buNone/>
            </a:pPr>
            <a:r>
              <a:rPr sz="1400" b="1" dirty="0">
                <a:solidFill>
                  <a:srgbClr val="28285E"/>
                </a:solidFill>
              </a:rPr>
              <a:t>A graph can have finitely many control locations even when its variables can take infinitely many values.</a:t>
            </a:r>
          </a:p>
          <a:p>
            <a:pPr marL="400050" indent="-285750">
              <a:spcBef>
                <a:spcPts val="600"/>
              </a:spcBef>
              <a:spcAft>
                <a:spcPts val="600"/>
              </a:spcAft>
              <a:buClr>
                <a:srgbClr val="28285E"/>
              </a:buClr>
              <a:buSzPts val="1260"/>
              <a:buFont typeface="+mn-lt"/>
              <a:buChar char="●"/>
            </a:pPr>
            <a:r>
              <a:rPr sz="1400" b="1" dirty="0">
                <a:solidFill>
                  <a:schemeClr val="tx1"/>
                </a:solidFill>
              </a:rPr>
              <a:t>If </a:t>
            </a:r>
            <a:r>
              <a:rPr sz="1400" b="0" dirty="0">
                <a:solidFill>
                  <a:schemeClr val="tx1"/>
                </a:solidFill>
                <a:latin typeface="Maple Mono NF"/>
              </a:rPr>
              <a:t>model_calls</a:t>
            </a:r>
            <a:r>
              <a:rPr sz="1400" b="0" dirty="0">
                <a:solidFill>
                  <a:schemeClr val="tx1"/>
                </a:solidFill>
              </a:rPr>
              <a:t> is the only variable and its budget is N, it can hold 0 through N. Each location then has at most N+1 configurations.</a:t>
            </a:r>
          </a:p>
          <a:p>
            <a:pPr marL="400050" indent="-285750">
              <a:spcBef>
                <a:spcPts val="600"/>
              </a:spcBef>
              <a:spcAft>
                <a:spcPts val="600"/>
              </a:spcAft>
              <a:buClr>
                <a:srgbClr val="28285E"/>
              </a:buClr>
              <a:buSzPts val="1260"/>
              <a:buFont typeface="+mn-lt"/>
              <a:buChar char="●"/>
            </a:pPr>
            <a:r>
              <a:rPr sz="1400" b="1" dirty="0">
                <a:solidFill>
                  <a:schemeClr val="tx1"/>
                </a:solidFill>
              </a:rPr>
              <a:t>If a message list</a:t>
            </a:r>
            <a:r>
              <a:rPr sz="1400" b="0" dirty="0">
                <a:solidFill>
                  <a:schemeClr val="tx1"/>
                </a:solidFill>
              </a:rPr>
              <a:t> can grow without a length bound, one control location can have infinitely many configurations.</a:t>
            </a:r>
          </a:p>
          <a:p>
            <a:pPr marL="400050" indent="-285750">
              <a:spcBef>
                <a:spcPts val="600"/>
              </a:spcBef>
              <a:spcAft>
                <a:spcPts val="600"/>
              </a:spcAft>
              <a:buClr>
                <a:srgbClr val="28285E"/>
              </a:buClr>
              <a:buSzPts val="1260"/>
              <a:buFont typeface="+mn-lt"/>
              <a:buChar char="●"/>
            </a:pPr>
            <a:r>
              <a:rPr sz="1400" b="1" dirty="0">
                <a:solidFill>
                  <a:schemeClr val="tx1"/>
                </a:solidFill>
              </a:rPr>
              <a:t>A procedure</a:t>
            </a:r>
            <a:r>
              <a:rPr sz="1400" b="0" dirty="0">
                <a:solidFill>
                  <a:schemeClr val="tx1"/>
                </a:solidFill>
              </a:rPr>
              <a:t> that tries to list every reachable configuration may therefore never finish.</a:t>
            </a:r>
          </a:p>
        </p:txBody>
      </p:sp>
      <p:sp>
        <p:nvSpPr>
          <p:cNvPr id="4" name="Rectangle 3"/>
          <p:cNvSpPr/>
          <p:nvPr/>
        </p:nvSpPr>
        <p:spPr>
          <a:xfrm>
            <a:off x="319251" y="334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An extended state machine can have finitely many control locations and infinitely many configurations.</a:t>
            </a:r>
          </a:p>
        </p:txBody>
      </p:sp>
      <p:sp>
        <p:nvSpPr>
          <p:cNvPr id="5" name="Rectangle 4"/>
          <p:cNvSpPr/>
          <p:nvPr/>
        </p:nvSpPr>
        <p:spPr>
          <a:xfrm>
            <a:off x="319251" y="414000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set of control locations and guards remains finite.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Transitions: guard, output action, set action</a:t>
            </a:r>
          </a:p>
        </p:txBody>
      </p:sp>
      <p:sp>
        <p:nvSpPr>
          <p:cNvPr id="3" name="Content Placeholder 2"/>
          <p:cNvSpPr>
            <a:spLocks noGrp="1"/>
          </p:cNvSpPr>
          <p:nvPr>
            <p:ph idx="1"/>
          </p:nvPr>
        </p:nvSpPr>
        <p:spPr>
          <a:xfrm>
            <a:off x="319251" y="700000"/>
            <a:ext cx="6014545" cy="500000"/>
          </a:xfrm>
        </p:spPr>
        <p:txBody>
          <a:bodyPr wrap="square" anchor="ctr"/>
          <a:lstStyle/>
          <a:p>
            <a:pPr marL="0" indent="0">
              <a:buNone/>
            </a:pPr>
            <a:r>
              <a:rPr sz="1400" b="1">
                <a:solidFill>
                  <a:srgbClr val="28285E"/>
                </a:solidFill>
              </a:rPr>
              <a:t>The guard states when a transition is allowed. Its actions emit output and update variables.</a:t>
            </a:r>
          </a:p>
        </p:txBody>
      </p:sp>
      <p:pic>
        <p:nvPicPr>
          <p:cNvPr id="4" name="Figure one-edge" descr="one-edge.png"/>
          <p:cNvPicPr>
            <a:picLocks noChangeAspect="1"/>
          </p:cNvPicPr>
          <p:nvPr/>
        </p:nvPicPr>
        <p:blipFill>
          <a:blip r:embed="rId3"/>
          <a:stretch>
            <a:fillRect/>
          </a:stretch>
        </p:blipFill>
        <p:spPr>
          <a:xfrm>
            <a:off x="1476524" y="1290000"/>
            <a:ext cx="3700000" cy="2205893"/>
          </a:xfrm>
          <a:prstGeom prst="rect">
            <a:avLst/>
          </a:prstGeom>
        </p:spPr>
      </p:pic>
      <p:sp>
        <p:nvSpPr>
          <p:cNvPr id="5" name="Shorthand"/>
          <p:cNvSpPr txBox="1"/>
          <p:nvPr/>
        </p:nvSpPr>
        <p:spPr>
          <a:xfrm>
            <a:off x="1072541" y="3675487"/>
            <a:ext cx="4507965" cy="307777"/>
          </a:xfrm>
          <a:prstGeom prst="rect">
            <a:avLst/>
          </a:prstGeom>
          <a:noFill/>
        </p:spPr>
        <p:txBody>
          <a:bodyPr wrap="none" anchor="ctr">
            <a:spAutoFit/>
          </a:bodyPr>
          <a:lstStyle/>
          <a:p>
            <a:pPr algn="ctr"/>
            <a:r>
              <a:rPr sz="1400" dirty="0">
                <a:solidFill>
                  <a:schemeClr val="tx1"/>
                </a:solidFill>
                <a:latin typeface="Maple Mono NF"/>
              </a:rPr>
              <a:t>(q, v)  -- e ; g / out ; set --&gt;  (q', v')</a:t>
            </a:r>
          </a:p>
        </p:txBody>
      </p:sp>
      <p:sp>
        <p:nvSpPr>
          <p:cNvPr id="6" name="Rectangle 5"/>
          <p:cNvSpPr/>
          <p:nvPr/>
        </p:nvSpPr>
        <p:spPr>
          <a:xfrm>
            <a:off x="156412" y="4169375"/>
            <a:ext cx="6340224"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At location q with variable values v, input e arrives. If guard g holds, the transition emits out, applies set to the variables and moves to location q' with values v'.</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elements of a transitio</a:t>
            </a:r>
            <a:r>
              <a:rPr lang="en-US" dirty="0"/>
              <a:t>n (</a:t>
            </a:r>
            <a:r>
              <a:rPr dirty="0"/>
              <a:t>for an agent</a:t>
            </a:r>
            <a:r>
              <a:rPr lang="en-US" dirty="0"/>
              <a:t>)</a:t>
            </a:r>
            <a:endParaRPr dirty="0"/>
          </a:p>
        </p:txBody>
      </p:sp>
      <p:graphicFrame>
        <p:nvGraphicFramePr>
          <p:cNvPr id="3" name="Table 2"/>
          <p:cNvGraphicFramePr>
            <a:graphicFrameLocks noGrp="1"/>
          </p:cNvGraphicFramePr>
          <p:nvPr/>
        </p:nvGraphicFramePr>
        <p:xfrm>
          <a:off x="319251" y="700000"/>
          <a:ext cx="6014545" cy="3348000"/>
        </p:xfrm>
        <a:graphic>
          <a:graphicData uri="http://schemas.openxmlformats.org/drawingml/2006/table">
            <a:tbl>
              <a:tblPr firstRow="1" bandRow="1">
                <a:tableStyleId>{5C22544A-7EE6-4342-B048-85BDC9FD1C3A}</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buNone/>
                      </a:pPr>
                      <a:r>
                        <a:rPr sz="1000" b="1">
                          <a:solidFill>
                            <a:schemeClr val="tx1"/>
                          </a:solidFill>
                        </a:rPr>
                        <a:t>Element</a:t>
                      </a:r>
                    </a:p>
                  </a:txBody>
                  <a:tcPr marL="95250" marR="95250" marT="47625" marB="47625">
                    <a:lnB w="12700" cap="flat" cmpd="sng" algn="ctr">
                      <a:solidFill>
                        <a:schemeClr val="tx1"/>
                      </a:solidFill>
                    </a:lnB>
                    <a:noFill/>
                  </a:tcPr>
                </a:tc>
                <a:tc>
                  <a:txBody>
                    <a:bodyPr/>
                    <a:lstStyle/>
                    <a:p>
                      <a:pPr>
                        <a:buNone/>
                      </a:pPr>
                      <a:r>
                        <a:rPr sz="1000" b="1">
                          <a:solidFill>
                            <a:schemeClr val="tx1"/>
                          </a:solidFill>
                        </a:rPr>
                        <a:t>In an 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Control location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control location names the computation ready to run: a model call, tool dispatch or check.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Variables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Variables hold messages, observations, a plan, counters, check results and a status between steps.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An input is a result received during a step, such as a model reply, tool result or check result.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Guard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guard is a predicate: a true-or-false test of the variables and input, such as whether the reply requests a tool.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Output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An output action requests an operation or reports a terminal outcome.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Set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 set action updates variables, such as storing a reply, extending observations or incrementing a counter.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rgbClr val="28285E"/>
                          </a:solidFill>
                        </a:rPr>
                        <a:t>Initial configuration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initial configuration pairs the first control location with starting variable values: opening messages, zero counters, no observations and running status.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r h="0">
                <a:tc>
                  <a:txBody>
                    <a:bodyPr/>
                    <a:lstStyle/>
                    <a:p>
                      <a:pPr>
                        <a:buNone/>
                      </a:pPr>
                      <a:r>
                        <a:rPr sz="1000" b="1">
                          <a:solidFill>
                            <a:srgbClr val="28285E"/>
                          </a:solidFill>
                        </a:rPr>
                        <a:t>Terminal configuration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No further computation is scheduled from a terminal configuration. The state stores the reason for ending.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8"/>
                  </a:ext>
                </a:extLst>
              </a:tr>
            </a:tbl>
          </a:graphicData>
        </a:graphic>
      </p:graphicFrame>
      <p:sp>
        <p:nvSpPr>
          <p:cNvPr id="4" name="Rectangle 3"/>
          <p:cNvSpPr/>
          <p:nvPr/>
        </p:nvSpPr>
        <p:spPr>
          <a:xfrm>
            <a:off x="1888761" y="425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Table 1 in the lecture notes gives each element its </a:t>
            </a:r>
            <a:r>
              <a:rPr sz="1200" b="1">
                <a:solidFill>
                  <a:schemeClr val="tx2"/>
                </a:solidFill>
              </a:rPr>
              <a:t>symbol</a:t>
            </a:r>
            <a:r>
              <a:rPr sz="1200" b="0">
                <a:solidFill>
                  <a:schemeClr val="tx2"/>
                </a:solidFil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transition in code: controller to tools</a:t>
            </a:r>
          </a:p>
        </p:txBody>
      </p:sp>
      <p:pic>
        <p:nvPicPr>
          <p:cNvPr id="3" name="Figure one-edge-controller" descr="image.png"/>
          <p:cNvPicPr>
            <a:picLocks noChangeAspect="1"/>
          </p:cNvPicPr>
          <p:nvPr/>
        </p:nvPicPr>
        <p:blipFill>
          <a:blip r:embed="rId3"/>
          <a:stretch>
            <a:fillRect/>
          </a:stretch>
        </p:blipFill>
        <p:spPr>
          <a:xfrm>
            <a:off x="250148" y="720000"/>
            <a:ext cx="6152752" cy="512388"/>
          </a:xfrm>
          <a:prstGeom prst="rect">
            <a:avLst/>
          </a:prstGeom>
        </p:spPr>
      </p:pic>
      <p:sp>
        <p:nvSpPr>
          <p:cNvPr id="4" name="TextBox 3"/>
          <p:cNvSpPr txBox="1"/>
          <p:nvPr/>
        </p:nvSpPr>
        <p:spPr>
          <a:xfrm>
            <a:off x="319251" y="1422388"/>
            <a:ext cx="6014545" cy="200000"/>
          </a:xfrm>
          <a:prstGeom prst="rect">
            <a:avLst/>
          </a:prstGeom>
          <a:noFill/>
        </p:spPr>
        <p:txBody>
          <a:bodyPr wrap="none" lIns="0" tIns="0" rIns="0" bIns="0">
            <a:spAutoFit/>
          </a:bodyPr>
          <a:lstStyle/>
          <a:p>
            <a:r>
              <a:rPr sz="1200" b="1">
                <a:solidFill>
                  <a:srgbClr val="28285E"/>
                </a:solidFill>
              </a:rPr>
              <a:t>graph.py, controller and after_controller (excerpt)</a:t>
            </a:r>
          </a:p>
        </p:txBody>
      </p:sp>
      <p:sp>
        <p:nvSpPr>
          <p:cNvPr id="5" name="CodeWindow"/>
          <p:cNvSpPr/>
          <p:nvPr/>
        </p:nvSpPr>
        <p:spPr>
          <a:xfrm>
            <a:off x="319251" y="1682388"/>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726204"/>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726204"/>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726204"/>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2012388"/>
            <a:ext cx="5437386" cy="1862048"/>
          </a:xfrm>
          <a:prstGeom prst="rect">
            <a:avLst/>
          </a:prstGeom>
          <a:noFill/>
        </p:spPr>
        <p:txBody>
          <a:bodyPr wrap="none" lIns="0" tIns="0" rIns="0" bIns="0" anchor="t">
            <a:spAutoFit/>
          </a:bodyPr>
          <a:lstStyle/>
          <a:p>
            <a:pPr algn="l">
              <a:buNone/>
            </a:pPr>
            <a:r>
              <a:rPr sz="1100" dirty="0">
                <a:solidFill>
                  <a:schemeClr val="accent6"/>
                </a:solidFill>
                <a:latin typeface="Maple Mono NF Light" panose="020F0509060000000000" pitchFamily="49" charset="0"/>
                <a:ea typeface="Maple Mono NF Light" panose="020F0509060000000000" pitchFamily="49" charset="0"/>
              </a:rPr>
              <a:t># ours: the model reply is the input</a:t>
            </a:r>
          </a:p>
          <a:p>
            <a:pPr algn="l">
              <a:buNone/>
            </a:pPr>
            <a:r>
              <a:rPr sz="1100" dirty="0">
                <a:solidFill>
                  <a:schemeClr val="bg1"/>
                </a:solidFill>
                <a:latin typeface="Maple Mono NF Light" panose="020F0509060000000000" pitchFamily="49" charset="0"/>
                <a:ea typeface="Maple Mono NF Light" panose="020F0509060000000000" pitchFamily="49" charset="0"/>
              </a:rPr>
              <a:t>reply = </a:t>
            </a:r>
            <a:r>
              <a:rPr sz="1100" dirty="0" err="1">
                <a:solidFill>
                  <a:schemeClr val="accent2"/>
                </a:solidFill>
                <a:latin typeface="Maple Mono NF Light" panose="020F0509060000000000" pitchFamily="49" charset="0"/>
                <a:ea typeface="Maple Mono NF Light" panose="020F0509060000000000" pitchFamily="49" charset="0"/>
              </a:rPr>
              <a:t>self</a:t>
            </a:r>
            <a:r>
              <a:rPr sz="1100" dirty="0" err="1">
                <a:solidFill>
                  <a:schemeClr val="bg1"/>
                </a:solidFill>
                <a:latin typeface="Maple Mono NF Light" panose="020F0509060000000000" pitchFamily="49" charset="0"/>
                <a:ea typeface="Maple Mono NF Light" panose="020F0509060000000000" pitchFamily="49" charset="0"/>
              </a:rPr>
              <a:t>._call</a:t>
            </a:r>
            <a:r>
              <a:rPr sz="1100" dirty="0">
                <a:solidFill>
                  <a:schemeClr val="bg1"/>
                </a:solidFill>
                <a:latin typeface="Maple Mono NF Light" panose="020F0509060000000000" pitchFamily="49" charset="0"/>
                <a:ea typeface="Maple Mono NF Light" panose="020F0509060000000000" pitchFamily="49" charset="0"/>
              </a:rPr>
              <a:t>(model, state[</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"messages"</a:t>
            </a:r>
            <a:r>
              <a:rPr sz="1100" dirty="0">
                <a:solidFill>
                  <a:schemeClr val="bg1"/>
                </a:solidFill>
                <a:latin typeface="Maple Mono NF Light" panose="020F0509060000000000" pitchFamily="49" charset="0"/>
                <a:ea typeface="Maple Mono NF Light" panose="020F0509060000000000" pitchFamily="49" charset="0"/>
              </a:rPr>
              <a:t>], role=</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"controller"</a:t>
            </a:r>
            <a:r>
              <a:rPr sz="1100" dirty="0">
                <a:solidFill>
                  <a:schemeClr val="bg1"/>
                </a:solidFill>
                <a:latin typeface="Maple Mono NF Light" panose="020F0509060000000000" pitchFamily="49" charset="0"/>
                <a:ea typeface="Maple Mono NF Light" panose="020F0509060000000000" pitchFamily="49" charset="0"/>
              </a:rPr>
              <a:t>)</a:t>
            </a:r>
          </a:p>
          <a:p>
            <a:pPr algn="l">
              <a:buNone/>
            </a:pPr>
            <a:endParaRPr lang="en-US" sz="1100" dirty="0">
              <a:solidFill>
                <a:schemeClr val="accent6"/>
              </a:solidFill>
              <a:latin typeface="Maple Mono NF Light" panose="020F0509060000000000" pitchFamily="49" charset="0"/>
              <a:ea typeface="Maple Mono NF Light" panose="020F0509060000000000" pitchFamily="49" charset="0"/>
            </a:endParaRPr>
          </a:p>
          <a:p>
            <a:pPr algn="l">
              <a:buNone/>
            </a:pPr>
            <a:r>
              <a:rPr sz="1100" dirty="0">
                <a:solidFill>
                  <a:schemeClr val="accent6"/>
                </a:solidFill>
                <a:latin typeface="Maple Mono NF Light" panose="020F0509060000000000" pitchFamily="49" charset="0"/>
                <a:ea typeface="Maple Mono NF Light" panose="020F0509060000000000" pitchFamily="49" charset="0"/>
              </a:rPr>
              <a:t># ours: append the reply and increment the call count</a:t>
            </a:r>
          </a:p>
          <a:p>
            <a:pPr algn="l">
              <a:buNone/>
            </a:pPr>
            <a:r>
              <a:rPr sz="1100" dirty="0">
                <a:solidFill>
                  <a:schemeClr val="accent2"/>
                </a:solidFill>
                <a:latin typeface="Maple Mono NF Light" panose="020F0509060000000000" pitchFamily="49" charset="0"/>
                <a:ea typeface="Maple Mono NF Light" panose="020F0509060000000000" pitchFamily="49" charset="0"/>
              </a:rPr>
              <a:t>return</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"messages"</a:t>
            </a:r>
            <a:r>
              <a:rPr sz="1100" dirty="0">
                <a:solidFill>
                  <a:schemeClr val="bg1"/>
                </a:solidFill>
                <a:latin typeface="Maple Mono NF Light" panose="020F0509060000000000" pitchFamily="49" charset="0"/>
                <a:ea typeface="Maple Mono NF Light" panose="020F0509060000000000" pitchFamily="49" charset="0"/>
              </a:rPr>
              <a:t>: [reply],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a:t>
            </a:r>
            <a:r>
              <a:rPr sz="1100" dirty="0" err="1">
                <a:solidFill>
                  <a:schemeClr val="accent3">
                    <a:lumMod val="55000"/>
                    <a:lumOff val="45000"/>
                  </a:schemeClr>
                </a:solidFill>
                <a:latin typeface="Maple Mono NF Light" panose="020F0509060000000000" pitchFamily="49" charset="0"/>
                <a:ea typeface="Maple Mono NF Light" panose="020F0509060000000000" pitchFamily="49" charset="0"/>
              </a:rPr>
              <a:t>model_calls</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5">
                    <a:lumMod val="45000"/>
                    <a:lumOff val="55000"/>
                  </a:schemeClr>
                </a:solidFill>
                <a:latin typeface="Maple Mono NF Light" panose="020F0509060000000000" pitchFamily="49" charset="0"/>
                <a:ea typeface="Maple Mono NF Light" panose="020F0509060000000000" pitchFamily="49" charset="0"/>
              </a:rPr>
              <a:t>1</a:t>
            </a:r>
            <a:r>
              <a:rPr sz="1100" dirty="0">
                <a:solidFill>
                  <a:schemeClr val="bg1"/>
                </a:solidFill>
                <a:latin typeface="Maple Mono NF Light" panose="020F0509060000000000" pitchFamily="49" charset="0"/>
                <a:ea typeface="Maple Mono NF Light" panose="020F0509060000000000" pitchFamily="49" charset="0"/>
              </a:rPr>
              <a:t>,</a:t>
            </a:r>
          </a:p>
          <a:p>
            <a:pPr algn="l">
              <a:buNone/>
            </a:pP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"usage"</a:t>
            </a:r>
            <a:r>
              <a:rPr sz="1100" dirty="0">
                <a:solidFill>
                  <a:schemeClr val="bg1"/>
                </a:solidFill>
                <a:latin typeface="Maple Mono NF Light" panose="020F0509060000000000" pitchFamily="49" charset="0"/>
                <a:ea typeface="Maple Mono NF Light" panose="020F0509060000000000" pitchFamily="49" charset="0"/>
              </a:rPr>
              <a:t>: </a:t>
            </a:r>
            <a:r>
              <a:rPr sz="1100" dirty="0" err="1">
                <a:solidFill>
                  <a:schemeClr val="accent2"/>
                </a:solidFill>
                <a:latin typeface="Maple Mono NF Light" panose="020F0509060000000000" pitchFamily="49" charset="0"/>
                <a:ea typeface="Maple Mono NF Light" panose="020F0509060000000000" pitchFamily="49" charset="0"/>
              </a:rPr>
              <a:t>self</a:t>
            </a:r>
            <a:r>
              <a:rPr sz="1100" dirty="0" err="1">
                <a:solidFill>
                  <a:schemeClr val="bg1"/>
                </a:solidFill>
                <a:latin typeface="Maple Mono NF Light" panose="020F0509060000000000" pitchFamily="49" charset="0"/>
                <a:ea typeface="Maple Mono NF Light" panose="020F0509060000000000" pitchFamily="49" charset="0"/>
              </a:rPr>
              <a:t>._usage</a:t>
            </a:r>
            <a:r>
              <a:rPr sz="1100" dirty="0">
                <a:solidFill>
                  <a:schemeClr val="bg1"/>
                </a:solidFill>
                <a:latin typeface="Maple Mono NF Light" panose="020F0509060000000000" pitchFamily="49" charset="0"/>
                <a:ea typeface="Maple Mono NF Light" panose="020F0509060000000000" pitchFamily="49" charset="0"/>
              </a:rPr>
              <a:t>(reply)}</a:t>
            </a:r>
          </a:p>
          <a:p>
            <a:pPr algn="l">
              <a:buNone/>
            </a:pPr>
            <a:endParaRPr lang="en-US" sz="1100" dirty="0">
              <a:solidFill>
                <a:schemeClr val="accent6"/>
              </a:solidFill>
              <a:latin typeface="Maple Mono NF Light" panose="020F0509060000000000" pitchFamily="49" charset="0"/>
              <a:ea typeface="Maple Mono NF Light" panose="020F0509060000000000" pitchFamily="49" charset="0"/>
            </a:endParaRPr>
          </a:p>
          <a:p>
            <a:pPr algn="l">
              <a:buNone/>
            </a:pPr>
            <a:r>
              <a:rPr sz="1100" dirty="0">
                <a:solidFill>
                  <a:schemeClr val="accent6"/>
                </a:solidFill>
                <a:latin typeface="Maple Mono NF Light" panose="020F0509060000000000" pitchFamily="49" charset="0"/>
                <a:ea typeface="Maple Mono NF Light" panose="020F0509060000000000" pitchFamily="49" charset="0"/>
              </a:rPr>
              <a:t># ours: the guard tests whether the reply has tool calls</a:t>
            </a:r>
          </a:p>
          <a:p>
            <a:pPr algn="l">
              <a:buNone/>
            </a:pPr>
            <a:r>
              <a:rPr sz="1100" dirty="0">
                <a:solidFill>
                  <a:schemeClr val="accent2"/>
                </a:solidFill>
                <a:latin typeface="Maple Mono NF Light" panose="020F0509060000000000" pitchFamily="49" charset="0"/>
                <a:ea typeface="Maple Mono NF Light" panose="020F0509060000000000" pitchFamily="49" charset="0"/>
              </a:rPr>
              <a:t>if</a:t>
            </a:r>
            <a:r>
              <a:rPr sz="1100" dirty="0">
                <a:solidFill>
                  <a:schemeClr val="bg1"/>
                </a:solidFill>
                <a:latin typeface="Maple Mono NF Light" panose="020F0509060000000000" pitchFamily="49" charset="0"/>
                <a:ea typeface="Maple Mono NF Light" panose="020F0509060000000000" pitchFamily="49" charset="0"/>
              </a:rPr>
              <a:t> state[</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"messages"</a:t>
            </a:r>
            <a:r>
              <a:rPr sz="1100" dirty="0">
                <a:solidFill>
                  <a:schemeClr val="bg1"/>
                </a:solidFill>
                <a:latin typeface="Maple Mono NF Light" panose="020F0509060000000000" pitchFamily="49" charset="0"/>
                <a:ea typeface="Maple Mono NF Light" panose="020F0509060000000000" pitchFamily="49" charset="0"/>
              </a:rPr>
              <a:t>][-</a:t>
            </a:r>
            <a:r>
              <a:rPr sz="1100" dirty="0">
                <a:solidFill>
                  <a:schemeClr val="accent5">
                    <a:lumMod val="45000"/>
                    <a:lumOff val="55000"/>
                  </a:schemeClr>
                </a:solidFill>
                <a:latin typeface="Maple Mono NF Light" panose="020F0509060000000000" pitchFamily="49" charset="0"/>
                <a:ea typeface="Maple Mono NF Light" panose="020F0509060000000000" pitchFamily="49" charset="0"/>
              </a:rPr>
              <a:t>1</a:t>
            </a:r>
            <a:r>
              <a:rPr sz="1100" dirty="0">
                <a:solidFill>
                  <a:schemeClr val="bg1"/>
                </a:solidFill>
                <a:latin typeface="Maple Mono NF Light" panose="020F0509060000000000" pitchFamily="49" charset="0"/>
                <a:ea typeface="Maple Mono NF Light" panose="020F0509060000000000" pitchFamily="49" charset="0"/>
              </a:rPr>
              <a:t>].</a:t>
            </a:r>
            <a:r>
              <a:rPr sz="1100" dirty="0" err="1">
                <a:solidFill>
                  <a:schemeClr val="accent4">
                    <a:lumMod val="70000"/>
                    <a:lumOff val="30000"/>
                  </a:schemeClr>
                </a:solidFill>
                <a:latin typeface="Maple Mono NF Light" panose="020F0509060000000000" pitchFamily="49" charset="0"/>
                <a:ea typeface="Maple Mono NF Light" panose="020F0509060000000000" pitchFamily="49" charset="0"/>
              </a:rPr>
              <a:t>tool_calls</a:t>
            </a:r>
            <a:r>
              <a:rPr sz="1100" dirty="0">
                <a:solidFill>
                  <a:schemeClr val="bg1"/>
                </a:solidFill>
                <a:latin typeface="Maple Mono NF Light" panose="020F0509060000000000" pitchFamily="49" charset="0"/>
                <a:ea typeface="Maple Mono NF Light" panose="020F0509060000000000" pitchFamily="49" charset="0"/>
              </a:rPr>
              <a:t>:</a:t>
            </a:r>
          </a:p>
          <a:p>
            <a:pPr algn="l">
              <a:buNone/>
            </a:pP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2"/>
                </a:solidFill>
                <a:latin typeface="Maple Mono NF Light" panose="020F0509060000000000" pitchFamily="49" charset="0"/>
                <a:ea typeface="Maple Mono NF Light" panose="020F0509060000000000" pitchFamily="49" charset="0"/>
              </a:rPr>
              <a:t>return</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"tools"</a:t>
            </a:r>
          </a:p>
          <a:p>
            <a:pPr algn="l">
              <a:buNone/>
            </a:pPr>
            <a:r>
              <a:rPr sz="1100" dirty="0">
                <a:solidFill>
                  <a:schemeClr val="accent2"/>
                </a:solidFill>
                <a:latin typeface="Maple Mono NF Light" panose="020F0509060000000000" pitchFamily="49" charset="0"/>
                <a:ea typeface="Maple Mono NF Light" panose="020F0509060000000000" pitchFamily="49" charset="0"/>
              </a:rPr>
              <a:t>return</a:t>
            </a:r>
            <a:r>
              <a:rPr sz="1100" dirty="0">
                <a:solidFill>
                  <a:schemeClr val="bg1"/>
                </a:solidFill>
                <a:latin typeface="Maple Mono NF Light" panose="020F0509060000000000" pitchFamily="49" charset="0"/>
                <a:ea typeface="Maple Mono NF Light" panose="020F0509060000000000" pitchFamily="49" charset="0"/>
              </a:rPr>
              <a:t> </a:t>
            </a:r>
            <a:r>
              <a:rPr sz="1100" dirty="0">
                <a:solidFill>
                  <a:schemeClr val="accent3">
                    <a:lumMod val="55000"/>
                    <a:lumOff val="45000"/>
                  </a:schemeClr>
                </a:solidFill>
                <a:latin typeface="Maple Mono NF Light" panose="020F0509060000000000" pitchFamily="49" charset="0"/>
                <a:ea typeface="Maple Mono NF Light" panose="020F0509060000000000" pitchFamily="49" charset="0"/>
              </a:rPr>
              <a:t>"submit"</a:t>
            </a:r>
          </a:p>
        </p:txBody>
      </p:sp>
      <p:sp>
        <p:nvSpPr>
          <p:cNvPr id="10" name="Rectangle 9"/>
          <p:cNvSpPr/>
          <p:nvPr/>
        </p:nvSpPr>
        <p:spPr>
          <a:xfrm>
            <a:off x="319251" y="416238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reply is the input. The tool-call test is the guard. The runtime applies the set action by appending the reply and adding one to </a:t>
            </a:r>
            <a:r>
              <a:rPr sz="1200" b="0">
                <a:solidFill>
                  <a:schemeClr val="tx2"/>
                </a:solidFill>
                <a:latin typeface="Maple Mono NF"/>
              </a:rPr>
              <a:t>model_calls</a:t>
            </a:r>
            <a:r>
              <a:rPr sz="1200" b="1">
                <a:solidFill>
                  <a:schemeClr val="tx2"/>
                </a:solidFill>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Behaviour, trace and computation tree</a:t>
            </a:r>
          </a:p>
        </p:txBody>
      </p:sp>
      <p:sp>
        <p:nvSpPr>
          <p:cNvPr id="3" name="Content Placeholder 2"/>
          <p:cNvSpPr>
            <a:spLocks noGrp="1"/>
          </p:cNvSpPr>
          <p:nvPr>
            <p:ph idx="1"/>
          </p:nvPr>
        </p:nvSpPr>
        <p:spPr>
          <a:xfrm>
            <a:off x="319251" y="700000"/>
            <a:ext cx="6014545" cy="500000"/>
          </a:xfrm>
        </p:spPr>
        <p:txBody>
          <a:bodyPr wrap="square" anchor="ctr"/>
          <a:lstStyle/>
          <a:p>
            <a:pPr marL="0" indent="0">
              <a:buNone/>
            </a:pPr>
            <a:r>
              <a:rPr sz="1400" b="1">
                <a:solidFill>
                  <a:srgbClr val="28285E"/>
                </a:solidFill>
              </a:rPr>
              <a:t>A behaviour is a sequence of steps. It excludes stuttering steps, which have no input, state change or output.</a:t>
            </a:r>
          </a:p>
        </p:txBody>
      </p:sp>
      <p:pic>
        <p:nvPicPr>
          <p:cNvPr id="4" name="Figure abstract-tree" descr="abstract-tree.png"/>
          <p:cNvPicPr>
            <a:picLocks noChangeAspect="1"/>
          </p:cNvPicPr>
          <p:nvPr/>
        </p:nvPicPr>
        <p:blipFill>
          <a:blip r:embed="rId2"/>
          <a:stretch>
            <a:fillRect/>
          </a:stretch>
        </p:blipFill>
        <p:spPr>
          <a:xfrm>
            <a:off x="250148" y="1290000"/>
            <a:ext cx="6152752" cy="2399319"/>
          </a:xfrm>
          <a:prstGeom prst="rect">
            <a:avLst/>
          </a:prstGeom>
        </p:spPr>
      </p:pic>
      <p:sp>
        <p:nvSpPr>
          <p:cNvPr id="5" name="Rectangle 4"/>
          <p:cNvSpPr/>
          <p:nvPr/>
        </p:nvSpPr>
        <p:spPr>
          <a:xfrm>
            <a:off x="319251" y="3879319"/>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With the same inputs, a deterministic machine follows one sequence of steps. A nondeterministic machine can allow several next steps, so its computation tree branches.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event log as a trace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When the program exits, unsaved state is lost. Saved logs and workspace files can remain available.</a:t>
            </a:r>
          </a:p>
        </p:txBody>
      </p:sp>
      <p:sp>
        <p:nvSpPr>
          <p:cNvPr id="4" name="TextBox 3"/>
          <p:cNvSpPr txBox="1"/>
          <p:nvPr/>
        </p:nvSpPr>
        <p:spPr>
          <a:xfrm>
            <a:off x="319251" y="1290000"/>
            <a:ext cx="6014545" cy="200000"/>
          </a:xfrm>
          <a:prstGeom prst="rect">
            <a:avLst/>
          </a:prstGeom>
          <a:noFill/>
        </p:spPr>
        <p:txBody>
          <a:bodyPr wrap="none" lIns="0" tIns="0" rIns="0" bIns="0">
            <a:spAutoFit/>
          </a:bodyPr>
          <a:lstStyle/>
          <a:p>
            <a:r>
              <a:rPr sz="1200" b="0">
                <a:solidFill>
                  <a:srgbClr val="28285E"/>
                </a:solidFill>
                <a:latin typeface="Maple Mono NF"/>
              </a:rPr>
              <a:t>bc284c6b</a:t>
            </a:r>
            <a:r>
              <a:rPr sz="1200" b="1">
                <a:solidFill>
                  <a:srgbClr val="28285E"/>
                </a:solidFill>
              </a:rPr>
              <a:t>, events 19 to 22 (selected fields)</a:t>
            </a:r>
          </a:p>
        </p:txBody>
      </p:sp>
      <p:sp>
        <p:nvSpPr>
          <p:cNvPr id="5" name="CodeWindow"/>
          <p:cNvSpPr/>
          <p:nvPr/>
        </p:nvSpPr>
        <p:spPr>
          <a:xfrm>
            <a:off x="319251" y="15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5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5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5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880000"/>
            <a:ext cx="5714545" cy="1890000"/>
          </a:xfrm>
          <a:prstGeom prst="rect">
            <a:avLst/>
          </a:prstGeom>
          <a:noFill/>
        </p:spPr>
        <p:txBody>
          <a:bodyPr wrap="none" lIns="0" tIns="0" rIns="0" bIns="0" anchor="t">
            <a:spAutoFit/>
          </a:bodyPr>
          <a:lstStyle/>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19</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a:t>
            </a:r>
            <a:r>
              <a:rPr sz="1100" b="0" dirty="0" err="1">
                <a:solidFill>
                  <a:schemeClr val="accent3">
                    <a:lumMod val="55000"/>
                    <a:lumOff val="45000"/>
                  </a:schemeClr>
                </a:solidFill>
                <a:latin typeface="Maple Mono NF"/>
              </a:rPr>
              <a:t>model_call</a:t>
            </a:r>
            <a:r>
              <a:rPr sz="1100" b="0" dirty="0">
                <a:solidFill>
                  <a:schemeClr val="accent3">
                    <a:lumMod val="55000"/>
                    <a:lumOff val="45000"/>
                  </a:schemeClr>
                </a:solidFill>
                <a:latin typeface="Maple Mono NF"/>
              </a:rPr>
              <a:t>"</a:t>
            </a:r>
            <a:r>
              <a:rPr sz="1100" b="0" dirty="0">
                <a:solidFill>
                  <a:schemeClr val="bg1"/>
                </a:solidFill>
                <a:latin typeface="Maple Mono NF"/>
              </a:rPr>
              <a:t>, </a:t>
            </a:r>
            <a:r>
              <a:rPr sz="1100" b="0" dirty="0">
                <a:solidFill>
                  <a:schemeClr val="accent2"/>
                </a:solidFill>
                <a:latin typeface="Maple Mono NF"/>
              </a:rPr>
              <a:t>"role"</a:t>
            </a:r>
            <a:r>
              <a:rPr sz="1100" b="0" dirty="0">
                <a:solidFill>
                  <a:schemeClr val="bg1"/>
                </a:solidFill>
                <a:latin typeface="Maple Mono NF"/>
              </a:rPr>
              <a:t>: </a:t>
            </a:r>
            <a:r>
              <a:rPr sz="1100" b="0" dirty="0">
                <a:solidFill>
                  <a:schemeClr val="accent3">
                    <a:lumMod val="55000"/>
                    <a:lumOff val="45000"/>
                  </a:schemeClr>
                </a:solidFill>
                <a:latin typeface="Maple Mono NF"/>
              </a:rPr>
              <a:t>"controller"</a:t>
            </a:r>
            <a:r>
              <a:rPr sz="1100" b="0" dirty="0">
                <a:solidFill>
                  <a:schemeClr val="bg1"/>
                </a:solidFill>
                <a:latin typeface="Maple Mono NF"/>
              </a:rPr>
              <a:t>,</a:t>
            </a:r>
          </a:p>
          <a:p>
            <a:pPr algn="l">
              <a:buNone/>
            </a:pPr>
            <a:r>
              <a:rPr sz="1100" b="0" dirty="0">
                <a:solidFill>
                  <a:schemeClr val="bg1"/>
                </a:solidFill>
                <a:latin typeface="Maple Mono NF"/>
              </a:rPr>
              <a:t>  </a:t>
            </a:r>
            <a:r>
              <a:rPr sz="1100" b="1" dirty="0">
                <a:solidFill>
                  <a:schemeClr val="accent4">
                    <a:lumMod val="70000"/>
                    <a:lumOff val="30000"/>
                  </a:schemeClr>
                </a:solidFill>
                <a:latin typeface="Maple Mono NF"/>
              </a:rPr>
              <a:t>"</a:t>
            </a:r>
            <a:r>
              <a:rPr sz="1100" b="1" dirty="0" err="1">
                <a:solidFill>
                  <a:schemeClr val="accent4">
                    <a:lumMod val="70000"/>
                    <a:lumOff val="30000"/>
                  </a:schemeClr>
                </a:solidFill>
                <a:latin typeface="Maple Mono NF"/>
              </a:rPr>
              <a:t>tool_calls</a:t>
            </a:r>
            <a:r>
              <a:rPr sz="1100" b="1" dirty="0">
                <a:solidFill>
                  <a:schemeClr val="accent4">
                    <a:lumMod val="70000"/>
                    <a:lumOff val="30000"/>
                  </a:schemeClr>
                </a:solidFill>
                <a:latin typeface="Maple Mono NF"/>
              </a:rPr>
              <a:t>": []</a:t>
            </a:r>
            <a:r>
              <a:rPr sz="1100" b="0" dirty="0">
                <a:solidFill>
                  <a:schemeClr val="bg1"/>
                </a:solidFill>
                <a:latin typeface="Maple Mono NF"/>
              </a:rPr>
              <a:t>}</a:t>
            </a:r>
          </a:p>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20</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"routing"</a:t>
            </a:r>
            <a:r>
              <a:rPr sz="1100" b="0" dirty="0">
                <a:solidFill>
                  <a:schemeClr val="bg1"/>
                </a:solidFill>
                <a:latin typeface="Maple Mono NF"/>
              </a:rPr>
              <a:t>, </a:t>
            </a:r>
            <a:r>
              <a:rPr sz="1100" b="0" dirty="0">
                <a:solidFill>
                  <a:schemeClr val="accent2"/>
                </a:solidFill>
                <a:latin typeface="Maple Mono NF"/>
              </a:rPr>
              <a:t>"decision"</a:t>
            </a:r>
            <a:r>
              <a:rPr sz="1100" b="0" dirty="0">
                <a:solidFill>
                  <a:schemeClr val="bg1"/>
                </a:solidFill>
                <a:latin typeface="Maple Mono NF"/>
              </a:rPr>
              <a:t>: </a:t>
            </a:r>
            <a:r>
              <a:rPr sz="1100" b="0" dirty="0">
                <a:solidFill>
                  <a:schemeClr val="accent3">
                    <a:lumMod val="55000"/>
                    <a:lumOff val="45000"/>
                  </a:schemeClr>
                </a:solidFill>
                <a:latin typeface="Maple Mono NF"/>
              </a:rPr>
              <a:t>"submit"</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"by"</a:t>
            </a:r>
            <a:r>
              <a:rPr sz="1100" b="0" dirty="0">
                <a:solidFill>
                  <a:schemeClr val="bg1"/>
                </a:solidFill>
                <a:latin typeface="Maple Mono NF"/>
              </a:rPr>
              <a:t>: </a:t>
            </a:r>
            <a:r>
              <a:rPr sz="1100" b="0" dirty="0">
                <a:solidFill>
                  <a:schemeClr val="accent3">
                    <a:lumMod val="55000"/>
                    <a:lumOff val="45000"/>
                  </a:schemeClr>
                </a:solidFill>
                <a:latin typeface="Maple Mono NF"/>
              </a:rPr>
              <a:t>"model"</a:t>
            </a:r>
            <a:r>
              <a:rPr sz="1100" b="0" dirty="0">
                <a:solidFill>
                  <a:schemeClr val="bg1"/>
                </a:solidFill>
                <a:latin typeface="Maple Mono NF"/>
              </a:rPr>
              <a:t>}</a:t>
            </a:r>
          </a:p>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21</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a:t>
            </a:r>
            <a:r>
              <a:rPr sz="1100" b="0" dirty="0" err="1">
                <a:solidFill>
                  <a:schemeClr val="accent3">
                    <a:lumMod val="55000"/>
                    <a:lumOff val="45000"/>
                  </a:schemeClr>
                </a:solidFill>
                <a:latin typeface="Maple Mono NF"/>
              </a:rPr>
              <a:t>state_change</a:t>
            </a:r>
            <a:r>
              <a:rPr sz="1100" b="0" dirty="0">
                <a:solidFill>
                  <a:schemeClr val="accent3">
                    <a:lumMod val="55000"/>
                    <a:lumOff val="45000"/>
                  </a:schemeClr>
                </a:solidFill>
                <a:latin typeface="Maple Mono NF"/>
              </a:rPr>
              <a:t>"</a:t>
            </a:r>
            <a:r>
              <a:rPr sz="1100" b="0" dirty="0">
                <a:solidFill>
                  <a:schemeClr val="bg1"/>
                </a:solidFill>
                <a:latin typeface="Maple Mono NF"/>
              </a:rPr>
              <a:t>, </a:t>
            </a:r>
            <a:r>
              <a:rPr sz="1100" b="0" dirty="0">
                <a:solidFill>
                  <a:schemeClr val="accent2"/>
                </a:solidFill>
                <a:latin typeface="Maple Mono NF"/>
              </a:rPr>
              <a:t>"node"</a:t>
            </a:r>
            <a:r>
              <a:rPr sz="1100" b="0" dirty="0">
                <a:solidFill>
                  <a:schemeClr val="bg1"/>
                </a:solidFill>
                <a:latin typeface="Maple Mono NF"/>
              </a:rPr>
              <a:t>: </a:t>
            </a:r>
            <a:r>
              <a:rPr sz="1100" b="0" dirty="0">
                <a:solidFill>
                  <a:schemeClr val="accent3">
                    <a:lumMod val="55000"/>
                    <a:lumOff val="45000"/>
                  </a:schemeClr>
                </a:solidFill>
                <a:latin typeface="Maple Mono NF"/>
              </a:rPr>
              <a:t>"submit"</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"checks"</a:t>
            </a:r>
            <a:r>
              <a:rPr sz="1100" b="0" dirty="0">
                <a:solidFill>
                  <a:schemeClr val="bg1"/>
                </a:solidFill>
                <a:latin typeface="Maple Mono NF"/>
              </a:rPr>
              <a:t>: {</a:t>
            </a:r>
            <a:r>
              <a:rPr sz="1100" b="0" dirty="0">
                <a:solidFill>
                  <a:schemeClr val="accent2"/>
                </a:solidFill>
                <a:latin typeface="Maple Mono NF"/>
              </a:rPr>
              <a:t>"applies"</a:t>
            </a:r>
            <a:r>
              <a:rPr sz="1100" b="0" dirty="0">
                <a:solidFill>
                  <a:schemeClr val="bg1"/>
                </a:solidFill>
                <a:latin typeface="Maple Mono NF"/>
              </a:rPr>
              <a:t>: </a:t>
            </a:r>
            <a:r>
              <a:rPr sz="1100" b="0" dirty="0">
                <a:solidFill>
                  <a:schemeClr val="accent5">
                    <a:lumMod val="45000"/>
                    <a:lumOff val="55000"/>
                  </a:schemeClr>
                </a:solidFill>
                <a:latin typeface="Maple Mono NF"/>
              </a:rPr>
              <a:t>true</a:t>
            </a:r>
            <a:r>
              <a:rPr sz="1100" b="0" dirty="0">
                <a:solidFill>
                  <a:schemeClr val="bg1"/>
                </a:solidFill>
                <a:latin typeface="Maple Mono NF"/>
              </a:rPr>
              <a:t>, </a:t>
            </a:r>
            <a:r>
              <a:rPr sz="1100" b="0" dirty="0">
                <a:solidFill>
                  <a:schemeClr val="accent2"/>
                </a:solidFill>
                <a:latin typeface="Maple Mono NF"/>
              </a:rPr>
              <a:t>"</a:t>
            </a:r>
            <a:r>
              <a:rPr sz="1100" b="0" dirty="0" err="1">
                <a:solidFill>
                  <a:schemeClr val="accent2"/>
                </a:solidFill>
                <a:latin typeface="Maple Mono NF"/>
              </a:rPr>
              <a:t>touches_line</a:t>
            </a:r>
            <a:r>
              <a:rPr sz="1100" b="0" dirty="0">
                <a:solidFill>
                  <a:schemeClr val="accent2"/>
                </a:solidFill>
                <a:latin typeface="Maple Mono NF"/>
              </a:rPr>
              <a:t>"</a:t>
            </a:r>
            <a:r>
              <a:rPr sz="1100" b="0" dirty="0">
                <a:solidFill>
                  <a:schemeClr val="bg1"/>
                </a:solidFill>
                <a:latin typeface="Maple Mono NF"/>
              </a:rPr>
              <a:t>: </a:t>
            </a:r>
            <a:r>
              <a:rPr sz="1100" b="0" dirty="0">
                <a:solidFill>
                  <a:schemeClr val="accent5">
                    <a:lumMod val="45000"/>
                    <a:lumOff val="55000"/>
                  </a:schemeClr>
                </a:solidFill>
                <a:latin typeface="Maple Mono NF"/>
              </a:rPr>
              <a:t>true</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a:t>
            </a:r>
            <a:r>
              <a:rPr sz="1100" b="0" dirty="0" err="1">
                <a:solidFill>
                  <a:schemeClr val="accent2"/>
                </a:solidFill>
                <a:latin typeface="Maple Mono NF"/>
              </a:rPr>
              <a:t>rescan_clean</a:t>
            </a:r>
            <a:r>
              <a:rPr sz="1100" b="0" dirty="0">
                <a:solidFill>
                  <a:schemeClr val="accent2"/>
                </a:solidFill>
                <a:latin typeface="Maple Mono NF"/>
              </a:rPr>
              <a:t>"</a:t>
            </a:r>
            <a:r>
              <a:rPr sz="1100" b="0" dirty="0">
                <a:solidFill>
                  <a:schemeClr val="bg1"/>
                </a:solidFill>
                <a:latin typeface="Maple Mono NF"/>
              </a:rPr>
              <a:t>: </a:t>
            </a:r>
            <a:r>
              <a:rPr sz="1100" b="0" dirty="0">
                <a:solidFill>
                  <a:schemeClr val="accent5">
                    <a:lumMod val="45000"/>
                    <a:lumOff val="55000"/>
                  </a:schemeClr>
                </a:solidFill>
                <a:latin typeface="Maple Mono NF"/>
              </a:rPr>
              <a:t>true</a:t>
            </a:r>
            <a:r>
              <a:rPr sz="1100" b="0" dirty="0">
                <a:solidFill>
                  <a:schemeClr val="bg1"/>
                </a:solidFill>
                <a:latin typeface="Maple Mono NF"/>
              </a:rPr>
              <a:t>}}</a:t>
            </a:r>
          </a:p>
          <a:p>
            <a:pPr algn="l">
              <a:buNone/>
            </a:pPr>
            <a:r>
              <a:rPr sz="1100" b="0" dirty="0">
                <a:solidFill>
                  <a:schemeClr val="bg1"/>
                </a:solidFill>
                <a:latin typeface="Maple Mono NF"/>
              </a:rPr>
              <a:t>{</a:t>
            </a:r>
            <a:r>
              <a:rPr sz="1100" b="0" dirty="0">
                <a:solidFill>
                  <a:schemeClr val="accent2"/>
                </a:solidFill>
                <a:latin typeface="Maple Mono NF"/>
              </a:rPr>
              <a:t>"step"</a:t>
            </a:r>
            <a:r>
              <a:rPr sz="1100" b="0" dirty="0">
                <a:solidFill>
                  <a:schemeClr val="bg1"/>
                </a:solidFill>
                <a:latin typeface="Maple Mono NF"/>
              </a:rPr>
              <a:t>: </a:t>
            </a:r>
            <a:r>
              <a:rPr sz="1100" b="0" dirty="0">
                <a:solidFill>
                  <a:schemeClr val="accent5">
                    <a:lumMod val="45000"/>
                    <a:lumOff val="55000"/>
                  </a:schemeClr>
                </a:solidFill>
                <a:latin typeface="Maple Mono NF"/>
              </a:rPr>
              <a:t>22</a:t>
            </a:r>
            <a:r>
              <a:rPr sz="1100" b="0" dirty="0">
                <a:solidFill>
                  <a:schemeClr val="bg1"/>
                </a:solidFill>
                <a:latin typeface="Maple Mono NF"/>
              </a:rPr>
              <a:t>, </a:t>
            </a:r>
            <a:r>
              <a:rPr sz="1100" b="0" dirty="0">
                <a:solidFill>
                  <a:schemeClr val="accent2"/>
                </a:solidFill>
                <a:latin typeface="Maple Mono NF"/>
              </a:rPr>
              <a:t>"kind"</a:t>
            </a:r>
            <a:r>
              <a:rPr sz="1100" b="0" dirty="0">
                <a:solidFill>
                  <a:schemeClr val="bg1"/>
                </a:solidFill>
                <a:latin typeface="Maple Mono NF"/>
              </a:rPr>
              <a:t>: </a:t>
            </a:r>
            <a:r>
              <a:rPr sz="1100" b="0" dirty="0">
                <a:solidFill>
                  <a:schemeClr val="accent3">
                    <a:lumMod val="55000"/>
                    <a:lumOff val="45000"/>
                  </a:schemeClr>
                </a:solidFill>
                <a:latin typeface="Maple Mono NF"/>
              </a:rPr>
              <a:t>"routing"</a:t>
            </a:r>
            <a:r>
              <a:rPr sz="1100" b="0" dirty="0">
                <a:solidFill>
                  <a:schemeClr val="bg1"/>
                </a:solidFill>
                <a:latin typeface="Maple Mono NF"/>
              </a:rPr>
              <a:t>, </a:t>
            </a:r>
            <a:r>
              <a:rPr sz="1100" b="0" dirty="0">
                <a:solidFill>
                  <a:schemeClr val="accent2"/>
                </a:solidFill>
                <a:latin typeface="Maple Mono NF"/>
              </a:rPr>
              <a:t>"decision"</a:t>
            </a:r>
            <a:r>
              <a:rPr sz="1100" b="0" dirty="0">
                <a:solidFill>
                  <a:schemeClr val="bg1"/>
                </a:solidFill>
                <a:latin typeface="Maple Mono NF"/>
              </a:rPr>
              <a:t>: </a:t>
            </a:r>
            <a:r>
              <a:rPr sz="1100" b="0" dirty="0">
                <a:solidFill>
                  <a:schemeClr val="accent3">
                    <a:lumMod val="55000"/>
                    <a:lumOff val="45000"/>
                  </a:schemeClr>
                </a:solidFill>
                <a:latin typeface="Maple Mono NF"/>
              </a:rPr>
              <a:t>"validate"</a:t>
            </a:r>
            <a:r>
              <a:rPr sz="1100" b="0" dirty="0">
                <a:solidFill>
                  <a:schemeClr val="bg1"/>
                </a:solidFill>
                <a:latin typeface="Maple Mono NF"/>
              </a:rPr>
              <a:t>,</a:t>
            </a:r>
          </a:p>
          <a:p>
            <a:pPr algn="l">
              <a:buNone/>
            </a:pPr>
            <a:r>
              <a:rPr sz="1100" b="0" dirty="0">
                <a:solidFill>
                  <a:schemeClr val="bg1"/>
                </a:solidFill>
                <a:latin typeface="Maple Mono NF"/>
              </a:rPr>
              <a:t>  </a:t>
            </a:r>
            <a:r>
              <a:rPr sz="1100" b="0" dirty="0">
                <a:solidFill>
                  <a:schemeClr val="accent2"/>
                </a:solidFill>
                <a:latin typeface="Maple Mono NF"/>
              </a:rPr>
              <a:t>"by"</a:t>
            </a:r>
            <a:r>
              <a:rPr sz="1100" b="0" dirty="0">
                <a:solidFill>
                  <a:schemeClr val="bg1"/>
                </a:solidFill>
                <a:latin typeface="Maple Mono NF"/>
              </a:rPr>
              <a:t>: </a:t>
            </a:r>
            <a:r>
              <a:rPr sz="1100" b="0" dirty="0">
                <a:solidFill>
                  <a:schemeClr val="accent3">
                    <a:lumMod val="55000"/>
                    <a:lumOff val="45000"/>
                  </a:schemeClr>
                </a:solidFill>
                <a:latin typeface="Maple Mono NF"/>
              </a:rPr>
              <a:t>"runtime"</a:t>
            </a:r>
            <a:r>
              <a:rPr sz="1100" b="0" dirty="0">
                <a:solidFill>
                  <a:schemeClr val="bg1"/>
                </a:solidFill>
                <a:latin typeface="Maple Mono NF"/>
              </a:rPr>
              <a:t>}</a:t>
            </a:r>
          </a:p>
        </p:txBody>
      </p:sp>
      <p:sp>
        <p:nvSpPr>
          <p:cNvPr id="10" name="Rectangle 9"/>
          <p:cNvSpPr/>
          <p:nvPr/>
        </p:nvSpPr>
        <p:spPr>
          <a:xfrm>
            <a:off x="319251" y="4030000"/>
            <a:ext cx="601454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State holds the run's current information. A trace records its inputs, states and outputs over time.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state machine</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Each arrow shows its guard and set action. Output actions are omitted.</a:t>
            </a:r>
          </a:p>
        </p:txBody>
      </p:sp>
      <p:pic>
        <p:nvPicPr>
          <p:cNvPr id="4" name="Figure efsm-labelled" descr="efsm-labelled.png"/>
          <p:cNvPicPr>
            <a:picLocks noChangeAspect="1"/>
          </p:cNvPicPr>
          <p:nvPr/>
        </p:nvPicPr>
        <p:blipFill>
          <a:blip r:embed="rId3"/>
          <a:stretch>
            <a:fillRect/>
          </a:stretch>
        </p:blipFill>
        <p:spPr>
          <a:xfrm>
            <a:off x="250148" y="1090000"/>
            <a:ext cx="6152752" cy="2927316"/>
          </a:xfrm>
          <a:prstGeom prst="rect">
            <a:avLst/>
          </a:prstGeom>
        </p:spPr>
      </p:pic>
      <p:sp>
        <p:nvSpPr>
          <p:cNvPr id="5" name="Rectangle 4"/>
          <p:cNvSpPr/>
          <p:nvPr/>
        </p:nvSpPr>
        <p:spPr>
          <a:xfrm>
            <a:off x="319251" y="4213834"/>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1 in the lecture notes gives the full guards and state updates.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forward path</a:t>
            </a:r>
          </a:p>
        </p:txBody>
      </p:sp>
      <p:sp>
        <p:nvSpPr>
          <p:cNvPr id="3" name="Content Placeholder 2"/>
          <p:cNvSpPr>
            <a:spLocks noGrp="1"/>
          </p:cNvSpPr>
          <p:nvPr>
            <p:ph idx="1"/>
          </p:nvPr>
        </p:nvSpPr>
        <p:spPr>
          <a:xfrm>
            <a:off x="319251" y="700000"/>
            <a:ext cx="6014545" cy="507264"/>
          </a:xfrm>
        </p:spPr>
        <p:txBody>
          <a:bodyPr wrap="square" anchor="ctr">
            <a:normAutofit fontScale="47500" lnSpcReduction="20000"/>
          </a:bodyPr>
          <a:lstStyle/>
          <a:p>
            <a:pPr marL="0" indent="0">
              <a:buNone/>
            </a:pPr>
            <a:r>
              <a:rPr sz="1400" b="1">
                <a:solidFill>
                  <a:srgbClr val="28285E"/>
                </a:solidFill>
              </a:rPr>
              <a:t>After the candidate patch passes the checks in submit, validate decides whether to accept it.</a:t>
            </a:r>
          </a:p>
        </p:txBody>
      </p:sp>
      <p:pic>
        <p:nvPicPr>
          <p:cNvPr id="4" name="Figure efsm-forward" descr="efsm-forward.png"/>
          <p:cNvPicPr>
            <a:picLocks noChangeAspect="1"/>
          </p:cNvPicPr>
          <p:nvPr/>
        </p:nvPicPr>
        <p:blipFill>
          <a:blip r:embed="rId3"/>
          <a:stretch>
            <a:fillRect/>
          </a:stretch>
        </p:blipFill>
        <p:spPr>
          <a:xfrm>
            <a:off x="250148" y="1297264"/>
            <a:ext cx="6152752" cy="2663452"/>
          </a:xfrm>
          <a:prstGeom prst="rect">
            <a:avLst/>
          </a:prstGeom>
        </p:spPr>
      </p:pic>
      <p:sp>
        <p:nvSpPr>
          <p:cNvPr id="5" name="Rectangle 4"/>
          <p:cNvSpPr/>
          <p:nvPr/>
        </p:nvSpPr>
        <p:spPr>
          <a:xfrm>
            <a:off x="319251" y="4155970"/>
            <a:ext cx="6014545" cy="49479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The agent stores the plan in its state. It carries out the plan’s subgoals through the control locations already defined in the graph.</a:t>
            </a:r>
            <a:endParaRPr sz="1200" b="1" dirty="0">
              <a:solidFill>
                <a:srgbClr val="28285E"/>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feedback edges</a:t>
            </a:r>
          </a:p>
        </p:txBody>
      </p:sp>
      <p:sp>
        <p:nvSpPr>
          <p:cNvPr id="3" name="Content Placeholder 2"/>
          <p:cNvSpPr>
            <a:spLocks noGrp="1"/>
          </p:cNvSpPr>
          <p:nvPr>
            <p:ph idx="1"/>
          </p:nvPr>
        </p:nvSpPr>
        <p:spPr>
          <a:xfrm>
            <a:off x="319251" y="700000"/>
            <a:ext cx="6014545" cy="300000"/>
          </a:xfrm>
        </p:spPr>
        <p:txBody>
          <a:bodyPr wrap="square" anchor="ctr">
            <a:normAutofit fontScale="47500" lnSpcReduction="20000"/>
          </a:bodyPr>
          <a:lstStyle/>
          <a:p>
            <a:pPr marL="0" indent="0">
              <a:buNone/>
            </a:pPr>
            <a:r>
              <a:rPr sz="1400" b="1">
                <a:solidFill>
                  <a:srgbClr val="28285E"/>
                </a:solidFill>
              </a:rPr>
              <a:t>The figure shows the tool loop, plan revision and candidate repair.</a:t>
            </a:r>
          </a:p>
        </p:txBody>
      </p:sp>
      <p:pic>
        <p:nvPicPr>
          <p:cNvPr id="4" name="Figure efsm-feedback" descr="efsm-feedback.png"/>
          <p:cNvPicPr>
            <a:picLocks noChangeAspect="1"/>
          </p:cNvPicPr>
          <p:nvPr/>
        </p:nvPicPr>
        <p:blipFill>
          <a:blip r:embed="rId3"/>
          <a:stretch>
            <a:fillRect/>
          </a:stretch>
        </p:blipFill>
        <p:spPr>
          <a:xfrm>
            <a:off x="250148" y="1090000"/>
            <a:ext cx="6152752" cy="2659877"/>
          </a:xfrm>
          <a:prstGeom prst="rect">
            <a:avLst/>
          </a:prstGeom>
        </p:spPr>
      </p:pic>
      <p:sp>
        <p:nvSpPr>
          <p:cNvPr id="5" name="Rectangle 4"/>
          <p:cNvSpPr/>
          <p:nvPr/>
        </p:nvSpPr>
        <p:spPr>
          <a:xfrm>
            <a:off x="319251" y="3952297"/>
            <a:ext cx="6014545" cy="657961"/>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If tools detects a stall before the plan has been revised, control returns to plan. If a check fails, submit adds the failure reasons to the messages and returns control to controller.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planning agent's exits</a:t>
            </a:r>
          </a:p>
        </p:txBody>
      </p:sp>
      <p:sp>
        <p:nvSpPr>
          <p:cNvPr id="3" name="Content Placeholder 2"/>
          <p:cNvSpPr>
            <a:spLocks noGrp="1"/>
          </p:cNvSpPr>
          <p:nvPr>
            <p:ph idx="1"/>
          </p:nvPr>
        </p:nvSpPr>
        <p:spPr>
          <a:xfrm>
            <a:off x="319251" y="700000"/>
            <a:ext cx="6014545" cy="507264"/>
          </a:xfrm>
        </p:spPr>
        <p:txBody>
          <a:bodyPr wrap="square" anchor="ctr">
            <a:normAutofit fontScale="47500" lnSpcReduction="20000"/>
          </a:bodyPr>
          <a:lstStyle/>
          <a:p>
            <a:pPr marL="0" indent="0">
              <a:buNone/>
            </a:pPr>
            <a:r>
              <a:rPr sz="1400" b="1">
                <a:solidFill>
                  <a:srgbClr val="28285E"/>
                </a:solidFill>
              </a:rPr>
              <a:t>A run may end because it exhausts its call budget or stalls again after a plan revision.</a:t>
            </a:r>
          </a:p>
        </p:txBody>
      </p:sp>
      <p:pic>
        <p:nvPicPr>
          <p:cNvPr id="4" name="Figure efsm-exits" descr="efsm-exits.png"/>
          <p:cNvPicPr>
            <a:picLocks noChangeAspect="1"/>
          </p:cNvPicPr>
          <p:nvPr/>
        </p:nvPicPr>
        <p:blipFill>
          <a:blip r:embed="rId2"/>
          <a:stretch>
            <a:fillRect/>
          </a:stretch>
        </p:blipFill>
        <p:spPr>
          <a:xfrm>
            <a:off x="250148" y="1297264"/>
            <a:ext cx="6152752" cy="2663452"/>
          </a:xfrm>
          <a:prstGeom prst="rect">
            <a:avLst/>
          </a:prstGeom>
        </p:spPr>
      </p:pic>
      <p:sp>
        <p:nvSpPr>
          <p:cNvPr id="5" name="Rectangle 4"/>
          <p:cNvSpPr/>
          <p:nvPr/>
        </p:nvSpPr>
        <p:spPr>
          <a:xfrm>
            <a:off x="319251" y="4150716"/>
            <a:ext cx="6014545" cy="54430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Before each model call, plan, controller and validate end the run if the count has reached 40. The controller also ends the run if another stall occurs after plan revision.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recorded run through the planning agent</a:t>
            </a:r>
          </a:p>
        </p:txBody>
      </p:sp>
      <p:sp>
        <p:nvSpPr>
          <p:cNvPr id="3" name="Content Placeholder 2"/>
          <p:cNvSpPr>
            <a:spLocks noGrp="1"/>
          </p:cNvSpPr>
          <p:nvPr>
            <p:ph idx="1"/>
          </p:nvPr>
        </p:nvSpPr>
        <p:spPr>
          <a:xfrm>
            <a:off x="319251" y="700000"/>
            <a:ext cx="6014545" cy="507264"/>
          </a:xfrm>
        </p:spPr>
        <p:txBody>
          <a:bodyPr wrap="square" anchor="ctr">
            <a:normAutofit fontScale="47500" lnSpcReduction="20000"/>
          </a:bodyPr>
          <a:lstStyle/>
          <a:p>
            <a:pPr marL="0" indent="0">
              <a:buNone/>
            </a:pPr>
            <a:r>
              <a:rPr sz="1400" b="1">
                <a:solidFill>
                  <a:srgbClr val="28285E"/>
                </a:solidFill>
              </a:rPr>
              <a:t>The blue arrows show the recorded trajectory: the sequence of transitions taken by run </a:t>
            </a:r>
            <a:r>
              <a:rPr sz="1400" b="0">
                <a:solidFill>
                  <a:srgbClr val="28285E"/>
                </a:solidFill>
                <a:latin typeface="Maple Mono NF"/>
              </a:rPr>
              <a:t>bc284c6b</a:t>
            </a:r>
            <a:r>
              <a:rPr sz="1400" b="1">
                <a:solidFill>
                  <a:srgbClr val="28285E"/>
                </a:solidFill>
              </a:rPr>
              <a:t>.</a:t>
            </a:r>
          </a:p>
        </p:txBody>
      </p:sp>
      <p:pic>
        <p:nvPicPr>
          <p:cNvPr id="4" name="Figure efsm-run" descr="efsm-run.png"/>
          <p:cNvPicPr>
            <a:picLocks noChangeAspect="1"/>
          </p:cNvPicPr>
          <p:nvPr/>
        </p:nvPicPr>
        <p:blipFill>
          <a:blip r:embed="rId3"/>
          <a:stretch>
            <a:fillRect/>
          </a:stretch>
        </p:blipFill>
        <p:spPr>
          <a:xfrm>
            <a:off x="250148" y="1297264"/>
            <a:ext cx="6152752" cy="2409619"/>
          </a:xfrm>
          <a:prstGeom prst="rect">
            <a:avLst/>
          </a:prstGeom>
        </p:spPr>
      </p:pic>
      <p:sp>
        <p:nvSpPr>
          <p:cNvPr id="5" name="Rectangle 4"/>
          <p:cNvSpPr/>
          <p:nvPr/>
        </p:nvSpPr>
        <p:spPr>
          <a:xfrm>
            <a:off x="319251" y="3908137"/>
            <a:ext cx="6014545" cy="54430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repairs a Bandit B608 alert at line 46 of </a:t>
            </a:r>
            <a:r>
              <a:rPr sz="1200" b="0">
                <a:solidFill>
                  <a:srgbClr val="28285E"/>
                </a:solidFill>
                <a:latin typeface="Maple Mono NF"/>
              </a:rPr>
              <a:t>testcode/BenchmarkTest00283.py</a:t>
            </a:r>
            <a:r>
              <a:rPr sz="1200" b="1">
                <a:solidFill>
                  <a:srgbClr val="28285E"/>
                </a:solidFill>
              </a:rPr>
              <a:t> in seven model calls: one in plan, five in controller and one in validate.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recorded run in the computation tree</a:t>
            </a:r>
          </a:p>
        </p:txBody>
      </p:sp>
      <p:sp>
        <p:nvSpPr>
          <p:cNvPr id="3" name="Content Placeholder 2"/>
          <p:cNvSpPr>
            <a:spLocks noGrp="1"/>
          </p:cNvSpPr>
          <p:nvPr>
            <p:ph idx="1"/>
          </p:nvPr>
        </p:nvSpPr>
        <p:spPr>
          <a:xfrm>
            <a:off x="319251" y="700000"/>
            <a:ext cx="6014545" cy="742608"/>
          </a:xfrm>
        </p:spPr>
        <p:txBody>
          <a:bodyPr wrap="square" anchor="ctr">
            <a:normAutofit fontScale="55000" lnSpcReduction="20000"/>
          </a:bodyPr>
          <a:lstStyle/>
          <a:p>
            <a:pPr marL="0" indent="0">
              <a:buNone/>
            </a:pPr>
            <a:r>
              <a:rPr sz="1400" b="1">
                <a:solidFill>
                  <a:srgbClr val="28285E"/>
                </a:solidFill>
              </a:rPr>
              <a:t>A trajectory is the path a run follows through the computation tree. Every visit to controller gets a separate node showing that visit's configuration and possible replies.</a:t>
            </a:r>
          </a:p>
        </p:txBody>
      </p:sp>
      <p:pic>
        <p:nvPicPr>
          <p:cNvPr id="4" name="Figure trace-tree" descr="trace-tree.png"/>
          <p:cNvPicPr>
            <a:picLocks noChangeAspect="1"/>
          </p:cNvPicPr>
          <p:nvPr/>
        </p:nvPicPr>
        <p:blipFill>
          <a:blip r:embed="rId2"/>
          <a:stretch>
            <a:fillRect/>
          </a:stretch>
        </p:blipFill>
        <p:spPr>
          <a:xfrm>
            <a:off x="250148" y="1532608"/>
            <a:ext cx="6152752" cy="1612270"/>
          </a:xfrm>
          <a:prstGeom prst="rect">
            <a:avLst/>
          </a:prstGeom>
        </p:spPr>
      </p:pic>
      <p:sp>
        <p:nvSpPr>
          <p:cNvPr id="5" name="Rectangle 4"/>
          <p:cNvSpPr/>
          <p:nvPr/>
        </p:nvSpPr>
        <p:spPr>
          <a:xfrm>
            <a:off x="319251" y="3379486"/>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machine diagram shows permitted transitions. The tree shows possible sequences of transitions from the initial configuration.</a:t>
            </a:r>
          </a:p>
        </p:txBody>
      </p:sp>
      <p:sp>
        <p:nvSpPr>
          <p:cNvPr id="6" name="Rectangle 5"/>
          <p:cNvSpPr/>
          <p:nvPr/>
        </p:nvSpPr>
        <p:spPr>
          <a:xfrm>
            <a:off x="319251" y="4180287"/>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2 in the notes shows more of the tree. Each count is the number of model calls completed on reaching that node.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event log records and omits</a:t>
            </a:r>
          </a:p>
        </p:txBody>
      </p:sp>
      <p:sp>
        <p:nvSpPr>
          <p:cNvPr id="3" name="Content Placeholder 2"/>
          <p:cNvSpPr>
            <a:spLocks noGrp="1"/>
          </p:cNvSpPr>
          <p:nvPr>
            <p:ph idx="1"/>
          </p:nvPr>
        </p:nvSpPr>
        <p:spPr>
          <a:xfrm>
            <a:off x="319251" y="691756"/>
            <a:ext cx="6014545" cy="2309728"/>
          </a:xfrm>
        </p:spPr>
        <p:txBody>
          <a:bodyPr wrap="square" anchor="ctr">
            <a:normAutofit fontScale="92500" lnSpcReduction="20000"/>
          </a:bodyPr>
          <a:lstStyle/>
          <a:p>
            <a:pPr marL="0" indent="0">
              <a:buNone/>
            </a:pPr>
            <a:r>
              <a:rPr sz="1400" b="1">
                <a:solidFill>
                  <a:srgbClr val="28285E"/>
                </a:solidFill>
              </a:rPr>
              <a:t>The event log records selected inputs, outputs and state values.</a:t>
            </a:r>
          </a:p>
          <a:p>
            <a:pPr marL="400050" indent="-285750">
              <a:spcBef>
                <a:spcPts val="600"/>
              </a:spcBef>
              <a:spcAft>
                <a:spcPts val="600"/>
              </a:spcAft>
              <a:buClr>
                <a:srgbClr val="28285E"/>
              </a:buClr>
              <a:buSzPts val="1260"/>
              <a:buFont typeface="+mn-lt"/>
              <a:buChar char="●"/>
            </a:pPr>
            <a:r>
              <a:rPr sz="1400" b="1">
                <a:solidFill>
                  <a:schemeClr val="tx1"/>
                </a:solidFill>
              </a:rPr>
              <a:t>A successful </a:t>
            </a:r>
            <a:r>
              <a:rPr sz="1400" b="0">
                <a:solidFill>
                  <a:schemeClr val="tx1"/>
                </a:solidFill>
                <a:latin typeface="Maple Mono NF"/>
              </a:rPr>
              <a:t>tool_result</a:t>
            </a:r>
            <a:r>
              <a:rPr sz="1400" b="1">
                <a:solidFill>
                  <a:schemeClr val="tx1"/>
                </a:solidFill>
              </a:rPr>
              <a:t> event</a:t>
            </a:r>
            <a:r>
              <a:rPr sz="1400" b="0">
                <a:solidFill>
                  <a:schemeClr val="tx1"/>
                </a:solidFill>
              </a:rPr>
              <a:t> records the result’s length, in characters. It omits the returned text.</a:t>
            </a:r>
          </a:p>
          <a:p>
            <a:pPr marL="400050" indent="-285750">
              <a:spcBef>
                <a:spcPts val="600"/>
              </a:spcBef>
              <a:spcAft>
                <a:spcPts val="600"/>
              </a:spcAft>
              <a:buClr>
                <a:srgbClr val="28285E"/>
              </a:buClr>
              <a:buSzPts val="1260"/>
              <a:buFont typeface="+mn-lt"/>
              <a:buChar char="●"/>
            </a:pPr>
            <a:r>
              <a:rPr sz="1400" b="1">
                <a:solidFill>
                  <a:schemeClr val="tx1"/>
                </a:solidFill>
              </a:rPr>
              <a:t>The log omits routing events</a:t>
            </a:r>
            <a:r>
              <a:rPr sz="1400" b="0">
                <a:solidFill>
                  <a:schemeClr val="tx1"/>
                </a:solidFill>
              </a:rPr>
              <a:t> from tools and plan to controller. We infer these routes from the next controller call and transition rules.</a:t>
            </a:r>
          </a:p>
          <a:p>
            <a:pPr marL="400050" indent="-285750">
              <a:spcBef>
                <a:spcPts val="600"/>
              </a:spcBef>
              <a:spcAft>
                <a:spcPts val="600"/>
              </a:spcAft>
              <a:buClr>
                <a:srgbClr val="28285E"/>
              </a:buClr>
              <a:buSzPts val="1260"/>
              <a:buFont typeface="+mn-lt"/>
              <a:buChar char="●"/>
            </a:pPr>
            <a:r>
              <a:rPr sz="1400" b="1">
                <a:solidFill>
                  <a:schemeClr val="tx1"/>
                </a:solidFill>
              </a:rPr>
              <a:t>The log omits the call counter.</a:t>
            </a:r>
            <a:r>
              <a:rPr sz="1400" b="0">
                <a:solidFill>
                  <a:schemeClr val="tx1"/>
                </a:solidFill>
              </a:rPr>
              <a:t> We start at zero and add one for each logged model call.</a:t>
            </a:r>
          </a:p>
        </p:txBody>
      </p:sp>
      <p:pic>
        <p:nvPicPr>
          <p:cNvPr id="4" name="Figure event-strip" descr="event-strip.png"/>
          <p:cNvPicPr>
            <a:picLocks noChangeAspect="1"/>
          </p:cNvPicPr>
          <p:nvPr/>
        </p:nvPicPr>
        <p:blipFill>
          <a:blip r:embed="rId2"/>
          <a:stretch>
            <a:fillRect/>
          </a:stretch>
        </p:blipFill>
        <p:spPr>
          <a:xfrm>
            <a:off x="726524" y="3188151"/>
            <a:ext cx="5200000" cy="804381"/>
          </a:xfrm>
          <a:prstGeom prst="rect">
            <a:avLst/>
          </a:prstGeom>
        </p:spPr>
      </p:pic>
      <p:sp>
        <p:nvSpPr>
          <p:cNvPr id="5" name="Rectangle 4"/>
          <p:cNvSpPr/>
          <p:nvPr/>
        </p:nvSpPr>
        <p:spPr>
          <a:xfrm>
            <a:off x="319251" y="417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claim about a run must say whether it is recorded directly in the log or inferred from logged events and transition rules.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000" y="1863864"/>
            <a:ext cx="6000000" cy="1415772"/>
          </a:xfrm>
          <a:prstGeom prst="rect">
            <a:avLst/>
          </a:prstGeom>
          <a:noFill/>
        </p:spPr>
        <p:txBody>
          <a:bodyPr wrap="square" anchor="ctr">
            <a:spAutoFit/>
          </a:bodyPr>
          <a:lstStyle/>
          <a:p>
            <a:pPr algn="ctr"/>
            <a:r>
              <a:rPr sz="4000" b="1">
                <a:solidFill>
                  <a:schemeClr val="tx2"/>
                </a:solidFill>
                <a:latin typeface="+mj-lt"/>
              </a:rPr>
              <a:t>State records and transitions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records and schemas</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The diagram shows control flow: which computation may run next. The state record supplies the values it reads.</a:t>
            </a:r>
          </a:p>
          <a:p>
            <a:pPr marL="400050" indent="-285750">
              <a:spcBef>
                <a:spcPts val="600"/>
              </a:spcBef>
              <a:spcAft>
                <a:spcPts val="600"/>
              </a:spcAft>
              <a:buClr>
                <a:srgbClr val="28285E"/>
              </a:buClr>
              <a:buSzPts val="1260"/>
              <a:buFont typeface="+mn-lt"/>
              <a:buChar char="●"/>
            </a:pPr>
            <a:r>
              <a:rPr sz="1400" b="1">
                <a:solidFill>
                  <a:schemeClr val="tx1"/>
                </a:solidFill>
              </a:rPr>
              <a:t>Each record instance</a:t>
            </a:r>
            <a:r>
              <a:rPr sz="1400" b="0">
                <a:solidFill>
                  <a:schemeClr val="tx1"/>
                </a:solidFill>
              </a:rPr>
              <a:t> holds current values. The runtime tracks the control location, which identifies the next computation.</a:t>
            </a:r>
          </a:p>
          <a:p>
            <a:pPr marL="400050" indent="-285750">
              <a:spcBef>
                <a:spcPts val="600"/>
              </a:spcBef>
              <a:spcAft>
                <a:spcPts val="600"/>
              </a:spcAft>
              <a:buClr>
                <a:srgbClr val="28285E"/>
              </a:buClr>
              <a:buSzPts val="1260"/>
              <a:buFont typeface="+mn-lt"/>
              <a:buChar char="●"/>
            </a:pPr>
            <a:r>
              <a:rPr sz="1400" b="1">
                <a:solidFill>
                  <a:schemeClr val="tx1"/>
                </a:solidFill>
              </a:rPr>
              <a:t>The schema</a:t>
            </a:r>
            <a:r>
              <a:rPr sz="1400" b="0">
                <a:solidFill>
                  <a:schemeClr val="tx1"/>
                </a:solidFill>
              </a:rPr>
              <a:t> declares field names and types. Nodes return partial updates containing only the fields they update.</a:t>
            </a:r>
          </a:p>
          <a:p>
            <a:pPr marL="400050" indent="-285750">
              <a:spcBef>
                <a:spcPts val="600"/>
              </a:spcBef>
              <a:spcAft>
                <a:spcPts val="600"/>
              </a:spcAft>
              <a:buClr>
                <a:srgbClr val="28285E"/>
              </a:buClr>
              <a:buSzPts val="1260"/>
              <a:buFont typeface="+mn-lt"/>
              <a:buChar char="●"/>
            </a:pPr>
            <a:r>
              <a:rPr sz="1400" b="0">
                <a:solidFill>
                  <a:schemeClr val="tx1"/>
                </a:solidFill>
                <a:latin typeface="Maple Mono NF"/>
              </a:rPr>
              <a:t>StateGraph(AgentState)</a:t>
            </a:r>
            <a:r>
              <a:rPr sz="1400" b="0">
                <a:solidFill>
                  <a:schemeClr val="tx1"/>
                </a:solidFill>
              </a:rPr>
              <a:t> uses the field declarations in </a:t>
            </a:r>
            <a:r>
              <a:rPr sz="1400" b="0">
                <a:solidFill>
                  <a:schemeClr val="tx1"/>
                </a:solidFill>
                <a:latin typeface="Maple Mono NF"/>
              </a:rPr>
              <a:t>AgentState</a:t>
            </a:r>
            <a:r>
              <a:rPr sz="1400" b="0">
                <a:solidFill>
                  <a:schemeClr val="tx1"/>
                </a:solidFill>
              </a:rPr>
              <a:t> to define the graph's shared state.</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state record stores the information retained between steps as named fields and their current values. For example, </a:t>
            </a:r>
            <a:r>
              <a:rPr sz="1400" b="0">
                <a:solidFill>
                  <a:schemeClr val="tx2"/>
                </a:solidFill>
                <a:latin typeface="Maple Mono NF"/>
              </a:rPr>
              <a:t>model_calls: 2</a:t>
            </a:r>
            <a:r>
              <a:rPr sz="1400" b="0">
                <a:solidFill>
                  <a:schemeClr val="tx2"/>
                </a:solidFill>
              </a:rPr>
              <a:t> records two completed model calls.</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Routing functions use the updated record to select the next node.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Partial updates and state transitions</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A node returns a partial update mapping selected fields to values. The runtime applies each field’s update rule.</a:t>
            </a:r>
          </a:p>
        </p:txBody>
      </p:sp>
      <p:pic>
        <p:nvPicPr>
          <p:cNvPr id="4" name="Figure s2-state-transition" descr="s2-state-transition.png"/>
          <p:cNvPicPr>
            <a:picLocks noChangeAspect="1"/>
          </p:cNvPicPr>
          <p:nvPr/>
        </p:nvPicPr>
        <p:blipFill>
          <a:blip r:embed="rId3"/>
          <a:stretch>
            <a:fillRect/>
          </a:stretch>
        </p:blipFill>
        <p:spPr>
          <a:xfrm>
            <a:off x="445175" y="1390000"/>
            <a:ext cx="5762699" cy="2510000"/>
          </a:xfrm>
          <a:prstGeom prst="rect">
            <a:avLst/>
          </a:prstGeom>
        </p:spPr>
      </p:pic>
      <p:sp>
        <p:nvSpPr>
          <p:cNvPr id="5" name="Rectangle 4"/>
          <p:cNvSpPr/>
          <p:nvPr/>
        </p:nvSpPr>
        <p:spPr>
          <a:xfrm>
            <a:off x="319251" y="4090000"/>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field omitted from the partial update keeps its stored value (Figure 3 in the lecture notes).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controller's three return sites</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The loop's controller returns either an update from a completed model call or a status explaining why the run must stop.</a:t>
            </a:r>
          </a:p>
        </p:txBody>
      </p:sp>
      <p:pic>
        <p:nvPicPr>
          <p:cNvPr id="4" name="Figure s2-controller-update" descr="s2-controller-update.png"/>
          <p:cNvPicPr>
            <a:picLocks noChangeAspect="1"/>
          </p:cNvPicPr>
          <p:nvPr/>
        </p:nvPicPr>
        <p:blipFill>
          <a:blip r:embed="rId3"/>
          <a:stretch>
            <a:fillRect/>
          </a:stretch>
        </p:blipFill>
        <p:spPr>
          <a:xfrm>
            <a:off x="250148" y="1390000"/>
            <a:ext cx="6152752" cy="1728087"/>
          </a:xfrm>
          <a:prstGeom prst="rect">
            <a:avLst/>
          </a:prstGeom>
        </p:spPr>
      </p:pic>
      <p:sp>
        <p:nvSpPr>
          <p:cNvPr id="5" name="Rectangle 4"/>
          <p:cNvSpPr/>
          <p:nvPr/>
        </p:nvSpPr>
        <p:spPr>
          <a:xfrm>
            <a:off x="319251" y="3308087"/>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controller returns messages, </a:t>
            </a:r>
            <a:r>
              <a:rPr sz="1200" b="0">
                <a:solidFill>
                  <a:srgbClr val="28285E"/>
                </a:solidFill>
                <a:latin typeface="Maple Mono NF"/>
              </a:rPr>
              <a:t>model_calls</a:t>
            </a:r>
            <a:r>
              <a:rPr sz="1200" b="1">
                <a:solidFill>
                  <a:srgbClr val="28285E"/>
                </a:solidFill>
              </a:rPr>
              <a:t> and usage after a model call, or status when a limit stops the run. Six fields remain unchanged (Figure 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controller's return sites, in code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Each return gives the runtime a partial update: either a stopping status or the reply and accounting data from one model call.</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controller, lines 298 to 313. Stall test and model setup omitted</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680000"/>
          </a:xfrm>
          <a:prstGeom prst="rect">
            <a:avLst/>
          </a:prstGeom>
          <a:noFill/>
        </p:spPr>
        <p:txBody>
          <a:bodyPr wrap="none" lIns="0" tIns="0" rIns="0" bIns="0" anchor="t">
            <a:spAutoFit/>
          </a:bodyPr>
          <a:lstStyle/>
          <a:p>
            <a:pPr algn="l">
              <a:buNone/>
            </a:pPr>
            <a:r>
              <a:rPr sz="1100" b="0">
                <a:solidFill>
                  <a:schemeClr val="bg1"/>
                </a:solidFill>
                <a:latin typeface="Maple Mono NF"/>
              </a:rPr>
              <a:t>spent = </a:t>
            </a:r>
            <a:r>
              <a:rPr sz="1100" b="0">
                <a:solidFill>
                  <a:schemeClr val="accent2"/>
                </a:solidFill>
                <a:latin typeface="Maple Mono NF"/>
              </a:rPr>
              <a:t>self</a:t>
            </a:r>
            <a:r>
              <a:rPr sz="1100" b="0">
                <a:solidFill>
                  <a:schemeClr val="bg1"/>
                </a:solidFill>
                <a:latin typeface="Maple Mono NF"/>
              </a:rPr>
              <a:t>._admit(state)</a:t>
            </a:r>
          </a:p>
          <a:p>
            <a:pPr algn="l">
              <a:buNone/>
            </a:pPr>
            <a:r>
              <a:rPr sz="1100" b="0">
                <a:solidFill>
                  <a:schemeClr val="accent2"/>
                </a:solidFill>
                <a:latin typeface="Maple Mono NF"/>
              </a:rPr>
              <a:t>if</a:t>
            </a:r>
            <a:r>
              <a:rPr sz="1100" b="0">
                <a:solidFill>
                  <a:schemeClr val="bg1"/>
                </a:solidFill>
                <a:latin typeface="Maple Mono NF"/>
              </a:rPr>
              <a:t> spent:</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return</a:t>
            </a:r>
            <a:r>
              <a:rPr sz="1100" b="0">
                <a:solidFill>
                  <a:schemeClr val="bg1"/>
                </a:solidFill>
                <a:latin typeface="Maple Mono NF"/>
              </a:rPr>
              <a:t> spent</a:t>
            </a:r>
          </a:p>
          <a:p>
            <a:pPr algn="l">
              <a:buNone/>
            </a:pPr>
            <a:r>
              <a:rPr sz="1100" b="0">
                <a:solidFill>
                  <a:schemeClr val="accent6"/>
                </a:solidFill>
                <a:latin typeface="Maple Mono NF"/>
              </a:rPr>
              <a:t># ours: The stall test and its trace event are omitted.</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"status"</a:t>
            </a:r>
            <a:r>
              <a:rPr sz="1100" b="0">
                <a:solidFill>
                  <a:schemeClr val="bg1"/>
                </a:solidFill>
                <a:latin typeface="Maple Mono NF"/>
              </a:rPr>
              <a:t>: TerminalStatus.NO_PROGRESS}</a:t>
            </a:r>
          </a:p>
          <a:p>
            <a:pPr algn="l">
              <a:buNone/>
            </a:pPr>
            <a:r>
              <a:rPr sz="1100" b="0">
                <a:solidFill>
                  <a:schemeClr val="bg1"/>
                </a:solidFill>
                <a:latin typeface="Maple Mono NF"/>
              </a:rPr>
              <a:t>reply = </a:t>
            </a:r>
            <a:r>
              <a:rPr sz="1100" b="0">
                <a:solidFill>
                  <a:schemeClr val="accent2"/>
                </a:solidFill>
                <a:latin typeface="Maple Mono NF"/>
              </a:rPr>
              <a:t>self</a:t>
            </a:r>
            <a:r>
              <a:rPr sz="1100" b="0">
                <a:solidFill>
                  <a:schemeClr val="bg1"/>
                </a:solidFill>
                <a:latin typeface="Maple Mono NF"/>
              </a:rPr>
              <a:t>._call(model, state[</a:t>
            </a:r>
            <a:r>
              <a:rPr sz="1100" b="0">
                <a:solidFill>
                  <a:schemeClr val="accent3">
                    <a:lumMod val="55000"/>
                    <a:lumOff val="45000"/>
                  </a:schemeClr>
                </a:solidFill>
                <a:latin typeface="Maple Mono NF"/>
              </a:rPr>
              <a:t>"messages"</a:t>
            </a:r>
            <a:r>
              <a:rPr sz="1100" b="0">
                <a:solidFill>
                  <a:schemeClr val="bg1"/>
                </a:solidFill>
                <a:latin typeface="Maple Mono NF"/>
              </a:rPr>
              <a:t>], role=</a:t>
            </a:r>
            <a:r>
              <a:rPr sz="1100" b="0">
                <a:solidFill>
                  <a:schemeClr val="accent3">
                    <a:lumMod val="55000"/>
                    <a:lumOff val="45000"/>
                  </a:schemeClr>
                </a:solidFill>
                <a:latin typeface="Maple Mono NF"/>
              </a:rPr>
              <a:t>"controller"</a:t>
            </a:r>
            <a:r>
              <a:rPr sz="1100" b="0">
                <a:solidFill>
                  <a:schemeClr val="bg1"/>
                </a:solidFill>
                <a:latin typeface="Maple Mono NF"/>
              </a:rPr>
              <a:t>)</a:t>
            </a:r>
          </a:p>
          <a:p>
            <a:pPr algn="l">
              <a:buNone/>
            </a:pPr>
            <a:r>
              <a:rPr sz="1100" b="1">
                <a:solidFill>
                  <a:schemeClr val="accent4">
                    <a:lumMod val="70000"/>
                    <a:lumOff val="30000"/>
                  </a:schemeClr>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"messages"</a:t>
            </a:r>
            <a:r>
              <a:rPr sz="1100" b="0">
                <a:solidFill>
                  <a:schemeClr val="bg1"/>
                </a:solidFill>
                <a:latin typeface="Maple Mono NF"/>
              </a:rPr>
              <a:t>: [reply], </a:t>
            </a:r>
            <a:r>
              <a:rPr sz="1100" b="0">
                <a:solidFill>
                  <a:schemeClr val="accent3">
                    <a:lumMod val="55000"/>
                    <a:lumOff val="45000"/>
                  </a:schemeClr>
                </a:solidFill>
                <a:latin typeface="Maple Mono NF"/>
              </a:rPr>
              <a:t>"model_calls"</a:t>
            </a:r>
            <a:r>
              <a:rPr sz="1100" b="0">
                <a:solidFill>
                  <a:schemeClr val="bg1"/>
                </a:solidFill>
                <a:latin typeface="Maple Mono NF"/>
              </a:rPr>
              <a:t>: </a:t>
            </a:r>
            <a:r>
              <a:rPr sz="1100" b="0">
                <a:solidFill>
                  <a:schemeClr val="accent5">
                    <a:lumMod val="45000"/>
                    <a:lumOff val="55000"/>
                  </a:schemeClr>
                </a:solidFill>
                <a:latin typeface="Maple Mono NF"/>
              </a:rPr>
              <a:t>1</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"usage"</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._usage(reply)}</a:t>
            </a:r>
          </a:p>
        </p:txBody>
      </p:sp>
      <p:sp>
        <p:nvSpPr>
          <p:cNvPr id="10" name="Rectangle 9"/>
          <p:cNvSpPr/>
          <p:nvPr/>
        </p:nvSpPr>
        <p:spPr>
          <a:xfrm>
            <a:off x="319251" y="392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runtime uses reducers to append the reply, add one to </a:t>
            </a:r>
            <a:r>
              <a:rPr sz="1200" b="0">
                <a:solidFill>
                  <a:schemeClr val="tx2"/>
                </a:solidFill>
                <a:latin typeface="Maple Mono NF"/>
              </a:rPr>
              <a:t>model_calls</a:t>
            </a:r>
            <a:r>
              <a:rPr sz="1200" b="1">
                <a:solidFill>
                  <a:schemeClr val="tx2"/>
                </a:solidFill>
              </a:rPr>
              <a:t> and add each token count to its running total.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context, runtime state, durable state</a:t>
            </a:r>
          </a:p>
        </p:txBody>
      </p:sp>
      <p:sp>
        <p:nvSpPr>
          <p:cNvPr id="3" name="Content Placeholder 2"/>
          <p:cNvSpPr>
            <a:spLocks noGrp="1"/>
          </p:cNvSpPr>
          <p:nvPr>
            <p:ph idx="1"/>
          </p:nvPr>
        </p:nvSpPr>
        <p:spPr>
          <a:xfrm>
            <a:off x="319251" y="700000"/>
            <a:ext cx="6014545" cy="731648"/>
          </a:xfrm>
        </p:spPr>
        <p:txBody>
          <a:bodyPr wrap="square" anchor="ctr">
            <a:normAutofit fontScale="70000" lnSpcReduction="20000"/>
          </a:bodyPr>
          <a:lstStyle/>
          <a:p>
            <a:pPr marL="0" indent="0">
              <a:buNone/>
            </a:pPr>
            <a:r>
              <a:rPr sz="1400" b="1">
                <a:solidFill>
                  <a:srgbClr val="28285E"/>
                </a:solidFill>
              </a:rPr>
              <a:t>For each model call, the runtime builds a context from retained state. To resume after the process exits, it must save enough state to reconstruct execution.</a:t>
            </a:r>
          </a:p>
        </p:txBody>
      </p:sp>
      <p:graphicFrame>
        <p:nvGraphicFramePr>
          <p:cNvPr id="4" name="Table 3"/>
          <p:cNvGraphicFramePr>
            <a:graphicFrameLocks noGrp="1"/>
          </p:cNvGraphicFramePr>
          <p:nvPr/>
        </p:nvGraphicFramePr>
        <p:xfrm>
          <a:off x="319251" y="1621648"/>
          <a:ext cx="6014545" cy="2066544"/>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3300000">
                  <a:extLst>
                    <a:ext uri="{9D8B030D-6E8A-4147-A177-3AD203B41FA5}">
                      <a16:colId xmlns:a16="http://schemas.microsoft.com/office/drawing/2014/main" val="20001"/>
                    </a:ext>
                  </a:extLst>
                </a:gridCol>
                <a:gridCol w="1414545">
                  <a:extLst>
                    <a:ext uri="{9D8B030D-6E8A-4147-A177-3AD203B41FA5}">
                      <a16:colId xmlns:a16="http://schemas.microsoft.com/office/drawing/2014/main" val="20002"/>
                    </a:ext>
                  </a:extLst>
                </a:gridCol>
              </a:tblGrid>
              <a:tr h="300000">
                <a:tc>
                  <a:txBody>
                    <a:bodyPr/>
                    <a:lstStyle/>
                    <a:p>
                      <a:pPr>
                        <a:buNone/>
                      </a:pPr>
                      <a:r>
                        <a:rPr sz="1100" b="1">
                          <a:solidFill>
                            <a:schemeClr val="tx1"/>
                          </a:solidFill>
                        </a:rPr>
                        <a:t>State or context</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What it holds</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Who reads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Model context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Model context contains the instructions, selected history and observations supplied to one model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model reads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Runtime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Runtime state holds the fields retained between steps, including counters that the model never sees.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Nodes, routing functions and limit checks read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Durable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Durable state survives the process lifetime in a form that another process can load to resume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A new runtime process loads it to resume execution.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3897750"/>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 checkpointer saves runtime state for resumption. Our graphs have none. Resuming also requires matching workspace files and pending work (Table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context and admission checks</a:t>
            </a:r>
          </a:p>
        </p:txBody>
      </p:sp>
      <p:sp>
        <p:nvSpPr>
          <p:cNvPr id="3" name="Content Placeholder 2"/>
          <p:cNvSpPr>
            <a:spLocks noGrp="1"/>
          </p:cNvSpPr>
          <p:nvPr>
            <p:ph idx="1"/>
          </p:nvPr>
        </p:nvSpPr>
        <p:spPr>
          <a:xfrm>
            <a:off x="319251" y="700000"/>
            <a:ext cx="6014545" cy="731648"/>
          </a:xfrm>
        </p:spPr>
        <p:txBody>
          <a:bodyPr wrap="square" anchor="ctr">
            <a:normAutofit fontScale="70000" lnSpcReduction="20000"/>
          </a:bodyPr>
          <a:lstStyle/>
          <a:p>
            <a:pPr marL="0" indent="0">
              <a:buNone/>
            </a:pPr>
            <a:r>
              <a:rPr sz="1400" b="1">
                <a:solidFill>
                  <a:srgbClr val="28285E"/>
                </a:solidFill>
              </a:rPr>
              <a:t>The admission check, _admit, compares </a:t>
            </a:r>
            <a:r>
              <a:rPr sz="1400" b="0">
                <a:solidFill>
                  <a:srgbClr val="28285E"/>
                </a:solidFill>
                <a:latin typeface="Maple Mono NF"/>
              </a:rPr>
              <a:t>model_calls</a:t>
            </a:r>
            <a:r>
              <a:rPr sz="1400" b="1">
                <a:solidFill>
                  <a:srgbClr val="28285E"/>
                </a:solidFill>
              </a:rPr>
              <a:t> with the budget before each model call. The controller passes the conversation to the model.</a:t>
            </a:r>
          </a:p>
        </p:txBody>
      </p:sp>
      <p:sp>
        <p:nvSpPr>
          <p:cNvPr id="4" name="TextBox 3"/>
          <p:cNvSpPr txBox="1"/>
          <p:nvPr/>
        </p:nvSpPr>
        <p:spPr>
          <a:xfrm>
            <a:off x="319251" y="1621648"/>
            <a:ext cx="6014545" cy="200000"/>
          </a:xfrm>
          <a:prstGeom prst="rect">
            <a:avLst/>
          </a:prstGeom>
          <a:noFill/>
        </p:spPr>
        <p:txBody>
          <a:bodyPr wrap="none" lIns="0" tIns="0" rIns="0" bIns="0">
            <a:spAutoFit/>
          </a:bodyPr>
          <a:lstStyle/>
          <a:p>
            <a:r>
              <a:rPr sz="1200" b="1">
                <a:solidFill>
                  <a:srgbClr val="28285E"/>
                </a:solidFill>
              </a:rPr>
              <a:t>graph.py, controller line 312 and _admit lines 183 to 186. Trace event omitted</a:t>
            </a:r>
          </a:p>
        </p:txBody>
      </p:sp>
      <p:sp>
        <p:nvSpPr>
          <p:cNvPr id="5" name="CodeWindow"/>
          <p:cNvSpPr/>
          <p:nvPr/>
        </p:nvSpPr>
        <p:spPr>
          <a:xfrm>
            <a:off x="319251" y="1881648"/>
            <a:ext cx="6014545" cy="166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925464"/>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925464"/>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925464"/>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2211648"/>
            <a:ext cx="5714545" cy="1260000"/>
          </a:xfrm>
          <a:prstGeom prst="rect">
            <a:avLst/>
          </a:prstGeom>
          <a:noFill/>
        </p:spPr>
        <p:txBody>
          <a:bodyPr wrap="none" lIns="0" tIns="0" rIns="0" bIns="0" anchor="t">
            <a:spAutoFit/>
          </a:bodyPr>
          <a:lstStyle/>
          <a:p>
            <a:pPr algn="l">
              <a:buNone/>
            </a:pPr>
            <a:r>
              <a:rPr sz="1100" b="0">
                <a:solidFill>
                  <a:schemeClr val="accent6"/>
                </a:solidFill>
                <a:latin typeface="Maple Mono NF"/>
              </a:rPr>
              <a:t># ours: The controller supplies the conversation to the model.</a:t>
            </a:r>
          </a:p>
          <a:p>
            <a:pPr algn="l">
              <a:buNone/>
            </a:pPr>
            <a:r>
              <a:rPr sz="1100" b="0">
                <a:solidFill>
                  <a:schemeClr val="bg1"/>
                </a:solidFill>
                <a:latin typeface="Maple Mono NF"/>
              </a:rPr>
              <a:t>reply = </a:t>
            </a:r>
            <a:r>
              <a:rPr sz="1100" b="0">
                <a:solidFill>
                  <a:schemeClr val="accent2"/>
                </a:solidFill>
                <a:latin typeface="Maple Mono NF"/>
              </a:rPr>
              <a:t>self</a:t>
            </a:r>
            <a:r>
              <a:rPr sz="1100" b="0">
                <a:solidFill>
                  <a:schemeClr val="bg1"/>
                </a:solidFill>
                <a:latin typeface="Maple Mono NF"/>
              </a:rPr>
              <a:t>._call(model, state[</a:t>
            </a:r>
            <a:r>
              <a:rPr sz="1100" b="0">
                <a:solidFill>
                  <a:schemeClr val="accent3">
                    <a:lumMod val="55000"/>
                    <a:lumOff val="45000"/>
                  </a:schemeClr>
                </a:solidFill>
                <a:latin typeface="Maple Mono NF"/>
              </a:rPr>
              <a:t>"messages"</a:t>
            </a:r>
            <a:r>
              <a:rPr sz="1100" b="0">
                <a:solidFill>
                  <a:schemeClr val="bg1"/>
                </a:solidFill>
                <a:latin typeface="Maple Mono NF"/>
              </a:rPr>
              <a:t>], role=</a:t>
            </a:r>
            <a:r>
              <a:rPr sz="1100" b="0">
                <a:solidFill>
                  <a:schemeClr val="accent3">
                    <a:lumMod val="55000"/>
                    <a:lumOff val="45000"/>
                  </a:schemeClr>
                </a:solidFill>
                <a:latin typeface="Maple Mono NF"/>
              </a:rPr>
              <a:t>"controller"</a:t>
            </a:r>
            <a:r>
              <a:rPr sz="1100" b="0">
                <a:solidFill>
                  <a:schemeClr val="bg1"/>
                </a:solidFill>
                <a:latin typeface="Maple Mono NF"/>
              </a:rPr>
              <a:t>)</a:t>
            </a:r>
          </a:p>
          <a:p>
            <a:pPr algn="l">
              <a:buNone/>
            </a:pPr>
            <a:endParaRPr sz="1100" b="0">
              <a:solidFill>
                <a:schemeClr val="bg1"/>
              </a:solidFill>
              <a:latin typeface="Maple Mono NF"/>
            </a:endParaRPr>
          </a:p>
          <a:p>
            <a:pPr algn="l">
              <a:buNone/>
            </a:pPr>
            <a:r>
              <a:rPr sz="1100" b="0">
                <a:solidFill>
                  <a:schemeClr val="accent6"/>
                </a:solidFill>
                <a:latin typeface="Maple Mono NF"/>
              </a:rPr>
              <a:t># ours: Admission runs before every model call.</a:t>
            </a:r>
          </a:p>
          <a:p>
            <a:pPr algn="l">
              <a:buNone/>
            </a:pP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"model_calls"</a:t>
            </a:r>
            <a:r>
              <a:rPr sz="1100" b="0">
                <a:solidFill>
                  <a:schemeClr val="bg1"/>
                </a:solidFill>
                <a:latin typeface="Maple Mono NF"/>
              </a:rPr>
              <a:t>] &gt;= </a:t>
            </a:r>
            <a:r>
              <a:rPr sz="1100" b="1">
                <a:solidFill>
                  <a:schemeClr val="accent4">
                    <a:lumMod val="70000"/>
                    <a:lumOff val="30000"/>
                  </a:schemeClr>
                </a:solidFill>
                <a:latin typeface="Maple Mono NF"/>
              </a:rPr>
              <a:t>self.config.budget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"status"</a:t>
            </a:r>
            <a:r>
              <a:rPr sz="1100" b="0">
                <a:solidFill>
                  <a:schemeClr val="bg1"/>
                </a:solidFill>
                <a:latin typeface="Maple Mono NF"/>
              </a:rPr>
              <a:t>: TerminalStatus.BUDGET_EXHAUSTED}</a:t>
            </a:r>
          </a:p>
        </p:txBody>
      </p:sp>
      <p:sp>
        <p:nvSpPr>
          <p:cNvPr id="10" name="Rectangle 9"/>
          <p:cNvSpPr/>
          <p:nvPr/>
        </p:nvSpPr>
        <p:spPr>
          <a:xfrm>
            <a:off x="319251" y="373164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runtime enforces the budget before each call. This check works even though the model never receives the budget in its context.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Reducers: append, replace, accumulate</a:t>
            </a:r>
          </a:p>
        </p:txBody>
      </p:sp>
      <p:sp>
        <p:nvSpPr>
          <p:cNvPr id="3" name="Content Placeholder 2"/>
          <p:cNvSpPr>
            <a:spLocks noGrp="1"/>
          </p:cNvSpPr>
          <p:nvPr>
            <p:ph idx="1"/>
          </p:nvPr>
        </p:nvSpPr>
        <p:spPr>
          <a:xfrm>
            <a:off x="319251" y="700000"/>
            <a:ext cx="6014545" cy="2211325"/>
          </a:xfrm>
        </p:spPr>
        <p:txBody>
          <a:bodyPr wrap="square" anchor="ctr">
            <a:normAutofit fontScale="92500"/>
          </a:bodyPr>
          <a:lstStyle/>
          <a:p>
            <a:pPr marL="0" indent="0">
              <a:buNone/>
            </a:pPr>
            <a:r>
              <a:rPr sz="1400" b="1">
                <a:solidFill>
                  <a:srgbClr val="28285E"/>
                </a:solidFill>
              </a:rPr>
              <a:t>When a node returns a value for a field, the runtime calls that field's reducer with the stored value and the returned value.</a:t>
            </a:r>
          </a:p>
          <a:p>
            <a:pPr marL="400050" indent="-285750">
              <a:spcBef>
                <a:spcPts val="600"/>
              </a:spcBef>
              <a:spcAft>
                <a:spcPts val="600"/>
              </a:spcAft>
              <a:buClr>
                <a:srgbClr val="28285E"/>
              </a:buClr>
              <a:buSzPts val="1260"/>
              <a:buFont typeface="+mn-lt"/>
              <a:buChar char="●"/>
            </a:pPr>
            <a:r>
              <a:rPr sz="1400" b="1">
                <a:solidFill>
                  <a:schemeClr val="tx1"/>
                </a:solidFill>
              </a:rPr>
              <a:t>Append</a:t>
            </a:r>
            <a:r>
              <a:rPr sz="1400" b="0">
                <a:solidFill>
                  <a:schemeClr val="tx1"/>
                </a:solidFill>
              </a:rPr>
              <a:t> adds the returned items to the end of the stored list, so later nodes can read the full history.</a:t>
            </a:r>
          </a:p>
          <a:p>
            <a:pPr marL="400050" indent="-285750">
              <a:spcBef>
                <a:spcPts val="600"/>
              </a:spcBef>
              <a:spcAft>
                <a:spcPts val="600"/>
              </a:spcAft>
              <a:buClr>
                <a:srgbClr val="28285E"/>
              </a:buClr>
              <a:buSzPts val="1260"/>
              <a:buFont typeface="+mn-lt"/>
              <a:buChar char="●"/>
            </a:pPr>
            <a:r>
              <a:rPr sz="1400" b="1">
                <a:solidFill>
                  <a:schemeClr val="tx1"/>
                </a:solidFill>
              </a:rPr>
              <a:t>Replace</a:t>
            </a:r>
            <a:r>
              <a:rPr sz="1400" b="0">
                <a:solidFill>
                  <a:schemeClr val="tx1"/>
                </a:solidFill>
              </a:rPr>
              <a:t> stores the returned value as the field’s new value, as when the plan node writes a revised plan.</a:t>
            </a:r>
          </a:p>
          <a:p>
            <a:pPr marL="400050" indent="-285750">
              <a:spcBef>
                <a:spcPts val="600"/>
              </a:spcBef>
              <a:spcAft>
                <a:spcPts val="600"/>
              </a:spcAft>
              <a:buClr>
                <a:srgbClr val="28285E"/>
              </a:buClr>
              <a:buSzPts val="1260"/>
              <a:buFont typeface="+mn-lt"/>
              <a:buChar char="●"/>
            </a:pPr>
            <a:r>
              <a:rPr sz="1400" b="1">
                <a:solidFill>
                  <a:schemeClr val="tx1"/>
                </a:solidFill>
              </a:rPr>
              <a:t>Accumulate</a:t>
            </a:r>
            <a:r>
              <a:rPr sz="1400" b="0">
                <a:solidFill>
                  <a:schemeClr val="tx1"/>
                </a:solidFill>
              </a:rPr>
              <a:t> combines the returned contribution with the stored total, such as adding 1 to </a:t>
            </a:r>
            <a:r>
              <a:rPr sz="1400" b="0">
                <a:solidFill>
                  <a:schemeClr val="tx1"/>
                </a:solidFill>
                <a:latin typeface="Maple Mono NF"/>
              </a:rPr>
              <a:t>model_calls</a:t>
            </a:r>
            <a:r>
              <a:rPr sz="1400" b="0">
                <a:solidFill>
                  <a:schemeClr val="tx1"/>
                </a:solidFill>
              </a:rPr>
              <a:t>.</a:t>
            </a:r>
          </a:p>
        </p:txBody>
      </p:sp>
      <p:sp>
        <p:nvSpPr>
          <p:cNvPr id="4" name="Rectangle 3"/>
          <p:cNvSpPr/>
          <p:nvPr/>
        </p:nvSpPr>
        <p:spPr>
          <a:xfrm>
            <a:off x="319251" y="3101325"/>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reducer's result becomes the field's next stored value.</a:t>
            </a:r>
          </a:p>
        </p:txBody>
      </p:sp>
      <p:sp>
        <p:nvSpPr>
          <p:cNvPr id="5" name="Rectangle 4"/>
          <p:cNvSpPr/>
          <p:nvPr/>
        </p:nvSpPr>
        <p:spPr>
          <a:xfrm>
            <a:off x="319251" y="3902126"/>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Returning </a:t>
            </a:r>
            <a:r>
              <a:rPr sz="1200" b="0">
                <a:solidFill>
                  <a:srgbClr val="28285E"/>
                </a:solidFill>
                <a:latin typeface="Maple Mono NF"/>
              </a:rPr>
              <a:t>[]</a:t>
            </a:r>
            <a:r>
              <a:rPr sz="1200" b="1">
                <a:solidFill>
                  <a:srgbClr val="28285E"/>
                </a:solidFill>
              </a:rPr>
              <a:t> to an append reducer adds no items, so the stored list keeps its existing contents.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reducers in the schema</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In </a:t>
            </a:r>
            <a:r>
              <a:rPr sz="1400" b="0">
                <a:solidFill>
                  <a:srgbClr val="28285E"/>
                </a:solidFill>
                <a:latin typeface="Maple Mono NF"/>
              </a:rPr>
              <a:t>Annotated[T, fn]</a:t>
            </a:r>
            <a:r>
              <a:rPr sz="1400" b="1">
                <a:solidFill>
                  <a:srgbClr val="28285E"/>
                </a:solidFill>
              </a:rPr>
              <a:t>, T names the field's type and fn names the reducer that merges returned values into that field.</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state.py, </a:t>
            </a:r>
            <a:r>
              <a:rPr sz="1200" b="0">
                <a:solidFill>
                  <a:srgbClr val="28285E"/>
                </a:solidFill>
                <a:latin typeface="Maple Mono NF"/>
              </a:rPr>
              <a:t>AgentState</a:t>
            </a:r>
            <a:r>
              <a:rPr sz="1200" b="1">
                <a:solidFill>
                  <a:srgbClr val="28285E"/>
                </a:solidFill>
              </a:rPr>
              <a:t>, lines 76 to 98 (selected fields)</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a:solidFill>
                  <a:schemeClr val="accent2"/>
                </a:solidFill>
                <a:latin typeface="Maple Mono NF"/>
              </a:rPr>
              <a:t>class</a:t>
            </a:r>
            <a:r>
              <a:rPr sz="1100" b="0">
                <a:solidFill>
                  <a:schemeClr val="bg1"/>
                </a:solidFill>
                <a:latin typeface="Maple Mono NF"/>
              </a:rPr>
              <a:t> AgentState(TypedDict, total=</a:t>
            </a:r>
            <a:r>
              <a:rPr sz="1100" b="0">
                <a:solidFill>
                  <a:schemeClr val="accent2"/>
                </a:solidFill>
                <a:latin typeface="Maple Mono NF"/>
              </a:rPr>
              <a:t>False</a:t>
            </a:r>
            <a:r>
              <a:rPr sz="1100" b="0">
                <a:solidFill>
                  <a:schemeClr val="bg1"/>
                </a:solidFill>
                <a:latin typeface="Maple Mono NF"/>
              </a:rPr>
              <a:t>):</a:t>
            </a:r>
          </a:p>
          <a:p>
            <a:pPr algn="l">
              <a:buNone/>
            </a:pPr>
            <a:r>
              <a:rPr sz="1100" b="0">
                <a:solidFill>
                  <a:schemeClr val="accent6"/>
                </a:solidFill>
                <a:latin typeface="Maple Mono NF"/>
              </a:rPr>
              <a:t>    # ours: other fields are omitted</a:t>
            </a:r>
          </a:p>
          <a:p>
            <a:pPr algn="l">
              <a:buNone/>
            </a:pPr>
            <a:r>
              <a:rPr sz="1100" b="0">
                <a:solidFill>
                  <a:schemeClr val="bg1"/>
                </a:solidFill>
                <a:latin typeface="Maple Mono NF"/>
              </a:rPr>
              <a:t>    messages: </a:t>
            </a:r>
            <a:r>
              <a:rPr sz="1100" b="1">
                <a:solidFill>
                  <a:schemeClr val="accent4">
                    <a:lumMod val="70000"/>
                    <a:lumOff val="30000"/>
                  </a:schemeClr>
                </a:solidFill>
                <a:latin typeface="Maple Mono NF"/>
              </a:rPr>
              <a:t>Annotated</a:t>
            </a:r>
            <a:r>
              <a:rPr sz="1100" b="0">
                <a:solidFill>
                  <a:schemeClr val="bg1"/>
                </a:solidFill>
                <a:latin typeface="Maple Mono NF"/>
              </a:rPr>
              <a:t>[list, add_messages]</a:t>
            </a:r>
          </a:p>
          <a:p>
            <a:pPr algn="l">
              <a:buNone/>
            </a:pPr>
            <a:r>
              <a:rPr sz="1100" b="0">
                <a:solidFill>
                  <a:schemeClr val="bg1"/>
                </a:solidFill>
                <a:latin typeface="Maple Mono NF"/>
              </a:rPr>
              <a:t>    observations: </a:t>
            </a:r>
            <a:r>
              <a:rPr sz="1100" b="1">
                <a:solidFill>
                  <a:schemeClr val="accent4">
                    <a:lumMod val="70000"/>
                    <a:lumOff val="30000"/>
                  </a:schemeClr>
                </a:solidFill>
                <a:latin typeface="Maple Mono NF"/>
              </a:rPr>
              <a:t>Annotated</a:t>
            </a:r>
            <a:r>
              <a:rPr sz="1100" b="0">
                <a:solidFill>
                  <a:schemeClr val="bg1"/>
                </a:solidFill>
                <a:latin typeface="Maple Mono NF"/>
              </a:rPr>
              <a:t>[list, operator.add]</a:t>
            </a:r>
          </a:p>
          <a:p>
            <a:pPr algn="l">
              <a:buNone/>
            </a:pPr>
            <a:r>
              <a:rPr sz="1100" b="0">
                <a:solidFill>
                  <a:schemeClr val="bg1"/>
                </a:solidFill>
                <a:latin typeface="Maple Mono NF"/>
              </a:rPr>
              <a:t>    usage: </a:t>
            </a:r>
            <a:r>
              <a:rPr sz="1100" b="1">
                <a:solidFill>
                  <a:schemeClr val="accent4">
                    <a:lumMod val="70000"/>
                    <a:lumOff val="30000"/>
                  </a:schemeClr>
                </a:solidFill>
                <a:latin typeface="Maple Mono NF"/>
              </a:rPr>
              <a:t>Annotated</a:t>
            </a:r>
            <a:r>
              <a:rPr sz="1100" b="0">
                <a:solidFill>
                  <a:schemeClr val="bg1"/>
                </a:solidFill>
                <a:latin typeface="Maple Mono NF"/>
              </a:rPr>
              <a:t>[Usage, add_usage]</a:t>
            </a:r>
          </a:p>
          <a:p>
            <a:pPr algn="l">
              <a:buNone/>
            </a:pPr>
            <a:r>
              <a:rPr sz="1100" b="0">
                <a:solidFill>
                  <a:schemeClr val="bg1"/>
                </a:solidFill>
                <a:latin typeface="Maple Mono NF"/>
              </a:rPr>
              <a:t>    model_calls: </a:t>
            </a:r>
            <a:r>
              <a:rPr sz="1100" b="1">
                <a:solidFill>
                  <a:schemeClr val="accent4">
                    <a:lumMod val="70000"/>
                    <a:lumOff val="30000"/>
                  </a:schemeClr>
                </a:solidFill>
                <a:latin typeface="Maple Mono NF"/>
              </a:rPr>
              <a:t>Annotated</a:t>
            </a:r>
            <a:r>
              <a:rPr sz="1100" b="0">
                <a:solidFill>
                  <a:schemeClr val="bg1"/>
                </a:solidFill>
                <a:latin typeface="Maple Mono NF"/>
              </a:rPr>
              <a:t>[int, operator.add]</a:t>
            </a:r>
          </a:p>
          <a:p>
            <a:pPr algn="l">
              <a:buNone/>
            </a:pPr>
            <a:r>
              <a:rPr sz="1100" b="0">
                <a:solidFill>
                  <a:schemeClr val="bg1"/>
                </a:solidFill>
                <a:latin typeface="Maple Mono NF"/>
              </a:rPr>
              <a:t>    status: str</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For status, an update replaces the stored string. If a node returns no status value, the runtime keeps the previous string.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schemas and field lifetimes</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The planning agent adds five fields to the loop's schema. Shading marks field lifetimes: when stored values remain valid for later steps.</a:t>
            </a:r>
          </a:p>
        </p:txBody>
      </p:sp>
      <p:pic>
        <p:nvPicPr>
          <p:cNvPr id="4" name="Figure s2-agentstate" descr="s2-agentstate.png"/>
          <p:cNvPicPr>
            <a:picLocks noChangeAspect="1"/>
          </p:cNvPicPr>
          <p:nvPr/>
        </p:nvPicPr>
        <p:blipFill>
          <a:blip r:embed="rId3"/>
          <a:stretch>
            <a:fillRect/>
          </a:stretch>
        </p:blipFill>
        <p:spPr>
          <a:xfrm>
            <a:off x="250148" y="1390000"/>
            <a:ext cx="6152752" cy="2522205"/>
          </a:xfrm>
          <a:prstGeom prst="rect">
            <a:avLst/>
          </a:prstGeom>
        </p:spPr>
      </p:pic>
      <p:sp>
        <p:nvSpPr>
          <p:cNvPr id="5" name="Rectangle 4"/>
          <p:cNvSpPr/>
          <p:nvPr/>
        </p:nvSpPr>
        <p:spPr>
          <a:xfrm>
            <a:off x="319251" y="4102205"/>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Neither agent retries after rejection, so neither schema needs attempt-lifetime fields to clear before a new attempt (Figure 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Field lifetimes</a:t>
            </a:r>
          </a:p>
        </p:txBody>
      </p:sp>
      <p:sp>
        <p:nvSpPr>
          <p:cNvPr id="3" name="Content Placeholder 2"/>
          <p:cNvSpPr>
            <a:spLocks noGrp="1"/>
          </p:cNvSpPr>
          <p:nvPr>
            <p:ph idx="1"/>
          </p:nvPr>
        </p:nvSpPr>
        <p:spPr>
          <a:xfrm>
            <a:off x="319251" y="700000"/>
            <a:ext cx="6014545" cy="731648"/>
          </a:xfrm>
        </p:spPr>
        <p:txBody>
          <a:bodyPr wrap="square" anchor="ctr">
            <a:normAutofit fontScale="77500" lnSpcReduction="20000"/>
          </a:bodyPr>
          <a:lstStyle/>
          <a:p>
            <a:pPr marL="0" indent="0">
              <a:buNone/>
            </a:pPr>
            <a:r>
              <a:rPr sz="1400" b="1">
                <a:solidFill>
                  <a:srgbClr val="28285E"/>
                </a:solidFill>
              </a:rPr>
              <a:t>A field's lifetime is the interval during which later nodes may rely on its stored value. The lifetime ends when an event makes that value obsolete.</a:t>
            </a:r>
          </a:p>
        </p:txBody>
      </p:sp>
      <p:graphicFrame>
        <p:nvGraphicFramePr>
          <p:cNvPr id="4" name="Table 3"/>
          <p:cNvGraphicFramePr>
            <a:graphicFrameLocks noGrp="1"/>
          </p:cNvGraphicFramePr>
          <p:nvPr/>
        </p:nvGraphicFramePr>
        <p:xfrm>
          <a:off x="319251" y="1621648"/>
          <a:ext cx="6014545" cy="2383536"/>
        </p:xfrm>
        <a:graphic>
          <a:graphicData uri="http://schemas.openxmlformats.org/drawingml/2006/table">
            <a:tbl>
              <a:tblPr firstRow="1" bandRow="1">
                <a:tableStyleId>{5C22544A-7EE6-4342-B048-85BDC9FD1C3A}</a:tableStyleId>
              </a:tblPr>
              <a:tblGrid>
                <a:gridCol w="1300000">
                  <a:extLst>
                    <a:ext uri="{9D8B030D-6E8A-4147-A177-3AD203B41FA5}">
                      <a16:colId xmlns:a16="http://schemas.microsoft.com/office/drawing/2014/main" val="20000"/>
                    </a:ext>
                  </a:extLst>
                </a:gridCol>
                <a:gridCol w="4714545">
                  <a:extLst>
                    <a:ext uri="{9D8B030D-6E8A-4147-A177-3AD203B41FA5}">
                      <a16:colId xmlns:a16="http://schemas.microsoft.com/office/drawing/2014/main" val="20001"/>
                    </a:ext>
                  </a:extLst>
                </a:gridCol>
              </a:tblGrid>
              <a:tr h="300000">
                <a:tc>
                  <a:txBody>
                    <a:bodyPr/>
                    <a:lstStyle/>
                    <a:p>
                      <a:pPr>
                        <a:buNone/>
                      </a:pPr>
                      <a:r>
                        <a:rPr sz="1000" b="1">
                          <a:solidFill>
                            <a:schemeClr val="tx1"/>
                          </a:solidFill>
                        </a:rPr>
                        <a:t>Lifetime</a:t>
                      </a:r>
                    </a:p>
                  </a:txBody>
                  <a:tcPr marL="95250" marR="95250" marT="47625" marB="47625">
                    <a:lnB w="12700" cap="flat" cmpd="sng" algn="ctr">
                      <a:solidFill>
                        <a:schemeClr val="tx1"/>
                      </a:solidFill>
                    </a:lnB>
                    <a:noFill/>
                  </a:tcPr>
                </a:tc>
                <a:tc>
                  <a:txBody>
                    <a:bodyPr/>
                    <a:lstStyle/>
                    <a:p>
                      <a:pPr>
                        <a:buNone/>
                      </a:pPr>
                      <a:r>
                        <a:rPr sz="1000" b="1">
                          <a:solidFill>
                            <a:schemeClr val="tx1"/>
                          </a:solidFill>
                        </a:rPr>
                        <a:t>Definition and use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Identity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Identity fields identify the task, target and workspace and remain unchanged.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Run fields retain histories and counters that grow throughout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Current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Current fields hold the latest plan, candidate, check result or status until the writer replaces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Handoff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One node writes a reason for invoking another node. The receiving node reads that handoff field and clears it after acting.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Window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An index field marks where a selected window of history begins. Checks read from that index onward while the complete history remains stored.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Attempt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An attempt field holds one attempt’s results. Nodes clear the field before a retry so later steps cannot treat old results as current.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5" name="Rectangle 4"/>
          <p:cNvSpPr/>
          <p:nvPr/>
        </p:nvSpPr>
        <p:spPr>
          <a:xfrm>
            <a:off x="319251" y="4227037"/>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runtime merges updates according to reducers. Node code must enforce lifetime rules by retaining, replacing or clearing each field when required.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Handoff and window, in the planning agent</a:t>
            </a:r>
          </a:p>
        </p:txBody>
      </p:sp>
      <p:sp>
        <p:nvSpPr>
          <p:cNvPr id="3" name="Content Placeholder 2"/>
          <p:cNvSpPr>
            <a:spLocks noGrp="1"/>
          </p:cNvSpPr>
          <p:nvPr>
            <p:ph idx="1"/>
          </p:nvPr>
        </p:nvSpPr>
        <p:spPr>
          <a:xfrm>
            <a:off x="319251" y="700000"/>
            <a:ext cx="6014545" cy="731648"/>
          </a:xfrm>
        </p:spPr>
        <p:txBody>
          <a:bodyPr wrap="square" anchor="ctr">
            <a:normAutofit fontScale="70000" lnSpcReduction="20000"/>
          </a:bodyPr>
          <a:lstStyle/>
          <a:p>
            <a:pPr marL="0" indent="0">
              <a:buNone/>
            </a:pPr>
            <a:r>
              <a:rPr sz="1400" b="1">
                <a:solidFill>
                  <a:srgbClr val="28285E"/>
                </a:solidFill>
              </a:rPr>
              <a:t>When tools detects a stall, it stores the reason in </a:t>
            </a:r>
            <a:r>
              <a:rPr sz="1400" b="0">
                <a:solidFill>
                  <a:srgbClr val="28285E"/>
                </a:solidFill>
                <a:latin typeface="Maple Mono NF"/>
              </a:rPr>
              <a:t>failed_step</a:t>
            </a:r>
            <a:r>
              <a:rPr sz="1400" b="1">
                <a:solidFill>
                  <a:srgbClr val="28285E"/>
                </a:solidFill>
              </a:rPr>
              <a:t>. The plan node uses that reason to revise the plan, then clears </a:t>
            </a:r>
            <a:r>
              <a:rPr sz="1400" b="0">
                <a:solidFill>
                  <a:srgbClr val="28285E"/>
                </a:solidFill>
                <a:latin typeface="Maple Mono NF"/>
              </a:rPr>
              <a:t>failed_step</a:t>
            </a:r>
            <a:r>
              <a:rPr sz="1400" b="1">
                <a:solidFill>
                  <a:srgbClr val="28285E"/>
                </a:solidFill>
              </a:rPr>
              <a:t> and sets </a:t>
            </a:r>
            <a:r>
              <a:rPr sz="1400" b="0">
                <a:solidFill>
                  <a:srgbClr val="28285E"/>
                </a:solidFill>
                <a:latin typeface="Maple Mono NF"/>
              </a:rPr>
              <a:t>replanned_at</a:t>
            </a:r>
            <a:r>
              <a:rPr sz="1400" b="1">
                <a:solidFill>
                  <a:srgbClr val="28285E"/>
                </a:solidFill>
              </a:rPr>
              <a:t>.</a:t>
            </a:r>
          </a:p>
        </p:txBody>
      </p:sp>
      <p:sp>
        <p:nvSpPr>
          <p:cNvPr id="4" name="TextBox 3"/>
          <p:cNvSpPr txBox="1"/>
          <p:nvPr/>
        </p:nvSpPr>
        <p:spPr>
          <a:xfrm>
            <a:off x="319251" y="1621648"/>
            <a:ext cx="6014545" cy="200000"/>
          </a:xfrm>
          <a:prstGeom prst="rect">
            <a:avLst/>
          </a:prstGeom>
          <a:noFill/>
        </p:spPr>
        <p:txBody>
          <a:bodyPr wrap="none" lIns="0" tIns="0" rIns="0" bIns="0">
            <a:spAutoFit/>
          </a:bodyPr>
          <a:lstStyle/>
          <a:p>
            <a:r>
              <a:rPr sz="1200" b="1">
                <a:solidFill>
                  <a:srgbClr val="28285E"/>
                </a:solidFill>
              </a:rPr>
              <a:t>graph.py, tools lines 361 to 367 and plan lines 260 to 270. Excerpts</a:t>
            </a:r>
          </a:p>
        </p:txBody>
      </p:sp>
      <p:sp>
        <p:nvSpPr>
          <p:cNvPr id="5" name="CodeWindow"/>
          <p:cNvSpPr/>
          <p:nvPr/>
        </p:nvSpPr>
        <p:spPr>
          <a:xfrm>
            <a:off x="319251" y="1881648"/>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925464"/>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925464"/>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925464"/>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2211648"/>
            <a:ext cx="5714545" cy="1680000"/>
          </a:xfrm>
          <a:prstGeom prst="rect">
            <a:avLst/>
          </a:prstGeom>
          <a:noFill/>
        </p:spPr>
        <p:txBody>
          <a:bodyPr wrap="none" lIns="0" tIns="0" rIns="0" bIns="0" anchor="t">
            <a:spAutoFit/>
          </a:bodyPr>
          <a:lstStyle/>
          <a:p>
            <a:pPr algn="l">
              <a:buNone/>
            </a:pPr>
            <a:r>
              <a:rPr sz="1100" b="0">
                <a:solidFill>
                  <a:schemeClr val="accent2"/>
                </a:solidFill>
                <a:latin typeface="Maple Mono NF"/>
              </a:rPr>
              <a:t>if</a:t>
            </a:r>
            <a:r>
              <a:rPr sz="1100" b="0">
                <a:solidFill>
                  <a:schemeClr val="bg1"/>
                </a:solidFill>
                <a:latin typeface="Maple Mono NF"/>
              </a:rPr>
              <a:t> (</a:t>
            </a:r>
            <a:r>
              <a:rPr sz="1100" b="0">
                <a:solidFill>
                  <a:schemeClr val="accent2"/>
                </a:solidFill>
                <a:latin typeface="Maple Mono NF"/>
              </a:rPr>
              <a:t>not</a:t>
            </a:r>
            <a:r>
              <a:rPr sz="1100" b="0">
                <a:solidFill>
                  <a:schemeClr val="bg1"/>
                </a:solidFill>
                <a:latin typeface="Maple Mono NF"/>
              </a:rPr>
              <a:t> state.get(</a:t>
            </a:r>
            <a:r>
              <a:rPr sz="1100" b="0">
                <a:solidFill>
                  <a:schemeClr val="accent3">
                    <a:lumMod val="55000"/>
                    <a:lumOff val="45000"/>
                  </a:schemeClr>
                </a:solidFill>
                <a:latin typeface="Maple Mono NF"/>
              </a:rPr>
              <a:t>"replanned_at"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and</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.stalled(window, </a:t>
            </a:r>
            <a:r>
              <a:rPr sz="1100" b="0">
                <a:solidFill>
                  <a:schemeClr val="accent2"/>
                </a:solidFill>
                <a:latin typeface="Maple Mono NF"/>
              </a:rPr>
              <a:t>self</a:t>
            </a:r>
            <a:r>
              <a:rPr sz="1100" b="0">
                <a:solidFill>
                  <a:schemeClr val="bg1"/>
                </a:solidFill>
                <a:latin typeface="Maple Mono NF"/>
              </a:rPr>
              <a:t>.config.no_progress_steps)):</a:t>
            </a:r>
          </a:p>
          <a:p>
            <a:pPr algn="l">
              <a:buNone/>
            </a:pPr>
            <a:r>
              <a:rPr sz="1100" b="0">
                <a:solidFill>
                  <a:schemeClr val="bg1"/>
                </a:solidFill>
                <a:latin typeface="Maple Mono NF"/>
              </a:rPr>
              <a:t>    update["</a:t>
            </a:r>
            <a:r>
              <a:rPr sz="1100" b="1">
                <a:solidFill>
                  <a:schemeClr val="accent4">
                    <a:lumMod val="70000"/>
                    <a:lumOff val="30000"/>
                  </a:schemeClr>
                </a:solidFill>
                <a:latin typeface="Maple Mono NF"/>
              </a:rPr>
              <a:t>failed_step</a:t>
            </a:r>
            <a:r>
              <a:rPr sz="1100" b="0">
                <a:solidFill>
                  <a:schemeClr val="bg1"/>
                </a:solidFill>
                <a:latin typeface="Maple Mono NF"/>
              </a:rPr>
              <a:t>"] = {  </a:t>
            </a:r>
            <a:r>
              <a:rPr sz="1100" b="0">
                <a:solidFill>
                  <a:schemeClr val="accent6"/>
                </a:solidFill>
                <a:latin typeface="Maple Mono NF"/>
              </a:rPr>
              <a:t># ours: remaining entries omitted</a:t>
            </a:r>
          </a:p>
          <a:p>
            <a:pPr algn="l">
              <a:buNone/>
            </a:pPr>
            <a:r>
              <a:rPr sz="1100" b="0">
                <a:solidFill>
                  <a:schemeClr val="accent6"/>
                </a:solidFill>
                <a:latin typeface="Maple Mono NF"/>
              </a:rPr>
              <a:t># ours: The plan node returns this partial update.</a:t>
            </a:r>
          </a:p>
          <a:p>
            <a:pPr algn="l">
              <a:buNone/>
            </a:pPr>
            <a:r>
              <a:rPr sz="1100" b="0">
                <a:solidFill>
                  <a:schemeClr val="bg1"/>
                </a:solidFill>
                <a:latin typeface="Maple Mono NF"/>
              </a:rPr>
              <a:t>update = {</a:t>
            </a:r>
            <a:r>
              <a:rPr sz="1100" b="0">
                <a:solidFill>
                  <a:schemeClr val="accent3">
                    <a:lumMod val="55000"/>
                    <a:lumOff val="45000"/>
                  </a:schemeClr>
                </a:solidFill>
                <a:latin typeface="Maple Mono NF"/>
              </a:rPr>
              <a:t>"plan"</a:t>
            </a:r>
            <a:r>
              <a:rPr sz="1100" b="0">
                <a:solidFill>
                  <a:schemeClr val="bg1"/>
                </a:solidFill>
                <a:latin typeface="Maple Mono NF"/>
              </a:rPr>
              <a:t>: steps,</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failed_step</a:t>
            </a:r>
            <a:r>
              <a:rPr sz="1100" b="0">
                <a:solidFill>
                  <a:schemeClr val="bg1"/>
                </a:solidFill>
                <a:latin typeface="Maple Mono NF"/>
              </a:rPr>
              <a:t>":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accent2"/>
                </a:solidFill>
                <a:latin typeface="Maple Mono NF"/>
              </a:rPr>
              <a:t>if</a:t>
            </a:r>
            <a:r>
              <a:rPr sz="1100" b="0">
                <a:solidFill>
                  <a:schemeClr val="bg1"/>
                </a:solidFill>
                <a:latin typeface="Maple Mono NF"/>
              </a:rPr>
              <a:t> failed:</a:t>
            </a:r>
          </a:p>
          <a:p>
            <a:pPr algn="l">
              <a:buNone/>
            </a:pPr>
            <a:r>
              <a:rPr sz="1100" b="0">
                <a:solidFill>
                  <a:schemeClr val="bg1"/>
                </a:solidFill>
                <a:latin typeface="Maple Mono NF"/>
              </a:rPr>
              <a:t>    update[</a:t>
            </a:r>
            <a:r>
              <a:rPr sz="1100" b="0">
                <a:solidFill>
                  <a:schemeClr val="accent3">
                    <a:lumMod val="55000"/>
                    <a:lumOff val="45000"/>
                  </a:schemeClr>
                </a:solidFill>
                <a:latin typeface="Maple Mono NF"/>
              </a:rPr>
              <a:t>"replanned_at"</a:t>
            </a:r>
            <a:r>
              <a:rPr sz="1100" b="0">
                <a:solidFill>
                  <a:schemeClr val="bg1"/>
                </a:solidFill>
                <a:latin typeface="Maple Mono NF"/>
              </a:rPr>
              <a:t>] = len(state[</a:t>
            </a:r>
            <a:r>
              <a:rPr sz="1100" b="0">
                <a:solidFill>
                  <a:schemeClr val="accent3">
                    <a:lumMod val="55000"/>
                    <a:lumOff val="45000"/>
                  </a:schemeClr>
                </a:solidFill>
                <a:latin typeface="Maple Mono NF"/>
              </a:rPr>
              <a:t>"observations"</a:t>
            </a:r>
            <a:r>
              <a:rPr sz="1100" b="0">
                <a:solidFill>
                  <a:schemeClr val="bg1"/>
                </a:solidFill>
                <a:latin typeface="Maple Mono NF"/>
              </a:rPr>
              <a:t>])</a:t>
            </a:r>
          </a:p>
        </p:txBody>
      </p:sp>
      <p:sp>
        <p:nvSpPr>
          <p:cNvPr id="10" name="Rectangle 9"/>
          <p:cNvSpPr/>
          <p:nvPr/>
        </p:nvSpPr>
        <p:spPr>
          <a:xfrm>
            <a:off x="319251" y="415164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If </a:t>
            </a:r>
            <a:r>
              <a:rPr sz="1200" b="0">
                <a:solidFill>
                  <a:schemeClr val="tx2"/>
                </a:solidFill>
                <a:latin typeface="Maple Mono NF"/>
              </a:rPr>
              <a:t>failed_step</a:t>
            </a:r>
            <a:r>
              <a:rPr sz="1200" b="1">
                <a:solidFill>
                  <a:schemeClr val="tx2"/>
                </a:solidFill>
              </a:rPr>
              <a:t> remained set, after_tools would select plan again on the next tools step.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Proving invariants over configurations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To prove that every run obeys a limit, we express the limit as a predicate: a condition that is true or false for a configuration.</a:t>
            </a:r>
          </a:p>
          <a:p>
            <a:pPr marL="400050" indent="-285750">
              <a:spcBef>
                <a:spcPts val="600"/>
              </a:spcBef>
              <a:spcAft>
                <a:spcPts val="600"/>
              </a:spcAft>
              <a:buClr>
                <a:srgbClr val="28285E"/>
              </a:buClr>
              <a:buSzPts val="1260"/>
              <a:buFont typeface="+mn-lt"/>
              <a:buChar char="●"/>
            </a:pPr>
            <a:r>
              <a:rPr sz="1400" b="1">
                <a:solidFill>
                  <a:schemeClr val="tx1"/>
                </a:solidFill>
              </a:rPr>
              <a:t>Initial case.</a:t>
            </a:r>
            <a:r>
              <a:rPr sz="1400" b="0">
                <a:solidFill>
                  <a:schemeClr val="tx1"/>
                </a:solidFill>
              </a:rPr>
              <a:t> Show that the predicate is true for the initial control location and variable values.</a:t>
            </a:r>
          </a:p>
          <a:p>
            <a:pPr marL="400050" indent="-285750">
              <a:spcBef>
                <a:spcPts val="600"/>
              </a:spcBef>
              <a:spcAft>
                <a:spcPts val="600"/>
              </a:spcAft>
              <a:buClr>
                <a:srgbClr val="28285E"/>
              </a:buClr>
              <a:buSzPts val="1260"/>
              <a:buFont typeface="+mn-lt"/>
              <a:buChar char="●"/>
            </a:pPr>
            <a:r>
              <a:rPr sz="1400" b="1">
                <a:solidFill>
                  <a:schemeClr val="tx1"/>
                </a:solidFill>
              </a:rPr>
              <a:t>Preservation.</a:t>
            </a:r>
            <a:r>
              <a:rPr sz="1400" b="0">
                <a:solidFill>
                  <a:schemeClr val="tx1"/>
                </a:solidFill>
              </a:rPr>
              <a:t> For each permitted transition, assume the predicate is true before the step and show that it is still true afterward.</a:t>
            </a:r>
          </a:p>
          <a:p>
            <a:pPr marL="400050" indent="-285750">
              <a:spcBef>
                <a:spcPts val="600"/>
              </a:spcBef>
              <a:spcAft>
                <a:spcPts val="600"/>
              </a:spcAft>
              <a:buClr>
                <a:srgbClr val="28285E"/>
              </a:buClr>
              <a:buSzPts val="1260"/>
              <a:buFont typeface="+mn-lt"/>
              <a:buChar char="●"/>
            </a:pPr>
            <a:r>
              <a:rPr sz="1400" b="1">
                <a:solidFill>
                  <a:schemeClr val="tx1"/>
                </a:solidFill>
              </a:rPr>
              <a:t>A stronger predicate</a:t>
            </a:r>
            <a:r>
              <a:rPr sz="1400" b="0">
                <a:solidFill>
                  <a:schemeClr val="tx1"/>
                </a:solidFill>
              </a:rPr>
              <a:t> adds conditions to the desired property. For the call budget, we also require the counter to equal the number of completed calls.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predicate that holds initially and remains true after every transition is an invariant. It is therefore true at every configuration that a run can reach.</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An invariant proof applies to every possible run, including runs we have never executed.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call budget as an invariant</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To bound completed model calls, we prove that </a:t>
            </a:r>
            <a:r>
              <a:rPr sz="1400" b="0">
                <a:solidFill>
                  <a:srgbClr val="28285E"/>
                </a:solidFill>
                <a:latin typeface="Maple Mono NF"/>
              </a:rPr>
              <a:t>model_calls</a:t>
            </a:r>
            <a:r>
              <a:rPr sz="1400" b="1">
                <a:solidFill>
                  <a:srgbClr val="28285E"/>
                </a:solidFill>
              </a:rPr>
              <a:t> counts them exactly and never exceeds the budget.</a:t>
            </a:r>
          </a:p>
          <a:p>
            <a:pPr marL="400050" indent="-285750">
              <a:spcBef>
                <a:spcPts val="600"/>
              </a:spcBef>
              <a:spcAft>
                <a:spcPts val="600"/>
              </a:spcAft>
              <a:buClr>
                <a:srgbClr val="28285E"/>
              </a:buClr>
              <a:buSzPts val="1260"/>
              <a:buFont typeface="+mn-lt"/>
              <a:buChar char="●"/>
            </a:pPr>
            <a:r>
              <a:rPr sz="1400" b="1">
                <a:solidFill>
                  <a:schemeClr val="tx1"/>
                </a:solidFill>
              </a:rPr>
              <a:t>Admission.</a:t>
            </a:r>
            <a:r>
              <a:rPr sz="1400" b="0">
                <a:solidFill>
                  <a:schemeClr val="tx1"/>
                </a:solidFill>
              </a:rPr>
              <a:t> Each node checks that the stored call counter is below the budget before issuing a model call.</a:t>
            </a:r>
          </a:p>
          <a:p>
            <a:pPr marL="400050" indent="-285750">
              <a:spcBef>
                <a:spcPts val="600"/>
              </a:spcBef>
              <a:spcAft>
                <a:spcPts val="600"/>
              </a:spcAft>
              <a:buClr>
                <a:srgbClr val="28285E"/>
              </a:buClr>
              <a:buSzPts val="1260"/>
              <a:buFont typeface="+mn-lt"/>
              <a:buChar char="●"/>
            </a:pPr>
            <a:r>
              <a:rPr sz="1400" b="1">
                <a:solidFill>
                  <a:schemeClr val="tx1"/>
                </a:solidFill>
              </a:rPr>
              <a:t>Counting.</a:t>
            </a:r>
            <a:r>
              <a:rPr sz="1400" b="0">
                <a:solidFill>
                  <a:schemeClr val="tx1"/>
                </a:solidFill>
              </a:rPr>
              <a:t> After a call completes, the node returns </a:t>
            </a:r>
            <a:r>
              <a:rPr sz="1400" b="0">
                <a:solidFill>
                  <a:schemeClr val="tx1"/>
                </a:solidFill>
                <a:latin typeface="Maple Mono NF"/>
              </a:rPr>
              <a:t>model_calls: 1</a:t>
            </a:r>
            <a:r>
              <a:rPr sz="1400" b="0">
                <a:solidFill>
                  <a:schemeClr val="tx1"/>
                </a:solidFill>
              </a:rPr>
              <a:t>, and the reducer adds one to the stored count.</a:t>
            </a:r>
          </a:p>
          <a:p>
            <a:pPr marL="400050" indent="-285750">
              <a:spcBef>
                <a:spcPts val="600"/>
              </a:spcBef>
              <a:spcAft>
                <a:spcPts val="600"/>
              </a:spcAft>
              <a:buClr>
                <a:srgbClr val="28285E"/>
              </a:buClr>
              <a:buSzPts val="1260"/>
              <a:buFont typeface="+mn-lt"/>
              <a:buChar char="●"/>
            </a:pPr>
            <a:r>
              <a:rPr sz="1400" b="1">
                <a:solidFill>
                  <a:schemeClr val="tx1"/>
                </a:solidFill>
              </a:rPr>
              <a:t>Preservation.</a:t>
            </a:r>
            <a:r>
              <a:rPr sz="1400" b="0">
                <a:solidFill>
                  <a:schemeClr val="tx1"/>
                </a:solidFill>
              </a:rPr>
              <a:t> A step without a call leaves the counter unchanged. No transition resets or decreases it.</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reducer accumulates reported calls. Each caller must check the budget before calling and report each completed call exactly once.</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In our agent, </a:t>
            </a:r>
            <a:r>
              <a:rPr sz="1200" b="0">
                <a:solidFill>
                  <a:srgbClr val="28285E"/>
                </a:solidFill>
                <a:latin typeface="Maple Mono NF"/>
              </a:rPr>
              <a:t>model_calls</a:t>
            </a:r>
            <a:r>
              <a:rPr sz="1200" b="1">
                <a:solidFill>
                  <a:srgbClr val="28285E"/>
                </a:solidFill>
              </a:rPr>
              <a:t> must remain at most forty.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Constructing and compiling the state graph</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0">
                <a:solidFill>
                  <a:srgbClr val="28285E"/>
                </a:solidFill>
                <a:latin typeface="Maple Mono NF"/>
              </a:rPr>
              <a:t>StateGraph</a:t>
            </a:r>
            <a:r>
              <a:rPr sz="1400" b="1">
                <a:solidFill>
                  <a:srgbClr val="28285E"/>
                </a:solidFill>
              </a:rPr>
              <a:t> creates one channel per schema field to store its value and merge updates.</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compile, lines 493 to 521. Selected declarations</a:t>
            </a:r>
          </a:p>
        </p:txBody>
      </p:sp>
      <p:sp>
        <p:nvSpPr>
          <p:cNvPr id="5" name="CodeWindow"/>
          <p:cNvSpPr/>
          <p:nvPr/>
        </p:nvSpPr>
        <p:spPr>
          <a:xfrm>
            <a:off x="319251" y="16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890000"/>
          </a:xfrm>
          <a:prstGeom prst="rect">
            <a:avLst/>
          </a:prstGeom>
          <a:noFill/>
        </p:spPr>
        <p:txBody>
          <a:bodyPr wrap="none" lIns="0" tIns="0" rIns="0" bIns="0" anchor="t">
            <a:spAutoFit/>
          </a:bodyPr>
          <a:lstStyle/>
          <a:p>
            <a:pPr algn="l">
              <a:buNone/>
            </a:pPr>
            <a:r>
              <a:rPr sz="1100" b="0">
                <a:solidFill>
                  <a:schemeClr val="bg1"/>
                </a:solidFill>
                <a:latin typeface="Maple Mono NF"/>
              </a:rPr>
              <a:t>graph = StateGraph(AgentState)</a:t>
            </a:r>
          </a:p>
          <a:p>
            <a:pPr algn="l">
              <a:buNone/>
            </a:pPr>
            <a:r>
              <a:rPr sz="1100" b="0">
                <a:solidFill>
                  <a:schemeClr val="bg1"/>
                </a:solidFill>
                <a:latin typeface="Maple Mono NF"/>
              </a:rPr>
              <a:t>graph.add_node(</a:t>
            </a:r>
            <a:r>
              <a:rPr sz="1100" b="0">
                <a:solidFill>
                  <a:schemeClr val="accent3">
                    <a:lumMod val="55000"/>
                    <a:lumOff val="45000"/>
                  </a:schemeClr>
                </a:solidFill>
                <a:latin typeface="Maple Mono NF"/>
              </a:rPr>
              <a:t>"plan"</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.plan)</a:t>
            </a:r>
          </a:p>
          <a:p>
            <a:pPr algn="l">
              <a:buNone/>
            </a:pPr>
            <a:r>
              <a:rPr sz="1100" b="0">
                <a:solidFill>
                  <a:schemeClr val="bg1"/>
                </a:solidFill>
                <a:latin typeface="Maple Mono NF"/>
              </a:rPr>
              <a:t>graph.add_node(</a:t>
            </a:r>
            <a:r>
              <a:rPr sz="1100" b="0">
                <a:solidFill>
                  <a:schemeClr val="accent3">
                    <a:lumMod val="55000"/>
                    <a:lumOff val="45000"/>
                  </a:schemeClr>
                </a:solidFill>
                <a:latin typeface="Maple Mono NF"/>
              </a:rPr>
              <a:t>"tools"</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.tools)</a:t>
            </a:r>
          </a:p>
          <a:p>
            <a:pPr algn="l">
              <a:buNone/>
            </a:pPr>
            <a:r>
              <a:rPr sz="1100" b="0">
                <a:solidFill>
                  <a:schemeClr val="accent6"/>
                </a:solidFill>
                <a:latin typeface="Maple Mono NF"/>
              </a:rPr>
              <a:t># ours: Five node and five edge declarations are omitted.</a:t>
            </a:r>
          </a:p>
          <a:p>
            <a:pPr algn="l">
              <a:buNone/>
            </a:pPr>
            <a:r>
              <a:rPr sz="1100" b="0">
                <a:solidFill>
                  <a:schemeClr val="bg1"/>
                </a:solidFill>
                <a:latin typeface="Maple Mono NF"/>
              </a:rPr>
              <a:t>graph.add_edge(START, </a:t>
            </a:r>
            <a:r>
              <a:rPr sz="1100" b="0">
                <a:solidFill>
                  <a:schemeClr val="accent3">
                    <a:lumMod val="55000"/>
                    <a:lumOff val="45000"/>
                  </a:schemeClr>
                </a:solidFill>
                <a:latin typeface="Maple Mono NF"/>
              </a:rPr>
              <a:t>"scan"</a:t>
            </a:r>
            <a:r>
              <a:rPr sz="1100" b="0">
                <a:solidFill>
                  <a:schemeClr val="bg1"/>
                </a:solidFill>
                <a:latin typeface="Maple Mono NF"/>
              </a:rPr>
              <a:t>)</a:t>
            </a:r>
          </a:p>
          <a:p>
            <a:pPr algn="l">
              <a:buNone/>
            </a:pPr>
            <a:r>
              <a:rPr sz="1100" b="0">
                <a:solidFill>
                  <a:schemeClr val="bg1"/>
                </a:solidFill>
                <a:latin typeface="Maple Mono NF"/>
              </a:rPr>
              <a:t>graph.</a:t>
            </a:r>
            <a:r>
              <a:rPr sz="1100" b="1">
                <a:solidFill>
                  <a:schemeClr val="accent4">
                    <a:lumMod val="70000"/>
                    <a:lumOff val="30000"/>
                  </a:schemeClr>
                </a:solidFill>
                <a:latin typeface="Maple Mono NF"/>
              </a:rPr>
              <a:t>add_conditional_edges</a:t>
            </a:r>
            <a:r>
              <a:rPr sz="1100" b="0">
                <a:solidFill>
                  <a:schemeClr val="bg1"/>
                </a:solidFill>
                <a:latin typeface="Maple Mono NF"/>
              </a:rPr>
              <a:t>(</a:t>
            </a:r>
            <a:r>
              <a:rPr sz="1100" b="0">
                <a:solidFill>
                  <a:schemeClr val="accent3">
                    <a:lumMod val="55000"/>
                    <a:lumOff val="45000"/>
                  </a:schemeClr>
                </a:solidFill>
                <a:latin typeface="Maple Mono NF"/>
              </a:rPr>
              <a:t>"tools"</a:t>
            </a:r>
            <a:r>
              <a:rPr sz="1100" b="0">
                <a:solidFill>
                  <a:schemeClr val="bg1"/>
                </a:solidFill>
                <a:latin typeface="Maple Mono NF"/>
              </a:rPr>
              <a:t>, </a:t>
            </a:r>
            <a:r>
              <a:rPr sz="1100" b="0">
                <a:solidFill>
                  <a:schemeClr val="accent2"/>
                </a:solidFill>
                <a:latin typeface="Maple Mono NF"/>
              </a:rPr>
              <a:t>self</a:t>
            </a:r>
            <a:r>
              <a:rPr sz="1100" b="0">
                <a:solidFill>
                  <a:schemeClr val="bg1"/>
                </a:solidFill>
                <a:latin typeface="Maple Mono NF"/>
              </a:rPr>
              <a:t>.after_tools,</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"controller"</a:t>
            </a:r>
            <a:r>
              <a:rPr sz="1100" b="0">
                <a:solidFill>
                  <a:schemeClr val="bg1"/>
                </a:solidFill>
                <a:latin typeface="Maple Mono NF"/>
              </a:rPr>
              <a:t>: </a:t>
            </a:r>
            <a:r>
              <a:rPr sz="1100" b="0">
                <a:solidFill>
                  <a:schemeClr val="accent3">
                    <a:lumMod val="55000"/>
                    <a:lumOff val="45000"/>
                  </a:schemeClr>
                </a:solidFill>
                <a:latin typeface="Maple Mono NF"/>
              </a:rPr>
              <a:t>"controller"</a:t>
            </a:r>
            <a:r>
              <a:rPr sz="1100" b="0">
                <a:solidFill>
                  <a:schemeClr val="bg1"/>
                </a:solidFill>
                <a:latin typeface="Maple Mono NF"/>
              </a:rPr>
              <a:t>, </a:t>
            </a:r>
            <a:r>
              <a:rPr sz="1100" b="0">
                <a:solidFill>
                  <a:schemeClr val="accent3">
                    <a:lumMod val="55000"/>
                    <a:lumOff val="45000"/>
                  </a:schemeClr>
                </a:solidFill>
                <a:latin typeface="Maple Mono NF"/>
              </a:rPr>
              <a:t>"plan"</a:t>
            </a:r>
            <a:r>
              <a:rPr sz="1100" b="0">
                <a:solidFill>
                  <a:schemeClr val="bg1"/>
                </a:solidFill>
                <a:latin typeface="Maple Mono NF"/>
              </a:rPr>
              <a:t>: </a:t>
            </a:r>
            <a:r>
              <a:rPr sz="1100" b="0">
                <a:solidFill>
                  <a:schemeClr val="accent3">
                    <a:lumMod val="55000"/>
                    <a:lumOff val="45000"/>
                  </a:schemeClr>
                </a:solidFill>
                <a:latin typeface="Maple Mono NF"/>
              </a:rPr>
              <a:t>"plan"</a:t>
            </a:r>
            <a:r>
              <a:rPr sz="1100" b="0">
                <a:solidFill>
                  <a:schemeClr val="bg1"/>
                </a:solidFill>
                <a:latin typeface="Maple Mono NF"/>
              </a:rPr>
              <a:t>})</a:t>
            </a:r>
          </a:p>
          <a:p>
            <a:pPr algn="l">
              <a:buNone/>
            </a:pPr>
            <a:r>
              <a:rPr sz="1100" b="0">
                <a:solidFill>
                  <a:schemeClr val="bg1"/>
                </a:solidFill>
                <a:latin typeface="Maple Mono NF"/>
              </a:rPr>
              <a:t>graph.add_edge(</a:t>
            </a:r>
            <a:r>
              <a:rPr sz="1100" b="0">
                <a:solidFill>
                  <a:schemeClr val="accent3">
                    <a:lumMod val="55000"/>
                    <a:lumOff val="45000"/>
                  </a:schemeClr>
                </a:solidFill>
                <a:latin typeface="Maple Mono NF"/>
              </a:rPr>
              <a:t>"validate"</a:t>
            </a:r>
            <a:r>
              <a:rPr sz="1100" b="0">
                <a:solidFill>
                  <a:schemeClr val="bg1"/>
                </a:solidFill>
                <a:latin typeface="Maple Mono NF"/>
              </a:rPr>
              <a:t>, END)</a:t>
            </a:r>
          </a:p>
          <a:p>
            <a:pPr algn="l">
              <a:buNone/>
            </a:pPr>
            <a:r>
              <a:rPr sz="1100" b="0">
                <a:solidFill>
                  <a:schemeClr val="accent2"/>
                </a:solidFill>
                <a:latin typeface="Maple Mono NF"/>
              </a:rPr>
              <a:t>return</a:t>
            </a:r>
            <a:r>
              <a:rPr sz="1100" b="0">
                <a:solidFill>
                  <a:schemeClr val="bg1"/>
                </a:solidFill>
                <a:latin typeface="Maple Mono NF"/>
              </a:rPr>
              <a:t> graph.compile()</a:t>
            </a:r>
          </a:p>
        </p:txBody>
      </p:sp>
      <p:sp>
        <p:nvSpPr>
          <p:cNvPr id="10" name="Rectangle 9"/>
          <p:cNvSpPr/>
          <p:nvPr/>
        </p:nvSpPr>
        <p:spPr>
          <a:xfrm>
            <a:off x="319251" y="413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latin typeface="Maple Mono NF"/>
              </a:rPr>
              <a:t>compile()</a:t>
            </a:r>
            <a:r>
              <a:rPr sz="1200" b="1">
                <a:solidFill>
                  <a:schemeClr val="tx2"/>
                </a:solidFill>
              </a:rPr>
              <a:t> checks the declared graph connections and returns a graph that the runtime can execute.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Designing a state graph</a:t>
            </a:r>
          </a:p>
        </p:txBody>
      </p:sp>
      <p:sp>
        <p:nvSpPr>
          <p:cNvPr id="3" name="Content Placeholder 2"/>
          <p:cNvSpPr>
            <a:spLocks noGrp="1"/>
          </p:cNvSpPr>
          <p:nvPr>
            <p:ph idx="1"/>
          </p:nvPr>
        </p:nvSpPr>
        <p:spPr>
          <a:xfrm>
            <a:off x="319251" y="700000"/>
            <a:ext cx="6014545" cy="3190088"/>
          </a:xfrm>
        </p:spPr>
        <p:txBody>
          <a:bodyPr wrap="square" anchor="ctr">
            <a:normAutofit fontScale="92500" lnSpcReduction="20000"/>
          </a:bodyPr>
          <a:lstStyle/>
          <a:p>
            <a:pPr marL="0" indent="0">
              <a:buNone/>
            </a:pPr>
            <a:r>
              <a:rPr sz="1400" b="1">
                <a:solidFill>
                  <a:srgbClr val="28285E"/>
                </a:solidFill>
              </a:rPr>
              <a:t>Declare each field when you add the node that writes it.</a:t>
            </a:r>
          </a:p>
          <a:p>
            <a:pPr marL="400050" indent="-285750">
              <a:spcBef>
                <a:spcPts val="600"/>
              </a:spcBef>
              <a:spcAft>
                <a:spcPts val="600"/>
              </a:spcAft>
              <a:buClr>
                <a:srgbClr val="28285E"/>
              </a:buClr>
              <a:buSzPts val="1260"/>
              <a:buFont typeface="+mn-lt"/>
              <a:buChar char="●"/>
            </a:pPr>
            <a:r>
              <a:rPr sz="1400" b="1">
                <a:solidFill>
                  <a:schemeClr val="tx1"/>
                </a:solidFill>
              </a:rPr>
              <a:t>Specify the nodes</a:t>
            </a:r>
            <a:r>
              <a:rPr sz="1400" b="0">
                <a:solidFill>
                  <a:schemeClr val="tx1"/>
                </a:solidFill>
              </a:rPr>
              <a:t> and the rules that select which node runs next.</a:t>
            </a:r>
          </a:p>
          <a:p>
            <a:pPr marL="400050" indent="-285750">
              <a:spcBef>
                <a:spcPts val="600"/>
              </a:spcBef>
              <a:spcAft>
                <a:spcPts val="600"/>
              </a:spcAft>
              <a:buClr>
                <a:srgbClr val="28285E"/>
              </a:buClr>
              <a:buSzPts val="1260"/>
              <a:buFont typeface="+mn-lt"/>
              <a:buChar char="●"/>
            </a:pPr>
            <a:r>
              <a:rPr sz="1400" b="1">
                <a:solidFill>
                  <a:schemeClr val="tx1"/>
                </a:solidFill>
              </a:rPr>
              <a:t>Declare fields</a:t>
            </a:r>
            <a:r>
              <a:rPr sz="1400" b="0">
                <a:solidFill>
                  <a:schemeClr val="tx1"/>
                </a:solidFill>
              </a:rPr>
              <a:t> for values that nodes and routing functions read.</a:t>
            </a:r>
          </a:p>
          <a:p>
            <a:pPr marL="400050" indent="-285750">
              <a:spcBef>
                <a:spcPts val="600"/>
              </a:spcBef>
              <a:spcAft>
                <a:spcPts val="600"/>
              </a:spcAft>
              <a:buClr>
                <a:srgbClr val="28285E"/>
              </a:buClr>
              <a:buSzPts val="1260"/>
              <a:buFont typeface="+mn-lt"/>
              <a:buChar char="●"/>
            </a:pPr>
            <a:r>
              <a:rPr sz="1400" b="1">
                <a:solidFill>
                  <a:schemeClr val="tx1"/>
                </a:solidFill>
              </a:rPr>
              <a:t>Name the node</a:t>
            </a:r>
            <a:r>
              <a:rPr sz="1400" b="0">
                <a:solidFill>
                  <a:schemeClr val="tx1"/>
                </a:solidFill>
              </a:rPr>
              <a:t> that writes each field and when later nodes must stop using its old value.</a:t>
            </a:r>
          </a:p>
          <a:p>
            <a:pPr marL="400050" indent="-285750">
              <a:spcBef>
                <a:spcPts val="600"/>
              </a:spcBef>
              <a:spcAft>
                <a:spcPts val="600"/>
              </a:spcAft>
              <a:buClr>
                <a:srgbClr val="28285E"/>
              </a:buClr>
              <a:buSzPts val="1260"/>
              <a:buFont typeface="+mn-lt"/>
              <a:buChar char="●"/>
            </a:pPr>
            <a:r>
              <a:rPr sz="1400" b="1">
                <a:solidFill>
                  <a:schemeClr val="tx1"/>
                </a:solidFill>
              </a:rPr>
              <a:t>Choose each field's lifetime,</a:t>
            </a:r>
            <a:r>
              <a:rPr sz="1400" b="0">
                <a:solidFill>
                  <a:schemeClr val="tx1"/>
                </a:solidFill>
              </a:rPr>
              <a:t> then choose whether updates append, replace or accumulate values.</a:t>
            </a:r>
          </a:p>
          <a:p>
            <a:pPr marL="400050" indent="-285750">
              <a:spcBef>
                <a:spcPts val="600"/>
              </a:spcBef>
              <a:spcAft>
                <a:spcPts val="600"/>
              </a:spcAft>
              <a:buClr>
                <a:srgbClr val="28285E"/>
              </a:buClr>
              <a:buSzPts val="1260"/>
              <a:buFont typeface="+mn-lt"/>
              <a:buChar char="●"/>
            </a:pPr>
            <a:r>
              <a:rPr sz="1400" b="1">
                <a:solidFill>
                  <a:schemeClr val="tx1"/>
                </a:solidFill>
              </a:rPr>
              <a:t>Write the initial state </a:t>
            </a:r>
            <a:r>
              <a:rPr sz="1400" b="0">
                <a:solidFill>
                  <a:schemeClr val="tx1"/>
                </a:solidFill>
              </a:rPr>
              <a:t>with a value for every key.</a:t>
            </a:r>
          </a:p>
          <a:p>
            <a:pPr marL="400050" indent="-285750">
              <a:spcBef>
                <a:spcPts val="600"/>
              </a:spcBef>
              <a:spcAft>
                <a:spcPts val="600"/>
              </a:spcAft>
              <a:buClr>
                <a:srgbClr val="28285E"/>
              </a:buClr>
              <a:buSzPts val="1260"/>
              <a:buFont typeface="+mn-lt"/>
              <a:buChar char="●"/>
            </a:pPr>
            <a:r>
              <a:rPr sz="1400" b="1">
                <a:solidFill>
                  <a:schemeClr val="tx1"/>
                </a:solidFill>
              </a:rPr>
              <a:t>Make each node</a:t>
            </a:r>
            <a:r>
              <a:rPr sz="1400" b="0">
                <a:solidFill>
                  <a:schemeClr val="tx1"/>
                </a:solidFill>
              </a:rPr>
              <a:t> return a partial update containing only the fields it proposes to update.</a:t>
            </a:r>
          </a:p>
        </p:txBody>
      </p:sp>
      <p:sp>
        <p:nvSpPr>
          <p:cNvPr id="4" name="Rectangle 3"/>
          <p:cNvSpPr/>
          <p:nvPr/>
        </p:nvSpPr>
        <p:spPr>
          <a:xfrm>
            <a:off x="319251" y="4080088"/>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Each field retains a value that a later computation needs to read.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chemeClr val="tx2"/>
                </a:solidFill>
              </a:rPr>
              <a:t>Routing functions and conditional edges</a:t>
            </a:r>
          </a:p>
        </p:txBody>
      </p:sp>
      <p:sp>
        <p:nvSpPr>
          <p:cNvPr id="3" name="Rectangle 2"/>
          <p:cNvSpPr/>
          <p:nvPr/>
        </p:nvSpPr>
        <p:spPr>
          <a:xfrm>
            <a:off x="319251" y="1700000"/>
            <a:ext cx="6014545" cy="1300000"/>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routing function reads the record after the runtime merges the node's update. It selects the next node or ends execution.</a:t>
            </a:r>
          </a:p>
          <a:p>
            <a:pPr>
              <a:spcBef>
                <a:spcPts val="1000"/>
              </a:spcBef>
            </a:pPr>
            <a:r>
              <a:rPr sz="1400" b="0">
                <a:solidFill>
                  <a:schemeClr val="tx2"/>
                </a:solidFill>
              </a:rPr>
              <a:t>The next section explains how routing functions select a destination, how feedback edges return control for revision or repair, and what a trace establishes about a run's ending.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000" y="1863864"/>
            <a:ext cx="6000000" cy="1415772"/>
          </a:xfrm>
          <a:prstGeom prst="rect">
            <a:avLst/>
          </a:prstGeom>
          <a:noFill/>
        </p:spPr>
        <p:txBody>
          <a:bodyPr wrap="square" anchor="ctr">
            <a:spAutoFit/>
          </a:bodyPr>
          <a:lstStyle/>
          <a:p>
            <a:pPr algn="ctr"/>
            <a:r>
              <a:rPr sz="4000" b="1">
                <a:solidFill>
                  <a:schemeClr val="tx2"/>
                </a:solidFill>
                <a:latin typeface="+mj-lt"/>
              </a:rPr>
              <a:t>Routing, feedback, and stopping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Routing functions and conditional edges</a:t>
            </a:r>
          </a:p>
        </p:txBody>
      </p:sp>
      <p:sp>
        <p:nvSpPr>
          <p:cNvPr id="3" name="Content Placeholder 2"/>
          <p:cNvSpPr>
            <a:spLocks noGrp="1"/>
          </p:cNvSpPr>
          <p:nvPr>
            <p:ph idx="1"/>
          </p:nvPr>
        </p:nvSpPr>
        <p:spPr>
          <a:xfrm>
            <a:off x="319251" y="700000"/>
            <a:ext cx="6014545" cy="2440280"/>
          </a:xfrm>
        </p:spPr>
        <p:txBody>
          <a:bodyPr wrap="square" anchor="ctr">
            <a:normAutofit fontScale="92500"/>
          </a:bodyPr>
          <a:lstStyle/>
          <a:p>
            <a:pPr marL="0" indent="0">
              <a:buNone/>
            </a:pPr>
            <a:r>
              <a:rPr sz="1400" b="1">
                <a:solidFill>
                  <a:srgbClr val="28285E"/>
                </a:solidFill>
              </a:rPr>
              <a:t>The routing function selects the next step by testing values in the record.</a:t>
            </a:r>
          </a:p>
          <a:p>
            <a:pPr marL="400050" indent="-285750">
              <a:spcBef>
                <a:spcPts val="600"/>
              </a:spcBef>
              <a:spcAft>
                <a:spcPts val="600"/>
              </a:spcAft>
              <a:buClr>
                <a:srgbClr val="28285E"/>
              </a:buClr>
              <a:buSzPts val="1260"/>
              <a:buFont typeface="+mn-lt"/>
              <a:buChar char="●"/>
            </a:pPr>
            <a:r>
              <a:rPr sz="1400" b="1">
                <a:solidFill>
                  <a:schemeClr val="tx1"/>
                </a:solidFill>
              </a:rPr>
              <a:t>Proposal.</a:t>
            </a:r>
            <a:r>
              <a:rPr sz="1400" b="0">
                <a:solidFill>
                  <a:schemeClr val="tx1"/>
                </a:solidFill>
              </a:rPr>
              <a:t> The model emits a tool request, plan, candidate patch, or verdict.</a:t>
            </a:r>
          </a:p>
          <a:p>
            <a:pPr marL="400050" indent="-285750">
              <a:spcBef>
                <a:spcPts val="600"/>
              </a:spcBef>
              <a:spcAft>
                <a:spcPts val="600"/>
              </a:spcAft>
              <a:buClr>
                <a:srgbClr val="28285E"/>
              </a:buClr>
              <a:buSzPts val="1260"/>
              <a:buFont typeface="+mn-lt"/>
              <a:buChar char="●"/>
            </a:pPr>
            <a:r>
              <a:rPr sz="1400" b="1">
                <a:solidFill>
                  <a:schemeClr val="tx1"/>
                </a:solidFill>
              </a:rPr>
              <a:t>Record.</a:t>
            </a:r>
            <a:r>
              <a:rPr sz="1400" b="0">
                <a:solidFill>
                  <a:schemeClr val="tx1"/>
                </a:solidFill>
              </a:rPr>
              <a:t> The runtime merges the node's update into state using reducers. It also records what happened in the trace.</a:t>
            </a:r>
          </a:p>
          <a:p>
            <a:pPr marL="400050" indent="-285750">
              <a:spcBef>
                <a:spcPts val="600"/>
              </a:spcBef>
              <a:spcAft>
                <a:spcPts val="600"/>
              </a:spcAft>
              <a:buClr>
                <a:srgbClr val="28285E"/>
              </a:buClr>
              <a:buSzPts val="1260"/>
              <a:buFont typeface="+mn-lt"/>
              <a:buChar char="●"/>
            </a:pPr>
            <a:r>
              <a:rPr sz="1400" b="1">
                <a:solidFill>
                  <a:schemeClr val="tx1"/>
                </a:solidFill>
              </a:rPr>
              <a:t>Decision.</a:t>
            </a:r>
            <a:r>
              <a:rPr sz="1400" b="0">
                <a:solidFill>
                  <a:schemeClr val="tx1"/>
                </a:solidFill>
              </a:rPr>
              <a:t> The routing function tests fields in the merged record. The programmer's guards and limits determine which destination it returns.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conditional edge combines a location's outgoing transitions with a routing function. The function selects one destination by testing guards, conditions on the merged record.</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field by identifies whether the tested value came from the model or the runtime.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Routing after the controller</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The routing function reads the merged record and returns the next node's name, or </a:t>
            </a:r>
            <a:r>
              <a:rPr sz="1400" b="0">
                <a:solidFill>
                  <a:srgbClr val="28285E"/>
                </a:solidFill>
                <a:latin typeface="Maple Mono NF"/>
              </a:rPr>
              <a:t>END</a:t>
            </a:r>
            <a:r>
              <a:rPr sz="1400" b="1">
                <a:solidFill>
                  <a:srgbClr val="28285E"/>
                </a:solidFill>
              </a:rPr>
              <a:t> to stop the run.</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graph.py, after_controller, lines 452 to 460. Trace calls omitted</a:t>
            </a:r>
          </a:p>
        </p:txBody>
      </p:sp>
      <p:sp>
        <p:nvSpPr>
          <p:cNvPr id="5" name="CodeWindow"/>
          <p:cNvSpPr/>
          <p:nvPr/>
        </p:nvSpPr>
        <p:spPr>
          <a:xfrm>
            <a:off x="319251" y="1650000"/>
            <a:ext cx="6014545" cy="166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26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after_controller(</a:t>
            </a:r>
            <a:r>
              <a:rPr sz="1100" b="0">
                <a:solidFill>
                  <a:schemeClr val="accent2"/>
                </a:solidFill>
                <a:latin typeface="Maple Mono NF"/>
              </a:rPr>
              <a:t>self</a:t>
            </a:r>
            <a:r>
              <a:rPr sz="1100" b="0">
                <a:solidFill>
                  <a:schemeClr val="bg1"/>
                </a:solidFill>
                <a:latin typeface="Maple Mono NF"/>
              </a:rPr>
              <a:t>, state: AgentState) -&gt; str:</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"status"</a:t>
            </a:r>
            <a:r>
              <a:rPr sz="1100" b="0">
                <a:solidFill>
                  <a:schemeClr val="bg1"/>
                </a:solidFill>
                <a:latin typeface="Maple Mono NF"/>
              </a:rPr>
              <a:t>] != RUNNING:</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END</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"messages"</a:t>
            </a:r>
            <a:r>
              <a:rPr sz="1100" b="0">
                <a:solidFill>
                  <a:schemeClr val="bg1"/>
                </a:solidFill>
                <a:latin typeface="Maple Mono NF"/>
              </a:rPr>
              <a:t>][-</a:t>
            </a:r>
            <a:r>
              <a:rPr sz="1100" b="0">
                <a:solidFill>
                  <a:schemeClr val="accent5">
                    <a:lumMod val="45000"/>
                    <a:lumOff val="55000"/>
                  </a:schemeClr>
                </a:solidFill>
                <a:latin typeface="Maple Mono NF"/>
              </a:rPr>
              <a:t>1</a:t>
            </a:r>
            <a:r>
              <a:rPr sz="1100" b="0">
                <a:solidFill>
                  <a:schemeClr val="bg1"/>
                </a:solidFill>
                <a:latin typeface="Maple Mono NF"/>
              </a:rPr>
              <a:t>].</a:t>
            </a:r>
            <a:r>
              <a:rPr sz="1100" b="1">
                <a:solidFill>
                  <a:schemeClr val="accent4">
                    <a:lumMod val="70000"/>
                    <a:lumOff val="30000"/>
                  </a:schemeClr>
                </a:solidFill>
                <a:latin typeface="Maple Mono NF"/>
              </a:rPr>
              <a:t>tool_calls</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"tools"</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"submit"</a:t>
            </a:r>
          </a:p>
        </p:txBody>
      </p:sp>
      <p:sp>
        <p:nvSpPr>
          <p:cNvPr id="10" name="Rectangle 9"/>
          <p:cNvSpPr/>
          <p:nvPr/>
        </p:nvSpPr>
        <p:spPr>
          <a:xfrm>
            <a:off x="319251" y="350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For an active run, the routing function returns tools if the last reply contains tool requests, and submit otherwise.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same graph, different paths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compiled graph fixes the possible transitions. During a run, routing functions use the current record to select destinations.</a:t>
            </a:r>
          </a:p>
        </p:txBody>
      </p:sp>
      <p:pic>
        <p:nvPicPr>
          <p:cNvPr id="4" name="Figure trace-tree" descr="image.png"/>
          <p:cNvPicPr>
            <a:picLocks noChangeAspect="1"/>
          </p:cNvPicPr>
          <p:nvPr/>
        </p:nvPicPr>
        <p:blipFill>
          <a:blip r:embed="rId3"/>
          <a:stretch>
            <a:fillRect/>
          </a:stretch>
        </p:blipFill>
        <p:spPr>
          <a:xfrm>
            <a:off x="250148" y="1390000"/>
            <a:ext cx="6152752" cy="1612270"/>
          </a:xfrm>
          <a:prstGeom prst="rect">
            <a:avLst/>
          </a:prstGeom>
        </p:spPr>
      </p:pic>
      <p:sp>
        <p:nvSpPr>
          <p:cNvPr id="5" name="Rectangle 4"/>
          <p:cNvSpPr/>
          <p:nvPr/>
        </p:nvSpPr>
        <p:spPr>
          <a:xfrm>
            <a:off x="319251" y="3236877"/>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can visit the controller twelve times. Each visit leads to a new routing decision within the same graph.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Feedback edges: revision and repair</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A feedback edge sends execution back to a location visited earlier in the run. Its trigger and the information passed back must be specified.</a:t>
            </a:r>
          </a:p>
        </p:txBody>
      </p:sp>
      <p:pic>
        <p:nvPicPr>
          <p:cNvPr id="4" name="Figure efsm-feedback" descr="image.png"/>
          <p:cNvPicPr>
            <a:picLocks noChangeAspect="1"/>
          </p:cNvPicPr>
          <p:nvPr/>
        </p:nvPicPr>
        <p:blipFill>
          <a:blip r:embed="rId3"/>
          <a:stretch>
            <a:fillRect/>
          </a:stretch>
        </p:blipFill>
        <p:spPr>
          <a:xfrm>
            <a:off x="279230" y="1390000"/>
            <a:ext cx="6094589" cy="2634732"/>
          </a:xfrm>
          <a:prstGeom prst="rect">
            <a:avLst/>
          </a:prstGeom>
        </p:spPr>
      </p:pic>
      <p:sp>
        <p:nvSpPr>
          <p:cNvPr id="5" name="Rectangle 4"/>
          <p:cNvSpPr/>
          <p:nvPr/>
        </p:nvSpPr>
        <p:spPr>
          <a:xfrm>
            <a:off x="319251" y="4227037"/>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Revision returns execution to plan after the first stall. Repair returns execution to controller with the reasons a patch failed its checks.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Feedback edges and their bounds</a:t>
            </a:r>
          </a:p>
        </p:txBody>
      </p:sp>
      <p:sp>
        <p:nvSpPr>
          <p:cNvPr id="3" name="Content Placeholder 2"/>
          <p:cNvSpPr>
            <a:spLocks noGrp="1"/>
          </p:cNvSpPr>
          <p:nvPr>
            <p:ph idx="1"/>
          </p:nvPr>
        </p:nvSpPr>
        <p:spPr>
          <a:xfrm>
            <a:off x="319251" y="700000"/>
            <a:ext cx="6014545" cy="500000"/>
          </a:xfrm>
        </p:spPr>
        <p:txBody>
          <a:bodyPr wrap="square" anchor="ctr">
            <a:normAutofit fontScale="85000" lnSpcReduction="10000"/>
          </a:bodyPr>
          <a:lstStyle/>
          <a:p>
            <a:pPr marL="0" indent="0">
              <a:buNone/>
            </a:pPr>
            <a:r>
              <a:rPr sz="1400" b="1">
                <a:solidFill>
                  <a:srgbClr val="28285E"/>
                </a:solidFill>
              </a:rPr>
              <a:t>Two feedback edges are implemented. A third, for new attempts, is proposed.</a:t>
            </a:r>
          </a:p>
        </p:txBody>
      </p:sp>
      <p:graphicFrame>
        <p:nvGraphicFramePr>
          <p:cNvPr id="4" name="Table 3"/>
          <p:cNvGraphicFramePr>
            <a:graphicFrameLocks noGrp="1"/>
          </p:cNvGraphicFramePr>
          <p:nvPr/>
        </p:nvGraphicFramePr>
        <p:xfrm>
          <a:off x="319251" y="1390000"/>
          <a:ext cx="6014545" cy="2719350"/>
        </p:xfrm>
        <a:graphic>
          <a:graphicData uri="http://schemas.openxmlformats.org/drawingml/2006/table">
            <a:tbl>
              <a:tblPr firstRow="1" bandRow="1">
                <a:tableStyleId>{5C22544A-7EE6-4342-B048-85BDC9FD1C3A}</a:tableStyleId>
              </a:tblPr>
              <a:tblGrid>
                <a:gridCol w="125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21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buNone/>
                      </a:pPr>
                      <a:r>
                        <a:rPr sz="1000" b="1">
                          <a:solidFill>
                            <a:schemeClr val="tx1"/>
                          </a:solidFill>
                        </a:rPr>
                        <a:t>Feedback edge</a:t>
                      </a:r>
                    </a:p>
                  </a:txBody>
                  <a:tcPr marL="95250" marR="95250" marT="47625" marB="47625">
                    <a:lnB w="12700" cap="flat" cmpd="sng" algn="ctr">
                      <a:solidFill>
                        <a:schemeClr val="tx1"/>
                      </a:solidFill>
                    </a:lnB>
                    <a:noFill/>
                  </a:tcPr>
                </a:tc>
                <a:tc>
                  <a:txBody>
                    <a:bodyPr/>
                    <a:lstStyle/>
                    <a:p>
                      <a:pPr>
                        <a:buNone/>
                      </a:pPr>
                      <a:r>
                        <a:rPr sz="1000" b="1">
                          <a:solidFill>
                            <a:schemeClr val="tx1"/>
                          </a:solidFill>
                        </a:rPr>
                        <a:t>Trigger</a:t>
                      </a:r>
                    </a:p>
                  </a:txBody>
                  <a:tcPr marL="95250" marR="95250" marT="47625" marB="47625">
                    <a:lnB w="12700" cap="flat" cmpd="sng" algn="ctr">
                      <a:solidFill>
                        <a:schemeClr val="tx1"/>
                      </a:solidFill>
                    </a:lnB>
                    <a:noFill/>
                  </a:tcPr>
                </a:tc>
                <a:tc>
                  <a:txBody>
                    <a:bodyPr/>
                    <a:lstStyle/>
                    <a:p>
                      <a:pPr>
                        <a:buNone/>
                      </a:pPr>
                      <a:r>
                        <a:rPr sz="1000" b="1">
                          <a:solidFill>
                            <a:schemeClr val="tx1"/>
                          </a:solidFill>
                        </a:rPr>
                        <a:t>Information and reset</a:t>
                      </a:r>
                    </a:p>
                  </a:txBody>
                  <a:tcPr marL="95250" marR="95250" marT="47625" marB="47625">
                    <a:lnB w="12700" cap="flat" cmpd="sng" algn="ctr">
                      <a:solidFill>
                        <a:schemeClr val="tx1"/>
                      </a:solidFill>
                    </a:lnB>
                    <a:noFill/>
                  </a:tcPr>
                </a:tc>
                <a:tc>
                  <a:txBody>
                    <a:bodyPr/>
                    <a:lstStyle/>
                    <a:p>
                      <a:pPr>
                        <a:buNone/>
                      </a:pPr>
                      <a:r>
                        <a:rPr sz="1000" b="1">
                          <a:solidFill>
                            <a:schemeClr val="tx1"/>
                          </a:solidFill>
                        </a:rPr>
                        <a:t>Bound</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Revision: tools to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last three observations under the current plan are identical and include no successful edit.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plan node uses the stall reason to revise the old plan, clears the handoff field, and limits later stall checks to the new plan's observations.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runtime permits one revision per run. A second stall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Repair: submit to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At least one of the three checks fails.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runtime adds reasons to the conversation. No fields are reset. Later submissions replace the patch and check results.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call budget limits the number of repairs.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New attempt (proposed)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validator rejects the patch, and the attempt count is below its limit.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runtime keeps the reflection and clears all attempt-lifetime fields, including the plan, patch and check results.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attempt counter survives resets. The call budget also applies.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4317638"/>
            <a:ext cx="601454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4 in the notes. A feedback edge must have its own limit or rely on a limit for the whole run.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proposed feedback edge for new attempts</a:t>
            </a:r>
          </a:p>
        </p:txBody>
      </p:sp>
      <p:sp>
        <p:nvSpPr>
          <p:cNvPr id="3" name="Content Placeholder 2"/>
          <p:cNvSpPr>
            <a:spLocks noGrp="1"/>
          </p:cNvSpPr>
          <p:nvPr>
            <p:ph idx="1"/>
          </p:nvPr>
        </p:nvSpPr>
        <p:spPr>
          <a:xfrm>
            <a:off x="319251" y="700000"/>
            <a:ext cx="6014545" cy="731648"/>
          </a:xfrm>
        </p:spPr>
        <p:txBody>
          <a:bodyPr wrap="square" anchor="ctr">
            <a:normAutofit fontScale="70000" lnSpcReduction="20000"/>
          </a:bodyPr>
          <a:lstStyle/>
          <a:p>
            <a:pPr marL="0" indent="0">
              <a:buNone/>
            </a:pPr>
            <a:r>
              <a:rPr sz="1400" b="1">
                <a:solidFill>
                  <a:srgbClr val="28285E"/>
                </a:solidFill>
              </a:rPr>
              <a:t>The current agent stops when the validator rejects a patch. The extension would write a reflection describing the failure, then start a new attempt.</a:t>
            </a:r>
          </a:p>
        </p:txBody>
      </p:sp>
      <p:pic>
        <p:nvPicPr>
          <p:cNvPr id="4" name="Figure s3-control-extension" descr="s3-control-extension.png"/>
          <p:cNvPicPr>
            <a:picLocks noChangeAspect="1"/>
          </p:cNvPicPr>
          <p:nvPr/>
        </p:nvPicPr>
        <p:blipFill>
          <a:blip r:embed="rId3"/>
          <a:stretch>
            <a:fillRect/>
          </a:stretch>
        </p:blipFill>
        <p:spPr>
          <a:xfrm>
            <a:off x="250148" y="1621648"/>
            <a:ext cx="6152752" cy="2036641"/>
          </a:xfrm>
          <a:prstGeom prst="rect">
            <a:avLst/>
          </a:prstGeom>
        </p:spPr>
      </p:pic>
      <p:sp>
        <p:nvSpPr>
          <p:cNvPr id="5" name="Rectangle 4"/>
          <p:cNvSpPr/>
          <p:nvPr/>
        </p:nvSpPr>
        <p:spPr>
          <a:xfrm>
            <a:off x="319251" y="3848289"/>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6 in the notes. The reset clears the plan, patch and checks, while the reflection and the attempt and call counters persist.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 bounds and termination</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An acceptance predicate is a condition for declaring success. It does not ensure that the run will reach that condition.</a:t>
            </a:r>
          </a:p>
          <a:p>
            <a:pPr marL="400050" indent="-285750">
              <a:spcBef>
                <a:spcPts val="600"/>
              </a:spcBef>
              <a:spcAft>
                <a:spcPts val="600"/>
              </a:spcAft>
              <a:buClr>
                <a:srgbClr val="28285E"/>
              </a:buClr>
              <a:buSzPts val="1260"/>
              <a:buFont typeface="+mn-lt"/>
              <a:buChar char="●"/>
            </a:pPr>
            <a:r>
              <a:rPr sz="1400" b="0">
                <a:solidFill>
                  <a:schemeClr val="tx1"/>
                </a:solidFill>
              </a:rPr>
              <a:t>The number of calls remaining is a variant when every cycle makes a model call and each step between calls returns or times out.</a:t>
            </a:r>
          </a:p>
          <a:p>
            <a:pPr marL="400050" indent="-285750">
              <a:spcBef>
                <a:spcPts val="600"/>
              </a:spcBef>
              <a:spcAft>
                <a:spcPts val="600"/>
              </a:spcAft>
              <a:buClr>
                <a:srgbClr val="28285E"/>
              </a:buClr>
              <a:buSzPts val="1260"/>
              <a:buFont typeface="+mn-lt"/>
              <a:buChar char="●"/>
            </a:pPr>
            <a:r>
              <a:rPr sz="1400" b="0">
                <a:solidFill>
                  <a:schemeClr val="tx1"/>
                </a:solidFill>
              </a:rPr>
              <a:t>If a cycle makes no model call, the remaining call budget stays unchanged. That cycle needs its own limit.</a:t>
            </a:r>
          </a:p>
          <a:p>
            <a:pPr marL="400050" indent="-285750">
              <a:spcBef>
                <a:spcPts val="600"/>
              </a:spcBef>
              <a:spcAft>
                <a:spcPts val="600"/>
              </a:spcAft>
              <a:buClr>
                <a:srgbClr val="28285E"/>
              </a:buClr>
              <a:buSzPts val="1260"/>
              <a:buFont typeface="+mn-lt"/>
              <a:buChar char="●"/>
            </a:pPr>
            <a:r>
              <a:rPr sz="1400" b="0">
                <a:solidFill>
                  <a:schemeClr val="tx1"/>
                </a:solidFill>
              </a:rPr>
              <a:t>The stall check detects identical results. A run that returns different irrelevant results can continue without progress.</a:t>
            </a:r>
          </a:p>
        </p:txBody>
      </p:sp>
      <p:sp>
        <p:nvSpPr>
          <p:cNvPr id="4" name="Rectangle 3"/>
          <p:cNvSpPr/>
          <p:nvPr/>
        </p:nvSpPr>
        <p:spPr>
          <a:xfrm>
            <a:off x="319251" y="3330280"/>
            <a:ext cx="6014545" cy="8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Here, the loop variant is a nonnegative integer that decreases on every continuing cycle. It bounds the number of cycles because it cannot fall below zero.</a:t>
            </a:r>
          </a:p>
        </p:txBody>
      </p:sp>
      <p:sp>
        <p:nvSpPr>
          <p:cNvPr id="5" name="Rectangle 4"/>
          <p:cNvSpPr/>
          <p:nvPr/>
        </p:nvSpPr>
        <p:spPr>
          <a:xfrm>
            <a:off x="319251" y="4350280"/>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Detecting one failure pattern does not prove termination.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Checking the budget before each model call</a:t>
            </a:r>
          </a:p>
        </p:txBody>
      </p:sp>
      <p:sp>
        <p:nvSpPr>
          <p:cNvPr id="3" name="Content Placeholder 2"/>
          <p:cNvSpPr>
            <a:spLocks noGrp="1"/>
          </p:cNvSpPr>
          <p:nvPr>
            <p:ph idx="1"/>
          </p:nvPr>
        </p:nvSpPr>
        <p:spPr>
          <a:xfrm>
            <a:off x="319251" y="700000"/>
            <a:ext cx="6014545" cy="731648"/>
          </a:xfrm>
        </p:spPr>
        <p:txBody>
          <a:bodyPr wrap="square" anchor="ctr">
            <a:normAutofit fontScale="70000" lnSpcReduction="20000"/>
          </a:bodyPr>
          <a:lstStyle/>
          <a:p>
            <a:pPr marL="0" indent="0">
              <a:buNone/>
            </a:pPr>
            <a:r>
              <a:rPr sz="1400" b="1">
                <a:solidFill>
                  <a:srgbClr val="28285E"/>
                </a:solidFill>
              </a:rPr>
              <a:t>The budget, stall check and recursion limit can end a run before a verdict. Each model node checks the call budget before calling the model.</a:t>
            </a:r>
          </a:p>
        </p:txBody>
      </p:sp>
      <p:sp>
        <p:nvSpPr>
          <p:cNvPr id="4" name="TextBox 3"/>
          <p:cNvSpPr txBox="1"/>
          <p:nvPr/>
        </p:nvSpPr>
        <p:spPr>
          <a:xfrm>
            <a:off x="319251" y="1621648"/>
            <a:ext cx="6014545" cy="200000"/>
          </a:xfrm>
          <a:prstGeom prst="rect">
            <a:avLst/>
          </a:prstGeom>
          <a:noFill/>
        </p:spPr>
        <p:txBody>
          <a:bodyPr wrap="none" lIns="0" tIns="0" rIns="0" bIns="0">
            <a:spAutoFit/>
          </a:bodyPr>
          <a:lstStyle/>
          <a:p>
            <a:r>
              <a:rPr sz="1200" b="1">
                <a:solidFill>
                  <a:srgbClr val="28285E"/>
                </a:solidFill>
              </a:rPr>
              <a:t>graph.py, _admit, lines 174 to 187. </a:t>
            </a:r>
            <a:r>
              <a:rPr sz="1200" b="0">
                <a:solidFill>
                  <a:srgbClr val="28285E"/>
                </a:solidFill>
                <a:latin typeface="Maple Mono NF"/>
              </a:rPr>
              <a:t>config.py</a:t>
            </a:r>
            <a:r>
              <a:rPr sz="1200" b="1">
                <a:solidFill>
                  <a:srgbClr val="28285E"/>
                </a:solidFill>
              </a:rPr>
              <a:t>, line 41. Comments omitted.</a:t>
            </a:r>
          </a:p>
        </p:txBody>
      </p:sp>
      <p:sp>
        <p:nvSpPr>
          <p:cNvPr id="5" name="CodeWindow"/>
          <p:cNvSpPr/>
          <p:nvPr/>
        </p:nvSpPr>
        <p:spPr>
          <a:xfrm>
            <a:off x="319251" y="1881648"/>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925464"/>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925464"/>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925464"/>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2211648"/>
            <a:ext cx="5714545" cy="147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_admit(</a:t>
            </a:r>
            <a:r>
              <a:rPr sz="1100" b="0">
                <a:solidFill>
                  <a:schemeClr val="accent2"/>
                </a:solidFill>
                <a:latin typeface="Maple Mono NF"/>
              </a:rPr>
              <a:t>self</a:t>
            </a:r>
            <a:r>
              <a:rPr sz="1100" b="0">
                <a:solidFill>
                  <a:schemeClr val="bg1"/>
                </a:solidFill>
                <a:latin typeface="Maple Mono NF"/>
              </a:rPr>
              <a:t>, state: AgentState) -&gt; dict |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state[</a:t>
            </a:r>
            <a:r>
              <a:rPr sz="1100" b="0">
                <a:solidFill>
                  <a:schemeClr val="accent3">
                    <a:lumMod val="55000"/>
                    <a:lumOff val="45000"/>
                  </a:schemeClr>
                </a:solidFill>
                <a:latin typeface="Maple Mono NF"/>
              </a:rPr>
              <a:t>"model_calls"</a:t>
            </a:r>
            <a:r>
              <a:rPr sz="1100" b="0">
                <a:solidFill>
                  <a:schemeClr val="bg1"/>
                </a:solidFill>
                <a:latin typeface="Maple Mono NF"/>
              </a:rPr>
              <a:t>] </a:t>
            </a:r>
            <a:r>
              <a:rPr sz="1100" b="1">
                <a:solidFill>
                  <a:schemeClr val="accent4">
                    <a:lumMod val="70000"/>
                    <a:lumOff val="30000"/>
                  </a:schemeClr>
                </a:solidFill>
                <a:latin typeface="Maple Mono NF"/>
              </a:rPr>
              <a:t>&gt;= self.config.budget</a:t>
            </a:r>
            <a:r>
              <a:rPr sz="1100" b="0">
                <a:solidFill>
                  <a:schemeClr val="bg1"/>
                </a:solidFill>
                <a:latin typeface="Maple Mono NF"/>
              </a:rPr>
              <a:t>:</a:t>
            </a:r>
          </a:p>
          <a:p>
            <a:pPr algn="l">
              <a:buNone/>
            </a:pPr>
            <a:r>
              <a:rPr sz="1100" b="0">
                <a:solidFill>
                  <a:schemeClr val="accent6"/>
                </a:solidFill>
                <a:latin typeface="Maple Mono NF"/>
              </a:rPr>
              <a:t>        # ours: budget_exhausted routing event omitted</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3">
                    <a:lumMod val="55000"/>
                    <a:lumOff val="45000"/>
                  </a:schemeClr>
                </a:solidFill>
                <a:latin typeface="Maple Mono NF"/>
              </a:rPr>
              <a:t>"status"</a:t>
            </a:r>
            <a:r>
              <a:rPr sz="1100" b="0">
                <a:solidFill>
                  <a:schemeClr val="bg1"/>
                </a:solidFill>
                <a:latin typeface="Maple Mono NF"/>
              </a:rPr>
              <a:t>: TerminalStatus.BUDGET_EXHAUSTED}</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a:t>
            </a:r>
            <a:r>
              <a:rPr sz="1100" b="0">
                <a:solidFill>
                  <a:schemeClr val="accent2"/>
                </a:solidFill>
                <a:latin typeface="Maple Mono NF"/>
              </a:rPr>
              <a:t>None</a:t>
            </a:r>
          </a:p>
          <a:p>
            <a:pPr algn="l">
              <a:buNone/>
            </a:pPr>
            <a:endParaRPr sz="1100" b="0">
              <a:solidFill>
                <a:schemeClr val="accent2"/>
              </a:solidFill>
              <a:latin typeface="Maple Mono NF"/>
            </a:endParaRPr>
          </a:p>
          <a:p>
            <a:pPr algn="l">
              <a:buNone/>
            </a:pPr>
            <a:r>
              <a:rPr sz="1100" b="0">
                <a:solidFill>
                  <a:schemeClr val="bg1"/>
                </a:solidFill>
                <a:latin typeface="Maple Mono NF"/>
              </a:rPr>
              <a:t>budget: int = </a:t>
            </a:r>
            <a:r>
              <a:rPr sz="1100" b="0">
                <a:solidFill>
                  <a:schemeClr val="accent5">
                    <a:lumMod val="45000"/>
                    <a:lumOff val="55000"/>
                  </a:schemeClr>
                </a:solidFill>
                <a:latin typeface="Maple Mono NF"/>
              </a:rPr>
              <a:t>40</a:t>
            </a:r>
          </a:p>
        </p:txBody>
      </p:sp>
      <p:sp>
        <p:nvSpPr>
          <p:cNvPr id="10" name="Rectangle 9"/>
          <p:cNvSpPr/>
          <p:nvPr/>
        </p:nvSpPr>
        <p:spPr>
          <a:xfrm>
            <a:off x="319251" y="394164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first stall triggers plan revision. The second ends the run. The recursion limit bounds the number of runtime steps, called supersteps.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trace establishes</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The three claims are that execution stopped, acceptance passed, and the artifact meets the task's postcondition.</a:t>
            </a:r>
          </a:p>
          <a:p>
            <a:pPr marL="400050" indent="-285750">
              <a:spcBef>
                <a:spcPts val="600"/>
              </a:spcBef>
              <a:spcAft>
                <a:spcPts val="600"/>
              </a:spcAft>
              <a:buClr>
                <a:srgbClr val="28285E"/>
              </a:buClr>
              <a:buSzPts val="1260"/>
              <a:buFont typeface="+mn-lt"/>
              <a:buChar char="●"/>
            </a:pPr>
            <a:r>
              <a:rPr sz="1400" b="0">
                <a:solidFill>
                  <a:schemeClr val="tx1"/>
                </a:solidFill>
              </a:rPr>
              <a:t>A terminal event establishes that execution terminated.</a:t>
            </a:r>
          </a:p>
          <a:p>
            <a:pPr marL="400050" indent="-285750">
              <a:spcBef>
                <a:spcPts val="600"/>
              </a:spcBef>
              <a:spcAft>
                <a:spcPts val="600"/>
              </a:spcAft>
              <a:buClr>
                <a:srgbClr val="28285E"/>
              </a:buClr>
              <a:buSzPts val="1260"/>
              <a:buFont typeface="+mn-lt"/>
              <a:buChar char="●"/>
            </a:pPr>
            <a:r>
              <a:rPr sz="1400" b="0">
                <a:solidFill>
                  <a:schemeClr val="tx1"/>
                </a:solidFill>
              </a:rPr>
              <a:t>A terminal event with status accepted establishes that the acceptance procedure passed.</a:t>
            </a:r>
          </a:p>
          <a:p>
            <a:pPr marL="400050" indent="-285750">
              <a:spcBef>
                <a:spcPts val="600"/>
              </a:spcBef>
              <a:spcAft>
                <a:spcPts val="600"/>
              </a:spcAft>
              <a:buClr>
                <a:srgbClr val="28285E"/>
              </a:buClr>
              <a:buSzPts val="1260"/>
              <a:buFont typeface="+mn-lt"/>
              <a:buChar char="●"/>
            </a:pPr>
            <a:r>
              <a:rPr sz="1400" b="0">
                <a:solidFill>
                  <a:schemeClr val="tx1"/>
                </a:solidFill>
              </a:rPr>
              <a:t>No trace event establishes that the artifact meets the task's postcondition, the condition the finished artifact must satisfy.</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trace records the outcome of the acceptance checks. It does not establish that the patch is correct.</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may propose that the work is finished. The runtime checks its completion rules and sets the run's terminal status.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Terminal statuses and trace closure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When a run ends normally, its trace must contain a terminal event. Otherwise, closing the trace raises </a:t>
            </a:r>
            <a:r>
              <a:rPr sz="1400" b="0">
                <a:solidFill>
                  <a:srgbClr val="28285E"/>
                </a:solidFill>
                <a:latin typeface="Maple Mono NF"/>
              </a:rPr>
              <a:t>NoTerminalStatus</a:t>
            </a:r>
            <a:r>
              <a:rPr sz="1400" b="1">
                <a:solidFill>
                  <a:srgbClr val="28285E"/>
                </a:solidFill>
              </a:rPr>
              <a:t>.</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trace.py, lines 36 to 47 and 100 to 101. Comments omitted.</a:t>
            </a:r>
          </a:p>
        </p:txBody>
      </p:sp>
      <p:sp>
        <p:nvSpPr>
          <p:cNvPr id="5" name="CodeWindow"/>
          <p:cNvSpPr/>
          <p:nvPr/>
        </p:nvSpPr>
        <p:spPr>
          <a:xfrm>
            <a:off x="319251" y="1650000"/>
            <a:ext cx="6014545" cy="229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890000"/>
          </a:xfrm>
          <a:prstGeom prst="rect">
            <a:avLst/>
          </a:prstGeom>
          <a:noFill/>
        </p:spPr>
        <p:txBody>
          <a:bodyPr wrap="none" lIns="0" tIns="0" rIns="0" bIns="0" anchor="t">
            <a:spAutoFit/>
          </a:bodyPr>
          <a:lstStyle/>
          <a:p>
            <a:pPr algn="l">
              <a:buNone/>
            </a:pPr>
            <a:r>
              <a:rPr sz="1100" b="0">
                <a:solidFill>
                  <a:schemeClr val="accent2"/>
                </a:solidFill>
                <a:latin typeface="Maple Mono NF"/>
              </a:rPr>
              <a:t>class</a:t>
            </a:r>
            <a:r>
              <a:rPr sz="1100" b="0">
                <a:solidFill>
                  <a:schemeClr val="bg1"/>
                </a:solidFill>
                <a:latin typeface="Maple Mono NF"/>
              </a:rPr>
              <a:t> TerminalStatus(str, Enum):</a:t>
            </a:r>
          </a:p>
          <a:p>
            <a:pPr algn="l">
              <a:buNone/>
            </a:pPr>
            <a:r>
              <a:rPr sz="1100" b="0">
                <a:solidFill>
                  <a:schemeClr val="bg1"/>
                </a:solidFill>
                <a:latin typeface="Maple Mono NF"/>
              </a:rPr>
              <a:t>    ACCEPTED = </a:t>
            </a:r>
            <a:r>
              <a:rPr sz="1100" b="0">
                <a:solidFill>
                  <a:schemeClr val="accent3">
                    <a:lumMod val="55000"/>
                    <a:lumOff val="45000"/>
                  </a:schemeClr>
                </a:solidFill>
                <a:latin typeface="Maple Mono NF"/>
              </a:rPr>
              <a:t>"accepted"</a:t>
            </a:r>
          </a:p>
          <a:p>
            <a:pPr algn="l">
              <a:buNone/>
            </a:pPr>
            <a:r>
              <a:rPr sz="1100" b="0">
                <a:solidFill>
                  <a:schemeClr val="bg1"/>
                </a:solidFill>
                <a:latin typeface="Maple Mono NF"/>
              </a:rPr>
              <a:t>    REJECTED = </a:t>
            </a:r>
            <a:r>
              <a:rPr sz="1100" b="0">
                <a:solidFill>
                  <a:schemeClr val="accent3">
                    <a:lumMod val="55000"/>
                    <a:lumOff val="45000"/>
                  </a:schemeClr>
                </a:solidFill>
                <a:latin typeface="Maple Mono NF"/>
              </a:rPr>
              <a:t>"rejected"</a:t>
            </a:r>
          </a:p>
          <a:p>
            <a:pPr algn="l">
              <a:buNone/>
            </a:pPr>
            <a:r>
              <a:rPr sz="1100" b="0">
                <a:solidFill>
                  <a:schemeClr val="bg1"/>
                </a:solidFill>
                <a:latin typeface="Maple Mono NF"/>
              </a:rPr>
              <a:t>    BUDGET_EXHAUSTED = </a:t>
            </a:r>
            <a:r>
              <a:rPr sz="1100" b="0">
                <a:solidFill>
                  <a:schemeClr val="accent3">
                    <a:lumMod val="55000"/>
                    <a:lumOff val="45000"/>
                  </a:schemeClr>
                </a:solidFill>
                <a:latin typeface="Maple Mono NF"/>
              </a:rPr>
              <a:t>"budget_exhausted"</a:t>
            </a:r>
          </a:p>
          <a:p>
            <a:pPr algn="l">
              <a:buNone/>
            </a:pPr>
            <a:r>
              <a:rPr sz="1100" b="0">
                <a:solidFill>
                  <a:schemeClr val="bg1"/>
                </a:solidFill>
                <a:latin typeface="Maple Mono NF"/>
              </a:rPr>
              <a:t>    NO_PROGRESS = </a:t>
            </a:r>
            <a:r>
              <a:rPr sz="1100" b="0">
                <a:solidFill>
                  <a:schemeClr val="accent3">
                    <a:lumMod val="55000"/>
                    <a:lumOff val="45000"/>
                  </a:schemeClr>
                </a:solidFill>
                <a:latin typeface="Maple Mono NF"/>
              </a:rPr>
              <a:t>"no_progress"</a:t>
            </a:r>
          </a:p>
          <a:p>
            <a:pPr algn="l">
              <a:buNone/>
            </a:pPr>
            <a:r>
              <a:rPr sz="1100" b="0">
                <a:solidFill>
                  <a:schemeClr val="bg1"/>
                </a:solidFill>
                <a:latin typeface="Maple Mono NF"/>
              </a:rPr>
              <a:t>    ERROR = </a:t>
            </a:r>
            <a:r>
              <a:rPr sz="1100" b="0">
                <a:solidFill>
                  <a:schemeClr val="accent3">
                    <a:lumMod val="55000"/>
                    <a:lumOff val="45000"/>
                  </a:schemeClr>
                </a:solidFill>
                <a:latin typeface="Maple Mono NF"/>
              </a:rPr>
              <a:t>"error"</a:t>
            </a:r>
          </a:p>
          <a:p>
            <a:pPr algn="l">
              <a:buNone/>
            </a:pPr>
            <a:endParaRPr sz="1100" b="0">
              <a:solidFill>
                <a:schemeClr val="accent3">
                  <a:lumMod val="55000"/>
                  <a:lumOff val="45000"/>
                </a:schemeClr>
              </a:solidFill>
              <a:latin typeface="Maple Mono NF"/>
            </a:endParaRPr>
          </a:p>
          <a:p>
            <a:pPr algn="l">
              <a:buNone/>
            </a:pPr>
            <a:r>
              <a:rPr sz="1100" b="0">
                <a:solidFill>
                  <a:schemeClr val="accent2"/>
                </a:solidFill>
                <a:latin typeface="Maple Mono NF"/>
              </a:rPr>
              <a:t>class</a:t>
            </a:r>
            <a:r>
              <a:rPr sz="1100" b="0">
                <a:solidFill>
                  <a:schemeClr val="bg1"/>
                </a:solidFill>
                <a:latin typeface="Maple Mono NF"/>
              </a:rPr>
              <a:t> NoTerminalStatus(Exception):</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"""A run was closed without stating how it ended."""</a:t>
            </a:r>
          </a:p>
        </p:txBody>
      </p:sp>
      <p:sp>
        <p:nvSpPr>
          <p:cNvPr id="10" name="Rectangle 9"/>
          <p:cNvSpPr/>
          <p:nvPr/>
        </p:nvSpPr>
        <p:spPr>
          <a:xfrm>
            <a:off x="319251" y="413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At normal closure, a missing terminal event is an instrumentation defect: the code did not record how the run ended.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interpretations of a trace</a:t>
            </a:r>
          </a:p>
        </p:txBody>
      </p:sp>
      <p:sp>
        <p:nvSpPr>
          <p:cNvPr id="3" name="Content Placeholder 2"/>
          <p:cNvSpPr>
            <a:spLocks noGrp="1"/>
          </p:cNvSpPr>
          <p:nvPr>
            <p:ph idx="1"/>
          </p:nvPr>
        </p:nvSpPr>
        <p:spPr>
          <a:xfrm>
            <a:off x="319251" y="700000"/>
            <a:ext cx="6014545" cy="731648"/>
          </a:xfrm>
        </p:spPr>
        <p:txBody>
          <a:bodyPr wrap="square" anchor="ctr">
            <a:normAutofit fontScale="70000" lnSpcReduction="20000"/>
          </a:bodyPr>
          <a:lstStyle/>
          <a:p>
            <a:pPr marL="0" indent="0">
              <a:buNone/>
            </a:pPr>
            <a:r>
              <a:rPr sz="1400" b="1">
                <a:solidFill>
                  <a:srgbClr val="28285E"/>
                </a:solidFill>
              </a:rPr>
              <a:t>When an exception escapes the run, the writer records error, then the exception's name in a separate event. </a:t>
            </a:r>
            <a:r>
              <a:rPr sz="1400" b="0">
                <a:solidFill>
                  <a:srgbClr val="28285E"/>
                </a:solidFill>
                <a:latin typeface="Maple Mono NF"/>
              </a:rPr>
              <a:t>SIGKILL</a:t>
            </a:r>
            <a:r>
              <a:rPr sz="1400" b="1">
                <a:solidFill>
                  <a:srgbClr val="28285E"/>
                </a:solidFill>
              </a:rPr>
              <a:t> stops the process without running a handler.</a:t>
            </a:r>
          </a:p>
        </p:txBody>
      </p:sp>
      <p:graphicFrame>
        <p:nvGraphicFramePr>
          <p:cNvPr id="4" name="Table 3"/>
          <p:cNvGraphicFramePr>
            <a:graphicFrameLocks noGrp="1"/>
          </p:cNvGraphicFramePr>
          <p:nvPr/>
        </p:nvGraphicFramePr>
        <p:xfrm>
          <a:off x="319251" y="1621648"/>
          <a:ext cx="6014545" cy="2231136"/>
        </p:xfrm>
        <a:graphic>
          <a:graphicData uri="http://schemas.openxmlformats.org/drawingml/2006/table">
            <a:tbl>
              <a:tblPr firstRow="1" bandRow="1">
                <a:tableStyleId>{5C22544A-7EE6-4342-B048-85BDC9FD1C3A}</a:tableStyleId>
              </a:tblPr>
              <a:tblGrid>
                <a:gridCol w="2000000">
                  <a:extLst>
                    <a:ext uri="{9D8B030D-6E8A-4147-A177-3AD203B41FA5}">
                      <a16:colId xmlns:a16="http://schemas.microsoft.com/office/drawing/2014/main" val="20000"/>
                    </a:ext>
                  </a:extLst>
                </a:gridCol>
                <a:gridCol w="4014545">
                  <a:extLst>
                    <a:ext uri="{9D8B030D-6E8A-4147-A177-3AD203B41FA5}">
                      <a16:colId xmlns:a16="http://schemas.microsoft.com/office/drawing/2014/main" val="20001"/>
                    </a:ext>
                  </a:extLst>
                </a:gridCol>
              </a:tblGrid>
              <a:tr h="300000">
                <a:tc>
                  <a:txBody>
                    <a:bodyPr/>
                    <a:lstStyle/>
                    <a:p>
                      <a:pPr>
                        <a:buNone/>
                      </a:pPr>
                      <a:r>
                        <a:rPr sz="1100" b="1">
                          <a:solidFill>
                            <a:schemeClr val="tx1"/>
                          </a:solidFill>
                        </a:rPr>
                        <a:t>What the trace records</a:t>
                      </a:r>
                    </a:p>
                  </a:txBody>
                  <a:tcPr marL="95250" marR="95250" marT="47625" marB="47625">
                    <a:lnB w="12700" cap="flat" cmpd="sng" algn="ctr">
                      <a:solidFill>
                        <a:schemeClr val="tx1"/>
                      </a:solidFill>
                    </a:lnB>
                    <a:noFill/>
                  </a:tcPr>
                </a:tc>
                <a:tc>
                  <a:txBody>
                    <a:bodyPr/>
                    <a:lstStyle/>
                    <a:p>
                      <a:pPr>
                        <a:buNone/>
                      </a:pPr>
                      <a:r>
                        <a:rPr sz="1100" b="1">
                          <a:solidFill>
                            <a:schemeClr val="tx1"/>
                          </a:solidFill>
                        </a:rPr>
                        <a:t>What it supports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100" b="1">
                          <a:solidFill>
                            <a:srgbClr val="28285E"/>
                          </a:solidFill>
                        </a:rPr>
                        <a:t>A verdict, then a terminal event with status accepted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Execution terminated and the acceptance procedure passed. The trace does not establish that the patch meets the task's postcondition.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100" b="1">
                          <a:solidFill>
                            <a:srgbClr val="28285E"/>
                          </a:solidFill>
                        </a:rPr>
                        <a:t>A terminal event with status rejected, </a:t>
                      </a:r>
                      <a:r>
                        <a:rPr sz="1100" b="0">
                          <a:solidFill>
                            <a:srgbClr val="28285E"/>
                          </a:solidFill>
                          <a:latin typeface="Maple Mono NF"/>
                        </a:rPr>
                        <a:t>budget_exhausted</a:t>
                      </a:r>
                      <a:r>
                        <a:rPr sz="1100" b="1">
                          <a:solidFill>
                            <a:srgbClr val="28285E"/>
                          </a:solidFill>
                        </a:rPr>
                        <a:t>, </a:t>
                      </a:r>
                      <a:r>
                        <a:rPr sz="1100" b="0">
                          <a:solidFill>
                            <a:srgbClr val="28285E"/>
                          </a:solidFill>
                          <a:latin typeface="Maple Mono NF"/>
                        </a:rPr>
                        <a:t>no_progress</a:t>
                      </a:r>
                      <a:r>
                        <a:rPr sz="1100" b="1">
                          <a:solidFill>
                            <a:srgbClr val="28285E"/>
                          </a:solidFill>
                        </a:rPr>
                        <a:t> or error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Execution terminated without acceptance, with partial evidence and the stated reason. For error, the next record names the exception.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100" b="1">
                          <a:solidFill>
                            <a:srgbClr val="28285E"/>
                          </a:solidFill>
                        </a:rPr>
                        <a:t>No terminal event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100" b="0">
                          <a:solidFill>
                            <a:schemeClr val="tx1"/>
                          </a:solidFill>
                        </a:rPr>
                        <a:t>The trace does not establish termination. The run may still be active, or the process may have been killed without running a handler.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5" name="Rectangle 4"/>
          <p:cNvSpPr/>
          <p:nvPr/>
        </p:nvSpPr>
        <p:spPr>
          <a:xfrm>
            <a:off x="319251" y="4042784"/>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5 in the notes. Calling a missing terminal event error assigns a cause without evidence.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recorded repair after failed checks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In run </a:t>
            </a:r>
            <a:r>
              <a:rPr sz="1400" b="0">
                <a:solidFill>
                  <a:srgbClr val="28285E"/>
                </a:solidFill>
                <a:latin typeface="Maple Mono NF"/>
              </a:rPr>
              <a:t>28e37a00</a:t>
            </a:r>
            <a:r>
              <a:rPr sz="1400" b="1">
                <a:solidFill>
                  <a:srgbClr val="28285E"/>
                </a:solidFill>
              </a:rPr>
              <a:t>, the first patch applies successfully. It leaves the flagged line unchanged, and the rescan still reports the finding.</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0">
                <a:solidFill>
                  <a:srgbClr val="28285E"/>
                </a:solidFill>
                <a:latin typeface="Maple Mono NF"/>
              </a:rPr>
              <a:t>28e37a00</a:t>
            </a:r>
            <a:r>
              <a:rPr sz="1200" b="1">
                <a:solidFill>
                  <a:srgbClr val="28285E"/>
                </a:solidFill>
              </a:rPr>
              <a:t>, steps 25–26. Reasons abbreviated</a:t>
            </a:r>
          </a:p>
        </p:txBody>
      </p:sp>
      <p:sp>
        <p:nvSpPr>
          <p:cNvPr id="5" name="CodeWindow"/>
          <p:cNvSpPr/>
          <p:nvPr/>
        </p:nvSpPr>
        <p:spPr>
          <a:xfrm>
            <a:off x="319251" y="1650000"/>
            <a:ext cx="6014545" cy="208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680000"/>
          </a:xfrm>
          <a:prstGeom prst="rect">
            <a:avLst/>
          </a:prstGeom>
          <a:noFill/>
        </p:spPr>
        <p:txBody>
          <a:bodyPr wrap="none" lIns="0" tIns="0" rIns="0" bIns="0" anchor="t">
            <a:spAutoFit/>
          </a:bodyPr>
          <a:lstStyle/>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25</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"state_change"</a:t>
            </a:r>
            <a:r>
              <a:rPr sz="1100" b="0">
                <a:solidFill>
                  <a:schemeClr val="bg1"/>
                </a:solidFill>
                <a:latin typeface="Maple Mono NF"/>
              </a:rPr>
              <a:t>, </a:t>
            </a:r>
            <a:r>
              <a:rPr sz="1100" b="0">
                <a:solidFill>
                  <a:schemeClr val="accent2"/>
                </a:solidFill>
                <a:latin typeface="Maple Mono NF"/>
              </a:rPr>
              <a:t>"node"</a:t>
            </a:r>
            <a:r>
              <a:rPr sz="1100" b="0">
                <a:solidFill>
                  <a:schemeClr val="bg1"/>
                </a:solidFill>
                <a:latin typeface="Maple Mono NF"/>
              </a:rPr>
              <a:t>: </a:t>
            </a:r>
            <a:r>
              <a:rPr sz="1100" b="0">
                <a:solidFill>
                  <a:schemeClr val="accent3">
                    <a:lumMod val="55000"/>
                    <a:lumOff val="45000"/>
                  </a:schemeClr>
                </a:solidFill>
                <a:latin typeface="Maple Mono NF"/>
              </a:rPr>
              <a:t>"submit"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"checks"</a:t>
            </a:r>
            <a:r>
              <a:rPr sz="1100" b="0">
                <a:solidFill>
                  <a:schemeClr val="bg1"/>
                </a:solidFill>
                <a:latin typeface="Maple Mono NF"/>
              </a:rPr>
              <a:t>: {</a:t>
            </a:r>
            <a:r>
              <a:rPr sz="1100" b="0">
                <a:solidFill>
                  <a:schemeClr val="accent2"/>
                </a:solidFill>
                <a:latin typeface="Maple Mono NF"/>
              </a:rPr>
              <a:t>"applies"</a:t>
            </a:r>
            <a:r>
              <a:rPr sz="1100" b="0">
                <a:solidFill>
                  <a:schemeClr val="bg1"/>
                </a:solidFill>
                <a:latin typeface="Maple Mono NF"/>
              </a:rPr>
              <a:t>: </a:t>
            </a:r>
            <a:r>
              <a:rPr sz="1100" b="0">
                <a:solidFill>
                  <a:schemeClr val="accent5">
                    <a:lumMod val="45000"/>
                    <a:lumOff val="55000"/>
                  </a:schemeClr>
                </a:solidFill>
                <a:latin typeface="Maple Mono NF"/>
              </a:rPr>
              <a:t>true</a:t>
            </a:r>
            <a:r>
              <a:rPr sz="1100" b="0">
                <a:solidFill>
                  <a:schemeClr val="bg1"/>
                </a:solidFill>
                <a:latin typeface="Maple Mono NF"/>
              </a:rPr>
              <a:t>, </a:t>
            </a:r>
            <a:r>
              <a:rPr sz="1100" b="0">
                <a:solidFill>
                  <a:schemeClr val="accent2"/>
                </a:solidFill>
                <a:latin typeface="Maple Mono NF"/>
              </a:rPr>
              <a:t>"touches_line"</a:t>
            </a:r>
            <a:r>
              <a:rPr sz="1100" b="0">
                <a:solidFill>
                  <a:schemeClr val="bg1"/>
                </a:solidFill>
                <a:latin typeface="Maple Mono NF"/>
              </a:rPr>
              <a:t>: </a:t>
            </a:r>
            <a:r>
              <a:rPr sz="1100" b="0">
                <a:solidFill>
                  <a:schemeClr val="accent5">
                    <a:lumMod val="45000"/>
                    <a:lumOff val="55000"/>
                  </a:schemeClr>
                </a:solidFill>
                <a:latin typeface="Maple Mono NF"/>
              </a:rPr>
              <a:t>false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"rescan_clean"</a:t>
            </a:r>
            <a:r>
              <a:rPr sz="1100" b="0">
                <a:solidFill>
                  <a:schemeClr val="bg1"/>
                </a:solidFill>
                <a:latin typeface="Maple Mono NF"/>
              </a:rPr>
              <a:t>: </a:t>
            </a:r>
            <a:r>
              <a:rPr sz="1100" b="0">
                <a:solidFill>
                  <a:schemeClr val="accent5">
                    <a:lumMod val="45000"/>
                    <a:lumOff val="55000"/>
                  </a:schemeClr>
                </a:solidFill>
                <a:latin typeface="Maple Mono NF"/>
              </a:rPr>
              <a:t>false</a:t>
            </a:r>
            <a:r>
              <a:rPr sz="1100" b="0">
                <a:solidFill>
                  <a:schemeClr val="bg1"/>
                </a:solidFill>
                <a:latin typeface="Maple Mono NF"/>
              </a:rPr>
              <a:t>, </a:t>
            </a:r>
            <a:r>
              <a:rPr sz="1100" b="0">
                <a:solidFill>
                  <a:schemeClr val="accent2"/>
                </a:solidFill>
                <a:latin typeface="Maple Mono NF"/>
              </a:rPr>
              <a:t>"reasons"</a:t>
            </a:r>
            <a:r>
              <a:rPr sz="1100" b="0">
                <a:solidFill>
                  <a:schemeClr val="bg1"/>
                </a:solidFill>
                <a:latin typeface="Maple Mono NF"/>
              </a:rPr>
              <a:t>: [...]}}</a:t>
            </a:r>
          </a:p>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26</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"routing"</a:t>
            </a:r>
            <a:r>
              <a:rPr sz="1100" b="0">
                <a:solidFill>
                  <a:schemeClr val="bg1"/>
                </a:solidFill>
                <a:latin typeface="Maple Mono NF"/>
              </a:rPr>
              <a:t>, </a:t>
            </a:r>
            <a:r>
              <a:rPr sz="1100" b="0">
                <a:solidFill>
                  <a:schemeClr val="accent2"/>
                </a:solidFill>
                <a:latin typeface="Maple Mono NF"/>
              </a:rPr>
              <a:t>"decision"</a:t>
            </a:r>
            <a:r>
              <a:rPr sz="1100" b="0">
                <a:solidFill>
                  <a:schemeClr val="bg1"/>
                </a:solidFill>
                <a:latin typeface="Maple Mono NF"/>
              </a:rPr>
              <a:t>: </a:t>
            </a:r>
            <a:r>
              <a:rPr sz="1100" b="0">
                <a:solidFill>
                  <a:schemeClr val="accent3">
                    <a:lumMod val="55000"/>
                    <a:lumOff val="45000"/>
                  </a:schemeClr>
                </a:solidFill>
                <a:latin typeface="Maple Mono NF"/>
              </a:rPr>
              <a:t>"controller"</a:t>
            </a:r>
            <a:r>
              <a:rPr sz="1100" b="0">
                <a:solidFill>
                  <a:schemeClr val="bg1"/>
                </a:solidFill>
                <a:latin typeface="Maple Mono NF"/>
              </a:rPr>
              <a:t>,</a:t>
            </a:r>
          </a:p>
          <a:p>
            <a:pPr algn="l">
              <a:buNone/>
            </a:pPr>
            <a:r>
              <a:rPr sz="1100" b="0">
                <a:solidFill>
                  <a:schemeClr val="bg1"/>
                </a:solidFill>
                <a:latin typeface="Maple Mono NF"/>
              </a:rPr>
              <a:t>  </a:t>
            </a:r>
            <a:r>
              <a:rPr sz="1100" b="1">
                <a:solidFill>
                  <a:schemeClr val="accent4">
                    <a:lumMod val="70000"/>
                    <a:lumOff val="30000"/>
                  </a:schemeClr>
                </a:solidFill>
                <a:latin typeface="Maple Mono NF"/>
              </a:rPr>
              <a:t>"by": "runtime"</a:t>
            </a:r>
            <a:r>
              <a:rPr sz="1100" b="0">
                <a:solidFill>
                  <a:schemeClr val="bg1"/>
                </a:solidFill>
                <a:latin typeface="Maple Mono NF"/>
              </a:rPr>
              <a:t>, </a:t>
            </a:r>
            <a:r>
              <a:rPr sz="1100" b="0">
                <a:solidFill>
                  <a:schemeClr val="accent2"/>
                </a:solidFill>
                <a:latin typeface="Maple Mono NF"/>
              </a:rPr>
              <a:t>"reason"</a:t>
            </a:r>
            <a:r>
              <a:rPr sz="1100" b="0">
                <a:solidFill>
                  <a:schemeClr val="bg1"/>
                </a:solidFill>
                <a:latin typeface="Maple Mono NF"/>
              </a:rPr>
              <a:t>: </a:t>
            </a:r>
            <a:r>
              <a:rPr sz="1100" b="0">
                <a:solidFill>
                  <a:schemeClr val="accent3">
                    <a:lumMod val="55000"/>
                    <a:lumOff val="45000"/>
                  </a:schemeClr>
                </a:solidFill>
                <a:latin typeface="Maple Mono NF"/>
              </a:rPr>
              <a:t>"mechanical checks failed"</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"reasons"</a:t>
            </a:r>
            <a:r>
              <a:rPr sz="1100" b="0">
                <a:solidFill>
                  <a:schemeClr val="bg1"/>
                </a:solidFill>
                <a:latin typeface="Maple Mono NF"/>
              </a:rPr>
              <a:t>: ["the edit did not touch</a:t>
            </a:r>
          </a:p>
          <a:p>
            <a:pPr algn="l">
              <a:buNone/>
            </a:pPr>
            <a:r>
              <a:rPr sz="1100" b="0">
                <a:solidFill>
                  <a:schemeClr val="bg1"/>
                </a:solidFill>
                <a:latin typeface="Maple Mono NF"/>
              </a:rPr>
              <a:t>               testcode/BenchmarkTest01179.py:</a:t>
            </a:r>
            <a:r>
              <a:rPr sz="1100" b="0">
                <a:solidFill>
                  <a:schemeClr val="accent5">
                    <a:lumMod val="45000"/>
                    <a:lumOff val="55000"/>
                  </a:schemeClr>
                </a:solidFill>
                <a:latin typeface="Maple Mono NF"/>
              </a:rPr>
              <a:t>31</a:t>
            </a:r>
            <a:r>
              <a:rPr sz="1100" b="0">
                <a:solidFill>
                  <a:schemeClr val="bg1"/>
                </a:solidFill>
                <a:latin typeface="Maple Mono NF"/>
              </a:rPr>
              <a:t> ...",</a:t>
            </a:r>
          </a:p>
          <a:p>
            <a:pPr algn="l">
              <a:buNone/>
            </a:pPr>
            <a:r>
              <a:rPr sz="1100" b="0">
                <a:solidFill>
                  <a:schemeClr val="bg1"/>
                </a:solidFill>
                <a:latin typeface="Maple Mono NF"/>
              </a:rPr>
              <a:t>              </a:t>
            </a:r>
            <a:r>
              <a:rPr sz="1100" b="0">
                <a:solidFill>
                  <a:schemeClr val="accent3">
                    <a:lumMod val="55000"/>
                    <a:lumOff val="45000"/>
                  </a:schemeClr>
                </a:solidFill>
                <a:latin typeface="Maple Mono NF"/>
              </a:rPr>
              <a:t>"semgrep: ... path-traversal-open is still ..."</a:t>
            </a:r>
            <a:r>
              <a:rPr sz="1100" b="0">
                <a:solidFill>
                  <a:schemeClr val="bg1"/>
                </a:solidFill>
                <a:latin typeface="Maple Mono NF"/>
              </a:rPr>
              <a:t>]}</a:t>
            </a:r>
          </a:p>
        </p:txBody>
      </p:sp>
      <p:sp>
        <p:nvSpPr>
          <p:cNvPr id="10" name="Rectangle 9"/>
          <p:cNvSpPr/>
          <p:nvPr/>
        </p:nvSpPr>
        <p:spPr>
          <a:xfrm>
            <a:off x="319251" y="392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controller receives both reasons as a conversation message and submits again after three tool rounds.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recorded keyboard interruption</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After the second failed submission and two more tool rounds, a keyboard interrupt stops the run.</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0">
                <a:solidFill>
                  <a:srgbClr val="28285E"/>
                </a:solidFill>
                <a:latin typeface="Maple Mono NF"/>
              </a:rPr>
              <a:t>28e37a00</a:t>
            </a:r>
            <a:r>
              <a:rPr sz="1200" b="1">
                <a:solidFill>
                  <a:srgbClr val="28285E"/>
                </a:solidFill>
              </a:rPr>
              <a:t>, steps 50–52. Timestamp and run identifier omitted.</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50</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"tool_result"</a:t>
            </a:r>
            <a:r>
              <a:rPr sz="1100" b="0">
                <a:solidFill>
                  <a:schemeClr val="bg1"/>
                </a:solidFill>
                <a:latin typeface="Maple Mono NF"/>
              </a:rPr>
              <a:t>, </a:t>
            </a:r>
            <a:r>
              <a:rPr sz="1100" b="0">
                <a:solidFill>
                  <a:schemeClr val="accent2"/>
                </a:solidFill>
                <a:latin typeface="Maple Mono NF"/>
              </a:rPr>
              <a:t>"tool"</a:t>
            </a:r>
            <a:r>
              <a:rPr sz="1100" b="0">
                <a:solidFill>
                  <a:schemeClr val="bg1"/>
                </a:solidFill>
                <a:latin typeface="Maple Mono NF"/>
              </a:rPr>
              <a:t>: </a:t>
            </a:r>
            <a:r>
              <a:rPr sz="1100" b="0">
                <a:solidFill>
                  <a:schemeClr val="accent3">
                    <a:lumMod val="55000"/>
                    <a:lumOff val="45000"/>
                  </a:schemeClr>
                </a:solidFill>
                <a:latin typeface="Maple Mono NF"/>
              </a:rPr>
              <a:t>"read_file"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"ok"</a:t>
            </a:r>
            <a:r>
              <a:rPr sz="1100" b="0">
                <a:solidFill>
                  <a:schemeClr val="bg1"/>
                </a:solidFill>
                <a:latin typeface="Maple Mono NF"/>
              </a:rPr>
              <a:t>: </a:t>
            </a:r>
            <a:r>
              <a:rPr sz="1100" b="0">
                <a:solidFill>
                  <a:schemeClr val="accent5">
                    <a:lumMod val="45000"/>
                    <a:lumOff val="55000"/>
                  </a:schemeClr>
                </a:solidFill>
                <a:latin typeface="Maple Mono NF"/>
              </a:rPr>
              <a:t>true</a:t>
            </a:r>
            <a:r>
              <a:rPr sz="1100" b="0">
                <a:solidFill>
                  <a:schemeClr val="bg1"/>
                </a:solidFill>
                <a:latin typeface="Maple Mono NF"/>
              </a:rPr>
              <a:t>, </a:t>
            </a:r>
            <a:r>
              <a:rPr sz="1100" b="0">
                <a:solidFill>
                  <a:schemeClr val="accent2"/>
                </a:solidFill>
                <a:latin typeface="Maple Mono NF"/>
              </a:rPr>
              <a:t>"chars"</a:t>
            </a:r>
            <a:r>
              <a:rPr sz="1100" b="0">
                <a:solidFill>
                  <a:schemeClr val="bg1"/>
                </a:solidFill>
                <a:latin typeface="Maple Mono NF"/>
              </a:rPr>
              <a:t>: </a:t>
            </a:r>
            <a:r>
              <a:rPr sz="1100" b="0">
                <a:solidFill>
                  <a:schemeClr val="accent5">
                    <a:lumMod val="45000"/>
                    <a:lumOff val="55000"/>
                  </a:schemeClr>
                </a:solidFill>
                <a:latin typeface="Maple Mono NF"/>
              </a:rPr>
              <a:t>1081</a:t>
            </a:r>
            <a:r>
              <a:rPr sz="1100" b="0">
                <a:solidFill>
                  <a:schemeClr val="bg1"/>
                </a:solidFill>
                <a:latin typeface="Maple Mono NF"/>
              </a:rPr>
              <a:t>}</a:t>
            </a:r>
          </a:p>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51</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"terminal"</a:t>
            </a:r>
            <a:r>
              <a:rPr sz="1100" b="0">
                <a:solidFill>
                  <a:schemeClr val="bg1"/>
                </a:solidFill>
                <a:latin typeface="Maple Mono NF"/>
              </a:rPr>
              <a:t>, </a:t>
            </a:r>
            <a:r>
              <a:rPr sz="1100" b="1">
                <a:solidFill>
                  <a:schemeClr val="accent4">
                    <a:lumMod val="70000"/>
                    <a:lumOff val="30000"/>
                  </a:schemeClr>
                </a:solidFill>
                <a:latin typeface="Maple Mono NF"/>
              </a:rPr>
              <a:t>"status": "error"</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"usage_total"</a:t>
            </a:r>
            <a:r>
              <a:rPr sz="1100" b="0">
                <a:solidFill>
                  <a:schemeClr val="bg1"/>
                </a:solidFill>
                <a:latin typeface="Maple Mono NF"/>
              </a:rPr>
              <a:t>: {</a:t>
            </a:r>
            <a:r>
              <a:rPr sz="1100" b="0">
                <a:solidFill>
                  <a:schemeClr val="accent2"/>
                </a:solidFill>
                <a:latin typeface="Maple Mono NF"/>
              </a:rPr>
              <a:t>"input"</a:t>
            </a:r>
            <a:r>
              <a:rPr sz="1100" b="0">
                <a:solidFill>
                  <a:schemeClr val="bg1"/>
                </a:solidFill>
                <a:latin typeface="Maple Mono NF"/>
              </a:rPr>
              <a:t>: </a:t>
            </a:r>
            <a:r>
              <a:rPr sz="1100" b="0">
                <a:solidFill>
                  <a:schemeClr val="accent5">
                    <a:lumMod val="45000"/>
                    <a:lumOff val="55000"/>
                  </a:schemeClr>
                </a:solidFill>
                <a:latin typeface="Maple Mono NF"/>
              </a:rPr>
              <a:t>67586</a:t>
            </a:r>
            <a:r>
              <a:rPr sz="1100" b="0">
                <a:solidFill>
                  <a:schemeClr val="bg1"/>
                </a:solidFill>
                <a:latin typeface="Maple Mono NF"/>
              </a:rPr>
              <a:t>, </a:t>
            </a:r>
            <a:r>
              <a:rPr sz="1100" b="0">
                <a:solidFill>
                  <a:schemeClr val="accent2"/>
                </a:solidFill>
                <a:latin typeface="Maple Mono NF"/>
              </a:rPr>
              <a:t>"output"</a:t>
            </a:r>
            <a:r>
              <a:rPr sz="1100" b="0">
                <a:solidFill>
                  <a:schemeClr val="bg1"/>
                </a:solidFill>
                <a:latin typeface="Maple Mono NF"/>
              </a:rPr>
              <a:t>: </a:t>
            </a:r>
            <a:r>
              <a:rPr sz="1100" b="0">
                <a:solidFill>
                  <a:schemeClr val="accent5">
                    <a:lumMod val="45000"/>
                    <a:lumOff val="55000"/>
                  </a:schemeClr>
                </a:solidFill>
                <a:latin typeface="Maple Mono NF"/>
              </a:rPr>
              <a:t>10380</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"cache_read"</a:t>
            </a:r>
            <a:r>
              <a:rPr sz="1100" b="0">
                <a:solidFill>
                  <a:schemeClr val="bg1"/>
                </a:solidFill>
                <a:latin typeface="Maple Mono NF"/>
              </a:rPr>
              <a:t>: </a:t>
            </a:r>
            <a:r>
              <a:rPr sz="1100" b="0">
                <a:solidFill>
                  <a:schemeClr val="accent5">
                    <a:lumMod val="45000"/>
                    <a:lumOff val="55000"/>
                  </a:schemeClr>
                </a:solidFill>
                <a:latin typeface="Maple Mono NF"/>
              </a:rPr>
              <a:t>0</a:t>
            </a:r>
            <a:r>
              <a:rPr sz="1100" b="0">
                <a:solidFill>
                  <a:schemeClr val="bg1"/>
                </a:solidFill>
                <a:latin typeface="Maple Mono NF"/>
              </a:rPr>
              <a:t>, </a:t>
            </a:r>
            <a:r>
              <a:rPr sz="1100" b="0">
                <a:solidFill>
                  <a:schemeClr val="accent2"/>
                </a:solidFill>
                <a:latin typeface="Maple Mono NF"/>
              </a:rPr>
              <a:t>"cache_write"</a:t>
            </a:r>
            <a:r>
              <a:rPr sz="1100" b="0">
                <a:solidFill>
                  <a:schemeClr val="bg1"/>
                </a:solidFill>
                <a:latin typeface="Maple Mono NF"/>
              </a:rPr>
              <a:t>: </a:t>
            </a:r>
            <a:r>
              <a:rPr sz="1100" b="0">
                <a:solidFill>
                  <a:schemeClr val="accent5">
                    <a:lumMod val="45000"/>
                    <a:lumOff val="55000"/>
                  </a:schemeClr>
                </a:solidFill>
                <a:latin typeface="Maple Mono NF"/>
              </a:rPr>
              <a:t>0</a:t>
            </a:r>
            <a:r>
              <a:rPr sz="1100" b="0">
                <a:solidFill>
                  <a:schemeClr val="bg1"/>
                </a:solidFill>
                <a:latin typeface="Maple Mono NF"/>
              </a:rPr>
              <a:t>}}</a:t>
            </a:r>
          </a:p>
          <a:p>
            <a:pPr algn="l">
              <a:buNone/>
            </a:pPr>
            <a:r>
              <a:rPr sz="1100" b="0">
                <a:solidFill>
                  <a:schemeClr val="bg1"/>
                </a:solidFill>
                <a:latin typeface="Maple Mono NF"/>
              </a:rPr>
              <a:t>{</a:t>
            </a:r>
            <a:r>
              <a:rPr sz="1100" b="0">
                <a:solidFill>
                  <a:schemeClr val="accent2"/>
                </a:solidFill>
                <a:latin typeface="Maple Mono NF"/>
              </a:rPr>
              <a:t>"step"</a:t>
            </a:r>
            <a:r>
              <a:rPr sz="1100" b="0">
                <a:solidFill>
                  <a:schemeClr val="bg1"/>
                </a:solidFill>
                <a:latin typeface="Maple Mono NF"/>
              </a:rPr>
              <a:t>: </a:t>
            </a:r>
            <a:r>
              <a:rPr sz="1100" b="0">
                <a:solidFill>
                  <a:schemeClr val="accent5">
                    <a:lumMod val="45000"/>
                    <a:lumOff val="55000"/>
                  </a:schemeClr>
                </a:solidFill>
                <a:latin typeface="Maple Mono NF"/>
              </a:rPr>
              <a:t>52</a:t>
            </a:r>
            <a:r>
              <a:rPr sz="1100" b="0">
                <a:solidFill>
                  <a:schemeClr val="bg1"/>
                </a:solidFill>
                <a:latin typeface="Maple Mono NF"/>
              </a:rPr>
              <a:t>, </a:t>
            </a:r>
            <a:r>
              <a:rPr sz="1100" b="0">
                <a:solidFill>
                  <a:schemeClr val="accent2"/>
                </a:solidFill>
                <a:latin typeface="Maple Mono NF"/>
              </a:rPr>
              <a:t>"kind"</a:t>
            </a:r>
            <a:r>
              <a:rPr sz="1100" b="0">
                <a:solidFill>
                  <a:schemeClr val="bg1"/>
                </a:solidFill>
                <a:latin typeface="Maple Mono NF"/>
              </a:rPr>
              <a:t>: </a:t>
            </a:r>
            <a:r>
              <a:rPr sz="1100" b="0">
                <a:solidFill>
                  <a:schemeClr val="accent3">
                    <a:lumMod val="55000"/>
                    <a:lumOff val="45000"/>
                  </a:schemeClr>
                </a:solidFill>
                <a:latin typeface="Maple Mono NF"/>
              </a:rPr>
              <a:t>"state_change"</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"exception"</a:t>
            </a:r>
            <a:r>
              <a:rPr sz="1100" b="0">
                <a:solidFill>
                  <a:schemeClr val="bg1"/>
                </a:solidFill>
                <a:latin typeface="Maple Mono NF"/>
              </a:rPr>
              <a:t>: </a:t>
            </a:r>
            <a:r>
              <a:rPr sz="1100" b="0">
                <a:solidFill>
                  <a:schemeClr val="accent3">
                    <a:lumMod val="55000"/>
                    <a:lumOff val="45000"/>
                  </a:schemeClr>
                </a:solidFill>
                <a:latin typeface="Maple Mono NF"/>
              </a:rPr>
              <a:t>"KeyboardInterrupt"</a:t>
            </a:r>
            <a:r>
              <a:rPr sz="1100" b="0">
                <a:solidFill>
                  <a:schemeClr val="bg1"/>
                </a:solidFill>
                <a:latin typeface="Maple Mono NF"/>
              </a:rPr>
              <a:t>, </a:t>
            </a:r>
            <a:r>
              <a:rPr sz="1100" b="0">
                <a:solidFill>
                  <a:schemeClr val="accent2"/>
                </a:solidFill>
                <a:latin typeface="Maple Mono NF"/>
              </a:rPr>
              <a:t>"message"</a:t>
            </a:r>
            <a:r>
              <a:rPr sz="1100" b="0">
                <a:solidFill>
                  <a:schemeClr val="bg1"/>
                </a:solidFill>
                <a:latin typeface="Maple Mono NF"/>
              </a:rPr>
              <a:t>: </a:t>
            </a:r>
            <a:r>
              <a:rPr sz="1100" b="0">
                <a:solidFill>
                  <a:schemeClr val="accent3">
                    <a:lumMod val="55000"/>
                    <a:lumOff val="45000"/>
                  </a:schemeClr>
                </a:solidFill>
                <a:latin typeface="Maple Mono NF"/>
              </a:rPr>
              <a:t>""</a:t>
            </a:r>
            <a:r>
              <a:rPr sz="1100" b="0">
                <a:solidFill>
                  <a:schemeClr val="bg1"/>
                </a:solidFill>
                <a:latin typeface="Maple Mono NF"/>
              </a:rPr>
              <a:t>}</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 </a:t>
            </a:r>
            <a:r>
              <a:rPr sz="1200" b="0">
                <a:solidFill>
                  <a:schemeClr val="tx2"/>
                </a:solidFill>
                <a:latin typeface="Maple Mono NF"/>
              </a:rPr>
              <a:t>SIGKILL</a:t>
            </a:r>
            <a:r>
              <a:rPr sz="1200" b="1">
                <a:solidFill>
                  <a:schemeClr val="tx2"/>
                </a:solidFill>
              </a:rPr>
              <a:t> at the same point would leave the file ending at step 50, without terminal or exception records.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000" y="1863864"/>
            <a:ext cx="6000000" cy="1415772"/>
          </a:xfrm>
          <a:prstGeom prst="rect">
            <a:avLst/>
          </a:prstGeom>
          <a:noFill/>
        </p:spPr>
        <p:txBody>
          <a:bodyPr wrap="square" anchor="ctr">
            <a:spAutoFit/>
          </a:bodyPr>
          <a:lstStyle/>
          <a:p>
            <a:pPr algn="ctr"/>
            <a:r>
              <a:rPr sz="4000" b="1">
                <a:solidFill>
                  <a:schemeClr val="tx2"/>
                </a:solidFill>
                <a:latin typeface="+mj-lt"/>
              </a:rPr>
              <a:t>Scheduling, tools, and execution authority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Supersteps: when an update becomes visible</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Routing selects the next graph node. Scheduling determines when the node runs and which version of the state record it reads.</a:t>
            </a:r>
          </a:p>
          <a:p>
            <a:pPr marL="400050" indent="-285750">
              <a:spcBef>
                <a:spcPts val="600"/>
              </a:spcBef>
              <a:spcAft>
                <a:spcPts val="600"/>
              </a:spcAft>
              <a:buClr>
                <a:srgbClr val="28285E"/>
              </a:buClr>
              <a:buSzPts val="1260"/>
              <a:buFont typeface="+mn-lt"/>
              <a:buChar char="●"/>
            </a:pPr>
            <a:r>
              <a:rPr sz="1400" b="1">
                <a:solidFill>
                  <a:schemeClr val="tx1"/>
                </a:solidFill>
              </a:rPr>
              <a:t>Planning</a:t>
            </a:r>
            <a:r>
              <a:rPr sz="1400" b="0">
                <a:solidFill>
                  <a:schemeClr val="tx1"/>
                </a:solidFill>
              </a:rPr>
              <a:t> selects the nodes to run from the inputs updated in the previous superstep.</a:t>
            </a:r>
          </a:p>
          <a:p>
            <a:pPr marL="400050" indent="-285750">
              <a:spcBef>
                <a:spcPts val="600"/>
              </a:spcBef>
              <a:spcAft>
                <a:spcPts val="600"/>
              </a:spcAft>
              <a:buClr>
                <a:srgbClr val="28285E"/>
              </a:buClr>
              <a:buSzPts val="1260"/>
              <a:buFont typeface="+mn-lt"/>
              <a:buChar char="●"/>
            </a:pPr>
            <a:r>
              <a:rPr sz="1400" b="1">
                <a:solidFill>
                  <a:schemeClr val="tx1"/>
                </a:solidFill>
              </a:rPr>
              <a:t>Execution</a:t>
            </a:r>
            <a:r>
              <a:rPr sz="1400" b="0">
                <a:solidFill>
                  <a:schemeClr val="tx1"/>
                </a:solidFill>
              </a:rPr>
              <a:t> runs the selected nodes. Other nodes cannot read their returned state updates during this phase.</a:t>
            </a:r>
          </a:p>
          <a:p>
            <a:pPr marL="400050" indent="-285750">
              <a:spcBef>
                <a:spcPts val="600"/>
              </a:spcBef>
              <a:spcAft>
                <a:spcPts val="600"/>
              </a:spcAft>
              <a:buClr>
                <a:srgbClr val="28285E"/>
              </a:buClr>
              <a:buSzPts val="1260"/>
              <a:buFont typeface="+mn-lt"/>
              <a:buChar char="●"/>
            </a:pPr>
            <a:r>
              <a:rPr sz="1400" b="1">
                <a:solidFill>
                  <a:schemeClr val="tx1"/>
                </a:solidFill>
              </a:rPr>
              <a:t>Update</a:t>
            </a:r>
            <a:r>
              <a:rPr sz="1400" b="0">
                <a:solidFill>
                  <a:schemeClr val="tx1"/>
                </a:solidFill>
              </a:rPr>
              <a:t> merges the nodes' returned values into the state record using its reducers.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superstep is one round of planning, execution and update. Nodes read the updated state in the next round.</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tool can change a file during execution, before the runtime updates the state record.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supersteps in the recorded run</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The controller's superstep contains events 3 and 4. The next superstep runs tools and contains events 5 and 6.</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0">
                <a:solidFill>
                  <a:srgbClr val="28285E"/>
                </a:solidFill>
                <a:latin typeface="Maple Mono NF"/>
              </a:rPr>
              <a:t>bc284c6b</a:t>
            </a:r>
            <a:r>
              <a:rPr sz="1200" b="1">
                <a:solidFill>
                  <a:srgbClr val="28285E"/>
                </a:solidFill>
              </a:rPr>
              <a:t>, events 3 to 6. Timestamp, run identifier and thinking omitted.</a:t>
            </a:r>
          </a:p>
        </p:txBody>
      </p:sp>
      <p:sp>
        <p:nvSpPr>
          <p:cNvPr id="5" name="CodeWindow"/>
          <p:cNvSpPr/>
          <p:nvPr/>
        </p:nvSpPr>
        <p:spPr>
          <a:xfrm>
            <a:off x="319251" y="1650000"/>
            <a:ext cx="6014545" cy="1927272"/>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527272"/>
          </a:xfrm>
          <a:prstGeom prst="rect">
            <a:avLst/>
          </a:prstGeom>
          <a:noFill/>
        </p:spPr>
        <p:txBody>
          <a:bodyPr wrap="none" lIns="0" tIns="0" rIns="0" bIns="0" anchor="t">
            <a:spAutoFit/>
          </a:bodyPr>
          <a:lstStyle/>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3</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"model_call"</a:t>
            </a:r>
            <a:r>
              <a:rPr sz="1000" b="0">
                <a:solidFill>
                  <a:schemeClr val="bg1"/>
                </a:solidFill>
                <a:latin typeface="Maple Mono NF"/>
              </a:rPr>
              <a:t>, </a:t>
            </a:r>
            <a:r>
              <a:rPr sz="1000" b="0">
                <a:solidFill>
                  <a:schemeClr val="accent2"/>
                </a:solidFill>
                <a:latin typeface="Maple Mono NF"/>
              </a:rPr>
              <a:t>"role"</a:t>
            </a:r>
            <a:r>
              <a:rPr sz="1000" b="0">
                <a:solidFill>
                  <a:schemeClr val="bg1"/>
                </a:solidFill>
                <a:latin typeface="Maple Mono NF"/>
              </a:rPr>
              <a:t>: </a:t>
            </a:r>
            <a:r>
              <a:rPr sz="1000" b="0">
                <a:solidFill>
                  <a:schemeClr val="accent3">
                    <a:lumMod val="55000"/>
                    <a:lumOff val="45000"/>
                  </a:schemeClr>
                </a:solidFill>
                <a:latin typeface="Maple Mono NF"/>
              </a:rPr>
              <a:t>"controller"</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"tool_calls"</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 </a:t>
            </a:r>
            <a:r>
              <a:rPr sz="1000" b="0">
                <a:solidFill>
                  <a:schemeClr val="accent2"/>
                </a:solidFill>
                <a:latin typeface="Maple Mono NF"/>
              </a:rPr>
              <a:t>"usage"</a:t>
            </a:r>
            <a:r>
              <a:rPr sz="1000" b="0">
                <a:solidFill>
                  <a:schemeClr val="bg1"/>
                </a:solidFill>
                <a:latin typeface="Maple Mono NF"/>
              </a:rPr>
              <a:t>: {</a:t>
            </a:r>
            <a:r>
              <a:rPr sz="1000" b="0">
                <a:solidFill>
                  <a:schemeClr val="accent2"/>
                </a:solidFill>
                <a:latin typeface="Maple Mono NF"/>
              </a:rPr>
              <a:t>"input"</a:t>
            </a:r>
            <a:r>
              <a:rPr sz="1000" b="0">
                <a:solidFill>
                  <a:schemeClr val="bg1"/>
                </a:solidFill>
                <a:latin typeface="Maple Mono NF"/>
              </a:rPr>
              <a:t>: </a:t>
            </a:r>
            <a:r>
              <a:rPr sz="1000" b="0">
                <a:solidFill>
                  <a:schemeClr val="accent5">
                    <a:lumMod val="45000"/>
                    <a:lumOff val="55000"/>
                  </a:schemeClr>
                </a:solidFill>
                <a:latin typeface="Maple Mono NF"/>
              </a:rPr>
              <a:t>1284</a:t>
            </a:r>
            <a:r>
              <a:rPr sz="1000" b="0">
                <a:solidFill>
                  <a:schemeClr val="bg1"/>
                </a:solidFill>
                <a:latin typeface="Maple Mono NF"/>
              </a:rPr>
              <a:t>, </a:t>
            </a:r>
            <a:r>
              <a:rPr sz="1000" b="0">
                <a:solidFill>
                  <a:schemeClr val="accent2"/>
                </a:solidFill>
                <a:latin typeface="Maple Mono NF"/>
              </a:rPr>
              <a:t>"output"</a:t>
            </a:r>
            <a:r>
              <a:rPr sz="1000" b="0">
                <a:solidFill>
                  <a:schemeClr val="bg1"/>
                </a:solidFill>
                <a:latin typeface="Maple Mono NF"/>
              </a:rPr>
              <a:t>: </a:t>
            </a:r>
            <a:r>
              <a:rPr sz="1000" b="0">
                <a:solidFill>
                  <a:schemeClr val="accent5">
                    <a:lumMod val="45000"/>
                    <a:lumOff val="55000"/>
                  </a:schemeClr>
                </a:solidFill>
                <a:latin typeface="Maple Mono NF"/>
              </a:rPr>
              <a:t>51</a:t>
            </a:r>
            <a:r>
              <a:rPr sz="1000" b="0">
                <a:solidFill>
                  <a:schemeClr val="bg1"/>
                </a:solidFill>
                <a:latin typeface="Maple Mono NF"/>
              </a:rPr>
              <a:t>}}</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4</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"routing"</a:t>
            </a:r>
            <a:r>
              <a:rPr sz="1000" b="0">
                <a:solidFill>
                  <a:schemeClr val="bg1"/>
                </a:solidFill>
                <a:latin typeface="Maple Mono NF"/>
              </a:rPr>
              <a:t>, </a:t>
            </a:r>
            <a:r>
              <a:rPr sz="1000" b="0">
                <a:solidFill>
                  <a:schemeClr val="accent2"/>
                </a:solidFill>
                <a:latin typeface="Maple Mono NF"/>
              </a:rPr>
              <a:t>"decision"</a:t>
            </a:r>
            <a:r>
              <a:rPr sz="1000" b="0">
                <a:solidFill>
                  <a:schemeClr val="bg1"/>
                </a:solidFill>
                <a:latin typeface="Maple Mono NF"/>
              </a:rPr>
              <a:t>: </a:t>
            </a:r>
            <a:r>
              <a:rPr sz="1000" b="0">
                <a:solidFill>
                  <a:schemeClr val="accent3">
                    <a:lumMod val="55000"/>
                    <a:lumOff val="45000"/>
                  </a:schemeClr>
                </a:solidFill>
                <a:latin typeface="Maple Mono NF"/>
              </a:rPr>
              <a:t>"tools"</a:t>
            </a:r>
            <a:r>
              <a:rPr sz="1000" b="0">
                <a:solidFill>
                  <a:schemeClr val="bg1"/>
                </a:solidFill>
                <a:latin typeface="Maple Mono NF"/>
              </a:rPr>
              <a:t>, </a:t>
            </a:r>
            <a:r>
              <a:rPr sz="1000" b="0">
                <a:solidFill>
                  <a:schemeClr val="accent2"/>
                </a:solidFill>
                <a:latin typeface="Maple Mono NF"/>
              </a:rPr>
              <a:t>"by"</a:t>
            </a:r>
            <a:r>
              <a:rPr sz="1000" b="0">
                <a:solidFill>
                  <a:schemeClr val="bg1"/>
                </a:solidFill>
                <a:latin typeface="Maple Mono NF"/>
              </a:rPr>
              <a:t>: </a:t>
            </a:r>
            <a:r>
              <a:rPr sz="1000" b="0">
                <a:solidFill>
                  <a:schemeClr val="accent3">
                    <a:lumMod val="55000"/>
                    <a:lumOff val="45000"/>
                  </a:schemeClr>
                </a:solidFill>
                <a:latin typeface="Maple Mono NF"/>
              </a:rPr>
              <a:t>"model"</a:t>
            </a:r>
            <a:r>
              <a:rPr sz="1000" b="0">
                <a:solidFill>
                  <a:schemeClr val="bg1"/>
                </a:solidFill>
                <a:latin typeface="Maple Mono NF"/>
              </a:rPr>
              <a:t>}</a:t>
            </a:r>
          </a:p>
          <a:p>
            <a:pPr algn="l">
              <a:buNone/>
            </a:pPr>
            <a:r>
              <a:rPr sz="1000" b="0">
                <a:solidFill>
                  <a:schemeClr val="accent6"/>
                </a:solidFill>
                <a:latin typeface="Maple Mono NF"/>
              </a:rPr>
              <a:t># ours: the next superstep starts here</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5</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"tool_request"</a:t>
            </a:r>
            <a:r>
              <a:rPr sz="1000" b="0">
                <a:solidFill>
                  <a:schemeClr val="bg1"/>
                </a:solidFill>
                <a:latin typeface="Maple Mono NF"/>
              </a:rPr>
              <a:t>, </a:t>
            </a:r>
            <a:r>
              <a:rPr sz="1000" b="0">
                <a:solidFill>
                  <a:schemeClr val="accent2"/>
                </a:solidFill>
                <a:latin typeface="Maple Mono NF"/>
              </a:rPr>
              <a:t>"tool"</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"args"</a:t>
            </a:r>
            <a:r>
              <a:rPr sz="1000" b="0">
                <a:solidFill>
                  <a:schemeClr val="bg1"/>
                </a:solidFill>
                <a:latin typeface="Maple Mono NF"/>
              </a:rPr>
              <a:t>: {</a:t>
            </a:r>
            <a:r>
              <a:rPr sz="1000" b="0">
                <a:solidFill>
                  <a:schemeClr val="accent2"/>
                </a:solidFill>
                <a:latin typeface="Maple Mono NF"/>
              </a:rPr>
              <a:t>"path"</a:t>
            </a:r>
            <a:r>
              <a:rPr sz="1000" b="0">
                <a:solidFill>
                  <a:schemeClr val="bg1"/>
                </a:solidFill>
                <a:latin typeface="Maple Mono NF"/>
              </a:rPr>
              <a:t>: </a:t>
            </a:r>
            <a:r>
              <a:rPr sz="1000" b="0">
                <a:solidFill>
                  <a:schemeClr val="accent3">
                    <a:lumMod val="55000"/>
                    <a:lumOff val="45000"/>
                  </a:schemeClr>
                </a:solidFill>
                <a:latin typeface="Maple Mono NF"/>
              </a:rPr>
              <a:t>"testcode/BenchmarkTest00283.py"</a:t>
            </a:r>
            <a:r>
              <a:rPr sz="1000" b="0">
                <a:solidFill>
                  <a:schemeClr val="bg1"/>
                </a:solidFill>
                <a:latin typeface="Maple Mono NF"/>
              </a:rPr>
              <a:t>}}</a:t>
            </a:r>
          </a:p>
          <a:p>
            <a:pPr algn="l">
              <a:buNone/>
            </a:pPr>
            <a:r>
              <a:rPr sz="1000" b="0">
                <a:solidFill>
                  <a:schemeClr val="bg1"/>
                </a:solidFill>
                <a:latin typeface="Maple Mono NF"/>
              </a:rPr>
              <a:t>{</a:t>
            </a:r>
            <a:r>
              <a:rPr sz="1000" b="0">
                <a:solidFill>
                  <a:schemeClr val="accent2"/>
                </a:solidFill>
                <a:latin typeface="Maple Mono NF"/>
              </a:rPr>
              <a:t>"step"</a:t>
            </a:r>
            <a:r>
              <a:rPr sz="1000" b="0">
                <a:solidFill>
                  <a:schemeClr val="bg1"/>
                </a:solidFill>
                <a:latin typeface="Maple Mono NF"/>
              </a:rPr>
              <a:t>: </a:t>
            </a:r>
            <a:r>
              <a:rPr sz="1000" b="0">
                <a:solidFill>
                  <a:schemeClr val="accent5">
                    <a:lumMod val="45000"/>
                    <a:lumOff val="55000"/>
                  </a:schemeClr>
                </a:solidFill>
                <a:latin typeface="Maple Mono NF"/>
              </a:rPr>
              <a:t>6</a:t>
            </a:r>
            <a:r>
              <a:rPr sz="1000" b="0">
                <a:solidFill>
                  <a:schemeClr val="bg1"/>
                </a:solidFill>
                <a:latin typeface="Maple Mono NF"/>
              </a:rPr>
              <a:t>, </a:t>
            </a:r>
            <a:r>
              <a:rPr sz="1000" b="0">
                <a:solidFill>
                  <a:schemeClr val="accent2"/>
                </a:solidFill>
                <a:latin typeface="Maple Mono NF"/>
              </a:rPr>
              <a:t>"kind"</a:t>
            </a:r>
            <a:r>
              <a:rPr sz="1000" b="0">
                <a:solidFill>
                  <a:schemeClr val="bg1"/>
                </a:solidFill>
                <a:latin typeface="Maple Mono NF"/>
              </a:rPr>
              <a:t>: </a:t>
            </a:r>
            <a:r>
              <a:rPr sz="1000" b="0">
                <a:solidFill>
                  <a:schemeClr val="accent3">
                    <a:lumMod val="55000"/>
                    <a:lumOff val="45000"/>
                  </a:schemeClr>
                </a:solidFill>
                <a:latin typeface="Maple Mono NF"/>
              </a:rPr>
              <a:t>"tool_result"</a:t>
            </a:r>
            <a:r>
              <a:rPr sz="1000" b="0">
                <a:solidFill>
                  <a:schemeClr val="bg1"/>
                </a:solidFill>
                <a:latin typeface="Maple Mono NF"/>
              </a:rPr>
              <a:t>, </a:t>
            </a:r>
            <a:r>
              <a:rPr sz="1000" b="0">
                <a:solidFill>
                  <a:schemeClr val="accent2"/>
                </a:solidFill>
                <a:latin typeface="Maple Mono NF"/>
              </a:rPr>
              <a:t>"tool"</a:t>
            </a:r>
            <a:r>
              <a:rPr sz="1000" b="0">
                <a:solidFill>
                  <a:schemeClr val="bg1"/>
                </a:solidFill>
                <a:latin typeface="Maple Mono NF"/>
              </a:rPr>
              <a:t>: </a:t>
            </a:r>
            <a:r>
              <a:rPr sz="1000" b="0">
                <a:solidFill>
                  <a:schemeClr val="accent3">
                    <a:lumMod val="55000"/>
                    <a:lumOff val="45000"/>
                  </a:schemeClr>
                </a:solidFill>
                <a:latin typeface="Maple Mono NF"/>
              </a:rPr>
              <a:t>"read_file"</a:t>
            </a:r>
            <a:r>
              <a:rPr sz="1000" b="0">
                <a:solidFill>
                  <a:schemeClr val="bg1"/>
                </a:solidFill>
                <a:latin typeface="Maple Mono NF"/>
              </a:rPr>
              <a:t>,</a:t>
            </a:r>
          </a:p>
          <a:p>
            <a:pPr algn="l">
              <a:buNone/>
            </a:pPr>
            <a:r>
              <a:rPr sz="1000" b="0">
                <a:solidFill>
                  <a:schemeClr val="bg1"/>
                </a:solidFill>
                <a:latin typeface="Maple Mono NF"/>
              </a:rPr>
              <a:t>  </a:t>
            </a:r>
            <a:r>
              <a:rPr sz="1000" b="0">
                <a:solidFill>
                  <a:schemeClr val="accent2"/>
                </a:solidFill>
                <a:latin typeface="Maple Mono NF"/>
              </a:rPr>
              <a:t>"ok"</a:t>
            </a:r>
            <a:r>
              <a:rPr sz="1000" b="0">
                <a:solidFill>
                  <a:schemeClr val="bg1"/>
                </a:solidFill>
                <a:latin typeface="Maple Mono NF"/>
              </a:rPr>
              <a:t>: </a:t>
            </a:r>
            <a:r>
              <a:rPr sz="1000" b="0">
                <a:solidFill>
                  <a:schemeClr val="accent5">
                    <a:lumMod val="45000"/>
                    <a:lumOff val="55000"/>
                  </a:schemeClr>
                </a:solidFill>
                <a:latin typeface="Maple Mono NF"/>
              </a:rPr>
              <a:t>true</a:t>
            </a:r>
            <a:r>
              <a:rPr sz="1000" b="0">
                <a:solidFill>
                  <a:schemeClr val="bg1"/>
                </a:solidFill>
                <a:latin typeface="Maple Mono NF"/>
              </a:rPr>
              <a:t>, </a:t>
            </a:r>
            <a:r>
              <a:rPr sz="1000" b="0">
                <a:solidFill>
                  <a:schemeClr val="accent2"/>
                </a:solidFill>
                <a:latin typeface="Maple Mono NF"/>
              </a:rPr>
              <a:t>"chars"</a:t>
            </a:r>
            <a:r>
              <a:rPr sz="1000" b="0">
                <a:solidFill>
                  <a:schemeClr val="bg1"/>
                </a:solidFill>
                <a:latin typeface="Maple Mono NF"/>
              </a:rPr>
              <a:t>: </a:t>
            </a:r>
            <a:r>
              <a:rPr sz="1000" b="0">
                <a:solidFill>
                  <a:schemeClr val="accent5">
                    <a:lumMod val="45000"/>
                    <a:lumOff val="55000"/>
                  </a:schemeClr>
                </a:solidFill>
                <a:latin typeface="Maple Mono NF"/>
              </a:rPr>
              <a:t>1665</a:t>
            </a:r>
            <a:r>
              <a:rPr sz="1000" b="0">
                <a:solidFill>
                  <a:schemeClr val="bg1"/>
                </a:solidFill>
                <a:latin typeface="Maple Mono NF"/>
              </a:rPr>
              <a:t>}</a:t>
            </a:r>
          </a:p>
        </p:txBody>
      </p:sp>
      <p:sp>
        <p:nvSpPr>
          <p:cNvPr id="10" name="Rectangle 9"/>
          <p:cNvSpPr/>
          <p:nvPr/>
        </p:nvSpPr>
        <p:spPr>
          <a:xfrm>
            <a:off x="319251" y="3767272"/>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The dispatcher logs both tool events while the tools node runs. After the node returns, the runtime stores the observation in state.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five parts of a tool contract</a:t>
            </a:r>
          </a:p>
        </p:txBody>
      </p:sp>
      <p:sp>
        <p:nvSpPr>
          <p:cNvPr id="3" name="Content Placeholder 2"/>
          <p:cNvSpPr>
            <a:spLocks noGrp="1"/>
          </p:cNvSpPr>
          <p:nvPr>
            <p:ph idx="1"/>
          </p:nvPr>
        </p:nvSpPr>
        <p:spPr>
          <a:xfrm>
            <a:off x="319251" y="700000"/>
            <a:ext cx="6014545" cy="2440280"/>
          </a:xfrm>
        </p:spPr>
        <p:txBody>
          <a:bodyPr wrap="square" anchor="ctr"/>
          <a:lstStyle/>
          <a:p>
            <a:pPr marL="0" indent="0">
              <a:buNone/>
            </a:pPr>
            <a:r>
              <a:rPr sz="1400" b="1">
                <a:solidFill>
                  <a:srgbClr val="28285E"/>
                </a:solidFill>
              </a:rPr>
              <a:t>The model receives the tool's name, description and argument schema.</a:t>
            </a:r>
          </a:p>
          <a:p>
            <a:pPr marL="400050" indent="-285750">
              <a:spcBef>
                <a:spcPts val="600"/>
              </a:spcBef>
              <a:spcAft>
                <a:spcPts val="600"/>
              </a:spcAft>
              <a:buClr>
                <a:srgbClr val="28285E"/>
              </a:buClr>
              <a:buSzPts val="1260"/>
              <a:buFont typeface="+mn-lt"/>
              <a:buChar char="●"/>
            </a:pPr>
            <a:r>
              <a:rPr sz="1400" b="1">
                <a:solidFill>
                  <a:schemeClr val="tx1"/>
                </a:solidFill>
              </a:rPr>
              <a:t>The model's tool definition</a:t>
            </a:r>
            <a:r>
              <a:rPr sz="1400" b="0">
                <a:solidFill>
                  <a:schemeClr val="tx1"/>
                </a:solidFill>
              </a:rPr>
              <a:t> gives the name, purpose, argument types and argument constraints.</a:t>
            </a:r>
          </a:p>
          <a:p>
            <a:pPr marL="400050" indent="-285750">
              <a:spcBef>
                <a:spcPts val="600"/>
              </a:spcBef>
              <a:spcAft>
                <a:spcPts val="600"/>
              </a:spcAft>
              <a:buClr>
                <a:srgbClr val="28285E"/>
              </a:buClr>
              <a:buSzPts val="1260"/>
              <a:buFont typeface="+mn-lt"/>
              <a:buChar char="●"/>
            </a:pPr>
            <a:r>
              <a:rPr sz="1400" b="1">
                <a:solidFill>
                  <a:schemeClr val="tx1"/>
                </a:solidFill>
              </a:rPr>
              <a:t>The implementation and dispatcher</a:t>
            </a:r>
            <a:r>
              <a:rPr sz="1400" b="0">
                <a:solidFill>
                  <a:schemeClr val="tx1"/>
                </a:solidFill>
              </a:rPr>
              <a:t> define results, errors, side effects such as file changes, and execution constraints.</a:t>
            </a:r>
          </a:p>
          <a:p>
            <a:pPr marL="400050" indent="-285750">
              <a:spcBef>
                <a:spcPts val="600"/>
              </a:spcBef>
              <a:spcAft>
                <a:spcPts val="600"/>
              </a:spcAft>
              <a:buClr>
                <a:srgbClr val="28285E"/>
              </a:buClr>
              <a:buSzPts val="1260"/>
              <a:buFont typeface="+mn-lt"/>
              <a:buChar char="●"/>
            </a:pPr>
            <a:r>
              <a:rPr sz="1400" b="1">
                <a:solidFill>
                  <a:schemeClr val="tx1"/>
                </a:solidFill>
              </a:rPr>
              <a:t>A description alone</a:t>
            </a:r>
            <a:r>
              <a:rPr sz="1400" b="0">
                <a:solidFill>
                  <a:schemeClr val="tx1"/>
                </a:solidFill>
              </a:rPr>
              <a:t> does not enforce the tool's constraints.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A tool contract specifies what a tool does, its accepted arguments, its results and errors, its side effects, and its execution constraints.</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Checks in the implementation and dispatcher enforce the tool's execution constraints.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 preconditions and postconditions</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A method specification states what the caller must provide and what the implementation must guarantee.</a:t>
            </a:r>
          </a:p>
          <a:p>
            <a:pPr marL="400050" indent="-285750">
              <a:spcBef>
                <a:spcPts val="600"/>
              </a:spcBef>
              <a:spcAft>
                <a:spcPts val="600"/>
              </a:spcAft>
              <a:buClr>
                <a:srgbClr val="28285E"/>
              </a:buClr>
              <a:buSzPts val="1260"/>
              <a:buFont typeface="+mn-lt"/>
              <a:buChar char="●"/>
            </a:pPr>
            <a:r>
              <a:rPr sz="1400" b="1">
                <a:solidFill>
                  <a:schemeClr val="tx1"/>
                </a:solidFill>
              </a:rPr>
              <a:t>The precondition</a:t>
            </a:r>
            <a:r>
              <a:rPr sz="1400" b="0">
                <a:solidFill>
                  <a:schemeClr val="tx1"/>
                </a:solidFill>
              </a:rPr>
              <a:t> states what must be true before a call, such as its path resolving inside the workspace.</a:t>
            </a:r>
          </a:p>
          <a:p>
            <a:pPr marL="400050" indent="-285750">
              <a:spcBef>
                <a:spcPts val="600"/>
              </a:spcBef>
              <a:spcAft>
                <a:spcPts val="600"/>
              </a:spcAft>
              <a:buClr>
                <a:srgbClr val="28285E"/>
              </a:buClr>
              <a:buSzPts val="1260"/>
              <a:buFont typeface="+mn-lt"/>
              <a:buChar char="●"/>
            </a:pPr>
            <a:r>
              <a:rPr sz="1400" b="1">
                <a:solidFill>
                  <a:schemeClr val="tx1"/>
                </a:solidFill>
              </a:rPr>
              <a:t>The postcondition</a:t>
            </a:r>
            <a:r>
              <a:rPr sz="1400" b="0">
                <a:solidFill>
                  <a:schemeClr val="tx1"/>
                </a:solidFill>
              </a:rPr>
              <a:t> states what the call guarantees if the precondition holds, including results, errors and side effects.</a:t>
            </a:r>
          </a:p>
          <a:p>
            <a:pPr marL="400050" indent="-285750">
              <a:spcBef>
                <a:spcPts val="600"/>
              </a:spcBef>
              <a:spcAft>
                <a:spcPts val="600"/>
              </a:spcAft>
              <a:buClr>
                <a:srgbClr val="28285E"/>
              </a:buClr>
              <a:buSzPts val="1260"/>
              <a:buFont typeface="+mn-lt"/>
              <a:buChar char="●"/>
            </a:pPr>
            <a:r>
              <a:rPr sz="1400" b="1">
                <a:solidFill>
                  <a:schemeClr val="tx1"/>
                </a:solidFill>
              </a:rPr>
              <a:t>The contract</a:t>
            </a:r>
            <a:r>
              <a:rPr sz="1400" b="0">
                <a:solidFill>
                  <a:schemeClr val="tx1"/>
                </a:solidFill>
              </a:rPr>
              <a:t> also specifies which invalid requests the runtime detects and how it refuses them without side effects.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caller must satisfy the precondition. The implementer must ensure the postcondition whenever the precondition holds.</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tool contract must also define what happens when a request violates a precondition.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Arguments supplied by the dispatcher</a:t>
            </a:r>
          </a:p>
        </p:txBody>
      </p:sp>
      <p:sp>
        <p:nvSpPr>
          <p:cNvPr id="3" name="Content Placeholder 2"/>
          <p:cNvSpPr>
            <a:spLocks noGrp="1"/>
          </p:cNvSpPr>
          <p:nvPr>
            <p:ph idx="1"/>
          </p:nvPr>
        </p:nvSpPr>
        <p:spPr>
          <a:xfrm>
            <a:off x="319251" y="700000"/>
            <a:ext cx="6014545" cy="731648"/>
          </a:xfrm>
        </p:spPr>
        <p:txBody>
          <a:bodyPr wrap="square" anchor="ctr">
            <a:normAutofit fontScale="70000" lnSpcReduction="20000"/>
          </a:bodyPr>
          <a:lstStyle/>
          <a:p>
            <a:pPr marL="0" indent="0">
              <a:buNone/>
            </a:pPr>
            <a:r>
              <a:rPr sz="1400" b="1">
                <a:solidFill>
                  <a:srgbClr val="28285E"/>
                </a:solidFill>
              </a:rPr>
              <a:t>The dispatcher binds arguments to parameters: it supplies the workspace root and matches the model's arguments to the remaining parameters.</a:t>
            </a:r>
          </a:p>
        </p:txBody>
      </p:sp>
      <p:sp>
        <p:nvSpPr>
          <p:cNvPr id="4" name="TextBox 3"/>
          <p:cNvSpPr txBox="1"/>
          <p:nvPr/>
        </p:nvSpPr>
        <p:spPr>
          <a:xfrm>
            <a:off x="319251" y="1621648"/>
            <a:ext cx="6014545" cy="200000"/>
          </a:xfrm>
          <a:prstGeom prst="rect">
            <a:avLst/>
          </a:prstGeom>
          <a:noFill/>
        </p:spPr>
        <p:txBody>
          <a:bodyPr wrap="none" lIns="0" tIns="0" rIns="0" bIns="0">
            <a:spAutoFit/>
          </a:bodyPr>
          <a:lstStyle/>
          <a:p>
            <a:r>
              <a:rPr sz="1200" b="1">
                <a:solidFill>
                  <a:srgbClr val="28285E"/>
                </a:solidFill>
              </a:rPr>
              <a:t>tools.py, </a:t>
            </a:r>
            <a:r>
              <a:rPr sz="1200" b="0">
                <a:solidFill>
                  <a:srgbClr val="28285E"/>
                </a:solidFill>
                <a:latin typeface="Maple Mono NF"/>
              </a:rPr>
              <a:t>read_file</a:t>
            </a:r>
            <a:r>
              <a:rPr sz="1200" b="1">
                <a:solidFill>
                  <a:srgbClr val="28285E"/>
                </a:solidFill>
              </a:rPr>
              <a:t>, lines 28 to 29. dispatch.py, line 143.</a:t>
            </a:r>
          </a:p>
        </p:txBody>
      </p:sp>
      <p:sp>
        <p:nvSpPr>
          <p:cNvPr id="5" name="CodeWindow"/>
          <p:cNvSpPr/>
          <p:nvPr/>
        </p:nvSpPr>
        <p:spPr>
          <a:xfrm>
            <a:off x="319251" y="1881648"/>
            <a:ext cx="6014545" cy="145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925464"/>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925464"/>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925464"/>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2211648"/>
            <a:ext cx="5714545" cy="105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read_file(</a:t>
            </a:r>
            <a:r>
              <a:rPr sz="1100" b="1">
                <a:solidFill>
                  <a:schemeClr val="accent4">
                    <a:lumMod val="70000"/>
                    <a:lumOff val="30000"/>
                  </a:schemeClr>
                </a:solidFill>
                <a:latin typeface="Maple Mono NF"/>
              </a:rPr>
              <a:t>ws</a:t>
            </a:r>
            <a:r>
              <a:rPr sz="1100" b="0">
                <a:solidFill>
                  <a:schemeClr val="bg1"/>
                </a:solidFill>
                <a:latin typeface="Maple Mono NF"/>
              </a:rPr>
              <a:t>: Path, path: str, start: int | </a:t>
            </a:r>
            <a:r>
              <a:rPr sz="1100" b="0">
                <a:solidFill>
                  <a:schemeClr val="accent2"/>
                </a:solidFill>
                <a:latin typeface="Maple Mono NF"/>
              </a:rPr>
              <a:t>None</a:t>
            </a:r>
            <a:r>
              <a:rPr sz="1100" b="0">
                <a:solidFill>
                  <a:schemeClr val="bg1"/>
                </a:solidFill>
                <a:latin typeface="Maple Mono NF"/>
              </a:rPr>
              <a:t> = </a:t>
            </a:r>
            <a:r>
              <a:rPr sz="1100" b="0">
                <a:solidFill>
                  <a:schemeClr val="accent2"/>
                </a:solidFill>
                <a:latin typeface="Maple Mono NF"/>
              </a:rPr>
              <a:t>None</a:t>
            </a:r>
            <a:r>
              <a:rPr sz="1100" b="0">
                <a:solidFill>
                  <a:schemeClr val="bg1"/>
                </a:solidFill>
                <a:latin typeface="Maple Mono NF"/>
              </a:rPr>
              <a:t>,</a:t>
            </a:r>
          </a:p>
          <a:p>
            <a:pPr algn="l">
              <a:buNone/>
            </a:pPr>
            <a:r>
              <a:rPr sz="1100" b="0">
                <a:solidFill>
                  <a:schemeClr val="bg1"/>
                </a:solidFill>
                <a:latin typeface="Maple Mono NF"/>
              </a:rPr>
              <a:t>              end: int | </a:t>
            </a:r>
            <a:r>
              <a:rPr sz="1100" b="0">
                <a:solidFill>
                  <a:schemeClr val="accent2"/>
                </a:solidFill>
                <a:latin typeface="Maple Mono NF"/>
              </a:rPr>
              <a:t>None</a:t>
            </a:r>
            <a:r>
              <a:rPr sz="1100" b="0">
                <a:solidFill>
                  <a:schemeClr val="bg1"/>
                </a:solidFill>
                <a:latin typeface="Maple Mono NF"/>
              </a:rPr>
              <a:t> = </a:t>
            </a:r>
            <a:r>
              <a:rPr sz="1100" b="0">
                <a:solidFill>
                  <a:schemeClr val="accent2"/>
                </a:solidFill>
                <a:latin typeface="Maple Mono NF"/>
              </a:rPr>
              <a:t>None</a:t>
            </a:r>
            <a:r>
              <a:rPr sz="1100" b="0">
                <a:solidFill>
                  <a:schemeClr val="bg1"/>
                </a:solidFill>
                <a:latin typeface="Maple Mono NF"/>
              </a:rPr>
              <a:t>) -&gt; str:</a:t>
            </a:r>
          </a:p>
          <a:p>
            <a:pPr algn="l">
              <a:buNone/>
            </a:pPr>
            <a:endParaRPr sz="1100" b="0">
              <a:solidFill>
                <a:schemeClr val="bg1"/>
              </a:solidFill>
              <a:latin typeface="Maple Mono NF"/>
            </a:endParaRPr>
          </a:p>
          <a:p>
            <a:pPr algn="l">
              <a:buNone/>
            </a:pPr>
            <a:r>
              <a:rPr sz="1100" b="0">
                <a:solidFill>
                  <a:schemeClr val="accent6"/>
                </a:solidFill>
                <a:latin typeface="Maple Mono NF"/>
              </a:rPr>
              <a:t># ours: the dispatcher supplies ws before the model's arguments</a:t>
            </a:r>
          </a:p>
          <a:p>
            <a:pPr algn="l">
              <a:buNone/>
            </a:pPr>
            <a:r>
              <a:rPr sz="1100" b="0">
                <a:solidFill>
                  <a:schemeClr val="bg1"/>
                </a:solidFill>
                <a:latin typeface="Maple Mono NF"/>
              </a:rPr>
              <a:t>inspect.signature(function).bind(</a:t>
            </a:r>
            <a:r>
              <a:rPr sz="1100" b="0">
                <a:solidFill>
                  <a:schemeClr val="accent2"/>
                </a:solidFill>
                <a:latin typeface="Maple Mono NF"/>
              </a:rPr>
              <a:t>self</a:t>
            </a:r>
            <a:r>
              <a:rPr sz="1100" b="0">
                <a:solidFill>
                  <a:schemeClr val="bg1"/>
                </a:solidFill>
                <a:latin typeface="Maple Mono NF"/>
              </a:rPr>
              <a:t>.</a:t>
            </a:r>
            <a:r>
              <a:rPr sz="1100" b="1">
                <a:solidFill>
                  <a:schemeClr val="accent4">
                    <a:lumMod val="70000"/>
                    <a:lumOff val="30000"/>
                  </a:schemeClr>
                </a:solidFill>
                <a:latin typeface="Maple Mono NF"/>
              </a:rPr>
              <a:t>ws</a:t>
            </a:r>
            <a:r>
              <a:rPr sz="1100" b="0">
                <a:solidFill>
                  <a:schemeClr val="bg1"/>
                </a:solidFill>
                <a:latin typeface="Maple Mono NF"/>
              </a:rPr>
              <a:t>, **args)</a:t>
            </a:r>
          </a:p>
        </p:txBody>
      </p:sp>
      <p:sp>
        <p:nvSpPr>
          <p:cNvPr id="10" name="Rectangle 9"/>
          <p:cNvSpPr/>
          <p:nvPr/>
        </p:nvSpPr>
        <p:spPr>
          <a:xfrm>
            <a:off x="319251" y="3521648"/>
            <a:ext cx="6014545" cy="7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Tools read configuration from the module. A </a:t>
            </a:r>
            <a:r>
              <a:rPr sz="1200" b="0">
                <a:solidFill>
                  <a:schemeClr val="tx2"/>
                </a:solidFill>
                <a:latin typeface="Maple Mono NF"/>
              </a:rPr>
              <a:t>config</a:t>
            </a:r>
            <a:r>
              <a:rPr sz="1200" b="1">
                <a:solidFill>
                  <a:schemeClr val="tx2"/>
                </a:solidFill>
              </a:rPr>
              <a:t> parameter would allow the model to supply its value.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five operations of the dispatch cycle</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runtime finds the tool, binds arguments, checks policy, runs the operation and records an observation.</a:t>
            </a:r>
          </a:p>
        </p:txBody>
      </p:sp>
      <p:pic>
        <p:nvPicPr>
          <p:cNvPr id="4" name="Figure s4-dispatch-cycle" descr="s4-dispatch-cycle.png"/>
          <p:cNvPicPr>
            <a:picLocks noChangeAspect="1"/>
          </p:cNvPicPr>
          <p:nvPr/>
        </p:nvPicPr>
        <p:blipFill>
          <a:blip r:embed="rId3"/>
          <a:stretch>
            <a:fillRect/>
          </a:stretch>
        </p:blipFill>
        <p:spPr>
          <a:xfrm>
            <a:off x="1524148" y="1390000"/>
            <a:ext cx="3604753" cy="2510000"/>
          </a:xfrm>
          <a:prstGeom prst="rect">
            <a:avLst/>
          </a:prstGeom>
        </p:spPr>
      </p:pic>
      <p:sp>
        <p:nvSpPr>
          <p:cNvPr id="5" name="Rectangle 4"/>
          <p:cNvSpPr/>
          <p:nvPr/>
        </p:nvSpPr>
        <p:spPr>
          <a:xfrm>
            <a:off x="319251" y="4090000"/>
            <a:ext cx="6014545" cy="70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Figure 7 in the lecture notes. The dispatcher returns an observation after a successful operation or a refused request.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Returning a refusal as an observation</a:t>
            </a:r>
          </a:p>
        </p:txBody>
      </p:sp>
      <p:sp>
        <p:nvSpPr>
          <p:cNvPr id="3" name="TextBox 2"/>
          <p:cNvSpPr txBox="1"/>
          <p:nvPr/>
        </p:nvSpPr>
        <p:spPr>
          <a:xfrm>
            <a:off x="319251" y="700000"/>
            <a:ext cx="6014545" cy="200000"/>
          </a:xfrm>
          <a:prstGeom prst="rect">
            <a:avLst/>
          </a:prstGeom>
          <a:noFill/>
        </p:spPr>
        <p:txBody>
          <a:bodyPr wrap="none" lIns="0" tIns="0" rIns="0" bIns="0">
            <a:spAutoFit/>
          </a:bodyPr>
          <a:lstStyle/>
          <a:p>
            <a:r>
              <a:rPr sz="1200" b="1">
                <a:solidFill>
                  <a:srgbClr val="28285E"/>
                </a:solidFill>
              </a:rPr>
              <a:t>dispatch.py, lines 134 to 164. Coercion and other exception handlers omitted.</a:t>
            </a:r>
          </a:p>
        </p:txBody>
      </p:sp>
      <p:sp>
        <p:nvSpPr>
          <p:cNvPr id="4" name="CodeWindow"/>
          <p:cNvSpPr/>
          <p:nvPr/>
        </p:nvSpPr>
        <p:spPr>
          <a:xfrm>
            <a:off x="319251" y="960000"/>
            <a:ext cx="6014545" cy="2690908"/>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WinDot 0"/>
          <p:cNvSpPr/>
          <p:nvPr/>
        </p:nvSpPr>
        <p:spPr>
          <a:xfrm>
            <a:off x="371717" y="100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inDot 1"/>
          <p:cNvSpPr/>
          <p:nvPr/>
        </p:nvSpPr>
        <p:spPr>
          <a:xfrm>
            <a:off x="581580" y="100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2"/>
          <p:cNvSpPr/>
          <p:nvPr/>
        </p:nvSpPr>
        <p:spPr>
          <a:xfrm>
            <a:off x="791443" y="100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Text"/>
          <p:cNvSpPr txBox="1"/>
          <p:nvPr/>
        </p:nvSpPr>
        <p:spPr>
          <a:xfrm>
            <a:off x="469251" y="1290000"/>
            <a:ext cx="5714545" cy="2290908"/>
          </a:xfrm>
          <a:prstGeom prst="rect">
            <a:avLst/>
          </a:prstGeom>
          <a:noFill/>
        </p:spPr>
        <p:txBody>
          <a:bodyPr wrap="none" lIns="0" tIns="0" rIns="0" bIns="0" anchor="t">
            <a:spAutoFit/>
          </a:bodyPr>
          <a:lstStyle/>
          <a:p>
            <a:pPr algn="l">
              <a:buNone/>
            </a:pPr>
            <a:r>
              <a:rPr sz="1000" b="0">
                <a:solidFill>
                  <a:schemeClr val="bg1"/>
                </a:solidFill>
                <a:latin typeface="Maple Mono NF"/>
              </a:rPr>
              <a:t>function = </a:t>
            </a:r>
            <a:r>
              <a:rPr sz="1000" b="0">
                <a:solidFill>
                  <a:schemeClr val="accent2"/>
                </a:solidFill>
                <a:latin typeface="Maple Mono NF"/>
              </a:rPr>
              <a:t>self</a:t>
            </a:r>
            <a:r>
              <a:rPr sz="1000" b="0">
                <a:solidFill>
                  <a:schemeClr val="bg1"/>
                </a:solidFill>
                <a:latin typeface="Maple Mono NF"/>
              </a:rPr>
              <a:t>.registry.get(name)</a:t>
            </a:r>
          </a:p>
          <a:p>
            <a:pPr algn="l">
              <a:buNone/>
            </a:pPr>
            <a:r>
              <a:rPr sz="1000" b="0">
                <a:solidFill>
                  <a:schemeClr val="accent2"/>
                </a:solidFill>
                <a:latin typeface="Maple Mono NF"/>
              </a:rPr>
              <a:t>if</a:t>
            </a:r>
            <a:r>
              <a:rPr sz="1000" b="0">
                <a:solidFill>
                  <a:schemeClr val="bg1"/>
                </a:solidFill>
                <a:latin typeface="Maple Mono NF"/>
              </a:rPr>
              <a:t> function is </a:t>
            </a:r>
            <a:r>
              <a:rPr sz="1000" b="0">
                <a:solidFill>
                  <a:schemeClr val="accent2"/>
                </a:solidFill>
                <a:latin typeface="Maple Mono NF"/>
              </a:rPr>
              <a:t>None</a:t>
            </a:r>
            <a:r>
              <a:rPr sz="1000" b="0">
                <a:solidFill>
                  <a:schemeClr val="bg1"/>
                </a:solidFill>
                <a:latin typeface="Maple Mono NF"/>
              </a:rPr>
              <a:t>:</a:t>
            </a:r>
          </a:p>
          <a:p>
            <a:pPr algn="l">
              <a:buNone/>
            </a:pPr>
            <a:r>
              <a:rPr sz="1000" b="0">
                <a:solidFill>
                  <a:schemeClr val="accent6"/>
                </a:solidFill>
                <a:latin typeface="Maple Mono NF"/>
              </a:rPr>
              <a:t>    # ours: return a refusal listing the registered tools</a:t>
            </a:r>
          </a:p>
          <a:p>
            <a:pPr algn="l">
              <a:buNone/>
            </a:pPr>
            <a:r>
              <a:rPr sz="1000" b="0">
                <a:solidFill>
                  <a:schemeClr val="accent2"/>
                </a:solidFill>
                <a:latin typeface="Maple Mono NF"/>
              </a:rPr>
              <a:t>try</a:t>
            </a:r>
            <a:r>
              <a:rPr sz="1000" b="0">
                <a:solidFill>
                  <a:schemeClr val="bg1"/>
                </a:solidFill>
                <a:latin typeface="Maple Mono NF"/>
              </a:rPr>
              <a:t>:</a:t>
            </a:r>
          </a:p>
          <a:p>
            <a:pPr algn="l">
              <a:buNone/>
            </a:pPr>
            <a:r>
              <a:rPr sz="1000" b="0">
                <a:solidFill>
                  <a:schemeClr val="bg1"/>
                </a:solidFill>
                <a:latin typeface="Maple Mono NF"/>
              </a:rPr>
              <a:t>    inspect.signature(function).bind(</a:t>
            </a:r>
            <a:r>
              <a:rPr sz="1000" b="0">
                <a:solidFill>
                  <a:schemeClr val="accent2"/>
                </a:solidFill>
                <a:latin typeface="Maple Mono NF"/>
              </a:rPr>
              <a:t>self</a:t>
            </a:r>
            <a:r>
              <a:rPr sz="1000" b="0">
                <a:solidFill>
                  <a:schemeClr val="bg1"/>
                </a:solidFill>
                <a:latin typeface="Maple Mono NF"/>
              </a:rPr>
              <a:t>.ws, **args)</a:t>
            </a:r>
          </a:p>
          <a:p>
            <a:pPr algn="l">
              <a:buNone/>
            </a:pPr>
            <a:r>
              <a:rPr sz="1000" b="0">
                <a:solidFill>
                  <a:schemeClr val="accent2"/>
                </a:solidFill>
                <a:latin typeface="Maple Mono NF"/>
              </a:rPr>
              <a:t>except</a:t>
            </a:r>
            <a:r>
              <a:rPr sz="1000" b="0">
                <a:solidFill>
                  <a:schemeClr val="bg1"/>
                </a:solidFill>
                <a:latin typeface="Maple Mono NF"/>
              </a:rPr>
              <a:t> TypeError </a:t>
            </a:r>
            <a:r>
              <a:rPr sz="1000" b="0">
                <a:solidFill>
                  <a:schemeClr val="accent2"/>
                </a:solidFill>
                <a:latin typeface="Maple Mono NF"/>
              </a:rPr>
              <a:t>as</a:t>
            </a:r>
            <a:r>
              <a:rPr sz="1000" b="0">
                <a:solidFill>
                  <a:schemeClr val="bg1"/>
                </a:solidFill>
                <a:latin typeface="Maple Mono NF"/>
              </a:rPr>
              <a:t> exc:</a:t>
            </a:r>
          </a:p>
          <a:p>
            <a:pPr algn="l">
              <a:buNone/>
            </a:pPr>
            <a:r>
              <a:rPr sz="1000" b="0">
                <a:solidFill>
                  <a:schemeClr val="bg1"/>
                </a:solidFill>
                <a:latin typeface="Maple Mono NF"/>
              </a:rPr>
              <a:t>    </a:t>
            </a:r>
            <a:r>
              <a:rPr sz="1000" b="0">
                <a:solidFill>
                  <a:schemeClr val="accent2"/>
                </a:solidFill>
                <a:latin typeface="Maple Mono NF"/>
              </a:rPr>
              <a:t>return</a:t>
            </a:r>
            <a:r>
              <a:rPr sz="1000" b="0">
                <a:solidFill>
                  <a:schemeClr val="bg1"/>
                </a:solidFill>
                <a:latin typeface="Maple Mono NF"/>
              </a:rPr>
              <a:t> </a:t>
            </a:r>
            <a:r>
              <a:rPr sz="1000" b="0">
                <a:solidFill>
                  <a:schemeClr val="accent2"/>
                </a:solidFill>
                <a:latin typeface="Maple Mono NF"/>
              </a:rPr>
              <a:t>self</a:t>
            </a:r>
            <a:r>
              <a:rPr sz="1000" b="0">
                <a:solidFill>
                  <a:schemeClr val="bg1"/>
                </a:solidFill>
                <a:latin typeface="Maple Mono NF"/>
              </a:rPr>
              <a:t>.</a:t>
            </a:r>
            <a:r>
              <a:rPr sz="1000" b="1">
                <a:solidFill>
                  <a:schemeClr val="accent4">
                    <a:lumMod val="70000"/>
                    <a:lumOff val="30000"/>
                  </a:schemeClr>
                </a:solidFill>
                <a:latin typeface="Maple Mono NF"/>
              </a:rPr>
              <a:t>_refuse</a:t>
            </a:r>
            <a:r>
              <a:rPr sz="1000" b="0">
                <a:solidFill>
                  <a:schemeClr val="bg1"/>
                </a:solidFill>
                <a:latin typeface="Maple Mono NF"/>
              </a:rPr>
              <a:t>(name, args, f</a:t>
            </a:r>
            <a:r>
              <a:rPr sz="1000" b="0">
                <a:solidFill>
                  <a:schemeClr val="accent3">
                    <a:lumMod val="55000"/>
                    <a:lumOff val="45000"/>
                  </a:schemeClr>
                </a:solidFill>
                <a:latin typeface="Maple Mono NF"/>
              </a:rPr>
              <a:t>"bad arguments for {name}: {exc}"</a:t>
            </a:r>
            <a:r>
              <a:rPr sz="1000" b="0">
                <a:solidFill>
                  <a:schemeClr val="bg1"/>
                </a:solidFill>
                <a:latin typeface="Maple Mono NF"/>
              </a:rPr>
              <a:t>)</a:t>
            </a:r>
          </a:p>
          <a:p>
            <a:pPr algn="l">
              <a:buNone/>
            </a:pPr>
            <a:r>
              <a:rPr sz="1000" b="0">
                <a:solidFill>
                  <a:schemeClr val="accent2"/>
                </a:solidFill>
                <a:latin typeface="Maple Mono NF"/>
              </a:rPr>
              <a:t>try</a:t>
            </a:r>
            <a:r>
              <a:rPr sz="1000" b="0">
                <a:solidFill>
                  <a:schemeClr val="bg1"/>
                </a:solidFill>
                <a:latin typeface="Maple Mono NF"/>
              </a:rPr>
              <a:t>:</a:t>
            </a:r>
          </a:p>
          <a:p>
            <a:pPr algn="l">
              <a:buNone/>
            </a:pPr>
            <a:r>
              <a:rPr sz="1000" b="0">
                <a:solidFill>
                  <a:schemeClr val="bg1"/>
                </a:solidFill>
                <a:latin typeface="Maple Mono NF"/>
              </a:rPr>
              <a:t>    value = function(</a:t>
            </a:r>
            <a:r>
              <a:rPr sz="1000" b="0">
                <a:solidFill>
                  <a:schemeClr val="accent2"/>
                </a:solidFill>
                <a:latin typeface="Maple Mono NF"/>
              </a:rPr>
              <a:t>self</a:t>
            </a:r>
            <a:r>
              <a:rPr sz="1000" b="0">
                <a:solidFill>
                  <a:schemeClr val="bg1"/>
                </a:solidFill>
                <a:latin typeface="Maple Mono NF"/>
              </a:rPr>
              <a:t>.ws, **args)</a:t>
            </a:r>
          </a:p>
          <a:p>
            <a:pPr algn="l">
              <a:buNone/>
            </a:pPr>
            <a:r>
              <a:rPr sz="1000" b="0">
                <a:solidFill>
                  <a:schemeClr val="accent2"/>
                </a:solidFill>
                <a:latin typeface="Maple Mono NF"/>
              </a:rPr>
              <a:t>except</a:t>
            </a:r>
            <a:r>
              <a:rPr sz="1000" b="0">
                <a:solidFill>
                  <a:schemeClr val="bg1"/>
                </a:solidFill>
                <a:latin typeface="Maple Mono NF"/>
              </a:rPr>
              <a:t> PathEscapeException </a:t>
            </a:r>
            <a:r>
              <a:rPr sz="1000" b="0">
                <a:solidFill>
                  <a:schemeClr val="accent2"/>
                </a:solidFill>
                <a:latin typeface="Maple Mono NF"/>
              </a:rPr>
              <a:t>as</a:t>
            </a:r>
            <a:r>
              <a:rPr sz="1000" b="0">
                <a:solidFill>
                  <a:schemeClr val="bg1"/>
                </a:solidFill>
                <a:latin typeface="Maple Mono NF"/>
              </a:rPr>
              <a:t> exc:</a:t>
            </a:r>
          </a:p>
          <a:p>
            <a:pPr algn="l">
              <a:buNone/>
            </a:pPr>
            <a:r>
              <a:rPr sz="1000" b="0">
                <a:solidFill>
                  <a:schemeClr val="bg1"/>
                </a:solidFill>
                <a:latin typeface="Maple Mono NF"/>
              </a:rPr>
              <a:t>    </a:t>
            </a:r>
            <a:r>
              <a:rPr sz="1000" b="0">
                <a:solidFill>
                  <a:schemeClr val="accent2"/>
                </a:solidFill>
                <a:latin typeface="Maple Mono NF"/>
              </a:rPr>
              <a:t>return</a:t>
            </a:r>
            <a:r>
              <a:rPr sz="1000" b="0">
                <a:solidFill>
                  <a:schemeClr val="bg1"/>
                </a:solidFill>
                <a:latin typeface="Maple Mono NF"/>
              </a:rPr>
              <a:t> </a:t>
            </a:r>
            <a:r>
              <a:rPr sz="1000" b="0">
                <a:solidFill>
                  <a:schemeClr val="accent2"/>
                </a:solidFill>
                <a:latin typeface="Maple Mono NF"/>
              </a:rPr>
              <a:t>self</a:t>
            </a:r>
            <a:r>
              <a:rPr sz="1000" b="0">
                <a:solidFill>
                  <a:schemeClr val="bg1"/>
                </a:solidFill>
                <a:latin typeface="Maple Mono NF"/>
              </a:rPr>
              <a:t>.</a:t>
            </a:r>
            <a:r>
              <a:rPr sz="1000" b="1">
                <a:solidFill>
                  <a:schemeClr val="accent4">
                    <a:lumMod val="70000"/>
                    <a:lumOff val="30000"/>
                  </a:schemeClr>
                </a:solidFill>
                <a:latin typeface="Maple Mono NF"/>
              </a:rPr>
              <a:t>_refuse</a:t>
            </a:r>
            <a:r>
              <a:rPr sz="1000" b="0">
                <a:solidFill>
                  <a:schemeClr val="bg1"/>
                </a:solidFill>
                <a:latin typeface="Maple Mono NF"/>
              </a:rPr>
              <a:t>(name, args, f</a:t>
            </a:r>
            <a:r>
              <a:rPr sz="1000" b="0">
                <a:solidFill>
                  <a:schemeClr val="accent3">
                    <a:lumMod val="55000"/>
                    <a:lumOff val="45000"/>
                  </a:schemeClr>
                </a:solidFill>
                <a:latin typeface="Maple Mono NF"/>
              </a:rPr>
              <a:t>"refused: {exc}"</a:t>
            </a:r>
            <a:r>
              <a:rPr sz="1000" b="0">
                <a:solidFill>
                  <a:schemeClr val="bg1"/>
                </a:solidFill>
                <a:latin typeface="Maple Mono NF"/>
              </a:rPr>
              <a:t>)</a:t>
            </a:r>
          </a:p>
          <a:p>
            <a:pPr algn="l">
              <a:buNone/>
            </a:pPr>
            <a:r>
              <a:rPr sz="1000" b="0">
                <a:solidFill>
                  <a:schemeClr val="accent2"/>
                </a:solidFill>
                <a:latin typeface="Maple Mono NF"/>
              </a:rPr>
              <a:t>return</a:t>
            </a:r>
            <a:r>
              <a:rPr sz="1000" b="0">
                <a:solidFill>
                  <a:schemeClr val="bg1"/>
                </a:solidFill>
                <a:latin typeface="Maple Mono NF"/>
              </a:rPr>
              <a:t> </a:t>
            </a:r>
            <a:r>
              <a:rPr sz="1000" b="0">
                <a:solidFill>
                  <a:schemeClr val="accent2"/>
                </a:solidFill>
                <a:latin typeface="Maple Mono NF"/>
              </a:rPr>
              <a:t>self</a:t>
            </a:r>
            <a:r>
              <a:rPr sz="1000" b="0">
                <a:solidFill>
                  <a:schemeClr val="bg1"/>
                </a:solidFill>
                <a:latin typeface="Maple Mono NF"/>
              </a:rPr>
              <a:t>._observe(name, args, </a:t>
            </a:r>
            <a:r>
              <a:rPr sz="1000" b="0">
                <a:solidFill>
                  <a:schemeClr val="accent2"/>
                </a:solidFill>
                <a:latin typeface="Maple Mono NF"/>
              </a:rPr>
              <a:t>self</a:t>
            </a:r>
            <a:r>
              <a:rPr sz="1000" b="0">
                <a:solidFill>
                  <a:schemeClr val="bg1"/>
                </a:solidFill>
                <a:latin typeface="Maple Mono NF"/>
              </a:rPr>
              <a:t>._render(name, value))</a:t>
            </a:r>
          </a:p>
        </p:txBody>
      </p:sp>
      <p:sp>
        <p:nvSpPr>
          <p:cNvPr id="9" name="Rectangle 8"/>
          <p:cNvSpPr/>
          <p:nvPr/>
        </p:nvSpPr>
        <p:spPr>
          <a:xfrm>
            <a:off x="319251" y="3840908"/>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An unhandled exception ends the run. A refusal returns an observation so the model can revise its request.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Evidence of a tool request and execution</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The first </a:t>
            </a:r>
            <a:r>
              <a:rPr sz="1400" b="0">
                <a:solidFill>
                  <a:srgbClr val="28285E"/>
                </a:solidFill>
                <a:latin typeface="Maple Mono NF"/>
              </a:rPr>
              <a:t>read_file</a:t>
            </a:r>
            <a:r>
              <a:rPr sz="1400" b="1">
                <a:solidFill>
                  <a:srgbClr val="28285E"/>
                </a:solidFill>
              </a:rPr>
              <a:t> call in run </a:t>
            </a:r>
            <a:r>
              <a:rPr sz="1400" b="0">
                <a:solidFill>
                  <a:srgbClr val="28285E"/>
                </a:solidFill>
                <a:latin typeface="Maple Mono NF"/>
              </a:rPr>
              <a:t>bc284c6b</a:t>
            </a:r>
            <a:r>
              <a:rPr sz="1400" b="1">
                <a:solidFill>
                  <a:srgbClr val="28285E"/>
                </a:solidFill>
              </a:rPr>
              <a:t> shows what each record or processing stage can establish about execution.</a:t>
            </a:r>
          </a:p>
        </p:txBody>
      </p:sp>
      <p:graphicFrame>
        <p:nvGraphicFramePr>
          <p:cNvPr id="4" name="Table 3"/>
          <p:cNvGraphicFramePr>
            <a:graphicFrameLocks noGrp="1"/>
          </p:cNvGraphicFramePr>
          <p:nvPr/>
        </p:nvGraphicFramePr>
        <p:xfrm>
          <a:off x="319251" y="1390000"/>
          <a:ext cx="6014545" cy="2700300"/>
        </p:xfrm>
        <a:graphic>
          <a:graphicData uri="http://schemas.openxmlformats.org/drawingml/2006/table">
            <a:tbl>
              <a:tblPr firstRow="1" bandRow="1">
                <a:tableStyleId>{5C22544A-7EE6-4342-B048-85BDC9FD1C3A}</a:tableStyleId>
              </a:tblPr>
              <a:tblGrid>
                <a:gridCol w="2100000">
                  <a:extLst>
                    <a:ext uri="{9D8B030D-6E8A-4147-A177-3AD203B41FA5}">
                      <a16:colId xmlns:a16="http://schemas.microsoft.com/office/drawing/2014/main" val="20000"/>
                    </a:ext>
                  </a:extLst>
                </a:gridCol>
                <a:gridCol w="3914545">
                  <a:extLst>
                    <a:ext uri="{9D8B030D-6E8A-4147-A177-3AD203B41FA5}">
                      <a16:colId xmlns:a16="http://schemas.microsoft.com/office/drawing/2014/main" val="20001"/>
                    </a:ext>
                  </a:extLst>
                </a:gridCol>
              </a:tblGrid>
              <a:tr h="300000">
                <a:tc>
                  <a:txBody>
                    <a:bodyPr/>
                    <a:lstStyle/>
                    <a:p>
                      <a:pPr>
                        <a:buNone/>
                      </a:pPr>
                      <a:r>
                        <a:rPr sz="1000" b="1">
                          <a:solidFill>
                            <a:schemeClr val="tx1"/>
                          </a:solidFill>
                        </a:rPr>
                        <a:t>Record or processing stage</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What it establishes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Model 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model input contains the available tool definitions. The trace does not record this 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Model response and </a:t>
                      </a:r>
                      <a:r>
                        <a:rPr sz="1000" b="0">
                          <a:solidFill>
                            <a:srgbClr val="28285E"/>
                          </a:solidFill>
                          <a:latin typeface="Maple Mono NF"/>
                        </a:rPr>
                        <a:t>model_call</a:t>
                      </a:r>
                      <a:r>
                        <a:rPr sz="1000" b="1">
                          <a:solidFill>
                            <a:srgbClr val="28285E"/>
                          </a:solidFill>
                        </a:rPr>
                        <a:t> event, step 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model asked to call a tool. The request alone does not establish that the tool ran.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tool_request event, step 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dispatcher received the request and began checking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Dispatcher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dispatcher checks the request. Refusal reasons appear in </a:t>
                      </a:r>
                      <a:r>
                        <a:rPr sz="1000" b="0">
                          <a:solidFill>
                            <a:schemeClr val="tx1"/>
                          </a:solidFill>
                          <a:latin typeface="Maple Mono NF"/>
                        </a:rPr>
                        <a:t>tool_result</a:t>
                      </a:r>
                      <a:r>
                        <a:rPr sz="1000" b="0">
                          <a:solidFill>
                            <a:schemeClr val="tx1"/>
                          </a:solidFill>
                        </a:rPr>
                        <a:t>, with no separate event for each check.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tool_result event, step 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tool returned 1,665 characters. The event records their count and omits the text.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State and next input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runtime stores the observation in state and adds a tool message to the next model input, at step 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5" name="Rectangle 4"/>
          <p:cNvSpPr/>
          <p:nvPr/>
        </p:nvSpPr>
        <p:spPr>
          <a:xfrm>
            <a:off x="319251" y="4135012"/>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6 in the lecture notes. The successful </a:t>
            </a:r>
            <a:r>
              <a:rPr sz="1200" b="0">
                <a:solidFill>
                  <a:schemeClr val="tx2"/>
                </a:solidFill>
                <a:latin typeface="Maple Mono NF"/>
              </a:rPr>
              <a:t>tool_result</a:t>
            </a:r>
            <a:r>
              <a:rPr sz="1200" b="1">
                <a:solidFill>
                  <a:schemeClr val="tx2"/>
                </a:solidFill>
              </a:rPr>
              <a:t> event establishes that the function ran and returned.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Complete mediation of resource access</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The model requests an action. Before executing it, the runtime checks whether the action is permitted.</a:t>
            </a:r>
          </a:p>
          <a:p>
            <a:pPr marL="400050" indent="-285750">
              <a:spcBef>
                <a:spcPts val="600"/>
              </a:spcBef>
              <a:spcAft>
                <a:spcPts val="600"/>
              </a:spcAft>
              <a:buClr>
                <a:srgbClr val="28285E"/>
              </a:buClr>
              <a:buSzPts val="1260"/>
              <a:buFont typeface="+mn-lt"/>
              <a:buChar char="●"/>
            </a:pPr>
            <a:r>
              <a:rPr sz="1400" b="1">
                <a:solidFill>
                  <a:schemeClr val="tx1"/>
                </a:solidFill>
              </a:rPr>
              <a:t>Every way of reaching a protected resource</a:t>
            </a:r>
            <a:r>
              <a:rPr sz="1400" b="0">
                <a:solidFill>
                  <a:schemeClr val="tx1"/>
                </a:solidFill>
              </a:rPr>
              <a:t>, such as a file, must pass through the required checks.</a:t>
            </a:r>
          </a:p>
          <a:p>
            <a:pPr marL="400050" indent="-285750">
              <a:spcBef>
                <a:spcPts val="600"/>
              </a:spcBef>
              <a:spcAft>
                <a:spcPts val="600"/>
              </a:spcAft>
              <a:buClr>
                <a:srgbClr val="28285E"/>
              </a:buClr>
              <a:buSzPts val="1260"/>
              <a:buFont typeface="+mn-lt"/>
              <a:buChar char="●"/>
            </a:pPr>
            <a:r>
              <a:rPr sz="1400" b="1">
                <a:solidFill>
                  <a:schemeClr val="tx1"/>
                </a:solidFill>
              </a:rPr>
              <a:t>A new tool or a wildcard file pattern (glob)</a:t>
            </a:r>
            <a:r>
              <a:rPr sz="1400" b="0">
                <a:solidFill>
                  <a:schemeClr val="tx1"/>
                </a:solidFill>
              </a:rPr>
              <a:t> may reach files without passing through the existing path check.</a:t>
            </a:r>
          </a:p>
          <a:p>
            <a:pPr marL="400050" indent="-285750">
              <a:spcBef>
                <a:spcPts val="600"/>
              </a:spcBef>
              <a:spcAft>
                <a:spcPts val="600"/>
              </a:spcAft>
              <a:buClr>
                <a:srgbClr val="28285E"/>
              </a:buClr>
              <a:buSzPts val="1260"/>
              <a:buFont typeface="+mn-lt"/>
              <a:buChar char="●"/>
            </a:pPr>
            <a:r>
              <a:rPr sz="1400" b="1">
                <a:solidFill>
                  <a:schemeClr val="tx1"/>
                </a:solidFill>
              </a:rPr>
              <a:t>Checking every request</a:t>
            </a:r>
            <a:r>
              <a:rPr sz="1400" b="0">
                <a:solidFill>
                  <a:schemeClr val="tx1"/>
                </a:solidFill>
              </a:rPr>
              <a:t> establishes that the policy is applied. The policy may still contain errors.</a:t>
            </a:r>
          </a:p>
        </p:txBody>
      </p:sp>
      <p:sp>
        <p:nvSpPr>
          <p:cNvPr id="4" name="Rectangle 3"/>
          <p:cNvSpPr/>
          <p:nvPr/>
        </p:nvSpPr>
        <p:spPr>
          <a:xfrm>
            <a:off x="319251" y="3330280"/>
            <a:ext cx="6014545" cy="7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Complete mediation requires every request for a protected resource to pass through a guard, which checks whether access is permitted.</a:t>
            </a:r>
          </a:p>
        </p:txBody>
      </p:sp>
      <p:sp>
        <p:nvSpPr>
          <p:cNvPr id="5" name="Rectangle 4"/>
          <p:cNvSpPr/>
          <p:nvPr/>
        </p:nvSpPr>
        <p:spPr>
          <a:xfrm>
            <a:off x="319251" y="4231081"/>
            <a:ext cx="6014545" cy="43000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We must check every route by which a tool can reach the resource.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Guarantees and their enforcing components</a:t>
            </a:r>
          </a:p>
        </p:txBody>
      </p:sp>
      <p:sp>
        <p:nvSpPr>
          <p:cNvPr id="3" name="Content Placeholder 2"/>
          <p:cNvSpPr>
            <a:spLocks noGrp="1"/>
          </p:cNvSpPr>
          <p:nvPr>
            <p:ph idx="1"/>
          </p:nvPr>
        </p:nvSpPr>
        <p:spPr>
          <a:xfrm>
            <a:off x="319251" y="700000"/>
            <a:ext cx="6014545" cy="500000"/>
          </a:xfrm>
        </p:spPr>
        <p:txBody>
          <a:bodyPr wrap="square" anchor="ctr">
            <a:normAutofit fontScale="70000" lnSpcReduction="20000"/>
          </a:bodyPr>
          <a:lstStyle/>
          <a:p>
            <a:pPr marL="0" indent="0">
              <a:buNone/>
            </a:pPr>
            <a:r>
              <a:rPr sz="1400" b="1">
                <a:solidFill>
                  <a:srgbClr val="28285E"/>
                </a:solidFill>
              </a:rPr>
              <a:t>This table shows how the runtime enforces each desired guarantee. The row about reads identifies a missing path check.</a:t>
            </a:r>
          </a:p>
        </p:txBody>
      </p:sp>
      <p:graphicFrame>
        <p:nvGraphicFramePr>
          <p:cNvPr id="4" name="Table 3"/>
          <p:cNvGraphicFramePr>
            <a:graphicFrameLocks noGrp="1"/>
          </p:cNvGraphicFramePr>
          <p:nvPr/>
        </p:nvGraphicFramePr>
        <p:xfrm>
          <a:off x="319251" y="1390000"/>
          <a:ext cx="6014545" cy="2779776"/>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3514545">
                  <a:extLst>
                    <a:ext uri="{9D8B030D-6E8A-4147-A177-3AD203B41FA5}">
                      <a16:colId xmlns:a16="http://schemas.microsoft.com/office/drawing/2014/main" val="20001"/>
                    </a:ext>
                  </a:extLst>
                </a:gridCol>
              </a:tblGrid>
              <a:tr h="300000">
                <a:tc>
                  <a:txBody>
                    <a:bodyPr/>
                    <a:lstStyle/>
                    <a:p>
                      <a:pPr>
                        <a:buNone/>
                      </a:pPr>
                      <a:r>
                        <a:rPr sz="1000" b="1">
                          <a:solidFill>
                            <a:schemeClr val="tx1"/>
                          </a:solidFill>
                        </a:rPr>
                        <a:t>Guarantee</a:t>
                      </a:r>
                    </a:p>
                  </a:txBody>
                  <a:tcPr marL="95250" marR="95250" marT="47625" marB="47625">
                    <a:lnB w="12700" cap="flat" cmpd="sng" algn="ctr">
                      <a:solidFill>
                        <a:schemeClr val="tx1"/>
                      </a:solidFill>
                    </a:lnB>
                    <a:noFill/>
                  </a:tcPr>
                </a:tc>
                <a:tc>
                  <a:txBody>
                    <a:bodyPr/>
                    <a:lstStyle/>
                    <a:p>
                      <a:pPr>
                        <a:buNone/>
                      </a:pPr>
                      <a:r>
                        <a:rPr sz="1000" b="1">
                          <a:solidFill>
                            <a:schemeClr val="tx1"/>
                          </a:solidFill>
                        </a:rPr>
                        <a:t>Where it is enforced</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buNone/>
                      </a:pPr>
                      <a:r>
                        <a:rPr sz="1000" b="1">
                          <a:solidFill>
                            <a:srgbClr val="28285E"/>
                          </a:solidFill>
                        </a:rPr>
                        <a:t>Only registered tools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dispatcher checks the registry before calling a tool.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buNone/>
                      </a:pPr>
                      <a:r>
                        <a:rPr sz="1000" b="1">
                          <a:solidFill>
                            <a:srgbClr val="28285E"/>
                          </a:solidFill>
                        </a:rPr>
                        <a:t>Arguments match the tool's parameters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dispatcher binds arguments and converts unambiguous type mismatches.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buNone/>
                      </a:pPr>
                      <a:r>
                        <a:rPr sz="1000" b="1">
                          <a:solidFill>
                            <a:srgbClr val="28285E"/>
                          </a:solidFill>
                        </a:rPr>
                        <a:t>Writes stay inside the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The edit tool, the only writer, checks paths with </a:t>
                      </a:r>
                      <a:r>
                        <a:rPr sz="1000" b="0">
                          <a:solidFill>
                            <a:schemeClr val="tx1"/>
                          </a:solidFill>
                          <a:latin typeface="Maple Mono NF"/>
                        </a:rPr>
                        <a:t>workspace.resolve</a:t>
                      </a:r>
                      <a:r>
                        <a:rPr sz="1000" b="0">
                          <a:solidFill>
                            <a:schemeClr val="tx1"/>
                          </a:solidFill>
                        </a:rPr>
                        <a: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buNone/>
                      </a:pPr>
                      <a:r>
                        <a:rPr sz="1000" b="1">
                          <a:solidFill>
                            <a:srgbClr val="28285E"/>
                          </a:solidFill>
                        </a:rPr>
                        <a:t>Reads stay inside the workspace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This is unenforced. The search glob bypasses </a:t>
                      </a:r>
                      <a:r>
                        <a:rPr sz="1000" b="0">
                          <a:solidFill>
                            <a:schemeClr val="tx1"/>
                          </a:solidFill>
                          <a:latin typeface="Maple Mono NF"/>
                        </a:rPr>
                        <a:t>workspace.resolve</a:t>
                      </a:r>
                      <a:r>
                        <a:rPr sz="1000" b="0">
                          <a:solidFill>
                            <a:schemeClr val="tx1"/>
                          </a:solidFill>
                        </a:rPr>
                        <a: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buNone/>
                      </a:pPr>
                      <a:r>
                        <a:rPr sz="1000" b="1">
                          <a:solidFill>
                            <a:srgbClr val="28285E"/>
                          </a:solidFill>
                        </a:rPr>
                        <a:t>The benchmark fixture stays unchanged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Tools work on a disposable copy of the fixture. The diff compares the copy with the original.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buNone/>
                      </a:pPr>
                      <a:r>
                        <a:rPr sz="1000" b="1">
                          <a:solidFill>
                            <a:srgbClr val="28285E"/>
                          </a:solidFill>
                        </a:rPr>
                        <a:t>No model call after budget exhaustion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Each model node checks the budget before calling.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r h="0">
                <a:tc>
                  <a:txBody>
                    <a:bodyPr/>
                    <a:lstStyle/>
                    <a:p>
                      <a:pPr>
                        <a:buNone/>
                      </a:pPr>
                      <a:r>
                        <a:rPr sz="1000" b="1">
                          <a:solidFill>
                            <a:srgbClr val="28285E"/>
                          </a:solidFill>
                        </a:rPr>
                        <a:t>At most one plan revision per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buNone/>
                      </a:pPr>
                      <a:r>
                        <a:rPr sz="1000" b="0">
                          <a:solidFill>
                            <a:schemeClr val="tx1"/>
                          </a:solidFill>
                        </a:rPr>
                        <a:t>On a stall, tools requests plan revision only if </a:t>
                      </a:r>
                      <a:r>
                        <a:rPr sz="1000" b="0">
                          <a:solidFill>
                            <a:schemeClr val="tx1"/>
                          </a:solidFill>
                          <a:latin typeface="Maple Mono NF"/>
                        </a:rPr>
                        <a:t>replanned_at</a:t>
                      </a:r>
                      <a:r>
                        <a:rPr sz="1000" b="0">
                          <a:solidFill>
                            <a:schemeClr val="tx1"/>
                          </a:solidFill>
                        </a:rPr>
                        <a:t> is unset.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7"/>
                  </a:ext>
                </a:extLst>
              </a:tr>
            </a:tbl>
          </a:graphicData>
        </a:graphic>
      </p:graphicFrame>
      <p:sp>
        <p:nvSpPr>
          <p:cNvPr id="5" name="Rectangle 4"/>
          <p:cNvSpPr/>
          <p:nvPr/>
        </p:nvSpPr>
        <p:spPr>
          <a:xfrm>
            <a:off x="319251" y="4359776"/>
            <a:ext cx="601454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Table 7 in the notes. The search tool can read outside the workspace because it skips the path check.</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Checking paths against the workspace root</a:t>
            </a:r>
          </a:p>
        </p:txBody>
      </p:sp>
      <p:sp>
        <p:nvSpPr>
          <p:cNvPr id="3" name="Content Placeholder 2"/>
          <p:cNvSpPr>
            <a:spLocks noGrp="1"/>
          </p:cNvSpPr>
          <p:nvPr>
            <p:ph idx="1"/>
          </p:nvPr>
        </p:nvSpPr>
        <p:spPr>
          <a:xfrm>
            <a:off x="319251" y="700000"/>
            <a:ext cx="6014545" cy="500000"/>
          </a:xfrm>
        </p:spPr>
        <p:txBody>
          <a:bodyPr wrap="square" anchor="ctr">
            <a:normAutofit fontScale="77500" lnSpcReduction="20000"/>
          </a:bodyPr>
          <a:lstStyle/>
          <a:p>
            <a:pPr marL="0" indent="0">
              <a:buNone/>
            </a:pPr>
            <a:r>
              <a:rPr sz="1400" b="1">
                <a:solidFill>
                  <a:srgbClr val="28285E"/>
                </a:solidFill>
              </a:rPr>
              <a:t>The tool follows symlinks and resolves .. segments before checking whether the path lies inside the workspace.</a:t>
            </a:r>
          </a:p>
        </p:txBody>
      </p:sp>
      <p:sp>
        <p:nvSpPr>
          <p:cNvPr id="4" name="TextBox 3"/>
          <p:cNvSpPr txBox="1"/>
          <p:nvPr/>
        </p:nvSpPr>
        <p:spPr>
          <a:xfrm>
            <a:off x="319251" y="1390000"/>
            <a:ext cx="6014545" cy="200000"/>
          </a:xfrm>
          <a:prstGeom prst="rect">
            <a:avLst/>
          </a:prstGeom>
          <a:noFill/>
        </p:spPr>
        <p:txBody>
          <a:bodyPr wrap="none" lIns="0" tIns="0" rIns="0" bIns="0">
            <a:spAutoFit/>
          </a:bodyPr>
          <a:lstStyle/>
          <a:p>
            <a:r>
              <a:rPr sz="1200" b="1">
                <a:solidFill>
                  <a:srgbClr val="28285E"/>
                </a:solidFill>
              </a:rPr>
              <a:t>workspace.py, resolve, lines 50 to 68. Docstring and comments omitted.</a:t>
            </a:r>
          </a:p>
        </p:txBody>
      </p:sp>
      <p:sp>
        <p:nvSpPr>
          <p:cNvPr id="5" name="CodeWindow"/>
          <p:cNvSpPr/>
          <p:nvPr/>
        </p:nvSpPr>
        <p:spPr>
          <a:xfrm>
            <a:off x="319251" y="1650000"/>
            <a:ext cx="6014545" cy="1870000"/>
          </a:xfrm>
          <a:prstGeom prst="roundRect">
            <a:avLst>
              <a:gd name="adj" fmla="val 2731"/>
            </a:avLst>
          </a:prstGeom>
          <a:solidFill>
            <a:schemeClr val="tx1">
              <a:lumMod val="85000"/>
              <a:lumOff val="15000"/>
            </a:schemeClr>
          </a:solidFill>
          <a:ln>
            <a:solidFill>
              <a:schemeClr val="accent1">
                <a:lumMod val="1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WinDot 0"/>
          <p:cNvSpPr/>
          <p:nvPr/>
        </p:nvSpPr>
        <p:spPr>
          <a:xfrm>
            <a:off x="371717" y="1693816"/>
            <a:ext cx="157397" cy="157397"/>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WinDot 1"/>
          <p:cNvSpPr/>
          <p:nvPr/>
        </p:nvSpPr>
        <p:spPr>
          <a:xfrm>
            <a:off x="581580" y="1693816"/>
            <a:ext cx="157397" cy="157397"/>
          </a:xfrm>
          <a:prstGeom prst="ellipse">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inDot 2"/>
          <p:cNvSpPr/>
          <p:nvPr/>
        </p:nvSpPr>
        <p:spPr>
          <a:xfrm>
            <a:off x="791443" y="1693816"/>
            <a:ext cx="157397" cy="157397"/>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WinText"/>
          <p:cNvSpPr txBox="1"/>
          <p:nvPr/>
        </p:nvSpPr>
        <p:spPr>
          <a:xfrm>
            <a:off x="469251" y="1980000"/>
            <a:ext cx="5714545" cy="1470000"/>
          </a:xfrm>
          <a:prstGeom prst="rect">
            <a:avLst/>
          </a:prstGeom>
          <a:noFill/>
        </p:spPr>
        <p:txBody>
          <a:bodyPr wrap="none" lIns="0" tIns="0" rIns="0" bIns="0" anchor="t">
            <a:spAutoFit/>
          </a:bodyPr>
          <a:lstStyle/>
          <a:p>
            <a:pPr algn="l">
              <a:buNone/>
            </a:pPr>
            <a:r>
              <a:rPr sz="1100" b="0">
                <a:solidFill>
                  <a:schemeClr val="accent2"/>
                </a:solidFill>
                <a:latin typeface="Maple Mono NF"/>
              </a:rPr>
              <a:t>def</a:t>
            </a:r>
            <a:r>
              <a:rPr sz="1100" b="0">
                <a:solidFill>
                  <a:schemeClr val="bg1"/>
                </a:solidFill>
                <a:latin typeface="Maple Mono NF"/>
              </a:rPr>
              <a:t> resolve(root: Path, path: str) -&gt; Path:</a:t>
            </a:r>
          </a:p>
          <a:p>
            <a:pPr algn="l">
              <a:buNone/>
            </a:pPr>
            <a:r>
              <a:rPr sz="1100" b="0">
                <a:solidFill>
                  <a:schemeClr val="bg1"/>
                </a:solidFill>
                <a:latin typeface="Maple Mono NF"/>
              </a:rPr>
              <a:t>    root = Path(root).resolve()</a:t>
            </a:r>
          </a:p>
          <a:p>
            <a:pPr algn="l">
              <a:buNone/>
            </a:pPr>
            <a:r>
              <a:rPr sz="1100" b="0">
                <a:solidFill>
                  <a:schemeClr val="bg1"/>
                </a:solidFill>
                <a:latin typeface="Maple Mono NF"/>
              </a:rPr>
              <a:t>    candidate = (root / path).resolve()</a:t>
            </a:r>
          </a:p>
          <a:p>
            <a:pPr algn="l">
              <a:buNone/>
            </a:pPr>
            <a:r>
              <a:rPr sz="1100" b="0">
                <a:solidFill>
                  <a:schemeClr val="bg1"/>
                </a:solidFill>
                <a:latin typeface="Maple Mono NF"/>
              </a:rPr>
              <a:t>    </a:t>
            </a:r>
            <a:r>
              <a:rPr sz="1100" b="0">
                <a:solidFill>
                  <a:schemeClr val="accent2"/>
                </a:solidFill>
                <a:latin typeface="Maple Mono NF"/>
              </a:rPr>
              <a:t>if</a:t>
            </a:r>
            <a:r>
              <a:rPr sz="1100" b="0">
                <a:solidFill>
                  <a:schemeClr val="bg1"/>
                </a:solidFill>
                <a:latin typeface="Maple Mono NF"/>
              </a:rPr>
              <a:t> </a:t>
            </a:r>
            <a:r>
              <a:rPr sz="1100" b="0">
                <a:solidFill>
                  <a:schemeClr val="accent2"/>
                </a:solidFill>
                <a:latin typeface="Maple Mono NF"/>
              </a:rPr>
              <a:t>not</a:t>
            </a:r>
            <a:r>
              <a:rPr sz="1100" b="0">
                <a:solidFill>
                  <a:schemeClr val="bg1"/>
                </a:solidFill>
                <a:latin typeface="Maple Mono NF"/>
              </a:rPr>
              <a:t> candidate.</a:t>
            </a:r>
            <a:r>
              <a:rPr sz="1100" b="1">
                <a:solidFill>
                  <a:schemeClr val="accent4">
                    <a:lumMod val="70000"/>
                    <a:lumOff val="30000"/>
                  </a:schemeClr>
                </a:solidFill>
                <a:latin typeface="Maple Mono NF"/>
              </a:rPr>
              <a:t>is_relative_to</a:t>
            </a:r>
            <a:r>
              <a:rPr sz="1100" b="0">
                <a:solidFill>
                  <a:schemeClr val="bg1"/>
                </a:solidFill>
                <a:latin typeface="Maple Mono NF"/>
              </a:rPr>
              <a:t>(root):</a:t>
            </a:r>
          </a:p>
          <a:p>
            <a:pPr algn="l">
              <a:buNone/>
            </a:pPr>
            <a:r>
              <a:rPr sz="1100" b="0">
                <a:solidFill>
                  <a:schemeClr val="bg1"/>
                </a:solidFill>
                <a:latin typeface="Maple Mono NF"/>
              </a:rPr>
              <a:t>        </a:t>
            </a:r>
            <a:r>
              <a:rPr sz="1100" b="0">
                <a:solidFill>
                  <a:schemeClr val="accent2"/>
                </a:solidFill>
                <a:latin typeface="Maple Mono NF"/>
              </a:rPr>
              <a:t>raise</a:t>
            </a:r>
            <a:r>
              <a:rPr sz="1100" b="0">
                <a:solidFill>
                  <a:schemeClr val="bg1"/>
                </a:solidFill>
                <a:latin typeface="Maple Mono NF"/>
              </a:rPr>
              <a:t> PathEscapeException(</a:t>
            </a:r>
          </a:p>
          <a:p>
            <a:pPr algn="l">
              <a:buNone/>
            </a:pPr>
            <a:r>
              <a:rPr sz="1100" b="0">
                <a:solidFill>
                  <a:schemeClr val="bg1"/>
                </a:solidFill>
                <a:latin typeface="Maple Mono NF"/>
              </a:rPr>
              <a:t>            f</a:t>
            </a:r>
            <a:r>
              <a:rPr sz="1100" b="0">
                <a:solidFill>
                  <a:schemeClr val="accent3">
                    <a:lumMod val="55000"/>
                    <a:lumOff val="45000"/>
                  </a:schemeClr>
                </a:solidFill>
                <a:latin typeface="Maple Mono NF"/>
              </a:rPr>
              <a:t>"{path!r} resolves outside the workspace root"</a:t>
            </a:r>
            <a:r>
              <a:rPr sz="1100" b="0">
                <a:solidFill>
                  <a:schemeClr val="bg1"/>
                </a:solidFill>
                <a:latin typeface="Maple Mono NF"/>
              </a:rPr>
              <a:t>)</a:t>
            </a:r>
          </a:p>
          <a:p>
            <a:pPr algn="l">
              <a:buNone/>
            </a:pPr>
            <a:r>
              <a:rPr sz="1100" b="0">
                <a:solidFill>
                  <a:schemeClr val="bg1"/>
                </a:solidFill>
                <a:latin typeface="Maple Mono NF"/>
              </a:rPr>
              <a:t>    </a:t>
            </a:r>
            <a:r>
              <a:rPr sz="1100" b="0">
                <a:solidFill>
                  <a:schemeClr val="accent2"/>
                </a:solidFill>
                <a:latin typeface="Maple Mono NF"/>
              </a:rPr>
              <a:t>return</a:t>
            </a:r>
            <a:r>
              <a:rPr sz="1100" b="0">
                <a:solidFill>
                  <a:schemeClr val="bg1"/>
                </a:solidFill>
                <a:latin typeface="Maple Mono NF"/>
              </a:rPr>
              <a:t> candidate</a:t>
            </a:r>
          </a:p>
        </p:txBody>
      </p:sp>
      <p:sp>
        <p:nvSpPr>
          <p:cNvPr id="10" name="Rectangle 9"/>
          <p:cNvSpPr/>
          <p:nvPr/>
        </p:nvSpPr>
        <p:spPr>
          <a:xfrm>
            <a:off x="319251" y="3710000"/>
            <a:ext cx="6014545" cy="562963"/>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chemeClr val="tx2"/>
                </a:solidFill>
              </a:rPr>
              <a:t>Both </a:t>
            </a:r>
            <a:r>
              <a:rPr sz="1200" b="0">
                <a:solidFill>
                  <a:schemeClr val="tx2"/>
                </a:solidFill>
                <a:latin typeface="Maple Mono NF"/>
              </a:rPr>
              <a:t>/tmp/ws</a:t>
            </a:r>
            <a:r>
              <a:rPr sz="1200" b="1">
                <a:solidFill>
                  <a:schemeClr val="tx2"/>
                </a:solidFill>
              </a:rPr>
              <a:t> and </a:t>
            </a:r>
            <a:r>
              <a:rPr sz="1200" b="0">
                <a:solidFill>
                  <a:schemeClr val="tx2"/>
                </a:solidFill>
                <a:latin typeface="Maple Mono NF"/>
              </a:rPr>
              <a:t>/tmp/ws-evil</a:t>
            </a:r>
            <a:r>
              <a:rPr sz="1200" b="1">
                <a:solidFill>
                  <a:schemeClr val="tx2"/>
                </a:solidFill>
              </a:rPr>
              <a:t> start with </a:t>
            </a:r>
            <a:r>
              <a:rPr sz="1200" b="0">
                <a:solidFill>
                  <a:schemeClr val="tx2"/>
                </a:solidFill>
                <a:latin typeface="Maple Mono NF"/>
              </a:rPr>
              <a:t>/tmp/ws</a:t>
            </a:r>
            <a:r>
              <a:rPr sz="1200" b="1">
                <a:solidFill>
                  <a:schemeClr val="tx2"/>
                </a:solidFill>
              </a:rPr>
              <a:t>. A prefix comparison would wrongly accept the second directory.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refused read and an unchecked search</a:t>
            </a:r>
          </a:p>
        </p:txBody>
      </p:sp>
      <p:sp>
        <p:nvSpPr>
          <p:cNvPr id="3" name="Content Placeholder 2"/>
          <p:cNvSpPr>
            <a:spLocks noGrp="1"/>
          </p:cNvSpPr>
          <p:nvPr>
            <p:ph idx="1"/>
          </p:nvPr>
        </p:nvSpPr>
        <p:spPr>
          <a:xfrm>
            <a:off x="319251" y="700000"/>
            <a:ext cx="6014545" cy="2440280"/>
          </a:xfrm>
        </p:spPr>
        <p:txBody>
          <a:bodyPr wrap="square" anchor="ctr">
            <a:normAutofit fontScale="92500" lnSpcReduction="10000"/>
          </a:bodyPr>
          <a:lstStyle/>
          <a:p>
            <a:pPr marL="0" indent="0">
              <a:buNone/>
            </a:pPr>
            <a:r>
              <a:rPr sz="1400" b="1">
                <a:solidFill>
                  <a:srgbClr val="28285E"/>
                </a:solidFill>
              </a:rPr>
              <a:t>The recorded runs contain no refusals. This demonstration sends requests directly to the dispatcher.</a:t>
            </a:r>
          </a:p>
          <a:p>
            <a:pPr marL="400050" indent="-285750">
              <a:spcBef>
                <a:spcPts val="600"/>
              </a:spcBef>
              <a:spcAft>
                <a:spcPts val="600"/>
              </a:spcAft>
              <a:buClr>
                <a:srgbClr val="28285E"/>
              </a:buClr>
              <a:buSzPts val="1260"/>
              <a:buFont typeface="+mn-lt"/>
              <a:buChar char="●"/>
            </a:pPr>
            <a:r>
              <a:rPr sz="1400" b="0">
                <a:solidFill>
                  <a:schemeClr val="tx1"/>
                </a:solidFill>
                <a:latin typeface="Maple Mono NF"/>
              </a:rPr>
              <a:t>read_file</a:t>
            </a:r>
            <a:r>
              <a:rPr sz="1400" b="0">
                <a:solidFill>
                  <a:schemeClr val="tx1"/>
                </a:solidFill>
              </a:rPr>
              <a:t> refuses </a:t>
            </a:r>
            <a:r>
              <a:rPr sz="1400" b="0">
                <a:solidFill>
                  <a:schemeClr val="tx1"/>
                </a:solidFill>
                <a:latin typeface="Maple Mono NF"/>
              </a:rPr>
              <a:t>../../etc/passwd</a:t>
            </a:r>
            <a:r>
              <a:rPr sz="1400" b="0">
                <a:solidFill>
                  <a:schemeClr val="tx1"/>
                </a:solidFill>
              </a:rPr>
              <a:t>. The dispatcher returns an observation with </a:t>
            </a:r>
            <a:r>
              <a:rPr sz="1400" b="0">
                <a:solidFill>
                  <a:schemeClr val="tx1"/>
                </a:solidFill>
                <a:latin typeface="Maple Mono NF"/>
              </a:rPr>
              <a:t>ok=false</a:t>
            </a:r>
            <a:r>
              <a:rPr sz="1400" b="0">
                <a:solidFill>
                  <a:schemeClr val="tx1"/>
                </a:solidFill>
              </a:rPr>
              <a:t> and the reason.</a:t>
            </a:r>
          </a:p>
          <a:p>
            <a:pPr marL="400050" indent="-285750">
              <a:spcBef>
                <a:spcPts val="600"/>
              </a:spcBef>
              <a:spcAft>
                <a:spcPts val="600"/>
              </a:spcAft>
              <a:buClr>
                <a:srgbClr val="28285E"/>
              </a:buClr>
              <a:buSzPts val="1260"/>
              <a:buFont typeface="+mn-lt"/>
              <a:buChar char="●"/>
            </a:pPr>
            <a:r>
              <a:rPr sz="1400" b="1">
                <a:solidFill>
                  <a:schemeClr val="tx1"/>
                </a:solidFill>
              </a:rPr>
              <a:t>search</a:t>
            </a:r>
            <a:r>
              <a:rPr sz="1400" b="0">
                <a:solidFill>
                  <a:schemeClr val="tx1"/>
                </a:solidFill>
              </a:rPr>
              <a:t> with </a:t>
            </a:r>
            <a:r>
              <a:rPr sz="1400" b="0">
                <a:solidFill>
                  <a:schemeClr val="tx1"/>
                </a:solidFill>
                <a:latin typeface="Maple Mono NF"/>
              </a:rPr>
              <a:t>../*-withheld/testcode/*.py</a:t>
            </a:r>
            <a:r>
              <a:rPr sz="1400" b="0">
                <a:solidFill>
                  <a:schemeClr val="tx1"/>
                </a:solidFill>
              </a:rPr>
              <a:t> reads benchmark files in a sibling directory outside the workspace and reports </a:t>
            </a:r>
            <a:r>
              <a:rPr sz="1400" b="0">
                <a:solidFill>
                  <a:schemeClr val="tx1"/>
                </a:solidFill>
                <a:latin typeface="Maple Mono NF"/>
              </a:rPr>
              <a:t>ok=true</a:t>
            </a:r>
            <a:r>
              <a:rPr sz="1400" b="0">
                <a:solidFill>
                  <a:schemeClr val="tx1"/>
                </a:solidFill>
              </a:rPr>
              <a:t>.</a:t>
            </a:r>
          </a:p>
          <a:p>
            <a:pPr marL="400050" indent="-285750">
              <a:spcBef>
                <a:spcPts val="600"/>
              </a:spcBef>
              <a:spcAft>
                <a:spcPts val="600"/>
              </a:spcAft>
              <a:buClr>
                <a:srgbClr val="28285E"/>
              </a:buClr>
              <a:buSzPts val="1260"/>
              <a:buFont typeface="+mn-lt"/>
              <a:buChar char="●"/>
            </a:pPr>
            <a:r>
              <a:rPr sz="1400" b="0">
                <a:solidFill>
                  <a:schemeClr val="tx1"/>
                </a:solidFill>
                <a:latin typeface="Maple Mono NF"/>
              </a:rPr>
              <a:t>read_file</a:t>
            </a:r>
            <a:r>
              <a:rPr sz="1400" b="1">
                <a:solidFill>
                  <a:schemeClr val="tx1"/>
                </a:solidFill>
              </a:rPr>
              <a:t> and edit</a:t>
            </a:r>
            <a:r>
              <a:rPr sz="1400" b="0">
                <a:solidFill>
                  <a:schemeClr val="tx1"/>
                </a:solidFill>
              </a:rPr>
              <a:t> check paths with </a:t>
            </a:r>
            <a:r>
              <a:rPr sz="1400" b="0">
                <a:solidFill>
                  <a:schemeClr val="tx1"/>
                </a:solidFill>
                <a:latin typeface="Maple Mono NF"/>
              </a:rPr>
              <a:t>workspace.resolve</a:t>
            </a:r>
            <a:r>
              <a:rPr sz="1400" b="0">
                <a:solidFill>
                  <a:schemeClr val="tx1"/>
                </a:solidFill>
              </a:rPr>
              <a:t>. The search tool uses its glob without this check.</a:t>
            </a:r>
          </a:p>
        </p:txBody>
      </p:sp>
      <p:sp>
        <p:nvSpPr>
          <p:cNvPr id="4" name="Rectangle 3"/>
          <p:cNvSpPr/>
          <p:nvPr/>
        </p:nvSpPr>
        <p:spPr>
          <a:xfrm>
            <a:off x="319251" y="333028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The repair is to check every file matched by search with </a:t>
            </a:r>
            <a:r>
              <a:rPr sz="1400" b="0">
                <a:solidFill>
                  <a:schemeClr val="tx2"/>
                </a:solidFill>
                <a:latin typeface="Maple Mono NF"/>
              </a:rPr>
              <a:t>workspace.resolve</a:t>
            </a:r>
            <a:r>
              <a:rPr sz="1400" b="0">
                <a:solidFill>
                  <a:schemeClr val="tx2"/>
                </a:solidFill>
              </a:rPr>
              <a:t> before opening it.</a:t>
            </a:r>
          </a:p>
        </p:txBody>
      </p:sp>
      <p:sp>
        <p:nvSpPr>
          <p:cNvPr id="5" name="Rectangle 4"/>
          <p:cNvSpPr/>
          <p:nvPr/>
        </p:nvSpPr>
        <p:spPr>
          <a:xfrm>
            <a:off x="319251" y="4131081"/>
            <a:ext cx="6014545" cy="562963"/>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writes pass through the path check. The search tool can still read files outside the workspace.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chemeClr val="tx2"/>
                </a:solidFill>
              </a:rPr>
              <a:t>Event-driven scheduling</a:t>
            </a:r>
          </a:p>
        </p:txBody>
      </p:sp>
      <p:sp>
        <p:nvSpPr>
          <p:cNvPr id="3" name="Rectangle 2"/>
          <p:cNvSpPr/>
          <p:nvPr/>
        </p:nvSpPr>
        <p:spPr>
          <a:xfrm>
            <a:off x="319251" y="1700000"/>
            <a:ext cx="6014545" cy="1300000"/>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0">
                <a:solidFill>
                  <a:schemeClr val="tx2"/>
                </a:solidFill>
              </a:rPr>
              <a:t>In this graph, a routing function selects the next node. The scheduler runs that node in the next superstep.</a:t>
            </a:r>
          </a:p>
          <a:p>
            <a:pPr>
              <a:spcBef>
                <a:spcPts val="1000"/>
              </a:spcBef>
            </a:pPr>
            <a:r>
              <a:rPr sz="1400" b="0">
                <a:solidFill>
                  <a:schemeClr val="tx2"/>
                </a:solidFill>
              </a:rPr>
              <a:t>With event-driven scheduling, a computation emits an event and the runtime calls the function registered to handle it. The tool contract and dispatcher stay the same.</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9120</TotalTime>
  <Words>9289</Words>
  <Application>Microsoft Macintosh PowerPoint</Application>
  <PresentationFormat>Custom</PresentationFormat>
  <Paragraphs>578</Paragraphs>
  <Slides>70</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Maple Mono NF</vt:lpstr>
      <vt:lpstr>Arial</vt:lpstr>
      <vt:lpstr>Fira Sans</vt:lpstr>
      <vt:lpstr>Maple Mono NF Light</vt:lpstr>
      <vt:lpstr>Simple Light</vt:lpstr>
      <vt:lpstr>Designing Production Agentic Systems</vt:lpstr>
      <vt:lpstr>PowerPoint Presentation</vt:lpstr>
      <vt:lpstr>Class announcements</vt:lpstr>
      <vt:lpstr>PowerPoint Presentation</vt:lpstr>
      <vt:lpstr>PowerPoint Presentation</vt:lpstr>
      <vt:lpstr>PowerPoint Presentation</vt:lpstr>
      <vt:lpstr>A state machine as a description of an agent</vt:lpstr>
      <vt:lpstr>The planning agent's control locations</vt:lpstr>
      <vt:lpstr>State: what the agent keeps between steps</vt:lpstr>
      <vt:lpstr>Inputs: what arrives during a step</vt:lpstr>
      <vt:lpstr>Determinism: two ways to treat the reply</vt:lpstr>
      <vt:lpstr>Extended state machines and configurations</vt:lpstr>
      <vt:lpstr>Configurations: finite control, unbounded data</vt:lpstr>
      <vt:lpstr>Transitions: guard, output action, set action</vt:lpstr>
      <vt:lpstr>The elements of a transition (for an agent)</vt:lpstr>
      <vt:lpstr>One transition in code: controller to tools</vt:lpstr>
      <vt:lpstr>Behaviour, trace and computation tree</vt:lpstr>
      <vt:lpstr>The event log as a trace</vt:lpstr>
      <vt:lpstr>The planning agent's state machine</vt:lpstr>
      <vt:lpstr>The planning agent's forward path</vt:lpstr>
      <vt:lpstr>The planning agent's feedback edges</vt:lpstr>
      <vt:lpstr>The planning agent's exits</vt:lpstr>
      <vt:lpstr>The recorded run through the planning agent</vt:lpstr>
      <vt:lpstr>The recorded run in the computation tree</vt:lpstr>
      <vt:lpstr>What the event log records and omits</vt:lpstr>
      <vt:lpstr>PowerPoint Presentation</vt:lpstr>
      <vt:lpstr>State records and schemas</vt:lpstr>
      <vt:lpstr>Partial updates and state transitions</vt:lpstr>
      <vt:lpstr>The controller's three return sites</vt:lpstr>
      <vt:lpstr>The controller's return sites, in code</vt:lpstr>
      <vt:lpstr>Model context, runtime state, durable state</vt:lpstr>
      <vt:lpstr>Model context and admission checks</vt:lpstr>
      <vt:lpstr>Reducers: append, replace, accumulate</vt:lpstr>
      <vt:lpstr>The reducers in the schema</vt:lpstr>
      <vt:lpstr>State schemas and field lifetimes</vt:lpstr>
      <vt:lpstr>Field lifetimes</vt:lpstr>
      <vt:lpstr>Handoff and window, in the planning agent</vt:lpstr>
      <vt:lpstr>Proving invariants over configurations</vt:lpstr>
      <vt:lpstr>The call budget as an invariant</vt:lpstr>
      <vt:lpstr>Constructing and compiling the state graph</vt:lpstr>
      <vt:lpstr>Designing a state graph</vt:lpstr>
      <vt:lpstr>Routing functions and conditional edges</vt:lpstr>
      <vt:lpstr>PowerPoint Presentation</vt:lpstr>
      <vt:lpstr>Routing functions and conditional edges</vt:lpstr>
      <vt:lpstr>Routing after the controller</vt:lpstr>
      <vt:lpstr>The same graph, different paths</vt:lpstr>
      <vt:lpstr>Feedback edges: revision and repair</vt:lpstr>
      <vt:lpstr>Feedback edges and their bounds</vt:lpstr>
      <vt:lpstr>A proposed feedback edge for new attempts</vt:lpstr>
      <vt:lpstr>Loop bounds and termination</vt:lpstr>
      <vt:lpstr>Checking the budget before each model call</vt:lpstr>
      <vt:lpstr>What a trace establishes</vt:lpstr>
      <vt:lpstr>Terminal statuses and trace closure</vt:lpstr>
      <vt:lpstr>Three interpretations of a trace</vt:lpstr>
      <vt:lpstr>A recorded repair after failed checks</vt:lpstr>
      <vt:lpstr>A recorded keyboard interruption</vt:lpstr>
      <vt:lpstr>PowerPoint Presentation</vt:lpstr>
      <vt:lpstr>Supersteps: when an update becomes visible</vt:lpstr>
      <vt:lpstr>Two supersteps in the recorded run</vt:lpstr>
      <vt:lpstr>The five parts of a tool contract</vt:lpstr>
      <vt:lpstr>Tool preconditions and postconditions</vt:lpstr>
      <vt:lpstr>Arguments supplied by the dispatcher</vt:lpstr>
      <vt:lpstr>The five operations of the dispatch cycle</vt:lpstr>
      <vt:lpstr>Returning a refusal as an observation</vt:lpstr>
      <vt:lpstr>Evidence of a tool request and execution</vt:lpstr>
      <vt:lpstr>Complete mediation of resource access</vt:lpstr>
      <vt:lpstr>Guarantees and their enforcing components</vt:lpstr>
      <vt:lpstr>Checking paths against the workspace root</vt:lpstr>
      <vt:lpstr>A refused read and an unchecked search</vt:lpstr>
      <vt:lpstr>Event-driven scheduling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191</cp:revision>
  <dcterms:modified xsi:type="dcterms:W3CDTF">2026-09-25T14:05:56Z</dcterms:modified>
</cp:coreProperties>
</file>
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A6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AD_0.xml" ContentType="application/vnd.ms-powerpoint.comments+xml"/>
  <Override PartName="/ppt/notesSlides/notesSlide11.xml" ContentType="application/vnd.openxmlformats-officedocument.presentationml.notesSlide+xml"/>
  <Override PartName="/ppt/comments/modernComment_1C3_519EB134.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B1_0.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1"/>
  </p:notesMasterIdLst>
  <p:sldIdLst>
    <p:sldId id="256" r:id="rId2"/>
    <p:sldId id="332" r:id="rId3"/>
    <p:sldId id="419" r:id="rId4"/>
    <p:sldId id="420" r:id="rId5"/>
    <p:sldId id="421" r:id="rId6"/>
    <p:sldId id="422" r:id="rId7"/>
    <p:sldId id="452" r:id="rId8"/>
    <p:sldId id="455" r:id="rId9"/>
    <p:sldId id="423" r:id="rId10"/>
    <p:sldId id="424" r:id="rId11"/>
    <p:sldId id="425" r:id="rId12"/>
    <p:sldId id="426" r:id="rId13"/>
    <p:sldId id="427" r:id="rId14"/>
    <p:sldId id="428" r:id="rId15"/>
    <p:sldId id="429" r:id="rId16"/>
    <p:sldId id="451" r:id="rId17"/>
    <p:sldId id="430" r:id="rId18"/>
    <p:sldId id="431" r:id="rId19"/>
    <p:sldId id="432" r:id="rId20"/>
    <p:sldId id="433" r:id="rId21"/>
    <p:sldId id="454" r:id="rId22"/>
    <p:sldId id="434" r:id="rId23"/>
    <p:sldId id="456" r:id="rId24"/>
    <p:sldId id="435" r:id="rId25"/>
    <p:sldId id="436" r:id="rId26"/>
    <p:sldId id="437" r:id="rId27"/>
    <p:sldId id="438" r:id="rId28"/>
    <p:sldId id="439" r:id="rId29"/>
    <p:sldId id="440" r:id="rId30"/>
    <p:sldId id="441" r:id="rId31"/>
    <p:sldId id="442" r:id="rId32"/>
    <p:sldId id="443" r:id="rId33"/>
    <p:sldId id="444" r:id="rId34"/>
    <p:sldId id="445" r:id="rId35"/>
    <p:sldId id="446" r:id="rId36"/>
    <p:sldId id="447" r:id="rId37"/>
    <p:sldId id="448" r:id="rId38"/>
    <p:sldId id="449" r:id="rId39"/>
    <p:sldId id="450" r:id="rId40"/>
  </p:sldIdLst>
  <p:sldSz cx="6858000" cy="5143500"/>
  <p:notesSz cx="6858000" cy="9144000"/>
  <p:embeddedFontLst>
    <p:embeddedFont>
      <p:font typeface="Fira Sans" panose="020B0503050000020004" pitchFamily="34" charset="0"/>
      <p:regular r:id="rId42"/>
      <p:bold r:id="rId43"/>
      <p:italic r:id="rId44"/>
      <p:boldItalic r:id="rId45"/>
    </p:embeddedFont>
    <p:embeddedFont>
      <p:font typeface="Maple Mono NF" panose="020F0509060000000000" pitchFamily="49"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419"/>
            <p14:sldId id="420"/>
            <p14:sldId id="421"/>
            <p14:sldId id="422"/>
            <p14:sldId id="452"/>
            <p14:sldId id="455"/>
            <p14:sldId id="423"/>
            <p14:sldId id="424"/>
            <p14:sldId id="425"/>
            <p14:sldId id="426"/>
            <p14:sldId id="427"/>
            <p14:sldId id="428"/>
            <p14:sldId id="429"/>
            <p14:sldId id="451"/>
            <p14:sldId id="430"/>
            <p14:sldId id="431"/>
            <p14:sldId id="432"/>
            <p14:sldId id="433"/>
            <p14:sldId id="454"/>
            <p14:sldId id="434"/>
            <p14:sldId id="456"/>
            <p14:sldId id="435"/>
            <p14:sldId id="436"/>
            <p14:sldId id="437"/>
            <p14:sldId id="438"/>
            <p14:sldId id="439"/>
            <p14:sldId id="440"/>
            <p14:sldId id="441"/>
            <p14:sldId id="442"/>
            <p14:sldId id="443"/>
            <p14:sldId id="444"/>
            <p14:sldId id="445"/>
            <p14:sldId id="446"/>
            <p14:sldId id="447"/>
            <p14:sldId id="448"/>
            <p14:sldId id="449"/>
            <p14:sldId id="450"/>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62"/>
    <p:restoredTop sz="98401"/>
  </p:normalViewPr>
  <p:slideViewPr>
    <p:cSldViewPr snapToGrid="0">
      <p:cViewPr varScale="1">
        <p:scale>
          <a:sx n="212" d="100"/>
          <a:sy n="212" d="100"/>
        </p:scale>
        <p:origin x="1784" y="192"/>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comments/modernComment_1A6_0.xml><?xml version="1.0" encoding="utf-8"?>
<p188:cmLst xmlns:a="http://schemas.openxmlformats.org/drawingml/2006/main" xmlns:r="http://schemas.openxmlformats.org/officeDocument/2006/relationships" xmlns:p188="http://schemas.microsoft.com/office/powerpoint/2018/8/main">
  <p188:cm id="{FD871193-6016-B843-A3FD-84CD91547940}" authorId="{BBF72F71-1B05-876B-1723-EC4BFB4CF1F1}" created="2026-09-25T09:04:14.911">
    <pc:sldMkLst xmlns:pc="http://schemas.microsoft.com/office/powerpoint/2013/main/command">
      <pc:docMk/>
      <pc:sldMk cId="0" sldId="422"/>
    </pc:sldMkLst>
    <p188:txBody>
      <a:bodyPr/>
      <a:lstStyle/>
      <a:p>
        <a:r>
          <a:rPr lang="en-US"/>
          <a:t>https://gitlab.com/gitlab-org/security-products/analyzers/semgrep/-/blob/e0f35024a6c01a21fb4e508a9b3c308e121f44dc/rules/bandit.yml#L1231
Visualize this rule for the students</a:t>
        </a:r>
      </a:p>
    </p188:txBody>
  </p188:cm>
</p188:cmLst>
</file>

<file path=ppt/comments/modernComment_1AD_0.xml><?xml version="1.0" encoding="utf-8"?>
<p188:cmLst xmlns:a="http://schemas.openxmlformats.org/drawingml/2006/main" xmlns:r="http://schemas.openxmlformats.org/officeDocument/2006/relationships" xmlns:p188="http://schemas.microsoft.com/office/powerpoint/2018/8/main">
  <p188:cm id="{4FA50DCC-97D5-264E-BC3F-2FA1A956E445}" authorId="{BBF72F71-1B05-876B-1723-EC4BFB4CF1F1}" created="2026-09-25T09:09:44.287">
    <pc:sldMkLst xmlns:pc="http://schemas.microsoft.com/office/powerpoint/2013/main/command">
      <pc:docMk/>
      <pc:sldMk cId="0" sldId="429"/>
    </pc:sldMkLst>
    <p188:txBody>
      <a:bodyPr/>
      <a:lstStyle/>
      <a:p>
        <a:r>
          <a:rPr lang="en-US"/>
          <a:t>Need the citatation as a small footnote</a:t>
        </a:r>
      </a:p>
    </p188:txBody>
  </p188:cm>
</p188:cmLst>
</file>

<file path=ppt/comments/modernComment_1B1_0.xml><?xml version="1.0" encoding="utf-8"?>
<p188:cmLst xmlns:a="http://schemas.openxmlformats.org/drawingml/2006/main" xmlns:r="http://schemas.openxmlformats.org/officeDocument/2006/relationships" xmlns:p188="http://schemas.microsoft.com/office/powerpoint/2018/8/main">
  <p188:cm id="{7627EB9F-06BA-3349-828B-5078AAA14494}" authorId="{BBF72F71-1B05-876B-1723-EC4BFB4CF1F1}" created="2026-09-25T09:13:37.421">
    <pc:sldMkLst xmlns:pc="http://schemas.microsoft.com/office/powerpoint/2013/main/command">
      <pc:docMk/>
      <pc:sldMk cId="0" sldId="433"/>
    </pc:sldMkLst>
    <p188:txBody>
      <a:bodyPr/>
      <a:lstStyle/>
      <a:p>
        <a:r>
          <a:rPr lang="en-US"/>
          <a:t>I need a visual example of the Rule, an AST, and what it looks like in code. </a:t>
        </a:r>
      </a:p>
    </p188:txBody>
  </p188:cm>
</p188:cmLst>
</file>

<file path=ppt/comments/modernComment_1C3_519EB134.xml><?xml version="1.0" encoding="utf-8"?>
<p188:cmLst xmlns:a="http://schemas.openxmlformats.org/drawingml/2006/main" xmlns:r="http://schemas.openxmlformats.org/officeDocument/2006/relationships" xmlns:p188="http://schemas.microsoft.com/office/powerpoint/2018/8/main">
  <p188:cm id="{954BF225-F083-9049-B99E-8C2984068EF4}" authorId="{BBF72F71-1B05-876B-1723-EC4BFB4CF1F1}" created="2026-09-25T09:09:58.406">
    <pc:sldMkLst xmlns:pc="http://schemas.microsoft.com/office/powerpoint/2013/main/command">
      <pc:docMk/>
      <pc:sldMk cId="1369354548" sldId="451"/>
    </pc:sldMkLst>
    <p188:txBody>
      <a:bodyPr/>
      <a:lstStyle/>
      <a:p>
        <a:r>
          <a:rPr lang="en-US"/>
          <a:t>Need the citation as a small footnote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Fira Sans" panose="020B0503050000020004" pitchFamily="34" charset="0"/>
        <a:ea typeface="Fira Sans" panose="020B0503050000020004" pitchFamily="34" charset="0"/>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dirty="0"/>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Lecture 1's problem statement named discover, triage and validate; patching is the fourth stage, and it is the one </a:t>
            </a:r>
            <a:r>
              <a:rPr dirty="0" err="1"/>
              <a:t>cyberbird</a:t>
            </a:r>
            <a:r>
              <a:rPr dirty="0"/>
              <a:t> demonstrates. Validation and patching return with HW2 and HW3.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SAST is static application security testing and DAST is dynamic application security testing. Bandit is HW1's SAST tool. Fuzzing is dynamic testing with generated rather than crafted inputs. Dependency scanning is also called software composition analysis.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Rahul's link: </a:t>
            </a:r>
            <a:r>
              <a:rPr dirty="0" err="1"/>
              <a:t>gitlab.com</a:t>
            </a:r>
            <a:r>
              <a:rPr dirty="0"/>
              <a:t>/</a:t>
            </a:r>
            <a:r>
              <a:rPr dirty="0" err="1"/>
              <a:t>gitlab</a:t>
            </a:r>
            <a:r>
              <a:rPr dirty="0"/>
              <a:t>-org/security-products/analyzers/</a:t>
            </a:r>
            <a:r>
              <a:rPr dirty="0" err="1"/>
              <a:t>semgrep</a:t>
            </a:r>
            <a:r>
              <a:rPr dirty="0"/>
              <a:t>, rules/</a:t>
            </a:r>
            <a:r>
              <a:rPr dirty="0" err="1"/>
              <a:t>bandit.yml</a:t>
            </a:r>
            <a:r>
              <a:rPr dirty="0"/>
              <a:t> at e0f35024, line 1231. The same file ports B608 at line 1179, with patterns for %-formatting, .format, f-strings and concatenation feeding execute. The 'A1: Injection' tag is the 2017 numbering of the Top 10.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GitLab's rules/</a:t>
            </a:r>
            <a:r>
              <a:rPr dirty="0" err="1"/>
              <a:t>bandit.yml</a:t>
            </a:r>
            <a:r>
              <a:rPr dirty="0"/>
              <a:t> at e0f35024, the B608 entry at line 1179: four direct execute patterns plus the pattern-inside forms for a query built earlier with %, .format or an f-string. BenchmarkTest00099 lines 46 and 49 fill the f-string form. BenchmarkTest00011's f-string carries no hole, so this port does not fire on it, while Bandit's own B608 does. Figure source: slides/figures/hw1-semgrep-rule.tikz.</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counts are the brief's: OWASP BenchmarkPython 18, Radicale 10, SGLang 21, with Bandit 1.9.4 at MEDIUM severity or higher on the required scan blocks.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Manadhata and Wing define the attack surface as the set of ways an adversary can enter the system and potentially cause damage: entry and exit points, channels, and untrusted data items.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config object is the Benchmark's way of hiding a data flow from a scanner: the value goes in under one key and comes out under the same key.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Seven of </a:t>
            </a:r>
            <a:r>
              <a:rPr dirty="0" err="1"/>
              <a:t>Radicale's</a:t>
            </a:r>
            <a:r>
              <a:rPr dirty="0"/>
              <a:t> ten alerts unpickle files Radicale wrote itself, and 18 of </a:t>
            </a:r>
            <a:r>
              <a:rPr dirty="0" err="1"/>
              <a:t>SGLang's</a:t>
            </a:r>
            <a:r>
              <a:rPr dirty="0"/>
              <a:t> 21 load model files or messages from its own workers. Their labels turn entirely on the threat model, and Bandit ignores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OWASP Top 10:2025, released 6 November 2025: eight families ranked from data on over 2.8 million applications, two raised by the practitioner survey, 589 CWEs considered. Over the 49 HW1 alerts: integrity failures 26, injection 7, cryptographic failures 6, misconfiguration 6 (the Benchmark's XML parses), and 4 outside the ten (B113, CWE-400).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875C-149D-1612-222A-3CE846A04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52D74-D019-11E0-99B9-D0EFFF607805}"/>
              </a:ext>
            </a:extLst>
          </p:cNvPr>
          <p:cNvSpPr>
            <a:spLocks noGrp="1" noRot="1" noChangeAspect="1"/>
          </p:cNvSpPr>
          <p:nvPr>
            <p:ph type="sldImg" idx="2"/>
          </p:nvPr>
        </p:nvSpPr>
        <p:spPr/>
        <p:txBody>
          <a:bodyPr/>
          <a:lstStyle/>
          <a:p>
            <a:endParaRPr lang="en-US" dirty="0"/>
          </a:p>
        </p:txBody>
      </p:sp>
      <p:sp>
        <p:nvSpPr>
          <p:cNvPr id="3" name="Notes Placeholder 2">
            <a:extLst>
              <a:ext uri="{FF2B5EF4-FFF2-40B4-BE49-F238E27FC236}">
                <a16:creationId xmlns:a16="http://schemas.microsoft.com/office/drawing/2014/main" id="{B3D78426-E14E-DE88-FF1D-8ACF44F659C9}"/>
              </a:ext>
            </a:extLst>
          </p:cNvPr>
          <p:cNvSpPr>
            <a:spLocks noGrp="1"/>
          </p:cNvSpPr>
          <p:nvPr>
            <p:ph type="body" idx="1"/>
          </p:nvPr>
        </p:nvSpPr>
        <p:spPr/>
        <p:txBody>
          <a:bodyPr/>
          <a:lstStyle/>
          <a:p>
            <a:r>
              <a:rPr dirty="0"/>
              <a:t>OWASP Top 10:2025, released 6 November 2025: eight families ranked from data on over 2.8 million applications, two raised by the practitioner survey, 589 CWEs considered. Over the 49 HW1 alerts: integrity failures 26, injection 7, cryptographic failures 6, misconfiguration 6 (the Benchmark's XML parses), and 4 outside the ten (B113, CWE-400).</a:t>
            </a:r>
          </a:p>
        </p:txBody>
      </p:sp>
    </p:spTree>
    <p:extLst>
      <p:ext uri="{BB962C8B-B14F-4D97-AF65-F5344CB8AC3E}">
        <p14:creationId xmlns:p14="http://schemas.microsoft.com/office/powerpoint/2010/main" val="4099259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Injection alone maps 37 CWEs in the 2025 Top 10, among them CWE-89, CWE-78, CWE-94 and CWE-95. Bandit 1.9.4 stamps </a:t>
            </a:r>
            <a:r>
              <a:rPr dirty="0" err="1"/>
              <a:t>issue_cwe</a:t>
            </a:r>
            <a:r>
              <a:rPr dirty="0"/>
              <a:t> on every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call at the bottom of the ladder is the sink: the place where outside data does its harm, and the line a scanner rule points at. Bandit's rule for a request without a timeout reports CWE-400, which sits in none of the ten families: a scanner's rules and the Top 10 are different lists.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Bandit's own description: it processes each file, builds an AST from it, and runs appropriate plugins against the AST nodes. HW2 and HW3 bring in other discovery tools.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tree is Python's own: </a:t>
            </a:r>
            <a:r>
              <a:rPr dirty="0" err="1"/>
              <a:t>ast.parse</a:t>
            </a:r>
            <a:r>
              <a:rPr dirty="0"/>
              <a:t> of line 131 of </a:t>
            </a:r>
            <a:r>
              <a:rPr dirty="0" err="1"/>
              <a:t>radicale</a:t>
            </a:r>
            <a:r>
              <a:rPr dirty="0"/>
              <a:t>/sharing/</a:t>
            </a:r>
            <a:r>
              <a:rPr dirty="0" err="1"/>
              <a:t>files.py</a:t>
            </a:r>
            <a:r>
              <a:rPr dirty="0"/>
              <a:t> gives Assign(targets=[Tuple(Name version, Name row)], value=Call(</a:t>
            </a:r>
            <a:r>
              <a:rPr dirty="0" err="1"/>
              <a:t>func</a:t>
            </a:r>
            <a:r>
              <a:rPr dirty="0"/>
              <a:t>=Attribute(Name pickle, load), </a:t>
            </a:r>
            <a:r>
              <a:rPr dirty="0" err="1"/>
              <a:t>args</a:t>
            </a:r>
            <a:r>
              <a:rPr dirty="0"/>
              <a:t>=[Name fb])). Bandit's blacklist checker takes the qualified name of the called function, </a:t>
            </a:r>
            <a:r>
              <a:rPr dirty="0" err="1"/>
              <a:t>pickle.load</a:t>
            </a:r>
            <a:r>
              <a:rPr dirty="0"/>
              <a:t>, and looks it up in the B301 entry. Figure source: slides/figures/hw1-ast-rule.tikz.</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err="1"/>
              <a:t>build_conf_dict</a:t>
            </a:r>
            <a:r>
              <a:rPr dirty="0"/>
              <a:t> in bandit/blacklists/</a:t>
            </a:r>
            <a:r>
              <a:rPr dirty="0" err="1"/>
              <a:t>utils.py</a:t>
            </a:r>
            <a:r>
              <a:rPr dirty="0"/>
              <a:t> takes a name, an id, a CWE, the qualified names, the message, and a level that defaults to MEDIUM.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D8162-FDE1-25BF-8655-EB2DB6142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B5A79-D67D-59D7-6286-195606984387}"/>
              </a:ext>
            </a:extLst>
          </p:cNvPr>
          <p:cNvSpPr>
            <a:spLocks noGrp="1" noRot="1" noChangeAspect="1"/>
          </p:cNvSpPr>
          <p:nvPr>
            <p:ph type="sldImg" idx="2"/>
          </p:nvPr>
        </p:nvSpPr>
        <p:spPr/>
        <p:txBody>
          <a:bodyPr/>
          <a:lstStyle/>
          <a:p>
            <a:endParaRPr lang="en-US" dirty="0"/>
          </a:p>
        </p:txBody>
      </p:sp>
      <p:sp>
        <p:nvSpPr>
          <p:cNvPr id="3" name="Notes Placeholder 2">
            <a:extLst>
              <a:ext uri="{FF2B5EF4-FFF2-40B4-BE49-F238E27FC236}">
                <a16:creationId xmlns:a16="http://schemas.microsoft.com/office/drawing/2014/main" id="{B9DE1D64-2C76-9D8E-CC2E-FFB231154BD7}"/>
              </a:ext>
            </a:extLst>
          </p:cNvPr>
          <p:cNvSpPr>
            <a:spLocks noGrp="1"/>
          </p:cNvSpPr>
          <p:nvPr>
            <p:ph type="body" idx="1"/>
          </p:nvPr>
        </p:nvSpPr>
        <p:spPr/>
        <p:txBody>
          <a:bodyPr/>
          <a:lstStyle/>
          <a:p>
            <a:r>
              <a:rPr dirty="0" err="1"/>
              <a:t>build_conf_dict</a:t>
            </a:r>
            <a:r>
              <a:rPr dirty="0"/>
              <a:t> in bandit/blacklists/</a:t>
            </a:r>
            <a:r>
              <a:rPr dirty="0" err="1"/>
              <a:t>utils.py</a:t>
            </a:r>
            <a:r>
              <a:rPr dirty="0"/>
              <a:t> takes a name, an id, a CWE, the qualified names, the message, and a level that defaults to MEDIUM.</a:t>
            </a:r>
          </a:p>
        </p:txBody>
      </p:sp>
    </p:spTree>
    <p:extLst>
      <p:ext uri="{BB962C8B-B14F-4D97-AF65-F5344CB8AC3E}">
        <p14:creationId xmlns:p14="http://schemas.microsoft.com/office/powerpoint/2010/main" val="44739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Values from Bandit 1.9.4 on the three targets. B608 reports MEDIUM confidence when the string reaches execute; on the Benchmark cases it reported LOW.</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Run it live from the Radicale checkout: about two seconds, exit status 1 because results were found. The ten lines </a:t>
            </a:r>
            <a:r>
              <a:rPr dirty="0" err="1"/>
              <a:t>summarise</a:t>
            </a:r>
            <a:r>
              <a:rPr dirty="0"/>
              <a:t> the JSON results, in path order.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full record also carries </a:t>
            </a:r>
            <a:r>
              <a:rPr dirty="0" err="1"/>
              <a:t>issue_text</a:t>
            </a:r>
            <a:r>
              <a:rPr dirty="0"/>
              <a:t>, the message from the rule; </a:t>
            </a:r>
            <a:r>
              <a:rPr dirty="0" err="1"/>
              <a:t>line_range</a:t>
            </a:r>
            <a:r>
              <a:rPr dirty="0"/>
              <a:t>; </a:t>
            </a:r>
            <a:r>
              <a:rPr dirty="0" err="1"/>
              <a:t>col_offset</a:t>
            </a:r>
            <a:r>
              <a:rPr dirty="0"/>
              <a:t>; code, the three lines around the match; and </a:t>
            </a:r>
            <a:r>
              <a:rPr dirty="0" err="1"/>
              <a:t>more_info</a:t>
            </a:r>
            <a:r>
              <a:rPr dirty="0"/>
              <a:t>, a link to the rule's page.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NIST's glossary: a vulnerability is a weakness in an information system, system security procedures, internal controls, or implementation that could be exploited or triggered by a threat source.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answer key marks BenchmarkTest00099 as a real SQL injection, CWE-89. Bandit's B608 fires on the f-string.</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answer key marks BenchmarkTest00011 and 00012 as safe. The f-string carries no interpolation at all; the rule matches the shape of the string, and the placeholder and the tuple are the evidence.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answer key marks BenchmarkTest00074 as real, CWE-94. Bandit's B102 reports CWE-78 for exec; the two catalogues disagree on the number and agree on the family.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answer key marks BenchmarkTest00073 as safe. Lines 47 to 49, the error message, and 53 and 55, the parentheses around eval, are cut.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answer key marks all five hash cases Bandit flags as real, CWE-328. Line 72 calls the input a sensitive value; a cache key hashed with MD5 would be label 0.</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answer key lists BenchmarkTest00013 under </a:t>
            </a:r>
            <a:r>
              <a:rPr dirty="0" err="1"/>
              <a:t>xpathi</a:t>
            </a:r>
            <a:r>
              <a:rPr dirty="0"/>
              <a:t> and marks it safe; the XPath injection is the category under test, and this instance is the safe twin. The B314 alert is a false alarm on its own terms: the parsed file is fixed.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Bandit 1.9.4 at MEDIUM or higher on BenchmarkTest00001 to 00099, against expectedresults-0.1.csv: 18 alerts in 17 files, 8 files real. Precision by file 0.47, recall 0.24.</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Sifting the Noise (arXiv 2601.22952): on the Java OWASP Benchmark the scanners' aggregated false positive rate is 98.3 percent; SWE-agent with Claude Sonnet 4 brings it to 6.3 percent while suppressing 22 percent of true positives; the authors call agents decision support and rule out unconditional automatic suppression. </a:t>
            </a:r>
            <a:r>
              <a:rPr dirty="0" err="1"/>
              <a:t>SastBench</a:t>
            </a:r>
            <a:r>
              <a:rPr dirty="0"/>
              <a:t> (arXiv 2601.02941) cites about 91 percent of SAST findings as noise. Cited on the slide: Sifting the Noise: A Comparative Study of LLM Agents in Vulnerability False Positive Filtering, arXiv 2601.22952, 2026.</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field's feeds: CISA's Known Exploited Vulnerabilities catalogue and the EPSS exploit likelihood score. Google's vulnerability management blueprint weights severity, asset exposure and threat activity into one priority.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idx="1"/>
          </p:nvPr>
        </p:nvSpPr>
        <p:spPr/>
        <p:txBody>
          <a:bodyPr/>
          <a:lstStyle/>
          <a:p>
            <a:r>
              <a:rPr dirty="0"/>
              <a:t>The brief's </a:t>
            </a:r>
            <a:r>
              <a:rPr dirty="0" err="1"/>
              <a:t>report.example.json</a:t>
            </a:r>
            <a:r>
              <a:rPr dirty="0"/>
              <a:t> fixes the field names; the rationale and evidence here are what an agent should write for the guarded eval, and the row omits path, severity and confidence for room.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b="0" i="0"/>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lvl1pPr>
              <a:defRPr b="0" i="0"/>
            </a:lvl1pPr>
          </a:lstStyle>
          <a:p>
            <a:fld id="{26FBAF0E-C96E-D64F-8B24-1AA70EC4AC83}" type="slidenum">
              <a:rPr lang="en-US" smtClean="0"/>
              <a:pPr/>
              <a:t>‹#›</a:t>
            </a:fld>
            <a:endParaRPr lang="en-US" dirty="0"/>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lvl1pPr>
              <a:defRPr b="0" i="0"/>
            </a:lvl1pPr>
          </a:lstStyle>
          <a:p>
            <a:fld id="{26FBAF0E-C96E-D64F-8B24-1AA70EC4AC83}" type="slidenum">
              <a:rPr lang="en-US" smtClean="0"/>
              <a:pPr/>
              <a:t>‹#›</a:t>
            </a:fld>
            <a:endParaRPr lang="en-US" dirty="0"/>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b="0" i="0">
                <a:solidFill>
                  <a:schemeClr val="bg2"/>
                </a:solidFill>
                <a:latin typeface="Fira Sans" panose="020B0503050000020004" pitchFamily="34" charset="0"/>
              </a:defRPr>
            </a:lvl1pPr>
          </a:lstStyle>
          <a:p>
            <a:fld id="{26FBAF0E-C96E-D64F-8B24-1AA70EC4AC83}" type="slidenum">
              <a:rPr lang="en-US" smtClean="0"/>
              <a:pPr/>
              <a:t>‹#›</a:t>
            </a:fld>
            <a:endParaRPr lang="en-US" dirty="0"/>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A6_0.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AD_0.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top10.owasp.org/2025" TargetMode="External"/></Relationships>
</file>

<file path=ppt/slides/_rels/slide16.xml.rels><?xml version="1.0" encoding="UTF-8" standalone="yes"?>
<Relationships xmlns="http://schemas.openxmlformats.org/package/2006/relationships"><Relationship Id="rId3" Type="http://schemas.microsoft.com/office/2018/10/relationships/comments" Target="../comments/modernComment_1C3_519EB134.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top10.owasp.org/2025"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B1_0.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3 </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1910030"/>
            <a:ext cx="6129130" cy="1323439"/>
          </a:xfrm>
          <a:prstGeom prst="rect">
            <a:avLst/>
          </a:prstGeom>
          <a:noFill/>
        </p:spPr>
        <p:txBody>
          <a:bodyPr wrap="square" rtlCol="0">
            <a:spAutoFit/>
          </a:bodyPr>
          <a:lstStyle/>
          <a:p>
            <a:pPr algn="ctr"/>
            <a:r>
              <a:rPr lang="en-US" sz="4000" dirty="0">
                <a:solidFill>
                  <a:schemeClr val="tx2"/>
                </a:solidFill>
                <a:latin typeface="+mj-lt"/>
              </a:rPr>
              <a:t>Lecture 3: Understanding the Assignment Problem</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265338"/>
            <a:ext cx="5000000" cy="1323439"/>
          </a:xfrm>
          <a:prstGeom prst="rect">
            <a:avLst/>
          </a:prstGeom>
          <a:noFill/>
        </p:spPr>
        <p:txBody>
          <a:bodyPr wrap="square" anchor="ctr">
            <a:spAutoFit/>
          </a:bodyPr>
          <a:lstStyle/>
          <a:p>
            <a:pPr algn="ctr"/>
            <a:r>
              <a:rPr sz="4000" dirty="0">
                <a:solidFill>
                  <a:schemeClr val="tx2"/>
                </a:solidFill>
                <a:latin typeface="+mj-lt"/>
              </a:rPr>
              <a:t>Vulnerability management</a:t>
            </a:r>
          </a:p>
        </p:txBody>
      </p:sp>
      <p:cxnSp>
        <p:nvCxnSpPr>
          <p:cNvPr id="3" name="Connector 2"/>
          <p:cNvCxnSpPr/>
          <p:nvPr/>
        </p:nvCxnSpPr>
        <p:spPr>
          <a:xfrm>
            <a:off x="1063834" y="1730000"/>
            <a:ext cx="0" cy="2564153"/>
          </a:xfrm>
          <a:prstGeom prst="line">
            <a:avLst/>
          </a:prstGeom>
          <a:ln>
            <a:solidFill>
              <a:schemeClr val="bg2">
                <a:lumMod val="20000"/>
                <a:lumOff val="80000"/>
              </a:schemeClr>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951758" y="1900000"/>
            <a:ext cx="224153" cy="224153"/>
          </a:xfrm>
          <a:prstGeom prst="ellipse">
            <a:avLst/>
          </a:prstGeom>
          <a:solidFill>
            <a:schemeClr val="accent1">
              <a:lumMod val="20000"/>
              <a:lumOff val="80000"/>
            </a:schemeClr>
          </a:solidFill>
          <a:ln>
            <a:solidFill>
              <a:schemeClr val="bg2">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5" name="TextBox 4"/>
          <p:cNvSpPr txBox="1"/>
          <p:nvPr/>
        </p:nvSpPr>
        <p:spPr>
          <a:xfrm>
            <a:off x="1259524" y="1858187"/>
            <a:ext cx="1099981" cy="338554"/>
          </a:xfrm>
          <a:prstGeom prst="rect">
            <a:avLst/>
          </a:prstGeom>
          <a:noFill/>
        </p:spPr>
        <p:txBody>
          <a:bodyPr wrap="none">
            <a:spAutoFit/>
          </a:bodyPr>
          <a:lstStyle/>
          <a:p>
            <a:r>
              <a:rPr sz="1600" dirty="0">
                <a:solidFill>
                  <a:schemeClr val="tx2"/>
                </a:solidFill>
                <a:latin typeface="+mj-lt"/>
              </a:rPr>
              <a:t>Discovery</a:t>
            </a:r>
          </a:p>
        </p:txBody>
      </p:sp>
      <p:sp>
        <p:nvSpPr>
          <p:cNvPr id="6" name="Oval 5"/>
          <p:cNvSpPr/>
          <p:nvPr/>
        </p:nvSpPr>
        <p:spPr>
          <a:xfrm>
            <a:off x="951758" y="2300000"/>
            <a:ext cx="224153" cy="224153"/>
          </a:xfrm>
          <a:prstGeom prst="ellipse">
            <a:avLst/>
          </a:prstGeom>
          <a:solidFill>
            <a:schemeClr val="accent1">
              <a:lumMod val="20000"/>
              <a:lumOff val="80000"/>
            </a:schemeClr>
          </a:solidFill>
          <a:ln>
            <a:solidFill>
              <a:schemeClr val="bg2">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7" name="TextBox 6"/>
          <p:cNvSpPr txBox="1"/>
          <p:nvPr/>
        </p:nvSpPr>
        <p:spPr>
          <a:xfrm>
            <a:off x="1259524" y="2258187"/>
            <a:ext cx="3204723" cy="338554"/>
          </a:xfrm>
          <a:prstGeom prst="rect">
            <a:avLst/>
          </a:prstGeom>
          <a:noFill/>
        </p:spPr>
        <p:txBody>
          <a:bodyPr wrap="none">
            <a:spAutoFit/>
          </a:bodyPr>
          <a:lstStyle/>
          <a:p>
            <a:r>
              <a:rPr sz="1600" dirty="0">
                <a:solidFill>
                  <a:schemeClr val="tx2"/>
                </a:solidFill>
                <a:latin typeface="+mj-lt"/>
              </a:rPr>
              <a:t>Attack surface and threat model</a:t>
            </a:r>
          </a:p>
        </p:txBody>
      </p:sp>
      <p:sp>
        <p:nvSpPr>
          <p:cNvPr id="8" name="Oval 7"/>
          <p:cNvSpPr/>
          <p:nvPr/>
        </p:nvSpPr>
        <p:spPr>
          <a:xfrm>
            <a:off x="951758" y="2700000"/>
            <a:ext cx="224153" cy="224153"/>
          </a:xfrm>
          <a:prstGeom prst="ellipse">
            <a:avLst/>
          </a:prstGeom>
          <a:solidFill>
            <a:schemeClr val="accent1">
              <a:lumMod val="20000"/>
              <a:lumOff val="80000"/>
            </a:schemeClr>
          </a:solidFill>
          <a:ln>
            <a:solidFill>
              <a:schemeClr val="bg2">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9" name="TextBox 8"/>
          <p:cNvSpPr txBox="1"/>
          <p:nvPr/>
        </p:nvSpPr>
        <p:spPr>
          <a:xfrm>
            <a:off x="1259524" y="2658187"/>
            <a:ext cx="2765501" cy="338554"/>
          </a:xfrm>
          <a:prstGeom prst="rect">
            <a:avLst/>
          </a:prstGeom>
          <a:noFill/>
        </p:spPr>
        <p:txBody>
          <a:bodyPr wrap="none">
            <a:spAutoFit/>
          </a:bodyPr>
          <a:lstStyle/>
          <a:p>
            <a:r>
              <a:rPr sz="1600" dirty="0">
                <a:solidFill>
                  <a:schemeClr val="tx2"/>
                </a:solidFill>
                <a:latin typeface="+mj-lt"/>
              </a:rPr>
              <a:t>The OWASP Top 10 and CWE</a:t>
            </a:r>
          </a:p>
        </p:txBody>
      </p:sp>
      <p:sp>
        <p:nvSpPr>
          <p:cNvPr id="10" name="Oval 9"/>
          <p:cNvSpPr/>
          <p:nvPr/>
        </p:nvSpPr>
        <p:spPr>
          <a:xfrm>
            <a:off x="951758" y="3100000"/>
            <a:ext cx="224153" cy="224153"/>
          </a:xfrm>
          <a:prstGeom prst="ellipse">
            <a:avLst/>
          </a:prstGeom>
          <a:solidFill>
            <a:schemeClr val="accent1">
              <a:lumMod val="20000"/>
              <a:lumOff val="80000"/>
            </a:schemeClr>
          </a:solidFill>
          <a:ln>
            <a:solidFill>
              <a:schemeClr val="bg2">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11" name="TextBox 10"/>
          <p:cNvSpPr txBox="1"/>
          <p:nvPr/>
        </p:nvSpPr>
        <p:spPr>
          <a:xfrm>
            <a:off x="1259524" y="3058187"/>
            <a:ext cx="801823" cy="338554"/>
          </a:xfrm>
          <a:prstGeom prst="rect">
            <a:avLst/>
          </a:prstGeom>
          <a:noFill/>
        </p:spPr>
        <p:txBody>
          <a:bodyPr wrap="none">
            <a:spAutoFit/>
          </a:bodyPr>
          <a:lstStyle/>
          <a:p>
            <a:r>
              <a:rPr sz="1600" dirty="0">
                <a:solidFill>
                  <a:schemeClr val="tx2"/>
                </a:solidFill>
                <a:latin typeface="+mj-lt"/>
              </a:rPr>
              <a:t>Bandit</a:t>
            </a:r>
          </a:p>
        </p:txBody>
      </p:sp>
      <p:sp>
        <p:nvSpPr>
          <p:cNvPr id="12" name="Oval 11"/>
          <p:cNvSpPr/>
          <p:nvPr/>
        </p:nvSpPr>
        <p:spPr>
          <a:xfrm>
            <a:off x="951758" y="3500000"/>
            <a:ext cx="224153" cy="224153"/>
          </a:xfrm>
          <a:prstGeom prst="ellipse">
            <a:avLst/>
          </a:prstGeom>
          <a:solidFill>
            <a:schemeClr val="accent1">
              <a:lumMod val="20000"/>
              <a:lumOff val="80000"/>
            </a:schemeClr>
          </a:solidFill>
          <a:ln>
            <a:solidFill>
              <a:schemeClr val="bg2">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13" name="TextBox 12"/>
          <p:cNvSpPr txBox="1"/>
          <p:nvPr/>
        </p:nvSpPr>
        <p:spPr>
          <a:xfrm>
            <a:off x="1259524" y="3458187"/>
            <a:ext cx="2585964" cy="338554"/>
          </a:xfrm>
          <a:prstGeom prst="rect">
            <a:avLst/>
          </a:prstGeom>
          <a:noFill/>
        </p:spPr>
        <p:txBody>
          <a:bodyPr wrap="none">
            <a:spAutoFit/>
          </a:bodyPr>
          <a:lstStyle/>
          <a:p>
            <a:r>
              <a:rPr sz="1600" dirty="0">
                <a:solidFill>
                  <a:schemeClr val="tx2"/>
                </a:solidFill>
                <a:latin typeface="+mj-lt"/>
              </a:rPr>
              <a:t>From weakness to exploit</a:t>
            </a:r>
          </a:p>
        </p:txBody>
      </p:sp>
      <p:sp>
        <p:nvSpPr>
          <p:cNvPr id="14" name="Oval 13"/>
          <p:cNvSpPr/>
          <p:nvPr/>
        </p:nvSpPr>
        <p:spPr>
          <a:xfrm>
            <a:off x="951758" y="3900000"/>
            <a:ext cx="224153" cy="224153"/>
          </a:xfrm>
          <a:prstGeom prst="ellipse">
            <a:avLst/>
          </a:prstGeom>
          <a:solidFill>
            <a:schemeClr val="accent1">
              <a:lumMod val="20000"/>
              <a:lumOff val="80000"/>
            </a:schemeClr>
          </a:solidFill>
          <a:ln>
            <a:solidFill>
              <a:schemeClr val="bg2">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2"/>
              </a:solidFill>
            </a:endParaRPr>
          </a:p>
        </p:txBody>
      </p:sp>
      <p:sp>
        <p:nvSpPr>
          <p:cNvPr id="15" name="TextBox 14"/>
          <p:cNvSpPr txBox="1"/>
          <p:nvPr/>
        </p:nvSpPr>
        <p:spPr>
          <a:xfrm>
            <a:off x="1259524" y="3858187"/>
            <a:ext cx="1188146" cy="338554"/>
          </a:xfrm>
          <a:prstGeom prst="rect">
            <a:avLst/>
          </a:prstGeom>
          <a:noFill/>
        </p:spPr>
        <p:txBody>
          <a:bodyPr wrap="none">
            <a:spAutoFit/>
          </a:bodyPr>
          <a:lstStyle/>
          <a:p>
            <a:r>
              <a:rPr sz="1600" dirty="0">
                <a:solidFill>
                  <a:schemeClr val="tx2"/>
                </a:solidFill>
                <a:latin typeface="+mj-lt"/>
              </a:rPr>
              <a:t>Why triage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2217270"/>
            <a:ext cx="5000000" cy="708960"/>
          </a:xfrm>
          <a:prstGeom prst="rect">
            <a:avLst/>
          </a:prstGeom>
          <a:noFill/>
        </p:spPr>
        <p:txBody>
          <a:bodyPr wrap="square" anchor="ctr">
            <a:spAutoFit/>
          </a:bodyPr>
          <a:lstStyle/>
          <a:p>
            <a:pPr algn="ctr"/>
            <a:r>
              <a:rPr sz="4000" dirty="0">
                <a:solidFill>
                  <a:schemeClr val="tx2"/>
                </a:solidFill>
                <a:latin typeface="+mj-lt"/>
              </a:rPr>
              <a:t>Discovery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Vulnerability management: four stages</a:t>
            </a:r>
          </a:p>
        </p:txBody>
      </p:sp>
      <p:sp>
        <p:nvSpPr>
          <p:cNvPr id="3" name="Content Placeholder 2"/>
          <p:cNvSpPr>
            <a:spLocks noGrp="1"/>
          </p:cNvSpPr>
          <p:nvPr>
            <p:ph idx="1"/>
          </p:nvPr>
        </p:nvSpPr>
        <p:spPr>
          <a:xfrm>
            <a:off x="319251" y="700000"/>
            <a:ext cx="6014545" cy="2115076"/>
          </a:xfrm>
        </p:spPr>
        <p:txBody>
          <a:bodyPr wrap="square" anchor="ctr">
            <a:normAutofit fontScale="92500" lnSpcReduction="10000"/>
          </a:bodyPr>
          <a:lstStyle/>
          <a:p>
            <a:pPr marL="0" indent="0">
              <a:buNone/>
            </a:pPr>
            <a:r>
              <a:rPr sz="1400" b="1" dirty="0">
                <a:solidFill>
                  <a:srgbClr val="28285E"/>
                </a:solidFill>
              </a:rPr>
              <a:t>The course project finds flaws in a program and ends with the program fixed. That work has four stages.</a:t>
            </a:r>
          </a:p>
          <a:p>
            <a:pPr marL="400050" indent="-285750">
              <a:spcBef>
                <a:spcPts val="600"/>
              </a:spcBef>
              <a:spcAft>
                <a:spcPts val="600"/>
              </a:spcAft>
              <a:buClr>
                <a:srgbClr val="28285E"/>
              </a:buClr>
              <a:buSzPts val="1260"/>
              <a:buFont typeface="+mn-lt"/>
              <a:buChar char="●"/>
            </a:pPr>
            <a:r>
              <a:rPr sz="1400" b="1" dirty="0">
                <a:solidFill>
                  <a:schemeClr val="tx1"/>
                </a:solidFill>
              </a:rPr>
              <a:t>Discovery</a:t>
            </a:r>
            <a:r>
              <a:rPr sz="1400" b="0" dirty="0">
                <a:solidFill>
                  <a:schemeClr val="tx1"/>
                </a:solidFill>
              </a:rPr>
              <a:t> turns a repository and a scope into alerts.</a:t>
            </a:r>
          </a:p>
          <a:p>
            <a:pPr marL="400050" indent="-285750">
              <a:spcBef>
                <a:spcPts val="600"/>
              </a:spcBef>
              <a:spcAft>
                <a:spcPts val="600"/>
              </a:spcAft>
              <a:buClr>
                <a:srgbClr val="28285E"/>
              </a:buClr>
              <a:buSzPts val="1260"/>
              <a:buFont typeface="+mn-lt"/>
              <a:buChar char="●"/>
            </a:pPr>
            <a:r>
              <a:rPr sz="1400" b="1" dirty="0">
                <a:solidFill>
                  <a:schemeClr val="tx1"/>
                </a:solidFill>
              </a:rPr>
              <a:t>Triage</a:t>
            </a:r>
            <a:r>
              <a:rPr sz="1400" b="0" dirty="0">
                <a:solidFill>
                  <a:schemeClr val="tx1"/>
                </a:solidFill>
              </a:rPr>
              <a:t> turns each alert into a label with its evidence.</a:t>
            </a:r>
          </a:p>
          <a:p>
            <a:pPr marL="400050" indent="-285750">
              <a:spcBef>
                <a:spcPts val="600"/>
              </a:spcBef>
              <a:spcAft>
                <a:spcPts val="600"/>
              </a:spcAft>
              <a:buClr>
                <a:srgbClr val="28285E"/>
              </a:buClr>
              <a:buSzPts val="1260"/>
              <a:buFont typeface="+mn-lt"/>
              <a:buChar char="●"/>
            </a:pPr>
            <a:r>
              <a:rPr sz="1400" b="1" dirty="0">
                <a:solidFill>
                  <a:schemeClr val="tx1"/>
                </a:solidFill>
              </a:rPr>
              <a:t>Validation</a:t>
            </a:r>
            <a:r>
              <a:rPr sz="1400" b="0" dirty="0">
                <a:solidFill>
                  <a:schemeClr val="tx1"/>
                </a:solidFill>
              </a:rPr>
              <a:t> proves a kept finding with a reproduction.</a:t>
            </a:r>
          </a:p>
          <a:p>
            <a:pPr marL="400050" indent="-285750">
              <a:spcBef>
                <a:spcPts val="600"/>
              </a:spcBef>
              <a:spcAft>
                <a:spcPts val="600"/>
              </a:spcAft>
              <a:buClr>
                <a:srgbClr val="28285E"/>
              </a:buClr>
              <a:buSzPts val="1260"/>
              <a:buFont typeface="+mn-lt"/>
              <a:buChar char="●"/>
            </a:pPr>
            <a:r>
              <a:rPr sz="1400" b="1" dirty="0">
                <a:solidFill>
                  <a:schemeClr val="tx1"/>
                </a:solidFill>
              </a:rPr>
              <a:t>Patching</a:t>
            </a:r>
            <a:r>
              <a:rPr sz="1400" b="0" dirty="0">
                <a:solidFill>
                  <a:schemeClr val="tx1"/>
                </a:solidFill>
              </a:rPr>
              <a:t> removes a proven flaw and keeps the behavior.</a:t>
            </a:r>
          </a:p>
        </p:txBody>
      </p:sp>
      <p:sp>
        <p:nvSpPr>
          <p:cNvPr id="4" name="Rectangle 3"/>
          <p:cNvSpPr/>
          <p:nvPr/>
        </p:nvSpPr>
        <p:spPr>
          <a:xfrm>
            <a:off x="258263" y="3045076"/>
            <a:ext cx="6136522"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dirty="0">
                <a:solidFill>
                  <a:schemeClr val="tx2"/>
                </a:solidFill>
              </a:rPr>
              <a:t>Vulnerability management is the </a:t>
            </a:r>
            <a:r>
              <a:rPr sz="1400" b="1" u="sng" dirty="0">
                <a:solidFill>
                  <a:schemeClr val="tx2"/>
                </a:solidFill>
              </a:rPr>
              <a:t>work of finding the flaws an attacker could use, deciding which are real, proving it, and fixing them</a:t>
            </a:r>
            <a:r>
              <a:rPr sz="1400" b="0" dirty="0">
                <a:solidFill>
                  <a:schemeClr val="tx2"/>
                </a:solidFill>
              </a:rPr>
              <a:t>.</a:t>
            </a:r>
          </a:p>
        </p:txBody>
      </p:sp>
      <p:sp>
        <p:nvSpPr>
          <p:cNvPr id="5" name="Rectangle 4"/>
          <p:cNvSpPr/>
          <p:nvPr/>
        </p:nvSpPr>
        <p:spPr>
          <a:xfrm>
            <a:off x="258263" y="3944788"/>
            <a:ext cx="6136522"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You build discovery and triage in HW1, and the other two stages come later in the course.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Discovery: the families of tools</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b="1" dirty="0">
                <a:solidFill>
                  <a:srgbClr val="28285E"/>
                </a:solidFill>
                <a:latin typeface="Fira Sans" panose="020B0503050000020004" pitchFamily="34" charset="0"/>
              </a:rPr>
              <a:t>Tools discover flaws in different ways, and each way has its own blind spots.</a:t>
            </a:r>
          </a:p>
        </p:txBody>
      </p:sp>
      <p:graphicFrame>
        <p:nvGraphicFramePr>
          <p:cNvPr id="4" name="Table 3"/>
          <p:cNvGraphicFramePr>
            <a:graphicFrameLocks noGrp="1"/>
          </p:cNvGraphicFramePr>
          <p:nvPr>
            <p:extLst>
              <p:ext uri="{D42A27DB-BD31-4B8C-83A1-F6EECF244321}">
                <p14:modId xmlns:p14="http://schemas.microsoft.com/office/powerpoint/2010/main" val="1006688553"/>
              </p:ext>
            </p:extLst>
          </p:nvPr>
        </p:nvGraphicFramePr>
        <p:xfrm>
          <a:off x="319251" y="1439712"/>
          <a:ext cx="6014545" cy="15192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45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Family</a:t>
                      </a:r>
                    </a:p>
                  </a:txBody>
                  <a:tcPr marL="95250" marR="95250" marT="47625" marB="47625">
                    <a:lnB w="12700" cap="flat" cmpd="sng" algn="ctr">
                      <a:solidFill>
                        <a:schemeClr val="tx1"/>
                      </a:solidFill>
                    </a:lnB>
                    <a:noFill/>
                  </a:tcPr>
                </a:tc>
                <a:tc>
                  <a:txBody>
                    <a:bodyPr/>
                    <a:lstStyle/>
                    <a:p>
                      <a:pPr>
                        <a:buNone/>
                      </a:pPr>
                      <a:r>
                        <a:rPr sz="1100" b="1">
                          <a:solidFill>
                            <a:schemeClr val="tx1"/>
                          </a:solidFill>
                        </a:rPr>
                        <a:t>How it finds flaws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SAST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1" dirty="0">
                          <a:solidFill>
                            <a:schemeClr val="tx1"/>
                          </a:solidFill>
                        </a:rPr>
                        <a:t>matches rules against the source</a:t>
                      </a:r>
                      <a:r>
                        <a:rPr sz="1100" b="0" dirty="0">
                          <a:solidFill>
                            <a:schemeClr val="tx1"/>
                          </a:solidFill>
                        </a:rPr>
                        <a:t>, without running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DAST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1" u="none" dirty="0">
                          <a:solidFill>
                            <a:schemeClr val="tx1"/>
                          </a:solidFill>
                        </a:rPr>
                        <a:t>runs the program and attacks it from outside</a:t>
                      </a:r>
                      <a:r>
                        <a:rPr sz="1100" b="0" dirty="0">
                          <a:solidFill>
                            <a:schemeClr val="tx1"/>
                          </a:solidFill>
                        </a:rPr>
                        <a:t>, watching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Fuzzing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1" dirty="0">
                          <a:solidFill>
                            <a:schemeClr val="tx1"/>
                          </a:solidFill>
                        </a:rPr>
                        <a:t>feeds the program generated inputs</a:t>
                      </a:r>
                      <a:r>
                        <a:rPr sz="1100" b="0" dirty="0">
                          <a:solidFill>
                            <a:schemeClr val="tx1"/>
                          </a:solidFill>
                        </a:rPr>
                        <a:t> and keeps the crashes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Dependency scanning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dirty="0">
                          <a:solidFill>
                            <a:schemeClr val="tx1"/>
                          </a:solidFill>
                        </a:rPr>
                        <a:t>checks the </a:t>
                      </a:r>
                      <a:r>
                        <a:rPr sz="1100" b="1" dirty="0">
                          <a:solidFill>
                            <a:schemeClr val="tx1"/>
                          </a:solidFill>
                        </a:rPr>
                        <a:t>program's libraries against published flaw</a:t>
                      </a:r>
                      <a:r>
                        <a:rPr sz="1100" b="0" dirty="0">
                          <a:solidFill>
                            <a:schemeClr val="tx1"/>
                          </a:solidFill>
                        </a:rPr>
                        <a:t> records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Rectangle 4"/>
          <p:cNvSpPr/>
          <p:nvPr/>
        </p:nvSpPr>
        <p:spPr>
          <a:xfrm>
            <a:off x="319251" y="3202882"/>
            <a:ext cx="6014545" cy="86884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dirty="0">
                <a:solidFill>
                  <a:schemeClr val="tx2"/>
                </a:solidFill>
              </a:rPr>
              <a:t>A discovery tool finds flaws in one of three ways: it reads the program's code, it runs the program and watches how it behaves, or it checks the libraries the program depends on.</a:t>
            </a:r>
          </a:p>
        </p:txBody>
      </p:sp>
      <p:sp>
        <p:nvSpPr>
          <p:cNvPr id="6" name="Rectangle 5"/>
          <p:cNvSpPr/>
          <p:nvPr/>
        </p:nvSpPr>
        <p:spPr>
          <a:xfrm>
            <a:off x="319251" y="430173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HW1 discovers with one SAST tool, and HW2 and HW3 add other families.</a:t>
            </a: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SAST: one rule, as Semgrep writes it</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A rule is a pattern, a message and metadata. This one is Bandit's B610 as GitLab ported it to </a:t>
            </a:r>
            <a:r>
              <a:rPr sz="1400" dirty="0" err="1">
                <a:solidFill>
                  <a:srgbClr val="28285E"/>
                </a:solidFill>
                <a:latin typeface="Fira Sans" panose="020B0503050000020004" pitchFamily="34" charset="0"/>
              </a:rPr>
              <a:t>Semgrep</a:t>
            </a:r>
            <a:r>
              <a:rPr sz="1400" dirty="0">
                <a:solidFill>
                  <a:srgbClr val="28285E"/>
                </a:solidFill>
                <a:latin typeface="Fira Sans" panose="020B0503050000020004" pitchFamily="34" charset="0"/>
              </a:rPr>
              <a:t>.</a:t>
            </a:r>
          </a:p>
        </p:txBody>
      </p:sp>
      <p:sp>
        <p:nvSpPr>
          <p:cNvPr id="104" name="TextBox 3"/>
          <p:cNvSpPr txBox="1"/>
          <p:nvPr/>
        </p:nvSpPr>
        <p:spPr>
          <a:xfrm>
            <a:off x="319251" y="1439712"/>
            <a:ext cx="5288307"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GitLab's </a:t>
            </a:r>
            <a:r>
              <a:rPr sz="1200" dirty="0" err="1">
                <a:solidFill>
                  <a:srgbClr val="28285E"/>
                </a:solidFill>
                <a:latin typeface="Fira Sans" panose="020B0503050000020004" pitchFamily="34" charset="0"/>
              </a:rPr>
              <a:t>Semgrep</a:t>
            </a:r>
            <a:r>
              <a:rPr sz="1200" dirty="0">
                <a:solidFill>
                  <a:srgbClr val="28285E"/>
                </a:solidFill>
                <a:latin typeface="Fira Sans" panose="020B0503050000020004" pitchFamily="34" charset="0"/>
              </a:rPr>
              <a:t> analyzer, rules/</a:t>
            </a:r>
            <a:r>
              <a:rPr sz="1200" dirty="0" err="1">
                <a:solidFill>
                  <a:srgbClr val="28285E"/>
                </a:solidFill>
                <a:latin typeface="Fira Sans" panose="020B0503050000020004" pitchFamily="34" charset="0"/>
              </a:rPr>
              <a:t>bandit.yml</a:t>
            </a:r>
            <a:r>
              <a:rPr sz="1200" dirty="0">
                <a:solidFill>
                  <a:srgbClr val="28285E"/>
                </a:solidFill>
                <a:latin typeface="Fira Sans" panose="020B0503050000020004" pitchFamily="34" charset="0"/>
              </a:rPr>
              <a:t>, lines 1231 to 1242, cuts marked</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2259998"/>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5714545" cy="1692771"/>
          </a:xfrm>
          <a:prstGeom prst="rect">
            <a:avLst/>
          </a:prstGeom>
          <a:noFill/>
        </p:spPr>
        <p:txBody>
          <a:bodyPr wrap="square" lIns="0" tIns="0" rIns="0" bIns="0" anchor="t">
            <a:spAutoFit/>
          </a:bodyPr>
          <a:lstStyle/>
          <a:p>
            <a:pPr marL="304800" indent="-304800" algn="l">
              <a:buNone/>
            </a:pPr>
            <a:r>
              <a:rPr sz="1000" dirty="0">
                <a:solidFill>
                  <a:srgbClr val="8A8A9A"/>
                </a:solidFill>
                <a:latin typeface="Maple Mono NF"/>
              </a:rPr>
              <a:t>1231 </a:t>
            </a:r>
            <a:r>
              <a:rPr sz="1000" dirty="0">
                <a:solidFill>
                  <a:schemeClr val="tx2"/>
                </a:solidFill>
                <a:latin typeface="Maple Mono NF"/>
              </a:rPr>
              <a:t>- </a:t>
            </a:r>
            <a:r>
              <a:rPr sz="1000" dirty="0">
                <a:solidFill>
                  <a:srgbClr val="9CDCFE"/>
                </a:solidFill>
                <a:latin typeface="Maple Mono NF"/>
              </a:rPr>
              <a:t>id</a:t>
            </a:r>
            <a:r>
              <a:rPr sz="1000" dirty="0">
                <a:solidFill>
                  <a:schemeClr val="tx2"/>
                </a:solidFill>
                <a:latin typeface="Maple Mono NF"/>
              </a:rPr>
              <a:t>: </a:t>
            </a:r>
            <a:r>
              <a:rPr sz="1000" dirty="0">
                <a:solidFill>
                  <a:srgbClr val="CE9178"/>
                </a:solidFill>
                <a:latin typeface="Maple Mono NF"/>
              </a:rPr>
              <a:t>bandit.B610</a:t>
            </a:r>
          </a:p>
          <a:p>
            <a:pPr marL="304800" indent="-304800" algn="l">
              <a:buNone/>
            </a:pPr>
            <a:r>
              <a:rPr sz="1000" dirty="0">
                <a:solidFill>
                  <a:srgbClr val="8A8A9A"/>
                </a:solidFill>
                <a:latin typeface="Maple Mono NF"/>
              </a:rPr>
              <a:t>1232 </a:t>
            </a:r>
            <a:r>
              <a:rPr sz="1000" dirty="0">
                <a:solidFill>
                  <a:schemeClr val="tx2"/>
                </a:solidFill>
                <a:latin typeface="Maple Mono NF"/>
              </a:rPr>
              <a:t>  </a:t>
            </a:r>
            <a:r>
              <a:rPr sz="1000" dirty="0">
                <a:solidFill>
                  <a:srgbClr val="9CDCFE"/>
                </a:solidFill>
                <a:latin typeface="Maple Mono NF"/>
              </a:rPr>
              <a:t>patterns</a:t>
            </a:r>
            <a:r>
              <a:rPr sz="1000" dirty="0">
                <a:solidFill>
                  <a:schemeClr val="tx2"/>
                </a:solidFill>
                <a:latin typeface="Maple Mono NF"/>
              </a:rPr>
              <a:t>:</a:t>
            </a:r>
          </a:p>
          <a:p>
            <a:pPr marL="304800" indent="-304800" algn="l">
              <a:buNone/>
            </a:pPr>
            <a:r>
              <a:rPr sz="1000" dirty="0">
                <a:solidFill>
                  <a:srgbClr val="8A8A9A"/>
                </a:solidFill>
                <a:latin typeface="Maple Mono NF"/>
              </a:rPr>
              <a:t>1233 </a:t>
            </a:r>
            <a:r>
              <a:rPr sz="1000" dirty="0">
                <a:solidFill>
                  <a:schemeClr val="tx2"/>
                </a:solidFill>
                <a:latin typeface="Maple Mono NF"/>
              </a:rPr>
              <a:t>  - </a:t>
            </a:r>
            <a:r>
              <a:rPr sz="1000" dirty="0">
                <a:solidFill>
                  <a:srgbClr val="9CDCFE"/>
                </a:solidFill>
                <a:latin typeface="Maple Mono NF"/>
              </a:rPr>
              <a:t>pattern-either</a:t>
            </a:r>
            <a:r>
              <a:rPr sz="1000" dirty="0">
                <a:solidFill>
                  <a:schemeClr val="tx2"/>
                </a:solidFill>
                <a:latin typeface="Maple Mono NF"/>
              </a:rPr>
              <a:t>:</a:t>
            </a:r>
          </a:p>
          <a:p>
            <a:pPr marL="304800" indent="-304800" algn="l">
              <a:buNone/>
            </a:pPr>
            <a:r>
              <a:rPr sz="1000" dirty="0">
                <a:solidFill>
                  <a:srgbClr val="8A8A9A"/>
                </a:solidFill>
                <a:latin typeface="Maple Mono NF"/>
              </a:rPr>
              <a:t>1234 </a:t>
            </a:r>
            <a:r>
              <a:rPr sz="1000" dirty="0">
                <a:solidFill>
                  <a:schemeClr val="tx2"/>
                </a:solidFill>
                <a:latin typeface="Maple Mono NF"/>
              </a:rPr>
              <a:t>    - </a:t>
            </a:r>
            <a:r>
              <a:rPr sz="1000" dirty="0">
                <a:solidFill>
                  <a:srgbClr val="9CDCFE"/>
                </a:solidFill>
                <a:latin typeface="Maple Mono NF"/>
              </a:rPr>
              <a:t>pattern</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X.objects.$FUNC</a:t>
            </a:r>
            <a:r>
              <a:rPr sz="1000" dirty="0">
                <a:solidFill>
                  <a:srgbClr val="CE9178"/>
                </a:solidFill>
                <a:latin typeface="Maple Mono NF"/>
              </a:rPr>
              <a:t>(...).extra(...)</a:t>
            </a:r>
          </a:p>
          <a:p>
            <a:pPr marL="304800" indent="-304800" algn="l">
              <a:buNone/>
            </a:pPr>
            <a:r>
              <a:rPr sz="1000" dirty="0">
                <a:solidFill>
                  <a:srgbClr val="8A8A9A"/>
                </a:solidFill>
                <a:latin typeface="Maple Mono NF"/>
              </a:rPr>
              <a:t>    </a:t>
            </a:r>
            <a:r>
              <a:rPr lang="en-US" sz="1000" dirty="0">
                <a:solidFill>
                  <a:srgbClr val="8A8A9A"/>
                </a:solidFill>
                <a:latin typeface="Maple Mono NF"/>
              </a:rPr>
              <a:t>     </a:t>
            </a:r>
            <a:r>
              <a:rPr sz="1000" dirty="0">
                <a:solidFill>
                  <a:schemeClr val="accent4"/>
                </a:solidFill>
                <a:latin typeface="Maple Mono NF"/>
              </a:rPr>
              <a:t># ours: two longer patterns and the message cut</a:t>
            </a:r>
          </a:p>
          <a:p>
            <a:pPr marL="304800" indent="-304800" algn="l">
              <a:buNone/>
            </a:pPr>
            <a:r>
              <a:rPr sz="1000" dirty="0">
                <a:solidFill>
                  <a:srgbClr val="8A8A9A"/>
                </a:solidFill>
                <a:latin typeface="Maple Mono NF"/>
              </a:rPr>
              <a:t>1238 </a:t>
            </a:r>
            <a:r>
              <a:rPr sz="1000" dirty="0">
                <a:solidFill>
                  <a:schemeClr val="tx2"/>
                </a:solidFill>
                <a:latin typeface="Maple Mono NF"/>
              </a:rPr>
              <a:t>  </a:t>
            </a:r>
            <a:r>
              <a:rPr sz="1000" dirty="0">
                <a:solidFill>
                  <a:srgbClr val="9CDCFE"/>
                </a:solidFill>
                <a:latin typeface="Maple Mono NF"/>
              </a:rPr>
              <a:t>metadata</a:t>
            </a:r>
            <a:r>
              <a:rPr sz="1000" dirty="0">
                <a:solidFill>
                  <a:schemeClr val="tx2"/>
                </a:solidFill>
                <a:latin typeface="Maple Mono NF"/>
              </a:rPr>
              <a:t>:</a:t>
            </a:r>
          </a:p>
          <a:p>
            <a:pPr marL="304800" indent="-304800" algn="l">
              <a:buNone/>
            </a:pPr>
            <a:r>
              <a:rPr sz="1000" dirty="0">
                <a:solidFill>
                  <a:srgbClr val="8A8A9A"/>
                </a:solidFill>
                <a:latin typeface="Maple Mono NF"/>
              </a:rPr>
              <a:t>1239 </a:t>
            </a:r>
            <a:r>
              <a:rPr sz="1000" dirty="0">
                <a:solidFill>
                  <a:schemeClr val="tx2"/>
                </a:solidFill>
                <a:latin typeface="Maple Mono NF"/>
              </a:rPr>
              <a:t>    </a:t>
            </a:r>
            <a:r>
              <a:rPr sz="1000" dirty="0" err="1">
                <a:solidFill>
                  <a:srgbClr val="9CDCFE"/>
                </a:solidFill>
                <a:latin typeface="Maple Mono NF"/>
              </a:rPr>
              <a:t>cwe</a:t>
            </a:r>
            <a:r>
              <a:rPr sz="1000" dirty="0">
                <a:solidFill>
                  <a:schemeClr val="tx2"/>
                </a:solidFill>
                <a:latin typeface="Maple Mono NF"/>
              </a:rPr>
              <a:t>: </a:t>
            </a:r>
            <a:r>
              <a:rPr sz="1000" dirty="0">
                <a:solidFill>
                  <a:srgbClr val="CE9178"/>
                </a:solidFill>
                <a:latin typeface="Maple Mono NF"/>
              </a:rPr>
              <a:t>"CWE-89:</a:t>
            </a:r>
            <a:r>
              <a:rPr sz="1000" dirty="0">
                <a:solidFill>
                  <a:schemeClr val="tx2"/>
                </a:solidFill>
                <a:latin typeface="Maple Mono NF"/>
              </a:rPr>
              <a:t> </a:t>
            </a:r>
            <a:r>
              <a:rPr sz="1000" dirty="0">
                <a:solidFill>
                  <a:srgbClr val="CE9178"/>
                </a:solidFill>
                <a:latin typeface="Maple Mono NF"/>
              </a:rPr>
              <a:t>Improper</a:t>
            </a:r>
            <a:r>
              <a:rPr sz="1000" dirty="0">
                <a:solidFill>
                  <a:schemeClr val="tx2"/>
                </a:solidFill>
                <a:latin typeface="Maple Mono NF"/>
              </a:rPr>
              <a:t> </a:t>
            </a:r>
            <a:r>
              <a:rPr sz="1000" dirty="0">
                <a:solidFill>
                  <a:srgbClr val="CE9178"/>
                </a:solidFill>
                <a:latin typeface="Maple Mono NF"/>
              </a:rPr>
              <a:t>Neutralization</a:t>
            </a:r>
            <a:r>
              <a:rPr sz="1000" dirty="0">
                <a:solidFill>
                  <a:schemeClr val="tx2"/>
                </a:solidFill>
                <a:latin typeface="Maple Mono NF"/>
              </a:rPr>
              <a:t> </a:t>
            </a:r>
            <a:r>
              <a:rPr sz="1000" dirty="0">
                <a:solidFill>
                  <a:srgbClr val="CE9178"/>
                </a:solidFill>
                <a:latin typeface="Maple Mono NF"/>
              </a:rPr>
              <a:t>of</a:t>
            </a:r>
            <a:r>
              <a:rPr sz="1000" dirty="0">
                <a:solidFill>
                  <a:schemeClr val="tx2"/>
                </a:solidFill>
                <a:latin typeface="Maple Mono NF"/>
              </a:rPr>
              <a:t> </a:t>
            </a:r>
            <a:r>
              <a:rPr sz="1000" dirty="0">
                <a:solidFill>
                  <a:srgbClr val="CE9178"/>
                </a:solidFill>
                <a:latin typeface="Maple Mono NF"/>
              </a:rPr>
              <a:t>Special</a:t>
            </a:r>
            <a:r>
              <a:rPr sz="1000" dirty="0">
                <a:solidFill>
                  <a:schemeClr val="tx2"/>
                </a:solidFill>
                <a:latin typeface="Maple Mono NF"/>
              </a:rPr>
              <a:t> </a:t>
            </a:r>
            <a:r>
              <a:rPr sz="1000" dirty="0">
                <a:solidFill>
                  <a:srgbClr val="CE9178"/>
                </a:solidFill>
                <a:latin typeface="Maple Mono NF"/>
              </a:rPr>
              <a:t>Elements</a:t>
            </a:r>
            <a:r>
              <a:rPr sz="1000" dirty="0">
                <a:solidFill>
                  <a:schemeClr val="tx2"/>
                </a:solidFill>
                <a:latin typeface="Maple Mono NF"/>
              </a:rPr>
              <a:t> </a:t>
            </a:r>
            <a:r>
              <a:rPr sz="1000" dirty="0">
                <a:solidFill>
                  <a:srgbClr val="CE9178"/>
                </a:solidFill>
                <a:latin typeface="Maple Mono NF"/>
              </a:rPr>
              <a:t>used</a:t>
            </a:r>
            <a:r>
              <a:rPr sz="1000" dirty="0">
                <a:solidFill>
                  <a:schemeClr val="tx2"/>
                </a:solidFill>
                <a:latin typeface="Maple Mono NF"/>
              </a:rPr>
              <a:t> </a:t>
            </a:r>
            <a:r>
              <a:rPr sz="1000" dirty="0">
                <a:solidFill>
                  <a:srgbClr val="CE9178"/>
                </a:solidFill>
                <a:latin typeface="Maple Mono NF"/>
              </a:rPr>
              <a:t>in</a:t>
            </a:r>
            <a:r>
              <a:rPr sz="1000" dirty="0">
                <a:solidFill>
                  <a:schemeClr val="tx2"/>
                </a:solidFill>
                <a:latin typeface="Maple Mono NF"/>
              </a:rPr>
              <a:t> </a:t>
            </a:r>
            <a:r>
              <a:rPr lang="en-US" sz="1000" dirty="0">
                <a:solidFill>
                  <a:schemeClr val="tx2"/>
                </a:solidFill>
                <a:latin typeface="Maple Mono NF"/>
              </a:rPr>
              <a:t> </a:t>
            </a:r>
          </a:p>
          <a:p>
            <a:pPr marL="304800" indent="-304800" algn="l">
              <a:buNone/>
            </a:pPr>
            <a:r>
              <a:rPr lang="en-US" sz="1000" dirty="0">
                <a:solidFill>
                  <a:schemeClr val="tx2"/>
                </a:solidFill>
                <a:latin typeface="Maple Mono NF"/>
              </a:rPr>
              <a:t>               </a:t>
            </a:r>
            <a:r>
              <a:rPr sz="1000" dirty="0">
                <a:solidFill>
                  <a:srgbClr val="CE9178"/>
                </a:solidFill>
                <a:latin typeface="Maple Mono NF"/>
              </a:rPr>
              <a:t>an</a:t>
            </a:r>
            <a:r>
              <a:rPr sz="1000" dirty="0">
                <a:solidFill>
                  <a:schemeClr val="tx2"/>
                </a:solidFill>
                <a:latin typeface="Maple Mono NF"/>
              </a:rPr>
              <a:t> </a:t>
            </a:r>
            <a:r>
              <a:rPr sz="1000" dirty="0">
                <a:solidFill>
                  <a:srgbClr val="CE9178"/>
                </a:solidFill>
                <a:latin typeface="Maple Mono NF"/>
              </a:rPr>
              <a:t>SQL</a:t>
            </a:r>
            <a:r>
              <a:rPr sz="1000" dirty="0">
                <a:solidFill>
                  <a:schemeClr val="tx2"/>
                </a:solidFill>
                <a:latin typeface="Maple Mono NF"/>
              </a:rPr>
              <a:t> </a:t>
            </a:r>
            <a:r>
              <a:rPr sz="1000" dirty="0">
                <a:solidFill>
                  <a:srgbClr val="CE9178"/>
                </a:solidFill>
                <a:latin typeface="Maple Mono NF"/>
              </a:rPr>
              <a:t>Command</a:t>
            </a:r>
            <a:r>
              <a:rPr sz="1000" dirty="0">
                <a:solidFill>
                  <a:schemeClr val="tx2"/>
                </a:solidFill>
                <a:latin typeface="Maple Mono NF"/>
              </a:rPr>
              <a:t> </a:t>
            </a:r>
            <a:r>
              <a:rPr sz="1000" dirty="0">
                <a:solidFill>
                  <a:srgbClr val="CE9178"/>
                </a:solidFill>
                <a:latin typeface="Maple Mono NF"/>
              </a:rPr>
              <a:t>('SQL</a:t>
            </a:r>
            <a:r>
              <a:rPr sz="1000" dirty="0">
                <a:solidFill>
                  <a:schemeClr val="tx2"/>
                </a:solidFill>
                <a:latin typeface="Maple Mono NF"/>
              </a:rPr>
              <a:t> </a:t>
            </a:r>
            <a:r>
              <a:rPr sz="1000" dirty="0">
                <a:solidFill>
                  <a:srgbClr val="CE9178"/>
                </a:solidFill>
                <a:latin typeface="Maple Mono NF"/>
              </a:rPr>
              <a:t>Injection')"</a:t>
            </a:r>
          </a:p>
          <a:p>
            <a:pPr marL="304800" indent="-304800" algn="l">
              <a:buNone/>
            </a:pPr>
            <a:r>
              <a:rPr sz="1000" dirty="0">
                <a:solidFill>
                  <a:srgbClr val="8A8A9A"/>
                </a:solidFill>
                <a:latin typeface="Maple Mono NF"/>
              </a:rPr>
              <a:t>1240 </a:t>
            </a:r>
            <a:r>
              <a:rPr sz="1000" dirty="0">
                <a:solidFill>
                  <a:schemeClr val="tx2"/>
                </a:solidFill>
                <a:latin typeface="Maple Mono NF"/>
              </a:rPr>
              <a:t>    </a:t>
            </a:r>
            <a:r>
              <a:rPr sz="1000" dirty="0" err="1">
                <a:solidFill>
                  <a:srgbClr val="9CDCFE"/>
                </a:solidFill>
                <a:latin typeface="Maple Mono NF"/>
              </a:rPr>
              <a:t>owasp</a:t>
            </a:r>
            <a:r>
              <a:rPr sz="1000" dirty="0">
                <a:solidFill>
                  <a:schemeClr val="tx2"/>
                </a:solidFill>
                <a:latin typeface="Maple Mono NF"/>
              </a:rPr>
              <a:t>: </a:t>
            </a:r>
            <a:r>
              <a:rPr sz="1000" dirty="0">
                <a:solidFill>
                  <a:srgbClr val="CE9178"/>
                </a:solidFill>
                <a:latin typeface="Maple Mono NF"/>
              </a:rPr>
              <a:t>'A1:</a:t>
            </a:r>
            <a:r>
              <a:rPr sz="1000" dirty="0">
                <a:solidFill>
                  <a:schemeClr val="tx2"/>
                </a:solidFill>
                <a:latin typeface="Maple Mono NF"/>
              </a:rPr>
              <a:t> </a:t>
            </a:r>
            <a:r>
              <a:rPr sz="1000" dirty="0">
                <a:solidFill>
                  <a:srgbClr val="CE9178"/>
                </a:solidFill>
                <a:latin typeface="Maple Mono NF"/>
              </a:rPr>
              <a:t>Injection'</a:t>
            </a:r>
          </a:p>
          <a:p>
            <a:pPr marL="304800" indent="-304800" algn="l">
              <a:buNone/>
            </a:pPr>
            <a:r>
              <a:rPr sz="1000" dirty="0">
                <a:solidFill>
                  <a:srgbClr val="8A8A9A"/>
                </a:solidFill>
                <a:latin typeface="Maple Mono NF"/>
              </a:rPr>
              <a:t>1241 </a:t>
            </a:r>
            <a:r>
              <a:rPr sz="1000" dirty="0">
                <a:solidFill>
                  <a:schemeClr val="tx2"/>
                </a:solidFill>
                <a:latin typeface="Maple Mono NF"/>
              </a:rPr>
              <a:t>  </a:t>
            </a:r>
            <a:r>
              <a:rPr sz="1000" dirty="0">
                <a:solidFill>
                  <a:srgbClr val="9CDCFE"/>
                </a:solidFill>
                <a:latin typeface="Maple Mono NF"/>
              </a:rPr>
              <a:t>severity</a:t>
            </a:r>
            <a:r>
              <a:rPr sz="1000" dirty="0">
                <a:solidFill>
                  <a:schemeClr val="tx2"/>
                </a:solidFill>
                <a:latin typeface="Maple Mono NF"/>
              </a:rPr>
              <a:t>: </a:t>
            </a:r>
            <a:r>
              <a:rPr sz="1000" dirty="0">
                <a:solidFill>
                  <a:srgbClr val="CE9178"/>
                </a:solidFill>
                <a:latin typeface="Maple Mono NF"/>
              </a:rPr>
              <a:t>ERROR</a:t>
            </a:r>
          </a:p>
          <a:p>
            <a:pPr marL="304800" indent="-304800" algn="l">
              <a:buNone/>
            </a:pPr>
            <a:r>
              <a:rPr sz="1000" dirty="0">
                <a:solidFill>
                  <a:srgbClr val="8A8A9A"/>
                </a:solidFill>
                <a:latin typeface="Maple Mono NF"/>
              </a:rPr>
              <a:t>1242 </a:t>
            </a:r>
            <a:r>
              <a:rPr sz="1000" dirty="0">
                <a:solidFill>
                  <a:schemeClr val="tx2"/>
                </a:solidFill>
                <a:latin typeface="Maple Mono NF"/>
              </a:rPr>
              <a:t>  </a:t>
            </a:r>
            <a:r>
              <a:rPr sz="1000" dirty="0">
                <a:solidFill>
                  <a:srgbClr val="9CDCFE"/>
                </a:solidFill>
                <a:latin typeface="Maple Mono NF"/>
              </a:rPr>
              <a:t>languages</a:t>
            </a:r>
            <a:r>
              <a:rPr sz="1000" dirty="0">
                <a:solidFill>
                  <a:schemeClr val="tx2"/>
                </a:solidFill>
                <a:latin typeface="Maple Mono NF"/>
              </a:rPr>
              <a:t>: [python]</a:t>
            </a:r>
          </a:p>
        </p:txBody>
      </p:sp>
      <p:sp>
        <p:nvSpPr>
          <p:cNvPr id="110" name="Rectangle 109"/>
          <p:cNvSpPr/>
          <p:nvPr/>
        </p:nvSpPr>
        <p:spPr>
          <a:xfrm>
            <a:off x="319251" y="418971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rule carries the shape to match, the message to print, and the CWE and Top 10 family it belongs 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SAST: a rule binding to the code</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A </a:t>
            </a:r>
            <a:r>
              <a:rPr sz="1400" dirty="0" err="1">
                <a:solidFill>
                  <a:srgbClr val="28285E"/>
                </a:solidFill>
                <a:latin typeface="Fira Sans" panose="020B0503050000020004" pitchFamily="34" charset="0"/>
              </a:rPr>
              <a:t>Semgrep</a:t>
            </a:r>
            <a:r>
              <a:rPr sz="1400" dirty="0">
                <a:solidFill>
                  <a:srgbClr val="28285E"/>
                </a:solidFill>
                <a:latin typeface="Fira Sans" panose="020B0503050000020004" pitchFamily="34" charset="0"/>
              </a:rPr>
              <a:t> rule is a pattern with </a:t>
            </a:r>
            <a:r>
              <a:rPr lang="en-US" sz="1400" dirty="0">
                <a:solidFill>
                  <a:srgbClr val="28285E"/>
                </a:solidFill>
                <a:latin typeface="Fira Sans" panose="020B0503050000020004" pitchFamily="34" charset="0"/>
              </a:rPr>
              <a:t>gaps</a:t>
            </a:r>
            <a:r>
              <a:rPr sz="1400" dirty="0">
                <a:solidFill>
                  <a:srgbClr val="28285E"/>
                </a:solidFill>
                <a:latin typeface="Fira Sans" panose="020B0503050000020004" pitchFamily="34" charset="0"/>
              </a:rPr>
              <a:t>, and a finding is the code that fill</a:t>
            </a:r>
            <a:r>
              <a:rPr lang="en-US" sz="1400" dirty="0">
                <a:solidFill>
                  <a:srgbClr val="28285E"/>
                </a:solidFill>
                <a:latin typeface="Fira Sans" panose="020B0503050000020004" pitchFamily="34" charset="0"/>
              </a:rPr>
              <a:t>s </a:t>
            </a:r>
            <a:r>
              <a:rPr sz="1400" dirty="0">
                <a:solidFill>
                  <a:srgbClr val="28285E"/>
                </a:solidFill>
                <a:latin typeface="Fira Sans" panose="020B0503050000020004" pitchFamily="34" charset="0"/>
              </a:rPr>
              <a:t>the</a:t>
            </a:r>
            <a:r>
              <a:rPr lang="en-US" sz="1400" dirty="0">
                <a:solidFill>
                  <a:srgbClr val="28285E"/>
                </a:solidFill>
                <a:latin typeface="Fira Sans" panose="020B0503050000020004" pitchFamily="34" charset="0"/>
              </a:rPr>
              <a:t>se gaps</a:t>
            </a:r>
            <a:r>
              <a:rPr sz="1400" dirty="0">
                <a:solidFill>
                  <a:srgbClr val="28285E"/>
                </a:solidFill>
                <a:latin typeface="Fira Sans" panose="020B0503050000020004" pitchFamily="34" charset="0"/>
              </a:rPr>
              <a:t>.</a:t>
            </a:r>
          </a:p>
        </p:txBody>
      </p:sp>
      <p:pic>
        <p:nvPicPr>
          <p:cNvPr id="4" name="Picture 3" descr="hw1-semgrep-rule.png"/>
          <p:cNvPicPr>
            <a:picLocks noChangeAspect="1"/>
          </p:cNvPicPr>
          <p:nvPr/>
        </p:nvPicPr>
        <p:blipFill>
          <a:blip r:embed="rId3"/>
          <a:stretch>
            <a:fillRect/>
          </a:stretch>
        </p:blipFill>
        <p:spPr>
          <a:xfrm>
            <a:off x="250148" y="1396379"/>
            <a:ext cx="6152752" cy="2683601"/>
          </a:xfrm>
          <a:prstGeom prst="rect">
            <a:avLst/>
          </a:prstGeom>
        </p:spPr>
      </p:pic>
      <p:sp>
        <p:nvSpPr>
          <p:cNvPr id="5" name="Rectangle 4"/>
          <p:cNvSpPr/>
          <p:nvPr/>
        </p:nvSpPr>
        <p:spPr>
          <a:xfrm>
            <a:off x="319251" y="4266647"/>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pattern binds to the code, and the finding carries the family.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Discovery: what an alert contains</a:t>
            </a:r>
          </a:p>
        </p:txBody>
      </p:sp>
      <p:sp>
        <p:nvSpPr>
          <p:cNvPr id="3" name="Content Placeholder 2"/>
          <p:cNvSpPr>
            <a:spLocks noGrp="1"/>
          </p:cNvSpPr>
          <p:nvPr>
            <p:ph idx="1"/>
          </p:nvPr>
        </p:nvSpPr>
        <p:spPr>
          <a:xfrm>
            <a:off x="319251" y="700000"/>
            <a:ext cx="6014545" cy="2420688"/>
          </a:xfrm>
        </p:spPr>
        <p:txBody>
          <a:bodyPr wrap="square" anchor="ctr">
            <a:normAutofit fontScale="92500" lnSpcReduction="10000"/>
          </a:bodyPr>
          <a:lstStyle/>
          <a:p>
            <a:pPr marL="0" indent="0">
              <a:buNone/>
            </a:pPr>
            <a:r>
              <a:rPr sz="1400" b="1">
                <a:solidFill>
                  <a:srgbClr val="28285E"/>
                </a:solidFill>
              </a:rPr>
              <a:t>Discovery runs a fixed set of rules over the code and reports every place a rule matches.</a:t>
            </a:r>
          </a:p>
          <a:p>
            <a:pPr marL="400050" indent="-285750">
              <a:spcBef>
                <a:spcPts val="600"/>
              </a:spcBef>
              <a:spcAft>
                <a:spcPts val="600"/>
              </a:spcAft>
              <a:buClr>
                <a:srgbClr val="28285E"/>
              </a:buClr>
              <a:buSzPts val="1260"/>
              <a:buFont typeface="+mn-lt"/>
              <a:buChar char="●"/>
            </a:pPr>
            <a:r>
              <a:rPr sz="1400" b="1">
                <a:solidFill>
                  <a:schemeClr val="tx1"/>
                </a:solidFill>
              </a:rPr>
              <a:t>Each alert</a:t>
            </a:r>
            <a:r>
              <a:rPr sz="1400" b="0">
                <a:solidFill>
                  <a:schemeClr val="tx1"/>
                </a:solidFill>
              </a:rPr>
              <a:t> names a file, a line and the rule that matched, so the next stage can go and look.</a:t>
            </a:r>
          </a:p>
          <a:p>
            <a:pPr marL="400050" indent="-285750">
              <a:spcBef>
                <a:spcPts val="600"/>
              </a:spcBef>
              <a:spcAft>
                <a:spcPts val="600"/>
              </a:spcAft>
              <a:buClr>
                <a:srgbClr val="28285E"/>
              </a:buClr>
              <a:buSzPts val="1260"/>
              <a:buFont typeface="+mn-lt"/>
              <a:buChar char="●"/>
            </a:pPr>
            <a:r>
              <a:rPr sz="1400" b="1">
                <a:solidFill>
                  <a:schemeClr val="tx1"/>
                </a:solidFill>
              </a:rPr>
              <a:t>With Bandit 1.9.4</a:t>
            </a:r>
            <a:r>
              <a:rPr sz="1400" b="0">
                <a:solidFill>
                  <a:schemeClr val="tx1"/>
                </a:solidFill>
              </a:rPr>
              <a:t> the three targets give 18, 10 and 21 alerts, and the same commit gives the same list.</a:t>
            </a:r>
          </a:p>
          <a:p>
            <a:pPr marL="400050" indent="-285750">
              <a:spcBef>
                <a:spcPts val="600"/>
              </a:spcBef>
              <a:spcAft>
                <a:spcPts val="600"/>
              </a:spcAft>
              <a:buClr>
                <a:srgbClr val="28285E"/>
              </a:buClr>
              <a:buSzPts val="1260"/>
              <a:buFont typeface="+mn-lt"/>
              <a:buChar char="●"/>
            </a:pPr>
            <a:r>
              <a:rPr sz="1400" b="1">
                <a:solidFill>
                  <a:schemeClr val="tx1"/>
                </a:solidFill>
              </a:rPr>
              <a:t>An alert</a:t>
            </a:r>
            <a:r>
              <a:rPr sz="1400" b="0">
                <a:solidFill>
                  <a:schemeClr val="tx1"/>
                </a:solidFill>
              </a:rPr>
              <a:t> records that a rule matched. Whether the match is a real flaw is left open.</a:t>
            </a:r>
          </a:p>
        </p:txBody>
      </p:sp>
      <p:sp>
        <p:nvSpPr>
          <p:cNvPr id="4" name="Rectangle 3"/>
          <p:cNvSpPr/>
          <p:nvPr/>
        </p:nvSpPr>
        <p:spPr>
          <a:xfrm>
            <a:off x="319251" y="3350688"/>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alert is one place in the code where a discovery rule matched, reported with the file, the line and the rule.</a:t>
            </a:r>
          </a:p>
        </p:txBody>
      </p:sp>
      <p:sp>
        <p:nvSpPr>
          <p:cNvPr id="5" name="Rectangle 4"/>
          <p:cNvSpPr/>
          <p:nvPr/>
        </p:nvSpPr>
        <p:spPr>
          <a:xfrm>
            <a:off x="319251" y="42504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Your agent decides, for each alert, whether the match is a real flaw.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1910031"/>
            <a:ext cx="5000000" cy="1323439"/>
          </a:xfrm>
          <a:prstGeom prst="rect">
            <a:avLst/>
          </a:prstGeom>
          <a:noFill/>
        </p:spPr>
        <p:txBody>
          <a:bodyPr wrap="square" anchor="ctr">
            <a:spAutoFit/>
          </a:bodyPr>
          <a:lstStyle/>
          <a:p>
            <a:pPr algn="ctr"/>
            <a:r>
              <a:rPr sz="4000" b="1" dirty="0">
                <a:solidFill>
                  <a:schemeClr val="tx2"/>
                </a:solidFill>
                <a:latin typeface="+mj-lt"/>
              </a:rPr>
              <a:t>Attack surface and threat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Attack surface: where outside data enters</a:t>
            </a:r>
          </a:p>
        </p:txBody>
      </p:sp>
      <p:sp>
        <p:nvSpPr>
          <p:cNvPr id="3" name="Content Placeholder 2"/>
          <p:cNvSpPr>
            <a:spLocks noGrp="1"/>
          </p:cNvSpPr>
          <p:nvPr>
            <p:ph idx="1"/>
          </p:nvPr>
        </p:nvSpPr>
        <p:spPr>
          <a:xfrm>
            <a:off x="319251" y="700000"/>
            <a:ext cx="6014545" cy="2420688"/>
          </a:xfrm>
        </p:spPr>
        <p:txBody>
          <a:bodyPr wrap="square" anchor="ctr">
            <a:normAutofit fontScale="92500" lnSpcReduction="10000"/>
          </a:bodyPr>
          <a:lstStyle/>
          <a:p>
            <a:pPr marL="0" indent="0">
              <a:buNone/>
            </a:pPr>
            <a:r>
              <a:rPr sz="1400" b="1" dirty="0">
                <a:solidFill>
                  <a:srgbClr val="28285E"/>
                </a:solidFill>
              </a:rPr>
              <a:t>Data from outside a program arrives at a few places: a request, a file, a message. An attacker starts there.</a:t>
            </a:r>
          </a:p>
          <a:p>
            <a:pPr marL="400050" indent="-285750">
              <a:spcBef>
                <a:spcPts val="600"/>
              </a:spcBef>
              <a:spcAft>
                <a:spcPts val="600"/>
              </a:spcAft>
              <a:buClr>
                <a:srgbClr val="28285E"/>
              </a:buClr>
              <a:buSzPts val="1260"/>
              <a:buFont typeface="+mn-lt"/>
              <a:buChar char="●"/>
            </a:pPr>
            <a:r>
              <a:rPr sz="1400" b="1">
                <a:solidFill>
                  <a:schemeClr val="tx1"/>
                </a:solidFill>
              </a:rPr>
              <a:t>Every Benchmark case</a:t>
            </a:r>
            <a:r>
              <a:rPr sz="1400" b="0">
                <a:solidFill>
                  <a:schemeClr val="tx1"/>
                </a:solidFill>
              </a:rPr>
              <a:t> is a Flask route reading a cookie or a form field, so the request is its surface.</a:t>
            </a:r>
          </a:p>
          <a:p>
            <a:pPr marL="400050" indent="-285750">
              <a:spcBef>
                <a:spcPts val="600"/>
              </a:spcBef>
              <a:spcAft>
                <a:spcPts val="600"/>
              </a:spcAft>
              <a:buClr>
                <a:srgbClr val="28285E"/>
              </a:buClr>
              <a:buSzPts val="1260"/>
              <a:buFont typeface="+mn-lt"/>
              <a:buChar char="●"/>
            </a:pPr>
            <a:r>
              <a:rPr sz="1400" b="1">
                <a:solidFill>
                  <a:schemeClr val="tx1"/>
                </a:solidFill>
              </a:rPr>
              <a:t>Radicale</a:t>
            </a:r>
            <a:r>
              <a:rPr sz="1400" b="0">
                <a:solidFill>
                  <a:schemeClr val="tx1"/>
                </a:solidFill>
              </a:rPr>
              <a:t> is a calendar server, so its surface is the HTTP request from a client, logged in or not.</a:t>
            </a:r>
          </a:p>
          <a:p>
            <a:pPr marL="400050" indent="-285750">
              <a:spcBef>
                <a:spcPts val="600"/>
              </a:spcBef>
              <a:spcAft>
                <a:spcPts val="600"/>
              </a:spcAft>
              <a:buClr>
                <a:srgbClr val="28285E"/>
              </a:buClr>
              <a:buSzPts val="1260"/>
              <a:buFont typeface="+mn-lt"/>
              <a:buChar char="●"/>
            </a:pPr>
            <a:r>
              <a:rPr sz="1400" b="1">
                <a:solidFill>
                  <a:schemeClr val="tx1"/>
                </a:solidFill>
              </a:rPr>
              <a:t>SGLang</a:t>
            </a:r>
            <a:r>
              <a:rPr sz="1400" b="0">
                <a:solidFill>
                  <a:schemeClr val="tx1"/>
                </a:solidFill>
              </a:rPr>
              <a:t> is an inference server, so its surface adds the model files it loads and its own worker channels.</a:t>
            </a:r>
          </a:p>
        </p:txBody>
      </p:sp>
      <p:sp>
        <p:nvSpPr>
          <p:cNvPr id="4" name="Rectangle 3"/>
          <p:cNvSpPr/>
          <p:nvPr/>
        </p:nvSpPr>
        <p:spPr>
          <a:xfrm>
            <a:off x="319251" y="3307355"/>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dirty="0">
                <a:solidFill>
                  <a:schemeClr val="tx2"/>
                </a:solidFill>
              </a:rPr>
              <a:t>The attack surface is the set of places where data from outside the program enters it, with the code that first handles it.</a:t>
            </a:r>
          </a:p>
        </p:txBody>
      </p:sp>
      <p:sp>
        <p:nvSpPr>
          <p:cNvPr id="5" name="Rectangle 4"/>
          <p:cNvSpPr/>
          <p:nvPr/>
        </p:nvSpPr>
        <p:spPr>
          <a:xfrm>
            <a:off x="319251" y="4163734"/>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Your agent asks, for every alert, whether the value at that line can come from the surface.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Attack surface: one entry point in code</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form field enters at line 31 and, after a detour through a config object, is bar at line 42.</a:t>
            </a:r>
          </a:p>
        </p:txBody>
      </p:sp>
      <p:sp>
        <p:nvSpPr>
          <p:cNvPr id="104" name="TextBox 3"/>
          <p:cNvSpPr txBox="1"/>
          <p:nvPr/>
        </p:nvSpPr>
        <p:spPr>
          <a:xfrm>
            <a:off x="319251" y="1439712"/>
            <a:ext cx="4637488"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BenchmarkTest00099.py, BenchmarkTest00099_post, lines 31 to 42</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1904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4672754" cy="1354217"/>
          </a:xfrm>
          <a:prstGeom prst="rect">
            <a:avLst/>
          </a:prstGeom>
          <a:noFill/>
        </p:spPr>
        <p:txBody>
          <a:bodyPr wrap="none" lIns="0" tIns="0" rIns="0" bIns="0" anchor="t">
            <a:spAutoFit/>
          </a:bodyPr>
          <a:lstStyle/>
          <a:p>
            <a:pPr algn="l">
              <a:buNone/>
            </a:pPr>
            <a:r>
              <a:rPr sz="1100" dirty="0">
                <a:solidFill>
                  <a:srgbClr val="8A8A9A"/>
                </a:solidFill>
                <a:latin typeface="Maple Mono NF"/>
              </a:rPr>
              <a:t> 31 </a:t>
            </a:r>
            <a:r>
              <a:rPr sz="1100" dirty="0">
                <a:solidFill>
                  <a:srgbClr val="9CDCFE"/>
                </a:solidFill>
                <a:latin typeface="Maple Mono NF"/>
              </a:rPr>
              <a:t>param</a:t>
            </a:r>
            <a:r>
              <a:rPr sz="1100" dirty="0">
                <a:solidFill>
                  <a:schemeClr val="tx2"/>
                </a:solidFill>
                <a:latin typeface="Maple Mono NF"/>
              </a:rPr>
              <a:t> = </a:t>
            </a:r>
            <a:r>
              <a:rPr sz="1100" dirty="0" err="1">
                <a:solidFill>
                  <a:srgbClr val="9CDCFE"/>
                </a:solidFill>
                <a:latin typeface="Maple Mono NF"/>
              </a:rPr>
              <a:t>request</a:t>
            </a:r>
            <a:r>
              <a:rPr sz="1100" dirty="0" err="1">
                <a:solidFill>
                  <a:schemeClr val="tx2"/>
                </a:solidFill>
                <a:latin typeface="Maple Mono NF"/>
              </a:rPr>
              <a:t>.</a:t>
            </a:r>
            <a:r>
              <a:rPr sz="1100" dirty="0" err="1">
                <a:solidFill>
                  <a:srgbClr val="9CDCFE"/>
                </a:solidFill>
                <a:latin typeface="Maple Mono NF"/>
              </a:rPr>
              <a:t>form</a:t>
            </a:r>
            <a:r>
              <a:rPr sz="1100" dirty="0" err="1">
                <a:solidFill>
                  <a:schemeClr val="tx2"/>
                </a:solidFill>
                <a:latin typeface="Maple Mono NF"/>
              </a:rPr>
              <a:t>.</a:t>
            </a:r>
            <a:r>
              <a:rPr sz="1100" dirty="0" err="1">
                <a:solidFill>
                  <a:srgbClr val="DCDCAA"/>
                </a:solidFill>
                <a:latin typeface="Maple Mono NF"/>
              </a:rPr>
              <a:t>get</a:t>
            </a:r>
            <a:r>
              <a:rPr sz="1100" dirty="0">
                <a:solidFill>
                  <a:schemeClr val="tx2"/>
                </a:solidFill>
                <a:latin typeface="Maple Mono NF"/>
              </a:rPr>
              <a:t>(</a:t>
            </a:r>
            <a:r>
              <a:rPr sz="1100" dirty="0">
                <a:solidFill>
                  <a:srgbClr val="CE9178"/>
                </a:solidFill>
                <a:latin typeface="Maple Mono NF"/>
              </a:rPr>
              <a:t>"BenchmarkTest00099"</a:t>
            </a:r>
            <a:r>
              <a:rPr sz="1100" dirty="0">
                <a:solidFill>
                  <a:schemeClr val="tx2"/>
                </a:solidFill>
                <a:latin typeface="Maple Mono NF"/>
              </a:rPr>
              <a:t>)</a:t>
            </a:r>
          </a:p>
          <a:p>
            <a:pPr algn="l">
              <a:buNone/>
            </a:pPr>
            <a:r>
              <a:rPr sz="1100" dirty="0">
                <a:solidFill>
                  <a:schemeClr val="accent4"/>
                </a:solidFill>
                <a:latin typeface="Maple Mono NF"/>
              </a:rPr>
              <a:t>    # ours: the entry point, and the client controls it</a:t>
            </a:r>
          </a:p>
          <a:p>
            <a:pPr algn="l">
              <a:buNone/>
            </a:pPr>
            <a:r>
              <a:rPr sz="1100" dirty="0">
                <a:solidFill>
                  <a:srgbClr val="8A8A9A"/>
                </a:solidFill>
                <a:latin typeface="Maple Mono NF"/>
              </a:rPr>
              <a:t> 32 </a:t>
            </a:r>
            <a:r>
              <a:rPr sz="1100" dirty="0">
                <a:solidFill>
                  <a:srgbClr val="C586C0"/>
                </a:solidFill>
                <a:latin typeface="Maple Mono NF"/>
              </a:rPr>
              <a:t>if</a:t>
            </a:r>
            <a:r>
              <a:rPr sz="1100" dirty="0">
                <a:solidFill>
                  <a:schemeClr val="tx2"/>
                </a:solidFill>
                <a:latin typeface="Maple Mono NF"/>
              </a:rPr>
              <a:t> </a:t>
            </a:r>
            <a:r>
              <a:rPr sz="1100" dirty="0">
                <a:solidFill>
                  <a:srgbClr val="569CD6"/>
                </a:solidFill>
                <a:latin typeface="Maple Mono NF"/>
              </a:rPr>
              <a:t>not</a:t>
            </a:r>
            <a:r>
              <a:rPr sz="1100" dirty="0">
                <a:solidFill>
                  <a:schemeClr val="tx2"/>
                </a:solidFill>
                <a:latin typeface="Maple Mono NF"/>
              </a:rPr>
              <a:t> </a:t>
            </a:r>
            <a:r>
              <a:rPr sz="1100" dirty="0">
                <a:solidFill>
                  <a:srgbClr val="9CDCFE"/>
                </a:solidFill>
                <a:latin typeface="Maple Mono NF"/>
              </a:rPr>
              <a:t>param</a:t>
            </a:r>
            <a:r>
              <a:rPr sz="1100" dirty="0">
                <a:solidFill>
                  <a:schemeClr val="tx2"/>
                </a:solidFill>
                <a:latin typeface="Maple Mono NF"/>
              </a:rPr>
              <a:t>:</a:t>
            </a:r>
          </a:p>
          <a:p>
            <a:pPr algn="l">
              <a:buNone/>
            </a:pPr>
            <a:r>
              <a:rPr sz="1100" dirty="0">
                <a:solidFill>
                  <a:srgbClr val="8A8A9A"/>
                </a:solidFill>
                <a:latin typeface="Maple Mono NF"/>
              </a:rPr>
              <a:t> 33 </a:t>
            </a:r>
            <a:r>
              <a:rPr sz="1100" dirty="0">
                <a:solidFill>
                  <a:schemeClr val="tx2"/>
                </a:solidFill>
                <a:latin typeface="Maple Mono NF"/>
              </a:rPr>
              <a:t>    </a:t>
            </a:r>
            <a:r>
              <a:rPr sz="1100" dirty="0">
                <a:solidFill>
                  <a:srgbClr val="9CDCFE"/>
                </a:solidFill>
                <a:latin typeface="Maple Mono NF"/>
              </a:rPr>
              <a:t>param</a:t>
            </a:r>
            <a:r>
              <a:rPr sz="1100" dirty="0">
                <a:solidFill>
                  <a:schemeClr val="tx2"/>
                </a:solidFill>
                <a:latin typeface="Maple Mono NF"/>
              </a:rPr>
              <a:t> = </a:t>
            </a:r>
            <a:r>
              <a:rPr sz="1100" dirty="0">
                <a:solidFill>
                  <a:srgbClr val="CE9178"/>
                </a:solidFill>
                <a:latin typeface="Maple Mono NF"/>
              </a:rPr>
              <a:t>""</a:t>
            </a:r>
          </a:p>
          <a:p>
            <a:pPr algn="l">
              <a:buNone/>
            </a:pPr>
            <a:r>
              <a:rPr sz="1100" dirty="0">
                <a:solidFill>
                  <a:srgbClr val="8A8A9A"/>
                </a:solidFill>
                <a:latin typeface="Maple Mono NF"/>
              </a:rPr>
              <a:t> 38 </a:t>
            </a:r>
            <a:r>
              <a:rPr sz="1100" dirty="0">
                <a:solidFill>
                  <a:srgbClr val="9CDCFE"/>
                </a:solidFill>
                <a:latin typeface="Maple Mono NF"/>
              </a:rPr>
              <a:t>conf52528</a:t>
            </a:r>
            <a:r>
              <a:rPr sz="1100" dirty="0">
                <a:solidFill>
                  <a:schemeClr val="tx2"/>
                </a:solidFill>
                <a:latin typeface="Maple Mono NF"/>
              </a:rPr>
              <a:t> = </a:t>
            </a:r>
            <a:r>
              <a:rPr sz="1100" dirty="0" err="1">
                <a:solidFill>
                  <a:srgbClr val="9CDCFE"/>
                </a:solidFill>
                <a:latin typeface="Maple Mono NF"/>
              </a:rPr>
              <a:t>configparser</a:t>
            </a:r>
            <a:r>
              <a:rPr sz="1100" dirty="0" err="1">
                <a:solidFill>
                  <a:schemeClr val="tx2"/>
                </a:solidFill>
                <a:latin typeface="Maple Mono NF"/>
              </a:rPr>
              <a:t>.</a:t>
            </a:r>
            <a:r>
              <a:rPr sz="1100" dirty="0" err="1">
                <a:solidFill>
                  <a:srgbClr val="DCDCAA"/>
                </a:solidFill>
                <a:latin typeface="Maple Mono NF"/>
              </a:rPr>
              <a:t>ConfigParser</a:t>
            </a:r>
            <a:r>
              <a:rPr sz="1100" dirty="0">
                <a:solidFill>
                  <a:schemeClr val="tx2"/>
                </a:solidFill>
                <a:latin typeface="Maple Mono NF"/>
              </a:rPr>
              <a:t>()</a:t>
            </a:r>
          </a:p>
          <a:p>
            <a:pPr algn="l">
              <a:buNone/>
            </a:pPr>
            <a:r>
              <a:rPr sz="1100" dirty="0">
                <a:solidFill>
                  <a:srgbClr val="8A8A9A"/>
                </a:solidFill>
                <a:latin typeface="Maple Mono NF"/>
              </a:rPr>
              <a:t> 39 </a:t>
            </a:r>
            <a:r>
              <a:rPr sz="1100" dirty="0">
                <a:solidFill>
                  <a:srgbClr val="9CDCFE"/>
                </a:solidFill>
                <a:latin typeface="Maple Mono NF"/>
              </a:rPr>
              <a:t>conf52528</a:t>
            </a:r>
            <a:r>
              <a:rPr sz="1100" dirty="0">
                <a:solidFill>
                  <a:schemeClr val="tx2"/>
                </a:solidFill>
                <a:latin typeface="Maple Mono NF"/>
              </a:rPr>
              <a:t>.</a:t>
            </a:r>
            <a:r>
              <a:rPr sz="1100" dirty="0">
                <a:solidFill>
                  <a:srgbClr val="DCDCAA"/>
                </a:solidFill>
                <a:latin typeface="Maple Mono NF"/>
              </a:rPr>
              <a:t>add_section</a:t>
            </a:r>
            <a:r>
              <a:rPr sz="1100" dirty="0">
                <a:solidFill>
                  <a:schemeClr val="tx2"/>
                </a:solidFill>
                <a:latin typeface="Maple Mono NF"/>
              </a:rPr>
              <a:t>(</a:t>
            </a:r>
            <a:r>
              <a:rPr sz="1100" dirty="0">
                <a:solidFill>
                  <a:srgbClr val="CE9178"/>
                </a:solidFill>
                <a:latin typeface="Maple Mono NF"/>
              </a:rPr>
              <a:t>'section52528'</a:t>
            </a:r>
            <a:r>
              <a:rPr sz="1100" dirty="0">
                <a:solidFill>
                  <a:schemeClr val="tx2"/>
                </a:solidFill>
                <a:latin typeface="Maple Mono NF"/>
              </a:rPr>
              <a:t>)</a:t>
            </a:r>
          </a:p>
          <a:p>
            <a:pPr algn="l">
              <a:buNone/>
            </a:pPr>
            <a:r>
              <a:rPr sz="1100" dirty="0">
                <a:solidFill>
                  <a:srgbClr val="8A8A9A"/>
                </a:solidFill>
                <a:latin typeface="Maple Mono NF"/>
              </a:rPr>
              <a:t> 41 </a:t>
            </a:r>
            <a:r>
              <a:rPr sz="1100" dirty="0">
                <a:solidFill>
                  <a:srgbClr val="9CDCFE"/>
                </a:solidFill>
                <a:latin typeface="Maple Mono NF"/>
              </a:rPr>
              <a:t>conf52528</a:t>
            </a:r>
            <a:r>
              <a:rPr sz="1100" dirty="0">
                <a:solidFill>
                  <a:schemeClr val="tx2"/>
                </a:solidFill>
                <a:latin typeface="Maple Mono NF"/>
              </a:rPr>
              <a:t>.</a:t>
            </a:r>
            <a:r>
              <a:rPr sz="1100" dirty="0">
                <a:solidFill>
                  <a:srgbClr val="DCDCAA"/>
                </a:solidFill>
                <a:latin typeface="Maple Mono NF"/>
              </a:rPr>
              <a:t>set</a:t>
            </a:r>
            <a:r>
              <a:rPr sz="1100" dirty="0">
                <a:solidFill>
                  <a:schemeClr val="tx2"/>
                </a:solidFill>
                <a:latin typeface="Maple Mono NF"/>
              </a:rPr>
              <a:t>(</a:t>
            </a:r>
            <a:r>
              <a:rPr sz="1100" dirty="0">
                <a:solidFill>
                  <a:srgbClr val="CE9178"/>
                </a:solidFill>
                <a:latin typeface="Maple Mono NF"/>
              </a:rPr>
              <a:t>'section52528'</a:t>
            </a:r>
            <a:r>
              <a:rPr sz="1100" dirty="0">
                <a:solidFill>
                  <a:schemeClr val="tx2"/>
                </a:solidFill>
                <a:latin typeface="Maple Mono NF"/>
              </a:rPr>
              <a:t>, </a:t>
            </a:r>
            <a:r>
              <a:rPr sz="1100" dirty="0">
                <a:solidFill>
                  <a:srgbClr val="CE9178"/>
                </a:solidFill>
                <a:latin typeface="Maple Mono NF"/>
              </a:rPr>
              <a:t>'keyB-52528'</a:t>
            </a:r>
            <a:r>
              <a:rPr sz="1100" dirty="0">
                <a:solidFill>
                  <a:schemeClr val="tx2"/>
                </a:solidFill>
                <a:latin typeface="Maple Mono NF"/>
              </a:rPr>
              <a:t>, </a:t>
            </a:r>
            <a:r>
              <a:rPr sz="1100" dirty="0">
                <a:solidFill>
                  <a:srgbClr val="9CDCFE"/>
                </a:solidFill>
                <a:latin typeface="Maple Mono NF"/>
              </a:rPr>
              <a:t>param</a:t>
            </a:r>
            <a:r>
              <a:rPr sz="1100" dirty="0">
                <a:solidFill>
                  <a:schemeClr val="tx2"/>
                </a:solidFill>
                <a:latin typeface="Maple Mono NF"/>
              </a:rPr>
              <a:t>)</a:t>
            </a:r>
          </a:p>
          <a:p>
            <a:pPr algn="l">
              <a:buNone/>
            </a:pPr>
            <a:r>
              <a:rPr sz="1100" dirty="0">
                <a:solidFill>
                  <a:srgbClr val="8A8A9A"/>
                </a:solidFill>
                <a:latin typeface="Maple Mono NF"/>
              </a:rPr>
              <a:t> 42 </a:t>
            </a:r>
            <a:r>
              <a:rPr sz="1100" dirty="0">
                <a:solidFill>
                  <a:srgbClr val="9CDCFE"/>
                </a:solidFill>
                <a:latin typeface="Maple Mono NF"/>
              </a:rPr>
              <a:t>bar</a:t>
            </a:r>
            <a:r>
              <a:rPr sz="1100" dirty="0">
                <a:solidFill>
                  <a:schemeClr val="tx2"/>
                </a:solidFill>
                <a:latin typeface="Maple Mono NF"/>
              </a:rPr>
              <a:t> = </a:t>
            </a:r>
            <a:r>
              <a:rPr sz="1100" dirty="0">
                <a:solidFill>
                  <a:srgbClr val="9CDCFE"/>
                </a:solidFill>
                <a:latin typeface="Maple Mono NF"/>
              </a:rPr>
              <a:t>conf52528</a:t>
            </a:r>
            <a:r>
              <a:rPr sz="1100" dirty="0">
                <a:solidFill>
                  <a:schemeClr val="tx2"/>
                </a:solidFill>
                <a:latin typeface="Maple Mono NF"/>
              </a:rPr>
              <a:t>.</a:t>
            </a:r>
            <a:r>
              <a:rPr sz="1100" dirty="0">
                <a:solidFill>
                  <a:srgbClr val="DCDCAA"/>
                </a:solidFill>
                <a:latin typeface="Maple Mono NF"/>
              </a:rPr>
              <a:t>get</a:t>
            </a:r>
            <a:r>
              <a:rPr sz="1100" dirty="0">
                <a:solidFill>
                  <a:schemeClr val="tx2"/>
                </a:solidFill>
                <a:latin typeface="Maple Mono NF"/>
              </a:rPr>
              <a:t>(</a:t>
            </a:r>
            <a:r>
              <a:rPr sz="1100" dirty="0">
                <a:solidFill>
                  <a:srgbClr val="CE9178"/>
                </a:solidFill>
                <a:latin typeface="Maple Mono NF"/>
              </a:rPr>
              <a:t>'section52528'</a:t>
            </a:r>
            <a:r>
              <a:rPr sz="1100" dirty="0">
                <a:solidFill>
                  <a:schemeClr val="tx2"/>
                </a:solidFill>
                <a:latin typeface="Maple Mono NF"/>
              </a:rPr>
              <a:t>, </a:t>
            </a:r>
            <a:r>
              <a:rPr sz="1100" dirty="0">
                <a:solidFill>
                  <a:srgbClr val="CE9178"/>
                </a:solidFill>
                <a:latin typeface="Maple Mono NF"/>
              </a:rPr>
              <a:t>'keyB-52528'</a:t>
            </a:r>
            <a:r>
              <a:rPr sz="1100" dirty="0">
                <a:solidFill>
                  <a:schemeClr val="tx2"/>
                </a:solidFill>
                <a:latin typeface="Maple Mono NF"/>
              </a:rPr>
              <a:t>)</a:t>
            </a:r>
          </a:p>
        </p:txBody>
      </p:sp>
      <p:sp>
        <p:nvSpPr>
          <p:cNvPr id="110" name="Rectangle 109"/>
          <p:cNvSpPr/>
          <p:nvPr/>
        </p:nvSpPr>
        <p:spPr>
          <a:xfrm>
            <a:off x="319251" y="3833712"/>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Whatever the client sends in the form field is the value of bar at the sink.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Threat model: the attacker the label assumes</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A label says whether an attacker can reach the flaw, so it needs an attacker: who they are and which data they control.</a:t>
            </a:r>
          </a:p>
        </p:txBody>
      </p:sp>
      <p:graphicFrame>
        <p:nvGraphicFramePr>
          <p:cNvPr id="4" name="Table 3"/>
          <p:cNvGraphicFramePr>
            <a:graphicFrameLocks noGrp="1"/>
          </p:cNvGraphicFramePr>
          <p:nvPr/>
        </p:nvGraphicFramePr>
        <p:xfrm>
          <a:off x="319251" y="1439712"/>
          <a:ext cx="6014545" cy="1591590"/>
        </p:xfrm>
        <a:graphic>
          <a:graphicData uri="http://schemas.openxmlformats.org/drawingml/2006/table">
            <a:tbl>
              <a:tblPr firstRow="1" bandRow="1">
                <a:tableStyleId>{5C22544A-7EE6-4342-B048-85BDC9FD1C3A}</a:tableStyleId>
              </a:tblPr>
              <a:tblGrid>
                <a:gridCol w="1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2814545">
                  <a:extLst>
                    <a:ext uri="{9D8B030D-6E8A-4147-A177-3AD203B41FA5}">
                      <a16:colId xmlns:a16="http://schemas.microsoft.com/office/drawing/2014/main" val="20002"/>
                    </a:ext>
                  </a:extLst>
                </a:gridCol>
              </a:tblGrid>
              <a:tr h="300000">
                <a:tc>
                  <a:txBody>
                    <a:bodyPr/>
                    <a:lstStyle/>
                    <a:p>
                      <a:pPr>
                        <a:buNone/>
                      </a:pPr>
                      <a:r>
                        <a:rPr sz="1100" b="1">
                          <a:solidFill>
                            <a:schemeClr val="tx1"/>
                          </a:solidFill>
                        </a:rPr>
                        <a:t>Target</a:t>
                      </a:r>
                    </a:p>
                  </a:txBody>
                  <a:tcPr marL="95250" marR="95250" marT="47625" marB="47625">
                    <a:lnB w="12700" cap="flat" cmpd="sng" algn="ctr">
                      <a:solidFill>
                        <a:schemeClr val="tx1"/>
                      </a:solidFill>
                    </a:lnB>
                    <a:noFill/>
                  </a:tcPr>
                </a:tc>
                <a:tc>
                  <a:txBody>
                    <a:bodyPr/>
                    <a:lstStyle/>
                    <a:p>
                      <a:pPr>
                        <a:buNone/>
                      </a:pPr>
                      <a:r>
                        <a:rPr sz="1100" b="1">
                          <a:solidFill>
                            <a:schemeClr val="tx1"/>
                          </a:solidFill>
                        </a:rPr>
                        <a:t>The attacker</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they control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OWASP BenchmarkPython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an anonymous web client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every byte of the request: cookies, form fields, headers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dirty="0">
                          <a:solidFill>
                            <a:srgbClr val="28285E"/>
                          </a:solidFill>
                        </a:rPr>
                        <a:t>Radicale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 calendar client, logged in or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request, plus the storage directory if local users count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dirty="0">
                          <a:solidFill>
                            <a:srgbClr val="28285E"/>
                          </a:solidFill>
                        </a:rPr>
                        <a:t>SGLang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 client, or whoever publishes a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request, the model files it loads, and its worker channel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278066"/>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threat model names the attacker, the data they control, and the harm they must be unable to do.</a:t>
            </a:r>
          </a:p>
        </p:txBody>
      </p:sp>
      <p:sp>
        <p:nvSpPr>
          <p:cNvPr id="6" name="Rectangle 5"/>
          <p:cNvSpPr/>
          <p:nvPr/>
        </p:nvSpPr>
        <p:spPr>
          <a:xfrm>
            <a:off x="319251" y="4177778"/>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State the threat model once in the prompt, and once in every rationale.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1910031"/>
            <a:ext cx="5000000" cy="1323439"/>
          </a:xfrm>
          <a:prstGeom prst="rect">
            <a:avLst/>
          </a:prstGeom>
          <a:noFill/>
        </p:spPr>
        <p:txBody>
          <a:bodyPr wrap="square" anchor="ctr">
            <a:spAutoFit/>
          </a:bodyPr>
          <a:lstStyle/>
          <a:p>
            <a:pPr algn="ctr"/>
            <a:r>
              <a:rPr sz="4000" b="1" dirty="0">
                <a:solidFill>
                  <a:schemeClr val="tx2"/>
                </a:solidFill>
                <a:latin typeface="+mj-lt"/>
              </a:rPr>
              <a:t>The OWASP Top 10 and CWE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OWASP Top 10: ten families of flaws</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OWASP Top 10 ranks the families of flaws found most often in web applications.</a:t>
            </a:r>
          </a:p>
        </p:txBody>
      </p:sp>
      <p:graphicFrame>
        <p:nvGraphicFramePr>
          <p:cNvPr id="4" name="Table 3"/>
          <p:cNvGraphicFramePr>
            <a:graphicFrameLocks noGrp="1"/>
          </p:cNvGraphicFramePr>
          <p:nvPr/>
        </p:nvGraphicFramePr>
        <p:xfrm>
          <a:off x="319251" y="1439712"/>
          <a:ext cx="6014545" cy="2476500"/>
        </p:xfrm>
        <a:graphic>
          <a:graphicData uri="http://schemas.openxmlformats.org/drawingml/2006/table">
            <a:tbl>
              <a:tblPr bandRow="1">
                <a:tableStyleId>{5C22544A-7EE6-4342-B048-85BDC9FD1C3A}</a:tableStyleId>
              </a:tblPr>
              <a:tblGrid>
                <a:gridCol w="3000000">
                  <a:extLst>
                    <a:ext uri="{9D8B030D-6E8A-4147-A177-3AD203B41FA5}">
                      <a16:colId xmlns:a16="http://schemas.microsoft.com/office/drawing/2014/main" val="20000"/>
                    </a:ext>
                  </a:extLst>
                </a:gridCol>
                <a:gridCol w="3014545">
                  <a:extLst>
                    <a:ext uri="{9D8B030D-6E8A-4147-A177-3AD203B41FA5}">
                      <a16:colId xmlns:a16="http://schemas.microsoft.com/office/drawing/2014/main" val="20001"/>
                    </a:ext>
                  </a:extLst>
                </a:gridCol>
              </a:tblGrid>
              <a:tr h="0">
                <a:tc>
                  <a:txBody>
                    <a:bodyPr/>
                    <a:lstStyle/>
                    <a:p>
                      <a:pPr>
                        <a:buNone/>
                      </a:pPr>
                      <a:r>
                        <a:rPr sz="1000" b="1">
                          <a:solidFill>
                            <a:srgbClr val="28285E"/>
                          </a:solidFill>
                        </a:rPr>
                        <a:t>A01 Broken access control</a:t>
                      </a:r>
                    </a:p>
                  </a:txBody>
                  <a:tcPr marL="95250" marR="95250" marT="47625" marB="47625">
                    <a:lnB w="12700" cap="flat" cmpd="sng" algn="ctr">
                      <a:solidFill>
                        <a:schemeClr val="tx1"/>
                      </a:solidFill>
                    </a:lnB>
                    <a:noFill/>
                  </a:tcPr>
                </a:tc>
                <a:tc>
                  <a:txBody>
                    <a:bodyPr/>
                    <a:lstStyle/>
                    <a:p>
                      <a:pPr>
                        <a:buNone/>
                      </a:pPr>
                      <a:r>
                        <a:rPr sz="1000" b="0">
                          <a:solidFill>
                            <a:schemeClr val="tx1"/>
                          </a:solidFill>
                        </a:rPr>
                        <a:t>a user reaches what should be closed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A02 Security misconfiguration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setting leaves a door open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A03 Software supply chain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dependency brings in unchecked code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A04 Cryptographic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protection is missing or weak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A05 Injection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outside data becomes part of a command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A06 Insecure design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design lacks a control it needed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A07 Authentication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program cannot tell who is there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A08 Software or data integrity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code or data is trusted without a check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A09 Logging and alerting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attack leaves no record anyone sees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rgbClr val="28285E"/>
                          </a:solidFill>
                        </a:rPr>
                        <a:t>A10 Mishandled exceptional conditions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an error path fails open or leaks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bl>
          </a:graphicData>
        </a:graphic>
      </p:graphicFrame>
      <p:sp>
        <p:nvSpPr>
          <p:cNvPr id="5" name="TextBox 4"/>
          <p:cNvSpPr txBox="1"/>
          <p:nvPr/>
        </p:nvSpPr>
        <p:spPr>
          <a:xfrm>
            <a:off x="319251" y="3947212"/>
            <a:ext cx="6014545" cy="161583"/>
          </a:xfrm>
          <a:prstGeom prst="rect">
            <a:avLst/>
          </a:prstGeom>
          <a:noFill/>
        </p:spPr>
        <p:txBody>
          <a:bodyPr wrap="square" lIns="0" tIns="0" rIns="0" bIns="0">
            <a:spAutoFit/>
          </a:bodyPr>
          <a:lstStyle/>
          <a:p>
            <a:pPr algn="r"/>
            <a:r>
              <a:rPr sz="1050" dirty="0">
                <a:solidFill>
                  <a:schemeClr val="bg2"/>
                </a:solidFill>
                <a:latin typeface="Fira Sans" panose="020B0503050000020004" pitchFamily="34" charset="0"/>
              </a:rPr>
              <a:t>OWASP Top 10:2025, </a:t>
            </a:r>
            <a:r>
              <a:rPr lang="en-US" sz="1050" dirty="0">
                <a:solidFill>
                  <a:schemeClr val="bg2"/>
                </a:solidFill>
                <a:latin typeface="Fira Sans" panose="020B0503050000020004" pitchFamily="34" charset="0"/>
                <a:hlinkClick r:id="rId4"/>
              </a:rPr>
              <a:t>https://</a:t>
            </a:r>
            <a:r>
              <a:rPr sz="1050" dirty="0">
                <a:solidFill>
                  <a:schemeClr val="bg2"/>
                </a:solidFill>
                <a:latin typeface="Fira Sans" panose="020B0503050000020004" pitchFamily="34" charset="0"/>
                <a:hlinkClick r:id="rId4"/>
              </a:rPr>
              <a:t>top10.owasp.org/2025</a:t>
            </a:r>
            <a:r>
              <a:rPr lang="en-US" sz="1050" dirty="0">
                <a:solidFill>
                  <a:schemeClr val="bg2"/>
                </a:solidFill>
                <a:latin typeface="Fira Sans" panose="020B0503050000020004" pitchFamily="34" charset="0"/>
              </a:rPr>
              <a:t> </a:t>
            </a:r>
            <a:r>
              <a:rPr sz="1050" dirty="0">
                <a:solidFill>
                  <a:schemeClr val="bg2"/>
                </a:solidFill>
                <a:latin typeface="Fira Sans" panose="020B0503050000020004" pitchFamily="34" charset="0"/>
              </a:rPr>
              <a:t>, released 6 November 2025.</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5D83C-6BB1-FA21-C7AD-FF6AA9562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4E5943-31E4-75D0-0AFB-6340D9E2180B}"/>
              </a:ext>
            </a:extLst>
          </p:cNvPr>
          <p:cNvSpPr>
            <a:spLocks noGrp="1"/>
          </p:cNvSpPr>
          <p:nvPr>
            <p:ph type="title"/>
          </p:nvPr>
        </p:nvSpPr>
        <p:spPr/>
        <p:txBody>
          <a:bodyPr/>
          <a:lstStyle/>
          <a:p>
            <a:r>
              <a:t>OWASP Top 10: ten families of flaws</a:t>
            </a:r>
          </a:p>
        </p:txBody>
      </p:sp>
      <p:sp>
        <p:nvSpPr>
          <p:cNvPr id="3" name="TextBox 2">
            <a:extLst>
              <a:ext uri="{FF2B5EF4-FFF2-40B4-BE49-F238E27FC236}">
                <a16:creationId xmlns:a16="http://schemas.microsoft.com/office/drawing/2014/main" id="{9C276FCF-E493-8EFF-2960-4651CD88AE97}"/>
              </a:ext>
            </a:extLst>
          </p:cNvPr>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OWASP Top 10 ranks the families of flaws found most often in web applications.</a:t>
            </a:r>
          </a:p>
        </p:txBody>
      </p:sp>
      <p:graphicFrame>
        <p:nvGraphicFramePr>
          <p:cNvPr id="4" name="Table 3">
            <a:extLst>
              <a:ext uri="{FF2B5EF4-FFF2-40B4-BE49-F238E27FC236}">
                <a16:creationId xmlns:a16="http://schemas.microsoft.com/office/drawing/2014/main" id="{8E9EA097-641E-4BAC-3641-31B9F52CC2F5}"/>
              </a:ext>
            </a:extLst>
          </p:cNvPr>
          <p:cNvGraphicFramePr>
            <a:graphicFrameLocks noGrp="1"/>
          </p:cNvGraphicFramePr>
          <p:nvPr>
            <p:extLst>
              <p:ext uri="{D42A27DB-BD31-4B8C-83A1-F6EECF244321}">
                <p14:modId xmlns:p14="http://schemas.microsoft.com/office/powerpoint/2010/main" val="2270255474"/>
              </p:ext>
            </p:extLst>
          </p:nvPr>
        </p:nvGraphicFramePr>
        <p:xfrm>
          <a:off x="319251" y="1439712"/>
          <a:ext cx="6014545" cy="2476500"/>
        </p:xfrm>
        <a:graphic>
          <a:graphicData uri="http://schemas.openxmlformats.org/drawingml/2006/table">
            <a:tbl>
              <a:tblPr bandRow="1">
                <a:tableStyleId>{5C22544A-7EE6-4342-B048-85BDC9FD1C3A}</a:tableStyleId>
              </a:tblPr>
              <a:tblGrid>
                <a:gridCol w="3000000">
                  <a:extLst>
                    <a:ext uri="{9D8B030D-6E8A-4147-A177-3AD203B41FA5}">
                      <a16:colId xmlns:a16="http://schemas.microsoft.com/office/drawing/2014/main" val="20000"/>
                    </a:ext>
                  </a:extLst>
                </a:gridCol>
                <a:gridCol w="3014545">
                  <a:extLst>
                    <a:ext uri="{9D8B030D-6E8A-4147-A177-3AD203B41FA5}">
                      <a16:colId xmlns:a16="http://schemas.microsoft.com/office/drawing/2014/main" val="20001"/>
                    </a:ext>
                  </a:extLst>
                </a:gridCol>
              </a:tblGrid>
              <a:tr h="0">
                <a:tc>
                  <a:txBody>
                    <a:bodyPr/>
                    <a:lstStyle/>
                    <a:p>
                      <a:pPr>
                        <a:buNone/>
                      </a:pPr>
                      <a:r>
                        <a:rPr sz="1000" b="1">
                          <a:solidFill>
                            <a:srgbClr val="28285E"/>
                          </a:solidFill>
                        </a:rPr>
                        <a:t>A01 Broken access control</a:t>
                      </a:r>
                    </a:p>
                  </a:txBody>
                  <a:tcPr marL="95250" marR="95250" marT="47625" marB="47625">
                    <a:lnB w="12700" cap="flat" cmpd="sng" algn="ctr">
                      <a:solidFill>
                        <a:schemeClr val="tx1"/>
                      </a:solidFill>
                    </a:lnB>
                    <a:noFill/>
                  </a:tcPr>
                </a:tc>
                <a:tc>
                  <a:txBody>
                    <a:bodyPr/>
                    <a:lstStyle/>
                    <a:p>
                      <a:pPr>
                        <a:buNone/>
                      </a:pPr>
                      <a:r>
                        <a:rPr sz="1000" b="0">
                          <a:solidFill>
                            <a:schemeClr val="tx1"/>
                          </a:solidFill>
                        </a:rPr>
                        <a:t>a user reaches what should be closed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A02 Security misconfiguration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setting leaves a door open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A03 Software supply chain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dependency brings in unchecked code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dirty="0">
                          <a:solidFill>
                            <a:srgbClr val="28285E"/>
                          </a:solidFill>
                        </a:rPr>
                        <a:t>A04 Cryptographic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buNone/>
                      </a:pPr>
                      <a:r>
                        <a:rPr sz="1000" b="0">
                          <a:solidFill>
                            <a:schemeClr val="tx1"/>
                          </a:solidFill>
                        </a:rPr>
                        <a:t>protection is missing or weak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3"/>
                  </a:ext>
                </a:extLst>
              </a:tr>
              <a:tr h="0">
                <a:tc>
                  <a:txBody>
                    <a:bodyPr/>
                    <a:lstStyle/>
                    <a:p>
                      <a:pPr>
                        <a:buNone/>
                      </a:pPr>
                      <a:r>
                        <a:rPr sz="1000" b="1" dirty="0">
                          <a:solidFill>
                            <a:srgbClr val="28285E"/>
                          </a:solidFill>
                        </a:rPr>
                        <a:t>A05 Injection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buNone/>
                      </a:pPr>
                      <a:r>
                        <a:rPr sz="1000" b="0" dirty="0">
                          <a:solidFill>
                            <a:schemeClr val="tx1"/>
                          </a:solidFill>
                        </a:rPr>
                        <a:t>outside data becomes part of a command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4"/>
                  </a:ext>
                </a:extLst>
              </a:tr>
              <a:tr h="0">
                <a:tc>
                  <a:txBody>
                    <a:bodyPr/>
                    <a:lstStyle/>
                    <a:p>
                      <a:pPr>
                        <a:buNone/>
                      </a:pPr>
                      <a:r>
                        <a:rPr sz="1000" b="1" dirty="0">
                          <a:solidFill>
                            <a:srgbClr val="28285E"/>
                          </a:solidFill>
                        </a:rPr>
                        <a:t>A06 Insecure design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design lacks a control it needed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A07 Authentication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program cannot tell who is there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dirty="0">
                          <a:solidFill>
                            <a:srgbClr val="28285E"/>
                          </a:solidFill>
                        </a:rPr>
                        <a:t>A08 Software or data integrity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buNone/>
                      </a:pPr>
                      <a:r>
                        <a:rPr sz="1000" b="0" dirty="0">
                          <a:solidFill>
                            <a:schemeClr val="tx1"/>
                          </a:solidFill>
                        </a:rPr>
                        <a:t>code or data is trusted without a check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7"/>
                  </a:ext>
                </a:extLst>
              </a:tr>
              <a:tr h="0">
                <a:tc>
                  <a:txBody>
                    <a:bodyPr/>
                    <a:lstStyle/>
                    <a:p>
                      <a:pPr>
                        <a:buNone/>
                      </a:pPr>
                      <a:r>
                        <a:rPr sz="1000" b="1">
                          <a:solidFill>
                            <a:srgbClr val="28285E"/>
                          </a:solidFill>
                        </a:rPr>
                        <a:t>A09 Logging and alerting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attack leaves no record anyone sees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r h="0">
                <a:tc>
                  <a:txBody>
                    <a:bodyPr/>
                    <a:lstStyle/>
                    <a:p>
                      <a:pPr>
                        <a:buNone/>
                      </a:pPr>
                      <a:r>
                        <a:rPr sz="1000" b="1">
                          <a:solidFill>
                            <a:srgbClr val="28285E"/>
                          </a:solidFill>
                        </a:rPr>
                        <a:t>A10 Mishandled exceptional conditions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an error path fails open or leaks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9"/>
                  </a:ext>
                </a:extLst>
              </a:tr>
            </a:tbl>
          </a:graphicData>
        </a:graphic>
      </p:graphicFrame>
      <p:sp>
        <p:nvSpPr>
          <p:cNvPr id="5" name="Rectangle 4">
            <a:extLst>
              <a:ext uri="{FF2B5EF4-FFF2-40B4-BE49-F238E27FC236}">
                <a16:creationId xmlns:a16="http://schemas.microsoft.com/office/drawing/2014/main" id="{76ADECF4-1E76-7BE0-2623-5DE43AE351BC}"/>
              </a:ext>
            </a:extLst>
          </p:cNvPr>
          <p:cNvSpPr/>
          <p:nvPr/>
        </p:nvSpPr>
        <p:spPr>
          <a:xfrm>
            <a:off x="1888761" y="4171612"/>
            <a:ext cx="4445035" cy="5443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Most of HW1's 49 alerts fall into three families: integrity, injection and cryptography.</a:t>
            </a:r>
          </a:p>
        </p:txBody>
      </p:sp>
      <p:sp>
        <p:nvSpPr>
          <p:cNvPr id="6" name="TextBox 5"/>
          <p:cNvSpPr txBox="1"/>
          <p:nvPr/>
        </p:nvSpPr>
        <p:spPr>
          <a:xfrm>
            <a:off x="319251" y="3947212"/>
            <a:ext cx="6014545" cy="161583"/>
          </a:xfrm>
          <a:prstGeom prst="rect">
            <a:avLst/>
          </a:prstGeom>
          <a:noFill/>
        </p:spPr>
        <p:txBody>
          <a:bodyPr wrap="square" lIns="0" tIns="0" rIns="0" bIns="0">
            <a:spAutoFit/>
          </a:bodyPr>
          <a:lstStyle/>
          <a:p>
            <a:pPr algn="r"/>
            <a:r>
              <a:rPr sz="1050" dirty="0">
                <a:solidFill>
                  <a:schemeClr val="bg2"/>
                </a:solidFill>
                <a:latin typeface="Fira Sans" panose="020B0503050000020004" pitchFamily="34" charset="0"/>
              </a:rPr>
              <a:t>OWASP Top 10:2025, </a:t>
            </a:r>
            <a:r>
              <a:rPr lang="en-US" sz="1050" dirty="0">
                <a:solidFill>
                  <a:schemeClr val="bg2"/>
                </a:solidFill>
                <a:latin typeface="Fira Sans" panose="020B0503050000020004" pitchFamily="34" charset="0"/>
                <a:hlinkClick r:id="rId4"/>
              </a:rPr>
              <a:t>https://</a:t>
            </a:r>
            <a:r>
              <a:rPr sz="1050" dirty="0">
                <a:solidFill>
                  <a:schemeClr val="bg2"/>
                </a:solidFill>
                <a:latin typeface="Fira Sans" panose="020B0503050000020004" pitchFamily="34" charset="0"/>
                <a:hlinkClick r:id="rId4"/>
              </a:rPr>
              <a:t>top10.owasp.org/2025</a:t>
            </a:r>
            <a:r>
              <a:rPr sz="1050" dirty="0">
                <a:solidFill>
                  <a:schemeClr val="bg2"/>
                </a:solidFill>
                <a:latin typeface="Fira Sans" panose="020B0503050000020004" pitchFamily="34" charset="0"/>
              </a:rPr>
              <a:t>, released 6 November 2025.</a:t>
            </a:r>
          </a:p>
        </p:txBody>
      </p:sp>
    </p:spTree>
    <p:extLst>
      <p:ext uri="{BB962C8B-B14F-4D97-AF65-F5344CB8AC3E}">
        <p14:creationId xmlns:p14="http://schemas.microsoft.com/office/powerpoint/2010/main" val="1369354548"/>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CWE: the catalogue behind the families</a:t>
            </a:r>
          </a:p>
        </p:txBody>
      </p:sp>
      <p:sp>
        <p:nvSpPr>
          <p:cNvPr id="3" name="Content Placeholder 2"/>
          <p:cNvSpPr>
            <a:spLocks noGrp="1"/>
          </p:cNvSpPr>
          <p:nvPr>
            <p:ph idx="1"/>
          </p:nvPr>
        </p:nvSpPr>
        <p:spPr>
          <a:xfrm>
            <a:off x="319251" y="700000"/>
            <a:ext cx="6014545" cy="2420688"/>
          </a:xfrm>
        </p:spPr>
        <p:txBody>
          <a:bodyPr wrap="square" anchor="ctr">
            <a:normAutofit fontScale="92500" lnSpcReduction="10000"/>
          </a:bodyPr>
          <a:lstStyle/>
          <a:p>
            <a:pPr marL="0" indent="0">
              <a:buNone/>
            </a:pPr>
            <a:r>
              <a:rPr sz="1400" b="1" dirty="0">
                <a:solidFill>
                  <a:srgbClr val="28285E"/>
                </a:solidFill>
              </a:rPr>
              <a:t>Each family is a set of weakness types from the Common Weakness Enumeration, a catalogue kept by MITRE.</a:t>
            </a:r>
          </a:p>
          <a:p>
            <a:pPr marL="400050" indent="-285750">
              <a:spcBef>
                <a:spcPts val="600"/>
              </a:spcBef>
              <a:spcAft>
                <a:spcPts val="600"/>
              </a:spcAft>
              <a:buClr>
                <a:srgbClr val="28285E"/>
              </a:buClr>
              <a:buSzPts val="1260"/>
              <a:buFont typeface="+mn-lt"/>
              <a:buChar char="●"/>
            </a:pPr>
            <a:r>
              <a:rPr sz="1400" b="1">
                <a:solidFill>
                  <a:schemeClr val="tx1"/>
                </a:solidFill>
              </a:rPr>
              <a:t>A CWE</a:t>
            </a:r>
            <a:r>
              <a:rPr sz="1400" b="0">
                <a:solidFill>
                  <a:schemeClr val="tx1"/>
                </a:solidFill>
              </a:rPr>
              <a:t> is a type of flaw, such as CWE-89, SQL injection, and it can occur in any program in any language.</a:t>
            </a:r>
          </a:p>
          <a:p>
            <a:pPr marL="400050" indent="-285750">
              <a:spcBef>
                <a:spcPts val="600"/>
              </a:spcBef>
              <a:spcAft>
                <a:spcPts val="600"/>
              </a:spcAft>
              <a:buClr>
                <a:srgbClr val="28285E"/>
              </a:buClr>
              <a:buSzPts val="1260"/>
              <a:buFont typeface="+mn-lt"/>
              <a:buChar char="●"/>
            </a:pPr>
            <a:r>
              <a:rPr sz="1400" b="1">
                <a:solidFill>
                  <a:schemeClr val="tx1"/>
                </a:solidFill>
              </a:rPr>
              <a:t>A CVE</a:t>
            </a:r>
            <a:r>
              <a:rPr sz="1400" b="0">
                <a:solidFill>
                  <a:schemeClr val="tx1"/>
                </a:solidFill>
              </a:rPr>
              <a:t> is one instance of a flaw in one product, and it names a CWE as its type.</a:t>
            </a:r>
          </a:p>
          <a:p>
            <a:pPr marL="400050" indent="-285750">
              <a:spcBef>
                <a:spcPts val="600"/>
              </a:spcBef>
              <a:spcAft>
                <a:spcPts val="600"/>
              </a:spcAft>
              <a:buClr>
                <a:srgbClr val="28285E"/>
              </a:buClr>
              <a:buSzPts val="1260"/>
              <a:buFont typeface="+mn-lt"/>
              <a:buChar char="●"/>
            </a:pPr>
            <a:r>
              <a:rPr sz="1400" b="1">
                <a:solidFill>
                  <a:schemeClr val="tx1"/>
                </a:solidFill>
              </a:rPr>
              <a:t>A CVSS score</a:t>
            </a:r>
            <a:r>
              <a:rPr sz="1400" b="0">
                <a:solidFill>
                  <a:schemeClr val="tx1"/>
                </a:solidFill>
              </a:rPr>
              <a:t> rates one instance by ease of exploit and damage done, so it attaches to a CVE.</a:t>
            </a:r>
          </a:p>
        </p:txBody>
      </p:sp>
      <p:sp>
        <p:nvSpPr>
          <p:cNvPr id="4" name="Rectangle 3"/>
          <p:cNvSpPr/>
          <p:nvPr/>
        </p:nvSpPr>
        <p:spPr>
          <a:xfrm>
            <a:off x="319251" y="3350688"/>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weakness is a kind of flaw that recurs across programs, and the CWE catalogue gives each kind a number and a name.</a:t>
            </a:r>
          </a:p>
        </p:txBody>
      </p:sp>
      <p:sp>
        <p:nvSpPr>
          <p:cNvPr id="5" name="Rectangle 4"/>
          <p:cNvSpPr/>
          <p:nvPr/>
        </p:nvSpPr>
        <p:spPr>
          <a:xfrm>
            <a:off x="319251" y="42504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CWE number names a kind of flaw, and every alert in HW1 carries 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From a family to a line of Python</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b="1" dirty="0">
                <a:solidFill>
                  <a:srgbClr val="28285E"/>
                </a:solidFill>
                <a:latin typeface="Fira Sans" panose="020B0503050000020004" pitchFamily="34" charset="0"/>
              </a:rPr>
              <a:t>The </a:t>
            </a:r>
            <a:r>
              <a:rPr lang="en-US" sz="1400" b="1" dirty="0">
                <a:solidFill>
                  <a:srgbClr val="28285E"/>
                </a:solidFill>
                <a:latin typeface="Fira Sans" panose="020B0503050000020004" pitchFamily="34" charset="0"/>
              </a:rPr>
              <a:t>hierarchy</a:t>
            </a:r>
            <a:r>
              <a:rPr sz="1400" b="1" dirty="0">
                <a:solidFill>
                  <a:srgbClr val="28285E"/>
                </a:solidFill>
                <a:latin typeface="Fira Sans" panose="020B0503050000020004" pitchFamily="34" charset="0"/>
              </a:rPr>
              <a:t> </a:t>
            </a:r>
            <a:r>
              <a:rPr lang="en-US" sz="1400" b="1" dirty="0">
                <a:solidFill>
                  <a:srgbClr val="28285E"/>
                </a:solidFill>
                <a:latin typeface="Fira Sans" panose="020B0503050000020004" pitchFamily="34" charset="0"/>
              </a:rPr>
              <a:t>is </a:t>
            </a:r>
            <a:r>
              <a:rPr sz="1400" b="1" dirty="0">
                <a:solidFill>
                  <a:srgbClr val="28285E"/>
                </a:solidFill>
                <a:latin typeface="Fira Sans" panose="020B0503050000020004" pitchFamily="34" charset="0"/>
              </a:rPr>
              <a:t>from a family down to the Python call that carries the flaw and the Benchmark category that tests it.</a:t>
            </a:r>
          </a:p>
        </p:txBody>
      </p:sp>
      <p:graphicFrame>
        <p:nvGraphicFramePr>
          <p:cNvPr id="4" name="Table 3"/>
          <p:cNvGraphicFramePr>
            <a:graphicFrameLocks noGrp="1"/>
          </p:cNvGraphicFramePr>
          <p:nvPr/>
        </p:nvGraphicFramePr>
        <p:xfrm>
          <a:off x="319251" y="1439712"/>
          <a:ext cx="6014545" cy="2033550"/>
        </p:xfrm>
        <a:graphic>
          <a:graphicData uri="http://schemas.openxmlformats.org/drawingml/2006/table">
            <a:tbl>
              <a:tblPr firstRow="1" bandRow="1">
                <a:tableStyleId>{5C22544A-7EE6-4342-B048-85BDC9FD1C3A}</a:tableStyleId>
              </a:tblPr>
              <a:tblGrid>
                <a:gridCol w="1850000">
                  <a:extLst>
                    <a:ext uri="{9D8B030D-6E8A-4147-A177-3AD203B41FA5}">
                      <a16:colId xmlns:a16="http://schemas.microsoft.com/office/drawing/2014/main" val="20000"/>
                    </a:ext>
                  </a:extLst>
                </a:gridCol>
                <a:gridCol w="800000">
                  <a:extLst>
                    <a:ext uri="{9D8B030D-6E8A-4147-A177-3AD203B41FA5}">
                      <a16:colId xmlns:a16="http://schemas.microsoft.com/office/drawing/2014/main" val="20001"/>
                    </a:ext>
                  </a:extLst>
                </a:gridCol>
                <a:gridCol w="2064545">
                  <a:extLst>
                    <a:ext uri="{9D8B030D-6E8A-4147-A177-3AD203B41FA5}">
                      <a16:colId xmlns:a16="http://schemas.microsoft.com/office/drawing/2014/main" val="20002"/>
                    </a:ext>
                  </a:extLst>
                </a:gridCol>
                <a:gridCol w="1300000">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Family</a:t>
                      </a:r>
                    </a:p>
                  </a:txBody>
                  <a:tcPr marL="95250" marR="95250" marT="47625" marB="47625">
                    <a:lnB w="12700" cap="flat" cmpd="sng" algn="ctr">
                      <a:solidFill>
                        <a:schemeClr val="tx1"/>
                      </a:solidFill>
                    </a:lnB>
                    <a:noFill/>
                  </a:tcPr>
                </a:tc>
                <a:tc>
                  <a:txBody>
                    <a:bodyPr/>
                    <a:lstStyle/>
                    <a:p>
                      <a:pPr>
                        <a:buNone/>
                      </a:pPr>
                      <a:r>
                        <a:rPr sz="1000" b="1">
                          <a:solidFill>
                            <a:schemeClr val="tx1"/>
                          </a:solidFill>
                        </a:rPr>
                        <a:t>CWE</a:t>
                      </a:r>
                    </a:p>
                  </a:txBody>
                  <a:tcPr marL="95250" marR="95250" marT="47625" marB="47625">
                    <a:lnB w="12700" cap="flat" cmpd="sng" algn="ctr">
                      <a:solidFill>
                        <a:schemeClr val="tx1"/>
                      </a:solidFill>
                    </a:lnB>
                    <a:noFill/>
                  </a:tcPr>
                </a:tc>
                <a:tc>
                  <a:txBody>
                    <a:bodyPr/>
                    <a:lstStyle/>
                    <a:p>
                      <a:pPr>
                        <a:buNone/>
                      </a:pPr>
                      <a:r>
                        <a:rPr sz="1000" b="1">
                          <a:solidFill>
                            <a:schemeClr val="tx1"/>
                          </a:solidFill>
                        </a:rPr>
                        <a:t>The Python call</a:t>
                      </a:r>
                    </a:p>
                  </a:txBody>
                  <a:tcPr marL="95250" marR="95250" marT="47625" marB="47625">
                    <a:lnB w="12700" cap="flat" cmpd="sng" algn="ctr">
                      <a:solidFill>
                        <a:schemeClr val="tx1"/>
                      </a:solidFill>
                    </a:lnB>
                    <a:noFill/>
                  </a:tcPr>
                </a:tc>
                <a:tc>
                  <a:txBody>
                    <a:bodyPr/>
                    <a:lstStyle/>
                    <a:p>
                      <a:pPr>
                        <a:buNone/>
                      </a:pPr>
                      <a:r>
                        <a:rPr sz="1000" b="1">
                          <a:solidFill>
                            <a:schemeClr val="tx1"/>
                          </a:solidFill>
                        </a:rPr>
                        <a:t>Benchmark</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Injection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CWE-89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query built from a string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sqli</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Injection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shell command from a string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cmdi</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Injection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CWE-94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exec or eval on a string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err="1">
                          <a:solidFill>
                            <a:schemeClr val="tx1"/>
                          </a:solidFill>
                        </a:rPr>
                        <a:t>codeinj</a:t>
                      </a:r>
                      <a:endParaRPr sz="1000" b="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Cryptographic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CWE-328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MD5 or SHA1 of a secret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hash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Integrity failures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CWE-502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pickle.load or torch.load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deserialization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Security misconfiguration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CWE-611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a:solidFill>
                            <a:schemeClr val="tx1"/>
                          </a:solidFill>
                        </a:rPr>
                        <a:t>an XML parser on outside data</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xxe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Broken access 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CWE-22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open on an outside path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dirty="0" err="1">
                          <a:solidFill>
                            <a:schemeClr val="tx1"/>
                          </a:solidFill>
                        </a:rPr>
                        <a:t>pathtraver</a:t>
                      </a:r>
                      <a:endParaRPr sz="1000" b="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bl>
          </a:graphicData>
        </a:graphic>
      </p:graphicFrame>
      <p:sp>
        <p:nvSpPr>
          <p:cNvPr id="5" name="Rectangle 4"/>
          <p:cNvSpPr/>
          <p:nvPr/>
        </p:nvSpPr>
        <p:spPr>
          <a:xfrm>
            <a:off x="319251" y="3721042"/>
            <a:ext cx="6014545" cy="5443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A</a:t>
            </a:r>
            <a:r>
              <a:rPr lang="en-US" sz="1200" dirty="0">
                <a:solidFill>
                  <a:schemeClr val="tx2"/>
                </a:solidFill>
              </a:rPr>
              <a:t>n A</a:t>
            </a:r>
            <a:r>
              <a:rPr lang="en-US" sz="1200" b="0" dirty="0">
                <a:solidFill>
                  <a:schemeClr val="tx2"/>
                </a:solidFill>
              </a:rPr>
              <a:t>lert’s</a:t>
            </a:r>
            <a:r>
              <a:rPr sz="1200" b="0" dirty="0">
                <a:solidFill>
                  <a:schemeClr val="tx2"/>
                </a:solidFill>
              </a:rPr>
              <a:t> CWE tells you the family it belongs to and the shape to </a:t>
            </a:r>
            <a:r>
              <a:rPr lang="en-US" sz="1200" b="0" dirty="0">
                <a:solidFill>
                  <a:schemeClr val="tx2"/>
                </a:solidFill>
              </a:rPr>
              <a:t>find </a:t>
            </a:r>
            <a:r>
              <a:rPr sz="1200" b="0" dirty="0">
                <a:solidFill>
                  <a:schemeClr val="tx2"/>
                </a:solidFill>
              </a:rPr>
              <a:t>in the code.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2217270"/>
            <a:ext cx="5000000" cy="708960"/>
          </a:xfrm>
          <a:prstGeom prst="rect">
            <a:avLst/>
          </a:prstGeom>
          <a:noFill/>
        </p:spPr>
        <p:txBody>
          <a:bodyPr wrap="square" anchor="ctr">
            <a:spAutoFit/>
          </a:bodyPr>
          <a:lstStyle/>
          <a:p>
            <a:pPr algn="ctr"/>
            <a:r>
              <a:rPr sz="4000" b="1" dirty="0">
                <a:solidFill>
                  <a:schemeClr val="tx2"/>
                </a:solidFill>
                <a:latin typeface="+mj-lt"/>
              </a:rPr>
              <a:t>Bandit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Bandit: how it reads a program</a:t>
            </a:r>
          </a:p>
        </p:txBody>
      </p:sp>
      <p:sp>
        <p:nvSpPr>
          <p:cNvPr id="3" name="Content Placeholder 2"/>
          <p:cNvSpPr>
            <a:spLocks noGrp="1"/>
          </p:cNvSpPr>
          <p:nvPr>
            <p:ph idx="1"/>
          </p:nvPr>
        </p:nvSpPr>
        <p:spPr>
          <a:xfrm>
            <a:off x="319251" y="700000"/>
            <a:ext cx="6014545" cy="2420688"/>
          </a:xfrm>
        </p:spPr>
        <p:txBody>
          <a:bodyPr wrap="square" anchor="ctr">
            <a:normAutofit fontScale="92500" lnSpcReduction="10000"/>
          </a:bodyPr>
          <a:lstStyle/>
          <a:p>
            <a:pPr marL="0" indent="0">
              <a:buNone/>
            </a:pPr>
            <a:r>
              <a:rPr sz="1400" b="1">
                <a:solidFill>
                  <a:srgbClr val="28285E"/>
                </a:solidFill>
              </a:rPr>
              <a:t>Bandit parses each Python file into a syntax tree and runs every rule against the tree's nodes.</a:t>
            </a:r>
          </a:p>
          <a:p>
            <a:pPr marL="400050" indent="-285750">
              <a:spcBef>
                <a:spcPts val="600"/>
              </a:spcBef>
              <a:spcAft>
                <a:spcPts val="600"/>
              </a:spcAft>
              <a:buClr>
                <a:srgbClr val="28285E"/>
              </a:buClr>
              <a:buSzPts val="1260"/>
              <a:buFont typeface="+mn-lt"/>
              <a:buChar char="●"/>
            </a:pPr>
            <a:r>
              <a:rPr sz="1400" b="1">
                <a:solidFill>
                  <a:schemeClr val="tx1"/>
                </a:solidFill>
              </a:rPr>
              <a:t>A rule</a:t>
            </a:r>
            <a:r>
              <a:rPr sz="1400" b="0">
                <a:solidFill>
                  <a:schemeClr val="tx1"/>
                </a:solidFill>
              </a:rPr>
              <a:t> matches a shape in the tree, such as a call to a named function, and reports the line where it occurs.</a:t>
            </a:r>
          </a:p>
          <a:p>
            <a:pPr marL="400050" indent="-285750">
              <a:spcBef>
                <a:spcPts val="600"/>
              </a:spcBef>
              <a:spcAft>
                <a:spcPts val="600"/>
              </a:spcAft>
              <a:buClr>
                <a:srgbClr val="28285E"/>
              </a:buClr>
              <a:buSzPts val="1260"/>
              <a:buFont typeface="+mn-lt"/>
              <a:buChar char="●"/>
            </a:pPr>
            <a:r>
              <a:rPr sz="1400" b="1">
                <a:solidFill>
                  <a:schemeClr val="tx1"/>
                </a:solidFill>
              </a:rPr>
              <a:t>The rule</a:t>
            </a:r>
            <a:r>
              <a:rPr sz="1400" b="0">
                <a:solidFill>
                  <a:schemeClr val="tx1"/>
                </a:solidFill>
              </a:rPr>
              <a:t> sees the call as written and learns nothing about where the argument's value came from.</a:t>
            </a:r>
          </a:p>
          <a:p>
            <a:pPr marL="400050" indent="-285750">
              <a:spcBef>
                <a:spcPts val="600"/>
              </a:spcBef>
              <a:spcAft>
                <a:spcPts val="600"/>
              </a:spcAft>
              <a:buClr>
                <a:srgbClr val="28285E"/>
              </a:buClr>
              <a:buSzPts val="1260"/>
              <a:buFont typeface="+mn-lt"/>
              <a:buChar char="●"/>
            </a:pPr>
            <a:r>
              <a:rPr sz="1400" b="1">
                <a:solidFill>
                  <a:schemeClr val="tx1"/>
                </a:solidFill>
              </a:rPr>
              <a:t>Bandit</a:t>
            </a:r>
            <a:r>
              <a:rPr sz="1400" b="0">
                <a:solidFill>
                  <a:schemeClr val="tx1"/>
                </a:solidFill>
              </a:rPr>
              <a:t> reads Python only and is one of many such tools; Semgrep and CodeQL do the job across languages.</a:t>
            </a:r>
          </a:p>
        </p:txBody>
      </p:sp>
      <p:sp>
        <p:nvSpPr>
          <p:cNvPr id="4" name="Rectangle 3"/>
          <p:cNvSpPr/>
          <p:nvPr/>
        </p:nvSpPr>
        <p:spPr>
          <a:xfrm>
            <a:off x="319251" y="3350688"/>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static analysis rule is a pattern over the syntax tree, with a message and a severity to report where it matches.</a:t>
            </a:r>
          </a:p>
        </p:txBody>
      </p:sp>
      <p:sp>
        <p:nvSpPr>
          <p:cNvPr id="5" name="Rectangle 4"/>
          <p:cNvSpPr/>
          <p:nvPr/>
        </p:nvSpPr>
        <p:spPr>
          <a:xfrm>
            <a:off x="319251" y="42504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Bandit alert is a matched shape, and the value behind it is still unknown.</a:t>
            </a:r>
          </a:p>
        </p:txBody>
      </p:sp>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Bandit: a rule meeting the syntax tree</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Bandit parses the line into a tree, reads the called name off it, and looks that name up in the rule's list.</a:t>
            </a:r>
          </a:p>
        </p:txBody>
      </p:sp>
      <p:sp>
        <p:nvSpPr>
          <p:cNvPr id="5" name="Rectangle 4"/>
          <p:cNvSpPr/>
          <p:nvPr/>
        </p:nvSpPr>
        <p:spPr>
          <a:xfrm>
            <a:off x="319251" y="36495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rule matches the called name in the tree, where the value of fb never appears.</a:t>
            </a:r>
          </a:p>
        </p:txBody>
      </p:sp>
      <p:pic>
        <p:nvPicPr>
          <p:cNvPr id="6" name="Picture 5" descr="hw1-ast-rule.png"/>
          <p:cNvPicPr>
            <a:picLocks noChangeAspect="1"/>
          </p:cNvPicPr>
          <p:nvPr/>
        </p:nvPicPr>
        <p:blipFill>
          <a:blip r:embed="rId3"/>
          <a:stretch>
            <a:fillRect/>
          </a:stretch>
        </p:blipFill>
        <p:spPr>
          <a:xfrm>
            <a:off x="250147" y="1439712"/>
            <a:ext cx="6152752" cy="19798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Bandit: one rule, in Bandit's own source</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pickle rule is a list of names to match, and it knows nothing of what is unpickled.</a:t>
            </a:r>
          </a:p>
        </p:txBody>
      </p:sp>
      <p:sp>
        <p:nvSpPr>
          <p:cNvPr id="104" name="TextBox 3"/>
          <p:cNvSpPr txBox="1"/>
          <p:nvPr/>
        </p:nvSpPr>
        <p:spPr>
          <a:xfrm>
            <a:off x="319251" y="1439712"/>
            <a:ext cx="5466240"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bandit/blacklists/</a:t>
            </a:r>
            <a:r>
              <a:rPr sz="1200" dirty="0" err="1">
                <a:solidFill>
                  <a:srgbClr val="28285E"/>
                </a:solidFill>
                <a:latin typeface="Fira Sans" panose="020B0503050000020004" pitchFamily="34" charset="0"/>
              </a:rPr>
              <a:t>calls.py</a:t>
            </a:r>
            <a:r>
              <a:rPr sz="1200" dirty="0">
                <a:solidFill>
                  <a:srgbClr val="28285E"/>
                </a:solidFill>
                <a:latin typeface="Fira Sans" panose="020B0503050000020004" pitchFamily="34" charset="0"/>
              </a:rPr>
              <a:t> at 1.9.4, the B301 entry, lines 359 to 379, brackets cut</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2259998"/>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5309146" cy="1692771"/>
          </a:xfrm>
          <a:prstGeom prst="rect">
            <a:avLst/>
          </a:prstGeom>
          <a:noFill/>
        </p:spPr>
        <p:txBody>
          <a:bodyPr wrap="none" lIns="0" tIns="0" rIns="0" bIns="0" anchor="t">
            <a:spAutoFit/>
          </a:bodyPr>
          <a:lstStyle/>
          <a:p>
            <a:pPr algn="l">
              <a:buNone/>
            </a:pPr>
            <a:r>
              <a:rPr sz="1000" dirty="0">
                <a:solidFill>
                  <a:srgbClr val="8A8A9A"/>
                </a:solidFill>
                <a:latin typeface="Maple Mono NF"/>
              </a:rPr>
              <a:t>359 </a:t>
            </a:r>
            <a:r>
              <a:rPr sz="1000" dirty="0" err="1">
                <a:solidFill>
                  <a:srgbClr val="9CDCFE"/>
                </a:solidFill>
                <a:latin typeface="Maple Mono NF"/>
              </a:rPr>
              <a:t>utils</a:t>
            </a:r>
            <a:r>
              <a:rPr sz="1000" dirty="0" err="1">
                <a:solidFill>
                  <a:schemeClr val="tx2"/>
                </a:solidFill>
                <a:latin typeface="Maple Mono NF"/>
              </a:rPr>
              <a:t>.</a:t>
            </a:r>
            <a:r>
              <a:rPr sz="1000" dirty="0" err="1">
                <a:solidFill>
                  <a:srgbClr val="DCDCAA"/>
                </a:solidFill>
                <a:latin typeface="Maple Mono NF"/>
              </a:rPr>
              <a:t>build_conf_dict</a:t>
            </a:r>
            <a:r>
              <a:rPr sz="1000" dirty="0">
                <a:solidFill>
                  <a:schemeClr val="tx2"/>
                </a:solidFill>
                <a:latin typeface="Maple Mono NF"/>
              </a:rPr>
              <a:t>(</a:t>
            </a:r>
          </a:p>
          <a:p>
            <a:pPr algn="l">
              <a:buNone/>
            </a:pPr>
            <a:r>
              <a:rPr sz="1000" dirty="0">
                <a:solidFill>
                  <a:srgbClr val="8A8A9A"/>
                </a:solidFill>
                <a:latin typeface="Maple Mono NF"/>
              </a:rPr>
              <a:t>360 </a:t>
            </a:r>
            <a:r>
              <a:rPr sz="1000" dirty="0">
                <a:solidFill>
                  <a:schemeClr val="tx2"/>
                </a:solidFill>
                <a:latin typeface="Maple Mono NF"/>
              </a:rPr>
              <a:t>    </a:t>
            </a:r>
            <a:r>
              <a:rPr sz="1000" dirty="0">
                <a:solidFill>
                  <a:srgbClr val="CE9178"/>
                </a:solidFill>
                <a:latin typeface="Maple Mono NF"/>
              </a:rPr>
              <a:t>"pickle"</a:t>
            </a:r>
            <a:r>
              <a:rPr sz="1000" dirty="0">
                <a:solidFill>
                  <a:schemeClr val="tx2"/>
                </a:solidFill>
                <a:latin typeface="Maple Mono NF"/>
              </a:rPr>
              <a:t>,</a:t>
            </a:r>
          </a:p>
          <a:p>
            <a:pPr algn="l">
              <a:buNone/>
            </a:pPr>
            <a:r>
              <a:rPr sz="1000" dirty="0">
                <a:solidFill>
                  <a:srgbClr val="8A8A9A"/>
                </a:solidFill>
                <a:latin typeface="Maple Mono NF"/>
              </a:rPr>
              <a:t>361 </a:t>
            </a:r>
            <a:r>
              <a:rPr sz="1000" dirty="0">
                <a:solidFill>
                  <a:schemeClr val="tx2"/>
                </a:solidFill>
                <a:latin typeface="Maple Mono NF"/>
              </a:rPr>
              <a:t>    </a:t>
            </a:r>
            <a:r>
              <a:rPr sz="1000" dirty="0">
                <a:solidFill>
                  <a:srgbClr val="CE9178"/>
                </a:solidFill>
                <a:latin typeface="Maple Mono NF"/>
              </a:rPr>
              <a:t>"B301"</a:t>
            </a:r>
            <a:r>
              <a:rPr sz="1000" dirty="0">
                <a:solidFill>
                  <a:schemeClr val="tx2"/>
                </a:solidFill>
                <a:latin typeface="Maple Mono NF"/>
              </a:rPr>
              <a:t>,</a:t>
            </a:r>
          </a:p>
          <a:p>
            <a:pPr algn="l">
              <a:buNone/>
            </a:pPr>
            <a:r>
              <a:rPr sz="1000" dirty="0">
                <a:solidFill>
                  <a:srgbClr val="8A8A9A"/>
                </a:solidFill>
                <a:latin typeface="Maple Mono NF"/>
              </a:rPr>
              <a:t>362 </a:t>
            </a:r>
            <a:r>
              <a:rPr sz="1000" dirty="0">
                <a:solidFill>
                  <a:schemeClr val="tx2"/>
                </a:solidFill>
                <a:latin typeface="Maple Mono NF"/>
              </a:rPr>
              <a:t>    </a:t>
            </a:r>
            <a:r>
              <a:rPr sz="1000" dirty="0" err="1">
                <a:solidFill>
                  <a:srgbClr val="9CDCFE"/>
                </a:solidFill>
                <a:latin typeface="Maple Mono NF"/>
              </a:rPr>
              <a:t>issue</a:t>
            </a:r>
            <a:r>
              <a:rPr sz="1000" dirty="0" err="1">
                <a:solidFill>
                  <a:schemeClr val="tx2"/>
                </a:solidFill>
                <a:latin typeface="Maple Mono NF"/>
              </a:rPr>
              <a:t>.</a:t>
            </a:r>
            <a:r>
              <a:rPr sz="1000" dirty="0" err="1">
                <a:solidFill>
                  <a:srgbClr val="9CDCFE"/>
                </a:solidFill>
                <a:latin typeface="Maple Mono NF"/>
              </a:rPr>
              <a:t>Cwe</a:t>
            </a:r>
            <a:r>
              <a:rPr sz="1000" dirty="0" err="1">
                <a:solidFill>
                  <a:schemeClr val="tx2"/>
                </a:solidFill>
                <a:latin typeface="Maple Mono NF"/>
              </a:rPr>
              <a:t>.</a:t>
            </a:r>
            <a:r>
              <a:rPr sz="1000" dirty="0" err="1">
                <a:solidFill>
                  <a:srgbClr val="9CDCFE"/>
                </a:solidFill>
                <a:latin typeface="Maple Mono NF"/>
              </a:rPr>
              <a:t>DESERIALIZATION_OF_UNTRUSTED_DATA</a:t>
            </a:r>
            <a:r>
              <a:rPr sz="1000" dirty="0">
                <a:solidFill>
                  <a:schemeClr val="tx2"/>
                </a:solidFill>
                <a:latin typeface="Maple Mono NF"/>
              </a:rPr>
              <a:t>,</a:t>
            </a:r>
          </a:p>
          <a:p>
            <a:pPr algn="l">
              <a:buNone/>
            </a:pPr>
            <a:r>
              <a:rPr sz="1000" dirty="0">
                <a:solidFill>
                  <a:srgbClr val="8A8A9A"/>
                </a:solidFill>
                <a:latin typeface="Maple Mono NF"/>
              </a:rPr>
              <a:t>364 </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pickle.loads</a:t>
            </a:r>
            <a:r>
              <a:rPr sz="1000" dirty="0">
                <a:solidFill>
                  <a:srgbClr val="CE9178"/>
                </a:solidFill>
                <a:latin typeface="Maple Mono NF"/>
              </a:rPr>
              <a:t>"</a:t>
            </a:r>
            <a:r>
              <a:rPr sz="1000" dirty="0">
                <a:solidFill>
                  <a:schemeClr val="tx2"/>
                </a:solidFill>
                <a:latin typeface="Maple Mono NF"/>
              </a:rPr>
              <a:t>,</a:t>
            </a:r>
          </a:p>
          <a:p>
            <a:pPr algn="l">
              <a:buNone/>
            </a:pPr>
            <a:r>
              <a:rPr sz="1000" dirty="0">
                <a:solidFill>
                  <a:srgbClr val="8A8A9A"/>
                </a:solidFill>
                <a:latin typeface="Maple Mono NF"/>
              </a:rPr>
              <a:t>365 </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pickle.load</a:t>
            </a:r>
            <a:r>
              <a:rPr sz="1000" dirty="0">
                <a:solidFill>
                  <a:srgbClr val="CE9178"/>
                </a:solidFill>
                <a:latin typeface="Maple Mono NF"/>
              </a:rPr>
              <a:t>"</a:t>
            </a:r>
            <a:r>
              <a:rPr sz="1000" dirty="0">
                <a:solidFill>
                  <a:schemeClr val="tx2"/>
                </a:solidFill>
                <a:latin typeface="Maple Mono NF"/>
              </a:rPr>
              <a:t>,</a:t>
            </a:r>
          </a:p>
          <a:p>
            <a:pPr algn="l">
              <a:buNone/>
            </a:pPr>
            <a:r>
              <a:rPr sz="1000" dirty="0">
                <a:solidFill>
                  <a:srgbClr val="8A8A9A"/>
                </a:solidFill>
                <a:latin typeface="Maple Mono NF"/>
              </a:rPr>
              <a:t>366 </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pickle.Unpickler</a:t>
            </a:r>
            <a:r>
              <a:rPr sz="1000" dirty="0">
                <a:solidFill>
                  <a:srgbClr val="CE9178"/>
                </a:solidFill>
                <a:latin typeface="Maple Mono NF"/>
              </a:rPr>
              <a:t>"</a:t>
            </a:r>
            <a:r>
              <a:rPr sz="1000" dirty="0">
                <a:solidFill>
                  <a:schemeClr val="tx2"/>
                </a:solidFill>
                <a:latin typeface="Maple Mono NF"/>
              </a:rPr>
              <a:t>,</a:t>
            </a:r>
          </a:p>
          <a:p>
            <a:pPr algn="l">
              <a:buNone/>
            </a:pPr>
            <a:r>
              <a:rPr sz="1000" dirty="0">
                <a:solidFill>
                  <a:srgbClr val="8A8A9A"/>
                </a:solidFill>
                <a:latin typeface="Maple Mono NF"/>
              </a:rPr>
              <a:t>    </a:t>
            </a:r>
            <a:r>
              <a:rPr sz="1000" dirty="0">
                <a:solidFill>
                  <a:schemeClr val="accent4"/>
                </a:solidFill>
                <a:latin typeface="Maple Mono NF"/>
              </a:rPr>
              <a:t># ours: nine more names cut, from dill to </a:t>
            </a:r>
            <a:r>
              <a:rPr sz="1000" dirty="0" err="1">
                <a:solidFill>
                  <a:schemeClr val="accent4"/>
                </a:solidFill>
                <a:latin typeface="Maple Mono NF"/>
              </a:rPr>
              <a:t>pandas.read_pickle</a:t>
            </a:r>
            <a:endParaRPr sz="1000" dirty="0">
              <a:solidFill>
                <a:schemeClr val="accent4"/>
              </a:solidFill>
              <a:latin typeface="Maple Mono NF"/>
            </a:endParaRPr>
          </a:p>
          <a:p>
            <a:pPr algn="l">
              <a:buNone/>
            </a:pPr>
            <a:r>
              <a:rPr sz="1000" dirty="0">
                <a:solidFill>
                  <a:srgbClr val="8A8A9A"/>
                </a:solidFill>
                <a:latin typeface="Maple Mono NF"/>
              </a:rPr>
              <a:t>377 </a:t>
            </a:r>
            <a:r>
              <a:rPr sz="1000" dirty="0">
                <a:solidFill>
                  <a:schemeClr val="tx2"/>
                </a:solidFill>
                <a:latin typeface="Maple Mono NF"/>
              </a:rPr>
              <a:t>    </a:t>
            </a:r>
            <a:r>
              <a:rPr sz="1000" dirty="0">
                <a:solidFill>
                  <a:srgbClr val="CE9178"/>
                </a:solidFill>
                <a:latin typeface="Maple Mono NF"/>
              </a:rPr>
              <a:t>"Pickle and modules that wrap it can be unsafe when used to "</a:t>
            </a:r>
          </a:p>
          <a:p>
            <a:pPr algn="l">
              <a:buNone/>
            </a:pPr>
            <a:r>
              <a:rPr sz="1000" dirty="0">
                <a:solidFill>
                  <a:srgbClr val="8A8A9A"/>
                </a:solidFill>
                <a:latin typeface="Maple Mono NF"/>
              </a:rPr>
              <a:t>378 </a:t>
            </a:r>
            <a:r>
              <a:rPr sz="1000" dirty="0">
                <a:solidFill>
                  <a:schemeClr val="tx2"/>
                </a:solidFill>
                <a:latin typeface="Maple Mono NF"/>
              </a:rPr>
              <a:t>    </a:t>
            </a:r>
            <a:r>
              <a:rPr sz="1000" dirty="0">
                <a:solidFill>
                  <a:srgbClr val="CE9178"/>
                </a:solidFill>
                <a:latin typeface="Maple Mono NF"/>
              </a:rPr>
              <a:t>"deserialize untrusted data, possible security issue."</a:t>
            </a:r>
            <a:r>
              <a:rPr sz="1000" dirty="0">
                <a:solidFill>
                  <a:schemeClr val="tx2"/>
                </a:solidFill>
                <a:latin typeface="Maple Mono NF"/>
              </a:rPr>
              <a:t>,</a:t>
            </a:r>
          </a:p>
          <a:p>
            <a:pPr algn="l">
              <a:buNone/>
            </a:pPr>
            <a:r>
              <a:rPr sz="1000" dirty="0">
                <a:solidFill>
                  <a:srgbClr val="8A8A9A"/>
                </a:solidFill>
                <a:latin typeface="Maple Mono NF"/>
              </a:rPr>
              <a:t>379 </a:t>
            </a:r>
            <a:r>
              <a:rPr sz="1000" dirty="0">
                <a:solidFill>
                  <a:schemeClr val="tx2"/>
                </a:solidFill>
                <a:latin typeface="Maple Mono NF"/>
              </a:rPr>
              <a:t>)</a:t>
            </a:r>
          </a:p>
        </p:txBody>
      </p:sp>
      <p:sp>
        <p:nvSpPr>
          <p:cNvPr id="110" name="Rectangle 109"/>
          <p:cNvSpPr/>
          <p:nvPr/>
        </p:nvSpPr>
        <p:spPr>
          <a:xfrm>
            <a:off x="319251" y="418971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rule is a list of function names to match, a message, a severity and a CWE.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4F2D3-A1A1-AD11-0D13-C960499372F6}"/>
            </a:ext>
          </a:extLst>
        </p:cNvPr>
        <p:cNvGrpSpPr/>
        <p:nvPr/>
      </p:nvGrpSpPr>
      <p:grpSpPr>
        <a:xfrm>
          <a:off x="0" y="0"/>
          <a:ext cx="0" cy="0"/>
          <a:chOff x="0" y="0"/>
          <a:chExt cx="0" cy="0"/>
        </a:xfrm>
      </p:grpSpPr>
      <p:sp>
        <p:nvSpPr>
          <p:cNvPr id="102" name="Title 1">
            <a:extLst>
              <a:ext uri="{FF2B5EF4-FFF2-40B4-BE49-F238E27FC236}">
                <a16:creationId xmlns:a16="http://schemas.microsoft.com/office/drawing/2014/main" id="{E2CF3B74-88BA-3BC1-D22F-7988E596FC34}"/>
              </a:ext>
            </a:extLst>
          </p:cNvPr>
          <p:cNvSpPr>
            <a:spLocks noGrp="1"/>
          </p:cNvSpPr>
          <p:nvPr>
            <p:ph type="title"/>
          </p:nvPr>
        </p:nvSpPr>
        <p:spPr/>
        <p:txBody>
          <a:bodyPr/>
          <a:lstStyle/>
          <a:p>
            <a:r>
              <a:t>Bandit: one rule, in Bandit's own source</a:t>
            </a:r>
          </a:p>
        </p:txBody>
      </p:sp>
      <p:sp>
        <p:nvSpPr>
          <p:cNvPr id="103" name="TextBox 2">
            <a:extLst>
              <a:ext uri="{FF2B5EF4-FFF2-40B4-BE49-F238E27FC236}">
                <a16:creationId xmlns:a16="http://schemas.microsoft.com/office/drawing/2014/main" id="{A46DF6CE-E558-96AB-38E9-A71ABAB205E0}"/>
              </a:ext>
            </a:extLst>
          </p:cNvPr>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pickle rule is a list of names to match, and it knows nothing of what is unpickled.</a:t>
            </a:r>
          </a:p>
        </p:txBody>
      </p:sp>
      <p:sp>
        <p:nvSpPr>
          <p:cNvPr id="104" name="TextBox 3">
            <a:extLst>
              <a:ext uri="{FF2B5EF4-FFF2-40B4-BE49-F238E27FC236}">
                <a16:creationId xmlns:a16="http://schemas.microsoft.com/office/drawing/2014/main" id="{CB021A8A-6E5E-DE30-EF3E-9BF906CD106B}"/>
              </a:ext>
            </a:extLst>
          </p:cNvPr>
          <p:cNvSpPr txBox="1"/>
          <p:nvPr/>
        </p:nvSpPr>
        <p:spPr>
          <a:xfrm>
            <a:off x="319251" y="1439712"/>
            <a:ext cx="5466240"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bandit/blacklists/</a:t>
            </a:r>
            <a:r>
              <a:rPr sz="1200" dirty="0" err="1">
                <a:solidFill>
                  <a:srgbClr val="28285E"/>
                </a:solidFill>
                <a:latin typeface="Fira Sans" panose="020B0503050000020004" pitchFamily="34" charset="0"/>
              </a:rPr>
              <a:t>calls.py</a:t>
            </a:r>
            <a:r>
              <a:rPr sz="1200" dirty="0">
                <a:solidFill>
                  <a:srgbClr val="28285E"/>
                </a:solidFill>
                <a:latin typeface="Fira Sans" panose="020B0503050000020004" pitchFamily="34" charset="0"/>
              </a:rPr>
              <a:t> at 1.9.4, the B301 entry, lines 359 to 379, brackets cut</a:t>
            </a:r>
          </a:p>
        </p:txBody>
      </p:sp>
      <p:sp>
        <p:nvSpPr>
          <p:cNvPr id="105" name="Rounded Rectangle 2">
            <a:extLst>
              <a:ext uri="{FF2B5EF4-FFF2-40B4-BE49-F238E27FC236}">
                <a16:creationId xmlns:a16="http://schemas.microsoft.com/office/drawing/2014/main" id="{BD566881-2316-8220-C77D-D5DE95F14CFA}"/>
              </a:ext>
            </a:extLst>
          </p:cNvPr>
          <p:cNvSpPr/>
          <p:nvPr/>
        </p:nvSpPr>
        <p:spPr>
          <a:xfrm>
            <a:off x="319251" y="1699712"/>
            <a:ext cx="6014545" cy="2259998"/>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3B2C70BC-2EB1-3626-5DD1-B1AFA12DBED8}"/>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74CC95AD-75E6-B6E0-BA8B-795143784311}"/>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885E22F2-1B4C-EF1A-803C-F33349012D53}"/>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A9F32058-66F4-D405-FDE2-372F3F272554}"/>
              </a:ext>
            </a:extLst>
          </p:cNvPr>
          <p:cNvSpPr txBox="1"/>
          <p:nvPr/>
        </p:nvSpPr>
        <p:spPr>
          <a:xfrm>
            <a:off x="469251" y="2029712"/>
            <a:ext cx="5309146" cy="1692771"/>
          </a:xfrm>
          <a:prstGeom prst="rect">
            <a:avLst/>
          </a:prstGeom>
          <a:noFill/>
        </p:spPr>
        <p:txBody>
          <a:bodyPr wrap="none" lIns="0" tIns="0" rIns="0" bIns="0" anchor="t">
            <a:spAutoFit/>
          </a:bodyPr>
          <a:lstStyle/>
          <a:p>
            <a:pPr algn="l">
              <a:buNone/>
            </a:pPr>
            <a:r>
              <a:rPr sz="1000" dirty="0">
                <a:solidFill>
                  <a:srgbClr val="8A8A9A"/>
                </a:solidFill>
                <a:latin typeface="Maple Mono NF"/>
              </a:rPr>
              <a:t>359 </a:t>
            </a:r>
            <a:r>
              <a:rPr sz="1000" dirty="0" err="1">
                <a:solidFill>
                  <a:srgbClr val="9CDCFE"/>
                </a:solidFill>
                <a:latin typeface="Maple Mono NF"/>
              </a:rPr>
              <a:t>utils</a:t>
            </a:r>
            <a:r>
              <a:rPr sz="1000" dirty="0" err="1">
                <a:solidFill>
                  <a:schemeClr val="tx2"/>
                </a:solidFill>
                <a:latin typeface="Maple Mono NF"/>
              </a:rPr>
              <a:t>.</a:t>
            </a:r>
            <a:r>
              <a:rPr sz="1000" dirty="0" err="1">
                <a:solidFill>
                  <a:srgbClr val="DCDCAA"/>
                </a:solidFill>
                <a:latin typeface="Maple Mono NF"/>
              </a:rPr>
              <a:t>build_conf_dict</a:t>
            </a:r>
            <a:r>
              <a:rPr sz="1000" dirty="0">
                <a:solidFill>
                  <a:schemeClr val="tx2"/>
                </a:solidFill>
                <a:latin typeface="Maple Mono NF"/>
              </a:rPr>
              <a:t>(</a:t>
            </a:r>
          </a:p>
          <a:p>
            <a:pPr algn="l">
              <a:buNone/>
            </a:pPr>
            <a:r>
              <a:rPr sz="1000" dirty="0">
                <a:solidFill>
                  <a:srgbClr val="8A8A9A"/>
                </a:solidFill>
                <a:latin typeface="Maple Mono NF"/>
              </a:rPr>
              <a:t>360 </a:t>
            </a:r>
            <a:r>
              <a:rPr sz="1000" dirty="0">
                <a:solidFill>
                  <a:schemeClr val="tx2"/>
                </a:solidFill>
                <a:latin typeface="Maple Mono NF"/>
              </a:rPr>
              <a:t>    </a:t>
            </a:r>
            <a:r>
              <a:rPr sz="1000" dirty="0">
                <a:solidFill>
                  <a:srgbClr val="CE9178"/>
                </a:solidFill>
                <a:latin typeface="Maple Mono NF"/>
              </a:rPr>
              <a:t>"pickle"</a:t>
            </a:r>
            <a:r>
              <a:rPr sz="1000" dirty="0">
                <a:solidFill>
                  <a:schemeClr val="tx2"/>
                </a:solidFill>
                <a:latin typeface="Maple Mono NF"/>
              </a:rPr>
              <a:t>,</a:t>
            </a:r>
          </a:p>
          <a:p>
            <a:pPr algn="l">
              <a:buNone/>
            </a:pPr>
            <a:r>
              <a:rPr sz="1000" dirty="0">
                <a:solidFill>
                  <a:srgbClr val="8A8A9A"/>
                </a:solidFill>
                <a:latin typeface="Maple Mono NF"/>
              </a:rPr>
              <a:t>361 </a:t>
            </a:r>
            <a:r>
              <a:rPr sz="1000" dirty="0">
                <a:solidFill>
                  <a:schemeClr val="tx2"/>
                </a:solidFill>
                <a:latin typeface="Maple Mono NF"/>
              </a:rPr>
              <a:t>    </a:t>
            </a:r>
            <a:r>
              <a:rPr sz="1000" dirty="0">
                <a:solidFill>
                  <a:srgbClr val="CE9178"/>
                </a:solidFill>
                <a:latin typeface="Maple Mono NF"/>
              </a:rPr>
              <a:t>"B301"</a:t>
            </a:r>
            <a:r>
              <a:rPr sz="1000" dirty="0">
                <a:solidFill>
                  <a:schemeClr val="tx2"/>
                </a:solidFill>
                <a:latin typeface="Maple Mono NF"/>
              </a:rPr>
              <a:t>,</a:t>
            </a:r>
          </a:p>
          <a:p>
            <a:pPr algn="l">
              <a:buNone/>
            </a:pPr>
            <a:r>
              <a:rPr sz="1000" dirty="0">
                <a:solidFill>
                  <a:srgbClr val="8A8A9A"/>
                </a:solidFill>
                <a:latin typeface="Maple Mono NF"/>
              </a:rPr>
              <a:t>362 </a:t>
            </a:r>
            <a:r>
              <a:rPr sz="1000" dirty="0">
                <a:solidFill>
                  <a:schemeClr val="tx2"/>
                </a:solidFill>
                <a:latin typeface="Maple Mono NF"/>
              </a:rPr>
              <a:t>    </a:t>
            </a:r>
            <a:r>
              <a:rPr sz="1000" dirty="0" err="1">
                <a:solidFill>
                  <a:srgbClr val="9CDCFE"/>
                </a:solidFill>
                <a:latin typeface="Maple Mono NF"/>
              </a:rPr>
              <a:t>issue</a:t>
            </a:r>
            <a:r>
              <a:rPr sz="1000" dirty="0" err="1">
                <a:solidFill>
                  <a:schemeClr val="tx2"/>
                </a:solidFill>
                <a:latin typeface="Maple Mono NF"/>
              </a:rPr>
              <a:t>.</a:t>
            </a:r>
            <a:r>
              <a:rPr sz="1000" dirty="0" err="1">
                <a:solidFill>
                  <a:srgbClr val="9CDCFE"/>
                </a:solidFill>
                <a:latin typeface="Maple Mono NF"/>
              </a:rPr>
              <a:t>Cwe</a:t>
            </a:r>
            <a:r>
              <a:rPr sz="1000" dirty="0" err="1">
                <a:solidFill>
                  <a:schemeClr val="tx2"/>
                </a:solidFill>
                <a:latin typeface="Maple Mono NF"/>
              </a:rPr>
              <a:t>.</a:t>
            </a:r>
            <a:r>
              <a:rPr sz="1000" dirty="0" err="1">
                <a:solidFill>
                  <a:srgbClr val="9CDCFE"/>
                </a:solidFill>
                <a:latin typeface="Maple Mono NF"/>
              </a:rPr>
              <a:t>DESERIALIZATION_OF_UNTRUSTED_DATA</a:t>
            </a:r>
            <a:r>
              <a:rPr sz="1000" dirty="0">
                <a:solidFill>
                  <a:schemeClr val="tx2"/>
                </a:solidFill>
                <a:latin typeface="Maple Mono NF"/>
              </a:rPr>
              <a:t>,</a:t>
            </a:r>
          </a:p>
          <a:p>
            <a:pPr algn="l">
              <a:buNone/>
            </a:pPr>
            <a:r>
              <a:rPr sz="1000" dirty="0">
                <a:solidFill>
                  <a:srgbClr val="8A8A9A"/>
                </a:solidFill>
                <a:latin typeface="Maple Mono NF"/>
              </a:rPr>
              <a:t>364 </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pickle.loads</a:t>
            </a:r>
            <a:r>
              <a:rPr sz="1000" dirty="0">
                <a:solidFill>
                  <a:srgbClr val="CE9178"/>
                </a:solidFill>
                <a:latin typeface="Maple Mono NF"/>
              </a:rPr>
              <a:t>"</a:t>
            </a:r>
            <a:r>
              <a:rPr sz="1000" dirty="0">
                <a:solidFill>
                  <a:schemeClr val="tx2"/>
                </a:solidFill>
                <a:latin typeface="Maple Mono NF"/>
              </a:rPr>
              <a:t>,</a:t>
            </a:r>
          </a:p>
          <a:p>
            <a:pPr algn="l">
              <a:buNone/>
            </a:pPr>
            <a:r>
              <a:rPr sz="1000" dirty="0">
                <a:solidFill>
                  <a:srgbClr val="8A8A9A"/>
                </a:solidFill>
                <a:latin typeface="Maple Mono NF"/>
              </a:rPr>
              <a:t>365 </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pickle.load</a:t>
            </a:r>
            <a:r>
              <a:rPr sz="1000" dirty="0">
                <a:solidFill>
                  <a:srgbClr val="CE9178"/>
                </a:solidFill>
                <a:latin typeface="Maple Mono NF"/>
              </a:rPr>
              <a:t>"</a:t>
            </a:r>
            <a:r>
              <a:rPr sz="1000" dirty="0">
                <a:solidFill>
                  <a:schemeClr val="tx2"/>
                </a:solidFill>
                <a:latin typeface="Maple Mono NF"/>
              </a:rPr>
              <a:t>,</a:t>
            </a:r>
          </a:p>
          <a:p>
            <a:pPr algn="l">
              <a:buNone/>
            </a:pPr>
            <a:r>
              <a:rPr sz="1000" dirty="0">
                <a:solidFill>
                  <a:srgbClr val="8A8A9A"/>
                </a:solidFill>
                <a:latin typeface="Maple Mono NF"/>
              </a:rPr>
              <a:t>366 </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pickle.Unpickler</a:t>
            </a:r>
            <a:r>
              <a:rPr sz="1000" dirty="0">
                <a:solidFill>
                  <a:srgbClr val="CE9178"/>
                </a:solidFill>
                <a:latin typeface="Maple Mono NF"/>
              </a:rPr>
              <a:t>"</a:t>
            </a:r>
            <a:r>
              <a:rPr sz="1000" dirty="0">
                <a:solidFill>
                  <a:schemeClr val="tx2"/>
                </a:solidFill>
                <a:latin typeface="Maple Mono NF"/>
              </a:rPr>
              <a:t>,</a:t>
            </a:r>
          </a:p>
          <a:p>
            <a:pPr algn="l">
              <a:buNone/>
            </a:pPr>
            <a:r>
              <a:rPr sz="1000" dirty="0">
                <a:solidFill>
                  <a:srgbClr val="8A8A9A"/>
                </a:solidFill>
                <a:latin typeface="Maple Mono NF"/>
              </a:rPr>
              <a:t>    </a:t>
            </a:r>
            <a:r>
              <a:rPr sz="1000" dirty="0">
                <a:solidFill>
                  <a:schemeClr val="accent4"/>
                </a:solidFill>
                <a:latin typeface="Maple Mono NF"/>
              </a:rPr>
              <a:t># ours: nine more names cut, from dill to </a:t>
            </a:r>
            <a:r>
              <a:rPr sz="1000" dirty="0" err="1">
                <a:solidFill>
                  <a:schemeClr val="accent4"/>
                </a:solidFill>
                <a:latin typeface="Maple Mono NF"/>
              </a:rPr>
              <a:t>pandas.read_pickle</a:t>
            </a:r>
            <a:endParaRPr sz="1000" dirty="0">
              <a:solidFill>
                <a:schemeClr val="accent4"/>
              </a:solidFill>
              <a:latin typeface="Maple Mono NF"/>
            </a:endParaRPr>
          </a:p>
          <a:p>
            <a:pPr algn="l">
              <a:buNone/>
            </a:pPr>
            <a:r>
              <a:rPr sz="1000" b="1" dirty="0">
                <a:solidFill>
                  <a:schemeClr val="bg1"/>
                </a:solidFill>
                <a:latin typeface="Maple Mono NF"/>
              </a:rPr>
              <a:t>377     "Pickle and modules that wrap it can be unsafe when used to "</a:t>
            </a:r>
          </a:p>
          <a:p>
            <a:pPr algn="l">
              <a:buNone/>
            </a:pPr>
            <a:r>
              <a:rPr sz="1000" b="1" dirty="0">
                <a:solidFill>
                  <a:schemeClr val="bg1"/>
                </a:solidFill>
                <a:latin typeface="Maple Mono NF"/>
              </a:rPr>
              <a:t>378     "deserialize untrusted data, possible security issue.",</a:t>
            </a:r>
          </a:p>
          <a:p>
            <a:pPr algn="l">
              <a:buNone/>
            </a:pPr>
            <a:r>
              <a:rPr sz="1000" dirty="0">
                <a:solidFill>
                  <a:srgbClr val="8A8A9A"/>
                </a:solidFill>
                <a:latin typeface="Maple Mono NF"/>
              </a:rPr>
              <a:t>379 </a:t>
            </a:r>
            <a:r>
              <a:rPr sz="1000" dirty="0">
                <a:solidFill>
                  <a:schemeClr val="tx2"/>
                </a:solidFill>
                <a:latin typeface="Maple Mono NF"/>
              </a:rPr>
              <a:t>)</a:t>
            </a:r>
          </a:p>
        </p:txBody>
      </p:sp>
      <p:sp>
        <p:nvSpPr>
          <p:cNvPr id="110" name="Rectangle 109">
            <a:extLst>
              <a:ext uri="{FF2B5EF4-FFF2-40B4-BE49-F238E27FC236}">
                <a16:creationId xmlns:a16="http://schemas.microsoft.com/office/drawing/2014/main" id="{0FEEAFED-4F7F-FA61-7A52-427ADF344861}"/>
              </a:ext>
            </a:extLst>
          </p:cNvPr>
          <p:cNvSpPr/>
          <p:nvPr/>
        </p:nvSpPr>
        <p:spPr>
          <a:xfrm>
            <a:off x="319251" y="418971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rule is a list of function names to match, a message, a severity and a CWE.</a:t>
            </a:r>
          </a:p>
        </p:txBody>
      </p:sp>
      <p:pic>
        <p:nvPicPr>
          <p:cNvPr id="2" name="Picture 1">
            <a:extLst>
              <a:ext uri="{FF2B5EF4-FFF2-40B4-BE49-F238E27FC236}">
                <a16:creationId xmlns:a16="http://schemas.microsoft.com/office/drawing/2014/main" id="{FBFC31B3-403D-EE27-6C8B-F912E192714E}"/>
              </a:ext>
            </a:extLst>
          </p:cNvPr>
          <p:cNvPicPr>
            <a:picLocks noChangeAspect="1"/>
          </p:cNvPicPr>
          <p:nvPr/>
        </p:nvPicPr>
        <p:blipFill>
          <a:blip r:embed="rId3">
            <a:alphaModFix amt="45000"/>
          </a:blip>
          <a:stretch>
            <a:fillRect/>
          </a:stretch>
        </p:blipFill>
        <p:spPr>
          <a:xfrm>
            <a:off x="371716" y="2029712"/>
            <a:ext cx="5517741" cy="1212864"/>
          </a:xfrm>
          <a:prstGeom prst="rect">
            <a:avLst/>
          </a:prstGeom>
        </p:spPr>
      </p:pic>
    </p:spTree>
    <p:extLst>
      <p:ext uri="{BB962C8B-B14F-4D97-AF65-F5344CB8AC3E}">
        <p14:creationId xmlns:p14="http://schemas.microsoft.com/office/powerpoint/2010/main" val="1196443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Bandit: severity and confidence</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Every rule stamps two estimates on its alerts, and HW1 keeps MEDIUM severity and above at any confidence.</a:t>
            </a:r>
          </a:p>
        </p:txBody>
      </p:sp>
      <p:graphicFrame>
        <p:nvGraphicFramePr>
          <p:cNvPr id="4" name="Table 3"/>
          <p:cNvGraphicFramePr>
            <a:graphicFrameLocks noGrp="1"/>
          </p:cNvGraphicFramePr>
          <p:nvPr/>
        </p:nvGraphicFramePr>
        <p:xfrm>
          <a:off x="319251" y="1396379"/>
          <a:ext cx="6014545" cy="1785900"/>
        </p:xfrm>
        <a:graphic>
          <a:graphicData uri="http://schemas.openxmlformats.org/drawingml/2006/table">
            <a:tbl>
              <a:tblPr firstRow="1" bandRow="1">
                <a:tableStyleId>{5C22544A-7EE6-4342-B048-85BDC9FD1C3A}</a:tableStyleId>
              </a:tblPr>
              <a:tblGrid>
                <a:gridCol w="1500000">
                  <a:extLst>
                    <a:ext uri="{9D8B030D-6E8A-4147-A177-3AD203B41FA5}">
                      <a16:colId xmlns:a16="http://schemas.microsoft.com/office/drawing/2014/main" val="20000"/>
                    </a:ext>
                  </a:extLst>
                </a:gridCol>
                <a:gridCol w="2514545">
                  <a:extLst>
                    <a:ext uri="{9D8B030D-6E8A-4147-A177-3AD203B41FA5}">
                      <a16:colId xmlns:a16="http://schemas.microsoft.com/office/drawing/2014/main" val="20001"/>
                    </a:ext>
                  </a:extLst>
                </a:gridCol>
                <a:gridCol w="100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Rule</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matches</a:t>
                      </a:r>
                    </a:p>
                  </a:txBody>
                  <a:tcPr marL="95250" marR="95250" marT="47625" marB="47625">
                    <a:lnB w="12700" cap="flat" cmpd="sng" algn="ctr">
                      <a:solidFill>
                        <a:schemeClr val="tx1"/>
                      </a:solidFill>
                    </a:lnB>
                    <a:noFill/>
                  </a:tcPr>
                </a:tc>
                <a:tc>
                  <a:txBody>
                    <a:bodyPr/>
                    <a:lstStyle/>
                    <a:p>
                      <a:pPr>
                        <a:buNone/>
                      </a:pPr>
                      <a:r>
                        <a:rPr sz="1000" b="1">
                          <a:solidFill>
                            <a:schemeClr val="tx1"/>
                          </a:solidFill>
                        </a:rPr>
                        <a:t>Severity</a:t>
                      </a:r>
                    </a:p>
                  </a:txBody>
                  <a:tcPr marL="95250" marR="95250" marT="47625" marB="47625">
                    <a:lnB w="12700" cap="flat" cmpd="sng" algn="ctr">
                      <a:solidFill>
                        <a:schemeClr val="tx1"/>
                      </a:solidFill>
                    </a:lnB>
                    <a:noFill/>
                  </a:tcPr>
                </a:tc>
                <a:tc>
                  <a:txBody>
                    <a:bodyPr/>
                    <a:lstStyle/>
                    <a:p>
                      <a:pPr>
                        <a:buNone/>
                      </a:pPr>
                      <a:r>
                        <a:rPr sz="1000" b="1">
                          <a:solidFill>
                            <a:schemeClr val="tx1"/>
                          </a:solidFill>
                        </a:rPr>
                        <a:t>Confidence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B608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SQL text built in a string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MEDIUM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B301, B614, B615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pickle, torch.load, Hub downloads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MEDIUM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HIGH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B102, B307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exec, eval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MEDIUM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HIGH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B314 to B318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XML parsers on outside data</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MEDIUM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HIGH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B324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MD5 or SHA1 in hashlib</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HIGH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HIGH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B113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requests without a timeout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MEDIUM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5" name="Rectangle 4"/>
          <p:cNvSpPr/>
          <p:nvPr/>
        </p:nvSpPr>
        <p:spPr>
          <a:xfrm>
            <a:off x="319251" y="3384186"/>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Severity is the rule's estimate of harm if the flaw is real, and confidence is how often the matched shape is that flaw.</a:t>
            </a:r>
          </a:p>
        </p:txBody>
      </p:sp>
      <p:sp>
        <p:nvSpPr>
          <p:cNvPr id="6" name="Rectangle 5"/>
          <p:cNvSpPr/>
          <p:nvPr/>
        </p:nvSpPr>
        <p:spPr>
          <a:xfrm>
            <a:off x="319251" y="424056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Both estimates were made before anyone read the code around the match.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rPr dirty="0"/>
              <a:t>Bandit: the run on Radicale</a:t>
            </a:r>
          </a:p>
        </p:txBody>
      </p:sp>
      <p:sp>
        <p:nvSpPr>
          <p:cNvPr id="103" name="TextBox 2"/>
          <p:cNvSpPr txBox="1"/>
          <p:nvPr/>
        </p:nvSpPr>
        <p:spPr>
          <a:xfrm>
            <a:off x="319251" y="700000"/>
            <a:ext cx="5509522"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The brief's Radicale command, and Bandit 1.9.4's ten results at commit eff8027f</a:t>
            </a:r>
          </a:p>
        </p:txBody>
      </p:sp>
      <p:sp>
        <p:nvSpPr>
          <p:cNvPr id="104" name="Rounded Rectangle 2">
            <a:extLst>
              <a:ext uri="{FF2B5EF4-FFF2-40B4-BE49-F238E27FC236}">
                <a16:creationId xmlns:a16="http://schemas.microsoft.com/office/drawing/2014/main" id="{522467AF-9835-25C5-1529-A4C841E246CF}"/>
              </a:ext>
            </a:extLst>
          </p:cNvPr>
          <p:cNvSpPr/>
          <p:nvPr/>
        </p:nvSpPr>
        <p:spPr>
          <a:xfrm>
            <a:off x="319251" y="960000"/>
            <a:ext cx="6014545" cy="2616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3">
            <a:extLst>
              <a:ext uri="{FF2B5EF4-FFF2-40B4-BE49-F238E27FC236}">
                <a16:creationId xmlns:a16="http://schemas.microsoft.com/office/drawing/2014/main" id="{72412C4C-9068-59FD-FA3C-983078C86E66}"/>
              </a:ext>
            </a:extLst>
          </p:cNvPr>
          <p:cNvSpPr/>
          <p:nvPr/>
        </p:nvSpPr>
        <p:spPr>
          <a:xfrm>
            <a:off x="371717" y="1003816"/>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7">
            <a:extLst>
              <a:ext uri="{FF2B5EF4-FFF2-40B4-BE49-F238E27FC236}">
                <a16:creationId xmlns:a16="http://schemas.microsoft.com/office/drawing/2014/main" id="{94578101-3902-FDEE-677E-CD15B4570CB9}"/>
              </a:ext>
            </a:extLst>
          </p:cNvPr>
          <p:cNvSpPr/>
          <p:nvPr/>
        </p:nvSpPr>
        <p:spPr>
          <a:xfrm>
            <a:off x="566589" y="1003816"/>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8">
            <a:extLst>
              <a:ext uri="{FF2B5EF4-FFF2-40B4-BE49-F238E27FC236}">
                <a16:creationId xmlns:a16="http://schemas.microsoft.com/office/drawing/2014/main" id="{7AA0B79B-22E4-CED9-0B6B-98792DEFD5FA}"/>
              </a:ext>
            </a:extLst>
          </p:cNvPr>
          <p:cNvSpPr/>
          <p:nvPr/>
        </p:nvSpPr>
        <p:spPr>
          <a:xfrm>
            <a:off x="761461" y="1003816"/>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p:cNvSpPr txBox="1"/>
          <p:nvPr/>
        </p:nvSpPr>
        <p:spPr>
          <a:xfrm>
            <a:off x="469251" y="1290000"/>
            <a:ext cx="5607304" cy="2031325"/>
          </a:xfrm>
          <a:prstGeom prst="rect">
            <a:avLst/>
          </a:prstGeom>
          <a:noFill/>
        </p:spPr>
        <p:txBody>
          <a:bodyPr wrap="none" lIns="0" tIns="0" rIns="0" bIns="0" anchor="t">
            <a:spAutoFit/>
          </a:bodyPr>
          <a:lstStyle/>
          <a:p>
            <a:pPr algn="l">
              <a:buNone/>
            </a:pPr>
            <a:r>
              <a:rPr sz="1100" dirty="0">
                <a:solidFill>
                  <a:srgbClr val="DCDCAA"/>
                </a:solidFill>
                <a:latin typeface="Maple Mono NF"/>
              </a:rPr>
              <a:t>bandit</a:t>
            </a:r>
            <a:r>
              <a:rPr sz="1100" dirty="0">
                <a:solidFill>
                  <a:schemeClr val="tx2"/>
                </a:solidFill>
                <a:latin typeface="Maple Mono NF"/>
              </a:rPr>
              <a:t> -q -r --severity-level medium -x </a:t>
            </a:r>
            <a:r>
              <a:rPr sz="1100" dirty="0" err="1">
                <a:solidFill>
                  <a:schemeClr val="tx2"/>
                </a:solidFill>
                <a:latin typeface="Maple Mono NF"/>
              </a:rPr>
              <a:t>radicale</a:t>
            </a:r>
            <a:r>
              <a:rPr sz="1100" dirty="0">
                <a:solidFill>
                  <a:schemeClr val="tx2"/>
                </a:solidFill>
                <a:latin typeface="Maple Mono NF"/>
              </a:rPr>
              <a:t>/tests \</a:t>
            </a:r>
          </a:p>
          <a:p>
            <a:pPr algn="l">
              <a:buNone/>
            </a:pPr>
            <a:r>
              <a:rPr sz="1100" dirty="0">
                <a:solidFill>
                  <a:schemeClr val="tx2"/>
                </a:solidFill>
                <a:latin typeface="Maple Mono NF"/>
              </a:rPr>
              <a:t>    -f </a:t>
            </a:r>
            <a:r>
              <a:rPr sz="1100" dirty="0" err="1">
                <a:solidFill>
                  <a:schemeClr val="tx2"/>
                </a:solidFill>
                <a:latin typeface="Maple Mono NF"/>
              </a:rPr>
              <a:t>json</a:t>
            </a:r>
            <a:r>
              <a:rPr sz="1100" dirty="0">
                <a:solidFill>
                  <a:schemeClr val="tx2"/>
                </a:solidFill>
                <a:latin typeface="Maple Mono NF"/>
              </a:rPr>
              <a:t> -o </a:t>
            </a:r>
            <a:r>
              <a:rPr sz="1100" dirty="0" err="1">
                <a:solidFill>
                  <a:schemeClr val="tx2"/>
                </a:solidFill>
                <a:latin typeface="Maple Mono NF"/>
              </a:rPr>
              <a:t>bandit.json</a:t>
            </a:r>
            <a:r>
              <a:rPr sz="1100" dirty="0">
                <a:solidFill>
                  <a:schemeClr val="tx2"/>
                </a:solidFill>
                <a:latin typeface="Maple Mono NF"/>
              </a:rPr>
              <a:t> </a:t>
            </a:r>
            <a:r>
              <a:rPr sz="1100" dirty="0" err="1">
                <a:solidFill>
                  <a:schemeClr val="tx2"/>
                </a:solidFill>
                <a:latin typeface="Maple Mono NF"/>
              </a:rPr>
              <a:t>radicale</a:t>
            </a:r>
            <a:endParaRPr sz="1100" dirty="0">
              <a:latin typeface="Maple Mono NF"/>
            </a:endParaRPr>
          </a:p>
          <a:p>
            <a:pPr algn="l">
              <a:buNone/>
            </a:pPr>
            <a:r>
              <a:rPr sz="1100" dirty="0">
                <a:solidFill>
                  <a:schemeClr val="tx2"/>
                </a:solidFill>
                <a:latin typeface="Maple Mono NF"/>
              </a:rPr>
              <a:t>B113  MEDIUM  LOW   </a:t>
            </a:r>
            <a:r>
              <a:rPr sz="1100" dirty="0" err="1">
                <a:solidFill>
                  <a:schemeClr val="tx2"/>
                </a:solidFill>
                <a:latin typeface="Maple Mono NF"/>
              </a:rPr>
              <a:t>radicale</a:t>
            </a:r>
            <a:r>
              <a:rPr sz="1100" dirty="0">
                <a:solidFill>
                  <a:schemeClr val="tx2"/>
                </a:solidFill>
                <a:latin typeface="Maple Mono NF"/>
              </a:rPr>
              <a:t>/auth/oauth2.py:60</a:t>
            </a:r>
          </a:p>
          <a:p>
            <a:pPr algn="l">
              <a:buNone/>
            </a:pPr>
            <a:r>
              <a:rPr sz="1100" dirty="0">
                <a:solidFill>
                  <a:schemeClr val="tx2"/>
                </a:solidFill>
                <a:latin typeface="Maple Mono NF"/>
              </a:rPr>
              <a:t>B324  HIGH    HIGH  </a:t>
            </a:r>
            <a:r>
              <a:rPr sz="1100" dirty="0" err="1">
                <a:solidFill>
                  <a:schemeClr val="tx2"/>
                </a:solidFill>
                <a:latin typeface="Maple Mono NF"/>
              </a:rPr>
              <a:t>radicale</a:t>
            </a:r>
            <a:r>
              <a:rPr sz="1100" dirty="0">
                <a:solidFill>
                  <a:schemeClr val="tx2"/>
                </a:solidFill>
                <a:latin typeface="Maple Mono NF"/>
              </a:rPr>
              <a:t>/hook/email/__init__.py:227</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/sharing/files.py:131</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/sharing/files.py:208</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/sharing/files.py:316</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/sharing/files.py:374</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/storage/</a:t>
            </a:r>
            <a:r>
              <a:rPr sz="1100" dirty="0" err="1">
                <a:solidFill>
                  <a:schemeClr val="tx2"/>
                </a:solidFill>
                <a:latin typeface="Maple Mono NF"/>
              </a:rPr>
              <a:t>multifilesystem</a:t>
            </a:r>
            <a:r>
              <a:rPr sz="1100" dirty="0">
                <a:solidFill>
                  <a:schemeClr val="tx2"/>
                </a:solidFill>
                <a:latin typeface="Maple Mono NF"/>
              </a:rPr>
              <a:t>/cache.py:109</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/storage/</a:t>
            </a:r>
            <a:r>
              <a:rPr sz="1100" dirty="0" err="1">
                <a:solidFill>
                  <a:schemeClr val="tx2"/>
                </a:solidFill>
                <a:latin typeface="Maple Mono NF"/>
              </a:rPr>
              <a:t>multifilesystem</a:t>
            </a:r>
            <a:r>
              <a:rPr sz="1100" dirty="0">
                <a:solidFill>
                  <a:schemeClr val="tx2"/>
                </a:solidFill>
                <a:latin typeface="Maple Mono NF"/>
              </a:rPr>
              <a:t>/history.py:53</a:t>
            </a:r>
          </a:p>
          <a:p>
            <a:pPr algn="l">
              <a:buNone/>
            </a:pPr>
            <a:r>
              <a:rPr sz="1100" dirty="0">
                <a:solidFill>
                  <a:schemeClr val="tx2"/>
                </a:solidFill>
                <a:latin typeface="Maple Mono NF"/>
              </a:rPr>
              <a:t>B301  MEDIUM  HIGH  </a:t>
            </a:r>
            <a:r>
              <a:rPr sz="1100" dirty="0" err="1">
                <a:solidFill>
                  <a:schemeClr val="tx2"/>
                </a:solidFill>
                <a:latin typeface="Maple Mono NF"/>
              </a:rPr>
              <a:t>radicale</a:t>
            </a:r>
            <a:r>
              <a:rPr sz="1100" dirty="0">
                <a:solidFill>
                  <a:schemeClr val="tx2"/>
                </a:solidFill>
                <a:latin typeface="Maple Mono NF"/>
              </a:rPr>
              <a:t>/storage/</a:t>
            </a:r>
            <a:r>
              <a:rPr sz="1100" dirty="0" err="1">
                <a:solidFill>
                  <a:schemeClr val="tx2"/>
                </a:solidFill>
                <a:latin typeface="Maple Mono NF"/>
              </a:rPr>
              <a:t>multifilesystem</a:t>
            </a:r>
            <a:r>
              <a:rPr sz="1100" dirty="0">
                <a:solidFill>
                  <a:schemeClr val="tx2"/>
                </a:solidFill>
                <a:latin typeface="Maple Mono NF"/>
              </a:rPr>
              <a:t>/sync.py:79</a:t>
            </a:r>
          </a:p>
          <a:p>
            <a:pPr algn="l">
              <a:buNone/>
            </a:pPr>
            <a:r>
              <a:rPr sz="1100" dirty="0">
                <a:solidFill>
                  <a:schemeClr val="tx2"/>
                </a:solidFill>
                <a:latin typeface="Maple Mono NF"/>
              </a:rPr>
              <a:t>B602  HIGH    HIGH  </a:t>
            </a:r>
            <a:r>
              <a:rPr sz="1100" dirty="0" err="1">
                <a:solidFill>
                  <a:schemeClr val="tx2"/>
                </a:solidFill>
                <a:latin typeface="Maple Mono NF"/>
              </a:rPr>
              <a:t>radicale</a:t>
            </a:r>
            <a:r>
              <a:rPr sz="1100" dirty="0">
                <a:solidFill>
                  <a:schemeClr val="tx2"/>
                </a:solidFill>
                <a:latin typeface="Maple Mono NF"/>
              </a:rPr>
              <a:t>/storage/</a:t>
            </a:r>
            <a:r>
              <a:rPr sz="1100" dirty="0" err="1">
                <a:solidFill>
                  <a:schemeClr val="tx2"/>
                </a:solidFill>
                <a:latin typeface="Maple Mono NF"/>
              </a:rPr>
              <a:t>multifilesystem</a:t>
            </a:r>
            <a:r>
              <a:rPr sz="1100" dirty="0">
                <a:solidFill>
                  <a:schemeClr val="tx2"/>
                </a:solidFill>
                <a:latin typeface="Maple Mono NF"/>
              </a:rPr>
              <a:t>/lock.py:102</a:t>
            </a:r>
          </a:p>
        </p:txBody>
      </p:sp>
      <p:sp>
        <p:nvSpPr>
          <p:cNvPr id="109" name="Rectangle 108"/>
          <p:cNvSpPr/>
          <p:nvPr/>
        </p:nvSpPr>
        <p:spPr>
          <a:xfrm>
            <a:off x="319251" y="3806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same command on the same commit returns the same ten alerts.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Bandit: one alert, as your agent receives it</a:t>
            </a:r>
          </a:p>
        </p:txBody>
      </p:sp>
      <p:sp>
        <p:nvSpPr>
          <p:cNvPr id="103" name="TextBox 2"/>
          <p:cNvSpPr txBox="1"/>
          <p:nvPr/>
        </p:nvSpPr>
        <p:spPr>
          <a:xfrm>
            <a:off x="319251" y="700000"/>
            <a:ext cx="5693866" cy="184666"/>
          </a:xfrm>
          <a:prstGeom prst="rect">
            <a:avLst/>
          </a:prstGeom>
          <a:noFill/>
        </p:spPr>
        <p:txBody>
          <a:bodyPr wrap="none" lIns="0" tIns="0" rIns="0" bIns="0">
            <a:spAutoFit/>
          </a:bodyPr>
          <a:lstStyle/>
          <a:p>
            <a:r>
              <a:rPr sz="1200" dirty="0" err="1">
                <a:solidFill>
                  <a:srgbClr val="28285E"/>
                </a:solidFill>
                <a:latin typeface="Fira Sans" panose="020B0503050000020004" pitchFamily="34" charset="0"/>
              </a:rPr>
              <a:t>radicale.bandit.json</a:t>
            </a:r>
            <a:r>
              <a:rPr sz="1200" dirty="0">
                <a:solidFill>
                  <a:srgbClr val="28285E"/>
                </a:solidFill>
                <a:latin typeface="Fira Sans" panose="020B0503050000020004" pitchFamily="34" charset="0"/>
              </a:rPr>
              <a:t>, the result for sharing/</a:t>
            </a:r>
            <a:r>
              <a:rPr sz="1200" dirty="0" err="1">
                <a:solidFill>
                  <a:srgbClr val="28285E"/>
                </a:solidFill>
                <a:latin typeface="Fira Sans" panose="020B0503050000020004" pitchFamily="34" charset="0"/>
              </a:rPr>
              <a:t>files.py</a:t>
            </a:r>
            <a:r>
              <a:rPr sz="1200" dirty="0">
                <a:solidFill>
                  <a:srgbClr val="28285E"/>
                </a:solidFill>
                <a:latin typeface="Fira Sans" panose="020B0503050000020004" pitchFamily="34" charset="0"/>
              </a:rPr>
              <a:t> line 131, code and message cut</a:t>
            </a:r>
          </a:p>
        </p:txBody>
      </p:sp>
      <p:sp>
        <p:nvSpPr>
          <p:cNvPr id="104" name="Rounded Rectangle 2">
            <a:extLst>
              <a:ext uri="{FF2B5EF4-FFF2-40B4-BE49-F238E27FC236}">
                <a16:creationId xmlns:a16="http://schemas.microsoft.com/office/drawing/2014/main" id="{522467AF-9835-25C5-1529-A4C841E246CF}"/>
              </a:ext>
            </a:extLst>
          </p:cNvPr>
          <p:cNvSpPr/>
          <p:nvPr/>
        </p:nvSpPr>
        <p:spPr>
          <a:xfrm>
            <a:off x="319251" y="960000"/>
            <a:ext cx="6014545" cy="2616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3">
            <a:extLst>
              <a:ext uri="{FF2B5EF4-FFF2-40B4-BE49-F238E27FC236}">
                <a16:creationId xmlns:a16="http://schemas.microsoft.com/office/drawing/2014/main" id="{72412C4C-9068-59FD-FA3C-983078C86E66}"/>
              </a:ext>
            </a:extLst>
          </p:cNvPr>
          <p:cNvSpPr/>
          <p:nvPr/>
        </p:nvSpPr>
        <p:spPr>
          <a:xfrm>
            <a:off x="371717" y="1003816"/>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7">
            <a:extLst>
              <a:ext uri="{FF2B5EF4-FFF2-40B4-BE49-F238E27FC236}">
                <a16:creationId xmlns:a16="http://schemas.microsoft.com/office/drawing/2014/main" id="{94578101-3902-FDEE-677E-CD15B4570CB9}"/>
              </a:ext>
            </a:extLst>
          </p:cNvPr>
          <p:cNvSpPr/>
          <p:nvPr/>
        </p:nvSpPr>
        <p:spPr>
          <a:xfrm>
            <a:off x="566589" y="1003816"/>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8">
            <a:extLst>
              <a:ext uri="{FF2B5EF4-FFF2-40B4-BE49-F238E27FC236}">
                <a16:creationId xmlns:a16="http://schemas.microsoft.com/office/drawing/2014/main" id="{7AA0B79B-22E4-CED9-0B6B-98792DEFD5FA}"/>
              </a:ext>
            </a:extLst>
          </p:cNvPr>
          <p:cNvSpPr/>
          <p:nvPr/>
        </p:nvSpPr>
        <p:spPr>
          <a:xfrm>
            <a:off x="761461" y="1003816"/>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p:cNvSpPr txBox="1"/>
          <p:nvPr/>
        </p:nvSpPr>
        <p:spPr>
          <a:xfrm>
            <a:off x="469251" y="1290000"/>
            <a:ext cx="5182509" cy="2031325"/>
          </a:xfrm>
          <a:prstGeom prst="rect">
            <a:avLst/>
          </a:prstGeom>
          <a:noFill/>
        </p:spPr>
        <p:txBody>
          <a:bodyPr wrap="none" lIns="0" tIns="0" rIns="0" bIns="0" anchor="t">
            <a:spAutoFit/>
          </a:bodyPr>
          <a:lstStyle/>
          <a:p>
            <a:pPr algn="l">
              <a:buNone/>
            </a:pP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a:t>
            </a:r>
            <a:r>
              <a:rPr sz="1100" dirty="0" err="1">
                <a:solidFill>
                  <a:srgbClr val="9CDCFE"/>
                </a:solidFill>
                <a:latin typeface="Maple Mono NF"/>
              </a:rPr>
              <a:t>test_id</a:t>
            </a:r>
            <a:r>
              <a:rPr sz="1100" dirty="0">
                <a:solidFill>
                  <a:srgbClr val="9CDCFE"/>
                </a:solidFill>
                <a:latin typeface="Maple Mono NF"/>
              </a:rPr>
              <a:t>"</a:t>
            </a:r>
            <a:r>
              <a:rPr sz="1100" dirty="0">
                <a:solidFill>
                  <a:schemeClr val="tx2"/>
                </a:solidFill>
                <a:latin typeface="Maple Mono NF"/>
              </a:rPr>
              <a:t>: </a:t>
            </a:r>
            <a:r>
              <a:rPr sz="1100" dirty="0">
                <a:solidFill>
                  <a:srgbClr val="CE9178"/>
                </a:solidFill>
                <a:latin typeface="Maple Mono NF"/>
              </a:rPr>
              <a:t>"B301"</a:t>
            </a: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a:t>
            </a:r>
            <a:r>
              <a:rPr sz="1100" dirty="0" err="1">
                <a:solidFill>
                  <a:srgbClr val="9CDCFE"/>
                </a:solidFill>
                <a:latin typeface="Maple Mono NF"/>
              </a:rPr>
              <a:t>test_name</a:t>
            </a:r>
            <a:r>
              <a:rPr sz="1100" dirty="0">
                <a:solidFill>
                  <a:srgbClr val="9CDCFE"/>
                </a:solidFill>
                <a:latin typeface="Maple Mono NF"/>
              </a:rPr>
              <a:t>"</a:t>
            </a:r>
            <a:r>
              <a:rPr sz="1100" dirty="0">
                <a:solidFill>
                  <a:schemeClr val="tx2"/>
                </a:solidFill>
                <a:latin typeface="Maple Mono NF"/>
              </a:rPr>
              <a:t>: </a:t>
            </a:r>
            <a:r>
              <a:rPr sz="1100" dirty="0">
                <a:solidFill>
                  <a:srgbClr val="CE9178"/>
                </a:solidFill>
                <a:latin typeface="Maple Mono NF"/>
              </a:rPr>
              <a:t>"blacklist"</a:t>
            </a: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a:t>
            </a:r>
            <a:r>
              <a:rPr sz="1100" dirty="0" err="1">
                <a:solidFill>
                  <a:srgbClr val="9CDCFE"/>
                </a:solidFill>
                <a:latin typeface="Maple Mono NF"/>
              </a:rPr>
              <a:t>issue_severity</a:t>
            </a:r>
            <a:r>
              <a:rPr sz="1100" dirty="0">
                <a:solidFill>
                  <a:srgbClr val="9CDCFE"/>
                </a:solidFill>
                <a:latin typeface="Maple Mono NF"/>
              </a:rPr>
              <a:t>"</a:t>
            </a:r>
            <a:r>
              <a:rPr sz="1100" dirty="0">
                <a:solidFill>
                  <a:schemeClr val="tx2"/>
                </a:solidFill>
                <a:latin typeface="Maple Mono NF"/>
              </a:rPr>
              <a:t>: </a:t>
            </a:r>
            <a:r>
              <a:rPr sz="1100" dirty="0">
                <a:solidFill>
                  <a:srgbClr val="CE9178"/>
                </a:solidFill>
                <a:latin typeface="Maple Mono NF"/>
              </a:rPr>
              <a:t>"MEDIUM"</a:t>
            </a: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a:t>
            </a:r>
            <a:r>
              <a:rPr sz="1100" dirty="0" err="1">
                <a:solidFill>
                  <a:srgbClr val="9CDCFE"/>
                </a:solidFill>
                <a:latin typeface="Maple Mono NF"/>
              </a:rPr>
              <a:t>issue_confidence</a:t>
            </a:r>
            <a:r>
              <a:rPr sz="1100" dirty="0">
                <a:solidFill>
                  <a:srgbClr val="9CDCFE"/>
                </a:solidFill>
                <a:latin typeface="Maple Mono NF"/>
              </a:rPr>
              <a:t>"</a:t>
            </a:r>
            <a:r>
              <a:rPr sz="1100" dirty="0">
                <a:solidFill>
                  <a:schemeClr val="tx2"/>
                </a:solidFill>
                <a:latin typeface="Maple Mono NF"/>
              </a:rPr>
              <a:t>: </a:t>
            </a:r>
            <a:r>
              <a:rPr sz="1100" dirty="0">
                <a:solidFill>
                  <a:srgbClr val="CE9178"/>
                </a:solidFill>
                <a:latin typeface="Maple Mono NF"/>
              </a:rPr>
              <a:t>"HIGH"</a:t>
            </a: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a:t>
            </a:r>
            <a:r>
              <a:rPr sz="1100" dirty="0" err="1">
                <a:solidFill>
                  <a:srgbClr val="9CDCFE"/>
                </a:solidFill>
                <a:latin typeface="Maple Mono NF"/>
              </a:rPr>
              <a:t>issue_cwe</a:t>
            </a:r>
            <a:r>
              <a:rPr sz="1100" dirty="0">
                <a:solidFill>
                  <a:srgbClr val="9CDCFE"/>
                </a:solidFill>
                <a:latin typeface="Maple Mono NF"/>
              </a:rPr>
              <a:t>"</a:t>
            </a:r>
            <a:r>
              <a:rPr sz="1100" dirty="0">
                <a:solidFill>
                  <a:schemeClr val="tx2"/>
                </a:solidFill>
                <a:latin typeface="Maple Mono NF"/>
              </a:rPr>
              <a:t>: {</a:t>
            </a:r>
          </a:p>
          <a:p>
            <a:pPr algn="l">
              <a:buNone/>
            </a:pPr>
            <a:r>
              <a:rPr sz="1100" dirty="0">
                <a:solidFill>
                  <a:schemeClr val="tx2"/>
                </a:solidFill>
                <a:latin typeface="Maple Mono NF"/>
              </a:rPr>
              <a:t>    </a:t>
            </a:r>
            <a:r>
              <a:rPr sz="1100" dirty="0">
                <a:solidFill>
                  <a:srgbClr val="9CDCFE"/>
                </a:solidFill>
                <a:latin typeface="Maple Mono NF"/>
              </a:rPr>
              <a:t>"id"</a:t>
            </a:r>
            <a:r>
              <a:rPr sz="1100" dirty="0">
                <a:solidFill>
                  <a:schemeClr val="tx2"/>
                </a:solidFill>
                <a:latin typeface="Maple Mono NF"/>
              </a:rPr>
              <a:t>: </a:t>
            </a:r>
            <a:r>
              <a:rPr sz="1100" dirty="0">
                <a:solidFill>
                  <a:srgbClr val="B5CEA8"/>
                </a:solidFill>
                <a:latin typeface="Maple Mono NF"/>
              </a:rPr>
              <a:t>502</a:t>
            </a: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"link"</a:t>
            </a:r>
            <a:r>
              <a:rPr sz="1100" dirty="0">
                <a:solidFill>
                  <a:schemeClr val="tx2"/>
                </a:solidFill>
                <a:latin typeface="Maple Mono NF"/>
              </a:rPr>
              <a:t>: </a:t>
            </a:r>
            <a:r>
              <a:rPr sz="1100" dirty="0">
                <a:solidFill>
                  <a:srgbClr val="CE9178"/>
                </a:solidFill>
                <a:latin typeface="Maple Mono NF"/>
              </a:rPr>
              <a:t>"https://</a:t>
            </a:r>
            <a:r>
              <a:rPr sz="1100" dirty="0" err="1">
                <a:solidFill>
                  <a:srgbClr val="CE9178"/>
                </a:solidFill>
                <a:latin typeface="Maple Mono NF"/>
              </a:rPr>
              <a:t>cwe.mitre.org</a:t>
            </a:r>
            <a:r>
              <a:rPr sz="1100" dirty="0">
                <a:solidFill>
                  <a:srgbClr val="CE9178"/>
                </a:solidFill>
                <a:latin typeface="Maple Mono NF"/>
              </a:rPr>
              <a:t>/data/definitions/502.html"</a:t>
            </a:r>
          </a:p>
          <a:p>
            <a:pPr algn="l">
              <a:buNone/>
            </a:pPr>
            <a:r>
              <a:rPr sz="1100" dirty="0">
                <a:solidFill>
                  <a:schemeClr val="tx2"/>
                </a:solidFill>
                <a:latin typeface="Maple Mono NF"/>
              </a:rPr>
              <a:t>  },</a:t>
            </a:r>
          </a:p>
          <a:p>
            <a:pPr algn="l">
              <a:buNone/>
            </a:pPr>
            <a:r>
              <a:rPr sz="1100" dirty="0">
                <a:solidFill>
                  <a:schemeClr val="tx2"/>
                </a:solidFill>
                <a:latin typeface="Maple Mono NF"/>
              </a:rPr>
              <a:t>  </a:t>
            </a:r>
            <a:r>
              <a:rPr sz="1100" dirty="0">
                <a:solidFill>
                  <a:srgbClr val="9CDCFE"/>
                </a:solidFill>
                <a:latin typeface="Maple Mono NF"/>
              </a:rPr>
              <a:t>"filename"</a:t>
            </a:r>
            <a:r>
              <a:rPr sz="1100" dirty="0">
                <a:solidFill>
                  <a:schemeClr val="tx2"/>
                </a:solidFill>
                <a:latin typeface="Maple Mono NF"/>
              </a:rPr>
              <a:t>: </a:t>
            </a:r>
            <a:r>
              <a:rPr sz="1100" dirty="0">
                <a:solidFill>
                  <a:srgbClr val="CE9178"/>
                </a:solidFill>
                <a:latin typeface="Maple Mono NF"/>
              </a:rPr>
              <a:t>"</a:t>
            </a:r>
            <a:r>
              <a:rPr sz="1100" dirty="0" err="1">
                <a:solidFill>
                  <a:srgbClr val="CE9178"/>
                </a:solidFill>
                <a:latin typeface="Maple Mono NF"/>
              </a:rPr>
              <a:t>radicale</a:t>
            </a:r>
            <a:r>
              <a:rPr sz="1100" dirty="0">
                <a:solidFill>
                  <a:srgbClr val="CE9178"/>
                </a:solidFill>
                <a:latin typeface="Maple Mono NF"/>
              </a:rPr>
              <a:t>/sharing/</a:t>
            </a:r>
            <a:r>
              <a:rPr sz="1100" dirty="0" err="1">
                <a:solidFill>
                  <a:srgbClr val="CE9178"/>
                </a:solidFill>
                <a:latin typeface="Maple Mono NF"/>
              </a:rPr>
              <a:t>files.py</a:t>
            </a:r>
            <a:r>
              <a:rPr sz="1100" dirty="0">
                <a:solidFill>
                  <a:srgbClr val="CE9178"/>
                </a:solidFill>
                <a:latin typeface="Maple Mono NF"/>
              </a:rPr>
              <a:t>"</a:t>
            </a:r>
            <a:r>
              <a:rPr sz="1100" dirty="0">
                <a:solidFill>
                  <a:schemeClr val="tx2"/>
                </a:solidFill>
                <a:latin typeface="Maple Mono NF"/>
              </a:rPr>
              <a:t>,</a:t>
            </a:r>
          </a:p>
          <a:p>
            <a:pPr algn="l">
              <a:buNone/>
            </a:pPr>
            <a:r>
              <a:rPr sz="1100" dirty="0">
                <a:solidFill>
                  <a:schemeClr val="tx2"/>
                </a:solidFill>
                <a:latin typeface="Maple Mono NF"/>
              </a:rPr>
              <a:t>  </a:t>
            </a:r>
            <a:r>
              <a:rPr sz="1100" dirty="0">
                <a:solidFill>
                  <a:srgbClr val="9CDCFE"/>
                </a:solidFill>
                <a:latin typeface="Maple Mono NF"/>
              </a:rPr>
              <a:t>"</a:t>
            </a:r>
            <a:r>
              <a:rPr sz="1100" dirty="0" err="1">
                <a:solidFill>
                  <a:srgbClr val="9CDCFE"/>
                </a:solidFill>
                <a:latin typeface="Maple Mono NF"/>
              </a:rPr>
              <a:t>line_number</a:t>
            </a:r>
            <a:r>
              <a:rPr sz="1100" dirty="0">
                <a:solidFill>
                  <a:srgbClr val="9CDCFE"/>
                </a:solidFill>
                <a:latin typeface="Maple Mono NF"/>
              </a:rPr>
              <a:t>"</a:t>
            </a:r>
            <a:r>
              <a:rPr sz="1100" dirty="0">
                <a:solidFill>
                  <a:schemeClr val="tx2"/>
                </a:solidFill>
                <a:latin typeface="Maple Mono NF"/>
              </a:rPr>
              <a:t>: </a:t>
            </a:r>
            <a:r>
              <a:rPr sz="1100" dirty="0">
                <a:solidFill>
                  <a:srgbClr val="B5CEA8"/>
                </a:solidFill>
                <a:latin typeface="Maple Mono NF"/>
              </a:rPr>
              <a:t>131</a:t>
            </a:r>
          </a:p>
          <a:p>
            <a:pPr algn="l">
              <a:buNone/>
            </a:pPr>
            <a:r>
              <a:rPr sz="1100" dirty="0">
                <a:solidFill>
                  <a:schemeClr val="tx2"/>
                </a:solidFill>
                <a:latin typeface="Maple Mono NF"/>
              </a:rPr>
              <a:t>}</a:t>
            </a:r>
          </a:p>
        </p:txBody>
      </p:sp>
      <p:sp>
        <p:nvSpPr>
          <p:cNvPr id="109" name="Rectangle 108"/>
          <p:cNvSpPr/>
          <p:nvPr/>
        </p:nvSpPr>
        <p:spPr>
          <a:xfrm>
            <a:off x="319251" y="3806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CWE field names the kind of flaw the rule believes it found.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1910031"/>
            <a:ext cx="5000000" cy="1323439"/>
          </a:xfrm>
          <a:prstGeom prst="rect">
            <a:avLst/>
          </a:prstGeom>
          <a:noFill/>
        </p:spPr>
        <p:txBody>
          <a:bodyPr wrap="square" anchor="ctr">
            <a:spAutoFit/>
          </a:bodyPr>
          <a:lstStyle/>
          <a:p>
            <a:pPr algn="ctr"/>
            <a:r>
              <a:rPr sz="4000" dirty="0">
                <a:solidFill>
                  <a:schemeClr val="tx2"/>
                </a:solidFill>
                <a:latin typeface="+mj-lt"/>
              </a:rPr>
              <a:t>From weakness to exploit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Vulnerability: when a weakness can be reached</a:t>
            </a:r>
          </a:p>
        </p:txBody>
      </p:sp>
      <p:sp>
        <p:nvSpPr>
          <p:cNvPr id="3" name="Content Placeholder 2"/>
          <p:cNvSpPr>
            <a:spLocks noGrp="1"/>
          </p:cNvSpPr>
          <p:nvPr>
            <p:ph idx="1"/>
          </p:nvPr>
        </p:nvSpPr>
        <p:spPr>
          <a:xfrm>
            <a:off x="319251" y="700000"/>
            <a:ext cx="6014545" cy="2420688"/>
          </a:xfrm>
        </p:spPr>
        <p:txBody>
          <a:bodyPr wrap="square" anchor="ctr">
            <a:normAutofit fontScale="92500" lnSpcReduction="10000"/>
          </a:bodyPr>
          <a:lstStyle/>
          <a:p>
            <a:pPr marL="0" indent="0">
              <a:buNone/>
            </a:pPr>
            <a:r>
              <a:rPr sz="1400" b="1">
                <a:solidFill>
                  <a:srgbClr val="28285E"/>
                </a:solidFill>
              </a:rPr>
              <a:t>A weakness is a kind of flaw. It becomes a vulnerability when a program lets an attacker reach it.</a:t>
            </a:r>
          </a:p>
          <a:p>
            <a:pPr marL="400050" indent="-285750">
              <a:spcBef>
                <a:spcPts val="600"/>
              </a:spcBef>
              <a:spcAft>
                <a:spcPts val="600"/>
              </a:spcAft>
              <a:buClr>
                <a:srgbClr val="28285E"/>
              </a:buClr>
              <a:buSzPts val="1260"/>
              <a:buFont typeface="+mn-lt"/>
              <a:buChar char="●"/>
            </a:pPr>
            <a:r>
              <a:rPr sz="1400" b="1">
                <a:solidFill>
                  <a:schemeClr val="tx1"/>
                </a:solidFill>
              </a:rPr>
              <a:t>The attacker's data</a:t>
            </a:r>
            <a:r>
              <a:rPr sz="1400" b="0">
                <a:solidFill>
                  <a:schemeClr val="tx1"/>
                </a:solidFill>
              </a:rPr>
              <a:t> enters at the surface and travels to a sink, the call where it does harm.</a:t>
            </a:r>
          </a:p>
          <a:p>
            <a:pPr marL="400050" indent="-285750">
              <a:spcBef>
                <a:spcPts val="600"/>
              </a:spcBef>
              <a:spcAft>
                <a:spcPts val="600"/>
              </a:spcAft>
              <a:buClr>
                <a:srgbClr val="28285E"/>
              </a:buClr>
              <a:buSzPts val="1260"/>
              <a:buFont typeface="+mn-lt"/>
              <a:buChar char="●"/>
            </a:pPr>
            <a:r>
              <a:rPr sz="1400" b="1">
                <a:solidFill>
                  <a:schemeClr val="tx1"/>
                </a:solidFill>
              </a:rPr>
              <a:t>No check</a:t>
            </a:r>
            <a:r>
              <a:rPr sz="1400" b="0">
                <a:solidFill>
                  <a:schemeClr val="tx1"/>
                </a:solidFill>
              </a:rPr>
              <a:t> on the way removes the danger: no parameter binding, no validation, no constant in its place.</a:t>
            </a:r>
          </a:p>
          <a:p>
            <a:pPr marL="400050" indent="-285750">
              <a:spcBef>
                <a:spcPts val="600"/>
              </a:spcBef>
              <a:spcAft>
                <a:spcPts val="600"/>
              </a:spcAft>
              <a:buClr>
                <a:srgbClr val="28285E"/>
              </a:buClr>
              <a:buSzPts val="1260"/>
              <a:buFont typeface="+mn-lt"/>
              <a:buChar char="●"/>
            </a:pPr>
            <a:r>
              <a:rPr sz="1400" b="1">
                <a:solidFill>
                  <a:schemeClr val="tx1"/>
                </a:solidFill>
              </a:rPr>
              <a:t>The harm</a:t>
            </a:r>
            <a:r>
              <a:rPr sz="1400" b="0">
                <a:solidFill>
                  <a:schemeClr val="tx1"/>
                </a:solidFill>
              </a:rPr>
              <a:t> matters under the threat model, such as running the attacker's code.</a:t>
            </a:r>
          </a:p>
        </p:txBody>
      </p:sp>
      <p:sp>
        <p:nvSpPr>
          <p:cNvPr id="4" name="Rectangle 3"/>
          <p:cNvSpPr/>
          <p:nvPr/>
        </p:nvSpPr>
        <p:spPr>
          <a:xfrm>
            <a:off x="319251" y="3350688"/>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vulnerability is a weakness an attacker can reach in a running program, and an exploit is an input that reaches it.</a:t>
            </a:r>
          </a:p>
        </p:txBody>
      </p:sp>
      <p:sp>
        <p:nvSpPr>
          <p:cNvPr id="5" name="Rectangle 4"/>
          <p:cNvSpPr/>
          <p:nvPr/>
        </p:nvSpPr>
        <p:spPr>
          <a:xfrm>
            <a:off x="319251" y="42504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label of 1 claims that this path exists, and the rationale has to show 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SQL injection, real: the interpolated query</a:t>
            </a:r>
          </a:p>
        </p:txBody>
      </p:sp>
      <p:sp>
        <p:nvSpPr>
          <p:cNvPr id="103" name="TextBox 2"/>
          <p:cNvSpPr txBox="1"/>
          <p:nvPr/>
        </p:nvSpPr>
        <p:spPr>
          <a:xfrm>
            <a:off x="319251" y="700000"/>
            <a:ext cx="6014545" cy="310576"/>
          </a:xfrm>
          <a:prstGeom prst="rect">
            <a:avLst/>
          </a:prstGeom>
          <a:noFill/>
        </p:spPr>
        <p:txBody>
          <a:bodyPr wrap="square" anchor="t">
            <a:spAutoFit/>
          </a:bodyPr>
          <a:lstStyle/>
          <a:p>
            <a:r>
              <a:rPr sz="1400" dirty="0">
                <a:solidFill>
                  <a:srgbClr val="28285E"/>
                </a:solidFill>
                <a:latin typeface="Fira Sans" panose="020B0503050000020004" pitchFamily="34" charset="0"/>
              </a:rPr>
              <a:t>The form value arrives as bar, and line 46 pastes it into the query text.</a:t>
            </a:r>
          </a:p>
        </p:txBody>
      </p:sp>
      <p:sp>
        <p:nvSpPr>
          <p:cNvPr id="104" name="TextBox 3"/>
          <p:cNvSpPr txBox="1"/>
          <p:nvPr/>
        </p:nvSpPr>
        <p:spPr>
          <a:xfrm>
            <a:off x="319251" y="1240576"/>
            <a:ext cx="4655121"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BenchmarkTest00099.py, BenchmarkTest00099_post, lines 42 to 49</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500576"/>
            <a:ext cx="6014545" cy="1548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544392"/>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544392"/>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544392"/>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1830576"/>
            <a:ext cx="5607304" cy="1015663"/>
          </a:xfrm>
          <a:prstGeom prst="rect">
            <a:avLst/>
          </a:prstGeom>
          <a:noFill/>
        </p:spPr>
        <p:txBody>
          <a:bodyPr wrap="none" lIns="0" tIns="0" rIns="0" bIns="0" anchor="t">
            <a:spAutoFit/>
          </a:bodyPr>
          <a:lstStyle/>
          <a:p>
            <a:pPr algn="l">
              <a:buNone/>
            </a:pPr>
            <a:r>
              <a:rPr sz="1100" dirty="0">
                <a:solidFill>
                  <a:srgbClr val="8A8A9A"/>
                </a:solidFill>
                <a:latin typeface="Maple Mono NF"/>
              </a:rPr>
              <a:t> 42 </a:t>
            </a:r>
            <a:r>
              <a:rPr sz="1100" dirty="0">
                <a:solidFill>
                  <a:srgbClr val="9CDCFE"/>
                </a:solidFill>
                <a:latin typeface="Maple Mono NF"/>
              </a:rPr>
              <a:t>bar</a:t>
            </a:r>
            <a:r>
              <a:rPr sz="1100" dirty="0">
                <a:solidFill>
                  <a:schemeClr val="tx2"/>
                </a:solidFill>
                <a:latin typeface="Maple Mono NF"/>
              </a:rPr>
              <a:t> = </a:t>
            </a:r>
            <a:r>
              <a:rPr sz="1100" dirty="0">
                <a:solidFill>
                  <a:srgbClr val="9CDCFE"/>
                </a:solidFill>
                <a:latin typeface="Maple Mono NF"/>
              </a:rPr>
              <a:t>conf52528</a:t>
            </a:r>
            <a:r>
              <a:rPr sz="1100" dirty="0">
                <a:solidFill>
                  <a:schemeClr val="tx2"/>
                </a:solidFill>
                <a:latin typeface="Maple Mono NF"/>
              </a:rPr>
              <a:t>.</a:t>
            </a:r>
            <a:r>
              <a:rPr sz="1100" dirty="0">
                <a:solidFill>
                  <a:srgbClr val="DCDCAA"/>
                </a:solidFill>
                <a:latin typeface="Maple Mono NF"/>
              </a:rPr>
              <a:t>get</a:t>
            </a:r>
            <a:r>
              <a:rPr sz="1100" dirty="0">
                <a:solidFill>
                  <a:schemeClr val="tx2"/>
                </a:solidFill>
                <a:latin typeface="Maple Mono NF"/>
              </a:rPr>
              <a:t>(</a:t>
            </a:r>
            <a:r>
              <a:rPr sz="1100" dirty="0">
                <a:solidFill>
                  <a:srgbClr val="CE9178"/>
                </a:solidFill>
                <a:latin typeface="Maple Mono NF"/>
              </a:rPr>
              <a:t>'section52528'</a:t>
            </a:r>
            <a:r>
              <a:rPr sz="1100" dirty="0">
                <a:solidFill>
                  <a:schemeClr val="tx2"/>
                </a:solidFill>
                <a:latin typeface="Maple Mono NF"/>
              </a:rPr>
              <a:t>, </a:t>
            </a:r>
            <a:r>
              <a:rPr sz="1100" dirty="0">
                <a:solidFill>
                  <a:srgbClr val="CE9178"/>
                </a:solidFill>
                <a:latin typeface="Maple Mono NF"/>
              </a:rPr>
              <a:t>'keyB-52528'</a:t>
            </a:r>
            <a:r>
              <a:rPr sz="1100" dirty="0">
                <a:solidFill>
                  <a:schemeClr val="tx2"/>
                </a:solidFill>
                <a:latin typeface="Maple Mono NF"/>
              </a:rPr>
              <a:t>)</a:t>
            </a:r>
          </a:p>
          <a:p>
            <a:pPr algn="l">
              <a:buNone/>
            </a:pPr>
            <a:r>
              <a:rPr sz="1100" dirty="0">
                <a:solidFill>
                  <a:srgbClr val="8A8A9A"/>
                </a:solidFill>
                <a:latin typeface="Maple Mono NF"/>
              </a:rPr>
              <a:t>    </a:t>
            </a:r>
            <a:r>
              <a:rPr sz="1100" dirty="0">
                <a:solidFill>
                  <a:schemeClr val="accent4"/>
                </a:solidFill>
                <a:latin typeface="Maple Mono NF"/>
              </a:rPr>
              <a:t># ours: bar becomes part of the statement text</a:t>
            </a:r>
          </a:p>
          <a:p>
            <a:pPr algn="l">
              <a:buNone/>
            </a:pPr>
            <a:r>
              <a:rPr sz="1100" dirty="0">
                <a:solidFill>
                  <a:srgbClr val="8A8A9A"/>
                </a:solidFill>
                <a:latin typeface="Maple Mono NF"/>
              </a:rPr>
              <a:t> 46 </a:t>
            </a:r>
            <a:r>
              <a:rPr sz="1100" dirty="0" err="1">
                <a:solidFill>
                  <a:srgbClr val="9CDCFE"/>
                </a:solidFill>
                <a:latin typeface="Maple Mono NF"/>
              </a:rPr>
              <a:t>sql</a:t>
            </a:r>
            <a:r>
              <a:rPr sz="1100" dirty="0">
                <a:solidFill>
                  <a:schemeClr val="tx2"/>
                </a:solidFill>
                <a:latin typeface="Maple Mono NF"/>
              </a:rPr>
              <a:t> = </a:t>
            </a:r>
            <a:r>
              <a:rPr sz="1100" dirty="0" err="1">
                <a:solidFill>
                  <a:srgbClr val="569CD6"/>
                </a:solidFill>
                <a:latin typeface="Maple Mono NF"/>
              </a:rPr>
              <a:t>f</a:t>
            </a:r>
            <a:r>
              <a:rPr sz="1100" dirty="0" err="1">
                <a:solidFill>
                  <a:srgbClr val="CE9178"/>
                </a:solidFill>
                <a:latin typeface="Maple Mono NF"/>
              </a:rPr>
              <a:t>'SELECT</a:t>
            </a:r>
            <a:r>
              <a:rPr sz="1100" dirty="0">
                <a:solidFill>
                  <a:srgbClr val="CE9178"/>
                </a:solidFill>
                <a:latin typeface="Maple Mono NF"/>
              </a:rPr>
              <a:t> username from USERS where password = \'</a:t>
            </a:r>
            <a:r>
              <a:rPr sz="1100" dirty="0">
                <a:solidFill>
                  <a:srgbClr val="569CD6"/>
                </a:solidFill>
                <a:latin typeface="Maple Mono NF"/>
              </a:rPr>
              <a:t>{</a:t>
            </a:r>
            <a:r>
              <a:rPr sz="1100" dirty="0">
                <a:solidFill>
                  <a:srgbClr val="9CDCFE"/>
                </a:solidFill>
                <a:latin typeface="Maple Mono NF"/>
              </a:rPr>
              <a:t>bar</a:t>
            </a:r>
            <a:r>
              <a:rPr sz="1100" dirty="0">
                <a:solidFill>
                  <a:srgbClr val="569CD6"/>
                </a:solidFill>
                <a:latin typeface="Maple Mono NF"/>
              </a:rPr>
              <a:t>}</a:t>
            </a:r>
            <a:r>
              <a:rPr sz="1100" dirty="0">
                <a:solidFill>
                  <a:srgbClr val="CE9178"/>
                </a:solidFill>
                <a:latin typeface="Maple Mono NF"/>
              </a:rPr>
              <a:t>\''</a:t>
            </a:r>
          </a:p>
          <a:p>
            <a:pPr algn="l">
              <a:buNone/>
            </a:pPr>
            <a:r>
              <a:rPr sz="1100" dirty="0">
                <a:solidFill>
                  <a:srgbClr val="8A8A9A"/>
                </a:solidFill>
                <a:latin typeface="Maple Mono NF"/>
              </a:rPr>
              <a:t> 47 </a:t>
            </a:r>
            <a:r>
              <a:rPr sz="1100" dirty="0">
                <a:solidFill>
                  <a:srgbClr val="9CDCFE"/>
                </a:solidFill>
                <a:latin typeface="Maple Mono NF"/>
              </a:rPr>
              <a:t>con</a:t>
            </a:r>
            <a:r>
              <a:rPr sz="1100" dirty="0">
                <a:solidFill>
                  <a:schemeClr val="tx2"/>
                </a:solidFill>
                <a:latin typeface="Maple Mono NF"/>
              </a:rPr>
              <a:t> = </a:t>
            </a:r>
            <a:r>
              <a:rPr sz="1100" dirty="0" err="1">
                <a:solidFill>
                  <a:srgbClr val="9CDCFE"/>
                </a:solidFill>
                <a:latin typeface="Maple Mono NF"/>
              </a:rPr>
              <a:t>helpers</a:t>
            </a:r>
            <a:r>
              <a:rPr sz="1100" dirty="0" err="1">
                <a:solidFill>
                  <a:schemeClr val="tx2"/>
                </a:solidFill>
                <a:latin typeface="Maple Mono NF"/>
              </a:rPr>
              <a:t>.</a:t>
            </a:r>
            <a:r>
              <a:rPr sz="1100" dirty="0" err="1">
                <a:solidFill>
                  <a:srgbClr val="9CDCFE"/>
                </a:solidFill>
                <a:latin typeface="Maple Mono NF"/>
              </a:rPr>
              <a:t>db_sqlite</a:t>
            </a:r>
            <a:r>
              <a:rPr sz="1100" dirty="0" err="1">
                <a:solidFill>
                  <a:schemeClr val="tx2"/>
                </a:solidFill>
                <a:latin typeface="Maple Mono NF"/>
              </a:rPr>
              <a:t>.</a:t>
            </a:r>
            <a:r>
              <a:rPr sz="1100" dirty="0" err="1">
                <a:solidFill>
                  <a:srgbClr val="DCDCAA"/>
                </a:solidFill>
                <a:latin typeface="Maple Mono NF"/>
              </a:rPr>
              <a:t>get_connection</a:t>
            </a:r>
            <a:r>
              <a:rPr sz="1100" dirty="0">
                <a:solidFill>
                  <a:schemeClr val="tx2"/>
                </a:solidFill>
                <a:latin typeface="Maple Mono NF"/>
              </a:rPr>
              <a:t>()</a:t>
            </a:r>
          </a:p>
          <a:p>
            <a:pPr algn="l">
              <a:buNone/>
            </a:pPr>
            <a:r>
              <a:rPr sz="1100" dirty="0">
                <a:solidFill>
                  <a:srgbClr val="8A8A9A"/>
                </a:solidFill>
                <a:latin typeface="Maple Mono NF"/>
              </a:rPr>
              <a:t> 48 </a:t>
            </a:r>
            <a:r>
              <a:rPr sz="1100" dirty="0">
                <a:solidFill>
                  <a:srgbClr val="9CDCFE"/>
                </a:solidFill>
                <a:latin typeface="Maple Mono NF"/>
              </a:rPr>
              <a:t>cur</a:t>
            </a:r>
            <a:r>
              <a:rPr sz="1100" dirty="0">
                <a:solidFill>
                  <a:schemeClr val="tx2"/>
                </a:solidFill>
                <a:latin typeface="Maple Mono NF"/>
              </a:rPr>
              <a:t> = </a:t>
            </a:r>
            <a:r>
              <a:rPr sz="1100" dirty="0" err="1">
                <a:solidFill>
                  <a:srgbClr val="9CDCFE"/>
                </a:solidFill>
                <a:latin typeface="Maple Mono NF"/>
              </a:rPr>
              <a:t>con</a:t>
            </a:r>
            <a:r>
              <a:rPr sz="1100" dirty="0" err="1">
                <a:solidFill>
                  <a:schemeClr val="tx2"/>
                </a:solidFill>
                <a:latin typeface="Maple Mono NF"/>
              </a:rPr>
              <a:t>.</a:t>
            </a:r>
            <a:r>
              <a:rPr sz="1100" dirty="0" err="1">
                <a:solidFill>
                  <a:srgbClr val="DCDCAA"/>
                </a:solidFill>
                <a:latin typeface="Maple Mono NF"/>
              </a:rPr>
              <a:t>cursor</a:t>
            </a:r>
            <a:r>
              <a:rPr sz="1100" dirty="0">
                <a:solidFill>
                  <a:schemeClr val="tx2"/>
                </a:solidFill>
                <a:latin typeface="Maple Mono NF"/>
              </a:rPr>
              <a:t>()</a:t>
            </a:r>
          </a:p>
          <a:p>
            <a:pPr algn="l">
              <a:buNone/>
            </a:pPr>
            <a:r>
              <a:rPr sz="1100" dirty="0">
                <a:solidFill>
                  <a:srgbClr val="8A8A9A"/>
                </a:solidFill>
                <a:latin typeface="Maple Mono NF"/>
              </a:rPr>
              <a:t> 49 </a:t>
            </a:r>
            <a:r>
              <a:rPr sz="1100" dirty="0" err="1">
                <a:solidFill>
                  <a:srgbClr val="9CDCFE"/>
                </a:solidFill>
                <a:latin typeface="Maple Mono NF"/>
              </a:rPr>
              <a:t>cur</a:t>
            </a:r>
            <a:r>
              <a:rPr sz="1100" dirty="0" err="1">
                <a:solidFill>
                  <a:schemeClr val="tx2"/>
                </a:solidFill>
                <a:latin typeface="Maple Mono NF"/>
              </a:rPr>
              <a:t>.</a:t>
            </a:r>
            <a:r>
              <a:rPr sz="1100" dirty="0" err="1">
                <a:solidFill>
                  <a:srgbClr val="DCDCAA"/>
                </a:solidFill>
                <a:latin typeface="Maple Mono NF"/>
              </a:rPr>
              <a:t>execute</a:t>
            </a:r>
            <a:r>
              <a:rPr sz="1100" dirty="0">
                <a:solidFill>
                  <a:schemeClr val="tx2"/>
                </a:solidFill>
                <a:latin typeface="Maple Mono NF"/>
              </a:rPr>
              <a:t>(</a:t>
            </a:r>
            <a:r>
              <a:rPr sz="1100" dirty="0" err="1">
                <a:solidFill>
                  <a:srgbClr val="9CDCFE"/>
                </a:solidFill>
                <a:latin typeface="Maple Mono NF"/>
              </a:rPr>
              <a:t>sql</a:t>
            </a:r>
            <a:r>
              <a:rPr sz="1100" dirty="0">
                <a:solidFill>
                  <a:schemeClr val="tx2"/>
                </a:solidFill>
                <a:latin typeface="Maple Mono NF"/>
              </a:rPr>
              <a:t>)</a:t>
            </a:r>
          </a:p>
        </p:txBody>
      </p:sp>
      <p:sp>
        <p:nvSpPr>
          <p:cNvPr id="110" name="Rectangle 109"/>
          <p:cNvSpPr/>
          <p:nvPr/>
        </p:nvSpPr>
        <p:spPr>
          <a:xfrm>
            <a:off x="319251" y="32785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request value can change the statement, so the label is 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SQL injection, a false alarm: the bound value</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same rule fires here, because the query text is an f-string. The value travels as a parameter.</a:t>
            </a:r>
          </a:p>
        </p:txBody>
      </p:sp>
      <p:sp>
        <p:nvSpPr>
          <p:cNvPr id="104" name="TextBox 3"/>
          <p:cNvSpPr txBox="1"/>
          <p:nvPr/>
        </p:nvSpPr>
        <p:spPr>
          <a:xfrm>
            <a:off x="319251" y="1439712"/>
            <a:ext cx="4595810"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BenchmarkTest00011.py, BenchmarkTest00011_post, lines 41 to 50</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1904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4927631" cy="1354217"/>
          </a:xfrm>
          <a:prstGeom prst="rect">
            <a:avLst/>
          </a:prstGeom>
          <a:noFill/>
        </p:spPr>
        <p:txBody>
          <a:bodyPr wrap="none" lIns="0" tIns="0" rIns="0" bIns="0" anchor="t">
            <a:spAutoFit/>
          </a:bodyPr>
          <a:lstStyle/>
          <a:p>
            <a:pPr algn="l">
              <a:buNone/>
            </a:pPr>
            <a:r>
              <a:rPr sz="1100" dirty="0">
                <a:solidFill>
                  <a:srgbClr val="8A8A9A"/>
                </a:solidFill>
                <a:latin typeface="Maple Mono NF"/>
              </a:rPr>
              <a:t> 41 </a:t>
            </a:r>
            <a:r>
              <a:rPr sz="1100" dirty="0">
                <a:solidFill>
                  <a:srgbClr val="9CDCFE"/>
                </a:solidFill>
                <a:latin typeface="Maple Mono NF"/>
              </a:rPr>
              <a:t>bar</a:t>
            </a:r>
            <a:r>
              <a:rPr sz="1100" dirty="0">
                <a:solidFill>
                  <a:schemeClr val="tx2"/>
                </a:solidFill>
                <a:latin typeface="Maple Mono NF"/>
              </a:rPr>
              <a:t> = </a:t>
            </a:r>
            <a:r>
              <a:rPr sz="1100" dirty="0">
                <a:solidFill>
                  <a:srgbClr val="CE9178"/>
                </a:solidFill>
                <a:latin typeface="Maple Mono NF"/>
              </a:rPr>
              <a:t>"This should never happen"</a:t>
            </a:r>
          </a:p>
          <a:p>
            <a:pPr algn="l">
              <a:buNone/>
            </a:pPr>
            <a:r>
              <a:rPr sz="1100" dirty="0">
                <a:solidFill>
                  <a:srgbClr val="8A8A9A"/>
                </a:solidFill>
                <a:latin typeface="Maple Mono NF"/>
              </a:rPr>
              <a:t> 42 </a:t>
            </a:r>
            <a:r>
              <a:rPr sz="1100" dirty="0">
                <a:solidFill>
                  <a:srgbClr val="C586C0"/>
                </a:solidFill>
                <a:latin typeface="Maple Mono NF"/>
              </a:rPr>
              <a:t>if</a:t>
            </a:r>
            <a:r>
              <a:rPr sz="1100" dirty="0">
                <a:solidFill>
                  <a:schemeClr val="tx2"/>
                </a:solidFill>
                <a:latin typeface="Maple Mono NF"/>
              </a:rPr>
              <a:t> </a:t>
            </a:r>
            <a:r>
              <a:rPr sz="1100" dirty="0">
                <a:solidFill>
                  <a:srgbClr val="CE9178"/>
                </a:solidFill>
                <a:latin typeface="Maple Mono NF"/>
              </a:rPr>
              <a:t>'should'</a:t>
            </a:r>
            <a:r>
              <a:rPr sz="1100" dirty="0">
                <a:solidFill>
                  <a:schemeClr val="tx2"/>
                </a:solidFill>
                <a:latin typeface="Maple Mono NF"/>
              </a:rPr>
              <a:t> </a:t>
            </a:r>
            <a:r>
              <a:rPr sz="1100" dirty="0">
                <a:solidFill>
                  <a:srgbClr val="569CD6"/>
                </a:solidFill>
                <a:latin typeface="Maple Mono NF"/>
              </a:rPr>
              <a:t>in</a:t>
            </a:r>
            <a:r>
              <a:rPr sz="1100" dirty="0">
                <a:solidFill>
                  <a:schemeClr val="tx2"/>
                </a:solidFill>
                <a:latin typeface="Maple Mono NF"/>
              </a:rPr>
              <a:t> </a:t>
            </a:r>
            <a:r>
              <a:rPr sz="1100" dirty="0">
                <a:solidFill>
                  <a:srgbClr val="9CDCFE"/>
                </a:solidFill>
                <a:latin typeface="Maple Mono NF"/>
              </a:rPr>
              <a:t>bar</a:t>
            </a:r>
            <a:r>
              <a:rPr sz="1100" dirty="0">
                <a:solidFill>
                  <a:schemeClr val="tx2"/>
                </a:solidFill>
                <a:latin typeface="Maple Mono NF"/>
              </a:rPr>
              <a:t>:</a:t>
            </a:r>
          </a:p>
          <a:p>
            <a:pPr algn="l">
              <a:buNone/>
            </a:pPr>
            <a:r>
              <a:rPr sz="1100" dirty="0">
                <a:solidFill>
                  <a:srgbClr val="8A8A9A"/>
                </a:solidFill>
                <a:latin typeface="Maple Mono NF"/>
              </a:rPr>
              <a:t> 43 </a:t>
            </a:r>
            <a:r>
              <a:rPr sz="1100" dirty="0">
                <a:solidFill>
                  <a:schemeClr val="tx2"/>
                </a:solidFill>
                <a:latin typeface="Maple Mono NF"/>
              </a:rPr>
              <a:t>    </a:t>
            </a:r>
            <a:r>
              <a:rPr sz="1100" dirty="0">
                <a:solidFill>
                  <a:srgbClr val="9CDCFE"/>
                </a:solidFill>
                <a:latin typeface="Maple Mono NF"/>
              </a:rPr>
              <a:t>bar</a:t>
            </a:r>
            <a:r>
              <a:rPr sz="1100" dirty="0">
                <a:solidFill>
                  <a:schemeClr val="tx2"/>
                </a:solidFill>
                <a:latin typeface="Maple Mono NF"/>
              </a:rPr>
              <a:t> = </a:t>
            </a:r>
            <a:r>
              <a:rPr sz="1100" dirty="0">
                <a:solidFill>
                  <a:srgbClr val="9CDCFE"/>
                </a:solidFill>
                <a:latin typeface="Maple Mono NF"/>
              </a:rPr>
              <a:t>param</a:t>
            </a:r>
          </a:p>
          <a:p>
            <a:pPr algn="l">
              <a:buNone/>
            </a:pPr>
            <a:r>
              <a:rPr sz="1100" dirty="0">
                <a:solidFill>
                  <a:srgbClr val="8A8A9A"/>
                </a:solidFill>
                <a:latin typeface="Maple Mono NF"/>
              </a:rPr>
              <a:t> 47 </a:t>
            </a:r>
            <a:r>
              <a:rPr sz="1100" dirty="0" err="1">
                <a:solidFill>
                  <a:srgbClr val="9CDCFE"/>
                </a:solidFill>
                <a:latin typeface="Maple Mono NF"/>
              </a:rPr>
              <a:t>sql</a:t>
            </a:r>
            <a:r>
              <a:rPr sz="1100" dirty="0">
                <a:solidFill>
                  <a:schemeClr val="tx2"/>
                </a:solidFill>
                <a:latin typeface="Maple Mono NF"/>
              </a:rPr>
              <a:t> = </a:t>
            </a:r>
            <a:r>
              <a:rPr sz="1100" dirty="0" err="1">
                <a:solidFill>
                  <a:srgbClr val="569CD6"/>
                </a:solidFill>
                <a:latin typeface="Maple Mono NF"/>
              </a:rPr>
              <a:t>f</a:t>
            </a:r>
            <a:r>
              <a:rPr sz="1100" dirty="0" err="1">
                <a:solidFill>
                  <a:srgbClr val="CE9178"/>
                </a:solidFill>
                <a:latin typeface="Maple Mono NF"/>
              </a:rPr>
              <a:t>'SELECT</a:t>
            </a:r>
            <a:r>
              <a:rPr sz="1100" dirty="0">
                <a:solidFill>
                  <a:srgbClr val="CE9178"/>
                </a:solidFill>
                <a:latin typeface="Maple Mono NF"/>
              </a:rPr>
              <a:t> username from USERS where password = ?'</a:t>
            </a:r>
          </a:p>
          <a:p>
            <a:pPr algn="l">
              <a:buNone/>
            </a:pPr>
            <a:r>
              <a:rPr sz="1100" dirty="0">
                <a:solidFill>
                  <a:srgbClr val="8A8A9A"/>
                </a:solidFill>
                <a:latin typeface="Maple Mono NF"/>
              </a:rPr>
              <a:t> 48 </a:t>
            </a:r>
            <a:r>
              <a:rPr sz="1100" dirty="0">
                <a:solidFill>
                  <a:srgbClr val="9CDCFE"/>
                </a:solidFill>
                <a:latin typeface="Maple Mono NF"/>
              </a:rPr>
              <a:t>con</a:t>
            </a:r>
            <a:r>
              <a:rPr sz="1100" dirty="0">
                <a:solidFill>
                  <a:schemeClr val="tx2"/>
                </a:solidFill>
                <a:latin typeface="Maple Mono NF"/>
              </a:rPr>
              <a:t> = </a:t>
            </a:r>
            <a:r>
              <a:rPr sz="1100" dirty="0" err="1">
                <a:solidFill>
                  <a:srgbClr val="9CDCFE"/>
                </a:solidFill>
                <a:latin typeface="Maple Mono NF"/>
              </a:rPr>
              <a:t>helpers</a:t>
            </a:r>
            <a:r>
              <a:rPr sz="1100" dirty="0" err="1">
                <a:solidFill>
                  <a:schemeClr val="tx2"/>
                </a:solidFill>
                <a:latin typeface="Maple Mono NF"/>
              </a:rPr>
              <a:t>.</a:t>
            </a:r>
            <a:r>
              <a:rPr sz="1100" dirty="0" err="1">
                <a:solidFill>
                  <a:srgbClr val="9CDCFE"/>
                </a:solidFill>
                <a:latin typeface="Maple Mono NF"/>
              </a:rPr>
              <a:t>db_sqlite</a:t>
            </a:r>
            <a:r>
              <a:rPr sz="1100" dirty="0" err="1">
                <a:solidFill>
                  <a:schemeClr val="tx2"/>
                </a:solidFill>
                <a:latin typeface="Maple Mono NF"/>
              </a:rPr>
              <a:t>.</a:t>
            </a:r>
            <a:r>
              <a:rPr sz="1100" dirty="0" err="1">
                <a:solidFill>
                  <a:srgbClr val="DCDCAA"/>
                </a:solidFill>
                <a:latin typeface="Maple Mono NF"/>
              </a:rPr>
              <a:t>get_connection</a:t>
            </a:r>
            <a:r>
              <a:rPr sz="1100" dirty="0">
                <a:solidFill>
                  <a:schemeClr val="tx2"/>
                </a:solidFill>
                <a:latin typeface="Maple Mono NF"/>
              </a:rPr>
              <a:t>()</a:t>
            </a:r>
          </a:p>
          <a:p>
            <a:pPr algn="l">
              <a:buNone/>
            </a:pPr>
            <a:r>
              <a:rPr sz="1100" dirty="0">
                <a:solidFill>
                  <a:srgbClr val="8A8A9A"/>
                </a:solidFill>
                <a:latin typeface="Maple Mono NF"/>
              </a:rPr>
              <a:t> 49 </a:t>
            </a:r>
            <a:r>
              <a:rPr sz="1100" dirty="0">
                <a:solidFill>
                  <a:srgbClr val="9CDCFE"/>
                </a:solidFill>
                <a:latin typeface="Maple Mono NF"/>
              </a:rPr>
              <a:t>cur</a:t>
            </a:r>
            <a:r>
              <a:rPr sz="1100" dirty="0">
                <a:solidFill>
                  <a:schemeClr val="tx2"/>
                </a:solidFill>
                <a:latin typeface="Maple Mono NF"/>
              </a:rPr>
              <a:t> = </a:t>
            </a:r>
            <a:r>
              <a:rPr sz="1100" dirty="0" err="1">
                <a:solidFill>
                  <a:srgbClr val="9CDCFE"/>
                </a:solidFill>
                <a:latin typeface="Maple Mono NF"/>
              </a:rPr>
              <a:t>con</a:t>
            </a:r>
            <a:r>
              <a:rPr sz="1100" dirty="0" err="1">
                <a:solidFill>
                  <a:schemeClr val="tx2"/>
                </a:solidFill>
                <a:latin typeface="Maple Mono NF"/>
              </a:rPr>
              <a:t>.</a:t>
            </a:r>
            <a:r>
              <a:rPr sz="1100" dirty="0" err="1">
                <a:solidFill>
                  <a:srgbClr val="DCDCAA"/>
                </a:solidFill>
                <a:latin typeface="Maple Mono NF"/>
              </a:rPr>
              <a:t>cursor</a:t>
            </a:r>
            <a:r>
              <a:rPr sz="1100" dirty="0">
                <a:solidFill>
                  <a:schemeClr val="tx2"/>
                </a:solidFill>
                <a:latin typeface="Maple Mono NF"/>
              </a:rPr>
              <a:t>()</a:t>
            </a:r>
          </a:p>
          <a:p>
            <a:pPr algn="l">
              <a:buNone/>
            </a:pPr>
            <a:r>
              <a:rPr sz="1100" dirty="0">
                <a:solidFill>
                  <a:srgbClr val="8A8A9A"/>
                </a:solidFill>
                <a:latin typeface="Maple Mono NF"/>
              </a:rPr>
              <a:t>    </a:t>
            </a:r>
            <a:r>
              <a:rPr sz="1100" dirty="0">
                <a:solidFill>
                  <a:schemeClr val="accent4"/>
                </a:solidFill>
                <a:latin typeface="Maple Mono NF"/>
              </a:rPr>
              <a:t># ours: bar is passed as data, beside the statement</a:t>
            </a:r>
          </a:p>
          <a:p>
            <a:pPr algn="l">
              <a:buNone/>
            </a:pPr>
            <a:r>
              <a:rPr sz="1100" dirty="0">
                <a:solidFill>
                  <a:srgbClr val="8A8A9A"/>
                </a:solidFill>
                <a:latin typeface="Maple Mono NF"/>
              </a:rPr>
              <a:t> 50 </a:t>
            </a:r>
            <a:r>
              <a:rPr sz="1100" dirty="0" err="1">
                <a:solidFill>
                  <a:srgbClr val="9CDCFE"/>
                </a:solidFill>
                <a:latin typeface="Maple Mono NF"/>
              </a:rPr>
              <a:t>cur</a:t>
            </a:r>
            <a:r>
              <a:rPr sz="1100" dirty="0" err="1">
                <a:solidFill>
                  <a:schemeClr val="tx2"/>
                </a:solidFill>
                <a:latin typeface="Maple Mono NF"/>
              </a:rPr>
              <a:t>.</a:t>
            </a:r>
            <a:r>
              <a:rPr sz="1100" dirty="0" err="1">
                <a:solidFill>
                  <a:srgbClr val="DCDCAA"/>
                </a:solidFill>
                <a:latin typeface="Maple Mono NF"/>
              </a:rPr>
              <a:t>execute</a:t>
            </a:r>
            <a:r>
              <a:rPr sz="1100" dirty="0">
                <a:solidFill>
                  <a:schemeClr val="tx2"/>
                </a:solidFill>
                <a:latin typeface="Maple Mono NF"/>
              </a:rPr>
              <a:t>(</a:t>
            </a:r>
            <a:r>
              <a:rPr sz="1100" dirty="0" err="1">
                <a:solidFill>
                  <a:srgbClr val="9CDCFE"/>
                </a:solidFill>
                <a:latin typeface="Maple Mono NF"/>
              </a:rPr>
              <a:t>sql</a:t>
            </a:r>
            <a:r>
              <a:rPr sz="1100" dirty="0">
                <a:solidFill>
                  <a:schemeClr val="tx2"/>
                </a:solidFill>
                <a:latin typeface="Maple Mono NF"/>
              </a:rPr>
              <a:t>, (</a:t>
            </a:r>
            <a:r>
              <a:rPr sz="1100" dirty="0">
                <a:solidFill>
                  <a:srgbClr val="9CDCFE"/>
                </a:solidFill>
                <a:latin typeface="Maple Mono NF"/>
              </a:rPr>
              <a:t>bar</a:t>
            </a:r>
            <a:r>
              <a:rPr sz="1100" dirty="0">
                <a:solidFill>
                  <a:schemeClr val="tx2"/>
                </a:solidFill>
                <a:latin typeface="Maple Mono NF"/>
              </a:rPr>
              <a:t>,))</a:t>
            </a:r>
          </a:p>
        </p:txBody>
      </p:sp>
      <p:sp>
        <p:nvSpPr>
          <p:cNvPr id="110" name="Rectangle 109"/>
          <p:cNvSpPr/>
          <p:nvPr/>
        </p:nvSpPr>
        <p:spPr>
          <a:xfrm>
            <a:off x="319251" y="3833712"/>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value can only ever be data, so the label is 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Code injection, real: exec on a cookie</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cookie value passes through a config object and reaches exec unchanged.</a:t>
            </a:r>
          </a:p>
        </p:txBody>
      </p:sp>
      <p:sp>
        <p:nvSpPr>
          <p:cNvPr id="104" name="TextBox 3"/>
          <p:cNvSpPr txBox="1"/>
          <p:nvPr/>
        </p:nvSpPr>
        <p:spPr>
          <a:xfrm>
            <a:off x="319251" y="1439712"/>
            <a:ext cx="4619854"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BenchmarkTest00074.py, BenchmarkTest00074_post, lines 47 to 55</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2082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5692264" cy="1523494"/>
          </a:xfrm>
          <a:prstGeom prst="rect">
            <a:avLst/>
          </a:prstGeom>
          <a:noFill/>
        </p:spPr>
        <p:txBody>
          <a:bodyPr wrap="none" lIns="0" tIns="0" rIns="0" bIns="0" anchor="t">
            <a:spAutoFit/>
          </a:bodyPr>
          <a:lstStyle/>
          <a:p>
            <a:pPr algn="l">
              <a:buNone/>
            </a:pPr>
            <a:r>
              <a:rPr sz="1100" dirty="0">
                <a:solidFill>
                  <a:srgbClr val="8A8A9A"/>
                </a:solidFill>
                <a:latin typeface="Maple Mono NF"/>
              </a:rPr>
              <a:t> 47 </a:t>
            </a:r>
            <a:r>
              <a:rPr sz="1100" dirty="0">
                <a:solidFill>
                  <a:srgbClr val="9CDCFE"/>
                </a:solidFill>
                <a:latin typeface="Maple Mono NF"/>
              </a:rPr>
              <a:t>conf90091</a:t>
            </a:r>
            <a:r>
              <a:rPr sz="1100" dirty="0">
                <a:solidFill>
                  <a:schemeClr val="tx2"/>
                </a:solidFill>
                <a:latin typeface="Maple Mono NF"/>
              </a:rPr>
              <a:t>.</a:t>
            </a:r>
            <a:r>
              <a:rPr sz="1100" dirty="0">
                <a:solidFill>
                  <a:srgbClr val="DCDCAA"/>
                </a:solidFill>
                <a:latin typeface="Maple Mono NF"/>
              </a:rPr>
              <a:t>set</a:t>
            </a:r>
            <a:r>
              <a:rPr sz="1100" dirty="0">
                <a:solidFill>
                  <a:schemeClr val="tx2"/>
                </a:solidFill>
                <a:latin typeface="Maple Mono NF"/>
              </a:rPr>
              <a:t>(</a:t>
            </a:r>
            <a:r>
              <a:rPr sz="1100" dirty="0">
                <a:solidFill>
                  <a:srgbClr val="CE9178"/>
                </a:solidFill>
                <a:latin typeface="Maple Mono NF"/>
              </a:rPr>
              <a:t>'section90091'</a:t>
            </a:r>
            <a:r>
              <a:rPr sz="1100" dirty="0">
                <a:solidFill>
                  <a:schemeClr val="tx2"/>
                </a:solidFill>
                <a:latin typeface="Maple Mono NF"/>
              </a:rPr>
              <a:t>, </a:t>
            </a:r>
            <a:r>
              <a:rPr sz="1100" dirty="0">
                <a:solidFill>
                  <a:srgbClr val="CE9178"/>
                </a:solidFill>
                <a:latin typeface="Maple Mono NF"/>
              </a:rPr>
              <a:t>'keyB-90091'</a:t>
            </a:r>
            <a:r>
              <a:rPr sz="1100" dirty="0">
                <a:solidFill>
                  <a:schemeClr val="tx2"/>
                </a:solidFill>
                <a:latin typeface="Maple Mono NF"/>
              </a:rPr>
              <a:t>, </a:t>
            </a:r>
            <a:r>
              <a:rPr sz="1100" dirty="0">
                <a:solidFill>
                  <a:srgbClr val="9CDCFE"/>
                </a:solidFill>
                <a:latin typeface="Maple Mono NF"/>
              </a:rPr>
              <a:t>param</a:t>
            </a:r>
            <a:r>
              <a:rPr sz="1100" dirty="0">
                <a:solidFill>
                  <a:schemeClr val="tx2"/>
                </a:solidFill>
                <a:latin typeface="Maple Mono NF"/>
              </a:rPr>
              <a:t>)</a:t>
            </a:r>
          </a:p>
          <a:p>
            <a:pPr algn="l">
              <a:buNone/>
            </a:pPr>
            <a:r>
              <a:rPr sz="1100" dirty="0">
                <a:solidFill>
                  <a:srgbClr val="8A8A9A"/>
                </a:solidFill>
                <a:latin typeface="Maple Mono NF"/>
              </a:rPr>
              <a:t> 48 </a:t>
            </a:r>
            <a:r>
              <a:rPr sz="1100" dirty="0">
                <a:solidFill>
                  <a:srgbClr val="9CDCFE"/>
                </a:solidFill>
                <a:latin typeface="Maple Mono NF"/>
              </a:rPr>
              <a:t>bar</a:t>
            </a:r>
            <a:r>
              <a:rPr sz="1100" dirty="0">
                <a:solidFill>
                  <a:schemeClr val="tx2"/>
                </a:solidFill>
                <a:latin typeface="Maple Mono NF"/>
              </a:rPr>
              <a:t> = </a:t>
            </a:r>
            <a:r>
              <a:rPr sz="1100" dirty="0">
                <a:solidFill>
                  <a:srgbClr val="9CDCFE"/>
                </a:solidFill>
                <a:latin typeface="Maple Mono NF"/>
              </a:rPr>
              <a:t>conf90091</a:t>
            </a:r>
            <a:r>
              <a:rPr sz="1100" dirty="0">
                <a:solidFill>
                  <a:schemeClr val="tx2"/>
                </a:solidFill>
                <a:latin typeface="Maple Mono NF"/>
              </a:rPr>
              <a:t>.</a:t>
            </a:r>
            <a:r>
              <a:rPr sz="1100" dirty="0">
                <a:solidFill>
                  <a:srgbClr val="DCDCAA"/>
                </a:solidFill>
                <a:latin typeface="Maple Mono NF"/>
              </a:rPr>
              <a:t>get</a:t>
            </a:r>
            <a:r>
              <a:rPr sz="1100" dirty="0">
                <a:solidFill>
                  <a:schemeClr val="tx2"/>
                </a:solidFill>
                <a:latin typeface="Maple Mono NF"/>
              </a:rPr>
              <a:t>(</a:t>
            </a:r>
            <a:r>
              <a:rPr sz="1100" dirty="0">
                <a:solidFill>
                  <a:srgbClr val="CE9178"/>
                </a:solidFill>
                <a:latin typeface="Maple Mono NF"/>
              </a:rPr>
              <a:t>'section90091'</a:t>
            </a:r>
            <a:r>
              <a:rPr sz="1100" dirty="0">
                <a:solidFill>
                  <a:schemeClr val="tx2"/>
                </a:solidFill>
                <a:latin typeface="Maple Mono NF"/>
              </a:rPr>
              <a:t>, </a:t>
            </a:r>
            <a:r>
              <a:rPr sz="1100" dirty="0">
                <a:solidFill>
                  <a:srgbClr val="CE9178"/>
                </a:solidFill>
                <a:latin typeface="Maple Mono NF"/>
              </a:rPr>
              <a:t>'keyB-90091'</a:t>
            </a:r>
            <a:r>
              <a:rPr sz="1100" dirty="0">
                <a:solidFill>
                  <a:schemeClr val="tx2"/>
                </a:solidFill>
                <a:latin typeface="Maple Mono NF"/>
              </a:rPr>
              <a:t>)</a:t>
            </a:r>
          </a:p>
          <a:p>
            <a:pPr algn="l">
              <a:buNone/>
            </a:pPr>
            <a:r>
              <a:rPr sz="1100" dirty="0">
                <a:solidFill>
                  <a:srgbClr val="8A8A9A"/>
                </a:solidFill>
                <a:latin typeface="Maple Mono NF"/>
              </a:rPr>
              <a:t> 50 </a:t>
            </a:r>
            <a:r>
              <a:rPr sz="1100" dirty="0">
                <a:solidFill>
                  <a:srgbClr val="C586C0"/>
                </a:solidFill>
                <a:latin typeface="Maple Mono NF"/>
              </a:rPr>
              <a:t>try</a:t>
            </a:r>
            <a:r>
              <a:rPr sz="1100" dirty="0">
                <a:solidFill>
                  <a:schemeClr val="tx2"/>
                </a:solidFill>
                <a:latin typeface="Maple Mono NF"/>
              </a:rPr>
              <a:t>:</a:t>
            </a:r>
          </a:p>
          <a:p>
            <a:pPr algn="l">
              <a:buNone/>
            </a:pPr>
            <a:r>
              <a:rPr sz="1100" dirty="0">
                <a:solidFill>
                  <a:srgbClr val="8A8A9A"/>
                </a:solidFill>
                <a:latin typeface="Maple Mono NF"/>
              </a:rPr>
              <a:t>    </a:t>
            </a:r>
            <a:r>
              <a:rPr sz="1100" dirty="0">
                <a:solidFill>
                  <a:schemeClr val="accent4"/>
                </a:solidFill>
                <a:latin typeface="Maple Mono NF"/>
              </a:rPr>
              <a:t># ours: the sink, with the client's value</a:t>
            </a:r>
          </a:p>
          <a:p>
            <a:pPr algn="l">
              <a:buNone/>
            </a:pPr>
            <a:r>
              <a:rPr sz="1100" dirty="0">
                <a:solidFill>
                  <a:srgbClr val="8A8A9A"/>
                </a:solidFill>
                <a:latin typeface="Maple Mono NF"/>
              </a:rPr>
              <a:t> 51 </a:t>
            </a:r>
            <a:r>
              <a:rPr sz="1100" dirty="0">
                <a:solidFill>
                  <a:schemeClr val="tx2"/>
                </a:solidFill>
                <a:latin typeface="Maple Mono NF"/>
              </a:rPr>
              <a:t>    </a:t>
            </a:r>
            <a:r>
              <a:rPr sz="1100" dirty="0">
                <a:solidFill>
                  <a:srgbClr val="DCDCAA"/>
                </a:solidFill>
                <a:latin typeface="Maple Mono NF"/>
              </a:rPr>
              <a:t>exec</a:t>
            </a:r>
            <a:r>
              <a:rPr sz="1100" dirty="0">
                <a:solidFill>
                  <a:schemeClr val="tx2"/>
                </a:solidFill>
                <a:latin typeface="Maple Mono NF"/>
              </a:rPr>
              <a:t>(</a:t>
            </a:r>
            <a:r>
              <a:rPr sz="1100" dirty="0">
                <a:solidFill>
                  <a:srgbClr val="9CDCFE"/>
                </a:solidFill>
                <a:latin typeface="Maple Mono NF"/>
              </a:rPr>
              <a:t>bar</a:t>
            </a:r>
            <a:r>
              <a:rPr sz="1100" dirty="0">
                <a:solidFill>
                  <a:schemeClr val="tx2"/>
                </a:solidFill>
                <a:latin typeface="Maple Mono NF"/>
              </a:rPr>
              <a:t>)</a:t>
            </a:r>
          </a:p>
          <a:p>
            <a:pPr algn="l">
              <a:buNone/>
            </a:pPr>
            <a:r>
              <a:rPr sz="1100" dirty="0">
                <a:solidFill>
                  <a:srgbClr val="8A8A9A"/>
                </a:solidFill>
                <a:latin typeface="Maple Mono NF"/>
              </a:rPr>
              <a:t> 52 </a:t>
            </a:r>
            <a:r>
              <a:rPr sz="1100" dirty="0">
                <a:solidFill>
                  <a:srgbClr val="C586C0"/>
                </a:solidFill>
                <a:latin typeface="Maple Mono NF"/>
              </a:rPr>
              <a:t>except</a:t>
            </a:r>
            <a:r>
              <a:rPr sz="1100" dirty="0">
                <a:solidFill>
                  <a:schemeClr val="tx2"/>
                </a:solidFill>
                <a:latin typeface="Maple Mono NF"/>
              </a:rPr>
              <a:t>:</a:t>
            </a:r>
          </a:p>
          <a:p>
            <a:pPr algn="l">
              <a:buNone/>
            </a:pPr>
            <a:r>
              <a:rPr sz="1100" dirty="0">
                <a:solidFill>
                  <a:srgbClr val="8A8A9A"/>
                </a:solidFill>
                <a:latin typeface="Maple Mono NF"/>
              </a:rPr>
              <a:t> 53 </a:t>
            </a:r>
            <a:r>
              <a:rPr sz="1100" dirty="0">
                <a:solidFill>
                  <a:schemeClr val="tx2"/>
                </a:solidFill>
                <a:latin typeface="Maple Mono NF"/>
              </a:rPr>
              <a:t>    </a:t>
            </a:r>
            <a:r>
              <a:rPr sz="1100" dirty="0">
                <a:solidFill>
                  <a:srgbClr val="9CDCFE"/>
                </a:solidFill>
                <a:latin typeface="Maple Mono NF"/>
              </a:rPr>
              <a:t>RESPONSE</a:t>
            </a:r>
            <a:r>
              <a:rPr sz="1100" dirty="0">
                <a:solidFill>
                  <a:schemeClr val="tx2"/>
                </a:solidFill>
                <a:latin typeface="Maple Mono NF"/>
              </a:rPr>
              <a:t> += (</a:t>
            </a:r>
          </a:p>
          <a:p>
            <a:pPr algn="l">
              <a:buNone/>
            </a:pPr>
            <a:r>
              <a:rPr sz="1100" dirty="0">
                <a:solidFill>
                  <a:srgbClr val="8A8A9A"/>
                </a:solidFill>
                <a:latin typeface="Maple Mono NF"/>
              </a:rPr>
              <a:t> 54 </a:t>
            </a:r>
            <a:r>
              <a:rPr sz="1100" dirty="0">
                <a:solidFill>
                  <a:schemeClr val="tx2"/>
                </a:solidFill>
                <a:latin typeface="Maple Mono NF"/>
              </a:rPr>
              <a:t>        </a:t>
            </a:r>
            <a:r>
              <a:rPr sz="1100" dirty="0" err="1">
                <a:solidFill>
                  <a:srgbClr val="569CD6"/>
                </a:solidFill>
                <a:latin typeface="Maple Mono NF"/>
              </a:rPr>
              <a:t>f</a:t>
            </a:r>
            <a:r>
              <a:rPr sz="1100" dirty="0" err="1">
                <a:solidFill>
                  <a:srgbClr val="CE9178"/>
                </a:solidFill>
                <a:latin typeface="Maple Mono NF"/>
              </a:rPr>
              <a:t>'Error</a:t>
            </a:r>
            <a:r>
              <a:rPr sz="1100" dirty="0">
                <a:solidFill>
                  <a:srgbClr val="CE9178"/>
                </a:solidFill>
                <a:latin typeface="Maple Mono NF"/>
              </a:rPr>
              <a:t> executing statement \'</a:t>
            </a:r>
            <a:r>
              <a:rPr sz="1100" dirty="0">
                <a:solidFill>
                  <a:srgbClr val="569CD6"/>
                </a:solidFill>
                <a:latin typeface="Maple Mono NF"/>
              </a:rPr>
              <a:t>{</a:t>
            </a:r>
            <a:r>
              <a:rPr sz="1100" dirty="0" err="1">
                <a:solidFill>
                  <a:srgbClr val="DCDCAA"/>
                </a:solidFill>
                <a:latin typeface="Maple Mono NF"/>
              </a:rPr>
              <a:t>escape_for_html</a:t>
            </a:r>
            <a:r>
              <a:rPr sz="1100" dirty="0">
                <a:solidFill>
                  <a:schemeClr val="tx2"/>
                </a:solidFill>
                <a:latin typeface="Maple Mono NF"/>
              </a:rPr>
              <a:t>(</a:t>
            </a:r>
            <a:r>
              <a:rPr sz="1100" dirty="0">
                <a:solidFill>
                  <a:srgbClr val="9CDCFE"/>
                </a:solidFill>
                <a:latin typeface="Maple Mono NF"/>
              </a:rPr>
              <a:t>bar</a:t>
            </a:r>
            <a:r>
              <a:rPr sz="1100" dirty="0">
                <a:solidFill>
                  <a:schemeClr val="tx2"/>
                </a:solidFill>
                <a:latin typeface="Maple Mono NF"/>
              </a:rPr>
              <a:t>)</a:t>
            </a:r>
            <a:r>
              <a:rPr sz="1100" dirty="0">
                <a:solidFill>
                  <a:srgbClr val="569CD6"/>
                </a:solidFill>
                <a:latin typeface="Maple Mono NF"/>
              </a:rPr>
              <a:t>}</a:t>
            </a:r>
            <a:r>
              <a:rPr sz="1100" dirty="0">
                <a:solidFill>
                  <a:srgbClr val="CE9178"/>
                </a:solidFill>
                <a:latin typeface="Maple Mono NF"/>
              </a:rPr>
              <a:t>\''</a:t>
            </a:r>
          </a:p>
          <a:p>
            <a:pPr algn="l">
              <a:buNone/>
            </a:pPr>
            <a:r>
              <a:rPr sz="1100" dirty="0">
                <a:solidFill>
                  <a:srgbClr val="8A8A9A"/>
                </a:solidFill>
                <a:latin typeface="Maple Mono NF"/>
              </a:rPr>
              <a:t> 55 </a:t>
            </a:r>
            <a:r>
              <a:rPr sz="1100" dirty="0">
                <a:solidFill>
                  <a:schemeClr val="tx2"/>
                </a:solidFill>
                <a:latin typeface="Maple Mono NF"/>
              </a:rPr>
              <a:t>    )</a:t>
            </a:r>
          </a:p>
        </p:txBody>
      </p:sp>
      <p:sp>
        <p:nvSpPr>
          <p:cNvPr id="110" name="Rectangle 109"/>
          <p:cNvSpPr/>
          <p:nvPr/>
        </p:nvSpPr>
        <p:spPr>
          <a:xfrm>
            <a:off x="319251" y="4011712"/>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Whatever the cookie holds runs as Python, so the label is 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Code injection, a false alarm: the guard</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same cookie value reaches eval, but a check admits only a quoted string with no inner quote.</a:t>
            </a:r>
          </a:p>
        </p:txBody>
      </p:sp>
      <p:sp>
        <p:nvSpPr>
          <p:cNvPr id="104" name="TextBox 3"/>
          <p:cNvSpPr txBox="1"/>
          <p:nvPr/>
        </p:nvSpPr>
        <p:spPr>
          <a:xfrm>
            <a:off x="319251" y="1439712"/>
            <a:ext cx="4627870"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BenchmarkTest00073.py, BenchmarkTest00073_post, lines 44 to 54</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1612726"/>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5714545" cy="1077218"/>
          </a:xfrm>
          <a:prstGeom prst="rect">
            <a:avLst/>
          </a:prstGeom>
          <a:noFill/>
        </p:spPr>
        <p:txBody>
          <a:bodyPr wrap="square" lIns="0" tIns="0" rIns="0" bIns="0" anchor="t">
            <a:spAutoFit/>
          </a:bodyPr>
          <a:lstStyle/>
          <a:p>
            <a:pPr marL="304800" indent="-304800" algn="l">
              <a:buNone/>
            </a:pPr>
            <a:r>
              <a:rPr sz="1000" dirty="0">
                <a:solidFill>
                  <a:srgbClr val="8A8A9A"/>
                </a:solidFill>
                <a:latin typeface="Maple Mono NF"/>
              </a:rPr>
              <a:t> 44 </a:t>
            </a:r>
            <a:r>
              <a:rPr sz="1000" dirty="0">
                <a:solidFill>
                  <a:srgbClr val="9CDCFE"/>
                </a:solidFill>
                <a:latin typeface="Maple Mono NF"/>
              </a:rPr>
              <a:t>bar</a:t>
            </a:r>
            <a:r>
              <a:rPr sz="1000" dirty="0">
                <a:solidFill>
                  <a:schemeClr val="tx2"/>
                </a:solidFill>
                <a:latin typeface="Maple Mono NF"/>
              </a:rPr>
              <a:t> = </a:t>
            </a:r>
            <a:r>
              <a:rPr sz="1000" dirty="0">
                <a:solidFill>
                  <a:srgbClr val="9CDCFE"/>
                </a:solidFill>
                <a:latin typeface="Maple Mono NF"/>
              </a:rPr>
              <a:t>string41416</a:t>
            </a:r>
            <a:r>
              <a:rPr sz="1000" dirty="0">
                <a:solidFill>
                  <a:schemeClr val="tx2"/>
                </a:solidFill>
                <a:latin typeface="Maple Mono NF"/>
              </a:rPr>
              <a:t>[</a:t>
            </a:r>
            <a:r>
              <a:rPr sz="1000" dirty="0">
                <a:solidFill>
                  <a:srgbClr val="B5CEA8"/>
                </a:solidFill>
                <a:latin typeface="Maple Mono NF"/>
              </a:rPr>
              <a:t>4</a:t>
            </a:r>
            <a:r>
              <a:rPr sz="1000" dirty="0">
                <a:solidFill>
                  <a:schemeClr val="tx2"/>
                </a:solidFill>
                <a:latin typeface="Maple Mono NF"/>
              </a:rPr>
              <a:t>:-</a:t>
            </a:r>
            <a:r>
              <a:rPr sz="1000" dirty="0">
                <a:solidFill>
                  <a:srgbClr val="B5CEA8"/>
                </a:solidFill>
                <a:latin typeface="Maple Mono NF"/>
              </a:rPr>
              <a:t>17</a:t>
            </a:r>
            <a:r>
              <a:rPr sz="1000" dirty="0">
                <a:solidFill>
                  <a:schemeClr val="tx2"/>
                </a:solidFill>
                <a:latin typeface="Maple Mono NF"/>
              </a:rPr>
              <a:t>]</a:t>
            </a:r>
          </a:p>
          <a:p>
            <a:pPr marL="304800" indent="-304800" algn="l">
              <a:buNone/>
            </a:pPr>
            <a:r>
              <a:rPr sz="1000" dirty="0">
                <a:solidFill>
                  <a:srgbClr val="8A8A9A"/>
                </a:solidFill>
                <a:latin typeface="Maple Mono NF"/>
              </a:rPr>
              <a:t>    </a:t>
            </a:r>
            <a:r>
              <a:rPr sz="1000" dirty="0">
                <a:solidFill>
                  <a:schemeClr val="accent4"/>
                </a:solidFill>
                <a:latin typeface="Maple Mono NF"/>
              </a:rPr>
              <a:t># ours: the guard</a:t>
            </a:r>
          </a:p>
          <a:p>
            <a:pPr marL="304800" indent="-304800" algn="l">
              <a:buNone/>
            </a:pPr>
            <a:r>
              <a:rPr sz="1000" dirty="0">
                <a:solidFill>
                  <a:srgbClr val="8A8A9A"/>
                </a:solidFill>
                <a:latin typeface="Maple Mono NF"/>
              </a:rPr>
              <a:t> 46 </a:t>
            </a:r>
            <a:r>
              <a:rPr sz="1000" dirty="0">
                <a:solidFill>
                  <a:srgbClr val="C586C0"/>
                </a:solidFill>
                <a:latin typeface="Maple Mono NF"/>
              </a:rPr>
              <a:t>if</a:t>
            </a:r>
            <a:r>
              <a:rPr sz="1000" dirty="0">
                <a:solidFill>
                  <a:schemeClr val="tx2"/>
                </a:solidFill>
                <a:latin typeface="Maple Mono NF"/>
              </a:rPr>
              <a:t> </a:t>
            </a:r>
            <a:r>
              <a:rPr sz="1000" dirty="0">
                <a:solidFill>
                  <a:srgbClr val="569CD6"/>
                </a:solidFill>
                <a:latin typeface="Maple Mono NF"/>
              </a:rPr>
              <a:t>not</a:t>
            </a:r>
            <a:r>
              <a:rPr sz="1000" dirty="0">
                <a:solidFill>
                  <a:schemeClr val="tx2"/>
                </a:solidFill>
                <a:latin typeface="Maple Mono NF"/>
              </a:rPr>
              <a:t> </a:t>
            </a:r>
            <a:r>
              <a:rPr sz="1000" dirty="0" err="1">
                <a:solidFill>
                  <a:srgbClr val="9CDCFE"/>
                </a:solidFill>
                <a:latin typeface="Maple Mono NF"/>
              </a:rPr>
              <a:t>bar</a:t>
            </a:r>
            <a:r>
              <a:rPr sz="1000" dirty="0" err="1">
                <a:solidFill>
                  <a:schemeClr val="tx2"/>
                </a:solidFill>
                <a:latin typeface="Maple Mono NF"/>
              </a:rPr>
              <a:t>.</a:t>
            </a:r>
            <a:r>
              <a:rPr sz="1000" dirty="0" err="1">
                <a:solidFill>
                  <a:srgbClr val="DCDCAA"/>
                </a:solidFill>
                <a:latin typeface="Maple Mono NF"/>
              </a:rPr>
              <a:t>startswith</a:t>
            </a:r>
            <a:r>
              <a:rPr sz="1000" dirty="0">
                <a:solidFill>
                  <a:schemeClr val="tx2"/>
                </a:solidFill>
                <a:latin typeface="Maple Mono NF"/>
              </a:rPr>
              <a:t>(</a:t>
            </a:r>
            <a:r>
              <a:rPr sz="1000" dirty="0">
                <a:solidFill>
                  <a:srgbClr val="CE9178"/>
                </a:solidFill>
                <a:latin typeface="Maple Mono NF"/>
              </a:rPr>
              <a:t>'\''</a:t>
            </a:r>
            <a:r>
              <a:rPr sz="1000" dirty="0">
                <a:solidFill>
                  <a:schemeClr val="tx2"/>
                </a:solidFill>
                <a:latin typeface="Maple Mono NF"/>
              </a:rPr>
              <a:t>) </a:t>
            </a:r>
            <a:r>
              <a:rPr sz="1000" dirty="0">
                <a:solidFill>
                  <a:srgbClr val="569CD6"/>
                </a:solidFill>
                <a:latin typeface="Maple Mono NF"/>
              </a:rPr>
              <a:t>or</a:t>
            </a:r>
            <a:r>
              <a:rPr sz="1000" dirty="0">
                <a:solidFill>
                  <a:schemeClr val="tx2"/>
                </a:solidFill>
                <a:latin typeface="Maple Mono NF"/>
              </a:rPr>
              <a:t> </a:t>
            </a:r>
            <a:r>
              <a:rPr sz="1000" dirty="0">
                <a:solidFill>
                  <a:srgbClr val="569CD6"/>
                </a:solidFill>
                <a:latin typeface="Maple Mono NF"/>
              </a:rPr>
              <a:t>not</a:t>
            </a:r>
            <a:r>
              <a:rPr sz="1000" dirty="0">
                <a:solidFill>
                  <a:schemeClr val="tx2"/>
                </a:solidFill>
                <a:latin typeface="Maple Mono NF"/>
              </a:rPr>
              <a:t> </a:t>
            </a:r>
            <a:r>
              <a:rPr sz="1000" dirty="0" err="1">
                <a:solidFill>
                  <a:srgbClr val="9CDCFE"/>
                </a:solidFill>
                <a:latin typeface="Maple Mono NF"/>
              </a:rPr>
              <a:t>bar</a:t>
            </a:r>
            <a:r>
              <a:rPr sz="1000" dirty="0" err="1">
                <a:solidFill>
                  <a:schemeClr val="tx2"/>
                </a:solidFill>
                <a:latin typeface="Maple Mono NF"/>
              </a:rPr>
              <a:t>.</a:t>
            </a:r>
            <a:r>
              <a:rPr sz="1000" dirty="0" err="1">
                <a:solidFill>
                  <a:srgbClr val="DCDCAA"/>
                </a:solidFill>
                <a:latin typeface="Maple Mono NF"/>
              </a:rPr>
              <a:t>endswith</a:t>
            </a:r>
            <a:r>
              <a:rPr sz="1000" dirty="0">
                <a:solidFill>
                  <a:schemeClr val="tx2"/>
                </a:solidFill>
                <a:latin typeface="Maple Mono NF"/>
              </a:rPr>
              <a:t>(</a:t>
            </a:r>
            <a:r>
              <a:rPr sz="1000" dirty="0">
                <a:solidFill>
                  <a:srgbClr val="CE9178"/>
                </a:solidFill>
                <a:latin typeface="Maple Mono NF"/>
              </a:rPr>
              <a:t>'\''</a:t>
            </a:r>
            <a:r>
              <a:rPr sz="1000" dirty="0">
                <a:solidFill>
                  <a:schemeClr val="tx2"/>
                </a:solidFill>
                <a:latin typeface="Maple Mono NF"/>
              </a:rPr>
              <a:t>) </a:t>
            </a:r>
            <a:r>
              <a:rPr sz="1000" dirty="0">
                <a:solidFill>
                  <a:srgbClr val="569CD6"/>
                </a:solidFill>
                <a:latin typeface="Maple Mono NF"/>
              </a:rPr>
              <a:t>or</a:t>
            </a:r>
            <a:r>
              <a:rPr sz="1000" dirty="0">
                <a:solidFill>
                  <a:schemeClr val="tx2"/>
                </a:solidFill>
                <a:latin typeface="Maple Mono NF"/>
              </a:rPr>
              <a:t> </a:t>
            </a:r>
            <a:r>
              <a:rPr sz="1000" dirty="0">
                <a:solidFill>
                  <a:srgbClr val="CE9178"/>
                </a:solidFill>
                <a:latin typeface="Maple Mono NF"/>
              </a:rPr>
              <a:t>'\''</a:t>
            </a:r>
            <a:r>
              <a:rPr sz="1000" dirty="0">
                <a:solidFill>
                  <a:schemeClr val="tx2"/>
                </a:solidFill>
                <a:latin typeface="Maple Mono NF"/>
              </a:rPr>
              <a:t> </a:t>
            </a:r>
            <a:r>
              <a:rPr sz="1000" dirty="0">
                <a:solidFill>
                  <a:srgbClr val="569CD6"/>
                </a:solidFill>
                <a:latin typeface="Maple Mono NF"/>
              </a:rPr>
              <a:t>in</a:t>
            </a:r>
            <a:r>
              <a:rPr sz="1000" dirty="0">
                <a:solidFill>
                  <a:schemeClr val="tx2"/>
                </a:solidFill>
                <a:latin typeface="Maple Mono NF"/>
              </a:rPr>
              <a:t> </a:t>
            </a:r>
            <a:r>
              <a:rPr sz="1000" dirty="0">
                <a:solidFill>
                  <a:srgbClr val="9CDCFE"/>
                </a:solidFill>
                <a:latin typeface="Maple Mono NF"/>
              </a:rPr>
              <a:t>bar</a:t>
            </a:r>
            <a:r>
              <a:rPr sz="1000" dirty="0">
                <a:solidFill>
                  <a:schemeClr val="tx2"/>
                </a:solidFill>
                <a:latin typeface="Maple Mono NF"/>
              </a:rPr>
              <a:t>[</a:t>
            </a:r>
            <a:r>
              <a:rPr sz="1000" dirty="0">
                <a:solidFill>
                  <a:srgbClr val="B5CEA8"/>
                </a:solidFill>
                <a:latin typeface="Maple Mono NF"/>
              </a:rPr>
              <a:t>1</a:t>
            </a:r>
            <a:r>
              <a:rPr sz="1000" dirty="0">
                <a:solidFill>
                  <a:schemeClr val="tx2"/>
                </a:solidFill>
                <a:latin typeface="Maple Mono NF"/>
              </a:rPr>
              <a:t>:-</a:t>
            </a:r>
            <a:r>
              <a:rPr sz="1000" dirty="0">
                <a:solidFill>
                  <a:srgbClr val="B5CEA8"/>
                </a:solidFill>
                <a:latin typeface="Maple Mono NF"/>
              </a:rPr>
              <a:t>1</a:t>
            </a:r>
            <a:r>
              <a:rPr sz="1000" dirty="0">
                <a:solidFill>
                  <a:schemeClr val="tx2"/>
                </a:solidFill>
                <a:latin typeface="Maple Mono NF"/>
              </a:rPr>
              <a:t>]:</a:t>
            </a:r>
          </a:p>
          <a:p>
            <a:pPr marL="304800" indent="-304800" algn="l">
              <a:buNone/>
            </a:pPr>
            <a:r>
              <a:rPr sz="1000" dirty="0">
                <a:solidFill>
                  <a:srgbClr val="8A8A9A"/>
                </a:solidFill>
                <a:latin typeface="Maple Mono NF"/>
              </a:rPr>
              <a:t> 50 </a:t>
            </a:r>
            <a:r>
              <a:rPr sz="1000" dirty="0">
                <a:solidFill>
                  <a:schemeClr val="tx2"/>
                </a:solidFill>
                <a:latin typeface="Maple Mono NF"/>
              </a:rPr>
              <a:t>    </a:t>
            </a:r>
            <a:r>
              <a:rPr sz="1000" dirty="0">
                <a:solidFill>
                  <a:srgbClr val="C586C0"/>
                </a:solidFill>
                <a:latin typeface="Maple Mono NF"/>
              </a:rPr>
              <a:t>return</a:t>
            </a:r>
            <a:r>
              <a:rPr sz="1000" dirty="0">
                <a:solidFill>
                  <a:schemeClr val="tx2"/>
                </a:solidFill>
                <a:latin typeface="Maple Mono NF"/>
              </a:rPr>
              <a:t> </a:t>
            </a:r>
            <a:r>
              <a:rPr sz="1000" dirty="0">
                <a:solidFill>
                  <a:srgbClr val="9CDCFE"/>
                </a:solidFill>
                <a:latin typeface="Maple Mono NF"/>
              </a:rPr>
              <a:t>RESPONSE</a:t>
            </a:r>
          </a:p>
          <a:p>
            <a:pPr marL="304800" indent="-304800" algn="l">
              <a:buNone/>
            </a:pPr>
            <a:r>
              <a:rPr sz="1000" dirty="0">
                <a:solidFill>
                  <a:srgbClr val="8A8A9A"/>
                </a:solidFill>
                <a:latin typeface="Maple Mono NF"/>
              </a:rPr>
              <a:t> 52 </a:t>
            </a:r>
            <a:r>
              <a:rPr sz="1000" dirty="0">
                <a:solidFill>
                  <a:srgbClr val="C586C0"/>
                </a:solidFill>
                <a:latin typeface="Maple Mono NF"/>
              </a:rPr>
              <a:t>try</a:t>
            </a:r>
            <a:r>
              <a:rPr sz="1000" dirty="0">
                <a:solidFill>
                  <a:schemeClr val="tx2"/>
                </a:solidFill>
                <a:latin typeface="Maple Mono NF"/>
              </a:rPr>
              <a:t>:</a:t>
            </a:r>
          </a:p>
          <a:p>
            <a:pPr marL="304800" indent="-304800" algn="l">
              <a:buNone/>
            </a:pPr>
            <a:r>
              <a:rPr sz="1000" dirty="0">
                <a:solidFill>
                  <a:srgbClr val="8A8A9A"/>
                </a:solidFill>
                <a:latin typeface="Maple Mono NF"/>
              </a:rPr>
              <a:t> 54 </a:t>
            </a:r>
            <a:r>
              <a:rPr sz="1000" dirty="0">
                <a:solidFill>
                  <a:schemeClr val="tx2"/>
                </a:solidFill>
                <a:latin typeface="Maple Mono NF"/>
              </a:rPr>
              <a:t>        </a:t>
            </a:r>
            <a:r>
              <a:rPr sz="1000" dirty="0">
                <a:solidFill>
                  <a:srgbClr val="DCDCAA"/>
                </a:solidFill>
                <a:latin typeface="Maple Mono NF"/>
              </a:rPr>
              <a:t>eval</a:t>
            </a:r>
            <a:r>
              <a:rPr sz="1000" dirty="0">
                <a:solidFill>
                  <a:schemeClr val="tx2"/>
                </a:solidFill>
                <a:latin typeface="Maple Mono NF"/>
              </a:rPr>
              <a:t>(</a:t>
            </a:r>
            <a:r>
              <a:rPr sz="1000" dirty="0">
                <a:solidFill>
                  <a:srgbClr val="9CDCFE"/>
                </a:solidFill>
                <a:latin typeface="Maple Mono NF"/>
              </a:rPr>
              <a:t>bar</a:t>
            </a:r>
            <a:r>
              <a:rPr sz="1000" dirty="0">
                <a:solidFill>
                  <a:schemeClr val="tx2"/>
                </a:solidFill>
                <a:latin typeface="Maple Mono NF"/>
              </a:rPr>
              <a:t>)</a:t>
            </a:r>
          </a:p>
        </p:txBody>
      </p:sp>
      <p:sp>
        <p:nvSpPr>
          <p:cNvPr id="110" name="Rectangle 109"/>
          <p:cNvSpPr/>
          <p:nvPr/>
        </p:nvSpPr>
        <p:spPr>
          <a:xfrm>
            <a:off x="319251" y="3542438"/>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guard leaves eval a bare literal, so the label is 0, and the guard is the evidence.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Weak hash, real on the algorithm alone</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No data flow is needed here. The code hashes a value it calls sensitive with MD5 and stores the digest.</a:t>
            </a:r>
          </a:p>
        </p:txBody>
      </p:sp>
      <p:sp>
        <p:nvSpPr>
          <p:cNvPr id="104" name="TextBox 3"/>
          <p:cNvSpPr txBox="1"/>
          <p:nvPr/>
        </p:nvSpPr>
        <p:spPr>
          <a:xfrm>
            <a:off x="319251" y="1439712"/>
            <a:ext cx="4619854"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BenchmarkTest00057.py, BenchmarkTest00057_post, lines 65 to 70</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1450908"/>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5232202" cy="923330"/>
          </a:xfrm>
          <a:prstGeom prst="rect">
            <a:avLst/>
          </a:prstGeom>
          <a:noFill/>
        </p:spPr>
        <p:txBody>
          <a:bodyPr wrap="none" lIns="0" tIns="0" rIns="0" bIns="0" anchor="t">
            <a:spAutoFit/>
          </a:bodyPr>
          <a:lstStyle/>
          <a:p>
            <a:pPr algn="l">
              <a:buNone/>
            </a:pPr>
            <a:r>
              <a:rPr sz="1000" dirty="0">
                <a:solidFill>
                  <a:srgbClr val="8A8A9A"/>
                </a:solidFill>
                <a:latin typeface="Maple Mono NF"/>
              </a:rPr>
              <a:t>    </a:t>
            </a:r>
            <a:r>
              <a:rPr sz="1000" dirty="0">
                <a:solidFill>
                  <a:schemeClr val="accent4"/>
                </a:solidFill>
                <a:latin typeface="Maple Mono NF"/>
              </a:rPr>
              <a:t># ours: the sink is the algorithm itself</a:t>
            </a:r>
          </a:p>
          <a:p>
            <a:pPr algn="l">
              <a:buNone/>
            </a:pPr>
            <a:r>
              <a:rPr sz="1000" dirty="0">
                <a:solidFill>
                  <a:srgbClr val="8A8A9A"/>
                </a:solidFill>
                <a:latin typeface="Maple Mono NF"/>
              </a:rPr>
              <a:t> 65 </a:t>
            </a:r>
            <a:r>
              <a:rPr sz="1000" dirty="0">
                <a:solidFill>
                  <a:srgbClr val="DCDCAA"/>
                </a:solidFill>
                <a:latin typeface="Maple Mono NF"/>
              </a:rPr>
              <a:t>hash</a:t>
            </a:r>
            <a:r>
              <a:rPr sz="1000" dirty="0">
                <a:solidFill>
                  <a:schemeClr val="tx2"/>
                </a:solidFill>
                <a:latin typeface="Maple Mono NF"/>
              </a:rPr>
              <a:t> = </a:t>
            </a:r>
            <a:r>
              <a:rPr sz="1000" dirty="0">
                <a:solidFill>
                  <a:srgbClr val="9CDCFE"/>
                </a:solidFill>
                <a:latin typeface="Maple Mono NF"/>
              </a:rPr>
              <a:t>hashlib</a:t>
            </a:r>
            <a:r>
              <a:rPr sz="1000" dirty="0">
                <a:solidFill>
                  <a:schemeClr val="tx2"/>
                </a:solidFill>
                <a:latin typeface="Maple Mono NF"/>
              </a:rPr>
              <a:t>.</a:t>
            </a:r>
            <a:r>
              <a:rPr sz="1000" dirty="0">
                <a:solidFill>
                  <a:srgbClr val="DCDCAA"/>
                </a:solidFill>
                <a:latin typeface="Maple Mono NF"/>
              </a:rPr>
              <a:t>md5</a:t>
            </a:r>
            <a:r>
              <a:rPr sz="1000" dirty="0">
                <a:solidFill>
                  <a:schemeClr val="tx2"/>
                </a:solidFill>
                <a:latin typeface="Maple Mono NF"/>
              </a:rPr>
              <a:t>()</a:t>
            </a:r>
          </a:p>
          <a:p>
            <a:pPr algn="l">
              <a:buNone/>
            </a:pPr>
            <a:r>
              <a:rPr sz="1000" dirty="0">
                <a:solidFill>
                  <a:srgbClr val="8A8A9A"/>
                </a:solidFill>
                <a:latin typeface="Maple Mono NF"/>
              </a:rPr>
              <a:t> 66 </a:t>
            </a:r>
            <a:r>
              <a:rPr sz="1000" dirty="0" err="1">
                <a:solidFill>
                  <a:srgbClr val="DCDCAA"/>
                </a:solidFill>
                <a:latin typeface="Maple Mono NF"/>
              </a:rPr>
              <a:t>hash</a:t>
            </a:r>
            <a:r>
              <a:rPr sz="1000" dirty="0" err="1">
                <a:solidFill>
                  <a:schemeClr val="tx2"/>
                </a:solidFill>
                <a:latin typeface="Maple Mono NF"/>
              </a:rPr>
              <a:t>.</a:t>
            </a:r>
            <a:r>
              <a:rPr sz="1000" dirty="0" err="1">
                <a:solidFill>
                  <a:srgbClr val="DCDCAA"/>
                </a:solidFill>
                <a:latin typeface="Maple Mono NF"/>
              </a:rPr>
              <a:t>update</a:t>
            </a:r>
            <a:r>
              <a:rPr sz="1000" dirty="0">
                <a:solidFill>
                  <a:schemeClr val="tx2"/>
                </a:solidFill>
                <a:latin typeface="Maple Mono NF"/>
              </a:rPr>
              <a:t>(</a:t>
            </a:r>
            <a:r>
              <a:rPr sz="1000" dirty="0">
                <a:solidFill>
                  <a:srgbClr val="DCDCAA"/>
                </a:solidFill>
                <a:latin typeface="Maple Mono NF"/>
              </a:rPr>
              <a:t>input</a:t>
            </a:r>
            <a:r>
              <a:rPr sz="1000" dirty="0">
                <a:solidFill>
                  <a:schemeClr val="tx2"/>
                </a:solidFill>
                <a:latin typeface="Maple Mono NF"/>
              </a:rPr>
              <a:t>)</a:t>
            </a:r>
          </a:p>
          <a:p>
            <a:pPr algn="l">
              <a:buNone/>
            </a:pPr>
            <a:r>
              <a:rPr sz="1000" dirty="0">
                <a:solidFill>
                  <a:srgbClr val="8A8A9A"/>
                </a:solidFill>
                <a:latin typeface="Maple Mono NF"/>
              </a:rPr>
              <a:t> 68 </a:t>
            </a:r>
            <a:r>
              <a:rPr sz="1000" dirty="0">
                <a:solidFill>
                  <a:srgbClr val="9CDCFE"/>
                </a:solidFill>
                <a:latin typeface="Maple Mono NF"/>
              </a:rPr>
              <a:t>result</a:t>
            </a:r>
            <a:r>
              <a:rPr sz="1000" dirty="0">
                <a:solidFill>
                  <a:schemeClr val="tx2"/>
                </a:solidFill>
                <a:latin typeface="Maple Mono NF"/>
              </a:rPr>
              <a:t> = </a:t>
            </a:r>
            <a:r>
              <a:rPr sz="1000" dirty="0" err="1">
                <a:solidFill>
                  <a:srgbClr val="DCDCAA"/>
                </a:solidFill>
                <a:latin typeface="Maple Mono NF"/>
              </a:rPr>
              <a:t>hash</a:t>
            </a:r>
            <a:r>
              <a:rPr sz="1000" dirty="0" err="1">
                <a:solidFill>
                  <a:schemeClr val="tx2"/>
                </a:solidFill>
                <a:latin typeface="Maple Mono NF"/>
              </a:rPr>
              <a:t>.</a:t>
            </a:r>
            <a:r>
              <a:rPr sz="1000" dirty="0" err="1">
                <a:solidFill>
                  <a:srgbClr val="DCDCAA"/>
                </a:solidFill>
                <a:latin typeface="Maple Mono NF"/>
              </a:rPr>
              <a:t>digest</a:t>
            </a:r>
            <a:r>
              <a:rPr sz="1000" dirty="0">
                <a:solidFill>
                  <a:schemeClr val="tx2"/>
                </a:solidFill>
                <a:latin typeface="Maple Mono NF"/>
              </a:rPr>
              <a:t>()</a:t>
            </a:r>
          </a:p>
          <a:p>
            <a:pPr algn="l">
              <a:buNone/>
            </a:pPr>
            <a:r>
              <a:rPr sz="1000" dirty="0">
                <a:solidFill>
                  <a:srgbClr val="8A8A9A"/>
                </a:solidFill>
                <a:latin typeface="Maple Mono NF"/>
              </a:rPr>
              <a:t> 69 </a:t>
            </a:r>
            <a:r>
              <a:rPr sz="1000" dirty="0">
                <a:solidFill>
                  <a:srgbClr val="9CDCFE"/>
                </a:solidFill>
                <a:latin typeface="Maple Mono NF"/>
              </a:rPr>
              <a:t>f</a:t>
            </a:r>
            <a:r>
              <a:rPr sz="1000" dirty="0">
                <a:solidFill>
                  <a:schemeClr val="tx2"/>
                </a:solidFill>
                <a:latin typeface="Maple Mono NF"/>
              </a:rPr>
              <a:t> = </a:t>
            </a:r>
            <a:r>
              <a:rPr sz="1000" dirty="0">
                <a:solidFill>
                  <a:srgbClr val="DCDCAA"/>
                </a:solidFill>
                <a:latin typeface="Maple Mono NF"/>
              </a:rPr>
              <a:t>open</a:t>
            </a:r>
            <a:r>
              <a:rPr sz="1000" dirty="0">
                <a:solidFill>
                  <a:schemeClr val="tx2"/>
                </a:solidFill>
                <a:latin typeface="Maple Mono NF"/>
              </a:rPr>
              <a:t>(</a:t>
            </a:r>
            <a:r>
              <a:rPr sz="1000" dirty="0">
                <a:solidFill>
                  <a:srgbClr val="569CD6"/>
                </a:solidFill>
                <a:latin typeface="Maple Mono NF"/>
              </a:rPr>
              <a:t>f</a:t>
            </a:r>
            <a:r>
              <a:rPr sz="1000" dirty="0">
                <a:solidFill>
                  <a:srgbClr val="CE9178"/>
                </a:solidFill>
                <a:latin typeface="Maple Mono NF"/>
              </a:rPr>
              <a:t>'</a:t>
            </a:r>
            <a:r>
              <a:rPr sz="1000" dirty="0">
                <a:solidFill>
                  <a:srgbClr val="569CD6"/>
                </a:solidFill>
                <a:latin typeface="Maple Mono NF"/>
              </a:rPr>
              <a:t>{</a:t>
            </a:r>
            <a:r>
              <a:rPr sz="1000" dirty="0" err="1">
                <a:solidFill>
                  <a:srgbClr val="9CDCFE"/>
                </a:solidFill>
                <a:latin typeface="Maple Mono NF"/>
              </a:rPr>
              <a:t>helpers</a:t>
            </a:r>
            <a:r>
              <a:rPr sz="1000" dirty="0" err="1">
                <a:solidFill>
                  <a:schemeClr val="tx2"/>
                </a:solidFill>
                <a:latin typeface="Maple Mono NF"/>
              </a:rPr>
              <a:t>.</a:t>
            </a:r>
            <a:r>
              <a:rPr sz="1000" dirty="0" err="1">
                <a:solidFill>
                  <a:srgbClr val="9CDCFE"/>
                </a:solidFill>
                <a:latin typeface="Maple Mono NF"/>
              </a:rPr>
              <a:t>utils</a:t>
            </a:r>
            <a:r>
              <a:rPr sz="1000" dirty="0" err="1">
                <a:solidFill>
                  <a:schemeClr val="tx2"/>
                </a:solidFill>
                <a:latin typeface="Maple Mono NF"/>
              </a:rPr>
              <a:t>.</a:t>
            </a:r>
            <a:r>
              <a:rPr sz="1000" dirty="0" err="1">
                <a:solidFill>
                  <a:srgbClr val="9CDCFE"/>
                </a:solidFill>
                <a:latin typeface="Maple Mono NF"/>
              </a:rPr>
              <a:t>TESTFILES_DIR</a:t>
            </a:r>
            <a:r>
              <a:rPr sz="1000" dirty="0">
                <a:solidFill>
                  <a:srgbClr val="569CD6"/>
                </a:solidFill>
                <a:latin typeface="Maple Mono NF"/>
              </a:rPr>
              <a:t>}</a:t>
            </a:r>
            <a:r>
              <a:rPr sz="1000" dirty="0">
                <a:solidFill>
                  <a:srgbClr val="CE9178"/>
                </a:solidFill>
                <a:latin typeface="Maple Mono NF"/>
              </a:rPr>
              <a:t>/</a:t>
            </a:r>
            <a:r>
              <a:rPr sz="1000" dirty="0" err="1">
                <a:solidFill>
                  <a:srgbClr val="CE9178"/>
                </a:solidFill>
                <a:latin typeface="Maple Mono NF"/>
              </a:rPr>
              <a:t>passwordFile.txt</a:t>
            </a:r>
            <a:r>
              <a:rPr sz="1000" dirty="0">
                <a:solidFill>
                  <a:srgbClr val="CE9178"/>
                </a:solidFill>
                <a:latin typeface="Maple Mono NF"/>
              </a:rPr>
              <a:t>'</a:t>
            </a:r>
            <a:r>
              <a:rPr sz="1000" dirty="0">
                <a:solidFill>
                  <a:schemeClr val="tx2"/>
                </a:solidFill>
                <a:latin typeface="Maple Mono NF"/>
              </a:rPr>
              <a:t>, </a:t>
            </a:r>
            <a:r>
              <a:rPr sz="1000" dirty="0">
                <a:solidFill>
                  <a:srgbClr val="CE9178"/>
                </a:solidFill>
                <a:latin typeface="Maple Mono NF"/>
              </a:rPr>
              <a:t>'a'</a:t>
            </a:r>
            <a:r>
              <a:rPr sz="1000" dirty="0">
                <a:solidFill>
                  <a:schemeClr val="tx2"/>
                </a:solidFill>
                <a:latin typeface="Maple Mono NF"/>
              </a:rPr>
              <a:t>)</a:t>
            </a:r>
          </a:p>
          <a:p>
            <a:pPr algn="l">
              <a:buNone/>
            </a:pPr>
            <a:r>
              <a:rPr sz="1000" dirty="0">
                <a:solidFill>
                  <a:srgbClr val="8A8A9A"/>
                </a:solidFill>
                <a:latin typeface="Maple Mono NF"/>
              </a:rPr>
              <a:t> 70 </a:t>
            </a:r>
            <a:r>
              <a:rPr sz="1000" dirty="0" err="1">
                <a:solidFill>
                  <a:srgbClr val="9CDCFE"/>
                </a:solidFill>
                <a:latin typeface="Maple Mono NF"/>
              </a:rPr>
              <a:t>f</a:t>
            </a:r>
            <a:r>
              <a:rPr sz="1000" dirty="0" err="1">
                <a:solidFill>
                  <a:schemeClr val="tx2"/>
                </a:solidFill>
                <a:latin typeface="Maple Mono NF"/>
              </a:rPr>
              <a:t>.</a:t>
            </a:r>
            <a:r>
              <a:rPr sz="1000" dirty="0" err="1">
                <a:solidFill>
                  <a:srgbClr val="DCDCAA"/>
                </a:solidFill>
                <a:latin typeface="Maple Mono NF"/>
              </a:rPr>
              <a:t>write</a:t>
            </a:r>
            <a:r>
              <a:rPr sz="1000" dirty="0">
                <a:solidFill>
                  <a:schemeClr val="tx2"/>
                </a:solidFill>
                <a:latin typeface="Maple Mono NF"/>
              </a:rPr>
              <a:t>(</a:t>
            </a:r>
            <a:r>
              <a:rPr sz="1000" dirty="0" err="1">
                <a:solidFill>
                  <a:srgbClr val="569CD6"/>
                </a:solidFill>
                <a:latin typeface="Maple Mono NF"/>
              </a:rPr>
              <a:t>f</a:t>
            </a:r>
            <a:r>
              <a:rPr sz="1000" dirty="0" err="1">
                <a:solidFill>
                  <a:srgbClr val="CE9178"/>
                </a:solidFill>
                <a:latin typeface="Maple Mono NF"/>
              </a:rPr>
              <a:t>'hash_value</a:t>
            </a:r>
            <a:r>
              <a:rPr sz="1000" dirty="0">
                <a:solidFill>
                  <a:srgbClr val="CE9178"/>
                </a:solidFill>
                <a:latin typeface="Maple Mono NF"/>
              </a:rPr>
              <a:t>=</a:t>
            </a:r>
            <a:r>
              <a:rPr sz="1000" dirty="0">
                <a:solidFill>
                  <a:srgbClr val="569CD6"/>
                </a:solidFill>
                <a:latin typeface="Maple Mono NF"/>
              </a:rPr>
              <a:t>{</a:t>
            </a:r>
            <a:r>
              <a:rPr sz="1000" dirty="0">
                <a:solidFill>
                  <a:srgbClr val="9CDCFE"/>
                </a:solidFill>
                <a:latin typeface="Maple Mono NF"/>
              </a:rPr>
              <a:t>base64</a:t>
            </a:r>
            <a:r>
              <a:rPr sz="1000" dirty="0">
                <a:solidFill>
                  <a:schemeClr val="tx2"/>
                </a:solidFill>
                <a:latin typeface="Maple Mono NF"/>
              </a:rPr>
              <a:t>.</a:t>
            </a:r>
            <a:r>
              <a:rPr sz="1000" dirty="0">
                <a:solidFill>
                  <a:srgbClr val="DCDCAA"/>
                </a:solidFill>
                <a:latin typeface="Maple Mono NF"/>
              </a:rPr>
              <a:t>b64encode</a:t>
            </a:r>
            <a:r>
              <a:rPr sz="1000" dirty="0">
                <a:solidFill>
                  <a:schemeClr val="tx2"/>
                </a:solidFill>
                <a:latin typeface="Maple Mono NF"/>
              </a:rPr>
              <a:t>(</a:t>
            </a:r>
            <a:r>
              <a:rPr sz="1000" dirty="0">
                <a:solidFill>
                  <a:srgbClr val="9CDCFE"/>
                </a:solidFill>
                <a:latin typeface="Maple Mono NF"/>
              </a:rPr>
              <a:t>result</a:t>
            </a:r>
            <a:r>
              <a:rPr sz="1000" dirty="0">
                <a:solidFill>
                  <a:schemeClr val="tx2"/>
                </a:solidFill>
                <a:latin typeface="Maple Mono NF"/>
              </a:rPr>
              <a:t>)</a:t>
            </a:r>
            <a:r>
              <a:rPr sz="1000" dirty="0">
                <a:solidFill>
                  <a:srgbClr val="569CD6"/>
                </a:solidFill>
                <a:latin typeface="Maple Mono NF"/>
              </a:rPr>
              <a:t>}</a:t>
            </a:r>
            <a:r>
              <a:rPr sz="1000" dirty="0">
                <a:solidFill>
                  <a:srgbClr val="CE9178"/>
                </a:solidFill>
                <a:latin typeface="Maple Mono NF"/>
              </a:rPr>
              <a:t>\n'</a:t>
            </a:r>
            <a:r>
              <a:rPr sz="1000" dirty="0">
                <a:solidFill>
                  <a:schemeClr val="tx2"/>
                </a:solidFill>
                <a:latin typeface="Maple Mono NF"/>
              </a:rPr>
              <a:t>)</a:t>
            </a:r>
          </a:p>
        </p:txBody>
      </p:sp>
      <p:sp>
        <p:nvSpPr>
          <p:cNvPr id="110" name="Rectangle 109"/>
          <p:cNvSpPr/>
          <p:nvPr/>
        </p:nvSpPr>
        <p:spPr>
          <a:xfrm>
            <a:off x="319251" y="338062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label rests on the algorithm and the purpose, so it is 1 with no path to trace.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t>An alert on the wrong line: the fixed XML file</a:t>
            </a:r>
          </a:p>
        </p:txBody>
      </p:sp>
      <p:sp>
        <p:nvSpPr>
          <p:cNvPr id="10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The rule fires on line 55, a parse of a file the program ships. The flaw is the query on line 56.</a:t>
            </a:r>
          </a:p>
        </p:txBody>
      </p:sp>
      <p:sp>
        <p:nvSpPr>
          <p:cNvPr id="104" name="TextBox 3"/>
          <p:cNvSpPr txBox="1"/>
          <p:nvPr/>
        </p:nvSpPr>
        <p:spPr>
          <a:xfrm>
            <a:off x="319251" y="1439712"/>
            <a:ext cx="4615046"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BenchmarkTest00013.py, BenchmarkTest00013_post, lines 48 to 57</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699712"/>
            <a:ext cx="6014545" cy="1548000"/>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743528"/>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743528"/>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743528"/>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2029712"/>
            <a:ext cx="5182509" cy="1015663"/>
          </a:xfrm>
          <a:prstGeom prst="rect">
            <a:avLst/>
          </a:prstGeom>
          <a:noFill/>
        </p:spPr>
        <p:txBody>
          <a:bodyPr wrap="none" lIns="0" tIns="0" rIns="0" bIns="0" anchor="t">
            <a:spAutoFit/>
          </a:bodyPr>
          <a:lstStyle/>
          <a:p>
            <a:pPr algn="l">
              <a:buNone/>
            </a:pPr>
            <a:r>
              <a:rPr sz="1100" dirty="0">
                <a:solidFill>
                  <a:srgbClr val="8A8A9A"/>
                </a:solidFill>
                <a:latin typeface="Maple Mono NF"/>
              </a:rPr>
              <a:t> 48 </a:t>
            </a:r>
            <a:r>
              <a:rPr sz="1100" dirty="0">
                <a:solidFill>
                  <a:srgbClr val="9CDCFE"/>
                </a:solidFill>
                <a:latin typeface="Maple Mono NF"/>
              </a:rPr>
              <a:t>bar</a:t>
            </a:r>
            <a:r>
              <a:rPr sz="1100" dirty="0">
                <a:solidFill>
                  <a:schemeClr val="tx2"/>
                </a:solidFill>
                <a:latin typeface="Maple Mono NF"/>
              </a:rPr>
              <a:t> = </a:t>
            </a:r>
            <a:r>
              <a:rPr sz="1100" dirty="0" err="1">
                <a:solidFill>
                  <a:srgbClr val="9CDCFE"/>
                </a:solidFill>
                <a:latin typeface="Maple Mono NF"/>
              </a:rPr>
              <a:t>lst</a:t>
            </a:r>
            <a:r>
              <a:rPr sz="1100" dirty="0">
                <a:solidFill>
                  <a:schemeClr val="tx2"/>
                </a:solidFill>
                <a:latin typeface="Maple Mono NF"/>
              </a:rPr>
              <a:t>[</a:t>
            </a:r>
            <a:r>
              <a:rPr sz="1100" dirty="0">
                <a:solidFill>
                  <a:srgbClr val="B5CEA8"/>
                </a:solidFill>
                <a:latin typeface="Maple Mono NF"/>
              </a:rPr>
              <a:t>1</a:t>
            </a:r>
            <a:r>
              <a:rPr sz="1100" dirty="0">
                <a:solidFill>
                  <a:schemeClr val="tx2"/>
                </a:solidFill>
                <a:latin typeface="Maple Mono NF"/>
              </a:rPr>
              <a:t>]</a:t>
            </a:r>
          </a:p>
          <a:p>
            <a:pPr algn="l">
              <a:buNone/>
            </a:pPr>
            <a:r>
              <a:rPr sz="1100" dirty="0">
                <a:solidFill>
                  <a:srgbClr val="8A8A9A"/>
                </a:solidFill>
                <a:latin typeface="Maple Mono NF"/>
              </a:rPr>
              <a:t>    </a:t>
            </a:r>
            <a:r>
              <a:rPr sz="1100" dirty="0">
                <a:solidFill>
                  <a:schemeClr val="accent4"/>
                </a:solidFill>
                <a:latin typeface="Maple Mono NF"/>
              </a:rPr>
              <a:t># ours: Bandit's alert, B314, on a file the program ships</a:t>
            </a:r>
          </a:p>
          <a:p>
            <a:pPr algn="l">
              <a:buNone/>
            </a:pPr>
            <a:r>
              <a:rPr sz="1100" dirty="0">
                <a:solidFill>
                  <a:srgbClr val="8A8A9A"/>
                </a:solidFill>
                <a:latin typeface="Maple Mono NF"/>
              </a:rPr>
              <a:t> 55 </a:t>
            </a:r>
            <a:r>
              <a:rPr sz="1100" dirty="0">
                <a:solidFill>
                  <a:srgbClr val="9CDCFE"/>
                </a:solidFill>
                <a:latin typeface="Maple Mono NF"/>
              </a:rPr>
              <a:t>root</a:t>
            </a:r>
            <a:r>
              <a:rPr sz="1100" dirty="0">
                <a:solidFill>
                  <a:schemeClr val="tx2"/>
                </a:solidFill>
                <a:latin typeface="Maple Mono NF"/>
              </a:rPr>
              <a:t> = </a:t>
            </a:r>
            <a:r>
              <a:rPr sz="1100" dirty="0" err="1">
                <a:solidFill>
                  <a:srgbClr val="9CDCFE"/>
                </a:solidFill>
                <a:latin typeface="Maple Mono NF"/>
              </a:rPr>
              <a:t>ET</a:t>
            </a:r>
            <a:r>
              <a:rPr sz="1100" dirty="0" err="1">
                <a:solidFill>
                  <a:schemeClr val="tx2"/>
                </a:solidFill>
                <a:latin typeface="Maple Mono NF"/>
              </a:rPr>
              <a:t>.</a:t>
            </a:r>
            <a:r>
              <a:rPr sz="1100" dirty="0" err="1">
                <a:solidFill>
                  <a:srgbClr val="DCDCAA"/>
                </a:solidFill>
                <a:latin typeface="Maple Mono NF"/>
              </a:rPr>
              <a:t>parse</a:t>
            </a:r>
            <a:r>
              <a:rPr sz="1100" dirty="0">
                <a:solidFill>
                  <a:schemeClr val="tx2"/>
                </a:solidFill>
                <a:latin typeface="Maple Mono NF"/>
              </a:rPr>
              <a:t>(</a:t>
            </a:r>
            <a:r>
              <a:rPr sz="1100" dirty="0">
                <a:solidFill>
                  <a:srgbClr val="569CD6"/>
                </a:solidFill>
                <a:latin typeface="Maple Mono NF"/>
              </a:rPr>
              <a:t>f</a:t>
            </a:r>
            <a:r>
              <a:rPr sz="1100" dirty="0">
                <a:solidFill>
                  <a:srgbClr val="CE9178"/>
                </a:solidFill>
                <a:latin typeface="Maple Mono NF"/>
              </a:rPr>
              <a:t>'</a:t>
            </a:r>
            <a:r>
              <a:rPr sz="1100" dirty="0">
                <a:solidFill>
                  <a:srgbClr val="569CD6"/>
                </a:solidFill>
                <a:latin typeface="Maple Mono NF"/>
              </a:rPr>
              <a:t>{</a:t>
            </a:r>
            <a:r>
              <a:rPr sz="1100" dirty="0" err="1">
                <a:solidFill>
                  <a:srgbClr val="9CDCFE"/>
                </a:solidFill>
                <a:latin typeface="Maple Mono NF"/>
              </a:rPr>
              <a:t>helpers</a:t>
            </a:r>
            <a:r>
              <a:rPr sz="1100" dirty="0" err="1">
                <a:solidFill>
                  <a:schemeClr val="tx2"/>
                </a:solidFill>
                <a:latin typeface="Maple Mono NF"/>
              </a:rPr>
              <a:t>.</a:t>
            </a:r>
            <a:r>
              <a:rPr sz="1100" dirty="0" err="1">
                <a:solidFill>
                  <a:srgbClr val="9CDCFE"/>
                </a:solidFill>
                <a:latin typeface="Maple Mono NF"/>
              </a:rPr>
              <a:t>utils</a:t>
            </a:r>
            <a:r>
              <a:rPr sz="1100" dirty="0" err="1">
                <a:solidFill>
                  <a:schemeClr val="tx2"/>
                </a:solidFill>
                <a:latin typeface="Maple Mono NF"/>
              </a:rPr>
              <a:t>.</a:t>
            </a:r>
            <a:r>
              <a:rPr sz="1100" dirty="0" err="1">
                <a:solidFill>
                  <a:srgbClr val="9CDCFE"/>
                </a:solidFill>
                <a:latin typeface="Maple Mono NF"/>
              </a:rPr>
              <a:t>RES_DIR</a:t>
            </a:r>
            <a:r>
              <a:rPr sz="1100" dirty="0">
                <a:solidFill>
                  <a:srgbClr val="569CD6"/>
                </a:solidFill>
                <a:latin typeface="Maple Mono NF"/>
              </a:rPr>
              <a:t>}</a:t>
            </a:r>
            <a:r>
              <a:rPr sz="1100" dirty="0">
                <a:solidFill>
                  <a:srgbClr val="CE9178"/>
                </a:solidFill>
                <a:latin typeface="Maple Mono NF"/>
              </a:rPr>
              <a:t>/</a:t>
            </a:r>
            <a:r>
              <a:rPr sz="1100" dirty="0" err="1">
                <a:solidFill>
                  <a:srgbClr val="CE9178"/>
                </a:solidFill>
                <a:latin typeface="Maple Mono NF"/>
              </a:rPr>
              <a:t>employees.xml</a:t>
            </a:r>
            <a:r>
              <a:rPr sz="1100" dirty="0">
                <a:solidFill>
                  <a:srgbClr val="CE9178"/>
                </a:solidFill>
                <a:latin typeface="Maple Mono NF"/>
              </a:rPr>
              <a:t>'</a:t>
            </a:r>
            <a:r>
              <a:rPr sz="1100" dirty="0">
                <a:solidFill>
                  <a:schemeClr val="tx2"/>
                </a:solidFill>
                <a:latin typeface="Maple Mono NF"/>
              </a:rPr>
              <a:t>)</a:t>
            </a:r>
          </a:p>
          <a:p>
            <a:pPr algn="l">
              <a:buNone/>
            </a:pPr>
            <a:r>
              <a:rPr sz="1100" dirty="0">
                <a:solidFill>
                  <a:srgbClr val="8A8A9A"/>
                </a:solidFill>
                <a:latin typeface="Maple Mono NF"/>
              </a:rPr>
              <a:t>    </a:t>
            </a:r>
            <a:r>
              <a:rPr sz="1100" dirty="0">
                <a:solidFill>
                  <a:schemeClr val="accent4"/>
                </a:solidFill>
                <a:latin typeface="Maple Mono NF"/>
              </a:rPr>
              <a:t># ours: the real flaw, CWE-643, with no Bandit rule</a:t>
            </a:r>
          </a:p>
          <a:p>
            <a:pPr algn="l">
              <a:buNone/>
            </a:pPr>
            <a:r>
              <a:rPr sz="1100" dirty="0">
                <a:solidFill>
                  <a:srgbClr val="8A8A9A"/>
                </a:solidFill>
                <a:latin typeface="Maple Mono NF"/>
              </a:rPr>
              <a:t> 56 </a:t>
            </a:r>
            <a:r>
              <a:rPr sz="1100" dirty="0">
                <a:solidFill>
                  <a:srgbClr val="9CDCFE"/>
                </a:solidFill>
                <a:latin typeface="Maple Mono NF"/>
              </a:rPr>
              <a:t>query</a:t>
            </a:r>
            <a:r>
              <a:rPr sz="1100" dirty="0">
                <a:solidFill>
                  <a:schemeClr val="tx2"/>
                </a:solidFill>
                <a:latin typeface="Maple Mono NF"/>
              </a:rPr>
              <a:t> = </a:t>
            </a:r>
            <a:r>
              <a:rPr sz="1100" dirty="0">
                <a:solidFill>
                  <a:srgbClr val="569CD6"/>
                </a:solidFill>
                <a:latin typeface="Maple Mono NF"/>
              </a:rPr>
              <a:t>f</a:t>
            </a:r>
            <a:r>
              <a:rPr sz="1100" dirty="0">
                <a:solidFill>
                  <a:srgbClr val="CE9178"/>
                </a:solidFill>
                <a:latin typeface="Maple Mono NF"/>
              </a:rPr>
              <a:t>"/Employees/Employee[@</a:t>
            </a:r>
            <a:r>
              <a:rPr sz="1100" dirty="0" err="1">
                <a:solidFill>
                  <a:srgbClr val="CE9178"/>
                </a:solidFill>
                <a:latin typeface="Maple Mono NF"/>
              </a:rPr>
              <a:t>emplid</a:t>
            </a:r>
            <a:r>
              <a:rPr sz="1100" dirty="0">
                <a:solidFill>
                  <a:srgbClr val="CE9178"/>
                </a:solidFill>
                <a:latin typeface="Maple Mono NF"/>
              </a:rPr>
              <a:t>=\'</a:t>
            </a:r>
            <a:r>
              <a:rPr sz="1100" dirty="0">
                <a:solidFill>
                  <a:srgbClr val="569CD6"/>
                </a:solidFill>
                <a:latin typeface="Maple Mono NF"/>
              </a:rPr>
              <a:t>{</a:t>
            </a:r>
            <a:r>
              <a:rPr sz="1100" dirty="0">
                <a:solidFill>
                  <a:srgbClr val="9CDCFE"/>
                </a:solidFill>
                <a:latin typeface="Maple Mono NF"/>
              </a:rPr>
              <a:t>bar</a:t>
            </a:r>
            <a:r>
              <a:rPr sz="1100" dirty="0">
                <a:solidFill>
                  <a:srgbClr val="569CD6"/>
                </a:solidFill>
                <a:latin typeface="Maple Mono NF"/>
              </a:rPr>
              <a:t>}</a:t>
            </a:r>
            <a:r>
              <a:rPr sz="1100" dirty="0">
                <a:solidFill>
                  <a:srgbClr val="CE9178"/>
                </a:solidFill>
                <a:latin typeface="Maple Mono NF"/>
              </a:rPr>
              <a:t>\']"</a:t>
            </a:r>
          </a:p>
          <a:p>
            <a:pPr algn="l">
              <a:buNone/>
            </a:pPr>
            <a:r>
              <a:rPr sz="1100" dirty="0">
                <a:solidFill>
                  <a:srgbClr val="8A8A9A"/>
                </a:solidFill>
                <a:latin typeface="Maple Mono NF"/>
              </a:rPr>
              <a:t> 57 </a:t>
            </a:r>
            <a:r>
              <a:rPr sz="1100" dirty="0">
                <a:solidFill>
                  <a:srgbClr val="9CDCFE"/>
                </a:solidFill>
                <a:latin typeface="Maple Mono NF"/>
              </a:rPr>
              <a:t>nodes</a:t>
            </a:r>
            <a:r>
              <a:rPr sz="1100" dirty="0">
                <a:solidFill>
                  <a:schemeClr val="tx2"/>
                </a:solidFill>
                <a:latin typeface="Maple Mono NF"/>
              </a:rPr>
              <a:t> = </a:t>
            </a:r>
            <a:r>
              <a:rPr sz="1100" dirty="0" err="1">
                <a:solidFill>
                  <a:srgbClr val="9CDCFE"/>
                </a:solidFill>
                <a:latin typeface="Maple Mono NF"/>
              </a:rPr>
              <a:t>elementpath</a:t>
            </a:r>
            <a:r>
              <a:rPr sz="1100" dirty="0" err="1">
                <a:solidFill>
                  <a:schemeClr val="tx2"/>
                </a:solidFill>
                <a:latin typeface="Maple Mono NF"/>
              </a:rPr>
              <a:t>.</a:t>
            </a:r>
            <a:r>
              <a:rPr sz="1100" dirty="0" err="1">
                <a:solidFill>
                  <a:srgbClr val="DCDCAA"/>
                </a:solidFill>
                <a:latin typeface="Maple Mono NF"/>
              </a:rPr>
              <a:t>select</a:t>
            </a:r>
            <a:r>
              <a:rPr sz="1100" dirty="0">
                <a:solidFill>
                  <a:schemeClr val="tx2"/>
                </a:solidFill>
                <a:latin typeface="Maple Mono NF"/>
              </a:rPr>
              <a:t>(</a:t>
            </a:r>
            <a:r>
              <a:rPr sz="1100" dirty="0">
                <a:solidFill>
                  <a:srgbClr val="9CDCFE"/>
                </a:solidFill>
                <a:latin typeface="Maple Mono NF"/>
              </a:rPr>
              <a:t>root</a:t>
            </a:r>
            <a:r>
              <a:rPr sz="1100" dirty="0">
                <a:solidFill>
                  <a:schemeClr val="tx2"/>
                </a:solidFill>
                <a:latin typeface="Maple Mono NF"/>
              </a:rPr>
              <a:t>, </a:t>
            </a:r>
            <a:r>
              <a:rPr sz="1100" dirty="0">
                <a:solidFill>
                  <a:srgbClr val="9CDCFE"/>
                </a:solidFill>
                <a:latin typeface="Maple Mono NF"/>
              </a:rPr>
              <a:t>query</a:t>
            </a:r>
            <a:r>
              <a:rPr sz="1100" dirty="0">
                <a:solidFill>
                  <a:schemeClr val="tx2"/>
                </a:solidFill>
                <a:latin typeface="Maple Mono NF"/>
              </a:rPr>
              <a:t>)</a:t>
            </a:r>
          </a:p>
        </p:txBody>
      </p:sp>
      <p:sp>
        <p:nvSpPr>
          <p:cNvPr id="110" name="Rectangle 109"/>
          <p:cNvSpPr/>
          <p:nvPr/>
        </p:nvSpPr>
        <p:spPr>
          <a:xfrm>
            <a:off x="319251" y="3477712"/>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alert's label is 0, and the real flaw on the next line has no alert at all.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9000" y="2217270"/>
            <a:ext cx="5000000" cy="708960"/>
          </a:xfrm>
          <a:prstGeom prst="rect">
            <a:avLst/>
          </a:prstGeom>
          <a:noFill/>
        </p:spPr>
        <p:txBody>
          <a:bodyPr wrap="square" anchor="ctr">
            <a:spAutoFit/>
          </a:bodyPr>
          <a:lstStyle/>
          <a:p>
            <a:pPr algn="ctr"/>
            <a:r>
              <a:rPr sz="4000" b="1" dirty="0">
                <a:solidFill>
                  <a:schemeClr val="tx2"/>
                </a:solidFill>
                <a:latin typeface="+mj-lt"/>
              </a:rPr>
              <a:t>Why triage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Triage: what discovery leaves undecided</a:t>
            </a:r>
          </a:p>
        </p:txBody>
      </p:sp>
      <p:sp>
        <p:nvSpPr>
          <p:cNvPr id="3" name="TextBox 2"/>
          <p:cNvSpPr txBox="1"/>
          <p:nvPr/>
        </p:nvSpPr>
        <p:spPr>
          <a:xfrm>
            <a:off x="319251" y="700000"/>
            <a:ext cx="6014545" cy="523220"/>
          </a:xfrm>
          <a:prstGeom prst="rect">
            <a:avLst/>
          </a:prstGeom>
          <a:noFill/>
        </p:spPr>
        <p:txBody>
          <a:bodyPr wrap="square" anchor="t">
            <a:spAutoFit/>
          </a:bodyPr>
          <a:lstStyle/>
          <a:p>
            <a:r>
              <a:rPr sz="1400" dirty="0">
                <a:solidFill>
                  <a:srgbClr val="28285E"/>
                </a:solidFill>
                <a:latin typeface="Fira Sans" panose="020B0503050000020004" pitchFamily="34" charset="0"/>
              </a:rPr>
              <a:t>On the development set we can measure the scanner against the answer key. The 99 cases hold 34 real flaws.</a:t>
            </a:r>
          </a:p>
        </p:txBody>
      </p:sp>
      <p:graphicFrame>
        <p:nvGraphicFramePr>
          <p:cNvPr id="4" name="Table 3"/>
          <p:cNvGraphicFramePr>
            <a:graphicFrameLocks noGrp="1"/>
          </p:cNvGraphicFramePr>
          <p:nvPr/>
        </p:nvGraphicFramePr>
        <p:xfrm>
          <a:off x="319251" y="1439712"/>
          <a:ext cx="6014545" cy="1351560"/>
        </p:xfrm>
        <a:graphic>
          <a:graphicData uri="http://schemas.openxmlformats.org/drawingml/2006/table">
            <a:tbl>
              <a:tblPr firstRow="1" bandRow="1">
                <a:tableStyleId>{5C22544A-7EE6-4342-B048-85BDC9FD1C3A}</a:tableStyleId>
              </a:tblPr>
              <a:tblGrid>
                <a:gridCol w="3500000">
                  <a:extLst>
                    <a:ext uri="{9D8B030D-6E8A-4147-A177-3AD203B41FA5}">
                      <a16:colId xmlns:a16="http://schemas.microsoft.com/office/drawing/2014/main" val="20000"/>
                    </a:ext>
                  </a:extLst>
                </a:gridCol>
                <a:gridCol w="25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Outcome</a:t>
                      </a:r>
                    </a:p>
                  </a:txBody>
                  <a:tcPr marL="95250" marR="95250" marT="47625" marB="47625">
                    <a:lnB w="12700" cap="flat" cmpd="sng" algn="ctr">
                      <a:solidFill>
                        <a:schemeClr val="tx1"/>
                      </a:solidFill>
                    </a:lnB>
                    <a:noFill/>
                  </a:tcPr>
                </a:tc>
                <a:tc>
                  <a:txBody>
                    <a:bodyPr/>
                    <a:lstStyle/>
                    <a:p>
                      <a:pPr>
                        <a:buNone/>
                      </a:pPr>
                      <a:r>
                        <a:rPr sz="1100" b="1">
                          <a:solidFill>
                            <a:schemeClr val="tx1"/>
                          </a:solidFill>
                        </a:rPr>
                        <a:t>Count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Reported, and real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8 files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Reported, and safe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9 files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Real, and unreported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26 cases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Path traversal cases, no rule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21 cases, 0 alerts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Rectangle 4"/>
          <p:cNvSpPr/>
          <p:nvPr/>
        </p:nvSpPr>
        <p:spPr>
          <a:xfrm>
            <a:off x="319251" y="3032448"/>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dirty="0">
                <a:solidFill>
                  <a:schemeClr val="tx2"/>
                </a:solidFill>
              </a:rPr>
              <a:t>Triage</a:t>
            </a:r>
            <a:r>
              <a:rPr sz="1400" b="0" dirty="0">
                <a:solidFill>
                  <a:schemeClr val="tx2"/>
                </a:solidFill>
              </a:rPr>
              <a:t> decides, for each alert, whether the match is a flaw an attacker can reach, from the code and the threat model.</a:t>
            </a:r>
          </a:p>
        </p:txBody>
      </p:sp>
      <p:sp>
        <p:nvSpPr>
          <p:cNvPr id="6" name="Rectangle 5"/>
          <p:cNvSpPr/>
          <p:nvPr/>
        </p:nvSpPr>
        <p:spPr>
          <a:xfrm>
            <a:off x="319251" y="393216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About half of the alerts are false alarms, and most of the real flaws go unreported.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Triage: the cost of each kind of mistake</a:t>
            </a:r>
          </a:p>
        </p:txBody>
      </p:sp>
      <p:sp>
        <p:nvSpPr>
          <p:cNvPr id="3" name="Content Placeholder 2"/>
          <p:cNvSpPr>
            <a:spLocks noGrp="1"/>
          </p:cNvSpPr>
          <p:nvPr>
            <p:ph idx="1"/>
          </p:nvPr>
        </p:nvSpPr>
        <p:spPr>
          <a:xfrm>
            <a:off x="319251" y="700000"/>
            <a:ext cx="6014545" cy="2360688"/>
          </a:xfrm>
        </p:spPr>
        <p:txBody>
          <a:bodyPr wrap="square" anchor="ctr">
            <a:normAutofit fontScale="92500"/>
          </a:bodyPr>
          <a:lstStyle/>
          <a:p>
            <a:pPr marL="0" indent="0">
              <a:buNone/>
            </a:pPr>
            <a:r>
              <a:rPr sz="1400" b="1" dirty="0">
                <a:solidFill>
                  <a:srgbClr val="28285E"/>
                </a:solidFill>
              </a:rPr>
              <a:t>A triage stage can be wrong in two directions, and the two mistakes cost different people.</a:t>
            </a:r>
          </a:p>
          <a:p>
            <a:pPr marL="400050" indent="-285750">
              <a:spcBef>
                <a:spcPts val="600"/>
              </a:spcBef>
              <a:spcAft>
                <a:spcPts val="600"/>
              </a:spcAft>
              <a:buClr>
                <a:srgbClr val="28285E"/>
              </a:buClr>
              <a:buSzPts val="1260"/>
              <a:buFont typeface="+mn-lt"/>
              <a:buChar char="●"/>
            </a:pPr>
            <a:r>
              <a:rPr sz="1400" b="1" dirty="0">
                <a:solidFill>
                  <a:schemeClr val="tx1"/>
                </a:solidFill>
              </a:rPr>
              <a:t>A false alarm</a:t>
            </a:r>
            <a:r>
              <a:rPr sz="1400" b="0" dirty="0">
                <a:solidFill>
                  <a:schemeClr val="tx1"/>
                </a:solidFill>
              </a:rPr>
              <a:t> passed on costs a reviewer's time, and at scale it costs their trust in the tool.</a:t>
            </a:r>
          </a:p>
          <a:p>
            <a:pPr marL="400050" indent="-285750">
              <a:spcBef>
                <a:spcPts val="600"/>
              </a:spcBef>
              <a:spcAft>
                <a:spcPts val="600"/>
              </a:spcAft>
              <a:buClr>
                <a:srgbClr val="28285E"/>
              </a:buClr>
              <a:buSzPts val="1260"/>
              <a:buFont typeface="+mn-lt"/>
              <a:buChar char="●"/>
            </a:pPr>
            <a:r>
              <a:rPr sz="1400" b="1" dirty="0">
                <a:solidFill>
                  <a:schemeClr val="tx1"/>
                </a:solidFill>
              </a:rPr>
              <a:t>A real flaw</a:t>
            </a:r>
            <a:r>
              <a:rPr sz="1400" b="0" dirty="0">
                <a:solidFill>
                  <a:schemeClr val="tx1"/>
                </a:solidFill>
              </a:rPr>
              <a:t> dismissed ships, and whoever the attacker reaches pays.</a:t>
            </a:r>
          </a:p>
          <a:p>
            <a:pPr marL="400050" indent="-285750">
              <a:spcBef>
                <a:spcPts val="600"/>
              </a:spcBef>
              <a:spcAft>
                <a:spcPts val="600"/>
              </a:spcAft>
              <a:buClr>
                <a:srgbClr val="28285E"/>
              </a:buClr>
              <a:buSzPts val="1260"/>
              <a:buFont typeface="+mn-lt"/>
              <a:buChar char="●"/>
            </a:pPr>
            <a:r>
              <a:rPr sz="1400" b="1" dirty="0">
                <a:solidFill>
                  <a:schemeClr val="tx1"/>
                </a:solidFill>
              </a:rPr>
              <a:t>In a 2026 study</a:t>
            </a:r>
            <a:r>
              <a:rPr lang="en-US" b="1" baseline="30000" dirty="0">
                <a:solidFill>
                  <a:schemeClr val="tx1"/>
                </a:solidFill>
              </a:rPr>
              <a:t> [1]</a:t>
            </a:r>
            <a:r>
              <a:rPr sz="1400" b="0" dirty="0">
                <a:solidFill>
                  <a:schemeClr val="tx1"/>
                </a:solidFill>
              </a:rPr>
              <a:t>, agents cut false alarms from 98 to </a:t>
            </a:r>
            <a:r>
              <a:rPr lang="en-US" sz="1400" b="0" dirty="0">
                <a:solidFill>
                  <a:schemeClr val="tx1"/>
                </a:solidFill>
              </a:rPr>
              <a:t>6 percent and</a:t>
            </a:r>
            <a:r>
              <a:rPr sz="1400" b="0" dirty="0">
                <a:solidFill>
                  <a:schemeClr val="tx1"/>
                </a:solidFill>
              </a:rPr>
              <a:t> dismissed a fifth of the real flaws.</a:t>
            </a:r>
          </a:p>
        </p:txBody>
      </p:sp>
      <p:sp>
        <p:nvSpPr>
          <p:cNvPr id="4" name="Rectangle 3"/>
          <p:cNvSpPr/>
          <p:nvPr/>
        </p:nvSpPr>
        <p:spPr>
          <a:xfrm>
            <a:off x="319251" y="3478355"/>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false positive is an alert with no flaw behind it, and a false negative is a real flaw left unreported or dismissed.</a:t>
            </a:r>
          </a:p>
        </p:txBody>
      </p:sp>
      <p:sp>
        <p:nvSpPr>
          <p:cNvPr id="5" name="Rectangle 4"/>
          <p:cNvSpPr/>
          <p:nvPr/>
        </p:nvSpPr>
        <p:spPr>
          <a:xfrm>
            <a:off x="319251" y="4334734"/>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Your labels and the OWASP key together show both errors.</a:t>
            </a:r>
          </a:p>
        </p:txBody>
      </p:sp>
      <p:sp>
        <p:nvSpPr>
          <p:cNvPr id="6" name="TextBox 5"/>
          <p:cNvSpPr txBox="1"/>
          <p:nvPr/>
        </p:nvSpPr>
        <p:spPr>
          <a:xfrm>
            <a:off x="319251" y="2899105"/>
            <a:ext cx="6014545" cy="161583"/>
          </a:xfrm>
          <a:prstGeom prst="rect">
            <a:avLst/>
          </a:prstGeom>
          <a:noFill/>
        </p:spPr>
        <p:txBody>
          <a:bodyPr wrap="square" lIns="0" tIns="0" rIns="0" bIns="0">
            <a:spAutoFit/>
          </a:bodyPr>
          <a:lstStyle/>
          <a:p>
            <a:pPr algn="r"/>
            <a:r>
              <a:rPr lang="en-US" sz="1050" baseline="30000" dirty="0">
                <a:solidFill>
                  <a:schemeClr val="bg2"/>
                </a:solidFill>
                <a:latin typeface="Fira Sans" panose="020B0503050000020004" pitchFamily="34" charset="0"/>
              </a:rPr>
              <a:t>[1] </a:t>
            </a:r>
            <a:r>
              <a:rPr lang="en-US" sz="1050" dirty="0">
                <a:solidFill>
                  <a:schemeClr val="bg2"/>
                </a:solidFill>
                <a:latin typeface="Fira Sans" panose="020B0503050000020004" pitchFamily="34" charset="0"/>
              </a:rPr>
              <a:t>S</a:t>
            </a:r>
            <a:r>
              <a:rPr sz="1050" dirty="0">
                <a:solidFill>
                  <a:schemeClr val="bg2"/>
                </a:solidFill>
                <a:latin typeface="Fira Sans" panose="020B0503050000020004" pitchFamily="34" charset="0"/>
              </a:rPr>
              <a:t>ifting the Noise, arXiv 2601.22952, January 2026.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Prioritisation: the order of review</a:t>
            </a:r>
          </a:p>
        </p:txBody>
      </p:sp>
      <p:sp>
        <p:nvSpPr>
          <p:cNvPr id="3" name="Content Placeholder 2"/>
          <p:cNvSpPr>
            <a:spLocks noGrp="1"/>
          </p:cNvSpPr>
          <p:nvPr>
            <p:ph idx="1"/>
          </p:nvPr>
        </p:nvSpPr>
        <p:spPr>
          <a:xfrm>
            <a:off x="319251" y="700000"/>
            <a:ext cx="6014545" cy="2420688"/>
          </a:xfrm>
        </p:spPr>
        <p:txBody>
          <a:bodyPr wrap="square" anchor="ctr">
            <a:normAutofit fontScale="92500" lnSpcReduction="10000"/>
          </a:bodyPr>
          <a:lstStyle/>
          <a:p>
            <a:pPr marL="0" indent="0">
              <a:buNone/>
            </a:pPr>
            <a:r>
              <a:rPr sz="1400" b="1">
                <a:solidFill>
                  <a:srgbClr val="28285E"/>
                </a:solidFill>
              </a:rPr>
              <a:t>When more alerts are real than a team can fix, triage also orders them, from the signals it has.</a:t>
            </a:r>
          </a:p>
          <a:p>
            <a:pPr marL="400050" indent="-285750">
              <a:spcBef>
                <a:spcPts val="600"/>
              </a:spcBef>
              <a:spcAft>
                <a:spcPts val="600"/>
              </a:spcAft>
              <a:buClr>
                <a:srgbClr val="28285E"/>
              </a:buClr>
              <a:buSzPts val="1260"/>
              <a:buFont typeface="+mn-lt"/>
              <a:buChar char="●"/>
            </a:pPr>
            <a:r>
              <a:rPr sz="1400" b="1">
                <a:solidFill>
                  <a:schemeClr val="tx1"/>
                </a:solidFill>
              </a:rPr>
              <a:t>Severity and confidence</a:t>
            </a:r>
            <a:r>
              <a:rPr sz="1400" b="0">
                <a:solidFill>
                  <a:schemeClr val="tx1"/>
                </a:solidFill>
              </a:rPr>
              <a:t> come from the rule, so they are free and the same for every alert of that rule.</a:t>
            </a:r>
          </a:p>
          <a:p>
            <a:pPr marL="400050" indent="-285750">
              <a:spcBef>
                <a:spcPts val="600"/>
              </a:spcBef>
              <a:spcAft>
                <a:spcPts val="600"/>
              </a:spcAft>
              <a:buClr>
                <a:srgbClr val="28285E"/>
              </a:buClr>
              <a:buSzPts val="1260"/>
              <a:buFont typeface="+mn-lt"/>
              <a:buChar char="●"/>
            </a:pPr>
            <a:r>
              <a:rPr sz="1400" b="1">
                <a:solidFill>
                  <a:schemeClr val="tx1"/>
                </a:solidFill>
              </a:rPr>
              <a:t>The family's harm</a:t>
            </a:r>
            <a:r>
              <a:rPr sz="1400" b="0">
                <a:solidFill>
                  <a:schemeClr val="tx1"/>
                </a:solidFill>
              </a:rPr>
              <a:t> and the reachability of the entry point come from the code, so they cost a model call.</a:t>
            </a:r>
          </a:p>
          <a:p>
            <a:pPr marL="400050" indent="-285750">
              <a:spcBef>
                <a:spcPts val="600"/>
              </a:spcBef>
              <a:spcAft>
                <a:spcPts val="600"/>
              </a:spcAft>
              <a:buClr>
                <a:srgbClr val="28285E"/>
              </a:buClr>
              <a:buSzPts val="1260"/>
              <a:buFont typeface="+mn-lt"/>
              <a:buChar char="●"/>
            </a:pPr>
            <a:r>
              <a:rPr sz="1400" b="1">
                <a:solidFill>
                  <a:schemeClr val="tx1"/>
                </a:solidFill>
              </a:rPr>
              <a:t>The field</a:t>
            </a:r>
            <a:r>
              <a:rPr sz="1400" b="0">
                <a:solidFill>
                  <a:schemeClr val="tx1"/>
                </a:solidFill>
              </a:rPr>
              <a:t> adds a feed of flaws exploited in the wild and a score of exploit likelihood, which HW1 leaves out.</a:t>
            </a:r>
          </a:p>
        </p:txBody>
      </p:sp>
      <p:sp>
        <p:nvSpPr>
          <p:cNvPr id="4" name="Rectangle 3"/>
          <p:cNvSpPr/>
          <p:nvPr/>
        </p:nvSpPr>
        <p:spPr>
          <a:xfrm>
            <a:off x="319251" y="3350688"/>
            <a:ext cx="6014545" cy="66971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Prioritisation is the ordering of alerts by expected harm, so that a reviewer's time goes to the worst plausible flaw first.</a:t>
            </a:r>
          </a:p>
        </p:txBody>
      </p:sp>
      <p:sp>
        <p:nvSpPr>
          <p:cNvPr id="5" name="Rectangle 4"/>
          <p:cNvSpPr/>
          <p:nvPr/>
        </p:nvSpPr>
        <p:spPr>
          <a:xfrm>
            <a:off x="319251" y="42504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HW1's label is the coarsest priority a triage stage can give.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1"/>
          <p:cNvSpPr>
            <a:spLocks noGrp="1"/>
          </p:cNvSpPr>
          <p:nvPr>
            <p:ph type="title"/>
          </p:nvPr>
        </p:nvSpPr>
        <p:spPr/>
        <p:txBody>
          <a:bodyPr/>
          <a:lstStyle/>
          <a:p>
            <a:r>
              <a:rPr dirty="0"/>
              <a:t>Triage: what a label </a:t>
            </a:r>
            <a:r>
              <a:rPr lang="en-US" dirty="0"/>
              <a:t>must </a:t>
            </a:r>
            <a:r>
              <a:rPr dirty="0"/>
              <a:t>carry</a:t>
            </a:r>
          </a:p>
        </p:txBody>
      </p:sp>
      <p:sp>
        <p:nvSpPr>
          <p:cNvPr id="103" name="TextBox 2"/>
          <p:cNvSpPr txBox="1"/>
          <p:nvPr/>
        </p:nvSpPr>
        <p:spPr>
          <a:xfrm>
            <a:off x="319251" y="700000"/>
            <a:ext cx="6014545" cy="310576"/>
          </a:xfrm>
          <a:prstGeom prst="rect">
            <a:avLst/>
          </a:prstGeom>
          <a:noFill/>
        </p:spPr>
        <p:txBody>
          <a:bodyPr wrap="square" anchor="t">
            <a:spAutoFit/>
          </a:bodyPr>
          <a:lstStyle/>
          <a:p>
            <a:r>
              <a:rPr sz="1400" dirty="0">
                <a:solidFill>
                  <a:srgbClr val="28285E"/>
                </a:solidFill>
                <a:latin typeface="Fira Sans" panose="020B0503050000020004" pitchFamily="34" charset="0"/>
              </a:rPr>
              <a:t>One row, in the brief's format, for the guarded eval.</a:t>
            </a:r>
          </a:p>
        </p:txBody>
      </p:sp>
      <p:sp>
        <p:nvSpPr>
          <p:cNvPr id="104" name="TextBox 3"/>
          <p:cNvSpPr txBox="1"/>
          <p:nvPr/>
        </p:nvSpPr>
        <p:spPr>
          <a:xfrm>
            <a:off x="319251" y="1240576"/>
            <a:ext cx="4996561" cy="184666"/>
          </a:xfrm>
          <a:prstGeom prst="rect">
            <a:avLst/>
          </a:prstGeom>
          <a:noFill/>
        </p:spPr>
        <p:txBody>
          <a:bodyPr wrap="none" lIns="0" tIns="0" rIns="0" bIns="0">
            <a:spAutoFit/>
          </a:bodyPr>
          <a:lstStyle/>
          <a:p>
            <a:r>
              <a:rPr sz="1200" dirty="0">
                <a:solidFill>
                  <a:srgbClr val="28285E"/>
                </a:solidFill>
                <a:latin typeface="Fira Sans" panose="020B0503050000020004" pitchFamily="34" charset="0"/>
              </a:rPr>
              <a:t>A </a:t>
            </a:r>
            <a:r>
              <a:rPr sz="1200" dirty="0" err="1">
                <a:solidFill>
                  <a:srgbClr val="28285E"/>
                </a:solidFill>
                <a:latin typeface="Fira Sans" panose="020B0503050000020004" pitchFamily="34" charset="0"/>
              </a:rPr>
              <a:t>report.json</a:t>
            </a:r>
            <a:r>
              <a:rPr sz="1200" dirty="0">
                <a:solidFill>
                  <a:srgbClr val="28285E"/>
                </a:solidFill>
                <a:latin typeface="Fira Sans" panose="020B0503050000020004" pitchFamily="34" charset="0"/>
              </a:rPr>
              <a:t> row in the brief's format, filled in for BenchmarkTest00073</a:t>
            </a:r>
          </a:p>
        </p:txBody>
      </p:sp>
      <p:sp>
        <p:nvSpPr>
          <p:cNvPr id="105" name="Rounded Rectangle 2">
            <a:extLst>
              <a:ext uri="{FF2B5EF4-FFF2-40B4-BE49-F238E27FC236}">
                <a16:creationId xmlns:a16="http://schemas.microsoft.com/office/drawing/2014/main" id="{522467AF-9835-25C5-1529-A4C841E246CF}"/>
              </a:ext>
            </a:extLst>
          </p:cNvPr>
          <p:cNvSpPr/>
          <p:nvPr/>
        </p:nvSpPr>
        <p:spPr>
          <a:xfrm>
            <a:off x="319251" y="1500576"/>
            <a:ext cx="6014545" cy="2421816"/>
          </a:xfrm>
          <a:prstGeom prst="roundRect">
            <a:avLst>
              <a:gd name="adj" fmla="val 2731"/>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3">
            <a:extLst>
              <a:ext uri="{FF2B5EF4-FFF2-40B4-BE49-F238E27FC236}">
                <a16:creationId xmlns:a16="http://schemas.microsoft.com/office/drawing/2014/main" id="{72412C4C-9068-59FD-FA3C-983078C86E66}"/>
              </a:ext>
            </a:extLst>
          </p:cNvPr>
          <p:cNvSpPr/>
          <p:nvPr/>
        </p:nvSpPr>
        <p:spPr>
          <a:xfrm>
            <a:off x="371717" y="1544392"/>
            <a:ext cx="157397" cy="1573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7">
            <a:extLst>
              <a:ext uri="{FF2B5EF4-FFF2-40B4-BE49-F238E27FC236}">
                <a16:creationId xmlns:a16="http://schemas.microsoft.com/office/drawing/2014/main" id="{94578101-3902-FDEE-677E-CD15B4570CB9}"/>
              </a:ext>
            </a:extLst>
          </p:cNvPr>
          <p:cNvSpPr/>
          <p:nvPr/>
        </p:nvSpPr>
        <p:spPr>
          <a:xfrm>
            <a:off x="566589" y="1544392"/>
            <a:ext cx="157397" cy="157397"/>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8">
            <a:extLst>
              <a:ext uri="{FF2B5EF4-FFF2-40B4-BE49-F238E27FC236}">
                <a16:creationId xmlns:a16="http://schemas.microsoft.com/office/drawing/2014/main" id="{7AA0B79B-22E4-CED9-0B6B-98792DEFD5FA}"/>
              </a:ext>
            </a:extLst>
          </p:cNvPr>
          <p:cNvSpPr/>
          <p:nvPr/>
        </p:nvSpPr>
        <p:spPr>
          <a:xfrm>
            <a:off x="761461" y="1544392"/>
            <a:ext cx="157397" cy="15739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p:cNvSpPr txBox="1"/>
          <p:nvPr/>
        </p:nvSpPr>
        <p:spPr>
          <a:xfrm>
            <a:off x="469251" y="1830576"/>
            <a:ext cx="5693866" cy="1846659"/>
          </a:xfrm>
          <a:prstGeom prst="rect">
            <a:avLst/>
          </a:prstGeom>
          <a:noFill/>
        </p:spPr>
        <p:txBody>
          <a:bodyPr wrap="none" lIns="0" tIns="0" rIns="0" bIns="0" anchor="t">
            <a:spAutoFit/>
          </a:bodyPr>
          <a:lstStyle/>
          <a:p>
            <a:pPr algn="l">
              <a:buNone/>
            </a:pP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a:t>
            </a:r>
            <a:r>
              <a:rPr sz="1000" dirty="0" err="1">
                <a:solidFill>
                  <a:srgbClr val="9CDCFE"/>
                </a:solidFill>
                <a:latin typeface="Maple Mono NF"/>
              </a:rPr>
              <a:t>alert_id</a:t>
            </a:r>
            <a:r>
              <a:rPr sz="1000" dirty="0">
                <a:solidFill>
                  <a:srgbClr val="9CDCFE"/>
                </a:solidFill>
                <a:latin typeface="Maple Mono NF"/>
              </a:rPr>
              <a:t>"</a:t>
            </a:r>
            <a:r>
              <a:rPr sz="1000" dirty="0">
                <a:solidFill>
                  <a:schemeClr val="tx2"/>
                </a:solidFill>
                <a:latin typeface="Maple Mono NF"/>
              </a:rPr>
              <a:t>: </a:t>
            </a:r>
            <a:r>
              <a:rPr sz="1000" dirty="0">
                <a:solidFill>
                  <a:srgbClr val="CE9178"/>
                </a:solidFill>
                <a:latin typeface="Maple Mono NF"/>
              </a:rPr>
              <a:t>"owasp-BenchmarkTest00073-py-54-B307"</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a:t>
            </a:r>
            <a:r>
              <a:rPr sz="1000" dirty="0" err="1">
                <a:solidFill>
                  <a:srgbClr val="9CDCFE"/>
                </a:solidFill>
                <a:latin typeface="Maple Mono NF"/>
              </a:rPr>
              <a:t>test_id</a:t>
            </a:r>
            <a:r>
              <a:rPr sz="1000" dirty="0">
                <a:solidFill>
                  <a:srgbClr val="9CDCFE"/>
                </a:solidFill>
                <a:latin typeface="Maple Mono NF"/>
              </a:rPr>
              <a:t>"</a:t>
            </a:r>
            <a:r>
              <a:rPr sz="1000" dirty="0">
                <a:solidFill>
                  <a:schemeClr val="tx2"/>
                </a:solidFill>
                <a:latin typeface="Maple Mono NF"/>
              </a:rPr>
              <a:t>: </a:t>
            </a:r>
            <a:r>
              <a:rPr sz="1000" dirty="0">
                <a:solidFill>
                  <a:srgbClr val="CE9178"/>
                </a:solidFill>
                <a:latin typeface="Maple Mono NF"/>
              </a:rPr>
              <a:t>"B307"</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"line"</a:t>
            </a:r>
            <a:r>
              <a:rPr sz="1000" dirty="0">
                <a:solidFill>
                  <a:schemeClr val="tx2"/>
                </a:solidFill>
                <a:latin typeface="Maple Mono NF"/>
              </a:rPr>
              <a:t>: </a:t>
            </a:r>
            <a:r>
              <a:rPr sz="1000" dirty="0">
                <a:solidFill>
                  <a:srgbClr val="B5CEA8"/>
                </a:solidFill>
                <a:latin typeface="Maple Mono NF"/>
              </a:rPr>
              <a:t>54</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"label"</a:t>
            </a:r>
            <a:r>
              <a:rPr sz="1000" dirty="0">
                <a:solidFill>
                  <a:schemeClr val="tx2"/>
                </a:solidFill>
                <a:latin typeface="Maple Mono NF"/>
              </a:rPr>
              <a:t>: </a:t>
            </a:r>
            <a:r>
              <a:rPr sz="1000" dirty="0">
                <a:solidFill>
                  <a:srgbClr val="B5CEA8"/>
                </a:solidFill>
                <a:latin typeface="Maple Mono NF"/>
              </a:rPr>
              <a:t>0</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"status"</a:t>
            </a:r>
            <a:r>
              <a:rPr sz="1000" dirty="0">
                <a:solidFill>
                  <a:schemeClr val="tx2"/>
                </a:solidFill>
                <a:latin typeface="Maple Mono NF"/>
              </a:rPr>
              <a:t>: </a:t>
            </a:r>
            <a:r>
              <a:rPr sz="1000" dirty="0">
                <a:solidFill>
                  <a:srgbClr val="CE9178"/>
                </a:solidFill>
                <a:latin typeface="Maple Mono NF"/>
              </a:rPr>
              <a:t>"classified"</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"rationale"</a:t>
            </a:r>
            <a:r>
              <a:rPr sz="1000" dirty="0">
                <a:solidFill>
                  <a:schemeClr val="tx2"/>
                </a:solidFill>
                <a:latin typeface="Maple Mono NF"/>
              </a:rPr>
              <a:t>: </a:t>
            </a:r>
            <a:r>
              <a:rPr sz="1000" dirty="0">
                <a:solidFill>
                  <a:srgbClr val="CE9178"/>
                </a:solidFill>
                <a:latin typeface="Maple Mono NF"/>
              </a:rPr>
              <a:t>"Line 46 admits only a quoted literal; eval runs no code."</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"evidence"</a:t>
            </a:r>
            <a:r>
              <a:rPr sz="1000" dirty="0">
                <a:solidFill>
                  <a:schemeClr val="tx2"/>
                </a:solidFill>
                <a:latin typeface="Maple Mono NF"/>
              </a:rPr>
              <a:t>: [</a:t>
            </a:r>
          </a:p>
          <a:p>
            <a:pPr algn="l">
              <a:buNone/>
            </a:pPr>
            <a:r>
              <a:rPr sz="1000" dirty="0">
                <a:solidFill>
                  <a:schemeClr val="tx2"/>
                </a:solidFill>
                <a:latin typeface="Maple Mono NF"/>
              </a:rPr>
              <a:t>    {</a:t>
            </a:r>
            <a:r>
              <a:rPr sz="1000" dirty="0">
                <a:solidFill>
                  <a:srgbClr val="9CDCFE"/>
                </a:solidFill>
                <a:latin typeface="Maple Mono NF"/>
              </a:rPr>
              <a:t>"path"</a:t>
            </a:r>
            <a:r>
              <a:rPr sz="1000" dirty="0">
                <a:solidFill>
                  <a:schemeClr val="tx2"/>
                </a:solidFill>
                <a:latin typeface="Maple Mono NF"/>
              </a:rPr>
              <a:t>: </a:t>
            </a:r>
            <a:r>
              <a:rPr sz="1000" dirty="0">
                <a:solidFill>
                  <a:srgbClr val="CE9178"/>
                </a:solidFill>
                <a:latin typeface="Maple Mono NF"/>
              </a:rPr>
              <a:t>"</a:t>
            </a:r>
            <a:r>
              <a:rPr sz="1000" dirty="0" err="1">
                <a:solidFill>
                  <a:srgbClr val="CE9178"/>
                </a:solidFill>
                <a:latin typeface="Maple Mono NF"/>
              </a:rPr>
              <a:t>testcode</a:t>
            </a:r>
            <a:r>
              <a:rPr sz="1000" dirty="0">
                <a:solidFill>
                  <a:srgbClr val="CE9178"/>
                </a:solidFill>
                <a:latin typeface="Maple Mono NF"/>
              </a:rPr>
              <a:t>/BenchmarkTest00073.py"</a:t>
            </a:r>
            <a:r>
              <a:rPr sz="1000" dirty="0">
                <a:solidFill>
                  <a:schemeClr val="tx2"/>
                </a:solidFill>
                <a:latin typeface="Maple Mono NF"/>
              </a:rPr>
              <a:t>,</a:t>
            </a:r>
          </a:p>
          <a:p>
            <a:pPr algn="l">
              <a:buNone/>
            </a:pPr>
            <a:r>
              <a:rPr sz="1000" dirty="0">
                <a:solidFill>
                  <a:schemeClr val="tx2"/>
                </a:solidFill>
                <a:latin typeface="Maple Mono NF"/>
              </a:rPr>
              <a:t>     </a:t>
            </a:r>
            <a:r>
              <a:rPr sz="1000" dirty="0">
                <a:solidFill>
                  <a:srgbClr val="9CDCFE"/>
                </a:solidFill>
                <a:latin typeface="Maple Mono NF"/>
              </a:rPr>
              <a:t>"</a:t>
            </a:r>
            <a:r>
              <a:rPr sz="1000" dirty="0" err="1">
                <a:solidFill>
                  <a:srgbClr val="9CDCFE"/>
                </a:solidFill>
                <a:latin typeface="Maple Mono NF"/>
              </a:rPr>
              <a:t>start_line</a:t>
            </a:r>
            <a:r>
              <a:rPr sz="1000" dirty="0">
                <a:solidFill>
                  <a:srgbClr val="9CDCFE"/>
                </a:solidFill>
                <a:latin typeface="Maple Mono NF"/>
              </a:rPr>
              <a:t>"</a:t>
            </a:r>
            <a:r>
              <a:rPr sz="1000" dirty="0">
                <a:solidFill>
                  <a:schemeClr val="tx2"/>
                </a:solidFill>
                <a:latin typeface="Maple Mono NF"/>
              </a:rPr>
              <a:t>: </a:t>
            </a:r>
            <a:r>
              <a:rPr sz="1000" dirty="0">
                <a:solidFill>
                  <a:srgbClr val="B5CEA8"/>
                </a:solidFill>
                <a:latin typeface="Maple Mono NF"/>
              </a:rPr>
              <a:t>44</a:t>
            </a:r>
            <a:r>
              <a:rPr sz="1000" dirty="0">
                <a:solidFill>
                  <a:schemeClr val="tx2"/>
                </a:solidFill>
                <a:latin typeface="Maple Mono NF"/>
              </a:rPr>
              <a:t>, </a:t>
            </a:r>
            <a:r>
              <a:rPr sz="1000" dirty="0">
                <a:solidFill>
                  <a:srgbClr val="9CDCFE"/>
                </a:solidFill>
                <a:latin typeface="Maple Mono NF"/>
              </a:rPr>
              <a:t>"</a:t>
            </a:r>
            <a:r>
              <a:rPr sz="1000" dirty="0" err="1">
                <a:solidFill>
                  <a:srgbClr val="9CDCFE"/>
                </a:solidFill>
                <a:latin typeface="Maple Mono NF"/>
              </a:rPr>
              <a:t>end_line</a:t>
            </a:r>
            <a:r>
              <a:rPr sz="1000" dirty="0">
                <a:solidFill>
                  <a:srgbClr val="9CDCFE"/>
                </a:solidFill>
                <a:latin typeface="Maple Mono NF"/>
              </a:rPr>
              <a:t>"</a:t>
            </a:r>
            <a:r>
              <a:rPr sz="1000" dirty="0">
                <a:solidFill>
                  <a:schemeClr val="tx2"/>
                </a:solidFill>
                <a:latin typeface="Maple Mono NF"/>
              </a:rPr>
              <a:t>: </a:t>
            </a:r>
            <a:r>
              <a:rPr sz="1000" dirty="0">
                <a:solidFill>
                  <a:srgbClr val="B5CEA8"/>
                </a:solidFill>
                <a:latin typeface="Maple Mono NF"/>
              </a:rPr>
              <a:t>54</a:t>
            </a:r>
            <a:r>
              <a:rPr sz="1000" dirty="0">
                <a:solidFill>
                  <a:schemeClr val="tx2"/>
                </a:solidFill>
                <a:latin typeface="Maple Mono NF"/>
              </a:rPr>
              <a:t>}</a:t>
            </a:r>
          </a:p>
          <a:p>
            <a:pPr algn="l">
              <a:buNone/>
            </a:pPr>
            <a:r>
              <a:rPr sz="1000" dirty="0">
                <a:solidFill>
                  <a:schemeClr val="tx2"/>
                </a:solidFill>
                <a:latin typeface="Maple Mono NF"/>
              </a:rPr>
              <a:t>  ]</a:t>
            </a:r>
          </a:p>
          <a:p>
            <a:pPr algn="l">
              <a:buNone/>
            </a:pPr>
            <a:r>
              <a:rPr sz="1000" dirty="0">
                <a:solidFill>
                  <a:schemeClr val="tx2"/>
                </a:solidFill>
                <a:latin typeface="Maple Mono NF"/>
              </a:rPr>
              <a:t>}</a:t>
            </a:r>
          </a:p>
        </p:txBody>
      </p:sp>
      <p:sp>
        <p:nvSpPr>
          <p:cNvPr id="110" name="Rectangle 109"/>
          <p:cNvSpPr/>
          <p:nvPr/>
        </p:nvSpPr>
        <p:spPr>
          <a:xfrm>
            <a:off x="319251" y="4152392"/>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reviewer accepts a label only when the rationale and the evidence let them check it.</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11931</TotalTime>
  <Words>5328</Words>
  <Application>Microsoft Macintosh PowerPoint</Application>
  <PresentationFormat>Custom</PresentationFormat>
  <Paragraphs>437</Paragraphs>
  <Slides>39</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Maple Mono NF</vt:lpstr>
      <vt:lpstr>Arial</vt:lpstr>
      <vt:lpstr>Fira Sans</vt:lpstr>
      <vt:lpstr>Simple Light</vt:lpstr>
      <vt:lpstr>Designing Production Agentic Systems</vt:lpstr>
      <vt:lpstr>PowerPoint Presentation</vt:lpstr>
      <vt:lpstr>PowerPoint Presentation</vt:lpstr>
      <vt:lpstr>PowerPoint Presentation</vt:lpstr>
      <vt:lpstr>Vulnerability management: four stages</vt:lpstr>
      <vt:lpstr>Discovery: the families of tools</vt:lpstr>
      <vt:lpstr>SAST: one rule, as Semgrep writes it</vt:lpstr>
      <vt:lpstr>SAST: a rule binding to the code</vt:lpstr>
      <vt:lpstr>Discovery: what an alert contains</vt:lpstr>
      <vt:lpstr>PowerPoint Presentation</vt:lpstr>
      <vt:lpstr>Attack surface: where outside data enters</vt:lpstr>
      <vt:lpstr>Attack surface: one entry point in code</vt:lpstr>
      <vt:lpstr>Threat model: the attacker the label assumes</vt:lpstr>
      <vt:lpstr>PowerPoint Presentation</vt:lpstr>
      <vt:lpstr>OWASP Top 10: ten families of flaws</vt:lpstr>
      <vt:lpstr>OWASP Top 10: ten families of flaws</vt:lpstr>
      <vt:lpstr>CWE: the catalogue behind the families</vt:lpstr>
      <vt:lpstr>From a family to a line of Python</vt:lpstr>
      <vt:lpstr>PowerPoint Presentation</vt:lpstr>
      <vt:lpstr>Bandit: how it reads a program</vt:lpstr>
      <vt:lpstr>Bandit: a rule meeting the syntax tree</vt:lpstr>
      <vt:lpstr>Bandit: one rule, in Bandit's own source</vt:lpstr>
      <vt:lpstr>Bandit: one rule, in Bandit's own source</vt:lpstr>
      <vt:lpstr>Bandit: severity and confidence</vt:lpstr>
      <vt:lpstr>Bandit: the run on Radicale</vt:lpstr>
      <vt:lpstr>Bandit: one alert, as your agent receives it</vt:lpstr>
      <vt:lpstr>PowerPoint Presentation</vt:lpstr>
      <vt:lpstr>Vulnerability: when a weakness can be reached</vt:lpstr>
      <vt:lpstr>SQL injection, real: the interpolated query</vt:lpstr>
      <vt:lpstr>SQL injection, a false alarm: the bound value</vt:lpstr>
      <vt:lpstr>Code injection, real: exec on a cookie</vt:lpstr>
      <vt:lpstr>Code injection, a false alarm: the guard</vt:lpstr>
      <vt:lpstr>Weak hash, real on the algorithm alone</vt:lpstr>
      <vt:lpstr>An alert on the wrong line: the fixed XML file</vt:lpstr>
      <vt:lpstr>PowerPoint Presentation</vt:lpstr>
      <vt:lpstr>Triage: what discovery leaves undecided</vt:lpstr>
      <vt:lpstr>Triage: the cost of each kind of mistake</vt:lpstr>
      <vt:lpstr>Prioritisation: the order of review</vt:lpstr>
      <vt:lpstr>Triage: what a label must carry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201</cp:revision>
  <dcterms:modified xsi:type="dcterms:W3CDTF">2026-09-27T22:30:32Z</dcterms:modified>
</cp:coreProperties>
</file>
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2"/>
  </p:notesMasterIdLst>
  <p:sldIdLst>
    <p:sldId id="256" r:id="rId2"/>
    <p:sldId id="332" r:id="rId3"/>
    <p:sldId id="418" r:id="rId4"/>
    <p:sldId id="433" r:id="rId5"/>
    <p:sldId id="458" r:id="rId6"/>
    <p:sldId id="459" r:id="rId7"/>
    <p:sldId id="461" r:id="rId8"/>
    <p:sldId id="462" r:id="rId9"/>
    <p:sldId id="484" r:id="rId10"/>
    <p:sldId id="485" r:id="rId11"/>
    <p:sldId id="486" r:id="rId12"/>
    <p:sldId id="468" r:id="rId13"/>
    <p:sldId id="469" r:id="rId14"/>
    <p:sldId id="488" r:id="rId15"/>
    <p:sldId id="471" r:id="rId16"/>
    <p:sldId id="489" r:id="rId17"/>
    <p:sldId id="490" r:id="rId18"/>
    <p:sldId id="491" r:id="rId19"/>
    <p:sldId id="475" r:id="rId20"/>
    <p:sldId id="476" r:id="rId21"/>
    <p:sldId id="477" r:id="rId22"/>
    <p:sldId id="478" r:id="rId23"/>
    <p:sldId id="479" r:id="rId24"/>
    <p:sldId id="480" r:id="rId25"/>
    <p:sldId id="481" r:id="rId26"/>
    <p:sldId id="493" r:id="rId27"/>
    <p:sldId id="494" r:id="rId28"/>
    <p:sldId id="495" r:id="rId29"/>
    <p:sldId id="496" r:id="rId30"/>
    <p:sldId id="497" r:id="rId31"/>
    <p:sldId id="498" r:id="rId32"/>
    <p:sldId id="499" r:id="rId33"/>
    <p:sldId id="500" r:id="rId34"/>
    <p:sldId id="501" r:id="rId35"/>
    <p:sldId id="502" r:id="rId36"/>
    <p:sldId id="503" r:id="rId37"/>
    <p:sldId id="504" r:id="rId38"/>
    <p:sldId id="505" r:id="rId39"/>
    <p:sldId id="506" r:id="rId40"/>
    <p:sldId id="507" r:id="rId41"/>
    <p:sldId id="508" r:id="rId42"/>
    <p:sldId id="509" r:id="rId43"/>
    <p:sldId id="510" r:id="rId44"/>
    <p:sldId id="511" r:id="rId45"/>
    <p:sldId id="512" r:id="rId46"/>
    <p:sldId id="513" r:id="rId47"/>
    <p:sldId id="514" r:id="rId48"/>
    <p:sldId id="515" r:id="rId49"/>
    <p:sldId id="516" r:id="rId50"/>
    <p:sldId id="517" r:id="rId51"/>
    <p:sldId id="518" r:id="rId52"/>
    <p:sldId id="519" r:id="rId53"/>
    <p:sldId id="520" r:id="rId54"/>
    <p:sldId id="521" r:id="rId55"/>
    <p:sldId id="522" r:id="rId56"/>
    <p:sldId id="523" r:id="rId57"/>
    <p:sldId id="525" r:id="rId58"/>
    <p:sldId id="526" r:id="rId59"/>
    <p:sldId id="527" r:id="rId60"/>
    <p:sldId id="528" r:id="rId61"/>
    <p:sldId id="529" r:id="rId62"/>
    <p:sldId id="530" r:id="rId63"/>
    <p:sldId id="531" r:id="rId64"/>
    <p:sldId id="532" r:id="rId65"/>
    <p:sldId id="533" r:id="rId66"/>
    <p:sldId id="534" r:id="rId67"/>
    <p:sldId id="535" r:id="rId68"/>
    <p:sldId id="536" r:id="rId69"/>
    <p:sldId id="537" r:id="rId70"/>
    <p:sldId id="538" r:id="rId71"/>
  </p:sldIdLst>
  <p:sldSz cx="6858000" cy="5143500"/>
  <p:notesSz cx="6858000" cy="9144000"/>
  <p:embeddedFontLst>
    <p:embeddedFont>
      <p:font typeface="Fira Sans" panose="020B0503050000020004" pitchFamily="34" charset="0"/>
      <p:regular r:id="rId73"/>
      <p:bold r:id="rId74"/>
      <p:italic r:id="rId75"/>
      <p:boldItalic r:id="rId76"/>
    </p:embeddedFont>
    <p:embeddedFont>
      <p:font typeface="Maple Mono NF" panose="020F0509060000000000" pitchFamily="49" charset="0"/>
      <p:regular r:id="rId77"/>
      <p:bold r:id="rId78"/>
      <p:italic r:id="rId79"/>
      <p:boldItalic r:id="rId80"/>
    </p:embeddedFont>
    <p:embeddedFont>
      <p:font typeface="Maple Mono NF Light" panose="020F0509060000000000" pitchFamily="49" charset="0"/>
      <p:regular r:id="rId81"/>
      <p:italic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418"/>
            <p14:sldId id="433"/>
            <p14:sldId id="458"/>
            <p14:sldId id="459"/>
            <p14:sldId id="461"/>
            <p14:sldId id="462"/>
            <p14:sldId id="484"/>
            <p14:sldId id="485"/>
            <p14:sldId id="486"/>
            <p14:sldId id="468"/>
            <p14:sldId id="469"/>
            <p14:sldId id="488"/>
            <p14:sldId id="471"/>
            <p14:sldId id="489"/>
            <p14:sldId id="490"/>
            <p14:sldId id="491"/>
            <p14:sldId id="475"/>
            <p14:sldId id="476"/>
            <p14:sldId id="477"/>
            <p14:sldId id="478"/>
            <p14:sldId id="479"/>
            <p14:sldId id="480"/>
            <p14:sldId id="481"/>
            <p14:sldId id="493"/>
            <p14:sldId id="494"/>
            <p14:sldId id="495"/>
            <p14:sldId id="496"/>
            <p14:sldId id="497"/>
            <p14:sldId id="498"/>
            <p14:sldId id="499"/>
            <p14:sldId id="500"/>
            <p14:sldId id="501"/>
            <p14:sldId id="502"/>
            <p14:sldId id="503"/>
            <p14:sldId id="504"/>
            <p14:sldId id="505"/>
            <p14:sldId id="506"/>
            <p14:sldId id="507"/>
            <p14:sldId id="508"/>
            <p14:sldId id="509"/>
            <p14:sldId id="510"/>
            <p14:sldId id="511"/>
            <p14:sldId id="512"/>
            <p14:sldId id="513"/>
            <p14:sldId id="514"/>
            <p14:sldId id="515"/>
            <p14:sldId id="516"/>
            <p14:sldId id="517"/>
            <p14:sldId id="518"/>
            <p14:sldId id="519"/>
            <p14:sldId id="520"/>
            <p14:sldId id="521"/>
            <p14:sldId id="522"/>
            <p14:sldId id="523"/>
            <p14:sldId id="525"/>
            <p14:sldId id="526"/>
            <p14:sldId id="527"/>
            <p14:sldId id="528"/>
            <p14:sldId id="529"/>
            <p14:sldId id="530"/>
            <p14:sldId id="531"/>
            <p14:sldId id="532"/>
            <p14:sldId id="533"/>
            <p14:sldId id="534"/>
            <p14:sldId id="535"/>
            <p14:sldId id="536"/>
            <p14:sldId id="537"/>
            <p14:sldId id="538"/>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73"/>
    <p:restoredTop sz="98401"/>
  </p:normalViewPr>
  <p:slideViewPr>
    <p:cSldViewPr snapToGrid="0">
      <p:cViewPr varScale="1">
        <p:scale>
          <a:sx n="334" d="100"/>
          <a:sy n="334" d="100"/>
        </p:scale>
        <p:origin x="184" y="560"/>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8/10/relationships/authors" Target="authors.xml"/><Relationship Id="rId61" Type="http://schemas.openxmlformats.org/officeDocument/2006/relationships/slide" Target="slides/slide60.xml"/><Relationship Id="rId8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Introduce Lecture 3: execution machinery for agentic systems.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804CF-57E5-5069-A339-A46BC12C5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0F5C1-0379-A701-4BE2-A95E7BE3D45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0F0CE7-AE79-5A56-927D-9C71A05F3BEF}"/>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4058062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804CF-57E5-5069-A339-A46BC12C5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0F5C1-0379-A701-4BE2-A95E7BE3D45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0F0CE7-AE79-5A56-927D-9C71A05F3BEF}"/>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1007680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D48E6-2391-8E03-2F86-614D88FD8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F24D9-012B-E65C-8B9C-0EDC9ED991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309B48F-9990-2C25-A7A1-8DF0BCD7A1DF}"/>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839508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1.1 describes five components: states, inputs, outputs, an initial configuration and a transition rule. A workflow intended to terminate also specifies terminal configurations.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diagram represents plan_and_validation/graph.py when the two runs were recorded. As Section 1.5 explains, the current code adds scan and normalize before plan.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probabilistic machine assigns a probability to each transition. A nondeterministic machine permits any enabled transition without assigning probabilities. We use nondeterminism to represent unobserved choices.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displayed values describe run bc284c6b before its third controller call: two observations have been recorded, three model calls have completed, and the status is running.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slide introduces the transition notation. Later slides describe the same operations in prose.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excerpts come from controller at graph.py line 296 and after_controller at line 452. Trace calls and the admission check are omitted. The model_calls field uses operator.add, so returning 1 increments the stored count by one.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trace contains six kinds of event: tool_request, tool_result, model_call, routing, state_change and terminal. While the run is active, an empty tool_calls list causes after_controller to return submit.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plan, controller and validate nodes call a model. The tools and submit nodes perform runtime work. Each model node checks the forty-call budget before making a call.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three checks test whether the patch applies, whether it touches the flagged line, and whether a rescan reports no finding. The controller receives the plan as a message. Routing does not test which subgoal is current.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stall guard holds when the last three observations in the current plan’s window are identical and none records a successful edit. Plan revision sets replanned_at, and later stall checks read only observations from that index onward.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Events 1 and 2 record planning. Events 3–18 record four tool rounds: read_file, search, read_file and edit. Events 19–22 record submission. Events 23–25 record validation and the terminal event. The run logged 12,693 input tokens and 3,755 output tokens.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2.1 connects the EFSM variable values to the state record. The schema declares field names and types. A record instance supplies their current values.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node's parameter is the state alone; the external result is what arrives during the step, a model reply or a tool observation.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figure shows the loop’s ten-key record. The status field has no reducer. When a node returns status, the returned value replaces the stored one.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controller begins at graph.py line 296. When the call budget is exhausted, _admit returns a terminal update. Otherwise, it returns None.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JSONL trace can survive process exit, but it does not contain enough information to resume the run. A later unit covers checkpointers.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2.6 explains that none of the planning agent’s prompts mentions the call budget. Admission enforces it by comparing the call counter with the configured limit before each call.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LangGraph calls a field’s merge function a reducer and attaches it with Annotated[T, fn]. Clearing an appended field requires Overwrite. A separate trace event should record that reset because it bypasses the ordinary merge rule.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add_usage maintains four separate token counters. Keeping the counters separate preserves the distinction between cache reads and fresh input tokens.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planning agent adds three fields with the current lifetime: plan, checks and validation. The failed_step field has the handoff lifetime, and replanned_at has the window lifetime.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2.4 explains why a limit across attempts requires a counter with the run lifetime. A counter with the attempt lifetime resets after failure and cannot enforce that limit.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stall check reads observations[replanned_at:]. Updating replanned_at after plan revision excludes the observations that triggered revision from later stall checks.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2.5 applies the MIT 6.042 invariant theorem to configurations of an extended state machine. Each arrow denotes one transition.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argument covers completed calls only. An interrupted call may consume tokens without being counted.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add_node registers a function that receives the whole state and returns a partial update. add_edge declares a fixed transition. add_conditional_edges registers a routing function that returns the selected destination’s name.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six steps appear at the end of Section 2.6. Omit fields that no computation reads.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routing guard can test information retained in the merged record. Information discarded by the node is unavailable to that guard. END is LangGraph’s terminal node. The record supplies the reason for ending.</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If the run remains active, a reply that both claims the patch is correct and requests a tool routes to tools. The after_controller function tests tool_calls and does not read the reply’s prose.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Each visit to a location is a new node of the computation tree, with its own configuration.</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Revision identifies a problem with the plan; repair identifies a problem with the artifact. Both continue the run and need a bound.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attempt counter has the run lifetime. Resetting it at the start of each attempt prevents it from enforcing the attempt limit.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Cornell CS 2112 calls the decreasing quantity a decrementing function or loop variant. ReACT’s recorded trajectories contain repeated actions that make no progress. Our stall check detects repeated identical observations.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Admission checks the budget before each model call. Checking afterwards would allow the call to incur cost before enforcing the limit. The recursion limit is four times the call budget and uses no information about the task.</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3.5 explains what a trace establishes.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When an exception escapes the run, the trace writer records terminal status error, followed by a record naming the exception.</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Steps 27–38 record three tool rounds. At step 41 the rescan reports no finding, but the flagged-line check still fails. Step 42 routes to the controller with that reason.</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trace does not establish what the process was doing between event 50 and the interrupt. Neither recorded run ends with status budget_exhausted. The description of that ending comes from the code.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LangGraph organizes execution into Pregel supersteps. Multiple writes to one field in the same superstep require a reducer that combines them. Without one, the runtime rejects the competing writes.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Our graph has no parallel branches, so each superstep runs one node. The routing function reads the record after the controller's reply has been merged.</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three tools are read_file, search and edit. Only edit writes files, and all three receive the workspace root as their first parameter.</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MIT 6.031’s specification structure assigns obligations to the caller and implementer. A method specification may make no promises after a precondition violation. Because models can supply invalid arguments, tool contracts must specify how the runtime detects violations, reports refusal and prevents side effects from refused requests.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Tools read the run's configuration from the module. A request that names ws fails to bind, because the dispatcher has already supplied that argument.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dispatch cycle resolves the name, binds the arguments, checks the policy, performs the permitted operation and produces an observation. The two dashed branches show refusals, which also produce observations.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Binding checks argument names and arity. The dispatcher coerces unambiguous type mismatches. Exceptions that escape the dispatcher are reserved for unrecoverable failures, such as an unwritable trace.</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Step 4 is the routing event between the model response and the tool request. It records decision tools and by="model", identifying the selected control location. It does not describe tool execution.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guard model from MIT 6.033 concerns checks on every resource access. Distinguish decision timing from ownership, and proposed actions from execution. A model’s claim to have run tests does not establish that tests executed.</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Joining an absolute path to the root yields the absolute path itself, which the check then refuses if its resolved destination lies outside the root.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4.6 describes a constructed dispatcher test. The permitted read returns 1,665 characters, matching step 6 of the recorded run. The refused request produces a tool_request and a failed tool_result with a reason and no character count.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3</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Lecture 2: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AB3F8-7484-4BE9-6F60-620E4EBF9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D5227-9675-6C47-825A-AA229D3AF476}"/>
              </a:ext>
            </a:extLst>
          </p:cNvPr>
          <p:cNvSpPr>
            <a:spLocks noGrp="1"/>
          </p:cNvSpPr>
          <p:nvPr>
            <p:ph type="title"/>
          </p:nvPr>
        </p:nvSpPr>
        <p:spPr/>
        <p:txBody>
          <a:bodyPr/>
          <a:lstStyle/>
          <a:p>
            <a:r>
              <a:rPr lang="en-US" dirty="0"/>
              <a:t>Class announcements</a:t>
            </a:r>
          </a:p>
        </p:txBody>
      </p:sp>
      <p:sp>
        <p:nvSpPr>
          <p:cNvPr id="6" name="Content Placeholder 5">
            <a:extLst>
              <a:ext uri="{FF2B5EF4-FFF2-40B4-BE49-F238E27FC236}">
                <a16:creationId xmlns:a16="http://schemas.microsoft.com/office/drawing/2014/main" id="{B8B12D9A-0C2B-7893-BB3E-BD7D9DD61BD4}"/>
              </a:ext>
            </a:extLst>
          </p:cNvPr>
          <p:cNvSpPr>
            <a:spLocks noGrp="1"/>
          </p:cNvSpPr>
          <p:nvPr>
            <p:ph idx="1"/>
          </p:nvPr>
        </p:nvSpPr>
        <p:spPr>
          <a:xfrm>
            <a:off x="14251" y="630048"/>
            <a:ext cx="6815475" cy="2505913"/>
          </a:xfrm>
        </p:spPr>
        <p:txBody>
          <a:bodyPr>
            <a:normAutofit/>
          </a:bodyPr>
          <a:lstStyle/>
          <a:p>
            <a:r>
              <a:rPr lang="en-US" sz="1800" dirty="0"/>
              <a:t>HW1 is released today.</a:t>
            </a:r>
            <a:endParaRPr lang="en-US" dirty="0"/>
          </a:p>
          <a:p>
            <a:pPr lvl="1"/>
            <a:r>
              <a:rPr lang="en-US" sz="1400" dirty="0"/>
              <a:t>Assignment groups after class today so I can plan accordingly</a:t>
            </a:r>
          </a:p>
        </p:txBody>
      </p:sp>
    </p:spTree>
    <p:extLst>
      <p:ext uri="{BB962C8B-B14F-4D97-AF65-F5344CB8AC3E}">
        <p14:creationId xmlns:p14="http://schemas.microsoft.com/office/powerpoint/2010/main" val="619783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4440-B142-1A59-503D-805E67E966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6CA18B-F676-D6FD-5DB7-C2DF50D1A01A}"/>
              </a:ext>
            </a:extLst>
          </p:cNvPr>
          <p:cNvSpPr txBox="1"/>
          <p:nvPr/>
        </p:nvSpPr>
        <p:spPr>
          <a:xfrm>
            <a:off x="929000" y="1910031"/>
            <a:ext cx="5000000" cy="1323439"/>
          </a:xfrm>
          <a:prstGeom prst="rect">
            <a:avLst/>
          </a:prstGeom>
          <a:noFill/>
        </p:spPr>
        <p:txBody>
          <a:bodyPr wrap="square" anchor="ctr">
            <a:spAutoFit/>
          </a:bodyPr>
          <a:lstStyle/>
          <a:p>
            <a:pPr algn="ctr"/>
            <a:r>
              <a:rPr lang="en-US" sz="4000" b="1" dirty="0">
                <a:solidFill>
                  <a:schemeClr val="bg1"/>
                </a:solidFill>
                <a:latin typeface="+mj-lt"/>
              </a:rPr>
              <a:t>Lecture 3: Execution Machinery</a:t>
            </a:r>
            <a:endParaRPr sz="4000" b="1" dirty="0">
              <a:solidFill>
                <a:schemeClr val="bg1"/>
              </a:solidFill>
              <a:latin typeface="+mj-lt"/>
            </a:endParaRPr>
          </a:p>
        </p:txBody>
      </p:sp>
    </p:spTree>
    <p:extLst>
      <p:ext uri="{BB962C8B-B14F-4D97-AF65-F5344CB8AC3E}">
        <p14:creationId xmlns:p14="http://schemas.microsoft.com/office/powerpoint/2010/main" val="90551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4440-B142-1A59-503D-805E67E9667F}"/>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37D6A81-4385-7852-81F8-06B39637518F}"/>
              </a:ext>
            </a:extLst>
          </p:cNvPr>
          <p:cNvPicPr>
            <a:picLocks noChangeAspect="1"/>
          </p:cNvPicPr>
          <p:nvPr/>
        </p:nvPicPr>
        <p:blipFill>
          <a:blip r:embed="rId3">
            <a:alphaModFix amt="70000"/>
          </a:blip>
          <a:stretch>
            <a:fillRect/>
          </a:stretch>
        </p:blipFill>
        <p:spPr>
          <a:xfrm>
            <a:off x="825474" y="1899091"/>
            <a:ext cx="5732295" cy="2403255"/>
          </a:xfrm>
          <a:prstGeom prst="rect">
            <a:avLst/>
          </a:prstGeom>
        </p:spPr>
      </p:pic>
      <p:sp>
        <p:nvSpPr>
          <p:cNvPr id="3" name="TextBox 2">
            <a:extLst>
              <a:ext uri="{FF2B5EF4-FFF2-40B4-BE49-F238E27FC236}">
                <a16:creationId xmlns:a16="http://schemas.microsoft.com/office/drawing/2014/main" id="{CD673071-5FFC-A11F-33BA-D8532061400F}"/>
              </a:ext>
            </a:extLst>
          </p:cNvPr>
          <p:cNvSpPr txBox="1"/>
          <p:nvPr/>
        </p:nvSpPr>
        <p:spPr>
          <a:xfrm>
            <a:off x="929000" y="265338"/>
            <a:ext cx="5000000" cy="1323439"/>
          </a:xfrm>
          <a:prstGeom prst="rect">
            <a:avLst/>
          </a:prstGeom>
          <a:noFill/>
        </p:spPr>
        <p:txBody>
          <a:bodyPr wrap="square" anchor="ctr">
            <a:spAutoFit/>
          </a:bodyPr>
          <a:lstStyle/>
          <a:p>
            <a:pPr algn="ctr"/>
            <a:r>
              <a:rPr sz="4000" b="1" dirty="0">
                <a:solidFill>
                  <a:schemeClr val="bg1"/>
                </a:solidFill>
                <a:latin typeface="+mj-lt"/>
              </a:rPr>
              <a:t>Execution machinery</a:t>
            </a:r>
          </a:p>
        </p:txBody>
      </p:sp>
      <p:cxnSp>
        <p:nvCxnSpPr>
          <p:cNvPr id="4" name="Straight Arrow Connector 3">
            <a:extLst>
              <a:ext uri="{FF2B5EF4-FFF2-40B4-BE49-F238E27FC236}">
                <a16:creationId xmlns:a16="http://schemas.microsoft.com/office/drawing/2014/main" id="{CEFED53E-32C4-C4E2-85A5-C7734EFFFBD2}"/>
              </a:ext>
            </a:extLst>
          </p:cNvPr>
          <p:cNvCxnSpPr>
            <a:cxnSpLocks/>
          </p:cNvCxnSpPr>
          <p:nvPr/>
        </p:nvCxnSpPr>
        <p:spPr>
          <a:xfrm>
            <a:off x="1063835" y="2018156"/>
            <a:ext cx="0" cy="21608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6" name="Oval 7">
            <a:extLst>
              <a:ext uri="{FF2B5EF4-FFF2-40B4-BE49-F238E27FC236}">
                <a16:creationId xmlns:a16="http://schemas.microsoft.com/office/drawing/2014/main" id="{601E0B9D-CC0E-3422-CD9B-F1516821E4FD}"/>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01E0B9D-CC0E-3422-CD9B-F1516821E4FD}"/>
              </a:ext>
            </a:extLst>
          </p:cNvPr>
          <p:cNvSpPr/>
          <p:nvPr/>
        </p:nvSpPr>
        <p:spPr>
          <a:xfrm>
            <a:off x="951758" y="27217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43F1170-EE5F-BE19-1404-7DC2A17583C7}"/>
              </a:ext>
            </a:extLst>
          </p:cNvPr>
          <p:cNvSpPr/>
          <p:nvPr/>
        </p:nvSpPr>
        <p:spPr>
          <a:xfrm>
            <a:off x="951758" y="32554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512B09-27FE-E36B-F89B-61B48A1606CC}"/>
              </a:ext>
            </a:extLst>
          </p:cNvPr>
          <p:cNvSpPr/>
          <p:nvPr/>
        </p:nvSpPr>
        <p:spPr>
          <a:xfrm>
            <a:off x="951758" y="37855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2">
            <a:extLst>
              <a:ext uri="{FF2B5EF4-FFF2-40B4-BE49-F238E27FC236}">
                <a16:creationId xmlns:a16="http://schemas.microsoft.com/office/drawing/2014/main" id="{7EC5A9F1-BB96-C339-D56C-2BC6E0DA0570}"/>
              </a:ext>
            </a:extLst>
          </p:cNvPr>
          <p:cNvSpPr txBox="1"/>
          <p:nvPr/>
        </p:nvSpPr>
        <p:spPr>
          <a:xfrm>
            <a:off x="1259524" y="2146243"/>
            <a:ext cx="5074272" cy="338554"/>
          </a:xfrm>
          <a:prstGeom prst="rect">
            <a:avLst/>
          </a:prstGeom>
          <a:noFill/>
        </p:spPr>
        <p:txBody>
          <a:bodyPr wrap="none" rtlCol="0">
            <a:spAutoFit/>
          </a:bodyPr>
          <a:lstStyle/>
          <a:p>
            <a:r>
              <a:rPr lang="en-US" sz="1600" b="1" dirty="0">
                <a:solidFill>
                  <a:schemeClr val="tx2"/>
                </a:solidFill>
                <a:latin typeface="+mj-lt"/>
              </a:rPr>
              <a:t>Agents as state machines</a:t>
            </a:r>
          </a:p>
        </p:txBody>
      </p:sp>
      <p:sp>
        <p:nvSpPr>
          <p:cNvPr id="9" name="TextBox 8">
            <a:extLst>
              <a:ext uri="{FF2B5EF4-FFF2-40B4-BE49-F238E27FC236}">
                <a16:creationId xmlns:a16="http://schemas.microsoft.com/office/drawing/2014/main" id="{7EC5A9F1-BB96-C339-D56C-2BC6E0DA0570}"/>
              </a:ext>
            </a:extLst>
          </p:cNvPr>
          <p:cNvSpPr txBox="1"/>
          <p:nvPr/>
        </p:nvSpPr>
        <p:spPr>
          <a:xfrm>
            <a:off x="1259524" y="2679943"/>
            <a:ext cx="5074272" cy="338554"/>
          </a:xfrm>
          <a:prstGeom prst="rect">
            <a:avLst/>
          </a:prstGeom>
          <a:noFill/>
        </p:spPr>
        <p:txBody>
          <a:bodyPr wrap="none" rtlCol="0">
            <a:spAutoFit/>
          </a:bodyPr>
          <a:lstStyle/>
          <a:p>
            <a:r>
              <a:rPr lang="en-US" sz="1600" b="1" dirty="0">
                <a:solidFill>
                  <a:schemeClr val="tx2"/>
                </a:solidFill>
                <a:latin typeface="+mj-lt"/>
              </a:rPr>
              <a:t>State, records and reducers</a:t>
            </a:r>
          </a:p>
        </p:txBody>
      </p:sp>
      <p:sp>
        <p:nvSpPr>
          <p:cNvPr id="12" name="TextBox 11">
            <a:extLst>
              <a:ext uri="{FF2B5EF4-FFF2-40B4-BE49-F238E27FC236}">
                <a16:creationId xmlns:a16="http://schemas.microsoft.com/office/drawing/2014/main" id="{05AFBEDE-06A3-A656-9089-367CC0A8E3BC}"/>
              </a:ext>
            </a:extLst>
          </p:cNvPr>
          <p:cNvSpPr txBox="1"/>
          <p:nvPr/>
        </p:nvSpPr>
        <p:spPr>
          <a:xfrm>
            <a:off x="1259524" y="3743778"/>
            <a:ext cx="5074272" cy="338554"/>
          </a:xfrm>
          <a:prstGeom prst="rect">
            <a:avLst/>
          </a:prstGeom>
          <a:noFill/>
        </p:spPr>
        <p:txBody>
          <a:bodyPr wrap="none" rtlCol="0">
            <a:spAutoFit/>
          </a:bodyPr>
          <a:lstStyle/>
          <a:p>
            <a:r>
              <a:rPr lang="en-US" sz="1600" b="1" dirty="0">
                <a:solidFill>
                  <a:schemeClr val="tx2"/>
                </a:solidFill>
                <a:latin typeface="Fira Sans" panose="020B0503050000020004" pitchFamily="34" charset="0"/>
              </a:rPr>
              <a:t>Scheduling and tool execution</a:t>
            </a:r>
          </a:p>
        </p:txBody>
      </p:sp>
      <p:sp>
        <p:nvSpPr>
          <p:cNvPr id="11" name="TextBox 10">
            <a:extLst>
              <a:ext uri="{FF2B5EF4-FFF2-40B4-BE49-F238E27FC236}">
                <a16:creationId xmlns:a16="http://schemas.microsoft.com/office/drawing/2014/main" id="{094ED687-C55F-414D-DBBF-411E837220F3}"/>
              </a:ext>
            </a:extLst>
          </p:cNvPr>
          <p:cNvSpPr txBox="1"/>
          <p:nvPr/>
        </p:nvSpPr>
        <p:spPr>
          <a:xfrm>
            <a:off x="1259524" y="3210082"/>
            <a:ext cx="5074272" cy="338554"/>
          </a:xfrm>
          <a:prstGeom prst="rect">
            <a:avLst/>
          </a:prstGeom>
          <a:noFill/>
        </p:spPr>
        <p:txBody>
          <a:bodyPr wrap="none" rtlCol="0">
            <a:spAutoFit/>
          </a:bodyPr>
          <a:lstStyle/>
          <a:p>
            <a:r>
              <a:rPr lang="en-US" sz="1600" b="1" dirty="0">
                <a:solidFill>
                  <a:schemeClr val="tx2"/>
                </a:solidFill>
                <a:latin typeface="+mj-lt"/>
              </a:rPr>
              <a:t>Routing, feedback and stopping</a:t>
            </a:r>
            <a:endParaRPr lang="en-US" sz="1600" i="1" dirty="0">
              <a:solidFill>
                <a:schemeClr val="tx2"/>
              </a:solidFill>
              <a:latin typeface="+mj-lt"/>
            </a:endParaRPr>
          </a:p>
        </p:txBody>
      </p:sp>
    </p:spTree>
    <p:extLst>
      <p:ext uri="{BB962C8B-B14F-4D97-AF65-F5344CB8AC3E}">
        <p14:creationId xmlns:p14="http://schemas.microsoft.com/office/powerpoint/2010/main" val="2112911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C877-5566-2E23-1702-8D918A30AF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486798-157B-61A4-9C7C-B695CE1ACE95}"/>
              </a:ext>
            </a:extLst>
          </p:cNvPr>
          <p:cNvSpPr txBox="1"/>
          <p:nvPr/>
        </p:nvSpPr>
        <p:spPr>
          <a:xfrm>
            <a:off x="929000" y="265338"/>
            <a:ext cx="5000000" cy="1323439"/>
          </a:xfrm>
          <a:prstGeom prst="rect">
            <a:avLst/>
          </a:prstGeom>
          <a:noFill/>
        </p:spPr>
        <p:txBody>
          <a:bodyPr wrap="square" anchor="ctr">
            <a:spAutoFit/>
          </a:bodyPr>
          <a:lstStyle/>
          <a:p>
            <a:pPr algn="ctr"/>
            <a:r>
              <a:rPr lang="en-US" sz="4000" b="1" dirty="0">
                <a:solidFill>
                  <a:schemeClr val="bg1"/>
                </a:solidFill>
                <a:latin typeface="+mj-lt"/>
              </a:rPr>
              <a:t>Agents as state machines</a:t>
            </a:r>
            <a:endParaRPr sz="4000" b="1" dirty="0">
              <a:solidFill>
                <a:schemeClr val="bg1"/>
              </a:solidFill>
              <a:latin typeface="+mj-lt"/>
            </a:endParaRPr>
          </a:p>
        </p:txBody>
      </p:sp>
      <p:cxnSp>
        <p:nvCxnSpPr>
          <p:cNvPr id="4" name="Straight Arrow Connector 3">
            <a:extLst>
              <a:ext uri="{FF2B5EF4-FFF2-40B4-BE49-F238E27FC236}">
                <a16:creationId xmlns:a16="http://schemas.microsoft.com/office/drawing/2014/main" id="{3AD5CF53-0946-683E-F442-B3BC0351AF4F}"/>
              </a:ext>
            </a:extLst>
          </p:cNvPr>
          <p:cNvCxnSpPr>
            <a:cxnSpLocks/>
          </p:cNvCxnSpPr>
          <p:nvPr/>
        </p:nvCxnSpPr>
        <p:spPr>
          <a:xfrm>
            <a:off x="1063835" y="2018156"/>
            <a:ext cx="0" cy="21608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6" name="Oval 7">
            <a:extLst>
              <a:ext uri="{FF2B5EF4-FFF2-40B4-BE49-F238E27FC236}">
                <a16:creationId xmlns:a16="http://schemas.microsoft.com/office/drawing/2014/main" id="{1CADCF5A-4CBA-D43E-DFE4-9A28FCE4EE82}"/>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CADCF5A-4CBA-D43E-DFE4-9A28FCE4EE82}"/>
              </a:ext>
            </a:extLst>
          </p:cNvPr>
          <p:cNvSpPr/>
          <p:nvPr/>
        </p:nvSpPr>
        <p:spPr>
          <a:xfrm>
            <a:off x="951758" y="27217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A08BC57-4939-6FB8-7C3C-E9AAF841B81B}"/>
              </a:ext>
            </a:extLst>
          </p:cNvPr>
          <p:cNvSpPr/>
          <p:nvPr/>
        </p:nvSpPr>
        <p:spPr>
          <a:xfrm>
            <a:off x="951758" y="32554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6525709-37B2-C26B-CFEF-4C71EFB68A5B}"/>
              </a:ext>
            </a:extLst>
          </p:cNvPr>
          <p:cNvSpPr/>
          <p:nvPr/>
        </p:nvSpPr>
        <p:spPr>
          <a:xfrm>
            <a:off x="951758" y="37855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2">
            <a:extLst>
              <a:ext uri="{FF2B5EF4-FFF2-40B4-BE49-F238E27FC236}">
                <a16:creationId xmlns:a16="http://schemas.microsoft.com/office/drawing/2014/main" id="{48A1D087-8772-6BF3-EC4E-3E7E25349152}"/>
              </a:ext>
            </a:extLst>
          </p:cNvPr>
          <p:cNvSpPr txBox="1"/>
          <p:nvPr/>
        </p:nvSpPr>
        <p:spPr>
          <a:xfrm>
            <a:off x="1259524" y="2146243"/>
            <a:ext cx="5074272" cy="338554"/>
          </a:xfrm>
          <a:prstGeom prst="rect">
            <a:avLst/>
          </a:prstGeom>
          <a:noFill/>
        </p:spPr>
        <p:txBody>
          <a:bodyPr wrap="none" rtlCol="0">
            <a:spAutoFit/>
          </a:bodyPr>
          <a:lstStyle/>
          <a:p>
            <a:r>
              <a:rPr lang="en-US" sz="1600" b="1" dirty="0">
                <a:solidFill>
                  <a:schemeClr val="tx2"/>
                </a:solidFill>
                <a:latin typeface="+mj-lt"/>
              </a:rPr>
              <a:t>Agents as state machines</a:t>
            </a:r>
          </a:p>
        </p:txBody>
      </p:sp>
      <p:sp>
        <p:nvSpPr>
          <p:cNvPr id="9" name="TextBox 8">
            <a:extLst>
              <a:ext uri="{FF2B5EF4-FFF2-40B4-BE49-F238E27FC236}">
                <a16:creationId xmlns:a16="http://schemas.microsoft.com/office/drawing/2014/main" id="{48A1D087-8772-6BF3-EC4E-3E7E25349152}"/>
              </a:ext>
            </a:extLst>
          </p:cNvPr>
          <p:cNvSpPr txBox="1"/>
          <p:nvPr/>
        </p:nvSpPr>
        <p:spPr>
          <a:xfrm>
            <a:off x="1259524" y="2679943"/>
            <a:ext cx="5074272" cy="338554"/>
          </a:xfrm>
          <a:prstGeom prst="rect">
            <a:avLst/>
          </a:prstGeom>
          <a:noFill/>
        </p:spPr>
        <p:txBody>
          <a:bodyPr wrap="none" rtlCol="0">
            <a:spAutoFit/>
          </a:bodyPr>
          <a:lstStyle/>
          <a:p>
            <a:r>
              <a:rPr lang="en-US" sz="1600" b="1" dirty="0">
                <a:solidFill>
                  <a:schemeClr val="tx2">
                    <a:lumMod val="55000"/>
                  </a:schemeClr>
                </a:solidFill>
                <a:latin typeface="+mj-lt"/>
              </a:rPr>
              <a:t>State, records and reducers</a:t>
            </a:r>
          </a:p>
        </p:txBody>
      </p:sp>
      <p:sp>
        <p:nvSpPr>
          <p:cNvPr id="12" name="TextBox 11">
            <a:extLst>
              <a:ext uri="{FF2B5EF4-FFF2-40B4-BE49-F238E27FC236}">
                <a16:creationId xmlns:a16="http://schemas.microsoft.com/office/drawing/2014/main" id="{879FE573-642F-114B-052F-AAA8E7BDCE26}"/>
              </a:ext>
            </a:extLst>
          </p:cNvPr>
          <p:cNvSpPr txBox="1"/>
          <p:nvPr/>
        </p:nvSpPr>
        <p:spPr>
          <a:xfrm>
            <a:off x="1259524" y="3743778"/>
            <a:ext cx="5074272" cy="338554"/>
          </a:xfrm>
          <a:prstGeom prst="rect">
            <a:avLst/>
          </a:prstGeom>
          <a:noFill/>
        </p:spPr>
        <p:txBody>
          <a:bodyPr wrap="none" rtlCol="0">
            <a:spAutoFit/>
          </a:bodyPr>
          <a:lstStyle/>
          <a:p>
            <a:r>
              <a:rPr lang="en-US" sz="1600" b="1" dirty="0">
                <a:solidFill>
                  <a:schemeClr val="tx2">
                    <a:lumMod val="55000"/>
                  </a:schemeClr>
                </a:solidFill>
                <a:latin typeface="Fira Sans" panose="020B0503050000020004" pitchFamily="34" charset="0"/>
              </a:rPr>
              <a:t>Scheduling and tool execution</a:t>
            </a:r>
          </a:p>
        </p:txBody>
      </p:sp>
      <p:sp>
        <p:nvSpPr>
          <p:cNvPr id="11" name="TextBox 10">
            <a:extLst>
              <a:ext uri="{FF2B5EF4-FFF2-40B4-BE49-F238E27FC236}">
                <a16:creationId xmlns:a16="http://schemas.microsoft.com/office/drawing/2014/main" id="{346757F0-4DFF-1E20-CDC1-6E67A304AEC2}"/>
              </a:ext>
            </a:extLst>
          </p:cNvPr>
          <p:cNvSpPr txBox="1"/>
          <p:nvPr/>
        </p:nvSpPr>
        <p:spPr>
          <a:xfrm>
            <a:off x="1259524" y="3210082"/>
            <a:ext cx="5074272" cy="338554"/>
          </a:xfrm>
          <a:prstGeom prst="rect">
            <a:avLst/>
          </a:prstGeom>
          <a:noFill/>
        </p:spPr>
        <p:txBody>
          <a:bodyPr wrap="none" rtlCol="0">
            <a:spAutoFit/>
          </a:bodyPr>
          <a:lstStyle/>
          <a:p>
            <a:r>
              <a:rPr lang="en-US" sz="1600" b="1" dirty="0">
                <a:solidFill>
                  <a:schemeClr val="tx2">
                    <a:lumMod val="55000"/>
                  </a:schemeClr>
                </a:solidFill>
                <a:latin typeface="+mj-lt"/>
              </a:rPr>
              <a:t>Routing, feedback and stopping</a:t>
            </a:r>
            <a:endParaRPr lang="en-US" sz="1600" i="1" dirty="0">
              <a:solidFill>
                <a:schemeClr val="tx2"/>
              </a:solidFill>
              <a:latin typeface="+mj-lt"/>
            </a:endParaRPr>
          </a:p>
        </p:txBody>
      </p:sp>
      <p:pic>
        <p:nvPicPr>
          <p:cNvPr id="14" name="Picture 13">
            <a:extLst>
              <a:ext uri="{FF2B5EF4-FFF2-40B4-BE49-F238E27FC236}">
                <a16:creationId xmlns:a16="http://schemas.microsoft.com/office/drawing/2014/main" id="{1DB686E2-B4DB-D0ED-0AE5-04CE63ABC410}"/>
              </a:ext>
            </a:extLst>
          </p:cNvPr>
          <p:cNvPicPr>
            <a:picLocks noChangeAspect="1"/>
          </p:cNvPicPr>
          <p:nvPr/>
        </p:nvPicPr>
        <p:blipFill>
          <a:blip r:embed="rId3">
            <a:alphaModFix amt="70000"/>
          </a:blip>
          <a:stretch>
            <a:fillRect/>
          </a:stretch>
        </p:blipFill>
        <p:spPr>
          <a:xfrm>
            <a:off x="825474" y="2424483"/>
            <a:ext cx="5732295" cy="1890137"/>
          </a:xfrm>
          <a:prstGeom prst="rect">
            <a:avLst/>
          </a:prstGeom>
        </p:spPr>
      </p:pic>
    </p:spTree>
    <p:extLst>
      <p:ext uri="{BB962C8B-B14F-4D97-AF65-F5344CB8AC3E}">
        <p14:creationId xmlns:p14="http://schemas.microsoft.com/office/powerpoint/2010/main" val="2322976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state machine as a description of an agent</a:t>
            </a:r>
          </a:p>
        </p:txBody>
      </p:sp>
      <p:sp>
        <p:nvSpPr>
          <p:cNvPr id="3" name="Content Placeholder 2"/>
          <p:cNvSpPr>
            <a:spLocks noGrp="1"/>
          </p:cNvSpPr>
          <p:nvPr>
            <p:ph idx="1"/>
          </p:nvPr>
        </p:nvSpPr>
        <p:spPr>
          <a:xfrm>
            <a:off x="319251" y="700000"/>
            <a:ext cx="6014545" cy="2450000"/>
          </a:xfrm>
        </p:spPr>
        <p:txBody>
          <a:bodyPr wrap="square" anchor="ctr">
            <a:normAutofit fontScale="92500" lnSpcReduction="10000"/>
          </a:bodyPr>
          <a:lstStyle/>
          <a:p>
            <a:pPr marL="0" indent="0">
              <a:buNone/>
            </a:pPr>
            <a:r>
              <a:rPr sz="1400" b="1">
                <a:solidFill>
                  <a:srgbClr val="28285E"/>
                </a:solidFill>
              </a:rPr>
              <a:t>An agent runs in discrete steps: model calls, tool calls and checks.</a:t>
            </a:r>
          </a:p>
          <a:p>
            <a:pPr marL="400050" indent="-285750">
              <a:spcBef>
                <a:spcPts val="600"/>
              </a:spcBef>
              <a:spcAft>
                <a:spcPts val="600"/>
              </a:spcAft>
              <a:buClr>
                <a:srgbClr val="28285E"/>
              </a:buClr>
              <a:buSzPts val="1260"/>
              <a:buFont typeface="+mn-lt"/>
              <a:buChar char="●"/>
            </a:pPr>
            <a:r>
              <a:rPr sz="1400" b="1">
                <a:solidFill>
                  <a:schemeClr val="tx1"/>
                </a:solidFill>
              </a:rPr>
              <a:t>Between steps,</a:t>
            </a:r>
            <a:r>
              <a:rPr sz="1400" b="0">
                <a:solidFill>
                  <a:schemeClr val="tx1"/>
                </a:solidFill>
              </a:rPr>
              <a:t> the agent retains information. The program determines permitted data changes and continuations.</a:t>
            </a:r>
          </a:p>
          <a:p>
            <a:pPr marL="400050" indent="-285750">
              <a:spcBef>
                <a:spcPts val="600"/>
              </a:spcBef>
              <a:spcAft>
                <a:spcPts val="600"/>
              </a:spcAft>
              <a:buClr>
                <a:srgbClr val="28285E"/>
              </a:buClr>
              <a:buSzPts val="1260"/>
              <a:buFont typeface="+mn-lt"/>
              <a:buChar char="●"/>
            </a:pPr>
            <a:r>
              <a:rPr sz="1400" b="1">
                <a:solidFill>
                  <a:schemeClr val="tx1"/>
                </a:solidFill>
              </a:rPr>
              <a:t>A state machine</a:t>
            </a:r>
            <a:r>
              <a:rPr sz="1400" b="0">
                <a:solidFill>
                  <a:schemeClr val="tx1"/>
                </a:solidFill>
              </a:rPr>
              <a:t> specifies states, inputs, outputs and an initial configuration. A transition maps a state and input to a next state and output.</a:t>
            </a:r>
          </a:p>
          <a:p>
            <a:pPr marL="400050" indent="-285750">
              <a:spcBef>
                <a:spcPts val="600"/>
              </a:spcBef>
              <a:spcAft>
                <a:spcPts val="600"/>
              </a:spcAft>
              <a:buClr>
                <a:srgbClr val="28285E"/>
              </a:buClr>
              <a:buSzPts val="1260"/>
              <a:buFont typeface="+mn-lt"/>
              <a:buChar char="●"/>
            </a:pPr>
            <a:r>
              <a:rPr sz="1400" b="1">
                <a:solidFill>
                  <a:schemeClr val="tx1"/>
                </a:solidFill>
              </a:rPr>
              <a:t>A workflow intended to terminate</a:t>
            </a:r>
            <a:r>
              <a:rPr sz="1400" b="0">
                <a:solidFill>
                  <a:schemeClr val="tx1"/>
                </a:solidFill>
              </a:rPr>
              <a:t> also specifies terminal configurations, from which no further step is scheduled.</a:t>
            </a:r>
          </a:p>
        </p:txBody>
      </p:sp>
      <p:sp>
        <p:nvSpPr>
          <p:cNvPr id="4" name="Rectangle 3"/>
          <p:cNvSpPr/>
          <p:nvPr/>
        </p:nvSpPr>
        <p:spPr>
          <a:xfrm>
            <a:off x="319251" y="3340000"/>
            <a:ext cx="6014545" cy="8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state machine is a simplified description of an agent. It omits the prompts, the model and the tool code.</a:t>
            </a:r>
          </a:p>
        </p:txBody>
      </p:sp>
      <p:sp>
        <p:nvSpPr>
          <p:cNvPr id="5" name="Rectangle 4"/>
          <p:cNvSpPr/>
          <p:nvPr/>
        </p:nvSpPr>
        <p:spPr>
          <a:xfrm>
            <a:off x="319251" y="4330000"/>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This description lets us examine execution without describing the whole program.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control locations</a:t>
            </a:r>
          </a:p>
        </p:txBody>
      </p:sp>
      <p:sp>
        <p:nvSpPr>
          <p:cNvPr id="3" name="Content Placeholder 2"/>
          <p:cNvSpPr>
            <a:spLocks noGrp="1"/>
          </p:cNvSpPr>
          <p:nvPr>
            <p:ph idx="1"/>
          </p:nvPr>
        </p:nvSpPr>
        <p:spPr>
          <a:xfrm>
            <a:off x="319251" y="700000"/>
            <a:ext cx="6014545" cy="450000"/>
          </a:xfrm>
        </p:spPr>
        <p:txBody>
          <a:bodyPr wrap="square" anchor="ctr">
            <a:normAutofit fontScale="77500" lnSpcReduction="20000"/>
          </a:bodyPr>
          <a:lstStyle/>
          <a:p>
            <a:pPr marL="0" indent="0">
              <a:buNone/>
            </a:pPr>
            <a:r>
              <a:rPr sz="1400" b="1">
                <a:solidFill>
                  <a:srgbClr val="28285E"/>
                </a:solidFill>
              </a:rPr>
              <a:t>Each node names a control location. Arrows show the transitions the program permits.</a:t>
            </a:r>
          </a:p>
        </p:txBody>
      </p:sp>
      <p:pic>
        <p:nvPicPr>
          <p:cNvPr id="4" name="Figure efsm-skeleton" descr="efsm-skeleton.png"/>
          <p:cNvPicPr>
            <a:picLocks noChangeAspect="1"/>
          </p:cNvPicPr>
          <p:nvPr/>
        </p:nvPicPr>
        <p:blipFill>
          <a:blip r:embed="rId3"/>
          <a:stretch>
            <a:fillRect/>
          </a:stretch>
        </p:blipFill>
        <p:spPr>
          <a:xfrm>
            <a:off x="250148" y="1240000"/>
            <a:ext cx="6152752" cy="2417281"/>
          </a:xfrm>
          <a:prstGeom prst="rect">
            <a:avLst/>
          </a:prstGeom>
        </p:spPr>
      </p:pic>
      <p:sp>
        <p:nvSpPr>
          <p:cNvPr id="5" name="Rectangle 4"/>
          <p:cNvSpPr/>
          <p:nvPr/>
        </p:nvSpPr>
        <p:spPr>
          <a:xfrm>
            <a:off x="319251" y="3858622"/>
            <a:ext cx="6014545" cy="54430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Blue nodes call a model. Grey nodes run tools or checks.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what the agent keeps between steps</a:t>
            </a:r>
          </a:p>
        </p:txBody>
      </p:sp>
      <p:sp>
        <p:nvSpPr>
          <p:cNvPr id="3" name="Content Placeholder 2"/>
          <p:cNvSpPr>
            <a:spLocks noGrp="1"/>
          </p:cNvSpPr>
          <p:nvPr>
            <p:ph idx="1"/>
          </p:nvPr>
        </p:nvSpPr>
        <p:spPr>
          <a:xfrm>
            <a:off x="319251" y="700000"/>
            <a:ext cx="6014545" cy="1950000"/>
          </a:xfrm>
        </p:spPr>
        <p:txBody>
          <a:bodyPr wrap="square" anchor="ctr">
            <a:normAutofit fontScale="92500" lnSpcReduction="20000"/>
          </a:bodyPr>
          <a:lstStyle/>
          <a:p>
            <a:pPr marL="0" indent="0">
              <a:buNone/>
            </a:pPr>
            <a:r>
              <a:rPr sz="1400" b="1">
                <a:solidFill>
                  <a:srgbClr val="28285E"/>
                </a:solidFill>
              </a:rPr>
              <a:t>An agent runs in discrete steps. Between two steps, some information persists.</a:t>
            </a:r>
          </a:p>
          <a:p>
            <a:pPr marL="400050" indent="-285750">
              <a:spcBef>
                <a:spcPts val="600"/>
              </a:spcBef>
              <a:spcAft>
                <a:spcPts val="600"/>
              </a:spcAft>
              <a:buClr>
                <a:srgbClr val="28285E"/>
              </a:buClr>
              <a:buSzPts val="1260"/>
              <a:buFont typeface="+mn-lt"/>
              <a:buChar char="●"/>
            </a:pPr>
            <a:r>
              <a:rPr sz="1400" b="1">
                <a:solidFill>
                  <a:schemeClr val="tx1"/>
                </a:solidFill>
              </a:rPr>
              <a:t>The controller's next action</a:t>
            </a:r>
            <a:r>
              <a:rPr sz="1400" b="0">
                <a:solidFill>
                  <a:schemeClr val="tx1"/>
                </a:solidFill>
              </a:rPr>
              <a:t> depends on its instructions and earlier observations. The runtime's next decision may depend on how many model calls have been used.</a:t>
            </a:r>
          </a:p>
          <a:p>
            <a:pPr marL="400050" indent="-285750">
              <a:spcBef>
                <a:spcPts val="600"/>
              </a:spcBef>
              <a:spcAft>
                <a:spcPts val="600"/>
              </a:spcAft>
              <a:buClr>
                <a:srgbClr val="28285E"/>
              </a:buClr>
              <a:buSzPts val="1260"/>
              <a:buFont typeface="+mn-lt"/>
              <a:buChar char="●"/>
            </a:pPr>
            <a:r>
              <a:rPr sz="1400" b="1">
                <a:solidFill>
                  <a:schemeClr val="tx1"/>
                </a:solidFill>
              </a:rPr>
              <a:t>Two visits to the controller </a:t>
            </a:r>
            <a:r>
              <a:rPr sz="1400" b="0">
                <a:solidFill>
                  <a:schemeClr val="tx1"/>
                </a:solidFill>
              </a:rPr>
              <a:t>can therefore lead to different next steps, because the retained data differ.</a:t>
            </a:r>
          </a:p>
        </p:txBody>
      </p:sp>
      <p:pic>
        <p:nvPicPr>
          <p:cNvPr id="4" name="Figure step-state" descr="step-state.png"/>
          <p:cNvPicPr>
            <a:picLocks noChangeAspect="1"/>
          </p:cNvPicPr>
          <p:nvPr/>
        </p:nvPicPr>
        <p:blipFill>
          <a:blip r:embed="rId2"/>
          <a:stretch>
            <a:fillRect/>
          </a:stretch>
        </p:blipFill>
        <p:spPr>
          <a:xfrm>
            <a:off x="826524" y="2840000"/>
            <a:ext cx="5000000" cy="1084905"/>
          </a:xfrm>
          <a:prstGeom prst="rect">
            <a:avLst/>
          </a:prstGeom>
        </p:spPr>
      </p:pic>
      <p:sp>
        <p:nvSpPr>
          <p:cNvPr id="5" name="Rectangle 4"/>
          <p:cNvSpPr/>
          <p:nvPr/>
        </p:nvSpPr>
        <p:spPr>
          <a:xfrm>
            <a:off x="319251" y="4114905"/>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State contains the information the program retains between steps that can affect the next step.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Inputs: what arrives during a step</a:t>
            </a:r>
          </a:p>
        </p:txBody>
      </p:sp>
      <p:sp>
        <p:nvSpPr>
          <p:cNvPr id="3" name="Content Placeholder 2"/>
          <p:cNvSpPr>
            <a:spLocks noGrp="1"/>
          </p:cNvSpPr>
          <p:nvPr>
            <p:ph idx="1"/>
          </p:nvPr>
        </p:nvSpPr>
        <p:spPr>
          <a:xfrm>
            <a:off x="319251" y="700000"/>
            <a:ext cx="6014545" cy="1750000"/>
          </a:xfrm>
        </p:spPr>
        <p:txBody>
          <a:bodyPr wrap="square" anchor="ctr">
            <a:normAutofit fontScale="92500"/>
          </a:bodyPr>
          <a:lstStyle/>
          <a:p>
            <a:pPr marL="0" indent="0">
              <a:buNone/>
            </a:pPr>
            <a:r>
              <a:rPr sz="1400" b="1">
                <a:solidFill>
                  <a:srgbClr val="28285E"/>
                </a:solidFill>
              </a:rPr>
              <a:t>Model replies and tool results arrive during a step. The program cannot compute them from its retained data.</a:t>
            </a:r>
          </a:p>
          <a:p>
            <a:pPr marL="400050" indent="-285750">
              <a:spcBef>
                <a:spcPts val="600"/>
              </a:spcBef>
              <a:spcAft>
                <a:spcPts val="600"/>
              </a:spcAft>
              <a:buClr>
                <a:srgbClr val="28285E"/>
              </a:buClr>
              <a:buSzPts val="1260"/>
              <a:buFont typeface="+mn-lt"/>
              <a:buChar char="●"/>
            </a:pPr>
            <a:r>
              <a:rPr sz="1400" b="1">
                <a:solidFill>
                  <a:schemeClr val="tx1"/>
                </a:solidFill>
              </a:rPr>
              <a:t>A model reply is an input. </a:t>
            </a:r>
            <a:r>
              <a:rPr sz="1400" b="0">
                <a:solidFill>
                  <a:schemeClr val="tx1"/>
                </a:solidFill>
              </a:rPr>
              <a:t>The same state can receive a different reply next time.</a:t>
            </a:r>
          </a:p>
          <a:p>
            <a:pPr marL="400050" indent="-285750">
              <a:spcBef>
                <a:spcPts val="600"/>
              </a:spcBef>
              <a:spcAft>
                <a:spcPts val="600"/>
              </a:spcAft>
              <a:buClr>
                <a:srgbClr val="28285E"/>
              </a:buClr>
              <a:buSzPts val="1260"/>
              <a:buFont typeface="+mn-lt"/>
              <a:buChar char="●"/>
            </a:pPr>
            <a:r>
              <a:rPr sz="1400" b="0">
                <a:solidFill>
                  <a:schemeClr val="tx1"/>
                </a:solidFill>
              </a:rPr>
              <a:t>We treat a tool's report about workspace files as an input observation.</a:t>
            </a:r>
          </a:p>
        </p:txBody>
      </p:sp>
      <p:pic>
        <p:nvPicPr>
          <p:cNvPr id="4" name="Figure step-input" descr="step-input.png"/>
          <p:cNvPicPr>
            <a:picLocks noChangeAspect="1"/>
          </p:cNvPicPr>
          <p:nvPr/>
        </p:nvPicPr>
        <p:blipFill>
          <a:blip r:embed="rId2"/>
          <a:stretch>
            <a:fillRect/>
          </a:stretch>
        </p:blipFill>
        <p:spPr>
          <a:xfrm>
            <a:off x="626524" y="2640000"/>
            <a:ext cx="5400000" cy="1082888"/>
          </a:xfrm>
          <a:prstGeom prst="rect">
            <a:avLst/>
          </a:prstGeom>
        </p:spPr>
      </p:pic>
      <p:sp>
        <p:nvSpPr>
          <p:cNvPr id="5" name="Rectangle 4"/>
          <p:cNvSpPr/>
          <p:nvPr/>
        </p:nvSpPr>
        <p:spPr>
          <a:xfrm>
            <a:off x="319251" y="3912888"/>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State determines which transitions are permitted. It does not determine which result arrives.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Determinism: two ways to treat the reply</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Whether the agent is deterministic depends on how we treat the model's reply.</a:t>
            </a:r>
          </a:p>
        </p:txBody>
      </p:sp>
      <p:graphicFrame>
        <p:nvGraphicFramePr>
          <p:cNvPr id="4" name="Table 3"/>
          <p:cNvGraphicFramePr>
            <a:graphicFrameLocks noGrp="1"/>
          </p:cNvGraphicFramePr>
          <p:nvPr/>
        </p:nvGraphicFramePr>
        <p:xfrm>
          <a:off x="319251" y="1290000"/>
          <a:ext cx="6014545" cy="2022120"/>
        </p:xfrm>
        <a:graphic>
          <a:graphicData uri="http://schemas.openxmlformats.org/drawingml/2006/table">
            <a:tbl>
              <a:tblPr firstRow="1" bandRow="1">
                <a:tableStyleId>{5C22544A-7EE6-4342-B048-85BDC9FD1C3A}</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buNone/>
                      </a:pPr>
                      <a:endParaRPr/>
                    </a:p>
                  </a:txBody>
                  <a:tcPr marL="95250" marR="95250" marT="47625" marB="47625">
                    <a:lnB w="12700" cap="flat" cmpd="sng" algn="ctr">
                      <a:solidFill>
                        <a:schemeClr val="tx1"/>
                      </a:solidFill>
                    </a:lnB>
                    <a:noFill/>
                  </a:tcPr>
                </a:tc>
                <a:tc>
                  <a:txBody>
                    <a:bodyPr/>
                    <a:lstStyle/>
                    <a:p>
                      <a:pPr>
                        <a:buNone/>
                      </a:pPr>
                      <a:r>
                        <a:rPr sz="1100" b="1">
                          <a:solidFill>
                            <a:schemeClr val="tx1"/>
                          </a:solidFill>
                        </a:rPr>
                        <a:t>The reply is an input</a:t>
                      </a:r>
                    </a:p>
                  </a:txBody>
                  <a:tcPr marL="95250" marR="95250" marT="47625" marB="47625">
                    <a:lnB w="12700" cap="flat" cmpd="sng" algn="ctr">
                      <a:solidFill>
                        <a:schemeClr val="tx1"/>
                      </a:solidFill>
                    </a:lnB>
                    <a:noFill/>
                  </a:tcPr>
                </a:tc>
                <a:tc>
                  <a:txBody>
                    <a:bodyPr/>
                    <a:lstStyle/>
                    <a:p>
                      <a:pPr>
                        <a:buNone/>
                      </a:pPr>
                      <a:r>
                        <a:rPr sz="1100" b="1">
                          <a:solidFill>
                            <a:schemeClr val="tx1"/>
                          </a:solidFill>
                        </a:rPr>
                        <a:t>The reply is an internal choice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A model reply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reply arrives as an 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model makes an unobserved internal choice.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Transitions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Exactly one transition is enabled for each state and reply.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One state permits a tool call or a submission.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Behaviours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A fixed input sequence gives one behaviour.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A fixed input sequence permits a set of behaviours.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100" b="1">
                          <a:solidFill>
                            <a:srgbClr val="28285E"/>
                          </a:solidFill>
                        </a:rPr>
                        <a:t>Probabilities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This description assigns no probabilities.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This description assigns no probabilities.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Extended state machines and configurations</a:t>
            </a:r>
          </a:p>
        </p:txBody>
      </p:sp>
      <p:sp>
        <p:nvSpPr>
          <p:cNvPr id="3" name="Content Placeholder 2"/>
          <p:cNvSpPr>
            <a:spLocks noGrp="1"/>
          </p:cNvSpPr>
          <p:nvPr>
            <p:ph idx="1"/>
          </p:nvPr>
        </p:nvSpPr>
        <p:spPr>
          <a:xfrm>
            <a:off x="319251" y="700000"/>
            <a:ext cx="6014545" cy="450000"/>
          </a:xfrm>
        </p:spPr>
        <p:txBody>
          <a:bodyPr wrap="square" anchor="ctr">
            <a:normAutofit fontScale="92500"/>
          </a:bodyPr>
          <a:lstStyle/>
          <a:p>
            <a:pPr marL="0" indent="0">
              <a:buNone/>
            </a:pPr>
            <a:r>
              <a:rPr sz="1400" b="1">
                <a:solidFill>
                  <a:srgbClr val="28285E"/>
                </a:solidFill>
              </a:rPr>
              <a:t>An agent has a small number of control locations and a large amount of data.</a:t>
            </a:r>
          </a:p>
        </p:txBody>
      </p:sp>
      <p:pic>
        <p:nvPicPr>
          <p:cNvPr id="4" name="Figure location-card" descr="location-card.png"/>
          <p:cNvPicPr>
            <a:picLocks noChangeAspect="1"/>
          </p:cNvPicPr>
          <p:nvPr/>
        </p:nvPicPr>
        <p:blipFill>
          <a:blip r:embed="rId3"/>
          <a:stretch>
            <a:fillRect/>
          </a:stretch>
        </p:blipFill>
        <p:spPr>
          <a:xfrm>
            <a:off x="526524" y="1240000"/>
            <a:ext cx="5600000" cy="1922615"/>
          </a:xfrm>
          <a:prstGeom prst="rect">
            <a:avLst/>
          </a:prstGeom>
        </p:spPr>
      </p:pic>
      <p:sp>
        <p:nvSpPr>
          <p:cNvPr id="5" name="Rectangle 4"/>
          <p:cNvSpPr/>
          <p:nvPr/>
        </p:nvSpPr>
        <p:spPr>
          <a:xfrm>
            <a:off x="319251" y="3252615"/>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dirty="0">
                <a:solidFill>
                  <a:schemeClr val="tx2"/>
                </a:solidFill>
              </a:rPr>
              <a:t>An extended state machine adds variables to a finite set of control locations. A configuration pairs the current location with the values of all variables.</a:t>
            </a:r>
          </a:p>
        </p:txBody>
      </p:sp>
      <p:sp>
        <p:nvSpPr>
          <p:cNvPr id="6" name="Rectangle 5"/>
          <p:cNvSpPr/>
          <p:nvPr/>
        </p:nvSpPr>
        <p:spPr>
          <a:xfrm>
            <a:off x="319251" y="4099273"/>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In run </a:t>
            </a:r>
            <a:r>
              <a:rPr sz="1200" b="0">
                <a:solidFill>
                  <a:srgbClr val="28285E"/>
                </a:solidFill>
                <a:latin typeface="Maple Mono NF"/>
              </a:rPr>
              <a:t>bc284c6b</a:t>
            </a:r>
            <a:r>
              <a:rPr sz="1200" b="1">
                <a:solidFill>
                  <a:srgbClr val="28285E"/>
                </a:solidFill>
              </a:rPr>
              <a:t>, the controller is visited five times, with a different configuration at each visit.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Configurations: finite control, unbounded data</a:t>
            </a:r>
          </a:p>
        </p:txBody>
      </p:sp>
      <p:sp>
        <p:nvSpPr>
          <p:cNvPr id="3" name="Content Placeholder 2"/>
          <p:cNvSpPr>
            <a:spLocks noGrp="1"/>
          </p:cNvSpPr>
          <p:nvPr>
            <p:ph idx="1"/>
          </p:nvPr>
        </p:nvSpPr>
        <p:spPr>
          <a:xfrm>
            <a:off x="319251" y="700000"/>
            <a:ext cx="6014545" cy="2450000"/>
          </a:xfrm>
        </p:spPr>
        <p:txBody>
          <a:bodyPr wrap="square" anchor="ctr"/>
          <a:lstStyle/>
          <a:p>
            <a:pPr marL="0" indent="0">
              <a:buNone/>
            </a:pPr>
            <a:r>
              <a:rPr sz="1400" b="1" dirty="0">
                <a:solidFill>
                  <a:srgbClr val="28285E"/>
                </a:solidFill>
              </a:rPr>
              <a:t>Finite control does not give a finite set of configurations.</a:t>
            </a:r>
          </a:p>
          <a:p>
            <a:pPr marL="400050" indent="-285750">
              <a:spcBef>
                <a:spcPts val="600"/>
              </a:spcBef>
              <a:spcAft>
                <a:spcPts val="600"/>
              </a:spcAft>
              <a:buClr>
                <a:srgbClr val="28285E"/>
              </a:buClr>
              <a:buSzPts val="1260"/>
              <a:buFont typeface="+mn-lt"/>
              <a:buChar char="●"/>
            </a:pPr>
            <a:r>
              <a:rPr sz="1400" b="1" dirty="0">
                <a:solidFill>
                  <a:schemeClr val="tx1"/>
                </a:solidFill>
              </a:rPr>
              <a:t>With </a:t>
            </a:r>
            <a:r>
              <a:rPr sz="1400" b="0" dirty="0">
                <a:solidFill>
                  <a:schemeClr val="tx1"/>
                </a:solidFill>
                <a:latin typeface="Maple Mono NF"/>
              </a:rPr>
              <a:t>model_calls</a:t>
            </a:r>
            <a:r>
              <a:rPr sz="1400" b="1" dirty="0">
                <a:solidFill>
                  <a:schemeClr val="tx1"/>
                </a:solidFill>
              </a:rPr>
              <a:t> as the only variable</a:t>
            </a:r>
            <a:r>
              <a:rPr sz="1400" b="0" dirty="0">
                <a:solidFill>
                  <a:schemeClr val="tx1"/>
                </a:solidFill>
              </a:rPr>
              <a:t> and a budget of N, each location has at most N+1 configurations.</a:t>
            </a:r>
          </a:p>
          <a:p>
            <a:pPr marL="400050" indent="-285750">
              <a:spcBef>
                <a:spcPts val="600"/>
              </a:spcBef>
              <a:spcAft>
                <a:spcPts val="600"/>
              </a:spcAft>
              <a:buClr>
                <a:srgbClr val="28285E"/>
              </a:buClr>
              <a:buSzPts val="1260"/>
              <a:buFont typeface="+mn-lt"/>
              <a:buChar char="●"/>
            </a:pPr>
            <a:r>
              <a:rPr sz="1400" b="1" dirty="0">
                <a:solidFill>
                  <a:schemeClr val="tx1"/>
                </a:solidFill>
              </a:rPr>
              <a:t>A message list without a length bound</a:t>
            </a:r>
            <a:r>
              <a:rPr sz="1400" b="0" dirty="0">
                <a:solidFill>
                  <a:schemeClr val="tx1"/>
                </a:solidFill>
              </a:rPr>
              <a:t> gives no finite bound on the number of configurations.</a:t>
            </a:r>
          </a:p>
          <a:p>
            <a:pPr marL="400050" indent="-285750">
              <a:spcBef>
                <a:spcPts val="600"/>
              </a:spcBef>
              <a:spcAft>
                <a:spcPts val="600"/>
              </a:spcAft>
              <a:buClr>
                <a:srgbClr val="28285E"/>
              </a:buClr>
              <a:buSzPts val="1260"/>
              <a:buFont typeface="+mn-lt"/>
              <a:buChar char="●"/>
            </a:pPr>
            <a:r>
              <a:rPr sz="1400" b="1" dirty="0">
                <a:solidFill>
                  <a:schemeClr val="tx1"/>
                </a:solidFill>
              </a:rPr>
              <a:t>Enumerating all reachable configurations</a:t>
            </a:r>
            <a:r>
              <a:rPr sz="1400" b="0" dirty="0">
                <a:solidFill>
                  <a:schemeClr val="tx1"/>
                </a:solidFill>
              </a:rPr>
              <a:t> may therefore fail to terminate.</a:t>
            </a:r>
          </a:p>
        </p:txBody>
      </p:sp>
      <p:sp>
        <p:nvSpPr>
          <p:cNvPr id="4" name="Rectangle 3"/>
          <p:cNvSpPr/>
          <p:nvPr/>
        </p:nvSpPr>
        <p:spPr>
          <a:xfrm>
            <a:off x="319251" y="334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An extended state machine can have finitely many control locations and infinitely many configurations.</a:t>
            </a:r>
          </a:p>
        </p:txBody>
      </p:sp>
      <p:sp>
        <p:nvSpPr>
          <p:cNvPr id="5" name="Rectangle 4"/>
          <p:cNvSpPr/>
          <p:nvPr/>
        </p:nvSpPr>
        <p:spPr>
          <a:xfrm>
            <a:off x="319251" y="4140000"/>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set of control locations and guards remains finite.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Transitions: guard, output action, set action</a:t>
            </a:r>
          </a:p>
        </p:txBody>
      </p:sp>
      <p:sp>
        <p:nvSpPr>
          <p:cNvPr id="3" name="Content Placeholder 2"/>
          <p:cNvSpPr>
            <a:spLocks noGrp="1"/>
          </p:cNvSpPr>
          <p:nvPr>
            <p:ph idx="1"/>
          </p:nvPr>
        </p:nvSpPr>
        <p:spPr>
          <a:xfrm>
            <a:off x="319251" y="700000"/>
            <a:ext cx="6014545" cy="500000"/>
          </a:xfrm>
        </p:spPr>
        <p:txBody>
          <a:bodyPr wrap="square" anchor="ctr"/>
          <a:lstStyle/>
          <a:p>
            <a:pPr marL="0" indent="0">
              <a:buNone/>
            </a:pPr>
            <a:r>
              <a:rPr sz="1400" b="1">
                <a:solidFill>
                  <a:srgbClr val="28285E"/>
                </a:solidFill>
              </a:rPr>
              <a:t>An edge specifies a guard, an output action and a set action.</a:t>
            </a:r>
          </a:p>
        </p:txBody>
      </p:sp>
      <p:pic>
        <p:nvPicPr>
          <p:cNvPr id="4" name="Figure one-edge" descr="one-edge.png"/>
          <p:cNvPicPr>
            <a:picLocks noChangeAspect="1"/>
          </p:cNvPicPr>
          <p:nvPr/>
        </p:nvPicPr>
        <p:blipFill>
          <a:blip r:embed="rId3"/>
          <a:stretch>
            <a:fillRect/>
          </a:stretch>
        </p:blipFill>
        <p:spPr>
          <a:xfrm>
            <a:off x="1476524" y="1290000"/>
            <a:ext cx="3700000" cy="2205893"/>
          </a:xfrm>
          <a:prstGeom prst="rect">
            <a:avLst/>
          </a:prstGeom>
        </p:spPr>
      </p:pic>
      <p:sp>
        <p:nvSpPr>
          <p:cNvPr id="5" name="Shorthand"/>
          <p:cNvSpPr txBox="1"/>
          <p:nvPr/>
        </p:nvSpPr>
        <p:spPr>
          <a:xfrm>
            <a:off x="1072541" y="3675487"/>
            <a:ext cx="4507965" cy="307777"/>
          </a:xfrm>
          <a:prstGeom prst="rect">
            <a:avLst/>
          </a:prstGeom>
          <a:noFill/>
        </p:spPr>
        <p:txBody>
          <a:bodyPr wrap="none" anchor="ctr">
            <a:spAutoFit/>
          </a:bodyPr>
          <a:lstStyle/>
          <a:p>
            <a:pPr algn="ctr"/>
            <a:r>
              <a:rPr sz="1400" dirty="0">
                <a:solidFill>
                  <a:schemeClr val="tx1"/>
                </a:solidFill>
                <a:latin typeface="Maple Mono NF"/>
              </a:rPr>
              <a:t>(q, v)  -- e ; g / out ; set --&gt;  (q', v')</a:t>
            </a:r>
          </a:p>
        </p:txBody>
      </p:sp>
      <p:sp>
        <p:nvSpPr>
          <p:cNvPr id="6" name="Rectangle 5"/>
          <p:cNvSpPr/>
          <p:nvPr/>
        </p:nvSpPr>
        <p:spPr>
          <a:xfrm>
            <a:off x="156412" y="4169375"/>
            <a:ext cx="6340224"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From (q, v), the transition reads input e, tests g, emits out and applies set to reach (q', v').</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elements of a transitio</a:t>
            </a:r>
            <a:r>
              <a:rPr lang="en-US" dirty="0"/>
              <a:t>n (</a:t>
            </a:r>
            <a:r>
              <a:rPr dirty="0"/>
              <a:t>for an agent</a:t>
            </a:r>
            <a:r>
              <a:rPr lang="en-US" dirty="0"/>
              <a:t>)</a:t>
            </a:r>
            <a:endParaRPr dirty="0"/>
          </a:p>
        </p:txBody>
      </p:sp>
      <p:graphicFrame>
        <p:nvGraphicFramePr>
          <p:cNvPr id="3" name="Table 2"/>
          <p:cNvGraphicFramePr>
            <a:graphicFrameLocks noGrp="1"/>
          </p:cNvGraphicFramePr>
          <p:nvPr/>
        </p:nvGraphicFramePr>
        <p:xfrm>
          <a:off x="319251" y="700000"/>
          <a:ext cx="6014545" cy="3348000"/>
        </p:xfrm>
        <a:graphic>
          <a:graphicData uri="http://schemas.openxmlformats.org/drawingml/2006/table">
            <a:tbl>
              <a:tblPr firstRow="1" bandRow="1">
                <a:tableStyleId>{5C22544A-7EE6-4342-B048-85BDC9FD1C3A}</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buNone/>
                      </a:pPr>
                      <a:r>
                        <a:rPr sz="1000" b="1">
                          <a:solidFill>
                            <a:schemeClr val="tx1"/>
                          </a:solidFill>
                        </a:rPr>
                        <a:t>Element</a:t>
                      </a:r>
                    </a:p>
                  </a:txBody>
                  <a:tcPr marL="95250" marR="95250" marT="47625" marB="47625">
                    <a:lnB w="12700" cap="flat" cmpd="sng" algn="ctr">
                      <a:solidFill>
                        <a:schemeClr val="tx1"/>
                      </a:solidFill>
                    </a:lnB>
                    <a:noFill/>
                  </a:tcPr>
                </a:tc>
                <a:tc>
                  <a:txBody>
                    <a:bodyPr/>
                    <a:lstStyle/>
                    <a:p>
                      <a:pPr>
                        <a:buNone/>
                      </a:pPr>
                      <a:r>
                        <a:rPr sz="1000" b="1">
                          <a:solidFill>
                            <a:schemeClr val="tx1"/>
                          </a:solidFill>
                        </a:rPr>
                        <a:t>In an 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Control location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control location names the computation ready to run: a model call, tool dispatch or check.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Variables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Variables hold messages, observations, a plan, counters, check results and a status between steps.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An input is a result received during a step, such as a model reply, tool result or check result.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Guard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guard is a predicate over the variables and input, such as “the reply requests a tool”.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Output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An output action requests an operation or reports a terminal outcome.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Set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set action updates variables, such as storing a reply, extending observations or incrementing a counter.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rgbClr val="28285E"/>
                          </a:solidFill>
                        </a:rPr>
                        <a:t>Initial configuration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first location has the initial variable values: opening messages, zero counters, no observations and running 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r h="0">
                <a:tc>
                  <a:txBody>
                    <a:bodyPr/>
                    <a:lstStyle/>
                    <a:p>
                      <a:pPr>
                        <a:buNone/>
                      </a:pPr>
                      <a:r>
                        <a:rPr sz="1000" b="1">
                          <a:solidFill>
                            <a:srgbClr val="28285E"/>
                          </a:solidFill>
                        </a:rPr>
                        <a:t>Terminal configuration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 further computation is scheduled from a terminal configuration. The state stores the reason for ending.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bl>
          </a:graphicData>
        </a:graphic>
      </p:graphicFrame>
      <p:sp>
        <p:nvSpPr>
          <p:cNvPr id="4" name="Rectangle 3"/>
          <p:cNvSpPr/>
          <p:nvPr/>
        </p:nvSpPr>
        <p:spPr>
          <a:xfrm>
            <a:off x="1888761" y="425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Table 1 in the lecture notes gives each element its </a:t>
            </a:r>
            <a:r>
              <a:rPr sz="1200" b="1">
                <a:solidFill>
                  <a:schemeClr val="tx2"/>
                </a:solidFill>
              </a:rPr>
              <a:t>symbol</a:t>
            </a:r>
            <a:r>
              <a:rPr sz="1200" b="0">
                <a:solidFill>
                  <a:schemeClr val="tx2"/>
                </a:solidFil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transition in code: controller to tools</a:t>
            </a:r>
          </a:p>
        </p:txBody>
      </p:sp>
      <p:pic>
        <p:nvPicPr>
          <p:cNvPr id="3" name="Figure one-edge-controller" descr="image.png"/>
          <p:cNvPicPr>
            <a:picLocks noChangeAspect="1"/>
          </p:cNvPicPr>
          <p:nvPr/>
        </p:nvPicPr>
        <p:blipFill>
          <a:blip r:embed="rId3"/>
          <a:stretch>
            <a:fillRect/>
          </a:stretch>
        </p:blipFill>
        <p:spPr>
          <a:xfrm>
            <a:off x="250148" y="720000"/>
            <a:ext cx="6152752" cy="512388"/>
          </a:xfrm>
          <a:prstGeom prst="rect">
            <a:avLst/>
          </a:prstGeom>
        </p:spPr>
      </p:pic>
      <p:sp>
        <p:nvSpPr>
          <p:cNvPr id="4" name="TextBox 3"/>
          <p:cNvSpPr txBox="1"/>
          <p:nvPr/>
        </p:nvSpPr>
        <p:spPr>
          <a:xfrm>
            <a:off x="319251" y="1422388"/>
            <a:ext cx="6014545" cy="200000"/>
          </a:xfrm>
          <a:prstGeom prst="rect">
            <a:avLst/>
          </a:prstGeom>
          <a:noFill/>
        </p:spPr>
        <p:txBody>
          <a:bodyPr wrap="none" lIns="0" tIns="0" rIns="0" bIns="0">
            <a:spAutoFit/>
          </a:bodyPr>
          <a:lstStyle/>
          <a:p>
            <a:r>
              <a:rPr sz="1200" b="1">
                <a:solidFill>
                  <a:srgbClr val="28285E"/>
                </a:solidFill>
              </a:rPr>
              <a:t>graph.py, controller and after_controller (excerpt)</a:t>
            </a:r>
          </a:p>
        </p:txBody>
      </p:sp>
      <p:sp>
        <p:nvSpPr>
          <p:cNvPr id="5" name="CodeWindow"/>
          <p:cNvSpPr/>
          <p:nvPr/>
        </p:nvSpPr>
        <p:spPr>
          <a:xfrm>
            <a:off x="319251" y="1682388"/>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726204"/>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726204"/>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726204"/>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2012388"/>
            <a:ext cx="5437386" cy="1862048"/>
          </a:xfrm>
          <a:prstGeom prst="rect">
            <a:avLst/>
          </a:prstGeom>
          <a:noFill/>
        </p:spPr>
        <p:txBody>
          <a:bodyPr wrap="none" lIns="0" tIns="0" rIns="0" bIns="0" anchor="t">
            <a:spAutoFit/>
          </a:bodyPr>
          <a:lstStyle/>
          <a:p>
            <a:pPr algn="l">
              <a:buNone/>
            </a:pPr>
            <a:r>
              <a:rPr sz="1100" dirty="0">
                <a:solidFill>
                  <a:schemeClr val="accent6"/>
                </a:solidFill>
                <a:latin typeface="Maple Mono NF Light" panose="020F0509060000000000" pitchFamily="49" charset="0"/>
                <a:ea typeface="Maple Mono NF Light" panose="020F0509060000000000" pitchFamily="49" charset="0"/>
              </a:rPr>
              <a:t># ours: the model reply is the input</a:t>
            </a:r>
          </a:p>
          <a:p>
            <a:pPr algn="l">
              <a:buNone/>
            </a:pPr>
            <a:r>
              <a:rPr sz="1100" dirty="0">
                <a:solidFill>
                  <a:schemeClr val="bg1"/>
                </a:solidFill>
                <a:latin typeface="Maple Mono NF Light" panose="020F0509060000000000" pitchFamily="49" charset="0"/>
                <a:ea typeface="Maple Mono NF Light" panose="020F0509060000000000" pitchFamily="49" charset="0"/>
              </a:rPr>
              <a:t>reply = </a:t>
            </a:r>
            <a:r>
              <a:rPr sz="1100" dirty="0" err="1">
                <a:solidFill>
                  <a:schemeClr val="accent2"/>
                </a:solidFill>
                <a:latin typeface="Maple Mono NF Light" panose="020F0509060000000000" pitchFamily="49" charset="0"/>
                <a:ea typeface="Maple Mono NF Light" panose="020F0509060000000000" pitchFamily="49" charset="0"/>
              </a:rPr>
              <a:t>self</a:t>
            </a:r>
            <a:r>
              <a:rPr sz="1100" dirty="0" err="1">
                <a:solidFill>
                  <a:schemeClr val="bg1"/>
                </a:solidFill>
                <a:latin typeface="Maple Mono NF Light" panose="020F0509060000000000" pitchFamily="49" charset="0"/>
                <a:ea typeface="Maple Mono NF Light" panose="020F0509060000000000" pitchFamily="49" charset="0"/>
              </a:rPr>
              <a:t>._call</a:t>
            </a:r>
            <a:r>
              <a:rPr sz="1100" dirty="0">
                <a:solidFill>
                  <a:schemeClr val="bg1"/>
                </a:solidFill>
                <a:latin typeface="Maple Mono NF Light" panose="020F0509060000000000" pitchFamily="49" charset="0"/>
                <a:ea typeface="Maple Mono NF Light" panose="020F0509060000000000" pitchFamily="49" charset="0"/>
              </a:rPr>
              <a:t>(model, state[</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"messages"</a:t>
            </a:r>
            <a:r>
              <a:rPr sz="1100" dirty="0">
                <a:solidFill>
                  <a:schemeClr val="bg1"/>
                </a:solidFill>
                <a:latin typeface="Maple Mono NF Light" panose="020F0509060000000000" pitchFamily="49" charset="0"/>
                <a:ea typeface="Maple Mono NF Light" panose="020F0509060000000000" pitchFamily="49" charset="0"/>
              </a:rPr>
              <a:t>], role=</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"controller"</a:t>
            </a:r>
            <a:r>
              <a:rPr sz="1100" dirty="0">
                <a:solidFill>
                  <a:schemeClr val="bg1"/>
                </a:solidFill>
                <a:latin typeface="Maple Mono NF Light" panose="020F0509060000000000" pitchFamily="49" charset="0"/>
                <a:ea typeface="Maple Mono NF Light" panose="020F0509060000000000" pitchFamily="49" charset="0"/>
              </a:rPr>
              <a:t>)</a:t>
            </a:r>
          </a:p>
          <a:p>
            <a:pPr algn="l">
              <a:buNone/>
            </a:pPr>
            <a:endParaRPr lang="en-US" sz="1100" dirty="0">
              <a:solidFill>
                <a:schemeClr val="accent6"/>
              </a:solidFill>
              <a:latin typeface="Maple Mono NF Light" panose="020F0509060000000000" pitchFamily="49" charset="0"/>
              <a:ea typeface="Maple Mono NF Light" panose="020F0509060000000000" pitchFamily="49" charset="0"/>
            </a:endParaRPr>
          </a:p>
          <a:p>
            <a:pPr algn="l">
              <a:buNone/>
            </a:pPr>
            <a:r>
              <a:rPr sz="1100" dirty="0">
                <a:solidFill>
                  <a:schemeClr val="accent6"/>
                </a:solidFill>
                <a:latin typeface="Maple Mono NF Light" panose="020F0509060000000000" pitchFamily="49" charset="0"/>
                <a:ea typeface="Maple Mono NF Light" panose="020F0509060000000000" pitchFamily="49" charset="0"/>
              </a:rPr>
              <a:t># ours: append the reply and increment the call count</a:t>
            </a:r>
          </a:p>
          <a:p>
            <a:pPr algn="l">
              <a:buNone/>
            </a:pPr>
            <a:r>
              <a:rPr sz="1100" dirty="0">
                <a:solidFill>
                  <a:schemeClr val="accent2"/>
                </a:solidFill>
                <a:latin typeface="Maple Mono NF Light" panose="020F0509060000000000" pitchFamily="49" charset="0"/>
                <a:ea typeface="Maple Mono NF Light" panose="020F0509060000000000" pitchFamily="49" charset="0"/>
              </a:rPr>
              <a:t>return</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"messages"</a:t>
            </a:r>
            <a:r>
              <a:rPr sz="1100" dirty="0">
                <a:solidFill>
                  <a:schemeClr val="bg1"/>
                </a:solidFill>
                <a:latin typeface="Maple Mono NF Light" panose="020F0509060000000000" pitchFamily="49" charset="0"/>
                <a:ea typeface="Maple Mono NF Light" panose="020F0509060000000000" pitchFamily="49" charset="0"/>
              </a:rPr>
              <a:t>: [reply],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a:t>
            </a:r>
            <a:r>
              <a:rPr sz="1100" dirty="0" err="1">
                <a:solidFill>
                  <a:schemeClr val="accent3">
                    <a:lumMod val="55000"/>
                    <a:lumOff val="45000"/>
                  </a:schemeClr>
                </a:solidFill>
                <a:latin typeface="Maple Mono NF Light" panose="020F0509060000000000" pitchFamily="49" charset="0"/>
                <a:ea typeface="Maple Mono NF Light" panose="020F0509060000000000" pitchFamily="49" charset="0"/>
              </a:rPr>
              <a:t>model_calls</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5">
                    <a:lumMod val="45000"/>
                    <a:lumOff val="55000"/>
                  </a:schemeClr>
                </a:solidFill>
                <a:latin typeface="Maple Mono NF Light" panose="020F0509060000000000" pitchFamily="49" charset="0"/>
                <a:ea typeface="Maple Mono NF Light" panose="020F0509060000000000" pitchFamily="49" charset="0"/>
              </a:rPr>
              <a:t>1</a:t>
            </a:r>
            <a:r>
              <a:rPr sz="1100" dirty="0">
                <a:solidFill>
                  <a:schemeClr val="bg1"/>
                </a:solidFill>
                <a:latin typeface="Maple Mono NF Light" panose="020F0509060000000000" pitchFamily="49" charset="0"/>
                <a:ea typeface="Maple Mono NF Light" panose="020F0509060000000000" pitchFamily="49" charset="0"/>
              </a:rPr>
              <a:t>,</a:t>
            </a:r>
          </a:p>
          <a:p>
            <a:pPr algn="l">
              <a:buNone/>
            </a:pP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"usage"</a:t>
            </a:r>
            <a:r>
              <a:rPr sz="1100" dirty="0">
                <a:solidFill>
                  <a:schemeClr val="bg1"/>
                </a:solidFill>
                <a:latin typeface="Maple Mono NF Light" panose="020F0509060000000000" pitchFamily="49" charset="0"/>
                <a:ea typeface="Maple Mono NF Light" panose="020F0509060000000000" pitchFamily="49" charset="0"/>
              </a:rPr>
              <a:t>: </a:t>
            </a:r>
            <a:r>
              <a:rPr sz="1100" dirty="0" err="1">
                <a:solidFill>
                  <a:schemeClr val="accent2"/>
                </a:solidFill>
                <a:latin typeface="Maple Mono NF Light" panose="020F0509060000000000" pitchFamily="49" charset="0"/>
                <a:ea typeface="Maple Mono NF Light" panose="020F0509060000000000" pitchFamily="49" charset="0"/>
              </a:rPr>
              <a:t>self</a:t>
            </a:r>
            <a:r>
              <a:rPr sz="1100" dirty="0" err="1">
                <a:solidFill>
                  <a:schemeClr val="bg1"/>
                </a:solidFill>
                <a:latin typeface="Maple Mono NF Light" panose="020F0509060000000000" pitchFamily="49" charset="0"/>
                <a:ea typeface="Maple Mono NF Light" panose="020F0509060000000000" pitchFamily="49" charset="0"/>
              </a:rPr>
              <a:t>._usage</a:t>
            </a:r>
            <a:r>
              <a:rPr sz="1100" dirty="0">
                <a:solidFill>
                  <a:schemeClr val="bg1"/>
                </a:solidFill>
                <a:latin typeface="Maple Mono NF Light" panose="020F0509060000000000" pitchFamily="49" charset="0"/>
                <a:ea typeface="Maple Mono NF Light" panose="020F0509060000000000" pitchFamily="49" charset="0"/>
              </a:rPr>
              <a:t>(reply)}</a:t>
            </a:r>
          </a:p>
          <a:p>
            <a:pPr algn="l">
              <a:buNone/>
            </a:pPr>
            <a:endParaRPr lang="en-US" sz="1100" dirty="0">
              <a:solidFill>
                <a:schemeClr val="accent6"/>
              </a:solidFill>
              <a:latin typeface="Maple Mono NF Light" panose="020F0509060000000000" pitchFamily="49" charset="0"/>
              <a:ea typeface="Maple Mono NF Light" panose="020F0509060000000000" pitchFamily="49" charset="0"/>
            </a:endParaRPr>
          </a:p>
          <a:p>
            <a:pPr algn="l">
              <a:buNone/>
            </a:pPr>
            <a:r>
              <a:rPr sz="1100" dirty="0">
                <a:solidFill>
                  <a:schemeClr val="accent6"/>
                </a:solidFill>
                <a:latin typeface="Maple Mono NF Light" panose="020F0509060000000000" pitchFamily="49" charset="0"/>
                <a:ea typeface="Maple Mono NF Light" panose="020F0509060000000000" pitchFamily="49" charset="0"/>
              </a:rPr>
              <a:t># ours: the guard tests whether the reply has tool calls</a:t>
            </a:r>
          </a:p>
          <a:p>
            <a:pPr algn="l">
              <a:buNone/>
            </a:pPr>
            <a:r>
              <a:rPr sz="1100" dirty="0">
                <a:solidFill>
                  <a:schemeClr val="accent2"/>
                </a:solidFill>
                <a:latin typeface="Maple Mono NF Light" panose="020F0509060000000000" pitchFamily="49" charset="0"/>
                <a:ea typeface="Maple Mono NF Light" panose="020F0509060000000000" pitchFamily="49" charset="0"/>
              </a:rPr>
              <a:t>if</a:t>
            </a:r>
            <a:r>
              <a:rPr sz="1100" dirty="0">
                <a:solidFill>
                  <a:schemeClr val="bg1"/>
                </a:solidFill>
                <a:latin typeface="Maple Mono NF Light" panose="020F0509060000000000" pitchFamily="49" charset="0"/>
                <a:ea typeface="Maple Mono NF Light" panose="020F0509060000000000" pitchFamily="49" charset="0"/>
              </a:rPr>
              <a:t> state[</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"messages"</a:t>
            </a:r>
            <a:r>
              <a:rPr sz="1100" dirty="0">
                <a:solidFill>
                  <a:schemeClr val="bg1"/>
                </a:solidFill>
                <a:latin typeface="Maple Mono NF Light" panose="020F0509060000000000" pitchFamily="49" charset="0"/>
                <a:ea typeface="Maple Mono NF Light" panose="020F0509060000000000" pitchFamily="49" charset="0"/>
              </a:rPr>
              <a:t>][-</a:t>
            </a:r>
            <a:r>
              <a:rPr sz="1100" dirty="0">
                <a:solidFill>
                  <a:schemeClr val="accent5">
                    <a:lumMod val="45000"/>
                    <a:lumOff val="55000"/>
                  </a:schemeClr>
                </a:solidFill>
                <a:latin typeface="Maple Mono NF Light" panose="020F0509060000000000" pitchFamily="49" charset="0"/>
                <a:ea typeface="Maple Mono NF Light" panose="020F0509060000000000" pitchFamily="49" charset="0"/>
              </a:rPr>
              <a:t>1</a:t>
            </a:r>
            <a:r>
              <a:rPr sz="1100" dirty="0">
                <a:solidFill>
                  <a:schemeClr val="bg1"/>
                </a:solidFill>
                <a:latin typeface="Maple Mono NF Light" panose="020F0509060000000000" pitchFamily="49" charset="0"/>
                <a:ea typeface="Maple Mono NF Light" panose="020F0509060000000000" pitchFamily="49" charset="0"/>
              </a:rPr>
              <a:t>].</a:t>
            </a:r>
            <a:r>
              <a:rPr sz="1100" dirty="0" err="1">
                <a:solidFill>
                  <a:schemeClr val="accent4">
                    <a:lumMod val="70000"/>
                    <a:lumOff val="30000"/>
                  </a:schemeClr>
                </a:solidFill>
                <a:latin typeface="Maple Mono NF Light" panose="020F0509060000000000" pitchFamily="49" charset="0"/>
                <a:ea typeface="Maple Mono NF Light" panose="020F0509060000000000" pitchFamily="49" charset="0"/>
              </a:rPr>
              <a:t>tool_calls</a:t>
            </a:r>
            <a:r>
              <a:rPr sz="1100" dirty="0">
                <a:solidFill>
                  <a:schemeClr val="bg1"/>
                </a:solidFill>
                <a:latin typeface="Maple Mono NF Light" panose="020F0509060000000000" pitchFamily="49" charset="0"/>
                <a:ea typeface="Maple Mono NF Light" panose="020F0509060000000000" pitchFamily="49" charset="0"/>
              </a:rPr>
              <a:t>:</a:t>
            </a:r>
          </a:p>
          <a:p>
            <a:pPr algn="l">
              <a:buNone/>
            </a:pP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2"/>
                </a:solidFill>
                <a:latin typeface="Maple Mono NF Light" panose="020F0509060000000000" pitchFamily="49" charset="0"/>
                <a:ea typeface="Maple Mono NF Light" panose="020F0509060000000000" pitchFamily="49" charset="0"/>
              </a:rPr>
              <a:t>return</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"tools"</a:t>
            </a:r>
          </a:p>
          <a:p>
            <a:pPr algn="l">
              <a:buNone/>
            </a:pPr>
            <a:r>
              <a:rPr sz="1100" dirty="0">
                <a:solidFill>
                  <a:schemeClr val="accent2"/>
                </a:solidFill>
                <a:latin typeface="Maple Mono NF Light" panose="020F0509060000000000" pitchFamily="49" charset="0"/>
                <a:ea typeface="Maple Mono NF Light" panose="020F0509060000000000" pitchFamily="49" charset="0"/>
              </a:rPr>
              <a:t>return</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"submit"</a:t>
            </a:r>
          </a:p>
        </p:txBody>
      </p:sp>
      <p:sp>
        <p:nvSpPr>
          <p:cNvPr id="10" name="Rectangle 9"/>
          <p:cNvSpPr/>
          <p:nvPr/>
        </p:nvSpPr>
        <p:spPr>
          <a:xfrm>
            <a:off x="319251" y="416238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reply is the input, the tool-call test is the guard, and the returned dictionary specifies the set action.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Behaviour, trace and computation tree</a:t>
            </a:r>
          </a:p>
        </p:txBody>
      </p:sp>
      <p:sp>
        <p:nvSpPr>
          <p:cNvPr id="3" name="Content Placeholder 2"/>
          <p:cNvSpPr>
            <a:spLocks noGrp="1"/>
          </p:cNvSpPr>
          <p:nvPr>
            <p:ph idx="1"/>
          </p:nvPr>
        </p:nvSpPr>
        <p:spPr>
          <a:xfrm>
            <a:off x="319251" y="700000"/>
            <a:ext cx="6014545" cy="500000"/>
          </a:xfrm>
        </p:spPr>
        <p:txBody>
          <a:bodyPr wrap="square" anchor="ctr"/>
          <a:lstStyle/>
          <a:p>
            <a:pPr marL="0" indent="0">
              <a:buNone/>
            </a:pPr>
            <a:r>
              <a:rPr sz="1400" b="1">
                <a:solidFill>
                  <a:srgbClr val="28285E"/>
                </a:solidFill>
              </a:rPr>
              <a:t>A behaviour omits steps with no input, state change or output.</a:t>
            </a:r>
          </a:p>
        </p:txBody>
      </p:sp>
      <p:pic>
        <p:nvPicPr>
          <p:cNvPr id="4" name="Figure abstract-tree" descr="abstract-tree.png"/>
          <p:cNvPicPr>
            <a:picLocks noChangeAspect="1"/>
          </p:cNvPicPr>
          <p:nvPr/>
        </p:nvPicPr>
        <p:blipFill>
          <a:blip r:embed="rId2"/>
          <a:stretch>
            <a:fillRect/>
          </a:stretch>
        </p:blipFill>
        <p:spPr>
          <a:xfrm>
            <a:off x="250148" y="1290000"/>
            <a:ext cx="6152752" cy="2399319"/>
          </a:xfrm>
          <a:prstGeom prst="rect">
            <a:avLst/>
          </a:prstGeom>
        </p:spPr>
      </p:pic>
      <p:sp>
        <p:nvSpPr>
          <p:cNvPr id="5" name="Rectangle 4"/>
          <p:cNvSpPr/>
          <p:nvPr/>
        </p:nvSpPr>
        <p:spPr>
          <a:xfrm>
            <a:off x="319251" y="3879319"/>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For a fixed input sequence, a deterministic machine exhibits one behaviour. A nondeterministic machine may exhibit several. The computation tree represents all possible traces.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event log as a trace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Saved logs and workspace artifacts can survive the process. Unsaved state is lost when the process exits.</a:t>
            </a:r>
          </a:p>
        </p:txBody>
      </p:sp>
      <p:sp>
        <p:nvSpPr>
          <p:cNvPr id="4" name="TextBox 3"/>
          <p:cNvSpPr txBox="1"/>
          <p:nvPr/>
        </p:nvSpPr>
        <p:spPr>
          <a:xfrm>
            <a:off x="319251" y="1290000"/>
            <a:ext cx="6014545" cy="200000"/>
          </a:xfrm>
          <a:prstGeom prst="rect">
            <a:avLst/>
          </a:prstGeom>
          <a:noFill/>
        </p:spPr>
        <p:txBody>
          <a:bodyPr wrap="none" lIns="0" tIns="0" rIns="0" bIns="0">
            <a:spAutoFit/>
          </a:bodyPr>
          <a:lstStyle/>
          <a:p>
            <a:r>
              <a:rPr sz="1200" b="0">
                <a:solidFill>
                  <a:srgbClr val="28285E"/>
                </a:solidFill>
                <a:latin typeface="Maple Mono NF"/>
              </a:rPr>
              <a:t>bc284c6b</a:t>
            </a:r>
            <a:r>
              <a:rPr sz="1200" b="1">
                <a:solidFill>
                  <a:srgbClr val="28285E"/>
                </a:solidFill>
              </a:rPr>
              <a:t>, events 19 to 22 (selected fields)</a:t>
            </a:r>
          </a:p>
        </p:txBody>
      </p:sp>
      <p:sp>
        <p:nvSpPr>
          <p:cNvPr id="5" name="CodeWindow"/>
          <p:cNvSpPr/>
          <p:nvPr/>
        </p:nvSpPr>
        <p:spPr>
          <a:xfrm>
            <a:off x="319251" y="15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5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5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5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880000"/>
            <a:ext cx="5714545" cy="1890000"/>
          </a:xfrm>
          <a:prstGeom prst="rect">
            <a:avLst/>
          </a:prstGeom>
          <a:noFill/>
        </p:spPr>
        <p:txBody>
          <a:bodyPr wrap="none" lIns="0" tIns="0" rIns="0" bIns="0" anchor="t">
            <a:spAutoFit/>
          </a:bodyPr>
          <a:lstStyle/>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19</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a:t>
            </a:r>
            <a:r>
              <a:rPr sz="1100" b="0" dirty="0" err="1">
                <a:solidFill>
                  <a:schemeClr val="accent3">
                    <a:lumMod val="55000"/>
                    <a:lumOff val="45000"/>
                  </a:schemeClr>
                </a:solidFill>
                <a:latin typeface="Maple Mono NF"/>
              </a:rPr>
              <a:t>model_call</a:t>
            </a:r>
            <a:r>
              <a:rPr sz="1100" b="0" dirty="0">
                <a:solidFill>
                  <a:schemeClr val="accent3">
                    <a:lumMod val="55000"/>
                    <a:lumOff val="45000"/>
                  </a:schemeClr>
                </a:solidFill>
                <a:latin typeface="Maple Mono NF"/>
              </a:rPr>
              <a:t>"</a:t>
            </a:r>
            <a:r>
              <a:rPr sz="1100" b="0" dirty="0">
                <a:solidFill>
                  <a:schemeClr val="bg1"/>
                </a:solidFill>
                <a:latin typeface="Maple Mono NF"/>
              </a:rPr>
              <a:t>, </a:t>
            </a:r>
            <a:r>
              <a:rPr sz="1100" b="0" dirty="0">
                <a:solidFill>
                  <a:schemeClr val="accent2"/>
                </a:solidFill>
                <a:latin typeface="Maple Mono NF"/>
              </a:rPr>
              <a:t>"role"</a:t>
            </a:r>
            <a:r>
              <a:rPr sz="1100" b="0" dirty="0">
                <a:solidFill>
                  <a:schemeClr val="bg1"/>
                </a:solidFill>
                <a:latin typeface="Maple Mono NF"/>
              </a:rPr>
              <a:t>: </a:t>
            </a:r>
            <a:r>
              <a:rPr sz="1100" b="0" dirty="0">
                <a:solidFill>
                  <a:schemeClr val="accent3">
                    <a:lumMod val="55000"/>
                    <a:lumOff val="45000"/>
                  </a:schemeClr>
                </a:solidFill>
                <a:latin typeface="Maple Mono NF"/>
              </a:rPr>
              <a:t>"controller"</a:t>
            </a:r>
            <a:r>
              <a:rPr sz="1100" b="0" dirty="0">
                <a:solidFill>
                  <a:schemeClr val="bg1"/>
                </a:solidFill>
                <a:latin typeface="Maple Mono NF"/>
              </a:rPr>
              <a:t>,</a:t>
            </a:r>
          </a:p>
          <a:p>
            <a:pPr algn="l">
              <a:buNone/>
            </a:pPr>
            <a:r>
              <a:rPr sz="1100" b="0" dirty="0">
                <a:solidFill>
                  <a:schemeClr val="bg1"/>
                </a:solidFill>
                <a:latin typeface="Maple Mono NF"/>
              </a:rPr>
              <a:t>  </a:t>
            </a:r>
            <a:r>
              <a:rPr sz="1100" b="1" dirty="0">
                <a:solidFill>
                  <a:schemeClr val="accent4">
                    <a:lumMod val="70000"/>
                    <a:lumOff val="30000"/>
                  </a:schemeClr>
                </a:solidFill>
                <a:latin typeface="Maple Mono NF"/>
              </a:rPr>
              <a:t>"</a:t>
            </a:r>
            <a:r>
              <a:rPr sz="1100" b="1" dirty="0" err="1">
                <a:solidFill>
                  <a:schemeClr val="accent4">
                    <a:lumMod val="70000"/>
                    <a:lumOff val="30000"/>
                  </a:schemeClr>
                </a:solidFill>
                <a:latin typeface="Maple Mono NF"/>
              </a:rPr>
              <a:t>tool_calls</a:t>
            </a:r>
            <a:r>
              <a:rPr sz="1100" b="1" dirty="0">
                <a:solidFill>
                  <a:schemeClr val="accent4">
                    <a:lumMod val="70000"/>
                    <a:lumOff val="30000"/>
                  </a:schemeClr>
                </a:solidFill>
                <a:latin typeface="Maple Mono NF"/>
              </a:rPr>
              <a:t>": []</a:t>
            </a:r>
            <a:r>
              <a:rPr sz="1100" b="0" dirty="0">
                <a:solidFill>
                  <a:schemeClr val="bg1"/>
                </a:solidFill>
                <a:latin typeface="Maple Mono NF"/>
              </a:rPr>
              <a:t>}</a:t>
            </a:r>
          </a:p>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20</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"routing"</a:t>
            </a:r>
            <a:r>
              <a:rPr sz="1100" b="0" dirty="0">
                <a:solidFill>
                  <a:schemeClr val="bg1"/>
                </a:solidFill>
                <a:latin typeface="Maple Mono NF"/>
              </a:rPr>
              <a:t>, </a:t>
            </a:r>
            <a:r>
              <a:rPr sz="1100" b="0" dirty="0">
                <a:solidFill>
                  <a:schemeClr val="accent2"/>
                </a:solidFill>
                <a:latin typeface="Maple Mono NF"/>
              </a:rPr>
              <a:t>"decision"</a:t>
            </a:r>
            <a:r>
              <a:rPr sz="1100" b="0" dirty="0">
                <a:solidFill>
                  <a:schemeClr val="bg1"/>
                </a:solidFill>
                <a:latin typeface="Maple Mono NF"/>
              </a:rPr>
              <a:t>: </a:t>
            </a:r>
            <a:r>
              <a:rPr sz="1100" b="0" dirty="0">
                <a:solidFill>
                  <a:schemeClr val="accent3">
                    <a:lumMod val="55000"/>
                    <a:lumOff val="45000"/>
                  </a:schemeClr>
                </a:solidFill>
                <a:latin typeface="Maple Mono NF"/>
              </a:rPr>
              <a:t>"submit"</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"by"</a:t>
            </a:r>
            <a:r>
              <a:rPr sz="1100" b="0" dirty="0">
                <a:solidFill>
                  <a:schemeClr val="bg1"/>
                </a:solidFill>
                <a:latin typeface="Maple Mono NF"/>
              </a:rPr>
              <a:t>: </a:t>
            </a:r>
            <a:r>
              <a:rPr sz="1100" b="0" dirty="0">
                <a:solidFill>
                  <a:schemeClr val="accent3">
                    <a:lumMod val="55000"/>
                    <a:lumOff val="45000"/>
                  </a:schemeClr>
                </a:solidFill>
                <a:latin typeface="Maple Mono NF"/>
              </a:rPr>
              <a:t>"model"</a:t>
            </a:r>
            <a:r>
              <a:rPr sz="1100" b="0" dirty="0">
                <a:solidFill>
                  <a:schemeClr val="bg1"/>
                </a:solidFill>
                <a:latin typeface="Maple Mono NF"/>
              </a:rPr>
              <a:t>}</a:t>
            </a:r>
          </a:p>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21</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a:t>
            </a:r>
            <a:r>
              <a:rPr sz="1100" b="0" dirty="0" err="1">
                <a:solidFill>
                  <a:schemeClr val="accent3">
                    <a:lumMod val="55000"/>
                    <a:lumOff val="45000"/>
                  </a:schemeClr>
                </a:solidFill>
                <a:latin typeface="Maple Mono NF"/>
              </a:rPr>
              <a:t>state_change</a:t>
            </a:r>
            <a:r>
              <a:rPr sz="1100" b="0" dirty="0">
                <a:solidFill>
                  <a:schemeClr val="accent3">
                    <a:lumMod val="55000"/>
                    <a:lumOff val="45000"/>
                  </a:schemeClr>
                </a:solidFill>
                <a:latin typeface="Maple Mono NF"/>
              </a:rPr>
              <a:t>"</a:t>
            </a:r>
            <a:r>
              <a:rPr sz="1100" b="0" dirty="0">
                <a:solidFill>
                  <a:schemeClr val="bg1"/>
                </a:solidFill>
                <a:latin typeface="Maple Mono NF"/>
              </a:rPr>
              <a:t>, </a:t>
            </a:r>
            <a:r>
              <a:rPr sz="1100" b="0" dirty="0">
                <a:solidFill>
                  <a:schemeClr val="accent2"/>
                </a:solidFill>
                <a:latin typeface="Maple Mono NF"/>
              </a:rPr>
              <a:t>"node"</a:t>
            </a:r>
            <a:r>
              <a:rPr sz="1100" b="0" dirty="0">
                <a:solidFill>
                  <a:schemeClr val="bg1"/>
                </a:solidFill>
                <a:latin typeface="Maple Mono NF"/>
              </a:rPr>
              <a:t>: </a:t>
            </a:r>
            <a:r>
              <a:rPr sz="1100" b="0" dirty="0">
                <a:solidFill>
                  <a:schemeClr val="accent3">
                    <a:lumMod val="55000"/>
                    <a:lumOff val="45000"/>
                  </a:schemeClr>
                </a:solidFill>
                <a:latin typeface="Maple Mono NF"/>
              </a:rPr>
              <a:t>"submit"</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"checks"</a:t>
            </a:r>
            <a:r>
              <a:rPr sz="1100" b="0" dirty="0">
                <a:solidFill>
                  <a:schemeClr val="bg1"/>
                </a:solidFill>
                <a:latin typeface="Maple Mono NF"/>
              </a:rPr>
              <a:t>: {</a:t>
            </a:r>
            <a:r>
              <a:rPr sz="1100" b="0" dirty="0">
                <a:solidFill>
                  <a:schemeClr val="accent2"/>
                </a:solidFill>
                <a:latin typeface="Maple Mono NF"/>
              </a:rPr>
              <a:t>"applies"</a:t>
            </a:r>
            <a:r>
              <a:rPr sz="1100" b="0" dirty="0">
                <a:solidFill>
                  <a:schemeClr val="bg1"/>
                </a:solidFill>
                <a:latin typeface="Maple Mono NF"/>
              </a:rPr>
              <a:t>: </a:t>
            </a:r>
            <a:r>
              <a:rPr sz="1100" b="0" dirty="0">
                <a:solidFill>
                  <a:schemeClr val="accent5">
                    <a:lumMod val="45000"/>
                    <a:lumOff val="55000"/>
                  </a:schemeClr>
                </a:solidFill>
                <a:latin typeface="Maple Mono NF"/>
              </a:rPr>
              <a:t>true</a:t>
            </a:r>
            <a:r>
              <a:rPr sz="1100" b="0" dirty="0">
                <a:solidFill>
                  <a:schemeClr val="bg1"/>
                </a:solidFill>
                <a:latin typeface="Maple Mono NF"/>
              </a:rPr>
              <a:t>, </a:t>
            </a:r>
            <a:r>
              <a:rPr sz="1100" b="0" dirty="0">
                <a:solidFill>
                  <a:schemeClr val="accent2"/>
                </a:solidFill>
                <a:latin typeface="Maple Mono NF"/>
              </a:rPr>
              <a:t>"</a:t>
            </a:r>
            <a:r>
              <a:rPr sz="1100" b="0" dirty="0" err="1">
                <a:solidFill>
                  <a:schemeClr val="accent2"/>
                </a:solidFill>
                <a:latin typeface="Maple Mono NF"/>
              </a:rPr>
              <a:t>touches_line</a:t>
            </a:r>
            <a:r>
              <a:rPr sz="1100" b="0" dirty="0">
                <a:solidFill>
                  <a:schemeClr val="accent2"/>
                </a:solidFill>
                <a:latin typeface="Maple Mono NF"/>
              </a:rPr>
              <a:t>"</a:t>
            </a:r>
            <a:r>
              <a:rPr sz="1100" b="0" dirty="0">
                <a:solidFill>
                  <a:schemeClr val="bg1"/>
                </a:solidFill>
                <a:latin typeface="Maple Mono NF"/>
              </a:rPr>
              <a:t>: </a:t>
            </a:r>
            <a:r>
              <a:rPr sz="1100" b="0" dirty="0">
                <a:solidFill>
                  <a:schemeClr val="accent5">
                    <a:lumMod val="45000"/>
                    <a:lumOff val="55000"/>
                  </a:schemeClr>
                </a:solidFill>
                <a:latin typeface="Maple Mono NF"/>
              </a:rPr>
              <a:t>true</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a:t>
            </a:r>
            <a:r>
              <a:rPr sz="1100" b="0" dirty="0" err="1">
                <a:solidFill>
                  <a:schemeClr val="accent2"/>
                </a:solidFill>
                <a:latin typeface="Maple Mono NF"/>
              </a:rPr>
              <a:t>rescan_clean</a:t>
            </a:r>
            <a:r>
              <a:rPr sz="1100" b="0" dirty="0">
                <a:solidFill>
                  <a:schemeClr val="accent2"/>
                </a:solidFill>
                <a:latin typeface="Maple Mono NF"/>
              </a:rPr>
              <a:t>"</a:t>
            </a:r>
            <a:r>
              <a:rPr sz="1100" b="0" dirty="0">
                <a:solidFill>
                  <a:schemeClr val="bg1"/>
                </a:solidFill>
                <a:latin typeface="Maple Mono NF"/>
              </a:rPr>
              <a:t>: </a:t>
            </a:r>
            <a:r>
              <a:rPr sz="1100" b="0" dirty="0">
                <a:solidFill>
                  <a:schemeClr val="accent5">
                    <a:lumMod val="45000"/>
                    <a:lumOff val="55000"/>
                  </a:schemeClr>
                </a:solidFill>
                <a:latin typeface="Maple Mono NF"/>
              </a:rPr>
              <a:t>true</a:t>
            </a:r>
            <a:r>
              <a:rPr sz="1100" b="0" dirty="0">
                <a:solidFill>
                  <a:schemeClr val="bg1"/>
                </a:solidFill>
                <a:latin typeface="Maple Mono NF"/>
              </a:rPr>
              <a:t>}}</a:t>
            </a:r>
          </a:p>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22</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"routing"</a:t>
            </a:r>
            <a:r>
              <a:rPr sz="1100" b="0" dirty="0">
                <a:solidFill>
                  <a:schemeClr val="bg1"/>
                </a:solidFill>
                <a:latin typeface="Maple Mono NF"/>
              </a:rPr>
              <a:t>, </a:t>
            </a:r>
            <a:r>
              <a:rPr sz="1100" b="0" dirty="0">
                <a:solidFill>
                  <a:schemeClr val="accent2"/>
                </a:solidFill>
                <a:latin typeface="Maple Mono NF"/>
              </a:rPr>
              <a:t>"decision"</a:t>
            </a:r>
            <a:r>
              <a:rPr sz="1100" b="0" dirty="0">
                <a:solidFill>
                  <a:schemeClr val="bg1"/>
                </a:solidFill>
                <a:latin typeface="Maple Mono NF"/>
              </a:rPr>
              <a:t>: </a:t>
            </a:r>
            <a:r>
              <a:rPr sz="1100" b="0" dirty="0">
                <a:solidFill>
                  <a:schemeClr val="accent3">
                    <a:lumMod val="55000"/>
                    <a:lumOff val="45000"/>
                  </a:schemeClr>
                </a:solidFill>
                <a:latin typeface="Maple Mono NF"/>
              </a:rPr>
              <a:t>"validate"</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"by"</a:t>
            </a:r>
            <a:r>
              <a:rPr sz="1100" b="0" dirty="0">
                <a:solidFill>
                  <a:schemeClr val="bg1"/>
                </a:solidFill>
                <a:latin typeface="Maple Mono NF"/>
              </a:rPr>
              <a:t>: </a:t>
            </a:r>
            <a:r>
              <a:rPr sz="1100" b="0" dirty="0">
                <a:solidFill>
                  <a:schemeClr val="accent3">
                    <a:lumMod val="55000"/>
                    <a:lumOff val="45000"/>
                  </a:schemeClr>
                </a:solidFill>
                <a:latin typeface="Maple Mono NF"/>
              </a:rPr>
              <a:t>"runtime"</a:t>
            </a:r>
            <a:r>
              <a:rPr sz="1100" b="0" dirty="0">
                <a:solidFill>
                  <a:schemeClr val="bg1"/>
                </a:solidFill>
                <a:latin typeface="Maple Mono NF"/>
              </a:rPr>
              <a:t>}</a:t>
            </a:r>
          </a:p>
        </p:txBody>
      </p:sp>
      <p:sp>
        <p:nvSpPr>
          <p:cNvPr id="10" name="Rectangle 9"/>
          <p:cNvSpPr/>
          <p:nvPr/>
        </p:nvSpPr>
        <p:spPr>
          <a:xfrm>
            <a:off x="319251" y="4030000"/>
            <a:ext cx="601454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State records what the run currently knows. The trace records what the run did.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state machine</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Each arrow shows its guard and set action. Output actions are omitted.</a:t>
            </a:r>
          </a:p>
        </p:txBody>
      </p:sp>
      <p:pic>
        <p:nvPicPr>
          <p:cNvPr id="4" name="Figure efsm-labelled" descr="efsm-labelled.png"/>
          <p:cNvPicPr>
            <a:picLocks noChangeAspect="1"/>
          </p:cNvPicPr>
          <p:nvPr/>
        </p:nvPicPr>
        <p:blipFill>
          <a:blip r:embed="rId3"/>
          <a:stretch>
            <a:fillRect/>
          </a:stretch>
        </p:blipFill>
        <p:spPr>
          <a:xfrm>
            <a:off x="250148" y="1090000"/>
            <a:ext cx="6152752" cy="2927316"/>
          </a:xfrm>
          <a:prstGeom prst="rect">
            <a:avLst/>
          </a:prstGeom>
        </p:spPr>
      </p:pic>
      <p:sp>
        <p:nvSpPr>
          <p:cNvPr id="5" name="Rectangle 4"/>
          <p:cNvSpPr/>
          <p:nvPr/>
        </p:nvSpPr>
        <p:spPr>
          <a:xfrm>
            <a:off x="319251" y="4213834"/>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1 in the lecture notes gives the full guards and state updates.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forward path</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The agent plans, acts, submits a candidate and judges it.</a:t>
            </a:r>
          </a:p>
        </p:txBody>
      </p:sp>
      <p:pic>
        <p:nvPicPr>
          <p:cNvPr id="4" name="Figure efsm-forward" descr="efsm-forward.png"/>
          <p:cNvPicPr>
            <a:picLocks noChangeAspect="1"/>
          </p:cNvPicPr>
          <p:nvPr/>
        </p:nvPicPr>
        <p:blipFill>
          <a:blip r:embed="rId3"/>
          <a:stretch>
            <a:fillRect/>
          </a:stretch>
        </p:blipFill>
        <p:spPr>
          <a:xfrm>
            <a:off x="250148" y="1090000"/>
            <a:ext cx="6152752" cy="2663452"/>
          </a:xfrm>
          <a:prstGeom prst="rect">
            <a:avLst/>
          </a:prstGeom>
        </p:spPr>
      </p:pic>
      <p:sp>
        <p:nvSpPr>
          <p:cNvPr id="5" name="Rectangle 4"/>
          <p:cNvSpPr/>
          <p:nvPr/>
        </p:nvSpPr>
        <p:spPr>
          <a:xfrm>
            <a:off x="319251" y="3948706"/>
            <a:ext cx="6014545" cy="49479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The agent stores the plan in its state. It carries out the plan’s subgoals through the control locations already defined in the graph.</a:t>
            </a:r>
            <a:endParaRPr sz="1200" b="1" dirty="0">
              <a:solidFill>
                <a:srgbClr val="28285E"/>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feedback edges</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The figure shows the tool loop, plan revision and candidate repair.</a:t>
            </a:r>
          </a:p>
        </p:txBody>
      </p:sp>
      <p:pic>
        <p:nvPicPr>
          <p:cNvPr id="4" name="Figure efsm-feedback" descr="efsm-feedback.png"/>
          <p:cNvPicPr>
            <a:picLocks noChangeAspect="1"/>
          </p:cNvPicPr>
          <p:nvPr/>
        </p:nvPicPr>
        <p:blipFill>
          <a:blip r:embed="rId3"/>
          <a:stretch>
            <a:fillRect/>
          </a:stretch>
        </p:blipFill>
        <p:spPr>
          <a:xfrm>
            <a:off x="250148" y="1090000"/>
            <a:ext cx="6152752" cy="2659877"/>
          </a:xfrm>
          <a:prstGeom prst="rect">
            <a:avLst/>
          </a:prstGeom>
        </p:spPr>
      </p:pic>
      <p:sp>
        <p:nvSpPr>
          <p:cNvPr id="5" name="Rectangle 4"/>
          <p:cNvSpPr/>
          <p:nvPr/>
        </p:nvSpPr>
        <p:spPr>
          <a:xfrm>
            <a:off x="319251" y="3952298"/>
            <a:ext cx="6014545" cy="54430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On a stall before any revision, tools returns to plan. When a check fails, submit appends feedback and returns to controller.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exits</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Three locations can end the run before a verdict.</a:t>
            </a:r>
          </a:p>
        </p:txBody>
      </p:sp>
      <p:pic>
        <p:nvPicPr>
          <p:cNvPr id="4" name="Figure efsm-exits" descr="efsm-exits.png"/>
          <p:cNvPicPr>
            <a:picLocks noChangeAspect="1"/>
          </p:cNvPicPr>
          <p:nvPr/>
        </p:nvPicPr>
        <p:blipFill>
          <a:blip r:embed="rId2"/>
          <a:stretch>
            <a:fillRect/>
          </a:stretch>
        </p:blipFill>
        <p:spPr>
          <a:xfrm>
            <a:off x="250148" y="1090000"/>
            <a:ext cx="6152752" cy="2663452"/>
          </a:xfrm>
          <a:prstGeom prst="rect">
            <a:avLst/>
          </a:prstGeom>
        </p:spPr>
      </p:pic>
      <p:sp>
        <p:nvSpPr>
          <p:cNvPr id="5" name="Rectangle 4"/>
          <p:cNvSpPr/>
          <p:nvPr/>
        </p:nvSpPr>
        <p:spPr>
          <a:xfrm>
            <a:off x="319251" y="3943452"/>
            <a:ext cx="6014545" cy="54430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Before each model call, plan, controller and validate compare the call count with the budget of 40. The controller also stops a run that stalls after revising its plan.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recorded run through the planning agent</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Blue edges show the trajectory of run </a:t>
            </a:r>
            <a:r>
              <a:rPr sz="1400" b="0">
                <a:solidFill>
                  <a:srgbClr val="28285E"/>
                </a:solidFill>
                <a:latin typeface="Maple Mono NF"/>
              </a:rPr>
              <a:t>bc284c6b</a:t>
            </a:r>
            <a:r>
              <a:rPr sz="1400" b="1">
                <a:solidFill>
                  <a:srgbClr val="28285E"/>
                </a:solidFill>
              </a:rPr>
              <a:t>.</a:t>
            </a:r>
          </a:p>
        </p:txBody>
      </p:sp>
      <p:pic>
        <p:nvPicPr>
          <p:cNvPr id="4" name="Figure efsm-run" descr="efsm-run.png"/>
          <p:cNvPicPr>
            <a:picLocks noChangeAspect="1"/>
          </p:cNvPicPr>
          <p:nvPr/>
        </p:nvPicPr>
        <p:blipFill>
          <a:blip r:embed="rId3"/>
          <a:stretch>
            <a:fillRect/>
          </a:stretch>
        </p:blipFill>
        <p:spPr>
          <a:xfrm>
            <a:off x="250148" y="1090000"/>
            <a:ext cx="6152752" cy="2409619"/>
          </a:xfrm>
          <a:prstGeom prst="rect">
            <a:avLst/>
          </a:prstGeom>
        </p:spPr>
      </p:pic>
      <p:sp>
        <p:nvSpPr>
          <p:cNvPr id="5" name="Rectangle 4"/>
          <p:cNvSpPr/>
          <p:nvPr/>
        </p:nvSpPr>
        <p:spPr>
          <a:xfrm>
            <a:off x="319251" y="3700873"/>
            <a:ext cx="6014545" cy="54430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repairs a Bandit B608 alert at line 46 of </a:t>
            </a:r>
            <a:r>
              <a:rPr sz="1200" b="0">
                <a:solidFill>
                  <a:srgbClr val="28285E"/>
                </a:solidFill>
                <a:latin typeface="Maple Mono NF"/>
              </a:rPr>
              <a:t>testcode/BenchmarkTest00283.py</a:t>
            </a:r>
            <a:r>
              <a:rPr sz="1200" b="1">
                <a:solidFill>
                  <a:srgbClr val="28285E"/>
                </a:solidFill>
              </a:rPr>
              <a:t> in seven model calls: one in plan, five in controller and one in validate.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recorded run in the computation tree</a:t>
            </a:r>
          </a:p>
        </p:txBody>
      </p:sp>
      <p:sp>
        <p:nvSpPr>
          <p:cNvPr id="3" name="Content Placeholder 2"/>
          <p:cNvSpPr>
            <a:spLocks noGrp="1"/>
          </p:cNvSpPr>
          <p:nvPr>
            <p:ph idx="1"/>
          </p:nvPr>
        </p:nvSpPr>
        <p:spPr>
          <a:xfrm>
            <a:off x="319251" y="700000"/>
            <a:ext cx="6014545" cy="450000"/>
          </a:xfrm>
        </p:spPr>
        <p:txBody>
          <a:bodyPr wrap="square" anchor="ctr">
            <a:normAutofit fontScale="55000" lnSpcReduction="20000"/>
          </a:bodyPr>
          <a:lstStyle/>
          <a:p>
            <a:pPr marL="0" indent="0">
              <a:buNone/>
            </a:pPr>
            <a:r>
              <a:rPr sz="1400" b="1">
                <a:solidFill>
                  <a:srgbClr val="28285E"/>
                </a:solidFill>
              </a:rPr>
              <a:t>A trajectory is one path through the computation tree. Each controller visit creates a new node with branches for possible replies.</a:t>
            </a:r>
          </a:p>
        </p:txBody>
      </p:sp>
      <p:pic>
        <p:nvPicPr>
          <p:cNvPr id="4" name="Figure trace-tree" descr="trace-tree.png"/>
          <p:cNvPicPr>
            <a:picLocks noChangeAspect="1"/>
          </p:cNvPicPr>
          <p:nvPr/>
        </p:nvPicPr>
        <p:blipFill>
          <a:blip r:embed="rId2"/>
          <a:stretch>
            <a:fillRect/>
          </a:stretch>
        </p:blipFill>
        <p:spPr>
          <a:xfrm>
            <a:off x="250148" y="1240000"/>
            <a:ext cx="6152752" cy="1612270"/>
          </a:xfrm>
          <a:prstGeom prst="rect">
            <a:avLst/>
          </a:prstGeom>
        </p:spPr>
      </p:pic>
      <p:sp>
        <p:nvSpPr>
          <p:cNvPr id="5" name="Rectangle 4"/>
          <p:cNvSpPr/>
          <p:nvPr/>
        </p:nvSpPr>
        <p:spPr>
          <a:xfrm>
            <a:off x="319251" y="3086878"/>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machine diagram shows permitted transitions. The tree shows possible sequences of transitions from the initial configuration.</a:t>
            </a:r>
          </a:p>
        </p:txBody>
      </p:sp>
      <p:sp>
        <p:nvSpPr>
          <p:cNvPr id="6" name="Rectangle 5"/>
          <p:cNvSpPr/>
          <p:nvPr/>
        </p:nvSpPr>
        <p:spPr>
          <a:xfrm>
            <a:off x="319251" y="3887679"/>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2 in the lecture notes shows a larger fragment of the same tree.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event log records and omits</a:t>
            </a:r>
          </a:p>
        </p:txBody>
      </p:sp>
      <p:sp>
        <p:nvSpPr>
          <p:cNvPr id="3" name="Content Placeholder 2"/>
          <p:cNvSpPr>
            <a:spLocks noGrp="1"/>
          </p:cNvSpPr>
          <p:nvPr>
            <p:ph idx="1"/>
          </p:nvPr>
        </p:nvSpPr>
        <p:spPr>
          <a:xfrm>
            <a:off x="319251" y="700000"/>
            <a:ext cx="6014545" cy="2200000"/>
          </a:xfrm>
        </p:spPr>
        <p:txBody>
          <a:bodyPr wrap="square" anchor="ctr">
            <a:normAutofit fontScale="92500" lnSpcReduction="20000"/>
          </a:bodyPr>
          <a:lstStyle/>
          <a:p>
            <a:pPr marL="0" indent="0">
              <a:buNone/>
            </a:pPr>
            <a:r>
              <a:rPr sz="1400" b="1">
                <a:solidFill>
                  <a:srgbClr val="28285E"/>
                </a:solidFill>
              </a:rPr>
              <a:t>An event log records selected inputs, outputs and state. It meets the definition of a trace only partly.</a:t>
            </a:r>
          </a:p>
          <a:p>
            <a:pPr marL="400050" indent="-285750">
              <a:spcBef>
                <a:spcPts val="600"/>
              </a:spcBef>
              <a:spcAft>
                <a:spcPts val="600"/>
              </a:spcAft>
              <a:buClr>
                <a:srgbClr val="28285E"/>
              </a:buClr>
              <a:buSzPts val="1260"/>
              <a:buFont typeface="+mn-lt"/>
              <a:buChar char="●"/>
            </a:pPr>
            <a:r>
              <a:rPr sz="1400" b="1">
                <a:solidFill>
                  <a:schemeClr val="tx1"/>
                </a:solidFill>
              </a:rPr>
              <a:t>A successful </a:t>
            </a:r>
            <a:r>
              <a:rPr sz="1400" b="0">
                <a:solidFill>
                  <a:schemeClr val="tx1"/>
                </a:solidFill>
                <a:latin typeface="Maple Mono NF"/>
              </a:rPr>
              <a:t>tool_result</a:t>
            </a:r>
            <a:r>
              <a:rPr sz="1400" b="0">
                <a:solidFill>
                  <a:schemeClr val="tx1"/>
                </a:solidFill>
              </a:rPr>
              <a:t> records success and result length. It omits the observation itself.</a:t>
            </a:r>
          </a:p>
          <a:p>
            <a:pPr marL="400050" indent="-285750">
              <a:spcBef>
                <a:spcPts val="600"/>
              </a:spcBef>
              <a:spcAft>
                <a:spcPts val="600"/>
              </a:spcAft>
              <a:buClr>
                <a:srgbClr val="28285E"/>
              </a:buClr>
              <a:buSzPts val="1260"/>
              <a:buFont typeface="+mn-lt"/>
              <a:buChar char="●"/>
            </a:pPr>
            <a:r>
              <a:rPr sz="1400" b="1">
                <a:solidFill>
                  <a:schemeClr val="tx1"/>
                </a:solidFill>
              </a:rPr>
              <a:t>The routes from tools to controller and plan to controller</a:t>
            </a:r>
            <a:r>
              <a:rPr sz="1400" b="0">
                <a:solidFill>
                  <a:schemeClr val="tx1"/>
                </a:solidFill>
              </a:rPr>
              <a:t> have no routing event. We infer them from the transition rules.</a:t>
            </a:r>
          </a:p>
          <a:p>
            <a:pPr marL="400050" indent="-285750">
              <a:spcBef>
                <a:spcPts val="600"/>
              </a:spcBef>
              <a:spcAft>
                <a:spcPts val="600"/>
              </a:spcAft>
              <a:buClr>
                <a:srgbClr val="28285E"/>
              </a:buClr>
              <a:buSzPts val="1260"/>
              <a:buFont typeface="+mn-lt"/>
              <a:buChar char="●"/>
            </a:pPr>
            <a:r>
              <a:rPr sz="1400" b="1">
                <a:solidFill>
                  <a:schemeClr val="tx1"/>
                </a:solidFill>
              </a:rPr>
              <a:t>The log omits counters.</a:t>
            </a:r>
            <a:r>
              <a:rPr sz="1400" b="0">
                <a:solidFill>
                  <a:schemeClr val="tx1"/>
                </a:solidFill>
              </a:rPr>
              <a:t> The call counts in the tree are derived from logged calls and set actions.</a:t>
            </a:r>
          </a:p>
        </p:txBody>
      </p:sp>
      <p:pic>
        <p:nvPicPr>
          <p:cNvPr id="4" name="Figure event-strip" descr="event-strip.png"/>
          <p:cNvPicPr>
            <a:picLocks noChangeAspect="1"/>
          </p:cNvPicPr>
          <p:nvPr/>
        </p:nvPicPr>
        <p:blipFill>
          <a:blip r:embed="rId2"/>
          <a:stretch>
            <a:fillRect/>
          </a:stretch>
        </p:blipFill>
        <p:spPr>
          <a:xfrm>
            <a:off x="726524" y="3090000"/>
            <a:ext cx="5200000" cy="804381"/>
          </a:xfrm>
          <a:prstGeom prst="rect">
            <a:avLst/>
          </a:prstGeom>
        </p:spPr>
      </p:pic>
      <p:sp>
        <p:nvSpPr>
          <p:cNvPr id="5" name="Rectangle 4"/>
          <p:cNvSpPr/>
          <p:nvPr/>
        </p:nvSpPr>
        <p:spPr>
          <a:xfrm>
            <a:off x="319251" y="4114067"/>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We reconstruct the trajectory using logged facts and transition rules. A claim about the run must identify which of these supports 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000" y="1863864"/>
            <a:ext cx="6000000" cy="1415772"/>
          </a:xfrm>
          <a:prstGeom prst="rect">
            <a:avLst/>
          </a:prstGeom>
          <a:noFill/>
        </p:spPr>
        <p:txBody>
          <a:bodyPr wrap="square" anchor="ctr">
            <a:spAutoFit/>
          </a:bodyPr>
          <a:lstStyle/>
          <a:p>
            <a:pPr algn="ctr"/>
            <a:r>
              <a:rPr sz="4000" b="1">
                <a:solidFill>
                  <a:schemeClr val="tx2"/>
                </a:solidFill>
                <a:latin typeface="+mj-lt"/>
              </a:rPr>
              <a:t>State records and transitions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records and schemas</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The machine diagram shows permitted control flow. The state record stores information passed between steps.</a:t>
            </a:r>
          </a:p>
          <a:p>
            <a:pPr marL="400050" indent="-285750">
              <a:spcBef>
                <a:spcPts val="600"/>
              </a:spcBef>
              <a:spcAft>
                <a:spcPts val="600"/>
              </a:spcAft>
              <a:buClr>
                <a:srgbClr val="28285E"/>
              </a:buClr>
              <a:buSzPts val="1260"/>
              <a:buFont typeface="+mn-lt"/>
              <a:buChar char="●"/>
            </a:pPr>
            <a:r>
              <a:rPr sz="1400" b="1">
                <a:solidFill>
                  <a:schemeClr val="tx1"/>
                </a:solidFill>
              </a:rPr>
              <a:t>Each record instance</a:t>
            </a:r>
            <a:r>
              <a:rPr sz="1400" b="0">
                <a:solidFill>
                  <a:schemeClr val="tx1"/>
                </a:solidFill>
              </a:rPr>
              <a:t> holds current variable values. The runtime separately tracks the control location.</a:t>
            </a:r>
          </a:p>
          <a:p>
            <a:pPr marL="400050" indent="-285750">
              <a:spcBef>
                <a:spcPts val="600"/>
              </a:spcBef>
              <a:spcAft>
                <a:spcPts val="600"/>
              </a:spcAft>
              <a:buClr>
                <a:srgbClr val="28285E"/>
              </a:buClr>
              <a:buSzPts val="1260"/>
              <a:buFont typeface="+mn-lt"/>
              <a:buChar char="●"/>
            </a:pPr>
            <a:r>
              <a:rPr sz="1400" b="1">
                <a:solidFill>
                  <a:schemeClr val="tx1"/>
                </a:solidFill>
              </a:rPr>
              <a:t>The schema</a:t>
            </a:r>
            <a:r>
              <a:rPr sz="1400" b="0">
                <a:solidFill>
                  <a:schemeClr val="tx1"/>
                </a:solidFill>
              </a:rPr>
              <a:t> declares each field's name and type. Nodes read the record and propose partial updates.</a:t>
            </a:r>
          </a:p>
          <a:p>
            <a:pPr marL="400050" indent="-285750">
              <a:spcBef>
                <a:spcPts val="600"/>
              </a:spcBef>
              <a:spcAft>
                <a:spcPts val="600"/>
              </a:spcAft>
              <a:buClr>
                <a:srgbClr val="28285E"/>
              </a:buClr>
              <a:buSzPts val="1260"/>
              <a:buFont typeface="+mn-lt"/>
              <a:buChar char="●"/>
            </a:pPr>
            <a:r>
              <a:rPr sz="1400" b="1">
                <a:solidFill>
                  <a:schemeClr val="tx1"/>
                </a:solidFill>
              </a:rPr>
              <a:t>In our agent, </a:t>
            </a:r>
            <a:r>
              <a:rPr sz="1400" b="0">
                <a:solidFill>
                  <a:schemeClr val="tx1"/>
                </a:solidFill>
                <a:latin typeface="Maple Mono NF"/>
              </a:rPr>
              <a:t>StateGraph(AgentState)</a:t>
            </a:r>
            <a:r>
              <a:rPr sz="1400" b="0">
                <a:solidFill>
                  <a:schemeClr val="tx1"/>
                </a:solidFill>
              </a:rPr>
              <a:t> constructs the graph with AgentState as its schema.</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state record is a collection of named fields and their values that represents the state retained between steps.</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Routing and dispatch both read this record.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Partial updates and state transitions</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A node returns a partial update. The runtime merges it into the record, key by key.</a:t>
            </a:r>
          </a:p>
        </p:txBody>
      </p:sp>
      <p:pic>
        <p:nvPicPr>
          <p:cNvPr id="4" name="Figure s2-state-transition" descr="s2-state-transition.png"/>
          <p:cNvPicPr>
            <a:picLocks noChangeAspect="1"/>
          </p:cNvPicPr>
          <p:nvPr/>
        </p:nvPicPr>
        <p:blipFill>
          <a:blip r:embed="rId3"/>
          <a:stretch>
            <a:fillRect/>
          </a:stretch>
        </p:blipFill>
        <p:spPr>
          <a:xfrm>
            <a:off x="445175" y="1390000"/>
            <a:ext cx="5762699" cy="2510000"/>
          </a:xfrm>
          <a:prstGeom prst="rect">
            <a:avLst/>
          </a:prstGeom>
        </p:spPr>
      </p:pic>
      <p:sp>
        <p:nvSpPr>
          <p:cNvPr id="5" name="Rectangle 4"/>
          <p:cNvSpPr/>
          <p:nvPr/>
        </p:nvSpPr>
        <p:spPr>
          <a:xfrm>
            <a:off x="319251" y="4090000"/>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In Figure 3 of the lecture notes, the runtime preserves each field omitted from the partial update.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controller's three return sites</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The loop's controller has three return sites. Each returns only the keys it updates.</a:t>
            </a:r>
          </a:p>
        </p:txBody>
      </p:sp>
      <p:pic>
        <p:nvPicPr>
          <p:cNvPr id="4" name="Figure s2-controller-update" descr="s2-controller-update.png"/>
          <p:cNvPicPr>
            <a:picLocks noChangeAspect="1"/>
          </p:cNvPicPr>
          <p:nvPr/>
        </p:nvPicPr>
        <p:blipFill>
          <a:blip r:embed="rId3"/>
          <a:stretch>
            <a:fillRect/>
          </a:stretch>
        </p:blipFill>
        <p:spPr>
          <a:xfrm>
            <a:off x="250148" y="1390000"/>
            <a:ext cx="6152752" cy="1728087"/>
          </a:xfrm>
          <a:prstGeom prst="rect">
            <a:avLst/>
          </a:prstGeom>
        </p:spPr>
      </p:pic>
      <p:sp>
        <p:nvSpPr>
          <p:cNvPr id="5" name="Rectangle 4"/>
          <p:cNvSpPr/>
          <p:nvPr/>
        </p:nvSpPr>
        <p:spPr>
          <a:xfrm>
            <a:off x="319251" y="3308087"/>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In Figure 4 of the notes, a model call updates three keys. Each stopping path updates one. Six keys are absent from every update.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controller's return sites, in code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Each controller return supplies a partial update containing only the fields that the path updates.</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controller, lines 298 to 313. Stall test and model setup omitted</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680000"/>
          </a:xfrm>
          <a:prstGeom prst="rect">
            <a:avLst/>
          </a:prstGeom>
          <a:noFill/>
        </p:spPr>
        <p:txBody>
          <a:bodyPr wrap="none" lIns="0" tIns="0" rIns="0" bIns="0" anchor="t">
            <a:spAutoFit/>
          </a:bodyPr>
          <a:lstStyle/>
          <a:p>
            <a:pPr algn="l">
              <a:buNone/>
            </a:pPr>
            <a:r>
              <a:rPr sz="1100" b="0">
                <a:solidFill>
                  <a:schemeClr val="bg1"/>
                </a:solidFill>
                <a:latin typeface="Maple Mono NF"/>
              </a:rPr>
              <a:t>spent = </a:t>
            </a:r>
            <a:r>
              <a:rPr sz="1100" b="0">
                <a:solidFill>
                  <a:schemeClr val="accent2"/>
                </a:solidFill>
                <a:latin typeface="Maple Mono NF"/>
              </a:rPr>
              <a:t>self</a:t>
            </a:r>
            <a:r>
              <a:rPr sz="1100" b="0">
                <a:solidFill>
                  <a:schemeClr val="bg1"/>
                </a:solidFill>
                <a:latin typeface="Maple Mono NF"/>
              </a:rPr>
              <a:t>._admit(state)</a:t>
            </a:r>
          </a:p>
          <a:p>
            <a:pPr algn="l">
              <a:buNone/>
            </a:pPr>
            <a:r>
              <a:rPr sz="1100" b="0">
                <a:solidFill>
                  <a:schemeClr val="accent2"/>
                </a:solidFill>
                <a:latin typeface="Maple Mono NF"/>
              </a:rPr>
              <a:t>if</a:t>
            </a:r>
            <a:r>
              <a:rPr sz="1100" b="0">
                <a:solidFill>
                  <a:schemeClr val="bg1"/>
                </a:solidFill>
                <a:latin typeface="Maple Mono NF"/>
              </a:rPr>
              <a:t> spent:</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return</a:t>
            </a:r>
            <a:r>
              <a:rPr sz="1100" b="0">
                <a:solidFill>
                  <a:schemeClr val="bg1"/>
                </a:solidFill>
                <a:latin typeface="Maple Mono NF"/>
              </a:rPr>
              <a:t> spent</a:t>
            </a:r>
          </a:p>
          <a:p>
            <a:pPr algn="l">
              <a:buNone/>
            </a:pPr>
            <a:r>
              <a:rPr sz="1100" b="0">
                <a:solidFill>
                  <a:schemeClr val="accent6"/>
                </a:solidFill>
                <a:latin typeface="Maple Mono NF"/>
              </a:rPr>
              <a:t># ours: The stall test and its trace event are omitted.</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"status"</a:t>
            </a:r>
            <a:r>
              <a:rPr sz="1100" b="0">
                <a:solidFill>
                  <a:schemeClr val="bg1"/>
                </a:solidFill>
                <a:latin typeface="Maple Mono NF"/>
              </a:rPr>
              <a:t>: TerminalStatus.NO_PROGRESS}</a:t>
            </a:r>
          </a:p>
          <a:p>
            <a:pPr algn="l">
              <a:buNone/>
            </a:pPr>
            <a:r>
              <a:rPr sz="1100" b="0">
                <a:solidFill>
                  <a:schemeClr val="bg1"/>
                </a:solidFill>
                <a:latin typeface="Maple Mono NF"/>
              </a:rPr>
              <a:t>reply = </a:t>
            </a:r>
            <a:r>
              <a:rPr sz="1100" b="0">
                <a:solidFill>
                  <a:schemeClr val="accent2"/>
                </a:solidFill>
                <a:latin typeface="Maple Mono NF"/>
              </a:rPr>
              <a:t>self</a:t>
            </a:r>
            <a:r>
              <a:rPr sz="1100" b="0">
                <a:solidFill>
                  <a:schemeClr val="bg1"/>
                </a:solidFill>
                <a:latin typeface="Maple Mono NF"/>
              </a:rPr>
              <a:t>._call(model, state[</a:t>
            </a:r>
            <a:r>
              <a:rPr sz="1100" b="0">
                <a:solidFill>
                  <a:schemeClr val="accent3">
                    <a:lumMod val="55000"/>
                    <a:lumOff val="45000"/>
                  </a:schemeClr>
                </a:solidFill>
                <a:latin typeface="Maple Mono NF"/>
              </a:rPr>
              <a:t>"messages"</a:t>
            </a:r>
            <a:r>
              <a:rPr sz="1100" b="0">
                <a:solidFill>
                  <a:schemeClr val="bg1"/>
                </a:solidFill>
                <a:latin typeface="Maple Mono NF"/>
              </a:rPr>
              <a:t>], role=</a:t>
            </a:r>
            <a:r>
              <a:rPr sz="1100" b="0">
                <a:solidFill>
                  <a:schemeClr val="accent3">
                    <a:lumMod val="55000"/>
                    <a:lumOff val="45000"/>
                  </a:schemeClr>
                </a:solidFill>
                <a:latin typeface="Maple Mono NF"/>
              </a:rPr>
              <a:t>"controller"</a:t>
            </a:r>
            <a:r>
              <a:rPr sz="1100" b="0">
                <a:solidFill>
                  <a:schemeClr val="bg1"/>
                </a:solidFill>
                <a:latin typeface="Maple Mono NF"/>
              </a:rPr>
              <a:t>)</a:t>
            </a:r>
          </a:p>
          <a:p>
            <a:pPr algn="l">
              <a:buNone/>
            </a:pPr>
            <a:r>
              <a:rPr sz="1100" b="1">
                <a:solidFill>
                  <a:schemeClr val="accent4">
                    <a:lumMod val="70000"/>
                    <a:lumOff val="30000"/>
                  </a:schemeClr>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"messages"</a:t>
            </a:r>
            <a:r>
              <a:rPr sz="1100" b="0">
                <a:solidFill>
                  <a:schemeClr val="bg1"/>
                </a:solidFill>
                <a:latin typeface="Maple Mono NF"/>
              </a:rPr>
              <a:t>: [reply], </a:t>
            </a:r>
            <a:r>
              <a:rPr sz="1100" b="0">
                <a:solidFill>
                  <a:schemeClr val="accent3">
                    <a:lumMod val="55000"/>
                    <a:lumOff val="45000"/>
                  </a:schemeClr>
                </a:solidFill>
                <a:latin typeface="Maple Mono NF"/>
              </a:rPr>
              <a:t>"model_calls"</a:t>
            </a:r>
            <a:r>
              <a:rPr sz="1100" b="0">
                <a:solidFill>
                  <a:schemeClr val="bg1"/>
                </a:solidFill>
                <a:latin typeface="Maple Mono NF"/>
              </a:rPr>
              <a:t>: </a:t>
            </a:r>
            <a:r>
              <a:rPr sz="1100" b="0">
                <a:solidFill>
                  <a:schemeClr val="accent5">
                    <a:lumMod val="45000"/>
                    <a:lumOff val="55000"/>
                  </a:schemeClr>
                </a:solidFill>
                <a:latin typeface="Maple Mono NF"/>
              </a:rPr>
              <a:t>1</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"usage"</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._usage(reply)}</a:t>
            </a:r>
          </a:p>
        </p:txBody>
      </p:sp>
      <p:sp>
        <p:nvSpPr>
          <p:cNvPr id="10" name="Rectangle 9"/>
          <p:cNvSpPr/>
          <p:nvPr/>
        </p:nvSpPr>
        <p:spPr>
          <a:xfrm>
            <a:off x="319251" y="392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Reducers append the reply and accumulate the call and token counters.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context, runtime state, durable state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Each model context is derived from runtime state. Saving state beyond the process lifetime supports resumption.</a:t>
            </a:r>
          </a:p>
        </p:txBody>
      </p:sp>
      <p:graphicFrame>
        <p:nvGraphicFramePr>
          <p:cNvPr id="4" name="Table 3"/>
          <p:cNvGraphicFramePr>
            <a:graphicFrameLocks noGrp="1"/>
          </p:cNvGraphicFramePr>
          <p:nvPr/>
        </p:nvGraphicFramePr>
        <p:xfrm>
          <a:off x="319251" y="1390000"/>
          <a:ext cx="6014545" cy="1759230"/>
        </p:xfrm>
        <a:graphic>
          <a:graphicData uri="http://schemas.openxmlformats.org/drawingml/2006/table">
            <a:tbl>
              <a:tblPr firstRow="1" bandRow="1">
                <a:tableStyleId>{5C22544A-7EE6-4342-B048-85BDC9FD1C3A}</a:tableStyleId>
              </a:tblPr>
              <a:tblGrid>
                <a:gridCol w="1300000">
                  <a:extLst>
                    <a:ext uri="{9D8B030D-6E8A-4147-A177-3AD203B41FA5}">
                      <a16:colId xmlns:a16="http://schemas.microsoft.com/office/drawing/2014/main" val="20000"/>
                    </a:ext>
                  </a:extLst>
                </a:gridCol>
                <a:gridCol w="3300000">
                  <a:extLst>
                    <a:ext uri="{9D8B030D-6E8A-4147-A177-3AD203B41FA5}">
                      <a16:colId xmlns:a16="http://schemas.microsoft.com/office/drawing/2014/main" val="20001"/>
                    </a:ext>
                  </a:extLst>
                </a:gridCol>
                <a:gridCol w="1414545">
                  <a:extLst>
                    <a:ext uri="{9D8B030D-6E8A-4147-A177-3AD203B41FA5}">
                      <a16:colId xmlns:a16="http://schemas.microsoft.com/office/drawing/2014/main" val="20002"/>
                    </a:ext>
                  </a:extLst>
                </a:gridCol>
              </a:tblGrid>
              <a:tr h="300000">
                <a:tc>
                  <a:txBody>
                    <a:bodyPr/>
                    <a:lstStyle/>
                    <a:p>
                      <a:pPr>
                        <a:buNone/>
                      </a:pPr>
                      <a:r>
                        <a:rPr sz="1100" b="1">
                          <a:solidFill>
                            <a:schemeClr val="tx1"/>
                          </a:solidFill>
                        </a:rPr>
                        <a:t>State or context</a:t>
                      </a:r>
                    </a:p>
                  </a:txBody>
                  <a:tcPr marL="95250" marR="95250" marT="47625" marB="47625">
                    <a:lnB w="12700" cap="flat" cmpd="sng" algn="ctr">
                      <a:solidFill>
                        <a:schemeClr val="tx1"/>
                      </a:solidFill>
                    </a:lnB>
                    <a:noFill/>
                  </a:tcPr>
                </a:tc>
                <a:tc>
                  <a:txBody>
                    <a:bodyPr/>
                    <a:lstStyle/>
                    <a:p>
                      <a:pPr>
                        <a:buNone/>
                      </a:pPr>
                      <a:r>
                        <a:rPr sz="1100" b="1">
                          <a:solidFill>
                            <a:schemeClr val="tx1"/>
                          </a:solidFill>
                        </a:rPr>
                        <a:t>What it holds</a:t>
                      </a:r>
                    </a:p>
                  </a:txBody>
                  <a:tcPr marL="95250" marR="95250" marT="47625" marB="47625">
                    <a:lnB w="12700" cap="flat" cmpd="sng" algn="ctr">
                      <a:solidFill>
                        <a:schemeClr val="tx1"/>
                      </a:solidFill>
                    </a:lnB>
                    <a:noFill/>
                  </a:tcPr>
                </a:tc>
                <a:tc>
                  <a:txBody>
                    <a:bodyPr/>
                    <a:lstStyle/>
                    <a:p>
                      <a:pPr>
                        <a:buNone/>
                      </a:pPr>
                      <a:r>
                        <a:rPr sz="1100" b="1">
                          <a:solidFill>
                            <a:schemeClr val="tx1"/>
                          </a:solidFill>
                        </a:rPr>
                        <a:t>Who reads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Model context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It holds instructions, selected history and observations for one model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model reads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Runtime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It is the record retained between steps, including fields excluded from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Nodes, routing functions and limit checks read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Durable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It is runtime state saved beyond the process lifetime in a form that supports resumption.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runtime loads it to resume.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3358788"/>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Table 2 in the notes also requires the matching workspace and pending work for resumption. Our graphs have no checkpointer.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context and admission checks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model receives the conversation. Admission compares the call counter with the configured budget.</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controller line 312 and _admit lines 183 to 186. Trace event omitted</a:t>
            </a:r>
          </a:p>
        </p:txBody>
      </p:sp>
      <p:sp>
        <p:nvSpPr>
          <p:cNvPr id="5" name="CodeWindow"/>
          <p:cNvSpPr/>
          <p:nvPr/>
        </p:nvSpPr>
        <p:spPr>
          <a:xfrm>
            <a:off x="319251" y="1650000"/>
            <a:ext cx="6014545" cy="166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260000"/>
          </a:xfrm>
          <a:prstGeom prst="rect">
            <a:avLst/>
          </a:prstGeom>
          <a:noFill/>
        </p:spPr>
        <p:txBody>
          <a:bodyPr wrap="none" lIns="0" tIns="0" rIns="0" bIns="0" anchor="t">
            <a:spAutoFit/>
          </a:bodyPr>
          <a:lstStyle/>
          <a:p>
            <a:pPr algn="l">
              <a:buNone/>
            </a:pPr>
            <a:r>
              <a:rPr sz="1100" b="0">
                <a:solidFill>
                  <a:schemeClr val="accent6"/>
                </a:solidFill>
                <a:latin typeface="Maple Mono NF"/>
              </a:rPr>
              <a:t># ours: The controller supplies the conversation to the model.</a:t>
            </a:r>
          </a:p>
          <a:p>
            <a:pPr algn="l">
              <a:buNone/>
            </a:pPr>
            <a:r>
              <a:rPr sz="1100" b="0">
                <a:solidFill>
                  <a:schemeClr val="bg1"/>
                </a:solidFill>
                <a:latin typeface="Maple Mono NF"/>
              </a:rPr>
              <a:t>reply = </a:t>
            </a:r>
            <a:r>
              <a:rPr sz="1100" b="0">
                <a:solidFill>
                  <a:schemeClr val="accent2"/>
                </a:solidFill>
                <a:latin typeface="Maple Mono NF"/>
              </a:rPr>
              <a:t>self</a:t>
            </a:r>
            <a:r>
              <a:rPr sz="1100" b="0">
                <a:solidFill>
                  <a:schemeClr val="bg1"/>
                </a:solidFill>
                <a:latin typeface="Maple Mono NF"/>
              </a:rPr>
              <a:t>._call(model, state[</a:t>
            </a:r>
            <a:r>
              <a:rPr sz="1100" b="0">
                <a:solidFill>
                  <a:schemeClr val="accent3">
                    <a:lumMod val="55000"/>
                    <a:lumOff val="45000"/>
                  </a:schemeClr>
                </a:solidFill>
                <a:latin typeface="Maple Mono NF"/>
              </a:rPr>
              <a:t>"messages"</a:t>
            </a:r>
            <a:r>
              <a:rPr sz="1100" b="0">
                <a:solidFill>
                  <a:schemeClr val="bg1"/>
                </a:solidFill>
                <a:latin typeface="Maple Mono NF"/>
              </a:rPr>
              <a:t>], role=</a:t>
            </a:r>
            <a:r>
              <a:rPr sz="1100" b="0">
                <a:solidFill>
                  <a:schemeClr val="accent3">
                    <a:lumMod val="55000"/>
                    <a:lumOff val="45000"/>
                  </a:schemeClr>
                </a:solidFill>
                <a:latin typeface="Maple Mono NF"/>
              </a:rPr>
              <a:t>"controller"</a:t>
            </a:r>
            <a:r>
              <a:rPr sz="1100" b="0">
                <a:solidFill>
                  <a:schemeClr val="bg1"/>
                </a:solidFill>
                <a:latin typeface="Maple Mono NF"/>
              </a:rPr>
              <a:t>)</a:t>
            </a:r>
          </a:p>
          <a:p>
            <a:pPr algn="l">
              <a:buNone/>
            </a:pPr>
            <a:endParaRPr sz="1100" b="0">
              <a:solidFill>
                <a:schemeClr val="bg1"/>
              </a:solidFill>
              <a:latin typeface="Maple Mono NF"/>
            </a:endParaRPr>
          </a:p>
          <a:p>
            <a:pPr algn="l">
              <a:buNone/>
            </a:pPr>
            <a:r>
              <a:rPr sz="1100" b="0">
                <a:solidFill>
                  <a:schemeClr val="accent6"/>
                </a:solidFill>
                <a:latin typeface="Maple Mono NF"/>
              </a:rPr>
              <a:t># ours: Admission runs before every model call.</a:t>
            </a:r>
          </a:p>
          <a:p>
            <a:pPr algn="l">
              <a:buNone/>
            </a:pP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"model_calls"</a:t>
            </a:r>
            <a:r>
              <a:rPr sz="1100" b="0">
                <a:solidFill>
                  <a:schemeClr val="bg1"/>
                </a:solidFill>
                <a:latin typeface="Maple Mono NF"/>
              </a:rPr>
              <a:t>] &gt;= </a:t>
            </a:r>
            <a:r>
              <a:rPr sz="1100" b="1">
                <a:solidFill>
                  <a:schemeClr val="accent4">
                    <a:lumMod val="70000"/>
                    <a:lumOff val="30000"/>
                  </a:schemeClr>
                </a:solidFill>
                <a:latin typeface="Maple Mono NF"/>
              </a:rPr>
              <a:t>self.config.budget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"status"</a:t>
            </a:r>
            <a:r>
              <a:rPr sz="1100" b="0">
                <a:solidFill>
                  <a:schemeClr val="bg1"/>
                </a:solidFill>
                <a:latin typeface="Maple Mono NF"/>
              </a:rPr>
              <a:t>: TerminalStatus.BUDGET_EXHAUSTED}</a:t>
            </a:r>
          </a:p>
        </p:txBody>
      </p:sp>
      <p:sp>
        <p:nvSpPr>
          <p:cNvPr id="10" name="Rectangle 9"/>
          <p:cNvSpPr/>
          <p:nvPr/>
        </p:nvSpPr>
        <p:spPr>
          <a:xfrm>
            <a:off x="319251" y="350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Admission reads the call budget. The controller's context does not contain it.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Reducers: append, replace, accumulate</a:t>
            </a:r>
          </a:p>
        </p:txBody>
      </p:sp>
      <p:sp>
        <p:nvSpPr>
          <p:cNvPr id="3" name="Content Placeholder 2"/>
          <p:cNvSpPr>
            <a:spLocks noGrp="1"/>
          </p:cNvSpPr>
          <p:nvPr>
            <p:ph idx="1"/>
          </p:nvPr>
        </p:nvSpPr>
        <p:spPr>
          <a:xfrm>
            <a:off x="319251" y="700000"/>
            <a:ext cx="6014545" cy="2211325"/>
          </a:xfrm>
        </p:spPr>
        <p:txBody>
          <a:bodyPr wrap="square" anchor="ctr">
            <a:normAutofit fontScale="92500"/>
          </a:bodyPr>
          <a:lstStyle/>
          <a:p>
            <a:pPr marL="0" indent="0">
              <a:buNone/>
            </a:pPr>
            <a:r>
              <a:rPr sz="1400" b="1">
                <a:solidFill>
                  <a:srgbClr val="28285E"/>
                </a:solidFill>
              </a:rPr>
              <a:t>A reducer defines how a field's stored value and its update produce the next value.</a:t>
            </a:r>
          </a:p>
          <a:p>
            <a:pPr marL="400050" indent="-285750">
              <a:spcBef>
                <a:spcPts val="600"/>
              </a:spcBef>
              <a:spcAft>
                <a:spcPts val="600"/>
              </a:spcAft>
              <a:buClr>
                <a:srgbClr val="28285E"/>
              </a:buClr>
              <a:buSzPts val="1260"/>
              <a:buFont typeface="+mn-lt"/>
              <a:buChar char="●"/>
            </a:pPr>
            <a:r>
              <a:rPr sz="1400" b="1">
                <a:solidFill>
                  <a:schemeClr val="tx1"/>
                </a:solidFill>
              </a:rPr>
              <a:t>Append</a:t>
            </a:r>
            <a:r>
              <a:rPr sz="1400" b="0">
                <a:solidFill>
                  <a:schemeClr val="tx1"/>
                </a:solidFill>
              </a:rPr>
              <a:t> adds the update to the stored list and retains earlier values.</a:t>
            </a:r>
          </a:p>
          <a:p>
            <a:pPr marL="400050" indent="-285750">
              <a:spcBef>
                <a:spcPts val="600"/>
              </a:spcBef>
              <a:spcAft>
                <a:spcPts val="600"/>
              </a:spcAft>
              <a:buClr>
                <a:srgbClr val="28285E"/>
              </a:buClr>
              <a:buSzPts val="1260"/>
              <a:buFont typeface="+mn-lt"/>
              <a:buChar char="●"/>
            </a:pPr>
            <a:r>
              <a:rPr sz="1400" b="1">
                <a:solidFill>
                  <a:schemeClr val="tx1"/>
                </a:solidFill>
              </a:rPr>
              <a:t>Replace</a:t>
            </a:r>
            <a:r>
              <a:rPr sz="1400" b="0">
                <a:solidFill>
                  <a:schemeClr val="tx1"/>
                </a:solidFill>
              </a:rPr>
              <a:t> overwrites the stored value with the update.</a:t>
            </a:r>
          </a:p>
          <a:p>
            <a:pPr marL="400050" indent="-285750">
              <a:spcBef>
                <a:spcPts val="600"/>
              </a:spcBef>
              <a:spcAft>
                <a:spcPts val="600"/>
              </a:spcAft>
              <a:buClr>
                <a:srgbClr val="28285E"/>
              </a:buClr>
              <a:buSzPts val="1260"/>
              <a:buFont typeface="+mn-lt"/>
              <a:buChar char="●"/>
            </a:pPr>
            <a:r>
              <a:rPr sz="1400" b="1">
                <a:solidFill>
                  <a:schemeClr val="tx1"/>
                </a:solidFill>
              </a:rPr>
              <a:t>Accumulate</a:t>
            </a:r>
            <a:r>
              <a:rPr sz="1400" b="0">
                <a:solidFill>
                  <a:schemeClr val="tx1"/>
                </a:solidFill>
              </a:rPr>
              <a:t> combines the stored value and update, usually by summing.</a:t>
            </a:r>
          </a:p>
        </p:txBody>
      </p:sp>
      <p:sp>
        <p:nvSpPr>
          <p:cNvPr id="4" name="Rectangle 3"/>
          <p:cNvSpPr/>
          <p:nvPr/>
        </p:nvSpPr>
        <p:spPr>
          <a:xfrm>
            <a:off x="319251" y="3101325"/>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merge function takes the stored value and the update's value and returns the field's next value.</a:t>
            </a:r>
          </a:p>
        </p:txBody>
      </p:sp>
      <p:sp>
        <p:nvSpPr>
          <p:cNvPr id="5" name="Rectangle 4"/>
          <p:cNvSpPr/>
          <p:nvPr/>
        </p:nvSpPr>
        <p:spPr>
          <a:xfrm>
            <a:off x="319251" y="3902126"/>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An empty update leaves an appended field unchanged.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reducers in the schema</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0">
                <a:solidFill>
                  <a:srgbClr val="28285E"/>
                </a:solidFill>
                <a:latin typeface="Maple Mono NF"/>
              </a:rPr>
              <a:t>Annotated[T, fn]</a:t>
            </a:r>
            <a:r>
              <a:rPr sz="1400" b="1">
                <a:solidFill>
                  <a:srgbClr val="28285E"/>
                </a:solidFill>
              </a:rPr>
              <a:t> attaches a reducer to a field. Without a reducer, an update replaces the stored value.</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state.py, </a:t>
            </a:r>
            <a:r>
              <a:rPr sz="1200" b="0">
                <a:solidFill>
                  <a:srgbClr val="28285E"/>
                </a:solidFill>
                <a:latin typeface="Maple Mono NF"/>
              </a:rPr>
              <a:t>AgentState</a:t>
            </a:r>
            <a:r>
              <a:rPr sz="1200" b="1">
                <a:solidFill>
                  <a:srgbClr val="28285E"/>
                </a:solidFill>
              </a:rPr>
              <a:t>, lines 76 to 98 (selected fields)</a:t>
            </a:r>
          </a:p>
        </p:txBody>
      </p:sp>
      <p:sp>
        <p:nvSpPr>
          <p:cNvPr id="5" name="CodeWindow"/>
          <p:cNvSpPr/>
          <p:nvPr/>
        </p:nvSpPr>
        <p:spPr>
          <a:xfrm>
            <a:off x="319251" y="1650000"/>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470000"/>
          </a:xfrm>
          <a:prstGeom prst="rect">
            <a:avLst/>
          </a:prstGeom>
          <a:noFill/>
        </p:spPr>
        <p:txBody>
          <a:bodyPr wrap="none" lIns="0" tIns="0" rIns="0" bIns="0" anchor="t">
            <a:spAutoFit/>
          </a:bodyPr>
          <a:lstStyle/>
          <a:p>
            <a:pPr algn="l">
              <a:buNone/>
            </a:pPr>
            <a:r>
              <a:rPr sz="1100" b="0">
                <a:solidFill>
                  <a:schemeClr val="accent2"/>
                </a:solidFill>
                <a:latin typeface="Maple Mono NF"/>
              </a:rPr>
              <a:t>class</a:t>
            </a:r>
            <a:r>
              <a:rPr sz="1100" b="0">
                <a:solidFill>
                  <a:schemeClr val="bg1"/>
                </a:solidFill>
                <a:latin typeface="Maple Mono NF"/>
              </a:rPr>
              <a:t> AgentState(TypedDict, total=</a:t>
            </a:r>
            <a:r>
              <a:rPr sz="1100" b="0">
                <a:solidFill>
                  <a:schemeClr val="accent2"/>
                </a:solidFill>
                <a:latin typeface="Maple Mono NF"/>
              </a:rPr>
              <a:t>False</a:t>
            </a:r>
            <a:r>
              <a:rPr sz="1100" b="0">
                <a:solidFill>
                  <a:schemeClr val="bg1"/>
                </a:solidFill>
                <a:latin typeface="Maple Mono NF"/>
              </a:rPr>
              <a:t>):</a:t>
            </a:r>
          </a:p>
          <a:p>
            <a:pPr algn="l">
              <a:buNone/>
            </a:pPr>
            <a:r>
              <a:rPr sz="1100" b="0">
                <a:solidFill>
                  <a:schemeClr val="accent6"/>
                </a:solidFill>
                <a:latin typeface="Maple Mono NF"/>
              </a:rPr>
              <a:t>    # ours: other fields are omitted</a:t>
            </a:r>
          </a:p>
          <a:p>
            <a:pPr algn="l">
              <a:buNone/>
            </a:pPr>
            <a:r>
              <a:rPr sz="1100" b="0">
                <a:solidFill>
                  <a:schemeClr val="bg1"/>
                </a:solidFill>
                <a:latin typeface="Maple Mono NF"/>
              </a:rPr>
              <a:t>    messages: </a:t>
            </a:r>
            <a:r>
              <a:rPr sz="1100" b="1">
                <a:solidFill>
                  <a:schemeClr val="accent4">
                    <a:lumMod val="70000"/>
                    <a:lumOff val="30000"/>
                  </a:schemeClr>
                </a:solidFill>
                <a:latin typeface="Maple Mono NF"/>
              </a:rPr>
              <a:t>Annotated</a:t>
            </a:r>
            <a:r>
              <a:rPr sz="1100" b="0">
                <a:solidFill>
                  <a:schemeClr val="bg1"/>
                </a:solidFill>
                <a:latin typeface="Maple Mono NF"/>
              </a:rPr>
              <a:t>[list, add_messages]</a:t>
            </a:r>
          </a:p>
          <a:p>
            <a:pPr algn="l">
              <a:buNone/>
            </a:pPr>
            <a:r>
              <a:rPr sz="1100" b="0">
                <a:solidFill>
                  <a:schemeClr val="bg1"/>
                </a:solidFill>
                <a:latin typeface="Maple Mono NF"/>
              </a:rPr>
              <a:t>    observations: </a:t>
            </a:r>
            <a:r>
              <a:rPr sz="1100" b="1">
                <a:solidFill>
                  <a:schemeClr val="accent4">
                    <a:lumMod val="70000"/>
                    <a:lumOff val="30000"/>
                  </a:schemeClr>
                </a:solidFill>
                <a:latin typeface="Maple Mono NF"/>
              </a:rPr>
              <a:t>Annotated</a:t>
            </a:r>
            <a:r>
              <a:rPr sz="1100" b="0">
                <a:solidFill>
                  <a:schemeClr val="bg1"/>
                </a:solidFill>
                <a:latin typeface="Maple Mono NF"/>
              </a:rPr>
              <a:t>[list, operator.add]</a:t>
            </a:r>
          </a:p>
          <a:p>
            <a:pPr algn="l">
              <a:buNone/>
            </a:pPr>
            <a:r>
              <a:rPr sz="1100" b="0">
                <a:solidFill>
                  <a:schemeClr val="bg1"/>
                </a:solidFill>
                <a:latin typeface="Maple Mono NF"/>
              </a:rPr>
              <a:t>    usage: </a:t>
            </a:r>
            <a:r>
              <a:rPr sz="1100" b="1">
                <a:solidFill>
                  <a:schemeClr val="accent4">
                    <a:lumMod val="70000"/>
                    <a:lumOff val="30000"/>
                  </a:schemeClr>
                </a:solidFill>
                <a:latin typeface="Maple Mono NF"/>
              </a:rPr>
              <a:t>Annotated</a:t>
            </a:r>
            <a:r>
              <a:rPr sz="1100" b="0">
                <a:solidFill>
                  <a:schemeClr val="bg1"/>
                </a:solidFill>
                <a:latin typeface="Maple Mono NF"/>
              </a:rPr>
              <a:t>[Usage, add_usage]</a:t>
            </a:r>
          </a:p>
          <a:p>
            <a:pPr algn="l">
              <a:buNone/>
            </a:pPr>
            <a:r>
              <a:rPr sz="1100" b="0">
                <a:solidFill>
                  <a:schemeClr val="bg1"/>
                </a:solidFill>
                <a:latin typeface="Maple Mono NF"/>
              </a:rPr>
              <a:t>    model_calls: </a:t>
            </a:r>
            <a:r>
              <a:rPr sz="1100" b="1">
                <a:solidFill>
                  <a:schemeClr val="accent4">
                    <a:lumMod val="70000"/>
                    <a:lumOff val="30000"/>
                  </a:schemeClr>
                </a:solidFill>
                <a:latin typeface="Maple Mono NF"/>
              </a:rPr>
              <a:t>Annotated</a:t>
            </a:r>
            <a:r>
              <a:rPr sz="1100" b="0">
                <a:solidFill>
                  <a:schemeClr val="bg1"/>
                </a:solidFill>
                <a:latin typeface="Maple Mono NF"/>
              </a:rPr>
              <a:t>[int, operator.add]</a:t>
            </a:r>
          </a:p>
          <a:p>
            <a:pPr algn="l">
              <a:buNone/>
            </a:pPr>
            <a:r>
              <a:rPr sz="1100" b="0">
                <a:solidFill>
                  <a:schemeClr val="bg1"/>
                </a:solidFill>
                <a:latin typeface="Maple Mono NF"/>
              </a:rPr>
              <a:t>    status: str</a:t>
            </a:r>
          </a:p>
        </p:txBody>
      </p:sp>
      <p:sp>
        <p:nvSpPr>
          <p:cNvPr id="10" name="Rectangle 9"/>
          <p:cNvSpPr/>
          <p:nvPr/>
        </p:nvSpPr>
        <p:spPr>
          <a:xfrm>
            <a:off x="319251" y="371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Four fields use reducers. Fields without reducers retain their value until an update replaces it.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schemas and field lifetimes</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1">
                <a:solidFill>
                  <a:srgbClr val="28285E"/>
                </a:solidFill>
              </a:rPr>
              <a:t>The planning agent has five additional fields. Shading indicates each field's lifetime.</a:t>
            </a:r>
          </a:p>
        </p:txBody>
      </p:sp>
      <p:pic>
        <p:nvPicPr>
          <p:cNvPr id="4" name="Figure s2-agentstate" descr="s2-agentstate.png"/>
          <p:cNvPicPr>
            <a:picLocks noChangeAspect="1"/>
          </p:cNvPicPr>
          <p:nvPr/>
        </p:nvPicPr>
        <p:blipFill>
          <a:blip r:embed="rId3"/>
          <a:stretch>
            <a:fillRect/>
          </a:stretch>
        </p:blipFill>
        <p:spPr>
          <a:xfrm>
            <a:off x="250148" y="1390000"/>
            <a:ext cx="6152752" cy="2522205"/>
          </a:xfrm>
          <a:prstGeom prst="rect">
            <a:avLst/>
          </a:prstGeom>
        </p:spPr>
      </p:pic>
      <p:sp>
        <p:nvSpPr>
          <p:cNvPr id="5" name="Rectangle 4"/>
          <p:cNvSpPr/>
          <p:nvPr/>
        </p:nvSpPr>
        <p:spPr>
          <a:xfrm>
            <a:off x="319251" y="4102205"/>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5 of the lecture notes shows no attempt-lifetime fields because neither agent retries.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Field lifetimes</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1">
                <a:solidFill>
                  <a:srgbClr val="28285E"/>
                </a:solidFill>
              </a:rPr>
              <a:t>A field's lifetime is the part of a run during which its value is valid evidence for its readers.</a:t>
            </a:r>
          </a:p>
        </p:txBody>
      </p:sp>
      <p:graphicFrame>
        <p:nvGraphicFramePr>
          <p:cNvPr id="4" name="Table 3"/>
          <p:cNvGraphicFramePr>
            <a:graphicFrameLocks noGrp="1"/>
          </p:cNvGraphicFramePr>
          <p:nvPr/>
        </p:nvGraphicFramePr>
        <p:xfrm>
          <a:off x="319251" y="1390000"/>
          <a:ext cx="6014545" cy="1938300"/>
        </p:xfrm>
        <a:graphic>
          <a:graphicData uri="http://schemas.openxmlformats.org/drawingml/2006/table">
            <a:tbl>
              <a:tblPr firstRow="1" bandRow="1">
                <a:tableStyleId>{5C22544A-7EE6-4342-B048-85BDC9FD1C3A}</a:tableStyleId>
              </a:tblPr>
              <a:tblGrid>
                <a:gridCol w="1300000">
                  <a:extLst>
                    <a:ext uri="{9D8B030D-6E8A-4147-A177-3AD203B41FA5}">
                      <a16:colId xmlns:a16="http://schemas.microsoft.com/office/drawing/2014/main" val="20000"/>
                    </a:ext>
                  </a:extLst>
                </a:gridCol>
                <a:gridCol w="4714545">
                  <a:extLst>
                    <a:ext uri="{9D8B030D-6E8A-4147-A177-3AD203B41FA5}">
                      <a16:colId xmlns:a16="http://schemas.microsoft.com/office/drawing/2014/main" val="20001"/>
                    </a:ext>
                  </a:extLst>
                </a:gridCol>
              </a:tblGrid>
              <a:tr h="300000">
                <a:tc>
                  <a:txBody>
                    <a:bodyPr/>
                    <a:lstStyle/>
                    <a:p>
                      <a:pPr>
                        <a:buNone/>
                      </a:pPr>
                      <a:r>
                        <a:rPr sz="1000" b="1">
                          <a:solidFill>
                            <a:schemeClr val="tx1"/>
                          </a:solidFill>
                        </a:rPr>
                        <a:t>Lifetime</a:t>
                      </a:r>
                    </a:p>
                  </a:txBody>
                  <a:tcPr marL="95250" marR="95250" marT="47625" marB="47625">
                    <a:lnB w="12700" cap="flat" cmpd="sng" algn="ctr">
                      <a:solidFill>
                        <a:schemeClr val="tx1"/>
                      </a:solidFill>
                    </a:lnB>
                    <a:noFill/>
                  </a:tcPr>
                </a:tc>
                <a:tc>
                  <a:txBody>
                    <a:bodyPr/>
                    <a:lstStyle/>
                    <a:p>
                      <a:pPr>
                        <a:buNone/>
                      </a:pPr>
                      <a:r>
                        <a:rPr sz="1000" b="1">
                          <a:solidFill>
                            <a:schemeClr val="tx1"/>
                          </a:solidFill>
                        </a:rPr>
                        <a:t>Definition and use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Identity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Identity fields identify the task, target and workspace and remain unchanged.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Run fields retain histories and counters that grow throughout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Current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Current fields hold the latest plan, candidate, check result or status until the writer replaces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Handoff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handoff field carries a reason to one reader, which clears it after acting.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Window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window field stores the starting index of a span of run history.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Attempt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Attempt fields hold results for one attempt and permit clearing before a retry.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5" name="Rectangle 4"/>
          <p:cNvSpPr/>
          <p:nvPr/>
        </p:nvSpPr>
        <p:spPr>
          <a:xfrm>
            <a:off x="319251" y="369102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runtime enforces the reducer. A field's writers must also follow its lifetime rules.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Handoff and window, in the planning agent</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tools node writes a stall reason. The plan node reads it, clears it and updates the window.</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tools lines 361 to 367 and plan lines 260 to 270. Excerpts</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680000"/>
          </a:xfrm>
          <a:prstGeom prst="rect">
            <a:avLst/>
          </a:prstGeom>
          <a:noFill/>
        </p:spPr>
        <p:txBody>
          <a:bodyPr wrap="none" lIns="0" tIns="0" rIns="0" bIns="0" anchor="t">
            <a:spAutoFit/>
          </a:bodyPr>
          <a:lstStyle/>
          <a:p>
            <a:pPr algn="l">
              <a:buNone/>
            </a:pPr>
            <a:r>
              <a:rPr sz="1100" b="0">
                <a:solidFill>
                  <a:schemeClr val="accent2"/>
                </a:solidFill>
                <a:latin typeface="Maple Mono NF"/>
              </a:rPr>
              <a:t>if</a:t>
            </a:r>
            <a:r>
              <a:rPr sz="1100" b="0">
                <a:solidFill>
                  <a:schemeClr val="bg1"/>
                </a:solidFill>
                <a:latin typeface="Maple Mono NF"/>
              </a:rPr>
              <a:t> (</a:t>
            </a:r>
            <a:r>
              <a:rPr sz="1100" b="0">
                <a:solidFill>
                  <a:schemeClr val="accent2"/>
                </a:solidFill>
                <a:latin typeface="Maple Mono NF"/>
              </a:rPr>
              <a:t>not</a:t>
            </a:r>
            <a:r>
              <a:rPr sz="1100" b="0">
                <a:solidFill>
                  <a:schemeClr val="bg1"/>
                </a:solidFill>
                <a:latin typeface="Maple Mono NF"/>
              </a:rPr>
              <a:t> state.get(</a:t>
            </a:r>
            <a:r>
              <a:rPr sz="1100" b="0">
                <a:solidFill>
                  <a:schemeClr val="accent3">
                    <a:lumMod val="55000"/>
                    <a:lumOff val="45000"/>
                  </a:schemeClr>
                </a:solidFill>
                <a:latin typeface="Maple Mono NF"/>
              </a:rPr>
              <a:t>"replanned_at"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and</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.stalled(window, </a:t>
            </a:r>
            <a:r>
              <a:rPr sz="1100" b="0">
                <a:solidFill>
                  <a:schemeClr val="accent2"/>
                </a:solidFill>
                <a:latin typeface="Maple Mono NF"/>
              </a:rPr>
              <a:t>self</a:t>
            </a:r>
            <a:r>
              <a:rPr sz="1100" b="0">
                <a:solidFill>
                  <a:schemeClr val="bg1"/>
                </a:solidFill>
                <a:latin typeface="Maple Mono NF"/>
              </a:rPr>
              <a:t>.config.no_progress_steps)):</a:t>
            </a:r>
          </a:p>
          <a:p>
            <a:pPr algn="l">
              <a:buNone/>
            </a:pPr>
            <a:r>
              <a:rPr sz="1100" b="0">
                <a:solidFill>
                  <a:schemeClr val="bg1"/>
                </a:solidFill>
                <a:latin typeface="Maple Mono NF"/>
              </a:rPr>
              <a:t>    update["</a:t>
            </a:r>
            <a:r>
              <a:rPr sz="1100" b="1">
                <a:solidFill>
                  <a:schemeClr val="accent4">
                    <a:lumMod val="70000"/>
                    <a:lumOff val="30000"/>
                  </a:schemeClr>
                </a:solidFill>
                <a:latin typeface="Maple Mono NF"/>
              </a:rPr>
              <a:t>failed_step</a:t>
            </a:r>
            <a:r>
              <a:rPr sz="1100" b="0">
                <a:solidFill>
                  <a:schemeClr val="bg1"/>
                </a:solidFill>
                <a:latin typeface="Maple Mono NF"/>
              </a:rPr>
              <a:t>"] = {  </a:t>
            </a:r>
            <a:r>
              <a:rPr sz="1100" b="0">
                <a:solidFill>
                  <a:schemeClr val="accent6"/>
                </a:solidFill>
                <a:latin typeface="Maple Mono NF"/>
              </a:rPr>
              <a:t># ours: remaining entries omitted</a:t>
            </a:r>
          </a:p>
          <a:p>
            <a:pPr algn="l">
              <a:buNone/>
            </a:pPr>
            <a:r>
              <a:rPr sz="1100" b="0">
                <a:solidFill>
                  <a:schemeClr val="accent6"/>
                </a:solidFill>
                <a:latin typeface="Maple Mono NF"/>
              </a:rPr>
              <a:t># ours: The plan node returns this partial update.</a:t>
            </a:r>
          </a:p>
          <a:p>
            <a:pPr algn="l">
              <a:buNone/>
            </a:pPr>
            <a:r>
              <a:rPr sz="1100" b="0">
                <a:solidFill>
                  <a:schemeClr val="bg1"/>
                </a:solidFill>
                <a:latin typeface="Maple Mono NF"/>
              </a:rPr>
              <a:t>update = {</a:t>
            </a:r>
            <a:r>
              <a:rPr sz="1100" b="0">
                <a:solidFill>
                  <a:schemeClr val="accent3">
                    <a:lumMod val="55000"/>
                    <a:lumOff val="45000"/>
                  </a:schemeClr>
                </a:solidFill>
                <a:latin typeface="Maple Mono NF"/>
              </a:rPr>
              <a:t>"plan"</a:t>
            </a:r>
            <a:r>
              <a:rPr sz="1100" b="0">
                <a:solidFill>
                  <a:schemeClr val="bg1"/>
                </a:solidFill>
                <a:latin typeface="Maple Mono NF"/>
              </a:rPr>
              <a:t>: steps,</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failed_step</a:t>
            </a:r>
            <a:r>
              <a:rPr sz="1100" b="0">
                <a:solidFill>
                  <a:schemeClr val="bg1"/>
                </a:solidFill>
                <a:latin typeface="Maple Mono NF"/>
              </a:rPr>
              <a:t>":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accent2"/>
                </a:solidFill>
                <a:latin typeface="Maple Mono NF"/>
              </a:rPr>
              <a:t>if</a:t>
            </a:r>
            <a:r>
              <a:rPr sz="1100" b="0">
                <a:solidFill>
                  <a:schemeClr val="bg1"/>
                </a:solidFill>
                <a:latin typeface="Maple Mono NF"/>
              </a:rPr>
              <a:t> failed:</a:t>
            </a:r>
          </a:p>
          <a:p>
            <a:pPr algn="l">
              <a:buNone/>
            </a:pPr>
            <a:r>
              <a:rPr sz="1100" b="0">
                <a:solidFill>
                  <a:schemeClr val="bg1"/>
                </a:solidFill>
                <a:latin typeface="Maple Mono NF"/>
              </a:rPr>
              <a:t>    update[</a:t>
            </a:r>
            <a:r>
              <a:rPr sz="1100" b="0">
                <a:solidFill>
                  <a:schemeClr val="accent3">
                    <a:lumMod val="55000"/>
                    <a:lumOff val="45000"/>
                  </a:schemeClr>
                </a:solidFill>
                <a:latin typeface="Maple Mono NF"/>
              </a:rPr>
              <a:t>"replanned_at"</a:t>
            </a:r>
            <a:r>
              <a:rPr sz="1100" b="0">
                <a:solidFill>
                  <a:schemeClr val="bg1"/>
                </a:solidFill>
                <a:latin typeface="Maple Mono NF"/>
              </a:rPr>
              <a:t>] = len(state[</a:t>
            </a:r>
            <a:r>
              <a:rPr sz="1100" b="0">
                <a:solidFill>
                  <a:schemeClr val="accent3">
                    <a:lumMod val="55000"/>
                    <a:lumOff val="45000"/>
                  </a:schemeClr>
                </a:solidFill>
                <a:latin typeface="Maple Mono NF"/>
              </a:rPr>
              <a:t>"observations"</a:t>
            </a:r>
            <a:r>
              <a:rPr sz="1100" b="0">
                <a:solidFill>
                  <a:schemeClr val="bg1"/>
                </a:solidFill>
                <a:latin typeface="Maple Mono NF"/>
              </a:rPr>
              <a:t>])</a:t>
            </a:r>
          </a:p>
        </p:txBody>
      </p:sp>
      <p:sp>
        <p:nvSpPr>
          <p:cNvPr id="10" name="Rectangle 9"/>
          <p:cNvSpPr/>
          <p:nvPr/>
        </p:nvSpPr>
        <p:spPr>
          <a:xfrm>
            <a:off x="319251" y="392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If the plan node leaves </a:t>
            </a:r>
            <a:r>
              <a:rPr sz="1200" b="0">
                <a:solidFill>
                  <a:schemeClr val="tx2"/>
                </a:solidFill>
                <a:latin typeface="Maple Mono NF"/>
              </a:rPr>
              <a:t>failed_step</a:t>
            </a:r>
            <a:r>
              <a:rPr sz="1200" b="1">
                <a:solidFill>
                  <a:schemeClr val="tx2"/>
                </a:solidFill>
              </a:rPr>
              <a:t> set, routing selects it again after the next tools step.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Proving invariants over configurations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A spending limit is a property of the whole run. Its proof must cover every permitted transition.</a:t>
            </a:r>
          </a:p>
          <a:p>
            <a:pPr marL="400050" indent="-285750">
              <a:spcBef>
                <a:spcPts val="600"/>
              </a:spcBef>
              <a:spcAft>
                <a:spcPts val="600"/>
              </a:spcAft>
              <a:buClr>
                <a:srgbClr val="28285E"/>
              </a:buClr>
              <a:buSzPts val="1260"/>
              <a:buFont typeface="+mn-lt"/>
              <a:buChar char="●"/>
            </a:pPr>
            <a:r>
              <a:rPr sz="1400" b="1">
                <a:solidFill>
                  <a:schemeClr val="tx1"/>
                </a:solidFill>
              </a:rPr>
              <a:t>The predicate holds</a:t>
            </a:r>
            <a:r>
              <a:rPr sz="1400" b="0">
                <a:solidFill>
                  <a:schemeClr val="tx1"/>
                </a:solidFill>
              </a:rPr>
              <a:t> in the initial configuration.</a:t>
            </a:r>
          </a:p>
          <a:p>
            <a:pPr marL="400050" indent="-285750">
              <a:spcBef>
                <a:spcPts val="600"/>
              </a:spcBef>
              <a:spcAft>
                <a:spcPts val="600"/>
              </a:spcAft>
              <a:buClr>
                <a:srgbClr val="28285E"/>
              </a:buClr>
              <a:buSzPts val="1260"/>
              <a:buFont typeface="+mn-lt"/>
              <a:buChar char="●"/>
            </a:pPr>
            <a:r>
              <a:rPr sz="1400" b="1">
                <a:solidFill>
                  <a:schemeClr val="tx1"/>
                </a:solidFill>
              </a:rPr>
              <a:t>Every transition</a:t>
            </a:r>
            <a:r>
              <a:rPr sz="1400" b="0">
                <a:solidFill>
                  <a:schemeClr val="tx1"/>
                </a:solidFill>
              </a:rPr>
              <a:t> from a configuration satisfying the predicate preserves it, including unreachable configurations.</a:t>
            </a:r>
          </a:p>
          <a:p>
            <a:pPr marL="400050" indent="-285750">
              <a:spcBef>
                <a:spcPts val="600"/>
              </a:spcBef>
              <a:spcAft>
                <a:spcPts val="600"/>
              </a:spcAft>
              <a:buClr>
                <a:srgbClr val="28285E"/>
              </a:buClr>
              <a:buSzPts val="1260"/>
              <a:buFont typeface="+mn-lt"/>
              <a:buChar char="●"/>
            </a:pPr>
            <a:r>
              <a:rPr sz="1400" b="1">
                <a:solidFill>
                  <a:schemeClr val="tx1"/>
                </a:solidFill>
              </a:rPr>
              <a:t>A stronger predicate</a:t>
            </a:r>
            <a:r>
              <a:rPr sz="1400" b="0">
                <a:solidFill>
                  <a:schemeClr val="tx1"/>
                </a:solidFill>
              </a:rPr>
              <a:t> may be needed to prove preservation by every transition.</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An invariant holds initially. Every transition from a configuration satisfying it must lead to another configuration satisfying it.</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proof establishes the property for every reachable configuration.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call budget as an invariant</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We prove that the counter equals the number of completed calls and does not exceed the budget.</a:t>
            </a:r>
          </a:p>
          <a:p>
            <a:pPr marL="400050" indent="-285750">
              <a:spcBef>
                <a:spcPts val="600"/>
              </a:spcBef>
              <a:spcAft>
                <a:spcPts val="600"/>
              </a:spcAft>
              <a:buClr>
                <a:srgbClr val="28285E"/>
              </a:buClr>
              <a:buSzPts val="1260"/>
              <a:buFont typeface="+mn-lt"/>
              <a:buChar char="●"/>
            </a:pPr>
            <a:r>
              <a:rPr sz="1400" b="1">
                <a:solidFill>
                  <a:schemeClr val="tx1"/>
                </a:solidFill>
              </a:rPr>
              <a:t>Admission.</a:t>
            </a:r>
            <a:r>
              <a:rPr sz="1400" b="0">
                <a:solidFill>
                  <a:schemeClr val="tx1"/>
                </a:solidFill>
              </a:rPr>
              <a:t> A transition may issue a model call only when the call counter is below the budget.</a:t>
            </a:r>
          </a:p>
          <a:p>
            <a:pPr marL="400050" indent="-285750">
              <a:spcBef>
                <a:spcPts val="600"/>
              </a:spcBef>
              <a:spcAft>
                <a:spcPts val="600"/>
              </a:spcAft>
              <a:buClr>
                <a:srgbClr val="28285E"/>
              </a:buClr>
              <a:buSzPts val="1260"/>
              <a:buFont typeface="+mn-lt"/>
              <a:buChar char="●"/>
            </a:pPr>
            <a:r>
              <a:rPr sz="1400" b="1">
                <a:solidFill>
                  <a:schemeClr val="tx1"/>
                </a:solidFill>
              </a:rPr>
              <a:t>Counting.</a:t>
            </a:r>
            <a:r>
              <a:rPr sz="1400" b="0">
                <a:solidFill>
                  <a:schemeClr val="tx1"/>
                </a:solidFill>
              </a:rPr>
              <a:t> Each completed model call must add exactly one to the call counter.</a:t>
            </a:r>
          </a:p>
          <a:p>
            <a:pPr marL="400050" indent="-285750">
              <a:spcBef>
                <a:spcPts val="600"/>
              </a:spcBef>
              <a:spcAft>
                <a:spcPts val="600"/>
              </a:spcAft>
              <a:buClr>
                <a:srgbClr val="28285E"/>
              </a:buClr>
              <a:buSzPts val="1260"/>
              <a:buFont typeface="+mn-lt"/>
              <a:buChar char="●"/>
            </a:pPr>
            <a:r>
              <a:rPr sz="1400" b="1">
                <a:solidFill>
                  <a:schemeClr val="tx1"/>
                </a:solidFill>
              </a:rPr>
              <a:t>Preservation.</a:t>
            </a:r>
            <a:r>
              <a:rPr sz="1400" b="0">
                <a:solidFill>
                  <a:schemeClr val="tx1"/>
                </a:solidFill>
              </a:rPr>
              <a:t> Transitions without calls leave the counter unchanged. No transition decreases it.</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reducer accumulates reported calls. Each caller must check the budget before calling and report each completed call exactly once.</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In our agent, </a:t>
            </a:r>
            <a:r>
              <a:rPr sz="1200" b="0">
                <a:solidFill>
                  <a:srgbClr val="28285E"/>
                </a:solidFill>
                <a:latin typeface="Maple Mono NF"/>
              </a:rPr>
              <a:t>model_calls</a:t>
            </a:r>
            <a:r>
              <a:rPr sz="1200" b="1">
                <a:solidFill>
                  <a:srgbClr val="28285E"/>
                </a:solidFill>
              </a:rPr>
              <a:t> must remain at most forty.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Constructing and compiling the state graph</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0">
                <a:solidFill>
                  <a:srgbClr val="28285E"/>
                </a:solidFill>
                <a:latin typeface="Maple Mono NF"/>
              </a:rPr>
              <a:t>StateGraph</a:t>
            </a:r>
            <a:r>
              <a:rPr sz="1400" b="1">
                <a:solidFill>
                  <a:srgbClr val="28285E"/>
                </a:solidFill>
              </a:rPr>
              <a:t> creates one channel per schema field. Nodes and edges define the graph before compilation.</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compile, lines 493 to 521. Selected declarations</a:t>
            </a:r>
          </a:p>
        </p:txBody>
      </p:sp>
      <p:sp>
        <p:nvSpPr>
          <p:cNvPr id="5" name="CodeWindow"/>
          <p:cNvSpPr/>
          <p:nvPr/>
        </p:nvSpPr>
        <p:spPr>
          <a:xfrm>
            <a:off x="319251" y="16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890000"/>
          </a:xfrm>
          <a:prstGeom prst="rect">
            <a:avLst/>
          </a:prstGeom>
          <a:noFill/>
        </p:spPr>
        <p:txBody>
          <a:bodyPr wrap="none" lIns="0" tIns="0" rIns="0" bIns="0" anchor="t">
            <a:spAutoFit/>
          </a:bodyPr>
          <a:lstStyle/>
          <a:p>
            <a:pPr algn="l">
              <a:buNone/>
            </a:pPr>
            <a:r>
              <a:rPr sz="1100" b="0">
                <a:solidFill>
                  <a:schemeClr val="bg1"/>
                </a:solidFill>
                <a:latin typeface="Maple Mono NF"/>
              </a:rPr>
              <a:t>graph = StateGraph(AgentState)</a:t>
            </a:r>
          </a:p>
          <a:p>
            <a:pPr algn="l">
              <a:buNone/>
            </a:pPr>
            <a:r>
              <a:rPr sz="1100" b="0">
                <a:solidFill>
                  <a:schemeClr val="bg1"/>
                </a:solidFill>
                <a:latin typeface="Maple Mono NF"/>
              </a:rPr>
              <a:t>graph.add_node(</a:t>
            </a:r>
            <a:r>
              <a:rPr sz="1100" b="0">
                <a:solidFill>
                  <a:schemeClr val="accent3">
                    <a:lumMod val="55000"/>
                    <a:lumOff val="45000"/>
                  </a:schemeClr>
                </a:solidFill>
                <a:latin typeface="Maple Mono NF"/>
              </a:rPr>
              <a:t>"plan"</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.plan)</a:t>
            </a:r>
          </a:p>
          <a:p>
            <a:pPr algn="l">
              <a:buNone/>
            </a:pPr>
            <a:r>
              <a:rPr sz="1100" b="0">
                <a:solidFill>
                  <a:schemeClr val="bg1"/>
                </a:solidFill>
                <a:latin typeface="Maple Mono NF"/>
              </a:rPr>
              <a:t>graph.add_node(</a:t>
            </a:r>
            <a:r>
              <a:rPr sz="1100" b="0">
                <a:solidFill>
                  <a:schemeClr val="accent3">
                    <a:lumMod val="55000"/>
                    <a:lumOff val="45000"/>
                  </a:schemeClr>
                </a:solidFill>
                <a:latin typeface="Maple Mono NF"/>
              </a:rPr>
              <a:t>"tools"</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.tools)</a:t>
            </a:r>
          </a:p>
          <a:p>
            <a:pPr algn="l">
              <a:buNone/>
            </a:pPr>
            <a:r>
              <a:rPr sz="1100" b="0">
                <a:solidFill>
                  <a:schemeClr val="accent6"/>
                </a:solidFill>
                <a:latin typeface="Maple Mono NF"/>
              </a:rPr>
              <a:t># ours: Five node and five edge declarations are omitted.</a:t>
            </a:r>
          </a:p>
          <a:p>
            <a:pPr algn="l">
              <a:buNone/>
            </a:pPr>
            <a:r>
              <a:rPr sz="1100" b="0">
                <a:solidFill>
                  <a:schemeClr val="bg1"/>
                </a:solidFill>
                <a:latin typeface="Maple Mono NF"/>
              </a:rPr>
              <a:t>graph.add_edge(START, </a:t>
            </a:r>
            <a:r>
              <a:rPr sz="1100" b="0">
                <a:solidFill>
                  <a:schemeClr val="accent3">
                    <a:lumMod val="55000"/>
                    <a:lumOff val="45000"/>
                  </a:schemeClr>
                </a:solidFill>
                <a:latin typeface="Maple Mono NF"/>
              </a:rPr>
              <a:t>"scan"</a:t>
            </a:r>
            <a:r>
              <a:rPr sz="1100" b="0">
                <a:solidFill>
                  <a:schemeClr val="bg1"/>
                </a:solidFill>
                <a:latin typeface="Maple Mono NF"/>
              </a:rPr>
              <a:t>)</a:t>
            </a:r>
          </a:p>
          <a:p>
            <a:pPr algn="l">
              <a:buNone/>
            </a:pPr>
            <a:r>
              <a:rPr sz="1100" b="0">
                <a:solidFill>
                  <a:schemeClr val="bg1"/>
                </a:solidFill>
                <a:latin typeface="Maple Mono NF"/>
              </a:rPr>
              <a:t>graph.</a:t>
            </a:r>
            <a:r>
              <a:rPr sz="1100" b="1">
                <a:solidFill>
                  <a:schemeClr val="accent4">
                    <a:lumMod val="70000"/>
                    <a:lumOff val="30000"/>
                  </a:schemeClr>
                </a:solidFill>
                <a:latin typeface="Maple Mono NF"/>
              </a:rPr>
              <a:t>add_conditional_edges</a:t>
            </a:r>
            <a:r>
              <a:rPr sz="1100" b="0">
                <a:solidFill>
                  <a:schemeClr val="bg1"/>
                </a:solidFill>
                <a:latin typeface="Maple Mono NF"/>
              </a:rPr>
              <a:t>(</a:t>
            </a:r>
            <a:r>
              <a:rPr sz="1100" b="0">
                <a:solidFill>
                  <a:schemeClr val="accent3">
                    <a:lumMod val="55000"/>
                    <a:lumOff val="45000"/>
                  </a:schemeClr>
                </a:solidFill>
                <a:latin typeface="Maple Mono NF"/>
              </a:rPr>
              <a:t>"tools"</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.after_tools,</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"controller"</a:t>
            </a:r>
            <a:r>
              <a:rPr sz="1100" b="0">
                <a:solidFill>
                  <a:schemeClr val="bg1"/>
                </a:solidFill>
                <a:latin typeface="Maple Mono NF"/>
              </a:rPr>
              <a:t>: </a:t>
            </a:r>
            <a:r>
              <a:rPr sz="1100" b="0">
                <a:solidFill>
                  <a:schemeClr val="accent3">
                    <a:lumMod val="55000"/>
                    <a:lumOff val="45000"/>
                  </a:schemeClr>
                </a:solidFill>
                <a:latin typeface="Maple Mono NF"/>
              </a:rPr>
              <a:t>"controller"</a:t>
            </a:r>
            <a:r>
              <a:rPr sz="1100" b="0">
                <a:solidFill>
                  <a:schemeClr val="bg1"/>
                </a:solidFill>
                <a:latin typeface="Maple Mono NF"/>
              </a:rPr>
              <a:t>, </a:t>
            </a:r>
            <a:r>
              <a:rPr sz="1100" b="0">
                <a:solidFill>
                  <a:schemeClr val="accent3">
                    <a:lumMod val="55000"/>
                    <a:lumOff val="45000"/>
                  </a:schemeClr>
                </a:solidFill>
                <a:latin typeface="Maple Mono NF"/>
              </a:rPr>
              <a:t>"plan"</a:t>
            </a:r>
            <a:r>
              <a:rPr sz="1100" b="0">
                <a:solidFill>
                  <a:schemeClr val="bg1"/>
                </a:solidFill>
                <a:latin typeface="Maple Mono NF"/>
              </a:rPr>
              <a:t>: </a:t>
            </a:r>
            <a:r>
              <a:rPr sz="1100" b="0">
                <a:solidFill>
                  <a:schemeClr val="accent3">
                    <a:lumMod val="55000"/>
                    <a:lumOff val="45000"/>
                  </a:schemeClr>
                </a:solidFill>
                <a:latin typeface="Maple Mono NF"/>
              </a:rPr>
              <a:t>"plan"</a:t>
            </a:r>
            <a:r>
              <a:rPr sz="1100" b="0">
                <a:solidFill>
                  <a:schemeClr val="bg1"/>
                </a:solidFill>
                <a:latin typeface="Maple Mono NF"/>
              </a:rPr>
              <a:t>})</a:t>
            </a:r>
          </a:p>
          <a:p>
            <a:pPr algn="l">
              <a:buNone/>
            </a:pPr>
            <a:r>
              <a:rPr sz="1100" b="0">
                <a:solidFill>
                  <a:schemeClr val="bg1"/>
                </a:solidFill>
                <a:latin typeface="Maple Mono NF"/>
              </a:rPr>
              <a:t>graph.add_edge(</a:t>
            </a:r>
            <a:r>
              <a:rPr sz="1100" b="0">
                <a:solidFill>
                  <a:schemeClr val="accent3">
                    <a:lumMod val="55000"/>
                    <a:lumOff val="45000"/>
                  </a:schemeClr>
                </a:solidFill>
                <a:latin typeface="Maple Mono NF"/>
              </a:rPr>
              <a:t>"validate"</a:t>
            </a:r>
            <a:r>
              <a:rPr sz="1100" b="0">
                <a:solidFill>
                  <a:schemeClr val="bg1"/>
                </a:solidFill>
                <a:latin typeface="Maple Mono NF"/>
              </a:rPr>
              <a:t>, END)</a:t>
            </a:r>
          </a:p>
          <a:p>
            <a:pPr algn="l">
              <a:buNone/>
            </a:pPr>
            <a:r>
              <a:rPr sz="1100" b="0">
                <a:solidFill>
                  <a:schemeClr val="accent2"/>
                </a:solidFill>
                <a:latin typeface="Maple Mono NF"/>
              </a:rPr>
              <a:t>return</a:t>
            </a:r>
            <a:r>
              <a:rPr sz="1100" b="0">
                <a:solidFill>
                  <a:schemeClr val="bg1"/>
                </a:solidFill>
                <a:latin typeface="Maple Mono NF"/>
              </a:rPr>
              <a:t> graph.compile()</a:t>
            </a:r>
          </a:p>
        </p:txBody>
      </p:sp>
      <p:sp>
        <p:nvSpPr>
          <p:cNvPr id="10" name="Rectangle 9"/>
          <p:cNvSpPr/>
          <p:nvPr/>
        </p:nvSpPr>
        <p:spPr>
          <a:xfrm>
            <a:off x="319251" y="413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latin typeface="Maple Mono NF"/>
              </a:rPr>
              <a:t>compile()</a:t>
            </a:r>
            <a:r>
              <a:rPr sz="1200" b="1">
                <a:solidFill>
                  <a:schemeClr val="tx2"/>
                </a:solidFill>
              </a:rPr>
              <a:t> checks the wiring and returns a runnable graph.</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Designing a state graph</a:t>
            </a:r>
          </a:p>
        </p:txBody>
      </p:sp>
      <p:sp>
        <p:nvSpPr>
          <p:cNvPr id="3" name="Content Placeholder 2"/>
          <p:cNvSpPr>
            <a:spLocks noGrp="1"/>
          </p:cNvSpPr>
          <p:nvPr>
            <p:ph idx="1"/>
          </p:nvPr>
        </p:nvSpPr>
        <p:spPr>
          <a:xfrm>
            <a:off x="319251" y="700000"/>
            <a:ext cx="6014545" cy="2897480"/>
          </a:xfrm>
        </p:spPr>
        <p:txBody>
          <a:bodyPr wrap="square" anchor="ctr">
            <a:normAutofit fontScale="92500" lnSpcReduction="20000"/>
          </a:bodyPr>
          <a:lstStyle/>
          <a:p>
            <a:pPr marL="0" indent="0">
              <a:buNone/>
            </a:pPr>
            <a:r>
              <a:rPr sz="1400" b="1">
                <a:solidFill>
                  <a:srgbClr val="28285E"/>
                </a:solidFill>
              </a:rPr>
              <a:t>We define the state graph in this order. Each schema field is added with the node that populates it.</a:t>
            </a:r>
          </a:p>
          <a:p>
            <a:pPr marL="400050" indent="-285750">
              <a:spcBef>
                <a:spcPts val="600"/>
              </a:spcBef>
              <a:spcAft>
                <a:spcPts val="600"/>
              </a:spcAft>
              <a:buClr>
                <a:srgbClr val="28285E"/>
              </a:buClr>
              <a:buSzPts val="1260"/>
              <a:buFont typeface="+mn-lt"/>
              <a:buChar char="●"/>
            </a:pPr>
            <a:r>
              <a:rPr sz="1400" b="1">
                <a:solidFill>
                  <a:schemeClr val="tx1"/>
                </a:solidFill>
              </a:rPr>
              <a:t>Name the nodes</a:t>
            </a:r>
            <a:r>
              <a:rPr sz="1400" b="0">
                <a:solidFill>
                  <a:schemeClr val="tx1"/>
                </a:solidFill>
              </a:rPr>
              <a:t> and the routing decisions between them.</a:t>
            </a:r>
          </a:p>
          <a:p>
            <a:pPr marL="400050" indent="-285750">
              <a:spcBef>
                <a:spcPts val="600"/>
              </a:spcBef>
              <a:spcAft>
                <a:spcPts val="600"/>
              </a:spcAft>
              <a:buClr>
                <a:srgbClr val="28285E"/>
              </a:buClr>
              <a:buSzPts val="1260"/>
              <a:buFont typeface="+mn-lt"/>
              <a:buChar char="●"/>
            </a:pPr>
            <a:r>
              <a:rPr sz="1400" b="1">
                <a:solidFill>
                  <a:schemeClr val="tx1"/>
                </a:solidFill>
              </a:rPr>
              <a:t>List the values</a:t>
            </a:r>
            <a:r>
              <a:rPr sz="1400" b="0">
                <a:solidFill>
                  <a:schemeClr val="tx1"/>
                </a:solidFill>
              </a:rPr>
              <a:t> that nodes and routing functions read to define the schema.</a:t>
            </a:r>
          </a:p>
          <a:p>
            <a:pPr marL="400050" indent="-285750">
              <a:spcBef>
                <a:spcPts val="600"/>
              </a:spcBef>
              <a:spcAft>
                <a:spcPts val="600"/>
              </a:spcAft>
              <a:buClr>
                <a:srgbClr val="28285E"/>
              </a:buClr>
              <a:buSzPts val="1260"/>
              <a:buFont typeface="+mn-lt"/>
              <a:buChar char="●"/>
            </a:pPr>
            <a:r>
              <a:rPr sz="1400" b="1">
                <a:solidFill>
                  <a:schemeClr val="tx1"/>
                </a:solidFill>
              </a:rPr>
              <a:t>Identify each field's writer</a:t>
            </a:r>
            <a:r>
              <a:rPr sz="1400" b="0">
                <a:solidFill>
                  <a:schemeClr val="tx1"/>
                </a:solidFill>
              </a:rPr>
              <a:t> and when its value becomes invalid.</a:t>
            </a:r>
          </a:p>
          <a:p>
            <a:pPr marL="400050" indent="-285750">
              <a:spcBef>
                <a:spcPts val="600"/>
              </a:spcBef>
              <a:spcAft>
                <a:spcPts val="600"/>
              </a:spcAft>
              <a:buClr>
                <a:srgbClr val="28285E"/>
              </a:buClr>
              <a:buSzPts val="1260"/>
              <a:buFont typeface="+mn-lt"/>
              <a:buChar char="●"/>
            </a:pPr>
            <a:r>
              <a:rPr sz="1400" b="1">
                <a:solidFill>
                  <a:schemeClr val="tx1"/>
                </a:solidFill>
              </a:rPr>
              <a:t>Choose each field's lifetime</a:t>
            </a:r>
            <a:r>
              <a:rPr sz="1400" b="0">
                <a:solidFill>
                  <a:schemeClr val="tx1"/>
                </a:solidFill>
              </a:rPr>
              <a:t> and the corresponding reducer.</a:t>
            </a:r>
          </a:p>
          <a:p>
            <a:pPr marL="400050" indent="-285750">
              <a:spcBef>
                <a:spcPts val="600"/>
              </a:spcBef>
              <a:spcAft>
                <a:spcPts val="600"/>
              </a:spcAft>
              <a:buClr>
                <a:srgbClr val="28285E"/>
              </a:buClr>
              <a:buSzPts val="1260"/>
              <a:buFont typeface="+mn-lt"/>
              <a:buChar char="●"/>
            </a:pPr>
            <a:r>
              <a:rPr sz="1400" b="1">
                <a:solidFill>
                  <a:schemeClr val="tx1"/>
                </a:solidFill>
              </a:rPr>
              <a:t>Write the initial state </a:t>
            </a:r>
            <a:r>
              <a:rPr sz="1400" b="0">
                <a:solidFill>
                  <a:schemeClr val="tx1"/>
                </a:solidFill>
              </a:rPr>
              <a:t>with a value for every key.</a:t>
            </a:r>
          </a:p>
          <a:p>
            <a:pPr marL="400050" indent="-285750">
              <a:spcBef>
                <a:spcPts val="600"/>
              </a:spcBef>
              <a:spcAft>
                <a:spcPts val="600"/>
              </a:spcAft>
              <a:buClr>
                <a:srgbClr val="28285E"/>
              </a:buClr>
              <a:buSzPts val="1260"/>
              <a:buFont typeface="+mn-lt"/>
              <a:buChar char="●"/>
            </a:pPr>
            <a:r>
              <a:rPr sz="1400" b="1">
                <a:solidFill>
                  <a:schemeClr val="tx1"/>
                </a:solidFill>
              </a:rPr>
              <a:t>Write each node </a:t>
            </a:r>
            <a:r>
              <a:rPr sz="1400" b="0">
                <a:solidFill>
                  <a:schemeClr val="tx1"/>
                </a:solidFill>
              </a:rPr>
              <a:t>to return only its own keys.</a:t>
            </a:r>
          </a:p>
        </p:txBody>
      </p:sp>
      <p:sp>
        <p:nvSpPr>
          <p:cNvPr id="4" name="Rectangle 3"/>
          <p:cNvSpPr/>
          <p:nvPr/>
        </p:nvSpPr>
        <p:spPr>
          <a:xfrm>
            <a:off x="319251" y="3787480"/>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Each field retains a value that a later computation needs to read.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chemeClr val="tx2"/>
                </a:solidFill>
              </a:rPr>
              <a:t>Routing functions and conditional edges</a:t>
            </a:r>
          </a:p>
        </p:txBody>
      </p:sp>
      <p:sp>
        <p:nvSpPr>
          <p:cNvPr id="3" name="Rectangle 2"/>
          <p:cNvSpPr/>
          <p:nvPr/>
        </p:nvSpPr>
        <p:spPr>
          <a:xfrm>
            <a:off x="319251" y="1700000"/>
            <a:ext cx="6014545" cy="1300000"/>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routing function reads the record after the runtime merges the node's update. It selects the next node or ends execution.</a:t>
            </a:r>
          </a:p>
          <a:p>
            <a:pPr>
              <a:spcBef>
                <a:spcPts val="1000"/>
              </a:spcBef>
            </a:pPr>
            <a:r>
              <a:rPr sz="1400" b="0">
                <a:solidFill>
                  <a:schemeClr val="tx2"/>
                </a:solidFill>
              </a:rPr>
              <a:t>The next section examines conditional edges, feedback to the plan node or controller, and three interpretations of a trace: recorded acceptance, a declared stop, and no recorded ending.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000" y="1863864"/>
            <a:ext cx="6000000" cy="1415772"/>
          </a:xfrm>
          <a:prstGeom prst="rect">
            <a:avLst/>
          </a:prstGeom>
          <a:noFill/>
        </p:spPr>
        <p:txBody>
          <a:bodyPr wrap="square" anchor="ctr">
            <a:spAutoFit/>
          </a:bodyPr>
          <a:lstStyle/>
          <a:p>
            <a:pPr algn="ctr"/>
            <a:r>
              <a:rPr sz="4000" b="1">
                <a:solidFill>
                  <a:schemeClr val="tx2"/>
                </a:solidFill>
                <a:latin typeface="+mj-lt"/>
              </a:rPr>
              <a:t>Routing, feedback, and stopping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Routing functions and conditional edges</a:t>
            </a:r>
          </a:p>
        </p:txBody>
      </p:sp>
      <p:sp>
        <p:nvSpPr>
          <p:cNvPr id="3" name="Content Placeholder 2"/>
          <p:cNvSpPr>
            <a:spLocks noGrp="1"/>
          </p:cNvSpPr>
          <p:nvPr>
            <p:ph idx="1"/>
          </p:nvPr>
        </p:nvSpPr>
        <p:spPr>
          <a:xfrm>
            <a:off x="319251" y="700000"/>
            <a:ext cx="6014545" cy="2440280"/>
          </a:xfrm>
        </p:spPr>
        <p:txBody>
          <a:bodyPr wrap="square" anchor="ctr">
            <a:normAutofit fontScale="92500"/>
          </a:bodyPr>
          <a:lstStyle/>
          <a:p>
            <a:pPr marL="0" indent="0">
              <a:buNone/>
            </a:pPr>
            <a:r>
              <a:rPr sz="1400" b="1">
                <a:solidFill>
                  <a:srgbClr val="28285E"/>
                </a:solidFill>
              </a:rPr>
              <a:t>The routing function selects the next step by testing values in the record.</a:t>
            </a:r>
          </a:p>
          <a:p>
            <a:pPr marL="400050" indent="-285750">
              <a:spcBef>
                <a:spcPts val="600"/>
              </a:spcBef>
              <a:spcAft>
                <a:spcPts val="600"/>
              </a:spcAft>
              <a:buClr>
                <a:srgbClr val="28285E"/>
              </a:buClr>
              <a:buSzPts val="1260"/>
              <a:buFont typeface="+mn-lt"/>
              <a:buChar char="●"/>
            </a:pPr>
            <a:r>
              <a:rPr sz="1400" b="1">
                <a:solidFill>
                  <a:schemeClr val="tx1"/>
                </a:solidFill>
              </a:rPr>
              <a:t>Proposal.</a:t>
            </a:r>
            <a:r>
              <a:rPr sz="1400" b="0">
                <a:solidFill>
                  <a:schemeClr val="tx1"/>
                </a:solidFill>
              </a:rPr>
              <a:t> The model emits a tool request, plan, candidate patch, or verdict.</a:t>
            </a:r>
          </a:p>
          <a:p>
            <a:pPr marL="400050" indent="-285750">
              <a:spcBef>
                <a:spcPts val="600"/>
              </a:spcBef>
              <a:spcAft>
                <a:spcPts val="600"/>
              </a:spcAft>
              <a:buClr>
                <a:srgbClr val="28285E"/>
              </a:buClr>
              <a:buSzPts val="1260"/>
              <a:buFont typeface="+mn-lt"/>
              <a:buChar char="●"/>
            </a:pPr>
            <a:r>
              <a:rPr sz="1400" b="1">
                <a:solidFill>
                  <a:schemeClr val="tx1"/>
                </a:solidFill>
              </a:rPr>
              <a:t>Record.</a:t>
            </a:r>
            <a:r>
              <a:rPr sz="1400" b="0">
                <a:solidFill>
                  <a:schemeClr val="tx1"/>
                </a:solidFill>
              </a:rPr>
              <a:t> The runtime merges the proposal into state through reducers and records what happened in the trace.</a:t>
            </a:r>
          </a:p>
          <a:p>
            <a:pPr marL="400050" indent="-285750">
              <a:spcBef>
                <a:spcPts val="600"/>
              </a:spcBef>
              <a:spcAft>
                <a:spcPts val="600"/>
              </a:spcAft>
              <a:buClr>
                <a:srgbClr val="28285E"/>
              </a:buClr>
              <a:buSzPts val="1260"/>
              <a:buFont typeface="+mn-lt"/>
              <a:buChar char="●"/>
            </a:pPr>
            <a:r>
              <a:rPr sz="1400" b="1">
                <a:solidFill>
                  <a:schemeClr val="tx1"/>
                </a:solidFill>
              </a:rPr>
              <a:t>Decision.</a:t>
            </a:r>
            <a:r>
              <a:rPr sz="1400" b="0">
                <a:solidFill>
                  <a:schemeClr val="tx1"/>
                </a:solidFill>
              </a:rPr>
              <a:t> The routing function tests fields of the merged record using the programmer's guards and limits.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conditional edge consists of a location's outgoing transitions and a routing function that selects the destination whose guard holds.</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by field identifies the source of the value tested by the routing function.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Routing after the controller</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1">
                <a:solidFill>
                  <a:srgbClr val="28285E"/>
                </a:solidFill>
              </a:rPr>
              <a:t>The routing function reads the merged record and returns the name of the next node.</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after_controller, lines 452 to 460. Trace calls omitted</a:t>
            </a:r>
          </a:p>
        </p:txBody>
      </p:sp>
      <p:sp>
        <p:nvSpPr>
          <p:cNvPr id="5" name="CodeWindow"/>
          <p:cNvSpPr/>
          <p:nvPr/>
        </p:nvSpPr>
        <p:spPr>
          <a:xfrm>
            <a:off x="319251" y="1650000"/>
            <a:ext cx="6014545" cy="166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26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after_controller(</a:t>
            </a:r>
            <a:r>
              <a:rPr sz="1100" b="0">
                <a:solidFill>
                  <a:schemeClr val="accent2"/>
                </a:solidFill>
                <a:latin typeface="Maple Mono NF"/>
              </a:rPr>
              <a:t>self</a:t>
            </a:r>
            <a:r>
              <a:rPr sz="1100" b="0">
                <a:solidFill>
                  <a:schemeClr val="bg1"/>
                </a:solidFill>
                <a:latin typeface="Maple Mono NF"/>
              </a:rPr>
              <a:t>, state: AgentState) -&gt; str:</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"status"</a:t>
            </a:r>
            <a:r>
              <a:rPr sz="1100" b="0">
                <a:solidFill>
                  <a:schemeClr val="bg1"/>
                </a:solidFill>
                <a:latin typeface="Maple Mono NF"/>
              </a:rPr>
              <a:t>] != RUNNING:</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END</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"messages"</a:t>
            </a:r>
            <a:r>
              <a:rPr sz="1100" b="0">
                <a:solidFill>
                  <a:schemeClr val="bg1"/>
                </a:solidFill>
                <a:latin typeface="Maple Mono NF"/>
              </a:rPr>
              <a:t>][-</a:t>
            </a:r>
            <a:r>
              <a:rPr sz="1100" b="0">
                <a:solidFill>
                  <a:schemeClr val="accent5">
                    <a:lumMod val="45000"/>
                    <a:lumOff val="55000"/>
                  </a:schemeClr>
                </a:solidFill>
                <a:latin typeface="Maple Mono NF"/>
              </a:rPr>
              <a:t>1</a:t>
            </a:r>
            <a:r>
              <a:rPr sz="1100" b="0">
                <a:solidFill>
                  <a:schemeClr val="bg1"/>
                </a:solidFill>
                <a:latin typeface="Maple Mono NF"/>
              </a:rPr>
              <a:t>].</a:t>
            </a:r>
            <a:r>
              <a:rPr sz="1100" b="1">
                <a:solidFill>
                  <a:schemeClr val="accent4">
                    <a:lumMod val="70000"/>
                    <a:lumOff val="30000"/>
                  </a:schemeClr>
                </a:solidFill>
                <a:latin typeface="Maple Mono NF"/>
              </a:rPr>
              <a:t>tool_calls</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"tools"</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"submit"</a:t>
            </a:r>
          </a:p>
        </p:txBody>
      </p:sp>
      <p:sp>
        <p:nvSpPr>
          <p:cNvPr id="10" name="Rectangle 9"/>
          <p:cNvSpPr/>
          <p:nvPr/>
        </p:nvSpPr>
        <p:spPr>
          <a:xfrm>
            <a:off x="319251" y="350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routing function tests status, then </a:t>
            </a:r>
            <a:r>
              <a:rPr sz="1200" b="0">
                <a:solidFill>
                  <a:schemeClr val="tx2"/>
                </a:solidFill>
                <a:latin typeface="Maple Mono NF"/>
              </a:rPr>
              <a:t>tool_calls</a:t>
            </a:r>
            <a:r>
              <a:rPr sz="1200" b="1">
                <a:solidFill>
                  <a:schemeClr val="tx2"/>
                </a:solidFill>
              </a:rPr>
              <a:t> in the last reply.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same graph, different paths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compiled graph stays fixed across runs. Values in the merged record determine the path.</a:t>
            </a:r>
          </a:p>
        </p:txBody>
      </p:sp>
      <p:pic>
        <p:nvPicPr>
          <p:cNvPr id="4" name="Figure trace-tree" descr="image.png"/>
          <p:cNvPicPr>
            <a:picLocks noChangeAspect="1"/>
          </p:cNvPicPr>
          <p:nvPr/>
        </p:nvPicPr>
        <p:blipFill>
          <a:blip r:embed="rId3"/>
          <a:stretch>
            <a:fillRect/>
          </a:stretch>
        </p:blipFill>
        <p:spPr>
          <a:xfrm>
            <a:off x="250148" y="1390000"/>
            <a:ext cx="6152752" cy="1612270"/>
          </a:xfrm>
          <a:prstGeom prst="rect">
            <a:avLst/>
          </a:prstGeom>
        </p:spPr>
      </p:pic>
      <p:sp>
        <p:nvSpPr>
          <p:cNvPr id="5" name="Rectangle 4"/>
          <p:cNvSpPr/>
          <p:nvPr/>
        </p:nvSpPr>
        <p:spPr>
          <a:xfrm>
            <a:off x="319251" y="3236877"/>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calls the controller twelve times passes through twelve branch points without changing the graph.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Feedback edges: revision and repair</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A feedback edge returns control to a visited location. It specifies a trigger and the information passed back.</a:t>
            </a:r>
          </a:p>
        </p:txBody>
      </p:sp>
      <p:pic>
        <p:nvPicPr>
          <p:cNvPr id="4" name="Figure efsm-feedback" descr="image.png"/>
          <p:cNvPicPr>
            <a:picLocks noChangeAspect="1"/>
          </p:cNvPicPr>
          <p:nvPr/>
        </p:nvPicPr>
        <p:blipFill>
          <a:blip r:embed="rId3"/>
          <a:stretch>
            <a:fillRect/>
          </a:stretch>
        </p:blipFill>
        <p:spPr>
          <a:xfrm>
            <a:off x="279230" y="1390000"/>
            <a:ext cx="6094589" cy="2634732"/>
          </a:xfrm>
          <a:prstGeom prst="rect">
            <a:avLst/>
          </a:prstGeom>
        </p:spPr>
      </p:pic>
      <p:sp>
        <p:nvSpPr>
          <p:cNvPr id="5" name="Rectangle 4"/>
          <p:cNvSpPr/>
          <p:nvPr/>
        </p:nvSpPr>
        <p:spPr>
          <a:xfrm>
            <a:off x="319251" y="4227037"/>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stall returns control to plan once. Failed checks return control and their reasons to controller.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Feedback edges and their bounds</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Two feedback edges are implemented. A third, for new attempts, is proposed.</a:t>
            </a:r>
          </a:p>
        </p:txBody>
      </p:sp>
      <p:graphicFrame>
        <p:nvGraphicFramePr>
          <p:cNvPr id="4" name="Table 3"/>
          <p:cNvGraphicFramePr>
            <a:graphicFrameLocks noGrp="1"/>
          </p:cNvGraphicFramePr>
          <p:nvPr/>
        </p:nvGraphicFramePr>
        <p:xfrm>
          <a:off x="319251" y="1390000"/>
          <a:ext cx="6014545" cy="2719350"/>
        </p:xfrm>
        <a:graphic>
          <a:graphicData uri="http://schemas.openxmlformats.org/drawingml/2006/table">
            <a:tbl>
              <a:tblPr firstRow="1" bandRow="1">
                <a:tableStyleId>{5C22544A-7EE6-4342-B048-85BDC9FD1C3A}</a:tableStyleId>
              </a:tblPr>
              <a:tblGrid>
                <a:gridCol w="125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21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buNone/>
                      </a:pPr>
                      <a:r>
                        <a:rPr sz="1000" b="1">
                          <a:solidFill>
                            <a:schemeClr val="tx1"/>
                          </a:solidFill>
                        </a:rPr>
                        <a:t>Feedback edge</a:t>
                      </a:r>
                    </a:p>
                  </a:txBody>
                  <a:tcPr marL="95250" marR="95250" marT="47625" marB="47625">
                    <a:lnB w="12700" cap="flat" cmpd="sng" algn="ctr">
                      <a:solidFill>
                        <a:schemeClr val="tx1"/>
                      </a:solidFill>
                    </a:lnB>
                    <a:noFill/>
                  </a:tcPr>
                </a:tc>
                <a:tc>
                  <a:txBody>
                    <a:bodyPr/>
                    <a:lstStyle/>
                    <a:p>
                      <a:pPr>
                        <a:buNone/>
                      </a:pPr>
                      <a:r>
                        <a:rPr sz="1000" b="1">
                          <a:solidFill>
                            <a:schemeClr val="tx1"/>
                          </a:solidFill>
                        </a:rPr>
                        <a:t>Trigger</a:t>
                      </a:r>
                    </a:p>
                  </a:txBody>
                  <a:tcPr marL="95250" marR="95250" marT="47625" marB="47625">
                    <a:lnB w="12700" cap="flat" cmpd="sng" algn="ctr">
                      <a:solidFill>
                        <a:schemeClr val="tx1"/>
                      </a:solidFill>
                    </a:lnB>
                    <a:noFill/>
                  </a:tcPr>
                </a:tc>
                <a:tc>
                  <a:txBody>
                    <a:bodyPr/>
                    <a:lstStyle/>
                    <a:p>
                      <a:pPr>
                        <a:buNone/>
                      </a:pPr>
                      <a:r>
                        <a:rPr sz="1000" b="1">
                          <a:solidFill>
                            <a:schemeClr val="tx1"/>
                          </a:solidFill>
                        </a:rPr>
                        <a:t>Information and reset</a:t>
                      </a:r>
                    </a:p>
                  </a:txBody>
                  <a:tcPr marL="95250" marR="95250" marT="47625" marB="47625">
                    <a:lnB w="12700" cap="flat" cmpd="sng" algn="ctr">
                      <a:solidFill>
                        <a:schemeClr val="tx1"/>
                      </a:solidFill>
                    </a:lnB>
                    <a:noFill/>
                  </a:tcPr>
                </a:tc>
                <a:tc>
                  <a:txBody>
                    <a:bodyPr/>
                    <a:lstStyle/>
                    <a:p>
                      <a:pPr>
                        <a:buNone/>
                      </a:pPr>
                      <a:r>
                        <a:rPr sz="1000" b="1">
                          <a:solidFill>
                            <a:schemeClr val="tx1"/>
                          </a:solidFill>
                        </a:rPr>
                        <a:t>Bound</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Revision: tools to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current plan's last three observations are identical. None is a successful edit.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plan node reads the stall reason and old plan. It replaces the plan, clears the handoff and moves the window.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One revision is allowed. A second stall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Repair: submit to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At least one of the three checks fails.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conversation receives the check reasons. The next submission replaces the patch and check results. Nothing is reset.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call budget bounds repair.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New attempt (proposed)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validator rejects, and attempts remain.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reflection is retained. Each attempt-lifetime field is cleared explicitly.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counter with the run lifetime limits attempts. The call budget also applies.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4317638"/>
            <a:ext cx="601454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Table 4 in the notes. Each feedback edge needs a limit.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proposed feedback edge for new attempts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In the current agent, rejection ends the run. The extension would record a reflection and start a new attempt.</a:t>
            </a:r>
          </a:p>
        </p:txBody>
      </p:sp>
      <p:pic>
        <p:nvPicPr>
          <p:cNvPr id="4" name="Figure s3-control-extension" descr="s3-control-extension.png"/>
          <p:cNvPicPr>
            <a:picLocks noChangeAspect="1"/>
          </p:cNvPicPr>
          <p:nvPr/>
        </p:nvPicPr>
        <p:blipFill>
          <a:blip r:embed="rId3"/>
          <a:stretch>
            <a:fillRect/>
          </a:stretch>
        </p:blipFill>
        <p:spPr>
          <a:xfrm>
            <a:off x="250148" y="1390000"/>
            <a:ext cx="6152752" cy="2036641"/>
          </a:xfrm>
          <a:prstGeom prst="rect">
            <a:avLst/>
          </a:prstGeom>
        </p:spPr>
      </p:pic>
      <p:sp>
        <p:nvSpPr>
          <p:cNvPr id="5" name="Rectangle 4"/>
          <p:cNvSpPr/>
          <p:nvPr/>
        </p:nvSpPr>
        <p:spPr>
          <a:xfrm>
            <a:off x="319251" y="3616641"/>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6 in the notes. A new attempt clears attempt-lifetime fields and retains run-lifetime fields.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 bounds and termination</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An acceptance predicate identifies a successful ending. It does not ensure that one occurs.</a:t>
            </a:r>
          </a:p>
          <a:p>
            <a:pPr marL="400050" indent="-285750">
              <a:spcBef>
                <a:spcPts val="600"/>
              </a:spcBef>
              <a:spcAft>
                <a:spcPts val="600"/>
              </a:spcAft>
              <a:buClr>
                <a:srgbClr val="28285E"/>
              </a:buClr>
              <a:buSzPts val="1260"/>
              <a:buFont typeface="+mn-lt"/>
              <a:buChar char="●"/>
            </a:pPr>
            <a:r>
              <a:rPr sz="1400" b="1">
                <a:solidFill>
                  <a:schemeClr val="tx1"/>
                </a:solidFill>
              </a:rPr>
              <a:t>Remaining calls</a:t>
            </a:r>
            <a:r>
              <a:rPr sz="1400" b="0">
                <a:solidFill>
                  <a:schemeClr val="tx1"/>
                </a:solidFill>
              </a:rPr>
              <a:t> is a variant if every cycle consumes a call and each step between calls returns or times out.</a:t>
            </a:r>
          </a:p>
          <a:p>
            <a:pPr marL="400050" indent="-285750">
              <a:spcBef>
                <a:spcPts val="600"/>
              </a:spcBef>
              <a:spcAft>
                <a:spcPts val="600"/>
              </a:spcAft>
              <a:buClr>
                <a:srgbClr val="28285E"/>
              </a:buClr>
              <a:buSzPts val="1260"/>
              <a:buFont typeface="+mn-lt"/>
              <a:buChar char="●"/>
            </a:pPr>
            <a:r>
              <a:rPr sz="1400" b="1">
                <a:solidFill>
                  <a:schemeClr val="tx1"/>
                </a:solidFill>
              </a:rPr>
              <a:t>A cycle that consumes no model calls</a:t>
            </a:r>
            <a:r>
              <a:rPr sz="1400" b="0">
                <a:solidFill>
                  <a:schemeClr val="tx1"/>
                </a:solidFill>
              </a:rPr>
              <a:t> needs its own bound.</a:t>
            </a:r>
          </a:p>
          <a:p>
            <a:pPr marL="400050" indent="-285750">
              <a:spcBef>
                <a:spcPts val="600"/>
              </a:spcBef>
              <a:spcAft>
                <a:spcPts val="600"/>
              </a:spcAft>
              <a:buClr>
                <a:srgbClr val="28285E"/>
              </a:buClr>
              <a:buSzPts val="1260"/>
              <a:buFont typeface="+mn-lt"/>
              <a:buChar char="●"/>
            </a:pPr>
            <a:r>
              <a:rPr sz="1400" b="1">
                <a:solidFill>
                  <a:schemeClr val="tx1"/>
                </a:solidFill>
              </a:rPr>
              <a:t>A stall check</a:t>
            </a:r>
            <a:r>
              <a:rPr sz="1400" b="0">
                <a:solidFill>
                  <a:schemeClr val="tx1"/>
                </a:solidFill>
              </a:rPr>
              <a:t> detects a particular pattern of non-progress. Other patterns can occur.</a:t>
            </a:r>
          </a:p>
        </p:txBody>
      </p:sp>
      <p:sp>
        <p:nvSpPr>
          <p:cNvPr id="4" name="Rectangle 3"/>
          <p:cNvSpPr/>
          <p:nvPr/>
        </p:nvSpPr>
        <p:spPr>
          <a:xfrm>
            <a:off x="319251" y="3330280"/>
            <a:ext cx="6014545" cy="8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variant is a quantity that strictly decreases on every continuing cycle and cannot decrease indefinitely.</a:t>
            </a:r>
          </a:p>
        </p:txBody>
      </p:sp>
      <p:sp>
        <p:nvSpPr>
          <p:cNvPr id="5" name="Rectangle 4"/>
          <p:cNvSpPr/>
          <p:nvPr/>
        </p:nvSpPr>
        <p:spPr>
          <a:xfrm>
            <a:off x="319251" y="4350280"/>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Detecting one failure pattern does not prove termination.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Checking the budget before each model call</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Three runtime checks can end a run before a verdict. The budget is checked before each call.</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_admit, lines 174 to 187. </a:t>
            </a:r>
            <a:r>
              <a:rPr sz="1200" b="0">
                <a:solidFill>
                  <a:srgbClr val="28285E"/>
                </a:solidFill>
                <a:latin typeface="Maple Mono NF"/>
              </a:rPr>
              <a:t>config.py</a:t>
            </a:r>
            <a:r>
              <a:rPr sz="1200" b="1">
                <a:solidFill>
                  <a:srgbClr val="28285E"/>
                </a:solidFill>
              </a:rPr>
              <a:t>, line 41. Comments omitted.</a:t>
            </a:r>
          </a:p>
        </p:txBody>
      </p:sp>
      <p:sp>
        <p:nvSpPr>
          <p:cNvPr id="5" name="CodeWindow"/>
          <p:cNvSpPr/>
          <p:nvPr/>
        </p:nvSpPr>
        <p:spPr>
          <a:xfrm>
            <a:off x="319251" y="1650000"/>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47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_admit(</a:t>
            </a:r>
            <a:r>
              <a:rPr sz="1100" b="0">
                <a:solidFill>
                  <a:schemeClr val="accent2"/>
                </a:solidFill>
                <a:latin typeface="Maple Mono NF"/>
              </a:rPr>
              <a:t>self</a:t>
            </a:r>
            <a:r>
              <a:rPr sz="1100" b="0">
                <a:solidFill>
                  <a:schemeClr val="bg1"/>
                </a:solidFill>
                <a:latin typeface="Maple Mono NF"/>
              </a:rPr>
              <a:t>, state: AgentState) -&gt; dict |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"model_calls"</a:t>
            </a:r>
            <a:r>
              <a:rPr sz="1100" b="0">
                <a:solidFill>
                  <a:schemeClr val="bg1"/>
                </a:solidFill>
                <a:latin typeface="Maple Mono NF"/>
              </a:rPr>
              <a:t>] </a:t>
            </a:r>
            <a:r>
              <a:rPr sz="1100" b="1">
                <a:solidFill>
                  <a:schemeClr val="accent4">
                    <a:lumMod val="70000"/>
                    <a:lumOff val="30000"/>
                  </a:schemeClr>
                </a:solidFill>
                <a:latin typeface="Maple Mono NF"/>
              </a:rPr>
              <a:t>&gt;= self.config.budget</a:t>
            </a:r>
            <a:r>
              <a:rPr sz="1100" b="0">
                <a:solidFill>
                  <a:schemeClr val="bg1"/>
                </a:solidFill>
                <a:latin typeface="Maple Mono NF"/>
              </a:rPr>
              <a:t>:</a:t>
            </a:r>
          </a:p>
          <a:p>
            <a:pPr algn="l">
              <a:buNone/>
            </a:pPr>
            <a:r>
              <a:rPr sz="1100" b="0">
                <a:solidFill>
                  <a:schemeClr val="accent6"/>
                </a:solidFill>
                <a:latin typeface="Maple Mono NF"/>
              </a:rPr>
              <a:t>        # ours: budget_exhausted routing event omitted</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"status"</a:t>
            </a:r>
            <a:r>
              <a:rPr sz="1100" b="0">
                <a:solidFill>
                  <a:schemeClr val="bg1"/>
                </a:solidFill>
                <a:latin typeface="Maple Mono NF"/>
              </a:rPr>
              <a:t>: TerminalStatus.BUDGET_EXHAUSTED}</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2"/>
                </a:solidFill>
                <a:latin typeface="Maple Mono NF"/>
              </a:rPr>
              <a:t>None</a:t>
            </a:r>
          </a:p>
          <a:p>
            <a:pPr algn="l">
              <a:buNone/>
            </a:pPr>
            <a:endParaRPr sz="1100" b="0">
              <a:solidFill>
                <a:schemeClr val="accent2"/>
              </a:solidFill>
              <a:latin typeface="Maple Mono NF"/>
            </a:endParaRPr>
          </a:p>
          <a:p>
            <a:pPr algn="l">
              <a:buNone/>
            </a:pPr>
            <a:r>
              <a:rPr sz="1100" b="0">
                <a:solidFill>
                  <a:schemeClr val="bg1"/>
                </a:solidFill>
                <a:latin typeface="Maple Mono NF"/>
              </a:rPr>
              <a:t>budget: int = </a:t>
            </a:r>
            <a:r>
              <a:rPr sz="1100" b="0">
                <a:solidFill>
                  <a:schemeClr val="accent5">
                    <a:lumMod val="45000"/>
                    <a:lumOff val="55000"/>
                  </a:schemeClr>
                </a:solidFill>
                <a:latin typeface="Maple Mono NF"/>
              </a:rPr>
              <a:t>40</a:t>
            </a:r>
          </a:p>
        </p:txBody>
      </p:sp>
      <p:sp>
        <p:nvSpPr>
          <p:cNvPr id="10" name="Rectangle 9"/>
          <p:cNvSpPr/>
          <p:nvPr/>
        </p:nvSpPr>
        <p:spPr>
          <a:xfrm>
            <a:off x="319251" y="371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first stall triggers revision. The second ends the run. The recursion limit caps supersteps.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trace establishes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We distinguish termination, acceptance, and the task's postcondition.</a:t>
            </a:r>
          </a:p>
          <a:p>
            <a:pPr marL="400050" indent="-285750">
              <a:spcBef>
                <a:spcPts val="600"/>
              </a:spcBef>
              <a:spcAft>
                <a:spcPts val="600"/>
              </a:spcAft>
              <a:buClr>
                <a:srgbClr val="28285E"/>
              </a:buClr>
              <a:buSzPts val="1260"/>
              <a:buFont typeface="+mn-lt"/>
              <a:buChar char="●"/>
            </a:pPr>
            <a:r>
              <a:rPr sz="1400" b="1">
                <a:solidFill>
                  <a:schemeClr val="tx1"/>
                </a:solidFill>
              </a:rPr>
              <a:t>Execution terminated.</a:t>
            </a:r>
            <a:r>
              <a:rPr sz="1400" b="0">
                <a:solidFill>
                  <a:schemeClr val="tx1"/>
                </a:solidFill>
              </a:rPr>
              <a:t> A terminal event establishes this.</a:t>
            </a:r>
          </a:p>
          <a:p>
            <a:pPr marL="400050" indent="-285750">
              <a:spcBef>
                <a:spcPts val="600"/>
              </a:spcBef>
              <a:spcAft>
                <a:spcPts val="600"/>
              </a:spcAft>
              <a:buClr>
                <a:srgbClr val="28285E"/>
              </a:buClr>
              <a:buSzPts val="1260"/>
              <a:buFont typeface="+mn-lt"/>
              <a:buChar char="●"/>
            </a:pPr>
            <a:r>
              <a:rPr sz="1400" b="1">
                <a:solidFill>
                  <a:schemeClr val="tx1"/>
                </a:solidFill>
              </a:rPr>
              <a:t>The acceptance procedure passed.</a:t>
            </a:r>
            <a:r>
              <a:rPr sz="1400" b="0">
                <a:solidFill>
                  <a:schemeClr val="tx1"/>
                </a:solidFill>
              </a:rPr>
              <a:t> An accepting terminal status establishes this.</a:t>
            </a:r>
          </a:p>
          <a:p>
            <a:pPr marL="400050" indent="-285750">
              <a:spcBef>
                <a:spcPts val="600"/>
              </a:spcBef>
              <a:spcAft>
                <a:spcPts val="600"/>
              </a:spcAft>
              <a:buClr>
                <a:srgbClr val="28285E"/>
              </a:buClr>
              <a:buSzPts val="1260"/>
              <a:buFont typeface="+mn-lt"/>
              <a:buChar char="●"/>
            </a:pPr>
            <a:r>
              <a:rPr sz="1400" b="1">
                <a:solidFill>
                  <a:schemeClr val="tx1"/>
                </a:solidFill>
              </a:rPr>
              <a:t>The artifact satisfies the task's postcondition.</a:t>
            </a:r>
            <a:r>
              <a:rPr sz="1400" b="0">
                <a:solidFill>
                  <a:schemeClr val="tx1"/>
                </a:solidFill>
              </a:rPr>
              <a:t> No trace event establishes this.</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trace records the outcome of the acceptance checks. It does not establish that the patch is correct.</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model's claim that it has finished is a proposal. The runtime applies completion rules and sets the status.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Terminal statuses and trace closure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trace writer accepts five terminal statuses. Normal closure without a terminal event raises </a:t>
            </a:r>
            <a:r>
              <a:rPr sz="1400" b="0">
                <a:solidFill>
                  <a:srgbClr val="28285E"/>
                </a:solidFill>
                <a:latin typeface="Maple Mono NF"/>
              </a:rPr>
              <a:t>NoTerminalStatus</a:t>
            </a:r>
            <a:r>
              <a:rPr sz="1400" b="1">
                <a:solidFill>
                  <a:srgbClr val="28285E"/>
                </a:solidFill>
              </a:rPr>
              <a:t>.</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trace.py, lines 36 to 47 and 100 to 101. Comments omitted.</a:t>
            </a:r>
          </a:p>
        </p:txBody>
      </p:sp>
      <p:sp>
        <p:nvSpPr>
          <p:cNvPr id="5" name="CodeWindow"/>
          <p:cNvSpPr/>
          <p:nvPr/>
        </p:nvSpPr>
        <p:spPr>
          <a:xfrm>
            <a:off x="319251" y="16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890000"/>
          </a:xfrm>
          <a:prstGeom prst="rect">
            <a:avLst/>
          </a:prstGeom>
          <a:noFill/>
        </p:spPr>
        <p:txBody>
          <a:bodyPr wrap="none" lIns="0" tIns="0" rIns="0" bIns="0" anchor="t">
            <a:spAutoFit/>
          </a:bodyPr>
          <a:lstStyle/>
          <a:p>
            <a:pPr algn="l">
              <a:buNone/>
            </a:pPr>
            <a:r>
              <a:rPr sz="1100" b="0">
                <a:solidFill>
                  <a:schemeClr val="accent2"/>
                </a:solidFill>
                <a:latin typeface="Maple Mono NF"/>
              </a:rPr>
              <a:t>class</a:t>
            </a:r>
            <a:r>
              <a:rPr sz="1100" b="0">
                <a:solidFill>
                  <a:schemeClr val="bg1"/>
                </a:solidFill>
                <a:latin typeface="Maple Mono NF"/>
              </a:rPr>
              <a:t> TerminalStatus(str, Enum):</a:t>
            </a:r>
          </a:p>
          <a:p>
            <a:pPr algn="l">
              <a:buNone/>
            </a:pPr>
            <a:r>
              <a:rPr sz="1100" b="0">
                <a:solidFill>
                  <a:schemeClr val="bg1"/>
                </a:solidFill>
                <a:latin typeface="Maple Mono NF"/>
              </a:rPr>
              <a:t>    ACCEPTED = </a:t>
            </a:r>
            <a:r>
              <a:rPr sz="1100" b="0">
                <a:solidFill>
                  <a:schemeClr val="accent3">
                    <a:lumMod val="55000"/>
                    <a:lumOff val="45000"/>
                  </a:schemeClr>
                </a:solidFill>
                <a:latin typeface="Maple Mono NF"/>
              </a:rPr>
              <a:t>"accepted"</a:t>
            </a:r>
          </a:p>
          <a:p>
            <a:pPr algn="l">
              <a:buNone/>
            </a:pPr>
            <a:r>
              <a:rPr sz="1100" b="0">
                <a:solidFill>
                  <a:schemeClr val="bg1"/>
                </a:solidFill>
                <a:latin typeface="Maple Mono NF"/>
              </a:rPr>
              <a:t>    REJECTED = </a:t>
            </a:r>
            <a:r>
              <a:rPr sz="1100" b="0">
                <a:solidFill>
                  <a:schemeClr val="accent3">
                    <a:lumMod val="55000"/>
                    <a:lumOff val="45000"/>
                  </a:schemeClr>
                </a:solidFill>
                <a:latin typeface="Maple Mono NF"/>
              </a:rPr>
              <a:t>"rejected"</a:t>
            </a:r>
          </a:p>
          <a:p>
            <a:pPr algn="l">
              <a:buNone/>
            </a:pPr>
            <a:r>
              <a:rPr sz="1100" b="0">
                <a:solidFill>
                  <a:schemeClr val="bg1"/>
                </a:solidFill>
                <a:latin typeface="Maple Mono NF"/>
              </a:rPr>
              <a:t>    BUDGET_EXHAUSTED = </a:t>
            </a:r>
            <a:r>
              <a:rPr sz="1100" b="0">
                <a:solidFill>
                  <a:schemeClr val="accent3">
                    <a:lumMod val="55000"/>
                    <a:lumOff val="45000"/>
                  </a:schemeClr>
                </a:solidFill>
                <a:latin typeface="Maple Mono NF"/>
              </a:rPr>
              <a:t>"budget_exhausted"</a:t>
            </a:r>
          </a:p>
          <a:p>
            <a:pPr algn="l">
              <a:buNone/>
            </a:pPr>
            <a:r>
              <a:rPr sz="1100" b="0">
                <a:solidFill>
                  <a:schemeClr val="bg1"/>
                </a:solidFill>
                <a:latin typeface="Maple Mono NF"/>
              </a:rPr>
              <a:t>    NO_PROGRESS = </a:t>
            </a:r>
            <a:r>
              <a:rPr sz="1100" b="0">
                <a:solidFill>
                  <a:schemeClr val="accent3">
                    <a:lumMod val="55000"/>
                    <a:lumOff val="45000"/>
                  </a:schemeClr>
                </a:solidFill>
                <a:latin typeface="Maple Mono NF"/>
              </a:rPr>
              <a:t>"no_progress"</a:t>
            </a:r>
          </a:p>
          <a:p>
            <a:pPr algn="l">
              <a:buNone/>
            </a:pPr>
            <a:r>
              <a:rPr sz="1100" b="0">
                <a:solidFill>
                  <a:schemeClr val="bg1"/>
                </a:solidFill>
                <a:latin typeface="Maple Mono NF"/>
              </a:rPr>
              <a:t>    ERROR = </a:t>
            </a:r>
            <a:r>
              <a:rPr sz="1100" b="0">
                <a:solidFill>
                  <a:schemeClr val="accent3">
                    <a:lumMod val="55000"/>
                    <a:lumOff val="45000"/>
                  </a:schemeClr>
                </a:solidFill>
                <a:latin typeface="Maple Mono NF"/>
              </a:rPr>
              <a:t>"error"</a:t>
            </a:r>
          </a:p>
          <a:p>
            <a:pPr algn="l">
              <a:buNone/>
            </a:pPr>
            <a:endParaRPr sz="1100" b="0">
              <a:solidFill>
                <a:schemeClr val="accent3">
                  <a:lumMod val="55000"/>
                  <a:lumOff val="45000"/>
                </a:schemeClr>
              </a:solidFill>
              <a:latin typeface="Maple Mono NF"/>
            </a:endParaRPr>
          </a:p>
          <a:p>
            <a:pPr algn="l">
              <a:buNone/>
            </a:pPr>
            <a:r>
              <a:rPr sz="1100" b="0">
                <a:solidFill>
                  <a:schemeClr val="accent2"/>
                </a:solidFill>
                <a:latin typeface="Maple Mono NF"/>
              </a:rPr>
              <a:t>class</a:t>
            </a:r>
            <a:r>
              <a:rPr sz="1100" b="0">
                <a:solidFill>
                  <a:schemeClr val="bg1"/>
                </a:solidFill>
                <a:latin typeface="Maple Mono NF"/>
              </a:rPr>
              <a:t> NoTerminalStatus(Exception):</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"""A run was closed without stating how it ended."""</a:t>
            </a:r>
          </a:p>
        </p:txBody>
      </p:sp>
      <p:sp>
        <p:nvSpPr>
          <p:cNvPr id="10" name="Rectangle 9"/>
          <p:cNvSpPr/>
          <p:nvPr/>
        </p:nvSpPr>
        <p:spPr>
          <a:xfrm>
            <a:off x="319251" y="413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 missing terminal event at normal trace closure indicates an instrumentation defect.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interpretations of a trace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When an exception escapes, the writer records error, then names the exception. </a:t>
            </a:r>
            <a:r>
              <a:rPr sz="1400" b="0">
                <a:solidFill>
                  <a:srgbClr val="28285E"/>
                </a:solidFill>
                <a:latin typeface="Maple Mono NF"/>
              </a:rPr>
              <a:t>SIGKILL</a:t>
            </a:r>
            <a:r>
              <a:rPr sz="1400" b="1">
                <a:solidFill>
                  <a:srgbClr val="28285E"/>
                </a:solidFill>
              </a:rPr>
              <a:t> runs no handler.</a:t>
            </a:r>
          </a:p>
        </p:txBody>
      </p:sp>
      <p:graphicFrame>
        <p:nvGraphicFramePr>
          <p:cNvPr id="4" name="Table 3"/>
          <p:cNvGraphicFramePr>
            <a:graphicFrameLocks noGrp="1"/>
          </p:cNvGraphicFramePr>
          <p:nvPr/>
        </p:nvGraphicFramePr>
        <p:xfrm>
          <a:off x="319251" y="1390000"/>
          <a:ext cx="6014545" cy="2089684"/>
        </p:xfrm>
        <a:graphic>
          <a:graphicData uri="http://schemas.openxmlformats.org/drawingml/2006/table">
            <a:tbl>
              <a:tblPr firstRow="1" bandRow="1">
                <a:tableStyleId>{5C22544A-7EE6-4342-B048-85BDC9FD1C3A}</a:tableStyleId>
              </a:tblPr>
              <a:tblGrid>
                <a:gridCol w="2000000">
                  <a:extLst>
                    <a:ext uri="{9D8B030D-6E8A-4147-A177-3AD203B41FA5}">
                      <a16:colId xmlns:a16="http://schemas.microsoft.com/office/drawing/2014/main" val="20000"/>
                    </a:ext>
                  </a:extLst>
                </a:gridCol>
                <a:gridCol w="4014545">
                  <a:extLst>
                    <a:ext uri="{9D8B030D-6E8A-4147-A177-3AD203B41FA5}">
                      <a16:colId xmlns:a16="http://schemas.microsoft.com/office/drawing/2014/main" val="20001"/>
                    </a:ext>
                  </a:extLst>
                </a:gridCol>
              </a:tblGrid>
              <a:tr h="300000">
                <a:tc>
                  <a:txBody>
                    <a:bodyPr/>
                    <a:lstStyle/>
                    <a:p>
                      <a:pPr>
                        <a:buNone/>
                      </a:pPr>
                      <a:r>
                        <a:rPr sz="1100" b="1">
                          <a:solidFill>
                            <a:schemeClr val="tx1"/>
                          </a:solidFill>
                        </a:rPr>
                        <a:t>What the trace records</a:t>
                      </a:r>
                    </a:p>
                  </a:txBody>
                  <a:tcPr marL="95250" marR="95250" marT="47625" marB="47625">
                    <a:lnB w="12700" cap="flat" cmpd="sng" algn="ctr">
                      <a:solidFill>
                        <a:schemeClr val="tx1"/>
                      </a:solidFill>
                    </a:lnB>
                    <a:noFill/>
                  </a:tcPr>
                </a:tc>
                <a:tc>
                  <a:txBody>
                    <a:bodyPr/>
                    <a:lstStyle/>
                    <a:p>
                      <a:pPr>
                        <a:buNone/>
                      </a:pPr>
                      <a:r>
                        <a:rPr sz="1100" b="1">
                          <a:solidFill>
                            <a:schemeClr val="tx1"/>
                          </a:solidFill>
                        </a:rPr>
                        <a:t>What it supports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A verdict, then a terminal event with status accepted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Execution terminated and the acceptance procedure passed. The trace does not establish that the patch meets the task's postcondition.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A terminal event with a stop 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Execution terminated without acceptance, with partial evidence and the stated reason. For error, the next record names the exception.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No terminal 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trace does not establish termination. The run may still be active, or the process may have been killed without running a handler.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3669684"/>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Table 5 in the notes. Calling a missing terminal event error assigns a cause without evidence.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recorded repair after failed checks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In run </a:t>
            </a:r>
            <a:r>
              <a:rPr sz="1400" b="0">
                <a:solidFill>
                  <a:srgbClr val="28285E"/>
                </a:solidFill>
                <a:latin typeface="Maple Mono NF"/>
              </a:rPr>
              <a:t>28e37a00</a:t>
            </a:r>
            <a:r>
              <a:rPr sz="1400" b="1">
                <a:solidFill>
                  <a:srgbClr val="28285E"/>
                </a:solidFill>
              </a:rPr>
              <a:t>, the first patch applies but misses the flagged line, and the rescan still reports the finding.</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0">
                <a:solidFill>
                  <a:srgbClr val="28285E"/>
                </a:solidFill>
                <a:latin typeface="Maple Mono NF"/>
              </a:rPr>
              <a:t>28e37a00</a:t>
            </a:r>
            <a:r>
              <a:rPr sz="1200" b="1">
                <a:solidFill>
                  <a:srgbClr val="28285E"/>
                </a:solidFill>
              </a:rPr>
              <a:t>, steps 25–26. Reasons abbreviated</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680000"/>
          </a:xfrm>
          <a:prstGeom prst="rect">
            <a:avLst/>
          </a:prstGeom>
          <a:noFill/>
        </p:spPr>
        <p:txBody>
          <a:bodyPr wrap="none" lIns="0" tIns="0" rIns="0" bIns="0" anchor="t">
            <a:spAutoFit/>
          </a:bodyPr>
          <a:lstStyle/>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25</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"state_change"</a:t>
            </a:r>
            <a:r>
              <a:rPr sz="1100" b="0">
                <a:solidFill>
                  <a:schemeClr val="bg1"/>
                </a:solidFill>
                <a:latin typeface="Maple Mono NF"/>
              </a:rPr>
              <a:t>, </a:t>
            </a:r>
            <a:r>
              <a:rPr sz="1100" b="0">
                <a:solidFill>
                  <a:schemeClr val="accent2"/>
                </a:solidFill>
                <a:latin typeface="Maple Mono NF"/>
              </a:rPr>
              <a:t>"node"</a:t>
            </a:r>
            <a:r>
              <a:rPr sz="1100" b="0">
                <a:solidFill>
                  <a:schemeClr val="bg1"/>
                </a:solidFill>
                <a:latin typeface="Maple Mono NF"/>
              </a:rPr>
              <a:t>: </a:t>
            </a:r>
            <a:r>
              <a:rPr sz="1100" b="0">
                <a:solidFill>
                  <a:schemeClr val="accent3">
                    <a:lumMod val="55000"/>
                    <a:lumOff val="45000"/>
                  </a:schemeClr>
                </a:solidFill>
                <a:latin typeface="Maple Mono NF"/>
              </a:rPr>
              <a:t>"submit"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"checks"</a:t>
            </a:r>
            <a:r>
              <a:rPr sz="1100" b="0">
                <a:solidFill>
                  <a:schemeClr val="bg1"/>
                </a:solidFill>
                <a:latin typeface="Maple Mono NF"/>
              </a:rPr>
              <a:t>: {</a:t>
            </a:r>
            <a:r>
              <a:rPr sz="1100" b="0">
                <a:solidFill>
                  <a:schemeClr val="accent2"/>
                </a:solidFill>
                <a:latin typeface="Maple Mono NF"/>
              </a:rPr>
              <a:t>"applies"</a:t>
            </a:r>
            <a:r>
              <a:rPr sz="1100" b="0">
                <a:solidFill>
                  <a:schemeClr val="bg1"/>
                </a:solidFill>
                <a:latin typeface="Maple Mono NF"/>
              </a:rPr>
              <a:t>: </a:t>
            </a:r>
            <a:r>
              <a:rPr sz="1100" b="0">
                <a:solidFill>
                  <a:schemeClr val="accent5">
                    <a:lumMod val="45000"/>
                    <a:lumOff val="55000"/>
                  </a:schemeClr>
                </a:solidFill>
                <a:latin typeface="Maple Mono NF"/>
              </a:rPr>
              <a:t>true</a:t>
            </a:r>
            <a:r>
              <a:rPr sz="1100" b="0">
                <a:solidFill>
                  <a:schemeClr val="bg1"/>
                </a:solidFill>
                <a:latin typeface="Maple Mono NF"/>
              </a:rPr>
              <a:t>, </a:t>
            </a:r>
            <a:r>
              <a:rPr sz="1100" b="0">
                <a:solidFill>
                  <a:schemeClr val="accent2"/>
                </a:solidFill>
                <a:latin typeface="Maple Mono NF"/>
              </a:rPr>
              <a:t>"touches_line"</a:t>
            </a:r>
            <a:r>
              <a:rPr sz="1100" b="0">
                <a:solidFill>
                  <a:schemeClr val="bg1"/>
                </a:solidFill>
                <a:latin typeface="Maple Mono NF"/>
              </a:rPr>
              <a:t>: </a:t>
            </a:r>
            <a:r>
              <a:rPr sz="1100" b="0">
                <a:solidFill>
                  <a:schemeClr val="accent5">
                    <a:lumMod val="45000"/>
                    <a:lumOff val="55000"/>
                  </a:schemeClr>
                </a:solidFill>
                <a:latin typeface="Maple Mono NF"/>
              </a:rPr>
              <a:t>false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"rescan_clean"</a:t>
            </a:r>
            <a:r>
              <a:rPr sz="1100" b="0">
                <a:solidFill>
                  <a:schemeClr val="bg1"/>
                </a:solidFill>
                <a:latin typeface="Maple Mono NF"/>
              </a:rPr>
              <a:t>: </a:t>
            </a:r>
            <a:r>
              <a:rPr sz="1100" b="0">
                <a:solidFill>
                  <a:schemeClr val="accent5">
                    <a:lumMod val="45000"/>
                    <a:lumOff val="55000"/>
                  </a:schemeClr>
                </a:solidFill>
                <a:latin typeface="Maple Mono NF"/>
              </a:rPr>
              <a:t>false</a:t>
            </a:r>
            <a:r>
              <a:rPr sz="1100" b="0">
                <a:solidFill>
                  <a:schemeClr val="bg1"/>
                </a:solidFill>
                <a:latin typeface="Maple Mono NF"/>
              </a:rPr>
              <a:t>, </a:t>
            </a:r>
            <a:r>
              <a:rPr sz="1100" b="0">
                <a:solidFill>
                  <a:schemeClr val="accent2"/>
                </a:solidFill>
                <a:latin typeface="Maple Mono NF"/>
              </a:rPr>
              <a:t>"reasons"</a:t>
            </a:r>
            <a:r>
              <a:rPr sz="1100" b="0">
                <a:solidFill>
                  <a:schemeClr val="bg1"/>
                </a:solidFill>
                <a:latin typeface="Maple Mono NF"/>
              </a:rPr>
              <a:t>: [...]}}</a:t>
            </a:r>
          </a:p>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26</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"routing"</a:t>
            </a:r>
            <a:r>
              <a:rPr sz="1100" b="0">
                <a:solidFill>
                  <a:schemeClr val="bg1"/>
                </a:solidFill>
                <a:latin typeface="Maple Mono NF"/>
              </a:rPr>
              <a:t>, </a:t>
            </a:r>
            <a:r>
              <a:rPr sz="1100" b="0">
                <a:solidFill>
                  <a:schemeClr val="accent2"/>
                </a:solidFill>
                <a:latin typeface="Maple Mono NF"/>
              </a:rPr>
              <a:t>"decision"</a:t>
            </a:r>
            <a:r>
              <a:rPr sz="1100" b="0">
                <a:solidFill>
                  <a:schemeClr val="bg1"/>
                </a:solidFill>
                <a:latin typeface="Maple Mono NF"/>
              </a:rPr>
              <a:t>: </a:t>
            </a:r>
            <a:r>
              <a:rPr sz="1100" b="0">
                <a:solidFill>
                  <a:schemeClr val="accent3">
                    <a:lumMod val="55000"/>
                    <a:lumOff val="45000"/>
                  </a:schemeClr>
                </a:solidFill>
                <a:latin typeface="Maple Mono NF"/>
              </a:rPr>
              <a:t>"controller"</a:t>
            </a:r>
            <a:r>
              <a:rPr sz="1100" b="0">
                <a:solidFill>
                  <a:schemeClr val="bg1"/>
                </a:solidFill>
                <a:latin typeface="Maple Mono NF"/>
              </a:rPr>
              <a:t>,</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"by": "runtime"</a:t>
            </a:r>
            <a:r>
              <a:rPr sz="1100" b="0">
                <a:solidFill>
                  <a:schemeClr val="bg1"/>
                </a:solidFill>
                <a:latin typeface="Maple Mono NF"/>
              </a:rPr>
              <a:t>, </a:t>
            </a:r>
            <a:r>
              <a:rPr sz="1100" b="0">
                <a:solidFill>
                  <a:schemeClr val="accent2"/>
                </a:solidFill>
                <a:latin typeface="Maple Mono NF"/>
              </a:rPr>
              <a:t>"reason"</a:t>
            </a:r>
            <a:r>
              <a:rPr sz="1100" b="0">
                <a:solidFill>
                  <a:schemeClr val="bg1"/>
                </a:solidFill>
                <a:latin typeface="Maple Mono NF"/>
              </a:rPr>
              <a:t>: </a:t>
            </a:r>
            <a:r>
              <a:rPr sz="1100" b="0">
                <a:solidFill>
                  <a:schemeClr val="accent3">
                    <a:lumMod val="55000"/>
                    <a:lumOff val="45000"/>
                  </a:schemeClr>
                </a:solidFill>
                <a:latin typeface="Maple Mono NF"/>
              </a:rPr>
              <a:t>"mechanical checks failed"</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"reasons"</a:t>
            </a:r>
            <a:r>
              <a:rPr sz="1100" b="0">
                <a:solidFill>
                  <a:schemeClr val="bg1"/>
                </a:solidFill>
                <a:latin typeface="Maple Mono NF"/>
              </a:rPr>
              <a:t>: ["the edit did not touch</a:t>
            </a:r>
          </a:p>
          <a:p>
            <a:pPr algn="l">
              <a:buNone/>
            </a:pPr>
            <a:r>
              <a:rPr sz="1100" b="0">
                <a:solidFill>
                  <a:schemeClr val="bg1"/>
                </a:solidFill>
                <a:latin typeface="Maple Mono NF"/>
              </a:rPr>
              <a:t>               testcode/BenchmarkTest01179.py:</a:t>
            </a:r>
            <a:r>
              <a:rPr sz="1100" b="0">
                <a:solidFill>
                  <a:schemeClr val="accent5">
                    <a:lumMod val="45000"/>
                    <a:lumOff val="55000"/>
                  </a:schemeClr>
                </a:solidFill>
                <a:latin typeface="Maple Mono NF"/>
              </a:rPr>
              <a:t>31</a:t>
            </a:r>
            <a:r>
              <a:rPr sz="1100" b="0">
                <a:solidFill>
                  <a:schemeClr val="bg1"/>
                </a:solidFill>
                <a:latin typeface="Maple Mono NF"/>
              </a:rPr>
              <a:t> ...",</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"semgrep: ... path-traversal-open is still ..."</a:t>
            </a:r>
            <a:r>
              <a:rPr sz="1100" b="0">
                <a:solidFill>
                  <a:schemeClr val="bg1"/>
                </a:solidFill>
                <a:latin typeface="Maple Mono NF"/>
              </a:rPr>
              <a:t>]}</a:t>
            </a:r>
          </a:p>
        </p:txBody>
      </p:sp>
      <p:sp>
        <p:nvSpPr>
          <p:cNvPr id="10" name="Rectangle 9"/>
          <p:cNvSpPr/>
          <p:nvPr/>
        </p:nvSpPr>
        <p:spPr>
          <a:xfrm>
            <a:off x="319251" y="392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controller receives both reasons as a conversation message and submits again after three tool rounds.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recorded keyboard interruption</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After the second failed submission and two more tool rounds, the run is interrupted from the keyboard.</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0">
                <a:solidFill>
                  <a:srgbClr val="28285E"/>
                </a:solidFill>
                <a:latin typeface="Maple Mono NF"/>
              </a:rPr>
              <a:t>28e37a00</a:t>
            </a:r>
            <a:r>
              <a:rPr sz="1200" b="1">
                <a:solidFill>
                  <a:srgbClr val="28285E"/>
                </a:solidFill>
              </a:rPr>
              <a:t>, steps 50–52. Ts and run_id omitted</a:t>
            </a:r>
          </a:p>
        </p:txBody>
      </p:sp>
      <p:sp>
        <p:nvSpPr>
          <p:cNvPr id="5" name="CodeWindow"/>
          <p:cNvSpPr/>
          <p:nvPr/>
        </p:nvSpPr>
        <p:spPr>
          <a:xfrm>
            <a:off x="319251" y="1650000"/>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470000"/>
          </a:xfrm>
          <a:prstGeom prst="rect">
            <a:avLst/>
          </a:prstGeom>
          <a:noFill/>
        </p:spPr>
        <p:txBody>
          <a:bodyPr wrap="none" lIns="0" tIns="0" rIns="0" bIns="0" anchor="t">
            <a:spAutoFit/>
          </a:bodyPr>
          <a:lstStyle/>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50</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"tool_result"</a:t>
            </a:r>
            <a:r>
              <a:rPr sz="1100" b="0">
                <a:solidFill>
                  <a:schemeClr val="bg1"/>
                </a:solidFill>
                <a:latin typeface="Maple Mono NF"/>
              </a:rPr>
              <a:t>, </a:t>
            </a:r>
            <a:r>
              <a:rPr sz="1100" b="0">
                <a:solidFill>
                  <a:schemeClr val="accent2"/>
                </a:solidFill>
                <a:latin typeface="Maple Mono NF"/>
              </a:rPr>
              <a:t>"tool"</a:t>
            </a:r>
            <a:r>
              <a:rPr sz="1100" b="0">
                <a:solidFill>
                  <a:schemeClr val="bg1"/>
                </a:solidFill>
                <a:latin typeface="Maple Mono NF"/>
              </a:rPr>
              <a:t>: </a:t>
            </a:r>
            <a:r>
              <a:rPr sz="1100" b="0">
                <a:solidFill>
                  <a:schemeClr val="accent3">
                    <a:lumMod val="55000"/>
                    <a:lumOff val="45000"/>
                  </a:schemeClr>
                </a:solidFill>
                <a:latin typeface="Maple Mono NF"/>
              </a:rPr>
              <a:t>"read_file"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"ok"</a:t>
            </a:r>
            <a:r>
              <a:rPr sz="1100" b="0">
                <a:solidFill>
                  <a:schemeClr val="bg1"/>
                </a:solidFill>
                <a:latin typeface="Maple Mono NF"/>
              </a:rPr>
              <a:t>: </a:t>
            </a:r>
            <a:r>
              <a:rPr sz="1100" b="0">
                <a:solidFill>
                  <a:schemeClr val="accent5">
                    <a:lumMod val="45000"/>
                    <a:lumOff val="55000"/>
                  </a:schemeClr>
                </a:solidFill>
                <a:latin typeface="Maple Mono NF"/>
              </a:rPr>
              <a:t>true</a:t>
            </a:r>
            <a:r>
              <a:rPr sz="1100" b="0">
                <a:solidFill>
                  <a:schemeClr val="bg1"/>
                </a:solidFill>
                <a:latin typeface="Maple Mono NF"/>
              </a:rPr>
              <a:t>, </a:t>
            </a:r>
            <a:r>
              <a:rPr sz="1100" b="0">
                <a:solidFill>
                  <a:schemeClr val="accent2"/>
                </a:solidFill>
                <a:latin typeface="Maple Mono NF"/>
              </a:rPr>
              <a:t>"chars"</a:t>
            </a:r>
            <a:r>
              <a:rPr sz="1100" b="0">
                <a:solidFill>
                  <a:schemeClr val="bg1"/>
                </a:solidFill>
                <a:latin typeface="Maple Mono NF"/>
              </a:rPr>
              <a:t>: </a:t>
            </a:r>
            <a:r>
              <a:rPr sz="1100" b="0">
                <a:solidFill>
                  <a:schemeClr val="accent5">
                    <a:lumMod val="45000"/>
                    <a:lumOff val="55000"/>
                  </a:schemeClr>
                </a:solidFill>
                <a:latin typeface="Maple Mono NF"/>
              </a:rPr>
              <a:t>1081</a:t>
            </a:r>
            <a:r>
              <a:rPr sz="1100" b="0">
                <a:solidFill>
                  <a:schemeClr val="bg1"/>
                </a:solidFill>
                <a:latin typeface="Maple Mono NF"/>
              </a:rPr>
              <a:t>}</a:t>
            </a:r>
          </a:p>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51</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"terminal"</a:t>
            </a:r>
            <a:r>
              <a:rPr sz="1100" b="0">
                <a:solidFill>
                  <a:schemeClr val="bg1"/>
                </a:solidFill>
                <a:latin typeface="Maple Mono NF"/>
              </a:rPr>
              <a:t>, </a:t>
            </a:r>
            <a:r>
              <a:rPr sz="1100" b="1">
                <a:solidFill>
                  <a:schemeClr val="accent4">
                    <a:lumMod val="70000"/>
                    <a:lumOff val="30000"/>
                  </a:schemeClr>
                </a:solidFill>
                <a:latin typeface="Maple Mono NF"/>
              </a:rPr>
              <a:t>"status": "error"</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"usage_total"</a:t>
            </a:r>
            <a:r>
              <a:rPr sz="1100" b="0">
                <a:solidFill>
                  <a:schemeClr val="bg1"/>
                </a:solidFill>
                <a:latin typeface="Maple Mono NF"/>
              </a:rPr>
              <a:t>: {</a:t>
            </a:r>
            <a:r>
              <a:rPr sz="1100" b="0">
                <a:solidFill>
                  <a:schemeClr val="accent2"/>
                </a:solidFill>
                <a:latin typeface="Maple Mono NF"/>
              </a:rPr>
              <a:t>"input"</a:t>
            </a:r>
            <a:r>
              <a:rPr sz="1100" b="0">
                <a:solidFill>
                  <a:schemeClr val="bg1"/>
                </a:solidFill>
                <a:latin typeface="Maple Mono NF"/>
              </a:rPr>
              <a:t>: </a:t>
            </a:r>
            <a:r>
              <a:rPr sz="1100" b="0">
                <a:solidFill>
                  <a:schemeClr val="accent5">
                    <a:lumMod val="45000"/>
                    <a:lumOff val="55000"/>
                  </a:schemeClr>
                </a:solidFill>
                <a:latin typeface="Maple Mono NF"/>
              </a:rPr>
              <a:t>67586</a:t>
            </a:r>
            <a:r>
              <a:rPr sz="1100" b="0">
                <a:solidFill>
                  <a:schemeClr val="bg1"/>
                </a:solidFill>
                <a:latin typeface="Maple Mono NF"/>
              </a:rPr>
              <a:t>, </a:t>
            </a:r>
            <a:r>
              <a:rPr sz="1100" b="0">
                <a:solidFill>
                  <a:schemeClr val="accent2"/>
                </a:solidFill>
                <a:latin typeface="Maple Mono NF"/>
              </a:rPr>
              <a:t>"output"</a:t>
            </a:r>
            <a:r>
              <a:rPr sz="1100" b="0">
                <a:solidFill>
                  <a:schemeClr val="bg1"/>
                </a:solidFill>
                <a:latin typeface="Maple Mono NF"/>
              </a:rPr>
              <a:t>: </a:t>
            </a:r>
            <a:r>
              <a:rPr sz="1100" b="0">
                <a:solidFill>
                  <a:schemeClr val="accent5">
                    <a:lumMod val="45000"/>
                    <a:lumOff val="55000"/>
                  </a:schemeClr>
                </a:solidFill>
                <a:latin typeface="Maple Mono NF"/>
              </a:rPr>
              <a:t>10380</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"cache_read"</a:t>
            </a:r>
            <a:r>
              <a:rPr sz="1100" b="0">
                <a:solidFill>
                  <a:schemeClr val="bg1"/>
                </a:solidFill>
                <a:latin typeface="Maple Mono NF"/>
              </a:rPr>
              <a:t>: </a:t>
            </a:r>
            <a:r>
              <a:rPr sz="1100" b="0">
                <a:solidFill>
                  <a:schemeClr val="accent5">
                    <a:lumMod val="45000"/>
                    <a:lumOff val="55000"/>
                  </a:schemeClr>
                </a:solidFill>
                <a:latin typeface="Maple Mono NF"/>
              </a:rPr>
              <a:t>0</a:t>
            </a:r>
            <a:r>
              <a:rPr sz="1100" b="0">
                <a:solidFill>
                  <a:schemeClr val="bg1"/>
                </a:solidFill>
                <a:latin typeface="Maple Mono NF"/>
              </a:rPr>
              <a:t>, </a:t>
            </a:r>
            <a:r>
              <a:rPr sz="1100" b="0">
                <a:solidFill>
                  <a:schemeClr val="accent2"/>
                </a:solidFill>
                <a:latin typeface="Maple Mono NF"/>
              </a:rPr>
              <a:t>"cache_write"</a:t>
            </a:r>
            <a:r>
              <a:rPr sz="1100" b="0">
                <a:solidFill>
                  <a:schemeClr val="bg1"/>
                </a:solidFill>
                <a:latin typeface="Maple Mono NF"/>
              </a:rPr>
              <a:t>: </a:t>
            </a:r>
            <a:r>
              <a:rPr sz="1100" b="0">
                <a:solidFill>
                  <a:schemeClr val="accent5">
                    <a:lumMod val="45000"/>
                    <a:lumOff val="55000"/>
                  </a:schemeClr>
                </a:solidFill>
                <a:latin typeface="Maple Mono NF"/>
              </a:rPr>
              <a:t>0</a:t>
            </a:r>
            <a:r>
              <a:rPr sz="1100" b="0">
                <a:solidFill>
                  <a:schemeClr val="bg1"/>
                </a:solidFill>
                <a:latin typeface="Maple Mono NF"/>
              </a:rPr>
              <a:t>}}</a:t>
            </a:r>
          </a:p>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52</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"state_change"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"exception"</a:t>
            </a:r>
            <a:r>
              <a:rPr sz="1100" b="0">
                <a:solidFill>
                  <a:schemeClr val="bg1"/>
                </a:solidFill>
                <a:latin typeface="Maple Mono NF"/>
              </a:rPr>
              <a:t>: </a:t>
            </a:r>
            <a:r>
              <a:rPr sz="1100" b="0">
                <a:solidFill>
                  <a:schemeClr val="accent3">
                    <a:lumMod val="55000"/>
                    <a:lumOff val="45000"/>
                  </a:schemeClr>
                </a:solidFill>
                <a:latin typeface="Maple Mono NF"/>
              </a:rPr>
              <a:t>"KeyboardInterrupt"</a:t>
            </a:r>
            <a:r>
              <a:rPr sz="1100" b="0">
                <a:solidFill>
                  <a:schemeClr val="bg1"/>
                </a:solidFill>
                <a:latin typeface="Maple Mono NF"/>
              </a:rPr>
              <a:t>, </a:t>
            </a:r>
            <a:r>
              <a:rPr sz="1100" b="0">
                <a:solidFill>
                  <a:schemeClr val="accent2"/>
                </a:solidFill>
                <a:latin typeface="Maple Mono NF"/>
              </a:rPr>
              <a:t>"message"</a:t>
            </a:r>
            <a:r>
              <a:rPr sz="1100" b="0">
                <a:solidFill>
                  <a:schemeClr val="bg1"/>
                </a:solidFill>
                <a:latin typeface="Maple Mono NF"/>
              </a:rPr>
              <a:t>: </a:t>
            </a:r>
            <a:r>
              <a:rPr sz="1100" b="0">
                <a:solidFill>
                  <a:schemeClr val="accent3">
                    <a:lumMod val="55000"/>
                    <a:lumOff val="45000"/>
                  </a:schemeClr>
                </a:solidFill>
                <a:latin typeface="Maple Mono NF"/>
              </a:rPr>
              <a:t>""</a:t>
            </a:r>
            <a:r>
              <a:rPr sz="1100" b="0">
                <a:solidFill>
                  <a:schemeClr val="bg1"/>
                </a:solidFill>
                <a:latin typeface="Maple Mono NF"/>
              </a:rPr>
              <a:t>}</a:t>
            </a:r>
          </a:p>
        </p:txBody>
      </p:sp>
      <p:sp>
        <p:nvSpPr>
          <p:cNvPr id="10" name="Rectangle 9"/>
          <p:cNvSpPr/>
          <p:nvPr/>
        </p:nvSpPr>
        <p:spPr>
          <a:xfrm>
            <a:off x="319251" y="371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 </a:t>
            </a:r>
            <a:r>
              <a:rPr sz="1200" b="0">
                <a:solidFill>
                  <a:schemeClr val="tx2"/>
                </a:solidFill>
                <a:latin typeface="Maple Mono NF"/>
              </a:rPr>
              <a:t>SIGKILL</a:t>
            </a:r>
            <a:r>
              <a:rPr sz="1200" b="1">
                <a:solidFill>
                  <a:schemeClr val="tx2"/>
                </a:solidFill>
              </a:rPr>
              <a:t> at the same point would leave the file ending at step 50, without terminal or exception records.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000" y="1863864"/>
            <a:ext cx="6000000" cy="1415772"/>
          </a:xfrm>
          <a:prstGeom prst="rect">
            <a:avLst/>
          </a:prstGeom>
          <a:noFill/>
        </p:spPr>
        <p:txBody>
          <a:bodyPr wrap="square" anchor="ctr">
            <a:spAutoFit/>
          </a:bodyPr>
          <a:lstStyle/>
          <a:p>
            <a:pPr algn="ctr"/>
            <a:r>
              <a:rPr sz="4000" b="1">
                <a:solidFill>
                  <a:schemeClr val="tx2"/>
                </a:solidFill>
                <a:latin typeface="+mj-lt"/>
              </a:rPr>
              <a:t>Scheduling, tools, and execution authority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Supersteps: when an update becomes visible</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Routing selects the next location. Scheduling determines when it runs and which state it reads.</a:t>
            </a:r>
          </a:p>
          <a:p>
            <a:pPr marL="400050" indent="-285750">
              <a:spcBef>
                <a:spcPts val="600"/>
              </a:spcBef>
              <a:spcAft>
                <a:spcPts val="600"/>
              </a:spcAft>
              <a:buClr>
                <a:srgbClr val="28285E"/>
              </a:buClr>
              <a:buSzPts val="1260"/>
              <a:buFont typeface="+mn-lt"/>
              <a:buChar char="●"/>
            </a:pPr>
            <a:r>
              <a:rPr sz="1400" b="1">
                <a:solidFill>
                  <a:schemeClr val="tx1"/>
                </a:solidFill>
              </a:rPr>
              <a:t>Planning </a:t>
            </a:r>
            <a:r>
              <a:rPr sz="1400" b="0">
                <a:solidFill>
                  <a:schemeClr val="tx1"/>
                </a:solidFill>
              </a:rPr>
              <a:t>selects the computations whose inputs were written in the previous superstep.</a:t>
            </a:r>
          </a:p>
          <a:p>
            <a:pPr marL="400050" indent="-285750">
              <a:spcBef>
                <a:spcPts val="600"/>
              </a:spcBef>
              <a:spcAft>
                <a:spcPts val="600"/>
              </a:spcAft>
              <a:buClr>
                <a:srgbClr val="28285E"/>
              </a:buClr>
              <a:buSzPts val="1260"/>
              <a:buFont typeface="+mn-lt"/>
              <a:buChar char="●"/>
            </a:pPr>
            <a:r>
              <a:rPr sz="1400" b="1">
                <a:solidFill>
                  <a:schemeClr val="tx1"/>
                </a:solidFill>
              </a:rPr>
              <a:t>Execution</a:t>
            </a:r>
            <a:r>
              <a:rPr sz="1400" b="0">
                <a:solidFill>
                  <a:schemeClr val="tx1"/>
                </a:solidFill>
              </a:rPr>
              <a:t> runs these computations. Their record updates remain invisible to other computations during this phase.</a:t>
            </a:r>
          </a:p>
          <a:p>
            <a:pPr marL="400050" indent="-285750">
              <a:spcBef>
                <a:spcPts val="600"/>
              </a:spcBef>
              <a:spcAft>
                <a:spcPts val="600"/>
              </a:spcAft>
              <a:buClr>
                <a:srgbClr val="28285E"/>
              </a:buClr>
              <a:buSzPts val="1260"/>
              <a:buFont typeface="+mn-lt"/>
              <a:buChar char="●"/>
            </a:pPr>
            <a:r>
              <a:rPr sz="1400" b="1">
                <a:solidFill>
                  <a:schemeClr val="tx1"/>
                </a:solidFill>
              </a:rPr>
              <a:t>Update</a:t>
            </a:r>
            <a:r>
              <a:rPr sz="1400" b="0">
                <a:solidFill>
                  <a:schemeClr val="tx1"/>
                </a:solidFill>
              </a:rPr>
              <a:t> applies the writes through the reducers. The next superstep uses the updated state.</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superstep has planning, execution and update phases. Record updates become visible to other nodes in the next superstep.</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tool can change a file before the superstep ends.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supersteps in the recorded run</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1">
                <a:solidFill>
                  <a:srgbClr val="28285E"/>
                </a:solidFill>
              </a:rPr>
              <a:t>Events 3 and 4 belong to the controller's superstep, and events 5 and 6 to the tools node's.</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0">
                <a:solidFill>
                  <a:srgbClr val="28285E"/>
                </a:solidFill>
                <a:latin typeface="Maple Mono NF"/>
              </a:rPr>
              <a:t>bc284c6b</a:t>
            </a:r>
            <a:r>
              <a:rPr sz="1200" b="1">
                <a:solidFill>
                  <a:srgbClr val="28285E"/>
                </a:solidFill>
              </a:rPr>
              <a:t>, events 3 to 6. Timestamp, run identifier and thinking omitted.</a:t>
            </a:r>
          </a:p>
        </p:txBody>
      </p:sp>
      <p:sp>
        <p:nvSpPr>
          <p:cNvPr id="5" name="CodeWindow"/>
          <p:cNvSpPr/>
          <p:nvPr/>
        </p:nvSpPr>
        <p:spPr>
          <a:xfrm>
            <a:off x="319251" y="1650000"/>
            <a:ext cx="6014545" cy="1927272"/>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527272"/>
          </a:xfrm>
          <a:prstGeom prst="rect">
            <a:avLst/>
          </a:prstGeom>
          <a:noFill/>
        </p:spPr>
        <p:txBody>
          <a:bodyPr wrap="none" lIns="0" tIns="0" rIns="0" bIns="0" anchor="t">
            <a:spAutoFit/>
          </a:bodyPr>
          <a:lstStyle/>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3</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"model_call"</a:t>
            </a:r>
            <a:r>
              <a:rPr sz="1000" b="0">
                <a:solidFill>
                  <a:schemeClr val="bg1"/>
                </a:solidFill>
                <a:latin typeface="Maple Mono NF"/>
              </a:rPr>
              <a:t>, </a:t>
            </a:r>
            <a:r>
              <a:rPr sz="1000" b="0">
                <a:solidFill>
                  <a:schemeClr val="accent2"/>
                </a:solidFill>
                <a:latin typeface="Maple Mono NF"/>
              </a:rPr>
              <a:t>"role"</a:t>
            </a:r>
            <a:r>
              <a:rPr sz="1000" b="0">
                <a:solidFill>
                  <a:schemeClr val="bg1"/>
                </a:solidFill>
                <a:latin typeface="Maple Mono NF"/>
              </a:rPr>
              <a:t>: </a:t>
            </a:r>
            <a:r>
              <a:rPr sz="1000" b="0">
                <a:solidFill>
                  <a:schemeClr val="accent3">
                    <a:lumMod val="55000"/>
                    <a:lumOff val="45000"/>
                  </a:schemeClr>
                </a:solidFill>
                <a:latin typeface="Maple Mono NF"/>
              </a:rPr>
              <a:t>"controller"</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"tool_calls"</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 </a:t>
            </a:r>
            <a:r>
              <a:rPr sz="1000" b="0">
                <a:solidFill>
                  <a:schemeClr val="accent2"/>
                </a:solidFill>
                <a:latin typeface="Maple Mono NF"/>
              </a:rPr>
              <a:t>"usage"</a:t>
            </a:r>
            <a:r>
              <a:rPr sz="1000" b="0">
                <a:solidFill>
                  <a:schemeClr val="bg1"/>
                </a:solidFill>
                <a:latin typeface="Maple Mono NF"/>
              </a:rPr>
              <a:t>: {</a:t>
            </a:r>
            <a:r>
              <a:rPr sz="1000" b="0">
                <a:solidFill>
                  <a:schemeClr val="accent2"/>
                </a:solidFill>
                <a:latin typeface="Maple Mono NF"/>
              </a:rPr>
              <a:t>"input"</a:t>
            </a:r>
            <a:r>
              <a:rPr sz="1000" b="0">
                <a:solidFill>
                  <a:schemeClr val="bg1"/>
                </a:solidFill>
                <a:latin typeface="Maple Mono NF"/>
              </a:rPr>
              <a:t>: </a:t>
            </a:r>
            <a:r>
              <a:rPr sz="1000" b="0">
                <a:solidFill>
                  <a:schemeClr val="accent5">
                    <a:lumMod val="45000"/>
                    <a:lumOff val="55000"/>
                  </a:schemeClr>
                </a:solidFill>
                <a:latin typeface="Maple Mono NF"/>
              </a:rPr>
              <a:t>1284</a:t>
            </a:r>
            <a:r>
              <a:rPr sz="1000" b="0">
                <a:solidFill>
                  <a:schemeClr val="bg1"/>
                </a:solidFill>
                <a:latin typeface="Maple Mono NF"/>
              </a:rPr>
              <a:t>, </a:t>
            </a:r>
            <a:r>
              <a:rPr sz="1000" b="0">
                <a:solidFill>
                  <a:schemeClr val="accent2"/>
                </a:solidFill>
                <a:latin typeface="Maple Mono NF"/>
              </a:rPr>
              <a:t>"output"</a:t>
            </a:r>
            <a:r>
              <a:rPr sz="1000" b="0">
                <a:solidFill>
                  <a:schemeClr val="bg1"/>
                </a:solidFill>
                <a:latin typeface="Maple Mono NF"/>
              </a:rPr>
              <a:t>: </a:t>
            </a:r>
            <a:r>
              <a:rPr sz="1000" b="0">
                <a:solidFill>
                  <a:schemeClr val="accent5">
                    <a:lumMod val="45000"/>
                    <a:lumOff val="55000"/>
                  </a:schemeClr>
                </a:solidFill>
                <a:latin typeface="Maple Mono NF"/>
              </a:rPr>
              <a:t>51</a:t>
            </a:r>
            <a:r>
              <a:rPr sz="1000" b="0">
                <a:solidFill>
                  <a:schemeClr val="bg1"/>
                </a:solidFill>
                <a:latin typeface="Maple Mono NF"/>
              </a:rPr>
              <a:t>}}</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4</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"routing"</a:t>
            </a:r>
            <a:r>
              <a:rPr sz="1000" b="0">
                <a:solidFill>
                  <a:schemeClr val="bg1"/>
                </a:solidFill>
                <a:latin typeface="Maple Mono NF"/>
              </a:rPr>
              <a:t>, </a:t>
            </a:r>
            <a:r>
              <a:rPr sz="1000" b="0">
                <a:solidFill>
                  <a:schemeClr val="accent2"/>
                </a:solidFill>
                <a:latin typeface="Maple Mono NF"/>
              </a:rPr>
              <a:t>"decision"</a:t>
            </a:r>
            <a:r>
              <a:rPr sz="1000" b="0">
                <a:solidFill>
                  <a:schemeClr val="bg1"/>
                </a:solidFill>
                <a:latin typeface="Maple Mono NF"/>
              </a:rPr>
              <a:t>: </a:t>
            </a:r>
            <a:r>
              <a:rPr sz="1000" b="0">
                <a:solidFill>
                  <a:schemeClr val="accent3">
                    <a:lumMod val="55000"/>
                    <a:lumOff val="45000"/>
                  </a:schemeClr>
                </a:solidFill>
                <a:latin typeface="Maple Mono NF"/>
              </a:rPr>
              <a:t>"tools"</a:t>
            </a:r>
            <a:r>
              <a:rPr sz="1000" b="0">
                <a:solidFill>
                  <a:schemeClr val="bg1"/>
                </a:solidFill>
                <a:latin typeface="Maple Mono NF"/>
              </a:rPr>
              <a:t>, </a:t>
            </a:r>
            <a:r>
              <a:rPr sz="1000" b="0">
                <a:solidFill>
                  <a:schemeClr val="accent2"/>
                </a:solidFill>
                <a:latin typeface="Maple Mono NF"/>
              </a:rPr>
              <a:t>"by"</a:t>
            </a:r>
            <a:r>
              <a:rPr sz="1000" b="0">
                <a:solidFill>
                  <a:schemeClr val="bg1"/>
                </a:solidFill>
                <a:latin typeface="Maple Mono NF"/>
              </a:rPr>
              <a:t>: </a:t>
            </a:r>
            <a:r>
              <a:rPr sz="1000" b="0">
                <a:solidFill>
                  <a:schemeClr val="accent3">
                    <a:lumMod val="55000"/>
                    <a:lumOff val="45000"/>
                  </a:schemeClr>
                </a:solidFill>
                <a:latin typeface="Maple Mono NF"/>
              </a:rPr>
              <a:t>"model"</a:t>
            </a:r>
            <a:r>
              <a:rPr sz="1000" b="0">
                <a:solidFill>
                  <a:schemeClr val="bg1"/>
                </a:solidFill>
                <a:latin typeface="Maple Mono NF"/>
              </a:rPr>
              <a:t>}</a:t>
            </a:r>
          </a:p>
          <a:p>
            <a:pPr algn="l">
              <a:buNone/>
            </a:pPr>
            <a:r>
              <a:rPr sz="1000" b="0">
                <a:solidFill>
                  <a:schemeClr val="accent6"/>
                </a:solidFill>
                <a:latin typeface="Maple Mono NF"/>
              </a:rPr>
              <a:t># ours: the next superstep starts here</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5</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"tool_request"</a:t>
            </a:r>
            <a:r>
              <a:rPr sz="1000" b="0">
                <a:solidFill>
                  <a:schemeClr val="bg1"/>
                </a:solidFill>
                <a:latin typeface="Maple Mono NF"/>
              </a:rPr>
              <a:t>, </a:t>
            </a:r>
            <a:r>
              <a:rPr sz="1000" b="0">
                <a:solidFill>
                  <a:schemeClr val="accent2"/>
                </a:solidFill>
                <a:latin typeface="Maple Mono NF"/>
              </a:rPr>
              <a:t>"tool"</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"args"</a:t>
            </a:r>
            <a:r>
              <a:rPr sz="1000" b="0">
                <a:solidFill>
                  <a:schemeClr val="bg1"/>
                </a:solidFill>
                <a:latin typeface="Maple Mono NF"/>
              </a:rPr>
              <a:t>: {</a:t>
            </a:r>
            <a:r>
              <a:rPr sz="1000" b="0">
                <a:solidFill>
                  <a:schemeClr val="accent2"/>
                </a:solidFill>
                <a:latin typeface="Maple Mono NF"/>
              </a:rPr>
              <a:t>"path"</a:t>
            </a:r>
            <a:r>
              <a:rPr sz="1000" b="0">
                <a:solidFill>
                  <a:schemeClr val="bg1"/>
                </a:solidFill>
                <a:latin typeface="Maple Mono NF"/>
              </a:rPr>
              <a:t>: </a:t>
            </a:r>
            <a:r>
              <a:rPr sz="1000" b="0">
                <a:solidFill>
                  <a:schemeClr val="accent3">
                    <a:lumMod val="55000"/>
                    <a:lumOff val="45000"/>
                  </a:schemeClr>
                </a:solidFill>
                <a:latin typeface="Maple Mono NF"/>
              </a:rPr>
              <a:t>"testcode/BenchmarkTest00283.py"</a:t>
            </a:r>
            <a:r>
              <a:rPr sz="1000" b="0">
                <a:solidFill>
                  <a:schemeClr val="bg1"/>
                </a:solidFill>
                <a:latin typeface="Maple Mono NF"/>
              </a:rPr>
              <a:t>}}</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6</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"tool_result"</a:t>
            </a:r>
            <a:r>
              <a:rPr sz="1000" b="0">
                <a:solidFill>
                  <a:schemeClr val="bg1"/>
                </a:solidFill>
                <a:latin typeface="Maple Mono NF"/>
              </a:rPr>
              <a:t>, </a:t>
            </a:r>
            <a:r>
              <a:rPr sz="1000" b="0">
                <a:solidFill>
                  <a:schemeClr val="accent2"/>
                </a:solidFill>
                <a:latin typeface="Maple Mono NF"/>
              </a:rPr>
              <a:t>"tool"</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"ok"</a:t>
            </a:r>
            <a:r>
              <a:rPr sz="1000" b="0">
                <a:solidFill>
                  <a:schemeClr val="bg1"/>
                </a:solidFill>
                <a:latin typeface="Maple Mono NF"/>
              </a:rPr>
              <a:t>: </a:t>
            </a:r>
            <a:r>
              <a:rPr sz="1000" b="0">
                <a:solidFill>
                  <a:schemeClr val="accent5">
                    <a:lumMod val="45000"/>
                    <a:lumOff val="55000"/>
                  </a:schemeClr>
                </a:solidFill>
                <a:latin typeface="Maple Mono NF"/>
              </a:rPr>
              <a:t>true</a:t>
            </a:r>
            <a:r>
              <a:rPr sz="1000" b="0">
                <a:solidFill>
                  <a:schemeClr val="bg1"/>
                </a:solidFill>
                <a:latin typeface="Maple Mono NF"/>
              </a:rPr>
              <a:t>, </a:t>
            </a:r>
            <a:r>
              <a:rPr sz="1000" b="0">
                <a:solidFill>
                  <a:schemeClr val="accent2"/>
                </a:solidFill>
                <a:latin typeface="Maple Mono NF"/>
              </a:rPr>
              <a:t>"chars"</a:t>
            </a:r>
            <a:r>
              <a:rPr sz="1000" b="0">
                <a:solidFill>
                  <a:schemeClr val="bg1"/>
                </a:solidFill>
                <a:latin typeface="Maple Mono NF"/>
              </a:rPr>
              <a:t>: </a:t>
            </a:r>
            <a:r>
              <a:rPr sz="1000" b="0">
                <a:solidFill>
                  <a:schemeClr val="accent5">
                    <a:lumMod val="45000"/>
                    <a:lumOff val="55000"/>
                  </a:schemeClr>
                </a:solidFill>
                <a:latin typeface="Maple Mono NF"/>
              </a:rPr>
              <a:t>1665</a:t>
            </a:r>
            <a:r>
              <a:rPr sz="1000" b="0">
                <a:solidFill>
                  <a:schemeClr val="bg1"/>
                </a:solidFill>
                <a:latin typeface="Maple Mono NF"/>
              </a:rPr>
              <a:t>}</a:t>
            </a:r>
          </a:p>
        </p:txBody>
      </p:sp>
      <p:sp>
        <p:nvSpPr>
          <p:cNvPr id="10" name="Rectangle 9"/>
          <p:cNvSpPr/>
          <p:nvPr/>
        </p:nvSpPr>
        <p:spPr>
          <a:xfrm>
            <a:off x="319251" y="3767272"/>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dispatcher logs both tool events during execution. The update phase then stores the observation.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five parts of a tool contract</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The model receives the tool's name, description and argument schema.</a:t>
            </a:r>
          </a:p>
          <a:p>
            <a:pPr marL="400050" indent="-285750">
              <a:spcBef>
                <a:spcPts val="600"/>
              </a:spcBef>
              <a:spcAft>
                <a:spcPts val="600"/>
              </a:spcAft>
              <a:buClr>
                <a:srgbClr val="28285E"/>
              </a:buClr>
              <a:buSzPts val="1260"/>
              <a:buFont typeface="+mn-lt"/>
              <a:buChar char="●"/>
            </a:pPr>
            <a:r>
              <a:rPr sz="1400" b="1">
                <a:solidFill>
                  <a:schemeClr val="tx1"/>
                </a:solidFill>
              </a:rPr>
              <a:t>The model’s tool definition</a:t>
            </a:r>
            <a:r>
              <a:rPr sz="1400" b="0">
                <a:solidFill>
                  <a:schemeClr val="tx1"/>
                </a:solidFill>
              </a:rPr>
              <a:t> covers the name and purpose, and typed arguments with their constraints.</a:t>
            </a:r>
          </a:p>
          <a:p>
            <a:pPr marL="400050" indent="-285750">
              <a:spcBef>
                <a:spcPts val="600"/>
              </a:spcBef>
              <a:spcAft>
                <a:spcPts val="600"/>
              </a:spcAft>
              <a:buClr>
                <a:srgbClr val="28285E"/>
              </a:buClr>
              <a:buSzPts val="1260"/>
              <a:buFont typeface="+mn-lt"/>
              <a:buChar char="●"/>
            </a:pPr>
            <a:r>
              <a:rPr sz="1400" b="1">
                <a:solidFill>
                  <a:schemeClr val="tx1"/>
                </a:solidFill>
              </a:rPr>
              <a:t>The implementation and dispatcher</a:t>
            </a:r>
            <a:r>
              <a:rPr sz="1400" b="0">
                <a:solidFill>
                  <a:schemeClr val="tx1"/>
                </a:solidFill>
              </a:rPr>
              <a:t> determine results, errors, side effects and execution constraints.</a:t>
            </a:r>
          </a:p>
          <a:p>
            <a:pPr marL="400050" indent="-285750">
              <a:spcBef>
                <a:spcPts val="600"/>
              </a:spcBef>
              <a:spcAft>
                <a:spcPts val="600"/>
              </a:spcAft>
              <a:buClr>
                <a:srgbClr val="28285E"/>
              </a:buClr>
              <a:buSzPts val="1260"/>
              <a:buFont typeface="+mn-lt"/>
              <a:buChar char="●"/>
            </a:pPr>
            <a:r>
              <a:rPr sz="1400" b="1">
                <a:solidFill>
                  <a:schemeClr val="tx1"/>
                </a:solidFill>
              </a:rPr>
              <a:t>A description alone</a:t>
            </a:r>
            <a:r>
              <a:rPr sz="1400" b="0">
                <a:solidFill>
                  <a:schemeClr val="tx1"/>
                </a:solidFill>
              </a:rPr>
              <a:t> does not enforce the tool's constraints.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tool contract specifies name and purpose, typed arguments, success results and errors, side-effect class, and execution constraints.</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runtime enforces the tool's execution constraints.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 preconditions and postconditions</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A method specification assigns obligations to the caller and the implementer.</a:t>
            </a:r>
          </a:p>
          <a:p>
            <a:pPr marL="400050" indent="-285750">
              <a:spcBef>
                <a:spcPts val="600"/>
              </a:spcBef>
              <a:spcAft>
                <a:spcPts val="600"/>
              </a:spcAft>
              <a:buClr>
                <a:srgbClr val="28285E"/>
              </a:buClr>
              <a:buSzPts val="1260"/>
              <a:buFont typeface="+mn-lt"/>
              <a:buChar char="●"/>
            </a:pPr>
            <a:r>
              <a:rPr sz="1400" b="1">
                <a:solidFill>
                  <a:schemeClr val="tx1"/>
                </a:solidFill>
              </a:rPr>
              <a:t>The precondition</a:t>
            </a:r>
            <a:r>
              <a:rPr sz="1400" b="0">
                <a:solidFill>
                  <a:schemeClr val="tx1"/>
                </a:solidFill>
              </a:rPr>
              <a:t> covers the arguments and their constraints, such as a path that resolves inside the workspace.</a:t>
            </a:r>
          </a:p>
          <a:p>
            <a:pPr marL="400050" indent="-285750">
              <a:spcBef>
                <a:spcPts val="600"/>
              </a:spcBef>
              <a:spcAft>
                <a:spcPts val="600"/>
              </a:spcAft>
              <a:buClr>
                <a:srgbClr val="28285E"/>
              </a:buClr>
              <a:buSzPts val="1260"/>
              <a:buFont typeface="+mn-lt"/>
              <a:buChar char="●"/>
            </a:pPr>
            <a:r>
              <a:rPr sz="1400" b="1">
                <a:solidFill>
                  <a:schemeClr val="tx1"/>
                </a:solidFill>
              </a:rPr>
              <a:t>The postcondition</a:t>
            </a:r>
            <a:r>
              <a:rPr sz="1400" b="0">
                <a:solidFill>
                  <a:schemeClr val="tx1"/>
                </a:solidFill>
              </a:rPr>
              <a:t> covers the result, errors and side effects, assuming the precondition held.</a:t>
            </a:r>
          </a:p>
          <a:p>
            <a:pPr marL="400050" indent="-285750">
              <a:spcBef>
                <a:spcPts val="600"/>
              </a:spcBef>
              <a:spcAft>
                <a:spcPts val="600"/>
              </a:spcAft>
              <a:buClr>
                <a:srgbClr val="28285E"/>
              </a:buClr>
              <a:buSzPts val="1260"/>
              <a:buFont typeface="+mn-lt"/>
              <a:buChar char="●"/>
            </a:pPr>
            <a:r>
              <a:rPr sz="1400" b="1">
                <a:solidFill>
                  <a:schemeClr val="tx1"/>
                </a:solidFill>
              </a:rPr>
              <a:t>The contract</a:t>
            </a:r>
            <a:r>
              <a:rPr sz="1400" b="0">
                <a:solidFill>
                  <a:schemeClr val="tx1"/>
                </a:solidFill>
              </a:rPr>
              <a:t> must state which violations the runtime detects and how it reports refusal without side effects.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precondition states when the tool’s promises apply. The postcondition states what the implementer must ensure when the precondition holds.</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contract defines how the runtime handles invalid requests.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Arguments supplied by the dispatcher</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dispatcher supplies the workspace root. It binds model arguments against the remaining parameters.</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tools.py, </a:t>
            </a:r>
            <a:r>
              <a:rPr sz="1200" b="0">
                <a:solidFill>
                  <a:srgbClr val="28285E"/>
                </a:solidFill>
                <a:latin typeface="Maple Mono NF"/>
              </a:rPr>
              <a:t>read_file</a:t>
            </a:r>
            <a:r>
              <a:rPr sz="1200" b="1">
                <a:solidFill>
                  <a:srgbClr val="28285E"/>
                </a:solidFill>
              </a:rPr>
              <a:t>, lines 28 to 29. dispatch.py, line 143.</a:t>
            </a:r>
          </a:p>
        </p:txBody>
      </p:sp>
      <p:sp>
        <p:nvSpPr>
          <p:cNvPr id="5" name="CodeWindow"/>
          <p:cNvSpPr/>
          <p:nvPr/>
        </p:nvSpPr>
        <p:spPr>
          <a:xfrm>
            <a:off x="319251" y="1650000"/>
            <a:ext cx="6014545" cy="145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05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read_file(</a:t>
            </a:r>
            <a:r>
              <a:rPr sz="1100" b="1">
                <a:solidFill>
                  <a:schemeClr val="accent4">
                    <a:lumMod val="70000"/>
                    <a:lumOff val="30000"/>
                  </a:schemeClr>
                </a:solidFill>
                <a:latin typeface="Maple Mono NF"/>
              </a:rPr>
              <a:t>ws</a:t>
            </a:r>
            <a:r>
              <a:rPr sz="1100" b="0">
                <a:solidFill>
                  <a:schemeClr val="bg1"/>
                </a:solidFill>
                <a:latin typeface="Maple Mono NF"/>
              </a:rPr>
              <a:t>: Path, path: str, start: int | </a:t>
            </a:r>
            <a:r>
              <a:rPr sz="1100" b="0">
                <a:solidFill>
                  <a:schemeClr val="accent2"/>
                </a:solidFill>
                <a:latin typeface="Maple Mono NF"/>
              </a:rPr>
              <a:t>None</a:t>
            </a:r>
            <a:r>
              <a:rPr sz="1100" b="0">
                <a:solidFill>
                  <a:schemeClr val="bg1"/>
                </a:solidFill>
                <a:latin typeface="Maple Mono NF"/>
              </a:rPr>
              <a:t> =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bg1"/>
                </a:solidFill>
                <a:latin typeface="Maple Mono NF"/>
              </a:rPr>
              <a:t>              end: int | </a:t>
            </a:r>
            <a:r>
              <a:rPr sz="1100" b="0">
                <a:solidFill>
                  <a:schemeClr val="accent2"/>
                </a:solidFill>
                <a:latin typeface="Maple Mono NF"/>
              </a:rPr>
              <a:t>None</a:t>
            </a:r>
            <a:r>
              <a:rPr sz="1100" b="0">
                <a:solidFill>
                  <a:schemeClr val="bg1"/>
                </a:solidFill>
                <a:latin typeface="Maple Mono NF"/>
              </a:rPr>
              <a:t> = </a:t>
            </a:r>
            <a:r>
              <a:rPr sz="1100" b="0">
                <a:solidFill>
                  <a:schemeClr val="accent2"/>
                </a:solidFill>
                <a:latin typeface="Maple Mono NF"/>
              </a:rPr>
              <a:t>None</a:t>
            </a:r>
            <a:r>
              <a:rPr sz="1100" b="0">
                <a:solidFill>
                  <a:schemeClr val="bg1"/>
                </a:solidFill>
                <a:latin typeface="Maple Mono NF"/>
              </a:rPr>
              <a:t>) -&gt; str:</a:t>
            </a:r>
          </a:p>
          <a:p>
            <a:pPr algn="l">
              <a:buNone/>
            </a:pPr>
            <a:endParaRPr sz="1100" b="0">
              <a:solidFill>
                <a:schemeClr val="bg1"/>
              </a:solidFill>
              <a:latin typeface="Maple Mono NF"/>
            </a:endParaRPr>
          </a:p>
          <a:p>
            <a:pPr algn="l">
              <a:buNone/>
            </a:pPr>
            <a:r>
              <a:rPr sz="1100" b="0">
                <a:solidFill>
                  <a:schemeClr val="accent6"/>
                </a:solidFill>
                <a:latin typeface="Maple Mono NF"/>
              </a:rPr>
              <a:t># ours: the dispatcher supplies ws before the model's arguments</a:t>
            </a:r>
          </a:p>
          <a:p>
            <a:pPr algn="l">
              <a:buNone/>
            </a:pPr>
            <a:r>
              <a:rPr sz="1100" b="0">
                <a:solidFill>
                  <a:schemeClr val="bg1"/>
                </a:solidFill>
                <a:latin typeface="Maple Mono NF"/>
              </a:rPr>
              <a:t>inspect.signature(function).bind(</a:t>
            </a:r>
            <a:r>
              <a:rPr sz="1100" b="0">
                <a:solidFill>
                  <a:schemeClr val="accent2"/>
                </a:solidFill>
                <a:latin typeface="Maple Mono NF"/>
              </a:rPr>
              <a:t>self</a:t>
            </a:r>
            <a:r>
              <a:rPr sz="1100" b="0">
                <a:solidFill>
                  <a:schemeClr val="bg1"/>
                </a:solidFill>
                <a:latin typeface="Maple Mono NF"/>
              </a:rPr>
              <a:t>.</a:t>
            </a:r>
            <a:r>
              <a:rPr sz="1100" b="1">
                <a:solidFill>
                  <a:schemeClr val="accent4">
                    <a:lumMod val="70000"/>
                    <a:lumOff val="30000"/>
                  </a:schemeClr>
                </a:solidFill>
                <a:latin typeface="Maple Mono NF"/>
              </a:rPr>
              <a:t>ws</a:t>
            </a:r>
            <a:r>
              <a:rPr sz="1100" b="0">
                <a:solidFill>
                  <a:schemeClr val="bg1"/>
                </a:solidFill>
                <a:latin typeface="Maple Mono NF"/>
              </a:rPr>
              <a:t>, **args)</a:t>
            </a:r>
          </a:p>
        </p:txBody>
      </p:sp>
      <p:sp>
        <p:nvSpPr>
          <p:cNvPr id="10" name="Rectangle 9"/>
          <p:cNvSpPr/>
          <p:nvPr/>
        </p:nvSpPr>
        <p:spPr>
          <a:xfrm>
            <a:off x="319251" y="329000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Tools read configuration from the module. A </a:t>
            </a:r>
            <a:r>
              <a:rPr sz="1200" b="0">
                <a:solidFill>
                  <a:schemeClr val="tx2"/>
                </a:solidFill>
                <a:latin typeface="Maple Mono NF"/>
              </a:rPr>
              <a:t>config</a:t>
            </a:r>
            <a:r>
              <a:rPr sz="1200" b="1">
                <a:solidFill>
                  <a:schemeClr val="tx2"/>
                </a:solidFill>
              </a:rPr>
              <a:t> parameter would allow the model to supply its value.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five operations of the dispatch cycle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dispatch cycle resolves the name, binds arguments, checks policy, performs the operation and records an observation.</a:t>
            </a:r>
          </a:p>
        </p:txBody>
      </p:sp>
      <p:pic>
        <p:nvPicPr>
          <p:cNvPr id="4" name="Figure s4-dispatch-cycle" descr="s4-dispatch-cycle.png"/>
          <p:cNvPicPr>
            <a:picLocks noChangeAspect="1"/>
          </p:cNvPicPr>
          <p:nvPr/>
        </p:nvPicPr>
        <p:blipFill>
          <a:blip r:embed="rId3"/>
          <a:stretch>
            <a:fillRect/>
          </a:stretch>
        </p:blipFill>
        <p:spPr>
          <a:xfrm>
            <a:off x="1524148" y="1390000"/>
            <a:ext cx="3604753" cy="2510000"/>
          </a:xfrm>
          <a:prstGeom prst="rect">
            <a:avLst/>
          </a:prstGeom>
        </p:spPr>
      </p:pic>
      <p:sp>
        <p:nvSpPr>
          <p:cNvPr id="5" name="Rectangle 4"/>
          <p:cNvSpPr/>
          <p:nvPr/>
        </p:nvSpPr>
        <p:spPr>
          <a:xfrm>
            <a:off x="319251" y="4090000"/>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7 in the lecture notes. Success and refusal both produce observations that the model can read.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Returning a refusal as an observation</a:t>
            </a:r>
          </a:p>
        </p:txBody>
      </p:sp>
      <p:sp>
        <p:nvSpPr>
          <p:cNvPr id="3" name="TextBox 2"/>
          <p:cNvSpPr txBox="1"/>
          <p:nvPr/>
        </p:nvSpPr>
        <p:spPr>
          <a:xfrm>
            <a:off x="319251" y="700000"/>
            <a:ext cx="6014545" cy="200000"/>
          </a:xfrm>
          <a:prstGeom prst="rect">
            <a:avLst/>
          </a:prstGeom>
          <a:noFill/>
        </p:spPr>
        <p:txBody>
          <a:bodyPr wrap="none" lIns="0" tIns="0" rIns="0" bIns="0">
            <a:spAutoFit/>
          </a:bodyPr>
          <a:lstStyle/>
          <a:p>
            <a:r>
              <a:rPr sz="1200" b="1">
                <a:solidFill>
                  <a:srgbClr val="28285E"/>
                </a:solidFill>
              </a:rPr>
              <a:t>dispatch.py, lines 134 to 164. Coercion and other exception handlers omitted.</a:t>
            </a:r>
          </a:p>
        </p:txBody>
      </p:sp>
      <p:sp>
        <p:nvSpPr>
          <p:cNvPr id="4" name="CodeWindow"/>
          <p:cNvSpPr/>
          <p:nvPr/>
        </p:nvSpPr>
        <p:spPr>
          <a:xfrm>
            <a:off x="319251" y="960000"/>
            <a:ext cx="6014545" cy="2690908"/>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WinDot 0"/>
          <p:cNvSpPr/>
          <p:nvPr/>
        </p:nvSpPr>
        <p:spPr>
          <a:xfrm>
            <a:off x="371717" y="100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inDot 1"/>
          <p:cNvSpPr/>
          <p:nvPr/>
        </p:nvSpPr>
        <p:spPr>
          <a:xfrm>
            <a:off x="581580" y="100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2"/>
          <p:cNvSpPr/>
          <p:nvPr/>
        </p:nvSpPr>
        <p:spPr>
          <a:xfrm>
            <a:off x="791443" y="100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Text"/>
          <p:cNvSpPr txBox="1"/>
          <p:nvPr/>
        </p:nvSpPr>
        <p:spPr>
          <a:xfrm>
            <a:off x="469251" y="1290000"/>
            <a:ext cx="5714545" cy="2290908"/>
          </a:xfrm>
          <a:prstGeom prst="rect">
            <a:avLst/>
          </a:prstGeom>
          <a:noFill/>
        </p:spPr>
        <p:txBody>
          <a:bodyPr wrap="none" lIns="0" tIns="0" rIns="0" bIns="0" anchor="t">
            <a:spAutoFit/>
          </a:bodyPr>
          <a:lstStyle/>
          <a:p>
            <a:pPr algn="l">
              <a:buNone/>
            </a:pPr>
            <a:r>
              <a:rPr sz="1000" b="0">
                <a:solidFill>
                  <a:schemeClr val="bg1"/>
                </a:solidFill>
                <a:latin typeface="Maple Mono NF"/>
              </a:rPr>
              <a:t>function = </a:t>
            </a:r>
            <a:r>
              <a:rPr sz="1000" b="0">
                <a:solidFill>
                  <a:schemeClr val="accent2"/>
                </a:solidFill>
                <a:latin typeface="Maple Mono NF"/>
              </a:rPr>
              <a:t>self</a:t>
            </a:r>
            <a:r>
              <a:rPr sz="1000" b="0">
                <a:solidFill>
                  <a:schemeClr val="bg1"/>
                </a:solidFill>
                <a:latin typeface="Maple Mono NF"/>
              </a:rPr>
              <a:t>.registry.get(name)</a:t>
            </a:r>
          </a:p>
          <a:p>
            <a:pPr algn="l">
              <a:buNone/>
            </a:pPr>
            <a:r>
              <a:rPr sz="1000" b="0">
                <a:solidFill>
                  <a:schemeClr val="accent2"/>
                </a:solidFill>
                <a:latin typeface="Maple Mono NF"/>
              </a:rPr>
              <a:t>if</a:t>
            </a:r>
            <a:r>
              <a:rPr sz="1000" b="0">
                <a:solidFill>
                  <a:schemeClr val="bg1"/>
                </a:solidFill>
                <a:latin typeface="Maple Mono NF"/>
              </a:rPr>
              <a:t> function is </a:t>
            </a:r>
            <a:r>
              <a:rPr sz="1000" b="0">
                <a:solidFill>
                  <a:schemeClr val="accent2"/>
                </a:solidFill>
                <a:latin typeface="Maple Mono NF"/>
              </a:rPr>
              <a:t>None</a:t>
            </a:r>
            <a:r>
              <a:rPr sz="1000" b="0">
                <a:solidFill>
                  <a:schemeClr val="bg1"/>
                </a:solidFill>
                <a:latin typeface="Maple Mono NF"/>
              </a:rPr>
              <a:t>:</a:t>
            </a:r>
          </a:p>
          <a:p>
            <a:pPr algn="l">
              <a:buNone/>
            </a:pPr>
            <a:r>
              <a:rPr sz="1000" b="0">
                <a:solidFill>
                  <a:schemeClr val="accent6"/>
                </a:solidFill>
                <a:latin typeface="Maple Mono NF"/>
              </a:rPr>
              <a:t>    # ours: return a refusal listing the registered tools</a:t>
            </a:r>
          </a:p>
          <a:p>
            <a:pPr algn="l">
              <a:buNone/>
            </a:pPr>
            <a:r>
              <a:rPr sz="1000" b="0">
                <a:solidFill>
                  <a:schemeClr val="accent2"/>
                </a:solidFill>
                <a:latin typeface="Maple Mono NF"/>
              </a:rPr>
              <a:t>try</a:t>
            </a:r>
            <a:r>
              <a:rPr sz="1000" b="0">
                <a:solidFill>
                  <a:schemeClr val="bg1"/>
                </a:solidFill>
                <a:latin typeface="Maple Mono NF"/>
              </a:rPr>
              <a:t>:</a:t>
            </a:r>
          </a:p>
          <a:p>
            <a:pPr algn="l">
              <a:buNone/>
            </a:pPr>
            <a:r>
              <a:rPr sz="1000" b="0">
                <a:solidFill>
                  <a:schemeClr val="bg1"/>
                </a:solidFill>
                <a:latin typeface="Maple Mono NF"/>
              </a:rPr>
              <a:t>    inspect.signature(function).bind(</a:t>
            </a:r>
            <a:r>
              <a:rPr sz="1000" b="0">
                <a:solidFill>
                  <a:schemeClr val="accent2"/>
                </a:solidFill>
                <a:latin typeface="Maple Mono NF"/>
              </a:rPr>
              <a:t>self</a:t>
            </a:r>
            <a:r>
              <a:rPr sz="1000" b="0">
                <a:solidFill>
                  <a:schemeClr val="bg1"/>
                </a:solidFill>
                <a:latin typeface="Maple Mono NF"/>
              </a:rPr>
              <a:t>.ws, **args)</a:t>
            </a:r>
          </a:p>
          <a:p>
            <a:pPr algn="l">
              <a:buNone/>
            </a:pPr>
            <a:r>
              <a:rPr sz="1000" b="0">
                <a:solidFill>
                  <a:schemeClr val="accent2"/>
                </a:solidFill>
                <a:latin typeface="Maple Mono NF"/>
              </a:rPr>
              <a:t>except</a:t>
            </a:r>
            <a:r>
              <a:rPr sz="1000" b="0">
                <a:solidFill>
                  <a:schemeClr val="bg1"/>
                </a:solidFill>
                <a:latin typeface="Maple Mono NF"/>
              </a:rPr>
              <a:t> TypeError </a:t>
            </a:r>
            <a:r>
              <a:rPr sz="1000" b="0">
                <a:solidFill>
                  <a:schemeClr val="accent2"/>
                </a:solidFill>
                <a:latin typeface="Maple Mono NF"/>
              </a:rPr>
              <a:t>as</a:t>
            </a:r>
            <a:r>
              <a:rPr sz="1000" b="0">
                <a:solidFill>
                  <a:schemeClr val="bg1"/>
                </a:solidFill>
                <a:latin typeface="Maple Mono NF"/>
              </a:rPr>
              <a:t> exc:</a:t>
            </a:r>
          </a:p>
          <a:p>
            <a:pPr algn="l">
              <a:buNone/>
            </a:pPr>
            <a:r>
              <a:rPr sz="1000" b="0">
                <a:solidFill>
                  <a:schemeClr val="bg1"/>
                </a:solidFill>
                <a:latin typeface="Maple Mono NF"/>
              </a:rPr>
              <a:t>    </a:t>
            </a:r>
            <a:r>
              <a:rPr sz="1000" b="0">
                <a:solidFill>
                  <a:schemeClr val="accent2"/>
                </a:solidFill>
                <a:latin typeface="Maple Mono NF"/>
              </a:rPr>
              <a:t>return</a:t>
            </a:r>
            <a:r>
              <a:rPr sz="1000" b="0">
                <a:solidFill>
                  <a:schemeClr val="bg1"/>
                </a:solidFill>
                <a:latin typeface="Maple Mono NF"/>
              </a:rPr>
              <a:t> </a:t>
            </a:r>
            <a:r>
              <a:rPr sz="1000" b="0">
                <a:solidFill>
                  <a:schemeClr val="accent2"/>
                </a:solidFill>
                <a:latin typeface="Maple Mono NF"/>
              </a:rPr>
              <a:t>self</a:t>
            </a:r>
            <a:r>
              <a:rPr sz="1000" b="0">
                <a:solidFill>
                  <a:schemeClr val="bg1"/>
                </a:solidFill>
                <a:latin typeface="Maple Mono NF"/>
              </a:rPr>
              <a:t>.</a:t>
            </a:r>
            <a:r>
              <a:rPr sz="1000" b="1">
                <a:solidFill>
                  <a:schemeClr val="accent4">
                    <a:lumMod val="70000"/>
                    <a:lumOff val="30000"/>
                  </a:schemeClr>
                </a:solidFill>
                <a:latin typeface="Maple Mono NF"/>
              </a:rPr>
              <a:t>_refuse</a:t>
            </a:r>
            <a:r>
              <a:rPr sz="1000" b="0">
                <a:solidFill>
                  <a:schemeClr val="bg1"/>
                </a:solidFill>
                <a:latin typeface="Maple Mono NF"/>
              </a:rPr>
              <a:t>(name, args, f</a:t>
            </a:r>
            <a:r>
              <a:rPr sz="1000" b="0">
                <a:solidFill>
                  <a:schemeClr val="accent3">
                    <a:lumMod val="55000"/>
                    <a:lumOff val="45000"/>
                  </a:schemeClr>
                </a:solidFill>
                <a:latin typeface="Maple Mono NF"/>
              </a:rPr>
              <a:t>"bad arguments for {name}: {exc}"</a:t>
            </a:r>
            <a:r>
              <a:rPr sz="1000" b="0">
                <a:solidFill>
                  <a:schemeClr val="bg1"/>
                </a:solidFill>
                <a:latin typeface="Maple Mono NF"/>
              </a:rPr>
              <a:t>)</a:t>
            </a:r>
          </a:p>
          <a:p>
            <a:pPr algn="l">
              <a:buNone/>
            </a:pPr>
            <a:r>
              <a:rPr sz="1000" b="0">
                <a:solidFill>
                  <a:schemeClr val="accent2"/>
                </a:solidFill>
                <a:latin typeface="Maple Mono NF"/>
              </a:rPr>
              <a:t>try</a:t>
            </a:r>
            <a:r>
              <a:rPr sz="1000" b="0">
                <a:solidFill>
                  <a:schemeClr val="bg1"/>
                </a:solidFill>
                <a:latin typeface="Maple Mono NF"/>
              </a:rPr>
              <a:t>:</a:t>
            </a:r>
          </a:p>
          <a:p>
            <a:pPr algn="l">
              <a:buNone/>
            </a:pPr>
            <a:r>
              <a:rPr sz="1000" b="0">
                <a:solidFill>
                  <a:schemeClr val="bg1"/>
                </a:solidFill>
                <a:latin typeface="Maple Mono NF"/>
              </a:rPr>
              <a:t>    value = function(</a:t>
            </a:r>
            <a:r>
              <a:rPr sz="1000" b="0">
                <a:solidFill>
                  <a:schemeClr val="accent2"/>
                </a:solidFill>
                <a:latin typeface="Maple Mono NF"/>
              </a:rPr>
              <a:t>self</a:t>
            </a:r>
            <a:r>
              <a:rPr sz="1000" b="0">
                <a:solidFill>
                  <a:schemeClr val="bg1"/>
                </a:solidFill>
                <a:latin typeface="Maple Mono NF"/>
              </a:rPr>
              <a:t>.ws, **args)</a:t>
            </a:r>
          </a:p>
          <a:p>
            <a:pPr algn="l">
              <a:buNone/>
            </a:pPr>
            <a:r>
              <a:rPr sz="1000" b="0">
                <a:solidFill>
                  <a:schemeClr val="accent2"/>
                </a:solidFill>
                <a:latin typeface="Maple Mono NF"/>
              </a:rPr>
              <a:t>except</a:t>
            </a:r>
            <a:r>
              <a:rPr sz="1000" b="0">
                <a:solidFill>
                  <a:schemeClr val="bg1"/>
                </a:solidFill>
                <a:latin typeface="Maple Mono NF"/>
              </a:rPr>
              <a:t> PathEscapeException </a:t>
            </a:r>
            <a:r>
              <a:rPr sz="1000" b="0">
                <a:solidFill>
                  <a:schemeClr val="accent2"/>
                </a:solidFill>
                <a:latin typeface="Maple Mono NF"/>
              </a:rPr>
              <a:t>as</a:t>
            </a:r>
            <a:r>
              <a:rPr sz="1000" b="0">
                <a:solidFill>
                  <a:schemeClr val="bg1"/>
                </a:solidFill>
                <a:latin typeface="Maple Mono NF"/>
              </a:rPr>
              <a:t> exc:</a:t>
            </a:r>
          </a:p>
          <a:p>
            <a:pPr algn="l">
              <a:buNone/>
            </a:pPr>
            <a:r>
              <a:rPr sz="1000" b="0">
                <a:solidFill>
                  <a:schemeClr val="bg1"/>
                </a:solidFill>
                <a:latin typeface="Maple Mono NF"/>
              </a:rPr>
              <a:t>    </a:t>
            </a:r>
            <a:r>
              <a:rPr sz="1000" b="0">
                <a:solidFill>
                  <a:schemeClr val="accent2"/>
                </a:solidFill>
                <a:latin typeface="Maple Mono NF"/>
              </a:rPr>
              <a:t>return</a:t>
            </a:r>
            <a:r>
              <a:rPr sz="1000" b="0">
                <a:solidFill>
                  <a:schemeClr val="bg1"/>
                </a:solidFill>
                <a:latin typeface="Maple Mono NF"/>
              </a:rPr>
              <a:t> </a:t>
            </a:r>
            <a:r>
              <a:rPr sz="1000" b="0">
                <a:solidFill>
                  <a:schemeClr val="accent2"/>
                </a:solidFill>
                <a:latin typeface="Maple Mono NF"/>
              </a:rPr>
              <a:t>self</a:t>
            </a:r>
            <a:r>
              <a:rPr sz="1000" b="0">
                <a:solidFill>
                  <a:schemeClr val="bg1"/>
                </a:solidFill>
                <a:latin typeface="Maple Mono NF"/>
              </a:rPr>
              <a:t>.</a:t>
            </a:r>
            <a:r>
              <a:rPr sz="1000" b="1">
                <a:solidFill>
                  <a:schemeClr val="accent4">
                    <a:lumMod val="70000"/>
                    <a:lumOff val="30000"/>
                  </a:schemeClr>
                </a:solidFill>
                <a:latin typeface="Maple Mono NF"/>
              </a:rPr>
              <a:t>_refuse</a:t>
            </a:r>
            <a:r>
              <a:rPr sz="1000" b="0">
                <a:solidFill>
                  <a:schemeClr val="bg1"/>
                </a:solidFill>
                <a:latin typeface="Maple Mono NF"/>
              </a:rPr>
              <a:t>(name, args, f</a:t>
            </a:r>
            <a:r>
              <a:rPr sz="1000" b="0">
                <a:solidFill>
                  <a:schemeClr val="accent3">
                    <a:lumMod val="55000"/>
                    <a:lumOff val="45000"/>
                  </a:schemeClr>
                </a:solidFill>
                <a:latin typeface="Maple Mono NF"/>
              </a:rPr>
              <a:t>"refused: {exc}"</a:t>
            </a:r>
            <a:r>
              <a:rPr sz="1000" b="0">
                <a:solidFill>
                  <a:schemeClr val="bg1"/>
                </a:solidFill>
                <a:latin typeface="Maple Mono NF"/>
              </a:rPr>
              <a:t>)</a:t>
            </a:r>
          </a:p>
          <a:p>
            <a:pPr algn="l">
              <a:buNone/>
            </a:pPr>
            <a:r>
              <a:rPr sz="1000" b="0">
                <a:solidFill>
                  <a:schemeClr val="accent2"/>
                </a:solidFill>
                <a:latin typeface="Maple Mono NF"/>
              </a:rPr>
              <a:t>return</a:t>
            </a:r>
            <a:r>
              <a:rPr sz="1000" b="0">
                <a:solidFill>
                  <a:schemeClr val="bg1"/>
                </a:solidFill>
                <a:latin typeface="Maple Mono NF"/>
              </a:rPr>
              <a:t> </a:t>
            </a:r>
            <a:r>
              <a:rPr sz="1000" b="0">
                <a:solidFill>
                  <a:schemeClr val="accent2"/>
                </a:solidFill>
                <a:latin typeface="Maple Mono NF"/>
              </a:rPr>
              <a:t>self</a:t>
            </a:r>
            <a:r>
              <a:rPr sz="1000" b="0">
                <a:solidFill>
                  <a:schemeClr val="bg1"/>
                </a:solidFill>
                <a:latin typeface="Maple Mono NF"/>
              </a:rPr>
              <a:t>._observe(name, args, </a:t>
            </a:r>
            <a:r>
              <a:rPr sz="1000" b="0">
                <a:solidFill>
                  <a:schemeClr val="accent2"/>
                </a:solidFill>
                <a:latin typeface="Maple Mono NF"/>
              </a:rPr>
              <a:t>self</a:t>
            </a:r>
            <a:r>
              <a:rPr sz="1000" b="0">
                <a:solidFill>
                  <a:schemeClr val="bg1"/>
                </a:solidFill>
                <a:latin typeface="Maple Mono NF"/>
              </a:rPr>
              <a:t>._render(name, value))</a:t>
            </a:r>
          </a:p>
        </p:txBody>
      </p:sp>
      <p:sp>
        <p:nvSpPr>
          <p:cNvPr id="9" name="Rectangle 8"/>
          <p:cNvSpPr/>
          <p:nvPr/>
        </p:nvSpPr>
        <p:spPr>
          <a:xfrm>
            <a:off x="319251" y="384090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An unhandled exception ends the run. A refusal returns an observation so the model can revise its request.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Evidence of a tool request and execution</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first </a:t>
            </a:r>
            <a:r>
              <a:rPr sz="1400" b="0">
                <a:solidFill>
                  <a:srgbClr val="28285E"/>
                </a:solidFill>
                <a:latin typeface="Maple Mono NF"/>
              </a:rPr>
              <a:t>read_file</a:t>
            </a:r>
            <a:r>
              <a:rPr sz="1400" b="1">
                <a:solidFill>
                  <a:srgbClr val="28285E"/>
                </a:solidFill>
              </a:rPr>
              <a:t> call in run </a:t>
            </a:r>
            <a:r>
              <a:rPr sz="1400" b="0">
                <a:solidFill>
                  <a:srgbClr val="28285E"/>
                </a:solidFill>
                <a:latin typeface="Maple Mono NF"/>
              </a:rPr>
              <a:t>bc284c6b</a:t>
            </a:r>
            <a:r>
              <a:rPr sz="1400" b="1">
                <a:solidFill>
                  <a:srgbClr val="28285E"/>
                </a:solidFill>
              </a:rPr>
              <a:t> has evidence at each stage from request to result.</a:t>
            </a:r>
          </a:p>
        </p:txBody>
      </p:sp>
      <p:graphicFrame>
        <p:nvGraphicFramePr>
          <p:cNvPr id="4" name="Table 3"/>
          <p:cNvGraphicFramePr>
            <a:graphicFrameLocks noGrp="1"/>
          </p:cNvGraphicFramePr>
          <p:nvPr/>
        </p:nvGraphicFramePr>
        <p:xfrm>
          <a:off x="319251" y="1390000"/>
          <a:ext cx="6014545" cy="2700300"/>
        </p:xfrm>
        <a:graphic>
          <a:graphicData uri="http://schemas.openxmlformats.org/drawingml/2006/table">
            <a:tbl>
              <a:tblPr firstRow="1" bandRow="1">
                <a:tableStyleId>{5C22544A-7EE6-4342-B048-85BDC9FD1C3A}</a:tableStyleId>
              </a:tblPr>
              <a:tblGrid>
                <a:gridCol w="2100000">
                  <a:extLst>
                    <a:ext uri="{9D8B030D-6E8A-4147-A177-3AD203B41FA5}">
                      <a16:colId xmlns:a16="http://schemas.microsoft.com/office/drawing/2014/main" val="20000"/>
                    </a:ext>
                  </a:extLst>
                </a:gridCol>
                <a:gridCol w="3914545">
                  <a:extLst>
                    <a:ext uri="{9D8B030D-6E8A-4147-A177-3AD203B41FA5}">
                      <a16:colId xmlns:a16="http://schemas.microsoft.com/office/drawing/2014/main" val="20001"/>
                    </a:ext>
                  </a:extLst>
                </a:gridCol>
              </a:tblGrid>
              <a:tr h="300000">
                <a:tc>
                  <a:txBody>
                    <a:bodyPr/>
                    <a:lstStyle/>
                    <a:p>
                      <a:pPr>
                        <a:buNone/>
                      </a:pPr>
                      <a:r>
                        <a:rPr sz="1000" b="1">
                          <a:solidFill>
                            <a:schemeClr val="tx1"/>
                          </a:solidFill>
                        </a:rPr>
                        <a:t>Record or processing stage</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What it establishes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Model 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It shows which operations and descriptions were supplied to the model. The trace omits this 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Model response and </a:t>
                      </a:r>
                      <a:r>
                        <a:rPr sz="1000" b="0">
                          <a:solidFill>
                            <a:srgbClr val="28285E"/>
                          </a:solidFill>
                          <a:latin typeface="Maple Mono NF"/>
                        </a:rPr>
                        <a:t>model_call</a:t>
                      </a:r>
                      <a:r>
                        <a:rPr sz="1000" b="1">
                          <a:solidFill>
                            <a:srgbClr val="28285E"/>
                          </a:solidFill>
                        </a:rPr>
                        <a:t> event, step 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model requested an operation. This does not establish execution.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tool_request event, step 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request reached the dispatcher and began the dispatch cycle.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Dispatcher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It checks the request and reports refusals in result events. It has no separate trace 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tool_result event, step 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function ran and returned 1,665 characters. The event omits the returned text.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State and next 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observation and tool message become available to the next model call, at step 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5" name="Rectangle 4"/>
          <p:cNvSpPr/>
          <p:nvPr/>
        </p:nvSpPr>
        <p:spPr>
          <a:xfrm>
            <a:off x="319251" y="4135012"/>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Table 6 in the lecture notes. The successful </a:t>
            </a:r>
            <a:r>
              <a:rPr sz="1200" b="0">
                <a:solidFill>
                  <a:schemeClr val="tx2"/>
                </a:solidFill>
                <a:latin typeface="Maple Mono NF"/>
              </a:rPr>
              <a:t>tool_result</a:t>
            </a:r>
            <a:r>
              <a:rPr sz="1200" b="1">
                <a:solidFill>
                  <a:schemeClr val="tx2"/>
                </a:solidFill>
              </a:rPr>
              <a:t> event establishes that the function ran and returned.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Complete mediation of resource access</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The model proposes actions. Components on the execution path check whether the runtime may perform them.</a:t>
            </a:r>
          </a:p>
          <a:p>
            <a:pPr marL="400050" indent="-285750">
              <a:spcBef>
                <a:spcPts val="600"/>
              </a:spcBef>
              <a:spcAft>
                <a:spcPts val="600"/>
              </a:spcAft>
              <a:buClr>
                <a:srgbClr val="28285E"/>
              </a:buClr>
              <a:buSzPts val="1260"/>
              <a:buFont typeface="+mn-lt"/>
              <a:buChar char="●"/>
            </a:pPr>
            <a:r>
              <a:rPr sz="1400" b="1">
                <a:solidFill>
                  <a:schemeClr val="tx1"/>
                </a:solidFill>
              </a:rPr>
              <a:t>Every route</a:t>
            </a:r>
            <a:r>
              <a:rPr sz="1400" b="0">
                <a:solidFill>
                  <a:schemeClr val="tx1"/>
                </a:solidFill>
              </a:rPr>
              <a:t> to a protected resource must pass through the required checks.</a:t>
            </a:r>
          </a:p>
          <a:p>
            <a:pPr marL="400050" indent="-285750">
              <a:spcBef>
                <a:spcPts val="600"/>
              </a:spcBef>
              <a:spcAft>
                <a:spcPts val="600"/>
              </a:spcAft>
              <a:buClr>
                <a:srgbClr val="28285E"/>
              </a:buClr>
              <a:buSzPts val="1260"/>
              <a:buFont typeface="+mn-lt"/>
              <a:buChar char="●"/>
            </a:pPr>
            <a:r>
              <a:rPr sz="1400" b="0">
                <a:solidFill>
                  <a:schemeClr val="tx1"/>
                </a:solidFill>
              </a:rPr>
              <a:t>A new tool, or a file argument such as a glob, can bypass an existing path check.</a:t>
            </a:r>
          </a:p>
          <a:p>
            <a:pPr marL="400050" indent="-285750">
              <a:spcBef>
                <a:spcPts val="600"/>
              </a:spcBef>
              <a:spcAft>
                <a:spcPts val="600"/>
              </a:spcAft>
              <a:buClr>
                <a:srgbClr val="28285E"/>
              </a:buClr>
              <a:buSzPts val="1260"/>
              <a:buFont typeface="+mn-lt"/>
              <a:buChar char="●"/>
            </a:pPr>
            <a:r>
              <a:rPr sz="1400" b="1">
                <a:solidFill>
                  <a:schemeClr val="tx1"/>
                </a:solidFill>
              </a:rPr>
              <a:t>Mediation ensures the policy is consulted. </a:t>
            </a:r>
            <a:r>
              <a:rPr sz="1400" b="0">
                <a:solidFill>
                  <a:schemeClr val="tx1"/>
                </a:solidFill>
              </a:rPr>
              <a:t>It does not establish that the policy is correct.</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Complete mediation requires every request for a protected resource to pass through a guard that checks the access policy.</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Routing functions and limit checks apply rules the programmer wrote.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Guarantees and their enforcing components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Each guarantee depends on a runtime component. The implementation leaves one guarantee unenforced.</a:t>
            </a:r>
          </a:p>
        </p:txBody>
      </p:sp>
      <p:graphicFrame>
        <p:nvGraphicFramePr>
          <p:cNvPr id="4" name="Table 3"/>
          <p:cNvGraphicFramePr>
            <a:graphicFrameLocks noGrp="1"/>
          </p:cNvGraphicFramePr>
          <p:nvPr/>
        </p:nvGraphicFramePr>
        <p:xfrm>
          <a:off x="319251" y="1390000"/>
          <a:ext cx="6014545" cy="2648738"/>
        </p:xfrm>
        <a:graphic>
          <a:graphicData uri="http://schemas.openxmlformats.org/drawingml/2006/table">
            <a:tbl>
              <a:tblPr firstRow="1" bandRow="1">
                <a:tableStyleId>{5C22544A-7EE6-4342-B048-85BDC9FD1C3A}</a:tableStyleId>
              </a:tblPr>
              <a:tblGrid>
                <a:gridCol w="2300000">
                  <a:extLst>
                    <a:ext uri="{9D8B030D-6E8A-4147-A177-3AD203B41FA5}">
                      <a16:colId xmlns:a16="http://schemas.microsoft.com/office/drawing/2014/main" val="20000"/>
                    </a:ext>
                  </a:extLst>
                </a:gridCol>
                <a:gridCol w="3714545">
                  <a:extLst>
                    <a:ext uri="{9D8B030D-6E8A-4147-A177-3AD203B41FA5}">
                      <a16:colId xmlns:a16="http://schemas.microsoft.com/office/drawing/2014/main" val="20001"/>
                    </a:ext>
                  </a:extLst>
                </a:gridCol>
              </a:tblGrid>
              <a:tr h="300000">
                <a:tc>
                  <a:txBody>
                    <a:bodyPr/>
                    <a:lstStyle/>
                    <a:p>
                      <a:pPr>
                        <a:buNone/>
                      </a:pPr>
                      <a:r>
                        <a:rPr sz="1000" b="1">
                          <a:solidFill>
                            <a:schemeClr val="tx1"/>
                          </a:solidFill>
                        </a:rPr>
                        <a:t>Guarantee</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Where it is enforced</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Only registered tools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dispatcher checks the registry before calling a tool.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Arguments bind to the signature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dispatcher binds and coerces arguments before the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Writes stay inside the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edit tool, the only writer, checks paths with </a:t>
                      </a:r>
                      <a:r>
                        <a:rPr sz="1000" b="0">
                          <a:solidFill>
                            <a:schemeClr val="tx1"/>
                          </a:solidFill>
                          <a:latin typeface="Maple Mono NF"/>
                        </a:rPr>
                        <a:t>workspace.resolve</a:t>
                      </a:r>
                      <a:r>
                        <a:rPr sz="1000" b="0">
                          <a:solidFill>
                            <a:schemeClr val="tx1"/>
                          </a:solidFill>
                        </a:rPr>
                        <a: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Reads stay inside the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This is unenforced. The search glob bypasses </a:t>
                      </a:r>
                      <a:r>
                        <a:rPr sz="1000" b="0">
                          <a:solidFill>
                            <a:schemeClr val="tx1"/>
                          </a:solidFill>
                          <a:latin typeface="Maple Mono NF"/>
                        </a:rPr>
                        <a:t>workspace.resolve</a:t>
                      </a:r>
                      <a:r>
                        <a:rPr sz="1000" b="0">
                          <a:solidFill>
                            <a:schemeClr val="tx1"/>
                          </a:solidFill>
                        </a:rPr>
                        <a: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The pinned fixture is unchanged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Tools use a disposable copy. The diff compares it with the fixture.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No call after budget exhaustion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Each model node checks the budget before calling.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rgbClr val="28285E"/>
                          </a:solidFill>
                        </a:rPr>
                        <a:t>At most one plan revision per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tools node requests revision only while </a:t>
                      </a:r>
                      <a:r>
                        <a:rPr sz="1000" b="0">
                          <a:solidFill>
                            <a:schemeClr val="tx1"/>
                          </a:solidFill>
                          <a:latin typeface="Maple Mono NF"/>
                        </a:rPr>
                        <a:t>replanned_at</a:t>
                      </a:r>
                      <a:r>
                        <a:rPr sz="1000" b="0">
                          <a:solidFill>
                            <a:schemeClr val="tx1"/>
                          </a:solidFill>
                        </a:rPr>
                        <a:t> is unset.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bl>
          </a:graphicData>
        </a:graphic>
      </p:graphicFrame>
      <p:sp>
        <p:nvSpPr>
          <p:cNvPr id="5" name="Rectangle 4"/>
          <p:cNvSpPr/>
          <p:nvPr/>
        </p:nvSpPr>
        <p:spPr>
          <a:xfrm>
            <a:off x="319251" y="4228738"/>
            <a:ext cx="601454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Table 7 in the notes. The search tool bypasses the path check.</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Checking paths against the workspace root</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1">
                <a:solidFill>
                  <a:srgbClr val="28285E"/>
                </a:solidFill>
              </a:rPr>
              <a:t>Path resolution removes .. segments and follows symlinks before the containment check.</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workspace.py, resolve, lines 50 to 68. Docstring and comments omitted.</a:t>
            </a:r>
          </a:p>
        </p:txBody>
      </p:sp>
      <p:sp>
        <p:nvSpPr>
          <p:cNvPr id="5" name="CodeWindow"/>
          <p:cNvSpPr/>
          <p:nvPr/>
        </p:nvSpPr>
        <p:spPr>
          <a:xfrm>
            <a:off x="319251" y="1650000"/>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47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resolve(root: Path, path: str) -&gt; Path:</a:t>
            </a:r>
          </a:p>
          <a:p>
            <a:pPr algn="l">
              <a:buNone/>
            </a:pPr>
            <a:r>
              <a:rPr sz="1100" b="0">
                <a:solidFill>
                  <a:schemeClr val="bg1"/>
                </a:solidFill>
                <a:latin typeface="Maple Mono NF"/>
              </a:rPr>
              <a:t>    root = Path(root).resolve()</a:t>
            </a:r>
          </a:p>
          <a:p>
            <a:pPr algn="l">
              <a:buNone/>
            </a:pPr>
            <a:r>
              <a:rPr sz="1100" b="0">
                <a:solidFill>
                  <a:schemeClr val="bg1"/>
                </a:solidFill>
                <a:latin typeface="Maple Mono NF"/>
              </a:rPr>
              <a:t>    candidate = (root / path).resolve()</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a:t>
            </a:r>
            <a:r>
              <a:rPr sz="1100" b="0">
                <a:solidFill>
                  <a:schemeClr val="accent2"/>
                </a:solidFill>
                <a:latin typeface="Maple Mono NF"/>
              </a:rPr>
              <a:t>not</a:t>
            </a:r>
            <a:r>
              <a:rPr sz="1100" b="0">
                <a:solidFill>
                  <a:schemeClr val="bg1"/>
                </a:solidFill>
                <a:latin typeface="Maple Mono NF"/>
              </a:rPr>
              <a:t> candidate.</a:t>
            </a:r>
            <a:r>
              <a:rPr sz="1100" b="1">
                <a:solidFill>
                  <a:schemeClr val="accent4">
                    <a:lumMod val="70000"/>
                    <a:lumOff val="30000"/>
                  </a:schemeClr>
                </a:solidFill>
                <a:latin typeface="Maple Mono NF"/>
              </a:rPr>
              <a:t>is_relative_to</a:t>
            </a:r>
            <a:r>
              <a:rPr sz="1100" b="0">
                <a:solidFill>
                  <a:schemeClr val="bg1"/>
                </a:solidFill>
                <a:latin typeface="Maple Mono NF"/>
              </a:rPr>
              <a:t>(root):</a:t>
            </a:r>
          </a:p>
          <a:p>
            <a:pPr algn="l">
              <a:buNone/>
            </a:pPr>
            <a:r>
              <a:rPr sz="1100" b="0">
                <a:solidFill>
                  <a:schemeClr val="bg1"/>
                </a:solidFill>
                <a:latin typeface="Maple Mono NF"/>
              </a:rPr>
              <a:t>        </a:t>
            </a:r>
            <a:r>
              <a:rPr sz="1100" b="0">
                <a:solidFill>
                  <a:schemeClr val="accent2"/>
                </a:solidFill>
                <a:latin typeface="Maple Mono NF"/>
              </a:rPr>
              <a:t>raise</a:t>
            </a:r>
            <a:r>
              <a:rPr sz="1100" b="0">
                <a:solidFill>
                  <a:schemeClr val="bg1"/>
                </a:solidFill>
                <a:latin typeface="Maple Mono NF"/>
              </a:rPr>
              <a:t> PathEscapeException(</a:t>
            </a:r>
          </a:p>
          <a:p>
            <a:pPr algn="l">
              <a:buNone/>
            </a:pPr>
            <a:r>
              <a:rPr sz="1100" b="0">
                <a:solidFill>
                  <a:schemeClr val="bg1"/>
                </a:solidFill>
                <a:latin typeface="Maple Mono NF"/>
              </a:rPr>
              <a:t>            f</a:t>
            </a:r>
            <a:r>
              <a:rPr sz="1100" b="0">
                <a:solidFill>
                  <a:schemeClr val="accent3">
                    <a:lumMod val="55000"/>
                    <a:lumOff val="45000"/>
                  </a:schemeClr>
                </a:solidFill>
                <a:latin typeface="Maple Mono NF"/>
              </a:rPr>
              <a:t>"{path!r} resolves outside the workspace root"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candidate</a:t>
            </a:r>
          </a:p>
        </p:txBody>
      </p:sp>
      <p:sp>
        <p:nvSpPr>
          <p:cNvPr id="10" name="Rectangle 9"/>
          <p:cNvSpPr/>
          <p:nvPr/>
        </p:nvSpPr>
        <p:spPr>
          <a:xfrm>
            <a:off x="319251" y="371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 string prefix cannot establish containment: </a:t>
            </a:r>
            <a:r>
              <a:rPr sz="1200" b="0">
                <a:solidFill>
                  <a:schemeClr val="tx2"/>
                </a:solidFill>
                <a:latin typeface="Maple Mono NF"/>
              </a:rPr>
              <a:t>/tmp/ws</a:t>
            </a:r>
            <a:r>
              <a:rPr sz="1200" b="1">
                <a:solidFill>
                  <a:schemeClr val="tx2"/>
                </a:solidFill>
              </a:rPr>
              <a:t> also prefixes </a:t>
            </a:r>
            <a:r>
              <a:rPr sz="1200" b="0">
                <a:solidFill>
                  <a:schemeClr val="tx2"/>
                </a:solidFill>
                <a:latin typeface="Maple Mono NF"/>
              </a:rPr>
              <a:t>/tmp/ws-evil</a:t>
            </a:r>
            <a:r>
              <a:rPr sz="1200" b="1">
                <a:solidFill>
                  <a:schemeClr val="tx2"/>
                </a:solidFill>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refused read and an unchecked search</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The recorded runs contain no refusals. This demonstration sends requests directly to the dispatcher.</a:t>
            </a:r>
          </a:p>
          <a:p>
            <a:pPr marL="400050" indent="-285750">
              <a:spcBef>
                <a:spcPts val="600"/>
              </a:spcBef>
              <a:spcAft>
                <a:spcPts val="600"/>
              </a:spcAft>
              <a:buClr>
                <a:srgbClr val="28285E"/>
              </a:buClr>
              <a:buSzPts val="1260"/>
              <a:buFont typeface="+mn-lt"/>
              <a:buChar char="●"/>
            </a:pPr>
            <a:r>
              <a:rPr sz="1400" b="0">
                <a:solidFill>
                  <a:schemeClr val="tx1"/>
                </a:solidFill>
                <a:latin typeface="Maple Mono NF"/>
              </a:rPr>
              <a:t>read_file</a:t>
            </a:r>
            <a:r>
              <a:rPr sz="1400" b="0">
                <a:solidFill>
                  <a:schemeClr val="tx1"/>
                </a:solidFill>
              </a:rPr>
              <a:t> refuses </a:t>
            </a:r>
            <a:r>
              <a:rPr sz="1400" b="0">
                <a:solidFill>
                  <a:schemeClr val="tx1"/>
                </a:solidFill>
                <a:latin typeface="Maple Mono NF"/>
              </a:rPr>
              <a:t>../../etc/passwd</a:t>
            </a:r>
            <a:r>
              <a:rPr sz="1400" b="0">
                <a:solidFill>
                  <a:schemeClr val="tx1"/>
                </a:solidFill>
              </a:rPr>
              <a:t>. The dispatcher returns an observation with </a:t>
            </a:r>
            <a:r>
              <a:rPr sz="1400" b="0">
                <a:solidFill>
                  <a:schemeClr val="tx1"/>
                </a:solidFill>
                <a:latin typeface="Maple Mono NF"/>
              </a:rPr>
              <a:t>ok=false</a:t>
            </a:r>
            <a:r>
              <a:rPr sz="1400" b="0">
                <a:solidFill>
                  <a:schemeClr val="tx1"/>
                </a:solidFill>
              </a:rPr>
              <a:t> and the reason.</a:t>
            </a:r>
          </a:p>
          <a:p>
            <a:pPr marL="400050" indent="-285750">
              <a:spcBef>
                <a:spcPts val="600"/>
              </a:spcBef>
              <a:spcAft>
                <a:spcPts val="600"/>
              </a:spcAft>
              <a:buClr>
                <a:srgbClr val="28285E"/>
              </a:buClr>
              <a:buSzPts val="1260"/>
              <a:buFont typeface="+mn-lt"/>
              <a:buChar char="●"/>
            </a:pPr>
            <a:r>
              <a:rPr sz="1400" b="1">
                <a:solidFill>
                  <a:schemeClr val="tx1"/>
                </a:solidFill>
              </a:rPr>
              <a:t>search</a:t>
            </a:r>
            <a:r>
              <a:rPr sz="1400" b="0">
                <a:solidFill>
                  <a:schemeClr val="tx1"/>
                </a:solidFill>
              </a:rPr>
              <a:t> with </a:t>
            </a:r>
            <a:r>
              <a:rPr sz="1400" b="0">
                <a:solidFill>
                  <a:schemeClr val="tx1"/>
                </a:solidFill>
                <a:latin typeface="Maple Mono NF"/>
              </a:rPr>
              <a:t>../*-withheld/testcode/*.py</a:t>
            </a:r>
            <a:r>
              <a:rPr sz="1400" b="0">
                <a:solidFill>
                  <a:schemeClr val="tx1"/>
                </a:solidFill>
              </a:rPr>
              <a:t> returns lines from withheld cases with </a:t>
            </a:r>
            <a:r>
              <a:rPr sz="1400" b="0">
                <a:solidFill>
                  <a:schemeClr val="tx1"/>
                </a:solidFill>
                <a:latin typeface="Maple Mono NF"/>
              </a:rPr>
              <a:t>ok=true</a:t>
            </a:r>
            <a:r>
              <a:rPr sz="1400" b="0">
                <a:solidFill>
                  <a:schemeClr val="tx1"/>
                </a:solidFill>
              </a:rPr>
              <a:t>.</a:t>
            </a:r>
          </a:p>
          <a:p>
            <a:pPr marL="400050" indent="-285750">
              <a:spcBef>
                <a:spcPts val="600"/>
              </a:spcBef>
              <a:spcAft>
                <a:spcPts val="600"/>
              </a:spcAft>
              <a:buClr>
                <a:srgbClr val="28285E"/>
              </a:buClr>
              <a:buSzPts val="1260"/>
              <a:buFont typeface="+mn-lt"/>
              <a:buChar char="●"/>
            </a:pPr>
            <a:r>
              <a:rPr sz="1400" b="1">
                <a:solidFill>
                  <a:schemeClr val="tx1"/>
                </a:solidFill>
              </a:rPr>
              <a:t>The path check</a:t>
            </a:r>
            <a:r>
              <a:rPr sz="1400" b="0">
                <a:solidFill>
                  <a:schemeClr val="tx1"/>
                </a:solidFill>
              </a:rPr>
              <a:t> guards </a:t>
            </a:r>
            <a:r>
              <a:rPr sz="1400" b="0">
                <a:solidFill>
                  <a:schemeClr val="tx1"/>
                </a:solidFill>
                <a:latin typeface="Maple Mono NF"/>
              </a:rPr>
              <a:t>read_file</a:t>
            </a:r>
            <a:r>
              <a:rPr sz="1400" b="0">
                <a:solidFill>
                  <a:schemeClr val="tx1"/>
                </a:solidFill>
              </a:rPr>
              <a:t> and edit. The search glob bypasses this check.</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repair is to pass every file matched by search through </a:t>
            </a:r>
            <a:r>
              <a:rPr sz="1400" b="0">
                <a:solidFill>
                  <a:schemeClr val="tx2"/>
                </a:solidFill>
                <a:latin typeface="Maple Mono NF"/>
              </a:rPr>
              <a:t>workspace.resolve</a:t>
            </a:r>
            <a:r>
              <a:rPr sz="1400" b="0">
                <a:solidFill>
                  <a:schemeClr val="tx2"/>
                </a:solidFill>
              </a:rPr>
              <a:t> before reading it.</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implementation mediates all writes. It leaves a route for unchecked reads.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chemeClr val="tx2"/>
                </a:solidFill>
              </a:rPr>
              <a:t>Event-driven scheduling</a:t>
            </a:r>
          </a:p>
        </p:txBody>
      </p:sp>
      <p:sp>
        <p:nvSpPr>
          <p:cNvPr id="3" name="Rectangle 2"/>
          <p:cNvSpPr/>
          <p:nvPr/>
        </p:nvSpPr>
        <p:spPr>
          <a:xfrm>
            <a:off x="319251" y="1700000"/>
            <a:ext cx="6014545" cy="1300000"/>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In this execution model, routing selects a node and the scheduler runs it in the next superstep.</a:t>
            </a:r>
          </a:p>
          <a:p>
            <a:pPr>
              <a:spcBef>
                <a:spcPts val="1000"/>
              </a:spcBef>
            </a:pPr>
            <a:r>
              <a:rPr sz="1400" b="0">
                <a:solidFill>
                  <a:schemeClr val="tx2"/>
                </a:solidFill>
              </a:rPr>
              <a:t>In event-driven scheduling, a computation emits an event and the runtime invokes its registered handler. The tool contract and dispatcher remain the same.</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9120</TotalTime>
  <Words>7822</Words>
  <Application>Microsoft Macintosh PowerPoint</Application>
  <PresentationFormat>Custom</PresentationFormat>
  <Paragraphs>578</Paragraphs>
  <Slides>70</Slides>
  <Notes>52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Maple Mono NF</vt:lpstr>
      <vt:lpstr>Arial</vt:lpstr>
      <vt:lpstr>Fira Sans</vt:lpstr>
      <vt:lpstr>Maple Mono NF Light</vt:lpstr>
      <vt:lpstr>Simple Light</vt:lpstr>
      <vt:lpstr>Designing Production Agentic Systems</vt:lpstr>
      <vt:lpstr>PowerPoint Presentation</vt:lpstr>
      <vt:lpstr>Class announcements</vt:lpstr>
      <vt:lpstr>PowerPoint Presentation</vt:lpstr>
      <vt:lpstr>PowerPoint Presentation</vt:lpstr>
      <vt:lpstr>PowerPoint Presentation</vt:lpstr>
      <vt:lpstr>A state machine as a description of an agent</vt:lpstr>
      <vt:lpstr>The planning agent's control locations</vt:lpstr>
      <vt:lpstr>State: what the agent keeps between steps</vt:lpstr>
      <vt:lpstr>Inputs: what arrives during a step</vt:lpstr>
      <vt:lpstr>Determinism: two ways to treat the reply</vt:lpstr>
      <vt:lpstr>Extended state machines and configurations</vt:lpstr>
      <vt:lpstr>Configurations: finite control, unbounded data</vt:lpstr>
      <vt:lpstr>Transitions: guard, output action, set action</vt:lpstr>
      <vt:lpstr>The elements of a transition (for an agent)</vt:lpstr>
      <vt:lpstr>One transition in code: controller to tools</vt:lpstr>
      <vt:lpstr>Behaviour, trace and computation tree</vt:lpstr>
      <vt:lpstr>The event log as a trace</vt:lpstr>
      <vt:lpstr>The planning agent's state machine</vt:lpstr>
      <vt:lpstr>The planning agent's forward path</vt:lpstr>
      <vt:lpstr>The planning agent's feedback edges</vt:lpstr>
      <vt:lpstr>The planning agent's exits</vt:lpstr>
      <vt:lpstr>The recorded run through the planning agent</vt:lpstr>
      <vt:lpstr>The recorded run in the computation tree</vt:lpstr>
      <vt:lpstr>What the event log records and omits</vt:lpstr>
      <vt:lpstr>PowerPoint Presentation</vt:lpstr>
      <vt:lpstr>State records and schemas</vt:lpstr>
      <vt:lpstr>Partial updates and state transitions</vt:lpstr>
      <vt:lpstr>The controller's three return sites</vt:lpstr>
      <vt:lpstr>The controller's return sites, in code</vt:lpstr>
      <vt:lpstr>Model context, runtime state, durable state</vt:lpstr>
      <vt:lpstr>Model context and admission checks</vt:lpstr>
      <vt:lpstr>Reducers: append, replace, accumulate</vt:lpstr>
      <vt:lpstr>The reducers in the schema</vt:lpstr>
      <vt:lpstr>State schemas and field lifetimes</vt:lpstr>
      <vt:lpstr>Field lifetimes</vt:lpstr>
      <vt:lpstr>Handoff and window, in the planning agent</vt:lpstr>
      <vt:lpstr>Proving invariants over configurations</vt:lpstr>
      <vt:lpstr>The call budget as an invariant</vt:lpstr>
      <vt:lpstr>Constructing and compiling the state graph</vt:lpstr>
      <vt:lpstr>Designing a state graph</vt:lpstr>
      <vt:lpstr>Routing functions and conditional edges</vt:lpstr>
      <vt:lpstr>PowerPoint Presentation</vt:lpstr>
      <vt:lpstr>Routing functions and conditional edges</vt:lpstr>
      <vt:lpstr>Routing after the controller</vt:lpstr>
      <vt:lpstr>The same graph, different paths</vt:lpstr>
      <vt:lpstr>Feedback edges: revision and repair</vt:lpstr>
      <vt:lpstr>Feedback edges and their bounds</vt:lpstr>
      <vt:lpstr>A proposed feedback edge for new attempts</vt:lpstr>
      <vt:lpstr>Loop bounds and termination</vt:lpstr>
      <vt:lpstr>Checking the budget before each model call</vt:lpstr>
      <vt:lpstr>What a trace establishes</vt:lpstr>
      <vt:lpstr>Terminal statuses and trace closure</vt:lpstr>
      <vt:lpstr>Three interpretations of a trace</vt:lpstr>
      <vt:lpstr>A recorded repair after failed checks</vt:lpstr>
      <vt:lpstr>A recorded keyboard interruption</vt:lpstr>
      <vt:lpstr>PowerPoint Presentation</vt:lpstr>
      <vt:lpstr>Supersteps: when an update becomes visible</vt:lpstr>
      <vt:lpstr>Two supersteps in the recorded run</vt:lpstr>
      <vt:lpstr>The five parts of a tool contract</vt:lpstr>
      <vt:lpstr>Tool preconditions and postconditions</vt:lpstr>
      <vt:lpstr>Arguments supplied by the dispatcher</vt:lpstr>
      <vt:lpstr>The five operations of the dispatch cycle</vt:lpstr>
      <vt:lpstr>Returning a refusal as an observation</vt:lpstr>
      <vt:lpstr>Evidence of a tool request and execution</vt:lpstr>
      <vt:lpstr>Complete mediation of resource access</vt:lpstr>
      <vt:lpstr>Guarantees and their enforcing components</vt:lpstr>
      <vt:lpstr>Checking paths against the workspace root</vt:lpstr>
      <vt:lpstr>A refused read and an unchecked search</vt:lpstr>
      <vt:lpstr>Event-driven scheduling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190</cp:revision>
  <dcterms:modified xsi:type="dcterms:W3CDTF">2026-09-25T13:17:47Z</dcterms:modified>
</cp:coreProperties>
</file>
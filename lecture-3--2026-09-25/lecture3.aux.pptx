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0.xml" ContentType="application/vnd.openxmlformats-officedocument.presentationml.slide+xml"/>
  <Override PartName="/ppt/slides/slide67.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6"/>
  </p:notesMasterIdLst>
  <p:sldIdLst>
    <p:sldId id="589" r:id="rId57"/>
    <p:sldId id="526" r:id="rId58"/>
    <p:sldId id="527" r:id="rId59"/>
    <p:sldId id="529" r:id="rId61"/>
    <p:sldId id="536" r:id="rId68"/>
    <p:sldId id="560" r:id="rId70"/>
    <p:sldId id="561" r:id="rId71"/>
    <p:sldId id="562" r:id="rId72"/>
    <p:sldId id="563" r:id="rId73"/>
    <p:sldId id="564" r:id="rId74"/>
    <p:sldId id="565" r:id="rId75"/>
    <p:sldId id="566" r:id="rId76"/>
    <p:sldId id="567" r:id="rId77"/>
    <p:sldId id="568" r:id="rId78"/>
    <p:sldId id="569" r:id="rId79"/>
    <p:sldId id="570" r:id="rId80"/>
    <p:sldId id="571" r:id="rId81"/>
    <p:sldId id="572" r:id="rId82"/>
    <p:sldId id="573" r:id="rId83"/>
    <p:sldId id="574" r:id="rId84"/>
    <p:sldId id="575" r:id="rId85"/>
    <p:sldId id="576" r:id="rId86"/>
    <p:sldId id="577" r:id="rId87"/>
    <p:sldId id="578" r:id="rId88"/>
    <p:sldId id="579" r:id="rId89"/>
    <p:sldId id="580" r:id="rId90"/>
    <p:sldId id="581" r:id="rId91"/>
    <p:sldId id="582" r:id="rId92"/>
    <p:sldId id="583" r:id="rId93"/>
    <p:sldId id="584" r:id="rId94"/>
    <p:sldId id="585" r:id="rId95"/>
  </p:sldIdLst>
  <p:sldSz cx="6858000" cy="5143500"/>
  <p:notesSz cx="6858000" cy="9144000"/>
  <p:embeddedFontLst>
    <p:embeddedFont>
      <p:font typeface="Fira Sans" panose="020B0503050000020004" pitchFamily="34" charset="0"/>
      <p:regular r:id="rId97"/>
      <p:bold r:id="rId98"/>
      <p:italic r:id="rId99"/>
      <p:boldItalic r:id="rId100"/>
    </p:embeddedFont>
    <p:embeddedFont>
      <p:font typeface="Maple Mono NF" panose="020F0509060000000000" pitchFamily="49" charset="0"/>
      <p:regular r:id="rId101"/>
      <p:bold r:id="rId102"/>
      <p:italic r:id="rId103"/>
      <p:boldItalic r:id="rId104"/>
    </p:embeddedFont>
    <p:embeddedFont>
      <p:font typeface="Maple Mono NF Light" panose="020F0509060000000000" pitchFamily="49" charset="0"/>
      <p:regular r:id="rId105"/>
      <p:italic r:id="rId10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589"/>
            <p14:sldId id="526"/>
            <p14:sldId id="527"/>
            <p14:sldId id="529"/>
            <p14:sldId id="536"/>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4"/>
    <p:restoredTop sz="98401"/>
  </p:normalViewPr>
  <p:slideViewPr>
    <p:cSldViewPr snapToGrid="0">
      <p:cViewPr>
        <p:scale>
          <a:sx n="272" d="100"/>
          <a:sy n="272" d="100"/>
        </p:scale>
        <p:origin x="280" y="144"/>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1" Type="http://schemas.openxmlformats.org/officeDocument/2006/relationships/slide" Target="slides/slide60.xml"/><Relationship Id="rId68" Type="http://schemas.openxmlformats.org/officeDocument/2006/relationships/slide" Target="slides/slide67.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font" Target="fonts/font1.fntdata"/><Relationship Id="rId98" Type="http://schemas.openxmlformats.org/officeDocument/2006/relationships/font" Target="fonts/font2.fntdata"/><Relationship Id="rId99" Type="http://schemas.openxmlformats.org/officeDocument/2006/relationships/font" Target="fonts/font3.fntdata"/><Relationship Id="rId100" Type="http://schemas.openxmlformats.org/officeDocument/2006/relationships/font" Target="fonts/font4.fntdata"/><Relationship Id="rId101" Type="http://schemas.openxmlformats.org/officeDocument/2006/relationships/font" Target="fonts/font5.fntdata"/><Relationship Id="rId102" Type="http://schemas.openxmlformats.org/officeDocument/2006/relationships/font" Target="fonts/font6.fntdata"/><Relationship Id="rId103" Type="http://schemas.openxmlformats.org/officeDocument/2006/relationships/font" Target="fonts/font7.fntdata"/><Relationship Id="rId104" Type="http://schemas.openxmlformats.org/officeDocument/2006/relationships/font" Target="fonts/font8.fntdata"/><Relationship Id="rId105" Type="http://schemas.openxmlformats.org/officeDocument/2006/relationships/font" Target="fonts/font9.fntdata"/><Relationship Id="rId106" Type="http://schemas.openxmlformats.org/officeDocument/2006/relationships/font" Target="fonts/font10.fntdata"/><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 Id="rId111"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C8B0-503A-E181-0BA9-01A796D3F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5D210-89F8-FD0D-C86E-C551999A8C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4192A42-8073-0AB3-B73B-5F9E9134D2DD}"/>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8574662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LangGraph organizes execution into Pregel supersteps. Multiple writes to one field in the same superstep require a reducer that combines them. Without one, the runtime rejects the competing writes.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graph has no parallel branches, so each superstep runs one node. The routing function reads the record after the controller's reply has been merged.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MIT 6.031’s specification structure assigns obligations to the caller and implementer. A method specification may make no promises after a precondition violation. Because models can supply invalid arguments, tool contracts must specify how the runtime detects violations, reports refusal and prevents side effects from refused requests.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Joining an absolute path to the root yields the absolute path itself, which the check then refuses if its resolved destination lies outside the root.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5.1 of the notes. The machine, its record, the tool contract and the dispatcher are unchanged; only the mechanism that invokes the next computation differs. The scheduler runs the selected node in the next </a:t>
            </a:r>
            <a:r>
              <a:rPr dirty="0" err="1"/>
              <a:t>superstep</a:t>
            </a:r>
            <a:r>
              <a:rPr dirty="0"/>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wording follows the Cornell CS 2110 lecture the notes cite. A tool request event records a request to a handler; it does not establish that the handler ran, exactly as a model's tool request in section 4 does not establish that the read occurred.</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Definition 5.4 and section 5.1 of the notes. The registrations map an event type to its handler, so the two realizations express the choice of the next computation in different places. If the loop does not check its registrations, an event can leave the queue with no handler: nothing runs, although no component decided to stop. We treat that as a defect rather than a terminal outcome.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5.2 of the notes, after </a:t>
            </a:r>
            <a:r>
              <a:rPr dirty="0" err="1"/>
              <a:t>Seshia</a:t>
            </a:r>
            <a:r>
              <a:rPr dirty="0"/>
              <a:t> and Lee's slides 23 to 25. In the graph, each </a:t>
            </a:r>
            <a:r>
              <a:rPr dirty="0" err="1"/>
              <a:t>superstep</a:t>
            </a:r>
            <a:r>
              <a:rPr dirty="0"/>
              <a:t> begins when the preceding one finishes. A guard requiring every triggering input to be absent cannot fire when reactions require an input to be present.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Section 5.2 of the notes. During active execution, either one event is pending and no handler runs, or one handler runs and no event is pending. The machine in Figure 1 no longer describes configurations with two running handlers; the demo's validate step runs three at once (section 5.4).</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5.2 of the notes, rules 1 and 2 of four. The graph's superstep model provides this ordering. An empty queue does not establish how the run ended or whether termination was intentional.</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5.2 of the notes, rules 3 and 4 of four. In a serial realization no event can be pending at termination. A log event records an occurrence in the trace and triggers no computation. The terminal event ends dispatch; the terminal record in the trace records its status.</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from the LlamaIndex Workflows introduction.</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The pre-run validation is what catches an event type with no handler, which section 5.1 treats as a defect rather than a terminal outcome.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LlamaIndex's validation does not establish that a particular run will reach StopEvent. In CrewAI the outcome must be in the record before the last method completes. CrewAI's @start(), @listen(), @router() and the or_ and and_ operators are HW1 reference material.</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Comparing an event realization with the graph realization requires a controlled design. The four properties: the observations appended to the record, the effects on the workspace, the results of the acceptance checks, and the terminal status and its meaning.</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Model replies depend on the messages each realization constructs, so changing how a handler formats messages changes the input distribution even when the transition rules stay the same.</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cyberbird/event_driven. The budget is checked before each call. The RunState holds the run's bookkeeping: the filters, the queue, the current alert and the results. Nothing in an AlertState is shared with any other alert.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Table 8 of the notes, from the wiring table in workflow.py, without its Decided-by column: plan, controller and validate are decided by a model, the rest by the runtime. Each step's signature names the events it accepts, and its return annotation names the events it emits. The rows below the rule are the machine of Figure 1; the rows above it are new. gate releases one alert at a time. V is the number of validators, three by default. The guards now sit inside the steps and choose which event to return.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White boxes are runtime components. Blue steps call a model (the validators will, once they are no longer stubs), and grey steps run tools, checks or bookkeeping. The ellipses are the run request that starts the run and END. Each solid arrow from the dispatcher names the event types its step accepts. Every event a step emits returns to the queue along the dashed path. V validators run at the same time.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When the alert has spent its budget, the step returns AlertDone with status budget_exhausted and makes no call. A second stall returns AlertDone with status no_progress.</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The alert_id is the correlation key: one workflow run handles many alerts, and every event after AlertFound carries it.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submit uses ctx.send_event for the fan-out. judge uses ctx.collect_events, which holds each verdict and returns None until all V have arrived, in any order.</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accepted and rejected come from judge, no_progress from tools, budget_exhausted from plan or controller.</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5.3 of the notes: events are user-defined Pydantic classes, and the framework supplies StartEvent and StopEvent. The other twelve event classes subclass AlertEvent.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two long lines are broken at a comma to fit the window; nothing is paraphrased. The comment is the file's own.</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 1 in the code. When _admit returns False, plan and controller return AlertDone with status budget_exhausted and make no call. The signature is broken at a comma to fit the window.</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 2 in the code. submit is a stub: the checks are not yet real, so patch and checks are placeholders. The step returns None; the events it sent carry the run forward.</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rules 2 and 3 in the code: the gate emits StopEvent only when the count of results equals the count of alerts, so no alert is still in progress when the run ends. gate also returns AlertStarted when it releases the next alert; that branch is cut.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5.4 of the notes. The budget check reserves its call under the same lock, so two steps admitted at the same moment cannot both take the last call. submit lists ValidateRequested in its return annotation although it sends those events rather than returning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62A2B-FDCF-A1DC-9017-0AFFE57B9F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98DCAC-A76C-A823-399D-768823452A81}"/>
              </a:ext>
            </a:extLst>
          </p:cNvPr>
          <p:cNvSpPr txBox="1"/>
          <p:nvPr/>
        </p:nvSpPr>
        <p:spPr>
          <a:xfrm>
            <a:off x="611972" y="265337"/>
            <a:ext cx="5634056" cy="1323439"/>
          </a:xfrm>
          <a:prstGeom prst="rect">
            <a:avLst/>
          </a:prstGeom>
          <a:noFill/>
        </p:spPr>
        <p:txBody>
          <a:bodyPr wrap="square" anchor="ctr">
            <a:spAutoFit/>
          </a:bodyPr>
          <a:lstStyle/>
          <a:p>
            <a:pPr algn="ctr"/>
            <a:r>
              <a:rPr lang="en-US" sz="4000" b="1" dirty="0">
                <a:solidFill>
                  <a:schemeClr val="tx2"/>
                </a:solidFill>
                <a:latin typeface="+mj-lt"/>
              </a:rPr>
              <a:t>Scheduling, tools, and execution authority</a:t>
            </a:r>
          </a:p>
        </p:txBody>
      </p:sp>
      <p:cxnSp>
        <p:nvCxnSpPr>
          <p:cNvPr id="4" name="Straight Arrow Connector 3">
            <a:extLst>
              <a:ext uri="{FF2B5EF4-FFF2-40B4-BE49-F238E27FC236}">
                <a16:creationId xmlns:a16="http://schemas.microsoft.com/office/drawing/2014/main" id="{DF2C7272-C94D-604C-8564-E2CAE657DD29}"/>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0546CFF1-D557-E681-6363-5640E32D5E0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DF50660-9E76-5FBB-0F3D-697A84C29135}"/>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F11D4DE-FE31-D73E-EEE1-DB12B5268020}"/>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FD67B7E-2781-9D77-1EBD-B4360DF7C1A2}"/>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F4F229A4-9985-3967-3666-8C4BD6D4C4A6}"/>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89CD9127-6080-30A2-643D-BF57B563C56A}"/>
              </a:ext>
            </a:extLst>
          </p:cNvPr>
          <p:cNvSpPr txBox="1"/>
          <p:nvPr/>
        </p:nvSpPr>
        <p:spPr>
          <a:xfrm>
            <a:off x="1259524" y="2679943"/>
            <a:ext cx="2779928"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759A21A2-B500-2619-1F4F-322D5533C9D6}"/>
              </a:ext>
            </a:extLst>
          </p:cNvPr>
          <p:cNvSpPr txBox="1"/>
          <p:nvPr/>
        </p:nvSpPr>
        <p:spPr>
          <a:xfrm>
            <a:off x="1259524" y="3743778"/>
            <a:ext cx="3025187"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306AA945-F689-FC77-BD2F-B82C16E2139B}"/>
              </a:ext>
            </a:extLst>
          </p:cNvPr>
          <p:cNvSpPr txBox="1"/>
          <p:nvPr/>
        </p:nvSpPr>
        <p:spPr>
          <a:xfrm>
            <a:off x="1259524" y="3210082"/>
            <a:ext cx="3167855"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6D3CF14-AB97-1052-B9EC-CB281AD15C65}"/>
              </a:ext>
            </a:extLst>
          </p:cNvPr>
          <p:cNvPicPr>
            <a:picLocks noChangeAspect="1"/>
          </p:cNvPicPr>
          <p:nvPr/>
        </p:nvPicPr>
        <p:blipFill>
          <a:blip r:embed="rId3">
            <a:alphaModFix amt="70000"/>
          </a:blip>
          <a:stretch>
            <a:fillRect/>
          </a:stretch>
        </p:blipFill>
        <p:spPr>
          <a:xfrm>
            <a:off x="825474" y="1933482"/>
            <a:ext cx="5732295" cy="1709693"/>
          </a:xfrm>
          <a:prstGeom prst="rect">
            <a:avLst/>
          </a:prstGeom>
        </p:spPr>
      </p:pic>
    </p:spTree>
    <p:extLst>
      <p:ext uri="{BB962C8B-B14F-4D97-AF65-F5344CB8AC3E}">
        <p14:creationId xmlns:p14="http://schemas.microsoft.com/office/powerpoint/2010/main" val="8601790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Supersteps: when an update becomes visible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Routing selects the next graph node. Scheduling determines when the node runs and which version of the state record it reads.</a:t>
            </a:r>
          </a:p>
          <a:p>
            <a:pPr marL="400050" indent="-285750">
              <a:spcBef>
                <a:spcPts val="600"/>
              </a:spcBef>
              <a:spcAft>
                <a:spcPts val="600"/>
              </a:spcAft>
              <a:buClr>
                <a:srgbClr val="28285E"/>
              </a:buClr>
              <a:buSzPts val="1260"/>
              <a:buFont typeface="+mn-lt"/>
              <a:buChar char="●"/>
            </a:pPr>
            <a:r>
              <a:rPr sz="1400" b="1">
                <a:solidFill>
                  <a:schemeClr val="tx1"/>
                </a:solidFill>
              </a:rPr>
              <a:t>Planning</a:t>
            </a:r>
            <a:r>
              <a:rPr sz="1400" b="0">
                <a:solidFill>
                  <a:schemeClr val="tx1"/>
                </a:solidFill>
              </a:rPr>
              <a:t> selects the nodes to run from the inputs updated in the previous superstep.</a:t>
            </a:r>
          </a:p>
          <a:p>
            <a:pPr marL="400050" indent="-285750">
              <a:spcBef>
                <a:spcPts val="600"/>
              </a:spcBef>
              <a:spcAft>
                <a:spcPts val="600"/>
              </a:spcAft>
              <a:buClr>
                <a:srgbClr val="28285E"/>
              </a:buClr>
              <a:buSzPts val="1260"/>
              <a:buFont typeface="+mn-lt"/>
              <a:buChar char="●"/>
            </a:pPr>
            <a:r>
              <a:rPr sz="1400" b="1">
                <a:solidFill>
                  <a:schemeClr val="tx1"/>
                </a:solidFill>
              </a:rPr>
              <a:t>Execution</a:t>
            </a:r>
            <a:r>
              <a:rPr sz="1400" b="0">
                <a:solidFill>
                  <a:schemeClr val="tx1"/>
                </a:solidFill>
              </a:rPr>
              <a:t> runs the selected nodes. Other nodes cannot read their returned state updates during this phase.</a:t>
            </a:r>
          </a:p>
          <a:p>
            <a:pPr marL="400050" indent="-285750">
              <a:spcBef>
                <a:spcPts val="600"/>
              </a:spcBef>
              <a:spcAft>
                <a:spcPts val="600"/>
              </a:spcAft>
              <a:buClr>
                <a:srgbClr val="28285E"/>
              </a:buClr>
              <a:buSzPts val="1260"/>
              <a:buFont typeface="+mn-lt"/>
              <a:buChar char="●"/>
            </a:pPr>
            <a:r>
              <a:rPr sz="1400" b="1">
                <a:solidFill>
                  <a:schemeClr val="tx1"/>
                </a:solidFill>
              </a:rPr>
              <a:t>Update</a:t>
            </a:r>
            <a:r>
              <a:rPr sz="1400" b="0">
                <a:solidFill>
                  <a:schemeClr val="tx1"/>
                </a:solidFill>
              </a:rPr>
              <a:t> merges the nodes' returned values into the state record using its reducers.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superstep is one round of planning, execution and update. Nodes read the updated state in the next round.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tool can change a file during execution, before the runtime updates the state record.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supersteps in the recorded run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controller's superstep contains events 3 and 4. The next superstep runs tools and contains events 5 and 6.</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3 to 6. Timestamp, run identifier and thinking omitted.</a:t>
            </a:r>
          </a:p>
        </p:txBody>
      </p:sp>
      <p:sp>
        <p:nvSpPr>
          <p:cNvPr id="5" name="CodeWindow"/>
          <p:cNvSpPr/>
          <p:nvPr/>
        </p:nvSpPr>
        <p:spPr>
          <a:xfrm>
            <a:off x="319251" y="1650000"/>
            <a:ext cx="6014545" cy="1927272"/>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527272"/>
          </a:xfrm>
          <a:prstGeom prst="rect">
            <a:avLst/>
          </a:prstGeom>
          <a:noFill/>
        </p:spPr>
        <p:txBody>
          <a:bodyPr wrap="none" lIns="0" tIns="0" rIns="0" bIns="0" anchor="t">
            <a:spAutoFit/>
          </a:bodyPr>
          <a:lstStyle/>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3</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"model_call"</a:t>
            </a:r>
            <a:r>
              <a:rPr sz="1000" b="0">
                <a:solidFill>
                  <a:schemeClr val="bg1"/>
                </a:solidFill>
                <a:latin typeface="Maple Mono NF"/>
              </a:rPr>
              <a:t>, </a:t>
            </a:r>
            <a:r>
              <a:rPr sz="1000" b="0">
                <a:solidFill>
                  <a:schemeClr val="accent2"/>
                </a:solidFill>
                <a:latin typeface="Maple Mono NF"/>
              </a:rPr>
              <a:t>"role"</a:t>
            </a:r>
            <a:r>
              <a:rPr sz="1000" b="0">
                <a:solidFill>
                  <a:schemeClr val="bg1"/>
                </a:solidFill>
                <a:latin typeface="Maple Mono NF"/>
              </a:rPr>
              <a:t>: </a:t>
            </a:r>
            <a:r>
              <a:rPr sz="1000" b="0">
                <a:solidFill>
                  <a:schemeClr val="accent3">
                    <a:lumMod val="55000"/>
                    <a:lumOff val="45000"/>
                  </a:schemeClr>
                </a:solidFill>
                <a:latin typeface="Maple Mono NF"/>
              </a:rPr>
              <a:t>"controller"</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"tool_calls"</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 </a:t>
            </a:r>
            <a:r>
              <a:rPr sz="1000" b="0">
                <a:solidFill>
                  <a:schemeClr val="accent2"/>
                </a:solidFill>
                <a:latin typeface="Maple Mono NF"/>
              </a:rPr>
              <a:t>"usage"</a:t>
            </a:r>
            <a:r>
              <a:rPr sz="1000" b="0">
                <a:solidFill>
                  <a:schemeClr val="bg1"/>
                </a:solidFill>
                <a:latin typeface="Maple Mono NF"/>
              </a:rPr>
              <a:t>: {</a:t>
            </a:r>
            <a:r>
              <a:rPr sz="1000" b="0">
                <a:solidFill>
                  <a:schemeClr val="accent2"/>
                </a:solidFill>
                <a:latin typeface="Maple Mono NF"/>
              </a:rPr>
              <a:t>"input"</a:t>
            </a:r>
            <a:r>
              <a:rPr sz="1000" b="0">
                <a:solidFill>
                  <a:schemeClr val="bg1"/>
                </a:solidFill>
                <a:latin typeface="Maple Mono NF"/>
              </a:rPr>
              <a:t>: </a:t>
            </a:r>
            <a:r>
              <a:rPr sz="1000" b="0">
                <a:solidFill>
                  <a:schemeClr val="accent5">
                    <a:lumMod val="45000"/>
                    <a:lumOff val="55000"/>
                  </a:schemeClr>
                </a:solidFill>
                <a:latin typeface="Maple Mono NF"/>
              </a:rPr>
              <a:t>1284</a:t>
            </a:r>
            <a:r>
              <a:rPr sz="1000" b="0">
                <a:solidFill>
                  <a:schemeClr val="bg1"/>
                </a:solidFill>
                <a:latin typeface="Maple Mono NF"/>
              </a:rPr>
              <a:t>, </a:t>
            </a:r>
            <a:r>
              <a:rPr sz="1000" b="0">
                <a:solidFill>
                  <a:schemeClr val="accent2"/>
                </a:solidFill>
                <a:latin typeface="Maple Mono NF"/>
              </a:rPr>
              <a:t>"output"</a:t>
            </a:r>
            <a:r>
              <a:rPr sz="1000" b="0">
                <a:solidFill>
                  <a:schemeClr val="bg1"/>
                </a:solidFill>
                <a:latin typeface="Maple Mono NF"/>
              </a:rPr>
              <a:t>: </a:t>
            </a:r>
            <a:r>
              <a:rPr sz="1000" b="0">
                <a:solidFill>
                  <a:schemeClr val="accent5">
                    <a:lumMod val="45000"/>
                    <a:lumOff val="55000"/>
                  </a:schemeClr>
                </a:solidFill>
                <a:latin typeface="Maple Mono NF"/>
              </a:rPr>
              <a:t>51</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4</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"routing"</a:t>
            </a:r>
            <a:r>
              <a:rPr sz="1000" b="0">
                <a:solidFill>
                  <a:schemeClr val="bg1"/>
                </a:solidFill>
                <a:latin typeface="Maple Mono NF"/>
              </a:rPr>
              <a:t>, </a:t>
            </a:r>
            <a:r>
              <a:rPr sz="1000" b="0">
                <a:solidFill>
                  <a:schemeClr val="accent2"/>
                </a:solidFill>
                <a:latin typeface="Maple Mono NF"/>
              </a:rPr>
              <a:t>"decision"</a:t>
            </a:r>
            <a:r>
              <a:rPr sz="1000" b="0">
                <a:solidFill>
                  <a:schemeClr val="bg1"/>
                </a:solidFill>
                <a:latin typeface="Maple Mono NF"/>
              </a:rPr>
              <a:t>: </a:t>
            </a:r>
            <a:r>
              <a:rPr sz="1000" b="0">
                <a:solidFill>
                  <a:schemeClr val="accent3">
                    <a:lumMod val="55000"/>
                    <a:lumOff val="45000"/>
                  </a:schemeClr>
                </a:solidFill>
                <a:latin typeface="Maple Mono NF"/>
              </a:rPr>
              <a:t>"tools"</a:t>
            </a:r>
            <a:r>
              <a:rPr sz="1000" b="0">
                <a:solidFill>
                  <a:schemeClr val="bg1"/>
                </a:solidFill>
                <a:latin typeface="Maple Mono NF"/>
              </a:rPr>
              <a:t>, </a:t>
            </a:r>
            <a:r>
              <a:rPr sz="1000" b="0">
                <a:solidFill>
                  <a:schemeClr val="accent2"/>
                </a:solidFill>
                <a:latin typeface="Maple Mono NF"/>
              </a:rPr>
              <a:t>"by"</a:t>
            </a:r>
            <a:r>
              <a:rPr sz="1000" b="0">
                <a:solidFill>
                  <a:schemeClr val="bg1"/>
                </a:solidFill>
                <a:latin typeface="Maple Mono NF"/>
              </a:rPr>
              <a:t>: </a:t>
            </a:r>
            <a:r>
              <a:rPr sz="1000" b="0">
                <a:solidFill>
                  <a:schemeClr val="accent3">
                    <a:lumMod val="55000"/>
                    <a:lumOff val="45000"/>
                  </a:schemeClr>
                </a:solidFill>
                <a:latin typeface="Maple Mono NF"/>
              </a:rPr>
              <a:t>"model"</a:t>
            </a:r>
            <a:r>
              <a:rPr sz="1000" b="0">
                <a:solidFill>
                  <a:schemeClr val="bg1"/>
                </a:solidFill>
                <a:latin typeface="Maple Mono NF"/>
              </a:rPr>
              <a:t>}</a:t>
            </a:r>
          </a:p>
          <a:p>
            <a:pPr algn="l">
              <a:buNone/>
            </a:pPr>
            <a:r>
              <a:rPr sz="1000" b="0">
                <a:solidFill>
                  <a:schemeClr val="accent6"/>
                </a:solidFill>
                <a:latin typeface="Maple Mono NF"/>
              </a:rPr>
              <a:t># ours: the next superstep starts here</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5</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"tool_request"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"args"</a:t>
            </a:r>
            <a:r>
              <a:rPr sz="1000" b="0">
                <a:solidFill>
                  <a:schemeClr val="bg1"/>
                </a:solidFill>
                <a:latin typeface="Maple Mono NF"/>
              </a:rPr>
              <a:t>: {</a:t>
            </a:r>
            <a:r>
              <a:rPr sz="1000" b="0">
                <a:solidFill>
                  <a:schemeClr val="accent2"/>
                </a:solidFill>
                <a:latin typeface="Maple Mono NF"/>
              </a:rPr>
              <a:t>"path"</a:t>
            </a:r>
            <a:r>
              <a:rPr sz="1000" b="0">
                <a:solidFill>
                  <a:schemeClr val="bg1"/>
                </a:solidFill>
                <a:latin typeface="Maple Mono NF"/>
              </a:rPr>
              <a:t>: </a:t>
            </a:r>
            <a:r>
              <a:rPr sz="1000" b="0">
                <a:solidFill>
                  <a:schemeClr val="accent3">
                    <a:lumMod val="55000"/>
                    <a:lumOff val="45000"/>
                  </a:schemeClr>
                </a:solidFill>
                <a:latin typeface="Maple Mono NF"/>
              </a:rPr>
              <a:t>"testcode/BenchmarkTest00283.py"</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6</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"tool_result"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"ok"</a:t>
            </a:r>
            <a:r>
              <a:rPr sz="1000" b="0">
                <a:solidFill>
                  <a:schemeClr val="bg1"/>
                </a:solidFill>
                <a:latin typeface="Maple Mono NF"/>
              </a:rPr>
              <a:t>: </a:t>
            </a:r>
            <a:r>
              <a:rPr sz="1000" b="0">
                <a:solidFill>
                  <a:schemeClr val="accent5">
                    <a:lumMod val="45000"/>
                    <a:lumOff val="55000"/>
                  </a:schemeClr>
                </a:solidFill>
                <a:latin typeface="Maple Mono NF"/>
              </a:rPr>
              <a:t>true</a:t>
            </a:r>
            <a:r>
              <a:rPr sz="1000" b="0">
                <a:solidFill>
                  <a:schemeClr val="bg1"/>
                </a:solidFill>
                <a:latin typeface="Maple Mono NF"/>
              </a:rPr>
              <a:t>, </a:t>
            </a:r>
            <a:r>
              <a:rPr sz="1000" b="0">
                <a:solidFill>
                  <a:schemeClr val="accent2"/>
                </a:solidFill>
                <a:latin typeface="Maple Mono NF"/>
              </a:rPr>
              <a:t>"chars"</a:t>
            </a:r>
            <a:r>
              <a:rPr sz="1000" b="0">
                <a:solidFill>
                  <a:schemeClr val="bg1"/>
                </a:solidFill>
                <a:latin typeface="Maple Mono NF"/>
              </a:rPr>
              <a:t>: </a:t>
            </a:r>
            <a:r>
              <a:rPr sz="1000" b="0">
                <a:solidFill>
                  <a:schemeClr val="accent5">
                    <a:lumMod val="45000"/>
                    <a:lumOff val="55000"/>
                  </a:schemeClr>
                </a:solidFill>
                <a:latin typeface="Maple Mono NF"/>
              </a:rPr>
              <a:t>1665</a:t>
            </a:r>
            <a:r>
              <a:rPr sz="1000" b="0">
                <a:solidFill>
                  <a:schemeClr val="bg1"/>
                </a:solidFill>
                <a:latin typeface="Maple Mono NF"/>
              </a:rPr>
              <a:t>}</a:t>
            </a:r>
          </a:p>
        </p:txBody>
      </p:sp>
      <p:sp>
        <p:nvSpPr>
          <p:cNvPr id="10" name="Rectangle 9"/>
          <p:cNvSpPr/>
          <p:nvPr/>
        </p:nvSpPr>
        <p:spPr>
          <a:xfrm>
            <a:off x="319251" y="376727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dispatcher logs both tool events while the tools node runs. After the node returns, the runtime stores the observation in state.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 preconditions and postconditions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 method specification states what the caller must provide and what the implementation must guarantee.</a:t>
            </a:r>
          </a:p>
          <a:p>
            <a:pPr marL="400050" indent="-285750">
              <a:spcBef>
                <a:spcPts val="600"/>
              </a:spcBef>
              <a:spcAft>
                <a:spcPts val="600"/>
              </a:spcAft>
              <a:buClr>
                <a:srgbClr val="28285E"/>
              </a:buClr>
              <a:buSzPts val="1260"/>
              <a:buFont typeface="+mn-lt"/>
              <a:buChar char="●"/>
            </a:pPr>
            <a:r>
              <a:rPr sz="1400" b="1">
                <a:solidFill>
                  <a:schemeClr val="tx1"/>
                </a:solidFill>
              </a:rPr>
              <a:t>The precondition</a:t>
            </a:r>
            <a:r>
              <a:rPr sz="1400" b="0">
                <a:solidFill>
                  <a:schemeClr val="tx1"/>
                </a:solidFill>
              </a:rPr>
              <a:t> states what must be true before a call, such as its path resolving inside the workspace.</a:t>
            </a:r>
          </a:p>
          <a:p>
            <a:pPr marL="400050" indent="-285750">
              <a:spcBef>
                <a:spcPts val="600"/>
              </a:spcBef>
              <a:spcAft>
                <a:spcPts val="600"/>
              </a:spcAft>
              <a:buClr>
                <a:srgbClr val="28285E"/>
              </a:buClr>
              <a:buSzPts val="1260"/>
              <a:buFont typeface="+mn-lt"/>
              <a:buChar char="●"/>
            </a:pPr>
            <a:r>
              <a:rPr sz="1400" b="1">
                <a:solidFill>
                  <a:schemeClr val="tx1"/>
                </a:solidFill>
              </a:rPr>
              <a:t>The postcondition</a:t>
            </a:r>
            <a:r>
              <a:rPr sz="1400" b="0">
                <a:solidFill>
                  <a:schemeClr val="tx1"/>
                </a:solidFill>
              </a:rPr>
              <a:t> states what the call guarantees if the precondition holds, including results, errors and side effects.</a:t>
            </a:r>
          </a:p>
          <a:p>
            <a:pPr marL="400050" indent="-285750">
              <a:spcBef>
                <a:spcPts val="600"/>
              </a:spcBef>
              <a:spcAft>
                <a:spcPts val="600"/>
              </a:spcAft>
              <a:buClr>
                <a:srgbClr val="28285E"/>
              </a:buClr>
              <a:buSzPts val="1260"/>
              <a:buFont typeface="+mn-lt"/>
              <a:buChar char="●"/>
            </a:pPr>
            <a:r>
              <a:rPr sz="1400" b="1">
                <a:solidFill>
                  <a:schemeClr val="tx1"/>
                </a:solidFill>
              </a:rPr>
              <a:t>The contract</a:t>
            </a:r>
            <a:r>
              <a:rPr sz="1400" b="0">
                <a:solidFill>
                  <a:schemeClr val="tx1"/>
                </a:solidFill>
              </a:rPr>
              <a:t> also specifies which invalid requests the runtime detects and how it refuses them without side effects.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caller must satisfy the precondition. The implementer must ensure the postcondition whenever the precondition holds.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tool contract must also define what happens when a request violates a precondition.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paths against the workspace root</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tool follows symlinks and resolves .. segments before checking whether the path lies inside the workspace.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workspace.py, resolve, lines 50 to 68. Docstring and comments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resolve(root: Path, path: str) -&gt; Path:</a:t>
            </a:r>
          </a:p>
          <a:p>
            <a:pPr algn="l">
              <a:buNone/>
            </a:pPr>
            <a:r>
              <a:rPr sz="1100" b="0">
                <a:solidFill>
                  <a:schemeClr val="bg1"/>
                </a:solidFill>
                <a:latin typeface="Maple Mono NF"/>
              </a:rPr>
              <a:t>    root = Path(root).resolve()</a:t>
            </a:r>
          </a:p>
          <a:p>
            <a:pPr algn="l">
              <a:buNone/>
            </a:pPr>
            <a:r>
              <a:rPr sz="1100" b="0">
                <a:solidFill>
                  <a:schemeClr val="bg1"/>
                </a:solidFill>
                <a:latin typeface="Maple Mono NF"/>
              </a:rPr>
              <a:t>    candidate = (root / path).resolve()</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candidate.</a:t>
            </a:r>
            <a:r>
              <a:rPr sz="1100" b="1">
                <a:solidFill>
                  <a:schemeClr val="accent4">
                    <a:lumMod val="70000"/>
                    <a:lumOff val="30000"/>
                  </a:schemeClr>
                </a:solidFill>
                <a:latin typeface="Maple Mono NF"/>
              </a:rPr>
              <a:t>is_relative_to</a:t>
            </a:r>
            <a:r>
              <a:rPr sz="1100" b="0">
                <a:solidFill>
                  <a:schemeClr val="bg1"/>
                </a:solidFill>
                <a:latin typeface="Maple Mono NF"/>
              </a:rPr>
              <a:t>(root):</a:t>
            </a:r>
          </a:p>
          <a:p>
            <a:pPr algn="l">
              <a:buNone/>
            </a:pPr>
            <a:r>
              <a:rPr sz="1100" b="0">
                <a:solidFill>
                  <a:schemeClr val="bg1"/>
                </a:solidFill>
                <a:latin typeface="Maple Mono NF"/>
              </a:rPr>
              <a:t>        </a:t>
            </a:r>
            <a:r>
              <a:rPr sz="1100" b="0">
                <a:solidFill>
                  <a:schemeClr val="accent2"/>
                </a:solidFill>
                <a:latin typeface="Maple Mono NF"/>
              </a:rPr>
              <a:t>raise</a:t>
            </a:r>
            <a:r>
              <a:rPr sz="1100" b="0">
                <a:solidFill>
                  <a:schemeClr val="bg1"/>
                </a:solidFill>
                <a:latin typeface="Maple Mono NF"/>
              </a:rPr>
              <a:t> PathEscapeException(</a:t>
            </a:r>
          </a:p>
          <a:p>
            <a:pPr algn="l">
              <a:buNone/>
            </a:pPr>
            <a:r>
              <a:rPr sz="1100" b="0">
                <a:solidFill>
                  <a:schemeClr val="bg1"/>
                </a:solidFill>
                <a:latin typeface="Maple Mono NF"/>
              </a:rPr>
              <a:t>            f</a:t>
            </a:r>
            <a:r>
              <a:rPr sz="1100" b="0">
                <a:solidFill>
                  <a:schemeClr val="accent3">
                    <a:lumMod val="55000"/>
                    <a:lumOff val="45000"/>
                  </a:schemeClr>
                </a:solidFill>
                <a:latin typeface="Maple Mono NF"/>
              </a:rPr>
              <a:t>"{path!r} resolves outside the workspace root"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candidate</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Both </a:t>
            </a:r>
            <a:r>
              <a:rPr sz="1200" b="0">
                <a:solidFill>
                  <a:schemeClr val="tx2"/>
                </a:solidFill>
                <a:latin typeface="Maple Mono NF"/>
              </a:rPr>
              <a:t>/tmp/ws</a:t>
            </a:r>
            <a:r>
              <a:rPr sz="1200" b="1">
                <a:solidFill>
                  <a:schemeClr val="tx2"/>
                </a:solidFill>
              </a:rPr>
              <a:t> and </a:t>
            </a:r>
            <a:r>
              <a:rPr sz="1200" b="0">
                <a:solidFill>
                  <a:schemeClr val="tx2"/>
                </a:solidFill>
                <a:latin typeface="Maple Mono NF"/>
              </a:rPr>
              <a:t>/tmp/ws-evil</a:t>
            </a:r>
            <a:r>
              <a:rPr sz="1200" b="1">
                <a:solidFill>
                  <a:schemeClr val="tx2"/>
                </a:solidFill>
              </a:rPr>
              <a:t> start with </a:t>
            </a:r>
            <a:r>
              <a:rPr sz="1200" b="0">
                <a:solidFill>
                  <a:schemeClr val="tx2"/>
                </a:solidFill>
                <a:latin typeface="Maple Mono NF"/>
              </a:rPr>
              <a:t>/tmp/ws</a:t>
            </a:r>
            <a:r>
              <a:rPr sz="1200" b="1">
                <a:solidFill>
                  <a:schemeClr val="tx2"/>
                </a:solidFill>
              </a:rPr>
              <a:t>. A prefix comparison would wrongly accept the second directory.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2217807"/>
            <a:ext cx="6000000" cy="707886"/>
          </a:xfrm>
          <a:prstGeom prst="rect">
            <a:avLst/>
          </a:prstGeom>
          <a:noFill/>
        </p:spPr>
        <p:txBody>
          <a:bodyPr wrap="square" anchor="ctr">
            <a:spAutoFit/>
          </a:bodyPr>
          <a:lstStyle/>
          <a:p>
            <a:pPr algn="ctr"/>
            <a:r>
              <a:rPr lang="en-US" sz="4000" b="1" dirty="0">
                <a:solidFill>
                  <a:schemeClr val="tx2"/>
                </a:solidFill>
                <a:latin typeface="+mj-lt"/>
              </a:rPr>
              <a:t>Event-Driven Agents</a:t>
            </a:r>
            <a:endParaRPr sz="4000" b="1" dirty="0">
              <a:solidFill>
                <a:schemeClr val="tx2"/>
              </a:solidFill>
              <a:latin typeface="+mj-l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ways to invoke the next computation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graph and an event loop can run the same machine with different mechanisms for invoking application code.</a:t>
            </a:r>
          </a:p>
        </p:txBody>
      </p:sp>
      <p:pic>
        <p:nvPicPr>
          <p:cNvPr id="4" name="Figure s5-two-mechanisms" descr="image.png"/>
          <p:cNvPicPr>
            <a:picLocks noChangeAspect="1"/>
          </p:cNvPicPr>
          <p:nvPr/>
        </p:nvPicPr>
        <p:blipFill>
          <a:blip r:embed="rId3"/>
          <a:stretch>
            <a:fillRect/>
          </a:stretch>
        </p:blipFill>
        <p:spPr>
          <a:xfrm>
            <a:off x="250148" y="1390000"/>
            <a:ext cx="6152752" cy="1410922"/>
          </a:xfrm>
          <a:prstGeom prst="rect">
            <a:avLst/>
          </a:prstGeom>
        </p:spPr>
      </p:pic>
      <p:sp>
        <p:nvSpPr>
          <p:cNvPr id="5" name="Rectangle 4"/>
          <p:cNvSpPr/>
          <p:nvPr/>
        </p:nvSpPr>
        <p:spPr>
          <a:xfrm>
            <a:off x="319251" y="2990922"/>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the graph, a routing function selects the next node and the scheduler runs it next. In an event loop, a computation emits an event and the runtime invokes the registered handler.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handler and event loop</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Three definitions describe the arrangement. Definitions 5.1 to 5.3 in the lecture notes.</a:t>
            </a:r>
          </a:p>
        </p:txBody>
      </p:sp>
      <p:graphicFrame>
        <p:nvGraphicFramePr>
          <p:cNvPr id="4" name="Table 3"/>
          <p:cNvGraphicFramePr>
            <a:graphicFrameLocks noGrp="1"/>
          </p:cNvGraphicFramePr>
          <p:nvPr/>
        </p:nvGraphicFramePr>
        <p:xfrm>
          <a:off x="319251" y="1390000"/>
          <a:ext cx="6014545" cy="186591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buNone/>
                      </a:pPr>
                      <a:r>
                        <a:rPr sz="1200" b="1">
                          <a:solidFill>
                            <a:schemeClr val="tx1"/>
                          </a:solidFill>
                        </a:rPr>
                        <a:t>Term</a:t>
                      </a:r>
                    </a:p>
                  </a:txBody>
                  <a:tcPr marL="95250" marR="95250" marT="47625" marB="47625">
                    <a:lnB w="12700" cap="flat" cmpd="sng" algn="ctr">
                      <a:solidFill>
                        <a:schemeClr val="tx1"/>
                      </a:solidFill>
                    </a:lnB>
                    <a:noFill/>
                  </a:tcPr>
                </a:tc>
                <a:tc>
                  <a:txBody>
                    <a:bodyPr/>
                    <a:lstStyle/>
                    <a:p>
                      <a:pPr>
                        <a:buNone/>
                      </a:pPr>
                      <a:r>
                        <a:rPr sz="1200" b="1">
                          <a:solidFill>
                            <a:schemeClr val="tx1"/>
                          </a:solidFill>
                        </a:rPr>
                        <a:t>Definition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Any occurrence that could necessitate a change in the program's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Handler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piece of code that understands how to respond to a particular event. For events to reach it, it must register with the 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piece of code that repeatedly checks whether a new event has occurred and dispatches any detected events to code that can handle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467246"/>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an agent, an event is either an occurrence, such as the plan is ready, or a request, such as run these tools. Both are values.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Inversion of control</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We write the subroutines. A framework controls when they run.</a:t>
            </a:r>
          </a:p>
          <a:p>
            <a:pPr marL="400050" indent="-285750">
              <a:spcBef>
                <a:spcPts val="600"/>
              </a:spcBef>
              <a:spcAft>
                <a:spcPts val="600"/>
              </a:spcAft>
              <a:buClr>
                <a:srgbClr val="28285E"/>
              </a:buClr>
              <a:buSzPts val="1260"/>
              <a:buFont typeface="+mn-lt"/>
              <a:buChar char="●"/>
            </a:pPr>
            <a:r>
              <a:rPr sz="1400" b="1">
                <a:solidFill>
                  <a:schemeClr val="tx1"/>
                </a:solidFill>
              </a:rPr>
              <a:t>Application code defines a handler's response: </a:t>
            </a:r>
            <a:r>
              <a:rPr sz="1400" b="0">
                <a:solidFill>
                  <a:schemeClr val="tx1"/>
                </a:solidFill>
              </a:rPr>
              <a:t>the fields it writes and the event it emits.</a:t>
            </a:r>
          </a:p>
          <a:p>
            <a:pPr marL="400050" indent="-285750">
              <a:spcBef>
                <a:spcPts val="600"/>
              </a:spcBef>
              <a:spcAft>
                <a:spcPts val="600"/>
              </a:spcAft>
              <a:buClr>
                <a:srgbClr val="28285E"/>
              </a:buClr>
              <a:buSzPts val="1260"/>
              <a:buFont typeface="+mn-lt"/>
              <a:buChar char="●"/>
            </a:pPr>
            <a:r>
              <a:rPr sz="1400" b="1">
                <a:solidFill>
                  <a:schemeClr val="tx1"/>
                </a:solidFill>
              </a:rPr>
              <a:t>The framework decides which handler runs, </a:t>
            </a:r>
            <a:r>
              <a:rPr sz="1400" b="0">
                <a:solidFill>
                  <a:schemeClr val="tx1"/>
                </a:solidFill>
              </a:rPr>
              <a:t>when, and in what order pending events are processed.</a:t>
            </a:r>
          </a:p>
          <a:p>
            <a:pPr marL="400050" indent="-285750">
              <a:spcBef>
                <a:spcPts val="600"/>
              </a:spcBef>
              <a:spcAft>
                <a:spcPts val="600"/>
              </a:spcAft>
              <a:buClr>
                <a:srgbClr val="28285E"/>
              </a:buClr>
              <a:buSzPts val="1260"/>
              <a:buFont typeface="+mn-lt"/>
              <a:buChar char="●"/>
            </a:pPr>
            <a:r>
              <a:rPr sz="1400" b="1">
                <a:solidFill>
                  <a:schemeClr val="tx1"/>
                </a:solidFill>
              </a:rPr>
              <a:t>The graph divides the same way: </a:t>
            </a:r>
            <a:r>
              <a:rPr sz="1400" b="0">
                <a:solidFill>
                  <a:schemeClr val="tx1"/>
                </a:solidFill>
              </a:rPr>
              <a:t>we write nodes and routing functions, and the scheduler runs them.</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Application code defines the response to an event. The framework controls its invocation.</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graph chooses the next computation in a routing function. A handler chooses the event type it emits.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Event-triggered and time-triggered reactions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realization changes when a transition is taken. The set of transitions stays the same.</a:t>
            </a:r>
          </a:p>
          <a:p>
            <a:pPr marL="400050" indent="-285750">
              <a:spcBef>
                <a:spcPts val="600"/>
              </a:spcBef>
              <a:spcAft>
                <a:spcPts val="600"/>
              </a:spcAft>
              <a:buClr>
                <a:srgbClr val="28285E"/>
              </a:buClr>
              <a:buSzPts val="1260"/>
              <a:buFont typeface="+mn-lt"/>
              <a:buChar char="●"/>
            </a:pPr>
            <a:r>
              <a:rPr sz="1400" b="1">
                <a:solidFill>
                  <a:schemeClr val="tx1"/>
                </a:solidFill>
              </a:rPr>
              <a:t>A state-machine diagram does not specify </a:t>
            </a:r>
            <a:r>
              <a:rPr sz="1400" b="0">
                <a:solidFill>
                  <a:schemeClr val="tx1"/>
                </a:solidFill>
              </a:rPr>
              <a:t>when a reaction occurs.</a:t>
            </a:r>
          </a:p>
          <a:p>
            <a:pPr marL="400050" indent="-285750">
              <a:spcBef>
                <a:spcPts val="600"/>
              </a:spcBef>
              <a:spcAft>
                <a:spcPts val="600"/>
              </a:spcAft>
              <a:buClr>
                <a:srgbClr val="28285E"/>
              </a:buClr>
              <a:buSzPts val="1260"/>
              <a:buFont typeface="+mn-lt"/>
              <a:buChar char="●"/>
            </a:pPr>
            <a:r>
              <a:rPr sz="1400" b="1">
                <a:solidFill>
                  <a:schemeClr val="tx1"/>
                </a:solidFill>
              </a:rPr>
              <a:t>Event-triggered means a reaction when an input is present. </a:t>
            </a:r>
            <a:r>
              <a:rPr sz="1400" b="0">
                <a:solidFill>
                  <a:schemeClr val="tx1"/>
                </a:solidFill>
              </a:rPr>
              <a:t>Time-triggered means one on each clock tick.</a:t>
            </a:r>
          </a:p>
          <a:p>
            <a:pPr marL="400050" indent="-285750">
              <a:spcBef>
                <a:spcPts val="600"/>
              </a:spcBef>
              <a:spcAft>
                <a:spcPts val="600"/>
              </a:spcAft>
              <a:buClr>
                <a:srgbClr val="28285E"/>
              </a:buClr>
              <a:buSzPts val="1260"/>
              <a:buFont typeface="+mn-lt"/>
              <a:buChar char="●"/>
            </a:pPr>
            <a:r>
              <a:rPr sz="1400" b="1">
                <a:solidFill>
                  <a:schemeClr val="tx1"/>
                </a:solidFill>
              </a:rPr>
              <a:t>Our graph uses no clock, </a:t>
            </a:r>
            <a:r>
              <a:rPr sz="1400" b="0">
                <a:solidFill>
                  <a:schemeClr val="tx1"/>
                </a:solidFill>
              </a:rPr>
              <a:t>so both realizations are event-triggered: they react when an input is present.</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planning agent's machine retains its locations, guards and set actions under either choice.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transition such as no reply within thirty seconds needs a timer to emit its event. Otherwise it is never taken.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configuration under an event loop</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The event realization requires a larger configuration than the graph realization.</a:t>
            </a:r>
          </a:p>
        </p:txBody>
      </p:sp>
      <p:graphicFrame>
        <p:nvGraphicFramePr>
          <p:cNvPr id="4" name="Table 3"/>
          <p:cNvGraphicFramePr>
            <a:graphicFrameLocks noGrp="1"/>
          </p:cNvGraphicFramePr>
          <p:nvPr/>
        </p:nvGraphicFramePr>
        <p:xfrm>
          <a:off x="319251" y="1390000"/>
          <a:ext cx="6014545" cy="140490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187502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Realization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Configuration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Maintained by</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Graph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control location and a valuation of the variables, (q,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runtime tracks q. The record holds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Event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sequence of pending events E, the set of running handlers H and the record v, as the triple (E, H,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runtime maintains E and H. The record holds v and contains neither.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5" name="Rectangle 4"/>
          <p:cNvSpPr/>
          <p:nvPr/>
        </p:nvSpPr>
        <p:spPr>
          <a:xfrm>
            <a:off x="319251" y="3186068"/>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In a serial realization at most one event is in flight, so the location q is recoverable from the pending event's handler or the running handler. With two handlers running at once there is no single location: our demo's validators are such a case.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Ordering rules: apply once, then enable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Four rules preserve the machine's behaviour when an event loop realizes it. Two concern ordering.</a:t>
            </a:r>
          </a:p>
          <a:p>
            <a:pPr marL="400050" indent="-285750">
              <a:spcBef>
                <a:spcPts val="600"/>
              </a:spcBef>
              <a:spcAft>
                <a:spcPts val="600"/>
              </a:spcAft>
              <a:buClr>
                <a:srgbClr val="28285E"/>
              </a:buClr>
              <a:buSzPts val="1260"/>
              <a:buFont typeface="+mn-lt"/>
              <a:buChar char="●"/>
            </a:pPr>
            <a:r>
              <a:rPr sz="1400" b="1">
                <a:solidFill>
                  <a:schemeClr val="tx1"/>
                </a:solidFill>
              </a:rPr>
              <a:t>Apply once, then enable. </a:t>
            </a:r>
            <a:r>
              <a:rPr sz="1400" b="0">
                <a:solidFill>
                  <a:schemeClr val="tx1"/>
                </a:solidFill>
              </a:rPr>
              <a:t>Merge a handler's contribution before its emitted event is dispatched.</a:t>
            </a:r>
          </a:p>
          <a:p>
            <a:pPr marL="400050" indent="-285750">
              <a:spcBef>
                <a:spcPts val="600"/>
              </a:spcBef>
              <a:spcAft>
                <a:spcPts val="600"/>
              </a:spcAft>
              <a:buClr>
                <a:srgbClr val="28285E"/>
              </a:buClr>
              <a:buSzPts val="1260"/>
              <a:buFont typeface="+mn-lt"/>
              <a:buChar char="●"/>
            </a:pPr>
            <a:r>
              <a:rPr sz="1400" b="1">
                <a:solidFill>
                  <a:schemeClr val="tx1"/>
                </a:solidFill>
              </a:rPr>
              <a:t>Emit first, </a:t>
            </a:r>
            <a:r>
              <a:rPr sz="1400" b="0">
                <a:solidFill>
                  <a:schemeClr val="tx1"/>
                </a:solidFill>
              </a:rPr>
              <a:t>and the successor reads a stale record. Deliver twice, and observations append twice.</a:t>
            </a:r>
          </a:p>
          <a:p>
            <a:pPr marL="400050" indent="-285750">
              <a:spcBef>
                <a:spcPts val="600"/>
              </a:spcBef>
              <a:spcAft>
                <a:spcPts val="600"/>
              </a:spcAft>
              <a:buClr>
                <a:srgbClr val="28285E"/>
              </a:buClr>
              <a:buSzPts val="1260"/>
              <a:buFont typeface="+mn-lt"/>
              <a:buChar char="●"/>
            </a:pPr>
            <a:r>
              <a:rPr sz="1400" b="1">
                <a:solidFill>
                  <a:schemeClr val="tx1"/>
                </a:solidFill>
              </a:rPr>
              <a:t>Distinguish idle from success. </a:t>
            </a:r>
            <a:r>
              <a:rPr sz="1400" b="0">
                <a:solidFill>
                  <a:schemeClr val="tx1"/>
                </a:solidFill>
              </a:rPr>
              <a:t>An empty queue and an idle runtime mean only that nothing is scheduled.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Only a terminal event carrying a status establishes termination, as a terminal record does in the trace.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event loop keeps this ordering only if handlers write before they emit and no event is delivered twice.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Termination rules and log events</a:t>
            </a:r>
          </a:p>
        </p:txBody>
      </p:sp>
      <p:sp>
        <p:nvSpPr>
          <p:cNvPr id="3" name="Content Placeholder 2"/>
          <p:cNvSpPr>
            <a:spLocks noGrp="1"/>
          </p:cNvSpPr>
          <p:nvPr>
            <p:ph idx="1"/>
          </p:nvPr>
        </p:nvSpPr>
        <p:spPr>
          <a:xfrm>
            <a:off x="319251" y="700000"/>
            <a:ext cx="6014545" cy="2211325"/>
          </a:xfrm>
        </p:spPr>
        <p:txBody>
          <a:bodyPr wrap="square" anchor="ctr">
            <a:normAutofit fontScale="92500" lnSpcReduction="10000"/>
          </a:bodyPr>
          <a:lstStyle/>
          <a:p>
            <a:pPr marL="0" indent="0">
              <a:buNone/>
            </a:pPr>
            <a:r>
              <a:rPr sz="1400" b="1">
                <a:solidFill>
                  <a:srgbClr val="28285E"/>
                </a:solidFill>
              </a:rPr>
              <a:t>The last two rules concern termination.</a:t>
            </a:r>
          </a:p>
          <a:p>
            <a:pPr marL="400050" indent="-285750">
              <a:spcBef>
                <a:spcPts val="600"/>
              </a:spcBef>
              <a:spcAft>
                <a:spcPts val="600"/>
              </a:spcAft>
              <a:buClr>
                <a:srgbClr val="28285E"/>
              </a:buClr>
              <a:buSzPts val="1260"/>
              <a:buFont typeface="+mn-lt"/>
              <a:buChar char="●"/>
            </a:pPr>
            <a:r>
              <a:rPr sz="1400" b="1">
                <a:solidFill>
                  <a:schemeClr val="tx1"/>
                </a:solidFill>
              </a:rPr>
              <a:t>Stop dispatch at termination. </a:t>
            </a:r>
            <a:r>
              <a:rPr sz="1400" b="0">
                <a:solidFill>
                  <a:schemeClr val="tx1"/>
                </a:solidFill>
              </a:rPr>
              <a:t>After the terminal event no handler starts, even if an event is pending.</a:t>
            </a:r>
          </a:p>
          <a:p>
            <a:pPr marL="400050" indent="-285750">
              <a:spcBef>
                <a:spcPts val="600"/>
              </a:spcBef>
              <a:spcAft>
                <a:spcPts val="600"/>
              </a:spcAft>
              <a:buClr>
                <a:srgbClr val="28285E"/>
              </a:buClr>
              <a:buSzPts val="1260"/>
              <a:buFont typeface="+mn-lt"/>
              <a:buChar char="●"/>
            </a:pPr>
            <a:r>
              <a:rPr sz="1400" b="1">
                <a:solidFill>
                  <a:schemeClr val="tx1"/>
                </a:solidFill>
              </a:rPr>
              <a:t>A realization with concurrent handlers </a:t>
            </a:r>
            <a:r>
              <a:rPr sz="1400" b="0">
                <a:solidFill>
                  <a:schemeClr val="tx1"/>
                </a:solidFill>
              </a:rPr>
              <a:t>must discard or refuse the remaining events.</a:t>
            </a:r>
          </a:p>
          <a:p>
            <a:pPr marL="400050" indent="-285750">
              <a:spcBef>
                <a:spcPts val="600"/>
              </a:spcBef>
              <a:spcAft>
                <a:spcPts val="600"/>
              </a:spcAft>
              <a:buClr>
                <a:srgbClr val="28285E"/>
              </a:buClr>
              <a:buSzPts val="1260"/>
              <a:buFont typeface="+mn-lt"/>
              <a:buChar char="●"/>
            </a:pPr>
            <a:r>
              <a:rPr sz="1400" b="1">
                <a:solidFill>
                  <a:schemeClr val="tx1"/>
                </a:solidFill>
              </a:rPr>
              <a:t>Separate triggering from log events. </a:t>
            </a:r>
            <a:r>
              <a:rPr sz="1400" b="0">
                <a:solidFill>
                  <a:schemeClr val="tx1"/>
                </a:solidFill>
              </a:rPr>
              <a:t>A triggering event runs a handler. A log event only records.</a:t>
            </a:r>
          </a:p>
        </p:txBody>
      </p:sp>
      <p:sp>
        <p:nvSpPr>
          <p:cNvPr id="4" name="Rectangle 3"/>
          <p:cNvSpPr/>
          <p:nvPr/>
        </p:nvSpPr>
        <p:spPr>
          <a:xfrm>
            <a:off x="319251" y="3101325"/>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event that requests tools triggers the tools handler. A trace record of the same request documents that the handler was invoked, and triggers nothing.</a:t>
            </a:r>
          </a:p>
        </p:txBody>
      </p:sp>
      <p:sp>
        <p:nvSpPr>
          <p:cNvPr id="5" name="Rectangle 4"/>
          <p:cNvSpPr/>
          <p:nvPr/>
        </p:nvSpPr>
        <p:spPr>
          <a:xfrm>
            <a:off x="319251" y="4002126"/>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Dispatch can end without a terminal record if the process fails first. Table 5's three readings still apply.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LlamaIndex Workflows: steps and events</a:t>
            </a:r>
          </a:p>
        </p:txBody>
      </p:sp>
      <p:sp>
        <p:nvSpPr>
          <p:cNvPr id="3" name="Content Placeholder 2"/>
          <p:cNvSpPr>
            <a:spLocks noGrp="1"/>
          </p:cNvSpPr>
          <p:nvPr>
            <p:ph idx="1"/>
          </p:nvPr>
        </p:nvSpPr>
        <p:spPr>
          <a:xfrm>
            <a:off x="319251" y="700000"/>
            <a:ext cx="6014545" cy="2440280"/>
          </a:xfrm>
        </p:spPr>
        <p:txBody>
          <a:bodyPr wrap="square" anchor="ctr">
            <a:normAutofit fontScale="92500"/>
          </a:bodyPr>
          <a:lstStyle/>
          <a:p>
            <a:pPr marL="0" indent="0">
              <a:buNone/>
            </a:pPr>
            <a:r>
              <a:rPr sz="1400" b="1">
                <a:solidFill>
                  <a:srgbClr val="28285E"/>
                </a:solidFill>
              </a:rPr>
              <a:t>In LlamaIndex Workflows, dispatch is by event type. A step is a method decorated with @step.</a:t>
            </a:r>
          </a:p>
          <a:p>
            <a:pPr marL="400050" indent="-285750">
              <a:spcBef>
                <a:spcPts val="600"/>
              </a:spcBef>
              <a:spcAft>
                <a:spcPts val="600"/>
              </a:spcAft>
              <a:buClr>
                <a:srgbClr val="28285E"/>
              </a:buClr>
              <a:buSzPts val="1260"/>
              <a:buFont typeface="+mn-lt"/>
              <a:buChar char="●"/>
            </a:pPr>
            <a:r>
              <a:rPr sz="1400" b="1">
                <a:solidFill>
                  <a:schemeClr val="tx1"/>
                </a:solidFill>
              </a:rPr>
              <a:t>A step receives an event, </a:t>
            </a:r>
            <a:r>
              <a:rPr sz="1400" b="0">
                <a:solidFill>
                  <a:schemeClr val="tx1"/>
                </a:solidFill>
              </a:rPr>
              <a:t>does some work, and returns another event.</a:t>
            </a:r>
          </a:p>
          <a:p>
            <a:pPr marL="400050" indent="-285750">
              <a:spcBef>
                <a:spcPts val="600"/>
              </a:spcBef>
              <a:spcAft>
                <a:spcPts val="600"/>
              </a:spcAft>
              <a:buClr>
                <a:srgbClr val="28285E"/>
              </a:buClr>
              <a:buSzPts val="1260"/>
              <a:buFont typeface="+mn-lt"/>
              <a:buChar char="●"/>
            </a:pPr>
            <a:r>
              <a:rPr sz="1400" b="1">
                <a:solidFill>
                  <a:schemeClr val="tx1"/>
                </a:solidFill>
              </a:rPr>
              <a:t>The returned event triggers the next step </a:t>
            </a:r>
            <a:r>
              <a:rPr sz="1400" b="0">
                <a:solidFill>
                  <a:schemeClr val="tx1"/>
                </a:solidFill>
              </a:rPr>
              <a:t>whose type annotation accepts it.</a:t>
            </a:r>
          </a:p>
          <a:p>
            <a:pPr marL="400050" indent="-285750">
              <a:spcBef>
                <a:spcPts val="600"/>
              </a:spcBef>
              <a:spcAft>
                <a:spcPts val="600"/>
              </a:spcAft>
              <a:buClr>
                <a:srgbClr val="28285E"/>
              </a:buClr>
              <a:buSzPts val="1260"/>
              <a:buFont typeface="+mn-lt"/>
              <a:buChar char="●"/>
            </a:pPr>
            <a:r>
              <a:rPr sz="1400" b="1">
                <a:solidFill>
                  <a:schemeClr val="tx1"/>
                </a:solidFill>
              </a:rPr>
              <a:t>Events are user-defined Pydantic classes. </a:t>
            </a:r>
            <a:r>
              <a:rPr sz="1400" b="0">
                <a:solidFill>
                  <a:schemeClr val="tx1"/>
                </a:solidFill>
              </a:rPr>
              <a:t>The framework supplies StartEvent and StopEvent.</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step signatures declare the event types each step consumes and produces.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StartEvent's fields are run()'s keyword arguments. Returning StopEvent ends the workflow with its result.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LlamaIndex Workflows: validation and state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Before a run, the framework validates the event graph that the step signatures declare.</a:t>
            </a:r>
          </a:p>
          <a:p>
            <a:pPr marL="400050" indent="-285750">
              <a:spcBef>
                <a:spcPts val="600"/>
              </a:spcBef>
              <a:spcAft>
                <a:spcPts val="600"/>
              </a:spcAft>
              <a:buClr>
                <a:srgbClr val="28285E"/>
              </a:buClr>
              <a:buSzPts val="1260"/>
              <a:buFont typeface="+mn-lt"/>
              <a:buChar char="●"/>
            </a:pPr>
            <a:r>
              <a:rPr sz="1400" b="1">
                <a:solidFill>
                  <a:schemeClr val="tx1"/>
                </a:solidFill>
              </a:rPr>
              <a:t>It checks that the graph </a:t>
            </a:r>
            <a:r>
              <a:rPr sz="1400" b="0">
                <a:solidFill>
                  <a:schemeClr val="tx1"/>
                </a:solidFill>
              </a:rPr>
              <a:t>contains a start and a stop event and that every produced event has a consumer.</a:t>
            </a:r>
          </a:p>
          <a:p>
            <a:pPr marL="400050" indent="-285750">
              <a:spcBef>
                <a:spcPts val="600"/>
              </a:spcBef>
              <a:spcAft>
                <a:spcPts val="600"/>
              </a:spcAft>
              <a:buClr>
                <a:srgbClr val="28285E"/>
              </a:buClr>
              <a:buSzPts val="1260"/>
              <a:buFont typeface="+mn-lt"/>
              <a:buChar char="●"/>
            </a:pPr>
            <a:r>
              <a:rPr sz="1400" b="1">
                <a:solidFill>
                  <a:schemeClr val="tx1"/>
                </a:solidFill>
              </a:rPr>
              <a:t>These checks do not establish </a:t>
            </a:r>
            <a:r>
              <a:rPr sz="1400" b="0">
                <a:solidFill>
                  <a:schemeClr val="tx1"/>
                </a:solidFill>
              </a:rPr>
              <a:t>that a particular run will reach StopEvent.</a:t>
            </a:r>
          </a:p>
          <a:p>
            <a:pPr marL="400050" indent="-285750">
              <a:spcBef>
                <a:spcPts val="600"/>
              </a:spcBef>
              <a:spcAft>
                <a:spcPts val="600"/>
              </a:spcAft>
              <a:buClr>
                <a:srgbClr val="28285E"/>
              </a:buClr>
              <a:buSzPts val="1260"/>
              <a:buFont typeface="+mn-lt"/>
              <a:buChar char="●"/>
            </a:pPr>
            <a:r>
              <a:rPr sz="1400" b="1">
                <a:solidFill>
                  <a:schemeClr val="tx1"/>
                </a:solidFill>
              </a:rPr>
              <a:t>A store on the workflow's Context </a:t>
            </a:r>
            <a:r>
              <a:rPr sz="1400" b="0">
                <a:solidFill>
                  <a:schemeClr val="tx1"/>
                </a:solidFill>
              </a:rPr>
              <a:t>holds per-run state. Steps read and write it through ctx.store.</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edit_state() is for updates that must not interleave with another step's updates.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Our demo, cyberbird/event_driven, is written in this framework (section 5.4).</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Idle and success in LlamaIndex and in CrewAI</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The two frameworks differ in how we distinguish idle from success.</a:t>
            </a:r>
          </a:p>
        </p:txBody>
      </p:sp>
      <p:graphicFrame>
        <p:nvGraphicFramePr>
          <p:cNvPr id="4" name="Table 3"/>
          <p:cNvGraphicFramePr>
            <a:graphicFrameLocks noGrp="1"/>
          </p:cNvGraphicFramePr>
          <p:nvPr/>
        </p:nvGraphicFramePr>
        <p:xfrm>
          <a:off x="319251" y="1390000"/>
          <a:ext cx="6014545" cy="241455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2387510">
                  <a:extLst>
                    <a:ext uri="{9D8B030D-6E8A-4147-A177-3AD203B41FA5}">
                      <a16:colId xmlns:a16="http://schemas.microsoft.com/office/drawing/2014/main" val="20001"/>
                    </a:ext>
                  </a:extLst>
                </a:gridCol>
                <a:gridCol w="238751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Question</a:t>
                      </a:r>
                    </a:p>
                  </a:txBody>
                  <a:tcPr marL="95250" marR="95250" marT="47625" marB="47625">
                    <a:lnB w="12700" cap="flat" cmpd="sng" algn="ctr">
                      <a:solidFill>
                        <a:schemeClr val="tx1"/>
                      </a:solidFill>
                    </a:lnB>
                    <a:noFill/>
                  </a:tcPr>
                </a:tc>
                <a:tc>
                  <a:txBody>
                    <a:bodyPr/>
                    <a:lstStyle/>
                    <a:p>
                      <a:pPr>
                        <a:buNone/>
                      </a:pPr>
                      <a:r>
                        <a:rPr sz="1200" b="1">
                          <a:solidFill>
                            <a:schemeClr val="tx1"/>
                          </a:solidFill>
                        </a:rPr>
                        <a:t>LlamaIndex Workflows</a:t>
                      </a:r>
                    </a:p>
                  </a:txBody>
                  <a:tcPr marL="95250" marR="95250" marT="47625" marB="47625">
                    <a:lnB w="12700" cap="flat" cmpd="sng" algn="ctr">
                      <a:solidFill>
                        <a:schemeClr val="tx1"/>
                      </a:solidFill>
                    </a:lnB>
                    <a:noFill/>
                  </a:tcPr>
                </a:tc>
                <a:tc>
                  <a:txBody>
                    <a:bodyPr/>
                    <a:lstStyle/>
                    <a:p>
                      <a:pPr>
                        <a:buNone/>
                      </a:pPr>
                      <a:r>
                        <a:rPr sz="1200" b="1">
                          <a:solidFill>
                            <a:schemeClr val="tx1"/>
                          </a:solidFill>
                        </a:rPr>
                        <a:t>CrewAI Flows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Dispatch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By event type, declared in the step signatures.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By method completion and router labels: @listen(m) runs when m completes.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StopEvent, whose result carries the outcome. Pre-run validation checks for a start and a stop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None. The final output is determined by the last method that completes.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The outcome σ</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Carried by the StopEvent's 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Each event type becomes a router label, and σ must be written to state by our code.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02503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LlamaIndex has an explicit terminal event. In CrewAI a flow ends when no method remains to run, which corresponds to an empty queue.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Comparing the realizations: the design</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Neither framework establishes that an event realization preserves the machine's behaviour.</a:t>
            </a:r>
          </a:p>
          <a:p>
            <a:pPr marL="400050" indent="-285750">
              <a:spcBef>
                <a:spcPts val="600"/>
              </a:spcBef>
              <a:spcAft>
                <a:spcPts val="600"/>
              </a:spcAft>
              <a:buClr>
                <a:srgbClr val="28285E"/>
              </a:buClr>
              <a:buSzPts val="1260"/>
              <a:buFont typeface="+mn-lt"/>
              <a:buChar char="●"/>
            </a:pPr>
            <a:r>
              <a:rPr sz="1400" b="1">
                <a:solidFill>
                  <a:schemeClr val="tx1"/>
                </a:solidFill>
              </a:rPr>
              <a:t>We compare the realizations </a:t>
            </a:r>
            <a:r>
              <a:rPr sz="1400" b="0">
                <a:solidFill>
                  <a:schemeClr val="tx1"/>
                </a:solidFill>
              </a:rPr>
              <a:t>after each computation completes and its contribution is applied.</a:t>
            </a:r>
          </a:p>
          <a:p>
            <a:pPr marL="400050" indent="-285750">
              <a:spcBef>
                <a:spcPts val="600"/>
              </a:spcBef>
              <a:spcAft>
                <a:spcPts val="600"/>
              </a:spcAft>
              <a:buClr>
                <a:srgbClr val="28285E"/>
              </a:buClr>
              <a:buSzPts val="1260"/>
              <a:buFont typeface="+mn-lt"/>
              <a:buChar char="●"/>
            </a:pPr>
            <a:r>
              <a:rPr sz="1400" b="1">
                <a:solidFill>
                  <a:schemeClr val="tx1"/>
                </a:solidFill>
              </a:rPr>
              <a:t>These boundaries are the points of comparison. </a:t>
            </a:r>
            <a:r>
              <a:rPr sz="1400" b="0">
                <a:solidFill>
                  <a:schemeClr val="tx1"/>
                </a:solidFill>
              </a:rPr>
              <a:t>Handler internals and wall-clock order are not.</a:t>
            </a:r>
          </a:p>
          <a:p>
            <a:pPr marL="400050" indent="-285750">
              <a:spcBef>
                <a:spcPts val="600"/>
              </a:spcBef>
              <a:spcAft>
                <a:spcPts val="600"/>
              </a:spcAft>
              <a:buClr>
                <a:srgbClr val="28285E"/>
              </a:buClr>
              <a:buSzPts val="1260"/>
              <a:buFont typeface="+mn-lt"/>
              <a:buChar char="●"/>
            </a:pPr>
            <a:r>
              <a:rPr sz="1400" b="1">
                <a:solidFill>
                  <a:schemeClr val="tx1"/>
                </a:solidFill>
              </a:rPr>
              <a:t>We script the model's replies and control the tool results: </a:t>
            </a:r>
            <a:r>
              <a:rPr sz="1400" b="0">
                <a:solidFill>
                  <a:schemeClr val="tx1"/>
                </a:solidFill>
              </a:rPr>
              <a:t>both get the same inputs in the same order.</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design isolates the scheduling mechanism: a graph superstep or an event dispatch.</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faithful translation preserves observations, workspace effects, check results and terminal status.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agreement under scripted inputs shows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Agreement under scripted inputs supports a limited conclusion.</a:t>
            </a:r>
          </a:p>
          <a:p>
            <a:pPr marL="400050" indent="-285750">
              <a:spcBef>
                <a:spcPts val="600"/>
              </a:spcBef>
              <a:spcAft>
                <a:spcPts val="600"/>
              </a:spcAft>
              <a:buClr>
                <a:srgbClr val="28285E"/>
              </a:buClr>
              <a:buSzPts val="1260"/>
              <a:buFont typeface="+mn-lt"/>
              <a:buChar char="●"/>
            </a:pPr>
            <a:r>
              <a:rPr sz="1400" b="1">
                <a:solidFill>
                  <a:schemeClr val="tx1"/>
                </a:solidFill>
              </a:rPr>
              <a:t>The two realizations implement </a:t>
            </a:r>
            <a:r>
              <a:rPr sz="1400" b="0">
                <a:solidFill>
                  <a:schemeClr val="tx1"/>
                </a:solidFill>
              </a:rPr>
              <a:t>the same transition rules for the scripted replies.</a:t>
            </a:r>
          </a:p>
          <a:p>
            <a:pPr marL="400050" indent="-285750">
              <a:spcBef>
                <a:spcPts val="600"/>
              </a:spcBef>
              <a:spcAft>
                <a:spcPts val="600"/>
              </a:spcAft>
              <a:buClr>
                <a:srgbClr val="28285E"/>
              </a:buClr>
              <a:buSzPts val="1260"/>
              <a:buFont typeface="+mn-lt"/>
              <a:buChar char="●"/>
            </a:pPr>
            <a:r>
              <a:rPr sz="1400" b="1">
                <a:solidFill>
                  <a:schemeClr val="tx1"/>
                </a:solidFill>
              </a:rPr>
              <a:t>It does not establish </a:t>
            </a:r>
            <a:r>
              <a:rPr sz="1400" b="0">
                <a:solidFill>
                  <a:schemeClr val="tx1"/>
                </a:solidFill>
              </a:rPr>
              <a:t>equivalent behaviour with a live model.</a:t>
            </a:r>
          </a:p>
          <a:p>
            <a:pPr marL="400050" indent="-285750">
              <a:spcBef>
                <a:spcPts val="600"/>
              </a:spcBef>
              <a:spcAft>
                <a:spcPts val="600"/>
              </a:spcAft>
              <a:buClr>
                <a:srgbClr val="28285E"/>
              </a:buClr>
              <a:buSzPts val="1260"/>
              <a:buFont typeface="+mn-lt"/>
              <a:buChar char="●"/>
            </a:pPr>
            <a:r>
              <a:rPr sz="1400" b="1">
                <a:solidFill>
                  <a:schemeClr val="tx1"/>
                </a:solidFill>
              </a:rPr>
              <a:t>How a handler formats messages </a:t>
            </a:r>
            <a:r>
              <a:rPr sz="1400" b="0">
                <a:solidFill>
                  <a:schemeClr val="tx1"/>
                </a:solidFill>
              </a:rPr>
              <a:t>changes the model's inputs, even when the transition rules are unchanged.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comparison also excludes concurrency.</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result holds for the scripted replies. It is a statement about transition rules.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demo as a LlamaIndex workflow</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Our event-driven agent runs the planning agent's machine as a LlamaIndex workflow.</a:t>
            </a:r>
          </a:p>
          <a:p>
            <a:pPr marL="400050" indent="-285750">
              <a:spcBef>
                <a:spcPts val="600"/>
              </a:spcBef>
              <a:spcAft>
                <a:spcPts val="600"/>
              </a:spcAft>
              <a:buClr>
                <a:srgbClr val="28285E"/>
              </a:buClr>
              <a:buSzPts val="1260"/>
              <a:buFont typeface="+mn-lt"/>
              <a:buChar char="●"/>
            </a:pPr>
            <a:r>
              <a:rPr sz="1400" b="1">
                <a:solidFill>
                  <a:schemeClr val="tx1"/>
                </a:solidFill>
              </a:rPr>
              <a:t>It keeps the machine's locations and guards, </a:t>
            </a:r>
            <a:r>
              <a:rPr sz="1400" b="0">
                <a:solidFill>
                  <a:schemeClr val="tx1"/>
                </a:solidFill>
              </a:rPr>
              <a:t>a budget of forty calls per alert, and one replan.</a:t>
            </a:r>
          </a:p>
          <a:p>
            <a:pPr marL="400050" indent="-285750">
              <a:spcBef>
                <a:spcPts val="600"/>
              </a:spcBef>
              <a:spcAft>
                <a:spcPts val="600"/>
              </a:spcAft>
              <a:buClr>
                <a:srgbClr val="28285E"/>
              </a:buClr>
              <a:buSzPts val="1260"/>
              <a:buFont typeface="+mn-lt"/>
              <a:buChar char="●"/>
            </a:pPr>
            <a:r>
              <a:rPr sz="1400" b="1">
                <a:solidFill>
                  <a:schemeClr val="tx1"/>
                </a:solidFill>
              </a:rPr>
              <a:t>The run's data sit in a store on the workflow's context: </a:t>
            </a:r>
            <a:r>
              <a:rPr sz="1400" b="0">
                <a:solidFill>
                  <a:schemeClr val="tx1"/>
                </a:solidFill>
              </a:rPr>
              <a:t>a RunState, and one AlertState per alert.</a:t>
            </a:r>
          </a:p>
          <a:p>
            <a:pPr marL="400050" indent="-285750">
              <a:spcBef>
                <a:spcPts val="600"/>
              </a:spcBef>
              <a:spcAft>
                <a:spcPts val="600"/>
              </a:spcAft>
              <a:buClr>
                <a:srgbClr val="28285E"/>
              </a:buClr>
              <a:buSzPts val="1260"/>
              <a:buFont typeface="+mn-lt"/>
              <a:buChar char="●"/>
            </a:pPr>
            <a:r>
              <a:rPr sz="1400" b="1">
                <a:solidFill>
                  <a:schemeClr val="tx1"/>
                </a:solidFill>
              </a:rPr>
              <a:t>Two steps are stubs: </a:t>
            </a:r>
            <a:r>
              <a:rPr sz="1400" b="0">
                <a:solidFill>
                  <a:schemeClr val="tx1"/>
                </a:solidFill>
              </a:rPr>
              <a:t>submit runs no checks, and each validator accepts after a delay. No run is recorded.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One AlertState per alert holds its plan, messages, observations, calls and usage.</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Section 5.4 of the notes. The stall check uses three identical results, and the alert may replan once.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demo's steps and their events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Table 8 in the notes: one row per step.</a:t>
            </a:r>
          </a:p>
        </p:txBody>
      </p:sp>
      <p:graphicFrame>
        <p:nvGraphicFramePr>
          <p:cNvPr id="4" name="Table 3"/>
          <p:cNvGraphicFramePr>
            <a:graphicFrameLocks noGrp="1"/>
          </p:cNvGraphicFramePr>
          <p:nvPr/>
        </p:nvGraphicFramePr>
        <p:xfrm>
          <a:off x="319251" y="1190000"/>
          <a:ext cx="6014545" cy="2528850"/>
        </p:xfrm>
        <a:graphic>
          <a:graphicData uri="http://schemas.openxmlformats.org/drawingml/2006/table">
            <a:tbl>
              <a:tblPr firstRow="1" bandRow="1">
                <a:tableStyleId>{5C22544A-7EE6-4342-B048-85BDC9FD1C3A}</a:tableStyleId>
              </a:tblPr>
              <a:tblGrid>
                <a:gridCol w="1000000">
                  <a:extLst>
                    <a:ext uri="{9D8B030D-6E8A-4147-A177-3AD203B41FA5}">
                      <a16:colId xmlns:a16="http://schemas.microsoft.com/office/drawing/2014/main" val="20000"/>
                    </a:ext>
                  </a:extLst>
                </a:gridCol>
                <a:gridCol w="2507272">
                  <a:extLst>
                    <a:ext uri="{9D8B030D-6E8A-4147-A177-3AD203B41FA5}">
                      <a16:colId xmlns:a16="http://schemas.microsoft.com/office/drawing/2014/main" val="20001"/>
                    </a:ext>
                  </a:extLst>
                </a:gridCol>
                <a:gridCol w="2507273">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Step</a:t>
                      </a:r>
                    </a:p>
                  </a:txBody>
                  <a:tcPr marL="95250" marR="95250" marT="47625" marB="47625">
                    <a:lnB w="12700" cap="flat" cmpd="sng" algn="ctr">
                      <a:solidFill>
                        <a:schemeClr val="tx1"/>
                      </a:solidFill>
                    </a:lnB>
                    <a:noFill/>
                  </a:tcPr>
                </a:tc>
                <a:tc>
                  <a:txBody>
                    <a:bodyPr/>
                    <a:lstStyle/>
                    <a:p>
                      <a:pPr>
                        <a:buNone/>
                      </a:pPr>
                      <a:r>
                        <a:rPr sz="1000" b="1">
                          <a:solidFill>
                            <a:schemeClr val="tx1"/>
                          </a:solidFill>
                        </a:rPr>
                        <a:t>Accepts</a:t>
                      </a:r>
                    </a:p>
                  </a:txBody>
                  <a:tcPr marL="95250" marR="95250" marT="47625" marB="47625">
                    <a:lnB w="12700" cap="flat" cmpd="sng" algn="ctr">
                      <a:solidFill>
                        <a:schemeClr val="tx1"/>
                      </a:solidFill>
                    </a:lnB>
                    <a:noFill/>
                  </a:tcPr>
                </a:tc>
                <a:tc>
                  <a:txBody>
                    <a:bodyPr/>
                    <a:lstStyle/>
                    <a:p>
                      <a:pPr>
                        <a:buNone/>
                      </a:pPr>
                      <a:r>
                        <a:rPr sz="1000" b="1">
                          <a:solidFill>
                            <a:schemeClr val="tx1"/>
                          </a:solidFill>
                        </a:rPr>
                        <a:t>Emits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start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ScanRequested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scan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ScanRequested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AlertFound per alert, StopEvent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gate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AlertFound,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AlertStarted, StopEvent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AlertStarted, Stalled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PlanCreated,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PlanCreated, Observed, ChecksFailed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ToolsRequested, Submitted,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Observed, Stalled, 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submit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Submitted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ChecksFailed, ValidateRequested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validate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ValidateRequested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Verdict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rgbClr val="28285E"/>
                          </a:solidFill>
                        </a:rPr>
                        <a:t>judge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Verdict ×V</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AlertDone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5" name="Rectangle 4"/>
          <p:cNvSpPr/>
          <p:nvPr/>
        </p:nvSpPr>
        <p:spPr>
          <a:xfrm>
            <a:off x="319251" y="393171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No step names another: the signatures are the wiring. plan, controller and validate ask a model. The other six are runtime steps.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event-driven agent as an event loop</a:t>
            </a:r>
          </a:p>
        </p:txBody>
      </p:sp>
      <p:pic>
        <p:nvPicPr>
          <p:cNvPr id="3" name="Figure s5-event-loop" descr="s5-event-loop.png"/>
          <p:cNvPicPr>
            <a:picLocks noChangeAspect="1"/>
          </p:cNvPicPr>
          <p:nvPr/>
        </p:nvPicPr>
        <p:blipFill>
          <a:blip r:embed="rId3"/>
          <a:stretch>
            <a:fillRect/>
          </a:stretch>
        </p:blipFill>
        <p:spPr>
          <a:xfrm>
            <a:off x="263563" y="700000"/>
            <a:ext cx="6125923" cy="3470000"/>
          </a:xfrm>
          <a:prstGeom prst="rect">
            <a:avLst/>
          </a:prstGeom>
        </p:spPr>
      </p:pic>
      <p:sp>
        <p:nvSpPr>
          <p:cNvPr id="4" name="Rectangle 3"/>
          <p:cNvSpPr/>
          <p:nvPr/>
        </p:nvSpPr>
        <p:spPr>
          <a:xfrm>
            <a:off x="319251" y="436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8 in the notes. Emitted events return to the queue.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Admission, acting and revising in the steps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guards now sit inside the steps and choose which event to return.</a:t>
            </a:r>
          </a:p>
          <a:p>
            <a:pPr marL="400050" indent="-285750">
              <a:spcBef>
                <a:spcPts val="600"/>
              </a:spcBef>
              <a:spcAft>
                <a:spcPts val="600"/>
              </a:spcAft>
              <a:buClr>
                <a:srgbClr val="28285E"/>
              </a:buClr>
              <a:buSzPts val="1260"/>
              <a:buFont typeface="+mn-lt"/>
              <a:buChar char="●"/>
            </a:pPr>
            <a:r>
              <a:rPr sz="1400" b="1">
                <a:solidFill>
                  <a:schemeClr val="tx1"/>
                </a:solidFill>
              </a:rPr>
              <a:t>Admission: </a:t>
            </a:r>
            <a:r>
              <a:rPr sz="1400" b="0">
                <a:solidFill>
                  <a:schemeClr val="tx1"/>
                </a:solidFill>
              </a:rPr>
              <a:t>plan and controller reserve one model call first. A spent budget returns AlertDone.</a:t>
            </a:r>
          </a:p>
          <a:p>
            <a:pPr marL="400050" indent="-285750">
              <a:spcBef>
                <a:spcPts val="600"/>
              </a:spcBef>
              <a:spcAft>
                <a:spcPts val="600"/>
              </a:spcAft>
              <a:buClr>
                <a:srgbClr val="28285E"/>
              </a:buClr>
              <a:buSzPts val="1260"/>
              <a:buFont typeface="+mn-lt"/>
              <a:buChar char="●"/>
            </a:pPr>
            <a:r>
              <a:rPr sz="1400" b="1">
                <a:solidFill>
                  <a:schemeClr val="tx1"/>
                </a:solidFill>
              </a:rPr>
              <a:t>Acting: </a:t>
            </a:r>
            <a:r>
              <a:rPr sz="1400" b="0">
                <a:solidFill>
                  <a:schemeClr val="tx1"/>
                </a:solidFill>
              </a:rPr>
              <a:t>the controller returns ToolsRequested for a reply with tool calls, and Submitted for one without.</a:t>
            </a:r>
          </a:p>
          <a:p>
            <a:pPr marL="400050" indent="-285750">
              <a:spcBef>
                <a:spcPts val="600"/>
              </a:spcBef>
              <a:spcAft>
                <a:spcPts val="600"/>
              </a:spcAft>
              <a:buClr>
                <a:srgbClr val="28285E"/>
              </a:buClr>
              <a:buSzPts val="1260"/>
              <a:buFont typeface="+mn-lt"/>
              <a:buChar char="●"/>
            </a:pPr>
            <a:r>
              <a:rPr sz="1400" b="1">
                <a:solidFill>
                  <a:schemeClr val="tx1"/>
                </a:solidFill>
              </a:rPr>
              <a:t>Revising: </a:t>
            </a:r>
            <a:r>
              <a:rPr sz="1400" b="0">
                <a:solidFill>
                  <a:schemeClr val="tx1"/>
                </a:solidFill>
              </a:rPr>
              <a:t>tools returns Observed while work moves, Stalled on a first stall, AlertDone on a second.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 Stalled, plan writes a new plan and moves replanned_at, the handoff and window of section 2.4.</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AlertDone carries budget_exhausted from plan or controller, and no_progress from tools.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run handles many alerts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One run handles many alerts, the first of three things the graph agent does not do.</a:t>
            </a:r>
          </a:p>
          <a:p>
            <a:pPr marL="400050" indent="-285750">
              <a:spcBef>
                <a:spcPts val="600"/>
              </a:spcBef>
              <a:spcAft>
                <a:spcPts val="600"/>
              </a:spcAft>
              <a:buClr>
                <a:srgbClr val="28285E"/>
              </a:buClr>
              <a:buSzPts val="1260"/>
              <a:buFont typeface="+mn-lt"/>
              <a:buChar char="●"/>
            </a:pPr>
            <a:r>
              <a:rPr sz="1400" b="1">
                <a:solidFill>
                  <a:schemeClr val="tx1"/>
                </a:solidFill>
              </a:rPr>
              <a:t>scan runs Bandit once </a:t>
            </a:r>
            <a:r>
              <a:rPr sz="1400" b="0">
                <a:solidFill>
                  <a:schemeClr val="tx1"/>
                </a:solidFill>
              </a:rPr>
              <a:t>and emits one AlertFound per alert.</a:t>
            </a:r>
          </a:p>
          <a:p>
            <a:pPr marL="400050" indent="-285750">
              <a:spcBef>
                <a:spcPts val="600"/>
              </a:spcBef>
              <a:spcAft>
                <a:spcPts val="600"/>
              </a:spcAft>
              <a:buClr>
                <a:srgbClr val="28285E"/>
              </a:buClr>
              <a:buSzPts val="1260"/>
              <a:buFont typeface="+mn-lt"/>
              <a:buChar char="●"/>
            </a:pPr>
            <a:r>
              <a:rPr sz="1400" b="1">
                <a:solidFill>
                  <a:schemeClr val="tx1"/>
                </a:solidFill>
              </a:rPr>
              <a:t>gate queues each alert it receives </a:t>
            </a:r>
            <a:r>
              <a:rPr sz="1400" b="0">
                <a:solidFill>
                  <a:schemeClr val="tx1"/>
                </a:solidFill>
              </a:rPr>
              <a:t>and releases one at a time.</a:t>
            </a:r>
          </a:p>
          <a:p>
            <a:pPr marL="400050" indent="-285750">
              <a:spcBef>
                <a:spcPts val="600"/>
              </a:spcBef>
              <a:spcAft>
                <a:spcPts val="600"/>
              </a:spcAft>
              <a:buClr>
                <a:srgbClr val="28285E"/>
              </a:buClr>
              <a:buSzPts val="1260"/>
              <a:buFont typeface="+mn-lt"/>
              <a:buChar char="●"/>
            </a:pPr>
            <a:r>
              <a:rPr sz="1400" b="1">
                <a:solidFill>
                  <a:schemeClr val="tx1"/>
                </a:solidFill>
              </a:rPr>
              <a:t>Every event about an alert carries its alert_id, </a:t>
            </a:r>
            <a:r>
              <a:rPr sz="1400" b="0">
                <a:solidFill>
                  <a:schemeClr val="tx1"/>
                </a:solidFill>
              </a:rPr>
              <a:t>which correlates it with the alert's store entry.</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gate starts the next alert only after the current alert's AlertDone arrives.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run's bookkeeping sits in the RunState, and each alert's data in its own AlertState.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Validation fans out and back in</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submit sends one ValidateRequested per lens, because a step can return only one event.</a:t>
            </a:r>
          </a:p>
          <a:p>
            <a:pPr marL="400050" indent="-285750">
              <a:spcBef>
                <a:spcPts val="600"/>
              </a:spcBef>
              <a:spcAft>
                <a:spcPts val="600"/>
              </a:spcAft>
              <a:buClr>
                <a:srgbClr val="28285E"/>
              </a:buClr>
              <a:buSzPts val="1260"/>
              <a:buFont typeface="+mn-lt"/>
              <a:buChar char="●"/>
            </a:pPr>
            <a:r>
              <a:rPr sz="1400" b="1">
                <a:solidFill>
                  <a:schemeClr val="tx1"/>
                </a:solidFill>
              </a:rPr>
              <a:t>validate runs three workers, </a:t>
            </a:r>
            <a:r>
              <a:rPr sz="1400" b="0">
                <a:solidFill>
                  <a:schemeClr val="tx1"/>
                </a:solidFill>
              </a:rPr>
              <a:t>so the correctness, behaviour and scope validators run at once.</a:t>
            </a:r>
          </a:p>
          <a:p>
            <a:pPr marL="400050" indent="-285750">
              <a:spcBef>
                <a:spcPts val="600"/>
              </a:spcBef>
              <a:spcAft>
                <a:spcPts val="600"/>
              </a:spcAft>
              <a:buClr>
                <a:srgbClr val="28285E"/>
              </a:buClr>
              <a:buSzPts val="1260"/>
              <a:buFont typeface="+mn-lt"/>
              <a:buChar char="●"/>
            </a:pPr>
            <a:r>
              <a:rPr sz="1400" b="1">
                <a:solidFill>
                  <a:schemeClr val="tx1"/>
                </a:solidFill>
              </a:rPr>
              <a:t>This is the configuration of section 5.2 </a:t>
            </a:r>
            <a:r>
              <a:rPr sz="1400" b="0">
                <a:solidFill>
                  <a:schemeClr val="tx1"/>
                </a:solidFill>
              </a:rPr>
              <a:t>with several running handlers and no single location.</a:t>
            </a:r>
          </a:p>
          <a:p>
            <a:pPr marL="400050" indent="-285750">
              <a:spcBef>
                <a:spcPts val="600"/>
              </a:spcBef>
              <a:spcAft>
                <a:spcPts val="600"/>
              </a:spcAft>
              <a:buClr>
                <a:srgbClr val="28285E"/>
              </a:buClr>
              <a:buSzPts val="1260"/>
              <a:buFont typeface="+mn-lt"/>
              <a:buChar char="●"/>
            </a:pPr>
            <a:r>
              <a:rPr sz="1400" b="1">
                <a:solidFill>
                  <a:schemeClr val="tx1"/>
                </a:solidFill>
              </a:rPr>
              <a:t>judge holds each Verdict until all V arrive, </a:t>
            </a:r>
            <a:r>
              <a:rPr sz="1400" b="0">
                <a:solidFill>
                  <a:schemeClr val="tx1"/>
                </a:solidFill>
              </a:rPr>
              <a:t>and accepts only when every validator accepted.</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gate serializes alerts. It does not serialize validators.</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judge does not key verdicts by alert. That is safe only because the gate admits one alert at a time.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kinds of ending</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An alert ends with an AlertDone carrying one of four statuses. The run ends with a StopEvent.</a:t>
            </a:r>
          </a:p>
          <a:p>
            <a:pPr marL="400050" indent="-285750">
              <a:spcBef>
                <a:spcPts val="600"/>
              </a:spcBef>
              <a:spcAft>
                <a:spcPts val="600"/>
              </a:spcAft>
              <a:buClr>
                <a:srgbClr val="28285E"/>
              </a:buClr>
              <a:buSzPts val="1260"/>
              <a:buFont typeface="+mn-lt"/>
              <a:buChar char="●"/>
            </a:pPr>
            <a:r>
              <a:rPr sz="1400" b="1">
                <a:solidFill>
                  <a:schemeClr val="tx1"/>
                </a:solidFill>
              </a:rPr>
              <a:t>The statuses are </a:t>
            </a:r>
            <a:r>
              <a:rPr sz="1400" b="0">
                <a:solidFill>
                  <a:schemeClr val="tx1"/>
                </a:solidFill>
              </a:rPr>
              <a:t>accepted, rejected, no_progress and budget_exhausted.</a:t>
            </a:r>
          </a:p>
          <a:p>
            <a:pPr marL="400050" indent="-285750">
              <a:spcBef>
                <a:spcPts val="600"/>
              </a:spcBef>
              <a:spcAft>
                <a:spcPts val="600"/>
              </a:spcAft>
              <a:buClr>
                <a:srgbClr val="28285E"/>
              </a:buClr>
              <a:buSzPts val="1260"/>
              <a:buFont typeface="+mn-lt"/>
              <a:buChar char="●"/>
            </a:pPr>
            <a:r>
              <a:rPr sz="1400" b="1">
                <a:solidFill>
                  <a:schemeClr val="tx1"/>
                </a:solidFill>
              </a:rPr>
              <a:t>AlertDone returns to the gate, </a:t>
            </a:r>
            <a:r>
              <a:rPr sz="1400" b="0">
                <a:solidFill>
                  <a:schemeClr val="tx1"/>
                </a:solidFill>
              </a:rPr>
              <a:t>which records the status and starts the next alert.</a:t>
            </a:r>
          </a:p>
          <a:p>
            <a:pPr marL="400050" indent="-285750">
              <a:spcBef>
                <a:spcPts val="600"/>
              </a:spcBef>
              <a:spcAft>
                <a:spcPts val="600"/>
              </a:spcAft>
              <a:buClr>
                <a:srgbClr val="28285E"/>
              </a:buClr>
              <a:buSzPts val="1260"/>
              <a:buFont typeface="+mn-lt"/>
              <a:buChar char="●"/>
            </a:pPr>
            <a:r>
              <a:rPr sz="1400" b="1">
                <a:solidFill>
                  <a:schemeClr val="tx1"/>
                </a:solidFill>
              </a:rPr>
              <a:t>When the gate has a result for every alert the scan found, </a:t>
            </a:r>
            <a:r>
              <a:rPr sz="1400" b="0">
                <a:solidFill>
                  <a:schemeClr val="tx1"/>
                </a:solidFill>
              </a:rPr>
              <a:t>it returns a StopEvent carrying the results.</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Only the gate's StopEvent ends the run.</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scan that finds no alert ends the run at once with an empty result.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Events as classes, in code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Every event is a class. The StartEvent subclass carries the run's input, and every event about one alert carries its alert_id.</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event_driven/events.py, RunRequested and AlertEvent. Docstrings omitted</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accent2"/>
                </a:solidFill>
                <a:latin typeface="Maple Mono NF"/>
              </a:rPr>
              <a:t>from</a:t>
            </a:r>
            <a:r>
              <a:rPr sz="1100" b="0">
                <a:solidFill>
                  <a:schemeClr val="bg1"/>
                </a:solidFill>
                <a:latin typeface="Maple Mono NF"/>
              </a:rPr>
              <a:t> workflows.events </a:t>
            </a:r>
            <a:r>
              <a:rPr sz="1100" b="0">
                <a:solidFill>
                  <a:schemeClr val="accent2"/>
                </a:solidFill>
                <a:latin typeface="Maple Mono NF"/>
              </a:rPr>
              <a:t>import</a:t>
            </a:r>
            <a:r>
              <a:rPr sz="1100" b="0">
                <a:solidFill>
                  <a:schemeClr val="bg1"/>
                </a:solidFill>
                <a:latin typeface="Maple Mono NF"/>
              </a:rPr>
              <a:t> Event, </a:t>
            </a:r>
            <a:r>
              <a:rPr sz="1100" b="1">
                <a:solidFill>
                  <a:schemeClr val="accent4">
                    <a:lumMod val="70000"/>
                    <a:lumOff val="30000"/>
                  </a:schemeClr>
                </a:solidFill>
                <a:latin typeface="Maple Mono NF"/>
              </a:rPr>
              <a:t>StartEvent</a:t>
            </a:r>
          </a:p>
          <a:p>
            <a:pPr algn="l">
              <a:buNone/>
            </a:pPr>
            <a:endParaRPr sz="1100" b="1">
              <a:solidFill>
                <a:schemeClr val="accent4">
                  <a:lumMod val="70000"/>
                  <a:lumOff val="30000"/>
                </a:schemeClr>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RunRequested(</a:t>
            </a:r>
            <a:r>
              <a:rPr sz="1100" b="1">
                <a:solidFill>
                  <a:schemeClr val="accent4">
                    <a:lumMod val="70000"/>
                    <a:lumOff val="30000"/>
                  </a:schemeClr>
                </a:solidFill>
                <a:latin typeface="Maple Mono NF"/>
              </a:rPr>
              <a:t>StartEvent</a:t>
            </a:r>
            <a:r>
              <a:rPr sz="1100" b="0">
                <a:solidFill>
                  <a:schemeClr val="bg1"/>
                </a:solidFill>
                <a:latin typeface="Maple Mono NF"/>
              </a:rPr>
              <a:t>):</a:t>
            </a:r>
          </a:p>
          <a:p>
            <a:pPr algn="l">
              <a:buNone/>
            </a:pPr>
            <a:r>
              <a:rPr sz="1100" b="0">
                <a:solidFill>
                  <a:schemeClr val="bg1"/>
                </a:solidFill>
                <a:latin typeface="Maple Mono NF"/>
              </a:rPr>
              <a:t>    rule: str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r>
              <a:rPr sz="1100" b="0">
                <a:solidFill>
                  <a:schemeClr val="bg1"/>
                </a:solidFill>
                <a:latin typeface="Maple Mono NF"/>
              </a:rPr>
              <a:t>    alert_id: str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r>
              <a:rPr sz="1100" b="0">
                <a:solidFill>
                  <a:schemeClr val="bg1"/>
                </a:solidFill>
                <a:latin typeface="Maple Mono NF"/>
              </a:rPr>
              <a:t>    limit: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p>
          <a:p>
            <a:pPr algn="l">
              <a:buNone/>
            </a:pPr>
            <a:endParaRPr sz="1100" b="0">
              <a:solidFill>
                <a:schemeClr val="accent2"/>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AlertEvent(Event):</a:t>
            </a:r>
          </a:p>
          <a:p>
            <a:pPr algn="l">
              <a:buNone/>
            </a:pPr>
            <a:r>
              <a:rPr sz="1100" b="0">
                <a:solidFill>
                  <a:schemeClr val="bg1"/>
                </a:solidFill>
                <a:latin typeface="Maple Mono NF"/>
              </a:rPr>
              <a:t>    alert_id: str</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StartEvent's fields are run()'s keyword arguments. alert_id is the correlation key across alerts.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step's signature declares its events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signature names the event the step accepts and the event it returns. The store on the Context holds per-run state.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start. Docstring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267468" cy="1354217"/>
          </a:xfrm>
          <a:prstGeom prst="rect">
            <a:avLst/>
          </a:prstGeom>
          <a:noFill/>
        </p:spPr>
        <p:txBody>
          <a:bodyPr wrap="none" lIns="0" tIns="0" rIns="0" bIns="0" anchor="t">
            <a:spAutoFit/>
          </a:bodyPr>
          <a:lstStyle/>
          <a:p>
            <a:pPr algn="l">
              <a:buNone/>
            </a:pPr>
            <a:r>
              <a:rPr sz="1100" b="0" dirty="0">
                <a:solidFill>
                  <a:schemeClr val="bg1"/>
                </a:solidFill>
                <a:latin typeface="Maple Mono NF"/>
              </a:rPr>
              <a:t>@step</a:t>
            </a:r>
          </a:p>
          <a:p>
            <a:pPr algn="l">
              <a:buNone/>
            </a:pPr>
            <a:r>
              <a:rPr sz="1100" b="0" dirty="0">
                <a:solidFill>
                  <a:schemeClr val="bg1"/>
                </a:solidFill>
                <a:latin typeface="Maple Mono NF"/>
              </a:rPr>
              <a:t>async </a:t>
            </a:r>
            <a:r>
              <a:rPr sz="1100" b="0" dirty="0">
                <a:solidFill>
                  <a:schemeClr val="accent2"/>
                </a:solidFill>
                <a:latin typeface="Maple Mono NF"/>
              </a:rPr>
              <a:t>def</a:t>
            </a:r>
            <a:r>
              <a:rPr sz="1100" b="0" dirty="0">
                <a:solidFill>
                  <a:schemeClr val="bg1"/>
                </a:solidFill>
                <a:latin typeface="Maple Mono NF"/>
              </a:rPr>
              <a:t> start(</a:t>
            </a:r>
            <a:r>
              <a:rPr sz="1100" b="0" dirty="0">
                <a:solidFill>
                  <a:schemeClr val="accent2"/>
                </a:solidFill>
                <a:latin typeface="Maple Mono NF"/>
              </a:rPr>
              <a:t>self</a:t>
            </a:r>
            <a:r>
              <a:rPr sz="1100" b="0" dirty="0">
                <a:solidFill>
                  <a:schemeClr val="bg1"/>
                </a:solidFill>
                <a:latin typeface="Maple Mono NF"/>
              </a:rPr>
              <a:t>, </a:t>
            </a:r>
            <a:r>
              <a:rPr sz="1100" b="0" dirty="0" err="1">
                <a:solidFill>
                  <a:schemeClr val="bg1"/>
                </a:solidFill>
                <a:latin typeface="Maple Mono NF"/>
              </a:rPr>
              <a:t>ctx</a:t>
            </a:r>
            <a:r>
              <a:rPr sz="1100" b="0" dirty="0">
                <a:solidFill>
                  <a:schemeClr val="bg1"/>
                </a:solidFill>
                <a:latin typeface="Maple Mono NF"/>
              </a:rPr>
              <a:t>: Context[</a:t>
            </a:r>
            <a:r>
              <a:rPr sz="1100" b="0" dirty="0" err="1">
                <a:solidFill>
                  <a:schemeClr val="bg1"/>
                </a:solidFill>
                <a:latin typeface="Maple Mono NF"/>
              </a:rPr>
              <a:t>RunState</a:t>
            </a:r>
            <a:r>
              <a:rPr sz="1100" b="0" dirty="0">
                <a:solidFill>
                  <a:schemeClr val="bg1"/>
                </a:solidFill>
                <a:latin typeface="Maple Mono NF"/>
              </a:rPr>
              <a:t>],</a:t>
            </a:r>
          </a:p>
          <a:p>
            <a:pPr algn="l">
              <a:buNone/>
            </a:pPr>
            <a:r>
              <a:rPr sz="1100" b="0" dirty="0">
                <a:solidFill>
                  <a:schemeClr val="bg1"/>
                </a:solidFill>
                <a:latin typeface="Maple Mono NF"/>
              </a:rPr>
              <a:t>                </a:t>
            </a:r>
            <a:r>
              <a:rPr sz="1100" b="0" dirty="0" err="1">
                <a:solidFill>
                  <a:schemeClr val="bg1"/>
                </a:solidFill>
                <a:latin typeface="Maple Mono NF"/>
              </a:rPr>
              <a:t>ev</a:t>
            </a:r>
            <a:r>
              <a:rPr sz="1100" b="0" dirty="0">
                <a:solidFill>
                  <a:schemeClr val="bg1"/>
                </a:solidFill>
                <a:latin typeface="Maple Mono NF"/>
              </a:rPr>
              <a:t>: </a:t>
            </a:r>
            <a:r>
              <a:rPr sz="1100" b="1" u="sng" dirty="0" err="1">
                <a:solidFill>
                  <a:srgbClr val="FFC000"/>
                </a:solidFill>
                <a:latin typeface="Maple Mono NF"/>
              </a:rPr>
              <a:t>RunRequested</a:t>
            </a:r>
            <a:r>
              <a:rPr sz="1100" b="0" dirty="0">
                <a:solidFill>
                  <a:schemeClr val="bg1"/>
                </a:solidFill>
                <a:latin typeface="Maple Mono NF"/>
              </a:rPr>
              <a:t>) -&gt; </a:t>
            </a:r>
            <a:r>
              <a:rPr sz="1100" b="1" dirty="0" err="1">
                <a:solidFill>
                  <a:schemeClr val="accent4">
                    <a:lumMod val="70000"/>
                    <a:lumOff val="30000"/>
                  </a:schemeClr>
                </a:solidFill>
                <a:latin typeface="Maple Mono NF"/>
              </a:rPr>
              <a:t>ScanRequested</a:t>
            </a:r>
            <a:r>
              <a:rPr sz="1100" b="0" dirty="0">
                <a:solidFill>
                  <a:schemeClr val="bg1"/>
                </a:solidFill>
                <a:latin typeface="Maple Mono NF"/>
              </a:rPr>
              <a:t>:</a:t>
            </a:r>
          </a:p>
          <a:p>
            <a:pPr algn="l">
              <a:buNone/>
            </a:pPr>
            <a:r>
              <a:rPr sz="1100" b="0" dirty="0">
                <a:solidFill>
                  <a:schemeClr val="bg1"/>
                </a:solidFill>
                <a:latin typeface="Maple Mono NF"/>
              </a:rPr>
              <a:t>    async </a:t>
            </a:r>
            <a:r>
              <a:rPr sz="1100" b="0" dirty="0">
                <a:solidFill>
                  <a:schemeClr val="accent2"/>
                </a:solidFill>
                <a:latin typeface="Maple Mono NF"/>
              </a:rPr>
              <a:t>with</a:t>
            </a:r>
            <a:r>
              <a:rPr sz="1100" b="0" dirty="0">
                <a:solidFill>
                  <a:schemeClr val="bg1"/>
                </a:solidFill>
                <a:latin typeface="Maple Mono NF"/>
              </a:rPr>
              <a:t> </a:t>
            </a:r>
            <a:r>
              <a:rPr sz="1100" b="0" dirty="0" err="1">
                <a:solidFill>
                  <a:schemeClr val="bg1"/>
                </a:solidFill>
                <a:latin typeface="Maple Mono NF"/>
              </a:rPr>
              <a:t>ctx.store.edit_state</a:t>
            </a:r>
            <a:r>
              <a:rPr sz="1100" b="0" dirty="0">
                <a:solidFill>
                  <a:schemeClr val="bg1"/>
                </a:solidFill>
                <a:latin typeface="Maple Mono NF"/>
              </a:rPr>
              <a:t>() </a:t>
            </a:r>
            <a:r>
              <a:rPr sz="1100" b="0" dirty="0">
                <a:solidFill>
                  <a:schemeClr val="accent2"/>
                </a:solidFill>
                <a:latin typeface="Maple Mono NF"/>
              </a:rPr>
              <a:t>as</a:t>
            </a:r>
            <a:r>
              <a:rPr sz="1100" b="0" dirty="0">
                <a:solidFill>
                  <a:schemeClr val="bg1"/>
                </a:solidFill>
                <a:latin typeface="Maple Mono NF"/>
              </a:rPr>
              <a:t> s:</a:t>
            </a:r>
          </a:p>
          <a:p>
            <a:pPr algn="l">
              <a:buNone/>
            </a:pPr>
            <a:r>
              <a:rPr sz="1100" b="0" dirty="0">
                <a:solidFill>
                  <a:schemeClr val="bg1"/>
                </a:solidFill>
                <a:latin typeface="Maple Mono NF"/>
              </a:rPr>
              <a:t>        </a:t>
            </a:r>
            <a:r>
              <a:rPr sz="1100" b="0" dirty="0" err="1">
                <a:solidFill>
                  <a:schemeClr val="bg1"/>
                </a:solidFill>
                <a:latin typeface="Maple Mono NF"/>
              </a:rPr>
              <a:t>s.filters</a:t>
            </a:r>
            <a:r>
              <a:rPr sz="1100" b="0" dirty="0">
                <a:solidFill>
                  <a:schemeClr val="bg1"/>
                </a:solidFill>
                <a:latin typeface="Maple Mono NF"/>
              </a:rPr>
              <a:t> = {</a:t>
            </a:r>
            <a:r>
              <a:rPr sz="1100" b="0" dirty="0">
                <a:solidFill>
                  <a:schemeClr val="accent3">
                    <a:lumMod val="55000"/>
                    <a:lumOff val="45000"/>
                  </a:schemeClr>
                </a:solidFill>
                <a:latin typeface="Maple Mono NF"/>
              </a:rPr>
              <a:t>"rule"</a:t>
            </a:r>
            <a:r>
              <a:rPr sz="1100" b="0" dirty="0">
                <a:solidFill>
                  <a:schemeClr val="bg1"/>
                </a:solidFill>
                <a:latin typeface="Maple Mono NF"/>
              </a:rPr>
              <a:t>: </a:t>
            </a:r>
            <a:r>
              <a:rPr sz="1100" b="0" dirty="0" err="1">
                <a:solidFill>
                  <a:schemeClr val="bg1"/>
                </a:solidFill>
                <a:latin typeface="Maple Mono NF"/>
              </a:rPr>
              <a:t>ev.rule</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alert_id</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err="1">
                <a:solidFill>
                  <a:schemeClr val="bg1"/>
                </a:solidFill>
                <a:latin typeface="Maple Mono NF"/>
              </a:rPr>
              <a:t>ev.alert_id</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3">
                    <a:lumMod val="55000"/>
                    <a:lumOff val="45000"/>
                  </a:schemeClr>
                </a:solidFill>
                <a:latin typeface="Maple Mono NF"/>
              </a:rPr>
              <a:t>"limit"</a:t>
            </a:r>
            <a:r>
              <a:rPr sz="1100" b="0" dirty="0">
                <a:solidFill>
                  <a:schemeClr val="bg1"/>
                </a:solidFill>
                <a:latin typeface="Maple Mono NF"/>
              </a:rPr>
              <a:t>: </a:t>
            </a:r>
            <a:r>
              <a:rPr sz="1100" b="0" dirty="0" err="1">
                <a:solidFill>
                  <a:schemeClr val="bg1"/>
                </a:solidFill>
                <a:latin typeface="Maple Mono NF"/>
              </a:rPr>
              <a:t>ev.limit</a:t>
            </a:r>
            <a:r>
              <a:rPr sz="1100" b="0" dirty="0">
                <a:solidFill>
                  <a:schemeClr val="bg1"/>
                </a:solidFill>
                <a:latin typeface="Maple Mono NF"/>
              </a:rPr>
              <a:t>}</a:t>
            </a:r>
          </a:p>
          <a:p>
            <a:pPr algn="l">
              <a:buNone/>
            </a:pPr>
            <a:r>
              <a:rPr sz="1100" b="0" dirty="0">
                <a:solidFill>
                  <a:schemeClr val="accent6"/>
                </a:solidFill>
                <a:latin typeface="Maple Mono NF"/>
              </a:rPr>
              <a:t>    # The runtime decides to scan; no model is asked.</a:t>
            </a:r>
          </a:p>
          <a:p>
            <a:pPr algn="l">
              <a:buNone/>
            </a:pPr>
            <a:r>
              <a:rPr sz="1100" b="0" dirty="0">
                <a:solidFill>
                  <a:schemeClr val="bg1"/>
                </a:solidFill>
                <a:latin typeface="Maple Mono NF"/>
              </a:rPr>
              <a:t>    </a:t>
            </a:r>
            <a:r>
              <a:rPr sz="1100" b="0" dirty="0">
                <a:solidFill>
                  <a:schemeClr val="accent2"/>
                </a:solidFill>
                <a:latin typeface="Maple Mono NF"/>
              </a:rPr>
              <a:t>return</a:t>
            </a:r>
            <a:r>
              <a:rPr sz="1100" b="0" dirty="0">
                <a:solidFill>
                  <a:schemeClr val="bg1"/>
                </a:solidFill>
                <a:latin typeface="Maple Mono NF"/>
              </a:rPr>
              <a:t> </a:t>
            </a:r>
            <a:r>
              <a:rPr sz="1100" b="1" dirty="0" err="1">
                <a:solidFill>
                  <a:schemeClr val="accent4">
                    <a:lumMod val="70000"/>
                    <a:lumOff val="30000"/>
                  </a:schemeClr>
                </a:solidFill>
                <a:latin typeface="Maple Mono NF"/>
              </a:rPr>
              <a:t>ScanRequested</a:t>
            </a:r>
            <a:r>
              <a:rPr sz="1100" b="0" dirty="0">
                <a:solidFill>
                  <a:schemeClr val="bg1"/>
                </a:solidFill>
                <a:latin typeface="Maple Mono NF"/>
              </a:rPr>
              <a:t>(root=str(</a:t>
            </a:r>
            <a:r>
              <a:rPr sz="1100" b="0" dirty="0" err="1">
                <a:solidFill>
                  <a:schemeClr val="accent2"/>
                </a:solidFill>
                <a:latin typeface="Maple Mono NF"/>
              </a:rPr>
              <a:t>self</a:t>
            </a:r>
            <a:r>
              <a:rPr sz="1100" b="0" dirty="0" err="1">
                <a:solidFill>
                  <a:schemeClr val="bg1"/>
                </a:solidFill>
                <a:latin typeface="Maple Mono NF"/>
              </a:rPr>
              <a:t>.config.fixture</a:t>
            </a:r>
            <a:r>
              <a:rPr sz="1100" b="0" dirty="0">
                <a:solidFill>
                  <a:schemeClr val="bg1"/>
                </a:solidFill>
                <a:latin typeface="Maple Mono NF"/>
              </a:rPr>
              <a:t>))</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returned event triggers the next step whose annotation accepts it. edit_state() guards an update that must not interleave with another step's.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Admission: reserving a call under the lock</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plan and controller call _admit before every model call.</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_admit. Docstring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_admit(</a:t>
            </a:r>
            <a:r>
              <a:rPr sz="1100" b="0">
                <a:solidFill>
                  <a:schemeClr val="accent2"/>
                </a:solidFill>
                <a:latin typeface="Maple Mono NF"/>
              </a:rPr>
              <a:t>self</a:t>
            </a:r>
            <a:r>
              <a:rPr sz="1100" b="0">
                <a:solidFill>
                  <a:schemeClr val="bg1"/>
                </a:solidFill>
                <a:latin typeface="Maple Mono NF"/>
              </a:rPr>
              <a:t>, ctx: Context[RunState],</a:t>
            </a:r>
          </a:p>
          <a:p>
            <a:pPr algn="l">
              <a:buNone/>
            </a:pPr>
            <a:r>
              <a:rPr sz="1100" b="0">
                <a:solidFill>
                  <a:schemeClr val="bg1"/>
                </a:solidFill>
                <a:latin typeface="Maple Mono NF"/>
              </a:rPr>
              <a:t>                 alert_id: str) -&gt; bool:</a:t>
            </a:r>
          </a:p>
          <a:p>
            <a:pPr algn="l">
              <a:buNone/>
            </a:pPr>
            <a:r>
              <a:rPr sz="1100" b="0">
                <a:solidFill>
                  <a:schemeClr val="bg1"/>
                </a:solidFill>
                <a:latin typeface="Maple Mono NF"/>
              </a:rPr>
              <a:t>    async </a:t>
            </a:r>
            <a:r>
              <a:rPr sz="1100" b="0">
                <a:solidFill>
                  <a:schemeClr val="accent2"/>
                </a:solidFill>
                <a:latin typeface="Maple Mono NF"/>
              </a:rPr>
              <a:t>with</a:t>
            </a:r>
            <a:r>
              <a:rPr sz="1100" b="0">
                <a:solidFill>
                  <a:schemeClr val="bg1"/>
                </a:solidFill>
                <a:latin typeface="Maple Mono NF"/>
              </a:rPr>
              <a:t> ctx.store.</a:t>
            </a:r>
            <a:r>
              <a:rPr sz="1100" b="1">
                <a:solidFill>
                  <a:schemeClr val="accent4">
                    <a:lumMod val="70000"/>
                    <a:lumOff val="30000"/>
                  </a:schemeClr>
                </a:solidFill>
                <a:latin typeface="Maple Mono NF"/>
              </a:rPr>
              <a:t>edit_state</a:t>
            </a:r>
            <a:r>
              <a:rPr sz="1100" b="0">
                <a:solidFill>
                  <a:schemeClr val="bg1"/>
                </a:solidFill>
                <a:latin typeface="Maple Mono NF"/>
              </a:rPr>
              <a:t>() </a:t>
            </a:r>
            <a:r>
              <a:rPr sz="1100" b="0">
                <a:solidFill>
                  <a:schemeClr val="accent2"/>
                </a:solidFill>
                <a:latin typeface="Maple Mono NF"/>
              </a:rPr>
              <a:t>as</a:t>
            </a:r>
            <a:r>
              <a:rPr sz="1100" b="0">
                <a:solidFill>
                  <a:schemeClr val="bg1"/>
                </a:solidFill>
                <a:latin typeface="Maple Mono NF"/>
              </a:rPr>
              <a:t> s:</a:t>
            </a:r>
          </a:p>
          <a:p>
            <a:pPr algn="l">
              <a:buNone/>
            </a:pPr>
            <a:r>
              <a:rPr sz="1100" b="0">
                <a:solidFill>
                  <a:schemeClr val="bg1"/>
                </a:solidFill>
                <a:latin typeface="Maple Mono NF"/>
              </a:rPr>
              <a:t>        a = s.alerts[alert_id]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a.model_calls &gt;= </a:t>
            </a:r>
            <a:r>
              <a:rPr sz="1100" b="0">
                <a:solidFill>
                  <a:schemeClr val="accent2"/>
                </a:solidFill>
                <a:latin typeface="Maple Mono NF"/>
              </a:rPr>
              <a:t>self</a:t>
            </a:r>
            <a:r>
              <a:rPr sz="1100" b="0">
                <a:solidFill>
                  <a:schemeClr val="bg1"/>
                </a:solidFill>
                <a:latin typeface="Maple Mono NF"/>
              </a:rPr>
              <a:t>.config.budget: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False</a:t>
            </a:r>
          </a:p>
          <a:p>
            <a:pPr algn="l">
              <a:buNone/>
            </a:pPr>
            <a:r>
              <a:rPr sz="1100" b="0">
                <a:solidFill>
                  <a:schemeClr val="bg1"/>
                </a:solidFill>
                <a:latin typeface="Maple Mono NF"/>
              </a:rPr>
              <a:t>        a.model_calls += </a:t>
            </a:r>
            <a:r>
              <a:rPr sz="1100" b="0">
                <a:solidFill>
                  <a:schemeClr val="accent5">
                    <a:lumMod val="45000"/>
                    <a:lumOff val="55000"/>
                  </a:schemeClr>
                </a:solidFill>
                <a:latin typeface="Maple Mono NF"/>
              </a:rPr>
              <a:t>1</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True</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check and the reservation happen under one lock, so two steps admitted at the same moment cannot both take the last call.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Fan-out: send_event and the annotation</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A step can return only one event, so submit sends one ValidateRequested per lens.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event_driven/workflow.py, submit. Docstring omitted; one call over three lines</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@step</a:t>
            </a:r>
          </a:p>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submit(</a:t>
            </a:r>
            <a:r>
              <a:rPr sz="1100" b="0">
                <a:solidFill>
                  <a:schemeClr val="accent2"/>
                </a:solidFill>
                <a:latin typeface="Maple Mono NF"/>
              </a:rPr>
              <a:t>self</a:t>
            </a:r>
            <a:r>
              <a:rPr sz="1100" b="0">
                <a:solidFill>
                  <a:schemeClr val="bg1"/>
                </a:solidFill>
                <a:latin typeface="Maple Mono NF"/>
              </a:rPr>
              <a:t>, ctx: Context[RunState], ev: Submitted</a:t>
            </a:r>
          </a:p>
          <a:p>
            <a:pPr algn="l">
              <a:buNone/>
            </a:pPr>
            <a:r>
              <a:rPr sz="1100" b="0">
                <a:solidFill>
                  <a:schemeClr val="bg1"/>
                </a:solidFill>
                <a:latin typeface="Maple Mono NF"/>
              </a:rPr>
              <a:t>                 ) -&gt; ChecksFailed | ValidateRequested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for</a:t>
            </a:r>
            <a:r>
              <a:rPr sz="1100" b="0">
                <a:solidFill>
                  <a:schemeClr val="bg1"/>
                </a:solidFill>
                <a:latin typeface="Maple Mono NF"/>
              </a:rPr>
              <a:t> lens </a:t>
            </a:r>
            <a:r>
              <a:rPr sz="1100" b="0">
                <a:solidFill>
                  <a:schemeClr val="accent2"/>
                </a:solidFill>
                <a:latin typeface="Maple Mono NF"/>
              </a:rPr>
              <a:t>in</a:t>
            </a:r>
            <a:r>
              <a:rPr sz="1100" b="0">
                <a:solidFill>
                  <a:schemeClr val="bg1"/>
                </a:solidFill>
                <a:latin typeface="Maple Mono NF"/>
              </a:rPr>
              <a:t> list(Lens)[:</a:t>
            </a:r>
            <a:r>
              <a:rPr sz="1100" b="0">
                <a:solidFill>
                  <a:schemeClr val="accent2"/>
                </a:solidFill>
                <a:latin typeface="Maple Mono NF"/>
              </a:rPr>
              <a:t>self</a:t>
            </a:r>
            <a:r>
              <a:rPr sz="1100" b="0">
                <a:solidFill>
                  <a:schemeClr val="bg1"/>
                </a:solidFill>
                <a:latin typeface="Maple Mono NF"/>
              </a:rPr>
              <a:t>.validators]:</a:t>
            </a:r>
          </a:p>
          <a:p>
            <a:pPr algn="l">
              <a:buNone/>
            </a:pPr>
            <a:r>
              <a:rPr sz="1100" b="0">
                <a:solidFill>
                  <a:schemeClr val="bg1"/>
                </a:solidFill>
                <a:latin typeface="Maple Mono NF"/>
              </a:rPr>
              <a:t>        ctx.</a:t>
            </a:r>
            <a:r>
              <a:rPr sz="1100" b="1">
                <a:solidFill>
                  <a:schemeClr val="accent4">
                    <a:lumMod val="70000"/>
                    <a:lumOff val="30000"/>
                  </a:schemeClr>
                </a:solidFill>
                <a:latin typeface="Maple Mono NF"/>
              </a:rPr>
              <a:t>send_event</a:t>
            </a:r>
            <a:r>
              <a:rPr sz="1100" b="0">
                <a:solidFill>
                  <a:schemeClr val="bg1"/>
                </a:solidFill>
                <a:latin typeface="Maple Mono NF"/>
              </a:rPr>
              <a:t>(ValidateRequested(alert_id=ev.alert_id,</a:t>
            </a:r>
          </a:p>
          <a:p>
            <a:pPr algn="l">
              <a:buNone/>
            </a:pPr>
            <a:r>
              <a:rPr sz="1100" b="0">
                <a:solidFill>
                  <a:schemeClr val="bg1"/>
                </a:solidFill>
                <a:latin typeface="Maple Mono NF"/>
              </a:rPr>
              <a:t>                                         lens=lens, patch=</a:t>
            </a:r>
            <a:r>
              <a:rPr sz="1100" b="0">
                <a:solidFill>
                  <a:schemeClr val="accent3">
                    <a:lumMod val="55000"/>
                    <a:lumOff val="45000"/>
                  </a:schemeClr>
                </a:solidFill>
                <a:latin typeface="Maple Mono NF"/>
              </a:rPr>
              <a:t>""</a:t>
            </a:r>
            <a:r>
              <a:rPr sz="1100" b="0">
                <a:solidFill>
                  <a:schemeClr val="bg1"/>
                </a:solidFill>
                <a:latin typeface="Maple Mono NF"/>
              </a:rPr>
              <a:t>,</a:t>
            </a:r>
          </a:p>
          <a:p>
            <a:pPr algn="l">
              <a:buNone/>
            </a:pPr>
            <a:r>
              <a:rPr sz="1100" b="0">
                <a:solidFill>
                  <a:schemeClr val="bg1"/>
                </a:solidFill>
                <a:latin typeface="Maple Mono NF"/>
              </a:rPr>
              <a:t>                                         checks={</a:t>
            </a:r>
            <a:r>
              <a:rPr sz="1100" b="0">
                <a:solidFill>
                  <a:schemeClr val="accent3">
                    <a:lumMod val="55000"/>
                    <a:lumOff val="45000"/>
                  </a:schemeClr>
                </a:solidFill>
                <a:latin typeface="Maple Mono NF"/>
              </a:rPr>
              <a:t>"passed"</a:t>
            </a:r>
            <a:r>
              <a:rPr sz="1100" b="0">
                <a:solidFill>
                  <a:schemeClr val="bg1"/>
                </a:solidFill>
                <a:latin typeface="Maple Mono NF"/>
              </a:rPr>
              <a:t>: </a:t>
            </a:r>
            <a:r>
              <a:rPr sz="1100" b="0">
                <a:solidFill>
                  <a:schemeClr val="accent2"/>
                </a:solidFill>
                <a:latin typeface="Maple Mono NF"/>
              </a:rPr>
              <a:t>True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p:txBody>
      </p:sp>
      <p:sp>
        <p:nvSpPr>
          <p:cNvPr id="10" name="Rectangle 9"/>
          <p:cNvSpPr/>
          <p:nvPr/>
        </p:nvSpPr>
        <p:spPr>
          <a:xfrm>
            <a:off x="319251" y="392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submit still lists ValidateRequested in its return annotation, because the pre-run check requires every emitted event to have a consumer.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StopEvent: how the run ends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gate step returns the StopEvent.</a:t>
            </a:r>
          </a:p>
        </p:txBody>
      </p:sp>
      <p:sp>
        <p:nvSpPr>
          <p:cNvPr id="4" name="TextBox 3"/>
          <p:cNvSpPr txBox="1"/>
          <p:nvPr/>
        </p:nvSpPr>
        <p:spPr>
          <a:xfrm>
            <a:off x="319251" y="1190000"/>
            <a:ext cx="6014545" cy="200000"/>
          </a:xfrm>
          <a:prstGeom prst="rect">
            <a:avLst/>
          </a:prstGeom>
          <a:noFill/>
        </p:spPr>
        <p:txBody>
          <a:bodyPr wrap="none" lIns="0" tIns="0" rIns="0" bIns="0">
            <a:spAutoFit/>
          </a:bodyPr>
          <a:lstStyle/>
          <a:p>
            <a:r>
              <a:rPr sz="1200" b="1">
                <a:solidFill>
                  <a:srgbClr val="28285E"/>
                </a:solidFill>
              </a:rPr>
              <a:t>event_driven/workflow.py, gate. Queueing and bookkeeping omitted</a:t>
            </a:r>
          </a:p>
        </p:txBody>
      </p:sp>
      <p:sp>
        <p:nvSpPr>
          <p:cNvPr id="5" name="CodeWindow"/>
          <p:cNvSpPr/>
          <p:nvPr/>
        </p:nvSpPr>
        <p:spPr>
          <a:xfrm>
            <a:off x="319251" y="1450000"/>
            <a:ext cx="6014545" cy="250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4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4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4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780000"/>
            <a:ext cx="5714545" cy="2100000"/>
          </a:xfrm>
          <a:prstGeom prst="rect">
            <a:avLst/>
          </a:prstGeom>
          <a:noFill/>
        </p:spPr>
        <p:txBody>
          <a:bodyPr wrap="none" lIns="0" tIns="0" rIns="0" bIns="0" anchor="t">
            <a:spAutoFit/>
          </a:bodyPr>
          <a:lstStyle/>
          <a:p>
            <a:pPr algn="l">
              <a:buNone/>
            </a:pPr>
            <a:r>
              <a:rPr sz="1100" b="0">
                <a:solidFill>
                  <a:schemeClr val="bg1"/>
                </a:solidFill>
                <a:latin typeface="Maple Mono NF"/>
              </a:rPr>
              <a:t>@step(num_workers=</a:t>
            </a:r>
            <a:r>
              <a:rPr sz="1100" b="0">
                <a:solidFill>
                  <a:schemeClr val="accent5">
                    <a:lumMod val="45000"/>
                    <a:lumOff val="55000"/>
                  </a:schemeClr>
                </a:solidFill>
                <a:latin typeface="Maple Mono NF"/>
              </a:rPr>
              <a:t>1</a:t>
            </a:r>
            <a:r>
              <a:rPr sz="1100" b="0">
                <a:solidFill>
                  <a:schemeClr val="bg1"/>
                </a:solidFill>
                <a:latin typeface="Maple Mono NF"/>
              </a:rPr>
              <a:t>)</a:t>
            </a:r>
          </a:p>
          <a:p>
            <a:pPr algn="l">
              <a:buNone/>
            </a:pPr>
            <a:r>
              <a:rPr sz="1100" b="0">
                <a:solidFill>
                  <a:schemeClr val="bg1"/>
                </a:solidFill>
                <a:latin typeface="Maple Mono NF"/>
              </a:rPr>
              <a:t>async </a:t>
            </a:r>
            <a:r>
              <a:rPr sz="1100" b="0">
                <a:solidFill>
                  <a:schemeClr val="accent2"/>
                </a:solidFill>
                <a:latin typeface="Maple Mono NF"/>
              </a:rPr>
              <a:t>def</a:t>
            </a:r>
            <a:r>
              <a:rPr sz="1100" b="0">
                <a:solidFill>
                  <a:schemeClr val="bg1"/>
                </a:solidFill>
                <a:latin typeface="Maple Mono NF"/>
              </a:rPr>
              <a:t> gate(</a:t>
            </a:r>
            <a:r>
              <a:rPr sz="1100" b="0">
                <a:solidFill>
                  <a:schemeClr val="accent2"/>
                </a:solidFill>
                <a:latin typeface="Maple Mono NF"/>
              </a:rPr>
              <a:t>self</a:t>
            </a:r>
            <a:r>
              <a:rPr sz="1100" b="0">
                <a:solidFill>
                  <a:schemeClr val="bg1"/>
                </a:solidFill>
                <a:latin typeface="Maple Mono NF"/>
              </a:rPr>
              <a:t>, ctx: Context[RunState],</a:t>
            </a:r>
          </a:p>
          <a:p>
            <a:pPr algn="l">
              <a:buNone/>
            </a:pPr>
            <a:r>
              <a:rPr sz="1100" b="0">
                <a:solidFill>
                  <a:schemeClr val="bg1"/>
                </a:solidFill>
                <a:latin typeface="Maple Mono NF"/>
              </a:rPr>
              <a:t>               ev: AlertFound | AlertDone</a:t>
            </a:r>
          </a:p>
          <a:p>
            <a:pPr algn="l">
              <a:buNone/>
            </a:pPr>
            <a:r>
              <a:rPr sz="1100" b="0">
                <a:solidFill>
                  <a:schemeClr val="bg1"/>
                </a:solidFill>
                <a:latin typeface="Maple Mono NF"/>
              </a:rPr>
              <a:t>               ) -&gt; AlertStarted | </a:t>
            </a:r>
            <a:r>
              <a:rPr sz="1100" b="1">
                <a:solidFill>
                  <a:schemeClr val="accent4">
                    <a:lumMod val="70000"/>
                    <a:lumOff val="30000"/>
                  </a:schemeClr>
                </a:solidFill>
                <a:latin typeface="Maple Mono NF"/>
              </a:rPr>
              <a:t>StopEvent</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async </a:t>
            </a:r>
            <a:r>
              <a:rPr sz="1100" b="0">
                <a:solidFill>
                  <a:schemeClr val="accent2"/>
                </a:solidFill>
                <a:latin typeface="Maple Mono NF"/>
              </a:rPr>
              <a:t>with</a:t>
            </a:r>
            <a:r>
              <a:rPr sz="1100" b="0">
                <a:solidFill>
                  <a:schemeClr val="bg1"/>
                </a:solidFill>
                <a:latin typeface="Maple Mono NF"/>
              </a:rPr>
              <a:t> ctx.store.edit_state() </a:t>
            </a:r>
            <a:r>
              <a:rPr sz="1100" b="0">
                <a:solidFill>
                  <a:schemeClr val="accent2"/>
                </a:solidFill>
                <a:latin typeface="Maple Mono NF"/>
              </a:rPr>
              <a:t>as</a:t>
            </a:r>
            <a:r>
              <a:rPr sz="1100" b="0">
                <a:solidFill>
                  <a:schemeClr val="bg1"/>
                </a:solidFill>
                <a:latin typeface="Maple Mono NF"/>
              </a:rPr>
              <a:t> s:</a:t>
            </a:r>
          </a:p>
          <a:p>
            <a:pPr algn="l">
              <a:buNone/>
            </a:pPr>
            <a:r>
              <a:rPr sz="1100" b="0">
                <a:solidFill>
                  <a:schemeClr val="accent6"/>
                </a:solidFill>
                <a:latin typeface="Maple Mono NF"/>
              </a:rPr>
              <a:t>        # ours: enqueue the alert or record its result, omitted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len(s.results) == s.expected: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1">
                <a:solidFill>
                  <a:schemeClr val="accent4">
                    <a:lumMod val="70000"/>
                    <a:lumOff val="30000"/>
                  </a:schemeClr>
                </a:solidFill>
                <a:latin typeface="Maple Mono NF"/>
              </a:rPr>
              <a:t>StopEvent</a:t>
            </a:r>
            <a:r>
              <a:rPr sz="1100" b="0">
                <a:solidFill>
                  <a:schemeClr val="bg1"/>
                </a:solidFill>
                <a:latin typeface="Maple Mono NF"/>
              </a:rPr>
              <a:t>(result=dict(s.results))</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s.current is </a:t>
            </a:r>
            <a:r>
              <a:rPr sz="1100" b="0">
                <a:solidFill>
                  <a:schemeClr val="accent2"/>
                </a:solidFill>
                <a:latin typeface="Maple Mono NF"/>
              </a:rPr>
              <a:t>not</a:t>
            </a:r>
            <a:r>
              <a:rPr sz="1100" b="0">
                <a:solidFill>
                  <a:schemeClr val="bg1"/>
                </a:solidFill>
                <a:latin typeface="Maple Mono NF"/>
              </a:rPr>
              <a:t> </a:t>
            </a:r>
            <a:r>
              <a:rPr sz="1100" b="0">
                <a:solidFill>
                  <a:schemeClr val="accent2"/>
                </a:solidFill>
                <a:latin typeface="Maple Mono NF"/>
              </a:rPr>
              <a:t>None</a:t>
            </a:r>
            <a:r>
              <a:rPr sz="1100" b="0">
                <a:solidFill>
                  <a:schemeClr val="bg1"/>
                </a:solidFill>
                <a:latin typeface="Maple Mono NF"/>
              </a:rPr>
              <a:t> </a:t>
            </a:r>
            <a:r>
              <a:rPr sz="1100" b="0">
                <a:solidFill>
                  <a:schemeClr val="accent2"/>
                </a:solidFill>
                <a:latin typeface="Maple Mono NF"/>
              </a:rPr>
              <a:t>or</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s.queue:</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p:txBody>
      </p:sp>
      <p:sp>
        <p:nvSpPr>
          <p:cNvPr id="10" name="Rectangle 9"/>
          <p:cNvSpPr/>
          <p:nvPr/>
        </p:nvSpPr>
        <p:spPr>
          <a:xfrm>
            <a:off x="319251" y="414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Returning None means busy or waiting. Only the gate's StopEvent ends the run.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four rules in the code</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The code keeps the four rules of section 5.2 in these forms.</a:t>
            </a:r>
          </a:p>
        </p:txBody>
      </p:sp>
      <p:graphicFrame>
        <p:nvGraphicFramePr>
          <p:cNvPr id="4" name="Table 3"/>
          <p:cNvGraphicFramePr>
            <a:graphicFrameLocks noGrp="1"/>
          </p:cNvGraphicFramePr>
          <p:nvPr/>
        </p:nvGraphicFramePr>
        <p:xfrm>
          <a:off x="319251" y="1390000"/>
          <a:ext cx="6014545" cy="23574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45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Rule</a:t>
                      </a:r>
                    </a:p>
                  </a:txBody>
                  <a:tcPr marL="95250" marR="95250" marT="47625" marB="47625">
                    <a:lnB w="12700" cap="flat" cmpd="sng" algn="ctr">
                      <a:solidFill>
                        <a:schemeClr val="tx1"/>
                      </a:solidFill>
                    </a:lnB>
                    <a:noFill/>
                  </a:tcPr>
                </a:tc>
                <a:tc>
                  <a:txBody>
                    <a:bodyPr/>
                    <a:lstStyle/>
                    <a:p>
                      <a:pPr>
                        <a:buNone/>
                      </a:pPr>
                      <a:r>
                        <a:rPr sz="1100" b="1">
                          <a:solidFill>
                            <a:schemeClr val="tx1"/>
                          </a:solidFill>
                        </a:rPr>
                        <a:t>How the code keeps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Apply once, then enable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Every write goes through ctx.store.edit_state(), which locks the store, and each step writes its data before it emits the event that lets another step read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Distinguish idle from success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Only the gate's StopEvent ends the run. Before the first run, the framework checks that every event a step emits has a step that accepts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Stop dispatch at termination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gate emits StopEvent only when the count of results equals the count of alerts, so no alert is still in progress when 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Separate triggering from log events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agent writes no trace. Its events trigger steps, and no event records 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Rectangle 4"/>
          <p:cNvSpPr/>
          <p:nvPr/>
        </p:nvSpPr>
        <p:spPr>
          <a:xfrm>
            <a:off x="319251" y="396534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Our graph agents write a trace alongside their events. The event-driven agent does not yet have one.</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12381</TotalTime>
  <Words>13351</Words>
  <Application>Microsoft Macintosh PowerPoint</Application>
  <PresentationFormat>Custom</PresentationFormat>
  <Paragraphs>853</Paragraphs>
  <Slides>94</Slides>
  <Notes>81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Maple Mono NF</vt:lpstr>
      <vt:lpstr>Arial</vt:lpstr>
      <vt:lpstr>Fira Sans</vt:lpstr>
      <vt:lpstr>Maple Mono NF Light</vt:lpstr>
      <vt:lpstr>Simple Light</vt:lpstr>
      <vt:lpstr>Designing Production Agentic Systems</vt:lpstr>
      <vt:lpstr>Class announcements</vt:lpstr>
      <vt:lpstr>PowerPoint Presentation</vt:lpstr>
      <vt:lpstr>PowerPoint Presentation</vt:lpstr>
      <vt:lpstr>PowerPoint Presentation</vt:lpstr>
      <vt:lpstr>A state machine as a description of an agent</vt:lpstr>
      <vt:lpstr>The planning agent's control locations</vt:lpstr>
      <vt:lpstr>State: what the agent keeps between steps</vt:lpstr>
      <vt:lpstr>Inputs: what arrives during a step</vt:lpstr>
      <vt:lpstr>Extended state machines and configurations</vt:lpstr>
      <vt:lpstr>Configurations: finite control, unbounded data</vt:lpstr>
      <vt:lpstr>Transitions: guard, output action, set action</vt:lpstr>
      <vt:lpstr>The elements of a transition (for an agent)</vt:lpstr>
      <vt:lpstr>One transition in code: controller to tools</vt:lpstr>
      <vt:lpstr>Behaviour, trace and computation tree</vt:lpstr>
      <vt:lpstr>The event log as a trace</vt:lpstr>
      <vt:lpstr>The planning agent's state machine</vt:lpstr>
      <vt:lpstr>The planning agent's forward path</vt:lpstr>
      <vt:lpstr>The planning agent's feedback edges</vt:lpstr>
      <vt:lpstr>The planning agent's exits</vt:lpstr>
      <vt:lpstr>The recorded run through the planning agent</vt:lpstr>
      <vt:lpstr>The recorded run in the computation tree</vt:lpstr>
      <vt:lpstr>What the event log records and omits</vt:lpstr>
      <vt:lpstr>PowerPoint Presentation</vt:lpstr>
      <vt:lpstr>State records and schemas</vt:lpstr>
      <vt:lpstr>Partial updates and state transitions</vt:lpstr>
      <vt:lpstr>Partial updates and state transitions</vt:lpstr>
      <vt:lpstr>The controller's three return sites</vt:lpstr>
      <vt:lpstr>The controller's return sites, in code</vt:lpstr>
      <vt:lpstr>Model context, runtime state, durable state</vt:lpstr>
      <vt:lpstr>Model context and admission checks</vt:lpstr>
      <vt:lpstr>Reducers: append, replace, accumulate</vt:lpstr>
      <vt:lpstr>The controller's three return sites</vt:lpstr>
      <vt:lpstr>The reducers in the schema</vt:lpstr>
      <vt:lpstr>State schemas and field lifetimes</vt:lpstr>
      <vt:lpstr>Field lifetimes</vt:lpstr>
      <vt:lpstr>Handoff and window, in the planning agent</vt:lpstr>
      <vt:lpstr>Proving invariants over configurations</vt:lpstr>
      <vt:lpstr>The call budget as an invariant</vt:lpstr>
      <vt:lpstr>Constructing and compiling the state graph</vt:lpstr>
      <vt:lpstr>Designing a state graph</vt:lpstr>
      <vt:lpstr>PowerPoint Presentation</vt:lpstr>
      <vt:lpstr>Routing functions and conditional edges</vt:lpstr>
      <vt:lpstr>Routing after the controller</vt:lpstr>
      <vt:lpstr>The same graph, different paths</vt:lpstr>
      <vt:lpstr>Feedback edges: revision and repair</vt:lpstr>
      <vt:lpstr>Feedback edges and their bounds</vt:lpstr>
      <vt:lpstr>A proposed feedback edge for new attempts</vt:lpstr>
      <vt:lpstr>Loop bounds and termination</vt:lpstr>
      <vt:lpstr>Checking the budget before each model call</vt:lpstr>
      <vt:lpstr>What a trace establishes</vt:lpstr>
      <vt:lpstr>Terminal statuses and trace closure</vt:lpstr>
      <vt:lpstr>Three interpretations of a trace</vt:lpstr>
      <vt:lpstr>A recorded repair after failed checks</vt:lpstr>
      <vt:lpstr>A recorded keyboard interruption</vt:lpstr>
      <vt:lpstr>PowerPoint Presentation</vt:lpstr>
      <vt:lpstr>Supersteps: when an update becomes visible</vt:lpstr>
      <vt:lpstr>Two supersteps in the recorded run</vt:lpstr>
      <vt:lpstr>The five parts of a tool contract</vt:lpstr>
      <vt:lpstr>Tool preconditions and postconditions</vt:lpstr>
      <vt:lpstr>Arguments supplied by the dispatcher</vt:lpstr>
      <vt:lpstr>The five operations of the dispatch cycle</vt:lpstr>
      <vt:lpstr>Returning a refusal as an observation</vt:lpstr>
      <vt:lpstr>Evidence of a tool request and execution</vt:lpstr>
      <vt:lpstr>Complete mediation of resource access</vt:lpstr>
      <vt:lpstr>Guarantees and their enforcing components</vt:lpstr>
      <vt:lpstr>Checking paths against the workspace root</vt:lpstr>
      <vt:lpstr>A refused read and an unchecked search</vt:lpstr>
      <vt:lpstr>PowerPoint Presentation</vt:lpstr>
      <vt:lpstr>Two ways to invoke the next computation</vt:lpstr>
      <vt:lpstr>Event, handler and event loop</vt:lpstr>
      <vt:lpstr>Inversion of control</vt:lpstr>
      <vt:lpstr>Event-triggered and time-triggered reactions</vt:lpstr>
      <vt:lpstr>The configuration under an event loop</vt:lpstr>
      <vt:lpstr>Ordering rules: apply once, then enable</vt:lpstr>
      <vt:lpstr>Termination rules and log events</vt:lpstr>
      <vt:lpstr>LlamaIndex Workflows: steps and events</vt:lpstr>
      <vt:lpstr>LlamaIndex Workflows: validation and state</vt:lpstr>
      <vt:lpstr>Idle and success in LlamaIndex and in CrewAI</vt:lpstr>
      <vt:lpstr>Comparing the realizations: the design</vt:lpstr>
      <vt:lpstr>What agreement under scripted inputs shows</vt:lpstr>
      <vt:lpstr>The demo as a LlamaIndex workflow</vt:lpstr>
      <vt:lpstr>The demo's steps and their events</vt:lpstr>
      <vt:lpstr>The event-driven agent as an event loop</vt:lpstr>
      <vt:lpstr>Admission, acting and revising in the steps</vt:lpstr>
      <vt:lpstr>One run handles many alerts</vt:lpstr>
      <vt:lpstr>Validation fans out and back in</vt:lpstr>
      <vt:lpstr>Two kinds of ending</vt:lpstr>
      <vt:lpstr>Events as classes, in code</vt:lpstr>
      <vt:lpstr>A step's signature declares its events</vt:lpstr>
      <vt:lpstr>Admission: reserving a call under the lock</vt:lpstr>
      <vt:lpstr>Fan-out: send_event and the annotation</vt:lpstr>
      <vt:lpstr>The StopEvent: how the run ends</vt:lpstr>
      <vt:lpstr>The four rules in the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207</cp:revision>
  <dcterms:modified xsi:type="dcterms:W3CDTF">2026-09-27T22:30:28Z</dcterms:modified>
</cp:coreProperties>
</file>
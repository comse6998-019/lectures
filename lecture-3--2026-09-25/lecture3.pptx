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7.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6"/>
  </p:notesMasterIdLst>
  <p:sldIdLst>
    <p:sldId id="256" r:id="rId2"/>
    <p:sldId id="418" r:id="rId3"/>
    <p:sldId id="433" r:id="rId4"/>
    <p:sldId id="458" r:id="rId5"/>
    <p:sldId id="459" r:id="rId6"/>
    <p:sldId id="461" r:id="rId7"/>
    <p:sldId id="462" r:id="rId8"/>
    <p:sldId id="484" r:id="rId9"/>
    <p:sldId id="485" r:id="rId10"/>
    <p:sldId id="468" r:id="rId11"/>
    <p:sldId id="469" r:id="rId12"/>
    <p:sldId id="488" r:id="rId13"/>
    <p:sldId id="471" r:id="rId14"/>
    <p:sldId id="489" r:id="rId15"/>
    <p:sldId id="490" r:id="rId16"/>
    <p:sldId id="491" r:id="rId17"/>
    <p:sldId id="475" r:id="rId18"/>
    <p:sldId id="476" r:id="rId19"/>
    <p:sldId id="477" r:id="rId20"/>
    <p:sldId id="478" r:id="rId21"/>
    <p:sldId id="479" r:id="rId22"/>
    <p:sldId id="480" r:id="rId23"/>
    <p:sldId id="481" r:id="rId24"/>
    <p:sldId id="587" r:id="rId25"/>
    <p:sldId id="494" r:id="rId26"/>
    <p:sldId id="495" r:id="rId27"/>
    <p:sldId id="590" r:id="rId28"/>
    <p:sldId id="496" r:id="rId29"/>
    <p:sldId id="497" r:id="rId30"/>
    <p:sldId id="498" r:id="rId31"/>
    <p:sldId id="499" r:id="rId32"/>
    <p:sldId id="500" r:id="rId33"/>
    <p:sldId id="591" r:id="rId34"/>
    <p:sldId id="501" r:id="rId35"/>
    <p:sldId id="502" r:id="rId36"/>
    <p:sldId id="503" r:id="rId37"/>
    <p:sldId id="504" r:id="rId38"/>
    <p:sldId id="505" r:id="rId39"/>
    <p:sldId id="506" r:id="rId40"/>
    <p:sldId id="507" r:id="rId41"/>
    <p:sldId id="508" r:id="rId42"/>
    <p:sldId id="588" r:id="rId43"/>
    <p:sldId id="511" r:id="rId44"/>
    <p:sldId id="512" r:id="rId45"/>
    <p:sldId id="513" r:id="rId46"/>
    <p:sldId id="514" r:id="rId47"/>
    <p:sldId id="515" r:id="rId48"/>
    <p:sldId id="516" r:id="rId49"/>
    <p:sldId id="517" r:id="rId50"/>
    <p:sldId id="518" r:id="rId51"/>
    <p:sldId id="519" r:id="rId52"/>
    <p:sldId id="520" r:id="rId53"/>
    <p:sldId id="521" r:id="rId54"/>
    <p:sldId id="522" r:id="rId55"/>
    <p:sldId id="523" r:id="rId56"/>
    <p:sldId id="589" r:id="rId57"/>
    <p:sldId id="526" r:id="rId58"/>
    <p:sldId id="527" r:id="rId59"/>
    <p:sldId id="529" r:id="rId61"/>
    <p:sldId id="536" r:id="rId68"/>
    <p:sldId id="560" r:id="rId70"/>
    <p:sldId id="561" r:id="rId71"/>
    <p:sldId id="562" r:id="rId72"/>
    <p:sldId id="563" r:id="rId73"/>
    <p:sldId id="564" r:id="rId74"/>
    <p:sldId id="565" r:id="rId75"/>
    <p:sldId id="566" r:id="rId76"/>
    <p:sldId id="567" r:id="rId77"/>
    <p:sldId id="568" r:id="rId78"/>
    <p:sldId id="569" r:id="rId79"/>
    <p:sldId id="570" r:id="rId80"/>
    <p:sldId id="571" r:id="rId81"/>
    <p:sldId id="572" r:id="rId82"/>
    <p:sldId id="573" r:id="rId83"/>
    <p:sldId id="574" r:id="rId84"/>
    <p:sldId id="575" r:id="rId85"/>
    <p:sldId id="576" r:id="rId86"/>
    <p:sldId id="577" r:id="rId87"/>
    <p:sldId id="578" r:id="rId88"/>
    <p:sldId id="579" r:id="rId89"/>
    <p:sldId id="580" r:id="rId90"/>
    <p:sldId id="581" r:id="rId91"/>
    <p:sldId id="582" r:id="rId92"/>
    <p:sldId id="583" r:id="rId93"/>
    <p:sldId id="584" r:id="rId94"/>
    <p:sldId id="585" r:id="rId95"/>
  </p:sldIdLst>
  <p:sldSz cx="6858000" cy="5143500"/>
  <p:notesSz cx="6858000" cy="9144000"/>
  <p:embeddedFontLst>
    <p:embeddedFont>
      <p:font typeface="Fira Sans" panose="020B0503050000020004" pitchFamily="34" charset="0"/>
      <p:regular r:id="rId97"/>
      <p:bold r:id="rId98"/>
      <p:italic r:id="rId99"/>
      <p:boldItalic r:id="rId100"/>
    </p:embeddedFont>
    <p:embeddedFont>
      <p:font typeface="Maple Mono NF" panose="020F0509060000000000" pitchFamily="49" charset="0"/>
      <p:regular r:id="rId101"/>
      <p:bold r:id="rId102"/>
      <p:italic r:id="rId103"/>
      <p:boldItalic r:id="rId104"/>
    </p:embeddedFont>
    <p:embeddedFont>
      <p:font typeface="Maple Mono NF Light" panose="020F0509060000000000" pitchFamily="49" charset="0"/>
      <p:regular r:id="rId105"/>
      <p:italic r:id="rId10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418"/>
            <p14:sldId id="433"/>
            <p14:sldId id="458"/>
            <p14:sldId id="459"/>
            <p14:sldId id="461"/>
            <p14:sldId id="462"/>
            <p14:sldId id="484"/>
            <p14:sldId id="485"/>
            <p14:sldId id="468"/>
            <p14:sldId id="469"/>
            <p14:sldId id="488"/>
            <p14:sldId id="471"/>
            <p14:sldId id="489"/>
            <p14:sldId id="490"/>
            <p14:sldId id="491"/>
            <p14:sldId id="475"/>
            <p14:sldId id="476"/>
            <p14:sldId id="477"/>
            <p14:sldId id="478"/>
            <p14:sldId id="479"/>
            <p14:sldId id="480"/>
            <p14:sldId id="481"/>
            <p14:sldId id="587"/>
            <p14:sldId id="494"/>
            <p14:sldId id="495"/>
            <p14:sldId id="590"/>
            <p14:sldId id="496"/>
            <p14:sldId id="497"/>
            <p14:sldId id="498"/>
            <p14:sldId id="499"/>
            <p14:sldId id="500"/>
            <p14:sldId id="591"/>
            <p14:sldId id="501"/>
            <p14:sldId id="502"/>
            <p14:sldId id="503"/>
            <p14:sldId id="504"/>
            <p14:sldId id="505"/>
            <p14:sldId id="506"/>
            <p14:sldId id="507"/>
            <p14:sldId id="508"/>
            <p14:sldId id="588"/>
            <p14:sldId id="511"/>
            <p14:sldId id="512"/>
            <p14:sldId id="513"/>
            <p14:sldId id="514"/>
            <p14:sldId id="515"/>
            <p14:sldId id="516"/>
            <p14:sldId id="517"/>
            <p14:sldId id="518"/>
            <p14:sldId id="519"/>
            <p14:sldId id="520"/>
            <p14:sldId id="521"/>
            <p14:sldId id="522"/>
            <p14:sldId id="523"/>
            <p14:sldId id="589"/>
            <p14:sldId id="526"/>
            <p14:sldId id="527"/>
            <p14:sldId id="529"/>
            <p14:sldId id="536"/>
            <p14:sldId id="560"/>
            <p14:sldId id="561"/>
            <p14:sldId id="562"/>
            <p14:sldId id="563"/>
            <p14:sldId id="564"/>
            <p14:sldId id="565"/>
            <p14:sldId id="566"/>
            <p14:sldId id="567"/>
            <p14:sldId id="568"/>
            <p14:sldId id="569"/>
            <p14:sldId id="570"/>
            <p14:sldId id="571"/>
            <p14:sldId id="572"/>
            <p14:sldId id="573"/>
            <p14:sldId id="574"/>
            <p14:sldId id="575"/>
            <p14:sldId id="576"/>
            <p14:sldId id="577"/>
            <p14:sldId id="578"/>
            <p14:sldId id="579"/>
            <p14:sldId id="580"/>
            <p14:sldId id="581"/>
            <p14:sldId id="582"/>
            <p14:sldId id="583"/>
            <p14:sldId id="584"/>
            <p14:sldId id="585"/>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34"/>
    <p:restoredTop sz="98401"/>
  </p:normalViewPr>
  <p:slideViewPr>
    <p:cSldViewPr snapToGrid="0">
      <p:cViewPr>
        <p:scale>
          <a:sx n="272" d="100"/>
          <a:sy n="272" d="100"/>
        </p:scale>
        <p:origin x="280" y="144"/>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1" Type="http://schemas.openxmlformats.org/officeDocument/2006/relationships/slide" Target="slides/slide60.xml"/><Relationship Id="rId68" Type="http://schemas.openxmlformats.org/officeDocument/2006/relationships/slide" Target="slides/slide67.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notesMaster" Target="notesMasters/notesMaster1.xml"/><Relationship Id="rId97" Type="http://schemas.openxmlformats.org/officeDocument/2006/relationships/font" Target="fonts/font1.fntdata"/><Relationship Id="rId98" Type="http://schemas.openxmlformats.org/officeDocument/2006/relationships/font" Target="fonts/font2.fntdata"/><Relationship Id="rId99" Type="http://schemas.openxmlformats.org/officeDocument/2006/relationships/font" Target="fonts/font3.fntdata"/><Relationship Id="rId100" Type="http://schemas.openxmlformats.org/officeDocument/2006/relationships/font" Target="fonts/font4.fntdata"/><Relationship Id="rId101" Type="http://schemas.openxmlformats.org/officeDocument/2006/relationships/font" Target="fonts/font5.fntdata"/><Relationship Id="rId102" Type="http://schemas.openxmlformats.org/officeDocument/2006/relationships/font" Target="fonts/font6.fntdata"/><Relationship Id="rId103" Type="http://schemas.openxmlformats.org/officeDocument/2006/relationships/font" Target="fonts/font7.fntdata"/><Relationship Id="rId104" Type="http://schemas.openxmlformats.org/officeDocument/2006/relationships/font" Target="fonts/font8.fntdata"/><Relationship Id="rId105" Type="http://schemas.openxmlformats.org/officeDocument/2006/relationships/font" Target="fonts/font9.fntdata"/><Relationship Id="rId106" Type="http://schemas.openxmlformats.org/officeDocument/2006/relationships/font" Target="fonts/font10.fntdata"/><Relationship Id="rId107" Type="http://schemas.openxmlformats.org/officeDocument/2006/relationships/presProps" Target="presProps.xml"/><Relationship Id="rId108" Type="http://schemas.openxmlformats.org/officeDocument/2006/relationships/viewProps" Target="viewProps.xml"/><Relationship Id="rId109" Type="http://schemas.openxmlformats.org/officeDocument/2006/relationships/theme" Target="theme/theme1.xml"/><Relationship Id="rId110" Type="http://schemas.openxmlformats.org/officeDocument/2006/relationships/tableStyles" Target="tableStyles.xml"/><Relationship Id="rId111"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Introduce Lecture 3: execution machinery for agentic systems.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804CF-57E5-5069-A339-A46BC12C5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0F5C1-0379-A701-4BE2-A95E7BE3D45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0F0CE7-AE79-5A56-927D-9C71A05F3BEF}"/>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4058062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804CF-57E5-5069-A339-A46BC12C5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0F5C1-0379-A701-4BE2-A95E7BE3D45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0F0CE7-AE79-5A56-927D-9C71A05F3BEF}"/>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1007680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D48E6-2391-8E03-2F86-614D88FD8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F24D9-012B-E65C-8B9C-0EDC9ED9912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309B48F-9990-2C25-A7A1-8DF0BCD7A1DF}"/>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839508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Section 1.1 describes five components: states, inputs, outputs, an initial configuration and a transition rule. A workflow intended to terminate also specifies terminal configurations.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diagram represents </a:t>
            </a:r>
            <a:r>
              <a:rPr dirty="0" err="1"/>
              <a:t>plan_and_validation</a:t>
            </a:r>
            <a:r>
              <a:rPr dirty="0"/>
              <a:t>/graph.py when the two runs were recorded. As Section 1.5 explains, the current code adds scan and normalize before plan.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displayed values describe run bc284c6b before its third controller call: two observations have been recorded, three model calls have completed, and the status is running.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This slide introduces the transition notation. Later slides describe the same operations in prose.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excerpts come from controller at graph.py line 296 and </a:t>
            </a:r>
            <a:r>
              <a:rPr dirty="0" err="1"/>
              <a:t>after_controller</a:t>
            </a:r>
            <a:r>
              <a:rPr dirty="0"/>
              <a:t> at line 452. Trace calls and the admission check are omitted. The </a:t>
            </a:r>
            <a:r>
              <a:rPr dirty="0" err="1"/>
              <a:t>model_calls</a:t>
            </a:r>
            <a:r>
              <a:rPr dirty="0"/>
              <a:t> field uses </a:t>
            </a:r>
            <a:r>
              <a:rPr dirty="0" err="1"/>
              <a:t>operator.add</a:t>
            </a:r>
            <a:r>
              <a:rPr dirty="0"/>
              <a:t>, so returning 1 increments the stored count by one.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trace contains six kinds of event: </a:t>
            </a:r>
            <a:r>
              <a:rPr dirty="0" err="1"/>
              <a:t>tool_request</a:t>
            </a:r>
            <a:r>
              <a:rPr dirty="0"/>
              <a:t>, </a:t>
            </a:r>
            <a:r>
              <a:rPr dirty="0" err="1"/>
              <a:t>tool_result</a:t>
            </a:r>
            <a:r>
              <a:rPr dirty="0"/>
              <a:t>, </a:t>
            </a:r>
            <a:r>
              <a:rPr dirty="0" err="1"/>
              <a:t>model_call</a:t>
            </a:r>
            <a:r>
              <a:rPr dirty="0"/>
              <a:t>, routing, </a:t>
            </a:r>
            <a:r>
              <a:rPr dirty="0" err="1"/>
              <a:t>state_change</a:t>
            </a:r>
            <a:r>
              <a:rPr dirty="0"/>
              <a:t> and terminal. When status is running, </a:t>
            </a:r>
            <a:r>
              <a:rPr dirty="0" err="1"/>
              <a:t>after_controller</a:t>
            </a:r>
            <a:r>
              <a:rPr dirty="0"/>
              <a:t> routes to submit if the last reply has no tool calls.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plan, controller and validate nodes call a model. The tools and submit nodes perform runtime work. Each model node checks the forty-call budget before making a call.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controller receives the plan as a message. When the status is running, the runtime uses the controller's reply to choose tools or submit. The routing function does not inspect the plan's subgoal list. The submit node checks whether the patch applies, touches the flagged line and produces no finding on a rescan.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stall test examines the last three observations since the most recent plan revision, or since the run began if no revision has occurred. It reports a stall when all three are identical and none records a successful edit. After revising the plan, the plan node sets </a:t>
            </a:r>
            <a:r>
              <a:rPr dirty="0" err="1"/>
              <a:t>replanned_at</a:t>
            </a:r>
            <a:r>
              <a:rPr dirty="0"/>
              <a:t> to the current number of observations. Later stall tests start from this stored index.</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Events 1 and 2 record planning. Events 3–18 record four tool rounds: read_file, search, read_file and edit. Events 19–22 record submission. Events 23–25 record validation and the terminal event. The run logged 12,693 input tokens and 3,755 output tokens.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DF3AC-CE92-87FB-86DE-ACC483028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0B47D-E443-31AC-EB7A-4EFED3224CC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59A3CF6-D859-0694-0872-564A65929F38}"/>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13690857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Section 2.1 separates the EFSM configuration into a control location and variable values. The runtime tracks the location. The state record holds values such as messages and </a:t>
            </a:r>
            <a:r>
              <a:rPr dirty="0" err="1"/>
              <a:t>model_calls</a:t>
            </a:r>
            <a:r>
              <a:rPr dirty="0"/>
              <a:t>. </a:t>
            </a:r>
            <a:r>
              <a:rPr dirty="0" err="1"/>
              <a:t>AgentState</a:t>
            </a:r>
            <a:r>
              <a:rPr dirty="0"/>
              <a:t> declares their names and types. The record for a particular run supplies their current values.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runtime passes the current state </a:t>
            </a:r>
            <a:r>
              <a:rPr dirty="0" err="1"/>
              <a:t>s_t</a:t>
            </a:r>
            <a:r>
              <a:rPr dirty="0"/>
              <a:t> to the node. During execution, the node obtains a model reply or tool observation </a:t>
            </a:r>
            <a:r>
              <a:rPr dirty="0" err="1"/>
              <a:t>e_t</a:t>
            </a:r>
            <a:r>
              <a:rPr dirty="0"/>
              <a:t> and returns a partial update </a:t>
            </a:r>
            <a:r>
              <a:rPr dirty="0" err="1"/>
              <a:t>u_t</a:t>
            </a:r>
            <a:r>
              <a:rPr dirty="0"/>
              <a:t>. For each updated field, the reducer receives the stored value as its left argument and the returned value as its right argument. The merged record is the next state s_(t+1).</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3BE6C-F6C7-5B51-B85B-978D0649F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68580C-C920-8D7B-5C43-E9045AC7925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E1C5BDC-6CC0-3548-D7BD-4DD4CA93FC65}"/>
              </a:ext>
            </a:extLst>
          </p:cNvPr>
          <p:cNvSpPr>
            <a:spLocks noGrp="1"/>
          </p:cNvSpPr>
          <p:nvPr>
            <p:ph type="body" idx="1"/>
          </p:nvPr>
        </p:nvSpPr>
        <p:spPr/>
        <p:txBody>
          <a:bodyPr/>
          <a:lstStyle/>
          <a:p>
            <a:r>
              <a:rPr dirty="0"/>
              <a:t>The runtime passes the current state </a:t>
            </a:r>
            <a:r>
              <a:rPr dirty="0" err="1"/>
              <a:t>s_t</a:t>
            </a:r>
            <a:r>
              <a:rPr dirty="0"/>
              <a:t> to the node. During execution, the node obtains a model reply or tool observation </a:t>
            </a:r>
            <a:r>
              <a:rPr dirty="0" err="1"/>
              <a:t>e_t</a:t>
            </a:r>
            <a:r>
              <a:rPr dirty="0"/>
              <a:t> and returns a partial update </a:t>
            </a:r>
            <a:r>
              <a:rPr dirty="0" err="1"/>
              <a:t>u_t</a:t>
            </a:r>
            <a:r>
              <a:rPr dirty="0"/>
              <a:t>. For each updated field, the reducer receives the stored value as its left argument and the returned value as its right argument. The merged record is the next state s_(t+1).</a:t>
            </a:r>
          </a:p>
        </p:txBody>
      </p:sp>
    </p:spTree>
    <p:extLst>
      <p:ext uri="{BB962C8B-B14F-4D97-AF65-F5344CB8AC3E}">
        <p14:creationId xmlns:p14="http://schemas.microsoft.com/office/powerpoint/2010/main" val="4674889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Figure 4 applies the three controller return paths to the loop’s ten-key record. After a model call, the update contains the reply, one completed call and its token usage. A stopping path returns only status, whose update replaces the stored status string. The six fields untouched by every path keep their previous values.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controller begins at graph.py line 296. When the call budget is exhausted, _admit returns a status update that ends the run. Otherwise, it returns None and the controller continues. After a model call, returning </a:t>
            </a:r>
            <a:r>
              <a:rPr dirty="0" err="1"/>
              <a:t>model_calls</a:t>
            </a:r>
            <a:r>
              <a:rPr dirty="0"/>
              <a:t>: 1 contributes one to the accumulated count. For example, a stored count of 2 becomes 3.</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Our graphs keep state in memory and are compiled without a </a:t>
            </a:r>
            <a:r>
              <a:rPr dirty="0" err="1"/>
              <a:t>checkpointer</a:t>
            </a:r>
            <a:r>
              <a:rPr dirty="0"/>
              <a:t>. After process exit, a new process cannot recover that state from the JSONL trace: the trace records selected events and omits values needed for resumption. A later unit covers saved state, pending work and the external workspace needed to resume.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Section 2.6 explains that none of the planning agent’s prompts mentions the call budget. Admission enforces it by comparing the call counter with the configured limit before each call.</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A reducer combines a field’s stored value with the value returned for that field. Annotated[T, </a:t>
            </a:r>
            <a:r>
              <a:rPr dirty="0" err="1"/>
              <a:t>fn</a:t>
            </a:r>
            <a:r>
              <a:rPr dirty="0"/>
              <a:t>] attaches the reducer </a:t>
            </a:r>
            <a:r>
              <a:rPr dirty="0" err="1"/>
              <a:t>fn</a:t>
            </a:r>
            <a:r>
              <a:rPr dirty="0"/>
              <a:t> to a field of type T. An append reducer treats [] as zero new items. Clearing the list therefore requires Overwrite to replace its contents directly. The reset should receive a separate trace event.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C965C-E300-E37C-56A9-57C96A85C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03BDB-4FF9-CB9B-8E02-F80314520C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75C1EF6-72CB-DDDD-92EF-FAEA486AC927}"/>
              </a:ext>
            </a:extLst>
          </p:cNvPr>
          <p:cNvSpPr>
            <a:spLocks noGrp="1"/>
          </p:cNvSpPr>
          <p:nvPr>
            <p:ph type="body" idx="1"/>
          </p:nvPr>
        </p:nvSpPr>
        <p:spPr/>
        <p:txBody>
          <a:bodyPr/>
          <a:lstStyle/>
          <a:p>
            <a:r>
              <a:rPr dirty="0"/>
              <a:t>Figure 4 applies the three controller return paths to the loop’s ten-key record. After a model call, the update contains the reply, one completed call and its token usage. A stopping path returns only status, whose update replaces the stored status string. The six fields untouched by every path keep their previous values.</a:t>
            </a:r>
          </a:p>
        </p:txBody>
      </p:sp>
    </p:spTree>
    <p:extLst>
      <p:ext uri="{BB962C8B-B14F-4D97-AF65-F5344CB8AC3E}">
        <p14:creationId xmlns:p14="http://schemas.microsoft.com/office/powerpoint/2010/main" val="16254823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err="1"/>
              <a:t>add_usage</a:t>
            </a:r>
            <a:r>
              <a:rPr dirty="0"/>
              <a:t> maintains four separate token counters. Keeping the counters separate preserves the distinction between cache reads and fresh input tokens.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plan node writes plan, submit writes checks, and validate writes validation. Each field holds the latest value until its writer replaces it. The tools node writes </a:t>
            </a:r>
            <a:r>
              <a:rPr dirty="0" err="1"/>
              <a:t>failed_step</a:t>
            </a:r>
            <a:r>
              <a:rPr dirty="0"/>
              <a:t> for the plan node to read and clear. The </a:t>
            </a:r>
            <a:r>
              <a:rPr dirty="0" err="1"/>
              <a:t>replanned_at</a:t>
            </a:r>
            <a:r>
              <a:rPr dirty="0"/>
              <a:t> index marks where observations under the current plan begin.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A counter that limits the entire run must keep its total across attempts. For example, resetting </a:t>
            </a:r>
            <a:r>
              <a:rPr dirty="0" err="1"/>
              <a:t>model_calls</a:t>
            </a:r>
            <a:r>
              <a:rPr dirty="0"/>
              <a:t> to zero after a failed attempt would allow later calls to ignore the calls already spent. Section 2.4 calls this the run lifetime. Attempt-lifetime fields are cleared before a retry because their old results no longer apply.</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plan node sets </a:t>
            </a:r>
            <a:r>
              <a:rPr dirty="0" err="1"/>
              <a:t>replanned_at</a:t>
            </a:r>
            <a:r>
              <a:rPr dirty="0"/>
              <a:t> to the number of observations stored when revision completes. The slice observations[</a:t>
            </a:r>
            <a:r>
              <a:rPr dirty="0" err="1"/>
              <a:t>replanned_at</a:t>
            </a:r>
            <a:r>
              <a:rPr dirty="0"/>
              <a:t>:] therefore starts with observations made under the revised plan. Earlier observations remain in the full history, while the stall check reads only observations made since revision. Clearing </a:t>
            </a:r>
            <a:r>
              <a:rPr dirty="0" err="1"/>
              <a:t>failed_step</a:t>
            </a:r>
            <a:r>
              <a:rPr dirty="0"/>
              <a:t> removes the request for the revision just completed.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preservation proof considers every configuration satisfying the predicate, including configurations that no run reaches. This can make the desired property alone too weak for an induction proof. In the call-budget example, we add the condition that the stored counter equals the number of completed calls. The next slide explains how admission, counting and preservation maintain both conditions.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argument covers completed calls only. An interrupted call may consume tokens without being counted.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err="1"/>
              <a:t>add_node</a:t>
            </a:r>
            <a:r>
              <a:rPr dirty="0"/>
              <a:t> associates a node name with the function that the runtime will call. That function receives the state and returns a partial update. </a:t>
            </a:r>
            <a:r>
              <a:rPr dirty="0" err="1"/>
              <a:t>add_edge</a:t>
            </a:r>
            <a:r>
              <a:rPr dirty="0"/>
              <a:t> names the node to run after a source node finishes. </a:t>
            </a:r>
            <a:r>
              <a:rPr dirty="0" err="1"/>
              <a:t>add_conditional_edges</a:t>
            </a:r>
            <a:r>
              <a:rPr dirty="0"/>
              <a:t> instead calls a routing function after the source node’s update is merged. The function reads the updated record and selects the destination.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six steps appear at the end of Section 2.6. Omit fields that no computation reads.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4534D-5DE2-44BF-8165-C4C341A68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F5543-9DC0-16EC-F391-31A644F51DB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BC656EC-36A6-8070-57E4-20CB17173DCB}"/>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28203040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A routing guard tests information in the merged record, including values retained from earlier steps. The trace field by records model for a value from model output, and runtime for a value from a check, limit, or default. The programmer defines the edge and its guard in both cases. Returning END stops the run. The status field records why it stopped.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If the run remains active, a reply that both claims the patch is correct and requests a tool routes to tools. The after_controller function tests tool_calls and does not read the reply’s prose.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computation tree has a separate node for each visit to a control location. Each node represents that visit's configuration: the location and the record's values.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Revision replaces a stalled plan. Repair asks the controller for another patch after a failed check. Both add work to the run, so each needs a limit on how often it can occur.</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attempt counter must count attempts across the whole run. If each reset erases that count, the runtime cannot enforce a limit on the total number of attempts.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example variant is B − c: the call budget minus calls already made. The admission check keeps this quantity nonnegative. Every continuing cycle must reduce it, and each step must return or time out. These conditions bound the number of cycles. They do not by themselves bound the duration of a step. Our stall check detects repeated identical observations, one form of non-progress described in ReACT's recorded trajectories.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runtime checks the budget before each model call. Checking afterwards would allow the call to incur cost before enforcing the limit. The recursion limit is four times the call budget and counts supersteps without considering the task or the cost of a step.</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acceptance procedure produces evidence about the patch. Passing that procedure does not prove that the patch satisfies the task's postcondition.</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If an exception escapes the run, the trace writer records terminal status error. It then writes a separate record naming the exception.</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Steps 27–38 contain three rounds in which the controller requests tools and receives their results. It then submits again. At step 41, the rescan is clean, but the patch still leaves the flagged line unchanged. At step 42, the runtime returns that reason to the controller.</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trace does not establish what the process was doing between event 50 and the interrupt. Neither recorded run ends with status budget_exhausted. The description of that ending comes from the code.</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8C8B0-503A-E181-0BA9-01A796D3F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E5D210-89F8-FD0D-C86E-C551999A8C5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4192A42-8073-0AB3-B73B-5F9E9134D2DD}"/>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18574662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LangGraph organizes execution into Pregel supersteps. Multiple writes to one field in the same superstep require a reducer that combines them. Without one, the runtime rejects the competing writes.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Our graph has no parallel branches, so each superstep runs one node. The routing function reads the record after the controller's reply has been merged.</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MIT 6.031’s specification structure assigns obligations to the caller and implementer. A method specification may make no promises after a precondition violation. Because models can supply invalid arguments, tool contracts must specify how the runtime detects violations, reports refusal and prevents side effects from refused requests.</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Joining an absolute path to the root yields the absolute path itself, which the check then refuses if its resolved destination lies outside the root.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Section 5.1 of the notes. The machine, its record, the tool contract and the dispatcher are unchanged; only the mechanism that invokes the next computation differs. The scheduler runs the selected node in the next </a:t>
            </a:r>
            <a:r>
              <a:rPr dirty="0" err="1"/>
              <a:t>superstep</a:t>
            </a:r>
            <a:r>
              <a:rPr dirty="0"/>
              <a: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wording follows the Cornell CS 2110 lecture the notes cite. A tool request event records a request to a handler; it does not establish that the handler ran, exactly as a model's tool request in section 4 does not establish that the read occurred.</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Definition 5.4 and section 5.1 of the notes. The registrations map an event type to its handler, so the two realizations express the choice of the next computation in different places. If the loop does not check its registrations, an event can leave the queue with no handler: nothing runs, although no component decided to stop. We treat that as a defect rather than a terminal outcome.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Section 5.2 of the notes, after </a:t>
            </a:r>
            <a:r>
              <a:rPr dirty="0" err="1"/>
              <a:t>Seshia</a:t>
            </a:r>
            <a:r>
              <a:rPr dirty="0"/>
              <a:t> and Lee's slides 23 to 25. In the graph, each </a:t>
            </a:r>
            <a:r>
              <a:rPr dirty="0" err="1"/>
              <a:t>superstep</a:t>
            </a:r>
            <a:r>
              <a:rPr dirty="0"/>
              <a:t> begins when the preceding one finishes. A guard requiring every triggering input to be absent cannot fire when reactions require an input to be present.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Section 5.2 of the notes. During active execution, either one event is pending and no handler runs, or one handler runs and no event is pending. The machine in Figure 1 no longer describes configurations with two running handlers; the demo's validate step runs three at once (section 5.4).</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5.2 of the notes, rules 1 and 2 of four. The graph's superstep model provides this ordering. An empty queue does not establish how the run ended or whether termination was intentional.</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5.2 of the notes, rules 3 and 4 of four. In a serial realization no event can be pending at termination. A log event records an occurrence in the trace and triggers no computation. The terminal event ends dispatch; the terminal record in the trace records its status.</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5.3 of the notes, from the LlamaIndex Workflows introduction.</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5.3 of the notes. The pre-run validation is what catches an event type with no handler, which section 5.1 treats as a defect rather than a terminal outcome.</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5.3 of the notes. LlamaIndex's validation does not establish that a particular run will reach StopEvent. In CrewAI the outcome must be in the record before the last method completes. CrewAI's @start(), @listen(), @router() and the or_ and and_ operators are HW1 reference material.</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5.3 of the notes. Comparing an event realization with the graph realization requires a controlled design. The four properties: the observations appended to the record, the effects on the workspace, the results of the acceptance checks, and the terminal status and its meaning.</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5.3 of the notes. Model replies depend on the messages each realization constructs, so changing how a handler formats messages changes the input distribution even when the transition rules stay the same.</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cyberbird/event_driven. The budget is checked before each call. The RunState holds the run's bookkeeping: the filters, the queue, the current alert and the results. Nothing in an AlertState is shared with any other alert.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Table 8 of the notes, from the wiring table in workflow.py, without its Decided-by column: plan, controller and validate are decided by a model, the rest by the runtime. Each step's signature names the events it accepts, and its return annotation names the events it emits. The rows below the rule are the machine of Figure 1; the rows above it are new. gate releases one alert at a time. V is the number of validators, three by default. The guards now sit inside the steps and choose which event to return.</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White boxes are runtime components. Blue steps call a model (the validators will, once they are no longer stubs), and grey steps run tools, checks or bookkeeping. The ellipses are the run request that starts the run and END. Each solid arrow from the dispatcher names the event types its step accepts. Every event a step emits returns to the queue along the dashed path. V validators run at the same time.</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When the alert has spent its budget, the step returns AlertDone with status budget_exhausted and makes no call. A second stall returns AlertDone with status no_progress.</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The alert_id is the correlation key: one workflow run handles many alerts, and every event after AlertFound carries it.</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submit uses ctx.send_event for the fan-out. judge uses ctx.collect_events, which holds each verdict and returns None until all V have arrived, in any order.</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accepted and rejected come from judge, no_progress from tools, budget_exhausted from plan or controller.</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5.3 of the notes: events are user-defined Pydantic classes, and the framework supplies StartEvent and StopEvent. The other twelve event classes subclass AlertEvent.</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two long lines are broken at a comma to fit the window; nothing is paraphrased. The comment is the file's own.</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rule 1 in the code. When _admit returns False, plan and controller return AlertDone with status budget_exhausted and make no call. The signature is broken at a comma to fit the window.</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rule 2 in the code. submit is a stub: the checks are not yet real, so patch and checks are placeholders. The step returns None; the events it sent carry the run forward.</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rules 2 and 3 in the code: the gate emits StopEvent only when the count of results equals the count of alerts, so no alert is still in progress when the run ends. gate also returns AlertStarted when it releases the next alert; that branch is cut.</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The budget check reserves its call under the same lock, so two steps admitted at the same moment cannot both take the last call. submit lists ValidateRequested in its return annotation although it sends those events rather than returning them.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hyperlink" Target="https://github.com/comse6998-01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3</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AB3F8-7484-4BE9-6F60-620E4EBF9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D5227-9675-6C47-825A-AA229D3AF476}"/>
              </a:ext>
            </a:extLst>
          </p:cNvPr>
          <p:cNvSpPr>
            <a:spLocks noGrp="1"/>
          </p:cNvSpPr>
          <p:nvPr>
            <p:ph type="title"/>
          </p:nvPr>
        </p:nvSpPr>
        <p:spPr/>
        <p:txBody>
          <a:bodyPr/>
          <a:lstStyle/>
          <a:p>
            <a:r>
              <a:rPr lang="en-US" dirty="0"/>
              <a:t>Class announcements</a:t>
            </a:r>
          </a:p>
        </p:txBody>
      </p:sp>
      <p:sp>
        <p:nvSpPr>
          <p:cNvPr id="6" name="Content Placeholder 5">
            <a:extLst>
              <a:ext uri="{FF2B5EF4-FFF2-40B4-BE49-F238E27FC236}">
                <a16:creationId xmlns:a16="http://schemas.microsoft.com/office/drawing/2014/main" id="{B8B12D9A-0C2B-7893-BB3E-BD7D9DD61BD4}"/>
              </a:ext>
            </a:extLst>
          </p:cNvPr>
          <p:cNvSpPr>
            <a:spLocks noGrp="1"/>
          </p:cNvSpPr>
          <p:nvPr>
            <p:ph idx="1"/>
          </p:nvPr>
        </p:nvSpPr>
        <p:spPr>
          <a:xfrm>
            <a:off x="14251" y="630048"/>
            <a:ext cx="6815475" cy="2505913"/>
          </a:xfrm>
        </p:spPr>
        <p:txBody>
          <a:bodyPr>
            <a:normAutofit/>
          </a:bodyPr>
          <a:lstStyle/>
          <a:p>
            <a:r>
              <a:rPr lang="en-US" sz="1800" dirty="0"/>
              <a:t>HW1 is released EOD today.</a:t>
            </a:r>
            <a:endParaRPr lang="en-US" dirty="0"/>
          </a:p>
          <a:p>
            <a:pPr lvl="1"/>
            <a:r>
              <a:rPr lang="en-US" sz="1400" dirty="0"/>
              <a:t>Assignment groups after class today so I can plan accordingly.</a:t>
            </a:r>
          </a:p>
          <a:p>
            <a:r>
              <a:rPr lang="en-US" sz="1607" dirty="0"/>
              <a:t>We’ll talk about the HWs in class + all your questions.</a:t>
            </a:r>
          </a:p>
          <a:p>
            <a:r>
              <a:rPr lang="en-US" sz="1607" dirty="0"/>
              <a:t>Here’s the course website:</a:t>
            </a:r>
          </a:p>
          <a:p>
            <a:pPr lvl="1"/>
            <a:r>
              <a:rPr lang="en-US" sz="1400" dirty="0"/>
              <a:t>Lectures, notes, slides</a:t>
            </a:r>
          </a:p>
          <a:p>
            <a:pPr lvl="1"/>
            <a:r>
              <a:rPr lang="en-US" sz="1400" dirty="0"/>
              <a:t>HWs</a:t>
            </a:r>
          </a:p>
          <a:p>
            <a:pPr lvl="1"/>
            <a:r>
              <a:rPr lang="en-US" sz="1400" dirty="0"/>
              <a:t>Semester wide demo</a:t>
            </a:r>
          </a:p>
          <a:p>
            <a:r>
              <a:rPr lang="en-US" sz="1607" dirty="0"/>
              <a:t>But also on canvas…</a:t>
            </a:r>
          </a:p>
        </p:txBody>
      </p:sp>
      <p:grpSp>
        <p:nvGrpSpPr>
          <p:cNvPr id="5" name="Group 4">
            <a:extLst>
              <a:ext uri="{FF2B5EF4-FFF2-40B4-BE49-F238E27FC236}">
                <a16:creationId xmlns:a16="http://schemas.microsoft.com/office/drawing/2014/main" id="{9984B2C9-558C-93BE-C5A1-C5F8E259EE6B}"/>
              </a:ext>
            </a:extLst>
          </p:cNvPr>
          <p:cNvGrpSpPr/>
          <p:nvPr/>
        </p:nvGrpSpPr>
        <p:grpSpPr>
          <a:xfrm>
            <a:off x="3730801" y="2783062"/>
            <a:ext cx="3098925" cy="2172108"/>
            <a:chOff x="3759075" y="2855252"/>
            <a:chExt cx="3098925" cy="2172108"/>
          </a:xfrm>
        </p:grpSpPr>
        <p:pic>
          <p:nvPicPr>
            <p:cNvPr id="3" name="Picture 2" descr="QR Code Image">
              <a:extLst>
                <a:ext uri="{FF2B5EF4-FFF2-40B4-BE49-F238E27FC236}">
                  <a16:creationId xmlns:a16="http://schemas.microsoft.com/office/drawing/2014/main" id="{942F5266-A2F6-69E7-C39B-A943A22305B7}"/>
                </a:ext>
              </a:extLst>
            </p:cNvPr>
            <p:cNvPicPr>
              <a:picLocks noChangeAspect="1"/>
            </p:cNvPicPr>
            <p:nvPr/>
          </p:nvPicPr>
          <p:blipFill>
            <a:blip r:embed="rId2"/>
            <a:stretch>
              <a:fillRect/>
            </a:stretch>
          </p:blipFill>
          <p:spPr>
            <a:xfrm>
              <a:off x="4386179" y="2855252"/>
              <a:ext cx="1783013" cy="1783013"/>
            </a:xfrm>
            <a:prstGeom prst="rect">
              <a:avLst/>
            </a:prstGeom>
          </p:spPr>
        </p:pic>
        <p:sp>
          <p:nvSpPr>
            <p:cNvPr id="4" name="TextBox 3">
              <a:extLst>
                <a:ext uri="{FF2B5EF4-FFF2-40B4-BE49-F238E27FC236}">
                  <a16:creationId xmlns:a16="http://schemas.microsoft.com/office/drawing/2014/main" id="{94AA8479-E281-DC44-6B8A-55235AE0E53E}"/>
                </a:ext>
              </a:extLst>
            </p:cNvPr>
            <p:cNvSpPr txBox="1"/>
            <p:nvPr/>
          </p:nvSpPr>
          <p:spPr>
            <a:xfrm>
              <a:off x="3759075" y="4719583"/>
              <a:ext cx="3098925" cy="307777"/>
            </a:xfrm>
            <a:prstGeom prst="rect">
              <a:avLst/>
            </a:prstGeom>
            <a:noFill/>
          </p:spPr>
          <p:txBody>
            <a:bodyPr wrap="none" rtlCol="0">
              <a:spAutoFit/>
            </a:bodyPr>
            <a:lstStyle/>
            <a:p>
              <a:pPr algn="l"/>
              <a:r>
                <a:rPr lang="en-US" dirty="0">
                  <a:solidFill>
                    <a:schemeClr val="tx1"/>
                  </a:solidFill>
                  <a:latin typeface="+mn-lt"/>
                  <a:hlinkClick r:id="rId3">
                    <a:extLst>
                      <a:ext uri="{A12FA001-AC4F-418D-AE19-62706E023703}">
                        <ahyp:hlinkClr xmlns:ahyp="http://schemas.microsoft.com/office/drawing/2018/hyperlinkcolor" val="tx"/>
                      </a:ext>
                    </a:extLst>
                  </a:hlinkClick>
                </a:rPr>
                <a:t>https://github.com/comse6998-019</a:t>
              </a:r>
              <a:endParaRPr lang="en-US" dirty="0">
                <a:solidFill>
                  <a:schemeClr val="tx1"/>
                </a:solidFill>
                <a:latin typeface="+mn-lt"/>
              </a:endParaRPr>
            </a:p>
          </p:txBody>
        </p:sp>
      </p:grpSp>
    </p:spTree>
    <p:extLst>
      <p:ext uri="{BB962C8B-B14F-4D97-AF65-F5344CB8AC3E}">
        <p14:creationId xmlns:p14="http://schemas.microsoft.com/office/powerpoint/2010/main" val="619783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4440-B142-1A59-503D-805E67E966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6CA18B-F676-D6FD-5DB7-C2DF50D1A01A}"/>
              </a:ext>
            </a:extLst>
          </p:cNvPr>
          <p:cNvSpPr txBox="1"/>
          <p:nvPr/>
        </p:nvSpPr>
        <p:spPr>
          <a:xfrm>
            <a:off x="929000" y="1910031"/>
            <a:ext cx="5000000" cy="1323439"/>
          </a:xfrm>
          <a:prstGeom prst="rect">
            <a:avLst/>
          </a:prstGeom>
          <a:noFill/>
        </p:spPr>
        <p:txBody>
          <a:bodyPr wrap="square" anchor="ctr">
            <a:spAutoFit/>
          </a:bodyPr>
          <a:lstStyle/>
          <a:p>
            <a:pPr algn="ctr"/>
            <a:r>
              <a:rPr lang="en-US" sz="4000" b="1" dirty="0">
                <a:solidFill>
                  <a:schemeClr val="bg1"/>
                </a:solidFill>
                <a:latin typeface="+mj-lt"/>
              </a:rPr>
              <a:t>Lecture 3: Execution Machinery</a:t>
            </a:r>
            <a:endParaRPr sz="4000" b="1" dirty="0">
              <a:solidFill>
                <a:schemeClr val="bg1"/>
              </a:solidFill>
              <a:latin typeface="+mj-lt"/>
            </a:endParaRPr>
          </a:p>
        </p:txBody>
      </p:sp>
    </p:spTree>
    <p:extLst>
      <p:ext uri="{BB962C8B-B14F-4D97-AF65-F5344CB8AC3E}">
        <p14:creationId xmlns:p14="http://schemas.microsoft.com/office/powerpoint/2010/main" val="90551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4440-B142-1A59-503D-805E67E9667F}"/>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237D6A81-4385-7852-81F8-06B39637518F}"/>
              </a:ext>
            </a:extLst>
          </p:cNvPr>
          <p:cNvPicPr>
            <a:picLocks noChangeAspect="1"/>
          </p:cNvPicPr>
          <p:nvPr/>
        </p:nvPicPr>
        <p:blipFill>
          <a:blip r:embed="rId3">
            <a:alphaModFix amt="70000"/>
          </a:blip>
          <a:stretch>
            <a:fillRect/>
          </a:stretch>
        </p:blipFill>
        <p:spPr>
          <a:xfrm>
            <a:off x="825474" y="1899091"/>
            <a:ext cx="5732295" cy="2403255"/>
          </a:xfrm>
          <a:prstGeom prst="rect">
            <a:avLst/>
          </a:prstGeom>
        </p:spPr>
      </p:pic>
      <p:sp>
        <p:nvSpPr>
          <p:cNvPr id="3" name="TextBox 2">
            <a:extLst>
              <a:ext uri="{FF2B5EF4-FFF2-40B4-BE49-F238E27FC236}">
                <a16:creationId xmlns:a16="http://schemas.microsoft.com/office/drawing/2014/main" id="{CD673071-5FFC-A11F-33BA-D8532061400F}"/>
              </a:ext>
            </a:extLst>
          </p:cNvPr>
          <p:cNvSpPr txBox="1"/>
          <p:nvPr/>
        </p:nvSpPr>
        <p:spPr>
          <a:xfrm>
            <a:off x="929000" y="265338"/>
            <a:ext cx="5000000" cy="1323439"/>
          </a:xfrm>
          <a:prstGeom prst="rect">
            <a:avLst/>
          </a:prstGeom>
          <a:noFill/>
        </p:spPr>
        <p:txBody>
          <a:bodyPr wrap="square" anchor="ctr">
            <a:spAutoFit/>
          </a:bodyPr>
          <a:lstStyle/>
          <a:p>
            <a:pPr algn="ctr"/>
            <a:r>
              <a:rPr sz="4000" b="1" dirty="0">
                <a:solidFill>
                  <a:schemeClr val="bg1"/>
                </a:solidFill>
                <a:latin typeface="+mj-lt"/>
              </a:rPr>
              <a:t>Execution machinery</a:t>
            </a:r>
          </a:p>
        </p:txBody>
      </p:sp>
      <p:cxnSp>
        <p:nvCxnSpPr>
          <p:cNvPr id="4" name="Straight Arrow Connector 3">
            <a:extLst>
              <a:ext uri="{FF2B5EF4-FFF2-40B4-BE49-F238E27FC236}">
                <a16:creationId xmlns:a16="http://schemas.microsoft.com/office/drawing/2014/main" id="{CEFED53E-32C4-C4E2-85A5-C7734EFFFBD2}"/>
              </a:ext>
            </a:extLst>
          </p:cNvPr>
          <p:cNvCxnSpPr>
            <a:cxnSpLocks/>
          </p:cNvCxnSpPr>
          <p:nvPr/>
        </p:nvCxnSpPr>
        <p:spPr>
          <a:xfrm>
            <a:off x="1063835" y="2018156"/>
            <a:ext cx="0" cy="2160870"/>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6" name="Oval 7">
            <a:extLst>
              <a:ext uri="{FF2B5EF4-FFF2-40B4-BE49-F238E27FC236}">
                <a16:creationId xmlns:a16="http://schemas.microsoft.com/office/drawing/2014/main" id="{601E0B9D-CC0E-3422-CD9B-F1516821E4FD}"/>
              </a:ext>
            </a:extLst>
          </p:cNvPr>
          <p:cNvSpPr/>
          <p:nvPr/>
        </p:nvSpPr>
        <p:spPr>
          <a:xfrm>
            <a:off x="951758" y="21880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01E0B9D-CC0E-3422-CD9B-F1516821E4FD}"/>
              </a:ext>
            </a:extLst>
          </p:cNvPr>
          <p:cNvSpPr/>
          <p:nvPr/>
        </p:nvSpPr>
        <p:spPr>
          <a:xfrm>
            <a:off x="951758" y="27217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43F1170-EE5F-BE19-1404-7DC2A17583C7}"/>
              </a:ext>
            </a:extLst>
          </p:cNvPr>
          <p:cNvSpPr/>
          <p:nvPr/>
        </p:nvSpPr>
        <p:spPr>
          <a:xfrm>
            <a:off x="951758" y="3255453"/>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1512B09-27FE-E36B-F89B-61B48A1606CC}"/>
              </a:ext>
            </a:extLst>
          </p:cNvPr>
          <p:cNvSpPr/>
          <p:nvPr/>
        </p:nvSpPr>
        <p:spPr>
          <a:xfrm>
            <a:off x="951758" y="378559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2">
            <a:extLst>
              <a:ext uri="{FF2B5EF4-FFF2-40B4-BE49-F238E27FC236}">
                <a16:creationId xmlns:a16="http://schemas.microsoft.com/office/drawing/2014/main" id="{7EC5A9F1-BB96-C339-D56C-2BC6E0DA0570}"/>
              </a:ext>
            </a:extLst>
          </p:cNvPr>
          <p:cNvSpPr txBox="1"/>
          <p:nvPr/>
        </p:nvSpPr>
        <p:spPr>
          <a:xfrm>
            <a:off x="1259524" y="2146243"/>
            <a:ext cx="5074272" cy="338554"/>
          </a:xfrm>
          <a:prstGeom prst="rect">
            <a:avLst/>
          </a:prstGeom>
          <a:noFill/>
        </p:spPr>
        <p:txBody>
          <a:bodyPr wrap="none" rtlCol="0">
            <a:spAutoFit/>
          </a:bodyPr>
          <a:lstStyle/>
          <a:p>
            <a:r>
              <a:rPr lang="en-US" sz="1600" b="1" dirty="0">
                <a:solidFill>
                  <a:schemeClr val="tx2"/>
                </a:solidFill>
                <a:latin typeface="+mj-lt"/>
              </a:rPr>
              <a:t>Agents as state machines</a:t>
            </a:r>
          </a:p>
        </p:txBody>
      </p:sp>
      <p:sp>
        <p:nvSpPr>
          <p:cNvPr id="9" name="TextBox 8">
            <a:extLst>
              <a:ext uri="{FF2B5EF4-FFF2-40B4-BE49-F238E27FC236}">
                <a16:creationId xmlns:a16="http://schemas.microsoft.com/office/drawing/2014/main" id="{7EC5A9F1-BB96-C339-D56C-2BC6E0DA0570}"/>
              </a:ext>
            </a:extLst>
          </p:cNvPr>
          <p:cNvSpPr txBox="1"/>
          <p:nvPr/>
        </p:nvSpPr>
        <p:spPr>
          <a:xfrm>
            <a:off x="1259524" y="2679943"/>
            <a:ext cx="5074272" cy="338554"/>
          </a:xfrm>
          <a:prstGeom prst="rect">
            <a:avLst/>
          </a:prstGeom>
          <a:noFill/>
        </p:spPr>
        <p:txBody>
          <a:bodyPr wrap="none" rtlCol="0">
            <a:spAutoFit/>
          </a:bodyPr>
          <a:lstStyle/>
          <a:p>
            <a:r>
              <a:rPr lang="en-US" sz="1600" b="1" dirty="0">
                <a:solidFill>
                  <a:schemeClr val="tx2"/>
                </a:solidFill>
                <a:latin typeface="+mj-lt"/>
              </a:rPr>
              <a:t>State, records and reducers</a:t>
            </a:r>
          </a:p>
        </p:txBody>
      </p:sp>
      <p:sp>
        <p:nvSpPr>
          <p:cNvPr id="12" name="TextBox 11">
            <a:extLst>
              <a:ext uri="{FF2B5EF4-FFF2-40B4-BE49-F238E27FC236}">
                <a16:creationId xmlns:a16="http://schemas.microsoft.com/office/drawing/2014/main" id="{05AFBEDE-06A3-A656-9089-367CC0A8E3BC}"/>
              </a:ext>
            </a:extLst>
          </p:cNvPr>
          <p:cNvSpPr txBox="1"/>
          <p:nvPr/>
        </p:nvSpPr>
        <p:spPr>
          <a:xfrm>
            <a:off x="1259524" y="3743778"/>
            <a:ext cx="5074272" cy="338554"/>
          </a:xfrm>
          <a:prstGeom prst="rect">
            <a:avLst/>
          </a:prstGeom>
          <a:noFill/>
        </p:spPr>
        <p:txBody>
          <a:bodyPr wrap="none" rtlCol="0">
            <a:spAutoFit/>
          </a:bodyPr>
          <a:lstStyle/>
          <a:p>
            <a:r>
              <a:rPr lang="en-US" sz="1600" b="1" dirty="0">
                <a:solidFill>
                  <a:schemeClr val="tx2"/>
                </a:solidFill>
                <a:latin typeface="Fira Sans" panose="020B0503050000020004" pitchFamily="34" charset="0"/>
              </a:rPr>
              <a:t>Scheduling and tool execution</a:t>
            </a:r>
          </a:p>
        </p:txBody>
      </p:sp>
      <p:sp>
        <p:nvSpPr>
          <p:cNvPr id="11" name="TextBox 10">
            <a:extLst>
              <a:ext uri="{FF2B5EF4-FFF2-40B4-BE49-F238E27FC236}">
                <a16:creationId xmlns:a16="http://schemas.microsoft.com/office/drawing/2014/main" id="{094ED687-C55F-414D-DBBF-411E837220F3}"/>
              </a:ext>
            </a:extLst>
          </p:cNvPr>
          <p:cNvSpPr txBox="1"/>
          <p:nvPr/>
        </p:nvSpPr>
        <p:spPr>
          <a:xfrm>
            <a:off x="1259524" y="3210082"/>
            <a:ext cx="5074272" cy="338554"/>
          </a:xfrm>
          <a:prstGeom prst="rect">
            <a:avLst/>
          </a:prstGeom>
          <a:noFill/>
        </p:spPr>
        <p:txBody>
          <a:bodyPr wrap="none" rtlCol="0">
            <a:spAutoFit/>
          </a:bodyPr>
          <a:lstStyle/>
          <a:p>
            <a:r>
              <a:rPr lang="en-US" sz="1600" b="1" dirty="0">
                <a:solidFill>
                  <a:schemeClr val="tx2"/>
                </a:solidFill>
                <a:latin typeface="+mj-lt"/>
              </a:rPr>
              <a:t>Routing, feedback and stopping</a:t>
            </a:r>
            <a:endParaRPr lang="en-US" sz="1600" i="1" dirty="0">
              <a:solidFill>
                <a:schemeClr val="tx2"/>
              </a:solidFill>
              <a:latin typeface="+mj-lt"/>
            </a:endParaRPr>
          </a:p>
        </p:txBody>
      </p:sp>
    </p:spTree>
    <p:extLst>
      <p:ext uri="{BB962C8B-B14F-4D97-AF65-F5344CB8AC3E}">
        <p14:creationId xmlns:p14="http://schemas.microsoft.com/office/powerpoint/2010/main" val="2112911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C877-5566-2E23-1702-8D918A30AF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486798-157B-61A4-9C7C-B695CE1ACE95}"/>
              </a:ext>
            </a:extLst>
          </p:cNvPr>
          <p:cNvSpPr txBox="1"/>
          <p:nvPr/>
        </p:nvSpPr>
        <p:spPr>
          <a:xfrm>
            <a:off x="929000" y="265338"/>
            <a:ext cx="5000000" cy="1323439"/>
          </a:xfrm>
          <a:prstGeom prst="rect">
            <a:avLst/>
          </a:prstGeom>
          <a:noFill/>
        </p:spPr>
        <p:txBody>
          <a:bodyPr wrap="square" anchor="ctr">
            <a:spAutoFit/>
          </a:bodyPr>
          <a:lstStyle/>
          <a:p>
            <a:pPr algn="ctr"/>
            <a:r>
              <a:rPr lang="en-US" sz="4000" b="1" dirty="0">
                <a:solidFill>
                  <a:schemeClr val="bg1"/>
                </a:solidFill>
                <a:latin typeface="+mj-lt"/>
              </a:rPr>
              <a:t>Agents as state machines</a:t>
            </a:r>
            <a:endParaRPr sz="4000" b="1" dirty="0">
              <a:solidFill>
                <a:schemeClr val="bg1"/>
              </a:solidFill>
              <a:latin typeface="+mj-lt"/>
            </a:endParaRPr>
          </a:p>
        </p:txBody>
      </p:sp>
      <p:cxnSp>
        <p:nvCxnSpPr>
          <p:cNvPr id="4" name="Straight Arrow Connector 3">
            <a:extLst>
              <a:ext uri="{FF2B5EF4-FFF2-40B4-BE49-F238E27FC236}">
                <a16:creationId xmlns:a16="http://schemas.microsoft.com/office/drawing/2014/main" id="{3AD5CF53-0946-683E-F442-B3BC0351AF4F}"/>
              </a:ext>
            </a:extLst>
          </p:cNvPr>
          <p:cNvCxnSpPr>
            <a:cxnSpLocks/>
          </p:cNvCxnSpPr>
          <p:nvPr/>
        </p:nvCxnSpPr>
        <p:spPr>
          <a:xfrm>
            <a:off x="1063835" y="2018156"/>
            <a:ext cx="0" cy="2160870"/>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6" name="Oval 7">
            <a:extLst>
              <a:ext uri="{FF2B5EF4-FFF2-40B4-BE49-F238E27FC236}">
                <a16:creationId xmlns:a16="http://schemas.microsoft.com/office/drawing/2014/main" id="{1CADCF5A-4CBA-D43E-DFE4-9A28FCE4EE82}"/>
              </a:ext>
            </a:extLst>
          </p:cNvPr>
          <p:cNvSpPr/>
          <p:nvPr/>
        </p:nvSpPr>
        <p:spPr>
          <a:xfrm>
            <a:off x="951758" y="21880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CADCF5A-4CBA-D43E-DFE4-9A28FCE4EE82}"/>
              </a:ext>
            </a:extLst>
          </p:cNvPr>
          <p:cNvSpPr/>
          <p:nvPr/>
        </p:nvSpPr>
        <p:spPr>
          <a:xfrm>
            <a:off x="951758" y="27217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A08BC57-4939-6FB8-7C3C-E9AAF841B81B}"/>
              </a:ext>
            </a:extLst>
          </p:cNvPr>
          <p:cNvSpPr/>
          <p:nvPr/>
        </p:nvSpPr>
        <p:spPr>
          <a:xfrm>
            <a:off x="951758" y="3255453"/>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6525709-37B2-C26B-CFEF-4C71EFB68A5B}"/>
              </a:ext>
            </a:extLst>
          </p:cNvPr>
          <p:cNvSpPr/>
          <p:nvPr/>
        </p:nvSpPr>
        <p:spPr>
          <a:xfrm>
            <a:off x="951758" y="378559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2">
            <a:extLst>
              <a:ext uri="{FF2B5EF4-FFF2-40B4-BE49-F238E27FC236}">
                <a16:creationId xmlns:a16="http://schemas.microsoft.com/office/drawing/2014/main" id="{48A1D087-8772-6BF3-EC4E-3E7E25349152}"/>
              </a:ext>
            </a:extLst>
          </p:cNvPr>
          <p:cNvSpPr txBox="1"/>
          <p:nvPr/>
        </p:nvSpPr>
        <p:spPr>
          <a:xfrm>
            <a:off x="1259524" y="2146243"/>
            <a:ext cx="5074272" cy="338554"/>
          </a:xfrm>
          <a:prstGeom prst="rect">
            <a:avLst/>
          </a:prstGeom>
          <a:noFill/>
        </p:spPr>
        <p:txBody>
          <a:bodyPr wrap="none" rtlCol="0">
            <a:spAutoFit/>
          </a:bodyPr>
          <a:lstStyle/>
          <a:p>
            <a:r>
              <a:rPr lang="en-US" sz="1600" b="1" dirty="0">
                <a:solidFill>
                  <a:schemeClr val="tx2"/>
                </a:solidFill>
                <a:latin typeface="+mj-lt"/>
              </a:rPr>
              <a:t>Agents as state machines</a:t>
            </a:r>
          </a:p>
        </p:txBody>
      </p:sp>
      <p:sp>
        <p:nvSpPr>
          <p:cNvPr id="9" name="TextBox 8">
            <a:extLst>
              <a:ext uri="{FF2B5EF4-FFF2-40B4-BE49-F238E27FC236}">
                <a16:creationId xmlns:a16="http://schemas.microsoft.com/office/drawing/2014/main" id="{48A1D087-8772-6BF3-EC4E-3E7E25349152}"/>
              </a:ext>
            </a:extLst>
          </p:cNvPr>
          <p:cNvSpPr txBox="1"/>
          <p:nvPr/>
        </p:nvSpPr>
        <p:spPr>
          <a:xfrm>
            <a:off x="1259524" y="2679943"/>
            <a:ext cx="5074272" cy="338554"/>
          </a:xfrm>
          <a:prstGeom prst="rect">
            <a:avLst/>
          </a:prstGeom>
          <a:noFill/>
        </p:spPr>
        <p:txBody>
          <a:bodyPr wrap="none" rtlCol="0">
            <a:spAutoFit/>
          </a:bodyPr>
          <a:lstStyle/>
          <a:p>
            <a:r>
              <a:rPr lang="en-US" sz="1600" b="1" dirty="0">
                <a:solidFill>
                  <a:schemeClr val="tx2">
                    <a:lumMod val="55000"/>
                  </a:schemeClr>
                </a:solidFill>
                <a:latin typeface="+mj-lt"/>
              </a:rPr>
              <a:t>State, records and reducers</a:t>
            </a:r>
          </a:p>
        </p:txBody>
      </p:sp>
      <p:sp>
        <p:nvSpPr>
          <p:cNvPr id="12" name="TextBox 11">
            <a:extLst>
              <a:ext uri="{FF2B5EF4-FFF2-40B4-BE49-F238E27FC236}">
                <a16:creationId xmlns:a16="http://schemas.microsoft.com/office/drawing/2014/main" id="{879FE573-642F-114B-052F-AAA8E7BDCE26}"/>
              </a:ext>
            </a:extLst>
          </p:cNvPr>
          <p:cNvSpPr txBox="1"/>
          <p:nvPr/>
        </p:nvSpPr>
        <p:spPr>
          <a:xfrm>
            <a:off x="1259524" y="3743778"/>
            <a:ext cx="5074272" cy="338554"/>
          </a:xfrm>
          <a:prstGeom prst="rect">
            <a:avLst/>
          </a:prstGeom>
          <a:noFill/>
        </p:spPr>
        <p:txBody>
          <a:bodyPr wrap="none" rtlCol="0">
            <a:spAutoFit/>
          </a:bodyPr>
          <a:lstStyle/>
          <a:p>
            <a:r>
              <a:rPr lang="en-US" sz="1600" b="1" dirty="0">
                <a:solidFill>
                  <a:schemeClr val="tx2">
                    <a:lumMod val="55000"/>
                  </a:schemeClr>
                </a:solidFill>
                <a:latin typeface="Fira Sans" panose="020B0503050000020004" pitchFamily="34" charset="0"/>
              </a:rPr>
              <a:t>Scheduling and tool execution</a:t>
            </a:r>
          </a:p>
        </p:txBody>
      </p:sp>
      <p:sp>
        <p:nvSpPr>
          <p:cNvPr id="11" name="TextBox 10">
            <a:extLst>
              <a:ext uri="{FF2B5EF4-FFF2-40B4-BE49-F238E27FC236}">
                <a16:creationId xmlns:a16="http://schemas.microsoft.com/office/drawing/2014/main" id="{346757F0-4DFF-1E20-CDC1-6E67A304AEC2}"/>
              </a:ext>
            </a:extLst>
          </p:cNvPr>
          <p:cNvSpPr txBox="1"/>
          <p:nvPr/>
        </p:nvSpPr>
        <p:spPr>
          <a:xfrm>
            <a:off x="1259524" y="3210082"/>
            <a:ext cx="5074272" cy="338554"/>
          </a:xfrm>
          <a:prstGeom prst="rect">
            <a:avLst/>
          </a:prstGeom>
          <a:noFill/>
        </p:spPr>
        <p:txBody>
          <a:bodyPr wrap="none" rtlCol="0">
            <a:spAutoFit/>
          </a:bodyPr>
          <a:lstStyle/>
          <a:p>
            <a:r>
              <a:rPr lang="en-US" sz="1600" b="1" dirty="0">
                <a:solidFill>
                  <a:schemeClr val="tx2">
                    <a:lumMod val="55000"/>
                  </a:schemeClr>
                </a:solidFill>
                <a:latin typeface="+mj-lt"/>
              </a:rPr>
              <a:t>Routing, feedback and stopping</a:t>
            </a:r>
            <a:endParaRPr lang="en-US" sz="1600" i="1" dirty="0">
              <a:solidFill>
                <a:schemeClr val="tx2"/>
              </a:solidFill>
              <a:latin typeface="+mj-lt"/>
            </a:endParaRPr>
          </a:p>
        </p:txBody>
      </p:sp>
      <p:pic>
        <p:nvPicPr>
          <p:cNvPr id="14" name="Picture 13">
            <a:extLst>
              <a:ext uri="{FF2B5EF4-FFF2-40B4-BE49-F238E27FC236}">
                <a16:creationId xmlns:a16="http://schemas.microsoft.com/office/drawing/2014/main" id="{1DB686E2-B4DB-D0ED-0AE5-04CE63ABC410}"/>
              </a:ext>
            </a:extLst>
          </p:cNvPr>
          <p:cNvPicPr>
            <a:picLocks noChangeAspect="1"/>
          </p:cNvPicPr>
          <p:nvPr/>
        </p:nvPicPr>
        <p:blipFill>
          <a:blip r:embed="rId3">
            <a:alphaModFix amt="70000"/>
          </a:blip>
          <a:stretch>
            <a:fillRect/>
          </a:stretch>
        </p:blipFill>
        <p:spPr>
          <a:xfrm>
            <a:off x="825474" y="2424483"/>
            <a:ext cx="5732295" cy="1890137"/>
          </a:xfrm>
          <a:prstGeom prst="rect">
            <a:avLst/>
          </a:prstGeom>
        </p:spPr>
      </p:pic>
    </p:spTree>
    <p:extLst>
      <p:ext uri="{BB962C8B-B14F-4D97-AF65-F5344CB8AC3E}">
        <p14:creationId xmlns:p14="http://schemas.microsoft.com/office/powerpoint/2010/main" val="2322976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state machine as a description of an agent</a:t>
            </a:r>
          </a:p>
        </p:txBody>
      </p:sp>
      <p:sp>
        <p:nvSpPr>
          <p:cNvPr id="3" name="Content Placeholder 2"/>
          <p:cNvSpPr>
            <a:spLocks noGrp="1"/>
          </p:cNvSpPr>
          <p:nvPr>
            <p:ph idx="1"/>
          </p:nvPr>
        </p:nvSpPr>
        <p:spPr>
          <a:xfrm>
            <a:off x="319251" y="700000"/>
            <a:ext cx="6014545" cy="2450000"/>
          </a:xfrm>
        </p:spPr>
        <p:txBody>
          <a:bodyPr wrap="square" anchor="ctr">
            <a:normAutofit fontScale="92500" lnSpcReduction="10000"/>
          </a:bodyPr>
          <a:lstStyle/>
          <a:p>
            <a:pPr marL="0" indent="0">
              <a:buNone/>
            </a:pPr>
            <a:r>
              <a:rPr sz="1400" b="1" dirty="0">
                <a:solidFill>
                  <a:srgbClr val="28285E"/>
                </a:solidFill>
              </a:rPr>
              <a:t>An agent runs in discrete steps: model calls, tool calls and checks.</a:t>
            </a:r>
          </a:p>
          <a:p>
            <a:pPr marL="400050" indent="-285750">
              <a:spcBef>
                <a:spcPts val="600"/>
              </a:spcBef>
              <a:spcAft>
                <a:spcPts val="600"/>
              </a:spcAft>
              <a:buClr>
                <a:srgbClr val="28285E"/>
              </a:buClr>
              <a:buSzPts val="1260"/>
              <a:buFont typeface="+mn-lt"/>
              <a:buChar char="●"/>
            </a:pPr>
            <a:r>
              <a:rPr sz="1400" b="1" dirty="0">
                <a:solidFill>
                  <a:schemeClr val="tx1"/>
                </a:solidFill>
              </a:rPr>
              <a:t>Between steps,</a:t>
            </a:r>
            <a:r>
              <a:rPr sz="1400" b="0" dirty="0">
                <a:solidFill>
                  <a:schemeClr val="tx1"/>
                </a:solidFill>
              </a:rPr>
              <a:t> the </a:t>
            </a:r>
            <a:r>
              <a:rPr sz="1400" b="1" dirty="0">
                <a:solidFill>
                  <a:schemeClr val="tx1"/>
                </a:solidFill>
              </a:rPr>
              <a:t>agent retains information</a:t>
            </a:r>
            <a:r>
              <a:rPr sz="1400" b="0" dirty="0">
                <a:solidFill>
                  <a:schemeClr val="tx1"/>
                </a:solidFill>
              </a:rPr>
              <a:t>. The program </a:t>
            </a:r>
            <a:r>
              <a:rPr sz="1400" b="1" dirty="0">
                <a:solidFill>
                  <a:schemeClr val="tx1"/>
                </a:solidFill>
              </a:rPr>
              <a:t>decides which stored values may change </a:t>
            </a:r>
            <a:r>
              <a:rPr sz="1400" b="0" dirty="0">
                <a:solidFill>
                  <a:schemeClr val="tx1"/>
                </a:solidFill>
              </a:rPr>
              <a:t>and which computation may run next.</a:t>
            </a:r>
          </a:p>
          <a:p>
            <a:pPr marL="400050" indent="-285750">
              <a:spcBef>
                <a:spcPts val="600"/>
              </a:spcBef>
              <a:spcAft>
                <a:spcPts val="600"/>
              </a:spcAft>
              <a:buClr>
                <a:srgbClr val="28285E"/>
              </a:buClr>
              <a:buSzPts val="1260"/>
              <a:buFont typeface="+mn-lt"/>
              <a:buChar char="●"/>
            </a:pPr>
            <a:r>
              <a:rPr sz="1400" b="1" dirty="0">
                <a:solidFill>
                  <a:schemeClr val="tx1"/>
                </a:solidFill>
              </a:rPr>
              <a:t>The initial configuration</a:t>
            </a:r>
            <a:r>
              <a:rPr sz="1400" b="0" dirty="0">
                <a:solidFill>
                  <a:schemeClr val="tx1"/>
                </a:solidFill>
              </a:rPr>
              <a:t> describes how the agent starts. </a:t>
            </a:r>
            <a:r>
              <a:rPr sz="1400" b="1" dirty="0">
                <a:solidFill>
                  <a:schemeClr val="tx1"/>
                </a:solidFill>
              </a:rPr>
              <a:t>A transition rule specifies how its state changes</a:t>
            </a:r>
            <a:r>
              <a:rPr sz="1400" b="0" dirty="0">
                <a:solidFill>
                  <a:schemeClr val="tx1"/>
                </a:solidFill>
              </a:rPr>
              <a:t> in response to an input and what output it produces.</a:t>
            </a:r>
          </a:p>
          <a:p>
            <a:pPr marL="400050" indent="-285750">
              <a:spcBef>
                <a:spcPts val="600"/>
              </a:spcBef>
              <a:spcAft>
                <a:spcPts val="600"/>
              </a:spcAft>
              <a:buClr>
                <a:srgbClr val="28285E"/>
              </a:buClr>
              <a:buSzPts val="1260"/>
              <a:buFont typeface="+mn-lt"/>
              <a:buChar char="●"/>
            </a:pPr>
            <a:r>
              <a:rPr sz="1400" b="1" dirty="0">
                <a:solidFill>
                  <a:schemeClr val="tx1"/>
                </a:solidFill>
              </a:rPr>
              <a:t>A terminal configuration</a:t>
            </a:r>
            <a:r>
              <a:rPr sz="1400" b="0" dirty="0">
                <a:solidFill>
                  <a:schemeClr val="tx1"/>
                </a:solidFill>
              </a:rPr>
              <a:t> is one from which the </a:t>
            </a:r>
            <a:r>
              <a:rPr sz="1400" b="1" dirty="0">
                <a:solidFill>
                  <a:schemeClr val="tx1"/>
                </a:solidFill>
              </a:rPr>
              <a:t>runtime schedules no further step. It marks the end of the run.</a:t>
            </a:r>
          </a:p>
        </p:txBody>
      </p:sp>
      <p:sp>
        <p:nvSpPr>
          <p:cNvPr id="4" name="Rectangle 3"/>
          <p:cNvSpPr/>
          <p:nvPr/>
        </p:nvSpPr>
        <p:spPr>
          <a:xfrm>
            <a:off x="319251" y="3340000"/>
            <a:ext cx="6014545" cy="8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1">
                <a:solidFill>
                  <a:schemeClr val="tx2"/>
                </a:solidFill>
              </a:rPr>
              <a:t>A state machine is a simplified description of an agent. It omits the prompts, the model and the tool code.</a:t>
            </a:r>
          </a:p>
        </p:txBody>
      </p:sp>
      <p:sp>
        <p:nvSpPr>
          <p:cNvPr id="5" name="Rectangle 4"/>
          <p:cNvSpPr/>
          <p:nvPr/>
        </p:nvSpPr>
        <p:spPr>
          <a:xfrm>
            <a:off x="319251" y="4330000"/>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This description lets us examine execution without describing the whole program.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control locations</a:t>
            </a:r>
          </a:p>
        </p:txBody>
      </p:sp>
      <p:sp>
        <p:nvSpPr>
          <p:cNvPr id="3" name="Content Placeholder 2"/>
          <p:cNvSpPr>
            <a:spLocks noGrp="1"/>
          </p:cNvSpPr>
          <p:nvPr>
            <p:ph idx="1"/>
          </p:nvPr>
        </p:nvSpPr>
        <p:spPr>
          <a:xfrm>
            <a:off x="319251" y="700000"/>
            <a:ext cx="6014545" cy="450000"/>
          </a:xfrm>
        </p:spPr>
        <p:txBody>
          <a:bodyPr wrap="square" anchor="ctr">
            <a:normAutofit fontScale="55000" lnSpcReduction="20000"/>
          </a:bodyPr>
          <a:lstStyle/>
          <a:p>
            <a:pPr marL="0" indent="0">
              <a:buNone/>
            </a:pPr>
            <a:r>
              <a:rPr sz="1400" b="1">
                <a:solidFill>
                  <a:srgbClr val="28285E"/>
                </a:solidFill>
              </a:rPr>
              <a:t>A control location names the computation to run next or marks the end of the run. Nodes show locations, and arrows show allowed transitions.</a:t>
            </a:r>
          </a:p>
        </p:txBody>
      </p:sp>
      <p:pic>
        <p:nvPicPr>
          <p:cNvPr id="4" name="Figure efsm-skeleton" descr="efsm-skeleton.png"/>
          <p:cNvPicPr>
            <a:picLocks noChangeAspect="1"/>
          </p:cNvPicPr>
          <p:nvPr/>
        </p:nvPicPr>
        <p:blipFill>
          <a:blip r:embed="rId3"/>
          <a:stretch>
            <a:fillRect/>
          </a:stretch>
        </p:blipFill>
        <p:spPr>
          <a:xfrm>
            <a:off x="250148" y="1240000"/>
            <a:ext cx="6152752" cy="2417281"/>
          </a:xfrm>
          <a:prstGeom prst="rect">
            <a:avLst/>
          </a:prstGeom>
        </p:spPr>
      </p:pic>
      <p:sp>
        <p:nvSpPr>
          <p:cNvPr id="5" name="Rectangle 4"/>
          <p:cNvSpPr/>
          <p:nvPr/>
        </p:nvSpPr>
        <p:spPr>
          <a:xfrm>
            <a:off x="319251" y="3858622"/>
            <a:ext cx="6014545" cy="54430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Blue nodes call a model. Grey nodes run tools or checks.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what the agent keeps between steps</a:t>
            </a:r>
          </a:p>
        </p:txBody>
      </p:sp>
      <p:sp>
        <p:nvSpPr>
          <p:cNvPr id="3" name="Content Placeholder 2"/>
          <p:cNvSpPr>
            <a:spLocks noGrp="1"/>
          </p:cNvSpPr>
          <p:nvPr>
            <p:ph idx="1"/>
          </p:nvPr>
        </p:nvSpPr>
        <p:spPr>
          <a:xfrm>
            <a:off x="319251" y="700000"/>
            <a:ext cx="6014545" cy="1950000"/>
          </a:xfrm>
        </p:spPr>
        <p:txBody>
          <a:bodyPr wrap="square" anchor="ctr">
            <a:normAutofit fontScale="92500" lnSpcReduction="20000"/>
          </a:bodyPr>
          <a:lstStyle/>
          <a:p>
            <a:pPr marL="0" indent="0">
              <a:buNone/>
            </a:pPr>
            <a:r>
              <a:rPr sz="1400" b="1">
                <a:solidFill>
                  <a:srgbClr val="28285E"/>
                </a:solidFill>
              </a:rPr>
              <a:t>An agent runs in discrete steps. Between two steps, some information persists.</a:t>
            </a:r>
          </a:p>
          <a:p>
            <a:pPr marL="400050" indent="-285750">
              <a:spcBef>
                <a:spcPts val="600"/>
              </a:spcBef>
              <a:spcAft>
                <a:spcPts val="600"/>
              </a:spcAft>
              <a:buClr>
                <a:srgbClr val="28285E"/>
              </a:buClr>
              <a:buSzPts val="1260"/>
              <a:buFont typeface="+mn-lt"/>
              <a:buChar char="●"/>
            </a:pPr>
            <a:r>
              <a:rPr sz="1400" b="1">
                <a:solidFill>
                  <a:schemeClr val="tx1"/>
                </a:solidFill>
              </a:rPr>
              <a:t>The controller</a:t>
            </a:r>
            <a:r>
              <a:rPr sz="1400" b="0">
                <a:solidFill>
                  <a:schemeClr val="tx1"/>
                </a:solidFill>
              </a:rPr>
              <a:t> uses its instructions and earlier observations to choose an action. The runtime uses the call count to decide whether another model call is allowed.</a:t>
            </a:r>
          </a:p>
          <a:p>
            <a:pPr marL="400050" indent="-285750">
              <a:spcBef>
                <a:spcPts val="600"/>
              </a:spcBef>
              <a:spcAft>
                <a:spcPts val="600"/>
              </a:spcAft>
              <a:buClr>
                <a:srgbClr val="28285E"/>
              </a:buClr>
              <a:buSzPts val="1260"/>
              <a:buFont typeface="+mn-lt"/>
              <a:buChar char="●"/>
            </a:pPr>
            <a:r>
              <a:rPr sz="1400" b="1">
                <a:solidFill>
                  <a:schemeClr val="tx1"/>
                </a:solidFill>
              </a:rPr>
              <a:t>Two visits to the controller </a:t>
            </a:r>
            <a:r>
              <a:rPr sz="1400" b="0">
                <a:solidFill>
                  <a:schemeClr val="tx1"/>
                </a:solidFill>
              </a:rPr>
              <a:t>can therefore lead to different next steps, because the retained data differ.</a:t>
            </a:r>
          </a:p>
        </p:txBody>
      </p:sp>
      <p:pic>
        <p:nvPicPr>
          <p:cNvPr id="4" name="Figure step-state" descr="step-state.png"/>
          <p:cNvPicPr>
            <a:picLocks noChangeAspect="1"/>
          </p:cNvPicPr>
          <p:nvPr/>
        </p:nvPicPr>
        <p:blipFill>
          <a:blip r:embed="rId2"/>
          <a:stretch>
            <a:fillRect/>
          </a:stretch>
        </p:blipFill>
        <p:spPr>
          <a:xfrm>
            <a:off x="826524" y="2840000"/>
            <a:ext cx="5000000" cy="1084905"/>
          </a:xfrm>
          <a:prstGeom prst="rect">
            <a:avLst/>
          </a:prstGeom>
        </p:spPr>
      </p:pic>
      <p:sp>
        <p:nvSpPr>
          <p:cNvPr id="5" name="Rectangle 4"/>
          <p:cNvSpPr/>
          <p:nvPr/>
        </p:nvSpPr>
        <p:spPr>
          <a:xfrm>
            <a:off x="319251" y="4114905"/>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State is the information retained between steps that can affect what the agent does next.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Inputs: what arrives during a step</a:t>
            </a:r>
          </a:p>
        </p:txBody>
      </p:sp>
      <p:sp>
        <p:nvSpPr>
          <p:cNvPr id="3" name="Content Placeholder 2"/>
          <p:cNvSpPr>
            <a:spLocks noGrp="1"/>
          </p:cNvSpPr>
          <p:nvPr>
            <p:ph idx="1"/>
          </p:nvPr>
        </p:nvSpPr>
        <p:spPr>
          <a:xfrm>
            <a:off x="319251" y="700000"/>
            <a:ext cx="6014545" cy="1932880"/>
          </a:xfrm>
        </p:spPr>
        <p:txBody>
          <a:bodyPr wrap="square" anchor="ctr">
            <a:normAutofit fontScale="92500"/>
          </a:bodyPr>
          <a:lstStyle/>
          <a:p>
            <a:pPr marL="0" indent="0">
              <a:buNone/>
            </a:pPr>
            <a:r>
              <a:rPr sz="1400" b="1">
                <a:solidFill>
                  <a:srgbClr val="28285E"/>
                </a:solidFill>
              </a:rPr>
              <a:t>The runtime receives model replies and tool results during a step. Its stored state alone does not determine those results.</a:t>
            </a:r>
          </a:p>
          <a:p>
            <a:pPr marL="400050" indent="-285750">
              <a:spcBef>
                <a:spcPts val="600"/>
              </a:spcBef>
              <a:spcAft>
                <a:spcPts val="600"/>
              </a:spcAft>
              <a:buClr>
                <a:srgbClr val="28285E"/>
              </a:buClr>
              <a:buSzPts val="1260"/>
              <a:buFont typeface="+mn-lt"/>
              <a:buChar char="●"/>
            </a:pPr>
            <a:r>
              <a:rPr sz="1400" b="1">
                <a:solidFill>
                  <a:schemeClr val="tx1"/>
                </a:solidFill>
              </a:rPr>
              <a:t>A model reply is an input. </a:t>
            </a:r>
            <a:r>
              <a:rPr sz="1400" b="0">
                <a:solidFill>
                  <a:schemeClr val="tx1"/>
                </a:solidFill>
              </a:rPr>
              <a:t>The same state can receive a different reply next time.</a:t>
            </a:r>
          </a:p>
          <a:p>
            <a:pPr marL="400050" indent="-285750">
              <a:spcBef>
                <a:spcPts val="600"/>
              </a:spcBef>
              <a:spcAft>
                <a:spcPts val="600"/>
              </a:spcAft>
              <a:buClr>
                <a:srgbClr val="28285E"/>
              </a:buClr>
              <a:buSzPts val="1260"/>
              <a:buFont typeface="+mn-lt"/>
              <a:buChar char="●"/>
            </a:pPr>
            <a:r>
              <a:rPr sz="1400" b="1">
                <a:solidFill>
                  <a:schemeClr val="tx1"/>
                </a:solidFill>
              </a:rPr>
              <a:t>Workspace files</a:t>
            </a:r>
            <a:r>
              <a:rPr sz="1400" b="0">
                <a:solidFill>
                  <a:schemeClr val="tx1"/>
                </a:solidFill>
              </a:rPr>
              <a:t> are outside the state in this description. A tool's report about those files enters the state machine as an input observation.</a:t>
            </a:r>
          </a:p>
        </p:txBody>
      </p:sp>
      <p:pic>
        <p:nvPicPr>
          <p:cNvPr id="4" name="Figure step-input" descr="step-input.png"/>
          <p:cNvPicPr>
            <a:picLocks noChangeAspect="1"/>
          </p:cNvPicPr>
          <p:nvPr/>
        </p:nvPicPr>
        <p:blipFill>
          <a:blip r:embed="rId2"/>
          <a:stretch>
            <a:fillRect/>
          </a:stretch>
        </p:blipFill>
        <p:spPr>
          <a:xfrm>
            <a:off x="626524" y="2822880"/>
            <a:ext cx="5400000" cy="1082888"/>
          </a:xfrm>
          <a:prstGeom prst="rect">
            <a:avLst/>
          </a:prstGeom>
        </p:spPr>
      </p:pic>
      <p:sp>
        <p:nvSpPr>
          <p:cNvPr id="5" name="Rectangle 4"/>
          <p:cNvSpPr/>
          <p:nvPr/>
        </p:nvSpPr>
        <p:spPr>
          <a:xfrm>
            <a:off x="319251" y="4095768"/>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1" dirty="0">
                <a:solidFill>
                  <a:schemeClr val="tx2"/>
                </a:solidFill>
              </a:rPr>
              <a:t>State determines which transitions are permitted. It does not determine which result arrives.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Extended state machines and configurations</a:t>
            </a:r>
          </a:p>
        </p:txBody>
      </p:sp>
      <p:sp>
        <p:nvSpPr>
          <p:cNvPr id="3" name="Content Placeholder 2"/>
          <p:cNvSpPr>
            <a:spLocks noGrp="1"/>
          </p:cNvSpPr>
          <p:nvPr>
            <p:ph idx="1"/>
          </p:nvPr>
        </p:nvSpPr>
        <p:spPr>
          <a:xfrm>
            <a:off x="319251" y="700000"/>
            <a:ext cx="6014545" cy="450000"/>
          </a:xfrm>
        </p:spPr>
        <p:txBody>
          <a:bodyPr wrap="square" anchor="ctr">
            <a:normAutofit fontScale="92500"/>
          </a:bodyPr>
          <a:lstStyle/>
          <a:p>
            <a:pPr marL="0" indent="0">
              <a:buNone/>
            </a:pPr>
            <a:r>
              <a:rPr sz="1400" b="1">
                <a:solidFill>
                  <a:srgbClr val="28285E"/>
                </a:solidFill>
              </a:rPr>
              <a:t>An agent has a small number of control locations and a large amount of data.</a:t>
            </a:r>
          </a:p>
        </p:txBody>
      </p:sp>
      <p:pic>
        <p:nvPicPr>
          <p:cNvPr id="4" name="Figure location-card" descr="location-card.png"/>
          <p:cNvPicPr>
            <a:picLocks noChangeAspect="1"/>
          </p:cNvPicPr>
          <p:nvPr/>
        </p:nvPicPr>
        <p:blipFill>
          <a:blip r:embed="rId3"/>
          <a:stretch>
            <a:fillRect/>
          </a:stretch>
        </p:blipFill>
        <p:spPr>
          <a:xfrm>
            <a:off x="526524" y="1240000"/>
            <a:ext cx="5600000" cy="1922615"/>
          </a:xfrm>
          <a:prstGeom prst="rect">
            <a:avLst/>
          </a:prstGeom>
        </p:spPr>
      </p:pic>
      <p:sp>
        <p:nvSpPr>
          <p:cNvPr id="5" name="Rectangle 4"/>
          <p:cNvSpPr/>
          <p:nvPr/>
        </p:nvSpPr>
        <p:spPr>
          <a:xfrm>
            <a:off x="319251" y="3252615"/>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dirty="0">
                <a:solidFill>
                  <a:schemeClr val="tx2"/>
                </a:solidFill>
              </a:rPr>
              <a:t>An extended state machine has finitely many control locations and variables that store data. A configuration pairs the current location with the current value of every variable.</a:t>
            </a:r>
          </a:p>
        </p:txBody>
      </p:sp>
      <p:sp>
        <p:nvSpPr>
          <p:cNvPr id="6" name="Rectangle 5"/>
          <p:cNvSpPr/>
          <p:nvPr/>
        </p:nvSpPr>
        <p:spPr>
          <a:xfrm>
            <a:off x="319251" y="4099273"/>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Run </a:t>
            </a:r>
            <a:r>
              <a:rPr sz="1200" b="0">
                <a:solidFill>
                  <a:srgbClr val="28285E"/>
                </a:solidFill>
                <a:latin typeface="Maple Mono NF"/>
              </a:rPr>
              <a:t>bc284c6b</a:t>
            </a:r>
            <a:r>
              <a:rPr sz="1200" b="1">
                <a:solidFill>
                  <a:srgbClr val="28285E"/>
                </a:solidFill>
              </a:rPr>
              <a:t> visits the controller five times. Each visit has a different configuration because the stored values have changed.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Configurations: finite control, unbounded data</a:t>
            </a:r>
          </a:p>
        </p:txBody>
      </p:sp>
      <p:sp>
        <p:nvSpPr>
          <p:cNvPr id="3" name="Content Placeholder 2"/>
          <p:cNvSpPr>
            <a:spLocks noGrp="1"/>
          </p:cNvSpPr>
          <p:nvPr>
            <p:ph idx="1"/>
          </p:nvPr>
        </p:nvSpPr>
        <p:spPr>
          <a:xfrm>
            <a:off x="319251" y="700000"/>
            <a:ext cx="6014545" cy="2450000"/>
          </a:xfrm>
        </p:spPr>
        <p:txBody>
          <a:bodyPr wrap="square" anchor="ctr">
            <a:normAutofit fontScale="92500" lnSpcReduction="10000"/>
          </a:bodyPr>
          <a:lstStyle/>
          <a:p>
            <a:pPr marL="0" indent="0">
              <a:buNone/>
            </a:pPr>
            <a:r>
              <a:rPr sz="1400" b="1" dirty="0">
                <a:solidFill>
                  <a:srgbClr val="28285E"/>
                </a:solidFill>
              </a:rPr>
              <a:t>A graph can have finitely many control locations even when its variables can take infinitely many values.</a:t>
            </a:r>
          </a:p>
          <a:p>
            <a:pPr marL="400050" indent="-285750">
              <a:spcBef>
                <a:spcPts val="600"/>
              </a:spcBef>
              <a:spcAft>
                <a:spcPts val="600"/>
              </a:spcAft>
              <a:buClr>
                <a:srgbClr val="28285E"/>
              </a:buClr>
              <a:buSzPts val="1260"/>
              <a:buFont typeface="+mn-lt"/>
              <a:buChar char="●"/>
            </a:pPr>
            <a:r>
              <a:rPr sz="1400" b="1" dirty="0">
                <a:solidFill>
                  <a:schemeClr val="tx1"/>
                </a:solidFill>
              </a:rPr>
              <a:t>If </a:t>
            </a:r>
            <a:r>
              <a:rPr sz="1400" b="0" dirty="0">
                <a:solidFill>
                  <a:schemeClr val="tx1"/>
                </a:solidFill>
                <a:latin typeface="Maple Mono NF"/>
              </a:rPr>
              <a:t>model_calls</a:t>
            </a:r>
            <a:r>
              <a:rPr sz="1400" b="0" dirty="0">
                <a:solidFill>
                  <a:schemeClr val="tx1"/>
                </a:solidFill>
              </a:rPr>
              <a:t> is the only variable and its budget is N, it can hold 0 through N. Each location then has at most N+1 configurations.</a:t>
            </a:r>
          </a:p>
          <a:p>
            <a:pPr marL="400050" indent="-285750">
              <a:spcBef>
                <a:spcPts val="600"/>
              </a:spcBef>
              <a:spcAft>
                <a:spcPts val="600"/>
              </a:spcAft>
              <a:buClr>
                <a:srgbClr val="28285E"/>
              </a:buClr>
              <a:buSzPts val="1260"/>
              <a:buFont typeface="+mn-lt"/>
              <a:buChar char="●"/>
            </a:pPr>
            <a:r>
              <a:rPr sz="1400" b="1" dirty="0">
                <a:solidFill>
                  <a:schemeClr val="tx1"/>
                </a:solidFill>
              </a:rPr>
              <a:t>If a message list</a:t>
            </a:r>
            <a:r>
              <a:rPr sz="1400" b="0" dirty="0">
                <a:solidFill>
                  <a:schemeClr val="tx1"/>
                </a:solidFill>
              </a:rPr>
              <a:t> can grow without a length bound, one control location can have infinitely many configurations.</a:t>
            </a:r>
          </a:p>
          <a:p>
            <a:pPr marL="400050" indent="-285750">
              <a:spcBef>
                <a:spcPts val="600"/>
              </a:spcBef>
              <a:spcAft>
                <a:spcPts val="600"/>
              </a:spcAft>
              <a:buClr>
                <a:srgbClr val="28285E"/>
              </a:buClr>
              <a:buSzPts val="1260"/>
              <a:buFont typeface="+mn-lt"/>
              <a:buChar char="●"/>
            </a:pPr>
            <a:r>
              <a:rPr sz="1400" b="1" dirty="0">
                <a:solidFill>
                  <a:schemeClr val="tx1"/>
                </a:solidFill>
              </a:rPr>
              <a:t>A procedure</a:t>
            </a:r>
            <a:r>
              <a:rPr sz="1400" b="0" dirty="0">
                <a:solidFill>
                  <a:schemeClr val="tx1"/>
                </a:solidFill>
              </a:rPr>
              <a:t> that tries to list every reachable configuration may therefore never finish.</a:t>
            </a:r>
          </a:p>
        </p:txBody>
      </p:sp>
      <p:sp>
        <p:nvSpPr>
          <p:cNvPr id="4" name="Rectangle 3"/>
          <p:cNvSpPr/>
          <p:nvPr/>
        </p:nvSpPr>
        <p:spPr>
          <a:xfrm>
            <a:off x="319251" y="334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An extended state machine can have finitely many control locations and infinitely many configurations.</a:t>
            </a:r>
          </a:p>
        </p:txBody>
      </p:sp>
      <p:sp>
        <p:nvSpPr>
          <p:cNvPr id="5" name="Rectangle 4"/>
          <p:cNvSpPr/>
          <p:nvPr/>
        </p:nvSpPr>
        <p:spPr>
          <a:xfrm>
            <a:off x="319251" y="4140000"/>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set of control locations and guards remains finite.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Transitions: guard, output action, set action</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guard states when a transition is allowed. Its actions emit output and update variables.</a:t>
            </a:r>
          </a:p>
        </p:txBody>
      </p:sp>
      <p:pic>
        <p:nvPicPr>
          <p:cNvPr id="4" name="Figure one-edge" descr="one-edge.png"/>
          <p:cNvPicPr>
            <a:picLocks noChangeAspect="1"/>
          </p:cNvPicPr>
          <p:nvPr/>
        </p:nvPicPr>
        <p:blipFill>
          <a:blip r:embed="rId3"/>
          <a:stretch>
            <a:fillRect/>
          </a:stretch>
        </p:blipFill>
        <p:spPr>
          <a:xfrm>
            <a:off x="1476524" y="1290000"/>
            <a:ext cx="3700000" cy="2205893"/>
          </a:xfrm>
          <a:prstGeom prst="rect">
            <a:avLst/>
          </a:prstGeom>
        </p:spPr>
      </p:pic>
      <p:sp>
        <p:nvSpPr>
          <p:cNvPr id="5" name="Shorthand"/>
          <p:cNvSpPr txBox="1"/>
          <p:nvPr/>
        </p:nvSpPr>
        <p:spPr>
          <a:xfrm>
            <a:off x="1072541" y="3675487"/>
            <a:ext cx="4507965" cy="307777"/>
          </a:xfrm>
          <a:prstGeom prst="rect">
            <a:avLst/>
          </a:prstGeom>
          <a:noFill/>
        </p:spPr>
        <p:txBody>
          <a:bodyPr wrap="none" anchor="ctr">
            <a:spAutoFit/>
          </a:bodyPr>
          <a:lstStyle/>
          <a:p>
            <a:pPr algn="ctr"/>
            <a:r>
              <a:rPr sz="1400" dirty="0">
                <a:solidFill>
                  <a:schemeClr val="tx1"/>
                </a:solidFill>
                <a:latin typeface="Maple Mono NF"/>
              </a:rPr>
              <a:t>(q, v)  -- e ; g / out ; set --&gt;  (q', v')</a:t>
            </a:r>
          </a:p>
        </p:txBody>
      </p:sp>
      <p:sp>
        <p:nvSpPr>
          <p:cNvPr id="6" name="Rectangle 5"/>
          <p:cNvSpPr/>
          <p:nvPr/>
        </p:nvSpPr>
        <p:spPr>
          <a:xfrm>
            <a:off x="156412" y="4169375"/>
            <a:ext cx="6340224"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At location q with variable values v, input e arrives. If guard g holds, the transition emits out, applies set to the variables and moves to location q' with values v'.</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elements of a transitio</a:t>
            </a:r>
            <a:r>
              <a:rPr lang="en-US" dirty="0"/>
              <a:t>n (</a:t>
            </a:r>
            <a:r>
              <a:rPr dirty="0"/>
              <a:t>for an agent</a:t>
            </a:r>
            <a:r>
              <a:rPr lang="en-US" dirty="0"/>
              <a: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903319124"/>
              </p:ext>
            </p:extLst>
          </p:nvPr>
        </p:nvGraphicFramePr>
        <p:xfrm>
          <a:off x="319251" y="700000"/>
          <a:ext cx="6014545" cy="3348000"/>
        </p:xfrm>
        <a:graphic>
          <a:graphicData uri="http://schemas.openxmlformats.org/drawingml/2006/table">
            <a:tbl>
              <a:tblPr firstRow="1" bandRow="1">
                <a:tableStyleId>{5C22544A-7EE6-4342-B048-85BDC9FD1C3A}</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buNone/>
                      </a:pPr>
                      <a:r>
                        <a:rPr sz="1000" b="1">
                          <a:solidFill>
                            <a:schemeClr val="tx1"/>
                          </a:solidFill>
                        </a:rPr>
                        <a:t>Element</a:t>
                      </a:r>
                    </a:p>
                  </a:txBody>
                  <a:tcPr marL="95250" marR="95250" marT="47625" marB="47625">
                    <a:lnB w="12700" cap="flat" cmpd="sng" algn="ctr">
                      <a:solidFill>
                        <a:schemeClr val="tx1"/>
                      </a:solidFill>
                    </a:lnB>
                    <a:noFill/>
                  </a:tcPr>
                </a:tc>
                <a:tc>
                  <a:txBody>
                    <a:bodyPr/>
                    <a:lstStyle/>
                    <a:p>
                      <a:pPr>
                        <a:buNone/>
                      </a:pPr>
                      <a:r>
                        <a:rPr sz="1000" b="1">
                          <a:solidFill>
                            <a:schemeClr val="tx1"/>
                          </a:solidFill>
                        </a:rPr>
                        <a:t>In an 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Control location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A control location names the </a:t>
                      </a:r>
                      <a:r>
                        <a:rPr sz="1000" b="1" dirty="0">
                          <a:solidFill>
                            <a:schemeClr val="tx1"/>
                          </a:solidFill>
                        </a:rPr>
                        <a:t>computation ready to run:</a:t>
                      </a:r>
                      <a:r>
                        <a:rPr sz="1000" b="0" dirty="0">
                          <a:solidFill>
                            <a:schemeClr val="tx1"/>
                          </a:solidFill>
                        </a:rPr>
                        <a:t> </a:t>
                      </a:r>
                      <a:r>
                        <a:rPr sz="1000" b="1" dirty="0">
                          <a:solidFill>
                            <a:schemeClr val="tx1"/>
                          </a:solidFill>
                        </a:rPr>
                        <a:t>a model call, tool dispatch or check.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Variables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Variables hold </a:t>
                      </a:r>
                      <a:r>
                        <a:rPr sz="1000" b="1" dirty="0">
                          <a:solidFill>
                            <a:schemeClr val="tx1"/>
                          </a:solidFill>
                        </a:rPr>
                        <a:t>messages, observations, a plan, counters, check results and a status between steps</a:t>
                      </a:r>
                      <a:r>
                        <a:rPr sz="1000" b="0" dirty="0">
                          <a:solidFill>
                            <a:schemeClr val="tx1"/>
                          </a:solidFill>
                        </a:rPr>
                        <a: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Input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An input is a </a:t>
                      </a:r>
                      <a:r>
                        <a:rPr sz="1000" b="1" dirty="0">
                          <a:solidFill>
                            <a:schemeClr val="tx1"/>
                          </a:solidFill>
                        </a:rPr>
                        <a:t>result received during a step, such as a model reply, tool result or check result.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Guard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A guard is a predicate: </a:t>
                      </a:r>
                      <a:r>
                        <a:rPr sz="1000" b="1" dirty="0">
                          <a:solidFill>
                            <a:schemeClr val="tx1"/>
                          </a:solidFill>
                        </a:rPr>
                        <a:t>a true-or-false test of the variables and input</a:t>
                      </a:r>
                      <a:r>
                        <a:rPr sz="1000" b="0" dirty="0">
                          <a:solidFill>
                            <a:schemeClr val="tx1"/>
                          </a:solidFill>
                        </a:rPr>
                        <a:t>, such as whether the reply requests a tool.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Output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An output action requests an </a:t>
                      </a:r>
                      <a:r>
                        <a:rPr sz="1000" b="1" dirty="0">
                          <a:solidFill>
                            <a:schemeClr val="tx1"/>
                          </a:solidFill>
                        </a:rPr>
                        <a:t>operation or reports a terminal outcome</a:t>
                      </a:r>
                      <a:r>
                        <a:rPr sz="1000" b="0" dirty="0">
                          <a:solidFill>
                            <a:schemeClr val="tx1"/>
                          </a:solidFill>
                        </a:rPr>
                        <a: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Set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A set action updates variables, such as </a:t>
                      </a:r>
                      <a:r>
                        <a:rPr sz="1000" b="1" dirty="0">
                          <a:solidFill>
                            <a:schemeClr val="tx1"/>
                          </a:solidFill>
                        </a:rPr>
                        <a:t>storing a reply, extending observations or incrementing a counter</a:t>
                      </a:r>
                      <a:r>
                        <a:rPr sz="1000" b="0" dirty="0">
                          <a:solidFill>
                            <a:schemeClr val="tx1"/>
                          </a:solidFill>
                        </a:rPr>
                        <a: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a:solidFill>
                            <a:srgbClr val="28285E"/>
                          </a:solidFill>
                        </a:rPr>
                        <a:t>Initial configuration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The initial configuration pairs the </a:t>
                      </a:r>
                      <a:r>
                        <a:rPr sz="1000" b="1" dirty="0">
                          <a:solidFill>
                            <a:schemeClr val="tx1"/>
                          </a:solidFill>
                        </a:rPr>
                        <a:t>first control location</a:t>
                      </a:r>
                      <a:r>
                        <a:rPr sz="1000" b="0" dirty="0">
                          <a:solidFill>
                            <a:schemeClr val="tx1"/>
                          </a:solidFill>
                        </a:rPr>
                        <a:t> with starting variable values: opening messages, zero counters, no observations and running 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r h="0">
                <a:tc>
                  <a:txBody>
                    <a:bodyPr/>
                    <a:lstStyle/>
                    <a:p>
                      <a:pPr>
                        <a:buNone/>
                      </a:pPr>
                      <a:r>
                        <a:rPr sz="1000" b="1">
                          <a:solidFill>
                            <a:srgbClr val="28285E"/>
                          </a:solidFill>
                        </a:rPr>
                        <a:t>Terminal configuration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1" dirty="0">
                          <a:solidFill>
                            <a:schemeClr val="tx1"/>
                          </a:solidFill>
                        </a:rPr>
                        <a:t>No further computation</a:t>
                      </a:r>
                      <a:r>
                        <a:rPr sz="1000" b="0" dirty="0">
                          <a:solidFill>
                            <a:schemeClr val="tx1"/>
                          </a:solidFill>
                        </a:rPr>
                        <a:t> is scheduled from a terminal configuration. The state stores the reason for ending.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8"/>
                  </a:ext>
                </a:extLst>
              </a:tr>
            </a:tbl>
          </a:graphicData>
        </a:graphic>
      </p:graphicFrame>
      <p:sp>
        <p:nvSpPr>
          <p:cNvPr id="4" name="Rectangle 3"/>
          <p:cNvSpPr/>
          <p:nvPr/>
        </p:nvSpPr>
        <p:spPr>
          <a:xfrm>
            <a:off x="1888761" y="425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Table 1 in the lecture notes gives each element its </a:t>
            </a:r>
            <a:r>
              <a:rPr sz="1200" b="1">
                <a:solidFill>
                  <a:schemeClr val="tx2"/>
                </a:solidFill>
              </a:rPr>
              <a:t>symbol</a:t>
            </a:r>
            <a:r>
              <a:rPr sz="1200" b="0">
                <a:solidFill>
                  <a:schemeClr val="tx2"/>
                </a:solidFill>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transition in code: controller to tools</a:t>
            </a:r>
          </a:p>
        </p:txBody>
      </p:sp>
      <p:pic>
        <p:nvPicPr>
          <p:cNvPr id="3" name="Figure one-edge-controller" descr="image.png"/>
          <p:cNvPicPr>
            <a:picLocks noChangeAspect="1"/>
          </p:cNvPicPr>
          <p:nvPr/>
        </p:nvPicPr>
        <p:blipFill>
          <a:blip r:embed="rId3"/>
          <a:stretch>
            <a:fillRect/>
          </a:stretch>
        </p:blipFill>
        <p:spPr>
          <a:xfrm>
            <a:off x="250148" y="720000"/>
            <a:ext cx="6152752" cy="512388"/>
          </a:xfrm>
          <a:prstGeom prst="rect">
            <a:avLst/>
          </a:prstGeom>
        </p:spPr>
      </p:pic>
      <p:sp>
        <p:nvSpPr>
          <p:cNvPr id="4" name="TextBox 3"/>
          <p:cNvSpPr txBox="1"/>
          <p:nvPr/>
        </p:nvSpPr>
        <p:spPr>
          <a:xfrm>
            <a:off x="319251" y="1422388"/>
            <a:ext cx="6014545" cy="200000"/>
          </a:xfrm>
          <a:prstGeom prst="rect">
            <a:avLst/>
          </a:prstGeom>
          <a:noFill/>
        </p:spPr>
        <p:txBody>
          <a:bodyPr wrap="none" lIns="0" tIns="0" rIns="0" bIns="0">
            <a:spAutoFit/>
          </a:bodyPr>
          <a:lstStyle/>
          <a:p>
            <a:r>
              <a:rPr sz="1200" b="1">
                <a:solidFill>
                  <a:srgbClr val="28285E"/>
                </a:solidFill>
              </a:rPr>
              <a:t>graph.py, controller and after_controller (excerpt)</a:t>
            </a:r>
          </a:p>
        </p:txBody>
      </p:sp>
      <p:sp>
        <p:nvSpPr>
          <p:cNvPr id="5" name="CodeWindow"/>
          <p:cNvSpPr/>
          <p:nvPr/>
        </p:nvSpPr>
        <p:spPr>
          <a:xfrm>
            <a:off x="319251" y="1682388"/>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726204"/>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726204"/>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726204"/>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2012388"/>
            <a:ext cx="5437386" cy="1862048"/>
          </a:xfrm>
          <a:prstGeom prst="rect">
            <a:avLst/>
          </a:prstGeom>
          <a:noFill/>
        </p:spPr>
        <p:txBody>
          <a:bodyPr wrap="none" lIns="0" tIns="0" rIns="0" bIns="0" anchor="t">
            <a:spAutoFit/>
          </a:bodyPr>
          <a:lstStyle/>
          <a:p>
            <a:pPr algn="l">
              <a:buNone/>
            </a:pPr>
            <a:r>
              <a:rPr sz="1100" dirty="0">
                <a:solidFill>
                  <a:schemeClr val="accent6"/>
                </a:solidFill>
                <a:latin typeface="Maple Mono NF Light" panose="020F0509060000000000" pitchFamily="49" charset="0"/>
                <a:ea typeface="Maple Mono NF Light" panose="020F0509060000000000" pitchFamily="49" charset="0"/>
              </a:rPr>
              <a:t># ours: the model reply is the input</a:t>
            </a:r>
          </a:p>
          <a:p>
            <a:pPr algn="l">
              <a:buNone/>
            </a:pPr>
            <a:r>
              <a:rPr sz="1100" dirty="0">
                <a:solidFill>
                  <a:schemeClr val="bg1"/>
                </a:solidFill>
                <a:latin typeface="Maple Mono NF Light" panose="020F0509060000000000" pitchFamily="49" charset="0"/>
                <a:ea typeface="Maple Mono NF Light" panose="020F0509060000000000" pitchFamily="49" charset="0"/>
              </a:rPr>
              <a:t>reply = </a:t>
            </a:r>
            <a:r>
              <a:rPr sz="1100" dirty="0" err="1">
                <a:solidFill>
                  <a:schemeClr val="accent2"/>
                </a:solidFill>
                <a:latin typeface="Maple Mono NF Light" panose="020F0509060000000000" pitchFamily="49" charset="0"/>
                <a:ea typeface="Maple Mono NF Light" panose="020F0509060000000000" pitchFamily="49" charset="0"/>
              </a:rPr>
              <a:t>self</a:t>
            </a:r>
            <a:r>
              <a:rPr sz="1100" dirty="0" err="1">
                <a:solidFill>
                  <a:schemeClr val="bg1"/>
                </a:solidFill>
                <a:latin typeface="Maple Mono NF Light" panose="020F0509060000000000" pitchFamily="49" charset="0"/>
                <a:ea typeface="Maple Mono NF Light" panose="020F0509060000000000" pitchFamily="49" charset="0"/>
              </a:rPr>
              <a:t>._call</a:t>
            </a:r>
            <a:r>
              <a:rPr sz="1100" dirty="0">
                <a:solidFill>
                  <a:schemeClr val="bg1"/>
                </a:solidFill>
                <a:latin typeface="Maple Mono NF Light" panose="020F0509060000000000" pitchFamily="49" charset="0"/>
                <a:ea typeface="Maple Mono NF Light" panose="020F0509060000000000" pitchFamily="49" charset="0"/>
              </a:rPr>
              <a:t>(model, state[</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"messages"</a:t>
            </a:r>
            <a:r>
              <a:rPr sz="1100" dirty="0">
                <a:solidFill>
                  <a:schemeClr val="bg1"/>
                </a:solidFill>
                <a:latin typeface="Maple Mono NF Light" panose="020F0509060000000000" pitchFamily="49" charset="0"/>
                <a:ea typeface="Maple Mono NF Light" panose="020F0509060000000000" pitchFamily="49" charset="0"/>
              </a:rPr>
              <a:t>], role=</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"controller"</a:t>
            </a:r>
            <a:r>
              <a:rPr sz="1100" dirty="0">
                <a:solidFill>
                  <a:schemeClr val="bg1"/>
                </a:solidFill>
                <a:latin typeface="Maple Mono NF Light" panose="020F0509060000000000" pitchFamily="49" charset="0"/>
                <a:ea typeface="Maple Mono NF Light" panose="020F0509060000000000" pitchFamily="49" charset="0"/>
              </a:rPr>
              <a:t>)</a:t>
            </a:r>
          </a:p>
          <a:p>
            <a:pPr algn="l">
              <a:buNone/>
            </a:pPr>
            <a:endParaRPr lang="en-US" sz="1100" dirty="0">
              <a:solidFill>
                <a:schemeClr val="accent6"/>
              </a:solidFill>
              <a:latin typeface="Maple Mono NF Light" panose="020F0509060000000000" pitchFamily="49" charset="0"/>
              <a:ea typeface="Maple Mono NF Light" panose="020F0509060000000000" pitchFamily="49" charset="0"/>
            </a:endParaRPr>
          </a:p>
          <a:p>
            <a:pPr algn="l">
              <a:buNone/>
            </a:pPr>
            <a:r>
              <a:rPr sz="1100" dirty="0">
                <a:solidFill>
                  <a:schemeClr val="accent6"/>
                </a:solidFill>
                <a:latin typeface="Maple Mono NF Light" panose="020F0509060000000000" pitchFamily="49" charset="0"/>
                <a:ea typeface="Maple Mono NF Light" panose="020F0509060000000000" pitchFamily="49" charset="0"/>
              </a:rPr>
              <a:t># ours: append the reply and increment the call count</a:t>
            </a:r>
          </a:p>
          <a:p>
            <a:pPr algn="l">
              <a:buNone/>
            </a:pPr>
            <a:r>
              <a:rPr sz="1100" dirty="0">
                <a:solidFill>
                  <a:schemeClr val="accent2"/>
                </a:solidFill>
                <a:latin typeface="Maple Mono NF Light" panose="020F0509060000000000" pitchFamily="49" charset="0"/>
                <a:ea typeface="Maple Mono NF Light" panose="020F0509060000000000" pitchFamily="49" charset="0"/>
              </a:rPr>
              <a:t>return</a:t>
            </a: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"messages"</a:t>
            </a:r>
            <a:r>
              <a:rPr sz="1100" dirty="0">
                <a:solidFill>
                  <a:schemeClr val="bg1"/>
                </a:solidFill>
                <a:latin typeface="Maple Mono NF Light" panose="020F0509060000000000" pitchFamily="49" charset="0"/>
                <a:ea typeface="Maple Mono NF Light" panose="020F0509060000000000" pitchFamily="49" charset="0"/>
              </a:rPr>
              <a:t>: [reply],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a:t>
            </a:r>
            <a:r>
              <a:rPr sz="1100" dirty="0" err="1">
                <a:solidFill>
                  <a:schemeClr val="accent3">
                    <a:lumMod val="55000"/>
                    <a:lumOff val="45000"/>
                  </a:schemeClr>
                </a:solidFill>
                <a:latin typeface="Maple Mono NF Light" panose="020F0509060000000000" pitchFamily="49" charset="0"/>
                <a:ea typeface="Maple Mono NF Light" panose="020F0509060000000000" pitchFamily="49" charset="0"/>
              </a:rPr>
              <a:t>model_calls</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a:t>
            </a: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5">
                    <a:lumMod val="45000"/>
                    <a:lumOff val="55000"/>
                  </a:schemeClr>
                </a:solidFill>
                <a:latin typeface="Maple Mono NF Light" panose="020F0509060000000000" pitchFamily="49" charset="0"/>
                <a:ea typeface="Maple Mono NF Light" panose="020F0509060000000000" pitchFamily="49" charset="0"/>
              </a:rPr>
              <a:t>1</a:t>
            </a:r>
            <a:r>
              <a:rPr sz="1100" dirty="0">
                <a:solidFill>
                  <a:schemeClr val="bg1"/>
                </a:solidFill>
                <a:latin typeface="Maple Mono NF Light" panose="020F0509060000000000" pitchFamily="49" charset="0"/>
                <a:ea typeface="Maple Mono NF Light" panose="020F0509060000000000" pitchFamily="49" charset="0"/>
              </a:rPr>
              <a:t>,</a:t>
            </a:r>
          </a:p>
          <a:p>
            <a:pPr algn="l">
              <a:buNone/>
            </a:pP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"usage"</a:t>
            </a:r>
            <a:r>
              <a:rPr sz="1100" dirty="0">
                <a:solidFill>
                  <a:schemeClr val="bg1"/>
                </a:solidFill>
                <a:latin typeface="Maple Mono NF Light" panose="020F0509060000000000" pitchFamily="49" charset="0"/>
                <a:ea typeface="Maple Mono NF Light" panose="020F0509060000000000" pitchFamily="49" charset="0"/>
              </a:rPr>
              <a:t>: </a:t>
            </a:r>
            <a:r>
              <a:rPr sz="1100" dirty="0" err="1">
                <a:solidFill>
                  <a:schemeClr val="accent2"/>
                </a:solidFill>
                <a:latin typeface="Maple Mono NF Light" panose="020F0509060000000000" pitchFamily="49" charset="0"/>
                <a:ea typeface="Maple Mono NF Light" panose="020F0509060000000000" pitchFamily="49" charset="0"/>
              </a:rPr>
              <a:t>self</a:t>
            </a:r>
            <a:r>
              <a:rPr sz="1100" dirty="0" err="1">
                <a:solidFill>
                  <a:schemeClr val="bg1"/>
                </a:solidFill>
                <a:latin typeface="Maple Mono NF Light" panose="020F0509060000000000" pitchFamily="49" charset="0"/>
                <a:ea typeface="Maple Mono NF Light" panose="020F0509060000000000" pitchFamily="49" charset="0"/>
              </a:rPr>
              <a:t>._usage</a:t>
            </a:r>
            <a:r>
              <a:rPr sz="1100" dirty="0">
                <a:solidFill>
                  <a:schemeClr val="bg1"/>
                </a:solidFill>
                <a:latin typeface="Maple Mono NF Light" panose="020F0509060000000000" pitchFamily="49" charset="0"/>
                <a:ea typeface="Maple Mono NF Light" panose="020F0509060000000000" pitchFamily="49" charset="0"/>
              </a:rPr>
              <a:t>(reply)}</a:t>
            </a:r>
          </a:p>
          <a:p>
            <a:pPr algn="l">
              <a:buNone/>
            </a:pPr>
            <a:endParaRPr lang="en-US" sz="1100" dirty="0">
              <a:solidFill>
                <a:schemeClr val="accent6"/>
              </a:solidFill>
              <a:latin typeface="Maple Mono NF Light" panose="020F0509060000000000" pitchFamily="49" charset="0"/>
              <a:ea typeface="Maple Mono NF Light" panose="020F0509060000000000" pitchFamily="49" charset="0"/>
            </a:endParaRPr>
          </a:p>
          <a:p>
            <a:pPr algn="l">
              <a:buNone/>
            </a:pPr>
            <a:r>
              <a:rPr sz="1100" dirty="0">
                <a:solidFill>
                  <a:schemeClr val="accent6"/>
                </a:solidFill>
                <a:latin typeface="Maple Mono NF Light" panose="020F0509060000000000" pitchFamily="49" charset="0"/>
                <a:ea typeface="Maple Mono NF Light" panose="020F0509060000000000" pitchFamily="49" charset="0"/>
              </a:rPr>
              <a:t># ours: the guard tests whether the reply has tool calls</a:t>
            </a:r>
          </a:p>
          <a:p>
            <a:pPr algn="l">
              <a:buNone/>
            </a:pPr>
            <a:r>
              <a:rPr sz="1100" dirty="0">
                <a:solidFill>
                  <a:schemeClr val="accent2"/>
                </a:solidFill>
                <a:latin typeface="Maple Mono NF Light" panose="020F0509060000000000" pitchFamily="49" charset="0"/>
                <a:ea typeface="Maple Mono NF Light" panose="020F0509060000000000" pitchFamily="49" charset="0"/>
              </a:rPr>
              <a:t>if</a:t>
            </a:r>
            <a:r>
              <a:rPr sz="1100" dirty="0">
                <a:solidFill>
                  <a:schemeClr val="bg1"/>
                </a:solidFill>
                <a:latin typeface="Maple Mono NF Light" panose="020F0509060000000000" pitchFamily="49" charset="0"/>
                <a:ea typeface="Maple Mono NF Light" panose="020F0509060000000000" pitchFamily="49" charset="0"/>
              </a:rPr>
              <a:t> state[</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"messages"</a:t>
            </a:r>
            <a:r>
              <a:rPr sz="1100" dirty="0">
                <a:solidFill>
                  <a:schemeClr val="bg1"/>
                </a:solidFill>
                <a:latin typeface="Maple Mono NF Light" panose="020F0509060000000000" pitchFamily="49" charset="0"/>
                <a:ea typeface="Maple Mono NF Light" panose="020F0509060000000000" pitchFamily="49" charset="0"/>
              </a:rPr>
              <a:t>][-</a:t>
            </a:r>
            <a:r>
              <a:rPr sz="1100" dirty="0">
                <a:solidFill>
                  <a:schemeClr val="accent5">
                    <a:lumMod val="45000"/>
                    <a:lumOff val="55000"/>
                  </a:schemeClr>
                </a:solidFill>
                <a:latin typeface="Maple Mono NF Light" panose="020F0509060000000000" pitchFamily="49" charset="0"/>
                <a:ea typeface="Maple Mono NF Light" panose="020F0509060000000000" pitchFamily="49" charset="0"/>
              </a:rPr>
              <a:t>1</a:t>
            </a:r>
            <a:r>
              <a:rPr sz="1100" dirty="0">
                <a:solidFill>
                  <a:schemeClr val="bg1"/>
                </a:solidFill>
                <a:latin typeface="Maple Mono NF Light" panose="020F0509060000000000" pitchFamily="49" charset="0"/>
                <a:ea typeface="Maple Mono NF Light" panose="020F0509060000000000" pitchFamily="49" charset="0"/>
              </a:rPr>
              <a:t>].</a:t>
            </a:r>
            <a:r>
              <a:rPr sz="1100" dirty="0" err="1">
                <a:solidFill>
                  <a:schemeClr val="accent4">
                    <a:lumMod val="70000"/>
                    <a:lumOff val="30000"/>
                  </a:schemeClr>
                </a:solidFill>
                <a:latin typeface="Maple Mono NF Light" panose="020F0509060000000000" pitchFamily="49" charset="0"/>
                <a:ea typeface="Maple Mono NF Light" panose="020F0509060000000000" pitchFamily="49" charset="0"/>
              </a:rPr>
              <a:t>tool_calls</a:t>
            </a:r>
            <a:r>
              <a:rPr sz="1100" dirty="0">
                <a:solidFill>
                  <a:schemeClr val="bg1"/>
                </a:solidFill>
                <a:latin typeface="Maple Mono NF Light" panose="020F0509060000000000" pitchFamily="49" charset="0"/>
                <a:ea typeface="Maple Mono NF Light" panose="020F0509060000000000" pitchFamily="49" charset="0"/>
              </a:rPr>
              <a:t>:</a:t>
            </a:r>
          </a:p>
          <a:p>
            <a:pPr algn="l">
              <a:buNone/>
            </a:pP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2"/>
                </a:solidFill>
                <a:latin typeface="Maple Mono NF Light" panose="020F0509060000000000" pitchFamily="49" charset="0"/>
                <a:ea typeface="Maple Mono NF Light" panose="020F0509060000000000" pitchFamily="49" charset="0"/>
              </a:rPr>
              <a:t>return</a:t>
            </a: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"tools"</a:t>
            </a:r>
          </a:p>
          <a:p>
            <a:pPr algn="l">
              <a:buNone/>
            </a:pPr>
            <a:r>
              <a:rPr sz="1100" dirty="0">
                <a:solidFill>
                  <a:schemeClr val="accent2"/>
                </a:solidFill>
                <a:latin typeface="Maple Mono NF Light" panose="020F0509060000000000" pitchFamily="49" charset="0"/>
                <a:ea typeface="Maple Mono NF Light" panose="020F0509060000000000" pitchFamily="49" charset="0"/>
              </a:rPr>
              <a:t>return</a:t>
            </a: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"submit"</a:t>
            </a:r>
          </a:p>
        </p:txBody>
      </p:sp>
      <p:sp>
        <p:nvSpPr>
          <p:cNvPr id="10" name="Rectangle 9"/>
          <p:cNvSpPr/>
          <p:nvPr/>
        </p:nvSpPr>
        <p:spPr>
          <a:xfrm>
            <a:off x="319251" y="4162388"/>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reply is the input. The tool-call test is the guard. The runtime applies the set action by appending the reply and adding one to </a:t>
            </a:r>
            <a:r>
              <a:rPr sz="1200" b="0">
                <a:solidFill>
                  <a:schemeClr val="tx2"/>
                </a:solidFill>
                <a:latin typeface="Maple Mono NF"/>
              </a:rPr>
              <a:t>model_calls</a:t>
            </a:r>
            <a:r>
              <a:rPr sz="1200" b="1">
                <a:solidFill>
                  <a:schemeClr val="tx2"/>
                </a:solidFill>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Behaviour, trace and computation tree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A behaviour is a sequence of steps. It excludes stuttering steps, which have no input, state change or output.</a:t>
            </a:r>
          </a:p>
        </p:txBody>
      </p:sp>
      <p:pic>
        <p:nvPicPr>
          <p:cNvPr id="4" name="Figure abstract-tree" descr="abstract-tree.png"/>
          <p:cNvPicPr>
            <a:picLocks noChangeAspect="1"/>
          </p:cNvPicPr>
          <p:nvPr/>
        </p:nvPicPr>
        <p:blipFill>
          <a:blip r:embed="rId2"/>
          <a:stretch>
            <a:fillRect/>
          </a:stretch>
        </p:blipFill>
        <p:spPr>
          <a:xfrm>
            <a:off x="250148" y="1290000"/>
            <a:ext cx="6152752" cy="2399319"/>
          </a:xfrm>
          <a:prstGeom prst="rect">
            <a:avLst/>
          </a:prstGeom>
        </p:spPr>
      </p:pic>
      <p:sp>
        <p:nvSpPr>
          <p:cNvPr id="5" name="Rectangle 4"/>
          <p:cNvSpPr/>
          <p:nvPr/>
        </p:nvSpPr>
        <p:spPr>
          <a:xfrm>
            <a:off x="319251" y="3879319"/>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With the same inputs, a deterministic machine follows one sequence of steps. A nondeterministic machine can allow several next steps, so its computation tree branches.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event log as a trace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When the program exits, unsaved state is lost. Saved logs and workspace files can remain available.</a:t>
            </a:r>
          </a:p>
        </p:txBody>
      </p:sp>
      <p:sp>
        <p:nvSpPr>
          <p:cNvPr id="4" name="TextBox 3"/>
          <p:cNvSpPr txBox="1"/>
          <p:nvPr/>
        </p:nvSpPr>
        <p:spPr>
          <a:xfrm>
            <a:off x="319251" y="1290000"/>
            <a:ext cx="6014545" cy="200000"/>
          </a:xfrm>
          <a:prstGeom prst="rect">
            <a:avLst/>
          </a:prstGeom>
          <a:noFill/>
        </p:spPr>
        <p:txBody>
          <a:bodyPr wrap="none" lIns="0" tIns="0" rIns="0" bIns="0">
            <a:spAutoFit/>
          </a:bodyPr>
          <a:lstStyle/>
          <a:p>
            <a:r>
              <a:rPr sz="1200" b="0">
                <a:solidFill>
                  <a:srgbClr val="28285E"/>
                </a:solidFill>
                <a:latin typeface="Maple Mono NF"/>
              </a:rPr>
              <a:t>bc284c6b</a:t>
            </a:r>
            <a:r>
              <a:rPr sz="1200" b="1">
                <a:solidFill>
                  <a:srgbClr val="28285E"/>
                </a:solidFill>
              </a:rPr>
              <a:t>, events 19 to 22 (selected fields)</a:t>
            </a:r>
          </a:p>
        </p:txBody>
      </p:sp>
      <p:sp>
        <p:nvSpPr>
          <p:cNvPr id="5" name="CodeWindow"/>
          <p:cNvSpPr/>
          <p:nvPr/>
        </p:nvSpPr>
        <p:spPr>
          <a:xfrm>
            <a:off x="319251" y="1550000"/>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5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5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5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880000"/>
            <a:ext cx="5714545" cy="1890000"/>
          </a:xfrm>
          <a:prstGeom prst="rect">
            <a:avLst/>
          </a:prstGeom>
          <a:noFill/>
        </p:spPr>
        <p:txBody>
          <a:bodyPr wrap="none" lIns="0" tIns="0" rIns="0" bIns="0" anchor="t">
            <a:spAutoFit/>
          </a:bodyPr>
          <a:lstStyle/>
          <a:p>
            <a:pPr algn="l">
              <a:buNone/>
            </a:pPr>
            <a:r>
              <a:rPr sz="1100" b="0" dirty="0">
                <a:solidFill>
                  <a:schemeClr val="bg1"/>
                </a:solidFill>
                <a:latin typeface="Maple Mono NF"/>
              </a:rPr>
              <a:t>{</a:t>
            </a:r>
            <a:r>
              <a:rPr sz="1100" b="0" dirty="0">
                <a:solidFill>
                  <a:schemeClr val="accent2"/>
                </a:solidFill>
                <a:latin typeface="Maple Mono NF"/>
              </a:rPr>
              <a:t>"step"</a:t>
            </a:r>
            <a:r>
              <a:rPr sz="1100" b="0" dirty="0">
                <a:solidFill>
                  <a:schemeClr val="bg1"/>
                </a:solidFill>
                <a:latin typeface="Maple Mono NF"/>
              </a:rPr>
              <a:t>: </a:t>
            </a:r>
            <a:r>
              <a:rPr sz="1100" b="0" dirty="0">
                <a:solidFill>
                  <a:schemeClr val="accent5">
                    <a:lumMod val="45000"/>
                    <a:lumOff val="55000"/>
                  </a:schemeClr>
                </a:solidFill>
                <a:latin typeface="Maple Mono NF"/>
              </a:rPr>
              <a:t>19</a:t>
            </a:r>
            <a:r>
              <a:rPr sz="1100" b="0" dirty="0">
                <a:solidFill>
                  <a:schemeClr val="bg1"/>
                </a:solidFill>
                <a:latin typeface="Maple Mono NF"/>
              </a:rPr>
              <a:t>, </a:t>
            </a:r>
            <a:r>
              <a:rPr sz="1100" b="0" dirty="0">
                <a:solidFill>
                  <a:schemeClr val="accent2"/>
                </a:solidFill>
                <a:latin typeface="Maple Mono NF"/>
              </a:rPr>
              <a:t>"kind"</a:t>
            </a:r>
            <a:r>
              <a:rPr sz="1100" b="0" dirty="0">
                <a:solidFill>
                  <a:schemeClr val="bg1"/>
                </a:solidFill>
                <a:latin typeface="Maple Mono NF"/>
              </a:rPr>
              <a:t>: </a:t>
            </a:r>
            <a:r>
              <a:rPr sz="1100" b="0" dirty="0">
                <a:solidFill>
                  <a:schemeClr val="accent3">
                    <a:lumMod val="55000"/>
                    <a:lumOff val="45000"/>
                  </a:schemeClr>
                </a:solidFill>
                <a:latin typeface="Maple Mono NF"/>
              </a:rPr>
              <a:t>"</a:t>
            </a:r>
            <a:r>
              <a:rPr sz="1100" b="0" dirty="0" err="1">
                <a:solidFill>
                  <a:schemeClr val="accent3">
                    <a:lumMod val="55000"/>
                    <a:lumOff val="45000"/>
                  </a:schemeClr>
                </a:solidFill>
                <a:latin typeface="Maple Mono NF"/>
              </a:rPr>
              <a:t>model_call</a:t>
            </a:r>
            <a:r>
              <a:rPr sz="1100" b="0" dirty="0">
                <a:solidFill>
                  <a:schemeClr val="accent3">
                    <a:lumMod val="55000"/>
                    <a:lumOff val="45000"/>
                  </a:schemeClr>
                </a:solidFill>
                <a:latin typeface="Maple Mono NF"/>
              </a:rPr>
              <a:t>"</a:t>
            </a:r>
            <a:r>
              <a:rPr sz="1100" b="0" dirty="0">
                <a:solidFill>
                  <a:schemeClr val="bg1"/>
                </a:solidFill>
                <a:latin typeface="Maple Mono NF"/>
              </a:rPr>
              <a:t>, </a:t>
            </a:r>
            <a:r>
              <a:rPr sz="1100" b="0" dirty="0">
                <a:solidFill>
                  <a:schemeClr val="accent2"/>
                </a:solidFill>
                <a:latin typeface="Maple Mono NF"/>
              </a:rPr>
              <a:t>"role"</a:t>
            </a:r>
            <a:r>
              <a:rPr sz="1100" b="0" dirty="0">
                <a:solidFill>
                  <a:schemeClr val="bg1"/>
                </a:solidFill>
                <a:latin typeface="Maple Mono NF"/>
              </a:rPr>
              <a:t>: </a:t>
            </a:r>
            <a:r>
              <a:rPr sz="1100" b="0" dirty="0">
                <a:solidFill>
                  <a:schemeClr val="accent3">
                    <a:lumMod val="55000"/>
                    <a:lumOff val="45000"/>
                  </a:schemeClr>
                </a:solidFill>
                <a:latin typeface="Maple Mono NF"/>
              </a:rPr>
              <a:t>"controller"</a:t>
            </a:r>
            <a:r>
              <a:rPr sz="1100" b="0" dirty="0">
                <a:solidFill>
                  <a:schemeClr val="bg1"/>
                </a:solidFill>
                <a:latin typeface="Maple Mono NF"/>
              </a:rPr>
              <a:t>,</a:t>
            </a:r>
          </a:p>
          <a:p>
            <a:pPr algn="l">
              <a:buNone/>
            </a:pPr>
            <a:r>
              <a:rPr sz="1100" b="0" dirty="0">
                <a:solidFill>
                  <a:schemeClr val="bg1"/>
                </a:solidFill>
                <a:latin typeface="Maple Mono NF"/>
              </a:rPr>
              <a:t>  </a:t>
            </a:r>
            <a:r>
              <a:rPr sz="1100" b="1" dirty="0">
                <a:solidFill>
                  <a:schemeClr val="accent4">
                    <a:lumMod val="70000"/>
                    <a:lumOff val="30000"/>
                  </a:schemeClr>
                </a:solidFill>
                <a:latin typeface="Maple Mono NF"/>
              </a:rPr>
              <a:t>"</a:t>
            </a:r>
            <a:r>
              <a:rPr sz="1100" b="1" dirty="0" err="1">
                <a:solidFill>
                  <a:schemeClr val="accent4">
                    <a:lumMod val="70000"/>
                    <a:lumOff val="30000"/>
                  </a:schemeClr>
                </a:solidFill>
                <a:latin typeface="Maple Mono NF"/>
              </a:rPr>
              <a:t>tool_calls</a:t>
            </a:r>
            <a:r>
              <a:rPr sz="1100" b="1" dirty="0">
                <a:solidFill>
                  <a:schemeClr val="accent4">
                    <a:lumMod val="70000"/>
                    <a:lumOff val="30000"/>
                  </a:schemeClr>
                </a:solidFill>
                <a:latin typeface="Maple Mono NF"/>
              </a:rPr>
              <a:t>": []</a:t>
            </a:r>
            <a:r>
              <a:rPr sz="1100" b="0" dirty="0">
                <a:solidFill>
                  <a:schemeClr val="bg1"/>
                </a:solidFill>
                <a:latin typeface="Maple Mono NF"/>
              </a:rPr>
              <a:t>}</a:t>
            </a:r>
          </a:p>
          <a:p>
            <a:pPr algn="l">
              <a:buNone/>
            </a:pPr>
            <a:r>
              <a:rPr sz="1100" b="0" dirty="0">
                <a:solidFill>
                  <a:schemeClr val="bg1"/>
                </a:solidFill>
                <a:latin typeface="Maple Mono NF"/>
              </a:rPr>
              <a:t>{</a:t>
            </a:r>
            <a:r>
              <a:rPr sz="1100" b="0" dirty="0">
                <a:solidFill>
                  <a:schemeClr val="accent2"/>
                </a:solidFill>
                <a:latin typeface="Maple Mono NF"/>
              </a:rPr>
              <a:t>"step"</a:t>
            </a:r>
            <a:r>
              <a:rPr sz="1100" b="0" dirty="0">
                <a:solidFill>
                  <a:schemeClr val="bg1"/>
                </a:solidFill>
                <a:latin typeface="Maple Mono NF"/>
              </a:rPr>
              <a:t>: </a:t>
            </a:r>
            <a:r>
              <a:rPr sz="1100" b="0" dirty="0">
                <a:solidFill>
                  <a:schemeClr val="accent5">
                    <a:lumMod val="45000"/>
                    <a:lumOff val="55000"/>
                  </a:schemeClr>
                </a:solidFill>
                <a:latin typeface="Maple Mono NF"/>
              </a:rPr>
              <a:t>20</a:t>
            </a:r>
            <a:r>
              <a:rPr sz="1100" b="0" dirty="0">
                <a:solidFill>
                  <a:schemeClr val="bg1"/>
                </a:solidFill>
                <a:latin typeface="Maple Mono NF"/>
              </a:rPr>
              <a:t>, </a:t>
            </a:r>
            <a:r>
              <a:rPr sz="1100" b="0" dirty="0">
                <a:solidFill>
                  <a:schemeClr val="accent2"/>
                </a:solidFill>
                <a:latin typeface="Maple Mono NF"/>
              </a:rPr>
              <a:t>"kind"</a:t>
            </a:r>
            <a:r>
              <a:rPr sz="1100" b="0" dirty="0">
                <a:solidFill>
                  <a:schemeClr val="bg1"/>
                </a:solidFill>
                <a:latin typeface="Maple Mono NF"/>
              </a:rPr>
              <a:t>: </a:t>
            </a:r>
            <a:r>
              <a:rPr sz="1100" b="0" dirty="0">
                <a:solidFill>
                  <a:schemeClr val="accent3">
                    <a:lumMod val="55000"/>
                    <a:lumOff val="45000"/>
                  </a:schemeClr>
                </a:solidFill>
                <a:latin typeface="Maple Mono NF"/>
              </a:rPr>
              <a:t>"routing"</a:t>
            </a:r>
            <a:r>
              <a:rPr sz="1100" b="0" dirty="0">
                <a:solidFill>
                  <a:schemeClr val="bg1"/>
                </a:solidFill>
                <a:latin typeface="Maple Mono NF"/>
              </a:rPr>
              <a:t>, </a:t>
            </a:r>
            <a:r>
              <a:rPr sz="1100" b="0" dirty="0">
                <a:solidFill>
                  <a:schemeClr val="accent2"/>
                </a:solidFill>
                <a:latin typeface="Maple Mono NF"/>
              </a:rPr>
              <a:t>"decision"</a:t>
            </a:r>
            <a:r>
              <a:rPr sz="1100" b="0" dirty="0">
                <a:solidFill>
                  <a:schemeClr val="bg1"/>
                </a:solidFill>
                <a:latin typeface="Maple Mono NF"/>
              </a:rPr>
              <a:t>: </a:t>
            </a:r>
            <a:r>
              <a:rPr sz="1100" b="0" dirty="0">
                <a:solidFill>
                  <a:schemeClr val="accent3">
                    <a:lumMod val="55000"/>
                    <a:lumOff val="45000"/>
                  </a:schemeClr>
                </a:solidFill>
                <a:latin typeface="Maple Mono NF"/>
              </a:rPr>
              <a:t>"submit"</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2"/>
                </a:solidFill>
                <a:latin typeface="Maple Mono NF"/>
              </a:rPr>
              <a:t>"by"</a:t>
            </a:r>
            <a:r>
              <a:rPr sz="1100" b="0" dirty="0">
                <a:solidFill>
                  <a:schemeClr val="bg1"/>
                </a:solidFill>
                <a:latin typeface="Maple Mono NF"/>
              </a:rPr>
              <a:t>: </a:t>
            </a:r>
            <a:r>
              <a:rPr sz="1100" b="0" dirty="0">
                <a:solidFill>
                  <a:schemeClr val="accent3">
                    <a:lumMod val="55000"/>
                    <a:lumOff val="45000"/>
                  </a:schemeClr>
                </a:solidFill>
                <a:latin typeface="Maple Mono NF"/>
              </a:rPr>
              <a:t>"model"</a:t>
            </a:r>
            <a:r>
              <a:rPr sz="1100" b="0" dirty="0">
                <a:solidFill>
                  <a:schemeClr val="bg1"/>
                </a:solidFill>
                <a:latin typeface="Maple Mono NF"/>
              </a:rPr>
              <a:t>}</a:t>
            </a:r>
          </a:p>
          <a:p>
            <a:pPr algn="l">
              <a:buNone/>
            </a:pPr>
            <a:r>
              <a:rPr sz="1100" b="0" dirty="0">
                <a:solidFill>
                  <a:schemeClr val="bg1"/>
                </a:solidFill>
                <a:latin typeface="Maple Mono NF"/>
              </a:rPr>
              <a:t>{</a:t>
            </a:r>
            <a:r>
              <a:rPr sz="1100" b="0" dirty="0">
                <a:solidFill>
                  <a:schemeClr val="accent2"/>
                </a:solidFill>
                <a:latin typeface="Maple Mono NF"/>
              </a:rPr>
              <a:t>"step"</a:t>
            </a:r>
            <a:r>
              <a:rPr sz="1100" b="0" dirty="0">
                <a:solidFill>
                  <a:schemeClr val="bg1"/>
                </a:solidFill>
                <a:latin typeface="Maple Mono NF"/>
              </a:rPr>
              <a:t>: </a:t>
            </a:r>
            <a:r>
              <a:rPr sz="1100" b="0" dirty="0">
                <a:solidFill>
                  <a:schemeClr val="accent5">
                    <a:lumMod val="45000"/>
                    <a:lumOff val="55000"/>
                  </a:schemeClr>
                </a:solidFill>
                <a:latin typeface="Maple Mono NF"/>
              </a:rPr>
              <a:t>21</a:t>
            </a:r>
            <a:r>
              <a:rPr sz="1100" b="0" dirty="0">
                <a:solidFill>
                  <a:schemeClr val="bg1"/>
                </a:solidFill>
                <a:latin typeface="Maple Mono NF"/>
              </a:rPr>
              <a:t>, </a:t>
            </a:r>
            <a:r>
              <a:rPr sz="1100" b="0" dirty="0">
                <a:solidFill>
                  <a:schemeClr val="accent2"/>
                </a:solidFill>
                <a:latin typeface="Maple Mono NF"/>
              </a:rPr>
              <a:t>"kind"</a:t>
            </a:r>
            <a:r>
              <a:rPr sz="1100" b="0" dirty="0">
                <a:solidFill>
                  <a:schemeClr val="bg1"/>
                </a:solidFill>
                <a:latin typeface="Maple Mono NF"/>
              </a:rPr>
              <a:t>: </a:t>
            </a:r>
            <a:r>
              <a:rPr sz="1100" b="0" dirty="0">
                <a:solidFill>
                  <a:schemeClr val="accent3">
                    <a:lumMod val="55000"/>
                    <a:lumOff val="45000"/>
                  </a:schemeClr>
                </a:solidFill>
                <a:latin typeface="Maple Mono NF"/>
              </a:rPr>
              <a:t>"</a:t>
            </a:r>
            <a:r>
              <a:rPr sz="1100" b="0" dirty="0" err="1">
                <a:solidFill>
                  <a:schemeClr val="accent3">
                    <a:lumMod val="55000"/>
                    <a:lumOff val="45000"/>
                  </a:schemeClr>
                </a:solidFill>
                <a:latin typeface="Maple Mono NF"/>
              </a:rPr>
              <a:t>state_change</a:t>
            </a:r>
            <a:r>
              <a:rPr sz="1100" b="0" dirty="0">
                <a:solidFill>
                  <a:schemeClr val="accent3">
                    <a:lumMod val="55000"/>
                    <a:lumOff val="45000"/>
                  </a:schemeClr>
                </a:solidFill>
                <a:latin typeface="Maple Mono NF"/>
              </a:rPr>
              <a:t>"</a:t>
            </a:r>
            <a:r>
              <a:rPr sz="1100" b="0" dirty="0">
                <a:solidFill>
                  <a:schemeClr val="bg1"/>
                </a:solidFill>
                <a:latin typeface="Maple Mono NF"/>
              </a:rPr>
              <a:t>, </a:t>
            </a:r>
            <a:r>
              <a:rPr sz="1100" b="0" dirty="0">
                <a:solidFill>
                  <a:schemeClr val="accent2"/>
                </a:solidFill>
                <a:latin typeface="Maple Mono NF"/>
              </a:rPr>
              <a:t>"node"</a:t>
            </a:r>
            <a:r>
              <a:rPr sz="1100" b="0" dirty="0">
                <a:solidFill>
                  <a:schemeClr val="bg1"/>
                </a:solidFill>
                <a:latin typeface="Maple Mono NF"/>
              </a:rPr>
              <a:t>: </a:t>
            </a:r>
            <a:r>
              <a:rPr sz="1100" b="0" dirty="0">
                <a:solidFill>
                  <a:schemeClr val="accent3">
                    <a:lumMod val="55000"/>
                    <a:lumOff val="45000"/>
                  </a:schemeClr>
                </a:solidFill>
                <a:latin typeface="Maple Mono NF"/>
              </a:rPr>
              <a:t>"submit"</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2"/>
                </a:solidFill>
                <a:latin typeface="Maple Mono NF"/>
              </a:rPr>
              <a:t>"checks"</a:t>
            </a:r>
            <a:r>
              <a:rPr sz="1100" b="0" dirty="0">
                <a:solidFill>
                  <a:schemeClr val="bg1"/>
                </a:solidFill>
                <a:latin typeface="Maple Mono NF"/>
              </a:rPr>
              <a:t>: {</a:t>
            </a:r>
            <a:r>
              <a:rPr sz="1100" b="0" dirty="0">
                <a:solidFill>
                  <a:schemeClr val="accent2"/>
                </a:solidFill>
                <a:latin typeface="Maple Mono NF"/>
              </a:rPr>
              <a:t>"applies"</a:t>
            </a:r>
            <a:r>
              <a:rPr sz="1100" b="0" dirty="0">
                <a:solidFill>
                  <a:schemeClr val="bg1"/>
                </a:solidFill>
                <a:latin typeface="Maple Mono NF"/>
              </a:rPr>
              <a:t>: </a:t>
            </a:r>
            <a:r>
              <a:rPr sz="1100" b="0" dirty="0">
                <a:solidFill>
                  <a:schemeClr val="accent5">
                    <a:lumMod val="45000"/>
                    <a:lumOff val="55000"/>
                  </a:schemeClr>
                </a:solidFill>
                <a:latin typeface="Maple Mono NF"/>
              </a:rPr>
              <a:t>true</a:t>
            </a:r>
            <a:r>
              <a:rPr sz="1100" b="0" dirty="0">
                <a:solidFill>
                  <a:schemeClr val="bg1"/>
                </a:solidFill>
                <a:latin typeface="Maple Mono NF"/>
              </a:rPr>
              <a:t>, </a:t>
            </a:r>
            <a:r>
              <a:rPr sz="1100" b="0" dirty="0">
                <a:solidFill>
                  <a:schemeClr val="accent2"/>
                </a:solidFill>
                <a:latin typeface="Maple Mono NF"/>
              </a:rPr>
              <a:t>"</a:t>
            </a:r>
            <a:r>
              <a:rPr sz="1100" b="0" dirty="0" err="1">
                <a:solidFill>
                  <a:schemeClr val="accent2"/>
                </a:solidFill>
                <a:latin typeface="Maple Mono NF"/>
              </a:rPr>
              <a:t>touches_line</a:t>
            </a:r>
            <a:r>
              <a:rPr sz="1100" b="0" dirty="0">
                <a:solidFill>
                  <a:schemeClr val="accent2"/>
                </a:solidFill>
                <a:latin typeface="Maple Mono NF"/>
              </a:rPr>
              <a:t>"</a:t>
            </a:r>
            <a:r>
              <a:rPr sz="1100" b="0" dirty="0">
                <a:solidFill>
                  <a:schemeClr val="bg1"/>
                </a:solidFill>
                <a:latin typeface="Maple Mono NF"/>
              </a:rPr>
              <a:t>: </a:t>
            </a:r>
            <a:r>
              <a:rPr sz="1100" b="0" dirty="0">
                <a:solidFill>
                  <a:schemeClr val="accent5">
                    <a:lumMod val="45000"/>
                    <a:lumOff val="55000"/>
                  </a:schemeClr>
                </a:solidFill>
                <a:latin typeface="Maple Mono NF"/>
              </a:rPr>
              <a:t>true</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2"/>
                </a:solidFill>
                <a:latin typeface="Maple Mono NF"/>
              </a:rPr>
              <a:t>"</a:t>
            </a:r>
            <a:r>
              <a:rPr sz="1100" b="0" dirty="0" err="1">
                <a:solidFill>
                  <a:schemeClr val="accent2"/>
                </a:solidFill>
                <a:latin typeface="Maple Mono NF"/>
              </a:rPr>
              <a:t>rescan_clean</a:t>
            </a:r>
            <a:r>
              <a:rPr sz="1100" b="0" dirty="0">
                <a:solidFill>
                  <a:schemeClr val="accent2"/>
                </a:solidFill>
                <a:latin typeface="Maple Mono NF"/>
              </a:rPr>
              <a:t>"</a:t>
            </a:r>
            <a:r>
              <a:rPr sz="1100" b="0" dirty="0">
                <a:solidFill>
                  <a:schemeClr val="bg1"/>
                </a:solidFill>
                <a:latin typeface="Maple Mono NF"/>
              </a:rPr>
              <a:t>: </a:t>
            </a:r>
            <a:r>
              <a:rPr sz="1100" b="0" dirty="0">
                <a:solidFill>
                  <a:schemeClr val="accent5">
                    <a:lumMod val="45000"/>
                    <a:lumOff val="55000"/>
                  </a:schemeClr>
                </a:solidFill>
                <a:latin typeface="Maple Mono NF"/>
              </a:rPr>
              <a:t>true</a:t>
            </a:r>
            <a:r>
              <a:rPr sz="1100" b="0" dirty="0">
                <a:solidFill>
                  <a:schemeClr val="bg1"/>
                </a:solidFill>
                <a:latin typeface="Maple Mono NF"/>
              </a:rPr>
              <a:t>}}</a:t>
            </a:r>
          </a:p>
          <a:p>
            <a:pPr algn="l">
              <a:buNone/>
            </a:pPr>
            <a:r>
              <a:rPr sz="1100" b="0" dirty="0">
                <a:solidFill>
                  <a:schemeClr val="bg1"/>
                </a:solidFill>
                <a:latin typeface="Maple Mono NF"/>
              </a:rPr>
              <a:t>{</a:t>
            </a:r>
            <a:r>
              <a:rPr sz="1100" b="0" dirty="0">
                <a:solidFill>
                  <a:schemeClr val="accent2"/>
                </a:solidFill>
                <a:latin typeface="Maple Mono NF"/>
              </a:rPr>
              <a:t>"step"</a:t>
            </a:r>
            <a:r>
              <a:rPr sz="1100" b="0" dirty="0">
                <a:solidFill>
                  <a:schemeClr val="bg1"/>
                </a:solidFill>
                <a:latin typeface="Maple Mono NF"/>
              </a:rPr>
              <a:t>: </a:t>
            </a:r>
            <a:r>
              <a:rPr sz="1100" b="0" dirty="0">
                <a:solidFill>
                  <a:schemeClr val="accent5">
                    <a:lumMod val="45000"/>
                    <a:lumOff val="55000"/>
                  </a:schemeClr>
                </a:solidFill>
                <a:latin typeface="Maple Mono NF"/>
              </a:rPr>
              <a:t>22</a:t>
            </a:r>
            <a:r>
              <a:rPr sz="1100" b="0" dirty="0">
                <a:solidFill>
                  <a:schemeClr val="bg1"/>
                </a:solidFill>
                <a:latin typeface="Maple Mono NF"/>
              </a:rPr>
              <a:t>, </a:t>
            </a:r>
            <a:r>
              <a:rPr sz="1100" b="0" dirty="0">
                <a:solidFill>
                  <a:schemeClr val="accent2"/>
                </a:solidFill>
                <a:latin typeface="Maple Mono NF"/>
              </a:rPr>
              <a:t>"kind"</a:t>
            </a:r>
            <a:r>
              <a:rPr sz="1100" b="0" dirty="0">
                <a:solidFill>
                  <a:schemeClr val="bg1"/>
                </a:solidFill>
                <a:latin typeface="Maple Mono NF"/>
              </a:rPr>
              <a:t>: </a:t>
            </a:r>
            <a:r>
              <a:rPr sz="1100" b="0" dirty="0">
                <a:solidFill>
                  <a:schemeClr val="accent3">
                    <a:lumMod val="55000"/>
                    <a:lumOff val="45000"/>
                  </a:schemeClr>
                </a:solidFill>
                <a:latin typeface="Maple Mono NF"/>
              </a:rPr>
              <a:t>"routing"</a:t>
            </a:r>
            <a:r>
              <a:rPr sz="1100" b="0" dirty="0">
                <a:solidFill>
                  <a:schemeClr val="bg1"/>
                </a:solidFill>
                <a:latin typeface="Maple Mono NF"/>
              </a:rPr>
              <a:t>, </a:t>
            </a:r>
            <a:r>
              <a:rPr sz="1100" b="0" dirty="0">
                <a:solidFill>
                  <a:schemeClr val="accent2"/>
                </a:solidFill>
                <a:latin typeface="Maple Mono NF"/>
              </a:rPr>
              <a:t>"decision"</a:t>
            </a:r>
            <a:r>
              <a:rPr sz="1100" b="0" dirty="0">
                <a:solidFill>
                  <a:schemeClr val="bg1"/>
                </a:solidFill>
                <a:latin typeface="Maple Mono NF"/>
              </a:rPr>
              <a:t>: </a:t>
            </a:r>
            <a:r>
              <a:rPr sz="1100" b="0" dirty="0">
                <a:solidFill>
                  <a:schemeClr val="accent3">
                    <a:lumMod val="55000"/>
                    <a:lumOff val="45000"/>
                  </a:schemeClr>
                </a:solidFill>
                <a:latin typeface="Maple Mono NF"/>
              </a:rPr>
              <a:t>"validate"</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2"/>
                </a:solidFill>
                <a:latin typeface="Maple Mono NF"/>
              </a:rPr>
              <a:t>"by"</a:t>
            </a:r>
            <a:r>
              <a:rPr sz="1100" b="0" dirty="0">
                <a:solidFill>
                  <a:schemeClr val="bg1"/>
                </a:solidFill>
                <a:latin typeface="Maple Mono NF"/>
              </a:rPr>
              <a:t>: </a:t>
            </a:r>
            <a:r>
              <a:rPr sz="1100" b="0" dirty="0">
                <a:solidFill>
                  <a:schemeClr val="accent3">
                    <a:lumMod val="55000"/>
                    <a:lumOff val="45000"/>
                  </a:schemeClr>
                </a:solidFill>
                <a:latin typeface="Maple Mono NF"/>
              </a:rPr>
              <a:t>"runtime"</a:t>
            </a:r>
            <a:r>
              <a:rPr sz="1100" b="0" dirty="0">
                <a:solidFill>
                  <a:schemeClr val="bg1"/>
                </a:solidFill>
                <a:latin typeface="Maple Mono NF"/>
              </a:rPr>
              <a:t>}</a:t>
            </a:r>
          </a:p>
        </p:txBody>
      </p:sp>
      <p:sp>
        <p:nvSpPr>
          <p:cNvPr id="10" name="Rectangle 9"/>
          <p:cNvSpPr/>
          <p:nvPr/>
        </p:nvSpPr>
        <p:spPr>
          <a:xfrm>
            <a:off x="319251" y="4030000"/>
            <a:ext cx="601454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State holds the run's current information. A trace records its inputs, states and outputs over time.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state machine</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Each arrow shows its guard and set action. Output actions are omitted.</a:t>
            </a:r>
          </a:p>
        </p:txBody>
      </p:sp>
      <p:pic>
        <p:nvPicPr>
          <p:cNvPr id="4" name="Figure efsm-labelled" descr="efsm-labelled.png"/>
          <p:cNvPicPr>
            <a:picLocks noChangeAspect="1"/>
          </p:cNvPicPr>
          <p:nvPr/>
        </p:nvPicPr>
        <p:blipFill>
          <a:blip r:embed="rId3"/>
          <a:stretch>
            <a:fillRect/>
          </a:stretch>
        </p:blipFill>
        <p:spPr>
          <a:xfrm>
            <a:off x="250148" y="1090000"/>
            <a:ext cx="6152752" cy="2927316"/>
          </a:xfrm>
          <a:prstGeom prst="rect">
            <a:avLst/>
          </a:prstGeom>
        </p:spPr>
      </p:pic>
      <p:sp>
        <p:nvSpPr>
          <p:cNvPr id="5" name="Rectangle 4"/>
          <p:cNvSpPr/>
          <p:nvPr/>
        </p:nvSpPr>
        <p:spPr>
          <a:xfrm>
            <a:off x="319251" y="4213834"/>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1 in the lecture notes gives the full guards and state updates.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forward path</a:t>
            </a:r>
          </a:p>
        </p:txBody>
      </p:sp>
      <p:sp>
        <p:nvSpPr>
          <p:cNvPr id="3" name="Content Placeholder 2"/>
          <p:cNvSpPr>
            <a:spLocks noGrp="1"/>
          </p:cNvSpPr>
          <p:nvPr>
            <p:ph idx="1"/>
          </p:nvPr>
        </p:nvSpPr>
        <p:spPr>
          <a:xfrm>
            <a:off x="319251" y="700000"/>
            <a:ext cx="6014545" cy="507264"/>
          </a:xfrm>
        </p:spPr>
        <p:txBody>
          <a:bodyPr wrap="square" anchor="ctr">
            <a:normAutofit fontScale="70000" lnSpcReduction="20000"/>
          </a:bodyPr>
          <a:lstStyle/>
          <a:p>
            <a:pPr marL="0" indent="0">
              <a:buNone/>
            </a:pPr>
            <a:r>
              <a:rPr sz="1400" b="1">
                <a:solidFill>
                  <a:srgbClr val="28285E"/>
                </a:solidFill>
              </a:rPr>
              <a:t>After the candidate patch passes the checks in submit, validate decides whether to accept it.</a:t>
            </a:r>
          </a:p>
        </p:txBody>
      </p:sp>
      <p:pic>
        <p:nvPicPr>
          <p:cNvPr id="4" name="Figure efsm-forward" descr="efsm-forward.png"/>
          <p:cNvPicPr>
            <a:picLocks noChangeAspect="1"/>
          </p:cNvPicPr>
          <p:nvPr/>
        </p:nvPicPr>
        <p:blipFill>
          <a:blip r:embed="rId3"/>
          <a:stretch>
            <a:fillRect/>
          </a:stretch>
        </p:blipFill>
        <p:spPr>
          <a:xfrm>
            <a:off x="250148" y="1297264"/>
            <a:ext cx="6152752" cy="2663452"/>
          </a:xfrm>
          <a:prstGeom prst="rect">
            <a:avLst/>
          </a:prstGeom>
        </p:spPr>
      </p:pic>
      <p:sp>
        <p:nvSpPr>
          <p:cNvPr id="5" name="Rectangle 4"/>
          <p:cNvSpPr/>
          <p:nvPr/>
        </p:nvSpPr>
        <p:spPr>
          <a:xfrm>
            <a:off x="319251" y="4155970"/>
            <a:ext cx="6014545" cy="49479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The agent stores the plan in its state. It carries out the plan’s subgoals through the control locations already defined in the graph.</a:t>
            </a:r>
            <a:endParaRPr sz="1200" b="1" dirty="0">
              <a:solidFill>
                <a:srgbClr val="28285E"/>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feedback edges</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The figure shows the tool loop, plan revision and candidate repair.</a:t>
            </a:r>
          </a:p>
        </p:txBody>
      </p:sp>
      <p:pic>
        <p:nvPicPr>
          <p:cNvPr id="4" name="Figure efsm-feedback" descr="efsm-feedback.png"/>
          <p:cNvPicPr>
            <a:picLocks noChangeAspect="1"/>
          </p:cNvPicPr>
          <p:nvPr/>
        </p:nvPicPr>
        <p:blipFill>
          <a:blip r:embed="rId3"/>
          <a:stretch>
            <a:fillRect/>
          </a:stretch>
        </p:blipFill>
        <p:spPr>
          <a:xfrm>
            <a:off x="250148" y="1090000"/>
            <a:ext cx="6152752" cy="2659877"/>
          </a:xfrm>
          <a:prstGeom prst="rect">
            <a:avLst/>
          </a:prstGeom>
        </p:spPr>
      </p:pic>
      <p:sp>
        <p:nvSpPr>
          <p:cNvPr id="5" name="Rectangle 4"/>
          <p:cNvSpPr/>
          <p:nvPr/>
        </p:nvSpPr>
        <p:spPr>
          <a:xfrm>
            <a:off x="319251" y="3952297"/>
            <a:ext cx="6014545" cy="657961"/>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If tools detects a stall before the plan has been revised, control returns to plan. If a check fails, submit adds the failure reasons to the messages and returns control to controller.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exits</a:t>
            </a:r>
          </a:p>
        </p:txBody>
      </p:sp>
      <p:sp>
        <p:nvSpPr>
          <p:cNvPr id="3" name="Content Placeholder 2"/>
          <p:cNvSpPr>
            <a:spLocks noGrp="1"/>
          </p:cNvSpPr>
          <p:nvPr>
            <p:ph idx="1"/>
          </p:nvPr>
        </p:nvSpPr>
        <p:spPr>
          <a:xfrm>
            <a:off x="319251" y="700000"/>
            <a:ext cx="6014545" cy="507264"/>
          </a:xfrm>
        </p:spPr>
        <p:txBody>
          <a:bodyPr wrap="square" anchor="ctr">
            <a:normAutofit fontScale="77500" lnSpcReduction="20000"/>
          </a:bodyPr>
          <a:lstStyle/>
          <a:p>
            <a:pPr marL="0" indent="0">
              <a:buNone/>
            </a:pPr>
            <a:r>
              <a:rPr sz="1400" b="1">
                <a:solidFill>
                  <a:srgbClr val="28285E"/>
                </a:solidFill>
              </a:rPr>
              <a:t>A run may end because it exhausts its call budget or stalls again after a plan revision.</a:t>
            </a:r>
          </a:p>
        </p:txBody>
      </p:sp>
      <p:pic>
        <p:nvPicPr>
          <p:cNvPr id="4" name="Figure efsm-exits" descr="efsm-exits.png"/>
          <p:cNvPicPr>
            <a:picLocks noChangeAspect="1"/>
          </p:cNvPicPr>
          <p:nvPr/>
        </p:nvPicPr>
        <p:blipFill>
          <a:blip r:embed="rId2"/>
          <a:stretch>
            <a:fillRect/>
          </a:stretch>
        </p:blipFill>
        <p:spPr>
          <a:xfrm>
            <a:off x="250148" y="1297264"/>
            <a:ext cx="6152752" cy="2663452"/>
          </a:xfrm>
          <a:prstGeom prst="rect">
            <a:avLst/>
          </a:prstGeom>
        </p:spPr>
      </p:pic>
      <p:sp>
        <p:nvSpPr>
          <p:cNvPr id="5" name="Rectangle 4"/>
          <p:cNvSpPr/>
          <p:nvPr/>
        </p:nvSpPr>
        <p:spPr>
          <a:xfrm>
            <a:off x="319251" y="4150716"/>
            <a:ext cx="6014545" cy="6508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Before each model call, plan, controller and validate end the run if the count has reached 40. The controller also ends the run if another stall occurs after plan revision.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recorded run through the planning agent</a:t>
            </a:r>
          </a:p>
        </p:txBody>
      </p:sp>
      <p:sp>
        <p:nvSpPr>
          <p:cNvPr id="3" name="Content Placeholder 2"/>
          <p:cNvSpPr>
            <a:spLocks noGrp="1"/>
          </p:cNvSpPr>
          <p:nvPr>
            <p:ph idx="1"/>
          </p:nvPr>
        </p:nvSpPr>
        <p:spPr>
          <a:xfrm>
            <a:off x="319251" y="700000"/>
            <a:ext cx="6014545" cy="507264"/>
          </a:xfrm>
        </p:spPr>
        <p:txBody>
          <a:bodyPr wrap="square" anchor="ctr">
            <a:normAutofit fontScale="70000" lnSpcReduction="20000"/>
          </a:bodyPr>
          <a:lstStyle/>
          <a:p>
            <a:pPr marL="0" indent="0">
              <a:buNone/>
            </a:pPr>
            <a:r>
              <a:rPr sz="1400" b="1">
                <a:solidFill>
                  <a:srgbClr val="28285E"/>
                </a:solidFill>
              </a:rPr>
              <a:t>The blue arrows show the recorded trajectory: the sequence of transitions taken by run </a:t>
            </a:r>
            <a:r>
              <a:rPr sz="1400" b="0">
                <a:solidFill>
                  <a:srgbClr val="28285E"/>
                </a:solidFill>
                <a:latin typeface="Maple Mono NF"/>
              </a:rPr>
              <a:t>bc284c6b</a:t>
            </a:r>
            <a:r>
              <a:rPr sz="1400" b="1">
                <a:solidFill>
                  <a:srgbClr val="28285E"/>
                </a:solidFill>
              </a:rPr>
              <a:t>.</a:t>
            </a:r>
          </a:p>
        </p:txBody>
      </p:sp>
      <p:pic>
        <p:nvPicPr>
          <p:cNvPr id="4" name="Figure efsm-run" descr="efsm-run.png"/>
          <p:cNvPicPr>
            <a:picLocks noChangeAspect="1"/>
          </p:cNvPicPr>
          <p:nvPr/>
        </p:nvPicPr>
        <p:blipFill>
          <a:blip r:embed="rId3"/>
          <a:stretch>
            <a:fillRect/>
          </a:stretch>
        </p:blipFill>
        <p:spPr>
          <a:xfrm>
            <a:off x="250148" y="1297264"/>
            <a:ext cx="6152752" cy="2409619"/>
          </a:xfrm>
          <a:prstGeom prst="rect">
            <a:avLst/>
          </a:prstGeom>
        </p:spPr>
      </p:pic>
      <p:sp>
        <p:nvSpPr>
          <p:cNvPr id="5" name="Rectangle 4"/>
          <p:cNvSpPr/>
          <p:nvPr/>
        </p:nvSpPr>
        <p:spPr>
          <a:xfrm>
            <a:off x="319251" y="3908136"/>
            <a:ext cx="6014545" cy="652385"/>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The run repairs a Bandit B608 alert at line 46 of </a:t>
            </a:r>
            <a:r>
              <a:rPr sz="1200" b="0" dirty="0" err="1">
                <a:solidFill>
                  <a:srgbClr val="28285E"/>
                </a:solidFill>
                <a:latin typeface="Maple Mono NF"/>
              </a:rPr>
              <a:t>testcode</a:t>
            </a:r>
            <a:r>
              <a:rPr sz="1200" b="0" dirty="0">
                <a:solidFill>
                  <a:srgbClr val="28285E"/>
                </a:solidFill>
                <a:latin typeface="Maple Mono NF"/>
              </a:rPr>
              <a:t>/BenchmarkTest00283.py</a:t>
            </a:r>
            <a:r>
              <a:rPr sz="1200" b="1" dirty="0">
                <a:solidFill>
                  <a:srgbClr val="28285E"/>
                </a:solidFill>
              </a:rPr>
              <a:t> in seven model calls: one in plan, five in controller and one in validate.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recorded run in the computation tree</a:t>
            </a:r>
          </a:p>
        </p:txBody>
      </p:sp>
      <p:sp>
        <p:nvSpPr>
          <p:cNvPr id="3" name="Content Placeholder 2"/>
          <p:cNvSpPr>
            <a:spLocks noGrp="1"/>
          </p:cNvSpPr>
          <p:nvPr>
            <p:ph idx="1"/>
          </p:nvPr>
        </p:nvSpPr>
        <p:spPr>
          <a:xfrm>
            <a:off x="319251" y="700000"/>
            <a:ext cx="6014545" cy="742608"/>
          </a:xfrm>
        </p:spPr>
        <p:txBody>
          <a:bodyPr wrap="square" anchor="ctr">
            <a:normAutofit/>
          </a:bodyPr>
          <a:lstStyle/>
          <a:p>
            <a:pPr marL="0" indent="0">
              <a:buNone/>
            </a:pPr>
            <a:r>
              <a:rPr sz="1050" b="1" dirty="0">
                <a:solidFill>
                  <a:srgbClr val="28285E"/>
                </a:solidFill>
              </a:rPr>
              <a:t>A trajectory is the path a run follows through the computation tree. Every visit to controller gets a separate node showing that visit's configuration and possible replies.</a:t>
            </a:r>
          </a:p>
        </p:txBody>
      </p:sp>
      <p:pic>
        <p:nvPicPr>
          <p:cNvPr id="4" name="Figure trace-tree" descr="trace-tree.png"/>
          <p:cNvPicPr>
            <a:picLocks noChangeAspect="1"/>
          </p:cNvPicPr>
          <p:nvPr/>
        </p:nvPicPr>
        <p:blipFill>
          <a:blip r:embed="rId2"/>
          <a:stretch>
            <a:fillRect/>
          </a:stretch>
        </p:blipFill>
        <p:spPr>
          <a:xfrm>
            <a:off x="250148" y="1532608"/>
            <a:ext cx="6152752" cy="1612270"/>
          </a:xfrm>
          <a:prstGeom prst="rect">
            <a:avLst/>
          </a:prstGeom>
        </p:spPr>
      </p:pic>
      <p:sp>
        <p:nvSpPr>
          <p:cNvPr id="5" name="Rectangle 4"/>
          <p:cNvSpPr/>
          <p:nvPr/>
        </p:nvSpPr>
        <p:spPr>
          <a:xfrm>
            <a:off x="319251" y="3379486"/>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machine diagram shows permitted transitions. The tree shows possible sequences of transitions from the initial configuration.</a:t>
            </a:r>
          </a:p>
        </p:txBody>
      </p:sp>
      <p:sp>
        <p:nvSpPr>
          <p:cNvPr id="6" name="Rectangle 5"/>
          <p:cNvSpPr/>
          <p:nvPr/>
        </p:nvSpPr>
        <p:spPr>
          <a:xfrm>
            <a:off x="319251" y="4180287"/>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2 in the notes shows more of the tree. Each count is the number of model calls completed on reaching that node.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event log records and omits</a:t>
            </a:r>
          </a:p>
        </p:txBody>
      </p:sp>
      <p:sp>
        <p:nvSpPr>
          <p:cNvPr id="3" name="Content Placeholder 2"/>
          <p:cNvSpPr>
            <a:spLocks noGrp="1"/>
          </p:cNvSpPr>
          <p:nvPr>
            <p:ph idx="1"/>
          </p:nvPr>
        </p:nvSpPr>
        <p:spPr>
          <a:xfrm>
            <a:off x="319251" y="691756"/>
            <a:ext cx="6014545" cy="2309728"/>
          </a:xfrm>
        </p:spPr>
        <p:txBody>
          <a:bodyPr wrap="square" anchor="ctr">
            <a:normAutofit fontScale="92500"/>
          </a:bodyPr>
          <a:lstStyle/>
          <a:p>
            <a:pPr marL="0" indent="0">
              <a:buNone/>
            </a:pPr>
            <a:r>
              <a:rPr sz="1400" b="1">
                <a:solidFill>
                  <a:srgbClr val="28285E"/>
                </a:solidFill>
              </a:rPr>
              <a:t>The event log records selected inputs, outputs and state values.</a:t>
            </a:r>
          </a:p>
          <a:p>
            <a:pPr marL="400050" indent="-285750">
              <a:spcBef>
                <a:spcPts val="600"/>
              </a:spcBef>
              <a:spcAft>
                <a:spcPts val="600"/>
              </a:spcAft>
              <a:buClr>
                <a:srgbClr val="28285E"/>
              </a:buClr>
              <a:buSzPts val="1260"/>
              <a:buFont typeface="+mn-lt"/>
              <a:buChar char="●"/>
            </a:pPr>
            <a:r>
              <a:rPr sz="1400" b="1">
                <a:solidFill>
                  <a:schemeClr val="tx1"/>
                </a:solidFill>
              </a:rPr>
              <a:t>A successful </a:t>
            </a:r>
            <a:r>
              <a:rPr sz="1400" b="0">
                <a:solidFill>
                  <a:schemeClr val="tx1"/>
                </a:solidFill>
                <a:latin typeface="Maple Mono NF"/>
              </a:rPr>
              <a:t>tool_result</a:t>
            </a:r>
            <a:r>
              <a:rPr sz="1400" b="1">
                <a:solidFill>
                  <a:schemeClr val="tx1"/>
                </a:solidFill>
              </a:rPr>
              <a:t> event</a:t>
            </a:r>
            <a:r>
              <a:rPr sz="1400" b="0">
                <a:solidFill>
                  <a:schemeClr val="tx1"/>
                </a:solidFill>
              </a:rPr>
              <a:t> records the result’s length, in characters. It omits the returned text.</a:t>
            </a:r>
          </a:p>
          <a:p>
            <a:pPr marL="400050" indent="-285750">
              <a:spcBef>
                <a:spcPts val="600"/>
              </a:spcBef>
              <a:spcAft>
                <a:spcPts val="600"/>
              </a:spcAft>
              <a:buClr>
                <a:srgbClr val="28285E"/>
              </a:buClr>
              <a:buSzPts val="1260"/>
              <a:buFont typeface="+mn-lt"/>
              <a:buChar char="●"/>
            </a:pPr>
            <a:r>
              <a:rPr sz="1400" b="1">
                <a:solidFill>
                  <a:schemeClr val="tx1"/>
                </a:solidFill>
              </a:rPr>
              <a:t>The log omits routing events</a:t>
            </a:r>
            <a:r>
              <a:rPr sz="1400" b="0">
                <a:solidFill>
                  <a:schemeClr val="tx1"/>
                </a:solidFill>
              </a:rPr>
              <a:t> from tools and plan to controller. We infer these routes from the next controller call and transition rules.</a:t>
            </a:r>
          </a:p>
          <a:p>
            <a:pPr marL="400050" indent="-285750">
              <a:spcBef>
                <a:spcPts val="600"/>
              </a:spcBef>
              <a:spcAft>
                <a:spcPts val="600"/>
              </a:spcAft>
              <a:buClr>
                <a:srgbClr val="28285E"/>
              </a:buClr>
              <a:buSzPts val="1260"/>
              <a:buFont typeface="+mn-lt"/>
              <a:buChar char="●"/>
            </a:pPr>
            <a:r>
              <a:rPr sz="1400" b="1">
                <a:solidFill>
                  <a:schemeClr val="tx1"/>
                </a:solidFill>
              </a:rPr>
              <a:t>The log omits the call counter.</a:t>
            </a:r>
            <a:r>
              <a:rPr sz="1400" b="0">
                <a:solidFill>
                  <a:schemeClr val="tx1"/>
                </a:solidFill>
              </a:rPr>
              <a:t> We start at zero and add one for each logged model call.</a:t>
            </a:r>
          </a:p>
        </p:txBody>
      </p:sp>
      <p:pic>
        <p:nvPicPr>
          <p:cNvPr id="4" name="Figure event-strip" descr="event-strip.png"/>
          <p:cNvPicPr>
            <a:picLocks noChangeAspect="1"/>
          </p:cNvPicPr>
          <p:nvPr/>
        </p:nvPicPr>
        <p:blipFill>
          <a:blip r:embed="rId2"/>
          <a:stretch>
            <a:fillRect/>
          </a:stretch>
        </p:blipFill>
        <p:spPr>
          <a:xfrm>
            <a:off x="726524" y="3188151"/>
            <a:ext cx="5200000" cy="804381"/>
          </a:xfrm>
          <a:prstGeom prst="rect">
            <a:avLst/>
          </a:prstGeom>
        </p:spPr>
      </p:pic>
      <p:sp>
        <p:nvSpPr>
          <p:cNvPr id="5" name="Rectangle 4"/>
          <p:cNvSpPr/>
          <p:nvPr/>
        </p:nvSpPr>
        <p:spPr>
          <a:xfrm>
            <a:off x="319251" y="417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claim about a run must say whether it is recorded directly in the log or inferred from logged events and transition rules.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E7678-B9DA-2A41-8B83-EE5659BD084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5C51EA-A5EB-56F8-A605-1233C0D831AD}"/>
              </a:ext>
            </a:extLst>
          </p:cNvPr>
          <p:cNvSpPr txBox="1"/>
          <p:nvPr/>
        </p:nvSpPr>
        <p:spPr>
          <a:xfrm>
            <a:off x="929000" y="265338"/>
            <a:ext cx="5000000" cy="1323439"/>
          </a:xfrm>
          <a:prstGeom prst="rect">
            <a:avLst/>
          </a:prstGeom>
          <a:noFill/>
        </p:spPr>
        <p:txBody>
          <a:bodyPr wrap="square" anchor="ctr">
            <a:spAutoFit/>
          </a:bodyPr>
          <a:lstStyle/>
          <a:p>
            <a:pPr algn="ctr"/>
            <a:r>
              <a:rPr lang="en-US" sz="4000" b="1" dirty="0">
                <a:solidFill>
                  <a:schemeClr val="bg1"/>
                </a:solidFill>
                <a:latin typeface="+mj-lt"/>
              </a:rPr>
              <a:t>State records and transitions</a:t>
            </a:r>
          </a:p>
        </p:txBody>
      </p:sp>
      <p:cxnSp>
        <p:nvCxnSpPr>
          <p:cNvPr id="4" name="Straight Arrow Connector 3">
            <a:extLst>
              <a:ext uri="{FF2B5EF4-FFF2-40B4-BE49-F238E27FC236}">
                <a16:creationId xmlns:a16="http://schemas.microsoft.com/office/drawing/2014/main" id="{FEDE2300-201D-CED8-440A-D73DCFA438FA}"/>
              </a:ext>
            </a:extLst>
          </p:cNvPr>
          <p:cNvCxnSpPr>
            <a:cxnSpLocks/>
          </p:cNvCxnSpPr>
          <p:nvPr/>
        </p:nvCxnSpPr>
        <p:spPr>
          <a:xfrm>
            <a:off x="1063835" y="2018156"/>
            <a:ext cx="0" cy="2160870"/>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6" name="Oval 7">
            <a:extLst>
              <a:ext uri="{FF2B5EF4-FFF2-40B4-BE49-F238E27FC236}">
                <a16:creationId xmlns:a16="http://schemas.microsoft.com/office/drawing/2014/main" id="{05C04B32-2131-61C8-366B-9EBBC94462CD}"/>
              </a:ext>
            </a:extLst>
          </p:cNvPr>
          <p:cNvSpPr/>
          <p:nvPr/>
        </p:nvSpPr>
        <p:spPr>
          <a:xfrm>
            <a:off x="951758" y="21880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B33CC29-0A5D-3C16-5451-85D8235EA5E0}"/>
              </a:ext>
            </a:extLst>
          </p:cNvPr>
          <p:cNvSpPr/>
          <p:nvPr/>
        </p:nvSpPr>
        <p:spPr>
          <a:xfrm>
            <a:off x="951758" y="27217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20AD6F6-99D2-3D81-2166-E16EC5504085}"/>
              </a:ext>
            </a:extLst>
          </p:cNvPr>
          <p:cNvSpPr/>
          <p:nvPr/>
        </p:nvSpPr>
        <p:spPr>
          <a:xfrm>
            <a:off x="951758" y="3255453"/>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E901151-0E06-D8AD-A8E5-0C7626960B23}"/>
              </a:ext>
            </a:extLst>
          </p:cNvPr>
          <p:cNvSpPr/>
          <p:nvPr/>
        </p:nvSpPr>
        <p:spPr>
          <a:xfrm>
            <a:off x="951758" y="378559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2">
            <a:extLst>
              <a:ext uri="{FF2B5EF4-FFF2-40B4-BE49-F238E27FC236}">
                <a16:creationId xmlns:a16="http://schemas.microsoft.com/office/drawing/2014/main" id="{935E5BD2-1892-8DB0-0624-FDC80790F777}"/>
              </a:ext>
            </a:extLst>
          </p:cNvPr>
          <p:cNvSpPr txBox="1"/>
          <p:nvPr/>
        </p:nvSpPr>
        <p:spPr>
          <a:xfrm>
            <a:off x="1259524" y="2146243"/>
            <a:ext cx="5074272" cy="338554"/>
          </a:xfrm>
          <a:prstGeom prst="rect">
            <a:avLst/>
          </a:prstGeom>
          <a:noFill/>
        </p:spPr>
        <p:txBody>
          <a:bodyPr wrap="none" rtlCol="0">
            <a:spAutoFit/>
          </a:bodyPr>
          <a:lstStyle/>
          <a:p>
            <a:r>
              <a:rPr lang="en-US" sz="1600" b="1" dirty="0">
                <a:solidFill>
                  <a:schemeClr val="tx2"/>
                </a:solidFill>
                <a:latin typeface="+mj-lt"/>
              </a:rPr>
              <a:t>Agents as state machines</a:t>
            </a:r>
          </a:p>
        </p:txBody>
      </p:sp>
      <p:sp>
        <p:nvSpPr>
          <p:cNvPr id="9" name="TextBox 8">
            <a:extLst>
              <a:ext uri="{FF2B5EF4-FFF2-40B4-BE49-F238E27FC236}">
                <a16:creationId xmlns:a16="http://schemas.microsoft.com/office/drawing/2014/main" id="{2A45822E-7869-6460-AA7E-74C57BD3344C}"/>
              </a:ext>
            </a:extLst>
          </p:cNvPr>
          <p:cNvSpPr txBox="1"/>
          <p:nvPr/>
        </p:nvSpPr>
        <p:spPr>
          <a:xfrm>
            <a:off x="1259524" y="2679943"/>
            <a:ext cx="2779928" cy="338554"/>
          </a:xfrm>
          <a:prstGeom prst="rect">
            <a:avLst/>
          </a:prstGeom>
          <a:noFill/>
        </p:spPr>
        <p:txBody>
          <a:bodyPr wrap="none" rtlCol="0">
            <a:spAutoFit/>
          </a:bodyPr>
          <a:lstStyle/>
          <a:p>
            <a:r>
              <a:rPr lang="en-US" sz="1600" b="1" dirty="0">
                <a:solidFill>
                  <a:schemeClr val="tx2"/>
                </a:solidFill>
                <a:latin typeface="+mj-lt"/>
              </a:rPr>
              <a:t>State, records and reducers</a:t>
            </a:r>
          </a:p>
        </p:txBody>
      </p:sp>
      <p:sp>
        <p:nvSpPr>
          <p:cNvPr id="12" name="TextBox 11">
            <a:extLst>
              <a:ext uri="{FF2B5EF4-FFF2-40B4-BE49-F238E27FC236}">
                <a16:creationId xmlns:a16="http://schemas.microsoft.com/office/drawing/2014/main" id="{2CEA84B5-DE2F-5734-A33A-711F91744B62}"/>
              </a:ext>
            </a:extLst>
          </p:cNvPr>
          <p:cNvSpPr txBox="1"/>
          <p:nvPr/>
        </p:nvSpPr>
        <p:spPr>
          <a:xfrm>
            <a:off x="1259524" y="3743778"/>
            <a:ext cx="5074272" cy="338554"/>
          </a:xfrm>
          <a:prstGeom prst="rect">
            <a:avLst/>
          </a:prstGeom>
          <a:noFill/>
        </p:spPr>
        <p:txBody>
          <a:bodyPr wrap="none" rtlCol="0">
            <a:spAutoFit/>
          </a:bodyPr>
          <a:lstStyle/>
          <a:p>
            <a:r>
              <a:rPr lang="en-US" sz="1600" b="1" dirty="0">
                <a:solidFill>
                  <a:schemeClr val="tx2">
                    <a:lumMod val="55000"/>
                  </a:schemeClr>
                </a:solidFill>
                <a:latin typeface="Fira Sans" panose="020B0503050000020004" pitchFamily="34" charset="0"/>
              </a:rPr>
              <a:t>Scheduling and tool execution</a:t>
            </a:r>
          </a:p>
        </p:txBody>
      </p:sp>
      <p:sp>
        <p:nvSpPr>
          <p:cNvPr id="11" name="TextBox 10">
            <a:extLst>
              <a:ext uri="{FF2B5EF4-FFF2-40B4-BE49-F238E27FC236}">
                <a16:creationId xmlns:a16="http://schemas.microsoft.com/office/drawing/2014/main" id="{BD48DFFD-FE99-260E-1CDF-DE244B6F62B2}"/>
              </a:ext>
            </a:extLst>
          </p:cNvPr>
          <p:cNvSpPr txBox="1"/>
          <p:nvPr/>
        </p:nvSpPr>
        <p:spPr>
          <a:xfrm>
            <a:off x="1259524" y="3210082"/>
            <a:ext cx="5074272" cy="338554"/>
          </a:xfrm>
          <a:prstGeom prst="rect">
            <a:avLst/>
          </a:prstGeom>
          <a:noFill/>
        </p:spPr>
        <p:txBody>
          <a:bodyPr wrap="none" rtlCol="0">
            <a:spAutoFit/>
          </a:bodyPr>
          <a:lstStyle/>
          <a:p>
            <a:r>
              <a:rPr lang="en-US" sz="1600" b="1" dirty="0">
                <a:solidFill>
                  <a:schemeClr val="tx2">
                    <a:lumMod val="55000"/>
                  </a:schemeClr>
                </a:solidFill>
                <a:latin typeface="+mj-lt"/>
              </a:rPr>
              <a:t>Routing, feedback and stopping</a:t>
            </a:r>
            <a:endParaRPr lang="en-US" sz="1600" i="1" dirty="0">
              <a:solidFill>
                <a:schemeClr val="tx2"/>
              </a:solidFill>
              <a:latin typeface="+mj-lt"/>
            </a:endParaRPr>
          </a:p>
        </p:txBody>
      </p:sp>
      <p:pic>
        <p:nvPicPr>
          <p:cNvPr id="14" name="Picture 13">
            <a:extLst>
              <a:ext uri="{FF2B5EF4-FFF2-40B4-BE49-F238E27FC236}">
                <a16:creationId xmlns:a16="http://schemas.microsoft.com/office/drawing/2014/main" id="{D75118A8-2854-89C9-2CFE-05FBDEEF248D}"/>
              </a:ext>
            </a:extLst>
          </p:cNvPr>
          <p:cNvPicPr>
            <a:picLocks noChangeAspect="1"/>
          </p:cNvPicPr>
          <p:nvPr/>
        </p:nvPicPr>
        <p:blipFill>
          <a:blip r:embed="rId3">
            <a:alphaModFix amt="70000"/>
          </a:blip>
          <a:stretch>
            <a:fillRect/>
          </a:stretch>
        </p:blipFill>
        <p:spPr>
          <a:xfrm>
            <a:off x="825474" y="1933482"/>
            <a:ext cx="5732295" cy="618993"/>
          </a:xfrm>
          <a:prstGeom prst="rect">
            <a:avLst/>
          </a:prstGeom>
        </p:spPr>
      </p:pic>
      <p:pic>
        <p:nvPicPr>
          <p:cNvPr id="2" name="Picture 1">
            <a:extLst>
              <a:ext uri="{FF2B5EF4-FFF2-40B4-BE49-F238E27FC236}">
                <a16:creationId xmlns:a16="http://schemas.microsoft.com/office/drawing/2014/main" id="{6CA543F6-A0FC-6CDD-3D8D-AA771398569A}"/>
              </a:ext>
            </a:extLst>
          </p:cNvPr>
          <p:cNvPicPr>
            <a:picLocks noChangeAspect="1"/>
          </p:cNvPicPr>
          <p:nvPr/>
        </p:nvPicPr>
        <p:blipFill>
          <a:blip r:embed="rId3">
            <a:alphaModFix amt="70000"/>
          </a:blip>
          <a:stretch>
            <a:fillRect/>
          </a:stretch>
        </p:blipFill>
        <p:spPr>
          <a:xfrm>
            <a:off x="789895" y="3091883"/>
            <a:ext cx="5732295" cy="1214612"/>
          </a:xfrm>
          <a:prstGeom prst="rect">
            <a:avLst/>
          </a:prstGeom>
        </p:spPr>
      </p:pic>
    </p:spTree>
    <p:extLst>
      <p:ext uri="{BB962C8B-B14F-4D97-AF65-F5344CB8AC3E}">
        <p14:creationId xmlns:p14="http://schemas.microsoft.com/office/powerpoint/2010/main" val="24913657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records and schemas</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The diagram shows control flow: which computation may run next. The state record supplies the values it reads.</a:t>
            </a:r>
          </a:p>
          <a:p>
            <a:pPr marL="400050" indent="-285750">
              <a:spcBef>
                <a:spcPts val="600"/>
              </a:spcBef>
              <a:spcAft>
                <a:spcPts val="600"/>
              </a:spcAft>
              <a:buClr>
                <a:srgbClr val="28285E"/>
              </a:buClr>
              <a:buSzPts val="1260"/>
              <a:buFont typeface="+mn-lt"/>
              <a:buChar char="●"/>
            </a:pPr>
            <a:r>
              <a:rPr sz="1400" b="1">
                <a:solidFill>
                  <a:schemeClr val="tx1"/>
                </a:solidFill>
              </a:rPr>
              <a:t>Each record instance</a:t>
            </a:r>
            <a:r>
              <a:rPr sz="1400" b="0">
                <a:solidFill>
                  <a:schemeClr val="tx1"/>
                </a:solidFill>
              </a:rPr>
              <a:t> holds current values. The runtime tracks the control location, which identifies the next computation.</a:t>
            </a:r>
          </a:p>
          <a:p>
            <a:pPr marL="400050" indent="-285750">
              <a:spcBef>
                <a:spcPts val="600"/>
              </a:spcBef>
              <a:spcAft>
                <a:spcPts val="600"/>
              </a:spcAft>
              <a:buClr>
                <a:srgbClr val="28285E"/>
              </a:buClr>
              <a:buSzPts val="1260"/>
              <a:buFont typeface="+mn-lt"/>
              <a:buChar char="●"/>
            </a:pPr>
            <a:r>
              <a:rPr sz="1400" b="1">
                <a:solidFill>
                  <a:schemeClr val="tx1"/>
                </a:solidFill>
              </a:rPr>
              <a:t>The schema</a:t>
            </a:r>
            <a:r>
              <a:rPr sz="1400" b="0">
                <a:solidFill>
                  <a:schemeClr val="tx1"/>
                </a:solidFill>
              </a:rPr>
              <a:t> declares field names and types. Nodes return partial updates containing only the fields they update.</a:t>
            </a:r>
          </a:p>
          <a:p>
            <a:pPr marL="400050" indent="-285750">
              <a:spcBef>
                <a:spcPts val="600"/>
              </a:spcBef>
              <a:spcAft>
                <a:spcPts val="600"/>
              </a:spcAft>
              <a:buClr>
                <a:srgbClr val="28285E"/>
              </a:buClr>
              <a:buSzPts val="1260"/>
              <a:buFont typeface="+mn-lt"/>
              <a:buChar char="●"/>
            </a:pPr>
            <a:r>
              <a:rPr sz="1400" b="0">
                <a:solidFill>
                  <a:schemeClr val="tx1"/>
                </a:solidFill>
                <a:latin typeface="Maple Mono NF"/>
              </a:rPr>
              <a:t>StateGraph(AgentState)</a:t>
            </a:r>
            <a:r>
              <a:rPr sz="1400" b="0">
                <a:solidFill>
                  <a:schemeClr val="tx1"/>
                </a:solidFill>
              </a:rPr>
              <a:t> uses the field declarations in </a:t>
            </a:r>
            <a:r>
              <a:rPr sz="1400" b="0">
                <a:solidFill>
                  <a:schemeClr val="tx1"/>
                </a:solidFill>
                <a:latin typeface="Maple Mono NF"/>
              </a:rPr>
              <a:t>AgentState</a:t>
            </a:r>
            <a:r>
              <a:rPr sz="1400" b="0">
                <a:solidFill>
                  <a:schemeClr val="tx1"/>
                </a:solidFill>
              </a:rPr>
              <a:t> to define the graph's shared state.</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state record stores the information retained between steps as named fields and their current values. For example, </a:t>
            </a:r>
            <a:r>
              <a:rPr sz="1400" b="0">
                <a:solidFill>
                  <a:schemeClr val="tx2"/>
                </a:solidFill>
                <a:latin typeface="Maple Mono NF"/>
              </a:rPr>
              <a:t>model_calls: 2</a:t>
            </a:r>
            <a:r>
              <a:rPr sz="1400" b="0">
                <a:solidFill>
                  <a:schemeClr val="tx2"/>
                </a:solidFill>
              </a:rPr>
              <a:t> records two completed model calls.</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Routing functions use the updated record to select the next node.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Partial updates and state transitions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A node returns a partial update mapping selected fields to values. The runtime applies each field’s update rule.</a:t>
            </a:r>
          </a:p>
        </p:txBody>
      </p:sp>
      <p:pic>
        <p:nvPicPr>
          <p:cNvPr id="4" name="Figure s2-state-transition" descr="s2-state-transition.png"/>
          <p:cNvPicPr>
            <a:picLocks noChangeAspect="1"/>
          </p:cNvPicPr>
          <p:nvPr/>
        </p:nvPicPr>
        <p:blipFill>
          <a:blip r:embed="rId3"/>
          <a:stretch>
            <a:fillRect/>
          </a:stretch>
        </p:blipFill>
        <p:spPr>
          <a:xfrm>
            <a:off x="445175" y="1390000"/>
            <a:ext cx="5762699" cy="2510000"/>
          </a:xfrm>
          <a:prstGeom prst="rect">
            <a:avLst/>
          </a:prstGeom>
        </p:spPr>
      </p:pic>
      <p:sp>
        <p:nvSpPr>
          <p:cNvPr id="5" name="Rectangle 4"/>
          <p:cNvSpPr/>
          <p:nvPr/>
        </p:nvSpPr>
        <p:spPr>
          <a:xfrm>
            <a:off x="319251" y="4090000"/>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field omitted from the partial update keeps its stored value (Figure 3 in the lecture notes).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2DBBC-B831-5BD1-7A6D-BEB32C3D0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93512-08D3-83FC-D4AC-E7845F358C49}"/>
              </a:ext>
            </a:extLst>
          </p:cNvPr>
          <p:cNvSpPr>
            <a:spLocks noGrp="1"/>
          </p:cNvSpPr>
          <p:nvPr>
            <p:ph type="title"/>
          </p:nvPr>
        </p:nvSpPr>
        <p:spPr/>
        <p:txBody>
          <a:bodyPr/>
          <a:lstStyle/>
          <a:p>
            <a:r>
              <a:t>Partial updates and state transitions</a:t>
            </a:r>
          </a:p>
        </p:txBody>
      </p:sp>
      <p:sp>
        <p:nvSpPr>
          <p:cNvPr id="7" name="Content Placeholder 6">
            <a:extLst>
              <a:ext uri="{FF2B5EF4-FFF2-40B4-BE49-F238E27FC236}">
                <a16:creationId xmlns:a16="http://schemas.microsoft.com/office/drawing/2014/main" id="{AC8364A8-E153-71E2-C11C-F49D6D620FFE}"/>
              </a:ext>
            </a:extLst>
          </p:cNvPr>
          <p:cNvSpPr>
            <a:spLocks noGrp="1"/>
          </p:cNvSpPr>
          <p:nvPr>
            <p:ph idx="1"/>
          </p:nvPr>
        </p:nvSpPr>
        <p:spPr/>
        <p:txBody>
          <a:bodyPr/>
          <a:lstStyle/>
          <a:p>
            <a:r>
              <a:rPr lang="en-US" dirty="0"/>
              <a:t>See agent state in demo</a:t>
            </a:r>
          </a:p>
        </p:txBody>
      </p:sp>
    </p:spTree>
    <p:extLst>
      <p:ext uri="{BB962C8B-B14F-4D97-AF65-F5344CB8AC3E}">
        <p14:creationId xmlns:p14="http://schemas.microsoft.com/office/powerpoint/2010/main" val="2630227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controller's three return sites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loop's controller returns either an update from a completed model call or a status explaining why the run must stop.</a:t>
            </a:r>
          </a:p>
        </p:txBody>
      </p:sp>
      <p:pic>
        <p:nvPicPr>
          <p:cNvPr id="4" name="Figure s2-controller-update" descr="s2-controller-update.png"/>
          <p:cNvPicPr>
            <a:picLocks noChangeAspect="1"/>
          </p:cNvPicPr>
          <p:nvPr/>
        </p:nvPicPr>
        <p:blipFill>
          <a:blip r:embed="rId3"/>
          <a:stretch>
            <a:fillRect/>
          </a:stretch>
        </p:blipFill>
        <p:spPr>
          <a:xfrm>
            <a:off x="250148" y="1390000"/>
            <a:ext cx="6152752" cy="1728087"/>
          </a:xfrm>
          <a:prstGeom prst="rect">
            <a:avLst/>
          </a:prstGeom>
        </p:spPr>
      </p:pic>
      <p:sp>
        <p:nvSpPr>
          <p:cNvPr id="5" name="Rectangle 4"/>
          <p:cNvSpPr/>
          <p:nvPr/>
        </p:nvSpPr>
        <p:spPr>
          <a:xfrm>
            <a:off x="319251" y="3308087"/>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controller returns messages, </a:t>
            </a:r>
            <a:r>
              <a:rPr sz="1200" b="0">
                <a:solidFill>
                  <a:srgbClr val="28285E"/>
                </a:solidFill>
                <a:latin typeface="Maple Mono NF"/>
              </a:rPr>
              <a:t>model_calls</a:t>
            </a:r>
            <a:r>
              <a:rPr sz="1200" b="1">
                <a:solidFill>
                  <a:srgbClr val="28285E"/>
                </a:solidFill>
              </a:rPr>
              <a:t> and usage after a model call, or status when a limit stops the run. Six fields remain unchanged (Figure 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controller's return sites, in code</a:t>
            </a:r>
          </a:p>
        </p:txBody>
      </p:sp>
      <p:sp>
        <p:nvSpPr>
          <p:cNvPr id="3" name="Content Placeholder 2"/>
          <p:cNvSpPr>
            <a:spLocks noGrp="1"/>
          </p:cNvSpPr>
          <p:nvPr>
            <p:ph idx="1"/>
          </p:nvPr>
        </p:nvSpPr>
        <p:spPr>
          <a:xfrm>
            <a:off x="319251" y="515050"/>
            <a:ext cx="6014545" cy="890000"/>
          </a:xfrm>
        </p:spPr>
        <p:txBody>
          <a:bodyPr wrap="square" anchor="ctr">
            <a:normAutofit/>
          </a:bodyPr>
          <a:lstStyle/>
          <a:p>
            <a:pPr marL="0" indent="0">
              <a:buNone/>
            </a:pPr>
            <a:r>
              <a:rPr sz="1100" b="1" dirty="0">
                <a:solidFill>
                  <a:srgbClr val="28285E"/>
                </a:solidFill>
              </a:rPr>
              <a:t>Each return gives the runtime a partial update: either a stopping status or the reply and accounting data from one model call.</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graph.py, controller, lines 298 to 313. Trace event and model setup omitted</a:t>
            </a:r>
          </a:p>
        </p:txBody>
      </p:sp>
      <p:sp>
        <p:nvSpPr>
          <p:cNvPr id="10" name="Rectangle 9"/>
          <p:cNvSpPr/>
          <p:nvPr/>
        </p:nvSpPr>
        <p:spPr>
          <a:xfrm>
            <a:off x="319251" y="413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runtime uses reducers to append the reply, add one to </a:t>
            </a:r>
            <a:r>
              <a:rPr sz="1200" b="0">
                <a:solidFill>
                  <a:schemeClr val="tx2"/>
                </a:solidFill>
                <a:latin typeface="Maple Mono NF"/>
              </a:rPr>
              <a:t>model_calls</a:t>
            </a:r>
            <a:r>
              <a:rPr sz="1200" b="1">
                <a:solidFill>
                  <a:schemeClr val="tx2"/>
                </a:solidFill>
              </a:rPr>
              <a:t> and add each token count to its running total.</a:t>
            </a:r>
          </a:p>
        </p:txBody>
      </p:sp>
      <p:sp>
        <p:nvSpPr>
          <p:cNvPr id="11" name="CodeWindow"/>
          <p:cNvSpPr/>
          <p:nvPr/>
        </p:nvSpPr>
        <p:spPr>
          <a:xfrm>
            <a:off x="319251" y="1650000"/>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WinText"/>
          <p:cNvSpPr txBox="1"/>
          <p:nvPr/>
        </p:nvSpPr>
        <p:spPr>
          <a:xfrm>
            <a:off x="469251" y="1980000"/>
            <a:ext cx="5714545" cy="1890000"/>
          </a:xfrm>
          <a:prstGeom prst="rect">
            <a:avLst/>
          </a:prstGeom>
          <a:noFill/>
        </p:spPr>
        <p:txBody>
          <a:bodyPr wrap="none" lIns="0" tIns="0" rIns="0" bIns="0" anchor="t">
            <a:spAutoFit/>
          </a:bodyPr>
          <a:lstStyle/>
          <a:p>
            <a:pPr algn="l">
              <a:buNone/>
            </a:pPr>
            <a:r>
              <a:rPr sz="1100" b="0">
                <a:solidFill>
                  <a:schemeClr val="bg1"/>
                </a:solidFill>
                <a:latin typeface="Maple Mono NF"/>
              </a:rPr>
              <a:t>spent = </a:t>
            </a:r>
            <a:r>
              <a:rPr sz="1100" b="0">
                <a:solidFill>
                  <a:schemeClr val="accent2"/>
                </a:solidFill>
                <a:latin typeface="Maple Mono NF"/>
              </a:rPr>
              <a:t>self</a:t>
            </a:r>
            <a:r>
              <a:rPr sz="1100" b="0">
                <a:solidFill>
                  <a:schemeClr val="bg1"/>
                </a:solidFill>
                <a:latin typeface="Maple Mono NF"/>
              </a:rPr>
              <a:t>._admit(state)</a:t>
            </a:r>
          </a:p>
          <a:p>
            <a:pPr algn="l">
              <a:buNone/>
            </a:pPr>
            <a:r>
              <a:rPr sz="1100" b="0">
                <a:solidFill>
                  <a:schemeClr val="accent2"/>
                </a:solidFill>
                <a:latin typeface="Maple Mono NF"/>
              </a:rPr>
              <a:t>if</a:t>
            </a:r>
            <a:r>
              <a:rPr sz="1100" b="0">
                <a:solidFill>
                  <a:schemeClr val="bg1"/>
                </a:solidFill>
                <a:latin typeface="Maple Mono NF"/>
              </a:rPr>
              <a:t> spent:</a:t>
            </a:r>
          </a:p>
          <a:p>
            <a:pPr algn="l">
              <a:buNone/>
            </a:pPr>
            <a:r>
              <a:rPr sz="1100" b="0">
                <a:solidFill>
                  <a:schemeClr val="bg1"/>
                </a:solidFill>
                <a:latin typeface="Maple Mono NF"/>
              </a:rPr>
              <a:t>    </a:t>
            </a:r>
            <a:r>
              <a:rPr sz="1100" b="1">
                <a:solidFill>
                  <a:schemeClr val="accent4">
                    <a:lumMod val="70000"/>
                    <a:lumOff val="30000"/>
                  </a:schemeClr>
                </a:solidFill>
                <a:latin typeface="Maple Mono NF"/>
              </a:rPr>
              <a:t>return</a:t>
            </a:r>
            <a:r>
              <a:rPr sz="1100" b="0">
                <a:solidFill>
                  <a:schemeClr val="bg1"/>
                </a:solidFill>
                <a:latin typeface="Maple Mono NF"/>
              </a:rPr>
              <a:t> spent</a:t>
            </a:r>
          </a:p>
          <a:p>
            <a:pPr algn="l">
              <a:buNone/>
            </a:pPr>
            <a:r>
              <a:rPr sz="1100" b="0">
                <a:solidFill>
                  <a:schemeClr val="accent2"/>
                </a:solidFill>
                <a:latin typeface="Maple Mono NF"/>
              </a:rPr>
              <a:t>if</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.stalled(</a:t>
            </a:r>
            <a:r>
              <a:rPr sz="1100" b="0">
                <a:solidFill>
                  <a:schemeClr val="accent2"/>
                </a:solidFill>
                <a:latin typeface="Maple Mono NF"/>
              </a:rPr>
              <a:t>self</a:t>
            </a:r>
            <a:r>
              <a:rPr sz="1100" b="0">
                <a:solidFill>
                  <a:schemeClr val="bg1"/>
                </a:solidFill>
                <a:latin typeface="Maple Mono NF"/>
              </a:rPr>
              <a:t>.planning_window(state),</a:t>
            </a:r>
          </a:p>
          <a:p>
            <a:pPr algn="l">
              <a:buNone/>
            </a:pP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.config.no_progress_steps):</a:t>
            </a:r>
          </a:p>
          <a:p>
            <a:pPr algn="l">
              <a:buNone/>
            </a:pPr>
            <a:r>
              <a:rPr sz="1100" b="0">
                <a:solidFill>
                  <a:schemeClr val="bg1"/>
                </a:solidFill>
                <a:latin typeface="Maple Mono NF"/>
              </a:rPr>
              <a:t>    </a:t>
            </a:r>
            <a:r>
              <a:rPr sz="1100" b="1">
                <a:solidFill>
                  <a:schemeClr val="accent4">
                    <a:lumMod val="70000"/>
                    <a:lumOff val="30000"/>
                  </a:schemeClr>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"status"</a:t>
            </a:r>
            <a:r>
              <a:rPr sz="1100" b="0">
                <a:solidFill>
                  <a:schemeClr val="bg1"/>
                </a:solidFill>
                <a:latin typeface="Maple Mono NF"/>
              </a:rPr>
              <a:t>: TerminalStatus.NO_PROGRESS}</a:t>
            </a:r>
          </a:p>
          <a:p>
            <a:pPr algn="l">
              <a:buNone/>
            </a:pPr>
            <a:r>
              <a:rPr sz="1100" b="0">
                <a:solidFill>
                  <a:schemeClr val="bg1"/>
                </a:solidFill>
                <a:latin typeface="Maple Mono NF"/>
              </a:rPr>
              <a:t>reply = </a:t>
            </a:r>
            <a:r>
              <a:rPr sz="1100" b="0">
                <a:solidFill>
                  <a:schemeClr val="accent2"/>
                </a:solidFill>
                <a:latin typeface="Maple Mono NF"/>
              </a:rPr>
              <a:t>self</a:t>
            </a:r>
            <a:r>
              <a:rPr sz="1100" b="0">
                <a:solidFill>
                  <a:schemeClr val="bg1"/>
                </a:solidFill>
                <a:latin typeface="Maple Mono NF"/>
              </a:rPr>
              <a:t>._call(model, state[</a:t>
            </a:r>
            <a:r>
              <a:rPr sz="1100" b="0">
                <a:solidFill>
                  <a:schemeClr val="accent3">
                    <a:lumMod val="55000"/>
                    <a:lumOff val="45000"/>
                  </a:schemeClr>
                </a:solidFill>
                <a:latin typeface="Maple Mono NF"/>
              </a:rPr>
              <a:t>"messages"</a:t>
            </a:r>
            <a:r>
              <a:rPr sz="1100" b="0">
                <a:solidFill>
                  <a:schemeClr val="bg1"/>
                </a:solidFill>
                <a:latin typeface="Maple Mono NF"/>
              </a:rPr>
              <a:t>], role=</a:t>
            </a:r>
            <a:r>
              <a:rPr sz="1100" b="0">
                <a:solidFill>
                  <a:schemeClr val="accent3">
                    <a:lumMod val="55000"/>
                    <a:lumOff val="45000"/>
                  </a:schemeClr>
                </a:solidFill>
                <a:latin typeface="Maple Mono NF"/>
              </a:rPr>
              <a:t>"controller"</a:t>
            </a:r>
            <a:r>
              <a:rPr sz="1100" b="0">
                <a:solidFill>
                  <a:schemeClr val="bg1"/>
                </a:solidFill>
                <a:latin typeface="Maple Mono NF"/>
              </a:rPr>
              <a:t>)</a:t>
            </a:r>
          </a:p>
          <a:p>
            <a:pPr algn="l">
              <a:buNone/>
            </a:pPr>
            <a:r>
              <a:rPr sz="1100" b="1">
                <a:solidFill>
                  <a:schemeClr val="accent4">
                    <a:lumMod val="70000"/>
                    <a:lumOff val="30000"/>
                  </a:schemeClr>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"messages"</a:t>
            </a:r>
            <a:r>
              <a:rPr sz="1100" b="0">
                <a:solidFill>
                  <a:schemeClr val="bg1"/>
                </a:solidFill>
                <a:latin typeface="Maple Mono NF"/>
              </a:rPr>
              <a:t>: [reply], </a:t>
            </a:r>
            <a:r>
              <a:rPr sz="1100" b="0">
                <a:solidFill>
                  <a:schemeClr val="accent3">
                    <a:lumMod val="55000"/>
                    <a:lumOff val="45000"/>
                  </a:schemeClr>
                </a:solidFill>
                <a:latin typeface="Maple Mono NF"/>
              </a:rPr>
              <a:t>"model_calls"</a:t>
            </a:r>
            <a:r>
              <a:rPr sz="1100" b="0">
                <a:solidFill>
                  <a:schemeClr val="bg1"/>
                </a:solidFill>
                <a:latin typeface="Maple Mono NF"/>
              </a:rPr>
              <a:t>: </a:t>
            </a:r>
            <a:r>
              <a:rPr sz="1100" b="0">
                <a:solidFill>
                  <a:schemeClr val="accent5">
                    <a:lumMod val="45000"/>
                    <a:lumOff val="55000"/>
                  </a:schemeClr>
                </a:solidFill>
                <a:latin typeface="Maple Mono NF"/>
              </a:rPr>
              <a:t>1</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3">
                    <a:lumMod val="55000"/>
                    <a:lumOff val="45000"/>
                  </a:schemeClr>
                </a:solidFill>
                <a:latin typeface="Maple Mono NF"/>
              </a:rPr>
              <a:t>"usage"</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._usage(reply)}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context, runtime state, durable state</a:t>
            </a:r>
          </a:p>
        </p:txBody>
      </p:sp>
      <p:sp>
        <p:nvSpPr>
          <p:cNvPr id="3" name="Content Placeholder 2"/>
          <p:cNvSpPr>
            <a:spLocks noGrp="1"/>
          </p:cNvSpPr>
          <p:nvPr>
            <p:ph idx="1"/>
          </p:nvPr>
        </p:nvSpPr>
        <p:spPr>
          <a:xfrm>
            <a:off x="319251" y="700000"/>
            <a:ext cx="6014545" cy="731648"/>
          </a:xfrm>
        </p:spPr>
        <p:txBody>
          <a:bodyPr wrap="square" anchor="ctr">
            <a:normAutofit fontScale="85000" lnSpcReduction="10000"/>
          </a:bodyPr>
          <a:lstStyle/>
          <a:p>
            <a:pPr marL="0" indent="0">
              <a:buNone/>
            </a:pPr>
            <a:r>
              <a:rPr sz="1400" b="1">
                <a:solidFill>
                  <a:srgbClr val="28285E"/>
                </a:solidFill>
              </a:rPr>
              <a:t>For each model call, the runtime builds a context from retained state. To resume after the process exits, it must save enough state to reconstruct execution.</a:t>
            </a:r>
          </a:p>
        </p:txBody>
      </p:sp>
      <p:graphicFrame>
        <p:nvGraphicFramePr>
          <p:cNvPr id="4" name="Table 3"/>
          <p:cNvGraphicFramePr>
            <a:graphicFrameLocks noGrp="1"/>
          </p:cNvGraphicFramePr>
          <p:nvPr/>
        </p:nvGraphicFramePr>
        <p:xfrm>
          <a:off x="319251" y="1621648"/>
          <a:ext cx="6014545" cy="2094510"/>
        </p:xfrm>
        <a:graphic>
          <a:graphicData uri="http://schemas.openxmlformats.org/drawingml/2006/table">
            <a:tbl>
              <a:tblPr firstRow="1" bandRow="1">
                <a:tableStyleId>{5C22544A-7EE6-4342-B048-85BDC9FD1C3A}</a:tableStyleId>
              </a:tblPr>
              <a:tblGrid>
                <a:gridCol w="1300000">
                  <a:extLst>
                    <a:ext uri="{9D8B030D-6E8A-4147-A177-3AD203B41FA5}">
                      <a16:colId xmlns:a16="http://schemas.microsoft.com/office/drawing/2014/main" val="20000"/>
                    </a:ext>
                  </a:extLst>
                </a:gridCol>
                <a:gridCol w="3300000">
                  <a:extLst>
                    <a:ext uri="{9D8B030D-6E8A-4147-A177-3AD203B41FA5}">
                      <a16:colId xmlns:a16="http://schemas.microsoft.com/office/drawing/2014/main" val="20001"/>
                    </a:ext>
                  </a:extLst>
                </a:gridCol>
                <a:gridCol w="1414545">
                  <a:extLst>
                    <a:ext uri="{9D8B030D-6E8A-4147-A177-3AD203B41FA5}">
                      <a16:colId xmlns:a16="http://schemas.microsoft.com/office/drawing/2014/main" val="20002"/>
                    </a:ext>
                  </a:extLst>
                </a:gridCol>
              </a:tblGrid>
              <a:tr h="300000">
                <a:tc>
                  <a:txBody>
                    <a:bodyPr/>
                    <a:lstStyle/>
                    <a:p>
                      <a:pPr>
                        <a:buNone/>
                      </a:pPr>
                      <a:r>
                        <a:rPr sz="1100" b="1">
                          <a:solidFill>
                            <a:schemeClr val="tx1"/>
                          </a:solidFill>
                        </a:rPr>
                        <a:t>State or context</a:t>
                      </a:r>
                    </a:p>
                  </a:txBody>
                  <a:tcPr marL="95250" marR="95250" marT="47625" marB="47625">
                    <a:lnB w="12700" cap="flat" cmpd="sng" algn="ctr">
                      <a:solidFill>
                        <a:schemeClr val="tx1"/>
                      </a:solidFill>
                    </a:lnB>
                    <a:noFill/>
                  </a:tcPr>
                </a:tc>
                <a:tc>
                  <a:txBody>
                    <a:bodyPr/>
                    <a:lstStyle/>
                    <a:p>
                      <a:pPr>
                        <a:buNone/>
                      </a:pPr>
                      <a:r>
                        <a:rPr sz="1100" b="1">
                          <a:solidFill>
                            <a:schemeClr val="tx1"/>
                          </a:solidFill>
                        </a:rPr>
                        <a:t>What it holds</a:t>
                      </a:r>
                    </a:p>
                  </a:txBody>
                  <a:tcPr marL="95250" marR="95250" marT="47625" marB="47625">
                    <a:lnB w="12700" cap="flat" cmpd="sng" algn="ctr">
                      <a:solidFill>
                        <a:schemeClr val="tx1"/>
                      </a:solidFill>
                    </a:lnB>
                    <a:noFill/>
                  </a:tcPr>
                </a:tc>
                <a:tc>
                  <a:txBody>
                    <a:bodyPr/>
                    <a:lstStyle/>
                    <a:p>
                      <a:pPr>
                        <a:buNone/>
                      </a:pPr>
                      <a:r>
                        <a:rPr sz="1100" b="1">
                          <a:solidFill>
                            <a:schemeClr val="tx1"/>
                          </a:solidFill>
                        </a:rPr>
                        <a:t>Who reads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Model context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Model context contains the instructions, selected history and observations supplied to one model call.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model reads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Runtime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Runtime state holds the fields retained between steps, including counters that the model never sees.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Nodes, routing functions and limit checks read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Durable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Durable state survives the process lifetime in a form that another process can load to resume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A new runtime process loads it to resume execution.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389775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A checkpointer saves runtime state for resumption. Our graphs have none. Resuming also requires matching workspace files and pending work (Table 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context and admission checks</a:t>
            </a:r>
          </a:p>
        </p:txBody>
      </p:sp>
      <p:sp>
        <p:nvSpPr>
          <p:cNvPr id="3" name="Content Placeholder 2"/>
          <p:cNvSpPr>
            <a:spLocks noGrp="1"/>
          </p:cNvSpPr>
          <p:nvPr>
            <p:ph idx="1"/>
          </p:nvPr>
        </p:nvSpPr>
        <p:spPr>
          <a:xfrm>
            <a:off x="319251" y="700000"/>
            <a:ext cx="6014545" cy="731648"/>
          </a:xfrm>
        </p:spPr>
        <p:txBody>
          <a:bodyPr wrap="square" anchor="ctr">
            <a:normAutofit fontScale="92500"/>
          </a:bodyPr>
          <a:lstStyle/>
          <a:p>
            <a:pPr marL="0" indent="0">
              <a:buNone/>
            </a:pPr>
            <a:r>
              <a:rPr sz="1400" b="1">
                <a:solidFill>
                  <a:srgbClr val="28285E"/>
                </a:solidFill>
              </a:rPr>
              <a:t>The admission check, _admit, compares </a:t>
            </a:r>
            <a:r>
              <a:rPr sz="1400" b="0">
                <a:solidFill>
                  <a:srgbClr val="28285E"/>
                </a:solidFill>
                <a:latin typeface="Maple Mono NF"/>
              </a:rPr>
              <a:t>model_calls</a:t>
            </a:r>
            <a:r>
              <a:rPr sz="1400" b="1">
                <a:solidFill>
                  <a:srgbClr val="28285E"/>
                </a:solidFill>
              </a:rPr>
              <a:t> with the budget before each model call. The controller passes the conversation to the model.</a:t>
            </a:r>
          </a:p>
        </p:txBody>
      </p:sp>
      <p:sp>
        <p:nvSpPr>
          <p:cNvPr id="4" name="TextBox 3"/>
          <p:cNvSpPr txBox="1"/>
          <p:nvPr/>
        </p:nvSpPr>
        <p:spPr>
          <a:xfrm>
            <a:off x="319251" y="1621648"/>
            <a:ext cx="6014545" cy="200000"/>
          </a:xfrm>
          <a:prstGeom prst="rect">
            <a:avLst/>
          </a:prstGeom>
          <a:noFill/>
        </p:spPr>
        <p:txBody>
          <a:bodyPr wrap="none" lIns="0" tIns="0" rIns="0" bIns="0">
            <a:spAutoFit/>
          </a:bodyPr>
          <a:lstStyle/>
          <a:p>
            <a:r>
              <a:rPr sz="1200" b="1">
                <a:solidFill>
                  <a:srgbClr val="28285E"/>
                </a:solidFill>
              </a:rPr>
              <a:t>graph.py, controller line 312 and _admit lines 183 to 186. Trace event omitted</a:t>
            </a:r>
          </a:p>
        </p:txBody>
      </p:sp>
      <p:sp>
        <p:nvSpPr>
          <p:cNvPr id="5" name="CodeWindow"/>
          <p:cNvSpPr/>
          <p:nvPr/>
        </p:nvSpPr>
        <p:spPr>
          <a:xfrm>
            <a:off x="319251" y="1881648"/>
            <a:ext cx="6014545" cy="166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925464"/>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925464"/>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925464"/>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2211648"/>
            <a:ext cx="5714545" cy="1260000"/>
          </a:xfrm>
          <a:prstGeom prst="rect">
            <a:avLst/>
          </a:prstGeom>
          <a:noFill/>
        </p:spPr>
        <p:txBody>
          <a:bodyPr wrap="none" lIns="0" tIns="0" rIns="0" bIns="0" anchor="t">
            <a:spAutoFit/>
          </a:bodyPr>
          <a:lstStyle/>
          <a:p>
            <a:pPr algn="l">
              <a:buNone/>
            </a:pPr>
            <a:r>
              <a:rPr sz="1100" b="0">
                <a:solidFill>
                  <a:schemeClr val="accent6"/>
                </a:solidFill>
                <a:latin typeface="Maple Mono NF"/>
              </a:rPr>
              <a:t># ours: The controller supplies the conversation to the model.</a:t>
            </a:r>
          </a:p>
          <a:p>
            <a:pPr algn="l">
              <a:buNone/>
            </a:pPr>
            <a:r>
              <a:rPr sz="1100" b="0">
                <a:solidFill>
                  <a:schemeClr val="bg1"/>
                </a:solidFill>
                <a:latin typeface="Maple Mono NF"/>
              </a:rPr>
              <a:t>reply = </a:t>
            </a:r>
            <a:r>
              <a:rPr sz="1100" b="0">
                <a:solidFill>
                  <a:schemeClr val="accent2"/>
                </a:solidFill>
                <a:latin typeface="Maple Mono NF"/>
              </a:rPr>
              <a:t>self</a:t>
            </a:r>
            <a:r>
              <a:rPr sz="1100" b="0">
                <a:solidFill>
                  <a:schemeClr val="bg1"/>
                </a:solidFill>
                <a:latin typeface="Maple Mono NF"/>
              </a:rPr>
              <a:t>._call(model, state[</a:t>
            </a:r>
            <a:r>
              <a:rPr sz="1100" b="0">
                <a:solidFill>
                  <a:schemeClr val="accent3">
                    <a:lumMod val="55000"/>
                    <a:lumOff val="45000"/>
                  </a:schemeClr>
                </a:solidFill>
                <a:latin typeface="Maple Mono NF"/>
              </a:rPr>
              <a:t>"messages"</a:t>
            </a:r>
            <a:r>
              <a:rPr sz="1100" b="0">
                <a:solidFill>
                  <a:schemeClr val="bg1"/>
                </a:solidFill>
                <a:latin typeface="Maple Mono NF"/>
              </a:rPr>
              <a:t>], role=</a:t>
            </a:r>
            <a:r>
              <a:rPr sz="1100" b="0">
                <a:solidFill>
                  <a:schemeClr val="accent3">
                    <a:lumMod val="55000"/>
                    <a:lumOff val="45000"/>
                  </a:schemeClr>
                </a:solidFill>
                <a:latin typeface="Maple Mono NF"/>
              </a:rPr>
              <a:t>"controller"</a:t>
            </a:r>
            <a:r>
              <a:rPr sz="1100" b="0">
                <a:solidFill>
                  <a:schemeClr val="bg1"/>
                </a:solidFill>
                <a:latin typeface="Maple Mono NF"/>
              </a:rPr>
              <a:t>)</a:t>
            </a:r>
          </a:p>
          <a:p>
            <a:pPr algn="l">
              <a:buNone/>
            </a:pPr>
            <a:endParaRPr sz="1100" b="0">
              <a:solidFill>
                <a:schemeClr val="bg1"/>
              </a:solidFill>
              <a:latin typeface="Maple Mono NF"/>
            </a:endParaRPr>
          </a:p>
          <a:p>
            <a:pPr algn="l">
              <a:buNone/>
            </a:pPr>
            <a:r>
              <a:rPr sz="1100" b="0">
                <a:solidFill>
                  <a:schemeClr val="accent6"/>
                </a:solidFill>
                <a:latin typeface="Maple Mono NF"/>
              </a:rPr>
              <a:t># ours: Admission runs before every model call.</a:t>
            </a:r>
          </a:p>
          <a:p>
            <a:pPr algn="l">
              <a:buNone/>
            </a:pPr>
            <a:r>
              <a:rPr sz="1100" b="0">
                <a:solidFill>
                  <a:schemeClr val="accent2"/>
                </a:solidFill>
                <a:latin typeface="Maple Mono NF"/>
              </a:rPr>
              <a:t>if</a:t>
            </a:r>
            <a:r>
              <a:rPr sz="1100" b="0">
                <a:solidFill>
                  <a:schemeClr val="bg1"/>
                </a:solidFill>
                <a:latin typeface="Maple Mono NF"/>
              </a:rPr>
              <a:t> state[</a:t>
            </a:r>
            <a:r>
              <a:rPr sz="1100" b="0">
                <a:solidFill>
                  <a:schemeClr val="accent3">
                    <a:lumMod val="55000"/>
                    <a:lumOff val="45000"/>
                  </a:schemeClr>
                </a:solidFill>
                <a:latin typeface="Maple Mono NF"/>
              </a:rPr>
              <a:t>"model_calls"</a:t>
            </a:r>
            <a:r>
              <a:rPr sz="1100" b="0">
                <a:solidFill>
                  <a:schemeClr val="bg1"/>
                </a:solidFill>
                <a:latin typeface="Maple Mono NF"/>
              </a:rPr>
              <a:t>] &gt;= </a:t>
            </a:r>
            <a:r>
              <a:rPr sz="1100" b="1">
                <a:solidFill>
                  <a:schemeClr val="accent4">
                    <a:lumMod val="70000"/>
                    <a:lumOff val="30000"/>
                  </a:schemeClr>
                </a:solidFill>
                <a:latin typeface="Maple Mono NF"/>
              </a:rPr>
              <a:t>self.config.budget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"status"</a:t>
            </a:r>
            <a:r>
              <a:rPr sz="1100" b="0">
                <a:solidFill>
                  <a:schemeClr val="bg1"/>
                </a:solidFill>
                <a:latin typeface="Maple Mono NF"/>
              </a:rPr>
              <a:t>: TerminalStatus.BUDGET_EXHAUSTED}</a:t>
            </a:r>
          </a:p>
        </p:txBody>
      </p:sp>
      <p:sp>
        <p:nvSpPr>
          <p:cNvPr id="10" name="Rectangle 9"/>
          <p:cNvSpPr/>
          <p:nvPr/>
        </p:nvSpPr>
        <p:spPr>
          <a:xfrm>
            <a:off x="319251" y="3731648"/>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runtime enforces the budget before each call. This check works even though the model never receives the budget in its context.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Reducers: append, replace, accumulate</a:t>
            </a:r>
          </a:p>
        </p:txBody>
      </p:sp>
      <p:sp>
        <p:nvSpPr>
          <p:cNvPr id="3" name="Content Placeholder 2"/>
          <p:cNvSpPr>
            <a:spLocks noGrp="1"/>
          </p:cNvSpPr>
          <p:nvPr>
            <p:ph idx="1"/>
          </p:nvPr>
        </p:nvSpPr>
        <p:spPr>
          <a:xfrm>
            <a:off x="319251" y="700000"/>
            <a:ext cx="6014545" cy="2211325"/>
          </a:xfrm>
        </p:spPr>
        <p:txBody>
          <a:bodyPr wrap="square" anchor="ctr">
            <a:normAutofit fontScale="92500" lnSpcReduction="20000"/>
          </a:bodyPr>
          <a:lstStyle/>
          <a:p>
            <a:pPr marL="0" indent="0">
              <a:buNone/>
            </a:pPr>
            <a:r>
              <a:rPr sz="1400" b="1">
                <a:solidFill>
                  <a:srgbClr val="28285E"/>
                </a:solidFill>
              </a:rPr>
              <a:t>When a node returns a value for a field, the runtime calls that field's reducer with the stored value and the returned value.</a:t>
            </a:r>
          </a:p>
          <a:p>
            <a:pPr marL="400050" indent="-285750">
              <a:spcBef>
                <a:spcPts val="600"/>
              </a:spcBef>
              <a:spcAft>
                <a:spcPts val="600"/>
              </a:spcAft>
              <a:buClr>
                <a:srgbClr val="28285E"/>
              </a:buClr>
              <a:buSzPts val="1260"/>
              <a:buFont typeface="+mn-lt"/>
              <a:buChar char="●"/>
            </a:pPr>
            <a:r>
              <a:rPr sz="1400" b="1">
                <a:solidFill>
                  <a:schemeClr val="tx1"/>
                </a:solidFill>
              </a:rPr>
              <a:t>Append</a:t>
            </a:r>
            <a:r>
              <a:rPr sz="1400" b="0">
                <a:solidFill>
                  <a:schemeClr val="tx1"/>
                </a:solidFill>
              </a:rPr>
              <a:t> adds the returned items to the end of the stored list, so later nodes can read the full history.</a:t>
            </a:r>
          </a:p>
          <a:p>
            <a:pPr marL="400050" indent="-285750">
              <a:spcBef>
                <a:spcPts val="600"/>
              </a:spcBef>
              <a:spcAft>
                <a:spcPts val="600"/>
              </a:spcAft>
              <a:buClr>
                <a:srgbClr val="28285E"/>
              </a:buClr>
              <a:buSzPts val="1260"/>
              <a:buFont typeface="+mn-lt"/>
              <a:buChar char="●"/>
            </a:pPr>
            <a:r>
              <a:rPr sz="1400" b="1">
                <a:solidFill>
                  <a:schemeClr val="tx1"/>
                </a:solidFill>
              </a:rPr>
              <a:t>Replace</a:t>
            </a:r>
            <a:r>
              <a:rPr sz="1400" b="0">
                <a:solidFill>
                  <a:schemeClr val="tx1"/>
                </a:solidFill>
              </a:rPr>
              <a:t> stores the returned value as the field’s new value, as when the plan node writes a revised plan.</a:t>
            </a:r>
          </a:p>
          <a:p>
            <a:pPr marL="400050" indent="-285750">
              <a:spcBef>
                <a:spcPts val="600"/>
              </a:spcBef>
              <a:spcAft>
                <a:spcPts val="600"/>
              </a:spcAft>
              <a:buClr>
                <a:srgbClr val="28285E"/>
              </a:buClr>
              <a:buSzPts val="1260"/>
              <a:buFont typeface="+mn-lt"/>
              <a:buChar char="●"/>
            </a:pPr>
            <a:r>
              <a:rPr sz="1400" b="1">
                <a:solidFill>
                  <a:schemeClr val="tx1"/>
                </a:solidFill>
              </a:rPr>
              <a:t>Accumulate</a:t>
            </a:r>
            <a:r>
              <a:rPr sz="1400" b="0">
                <a:solidFill>
                  <a:schemeClr val="tx1"/>
                </a:solidFill>
              </a:rPr>
              <a:t> combines the returned contribution with the stored total, such as adding 1 to </a:t>
            </a:r>
            <a:r>
              <a:rPr sz="1400" b="0">
                <a:solidFill>
                  <a:schemeClr val="tx1"/>
                </a:solidFill>
                <a:latin typeface="Maple Mono NF"/>
              </a:rPr>
              <a:t>model_calls</a:t>
            </a:r>
            <a:r>
              <a:rPr sz="1400" b="0">
                <a:solidFill>
                  <a:schemeClr val="tx1"/>
                </a:solidFill>
              </a:rPr>
              <a:t>.</a:t>
            </a:r>
          </a:p>
        </p:txBody>
      </p:sp>
      <p:sp>
        <p:nvSpPr>
          <p:cNvPr id="4" name="Rectangle 3"/>
          <p:cNvSpPr/>
          <p:nvPr/>
        </p:nvSpPr>
        <p:spPr>
          <a:xfrm>
            <a:off x="319251" y="3101325"/>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reducer's result becomes the field's next stored value.</a:t>
            </a:r>
          </a:p>
        </p:txBody>
      </p:sp>
      <p:sp>
        <p:nvSpPr>
          <p:cNvPr id="5" name="Rectangle 4"/>
          <p:cNvSpPr/>
          <p:nvPr/>
        </p:nvSpPr>
        <p:spPr>
          <a:xfrm>
            <a:off x="319251" y="3902126"/>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Returning </a:t>
            </a:r>
            <a:r>
              <a:rPr sz="1200" b="0">
                <a:solidFill>
                  <a:srgbClr val="28285E"/>
                </a:solidFill>
                <a:latin typeface="Maple Mono NF"/>
              </a:rPr>
              <a:t>[]</a:t>
            </a:r>
            <a:r>
              <a:rPr sz="1200" b="1">
                <a:solidFill>
                  <a:srgbClr val="28285E"/>
                </a:solidFill>
              </a:rPr>
              <a:t> to an append reducer adds no items, so the stored list keeps its existing contents.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F1338-E067-CD12-5568-ED1C8923E1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38AA4-241F-D2C2-DE15-DA434F8B2086}"/>
              </a:ext>
            </a:extLst>
          </p:cNvPr>
          <p:cNvSpPr>
            <a:spLocks noGrp="1"/>
          </p:cNvSpPr>
          <p:nvPr>
            <p:ph type="title"/>
          </p:nvPr>
        </p:nvSpPr>
        <p:spPr/>
        <p:txBody>
          <a:bodyPr/>
          <a:lstStyle/>
          <a:p>
            <a:r>
              <a:t>The controller's three return sites</a:t>
            </a:r>
          </a:p>
        </p:txBody>
      </p:sp>
      <p:sp>
        <p:nvSpPr>
          <p:cNvPr id="3" name="Content Placeholder 2">
            <a:extLst>
              <a:ext uri="{FF2B5EF4-FFF2-40B4-BE49-F238E27FC236}">
                <a16:creationId xmlns:a16="http://schemas.microsoft.com/office/drawing/2014/main" id="{441EEFD2-A23C-A545-1CAD-15A0FB9C38AC}"/>
              </a:ext>
            </a:extLst>
          </p:cNvPr>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loop's controller returns either an update from a completed model call or a status explaining why the run must stop.</a:t>
            </a:r>
          </a:p>
        </p:txBody>
      </p:sp>
      <p:pic>
        <p:nvPicPr>
          <p:cNvPr id="4" name="Figure s2-controller-update" descr="s2-controller-update.png">
            <a:extLst>
              <a:ext uri="{FF2B5EF4-FFF2-40B4-BE49-F238E27FC236}">
                <a16:creationId xmlns:a16="http://schemas.microsoft.com/office/drawing/2014/main" id="{C94A8F5C-220A-616F-854F-C5BCB3FDDA06}"/>
              </a:ext>
            </a:extLst>
          </p:cNvPr>
          <p:cNvPicPr>
            <a:picLocks noChangeAspect="1"/>
          </p:cNvPicPr>
          <p:nvPr/>
        </p:nvPicPr>
        <p:blipFill>
          <a:blip r:embed="rId3"/>
          <a:stretch>
            <a:fillRect/>
          </a:stretch>
        </p:blipFill>
        <p:spPr>
          <a:xfrm>
            <a:off x="250148" y="1390000"/>
            <a:ext cx="6152752" cy="1728087"/>
          </a:xfrm>
          <a:prstGeom prst="rect">
            <a:avLst/>
          </a:prstGeom>
        </p:spPr>
      </p:pic>
      <p:sp>
        <p:nvSpPr>
          <p:cNvPr id="5" name="Rectangle 4">
            <a:extLst>
              <a:ext uri="{FF2B5EF4-FFF2-40B4-BE49-F238E27FC236}">
                <a16:creationId xmlns:a16="http://schemas.microsoft.com/office/drawing/2014/main" id="{EDD6E88A-FDB8-4797-4011-85B404AF8F4A}"/>
              </a:ext>
            </a:extLst>
          </p:cNvPr>
          <p:cNvSpPr/>
          <p:nvPr/>
        </p:nvSpPr>
        <p:spPr>
          <a:xfrm>
            <a:off x="319251" y="3308087"/>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controller returns messages, </a:t>
            </a:r>
            <a:r>
              <a:rPr sz="1200" b="0">
                <a:solidFill>
                  <a:srgbClr val="28285E"/>
                </a:solidFill>
                <a:latin typeface="Maple Mono NF"/>
              </a:rPr>
              <a:t>model_calls</a:t>
            </a:r>
            <a:r>
              <a:rPr sz="1200" b="1">
                <a:solidFill>
                  <a:srgbClr val="28285E"/>
                </a:solidFill>
              </a:rPr>
              <a:t> and usage after a model call, or status when a limit stops the run. Six fields remain unchanged (Figure 4).</a:t>
            </a:r>
          </a:p>
        </p:txBody>
      </p:sp>
    </p:spTree>
    <p:extLst>
      <p:ext uri="{BB962C8B-B14F-4D97-AF65-F5344CB8AC3E}">
        <p14:creationId xmlns:p14="http://schemas.microsoft.com/office/powerpoint/2010/main" val="3603903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reducers in the schema</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In </a:t>
            </a:r>
            <a:r>
              <a:rPr sz="1400" b="0">
                <a:solidFill>
                  <a:srgbClr val="28285E"/>
                </a:solidFill>
                <a:latin typeface="Maple Mono NF"/>
              </a:rPr>
              <a:t>Annotated[T, fn]</a:t>
            </a:r>
            <a:r>
              <a:rPr sz="1400" b="1">
                <a:solidFill>
                  <a:srgbClr val="28285E"/>
                </a:solidFill>
              </a:rPr>
              <a:t>, T names the field's type and fn names the reducer that merges returned values into that field.</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state.py, </a:t>
            </a:r>
            <a:r>
              <a:rPr sz="1200" b="0">
                <a:solidFill>
                  <a:srgbClr val="28285E"/>
                </a:solidFill>
                <a:latin typeface="Maple Mono NF"/>
              </a:rPr>
              <a:t>AgentState</a:t>
            </a:r>
            <a:r>
              <a:rPr sz="1200" b="1">
                <a:solidFill>
                  <a:srgbClr val="28285E"/>
                </a:solidFill>
              </a:rPr>
              <a:t>, lines 76 to 98 (selected fields)</a:t>
            </a:r>
          </a:p>
        </p:txBody>
      </p:sp>
      <p:sp>
        <p:nvSpPr>
          <p:cNvPr id="5" name="CodeWindow"/>
          <p:cNvSpPr/>
          <p:nvPr/>
        </p:nvSpPr>
        <p:spPr>
          <a:xfrm>
            <a:off x="319251" y="1650000"/>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470000"/>
          </a:xfrm>
          <a:prstGeom prst="rect">
            <a:avLst/>
          </a:prstGeom>
          <a:noFill/>
        </p:spPr>
        <p:txBody>
          <a:bodyPr wrap="none" lIns="0" tIns="0" rIns="0" bIns="0" anchor="t">
            <a:spAutoFit/>
          </a:bodyPr>
          <a:lstStyle/>
          <a:p>
            <a:pPr algn="l">
              <a:buNone/>
            </a:pPr>
            <a:r>
              <a:rPr sz="1100" b="0" dirty="0">
                <a:solidFill>
                  <a:schemeClr val="accent2"/>
                </a:solidFill>
                <a:latin typeface="Maple Mono NF"/>
              </a:rPr>
              <a:t>class</a:t>
            </a:r>
            <a:r>
              <a:rPr sz="1100" b="0" dirty="0">
                <a:solidFill>
                  <a:schemeClr val="bg1"/>
                </a:solidFill>
                <a:latin typeface="Maple Mono NF"/>
              </a:rPr>
              <a:t> </a:t>
            </a:r>
            <a:r>
              <a:rPr sz="1100" b="0" dirty="0" err="1">
                <a:solidFill>
                  <a:schemeClr val="bg1"/>
                </a:solidFill>
                <a:latin typeface="Maple Mono NF"/>
              </a:rPr>
              <a:t>AgentState</a:t>
            </a:r>
            <a:r>
              <a:rPr sz="1100" b="0" dirty="0">
                <a:solidFill>
                  <a:schemeClr val="bg1"/>
                </a:solidFill>
                <a:latin typeface="Maple Mono NF"/>
              </a:rPr>
              <a:t>(</a:t>
            </a:r>
            <a:r>
              <a:rPr sz="1100" b="0" dirty="0" err="1">
                <a:solidFill>
                  <a:schemeClr val="bg1"/>
                </a:solidFill>
                <a:latin typeface="Maple Mono NF"/>
              </a:rPr>
              <a:t>TypedDict</a:t>
            </a:r>
            <a:r>
              <a:rPr sz="1100" b="0" dirty="0">
                <a:solidFill>
                  <a:schemeClr val="bg1"/>
                </a:solidFill>
                <a:latin typeface="Maple Mono NF"/>
              </a:rPr>
              <a:t>, total=</a:t>
            </a:r>
            <a:r>
              <a:rPr sz="1100" b="0" dirty="0">
                <a:solidFill>
                  <a:schemeClr val="accent2"/>
                </a:solidFill>
                <a:latin typeface="Maple Mono NF"/>
              </a:rPr>
              <a:t>False</a:t>
            </a:r>
            <a:r>
              <a:rPr sz="1100" b="0" dirty="0">
                <a:solidFill>
                  <a:schemeClr val="bg1"/>
                </a:solidFill>
                <a:latin typeface="Maple Mono NF"/>
              </a:rPr>
              <a:t>):</a:t>
            </a:r>
          </a:p>
          <a:p>
            <a:pPr algn="l">
              <a:buNone/>
            </a:pPr>
            <a:r>
              <a:rPr sz="1100" b="0" dirty="0">
                <a:solidFill>
                  <a:schemeClr val="accent6"/>
                </a:solidFill>
                <a:latin typeface="Maple Mono NF"/>
              </a:rPr>
              <a:t>    # ours: other fields are omitted</a:t>
            </a:r>
          </a:p>
          <a:p>
            <a:pPr algn="l">
              <a:buNone/>
            </a:pPr>
            <a:r>
              <a:rPr sz="1100" b="0" dirty="0">
                <a:solidFill>
                  <a:schemeClr val="bg1"/>
                </a:solidFill>
                <a:latin typeface="Maple Mono NF"/>
              </a:rPr>
              <a:t>    messages: </a:t>
            </a:r>
            <a:r>
              <a:rPr sz="1100" b="1" dirty="0">
                <a:solidFill>
                  <a:schemeClr val="accent4">
                    <a:lumMod val="70000"/>
                    <a:lumOff val="30000"/>
                  </a:schemeClr>
                </a:solidFill>
                <a:latin typeface="Maple Mono NF"/>
              </a:rPr>
              <a:t>Annotated</a:t>
            </a:r>
            <a:r>
              <a:rPr sz="1100" b="0" dirty="0">
                <a:solidFill>
                  <a:schemeClr val="bg1"/>
                </a:solidFill>
                <a:latin typeface="Maple Mono NF"/>
              </a:rPr>
              <a:t>[list, </a:t>
            </a:r>
            <a:r>
              <a:rPr sz="1100" b="0" dirty="0" err="1">
                <a:solidFill>
                  <a:schemeClr val="bg1"/>
                </a:solidFill>
                <a:latin typeface="Maple Mono NF"/>
              </a:rPr>
              <a:t>add_messages</a:t>
            </a:r>
            <a:r>
              <a:rPr sz="1100" b="0" dirty="0">
                <a:solidFill>
                  <a:schemeClr val="bg1"/>
                </a:solidFill>
                <a:latin typeface="Maple Mono NF"/>
              </a:rPr>
              <a:t>]</a:t>
            </a:r>
          </a:p>
          <a:p>
            <a:pPr algn="l">
              <a:buNone/>
            </a:pPr>
            <a:r>
              <a:rPr sz="1100" b="0" dirty="0">
                <a:solidFill>
                  <a:schemeClr val="bg1"/>
                </a:solidFill>
                <a:latin typeface="Maple Mono NF"/>
              </a:rPr>
              <a:t>    observations: </a:t>
            </a:r>
            <a:r>
              <a:rPr sz="1100" b="1" dirty="0">
                <a:solidFill>
                  <a:schemeClr val="accent4">
                    <a:lumMod val="70000"/>
                    <a:lumOff val="30000"/>
                  </a:schemeClr>
                </a:solidFill>
                <a:latin typeface="Maple Mono NF"/>
              </a:rPr>
              <a:t>Annotated</a:t>
            </a:r>
            <a:r>
              <a:rPr sz="1100" b="0" dirty="0">
                <a:solidFill>
                  <a:schemeClr val="bg1"/>
                </a:solidFill>
                <a:latin typeface="Maple Mono NF"/>
              </a:rPr>
              <a:t>[list, </a:t>
            </a:r>
            <a:r>
              <a:rPr sz="1100" b="0" dirty="0" err="1">
                <a:solidFill>
                  <a:schemeClr val="bg1"/>
                </a:solidFill>
                <a:latin typeface="Maple Mono NF"/>
              </a:rPr>
              <a:t>operator.add</a:t>
            </a:r>
            <a:r>
              <a:rPr sz="1100" b="0" dirty="0">
                <a:solidFill>
                  <a:schemeClr val="bg1"/>
                </a:solidFill>
                <a:latin typeface="Maple Mono NF"/>
              </a:rPr>
              <a:t>]</a:t>
            </a:r>
          </a:p>
          <a:p>
            <a:pPr algn="l">
              <a:buNone/>
            </a:pPr>
            <a:r>
              <a:rPr sz="1100" b="0" dirty="0">
                <a:solidFill>
                  <a:schemeClr val="bg1"/>
                </a:solidFill>
                <a:latin typeface="Maple Mono NF"/>
              </a:rPr>
              <a:t>    usage: </a:t>
            </a:r>
            <a:r>
              <a:rPr sz="1100" b="1" dirty="0">
                <a:solidFill>
                  <a:schemeClr val="accent4">
                    <a:lumMod val="70000"/>
                    <a:lumOff val="30000"/>
                  </a:schemeClr>
                </a:solidFill>
                <a:latin typeface="Maple Mono NF"/>
              </a:rPr>
              <a:t>Annotated</a:t>
            </a:r>
            <a:r>
              <a:rPr sz="1100" b="0" dirty="0">
                <a:solidFill>
                  <a:schemeClr val="bg1"/>
                </a:solidFill>
                <a:latin typeface="Maple Mono NF"/>
              </a:rPr>
              <a:t>[Usage, </a:t>
            </a:r>
            <a:r>
              <a:rPr sz="1100" b="0" dirty="0" err="1">
                <a:solidFill>
                  <a:schemeClr val="bg1"/>
                </a:solidFill>
                <a:latin typeface="Maple Mono NF"/>
              </a:rPr>
              <a:t>add_usage</a:t>
            </a:r>
            <a:r>
              <a:rPr sz="1100" b="0" dirty="0">
                <a:solidFill>
                  <a:schemeClr val="bg1"/>
                </a:solidFill>
                <a:latin typeface="Maple Mono NF"/>
              </a:rPr>
              <a:t>]</a:t>
            </a:r>
          </a:p>
          <a:p>
            <a:pPr algn="l">
              <a:buNone/>
            </a:pPr>
            <a:r>
              <a:rPr sz="1100" b="0" dirty="0">
                <a:solidFill>
                  <a:schemeClr val="bg1"/>
                </a:solidFill>
                <a:latin typeface="Maple Mono NF"/>
              </a:rPr>
              <a:t>    </a:t>
            </a:r>
            <a:r>
              <a:rPr sz="1100" b="0" dirty="0" err="1">
                <a:solidFill>
                  <a:schemeClr val="bg1"/>
                </a:solidFill>
                <a:latin typeface="Maple Mono NF"/>
              </a:rPr>
              <a:t>model_calls</a:t>
            </a:r>
            <a:r>
              <a:rPr sz="1100" b="0" dirty="0">
                <a:solidFill>
                  <a:schemeClr val="bg1"/>
                </a:solidFill>
                <a:latin typeface="Maple Mono NF"/>
              </a:rPr>
              <a:t>: </a:t>
            </a:r>
            <a:r>
              <a:rPr sz="1100" b="1" dirty="0">
                <a:solidFill>
                  <a:schemeClr val="accent4">
                    <a:lumMod val="70000"/>
                    <a:lumOff val="30000"/>
                  </a:schemeClr>
                </a:solidFill>
                <a:latin typeface="Maple Mono NF"/>
              </a:rPr>
              <a:t>Annotated</a:t>
            </a:r>
            <a:r>
              <a:rPr sz="1100" b="0" dirty="0">
                <a:solidFill>
                  <a:schemeClr val="bg1"/>
                </a:solidFill>
                <a:latin typeface="Maple Mono NF"/>
              </a:rPr>
              <a:t>[int, </a:t>
            </a:r>
            <a:r>
              <a:rPr sz="1100" b="0" dirty="0" err="1">
                <a:solidFill>
                  <a:schemeClr val="bg1"/>
                </a:solidFill>
                <a:latin typeface="Maple Mono NF"/>
              </a:rPr>
              <a:t>operator.add</a:t>
            </a:r>
            <a:r>
              <a:rPr sz="1100" b="0" dirty="0">
                <a:solidFill>
                  <a:schemeClr val="bg1"/>
                </a:solidFill>
                <a:latin typeface="Maple Mono NF"/>
              </a:rPr>
              <a:t>]</a:t>
            </a:r>
          </a:p>
          <a:p>
            <a:pPr algn="l">
              <a:buNone/>
            </a:pPr>
            <a:r>
              <a:rPr sz="1100" b="0" dirty="0">
                <a:solidFill>
                  <a:schemeClr val="bg1"/>
                </a:solidFill>
                <a:latin typeface="Maple Mono NF"/>
              </a:rPr>
              <a:t>    status: str</a:t>
            </a:r>
          </a:p>
        </p:txBody>
      </p:sp>
      <p:sp>
        <p:nvSpPr>
          <p:cNvPr id="10" name="Rectangle 9"/>
          <p:cNvSpPr/>
          <p:nvPr/>
        </p:nvSpPr>
        <p:spPr>
          <a:xfrm>
            <a:off x="319251" y="371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For status, an update replaces the stored string. If a node returns no status value, the runtime keeps the previous string.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schemas and field lifetimes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planning agent adds five fields to the loop's schema. Shading marks field lifetimes: when stored values remain valid for later steps.</a:t>
            </a:r>
          </a:p>
        </p:txBody>
      </p:sp>
      <p:pic>
        <p:nvPicPr>
          <p:cNvPr id="4" name="Figure s2-agentstate" descr="s2-agentstate.png"/>
          <p:cNvPicPr>
            <a:picLocks noChangeAspect="1"/>
          </p:cNvPicPr>
          <p:nvPr/>
        </p:nvPicPr>
        <p:blipFill>
          <a:blip r:embed="rId3"/>
          <a:stretch>
            <a:fillRect/>
          </a:stretch>
        </p:blipFill>
        <p:spPr>
          <a:xfrm>
            <a:off x="250148" y="1390000"/>
            <a:ext cx="6152752" cy="2522205"/>
          </a:xfrm>
          <a:prstGeom prst="rect">
            <a:avLst/>
          </a:prstGeom>
        </p:spPr>
      </p:pic>
      <p:sp>
        <p:nvSpPr>
          <p:cNvPr id="5" name="Rectangle 4"/>
          <p:cNvSpPr/>
          <p:nvPr/>
        </p:nvSpPr>
        <p:spPr>
          <a:xfrm>
            <a:off x="319251" y="4102205"/>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Neither agent retries after rejection, so neither schema needs attempt-lifetime fields to clear before a new attempt (Figure 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Field lifetimes</a:t>
            </a:r>
          </a:p>
        </p:txBody>
      </p:sp>
      <p:sp>
        <p:nvSpPr>
          <p:cNvPr id="3" name="Content Placeholder 2"/>
          <p:cNvSpPr>
            <a:spLocks noGrp="1"/>
          </p:cNvSpPr>
          <p:nvPr>
            <p:ph idx="1"/>
          </p:nvPr>
        </p:nvSpPr>
        <p:spPr>
          <a:xfrm>
            <a:off x="319251" y="700000"/>
            <a:ext cx="6014545" cy="731648"/>
          </a:xfrm>
        </p:spPr>
        <p:txBody>
          <a:bodyPr wrap="square" anchor="ctr">
            <a:normAutofit fontScale="92500"/>
          </a:bodyPr>
          <a:lstStyle/>
          <a:p>
            <a:pPr marL="0" indent="0">
              <a:buNone/>
            </a:pPr>
            <a:r>
              <a:rPr sz="1400" b="1">
                <a:solidFill>
                  <a:srgbClr val="28285E"/>
                </a:solidFill>
              </a:rPr>
              <a:t>A field's lifetime is the interval during which later nodes may rely on its stored value. The lifetime ends when an event makes that value obsolete.</a:t>
            </a:r>
          </a:p>
        </p:txBody>
      </p:sp>
      <p:graphicFrame>
        <p:nvGraphicFramePr>
          <p:cNvPr id="4" name="Table 3"/>
          <p:cNvGraphicFramePr>
            <a:graphicFrameLocks noGrp="1"/>
          </p:cNvGraphicFramePr>
          <p:nvPr/>
        </p:nvGraphicFramePr>
        <p:xfrm>
          <a:off x="319251" y="1621648"/>
          <a:ext cx="6014545" cy="2395500"/>
        </p:xfrm>
        <a:graphic>
          <a:graphicData uri="http://schemas.openxmlformats.org/drawingml/2006/table">
            <a:tbl>
              <a:tblPr firstRow="1" bandRow="1">
                <a:tableStyleId>{5C22544A-7EE6-4342-B048-85BDC9FD1C3A}</a:tableStyleId>
              </a:tblPr>
              <a:tblGrid>
                <a:gridCol w="1300000">
                  <a:extLst>
                    <a:ext uri="{9D8B030D-6E8A-4147-A177-3AD203B41FA5}">
                      <a16:colId xmlns:a16="http://schemas.microsoft.com/office/drawing/2014/main" val="20000"/>
                    </a:ext>
                  </a:extLst>
                </a:gridCol>
                <a:gridCol w="4714545">
                  <a:extLst>
                    <a:ext uri="{9D8B030D-6E8A-4147-A177-3AD203B41FA5}">
                      <a16:colId xmlns:a16="http://schemas.microsoft.com/office/drawing/2014/main" val="20001"/>
                    </a:ext>
                  </a:extLst>
                </a:gridCol>
              </a:tblGrid>
              <a:tr h="300000">
                <a:tc>
                  <a:txBody>
                    <a:bodyPr/>
                    <a:lstStyle/>
                    <a:p>
                      <a:pPr>
                        <a:buNone/>
                      </a:pPr>
                      <a:r>
                        <a:rPr sz="1000" b="1">
                          <a:solidFill>
                            <a:schemeClr val="tx1"/>
                          </a:solidFill>
                        </a:rPr>
                        <a:t>Lifetime</a:t>
                      </a:r>
                    </a:p>
                  </a:txBody>
                  <a:tcPr marL="95250" marR="95250" marT="47625" marB="47625">
                    <a:lnB w="12700" cap="flat" cmpd="sng" algn="ctr">
                      <a:solidFill>
                        <a:schemeClr val="tx1"/>
                      </a:solidFill>
                    </a:lnB>
                    <a:noFill/>
                  </a:tcPr>
                </a:tc>
                <a:tc>
                  <a:txBody>
                    <a:bodyPr/>
                    <a:lstStyle/>
                    <a:p>
                      <a:pPr>
                        <a:buNone/>
                      </a:pPr>
                      <a:r>
                        <a:rPr sz="1000" b="1">
                          <a:solidFill>
                            <a:schemeClr val="tx1"/>
                          </a:solidFill>
                        </a:rPr>
                        <a:t>Definition and use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Identity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Identity fields identify the task, target and workspace and remain unchanged.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Run fields retain histories and counters that grow throughout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Current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Current fields hold the latest plan, candidate, check result or status until the writer replaces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Handoff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One node writes a reason for invoking another node. The receiving node reads that handoff field and clears it after acting.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Window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An index field marks where a selected window of history begins. Checks read from that index onward while the complete history remains stored.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Attempt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An attempt field holds one attempt’s results. Nodes clear the field before a retry so later steps cannot treat old results as current.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5" name="Rectangle 4"/>
          <p:cNvSpPr/>
          <p:nvPr/>
        </p:nvSpPr>
        <p:spPr>
          <a:xfrm>
            <a:off x="319251" y="4227037"/>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runtime merges updates according to reducers. Node code must enforce lifetime rules by retaining, replacing or clearing each field when required.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Handoff and window, in the planning agent</a:t>
            </a:r>
          </a:p>
        </p:txBody>
      </p:sp>
      <p:sp>
        <p:nvSpPr>
          <p:cNvPr id="3" name="Content Placeholder 2"/>
          <p:cNvSpPr>
            <a:spLocks noGrp="1"/>
          </p:cNvSpPr>
          <p:nvPr>
            <p:ph idx="1"/>
          </p:nvPr>
        </p:nvSpPr>
        <p:spPr>
          <a:xfrm>
            <a:off x="319251" y="700000"/>
            <a:ext cx="6014545" cy="731648"/>
          </a:xfrm>
        </p:spPr>
        <p:txBody>
          <a:bodyPr wrap="square" anchor="ctr">
            <a:normAutofit fontScale="85000" lnSpcReduction="20000"/>
          </a:bodyPr>
          <a:lstStyle/>
          <a:p>
            <a:pPr marL="0" indent="0">
              <a:buNone/>
            </a:pPr>
            <a:r>
              <a:rPr sz="1400" b="1">
                <a:solidFill>
                  <a:srgbClr val="28285E"/>
                </a:solidFill>
              </a:rPr>
              <a:t>When tools detects a stall, it stores the reason in </a:t>
            </a:r>
            <a:r>
              <a:rPr sz="1400" b="0">
                <a:solidFill>
                  <a:srgbClr val="28285E"/>
                </a:solidFill>
                <a:latin typeface="Maple Mono NF"/>
              </a:rPr>
              <a:t>failed_step</a:t>
            </a:r>
            <a:r>
              <a:rPr sz="1400" b="1">
                <a:solidFill>
                  <a:srgbClr val="28285E"/>
                </a:solidFill>
              </a:rPr>
              <a:t>. The plan node uses that reason to revise the plan, then clears </a:t>
            </a:r>
            <a:r>
              <a:rPr sz="1400" b="0">
                <a:solidFill>
                  <a:srgbClr val="28285E"/>
                </a:solidFill>
                <a:latin typeface="Maple Mono NF"/>
              </a:rPr>
              <a:t>failed_step</a:t>
            </a:r>
            <a:r>
              <a:rPr sz="1400" b="1">
                <a:solidFill>
                  <a:srgbClr val="28285E"/>
                </a:solidFill>
              </a:rPr>
              <a:t> and sets </a:t>
            </a:r>
            <a:r>
              <a:rPr sz="1400" b="0">
                <a:solidFill>
                  <a:srgbClr val="28285E"/>
                </a:solidFill>
                <a:latin typeface="Maple Mono NF"/>
              </a:rPr>
              <a:t>replanned_at</a:t>
            </a:r>
            <a:r>
              <a:rPr sz="1400" b="1">
                <a:solidFill>
                  <a:srgbClr val="28285E"/>
                </a:solidFill>
              </a:rPr>
              <a:t>.</a:t>
            </a:r>
          </a:p>
        </p:txBody>
      </p:sp>
      <p:sp>
        <p:nvSpPr>
          <p:cNvPr id="4" name="TextBox 3"/>
          <p:cNvSpPr txBox="1"/>
          <p:nvPr/>
        </p:nvSpPr>
        <p:spPr>
          <a:xfrm>
            <a:off x="319251" y="1621648"/>
            <a:ext cx="6014545" cy="200000"/>
          </a:xfrm>
          <a:prstGeom prst="rect">
            <a:avLst/>
          </a:prstGeom>
          <a:noFill/>
        </p:spPr>
        <p:txBody>
          <a:bodyPr wrap="none" lIns="0" tIns="0" rIns="0" bIns="0">
            <a:spAutoFit/>
          </a:bodyPr>
          <a:lstStyle/>
          <a:p>
            <a:r>
              <a:rPr sz="1200" b="1">
                <a:solidFill>
                  <a:srgbClr val="28285E"/>
                </a:solidFill>
              </a:rPr>
              <a:t>graph.py, tools lines 361 to 367 and plan lines 260 to 270. Excerpts</a:t>
            </a:r>
          </a:p>
        </p:txBody>
      </p:sp>
      <p:sp>
        <p:nvSpPr>
          <p:cNvPr id="5" name="CodeWindow"/>
          <p:cNvSpPr/>
          <p:nvPr/>
        </p:nvSpPr>
        <p:spPr>
          <a:xfrm>
            <a:off x="319251" y="1881648"/>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925464"/>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925464"/>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925464"/>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2211648"/>
            <a:ext cx="5714545" cy="1680000"/>
          </a:xfrm>
          <a:prstGeom prst="rect">
            <a:avLst/>
          </a:prstGeom>
          <a:noFill/>
        </p:spPr>
        <p:txBody>
          <a:bodyPr wrap="none" lIns="0" tIns="0" rIns="0" bIns="0" anchor="t">
            <a:spAutoFit/>
          </a:bodyPr>
          <a:lstStyle/>
          <a:p>
            <a:pPr algn="l">
              <a:buNone/>
            </a:pPr>
            <a:r>
              <a:rPr sz="1100" b="0">
                <a:solidFill>
                  <a:schemeClr val="accent2"/>
                </a:solidFill>
                <a:latin typeface="Maple Mono NF"/>
              </a:rPr>
              <a:t>if</a:t>
            </a:r>
            <a:r>
              <a:rPr sz="1100" b="0">
                <a:solidFill>
                  <a:schemeClr val="bg1"/>
                </a:solidFill>
                <a:latin typeface="Maple Mono NF"/>
              </a:rPr>
              <a:t> (</a:t>
            </a:r>
            <a:r>
              <a:rPr sz="1100" b="0">
                <a:solidFill>
                  <a:schemeClr val="accent2"/>
                </a:solidFill>
                <a:latin typeface="Maple Mono NF"/>
              </a:rPr>
              <a:t>not</a:t>
            </a:r>
            <a:r>
              <a:rPr sz="1100" b="0">
                <a:solidFill>
                  <a:schemeClr val="bg1"/>
                </a:solidFill>
                <a:latin typeface="Maple Mono NF"/>
              </a:rPr>
              <a:t> state.get(</a:t>
            </a:r>
            <a:r>
              <a:rPr sz="1100" b="0">
                <a:solidFill>
                  <a:schemeClr val="accent3">
                    <a:lumMod val="55000"/>
                    <a:lumOff val="45000"/>
                  </a:schemeClr>
                </a:solidFill>
                <a:latin typeface="Maple Mono NF"/>
              </a:rPr>
              <a:t>"replanned_at"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and</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.stalled(window, </a:t>
            </a:r>
            <a:r>
              <a:rPr sz="1100" b="0">
                <a:solidFill>
                  <a:schemeClr val="accent2"/>
                </a:solidFill>
                <a:latin typeface="Maple Mono NF"/>
              </a:rPr>
              <a:t>self</a:t>
            </a:r>
            <a:r>
              <a:rPr sz="1100" b="0">
                <a:solidFill>
                  <a:schemeClr val="bg1"/>
                </a:solidFill>
                <a:latin typeface="Maple Mono NF"/>
              </a:rPr>
              <a:t>.config.no_progress_steps)):</a:t>
            </a:r>
          </a:p>
          <a:p>
            <a:pPr algn="l">
              <a:buNone/>
            </a:pPr>
            <a:r>
              <a:rPr sz="1100" b="0">
                <a:solidFill>
                  <a:schemeClr val="bg1"/>
                </a:solidFill>
                <a:latin typeface="Maple Mono NF"/>
              </a:rPr>
              <a:t>    update["</a:t>
            </a:r>
            <a:r>
              <a:rPr sz="1100" b="1">
                <a:solidFill>
                  <a:schemeClr val="accent4">
                    <a:lumMod val="70000"/>
                    <a:lumOff val="30000"/>
                  </a:schemeClr>
                </a:solidFill>
                <a:latin typeface="Maple Mono NF"/>
              </a:rPr>
              <a:t>failed_step</a:t>
            </a:r>
            <a:r>
              <a:rPr sz="1100" b="0">
                <a:solidFill>
                  <a:schemeClr val="bg1"/>
                </a:solidFill>
                <a:latin typeface="Maple Mono NF"/>
              </a:rPr>
              <a:t>"] = {  </a:t>
            </a:r>
            <a:r>
              <a:rPr sz="1100" b="0">
                <a:solidFill>
                  <a:schemeClr val="accent6"/>
                </a:solidFill>
                <a:latin typeface="Maple Mono NF"/>
              </a:rPr>
              <a:t># ours: remaining entries omitted</a:t>
            </a:r>
          </a:p>
          <a:p>
            <a:pPr algn="l">
              <a:buNone/>
            </a:pPr>
            <a:r>
              <a:rPr sz="1100" b="0">
                <a:solidFill>
                  <a:schemeClr val="accent6"/>
                </a:solidFill>
                <a:latin typeface="Maple Mono NF"/>
              </a:rPr>
              <a:t># ours: The plan node returns this partial update.</a:t>
            </a:r>
          </a:p>
          <a:p>
            <a:pPr algn="l">
              <a:buNone/>
            </a:pPr>
            <a:r>
              <a:rPr sz="1100" b="0">
                <a:solidFill>
                  <a:schemeClr val="bg1"/>
                </a:solidFill>
                <a:latin typeface="Maple Mono NF"/>
              </a:rPr>
              <a:t>update = {</a:t>
            </a:r>
            <a:r>
              <a:rPr sz="1100" b="0">
                <a:solidFill>
                  <a:schemeClr val="accent3">
                    <a:lumMod val="55000"/>
                    <a:lumOff val="45000"/>
                  </a:schemeClr>
                </a:solidFill>
                <a:latin typeface="Maple Mono NF"/>
              </a:rPr>
              <a:t>"plan"</a:t>
            </a:r>
            <a:r>
              <a:rPr sz="1100" b="0">
                <a:solidFill>
                  <a:schemeClr val="bg1"/>
                </a:solidFill>
                <a:latin typeface="Maple Mono NF"/>
              </a:rPr>
              <a:t>: steps,</a:t>
            </a:r>
          </a:p>
          <a:p>
            <a:pPr algn="l">
              <a:buNone/>
            </a:pPr>
            <a:r>
              <a:rPr sz="1100" b="0">
                <a:solidFill>
                  <a:schemeClr val="bg1"/>
                </a:solidFill>
                <a:latin typeface="Maple Mono NF"/>
              </a:rPr>
              <a:t>          "</a:t>
            </a:r>
            <a:r>
              <a:rPr sz="1100" b="1">
                <a:solidFill>
                  <a:schemeClr val="accent4">
                    <a:lumMod val="70000"/>
                    <a:lumOff val="30000"/>
                  </a:schemeClr>
                </a:solidFill>
                <a:latin typeface="Maple Mono NF"/>
              </a:rPr>
              <a:t>failed_step</a:t>
            </a:r>
            <a:r>
              <a:rPr sz="1100" b="0">
                <a:solidFill>
                  <a:schemeClr val="bg1"/>
                </a:solidFill>
                <a:latin typeface="Maple Mono NF"/>
              </a:rPr>
              <a:t>": </a:t>
            </a:r>
            <a:r>
              <a:rPr sz="1100" b="0">
                <a:solidFill>
                  <a:schemeClr val="accent2"/>
                </a:solidFill>
                <a:latin typeface="Maple Mono NF"/>
              </a:rPr>
              <a:t>None</a:t>
            </a:r>
            <a:r>
              <a:rPr sz="1100" b="0">
                <a:solidFill>
                  <a:schemeClr val="bg1"/>
                </a:solidFill>
                <a:latin typeface="Maple Mono NF"/>
              </a:rPr>
              <a:t>,</a:t>
            </a:r>
          </a:p>
          <a:p>
            <a:pPr algn="l">
              <a:buNone/>
            </a:pPr>
            <a:r>
              <a:rPr sz="1100" b="0">
                <a:solidFill>
                  <a:schemeClr val="accent2"/>
                </a:solidFill>
                <a:latin typeface="Maple Mono NF"/>
              </a:rPr>
              <a:t>if</a:t>
            </a:r>
            <a:r>
              <a:rPr sz="1100" b="0">
                <a:solidFill>
                  <a:schemeClr val="bg1"/>
                </a:solidFill>
                <a:latin typeface="Maple Mono NF"/>
              </a:rPr>
              <a:t> failed:</a:t>
            </a:r>
          </a:p>
          <a:p>
            <a:pPr algn="l">
              <a:buNone/>
            </a:pPr>
            <a:r>
              <a:rPr sz="1100" b="0">
                <a:solidFill>
                  <a:schemeClr val="bg1"/>
                </a:solidFill>
                <a:latin typeface="Maple Mono NF"/>
              </a:rPr>
              <a:t>    update[</a:t>
            </a:r>
            <a:r>
              <a:rPr sz="1100" b="0">
                <a:solidFill>
                  <a:schemeClr val="accent3">
                    <a:lumMod val="55000"/>
                    <a:lumOff val="45000"/>
                  </a:schemeClr>
                </a:solidFill>
                <a:latin typeface="Maple Mono NF"/>
              </a:rPr>
              <a:t>"replanned_at"</a:t>
            </a:r>
            <a:r>
              <a:rPr sz="1100" b="0">
                <a:solidFill>
                  <a:schemeClr val="bg1"/>
                </a:solidFill>
                <a:latin typeface="Maple Mono NF"/>
              </a:rPr>
              <a:t>] = len(state[</a:t>
            </a:r>
            <a:r>
              <a:rPr sz="1100" b="0">
                <a:solidFill>
                  <a:schemeClr val="accent3">
                    <a:lumMod val="55000"/>
                    <a:lumOff val="45000"/>
                  </a:schemeClr>
                </a:solidFill>
                <a:latin typeface="Maple Mono NF"/>
              </a:rPr>
              <a:t>"observations"</a:t>
            </a:r>
            <a:r>
              <a:rPr sz="1100" b="0">
                <a:solidFill>
                  <a:schemeClr val="bg1"/>
                </a:solidFill>
                <a:latin typeface="Maple Mono NF"/>
              </a:rPr>
              <a:t>])</a:t>
            </a:r>
          </a:p>
        </p:txBody>
      </p:sp>
      <p:sp>
        <p:nvSpPr>
          <p:cNvPr id="10" name="Rectangle 9"/>
          <p:cNvSpPr/>
          <p:nvPr/>
        </p:nvSpPr>
        <p:spPr>
          <a:xfrm>
            <a:off x="319251" y="4151648"/>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If </a:t>
            </a:r>
            <a:r>
              <a:rPr sz="1200" b="0">
                <a:solidFill>
                  <a:schemeClr val="tx2"/>
                </a:solidFill>
                <a:latin typeface="Maple Mono NF"/>
              </a:rPr>
              <a:t>failed_step</a:t>
            </a:r>
            <a:r>
              <a:rPr sz="1200" b="1">
                <a:solidFill>
                  <a:schemeClr val="tx2"/>
                </a:solidFill>
              </a:rPr>
              <a:t> remained set, after_tools would select plan again on the next tools step.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Proving invariants over configurations</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20000"/>
          </a:bodyPr>
          <a:lstStyle/>
          <a:p>
            <a:pPr marL="0" indent="0">
              <a:buNone/>
            </a:pPr>
            <a:r>
              <a:rPr sz="1400" b="1">
                <a:solidFill>
                  <a:srgbClr val="28285E"/>
                </a:solidFill>
              </a:rPr>
              <a:t>To prove that every run obeys a limit, we express the limit as a predicate: a condition that is true or false for a configuration.</a:t>
            </a:r>
          </a:p>
          <a:p>
            <a:pPr marL="400050" indent="-285750">
              <a:spcBef>
                <a:spcPts val="600"/>
              </a:spcBef>
              <a:spcAft>
                <a:spcPts val="600"/>
              </a:spcAft>
              <a:buClr>
                <a:srgbClr val="28285E"/>
              </a:buClr>
              <a:buSzPts val="1260"/>
              <a:buFont typeface="+mn-lt"/>
              <a:buChar char="●"/>
            </a:pPr>
            <a:r>
              <a:rPr sz="1400" b="1">
                <a:solidFill>
                  <a:schemeClr val="tx1"/>
                </a:solidFill>
              </a:rPr>
              <a:t>Initial case.</a:t>
            </a:r>
            <a:r>
              <a:rPr sz="1400" b="0">
                <a:solidFill>
                  <a:schemeClr val="tx1"/>
                </a:solidFill>
              </a:rPr>
              <a:t> Show that the predicate is true for the initial control location and variable values.</a:t>
            </a:r>
          </a:p>
          <a:p>
            <a:pPr marL="400050" indent="-285750">
              <a:spcBef>
                <a:spcPts val="600"/>
              </a:spcBef>
              <a:spcAft>
                <a:spcPts val="600"/>
              </a:spcAft>
              <a:buClr>
                <a:srgbClr val="28285E"/>
              </a:buClr>
              <a:buSzPts val="1260"/>
              <a:buFont typeface="+mn-lt"/>
              <a:buChar char="●"/>
            </a:pPr>
            <a:r>
              <a:rPr sz="1400" b="1">
                <a:solidFill>
                  <a:schemeClr val="tx1"/>
                </a:solidFill>
              </a:rPr>
              <a:t>Preservation.</a:t>
            </a:r>
            <a:r>
              <a:rPr sz="1400" b="0">
                <a:solidFill>
                  <a:schemeClr val="tx1"/>
                </a:solidFill>
              </a:rPr>
              <a:t> For each permitted transition, assume the predicate is true before the step and show that it is still true afterward.</a:t>
            </a:r>
          </a:p>
          <a:p>
            <a:pPr marL="400050" indent="-285750">
              <a:spcBef>
                <a:spcPts val="600"/>
              </a:spcBef>
              <a:spcAft>
                <a:spcPts val="600"/>
              </a:spcAft>
              <a:buClr>
                <a:srgbClr val="28285E"/>
              </a:buClr>
              <a:buSzPts val="1260"/>
              <a:buFont typeface="+mn-lt"/>
              <a:buChar char="●"/>
            </a:pPr>
            <a:r>
              <a:rPr sz="1400" b="1">
                <a:solidFill>
                  <a:schemeClr val="tx1"/>
                </a:solidFill>
              </a:rPr>
              <a:t>A stronger predicate</a:t>
            </a:r>
            <a:r>
              <a:rPr sz="1400" b="0">
                <a:solidFill>
                  <a:schemeClr val="tx1"/>
                </a:solidFill>
              </a:rPr>
              <a:t> adds conditions to the desired property. For the call budget, we also require the counter to equal the number of completed calls.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predicate that holds initially and remains true after every transition is an invariant. It is therefore true at every configuration that a run can reach.</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An invariant proof applies to every possible run, including runs we have never executed.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call budget as an invariant</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To bound completed model calls, we prove that </a:t>
            </a:r>
            <a:r>
              <a:rPr sz="1400" b="0">
                <a:solidFill>
                  <a:srgbClr val="28285E"/>
                </a:solidFill>
                <a:latin typeface="Maple Mono NF"/>
              </a:rPr>
              <a:t>model_calls</a:t>
            </a:r>
            <a:r>
              <a:rPr sz="1400" b="1">
                <a:solidFill>
                  <a:srgbClr val="28285E"/>
                </a:solidFill>
              </a:rPr>
              <a:t> counts them exactly and never exceeds the budget.</a:t>
            </a:r>
          </a:p>
          <a:p>
            <a:pPr marL="400050" indent="-285750">
              <a:spcBef>
                <a:spcPts val="600"/>
              </a:spcBef>
              <a:spcAft>
                <a:spcPts val="600"/>
              </a:spcAft>
              <a:buClr>
                <a:srgbClr val="28285E"/>
              </a:buClr>
              <a:buSzPts val="1260"/>
              <a:buFont typeface="+mn-lt"/>
              <a:buChar char="●"/>
            </a:pPr>
            <a:r>
              <a:rPr sz="1400" b="1">
                <a:solidFill>
                  <a:schemeClr val="tx1"/>
                </a:solidFill>
              </a:rPr>
              <a:t>Admission.</a:t>
            </a:r>
            <a:r>
              <a:rPr sz="1400" b="0">
                <a:solidFill>
                  <a:schemeClr val="tx1"/>
                </a:solidFill>
              </a:rPr>
              <a:t> Each node checks that the stored call counter is below the budget before issuing a model call.</a:t>
            </a:r>
          </a:p>
          <a:p>
            <a:pPr marL="400050" indent="-285750">
              <a:spcBef>
                <a:spcPts val="600"/>
              </a:spcBef>
              <a:spcAft>
                <a:spcPts val="600"/>
              </a:spcAft>
              <a:buClr>
                <a:srgbClr val="28285E"/>
              </a:buClr>
              <a:buSzPts val="1260"/>
              <a:buFont typeface="+mn-lt"/>
              <a:buChar char="●"/>
            </a:pPr>
            <a:r>
              <a:rPr sz="1400" b="1">
                <a:solidFill>
                  <a:schemeClr val="tx1"/>
                </a:solidFill>
              </a:rPr>
              <a:t>Counting.</a:t>
            </a:r>
            <a:r>
              <a:rPr sz="1400" b="0">
                <a:solidFill>
                  <a:schemeClr val="tx1"/>
                </a:solidFill>
              </a:rPr>
              <a:t> After a call completes, the node returns </a:t>
            </a:r>
            <a:r>
              <a:rPr sz="1400" b="0">
                <a:solidFill>
                  <a:schemeClr val="tx1"/>
                </a:solidFill>
                <a:latin typeface="Maple Mono NF"/>
              </a:rPr>
              <a:t>model_calls: 1</a:t>
            </a:r>
            <a:r>
              <a:rPr sz="1400" b="0">
                <a:solidFill>
                  <a:schemeClr val="tx1"/>
                </a:solidFill>
              </a:rPr>
              <a:t>, and the reducer adds one to the stored count.</a:t>
            </a:r>
          </a:p>
          <a:p>
            <a:pPr marL="400050" indent="-285750">
              <a:spcBef>
                <a:spcPts val="600"/>
              </a:spcBef>
              <a:spcAft>
                <a:spcPts val="600"/>
              </a:spcAft>
              <a:buClr>
                <a:srgbClr val="28285E"/>
              </a:buClr>
              <a:buSzPts val="1260"/>
              <a:buFont typeface="+mn-lt"/>
              <a:buChar char="●"/>
            </a:pPr>
            <a:r>
              <a:rPr sz="1400" b="1">
                <a:solidFill>
                  <a:schemeClr val="tx1"/>
                </a:solidFill>
              </a:rPr>
              <a:t>Preservation.</a:t>
            </a:r>
            <a:r>
              <a:rPr sz="1400" b="0">
                <a:solidFill>
                  <a:schemeClr val="tx1"/>
                </a:solidFill>
              </a:rPr>
              <a:t> A step without a call leaves the counter unchanged. No transition resets or decreases it.</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reducer accumulates reported calls. Each caller must check the budget before calling and report each completed call exactly once.</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In our agent, </a:t>
            </a:r>
            <a:r>
              <a:rPr sz="1200" b="0">
                <a:solidFill>
                  <a:srgbClr val="28285E"/>
                </a:solidFill>
                <a:latin typeface="Maple Mono NF"/>
              </a:rPr>
              <a:t>model_calls</a:t>
            </a:r>
            <a:r>
              <a:rPr sz="1200" b="1">
                <a:solidFill>
                  <a:srgbClr val="28285E"/>
                </a:solidFill>
              </a:rPr>
              <a:t> must remain at most forty.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Constructing and compiling the state graph</a:t>
            </a:r>
          </a:p>
        </p:txBody>
      </p:sp>
      <p:sp>
        <p:nvSpPr>
          <p:cNvPr id="3" name="Content Placeholder 2"/>
          <p:cNvSpPr>
            <a:spLocks noGrp="1"/>
          </p:cNvSpPr>
          <p:nvPr>
            <p:ph idx="1"/>
          </p:nvPr>
        </p:nvSpPr>
        <p:spPr>
          <a:xfrm>
            <a:off x="319251" y="700000"/>
            <a:ext cx="6014545" cy="500000"/>
          </a:xfrm>
        </p:spPr>
        <p:txBody>
          <a:bodyPr wrap="square" anchor="ctr">
            <a:normAutofit fontScale="77500" lnSpcReduction="20000"/>
          </a:bodyPr>
          <a:lstStyle/>
          <a:p>
            <a:pPr marL="0" indent="0">
              <a:buNone/>
            </a:pPr>
            <a:r>
              <a:rPr sz="1400" b="0">
                <a:solidFill>
                  <a:srgbClr val="28285E"/>
                </a:solidFill>
                <a:latin typeface="Maple Mono NF"/>
              </a:rPr>
              <a:t>StateGraph</a:t>
            </a:r>
            <a:r>
              <a:rPr sz="1400" b="1">
                <a:solidFill>
                  <a:srgbClr val="28285E"/>
                </a:solidFill>
              </a:rPr>
              <a:t> creates one channel per schema field to store its value and merge updates.</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graph.py, compile, lines 493 to 521. Selected declarations</a:t>
            </a:r>
          </a:p>
        </p:txBody>
      </p:sp>
      <p:sp>
        <p:nvSpPr>
          <p:cNvPr id="5" name="CodeWindow"/>
          <p:cNvSpPr/>
          <p:nvPr/>
        </p:nvSpPr>
        <p:spPr>
          <a:xfrm>
            <a:off x="319251" y="1650000"/>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890000"/>
          </a:xfrm>
          <a:prstGeom prst="rect">
            <a:avLst/>
          </a:prstGeom>
          <a:noFill/>
        </p:spPr>
        <p:txBody>
          <a:bodyPr wrap="none" lIns="0" tIns="0" rIns="0" bIns="0" anchor="t">
            <a:spAutoFit/>
          </a:bodyPr>
          <a:lstStyle/>
          <a:p>
            <a:pPr algn="l">
              <a:buNone/>
            </a:pPr>
            <a:r>
              <a:rPr sz="1100" b="0">
                <a:solidFill>
                  <a:schemeClr val="bg1"/>
                </a:solidFill>
                <a:latin typeface="Maple Mono NF"/>
              </a:rPr>
              <a:t>graph = StateGraph(AgentState)</a:t>
            </a:r>
          </a:p>
          <a:p>
            <a:pPr algn="l">
              <a:buNone/>
            </a:pPr>
            <a:r>
              <a:rPr sz="1100" b="0">
                <a:solidFill>
                  <a:schemeClr val="bg1"/>
                </a:solidFill>
                <a:latin typeface="Maple Mono NF"/>
              </a:rPr>
              <a:t>graph.add_node(</a:t>
            </a:r>
            <a:r>
              <a:rPr sz="1100" b="0">
                <a:solidFill>
                  <a:schemeClr val="accent3">
                    <a:lumMod val="55000"/>
                    <a:lumOff val="45000"/>
                  </a:schemeClr>
                </a:solidFill>
                <a:latin typeface="Maple Mono NF"/>
              </a:rPr>
              <a:t>"plan"</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.plan)</a:t>
            </a:r>
          </a:p>
          <a:p>
            <a:pPr algn="l">
              <a:buNone/>
            </a:pPr>
            <a:r>
              <a:rPr sz="1100" b="0">
                <a:solidFill>
                  <a:schemeClr val="bg1"/>
                </a:solidFill>
                <a:latin typeface="Maple Mono NF"/>
              </a:rPr>
              <a:t>graph.add_node(</a:t>
            </a:r>
            <a:r>
              <a:rPr sz="1100" b="0">
                <a:solidFill>
                  <a:schemeClr val="accent3">
                    <a:lumMod val="55000"/>
                    <a:lumOff val="45000"/>
                  </a:schemeClr>
                </a:solidFill>
                <a:latin typeface="Maple Mono NF"/>
              </a:rPr>
              <a:t>"tools"</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.tools)</a:t>
            </a:r>
          </a:p>
          <a:p>
            <a:pPr algn="l">
              <a:buNone/>
            </a:pPr>
            <a:r>
              <a:rPr sz="1100" b="0">
                <a:solidFill>
                  <a:schemeClr val="accent6"/>
                </a:solidFill>
                <a:latin typeface="Maple Mono NF"/>
              </a:rPr>
              <a:t># ours: Five node and five edge declarations are omitted.</a:t>
            </a:r>
          </a:p>
          <a:p>
            <a:pPr algn="l">
              <a:buNone/>
            </a:pPr>
            <a:r>
              <a:rPr sz="1100" b="0">
                <a:solidFill>
                  <a:schemeClr val="bg1"/>
                </a:solidFill>
                <a:latin typeface="Maple Mono NF"/>
              </a:rPr>
              <a:t>graph.add_edge(START, </a:t>
            </a:r>
            <a:r>
              <a:rPr sz="1100" b="0">
                <a:solidFill>
                  <a:schemeClr val="accent3">
                    <a:lumMod val="55000"/>
                    <a:lumOff val="45000"/>
                  </a:schemeClr>
                </a:solidFill>
                <a:latin typeface="Maple Mono NF"/>
              </a:rPr>
              <a:t>"scan"</a:t>
            </a:r>
            <a:r>
              <a:rPr sz="1100" b="0">
                <a:solidFill>
                  <a:schemeClr val="bg1"/>
                </a:solidFill>
                <a:latin typeface="Maple Mono NF"/>
              </a:rPr>
              <a:t>)</a:t>
            </a:r>
          </a:p>
          <a:p>
            <a:pPr algn="l">
              <a:buNone/>
            </a:pPr>
            <a:r>
              <a:rPr sz="1100" b="0">
                <a:solidFill>
                  <a:schemeClr val="bg1"/>
                </a:solidFill>
                <a:latin typeface="Maple Mono NF"/>
              </a:rPr>
              <a:t>graph.</a:t>
            </a:r>
            <a:r>
              <a:rPr sz="1100" b="1">
                <a:solidFill>
                  <a:schemeClr val="accent4">
                    <a:lumMod val="70000"/>
                    <a:lumOff val="30000"/>
                  </a:schemeClr>
                </a:solidFill>
                <a:latin typeface="Maple Mono NF"/>
              </a:rPr>
              <a:t>add_conditional_edges</a:t>
            </a:r>
            <a:r>
              <a:rPr sz="1100" b="0">
                <a:solidFill>
                  <a:schemeClr val="bg1"/>
                </a:solidFill>
                <a:latin typeface="Maple Mono NF"/>
              </a:rPr>
              <a:t>(</a:t>
            </a:r>
            <a:r>
              <a:rPr sz="1100" b="0">
                <a:solidFill>
                  <a:schemeClr val="accent3">
                    <a:lumMod val="55000"/>
                    <a:lumOff val="45000"/>
                  </a:schemeClr>
                </a:solidFill>
                <a:latin typeface="Maple Mono NF"/>
              </a:rPr>
              <a:t>"tools"</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.after_tools,</a:t>
            </a:r>
          </a:p>
          <a:p>
            <a:pPr algn="l">
              <a:buNone/>
            </a:pPr>
            <a:r>
              <a:rPr sz="1100" b="0">
                <a:solidFill>
                  <a:schemeClr val="bg1"/>
                </a:solidFill>
                <a:latin typeface="Maple Mono NF"/>
              </a:rPr>
              <a:t>    {</a:t>
            </a:r>
            <a:r>
              <a:rPr sz="1100" b="0">
                <a:solidFill>
                  <a:schemeClr val="accent3">
                    <a:lumMod val="55000"/>
                    <a:lumOff val="45000"/>
                  </a:schemeClr>
                </a:solidFill>
                <a:latin typeface="Maple Mono NF"/>
              </a:rPr>
              <a:t>"controller"</a:t>
            </a:r>
            <a:r>
              <a:rPr sz="1100" b="0">
                <a:solidFill>
                  <a:schemeClr val="bg1"/>
                </a:solidFill>
                <a:latin typeface="Maple Mono NF"/>
              </a:rPr>
              <a:t>: </a:t>
            </a:r>
            <a:r>
              <a:rPr sz="1100" b="0">
                <a:solidFill>
                  <a:schemeClr val="accent3">
                    <a:lumMod val="55000"/>
                    <a:lumOff val="45000"/>
                  </a:schemeClr>
                </a:solidFill>
                <a:latin typeface="Maple Mono NF"/>
              </a:rPr>
              <a:t>"controller"</a:t>
            </a:r>
            <a:r>
              <a:rPr sz="1100" b="0">
                <a:solidFill>
                  <a:schemeClr val="bg1"/>
                </a:solidFill>
                <a:latin typeface="Maple Mono NF"/>
              </a:rPr>
              <a:t>, </a:t>
            </a:r>
            <a:r>
              <a:rPr sz="1100" b="0">
                <a:solidFill>
                  <a:schemeClr val="accent3">
                    <a:lumMod val="55000"/>
                    <a:lumOff val="45000"/>
                  </a:schemeClr>
                </a:solidFill>
                <a:latin typeface="Maple Mono NF"/>
              </a:rPr>
              <a:t>"plan"</a:t>
            </a:r>
            <a:r>
              <a:rPr sz="1100" b="0">
                <a:solidFill>
                  <a:schemeClr val="bg1"/>
                </a:solidFill>
                <a:latin typeface="Maple Mono NF"/>
              </a:rPr>
              <a:t>: </a:t>
            </a:r>
            <a:r>
              <a:rPr sz="1100" b="0">
                <a:solidFill>
                  <a:schemeClr val="accent3">
                    <a:lumMod val="55000"/>
                    <a:lumOff val="45000"/>
                  </a:schemeClr>
                </a:solidFill>
                <a:latin typeface="Maple Mono NF"/>
              </a:rPr>
              <a:t>"plan"</a:t>
            </a:r>
            <a:r>
              <a:rPr sz="1100" b="0">
                <a:solidFill>
                  <a:schemeClr val="bg1"/>
                </a:solidFill>
                <a:latin typeface="Maple Mono NF"/>
              </a:rPr>
              <a:t>})</a:t>
            </a:r>
          </a:p>
          <a:p>
            <a:pPr algn="l">
              <a:buNone/>
            </a:pPr>
            <a:r>
              <a:rPr sz="1100" b="0">
                <a:solidFill>
                  <a:schemeClr val="bg1"/>
                </a:solidFill>
                <a:latin typeface="Maple Mono NF"/>
              </a:rPr>
              <a:t>graph.add_edge(</a:t>
            </a:r>
            <a:r>
              <a:rPr sz="1100" b="0">
                <a:solidFill>
                  <a:schemeClr val="accent3">
                    <a:lumMod val="55000"/>
                    <a:lumOff val="45000"/>
                  </a:schemeClr>
                </a:solidFill>
                <a:latin typeface="Maple Mono NF"/>
              </a:rPr>
              <a:t>"validate"</a:t>
            </a:r>
            <a:r>
              <a:rPr sz="1100" b="0">
                <a:solidFill>
                  <a:schemeClr val="bg1"/>
                </a:solidFill>
                <a:latin typeface="Maple Mono NF"/>
              </a:rPr>
              <a:t>, END)</a:t>
            </a:r>
          </a:p>
          <a:p>
            <a:pPr algn="l">
              <a:buNone/>
            </a:pPr>
            <a:r>
              <a:rPr sz="1100" b="0">
                <a:solidFill>
                  <a:schemeClr val="accent2"/>
                </a:solidFill>
                <a:latin typeface="Maple Mono NF"/>
              </a:rPr>
              <a:t>return</a:t>
            </a:r>
            <a:r>
              <a:rPr sz="1100" b="0">
                <a:solidFill>
                  <a:schemeClr val="bg1"/>
                </a:solidFill>
                <a:latin typeface="Maple Mono NF"/>
              </a:rPr>
              <a:t> graph.compile()</a:t>
            </a:r>
          </a:p>
        </p:txBody>
      </p:sp>
      <p:sp>
        <p:nvSpPr>
          <p:cNvPr id="10" name="Rectangle 9"/>
          <p:cNvSpPr/>
          <p:nvPr/>
        </p:nvSpPr>
        <p:spPr>
          <a:xfrm>
            <a:off x="319251" y="413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latin typeface="Maple Mono NF"/>
              </a:rPr>
              <a:t>compile()</a:t>
            </a:r>
            <a:r>
              <a:rPr sz="1200" b="1">
                <a:solidFill>
                  <a:schemeClr val="tx2"/>
                </a:solidFill>
              </a:rPr>
              <a:t> checks the declared graph connections and returns a graph that the runtime can execute.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Designing a state graph</a:t>
            </a:r>
          </a:p>
        </p:txBody>
      </p:sp>
      <p:sp>
        <p:nvSpPr>
          <p:cNvPr id="3" name="Content Placeholder 2"/>
          <p:cNvSpPr>
            <a:spLocks noGrp="1"/>
          </p:cNvSpPr>
          <p:nvPr>
            <p:ph idx="1"/>
          </p:nvPr>
        </p:nvSpPr>
        <p:spPr>
          <a:xfrm>
            <a:off x="319251" y="700000"/>
            <a:ext cx="6014545" cy="3190088"/>
          </a:xfrm>
        </p:spPr>
        <p:txBody>
          <a:bodyPr wrap="square" anchor="ctr">
            <a:normAutofit fontScale="92500" lnSpcReduction="10000"/>
          </a:bodyPr>
          <a:lstStyle/>
          <a:p>
            <a:pPr marL="0" indent="0">
              <a:buNone/>
            </a:pPr>
            <a:r>
              <a:rPr sz="1400" b="1">
                <a:solidFill>
                  <a:srgbClr val="28285E"/>
                </a:solidFill>
              </a:rPr>
              <a:t>Declare each field when you add the node that writes it.</a:t>
            </a:r>
          </a:p>
          <a:p>
            <a:pPr marL="400050" indent="-285750">
              <a:spcBef>
                <a:spcPts val="600"/>
              </a:spcBef>
              <a:spcAft>
                <a:spcPts val="600"/>
              </a:spcAft>
              <a:buClr>
                <a:srgbClr val="28285E"/>
              </a:buClr>
              <a:buSzPts val="1260"/>
              <a:buFont typeface="+mn-lt"/>
              <a:buChar char="●"/>
            </a:pPr>
            <a:r>
              <a:rPr sz="1400" b="1">
                <a:solidFill>
                  <a:schemeClr val="tx1"/>
                </a:solidFill>
              </a:rPr>
              <a:t>Specify the nodes</a:t>
            </a:r>
            <a:r>
              <a:rPr sz="1400" b="0">
                <a:solidFill>
                  <a:schemeClr val="tx1"/>
                </a:solidFill>
              </a:rPr>
              <a:t> and the rules that select which node runs next.</a:t>
            </a:r>
          </a:p>
          <a:p>
            <a:pPr marL="400050" indent="-285750">
              <a:spcBef>
                <a:spcPts val="600"/>
              </a:spcBef>
              <a:spcAft>
                <a:spcPts val="600"/>
              </a:spcAft>
              <a:buClr>
                <a:srgbClr val="28285E"/>
              </a:buClr>
              <a:buSzPts val="1260"/>
              <a:buFont typeface="+mn-lt"/>
              <a:buChar char="●"/>
            </a:pPr>
            <a:r>
              <a:rPr sz="1400" b="1">
                <a:solidFill>
                  <a:schemeClr val="tx1"/>
                </a:solidFill>
              </a:rPr>
              <a:t>Declare fields</a:t>
            </a:r>
            <a:r>
              <a:rPr sz="1400" b="0">
                <a:solidFill>
                  <a:schemeClr val="tx1"/>
                </a:solidFill>
              </a:rPr>
              <a:t> for values that nodes and routing functions read.</a:t>
            </a:r>
          </a:p>
          <a:p>
            <a:pPr marL="400050" indent="-285750">
              <a:spcBef>
                <a:spcPts val="600"/>
              </a:spcBef>
              <a:spcAft>
                <a:spcPts val="600"/>
              </a:spcAft>
              <a:buClr>
                <a:srgbClr val="28285E"/>
              </a:buClr>
              <a:buSzPts val="1260"/>
              <a:buFont typeface="+mn-lt"/>
              <a:buChar char="●"/>
            </a:pPr>
            <a:r>
              <a:rPr sz="1400" b="1">
                <a:solidFill>
                  <a:schemeClr val="tx1"/>
                </a:solidFill>
              </a:rPr>
              <a:t>Name the node</a:t>
            </a:r>
            <a:r>
              <a:rPr sz="1400" b="0">
                <a:solidFill>
                  <a:schemeClr val="tx1"/>
                </a:solidFill>
              </a:rPr>
              <a:t> that writes each field and when later nodes must stop using its old value.</a:t>
            </a:r>
          </a:p>
          <a:p>
            <a:pPr marL="400050" indent="-285750">
              <a:spcBef>
                <a:spcPts val="600"/>
              </a:spcBef>
              <a:spcAft>
                <a:spcPts val="600"/>
              </a:spcAft>
              <a:buClr>
                <a:srgbClr val="28285E"/>
              </a:buClr>
              <a:buSzPts val="1260"/>
              <a:buFont typeface="+mn-lt"/>
              <a:buChar char="●"/>
            </a:pPr>
            <a:r>
              <a:rPr sz="1400" b="1">
                <a:solidFill>
                  <a:schemeClr val="tx1"/>
                </a:solidFill>
              </a:rPr>
              <a:t>Choose each field's lifetime,</a:t>
            </a:r>
            <a:r>
              <a:rPr sz="1400" b="0">
                <a:solidFill>
                  <a:schemeClr val="tx1"/>
                </a:solidFill>
              </a:rPr>
              <a:t> then choose whether updates append, replace or accumulate values.</a:t>
            </a:r>
          </a:p>
          <a:p>
            <a:pPr marL="400050" indent="-285750">
              <a:spcBef>
                <a:spcPts val="600"/>
              </a:spcBef>
              <a:spcAft>
                <a:spcPts val="600"/>
              </a:spcAft>
              <a:buClr>
                <a:srgbClr val="28285E"/>
              </a:buClr>
              <a:buSzPts val="1260"/>
              <a:buFont typeface="+mn-lt"/>
              <a:buChar char="●"/>
            </a:pPr>
            <a:r>
              <a:rPr sz="1400" b="1">
                <a:solidFill>
                  <a:schemeClr val="tx1"/>
                </a:solidFill>
              </a:rPr>
              <a:t>Write the initial state </a:t>
            </a:r>
            <a:r>
              <a:rPr sz="1400" b="0">
                <a:solidFill>
                  <a:schemeClr val="tx1"/>
                </a:solidFill>
              </a:rPr>
              <a:t>with a value for every key.</a:t>
            </a:r>
          </a:p>
          <a:p>
            <a:pPr marL="400050" indent="-285750">
              <a:spcBef>
                <a:spcPts val="600"/>
              </a:spcBef>
              <a:spcAft>
                <a:spcPts val="600"/>
              </a:spcAft>
              <a:buClr>
                <a:srgbClr val="28285E"/>
              </a:buClr>
              <a:buSzPts val="1260"/>
              <a:buFont typeface="+mn-lt"/>
              <a:buChar char="●"/>
            </a:pPr>
            <a:r>
              <a:rPr sz="1400" b="1">
                <a:solidFill>
                  <a:schemeClr val="tx1"/>
                </a:solidFill>
              </a:rPr>
              <a:t>Make each node</a:t>
            </a:r>
            <a:r>
              <a:rPr sz="1400" b="0">
                <a:solidFill>
                  <a:schemeClr val="tx1"/>
                </a:solidFill>
              </a:rPr>
              <a:t> return a partial update containing only the fields it proposes to update.</a:t>
            </a:r>
          </a:p>
        </p:txBody>
      </p:sp>
      <p:sp>
        <p:nvSpPr>
          <p:cNvPr id="4" name="Rectangle 3"/>
          <p:cNvSpPr/>
          <p:nvPr/>
        </p:nvSpPr>
        <p:spPr>
          <a:xfrm>
            <a:off x="319251" y="4080088"/>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Each field retains a value that a later computation needs to read.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2E43C-CB3B-4914-E7FF-7D1322AFE1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B22173-3338-4BC9-2896-A6E94F751935}"/>
              </a:ext>
            </a:extLst>
          </p:cNvPr>
          <p:cNvSpPr txBox="1"/>
          <p:nvPr/>
        </p:nvSpPr>
        <p:spPr>
          <a:xfrm>
            <a:off x="929000" y="265338"/>
            <a:ext cx="5000000" cy="1323439"/>
          </a:xfrm>
          <a:prstGeom prst="rect">
            <a:avLst/>
          </a:prstGeom>
          <a:noFill/>
        </p:spPr>
        <p:txBody>
          <a:bodyPr wrap="square" anchor="ctr">
            <a:spAutoFit/>
          </a:bodyPr>
          <a:lstStyle/>
          <a:p>
            <a:pPr algn="ctr"/>
            <a:r>
              <a:rPr lang="en-US" sz="4000" b="1" dirty="0">
                <a:solidFill>
                  <a:schemeClr val="tx2"/>
                </a:solidFill>
                <a:latin typeface="+mj-lt"/>
              </a:rPr>
              <a:t>Routing, feedback, and stopping</a:t>
            </a:r>
          </a:p>
        </p:txBody>
      </p:sp>
      <p:cxnSp>
        <p:nvCxnSpPr>
          <p:cNvPr id="4" name="Straight Arrow Connector 3">
            <a:extLst>
              <a:ext uri="{FF2B5EF4-FFF2-40B4-BE49-F238E27FC236}">
                <a16:creationId xmlns:a16="http://schemas.microsoft.com/office/drawing/2014/main" id="{A8DFE0DB-49F3-E65C-8FFC-81B8C6A1F5E5}"/>
              </a:ext>
            </a:extLst>
          </p:cNvPr>
          <p:cNvCxnSpPr>
            <a:cxnSpLocks/>
          </p:cNvCxnSpPr>
          <p:nvPr/>
        </p:nvCxnSpPr>
        <p:spPr>
          <a:xfrm>
            <a:off x="1063835" y="2018156"/>
            <a:ext cx="0" cy="2160870"/>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6" name="Oval 7">
            <a:extLst>
              <a:ext uri="{FF2B5EF4-FFF2-40B4-BE49-F238E27FC236}">
                <a16:creationId xmlns:a16="http://schemas.microsoft.com/office/drawing/2014/main" id="{AB7F3974-7956-AAFE-91E3-B4B8817C87C1}"/>
              </a:ext>
            </a:extLst>
          </p:cNvPr>
          <p:cNvSpPr/>
          <p:nvPr/>
        </p:nvSpPr>
        <p:spPr>
          <a:xfrm>
            <a:off x="951758" y="21880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1648F5C-4D36-60CA-B41C-0BEE0985E4DA}"/>
              </a:ext>
            </a:extLst>
          </p:cNvPr>
          <p:cNvSpPr/>
          <p:nvPr/>
        </p:nvSpPr>
        <p:spPr>
          <a:xfrm>
            <a:off x="951758" y="27217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8271A4C-FCD4-0217-2BD2-D2A1C52F73C9}"/>
              </a:ext>
            </a:extLst>
          </p:cNvPr>
          <p:cNvSpPr/>
          <p:nvPr/>
        </p:nvSpPr>
        <p:spPr>
          <a:xfrm>
            <a:off x="951758" y="3255453"/>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8911CDB-1020-B875-AEB0-48B9F7D2857C}"/>
              </a:ext>
            </a:extLst>
          </p:cNvPr>
          <p:cNvSpPr/>
          <p:nvPr/>
        </p:nvSpPr>
        <p:spPr>
          <a:xfrm>
            <a:off x="951758" y="378559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2">
            <a:extLst>
              <a:ext uri="{FF2B5EF4-FFF2-40B4-BE49-F238E27FC236}">
                <a16:creationId xmlns:a16="http://schemas.microsoft.com/office/drawing/2014/main" id="{C1567A2A-9C9D-1711-8E60-58BE4035D576}"/>
              </a:ext>
            </a:extLst>
          </p:cNvPr>
          <p:cNvSpPr txBox="1"/>
          <p:nvPr/>
        </p:nvSpPr>
        <p:spPr>
          <a:xfrm>
            <a:off x="1259524" y="2146243"/>
            <a:ext cx="5074272" cy="338554"/>
          </a:xfrm>
          <a:prstGeom prst="rect">
            <a:avLst/>
          </a:prstGeom>
          <a:noFill/>
        </p:spPr>
        <p:txBody>
          <a:bodyPr wrap="none" rtlCol="0">
            <a:spAutoFit/>
          </a:bodyPr>
          <a:lstStyle/>
          <a:p>
            <a:r>
              <a:rPr lang="en-US" sz="1600" b="1" dirty="0">
                <a:solidFill>
                  <a:schemeClr val="tx2"/>
                </a:solidFill>
                <a:latin typeface="+mj-lt"/>
              </a:rPr>
              <a:t>Agents as state machines</a:t>
            </a:r>
          </a:p>
        </p:txBody>
      </p:sp>
      <p:sp>
        <p:nvSpPr>
          <p:cNvPr id="9" name="TextBox 8">
            <a:extLst>
              <a:ext uri="{FF2B5EF4-FFF2-40B4-BE49-F238E27FC236}">
                <a16:creationId xmlns:a16="http://schemas.microsoft.com/office/drawing/2014/main" id="{6D361E1D-79BF-3951-E451-E9960A9184A6}"/>
              </a:ext>
            </a:extLst>
          </p:cNvPr>
          <p:cNvSpPr txBox="1"/>
          <p:nvPr/>
        </p:nvSpPr>
        <p:spPr>
          <a:xfrm>
            <a:off x="1259524" y="2679943"/>
            <a:ext cx="2779928" cy="338554"/>
          </a:xfrm>
          <a:prstGeom prst="rect">
            <a:avLst/>
          </a:prstGeom>
          <a:noFill/>
        </p:spPr>
        <p:txBody>
          <a:bodyPr wrap="none" rtlCol="0">
            <a:spAutoFit/>
          </a:bodyPr>
          <a:lstStyle/>
          <a:p>
            <a:r>
              <a:rPr lang="en-US" sz="1600" b="1" dirty="0">
                <a:solidFill>
                  <a:schemeClr val="tx2"/>
                </a:solidFill>
                <a:latin typeface="+mj-lt"/>
              </a:rPr>
              <a:t>State, records and reducers</a:t>
            </a:r>
          </a:p>
        </p:txBody>
      </p:sp>
      <p:sp>
        <p:nvSpPr>
          <p:cNvPr id="12" name="TextBox 11">
            <a:extLst>
              <a:ext uri="{FF2B5EF4-FFF2-40B4-BE49-F238E27FC236}">
                <a16:creationId xmlns:a16="http://schemas.microsoft.com/office/drawing/2014/main" id="{6F6B83A7-B975-5ECF-FFB1-A715FE358E71}"/>
              </a:ext>
            </a:extLst>
          </p:cNvPr>
          <p:cNvSpPr txBox="1"/>
          <p:nvPr/>
        </p:nvSpPr>
        <p:spPr>
          <a:xfrm>
            <a:off x="1259524" y="3743778"/>
            <a:ext cx="5074272" cy="338554"/>
          </a:xfrm>
          <a:prstGeom prst="rect">
            <a:avLst/>
          </a:prstGeom>
          <a:noFill/>
        </p:spPr>
        <p:txBody>
          <a:bodyPr wrap="none" rtlCol="0">
            <a:spAutoFit/>
          </a:bodyPr>
          <a:lstStyle/>
          <a:p>
            <a:r>
              <a:rPr lang="en-US" sz="1600" b="1" dirty="0">
                <a:solidFill>
                  <a:schemeClr val="tx2">
                    <a:lumMod val="55000"/>
                  </a:schemeClr>
                </a:solidFill>
                <a:latin typeface="Fira Sans" panose="020B0503050000020004" pitchFamily="34" charset="0"/>
              </a:rPr>
              <a:t>Scheduling and tool execution</a:t>
            </a:r>
          </a:p>
        </p:txBody>
      </p:sp>
      <p:sp>
        <p:nvSpPr>
          <p:cNvPr id="11" name="TextBox 10">
            <a:extLst>
              <a:ext uri="{FF2B5EF4-FFF2-40B4-BE49-F238E27FC236}">
                <a16:creationId xmlns:a16="http://schemas.microsoft.com/office/drawing/2014/main" id="{1E94A605-AF26-26FE-BD59-E72A5572C0D1}"/>
              </a:ext>
            </a:extLst>
          </p:cNvPr>
          <p:cNvSpPr txBox="1"/>
          <p:nvPr/>
        </p:nvSpPr>
        <p:spPr>
          <a:xfrm>
            <a:off x="1259524" y="3210082"/>
            <a:ext cx="3167855" cy="338554"/>
          </a:xfrm>
          <a:prstGeom prst="rect">
            <a:avLst/>
          </a:prstGeom>
          <a:noFill/>
        </p:spPr>
        <p:txBody>
          <a:bodyPr wrap="none" rtlCol="0">
            <a:spAutoFit/>
          </a:bodyPr>
          <a:lstStyle/>
          <a:p>
            <a:r>
              <a:rPr lang="en-US" sz="1600" b="1" dirty="0">
                <a:solidFill>
                  <a:schemeClr val="tx2"/>
                </a:solidFill>
                <a:latin typeface="+mj-lt"/>
              </a:rPr>
              <a:t>Routing, feedback and stopping</a:t>
            </a:r>
            <a:endParaRPr lang="en-US" sz="1600" i="1" dirty="0">
              <a:solidFill>
                <a:schemeClr val="tx2"/>
              </a:solidFill>
              <a:latin typeface="+mj-lt"/>
            </a:endParaRPr>
          </a:p>
        </p:txBody>
      </p:sp>
      <p:pic>
        <p:nvPicPr>
          <p:cNvPr id="14" name="Picture 13">
            <a:extLst>
              <a:ext uri="{FF2B5EF4-FFF2-40B4-BE49-F238E27FC236}">
                <a16:creationId xmlns:a16="http://schemas.microsoft.com/office/drawing/2014/main" id="{471AA40C-7334-3828-3729-A36816D4B54F}"/>
              </a:ext>
            </a:extLst>
          </p:cNvPr>
          <p:cNvPicPr>
            <a:picLocks noChangeAspect="1"/>
          </p:cNvPicPr>
          <p:nvPr/>
        </p:nvPicPr>
        <p:blipFill>
          <a:blip r:embed="rId3">
            <a:alphaModFix amt="70000"/>
          </a:blip>
          <a:stretch>
            <a:fillRect/>
          </a:stretch>
        </p:blipFill>
        <p:spPr>
          <a:xfrm>
            <a:off x="825474" y="1933482"/>
            <a:ext cx="5732295" cy="1158401"/>
          </a:xfrm>
          <a:prstGeom prst="rect">
            <a:avLst/>
          </a:prstGeom>
        </p:spPr>
      </p:pic>
      <p:pic>
        <p:nvPicPr>
          <p:cNvPr id="2" name="Picture 1">
            <a:extLst>
              <a:ext uri="{FF2B5EF4-FFF2-40B4-BE49-F238E27FC236}">
                <a16:creationId xmlns:a16="http://schemas.microsoft.com/office/drawing/2014/main" id="{B2F5ABD5-CCE9-D8BB-3A5D-729698343143}"/>
              </a:ext>
            </a:extLst>
          </p:cNvPr>
          <p:cNvPicPr>
            <a:picLocks noChangeAspect="1"/>
          </p:cNvPicPr>
          <p:nvPr/>
        </p:nvPicPr>
        <p:blipFill>
          <a:blip r:embed="rId3">
            <a:alphaModFix amt="70000"/>
          </a:blip>
          <a:stretch>
            <a:fillRect/>
          </a:stretch>
        </p:blipFill>
        <p:spPr>
          <a:xfrm>
            <a:off x="789895" y="3643175"/>
            <a:ext cx="5732295" cy="663319"/>
          </a:xfrm>
          <a:prstGeom prst="rect">
            <a:avLst/>
          </a:prstGeom>
        </p:spPr>
      </p:pic>
    </p:spTree>
    <p:extLst>
      <p:ext uri="{BB962C8B-B14F-4D97-AF65-F5344CB8AC3E}">
        <p14:creationId xmlns:p14="http://schemas.microsoft.com/office/powerpoint/2010/main" val="7961280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Routing functions and conditional edges</a:t>
            </a:r>
          </a:p>
        </p:txBody>
      </p:sp>
      <p:sp>
        <p:nvSpPr>
          <p:cNvPr id="3" name="Content Placeholder 2"/>
          <p:cNvSpPr>
            <a:spLocks noGrp="1"/>
          </p:cNvSpPr>
          <p:nvPr>
            <p:ph idx="1"/>
          </p:nvPr>
        </p:nvSpPr>
        <p:spPr>
          <a:xfrm>
            <a:off x="319251" y="700000"/>
            <a:ext cx="6014545" cy="2440280"/>
          </a:xfrm>
        </p:spPr>
        <p:txBody>
          <a:bodyPr wrap="square" anchor="ctr">
            <a:normAutofit fontScale="92500"/>
          </a:bodyPr>
          <a:lstStyle/>
          <a:p>
            <a:pPr marL="0" indent="0">
              <a:buNone/>
            </a:pPr>
            <a:r>
              <a:rPr sz="1400" b="1">
                <a:solidFill>
                  <a:srgbClr val="28285E"/>
                </a:solidFill>
              </a:rPr>
              <a:t>The routing function selects the next step by testing values in the record.</a:t>
            </a:r>
          </a:p>
          <a:p>
            <a:pPr marL="400050" indent="-285750">
              <a:spcBef>
                <a:spcPts val="600"/>
              </a:spcBef>
              <a:spcAft>
                <a:spcPts val="600"/>
              </a:spcAft>
              <a:buClr>
                <a:srgbClr val="28285E"/>
              </a:buClr>
              <a:buSzPts val="1260"/>
              <a:buFont typeface="+mn-lt"/>
              <a:buChar char="●"/>
            </a:pPr>
            <a:r>
              <a:rPr sz="1400" b="1">
                <a:solidFill>
                  <a:schemeClr val="tx1"/>
                </a:solidFill>
              </a:rPr>
              <a:t>Proposal.</a:t>
            </a:r>
            <a:r>
              <a:rPr sz="1400" b="0">
                <a:solidFill>
                  <a:schemeClr val="tx1"/>
                </a:solidFill>
              </a:rPr>
              <a:t> The model emits a tool request, plan, candidate patch, or verdict.</a:t>
            </a:r>
          </a:p>
          <a:p>
            <a:pPr marL="400050" indent="-285750">
              <a:spcBef>
                <a:spcPts val="600"/>
              </a:spcBef>
              <a:spcAft>
                <a:spcPts val="600"/>
              </a:spcAft>
              <a:buClr>
                <a:srgbClr val="28285E"/>
              </a:buClr>
              <a:buSzPts val="1260"/>
              <a:buFont typeface="+mn-lt"/>
              <a:buChar char="●"/>
            </a:pPr>
            <a:r>
              <a:rPr sz="1400" b="1">
                <a:solidFill>
                  <a:schemeClr val="tx1"/>
                </a:solidFill>
              </a:rPr>
              <a:t>Record.</a:t>
            </a:r>
            <a:r>
              <a:rPr sz="1400" b="0">
                <a:solidFill>
                  <a:schemeClr val="tx1"/>
                </a:solidFill>
              </a:rPr>
              <a:t> The runtime merges the node's update into state using reducers. It also records what happened in the trace.</a:t>
            </a:r>
          </a:p>
          <a:p>
            <a:pPr marL="400050" indent="-285750">
              <a:spcBef>
                <a:spcPts val="600"/>
              </a:spcBef>
              <a:spcAft>
                <a:spcPts val="600"/>
              </a:spcAft>
              <a:buClr>
                <a:srgbClr val="28285E"/>
              </a:buClr>
              <a:buSzPts val="1260"/>
              <a:buFont typeface="+mn-lt"/>
              <a:buChar char="●"/>
            </a:pPr>
            <a:r>
              <a:rPr sz="1400" b="1">
                <a:solidFill>
                  <a:schemeClr val="tx1"/>
                </a:solidFill>
              </a:rPr>
              <a:t>Decision.</a:t>
            </a:r>
            <a:r>
              <a:rPr sz="1400" b="0">
                <a:solidFill>
                  <a:schemeClr val="tx1"/>
                </a:solidFill>
              </a:rPr>
              <a:t> The routing function tests fields in the merged record. The programmer's guards and limits determine which destination it returns.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conditional edge combines a location's outgoing transitions with a routing function. The function selects one destination by testing guards, conditions on the merged record.</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field by identifies whether the tested value came from the model or the runtime.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Routing after the controller</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routing function reads the merged record and returns the next node's name, or </a:t>
            </a:r>
            <a:r>
              <a:rPr sz="1400" b="0">
                <a:solidFill>
                  <a:srgbClr val="28285E"/>
                </a:solidFill>
                <a:latin typeface="Maple Mono NF"/>
              </a:rPr>
              <a:t>END</a:t>
            </a:r>
            <a:r>
              <a:rPr sz="1400" b="1">
                <a:solidFill>
                  <a:srgbClr val="28285E"/>
                </a:solidFill>
              </a:rPr>
              <a:t> to stop the run.</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graph.py, after_controller, lines 452 to 460. Trace calls omitted</a:t>
            </a:r>
          </a:p>
        </p:txBody>
      </p:sp>
      <p:sp>
        <p:nvSpPr>
          <p:cNvPr id="5" name="CodeWindow"/>
          <p:cNvSpPr/>
          <p:nvPr/>
        </p:nvSpPr>
        <p:spPr>
          <a:xfrm>
            <a:off x="319251" y="1650000"/>
            <a:ext cx="6014545" cy="166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260000"/>
          </a:xfrm>
          <a:prstGeom prst="rect">
            <a:avLst/>
          </a:prstGeom>
          <a:noFill/>
        </p:spPr>
        <p:txBody>
          <a:bodyPr wrap="none" lIns="0" tIns="0" rIns="0" bIns="0" anchor="t">
            <a:spAutoFit/>
          </a:bodyPr>
          <a:lstStyle/>
          <a:p>
            <a:pPr algn="l">
              <a:buNone/>
            </a:pPr>
            <a:r>
              <a:rPr sz="1100" b="0">
                <a:solidFill>
                  <a:schemeClr val="accent2"/>
                </a:solidFill>
                <a:latin typeface="Maple Mono NF"/>
              </a:rPr>
              <a:t>def</a:t>
            </a:r>
            <a:r>
              <a:rPr sz="1100" b="0">
                <a:solidFill>
                  <a:schemeClr val="bg1"/>
                </a:solidFill>
                <a:latin typeface="Maple Mono NF"/>
              </a:rPr>
              <a:t> after_controller(</a:t>
            </a:r>
            <a:r>
              <a:rPr sz="1100" b="0">
                <a:solidFill>
                  <a:schemeClr val="accent2"/>
                </a:solidFill>
                <a:latin typeface="Maple Mono NF"/>
              </a:rPr>
              <a:t>self</a:t>
            </a:r>
            <a:r>
              <a:rPr sz="1100" b="0">
                <a:solidFill>
                  <a:schemeClr val="bg1"/>
                </a:solidFill>
                <a:latin typeface="Maple Mono NF"/>
              </a:rPr>
              <a:t>, state: AgentState) -&gt; str:</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state[</a:t>
            </a:r>
            <a:r>
              <a:rPr sz="1100" b="0">
                <a:solidFill>
                  <a:schemeClr val="accent3">
                    <a:lumMod val="55000"/>
                    <a:lumOff val="45000"/>
                  </a:schemeClr>
                </a:solidFill>
                <a:latin typeface="Maple Mono NF"/>
              </a:rPr>
              <a:t>"status"</a:t>
            </a:r>
            <a:r>
              <a:rPr sz="1100" b="0">
                <a:solidFill>
                  <a:schemeClr val="bg1"/>
                </a:solidFill>
                <a:latin typeface="Maple Mono NF"/>
              </a:rPr>
              <a:t>] != RUNNING:</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END</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state[</a:t>
            </a:r>
            <a:r>
              <a:rPr sz="1100" b="0">
                <a:solidFill>
                  <a:schemeClr val="accent3">
                    <a:lumMod val="55000"/>
                    <a:lumOff val="45000"/>
                  </a:schemeClr>
                </a:solidFill>
                <a:latin typeface="Maple Mono NF"/>
              </a:rPr>
              <a:t>"messages"</a:t>
            </a:r>
            <a:r>
              <a:rPr sz="1100" b="0">
                <a:solidFill>
                  <a:schemeClr val="bg1"/>
                </a:solidFill>
                <a:latin typeface="Maple Mono NF"/>
              </a:rPr>
              <a:t>][-</a:t>
            </a:r>
            <a:r>
              <a:rPr sz="1100" b="0">
                <a:solidFill>
                  <a:schemeClr val="accent5">
                    <a:lumMod val="45000"/>
                    <a:lumOff val="55000"/>
                  </a:schemeClr>
                </a:solidFill>
                <a:latin typeface="Maple Mono NF"/>
              </a:rPr>
              <a:t>1</a:t>
            </a:r>
            <a:r>
              <a:rPr sz="1100" b="0">
                <a:solidFill>
                  <a:schemeClr val="bg1"/>
                </a:solidFill>
                <a:latin typeface="Maple Mono NF"/>
              </a:rPr>
              <a:t>].</a:t>
            </a:r>
            <a:r>
              <a:rPr sz="1100" b="1">
                <a:solidFill>
                  <a:schemeClr val="accent4">
                    <a:lumMod val="70000"/>
                    <a:lumOff val="30000"/>
                  </a:schemeClr>
                </a:solidFill>
                <a:latin typeface="Maple Mono NF"/>
              </a:rPr>
              <a:t>tool_calls</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"tools"</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"submit"</a:t>
            </a:r>
          </a:p>
        </p:txBody>
      </p:sp>
      <p:sp>
        <p:nvSpPr>
          <p:cNvPr id="10" name="Rectangle 9"/>
          <p:cNvSpPr/>
          <p:nvPr/>
        </p:nvSpPr>
        <p:spPr>
          <a:xfrm>
            <a:off x="319251" y="350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For an active run, the routing function returns tools if the last reply contains tool requests, and submit otherwise.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same graph, different paths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compiled graph fixes the possible transitions. During a run, routing functions use the current record to select destinations.</a:t>
            </a:r>
          </a:p>
        </p:txBody>
      </p:sp>
      <p:pic>
        <p:nvPicPr>
          <p:cNvPr id="4" name="Figure trace-tree" descr="image.png"/>
          <p:cNvPicPr>
            <a:picLocks noChangeAspect="1"/>
          </p:cNvPicPr>
          <p:nvPr/>
        </p:nvPicPr>
        <p:blipFill>
          <a:blip r:embed="rId3"/>
          <a:stretch>
            <a:fillRect/>
          </a:stretch>
        </p:blipFill>
        <p:spPr>
          <a:xfrm>
            <a:off x="250148" y="1390000"/>
            <a:ext cx="6152752" cy="1612270"/>
          </a:xfrm>
          <a:prstGeom prst="rect">
            <a:avLst/>
          </a:prstGeom>
        </p:spPr>
      </p:pic>
      <p:sp>
        <p:nvSpPr>
          <p:cNvPr id="5" name="Rectangle 4"/>
          <p:cNvSpPr/>
          <p:nvPr/>
        </p:nvSpPr>
        <p:spPr>
          <a:xfrm>
            <a:off x="319251" y="3236877"/>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can visit the controller twelve times. Each visit leads to a new routing decision within the same graph.</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Feedback edges: revision and repair</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A feedback edge sends execution back to a location visited earlier in the run. Its trigger and the information passed back must be specified.</a:t>
            </a:r>
          </a:p>
        </p:txBody>
      </p:sp>
      <p:pic>
        <p:nvPicPr>
          <p:cNvPr id="4" name="Figure efsm-feedback" descr="image.png"/>
          <p:cNvPicPr>
            <a:picLocks noChangeAspect="1"/>
          </p:cNvPicPr>
          <p:nvPr/>
        </p:nvPicPr>
        <p:blipFill>
          <a:blip r:embed="rId3"/>
          <a:stretch>
            <a:fillRect/>
          </a:stretch>
        </p:blipFill>
        <p:spPr>
          <a:xfrm>
            <a:off x="279230" y="1390000"/>
            <a:ext cx="6094589" cy="2634732"/>
          </a:xfrm>
          <a:prstGeom prst="rect">
            <a:avLst/>
          </a:prstGeom>
        </p:spPr>
      </p:pic>
      <p:sp>
        <p:nvSpPr>
          <p:cNvPr id="5" name="Rectangle 4"/>
          <p:cNvSpPr/>
          <p:nvPr/>
        </p:nvSpPr>
        <p:spPr>
          <a:xfrm>
            <a:off x="319251" y="4227037"/>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Revision returns execution to plan after the first stall. Repair returns execution to controller with the reasons a patch failed its checks.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Feedback edges and their bounds</a:t>
            </a:r>
          </a:p>
        </p:txBody>
      </p:sp>
      <p:sp>
        <p:nvSpPr>
          <p:cNvPr id="3" name="Content Placeholder 2"/>
          <p:cNvSpPr>
            <a:spLocks noGrp="1"/>
          </p:cNvSpPr>
          <p:nvPr>
            <p:ph idx="1"/>
          </p:nvPr>
        </p:nvSpPr>
        <p:spPr>
          <a:xfrm>
            <a:off x="319251" y="700000"/>
            <a:ext cx="6014545" cy="500000"/>
          </a:xfrm>
        </p:spPr>
        <p:txBody>
          <a:bodyPr wrap="square" anchor="ctr">
            <a:normAutofit fontScale="85000" lnSpcReduction="10000"/>
          </a:bodyPr>
          <a:lstStyle/>
          <a:p>
            <a:pPr marL="0" indent="0">
              <a:buNone/>
            </a:pPr>
            <a:r>
              <a:rPr sz="1400" b="1">
                <a:solidFill>
                  <a:srgbClr val="28285E"/>
                </a:solidFill>
              </a:rPr>
              <a:t>Two feedback edges are implemented. A third, for new attempts, is proposed.</a:t>
            </a:r>
          </a:p>
        </p:txBody>
      </p:sp>
      <p:graphicFrame>
        <p:nvGraphicFramePr>
          <p:cNvPr id="4" name="Table 3"/>
          <p:cNvGraphicFramePr>
            <a:graphicFrameLocks noGrp="1"/>
          </p:cNvGraphicFramePr>
          <p:nvPr>
            <p:extLst>
              <p:ext uri="{D42A27DB-BD31-4B8C-83A1-F6EECF244321}">
                <p14:modId xmlns:p14="http://schemas.microsoft.com/office/powerpoint/2010/main" val="3834292611"/>
              </p:ext>
            </p:extLst>
          </p:nvPr>
        </p:nvGraphicFramePr>
        <p:xfrm>
          <a:off x="319251" y="1390000"/>
          <a:ext cx="6014545" cy="2719350"/>
        </p:xfrm>
        <a:graphic>
          <a:graphicData uri="http://schemas.openxmlformats.org/drawingml/2006/table">
            <a:tbl>
              <a:tblPr firstRow="1" bandRow="1">
                <a:tableStyleId>{5C22544A-7EE6-4342-B048-85BDC9FD1C3A}</a:tableStyleId>
              </a:tblPr>
              <a:tblGrid>
                <a:gridCol w="125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21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buNone/>
                      </a:pPr>
                      <a:r>
                        <a:rPr sz="1000" b="1">
                          <a:solidFill>
                            <a:schemeClr val="tx1"/>
                          </a:solidFill>
                        </a:rPr>
                        <a:t>Feedback edge</a:t>
                      </a:r>
                    </a:p>
                  </a:txBody>
                  <a:tcPr marL="95250" marR="95250" marT="47625" marB="47625">
                    <a:lnB w="12700" cap="flat" cmpd="sng" algn="ctr">
                      <a:solidFill>
                        <a:schemeClr val="tx1"/>
                      </a:solidFill>
                    </a:lnB>
                    <a:noFill/>
                  </a:tcPr>
                </a:tc>
                <a:tc>
                  <a:txBody>
                    <a:bodyPr/>
                    <a:lstStyle/>
                    <a:p>
                      <a:pPr>
                        <a:buNone/>
                      </a:pPr>
                      <a:r>
                        <a:rPr sz="1000" b="1">
                          <a:solidFill>
                            <a:schemeClr val="tx1"/>
                          </a:solidFill>
                        </a:rPr>
                        <a:t>Trigger</a:t>
                      </a:r>
                    </a:p>
                  </a:txBody>
                  <a:tcPr marL="95250" marR="95250" marT="47625" marB="47625">
                    <a:lnB w="12700" cap="flat" cmpd="sng" algn="ctr">
                      <a:solidFill>
                        <a:schemeClr val="tx1"/>
                      </a:solidFill>
                    </a:lnB>
                    <a:noFill/>
                  </a:tcPr>
                </a:tc>
                <a:tc>
                  <a:txBody>
                    <a:bodyPr/>
                    <a:lstStyle/>
                    <a:p>
                      <a:pPr>
                        <a:buNone/>
                      </a:pPr>
                      <a:r>
                        <a:rPr sz="1000" b="1">
                          <a:solidFill>
                            <a:schemeClr val="tx1"/>
                          </a:solidFill>
                        </a:rPr>
                        <a:t>Information and reset</a:t>
                      </a:r>
                    </a:p>
                  </a:txBody>
                  <a:tcPr marL="95250" marR="95250" marT="47625" marB="47625">
                    <a:lnB w="12700" cap="flat" cmpd="sng" algn="ctr">
                      <a:solidFill>
                        <a:schemeClr val="tx1"/>
                      </a:solidFill>
                    </a:lnB>
                    <a:noFill/>
                  </a:tcPr>
                </a:tc>
                <a:tc>
                  <a:txBody>
                    <a:bodyPr/>
                    <a:lstStyle/>
                    <a:p>
                      <a:pPr>
                        <a:buNone/>
                      </a:pPr>
                      <a:r>
                        <a:rPr sz="1000" b="1">
                          <a:solidFill>
                            <a:schemeClr val="tx1"/>
                          </a:solidFill>
                        </a:rPr>
                        <a:t>Bound</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Revision: tools to 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The </a:t>
                      </a:r>
                      <a:r>
                        <a:rPr sz="1000" b="1" dirty="0">
                          <a:solidFill>
                            <a:schemeClr val="tx1"/>
                          </a:solidFill>
                        </a:rPr>
                        <a:t>last three observations under the current plan are identical</a:t>
                      </a:r>
                      <a:r>
                        <a:rPr sz="1000" b="0" dirty="0">
                          <a:solidFill>
                            <a:schemeClr val="tx1"/>
                          </a:solidFill>
                        </a:rPr>
                        <a:t> and include no successful edit.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The </a:t>
                      </a:r>
                      <a:r>
                        <a:rPr sz="1000" b="1" dirty="0">
                          <a:solidFill>
                            <a:schemeClr val="tx1"/>
                          </a:solidFill>
                        </a:rPr>
                        <a:t>plan node uses the stall reason to revise the old plan</a:t>
                      </a:r>
                      <a:r>
                        <a:rPr sz="1000" b="0" dirty="0">
                          <a:solidFill>
                            <a:schemeClr val="tx1"/>
                          </a:solidFill>
                        </a:rPr>
                        <a:t>, clears the handoff field, and limits later stall checks to the new plan's observations.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The runtime permits </a:t>
                      </a:r>
                      <a:r>
                        <a:rPr sz="1000" b="1" dirty="0">
                          <a:solidFill>
                            <a:schemeClr val="tx1"/>
                          </a:solidFill>
                        </a:rPr>
                        <a:t>one revision per run</a:t>
                      </a:r>
                      <a:r>
                        <a:rPr sz="1000" b="0" dirty="0">
                          <a:solidFill>
                            <a:schemeClr val="tx1"/>
                          </a:solidFill>
                        </a:rPr>
                        <a:t>. A second stall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Repair: submit to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At least one of the three checks fails.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runtime adds reasons to the conversation. No fields are reset. Later submissions replace the patch and check results.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call budget limits the number of repairs.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New attempt (proposed)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validator rejects the patch, and the attempt count is below its limit.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runtime keeps the reflection and clears all attempt-lifetime fields, including the plan, patch and check results.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The attempt counter survives resets. The call budget also applies.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4317638"/>
            <a:ext cx="601454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Table 4 in the notes. A feedback edge must have its own limit or rely on a limit for the whole run.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proposed feedback edge for new attempts</a:t>
            </a:r>
          </a:p>
        </p:txBody>
      </p:sp>
      <p:sp>
        <p:nvSpPr>
          <p:cNvPr id="3" name="Content Placeholder 2"/>
          <p:cNvSpPr>
            <a:spLocks noGrp="1"/>
          </p:cNvSpPr>
          <p:nvPr>
            <p:ph idx="1"/>
          </p:nvPr>
        </p:nvSpPr>
        <p:spPr>
          <a:xfrm>
            <a:off x="319251" y="700000"/>
            <a:ext cx="6014545" cy="731648"/>
          </a:xfrm>
        </p:spPr>
        <p:txBody>
          <a:bodyPr wrap="square" anchor="ctr">
            <a:normAutofit fontScale="92500"/>
          </a:bodyPr>
          <a:lstStyle/>
          <a:p>
            <a:pPr marL="0" indent="0">
              <a:buNone/>
            </a:pPr>
            <a:r>
              <a:rPr sz="1400" b="1">
                <a:solidFill>
                  <a:srgbClr val="28285E"/>
                </a:solidFill>
              </a:rPr>
              <a:t>The current agent stops when the validator rejects a patch. The extension would write a reflection describing the failure, then start a new attempt.</a:t>
            </a:r>
          </a:p>
        </p:txBody>
      </p:sp>
      <p:pic>
        <p:nvPicPr>
          <p:cNvPr id="4" name="Figure s3-control-extension" descr="s3-control-extension.png"/>
          <p:cNvPicPr>
            <a:picLocks noChangeAspect="1"/>
          </p:cNvPicPr>
          <p:nvPr/>
        </p:nvPicPr>
        <p:blipFill>
          <a:blip r:embed="rId3"/>
          <a:stretch>
            <a:fillRect/>
          </a:stretch>
        </p:blipFill>
        <p:spPr>
          <a:xfrm>
            <a:off x="250148" y="1621648"/>
            <a:ext cx="6152752" cy="2036641"/>
          </a:xfrm>
          <a:prstGeom prst="rect">
            <a:avLst/>
          </a:prstGeom>
        </p:spPr>
      </p:pic>
      <p:sp>
        <p:nvSpPr>
          <p:cNvPr id="5" name="Rectangle 4"/>
          <p:cNvSpPr/>
          <p:nvPr/>
        </p:nvSpPr>
        <p:spPr>
          <a:xfrm>
            <a:off x="319251" y="3848289"/>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6 in the notes. The reset clears the plan, patch and checks, while the reflection and the attempt and call counters persist.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 bounds and termination</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An acceptance predicate is a condition for declaring success. It does not ensure that the run will reach that condition.</a:t>
            </a:r>
          </a:p>
          <a:p>
            <a:pPr marL="400050" indent="-285750">
              <a:spcBef>
                <a:spcPts val="600"/>
              </a:spcBef>
              <a:spcAft>
                <a:spcPts val="600"/>
              </a:spcAft>
              <a:buClr>
                <a:srgbClr val="28285E"/>
              </a:buClr>
              <a:buSzPts val="1260"/>
              <a:buFont typeface="+mn-lt"/>
              <a:buChar char="●"/>
            </a:pPr>
            <a:r>
              <a:rPr sz="1400" b="0">
                <a:solidFill>
                  <a:schemeClr val="tx1"/>
                </a:solidFill>
              </a:rPr>
              <a:t>The number of calls remaining is a variant when every cycle makes a model call and each step between calls returns or times out.</a:t>
            </a:r>
          </a:p>
          <a:p>
            <a:pPr marL="400050" indent="-285750">
              <a:spcBef>
                <a:spcPts val="600"/>
              </a:spcBef>
              <a:spcAft>
                <a:spcPts val="600"/>
              </a:spcAft>
              <a:buClr>
                <a:srgbClr val="28285E"/>
              </a:buClr>
              <a:buSzPts val="1260"/>
              <a:buFont typeface="+mn-lt"/>
              <a:buChar char="●"/>
            </a:pPr>
            <a:r>
              <a:rPr sz="1400" b="0">
                <a:solidFill>
                  <a:schemeClr val="tx1"/>
                </a:solidFill>
              </a:rPr>
              <a:t>If a cycle makes no model call, the remaining call budget stays unchanged. That cycle needs its own limit.</a:t>
            </a:r>
          </a:p>
          <a:p>
            <a:pPr marL="400050" indent="-285750">
              <a:spcBef>
                <a:spcPts val="600"/>
              </a:spcBef>
              <a:spcAft>
                <a:spcPts val="600"/>
              </a:spcAft>
              <a:buClr>
                <a:srgbClr val="28285E"/>
              </a:buClr>
              <a:buSzPts val="1260"/>
              <a:buFont typeface="+mn-lt"/>
              <a:buChar char="●"/>
            </a:pPr>
            <a:r>
              <a:rPr sz="1400" b="0">
                <a:solidFill>
                  <a:schemeClr val="tx1"/>
                </a:solidFill>
              </a:rPr>
              <a:t>The stall check detects identical results. A run that returns different irrelevant results can continue without progress.</a:t>
            </a:r>
          </a:p>
        </p:txBody>
      </p:sp>
      <p:sp>
        <p:nvSpPr>
          <p:cNvPr id="4" name="Rectangle 3"/>
          <p:cNvSpPr/>
          <p:nvPr/>
        </p:nvSpPr>
        <p:spPr>
          <a:xfrm>
            <a:off x="319251" y="3330280"/>
            <a:ext cx="6014545" cy="8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Here, the loop variant is a nonnegative integer that decreases on every continuing cycle. It bounds the number of cycles because it cannot fall below zero.</a:t>
            </a:r>
          </a:p>
        </p:txBody>
      </p:sp>
      <p:sp>
        <p:nvSpPr>
          <p:cNvPr id="5" name="Rectangle 4"/>
          <p:cNvSpPr/>
          <p:nvPr/>
        </p:nvSpPr>
        <p:spPr>
          <a:xfrm>
            <a:off x="319251" y="4350280"/>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Detecting one failure pattern does not prove termination.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Checking the budget before each model call</a:t>
            </a:r>
          </a:p>
        </p:txBody>
      </p:sp>
      <p:sp>
        <p:nvSpPr>
          <p:cNvPr id="3" name="Content Placeholder 2"/>
          <p:cNvSpPr>
            <a:spLocks noGrp="1"/>
          </p:cNvSpPr>
          <p:nvPr>
            <p:ph idx="1"/>
          </p:nvPr>
        </p:nvSpPr>
        <p:spPr>
          <a:xfrm>
            <a:off x="319251" y="700000"/>
            <a:ext cx="6014545" cy="731648"/>
          </a:xfrm>
        </p:spPr>
        <p:txBody>
          <a:bodyPr wrap="square" anchor="ctr">
            <a:normAutofit fontScale="92500"/>
          </a:bodyPr>
          <a:lstStyle/>
          <a:p>
            <a:pPr marL="0" indent="0">
              <a:buNone/>
            </a:pPr>
            <a:r>
              <a:rPr sz="1400" b="1">
                <a:solidFill>
                  <a:srgbClr val="28285E"/>
                </a:solidFill>
              </a:rPr>
              <a:t>The budget, stall check and recursion limit can end a run before a verdict. Each model node checks the call budget before calling the model.</a:t>
            </a:r>
          </a:p>
        </p:txBody>
      </p:sp>
      <p:sp>
        <p:nvSpPr>
          <p:cNvPr id="4" name="TextBox 3"/>
          <p:cNvSpPr txBox="1"/>
          <p:nvPr/>
        </p:nvSpPr>
        <p:spPr>
          <a:xfrm>
            <a:off x="319251" y="1621648"/>
            <a:ext cx="6014545" cy="200000"/>
          </a:xfrm>
          <a:prstGeom prst="rect">
            <a:avLst/>
          </a:prstGeom>
          <a:noFill/>
        </p:spPr>
        <p:txBody>
          <a:bodyPr wrap="none" lIns="0" tIns="0" rIns="0" bIns="0">
            <a:spAutoFit/>
          </a:bodyPr>
          <a:lstStyle/>
          <a:p>
            <a:r>
              <a:rPr sz="1200" b="1">
                <a:solidFill>
                  <a:srgbClr val="28285E"/>
                </a:solidFill>
              </a:rPr>
              <a:t>graph.py, _admit, lines 174 to 187. </a:t>
            </a:r>
            <a:r>
              <a:rPr sz="1200" b="0">
                <a:solidFill>
                  <a:srgbClr val="28285E"/>
                </a:solidFill>
                <a:latin typeface="Maple Mono NF"/>
              </a:rPr>
              <a:t>config.py</a:t>
            </a:r>
            <a:r>
              <a:rPr sz="1200" b="1">
                <a:solidFill>
                  <a:srgbClr val="28285E"/>
                </a:solidFill>
              </a:rPr>
              <a:t>, line 41. Comments omitted.</a:t>
            </a:r>
          </a:p>
        </p:txBody>
      </p:sp>
      <p:sp>
        <p:nvSpPr>
          <p:cNvPr id="5" name="CodeWindow"/>
          <p:cNvSpPr/>
          <p:nvPr/>
        </p:nvSpPr>
        <p:spPr>
          <a:xfrm>
            <a:off x="319251" y="1881648"/>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925464"/>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925464"/>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925464"/>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2211648"/>
            <a:ext cx="5714545" cy="1470000"/>
          </a:xfrm>
          <a:prstGeom prst="rect">
            <a:avLst/>
          </a:prstGeom>
          <a:noFill/>
        </p:spPr>
        <p:txBody>
          <a:bodyPr wrap="none" lIns="0" tIns="0" rIns="0" bIns="0" anchor="t">
            <a:spAutoFit/>
          </a:bodyPr>
          <a:lstStyle/>
          <a:p>
            <a:pPr algn="l">
              <a:buNone/>
            </a:pPr>
            <a:r>
              <a:rPr sz="1100" b="0">
                <a:solidFill>
                  <a:schemeClr val="accent2"/>
                </a:solidFill>
                <a:latin typeface="Maple Mono NF"/>
              </a:rPr>
              <a:t>def</a:t>
            </a:r>
            <a:r>
              <a:rPr sz="1100" b="0">
                <a:solidFill>
                  <a:schemeClr val="bg1"/>
                </a:solidFill>
                <a:latin typeface="Maple Mono NF"/>
              </a:rPr>
              <a:t> _admit(</a:t>
            </a:r>
            <a:r>
              <a:rPr sz="1100" b="0">
                <a:solidFill>
                  <a:schemeClr val="accent2"/>
                </a:solidFill>
                <a:latin typeface="Maple Mono NF"/>
              </a:rPr>
              <a:t>self</a:t>
            </a:r>
            <a:r>
              <a:rPr sz="1100" b="0">
                <a:solidFill>
                  <a:schemeClr val="bg1"/>
                </a:solidFill>
                <a:latin typeface="Maple Mono NF"/>
              </a:rPr>
              <a:t>, state: AgentState) -&gt; dict | </a:t>
            </a:r>
            <a:r>
              <a:rPr sz="1100" b="0">
                <a:solidFill>
                  <a:schemeClr val="accent2"/>
                </a:solidFill>
                <a:latin typeface="Maple Mono NF"/>
              </a:rPr>
              <a:t>None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state[</a:t>
            </a:r>
            <a:r>
              <a:rPr sz="1100" b="0">
                <a:solidFill>
                  <a:schemeClr val="accent3">
                    <a:lumMod val="55000"/>
                    <a:lumOff val="45000"/>
                  </a:schemeClr>
                </a:solidFill>
                <a:latin typeface="Maple Mono NF"/>
              </a:rPr>
              <a:t>"model_calls"</a:t>
            </a:r>
            <a:r>
              <a:rPr sz="1100" b="0">
                <a:solidFill>
                  <a:schemeClr val="bg1"/>
                </a:solidFill>
                <a:latin typeface="Maple Mono NF"/>
              </a:rPr>
              <a:t>] </a:t>
            </a:r>
            <a:r>
              <a:rPr sz="1100" b="1">
                <a:solidFill>
                  <a:schemeClr val="accent4">
                    <a:lumMod val="70000"/>
                    <a:lumOff val="30000"/>
                  </a:schemeClr>
                </a:solidFill>
                <a:latin typeface="Maple Mono NF"/>
              </a:rPr>
              <a:t>&gt;= self.config.budget</a:t>
            </a:r>
            <a:r>
              <a:rPr sz="1100" b="0">
                <a:solidFill>
                  <a:schemeClr val="bg1"/>
                </a:solidFill>
                <a:latin typeface="Maple Mono NF"/>
              </a:rPr>
              <a:t>:</a:t>
            </a:r>
          </a:p>
          <a:p>
            <a:pPr algn="l">
              <a:buNone/>
            </a:pPr>
            <a:r>
              <a:rPr sz="1100" b="0">
                <a:solidFill>
                  <a:schemeClr val="accent6"/>
                </a:solidFill>
                <a:latin typeface="Maple Mono NF"/>
              </a:rPr>
              <a:t>        # ours: budget_exhausted routing event omitted</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"status"</a:t>
            </a:r>
            <a:r>
              <a:rPr sz="1100" b="0">
                <a:solidFill>
                  <a:schemeClr val="bg1"/>
                </a:solidFill>
                <a:latin typeface="Maple Mono NF"/>
              </a:rPr>
              <a:t>: TerminalStatus.BUDGET_EXHAUSTED}</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2"/>
                </a:solidFill>
                <a:latin typeface="Maple Mono NF"/>
              </a:rPr>
              <a:t>None</a:t>
            </a:r>
          </a:p>
          <a:p>
            <a:pPr algn="l">
              <a:buNone/>
            </a:pPr>
            <a:endParaRPr sz="1100" b="0">
              <a:solidFill>
                <a:schemeClr val="accent2"/>
              </a:solidFill>
              <a:latin typeface="Maple Mono NF"/>
            </a:endParaRPr>
          </a:p>
          <a:p>
            <a:pPr algn="l">
              <a:buNone/>
            </a:pPr>
            <a:r>
              <a:rPr sz="1100" b="0">
                <a:solidFill>
                  <a:schemeClr val="bg1"/>
                </a:solidFill>
                <a:latin typeface="Maple Mono NF"/>
              </a:rPr>
              <a:t>budget: int = </a:t>
            </a:r>
            <a:r>
              <a:rPr sz="1100" b="0">
                <a:solidFill>
                  <a:schemeClr val="accent5">
                    <a:lumMod val="45000"/>
                    <a:lumOff val="55000"/>
                  </a:schemeClr>
                </a:solidFill>
                <a:latin typeface="Maple Mono NF"/>
              </a:rPr>
              <a:t>40</a:t>
            </a:r>
          </a:p>
        </p:txBody>
      </p:sp>
      <p:sp>
        <p:nvSpPr>
          <p:cNvPr id="10" name="Rectangle 9"/>
          <p:cNvSpPr/>
          <p:nvPr/>
        </p:nvSpPr>
        <p:spPr>
          <a:xfrm>
            <a:off x="319251" y="3941648"/>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first stall triggers plan revision. The second ends the run. The recursion limit bounds the number of runtime steps, called supersteps.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trace establishes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The three claims are that execution stopped, acceptance passed, and the artifact meets the task's postcondition.</a:t>
            </a:r>
          </a:p>
          <a:p>
            <a:pPr marL="400050" indent="-285750">
              <a:spcBef>
                <a:spcPts val="600"/>
              </a:spcBef>
              <a:spcAft>
                <a:spcPts val="600"/>
              </a:spcAft>
              <a:buClr>
                <a:srgbClr val="28285E"/>
              </a:buClr>
              <a:buSzPts val="1260"/>
              <a:buFont typeface="+mn-lt"/>
              <a:buChar char="●"/>
            </a:pPr>
            <a:r>
              <a:rPr sz="1400" b="0">
                <a:solidFill>
                  <a:schemeClr val="tx1"/>
                </a:solidFill>
              </a:rPr>
              <a:t>A terminal event establishes that execution terminated.</a:t>
            </a:r>
          </a:p>
          <a:p>
            <a:pPr marL="400050" indent="-285750">
              <a:spcBef>
                <a:spcPts val="600"/>
              </a:spcBef>
              <a:spcAft>
                <a:spcPts val="600"/>
              </a:spcAft>
              <a:buClr>
                <a:srgbClr val="28285E"/>
              </a:buClr>
              <a:buSzPts val="1260"/>
              <a:buFont typeface="+mn-lt"/>
              <a:buChar char="●"/>
            </a:pPr>
            <a:r>
              <a:rPr sz="1400" b="0">
                <a:solidFill>
                  <a:schemeClr val="tx1"/>
                </a:solidFill>
              </a:rPr>
              <a:t>A terminal event with status accepted establishes that the acceptance procedure passed.</a:t>
            </a:r>
          </a:p>
          <a:p>
            <a:pPr marL="400050" indent="-285750">
              <a:spcBef>
                <a:spcPts val="600"/>
              </a:spcBef>
              <a:spcAft>
                <a:spcPts val="600"/>
              </a:spcAft>
              <a:buClr>
                <a:srgbClr val="28285E"/>
              </a:buClr>
              <a:buSzPts val="1260"/>
              <a:buFont typeface="+mn-lt"/>
              <a:buChar char="●"/>
            </a:pPr>
            <a:r>
              <a:rPr sz="1400" b="0">
                <a:solidFill>
                  <a:schemeClr val="tx1"/>
                </a:solidFill>
              </a:rPr>
              <a:t>No trace event establishes that the artifact meets the task's postcondition, the condition the finished artifact must satisfy.</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trace records the outcome of the acceptance checks. It does not establish that the patch is correct.</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model may propose that the work is finished. The runtime checks its completion rules and sets the run's terminal status.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Terminal statuses and trace closure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When a run ends normally, its trace must contain a terminal event. Otherwise, closing the trace raises </a:t>
            </a:r>
            <a:r>
              <a:rPr sz="1400" b="0">
                <a:solidFill>
                  <a:srgbClr val="28285E"/>
                </a:solidFill>
                <a:latin typeface="Maple Mono NF"/>
              </a:rPr>
              <a:t>NoTerminalStatus</a:t>
            </a:r>
            <a:r>
              <a:rPr sz="1400" b="1">
                <a:solidFill>
                  <a:srgbClr val="28285E"/>
                </a:solidFill>
              </a:rPr>
              <a:t>.</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trace.py, lines 36 to 47 and 100 to 101. Comments omitted.</a:t>
            </a:r>
          </a:p>
        </p:txBody>
      </p:sp>
      <p:sp>
        <p:nvSpPr>
          <p:cNvPr id="5" name="CodeWindow"/>
          <p:cNvSpPr/>
          <p:nvPr/>
        </p:nvSpPr>
        <p:spPr>
          <a:xfrm>
            <a:off x="319251" y="1650000"/>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890000"/>
          </a:xfrm>
          <a:prstGeom prst="rect">
            <a:avLst/>
          </a:prstGeom>
          <a:noFill/>
        </p:spPr>
        <p:txBody>
          <a:bodyPr wrap="none" lIns="0" tIns="0" rIns="0" bIns="0" anchor="t">
            <a:spAutoFit/>
          </a:bodyPr>
          <a:lstStyle/>
          <a:p>
            <a:pPr algn="l">
              <a:buNone/>
            </a:pPr>
            <a:r>
              <a:rPr sz="1100" b="0">
                <a:solidFill>
                  <a:schemeClr val="accent2"/>
                </a:solidFill>
                <a:latin typeface="Maple Mono NF"/>
              </a:rPr>
              <a:t>class</a:t>
            </a:r>
            <a:r>
              <a:rPr sz="1100" b="0">
                <a:solidFill>
                  <a:schemeClr val="bg1"/>
                </a:solidFill>
                <a:latin typeface="Maple Mono NF"/>
              </a:rPr>
              <a:t> TerminalStatus(str, Enum):</a:t>
            </a:r>
          </a:p>
          <a:p>
            <a:pPr algn="l">
              <a:buNone/>
            </a:pPr>
            <a:r>
              <a:rPr sz="1100" b="0">
                <a:solidFill>
                  <a:schemeClr val="bg1"/>
                </a:solidFill>
                <a:latin typeface="Maple Mono NF"/>
              </a:rPr>
              <a:t>    ACCEPTED = </a:t>
            </a:r>
            <a:r>
              <a:rPr sz="1100" b="0">
                <a:solidFill>
                  <a:schemeClr val="accent3">
                    <a:lumMod val="55000"/>
                    <a:lumOff val="45000"/>
                  </a:schemeClr>
                </a:solidFill>
                <a:latin typeface="Maple Mono NF"/>
              </a:rPr>
              <a:t>"accepted"</a:t>
            </a:r>
          </a:p>
          <a:p>
            <a:pPr algn="l">
              <a:buNone/>
            </a:pPr>
            <a:r>
              <a:rPr sz="1100" b="0">
                <a:solidFill>
                  <a:schemeClr val="bg1"/>
                </a:solidFill>
                <a:latin typeface="Maple Mono NF"/>
              </a:rPr>
              <a:t>    REJECTED = </a:t>
            </a:r>
            <a:r>
              <a:rPr sz="1100" b="0">
                <a:solidFill>
                  <a:schemeClr val="accent3">
                    <a:lumMod val="55000"/>
                    <a:lumOff val="45000"/>
                  </a:schemeClr>
                </a:solidFill>
                <a:latin typeface="Maple Mono NF"/>
              </a:rPr>
              <a:t>"rejected"</a:t>
            </a:r>
          </a:p>
          <a:p>
            <a:pPr algn="l">
              <a:buNone/>
            </a:pPr>
            <a:r>
              <a:rPr sz="1100" b="0">
                <a:solidFill>
                  <a:schemeClr val="bg1"/>
                </a:solidFill>
                <a:latin typeface="Maple Mono NF"/>
              </a:rPr>
              <a:t>    BUDGET_EXHAUSTED = </a:t>
            </a:r>
            <a:r>
              <a:rPr sz="1100" b="0">
                <a:solidFill>
                  <a:schemeClr val="accent3">
                    <a:lumMod val="55000"/>
                    <a:lumOff val="45000"/>
                  </a:schemeClr>
                </a:solidFill>
                <a:latin typeface="Maple Mono NF"/>
              </a:rPr>
              <a:t>"budget_exhausted"</a:t>
            </a:r>
          </a:p>
          <a:p>
            <a:pPr algn="l">
              <a:buNone/>
            </a:pPr>
            <a:r>
              <a:rPr sz="1100" b="0">
                <a:solidFill>
                  <a:schemeClr val="bg1"/>
                </a:solidFill>
                <a:latin typeface="Maple Mono NF"/>
              </a:rPr>
              <a:t>    NO_PROGRESS = </a:t>
            </a:r>
            <a:r>
              <a:rPr sz="1100" b="0">
                <a:solidFill>
                  <a:schemeClr val="accent3">
                    <a:lumMod val="55000"/>
                    <a:lumOff val="45000"/>
                  </a:schemeClr>
                </a:solidFill>
                <a:latin typeface="Maple Mono NF"/>
              </a:rPr>
              <a:t>"no_progress"</a:t>
            </a:r>
          </a:p>
          <a:p>
            <a:pPr algn="l">
              <a:buNone/>
            </a:pPr>
            <a:r>
              <a:rPr sz="1100" b="0">
                <a:solidFill>
                  <a:schemeClr val="bg1"/>
                </a:solidFill>
                <a:latin typeface="Maple Mono NF"/>
              </a:rPr>
              <a:t>    ERROR = </a:t>
            </a:r>
            <a:r>
              <a:rPr sz="1100" b="0">
                <a:solidFill>
                  <a:schemeClr val="accent3">
                    <a:lumMod val="55000"/>
                    <a:lumOff val="45000"/>
                  </a:schemeClr>
                </a:solidFill>
                <a:latin typeface="Maple Mono NF"/>
              </a:rPr>
              <a:t>"error"</a:t>
            </a:r>
          </a:p>
          <a:p>
            <a:pPr algn="l">
              <a:buNone/>
            </a:pPr>
            <a:endParaRPr sz="1100" b="0">
              <a:solidFill>
                <a:schemeClr val="accent3">
                  <a:lumMod val="55000"/>
                  <a:lumOff val="45000"/>
                </a:schemeClr>
              </a:solidFill>
              <a:latin typeface="Maple Mono NF"/>
            </a:endParaRPr>
          </a:p>
          <a:p>
            <a:pPr algn="l">
              <a:buNone/>
            </a:pPr>
            <a:r>
              <a:rPr sz="1100" b="0">
                <a:solidFill>
                  <a:schemeClr val="accent2"/>
                </a:solidFill>
                <a:latin typeface="Maple Mono NF"/>
              </a:rPr>
              <a:t>class</a:t>
            </a:r>
            <a:r>
              <a:rPr sz="1100" b="0">
                <a:solidFill>
                  <a:schemeClr val="bg1"/>
                </a:solidFill>
                <a:latin typeface="Maple Mono NF"/>
              </a:rPr>
              <a:t> NoTerminalStatus(Exception):</a:t>
            </a:r>
          </a:p>
          <a:p>
            <a:pPr algn="l">
              <a:buNone/>
            </a:pPr>
            <a:r>
              <a:rPr sz="1100" b="0">
                <a:solidFill>
                  <a:schemeClr val="bg1"/>
                </a:solidFill>
                <a:latin typeface="Maple Mono NF"/>
              </a:rPr>
              <a:t>    </a:t>
            </a:r>
            <a:r>
              <a:rPr sz="1100" b="0">
                <a:solidFill>
                  <a:schemeClr val="accent3">
                    <a:lumMod val="55000"/>
                    <a:lumOff val="45000"/>
                  </a:schemeClr>
                </a:solidFill>
                <a:latin typeface="Maple Mono NF"/>
              </a:rPr>
              <a:t>"""A run was closed without stating how it ended."""</a:t>
            </a:r>
          </a:p>
        </p:txBody>
      </p:sp>
      <p:sp>
        <p:nvSpPr>
          <p:cNvPr id="10" name="Rectangle 9"/>
          <p:cNvSpPr/>
          <p:nvPr/>
        </p:nvSpPr>
        <p:spPr>
          <a:xfrm>
            <a:off x="319251" y="413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At normal closure, a missing terminal event is an instrumentation defect: the code did not record how the run ended.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interpretations of a trace</a:t>
            </a:r>
          </a:p>
        </p:txBody>
      </p:sp>
      <p:sp>
        <p:nvSpPr>
          <p:cNvPr id="3" name="Content Placeholder 2"/>
          <p:cNvSpPr>
            <a:spLocks noGrp="1"/>
          </p:cNvSpPr>
          <p:nvPr>
            <p:ph idx="1"/>
          </p:nvPr>
        </p:nvSpPr>
        <p:spPr>
          <a:xfrm>
            <a:off x="319251" y="700000"/>
            <a:ext cx="6014545" cy="731648"/>
          </a:xfrm>
        </p:spPr>
        <p:txBody>
          <a:bodyPr wrap="square" anchor="ctr">
            <a:normAutofit fontScale="85000" lnSpcReduction="10000"/>
          </a:bodyPr>
          <a:lstStyle/>
          <a:p>
            <a:pPr marL="0" indent="0">
              <a:buNone/>
            </a:pPr>
            <a:r>
              <a:rPr sz="1400" b="1">
                <a:solidFill>
                  <a:srgbClr val="28285E"/>
                </a:solidFill>
              </a:rPr>
              <a:t>When an exception escapes the run, the writer records error, then the exception's name in a separate event. </a:t>
            </a:r>
            <a:r>
              <a:rPr sz="1400" b="0">
                <a:solidFill>
                  <a:srgbClr val="28285E"/>
                </a:solidFill>
                <a:latin typeface="Maple Mono NF"/>
              </a:rPr>
              <a:t>SIGKILL</a:t>
            </a:r>
            <a:r>
              <a:rPr sz="1400" b="1">
                <a:solidFill>
                  <a:srgbClr val="28285E"/>
                </a:solidFill>
              </a:rPr>
              <a:t> stops the process without running a handler.</a:t>
            </a:r>
          </a:p>
        </p:txBody>
      </p:sp>
      <p:graphicFrame>
        <p:nvGraphicFramePr>
          <p:cNvPr id="4" name="Table 3"/>
          <p:cNvGraphicFramePr>
            <a:graphicFrameLocks noGrp="1"/>
          </p:cNvGraphicFramePr>
          <p:nvPr/>
        </p:nvGraphicFramePr>
        <p:xfrm>
          <a:off x="319251" y="1621648"/>
          <a:ext cx="6014545" cy="2262150"/>
        </p:xfrm>
        <a:graphic>
          <a:graphicData uri="http://schemas.openxmlformats.org/drawingml/2006/table">
            <a:tbl>
              <a:tblPr firstRow="1" bandRow="1">
                <a:tableStyleId>{5C22544A-7EE6-4342-B048-85BDC9FD1C3A}</a:tableStyleId>
              </a:tblPr>
              <a:tblGrid>
                <a:gridCol w="2000000">
                  <a:extLst>
                    <a:ext uri="{9D8B030D-6E8A-4147-A177-3AD203B41FA5}">
                      <a16:colId xmlns:a16="http://schemas.microsoft.com/office/drawing/2014/main" val="20000"/>
                    </a:ext>
                  </a:extLst>
                </a:gridCol>
                <a:gridCol w="4014545">
                  <a:extLst>
                    <a:ext uri="{9D8B030D-6E8A-4147-A177-3AD203B41FA5}">
                      <a16:colId xmlns:a16="http://schemas.microsoft.com/office/drawing/2014/main" val="20001"/>
                    </a:ext>
                  </a:extLst>
                </a:gridCol>
              </a:tblGrid>
              <a:tr h="300000">
                <a:tc>
                  <a:txBody>
                    <a:bodyPr/>
                    <a:lstStyle/>
                    <a:p>
                      <a:pPr>
                        <a:buNone/>
                      </a:pPr>
                      <a:r>
                        <a:rPr sz="1100" b="1">
                          <a:solidFill>
                            <a:schemeClr val="tx1"/>
                          </a:solidFill>
                        </a:rPr>
                        <a:t>What the trace records</a:t>
                      </a:r>
                    </a:p>
                  </a:txBody>
                  <a:tcPr marL="95250" marR="95250" marT="47625" marB="47625">
                    <a:lnB w="12700" cap="flat" cmpd="sng" algn="ctr">
                      <a:solidFill>
                        <a:schemeClr val="tx1"/>
                      </a:solidFill>
                    </a:lnB>
                    <a:noFill/>
                  </a:tcPr>
                </a:tc>
                <a:tc>
                  <a:txBody>
                    <a:bodyPr/>
                    <a:lstStyle/>
                    <a:p>
                      <a:pPr>
                        <a:buNone/>
                      </a:pPr>
                      <a:r>
                        <a:rPr sz="1100" b="1">
                          <a:solidFill>
                            <a:schemeClr val="tx1"/>
                          </a:solidFill>
                        </a:rPr>
                        <a:t>What it supports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A verdict, then a terminal event with status accepted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Execution terminated and the acceptance procedure passed. The trace does not establish that the patch meets the task's postcondition.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A terminal event with status rejected, </a:t>
                      </a:r>
                      <a:r>
                        <a:rPr sz="1100" b="0">
                          <a:solidFill>
                            <a:srgbClr val="28285E"/>
                          </a:solidFill>
                          <a:latin typeface="Maple Mono NF"/>
                        </a:rPr>
                        <a:t>budget_exhausted</a:t>
                      </a:r>
                      <a:r>
                        <a:rPr sz="1100" b="1">
                          <a:solidFill>
                            <a:srgbClr val="28285E"/>
                          </a:solidFill>
                        </a:rPr>
                        <a:t>, </a:t>
                      </a:r>
                      <a:r>
                        <a:rPr sz="1100" b="0">
                          <a:solidFill>
                            <a:srgbClr val="28285E"/>
                          </a:solidFill>
                          <a:latin typeface="Maple Mono NF"/>
                        </a:rPr>
                        <a:t>no_progress</a:t>
                      </a:r>
                      <a:r>
                        <a:rPr sz="1100" b="1">
                          <a:solidFill>
                            <a:srgbClr val="28285E"/>
                          </a:solidFill>
                        </a:rPr>
                        <a:t> or error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Execution terminated without acceptance, with partial evidence and the stated reason. For error, the next record names the exception.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No terminal 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trace does not establish termination. The run may still be active, or the process may have been killed without running a handler.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4042784"/>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Table 5 in the notes. Calling a missing terminal event error assigns a cause without evidence.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recorded repair after failed checks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In run </a:t>
            </a:r>
            <a:r>
              <a:rPr sz="1400" b="0">
                <a:solidFill>
                  <a:srgbClr val="28285E"/>
                </a:solidFill>
                <a:latin typeface="Maple Mono NF"/>
              </a:rPr>
              <a:t>28e37a00</a:t>
            </a:r>
            <a:r>
              <a:rPr sz="1400" b="1">
                <a:solidFill>
                  <a:srgbClr val="28285E"/>
                </a:solidFill>
              </a:rPr>
              <a:t>, the first patch applies successfully. It leaves the flagged line unchanged, and the rescan still reports the finding.</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0">
                <a:solidFill>
                  <a:srgbClr val="28285E"/>
                </a:solidFill>
                <a:latin typeface="Maple Mono NF"/>
              </a:rPr>
              <a:t>28e37a00</a:t>
            </a:r>
            <a:r>
              <a:rPr sz="1200" b="1">
                <a:solidFill>
                  <a:srgbClr val="28285E"/>
                </a:solidFill>
              </a:rPr>
              <a:t>, steps 25–26. Reasons abbreviated</a:t>
            </a:r>
          </a:p>
        </p:txBody>
      </p:sp>
      <p:sp>
        <p:nvSpPr>
          <p:cNvPr id="5" name="CodeWindow"/>
          <p:cNvSpPr/>
          <p:nvPr/>
        </p:nvSpPr>
        <p:spPr>
          <a:xfrm>
            <a:off x="319251" y="1650000"/>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680000"/>
          </a:xfrm>
          <a:prstGeom prst="rect">
            <a:avLst/>
          </a:prstGeom>
          <a:noFill/>
        </p:spPr>
        <p:txBody>
          <a:bodyPr wrap="none" lIns="0" tIns="0" rIns="0" bIns="0" anchor="t">
            <a:spAutoFit/>
          </a:bodyPr>
          <a:lstStyle/>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25</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"state_change"</a:t>
            </a:r>
            <a:r>
              <a:rPr sz="1100" b="0">
                <a:solidFill>
                  <a:schemeClr val="bg1"/>
                </a:solidFill>
                <a:latin typeface="Maple Mono NF"/>
              </a:rPr>
              <a:t>, </a:t>
            </a:r>
            <a:r>
              <a:rPr sz="1100" b="0">
                <a:solidFill>
                  <a:schemeClr val="accent2"/>
                </a:solidFill>
                <a:latin typeface="Maple Mono NF"/>
              </a:rPr>
              <a:t>"node"</a:t>
            </a:r>
            <a:r>
              <a:rPr sz="1100" b="0">
                <a:solidFill>
                  <a:schemeClr val="bg1"/>
                </a:solidFill>
                <a:latin typeface="Maple Mono NF"/>
              </a:rPr>
              <a:t>: </a:t>
            </a:r>
            <a:r>
              <a:rPr sz="1100" b="0">
                <a:solidFill>
                  <a:schemeClr val="accent3">
                    <a:lumMod val="55000"/>
                    <a:lumOff val="45000"/>
                  </a:schemeClr>
                </a:solidFill>
                <a:latin typeface="Maple Mono NF"/>
              </a:rPr>
              <a:t>"submit"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"checks"</a:t>
            </a:r>
            <a:r>
              <a:rPr sz="1100" b="0">
                <a:solidFill>
                  <a:schemeClr val="bg1"/>
                </a:solidFill>
                <a:latin typeface="Maple Mono NF"/>
              </a:rPr>
              <a:t>: {</a:t>
            </a:r>
            <a:r>
              <a:rPr sz="1100" b="0">
                <a:solidFill>
                  <a:schemeClr val="accent2"/>
                </a:solidFill>
                <a:latin typeface="Maple Mono NF"/>
              </a:rPr>
              <a:t>"applies"</a:t>
            </a:r>
            <a:r>
              <a:rPr sz="1100" b="0">
                <a:solidFill>
                  <a:schemeClr val="bg1"/>
                </a:solidFill>
                <a:latin typeface="Maple Mono NF"/>
              </a:rPr>
              <a:t>: </a:t>
            </a:r>
            <a:r>
              <a:rPr sz="1100" b="0">
                <a:solidFill>
                  <a:schemeClr val="accent5">
                    <a:lumMod val="45000"/>
                    <a:lumOff val="55000"/>
                  </a:schemeClr>
                </a:solidFill>
                <a:latin typeface="Maple Mono NF"/>
              </a:rPr>
              <a:t>true</a:t>
            </a:r>
            <a:r>
              <a:rPr sz="1100" b="0">
                <a:solidFill>
                  <a:schemeClr val="bg1"/>
                </a:solidFill>
                <a:latin typeface="Maple Mono NF"/>
              </a:rPr>
              <a:t>, </a:t>
            </a:r>
            <a:r>
              <a:rPr sz="1100" b="0">
                <a:solidFill>
                  <a:schemeClr val="accent2"/>
                </a:solidFill>
                <a:latin typeface="Maple Mono NF"/>
              </a:rPr>
              <a:t>"touches_line"</a:t>
            </a:r>
            <a:r>
              <a:rPr sz="1100" b="0">
                <a:solidFill>
                  <a:schemeClr val="bg1"/>
                </a:solidFill>
                <a:latin typeface="Maple Mono NF"/>
              </a:rPr>
              <a:t>: </a:t>
            </a:r>
            <a:r>
              <a:rPr sz="1100" b="0">
                <a:solidFill>
                  <a:schemeClr val="accent5">
                    <a:lumMod val="45000"/>
                    <a:lumOff val="55000"/>
                  </a:schemeClr>
                </a:solidFill>
                <a:latin typeface="Maple Mono NF"/>
              </a:rPr>
              <a:t>false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"rescan_clean"</a:t>
            </a:r>
            <a:r>
              <a:rPr sz="1100" b="0">
                <a:solidFill>
                  <a:schemeClr val="bg1"/>
                </a:solidFill>
                <a:latin typeface="Maple Mono NF"/>
              </a:rPr>
              <a:t>: </a:t>
            </a:r>
            <a:r>
              <a:rPr sz="1100" b="0">
                <a:solidFill>
                  <a:schemeClr val="accent5">
                    <a:lumMod val="45000"/>
                    <a:lumOff val="55000"/>
                  </a:schemeClr>
                </a:solidFill>
                <a:latin typeface="Maple Mono NF"/>
              </a:rPr>
              <a:t>false</a:t>
            </a:r>
            <a:r>
              <a:rPr sz="1100" b="0">
                <a:solidFill>
                  <a:schemeClr val="bg1"/>
                </a:solidFill>
                <a:latin typeface="Maple Mono NF"/>
              </a:rPr>
              <a:t>, </a:t>
            </a:r>
            <a:r>
              <a:rPr sz="1100" b="0">
                <a:solidFill>
                  <a:schemeClr val="accent2"/>
                </a:solidFill>
                <a:latin typeface="Maple Mono NF"/>
              </a:rPr>
              <a:t>"reasons"</a:t>
            </a:r>
            <a:r>
              <a:rPr sz="1100" b="0">
                <a:solidFill>
                  <a:schemeClr val="bg1"/>
                </a:solidFill>
                <a:latin typeface="Maple Mono NF"/>
              </a:rPr>
              <a:t>: [...]}}</a:t>
            </a:r>
          </a:p>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26</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"routing"</a:t>
            </a:r>
            <a:r>
              <a:rPr sz="1100" b="0">
                <a:solidFill>
                  <a:schemeClr val="bg1"/>
                </a:solidFill>
                <a:latin typeface="Maple Mono NF"/>
              </a:rPr>
              <a:t>, </a:t>
            </a:r>
            <a:r>
              <a:rPr sz="1100" b="0">
                <a:solidFill>
                  <a:schemeClr val="accent2"/>
                </a:solidFill>
                <a:latin typeface="Maple Mono NF"/>
              </a:rPr>
              <a:t>"decision"</a:t>
            </a:r>
            <a:r>
              <a:rPr sz="1100" b="0">
                <a:solidFill>
                  <a:schemeClr val="bg1"/>
                </a:solidFill>
                <a:latin typeface="Maple Mono NF"/>
              </a:rPr>
              <a:t>: </a:t>
            </a:r>
            <a:r>
              <a:rPr sz="1100" b="0">
                <a:solidFill>
                  <a:schemeClr val="accent3">
                    <a:lumMod val="55000"/>
                    <a:lumOff val="45000"/>
                  </a:schemeClr>
                </a:solidFill>
                <a:latin typeface="Maple Mono NF"/>
              </a:rPr>
              <a:t>"controller"</a:t>
            </a:r>
            <a:r>
              <a:rPr sz="1100" b="0">
                <a:solidFill>
                  <a:schemeClr val="bg1"/>
                </a:solidFill>
                <a:latin typeface="Maple Mono NF"/>
              </a:rPr>
              <a:t>,</a:t>
            </a:r>
          </a:p>
          <a:p>
            <a:pPr algn="l">
              <a:buNone/>
            </a:pPr>
            <a:r>
              <a:rPr sz="1100" b="0">
                <a:solidFill>
                  <a:schemeClr val="bg1"/>
                </a:solidFill>
                <a:latin typeface="Maple Mono NF"/>
              </a:rPr>
              <a:t>  </a:t>
            </a:r>
            <a:r>
              <a:rPr sz="1100" b="1">
                <a:solidFill>
                  <a:schemeClr val="accent4">
                    <a:lumMod val="70000"/>
                    <a:lumOff val="30000"/>
                  </a:schemeClr>
                </a:solidFill>
                <a:latin typeface="Maple Mono NF"/>
              </a:rPr>
              <a:t>"by": "runtime"</a:t>
            </a:r>
            <a:r>
              <a:rPr sz="1100" b="0">
                <a:solidFill>
                  <a:schemeClr val="bg1"/>
                </a:solidFill>
                <a:latin typeface="Maple Mono NF"/>
              </a:rPr>
              <a:t>, </a:t>
            </a:r>
            <a:r>
              <a:rPr sz="1100" b="0">
                <a:solidFill>
                  <a:schemeClr val="accent2"/>
                </a:solidFill>
                <a:latin typeface="Maple Mono NF"/>
              </a:rPr>
              <a:t>"reason"</a:t>
            </a:r>
            <a:r>
              <a:rPr sz="1100" b="0">
                <a:solidFill>
                  <a:schemeClr val="bg1"/>
                </a:solidFill>
                <a:latin typeface="Maple Mono NF"/>
              </a:rPr>
              <a:t>: </a:t>
            </a:r>
            <a:r>
              <a:rPr sz="1100" b="0">
                <a:solidFill>
                  <a:schemeClr val="accent3">
                    <a:lumMod val="55000"/>
                    <a:lumOff val="45000"/>
                  </a:schemeClr>
                </a:solidFill>
                <a:latin typeface="Maple Mono NF"/>
              </a:rPr>
              <a:t>"mechanical checks failed"</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"reasons"</a:t>
            </a:r>
            <a:r>
              <a:rPr sz="1100" b="0">
                <a:solidFill>
                  <a:schemeClr val="bg1"/>
                </a:solidFill>
                <a:latin typeface="Maple Mono NF"/>
              </a:rPr>
              <a:t>: ["the edit did not touch</a:t>
            </a:r>
          </a:p>
          <a:p>
            <a:pPr algn="l">
              <a:buNone/>
            </a:pPr>
            <a:r>
              <a:rPr sz="1100" b="0">
                <a:solidFill>
                  <a:schemeClr val="bg1"/>
                </a:solidFill>
                <a:latin typeface="Maple Mono NF"/>
              </a:rPr>
              <a:t>               testcode/BenchmarkTest01179.py:</a:t>
            </a:r>
            <a:r>
              <a:rPr sz="1100" b="0">
                <a:solidFill>
                  <a:schemeClr val="accent5">
                    <a:lumMod val="45000"/>
                    <a:lumOff val="55000"/>
                  </a:schemeClr>
                </a:solidFill>
                <a:latin typeface="Maple Mono NF"/>
              </a:rPr>
              <a:t>31</a:t>
            </a:r>
            <a:r>
              <a:rPr sz="1100" b="0">
                <a:solidFill>
                  <a:schemeClr val="bg1"/>
                </a:solidFill>
                <a:latin typeface="Maple Mono NF"/>
              </a:rPr>
              <a:t> ...",</a:t>
            </a:r>
          </a:p>
          <a:p>
            <a:pPr algn="l">
              <a:buNone/>
            </a:pPr>
            <a:r>
              <a:rPr sz="1100" b="0">
                <a:solidFill>
                  <a:schemeClr val="bg1"/>
                </a:solidFill>
                <a:latin typeface="Maple Mono NF"/>
              </a:rPr>
              <a:t>              </a:t>
            </a:r>
            <a:r>
              <a:rPr sz="1100" b="0">
                <a:solidFill>
                  <a:schemeClr val="accent3">
                    <a:lumMod val="55000"/>
                    <a:lumOff val="45000"/>
                  </a:schemeClr>
                </a:solidFill>
                <a:latin typeface="Maple Mono NF"/>
              </a:rPr>
              <a:t>"semgrep: ... path-traversal-open is still ..."</a:t>
            </a:r>
            <a:r>
              <a:rPr sz="1100" b="0">
                <a:solidFill>
                  <a:schemeClr val="bg1"/>
                </a:solidFill>
                <a:latin typeface="Maple Mono NF"/>
              </a:rPr>
              <a:t>]}</a:t>
            </a:r>
          </a:p>
        </p:txBody>
      </p:sp>
      <p:sp>
        <p:nvSpPr>
          <p:cNvPr id="10" name="Rectangle 9"/>
          <p:cNvSpPr/>
          <p:nvPr/>
        </p:nvSpPr>
        <p:spPr>
          <a:xfrm>
            <a:off x="319251" y="392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controller receives both reasons as a conversation message and submits again after three tool rounds.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recorded keyboard interruption</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After the second failed submission and two more tool rounds, a keyboard interrupt stops the run.</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0">
                <a:solidFill>
                  <a:srgbClr val="28285E"/>
                </a:solidFill>
                <a:latin typeface="Maple Mono NF"/>
              </a:rPr>
              <a:t>28e37a00</a:t>
            </a:r>
            <a:r>
              <a:rPr sz="1200" b="1">
                <a:solidFill>
                  <a:srgbClr val="28285E"/>
                </a:solidFill>
              </a:rPr>
              <a:t>, steps 50–52. Timestamp and run identifier omitted.</a:t>
            </a:r>
          </a:p>
        </p:txBody>
      </p:sp>
      <p:sp>
        <p:nvSpPr>
          <p:cNvPr id="5" name="CodeWindow"/>
          <p:cNvSpPr/>
          <p:nvPr/>
        </p:nvSpPr>
        <p:spPr>
          <a:xfrm>
            <a:off x="319251" y="1650000"/>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470000"/>
          </a:xfrm>
          <a:prstGeom prst="rect">
            <a:avLst/>
          </a:prstGeom>
          <a:noFill/>
        </p:spPr>
        <p:txBody>
          <a:bodyPr wrap="none" lIns="0" tIns="0" rIns="0" bIns="0" anchor="t">
            <a:spAutoFit/>
          </a:bodyPr>
          <a:lstStyle/>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50</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"tool_result"</a:t>
            </a:r>
            <a:r>
              <a:rPr sz="1100" b="0">
                <a:solidFill>
                  <a:schemeClr val="bg1"/>
                </a:solidFill>
                <a:latin typeface="Maple Mono NF"/>
              </a:rPr>
              <a:t>, </a:t>
            </a:r>
            <a:r>
              <a:rPr sz="1100" b="0">
                <a:solidFill>
                  <a:schemeClr val="accent2"/>
                </a:solidFill>
                <a:latin typeface="Maple Mono NF"/>
              </a:rPr>
              <a:t>"tool"</a:t>
            </a:r>
            <a:r>
              <a:rPr sz="1100" b="0">
                <a:solidFill>
                  <a:schemeClr val="bg1"/>
                </a:solidFill>
                <a:latin typeface="Maple Mono NF"/>
              </a:rPr>
              <a:t>: </a:t>
            </a:r>
            <a:r>
              <a:rPr sz="1100" b="0">
                <a:solidFill>
                  <a:schemeClr val="accent3">
                    <a:lumMod val="55000"/>
                    <a:lumOff val="45000"/>
                  </a:schemeClr>
                </a:solidFill>
                <a:latin typeface="Maple Mono NF"/>
              </a:rPr>
              <a:t>"read_file"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"ok"</a:t>
            </a:r>
            <a:r>
              <a:rPr sz="1100" b="0">
                <a:solidFill>
                  <a:schemeClr val="bg1"/>
                </a:solidFill>
                <a:latin typeface="Maple Mono NF"/>
              </a:rPr>
              <a:t>: </a:t>
            </a:r>
            <a:r>
              <a:rPr sz="1100" b="0">
                <a:solidFill>
                  <a:schemeClr val="accent5">
                    <a:lumMod val="45000"/>
                    <a:lumOff val="55000"/>
                  </a:schemeClr>
                </a:solidFill>
                <a:latin typeface="Maple Mono NF"/>
              </a:rPr>
              <a:t>true</a:t>
            </a:r>
            <a:r>
              <a:rPr sz="1100" b="0">
                <a:solidFill>
                  <a:schemeClr val="bg1"/>
                </a:solidFill>
                <a:latin typeface="Maple Mono NF"/>
              </a:rPr>
              <a:t>, </a:t>
            </a:r>
            <a:r>
              <a:rPr sz="1100" b="0">
                <a:solidFill>
                  <a:schemeClr val="accent2"/>
                </a:solidFill>
                <a:latin typeface="Maple Mono NF"/>
              </a:rPr>
              <a:t>"chars"</a:t>
            </a:r>
            <a:r>
              <a:rPr sz="1100" b="0">
                <a:solidFill>
                  <a:schemeClr val="bg1"/>
                </a:solidFill>
                <a:latin typeface="Maple Mono NF"/>
              </a:rPr>
              <a:t>: </a:t>
            </a:r>
            <a:r>
              <a:rPr sz="1100" b="0">
                <a:solidFill>
                  <a:schemeClr val="accent5">
                    <a:lumMod val="45000"/>
                    <a:lumOff val="55000"/>
                  </a:schemeClr>
                </a:solidFill>
                <a:latin typeface="Maple Mono NF"/>
              </a:rPr>
              <a:t>1081</a:t>
            </a:r>
            <a:r>
              <a:rPr sz="1100" b="0">
                <a:solidFill>
                  <a:schemeClr val="bg1"/>
                </a:solidFill>
                <a:latin typeface="Maple Mono NF"/>
              </a:rPr>
              <a:t>}</a:t>
            </a:r>
          </a:p>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51</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"terminal"</a:t>
            </a:r>
            <a:r>
              <a:rPr sz="1100" b="0">
                <a:solidFill>
                  <a:schemeClr val="bg1"/>
                </a:solidFill>
                <a:latin typeface="Maple Mono NF"/>
              </a:rPr>
              <a:t>, </a:t>
            </a:r>
            <a:r>
              <a:rPr sz="1100" b="1">
                <a:solidFill>
                  <a:schemeClr val="accent4">
                    <a:lumMod val="70000"/>
                    <a:lumOff val="30000"/>
                  </a:schemeClr>
                </a:solidFill>
                <a:latin typeface="Maple Mono NF"/>
              </a:rPr>
              <a:t>"status": "error"</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"usage_total"</a:t>
            </a:r>
            <a:r>
              <a:rPr sz="1100" b="0">
                <a:solidFill>
                  <a:schemeClr val="bg1"/>
                </a:solidFill>
                <a:latin typeface="Maple Mono NF"/>
              </a:rPr>
              <a:t>: {</a:t>
            </a:r>
            <a:r>
              <a:rPr sz="1100" b="0">
                <a:solidFill>
                  <a:schemeClr val="accent2"/>
                </a:solidFill>
                <a:latin typeface="Maple Mono NF"/>
              </a:rPr>
              <a:t>"input"</a:t>
            </a:r>
            <a:r>
              <a:rPr sz="1100" b="0">
                <a:solidFill>
                  <a:schemeClr val="bg1"/>
                </a:solidFill>
                <a:latin typeface="Maple Mono NF"/>
              </a:rPr>
              <a:t>: </a:t>
            </a:r>
            <a:r>
              <a:rPr sz="1100" b="0">
                <a:solidFill>
                  <a:schemeClr val="accent5">
                    <a:lumMod val="45000"/>
                    <a:lumOff val="55000"/>
                  </a:schemeClr>
                </a:solidFill>
                <a:latin typeface="Maple Mono NF"/>
              </a:rPr>
              <a:t>67586</a:t>
            </a:r>
            <a:r>
              <a:rPr sz="1100" b="0">
                <a:solidFill>
                  <a:schemeClr val="bg1"/>
                </a:solidFill>
                <a:latin typeface="Maple Mono NF"/>
              </a:rPr>
              <a:t>, </a:t>
            </a:r>
            <a:r>
              <a:rPr sz="1100" b="0">
                <a:solidFill>
                  <a:schemeClr val="accent2"/>
                </a:solidFill>
                <a:latin typeface="Maple Mono NF"/>
              </a:rPr>
              <a:t>"output"</a:t>
            </a:r>
            <a:r>
              <a:rPr sz="1100" b="0">
                <a:solidFill>
                  <a:schemeClr val="bg1"/>
                </a:solidFill>
                <a:latin typeface="Maple Mono NF"/>
              </a:rPr>
              <a:t>: </a:t>
            </a:r>
            <a:r>
              <a:rPr sz="1100" b="0">
                <a:solidFill>
                  <a:schemeClr val="accent5">
                    <a:lumMod val="45000"/>
                    <a:lumOff val="55000"/>
                  </a:schemeClr>
                </a:solidFill>
                <a:latin typeface="Maple Mono NF"/>
              </a:rPr>
              <a:t>10380</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"cache_read"</a:t>
            </a:r>
            <a:r>
              <a:rPr sz="1100" b="0">
                <a:solidFill>
                  <a:schemeClr val="bg1"/>
                </a:solidFill>
                <a:latin typeface="Maple Mono NF"/>
              </a:rPr>
              <a:t>: </a:t>
            </a:r>
            <a:r>
              <a:rPr sz="1100" b="0">
                <a:solidFill>
                  <a:schemeClr val="accent5">
                    <a:lumMod val="45000"/>
                    <a:lumOff val="55000"/>
                  </a:schemeClr>
                </a:solidFill>
                <a:latin typeface="Maple Mono NF"/>
              </a:rPr>
              <a:t>0</a:t>
            </a:r>
            <a:r>
              <a:rPr sz="1100" b="0">
                <a:solidFill>
                  <a:schemeClr val="bg1"/>
                </a:solidFill>
                <a:latin typeface="Maple Mono NF"/>
              </a:rPr>
              <a:t>, </a:t>
            </a:r>
            <a:r>
              <a:rPr sz="1100" b="0">
                <a:solidFill>
                  <a:schemeClr val="accent2"/>
                </a:solidFill>
                <a:latin typeface="Maple Mono NF"/>
              </a:rPr>
              <a:t>"cache_write"</a:t>
            </a:r>
            <a:r>
              <a:rPr sz="1100" b="0">
                <a:solidFill>
                  <a:schemeClr val="bg1"/>
                </a:solidFill>
                <a:latin typeface="Maple Mono NF"/>
              </a:rPr>
              <a:t>: </a:t>
            </a:r>
            <a:r>
              <a:rPr sz="1100" b="0">
                <a:solidFill>
                  <a:schemeClr val="accent5">
                    <a:lumMod val="45000"/>
                    <a:lumOff val="55000"/>
                  </a:schemeClr>
                </a:solidFill>
                <a:latin typeface="Maple Mono NF"/>
              </a:rPr>
              <a:t>0</a:t>
            </a:r>
            <a:r>
              <a:rPr sz="1100" b="0">
                <a:solidFill>
                  <a:schemeClr val="bg1"/>
                </a:solidFill>
                <a:latin typeface="Maple Mono NF"/>
              </a:rPr>
              <a:t>}}</a:t>
            </a:r>
          </a:p>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52</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"state_change"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"exception"</a:t>
            </a:r>
            <a:r>
              <a:rPr sz="1100" b="0">
                <a:solidFill>
                  <a:schemeClr val="bg1"/>
                </a:solidFill>
                <a:latin typeface="Maple Mono NF"/>
              </a:rPr>
              <a:t>: </a:t>
            </a:r>
            <a:r>
              <a:rPr sz="1100" b="0">
                <a:solidFill>
                  <a:schemeClr val="accent3">
                    <a:lumMod val="55000"/>
                    <a:lumOff val="45000"/>
                  </a:schemeClr>
                </a:solidFill>
                <a:latin typeface="Maple Mono NF"/>
              </a:rPr>
              <a:t>"KeyboardInterrupt"</a:t>
            </a:r>
            <a:r>
              <a:rPr sz="1100" b="0">
                <a:solidFill>
                  <a:schemeClr val="bg1"/>
                </a:solidFill>
                <a:latin typeface="Maple Mono NF"/>
              </a:rPr>
              <a:t>, </a:t>
            </a:r>
            <a:r>
              <a:rPr sz="1100" b="0">
                <a:solidFill>
                  <a:schemeClr val="accent2"/>
                </a:solidFill>
                <a:latin typeface="Maple Mono NF"/>
              </a:rPr>
              <a:t>"message"</a:t>
            </a:r>
            <a:r>
              <a:rPr sz="1100" b="0">
                <a:solidFill>
                  <a:schemeClr val="bg1"/>
                </a:solidFill>
                <a:latin typeface="Maple Mono NF"/>
              </a:rPr>
              <a:t>: </a:t>
            </a:r>
            <a:r>
              <a:rPr sz="1100" b="0">
                <a:solidFill>
                  <a:schemeClr val="accent3">
                    <a:lumMod val="55000"/>
                    <a:lumOff val="45000"/>
                  </a:schemeClr>
                </a:solidFill>
                <a:latin typeface="Maple Mono NF"/>
              </a:rPr>
              <a:t>""</a:t>
            </a:r>
            <a:r>
              <a:rPr sz="1100" b="0">
                <a:solidFill>
                  <a:schemeClr val="bg1"/>
                </a:solidFill>
                <a:latin typeface="Maple Mono NF"/>
              </a:rPr>
              <a:t>}</a:t>
            </a:r>
          </a:p>
        </p:txBody>
      </p:sp>
      <p:sp>
        <p:nvSpPr>
          <p:cNvPr id="10" name="Rectangle 9"/>
          <p:cNvSpPr/>
          <p:nvPr/>
        </p:nvSpPr>
        <p:spPr>
          <a:xfrm>
            <a:off x="319251" y="371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A </a:t>
            </a:r>
            <a:r>
              <a:rPr sz="1200" b="0">
                <a:solidFill>
                  <a:schemeClr val="tx2"/>
                </a:solidFill>
                <a:latin typeface="Maple Mono NF"/>
              </a:rPr>
              <a:t>SIGKILL</a:t>
            </a:r>
            <a:r>
              <a:rPr sz="1200" b="1">
                <a:solidFill>
                  <a:schemeClr val="tx2"/>
                </a:solidFill>
              </a:rPr>
              <a:t> at the same point would leave the file ending at step 50, without terminal or exception records.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B62A2B-FDCF-A1DC-9017-0AFFE57B9F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98DCAC-A76C-A823-399D-768823452A81}"/>
              </a:ext>
            </a:extLst>
          </p:cNvPr>
          <p:cNvSpPr txBox="1"/>
          <p:nvPr/>
        </p:nvSpPr>
        <p:spPr>
          <a:xfrm>
            <a:off x="611972" y="265337"/>
            <a:ext cx="5634056" cy="1323439"/>
          </a:xfrm>
          <a:prstGeom prst="rect">
            <a:avLst/>
          </a:prstGeom>
          <a:noFill/>
        </p:spPr>
        <p:txBody>
          <a:bodyPr wrap="square" anchor="ctr">
            <a:spAutoFit/>
          </a:bodyPr>
          <a:lstStyle/>
          <a:p>
            <a:pPr algn="ctr"/>
            <a:r>
              <a:rPr lang="en-US" sz="4000" b="1" dirty="0">
                <a:solidFill>
                  <a:schemeClr val="tx2"/>
                </a:solidFill>
                <a:latin typeface="+mj-lt"/>
              </a:rPr>
              <a:t>Scheduling, tools, and execution authority</a:t>
            </a:r>
          </a:p>
        </p:txBody>
      </p:sp>
      <p:cxnSp>
        <p:nvCxnSpPr>
          <p:cNvPr id="4" name="Straight Arrow Connector 3">
            <a:extLst>
              <a:ext uri="{FF2B5EF4-FFF2-40B4-BE49-F238E27FC236}">
                <a16:creationId xmlns:a16="http://schemas.microsoft.com/office/drawing/2014/main" id="{DF2C7272-C94D-604C-8564-E2CAE657DD29}"/>
              </a:ext>
            </a:extLst>
          </p:cNvPr>
          <p:cNvCxnSpPr>
            <a:cxnSpLocks/>
          </p:cNvCxnSpPr>
          <p:nvPr/>
        </p:nvCxnSpPr>
        <p:spPr>
          <a:xfrm>
            <a:off x="1063835" y="2018156"/>
            <a:ext cx="0" cy="2160870"/>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6" name="Oval 7">
            <a:extLst>
              <a:ext uri="{FF2B5EF4-FFF2-40B4-BE49-F238E27FC236}">
                <a16:creationId xmlns:a16="http://schemas.microsoft.com/office/drawing/2014/main" id="{0546CFF1-D557-E681-6363-5640E32D5E0D}"/>
              </a:ext>
            </a:extLst>
          </p:cNvPr>
          <p:cNvSpPr/>
          <p:nvPr/>
        </p:nvSpPr>
        <p:spPr>
          <a:xfrm>
            <a:off x="951758" y="21880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DF50660-9E76-5FBB-0F3D-697A84C29135}"/>
              </a:ext>
            </a:extLst>
          </p:cNvPr>
          <p:cNvSpPr/>
          <p:nvPr/>
        </p:nvSpPr>
        <p:spPr>
          <a:xfrm>
            <a:off x="951758" y="27217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F11D4DE-FE31-D73E-EEE1-DB12B5268020}"/>
              </a:ext>
            </a:extLst>
          </p:cNvPr>
          <p:cNvSpPr/>
          <p:nvPr/>
        </p:nvSpPr>
        <p:spPr>
          <a:xfrm>
            <a:off x="951758" y="3255453"/>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FD67B7E-2781-9D77-1EBD-B4360DF7C1A2}"/>
              </a:ext>
            </a:extLst>
          </p:cNvPr>
          <p:cNvSpPr/>
          <p:nvPr/>
        </p:nvSpPr>
        <p:spPr>
          <a:xfrm>
            <a:off x="951758" y="378559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2">
            <a:extLst>
              <a:ext uri="{FF2B5EF4-FFF2-40B4-BE49-F238E27FC236}">
                <a16:creationId xmlns:a16="http://schemas.microsoft.com/office/drawing/2014/main" id="{F4F229A4-9985-3967-3666-8C4BD6D4C4A6}"/>
              </a:ext>
            </a:extLst>
          </p:cNvPr>
          <p:cNvSpPr txBox="1"/>
          <p:nvPr/>
        </p:nvSpPr>
        <p:spPr>
          <a:xfrm>
            <a:off x="1259524" y="2146243"/>
            <a:ext cx="5074272" cy="338554"/>
          </a:xfrm>
          <a:prstGeom prst="rect">
            <a:avLst/>
          </a:prstGeom>
          <a:noFill/>
        </p:spPr>
        <p:txBody>
          <a:bodyPr wrap="none" rtlCol="0">
            <a:spAutoFit/>
          </a:bodyPr>
          <a:lstStyle/>
          <a:p>
            <a:r>
              <a:rPr lang="en-US" sz="1600" b="1" dirty="0">
                <a:solidFill>
                  <a:schemeClr val="tx2"/>
                </a:solidFill>
                <a:latin typeface="+mj-lt"/>
              </a:rPr>
              <a:t>Agents as state machines</a:t>
            </a:r>
          </a:p>
        </p:txBody>
      </p:sp>
      <p:sp>
        <p:nvSpPr>
          <p:cNvPr id="9" name="TextBox 8">
            <a:extLst>
              <a:ext uri="{FF2B5EF4-FFF2-40B4-BE49-F238E27FC236}">
                <a16:creationId xmlns:a16="http://schemas.microsoft.com/office/drawing/2014/main" id="{89CD9127-6080-30A2-643D-BF57B563C56A}"/>
              </a:ext>
            </a:extLst>
          </p:cNvPr>
          <p:cNvSpPr txBox="1"/>
          <p:nvPr/>
        </p:nvSpPr>
        <p:spPr>
          <a:xfrm>
            <a:off x="1259524" y="2679943"/>
            <a:ext cx="2779928" cy="338554"/>
          </a:xfrm>
          <a:prstGeom prst="rect">
            <a:avLst/>
          </a:prstGeom>
          <a:noFill/>
        </p:spPr>
        <p:txBody>
          <a:bodyPr wrap="none" rtlCol="0">
            <a:spAutoFit/>
          </a:bodyPr>
          <a:lstStyle/>
          <a:p>
            <a:r>
              <a:rPr lang="en-US" sz="1600" b="1" dirty="0">
                <a:solidFill>
                  <a:schemeClr val="tx2"/>
                </a:solidFill>
                <a:latin typeface="+mj-lt"/>
              </a:rPr>
              <a:t>State, records and reducers</a:t>
            </a:r>
          </a:p>
        </p:txBody>
      </p:sp>
      <p:sp>
        <p:nvSpPr>
          <p:cNvPr id="12" name="TextBox 11">
            <a:extLst>
              <a:ext uri="{FF2B5EF4-FFF2-40B4-BE49-F238E27FC236}">
                <a16:creationId xmlns:a16="http://schemas.microsoft.com/office/drawing/2014/main" id="{759A21A2-B500-2619-1F4F-322D5533C9D6}"/>
              </a:ext>
            </a:extLst>
          </p:cNvPr>
          <p:cNvSpPr txBox="1"/>
          <p:nvPr/>
        </p:nvSpPr>
        <p:spPr>
          <a:xfrm>
            <a:off x="1259524" y="3743778"/>
            <a:ext cx="3025187" cy="338554"/>
          </a:xfrm>
          <a:prstGeom prst="rect">
            <a:avLst/>
          </a:prstGeom>
          <a:noFill/>
        </p:spPr>
        <p:txBody>
          <a:bodyPr wrap="none" rtlCol="0">
            <a:spAutoFit/>
          </a:bodyPr>
          <a:lstStyle/>
          <a:p>
            <a:r>
              <a:rPr lang="en-US" sz="1600" b="1" dirty="0">
                <a:solidFill>
                  <a:schemeClr val="tx2"/>
                </a:solidFill>
                <a:latin typeface="Fira Sans" panose="020B0503050000020004" pitchFamily="34" charset="0"/>
              </a:rPr>
              <a:t>Scheduling and tool execution</a:t>
            </a:r>
          </a:p>
        </p:txBody>
      </p:sp>
      <p:sp>
        <p:nvSpPr>
          <p:cNvPr id="11" name="TextBox 10">
            <a:extLst>
              <a:ext uri="{FF2B5EF4-FFF2-40B4-BE49-F238E27FC236}">
                <a16:creationId xmlns:a16="http://schemas.microsoft.com/office/drawing/2014/main" id="{306AA945-F689-FC77-BD2F-B82C16E2139B}"/>
              </a:ext>
            </a:extLst>
          </p:cNvPr>
          <p:cNvSpPr txBox="1"/>
          <p:nvPr/>
        </p:nvSpPr>
        <p:spPr>
          <a:xfrm>
            <a:off x="1259524" y="3210082"/>
            <a:ext cx="3167855" cy="338554"/>
          </a:xfrm>
          <a:prstGeom prst="rect">
            <a:avLst/>
          </a:prstGeom>
          <a:noFill/>
        </p:spPr>
        <p:txBody>
          <a:bodyPr wrap="none" rtlCol="0">
            <a:spAutoFit/>
          </a:bodyPr>
          <a:lstStyle/>
          <a:p>
            <a:r>
              <a:rPr lang="en-US" sz="1600" b="1" dirty="0">
                <a:solidFill>
                  <a:schemeClr val="tx2"/>
                </a:solidFill>
                <a:latin typeface="+mj-lt"/>
              </a:rPr>
              <a:t>Routing, feedback and stopping</a:t>
            </a:r>
            <a:endParaRPr lang="en-US" sz="1600" i="1" dirty="0">
              <a:solidFill>
                <a:schemeClr val="tx2"/>
              </a:solidFill>
              <a:latin typeface="+mj-lt"/>
            </a:endParaRPr>
          </a:p>
        </p:txBody>
      </p:sp>
      <p:pic>
        <p:nvPicPr>
          <p:cNvPr id="14" name="Picture 13">
            <a:extLst>
              <a:ext uri="{FF2B5EF4-FFF2-40B4-BE49-F238E27FC236}">
                <a16:creationId xmlns:a16="http://schemas.microsoft.com/office/drawing/2014/main" id="{16D3CF14-AB97-1052-B9EC-CB281AD15C65}"/>
              </a:ext>
            </a:extLst>
          </p:cNvPr>
          <p:cNvPicPr>
            <a:picLocks noChangeAspect="1"/>
          </p:cNvPicPr>
          <p:nvPr/>
        </p:nvPicPr>
        <p:blipFill>
          <a:blip r:embed="rId3">
            <a:alphaModFix amt="70000"/>
          </a:blip>
          <a:stretch>
            <a:fillRect/>
          </a:stretch>
        </p:blipFill>
        <p:spPr>
          <a:xfrm>
            <a:off x="825474" y="1933482"/>
            <a:ext cx="5732295" cy="1709693"/>
          </a:xfrm>
          <a:prstGeom prst="rect">
            <a:avLst/>
          </a:prstGeom>
        </p:spPr>
      </p:pic>
    </p:spTree>
    <p:extLst>
      <p:ext uri="{BB962C8B-B14F-4D97-AF65-F5344CB8AC3E}">
        <p14:creationId xmlns:p14="http://schemas.microsoft.com/office/powerpoint/2010/main" val="8601790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Supersteps: when an update becomes visible</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Routing selects the next graph node. Scheduling determines when the node runs and which version of the state record it reads.</a:t>
            </a:r>
          </a:p>
          <a:p>
            <a:pPr marL="400050" indent="-285750">
              <a:spcBef>
                <a:spcPts val="600"/>
              </a:spcBef>
              <a:spcAft>
                <a:spcPts val="600"/>
              </a:spcAft>
              <a:buClr>
                <a:srgbClr val="28285E"/>
              </a:buClr>
              <a:buSzPts val="1260"/>
              <a:buFont typeface="+mn-lt"/>
              <a:buChar char="●"/>
            </a:pPr>
            <a:r>
              <a:rPr sz="1400" b="1">
                <a:solidFill>
                  <a:schemeClr val="tx1"/>
                </a:solidFill>
              </a:rPr>
              <a:t>Planning</a:t>
            </a:r>
            <a:r>
              <a:rPr sz="1400" b="0">
                <a:solidFill>
                  <a:schemeClr val="tx1"/>
                </a:solidFill>
              </a:rPr>
              <a:t> selects the nodes to run from the inputs updated in the previous superstep.</a:t>
            </a:r>
          </a:p>
          <a:p>
            <a:pPr marL="400050" indent="-285750">
              <a:spcBef>
                <a:spcPts val="600"/>
              </a:spcBef>
              <a:spcAft>
                <a:spcPts val="600"/>
              </a:spcAft>
              <a:buClr>
                <a:srgbClr val="28285E"/>
              </a:buClr>
              <a:buSzPts val="1260"/>
              <a:buFont typeface="+mn-lt"/>
              <a:buChar char="●"/>
            </a:pPr>
            <a:r>
              <a:rPr sz="1400" b="1">
                <a:solidFill>
                  <a:schemeClr val="tx1"/>
                </a:solidFill>
              </a:rPr>
              <a:t>Execution</a:t>
            </a:r>
            <a:r>
              <a:rPr sz="1400" b="0">
                <a:solidFill>
                  <a:schemeClr val="tx1"/>
                </a:solidFill>
              </a:rPr>
              <a:t> runs the selected nodes. Other nodes cannot read their returned state updates during this phase.</a:t>
            </a:r>
          </a:p>
          <a:p>
            <a:pPr marL="400050" indent="-285750">
              <a:spcBef>
                <a:spcPts val="600"/>
              </a:spcBef>
              <a:spcAft>
                <a:spcPts val="600"/>
              </a:spcAft>
              <a:buClr>
                <a:srgbClr val="28285E"/>
              </a:buClr>
              <a:buSzPts val="1260"/>
              <a:buFont typeface="+mn-lt"/>
              <a:buChar char="●"/>
            </a:pPr>
            <a:r>
              <a:rPr sz="1400" b="1">
                <a:solidFill>
                  <a:schemeClr val="tx1"/>
                </a:solidFill>
              </a:rPr>
              <a:t>Update</a:t>
            </a:r>
            <a:r>
              <a:rPr sz="1400" b="0">
                <a:solidFill>
                  <a:schemeClr val="tx1"/>
                </a:solidFill>
              </a:rPr>
              <a:t> merges the nodes' returned values into the state record using its reducers.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superstep is one round of planning, execution and update. Nodes read the updated state in the next round.</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tool can change a file during execution, before the runtime updates the state record.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supersteps in the recorded run</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controller's superstep contains events 3 and 4. The next superstep runs tools and contains events 5 and 6.</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0">
                <a:solidFill>
                  <a:srgbClr val="28285E"/>
                </a:solidFill>
                <a:latin typeface="Maple Mono NF"/>
              </a:rPr>
              <a:t>bc284c6b</a:t>
            </a:r>
            <a:r>
              <a:rPr sz="1200" b="1">
                <a:solidFill>
                  <a:srgbClr val="28285E"/>
                </a:solidFill>
              </a:rPr>
              <a:t>, events 3 to 6. Timestamp, run identifier and thinking omitted.</a:t>
            </a:r>
          </a:p>
        </p:txBody>
      </p:sp>
      <p:sp>
        <p:nvSpPr>
          <p:cNvPr id="5" name="CodeWindow"/>
          <p:cNvSpPr/>
          <p:nvPr/>
        </p:nvSpPr>
        <p:spPr>
          <a:xfrm>
            <a:off x="319251" y="1650000"/>
            <a:ext cx="6014545" cy="1927272"/>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527272"/>
          </a:xfrm>
          <a:prstGeom prst="rect">
            <a:avLst/>
          </a:prstGeom>
          <a:noFill/>
        </p:spPr>
        <p:txBody>
          <a:bodyPr wrap="none" lIns="0" tIns="0" rIns="0" bIns="0" anchor="t">
            <a:spAutoFit/>
          </a:bodyPr>
          <a:lstStyle/>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3</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"model_call"</a:t>
            </a:r>
            <a:r>
              <a:rPr sz="1000" b="0">
                <a:solidFill>
                  <a:schemeClr val="bg1"/>
                </a:solidFill>
                <a:latin typeface="Maple Mono NF"/>
              </a:rPr>
              <a:t>, </a:t>
            </a:r>
            <a:r>
              <a:rPr sz="1000" b="0">
                <a:solidFill>
                  <a:schemeClr val="accent2"/>
                </a:solidFill>
                <a:latin typeface="Maple Mono NF"/>
              </a:rPr>
              <a:t>"role"</a:t>
            </a:r>
            <a:r>
              <a:rPr sz="1000" b="0">
                <a:solidFill>
                  <a:schemeClr val="bg1"/>
                </a:solidFill>
                <a:latin typeface="Maple Mono NF"/>
              </a:rPr>
              <a:t>: </a:t>
            </a:r>
            <a:r>
              <a:rPr sz="1000" b="0">
                <a:solidFill>
                  <a:schemeClr val="accent3">
                    <a:lumMod val="55000"/>
                    <a:lumOff val="45000"/>
                  </a:schemeClr>
                </a:solidFill>
                <a:latin typeface="Maple Mono NF"/>
              </a:rPr>
              <a:t>"controller"</a:t>
            </a:r>
            <a:r>
              <a:rPr sz="1000" b="0">
                <a:solidFill>
                  <a:schemeClr val="bg1"/>
                </a:solidFill>
                <a:latin typeface="Maple Mono NF"/>
              </a:rPr>
              <a:t>,</a:t>
            </a:r>
          </a:p>
          <a:p>
            <a:pPr algn="l">
              <a:buNone/>
            </a:pPr>
            <a:r>
              <a:rPr sz="1000" b="0">
                <a:solidFill>
                  <a:schemeClr val="bg1"/>
                </a:solidFill>
                <a:latin typeface="Maple Mono NF"/>
              </a:rPr>
              <a:t>  </a:t>
            </a:r>
            <a:r>
              <a:rPr sz="1000" b="0">
                <a:solidFill>
                  <a:schemeClr val="accent2"/>
                </a:solidFill>
                <a:latin typeface="Maple Mono NF"/>
              </a:rPr>
              <a:t>"tool_calls"</a:t>
            </a:r>
            <a:r>
              <a:rPr sz="1000" b="0">
                <a:solidFill>
                  <a:schemeClr val="bg1"/>
                </a:solidFill>
                <a:latin typeface="Maple Mono NF"/>
              </a:rPr>
              <a:t>: [</a:t>
            </a:r>
            <a:r>
              <a:rPr sz="1000" b="0">
                <a:solidFill>
                  <a:schemeClr val="accent3">
                    <a:lumMod val="55000"/>
                    <a:lumOff val="45000"/>
                  </a:schemeClr>
                </a:solidFill>
                <a:latin typeface="Maple Mono NF"/>
              </a:rPr>
              <a:t>"read_file"</a:t>
            </a:r>
            <a:r>
              <a:rPr sz="1000" b="0">
                <a:solidFill>
                  <a:schemeClr val="bg1"/>
                </a:solidFill>
                <a:latin typeface="Maple Mono NF"/>
              </a:rPr>
              <a:t>], </a:t>
            </a:r>
            <a:r>
              <a:rPr sz="1000" b="0">
                <a:solidFill>
                  <a:schemeClr val="accent2"/>
                </a:solidFill>
                <a:latin typeface="Maple Mono NF"/>
              </a:rPr>
              <a:t>"usage"</a:t>
            </a:r>
            <a:r>
              <a:rPr sz="1000" b="0">
                <a:solidFill>
                  <a:schemeClr val="bg1"/>
                </a:solidFill>
                <a:latin typeface="Maple Mono NF"/>
              </a:rPr>
              <a:t>: {</a:t>
            </a:r>
            <a:r>
              <a:rPr sz="1000" b="0">
                <a:solidFill>
                  <a:schemeClr val="accent2"/>
                </a:solidFill>
                <a:latin typeface="Maple Mono NF"/>
              </a:rPr>
              <a:t>"input"</a:t>
            </a:r>
            <a:r>
              <a:rPr sz="1000" b="0">
                <a:solidFill>
                  <a:schemeClr val="bg1"/>
                </a:solidFill>
                <a:latin typeface="Maple Mono NF"/>
              </a:rPr>
              <a:t>: </a:t>
            </a:r>
            <a:r>
              <a:rPr sz="1000" b="0">
                <a:solidFill>
                  <a:schemeClr val="accent5">
                    <a:lumMod val="45000"/>
                    <a:lumOff val="55000"/>
                  </a:schemeClr>
                </a:solidFill>
                <a:latin typeface="Maple Mono NF"/>
              </a:rPr>
              <a:t>1284</a:t>
            </a:r>
            <a:r>
              <a:rPr sz="1000" b="0">
                <a:solidFill>
                  <a:schemeClr val="bg1"/>
                </a:solidFill>
                <a:latin typeface="Maple Mono NF"/>
              </a:rPr>
              <a:t>, </a:t>
            </a:r>
            <a:r>
              <a:rPr sz="1000" b="0">
                <a:solidFill>
                  <a:schemeClr val="accent2"/>
                </a:solidFill>
                <a:latin typeface="Maple Mono NF"/>
              </a:rPr>
              <a:t>"output"</a:t>
            </a:r>
            <a:r>
              <a:rPr sz="1000" b="0">
                <a:solidFill>
                  <a:schemeClr val="bg1"/>
                </a:solidFill>
                <a:latin typeface="Maple Mono NF"/>
              </a:rPr>
              <a:t>: </a:t>
            </a:r>
            <a:r>
              <a:rPr sz="1000" b="0">
                <a:solidFill>
                  <a:schemeClr val="accent5">
                    <a:lumMod val="45000"/>
                    <a:lumOff val="55000"/>
                  </a:schemeClr>
                </a:solidFill>
                <a:latin typeface="Maple Mono NF"/>
              </a:rPr>
              <a:t>51</a:t>
            </a:r>
            <a:r>
              <a:rPr sz="1000" b="0">
                <a:solidFill>
                  <a:schemeClr val="bg1"/>
                </a:solidFill>
                <a:latin typeface="Maple Mono NF"/>
              </a:rPr>
              <a:t>}}</a:t>
            </a:r>
          </a:p>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4</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"routing"</a:t>
            </a:r>
            <a:r>
              <a:rPr sz="1000" b="0">
                <a:solidFill>
                  <a:schemeClr val="bg1"/>
                </a:solidFill>
                <a:latin typeface="Maple Mono NF"/>
              </a:rPr>
              <a:t>, </a:t>
            </a:r>
            <a:r>
              <a:rPr sz="1000" b="0">
                <a:solidFill>
                  <a:schemeClr val="accent2"/>
                </a:solidFill>
                <a:latin typeface="Maple Mono NF"/>
              </a:rPr>
              <a:t>"decision"</a:t>
            </a:r>
            <a:r>
              <a:rPr sz="1000" b="0">
                <a:solidFill>
                  <a:schemeClr val="bg1"/>
                </a:solidFill>
                <a:latin typeface="Maple Mono NF"/>
              </a:rPr>
              <a:t>: </a:t>
            </a:r>
            <a:r>
              <a:rPr sz="1000" b="0">
                <a:solidFill>
                  <a:schemeClr val="accent3">
                    <a:lumMod val="55000"/>
                    <a:lumOff val="45000"/>
                  </a:schemeClr>
                </a:solidFill>
                <a:latin typeface="Maple Mono NF"/>
              </a:rPr>
              <a:t>"tools"</a:t>
            </a:r>
            <a:r>
              <a:rPr sz="1000" b="0">
                <a:solidFill>
                  <a:schemeClr val="bg1"/>
                </a:solidFill>
                <a:latin typeface="Maple Mono NF"/>
              </a:rPr>
              <a:t>, </a:t>
            </a:r>
            <a:r>
              <a:rPr sz="1000" b="0">
                <a:solidFill>
                  <a:schemeClr val="accent2"/>
                </a:solidFill>
                <a:latin typeface="Maple Mono NF"/>
              </a:rPr>
              <a:t>"by"</a:t>
            </a:r>
            <a:r>
              <a:rPr sz="1000" b="0">
                <a:solidFill>
                  <a:schemeClr val="bg1"/>
                </a:solidFill>
                <a:latin typeface="Maple Mono NF"/>
              </a:rPr>
              <a:t>: </a:t>
            </a:r>
            <a:r>
              <a:rPr sz="1000" b="0">
                <a:solidFill>
                  <a:schemeClr val="accent3">
                    <a:lumMod val="55000"/>
                    <a:lumOff val="45000"/>
                  </a:schemeClr>
                </a:solidFill>
                <a:latin typeface="Maple Mono NF"/>
              </a:rPr>
              <a:t>"model"</a:t>
            </a:r>
            <a:r>
              <a:rPr sz="1000" b="0">
                <a:solidFill>
                  <a:schemeClr val="bg1"/>
                </a:solidFill>
                <a:latin typeface="Maple Mono NF"/>
              </a:rPr>
              <a:t>}</a:t>
            </a:r>
          </a:p>
          <a:p>
            <a:pPr algn="l">
              <a:buNone/>
            </a:pPr>
            <a:r>
              <a:rPr sz="1000" b="0">
                <a:solidFill>
                  <a:schemeClr val="accent6"/>
                </a:solidFill>
                <a:latin typeface="Maple Mono NF"/>
              </a:rPr>
              <a:t># ours: the next superstep starts here</a:t>
            </a:r>
          </a:p>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5</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"tool_request"</a:t>
            </a:r>
            <a:r>
              <a:rPr sz="1000" b="0">
                <a:solidFill>
                  <a:schemeClr val="bg1"/>
                </a:solidFill>
                <a:latin typeface="Maple Mono NF"/>
              </a:rPr>
              <a:t>, </a:t>
            </a:r>
            <a:r>
              <a:rPr sz="1000" b="0">
                <a:solidFill>
                  <a:schemeClr val="accent2"/>
                </a:solidFill>
                <a:latin typeface="Maple Mono NF"/>
              </a:rPr>
              <a:t>"tool"</a:t>
            </a:r>
            <a:r>
              <a:rPr sz="1000" b="0">
                <a:solidFill>
                  <a:schemeClr val="bg1"/>
                </a:solidFill>
                <a:latin typeface="Maple Mono NF"/>
              </a:rPr>
              <a:t>: </a:t>
            </a:r>
            <a:r>
              <a:rPr sz="1000" b="0">
                <a:solidFill>
                  <a:schemeClr val="accent3">
                    <a:lumMod val="55000"/>
                    <a:lumOff val="45000"/>
                  </a:schemeClr>
                </a:solidFill>
                <a:latin typeface="Maple Mono NF"/>
              </a:rPr>
              <a:t>"read_file"</a:t>
            </a:r>
            <a:r>
              <a:rPr sz="1000" b="0">
                <a:solidFill>
                  <a:schemeClr val="bg1"/>
                </a:solidFill>
                <a:latin typeface="Maple Mono NF"/>
              </a:rPr>
              <a:t>,</a:t>
            </a:r>
          </a:p>
          <a:p>
            <a:pPr algn="l">
              <a:buNone/>
            </a:pPr>
            <a:r>
              <a:rPr sz="1000" b="0">
                <a:solidFill>
                  <a:schemeClr val="bg1"/>
                </a:solidFill>
                <a:latin typeface="Maple Mono NF"/>
              </a:rPr>
              <a:t>  </a:t>
            </a:r>
            <a:r>
              <a:rPr sz="1000" b="0">
                <a:solidFill>
                  <a:schemeClr val="accent2"/>
                </a:solidFill>
                <a:latin typeface="Maple Mono NF"/>
              </a:rPr>
              <a:t>"args"</a:t>
            </a:r>
            <a:r>
              <a:rPr sz="1000" b="0">
                <a:solidFill>
                  <a:schemeClr val="bg1"/>
                </a:solidFill>
                <a:latin typeface="Maple Mono NF"/>
              </a:rPr>
              <a:t>: {</a:t>
            </a:r>
            <a:r>
              <a:rPr sz="1000" b="0">
                <a:solidFill>
                  <a:schemeClr val="accent2"/>
                </a:solidFill>
                <a:latin typeface="Maple Mono NF"/>
              </a:rPr>
              <a:t>"path"</a:t>
            </a:r>
            <a:r>
              <a:rPr sz="1000" b="0">
                <a:solidFill>
                  <a:schemeClr val="bg1"/>
                </a:solidFill>
                <a:latin typeface="Maple Mono NF"/>
              </a:rPr>
              <a:t>: </a:t>
            </a:r>
            <a:r>
              <a:rPr sz="1000" b="0">
                <a:solidFill>
                  <a:schemeClr val="accent3">
                    <a:lumMod val="55000"/>
                    <a:lumOff val="45000"/>
                  </a:schemeClr>
                </a:solidFill>
                <a:latin typeface="Maple Mono NF"/>
              </a:rPr>
              <a:t>"testcode/BenchmarkTest00283.py"</a:t>
            </a:r>
            <a:r>
              <a:rPr sz="1000" b="0">
                <a:solidFill>
                  <a:schemeClr val="bg1"/>
                </a:solidFill>
                <a:latin typeface="Maple Mono NF"/>
              </a:rPr>
              <a:t>}}</a:t>
            </a:r>
          </a:p>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6</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"tool_result"</a:t>
            </a:r>
            <a:r>
              <a:rPr sz="1000" b="0">
                <a:solidFill>
                  <a:schemeClr val="bg1"/>
                </a:solidFill>
                <a:latin typeface="Maple Mono NF"/>
              </a:rPr>
              <a:t>, </a:t>
            </a:r>
            <a:r>
              <a:rPr sz="1000" b="0">
                <a:solidFill>
                  <a:schemeClr val="accent2"/>
                </a:solidFill>
                <a:latin typeface="Maple Mono NF"/>
              </a:rPr>
              <a:t>"tool"</a:t>
            </a:r>
            <a:r>
              <a:rPr sz="1000" b="0">
                <a:solidFill>
                  <a:schemeClr val="bg1"/>
                </a:solidFill>
                <a:latin typeface="Maple Mono NF"/>
              </a:rPr>
              <a:t>: </a:t>
            </a:r>
            <a:r>
              <a:rPr sz="1000" b="0">
                <a:solidFill>
                  <a:schemeClr val="accent3">
                    <a:lumMod val="55000"/>
                    <a:lumOff val="45000"/>
                  </a:schemeClr>
                </a:solidFill>
                <a:latin typeface="Maple Mono NF"/>
              </a:rPr>
              <a:t>"read_file"</a:t>
            </a:r>
            <a:r>
              <a:rPr sz="1000" b="0">
                <a:solidFill>
                  <a:schemeClr val="bg1"/>
                </a:solidFill>
                <a:latin typeface="Maple Mono NF"/>
              </a:rPr>
              <a:t>,</a:t>
            </a:r>
          </a:p>
          <a:p>
            <a:pPr algn="l">
              <a:buNone/>
            </a:pPr>
            <a:r>
              <a:rPr sz="1000" b="0">
                <a:solidFill>
                  <a:schemeClr val="bg1"/>
                </a:solidFill>
                <a:latin typeface="Maple Mono NF"/>
              </a:rPr>
              <a:t>  </a:t>
            </a:r>
            <a:r>
              <a:rPr sz="1000" b="0">
                <a:solidFill>
                  <a:schemeClr val="accent2"/>
                </a:solidFill>
                <a:latin typeface="Maple Mono NF"/>
              </a:rPr>
              <a:t>"ok"</a:t>
            </a:r>
            <a:r>
              <a:rPr sz="1000" b="0">
                <a:solidFill>
                  <a:schemeClr val="bg1"/>
                </a:solidFill>
                <a:latin typeface="Maple Mono NF"/>
              </a:rPr>
              <a:t>: </a:t>
            </a:r>
            <a:r>
              <a:rPr sz="1000" b="0">
                <a:solidFill>
                  <a:schemeClr val="accent5">
                    <a:lumMod val="45000"/>
                    <a:lumOff val="55000"/>
                  </a:schemeClr>
                </a:solidFill>
                <a:latin typeface="Maple Mono NF"/>
              </a:rPr>
              <a:t>true</a:t>
            </a:r>
            <a:r>
              <a:rPr sz="1000" b="0">
                <a:solidFill>
                  <a:schemeClr val="bg1"/>
                </a:solidFill>
                <a:latin typeface="Maple Mono NF"/>
              </a:rPr>
              <a:t>, </a:t>
            </a:r>
            <a:r>
              <a:rPr sz="1000" b="0">
                <a:solidFill>
                  <a:schemeClr val="accent2"/>
                </a:solidFill>
                <a:latin typeface="Maple Mono NF"/>
              </a:rPr>
              <a:t>"chars"</a:t>
            </a:r>
            <a:r>
              <a:rPr sz="1000" b="0">
                <a:solidFill>
                  <a:schemeClr val="bg1"/>
                </a:solidFill>
                <a:latin typeface="Maple Mono NF"/>
              </a:rPr>
              <a:t>: </a:t>
            </a:r>
            <a:r>
              <a:rPr sz="1000" b="0">
                <a:solidFill>
                  <a:schemeClr val="accent5">
                    <a:lumMod val="45000"/>
                    <a:lumOff val="55000"/>
                  </a:schemeClr>
                </a:solidFill>
                <a:latin typeface="Maple Mono NF"/>
              </a:rPr>
              <a:t>1665</a:t>
            </a:r>
            <a:r>
              <a:rPr sz="1000" b="0">
                <a:solidFill>
                  <a:schemeClr val="bg1"/>
                </a:solidFill>
                <a:latin typeface="Maple Mono NF"/>
              </a:rPr>
              <a:t>}</a:t>
            </a:r>
          </a:p>
        </p:txBody>
      </p:sp>
      <p:sp>
        <p:nvSpPr>
          <p:cNvPr id="10" name="Rectangle 9"/>
          <p:cNvSpPr/>
          <p:nvPr/>
        </p:nvSpPr>
        <p:spPr>
          <a:xfrm>
            <a:off x="319251" y="3767272"/>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dispatcher logs both tool events while the tools node runs. After the node returns, the runtime stores the observation in state.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 preconditions and postconditions</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A method specification states what the caller must provide and what the implementation must guarantee.</a:t>
            </a:r>
          </a:p>
          <a:p>
            <a:pPr marL="400050" indent="-285750">
              <a:spcBef>
                <a:spcPts val="600"/>
              </a:spcBef>
              <a:spcAft>
                <a:spcPts val="600"/>
              </a:spcAft>
              <a:buClr>
                <a:srgbClr val="28285E"/>
              </a:buClr>
              <a:buSzPts val="1260"/>
              <a:buFont typeface="+mn-lt"/>
              <a:buChar char="●"/>
            </a:pPr>
            <a:r>
              <a:rPr sz="1400" b="1">
                <a:solidFill>
                  <a:schemeClr val="tx1"/>
                </a:solidFill>
              </a:rPr>
              <a:t>The precondition</a:t>
            </a:r>
            <a:r>
              <a:rPr sz="1400" b="0">
                <a:solidFill>
                  <a:schemeClr val="tx1"/>
                </a:solidFill>
              </a:rPr>
              <a:t> states what must be true before a call, such as its path resolving inside the workspace.</a:t>
            </a:r>
          </a:p>
          <a:p>
            <a:pPr marL="400050" indent="-285750">
              <a:spcBef>
                <a:spcPts val="600"/>
              </a:spcBef>
              <a:spcAft>
                <a:spcPts val="600"/>
              </a:spcAft>
              <a:buClr>
                <a:srgbClr val="28285E"/>
              </a:buClr>
              <a:buSzPts val="1260"/>
              <a:buFont typeface="+mn-lt"/>
              <a:buChar char="●"/>
            </a:pPr>
            <a:r>
              <a:rPr sz="1400" b="1">
                <a:solidFill>
                  <a:schemeClr val="tx1"/>
                </a:solidFill>
              </a:rPr>
              <a:t>The postcondition</a:t>
            </a:r>
            <a:r>
              <a:rPr sz="1400" b="0">
                <a:solidFill>
                  <a:schemeClr val="tx1"/>
                </a:solidFill>
              </a:rPr>
              <a:t> states what the call guarantees if the precondition holds, including results, errors and side effects.</a:t>
            </a:r>
          </a:p>
          <a:p>
            <a:pPr marL="400050" indent="-285750">
              <a:spcBef>
                <a:spcPts val="600"/>
              </a:spcBef>
              <a:spcAft>
                <a:spcPts val="600"/>
              </a:spcAft>
              <a:buClr>
                <a:srgbClr val="28285E"/>
              </a:buClr>
              <a:buSzPts val="1260"/>
              <a:buFont typeface="+mn-lt"/>
              <a:buChar char="●"/>
            </a:pPr>
            <a:r>
              <a:rPr sz="1400" b="1">
                <a:solidFill>
                  <a:schemeClr val="tx1"/>
                </a:solidFill>
              </a:rPr>
              <a:t>The contract</a:t>
            </a:r>
            <a:r>
              <a:rPr sz="1400" b="0">
                <a:solidFill>
                  <a:schemeClr val="tx1"/>
                </a:solidFill>
              </a:rPr>
              <a:t> also specifies which invalid requests the runtime detects and how it refuses them without side effects.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caller must satisfy the precondition. The implementer must ensure the postcondition whenever the precondition holds.</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tool contract must also define what happens when a request violates a precondition.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Checking paths against the workspace root</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tool follows symlinks and resolves .. segments before checking whether the path lies inside the workspace.</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workspace.py, resolve, lines 50 to 68. Docstring and comments omitted.</a:t>
            </a:r>
          </a:p>
        </p:txBody>
      </p:sp>
      <p:sp>
        <p:nvSpPr>
          <p:cNvPr id="5" name="CodeWindow"/>
          <p:cNvSpPr/>
          <p:nvPr/>
        </p:nvSpPr>
        <p:spPr>
          <a:xfrm>
            <a:off x="319251" y="1650000"/>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470000"/>
          </a:xfrm>
          <a:prstGeom prst="rect">
            <a:avLst/>
          </a:prstGeom>
          <a:noFill/>
        </p:spPr>
        <p:txBody>
          <a:bodyPr wrap="none" lIns="0" tIns="0" rIns="0" bIns="0" anchor="t">
            <a:spAutoFit/>
          </a:bodyPr>
          <a:lstStyle/>
          <a:p>
            <a:pPr algn="l">
              <a:buNone/>
            </a:pPr>
            <a:r>
              <a:rPr sz="1100" b="0">
                <a:solidFill>
                  <a:schemeClr val="accent2"/>
                </a:solidFill>
                <a:latin typeface="Maple Mono NF"/>
              </a:rPr>
              <a:t>def</a:t>
            </a:r>
            <a:r>
              <a:rPr sz="1100" b="0">
                <a:solidFill>
                  <a:schemeClr val="bg1"/>
                </a:solidFill>
                <a:latin typeface="Maple Mono NF"/>
              </a:rPr>
              <a:t> resolve(root: Path, path: str) -&gt; Path:</a:t>
            </a:r>
          </a:p>
          <a:p>
            <a:pPr algn="l">
              <a:buNone/>
            </a:pPr>
            <a:r>
              <a:rPr sz="1100" b="0">
                <a:solidFill>
                  <a:schemeClr val="bg1"/>
                </a:solidFill>
                <a:latin typeface="Maple Mono NF"/>
              </a:rPr>
              <a:t>    root = Path(root).resolve()</a:t>
            </a:r>
          </a:p>
          <a:p>
            <a:pPr algn="l">
              <a:buNone/>
            </a:pPr>
            <a:r>
              <a:rPr sz="1100" b="0">
                <a:solidFill>
                  <a:schemeClr val="bg1"/>
                </a:solidFill>
                <a:latin typeface="Maple Mono NF"/>
              </a:rPr>
              <a:t>    candidate = (root / path).resolve()</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a:t>
            </a:r>
            <a:r>
              <a:rPr sz="1100" b="0">
                <a:solidFill>
                  <a:schemeClr val="accent2"/>
                </a:solidFill>
                <a:latin typeface="Maple Mono NF"/>
              </a:rPr>
              <a:t>not</a:t>
            </a:r>
            <a:r>
              <a:rPr sz="1100" b="0">
                <a:solidFill>
                  <a:schemeClr val="bg1"/>
                </a:solidFill>
                <a:latin typeface="Maple Mono NF"/>
              </a:rPr>
              <a:t> candidate.</a:t>
            </a:r>
            <a:r>
              <a:rPr sz="1100" b="1">
                <a:solidFill>
                  <a:schemeClr val="accent4">
                    <a:lumMod val="70000"/>
                    <a:lumOff val="30000"/>
                  </a:schemeClr>
                </a:solidFill>
                <a:latin typeface="Maple Mono NF"/>
              </a:rPr>
              <a:t>is_relative_to</a:t>
            </a:r>
            <a:r>
              <a:rPr sz="1100" b="0">
                <a:solidFill>
                  <a:schemeClr val="bg1"/>
                </a:solidFill>
                <a:latin typeface="Maple Mono NF"/>
              </a:rPr>
              <a:t>(root):</a:t>
            </a:r>
          </a:p>
          <a:p>
            <a:pPr algn="l">
              <a:buNone/>
            </a:pPr>
            <a:r>
              <a:rPr sz="1100" b="0">
                <a:solidFill>
                  <a:schemeClr val="bg1"/>
                </a:solidFill>
                <a:latin typeface="Maple Mono NF"/>
              </a:rPr>
              <a:t>        </a:t>
            </a:r>
            <a:r>
              <a:rPr sz="1100" b="0">
                <a:solidFill>
                  <a:schemeClr val="accent2"/>
                </a:solidFill>
                <a:latin typeface="Maple Mono NF"/>
              </a:rPr>
              <a:t>raise</a:t>
            </a:r>
            <a:r>
              <a:rPr sz="1100" b="0">
                <a:solidFill>
                  <a:schemeClr val="bg1"/>
                </a:solidFill>
                <a:latin typeface="Maple Mono NF"/>
              </a:rPr>
              <a:t> PathEscapeException(</a:t>
            </a:r>
          </a:p>
          <a:p>
            <a:pPr algn="l">
              <a:buNone/>
            </a:pPr>
            <a:r>
              <a:rPr sz="1100" b="0">
                <a:solidFill>
                  <a:schemeClr val="bg1"/>
                </a:solidFill>
                <a:latin typeface="Maple Mono NF"/>
              </a:rPr>
              <a:t>            f</a:t>
            </a:r>
            <a:r>
              <a:rPr sz="1100" b="0">
                <a:solidFill>
                  <a:schemeClr val="accent3">
                    <a:lumMod val="55000"/>
                    <a:lumOff val="45000"/>
                  </a:schemeClr>
                </a:solidFill>
                <a:latin typeface="Maple Mono NF"/>
              </a:rPr>
              <a:t>"{path!r} resolves outside the workspace root"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candidate</a:t>
            </a:r>
          </a:p>
        </p:txBody>
      </p:sp>
      <p:sp>
        <p:nvSpPr>
          <p:cNvPr id="10" name="Rectangle 9"/>
          <p:cNvSpPr/>
          <p:nvPr/>
        </p:nvSpPr>
        <p:spPr>
          <a:xfrm>
            <a:off x="319251" y="371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Both </a:t>
            </a:r>
            <a:r>
              <a:rPr sz="1200" b="0">
                <a:solidFill>
                  <a:schemeClr val="tx2"/>
                </a:solidFill>
                <a:latin typeface="Maple Mono NF"/>
              </a:rPr>
              <a:t>/tmp/ws</a:t>
            </a:r>
            <a:r>
              <a:rPr sz="1200" b="1">
                <a:solidFill>
                  <a:schemeClr val="tx2"/>
                </a:solidFill>
              </a:rPr>
              <a:t> and </a:t>
            </a:r>
            <a:r>
              <a:rPr sz="1200" b="0">
                <a:solidFill>
                  <a:schemeClr val="tx2"/>
                </a:solidFill>
                <a:latin typeface="Maple Mono NF"/>
              </a:rPr>
              <a:t>/tmp/ws-evil</a:t>
            </a:r>
            <a:r>
              <a:rPr sz="1200" b="1">
                <a:solidFill>
                  <a:schemeClr val="tx2"/>
                </a:solidFill>
              </a:rPr>
              <a:t> start with </a:t>
            </a:r>
            <a:r>
              <a:rPr sz="1200" b="0">
                <a:solidFill>
                  <a:schemeClr val="tx2"/>
                </a:solidFill>
                <a:latin typeface="Maple Mono NF"/>
              </a:rPr>
              <a:t>/tmp/ws</a:t>
            </a:r>
            <a:r>
              <a:rPr sz="1200" b="1">
                <a:solidFill>
                  <a:schemeClr val="tx2"/>
                </a:solidFill>
              </a:rPr>
              <a:t>. A prefix comparison would wrongly accept the second directory.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29000" y="2217807"/>
            <a:ext cx="6000000" cy="707886"/>
          </a:xfrm>
          <a:prstGeom prst="rect">
            <a:avLst/>
          </a:prstGeom>
          <a:noFill/>
        </p:spPr>
        <p:txBody>
          <a:bodyPr wrap="square" anchor="ctr">
            <a:spAutoFit/>
          </a:bodyPr>
          <a:lstStyle/>
          <a:p>
            <a:pPr algn="ctr"/>
            <a:r>
              <a:rPr lang="en-US" sz="4000" b="1" dirty="0">
                <a:solidFill>
                  <a:schemeClr val="tx2"/>
                </a:solidFill>
                <a:latin typeface="+mj-lt"/>
              </a:rPr>
              <a:t>Event-Driven Agents</a:t>
            </a:r>
            <a:endParaRPr sz="4000" b="1" dirty="0">
              <a:solidFill>
                <a:schemeClr val="tx2"/>
              </a:solidFill>
              <a:latin typeface="+mj-l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ways to invoke the next computation</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A graph and an event loop can run the same machine with different mechanisms for invoking application code.</a:t>
            </a:r>
          </a:p>
        </p:txBody>
      </p:sp>
      <p:pic>
        <p:nvPicPr>
          <p:cNvPr id="4" name="Figure s5-two-mechanisms" descr="image.png"/>
          <p:cNvPicPr>
            <a:picLocks noChangeAspect="1"/>
          </p:cNvPicPr>
          <p:nvPr/>
        </p:nvPicPr>
        <p:blipFill>
          <a:blip r:embed="rId3"/>
          <a:stretch>
            <a:fillRect/>
          </a:stretch>
        </p:blipFill>
        <p:spPr>
          <a:xfrm>
            <a:off x="250148" y="1390000"/>
            <a:ext cx="6152752" cy="1410922"/>
          </a:xfrm>
          <a:prstGeom prst="rect">
            <a:avLst/>
          </a:prstGeom>
        </p:spPr>
      </p:pic>
      <p:sp>
        <p:nvSpPr>
          <p:cNvPr id="5" name="Rectangle 4"/>
          <p:cNvSpPr/>
          <p:nvPr/>
        </p:nvSpPr>
        <p:spPr>
          <a:xfrm>
            <a:off x="319251" y="2990922"/>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In the graph, a routing function selects the next node and the scheduler runs it next. In an event loop, a computation emits an event and the runtime invokes the registered handler.</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Event, handler and event loop</a:t>
            </a:r>
          </a:p>
        </p:txBody>
      </p:sp>
      <p:sp>
        <p:nvSpPr>
          <p:cNvPr id="3" name="Content Placeholder 2"/>
          <p:cNvSpPr>
            <a:spLocks noGrp="1"/>
          </p:cNvSpPr>
          <p:nvPr>
            <p:ph idx="1"/>
          </p:nvPr>
        </p:nvSpPr>
        <p:spPr>
          <a:xfrm>
            <a:off x="319251" y="700000"/>
            <a:ext cx="6014545" cy="500000"/>
          </a:xfrm>
        </p:spPr>
        <p:txBody>
          <a:bodyPr wrap="square" anchor="ctr">
            <a:normAutofit fontScale="77500" lnSpcReduction="20000"/>
          </a:bodyPr>
          <a:lstStyle/>
          <a:p>
            <a:pPr marL="0" indent="0">
              <a:buNone/>
            </a:pPr>
            <a:r>
              <a:rPr sz="1400" b="1">
                <a:solidFill>
                  <a:srgbClr val="28285E"/>
                </a:solidFill>
              </a:rPr>
              <a:t>Three definitions describe the arrangement. Definitions 5.1 to 5.3 in the lecture notes.</a:t>
            </a:r>
          </a:p>
        </p:txBody>
      </p:sp>
      <p:graphicFrame>
        <p:nvGraphicFramePr>
          <p:cNvPr id="4" name="Table 3"/>
          <p:cNvGraphicFramePr>
            <a:graphicFrameLocks noGrp="1"/>
          </p:cNvGraphicFramePr>
          <p:nvPr/>
        </p:nvGraphicFramePr>
        <p:xfrm>
          <a:off x="319251" y="1390000"/>
          <a:ext cx="6014545" cy="1865910"/>
        </p:xfrm>
        <a:graphic>
          <a:graphicData uri="http://schemas.openxmlformats.org/drawingml/2006/table">
            <a:tbl>
              <a:tblPr firstRow="1" bandRow="1">
                <a:tableStyleId>{5C22544A-7EE6-4342-B048-85BDC9FD1C3A}</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buNone/>
                      </a:pPr>
                      <a:r>
                        <a:rPr sz="1200" b="1">
                          <a:solidFill>
                            <a:schemeClr val="tx1"/>
                          </a:solidFill>
                        </a:rPr>
                        <a:t>Term</a:t>
                      </a:r>
                    </a:p>
                  </a:txBody>
                  <a:tcPr marL="95250" marR="95250" marT="47625" marB="47625">
                    <a:lnB w="12700" cap="flat" cmpd="sng" algn="ctr">
                      <a:solidFill>
                        <a:schemeClr val="tx1"/>
                      </a:solidFill>
                    </a:lnB>
                    <a:noFill/>
                  </a:tcPr>
                </a:tc>
                <a:tc>
                  <a:txBody>
                    <a:bodyPr/>
                    <a:lstStyle/>
                    <a:p>
                      <a:pPr>
                        <a:buNone/>
                      </a:pPr>
                      <a:r>
                        <a:rPr sz="1200" b="1">
                          <a:solidFill>
                            <a:schemeClr val="tx1"/>
                          </a:solidFill>
                        </a:rPr>
                        <a:t>Definition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200" b="1">
                          <a:solidFill>
                            <a:srgbClr val="28285E"/>
                          </a:solidFill>
                        </a:rPr>
                        <a:t>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Any occurrence that could necessitate a change in the program's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200" b="1">
                          <a:solidFill>
                            <a:srgbClr val="28285E"/>
                          </a:solidFill>
                        </a:rPr>
                        <a:t>Handler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A piece of code that understands how to respond to a particular event. For events to reach it, it must register with the event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200" b="1">
                          <a:solidFill>
                            <a:srgbClr val="28285E"/>
                          </a:solidFill>
                        </a:rPr>
                        <a:t>Event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A piece of code that repeatedly checks whether a new event has occurred and dispatches any detected events to code that can handle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3467246"/>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For an agent, an event is either an occurrence, such as the plan is ready, or a request, such as run these tools. Both are values.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Inversion of control</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We write the subroutines. A framework controls when they run.</a:t>
            </a:r>
          </a:p>
          <a:p>
            <a:pPr marL="400050" indent="-285750">
              <a:spcBef>
                <a:spcPts val="600"/>
              </a:spcBef>
              <a:spcAft>
                <a:spcPts val="600"/>
              </a:spcAft>
              <a:buClr>
                <a:srgbClr val="28285E"/>
              </a:buClr>
              <a:buSzPts val="1260"/>
              <a:buFont typeface="+mn-lt"/>
              <a:buChar char="●"/>
            </a:pPr>
            <a:r>
              <a:rPr sz="1400" b="1">
                <a:solidFill>
                  <a:schemeClr val="tx1"/>
                </a:solidFill>
              </a:rPr>
              <a:t>Application code defines a handler's response: </a:t>
            </a:r>
            <a:r>
              <a:rPr sz="1400" b="0">
                <a:solidFill>
                  <a:schemeClr val="tx1"/>
                </a:solidFill>
              </a:rPr>
              <a:t>the fields it writes and the event it emits.</a:t>
            </a:r>
          </a:p>
          <a:p>
            <a:pPr marL="400050" indent="-285750">
              <a:spcBef>
                <a:spcPts val="600"/>
              </a:spcBef>
              <a:spcAft>
                <a:spcPts val="600"/>
              </a:spcAft>
              <a:buClr>
                <a:srgbClr val="28285E"/>
              </a:buClr>
              <a:buSzPts val="1260"/>
              <a:buFont typeface="+mn-lt"/>
              <a:buChar char="●"/>
            </a:pPr>
            <a:r>
              <a:rPr sz="1400" b="1">
                <a:solidFill>
                  <a:schemeClr val="tx1"/>
                </a:solidFill>
              </a:rPr>
              <a:t>The framework decides which handler runs, </a:t>
            </a:r>
            <a:r>
              <a:rPr sz="1400" b="0">
                <a:solidFill>
                  <a:schemeClr val="tx1"/>
                </a:solidFill>
              </a:rPr>
              <a:t>when, and in what order pending events are processed.</a:t>
            </a:r>
          </a:p>
          <a:p>
            <a:pPr marL="400050" indent="-285750">
              <a:spcBef>
                <a:spcPts val="600"/>
              </a:spcBef>
              <a:spcAft>
                <a:spcPts val="600"/>
              </a:spcAft>
              <a:buClr>
                <a:srgbClr val="28285E"/>
              </a:buClr>
              <a:buSzPts val="1260"/>
              <a:buFont typeface="+mn-lt"/>
              <a:buChar char="●"/>
            </a:pPr>
            <a:r>
              <a:rPr sz="1400" b="1">
                <a:solidFill>
                  <a:schemeClr val="tx1"/>
                </a:solidFill>
              </a:rPr>
              <a:t>The graph divides the same way: </a:t>
            </a:r>
            <a:r>
              <a:rPr sz="1400" b="0">
                <a:solidFill>
                  <a:schemeClr val="tx1"/>
                </a:solidFill>
              </a:rPr>
              <a:t>we write nodes and routing functions, and the scheduler runs them.</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Application code defines the response to an event. The framework controls its invocation.</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graph chooses the next computation in a routing function. A handler chooses the event type it emits.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Event-triggered and time-triggered reactions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The realization changes when a transition is taken. The set of transitions stays the same.</a:t>
            </a:r>
          </a:p>
          <a:p>
            <a:pPr marL="400050" indent="-285750">
              <a:spcBef>
                <a:spcPts val="600"/>
              </a:spcBef>
              <a:spcAft>
                <a:spcPts val="600"/>
              </a:spcAft>
              <a:buClr>
                <a:srgbClr val="28285E"/>
              </a:buClr>
              <a:buSzPts val="1260"/>
              <a:buFont typeface="+mn-lt"/>
              <a:buChar char="●"/>
            </a:pPr>
            <a:r>
              <a:rPr sz="1400" b="1">
                <a:solidFill>
                  <a:schemeClr val="tx1"/>
                </a:solidFill>
              </a:rPr>
              <a:t>A state-machine diagram does not specify </a:t>
            </a:r>
            <a:r>
              <a:rPr sz="1400" b="0">
                <a:solidFill>
                  <a:schemeClr val="tx1"/>
                </a:solidFill>
              </a:rPr>
              <a:t>when a reaction occurs.</a:t>
            </a:r>
          </a:p>
          <a:p>
            <a:pPr marL="400050" indent="-285750">
              <a:spcBef>
                <a:spcPts val="600"/>
              </a:spcBef>
              <a:spcAft>
                <a:spcPts val="600"/>
              </a:spcAft>
              <a:buClr>
                <a:srgbClr val="28285E"/>
              </a:buClr>
              <a:buSzPts val="1260"/>
              <a:buFont typeface="+mn-lt"/>
              <a:buChar char="●"/>
            </a:pPr>
            <a:r>
              <a:rPr sz="1400" b="1">
                <a:solidFill>
                  <a:schemeClr val="tx1"/>
                </a:solidFill>
              </a:rPr>
              <a:t>Event-triggered means a reaction when an input is present. </a:t>
            </a:r>
            <a:r>
              <a:rPr sz="1400" b="0">
                <a:solidFill>
                  <a:schemeClr val="tx1"/>
                </a:solidFill>
              </a:rPr>
              <a:t>Time-triggered means one on each clock tick.</a:t>
            </a:r>
          </a:p>
          <a:p>
            <a:pPr marL="400050" indent="-285750">
              <a:spcBef>
                <a:spcPts val="600"/>
              </a:spcBef>
              <a:spcAft>
                <a:spcPts val="600"/>
              </a:spcAft>
              <a:buClr>
                <a:srgbClr val="28285E"/>
              </a:buClr>
              <a:buSzPts val="1260"/>
              <a:buFont typeface="+mn-lt"/>
              <a:buChar char="●"/>
            </a:pPr>
            <a:r>
              <a:rPr sz="1400" b="1">
                <a:solidFill>
                  <a:schemeClr val="tx1"/>
                </a:solidFill>
              </a:rPr>
              <a:t>Our graph uses no clock, </a:t>
            </a:r>
            <a:r>
              <a:rPr sz="1400" b="0">
                <a:solidFill>
                  <a:schemeClr val="tx1"/>
                </a:solidFill>
              </a:rPr>
              <a:t>so both realizations are event-triggered: they react when an input is present.</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planning agent's machine retains its locations, guards and set actions under either choice.</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transition such as no reply within thirty seconds needs a timer to emit its event. Otherwise it is never taken.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configuration under an event loop</a:t>
            </a:r>
          </a:p>
        </p:txBody>
      </p:sp>
      <p:sp>
        <p:nvSpPr>
          <p:cNvPr id="3" name="Content Placeholder 2"/>
          <p:cNvSpPr>
            <a:spLocks noGrp="1"/>
          </p:cNvSpPr>
          <p:nvPr>
            <p:ph idx="1"/>
          </p:nvPr>
        </p:nvSpPr>
        <p:spPr>
          <a:xfrm>
            <a:off x="319251" y="700000"/>
            <a:ext cx="6014545" cy="500000"/>
          </a:xfrm>
        </p:spPr>
        <p:txBody>
          <a:bodyPr wrap="square" anchor="ctr">
            <a:normAutofit fontScale="85000" lnSpcReduction="10000"/>
          </a:bodyPr>
          <a:lstStyle/>
          <a:p>
            <a:pPr marL="0" indent="0">
              <a:buNone/>
            </a:pPr>
            <a:r>
              <a:rPr sz="1400" b="1">
                <a:solidFill>
                  <a:srgbClr val="28285E"/>
                </a:solidFill>
              </a:rPr>
              <a:t>The event realization requires a larger configuration than the graph realization.</a:t>
            </a:r>
          </a:p>
        </p:txBody>
      </p:sp>
      <p:graphicFrame>
        <p:nvGraphicFramePr>
          <p:cNvPr id="4" name="Table 3"/>
          <p:cNvGraphicFramePr>
            <a:graphicFrameLocks noGrp="1"/>
          </p:cNvGraphicFramePr>
          <p:nvPr/>
        </p:nvGraphicFramePr>
        <p:xfrm>
          <a:off x="319251" y="1390000"/>
          <a:ext cx="6014545" cy="1404900"/>
        </p:xfrm>
        <a:graphic>
          <a:graphicData uri="http://schemas.openxmlformats.org/drawingml/2006/table">
            <a:tbl>
              <a:tblPr firstRow="1" bandRow="1">
                <a:tableStyleId>{5C22544A-7EE6-4342-B048-85BDC9FD1C3A}</a:tableStyleId>
              </a:tblPr>
              <a:tblGrid>
                <a:gridCol w="1239525">
                  <a:extLst>
                    <a:ext uri="{9D8B030D-6E8A-4147-A177-3AD203B41FA5}">
                      <a16:colId xmlns:a16="http://schemas.microsoft.com/office/drawing/2014/main" val="20000"/>
                    </a:ext>
                  </a:extLst>
                </a:gridCol>
                <a:gridCol w="2900000">
                  <a:extLst>
                    <a:ext uri="{9D8B030D-6E8A-4147-A177-3AD203B41FA5}">
                      <a16:colId xmlns:a16="http://schemas.microsoft.com/office/drawing/2014/main" val="20001"/>
                    </a:ext>
                  </a:extLst>
                </a:gridCol>
                <a:gridCol w="1875020">
                  <a:extLst>
                    <a:ext uri="{9D8B030D-6E8A-4147-A177-3AD203B41FA5}">
                      <a16:colId xmlns:a16="http://schemas.microsoft.com/office/drawing/2014/main" val="20002"/>
                    </a:ext>
                  </a:extLst>
                </a:gridCol>
              </a:tblGrid>
              <a:tr h="300000">
                <a:tc>
                  <a:txBody>
                    <a:bodyPr/>
                    <a:lstStyle/>
                    <a:p>
                      <a:pPr>
                        <a:buNone/>
                      </a:pPr>
                      <a:r>
                        <a:rPr sz="1200" b="1">
                          <a:solidFill>
                            <a:schemeClr val="tx1"/>
                          </a:solidFill>
                        </a:rPr>
                        <a:t>Realization</a:t>
                      </a:r>
                    </a:p>
                  </a:txBody>
                  <a:tcPr marL="95250" marR="95250" marT="47625" marB="47625">
                    <a:lnB w="12700" cap="flat" cmpd="sng" algn="ctr">
                      <a:solidFill>
                        <a:schemeClr val="tx1"/>
                      </a:solidFill>
                    </a:lnB>
                    <a:noFill/>
                  </a:tcPr>
                </a:tc>
                <a:tc>
                  <a:txBody>
                    <a:bodyPr/>
                    <a:lstStyle/>
                    <a:p>
                      <a:pPr>
                        <a:buNone/>
                      </a:pPr>
                      <a:r>
                        <a:rPr sz="1200" b="1">
                          <a:solidFill>
                            <a:schemeClr val="tx1"/>
                          </a:solidFill>
                        </a:rPr>
                        <a:t>Configuration</a:t>
                      </a:r>
                    </a:p>
                  </a:txBody>
                  <a:tcPr marL="95250" marR="95250" marT="47625" marB="47625">
                    <a:lnB w="12700" cap="flat" cmpd="sng" algn="ctr">
                      <a:solidFill>
                        <a:schemeClr val="tx1"/>
                      </a:solidFill>
                    </a:lnB>
                    <a:noFill/>
                  </a:tcPr>
                </a:tc>
                <a:tc>
                  <a:txBody>
                    <a:bodyPr/>
                    <a:lstStyle/>
                    <a:p>
                      <a:pPr>
                        <a:buNone/>
                      </a:pPr>
                      <a:r>
                        <a:rPr sz="1200" b="1">
                          <a:solidFill>
                            <a:schemeClr val="tx1"/>
                          </a:solidFill>
                        </a:rPr>
                        <a:t>Maintained by</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200" b="1">
                          <a:solidFill>
                            <a:srgbClr val="28285E"/>
                          </a:solidFill>
                        </a:rPr>
                        <a:t>Graph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A control location and a valuation of the variables, (q, v).</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The runtime tracks q. The record holds v.</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200" b="1">
                          <a:solidFill>
                            <a:srgbClr val="28285E"/>
                          </a:solidFill>
                        </a:rPr>
                        <a:t>Event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The sequence of pending events E, the set of running handlers H and the record v, as the triple (E, H, v).</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The runtime maintains E and H. The record holds v and contains neither.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5" name="Rectangle 4"/>
          <p:cNvSpPr/>
          <p:nvPr/>
        </p:nvSpPr>
        <p:spPr>
          <a:xfrm>
            <a:off x="319251" y="3186068"/>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In a serial realization at most one event is in flight, so the location q is recoverable from the pending event's handler or the running handler. With two handlers running at once there is no single location: our demo's validators are such a case.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Ordering rules: apply once, then enable</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Four rules preserve the machine's behaviour when an event loop realizes it. Two concern ordering.</a:t>
            </a:r>
          </a:p>
          <a:p>
            <a:pPr marL="400050" indent="-285750">
              <a:spcBef>
                <a:spcPts val="600"/>
              </a:spcBef>
              <a:spcAft>
                <a:spcPts val="600"/>
              </a:spcAft>
              <a:buClr>
                <a:srgbClr val="28285E"/>
              </a:buClr>
              <a:buSzPts val="1260"/>
              <a:buFont typeface="+mn-lt"/>
              <a:buChar char="●"/>
            </a:pPr>
            <a:r>
              <a:rPr sz="1400" b="1">
                <a:solidFill>
                  <a:schemeClr val="tx1"/>
                </a:solidFill>
              </a:rPr>
              <a:t>Apply once, then enable. </a:t>
            </a:r>
            <a:r>
              <a:rPr sz="1400" b="0">
                <a:solidFill>
                  <a:schemeClr val="tx1"/>
                </a:solidFill>
              </a:rPr>
              <a:t>Merge a handler's contribution before its emitted event is dispatched.</a:t>
            </a:r>
          </a:p>
          <a:p>
            <a:pPr marL="400050" indent="-285750">
              <a:spcBef>
                <a:spcPts val="600"/>
              </a:spcBef>
              <a:spcAft>
                <a:spcPts val="600"/>
              </a:spcAft>
              <a:buClr>
                <a:srgbClr val="28285E"/>
              </a:buClr>
              <a:buSzPts val="1260"/>
              <a:buFont typeface="+mn-lt"/>
              <a:buChar char="●"/>
            </a:pPr>
            <a:r>
              <a:rPr sz="1400" b="1">
                <a:solidFill>
                  <a:schemeClr val="tx1"/>
                </a:solidFill>
              </a:rPr>
              <a:t>Emit first, </a:t>
            </a:r>
            <a:r>
              <a:rPr sz="1400" b="0">
                <a:solidFill>
                  <a:schemeClr val="tx1"/>
                </a:solidFill>
              </a:rPr>
              <a:t>and the successor reads a stale record. Deliver twice, and observations append twice.</a:t>
            </a:r>
          </a:p>
          <a:p>
            <a:pPr marL="400050" indent="-285750">
              <a:spcBef>
                <a:spcPts val="600"/>
              </a:spcBef>
              <a:spcAft>
                <a:spcPts val="600"/>
              </a:spcAft>
              <a:buClr>
                <a:srgbClr val="28285E"/>
              </a:buClr>
              <a:buSzPts val="1260"/>
              <a:buFont typeface="+mn-lt"/>
              <a:buChar char="●"/>
            </a:pPr>
            <a:r>
              <a:rPr sz="1400" b="1">
                <a:solidFill>
                  <a:schemeClr val="tx1"/>
                </a:solidFill>
              </a:rPr>
              <a:t>Distinguish idle from success. </a:t>
            </a:r>
            <a:r>
              <a:rPr sz="1400" b="0">
                <a:solidFill>
                  <a:schemeClr val="tx1"/>
                </a:solidFill>
              </a:rPr>
              <a:t>An empty queue and an idle runtime mean only that nothing is scheduled.</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Only a terminal event carrying a status establishes termination, as a terminal record does in the trace.</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An event loop keeps this ordering only if handlers write before they emit and no event is delivered twice.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Termination rules and log events</a:t>
            </a:r>
          </a:p>
        </p:txBody>
      </p:sp>
      <p:sp>
        <p:nvSpPr>
          <p:cNvPr id="3" name="Content Placeholder 2"/>
          <p:cNvSpPr>
            <a:spLocks noGrp="1"/>
          </p:cNvSpPr>
          <p:nvPr>
            <p:ph idx="1"/>
          </p:nvPr>
        </p:nvSpPr>
        <p:spPr>
          <a:xfrm>
            <a:off x="319251" y="700000"/>
            <a:ext cx="6014545" cy="2211325"/>
          </a:xfrm>
        </p:spPr>
        <p:txBody>
          <a:bodyPr wrap="square" anchor="ctr">
            <a:normAutofit fontScale="92500" lnSpcReduction="10000"/>
          </a:bodyPr>
          <a:lstStyle/>
          <a:p>
            <a:pPr marL="0" indent="0">
              <a:buNone/>
            </a:pPr>
            <a:r>
              <a:rPr sz="1400" b="1">
                <a:solidFill>
                  <a:srgbClr val="28285E"/>
                </a:solidFill>
              </a:rPr>
              <a:t>The last two rules concern termination.</a:t>
            </a:r>
          </a:p>
          <a:p>
            <a:pPr marL="400050" indent="-285750">
              <a:spcBef>
                <a:spcPts val="600"/>
              </a:spcBef>
              <a:spcAft>
                <a:spcPts val="600"/>
              </a:spcAft>
              <a:buClr>
                <a:srgbClr val="28285E"/>
              </a:buClr>
              <a:buSzPts val="1260"/>
              <a:buFont typeface="+mn-lt"/>
              <a:buChar char="●"/>
            </a:pPr>
            <a:r>
              <a:rPr sz="1400" b="1">
                <a:solidFill>
                  <a:schemeClr val="tx1"/>
                </a:solidFill>
              </a:rPr>
              <a:t>Stop dispatch at termination. </a:t>
            </a:r>
            <a:r>
              <a:rPr sz="1400" b="0">
                <a:solidFill>
                  <a:schemeClr val="tx1"/>
                </a:solidFill>
              </a:rPr>
              <a:t>After the terminal event no handler starts, even if an event is pending.</a:t>
            </a:r>
          </a:p>
          <a:p>
            <a:pPr marL="400050" indent="-285750">
              <a:spcBef>
                <a:spcPts val="600"/>
              </a:spcBef>
              <a:spcAft>
                <a:spcPts val="600"/>
              </a:spcAft>
              <a:buClr>
                <a:srgbClr val="28285E"/>
              </a:buClr>
              <a:buSzPts val="1260"/>
              <a:buFont typeface="+mn-lt"/>
              <a:buChar char="●"/>
            </a:pPr>
            <a:r>
              <a:rPr sz="1400" b="1">
                <a:solidFill>
                  <a:schemeClr val="tx1"/>
                </a:solidFill>
              </a:rPr>
              <a:t>A realization with concurrent handlers </a:t>
            </a:r>
            <a:r>
              <a:rPr sz="1400" b="0">
                <a:solidFill>
                  <a:schemeClr val="tx1"/>
                </a:solidFill>
              </a:rPr>
              <a:t>must discard or refuse the remaining events.</a:t>
            </a:r>
          </a:p>
          <a:p>
            <a:pPr marL="400050" indent="-285750">
              <a:spcBef>
                <a:spcPts val="600"/>
              </a:spcBef>
              <a:spcAft>
                <a:spcPts val="600"/>
              </a:spcAft>
              <a:buClr>
                <a:srgbClr val="28285E"/>
              </a:buClr>
              <a:buSzPts val="1260"/>
              <a:buFont typeface="+mn-lt"/>
              <a:buChar char="●"/>
            </a:pPr>
            <a:r>
              <a:rPr sz="1400" b="1">
                <a:solidFill>
                  <a:schemeClr val="tx1"/>
                </a:solidFill>
              </a:rPr>
              <a:t>Separate triggering from log events. </a:t>
            </a:r>
            <a:r>
              <a:rPr sz="1400" b="0">
                <a:solidFill>
                  <a:schemeClr val="tx1"/>
                </a:solidFill>
              </a:rPr>
              <a:t>A triggering event runs a handler. A log event only records.</a:t>
            </a:r>
          </a:p>
        </p:txBody>
      </p:sp>
      <p:sp>
        <p:nvSpPr>
          <p:cNvPr id="4" name="Rectangle 3"/>
          <p:cNvSpPr/>
          <p:nvPr/>
        </p:nvSpPr>
        <p:spPr>
          <a:xfrm>
            <a:off x="319251" y="3101325"/>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An event that requests tools triggers the tools handler. A trace record of the same request documents that the handler was invoked, and triggers nothing.</a:t>
            </a:r>
          </a:p>
        </p:txBody>
      </p:sp>
      <p:sp>
        <p:nvSpPr>
          <p:cNvPr id="5" name="Rectangle 4"/>
          <p:cNvSpPr/>
          <p:nvPr/>
        </p:nvSpPr>
        <p:spPr>
          <a:xfrm>
            <a:off x="319251" y="4002126"/>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Dispatch can end without a terminal record if the process fails first. Table 5's three readings still apply.</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LlamaIndex Workflows: steps and events</a:t>
            </a:r>
          </a:p>
        </p:txBody>
      </p:sp>
      <p:sp>
        <p:nvSpPr>
          <p:cNvPr id="3" name="Content Placeholder 2"/>
          <p:cNvSpPr>
            <a:spLocks noGrp="1"/>
          </p:cNvSpPr>
          <p:nvPr>
            <p:ph idx="1"/>
          </p:nvPr>
        </p:nvSpPr>
        <p:spPr>
          <a:xfrm>
            <a:off x="319251" y="700000"/>
            <a:ext cx="6014545" cy="2440280"/>
          </a:xfrm>
        </p:spPr>
        <p:txBody>
          <a:bodyPr wrap="square" anchor="ctr">
            <a:normAutofit fontScale="92500"/>
          </a:bodyPr>
          <a:lstStyle/>
          <a:p>
            <a:pPr marL="0" indent="0">
              <a:buNone/>
            </a:pPr>
            <a:r>
              <a:rPr sz="1400" b="1">
                <a:solidFill>
                  <a:srgbClr val="28285E"/>
                </a:solidFill>
              </a:rPr>
              <a:t>In LlamaIndex Workflows, dispatch is by event type. A step is a method decorated with @step.</a:t>
            </a:r>
          </a:p>
          <a:p>
            <a:pPr marL="400050" indent="-285750">
              <a:spcBef>
                <a:spcPts val="600"/>
              </a:spcBef>
              <a:spcAft>
                <a:spcPts val="600"/>
              </a:spcAft>
              <a:buClr>
                <a:srgbClr val="28285E"/>
              </a:buClr>
              <a:buSzPts val="1260"/>
              <a:buFont typeface="+mn-lt"/>
              <a:buChar char="●"/>
            </a:pPr>
            <a:r>
              <a:rPr sz="1400" b="1">
                <a:solidFill>
                  <a:schemeClr val="tx1"/>
                </a:solidFill>
              </a:rPr>
              <a:t>A step receives an event, </a:t>
            </a:r>
            <a:r>
              <a:rPr sz="1400" b="0">
                <a:solidFill>
                  <a:schemeClr val="tx1"/>
                </a:solidFill>
              </a:rPr>
              <a:t>does some work, and returns another event.</a:t>
            </a:r>
          </a:p>
          <a:p>
            <a:pPr marL="400050" indent="-285750">
              <a:spcBef>
                <a:spcPts val="600"/>
              </a:spcBef>
              <a:spcAft>
                <a:spcPts val="600"/>
              </a:spcAft>
              <a:buClr>
                <a:srgbClr val="28285E"/>
              </a:buClr>
              <a:buSzPts val="1260"/>
              <a:buFont typeface="+mn-lt"/>
              <a:buChar char="●"/>
            </a:pPr>
            <a:r>
              <a:rPr sz="1400" b="1">
                <a:solidFill>
                  <a:schemeClr val="tx1"/>
                </a:solidFill>
              </a:rPr>
              <a:t>The returned event triggers the next step </a:t>
            </a:r>
            <a:r>
              <a:rPr sz="1400" b="0">
                <a:solidFill>
                  <a:schemeClr val="tx1"/>
                </a:solidFill>
              </a:rPr>
              <a:t>whose type annotation accepts it.</a:t>
            </a:r>
          </a:p>
          <a:p>
            <a:pPr marL="400050" indent="-285750">
              <a:spcBef>
                <a:spcPts val="600"/>
              </a:spcBef>
              <a:spcAft>
                <a:spcPts val="600"/>
              </a:spcAft>
              <a:buClr>
                <a:srgbClr val="28285E"/>
              </a:buClr>
              <a:buSzPts val="1260"/>
              <a:buFont typeface="+mn-lt"/>
              <a:buChar char="●"/>
            </a:pPr>
            <a:r>
              <a:rPr sz="1400" b="1">
                <a:solidFill>
                  <a:schemeClr val="tx1"/>
                </a:solidFill>
              </a:rPr>
              <a:t>Events are user-defined Pydantic classes. </a:t>
            </a:r>
            <a:r>
              <a:rPr sz="1400" b="0">
                <a:solidFill>
                  <a:schemeClr val="tx1"/>
                </a:solidFill>
              </a:rPr>
              <a:t>The framework supplies StartEvent and StopEvent.</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step signatures declare the event types each step consumes and produces.</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StartEvent's fields are run()'s keyword arguments. Returning StopEvent ends the workflow with its result.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LlamaIndex Workflows: validation and state</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Before a run, the framework validates the event graph that the step signatures declare.</a:t>
            </a:r>
          </a:p>
          <a:p>
            <a:pPr marL="400050" indent="-285750">
              <a:spcBef>
                <a:spcPts val="600"/>
              </a:spcBef>
              <a:spcAft>
                <a:spcPts val="600"/>
              </a:spcAft>
              <a:buClr>
                <a:srgbClr val="28285E"/>
              </a:buClr>
              <a:buSzPts val="1260"/>
              <a:buFont typeface="+mn-lt"/>
              <a:buChar char="●"/>
            </a:pPr>
            <a:r>
              <a:rPr sz="1400" b="1">
                <a:solidFill>
                  <a:schemeClr val="tx1"/>
                </a:solidFill>
              </a:rPr>
              <a:t>It checks that the graph </a:t>
            </a:r>
            <a:r>
              <a:rPr sz="1400" b="0">
                <a:solidFill>
                  <a:schemeClr val="tx1"/>
                </a:solidFill>
              </a:rPr>
              <a:t>contains a start and a stop event and that every produced event has a consumer.</a:t>
            </a:r>
          </a:p>
          <a:p>
            <a:pPr marL="400050" indent="-285750">
              <a:spcBef>
                <a:spcPts val="600"/>
              </a:spcBef>
              <a:spcAft>
                <a:spcPts val="600"/>
              </a:spcAft>
              <a:buClr>
                <a:srgbClr val="28285E"/>
              </a:buClr>
              <a:buSzPts val="1260"/>
              <a:buFont typeface="+mn-lt"/>
              <a:buChar char="●"/>
            </a:pPr>
            <a:r>
              <a:rPr sz="1400" b="1">
                <a:solidFill>
                  <a:schemeClr val="tx1"/>
                </a:solidFill>
              </a:rPr>
              <a:t>These checks do not establish </a:t>
            </a:r>
            <a:r>
              <a:rPr sz="1400" b="0">
                <a:solidFill>
                  <a:schemeClr val="tx1"/>
                </a:solidFill>
              </a:rPr>
              <a:t>that a particular run will reach StopEvent.</a:t>
            </a:r>
          </a:p>
          <a:p>
            <a:pPr marL="400050" indent="-285750">
              <a:spcBef>
                <a:spcPts val="600"/>
              </a:spcBef>
              <a:spcAft>
                <a:spcPts val="600"/>
              </a:spcAft>
              <a:buClr>
                <a:srgbClr val="28285E"/>
              </a:buClr>
              <a:buSzPts val="1260"/>
              <a:buFont typeface="+mn-lt"/>
              <a:buChar char="●"/>
            </a:pPr>
            <a:r>
              <a:rPr sz="1400" b="1">
                <a:solidFill>
                  <a:schemeClr val="tx1"/>
                </a:solidFill>
              </a:rPr>
              <a:t>A store on the workflow's Context </a:t>
            </a:r>
            <a:r>
              <a:rPr sz="1400" b="0">
                <a:solidFill>
                  <a:schemeClr val="tx1"/>
                </a:solidFill>
              </a:rPr>
              <a:t>holds per-run state. Steps read and write it through ctx.store.</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edit_state() is for updates that must not interleave with another step's updates.</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Our demo, cyberbird/event_driven, is written in this framework (section 5.4).</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Idle and success in LlamaIndex and in CrewAI</a:t>
            </a:r>
          </a:p>
        </p:txBody>
      </p:sp>
      <p:sp>
        <p:nvSpPr>
          <p:cNvPr id="3" name="Content Placeholder 2"/>
          <p:cNvSpPr>
            <a:spLocks noGrp="1"/>
          </p:cNvSpPr>
          <p:nvPr>
            <p:ph idx="1"/>
          </p:nvPr>
        </p:nvSpPr>
        <p:spPr>
          <a:xfrm>
            <a:off x="319251" y="700000"/>
            <a:ext cx="6014545" cy="500000"/>
          </a:xfrm>
        </p:spPr>
        <p:txBody>
          <a:bodyPr wrap="square" anchor="ctr"/>
          <a:lstStyle/>
          <a:p>
            <a:pPr marL="0" indent="0">
              <a:buNone/>
            </a:pPr>
            <a:r>
              <a:rPr sz="1400" b="1">
                <a:solidFill>
                  <a:srgbClr val="28285E"/>
                </a:solidFill>
              </a:rPr>
              <a:t>The two frameworks differ in how we distinguish idle from success.</a:t>
            </a:r>
          </a:p>
        </p:txBody>
      </p:sp>
      <p:graphicFrame>
        <p:nvGraphicFramePr>
          <p:cNvPr id="4" name="Table 3"/>
          <p:cNvGraphicFramePr>
            <a:graphicFrameLocks noGrp="1"/>
          </p:cNvGraphicFramePr>
          <p:nvPr/>
        </p:nvGraphicFramePr>
        <p:xfrm>
          <a:off x="319251" y="1390000"/>
          <a:ext cx="6014545" cy="2414550"/>
        </p:xfrm>
        <a:graphic>
          <a:graphicData uri="http://schemas.openxmlformats.org/drawingml/2006/table">
            <a:tbl>
              <a:tblPr firstRow="1" bandRow="1">
                <a:tableStyleId>{5C22544A-7EE6-4342-B048-85BDC9FD1C3A}</a:tableStyleId>
              </a:tblPr>
              <a:tblGrid>
                <a:gridCol w="1239525">
                  <a:extLst>
                    <a:ext uri="{9D8B030D-6E8A-4147-A177-3AD203B41FA5}">
                      <a16:colId xmlns:a16="http://schemas.microsoft.com/office/drawing/2014/main" val="20000"/>
                    </a:ext>
                  </a:extLst>
                </a:gridCol>
                <a:gridCol w="2387510">
                  <a:extLst>
                    <a:ext uri="{9D8B030D-6E8A-4147-A177-3AD203B41FA5}">
                      <a16:colId xmlns:a16="http://schemas.microsoft.com/office/drawing/2014/main" val="20001"/>
                    </a:ext>
                  </a:extLst>
                </a:gridCol>
                <a:gridCol w="2387510">
                  <a:extLst>
                    <a:ext uri="{9D8B030D-6E8A-4147-A177-3AD203B41FA5}">
                      <a16:colId xmlns:a16="http://schemas.microsoft.com/office/drawing/2014/main" val="20002"/>
                    </a:ext>
                  </a:extLst>
                </a:gridCol>
              </a:tblGrid>
              <a:tr h="300000">
                <a:tc>
                  <a:txBody>
                    <a:bodyPr/>
                    <a:lstStyle/>
                    <a:p>
                      <a:pPr>
                        <a:buNone/>
                      </a:pPr>
                      <a:r>
                        <a:rPr sz="1200" b="1">
                          <a:solidFill>
                            <a:schemeClr val="tx1"/>
                          </a:solidFill>
                        </a:rPr>
                        <a:t>Question</a:t>
                      </a:r>
                    </a:p>
                  </a:txBody>
                  <a:tcPr marL="95250" marR="95250" marT="47625" marB="47625">
                    <a:lnB w="12700" cap="flat" cmpd="sng" algn="ctr">
                      <a:solidFill>
                        <a:schemeClr val="tx1"/>
                      </a:solidFill>
                    </a:lnB>
                    <a:noFill/>
                  </a:tcPr>
                </a:tc>
                <a:tc>
                  <a:txBody>
                    <a:bodyPr/>
                    <a:lstStyle/>
                    <a:p>
                      <a:pPr>
                        <a:buNone/>
                      </a:pPr>
                      <a:r>
                        <a:rPr sz="1200" b="1">
                          <a:solidFill>
                            <a:schemeClr val="tx1"/>
                          </a:solidFill>
                        </a:rPr>
                        <a:t>LlamaIndex Workflows</a:t>
                      </a:r>
                    </a:p>
                  </a:txBody>
                  <a:tcPr marL="95250" marR="95250" marT="47625" marB="47625">
                    <a:lnB w="12700" cap="flat" cmpd="sng" algn="ctr">
                      <a:solidFill>
                        <a:schemeClr val="tx1"/>
                      </a:solidFill>
                    </a:lnB>
                    <a:noFill/>
                  </a:tcPr>
                </a:tc>
                <a:tc>
                  <a:txBody>
                    <a:bodyPr/>
                    <a:lstStyle/>
                    <a:p>
                      <a:pPr>
                        <a:buNone/>
                      </a:pPr>
                      <a:r>
                        <a:rPr sz="1200" b="1">
                          <a:solidFill>
                            <a:schemeClr val="tx1"/>
                          </a:solidFill>
                        </a:rPr>
                        <a:t>CrewAI Flows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200" b="1">
                          <a:solidFill>
                            <a:srgbClr val="28285E"/>
                          </a:solidFill>
                        </a:rPr>
                        <a:t>Dispatch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By event type, declared in the step signatures.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By method completion and router labels: @listen(m) runs when m completes.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200" b="1">
                          <a:solidFill>
                            <a:srgbClr val="28285E"/>
                          </a:solidFill>
                        </a:rPr>
                        <a:t>Terminal 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StopEvent, whose result carries the outcome. Pre-run validation checks for a start and a stop 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None. The final output is determined by the last method that completes.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200" b="1">
                          <a:solidFill>
                            <a:srgbClr val="28285E"/>
                          </a:solidFill>
                        </a:rPr>
                        <a:t>The outcome σ</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Carried by the StopEvent's result.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Each event type becomes a router label, and σ must be written to state by our code.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402503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LlamaIndex has an explicit terminal event. In CrewAI a flow ends when no method remains to run, which corresponds to an empty queue.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Comparing the realizations: the design</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Neither framework establishes that an event realization preserves the machine's behaviour.</a:t>
            </a:r>
          </a:p>
          <a:p>
            <a:pPr marL="400050" indent="-285750">
              <a:spcBef>
                <a:spcPts val="600"/>
              </a:spcBef>
              <a:spcAft>
                <a:spcPts val="600"/>
              </a:spcAft>
              <a:buClr>
                <a:srgbClr val="28285E"/>
              </a:buClr>
              <a:buSzPts val="1260"/>
              <a:buFont typeface="+mn-lt"/>
              <a:buChar char="●"/>
            </a:pPr>
            <a:r>
              <a:rPr sz="1400" b="1">
                <a:solidFill>
                  <a:schemeClr val="tx1"/>
                </a:solidFill>
              </a:rPr>
              <a:t>We compare the realizations </a:t>
            </a:r>
            <a:r>
              <a:rPr sz="1400" b="0">
                <a:solidFill>
                  <a:schemeClr val="tx1"/>
                </a:solidFill>
              </a:rPr>
              <a:t>after each computation completes and its contribution is applied.</a:t>
            </a:r>
          </a:p>
          <a:p>
            <a:pPr marL="400050" indent="-285750">
              <a:spcBef>
                <a:spcPts val="600"/>
              </a:spcBef>
              <a:spcAft>
                <a:spcPts val="600"/>
              </a:spcAft>
              <a:buClr>
                <a:srgbClr val="28285E"/>
              </a:buClr>
              <a:buSzPts val="1260"/>
              <a:buFont typeface="+mn-lt"/>
              <a:buChar char="●"/>
            </a:pPr>
            <a:r>
              <a:rPr sz="1400" b="1">
                <a:solidFill>
                  <a:schemeClr val="tx1"/>
                </a:solidFill>
              </a:rPr>
              <a:t>These boundaries are the points of comparison. </a:t>
            </a:r>
            <a:r>
              <a:rPr sz="1400" b="0">
                <a:solidFill>
                  <a:schemeClr val="tx1"/>
                </a:solidFill>
              </a:rPr>
              <a:t>Handler internals and wall-clock order are not.</a:t>
            </a:r>
          </a:p>
          <a:p>
            <a:pPr marL="400050" indent="-285750">
              <a:spcBef>
                <a:spcPts val="600"/>
              </a:spcBef>
              <a:spcAft>
                <a:spcPts val="600"/>
              </a:spcAft>
              <a:buClr>
                <a:srgbClr val="28285E"/>
              </a:buClr>
              <a:buSzPts val="1260"/>
              <a:buFont typeface="+mn-lt"/>
              <a:buChar char="●"/>
            </a:pPr>
            <a:r>
              <a:rPr sz="1400" b="1">
                <a:solidFill>
                  <a:schemeClr val="tx1"/>
                </a:solidFill>
              </a:rPr>
              <a:t>We script the model's replies and control the tool results: </a:t>
            </a:r>
            <a:r>
              <a:rPr sz="1400" b="0">
                <a:solidFill>
                  <a:schemeClr val="tx1"/>
                </a:solidFill>
              </a:rPr>
              <a:t>both get the same inputs in the same order.</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design isolates the scheduling mechanism: a graph superstep or an event dispatch.</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faithful translation preserves observations, workspace effects, check results and terminal status.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agreement under scripted inputs shows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Agreement under scripted inputs supports a limited conclusion.</a:t>
            </a:r>
          </a:p>
          <a:p>
            <a:pPr marL="400050" indent="-285750">
              <a:spcBef>
                <a:spcPts val="600"/>
              </a:spcBef>
              <a:spcAft>
                <a:spcPts val="600"/>
              </a:spcAft>
              <a:buClr>
                <a:srgbClr val="28285E"/>
              </a:buClr>
              <a:buSzPts val="1260"/>
              <a:buFont typeface="+mn-lt"/>
              <a:buChar char="●"/>
            </a:pPr>
            <a:r>
              <a:rPr sz="1400" b="1">
                <a:solidFill>
                  <a:schemeClr val="tx1"/>
                </a:solidFill>
              </a:rPr>
              <a:t>The two realizations implement </a:t>
            </a:r>
            <a:r>
              <a:rPr sz="1400" b="0">
                <a:solidFill>
                  <a:schemeClr val="tx1"/>
                </a:solidFill>
              </a:rPr>
              <a:t>the same transition rules for the scripted replies.</a:t>
            </a:r>
          </a:p>
          <a:p>
            <a:pPr marL="400050" indent="-285750">
              <a:spcBef>
                <a:spcPts val="600"/>
              </a:spcBef>
              <a:spcAft>
                <a:spcPts val="600"/>
              </a:spcAft>
              <a:buClr>
                <a:srgbClr val="28285E"/>
              </a:buClr>
              <a:buSzPts val="1260"/>
              <a:buFont typeface="+mn-lt"/>
              <a:buChar char="●"/>
            </a:pPr>
            <a:r>
              <a:rPr sz="1400" b="1">
                <a:solidFill>
                  <a:schemeClr val="tx1"/>
                </a:solidFill>
              </a:rPr>
              <a:t>It does not establish </a:t>
            </a:r>
            <a:r>
              <a:rPr sz="1400" b="0">
                <a:solidFill>
                  <a:schemeClr val="tx1"/>
                </a:solidFill>
              </a:rPr>
              <a:t>equivalent behaviour with a live model.</a:t>
            </a:r>
          </a:p>
          <a:p>
            <a:pPr marL="400050" indent="-285750">
              <a:spcBef>
                <a:spcPts val="600"/>
              </a:spcBef>
              <a:spcAft>
                <a:spcPts val="600"/>
              </a:spcAft>
              <a:buClr>
                <a:srgbClr val="28285E"/>
              </a:buClr>
              <a:buSzPts val="1260"/>
              <a:buFont typeface="+mn-lt"/>
              <a:buChar char="●"/>
            </a:pPr>
            <a:r>
              <a:rPr sz="1400" b="1">
                <a:solidFill>
                  <a:schemeClr val="tx1"/>
                </a:solidFill>
              </a:rPr>
              <a:t>How a handler formats messages </a:t>
            </a:r>
            <a:r>
              <a:rPr sz="1400" b="0">
                <a:solidFill>
                  <a:schemeClr val="tx1"/>
                </a:solidFill>
              </a:rPr>
              <a:t>changes the model's inputs, even when the transition rules are unchanged.</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comparison also excludes concurrency.</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result holds for the scripted replies. It is a statement about transition rules.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demo as a LlamaIndex workflow</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Our event-driven agent runs the planning agent's machine as a LlamaIndex workflow.</a:t>
            </a:r>
          </a:p>
          <a:p>
            <a:pPr marL="400050" indent="-285750">
              <a:spcBef>
                <a:spcPts val="600"/>
              </a:spcBef>
              <a:spcAft>
                <a:spcPts val="600"/>
              </a:spcAft>
              <a:buClr>
                <a:srgbClr val="28285E"/>
              </a:buClr>
              <a:buSzPts val="1260"/>
              <a:buFont typeface="+mn-lt"/>
              <a:buChar char="●"/>
            </a:pPr>
            <a:r>
              <a:rPr sz="1400" b="1">
                <a:solidFill>
                  <a:schemeClr val="tx1"/>
                </a:solidFill>
              </a:rPr>
              <a:t>It keeps the machine's locations and guards, </a:t>
            </a:r>
            <a:r>
              <a:rPr sz="1400" b="0">
                <a:solidFill>
                  <a:schemeClr val="tx1"/>
                </a:solidFill>
              </a:rPr>
              <a:t>a budget of forty calls per alert, and one replan.</a:t>
            </a:r>
          </a:p>
          <a:p>
            <a:pPr marL="400050" indent="-285750">
              <a:spcBef>
                <a:spcPts val="600"/>
              </a:spcBef>
              <a:spcAft>
                <a:spcPts val="600"/>
              </a:spcAft>
              <a:buClr>
                <a:srgbClr val="28285E"/>
              </a:buClr>
              <a:buSzPts val="1260"/>
              <a:buFont typeface="+mn-lt"/>
              <a:buChar char="●"/>
            </a:pPr>
            <a:r>
              <a:rPr sz="1400" b="1">
                <a:solidFill>
                  <a:schemeClr val="tx1"/>
                </a:solidFill>
              </a:rPr>
              <a:t>The run's data sit in a store on the workflow's context: </a:t>
            </a:r>
            <a:r>
              <a:rPr sz="1400" b="0">
                <a:solidFill>
                  <a:schemeClr val="tx1"/>
                </a:solidFill>
              </a:rPr>
              <a:t>a RunState, and one AlertState per alert.</a:t>
            </a:r>
          </a:p>
          <a:p>
            <a:pPr marL="400050" indent="-285750">
              <a:spcBef>
                <a:spcPts val="600"/>
              </a:spcBef>
              <a:spcAft>
                <a:spcPts val="600"/>
              </a:spcAft>
              <a:buClr>
                <a:srgbClr val="28285E"/>
              </a:buClr>
              <a:buSzPts val="1260"/>
              <a:buFont typeface="+mn-lt"/>
              <a:buChar char="●"/>
            </a:pPr>
            <a:r>
              <a:rPr sz="1400" b="1">
                <a:solidFill>
                  <a:schemeClr val="tx1"/>
                </a:solidFill>
              </a:rPr>
              <a:t>Two steps are stubs: </a:t>
            </a:r>
            <a:r>
              <a:rPr sz="1400" b="0">
                <a:solidFill>
                  <a:schemeClr val="tx1"/>
                </a:solidFill>
              </a:rPr>
              <a:t>submit runs no checks, and each validator accepts after a delay. No run is recorded.</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One AlertState per alert holds its plan, messages, observations, calls and usage.</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Section 5.4 of the notes. The stall check uses three identical results, and the alert may replan once.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demo's steps and their events</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Table 8 in the notes: one row per step.</a:t>
            </a:r>
          </a:p>
        </p:txBody>
      </p:sp>
      <p:graphicFrame>
        <p:nvGraphicFramePr>
          <p:cNvPr id="4" name="Table 3"/>
          <p:cNvGraphicFramePr>
            <a:graphicFrameLocks noGrp="1"/>
          </p:cNvGraphicFramePr>
          <p:nvPr/>
        </p:nvGraphicFramePr>
        <p:xfrm>
          <a:off x="319251" y="1190000"/>
          <a:ext cx="6014545" cy="2528850"/>
        </p:xfrm>
        <a:graphic>
          <a:graphicData uri="http://schemas.openxmlformats.org/drawingml/2006/table">
            <a:tbl>
              <a:tblPr firstRow="1" bandRow="1">
                <a:tableStyleId>{5C22544A-7EE6-4342-B048-85BDC9FD1C3A}</a:tableStyleId>
              </a:tblPr>
              <a:tblGrid>
                <a:gridCol w="1000000">
                  <a:extLst>
                    <a:ext uri="{9D8B030D-6E8A-4147-A177-3AD203B41FA5}">
                      <a16:colId xmlns:a16="http://schemas.microsoft.com/office/drawing/2014/main" val="20000"/>
                    </a:ext>
                  </a:extLst>
                </a:gridCol>
                <a:gridCol w="2507272">
                  <a:extLst>
                    <a:ext uri="{9D8B030D-6E8A-4147-A177-3AD203B41FA5}">
                      <a16:colId xmlns:a16="http://schemas.microsoft.com/office/drawing/2014/main" val="20001"/>
                    </a:ext>
                  </a:extLst>
                </a:gridCol>
                <a:gridCol w="2507273">
                  <a:extLst>
                    <a:ext uri="{9D8B030D-6E8A-4147-A177-3AD203B41FA5}">
                      <a16:colId xmlns:a16="http://schemas.microsoft.com/office/drawing/2014/main" val="20002"/>
                    </a:ext>
                  </a:extLst>
                </a:gridCol>
              </a:tblGrid>
              <a:tr h="300000">
                <a:tc>
                  <a:txBody>
                    <a:bodyPr/>
                    <a:lstStyle/>
                    <a:p>
                      <a:pPr>
                        <a:buNone/>
                      </a:pPr>
                      <a:r>
                        <a:rPr sz="1000" b="1">
                          <a:solidFill>
                            <a:schemeClr val="tx1"/>
                          </a:solidFill>
                        </a:rPr>
                        <a:t>Step</a:t>
                      </a:r>
                    </a:p>
                  </a:txBody>
                  <a:tcPr marL="95250" marR="95250" marT="47625" marB="47625">
                    <a:lnB w="12700" cap="flat" cmpd="sng" algn="ctr">
                      <a:solidFill>
                        <a:schemeClr val="tx1"/>
                      </a:solidFill>
                    </a:lnB>
                    <a:noFill/>
                  </a:tcPr>
                </a:tc>
                <a:tc>
                  <a:txBody>
                    <a:bodyPr/>
                    <a:lstStyle/>
                    <a:p>
                      <a:pPr>
                        <a:buNone/>
                      </a:pPr>
                      <a:r>
                        <a:rPr sz="1000" b="1">
                          <a:solidFill>
                            <a:schemeClr val="tx1"/>
                          </a:solidFill>
                        </a:rPr>
                        <a:t>Accepts</a:t>
                      </a:r>
                    </a:p>
                  </a:txBody>
                  <a:tcPr marL="95250" marR="95250" marT="47625" marB="47625">
                    <a:lnB w="12700" cap="flat" cmpd="sng" algn="ctr">
                      <a:solidFill>
                        <a:schemeClr val="tx1"/>
                      </a:solidFill>
                    </a:lnB>
                    <a:noFill/>
                  </a:tcPr>
                </a:tc>
                <a:tc>
                  <a:txBody>
                    <a:bodyPr/>
                    <a:lstStyle/>
                    <a:p>
                      <a:pPr>
                        <a:buNone/>
                      </a:pPr>
                      <a:r>
                        <a:rPr sz="1000" b="1">
                          <a:solidFill>
                            <a:schemeClr val="tx1"/>
                          </a:solidFill>
                        </a:rPr>
                        <a:t>Emits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start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RunRequested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ScanRequested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scan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ScanRequested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AlertFound per alert, StopEvent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gate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AlertFound, AlertDone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AlertStarted, StopEvent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AlertStarted, Stalled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PlanCreated, AlertDone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PlanCreated, Observed, ChecksFailed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ToolsRequested, Submitted, AlertDone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ToolsRequested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Observed, Stalled, AlertDone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a:solidFill>
                            <a:srgbClr val="28285E"/>
                          </a:solidFill>
                        </a:rPr>
                        <a:t>submit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Submitted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ChecksFailed, ValidateRequested ×V</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r h="0">
                <a:tc>
                  <a:txBody>
                    <a:bodyPr/>
                    <a:lstStyle/>
                    <a:p>
                      <a:pPr>
                        <a:buNone/>
                      </a:pPr>
                      <a:r>
                        <a:rPr sz="1000" b="1">
                          <a:solidFill>
                            <a:srgbClr val="28285E"/>
                          </a:solidFill>
                        </a:rPr>
                        <a:t>validate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ValidateRequested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Verdict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8"/>
                  </a:ext>
                </a:extLst>
              </a:tr>
              <a:tr h="0">
                <a:tc>
                  <a:txBody>
                    <a:bodyPr/>
                    <a:lstStyle/>
                    <a:p>
                      <a:pPr>
                        <a:buNone/>
                      </a:pPr>
                      <a:r>
                        <a:rPr sz="1000" b="1">
                          <a:solidFill>
                            <a:srgbClr val="28285E"/>
                          </a:solidFill>
                        </a:rPr>
                        <a:t>judge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Verdict ×V</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AlertDone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9"/>
                  </a:ext>
                </a:extLst>
              </a:tr>
            </a:tbl>
          </a:graphicData>
        </a:graphic>
      </p:graphicFrame>
      <p:sp>
        <p:nvSpPr>
          <p:cNvPr id="5" name="Rectangle 4"/>
          <p:cNvSpPr/>
          <p:nvPr/>
        </p:nvSpPr>
        <p:spPr>
          <a:xfrm>
            <a:off x="319251" y="393171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No step names another: the signatures are the wiring. plan, controller and validate ask a model. The other six are runtime steps.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event-driven agent as an event loop</a:t>
            </a:r>
          </a:p>
        </p:txBody>
      </p:sp>
      <p:pic>
        <p:nvPicPr>
          <p:cNvPr id="3" name="Figure s5-event-loop" descr="s5-event-loop.png"/>
          <p:cNvPicPr>
            <a:picLocks noChangeAspect="1"/>
          </p:cNvPicPr>
          <p:nvPr/>
        </p:nvPicPr>
        <p:blipFill>
          <a:blip r:embed="rId3"/>
          <a:stretch>
            <a:fillRect/>
          </a:stretch>
        </p:blipFill>
        <p:spPr>
          <a:xfrm>
            <a:off x="263563" y="700000"/>
            <a:ext cx="6125923" cy="3470000"/>
          </a:xfrm>
          <a:prstGeom prst="rect">
            <a:avLst/>
          </a:prstGeom>
        </p:spPr>
      </p:pic>
      <p:sp>
        <p:nvSpPr>
          <p:cNvPr id="4" name="Rectangle 3"/>
          <p:cNvSpPr/>
          <p:nvPr/>
        </p:nvSpPr>
        <p:spPr>
          <a:xfrm>
            <a:off x="319251" y="4360000"/>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8 in the notes. Emitted events return to the queue.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Admission, acting and revising in the steps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The guards now sit inside the steps and choose which event to return.</a:t>
            </a:r>
          </a:p>
          <a:p>
            <a:pPr marL="400050" indent="-285750">
              <a:spcBef>
                <a:spcPts val="600"/>
              </a:spcBef>
              <a:spcAft>
                <a:spcPts val="600"/>
              </a:spcAft>
              <a:buClr>
                <a:srgbClr val="28285E"/>
              </a:buClr>
              <a:buSzPts val="1260"/>
              <a:buFont typeface="+mn-lt"/>
              <a:buChar char="●"/>
            </a:pPr>
            <a:r>
              <a:rPr sz="1400" b="1">
                <a:solidFill>
                  <a:schemeClr val="tx1"/>
                </a:solidFill>
              </a:rPr>
              <a:t>Admission: </a:t>
            </a:r>
            <a:r>
              <a:rPr sz="1400" b="0">
                <a:solidFill>
                  <a:schemeClr val="tx1"/>
                </a:solidFill>
              </a:rPr>
              <a:t>plan and controller reserve one model call first. A spent budget returns AlertDone.</a:t>
            </a:r>
          </a:p>
          <a:p>
            <a:pPr marL="400050" indent="-285750">
              <a:spcBef>
                <a:spcPts val="600"/>
              </a:spcBef>
              <a:spcAft>
                <a:spcPts val="600"/>
              </a:spcAft>
              <a:buClr>
                <a:srgbClr val="28285E"/>
              </a:buClr>
              <a:buSzPts val="1260"/>
              <a:buFont typeface="+mn-lt"/>
              <a:buChar char="●"/>
            </a:pPr>
            <a:r>
              <a:rPr sz="1400" b="1">
                <a:solidFill>
                  <a:schemeClr val="tx1"/>
                </a:solidFill>
              </a:rPr>
              <a:t>Acting: </a:t>
            </a:r>
            <a:r>
              <a:rPr sz="1400" b="0">
                <a:solidFill>
                  <a:schemeClr val="tx1"/>
                </a:solidFill>
              </a:rPr>
              <a:t>the controller returns ToolsRequested for a reply with tool calls, and Submitted for one without.</a:t>
            </a:r>
          </a:p>
          <a:p>
            <a:pPr marL="400050" indent="-285750">
              <a:spcBef>
                <a:spcPts val="600"/>
              </a:spcBef>
              <a:spcAft>
                <a:spcPts val="600"/>
              </a:spcAft>
              <a:buClr>
                <a:srgbClr val="28285E"/>
              </a:buClr>
              <a:buSzPts val="1260"/>
              <a:buFont typeface="+mn-lt"/>
              <a:buChar char="●"/>
            </a:pPr>
            <a:r>
              <a:rPr sz="1400" b="1">
                <a:solidFill>
                  <a:schemeClr val="tx1"/>
                </a:solidFill>
              </a:rPr>
              <a:t>Revising: </a:t>
            </a:r>
            <a:r>
              <a:rPr sz="1400" b="0">
                <a:solidFill>
                  <a:schemeClr val="tx1"/>
                </a:solidFill>
              </a:rPr>
              <a:t>tools returns Observed while work moves, Stalled on a first stall, AlertDone on a second.</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On Stalled, plan writes a new plan and moves replanned_at, the handoff and window of section 2.4.</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AlertDone carries budget_exhausted from plan or controller, and no_progress from tools.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run handles many alerts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One run handles many alerts, the first of three things the graph agent does not do.</a:t>
            </a:r>
          </a:p>
          <a:p>
            <a:pPr marL="400050" indent="-285750">
              <a:spcBef>
                <a:spcPts val="600"/>
              </a:spcBef>
              <a:spcAft>
                <a:spcPts val="600"/>
              </a:spcAft>
              <a:buClr>
                <a:srgbClr val="28285E"/>
              </a:buClr>
              <a:buSzPts val="1260"/>
              <a:buFont typeface="+mn-lt"/>
              <a:buChar char="●"/>
            </a:pPr>
            <a:r>
              <a:rPr sz="1400" b="1">
                <a:solidFill>
                  <a:schemeClr val="tx1"/>
                </a:solidFill>
              </a:rPr>
              <a:t>scan runs Bandit once </a:t>
            </a:r>
            <a:r>
              <a:rPr sz="1400" b="0">
                <a:solidFill>
                  <a:schemeClr val="tx1"/>
                </a:solidFill>
              </a:rPr>
              <a:t>and emits one AlertFound per alert.</a:t>
            </a:r>
          </a:p>
          <a:p>
            <a:pPr marL="400050" indent="-285750">
              <a:spcBef>
                <a:spcPts val="600"/>
              </a:spcBef>
              <a:spcAft>
                <a:spcPts val="600"/>
              </a:spcAft>
              <a:buClr>
                <a:srgbClr val="28285E"/>
              </a:buClr>
              <a:buSzPts val="1260"/>
              <a:buFont typeface="+mn-lt"/>
              <a:buChar char="●"/>
            </a:pPr>
            <a:r>
              <a:rPr sz="1400" b="1">
                <a:solidFill>
                  <a:schemeClr val="tx1"/>
                </a:solidFill>
              </a:rPr>
              <a:t>gate queues each alert it receives </a:t>
            </a:r>
            <a:r>
              <a:rPr sz="1400" b="0">
                <a:solidFill>
                  <a:schemeClr val="tx1"/>
                </a:solidFill>
              </a:rPr>
              <a:t>and releases one at a time.</a:t>
            </a:r>
          </a:p>
          <a:p>
            <a:pPr marL="400050" indent="-285750">
              <a:spcBef>
                <a:spcPts val="600"/>
              </a:spcBef>
              <a:spcAft>
                <a:spcPts val="600"/>
              </a:spcAft>
              <a:buClr>
                <a:srgbClr val="28285E"/>
              </a:buClr>
              <a:buSzPts val="1260"/>
              <a:buFont typeface="+mn-lt"/>
              <a:buChar char="●"/>
            </a:pPr>
            <a:r>
              <a:rPr sz="1400" b="1">
                <a:solidFill>
                  <a:schemeClr val="tx1"/>
                </a:solidFill>
              </a:rPr>
              <a:t>Every event about an alert carries its alert_id, </a:t>
            </a:r>
            <a:r>
              <a:rPr sz="1400" b="0">
                <a:solidFill>
                  <a:schemeClr val="tx1"/>
                </a:solidFill>
              </a:rPr>
              <a:t>which correlates it with the alert's store entry.</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gate starts the next alert only after the current alert's AlertDone arrives.</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run's bookkeeping sits in the RunState, and each alert's data in its own AlertState.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Validation fans out and back in</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submit sends one ValidateRequested per lens, because a step can return only one event.</a:t>
            </a:r>
          </a:p>
          <a:p>
            <a:pPr marL="400050" indent="-285750">
              <a:spcBef>
                <a:spcPts val="600"/>
              </a:spcBef>
              <a:spcAft>
                <a:spcPts val="600"/>
              </a:spcAft>
              <a:buClr>
                <a:srgbClr val="28285E"/>
              </a:buClr>
              <a:buSzPts val="1260"/>
              <a:buFont typeface="+mn-lt"/>
              <a:buChar char="●"/>
            </a:pPr>
            <a:r>
              <a:rPr sz="1400" b="1">
                <a:solidFill>
                  <a:schemeClr val="tx1"/>
                </a:solidFill>
              </a:rPr>
              <a:t>validate runs three workers, </a:t>
            </a:r>
            <a:r>
              <a:rPr sz="1400" b="0">
                <a:solidFill>
                  <a:schemeClr val="tx1"/>
                </a:solidFill>
              </a:rPr>
              <a:t>so the correctness, behaviour and scope validators run at once.</a:t>
            </a:r>
          </a:p>
          <a:p>
            <a:pPr marL="400050" indent="-285750">
              <a:spcBef>
                <a:spcPts val="600"/>
              </a:spcBef>
              <a:spcAft>
                <a:spcPts val="600"/>
              </a:spcAft>
              <a:buClr>
                <a:srgbClr val="28285E"/>
              </a:buClr>
              <a:buSzPts val="1260"/>
              <a:buFont typeface="+mn-lt"/>
              <a:buChar char="●"/>
            </a:pPr>
            <a:r>
              <a:rPr sz="1400" b="1">
                <a:solidFill>
                  <a:schemeClr val="tx1"/>
                </a:solidFill>
              </a:rPr>
              <a:t>This is the configuration of section 5.2 </a:t>
            </a:r>
            <a:r>
              <a:rPr sz="1400" b="0">
                <a:solidFill>
                  <a:schemeClr val="tx1"/>
                </a:solidFill>
              </a:rPr>
              <a:t>with several running handlers and no single location.</a:t>
            </a:r>
          </a:p>
          <a:p>
            <a:pPr marL="400050" indent="-285750">
              <a:spcBef>
                <a:spcPts val="600"/>
              </a:spcBef>
              <a:spcAft>
                <a:spcPts val="600"/>
              </a:spcAft>
              <a:buClr>
                <a:srgbClr val="28285E"/>
              </a:buClr>
              <a:buSzPts val="1260"/>
              <a:buFont typeface="+mn-lt"/>
              <a:buChar char="●"/>
            </a:pPr>
            <a:r>
              <a:rPr sz="1400" b="1">
                <a:solidFill>
                  <a:schemeClr val="tx1"/>
                </a:solidFill>
              </a:rPr>
              <a:t>judge holds each Verdict until all V arrive, </a:t>
            </a:r>
            <a:r>
              <a:rPr sz="1400" b="0">
                <a:solidFill>
                  <a:schemeClr val="tx1"/>
                </a:solidFill>
              </a:rPr>
              <a:t>and accepts only when every validator accepted.</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gate serializes alerts. It does not serialize validators.</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judge does not key verdicts by alert. That is safe only because the gate admits one alert at a time.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kinds of ending</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An alert ends with an AlertDone carrying one of four statuses. The run ends with a StopEvent.</a:t>
            </a:r>
          </a:p>
          <a:p>
            <a:pPr marL="400050" indent="-285750">
              <a:spcBef>
                <a:spcPts val="600"/>
              </a:spcBef>
              <a:spcAft>
                <a:spcPts val="600"/>
              </a:spcAft>
              <a:buClr>
                <a:srgbClr val="28285E"/>
              </a:buClr>
              <a:buSzPts val="1260"/>
              <a:buFont typeface="+mn-lt"/>
              <a:buChar char="●"/>
            </a:pPr>
            <a:r>
              <a:rPr sz="1400" b="1">
                <a:solidFill>
                  <a:schemeClr val="tx1"/>
                </a:solidFill>
              </a:rPr>
              <a:t>The statuses are </a:t>
            </a:r>
            <a:r>
              <a:rPr sz="1400" b="0">
                <a:solidFill>
                  <a:schemeClr val="tx1"/>
                </a:solidFill>
              </a:rPr>
              <a:t>accepted, rejected, no_progress and budget_exhausted.</a:t>
            </a:r>
          </a:p>
          <a:p>
            <a:pPr marL="400050" indent="-285750">
              <a:spcBef>
                <a:spcPts val="600"/>
              </a:spcBef>
              <a:spcAft>
                <a:spcPts val="600"/>
              </a:spcAft>
              <a:buClr>
                <a:srgbClr val="28285E"/>
              </a:buClr>
              <a:buSzPts val="1260"/>
              <a:buFont typeface="+mn-lt"/>
              <a:buChar char="●"/>
            </a:pPr>
            <a:r>
              <a:rPr sz="1400" b="1">
                <a:solidFill>
                  <a:schemeClr val="tx1"/>
                </a:solidFill>
              </a:rPr>
              <a:t>AlertDone returns to the gate, </a:t>
            </a:r>
            <a:r>
              <a:rPr sz="1400" b="0">
                <a:solidFill>
                  <a:schemeClr val="tx1"/>
                </a:solidFill>
              </a:rPr>
              <a:t>which records the status and starts the next alert.</a:t>
            </a:r>
          </a:p>
          <a:p>
            <a:pPr marL="400050" indent="-285750">
              <a:spcBef>
                <a:spcPts val="600"/>
              </a:spcBef>
              <a:spcAft>
                <a:spcPts val="600"/>
              </a:spcAft>
              <a:buClr>
                <a:srgbClr val="28285E"/>
              </a:buClr>
              <a:buSzPts val="1260"/>
              <a:buFont typeface="+mn-lt"/>
              <a:buChar char="●"/>
            </a:pPr>
            <a:r>
              <a:rPr sz="1400" b="1">
                <a:solidFill>
                  <a:schemeClr val="tx1"/>
                </a:solidFill>
              </a:rPr>
              <a:t>When the gate has a result for every alert the scan found, </a:t>
            </a:r>
            <a:r>
              <a:rPr sz="1400" b="0">
                <a:solidFill>
                  <a:schemeClr val="tx1"/>
                </a:solidFill>
              </a:rPr>
              <a:t>it returns a StopEvent carrying the results.</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Only the gate's StopEvent ends the run.</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scan that finds no alert ends the run at once with an empty result.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Events as classes, in code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Every event is a class. The StartEvent subclass carries the run's input, and every event about one alert carries its alert_id.</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event_driven/events.py, RunRequested and AlertEvent. Docstrings omitted</a:t>
            </a:r>
          </a:p>
        </p:txBody>
      </p:sp>
      <p:sp>
        <p:nvSpPr>
          <p:cNvPr id="5" name="CodeWindow"/>
          <p:cNvSpPr/>
          <p:nvPr/>
        </p:nvSpPr>
        <p:spPr>
          <a:xfrm>
            <a:off x="319251" y="1650000"/>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890000"/>
          </a:xfrm>
          <a:prstGeom prst="rect">
            <a:avLst/>
          </a:prstGeom>
          <a:noFill/>
        </p:spPr>
        <p:txBody>
          <a:bodyPr wrap="none" lIns="0" tIns="0" rIns="0" bIns="0" anchor="t">
            <a:spAutoFit/>
          </a:bodyPr>
          <a:lstStyle/>
          <a:p>
            <a:pPr algn="l">
              <a:buNone/>
            </a:pPr>
            <a:r>
              <a:rPr sz="1100" b="0">
                <a:solidFill>
                  <a:schemeClr val="accent2"/>
                </a:solidFill>
                <a:latin typeface="Maple Mono NF"/>
              </a:rPr>
              <a:t>from</a:t>
            </a:r>
            <a:r>
              <a:rPr sz="1100" b="0">
                <a:solidFill>
                  <a:schemeClr val="bg1"/>
                </a:solidFill>
                <a:latin typeface="Maple Mono NF"/>
              </a:rPr>
              <a:t> workflows.events </a:t>
            </a:r>
            <a:r>
              <a:rPr sz="1100" b="0">
                <a:solidFill>
                  <a:schemeClr val="accent2"/>
                </a:solidFill>
                <a:latin typeface="Maple Mono NF"/>
              </a:rPr>
              <a:t>import</a:t>
            </a:r>
            <a:r>
              <a:rPr sz="1100" b="0">
                <a:solidFill>
                  <a:schemeClr val="bg1"/>
                </a:solidFill>
                <a:latin typeface="Maple Mono NF"/>
              </a:rPr>
              <a:t> Event, </a:t>
            </a:r>
            <a:r>
              <a:rPr sz="1100" b="1">
                <a:solidFill>
                  <a:schemeClr val="accent4">
                    <a:lumMod val="70000"/>
                    <a:lumOff val="30000"/>
                  </a:schemeClr>
                </a:solidFill>
                <a:latin typeface="Maple Mono NF"/>
              </a:rPr>
              <a:t>StartEvent</a:t>
            </a:r>
          </a:p>
          <a:p>
            <a:pPr algn="l">
              <a:buNone/>
            </a:pPr>
            <a:endParaRPr sz="1100" b="1">
              <a:solidFill>
                <a:schemeClr val="accent4">
                  <a:lumMod val="70000"/>
                  <a:lumOff val="30000"/>
                </a:schemeClr>
              </a:solidFill>
              <a:latin typeface="Maple Mono NF"/>
            </a:endParaRPr>
          </a:p>
          <a:p>
            <a:pPr algn="l">
              <a:buNone/>
            </a:pPr>
            <a:r>
              <a:rPr sz="1100" b="0">
                <a:solidFill>
                  <a:schemeClr val="accent2"/>
                </a:solidFill>
                <a:latin typeface="Maple Mono NF"/>
              </a:rPr>
              <a:t>class</a:t>
            </a:r>
            <a:r>
              <a:rPr sz="1100" b="0">
                <a:solidFill>
                  <a:schemeClr val="bg1"/>
                </a:solidFill>
                <a:latin typeface="Maple Mono NF"/>
              </a:rPr>
              <a:t> RunRequested(</a:t>
            </a:r>
            <a:r>
              <a:rPr sz="1100" b="1">
                <a:solidFill>
                  <a:schemeClr val="accent4">
                    <a:lumMod val="70000"/>
                    <a:lumOff val="30000"/>
                  </a:schemeClr>
                </a:solidFill>
                <a:latin typeface="Maple Mono NF"/>
              </a:rPr>
              <a:t>StartEvent</a:t>
            </a:r>
            <a:r>
              <a:rPr sz="1100" b="0">
                <a:solidFill>
                  <a:schemeClr val="bg1"/>
                </a:solidFill>
                <a:latin typeface="Maple Mono NF"/>
              </a:rPr>
              <a:t>):</a:t>
            </a:r>
          </a:p>
          <a:p>
            <a:pPr algn="l">
              <a:buNone/>
            </a:pPr>
            <a:r>
              <a:rPr sz="1100" b="0">
                <a:solidFill>
                  <a:schemeClr val="bg1"/>
                </a:solidFill>
                <a:latin typeface="Maple Mono NF"/>
              </a:rPr>
              <a:t>    rule: str | </a:t>
            </a:r>
            <a:r>
              <a:rPr sz="1100" b="0">
                <a:solidFill>
                  <a:schemeClr val="accent2"/>
                </a:solidFill>
                <a:latin typeface="Maple Mono NF"/>
              </a:rPr>
              <a:t>None</a:t>
            </a:r>
            <a:r>
              <a:rPr sz="1100" b="0">
                <a:solidFill>
                  <a:schemeClr val="bg1"/>
                </a:solidFill>
                <a:latin typeface="Maple Mono NF"/>
              </a:rPr>
              <a:t> = </a:t>
            </a:r>
            <a:r>
              <a:rPr sz="1100" b="0">
                <a:solidFill>
                  <a:schemeClr val="accent2"/>
                </a:solidFill>
                <a:latin typeface="Maple Mono NF"/>
              </a:rPr>
              <a:t>None</a:t>
            </a:r>
          </a:p>
          <a:p>
            <a:pPr algn="l">
              <a:buNone/>
            </a:pPr>
            <a:r>
              <a:rPr sz="1100" b="0">
                <a:solidFill>
                  <a:schemeClr val="bg1"/>
                </a:solidFill>
                <a:latin typeface="Maple Mono NF"/>
              </a:rPr>
              <a:t>    alert_id: str | </a:t>
            </a:r>
            <a:r>
              <a:rPr sz="1100" b="0">
                <a:solidFill>
                  <a:schemeClr val="accent2"/>
                </a:solidFill>
                <a:latin typeface="Maple Mono NF"/>
              </a:rPr>
              <a:t>None</a:t>
            </a:r>
            <a:r>
              <a:rPr sz="1100" b="0">
                <a:solidFill>
                  <a:schemeClr val="bg1"/>
                </a:solidFill>
                <a:latin typeface="Maple Mono NF"/>
              </a:rPr>
              <a:t> = </a:t>
            </a:r>
            <a:r>
              <a:rPr sz="1100" b="0">
                <a:solidFill>
                  <a:schemeClr val="accent2"/>
                </a:solidFill>
                <a:latin typeface="Maple Mono NF"/>
              </a:rPr>
              <a:t>None</a:t>
            </a:r>
          </a:p>
          <a:p>
            <a:pPr algn="l">
              <a:buNone/>
            </a:pPr>
            <a:r>
              <a:rPr sz="1100" b="0">
                <a:solidFill>
                  <a:schemeClr val="bg1"/>
                </a:solidFill>
                <a:latin typeface="Maple Mono NF"/>
              </a:rPr>
              <a:t>    limit: int | </a:t>
            </a:r>
            <a:r>
              <a:rPr sz="1100" b="0">
                <a:solidFill>
                  <a:schemeClr val="accent2"/>
                </a:solidFill>
                <a:latin typeface="Maple Mono NF"/>
              </a:rPr>
              <a:t>None</a:t>
            </a:r>
            <a:r>
              <a:rPr sz="1100" b="0">
                <a:solidFill>
                  <a:schemeClr val="bg1"/>
                </a:solidFill>
                <a:latin typeface="Maple Mono NF"/>
              </a:rPr>
              <a:t> = </a:t>
            </a:r>
            <a:r>
              <a:rPr sz="1100" b="0">
                <a:solidFill>
                  <a:schemeClr val="accent2"/>
                </a:solidFill>
                <a:latin typeface="Maple Mono NF"/>
              </a:rPr>
              <a:t>None</a:t>
            </a:r>
          </a:p>
          <a:p>
            <a:pPr algn="l">
              <a:buNone/>
            </a:pPr>
            <a:endParaRPr sz="1100" b="0">
              <a:solidFill>
                <a:schemeClr val="accent2"/>
              </a:solidFill>
              <a:latin typeface="Maple Mono NF"/>
            </a:endParaRPr>
          </a:p>
          <a:p>
            <a:pPr algn="l">
              <a:buNone/>
            </a:pPr>
            <a:r>
              <a:rPr sz="1100" b="0">
                <a:solidFill>
                  <a:schemeClr val="accent2"/>
                </a:solidFill>
                <a:latin typeface="Maple Mono NF"/>
              </a:rPr>
              <a:t>class</a:t>
            </a:r>
            <a:r>
              <a:rPr sz="1100" b="0">
                <a:solidFill>
                  <a:schemeClr val="bg1"/>
                </a:solidFill>
                <a:latin typeface="Maple Mono NF"/>
              </a:rPr>
              <a:t> AlertEvent(Event):</a:t>
            </a:r>
          </a:p>
          <a:p>
            <a:pPr algn="l">
              <a:buNone/>
            </a:pPr>
            <a:r>
              <a:rPr sz="1100" b="0">
                <a:solidFill>
                  <a:schemeClr val="bg1"/>
                </a:solidFill>
                <a:latin typeface="Maple Mono NF"/>
              </a:rPr>
              <a:t>    alert_id: str</a:t>
            </a:r>
          </a:p>
        </p:txBody>
      </p:sp>
      <p:sp>
        <p:nvSpPr>
          <p:cNvPr id="10" name="Rectangle 9"/>
          <p:cNvSpPr/>
          <p:nvPr/>
        </p:nvSpPr>
        <p:spPr>
          <a:xfrm>
            <a:off x="319251" y="413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StartEvent's fields are run()'s keyword arguments. alert_id is the correlation key across alerts.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step's signature declares its events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signature names the event the step accepts and the event it returns. The store on the Context holds per-run state.</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event_driven/workflow.py, start. Docstring omitted</a:t>
            </a:r>
          </a:p>
        </p:txBody>
      </p:sp>
      <p:sp>
        <p:nvSpPr>
          <p:cNvPr id="5" name="CodeWindow"/>
          <p:cNvSpPr/>
          <p:nvPr/>
        </p:nvSpPr>
        <p:spPr>
          <a:xfrm>
            <a:off x="319251" y="1650000"/>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267468" cy="1354217"/>
          </a:xfrm>
          <a:prstGeom prst="rect">
            <a:avLst/>
          </a:prstGeom>
          <a:noFill/>
        </p:spPr>
        <p:txBody>
          <a:bodyPr wrap="none" lIns="0" tIns="0" rIns="0" bIns="0" anchor="t">
            <a:spAutoFit/>
          </a:bodyPr>
          <a:lstStyle/>
          <a:p>
            <a:pPr algn="l">
              <a:buNone/>
            </a:pPr>
            <a:r>
              <a:rPr sz="1100" b="0" dirty="0">
                <a:solidFill>
                  <a:schemeClr val="bg1"/>
                </a:solidFill>
                <a:latin typeface="Maple Mono NF"/>
              </a:rPr>
              <a:t>@step</a:t>
            </a:r>
          </a:p>
          <a:p>
            <a:pPr algn="l">
              <a:buNone/>
            </a:pPr>
            <a:r>
              <a:rPr sz="1100" b="0" dirty="0">
                <a:solidFill>
                  <a:schemeClr val="bg1"/>
                </a:solidFill>
                <a:latin typeface="Maple Mono NF"/>
              </a:rPr>
              <a:t>async </a:t>
            </a:r>
            <a:r>
              <a:rPr sz="1100" b="0" dirty="0">
                <a:solidFill>
                  <a:schemeClr val="accent2"/>
                </a:solidFill>
                <a:latin typeface="Maple Mono NF"/>
              </a:rPr>
              <a:t>def</a:t>
            </a:r>
            <a:r>
              <a:rPr sz="1100" b="0" dirty="0">
                <a:solidFill>
                  <a:schemeClr val="bg1"/>
                </a:solidFill>
                <a:latin typeface="Maple Mono NF"/>
              </a:rPr>
              <a:t> start(</a:t>
            </a:r>
            <a:r>
              <a:rPr sz="1100" b="0" dirty="0">
                <a:solidFill>
                  <a:schemeClr val="accent2"/>
                </a:solidFill>
                <a:latin typeface="Maple Mono NF"/>
              </a:rPr>
              <a:t>self</a:t>
            </a:r>
            <a:r>
              <a:rPr sz="1100" b="0" dirty="0">
                <a:solidFill>
                  <a:schemeClr val="bg1"/>
                </a:solidFill>
                <a:latin typeface="Maple Mono NF"/>
              </a:rPr>
              <a:t>, </a:t>
            </a:r>
            <a:r>
              <a:rPr sz="1100" b="0" dirty="0" err="1">
                <a:solidFill>
                  <a:schemeClr val="bg1"/>
                </a:solidFill>
                <a:latin typeface="Maple Mono NF"/>
              </a:rPr>
              <a:t>ctx</a:t>
            </a:r>
            <a:r>
              <a:rPr sz="1100" b="0" dirty="0">
                <a:solidFill>
                  <a:schemeClr val="bg1"/>
                </a:solidFill>
                <a:latin typeface="Maple Mono NF"/>
              </a:rPr>
              <a:t>: Context[</a:t>
            </a:r>
            <a:r>
              <a:rPr sz="1100" b="0" dirty="0" err="1">
                <a:solidFill>
                  <a:schemeClr val="bg1"/>
                </a:solidFill>
                <a:latin typeface="Maple Mono NF"/>
              </a:rPr>
              <a:t>RunState</a:t>
            </a:r>
            <a:r>
              <a:rPr sz="1100" b="0" dirty="0">
                <a:solidFill>
                  <a:schemeClr val="bg1"/>
                </a:solidFill>
                <a:latin typeface="Maple Mono NF"/>
              </a:rPr>
              <a:t>],</a:t>
            </a:r>
          </a:p>
          <a:p>
            <a:pPr algn="l">
              <a:buNone/>
            </a:pPr>
            <a:r>
              <a:rPr sz="1100" b="0" dirty="0">
                <a:solidFill>
                  <a:schemeClr val="bg1"/>
                </a:solidFill>
                <a:latin typeface="Maple Mono NF"/>
              </a:rPr>
              <a:t>                </a:t>
            </a:r>
            <a:r>
              <a:rPr sz="1100" b="0" dirty="0" err="1">
                <a:solidFill>
                  <a:schemeClr val="bg1"/>
                </a:solidFill>
                <a:latin typeface="Maple Mono NF"/>
              </a:rPr>
              <a:t>ev</a:t>
            </a:r>
            <a:r>
              <a:rPr sz="1100" b="0" dirty="0">
                <a:solidFill>
                  <a:schemeClr val="bg1"/>
                </a:solidFill>
                <a:latin typeface="Maple Mono NF"/>
              </a:rPr>
              <a:t>: </a:t>
            </a:r>
            <a:r>
              <a:rPr sz="1100" b="1" u="sng" dirty="0" err="1">
                <a:solidFill>
                  <a:srgbClr val="FFC000"/>
                </a:solidFill>
                <a:latin typeface="Maple Mono NF"/>
              </a:rPr>
              <a:t>RunRequested</a:t>
            </a:r>
            <a:r>
              <a:rPr sz="1100" b="0" dirty="0">
                <a:solidFill>
                  <a:schemeClr val="bg1"/>
                </a:solidFill>
                <a:latin typeface="Maple Mono NF"/>
              </a:rPr>
              <a:t>) -&gt; </a:t>
            </a:r>
            <a:r>
              <a:rPr sz="1100" b="1" dirty="0" err="1">
                <a:solidFill>
                  <a:schemeClr val="accent4">
                    <a:lumMod val="70000"/>
                    <a:lumOff val="30000"/>
                  </a:schemeClr>
                </a:solidFill>
                <a:latin typeface="Maple Mono NF"/>
              </a:rPr>
              <a:t>ScanRequested</a:t>
            </a:r>
            <a:r>
              <a:rPr sz="1100" b="0" dirty="0">
                <a:solidFill>
                  <a:schemeClr val="bg1"/>
                </a:solidFill>
                <a:latin typeface="Maple Mono NF"/>
              </a:rPr>
              <a:t>:</a:t>
            </a:r>
          </a:p>
          <a:p>
            <a:pPr algn="l">
              <a:buNone/>
            </a:pPr>
            <a:r>
              <a:rPr sz="1100" b="0" dirty="0">
                <a:solidFill>
                  <a:schemeClr val="bg1"/>
                </a:solidFill>
                <a:latin typeface="Maple Mono NF"/>
              </a:rPr>
              <a:t>    async </a:t>
            </a:r>
            <a:r>
              <a:rPr sz="1100" b="0" dirty="0">
                <a:solidFill>
                  <a:schemeClr val="accent2"/>
                </a:solidFill>
                <a:latin typeface="Maple Mono NF"/>
              </a:rPr>
              <a:t>with</a:t>
            </a:r>
            <a:r>
              <a:rPr sz="1100" b="0" dirty="0">
                <a:solidFill>
                  <a:schemeClr val="bg1"/>
                </a:solidFill>
                <a:latin typeface="Maple Mono NF"/>
              </a:rPr>
              <a:t> </a:t>
            </a:r>
            <a:r>
              <a:rPr sz="1100" b="0" dirty="0" err="1">
                <a:solidFill>
                  <a:schemeClr val="bg1"/>
                </a:solidFill>
                <a:latin typeface="Maple Mono NF"/>
              </a:rPr>
              <a:t>ctx.store.edit_state</a:t>
            </a:r>
            <a:r>
              <a:rPr sz="1100" b="0" dirty="0">
                <a:solidFill>
                  <a:schemeClr val="bg1"/>
                </a:solidFill>
                <a:latin typeface="Maple Mono NF"/>
              </a:rPr>
              <a:t>() </a:t>
            </a:r>
            <a:r>
              <a:rPr sz="1100" b="0" dirty="0">
                <a:solidFill>
                  <a:schemeClr val="accent2"/>
                </a:solidFill>
                <a:latin typeface="Maple Mono NF"/>
              </a:rPr>
              <a:t>as</a:t>
            </a:r>
            <a:r>
              <a:rPr sz="1100" b="0" dirty="0">
                <a:solidFill>
                  <a:schemeClr val="bg1"/>
                </a:solidFill>
                <a:latin typeface="Maple Mono NF"/>
              </a:rPr>
              <a:t> s:</a:t>
            </a:r>
          </a:p>
          <a:p>
            <a:pPr algn="l">
              <a:buNone/>
            </a:pPr>
            <a:r>
              <a:rPr sz="1100" b="0" dirty="0">
                <a:solidFill>
                  <a:schemeClr val="bg1"/>
                </a:solidFill>
                <a:latin typeface="Maple Mono NF"/>
              </a:rPr>
              <a:t>        </a:t>
            </a:r>
            <a:r>
              <a:rPr sz="1100" b="0" dirty="0" err="1">
                <a:solidFill>
                  <a:schemeClr val="bg1"/>
                </a:solidFill>
                <a:latin typeface="Maple Mono NF"/>
              </a:rPr>
              <a:t>s.filters</a:t>
            </a:r>
            <a:r>
              <a:rPr sz="1100" b="0" dirty="0">
                <a:solidFill>
                  <a:schemeClr val="bg1"/>
                </a:solidFill>
                <a:latin typeface="Maple Mono NF"/>
              </a:rPr>
              <a:t> = {</a:t>
            </a:r>
            <a:r>
              <a:rPr sz="1100" b="0" dirty="0">
                <a:solidFill>
                  <a:schemeClr val="accent3">
                    <a:lumMod val="55000"/>
                    <a:lumOff val="45000"/>
                  </a:schemeClr>
                </a:solidFill>
                <a:latin typeface="Maple Mono NF"/>
              </a:rPr>
              <a:t>"rule"</a:t>
            </a:r>
            <a:r>
              <a:rPr sz="1100" b="0" dirty="0">
                <a:solidFill>
                  <a:schemeClr val="bg1"/>
                </a:solidFill>
                <a:latin typeface="Maple Mono NF"/>
              </a:rPr>
              <a:t>: </a:t>
            </a:r>
            <a:r>
              <a:rPr sz="1100" b="0" dirty="0" err="1">
                <a:solidFill>
                  <a:schemeClr val="bg1"/>
                </a:solidFill>
                <a:latin typeface="Maple Mono NF"/>
              </a:rPr>
              <a:t>ev.rule</a:t>
            </a:r>
            <a:r>
              <a:rPr sz="1100" b="0" dirty="0">
                <a:solidFill>
                  <a:schemeClr val="bg1"/>
                </a:solidFill>
                <a:latin typeface="Maple Mono NF"/>
              </a:rPr>
              <a:t>, </a:t>
            </a:r>
            <a:r>
              <a:rPr sz="1100" b="0" dirty="0">
                <a:solidFill>
                  <a:schemeClr val="accent3">
                    <a:lumMod val="55000"/>
                    <a:lumOff val="45000"/>
                  </a:schemeClr>
                </a:solidFill>
                <a:latin typeface="Maple Mono NF"/>
              </a:rPr>
              <a:t>"</a:t>
            </a:r>
            <a:r>
              <a:rPr sz="1100" b="0" dirty="0" err="1">
                <a:solidFill>
                  <a:schemeClr val="accent3">
                    <a:lumMod val="55000"/>
                    <a:lumOff val="45000"/>
                  </a:schemeClr>
                </a:solidFill>
                <a:latin typeface="Maple Mono NF"/>
              </a:rPr>
              <a:t>alert_id</a:t>
            </a:r>
            <a:r>
              <a:rPr sz="1100" b="0" dirty="0">
                <a:solidFill>
                  <a:schemeClr val="accent3">
                    <a:lumMod val="55000"/>
                    <a:lumOff val="45000"/>
                  </a:schemeClr>
                </a:solidFill>
                <a:latin typeface="Maple Mono NF"/>
              </a:rPr>
              <a:t>"</a:t>
            </a:r>
            <a:r>
              <a:rPr sz="1100" b="0" dirty="0">
                <a:solidFill>
                  <a:schemeClr val="bg1"/>
                </a:solidFill>
                <a:latin typeface="Maple Mono NF"/>
              </a:rPr>
              <a:t>: </a:t>
            </a:r>
            <a:r>
              <a:rPr sz="1100" b="0" dirty="0" err="1">
                <a:solidFill>
                  <a:schemeClr val="bg1"/>
                </a:solidFill>
                <a:latin typeface="Maple Mono NF"/>
              </a:rPr>
              <a:t>ev.alert_id</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3">
                    <a:lumMod val="55000"/>
                    <a:lumOff val="45000"/>
                  </a:schemeClr>
                </a:solidFill>
                <a:latin typeface="Maple Mono NF"/>
              </a:rPr>
              <a:t>"limit"</a:t>
            </a:r>
            <a:r>
              <a:rPr sz="1100" b="0" dirty="0">
                <a:solidFill>
                  <a:schemeClr val="bg1"/>
                </a:solidFill>
                <a:latin typeface="Maple Mono NF"/>
              </a:rPr>
              <a:t>: </a:t>
            </a:r>
            <a:r>
              <a:rPr sz="1100" b="0" dirty="0" err="1">
                <a:solidFill>
                  <a:schemeClr val="bg1"/>
                </a:solidFill>
                <a:latin typeface="Maple Mono NF"/>
              </a:rPr>
              <a:t>ev.limit</a:t>
            </a:r>
            <a:r>
              <a:rPr sz="1100" b="0" dirty="0">
                <a:solidFill>
                  <a:schemeClr val="bg1"/>
                </a:solidFill>
                <a:latin typeface="Maple Mono NF"/>
              </a:rPr>
              <a:t>}</a:t>
            </a:r>
          </a:p>
          <a:p>
            <a:pPr algn="l">
              <a:buNone/>
            </a:pPr>
            <a:r>
              <a:rPr sz="1100" b="0" dirty="0">
                <a:solidFill>
                  <a:schemeClr val="accent6"/>
                </a:solidFill>
                <a:latin typeface="Maple Mono NF"/>
              </a:rPr>
              <a:t>    # The runtime decides to scan; no model is asked.</a:t>
            </a:r>
          </a:p>
          <a:p>
            <a:pPr algn="l">
              <a:buNone/>
            </a:pPr>
            <a:r>
              <a:rPr sz="1100" b="0" dirty="0">
                <a:solidFill>
                  <a:schemeClr val="bg1"/>
                </a:solidFill>
                <a:latin typeface="Maple Mono NF"/>
              </a:rPr>
              <a:t>    </a:t>
            </a:r>
            <a:r>
              <a:rPr sz="1100" b="0" dirty="0">
                <a:solidFill>
                  <a:schemeClr val="accent2"/>
                </a:solidFill>
                <a:latin typeface="Maple Mono NF"/>
              </a:rPr>
              <a:t>return</a:t>
            </a:r>
            <a:r>
              <a:rPr sz="1100" b="0" dirty="0">
                <a:solidFill>
                  <a:schemeClr val="bg1"/>
                </a:solidFill>
                <a:latin typeface="Maple Mono NF"/>
              </a:rPr>
              <a:t> </a:t>
            </a:r>
            <a:r>
              <a:rPr sz="1100" b="1" dirty="0" err="1">
                <a:solidFill>
                  <a:schemeClr val="accent4">
                    <a:lumMod val="70000"/>
                    <a:lumOff val="30000"/>
                  </a:schemeClr>
                </a:solidFill>
                <a:latin typeface="Maple Mono NF"/>
              </a:rPr>
              <a:t>ScanRequested</a:t>
            </a:r>
            <a:r>
              <a:rPr sz="1100" b="0" dirty="0">
                <a:solidFill>
                  <a:schemeClr val="bg1"/>
                </a:solidFill>
                <a:latin typeface="Maple Mono NF"/>
              </a:rPr>
              <a:t>(root=str(</a:t>
            </a:r>
            <a:r>
              <a:rPr sz="1100" b="0" dirty="0" err="1">
                <a:solidFill>
                  <a:schemeClr val="accent2"/>
                </a:solidFill>
                <a:latin typeface="Maple Mono NF"/>
              </a:rPr>
              <a:t>self</a:t>
            </a:r>
            <a:r>
              <a:rPr sz="1100" b="0" dirty="0" err="1">
                <a:solidFill>
                  <a:schemeClr val="bg1"/>
                </a:solidFill>
                <a:latin typeface="Maple Mono NF"/>
              </a:rPr>
              <a:t>.config.fixture</a:t>
            </a:r>
            <a:r>
              <a:rPr sz="1100" b="0" dirty="0">
                <a:solidFill>
                  <a:schemeClr val="bg1"/>
                </a:solidFill>
                <a:latin typeface="Maple Mono NF"/>
              </a:rPr>
              <a:t>))</a:t>
            </a:r>
          </a:p>
        </p:txBody>
      </p:sp>
      <p:sp>
        <p:nvSpPr>
          <p:cNvPr id="10" name="Rectangle 9"/>
          <p:cNvSpPr/>
          <p:nvPr/>
        </p:nvSpPr>
        <p:spPr>
          <a:xfrm>
            <a:off x="319251" y="392000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returned event triggers the next step whose annotation accepts it. edit_state() guards an update that must not interleave with another step's.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Admission: reserving a call under the lock</a:t>
            </a:r>
          </a:p>
        </p:txBody>
      </p:sp>
      <p:sp>
        <p:nvSpPr>
          <p:cNvPr id="3" name="Content Placeholder 2"/>
          <p:cNvSpPr>
            <a:spLocks noGrp="1"/>
          </p:cNvSpPr>
          <p:nvPr>
            <p:ph idx="1"/>
          </p:nvPr>
        </p:nvSpPr>
        <p:spPr>
          <a:xfrm>
            <a:off x="319251" y="700000"/>
            <a:ext cx="6014545" cy="500000"/>
          </a:xfrm>
        </p:spPr>
        <p:txBody>
          <a:bodyPr wrap="square" anchor="ctr"/>
          <a:lstStyle/>
          <a:p>
            <a:pPr marL="0" indent="0">
              <a:buNone/>
            </a:pPr>
            <a:r>
              <a:rPr sz="1400" b="1">
                <a:solidFill>
                  <a:srgbClr val="28285E"/>
                </a:solidFill>
              </a:rPr>
              <a:t>plan and controller call _admit before every model call.</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event_driven/workflow.py, _admit. Docstring omitted</a:t>
            </a:r>
          </a:p>
        </p:txBody>
      </p:sp>
      <p:sp>
        <p:nvSpPr>
          <p:cNvPr id="5" name="CodeWindow"/>
          <p:cNvSpPr/>
          <p:nvPr/>
        </p:nvSpPr>
        <p:spPr>
          <a:xfrm>
            <a:off x="319251" y="1650000"/>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680000"/>
          </a:xfrm>
          <a:prstGeom prst="rect">
            <a:avLst/>
          </a:prstGeom>
          <a:noFill/>
        </p:spPr>
        <p:txBody>
          <a:bodyPr wrap="none" lIns="0" tIns="0" rIns="0" bIns="0" anchor="t">
            <a:spAutoFit/>
          </a:bodyPr>
          <a:lstStyle/>
          <a:p>
            <a:pPr algn="l">
              <a:buNone/>
            </a:pPr>
            <a:r>
              <a:rPr sz="1100" b="0">
                <a:solidFill>
                  <a:schemeClr val="bg1"/>
                </a:solidFill>
                <a:latin typeface="Maple Mono NF"/>
              </a:rPr>
              <a:t>async </a:t>
            </a:r>
            <a:r>
              <a:rPr sz="1100" b="0">
                <a:solidFill>
                  <a:schemeClr val="accent2"/>
                </a:solidFill>
                <a:latin typeface="Maple Mono NF"/>
              </a:rPr>
              <a:t>def</a:t>
            </a:r>
            <a:r>
              <a:rPr sz="1100" b="0">
                <a:solidFill>
                  <a:schemeClr val="bg1"/>
                </a:solidFill>
                <a:latin typeface="Maple Mono NF"/>
              </a:rPr>
              <a:t> _admit(</a:t>
            </a:r>
            <a:r>
              <a:rPr sz="1100" b="0">
                <a:solidFill>
                  <a:schemeClr val="accent2"/>
                </a:solidFill>
                <a:latin typeface="Maple Mono NF"/>
              </a:rPr>
              <a:t>self</a:t>
            </a:r>
            <a:r>
              <a:rPr sz="1100" b="0">
                <a:solidFill>
                  <a:schemeClr val="bg1"/>
                </a:solidFill>
                <a:latin typeface="Maple Mono NF"/>
              </a:rPr>
              <a:t>, ctx: Context[RunState],</a:t>
            </a:r>
          </a:p>
          <a:p>
            <a:pPr algn="l">
              <a:buNone/>
            </a:pPr>
            <a:r>
              <a:rPr sz="1100" b="0">
                <a:solidFill>
                  <a:schemeClr val="bg1"/>
                </a:solidFill>
                <a:latin typeface="Maple Mono NF"/>
              </a:rPr>
              <a:t>                 alert_id: str) -&gt; bool:</a:t>
            </a:r>
          </a:p>
          <a:p>
            <a:pPr algn="l">
              <a:buNone/>
            </a:pPr>
            <a:r>
              <a:rPr sz="1100" b="0">
                <a:solidFill>
                  <a:schemeClr val="bg1"/>
                </a:solidFill>
                <a:latin typeface="Maple Mono NF"/>
              </a:rPr>
              <a:t>    async </a:t>
            </a:r>
            <a:r>
              <a:rPr sz="1100" b="0">
                <a:solidFill>
                  <a:schemeClr val="accent2"/>
                </a:solidFill>
                <a:latin typeface="Maple Mono NF"/>
              </a:rPr>
              <a:t>with</a:t>
            </a:r>
            <a:r>
              <a:rPr sz="1100" b="0">
                <a:solidFill>
                  <a:schemeClr val="bg1"/>
                </a:solidFill>
                <a:latin typeface="Maple Mono NF"/>
              </a:rPr>
              <a:t> ctx.store.</a:t>
            </a:r>
            <a:r>
              <a:rPr sz="1100" b="1">
                <a:solidFill>
                  <a:schemeClr val="accent4">
                    <a:lumMod val="70000"/>
                    <a:lumOff val="30000"/>
                  </a:schemeClr>
                </a:solidFill>
                <a:latin typeface="Maple Mono NF"/>
              </a:rPr>
              <a:t>edit_state</a:t>
            </a:r>
            <a:r>
              <a:rPr sz="1100" b="0">
                <a:solidFill>
                  <a:schemeClr val="bg1"/>
                </a:solidFill>
                <a:latin typeface="Maple Mono NF"/>
              </a:rPr>
              <a:t>() </a:t>
            </a:r>
            <a:r>
              <a:rPr sz="1100" b="0">
                <a:solidFill>
                  <a:schemeClr val="accent2"/>
                </a:solidFill>
                <a:latin typeface="Maple Mono NF"/>
              </a:rPr>
              <a:t>as</a:t>
            </a:r>
            <a:r>
              <a:rPr sz="1100" b="0">
                <a:solidFill>
                  <a:schemeClr val="bg1"/>
                </a:solidFill>
                <a:latin typeface="Maple Mono NF"/>
              </a:rPr>
              <a:t> s:</a:t>
            </a:r>
          </a:p>
          <a:p>
            <a:pPr algn="l">
              <a:buNone/>
            </a:pPr>
            <a:r>
              <a:rPr sz="1100" b="0">
                <a:solidFill>
                  <a:schemeClr val="bg1"/>
                </a:solidFill>
                <a:latin typeface="Maple Mono NF"/>
              </a:rPr>
              <a:t>        a = s.alerts[alert_id]</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a.model_calls &gt;= </a:t>
            </a:r>
            <a:r>
              <a:rPr sz="1100" b="0">
                <a:solidFill>
                  <a:schemeClr val="accent2"/>
                </a:solidFill>
                <a:latin typeface="Maple Mono NF"/>
              </a:rPr>
              <a:t>self</a:t>
            </a:r>
            <a:r>
              <a:rPr sz="1100" b="0">
                <a:solidFill>
                  <a:schemeClr val="bg1"/>
                </a:solidFill>
                <a:latin typeface="Maple Mono NF"/>
              </a:rPr>
              <a:t>.config.budget: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2"/>
                </a:solidFill>
                <a:latin typeface="Maple Mono NF"/>
              </a:rPr>
              <a:t>False</a:t>
            </a:r>
          </a:p>
          <a:p>
            <a:pPr algn="l">
              <a:buNone/>
            </a:pPr>
            <a:r>
              <a:rPr sz="1100" b="0">
                <a:solidFill>
                  <a:schemeClr val="bg1"/>
                </a:solidFill>
                <a:latin typeface="Maple Mono NF"/>
              </a:rPr>
              <a:t>        a.model_calls += </a:t>
            </a:r>
            <a:r>
              <a:rPr sz="1100" b="0">
                <a:solidFill>
                  <a:schemeClr val="accent5">
                    <a:lumMod val="45000"/>
                    <a:lumOff val="55000"/>
                  </a:schemeClr>
                </a:solidFill>
                <a:latin typeface="Maple Mono NF"/>
              </a:rPr>
              <a:t>1</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2"/>
                </a:solidFill>
                <a:latin typeface="Maple Mono NF"/>
              </a:rPr>
              <a:t>True</a:t>
            </a:r>
          </a:p>
        </p:txBody>
      </p:sp>
      <p:sp>
        <p:nvSpPr>
          <p:cNvPr id="10" name="Rectangle 9"/>
          <p:cNvSpPr/>
          <p:nvPr/>
        </p:nvSpPr>
        <p:spPr>
          <a:xfrm>
            <a:off x="319251" y="392000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check and the reservation happen under one lock, so two steps admitted at the same moment cannot both take the last call.</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Fan-out: send_event and the annotation</a:t>
            </a:r>
          </a:p>
        </p:txBody>
      </p:sp>
      <p:sp>
        <p:nvSpPr>
          <p:cNvPr id="3" name="Content Placeholder 2"/>
          <p:cNvSpPr>
            <a:spLocks noGrp="1"/>
          </p:cNvSpPr>
          <p:nvPr>
            <p:ph idx="1"/>
          </p:nvPr>
        </p:nvSpPr>
        <p:spPr>
          <a:xfrm>
            <a:off x="319251" y="700000"/>
            <a:ext cx="6014545" cy="500000"/>
          </a:xfrm>
        </p:spPr>
        <p:txBody>
          <a:bodyPr wrap="square" anchor="ctr">
            <a:normAutofit fontScale="85000" lnSpcReduction="10000"/>
          </a:bodyPr>
          <a:lstStyle/>
          <a:p>
            <a:pPr marL="0" indent="0">
              <a:buNone/>
            </a:pPr>
            <a:r>
              <a:rPr sz="1400" b="1">
                <a:solidFill>
                  <a:srgbClr val="28285E"/>
                </a:solidFill>
              </a:rPr>
              <a:t>A step can return only one event, so submit sends one ValidateRequested per lens.</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event_driven/workflow.py, submit. Docstring omitted; one call over three lines</a:t>
            </a:r>
          </a:p>
        </p:txBody>
      </p:sp>
      <p:sp>
        <p:nvSpPr>
          <p:cNvPr id="5" name="CodeWindow"/>
          <p:cNvSpPr/>
          <p:nvPr/>
        </p:nvSpPr>
        <p:spPr>
          <a:xfrm>
            <a:off x="319251" y="1650000"/>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680000"/>
          </a:xfrm>
          <a:prstGeom prst="rect">
            <a:avLst/>
          </a:prstGeom>
          <a:noFill/>
        </p:spPr>
        <p:txBody>
          <a:bodyPr wrap="none" lIns="0" tIns="0" rIns="0" bIns="0" anchor="t">
            <a:spAutoFit/>
          </a:bodyPr>
          <a:lstStyle/>
          <a:p>
            <a:pPr algn="l">
              <a:buNone/>
            </a:pPr>
            <a:r>
              <a:rPr sz="1100" b="0">
                <a:solidFill>
                  <a:schemeClr val="bg1"/>
                </a:solidFill>
                <a:latin typeface="Maple Mono NF"/>
              </a:rPr>
              <a:t>@step</a:t>
            </a:r>
          </a:p>
          <a:p>
            <a:pPr algn="l">
              <a:buNone/>
            </a:pPr>
            <a:r>
              <a:rPr sz="1100" b="0">
                <a:solidFill>
                  <a:schemeClr val="bg1"/>
                </a:solidFill>
                <a:latin typeface="Maple Mono NF"/>
              </a:rPr>
              <a:t>async </a:t>
            </a:r>
            <a:r>
              <a:rPr sz="1100" b="0">
                <a:solidFill>
                  <a:schemeClr val="accent2"/>
                </a:solidFill>
                <a:latin typeface="Maple Mono NF"/>
              </a:rPr>
              <a:t>def</a:t>
            </a:r>
            <a:r>
              <a:rPr sz="1100" b="0">
                <a:solidFill>
                  <a:schemeClr val="bg1"/>
                </a:solidFill>
                <a:latin typeface="Maple Mono NF"/>
              </a:rPr>
              <a:t> submit(</a:t>
            </a:r>
            <a:r>
              <a:rPr sz="1100" b="0">
                <a:solidFill>
                  <a:schemeClr val="accent2"/>
                </a:solidFill>
                <a:latin typeface="Maple Mono NF"/>
              </a:rPr>
              <a:t>self</a:t>
            </a:r>
            <a:r>
              <a:rPr sz="1100" b="0">
                <a:solidFill>
                  <a:schemeClr val="bg1"/>
                </a:solidFill>
                <a:latin typeface="Maple Mono NF"/>
              </a:rPr>
              <a:t>, ctx: Context[RunState], ev: Submitted</a:t>
            </a:r>
          </a:p>
          <a:p>
            <a:pPr algn="l">
              <a:buNone/>
            </a:pPr>
            <a:r>
              <a:rPr sz="1100" b="0">
                <a:solidFill>
                  <a:schemeClr val="bg1"/>
                </a:solidFill>
                <a:latin typeface="Maple Mono NF"/>
              </a:rPr>
              <a:t>                 ) -&gt; ChecksFailed | ValidateRequested | </a:t>
            </a:r>
            <a:r>
              <a:rPr sz="1100" b="0">
                <a:solidFill>
                  <a:schemeClr val="accent2"/>
                </a:solidFill>
                <a:latin typeface="Maple Mono NF"/>
              </a:rPr>
              <a:t>None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for</a:t>
            </a:r>
            <a:r>
              <a:rPr sz="1100" b="0">
                <a:solidFill>
                  <a:schemeClr val="bg1"/>
                </a:solidFill>
                <a:latin typeface="Maple Mono NF"/>
              </a:rPr>
              <a:t> lens </a:t>
            </a:r>
            <a:r>
              <a:rPr sz="1100" b="0">
                <a:solidFill>
                  <a:schemeClr val="accent2"/>
                </a:solidFill>
                <a:latin typeface="Maple Mono NF"/>
              </a:rPr>
              <a:t>in</a:t>
            </a:r>
            <a:r>
              <a:rPr sz="1100" b="0">
                <a:solidFill>
                  <a:schemeClr val="bg1"/>
                </a:solidFill>
                <a:latin typeface="Maple Mono NF"/>
              </a:rPr>
              <a:t> list(Lens)[:</a:t>
            </a:r>
            <a:r>
              <a:rPr sz="1100" b="0">
                <a:solidFill>
                  <a:schemeClr val="accent2"/>
                </a:solidFill>
                <a:latin typeface="Maple Mono NF"/>
              </a:rPr>
              <a:t>self</a:t>
            </a:r>
            <a:r>
              <a:rPr sz="1100" b="0">
                <a:solidFill>
                  <a:schemeClr val="bg1"/>
                </a:solidFill>
                <a:latin typeface="Maple Mono NF"/>
              </a:rPr>
              <a:t>.validators]:</a:t>
            </a:r>
          </a:p>
          <a:p>
            <a:pPr algn="l">
              <a:buNone/>
            </a:pPr>
            <a:r>
              <a:rPr sz="1100" b="0">
                <a:solidFill>
                  <a:schemeClr val="bg1"/>
                </a:solidFill>
                <a:latin typeface="Maple Mono NF"/>
              </a:rPr>
              <a:t>        ctx.</a:t>
            </a:r>
            <a:r>
              <a:rPr sz="1100" b="1">
                <a:solidFill>
                  <a:schemeClr val="accent4">
                    <a:lumMod val="70000"/>
                    <a:lumOff val="30000"/>
                  </a:schemeClr>
                </a:solidFill>
                <a:latin typeface="Maple Mono NF"/>
              </a:rPr>
              <a:t>send_event</a:t>
            </a:r>
            <a:r>
              <a:rPr sz="1100" b="0">
                <a:solidFill>
                  <a:schemeClr val="bg1"/>
                </a:solidFill>
                <a:latin typeface="Maple Mono NF"/>
              </a:rPr>
              <a:t>(ValidateRequested(alert_id=ev.alert_id,</a:t>
            </a:r>
          </a:p>
          <a:p>
            <a:pPr algn="l">
              <a:buNone/>
            </a:pPr>
            <a:r>
              <a:rPr sz="1100" b="0">
                <a:solidFill>
                  <a:schemeClr val="bg1"/>
                </a:solidFill>
                <a:latin typeface="Maple Mono NF"/>
              </a:rPr>
              <a:t>                                         lens=lens, patch=</a:t>
            </a:r>
            <a:r>
              <a:rPr sz="1100" b="0">
                <a:solidFill>
                  <a:schemeClr val="accent3">
                    <a:lumMod val="55000"/>
                    <a:lumOff val="45000"/>
                  </a:schemeClr>
                </a:solidFill>
                <a:latin typeface="Maple Mono NF"/>
              </a:rPr>
              <a:t>""</a:t>
            </a:r>
            <a:r>
              <a:rPr sz="1100" b="0">
                <a:solidFill>
                  <a:schemeClr val="bg1"/>
                </a:solidFill>
                <a:latin typeface="Maple Mono NF"/>
              </a:rPr>
              <a:t>,</a:t>
            </a:r>
          </a:p>
          <a:p>
            <a:pPr algn="l">
              <a:buNone/>
            </a:pPr>
            <a:r>
              <a:rPr sz="1100" b="0">
                <a:solidFill>
                  <a:schemeClr val="bg1"/>
                </a:solidFill>
                <a:latin typeface="Maple Mono NF"/>
              </a:rPr>
              <a:t>                                         checks={</a:t>
            </a:r>
            <a:r>
              <a:rPr sz="1100" b="0">
                <a:solidFill>
                  <a:schemeClr val="accent3">
                    <a:lumMod val="55000"/>
                    <a:lumOff val="45000"/>
                  </a:schemeClr>
                </a:solidFill>
                <a:latin typeface="Maple Mono NF"/>
              </a:rPr>
              <a:t>"passed"</a:t>
            </a:r>
            <a:r>
              <a:rPr sz="1100" b="0">
                <a:solidFill>
                  <a:schemeClr val="bg1"/>
                </a:solidFill>
                <a:latin typeface="Maple Mono NF"/>
              </a:rPr>
              <a:t>: </a:t>
            </a:r>
            <a:r>
              <a:rPr sz="1100" b="0">
                <a:solidFill>
                  <a:schemeClr val="accent2"/>
                </a:solidFill>
                <a:latin typeface="Maple Mono NF"/>
              </a:rPr>
              <a:t>True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2"/>
                </a:solidFill>
                <a:latin typeface="Maple Mono NF"/>
              </a:rPr>
              <a:t>None</a:t>
            </a:r>
          </a:p>
        </p:txBody>
      </p:sp>
      <p:sp>
        <p:nvSpPr>
          <p:cNvPr id="10" name="Rectangle 9"/>
          <p:cNvSpPr/>
          <p:nvPr/>
        </p:nvSpPr>
        <p:spPr>
          <a:xfrm>
            <a:off x="319251" y="392000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submit still lists ValidateRequested in its return annotation, because the pre-run check requires every emitted event to have a consumer.</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StopEvent: how the run ends</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The gate step returns the StopEvent.</a:t>
            </a:r>
          </a:p>
        </p:txBody>
      </p:sp>
      <p:sp>
        <p:nvSpPr>
          <p:cNvPr id="4" name="TextBox 3"/>
          <p:cNvSpPr txBox="1"/>
          <p:nvPr/>
        </p:nvSpPr>
        <p:spPr>
          <a:xfrm>
            <a:off x="319251" y="1190000"/>
            <a:ext cx="6014545" cy="200000"/>
          </a:xfrm>
          <a:prstGeom prst="rect">
            <a:avLst/>
          </a:prstGeom>
          <a:noFill/>
        </p:spPr>
        <p:txBody>
          <a:bodyPr wrap="none" lIns="0" tIns="0" rIns="0" bIns="0">
            <a:spAutoFit/>
          </a:bodyPr>
          <a:lstStyle/>
          <a:p>
            <a:r>
              <a:rPr sz="1200" b="1">
                <a:solidFill>
                  <a:srgbClr val="28285E"/>
                </a:solidFill>
              </a:rPr>
              <a:t>event_driven/workflow.py, gate. Queueing and bookkeeping omitted</a:t>
            </a:r>
          </a:p>
        </p:txBody>
      </p:sp>
      <p:sp>
        <p:nvSpPr>
          <p:cNvPr id="5" name="CodeWindow"/>
          <p:cNvSpPr/>
          <p:nvPr/>
        </p:nvSpPr>
        <p:spPr>
          <a:xfrm>
            <a:off x="319251" y="1450000"/>
            <a:ext cx="6014545" cy="250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4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4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4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780000"/>
            <a:ext cx="5714545" cy="2100000"/>
          </a:xfrm>
          <a:prstGeom prst="rect">
            <a:avLst/>
          </a:prstGeom>
          <a:noFill/>
        </p:spPr>
        <p:txBody>
          <a:bodyPr wrap="none" lIns="0" tIns="0" rIns="0" bIns="0" anchor="t">
            <a:spAutoFit/>
          </a:bodyPr>
          <a:lstStyle/>
          <a:p>
            <a:pPr algn="l">
              <a:buNone/>
            </a:pPr>
            <a:r>
              <a:rPr sz="1100" b="0">
                <a:solidFill>
                  <a:schemeClr val="bg1"/>
                </a:solidFill>
                <a:latin typeface="Maple Mono NF"/>
              </a:rPr>
              <a:t>@step(num_workers=</a:t>
            </a:r>
            <a:r>
              <a:rPr sz="1100" b="0">
                <a:solidFill>
                  <a:schemeClr val="accent5">
                    <a:lumMod val="45000"/>
                    <a:lumOff val="55000"/>
                  </a:schemeClr>
                </a:solidFill>
                <a:latin typeface="Maple Mono NF"/>
              </a:rPr>
              <a:t>1</a:t>
            </a:r>
            <a:r>
              <a:rPr sz="1100" b="0">
                <a:solidFill>
                  <a:schemeClr val="bg1"/>
                </a:solidFill>
                <a:latin typeface="Maple Mono NF"/>
              </a:rPr>
              <a:t>)</a:t>
            </a:r>
          </a:p>
          <a:p>
            <a:pPr algn="l">
              <a:buNone/>
            </a:pPr>
            <a:r>
              <a:rPr sz="1100" b="0">
                <a:solidFill>
                  <a:schemeClr val="bg1"/>
                </a:solidFill>
                <a:latin typeface="Maple Mono NF"/>
              </a:rPr>
              <a:t>async </a:t>
            </a:r>
            <a:r>
              <a:rPr sz="1100" b="0">
                <a:solidFill>
                  <a:schemeClr val="accent2"/>
                </a:solidFill>
                <a:latin typeface="Maple Mono NF"/>
              </a:rPr>
              <a:t>def</a:t>
            </a:r>
            <a:r>
              <a:rPr sz="1100" b="0">
                <a:solidFill>
                  <a:schemeClr val="bg1"/>
                </a:solidFill>
                <a:latin typeface="Maple Mono NF"/>
              </a:rPr>
              <a:t> gate(</a:t>
            </a:r>
            <a:r>
              <a:rPr sz="1100" b="0">
                <a:solidFill>
                  <a:schemeClr val="accent2"/>
                </a:solidFill>
                <a:latin typeface="Maple Mono NF"/>
              </a:rPr>
              <a:t>self</a:t>
            </a:r>
            <a:r>
              <a:rPr sz="1100" b="0">
                <a:solidFill>
                  <a:schemeClr val="bg1"/>
                </a:solidFill>
                <a:latin typeface="Maple Mono NF"/>
              </a:rPr>
              <a:t>, ctx: Context[RunState],</a:t>
            </a:r>
          </a:p>
          <a:p>
            <a:pPr algn="l">
              <a:buNone/>
            </a:pPr>
            <a:r>
              <a:rPr sz="1100" b="0">
                <a:solidFill>
                  <a:schemeClr val="bg1"/>
                </a:solidFill>
                <a:latin typeface="Maple Mono NF"/>
              </a:rPr>
              <a:t>               ev: AlertFound | AlertDone</a:t>
            </a:r>
          </a:p>
          <a:p>
            <a:pPr algn="l">
              <a:buNone/>
            </a:pPr>
            <a:r>
              <a:rPr sz="1100" b="0">
                <a:solidFill>
                  <a:schemeClr val="bg1"/>
                </a:solidFill>
                <a:latin typeface="Maple Mono NF"/>
              </a:rPr>
              <a:t>               ) -&gt; AlertStarted | </a:t>
            </a:r>
            <a:r>
              <a:rPr sz="1100" b="1">
                <a:solidFill>
                  <a:schemeClr val="accent4">
                    <a:lumMod val="70000"/>
                    <a:lumOff val="30000"/>
                  </a:schemeClr>
                </a:solidFill>
                <a:latin typeface="Maple Mono NF"/>
              </a:rPr>
              <a:t>StopEvent</a:t>
            </a:r>
            <a:r>
              <a:rPr sz="1100" b="0">
                <a:solidFill>
                  <a:schemeClr val="bg1"/>
                </a:solidFill>
                <a:latin typeface="Maple Mono NF"/>
              </a:rPr>
              <a:t> | </a:t>
            </a:r>
            <a:r>
              <a:rPr sz="1100" b="0">
                <a:solidFill>
                  <a:schemeClr val="accent2"/>
                </a:solidFill>
                <a:latin typeface="Maple Mono NF"/>
              </a:rPr>
              <a:t>None</a:t>
            </a:r>
            <a:r>
              <a:rPr sz="1100" b="0">
                <a:solidFill>
                  <a:schemeClr val="bg1"/>
                </a:solidFill>
                <a:latin typeface="Maple Mono NF"/>
              </a:rPr>
              <a:t>:</a:t>
            </a:r>
          </a:p>
          <a:p>
            <a:pPr algn="l">
              <a:buNone/>
            </a:pPr>
            <a:r>
              <a:rPr sz="1100" b="0">
                <a:solidFill>
                  <a:schemeClr val="bg1"/>
                </a:solidFill>
                <a:latin typeface="Maple Mono NF"/>
              </a:rPr>
              <a:t>    async </a:t>
            </a:r>
            <a:r>
              <a:rPr sz="1100" b="0">
                <a:solidFill>
                  <a:schemeClr val="accent2"/>
                </a:solidFill>
                <a:latin typeface="Maple Mono NF"/>
              </a:rPr>
              <a:t>with</a:t>
            </a:r>
            <a:r>
              <a:rPr sz="1100" b="0">
                <a:solidFill>
                  <a:schemeClr val="bg1"/>
                </a:solidFill>
                <a:latin typeface="Maple Mono NF"/>
              </a:rPr>
              <a:t> ctx.store.edit_state() </a:t>
            </a:r>
            <a:r>
              <a:rPr sz="1100" b="0">
                <a:solidFill>
                  <a:schemeClr val="accent2"/>
                </a:solidFill>
                <a:latin typeface="Maple Mono NF"/>
              </a:rPr>
              <a:t>as</a:t>
            </a:r>
            <a:r>
              <a:rPr sz="1100" b="0">
                <a:solidFill>
                  <a:schemeClr val="bg1"/>
                </a:solidFill>
                <a:latin typeface="Maple Mono NF"/>
              </a:rPr>
              <a:t> s:</a:t>
            </a:r>
          </a:p>
          <a:p>
            <a:pPr algn="l">
              <a:buNone/>
            </a:pPr>
            <a:r>
              <a:rPr sz="1100" b="0">
                <a:solidFill>
                  <a:schemeClr val="accent6"/>
                </a:solidFill>
                <a:latin typeface="Maple Mono NF"/>
              </a:rPr>
              <a:t>        # ours: enqueue the alert or record its result, omitted</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len(s.results) == s.expected:</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1">
                <a:solidFill>
                  <a:schemeClr val="accent4">
                    <a:lumMod val="70000"/>
                    <a:lumOff val="30000"/>
                  </a:schemeClr>
                </a:solidFill>
                <a:latin typeface="Maple Mono NF"/>
              </a:rPr>
              <a:t>StopEvent</a:t>
            </a:r>
            <a:r>
              <a:rPr sz="1100" b="0">
                <a:solidFill>
                  <a:schemeClr val="bg1"/>
                </a:solidFill>
                <a:latin typeface="Maple Mono NF"/>
              </a:rPr>
              <a:t>(result=dict(s.results))</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s.current is </a:t>
            </a:r>
            <a:r>
              <a:rPr sz="1100" b="0">
                <a:solidFill>
                  <a:schemeClr val="accent2"/>
                </a:solidFill>
                <a:latin typeface="Maple Mono NF"/>
              </a:rPr>
              <a:t>not</a:t>
            </a:r>
            <a:r>
              <a:rPr sz="1100" b="0">
                <a:solidFill>
                  <a:schemeClr val="bg1"/>
                </a:solidFill>
                <a:latin typeface="Maple Mono NF"/>
              </a:rPr>
              <a:t> </a:t>
            </a:r>
            <a:r>
              <a:rPr sz="1100" b="0">
                <a:solidFill>
                  <a:schemeClr val="accent2"/>
                </a:solidFill>
                <a:latin typeface="Maple Mono NF"/>
              </a:rPr>
              <a:t>None</a:t>
            </a:r>
            <a:r>
              <a:rPr sz="1100" b="0">
                <a:solidFill>
                  <a:schemeClr val="bg1"/>
                </a:solidFill>
                <a:latin typeface="Maple Mono NF"/>
              </a:rPr>
              <a:t> </a:t>
            </a:r>
            <a:r>
              <a:rPr sz="1100" b="0">
                <a:solidFill>
                  <a:schemeClr val="accent2"/>
                </a:solidFill>
                <a:latin typeface="Maple Mono NF"/>
              </a:rPr>
              <a:t>or</a:t>
            </a:r>
            <a:r>
              <a:rPr sz="1100" b="0">
                <a:solidFill>
                  <a:schemeClr val="bg1"/>
                </a:solidFill>
                <a:latin typeface="Maple Mono NF"/>
              </a:rPr>
              <a:t> </a:t>
            </a:r>
            <a:r>
              <a:rPr sz="1100" b="0">
                <a:solidFill>
                  <a:schemeClr val="accent2"/>
                </a:solidFill>
                <a:latin typeface="Maple Mono NF"/>
              </a:rPr>
              <a:t>not</a:t>
            </a:r>
            <a:r>
              <a:rPr sz="1100" b="0">
                <a:solidFill>
                  <a:schemeClr val="bg1"/>
                </a:solidFill>
                <a:latin typeface="Maple Mono NF"/>
              </a:rPr>
              <a:t> s.queue:</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2"/>
                </a:solidFill>
                <a:latin typeface="Maple Mono NF"/>
              </a:rPr>
              <a:t>None</a:t>
            </a:r>
          </a:p>
        </p:txBody>
      </p:sp>
      <p:sp>
        <p:nvSpPr>
          <p:cNvPr id="10" name="Rectangle 9"/>
          <p:cNvSpPr/>
          <p:nvPr/>
        </p:nvSpPr>
        <p:spPr>
          <a:xfrm>
            <a:off x="319251" y="414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Returning None means busy or waiting. Only the gate's StopEvent ends the run.</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four rules in the code</a:t>
            </a:r>
          </a:p>
        </p:txBody>
      </p:sp>
      <p:sp>
        <p:nvSpPr>
          <p:cNvPr id="3" name="Content Placeholder 2"/>
          <p:cNvSpPr>
            <a:spLocks noGrp="1"/>
          </p:cNvSpPr>
          <p:nvPr>
            <p:ph idx="1"/>
          </p:nvPr>
        </p:nvSpPr>
        <p:spPr>
          <a:xfrm>
            <a:off x="319251" y="700000"/>
            <a:ext cx="6014545" cy="500000"/>
          </a:xfrm>
        </p:spPr>
        <p:txBody>
          <a:bodyPr wrap="square" anchor="ctr"/>
          <a:lstStyle/>
          <a:p>
            <a:pPr marL="0" indent="0">
              <a:buNone/>
            </a:pPr>
            <a:r>
              <a:rPr sz="1400" b="1">
                <a:solidFill>
                  <a:srgbClr val="28285E"/>
                </a:solidFill>
              </a:rPr>
              <a:t>The code keeps the four rules of section 5.2 in these forms.</a:t>
            </a:r>
          </a:p>
        </p:txBody>
      </p:sp>
      <p:graphicFrame>
        <p:nvGraphicFramePr>
          <p:cNvPr id="4" name="Table 3"/>
          <p:cNvGraphicFramePr>
            <a:graphicFrameLocks noGrp="1"/>
          </p:cNvGraphicFramePr>
          <p:nvPr/>
        </p:nvGraphicFramePr>
        <p:xfrm>
          <a:off x="319251" y="1390000"/>
          <a:ext cx="6014545" cy="2357400"/>
        </p:xfrm>
        <a:graphic>
          <a:graphicData uri="http://schemas.openxmlformats.org/drawingml/2006/table">
            <a:tbl>
              <a:tblPr firstRow="1" bandRow="1">
                <a:tableStyleId>{5C22544A-7EE6-4342-B048-85BDC9FD1C3A}</a:tableStyleId>
              </a:tblPr>
              <a:tblGrid>
                <a:gridCol w="1500000">
                  <a:extLst>
                    <a:ext uri="{9D8B030D-6E8A-4147-A177-3AD203B41FA5}">
                      <a16:colId xmlns:a16="http://schemas.microsoft.com/office/drawing/2014/main" val="20000"/>
                    </a:ext>
                  </a:extLst>
                </a:gridCol>
                <a:gridCol w="4514545">
                  <a:extLst>
                    <a:ext uri="{9D8B030D-6E8A-4147-A177-3AD203B41FA5}">
                      <a16:colId xmlns:a16="http://schemas.microsoft.com/office/drawing/2014/main" val="20001"/>
                    </a:ext>
                  </a:extLst>
                </a:gridCol>
              </a:tblGrid>
              <a:tr h="300000">
                <a:tc>
                  <a:txBody>
                    <a:bodyPr/>
                    <a:lstStyle/>
                    <a:p>
                      <a:pPr>
                        <a:buNone/>
                      </a:pPr>
                      <a:r>
                        <a:rPr sz="1100" b="1">
                          <a:solidFill>
                            <a:schemeClr val="tx1"/>
                          </a:solidFill>
                        </a:rPr>
                        <a:t>Rule</a:t>
                      </a:r>
                    </a:p>
                  </a:txBody>
                  <a:tcPr marL="95250" marR="95250" marT="47625" marB="47625">
                    <a:lnB w="12700" cap="flat" cmpd="sng" algn="ctr">
                      <a:solidFill>
                        <a:schemeClr val="tx1"/>
                      </a:solidFill>
                    </a:lnB>
                    <a:noFill/>
                  </a:tcPr>
                </a:tc>
                <a:tc>
                  <a:txBody>
                    <a:bodyPr/>
                    <a:lstStyle/>
                    <a:p>
                      <a:pPr>
                        <a:buNone/>
                      </a:pPr>
                      <a:r>
                        <a:rPr sz="1100" b="1">
                          <a:solidFill>
                            <a:schemeClr val="tx1"/>
                          </a:solidFill>
                        </a:rPr>
                        <a:t>How the code keeps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Apply once, then enable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Every write goes through ctx.store.edit_state(), which locks the store, and each step writes its data before it emits the event that lets another step read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Distinguish idle from success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Only the gate's StopEvent ends the run. Before the first run, the framework checks that every event a step emits has a step that accepts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Stop dispatch at termination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gate emits StopEvent only when the count of results equals the count of alerts, so no alert is still in progress when 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100" b="1">
                          <a:solidFill>
                            <a:srgbClr val="28285E"/>
                          </a:solidFill>
                        </a:rPr>
                        <a:t>Separate triggering from log events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This agent writes no trace. Its events trigger steps, and no event records 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Rectangle 4"/>
          <p:cNvSpPr/>
          <p:nvPr/>
        </p:nvSpPr>
        <p:spPr>
          <a:xfrm>
            <a:off x="319251" y="396534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Our graph agents write a trace alongside their events. The event-driven agent does not yet have one.</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12381</TotalTime>
  <Words>13351</Words>
  <Application>Microsoft Macintosh PowerPoint</Application>
  <PresentationFormat>Custom</PresentationFormat>
  <Paragraphs>853</Paragraphs>
  <Slides>94</Slides>
  <Notes>81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94</vt:i4>
      </vt:variant>
    </vt:vector>
  </HeadingPairs>
  <TitlesOfParts>
    <vt:vector size="99" baseType="lpstr">
      <vt:lpstr>Maple Mono NF</vt:lpstr>
      <vt:lpstr>Arial</vt:lpstr>
      <vt:lpstr>Fira Sans</vt:lpstr>
      <vt:lpstr>Maple Mono NF Light</vt:lpstr>
      <vt:lpstr>Simple Light</vt:lpstr>
      <vt:lpstr>Designing Production Agentic Systems</vt:lpstr>
      <vt:lpstr>Class announcements</vt:lpstr>
      <vt:lpstr>PowerPoint Presentation</vt:lpstr>
      <vt:lpstr>PowerPoint Presentation</vt:lpstr>
      <vt:lpstr>PowerPoint Presentation</vt:lpstr>
      <vt:lpstr>A state machine as a description of an agent</vt:lpstr>
      <vt:lpstr>The planning agent's control locations</vt:lpstr>
      <vt:lpstr>State: what the agent keeps between steps</vt:lpstr>
      <vt:lpstr>Inputs: what arrives during a step</vt:lpstr>
      <vt:lpstr>Extended state machines and configurations</vt:lpstr>
      <vt:lpstr>Configurations: finite control, unbounded data</vt:lpstr>
      <vt:lpstr>Transitions: guard, output action, set action</vt:lpstr>
      <vt:lpstr>The elements of a transition (for an agent)</vt:lpstr>
      <vt:lpstr>One transition in code: controller to tools</vt:lpstr>
      <vt:lpstr>Behaviour, trace and computation tree</vt:lpstr>
      <vt:lpstr>The event log as a trace</vt:lpstr>
      <vt:lpstr>The planning agent's state machine</vt:lpstr>
      <vt:lpstr>The planning agent's forward path</vt:lpstr>
      <vt:lpstr>The planning agent's feedback edges</vt:lpstr>
      <vt:lpstr>The planning agent's exits</vt:lpstr>
      <vt:lpstr>The recorded run through the planning agent</vt:lpstr>
      <vt:lpstr>The recorded run in the computation tree</vt:lpstr>
      <vt:lpstr>What the event log records and omits</vt:lpstr>
      <vt:lpstr>PowerPoint Presentation</vt:lpstr>
      <vt:lpstr>State records and schemas</vt:lpstr>
      <vt:lpstr>Partial updates and state transitions</vt:lpstr>
      <vt:lpstr>Partial updates and state transitions</vt:lpstr>
      <vt:lpstr>The controller's three return sites</vt:lpstr>
      <vt:lpstr>The controller's return sites, in code</vt:lpstr>
      <vt:lpstr>Model context, runtime state, durable state</vt:lpstr>
      <vt:lpstr>Model context and admission checks</vt:lpstr>
      <vt:lpstr>Reducers: append, replace, accumulate</vt:lpstr>
      <vt:lpstr>The controller's three return sites</vt:lpstr>
      <vt:lpstr>The reducers in the schema</vt:lpstr>
      <vt:lpstr>State schemas and field lifetimes</vt:lpstr>
      <vt:lpstr>Field lifetimes</vt:lpstr>
      <vt:lpstr>Handoff and window, in the planning agent</vt:lpstr>
      <vt:lpstr>Proving invariants over configurations</vt:lpstr>
      <vt:lpstr>The call budget as an invariant</vt:lpstr>
      <vt:lpstr>Constructing and compiling the state graph</vt:lpstr>
      <vt:lpstr>Designing a state graph</vt:lpstr>
      <vt:lpstr>PowerPoint Presentation</vt:lpstr>
      <vt:lpstr>Routing functions and conditional edges</vt:lpstr>
      <vt:lpstr>Routing after the controller</vt:lpstr>
      <vt:lpstr>The same graph, different paths</vt:lpstr>
      <vt:lpstr>Feedback edges: revision and repair</vt:lpstr>
      <vt:lpstr>Feedback edges and their bounds</vt:lpstr>
      <vt:lpstr>A proposed feedback edge for new attempts</vt:lpstr>
      <vt:lpstr>Loop bounds and termination</vt:lpstr>
      <vt:lpstr>Checking the budget before each model call</vt:lpstr>
      <vt:lpstr>What a trace establishes</vt:lpstr>
      <vt:lpstr>Terminal statuses and trace closure</vt:lpstr>
      <vt:lpstr>Three interpretations of a trace</vt:lpstr>
      <vt:lpstr>A recorded repair after failed checks</vt:lpstr>
      <vt:lpstr>A recorded keyboard interruption</vt:lpstr>
      <vt:lpstr>PowerPoint Presentation</vt:lpstr>
      <vt:lpstr>Supersteps: when an update becomes visible</vt:lpstr>
      <vt:lpstr>Two supersteps in the recorded run</vt:lpstr>
      <vt:lpstr>The five parts of a tool contract</vt:lpstr>
      <vt:lpstr>Tool preconditions and postconditions</vt:lpstr>
      <vt:lpstr>Arguments supplied by the dispatcher</vt:lpstr>
      <vt:lpstr>The five operations of the dispatch cycle</vt:lpstr>
      <vt:lpstr>Returning a refusal as an observation</vt:lpstr>
      <vt:lpstr>Evidence of a tool request and execution</vt:lpstr>
      <vt:lpstr>Complete mediation of resource access</vt:lpstr>
      <vt:lpstr>Guarantees and their enforcing components</vt:lpstr>
      <vt:lpstr>Checking paths against the workspace root</vt:lpstr>
      <vt:lpstr>A refused read and an unchecked search</vt:lpstr>
      <vt:lpstr>PowerPoint Presentation</vt:lpstr>
      <vt:lpstr>Two ways to invoke the next computation</vt:lpstr>
      <vt:lpstr>Event, handler and event loop</vt:lpstr>
      <vt:lpstr>Inversion of control</vt:lpstr>
      <vt:lpstr>Event-triggered and time-triggered reactions</vt:lpstr>
      <vt:lpstr>The configuration under an event loop</vt:lpstr>
      <vt:lpstr>Ordering rules: apply once, then enable</vt:lpstr>
      <vt:lpstr>Termination rules and log events</vt:lpstr>
      <vt:lpstr>LlamaIndex Workflows: steps and events</vt:lpstr>
      <vt:lpstr>LlamaIndex Workflows: validation and state</vt:lpstr>
      <vt:lpstr>Idle and success in LlamaIndex and in CrewAI</vt:lpstr>
      <vt:lpstr>Comparing the realizations: the design</vt:lpstr>
      <vt:lpstr>What agreement under scripted inputs shows</vt:lpstr>
      <vt:lpstr>The demo as a LlamaIndex workflow</vt:lpstr>
      <vt:lpstr>The demo's steps and their events</vt:lpstr>
      <vt:lpstr>The event-driven agent as an event loop</vt:lpstr>
      <vt:lpstr>Admission, acting and revising in the steps</vt:lpstr>
      <vt:lpstr>One run handles many alerts</vt:lpstr>
      <vt:lpstr>Validation fans out and back in</vt:lpstr>
      <vt:lpstr>Two kinds of ending</vt:lpstr>
      <vt:lpstr>Events as classes, in code</vt:lpstr>
      <vt:lpstr>A step's signature declares its events</vt:lpstr>
      <vt:lpstr>Admission: reserving a call under the lock</vt:lpstr>
      <vt:lpstr>Fan-out: send_event and the annotation</vt:lpstr>
      <vt:lpstr>The StopEvent: how the run ends</vt:lpstr>
      <vt:lpstr>The four rules in the 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207</cp:revision>
  <dcterms:modified xsi:type="dcterms:W3CDTF">2026-09-27T22:30:28Z</dcterms:modified>
</cp:coreProperties>
</file>
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230.xml" ContentType="application/vnd.openxmlformats-officedocument.presentationml.slide+xml"/>
  <Override PartName="/ppt/slides/slide231.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3"/>
  </p:notesMasterIdLst>
  <p:sldIdLst>
    <p:sldId id="485" r:id="rId231"/>
    <p:sldId id="486" r:id="rId232"/>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Lst>
  <p:sldSz cx="6858000" cy="5143500"/>
  <p:notesSz cx="6858000" cy="9144000"/>
  <p:embeddedFontLst>
    <p:embeddedFont>
      <p:font typeface="Aptos Mono" panose="020B0009020202020204" pitchFamily="49" charset="0"/>
      <p:regular r:id="rId284"/>
      <p:bold r:id="rId285"/>
      <p:italic r:id="rId286"/>
      <p:boldItalic r:id="rId287"/>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31"/>
    <p:restoredTop sz="97007"/>
  </p:normalViewPr>
  <p:slideViewPr>
    <p:cSldViewPr snapToGrid="0">
      <p:cViewPr varScale="1">
        <p:scale>
          <a:sx n="224" d="100"/>
          <a:sy n="224" d="100"/>
        </p:scale>
        <p:origin x="2328"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31" Type="http://schemas.openxmlformats.org/officeDocument/2006/relationships/slide" Target="slides/slide230.xml"/><Relationship Id="rId232" Type="http://schemas.openxmlformats.org/officeDocument/2006/relationships/slide" Target="slides/slide231.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notesMaster" Target="notesMasters/notesMaster1.xml"/><Relationship Id="rId284" Type="http://schemas.openxmlformats.org/officeDocument/2006/relationships/font" Target="fonts/font1.fntdata"/><Relationship Id="rId285" Type="http://schemas.openxmlformats.org/officeDocument/2006/relationships/font" Target="fonts/font2.fntdata"/><Relationship Id="rId286" Type="http://schemas.openxmlformats.org/officeDocument/2006/relationships/font" Target="fonts/font3.fntdata"/><Relationship Id="rId287" Type="http://schemas.openxmlformats.org/officeDocument/2006/relationships/font" Target="fonts/font4.fntdata"/><Relationship Id="rId288" Type="http://schemas.openxmlformats.org/officeDocument/2006/relationships/presProps" Target="presProps.xml"/><Relationship Id="rId289" Type="http://schemas.openxmlformats.org/officeDocument/2006/relationships/viewProps" Target="viewProps.xml"/><Relationship Id="rId290" Type="http://schemas.openxmlformats.org/officeDocument/2006/relationships/theme" Target="theme/theme1.xml"/><Relationship Id="rId29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55610628" name="Slide Image Placeholder 1"/>
          <p:cNvSpPr>
            <a:spLocks noGrp="1" noRot="1" noChangeAspect="1"/>
          </p:cNvSpPr>
          <p:nvPr>
            <p:ph type="sldImg" idx="2"/>
          </p:nvPr>
        </p:nvSpPr>
        <p:spPr bwMode="auto"/>
      </p:sp>
      <p:sp>
        <p:nvSpPr>
          <p:cNvPr id="1306276695" name="Notes Placeholder 2"/>
          <p:cNvSpPr>
            <a:spLocks noGrp="1"/>
          </p:cNvSpPr>
          <p:nvPr>
            <p:ph type="body" idx="1"/>
          </p:nvPr>
        </p:nvSpPr>
        <p:spPr bwMode="auto"/>
        <p:txBody>
          <a:bodyPr/>
          <a:lstStyle/>
          <a:p>
            <a:pPr>
              <a:defRPr/>
            </a:pPr>
            <a:r>
              <a:t>The answer is (b). Specification index: hosts must obtain explicit user consent before invoking any tool. The server never sees the user, and the client only carries requests for the host.</a:t>
            </a: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8037535" name="Slide Image Placeholder 1"/>
          <p:cNvSpPr>
            <a:spLocks noGrp="1" noRot="1" noChangeAspect="1"/>
          </p:cNvSpPr>
          <p:nvPr>
            <p:ph type="sldImg" idx="2"/>
          </p:nvPr>
        </p:nvSpPr>
        <p:spPr bwMode="auto"/>
      </p:sp>
      <p:sp>
        <p:nvSpPr>
          <p:cNvPr id="792542025" name="Notes Placeholder 2"/>
          <p:cNvSpPr>
            <a:spLocks noGrp="1"/>
          </p:cNvSpPr>
          <p:nvPr>
            <p:ph type="body" idx="1"/>
          </p:nvPr>
        </p:nvSpPr>
        <p:spPr bwMode="auto"/>
        <p:txBody>
          <a:bodyPr/>
          <a:lstStyle/>
          <a:p>
            <a:pPr>
              <a:defRPr/>
            </a:pPr>
            <a:r>
              <a:t>The answer is (b). Specification index: hosts must obtain explicit user consent before invoking any tool. The server never sees the user, and the client only carries requests for the host.</a:t>
            </a:r>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91629523" name="Slide Image Placeholder 1"/>
          <p:cNvSpPr>
            <a:spLocks noGrp="1" noRot="1" noChangeAspect="1"/>
          </p:cNvSpPr>
          <p:nvPr>
            <p:ph type="sldImg" idx="2"/>
          </p:nvPr>
        </p:nvSpPr>
        <p:spPr bwMode="auto"/>
      </p:sp>
      <p:sp>
        <p:nvSpPr>
          <p:cNvPr id="1033627465" name="Notes Placeholder 2"/>
          <p:cNvSpPr>
            <a:spLocks noGrp="1"/>
          </p:cNvSpPr>
          <p:nvPr>
            <p:ph type="body" idx="1"/>
          </p:nvPr>
        </p:nvSpPr>
        <p:spPr bwMode="auto"/>
        <p:txBody>
          <a:bodyPr/>
          <a:lstStyle/>
          <a:p>
            <a:pPr>
              <a:defRPr/>
            </a:pPr>
            <a:r>
              <a:t>This roadmap names the segments of the lecture. The overview of tool usage in agents comes first, then the tool dispatcher, native tool calls, the Model Context Protocol, and failure and recovery.</a:t>
            </a:r>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2515033" name="Slide Image Placeholder 1"/>
          <p:cNvSpPr>
            <a:spLocks noGrp="1" noRot="1" noChangeAspect="1"/>
          </p:cNvSpPr>
          <p:nvPr>
            <p:ph type="sldImg" idx="2"/>
          </p:nvPr>
        </p:nvSpPr>
        <p:spPr bwMode="auto"/>
      </p:sp>
      <p:sp>
        <p:nvSpPr>
          <p:cNvPr id="2131295389" name="Notes Placeholder 2"/>
          <p:cNvSpPr>
            <a:spLocks noGrp="1"/>
          </p:cNvSpPr>
          <p:nvPr>
            <p:ph type="body" idx="1"/>
          </p:nvPr>
        </p:nvSpPr>
        <p:spPr bwMode="auto"/>
        <p:txBody>
          <a:bodyPr/>
          <a:lstStyle/>
          <a:p>
            <a:pPr>
              <a:defRPr/>
            </a:pPr>
            <a:r>
              <a:t>This segment opens with what can go wrong once a tool runs behind a protocol: three design problems, then six failures, one for each property of a local call. The restoration of each property follows.</a:t>
            </a:r>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3749852" name="Slide Image Placeholder 1"/>
          <p:cNvSpPr>
            <a:spLocks noGrp="1" noRot="1" noChangeAspect="1"/>
          </p:cNvSpPr>
          <p:nvPr>
            <p:ph type="sldImg" idx="2"/>
          </p:nvPr>
        </p:nvSpPr>
        <p:spPr bwMode="auto"/>
      </p:sp>
      <p:sp>
        <p:nvSpPr>
          <p:cNvPr id="606249023" name="Notes Placeholder 2"/>
          <p:cNvSpPr>
            <a:spLocks noGrp="1"/>
          </p:cNvSpPr>
          <p:nvPr>
            <p:ph type="body" idx="1"/>
          </p:nvPr>
        </p:nvSpPr>
        <p:spPr bwMode="auto"/>
        <p:txBody>
          <a:bodyPr/>
          <a:lstStyle/>
          <a:p>
            <a:pPr>
              <a:defRPr/>
            </a:pPr>
            <a:r>
              <a:t>Opener of the what-could-go-wrong section. The first three slides concern design: what a server exposes, how its descriptions steer the model, and what strict schemas guarantee. The six slides that follow take the six properties of a local call from the native tool calls segment one at a time and show how each fails when the tool runs in another process; the last slide of the section summarizes them in one table. The failure and recovery segment then restores each property.</a:t>
            </a:r>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27743486" name="Slide Image Placeholder 1"/>
          <p:cNvSpPr>
            <a:spLocks noGrp="1" noRot="1" noChangeAspect="1"/>
          </p:cNvSpPr>
          <p:nvPr>
            <p:ph type="sldImg" idx="2"/>
          </p:nvPr>
        </p:nvSpPr>
        <p:spPr bwMode="auto"/>
      </p:sp>
      <p:sp>
        <p:nvSpPr>
          <p:cNvPr id="2115855495" name="Notes Placeholder 2"/>
          <p:cNvSpPr>
            <a:spLocks noGrp="1"/>
          </p:cNvSpPr>
          <p:nvPr>
            <p:ph type="body" idx="1"/>
          </p:nvPr>
        </p:nvSpPr>
        <p:spPr bwMode="auto"/>
        <p:txBody>
          <a:bodyPr/>
          <a:lstStyle/>
          <a:p>
            <a:pPr>
              <a:defRPr/>
            </a:pPr>
            <a:r>
              <a:t>Opener of the what-could-go-wrong section. The first three slides concern design: what a server exposes, how its descriptions steer the model, and what strict schemas guarantee. The six slides that follow take the six properties of a local call from the native tool calls segment one at a time and show how each fails when the tool runs in another process; the last slide of the section summarizes them in one table. The failure and recovery segment then restores each property.</a:t>
            </a: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1569081" name="Slide Image Placeholder 1"/>
          <p:cNvSpPr>
            <a:spLocks noGrp="1" noRot="1" noChangeAspect="1"/>
          </p:cNvSpPr>
          <p:nvPr>
            <p:ph type="sldImg" idx="2"/>
          </p:nvPr>
        </p:nvSpPr>
        <p:spPr bwMode="auto"/>
      </p:sp>
      <p:sp>
        <p:nvSpPr>
          <p:cNvPr id="1429762145" name="Notes Placeholder 2"/>
          <p:cNvSpPr>
            <a:spLocks noGrp="1"/>
          </p:cNvSpPr>
          <p:nvPr>
            <p:ph type="body" idx="1"/>
          </p:nvPr>
        </p:nvSpPr>
        <p:spPr bwMode="auto"/>
        <p:txBody>
          <a:bodyPr/>
          <a:lstStyle/>
          <a:p>
            <a:pPr>
              <a:defRPr/>
            </a:pPr>
            <a:r>
              <a:t>Opener of the what-could-go-wrong section. The first three slides concern design: what a server exposes, how its descriptions steer the model, and what strict schemas guarantee. The six slides that follow take the six properties of a local call from the native tool calls segment one at a time and show how each fails when the tool runs in another process; the last slide of the section summarizes them in one table. The failure and recovery segment then restores each property.</a:t>
            </a:r>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32825181" name="Slide Image Placeholder 1"/>
          <p:cNvSpPr>
            <a:spLocks noGrp="1" noRot="1" noChangeAspect="1"/>
          </p:cNvSpPr>
          <p:nvPr>
            <p:ph type="sldImg" idx="2"/>
          </p:nvPr>
        </p:nvSpPr>
        <p:spPr bwMode="auto"/>
      </p:sp>
      <p:sp>
        <p:nvSpPr>
          <p:cNvPr id="2021938433"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5210432" name="Slide Image Placeholder 1"/>
          <p:cNvSpPr>
            <a:spLocks noGrp="1" noRot="1" noChangeAspect="1"/>
          </p:cNvSpPr>
          <p:nvPr>
            <p:ph type="sldImg" idx="2"/>
          </p:nvPr>
        </p:nvSpPr>
        <p:spPr bwMode="auto"/>
      </p:sp>
      <p:sp>
        <p:nvSpPr>
          <p:cNvPr id="1815705007"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8079324" name="Slide Image Placeholder 1"/>
          <p:cNvSpPr>
            <a:spLocks noGrp="1" noRot="1" noChangeAspect="1"/>
          </p:cNvSpPr>
          <p:nvPr>
            <p:ph type="sldImg" idx="2"/>
          </p:nvPr>
        </p:nvSpPr>
        <p:spPr bwMode="auto"/>
      </p:sp>
      <p:sp>
        <p:nvSpPr>
          <p:cNvPr id="1403652145"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9465909" name="Slide Image Placeholder 1"/>
          <p:cNvSpPr>
            <a:spLocks noGrp="1" noRot="1" noChangeAspect="1"/>
          </p:cNvSpPr>
          <p:nvPr>
            <p:ph type="sldImg" idx="2"/>
          </p:nvPr>
        </p:nvSpPr>
        <p:spPr bwMode="auto"/>
      </p:sp>
      <p:sp>
        <p:nvSpPr>
          <p:cNvPr id="1845237749"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96114126" name="Slide Image Placeholder 1"/>
          <p:cNvSpPr>
            <a:spLocks noGrp="1" noRot="1" noChangeAspect="1"/>
          </p:cNvSpPr>
          <p:nvPr>
            <p:ph type="sldImg" idx="2"/>
          </p:nvPr>
        </p:nvSpPr>
        <p:spPr bwMode="auto"/>
      </p:sp>
      <p:sp>
        <p:nvSpPr>
          <p:cNvPr id="947159431"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5213235" name="Slide Image Placeholder 1"/>
          <p:cNvSpPr>
            <a:spLocks noGrp="1" noRot="1" noChangeAspect="1"/>
          </p:cNvSpPr>
          <p:nvPr>
            <p:ph type="sldImg" idx="2"/>
          </p:nvPr>
        </p:nvSpPr>
        <p:spPr bwMode="auto"/>
      </p:sp>
      <p:sp>
        <p:nvSpPr>
          <p:cNvPr id="158337531"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0573153" name="Slide Image Placeholder 1"/>
          <p:cNvSpPr>
            <a:spLocks noGrp="1" noRot="1" noChangeAspect="1"/>
          </p:cNvSpPr>
          <p:nvPr>
            <p:ph type="sldImg" idx="2"/>
          </p:nvPr>
        </p:nvSpPr>
        <p:spPr bwMode="auto"/>
      </p:sp>
      <p:sp>
        <p:nvSpPr>
          <p:cNvPr id="1896298642" name="Notes Placeholder 2"/>
          <p:cNvSpPr>
            <a:spLocks noGrp="1"/>
          </p:cNvSpPr>
          <p:nvPr>
            <p:ph type="body" idx="1"/>
          </p:nvPr>
        </p:nvSpPr>
        <p:spPr bwMode="auto"/>
        <p:txBody>
          <a:bodyPr/>
          <a:lstStyle/>
          <a:p>
            <a:pPr>
              <a:defRPr/>
            </a:pPr>
            <a:r>
              <a:t>Mastouri, Ksontini, Barrak and Kessentini, From REST to MCP: An Empirical Study of API Wrapping and Automated Server Generation for LLM Agents, arXiv 2507.16044 (2025, revised 2026): MCP servers expose a median of 19% of available operations, over 116 official servers and 80 OpenAPI contracts. Agarwal and Peet, How we're making GitHub Copilot smarter with fewer tools, GitHub Blog, 19 November 2025: a core toolset of 13 essential tools, cut from about 40 built-in tools. Mohammed and Chau, Block's Playbook for Designing MCP Servers, Block Engineering, 16 June 2025: the Linear server went from 30+ tools to execute_readonly_query and execute_mutation_query. These two are practitioner reports, not measurements. Rodrigues and Vas, MCP Server Architecture Patterns for LLM-Integrated Applications, arXiv 2606.30317 (June 2026): five patterns (resource gateway, tool orchestrator, stateful session server, proxy aggregator, domain-specific adapter) and the four anti-patterns in the table. For a later lecture on security: the NSA Cybersecurity Information Sheet Model Context Protocol (MCP): Security Design Considerations for AI-Driven Automation (May 2026).</a:t>
            </a:r>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77641386" name="Slide Image Placeholder 1"/>
          <p:cNvSpPr>
            <a:spLocks noGrp="1" noRot="1" noChangeAspect="1"/>
          </p:cNvSpPr>
          <p:nvPr>
            <p:ph type="sldImg" idx="2"/>
          </p:nvPr>
        </p:nvSpPr>
        <p:spPr bwMode="auto"/>
      </p:sp>
      <p:sp>
        <p:nvSpPr>
          <p:cNvPr id="462026340" name="Notes Placeholder 2"/>
          <p:cNvSpPr>
            <a:spLocks noGrp="1"/>
          </p:cNvSpPr>
          <p:nvPr>
            <p:ph type="body" idx="1"/>
          </p:nvPr>
        </p:nvSpPr>
        <p:spPr bwMode="auto"/>
        <p:txBody>
          <a:bodyPr/>
          <a:lstStyle/>
          <a:p>
            <a:pPr>
              <a:defRPr/>
            </a:pPr>
            <a:r>
              <a:t>Hasan, Li, Rajbahadur, Adams and Hassan, Model Context Protocol (MCP) Tool Descriptions Are Smelly!, arXiv 2602.14878 (February 2026): 103 servers with 856 tools; 97.1% of descriptions contain at least one smell, and 56% fail to state their purpose clearly. Wang, Li, Sun, Liu, Liu and Tian, From Docs to Descriptions: Smell-Aware Evaluation of MCP Server Descriptions, arXiv 2602.18914 (February 2026): 10,831 servers and 18 smell categories; 73% repeated tool names; fixing functionality and accuracy smells raised selection probability by 11.6 and 8.8 percentage points. Lin, Your Prompt Is Not the Only Prompt, arXiv 2608.08254 (August 2026): across ten GPT and Claude configurations, schema descriptions that conflict with the prompt can override it, with accuracy drops of 5 to 45 points. All three are preprints.</a:t>
            </a: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9330992" name="Slide Image Placeholder 1"/>
          <p:cNvSpPr>
            <a:spLocks noGrp="1" noRot="1" noChangeAspect="1"/>
          </p:cNvSpPr>
          <p:nvPr>
            <p:ph type="sldImg" idx="2"/>
          </p:nvPr>
        </p:nvSpPr>
        <p:spPr bwMode="auto"/>
      </p:sp>
      <p:sp>
        <p:nvSpPr>
          <p:cNvPr id="1362204489"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62390671" name="Slide Image Placeholder 1"/>
          <p:cNvSpPr>
            <a:spLocks noGrp="1" noRot="1" noChangeAspect="1"/>
          </p:cNvSpPr>
          <p:nvPr>
            <p:ph type="sldImg" idx="2"/>
          </p:nvPr>
        </p:nvSpPr>
        <p:spPr bwMode="auto"/>
      </p:sp>
      <p:sp>
        <p:nvSpPr>
          <p:cNvPr id="101336744"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8258765" name="Slide Image Placeholder 1"/>
          <p:cNvSpPr>
            <a:spLocks noGrp="1" noRot="1" noChangeAspect="1"/>
          </p:cNvSpPr>
          <p:nvPr>
            <p:ph type="sldImg" idx="2"/>
          </p:nvPr>
        </p:nvSpPr>
        <p:spPr bwMode="auto"/>
      </p:sp>
      <p:sp>
        <p:nvSpPr>
          <p:cNvPr id="505810666"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1369762" name="Slide Image Placeholder 1"/>
          <p:cNvSpPr>
            <a:spLocks noGrp="1" noRot="1" noChangeAspect="1"/>
          </p:cNvSpPr>
          <p:nvPr>
            <p:ph type="sldImg" idx="2"/>
          </p:nvPr>
        </p:nvSpPr>
        <p:spPr bwMode="auto"/>
      </p:sp>
      <p:sp>
        <p:nvSpPr>
          <p:cNvPr id="198393287" name="Notes Placeholder 2"/>
          <p:cNvSpPr>
            <a:spLocks noGrp="1"/>
          </p:cNvSpPr>
          <p:nvPr>
            <p:ph type="body" idx="1"/>
          </p:nvPr>
        </p:nvSpPr>
        <p:spPr bwMode="auto"/>
        <p:txBody>
          <a:bodyPr/>
          <a:lstStyle/>
          <a:p>
            <a:pPr>
              <a:defRPr/>
            </a:pPr>
            <a:r>
              <a:t>Geng et al., Generating Structured Outputs from Language Models: Benchmark and Studies, arXiv 2501.10868 (2025): 10K real-world JSON schemas plus the official JSON Schema Test Suite, six frameworks (Guidance, Outlines, llama.cpp, XGrammar, OpenAI, Gemini). Chavan, Constrained Decoding Eliminates Structural Failures in Small LLMs but Reveals a Scale-Dependent Semantic Gap, arXiv 2609.23742 (September 2026): schema validity rose from 78.6-92.9% to 100%, and the semantic gap narrows but does not close. Lu et al., Learning to Generate Structured Output with Schema Reinforcement Learning, ACL 2025, trains models to follow schemas instead of constraining decoding. Tam et al., Let Me Speak Freely?, EMNLP 2024 Industry Track, report a decline in reasoning under format restrictions; Will Kurt, Say What You Mean (dottxt blog), argues the prompts differed and reports 77% structured against 73% unstructured with matched prompts. The question is open.</a:t>
            </a:r>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499170" name="Slide Image Placeholder 1"/>
          <p:cNvSpPr>
            <a:spLocks noGrp="1" noRot="1" noChangeAspect="1"/>
          </p:cNvSpPr>
          <p:nvPr>
            <p:ph type="sldImg" idx="2"/>
          </p:nvPr>
        </p:nvSpPr>
        <p:spPr bwMode="auto"/>
      </p:sp>
      <p:sp>
        <p:nvSpPr>
          <p:cNvPr id="1595247490"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4822682" name="Slide Image Placeholder 1"/>
          <p:cNvSpPr>
            <a:spLocks noGrp="1" noRot="1" noChangeAspect="1"/>
          </p:cNvSpPr>
          <p:nvPr>
            <p:ph type="sldImg" idx="2"/>
          </p:nvPr>
        </p:nvSpPr>
        <p:spPr bwMode="auto"/>
      </p:sp>
      <p:sp>
        <p:nvSpPr>
          <p:cNvPr id="458576905"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15930639" name="Slide Image Placeholder 1"/>
          <p:cNvSpPr>
            <a:spLocks noGrp="1" noRot="1" noChangeAspect="1"/>
          </p:cNvSpPr>
          <p:nvPr>
            <p:ph type="sldImg" idx="2"/>
          </p:nvPr>
        </p:nvSpPr>
        <p:spPr bwMode="auto"/>
      </p:sp>
      <p:sp>
        <p:nvSpPr>
          <p:cNvPr id="53847155"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31105104" name="Slide Image Placeholder 1"/>
          <p:cNvSpPr>
            <a:spLocks noGrp="1" noRot="1" noChangeAspect="1"/>
          </p:cNvSpPr>
          <p:nvPr>
            <p:ph type="sldImg" idx="2"/>
          </p:nvPr>
        </p:nvSpPr>
        <p:spPr bwMode="auto"/>
      </p:sp>
      <p:sp>
        <p:nvSpPr>
          <p:cNvPr id="22892630" name="Notes Placeholder 2"/>
          <p:cNvSpPr>
            <a:spLocks noGrp="1"/>
          </p:cNvSpPr>
          <p:nvPr>
            <p:ph type="body" idx="1"/>
          </p:nvPr>
        </p:nvSpPr>
        <p:spPr bwMode="auto"/>
        <p:txBody>
          <a:bodyPr/>
          <a:lstStyle/>
          <a:p>
            <a:pPr>
              <a:defRPr/>
            </a:pPr>
            <a:r>
              <a:t>Over an unreliable channel, no finite exchange of messages gives both sides certainty (the Two Generals problem; Akkoyunlu et al., 1975, and Gray, 1978). Cristian (1991) classifies a lost reply as an omission failure. The request alone cannot separate the two worlds, which is why the evidence slide later insists that the request alone does not establish that the tool ran.</a:t>
            </a: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70403407" name="Slide Image Placeholder 1"/>
          <p:cNvSpPr>
            <a:spLocks noGrp="1" noRot="1" noChangeAspect="1"/>
          </p:cNvSpPr>
          <p:nvPr>
            <p:ph type="sldImg" idx="2"/>
          </p:nvPr>
        </p:nvSpPr>
        <p:spPr bwMode="auto"/>
      </p:sp>
      <p:sp>
        <p:nvSpPr>
          <p:cNvPr id="1451139369"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37757209" name="Slide Image Placeholder 1"/>
          <p:cNvSpPr>
            <a:spLocks noGrp="1" noRot="1" noChangeAspect="1"/>
          </p:cNvSpPr>
          <p:nvPr>
            <p:ph type="sldImg" idx="2"/>
          </p:nvPr>
        </p:nvSpPr>
        <p:spPr bwMode="auto"/>
      </p:sp>
      <p:sp>
        <p:nvSpPr>
          <p:cNvPr id="930266975"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04971963" name="Slide Image Placeholder 1"/>
          <p:cNvSpPr>
            <a:spLocks noGrp="1" noRot="1" noChangeAspect="1"/>
          </p:cNvSpPr>
          <p:nvPr>
            <p:ph type="sldImg" idx="2"/>
          </p:nvPr>
        </p:nvSpPr>
        <p:spPr bwMode="auto"/>
      </p:sp>
      <p:sp>
        <p:nvSpPr>
          <p:cNvPr id="1735968519"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98751413" name="Slide Image Placeholder 1"/>
          <p:cNvSpPr>
            <a:spLocks noGrp="1" noRot="1" noChangeAspect="1"/>
          </p:cNvSpPr>
          <p:nvPr>
            <p:ph type="sldImg" idx="2"/>
          </p:nvPr>
        </p:nvSpPr>
        <p:spPr bwMode="auto"/>
      </p:sp>
      <p:sp>
        <p:nvSpPr>
          <p:cNvPr id="1813027497" name="Notes Placeholder 2"/>
          <p:cNvSpPr>
            <a:spLocks noGrp="1"/>
          </p:cNvSpPr>
          <p:nvPr>
            <p:ph type="body" idx="1"/>
          </p:nvPr>
        </p:nvSpPr>
        <p:spPr bwMode="auto"/>
        <p:txBody>
          <a:bodyPr/>
          <a:lstStyle/>
          <a:p>
            <a:pPr>
              <a:defRPr/>
            </a:pPr>
            <a:r>
              <a:t>Birrell and Nelson's RPC numbered calls so that a retransmitted packet could not run the procedure twice: a returned call ran the procedure once, and an exception means once or not at all. Saltzer, Reed and Clark (1984) argue that duplicate suppression and delivery acknowledgment are complete only at the endpoints, with the help of the application. A retry that the harness issues as a new request defeats transport-level suppression unless the request carries an idempotency key, which the failure and recovery segment covers.</a:t>
            </a: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3718957" name="Slide Image Placeholder 1"/>
          <p:cNvSpPr>
            <a:spLocks noGrp="1" noRot="1" noChangeAspect="1"/>
          </p:cNvSpPr>
          <p:nvPr>
            <p:ph type="sldImg" idx="2"/>
          </p:nvPr>
        </p:nvSpPr>
        <p:spPr bwMode="auto"/>
      </p:sp>
      <p:sp>
        <p:nvSpPr>
          <p:cNvPr id="284264446"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42306481" name="Slide Image Placeholder 1"/>
          <p:cNvSpPr>
            <a:spLocks noGrp="1" noRot="1" noChangeAspect="1"/>
          </p:cNvSpPr>
          <p:nvPr>
            <p:ph type="sldImg" idx="2"/>
          </p:nvPr>
        </p:nvSpPr>
        <p:spPr bwMode="auto"/>
      </p:sp>
      <p:sp>
        <p:nvSpPr>
          <p:cNvPr id="180212703"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98417574" name="Slide Image Placeholder 1"/>
          <p:cNvSpPr>
            <a:spLocks noGrp="1" noRot="1" noChangeAspect="1"/>
          </p:cNvSpPr>
          <p:nvPr>
            <p:ph type="sldImg" idx="2"/>
          </p:nvPr>
        </p:nvSpPr>
        <p:spPr bwMode="auto"/>
      </p:sp>
      <p:sp>
        <p:nvSpPr>
          <p:cNvPr id="1115866035"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47120016" name="Slide Image Placeholder 1"/>
          <p:cNvSpPr>
            <a:spLocks noGrp="1" noRot="1" noChangeAspect="1"/>
          </p:cNvSpPr>
          <p:nvPr>
            <p:ph type="sldImg" idx="2"/>
          </p:nvPr>
        </p:nvSpPr>
        <p:spPr bwMode="auto"/>
      </p:sp>
      <p:sp>
        <p:nvSpPr>
          <p:cNvPr id="621226892" name="Notes Placeholder 2"/>
          <p:cNvSpPr>
            <a:spLocks noGrp="1"/>
          </p:cNvSpPr>
          <p:nvPr>
            <p:ph type="body" idx="1"/>
          </p:nvPr>
        </p:nvSpPr>
        <p:spPr bwMode="auto"/>
        <p:txBody>
          <a:bodyPr/>
          <a:lstStyle/>
          <a:p>
            <a:pPr>
              <a:defRPr/>
            </a:pPr>
            <a:r>
              <a:t>Cristian (1991) classifies omission, timing, response, crash and arbitrary failures. Waldo et al. (1994) argue that partial failure cannot be masked. With one process, a crash is total. With two processes, the caller must decide what to do about a callee that it cannot reach.</a:t>
            </a: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93176002" name="Slide Image Placeholder 1"/>
          <p:cNvSpPr>
            <a:spLocks noGrp="1" noRot="1" noChangeAspect="1"/>
          </p:cNvSpPr>
          <p:nvPr>
            <p:ph type="sldImg" idx="2"/>
          </p:nvPr>
        </p:nvSpPr>
        <p:spPr bwMode="auto"/>
      </p:sp>
      <p:sp>
        <p:nvSpPr>
          <p:cNvPr id="2109310384"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5798082" name="Slide Image Placeholder 1"/>
          <p:cNvSpPr>
            <a:spLocks noGrp="1" noRot="1" noChangeAspect="1"/>
          </p:cNvSpPr>
          <p:nvPr>
            <p:ph type="sldImg" idx="2"/>
          </p:nvPr>
        </p:nvSpPr>
        <p:spPr bwMode="auto"/>
      </p:sp>
      <p:sp>
        <p:nvSpPr>
          <p:cNvPr id="1093960949"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58542554" name="Slide Image Placeholder 1"/>
          <p:cNvSpPr>
            <a:spLocks noGrp="1" noRot="1" noChangeAspect="1"/>
          </p:cNvSpPr>
          <p:nvPr>
            <p:ph type="sldImg" idx="2"/>
          </p:nvPr>
        </p:nvSpPr>
        <p:spPr bwMode="auto"/>
      </p:sp>
      <p:sp>
        <p:nvSpPr>
          <p:cNvPr id="213753361"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4376907" name="Slide Image Placeholder 1"/>
          <p:cNvSpPr>
            <a:spLocks noGrp="1" noRot="1" noChangeAspect="1"/>
          </p:cNvSpPr>
          <p:nvPr>
            <p:ph type="sldImg" idx="2"/>
          </p:nvPr>
        </p:nvSpPr>
        <p:spPr bwMode="auto"/>
      </p:sp>
      <p:sp>
        <p:nvSpPr>
          <p:cNvPr id="2033787359" name="Notes Placeholder 2"/>
          <p:cNvSpPr>
            <a:spLocks noGrp="1"/>
          </p:cNvSpPr>
          <p:nvPr>
            <p:ph type="body" idx="1"/>
          </p:nvPr>
        </p:nvSpPr>
        <p:spPr bwMode="auto"/>
        <p:txBody>
          <a:bodyPr/>
          <a:lstStyle/>
          <a:p>
            <a:pPr>
              <a:defRPr/>
            </a:pPr>
            <a:r>
              <a:t>Cristian (1991) separates timing failures from omission failures, but a caller cannot tell them apart at the deadline. Any timeout is therefore a guess, and the harness must be written to survive either outcome. The eight fallacies of distributed computing list "latency is zero" as the second fallacy.</a:t>
            </a: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3359328" name="Slide Image Placeholder 1"/>
          <p:cNvSpPr>
            <a:spLocks noGrp="1" noRot="1" noChangeAspect="1"/>
          </p:cNvSpPr>
          <p:nvPr>
            <p:ph type="sldImg" idx="2"/>
          </p:nvPr>
        </p:nvSpPr>
        <p:spPr bwMode="auto"/>
      </p:sp>
      <p:sp>
        <p:nvSpPr>
          <p:cNvPr id="325579353"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5305289" name="Slide Image Placeholder 1"/>
          <p:cNvSpPr>
            <a:spLocks noGrp="1" noRot="1" noChangeAspect="1"/>
          </p:cNvSpPr>
          <p:nvPr>
            <p:ph type="sldImg" idx="2"/>
          </p:nvPr>
        </p:nvSpPr>
        <p:spPr bwMode="auto"/>
      </p:sp>
      <p:sp>
        <p:nvSpPr>
          <p:cNvPr id="368615761"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74501813" name="Slide Image Placeholder 1"/>
          <p:cNvSpPr>
            <a:spLocks noGrp="1" noRot="1" noChangeAspect="1"/>
          </p:cNvSpPr>
          <p:nvPr>
            <p:ph type="sldImg" idx="2"/>
          </p:nvPr>
        </p:nvSpPr>
        <p:spPr bwMode="auto"/>
      </p:sp>
      <p:sp>
        <p:nvSpPr>
          <p:cNvPr id="1559721941"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87155202" name="Slide Image Placeholder 1"/>
          <p:cNvSpPr>
            <a:spLocks noGrp="1" noRot="1" noChangeAspect="1"/>
          </p:cNvSpPr>
          <p:nvPr>
            <p:ph type="sldImg" idx="2"/>
          </p:nvPr>
        </p:nvSpPr>
        <p:spPr bwMode="auto"/>
      </p:sp>
      <p:sp>
        <p:nvSpPr>
          <p:cNvPr id="1042892844" name="Notes Placeholder 2"/>
          <p:cNvSpPr>
            <a:spLocks noGrp="1"/>
          </p:cNvSpPr>
          <p:nvPr>
            <p:ph type="body" idx="1"/>
          </p:nvPr>
        </p:nvSpPr>
        <p:spPr bwMode="auto"/>
        <p:txBody>
          <a:bodyPr/>
          <a:lstStyle/>
          <a:p>
            <a:pPr>
              <a:defRPr/>
            </a:pPr>
            <a:r>
              <a:t>Waldo et al. (1994) name memory access as one of four differences between local and remote calls: a local callee shares memory with the caller. Garcia-Molina and Salem (1987) describe sagas, in which each step has a compensating action. For a remote tool, the compensating action must exist as another tool call.</a:t>
            </a:r>
          </a:p>
        </p:txBody>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940403" name="Slide Image Placeholder 1"/>
          <p:cNvSpPr>
            <a:spLocks noGrp="1" noRot="1" noChangeAspect="1"/>
          </p:cNvSpPr>
          <p:nvPr>
            <p:ph type="sldImg" idx="2"/>
          </p:nvPr>
        </p:nvSpPr>
        <p:spPr bwMode="auto"/>
      </p:sp>
      <p:sp>
        <p:nvSpPr>
          <p:cNvPr id="1736628131"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3451248" name="Slide Image Placeholder 1"/>
          <p:cNvSpPr>
            <a:spLocks noGrp="1" noRot="1" noChangeAspect="1"/>
          </p:cNvSpPr>
          <p:nvPr>
            <p:ph type="sldImg" idx="2"/>
          </p:nvPr>
        </p:nvSpPr>
        <p:spPr bwMode="auto"/>
      </p:sp>
      <p:sp>
        <p:nvSpPr>
          <p:cNvPr id="425089250"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1231973" name="Slide Image Placeholder 1"/>
          <p:cNvSpPr>
            <a:spLocks noGrp="1" noRot="1" noChangeAspect="1"/>
          </p:cNvSpPr>
          <p:nvPr>
            <p:ph type="sldImg" idx="2"/>
          </p:nvPr>
        </p:nvSpPr>
        <p:spPr bwMode="auto"/>
      </p:sp>
      <p:sp>
        <p:nvSpPr>
          <p:cNvPr id="36935895"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93955829" name="Slide Image Placeholder 1"/>
          <p:cNvSpPr>
            <a:spLocks noGrp="1" noRot="1" noChangeAspect="1"/>
          </p:cNvSpPr>
          <p:nvPr>
            <p:ph type="sldImg" idx="2"/>
          </p:nvPr>
        </p:nvSpPr>
        <p:spPr bwMode="auto"/>
      </p:sp>
      <p:sp>
        <p:nvSpPr>
          <p:cNvPr id="1700984459" name="Notes Placeholder 2"/>
          <p:cNvSpPr>
            <a:spLocks noGrp="1"/>
          </p:cNvSpPr>
          <p:nvPr>
            <p:ph type="body" idx="1"/>
          </p:nvPr>
        </p:nvSpPr>
        <p:spPr bwMode="auto"/>
        <p:txBody>
          <a:bodyPr/>
          <a:lstStyle/>
          <a:p>
            <a:pPr>
              <a:defRPr/>
            </a:pPr>
            <a:r>
              <a:t>Lamport (1978) defines the happens-before relation. Two requests that the caller sends in order have no guaranteed delivery order unless the system adds one. Parallel tool calls appeared in November 2023 (slide 8). In the patch agent the loop is sequential, so the course code does not exhibit this problem.</a:t>
            </a:r>
          </a:p>
        </p:txBody>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10136968" name="Slide Image Placeholder 1"/>
          <p:cNvSpPr>
            <a:spLocks noGrp="1" noRot="1" noChangeAspect="1"/>
          </p:cNvSpPr>
          <p:nvPr>
            <p:ph type="sldImg" idx="2"/>
          </p:nvPr>
        </p:nvSpPr>
        <p:spPr bwMode="auto"/>
      </p:sp>
      <p:sp>
        <p:nvSpPr>
          <p:cNvPr id="406002683"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41038975" name="Slide Image Placeholder 1"/>
          <p:cNvSpPr>
            <a:spLocks noGrp="1" noRot="1" noChangeAspect="1"/>
          </p:cNvSpPr>
          <p:nvPr>
            <p:ph type="sldImg" idx="2"/>
          </p:nvPr>
        </p:nvSpPr>
        <p:spPr bwMode="auto"/>
      </p:sp>
      <p:sp>
        <p:nvSpPr>
          <p:cNvPr id="1942406224"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51040219" name="Slide Image Placeholder 1"/>
          <p:cNvSpPr>
            <a:spLocks noGrp="1" noRot="1" noChangeAspect="1"/>
          </p:cNvSpPr>
          <p:nvPr>
            <p:ph type="sldImg" idx="2"/>
          </p:nvPr>
        </p:nvSpPr>
        <p:spPr bwMode="auto"/>
      </p:sp>
      <p:sp>
        <p:nvSpPr>
          <p:cNvPr id="1569838317"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70419723" name="Slide Image Placeholder 1"/>
          <p:cNvSpPr>
            <a:spLocks noGrp="1" noRot="1" noChangeAspect="1"/>
          </p:cNvSpPr>
          <p:nvPr>
            <p:ph type="sldImg" idx="2"/>
          </p:nvPr>
        </p:nvSpPr>
        <p:spPr bwMode="auto"/>
      </p:sp>
      <p:sp>
        <p:nvSpPr>
          <p:cNvPr id="1972759462"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21490432" name="Slide Image Placeholder 1"/>
          <p:cNvSpPr>
            <a:spLocks noGrp="1" noRot="1" noChangeAspect="1"/>
          </p:cNvSpPr>
          <p:nvPr>
            <p:ph type="sldImg" idx="2"/>
          </p:nvPr>
        </p:nvSpPr>
        <p:spPr bwMode="auto"/>
      </p:sp>
      <p:sp>
        <p:nvSpPr>
          <p:cNvPr id="840357373"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07207853" name="Slide Image Placeholder 1"/>
          <p:cNvSpPr>
            <a:spLocks noGrp="1" noRot="1" noChangeAspect="1"/>
          </p:cNvSpPr>
          <p:nvPr>
            <p:ph type="sldImg" idx="2"/>
          </p:nvPr>
        </p:nvSpPr>
        <p:spPr bwMode="auto"/>
      </p:sp>
      <p:sp>
        <p:nvSpPr>
          <p:cNvPr id="1974984911"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7456109" name="Slide Image Placeholder 1"/>
          <p:cNvSpPr>
            <a:spLocks noGrp="1" noRot="1" noChangeAspect="1"/>
          </p:cNvSpPr>
          <p:nvPr>
            <p:ph type="sldImg" idx="2"/>
          </p:nvPr>
        </p:nvSpPr>
        <p:spPr bwMode="auto"/>
      </p:sp>
      <p:sp>
        <p:nvSpPr>
          <p:cNvPr id="114884358" name="Notes Placeholder 2"/>
          <p:cNvSpPr>
            <a:spLocks noGrp="1"/>
          </p:cNvSpPr>
          <p:nvPr>
            <p:ph type="body" idx="1"/>
          </p:nvPr>
        </p:nvSpPr>
        <p:spPr bwMode="auto"/>
        <p:txBody>
          <a:bodyPr/>
          <a:lstStyle/>
          <a:p>
            <a:pPr>
              <a:defRPr/>
            </a:pPr>
            <a:r>
              <a:t>Each right-hand cell summarizes one of the six guarantee slides. The failure and recovery segment returns to each of these properties. The end-to-end argument (Saltzer, Reed and Clark, 1984) predicts where exactly-once can live: at the endpoints, with the help of the application.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5.xml"/><Relationship Id="rId3" Type="http://schemas.openxmlformats.org/officeDocument/2006/relationships/image" Target="../media/image4.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 Id="rId3" Type="http://schemas.openxmlformats.org/officeDocument/2006/relationships/image" Target="../media/image22.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1.xml"/><Relationship Id="rId3" Type="http://schemas.openxmlformats.org/officeDocument/2006/relationships/image" Target="../media/image23.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2.xml"/><Relationship Id="rId3" Type="http://schemas.openxmlformats.org/officeDocument/2006/relationships/image" Target="../media/image23.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3.xml"/><Relationship Id="rId3" Type="http://schemas.openxmlformats.org/officeDocument/2006/relationships/image" Target="../media/image23.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 Id="rId3" Type="http://schemas.openxmlformats.org/officeDocument/2006/relationships/image" Target="../media/image23.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5.xml"/><Relationship Id="rId3" Type="http://schemas.openxmlformats.org/officeDocument/2006/relationships/image" Target="../media/image24.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6.xml"/><Relationship Id="rId3" Type="http://schemas.openxmlformats.org/officeDocument/2006/relationships/image" Target="../media/image24.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7.xml"/><Relationship Id="rId3" Type="http://schemas.openxmlformats.org/officeDocument/2006/relationships/image" Target="../media/image24.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8.xml"/><Relationship Id="rId3" Type="http://schemas.openxmlformats.org/officeDocument/2006/relationships/image" Target="../media/image24.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9.xml"/><Relationship Id="rId3" Type="http://schemas.openxmlformats.org/officeDocument/2006/relationships/image" Target="../media/image25.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0.xml"/><Relationship Id="rId3" Type="http://schemas.openxmlformats.org/officeDocument/2006/relationships/image" Target="../media/image25.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1.xml"/><Relationship Id="rId3" Type="http://schemas.openxmlformats.org/officeDocument/2006/relationships/image" Target="../media/image25.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2.xml"/><Relationship Id="rId3" Type="http://schemas.openxmlformats.org/officeDocument/2006/relationships/image" Target="../media/image25.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3.xml"/><Relationship Id="rId3" Type="http://schemas.openxmlformats.org/officeDocument/2006/relationships/image" Target="../media/image26.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4.xml"/><Relationship Id="rId3" Type="http://schemas.openxmlformats.org/officeDocument/2006/relationships/image" Target="../media/image26.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5.xml"/><Relationship Id="rId3" Type="http://schemas.openxmlformats.org/officeDocument/2006/relationships/image" Target="../media/image26.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 Id="rId3" Type="http://schemas.openxmlformats.org/officeDocument/2006/relationships/image" Target="../media/image26.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7.xml"/><Relationship Id="rId3" Type="http://schemas.openxmlformats.org/officeDocument/2006/relationships/image" Target="../media/image27.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8.xml"/><Relationship Id="rId3" Type="http://schemas.openxmlformats.org/officeDocument/2006/relationships/image" Target="../media/image27.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9.xml"/><Relationship Id="rId3" Type="http://schemas.openxmlformats.org/officeDocument/2006/relationships/image" Target="../media/image27.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0.xml"/><Relationship Id="rId3" Type="http://schemas.openxmlformats.org/officeDocument/2006/relationships/image" Target="../media/image27.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1.xml"/><Relationship Id="rId3" Type="http://schemas.openxmlformats.org/officeDocument/2006/relationships/image" Target="../media/image28.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2.xml"/><Relationship Id="rId3" Type="http://schemas.openxmlformats.org/officeDocument/2006/relationships/image" Target="../media/image28.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3.xml"/><Relationship Id="rId3" Type="http://schemas.openxmlformats.org/officeDocument/2006/relationships/image" Target="../media/image28.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4.xml"/><Relationship Id="rId3" Type="http://schemas.openxmlformats.org/officeDocument/2006/relationships/image" Target="../media/image28.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9.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1.xml"/></Relationships>
</file>

<file path=ppt/slides/slide2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94326759" name="Title 1"/>
          <p:cNvSpPr>
            <a:spLocks noGrp="1"/>
          </p:cNvSpPr>
          <p:nvPr>
            <p:ph type="title"/>
          </p:nvPr>
        </p:nvSpPr>
        <p:spPr bwMode="auto"/>
        <p:txBody>
          <a:bodyPr/>
          <a:lstStyle/>
          <a:p>
            <a:pPr>
              <a:defRPr/>
            </a:pPr>
            <a:r>
              <a:t>Who must ask the user before a tool runs?</a:t>
            </a:r>
          </a:p>
        </p:txBody>
      </p:sp>
      <p:sp>
        <p:nvSpPr>
          <p:cNvPr id="2065346516"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 tool is about to run. Which party must obtain the user's consent first?</a:t>
            </a:r>
            <a:endParaRPr/>
          </a:p>
        </p:txBody>
      </p:sp>
      <p:sp>
        <p:nvSpPr>
          <p:cNvPr id="1975312189"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02209701"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185587950"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1485376125"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34730345"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1231282727"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The host</a:t>
            </a:r>
            <a:endParaRPr/>
          </a:p>
        </p:txBody>
      </p:sp>
      <p:sp>
        <p:nvSpPr>
          <p:cNvPr id="946819889"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2077370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12838865"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108047872"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2054136083"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412627971"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14378771" name="Title 1"/>
          <p:cNvSpPr>
            <a:spLocks noGrp="1"/>
          </p:cNvSpPr>
          <p:nvPr>
            <p:ph type="title"/>
          </p:nvPr>
        </p:nvSpPr>
        <p:spPr bwMode="auto"/>
        <p:txBody>
          <a:bodyPr/>
          <a:lstStyle/>
          <a:p>
            <a:pPr>
              <a:defRPr/>
            </a:pPr>
            <a:r>
              <a:t>Who must ask the user before a tool runs?</a:t>
            </a:r>
          </a:p>
        </p:txBody>
      </p:sp>
      <p:sp>
        <p:nvSpPr>
          <p:cNvPr id="387833374"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A tool is about to run. Which party must obtain the user's consent first?</a:t>
            </a:r>
            <a:endParaRPr/>
          </a:p>
        </p:txBody>
      </p:sp>
      <p:sp>
        <p:nvSpPr>
          <p:cNvPr id="1313908042"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978584678"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2061586111"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The model</a:t>
            </a:r>
            <a:endParaRPr/>
          </a:p>
        </p:txBody>
      </p:sp>
      <p:sp>
        <p:nvSpPr>
          <p:cNvPr id="1116553483" name="Rounded Rectangle 6"/>
          <p:cNvSpPr/>
          <p:nvPr/>
        </p:nvSpPr>
        <p:spPr bwMode="auto">
          <a:xfrm>
            <a:off x="320040" y="2203704"/>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0890113" name="Oval 7"/>
          <p:cNvSpPr/>
          <p:nvPr/>
        </p:nvSpPr>
        <p:spPr bwMode="auto">
          <a:xfrm>
            <a:off x="457200" y="2304288"/>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b</a:t>
            </a:r>
            <a:endParaRPr/>
          </a:p>
        </p:txBody>
      </p:sp>
      <p:sp>
        <p:nvSpPr>
          <p:cNvPr id="299879674"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1">
                <a:solidFill>
                  <a:schemeClr val="accent4"/>
                </a:solidFill>
              </a:rPr>
              <a:t>The host</a:t>
            </a:r>
            <a:endParaRPr/>
          </a:p>
        </p:txBody>
      </p:sp>
      <p:sp>
        <p:nvSpPr>
          <p:cNvPr id="208298395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783139943"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443765190"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The client</a:t>
            </a:r>
            <a:endParaRPr/>
          </a:p>
        </p:txBody>
      </p:sp>
      <p:sp>
        <p:nvSpPr>
          <p:cNvPr id="1412709821"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208823306"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8389430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The server</a:t>
            </a:r>
            <a:endParaRPr/>
          </a:p>
        </p:txBody>
      </p:sp>
      <p:sp>
        <p:nvSpPr>
          <p:cNvPr id="89798831" name="Rectangle 4"/>
          <p:cNvSpPr/>
          <p:nvPr/>
        </p:nvSpPr>
        <p:spPr bwMode="auto">
          <a:xfrm>
            <a:off x="320040" y="4224528"/>
            <a:ext cx="6016752" cy="502920"/>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rgbClr val="28285E"/>
                </a:solidFill>
              </a:rPr>
              <a:t>The host must obtain explicit user consent before invoking any tool.</a:t>
            </a:r>
            <a:endParaRPr sz="160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19881323" name="TextBox 2"/>
          <p:cNvSpPr txBox="1"/>
          <p:nvPr/>
        </p:nvSpPr>
        <p:spPr bwMode="auto">
          <a:xfrm>
            <a:off x="612648" y="272097"/>
            <a:ext cx="5633783" cy="1310999"/>
          </a:xfrm>
          <a:prstGeom prst="rect">
            <a:avLst/>
          </a:prstGeom>
          <a:noFill/>
        </p:spPr>
        <p:txBody>
          <a:bodyPr wrap="square" anchor="ctr">
            <a:spAutoFit/>
          </a:bodyPr>
          <a:lstStyle/>
          <a:p>
            <a:pPr algn="ctr">
              <a:defRPr/>
            </a:pPr>
            <a:r>
              <a:rPr lang="en-US" sz="4000" b="1">
                <a:solidFill>
                  <a:schemeClr val="bg1"/>
                </a:solidFill>
                <a:latin typeface="Arial"/>
              </a:rPr>
              <a:t>Tools, contracts, and execution boundaries</a:t>
            </a:r>
            <a:endParaRPr sz="4000" b="1">
              <a:solidFill>
                <a:schemeClr val="bg1"/>
              </a:solidFill>
              <a:latin typeface="Arial"/>
            </a:endParaRPr>
          </a:p>
        </p:txBody>
      </p:sp>
      <p:cxnSp>
        <p:nvCxnSpPr>
          <p:cNvPr id="802391226"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069401919"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7477817" name="TextBox 12"/>
          <p:cNvSpPr txBox="1"/>
          <p:nvPr/>
        </p:nvSpPr>
        <p:spPr bwMode="auto">
          <a:xfrm>
            <a:off x="1261872" y="2521407"/>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898192679"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67443103" name="TextBox 12"/>
          <p:cNvSpPr txBox="1"/>
          <p:nvPr/>
        </p:nvSpPr>
        <p:spPr bwMode="auto">
          <a:xfrm>
            <a:off x="1261872" y="2996896"/>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69239584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82535418" name="TextBox 12"/>
          <p:cNvSpPr txBox="1"/>
          <p:nvPr/>
        </p:nvSpPr>
        <p:spPr bwMode="auto">
          <a:xfrm>
            <a:off x="1261872" y="3472383"/>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1545696821"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85452596" name="TextBox 12"/>
          <p:cNvSpPr txBox="1"/>
          <p:nvPr/>
        </p:nvSpPr>
        <p:spPr bwMode="auto">
          <a:xfrm>
            <a:off x="1261872" y="3947872"/>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36407094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53315508" name="TextBox 12"/>
          <p:cNvSpPr txBox="1"/>
          <p:nvPr/>
        </p:nvSpPr>
        <p:spPr bwMode="auto">
          <a:xfrm>
            <a:off x="1261872" y="2045919"/>
            <a:ext cx="5074272" cy="335639"/>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13945853" name="TextBox 2"/>
          <p:cNvSpPr txBox="1"/>
          <p:nvPr/>
        </p:nvSpPr>
        <p:spPr bwMode="auto">
          <a:xfrm>
            <a:off x="612648" y="581756"/>
            <a:ext cx="5643502" cy="701399"/>
          </a:xfrm>
          <a:prstGeom prst="rect">
            <a:avLst/>
          </a:prstGeom>
          <a:noFill/>
        </p:spPr>
        <p:txBody>
          <a:bodyPr wrap="square" anchor="ctr">
            <a:spAutoFit/>
          </a:bodyPr>
          <a:lstStyle/>
          <a:p>
            <a:pPr algn="ctr">
              <a:defRPr/>
            </a:pPr>
            <a:r>
              <a:rPr lang="en-US" sz="4000" b="1">
                <a:solidFill>
                  <a:schemeClr val="bg1"/>
                </a:solidFill>
                <a:latin typeface="Arial"/>
              </a:rPr>
              <a:t>Failure and recovery</a:t>
            </a:r>
            <a:endParaRPr sz="4000" b="1">
              <a:solidFill>
                <a:schemeClr val="bg1"/>
              </a:solidFill>
              <a:latin typeface="Arial"/>
            </a:endParaRPr>
          </a:p>
        </p:txBody>
      </p:sp>
      <p:cxnSp>
        <p:nvCxnSpPr>
          <p:cNvPr id="1411453262"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777470932"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0004267"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The tool dispatcher</a:t>
            </a:r>
            <a:endParaRPr/>
          </a:p>
        </p:txBody>
      </p:sp>
      <p:sp>
        <p:nvSpPr>
          <p:cNvPr id="991541088"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7599082"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Native tool calls</a:t>
            </a:r>
            <a:endParaRPr/>
          </a:p>
        </p:txBody>
      </p:sp>
      <p:sp>
        <p:nvSpPr>
          <p:cNvPr id="1124491303"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6221877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sp>
        <p:nvSpPr>
          <p:cNvPr id="914088039"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100547447"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a:solidFill>
                  <a:schemeClr val="tx2"/>
                </a:solidFill>
                <a:latin typeface="Arial"/>
              </a:rPr>
              <a:t>Failure and recovery</a:t>
            </a:r>
            <a:endParaRPr/>
          </a:p>
        </p:txBody>
      </p:sp>
      <p:sp>
        <p:nvSpPr>
          <p:cNvPr id="1277652159"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07544608"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Tool usage in Agents: An Overview</a:t>
            </a:r>
            <a:endParaRPr/>
          </a:p>
        </p:txBody>
      </p:sp>
      <p:pic>
        <p:nvPicPr>
          <p:cNvPr id="575966277" name="Picture 13" descr="image.png"/>
          <p:cNvPicPr>
            <a:picLocks noChangeAspect="1"/>
          </p:cNvPicPr>
          <p:nvPr/>
        </p:nvPicPr>
        <p:blipFill rotWithShape="1">
          <a:blip r:embed="rId3">
            <a:alphaModFix amt="70000"/>
          </a:blip>
          <a:stretch/>
        </p:blipFill>
        <p:spPr bwMode="auto">
          <a:xfrm>
            <a:off x="822960" y="1872409"/>
            <a:ext cx="5733288" cy="20161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36546017" name="Title 1"/>
          <p:cNvSpPr>
            <a:spLocks noGrp="1"/>
          </p:cNvSpPr>
          <p:nvPr>
            <p:ph type="title"/>
          </p:nvPr>
        </p:nvSpPr>
        <p:spPr bwMode="auto"/>
        <p:txBody>
          <a:bodyPr/>
          <a:lstStyle/>
          <a:p>
            <a:pPr>
              <a:defRPr/>
            </a:pPr>
            <a:r>
              <a:t>Tool calls across a boundary can go wrong.</a:t>
            </a:r>
          </a:p>
        </p:txBody>
      </p:sp>
      <p:sp>
        <p:nvSpPr>
          <p:cNvPr id="1473024182" name="TextBox 1293791641"/>
          <p:cNvSpPr txBox="1"/>
          <p:nvPr/>
        </p:nvSpPr>
        <p:spPr bwMode="auto">
          <a:xfrm>
            <a:off x="320040" y="760000"/>
            <a:ext cx="6016752" cy="420000"/>
          </a:xfrm>
          <a:prstGeom prst="rect">
            <a:avLst/>
          </a:prstGeom>
          <a:noFill/>
        </p:spPr>
        <p:txBody>
          <a:bodyPr wrap="square" lIns="0" tIns="0" rIns="0" bIns="0">
            <a:spAutoFit/>
          </a:bodyPr>
          <a:lstStyle/>
          <a:p>
            <a:pPr>
              <a:defRPr/>
            </a:pPr>
            <a:r>
              <a:rPr sz="1200" b="0">
                <a:solidFill>
                  <a:srgbClr val="1F1F1F"/>
                </a:solidFill>
              </a:rPr>
              <a:t>This section examines what can go wrong once a tool runs behind a protocol, first in design and then at run time.</a:t>
            </a:r>
            <a:endParaRPr/>
          </a:p>
        </p:txBody>
      </p:sp>
      <p:sp>
        <p:nvSpPr>
          <p:cNvPr id="717228975" name="Rounded Rectangle 1293791642"/>
          <p:cNvSpPr/>
          <p:nvPr/>
        </p:nvSpPr>
        <p:spPr bwMode="auto">
          <a:xfrm>
            <a:off x="320040"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6648585" name="TextBox 1293791643"/>
          <p:cNvSpPr txBox="1"/>
          <p:nvPr/>
        </p:nvSpPr>
        <p:spPr bwMode="auto">
          <a:xfrm>
            <a:off x="457200" y="1417319"/>
            <a:ext cx="2669796" cy="183240"/>
          </a:xfrm>
          <a:prstGeom prst="rect">
            <a:avLst/>
          </a:prstGeom>
          <a:noFill/>
        </p:spPr>
        <p:txBody>
          <a:bodyPr wrap="square" lIns="0" tIns="0" rIns="0" bIns="0">
            <a:spAutoFit/>
          </a:bodyPr>
          <a:lstStyle/>
          <a:p>
            <a:pPr>
              <a:defRPr/>
            </a:pPr>
            <a:r>
              <a:rPr sz="1200" b="1">
                <a:solidFill>
                  <a:srgbClr val="28285E"/>
                </a:solidFill>
              </a:rPr>
              <a:t>Design problems that arise</a:t>
            </a:r>
            <a:endParaRPr/>
          </a:p>
        </p:txBody>
      </p:sp>
      <p:sp>
        <p:nvSpPr>
          <p:cNvPr id="736047484" name="TextBox 2029265039"/>
          <p:cNvSpPr txBox="1"/>
          <p:nvPr/>
        </p:nvSpPr>
        <p:spPr bwMode="auto">
          <a:xfrm>
            <a:off x="457200" y="1660559"/>
            <a:ext cx="266979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Server design shapes what the model can call.</a:t>
            </a:r>
            <a:endParaRPr/>
          </a:p>
          <a:p>
            <a:pPr marL="228600" indent="-228600">
              <a:spcAft>
                <a:spcPts val="600"/>
              </a:spcAft>
              <a:buFont typeface="+mj-lt"/>
              <a:buAutoNum type="arabicPeriod"/>
              <a:defRPr/>
            </a:pPr>
            <a:r>
              <a:rPr sz="1050" b="0">
                <a:solidFill>
                  <a:srgbClr val="1F1F1F"/>
                </a:solidFill>
              </a:rPr>
              <a:t>Most tool descriptions have defects.</a:t>
            </a:r>
            <a:endParaRPr/>
          </a:p>
          <a:p>
            <a:pPr marL="228600" indent="-228600">
              <a:spcAft>
                <a:spcPts val="600"/>
              </a:spcAft>
              <a:buFont typeface="+mj-lt"/>
              <a:buAutoNum type="arabicPeriod"/>
              <a:defRPr/>
            </a:pPr>
            <a:r>
              <a:rPr sz="1050" b="0">
                <a:solidFill>
                  <a:srgbClr val="1F1F1F"/>
                </a:solidFill>
              </a:rPr>
              <a:t>Strict decoding fixes structure, not values.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57474851" name="Title 1"/>
          <p:cNvSpPr>
            <a:spLocks noGrp="1"/>
          </p:cNvSpPr>
          <p:nvPr>
            <p:ph type="title"/>
          </p:nvPr>
        </p:nvSpPr>
        <p:spPr bwMode="auto"/>
        <p:txBody>
          <a:bodyPr/>
          <a:lstStyle/>
          <a:p>
            <a:pPr>
              <a:defRPr/>
            </a:pPr>
            <a:r>
              <a:t>Tool calls across a boundary can go wrong.</a:t>
            </a:r>
          </a:p>
        </p:txBody>
      </p:sp>
      <p:sp>
        <p:nvSpPr>
          <p:cNvPr id="200023081" name="TextBox 1293791641"/>
          <p:cNvSpPr txBox="1"/>
          <p:nvPr/>
        </p:nvSpPr>
        <p:spPr bwMode="auto">
          <a:xfrm>
            <a:off x="320040" y="760000"/>
            <a:ext cx="6016752" cy="420000"/>
          </a:xfrm>
          <a:prstGeom prst="rect">
            <a:avLst/>
          </a:prstGeom>
          <a:noFill/>
        </p:spPr>
        <p:txBody>
          <a:bodyPr wrap="square" lIns="0" tIns="0" rIns="0" bIns="0">
            <a:spAutoFit/>
          </a:bodyPr>
          <a:lstStyle/>
          <a:p>
            <a:pPr>
              <a:defRPr/>
            </a:pPr>
            <a:r>
              <a:rPr sz="1200" b="0">
                <a:solidFill>
                  <a:srgbClr val="1F1F1F"/>
                </a:solidFill>
              </a:rPr>
              <a:t>This section examines what can go wrong once a tool runs behind a protocol, first in design and then at run time.</a:t>
            </a:r>
            <a:endParaRPr/>
          </a:p>
        </p:txBody>
      </p:sp>
      <p:sp>
        <p:nvSpPr>
          <p:cNvPr id="2034792128" name="Rounded Rectangle 1293791642"/>
          <p:cNvSpPr/>
          <p:nvPr/>
        </p:nvSpPr>
        <p:spPr bwMode="auto">
          <a:xfrm>
            <a:off x="320040"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40926199" name="TextBox 1293791643"/>
          <p:cNvSpPr txBox="1"/>
          <p:nvPr/>
        </p:nvSpPr>
        <p:spPr bwMode="auto">
          <a:xfrm>
            <a:off x="457200" y="1417319"/>
            <a:ext cx="2669796" cy="183240"/>
          </a:xfrm>
          <a:prstGeom prst="rect">
            <a:avLst/>
          </a:prstGeom>
          <a:noFill/>
        </p:spPr>
        <p:txBody>
          <a:bodyPr wrap="square" lIns="0" tIns="0" rIns="0" bIns="0">
            <a:spAutoFit/>
          </a:bodyPr>
          <a:lstStyle/>
          <a:p>
            <a:pPr>
              <a:defRPr/>
            </a:pPr>
            <a:r>
              <a:rPr sz="1200" b="1">
                <a:solidFill>
                  <a:srgbClr val="28285E"/>
                </a:solidFill>
              </a:rPr>
              <a:t>Design problems that arise</a:t>
            </a:r>
            <a:endParaRPr/>
          </a:p>
        </p:txBody>
      </p:sp>
      <p:sp>
        <p:nvSpPr>
          <p:cNvPr id="1368955134" name="Rounded Rectangle 1293791647"/>
          <p:cNvSpPr/>
          <p:nvPr/>
        </p:nvSpPr>
        <p:spPr bwMode="auto">
          <a:xfrm>
            <a:off x="3396996"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5352229" name="TextBox 1293791648"/>
          <p:cNvSpPr txBox="1"/>
          <p:nvPr/>
        </p:nvSpPr>
        <p:spPr bwMode="auto">
          <a:xfrm>
            <a:off x="3534156" y="1417319"/>
            <a:ext cx="2668356" cy="183240"/>
          </a:xfrm>
          <a:prstGeom prst="rect">
            <a:avLst/>
          </a:prstGeom>
          <a:noFill/>
        </p:spPr>
        <p:txBody>
          <a:bodyPr wrap="square" lIns="0" tIns="0" rIns="0" bIns="0">
            <a:spAutoFit/>
          </a:bodyPr>
          <a:lstStyle/>
          <a:p>
            <a:pPr>
              <a:defRPr/>
            </a:pPr>
            <a:r>
              <a:rPr sz="1200" b="1">
                <a:solidFill>
                  <a:srgbClr val="28285E"/>
                </a:solidFill>
              </a:rPr>
              <a:t>Failures at run time that follow...</a:t>
            </a:r>
            <a:endParaRPr/>
          </a:p>
        </p:txBody>
      </p:sp>
      <p:sp>
        <p:nvSpPr>
          <p:cNvPr id="690383419" name="TextBox 2029265039"/>
          <p:cNvSpPr txBox="1"/>
          <p:nvPr/>
        </p:nvSpPr>
        <p:spPr bwMode="auto">
          <a:xfrm>
            <a:off x="457200" y="1660559"/>
            <a:ext cx="266979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Server design shapes what the model can call.</a:t>
            </a:r>
            <a:endParaRPr/>
          </a:p>
          <a:p>
            <a:pPr marL="228600" indent="-228600">
              <a:spcAft>
                <a:spcPts val="600"/>
              </a:spcAft>
              <a:buFont typeface="+mj-lt"/>
              <a:buAutoNum type="arabicPeriod"/>
              <a:defRPr/>
            </a:pPr>
            <a:r>
              <a:rPr sz="1050" b="0">
                <a:solidFill>
                  <a:srgbClr val="1F1F1F"/>
                </a:solidFill>
              </a:rPr>
              <a:t>Most tool descriptions have defects.</a:t>
            </a:r>
            <a:endParaRPr/>
          </a:p>
          <a:p>
            <a:pPr marL="228600" indent="-228600">
              <a:spcAft>
                <a:spcPts val="600"/>
              </a:spcAft>
              <a:buFont typeface="+mj-lt"/>
              <a:buAutoNum type="arabicPeriod"/>
              <a:defRPr/>
            </a:pPr>
            <a:r>
              <a:rPr sz="1050" b="0">
                <a:solidFill>
                  <a:srgbClr val="1F1F1F"/>
                </a:solidFill>
              </a:rPr>
              <a:t>Strict decoding fixes structure, not values.</a:t>
            </a:r>
            <a:endParaRPr/>
          </a:p>
        </p:txBody>
      </p:sp>
      <p:sp>
        <p:nvSpPr>
          <p:cNvPr id="341102291" name="TextBox 2029265040"/>
          <p:cNvSpPr txBox="1"/>
          <p:nvPr/>
        </p:nvSpPr>
        <p:spPr bwMode="auto">
          <a:xfrm>
            <a:off x="3534156" y="1660559"/>
            <a:ext cx="266835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A lost request and a lost reply look the same.</a:t>
            </a:r>
            <a:endParaRPr/>
          </a:p>
          <a:p>
            <a:pPr marL="228600" indent="-228600">
              <a:spcAft>
                <a:spcPts val="600"/>
              </a:spcAft>
              <a:buFont typeface="+mj-lt"/>
              <a:buAutoNum type="arabicPeriod"/>
              <a:defRPr/>
            </a:pPr>
            <a:r>
              <a:rPr sz="1050" b="0">
                <a:solidFill>
                  <a:srgbClr val="1F1F1F"/>
                </a:solidFill>
              </a:rPr>
              <a:t>A new request defeats duplicate suppression.</a:t>
            </a:r>
            <a:endParaRPr/>
          </a:p>
          <a:p>
            <a:pPr marL="228600" indent="-228600">
              <a:spcAft>
                <a:spcPts val="600"/>
              </a:spcAft>
              <a:buFont typeface="+mj-lt"/>
              <a:buAutoNum type="arabicPeriod"/>
              <a:defRPr/>
            </a:pPr>
            <a:r>
              <a:rPr sz="1050" b="0">
                <a:solidFill>
                  <a:srgbClr val="1F1F1F"/>
                </a:solidFill>
              </a:rPr>
              <a:t>A callee in another process can fail alone.</a:t>
            </a:r>
            <a:endParaRPr/>
          </a:p>
          <a:p>
            <a:pPr marL="228600" indent="-228600">
              <a:spcAft>
                <a:spcPts val="600"/>
              </a:spcAft>
              <a:buFont typeface="+mj-lt"/>
              <a:buAutoNum type="arabicPeriod"/>
              <a:defRPr/>
            </a:pPr>
            <a:r>
              <a:rPr sz="1050" b="0">
                <a:solidFill>
                  <a:srgbClr val="1F1F1F"/>
                </a:solidFill>
              </a:rPr>
              <a:t>A late reply and a lost reply look alike.</a:t>
            </a:r>
            <a:endParaRPr/>
          </a:p>
          <a:p>
            <a:pPr marL="228600" indent="-228600">
              <a:spcAft>
                <a:spcPts val="600"/>
              </a:spcAft>
              <a:buFont typeface="+mj-lt"/>
              <a:buAutoNum type="arabicPeriod"/>
              <a:defRPr/>
            </a:pPr>
            <a:r>
              <a:rPr sz="1050" b="0">
                <a:solidFill>
                  <a:srgbClr val="1F1F1F"/>
                </a:solidFill>
              </a:rPr>
              <a:t>A remote caller cannot repair partial effects.</a:t>
            </a:r>
            <a:endParaRPr/>
          </a:p>
          <a:p>
            <a:pPr marL="228600" indent="-228600">
              <a:spcAft>
                <a:spcPts val="600"/>
              </a:spcAft>
              <a:buFont typeface="+mj-lt"/>
              <a:buAutoNum type="arabicPeriod"/>
              <a:defRPr/>
            </a:pPr>
            <a:r>
              <a:rPr sz="1050" b="0">
                <a:solidFill>
                  <a:srgbClr val="1F1F1F"/>
                </a:solidFill>
              </a:rPr>
              <a:t>Parallel requests can take effect out of order.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5399748" name="Title 1"/>
          <p:cNvSpPr>
            <a:spLocks noGrp="1"/>
          </p:cNvSpPr>
          <p:nvPr>
            <p:ph type="title"/>
          </p:nvPr>
        </p:nvSpPr>
        <p:spPr bwMode="auto"/>
        <p:txBody>
          <a:bodyPr/>
          <a:lstStyle/>
          <a:p>
            <a:pPr>
              <a:defRPr/>
            </a:pPr>
            <a:r>
              <a:t>Tool calls across a boundary can go wrong.</a:t>
            </a:r>
          </a:p>
        </p:txBody>
      </p:sp>
      <p:sp>
        <p:nvSpPr>
          <p:cNvPr id="21305810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Each failure removes one guarantee of a local call, and the failure and recovery segment restores it.</a:t>
            </a:r>
            <a:endParaRPr/>
          </a:p>
        </p:txBody>
      </p:sp>
      <p:sp>
        <p:nvSpPr>
          <p:cNvPr id="1737481276" name="TextBox 1293791641"/>
          <p:cNvSpPr txBox="1"/>
          <p:nvPr/>
        </p:nvSpPr>
        <p:spPr bwMode="auto">
          <a:xfrm>
            <a:off x="320040" y="760000"/>
            <a:ext cx="6016752" cy="420000"/>
          </a:xfrm>
          <a:prstGeom prst="rect">
            <a:avLst/>
          </a:prstGeom>
          <a:noFill/>
        </p:spPr>
        <p:txBody>
          <a:bodyPr wrap="square" lIns="0" tIns="0" rIns="0" bIns="0">
            <a:spAutoFit/>
          </a:bodyPr>
          <a:lstStyle/>
          <a:p>
            <a:pPr>
              <a:defRPr/>
            </a:pPr>
            <a:r>
              <a:rPr sz="1200" b="0">
                <a:solidFill>
                  <a:srgbClr val="1F1F1F"/>
                </a:solidFill>
              </a:rPr>
              <a:t>This section examines what can go wrong once a tool runs behind a protocol, first in design and then at run time.</a:t>
            </a:r>
            <a:endParaRPr/>
          </a:p>
        </p:txBody>
      </p:sp>
      <p:sp>
        <p:nvSpPr>
          <p:cNvPr id="607749313" name="Rounded Rectangle 1293791642"/>
          <p:cNvSpPr/>
          <p:nvPr/>
        </p:nvSpPr>
        <p:spPr bwMode="auto">
          <a:xfrm>
            <a:off x="320040"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69313207" name="TextBox 1293791643"/>
          <p:cNvSpPr txBox="1"/>
          <p:nvPr/>
        </p:nvSpPr>
        <p:spPr bwMode="auto">
          <a:xfrm>
            <a:off x="457200" y="1417319"/>
            <a:ext cx="2669796" cy="183240"/>
          </a:xfrm>
          <a:prstGeom prst="rect">
            <a:avLst/>
          </a:prstGeom>
          <a:noFill/>
        </p:spPr>
        <p:txBody>
          <a:bodyPr wrap="square" lIns="0" tIns="0" rIns="0" bIns="0">
            <a:spAutoFit/>
          </a:bodyPr>
          <a:lstStyle/>
          <a:p>
            <a:pPr>
              <a:defRPr/>
            </a:pPr>
            <a:r>
              <a:rPr sz="1200" b="1">
                <a:solidFill>
                  <a:srgbClr val="28285E"/>
                </a:solidFill>
              </a:rPr>
              <a:t>Design problems that arise</a:t>
            </a:r>
            <a:endParaRPr/>
          </a:p>
        </p:txBody>
      </p:sp>
      <p:sp>
        <p:nvSpPr>
          <p:cNvPr id="775331052" name="Rounded Rectangle 1293791647"/>
          <p:cNvSpPr/>
          <p:nvPr/>
        </p:nvSpPr>
        <p:spPr bwMode="auto">
          <a:xfrm>
            <a:off x="3396996" y="1325880"/>
            <a:ext cx="2939796" cy="2880360"/>
          </a:xfrm>
          <a:prstGeom prst="roundRect">
            <a:avLst>
              <a:gd name="adj" fmla="val 4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8232219" name="TextBox 1293791648"/>
          <p:cNvSpPr txBox="1"/>
          <p:nvPr/>
        </p:nvSpPr>
        <p:spPr bwMode="auto">
          <a:xfrm>
            <a:off x="3534156" y="1417319"/>
            <a:ext cx="2668356" cy="183240"/>
          </a:xfrm>
          <a:prstGeom prst="rect">
            <a:avLst/>
          </a:prstGeom>
          <a:noFill/>
        </p:spPr>
        <p:txBody>
          <a:bodyPr wrap="square" lIns="0" tIns="0" rIns="0" bIns="0">
            <a:spAutoFit/>
          </a:bodyPr>
          <a:lstStyle/>
          <a:p>
            <a:pPr>
              <a:defRPr/>
            </a:pPr>
            <a:r>
              <a:rPr sz="1200" b="1">
                <a:solidFill>
                  <a:srgbClr val="28285E"/>
                </a:solidFill>
              </a:rPr>
              <a:t>Failures at run time that follow...</a:t>
            </a:r>
            <a:endParaRPr/>
          </a:p>
        </p:txBody>
      </p:sp>
      <p:sp>
        <p:nvSpPr>
          <p:cNvPr id="498487592" name="TextBox 2029265039"/>
          <p:cNvSpPr txBox="1"/>
          <p:nvPr/>
        </p:nvSpPr>
        <p:spPr bwMode="auto">
          <a:xfrm>
            <a:off x="457200" y="1660559"/>
            <a:ext cx="266979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Server design shapes what the model can call.</a:t>
            </a:r>
            <a:endParaRPr/>
          </a:p>
          <a:p>
            <a:pPr marL="228600" indent="-228600">
              <a:spcAft>
                <a:spcPts val="600"/>
              </a:spcAft>
              <a:buFont typeface="+mj-lt"/>
              <a:buAutoNum type="arabicPeriod"/>
              <a:defRPr/>
            </a:pPr>
            <a:r>
              <a:rPr sz="1050" b="0">
                <a:solidFill>
                  <a:srgbClr val="1F1F1F"/>
                </a:solidFill>
              </a:rPr>
              <a:t>Most tool descriptions have defects.</a:t>
            </a:r>
            <a:endParaRPr/>
          </a:p>
          <a:p>
            <a:pPr marL="228600" indent="-228600">
              <a:spcAft>
                <a:spcPts val="600"/>
              </a:spcAft>
              <a:buFont typeface="+mj-lt"/>
              <a:buAutoNum type="arabicPeriod"/>
              <a:defRPr/>
            </a:pPr>
            <a:r>
              <a:rPr sz="1050" b="0">
                <a:solidFill>
                  <a:srgbClr val="1F1F1F"/>
                </a:solidFill>
              </a:rPr>
              <a:t>Strict decoding fixes structure, not values.</a:t>
            </a:r>
            <a:endParaRPr/>
          </a:p>
        </p:txBody>
      </p:sp>
      <p:sp>
        <p:nvSpPr>
          <p:cNvPr id="506239800" name="TextBox 2029265040"/>
          <p:cNvSpPr txBox="1"/>
          <p:nvPr/>
        </p:nvSpPr>
        <p:spPr bwMode="auto">
          <a:xfrm>
            <a:off x="3534156" y="1660559"/>
            <a:ext cx="2668356" cy="2454241"/>
          </a:xfrm>
          <a:prstGeom prst="rect">
            <a:avLst/>
          </a:prstGeom>
          <a:noFill/>
        </p:spPr>
        <p:txBody>
          <a:bodyPr wrap="square" lIns="0" tIns="0" rIns="0" bIns="0" anchor="t">
            <a:spAutoFit/>
          </a:bodyPr>
          <a:lstStyle/>
          <a:p>
            <a:pPr marL="228600" indent="-228600">
              <a:spcAft>
                <a:spcPts val="600"/>
              </a:spcAft>
              <a:buFont typeface="+mj-lt"/>
              <a:buAutoNum type="arabicPeriod"/>
              <a:defRPr/>
            </a:pPr>
            <a:r>
              <a:rPr sz="1050" b="0">
                <a:solidFill>
                  <a:srgbClr val="1F1F1F"/>
                </a:solidFill>
              </a:rPr>
              <a:t>A lost request and a lost reply look the same.</a:t>
            </a:r>
            <a:endParaRPr/>
          </a:p>
          <a:p>
            <a:pPr marL="228600" indent="-228600">
              <a:spcAft>
                <a:spcPts val="600"/>
              </a:spcAft>
              <a:buFont typeface="+mj-lt"/>
              <a:buAutoNum type="arabicPeriod"/>
              <a:defRPr/>
            </a:pPr>
            <a:r>
              <a:rPr sz="1050" b="0">
                <a:solidFill>
                  <a:srgbClr val="1F1F1F"/>
                </a:solidFill>
              </a:rPr>
              <a:t>A new request defeats duplicate suppression.</a:t>
            </a:r>
            <a:endParaRPr/>
          </a:p>
          <a:p>
            <a:pPr marL="228600" indent="-228600">
              <a:spcAft>
                <a:spcPts val="600"/>
              </a:spcAft>
              <a:buFont typeface="+mj-lt"/>
              <a:buAutoNum type="arabicPeriod"/>
              <a:defRPr/>
            </a:pPr>
            <a:r>
              <a:rPr sz="1050" b="0">
                <a:solidFill>
                  <a:srgbClr val="1F1F1F"/>
                </a:solidFill>
              </a:rPr>
              <a:t>A callee in another process can fail alone.</a:t>
            </a:r>
            <a:endParaRPr/>
          </a:p>
          <a:p>
            <a:pPr marL="228600" indent="-228600">
              <a:spcAft>
                <a:spcPts val="600"/>
              </a:spcAft>
              <a:buFont typeface="+mj-lt"/>
              <a:buAutoNum type="arabicPeriod"/>
              <a:defRPr/>
            </a:pPr>
            <a:r>
              <a:rPr sz="1050" b="0">
                <a:solidFill>
                  <a:srgbClr val="1F1F1F"/>
                </a:solidFill>
              </a:rPr>
              <a:t>A late reply and a lost reply look alike.</a:t>
            </a:r>
            <a:endParaRPr/>
          </a:p>
          <a:p>
            <a:pPr marL="228600" indent="-228600">
              <a:spcAft>
                <a:spcPts val="600"/>
              </a:spcAft>
              <a:buFont typeface="+mj-lt"/>
              <a:buAutoNum type="arabicPeriod"/>
              <a:defRPr/>
            </a:pPr>
            <a:r>
              <a:rPr sz="1050" b="0">
                <a:solidFill>
                  <a:srgbClr val="1F1F1F"/>
                </a:solidFill>
              </a:rPr>
              <a:t>A remote caller cannot repair partial effects.</a:t>
            </a:r>
            <a:endParaRPr/>
          </a:p>
          <a:p>
            <a:pPr marL="228600" indent="-228600">
              <a:spcAft>
                <a:spcPts val="600"/>
              </a:spcAft>
              <a:buFont typeface="+mj-lt"/>
              <a:buAutoNum type="arabicPeriod"/>
              <a:defRPr/>
            </a:pPr>
            <a:r>
              <a:rPr sz="1050" b="0">
                <a:solidFill>
                  <a:srgbClr val="1F1F1F"/>
                </a:solidFill>
              </a:rPr>
              <a:t>Parallel requests can take effect out of order.</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99009174" name="Title 1"/>
          <p:cNvSpPr>
            <a:spLocks noGrp="1"/>
          </p:cNvSpPr>
          <p:nvPr>
            <p:ph type="title"/>
          </p:nvPr>
        </p:nvSpPr>
        <p:spPr bwMode="auto"/>
        <p:txBody>
          <a:bodyPr/>
          <a:lstStyle/>
          <a:p>
            <a:pPr>
              <a:defRPr/>
            </a:pPr>
            <a:r>
              <a:t>Server design shapes what the model can call.</a:t>
            </a:r>
          </a:p>
        </p:txBody>
      </p:sp>
      <p:sp>
        <p:nvSpPr>
          <p:cNvPr id="95162209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Less is more when it comes to tools:</a:t>
            </a:r>
            <a:r>
              <a:rPr sz="1200" b="0">
                <a:solidFill>
                  <a:srgbClr val="FFFFFF">
                    <a:alpha val="0"/>
                  </a:srgbClr>
                </a:solidFill>
              </a:rPr>
              <a:t> GitHub Copilot</a:t>
            </a:r>
            <a:r>
              <a:rPr sz="1200" baseline="30000">
                <a:solidFill>
                  <a:srgbClr val="FFFFFF">
                    <a:alpha val="0"/>
                  </a:srgbClr>
                </a:solidFill>
              </a:rPr>
              <a:t>[2]</a:t>
            </a:r>
            <a:r>
              <a:rPr sz="1200" b="0">
                <a:solidFill>
                  <a:srgbClr val="FFFFFF">
                    <a:alpha val="0"/>
                  </a:srgbClr>
                </a:solidFill>
              </a:rPr>
              <a:t> from about </a:t>
            </a:r>
            <a:r>
              <a:rPr sz="1200" b="1">
                <a:solidFill>
                  <a:srgbClr val="FFFFFF">
                    <a:alpha val="0"/>
                  </a:srgbClr>
                </a:solidFill>
              </a:rPr>
              <a:t>40 to 13 tools</a:t>
            </a:r>
            <a:r>
              <a:rPr sz="1200" b="0">
                <a:solidFill>
                  <a:srgbClr val="FFFFFF">
                    <a:alpha val="0"/>
                  </a:srgbClr>
                </a:solidFill>
              </a:rPr>
              <a:t>, and Block's Linear server</a:t>
            </a:r>
            <a:r>
              <a:rPr sz="1200" baseline="30000">
                <a:solidFill>
                  <a:srgbClr val="FFFFFF">
                    <a:alpha val="0"/>
                  </a:srgbClr>
                </a:solidFill>
              </a:rPr>
              <a:t>[3]</a:t>
            </a:r>
            <a:r>
              <a:rPr sz="1200" b="0">
                <a:solidFill>
                  <a:srgbClr val="FFFFFF">
                    <a:alpha val="0"/>
                  </a:srgbClr>
                </a:solidFill>
              </a:rPr>
              <a:t> from </a:t>
            </a:r>
            <a:r>
              <a:rPr sz="1200" b="1">
                <a:solidFill>
                  <a:srgbClr val="FFFFFF">
                    <a:alpha val="0"/>
                  </a:srgbClr>
                </a:solidFill>
              </a:rPr>
              <a:t>more than 30 to 2</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Rodrigues and Vas</a:t>
            </a:r>
            <a:r>
              <a:rPr sz="1200" baseline="30000">
                <a:solidFill>
                  <a:srgbClr val="FFFFFF">
                    <a:alpha val="0"/>
                  </a:srgbClr>
                </a:solidFill>
              </a:rPr>
              <a:t>[4]</a:t>
            </a:r>
            <a:r>
              <a:rPr sz="1200" b="1">
                <a:solidFill>
                  <a:srgbClr val="FFFFFF">
                    <a:alpha val="0"/>
                  </a:srgbClr>
                </a:solidFill>
              </a:rPr>
              <a:t> (preprint) name four anti-patterns,</a:t>
            </a:r>
            <a:r>
              <a:rPr sz="1200" b="0">
                <a:solidFill>
                  <a:srgbClr val="FFFFFF">
                    <a:alpha val="0"/>
                  </a:srgbClr>
                </a:solidFill>
              </a:rPr>
              <a:t> and each blurs one part of the contract.</a:t>
            </a:r>
            <a:endParaRPr/>
          </a:p>
        </p:txBody>
      </p:sp>
      <p:sp>
        <p:nvSpPr>
          <p:cNvPr id="95162209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24142195" name="Title 1"/>
          <p:cNvSpPr>
            <a:spLocks noGrp="1"/>
          </p:cNvSpPr>
          <p:nvPr>
            <p:ph type="title"/>
          </p:nvPr>
        </p:nvSpPr>
        <p:spPr bwMode="auto"/>
        <p:txBody>
          <a:bodyPr/>
          <a:lstStyle/>
          <a:p>
            <a:pPr>
              <a:defRPr/>
            </a:pPr>
            <a:r>
              <a:t>Server design shapes what the model can call.</a:t>
            </a:r>
          </a:p>
        </p:txBody>
      </p:sp>
      <p:sp>
        <p:nvSpPr>
          <p:cNvPr id="2414492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Rodrigues and Vas</a:t>
            </a:r>
            <a:r>
              <a:rPr sz="1200" baseline="30000">
                <a:solidFill>
                  <a:srgbClr val="FFFFFF">
                    <a:alpha val="0"/>
                  </a:srgbClr>
                </a:solidFill>
              </a:rPr>
              <a:t>[4]</a:t>
            </a:r>
            <a:r>
              <a:rPr sz="1200" b="1">
                <a:solidFill>
                  <a:srgbClr val="FFFFFF">
                    <a:alpha val="0"/>
                  </a:srgbClr>
                </a:solidFill>
              </a:rPr>
              <a:t> (preprint) name four anti-patterns,</a:t>
            </a:r>
            <a:r>
              <a:rPr sz="1200" b="0">
                <a:solidFill>
                  <a:srgbClr val="FFFFFF">
                    <a:alpha val="0"/>
                  </a:srgbClr>
                </a:solidFill>
              </a:rPr>
              <a:t> and each blurs one part of the contract.</a:t>
            </a:r>
            <a:endParaRPr/>
          </a:p>
        </p:txBody>
      </p:sp>
      <p:sp>
        <p:nvSpPr>
          <p:cNvPr id="72414219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1385168" name="Title 1"/>
          <p:cNvSpPr>
            <a:spLocks noGrp="1"/>
          </p:cNvSpPr>
          <p:nvPr>
            <p:ph type="title"/>
          </p:nvPr>
        </p:nvSpPr>
        <p:spPr bwMode="auto"/>
        <p:txBody>
          <a:bodyPr/>
          <a:lstStyle/>
          <a:p>
            <a:pPr>
              <a:defRPr/>
            </a:pPr>
            <a:r>
              <a:t>Server design shapes what the model can call.</a:t>
            </a:r>
          </a:p>
        </p:txBody>
      </p:sp>
      <p:sp>
        <p:nvSpPr>
          <p:cNvPr id="89360383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sp>
        <p:nvSpPr>
          <p:cNvPr id="89360383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5625273" name="Title 1"/>
          <p:cNvSpPr>
            <a:spLocks noGrp="1"/>
          </p:cNvSpPr>
          <p:nvPr>
            <p:ph type="title"/>
          </p:nvPr>
        </p:nvSpPr>
        <p:spPr bwMode="auto"/>
        <p:txBody>
          <a:bodyPr/>
          <a:lstStyle/>
          <a:p>
            <a:pPr>
              <a:defRPr/>
            </a:pPr>
            <a:r>
              <a:t>Server design shapes what the model can call.</a:t>
            </a:r>
          </a:p>
        </p:txBody>
      </p:sp>
      <p:sp>
        <p:nvSpPr>
          <p:cNvPr id="134291517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279756308" name="Ledger table"/>
          <p:cNvGraphicFramePr>
            <a:graphicFrameLocks noGrp="1"/>
          </p:cNvGraphicFramePr>
          <p:nvPr/>
        </p:nvGraphicFramePr>
        <p:xfrm>
          <a:off x="320040" y="2560320"/>
          <a:ext cx="6016752" cy="66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134291517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6321353" name="Title 1"/>
          <p:cNvSpPr>
            <a:spLocks noGrp="1"/>
          </p:cNvSpPr>
          <p:nvPr>
            <p:ph type="title"/>
          </p:nvPr>
        </p:nvSpPr>
        <p:spPr bwMode="auto"/>
        <p:txBody>
          <a:bodyPr/>
          <a:lstStyle/>
          <a:p>
            <a:pPr>
              <a:defRPr/>
            </a:pPr>
            <a:r>
              <a:t>Server design shapes what the model can call.</a:t>
            </a:r>
          </a:p>
        </p:txBody>
      </p:sp>
      <p:sp>
        <p:nvSpPr>
          <p:cNvPr id="132942004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702160644" name="Ledger table"/>
          <p:cNvGraphicFramePr>
            <a:graphicFrameLocks noGrp="1"/>
          </p:cNvGraphicFramePr>
          <p:nvPr/>
        </p:nvGraphicFramePr>
        <p:xfrm>
          <a:off x="320040" y="2560320"/>
          <a:ext cx="6016752" cy="92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Unsanitized resource content</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results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170216064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7822188" name="Title 1"/>
          <p:cNvSpPr>
            <a:spLocks noGrp="1"/>
          </p:cNvSpPr>
          <p:nvPr>
            <p:ph type="title"/>
          </p:nvPr>
        </p:nvSpPr>
        <p:spPr bwMode="auto"/>
        <p:txBody>
          <a:bodyPr/>
          <a:lstStyle/>
          <a:p>
            <a:pPr>
              <a:defRPr/>
            </a:pPr>
            <a:r>
              <a:t>Server design shapes what the model can call.</a:t>
            </a:r>
          </a:p>
        </p:txBody>
      </p:sp>
      <p:sp>
        <p:nvSpPr>
          <p:cNvPr id="65264013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126553388" name="Ledger table"/>
          <p:cNvGraphicFramePr>
            <a:graphicFrameLocks noGrp="1"/>
          </p:cNvGraphicFramePr>
          <p:nvPr/>
        </p:nvGraphicFramePr>
        <p:xfrm>
          <a:off x="320040" y="2560320"/>
          <a:ext cx="6016752" cy="118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Unsanitized resource content</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results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Synchronous long-running operations</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execution constraints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112655338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81142786" name="Title 1"/>
          <p:cNvSpPr>
            <a:spLocks noGrp="1"/>
          </p:cNvSpPr>
          <p:nvPr>
            <p:ph type="title"/>
          </p:nvPr>
        </p:nvSpPr>
        <p:spPr bwMode="auto"/>
        <p:txBody>
          <a:bodyPr/>
          <a:lstStyle/>
          <a:p>
            <a:pPr>
              <a:defRPr/>
            </a:pPr>
            <a:r>
              <a:t>Server design shapes what the model can call.</a:t>
            </a:r>
          </a:p>
        </p:txBody>
      </p:sp>
      <p:sp>
        <p:nvSpPr>
          <p:cNvPr id="40857437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Servers expose a median of 19% of the underlying API's operations</a:t>
            </a:r>
            <a:r>
              <a:rPr sz="1200" b="0">
                <a:solidFill>
                  <a:srgbClr val="000000"/>
                </a:solidFill>
              </a:rPr>
              <a:t> (116 official servers; Mastouri et al.</a:t>
            </a:r>
            <a:r>
              <a:rPr sz="1200" baseline="30000">
                <a:solidFill>
                  <a:srgbClr val="000000"/>
                </a:solidFill>
              </a:rPr>
              <a:t>[1]</a:t>
            </a:r>
            <a:r>
              <a:rPr sz="1200" b="0">
                <a:solidFill>
                  <a:srgbClr val="000000"/>
                </a:solidFill>
              </a:rPr>
              <a:t>, preprint).</a:t>
            </a:r>
            <a:endParaRPr/>
          </a:p>
          <a:p>
            <a:pPr marL="342900" indent="-228600">
              <a:spcBef>
                <a:spcPts val="300"/>
              </a:spcBef>
              <a:spcAft>
                <a:spcPts val="300"/>
              </a:spcAft>
              <a:buClr>
                <a:srgbClr val="28285E"/>
              </a:buClr>
              <a:buSzPts val="1100"/>
              <a:buFont typeface="+mn-lt"/>
              <a:buChar char="●"/>
              <a:defRPr/>
            </a:pPr>
            <a:r>
              <a:rPr sz="1200" b="1">
                <a:solidFill>
                  <a:srgbClr val="000000"/>
                </a:solidFill>
              </a:rPr>
              <a:t>Less is more when it comes to tools:</a:t>
            </a:r>
            <a:r>
              <a:rPr sz="1200" b="0">
                <a:solidFill>
                  <a:srgbClr val="000000"/>
                </a:solidFill>
              </a:rPr>
              <a:t> GitHub Copilot</a:t>
            </a:r>
            <a:r>
              <a:rPr sz="1200" baseline="30000">
                <a:solidFill>
                  <a:srgbClr val="000000"/>
                </a:solidFill>
              </a:rPr>
              <a:t>[2]</a:t>
            </a:r>
            <a:r>
              <a:rPr sz="1200" b="0">
                <a:solidFill>
                  <a:srgbClr val="000000"/>
                </a:solidFill>
              </a:rPr>
              <a:t> from about </a:t>
            </a:r>
            <a:r>
              <a:rPr sz="1200" b="1">
                <a:solidFill>
                  <a:srgbClr val="000000"/>
                </a:solidFill>
              </a:rPr>
              <a:t>40 to 13 tools</a:t>
            </a:r>
            <a:r>
              <a:rPr sz="1200" b="0">
                <a:solidFill>
                  <a:srgbClr val="000000"/>
                </a:solidFill>
              </a:rPr>
              <a:t>, and Block's Linear server</a:t>
            </a:r>
            <a:r>
              <a:rPr sz="1200" baseline="30000">
                <a:solidFill>
                  <a:srgbClr val="000000"/>
                </a:solidFill>
              </a:rPr>
              <a:t>[3]</a:t>
            </a:r>
            <a:r>
              <a:rPr sz="1200" b="0">
                <a:solidFill>
                  <a:srgbClr val="000000"/>
                </a:solidFill>
              </a:rPr>
              <a:t> from </a:t>
            </a:r>
            <a:r>
              <a:rPr sz="1200" b="1">
                <a:solidFill>
                  <a:srgbClr val="000000"/>
                </a:solidFill>
              </a:rPr>
              <a:t>more than 30 to 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Rodrigues and Vas</a:t>
            </a:r>
            <a:r>
              <a:rPr sz="1200" baseline="30000">
                <a:solidFill>
                  <a:srgbClr val="000000"/>
                </a:solidFill>
              </a:rPr>
              <a:t>[4]</a:t>
            </a:r>
            <a:r>
              <a:rPr sz="1200" b="1">
                <a:solidFill>
                  <a:srgbClr val="000000"/>
                </a:solidFill>
              </a:rPr>
              <a:t> (preprint) name four anti-patterns,</a:t>
            </a:r>
            <a:r>
              <a:rPr sz="1200" b="0">
                <a:solidFill>
                  <a:srgbClr val="000000"/>
                </a:solidFill>
              </a:rPr>
              <a:t> and each blurs one part of the contract.</a:t>
            </a:r>
            <a:endParaRPr/>
          </a:p>
        </p:txBody>
      </p:sp>
      <p:graphicFrame>
        <p:nvGraphicFramePr>
          <p:cNvPr id="1815022355" name="Ledger table"/>
          <p:cNvGraphicFramePr>
            <a:graphicFrameLocks noGrp="1"/>
          </p:cNvGraphicFramePr>
          <p:nvPr/>
        </p:nvGraphicFramePr>
        <p:xfrm>
          <a:off x="320040" y="2560320"/>
          <a:ext cx="6016752" cy="144005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tblGrid>
              <a:tr h="260000">
                <a:tc>
                  <a:txBody>
                    <a:bodyPr/>
                    <a:lstStyle/>
                    <a:p>
                      <a:pPr>
                        <a:buNone/>
                        <a:defRPr/>
                      </a:pPr>
                      <a:r>
                        <a:rPr lang="en-US" sz="1000" b="1">
                          <a:solidFill>
                            <a:schemeClr val="tx1"/>
                          </a:solidFill>
                        </a:rPr>
                        <a:t>Anti-pattern</a:t>
                      </a:r>
                      <a:endParaRPr/>
                    </a:p>
                  </a:txBody>
                  <a:tcPr marL="95250" marR="95250" marT="47625" marB="47625">
                    <a:lnR w="19049" algn="ctr">
                      <a:solidFill>
                        <a:srgbClr val="000000"/>
                      </a:solidFill>
                    </a:lnR>
                    <a:lnT w="19049" algn="ctr">
                      <a:solidFill>
                        <a:srgbClr val="000000"/>
                      </a:solidFill>
                    </a:lnT>
                    <a:lnB w="12700" algn="ctr">
                      <a:solidFill>
                        <a:schemeClr val="tx1"/>
                      </a:solidFill>
                    </a:lnB>
                    <a:noFill/>
                  </a:tcPr>
                </a:tc>
                <a:tc>
                  <a:txBody>
                    <a:bodyPr/>
                    <a:lstStyle/>
                    <a:p>
                      <a:pPr>
                        <a:buNone/>
                        <a:defRPr/>
                      </a:pPr>
                      <a:r>
                        <a:rPr lang="en-US" sz="1000" b="1">
                          <a:solidFill>
                            <a:schemeClr val="tx1"/>
                          </a:solidFill>
                        </a:rPr>
                        <a:t>Contract part it blurs</a:t>
                      </a:r>
                      <a:endParaRPr/>
                    </a:p>
                  </a:txBody>
                  <a:tcPr marL="95250" marR="95250" marT="47625" marB="47625">
                    <a:lnL w="19049" algn="ctr">
                      <a:solidFill>
                        <a:srgbClr val="000000"/>
                      </a:solidFill>
                    </a:lnL>
                    <a:lnT w="19049" algn="ctr">
                      <a:solidFill>
                        <a:srgbClr val="000000"/>
                      </a:solidFill>
                    </a:lnT>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The God Tool: </a:t>
                      </a:r>
                      <a:r>
                        <a:rPr lang="en-US" sz="1000" b="1">
                          <a:solidFill>
                            <a:schemeClr val="accent4"/>
                          </a:solidFill>
                          <a:latin typeface="Aptos Mono"/>
                          <a:ea typeface="Aptos Mono"/>
                          <a:cs typeface="Aptos Mono"/>
                        </a:rPr>
                        <a:t>do_anything(action: string, params: object)</a:t>
                      </a:r>
                      <a:endParaRPr>
                        <a:solidFill>
                          <a:schemeClr val="accent4"/>
                        </a:solidFill>
                        <a:latin typeface="Aptos Mono"/>
                        <a:cs typeface="Aptos Mono"/>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accepted arguments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Unsanitized resource content</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results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Synchronous long-running operations</a:t>
                      </a:r>
                      <a:endParaRPr/>
                    </a:p>
                  </a:txBody>
                  <a:tcPr marL="95250" marR="95250" marT="47625" marB="47625">
                    <a:lnR w="19049" algn="ctr">
                      <a:solidFill>
                        <a:srgbClr val="000000"/>
                      </a:solidFill>
                    </a:lnR>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execution constraints</a:t>
                      </a:r>
                      <a:endParaRPr/>
                    </a:p>
                  </a:txBody>
                  <a:tcPr marL="95250" marR="95250" marT="47625" marB="47625">
                    <a:lnL w="19049" algn="ctr">
                      <a:solidFill>
                        <a:srgbClr val="000000"/>
                      </a:solidFill>
                    </a:lnL>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Missing or vague tool descriptions</a:t>
                      </a:r>
                      <a:endParaRPr/>
                    </a:p>
                  </a:txBody>
                  <a:tcPr marL="95250" marR="95250" marT="47625" marB="47625">
                    <a:lnR w="19049" algn="ctr">
                      <a:solidFill>
                        <a:srgbClr val="000000"/>
                      </a:solidFill>
                    </a:lnR>
                    <a:lnT w="12700" algn="ctr">
                      <a:solidFill>
                        <a:schemeClr val="tx1"/>
                      </a:solidFill>
                    </a:lnT>
                    <a:lnB w="19049" algn="ctr">
                      <a:solidFill>
                        <a:srgbClr val="000000"/>
                      </a:solidFill>
                    </a:lnB>
                    <a:noFill/>
                  </a:tcPr>
                </a:tc>
                <a:tc>
                  <a:txBody>
                    <a:bodyPr/>
                    <a:lstStyle/>
                    <a:p>
                      <a:pPr>
                        <a:buNone/>
                        <a:defRPr/>
                      </a:pPr>
                      <a:r>
                        <a:rPr lang="en-US" sz="1000" b="0">
                          <a:solidFill>
                            <a:schemeClr val="tx1"/>
                          </a:solidFill>
                        </a:rPr>
                        <a:t>what the tool does</a:t>
                      </a:r>
                      <a:endParaRPr/>
                    </a:p>
                  </a:txBody>
                  <a:tcPr marL="95250" marR="95250" marT="47625" marB="47625">
                    <a:lnL w="19049" algn="ctr">
                      <a:solidFill>
                        <a:srgbClr val="000000"/>
                      </a:solidFill>
                    </a:lnL>
                    <a:lnT w="12700" algn="ctr">
                      <a:solidFill>
                        <a:schemeClr val="tx1"/>
                      </a:solidFill>
                    </a:lnT>
                    <a:lnB w="19049" algn="ctr">
                      <a:solidFill>
                        <a:srgbClr val="000000"/>
                      </a:solidFill>
                    </a:lnB>
                    <a:noFill/>
                  </a:tcPr>
                </a:tc>
                <a:extLst>
                  <a:ext uri="{0D108BD9-81ED-4DB2-BD59-A6C34878D82A}">
                    <a16:rowId xmlns:a16="http://schemas.microsoft.com/office/drawing/2014/main" val="10004"/>
                  </a:ext>
                </a:extLst>
              </a:tr>
            </a:tbl>
          </a:graphicData>
        </a:graphic>
      </p:graphicFrame>
      <p:sp>
        <p:nvSpPr>
          <p:cNvPr id="181502235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 Mastouri et al. From REST to MCP: An empirical study of API wrapping and automated server generation for LLM agents. arXiv:2507.16044, 2025.   [2] A. Agarwal and C. Peet. How we're making GitHub Copilot smarter with fewer tools. GitHub Blog, Nov 2025.   [3] S. Mohammed and K. Chau. Block's playbook for designing MCP servers. Block Engineering, Jun 2025.   [4] C. Rodrigues and O. Vas. MCP server architecture patterns for LLM-integrated applications. arXiv:2606.30317,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19657701" name="Title 1"/>
          <p:cNvSpPr>
            <a:spLocks noGrp="1"/>
          </p:cNvSpPr>
          <p:nvPr>
            <p:ph type="title"/>
          </p:nvPr>
        </p:nvSpPr>
        <p:spPr bwMode="auto"/>
        <p:txBody>
          <a:bodyPr/>
          <a:lstStyle/>
          <a:p>
            <a:pPr>
              <a:defRPr/>
            </a:pPr>
            <a:r>
              <a:t>Most tool descriptions have defects.</a:t>
            </a:r>
            <a:r>
              <a:rPr baseline="30000"/>
              <a:t>[2][3]</a:t>
            </a:r>
            <a:endParaRPr/>
          </a:p>
        </p:txBody>
      </p:sp>
      <p:sp>
        <p:nvSpPr>
          <p:cNvPr id="24929942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The description field has no enforcer,</a:t>
            </a:r>
            <a:r>
              <a:rPr sz="1250" b="0">
                <a:solidFill>
                  <a:srgbClr val="000000"/>
                </a:solidFill>
              </a:rPr>
              <a:t> yet its defects change which tool the model selects.</a:t>
            </a:r>
            <a:endParaRPr/>
          </a:p>
        </p:txBody>
      </p:sp>
      <p:sp>
        <p:nvSpPr>
          <p:cNvPr id="1662835097"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Descriptions inside a schema can even override the prompt (Lin, preprint, 2026</a:t>
            </a:r>
            <a:r>
              <a:rPr sz="1150" baseline="30000">
                <a:solidFill>
                  <a:srgbClr val="28285E"/>
                </a:solidFill>
              </a:rPr>
              <a:t>[1]</a:t>
            </a:r>
            <a:r>
              <a:rPr sz="1150" b="1">
                <a:solidFill>
                  <a:srgbClr val="28285E"/>
                </a:solidFill>
              </a:rPr>
              <a:t>).</a:t>
            </a:r>
            <a:endParaRPr/>
          </a:p>
        </p:txBody>
      </p:sp>
      <p:pic>
        <p:nvPicPr>
          <p:cNvPr id="2138471801" name="Picture 1268723628" descr="desc-defects.png"/>
          <p:cNvPicPr>
            <a:picLocks noChangeAspect="1"/>
          </p:cNvPicPr>
          <p:nvPr/>
        </p:nvPicPr>
        <p:blipFill rotWithShape="1">
          <a:blip r:embed="rId3"/>
          <a:stretch/>
        </p:blipFill>
        <p:spPr bwMode="auto">
          <a:xfrm>
            <a:off x="320040" y="2273386"/>
            <a:ext cx="6016752" cy="1305388"/>
          </a:xfrm>
          <a:prstGeom prst="rect">
            <a:avLst/>
          </a:prstGeom>
        </p:spPr>
      </p:pic>
      <p:sp>
        <p:nvSpPr>
          <p:cNvPr id="213847180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S.-Y. Lin. Your prompt is not the only prompt. arXiv:2608.08254, 2026.   [2] M. M. Hasan et al. Model Context Protocol (MCP) tool descriptions are smelly! arXiv:2602.14878, 2026.   [3] P. Wang et al. From docs to descriptions: Smell-aware evaluation of MCP server descriptions. arXiv:2602.18914, 2026.</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9709626" name="Title 1"/>
          <p:cNvSpPr>
            <a:spLocks noGrp="1"/>
          </p:cNvSpPr>
          <p:nvPr>
            <p:ph type="title"/>
          </p:nvPr>
        </p:nvSpPr>
        <p:spPr bwMode="auto"/>
        <p:txBody>
          <a:bodyPr/>
          <a:lstStyle/>
          <a:p>
            <a:pPr>
              <a:defRPr/>
            </a:pPr>
            <a:r>
              <a:t>Strict decoding fixes structure, not values.</a:t>
            </a:r>
          </a:p>
        </p:txBody>
      </p:sp>
      <p:sp>
        <p:nvSpPr>
          <p:cNvPr id="18967088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Constrained decoding raised schema validity to 100%</a:t>
            </a:r>
            <a:r>
              <a:rPr sz="1200" b="0">
                <a:solidFill>
                  <a:srgbClr val="FFFFFF">
                    <a:alpha val="0"/>
                  </a:srgbClr>
                </a:solidFill>
              </a:rPr>
              <a:t> in models of 0.6 to 4 billion parameters, but a gap in content accuracy remained and only narrowed with size (Chavan, preprint, 2026</a:t>
            </a:r>
            <a:r>
              <a:rPr sz="1200" baseline="30000">
                <a:solidFill>
                  <a:srgbClr val="FFFFFF">
                    <a:alpha val="0"/>
                  </a:srgbClr>
                </a:solidFill>
              </a:rPr>
              <a:t>[2]</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Whether format restrictions hurt reasoning is contested:</a:t>
            </a:r>
            <a:r>
              <a:rPr sz="1200" b="0">
                <a:solidFill>
                  <a:srgbClr val="FFFFFF">
                    <a:alpha val="0"/>
                  </a:srgbClr>
                </a:solidFill>
              </a:rPr>
              <a:t> Tam et al. (EMNLP 2024)</a:t>
            </a:r>
            <a:r>
              <a:rPr sz="1200" baseline="30000">
                <a:solidFill>
                  <a:srgbClr val="FFFFFF">
                    <a:alpha val="0"/>
                  </a:srgbClr>
                </a:solidFill>
              </a:rPr>
              <a:t>[3]</a:t>
            </a:r>
            <a:r>
              <a:rPr sz="1200" b="0">
                <a:solidFill>
                  <a:srgbClr val="FFFFFF">
                    <a:alpha val="0"/>
                  </a:srgbClr>
                </a:solidFill>
              </a:rPr>
              <a:t> report a decline, and a rebuttal by .txt</a:t>
            </a:r>
            <a:r>
              <a:rPr sz="1200" baseline="30000">
                <a:solidFill>
                  <a:srgbClr val="FFFFFF">
                    <a:alpha val="0"/>
                  </a:srgbClr>
                </a:solidFill>
              </a:rPr>
              <a:t>[4]</a:t>
            </a:r>
            <a:r>
              <a:rPr sz="1200" b="0">
                <a:solidFill>
                  <a:srgbClr val="FFFFFF">
                    <a:alpha val="0"/>
                  </a:srgbClr>
                </a:solidFill>
              </a:rPr>
              <a:t> attributes it to different prompts.</a:t>
            </a:r>
            <a:endParaRPr/>
          </a:p>
        </p:txBody>
      </p:sp>
      <p:sp>
        <p:nvSpPr>
          <p:cNvPr id="190970962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63308002" name="Title 1"/>
          <p:cNvSpPr>
            <a:spLocks noGrp="1"/>
          </p:cNvSpPr>
          <p:nvPr>
            <p:ph type="title"/>
          </p:nvPr>
        </p:nvSpPr>
        <p:spPr bwMode="auto"/>
        <p:txBody>
          <a:bodyPr/>
          <a:lstStyle/>
          <a:p>
            <a:pPr>
              <a:defRPr/>
            </a:pPr>
            <a:r>
              <a:t>Strict decoding fixes structure, not values.</a:t>
            </a:r>
          </a:p>
        </p:txBody>
      </p:sp>
      <p:sp>
        <p:nvSpPr>
          <p:cNvPr id="114782942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Char char="●"/>
              <a:defRPr/>
            </a:pPr>
            <a:r>
              <a:rPr sz="1200" b="1">
                <a:solidFill>
                  <a:srgbClr val="000000"/>
                </a:solidFill>
              </a:rPr>
              <a:t>Constrained decoding raised schema validity to 100%</a:t>
            </a:r>
            <a:r>
              <a:rPr sz="1200" b="0">
                <a:solidFill>
                  <a:srgbClr val="000000"/>
                </a:solidFill>
              </a:rPr>
              <a:t> in models of 0.6 to 4 billion parameters, but a gap in content accuracy remained and only narrowed with size (Chavan, preprint, 2026</a:t>
            </a:r>
            <a:r>
              <a:rPr sz="1200" baseline="30000">
                <a:solidFill>
                  <a:srgbClr val="000000"/>
                </a:solidFill>
              </a:rPr>
              <a:t>[2]</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Whether format restrictions hurt reasoning is contested:</a:t>
            </a:r>
            <a:r>
              <a:rPr sz="1200" b="0">
                <a:solidFill>
                  <a:srgbClr val="FFFFFF">
                    <a:alpha val="0"/>
                  </a:srgbClr>
                </a:solidFill>
              </a:rPr>
              <a:t> Tam et al. (EMNLP 2024)</a:t>
            </a:r>
            <a:r>
              <a:rPr sz="1200" baseline="30000">
                <a:solidFill>
                  <a:srgbClr val="FFFFFF">
                    <a:alpha val="0"/>
                  </a:srgbClr>
                </a:solidFill>
              </a:rPr>
              <a:t>[3]</a:t>
            </a:r>
            <a:r>
              <a:rPr sz="1200" b="0">
                <a:solidFill>
                  <a:srgbClr val="FFFFFF">
                    <a:alpha val="0"/>
                  </a:srgbClr>
                </a:solidFill>
              </a:rPr>
              <a:t> report a decline, and a rebuttal by .txt</a:t>
            </a:r>
            <a:r>
              <a:rPr sz="1200" baseline="30000">
                <a:solidFill>
                  <a:srgbClr val="FFFFFF">
                    <a:alpha val="0"/>
                  </a:srgbClr>
                </a:solidFill>
              </a:rPr>
              <a:t>[4]</a:t>
            </a:r>
            <a:r>
              <a:rPr sz="1200" b="0">
                <a:solidFill>
                  <a:srgbClr val="FFFFFF">
                    <a:alpha val="0"/>
                  </a:srgbClr>
                </a:solidFill>
              </a:rPr>
              <a:t> attributes it to different prompts.</a:t>
            </a:r>
            <a:endParaRPr/>
          </a:p>
        </p:txBody>
      </p:sp>
      <p:sp>
        <p:nvSpPr>
          <p:cNvPr id="114782942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23826032" name="Title 1"/>
          <p:cNvSpPr>
            <a:spLocks noGrp="1"/>
          </p:cNvSpPr>
          <p:nvPr>
            <p:ph type="title"/>
          </p:nvPr>
        </p:nvSpPr>
        <p:spPr bwMode="auto"/>
        <p:txBody>
          <a:bodyPr/>
          <a:lstStyle/>
          <a:p>
            <a:pPr>
              <a:defRPr/>
            </a:pPr>
            <a:r>
              <a:t>Strict decoding fixes structure, not values.</a:t>
            </a:r>
          </a:p>
        </p:txBody>
      </p:sp>
      <p:sp>
        <p:nvSpPr>
          <p:cNvPr id="26521949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Char char="●"/>
              <a:defRPr/>
            </a:pPr>
            <a:r>
              <a:rPr sz="1200" b="1">
                <a:solidFill>
                  <a:srgbClr val="000000"/>
                </a:solidFill>
              </a:rPr>
              <a:t>Constrained decoding raised schema validity to 100%</a:t>
            </a:r>
            <a:r>
              <a:rPr sz="1200" b="0">
                <a:solidFill>
                  <a:srgbClr val="000000"/>
                </a:solidFill>
              </a:rPr>
              <a:t> in models of 0.6 to 4 billion parameters, but a gap in content accuracy remained and only narrowed with size (Chavan, preprint, 2026</a:t>
            </a:r>
            <a:r>
              <a:rPr sz="1200" baseline="30000">
                <a:solidFill>
                  <a:srgbClr val="000000"/>
                </a:solidFill>
              </a:rPr>
              <a:t>[2]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Whether format restrictions hurt reasoning is contested:</a:t>
            </a:r>
            <a:r>
              <a:rPr sz="1200" b="0">
                <a:solidFill>
                  <a:srgbClr val="000000"/>
                </a:solidFill>
              </a:rPr>
              <a:t> Tam et al. (EMNLP 2024)</a:t>
            </a:r>
            <a:r>
              <a:rPr sz="1200" baseline="30000">
                <a:solidFill>
                  <a:srgbClr val="000000"/>
                </a:solidFill>
              </a:rPr>
              <a:t>[3]</a:t>
            </a:r>
            <a:r>
              <a:rPr sz="1200" b="0">
                <a:solidFill>
                  <a:srgbClr val="000000"/>
                </a:solidFill>
              </a:rPr>
              <a:t> report a decline, and a rebuttal by .txt</a:t>
            </a:r>
            <a:r>
              <a:rPr sz="1200" baseline="30000">
                <a:solidFill>
                  <a:srgbClr val="000000"/>
                </a:solidFill>
              </a:rPr>
              <a:t>[4]</a:t>
            </a:r>
            <a:r>
              <a:rPr sz="1200" b="0">
                <a:solidFill>
                  <a:srgbClr val="000000"/>
                </a:solidFill>
              </a:rPr>
              <a:t> attributes it to different prompts.</a:t>
            </a:r>
            <a:endParaRPr/>
          </a:p>
        </p:txBody>
      </p:sp>
      <p:sp>
        <p:nvSpPr>
          <p:cNvPr id="142382603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27876312" name="Title 1"/>
          <p:cNvSpPr>
            <a:spLocks noGrp="1"/>
          </p:cNvSpPr>
          <p:nvPr>
            <p:ph type="title"/>
          </p:nvPr>
        </p:nvSpPr>
        <p:spPr bwMode="auto"/>
        <p:txBody>
          <a:bodyPr/>
          <a:lstStyle/>
          <a:p>
            <a:pPr>
              <a:defRPr/>
            </a:pPr>
            <a:r>
              <a:t>Strict decoding fixes structure, not values.</a:t>
            </a:r>
          </a:p>
        </p:txBody>
      </p:sp>
      <p:sp>
        <p:nvSpPr>
          <p:cNvPr id="36138801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JSONSchemaBench (2025)</a:t>
            </a:r>
            <a:r>
              <a:rPr sz="1200" baseline="30000">
                <a:solidFill>
                  <a:srgbClr val="000000"/>
                </a:solidFill>
              </a:rPr>
              <a:t>[1]</a:t>
            </a:r>
            <a:r>
              <a:rPr sz="1200" b="0">
                <a:solidFill>
                  <a:srgbClr val="000000"/>
                </a:solidFill>
              </a:rPr>
              <a:t> runs about 10,000 real schemas against six engines, including OpenAI and Gemini, and their coverage of schema features differs.</a:t>
            </a:r>
            <a:endParaRPr/>
          </a:p>
          <a:p>
            <a:pPr marL="342900" indent="-228600">
              <a:spcBef>
                <a:spcPts val="300"/>
              </a:spcBef>
              <a:spcAft>
                <a:spcPts val="300"/>
              </a:spcAft>
              <a:buClr>
                <a:srgbClr val="28285E"/>
              </a:buClr>
              <a:buSzPts val="1100"/>
              <a:buFont typeface="+mn-lt"/>
              <a:buChar char="●"/>
              <a:defRPr/>
            </a:pPr>
            <a:r>
              <a:rPr sz="1200" b="1">
                <a:solidFill>
                  <a:srgbClr val="000000"/>
                </a:solidFill>
              </a:rPr>
              <a:t>Constrained decoding raised schema validity to 100%</a:t>
            </a:r>
            <a:r>
              <a:rPr sz="1200" b="0">
                <a:solidFill>
                  <a:srgbClr val="000000"/>
                </a:solidFill>
              </a:rPr>
              <a:t> in models of 0.6 to 4 billion parameters, but a gap in content accuracy remained and only narrowed with size (Chavan, preprint, 2026</a:t>
            </a:r>
            <a:r>
              <a:rPr sz="1200" baseline="30000">
                <a:solidFill>
                  <a:srgbClr val="000000"/>
                </a:solidFill>
              </a:rPr>
              <a:t>[2]</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Whether format restrictions hurt reasoning is contested:</a:t>
            </a:r>
            <a:r>
              <a:rPr sz="1200" b="0">
                <a:solidFill>
                  <a:srgbClr val="000000"/>
                </a:solidFill>
              </a:rPr>
              <a:t> Tam et al. (EMNLP 2024)</a:t>
            </a:r>
            <a:r>
              <a:rPr sz="1200" baseline="30000">
                <a:solidFill>
                  <a:srgbClr val="000000"/>
                </a:solidFill>
              </a:rPr>
              <a:t>[3]</a:t>
            </a:r>
            <a:r>
              <a:rPr sz="1200" b="0">
                <a:solidFill>
                  <a:srgbClr val="000000"/>
                </a:solidFill>
              </a:rPr>
              <a:t> report a decline, and a rebuttal by .txt</a:t>
            </a:r>
            <a:r>
              <a:rPr sz="1200" baseline="30000">
                <a:solidFill>
                  <a:srgbClr val="000000"/>
                </a:solidFill>
              </a:rPr>
              <a:t>[4]</a:t>
            </a:r>
            <a:r>
              <a:rPr sz="1200" b="0">
                <a:solidFill>
                  <a:srgbClr val="000000"/>
                </a:solidFill>
              </a:rPr>
              <a:t> attributes it to different prompts.</a:t>
            </a:r>
            <a:endParaRPr/>
          </a:p>
        </p:txBody>
      </p:sp>
      <p:sp>
        <p:nvSpPr>
          <p:cNvPr id="629319633"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 schema guarantee covers the shape of the arguments, not whether they are right.</a:t>
            </a:r>
            <a:endParaRPr/>
          </a:p>
        </p:txBody>
      </p:sp>
      <p:sp>
        <p:nvSpPr>
          <p:cNvPr id="62931963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 Geng et al. Generating structured outputs from language models: Benchmark and studies. arXiv:2501.10868, 2025.   [2] A. Chavan. Constrained decoding eliminates structural failures in small LLMs but reveals a scale-dependent semantic gap. arXiv:2609.23742, 2026.   [3] Z. R. Tam et al. Let me speak freely? A study on the impact of format restrictions on LLMs. EMNLP 2024 Industry Track.   [4] W. Kurt. Say what you mean: A response to 'Let me speak freely'. blog.dottxt.ai.</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43322494" name="Title 1"/>
          <p:cNvSpPr>
            <a:spLocks noGrp="1"/>
          </p:cNvSpPr>
          <p:nvPr>
            <p:ph type="title"/>
          </p:nvPr>
        </p:nvSpPr>
        <p:spPr bwMode="auto"/>
        <p:txBody>
          <a:bodyPr/>
          <a:lstStyle/>
          <a:p>
            <a:pPr>
              <a:defRPr/>
            </a:pPr>
            <a:r>
              <a:t>A lost request and a lost reply look the same.</a:t>
            </a:r>
          </a:p>
        </p:txBody>
      </p:sp>
      <p:sp>
        <p:nvSpPr>
          <p:cNvPr id="249181709"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caller sees only a timeout, and no exchange of messages over an unreliable channel removes the doubt (Gray</a:t>
            </a:r>
            <a:r>
              <a:rPr sz="1200" baseline="30000">
                <a:solidFill>
                  <a:srgbClr val="FFFFFF">
                    <a:alpha val="0"/>
                  </a:srgbClr>
                </a:solidFill>
              </a:rPr>
              <a:t>[1]</a:t>
            </a:r>
            <a:r>
              <a:rPr sz="1200" b="0">
                <a:solidFill>
                  <a:srgbClr val="FFFFFF">
                    <a:alpha val="0"/>
                  </a:srgbClr>
                </a:solidFill>
              </a:rPr>
              <a:t>, 1978).</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missing reply to </a:t>
            </a:r>
            <a:r>
              <a:rPr sz="1200" b="0">
                <a:solidFill>
                  <a:srgbClr val="FFFFFF">
                    <a:alpha val="0"/>
                  </a:srgbClr>
                </a:solidFill>
                <a:latin typeface="Courier New"/>
              </a:rPr>
              <a:t>edit</a:t>
            </a:r>
            <a:r>
              <a:rPr sz="1200" b="0">
                <a:solidFill>
                  <a:srgbClr val="FFFFFF">
                    <a:alpha val="0"/>
                  </a:srgbClr>
                </a:solidFill>
              </a:rPr>
              <a:t> leaves open whether the patch was applied.</a:t>
            </a:r>
            <a:endParaRPr/>
          </a:p>
        </p:txBody>
      </p:sp>
      <p:pic>
        <p:nvPicPr>
          <p:cNvPr id="322375506"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84332249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78693003" name="Title 1"/>
          <p:cNvSpPr>
            <a:spLocks noGrp="1"/>
          </p:cNvSpPr>
          <p:nvPr>
            <p:ph type="title"/>
          </p:nvPr>
        </p:nvSpPr>
        <p:spPr bwMode="auto"/>
        <p:txBody>
          <a:bodyPr/>
          <a:lstStyle/>
          <a:p>
            <a:pPr>
              <a:defRPr/>
            </a:pPr>
            <a:r>
              <a:t>A lost request and a lost reply look the same.</a:t>
            </a:r>
          </a:p>
        </p:txBody>
      </p:sp>
      <p:sp>
        <p:nvSpPr>
          <p:cNvPr id="79485570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sees only a timeout, and no exchange of messages over an unreliable channel removes the doubt (Gray</a:t>
            </a:r>
            <a:r>
              <a:rPr sz="1200" baseline="30000">
                <a:solidFill>
                  <a:srgbClr val="000000"/>
                </a:solidFill>
              </a:rPr>
              <a:t>[1]</a:t>
            </a:r>
            <a:r>
              <a:rPr sz="1200" b="0">
                <a:solidFill>
                  <a:srgbClr val="000000"/>
                </a:solidFill>
              </a:rPr>
              <a:t>, 1978).</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missing reply to </a:t>
            </a:r>
            <a:r>
              <a:rPr sz="1200" b="0">
                <a:solidFill>
                  <a:srgbClr val="FFFFFF">
                    <a:alpha val="0"/>
                  </a:srgbClr>
                </a:solidFill>
                <a:latin typeface="Courier New"/>
              </a:rPr>
              <a:t>edit</a:t>
            </a:r>
            <a:r>
              <a:rPr sz="1200" b="0">
                <a:solidFill>
                  <a:srgbClr val="FFFFFF">
                    <a:alpha val="0"/>
                  </a:srgbClr>
                </a:solidFill>
              </a:rPr>
              <a:t> leaves open whether the patch was applied.</a:t>
            </a:r>
            <a:endParaRPr/>
          </a:p>
        </p:txBody>
      </p:sp>
      <p:pic>
        <p:nvPicPr>
          <p:cNvPr id="243186708"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18786930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056038" name="Title 1"/>
          <p:cNvSpPr>
            <a:spLocks noGrp="1"/>
          </p:cNvSpPr>
          <p:nvPr>
            <p:ph type="title"/>
          </p:nvPr>
        </p:nvSpPr>
        <p:spPr bwMode="auto"/>
        <p:txBody>
          <a:bodyPr/>
          <a:lstStyle/>
          <a:p>
            <a:pPr>
              <a:defRPr/>
            </a:pPr>
            <a:r>
              <a:t>A lost request and a lost reply look the same.</a:t>
            </a:r>
          </a:p>
        </p:txBody>
      </p:sp>
      <p:sp>
        <p:nvSpPr>
          <p:cNvPr id="104663261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sees only a timeout, and no exchange of messages over an unreliable channel removes the doubt (Gray</a:t>
            </a:r>
            <a:r>
              <a:rPr sz="1200" baseline="30000">
                <a:solidFill>
                  <a:srgbClr val="000000"/>
                </a:solidFill>
              </a:rPr>
              <a:t>[1]</a:t>
            </a:r>
            <a:r>
              <a:rPr sz="1200" b="0">
                <a:solidFill>
                  <a:srgbClr val="000000"/>
                </a:solidFill>
              </a:rPr>
              <a:t>, 1978).</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missing reply to </a:t>
            </a:r>
            <a:r>
              <a:rPr sz="1200" b="0">
                <a:solidFill>
                  <a:srgbClr val="000000"/>
                </a:solidFill>
                <a:latin typeface="Courier New"/>
              </a:rPr>
              <a:t>edit</a:t>
            </a:r>
            <a:r>
              <a:rPr sz="1200" b="0">
                <a:solidFill>
                  <a:srgbClr val="000000"/>
                </a:solidFill>
              </a:rPr>
              <a:t> leaves open whether the patch was applied.</a:t>
            </a:r>
            <a:endParaRPr/>
          </a:p>
        </p:txBody>
      </p:sp>
      <p:pic>
        <p:nvPicPr>
          <p:cNvPr id="1847501958"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184750195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61740192" name="Title 1"/>
          <p:cNvSpPr>
            <a:spLocks noGrp="1"/>
          </p:cNvSpPr>
          <p:nvPr>
            <p:ph type="title"/>
          </p:nvPr>
        </p:nvSpPr>
        <p:spPr bwMode="auto"/>
        <p:txBody>
          <a:bodyPr/>
          <a:lstStyle/>
          <a:p>
            <a:pPr>
              <a:defRPr/>
            </a:pPr>
            <a:r>
              <a:t>A lost request and a lost reply look the same.</a:t>
            </a:r>
          </a:p>
        </p:txBody>
      </p:sp>
      <p:sp>
        <p:nvSpPr>
          <p:cNvPr id="170802691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returned call shows that the callee ran, and an exception reports why it did not.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sees only a timeout, and no exchange of messages over an unreliable channel removes the doubt (Gray</a:t>
            </a:r>
            <a:r>
              <a:rPr sz="1200" baseline="30000">
                <a:solidFill>
                  <a:srgbClr val="000000"/>
                </a:solidFill>
              </a:rPr>
              <a:t>[1]</a:t>
            </a:r>
            <a:r>
              <a:rPr sz="1200" b="0">
                <a:solidFill>
                  <a:srgbClr val="000000"/>
                </a:solidFill>
              </a:rPr>
              <a:t>, 1978).</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missing reply to </a:t>
            </a:r>
            <a:r>
              <a:rPr sz="1200" b="0">
                <a:solidFill>
                  <a:srgbClr val="000000"/>
                </a:solidFill>
                <a:latin typeface="Courier New"/>
              </a:rPr>
              <a:t>edit</a:t>
            </a:r>
            <a:r>
              <a:rPr sz="1200" b="0">
                <a:solidFill>
                  <a:srgbClr val="000000"/>
                </a:solidFill>
              </a:rPr>
              <a:t> leaves open whether the patch was applied.</a:t>
            </a:r>
            <a:endParaRPr/>
          </a:p>
        </p:txBody>
      </p:sp>
      <p:pic>
        <p:nvPicPr>
          <p:cNvPr id="873533442" name="Picture 3" descr="g1-completion.png"/>
          <p:cNvPicPr>
            <a:picLocks noChangeAspect="1"/>
          </p:cNvPicPr>
          <p:nvPr/>
        </p:nvPicPr>
        <p:blipFill rotWithShape="1">
          <a:blip r:embed="rId3"/>
          <a:stretch/>
        </p:blipFill>
        <p:spPr bwMode="auto">
          <a:xfrm>
            <a:off x="1158852" y="2286000"/>
            <a:ext cx="4339126" cy="2011680"/>
          </a:xfrm>
          <a:prstGeom prst="rect">
            <a:avLst/>
          </a:prstGeom>
        </p:spPr>
      </p:pic>
      <p:sp>
        <p:nvSpPr>
          <p:cNvPr id="179079959"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caller's observation is identical in both worlds, so the caller cannot infer which one occurred.</a:t>
            </a:r>
            <a:endParaRPr/>
          </a:p>
        </p:txBody>
      </p:sp>
      <p:sp>
        <p:nvSpPr>
          <p:cNvPr id="170802691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N. Gray. Notes on data base operating systems. In Operating Systems: An Advanced Course, Springer,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53084803" name="Title 1"/>
          <p:cNvSpPr>
            <a:spLocks noGrp="1"/>
          </p:cNvSpPr>
          <p:nvPr>
            <p:ph type="title"/>
          </p:nvPr>
        </p:nvSpPr>
        <p:spPr bwMode="auto"/>
        <p:txBody>
          <a:bodyPr/>
          <a:lstStyle/>
          <a:p>
            <a:pPr>
              <a:defRPr/>
            </a:pPr>
            <a:r>
              <a:t>A new request defeats duplicate suppression.</a:t>
            </a:r>
          </a:p>
        </p:txBody>
      </p:sp>
      <p:sp>
        <p:nvSpPr>
          <p:cNvPr id="177493835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a transport can drop duplicates (Birrell and Nelson</a:t>
            </a:r>
            <a:r>
              <a:rPr sz="1200" baseline="30000">
                <a:solidFill>
                  <a:srgbClr val="FFFFFF">
                    <a:alpha val="0"/>
                  </a:srgbClr>
                </a:solidFill>
              </a:rPr>
              <a:t>[1]</a:t>
            </a:r>
            <a:r>
              <a:rPr sz="1200" b="0">
                <a:solidFill>
                  <a:srgbClr val="FFFFFF">
                    <a:alpha val="0"/>
                  </a:srgbClr>
                </a:solidFill>
              </a:rPr>
              <a:t>, 1984), but only the endpoints can complete the guarantee (Saltzer et al.</a:t>
            </a:r>
            <a:r>
              <a:rPr sz="1200" baseline="30000">
                <a:solidFill>
                  <a:srgbClr val="FFFFFF">
                    <a:alpha val="0"/>
                  </a:srgbClr>
                </a:solidFill>
              </a:rPr>
              <a:t>[2]</a:t>
            </a:r>
            <a:r>
              <a:rPr sz="1200" b="0">
                <a:solidFill>
                  <a:srgbClr val="FFFFFF">
                    <a:alpha val="0"/>
                  </a:srgbClr>
                </a:solidFill>
              </a:rPr>
              <a:t>, 1984).</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retry from the harness is a new request with a new id, so the server runs the edit again.</a:t>
            </a:r>
            <a:endParaRPr/>
          </a:p>
        </p:txBody>
      </p:sp>
      <p:pic>
        <p:nvPicPr>
          <p:cNvPr id="1738295788"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177493835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53742034" name="Title 1"/>
          <p:cNvSpPr>
            <a:spLocks noGrp="1"/>
          </p:cNvSpPr>
          <p:nvPr>
            <p:ph type="title"/>
          </p:nvPr>
        </p:nvSpPr>
        <p:spPr bwMode="auto"/>
        <p:txBody>
          <a:bodyPr/>
          <a:lstStyle/>
          <a:p>
            <a:pPr>
              <a:defRPr/>
            </a:pPr>
            <a:r>
              <a:t>A new request defeats duplicate suppression.</a:t>
            </a:r>
          </a:p>
        </p:txBody>
      </p:sp>
      <p:sp>
        <p:nvSpPr>
          <p:cNvPr id="175768093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a transport can drop duplicates (Birrell and Nelson</a:t>
            </a:r>
            <a:r>
              <a:rPr sz="1200" baseline="30000">
                <a:solidFill>
                  <a:srgbClr val="000000"/>
                </a:solidFill>
              </a:rPr>
              <a:t>[1]</a:t>
            </a:r>
            <a:r>
              <a:rPr sz="1200" b="0">
                <a:solidFill>
                  <a:srgbClr val="000000"/>
                </a:solidFill>
              </a:rPr>
              <a:t>, 1984), but only the endpoints can complete the guarantee (Saltzer et al.</a:t>
            </a:r>
            <a:r>
              <a:rPr sz="1200" baseline="30000">
                <a:solidFill>
                  <a:srgbClr val="000000"/>
                </a:solidFill>
              </a:rPr>
              <a:t>[2]</a:t>
            </a:r>
            <a:r>
              <a:rPr sz="1200" b="0">
                <a:solidFill>
                  <a:srgbClr val="000000"/>
                </a:solidFill>
              </a:rPr>
              <a:t>, 1984).</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retry from the harness is a new request with a new id, so the server runs the edit again.</a:t>
            </a:r>
            <a:endParaRPr/>
          </a:p>
        </p:txBody>
      </p:sp>
      <p:pic>
        <p:nvPicPr>
          <p:cNvPr id="1351146995"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175768093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89836149" name="Title 1"/>
          <p:cNvSpPr>
            <a:spLocks noGrp="1"/>
          </p:cNvSpPr>
          <p:nvPr>
            <p:ph type="title"/>
          </p:nvPr>
        </p:nvSpPr>
        <p:spPr bwMode="auto"/>
        <p:txBody>
          <a:bodyPr/>
          <a:lstStyle/>
          <a:p>
            <a:pPr>
              <a:defRPr/>
            </a:pPr>
            <a:r>
              <a:t>A new request defeats duplicate suppression.</a:t>
            </a:r>
          </a:p>
        </p:txBody>
      </p:sp>
      <p:sp>
        <p:nvSpPr>
          <p:cNvPr id="122988898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a transport can drop duplicates (Birrell and Nelson</a:t>
            </a:r>
            <a:r>
              <a:rPr sz="1200" baseline="30000">
                <a:solidFill>
                  <a:srgbClr val="000000"/>
                </a:solidFill>
              </a:rPr>
              <a:t>[1]</a:t>
            </a:r>
            <a:r>
              <a:rPr sz="1200" b="0">
                <a:solidFill>
                  <a:srgbClr val="000000"/>
                </a:solidFill>
              </a:rPr>
              <a:t>, 1984), but only the endpoints can complete the guarantee (Saltzer et al.</a:t>
            </a:r>
            <a:r>
              <a:rPr sz="1200" baseline="30000">
                <a:solidFill>
                  <a:srgbClr val="000000"/>
                </a:solidFill>
              </a:rPr>
              <a:t>[2]</a:t>
            </a:r>
            <a:r>
              <a:rPr sz="1200" b="0">
                <a:solidFill>
                  <a:srgbClr val="000000"/>
                </a:solidFill>
              </a:rPr>
              <a:t>, 1984).</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retry from the harness is a new request with a new id, so the server runs the edit again.</a:t>
            </a:r>
            <a:endParaRPr/>
          </a:p>
        </p:txBody>
      </p:sp>
      <p:pic>
        <p:nvPicPr>
          <p:cNvPr id="157800537"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208983615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98513968" name="Title 1"/>
          <p:cNvSpPr>
            <a:spLocks noGrp="1"/>
          </p:cNvSpPr>
          <p:nvPr>
            <p:ph type="title"/>
          </p:nvPr>
        </p:nvSpPr>
        <p:spPr bwMode="auto"/>
        <p:txBody>
          <a:bodyPr/>
          <a:lstStyle/>
          <a:p>
            <a:pPr>
              <a:defRPr/>
            </a:pPr>
            <a:r>
              <a:t>A new request defeats duplicate suppression.</a:t>
            </a:r>
          </a:p>
        </p:txBody>
      </p:sp>
      <p:sp>
        <p:nvSpPr>
          <p:cNvPr id="736755755"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runs the callee once, because no message passes between them.</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a transport can drop duplicates (Birrell and Nelson</a:t>
            </a:r>
            <a:r>
              <a:rPr sz="1200" baseline="30000">
                <a:solidFill>
                  <a:srgbClr val="000000"/>
                </a:solidFill>
              </a:rPr>
              <a:t>[1]</a:t>
            </a:r>
            <a:r>
              <a:rPr sz="1200" b="0">
                <a:solidFill>
                  <a:srgbClr val="000000"/>
                </a:solidFill>
              </a:rPr>
              <a:t>, 1984), but only the endpoints can complete the guarantee (Saltzer et al.</a:t>
            </a:r>
            <a:r>
              <a:rPr sz="1200" baseline="30000">
                <a:solidFill>
                  <a:srgbClr val="000000"/>
                </a:solidFill>
              </a:rPr>
              <a:t>[2]</a:t>
            </a:r>
            <a:r>
              <a:rPr sz="1200" b="0">
                <a:solidFill>
                  <a:srgbClr val="000000"/>
                </a:solidFill>
              </a:rPr>
              <a:t>, 1984).</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retry from the harness is a new request with a new id, so the server runs the edit again.</a:t>
            </a:r>
            <a:endParaRPr/>
          </a:p>
        </p:txBody>
      </p:sp>
      <p:pic>
        <p:nvPicPr>
          <p:cNvPr id="227573181" name="Picture 3" descr="g2-once.png"/>
          <p:cNvPicPr>
            <a:picLocks noChangeAspect="1"/>
          </p:cNvPicPr>
          <p:nvPr/>
        </p:nvPicPr>
        <p:blipFill rotWithShape="1">
          <a:blip r:embed="rId3"/>
          <a:stretch/>
        </p:blipFill>
        <p:spPr bwMode="auto">
          <a:xfrm>
            <a:off x="1409091" y="2286000"/>
            <a:ext cx="3838648" cy="2011680"/>
          </a:xfrm>
          <a:prstGeom prst="rect">
            <a:avLst/>
          </a:prstGeom>
        </p:spPr>
      </p:pic>
      <p:sp>
        <p:nvSpPr>
          <p:cNvPr id="1686507789"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Duplicate suppression works only where the receiver can recognize the repeat.</a:t>
            </a:r>
            <a:endParaRPr/>
          </a:p>
        </p:txBody>
      </p:sp>
      <p:sp>
        <p:nvSpPr>
          <p:cNvPr id="168650779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 D. Birrell and B. J. Nelson. Implementing remote procedure calls. ACM TOCS 2(1), 1984.   [2] J. H. Saltzer, D. P. Reed and D. D. Clark. End-to-end arguments in system design. ACM TOCS 2(4), 1984.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0809963" name="Title 1"/>
          <p:cNvSpPr>
            <a:spLocks noGrp="1"/>
          </p:cNvSpPr>
          <p:nvPr>
            <p:ph type="title"/>
          </p:nvPr>
        </p:nvSpPr>
        <p:spPr bwMode="auto"/>
        <p:txBody>
          <a:bodyPr/>
          <a:lstStyle/>
          <a:p>
            <a:pPr>
              <a:defRPr/>
            </a:pPr>
            <a:r>
              <a:t>A callee in another process can fail alone.</a:t>
            </a:r>
          </a:p>
        </p:txBody>
      </p:sp>
      <p:sp>
        <p:nvSpPr>
          <p:cNvPr id="1694794510"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callee can fail while the caller keeps running, which Waldo et al.</a:t>
            </a:r>
            <a:r>
              <a:rPr sz="1200" baseline="30000">
                <a:solidFill>
                  <a:srgbClr val="FFFFFF">
                    <a:alpha val="0"/>
                  </a:srgbClr>
                </a:solidFill>
              </a:rPr>
              <a:t>[1]</a:t>
            </a:r>
            <a:r>
              <a:rPr sz="1200" b="0">
                <a:solidFill>
                  <a:srgbClr val="FFFFFF">
                    <a:alpha val="0"/>
                  </a:srgbClr>
                </a:solidFill>
              </a:rPr>
              <a:t> (1994) call partial failure.</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the harness keeps running after a tool server dies and sees only a missing reply.</a:t>
            </a:r>
            <a:endParaRPr/>
          </a:p>
        </p:txBody>
      </p:sp>
      <p:pic>
        <p:nvPicPr>
          <p:cNvPr id="1090436815"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694794511"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48508922" name="Title 1"/>
          <p:cNvSpPr>
            <a:spLocks noGrp="1"/>
          </p:cNvSpPr>
          <p:nvPr>
            <p:ph type="title"/>
          </p:nvPr>
        </p:nvSpPr>
        <p:spPr bwMode="auto"/>
        <p:txBody>
          <a:bodyPr/>
          <a:lstStyle/>
          <a:p>
            <a:pPr>
              <a:defRPr/>
            </a:pPr>
            <a:r>
              <a:t>A callee in another process can fail alone.</a:t>
            </a:r>
          </a:p>
        </p:txBody>
      </p:sp>
      <p:sp>
        <p:nvSpPr>
          <p:cNvPr id="130745315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can fail while the caller keeps running, which Waldo et al.</a:t>
            </a:r>
            <a:r>
              <a:rPr sz="1200" baseline="30000">
                <a:solidFill>
                  <a:srgbClr val="000000"/>
                </a:solidFill>
              </a:rPr>
              <a:t>[1]</a:t>
            </a:r>
            <a:r>
              <a:rPr sz="1200" b="0">
                <a:solidFill>
                  <a:srgbClr val="000000"/>
                </a:solidFill>
              </a:rPr>
              <a:t> (1994) call partial failure.</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the harness keeps running after a tool server dies and sees only a missing reply.</a:t>
            </a:r>
            <a:endParaRPr/>
          </a:p>
        </p:txBody>
      </p:sp>
      <p:pic>
        <p:nvPicPr>
          <p:cNvPr id="245744380"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84850892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99084975" name="Title 1"/>
          <p:cNvSpPr>
            <a:spLocks noGrp="1"/>
          </p:cNvSpPr>
          <p:nvPr>
            <p:ph type="title"/>
          </p:nvPr>
        </p:nvSpPr>
        <p:spPr bwMode="auto"/>
        <p:txBody>
          <a:bodyPr/>
          <a:lstStyle/>
          <a:p>
            <a:pPr>
              <a:defRPr/>
            </a:pPr>
            <a:r>
              <a:t>A callee in another process can fail alone.</a:t>
            </a:r>
          </a:p>
        </p:txBody>
      </p:sp>
      <p:sp>
        <p:nvSpPr>
          <p:cNvPr id="343785126"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can fail while the caller keeps running, which Waldo et al.</a:t>
            </a:r>
            <a:r>
              <a:rPr sz="1200" baseline="30000">
                <a:solidFill>
                  <a:srgbClr val="000000"/>
                </a:solidFill>
              </a:rPr>
              <a:t>[1]</a:t>
            </a:r>
            <a:r>
              <a:rPr sz="1200" b="0">
                <a:solidFill>
                  <a:srgbClr val="000000"/>
                </a:solidFill>
              </a:rPr>
              <a:t> (1994) call partial failure.</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the harness keeps running after a tool server dies and sees only a missing reply.</a:t>
            </a:r>
            <a:endParaRPr/>
          </a:p>
        </p:txBody>
      </p:sp>
      <p:pic>
        <p:nvPicPr>
          <p:cNvPr id="1789133287"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99908497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47124855" name="Title 1"/>
          <p:cNvSpPr>
            <a:spLocks noGrp="1"/>
          </p:cNvSpPr>
          <p:nvPr>
            <p:ph type="title"/>
          </p:nvPr>
        </p:nvSpPr>
        <p:spPr bwMode="auto"/>
        <p:txBody>
          <a:bodyPr/>
          <a:lstStyle/>
          <a:p>
            <a:pPr>
              <a:defRPr/>
            </a:pPr>
            <a:r>
              <a:t>A callee in another process can fail alone.</a:t>
            </a:r>
          </a:p>
        </p:txBody>
      </p:sp>
      <p:sp>
        <p:nvSpPr>
          <p:cNvPr id="118879666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one process, so a crash stops both.</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can fail while the caller keeps running, which Waldo et al.</a:t>
            </a:r>
            <a:r>
              <a:rPr sz="1200" baseline="30000">
                <a:solidFill>
                  <a:srgbClr val="000000"/>
                </a:solidFill>
              </a:rPr>
              <a:t>[1]</a:t>
            </a:r>
            <a:r>
              <a:rPr sz="1200" b="0">
                <a:solidFill>
                  <a:srgbClr val="000000"/>
                </a:solidFill>
              </a:rPr>
              <a:t> (1994) call partial failure.</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the harness keeps running after a tool server dies and sees only a missing reply.</a:t>
            </a:r>
            <a:endParaRPr/>
          </a:p>
        </p:txBody>
      </p:sp>
      <p:pic>
        <p:nvPicPr>
          <p:cNvPr id="1712714590" name="Picture 3" descr="g3-fate.png"/>
          <p:cNvPicPr>
            <a:picLocks noChangeAspect="1"/>
          </p:cNvPicPr>
          <p:nvPr/>
        </p:nvPicPr>
        <p:blipFill rotWithShape="1">
          <a:blip r:embed="rId3"/>
          <a:stretch/>
        </p:blipFill>
        <p:spPr bwMode="auto">
          <a:xfrm>
            <a:off x="320040" y="2492017"/>
            <a:ext cx="6016752" cy="1599644"/>
          </a:xfrm>
          <a:prstGeom prst="rect">
            <a:avLst/>
          </a:prstGeom>
        </p:spPr>
      </p:pic>
      <p:sp>
        <p:nvSpPr>
          <p:cNvPr id="1776285234"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Waldo and colleagues argued that partial failure cannot be hidden.</a:t>
            </a:r>
            <a:endParaRPr/>
          </a:p>
        </p:txBody>
      </p:sp>
      <p:sp>
        <p:nvSpPr>
          <p:cNvPr id="177628523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J. Waldo, G. Wyant, A. Wollrath and S. Kendall. A note on distributed computing. Sun Microsystems Laboratories TR-94-29, 1994.</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6426879" name="Title 1"/>
          <p:cNvSpPr>
            <a:spLocks noGrp="1"/>
          </p:cNvSpPr>
          <p:nvPr>
            <p:ph type="title"/>
          </p:nvPr>
        </p:nvSpPr>
        <p:spPr bwMode="auto"/>
        <p:txBody>
          <a:bodyPr/>
          <a:lstStyle/>
          <a:p>
            <a:pPr>
              <a:defRPr/>
            </a:pPr>
            <a:r>
              <a:t>A late reply and a lost reply look alike.</a:t>
            </a:r>
          </a:p>
        </p:txBody>
      </p:sp>
      <p:sp>
        <p:nvSpPr>
          <p:cNvPr id="20865922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caller must choose a timeout, and at the deadline a late reply looks like a lost reply (Cristian, 1991</a:t>
            </a:r>
            <a:r>
              <a:rPr sz="1200" baseline="30000">
                <a:solidFill>
                  <a:srgbClr val="FFFFFF">
                    <a:alpha val="0"/>
                  </a:srgbClr>
                </a:solidFill>
              </a:rPr>
              <a:t>[1]</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short timeout causes needless retries, and a long timeout leaves the agent idle.</a:t>
            </a:r>
            <a:endParaRPr/>
          </a:p>
        </p:txBody>
      </p:sp>
      <p:pic>
        <p:nvPicPr>
          <p:cNvPr id="1661184665"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166118466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33899368" name="Title 1"/>
          <p:cNvSpPr>
            <a:spLocks noGrp="1"/>
          </p:cNvSpPr>
          <p:nvPr>
            <p:ph type="title"/>
          </p:nvPr>
        </p:nvSpPr>
        <p:spPr bwMode="auto"/>
        <p:txBody>
          <a:bodyPr/>
          <a:lstStyle/>
          <a:p>
            <a:pPr>
              <a:defRPr/>
            </a:pPr>
            <a:r>
              <a:t>A late reply and a lost reply look alike.</a:t>
            </a:r>
          </a:p>
        </p:txBody>
      </p:sp>
      <p:sp>
        <p:nvSpPr>
          <p:cNvPr id="34277253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must choose a timeout, and at the deadline a late reply looks like a lost reply (Cristian, 1991</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short timeout causes needless retries, and a long timeout leaves the agent idle.</a:t>
            </a:r>
            <a:endParaRPr/>
          </a:p>
        </p:txBody>
      </p:sp>
      <p:pic>
        <p:nvPicPr>
          <p:cNvPr id="245107136"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93389936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40100971" name="Title 1"/>
          <p:cNvSpPr>
            <a:spLocks noGrp="1"/>
          </p:cNvSpPr>
          <p:nvPr>
            <p:ph type="title"/>
          </p:nvPr>
        </p:nvSpPr>
        <p:spPr bwMode="auto"/>
        <p:txBody>
          <a:bodyPr/>
          <a:lstStyle/>
          <a:p>
            <a:pPr>
              <a:defRPr/>
            </a:pPr>
            <a:r>
              <a:t>A late reply and a lost reply look alike.</a:t>
            </a:r>
          </a:p>
        </p:txBody>
      </p:sp>
      <p:sp>
        <p:nvSpPr>
          <p:cNvPr id="111031194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must choose a timeout, and at the deadline a late reply looks like a lost reply (Cristian, 1991</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short timeout causes needless retries, and a long timeout leaves the agent idle.</a:t>
            </a:r>
            <a:endParaRPr/>
          </a:p>
        </p:txBody>
      </p:sp>
      <p:pic>
        <p:nvPicPr>
          <p:cNvPr id="1823419312"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182341931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34946704" name="Title 1"/>
          <p:cNvSpPr>
            <a:spLocks noGrp="1"/>
          </p:cNvSpPr>
          <p:nvPr>
            <p:ph type="title"/>
          </p:nvPr>
        </p:nvSpPr>
        <p:spPr bwMode="auto"/>
        <p:txBody>
          <a:bodyPr/>
          <a:lstStyle/>
          <a:p>
            <a:pPr>
              <a:defRPr/>
            </a:pPr>
            <a:r>
              <a:t>A late reply and a lost reply look alike.</a:t>
            </a:r>
          </a:p>
        </p:txBody>
      </p:sp>
      <p:sp>
        <p:nvSpPr>
          <p:cNvPr id="127627946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a tool that hangs also hangs the caller, so the caller never has to decide whether a slow call failed.</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caller must choose a timeout, and at the deadline a late reply looks like a lost reply (Cristian, 1991</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short timeout causes needless retries, and a long timeout leaves the agent idle.</a:t>
            </a:r>
            <a:endParaRPr/>
          </a:p>
        </p:txBody>
      </p:sp>
      <p:pic>
        <p:nvPicPr>
          <p:cNvPr id="1572259418" name="Picture 3" descr="g4-timeout.png"/>
          <p:cNvPicPr>
            <a:picLocks noChangeAspect="1"/>
          </p:cNvPicPr>
          <p:nvPr/>
        </p:nvPicPr>
        <p:blipFill rotWithShape="1">
          <a:blip r:embed="rId3"/>
          <a:stretch/>
        </p:blipFill>
        <p:spPr bwMode="auto">
          <a:xfrm>
            <a:off x="707429" y="2286000"/>
            <a:ext cx="5241973" cy="2011680"/>
          </a:xfrm>
          <a:prstGeom prst="rect">
            <a:avLst/>
          </a:prstGeom>
        </p:spPr>
      </p:pic>
      <p:sp>
        <p:nvSpPr>
          <p:cNvPr id="322799135"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At the deadline, the caller holds the same evidence for a late reply and a lost reply.</a:t>
            </a:r>
            <a:endParaRPr/>
          </a:p>
        </p:txBody>
      </p:sp>
      <p:sp>
        <p:nvSpPr>
          <p:cNvPr id="157225941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F. Cristian. Understanding fault-tolerant distributed systems. CACM 34(2), 1991.</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545538" name="Title 1"/>
          <p:cNvSpPr>
            <a:spLocks noGrp="1"/>
          </p:cNvSpPr>
          <p:nvPr>
            <p:ph type="title"/>
          </p:nvPr>
        </p:nvSpPr>
        <p:spPr bwMode="auto"/>
        <p:txBody>
          <a:bodyPr/>
          <a:lstStyle/>
          <a:p>
            <a:pPr>
              <a:defRPr/>
            </a:pPr>
            <a:r>
              <a:t>A remote caller cannot repair partial effects.</a:t>
            </a:r>
          </a:p>
        </p:txBody>
      </p:sp>
      <p:sp>
        <p:nvSpPr>
          <p:cNvPr id="58095002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the callee owns the state, so repair needs a compensating action that the callee provides (Garcia-Molina and Salem</a:t>
            </a:r>
            <a:r>
              <a:rPr sz="1200" baseline="30000">
                <a:solidFill>
                  <a:srgbClr val="FFFFFF">
                    <a:alpha val="0"/>
                  </a:srgbClr>
                </a:solidFill>
              </a:rPr>
              <a:t>[1]</a:t>
            </a:r>
            <a:r>
              <a:rPr sz="1200" b="0">
                <a:solidFill>
                  <a:srgbClr val="FFFFFF">
                    <a:alpha val="0"/>
                  </a:srgbClr>
                </a:solidFill>
              </a:rPr>
              <a:t>, 1987).</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half-applied edit on a remote server can be undone only through further tool calls.</a:t>
            </a:r>
            <a:endParaRPr/>
          </a:p>
        </p:txBody>
      </p:sp>
      <p:pic>
        <p:nvPicPr>
          <p:cNvPr id="177836747"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58095002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80252935" name="Title 1"/>
          <p:cNvSpPr>
            <a:spLocks noGrp="1"/>
          </p:cNvSpPr>
          <p:nvPr>
            <p:ph type="title"/>
          </p:nvPr>
        </p:nvSpPr>
        <p:spPr bwMode="auto"/>
        <p:txBody>
          <a:bodyPr/>
          <a:lstStyle/>
          <a:p>
            <a:pPr>
              <a:defRPr/>
            </a:pPr>
            <a:r>
              <a:t>A remote caller cannot repair partial effects.</a:t>
            </a:r>
          </a:p>
        </p:txBody>
      </p:sp>
      <p:sp>
        <p:nvSpPr>
          <p:cNvPr id="165614718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owns the state, so repair needs a compensating action that the callee provides (Garcia-Molina and Salem</a:t>
            </a:r>
            <a:r>
              <a:rPr sz="1200" baseline="30000">
                <a:solidFill>
                  <a:srgbClr val="000000"/>
                </a:solidFill>
              </a:rPr>
              <a:t>[1]</a:t>
            </a:r>
            <a:r>
              <a:rPr sz="1200" b="0">
                <a:solidFill>
                  <a:srgbClr val="000000"/>
                </a:solidFill>
              </a:rPr>
              <a:t>, 1987).</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half-applied edit on a remote server can be undone only through further tool calls.</a:t>
            </a:r>
            <a:endParaRPr/>
          </a:p>
        </p:txBody>
      </p:sp>
      <p:pic>
        <p:nvPicPr>
          <p:cNvPr id="1753425791"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175342579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1487546" name="Title 1"/>
          <p:cNvSpPr>
            <a:spLocks noGrp="1"/>
          </p:cNvSpPr>
          <p:nvPr>
            <p:ph type="title"/>
          </p:nvPr>
        </p:nvSpPr>
        <p:spPr bwMode="auto"/>
        <p:txBody>
          <a:bodyPr/>
          <a:lstStyle/>
          <a:p>
            <a:pPr>
              <a:defRPr/>
            </a:pPr>
            <a:r>
              <a:t>A remote caller cannot repair partial effects.</a:t>
            </a:r>
          </a:p>
        </p:txBody>
      </p:sp>
      <p:sp>
        <p:nvSpPr>
          <p:cNvPr id="197022705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owns the state, so repair needs a compensating action that the callee provides (Garcia-Molina and Salem</a:t>
            </a:r>
            <a:r>
              <a:rPr sz="1200" baseline="30000">
                <a:solidFill>
                  <a:srgbClr val="000000"/>
                </a:solidFill>
              </a:rPr>
              <a:t>[1]</a:t>
            </a:r>
            <a:r>
              <a:rPr sz="1200" b="0">
                <a:solidFill>
                  <a:srgbClr val="000000"/>
                </a:solidFill>
              </a:rPr>
              <a:t>, 1987).</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half-applied edit on a remote server can be undone only through further tool calls.</a:t>
            </a:r>
            <a:endParaRPr/>
          </a:p>
        </p:txBody>
      </p:sp>
      <p:pic>
        <p:nvPicPr>
          <p:cNvPr id="396436246"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197022705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57230657" name="Title 1"/>
          <p:cNvSpPr>
            <a:spLocks noGrp="1"/>
          </p:cNvSpPr>
          <p:nvPr>
            <p:ph type="title"/>
          </p:nvPr>
        </p:nvSpPr>
        <p:spPr bwMode="auto"/>
        <p:txBody>
          <a:bodyPr/>
          <a:lstStyle/>
          <a:p>
            <a:pPr>
              <a:defRPr/>
            </a:pPr>
            <a:r>
              <a:t>A remote caller cannot repair partial effects.</a:t>
            </a:r>
          </a:p>
        </p:txBody>
      </p:sp>
      <p:sp>
        <p:nvSpPr>
          <p:cNvPr id="41903766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caller and callee share files, so the caller can inspect a partial change and repair it.</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the callee owns the state, so repair needs a compensating action that the callee provides (Garcia-Molina and Salem</a:t>
            </a:r>
            <a:r>
              <a:rPr sz="1200" baseline="30000">
                <a:solidFill>
                  <a:srgbClr val="000000"/>
                </a:solidFill>
              </a:rPr>
              <a:t>[1]</a:t>
            </a:r>
            <a:r>
              <a:rPr sz="1200" b="0">
                <a:solidFill>
                  <a:srgbClr val="000000"/>
                </a:solidFill>
              </a:rPr>
              <a:t>, 1987).</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half-applied edit on a remote server can be undone only through further tool calls.</a:t>
            </a:r>
            <a:endParaRPr/>
          </a:p>
        </p:txBody>
      </p:sp>
      <p:pic>
        <p:nvPicPr>
          <p:cNvPr id="1859421437" name="Picture 3" descr="g5-effects.png"/>
          <p:cNvPicPr>
            <a:picLocks noChangeAspect="1"/>
          </p:cNvPicPr>
          <p:nvPr/>
        </p:nvPicPr>
        <p:blipFill rotWithShape="1">
          <a:blip r:embed="rId3"/>
          <a:stretch/>
        </p:blipFill>
        <p:spPr bwMode="auto">
          <a:xfrm>
            <a:off x="320040" y="2315148"/>
            <a:ext cx="6016752" cy="1953384"/>
          </a:xfrm>
          <a:prstGeom prst="rect">
            <a:avLst/>
          </a:prstGeom>
        </p:spPr>
      </p:pic>
      <p:sp>
        <p:nvSpPr>
          <p:cNvPr id="251103581"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Without shared state, undoing an effect means asking the callee to undo it.</a:t>
            </a:r>
            <a:endParaRPr/>
          </a:p>
        </p:txBody>
      </p:sp>
      <p:sp>
        <p:nvSpPr>
          <p:cNvPr id="1859421438"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H. Garcia-Molina and K. Salem. Sagas. SIGMOD 1987.</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32721865" name="Title 1"/>
          <p:cNvSpPr>
            <a:spLocks noGrp="1"/>
          </p:cNvSpPr>
          <p:nvPr>
            <p:ph type="title"/>
          </p:nvPr>
        </p:nvSpPr>
        <p:spPr bwMode="auto"/>
        <p:txBody>
          <a:bodyPr/>
          <a:lstStyle/>
          <a:p>
            <a:pPr>
              <a:defRPr/>
            </a:pPr>
            <a:r>
              <a:t>Parallel requests can take effect out of order.</a:t>
            </a:r>
          </a:p>
        </p:txBody>
      </p:sp>
      <p:sp>
        <p:nvSpPr>
          <p:cNvPr id="1076853497"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Across a boundary,</a:t>
            </a:r>
            <a:r>
              <a:rPr sz="1200" b="0">
                <a:solidFill>
                  <a:srgbClr val="FFFFFF">
                    <a:alpha val="0"/>
                  </a:srgbClr>
                </a:solidFill>
              </a:rPr>
              <a:t> two requests in flight have no inherent order unless the system imposes one (Lamport, 1978</a:t>
            </a:r>
            <a:r>
              <a:rPr sz="1200" baseline="30000">
                <a:solidFill>
                  <a:srgbClr val="FFFFFF">
                    <a:alpha val="0"/>
                  </a:srgbClr>
                </a:solidFill>
              </a:rPr>
              <a:t>[1]</a:t>
            </a:r>
            <a:r>
              <a:rPr sz="1200" b="0">
                <a:solidFill>
                  <a:srgbClr val="FFFFFF">
                    <a:alpha val="0"/>
                  </a:srgbClr>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model may emit several calls in one turn (November 2023), and their effects can interleave.</a:t>
            </a:r>
            <a:endParaRPr/>
          </a:p>
        </p:txBody>
      </p:sp>
      <p:pic>
        <p:nvPicPr>
          <p:cNvPr id="2123852101"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2123852102"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81906772" name="Title 1"/>
          <p:cNvSpPr>
            <a:spLocks noGrp="1"/>
          </p:cNvSpPr>
          <p:nvPr>
            <p:ph type="title"/>
          </p:nvPr>
        </p:nvSpPr>
        <p:spPr bwMode="auto"/>
        <p:txBody>
          <a:bodyPr/>
          <a:lstStyle/>
          <a:p>
            <a:pPr>
              <a:defRPr/>
            </a:pPr>
            <a:r>
              <a:t>Parallel requests can take effect out of order.</a:t>
            </a:r>
          </a:p>
        </p:txBody>
      </p:sp>
      <p:sp>
        <p:nvSpPr>
          <p:cNvPr id="435277833"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two requests in flight have no inherent order unless the system imposes one (Lamport, 1978</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None/>
              <a:defRPr/>
            </a:pPr>
            <a:r>
              <a:rPr sz="1200" b="1">
                <a:solidFill>
                  <a:srgbClr val="FFFFFF">
                    <a:alpha val="0"/>
                  </a:srgbClr>
                </a:solidFill>
              </a:rPr>
              <a:t>For a tool call,</a:t>
            </a:r>
            <a:r>
              <a:rPr sz="1200" b="0">
                <a:solidFill>
                  <a:srgbClr val="FFFFFF">
                    <a:alpha val="0"/>
                  </a:srgbClr>
                </a:solidFill>
              </a:rPr>
              <a:t> a model may emit several calls in one turn (November 2023), and their effects can interleave.</a:t>
            </a:r>
            <a:endParaRPr/>
          </a:p>
        </p:txBody>
      </p:sp>
      <p:pic>
        <p:nvPicPr>
          <p:cNvPr id="1378410516"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137841051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1170131" name="Title 1"/>
          <p:cNvSpPr>
            <a:spLocks noGrp="1"/>
          </p:cNvSpPr>
          <p:nvPr>
            <p:ph type="title"/>
          </p:nvPr>
        </p:nvSpPr>
        <p:spPr bwMode="auto"/>
        <p:txBody>
          <a:bodyPr/>
          <a:lstStyle/>
          <a:p>
            <a:pPr>
              <a:defRPr/>
            </a:pPr>
            <a:r>
              <a:t>Parallel requests can take effect out of order.</a:t>
            </a:r>
          </a:p>
        </p:txBody>
      </p:sp>
      <p:sp>
        <p:nvSpPr>
          <p:cNvPr id="1110313471"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two requests in flight have no inherent order unless the system imposes one (Lamport, 1978</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model may emit several calls in one turn (November 2023), and their effects can interleave.</a:t>
            </a:r>
            <a:endParaRPr/>
          </a:p>
        </p:txBody>
      </p:sp>
      <p:pic>
        <p:nvPicPr>
          <p:cNvPr id="1214184219"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1214184220"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62303988" name="Title 1"/>
          <p:cNvSpPr>
            <a:spLocks noGrp="1"/>
          </p:cNvSpPr>
          <p:nvPr>
            <p:ph type="title"/>
          </p:nvPr>
        </p:nvSpPr>
        <p:spPr bwMode="auto"/>
        <p:txBody>
          <a:bodyPr/>
          <a:lstStyle/>
          <a:p>
            <a:pPr>
              <a:defRPr/>
            </a:pPr>
            <a:r>
              <a:t>Parallel requests can take effect out of order.</a:t>
            </a:r>
          </a:p>
        </p:txBody>
      </p:sp>
      <p:sp>
        <p:nvSpPr>
          <p:cNvPr id="26362798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00" b="1">
                <a:solidFill>
                  <a:srgbClr val="000000"/>
                </a:solidFill>
              </a:rPr>
              <a:t>Locally,</a:t>
            </a:r>
            <a:r>
              <a:rPr sz="1200" b="0">
                <a:solidFill>
                  <a:srgbClr val="000000"/>
                </a:solidFill>
              </a:rPr>
              <a:t> one call finishes before the next one begins, so effects follow program order.</a:t>
            </a:r>
            <a:endParaRPr/>
          </a:p>
          <a:p>
            <a:pPr marL="342900" indent="-228600">
              <a:spcBef>
                <a:spcPts val="300"/>
              </a:spcBef>
              <a:spcAft>
                <a:spcPts val="300"/>
              </a:spcAft>
              <a:buClr>
                <a:srgbClr val="28285E"/>
              </a:buClr>
              <a:buSzPts val="1100"/>
              <a:buFont typeface="+mn-lt"/>
              <a:buChar char="●"/>
              <a:defRPr/>
            </a:pPr>
            <a:r>
              <a:rPr sz="1200" b="1">
                <a:solidFill>
                  <a:srgbClr val="000000"/>
                </a:solidFill>
              </a:rPr>
              <a:t>Across a boundary,</a:t>
            </a:r>
            <a:r>
              <a:rPr sz="1200" b="0">
                <a:solidFill>
                  <a:srgbClr val="000000"/>
                </a:solidFill>
              </a:rPr>
              <a:t> two requests in flight have no inherent order unless the system imposes one (Lamport, 1978</a:t>
            </a:r>
            <a:r>
              <a:rPr sz="1200" baseline="30000">
                <a:solidFill>
                  <a:srgbClr val="000000"/>
                </a:solidFill>
              </a:rPr>
              <a:t>[1]</a:t>
            </a:r>
            <a:r>
              <a:rPr sz="1200" b="0">
                <a:solidFill>
                  <a:srgbClr val="000000"/>
                </a:solidFill>
              </a:rPr>
              <a:t>).</a:t>
            </a:r>
            <a:endParaRPr/>
          </a:p>
          <a:p>
            <a:pPr marL="342900" indent="-228600">
              <a:spcBef>
                <a:spcPts val="300"/>
              </a:spcBef>
              <a:spcAft>
                <a:spcPts val="300"/>
              </a:spcAft>
              <a:buClr>
                <a:srgbClr val="28285E"/>
              </a:buClr>
              <a:buSzPts val="1100"/>
              <a:buFont typeface="+mn-lt"/>
              <a:buChar char="●"/>
              <a:defRPr/>
            </a:pPr>
            <a:r>
              <a:rPr sz="1200" b="1">
                <a:solidFill>
                  <a:srgbClr val="000000"/>
                </a:solidFill>
              </a:rPr>
              <a:t>For a tool call,</a:t>
            </a:r>
            <a:r>
              <a:rPr sz="1200" b="0">
                <a:solidFill>
                  <a:srgbClr val="000000"/>
                </a:solidFill>
              </a:rPr>
              <a:t> a model may emit several calls in one turn (November 2023), and their effects can interleave.</a:t>
            </a:r>
            <a:endParaRPr/>
          </a:p>
        </p:txBody>
      </p:sp>
      <p:pic>
        <p:nvPicPr>
          <p:cNvPr id="1708742364" name="Picture 3" descr="g6-order.png"/>
          <p:cNvPicPr>
            <a:picLocks noChangeAspect="1"/>
          </p:cNvPicPr>
          <p:nvPr/>
        </p:nvPicPr>
        <p:blipFill rotWithShape="1">
          <a:blip r:embed="rId3"/>
          <a:stretch/>
        </p:blipFill>
        <p:spPr bwMode="auto">
          <a:xfrm>
            <a:off x="768095" y="2286000"/>
            <a:ext cx="5120640" cy="2011680"/>
          </a:xfrm>
          <a:prstGeom prst="rect">
            <a:avLst/>
          </a:prstGeom>
        </p:spPr>
      </p:pic>
      <p:sp>
        <p:nvSpPr>
          <p:cNvPr id="938085808" name="Rectangle 4"/>
          <p:cNvSpPr/>
          <p:nvPr/>
        </p:nvSpPr>
        <p:spPr bwMode="auto">
          <a:xfrm>
            <a:off x="320040" y="4370832"/>
            <a:ext cx="6016752" cy="429768"/>
          </a:xfrm>
          <a:prstGeom prst="rect">
            <a:avLst/>
          </a:prstGeom>
          <a:solidFill>
            <a:srgbClr val="CACAE5"/>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rgbClr val="28285E"/>
                </a:solidFill>
              </a:rPr>
              <a:t>The caller must impose an order, or the effects of parallel calls must not depend on it.</a:t>
            </a:r>
            <a:endParaRPr/>
          </a:p>
        </p:txBody>
      </p:sp>
      <p:sp>
        <p:nvSpPr>
          <p:cNvPr id="1862303989"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L. Lamport. Time, clocks, and the ordering of events in a distributed system. CACM 21(7), 1978.</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33529781" name="Title 1"/>
          <p:cNvSpPr>
            <a:spLocks noGrp="1"/>
          </p:cNvSpPr>
          <p:nvPr>
            <p:ph type="title"/>
          </p:nvPr>
        </p:nvSpPr>
        <p:spPr bwMode="auto"/>
        <p:txBody>
          <a:bodyPr/>
          <a:lstStyle/>
          <a:p>
            <a:pPr>
              <a:defRPr/>
            </a:pPr>
            <a:r>
              <a:t>Another process puts six guarantees at risk.</a:t>
            </a:r>
          </a:p>
        </p:txBody>
      </p:sp>
      <p:graphicFrame>
        <p:nvGraphicFramePr>
          <p:cNvPr id="237499509" name="Ledger table"/>
          <p:cNvGraphicFramePr>
            <a:graphicFrameLocks noGrp="1"/>
          </p:cNvGraphicFramePr>
          <p:nvPr/>
        </p:nvGraphicFramePr>
        <p:xfrm>
          <a:off x="320040" y="777240"/>
          <a:ext cx="6016752" cy="9525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7024773" name="Title 1"/>
          <p:cNvSpPr>
            <a:spLocks noGrp="1"/>
          </p:cNvSpPr>
          <p:nvPr>
            <p:ph type="title"/>
          </p:nvPr>
        </p:nvSpPr>
        <p:spPr bwMode="auto"/>
        <p:txBody>
          <a:bodyPr/>
          <a:lstStyle/>
          <a:p>
            <a:pPr>
              <a:defRPr/>
            </a:pPr>
            <a:r>
              <a:t>Another process puts six guarantees at risk.</a:t>
            </a:r>
          </a:p>
        </p:txBody>
      </p:sp>
      <p:graphicFrame>
        <p:nvGraphicFramePr>
          <p:cNvPr id="755897136" name="Ledger table"/>
          <p:cNvGraphicFramePr>
            <a:graphicFrameLocks noGrp="1"/>
          </p:cNvGraphicFramePr>
          <p:nvPr/>
        </p:nvGraphicFramePr>
        <p:xfrm>
          <a:off x="320040" y="777240"/>
          <a:ext cx="6016752" cy="15049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50545341" name="Title 1"/>
          <p:cNvSpPr>
            <a:spLocks noGrp="1"/>
          </p:cNvSpPr>
          <p:nvPr>
            <p:ph type="title"/>
          </p:nvPr>
        </p:nvSpPr>
        <p:spPr bwMode="auto"/>
        <p:txBody>
          <a:bodyPr/>
          <a:lstStyle/>
          <a:p>
            <a:pPr>
              <a:defRPr/>
            </a:pPr>
            <a:r>
              <a:t>Another process puts six guarantees at risk.</a:t>
            </a:r>
          </a:p>
        </p:txBody>
      </p:sp>
      <p:graphicFrame>
        <p:nvGraphicFramePr>
          <p:cNvPr id="1502475443" name="Ledger table"/>
          <p:cNvGraphicFramePr>
            <a:graphicFrameLocks noGrp="1"/>
          </p:cNvGraphicFramePr>
          <p:nvPr/>
        </p:nvGraphicFramePr>
        <p:xfrm>
          <a:off x="320040" y="777240"/>
          <a:ext cx="6016752" cy="19050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0876162" name="Title 1"/>
          <p:cNvSpPr>
            <a:spLocks noGrp="1"/>
          </p:cNvSpPr>
          <p:nvPr>
            <p:ph type="title"/>
          </p:nvPr>
        </p:nvSpPr>
        <p:spPr bwMode="auto"/>
        <p:txBody>
          <a:bodyPr/>
          <a:lstStyle/>
          <a:p>
            <a:pPr>
              <a:defRPr/>
            </a:pPr>
            <a:r>
              <a:t>Another process puts six guarantees at risk.</a:t>
            </a:r>
          </a:p>
        </p:txBody>
      </p:sp>
      <p:graphicFrame>
        <p:nvGraphicFramePr>
          <p:cNvPr id="1494163996" name="Ledger table"/>
          <p:cNvGraphicFramePr>
            <a:graphicFrameLocks noGrp="1"/>
          </p:cNvGraphicFramePr>
          <p:nvPr/>
        </p:nvGraphicFramePr>
        <p:xfrm>
          <a:off x="320040" y="777240"/>
          <a:ext cx="6016752" cy="24574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63380023" name="Title 1"/>
          <p:cNvSpPr>
            <a:spLocks noGrp="1"/>
          </p:cNvSpPr>
          <p:nvPr>
            <p:ph type="title"/>
          </p:nvPr>
        </p:nvSpPr>
        <p:spPr bwMode="auto"/>
        <p:txBody>
          <a:bodyPr/>
          <a:lstStyle/>
          <a:p>
            <a:pPr>
              <a:defRPr/>
            </a:pPr>
            <a:r>
              <a:t>Another process puts six guarantees at risk.</a:t>
            </a:r>
          </a:p>
        </p:txBody>
      </p:sp>
      <p:graphicFrame>
        <p:nvGraphicFramePr>
          <p:cNvPr id="1954637850" name="Ledger table"/>
          <p:cNvGraphicFramePr>
            <a:graphicFrameLocks noGrp="1"/>
          </p:cNvGraphicFramePr>
          <p:nvPr/>
        </p:nvGraphicFramePr>
        <p:xfrm>
          <a:off x="320040" y="777240"/>
          <a:ext cx="6016752" cy="30099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Partial effects are visible.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Shared memory and files let the caller inspect and repair what the callee changed.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caller can no longer inspect or repair the callee's partial effects.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99259775" name="Title 1"/>
          <p:cNvSpPr>
            <a:spLocks noGrp="1"/>
          </p:cNvSpPr>
          <p:nvPr>
            <p:ph type="title"/>
          </p:nvPr>
        </p:nvSpPr>
        <p:spPr bwMode="auto"/>
        <p:txBody>
          <a:bodyPr/>
          <a:lstStyle/>
          <a:p>
            <a:pPr>
              <a:defRPr/>
            </a:pPr>
            <a:r>
              <a:t>Another process puts six guarantees at risk.</a:t>
            </a:r>
          </a:p>
        </p:txBody>
      </p:sp>
      <p:graphicFrame>
        <p:nvGraphicFramePr>
          <p:cNvPr id="1630079014" name="Ledger table"/>
          <p:cNvGraphicFramePr>
            <a:graphicFrameLocks noGrp="1"/>
          </p:cNvGraphicFramePr>
          <p:nvPr/>
        </p:nvGraphicFramePr>
        <p:xfrm>
          <a:off x="320040" y="777240"/>
          <a:ext cx="6016752" cy="34099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Partial effects are visible.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Shared memory and files let the caller inspect and repair what the callee changed.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caller can no longer inspect or repair the callee's partial effects.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Effects happen in program order.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finishes before the next one begins.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Requests in flight can take effect out of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17287147" name="Title 1"/>
          <p:cNvSpPr>
            <a:spLocks noGrp="1"/>
          </p:cNvSpPr>
          <p:nvPr>
            <p:ph type="title"/>
          </p:nvPr>
        </p:nvSpPr>
        <p:spPr bwMode="auto"/>
        <p:txBody>
          <a:bodyPr/>
          <a:lstStyle/>
          <a:p>
            <a:pPr>
              <a:defRPr/>
            </a:pPr>
            <a:r>
              <a:t>Another process puts six guarantees at risk.</a:t>
            </a:r>
          </a:p>
        </p:txBody>
      </p:sp>
      <p:graphicFrame>
        <p:nvGraphicFramePr>
          <p:cNvPr id="1084231544" name="Ledger table"/>
          <p:cNvGraphicFramePr>
            <a:graphicFrameLocks noGrp="1"/>
          </p:cNvGraphicFramePr>
          <p:nvPr/>
        </p:nvGraphicFramePr>
        <p:xfrm>
          <a:off x="320040" y="777240"/>
          <a:ext cx="6016752" cy="340995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76272">
                  <a:extLst>
                    <a:ext uri="{9D8B030D-6E8A-4147-A177-3AD203B41FA5}">
                      <a16:colId xmlns:a16="http://schemas.microsoft.com/office/drawing/2014/main" val="20002"/>
                    </a:ext>
                  </a:extLst>
                </a:gridCol>
              </a:tblGrid>
              <a:tr h="300000">
                <a:tc>
                  <a:txBody>
                    <a:bodyPr/>
                    <a:lstStyle/>
                    <a:p>
                      <a:pPr>
                        <a:buNone/>
                        <a:defRPr/>
                      </a:pPr>
                      <a:r>
                        <a:rPr lang="en-US" sz="1000" b="1">
                          <a:solidFill>
                            <a:schemeClr val="tx1"/>
                          </a:solidFill>
                        </a:rPr>
                        <a:t>Guarantee</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Locally</a:t>
                      </a:r>
                      <a:endParaRPr/>
                    </a:p>
                  </a:txBody>
                  <a:tcPr marL="95250" marR="95250" marT="47625" marB="47625">
                    <a:lnB w="12700" algn="ctr">
                      <a:solidFill>
                        <a:schemeClr val="tx1"/>
                      </a:solidFill>
                    </a:lnB>
                    <a:noFill/>
                  </a:tcPr>
                </a:tc>
                <a:tc>
                  <a:txBody>
                    <a:bodyPr/>
                    <a:lstStyle/>
                    <a:p>
                      <a:pPr>
                        <a:buNone/>
                        <a:defRPr/>
                      </a:pPr>
                      <a:r>
                        <a:rPr lang="en-US" sz="1000" b="1">
                          <a:solidFill>
                            <a:schemeClr val="tx1"/>
                          </a:solidFill>
                        </a:rPr>
                        <a:t>When the tool runs in another process</a:t>
                      </a:r>
                      <a:endParaRPr/>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1000" b="1">
                          <a:solidFill>
                            <a:srgbClr val="28285E"/>
                          </a:solidFill>
                        </a:rPr>
                        <a:t>Completion is known.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returned call shows that the callee ran, and an exception reports why it did not.</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lost reply leaves open whether the callee ran.</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1000" b="1">
                          <a:solidFill>
                            <a:srgbClr val="28285E"/>
                          </a:solidFill>
                        </a:rPr>
                        <a:t>Execution happens once.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runs the callee once, because no retry exists between caller and callee.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retry can run the callee a second time.</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1000" b="1">
                          <a:solidFill>
                            <a:srgbClr val="28285E"/>
                          </a:solidFill>
                        </a:rPr>
                        <a:t>Failures are shared.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Caller and callee fail together, so neither outlives the other.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callee can fail while the caller keeps running.</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1000" b="1">
                          <a:solidFill>
                            <a:srgbClr val="28285E"/>
                          </a:solidFill>
                        </a:rPr>
                        <a:t>No timeout is needed.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callee that hangs also hangs the caller, so slowness and failure need no distinction.</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 late reply looks the same as a lost reply.</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0">
                <a:tc>
                  <a:txBody>
                    <a:bodyPr/>
                    <a:lstStyle/>
                    <a:p>
                      <a:pPr>
                        <a:buNone/>
                        <a:defRPr/>
                      </a:pPr>
                      <a:r>
                        <a:rPr lang="en-US" sz="1000" b="1">
                          <a:solidFill>
                            <a:srgbClr val="28285E"/>
                          </a:solidFill>
                        </a:rPr>
                        <a:t>Partial effects are visible.</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Shared memory and files let the caller inspect and repair what the callee changed.</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caller can no longer inspect or repair the callee's partial effects.</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r h="0">
                <a:tc>
                  <a:txBody>
                    <a:bodyPr/>
                    <a:lstStyle/>
                    <a:p>
                      <a:pPr>
                        <a:buNone/>
                        <a:defRPr/>
                      </a:pPr>
                      <a:r>
                        <a:rPr lang="en-US" sz="1000" b="1">
                          <a:solidFill>
                            <a:srgbClr val="28285E"/>
                          </a:solidFill>
                        </a:rPr>
                        <a:t>Effects happen in program order.</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One call finishes before the next one begins.</a:t>
                      </a:r>
                      <a:endParaRPr/>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Requests in flight can take effect out of order.</a:t>
                      </a:r>
                      <a:endParaRPr/>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6"/>
                  </a:ext>
                </a:extLst>
              </a:tr>
            </a:tbl>
          </a:graphicData>
        </a:graphic>
      </p:graphicFrame>
      <p:sp>
        <p:nvSpPr>
          <p:cNvPr id="1929562341" name="Rectangle 3"/>
          <p:cNvSpPr/>
          <p:nvPr/>
        </p:nvSpPr>
        <p:spPr bwMode="auto">
          <a:xfrm>
            <a:off x="320040" y="4315968"/>
            <a:ext cx="6016752" cy="50292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Across a boundary, the contract and the harness must supply what a local call gave for free.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TotalTime>
  <Words>66472</Words>
  <Application>Microsoft Macintosh PowerPoint</Application>
  <PresentationFormat>Custom</PresentationFormat>
  <Paragraphs>3201</Paragraphs>
  <Slides>281</Slides>
  <Notes>281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281</vt:i4>
      </vt:variant>
    </vt:vector>
  </HeadingPairs>
  <TitlesOfParts>
    <vt:vector size="286" baseType="lpstr">
      <vt:lpstr>Aptos</vt:lpstr>
      <vt:lpstr>Courier New</vt:lpstr>
      <vt:lpstr>Aptos Mono</vt:lpstr>
      <vt:lpstr>Arial</vt:lpstr>
      <vt:lpstr>Simple Light</vt:lpstr>
      <vt:lpstr>Designing Production Agentic Systems</vt:lpstr>
      <vt:lpstr>PowerPoint Presentation</vt:lpstr>
      <vt:lpstr>Lecture 3 modeled an agent as a state machine.</vt:lpstr>
      <vt:lpstr>Lecture 3 modeled an agent as a state machine.</vt:lpstr>
      <vt:lpstr>Lecture 3 modeled an agent as a state machine.</vt:lpstr>
      <vt:lpstr>Lecture 3 modeled an agent as a state machine.</vt:lpstr>
      <vt:lpstr>Lecture 3 modeled an agent as a state machine.</vt:lpstr>
      <vt:lpstr>PowerPoint Presentation</vt:lpstr>
      <vt:lpstr>PowerPoint Presentation</vt:lpstr>
      <vt:lpstr>PowerPoint Presentation</vt:lpstr>
      <vt:lpstr>What is a tool call, exactly? </vt:lpstr>
      <vt:lpstr>What is a tool call, exactly? </vt:lpstr>
      <vt:lpstr>What is a tool call, exactly? </vt:lpstr>
      <vt:lpstr>What is a tool call, exactly? </vt:lpstr>
      <vt:lpstr>What is a tool call, exactly? </vt:lpstr>
      <vt:lpstr>What is a tool call, exactly? </vt:lpstr>
      <vt:lpstr>What is a tool call, exactly? </vt:lpstr>
      <vt:lpstr>What is a tool call, exactly? </vt:lpstr>
      <vt:lpstr>Tool calling divides into two periods </vt:lpstr>
      <vt:lpstr>Tool calling divides into two periods </vt:lpstr>
      <vt:lpstr>Tool calling divides into two periods </vt:lpstr>
      <vt:lpstr>Tool calling divides into two periods </vt:lpstr>
      <vt:lpstr>Tool calling divides into two periods </vt:lpstr>
      <vt:lpstr>Remote calls add failure modes to local calls.</vt:lpstr>
      <vt:lpstr>Remote calls add failure modes to local calls.</vt:lpstr>
      <vt:lpstr>Remote calls add failure modes to local calls.</vt:lpstr>
      <vt:lpstr>Remote calls add failure modes to local calls.</vt:lpstr>
      <vt:lpstr>By 2022, applications parsed tool calls from text.</vt:lpstr>
      <vt:lpstr>By 2022, applications parsed tool calls from text.</vt:lpstr>
      <vt:lpstr>By 2022, applications parsed tool calls from text.</vt:lpstr>
      <vt:lpstr>By 2022, applications parsed tool calls from text.</vt:lpstr>
      <vt:lpstr>In 2023–24, tool schemas entered the API.</vt:lpstr>
      <vt:lpstr>In 2023–24, tool schemas entered the API.</vt:lpstr>
      <vt:lpstr>In 2023–24, tool schemas entered the API.</vt:lpstr>
      <vt:lpstr>In 2023–24, tool schemas entered the API.</vt:lpstr>
      <vt:lpstr>In late 2024, MCP moved tools out of process.</vt:lpstr>
      <vt:lpstr>In late 2024, MCP moved tools out of process.</vt:lpstr>
      <vt:lpstr>In late 2024, MCP moved tools out of process.</vt:lpstr>
      <vt:lpstr>In late 2024, MCP moved tools out of process.</vt:lpstr>
      <vt:lpstr>By 2026, studies had measured tool-call failures.</vt:lpstr>
      <vt:lpstr>By 2026, studies had measured tool-call failures.</vt:lpstr>
      <vt:lpstr>By 2026, studies had measured tool-call failures.</vt:lpstr>
      <vt:lpstr>A retried request can apply the same patch twice.</vt:lpstr>
      <vt:lpstr>A retried request can apply the same patch twice.</vt:lpstr>
      <vt:lpstr>A retried request can apply the same patch twice.</vt:lpstr>
      <vt:lpstr>A retried request can apply the same patch twice.</vt:lpstr>
      <vt:lpstr>This lecture defines four terms.</vt:lpstr>
      <vt:lpstr>This lecture defines four terms.</vt:lpstr>
      <vt:lpstr>This lecture defines four terms.</vt:lpstr>
      <vt:lpstr>This lecture defines four terms.</vt:lpstr>
      <vt:lpstr>A lost reply leaves the outcome unknown.</vt:lpstr>
      <vt:lpstr>PowerPoint Presentation</vt:lpstr>
      <vt:lpstr>PowerPoint Presentation</vt:lpstr>
      <vt:lpstr>A tool contract has five parts.</vt:lpstr>
      <vt:lpstr>A tool contract has five parts.</vt:lpstr>
      <vt:lpstr>A tool contract has five parts.</vt:lpstr>
      <vt:lpstr>A tool contract has five parts.</vt:lpstr>
      <vt:lpstr>A tool contract has five parts.</vt:lpstr>
      <vt:lpstr>A tool contract has five parts.</vt:lpstr>
      <vt:lpstr>A dispatcher executes each tool call.</vt:lpstr>
      <vt:lpstr>A dispatcher executes each tool call.</vt:lpstr>
      <vt:lpstr>A dispatcher executes each tool call.</vt:lpstr>
      <vt:lpstr>The dispatcher supplies the workspace root.</vt:lpstr>
      <vt:lpstr>The model receives only the tool declaration.</vt:lpstr>
      <vt:lpstr>Every call passes through five operations.</vt:lpstr>
      <vt:lpstr>A refused call returns an error to the model.</vt:lpstr>
      <vt:lpstr>Lifecycle of a tool call</vt:lpstr>
      <vt:lpstr>Lifecycle of a tool call</vt:lpstr>
      <vt:lpstr>Lifecycle of a tool call</vt:lpstr>
      <vt:lpstr>Lifecycle of a tool call</vt:lpstr>
      <vt:lpstr>Lifecycle of a tool call</vt:lpstr>
      <vt:lpstr>Lifecycle of a tool call</vt:lpstr>
      <vt:lpstr>Lifecycle of a tool call</vt:lpstr>
      <vt:lpstr>Five trace events surround each tool call.</vt:lpstr>
      <vt:lpstr>Every route to a resource must pass the guard.</vt:lpstr>
      <vt:lpstr>Every route to a resource must pass the guard.</vt:lpstr>
      <vt:lpstr>Every route to a resource must pass the guard.</vt:lpstr>
      <vt:lpstr>Every route to a resource must pass the guard.</vt:lpstr>
      <vt:lpstr>Every route to a resource must pass the guard.</vt:lpstr>
      <vt:lpstr>Every route to a resource must pass the guard.</vt:lpstr>
      <vt:lpstr>The harness divides its work among eight actors.</vt:lpstr>
      <vt:lpstr>The harness divides its work among eight actors.</vt:lpstr>
      <vt:lpstr>The harness divides its work among eight actors.</vt:lpstr>
      <vt:lpstr>The harness divides its work among eight actors.</vt:lpstr>
      <vt:lpstr>The harness divides its work among eight actors.</vt:lpstr>
      <vt:lpstr>Who ensures that only registered tools run?</vt:lpstr>
      <vt:lpstr>Who ensures that only registered tools run?</vt:lpstr>
      <vt:lpstr>Who checks that arguments match the tool?</vt:lpstr>
      <vt:lpstr>Who checks that arguments match the tool?</vt:lpstr>
      <vt:lpstr>Who ensures that writes stay in the workspace?</vt:lpstr>
      <vt:lpstr>Who ensures that writes stay in the workspace?</vt:lpstr>
      <vt:lpstr>Who stops model calls once the budget is spent?</vt:lpstr>
      <vt:lpstr>Who stops model calls once the budget is spent?</vt:lpstr>
      <vt:lpstr>The search tool reads outside the workspace.</vt:lpstr>
      <vt:lpstr>The search tool reads outside the workspace.</vt:lpstr>
      <vt:lpstr>The search tool reads outside the workspace.</vt:lpstr>
      <vt:lpstr>The search tool reads outside the workspace.</vt:lpstr>
      <vt:lpstr>The search tool reads outside the workspace.</vt:lpstr>
      <vt:lpstr>The search tool reads outside the workspace.</vt:lpstr>
      <vt:lpstr>The harness enforces four of five guarantees.</vt:lpstr>
      <vt:lpstr>The harness enforces four of five guarantees.</vt:lpstr>
      <vt:lpstr>The harness enforces four of five guarantees.</vt:lpstr>
      <vt:lpstr>The harness enforces four of five guarantees.</vt:lpstr>
      <vt:lpstr>The harness enforces four of five guarantees.</vt:lpstr>
      <vt:lpstr>The harness enforces four of five guarantees.</vt:lpstr>
      <vt:lpstr>PowerPoint Presentation</vt:lpstr>
      <vt:lpstr>PowerPoint Presentation</vt:lpstr>
      <vt:lpstr>Native tool calls are part of the model API.[1]</vt:lpstr>
      <vt:lpstr>Native tool calls are part of the model API.[1]</vt:lpstr>
      <vt:lpstr>Native tool calls are part of the model API.[1]</vt:lpstr>
      <vt:lpstr>The harness returns each result by call ID.</vt:lpstr>
      <vt:lpstr>The harness returns each result by call ID.</vt:lpstr>
      <vt:lpstr>The harness returns each result by call ID.</vt:lpstr>
      <vt:lpstr>OpenAI and Anthropic use equivalent formats.[1][2]</vt:lpstr>
      <vt:lpstr>LangGraph converts both formats into one list.</vt:lpstr>
      <vt:lpstr>The tools node returns one ToolMessage per call.</vt:lpstr>
      <vt:lpstr>The tools node returns one ToolMessage per call.</vt:lpstr>
      <vt:lpstr>The tools node returns one ToolMessage per call.</vt:lpstr>
      <vt:lpstr>In-process tools offer local-call guarantees.</vt:lpstr>
      <vt:lpstr>In-process tools offer local-call guarantees.</vt:lpstr>
      <vt:lpstr>In-process tools offer local-call guarantees.</vt:lpstr>
      <vt:lpstr>In-process tools offer local-call guarantees.</vt:lpstr>
      <vt:lpstr>In-process tools offer local-call guarantees.</vt:lpstr>
      <vt:lpstr>In-process tools offer local-call guarantees.</vt:lpstr>
      <vt:lpstr>In-process tools offer local-call guarantees.</vt:lpstr>
      <vt:lpstr>The application can require or forbid tool calls.</vt:lpstr>
      <vt:lpstr>Two further controls limit calls and arguments.[1][2]</vt:lpstr>
      <vt:lpstr>Native tool calling has two limits.</vt:lpstr>
      <vt:lpstr>Native tool calling has two limits.</vt:lpstr>
      <vt:lpstr>Native tool calling has two limits.</vt:lpstr>
      <vt:lpstr>In CodeAct, the model's action is a program.</vt:lpstr>
      <vt:lpstr>In CodeAct, the model's action is a program.</vt:lpstr>
      <vt:lpstr>In CodeAct, the model's action is a program.</vt:lpstr>
      <vt:lpstr>The harness runs each script in an interpreter.[1]</vt:lpstr>
      <vt:lpstr>The harness runs each script in an interpreter.[1]</vt:lpstr>
      <vt:lpstr>The harness runs each script in an interpreter.[1]</vt:lpstr>
      <vt:lpstr>The CodeAct kernel runs scripts with exec.</vt:lpstr>
      <vt:lpstr>The CodeAct kernel runs scripts with exec.</vt:lpstr>
      <vt:lpstr>The CodeAct kernel runs scripts with exec.</vt:lpstr>
      <vt:lpstr>The CodeAct kernel runs scripts with exec.</vt:lpstr>
      <vt:lpstr>The CodeAct kernel runs scripts with exec.</vt:lpstr>
      <vt:lpstr>The CodeAct kernel runs scripts with exec.</vt:lpstr>
      <vt:lpstr>A CodeAct run alternates scripts and outputs.</vt:lpstr>
      <vt:lpstr>A CodeAct run alternates scripts and outputs.</vt:lpstr>
      <vt:lpstr>A CodeAct run alternates scripts and outputs.</vt:lpstr>
      <vt:lpstr>The model corrects the script from the traceback.</vt:lpstr>
      <vt:lpstr>The model corrects the script from the traceback.</vt:lpstr>
      <vt:lpstr>The model corrects the script from the traceback.</vt:lpstr>
      <vt:lpstr>Agent frameworks and designs use code actions.</vt:lpstr>
      <vt:lpstr>Agent frameworks and designs use code actions.</vt:lpstr>
      <vt:lpstr>Agent frameworks and designs use code actions.</vt:lpstr>
      <vt:lpstr>Agent frameworks and designs use code actions.</vt:lpstr>
      <vt:lpstr>Agent frameworks and designs use code actions.</vt:lpstr>
      <vt:lpstr>Where can CodeAct confine the writes?</vt:lpstr>
      <vt:lpstr>Where can CodeAct confine the writes?</vt:lpstr>
      <vt:lpstr>The sandbox confines every write of a script.</vt:lpstr>
      <vt:lpstr>The sandbox confines every write of a script.</vt:lpstr>
      <vt:lpstr>The sandbox confines every write of a script.</vt:lpstr>
      <vt:lpstr>What does the trace record for a failed script?</vt:lpstr>
      <vt:lpstr>What does the trace record for a failed script?</vt:lpstr>
      <vt:lpstr>A workspace diff records each script's effect.</vt:lpstr>
      <vt:lpstr>A staged workspace prevents partial effects.</vt:lpstr>
      <vt:lpstr>What stops a script that never ends?</vt:lpstr>
      <vt:lpstr>What stops a script that never ends?</vt:lpstr>
      <vt:lpstr>A child process with limits bounds each script.</vt:lpstr>
      <vt:lpstr>Why did the script delete the tests?</vt:lpstr>
      <vt:lpstr>Why did the script delete the tests?</vt:lpstr>
      <vt:lpstr>Each application integrates each tool separately.</vt:lpstr>
      <vt:lpstr>Integration effort grows as N × M.</vt:lpstr>
      <vt:lpstr>Integration effort grows as N × M.</vt:lpstr>
      <vt:lpstr>Integration effort grows as N × M.</vt:lpstr>
      <vt:lpstr>PowerPoint Presentation</vt:lpstr>
      <vt:lpstr>PowerPoint Presentation</vt:lpstr>
      <vt:lpstr>MCP is a standard plug for AI applications.</vt:lpstr>
      <vt:lpstr>MCP is a standard plug for AI applications.</vt:lpstr>
      <vt:lpstr>MCP is a standard plug for AI applications.</vt:lpstr>
      <vt:lpstr>A server offers tools, resources and prompts.[1]</vt:lpstr>
      <vt:lpstr>One request travels from user to server.</vt:lpstr>
      <vt:lpstr>An MCP server is a program that offers tools.[2]</vt:lpstr>
      <vt:lpstr>An MCP server is a program that offers tools.[2]</vt:lpstr>
      <vt:lpstr>An MCP server is a program that offers tools.[2]</vt:lpstr>
      <vt:lpstr>A client connects an application to a server.[4]</vt:lpstr>
      <vt:lpstr>A client connects an application to a server.[4]</vt:lpstr>
      <vt:lpstr>A client connects an application to a server.[4]</vt:lpstr>
      <vt:lpstr>The host runs one client for each server.[1]</vt:lpstr>
      <vt:lpstr>The host runs one client for each server.[1]</vt:lpstr>
      <vt:lpstr>The host runs one client for each server.[1]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MCP standardizes a small set of methods.[1]</vt:lpstr>
      <vt:lpstr>The host converts MCP tools for the model.[1]</vt:lpstr>
      <vt:lpstr>One tool call crosses two connections.[1]</vt:lpstr>
      <vt:lpstr>A tool result reports success or an error.[1]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host and the server share the operations.[1]</vt:lpstr>
      <vt:lpstr>The SDK generates the definition from Python.</vt:lpstr>
      <vt:lpstr>A tool definition lists every contract field.[1]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Annotations are hints, not guarantees.[1]</vt:lpstr>
      <vt:lpstr>Annotations are hints, not guarantees.[1]</vt:lpstr>
      <vt:lpstr>Annotations are hints, not guarantees.[1]</vt:lpstr>
      <vt:lpstr>Every MCP request stands on its own.[1]</vt:lpstr>
      <vt:lpstr>Every MCP request stands on its own.[1]</vt:lpstr>
      <vt:lpstr>Every MCP request stands on its own.[1]</vt:lpstr>
      <vt:lpstr>Over stdio, each message is one line of JSON.[1]</vt:lpstr>
      <vt:lpstr>Over stdio, each message is one line of JSON.[1]</vt:lpstr>
      <vt:lpstr>Over stdio, each message is one line of JSON.[1]</vt:lpstr>
      <vt:lpstr>Over HTTP, each message is one POST.[1]</vt:lpstr>
      <vt:lpstr>An SSE reply can stream progress first.[1]</vt:lpstr>
      <vt:lpstr>An SSE reply can stream progress first.[1]</vt:lpstr>
      <vt:lpstr>An SSE reply can stream progress first.[1]</vt:lpstr>
      <vt:lpstr>A broken stream forces a new request.[1]</vt:lpstr>
      <vt:lpstr>A broken stream forces a new request.[1]</vt:lpstr>
      <vt:lpstr>A broken stream forces a new request.[1]</vt:lpstr>
      <vt:lpstr>Who must validate a tool's arguments?</vt:lpstr>
      <vt:lpstr>Who must validate a tool's arguments?</vt:lpstr>
      <vt:lpstr>Who must ask the user before a tool runs?</vt:lpstr>
      <vt:lpstr>Who must ask the user before a tool runs?</vt:lpstr>
      <vt:lpstr>Who sends a request again after a break?[1]</vt:lpstr>
      <vt:lpstr>Who sends a request again after a break?[1]</vt:lpstr>
      <vt:lpstr>PowerPoint Presentation</vt:lpstr>
      <vt:lpstr>PowerPoint Presentation</vt:lpstr>
      <vt:lpstr>Tool calls across a boundary can go wrong.</vt:lpstr>
      <vt:lpstr>Tool calls across a boundary can go wrong.</vt:lpstr>
      <vt:lpstr>Tool calls across a boundary can go wrong.</vt:lpstr>
      <vt:lpstr>Server design shapes what the model can call.</vt:lpstr>
      <vt:lpstr>Server design shapes what the model can call.</vt:lpstr>
      <vt:lpstr>Server design shapes what the model can call.</vt:lpstr>
      <vt:lpstr>Server design shapes what the model can call.</vt:lpstr>
      <vt:lpstr>Server design shapes what the model can call.</vt:lpstr>
      <vt:lpstr>Server design shapes what the model can call.</vt:lpstr>
      <vt:lpstr>Server design shapes what the model can call.</vt:lpstr>
      <vt:lpstr>Most tool descriptions have defects.[2][3]</vt:lpstr>
      <vt:lpstr>Strict decoding fixes structure, not values.</vt:lpstr>
      <vt:lpstr>Strict decoding fixes structure, not values.</vt:lpstr>
      <vt:lpstr>Strict decoding fixes structure, not values.</vt:lpstr>
      <vt:lpstr>Strict decoding fixes structure, not values.</vt:lpstr>
      <vt:lpstr>A lost request and a lost reply look the same.</vt:lpstr>
      <vt:lpstr>A lost request and a lost reply look the same.</vt:lpstr>
      <vt:lpstr>A lost request and a lost reply look the same.</vt:lpstr>
      <vt:lpstr>A lost request and a lost reply look the same.</vt:lpstr>
      <vt:lpstr>A new request defeats duplicate suppression.</vt:lpstr>
      <vt:lpstr>A new request defeats duplicate suppression.</vt:lpstr>
      <vt:lpstr>A new request defeats duplicate suppression.</vt:lpstr>
      <vt:lpstr>A new request defeats duplicate suppression.</vt:lpstr>
      <vt:lpstr>A callee in another process can fail alone.</vt:lpstr>
      <vt:lpstr>A callee in another process can fail alone.</vt:lpstr>
      <vt:lpstr>A callee in another process can fail alone.</vt:lpstr>
      <vt:lpstr>A callee in another process can fail alone.</vt:lpstr>
      <vt:lpstr>A late reply and a lost reply look alike.</vt:lpstr>
      <vt:lpstr>A late reply and a lost reply look alike.</vt:lpstr>
      <vt:lpstr>A late reply and a lost reply look alike.</vt:lpstr>
      <vt:lpstr>A late reply and a lost reply look alike.</vt:lpstr>
      <vt:lpstr>A remote caller cannot repair partial effects.</vt:lpstr>
      <vt:lpstr>A remote caller cannot repair partial effects.</vt:lpstr>
      <vt:lpstr>A remote caller cannot repair partial effects.</vt:lpstr>
      <vt:lpstr>A remote caller cannot repair partial effects.</vt:lpstr>
      <vt:lpstr>Parallel requests can take effect out of order.</vt:lpstr>
      <vt:lpstr>Parallel requests can take effect out of order.</vt:lpstr>
      <vt:lpstr>Parallel requests can take effect out of order.</vt:lpstr>
      <vt:lpstr>Parallel requests can take effect out of order.</vt:lpstr>
      <vt:lpstr>Another process puts six guarantees at risk.</vt:lpstr>
      <vt:lpstr>Another process puts six guarantees at risk.</vt:lpstr>
      <vt:lpstr>Another process puts six guarantees at risk.</vt:lpstr>
      <vt:lpstr>Another process puts six guarantees at risk.</vt:lpstr>
      <vt:lpstr>Another process puts six guarantees at risk.</vt:lpstr>
      <vt:lpstr>Another process puts six guarantees at risk.</vt:lpstr>
      <vt:lpstr>Another process puts six guarantees at risk.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213</cp:revision>
  <dcterms:modified xsi:type="dcterms:W3CDTF">2026-10-02T19:44:43Z</dcterms:modified>
</cp:coreProperties>
</file>
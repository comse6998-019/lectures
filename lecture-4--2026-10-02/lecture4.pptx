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91.xml" ContentType="application/vnd.openxmlformats-officedocument.presentationml.notesSlide+xml"/>
  <Override PartName="/ppt/notesSlides/notesSlide90.xml" ContentType="application/vnd.openxmlformats-officedocument.presentationml.notesSlide+xml"/>
  <Override PartName="/ppt/notesSlides/notesSlide87.xml" ContentType="application/vnd.openxmlformats-officedocument.presentationml.notesSlide+xml"/>
  <Override PartName="/ppt/notesSlides/notesSlide86.xml" ContentType="application/vnd.openxmlformats-officedocument.presentationml.notesSlide+xml"/>
  <Override PartName="/ppt/notesSlides/notesSlide83.xml" ContentType="application/vnd.openxmlformats-officedocument.presentationml.notesSlide+xml"/>
  <Override PartName="/ppt/notesSlides/notesSlide82.xml" ContentType="application/vnd.openxmlformats-officedocument.presentationml.notesSlide+xml"/>
  <Override PartName="/ppt/notesSlides/notesSlide80.xml" ContentType="application/vnd.openxmlformats-officedocument.presentationml.notesSlide+xml"/>
  <Override PartName="/ppt/notesSlides/notesSlide85.xml" ContentType="application/vnd.openxmlformats-officedocument.presentationml.notesSlide+xml"/>
  <Override PartName="/ppt/notesSlides/notesSlide79.xml" ContentType="application/vnd.openxmlformats-officedocument.presentationml.notesSlide+xml"/>
  <Override PartName="/ppt/notesSlides/notesSlide77.xml" ContentType="application/vnd.openxmlformats-officedocument.presentationml.notesSlide+xml"/>
  <Override PartName="/ppt/notesSlides/notesSlide71.xml" ContentType="application/vnd.openxmlformats-officedocument.presentationml.notesSlide+xml"/>
  <Override PartName="/ppt/notesSlides/notesSlide69.xml" ContentType="application/vnd.openxmlformats-officedocument.presentationml.notesSlide+xml"/>
  <Override PartName="/ppt/notesSlides/notesSlide66.xml" ContentType="application/vnd.openxmlformats-officedocument.presentationml.notesSlide+xml"/>
  <Override PartName="/ppt/notesSlides/notesSlide64.xml" ContentType="application/vnd.openxmlformats-officedocument.presentationml.notesSlide+xml"/>
  <Override PartName="/ppt/notesSlides/notesSlide63.xml" ContentType="application/vnd.openxmlformats-officedocument.presentationml.notesSlide+xml"/>
  <Override PartName="/ppt/notesSlides/notesSlide60.xml" ContentType="application/vnd.openxmlformats-officedocument.presentationml.notesSlide+xml"/>
  <Override PartName="/ppt/notesSlides/notesSlide59.xml" ContentType="application/vnd.openxmlformats-officedocument.presentationml.notesSlide+xml"/>
  <Override PartName="/ppt/notesSlides/notesSlide58.xml" ContentType="application/vnd.openxmlformats-officedocument.presentationml.notesSlide+xml"/>
  <Override PartName="/ppt/notesSlides/notesSlide57.xml" ContentType="application/vnd.openxmlformats-officedocument.presentationml.notesSlide+xml"/>
  <Override PartName="/ppt/notesSlides/notesSlide54.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3.xml" ContentType="application/vnd.openxmlformats-officedocument.presentationml.notesSlide+xml"/>
  <Override PartName="/ppt/notesSlides/notesSlide41.xml" ContentType="application/vnd.openxmlformats-officedocument.presentationml.notesSlide+xml"/>
  <Override PartName="/ppt/notesSlides/notesSlide45.xml" ContentType="application/vnd.openxmlformats-officedocument.presentationml.notesSlide+xml"/>
  <Override PartName="/ppt/notesSlides/notesSlide39.xml" ContentType="application/vnd.openxmlformats-officedocument.presentationml.notesSlide+xml"/>
  <Override PartName="/ppt/notesSlides/notesSlide38.xml" ContentType="application/vnd.openxmlformats-officedocument.presentationml.notesSlide+xml"/>
  <Override PartName="/ppt/notesSlides/notesSlide36.xml" ContentType="application/vnd.openxmlformats-officedocument.presentationml.notesSlide+xml"/>
  <Override PartName="/ppt/notesSlides/notesSlide62.xml" ContentType="application/vnd.openxmlformats-officedocument.presentationml.notesSlide+xml"/>
  <Override PartName="/ppt/notesSlides/notesSlide35.xml" ContentType="application/vnd.openxmlformats-officedocument.presentationml.notesSlide+xml"/>
  <Override PartName="/ppt/notesSlides/notesSlide32.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74.xml" ContentType="application/vnd.openxmlformats-officedocument.presentationml.notesSlide+xml"/>
  <Override PartName="/ppt/notesSlides/notesSlide28.xml" ContentType="application/vnd.openxmlformats-officedocument.presentationml.notesSlide+xml"/>
  <Override PartName="/ppt/notesSlides/notesSlide26.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3.xml" ContentType="application/vnd.openxmlformats-officedocument.presentationml.notesSlide+xml"/>
  <Override PartName="/ppt/notesSlides/notesSlide56.xml" ContentType="application/vnd.openxmlformats-officedocument.presentationml.notesSlide+xml"/>
  <Override PartName="/ppt/notesSlides/notesSlide22.xml" ContentType="application/vnd.openxmlformats-officedocument.presentationml.notesSlide+xml"/>
  <Override PartName="/ppt/notesSlides/notesSlide67.xml" ContentType="application/vnd.openxmlformats-officedocument.presentationml.notesSlide+xml"/>
  <Override PartName="/ppt/notesSlides/notesSlide21.xml" ContentType="application/vnd.openxmlformats-officedocument.presentationml.notesSlide+xml"/>
  <Override PartName="/ppt/notesSlides/notesSlide76.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84.xml" ContentType="application/vnd.openxmlformats-officedocument.presentationml.notesSlide+xml"/>
  <Override PartName="/ppt/notesSlides/notesSlide42.xml" ContentType="application/vnd.openxmlformats-officedocument.presentationml.notesSlide+xml"/>
  <Override PartName="/ppt/notesSlides/notesSlide14.xml" ContentType="application/vnd.openxmlformats-officedocument.presentationml.notesSlide+xml"/>
  <Override PartName="/ppt/notesSlides/notesSlide13.xml" ContentType="application/vnd.openxmlformats-officedocument.presentationml.notesSlide+xml"/>
  <Override PartName="/ppt/notesSlides/notesSlide55.xml" ContentType="application/vnd.openxmlformats-officedocument.presentationml.notesSlide+xml"/>
  <Override PartName="/ppt/notesSlides/notesSlide11.xml" ContentType="application/vnd.openxmlformats-officedocument.presentationml.notesSlide+xml"/>
  <Override PartName="/ppt/notesSlides/notesSlide33.xml" ContentType="application/vnd.openxmlformats-officedocument.presentationml.notesSlide+xml"/>
  <Override PartName="/ppt/notesSlides/notesSlide8.xml" ContentType="application/vnd.openxmlformats-officedocument.presentationml.notesSlide+xml"/>
  <Override PartName="/ppt/notesSlides/notesSlide37.xml" ContentType="application/vnd.openxmlformats-officedocument.presentationml.notesSlide+xml"/>
  <Override PartName="/ppt/notesSlides/notesSlide7.xml" ContentType="application/vnd.openxmlformats-officedocument.presentationml.notesSlide+xml"/>
  <Override PartName="/ppt/notesSlides/notesSlide72.xml" ContentType="application/vnd.openxmlformats-officedocument.presentationml.notesSlide+xml"/>
  <Override PartName="/ppt/notesSlides/notesSlide61.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1.xml" ContentType="application/vnd.openxmlformats-officedocument.presentationml.notesSlide+xml"/>
  <Override PartName="/ppt/slides/slide87.xml" ContentType="application/vnd.openxmlformats-officedocument.presentationml.slide+xml"/>
  <Override PartName="/ppt/slides/slide86.xml" ContentType="application/vnd.openxmlformats-officedocument.presentationml.slide+xml"/>
  <Override PartName="/ppt/slides/slide84.xml" ContentType="application/vnd.openxmlformats-officedocument.presentationml.slide+xml"/>
  <Override PartName="/ppt/slides/slide83.xml" ContentType="application/vnd.openxmlformats-officedocument.presentationml.slide+xml"/>
  <Override PartName="/ppt/notesSlides/notesSlide75.xml" ContentType="application/vnd.openxmlformats-officedocument.presentationml.notesSlide+xml"/>
  <Override PartName="/ppt/slides/slide31.xml" ContentType="application/vnd.openxmlformats-officedocument.presentationml.slide+xml"/>
  <Override PartName="/ppt/slides/slide77.xml" ContentType="application/vnd.openxmlformats-officedocument.presentationml.slide+xml"/>
  <Override PartName="/ppt/slides/slide32.xml" ContentType="application/vnd.openxmlformats-officedocument.presentationml.slide+xml"/>
  <Override PartName="/ppt/slideLayouts/slideLayout2.xml" ContentType="application/vnd.openxmlformats-officedocument.presentationml.slideLayout+xml"/>
  <Override PartName="/ppt/slides/slide29.xml" ContentType="application/vnd.openxmlformats-officedocument.presentationml.slide+xml"/>
  <Override PartName="/ppt/slides/slide15.xml" ContentType="application/vnd.openxmlformats-officedocument.presentationml.slide+xml"/>
  <Override PartName="/ppt/slides/slide27.xml" ContentType="application/vnd.openxmlformats-officedocument.presentationml.slide+xml"/>
  <Override PartName="/ppt/slides/slide69.xml" ContentType="application/vnd.openxmlformats-officedocument.presentationml.slide+xml"/>
  <Override PartName="/ppt/slides/slide18.xml" ContentType="application/vnd.openxmlformats-officedocument.presentationml.slide+xml"/>
  <Override PartName="/ppt/slides/slide26.xml" ContentType="application/vnd.openxmlformats-officedocument.presentationml.slide+xml"/>
  <Override PartName="/ppt/slides/slide23.xml" ContentType="application/vnd.openxmlformats-officedocument.presentationml.slide+xml"/>
  <Override PartName="/ppt/notesSlides/notesSlide40.xml" ContentType="application/vnd.openxmlformats-officedocument.presentationml.notesSlide+xml"/>
  <Override PartName="/ppt/slides/slide56.xml" ContentType="application/vnd.openxmlformats-officedocument.presentationml.slide+xml"/>
  <Override PartName="/ppt/notesSlides/notesSlide30.xml" ContentType="application/vnd.openxmlformats-officedocument.presentationml.notesSlide+xml"/>
  <Override PartName="/ppt/slides/slide22.xml" ContentType="application/vnd.openxmlformats-officedocument.presentationml.slide+xml"/>
  <Override PartName="/ppt/notesSlides/notesSlide89.xml" ContentType="application/vnd.openxmlformats-officedocument.presentationml.notesSlide+xml"/>
  <Override PartName="/ppt/slides/slide16.xml" ContentType="application/vnd.openxmlformats-officedocument.presentationml.slide+xml"/>
  <Override PartName="/ppt/notesSlides/notesSlide12.xml" ContentType="application/vnd.openxmlformats-officedocument.presentationml.notesSlide+xml"/>
  <Override PartName="/ppt/slides/slide11.xml" ContentType="application/vnd.openxmlformats-officedocument.presentationml.slide+xml"/>
  <Override PartName="/ppt/slides/slide38.xml" ContentType="application/vnd.openxmlformats-officedocument.presentationml.slide+xml"/>
  <Override PartName="/ppt/slides/slide28.xml" ContentType="application/vnd.openxmlformats-officedocument.presentationml.slide+xml"/>
  <Override PartName="/docProps/core.xml" ContentType="application/vnd.openxmlformats-package.core-properties+xml"/>
  <Override PartName="/ppt/notesSlides/notesSlide88.xml" ContentType="application/vnd.openxmlformats-officedocument.presentationml.notesSlide+xml"/>
  <Override PartName="/ppt/slides/slide6.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notesSlides/notesSlide15.xml" ContentType="application/vnd.openxmlformats-officedocument.presentationml.notesSlide+xml"/>
  <Override PartName="/ppt/slides/slide13.xml" ContentType="application/vnd.openxmlformats-officedocument.presentationml.slide+xml"/>
  <Override PartName="/ppt/slides/slide30.xml" ContentType="application/vnd.openxmlformats-officedocument.presentationml.slide+xml"/>
  <Override PartName="/ppt/theme/theme2.xml" ContentType="application/vnd.openxmlformats-officedocument.theme+xml"/>
  <Override PartName="/ppt/notesSlides/notesSlide49.xml" ContentType="application/vnd.openxmlformats-officedocument.presentationml.notesSlide+xml"/>
  <Override PartName="/ppt/slides/slide20.xml" ContentType="application/vnd.openxmlformats-officedocument.presentationml.slide+xml"/>
  <Override PartName="/ppt/slides/slide47.xml" ContentType="application/vnd.openxmlformats-officedocument.presentationml.slide+xml"/>
  <Override PartName="/ppt/notesSlides/notesSlide53.xml" ContentType="application/vnd.openxmlformats-officedocument.presentationml.notesSlide+xml"/>
  <Override PartName="/ppt/slides/slide3.xml" ContentType="application/vnd.openxmlformats-officedocument.presentationml.slide+xml"/>
  <Override PartName="/ppt/theme/theme1.xml" ContentType="application/vnd.openxmlformats-officedocument.theme+xml"/>
  <Override PartName="/ppt/viewProps.xml" ContentType="application/vnd.openxmlformats-officedocument.presentationml.viewProps+xml"/>
  <Override PartName="/ppt/slides/slide17.xml" ContentType="application/vnd.openxmlformats-officedocument.presentationml.slide+xml"/>
  <Override PartName="/ppt/notesSlides/notesSlide70.xml" ContentType="application/vnd.openxmlformats-officedocument.presentationml.notesSlide+xml"/>
  <Override PartName="/ppt/slides/slide90.xml" ContentType="application/vnd.openxmlformats-officedocument.presentationml.slide+xml"/>
  <Override PartName="/ppt/slides/slide58.xml" ContentType="application/vnd.openxmlformats-officedocument.presentationml.slide+xml"/>
  <Override PartName="/ppt/slides/slide85.xml" ContentType="application/vnd.openxmlformats-officedocument.presentationml.slide+xml"/>
  <Override PartName="/docProps/app.xml" ContentType="application/vnd.openxmlformats-officedocument.extended-properties+xml"/>
  <Override PartName="/ppt/tableStyles.xml" ContentType="application/vnd.openxmlformats-officedocument.presentationml.tableStyles+xml"/>
  <Override PartName="/ppt/notesSlides/notesSlide46.xml" ContentType="application/vnd.openxmlformats-officedocument.presentationml.notesSlide+xml"/>
  <Override PartName="/ppt/slides/slide19.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68.xml" ContentType="application/vnd.openxmlformats-officedocument.presentationml.slide+xml"/>
  <Override PartName="/ppt/slides/slide74.xml" ContentType="application/vnd.openxmlformats-officedocument.presentationml.slide+xml"/>
  <Override PartName="/ppt/slides/slide88.xml" ContentType="application/vnd.openxmlformats-officedocument.presentationml.slide+xml"/>
  <Override PartName="/ppt/slideLayouts/slideLayout4.xml" ContentType="application/vnd.openxmlformats-officedocument.presentationml.slideLayout+xml"/>
  <Override PartName="/ppt/slides/slide1.xml" ContentType="application/vnd.openxmlformats-officedocument.presentationml.slide+xml"/>
  <Override PartName="/ppt/slides/slide25.xml" ContentType="application/vnd.openxmlformats-officedocument.presentationml.slide+xml"/>
  <Override PartName="/ppt/notesSlides/notesSlide27.xml" ContentType="application/vnd.openxmlformats-officedocument.presentationml.notesSlide+xml"/>
  <Override PartName="/ppt/presProps.xml" ContentType="application/vnd.openxmlformats-officedocument.presentationml.presProps+xml"/>
  <Override PartName="/ppt/slides/slide21.xml" ContentType="application/vnd.openxmlformats-officedocument.presentationml.slide+xml"/>
  <Override PartName="/ppt/slides/slide61.xml" ContentType="application/vnd.openxmlformats-officedocument.presentationml.slide+xml"/>
  <Override PartName="/ppt/slideLayouts/slideLayout1.xml" ContentType="application/vnd.openxmlformats-officedocument.presentationml.slideLayout+xml"/>
  <Override PartName="/ppt/slides/slide65.xml" ContentType="application/vnd.openxmlformats-officedocument.presentationml.slide+xml"/>
  <Override PartName="/ppt/slides/slide72.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slides/slide7.xml" ContentType="application/vnd.openxmlformats-officedocument.presentationml.slide+xml"/>
  <Override PartName="/ppt/slides/slide41.xml" ContentType="application/vnd.openxmlformats-officedocument.presentationml.slide+xml"/>
  <Override PartName="/ppt/slides/slide24.xml" ContentType="application/vnd.openxmlformats-officedocument.presentationml.slide+xml"/>
  <Override PartName="/ppt/slides/slide40.xml" ContentType="application/vnd.openxmlformats-officedocument.presentationml.slide+xml"/>
  <Override PartName="/ppt/notesSlides/notesSlide47.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81.xml" ContentType="application/vnd.openxmlformats-officedocument.presentationml.notesSlide+xml"/>
  <Override PartName="/ppt/notesSlides/notesSlide10.xml" ContentType="application/vnd.openxmlformats-officedocument.presentationml.notesSlide+xml"/>
  <Override PartName="/ppt/slides/slide49.xml" ContentType="application/vnd.openxmlformats-officedocument.presentationml.slide+xml"/>
  <Override PartName="/ppt/slides/slide81.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71.xml" ContentType="application/vnd.openxmlformats-officedocument.presentationml.slide+xml"/>
  <Override PartName="/ppt/slides/slide91.xml" ContentType="application/vnd.openxmlformats-officedocument.presentationml.slide+xml"/>
  <Override PartName="/ppt/slides/slide39.xml" ContentType="application/vnd.openxmlformats-officedocument.presentationml.slide+xml"/>
  <Override PartName="/ppt/slides/slide33.xml" ContentType="application/vnd.openxmlformats-officedocument.presentationml.slide+xml"/>
  <Override PartName="/ppt/slides/slide63.xml" ContentType="application/vnd.openxmlformats-officedocument.presentationml.slide+xml"/>
  <Override PartName="/ppt/presentation.xml" ContentType="application/vnd.openxmlformats-officedocument.presentationml.presentation.main+xml"/>
  <Override PartName="/ppt/slides/slide42.xml" ContentType="application/vnd.openxmlformats-officedocument.presentationml.slide+xml"/>
  <Override PartName="/ppt/slides/slide44.xml" ContentType="application/vnd.openxmlformats-officedocument.presentationml.slide+xml"/>
  <Override PartName="/ppt/notesSlides/notesSlide73.xml" ContentType="application/vnd.openxmlformats-officedocument.presentationml.notesSlide+xml"/>
  <Override PartName="/ppt/notesSlides/notesSlide48.xml" ContentType="application/vnd.openxmlformats-officedocument.presentationml.notesSlide+xml"/>
  <Override PartName="/ppt/slides/slide45.xml" ContentType="application/vnd.openxmlformats-officedocument.presentationml.slide+xml"/>
  <Override PartName="/ppt/slides/slide53.xml" ContentType="application/vnd.openxmlformats-officedocument.presentationml.slide+xml"/>
  <Override PartName="/ppt/slides/slide46.xml" ContentType="application/vnd.openxmlformats-officedocument.presentationml.slide+xml"/>
  <Override PartName="/ppt/slides/slide79.xml" ContentType="application/vnd.openxmlformats-officedocument.presentationml.slide+xml"/>
  <Override PartName="/ppt/slides/slide48.xml" ContentType="application/vnd.openxmlformats-officedocument.presentationml.slide+xml"/>
  <Override PartName="/ppt/slides/slide80.xml" ContentType="application/vnd.openxmlformats-officedocument.presentationml.slide+xml"/>
  <Override PartName="/ppt/notesSlides/notesSlide65.xml" ContentType="application/vnd.openxmlformats-officedocument.presentationml.notesSlide+xml"/>
  <Override PartName="/ppt/notesSlides/notesSlide44.xml" ContentType="application/vnd.openxmlformats-officedocument.presentationml.notesSlide+xml"/>
  <Override PartName="/ppt/notesSlides/notesSlide9.xml" ContentType="application/vnd.openxmlformats-officedocument.presentationml.notesSlide+xml"/>
  <Override PartName="/ppt/notesSlides/notesSlide2.xml" ContentType="application/vnd.openxmlformats-officedocument.presentationml.notesSlide+xml"/>
  <Override PartName="/ppt/slides/slide9.xml" ContentType="application/vnd.openxmlformats-officedocument.presentationml.slide+xml"/>
  <Override PartName="/ppt/slides/slide50.xml" ContentType="application/vnd.openxmlformats-officedocument.presentationml.slide+xml"/>
  <Override PartName="/ppt/slides/slide8.xml" ContentType="application/vnd.openxmlformats-officedocument.presentationml.slide+xml"/>
  <Override PartName="/ppt/slides/slide51.xml" ContentType="application/vnd.openxmlformats-officedocument.presentationml.slide+xml"/>
  <Override PartName="/ppt/notesSlides/notesSlide34.xml" ContentType="application/vnd.openxmlformats-officedocument.presentationml.notesSlide+xml"/>
  <Override PartName="/ppt/slides/slide57.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slides/slide52.xml" ContentType="application/vnd.openxmlformats-officedocument.presentationml.slide+xml"/>
  <Override PartName="/ppt/slides/slide55.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Layouts/slideLayout3.xml" ContentType="application/vnd.openxmlformats-officedocument.presentationml.slideLayout+xml"/>
  <Override PartName="/ppt/slides/slide62.xml" ContentType="application/vnd.openxmlformats-officedocument.presentationml.slide+xml"/>
  <Override PartName="/ppt/notesSlides/notesSlide78.xml" ContentType="application/vnd.openxmlformats-officedocument.presentationml.notesSlide+xml"/>
  <Override PartName="/ppt/slides/slide64.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43.xml" ContentType="application/vnd.openxmlformats-officedocument.presentationml.slide+xml"/>
  <Override PartName="/ppt/slides/slide70.xml" ContentType="application/vnd.openxmlformats-officedocument.presentationml.slide+xml"/>
  <Override PartName="/ppt/slides/slide14.xml" ContentType="application/vnd.openxmlformats-officedocument.presentationml.slide+xml"/>
  <Override PartName="/ppt/slideMasters/slideMaster1.xml" ContentType="application/vnd.openxmlformats-officedocument.presentationml.slideMaster+xml"/>
  <Override PartName="/ppt/slides/slide73.xml" ContentType="application/vnd.openxmlformats-officedocument.presentationml.slide+xml"/>
  <Override PartName="/ppt/slides/slide75.xml" ContentType="application/vnd.openxmlformats-officedocument.presentationml.slide+xml"/>
  <Override PartName="/ppt/slides/slide89.xml" ContentType="application/vnd.openxmlformats-officedocument.presentationml.slide+xml"/>
  <Override PartName="/ppt/slides/slide54.xml" ContentType="application/vnd.openxmlformats-officedocument.presentationml.slide+xml"/>
  <Override PartName="/ppt/slides/slide76.xml" ContentType="application/vnd.openxmlformats-officedocument.presentationml.slide+xml"/>
  <Override PartName="/ppt/slides/slide78.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9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Lst>
  <p:sldSz cx="6858000" cy="51435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332" d="100"/>
          <a:sy n="332" d="100"/>
        </p:scale>
        <p:origin x="176" y="584"/>
      </p:cViewPr>
      <p:guideLst>
        <p:guide pos="1620" orient="horz"/>
        <p:guide pos="216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Relationship Id="rId86" Type="http://schemas.openxmlformats.org/officeDocument/2006/relationships/slide" Target="slides/slide83.xml"/><Relationship Id="rId87" Type="http://schemas.openxmlformats.org/officeDocument/2006/relationships/slide" Target="slides/slide84.xml"/><Relationship Id="rId88" Type="http://schemas.openxmlformats.org/officeDocument/2006/relationships/slide" Target="slides/slide85.xml"/><Relationship Id="rId89" Type="http://schemas.openxmlformats.org/officeDocument/2006/relationships/slide" Target="slides/slide86.xml"/><Relationship Id="rId90" Type="http://schemas.openxmlformats.org/officeDocument/2006/relationships/slide" Target="slides/slide87.xml"/><Relationship Id="rId91" Type="http://schemas.openxmlformats.org/officeDocument/2006/relationships/slide" Target="slides/slide88.xml"/><Relationship Id="rId92" Type="http://schemas.openxmlformats.org/officeDocument/2006/relationships/slide" Target="slides/slide89.xml"/><Relationship Id="rId93" Type="http://schemas.openxmlformats.org/officeDocument/2006/relationships/slide" Target="slides/slide90.xml"/><Relationship Id="rId94" Type="http://schemas.openxmlformats.org/officeDocument/2006/relationships/slide" Target="slides/slide91.xml"/><Relationship Id="rId95" Type="http://schemas.openxmlformats.org/officeDocument/2006/relationships/notesMaster" Target="notesMasters/notesMaster1.xml"/><Relationship Id="rId96" Type="http://schemas.openxmlformats.org/officeDocument/2006/relationships/presProps" Target="presProps.xml" /><Relationship Id="rId97" Type="http://schemas.openxmlformats.org/officeDocument/2006/relationships/tableStyles" Target="tableStyles.xml" /><Relationship Id="rId98"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2117419942" name="Google Shape;3;n"/>
          <p:cNvSpPr>
            <a:spLocks noChangeAspect="1" noGrp="1" noRot="1"/>
          </p:cNvSpPr>
          <p:nvPr>
            <p:ph type="sldImg" idx="2"/>
          </p:nvPr>
        </p:nvSpPr>
        <p:spPr bwMode="auto">
          <a:xfrm>
            <a:off x="1143000" y="685800"/>
            <a:ext cx="4572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a:p>
        </p:txBody>
      </p:sp>
      <p:sp>
        <p:nvSpPr>
          <p:cNvPr id="796226753"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9700272" name="Slide Image Placeholder 1"/>
          <p:cNvSpPr>
            <a:spLocks noChangeAspect="1" noGrp="1" noRot="1"/>
          </p:cNvSpPr>
          <p:nvPr>
            <p:ph type="sldImg" idx="2"/>
          </p:nvPr>
        </p:nvSpPr>
        <p:spPr bwMode="auto">
          <a:xfrm>
            <a:off x="1143000" y="685800"/>
            <a:ext cx="4572000" cy="3429000"/>
          </a:xfrm>
        </p:spPr>
        <p:txBody>
          <a:bodyPr/>
          <a:lstStyle/>
          <a:p>
            <a:pPr>
              <a:defRPr/>
            </a:pPr>
            <a:endParaRPr lang="en-US"/>
          </a:p>
        </p:txBody>
      </p:sp>
      <p:sp>
        <p:nvSpPr>
          <p:cNvPr id="6931079" name="Notes Placeholder 2"/>
          <p:cNvSpPr>
            <a:spLocks noGrp="1"/>
          </p:cNvSpPr>
          <p:nvPr>
            <p:ph type="body" idx="1"/>
          </p:nvPr>
        </p:nvSpPr>
        <p:spPr bwMode="auto"/>
        <p:txBody>
          <a:bodyPr/>
          <a:lstStyle/>
          <a:p>
            <a:pPr>
              <a:defRPr/>
            </a:pPr>
            <a:r>
              <a:rPr/>
              <a:t>Introduce Lecture 3: execution machinery for agentic systems.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07764826" name="Slide Image Placeholder 1"/>
          <p:cNvSpPr>
            <a:spLocks noChangeAspect="1" noGrp="1" noRot="1"/>
          </p:cNvSpPr>
          <p:nvPr>
            <p:ph type="sldImg"/>
          </p:nvPr>
        </p:nvSpPr>
        <p:spPr bwMode="auto"/>
      </p:sp>
      <p:sp>
        <p:nvSpPr>
          <p:cNvPr id="1036840980" name="Notes Placeholder 2"/>
          <p:cNvSpPr>
            <a:spLocks noGrp="1"/>
          </p:cNvSpPr>
          <p:nvPr>
            <p:ph type="body" idx="1"/>
          </p:nvPr>
        </p:nvSpPr>
        <p:spPr bwMode="auto"/>
        <p:txBody>
          <a:bodyPr/>
          <a:lstStyle/>
          <a:p>
            <a:pPr>
              <a:defRPr/>
            </a:pPr>
            <a:endParaRPr/>
          </a:p>
        </p:txBody>
      </p:sp>
      <p:sp>
        <p:nvSpPr>
          <p:cNvPr id="1659647632" name="Slide Number Placeholder 3"/>
          <p:cNvSpPr>
            <a:spLocks noGrp="1"/>
          </p:cNvSpPr>
          <p:nvPr>
            <p:ph type="sldNum" sz="quarter" idx="10"/>
          </p:nvPr>
        </p:nvSpPr>
        <p:spPr bwMode="auto"/>
        <p:txBody>
          <a:bodyPr/>
          <a:lstStyle/>
          <a:p>
            <a:pPr>
              <a:defRPr/>
            </a:pPr>
            <a:fld id="{55D25049-709A-D1EE-6BA8-2797BEFDCC59}"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2681207" name="Slide Image Placeholder 1"/>
          <p:cNvSpPr>
            <a:spLocks noChangeAspect="1" noGrp="1" noRot="1"/>
          </p:cNvSpPr>
          <p:nvPr>
            <p:ph type="sldImg"/>
          </p:nvPr>
        </p:nvSpPr>
        <p:spPr bwMode="auto"/>
      </p:sp>
      <p:sp>
        <p:nvSpPr>
          <p:cNvPr id="1785598035" name="Notes Placeholder 2"/>
          <p:cNvSpPr>
            <a:spLocks noGrp="1"/>
          </p:cNvSpPr>
          <p:nvPr>
            <p:ph type="body" idx="1"/>
          </p:nvPr>
        </p:nvSpPr>
        <p:spPr bwMode="auto"/>
        <p:txBody>
          <a:bodyPr/>
          <a:lstStyle/>
          <a:p>
            <a:pPr>
              <a:defRPr/>
            </a:pPr>
            <a:endParaRPr/>
          </a:p>
        </p:txBody>
      </p:sp>
      <p:sp>
        <p:nvSpPr>
          <p:cNvPr id="539405732" name="Slide Number Placeholder 3"/>
          <p:cNvSpPr>
            <a:spLocks noGrp="1"/>
          </p:cNvSpPr>
          <p:nvPr>
            <p:ph type="sldNum" sz="quarter" idx="10"/>
          </p:nvPr>
        </p:nvSpPr>
        <p:spPr bwMode="auto"/>
        <p:txBody>
          <a:bodyPr/>
          <a:lstStyle/>
          <a:p>
            <a:pPr>
              <a:defRPr/>
            </a:pPr>
            <a:fld id="{C5137F8B-5B5A-4424-3C71-7E6378A2CF8A}"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80521426" name="Slide Image Placeholder 1"/>
          <p:cNvSpPr>
            <a:spLocks noChangeAspect="1" noGrp="1" noRot="1"/>
          </p:cNvSpPr>
          <p:nvPr>
            <p:ph type="sldImg" idx="2"/>
          </p:nvPr>
        </p:nvSpPr>
        <p:spPr bwMode="auto"/>
      </p:sp>
      <p:sp>
        <p:nvSpPr>
          <p:cNvPr id="1216404567" name="Notes Placeholder 2"/>
          <p:cNvSpPr>
            <a:spLocks noGrp="1"/>
          </p:cNvSpPr>
          <p:nvPr>
            <p:ph type="body" idx="1"/>
          </p:nvPr>
        </p:nvSpPr>
        <p:spPr bwMode="auto"/>
        <p:txBody>
          <a:bodyPr/>
          <a:lstStyle/>
          <a:p>
            <a:pPr>
              <a:defRPr/>
            </a:pPr>
            <a:r>
              <a:rPr/>
              <a:t>This lecture describes agents as state machines, then examines state records, routing, scheduling and tool execution.</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76412282" name="Slide Image Placeholder 1"/>
          <p:cNvSpPr>
            <a:spLocks noChangeAspect="1" noGrp="1" noRot="1"/>
          </p:cNvSpPr>
          <p:nvPr>
            <p:ph type="sldImg" idx="2"/>
          </p:nvPr>
        </p:nvSpPr>
        <p:spPr bwMode="auto"/>
      </p:sp>
      <p:sp>
        <p:nvSpPr>
          <p:cNvPr id="1188375900" name="Notes Placeholder 2"/>
          <p:cNvSpPr>
            <a:spLocks noGrp="1"/>
          </p:cNvSpPr>
          <p:nvPr>
            <p:ph type="body" idx="1"/>
          </p:nvPr>
        </p:nvSpPr>
        <p:spPr bwMode="auto"/>
        <p:txBody>
          <a:bodyPr/>
          <a:lstStyle/>
          <a:p>
            <a:pPr>
              <a:defRPr/>
            </a:pPr>
            <a:r>
              <a:rPr/>
              <a:t>This lecture describes agents as state machines, then examines state records, routing, scheduling and tool execution.</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3839850" name="Slide Image Placeholder 1"/>
          <p:cNvSpPr>
            <a:spLocks noChangeAspect="1" noGrp="1" noRot="1"/>
          </p:cNvSpPr>
          <p:nvPr>
            <p:ph type="sldImg" idx="2"/>
          </p:nvPr>
        </p:nvSpPr>
        <p:spPr bwMode="auto"/>
      </p:sp>
      <p:sp>
        <p:nvSpPr>
          <p:cNvPr id="363071286" name="Notes Placeholder 2"/>
          <p:cNvSpPr>
            <a:spLocks noGrp="1"/>
          </p:cNvSpPr>
          <p:nvPr>
            <p:ph type="body" idx="1"/>
          </p:nvPr>
        </p:nvSpPr>
        <p:spPr bwMode="auto"/>
        <p:txBody>
          <a:bodyPr/>
          <a:lstStyle/>
          <a:p>
            <a:pPr>
              <a:defRPr/>
            </a:pPr>
            <a:r>
              <a:rPr/>
              <a:t>This lecture describes agents as state machines, then examines state records, routing, scheduling and tool execution.</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1923562" name="Slide Image Placeholder 1"/>
          <p:cNvSpPr>
            <a:spLocks noChangeAspect="1" noGrp="1" noRot="1"/>
          </p:cNvSpPr>
          <p:nvPr>
            <p:ph type="sldImg" idx="2"/>
          </p:nvPr>
        </p:nvSpPr>
        <p:spPr bwMode="auto"/>
      </p:sp>
      <p:sp>
        <p:nvSpPr>
          <p:cNvPr id="1122855411" name="Notes Placeholder 2"/>
          <p:cNvSpPr>
            <a:spLocks noGrp="1"/>
          </p:cNvSpPr>
          <p:nvPr>
            <p:ph type="body" idx="1"/>
          </p:nvPr>
        </p:nvSpPr>
        <p:spPr bwMode="auto"/>
        <p:txBody>
          <a:bodyPr/>
          <a:lstStyle/>
          <a:p>
            <a:pPr>
              <a:defRPr/>
            </a:pPr>
            <a:r>
              <a:rPr/>
              <a:t>Section 1.1 describes five components: states, inputs, outputs, an initial configuration and a transition rule. A workflow intended to terminate also specifies terminal configurations.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1463816" name="Slide Image Placeholder 1"/>
          <p:cNvSpPr>
            <a:spLocks noChangeAspect="1" noGrp="1" noRot="1"/>
          </p:cNvSpPr>
          <p:nvPr>
            <p:ph type="sldImg" idx="2"/>
          </p:nvPr>
        </p:nvSpPr>
        <p:spPr bwMode="auto"/>
      </p:sp>
      <p:sp>
        <p:nvSpPr>
          <p:cNvPr id="1389442721" name="Notes Placeholder 2"/>
          <p:cNvSpPr>
            <a:spLocks noGrp="1"/>
          </p:cNvSpPr>
          <p:nvPr>
            <p:ph type="body" idx="1"/>
          </p:nvPr>
        </p:nvSpPr>
        <p:spPr bwMode="auto"/>
        <p:txBody>
          <a:bodyPr/>
          <a:lstStyle/>
          <a:p>
            <a:pPr>
              <a:defRPr/>
            </a:pPr>
            <a:r>
              <a:rPr/>
              <a:t>The diagram represents plan_and_validation/graph.py when the two runs were recorded. As Section 1.5 explains, the current code adds scan and normalize before plan.</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45744782" name="Slide Image Placeholder 1"/>
          <p:cNvSpPr>
            <a:spLocks noChangeAspect="1" noGrp="1" noRot="1"/>
          </p:cNvSpPr>
          <p:nvPr>
            <p:ph type="sldImg"/>
          </p:nvPr>
        </p:nvSpPr>
        <p:spPr bwMode="auto"/>
      </p:sp>
      <p:sp>
        <p:nvSpPr>
          <p:cNvPr id="660471183" name="Notes Placeholder 2"/>
          <p:cNvSpPr>
            <a:spLocks noGrp="1"/>
          </p:cNvSpPr>
          <p:nvPr>
            <p:ph type="body" idx="1"/>
          </p:nvPr>
        </p:nvSpPr>
        <p:spPr bwMode="auto"/>
        <p:txBody>
          <a:bodyPr/>
          <a:lstStyle/>
          <a:p>
            <a:pPr>
              <a:defRPr/>
            </a:pPr>
            <a:endParaRPr/>
          </a:p>
        </p:txBody>
      </p:sp>
      <p:sp>
        <p:nvSpPr>
          <p:cNvPr id="1454338358" name="Slide Number Placeholder 3"/>
          <p:cNvSpPr>
            <a:spLocks noGrp="1"/>
          </p:cNvSpPr>
          <p:nvPr>
            <p:ph type="sldNum" sz="quarter" idx="10"/>
          </p:nvPr>
        </p:nvSpPr>
        <p:spPr bwMode="auto"/>
        <p:txBody>
          <a:bodyPr/>
          <a:lstStyle/>
          <a:p>
            <a:pPr>
              <a:defRPr/>
            </a:pPr>
            <a:fld id="{0A9057D4-958E-863C-C932-3356D84453C1}"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4215872" name="Slide Image Placeholder 1"/>
          <p:cNvSpPr>
            <a:spLocks noChangeAspect="1" noGrp="1" noRot="1"/>
          </p:cNvSpPr>
          <p:nvPr>
            <p:ph type="sldImg"/>
          </p:nvPr>
        </p:nvSpPr>
        <p:spPr bwMode="auto"/>
      </p:sp>
      <p:sp>
        <p:nvSpPr>
          <p:cNvPr id="617759166" name="Notes Placeholder 2"/>
          <p:cNvSpPr>
            <a:spLocks noGrp="1"/>
          </p:cNvSpPr>
          <p:nvPr>
            <p:ph type="body" idx="1"/>
          </p:nvPr>
        </p:nvSpPr>
        <p:spPr bwMode="auto"/>
        <p:txBody>
          <a:bodyPr/>
          <a:lstStyle/>
          <a:p>
            <a:pPr>
              <a:defRPr/>
            </a:pPr>
            <a:endParaRPr/>
          </a:p>
        </p:txBody>
      </p:sp>
      <p:sp>
        <p:nvSpPr>
          <p:cNvPr id="439860288" name="Slide Number Placeholder 3"/>
          <p:cNvSpPr>
            <a:spLocks noGrp="1"/>
          </p:cNvSpPr>
          <p:nvPr>
            <p:ph type="sldNum" sz="quarter" idx="10"/>
          </p:nvPr>
        </p:nvSpPr>
        <p:spPr bwMode="auto"/>
        <p:txBody>
          <a:bodyPr/>
          <a:lstStyle/>
          <a:p>
            <a:pPr>
              <a:defRPr/>
            </a:pPr>
            <a:fld id="{F624B15A-7D06-AF65-ADE2-D0103E9CA3DF}"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0392151" name="Slide Image Placeholder 1"/>
          <p:cNvSpPr>
            <a:spLocks noChangeAspect="1" noGrp="1" noRot="1"/>
          </p:cNvSpPr>
          <p:nvPr>
            <p:ph type="sldImg" idx="2"/>
          </p:nvPr>
        </p:nvSpPr>
        <p:spPr bwMode="auto"/>
      </p:sp>
      <p:sp>
        <p:nvSpPr>
          <p:cNvPr id="929209802" name="Notes Placeholder 2"/>
          <p:cNvSpPr>
            <a:spLocks noGrp="1"/>
          </p:cNvSpPr>
          <p:nvPr>
            <p:ph type="body" idx="1"/>
          </p:nvPr>
        </p:nvSpPr>
        <p:spPr bwMode="auto"/>
        <p:txBody>
          <a:bodyPr/>
          <a:lstStyle/>
          <a:p>
            <a:pPr>
              <a:defRPr/>
            </a:pPr>
            <a:r>
              <a:rPr/>
              <a:t>A probabilistic machine assigns a probability to each transition. A nondeterministic machine permits any enabled transition without assigning probabilities. We use nondeterminism to represent unobserved choices.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91302986" name="Slide Image Placeholder 1"/>
          <p:cNvSpPr>
            <a:spLocks noChangeAspect="1" noGrp="1" noRot="1"/>
          </p:cNvSpPr>
          <p:nvPr>
            <p:ph type="sldImg" idx="2"/>
          </p:nvPr>
        </p:nvSpPr>
        <p:spPr bwMode="auto"/>
      </p:sp>
      <p:sp>
        <p:nvSpPr>
          <p:cNvPr id="711472270" name="Notes Placeholder 2"/>
          <p:cNvSpPr>
            <a:spLocks noGrp="1"/>
          </p:cNvSpPr>
          <p:nvPr>
            <p:ph type="body" idx="1"/>
          </p:nvPr>
        </p:nvSpPr>
        <p:spPr bwMode="auto"/>
        <p:txBody>
          <a:bodyPr/>
          <a:lstStyle/>
          <a:p>
            <a:pPr>
              <a:defRPr/>
            </a:pPr>
            <a:r>
              <a:rPr/>
              <a:t>The displayed values describe run bc284c6b before its third controller call: two observations have been recorded, three model calls have completed, and the status is running.</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9672259" name="Slide Image Placeholder 1"/>
          <p:cNvSpPr>
            <a:spLocks noChangeAspect="1" noGrp="1" noRot="1"/>
          </p:cNvSpPr>
          <p:nvPr>
            <p:ph type="sldImg"/>
          </p:nvPr>
        </p:nvSpPr>
        <p:spPr bwMode="auto"/>
      </p:sp>
      <p:sp>
        <p:nvSpPr>
          <p:cNvPr id="1970571950" name="Notes Placeholder 2"/>
          <p:cNvSpPr>
            <a:spLocks noGrp="1"/>
          </p:cNvSpPr>
          <p:nvPr>
            <p:ph type="body" idx="1"/>
          </p:nvPr>
        </p:nvSpPr>
        <p:spPr bwMode="auto"/>
        <p:txBody>
          <a:bodyPr/>
          <a:lstStyle/>
          <a:p>
            <a:pPr>
              <a:defRPr/>
            </a:pPr>
            <a:endParaRPr/>
          </a:p>
        </p:txBody>
      </p:sp>
      <p:sp>
        <p:nvSpPr>
          <p:cNvPr id="734373752" name="Slide Number Placeholder 3"/>
          <p:cNvSpPr>
            <a:spLocks noGrp="1"/>
          </p:cNvSpPr>
          <p:nvPr>
            <p:ph type="sldNum" sz="quarter" idx="10"/>
          </p:nvPr>
        </p:nvSpPr>
        <p:spPr bwMode="auto"/>
        <p:txBody>
          <a:bodyPr/>
          <a:lstStyle/>
          <a:p>
            <a:pPr>
              <a:defRPr/>
            </a:pPr>
            <a:fld id="{20522E65-C4F0-227A-C6D5-C646C77F0AB7}" type="slidenum">
              <a:rPr/>
              <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7470282" name="Slide Image Placeholder 1"/>
          <p:cNvSpPr>
            <a:spLocks noChangeAspect="1" noGrp="1" noRot="1"/>
          </p:cNvSpPr>
          <p:nvPr>
            <p:ph type="sldImg" idx="2"/>
          </p:nvPr>
        </p:nvSpPr>
        <p:spPr bwMode="auto"/>
      </p:sp>
      <p:sp>
        <p:nvSpPr>
          <p:cNvPr id="1658672687" name="Notes Placeholder 2"/>
          <p:cNvSpPr>
            <a:spLocks noGrp="1"/>
          </p:cNvSpPr>
          <p:nvPr>
            <p:ph type="body" idx="1"/>
          </p:nvPr>
        </p:nvSpPr>
        <p:spPr bwMode="auto"/>
        <p:txBody>
          <a:bodyPr/>
          <a:lstStyle/>
          <a:p>
            <a:pPr>
              <a:defRPr/>
            </a:pPr>
            <a:r>
              <a:rPr/>
              <a:t>This slide introduces the transition notation. Later slides describe the same operations in prose.</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7199865" name="Slide Image Placeholder 1"/>
          <p:cNvSpPr>
            <a:spLocks noChangeAspect="1" noGrp="1" noRot="1"/>
          </p:cNvSpPr>
          <p:nvPr>
            <p:ph type="sldImg"/>
          </p:nvPr>
        </p:nvSpPr>
        <p:spPr bwMode="auto"/>
      </p:sp>
      <p:sp>
        <p:nvSpPr>
          <p:cNvPr id="1893254798" name="Notes Placeholder 2"/>
          <p:cNvSpPr>
            <a:spLocks noGrp="1"/>
          </p:cNvSpPr>
          <p:nvPr>
            <p:ph type="body" idx="1"/>
          </p:nvPr>
        </p:nvSpPr>
        <p:spPr bwMode="auto"/>
        <p:txBody>
          <a:bodyPr/>
          <a:lstStyle/>
          <a:p>
            <a:pPr>
              <a:defRPr/>
            </a:pPr>
            <a:endParaRPr/>
          </a:p>
        </p:txBody>
      </p:sp>
      <p:sp>
        <p:nvSpPr>
          <p:cNvPr id="643821382" name="Slide Number Placeholder 3"/>
          <p:cNvSpPr>
            <a:spLocks noGrp="1"/>
          </p:cNvSpPr>
          <p:nvPr>
            <p:ph type="sldNum" sz="quarter" idx="10"/>
          </p:nvPr>
        </p:nvSpPr>
        <p:spPr bwMode="auto"/>
        <p:txBody>
          <a:bodyPr/>
          <a:lstStyle/>
          <a:p>
            <a:pPr>
              <a:defRPr/>
            </a:pPr>
            <a:fld id="{64148EAD-F142-6E7F-779B-73AEBE8EE6C5}" type="slidenum">
              <a:rPr/>
              <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6033312" name="Slide Image Placeholder 1"/>
          <p:cNvSpPr>
            <a:spLocks noChangeAspect="1" noGrp="1" noRot="1"/>
          </p:cNvSpPr>
          <p:nvPr>
            <p:ph type="sldImg" idx="2"/>
          </p:nvPr>
        </p:nvSpPr>
        <p:spPr bwMode="auto"/>
      </p:sp>
      <p:sp>
        <p:nvSpPr>
          <p:cNvPr id="830111933" name="Notes Placeholder 2"/>
          <p:cNvSpPr>
            <a:spLocks noGrp="1"/>
          </p:cNvSpPr>
          <p:nvPr>
            <p:ph type="body" idx="1"/>
          </p:nvPr>
        </p:nvSpPr>
        <p:spPr bwMode="auto"/>
        <p:txBody>
          <a:bodyPr/>
          <a:lstStyle/>
          <a:p>
            <a:pPr>
              <a:defRPr/>
            </a:pPr>
            <a:r>
              <a:rPr/>
              <a:t>The excerpts come from controller at graph.py line 296 and after_controller at line 452. Trace calls and the admission check are omitted. The model_calls field uses operator.add, so returning 1 increments the stored count by one.</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6504939" name="Slide Image Placeholder 1"/>
          <p:cNvSpPr>
            <a:spLocks noChangeAspect="1" noGrp="1" noRot="1"/>
          </p:cNvSpPr>
          <p:nvPr>
            <p:ph type="sldImg"/>
          </p:nvPr>
        </p:nvSpPr>
        <p:spPr bwMode="auto"/>
      </p:sp>
      <p:sp>
        <p:nvSpPr>
          <p:cNvPr id="207012900" name="Notes Placeholder 2"/>
          <p:cNvSpPr>
            <a:spLocks noGrp="1"/>
          </p:cNvSpPr>
          <p:nvPr>
            <p:ph type="body" idx="1"/>
          </p:nvPr>
        </p:nvSpPr>
        <p:spPr bwMode="auto"/>
        <p:txBody>
          <a:bodyPr/>
          <a:lstStyle/>
          <a:p>
            <a:pPr>
              <a:defRPr/>
            </a:pPr>
            <a:endParaRPr/>
          </a:p>
        </p:txBody>
      </p:sp>
      <p:sp>
        <p:nvSpPr>
          <p:cNvPr id="1091119199" name="Slide Number Placeholder 3"/>
          <p:cNvSpPr>
            <a:spLocks noGrp="1"/>
          </p:cNvSpPr>
          <p:nvPr>
            <p:ph type="sldNum" sz="quarter" idx="10"/>
          </p:nvPr>
        </p:nvSpPr>
        <p:spPr bwMode="auto"/>
        <p:txBody>
          <a:bodyPr/>
          <a:lstStyle/>
          <a:p>
            <a:pPr>
              <a:defRPr/>
            </a:pPr>
            <a:fld id="{6F2E22FE-D540-0726-CA7E-A0EA08BEFAB8}" type="slidenum">
              <a:rPr/>
              <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9493497" name="Slide Image Placeholder 1"/>
          <p:cNvSpPr>
            <a:spLocks noChangeAspect="1" noGrp="1" noRot="1"/>
          </p:cNvSpPr>
          <p:nvPr>
            <p:ph type="sldImg" idx="2"/>
          </p:nvPr>
        </p:nvSpPr>
        <p:spPr bwMode="auto"/>
      </p:sp>
      <p:sp>
        <p:nvSpPr>
          <p:cNvPr id="823425208" name="Notes Placeholder 2"/>
          <p:cNvSpPr>
            <a:spLocks noGrp="1"/>
          </p:cNvSpPr>
          <p:nvPr>
            <p:ph type="body" idx="1"/>
          </p:nvPr>
        </p:nvSpPr>
        <p:spPr bwMode="auto"/>
        <p:txBody>
          <a:bodyPr/>
          <a:lstStyle/>
          <a:p>
            <a:pPr>
              <a:defRPr/>
            </a:pPr>
            <a:r>
              <a:rPr/>
              <a:t>The trace contains six kinds of event: tool_request, tool_result, model_call, routing, state_change and terminal. When status is running, after_controller routes to submit if the last reply has no tool calls.</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07771485" name="Slide Image Placeholder 1"/>
          <p:cNvSpPr>
            <a:spLocks noChangeAspect="1" noGrp="1" noRot="1"/>
          </p:cNvSpPr>
          <p:nvPr>
            <p:ph type="sldImg" idx="2"/>
          </p:nvPr>
        </p:nvSpPr>
        <p:spPr bwMode="auto"/>
      </p:sp>
      <p:sp>
        <p:nvSpPr>
          <p:cNvPr id="2042791379" name="Notes Placeholder 2"/>
          <p:cNvSpPr>
            <a:spLocks noGrp="1"/>
          </p:cNvSpPr>
          <p:nvPr>
            <p:ph type="body" idx="1"/>
          </p:nvPr>
        </p:nvSpPr>
        <p:spPr bwMode="auto"/>
        <p:txBody>
          <a:bodyPr/>
          <a:lstStyle/>
          <a:p>
            <a:pPr>
              <a:defRPr/>
            </a:pPr>
            <a:r>
              <a:rPr/>
              <a:t>The plan, controller and validate nodes call a model. The tools and submit nodes perform runtime work. Each model node checks the forty-call budget before making a call.</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89531590" name="Slide Image Placeholder 1"/>
          <p:cNvSpPr>
            <a:spLocks noChangeAspect="1" noGrp="1" noRot="1"/>
          </p:cNvSpPr>
          <p:nvPr>
            <p:ph type="sldImg" idx="2"/>
          </p:nvPr>
        </p:nvSpPr>
        <p:spPr bwMode="auto"/>
      </p:sp>
      <p:sp>
        <p:nvSpPr>
          <p:cNvPr id="1120681560" name="Notes Placeholder 2"/>
          <p:cNvSpPr>
            <a:spLocks noGrp="1"/>
          </p:cNvSpPr>
          <p:nvPr>
            <p:ph type="body" idx="1"/>
          </p:nvPr>
        </p:nvSpPr>
        <p:spPr bwMode="auto"/>
        <p:txBody>
          <a:bodyPr/>
          <a:lstStyle/>
          <a:p>
            <a:pPr>
              <a:defRPr/>
            </a:pPr>
            <a:r>
              <a:rPr/>
              <a:t>The controller receives the plan as a message. When the status is running, the runtime uses the controller's reply to choose tools or submit. The routing function does not inspect the plan's subgoal list. The submit node checks whether the patch applies, touches the flagged line and produces no finding on a rescan.</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4795106" name="Slide Image Placeholder 1"/>
          <p:cNvSpPr>
            <a:spLocks noChangeAspect="1" noGrp="1" noRot="1"/>
          </p:cNvSpPr>
          <p:nvPr>
            <p:ph type="sldImg" idx="2"/>
          </p:nvPr>
        </p:nvSpPr>
        <p:spPr bwMode="auto"/>
      </p:sp>
      <p:sp>
        <p:nvSpPr>
          <p:cNvPr id="936309558" name="Notes Placeholder 2"/>
          <p:cNvSpPr>
            <a:spLocks noGrp="1"/>
          </p:cNvSpPr>
          <p:nvPr>
            <p:ph type="body" idx="1"/>
          </p:nvPr>
        </p:nvSpPr>
        <p:spPr bwMode="auto"/>
        <p:txBody>
          <a:bodyPr/>
          <a:lstStyle/>
          <a:p>
            <a:pPr>
              <a:defRPr/>
            </a:pPr>
            <a:r>
              <a:rPr/>
              <a:t>The stall test examines the last three observations since the most recent plan revision, or since the run began if no revision has occurred. It reports a stall when all three are identical and none records a successful edit. After revising the plan, the plan node sets replanned_at to the current number of observations. Later stall tests start from this stored index.</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1169424" name="Slide Image Placeholder 1"/>
          <p:cNvSpPr>
            <a:spLocks noChangeAspect="1" noGrp="1" noRot="1"/>
          </p:cNvSpPr>
          <p:nvPr>
            <p:ph type="sldImg"/>
          </p:nvPr>
        </p:nvSpPr>
        <p:spPr bwMode="auto"/>
      </p:sp>
      <p:sp>
        <p:nvSpPr>
          <p:cNvPr id="813982019" name="Notes Placeholder 2"/>
          <p:cNvSpPr>
            <a:spLocks noGrp="1"/>
          </p:cNvSpPr>
          <p:nvPr>
            <p:ph type="body" idx="1"/>
          </p:nvPr>
        </p:nvSpPr>
        <p:spPr bwMode="auto"/>
        <p:txBody>
          <a:bodyPr/>
          <a:lstStyle/>
          <a:p>
            <a:pPr>
              <a:defRPr/>
            </a:pPr>
            <a:endParaRPr/>
          </a:p>
        </p:txBody>
      </p:sp>
      <p:sp>
        <p:nvSpPr>
          <p:cNvPr id="465107666" name="Slide Number Placeholder 3"/>
          <p:cNvSpPr>
            <a:spLocks noGrp="1"/>
          </p:cNvSpPr>
          <p:nvPr>
            <p:ph type="sldNum" sz="quarter" idx="10"/>
          </p:nvPr>
        </p:nvSpPr>
        <p:spPr bwMode="auto"/>
        <p:txBody>
          <a:bodyPr/>
          <a:lstStyle/>
          <a:p>
            <a:pPr>
              <a:defRPr/>
            </a:pPr>
            <a:fld id="{3679125F-DF68-0F8A-9EC8-E0BDD761BF36}" type="slidenum">
              <a:rPr/>
              <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9131585" name="Slide Image Placeholder 1"/>
          <p:cNvSpPr>
            <a:spLocks noChangeAspect="1" noGrp="1" noRot="1"/>
          </p:cNvSpPr>
          <p:nvPr>
            <p:ph type="sldImg" idx="2"/>
          </p:nvPr>
        </p:nvSpPr>
        <p:spPr bwMode="auto"/>
      </p:sp>
      <p:sp>
        <p:nvSpPr>
          <p:cNvPr id="274226779" name="Notes Placeholder 2"/>
          <p:cNvSpPr>
            <a:spLocks noGrp="1"/>
          </p:cNvSpPr>
          <p:nvPr>
            <p:ph type="body" idx="1"/>
          </p:nvPr>
        </p:nvSpPr>
        <p:spPr bwMode="auto"/>
        <p:txBody>
          <a:bodyPr/>
          <a:lstStyle/>
          <a:p>
            <a:pPr>
              <a:defRPr/>
            </a:pPr>
            <a:r>
              <a:rPr/>
              <a:t>Events 1 and 2 record planning. Events 3–18 record four tool rounds: read_file, search, read_file and edit. Events 19–22 record submission. Events 23–25 record validation and the terminal event. The run logged 12,693 input tokens and 3,755 output tokens.</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2480892" name="Slide Image Placeholder 1"/>
          <p:cNvSpPr>
            <a:spLocks noChangeAspect="1" noGrp="1" noRot="1"/>
          </p:cNvSpPr>
          <p:nvPr>
            <p:ph type="sldImg"/>
          </p:nvPr>
        </p:nvSpPr>
        <p:spPr bwMode="auto"/>
      </p:sp>
      <p:sp>
        <p:nvSpPr>
          <p:cNvPr id="1101944299" name="Notes Placeholder 2"/>
          <p:cNvSpPr>
            <a:spLocks noGrp="1"/>
          </p:cNvSpPr>
          <p:nvPr>
            <p:ph type="body" idx="1"/>
          </p:nvPr>
        </p:nvSpPr>
        <p:spPr bwMode="auto"/>
        <p:txBody>
          <a:bodyPr/>
          <a:lstStyle/>
          <a:p>
            <a:pPr>
              <a:defRPr/>
            </a:pPr>
            <a:endParaRPr/>
          </a:p>
        </p:txBody>
      </p:sp>
      <p:sp>
        <p:nvSpPr>
          <p:cNvPr id="26716863" name="Slide Number Placeholder 3"/>
          <p:cNvSpPr>
            <a:spLocks noGrp="1"/>
          </p:cNvSpPr>
          <p:nvPr>
            <p:ph type="sldNum" sz="quarter" idx="10"/>
          </p:nvPr>
        </p:nvSpPr>
        <p:spPr bwMode="auto"/>
        <p:txBody>
          <a:bodyPr/>
          <a:lstStyle/>
          <a:p>
            <a:pPr>
              <a:defRPr/>
            </a:pPr>
            <a:fld id="{223975AB-637C-8694-AA94-3ED52306D8CD}" type="slidenum">
              <a:rPr/>
              <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148936" name="Slide Image Placeholder 1"/>
          <p:cNvSpPr>
            <a:spLocks noChangeAspect="1" noGrp="1" noRot="1"/>
          </p:cNvSpPr>
          <p:nvPr>
            <p:ph type="sldImg"/>
          </p:nvPr>
        </p:nvSpPr>
        <p:spPr bwMode="auto"/>
      </p:sp>
      <p:sp>
        <p:nvSpPr>
          <p:cNvPr id="596277051" name="Notes Placeholder 2"/>
          <p:cNvSpPr>
            <a:spLocks noGrp="1"/>
          </p:cNvSpPr>
          <p:nvPr>
            <p:ph type="body" idx="1"/>
          </p:nvPr>
        </p:nvSpPr>
        <p:spPr bwMode="auto"/>
        <p:txBody>
          <a:bodyPr/>
          <a:lstStyle/>
          <a:p>
            <a:pPr>
              <a:defRPr/>
            </a:pPr>
            <a:endParaRPr/>
          </a:p>
        </p:txBody>
      </p:sp>
      <p:sp>
        <p:nvSpPr>
          <p:cNvPr id="2106976030" name="Slide Number Placeholder 3"/>
          <p:cNvSpPr>
            <a:spLocks noGrp="1"/>
          </p:cNvSpPr>
          <p:nvPr>
            <p:ph type="sldNum" sz="quarter" idx="10"/>
          </p:nvPr>
        </p:nvSpPr>
        <p:spPr bwMode="auto"/>
        <p:txBody>
          <a:bodyPr/>
          <a:lstStyle/>
          <a:p>
            <a:pPr>
              <a:defRPr/>
            </a:pPr>
            <a:fld id="{E3267B66-5304-171C-6F49-61BDE11EFDE8}" type="slidenum">
              <a:rPr/>
              <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23095175" name="Slide Image Placeholder 1"/>
          <p:cNvSpPr>
            <a:spLocks noChangeAspect="1" noGrp="1" noRot="1"/>
          </p:cNvSpPr>
          <p:nvPr>
            <p:ph type="sldImg"/>
          </p:nvPr>
        </p:nvSpPr>
        <p:spPr bwMode="auto"/>
      </p:sp>
      <p:sp>
        <p:nvSpPr>
          <p:cNvPr id="1493401328" name="Notes Placeholder 2"/>
          <p:cNvSpPr>
            <a:spLocks noGrp="1"/>
          </p:cNvSpPr>
          <p:nvPr>
            <p:ph type="body" idx="1"/>
          </p:nvPr>
        </p:nvSpPr>
        <p:spPr bwMode="auto"/>
        <p:txBody>
          <a:bodyPr/>
          <a:lstStyle/>
          <a:p>
            <a:pPr>
              <a:defRPr/>
            </a:pPr>
            <a:endParaRPr/>
          </a:p>
        </p:txBody>
      </p:sp>
      <p:sp>
        <p:nvSpPr>
          <p:cNvPr id="2073116402" name="Slide Number Placeholder 3"/>
          <p:cNvSpPr>
            <a:spLocks noGrp="1"/>
          </p:cNvSpPr>
          <p:nvPr>
            <p:ph type="sldNum" sz="quarter" idx="10"/>
          </p:nvPr>
        </p:nvSpPr>
        <p:spPr bwMode="auto"/>
        <p:txBody>
          <a:bodyPr/>
          <a:lstStyle/>
          <a:p>
            <a:pPr>
              <a:defRPr/>
            </a:pPr>
            <a:fld id="{0A77F26B-E22F-846A-2AB1-E6ABA23E97F6}" type="slidenum">
              <a:rPr/>
              <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5404528" name="Slide Image Placeholder 1"/>
          <p:cNvSpPr>
            <a:spLocks noChangeAspect="1" noGrp="1" noRot="1"/>
          </p:cNvSpPr>
          <p:nvPr>
            <p:ph type="sldImg" idx="2"/>
          </p:nvPr>
        </p:nvSpPr>
        <p:spPr bwMode="auto"/>
      </p:sp>
      <p:sp>
        <p:nvSpPr>
          <p:cNvPr id="1413386588" name="Notes Placeholder 2"/>
          <p:cNvSpPr>
            <a:spLocks noGrp="1"/>
          </p:cNvSpPr>
          <p:nvPr>
            <p:ph type="body" idx="1"/>
          </p:nvPr>
        </p:nvSpPr>
        <p:spPr bwMode="auto"/>
        <p:txBody>
          <a:bodyPr/>
          <a:lstStyle/>
          <a:p>
            <a:pPr>
              <a:defRPr/>
            </a:pPr>
            <a:r>
              <a:rPr/>
              <a:t>Section 2.1 separates the EFSM configuration into a control location and variable values. The runtime tracks the location. The state record holds values such as messages and model_calls. AgentState declares their names and types. The record for a particular run supplies their current values.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46626773" name="Slide Image Placeholder 1"/>
          <p:cNvSpPr>
            <a:spLocks noChangeAspect="1" noGrp="1" noRot="1"/>
          </p:cNvSpPr>
          <p:nvPr>
            <p:ph type="sldImg" idx="2"/>
          </p:nvPr>
        </p:nvSpPr>
        <p:spPr bwMode="auto"/>
      </p:sp>
      <p:sp>
        <p:nvSpPr>
          <p:cNvPr id="1889388121" name="Notes Placeholder 2"/>
          <p:cNvSpPr>
            <a:spLocks noGrp="1"/>
          </p:cNvSpPr>
          <p:nvPr>
            <p:ph type="body" idx="1"/>
          </p:nvPr>
        </p:nvSpPr>
        <p:spPr bwMode="auto"/>
        <p:txBody>
          <a:bodyPr/>
          <a:lstStyle/>
          <a:p>
            <a:pPr>
              <a:defRPr/>
            </a:pPr>
            <a:r>
              <a:rPr/>
              <a:t>The runtime passes the current state s_t to the node. During execution, the node obtains a model reply or tool observation e_t and returns a partial update u_t. For each updated field, the reducer receives the stored value as its left argument and the returned value as its right argument. The merged record is the next state s_(t+1).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120920" name="Slide Image Placeholder 1"/>
          <p:cNvSpPr>
            <a:spLocks noChangeAspect="1" noGrp="1" noRot="1"/>
          </p:cNvSpPr>
          <p:nvPr>
            <p:ph type="sldImg" idx="2"/>
          </p:nvPr>
        </p:nvSpPr>
        <p:spPr bwMode="auto"/>
      </p:sp>
      <p:sp>
        <p:nvSpPr>
          <p:cNvPr id="725959107" name="Notes Placeholder 2"/>
          <p:cNvSpPr>
            <a:spLocks noGrp="1"/>
          </p:cNvSpPr>
          <p:nvPr>
            <p:ph type="body" idx="1"/>
          </p:nvPr>
        </p:nvSpPr>
        <p:spPr bwMode="auto"/>
        <p:txBody>
          <a:bodyPr/>
          <a:lstStyle/>
          <a:p>
            <a:pPr>
              <a:defRPr/>
            </a:pPr>
            <a:r>
              <a:rPr/>
              <a:t>Figure 4 applies the three controller return paths to the loop’s ten-key record. After a model call, the update contains the reply, one completed call and its token usage. A stopping path returns only status, whose update replaces the stored status string. The six fields untouched by every path keep their previous values.</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3633255" name="Slide Image Placeholder 1"/>
          <p:cNvSpPr>
            <a:spLocks noChangeAspect="1" noGrp="1" noRot="1"/>
          </p:cNvSpPr>
          <p:nvPr>
            <p:ph type="sldImg" idx="2"/>
          </p:nvPr>
        </p:nvSpPr>
        <p:spPr bwMode="auto"/>
      </p:sp>
      <p:sp>
        <p:nvSpPr>
          <p:cNvPr id="1588898036" name="Notes Placeholder 2"/>
          <p:cNvSpPr>
            <a:spLocks noGrp="1"/>
          </p:cNvSpPr>
          <p:nvPr>
            <p:ph type="body" idx="1"/>
          </p:nvPr>
        </p:nvSpPr>
        <p:spPr bwMode="auto"/>
        <p:txBody>
          <a:bodyPr/>
          <a:lstStyle/>
          <a:p>
            <a:pPr>
              <a:defRPr/>
            </a:pPr>
            <a:r>
              <a:rPr/>
              <a:t>The controller begins at graph.py line 296. When the call budget is exhausted, _admit returns a status update that ends the run. Otherwise, it returns None and the controller continues. After a model call, returning model_calls: 1 contributes one to the accumulated count. For example, a stored count of 2 becomes 3.</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4542151" name="Slide Image Placeholder 1"/>
          <p:cNvSpPr>
            <a:spLocks noChangeAspect="1" noGrp="1" noRot="1"/>
          </p:cNvSpPr>
          <p:nvPr>
            <p:ph type="sldImg" idx="2"/>
          </p:nvPr>
        </p:nvSpPr>
        <p:spPr bwMode="auto"/>
      </p:sp>
      <p:sp>
        <p:nvSpPr>
          <p:cNvPr id="674967916" name="Notes Placeholder 2"/>
          <p:cNvSpPr>
            <a:spLocks noGrp="1"/>
          </p:cNvSpPr>
          <p:nvPr>
            <p:ph type="body" idx="1"/>
          </p:nvPr>
        </p:nvSpPr>
        <p:spPr bwMode="auto"/>
        <p:txBody>
          <a:bodyPr/>
          <a:lstStyle/>
          <a:p>
            <a:pPr>
              <a:defRPr/>
            </a:pPr>
            <a:r>
              <a:rPr/>
              <a:t>Our graphs keep state in memory and are compiled without a checkpointer. After process exit, a new process cannot recover that state from the JSONL trace: the trace records selected events and omits values needed for resumption. A later unit covers saved state, pending work and the external workspace needed to resume.</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60668206" name="Slide Image Placeholder 1"/>
          <p:cNvSpPr>
            <a:spLocks noChangeAspect="1" noGrp="1" noRot="1"/>
          </p:cNvSpPr>
          <p:nvPr>
            <p:ph type="sldImg" idx="2"/>
          </p:nvPr>
        </p:nvSpPr>
        <p:spPr bwMode="auto"/>
      </p:sp>
      <p:sp>
        <p:nvSpPr>
          <p:cNvPr id="952387119" name="Notes Placeholder 2"/>
          <p:cNvSpPr>
            <a:spLocks noGrp="1"/>
          </p:cNvSpPr>
          <p:nvPr>
            <p:ph type="body" idx="1"/>
          </p:nvPr>
        </p:nvSpPr>
        <p:spPr bwMode="auto"/>
        <p:txBody>
          <a:bodyPr/>
          <a:lstStyle/>
          <a:p>
            <a:pPr>
              <a:defRPr/>
            </a:pPr>
            <a:r>
              <a:rPr/>
              <a:t>Section 2.6 explains that none of the planning agent’s prompts mentions the call budget. Admission enforces it by comparing the call counter with the configured limit before each call.</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6964444" name="Slide Image Placeholder 1"/>
          <p:cNvSpPr>
            <a:spLocks noChangeAspect="1" noGrp="1" noRot="1"/>
          </p:cNvSpPr>
          <p:nvPr>
            <p:ph type="sldImg" idx="2"/>
          </p:nvPr>
        </p:nvSpPr>
        <p:spPr bwMode="auto"/>
      </p:sp>
      <p:sp>
        <p:nvSpPr>
          <p:cNvPr id="590417413" name="Notes Placeholder 2"/>
          <p:cNvSpPr>
            <a:spLocks noGrp="1"/>
          </p:cNvSpPr>
          <p:nvPr>
            <p:ph type="body" idx="1"/>
          </p:nvPr>
        </p:nvSpPr>
        <p:spPr bwMode="auto"/>
        <p:txBody>
          <a:bodyPr/>
          <a:lstStyle/>
          <a:p>
            <a:pPr>
              <a:defRPr/>
            </a:pPr>
            <a:r>
              <a:rPr/>
              <a:t>A reducer combines a field’s stored value with the value returned for that field. Annotated[T, fn] attaches the reducer fn to a field of type T. An append reducer treats [] as zero new items. Clearing the list therefore requires Overwrite to replace its contents directly. The reset should receive a separate trace event.</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41991013" name="Slide Image Placeholder 1"/>
          <p:cNvSpPr>
            <a:spLocks noChangeAspect="1" noGrp="1" noRot="1"/>
          </p:cNvSpPr>
          <p:nvPr>
            <p:ph type="sldImg" idx="2"/>
          </p:nvPr>
        </p:nvSpPr>
        <p:spPr bwMode="auto"/>
      </p:sp>
      <p:sp>
        <p:nvSpPr>
          <p:cNvPr id="847320657" name="Notes Placeholder 2"/>
          <p:cNvSpPr>
            <a:spLocks noGrp="1"/>
          </p:cNvSpPr>
          <p:nvPr>
            <p:ph type="body" idx="1"/>
          </p:nvPr>
        </p:nvSpPr>
        <p:spPr bwMode="auto"/>
        <p:txBody>
          <a:bodyPr/>
          <a:lstStyle/>
          <a:p>
            <a:pPr>
              <a:defRPr/>
            </a:pPr>
            <a:r>
              <a:rPr/>
              <a:t>add_usage maintains four separate token counters. Keeping the counters separate preserves the distinction between cache reads and fresh input tokens.</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9949709" name="Slide Image Placeholder 1"/>
          <p:cNvSpPr>
            <a:spLocks noChangeAspect="1" noGrp="1" noRot="1"/>
          </p:cNvSpPr>
          <p:nvPr>
            <p:ph type="sldImg" idx="2"/>
          </p:nvPr>
        </p:nvSpPr>
        <p:spPr bwMode="auto"/>
      </p:sp>
      <p:sp>
        <p:nvSpPr>
          <p:cNvPr id="494213909" name="Notes Placeholder 2"/>
          <p:cNvSpPr>
            <a:spLocks noGrp="1"/>
          </p:cNvSpPr>
          <p:nvPr>
            <p:ph type="body" idx="1"/>
          </p:nvPr>
        </p:nvSpPr>
        <p:spPr bwMode="auto"/>
        <p:txBody>
          <a:bodyPr/>
          <a:lstStyle/>
          <a:p>
            <a:pPr>
              <a:defRPr/>
            </a:pPr>
            <a:r>
              <a:rPr/>
              <a:t>The plan node writes plan, submit writes checks, and validate writes validation. Each field holds the latest value until its writer replaces it. The tools node writes failed_step for the plan node to read and clear. The replanned_at index marks where observations under the current plan begin.</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0010267" name="Slide Image Placeholder 1"/>
          <p:cNvSpPr>
            <a:spLocks noChangeAspect="1" noGrp="1" noRot="1"/>
          </p:cNvSpPr>
          <p:nvPr>
            <p:ph type="sldImg" idx="2"/>
          </p:nvPr>
        </p:nvSpPr>
        <p:spPr bwMode="auto"/>
      </p:sp>
      <p:sp>
        <p:nvSpPr>
          <p:cNvPr id="1969654404" name="Notes Placeholder 2"/>
          <p:cNvSpPr>
            <a:spLocks noGrp="1"/>
          </p:cNvSpPr>
          <p:nvPr>
            <p:ph type="body" idx="1"/>
          </p:nvPr>
        </p:nvSpPr>
        <p:spPr bwMode="auto"/>
        <p:txBody>
          <a:bodyPr/>
          <a:lstStyle/>
          <a:p>
            <a:pPr>
              <a:defRPr/>
            </a:pPr>
            <a:r>
              <a:rPr/>
              <a:t>A counter that limits the entire run must keep its total across attempts. For example, resetting model_calls to zero after a failed attempt would allow later calls to ignore the calls already spent. Section 2.4 calls this the run lifetime. Attempt-lifetime fields are cleared before a retry because their old results no longer apply.</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995740" name="Slide Image Placeholder 1"/>
          <p:cNvSpPr>
            <a:spLocks noChangeAspect="1" noGrp="1" noRot="1"/>
          </p:cNvSpPr>
          <p:nvPr>
            <p:ph type="sldImg" idx="2"/>
          </p:nvPr>
        </p:nvSpPr>
        <p:spPr bwMode="auto"/>
      </p:sp>
      <p:sp>
        <p:nvSpPr>
          <p:cNvPr id="576663708" name="Notes Placeholder 2"/>
          <p:cNvSpPr>
            <a:spLocks noGrp="1"/>
          </p:cNvSpPr>
          <p:nvPr>
            <p:ph type="body" idx="1"/>
          </p:nvPr>
        </p:nvSpPr>
        <p:spPr bwMode="auto"/>
        <p:txBody>
          <a:bodyPr/>
          <a:lstStyle/>
          <a:p>
            <a:pPr>
              <a:defRPr/>
            </a:pPr>
            <a:r>
              <a:rPr/>
              <a:t>The plan node sets replanned_at to the number of observations stored when revision completes. The slice observations[replanned_at:] therefore starts with observations made under the revised plan. Earlier observations remain in the full history, while the stall check reads only observations made since revision. Clearing failed_step removes the request for the revision just completed.</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5197745" name="Slide Image Placeholder 1"/>
          <p:cNvSpPr>
            <a:spLocks noChangeAspect="1" noGrp="1" noRot="1"/>
          </p:cNvSpPr>
          <p:nvPr>
            <p:ph type="sldImg" idx="2"/>
          </p:nvPr>
        </p:nvSpPr>
        <p:spPr bwMode="auto"/>
      </p:sp>
      <p:sp>
        <p:nvSpPr>
          <p:cNvPr id="315174972" name="Notes Placeholder 2"/>
          <p:cNvSpPr>
            <a:spLocks noGrp="1"/>
          </p:cNvSpPr>
          <p:nvPr>
            <p:ph type="body" idx="1"/>
          </p:nvPr>
        </p:nvSpPr>
        <p:spPr bwMode="auto"/>
        <p:txBody>
          <a:bodyPr/>
          <a:lstStyle/>
          <a:p>
            <a:pPr>
              <a:defRPr/>
            </a:pPr>
            <a:r>
              <a:rPr/>
              <a:t>The preservation proof considers every configuration satisfying the predicate, including configurations that no run reaches. This can make the desired property alone too weak for an induction proof. In the call-budget example, we add the condition that the stored counter equals the number of completed calls. The next slide explains how admission, counting and preservation maintain both conditions.</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59443738" name="Slide Image Placeholder 1"/>
          <p:cNvSpPr>
            <a:spLocks noChangeAspect="1" noGrp="1" noRot="1"/>
          </p:cNvSpPr>
          <p:nvPr>
            <p:ph type="sldImg" idx="2"/>
          </p:nvPr>
        </p:nvSpPr>
        <p:spPr bwMode="auto"/>
      </p:sp>
      <p:sp>
        <p:nvSpPr>
          <p:cNvPr id="869742806" name="Notes Placeholder 2"/>
          <p:cNvSpPr>
            <a:spLocks noGrp="1"/>
          </p:cNvSpPr>
          <p:nvPr>
            <p:ph type="body" idx="1"/>
          </p:nvPr>
        </p:nvSpPr>
        <p:spPr bwMode="auto"/>
        <p:txBody>
          <a:bodyPr/>
          <a:lstStyle/>
          <a:p>
            <a:pPr>
              <a:defRPr/>
            </a:pPr>
            <a:r>
              <a:rPr/>
              <a:t>The argument covers completed calls only. An interrupted call may consume tokens without being counted.</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99856702" name="Slide Image Placeholder 1"/>
          <p:cNvSpPr>
            <a:spLocks noChangeAspect="1" noGrp="1" noRot="1"/>
          </p:cNvSpPr>
          <p:nvPr>
            <p:ph type="sldImg" idx="2"/>
          </p:nvPr>
        </p:nvSpPr>
        <p:spPr bwMode="auto"/>
      </p:sp>
      <p:sp>
        <p:nvSpPr>
          <p:cNvPr id="799857210" name="Notes Placeholder 2"/>
          <p:cNvSpPr>
            <a:spLocks noGrp="1"/>
          </p:cNvSpPr>
          <p:nvPr>
            <p:ph type="body" idx="1"/>
          </p:nvPr>
        </p:nvSpPr>
        <p:spPr bwMode="auto"/>
        <p:txBody>
          <a:bodyPr/>
          <a:lstStyle/>
          <a:p>
            <a:pPr>
              <a:defRPr/>
            </a:pPr>
            <a:r>
              <a:rPr/>
              <a:t>add_node associates a node name with the function that the runtime will call. That function receives the state and returns a partial update. add_edge names the node to run after a source node finishes. add_conditional_edges instead calls a routing function after the source node’s update is merged. The function reads the updated record and selects the destination.</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96991790" name="Slide Image Placeholder 1"/>
          <p:cNvSpPr>
            <a:spLocks noChangeAspect="1" noGrp="1" noRot="1"/>
          </p:cNvSpPr>
          <p:nvPr>
            <p:ph type="sldImg" idx="2"/>
          </p:nvPr>
        </p:nvSpPr>
        <p:spPr bwMode="auto"/>
      </p:sp>
      <p:sp>
        <p:nvSpPr>
          <p:cNvPr id="1244315910" name="Notes Placeholder 2"/>
          <p:cNvSpPr>
            <a:spLocks noGrp="1"/>
          </p:cNvSpPr>
          <p:nvPr>
            <p:ph type="body" idx="1"/>
          </p:nvPr>
        </p:nvSpPr>
        <p:spPr bwMode="auto"/>
        <p:txBody>
          <a:bodyPr/>
          <a:lstStyle/>
          <a:p>
            <a:pPr>
              <a:defRPr/>
            </a:pPr>
            <a:r>
              <a:rPr/>
              <a:t>The six steps appear at the end of Section 2.6. Omit fields that no computation reads.</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4845998" name="Slide Image Placeholder 1"/>
          <p:cNvSpPr>
            <a:spLocks noChangeAspect="1" noGrp="1" noRot="1"/>
          </p:cNvSpPr>
          <p:nvPr>
            <p:ph type="sldImg"/>
          </p:nvPr>
        </p:nvSpPr>
        <p:spPr bwMode="auto"/>
      </p:sp>
      <p:sp>
        <p:nvSpPr>
          <p:cNvPr id="35780704" name="Notes Placeholder 2"/>
          <p:cNvSpPr>
            <a:spLocks noGrp="1"/>
          </p:cNvSpPr>
          <p:nvPr>
            <p:ph type="body" idx="1"/>
          </p:nvPr>
        </p:nvSpPr>
        <p:spPr bwMode="auto"/>
        <p:txBody>
          <a:bodyPr/>
          <a:lstStyle/>
          <a:p>
            <a:pPr>
              <a:defRPr/>
            </a:pPr>
            <a:endParaRPr/>
          </a:p>
        </p:txBody>
      </p:sp>
      <p:sp>
        <p:nvSpPr>
          <p:cNvPr id="269550038" name="Slide Number Placeholder 3"/>
          <p:cNvSpPr>
            <a:spLocks noGrp="1"/>
          </p:cNvSpPr>
          <p:nvPr>
            <p:ph type="sldNum" sz="quarter" idx="10"/>
          </p:nvPr>
        </p:nvSpPr>
        <p:spPr bwMode="auto"/>
        <p:txBody>
          <a:bodyPr/>
          <a:lstStyle/>
          <a:p>
            <a:pPr>
              <a:defRPr/>
            </a:pPr>
            <a:fld id="{0ECDDAB7-84F3-CCDB-02C8-3C368C20BCF4}" type="slidenum">
              <a:rPr/>
              <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1919030" name="Slide Image Placeholder 1"/>
          <p:cNvSpPr>
            <a:spLocks noChangeAspect="1" noGrp="1" noRot="1"/>
          </p:cNvSpPr>
          <p:nvPr>
            <p:ph type="sldImg"/>
          </p:nvPr>
        </p:nvSpPr>
        <p:spPr bwMode="auto"/>
      </p:sp>
      <p:sp>
        <p:nvSpPr>
          <p:cNvPr id="1181413027" name="Notes Placeholder 2"/>
          <p:cNvSpPr>
            <a:spLocks noGrp="1"/>
          </p:cNvSpPr>
          <p:nvPr>
            <p:ph type="body" idx="1"/>
          </p:nvPr>
        </p:nvSpPr>
        <p:spPr bwMode="auto"/>
        <p:txBody>
          <a:bodyPr/>
          <a:lstStyle/>
          <a:p>
            <a:pPr>
              <a:defRPr/>
            </a:pPr>
            <a:endParaRPr/>
          </a:p>
        </p:txBody>
      </p:sp>
      <p:sp>
        <p:nvSpPr>
          <p:cNvPr id="1567779160" name="Slide Number Placeholder 3"/>
          <p:cNvSpPr>
            <a:spLocks noGrp="1"/>
          </p:cNvSpPr>
          <p:nvPr>
            <p:ph type="sldNum" sz="quarter" idx="10"/>
          </p:nvPr>
        </p:nvSpPr>
        <p:spPr bwMode="auto"/>
        <p:txBody>
          <a:bodyPr/>
          <a:lstStyle/>
          <a:p>
            <a:pPr>
              <a:defRPr/>
            </a:pPr>
            <a:fld id="{B2081B76-1CB0-A29D-197C-895B5BA1FEA2}" type="slidenum">
              <a:rPr/>
              <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08062753" name="Slide Image Placeholder 1"/>
          <p:cNvSpPr>
            <a:spLocks noChangeAspect="1" noGrp="1" noRot="1"/>
          </p:cNvSpPr>
          <p:nvPr>
            <p:ph type="sldImg" idx="2"/>
          </p:nvPr>
        </p:nvSpPr>
        <p:spPr bwMode="auto"/>
      </p:sp>
      <p:sp>
        <p:nvSpPr>
          <p:cNvPr id="142051054" name="Notes Placeholder 2"/>
          <p:cNvSpPr>
            <a:spLocks noGrp="1"/>
          </p:cNvSpPr>
          <p:nvPr>
            <p:ph type="body" idx="1"/>
          </p:nvPr>
        </p:nvSpPr>
        <p:spPr bwMode="auto"/>
        <p:txBody>
          <a:bodyPr/>
          <a:lstStyle/>
          <a:p>
            <a:pPr>
              <a:defRPr/>
            </a:pPr>
            <a:r>
              <a:rPr/>
              <a:t>A routing guard tests information in the merged record, including values retained from earlier steps. The trace field by records model for a value from model output, and runtime for a value from a check, limit, or default. The programmer defines the edge and its guard in both cases. Returning END stops the run. The status field records why it stopped.</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1985587" name="Slide Image Placeholder 1"/>
          <p:cNvSpPr>
            <a:spLocks noChangeAspect="1" noGrp="1" noRot="1"/>
          </p:cNvSpPr>
          <p:nvPr>
            <p:ph type="sldImg" idx="2"/>
          </p:nvPr>
        </p:nvSpPr>
        <p:spPr bwMode="auto"/>
      </p:sp>
      <p:sp>
        <p:nvSpPr>
          <p:cNvPr id="1445494466" name="Notes Placeholder 2"/>
          <p:cNvSpPr>
            <a:spLocks noGrp="1"/>
          </p:cNvSpPr>
          <p:nvPr>
            <p:ph type="body" idx="1"/>
          </p:nvPr>
        </p:nvSpPr>
        <p:spPr bwMode="auto"/>
        <p:txBody>
          <a:bodyPr/>
          <a:lstStyle/>
          <a:p>
            <a:pPr>
              <a:defRPr/>
            </a:pPr>
            <a:r>
              <a:rPr/>
              <a:t>If the run remains active, a reply that both claims the patch is correct and requests a tool routes to tools. The after_controller function tests tool_calls and does not read the reply’s prose.</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2116333" name="Slide Image Placeholder 1"/>
          <p:cNvSpPr>
            <a:spLocks noChangeAspect="1" noGrp="1" noRot="1"/>
          </p:cNvSpPr>
          <p:nvPr>
            <p:ph type="sldImg" idx="2"/>
          </p:nvPr>
        </p:nvSpPr>
        <p:spPr bwMode="auto"/>
      </p:sp>
      <p:sp>
        <p:nvSpPr>
          <p:cNvPr id="542531350" name="Notes Placeholder 2"/>
          <p:cNvSpPr>
            <a:spLocks noGrp="1"/>
          </p:cNvSpPr>
          <p:nvPr>
            <p:ph type="body" idx="1"/>
          </p:nvPr>
        </p:nvSpPr>
        <p:spPr bwMode="auto"/>
        <p:txBody>
          <a:bodyPr/>
          <a:lstStyle/>
          <a:p>
            <a:pPr>
              <a:defRPr/>
            </a:pPr>
            <a:r>
              <a:rPr/>
              <a:t>The computation tree has a separate node for each visit to a control location. Each node represents that visit's configuration: the location and the record's values.</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0052697" name="Slide Image Placeholder 1"/>
          <p:cNvSpPr>
            <a:spLocks noChangeAspect="1" noGrp="1" noRot="1"/>
          </p:cNvSpPr>
          <p:nvPr>
            <p:ph type="sldImg" idx="2"/>
          </p:nvPr>
        </p:nvSpPr>
        <p:spPr bwMode="auto"/>
      </p:sp>
      <p:sp>
        <p:nvSpPr>
          <p:cNvPr id="105614241" name="Notes Placeholder 2"/>
          <p:cNvSpPr>
            <a:spLocks noGrp="1"/>
          </p:cNvSpPr>
          <p:nvPr>
            <p:ph type="body" idx="1"/>
          </p:nvPr>
        </p:nvSpPr>
        <p:spPr bwMode="auto"/>
        <p:txBody>
          <a:bodyPr/>
          <a:lstStyle/>
          <a:p>
            <a:pPr>
              <a:defRPr/>
            </a:pPr>
            <a:r>
              <a:rPr/>
              <a:t>Revision replaces a stalled plan. Repair asks the controller for another patch after a failed check. Both add work to the run, so each needs a limit on how often it can occur.</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22776075" name="Slide Image Placeholder 1"/>
          <p:cNvSpPr>
            <a:spLocks noChangeAspect="1" noGrp="1" noRot="1"/>
          </p:cNvSpPr>
          <p:nvPr>
            <p:ph type="sldImg"/>
          </p:nvPr>
        </p:nvSpPr>
        <p:spPr bwMode="auto"/>
      </p:sp>
      <p:sp>
        <p:nvSpPr>
          <p:cNvPr id="1113640261" name="Notes Placeholder 2"/>
          <p:cNvSpPr>
            <a:spLocks noGrp="1"/>
          </p:cNvSpPr>
          <p:nvPr>
            <p:ph type="body" idx="1"/>
          </p:nvPr>
        </p:nvSpPr>
        <p:spPr bwMode="auto"/>
        <p:txBody>
          <a:bodyPr/>
          <a:lstStyle/>
          <a:p>
            <a:pPr>
              <a:defRPr/>
            </a:pPr>
            <a:endParaRPr/>
          </a:p>
        </p:txBody>
      </p:sp>
      <p:sp>
        <p:nvSpPr>
          <p:cNvPr id="1983395457" name="Slide Number Placeholder 3"/>
          <p:cNvSpPr>
            <a:spLocks noGrp="1"/>
          </p:cNvSpPr>
          <p:nvPr>
            <p:ph type="sldNum" sz="quarter" idx="10"/>
          </p:nvPr>
        </p:nvSpPr>
        <p:spPr bwMode="auto"/>
        <p:txBody>
          <a:bodyPr/>
          <a:lstStyle/>
          <a:p>
            <a:pPr>
              <a:defRPr/>
            </a:pPr>
            <a:fld id="{EE1DD121-3A09-39E9-D8C8-B6426B2C4537}" type="slidenum">
              <a:rPr/>
              <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83611735" name="Slide Image Placeholder 1"/>
          <p:cNvSpPr>
            <a:spLocks noChangeAspect="1" noGrp="1" noRot="1"/>
          </p:cNvSpPr>
          <p:nvPr>
            <p:ph type="sldImg" idx="2"/>
          </p:nvPr>
        </p:nvSpPr>
        <p:spPr bwMode="auto"/>
      </p:sp>
      <p:sp>
        <p:nvSpPr>
          <p:cNvPr id="693476387" name="Notes Placeholder 2"/>
          <p:cNvSpPr>
            <a:spLocks noGrp="1"/>
          </p:cNvSpPr>
          <p:nvPr>
            <p:ph type="body" idx="1"/>
          </p:nvPr>
        </p:nvSpPr>
        <p:spPr bwMode="auto"/>
        <p:txBody>
          <a:bodyPr/>
          <a:lstStyle/>
          <a:p>
            <a:pPr>
              <a:defRPr/>
            </a:pPr>
            <a:r>
              <a:rPr/>
              <a:t>The attempt counter must count attempts across the whole run. If each reset erases that count, the runtime cannot enforce a limit on the total number of attempts.</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07437264" name="Slide Image Placeholder 1"/>
          <p:cNvSpPr>
            <a:spLocks noChangeAspect="1" noGrp="1" noRot="1"/>
          </p:cNvSpPr>
          <p:nvPr>
            <p:ph type="sldImg" idx="2"/>
          </p:nvPr>
        </p:nvSpPr>
        <p:spPr bwMode="auto"/>
      </p:sp>
      <p:sp>
        <p:nvSpPr>
          <p:cNvPr id="147242597" name="Notes Placeholder 2"/>
          <p:cNvSpPr>
            <a:spLocks noGrp="1"/>
          </p:cNvSpPr>
          <p:nvPr>
            <p:ph type="body" idx="1"/>
          </p:nvPr>
        </p:nvSpPr>
        <p:spPr bwMode="auto"/>
        <p:txBody>
          <a:bodyPr/>
          <a:lstStyle/>
          <a:p>
            <a:pPr>
              <a:defRPr/>
            </a:pPr>
            <a:r>
              <a:rPr/>
              <a:t>The example variant is B − c: the call budget minus calls already made. The admission check keeps this quantity nonnegative. Every continuing cycle must reduce it, and each step must return or time out. These conditions bound the number of cycles. They do not by themselves bound the duration of a step. Our stall check detects repeated identical observations, one form of non-progress described in ReACT's recorded trajectories.</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77907375" name="Slide Image Placeholder 1"/>
          <p:cNvSpPr>
            <a:spLocks noChangeAspect="1" noGrp="1" noRot="1"/>
          </p:cNvSpPr>
          <p:nvPr>
            <p:ph type="sldImg" idx="2"/>
          </p:nvPr>
        </p:nvSpPr>
        <p:spPr bwMode="auto"/>
      </p:sp>
      <p:sp>
        <p:nvSpPr>
          <p:cNvPr id="438202173" name="Notes Placeholder 2"/>
          <p:cNvSpPr>
            <a:spLocks noGrp="1"/>
          </p:cNvSpPr>
          <p:nvPr>
            <p:ph type="body" idx="1"/>
          </p:nvPr>
        </p:nvSpPr>
        <p:spPr bwMode="auto"/>
        <p:txBody>
          <a:bodyPr/>
          <a:lstStyle/>
          <a:p>
            <a:pPr>
              <a:defRPr/>
            </a:pPr>
            <a:r>
              <a:rPr/>
              <a:t>The runtime checks the budget before each model call. Checking afterwards would allow the call to incur cost before enforcing the limit. The recursion limit is four times the call budget and counts supersteps without considering the task or the cost of a step.</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69108975" name="Slide Image Placeholder 1"/>
          <p:cNvSpPr>
            <a:spLocks noChangeAspect="1" noGrp="1" noRot="1"/>
          </p:cNvSpPr>
          <p:nvPr>
            <p:ph type="sldImg" idx="2"/>
          </p:nvPr>
        </p:nvSpPr>
        <p:spPr bwMode="auto"/>
      </p:sp>
      <p:sp>
        <p:nvSpPr>
          <p:cNvPr id="1702943332" name="Notes Placeholder 2"/>
          <p:cNvSpPr>
            <a:spLocks noGrp="1"/>
          </p:cNvSpPr>
          <p:nvPr>
            <p:ph type="body" idx="1"/>
          </p:nvPr>
        </p:nvSpPr>
        <p:spPr bwMode="auto"/>
        <p:txBody>
          <a:bodyPr/>
          <a:lstStyle/>
          <a:p>
            <a:pPr>
              <a:defRPr/>
            </a:pPr>
            <a:r>
              <a:rPr/>
              <a:t>The acceptance procedure produces evidence about the patch. Passing that procedure does not prove that the patch satisfies the task's postcondition.</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3025623" name="Slide Image Placeholder 1"/>
          <p:cNvSpPr>
            <a:spLocks noChangeAspect="1" noGrp="1" noRot="1"/>
          </p:cNvSpPr>
          <p:nvPr>
            <p:ph type="sldImg" idx="2"/>
          </p:nvPr>
        </p:nvSpPr>
        <p:spPr bwMode="auto"/>
      </p:sp>
      <p:sp>
        <p:nvSpPr>
          <p:cNvPr id="67250269" name="Notes Placeholder 2"/>
          <p:cNvSpPr>
            <a:spLocks noGrp="1"/>
          </p:cNvSpPr>
          <p:nvPr>
            <p:ph type="body" idx="1"/>
          </p:nvPr>
        </p:nvSpPr>
        <p:spPr bwMode="auto"/>
        <p:txBody>
          <a:bodyPr/>
          <a:lstStyle/>
          <a:p>
            <a:pPr>
              <a:defRPr/>
            </a:pPr>
            <a:r>
              <a:rPr/>
              <a:t>If an exception escapes the run, the trace writer records terminal status error. It then writes a separate record naming the exception.</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8261973" name="Slide Image Placeholder 1"/>
          <p:cNvSpPr>
            <a:spLocks noChangeAspect="1" noGrp="1" noRot="1"/>
          </p:cNvSpPr>
          <p:nvPr>
            <p:ph type="sldImg"/>
          </p:nvPr>
        </p:nvSpPr>
        <p:spPr bwMode="auto"/>
      </p:sp>
      <p:sp>
        <p:nvSpPr>
          <p:cNvPr id="1110829362" name="Notes Placeholder 2"/>
          <p:cNvSpPr>
            <a:spLocks noGrp="1"/>
          </p:cNvSpPr>
          <p:nvPr>
            <p:ph type="body" idx="1"/>
          </p:nvPr>
        </p:nvSpPr>
        <p:spPr bwMode="auto"/>
        <p:txBody>
          <a:bodyPr/>
          <a:lstStyle/>
          <a:p>
            <a:pPr>
              <a:defRPr/>
            </a:pPr>
            <a:endParaRPr/>
          </a:p>
        </p:txBody>
      </p:sp>
      <p:sp>
        <p:nvSpPr>
          <p:cNvPr id="1077850421" name="Slide Number Placeholder 3"/>
          <p:cNvSpPr>
            <a:spLocks noGrp="1"/>
          </p:cNvSpPr>
          <p:nvPr>
            <p:ph type="sldNum" sz="quarter" idx="10"/>
          </p:nvPr>
        </p:nvSpPr>
        <p:spPr bwMode="auto"/>
        <p:txBody>
          <a:bodyPr/>
          <a:lstStyle/>
          <a:p>
            <a:pPr>
              <a:defRPr/>
            </a:pPr>
            <a:fld id="{310F72E8-6173-3AB6-4034-24C07F77E5BA}" type="slidenum">
              <a:rPr/>
              <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82812713" name="Slide Image Placeholder 1"/>
          <p:cNvSpPr>
            <a:spLocks noChangeAspect="1" noGrp="1" noRot="1"/>
          </p:cNvSpPr>
          <p:nvPr>
            <p:ph type="sldImg" idx="2"/>
          </p:nvPr>
        </p:nvSpPr>
        <p:spPr bwMode="auto"/>
      </p:sp>
      <p:sp>
        <p:nvSpPr>
          <p:cNvPr id="1527917300" name="Notes Placeholder 2"/>
          <p:cNvSpPr>
            <a:spLocks noGrp="1"/>
          </p:cNvSpPr>
          <p:nvPr>
            <p:ph type="body" idx="1"/>
          </p:nvPr>
        </p:nvSpPr>
        <p:spPr bwMode="auto"/>
        <p:txBody>
          <a:bodyPr/>
          <a:lstStyle/>
          <a:p>
            <a:pPr>
              <a:defRPr/>
            </a:pPr>
            <a:r>
              <a:rPr/>
              <a:t>Steps 27–38 contain three rounds in which the controller requests tools and receives their results. It then submits again. At step 41, the rescan is clean, but the patch still leaves the flagged line unchanged. At step 42, the runtime returns that reason to the controller.</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4749520" name="Slide Image Placeholder 1"/>
          <p:cNvSpPr>
            <a:spLocks noChangeAspect="1" noGrp="1" noRot="1"/>
          </p:cNvSpPr>
          <p:nvPr>
            <p:ph type="sldImg" idx="2"/>
          </p:nvPr>
        </p:nvSpPr>
        <p:spPr bwMode="auto"/>
      </p:sp>
      <p:sp>
        <p:nvSpPr>
          <p:cNvPr id="1059145730" name="Notes Placeholder 2"/>
          <p:cNvSpPr>
            <a:spLocks noGrp="1"/>
          </p:cNvSpPr>
          <p:nvPr>
            <p:ph type="body" idx="1"/>
          </p:nvPr>
        </p:nvSpPr>
        <p:spPr bwMode="auto"/>
        <p:txBody>
          <a:bodyPr/>
          <a:lstStyle/>
          <a:p>
            <a:pPr>
              <a:defRPr/>
            </a:pPr>
            <a:r>
              <a:rPr/>
              <a:t>The trace does not establish what the process was doing between event 50 and the interrupt. Neither recorded run ends with status budget_exhausted. The description of that ending comes from the code.</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4441600" name="Slide Image Placeholder 1"/>
          <p:cNvSpPr>
            <a:spLocks noChangeAspect="1" noGrp="1" noRot="1"/>
          </p:cNvSpPr>
          <p:nvPr>
            <p:ph type="sldImg"/>
          </p:nvPr>
        </p:nvSpPr>
        <p:spPr bwMode="auto"/>
      </p:sp>
      <p:sp>
        <p:nvSpPr>
          <p:cNvPr id="1378048204" name="Notes Placeholder 2"/>
          <p:cNvSpPr>
            <a:spLocks noGrp="1"/>
          </p:cNvSpPr>
          <p:nvPr>
            <p:ph type="body" idx="1"/>
          </p:nvPr>
        </p:nvSpPr>
        <p:spPr bwMode="auto"/>
        <p:txBody>
          <a:bodyPr/>
          <a:lstStyle/>
          <a:p>
            <a:pPr>
              <a:defRPr/>
            </a:pPr>
            <a:endParaRPr/>
          </a:p>
        </p:txBody>
      </p:sp>
      <p:sp>
        <p:nvSpPr>
          <p:cNvPr id="191539004" name="Slide Number Placeholder 3"/>
          <p:cNvSpPr>
            <a:spLocks noGrp="1"/>
          </p:cNvSpPr>
          <p:nvPr>
            <p:ph type="sldNum" sz="quarter" idx="10"/>
          </p:nvPr>
        </p:nvSpPr>
        <p:spPr bwMode="auto"/>
        <p:txBody>
          <a:bodyPr/>
          <a:lstStyle/>
          <a:p>
            <a:pPr>
              <a:defRPr/>
            </a:pPr>
            <a:fld id="{4638F285-945D-25DE-B070-47031107ED0A}" type="slidenum">
              <a:rPr/>
              <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0086861" name="Slide Image Placeholder 1"/>
          <p:cNvSpPr>
            <a:spLocks noChangeAspect="1" noGrp="1" noRot="1"/>
          </p:cNvSpPr>
          <p:nvPr>
            <p:ph type="sldImg" idx="2"/>
          </p:nvPr>
        </p:nvSpPr>
        <p:spPr bwMode="auto"/>
      </p:sp>
      <p:sp>
        <p:nvSpPr>
          <p:cNvPr id="251159852" name="Notes Placeholder 2"/>
          <p:cNvSpPr>
            <a:spLocks noGrp="1"/>
          </p:cNvSpPr>
          <p:nvPr>
            <p:ph type="body" idx="1"/>
          </p:nvPr>
        </p:nvSpPr>
        <p:spPr bwMode="auto"/>
        <p:txBody>
          <a:bodyPr/>
          <a:lstStyle/>
          <a:p>
            <a:pPr>
              <a:defRPr/>
            </a:pPr>
            <a:r>
              <a:rPr/>
              <a:t>LangGraph organizes execution into Pregel supersteps. Multiple writes to one field in the same superstep require a reducer that combines them. Without one, the runtime rejects the competing writes.</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0238507" name="Slide Image Placeholder 1"/>
          <p:cNvSpPr>
            <a:spLocks noChangeAspect="1" noGrp="1" noRot="1"/>
          </p:cNvSpPr>
          <p:nvPr>
            <p:ph type="sldImg" idx="2"/>
          </p:nvPr>
        </p:nvSpPr>
        <p:spPr bwMode="auto"/>
      </p:sp>
      <p:sp>
        <p:nvSpPr>
          <p:cNvPr id="2040682143" name="Notes Placeholder 2"/>
          <p:cNvSpPr>
            <a:spLocks noGrp="1"/>
          </p:cNvSpPr>
          <p:nvPr>
            <p:ph type="body" idx="1"/>
          </p:nvPr>
        </p:nvSpPr>
        <p:spPr bwMode="auto"/>
        <p:txBody>
          <a:bodyPr/>
          <a:lstStyle/>
          <a:p>
            <a:pPr>
              <a:defRPr/>
            </a:pPr>
            <a:r>
              <a:rPr/>
              <a:t>Our graph has no parallel branches, so each superstep runs one node. The routing function reads the record after the controller's reply has been merged.</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1467708" name="Slide Image Placeholder 1"/>
          <p:cNvSpPr>
            <a:spLocks noChangeAspect="1" noGrp="1" noRot="1"/>
          </p:cNvSpPr>
          <p:nvPr>
            <p:ph type="sldImg" idx="2"/>
          </p:nvPr>
        </p:nvSpPr>
        <p:spPr bwMode="auto"/>
      </p:sp>
      <p:sp>
        <p:nvSpPr>
          <p:cNvPr id="1744858835" name="Notes Placeholder 2"/>
          <p:cNvSpPr>
            <a:spLocks noGrp="1"/>
          </p:cNvSpPr>
          <p:nvPr>
            <p:ph type="body" idx="1"/>
          </p:nvPr>
        </p:nvSpPr>
        <p:spPr bwMode="auto"/>
        <p:txBody>
          <a:bodyPr/>
          <a:lstStyle/>
          <a:p>
            <a:pPr>
              <a:defRPr/>
            </a:pPr>
            <a:r>
              <a:rPr/>
              <a:t>The three tools are read_file, search and edit. Only edit writes files, and all three receive the workspace root as their first parameter.</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43593230" name="Slide Image Placeholder 1"/>
          <p:cNvSpPr>
            <a:spLocks noChangeAspect="1" noGrp="1" noRot="1"/>
          </p:cNvSpPr>
          <p:nvPr>
            <p:ph type="sldImg" idx="2"/>
          </p:nvPr>
        </p:nvSpPr>
        <p:spPr bwMode="auto"/>
      </p:sp>
      <p:sp>
        <p:nvSpPr>
          <p:cNvPr id="702432646" name="Notes Placeholder 2"/>
          <p:cNvSpPr>
            <a:spLocks noGrp="1"/>
          </p:cNvSpPr>
          <p:nvPr>
            <p:ph type="body" idx="1"/>
          </p:nvPr>
        </p:nvSpPr>
        <p:spPr bwMode="auto"/>
        <p:txBody>
          <a:bodyPr/>
          <a:lstStyle/>
          <a:p>
            <a:pPr>
              <a:defRPr/>
            </a:pPr>
            <a:r>
              <a:rPr/>
              <a:t>MIT 6.031’s specification structure assigns obligations to the caller and implementer. A method specification may make no promises after a precondition violation. Because models can supply invalid arguments, tool contracts must specify how the runtime detects violations, reports refusal and prevents side effects from refused requests.</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9961885" name="Slide Image Placeholder 1"/>
          <p:cNvSpPr>
            <a:spLocks noChangeAspect="1" noGrp="1" noRot="1"/>
          </p:cNvSpPr>
          <p:nvPr>
            <p:ph type="sldImg" idx="2"/>
          </p:nvPr>
        </p:nvSpPr>
        <p:spPr bwMode="auto"/>
      </p:sp>
      <p:sp>
        <p:nvSpPr>
          <p:cNvPr id="1976721490" name="Notes Placeholder 2"/>
          <p:cNvSpPr>
            <a:spLocks noGrp="1"/>
          </p:cNvSpPr>
          <p:nvPr>
            <p:ph type="body" idx="1"/>
          </p:nvPr>
        </p:nvSpPr>
        <p:spPr bwMode="auto"/>
        <p:txBody>
          <a:bodyPr/>
          <a:lstStyle/>
          <a:p>
            <a:pPr>
              <a:defRPr/>
            </a:pPr>
            <a:r>
              <a:rPr/>
              <a:t>Tools read the run's configuration from the module. A request that names ws fails to bind, because the dispatcher has already supplied that argument.</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92711623" name="Slide Image Placeholder 1"/>
          <p:cNvSpPr>
            <a:spLocks noChangeAspect="1" noGrp="1" noRot="1"/>
          </p:cNvSpPr>
          <p:nvPr>
            <p:ph type="sldImg" idx="2"/>
          </p:nvPr>
        </p:nvSpPr>
        <p:spPr bwMode="auto"/>
      </p:sp>
      <p:sp>
        <p:nvSpPr>
          <p:cNvPr id="368562504" name="Notes Placeholder 2"/>
          <p:cNvSpPr>
            <a:spLocks noGrp="1"/>
          </p:cNvSpPr>
          <p:nvPr>
            <p:ph type="body" idx="1"/>
          </p:nvPr>
        </p:nvSpPr>
        <p:spPr bwMode="auto"/>
        <p:txBody>
          <a:bodyPr/>
          <a:lstStyle/>
          <a:p>
            <a:pPr>
              <a:defRPr/>
            </a:pPr>
            <a:r>
              <a:rPr/>
              <a:t>The dispatch cycle finds the requested tool, binds arguments to its parameters, checks the access policy, performs the permitted operation and produces an observation. The dashed branches show refused requests, which also produce observations.</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6210593" name="Slide Image Placeholder 1"/>
          <p:cNvSpPr>
            <a:spLocks noChangeAspect="1" noGrp="1" noRot="1"/>
          </p:cNvSpPr>
          <p:nvPr>
            <p:ph type="sldImg" idx="2"/>
          </p:nvPr>
        </p:nvSpPr>
        <p:spPr bwMode="auto"/>
      </p:sp>
      <p:sp>
        <p:nvSpPr>
          <p:cNvPr id="704468110" name="Notes Placeholder 2"/>
          <p:cNvSpPr>
            <a:spLocks noGrp="1"/>
          </p:cNvSpPr>
          <p:nvPr>
            <p:ph type="body" idx="1"/>
          </p:nvPr>
        </p:nvSpPr>
        <p:spPr bwMode="auto"/>
        <p:txBody>
          <a:bodyPr/>
          <a:lstStyle/>
          <a:p>
            <a:pPr>
              <a:defRPr/>
            </a:pPr>
            <a:r>
              <a:rPr/>
              <a:t>Binding checks argument names and the number of arguments. The dispatcher converts unambiguous type mismatches, such as a string supplied where an integer is required. Exceptions that escape the dispatcher end the run and are reserved for unrecoverable failures, such as an unwritable trace.</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14805919" name="Slide Image Placeholder 1"/>
          <p:cNvSpPr>
            <a:spLocks noChangeAspect="1" noGrp="1" noRot="1"/>
          </p:cNvSpPr>
          <p:nvPr>
            <p:ph type="sldImg" idx="2"/>
          </p:nvPr>
        </p:nvSpPr>
        <p:spPr bwMode="auto"/>
      </p:sp>
      <p:sp>
        <p:nvSpPr>
          <p:cNvPr id="2035880480" name="Notes Placeholder 2"/>
          <p:cNvSpPr>
            <a:spLocks noGrp="1"/>
          </p:cNvSpPr>
          <p:nvPr>
            <p:ph type="body" idx="1"/>
          </p:nvPr>
        </p:nvSpPr>
        <p:spPr bwMode="auto"/>
        <p:txBody>
          <a:bodyPr/>
          <a:lstStyle/>
          <a:p>
            <a:pPr>
              <a:defRPr/>
            </a:pPr>
            <a:r>
              <a:rPr/>
              <a:t>Step 4 is the routing event between the model response and the tool request. It records decision tools and by="model", identifying the selected control location. It does not describe tool execution.</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0804628" name="Slide Image Placeholder 1"/>
          <p:cNvSpPr>
            <a:spLocks noChangeAspect="1" noGrp="1" noRot="1"/>
          </p:cNvSpPr>
          <p:nvPr>
            <p:ph type="sldImg" idx="2"/>
          </p:nvPr>
        </p:nvSpPr>
        <p:spPr bwMode="auto"/>
      </p:sp>
      <p:sp>
        <p:nvSpPr>
          <p:cNvPr id="265029929" name="Notes Placeholder 2"/>
          <p:cNvSpPr>
            <a:spLocks noGrp="1"/>
          </p:cNvSpPr>
          <p:nvPr>
            <p:ph type="body" idx="1"/>
          </p:nvPr>
        </p:nvSpPr>
        <p:spPr bwMode="auto"/>
        <p:txBody>
          <a:bodyPr/>
          <a:lstStyle/>
          <a:p>
            <a:pPr>
              <a:defRPr/>
            </a:pPr>
            <a:r>
              <a:rPr/>
              <a:t>The guard model from MIT 6.033 requires a check on every resource access. A routing function can select an edge during execution while applying a rule fixed by the programmer. A model’s request or claim of a result does not establish that the runtime performed the action.</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25465942" name="Slide Image Placeholder 1"/>
          <p:cNvSpPr>
            <a:spLocks noChangeAspect="1" noGrp="1" noRot="1"/>
          </p:cNvSpPr>
          <p:nvPr>
            <p:ph type="sldImg"/>
          </p:nvPr>
        </p:nvSpPr>
        <p:spPr bwMode="auto"/>
      </p:sp>
      <p:sp>
        <p:nvSpPr>
          <p:cNvPr id="1892850776" name="Notes Placeholder 2"/>
          <p:cNvSpPr>
            <a:spLocks noGrp="1"/>
          </p:cNvSpPr>
          <p:nvPr>
            <p:ph type="body" idx="1"/>
          </p:nvPr>
        </p:nvSpPr>
        <p:spPr bwMode="auto"/>
        <p:txBody>
          <a:bodyPr/>
          <a:lstStyle/>
          <a:p>
            <a:pPr>
              <a:defRPr/>
            </a:pPr>
            <a:endParaRPr/>
          </a:p>
        </p:txBody>
      </p:sp>
      <p:sp>
        <p:nvSpPr>
          <p:cNvPr id="1496186691" name="Slide Number Placeholder 3"/>
          <p:cNvSpPr>
            <a:spLocks noGrp="1"/>
          </p:cNvSpPr>
          <p:nvPr>
            <p:ph type="sldNum" sz="quarter" idx="10"/>
          </p:nvPr>
        </p:nvSpPr>
        <p:spPr bwMode="auto"/>
        <p:txBody>
          <a:bodyPr/>
          <a:lstStyle/>
          <a:p>
            <a:pPr>
              <a:defRPr/>
            </a:pPr>
            <a:fld id="{E535D867-FA82-50B0-2E6C-CD208027FD68}" type="slidenum">
              <a:rPr/>
              <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23922008" name="Slide Image Placeholder 1"/>
          <p:cNvSpPr>
            <a:spLocks noChangeAspect="1" noGrp="1" noRot="1"/>
          </p:cNvSpPr>
          <p:nvPr>
            <p:ph type="sldImg" idx="2"/>
          </p:nvPr>
        </p:nvSpPr>
        <p:spPr bwMode="auto"/>
      </p:sp>
      <p:sp>
        <p:nvSpPr>
          <p:cNvPr id="1553276892" name="Notes Placeholder 2"/>
          <p:cNvSpPr>
            <a:spLocks noGrp="1"/>
          </p:cNvSpPr>
          <p:nvPr>
            <p:ph type="body" idx="1"/>
          </p:nvPr>
        </p:nvSpPr>
        <p:spPr bwMode="auto"/>
        <p:txBody>
          <a:bodyPr/>
          <a:lstStyle/>
          <a:p>
            <a:pPr>
              <a:defRPr/>
            </a:pPr>
            <a:r>
              <a:rPr/>
              <a:t>Joining an absolute path to the root yields the absolute path itself, which the check then refuses if its resolved destination lies outside the root.</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75504263" name="Slide Image Placeholder 1"/>
          <p:cNvSpPr>
            <a:spLocks noChangeAspect="1" noGrp="1" noRot="1"/>
          </p:cNvSpPr>
          <p:nvPr>
            <p:ph type="sldImg" idx="2"/>
          </p:nvPr>
        </p:nvSpPr>
        <p:spPr bwMode="auto"/>
      </p:sp>
      <p:sp>
        <p:nvSpPr>
          <p:cNvPr id="1454354372" name="Notes Placeholder 2"/>
          <p:cNvSpPr>
            <a:spLocks noGrp="1"/>
          </p:cNvSpPr>
          <p:nvPr>
            <p:ph type="body" idx="1"/>
          </p:nvPr>
        </p:nvSpPr>
        <p:spPr bwMode="auto"/>
        <p:txBody>
          <a:bodyPr/>
          <a:lstStyle/>
          <a:p>
            <a:pPr>
              <a:defRPr/>
            </a:pPr>
            <a:r>
              <a:rPr/>
              <a:t>Section 4.6 describes a constructed dispatcher test. The permitted read returns 1,665 characters, matching step 6 of the recorded run. The refused request produces a tool_request and a failed tool_result with a reason and no character count.</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72510505" name="Slide Image Placeholder 1"/>
          <p:cNvSpPr>
            <a:spLocks noChangeAspect="1" noGrp="1" noRot="1"/>
          </p:cNvSpPr>
          <p:nvPr>
            <p:ph type="sldImg"/>
          </p:nvPr>
        </p:nvSpPr>
        <p:spPr bwMode="auto"/>
      </p:sp>
      <p:sp>
        <p:nvSpPr>
          <p:cNvPr id="855844162" name="Notes Placeholder 2"/>
          <p:cNvSpPr>
            <a:spLocks noGrp="1"/>
          </p:cNvSpPr>
          <p:nvPr>
            <p:ph type="body" idx="1"/>
          </p:nvPr>
        </p:nvSpPr>
        <p:spPr bwMode="auto"/>
        <p:txBody>
          <a:bodyPr/>
          <a:lstStyle/>
          <a:p>
            <a:pPr>
              <a:defRPr/>
            </a:pPr>
            <a:endParaRPr/>
          </a:p>
        </p:txBody>
      </p:sp>
      <p:sp>
        <p:nvSpPr>
          <p:cNvPr id="1565636574" name="Slide Number Placeholder 3"/>
          <p:cNvSpPr>
            <a:spLocks noGrp="1"/>
          </p:cNvSpPr>
          <p:nvPr>
            <p:ph type="sldNum" sz="quarter" idx="10"/>
          </p:nvPr>
        </p:nvSpPr>
        <p:spPr bwMode="auto"/>
        <p:txBody>
          <a:bodyPr/>
          <a:lstStyle/>
          <a:p>
            <a:pPr>
              <a:defRPr/>
            </a:pPr>
            <a:fld id="{1245E367-8664-8B12-8811-CC44A9D5D6AF}" type="slidenum">
              <a:rPr/>
              <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6967199" name="Slide Image Placeholder 1"/>
          <p:cNvSpPr>
            <a:spLocks noChangeAspect="1" noGrp="1" noRot="1"/>
          </p:cNvSpPr>
          <p:nvPr>
            <p:ph type="sldImg"/>
          </p:nvPr>
        </p:nvSpPr>
        <p:spPr bwMode="auto"/>
      </p:sp>
      <p:sp>
        <p:nvSpPr>
          <p:cNvPr id="1693601475" name="Notes Placeholder 2"/>
          <p:cNvSpPr>
            <a:spLocks noGrp="1"/>
          </p:cNvSpPr>
          <p:nvPr>
            <p:ph type="body" idx="1"/>
          </p:nvPr>
        </p:nvSpPr>
        <p:spPr bwMode="auto"/>
        <p:txBody>
          <a:bodyPr/>
          <a:lstStyle/>
          <a:p>
            <a:pPr>
              <a:defRPr/>
            </a:pPr>
            <a:endParaRPr/>
          </a:p>
        </p:txBody>
      </p:sp>
      <p:sp>
        <p:nvSpPr>
          <p:cNvPr id="787856434" name="Slide Number Placeholder 3"/>
          <p:cNvSpPr>
            <a:spLocks noGrp="1"/>
          </p:cNvSpPr>
          <p:nvPr>
            <p:ph type="sldNum" sz="quarter" idx="10"/>
          </p:nvPr>
        </p:nvSpPr>
        <p:spPr bwMode="auto"/>
        <p:txBody>
          <a:bodyPr/>
          <a:lstStyle/>
          <a:p>
            <a:pPr>
              <a:defRPr/>
            </a:pPr>
            <a:fld id="{3BB0D5D4-F066-E49F-F0A4-FF3E69CAA91B}" type="slidenum">
              <a:rPr/>
              <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8789914" name="Slide Image Placeholder 1"/>
          <p:cNvSpPr>
            <a:spLocks noGrp="1"/>
          </p:cNvSpPr>
          <p:nvPr>
            <p:ph type="sldImg" idx="2"/>
          </p:nvPr>
        </p:nvSpPr>
        <p:spPr bwMode="auto"/>
      </p:sp>
      <p:sp>
        <p:nvSpPr>
          <p:cNvPr id="1307589602" name="Notes Placeholder 2"/>
          <p:cNvSpPr>
            <a:spLocks noGrp="1"/>
          </p:cNvSpPr>
          <p:nvPr>
            <p:ph type="body" idx="1"/>
          </p:nvPr>
        </p:nvSpPr>
        <p:spPr bwMode="auto"/>
        <p:txBody>
          <a:bodyPr/>
          <a:lstStyle/>
          <a:p>
            <a:pPr>
              <a:defRPr/>
            </a:pPr>
            <a:r>
              <a:rPr/>
              <a:t>Section 5.1 of the notes. The machine, its record, the tool contract and the dispatcher are unchanged; only the mechanism that invokes the next computation differs. The scheduler runs the selected node in the next superstep.</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95679134" name="Slide Image Placeholder 1"/>
          <p:cNvSpPr>
            <a:spLocks noGrp="1"/>
          </p:cNvSpPr>
          <p:nvPr>
            <p:ph type="sldImg" idx="2"/>
          </p:nvPr>
        </p:nvSpPr>
        <p:spPr bwMode="auto"/>
      </p:sp>
      <p:sp>
        <p:nvSpPr>
          <p:cNvPr id="1366770284" name="Notes Placeholder 2"/>
          <p:cNvSpPr>
            <a:spLocks noGrp="1"/>
          </p:cNvSpPr>
          <p:nvPr>
            <p:ph type="body" idx="1"/>
          </p:nvPr>
        </p:nvSpPr>
        <p:spPr bwMode="auto"/>
        <p:txBody>
          <a:bodyPr/>
          <a:lstStyle/>
          <a:p>
            <a:pPr>
              <a:defRPr/>
            </a:pPr>
            <a:r>
              <a:rPr/>
              <a:t>The wording follows the Cornell CS 2110 lecture the notes cite. A tool request event records a request to a handler; it does not establish that the handler ran, exactly as a model's tool request in section 4 does not establish that the read occurred.</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25084022" name="Slide Image Placeholder 1"/>
          <p:cNvSpPr>
            <a:spLocks noGrp="1"/>
          </p:cNvSpPr>
          <p:nvPr>
            <p:ph type="sldImg" idx="2"/>
          </p:nvPr>
        </p:nvSpPr>
        <p:spPr bwMode="auto"/>
      </p:sp>
      <p:sp>
        <p:nvSpPr>
          <p:cNvPr id="1256104804" name="Notes Placeholder 2"/>
          <p:cNvSpPr>
            <a:spLocks noGrp="1"/>
          </p:cNvSpPr>
          <p:nvPr>
            <p:ph type="body" idx="1"/>
          </p:nvPr>
        </p:nvSpPr>
        <p:spPr bwMode="auto"/>
        <p:txBody>
          <a:bodyPr/>
          <a:lstStyle/>
          <a:p>
            <a:pPr>
              <a:defRPr/>
            </a:pPr>
            <a:r>
              <a:rPr/>
              <a:t>Definition 5.4 and section 5.1 of the notes. The registrations map an event type to its handler, so the two realizations express the choice of the next computation in different places. If the loop does not check its registrations, an event can leave the queue with no handler: nothing runs, although no component decided to stop. Our translation treats that as a defect rather than a terminal outcome.</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54868613" name="Slide Image Placeholder 1"/>
          <p:cNvSpPr>
            <a:spLocks noGrp="1"/>
          </p:cNvSpPr>
          <p:nvPr>
            <p:ph type="sldImg" idx="2"/>
          </p:nvPr>
        </p:nvSpPr>
        <p:spPr bwMode="auto"/>
      </p:sp>
      <p:sp>
        <p:nvSpPr>
          <p:cNvPr id="424583679" name="Notes Placeholder 2"/>
          <p:cNvSpPr>
            <a:spLocks noGrp="1"/>
          </p:cNvSpPr>
          <p:nvPr>
            <p:ph type="body" idx="1"/>
          </p:nvPr>
        </p:nvSpPr>
        <p:spPr bwMode="auto"/>
        <p:txBody>
          <a:bodyPr/>
          <a:lstStyle/>
          <a:p>
            <a:pPr>
              <a:defRPr/>
            </a:pPr>
            <a:r>
              <a:rPr/>
              <a:t>Section 5.2 of the notes, after Seshia and Lee's slides 23 to 25. In the graph, each superstep begins when the preceding one finishes. A guard requiring every triggering input to be absent cannot fire when reactions require an input to be present.</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01527685" name="Slide Image Placeholder 1"/>
          <p:cNvSpPr>
            <a:spLocks noGrp="1"/>
          </p:cNvSpPr>
          <p:nvPr>
            <p:ph type="sldImg" idx="2"/>
          </p:nvPr>
        </p:nvSpPr>
        <p:spPr bwMode="auto"/>
      </p:sp>
      <p:sp>
        <p:nvSpPr>
          <p:cNvPr id="1218821706" name="Notes Placeholder 2"/>
          <p:cNvSpPr>
            <a:spLocks noGrp="1"/>
          </p:cNvSpPr>
          <p:nvPr>
            <p:ph type="body" idx="1"/>
          </p:nvPr>
        </p:nvSpPr>
        <p:spPr bwMode="auto"/>
        <p:txBody>
          <a:bodyPr/>
          <a:lstStyle/>
          <a:p>
            <a:pPr>
              <a:defRPr/>
            </a:pPr>
            <a:r>
              <a:rPr/>
              <a:t>White boxes are runtime components. Blue handlers call a model; grey handlers run tools or checks. The start event carries the alert; the terminal event carries the status and ends dispatch. One handler per control location of the machine in Figure 1.</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72734427" name="Slide Image Placeholder 1"/>
          <p:cNvSpPr>
            <a:spLocks noGrp="1"/>
          </p:cNvSpPr>
          <p:nvPr>
            <p:ph type="sldImg" idx="2"/>
          </p:nvPr>
        </p:nvSpPr>
        <p:spPr bwMode="auto"/>
      </p:sp>
      <p:sp>
        <p:nvSpPr>
          <p:cNvPr id="1289516729" name="Notes Placeholder 2"/>
          <p:cNvSpPr>
            <a:spLocks noGrp="1"/>
          </p:cNvSpPr>
          <p:nvPr>
            <p:ph type="body" idx="1"/>
          </p:nvPr>
        </p:nvSpPr>
        <p:spPr bwMode="auto"/>
        <p:txBody>
          <a:bodyPr/>
          <a:lstStyle/>
          <a:p>
            <a:pPr>
              <a:defRPr/>
            </a:pPr>
            <a:r>
              <a:rPr/>
              <a:t>Section 5.2 of the notes. During active execution, either one event is pending and no handler runs, or one handler runs and no event is pending. The machine in Figure 1 no longer describes configurations with two running handlers.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8383894" name="Slide Image Placeholder 1"/>
          <p:cNvSpPr>
            <a:spLocks noGrp="1"/>
          </p:cNvSpPr>
          <p:nvPr>
            <p:ph type="sldImg" idx="2"/>
          </p:nvPr>
        </p:nvSpPr>
        <p:spPr bwMode="auto"/>
      </p:sp>
      <p:sp>
        <p:nvSpPr>
          <p:cNvPr id="1085467332" name="Notes Placeholder 2"/>
          <p:cNvSpPr>
            <a:spLocks noGrp="1"/>
          </p:cNvSpPr>
          <p:nvPr>
            <p:ph type="body" idx="1"/>
          </p:nvPr>
        </p:nvSpPr>
        <p:spPr bwMode="auto"/>
        <p:txBody>
          <a:bodyPr/>
          <a:lstStyle/>
          <a:p>
            <a:pPr>
              <a:defRPr/>
            </a:pPr>
            <a:r>
              <a:rPr/>
              <a:t>Section 5.2 of the notes, rules 1 and 2 of four. The graph's superstep model provides this ordering. An empty queue does not establish how the run ended or whether termination was intentional.</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8485586" name="Slide Image Placeholder 1"/>
          <p:cNvSpPr>
            <a:spLocks noGrp="1"/>
          </p:cNvSpPr>
          <p:nvPr>
            <p:ph type="sldImg" idx="2"/>
          </p:nvPr>
        </p:nvSpPr>
        <p:spPr bwMode="auto"/>
      </p:sp>
      <p:sp>
        <p:nvSpPr>
          <p:cNvPr id="374544362" name="Notes Placeholder 2"/>
          <p:cNvSpPr>
            <a:spLocks noGrp="1"/>
          </p:cNvSpPr>
          <p:nvPr>
            <p:ph type="body" idx="1"/>
          </p:nvPr>
        </p:nvSpPr>
        <p:spPr bwMode="auto"/>
        <p:txBody>
          <a:bodyPr/>
          <a:lstStyle/>
          <a:p>
            <a:pPr>
              <a:defRPr/>
            </a:pPr>
            <a:r>
              <a:rPr/>
              <a:t>Section 5.2 of the notes, rules 3 and 4 of four. In the serial translation no event can be pending at termination. A log event records an occurrence in the trace and triggers no computation. The terminal event ends dispatch; the terminal record in the trace records its status.</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71962871" name="Slide Image Placeholder 1"/>
          <p:cNvSpPr>
            <a:spLocks noGrp="1"/>
          </p:cNvSpPr>
          <p:nvPr>
            <p:ph type="sldImg" idx="2"/>
          </p:nvPr>
        </p:nvSpPr>
        <p:spPr bwMode="auto"/>
      </p:sp>
      <p:sp>
        <p:nvSpPr>
          <p:cNvPr id="205998392" name="Notes Placeholder 2"/>
          <p:cNvSpPr>
            <a:spLocks noGrp="1"/>
          </p:cNvSpPr>
          <p:nvPr>
            <p:ph type="body" idx="1"/>
          </p:nvPr>
        </p:nvSpPr>
        <p:spPr bwMode="auto"/>
        <p:txBody>
          <a:bodyPr/>
          <a:lstStyle/>
          <a:p>
            <a:pPr>
              <a:defRPr/>
            </a:pPr>
            <a:r>
              <a:rPr/>
              <a:t>Section 5.3 of the notes. A start event carries the alert and begins the run, corresponding to the initial arrow of the machine in Figure 1. The last row covers every edge into END.</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1002796" name="Slide Image Placeholder 1"/>
          <p:cNvSpPr>
            <a:spLocks noGrp="1"/>
          </p:cNvSpPr>
          <p:nvPr>
            <p:ph type="sldImg" idx="2"/>
          </p:nvPr>
        </p:nvSpPr>
        <p:spPr bwMode="auto"/>
      </p:sp>
      <p:sp>
        <p:nvSpPr>
          <p:cNvPr id="884405961" name="Notes Placeholder 2"/>
          <p:cNvSpPr>
            <a:spLocks noGrp="1"/>
          </p:cNvSpPr>
          <p:nvPr>
            <p:ph type="body" idx="1"/>
          </p:nvPr>
        </p:nvSpPr>
        <p:spPr bwMode="auto"/>
        <p:txBody>
          <a:bodyPr/>
          <a:lstStyle/>
          <a:p>
            <a:pPr>
              <a:defRPr/>
            </a:pPr>
            <a:r>
              <a:rPr/>
              <a:t>Section 5.3 of the notes. The terminal event carries budget_exhausted or no_progress. The controller becomes one handler registered for three event types.</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2611884" name="Slide Image Placeholder 1"/>
          <p:cNvSpPr>
            <a:spLocks noGrp="1"/>
          </p:cNvSpPr>
          <p:nvPr>
            <p:ph type="sldImg" idx="2"/>
          </p:nvPr>
        </p:nvSpPr>
        <p:spPr bwMode="auto"/>
      </p:sp>
      <p:sp>
        <p:nvSpPr>
          <p:cNvPr id="1975532443" name="Notes Placeholder 2"/>
          <p:cNvSpPr>
            <a:spLocks noGrp="1"/>
          </p:cNvSpPr>
          <p:nvPr>
            <p:ph type="body" idx="1"/>
          </p:nvPr>
        </p:nvSpPr>
        <p:spPr bwMode="auto"/>
        <p:txBody>
          <a:bodyPr/>
          <a:lstStyle/>
          <a:p>
            <a:pPr>
              <a:defRPr/>
            </a:pPr>
            <a:r>
              <a:rPr/>
              <a:t>Section 5.3 of the notes, from the LlamaIndex Workflows introduction.</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93263384" name="Slide Image Placeholder 1"/>
          <p:cNvSpPr>
            <a:spLocks noGrp="1"/>
          </p:cNvSpPr>
          <p:nvPr>
            <p:ph type="sldImg" idx="2"/>
          </p:nvPr>
        </p:nvSpPr>
        <p:spPr bwMode="auto"/>
      </p:sp>
      <p:sp>
        <p:nvSpPr>
          <p:cNvPr id="686872228" name="Notes Placeholder 2"/>
          <p:cNvSpPr>
            <a:spLocks noGrp="1"/>
          </p:cNvSpPr>
          <p:nvPr>
            <p:ph type="body" idx="1"/>
          </p:nvPr>
        </p:nvSpPr>
        <p:spPr bwMode="auto"/>
        <p:txBody>
          <a:bodyPr/>
          <a:lstStyle/>
          <a:p>
            <a:pPr>
              <a:defRPr/>
            </a:pPr>
            <a:r>
              <a:rPr/>
              <a:t>Section 5.3 of the notes. The pre-run validation is what catches an event type with no handler, which section 5.1 treats as a defect rather than a terminal outcome. The controller would be a step that branches to return ToolsRequested or SubmissionRequested.</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18411598" name="Slide Image Placeholder 1"/>
          <p:cNvSpPr>
            <a:spLocks noGrp="1"/>
          </p:cNvSpPr>
          <p:nvPr>
            <p:ph type="sldImg" idx="2"/>
          </p:nvPr>
        </p:nvSpPr>
        <p:spPr bwMode="auto"/>
      </p:sp>
      <p:sp>
        <p:nvSpPr>
          <p:cNvPr id="544344061" name="Notes Placeholder 2"/>
          <p:cNvSpPr>
            <a:spLocks noGrp="1"/>
          </p:cNvSpPr>
          <p:nvPr>
            <p:ph type="body" idx="1"/>
          </p:nvPr>
        </p:nvSpPr>
        <p:spPr bwMode="auto"/>
        <p:txBody>
          <a:bodyPr/>
          <a:lstStyle/>
          <a:p>
            <a:pPr>
              <a:defRPr/>
            </a:pPr>
            <a:r>
              <a:rPr/>
              <a:t>A step accepts the event types in its signature and emits the ones in its return annotation. Read from the step signatures in cyberbird/event_driven/workflow.py on 2026-09-25, a work in progress: plan, controller and validate are stubs and no run is recorded. The docstring table at the top of the file lags the signatures. This design is separate from the planning agent's translation in Table 8: it handles many alerts in one run, gates them one at a time, and fans out to V concurrent validators.</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5796159" name="Slide Image Placeholder 1"/>
          <p:cNvSpPr>
            <a:spLocks noGrp="1"/>
          </p:cNvSpPr>
          <p:nvPr>
            <p:ph type="sldImg" idx="2"/>
          </p:nvPr>
        </p:nvSpPr>
        <p:spPr bwMode="auto"/>
      </p:sp>
      <p:sp>
        <p:nvSpPr>
          <p:cNvPr id="1852568731" name="Notes Placeholder 2"/>
          <p:cNvSpPr>
            <a:spLocks noGrp="1"/>
          </p:cNvSpPr>
          <p:nvPr>
            <p:ph type="body" idx="1"/>
          </p:nvPr>
        </p:nvSpPr>
        <p:spPr bwMode="auto"/>
        <p:txBody>
          <a:bodyPr/>
          <a:lstStyle/>
          <a:p>
            <a:pPr>
              <a:defRPr/>
            </a:pPr>
            <a:r>
              <a:rPr/>
              <a:t>Section 5.3 of the notes: events are user-defined Pydantic classes, and the framework supplies StartEvent and StopEvent. The other twelve event classes subclass AlertEvent.</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3194954" name="Slide Image Placeholder 1"/>
          <p:cNvSpPr>
            <a:spLocks noGrp="1"/>
          </p:cNvSpPr>
          <p:nvPr>
            <p:ph type="sldImg" idx="2"/>
          </p:nvPr>
        </p:nvSpPr>
        <p:spPr bwMode="auto"/>
      </p:sp>
      <p:sp>
        <p:nvSpPr>
          <p:cNvPr id="874969742" name="Notes Placeholder 2"/>
          <p:cNvSpPr>
            <a:spLocks noGrp="1"/>
          </p:cNvSpPr>
          <p:nvPr>
            <p:ph type="body" idx="1"/>
          </p:nvPr>
        </p:nvSpPr>
        <p:spPr bwMode="auto"/>
        <p:txBody>
          <a:bodyPr/>
          <a:lstStyle/>
          <a:p>
            <a:pPr>
              <a:defRPr/>
            </a:pPr>
            <a:r>
              <a:rPr/>
              <a:t>The two long lines are broken at a comma to fit the window; nothing is paraphrased. The comment is the file's own.</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28267533" name="Slide Image Placeholder 1"/>
          <p:cNvSpPr>
            <a:spLocks noGrp="1"/>
          </p:cNvSpPr>
          <p:nvPr>
            <p:ph type="sldImg" idx="2"/>
          </p:nvPr>
        </p:nvSpPr>
        <p:spPr bwMode="auto"/>
      </p:sp>
      <p:sp>
        <p:nvSpPr>
          <p:cNvPr id="1753736619" name="Notes Placeholder 2"/>
          <p:cNvSpPr>
            <a:spLocks noGrp="1"/>
          </p:cNvSpPr>
          <p:nvPr>
            <p:ph type="body" idx="1"/>
          </p:nvPr>
        </p:nvSpPr>
        <p:spPr bwMode="auto"/>
        <p:txBody>
          <a:bodyPr/>
          <a:lstStyle/>
          <a:p>
            <a:pPr>
              <a:defRPr/>
            </a:pPr>
            <a:r>
              <a:rPr/>
              <a:t>This is rule 2 in code: an empty queue is idle, and the terminal event is what establishes termination. The StopEvent's result carries the outcome of every alert. gate also returns AlertStarted when it releases the next alert; that branch is cut.</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186452" name="Slide Image Placeholder 1"/>
          <p:cNvSpPr>
            <a:spLocks noGrp="1"/>
          </p:cNvSpPr>
          <p:nvPr>
            <p:ph type="sldImg" idx="2"/>
          </p:nvPr>
        </p:nvSpPr>
        <p:spPr bwMode="auto"/>
      </p:sp>
      <p:sp>
        <p:nvSpPr>
          <p:cNvPr id="852286634" name="Notes Placeholder 2"/>
          <p:cNvSpPr>
            <a:spLocks noGrp="1"/>
          </p:cNvSpPr>
          <p:nvPr>
            <p:ph type="body" idx="1"/>
          </p:nvPr>
        </p:nvSpPr>
        <p:spPr bwMode="auto"/>
        <p:txBody>
          <a:bodyPr/>
          <a:lstStyle/>
          <a:p>
            <a:pPr>
              <a:defRPr/>
            </a:pPr>
            <a:r>
              <a:rPr/>
              <a:t>Section 5.3 of the notes. LlamaIndex's validation does not establish that a particular run will reach StopEvent. CrewAI's @start(), @listen(), @router() and the or_ and and_ operators are HW1 reference material in the notes.</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2452883" name="Slide Image Placeholder 1"/>
          <p:cNvSpPr>
            <a:spLocks noGrp="1"/>
          </p:cNvSpPr>
          <p:nvPr>
            <p:ph type="sldImg" idx="2"/>
          </p:nvPr>
        </p:nvSpPr>
        <p:spPr bwMode="auto"/>
      </p:sp>
      <p:sp>
        <p:nvSpPr>
          <p:cNvPr id="621690751" name="Notes Placeholder 2"/>
          <p:cNvSpPr>
            <a:spLocks noGrp="1"/>
          </p:cNvSpPr>
          <p:nvPr>
            <p:ph type="body" idx="1"/>
          </p:nvPr>
        </p:nvSpPr>
        <p:spPr bwMode="auto"/>
        <p:txBody>
          <a:bodyPr/>
          <a:lstStyle/>
          <a:p>
            <a:pPr>
              <a:defRPr/>
            </a:pPr>
            <a:r>
              <a:rPr/>
              <a:t>Section 5.3 of the notes. The four properties: the observations appended to the record, the effects on the workspace, the results of the acceptance checks, and the terminal status and its meaning.</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96436602" name="Slide Image Placeholder 1"/>
          <p:cNvSpPr>
            <a:spLocks noGrp="1"/>
          </p:cNvSpPr>
          <p:nvPr>
            <p:ph type="sldImg" idx="2"/>
          </p:nvPr>
        </p:nvSpPr>
        <p:spPr bwMode="auto"/>
      </p:sp>
      <p:sp>
        <p:nvSpPr>
          <p:cNvPr id="1544717874" name="Notes Placeholder 2"/>
          <p:cNvSpPr>
            <a:spLocks noGrp="1"/>
          </p:cNvSpPr>
          <p:nvPr>
            <p:ph type="body" idx="1"/>
          </p:nvPr>
        </p:nvSpPr>
        <p:spPr bwMode="auto"/>
        <p:txBody>
          <a:bodyPr/>
          <a:lstStyle/>
          <a:p>
            <a:pPr>
              <a:defRPr/>
            </a:pPr>
            <a:r>
              <a:rPr/>
              <a:t>Section 5.3 of the notes. Model replies depend on the messages each realization constructs, so changing how a handler formats messages changes the input distribution even when the transition rules stay the same.</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4452388" name="Slide Image Placeholder 1"/>
          <p:cNvSpPr>
            <a:spLocks noChangeAspect="1" noGrp="1" noRot="1"/>
          </p:cNvSpPr>
          <p:nvPr>
            <p:ph type="sldImg"/>
          </p:nvPr>
        </p:nvSpPr>
        <p:spPr bwMode="auto"/>
      </p:sp>
      <p:sp>
        <p:nvSpPr>
          <p:cNvPr id="1838827067" name="Notes Placeholder 2"/>
          <p:cNvSpPr>
            <a:spLocks noGrp="1"/>
          </p:cNvSpPr>
          <p:nvPr>
            <p:ph type="body" idx="1"/>
          </p:nvPr>
        </p:nvSpPr>
        <p:spPr bwMode="auto"/>
        <p:txBody>
          <a:bodyPr/>
          <a:lstStyle/>
          <a:p>
            <a:pPr>
              <a:defRPr/>
            </a:pPr>
            <a:endParaRPr/>
          </a:p>
        </p:txBody>
      </p:sp>
      <p:sp>
        <p:nvSpPr>
          <p:cNvPr id="1447699892" name="Slide Number Placeholder 3"/>
          <p:cNvSpPr>
            <a:spLocks noGrp="1"/>
          </p:cNvSpPr>
          <p:nvPr>
            <p:ph type="sldNum" sz="quarter" idx="10"/>
          </p:nvPr>
        </p:nvSpPr>
        <p:spPr bwMode="auto"/>
        <p:txBody>
          <a:bodyPr/>
          <a:lstStyle/>
          <a:p>
            <a:pPr>
              <a:defRPr/>
            </a:pPr>
            <a:fld id="{8AA49340-FA2E-5D2A-6814-659241B2AEBF}"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slide" preserve="0" showMasterPhAnim="0" showMasterSp="1" type="title" userDrawn="1">
  <p:cSld name="TITLE">
    <p:spTree>
      <p:nvGrpSpPr>
        <p:cNvPr id="1" name=""/>
        <p:cNvGrpSpPr/>
        <p:nvPr/>
      </p:nvGrpSpPr>
      <p:grpSpPr bwMode="auto">
        <a:xfrm>
          <a:off x="0" y="0"/>
          <a:ext cx="0" cy="0"/>
          <a:chOff x="0" y="0"/>
          <a:chExt cx="0" cy="0"/>
        </a:xfrm>
      </p:grpSpPr>
      <p:sp>
        <p:nvSpPr>
          <p:cNvPr id="1196794921"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a:p>
        </p:txBody>
      </p:sp>
      <p:sp>
        <p:nvSpPr>
          <p:cNvPr id="127013591"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a:p>
        </p:txBody>
      </p:sp>
      <p:sp>
        <p:nvSpPr>
          <p:cNvPr id="1682649040"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ustom Layout">
    <p:spTree>
      <p:nvGrpSpPr>
        <p:cNvPr id="1" name=""/>
        <p:cNvGrpSpPr/>
        <p:nvPr/>
      </p:nvGrpSpPr>
      <p:grpSpPr bwMode="auto">
        <a:xfrm>
          <a:off x="0" y="0"/>
          <a:ext cx="0" cy="0"/>
          <a:chOff x="0" y="0"/>
          <a:chExt cx="0" cy="0"/>
        </a:xfrm>
      </p:grpSpPr>
      <p:sp>
        <p:nvSpPr>
          <p:cNvPr id="2041678305"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b="1">
                <a:solidFill>
                  <a:srgbClr val="2D2A62"/>
                </a:solidFill>
                <a:latin typeface="Aptos"/>
                <a:ea typeface="Aptos"/>
                <a:cs typeface="Aptos"/>
              </a:defRPr>
            </a:lvl1pPr>
            <a:lvl2pPr lvl="1">
              <a:spcBef>
                <a:spcPts val="0"/>
              </a:spcBef>
              <a:spcAft>
                <a:spcPts val="0"/>
              </a:spcAft>
              <a:buClr>
                <a:schemeClr val="dk1"/>
              </a:buClr>
              <a:buSzPts val="2400"/>
              <a:buFont typeface="Aptos"/>
              <a:buNone/>
              <a:defRPr sz="2400">
                <a:solidFill>
                  <a:schemeClr val="dk1"/>
                </a:solidFill>
                <a:latin typeface="Aptos"/>
                <a:ea typeface="Aptos"/>
                <a:cs typeface="Aptos"/>
              </a:defRPr>
            </a:lvl2pPr>
            <a:lvl3pPr lvl="2">
              <a:spcBef>
                <a:spcPts val="0"/>
              </a:spcBef>
              <a:spcAft>
                <a:spcPts val="0"/>
              </a:spcAft>
              <a:buClr>
                <a:schemeClr val="dk1"/>
              </a:buClr>
              <a:buSzPts val="2400"/>
              <a:buFont typeface="Aptos"/>
              <a:buNone/>
              <a:defRPr sz="2400">
                <a:solidFill>
                  <a:schemeClr val="dk1"/>
                </a:solidFill>
                <a:latin typeface="Aptos"/>
                <a:ea typeface="Aptos"/>
                <a:cs typeface="Aptos"/>
              </a:defRPr>
            </a:lvl3pPr>
            <a:lvl4pPr lvl="3">
              <a:spcBef>
                <a:spcPts val="0"/>
              </a:spcBef>
              <a:spcAft>
                <a:spcPts val="0"/>
              </a:spcAft>
              <a:buClr>
                <a:schemeClr val="dk1"/>
              </a:buClr>
              <a:buSzPts val="2400"/>
              <a:buFont typeface="Aptos"/>
              <a:buNone/>
              <a:defRPr sz="2400">
                <a:solidFill>
                  <a:schemeClr val="dk1"/>
                </a:solidFill>
                <a:latin typeface="Aptos"/>
                <a:ea typeface="Aptos"/>
                <a:cs typeface="Aptos"/>
              </a:defRPr>
            </a:lvl4pPr>
            <a:lvl5pPr lvl="4">
              <a:spcBef>
                <a:spcPts val="0"/>
              </a:spcBef>
              <a:spcAft>
                <a:spcPts val="0"/>
              </a:spcAft>
              <a:buClr>
                <a:schemeClr val="dk1"/>
              </a:buClr>
              <a:buSzPts val="2400"/>
              <a:buFont typeface="Aptos"/>
              <a:buNone/>
              <a:defRPr sz="2400">
                <a:solidFill>
                  <a:schemeClr val="dk1"/>
                </a:solidFill>
                <a:latin typeface="Aptos"/>
                <a:ea typeface="Aptos"/>
                <a:cs typeface="Aptos"/>
              </a:defRPr>
            </a:lvl5pPr>
            <a:lvl6pPr lvl="5">
              <a:spcBef>
                <a:spcPts val="0"/>
              </a:spcBef>
              <a:spcAft>
                <a:spcPts val="0"/>
              </a:spcAft>
              <a:buClr>
                <a:schemeClr val="dk1"/>
              </a:buClr>
              <a:buSzPts val="2400"/>
              <a:buFont typeface="Aptos"/>
              <a:buNone/>
              <a:defRPr sz="2400">
                <a:solidFill>
                  <a:schemeClr val="dk1"/>
                </a:solidFill>
                <a:latin typeface="Aptos"/>
                <a:ea typeface="Aptos"/>
                <a:cs typeface="Aptos"/>
              </a:defRPr>
            </a:lvl6pPr>
            <a:lvl7pPr lvl="6">
              <a:spcBef>
                <a:spcPts val="0"/>
              </a:spcBef>
              <a:spcAft>
                <a:spcPts val="0"/>
              </a:spcAft>
              <a:buClr>
                <a:schemeClr val="dk1"/>
              </a:buClr>
              <a:buSzPts val="2400"/>
              <a:buFont typeface="Aptos"/>
              <a:buNone/>
              <a:defRPr sz="2400">
                <a:solidFill>
                  <a:schemeClr val="dk1"/>
                </a:solidFill>
                <a:latin typeface="Aptos"/>
                <a:ea typeface="Aptos"/>
                <a:cs typeface="Aptos"/>
              </a:defRPr>
            </a:lvl7pPr>
            <a:lvl8pPr lvl="7">
              <a:spcBef>
                <a:spcPts val="0"/>
              </a:spcBef>
              <a:spcAft>
                <a:spcPts val="0"/>
              </a:spcAft>
              <a:buClr>
                <a:schemeClr val="dk1"/>
              </a:buClr>
              <a:buSzPts val="2400"/>
              <a:buFont typeface="Aptos"/>
              <a:buNone/>
              <a:defRPr sz="2400">
                <a:solidFill>
                  <a:schemeClr val="dk1"/>
                </a:solidFill>
                <a:latin typeface="Aptos"/>
                <a:ea typeface="Aptos"/>
                <a:cs typeface="Aptos"/>
              </a:defRPr>
            </a:lvl8pPr>
            <a:lvl9pPr lvl="8">
              <a:spcBef>
                <a:spcPts val="0"/>
              </a:spcBef>
              <a:spcAft>
                <a:spcPts val="0"/>
              </a:spcAft>
              <a:buClr>
                <a:schemeClr val="dk1"/>
              </a:buClr>
              <a:buSzPts val="2400"/>
              <a:buFont typeface="Aptos"/>
              <a:buNone/>
              <a:defRPr sz="2400">
                <a:solidFill>
                  <a:schemeClr val="dk1"/>
                </a:solidFill>
                <a:latin typeface="Aptos"/>
                <a:ea typeface="Aptos"/>
                <a:cs typeface="Aptos"/>
              </a:defRPr>
            </a:lvl9pPr>
          </a:lstStyle>
          <a:p>
            <a:pPr>
              <a:defRPr/>
            </a:pPr>
            <a:endParaRPr/>
          </a:p>
        </p:txBody>
      </p:sp>
      <p:sp>
        <p:nvSpPr>
          <p:cNvPr id="1309119029"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ptos"/>
                <a:ea typeface="Aptos"/>
                <a:cs typeface="Aptos"/>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9pPr>
          </a:lstStyle>
          <a:p>
            <a:pPr>
              <a:defRPr/>
            </a:pPr>
            <a:endParaRPr/>
          </a:p>
        </p:txBody>
      </p:sp>
      <p:sp>
        <p:nvSpPr>
          <p:cNvPr id="1746329551"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Custom Layout">
    <p:spTree>
      <p:nvGrpSpPr>
        <p:cNvPr id="1" name=""/>
        <p:cNvGrpSpPr/>
        <p:nvPr/>
      </p:nvGrpSpPr>
      <p:grpSpPr bwMode="auto">
        <a:xfrm>
          <a:off x="0" y="0"/>
          <a:ext cx="0" cy="0"/>
          <a:chOff x="0" y="0"/>
          <a:chExt cx="0" cy="0"/>
        </a:xfrm>
      </p:grpSpPr>
      <p:sp>
        <p:nvSpPr>
          <p:cNvPr id="695845569"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Custom Layout">
    <p:bg>
      <p:bgPr shadeToTitle="0">
        <a:solidFill>
          <a:schemeClr val="bg2"/>
        </a:solidFill>
      </p:bgPr>
    </p:bg>
    <p:spTree>
      <p:nvGrpSpPr>
        <p:cNvPr id="1" name=""/>
        <p:cNvGrpSpPr/>
        <p:nvPr/>
      </p:nvGrpSpPr>
      <p:grpSpPr bwMode="auto">
        <a:xfrm>
          <a:off x="0" y="0"/>
          <a:ext cx="0" cy="0"/>
          <a:chOff x="0" y="0"/>
          <a:chExt cx="0" cy="0"/>
        </a:xfrm>
      </p:grpSpPr>
      <p:pic>
        <p:nvPicPr>
          <p:cNvPr id="1730024202"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simple-light-2">
    <p:bg>
      <p:bgPr shadeToTitle="0">
        <a:solidFill>
          <a:schemeClr val="lt1"/>
        </a:solidFill>
      </p:bgPr>
    </p:bg>
    <p:spTree>
      <p:nvGrpSpPr>
        <p:cNvPr id="1" name=""/>
        <p:cNvGrpSpPr/>
        <p:nvPr/>
      </p:nvGrpSpPr>
      <p:grpSpPr bwMode="auto">
        <a:xfrm>
          <a:off x="0" y="0"/>
          <a:ext cx="0" cy="0"/>
          <a:chOff x="0" y="0"/>
          <a:chExt cx="0" cy="0"/>
        </a:xfrm>
      </p:grpSpPr>
      <p:sp>
        <p:nvSpPr>
          <p:cNvPr id="1941127111"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ptos"/>
                <a:ea typeface="Aptos"/>
                <a:cs typeface="Aptos"/>
              </a:defRPr>
            </a:lvl1pPr>
            <a:lvl2pPr lvl="1">
              <a:spcBef>
                <a:spcPts val="0"/>
              </a:spcBef>
              <a:spcAft>
                <a:spcPts val="0"/>
              </a:spcAft>
              <a:buClr>
                <a:schemeClr val="dk1"/>
              </a:buClr>
              <a:buSzPts val="2400"/>
              <a:buFont typeface="Aptos"/>
              <a:buNone/>
              <a:defRPr sz="2400">
                <a:solidFill>
                  <a:schemeClr val="dk1"/>
                </a:solidFill>
                <a:latin typeface="Aptos"/>
                <a:ea typeface="Aptos"/>
                <a:cs typeface="Aptos"/>
              </a:defRPr>
            </a:lvl2pPr>
            <a:lvl3pPr lvl="2">
              <a:spcBef>
                <a:spcPts val="0"/>
              </a:spcBef>
              <a:spcAft>
                <a:spcPts val="0"/>
              </a:spcAft>
              <a:buClr>
                <a:schemeClr val="dk1"/>
              </a:buClr>
              <a:buSzPts val="2400"/>
              <a:buFont typeface="Aptos"/>
              <a:buNone/>
              <a:defRPr sz="2400">
                <a:solidFill>
                  <a:schemeClr val="dk1"/>
                </a:solidFill>
                <a:latin typeface="Aptos"/>
                <a:ea typeface="Aptos"/>
                <a:cs typeface="Aptos"/>
              </a:defRPr>
            </a:lvl3pPr>
            <a:lvl4pPr lvl="3">
              <a:spcBef>
                <a:spcPts val="0"/>
              </a:spcBef>
              <a:spcAft>
                <a:spcPts val="0"/>
              </a:spcAft>
              <a:buClr>
                <a:schemeClr val="dk1"/>
              </a:buClr>
              <a:buSzPts val="2400"/>
              <a:buFont typeface="Aptos"/>
              <a:buNone/>
              <a:defRPr sz="2400">
                <a:solidFill>
                  <a:schemeClr val="dk1"/>
                </a:solidFill>
                <a:latin typeface="Aptos"/>
                <a:ea typeface="Aptos"/>
                <a:cs typeface="Aptos"/>
              </a:defRPr>
            </a:lvl4pPr>
            <a:lvl5pPr lvl="4">
              <a:spcBef>
                <a:spcPts val="0"/>
              </a:spcBef>
              <a:spcAft>
                <a:spcPts val="0"/>
              </a:spcAft>
              <a:buClr>
                <a:schemeClr val="dk1"/>
              </a:buClr>
              <a:buSzPts val="2400"/>
              <a:buFont typeface="Aptos"/>
              <a:buNone/>
              <a:defRPr sz="2400">
                <a:solidFill>
                  <a:schemeClr val="dk1"/>
                </a:solidFill>
                <a:latin typeface="Aptos"/>
                <a:ea typeface="Aptos"/>
                <a:cs typeface="Aptos"/>
              </a:defRPr>
            </a:lvl5pPr>
            <a:lvl6pPr lvl="5">
              <a:spcBef>
                <a:spcPts val="0"/>
              </a:spcBef>
              <a:spcAft>
                <a:spcPts val="0"/>
              </a:spcAft>
              <a:buClr>
                <a:schemeClr val="dk1"/>
              </a:buClr>
              <a:buSzPts val="2400"/>
              <a:buFont typeface="Aptos"/>
              <a:buNone/>
              <a:defRPr sz="2400">
                <a:solidFill>
                  <a:schemeClr val="dk1"/>
                </a:solidFill>
                <a:latin typeface="Aptos"/>
                <a:ea typeface="Aptos"/>
                <a:cs typeface="Aptos"/>
              </a:defRPr>
            </a:lvl6pPr>
            <a:lvl7pPr lvl="6">
              <a:spcBef>
                <a:spcPts val="0"/>
              </a:spcBef>
              <a:spcAft>
                <a:spcPts val="0"/>
              </a:spcAft>
              <a:buClr>
                <a:schemeClr val="dk1"/>
              </a:buClr>
              <a:buSzPts val="2400"/>
              <a:buFont typeface="Aptos"/>
              <a:buNone/>
              <a:defRPr sz="2400">
                <a:solidFill>
                  <a:schemeClr val="dk1"/>
                </a:solidFill>
                <a:latin typeface="Aptos"/>
                <a:ea typeface="Aptos"/>
                <a:cs typeface="Aptos"/>
              </a:defRPr>
            </a:lvl7pPr>
            <a:lvl8pPr lvl="7">
              <a:spcBef>
                <a:spcPts val="0"/>
              </a:spcBef>
              <a:spcAft>
                <a:spcPts val="0"/>
              </a:spcAft>
              <a:buClr>
                <a:schemeClr val="dk1"/>
              </a:buClr>
              <a:buSzPts val="2400"/>
              <a:buFont typeface="Aptos"/>
              <a:buNone/>
              <a:defRPr sz="2400">
                <a:solidFill>
                  <a:schemeClr val="dk1"/>
                </a:solidFill>
                <a:latin typeface="Aptos"/>
                <a:ea typeface="Aptos"/>
                <a:cs typeface="Aptos"/>
              </a:defRPr>
            </a:lvl8pPr>
            <a:lvl9pPr lvl="8">
              <a:spcBef>
                <a:spcPts val="0"/>
              </a:spcBef>
              <a:spcAft>
                <a:spcPts val="0"/>
              </a:spcAft>
              <a:buClr>
                <a:schemeClr val="dk1"/>
              </a:buClr>
              <a:buSzPts val="2400"/>
              <a:buFont typeface="Aptos"/>
              <a:buNone/>
              <a:defRPr sz="2400">
                <a:solidFill>
                  <a:schemeClr val="dk1"/>
                </a:solidFill>
                <a:latin typeface="Aptos"/>
                <a:ea typeface="Aptos"/>
                <a:cs typeface="Aptos"/>
              </a:defRPr>
            </a:lvl9pPr>
          </a:lstStyle>
          <a:p>
            <a:pPr>
              <a:defRPr/>
            </a:pPr>
            <a:endParaRPr/>
          </a:p>
        </p:txBody>
      </p:sp>
      <p:sp>
        <p:nvSpPr>
          <p:cNvPr id="746008467"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ptos"/>
                <a:ea typeface="Aptos"/>
                <a:cs typeface="Aptos"/>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ptos"/>
                <a:ea typeface="Aptos"/>
                <a:cs typeface="Aptos"/>
              </a:defRPr>
            </a:lvl9pPr>
          </a:lstStyle>
          <a:p>
            <a:pPr>
              <a:defRPr/>
            </a:pPr>
            <a:endParaRPr/>
          </a:p>
        </p:txBody>
      </p:sp>
      <p:pic>
        <p:nvPicPr>
          <p:cNvPr id="1267402179" name="Google Shape;9;p1"/>
          <p:cNvPicPr/>
          <p:nvPr/>
        </p:nvPicPr>
        <p:blipFill rotWithShape="1">
          <a:blip r:embed="rId6">
            <a:alphaModFix/>
          </a:blip>
          <a:srcRect l="0" t="0" r="79249" b="0"/>
          <a:stretch/>
        </p:blipFill>
        <p:spPr bwMode="auto">
          <a:xfrm>
            <a:off x="0" y="4841359"/>
            <a:ext cx="342167" cy="302143"/>
          </a:xfrm>
          <a:prstGeom prst="rect">
            <a:avLst/>
          </a:prstGeom>
          <a:noFill/>
          <a:ln>
            <a:noFill/>
          </a:ln>
        </p:spPr>
      </p:pic>
      <p:sp>
        <p:nvSpPr>
          <p:cNvPr id="629071825"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4.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5.png"/></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6.pn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7.pn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8.png"/></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9.png"/></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6.png"/></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1.png"/></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2.png"/></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23.png"/></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24.png"/></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6606299" name="Title 1"/>
          <p:cNvSpPr>
            <a:spLocks noGrp="1"/>
          </p:cNvSpPr>
          <p:nvPr>
            <p:ph type="ctrTitle"/>
          </p:nvPr>
        </p:nvSpPr>
        <p:spPr bwMode="auto"/>
        <p:txBody>
          <a:bodyPr/>
          <a:lstStyle/>
          <a:p>
            <a:pPr>
              <a:defRPr/>
            </a:pPr>
            <a:r>
              <a:rPr lang="en-US" b="1"/>
              <a:t>Designing Production Agentic Systems</a:t>
            </a:r>
            <a:endParaRPr b="1"/>
          </a:p>
        </p:txBody>
      </p:sp>
      <p:sp>
        <p:nvSpPr>
          <p:cNvPr id="1590116024" name="Subtitle 2"/>
          <p:cNvSpPr>
            <a:spLocks noGrp="1"/>
          </p:cNvSpPr>
          <p:nvPr>
            <p:ph type="subTitle" idx="1"/>
          </p:nvPr>
        </p:nvSpPr>
        <p:spPr bwMode="auto"/>
        <p:txBody>
          <a:bodyPr/>
          <a:lstStyle/>
          <a:p>
            <a:pPr>
              <a:defRPr/>
            </a:pPr>
            <a:r>
              <a:rPr b="1"/>
              <a:t>Columbia · Fall 2026 · Lecture </a:t>
            </a:r>
            <a:r>
              <a:rPr lang="en-US" b="1"/>
              <a:t>4</a:t>
            </a:r>
            <a:endParaRPr b="1"/>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31625453" name="TextBox 3"/>
          <p:cNvSpPr txBox="1"/>
          <p:nvPr/>
        </p:nvSpPr>
        <p:spPr bwMode="auto">
          <a:xfrm>
            <a:off x="364434" y="2217807"/>
            <a:ext cx="6129489" cy="701399"/>
          </a:xfrm>
          <a:prstGeom prst="rect">
            <a:avLst/>
          </a:prstGeom>
          <a:noFill/>
        </p:spPr>
        <p:txBody>
          <a:bodyPr wrap="square" rtlCol="0">
            <a:spAutoFit/>
          </a:bodyPr>
          <a:lstStyle/>
          <a:p>
            <a:pPr algn="ctr">
              <a:defRPr/>
            </a:pPr>
            <a:r>
              <a:rPr lang="en-US" sz="4000" b="1">
                <a:solidFill>
                  <a:schemeClr val="tx2"/>
                </a:solidFill>
                <a:latin typeface="+mj-lt"/>
              </a:rPr>
              <a:t>Lecture 3: Recap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92124088" name="Title 1"/>
          <p:cNvSpPr>
            <a:spLocks noGrp="1"/>
          </p:cNvSpPr>
          <p:nvPr>
            <p:ph type="title"/>
          </p:nvPr>
        </p:nvSpPr>
        <p:spPr bwMode="auto"/>
        <p:txBody>
          <a:bodyPr/>
          <a:lstStyle/>
          <a:p>
            <a:pPr>
              <a:defRPr/>
            </a:pPr>
            <a:r>
              <a:rPr lang="en-US"/>
              <a:t>Class announcements</a:t>
            </a:r>
            <a:endParaRPr/>
          </a:p>
        </p:txBody>
      </p:sp>
      <p:sp>
        <p:nvSpPr>
          <p:cNvPr id="299872656" name="Content Placeholder 5"/>
          <p:cNvSpPr>
            <a:spLocks noGrp="1"/>
          </p:cNvSpPr>
          <p:nvPr>
            <p:ph idx="1"/>
          </p:nvPr>
        </p:nvSpPr>
        <p:spPr bwMode="auto">
          <a:xfrm>
            <a:off x="14251" y="630048"/>
            <a:ext cx="6815475" cy="2505913"/>
          </a:xfrm>
        </p:spPr>
        <p:txBody>
          <a:bodyPr>
            <a:normAutofit/>
          </a:bodyPr>
          <a:lstStyle/>
          <a:p>
            <a:pPr>
              <a:defRPr/>
            </a:pPr>
            <a:r>
              <a:rPr lang="en-US" sz="1800"/>
              <a:t>HW1 is released today.</a:t>
            </a:r>
            <a:endParaRPr lang="en-US"/>
          </a:p>
          <a:p>
            <a:pPr lvl="1">
              <a:defRPr/>
            </a:pPr>
            <a:r>
              <a:rPr lang="en-US" sz="1400"/>
              <a:t>Assignment groups after class today so I can plan accordingly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37373364" name="TextBox 1"/>
          <p:cNvSpPr txBox="1"/>
          <p:nvPr/>
        </p:nvSpPr>
        <p:spPr bwMode="auto">
          <a:xfrm>
            <a:off x="929000" y="1910031"/>
            <a:ext cx="5000000" cy="1323439"/>
          </a:xfrm>
          <a:prstGeom prst="rect">
            <a:avLst/>
          </a:prstGeom>
          <a:noFill/>
        </p:spPr>
        <p:txBody>
          <a:bodyPr wrap="square" anchor="ctr">
            <a:spAutoFit/>
          </a:bodyPr>
          <a:lstStyle/>
          <a:p>
            <a:pPr algn="ctr">
              <a:defRPr/>
            </a:pPr>
            <a:r>
              <a:rPr lang="en-US" sz="4000" b="1">
                <a:solidFill>
                  <a:schemeClr val="bg1"/>
                </a:solidFill>
                <a:latin typeface="+mj-lt"/>
              </a:rPr>
              <a:t>Lecture 3: Execution Machinery</a:t>
            </a:r>
            <a:endParaRPr sz="4000" b="1">
              <a:solidFill>
                <a:schemeClr val="bg1"/>
              </a:solidFill>
              <a:latin typeface="+mj-lt"/>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137291323" name="Picture 13"/>
          <p:cNvPicPr>
            <a:picLocks noChangeAspect="1"/>
          </p:cNvPicPr>
          <p:nvPr/>
        </p:nvPicPr>
        <p:blipFill rotWithShape="1">
          <a:blip r:embed="rId3">
            <a:alphaModFix amt="70000"/>
          </a:blip>
          <a:stretch/>
        </p:blipFill>
        <p:spPr bwMode="auto">
          <a:xfrm>
            <a:off x="825474" y="1899091"/>
            <a:ext cx="5732295" cy="2403255"/>
          </a:xfrm>
          <a:prstGeom prst="rect">
            <a:avLst/>
          </a:prstGeom>
        </p:spPr>
      </p:pic>
      <p:sp>
        <p:nvSpPr>
          <p:cNvPr id="251925468" name="TextBox 2"/>
          <p:cNvSpPr txBox="1"/>
          <p:nvPr/>
        </p:nvSpPr>
        <p:spPr bwMode="auto">
          <a:xfrm>
            <a:off x="929000" y="265338"/>
            <a:ext cx="5000000" cy="1323439"/>
          </a:xfrm>
          <a:prstGeom prst="rect">
            <a:avLst/>
          </a:prstGeom>
          <a:noFill/>
        </p:spPr>
        <p:txBody>
          <a:bodyPr wrap="square" anchor="ctr">
            <a:spAutoFit/>
          </a:bodyPr>
          <a:lstStyle/>
          <a:p>
            <a:pPr algn="ctr">
              <a:defRPr/>
            </a:pPr>
            <a:r>
              <a:rPr sz="4000" b="1">
                <a:solidFill>
                  <a:schemeClr val="bg1"/>
                </a:solidFill>
                <a:latin typeface="+mj-lt"/>
              </a:rPr>
              <a:t>Execution machinery</a:t>
            </a:r>
            <a:endParaRPr/>
          </a:p>
        </p:txBody>
      </p:sp>
      <p:cxnSp>
        <p:nvCxnSpPr>
          <p:cNvPr id="1945054734" name="Straight Arrow Connector 3"/>
          <p:cNvCxnSpPr/>
          <p:nvPr/>
        </p:nvCxnSpPr>
        <p:spPr bwMode="auto">
          <a:xfrm>
            <a:off x="1063835" y="2018156"/>
            <a:ext cx="0" cy="21608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599890229" name="Oval 7"/>
          <p:cNvSpPr/>
          <p:nvPr/>
        </p:nvSpPr>
        <p:spPr bwMode="auto">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59026833" name="Oval 4"/>
          <p:cNvSpPr/>
          <p:nvPr/>
        </p:nvSpPr>
        <p:spPr bwMode="auto">
          <a:xfrm>
            <a:off x="951758" y="27217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493739928" name="Oval 5"/>
          <p:cNvSpPr/>
          <p:nvPr/>
        </p:nvSpPr>
        <p:spPr bwMode="auto">
          <a:xfrm>
            <a:off x="951758" y="32554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29579759" name="Oval 6"/>
          <p:cNvSpPr/>
          <p:nvPr/>
        </p:nvSpPr>
        <p:spPr bwMode="auto">
          <a:xfrm>
            <a:off x="951758" y="37855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400300573" name="TextBox 12"/>
          <p:cNvSpPr txBox="1"/>
          <p:nvPr/>
        </p:nvSpPr>
        <p:spPr bwMode="auto">
          <a:xfrm>
            <a:off x="1259524" y="2146243"/>
            <a:ext cx="5074272" cy="338554"/>
          </a:xfrm>
          <a:prstGeom prst="rect">
            <a:avLst/>
          </a:prstGeom>
          <a:noFill/>
        </p:spPr>
        <p:txBody>
          <a:bodyPr wrap="none" rtlCol="0">
            <a:spAutoFit/>
          </a:bodyPr>
          <a:lstStyle/>
          <a:p>
            <a:pPr>
              <a:defRPr/>
            </a:pPr>
            <a:r>
              <a:rPr lang="en-US" sz="1600" b="1">
                <a:solidFill>
                  <a:schemeClr val="tx2"/>
                </a:solidFill>
                <a:latin typeface="+mj-lt"/>
              </a:rPr>
              <a:t>Agents as state machines</a:t>
            </a:r>
            <a:endParaRPr/>
          </a:p>
        </p:txBody>
      </p:sp>
      <p:sp>
        <p:nvSpPr>
          <p:cNvPr id="349348324" name="TextBox 8"/>
          <p:cNvSpPr txBox="1"/>
          <p:nvPr/>
        </p:nvSpPr>
        <p:spPr bwMode="auto">
          <a:xfrm>
            <a:off x="1259524" y="2679943"/>
            <a:ext cx="5074272" cy="338554"/>
          </a:xfrm>
          <a:prstGeom prst="rect">
            <a:avLst/>
          </a:prstGeom>
          <a:noFill/>
        </p:spPr>
        <p:txBody>
          <a:bodyPr wrap="none" rtlCol="0">
            <a:spAutoFit/>
          </a:bodyPr>
          <a:lstStyle/>
          <a:p>
            <a:pPr>
              <a:defRPr/>
            </a:pPr>
            <a:r>
              <a:rPr lang="en-US" sz="1600" b="1">
                <a:solidFill>
                  <a:schemeClr val="tx2"/>
                </a:solidFill>
                <a:latin typeface="+mj-lt"/>
              </a:rPr>
              <a:t>State, records and reducers</a:t>
            </a:r>
            <a:endParaRPr/>
          </a:p>
        </p:txBody>
      </p:sp>
      <p:sp>
        <p:nvSpPr>
          <p:cNvPr id="966109260" name="TextBox 11"/>
          <p:cNvSpPr txBox="1"/>
          <p:nvPr/>
        </p:nvSpPr>
        <p:spPr bwMode="auto">
          <a:xfrm>
            <a:off x="1259524" y="3743778"/>
            <a:ext cx="5074272" cy="338554"/>
          </a:xfrm>
          <a:prstGeom prst="rect">
            <a:avLst/>
          </a:prstGeom>
          <a:noFill/>
        </p:spPr>
        <p:txBody>
          <a:bodyPr wrap="none" rtlCol="0">
            <a:spAutoFit/>
          </a:bodyPr>
          <a:lstStyle/>
          <a:p>
            <a:pPr>
              <a:defRPr/>
            </a:pPr>
            <a:r>
              <a:rPr lang="en-US" sz="1600" b="1">
                <a:solidFill>
                  <a:schemeClr val="tx2"/>
                </a:solidFill>
                <a:latin typeface="Aptos"/>
              </a:rPr>
              <a:t>Scheduling and tool execution</a:t>
            </a:r>
            <a:endParaRPr/>
          </a:p>
        </p:txBody>
      </p:sp>
      <p:sp>
        <p:nvSpPr>
          <p:cNvPr id="2069908494" name="TextBox 10"/>
          <p:cNvSpPr txBox="1"/>
          <p:nvPr/>
        </p:nvSpPr>
        <p:spPr bwMode="auto">
          <a:xfrm>
            <a:off x="1259524" y="3210082"/>
            <a:ext cx="5074272" cy="338554"/>
          </a:xfrm>
          <a:prstGeom prst="rect">
            <a:avLst/>
          </a:prstGeom>
          <a:noFill/>
        </p:spPr>
        <p:txBody>
          <a:bodyPr wrap="none" rtlCol="0">
            <a:spAutoFit/>
          </a:bodyPr>
          <a:lstStyle/>
          <a:p>
            <a:pPr>
              <a:defRPr/>
            </a:pPr>
            <a:r>
              <a:rPr lang="en-US" sz="1600" b="1">
                <a:solidFill>
                  <a:schemeClr val="tx2"/>
                </a:solidFill>
                <a:latin typeface="+mj-lt"/>
              </a:rPr>
              <a:t>Routing, feedback and stopping</a:t>
            </a:r>
            <a:endParaRPr lang="en-US" sz="1600" i="1">
              <a:solidFill>
                <a:schemeClr val="tx2"/>
              </a:solidFill>
              <a:latin typeface="+mj-lt"/>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6224859" name="TextBox 2"/>
          <p:cNvSpPr txBox="1"/>
          <p:nvPr/>
        </p:nvSpPr>
        <p:spPr bwMode="auto">
          <a:xfrm>
            <a:off x="929000" y="265338"/>
            <a:ext cx="5000000" cy="1323439"/>
          </a:xfrm>
          <a:prstGeom prst="rect">
            <a:avLst/>
          </a:prstGeom>
          <a:noFill/>
        </p:spPr>
        <p:txBody>
          <a:bodyPr wrap="square" anchor="ctr">
            <a:spAutoFit/>
          </a:bodyPr>
          <a:lstStyle/>
          <a:p>
            <a:pPr algn="ctr">
              <a:defRPr/>
            </a:pPr>
            <a:r>
              <a:rPr lang="en-US" sz="4000" b="1">
                <a:solidFill>
                  <a:schemeClr val="bg1"/>
                </a:solidFill>
                <a:latin typeface="+mj-lt"/>
              </a:rPr>
              <a:t>Agents as state machines</a:t>
            </a:r>
            <a:endParaRPr sz="4000" b="1">
              <a:solidFill>
                <a:schemeClr val="bg1"/>
              </a:solidFill>
              <a:latin typeface="+mj-lt"/>
            </a:endParaRPr>
          </a:p>
        </p:txBody>
      </p:sp>
      <p:cxnSp>
        <p:nvCxnSpPr>
          <p:cNvPr id="2073315556" name="Straight Arrow Connector 3"/>
          <p:cNvCxnSpPr/>
          <p:nvPr/>
        </p:nvCxnSpPr>
        <p:spPr bwMode="auto">
          <a:xfrm>
            <a:off x="1063835" y="2018156"/>
            <a:ext cx="0" cy="21608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356919212" name="Oval 7"/>
          <p:cNvSpPr/>
          <p:nvPr/>
        </p:nvSpPr>
        <p:spPr bwMode="auto">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53395212" name="Oval 4"/>
          <p:cNvSpPr/>
          <p:nvPr/>
        </p:nvSpPr>
        <p:spPr bwMode="auto">
          <a:xfrm>
            <a:off x="951758" y="27217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7668665" name="Oval 5"/>
          <p:cNvSpPr/>
          <p:nvPr/>
        </p:nvSpPr>
        <p:spPr bwMode="auto">
          <a:xfrm>
            <a:off x="951758" y="32554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72624904" name="Oval 6"/>
          <p:cNvSpPr/>
          <p:nvPr/>
        </p:nvSpPr>
        <p:spPr bwMode="auto">
          <a:xfrm>
            <a:off x="951758" y="37855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093182799" name="TextBox 12"/>
          <p:cNvSpPr txBox="1"/>
          <p:nvPr/>
        </p:nvSpPr>
        <p:spPr bwMode="auto">
          <a:xfrm>
            <a:off x="1259524" y="2146243"/>
            <a:ext cx="5074272" cy="338554"/>
          </a:xfrm>
          <a:prstGeom prst="rect">
            <a:avLst/>
          </a:prstGeom>
          <a:noFill/>
        </p:spPr>
        <p:txBody>
          <a:bodyPr wrap="none" rtlCol="0">
            <a:spAutoFit/>
          </a:bodyPr>
          <a:lstStyle/>
          <a:p>
            <a:pPr>
              <a:defRPr/>
            </a:pPr>
            <a:r>
              <a:rPr lang="en-US" sz="1600" b="1">
                <a:solidFill>
                  <a:schemeClr val="tx2"/>
                </a:solidFill>
                <a:latin typeface="+mj-lt"/>
              </a:rPr>
              <a:t>Agents as state machines</a:t>
            </a:r>
            <a:endParaRPr/>
          </a:p>
        </p:txBody>
      </p:sp>
      <p:sp>
        <p:nvSpPr>
          <p:cNvPr id="603212734" name="TextBox 8"/>
          <p:cNvSpPr txBox="1"/>
          <p:nvPr/>
        </p:nvSpPr>
        <p:spPr bwMode="auto">
          <a:xfrm>
            <a:off x="1259524" y="2679943"/>
            <a:ext cx="5074272" cy="338554"/>
          </a:xfrm>
          <a:prstGeom prst="rect">
            <a:avLst/>
          </a:prstGeom>
          <a:noFill/>
        </p:spPr>
        <p:txBody>
          <a:bodyPr wrap="none" rtlCol="0">
            <a:spAutoFit/>
          </a:bodyPr>
          <a:lstStyle/>
          <a:p>
            <a:pPr>
              <a:defRPr/>
            </a:pPr>
            <a:r>
              <a:rPr lang="en-US" sz="1600" b="1">
                <a:solidFill>
                  <a:schemeClr val="tx2">
                    <a:lumMod val="55000"/>
                  </a:schemeClr>
                </a:solidFill>
                <a:latin typeface="+mj-lt"/>
              </a:rPr>
              <a:t>State, records and reducers</a:t>
            </a:r>
            <a:endParaRPr/>
          </a:p>
        </p:txBody>
      </p:sp>
      <p:sp>
        <p:nvSpPr>
          <p:cNvPr id="1080005965" name="TextBox 11"/>
          <p:cNvSpPr txBox="1"/>
          <p:nvPr/>
        </p:nvSpPr>
        <p:spPr bwMode="auto">
          <a:xfrm>
            <a:off x="1259524" y="3743778"/>
            <a:ext cx="5074272" cy="338554"/>
          </a:xfrm>
          <a:prstGeom prst="rect">
            <a:avLst/>
          </a:prstGeom>
          <a:noFill/>
        </p:spPr>
        <p:txBody>
          <a:bodyPr wrap="none" rtlCol="0">
            <a:spAutoFit/>
          </a:bodyPr>
          <a:lstStyle/>
          <a:p>
            <a:pPr>
              <a:defRPr/>
            </a:pPr>
            <a:r>
              <a:rPr lang="en-US" sz="1600" b="1">
                <a:solidFill>
                  <a:schemeClr val="tx2">
                    <a:lumMod val="55000"/>
                  </a:schemeClr>
                </a:solidFill>
                <a:latin typeface="Aptos"/>
              </a:rPr>
              <a:t>Scheduling and tool execution</a:t>
            </a:r>
            <a:endParaRPr/>
          </a:p>
        </p:txBody>
      </p:sp>
      <p:sp>
        <p:nvSpPr>
          <p:cNvPr id="116341435" name="TextBox 10"/>
          <p:cNvSpPr txBox="1"/>
          <p:nvPr/>
        </p:nvSpPr>
        <p:spPr bwMode="auto">
          <a:xfrm>
            <a:off x="1259524" y="3210082"/>
            <a:ext cx="5074272" cy="338554"/>
          </a:xfrm>
          <a:prstGeom prst="rect">
            <a:avLst/>
          </a:prstGeom>
          <a:noFill/>
        </p:spPr>
        <p:txBody>
          <a:bodyPr wrap="none" rtlCol="0">
            <a:spAutoFit/>
          </a:bodyPr>
          <a:lstStyle/>
          <a:p>
            <a:pPr>
              <a:defRPr/>
            </a:pPr>
            <a:r>
              <a:rPr lang="en-US" sz="1600" b="1">
                <a:solidFill>
                  <a:schemeClr val="tx2">
                    <a:lumMod val="55000"/>
                  </a:schemeClr>
                </a:solidFill>
                <a:latin typeface="+mj-lt"/>
              </a:rPr>
              <a:t>Routing, feedback and stopping</a:t>
            </a:r>
            <a:endParaRPr lang="en-US" sz="1600" i="1">
              <a:solidFill>
                <a:schemeClr val="tx2"/>
              </a:solidFill>
              <a:latin typeface="+mj-lt"/>
            </a:endParaRPr>
          </a:p>
        </p:txBody>
      </p:sp>
      <p:pic>
        <p:nvPicPr>
          <p:cNvPr id="695933486" name="Picture 13"/>
          <p:cNvPicPr>
            <a:picLocks noChangeAspect="1"/>
          </p:cNvPicPr>
          <p:nvPr/>
        </p:nvPicPr>
        <p:blipFill rotWithShape="1">
          <a:blip r:embed="rId3">
            <a:alphaModFix amt="70000"/>
          </a:blip>
          <a:stretch/>
        </p:blipFill>
        <p:spPr bwMode="auto">
          <a:xfrm>
            <a:off x="825474" y="2424483"/>
            <a:ext cx="5732295" cy="189013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01605511" name="Title 1"/>
          <p:cNvSpPr>
            <a:spLocks noGrp="1"/>
          </p:cNvSpPr>
          <p:nvPr>
            <p:ph type="title"/>
          </p:nvPr>
        </p:nvSpPr>
        <p:spPr bwMode="auto"/>
        <p:txBody>
          <a:bodyPr/>
          <a:lstStyle/>
          <a:p>
            <a:pPr>
              <a:defRPr/>
            </a:pPr>
            <a:r>
              <a:rPr/>
              <a:t>A state machine as a description of an agent</a:t>
            </a:r>
            <a:endParaRPr/>
          </a:p>
        </p:txBody>
      </p:sp>
      <p:sp>
        <p:nvSpPr>
          <p:cNvPr id="1054157025" name="Content Placeholder 2"/>
          <p:cNvSpPr>
            <a:spLocks noGrp="1"/>
          </p:cNvSpPr>
          <p:nvPr>
            <p:ph idx="1"/>
          </p:nvPr>
        </p:nvSpPr>
        <p:spPr bwMode="auto">
          <a:xfrm>
            <a:off x="319251" y="700000"/>
            <a:ext cx="6014545" cy="2450000"/>
          </a:xfrm>
        </p:spPr>
        <p:txBody>
          <a:bodyPr wrap="square" anchor="ctr">
            <a:normAutofit fontScale="92500" lnSpcReduction="10000"/>
          </a:bodyPr>
          <a:lstStyle/>
          <a:p>
            <a:pPr marL="0" indent="0">
              <a:buNone/>
              <a:defRPr/>
            </a:pPr>
            <a:r>
              <a:rPr sz="1400" b="1">
                <a:solidFill>
                  <a:srgbClr val="28285E"/>
                </a:solidFill>
              </a:rPr>
              <a:t>An agent runs in discrete steps: model calls, tool calls and checks.</a:t>
            </a:r>
            <a:endParaRPr/>
          </a:p>
          <a:p>
            <a:pPr marL="400050" indent="-285750">
              <a:spcBef>
                <a:spcPts val="600"/>
              </a:spcBef>
              <a:spcAft>
                <a:spcPts val="600"/>
              </a:spcAft>
              <a:buClr>
                <a:srgbClr val="28285E"/>
              </a:buClr>
              <a:buSzPts val="1260"/>
              <a:buFont typeface="+mn-lt"/>
              <a:buChar char="●"/>
              <a:defRPr/>
            </a:pPr>
            <a:r>
              <a:rPr sz="1400" b="1">
                <a:solidFill>
                  <a:schemeClr val="tx1"/>
                </a:solidFill>
              </a:rPr>
              <a:t>Between steps,</a:t>
            </a:r>
            <a:r>
              <a:rPr sz="1400" b="0">
                <a:solidFill>
                  <a:schemeClr val="tx1"/>
                </a:solidFill>
              </a:rPr>
              <a:t> the agent retains information. The program decides which stored values may change and which computation may run next.</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initial configuration</a:t>
            </a:r>
            <a:r>
              <a:rPr sz="1400" b="0">
                <a:solidFill>
                  <a:schemeClr val="tx1"/>
                </a:solidFill>
              </a:rPr>
              <a:t> describes how the agent starts. A transition rule specifies how its state changes in response to an input and what output it produces.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terminal configuration</a:t>
            </a:r>
            <a:r>
              <a:rPr sz="1400" b="0">
                <a:solidFill>
                  <a:schemeClr val="tx1"/>
                </a:solidFill>
              </a:rPr>
              <a:t> is one from which the runtime schedules no further step. It marks the end of the run.</a:t>
            </a:r>
            <a:endParaRPr/>
          </a:p>
        </p:txBody>
      </p:sp>
      <p:sp>
        <p:nvSpPr>
          <p:cNvPr id="1193708920" name="Rectangle 3"/>
          <p:cNvSpPr/>
          <p:nvPr/>
        </p:nvSpPr>
        <p:spPr bwMode="auto">
          <a:xfrm>
            <a:off x="319250" y="3150000"/>
            <a:ext cx="6014545" cy="8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state machine is a simplified description of an agent. It omits the prompts, the model and the tool code.</a:t>
            </a:r>
            <a:endParaRPr/>
          </a:p>
        </p:txBody>
      </p:sp>
      <p:sp>
        <p:nvSpPr>
          <p:cNvPr id="967158608" name="Rectangle 4"/>
          <p:cNvSpPr/>
          <p:nvPr/>
        </p:nvSpPr>
        <p:spPr bwMode="auto">
          <a:xfrm>
            <a:off x="319250" y="4201860"/>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This description lets us examine execution without describing the whole program.</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3521874" name="Title 1"/>
          <p:cNvSpPr>
            <a:spLocks noGrp="1"/>
          </p:cNvSpPr>
          <p:nvPr>
            <p:ph type="title"/>
          </p:nvPr>
        </p:nvSpPr>
        <p:spPr bwMode="auto"/>
        <p:txBody>
          <a:bodyPr/>
          <a:lstStyle/>
          <a:p>
            <a:pPr>
              <a:defRPr/>
            </a:pPr>
            <a:r>
              <a:rPr/>
              <a:t>The planning agent's control locations</a:t>
            </a:r>
            <a:endParaRPr/>
          </a:p>
        </p:txBody>
      </p:sp>
      <p:sp>
        <p:nvSpPr>
          <p:cNvPr id="198000567" name="Content Placeholder 2"/>
          <p:cNvSpPr>
            <a:spLocks noGrp="1"/>
          </p:cNvSpPr>
          <p:nvPr>
            <p:ph idx="1"/>
          </p:nvPr>
        </p:nvSpPr>
        <p:spPr bwMode="auto">
          <a:xfrm>
            <a:off x="319251" y="700000"/>
            <a:ext cx="6014545" cy="450000"/>
          </a:xfrm>
        </p:spPr>
        <p:txBody>
          <a:bodyPr wrap="square" anchor="ctr">
            <a:normAutofit fontScale="77500" lnSpcReduction="20000"/>
          </a:bodyPr>
          <a:lstStyle/>
          <a:p>
            <a:pPr marL="0" indent="0">
              <a:buNone/>
              <a:defRPr/>
            </a:pPr>
            <a:r>
              <a:rPr sz="1400" b="1">
                <a:solidFill>
                  <a:srgbClr val="28285E"/>
                </a:solidFill>
              </a:rPr>
              <a:t>A control location names the computation to run next or marks the end of the run. Nodes show locations, and arrows show allowed transitions.</a:t>
            </a:r>
            <a:endParaRPr/>
          </a:p>
        </p:txBody>
      </p:sp>
      <p:pic>
        <p:nvPicPr>
          <p:cNvPr id="1809309645" name="Figure efsm-skeleton" descr="efsm-skeleton.png"/>
          <p:cNvPicPr>
            <a:picLocks noChangeAspect="1"/>
          </p:cNvPicPr>
          <p:nvPr/>
        </p:nvPicPr>
        <p:blipFill rotWithShape="1">
          <a:blip r:embed="rId3"/>
          <a:stretch/>
        </p:blipFill>
        <p:spPr bwMode="auto">
          <a:xfrm>
            <a:off x="250148" y="1240000"/>
            <a:ext cx="6152752" cy="2417281"/>
          </a:xfrm>
          <a:prstGeom prst="rect">
            <a:avLst/>
          </a:prstGeom>
        </p:spPr>
      </p:pic>
      <p:sp>
        <p:nvSpPr>
          <p:cNvPr id="556145172" name="Rectangle 4"/>
          <p:cNvSpPr/>
          <p:nvPr/>
        </p:nvSpPr>
        <p:spPr bwMode="auto">
          <a:xfrm>
            <a:off x="319251" y="3858622"/>
            <a:ext cx="6014545" cy="54430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Blue nodes call a model. Grey nodes run tools or checks.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8470233" name="Title 1"/>
          <p:cNvSpPr>
            <a:spLocks noGrp="1"/>
          </p:cNvSpPr>
          <p:nvPr>
            <p:ph type="title"/>
          </p:nvPr>
        </p:nvSpPr>
        <p:spPr bwMode="auto"/>
        <p:txBody>
          <a:bodyPr/>
          <a:lstStyle/>
          <a:p>
            <a:pPr>
              <a:defRPr/>
            </a:pPr>
            <a:r>
              <a:rPr/>
              <a:t>State: what the agent keeps between steps</a:t>
            </a:r>
            <a:endParaRPr/>
          </a:p>
        </p:txBody>
      </p:sp>
      <p:sp>
        <p:nvSpPr>
          <p:cNvPr id="1087231582" name="Content Placeholder 2"/>
          <p:cNvSpPr>
            <a:spLocks noGrp="1"/>
          </p:cNvSpPr>
          <p:nvPr>
            <p:ph idx="1"/>
          </p:nvPr>
        </p:nvSpPr>
        <p:spPr bwMode="auto">
          <a:xfrm>
            <a:off x="319251" y="700000"/>
            <a:ext cx="6014545" cy="1950000"/>
          </a:xfrm>
        </p:spPr>
        <p:txBody>
          <a:bodyPr wrap="square" anchor="ctr">
            <a:normAutofit fontScale="92500" lnSpcReduction="20000"/>
          </a:bodyPr>
          <a:lstStyle/>
          <a:p>
            <a:pPr marL="0" indent="0">
              <a:buNone/>
              <a:defRPr/>
            </a:pPr>
            <a:r>
              <a:rPr sz="1400" b="1">
                <a:solidFill>
                  <a:srgbClr val="28285E"/>
                </a:solidFill>
              </a:rPr>
              <a:t>An agent runs in discrete steps. Between two steps, some information persists.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controller</a:t>
            </a:r>
            <a:r>
              <a:rPr sz="1400" b="0">
                <a:solidFill>
                  <a:schemeClr val="tx1"/>
                </a:solidFill>
              </a:rPr>
              <a:t> uses its instructions and earlier observations to choose an action. The runtime uses the call count to decide whether another model call is allowed.</a:t>
            </a:r>
            <a:endParaRPr/>
          </a:p>
          <a:p>
            <a:pPr marL="400050" indent="-285750">
              <a:spcBef>
                <a:spcPts val="600"/>
              </a:spcBef>
              <a:spcAft>
                <a:spcPts val="600"/>
              </a:spcAft>
              <a:buClr>
                <a:srgbClr val="28285E"/>
              </a:buClr>
              <a:buSzPts val="1260"/>
              <a:buFont typeface="+mn-lt"/>
              <a:buChar char="●"/>
              <a:defRPr/>
            </a:pPr>
            <a:r>
              <a:rPr sz="1400" b="1">
                <a:solidFill>
                  <a:schemeClr val="tx1"/>
                </a:solidFill>
              </a:rPr>
              <a:t>Two visits to the controller </a:t>
            </a:r>
            <a:r>
              <a:rPr sz="1400" b="0">
                <a:solidFill>
                  <a:schemeClr val="tx1"/>
                </a:solidFill>
              </a:rPr>
              <a:t>can therefore lead to different next steps, because the retained data differ.</a:t>
            </a:r>
            <a:endParaRPr/>
          </a:p>
        </p:txBody>
      </p:sp>
      <p:pic>
        <p:nvPicPr>
          <p:cNvPr id="948068160" name="Figure step-state" descr="step-state.png"/>
          <p:cNvPicPr>
            <a:picLocks noChangeAspect="1"/>
          </p:cNvPicPr>
          <p:nvPr/>
        </p:nvPicPr>
        <p:blipFill rotWithShape="1">
          <a:blip r:embed="rId3"/>
          <a:stretch/>
        </p:blipFill>
        <p:spPr bwMode="auto">
          <a:xfrm>
            <a:off x="826524" y="2840000"/>
            <a:ext cx="5000000" cy="1084905"/>
          </a:xfrm>
          <a:prstGeom prst="rect">
            <a:avLst/>
          </a:prstGeom>
        </p:spPr>
      </p:pic>
      <p:sp>
        <p:nvSpPr>
          <p:cNvPr id="436214549" name="Rectangle 4"/>
          <p:cNvSpPr/>
          <p:nvPr/>
        </p:nvSpPr>
        <p:spPr bwMode="auto">
          <a:xfrm>
            <a:off x="319251" y="4114905"/>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State is the information retained between steps that can affect what the agent does next.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7676946" name="Title 1"/>
          <p:cNvSpPr>
            <a:spLocks noGrp="1"/>
          </p:cNvSpPr>
          <p:nvPr>
            <p:ph type="title"/>
          </p:nvPr>
        </p:nvSpPr>
        <p:spPr bwMode="auto"/>
        <p:txBody>
          <a:bodyPr/>
          <a:lstStyle/>
          <a:p>
            <a:pPr>
              <a:defRPr/>
            </a:pPr>
            <a:r>
              <a:rPr/>
              <a:t>Inputs: what arrives during a step</a:t>
            </a:r>
            <a:endParaRPr/>
          </a:p>
        </p:txBody>
      </p:sp>
      <p:sp>
        <p:nvSpPr>
          <p:cNvPr id="1163171430" name="Content Placeholder 2"/>
          <p:cNvSpPr>
            <a:spLocks noGrp="1"/>
          </p:cNvSpPr>
          <p:nvPr>
            <p:ph idx="1"/>
          </p:nvPr>
        </p:nvSpPr>
        <p:spPr bwMode="auto">
          <a:xfrm>
            <a:off x="319251" y="700000"/>
            <a:ext cx="6014545" cy="1932880"/>
          </a:xfrm>
        </p:spPr>
        <p:txBody>
          <a:bodyPr wrap="square" anchor="ctr">
            <a:normAutofit fontScale="92500"/>
          </a:bodyPr>
          <a:lstStyle/>
          <a:p>
            <a:pPr marL="0" indent="0">
              <a:buNone/>
              <a:defRPr/>
            </a:pPr>
            <a:r>
              <a:rPr sz="1400" b="1">
                <a:solidFill>
                  <a:srgbClr val="28285E"/>
                </a:solidFill>
              </a:rPr>
              <a:t>The runtime receives model replies and tool results during a step. Its stored state alone does not determine those results.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model reply is an input. </a:t>
            </a:r>
            <a:r>
              <a:rPr sz="1400" b="0">
                <a:solidFill>
                  <a:schemeClr val="tx1"/>
                </a:solidFill>
              </a:rPr>
              <a:t>The same state can receive a different reply next time.</a:t>
            </a:r>
            <a:endParaRPr/>
          </a:p>
          <a:p>
            <a:pPr marL="400050" indent="-285750">
              <a:spcBef>
                <a:spcPts val="600"/>
              </a:spcBef>
              <a:spcAft>
                <a:spcPts val="600"/>
              </a:spcAft>
              <a:buClr>
                <a:srgbClr val="28285E"/>
              </a:buClr>
              <a:buSzPts val="1260"/>
              <a:buFont typeface="+mn-lt"/>
              <a:buChar char="●"/>
              <a:defRPr/>
            </a:pPr>
            <a:r>
              <a:rPr sz="1400" b="1">
                <a:solidFill>
                  <a:schemeClr val="tx1"/>
                </a:solidFill>
              </a:rPr>
              <a:t>Workspace files</a:t>
            </a:r>
            <a:r>
              <a:rPr sz="1400" b="0">
                <a:solidFill>
                  <a:schemeClr val="tx1"/>
                </a:solidFill>
              </a:rPr>
              <a:t> are outside the state in this description. A tool's report about those files enters the state machine as an input observation.</a:t>
            </a:r>
            <a:endParaRPr/>
          </a:p>
        </p:txBody>
      </p:sp>
      <p:pic>
        <p:nvPicPr>
          <p:cNvPr id="673209191" name="Figure step-input" descr="step-input.png"/>
          <p:cNvPicPr>
            <a:picLocks noChangeAspect="1"/>
          </p:cNvPicPr>
          <p:nvPr/>
        </p:nvPicPr>
        <p:blipFill rotWithShape="1">
          <a:blip r:embed="rId3"/>
          <a:stretch/>
        </p:blipFill>
        <p:spPr bwMode="auto">
          <a:xfrm>
            <a:off x="626524" y="2822880"/>
            <a:ext cx="5400000" cy="1082888"/>
          </a:xfrm>
          <a:prstGeom prst="rect">
            <a:avLst/>
          </a:prstGeom>
        </p:spPr>
      </p:pic>
      <p:sp>
        <p:nvSpPr>
          <p:cNvPr id="499324927" name="Rectangle 4"/>
          <p:cNvSpPr/>
          <p:nvPr/>
        </p:nvSpPr>
        <p:spPr bwMode="auto">
          <a:xfrm>
            <a:off x="319251" y="4095768"/>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State determines which transitions are permitted. It does not determine which result arrives.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7201479" name="Title 1"/>
          <p:cNvSpPr>
            <a:spLocks noGrp="1"/>
          </p:cNvSpPr>
          <p:nvPr>
            <p:ph type="title"/>
          </p:nvPr>
        </p:nvSpPr>
        <p:spPr bwMode="auto"/>
        <p:txBody>
          <a:bodyPr/>
          <a:lstStyle/>
          <a:p>
            <a:pPr>
              <a:defRPr/>
            </a:pPr>
            <a:r>
              <a:rPr/>
              <a:t>Determinism: two ways to treat the reply</a:t>
            </a:r>
            <a:endParaRPr/>
          </a:p>
        </p:txBody>
      </p:sp>
      <p:sp>
        <p:nvSpPr>
          <p:cNvPr id="1884892835" name="Content Placeholder 2"/>
          <p:cNvSpPr>
            <a:spLocks noGrp="1"/>
          </p:cNvSpPr>
          <p:nvPr>
            <p:ph idx="1"/>
          </p:nvPr>
        </p:nvSpPr>
        <p:spPr bwMode="auto">
          <a:xfrm>
            <a:off x="319251" y="700000"/>
            <a:ext cx="6014545" cy="731648"/>
          </a:xfrm>
        </p:spPr>
        <p:txBody>
          <a:bodyPr wrap="square" anchor="ctr">
            <a:normAutofit fontScale="85000" lnSpcReduction="10000"/>
          </a:bodyPr>
          <a:lstStyle/>
          <a:p>
            <a:pPr marL="0" indent="0">
              <a:buNone/>
              <a:defRPr/>
            </a:pPr>
            <a:r>
              <a:rPr sz="1400" b="1">
                <a:solidFill>
                  <a:srgbClr val="28285E"/>
                </a:solidFill>
              </a:rPr>
              <a:t>We can treat the model's reply as an input supplied to the machine, or represent the model choosing among possible replies during a transition.</a:t>
            </a:r>
            <a:endParaRPr/>
          </a:p>
        </p:txBody>
      </p:sp>
      <p:graphicFrame>
        <p:nvGraphicFramePr>
          <p:cNvPr id="1432733003" name="Table 3"/>
          <p:cNvGraphicFramePr>
            <a:graphicFrameLocks xmlns:a="http://schemas.openxmlformats.org/drawingml/2006/main" noGrp="1"/>
          </p:cNvGraphicFramePr>
          <p:nvPr/>
        </p:nvGraphicFramePr>
        <p:xfrm rot="0">
          <a:off x="319251" y="1521648"/>
          <a:ext cx="6014545" cy="2860320"/>
        </p:xfrm>
        <a:graphic>
          <a:graphicData uri="http://schemas.openxmlformats.org/drawingml/2006/table">
            <a:tbl>
              <a:tblPr firstRow="1" firstCol="0" lastRow="0" lastCol="0" bandRow="1" bandCol="0">
                <a:tableStyleId>{5C22544A-7EE6-4342-B048-85BDC9FD1C3A}</a:tableStyleId>
              </a:tblPr>
              <a:tblGrid>
                <a:gridCol w="1150000"/>
                <a:gridCol w="2432272"/>
                <a:gridCol w="2432273"/>
              </a:tblGrid>
              <a:tr h="300000">
                <a:tc>
                  <a:txBody>
                    <a:bodyPr/>
                    <a:p>
                      <a:pPr>
                        <a:buNone/>
                        <a:defRPr/>
                      </a:pPr>
                      <a:endParaRPr/>
                    </a:p>
                  </a:txBody>
                  <a:tcPr marL="95250" marR="95250" marT="47625" marB="47625">
                    <a:lnB w="12700" algn="ctr">
                      <a:solidFill>
                        <a:schemeClr val="tx1"/>
                      </a:solidFill>
                    </a:lnB>
                    <a:noFill/>
                  </a:tcPr>
                </a:tc>
                <a:tc>
                  <a:txBody>
                    <a:bodyPr/>
                    <a:p>
                      <a:pPr>
                        <a:buNone/>
                        <a:defRPr/>
                      </a:pPr>
                      <a:r>
                        <a:rPr sz="1100" b="1">
                          <a:solidFill>
                            <a:schemeClr val="tx1"/>
                          </a:solidFill>
                        </a:rPr>
                        <a:t>The reply is an input</a:t>
                      </a:r>
                      <a:endParaRPr/>
                    </a:p>
                  </a:txBody>
                  <a:tcPr marL="95250" marR="95250" marT="47625" marB="47625">
                    <a:lnB w="12700" algn="ctr">
                      <a:solidFill>
                        <a:schemeClr val="tx1"/>
                      </a:solidFill>
                    </a:lnB>
                    <a:noFill/>
                  </a:tcPr>
                </a:tc>
                <a:tc>
                  <a:txBody>
                    <a:bodyPr/>
                    <a:p>
                      <a:pPr>
                        <a:buNone/>
                        <a:defRPr/>
                      </a:pPr>
                      <a:r>
                        <a:rPr sz="1100" b="1">
                          <a:solidFill>
                            <a:schemeClr val="tx1"/>
                          </a:solidFill>
                        </a:rPr>
                        <a:t>The reply is an internal choice</a:t>
                      </a:r>
                      <a:endParaRPr/>
                    </a:p>
                  </a:txBody>
                  <a:tcPr marL="95250" marR="95250" marT="47625" marB="47625">
                    <a:lnB w="12700" algn="ctr">
                      <a:solidFill>
                        <a:schemeClr val="tx1"/>
                      </a:solidFill>
                    </a:lnB>
                    <a:noFill/>
                  </a:tcPr>
                </a:tc>
              </a:tr>
              <a:tr h="0">
                <a:tc>
                  <a:txBody>
                    <a:bodyPr/>
                    <a:p>
                      <a:pPr>
                        <a:buNone/>
                        <a:defRPr/>
                      </a:pPr>
                      <a:r>
                        <a:rPr sz="1100" b="1">
                          <a:solidFill>
                            <a:srgbClr val="28285E"/>
                          </a:solidFill>
                        </a:rPr>
                        <a:t>A model reply</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We supply the model reply as an input to the state machine.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The model chooses the reply during the run. We represent its possible choices without specifying how it chooses.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100" b="1">
                          <a:solidFill>
                            <a:srgbClr val="28285E"/>
                          </a:solidFill>
                        </a:rPr>
                        <a:t>Transitions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Given the stored state and a supplied reply, the transition rule selects exactly one next step.</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Given the stored state alone, either a tool call or a submission may follow the model's reply.</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100" b="1">
                          <a:solidFill>
                            <a:srgbClr val="28285E"/>
                          </a:solidFill>
                        </a:rPr>
                        <a:t>Behaviours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When the supplied inputs are fixed, the run follows one sequence of steps.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Even with the external inputs fixed, the model's possible choices can produce different sequences of steps.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100" b="1">
                          <a:solidFill>
                            <a:srgbClr val="28285E"/>
                          </a:solidFill>
                        </a:rPr>
                        <a:t>Probabilities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This description assigns no probabilities.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This description assigns no probabilities.</a:t>
                      </a:r>
                      <a:endParaRPr/>
                    </a:p>
                  </a:txBody>
                  <a:tcPr marL="95250" marR="95250" marT="47625" marB="47625">
                    <a:lnT w="12700" algn="ctr">
                      <a:solidFill>
                        <a:schemeClr val="tx1"/>
                      </a:solidFill>
                    </a:lnT>
                    <a:lnB w="12700" algn="ctr">
                      <a:solidFill>
                        <a:schemeClr val="tx1"/>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52341531" name="Title 1"/>
          <p:cNvSpPr>
            <a:spLocks noGrp="1"/>
          </p:cNvSpPr>
          <p:nvPr>
            <p:ph type="title"/>
          </p:nvPr>
        </p:nvSpPr>
        <p:spPr bwMode="auto"/>
        <p:txBody>
          <a:bodyPr/>
          <a:lstStyle/>
          <a:p>
            <a:pPr>
              <a:defRPr/>
            </a:pPr>
            <a:r>
              <a:rPr/>
              <a:t>Extended state machines and configurations</a:t>
            </a:r>
            <a:endParaRPr/>
          </a:p>
        </p:txBody>
      </p:sp>
      <p:sp>
        <p:nvSpPr>
          <p:cNvPr id="255392387" name="Content Placeholder 2"/>
          <p:cNvSpPr>
            <a:spLocks noGrp="1"/>
          </p:cNvSpPr>
          <p:nvPr>
            <p:ph idx="1"/>
          </p:nvPr>
        </p:nvSpPr>
        <p:spPr bwMode="auto">
          <a:xfrm>
            <a:off x="319251" y="700000"/>
            <a:ext cx="6014545" cy="450000"/>
          </a:xfrm>
        </p:spPr>
        <p:txBody>
          <a:bodyPr wrap="square" anchor="ctr">
            <a:normAutofit fontScale="92500"/>
          </a:bodyPr>
          <a:lstStyle/>
          <a:p>
            <a:pPr marL="0" indent="0">
              <a:buNone/>
              <a:defRPr/>
            </a:pPr>
            <a:r>
              <a:rPr sz="1400" b="1">
                <a:solidFill>
                  <a:srgbClr val="28285E"/>
                </a:solidFill>
              </a:rPr>
              <a:t>An agent has a small number of control locations and a large amount of data.</a:t>
            </a:r>
            <a:endParaRPr/>
          </a:p>
        </p:txBody>
      </p:sp>
      <p:pic>
        <p:nvPicPr>
          <p:cNvPr id="2086739427" name="Figure location-card" descr="location-card.png"/>
          <p:cNvPicPr>
            <a:picLocks noChangeAspect="1"/>
          </p:cNvPicPr>
          <p:nvPr/>
        </p:nvPicPr>
        <p:blipFill rotWithShape="1">
          <a:blip r:embed="rId3"/>
          <a:stretch/>
        </p:blipFill>
        <p:spPr bwMode="auto">
          <a:xfrm>
            <a:off x="526524" y="1240000"/>
            <a:ext cx="5600000" cy="1922615"/>
          </a:xfrm>
          <a:prstGeom prst="rect">
            <a:avLst/>
          </a:prstGeom>
        </p:spPr>
      </p:pic>
      <p:sp>
        <p:nvSpPr>
          <p:cNvPr id="1653092226" name="Rectangle 4"/>
          <p:cNvSpPr/>
          <p:nvPr/>
        </p:nvSpPr>
        <p:spPr bwMode="auto">
          <a:xfrm>
            <a:off x="319251" y="3252615"/>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An extended state machine has finitely many control locations and variables that store data. A configuration pairs the current location with the current value of every variable.</a:t>
            </a:r>
            <a:endParaRPr/>
          </a:p>
        </p:txBody>
      </p:sp>
      <p:sp>
        <p:nvSpPr>
          <p:cNvPr id="57720137" name="Rectangle 5"/>
          <p:cNvSpPr/>
          <p:nvPr/>
        </p:nvSpPr>
        <p:spPr bwMode="auto">
          <a:xfrm>
            <a:off x="319251" y="4099273"/>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Run </a:t>
            </a:r>
            <a:r>
              <a:rPr sz="1200" b="0">
                <a:solidFill>
                  <a:srgbClr val="28285E"/>
                </a:solidFill>
                <a:latin typeface="Aptos Mono"/>
              </a:rPr>
              <a:t>bc284c6b</a:t>
            </a:r>
            <a:r>
              <a:rPr sz="1200" b="1">
                <a:solidFill>
                  <a:srgbClr val="28285E"/>
                </a:solidFill>
              </a:rPr>
              <a:t> visits the controller five times. Each visit has a different configuration because the stored values have changed.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802653" name="Title 1"/>
          <p:cNvSpPr>
            <a:spLocks noGrp="1"/>
          </p:cNvSpPr>
          <p:nvPr>
            <p:ph type="title"/>
          </p:nvPr>
        </p:nvSpPr>
        <p:spPr bwMode="auto"/>
        <p:txBody>
          <a:bodyPr/>
          <a:lstStyle/>
          <a:p>
            <a:pPr>
              <a:defRPr/>
            </a:pPr>
            <a:r>
              <a:rPr/>
              <a:t>Configurations: finite control, unbounded data</a:t>
            </a:r>
            <a:endParaRPr/>
          </a:p>
        </p:txBody>
      </p:sp>
      <p:sp>
        <p:nvSpPr>
          <p:cNvPr id="1836870461" name="Content Placeholder 2"/>
          <p:cNvSpPr>
            <a:spLocks noGrp="1"/>
          </p:cNvSpPr>
          <p:nvPr>
            <p:ph idx="1"/>
          </p:nvPr>
        </p:nvSpPr>
        <p:spPr bwMode="auto">
          <a:xfrm>
            <a:off x="319251" y="700000"/>
            <a:ext cx="6014545" cy="2450000"/>
          </a:xfrm>
        </p:spPr>
        <p:txBody>
          <a:bodyPr wrap="square" anchor="ctr"/>
          <a:lstStyle/>
          <a:p>
            <a:pPr marL="0" indent="0">
              <a:buNone/>
              <a:defRPr/>
            </a:pPr>
            <a:r>
              <a:rPr sz="1400" b="1">
                <a:solidFill>
                  <a:srgbClr val="28285E"/>
                </a:solidFill>
              </a:rPr>
              <a:t>A graph can have finitely many control locations even when its variables can take infinitely many values.</a:t>
            </a:r>
            <a:endParaRPr/>
          </a:p>
          <a:p>
            <a:pPr marL="400050" indent="-285750">
              <a:spcBef>
                <a:spcPts val="600"/>
              </a:spcBef>
              <a:spcAft>
                <a:spcPts val="600"/>
              </a:spcAft>
              <a:buClr>
                <a:srgbClr val="28285E"/>
              </a:buClr>
              <a:buSzPts val="1260"/>
              <a:buFont typeface="+mn-lt"/>
              <a:buChar char="●"/>
              <a:defRPr/>
            </a:pPr>
            <a:r>
              <a:rPr sz="1400" b="1">
                <a:solidFill>
                  <a:schemeClr val="tx1"/>
                </a:solidFill>
              </a:rPr>
              <a:t>If </a:t>
            </a:r>
            <a:r>
              <a:rPr sz="1400" b="0">
                <a:solidFill>
                  <a:schemeClr val="tx1"/>
                </a:solidFill>
                <a:latin typeface="Aptos Mono"/>
              </a:rPr>
              <a:t>model_calls</a:t>
            </a:r>
            <a:r>
              <a:rPr sz="1400" b="0">
                <a:solidFill>
                  <a:schemeClr val="tx1"/>
                </a:solidFill>
              </a:rPr>
              <a:t> is the only variable and its budget is N, it can hold 0 through N. Each location then has at most N+1 configurations.</a:t>
            </a:r>
            <a:endParaRPr/>
          </a:p>
          <a:p>
            <a:pPr marL="400050" indent="-285750">
              <a:spcBef>
                <a:spcPts val="600"/>
              </a:spcBef>
              <a:spcAft>
                <a:spcPts val="600"/>
              </a:spcAft>
              <a:buClr>
                <a:srgbClr val="28285E"/>
              </a:buClr>
              <a:buSzPts val="1260"/>
              <a:buFont typeface="+mn-lt"/>
              <a:buChar char="●"/>
              <a:defRPr/>
            </a:pPr>
            <a:r>
              <a:rPr sz="1400" b="1">
                <a:solidFill>
                  <a:schemeClr val="tx1"/>
                </a:solidFill>
              </a:rPr>
              <a:t>If a message list</a:t>
            </a:r>
            <a:r>
              <a:rPr sz="1400" b="0">
                <a:solidFill>
                  <a:schemeClr val="tx1"/>
                </a:solidFill>
              </a:rPr>
              <a:t> can grow without a length bound, one control location can have infinitely many configurations.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procedure</a:t>
            </a:r>
            <a:r>
              <a:rPr sz="1400" b="0">
                <a:solidFill>
                  <a:schemeClr val="tx1"/>
                </a:solidFill>
              </a:rPr>
              <a:t> that tries to list every reachable configuration may therefore never finish.</a:t>
            </a:r>
            <a:endParaRPr/>
          </a:p>
        </p:txBody>
      </p:sp>
      <p:sp>
        <p:nvSpPr>
          <p:cNvPr id="1644067501" name="Rectangle 3"/>
          <p:cNvSpPr/>
          <p:nvPr/>
        </p:nvSpPr>
        <p:spPr bwMode="auto">
          <a:xfrm>
            <a:off x="319251" y="334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An extended state machine can have finitely many control locations and infinitely many configurations.</a:t>
            </a:r>
            <a:endParaRPr/>
          </a:p>
        </p:txBody>
      </p:sp>
      <p:sp>
        <p:nvSpPr>
          <p:cNvPr id="1847892309" name="Rectangle 4"/>
          <p:cNvSpPr/>
          <p:nvPr/>
        </p:nvSpPr>
        <p:spPr bwMode="auto">
          <a:xfrm>
            <a:off x="319251" y="4140000"/>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set of control locations and guards remains finite.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9602979" name="Title 1"/>
          <p:cNvSpPr>
            <a:spLocks noGrp="1"/>
          </p:cNvSpPr>
          <p:nvPr>
            <p:ph type="title"/>
          </p:nvPr>
        </p:nvSpPr>
        <p:spPr bwMode="auto"/>
        <p:txBody>
          <a:bodyPr/>
          <a:lstStyle/>
          <a:p>
            <a:pPr>
              <a:defRPr/>
            </a:pPr>
            <a:r>
              <a:rPr/>
              <a:t>Transitions: guard, output action, set action</a:t>
            </a:r>
            <a:endParaRPr/>
          </a:p>
        </p:txBody>
      </p:sp>
      <p:sp>
        <p:nvSpPr>
          <p:cNvPr id="2047017496" name="Content Placeholder 2"/>
          <p:cNvSpPr>
            <a:spLocks noGrp="1"/>
          </p:cNvSpPr>
          <p:nvPr>
            <p:ph idx="1"/>
          </p:nvPr>
        </p:nvSpPr>
        <p:spPr bwMode="auto">
          <a:xfrm>
            <a:off x="319251" y="700000"/>
            <a:ext cx="6014545" cy="500000"/>
          </a:xfrm>
        </p:spPr>
        <p:txBody>
          <a:bodyPr wrap="square" anchor="ctr"/>
          <a:lstStyle/>
          <a:p>
            <a:pPr marL="0" indent="0">
              <a:buNone/>
              <a:defRPr/>
            </a:pPr>
            <a:r>
              <a:rPr sz="1400" b="1">
                <a:solidFill>
                  <a:srgbClr val="28285E"/>
                </a:solidFill>
              </a:rPr>
              <a:t>The guard states when a transition is allowed. Its actions emit output and update variables.</a:t>
            </a:r>
            <a:endParaRPr/>
          </a:p>
        </p:txBody>
      </p:sp>
      <p:pic>
        <p:nvPicPr>
          <p:cNvPr id="991738830" name="Figure one-edge" descr="one-edge.png"/>
          <p:cNvPicPr>
            <a:picLocks noChangeAspect="1"/>
          </p:cNvPicPr>
          <p:nvPr/>
        </p:nvPicPr>
        <p:blipFill rotWithShape="1">
          <a:blip r:embed="rId3"/>
          <a:stretch/>
        </p:blipFill>
        <p:spPr bwMode="auto">
          <a:xfrm>
            <a:off x="1476524" y="1290000"/>
            <a:ext cx="3700000" cy="2205893"/>
          </a:xfrm>
          <a:prstGeom prst="rect">
            <a:avLst/>
          </a:prstGeom>
        </p:spPr>
      </p:pic>
      <p:sp>
        <p:nvSpPr>
          <p:cNvPr id="856177398" name="Shorthand"/>
          <p:cNvSpPr txBox="1"/>
          <p:nvPr/>
        </p:nvSpPr>
        <p:spPr bwMode="auto">
          <a:xfrm>
            <a:off x="1072541" y="3675487"/>
            <a:ext cx="4507965" cy="307777"/>
          </a:xfrm>
          <a:prstGeom prst="rect">
            <a:avLst/>
          </a:prstGeom>
          <a:noFill/>
        </p:spPr>
        <p:txBody>
          <a:bodyPr wrap="none" anchor="ctr">
            <a:spAutoFit/>
          </a:bodyPr>
          <a:lstStyle/>
          <a:p>
            <a:pPr algn="ctr">
              <a:defRPr/>
            </a:pPr>
            <a:r>
              <a:rPr sz="1400">
                <a:solidFill>
                  <a:schemeClr val="tx1"/>
                </a:solidFill>
                <a:latin typeface="Aptos Mono"/>
              </a:rPr>
              <a:t>(q, v)  -- e ; g / out ; set --&gt;  (q', v')</a:t>
            </a:r>
            <a:endParaRPr/>
          </a:p>
        </p:txBody>
      </p:sp>
      <p:sp>
        <p:nvSpPr>
          <p:cNvPr id="1100168874" name="Rectangle 5"/>
          <p:cNvSpPr/>
          <p:nvPr/>
        </p:nvSpPr>
        <p:spPr bwMode="auto">
          <a:xfrm>
            <a:off x="156412" y="4169375"/>
            <a:ext cx="6340224"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At location q with variable values v, input e arrives. If guard g holds, the transition emits out, applies set to the variables and moves to location q' with values v'.</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5513595" name="Title 1"/>
          <p:cNvSpPr>
            <a:spLocks noGrp="1"/>
          </p:cNvSpPr>
          <p:nvPr>
            <p:ph type="title"/>
          </p:nvPr>
        </p:nvSpPr>
        <p:spPr bwMode="auto"/>
        <p:txBody>
          <a:bodyPr/>
          <a:lstStyle/>
          <a:p>
            <a:pPr>
              <a:defRPr/>
            </a:pPr>
            <a:r>
              <a:rPr/>
              <a:t>The elements of a transitio</a:t>
            </a:r>
            <a:r>
              <a:rPr lang="en-US"/>
              <a:t>n (</a:t>
            </a:r>
            <a:r>
              <a:rPr/>
              <a:t>for an agent</a:t>
            </a:r>
            <a:r>
              <a:rPr lang="en-US"/>
              <a:t>)</a:t>
            </a:r>
            <a:endParaRPr/>
          </a:p>
        </p:txBody>
      </p:sp>
      <p:graphicFrame>
        <p:nvGraphicFramePr>
          <p:cNvPr id="362985070" name="Table 2"/>
          <p:cNvGraphicFramePr>
            <a:graphicFrameLocks xmlns:a="http://schemas.openxmlformats.org/drawingml/2006/main" noGrp="1"/>
          </p:cNvGraphicFramePr>
          <p:nvPr/>
        </p:nvGraphicFramePr>
        <p:xfrm rot="0">
          <a:off x="319251" y="700000"/>
          <a:ext cx="6014545" cy="3348000"/>
        </p:xfrm>
        <a:graphic>
          <a:graphicData uri="http://schemas.openxmlformats.org/drawingml/2006/table">
            <a:tbl>
              <a:tblPr firstRow="1" firstCol="0" lastRow="0" lastCol="0" bandRow="1" bandCol="0">
                <a:tableStyleId>{5C22544A-7EE6-4342-B048-85BDC9FD1C3A}</a:tableStyleId>
              </a:tblPr>
              <a:tblGrid>
                <a:gridCol w="1239525"/>
                <a:gridCol w="4775020"/>
              </a:tblGrid>
              <a:tr h="300000">
                <a:tc>
                  <a:txBody>
                    <a:bodyPr/>
                    <a:p>
                      <a:pPr>
                        <a:buNone/>
                        <a:defRPr/>
                      </a:pPr>
                      <a:r>
                        <a:rPr sz="1000" b="1">
                          <a:solidFill>
                            <a:schemeClr val="tx1"/>
                          </a:solidFill>
                        </a:rPr>
                        <a:t>Element</a:t>
                      </a:r>
                      <a:endParaRPr/>
                    </a:p>
                  </a:txBody>
                  <a:tcPr marL="95250" marR="95250" marT="47625" marB="47625">
                    <a:lnB w="12700" algn="ctr">
                      <a:solidFill>
                        <a:schemeClr val="tx1"/>
                      </a:solidFill>
                    </a:lnB>
                    <a:noFill/>
                  </a:tcPr>
                </a:tc>
                <a:tc>
                  <a:txBody>
                    <a:bodyPr/>
                    <a:p>
                      <a:pPr>
                        <a:buNone/>
                        <a:defRPr/>
                      </a:pPr>
                      <a:r>
                        <a:rPr sz="1000" b="1">
                          <a:solidFill>
                            <a:schemeClr val="tx1"/>
                          </a:solidFill>
                        </a:rPr>
                        <a:t>In an agent</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Control location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A control location names the computation ready to run: a model call, tool dispatch or check.</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Variables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Variables hold messages, observations, a plan, counters, check results and a status between steps.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An input is a result received during a step, such as a model reply, tool result or check result.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Guard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A guard is a predicate: a true-or-false test of the variables and input, such as whether the reply requests a tool.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Output action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An output action requests an operation or reports a terminal outcome.</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Set action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A set action updates variables, such as storing a reply, extending observations or incrementing a counter.</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Initial configuration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initial configuration pairs the first control location with starting variable values: opening messages, zero counters, no observations and running status.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Terminal configuration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No further computation is scheduled from a terminal configuration. The state stores the reason for ending.</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605697415" name="Rectangle 3"/>
          <p:cNvSpPr/>
          <p:nvPr/>
        </p:nvSpPr>
        <p:spPr bwMode="auto">
          <a:xfrm>
            <a:off x="1888761" y="4250000"/>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0">
                <a:solidFill>
                  <a:schemeClr val="tx2"/>
                </a:solidFill>
              </a:rPr>
              <a:t>Table 1 in the lecture notes gives each element its </a:t>
            </a:r>
            <a:r>
              <a:rPr sz="1200" b="1">
                <a:solidFill>
                  <a:schemeClr val="tx2"/>
                </a:solidFill>
              </a:rPr>
              <a:t>symbol</a:t>
            </a:r>
            <a:r>
              <a:rPr sz="1200" b="0">
                <a:solidFill>
                  <a:schemeClr val="tx2"/>
                </a:solidFill>
              </a:rPr>
              <a: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09421519" name="Title 1"/>
          <p:cNvSpPr>
            <a:spLocks noGrp="1"/>
          </p:cNvSpPr>
          <p:nvPr>
            <p:ph type="title"/>
          </p:nvPr>
        </p:nvSpPr>
        <p:spPr bwMode="auto"/>
        <p:txBody>
          <a:bodyPr/>
          <a:lstStyle/>
          <a:p>
            <a:pPr>
              <a:defRPr/>
            </a:pPr>
            <a:r>
              <a:rPr/>
              <a:t>One transition in code: controller to tools</a:t>
            </a:r>
            <a:endParaRPr/>
          </a:p>
        </p:txBody>
      </p:sp>
      <p:pic>
        <p:nvPicPr>
          <p:cNvPr id="1302051675" name="Figure one-edge-controller" descr="image.png"/>
          <p:cNvPicPr>
            <a:picLocks noChangeAspect="1"/>
          </p:cNvPicPr>
          <p:nvPr/>
        </p:nvPicPr>
        <p:blipFill rotWithShape="1">
          <a:blip r:embed="rId3"/>
          <a:stretch/>
        </p:blipFill>
        <p:spPr bwMode="auto">
          <a:xfrm>
            <a:off x="250148" y="720000"/>
            <a:ext cx="6152752" cy="512388"/>
          </a:xfrm>
          <a:prstGeom prst="rect">
            <a:avLst/>
          </a:prstGeom>
        </p:spPr>
      </p:pic>
      <p:sp>
        <p:nvSpPr>
          <p:cNvPr id="379309066" name="TextBox 3"/>
          <p:cNvSpPr txBox="1"/>
          <p:nvPr/>
        </p:nvSpPr>
        <p:spPr bwMode="auto">
          <a:xfrm>
            <a:off x="319251" y="1422388"/>
            <a:ext cx="6014545" cy="200000"/>
          </a:xfrm>
          <a:prstGeom prst="rect">
            <a:avLst/>
          </a:prstGeom>
          <a:noFill/>
        </p:spPr>
        <p:txBody>
          <a:bodyPr wrap="none" lIns="0" tIns="0" rIns="0" bIns="0">
            <a:spAutoFit/>
          </a:bodyPr>
          <a:lstStyle/>
          <a:p>
            <a:pPr>
              <a:defRPr/>
            </a:pPr>
            <a:r>
              <a:rPr sz="1200" b="1">
                <a:solidFill>
                  <a:srgbClr val="28285E"/>
                </a:solidFill>
              </a:rPr>
              <a:t>graph.py, controller and after_controller (excerpt)</a:t>
            </a:r>
            <a:endParaRPr/>
          </a:p>
        </p:txBody>
      </p:sp>
      <p:sp>
        <p:nvSpPr>
          <p:cNvPr id="174148005" name="CodeWindow"/>
          <p:cNvSpPr/>
          <p:nvPr/>
        </p:nvSpPr>
        <p:spPr bwMode="auto">
          <a:xfrm>
            <a:off x="319251" y="1682388"/>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05743241" name="WinDot 0"/>
          <p:cNvSpPr/>
          <p:nvPr/>
        </p:nvSpPr>
        <p:spPr bwMode="auto">
          <a:xfrm>
            <a:off x="371717" y="172620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7672271" name="WinDot 1"/>
          <p:cNvSpPr/>
          <p:nvPr/>
        </p:nvSpPr>
        <p:spPr bwMode="auto">
          <a:xfrm>
            <a:off x="581580" y="172620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04761166" name="WinDot 2"/>
          <p:cNvSpPr/>
          <p:nvPr/>
        </p:nvSpPr>
        <p:spPr bwMode="auto">
          <a:xfrm>
            <a:off x="791443" y="172620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554398" name="WinText"/>
          <p:cNvSpPr txBox="1"/>
          <p:nvPr/>
        </p:nvSpPr>
        <p:spPr bwMode="auto">
          <a:xfrm>
            <a:off x="469251" y="2012388"/>
            <a:ext cx="5437386" cy="1862048"/>
          </a:xfrm>
          <a:prstGeom prst="rect">
            <a:avLst/>
          </a:prstGeom>
          <a:noFill/>
        </p:spPr>
        <p:txBody>
          <a:bodyPr wrap="none" lIns="0" tIns="0" rIns="0" bIns="0" anchor="t">
            <a:spAutoFit/>
          </a:bodyPr>
          <a:lstStyle/>
          <a:p>
            <a:pPr algn="l">
              <a:buNone/>
              <a:defRPr/>
            </a:pPr>
            <a:r>
              <a:rPr sz="1100">
                <a:solidFill>
                  <a:schemeClr val="accent6"/>
                </a:solidFill>
                <a:latin typeface="Aptos Mono"/>
                <a:ea typeface="Aptos Mono"/>
              </a:rPr>
              <a:t># ours: the model reply is the input</a:t>
            </a:r>
            <a:endParaRPr/>
          </a:p>
          <a:p>
            <a:pPr algn="l">
              <a:buNone/>
              <a:defRPr/>
            </a:pPr>
            <a:r>
              <a:rPr sz="1100">
                <a:solidFill>
                  <a:schemeClr val="bg1"/>
                </a:solidFill>
                <a:latin typeface="Aptos Mono"/>
                <a:ea typeface="Aptos Mono"/>
              </a:rPr>
              <a:t>reply = </a:t>
            </a:r>
            <a:r>
              <a:rPr sz="1100">
                <a:solidFill>
                  <a:schemeClr val="accent2"/>
                </a:solidFill>
                <a:latin typeface="Aptos Mono"/>
                <a:ea typeface="Aptos Mono"/>
              </a:rPr>
              <a:t>self</a:t>
            </a:r>
            <a:r>
              <a:rPr sz="1100">
                <a:solidFill>
                  <a:schemeClr val="bg1"/>
                </a:solidFill>
                <a:latin typeface="Aptos Mono"/>
                <a:ea typeface="Aptos Mono"/>
              </a:rPr>
              <a:t>._call</a:t>
            </a:r>
            <a:r>
              <a:rPr sz="1100">
                <a:solidFill>
                  <a:schemeClr val="bg1"/>
                </a:solidFill>
                <a:latin typeface="Aptos Mono"/>
                <a:ea typeface="Aptos Mono"/>
              </a:rPr>
              <a:t>(model, state[</a:t>
            </a:r>
            <a:r>
              <a:rPr sz="1100">
                <a:solidFill>
                  <a:schemeClr val="accent3">
                    <a:lumMod val="55000"/>
                    <a:lumOff val="45000"/>
                  </a:schemeClr>
                </a:solidFill>
                <a:latin typeface="Aptos Mono"/>
                <a:ea typeface="Aptos Mono"/>
              </a:rPr>
              <a:t>"messages"</a:t>
            </a:r>
            <a:r>
              <a:rPr sz="1100">
                <a:solidFill>
                  <a:schemeClr val="bg1"/>
                </a:solidFill>
                <a:latin typeface="Aptos Mono"/>
                <a:ea typeface="Aptos Mono"/>
              </a:rPr>
              <a:t>], role=</a:t>
            </a:r>
            <a:r>
              <a:rPr sz="1100">
                <a:solidFill>
                  <a:schemeClr val="accent3">
                    <a:lumMod val="55000"/>
                    <a:lumOff val="45000"/>
                  </a:schemeClr>
                </a:solidFill>
                <a:latin typeface="Aptos Mono"/>
                <a:ea typeface="Aptos Mono"/>
              </a:rPr>
              <a:t>"controller"</a:t>
            </a:r>
            <a:r>
              <a:rPr sz="1100">
                <a:solidFill>
                  <a:schemeClr val="bg1"/>
                </a:solidFill>
                <a:latin typeface="Aptos Mono"/>
                <a:ea typeface="Aptos Mono"/>
              </a:rPr>
              <a:t>)</a:t>
            </a:r>
            <a:endParaRPr/>
          </a:p>
          <a:p>
            <a:pPr algn="l">
              <a:buNone/>
              <a:defRPr/>
            </a:pPr>
            <a:endParaRPr lang="en-US" sz="1100">
              <a:solidFill>
                <a:schemeClr val="accent6"/>
              </a:solidFill>
              <a:latin typeface="Aptos Mono"/>
              <a:ea typeface="Aptos Mono"/>
            </a:endParaRPr>
          </a:p>
          <a:p>
            <a:pPr algn="l">
              <a:buNone/>
              <a:defRPr/>
            </a:pPr>
            <a:r>
              <a:rPr sz="1100">
                <a:solidFill>
                  <a:schemeClr val="accent6"/>
                </a:solidFill>
                <a:latin typeface="Aptos Mono"/>
                <a:ea typeface="Aptos Mono"/>
              </a:rPr>
              <a:t># ours: append the reply and increment the call count</a:t>
            </a:r>
            <a:endParaRPr/>
          </a:p>
          <a:p>
            <a:pPr algn="l">
              <a:buNone/>
              <a:defRPr/>
            </a:pPr>
            <a:r>
              <a:rPr sz="1100">
                <a:solidFill>
                  <a:schemeClr val="accent2"/>
                </a:solidFill>
                <a:latin typeface="Aptos Mono"/>
                <a:ea typeface="Aptos Mono"/>
              </a:rPr>
              <a:t>return</a:t>
            </a:r>
            <a:r>
              <a:rPr sz="1100">
                <a:solidFill>
                  <a:schemeClr val="bg1"/>
                </a:solidFill>
                <a:latin typeface="Aptos Mono"/>
                <a:ea typeface="Aptos Mono"/>
              </a:rPr>
              <a:t> {</a:t>
            </a:r>
            <a:r>
              <a:rPr sz="1100">
                <a:solidFill>
                  <a:schemeClr val="accent3">
                    <a:lumMod val="55000"/>
                    <a:lumOff val="45000"/>
                  </a:schemeClr>
                </a:solidFill>
                <a:latin typeface="Aptos Mono"/>
                <a:ea typeface="Aptos Mono"/>
              </a:rPr>
              <a:t>"messages"</a:t>
            </a:r>
            <a:r>
              <a:rPr sz="1100">
                <a:solidFill>
                  <a:schemeClr val="bg1"/>
                </a:solidFill>
                <a:latin typeface="Aptos Mono"/>
                <a:ea typeface="Aptos Mono"/>
              </a:rPr>
              <a:t>: [reply], </a:t>
            </a:r>
            <a:r>
              <a:rPr sz="1100">
                <a:solidFill>
                  <a:schemeClr val="accent3">
                    <a:lumMod val="55000"/>
                    <a:lumOff val="45000"/>
                  </a:schemeClr>
                </a:solidFill>
                <a:latin typeface="Aptos Mono"/>
                <a:ea typeface="Aptos Mono"/>
              </a:rPr>
              <a:t>"</a:t>
            </a:r>
            <a:r>
              <a:rPr sz="1100">
                <a:solidFill>
                  <a:schemeClr val="accent3">
                    <a:lumMod val="55000"/>
                    <a:lumOff val="45000"/>
                  </a:schemeClr>
                </a:solidFill>
                <a:latin typeface="Aptos Mono"/>
                <a:ea typeface="Aptos Mono"/>
              </a:rPr>
              <a:t>model_calls</a:t>
            </a:r>
            <a:r>
              <a:rPr sz="1100">
                <a:solidFill>
                  <a:schemeClr val="accent3">
                    <a:lumMod val="55000"/>
                    <a:lumOff val="45000"/>
                  </a:schemeClr>
                </a:solidFill>
                <a:latin typeface="Aptos Mono"/>
                <a:ea typeface="Aptos Mono"/>
              </a:rPr>
              <a:t>"</a:t>
            </a:r>
            <a:r>
              <a:rPr sz="1100">
                <a:solidFill>
                  <a:schemeClr val="bg1"/>
                </a:solidFill>
                <a:latin typeface="Aptos Mono"/>
                <a:ea typeface="Aptos Mono"/>
              </a:rPr>
              <a:t>: </a:t>
            </a:r>
            <a:r>
              <a:rPr sz="1100">
                <a:solidFill>
                  <a:schemeClr val="accent5">
                    <a:lumMod val="45000"/>
                    <a:lumOff val="55000"/>
                  </a:schemeClr>
                </a:solidFill>
                <a:latin typeface="Aptos Mono"/>
                <a:ea typeface="Aptos Mono"/>
              </a:rPr>
              <a:t>1</a:t>
            </a:r>
            <a:r>
              <a:rPr sz="1100">
                <a:solidFill>
                  <a:schemeClr val="bg1"/>
                </a:solidFill>
                <a:latin typeface="Aptos Mono"/>
                <a:ea typeface="Aptos Mono"/>
              </a:rPr>
              <a:t>,</a:t>
            </a:r>
            <a:endParaRPr/>
          </a:p>
          <a:p>
            <a:pPr algn="l">
              <a:buNone/>
              <a:defRPr/>
            </a:pPr>
            <a:r>
              <a:rPr sz="1100">
                <a:solidFill>
                  <a:schemeClr val="bg1"/>
                </a:solidFill>
                <a:latin typeface="Aptos Mono"/>
                <a:ea typeface="Aptos Mono"/>
              </a:rPr>
              <a:t>        </a:t>
            </a:r>
            <a:r>
              <a:rPr sz="1100">
                <a:solidFill>
                  <a:schemeClr val="accent3">
                    <a:lumMod val="55000"/>
                    <a:lumOff val="45000"/>
                  </a:schemeClr>
                </a:solidFill>
                <a:latin typeface="Aptos Mono"/>
                <a:ea typeface="Aptos Mono"/>
              </a:rPr>
              <a:t>"usage"</a:t>
            </a:r>
            <a:r>
              <a:rPr sz="1100">
                <a:solidFill>
                  <a:schemeClr val="bg1"/>
                </a:solidFill>
                <a:latin typeface="Aptos Mono"/>
                <a:ea typeface="Aptos Mono"/>
              </a:rPr>
              <a:t>: </a:t>
            </a:r>
            <a:r>
              <a:rPr sz="1100">
                <a:solidFill>
                  <a:schemeClr val="accent2"/>
                </a:solidFill>
                <a:latin typeface="Aptos Mono"/>
                <a:ea typeface="Aptos Mono"/>
              </a:rPr>
              <a:t>self</a:t>
            </a:r>
            <a:r>
              <a:rPr sz="1100">
                <a:solidFill>
                  <a:schemeClr val="bg1"/>
                </a:solidFill>
                <a:latin typeface="Aptos Mono"/>
                <a:ea typeface="Aptos Mono"/>
              </a:rPr>
              <a:t>._usage</a:t>
            </a:r>
            <a:r>
              <a:rPr sz="1100">
                <a:solidFill>
                  <a:schemeClr val="bg1"/>
                </a:solidFill>
                <a:latin typeface="Aptos Mono"/>
                <a:ea typeface="Aptos Mono"/>
              </a:rPr>
              <a:t>(reply)}</a:t>
            </a:r>
            <a:endParaRPr/>
          </a:p>
          <a:p>
            <a:pPr algn="l">
              <a:buNone/>
              <a:defRPr/>
            </a:pPr>
            <a:endParaRPr lang="en-US" sz="1100">
              <a:solidFill>
                <a:schemeClr val="accent6"/>
              </a:solidFill>
              <a:latin typeface="Aptos Mono"/>
              <a:ea typeface="Aptos Mono"/>
            </a:endParaRPr>
          </a:p>
          <a:p>
            <a:pPr algn="l">
              <a:buNone/>
              <a:defRPr/>
            </a:pPr>
            <a:r>
              <a:rPr sz="1100">
                <a:solidFill>
                  <a:schemeClr val="accent6"/>
                </a:solidFill>
                <a:latin typeface="Aptos Mono"/>
                <a:ea typeface="Aptos Mono"/>
              </a:rPr>
              <a:t># ours: the guard tests whether the reply has tool calls</a:t>
            </a:r>
            <a:endParaRPr/>
          </a:p>
          <a:p>
            <a:pPr algn="l">
              <a:buNone/>
              <a:defRPr/>
            </a:pPr>
            <a:r>
              <a:rPr sz="1100">
                <a:solidFill>
                  <a:schemeClr val="accent2"/>
                </a:solidFill>
                <a:latin typeface="Aptos Mono"/>
                <a:ea typeface="Aptos Mono"/>
              </a:rPr>
              <a:t>if</a:t>
            </a:r>
            <a:r>
              <a:rPr sz="1100">
                <a:solidFill>
                  <a:schemeClr val="bg1"/>
                </a:solidFill>
                <a:latin typeface="Aptos Mono"/>
                <a:ea typeface="Aptos Mono"/>
              </a:rPr>
              <a:t> state[</a:t>
            </a:r>
            <a:r>
              <a:rPr sz="1100">
                <a:solidFill>
                  <a:schemeClr val="accent3">
                    <a:lumMod val="55000"/>
                    <a:lumOff val="45000"/>
                  </a:schemeClr>
                </a:solidFill>
                <a:latin typeface="Aptos Mono"/>
                <a:ea typeface="Aptos Mono"/>
              </a:rPr>
              <a:t>"messages"</a:t>
            </a:r>
            <a:r>
              <a:rPr sz="1100">
                <a:solidFill>
                  <a:schemeClr val="bg1"/>
                </a:solidFill>
                <a:latin typeface="Aptos Mono"/>
                <a:ea typeface="Aptos Mono"/>
              </a:rPr>
              <a:t>][-</a:t>
            </a:r>
            <a:r>
              <a:rPr sz="1100">
                <a:solidFill>
                  <a:schemeClr val="accent5">
                    <a:lumMod val="45000"/>
                    <a:lumOff val="55000"/>
                  </a:schemeClr>
                </a:solidFill>
                <a:latin typeface="Aptos Mono"/>
                <a:ea typeface="Aptos Mono"/>
              </a:rPr>
              <a:t>1</a:t>
            </a:r>
            <a:r>
              <a:rPr sz="1100">
                <a:solidFill>
                  <a:schemeClr val="bg1"/>
                </a:solidFill>
                <a:latin typeface="Aptos Mono"/>
                <a:ea typeface="Aptos Mono"/>
              </a:rPr>
              <a:t>].</a:t>
            </a:r>
            <a:r>
              <a:rPr sz="1100">
                <a:solidFill>
                  <a:schemeClr val="accent4">
                    <a:lumMod val="70000"/>
                    <a:lumOff val="30000"/>
                  </a:schemeClr>
                </a:solidFill>
                <a:latin typeface="Aptos Mono"/>
                <a:ea typeface="Aptos Mono"/>
              </a:rPr>
              <a:t>tool_calls</a:t>
            </a:r>
            <a:r>
              <a:rPr sz="1100">
                <a:solidFill>
                  <a:schemeClr val="bg1"/>
                </a:solidFill>
                <a:latin typeface="Aptos Mono"/>
                <a:ea typeface="Aptos Mono"/>
              </a:rPr>
              <a:t>:</a:t>
            </a:r>
            <a:endParaRPr/>
          </a:p>
          <a:p>
            <a:pPr algn="l">
              <a:buNone/>
              <a:defRPr/>
            </a:pPr>
            <a:r>
              <a:rPr sz="1100">
                <a:solidFill>
                  <a:schemeClr val="bg1"/>
                </a:solidFill>
                <a:latin typeface="Aptos Mono"/>
                <a:ea typeface="Aptos Mono"/>
              </a:rPr>
              <a:t>    </a:t>
            </a:r>
            <a:r>
              <a:rPr sz="1100">
                <a:solidFill>
                  <a:schemeClr val="accent2"/>
                </a:solidFill>
                <a:latin typeface="Aptos Mono"/>
                <a:ea typeface="Aptos Mono"/>
              </a:rPr>
              <a:t>return</a:t>
            </a:r>
            <a:r>
              <a:rPr sz="1100">
                <a:solidFill>
                  <a:schemeClr val="bg1"/>
                </a:solidFill>
                <a:latin typeface="Aptos Mono"/>
                <a:ea typeface="Aptos Mono"/>
              </a:rPr>
              <a:t> </a:t>
            </a:r>
            <a:r>
              <a:rPr sz="1100">
                <a:solidFill>
                  <a:schemeClr val="accent3">
                    <a:lumMod val="55000"/>
                    <a:lumOff val="45000"/>
                  </a:schemeClr>
                </a:solidFill>
                <a:latin typeface="Aptos Mono"/>
                <a:ea typeface="Aptos Mono"/>
              </a:rPr>
              <a:t>"tools"</a:t>
            </a:r>
            <a:endParaRPr/>
          </a:p>
          <a:p>
            <a:pPr algn="l">
              <a:buNone/>
              <a:defRPr/>
            </a:pPr>
            <a:r>
              <a:rPr sz="1100">
                <a:solidFill>
                  <a:schemeClr val="accent2"/>
                </a:solidFill>
                <a:latin typeface="Aptos Mono"/>
                <a:ea typeface="Aptos Mono"/>
              </a:rPr>
              <a:t>return</a:t>
            </a:r>
            <a:r>
              <a:rPr sz="1100">
                <a:solidFill>
                  <a:schemeClr val="bg1"/>
                </a:solidFill>
                <a:latin typeface="Aptos Mono"/>
                <a:ea typeface="Aptos Mono"/>
              </a:rPr>
              <a:t> </a:t>
            </a:r>
            <a:r>
              <a:rPr sz="1100">
                <a:solidFill>
                  <a:schemeClr val="accent3">
                    <a:lumMod val="55000"/>
                    <a:lumOff val="45000"/>
                  </a:schemeClr>
                </a:solidFill>
                <a:latin typeface="Aptos Mono"/>
                <a:ea typeface="Aptos Mono"/>
              </a:rPr>
              <a:t>"submit"</a:t>
            </a:r>
            <a:endParaRPr/>
          </a:p>
        </p:txBody>
      </p:sp>
      <p:sp>
        <p:nvSpPr>
          <p:cNvPr id="880352120" name="Rectangle 9"/>
          <p:cNvSpPr/>
          <p:nvPr/>
        </p:nvSpPr>
        <p:spPr bwMode="auto">
          <a:xfrm>
            <a:off x="319251" y="416238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reply is the input. The tool-call test is the guard. The runtime applies the set action by appending the reply and adding one to </a:t>
            </a:r>
            <a:r>
              <a:rPr sz="1200" b="0">
                <a:solidFill>
                  <a:schemeClr val="tx2"/>
                </a:solidFill>
                <a:latin typeface="Aptos Mono"/>
              </a:rPr>
              <a:t>model_calls</a:t>
            </a:r>
            <a:r>
              <a:rPr sz="1200" b="1">
                <a:solidFill>
                  <a:schemeClr val="tx2"/>
                </a:solidFill>
              </a:rPr>
              <a: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4545537" name="Title 1"/>
          <p:cNvSpPr>
            <a:spLocks noGrp="1"/>
          </p:cNvSpPr>
          <p:nvPr>
            <p:ph type="title"/>
          </p:nvPr>
        </p:nvSpPr>
        <p:spPr bwMode="auto"/>
        <p:txBody>
          <a:bodyPr/>
          <a:lstStyle/>
          <a:p>
            <a:pPr>
              <a:defRPr/>
            </a:pPr>
            <a:r>
              <a:rPr/>
              <a:t>Behaviour, trace and computation tree</a:t>
            </a:r>
            <a:endParaRPr/>
          </a:p>
        </p:txBody>
      </p:sp>
      <p:sp>
        <p:nvSpPr>
          <p:cNvPr id="2095324320" name="Content Placeholder 2"/>
          <p:cNvSpPr>
            <a:spLocks noGrp="1"/>
          </p:cNvSpPr>
          <p:nvPr>
            <p:ph idx="1"/>
          </p:nvPr>
        </p:nvSpPr>
        <p:spPr bwMode="auto">
          <a:xfrm>
            <a:off x="319251" y="700000"/>
            <a:ext cx="6014545" cy="500000"/>
          </a:xfrm>
        </p:spPr>
        <p:txBody>
          <a:bodyPr wrap="square" anchor="ctr"/>
          <a:lstStyle/>
          <a:p>
            <a:pPr marL="0" indent="0">
              <a:buNone/>
              <a:defRPr/>
            </a:pPr>
            <a:r>
              <a:rPr sz="1400" b="1">
                <a:solidFill>
                  <a:srgbClr val="28285E"/>
                </a:solidFill>
              </a:rPr>
              <a:t>A behaviour is a sequence of steps. It excludes stuttering steps, which have no input, state change or output.</a:t>
            </a:r>
            <a:endParaRPr/>
          </a:p>
        </p:txBody>
      </p:sp>
      <p:pic>
        <p:nvPicPr>
          <p:cNvPr id="1764084645" name="Figure abstract-tree" descr="abstract-tree.png"/>
          <p:cNvPicPr>
            <a:picLocks noChangeAspect="1"/>
          </p:cNvPicPr>
          <p:nvPr/>
        </p:nvPicPr>
        <p:blipFill rotWithShape="1">
          <a:blip r:embed="rId3"/>
          <a:stretch/>
        </p:blipFill>
        <p:spPr bwMode="auto">
          <a:xfrm>
            <a:off x="250148" y="1290000"/>
            <a:ext cx="6152752" cy="2399319"/>
          </a:xfrm>
          <a:prstGeom prst="rect">
            <a:avLst/>
          </a:prstGeom>
        </p:spPr>
      </p:pic>
      <p:sp>
        <p:nvSpPr>
          <p:cNvPr id="1803995484" name="Rectangle 4"/>
          <p:cNvSpPr/>
          <p:nvPr/>
        </p:nvSpPr>
        <p:spPr bwMode="auto">
          <a:xfrm>
            <a:off x="319251" y="3879319"/>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With the same inputs, a deterministic machine follows one sequence of steps. A nondeterministic machine can allow several next steps, so its computation tree branches.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59871971" name="Title 1"/>
          <p:cNvSpPr>
            <a:spLocks noGrp="1"/>
          </p:cNvSpPr>
          <p:nvPr>
            <p:ph type="title"/>
          </p:nvPr>
        </p:nvSpPr>
        <p:spPr bwMode="auto"/>
        <p:txBody>
          <a:bodyPr/>
          <a:lstStyle/>
          <a:p>
            <a:pPr>
              <a:defRPr/>
            </a:pPr>
            <a:r>
              <a:rPr/>
              <a:t>The event log as a trace</a:t>
            </a:r>
            <a:endParaRPr/>
          </a:p>
        </p:txBody>
      </p:sp>
      <p:sp>
        <p:nvSpPr>
          <p:cNvPr id="1005202743"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When the program exits, unsaved state is lost. Saved logs and workspace files can remain available.</a:t>
            </a:r>
            <a:endParaRPr/>
          </a:p>
        </p:txBody>
      </p:sp>
      <p:sp>
        <p:nvSpPr>
          <p:cNvPr id="837270669" name="TextBox 3"/>
          <p:cNvSpPr txBox="1"/>
          <p:nvPr/>
        </p:nvSpPr>
        <p:spPr bwMode="auto">
          <a:xfrm>
            <a:off x="319251" y="1290000"/>
            <a:ext cx="6014545" cy="200000"/>
          </a:xfrm>
          <a:prstGeom prst="rect">
            <a:avLst/>
          </a:prstGeom>
          <a:noFill/>
        </p:spPr>
        <p:txBody>
          <a:bodyPr wrap="none" lIns="0" tIns="0" rIns="0" bIns="0">
            <a:spAutoFit/>
          </a:bodyPr>
          <a:lstStyle/>
          <a:p>
            <a:pPr>
              <a:defRPr/>
            </a:pPr>
            <a:r>
              <a:rPr sz="1200" b="0">
                <a:solidFill>
                  <a:srgbClr val="28285E"/>
                </a:solidFill>
                <a:latin typeface="Aptos Mono"/>
              </a:rPr>
              <a:t>bc284c6b</a:t>
            </a:r>
            <a:r>
              <a:rPr sz="1200" b="1">
                <a:solidFill>
                  <a:srgbClr val="28285E"/>
                </a:solidFill>
              </a:rPr>
              <a:t>, events 19 to 22 (selected fields)</a:t>
            </a:r>
            <a:endParaRPr/>
          </a:p>
        </p:txBody>
      </p:sp>
      <p:sp>
        <p:nvSpPr>
          <p:cNvPr id="1020521866" name="CodeWindow"/>
          <p:cNvSpPr/>
          <p:nvPr/>
        </p:nvSpPr>
        <p:spPr bwMode="auto">
          <a:xfrm>
            <a:off x="319251" y="15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10365270" name="WinDot 0"/>
          <p:cNvSpPr/>
          <p:nvPr/>
        </p:nvSpPr>
        <p:spPr bwMode="auto">
          <a:xfrm>
            <a:off x="371717" y="15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9354674" name="WinDot 1"/>
          <p:cNvSpPr/>
          <p:nvPr/>
        </p:nvSpPr>
        <p:spPr bwMode="auto">
          <a:xfrm>
            <a:off x="581580" y="15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0297727" name="WinDot 2"/>
          <p:cNvSpPr/>
          <p:nvPr/>
        </p:nvSpPr>
        <p:spPr bwMode="auto">
          <a:xfrm>
            <a:off x="791443" y="15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10079570" name="WinText"/>
          <p:cNvSpPr txBox="1"/>
          <p:nvPr/>
        </p:nvSpPr>
        <p:spPr bwMode="auto">
          <a:xfrm>
            <a:off x="469251" y="1880000"/>
            <a:ext cx="5714545" cy="1890000"/>
          </a:xfrm>
          <a:prstGeom prst="rect">
            <a:avLst/>
          </a:prstGeom>
          <a:noFill/>
        </p:spPr>
        <p:txBody>
          <a:bodyPr wrap="none" lIns="0" tIns="0" rIns="0" bIns="0" anchor="t">
            <a:spAutoFit/>
          </a:bodyPr>
          <a:lstStyle/>
          <a:p>
            <a:pPr algn="l">
              <a:buNone/>
              <a:defRPr/>
            </a:pPr>
            <a:r>
              <a:rPr sz="1100" b="0">
                <a:solidFill>
                  <a:schemeClr val="bg1"/>
                </a:solidFill>
                <a:latin typeface="Aptos Mono"/>
              </a:rPr>
              <a:t>{</a:t>
            </a:r>
            <a:r>
              <a:rPr sz="1100" b="0">
                <a:solidFill>
                  <a:schemeClr val="accent2"/>
                </a:solidFill>
                <a:latin typeface="Aptos Mono"/>
              </a:rPr>
              <a:t>"step"</a:t>
            </a:r>
            <a:r>
              <a:rPr sz="1100" b="0">
                <a:solidFill>
                  <a:schemeClr val="bg1"/>
                </a:solidFill>
                <a:latin typeface="Aptos Mono"/>
              </a:rPr>
              <a:t>: </a:t>
            </a:r>
            <a:r>
              <a:rPr sz="1100" b="0">
                <a:solidFill>
                  <a:schemeClr val="accent5">
                    <a:lumMod val="45000"/>
                    <a:lumOff val="55000"/>
                  </a:schemeClr>
                </a:solidFill>
                <a:latin typeface="Aptos Mono"/>
              </a:rPr>
              <a:t>19</a:t>
            </a:r>
            <a:r>
              <a:rPr sz="1100" b="0">
                <a:solidFill>
                  <a:schemeClr val="bg1"/>
                </a:solidFill>
                <a:latin typeface="Aptos Mono"/>
              </a:rPr>
              <a:t>, </a:t>
            </a:r>
            <a:r>
              <a:rPr sz="1100" b="0">
                <a:solidFill>
                  <a:schemeClr val="accent2"/>
                </a:solidFill>
                <a:latin typeface="Aptos Mono"/>
              </a:rPr>
              <a:t>"kind"</a:t>
            </a:r>
            <a:r>
              <a:rPr sz="1100" b="0">
                <a:solidFill>
                  <a:schemeClr val="bg1"/>
                </a:solidFill>
                <a:latin typeface="Aptos Mono"/>
              </a:rPr>
              <a:t>: </a:t>
            </a:r>
            <a:r>
              <a:rPr sz="1100" b="0">
                <a:solidFill>
                  <a:schemeClr val="accent3">
                    <a:lumMod val="55000"/>
                    <a:lumOff val="45000"/>
                  </a:schemeClr>
                </a:solidFill>
                <a:latin typeface="Aptos Mono"/>
              </a:rPr>
              <a:t>"</a:t>
            </a:r>
            <a:r>
              <a:rPr sz="1100" b="0">
                <a:solidFill>
                  <a:schemeClr val="accent3">
                    <a:lumMod val="55000"/>
                    <a:lumOff val="45000"/>
                  </a:schemeClr>
                </a:solidFill>
                <a:latin typeface="Aptos Mono"/>
              </a:rPr>
              <a:t>model_call</a:t>
            </a:r>
            <a:r>
              <a:rPr sz="1100" b="0">
                <a:solidFill>
                  <a:schemeClr val="accent3">
                    <a:lumMod val="55000"/>
                    <a:lumOff val="45000"/>
                  </a:schemeClr>
                </a:solidFill>
                <a:latin typeface="Aptos Mono"/>
              </a:rPr>
              <a:t>"</a:t>
            </a:r>
            <a:r>
              <a:rPr sz="1100" b="0">
                <a:solidFill>
                  <a:schemeClr val="bg1"/>
                </a:solidFill>
                <a:latin typeface="Aptos Mono"/>
              </a:rPr>
              <a:t>, </a:t>
            </a:r>
            <a:r>
              <a:rPr sz="1100" b="0">
                <a:solidFill>
                  <a:schemeClr val="accent2"/>
                </a:solidFill>
                <a:latin typeface="Aptos Mono"/>
              </a:rPr>
              <a:t>"role"</a:t>
            </a:r>
            <a:r>
              <a:rPr sz="1100" b="0">
                <a:solidFill>
                  <a:schemeClr val="bg1"/>
                </a:solidFill>
                <a:latin typeface="Aptos Mono"/>
              </a:rPr>
              <a:t>: </a:t>
            </a:r>
            <a:r>
              <a:rPr sz="1100" b="0">
                <a:solidFill>
                  <a:schemeClr val="accent3">
                    <a:lumMod val="55000"/>
                    <a:lumOff val="45000"/>
                  </a:schemeClr>
                </a:solidFill>
                <a:latin typeface="Aptos Mono"/>
              </a:rPr>
              <a:t>"controller"</a:t>
            </a:r>
            <a:r>
              <a:rPr sz="1100" b="0">
                <a:solidFill>
                  <a:schemeClr val="bg1"/>
                </a:solidFill>
                <a:latin typeface="Aptos Mono"/>
              </a:rPr>
              <a:t>,</a:t>
            </a:r>
            <a:endParaRPr/>
          </a:p>
          <a:p>
            <a:pPr algn="l">
              <a:buNone/>
              <a:defRPr/>
            </a:pPr>
            <a:r>
              <a:rPr sz="1100" b="0">
                <a:solidFill>
                  <a:schemeClr val="bg1"/>
                </a:solidFill>
                <a:latin typeface="Aptos Mono"/>
              </a:rPr>
              <a:t>  </a:t>
            </a:r>
            <a:r>
              <a:rPr sz="1100" b="1">
                <a:solidFill>
                  <a:schemeClr val="accent4">
                    <a:lumMod val="70000"/>
                    <a:lumOff val="30000"/>
                  </a:schemeClr>
                </a:solidFill>
                <a:latin typeface="Aptos Mono"/>
              </a:rPr>
              <a:t>"</a:t>
            </a:r>
            <a:r>
              <a:rPr sz="1100" b="1">
                <a:solidFill>
                  <a:schemeClr val="accent4">
                    <a:lumMod val="70000"/>
                    <a:lumOff val="30000"/>
                  </a:schemeClr>
                </a:solidFill>
                <a:latin typeface="Aptos Mono"/>
              </a:rPr>
              <a:t>tool_calls</a:t>
            </a:r>
            <a:r>
              <a:rPr sz="1100" b="1">
                <a:solidFill>
                  <a:schemeClr val="accent4">
                    <a:lumMod val="70000"/>
                    <a:lumOff val="30000"/>
                  </a:schemeClr>
                </a:solidFill>
                <a:latin typeface="Aptos Mono"/>
              </a:rPr>
              <a:t>": []</a:t>
            </a:r>
            <a:r>
              <a:rPr sz="1100" b="0">
                <a:solidFill>
                  <a:schemeClr val="bg1"/>
                </a:solidFill>
                <a:latin typeface="Aptos Mono"/>
              </a:rPr>
              <a:t>}</a:t>
            </a:r>
            <a:endParaRPr/>
          </a:p>
          <a:p>
            <a:pPr algn="l">
              <a:buNone/>
              <a:defRPr/>
            </a:pPr>
            <a:r>
              <a:rPr sz="1100" b="0">
                <a:solidFill>
                  <a:schemeClr val="bg1"/>
                </a:solidFill>
                <a:latin typeface="Aptos Mono"/>
              </a:rPr>
              <a:t>{</a:t>
            </a:r>
            <a:r>
              <a:rPr sz="1100" b="0">
                <a:solidFill>
                  <a:schemeClr val="accent2"/>
                </a:solidFill>
                <a:latin typeface="Aptos Mono"/>
              </a:rPr>
              <a:t>"step"</a:t>
            </a:r>
            <a:r>
              <a:rPr sz="1100" b="0">
                <a:solidFill>
                  <a:schemeClr val="bg1"/>
                </a:solidFill>
                <a:latin typeface="Aptos Mono"/>
              </a:rPr>
              <a:t>: </a:t>
            </a:r>
            <a:r>
              <a:rPr sz="1100" b="0">
                <a:solidFill>
                  <a:schemeClr val="accent5">
                    <a:lumMod val="45000"/>
                    <a:lumOff val="55000"/>
                  </a:schemeClr>
                </a:solidFill>
                <a:latin typeface="Aptos Mono"/>
              </a:rPr>
              <a:t>20</a:t>
            </a:r>
            <a:r>
              <a:rPr sz="1100" b="0">
                <a:solidFill>
                  <a:schemeClr val="bg1"/>
                </a:solidFill>
                <a:latin typeface="Aptos Mono"/>
              </a:rPr>
              <a:t>, </a:t>
            </a:r>
            <a:r>
              <a:rPr sz="1100" b="0">
                <a:solidFill>
                  <a:schemeClr val="accent2"/>
                </a:solidFill>
                <a:latin typeface="Aptos Mono"/>
              </a:rPr>
              <a:t>"kind"</a:t>
            </a:r>
            <a:r>
              <a:rPr sz="1100" b="0">
                <a:solidFill>
                  <a:schemeClr val="bg1"/>
                </a:solidFill>
                <a:latin typeface="Aptos Mono"/>
              </a:rPr>
              <a:t>: </a:t>
            </a:r>
            <a:r>
              <a:rPr sz="1100" b="0">
                <a:solidFill>
                  <a:schemeClr val="accent3">
                    <a:lumMod val="55000"/>
                    <a:lumOff val="45000"/>
                  </a:schemeClr>
                </a:solidFill>
                <a:latin typeface="Aptos Mono"/>
              </a:rPr>
              <a:t>"routing"</a:t>
            </a:r>
            <a:r>
              <a:rPr sz="1100" b="0">
                <a:solidFill>
                  <a:schemeClr val="bg1"/>
                </a:solidFill>
                <a:latin typeface="Aptos Mono"/>
              </a:rPr>
              <a:t>, </a:t>
            </a:r>
            <a:r>
              <a:rPr sz="1100" b="0">
                <a:solidFill>
                  <a:schemeClr val="accent2"/>
                </a:solidFill>
                <a:latin typeface="Aptos Mono"/>
              </a:rPr>
              <a:t>"decision"</a:t>
            </a:r>
            <a:r>
              <a:rPr sz="1100" b="0">
                <a:solidFill>
                  <a:schemeClr val="bg1"/>
                </a:solidFill>
                <a:latin typeface="Aptos Mono"/>
              </a:rPr>
              <a:t>: </a:t>
            </a:r>
            <a:r>
              <a:rPr sz="1100" b="0">
                <a:solidFill>
                  <a:schemeClr val="accent3">
                    <a:lumMod val="55000"/>
                    <a:lumOff val="45000"/>
                  </a:schemeClr>
                </a:solidFill>
                <a:latin typeface="Aptos Mono"/>
              </a:rPr>
              <a:t>"submit"</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"by"</a:t>
            </a:r>
            <a:r>
              <a:rPr sz="1100" b="0">
                <a:solidFill>
                  <a:schemeClr val="bg1"/>
                </a:solidFill>
                <a:latin typeface="Aptos Mono"/>
              </a:rPr>
              <a:t>: </a:t>
            </a:r>
            <a:r>
              <a:rPr sz="1100" b="0">
                <a:solidFill>
                  <a:schemeClr val="accent3">
                    <a:lumMod val="55000"/>
                    <a:lumOff val="45000"/>
                  </a:schemeClr>
                </a:solidFill>
                <a:latin typeface="Aptos Mono"/>
              </a:rPr>
              <a:t>"model"</a:t>
            </a:r>
            <a:r>
              <a:rPr sz="1100" b="0">
                <a:solidFill>
                  <a:schemeClr val="bg1"/>
                </a:solidFill>
                <a:latin typeface="Aptos Mono"/>
              </a:rPr>
              <a:t>}</a:t>
            </a:r>
            <a:endParaRPr/>
          </a:p>
          <a:p>
            <a:pPr algn="l">
              <a:buNone/>
              <a:defRPr/>
            </a:pPr>
            <a:r>
              <a:rPr sz="1100" b="0">
                <a:solidFill>
                  <a:schemeClr val="bg1"/>
                </a:solidFill>
                <a:latin typeface="Aptos Mono"/>
              </a:rPr>
              <a:t>{</a:t>
            </a:r>
            <a:r>
              <a:rPr sz="1100" b="0">
                <a:solidFill>
                  <a:schemeClr val="accent2"/>
                </a:solidFill>
                <a:latin typeface="Aptos Mono"/>
              </a:rPr>
              <a:t>"step"</a:t>
            </a:r>
            <a:r>
              <a:rPr sz="1100" b="0">
                <a:solidFill>
                  <a:schemeClr val="bg1"/>
                </a:solidFill>
                <a:latin typeface="Aptos Mono"/>
              </a:rPr>
              <a:t>: </a:t>
            </a:r>
            <a:r>
              <a:rPr sz="1100" b="0">
                <a:solidFill>
                  <a:schemeClr val="accent5">
                    <a:lumMod val="45000"/>
                    <a:lumOff val="55000"/>
                  </a:schemeClr>
                </a:solidFill>
                <a:latin typeface="Aptos Mono"/>
              </a:rPr>
              <a:t>21</a:t>
            </a:r>
            <a:r>
              <a:rPr sz="1100" b="0">
                <a:solidFill>
                  <a:schemeClr val="bg1"/>
                </a:solidFill>
                <a:latin typeface="Aptos Mono"/>
              </a:rPr>
              <a:t>, </a:t>
            </a:r>
            <a:r>
              <a:rPr sz="1100" b="0">
                <a:solidFill>
                  <a:schemeClr val="accent2"/>
                </a:solidFill>
                <a:latin typeface="Aptos Mono"/>
              </a:rPr>
              <a:t>"kind"</a:t>
            </a:r>
            <a:r>
              <a:rPr sz="1100" b="0">
                <a:solidFill>
                  <a:schemeClr val="bg1"/>
                </a:solidFill>
                <a:latin typeface="Aptos Mono"/>
              </a:rPr>
              <a:t>: </a:t>
            </a:r>
            <a:r>
              <a:rPr sz="1100" b="0">
                <a:solidFill>
                  <a:schemeClr val="accent3">
                    <a:lumMod val="55000"/>
                    <a:lumOff val="45000"/>
                  </a:schemeClr>
                </a:solidFill>
                <a:latin typeface="Aptos Mono"/>
              </a:rPr>
              <a:t>"</a:t>
            </a:r>
            <a:r>
              <a:rPr sz="1100" b="0">
                <a:solidFill>
                  <a:schemeClr val="accent3">
                    <a:lumMod val="55000"/>
                    <a:lumOff val="45000"/>
                  </a:schemeClr>
                </a:solidFill>
                <a:latin typeface="Aptos Mono"/>
              </a:rPr>
              <a:t>state_change</a:t>
            </a:r>
            <a:r>
              <a:rPr sz="1100" b="0">
                <a:solidFill>
                  <a:schemeClr val="accent3">
                    <a:lumMod val="55000"/>
                    <a:lumOff val="45000"/>
                  </a:schemeClr>
                </a:solidFill>
                <a:latin typeface="Aptos Mono"/>
              </a:rPr>
              <a:t>"</a:t>
            </a:r>
            <a:r>
              <a:rPr sz="1100" b="0">
                <a:solidFill>
                  <a:schemeClr val="bg1"/>
                </a:solidFill>
                <a:latin typeface="Aptos Mono"/>
              </a:rPr>
              <a:t>, </a:t>
            </a:r>
            <a:r>
              <a:rPr sz="1100" b="0">
                <a:solidFill>
                  <a:schemeClr val="accent2"/>
                </a:solidFill>
                <a:latin typeface="Aptos Mono"/>
              </a:rPr>
              <a:t>"node"</a:t>
            </a:r>
            <a:r>
              <a:rPr sz="1100" b="0">
                <a:solidFill>
                  <a:schemeClr val="bg1"/>
                </a:solidFill>
                <a:latin typeface="Aptos Mono"/>
              </a:rPr>
              <a:t>: </a:t>
            </a:r>
            <a:r>
              <a:rPr sz="1100" b="0">
                <a:solidFill>
                  <a:schemeClr val="accent3">
                    <a:lumMod val="55000"/>
                    <a:lumOff val="45000"/>
                  </a:schemeClr>
                </a:solidFill>
                <a:latin typeface="Aptos Mono"/>
              </a:rPr>
              <a:t>"submit"</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"checks"</a:t>
            </a:r>
            <a:r>
              <a:rPr sz="1100" b="0">
                <a:solidFill>
                  <a:schemeClr val="bg1"/>
                </a:solidFill>
                <a:latin typeface="Aptos Mono"/>
              </a:rPr>
              <a:t>: {</a:t>
            </a:r>
            <a:r>
              <a:rPr sz="1100" b="0">
                <a:solidFill>
                  <a:schemeClr val="accent2"/>
                </a:solidFill>
                <a:latin typeface="Aptos Mono"/>
              </a:rPr>
              <a:t>"applies"</a:t>
            </a:r>
            <a:r>
              <a:rPr sz="1100" b="0">
                <a:solidFill>
                  <a:schemeClr val="bg1"/>
                </a:solidFill>
                <a:latin typeface="Aptos Mono"/>
              </a:rPr>
              <a:t>: </a:t>
            </a:r>
            <a:r>
              <a:rPr sz="1100" b="0">
                <a:solidFill>
                  <a:schemeClr val="accent5">
                    <a:lumMod val="45000"/>
                    <a:lumOff val="55000"/>
                  </a:schemeClr>
                </a:solidFill>
                <a:latin typeface="Aptos Mono"/>
              </a:rPr>
              <a:t>true</a:t>
            </a:r>
            <a:r>
              <a:rPr sz="1100" b="0">
                <a:solidFill>
                  <a:schemeClr val="bg1"/>
                </a:solidFill>
                <a:latin typeface="Aptos Mono"/>
              </a:rPr>
              <a:t>, </a:t>
            </a:r>
            <a:r>
              <a:rPr sz="1100" b="0">
                <a:solidFill>
                  <a:schemeClr val="accent2"/>
                </a:solidFill>
                <a:latin typeface="Aptos Mono"/>
              </a:rPr>
              <a:t>"</a:t>
            </a:r>
            <a:r>
              <a:rPr sz="1100" b="0">
                <a:solidFill>
                  <a:schemeClr val="accent2"/>
                </a:solidFill>
                <a:latin typeface="Aptos Mono"/>
              </a:rPr>
              <a:t>touches_line</a:t>
            </a:r>
            <a:r>
              <a:rPr sz="1100" b="0">
                <a:solidFill>
                  <a:schemeClr val="accent2"/>
                </a:solidFill>
                <a:latin typeface="Aptos Mono"/>
              </a:rPr>
              <a:t>"</a:t>
            </a:r>
            <a:r>
              <a:rPr sz="1100" b="0">
                <a:solidFill>
                  <a:schemeClr val="bg1"/>
                </a:solidFill>
                <a:latin typeface="Aptos Mono"/>
              </a:rPr>
              <a:t>: </a:t>
            </a:r>
            <a:r>
              <a:rPr sz="1100" b="0">
                <a:solidFill>
                  <a:schemeClr val="accent5">
                    <a:lumMod val="45000"/>
                    <a:lumOff val="55000"/>
                  </a:schemeClr>
                </a:solidFill>
                <a:latin typeface="Aptos Mono"/>
              </a:rPr>
              <a:t>true</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a:t>
            </a:r>
            <a:r>
              <a:rPr sz="1100" b="0">
                <a:solidFill>
                  <a:schemeClr val="accent2"/>
                </a:solidFill>
                <a:latin typeface="Aptos Mono"/>
              </a:rPr>
              <a:t>rescan_clean</a:t>
            </a:r>
            <a:r>
              <a:rPr sz="1100" b="0">
                <a:solidFill>
                  <a:schemeClr val="accent2"/>
                </a:solidFill>
                <a:latin typeface="Aptos Mono"/>
              </a:rPr>
              <a:t>"</a:t>
            </a:r>
            <a:r>
              <a:rPr sz="1100" b="0">
                <a:solidFill>
                  <a:schemeClr val="bg1"/>
                </a:solidFill>
                <a:latin typeface="Aptos Mono"/>
              </a:rPr>
              <a:t>: </a:t>
            </a:r>
            <a:r>
              <a:rPr sz="1100" b="0">
                <a:solidFill>
                  <a:schemeClr val="accent5">
                    <a:lumMod val="45000"/>
                    <a:lumOff val="55000"/>
                  </a:schemeClr>
                </a:solidFill>
                <a:latin typeface="Aptos Mono"/>
              </a:rPr>
              <a:t>true</a:t>
            </a:r>
            <a:r>
              <a:rPr sz="1100" b="0">
                <a:solidFill>
                  <a:schemeClr val="bg1"/>
                </a:solidFill>
                <a:latin typeface="Aptos Mono"/>
              </a:rPr>
              <a:t>}}</a:t>
            </a:r>
            <a:endParaRPr/>
          </a:p>
          <a:p>
            <a:pPr algn="l">
              <a:buNone/>
              <a:defRPr/>
            </a:pPr>
            <a:r>
              <a:rPr sz="1100" b="0">
                <a:solidFill>
                  <a:schemeClr val="bg1"/>
                </a:solidFill>
                <a:latin typeface="Aptos Mono"/>
              </a:rPr>
              <a:t>{</a:t>
            </a:r>
            <a:r>
              <a:rPr sz="1100" b="0">
                <a:solidFill>
                  <a:schemeClr val="accent2"/>
                </a:solidFill>
                <a:latin typeface="Aptos Mono"/>
              </a:rPr>
              <a:t>"step"</a:t>
            </a:r>
            <a:r>
              <a:rPr sz="1100" b="0">
                <a:solidFill>
                  <a:schemeClr val="bg1"/>
                </a:solidFill>
                <a:latin typeface="Aptos Mono"/>
              </a:rPr>
              <a:t>: </a:t>
            </a:r>
            <a:r>
              <a:rPr sz="1100" b="0">
                <a:solidFill>
                  <a:schemeClr val="accent5">
                    <a:lumMod val="45000"/>
                    <a:lumOff val="55000"/>
                  </a:schemeClr>
                </a:solidFill>
                <a:latin typeface="Aptos Mono"/>
              </a:rPr>
              <a:t>22</a:t>
            </a:r>
            <a:r>
              <a:rPr sz="1100" b="0">
                <a:solidFill>
                  <a:schemeClr val="bg1"/>
                </a:solidFill>
                <a:latin typeface="Aptos Mono"/>
              </a:rPr>
              <a:t>, </a:t>
            </a:r>
            <a:r>
              <a:rPr sz="1100" b="0">
                <a:solidFill>
                  <a:schemeClr val="accent2"/>
                </a:solidFill>
                <a:latin typeface="Aptos Mono"/>
              </a:rPr>
              <a:t>"kind"</a:t>
            </a:r>
            <a:r>
              <a:rPr sz="1100" b="0">
                <a:solidFill>
                  <a:schemeClr val="bg1"/>
                </a:solidFill>
                <a:latin typeface="Aptos Mono"/>
              </a:rPr>
              <a:t>: </a:t>
            </a:r>
            <a:r>
              <a:rPr sz="1100" b="0">
                <a:solidFill>
                  <a:schemeClr val="accent3">
                    <a:lumMod val="55000"/>
                    <a:lumOff val="45000"/>
                  </a:schemeClr>
                </a:solidFill>
                <a:latin typeface="Aptos Mono"/>
              </a:rPr>
              <a:t>"routing"</a:t>
            </a:r>
            <a:r>
              <a:rPr sz="1100" b="0">
                <a:solidFill>
                  <a:schemeClr val="bg1"/>
                </a:solidFill>
                <a:latin typeface="Aptos Mono"/>
              </a:rPr>
              <a:t>, </a:t>
            </a:r>
            <a:r>
              <a:rPr sz="1100" b="0">
                <a:solidFill>
                  <a:schemeClr val="accent2"/>
                </a:solidFill>
                <a:latin typeface="Aptos Mono"/>
              </a:rPr>
              <a:t>"decision"</a:t>
            </a:r>
            <a:r>
              <a:rPr sz="1100" b="0">
                <a:solidFill>
                  <a:schemeClr val="bg1"/>
                </a:solidFill>
                <a:latin typeface="Aptos Mono"/>
              </a:rPr>
              <a:t>: </a:t>
            </a:r>
            <a:r>
              <a:rPr sz="1100" b="0">
                <a:solidFill>
                  <a:schemeClr val="accent3">
                    <a:lumMod val="55000"/>
                    <a:lumOff val="45000"/>
                  </a:schemeClr>
                </a:solidFill>
                <a:latin typeface="Aptos Mono"/>
              </a:rPr>
              <a:t>"validate"</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"by"</a:t>
            </a:r>
            <a:r>
              <a:rPr sz="1100" b="0">
                <a:solidFill>
                  <a:schemeClr val="bg1"/>
                </a:solidFill>
                <a:latin typeface="Aptos Mono"/>
              </a:rPr>
              <a:t>: </a:t>
            </a:r>
            <a:r>
              <a:rPr sz="1100" b="0">
                <a:solidFill>
                  <a:schemeClr val="accent3">
                    <a:lumMod val="55000"/>
                    <a:lumOff val="45000"/>
                  </a:schemeClr>
                </a:solidFill>
                <a:latin typeface="Aptos Mono"/>
              </a:rPr>
              <a:t>"runtime"</a:t>
            </a:r>
            <a:r>
              <a:rPr sz="1100" b="0">
                <a:solidFill>
                  <a:schemeClr val="bg1"/>
                </a:solidFill>
                <a:latin typeface="Aptos Mono"/>
              </a:rPr>
              <a:t>}</a:t>
            </a:r>
            <a:endParaRPr/>
          </a:p>
        </p:txBody>
      </p:sp>
      <p:sp>
        <p:nvSpPr>
          <p:cNvPr id="751432525" name="Rectangle 9"/>
          <p:cNvSpPr/>
          <p:nvPr/>
        </p:nvSpPr>
        <p:spPr bwMode="auto">
          <a:xfrm>
            <a:off x="319251" y="4030000"/>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State holds the run's current information. A trace records its inputs, states and outputs over time.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03388454" name="Title 1"/>
          <p:cNvSpPr>
            <a:spLocks noGrp="1"/>
          </p:cNvSpPr>
          <p:nvPr>
            <p:ph type="title"/>
          </p:nvPr>
        </p:nvSpPr>
        <p:spPr bwMode="auto"/>
        <p:txBody>
          <a:bodyPr/>
          <a:lstStyle/>
          <a:p>
            <a:pPr>
              <a:defRPr/>
            </a:pPr>
            <a:r>
              <a:rPr/>
              <a:t>The planning agent's state machine</a:t>
            </a:r>
            <a:endParaRPr/>
          </a:p>
        </p:txBody>
      </p:sp>
      <p:sp>
        <p:nvSpPr>
          <p:cNvPr id="320138942" name="Content Placeholder 2"/>
          <p:cNvSpPr>
            <a:spLocks noGrp="1"/>
          </p:cNvSpPr>
          <p:nvPr>
            <p:ph idx="1"/>
          </p:nvPr>
        </p:nvSpPr>
        <p:spPr bwMode="auto">
          <a:xfrm>
            <a:off x="319251" y="700000"/>
            <a:ext cx="6014545" cy="300000"/>
          </a:xfrm>
        </p:spPr>
        <p:txBody>
          <a:bodyPr wrap="square" anchor="ctr">
            <a:normAutofit fontScale="47500" lnSpcReduction="20000"/>
          </a:bodyPr>
          <a:lstStyle/>
          <a:p>
            <a:pPr marL="0" indent="0">
              <a:buNone/>
              <a:defRPr/>
            </a:pPr>
            <a:r>
              <a:rPr sz="1400" b="1">
                <a:solidFill>
                  <a:srgbClr val="28285E"/>
                </a:solidFill>
              </a:rPr>
              <a:t>Each arrow shows its guard and set action. Output actions are omitted.</a:t>
            </a:r>
            <a:endParaRPr/>
          </a:p>
        </p:txBody>
      </p:sp>
      <p:pic>
        <p:nvPicPr>
          <p:cNvPr id="1687917623" name="Figure efsm-labelled" descr="efsm-labelled.png"/>
          <p:cNvPicPr>
            <a:picLocks noChangeAspect="1"/>
          </p:cNvPicPr>
          <p:nvPr/>
        </p:nvPicPr>
        <p:blipFill rotWithShape="1">
          <a:blip r:embed="rId3"/>
          <a:stretch/>
        </p:blipFill>
        <p:spPr bwMode="auto">
          <a:xfrm>
            <a:off x="250148" y="1090000"/>
            <a:ext cx="6152752" cy="2927316"/>
          </a:xfrm>
          <a:prstGeom prst="rect">
            <a:avLst/>
          </a:prstGeom>
        </p:spPr>
      </p:pic>
      <p:sp>
        <p:nvSpPr>
          <p:cNvPr id="1609686826" name="Rectangle 4"/>
          <p:cNvSpPr/>
          <p:nvPr/>
        </p:nvSpPr>
        <p:spPr bwMode="auto">
          <a:xfrm>
            <a:off x="319251" y="4213834"/>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Figure 1 in the lecture notes gives the full guards and state updates.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36807530" name="Title 1"/>
          <p:cNvSpPr>
            <a:spLocks noGrp="1"/>
          </p:cNvSpPr>
          <p:nvPr>
            <p:ph type="title"/>
          </p:nvPr>
        </p:nvSpPr>
        <p:spPr bwMode="auto"/>
        <p:txBody>
          <a:bodyPr/>
          <a:lstStyle/>
          <a:p>
            <a:pPr>
              <a:defRPr/>
            </a:pPr>
            <a:r>
              <a:rPr/>
              <a:t>The planning agent's forward path</a:t>
            </a:r>
            <a:endParaRPr/>
          </a:p>
        </p:txBody>
      </p:sp>
      <p:sp>
        <p:nvSpPr>
          <p:cNvPr id="1856518405" name="Content Placeholder 2"/>
          <p:cNvSpPr>
            <a:spLocks noGrp="1"/>
          </p:cNvSpPr>
          <p:nvPr>
            <p:ph idx="1"/>
          </p:nvPr>
        </p:nvSpPr>
        <p:spPr bwMode="auto">
          <a:xfrm>
            <a:off x="319251" y="700000"/>
            <a:ext cx="6014545" cy="507264"/>
          </a:xfrm>
        </p:spPr>
        <p:txBody>
          <a:bodyPr wrap="square" anchor="ctr">
            <a:normAutofit fontScale="47500" lnSpcReduction="20000"/>
          </a:bodyPr>
          <a:lstStyle/>
          <a:p>
            <a:pPr marL="0" indent="0">
              <a:buNone/>
              <a:defRPr/>
            </a:pPr>
            <a:r>
              <a:rPr sz="1400" b="1">
                <a:solidFill>
                  <a:srgbClr val="28285E"/>
                </a:solidFill>
              </a:rPr>
              <a:t>After the candidate patch passes the checks in submit, validate decides whether to accept it.</a:t>
            </a:r>
            <a:endParaRPr/>
          </a:p>
        </p:txBody>
      </p:sp>
      <p:pic>
        <p:nvPicPr>
          <p:cNvPr id="1217565852" name="Figure efsm-forward" descr="efsm-forward.png"/>
          <p:cNvPicPr>
            <a:picLocks noChangeAspect="1"/>
          </p:cNvPicPr>
          <p:nvPr/>
        </p:nvPicPr>
        <p:blipFill rotWithShape="1">
          <a:blip r:embed="rId3"/>
          <a:stretch/>
        </p:blipFill>
        <p:spPr bwMode="auto">
          <a:xfrm>
            <a:off x="250148" y="1297264"/>
            <a:ext cx="6152752" cy="2663452"/>
          </a:xfrm>
          <a:prstGeom prst="rect">
            <a:avLst/>
          </a:prstGeom>
        </p:spPr>
      </p:pic>
      <p:sp>
        <p:nvSpPr>
          <p:cNvPr id="53674081" name="Rectangle 4"/>
          <p:cNvSpPr/>
          <p:nvPr/>
        </p:nvSpPr>
        <p:spPr bwMode="auto">
          <a:xfrm>
            <a:off x="319251" y="4155970"/>
            <a:ext cx="6014545" cy="494792"/>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lang="en-US" sz="1200" b="1">
                <a:solidFill>
                  <a:srgbClr val="28285E"/>
                </a:solidFill>
              </a:rPr>
              <a:t>The agent stores the plan in its state. It carries out the plan’s subgoals through the control locations already defined in the graph.</a:t>
            </a:r>
            <a:endParaRPr sz="1200" b="1">
              <a:solidFill>
                <a:srgbClr val="28285E"/>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736243" name="Title 1"/>
          <p:cNvSpPr>
            <a:spLocks noGrp="1"/>
          </p:cNvSpPr>
          <p:nvPr>
            <p:ph type="title"/>
          </p:nvPr>
        </p:nvSpPr>
        <p:spPr bwMode="auto"/>
        <p:txBody>
          <a:bodyPr/>
          <a:lstStyle/>
          <a:p>
            <a:pPr>
              <a:defRPr/>
            </a:pPr>
            <a:r>
              <a:rPr/>
              <a:t>The planning agent's feedback edges</a:t>
            </a:r>
            <a:endParaRPr/>
          </a:p>
        </p:txBody>
      </p:sp>
      <p:sp>
        <p:nvSpPr>
          <p:cNvPr id="1638813032" name="Content Placeholder 2"/>
          <p:cNvSpPr>
            <a:spLocks noGrp="1"/>
          </p:cNvSpPr>
          <p:nvPr>
            <p:ph idx="1"/>
          </p:nvPr>
        </p:nvSpPr>
        <p:spPr bwMode="auto">
          <a:xfrm>
            <a:off x="319251" y="700000"/>
            <a:ext cx="6014545" cy="300000"/>
          </a:xfrm>
        </p:spPr>
        <p:txBody>
          <a:bodyPr wrap="square" anchor="ctr">
            <a:normAutofit fontScale="47500" lnSpcReduction="20000"/>
          </a:bodyPr>
          <a:lstStyle/>
          <a:p>
            <a:pPr marL="0" indent="0">
              <a:buNone/>
              <a:defRPr/>
            </a:pPr>
            <a:r>
              <a:rPr sz="1400" b="1">
                <a:solidFill>
                  <a:srgbClr val="28285E"/>
                </a:solidFill>
              </a:rPr>
              <a:t>The figure shows the tool loop, plan revision and candidate repair.</a:t>
            </a:r>
            <a:endParaRPr/>
          </a:p>
        </p:txBody>
      </p:sp>
      <p:pic>
        <p:nvPicPr>
          <p:cNvPr id="1464793894" name="Figure efsm-feedback" descr="efsm-feedback.png"/>
          <p:cNvPicPr>
            <a:picLocks noChangeAspect="1"/>
          </p:cNvPicPr>
          <p:nvPr/>
        </p:nvPicPr>
        <p:blipFill rotWithShape="1">
          <a:blip r:embed="rId3"/>
          <a:stretch/>
        </p:blipFill>
        <p:spPr bwMode="auto">
          <a:xfrm>
            <a:off x="250148" y="1090000"/>
            <a:ext cx="6152752" cy="2659877"/>
          </a:xfrm>
          <a:prstGeom prst="rect">
            <a:avLst/>
          </a:prstGeom>
        </p:spPr>
      </p:pic>
      <p:sp>
        <p:nvSpPr>
          <p:cNvPr id="1977096221" name="Rectangle 4"/>
          <p:cNvSpPr/>
          <p:nvPr/>
        </p:nvSpPr>
        <p:spPr bwMode="auto">
          <a:xfrm>
            <a:off x="319251" y="3952297"/>
            <a:ext cx="6014545" cy="657961"/>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If tools detects a stall before the plan has been revised, control returns to plan. If a check fails, submit adds the failure reasons to the messages and returns control to controller.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42666478" name="Title 1"/>
          <p:cNvSpPr>
            <a:spLocks noGrp="1"/>
          </p:cNvSpPr>
          <p:nvPr>
            <p:ph type="title"/>
          </p:nvPr>
        </p:nvSpPr>
        <p:spPr bwMode="auto"/>
        <p:txBody>
          <a:bodyPr/>
          <a:lstStyle/>
          <a:p>
            <a:pPr>
              <a:defRPr/>
            </a:pPr>
            <a:r>
              <a:rPr/>
              <a:t>The planning agent's exits</a:t>
            </a:r>
            <a:endParaRPr/>
          </a:p>
        </p:txBody>
      </p:sp>
      <p:sp>
        <p:nvSpPr>
          <p:cNvPr id="814260504" name="Content Placeholder 2"/>
          <p:cNvSpPr>
            <a:spLocks noGrp="1"/>
          </p:cNvSpPr>
          <p:nvPr>
            <p:ph idx="1"/>
          </p:nvPr>
        </p:nvSpPr>
        <p:spPr bwMode="auto">
          <a:xfrm>
            <a:off x="319251" y="700000"/>
            <a:ext cx="6014545" cy="507264"/>
          </a:xfrm>
        </p:spPr>
        <p:txBody>
          <a:bodyPr wrap="square" anchor="ctr">
            <a:normAutofit fontScale="47500" lnSpcReduction="20000"/>
          </a:bodyPr>
          <a:lstStyle/>
          <a:p>
            <a:pPr marL="0" indent="0">
              <a:buNone/>
              <a:defRPr/>
            </a:pPr>
            <a:r>
              <a:rPr sz="1400" b="1">
                <a:solidFill>
                  <a:srgbClr val="28285E"/>
                </a:solidFill>
              </a:rPr>
              <a:t>A run may end because it exhausts its call budget or stalls again after a plan revision.</a:t>
            </a:r>
            <a:endParaRPr/>
          </a:p>
        </p:txBody>
      </p:sp>
      <p:pic>
        <p:nvPicPr>
          <p:cNvPr id="1883980142" name="Figure efsm-exits" descr="efsm-exits.png"/>
          <p:cNvPicPr>
            <a:picLocks noChangeAspect="1"/>
          </p:cNvPicPr>
          <p:nvPr/>
        </p:nvPicPr>
        <p:blipFill rotWithShape="1">
          <a:blip r:embed="rId3"/>
          <a:stretch/>
        </p:blipFill>
        <p:spPr bwMode="auto">
          <a:xfrm>
            <a:off x="250148" y="1297264"/>
            <a:ext cx="6152752" cy="2663452"/>
          </a:xfrm>
          <a:prstGeom prst="rect">
            <a:avLst/>
          </a:prstGeom>
        </p:spPr>
      </p:pic>
      <p:sp>
        <p:nvSpPr>
          <p:cNvPr id="2069052673" name="Rectangle 4"/>
          <p:cNvSpPr/>
          <p:nvPr/>
        </p:nvSpPr>
        <p:spPr bwMode="auto">
          <a:xfrm>
            <a:off x="319251" y="4150716"/>
            <a:ext cx="6014545" cy="65084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Before each model call, plan, controller and validate end the run if the count has reached 40. The controller also ends the run if another stall occurs after plan revision.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88592232" name="Title 1"/>
          <p:cNvSpPr>
            <a:spLocks noGrp="1"/>
          </p:cNvSpPr>
          <p:nvPr>
            <p:ph type="title"/>
          </p:nvPr>
        </p:nvSpPr>
        <p:spPr bwMode="auto"/>
        <p:txBody>
          <a:bodyPr/>
          <a:lstStyle/>
          <a:p>
            <a:pPr>
              <a:defRPr/>
            </a:pPr>
            <a:r>
              <a:rPr/>
              <a:t>The recorded run through the planning agent</a:t>
            </a:r>
            <a:endParaRPr/>
          </a:p>
        </p:txBody>
      </p:sp>
      <p:sp>
        <p:nvSpPr>
          <p:cNvPr id="438307587" name="Content Placeholder 2"/>
          <p:cNvSpPr>
            <a:spLocks noGrp="1"/>
          </p:cNvSpPr>
          <p:nvPr>
            <p:ph idx="1"/>
          </p:nvPr>
        </p:nvSpPr>
        <p:spPr bwMode="auto">
          <a:xfrm>
            <a:off x="319251" y="700000"/>
            <a:ext cx="6014545" cy="507264"/>
          </a:xfrm>
        </p:spPr>
        <p:txBody>
          <a:bodyPr wrap="square" anchor="ctr">
            <a:normAutofit fontScale="47500" lnSpcReduction="20000"/>
          </a:bodyPr>
          <a:lstStyle/>
          <a:p>
            <a:pPr marL="0" indent="0">
              <a:buNone/>
              <a:defRPr/>
            </a:pPr>
            <a:r>
              <a:rPr sz="1400" b="1">
                <a:solidFill>
                  <a:srgbClr val="28285E"/>
                </a:solidFill>
              </a:rPr>
              <a:t>The blue arrows show the recorded trajectory: the sequence of transitions taken by run </a:t>
            </a:r>
            <a:r>
              <a:rPr sz="1400" b="0">
                <a:solidFill>
                  <a:srgbClr val="28285E"/>
                </a:solidFill>
                <a:latin typeface="Aptos Mono"/>
              </a:rPr>
              <a:t>bc284c6b</a:t>
            </a:r>
            <a:r>
              <a:rPr sz="1400" b="1">
                <a:solidFill>
                  <a:srgbClr val="28285E"/>
                </a:solidFill>
              </a:rPr>
              <a:t>.</a:t>
            </a:r>
            <a:endParaRPr/>
          </a:p>
        </p:txBody>
      </p:sp>
      <p:pic>
        <p:nvPicPr>
          <p:cNvPr id="1474193486" name="Figure efsm-run" descr="efsm-run.png"/>
          <p:cNvPicPr>
            <a:picLocks noChangeAspect="1"/>
          </p:cNvPicPr>
          <p:nvPr/>
        </p:nvPicPr>
        <p:blipFill rotWithShape="1">
          <a:blip r:embed="rId3"/>
          <a:stretch/>
        </p:blipFill>
        <p:spPr bwMode="auto">
          <a:xfrm>
            <a:off x="250148" y="1297264"/>
            <a:ext cx="6152752" cy="2409619"/>
          </a:xfrm>
          <a:prstGeom prst="rect">
            <a:avLst/>
          </a:prstGeom>
        </p:spPr>
      </p:pic>
      <p:sp>
        <p:nvSpPr>
          <p:cNvPr id="1656002132" name="Rectangle 4"/>
          <p:cNvSpPr/>
          <p:nvPr/>
        </p:nvSpPr>
        <p:spPr bwMode="auto">
          <a:xfrm>
            <a:off x="319251" y="3908136"/>
            <a:ext cx="6014545" cy="652385"/>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run repairs a Bandit B608 alert at line 46 of </a:t>
            </a:r>
            <a:r>
              <a:rPr sz="1200" b="0">
                <a:solidFill>
                  <a:srgbClr val="28285E"/>
                </a:solidFill>
                <a:latin typeface="Aptos Mono"/>
              </a:rPr>
              <a:t>testcode</a:t>
            </a:r>
            <a:r>
              <a:rPr sz="1200" b="0">
                <a:solidFill>
                  <a:srgbClr val="28285E"/>
                </a:solidFill>
                <a:latin typeface="Aptos Mono"/>
              </a:rPr>
              <a:t>/BenchmarkTest00283.py</a:t>
            </a:r>
            <a:r>
              <a:rPr sz="1200" b="1">
                <a:solidFill>
                  <a:srgbClr val="28285E"/>
                </a:solidFill>
              </a:rPr>
              <a:t> in seven model calls: one in plan, five in controller and one in validate.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82709086" name="Title 1"/>
          <p:cNvSpPr>
            <a:spLocks noGrp="1"/>
          </p:cNvSpPr>
          <p:nvPr>
            <p:ph type="title"/>
          </p:nvPr>
        </p:nvSpPr>
        <p:spPr bwMode="auto"/>
        <p:txBody>
          <a:bodyPr/>
          <a:lstStyle/>
          <a:p>
            <a:pPr>
              <a:defRPr/>
            </a:pPr>
            <a:r>
              <a:rPr/>
              <a:t>The recorded run in the computation tree</a:t>
            </a:r>
            <a:endParaRPr/>
          </a:p>
        </p:txBody>
      </p:sp>
      <p:sp>
        <p:nvSpPr>
          <p:cNvPr id="1268515411" name="Content Placeholder 2"/>
          <p:cNvSpPr>
            <a:spLocks noGrp="1"/>
          </p:cNvSpPr>
          <p:nvPr>
            <p:ph idx="1"/>
          </p:nvPr>
        </p:nvSpPr>
        <p:spPr bwMode="auto">
          <a:xfrm>
            <a:off x="319251" y="700000"/>
            <a:ext cx="6014545" cy="742608"/>
          </a:xfrm>
        </p:spPr>
        <p:txBody>
          <a:bodyPr wrap="square" anchor="ctr">
            <a:normAutofit/>
          </a:bodyPr>
          <a:lstStyle/>
          <a:p>
            <a:pPr marL="0" indent="0">
              <a:buNone/>
              <a:defRPr/>
            </a:pPr>
            <a:r>
              <a:rPr sz="1050" b="1">
                <a:solidFill>
                  <a:srgbClr val="28285E"/>
                </a:solidFill>
              </a:rPr>
              <a:t>A trajectory is the path a run follows through the computation tree. Every visit to controller gets a separate node showing that visit's configuration and possible replies.</a:t>
            </a:r>
            <a:endParaRPr/>
          </a:p>
        </p:txBody>
      </p:sp>
      <p:pic>
        <p:nvPicPr>
          <p:cNvPr id="95168057" name="Figure trace-tree" descr="trace-tree.png"/>
          <p:cNvPicPr>
            <a:picLocks noChangeAspect="1"/>
          </p:cNvPicPr>
          <p:nvPr/>
        </p:nvPicPr>
        <p:blipFill rotWithShape="1">
          <a:blip r:embed="rId3"/>
          <a:stretch/>
        </p:blipFill>
        <p:spPr bwMode="auto">
          <a:xfrm>
            <a:off x="250148" y="1532608"/>
            <a:ext cx="6152752" cy="1612270"/>
          </a:xfrm>
          <a:prstGeom prst="rect">
            <a:avLst/>
          </a:prstGeom>
        </p:spPr>
      </p:pic>
      <p:sp>
        <p:nvSpPr>
          <p:cNvPr id="1368558825" name="Rectangle 4"/>
          <p:cNvSpPr/>
          <p:nvPr/>
        </p:nvSpPr>
        <p:spPr bwMode="auto">
          <a:xfrm>
            <a:off x="319251" y="3379486"/>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machine diagram shows permitted transitions. The tree shows possible sequences of transitions from the initial configuration.</a:t>
            </a:r>
            <a:endParaRPr/>
          </a:p>
        </p:txBody>
      </p:sp>
      <p:sp>
        <p:nvSpPr>
          <p:cNvPr id="1746396147" name="Rectangle 5"/>
          <p:cNvSpPr/>
          <p:nvPr/>
        </p:nvSpPr>
        <p:spPr bwMode="auto">
          <a:xfrm>
            <a:off x="319251" y="4180287"/>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Figure 2 in the notes shows more of the tree. Each count is the number of model calls completed on reaching that node.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21054583" name="Title 1"/>
          <p:cNvSpPr>
            <a:spLocks noGrp="1"/>
          </p:cNvSpPr>
          <p:nvPr>
            <p:ph type="title"/>
          </p:nvPr>
        </p:nvSpPr>
        <p:spPr bwMode="auto"/>
        <p:txBody>
          <a:bodyPr/>
          <a:lstStyle/>
          <a:p>
            <a:pPr>
              <a:defRPr/>
            </a:pPr>
            <a:r>
              <a:rPr/>
              <a:t>What the event log records and omits</a:t>
            </a:r>
            <a:endParaRPr/>
          </a:p>
        </p:txBody>
      </p:sp>
      <p:sp>
        <p:nvSpPr>
          <p:cNvPr id="1491233907" name="Content Placeholder 2"/>
          <p:cNvSpPr>
            <a:spLocks noGrp="1"/>
          </p:cNvSpPr>
          <p:nvPr>
            <p:ph idx="1"/>
          </p:nvPr>
        </p:nvSpPr>
        <p:spPr bwMode="auto">
          <a:xfrm>
            <a:off x="319251" y="691756"/>
            <a:ext cx="6014545" cy="2309728"/>
          </a:xfrm>
        </p:spPr>
        <p:txBody>
          <a:bodyPr wrap="square" anchor="ctr">
            <a:normAutofit fontScale="92500" lnSpcReduction="20000"/>
          </a:bodyPr>
          <a:lstStyle/>
          <a:p>
            <a:pPr marL="0" indent="0">
              <a:buNone/>
              <a:defRPr/>
            </a:pPr>
            <a:r>
              <a:rPr sz="1400" b="1">
                <a:solidFill>
                  <a:srgbClr val="28285E"/>
                </a:solidFill>
              </a:rPr>
              <a:t>The event log records selected inputs, outputs and state values.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successful </a:t>
            </a:r>
            <a:r>
              <a:rPr sz="1400" b="0">
                <a:solidFill>
                  <a:schemeClr val="tx1"/>
                </a:solidFill>
                <a:latin typeface="Aptos Mono"/>
              </a:rPr>
              <a:t>tool_result</a:t>
            </a:r>
            <a:r>
              <a:rPr sz="1400" b="1">
                <a:solidFill>
                  <a:schemeClr val="tx1"/>
                </a:solidFill>
              </a:rPr>
              <a:t> event</a:t>
            </a:r>
            <a:r>
              <a:rPr sz="1400" b="0">
                <a:solidFill>
                  <a:schemeClr val="tx1"/>
                </a:solidFill>
              </a:rPr>
              <a:t> records the result’s length, in characters. It omits the returned text.</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log omits routing events</a:t>
            </a:r>
            <a:r>
              <a:rPr sz="1400" b="0">
                <a:solidFill>
                  <a:schemeClr val="tx1"/>
                </a:solidFill>
              </a:rPr>
              <a:t> from tools and plan to controller. We infer these routes from the next controller call and transition rules.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log omits the call counter.</a:t>
            </a:r>
            <a:r>
              <a:rPr sz="1400" b="0">
                <a:solidFill>
                  <a:schemeClr val="tx1"/>
                </a:solidFill>
              </a:rPr>
              <a:t> We start at zero and add one for each logged model call.</a:t>
            </a:r>
            <a:endParaRPr/>
          </a:p>
        </p:txBody>
      </p:sp>
      <p:pic>
        <p:nvPicPr>
          <p:cNvPr id="956133300" name="Figure event-strip" descr="event-strip.png"/>
          <p:cNvPicPr>
            <a:picLocks noChangeAspect="1"/>
          </p:cNvPicPr>
          <p:nvPr/>
        </p:nvPicPr>
        <p:blipFill rotWithShape="1">
          <a:blip r:embed="rId3"/>
          <a:stretch/>
        </p:blipFill>
        <p:spPr bwMode="auto">
          <a:xfrm>
            <a:off x="726524" y="3188151"/>
            <a:ext cx="5200000" cy="804381"/>
          </a:xfrm>
          <a:prstGeom prst="rect">
            <a:avLst/>
          </a:prstGeom>
        </p:spPr>
      </p:pic>
      <p:sp>
        <p:nvSpPr>
          <p:cNvPr id="585709096" name="Rectangle 4"/>
          <p:cNvSpPr/>
          <p:nvPr/>
        </p:nvSpPr>
        <p:spPr bwMode="auto">
          <a:xfrm>
            <a:off x="319251" y="4179199"/>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claim about a run must say whether it is recorded directly in the log or inferred from logged events and transition rules.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93865315" name="TextBox 1"/>
          <p:cNvSpPr txBox="1"/>
          <p:nvPr/>
        </p:nvSpPr>
        <p:spPr bwMode="auto">
          <a:xfrm>
            <a:off x="429000" y="1863864"/>
            <a:ext cx="6000000" cy="1415772"/>
          </a:xfrm>
          <a:prstGeom prst="rect">
            <a:avLst/>
          </a:prstGeom>
          <a:noFill/>
        </p:spPr>
        <p:txBody>
          <a:bodyPr wrap="square" anchor="ctr">
            <a:spAutoFit/>
          </a:bodyPr>
          <a:lstStyle/>
          <a:p>
            <a:pPr algn="ctr">
              <a:defRPr/>
            </a:pPr>
            <a:r>
              <a:rPr sz="4000" b="1">
                <a:solidFill>
                  <a:schemeClr val="tx2"/>
                </a:solidFill>
                <a:latin typeface="+mj-lt"/>
              </a:rPr>
              <a:t>State records and transitions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81383114" name="Title 1"/>
          <p:cNvSpPr>
            <a:spLocks noGrp="1"/>
          </p:cNvSpPr>
          <p:nvPr>
            <p:ph type="title"/>
          </p:nvPr>
        </p:nvSpPr>
        <p:spPr bwMode="auto"/>
        <p:txBody>
          <a:bodyPr/>
          <a:lstStyle/>
          <a:p>
            <a:pPr>
              <a:defRPr/>
            </a:pPr>
            <a:r>
              <a:rPr/>
              <a:t>State records and schemas</a:t>
            </a:r>
            <a:endParaRPr/>
          </a:p>
        </p:txBody>
      </p:sp>
      <p:sp>
        <p:nvSpPr>
          <p:cNvPr id="1012236895"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diagram shows control flow: which computation may run next. The state record supplies the values it reads.</a:t>
            </a:r>
            <a:endParaRPr/>
          </a:p>
          <a:p>
            <a:pPr marL="400050" indent="-285750">
              <a:spcBef>
                <a:spcPts val="600"/>
              </a:spcBef>
              <a:spcAft>
                <a:spcPts val="600"/>
              </a:spcAft>
              <a:buClr>
                <a:srgbClr val="28285E"/>
              </a:buClr>
              <a:buSzPts val="1260"/>
              <a:buFont typeface="+mn-lt"/>
              <a:buChar char="●"/>
              <a:defRPr/>
            </a:pPr>
            <a:r>
              <a:rPr sz="1400" b="1">
                <a:solidFill>
                  <a:schemeClr val="tx1"/>
                </a:solidFill>
              </a:rPr>
              <a:t>Each record instance</a:t>
            </a:r>
            <a:r>
              <a:rPr sz="1400" b="0">
                <a:solidFill>
                  <a:schemeClr val="tx1"/>
                </a:solidFill>
              </a:rPr>
              <a:t> holds current values. The runtime tracks the control location, which identifies the next computation.</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schema</a:t>
            </a:r>
            <a:r>
              <a:rPr sz="1400" b="0">
                <a:solidFill>
                  <a:schemeClr val="tx1"/>
                </a:solidFill>
              </a:rPr>
              <a:t> declares field names and types. Nodes return partial updates containing only the fields they update.</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Aptos Mono"/>
              </a:rPr>
              <a:t>StateGraph(AgentState)</a:t>
            </a:r>
            <a:r>
              <a:rPr sz="1400" b="0">
                <a:solidFill>
                  <a:schemeClr val="tx1"/>
                </a:solidFill>
              </a:rPr>
              <a:t> uses the field declarations in </a:t>
            </a:r>
            <a:r>
              <a:rPr sz="1400" b="0">
                <a:solidFill>
                  <a:schemeClr val="tx1"/>
                </a:solidFill>
                <a:latin typeface="Aptos Mono"/>
              </a:rPr>
              <a:t>AgentState</a:t>
            </a:r>
            <a:r>
              <a:rPr sz="1400" b="0">
                <a:solidFill>
                  <a:schemeClr val="tx1"/>
                </a:solidFill>
              </a:rPr>
              <a:t> to define the graph's shared state.</a:t>
            </a:r>
            <a:endParaRPr/>
          </a:p>
        </p:txBody>
      </p:sp>
      <p:sp>
        <p:nvSpPr>
          <p:cNvPr id="1364088137"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state record stores the information retained between steps as named fields and their current values. For example, </a:t>
            </a:r>
            <a:r>
              <a:rPr sz="1400" b="0">
                <a:solidFill>
                  <a:schemeClr val="tx2"/>
                </a:solidFill>
                <a:latin typeface="Aptos Mono"/>
              </a:rPr>
              <a:t>model_calls: 2</a:t>
            </a:r>
            <a:r>
              <a:rPr sz="1400" b="0">
                <a:solidFill>
                  <a:schemeClr val="tx2"/>
                </a:solidFill>
              </a:rPr>
              <a:t> records two completed model calls.</a:t>
            </a:r>
            <a:endParaRPr/>
          </a:p>
        </p:txBody>
      </p:sp>
      <p:sp>
        <p:nvSpPr>
          <p:cNvPr id="1795759839"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Routing functions use the updated record to select the next node.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58569782" name="Title 1"/>
          <p:cNvSpPr>
            <a:spLocks noGrp="1"/>
          </p:cNvSpPr>
          <p:nvPr>
            <p:ph type="title"/>
          </p:nvPr>
        </p:nvSpPr>
        <p:spPr bwMode="auto"/>
        <p:txBody>
          <a:bodyPr/>
          <a:lstStyle/>
          <a:p>
            <a:pPr>
              <a:defRPr/>
            </a:pPr>
            <a:r>
              <a:rPr/>
              <a:t>Partial updates and state transitions</a:t>
            </a:r>
            <a:endParaRPr/>
          </a:p>
        </p:txBody>
      </p:sp>
      <p:sp>
        <p:nvSpPr>
          <p:cNvPr id="245748259" name="Content Placeholder 2"/>
          <p:cNvSpPr>
            <a:spLocks noGrp="1"/>
          </p:cNvSpPr>
          <p:nvPr>
            <p:ph idx="1"/>
          </p:nvPr>
        </p:nvSpPr>
        <p:spPr bwMode="auto">
          <a:xfrm>
            <a:off x="319251" y="700000"/>
            <a:ext cx="6014545" cy="500000"/>
          </a:xfrm>
        </p:spPr>
        <p:txBody>
          <a:bodyPr wrap="square" anchor="ctr">
            <a:normAutofit fontScale="85000" lnSpcReduction="10000"/>
          </a:bodyPr>
          <a:lstStyle/>
          <a:p>
            <a:pPr marL="0" indent="0">
              <a:buNone/>
              <a:defRPr/>
            </a:pPr>
            <a:r>
              <a:rPr sz="1400" b="1">
                <a:solidFill>
                  <a:srgbClr val="28285E"/>
                </a:solidFill>
              </a:rPr>
              <a:t>A node returns a partial update mapping selected fields to values. The runtime applies each field’s update rule.</a:t>
            </a:r>
            <a:endParaRPr/>
          </a:p>
        </p:txBody>
      </p:sp>
      <p:pic>
        <p:nvPicPr>
          <p:cNvPr id="1345424320" name="Figure s2-state-transition" descr="s2-state-transition.png"/>
          <p:cNvPicPr>
            <a:picLocks noChangeAspect="1"/>
          </p:cNvPicPr>
          <p:nvPr/>
        </p:nvPicPr>
        <p:blipFill rotWithShape="1">
          <a:blip r:embed="rId3"/>
          <a:stretch/>
        </p:blipFill>
        <p:spPr bwMode="auto">
          <a:xfrm>
            <a:off x="445175" y="1390000"/>
            <a:ext cx="5762699" cy="2510000"/>
          </a:xfrm>
          <a:prstGeom prst="rect">
            <a:avLst/>
          </a:prstGeom>
        </p:spPr>
      </p:pic>
      <p:sp>
        <p:nvSpPr>
          <p:cNvPr id="2108865140" name="Rectangle 4"/>
          <p:cNvSpPr/>
          <p:nvPr/>
        </p:nvSpPr>
        <p:spPr bwMode="auto">
          <a:xfrm>
            <a:off x="319251" y="4090000"/>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 field omitted from the partial update keeps its stored value (Figure 3 in the lecture notes).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25352758" name="Title 1"/>
          <p:cNvSpPr>
            <a:spLocks noGrp="1"/>
          </p:cNvSpPr>
          <p:nvPr>
            <p:ph type="title"/>
          </p:nvPr>
        </p:nvSpPr>
        <p:spPr bwMode="auto"/>
        <p:txBody>
          <a:bodyPr/>
          <a:lstStyle/>
          <a:p>
            <a:pPr>
              <a:defRPr/>
            </a:pPr>
            <a:r>
              <a:rPr/>
              <a:t>The controller's three return sites</a:t>
            </a:r>
            <a:endParaRPr/>
          </a:p>
        </p:txBody>
      </p:sp>
      <p:sp>
        <p:nvSpPr>
          <p:cNvPr id="412191039" name="Content Placeholder 2"/>
          <p:cNvSpPr>
            <a:spLocks noGrp="1"/>
          </p:cNvSpPr>
          <p:nvPr>
            <p:ph idx="1"/>
          </p:nvPr>
        </p:nvSpPr>
        <p:spPr bwMode="auto">
          <a:xfrm>
            <a:off x="319251" y="700000"/>
            <a:ext cx="6014545" cy="500000"/>
          </a:xfrm>
        </p:spPr>
        <p:txBody>
          <a:bodyPr wrap="square" anchor="ctr">
            <a:normAutofit fontScale="85000" lnSpcReduction="10000"/>
          </a:bodyPr>
          <a:lstStyle/>
          <a:p>
            <a:pPr marL="0" indent="0">
              <a:buNone/>
              <a:defRPr/>
            </a:pPr>
            <a:r>
              <a:rPr sz="1400" b="1">
                <a:solidFill>
                  <a:srgbClr val="28285E"/>
                </a:solidFill>
              </a:rPr>
              <a:t>The loop's controller returns either an update from a completed model call or a status explaining why the run must stop.</a:t>
            </a:r>
            <a:endParaRPr/>
          </a:p>
        </p:txBody>
      </p:sp>
      <p:pic>
        <p:nvPicPr>
          <p:cNvPr id="229997665" name="Figure s2-controller-update" descr="s2-controller-update.png"/>
          <p:cNvPicPr>
            <a:picLocks noChangeAspect="1"/>
          </p:cNvPicPr>
          <p:nvPr/>
        </p:nvPicPr>
        <p:blipFill rotWithShape="1">
          <a:blip r:embed="rId3"/>
          <a:stretch/>
        </p:blipFill>
        <p:spPr bwMode="auto">
          <a:xfrm>
            <a:off x="250148" y="1390000"/>
            <a:ext cx="6152752" cy="1728087"/>
          </a:xfrm>
          <a:prstGeom prst="rect">
            <a:avLst/>
          </a:prstGeom>
        </p:spPr>
      </p:pic>
      <p:sp>
        <p:nvSpPr>
          <p:cNvPr id="824321059" name="Rectangle 4"/>
          <p:cNvSpPr/>
          <p:nvPr/>
        </p:nvSpPr>
        <p:spPr bwMode="auto">
          <a:xfrm>
            <a:off x="319251" y="3308087"/>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controller returns messages, </a:t>
            </a:r>
            <a:r>
              <a:rPr sz="1200" b="0">
                <a:solidFill>
                  <a:srgbClr val="28285E"/>
                </a:solidFill>
                <a:latin typeface="Aptos Mono"/>
              </a:rPr>
              <a:t>model_calls</a:t>
            </a:r>
            <a:r>
              <a:rPr sz="1200" b="1">
                <a:solidFill>
                  <a:srgbClr val="28285E"/>
                </a:solidFill>
              </a:rPr>
              <a:t> and usage after a model call, or status when a limit stops the run. Six fields remain unchanged (Figure 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66894168" name="Title 1"/>
          <p:cNvSpPr>
            <a:spLocks noGrp="1"/>
          </p:cNvSpPr>
          <p:nvPr>
            <p:ph type="title"/>
          </p:nvPr>
        </p:nvSpPr>
        <p:spPr bwMode="auto"/>
        <p:txBody>
          <a:bodyPr/>
          <a:lstStyle/>
          <a:p>
            <a:pPr>
              <a:defRPr/>
            </a:pPr>
            <a:r>
              <a:rPr/>
              <a:t>The controller's return sites, in code</a:t>
            </a:r>
            <a:endParaRPr/>
          </a:p>
        </p:txBody>
      </p:sp>
      <p:sp>
        <p:nvSpPr>
          <p:cNvPr id="2087286041"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Each return gives the runtime a partial update: either a stopping status or the reply and accounting data from one model call.</a:t>
            </a:r>
            <a:endParaRPr/>
          </a:p>
        </p:txBody>
      </p:sp>
      <p:sp>
        <p:nvSpPr>
          <p:cNvPr id="1654245959"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1">
                <a:solidFill>
                  <a:srgbClr val="28285E"/>
                </a:solidFill>
              </a:rPr>
              <a:t>graph.py, controller, lines 298 to 313. Trace event and model setup omitted</a:t>
            </a:r>
            <a:endParaRPr/>
          </a:p>
        </p:txBody>
      </p:sp>
      <p:sp>
        <p:nvSpPr>
          <p:cNvPr id="872152647" name="Rectangle 9"/>
          <p:cNvSpPr/>
          <p:nvPr/>
        </p:nvSpPr>
        <p:spPr bwMode="auto">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runtime uses reducers to append the reply, add one to </a:t>
            </a:r>
            <a:r>
              <a:rPr sz="1200" b="0">
                <a:solidFill>
                  <a:schemeClr val="tx2"/>
                </a:solidFill>
                <a:latin typeface="Aptos Mono"/>
              </a:rPr>
              <a:t>model_calls</a:t>
            </a:r>
            <a:r>
              <a:rPr sz="1200" b="1">
                <a:solidFill>
                  <a:schemeClr val="tx2"/>
                </a:solidFill>
              </a:rPr>
              <a:t> and add each token count to its running total.</a:t>
            </a:r>
            <a:endParaRPr/>
          </a:p>
        </p:txBody>
      </p:sp>
      <p:sp>
        <p:nvSpPr>
          <p:cNvPr id="2022662489" name="CodeWindow"/>
          <p:cNvSpPr/>
          <p:nvPr/>
        </p:nvSpPr>
        <p:spPr bwMode="auto">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76207532"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92451237"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9058976"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08116697" name="WinText"/>
          <p:cNvSpPr txBox="1"/>
          <p:nvPr/>
        </p:nvSpPr>
        <p:spPr bwMode="auto">
          <a:xfrm>
            <a:off x="469251" y="1980000"/>
            <a:ext cx="5714545" cy="1890000"/>
          </a:xfrm>
          <a:prstGeom prst="rect">
            <a:avLst/>
          </a:prstGeom>
          <a:noFill/>
        </p:spPr>
        <p:txBody>
          <a:bodyPr wrap="none" lIns="0" tIns="0" rIns="0" bIns="0" anchor="t">
            <a:spAutoFit/>
          </a:bodyPr>
          <a:lstStyle/>
          <a:p>
            <a:pPr algn="l">
              <a:buNone/>
              <a:defRPr/>
            </a:pPr>
            <a:r>
              <a:rPr sz="1100" b="0">
                <a:solidFill>
                  <a:schemeClr val="bg1"/>
                </a:solidFill>
                <a:latin typeface="Aptos Mono"/>
              </a:rPr>
              <a:t>spent = </a:t>
            </a:r>
            <a:r>
              <a:rPr sz="1100" b="0">
                <a:solidFill>
                  <a:schemeClr val="accent2"/>
                </a:solidFill>
                <a:latin typeface="Aptos Mono"/>
              </a:rPr>
              <a:t>self</a:t>
            </a:r>
            <a:r>
              <a:rPr sz="1100" b="0">
                <a:solidFill>
                  <a:schemeClr val="bg1"/>
                </a:solidFill>
                <a:latin typeface="Aptos Mono"/>
              </a:rPr>
              <a:t>._admit(state)</a:t>
            </a:r>
            <a:endParaRPr/>
          </a:p>
          <a:p>
            <a:pPr algn="l">
              <a:buNone/>
              <a:defRPr/>
            </a:pPr>
            <a:r>
              <a:rPr sz="1100" b="0">
                <a:solidFill>
                  <a:schemeClr val="accent2"/>
                </a:solidFill>
                <a:latin typeface="Aptos Mono"/>
              </a:rPr>
              <a:t>if</a:t>
            </a:r>
            <a:r>
              <a:rPr sz="1100" b="0">
                <a:solidFill>
                  <a:schemeClr val="bg1"/>
                </a:solidFill>
                <a:latin typeface="Aptos Mono"/>
              </a:rPr>
              <a:t> spent:</a:t>
            </a:r>
            <a:endParaRPr/>
          </a:p>
          <a:p>
            <a:pPr algn="l">
              <a:buNone/>
              <a:defRPr/>
            </a:pPr>
            <a:r>
              <a:rPr sz="1100" b="0">
                <a:solidFill>
                  <a:schemeClr val="bg1"/>
                </a:solidFill>
                <a:latin typeface="Aptos Mono"/>
              </a:rPr>
              <a:t>    </a:t>
            </a:r>
            <a:r>
              <a:rPr sz="1100" b="1">
                <a:solidFill>
                  <a:schemeClr val="accent4">
                    <a:lumMod val="70000"/>
                    <a:lumOff val="30000"/>
                  </a:schemeClr>
                </a:solidFill>
                <a:latin typeface="Aptos Mono"/>
              </a:rPr>
              <a:t>return</a:t>
            </a:r>
            <a:r>
              <a:rPr sz="1100" b="0">
                <a:solidFill>
                  <a:schemeClr val="bg1"/>
                </a:solidFill>
                <a:latin typeface="Aptos Mono"/>
              </a:rPr>
              <a:t> spent</a:t>
            </a:r>
            <a:endParaRPr/>
          </a:p>
          <a:p>
            <a:pPr algn="l">
              <a:buNone/>
              <a:defRPr/>
            </a:pPr>
            <a:r>
              <a:rPr sz="1100" b="0">
                <a:solidFill>
                  <a:schemeClr val="accent2"/>
                </a:solidFill>
                <a:latin typeface="Aptos Mono"/>
              </a:rPr>
              <a:t>if</a:t>
            </a:r>
            <a:r>
              <a:rPr sz="1100" b="0">
                <a:solidFill>
                  <a:schemeClr val="bg1"/>
                </a:solidFill>
                <a:latin typeface="Aptos Mono"/>
              </a:rPr>
              <a:t> </a:t>
            </a:r>
            <a:r>
              <a:rPr sz="1100" b="0">
                <a:solidFill>
                  <a:schemeClr val="accent2"/>
                </a:solidFill>
                <a:latin typeface="Aptos Mono"/>
              </a:rPr>
              <a:t>self</a:t>
            </a:r>
            <a:r>
              <a:rPr sz="1100" b="0">
                <a:solidFill>
                  <a:schemeClr val="bg1"/>
                </a:solidFill>
                <a:latin typeface="Aptos Mono"/>
              </a:rPr>
              <a:t>.stalled(</a:t>
            </a:r>
            <a:r>
              <a:rPr sz="1100" b="0">
                <a:solidFill>
                  <a:schemeClr val="accent2"/>
                </a:solidFill>
                <a:latin typeface="Aptos Mono"/>
              </a:rPr>
              <a:t>self</a:t>
            </a:r>
            <a:r>
              <a:rPr sz="1100" b="0">
                <a:solidFill>
                  <a:schemeClr val="bg1"/>
                </a:solidFill>
                <a:latin typeface="Aptos Mono"/>
              </a:rPr>
              <a:t>.planning_window(state),</a:t>
            </a:r>
            <a:endParaRPr/>
          </a:p>
          <a:p>
            <a:pPr algn="l">
              <a:buNone/>
              <a:defRPr/>
            </a:pPr>
            <a:r>
              <a:rPr sz="1100" b="0">
                <a:solidFill>
                  <a:schemeClr val="bg1"/>
                </a:solidFill>
                <a:latin typeface="Aptos Mono"/>
              </a:rPr>
              <a:t>                </a:t>
            </a:r>
            <a:r>
              <a:rPr sz="1100" b="0">
                <a:solidFill>
                  <a:schemeClr val="accent2"/>
                </a:solidFill>
                <a:latin typeface="Aptos Mono"/>
              </a:rPr>
              <a:t>self</a:t>
            </a:r>
            <a:r>
              <a:rPr sz="1100" b="0">
                <a:solidFill>
                  <a:schemeClr val="bg1"/>
                </a:solidFill>
                <a:latin typeface="Aptos Mono"/>
              </a:rPr>
              <a:t>.config.no_progress_steps):</a:t>
            </a:r>
            <a:endParaRPr/>
          </a:p>
          <a:p>
            <a:pPr algn="l">
              <a:buNone/>
              <a:defRPr/>
            </a:pPr>
            <a:r>
              <a:rPr sz="1100" b="0">
                <a:solidFill>
                  <a:schemeClr val="bg1"/>
                </a:solidFill>
                <a:latin typeface="Aptos Mono"/>
              </a:rPr>
              <a:t>    </a:t>
            </a:r>
            <a:r>
              <a:rPr sz="1100" b="1">
                <a:solidFill>
                  <a:schemeClr val="accent4">
                    <a:lumMod val="70000"/>
                    <a:lumOff val="30000"/>
                  </a:schemeClr>
                </a:solidFill>
                <a:latin typeface="Aptos Mono"/>
              </a:rPr>
              <a:t>return</a:t>
            </a:r>
            <a:r>
              <a:rPr sz="1100" b="0">
                <a:solidFill>
                  <a:schemeClr val="bg1"/>
                </a:solidFill>
                <a:latin typeface="Aptos Mono"/>
              </a:rPr>
              <a:t> {</a:t>
            </a:r>
            <a:r>
              <a:rPr sz="1100" b="0">
                <a:solidFill>
                  <a:schemeClr val="accent3">
                    <a:lumMod val="55000"/>
                    <a:lumOff val="45000"/>
                  </a:schemeClr>
                </a:solidFill>
                <a:latin typeface="Aptos Mono"/>
              </a:rPr>
              <a:t>"status"</a:t>
            </a:r>
            <a:r>
              <a:rPr sz="1100" b="0">
                <a:solidFill>
                  <a:schemeClr val="bg1"/>
                </a:solidFill>
                <a:latin typeface="Aptos Mono"/>
              </a:rPr>
              <a:t>: TerminalStatus.NO_PROGRESS}</a:t>
            </a:r>
            <a:endParaRPr/>
          </a:p>
          <a:p>
            <a:pPr algn="l">
              <a:buNone/>
              <a:defRPr/>
            </a:pPr>
            <a:r>
              <a:rPr sz="1100" b="0">
                <a:solidFill>
                  <a:schemeClr val="bg1"/>
                </a:solidFill>
                <a:latin typeface="Aptos Mono"/>
              </a:rPr>
              <a:t>reply = </a:t>
            </a:r>
            <a:r>
              <a:rPr sz="1100" b="0">
                <a:solidFill>
                  <a:schemeClr val="accent2"/>
                </a:solidFill>
                <a:latin typeface="Aptos Mono"/>
              </a:rPr>
              <a:t>self</a:t>
            </a:r>
            <a:r>
              <a:rPr sz="1100" b="0">
                <a:solidFill>
                  <a:schemeClr val="bg1"/>
                </a:solidFill>
                <a:latin typeface="Aptos Mono"/>
              </a:rPr>
              <a:t>._call(model, state[</a:t>
            </a:r>
            <a:r>
              <a:rPr sz="1100" b="0">
                <a:solidFill>
                  <a:schemeClr val="accent3">
                    <a:lumMod val="55000"/>
                    <a:lumOff val="45000"/>
                  </a:schemeClr>
                </a:solidFill>
                <a:latin typeface="Aptos Mono"/>
              </a:rPr>
              <a:t>"messages"</a:t>
            </a:r>
            <a:r>
              <a:rPr sz="1100" b="0">
                <a:solidFill>
                  <a:schemeClr val="bg1"/>
                </a:solidFill>
                <a:latin typeface="Aptos Mono"/>
              </a:rPr>
              <a:t>], role=</a:t>
            </a:r>
            <a:r>
              <a:rPr sz="1100" b="0">
                <a:solidFill>
                  <a:schemeClr val="accent3">
                    <a:lumMod val="55000"/>
                    <a:lumOff val="45000"/>
                  </a:schemeClr>
                </a:solidFill>
                <a:latin typeface="Aptos Mono"/>
              </a:rPr>
              <a:t>"controller"</a:t>
            </a:r>
            <a:r>
              <a:rPr sz="1100" b="0">
                <a:solidFill>
                  <a:schemeClr val="bg1"/>
                </a:solidFill>
                <a:latin typeface="Aptos Mono"/>
              </a:rPr>
              <a:t>)</a:t>
            </a:r>
            <a:endParaRPr/>
          </a:p>
          <a:p>
            <a:pPr algn="l">
              <a:buNone/>
              <a:defRPr/>
            </a:pPr>
            <a:r>
              <a:rPr sz="1100" b="1">
                <a:solidFill>
                  <a:schemeClr val="accent4">
                    <a:lumMod val="70000"/>
                    <a:lumOff val="30000"/>
                  </a:schemeClr>
                </a:solidFill>
                <a:latin typeface="Aptos Mono"/>
              </a:rPr>
              <a:t>return</a:t>
            </a:r>
            <a:r>
              <a:rPr sz="1100" b="0">
                <a:solidFill>
                  <a:schemeClr val="bg1"/>
                </a:solidFill>
                <a:latin typeface="Aptos Mono"/>
              </a:rPr>
              <a:t> {</a:t>
            </a:r>
            <a:r>
              <a:rPr sz="1100" b="0">
                <a:solidFill>
                  <a:schemeClr val="accent3">
                    <a:lumMod val="55000"/>
                    <a:lumOff val="45000"/>
                  </a:schemeClr>
                </a:solidFill>
                <a:latin typeface="Aptos Mono"/>
              </a:rPr>
              <a:t>"messages"</a:t>
            </a:r>
            <a:r>
              <a:rPr sz="1100" b="0">
                <a:solidFill>
                  <a:schemeClr val="bg1"/>
                </a:solidFill>
                <a:latin typeface="Aptos Mono"/>
              </a:rPr>
              <a:t>: [reply], </a:t>
            </a:r>
            <a:r>
              <a:rPr sz="1100" b="0">
                <a:solidFill>
                  <a:schemeClr val="accent3">
                    <a:lumMod val="55000"/>
                    <a:lumOff val="45000"/>
                  </a:schemeClr>
                </a:solidFill>
                <a:latin typeface="Aptos Mono"/>
              </a:rPr>
              <a:t>"model_calls"</a:t>
            </a:r>
            <a:r>
              <a:rPr sz="1100" b="0">
                <a:solidFill>
                  <a:schemeClr val="bg1"/>
                </a:solidFill>
                <a:latin typeface="Aptos Mono"/>
              </a:rPr>
              <a:t>: </a:t>
            </a:r>
            <a:r>
              <a:rPr sz="1100" b="0">
                <a:solidFill>
                  <a:schemeClr val="accent5">
                    <a:lumMod val="45000"/>
                    <a:lumOff val="55000"/>
                  </a:schemeClr>
                </a:solidFill>
                <a:latin typeface="Aptos Mono"/>
              </a:rPr>
              <a:t>1</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3">
                    <a:lumMod val="55000"/>
                    <a:lumOff val="45000"/>
                  </a:schemeClr>
                </a:solidFill>
                <a:latin typeface="Aptos Mono"/>
              </a:rPr>
              <a:t>"usage"</a:t>
            </a:r>
            <a:r>
              <a:rPr sz="1100" b="0">
                <a:solidFill>
                  <a:schemeClr val="bg1"/>
                </a:solidFill>
                <a:latin typeface="Aptos Mono"/>
              </a:rPr>
              <a:t>: </a:t>
            </a:r>
            <a:r>
              <a:rPr sz="1100" b="0">
                <a:solidFill>
                  <a:schemeClr val="accent2"/>
                </a:solidFill>
                <a:latin typeface="Aptos Mono"/>
              </a:rPr>
              <a:t>self</a:t>
            </a:r>
            <a:r>
              <a:rPr sz="1100" b="0">
                <a:solidFill>
                  <a:schemeClr val="bg1"/>
                </a:solidFill>
                <a:latin typeface="Aptos Mono"/>
              </a:rPr>
              <a:t>._usage(reply)}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07279202" name="Title 1"/>
          <p:cNvSpPr>
            <a:spLocks noGrp="1"/>
          </p:cNvSpPr>
          <p:nvPr>
            <p:ph type="title"/>
          </p:nvPr>
        </p:nvSpPr>
        <p:spPr bwMode="auto"/>
        <p:txBody>
          <a:bodyPr/>
          <a:lstStyle/>
          <a:p>
            <a:pPr>
              <a:defRPr/>
            </a:pPr>
            <a:r>
              <a:rPr/>
              <a:t>Model context, runtime state, durable state</a:t>
            </a:r>
            <a:endParaRPr/>
          </a:p>
        </p:txBody>
      </p:sp>
      <p:sp>
        <p:nvSpPr>
          <p:cNvPr id="1093367847" name="Content Placeholder 2"/>
          <p:cNvSpPr>
            <a:spLocks noGrp="1"/>
          </p:cNvSpPr>
          <p:nvPr>
            <p:ph idx="1"/>
          </p:nvPr>
        </p:nvSpPr>
        <p:spPr bwMode="auto">
          <a:xfrm>
            <a:off x="319251" y="700000"/>
            <a:ext cx="6014545" cy="731648"/>
          </a:xfrm>
        </p:spPr>
        <p:txBody>
          <a:bodyPr wrap="square" anchor="ctr">
            <a:normAutofit fontScale="70000" lnSpcReduction="20000"/>
          </a:bodyPr>
          <a:lstStyle/>
          <a:p>
            <a:pPr marL="0" indent="0">
              <a:buNone/>
              <a:defRPr/>
            </a:pPr>
            <a:r>
              <a:rPr sz="1400" b="1">
                <a:solidFill>
                  <a:srgbClr val="28285E"/>
                </a:solidFill>
              </a:rPr>
              <a:t>For each model call, the runtime builds a context from retained state. To resume after the process exits, it must save enough state to reconstruct execution.</a:t>
            </a:r>
            <a:endParaRPr/>
          </a:p>
        </p:txBody>
      </p:sp>
      <p:graphicFrame>
        <p:nvGraphicFramePr>
          <p:cNvPr id="16303776" name="Table 3"/>
          <p:cNvGraphicFramePr>
            <a:graphicFrameLocks xmlns:a="http://schemas.openxmlformats.org/drawingml/2006/main" noGrp="1"/>
          </p:cNvGraphicFramePr>
          <p:nvPr/>
        </p:nvGraphicFramePr>
        <p:xfrm rot="0">
          <a:off x="319251" y="1621648"/>
          <a:ext cx="6014545" cy="2094510"/>
        </p:xfrm>
        <a:graphic>
          <a:graphicData uri="http://schemas.openxmlformats.org/drawingml/2006/table">
            <a:tbl>
              <a:tblPr firstRow="1" firstCol="0" lastRow="0" lastCol="0" bandRow="1" bandCol="0">
                <a:tableStyleId>{5C22544A-7EE6-4342-B048-85BDC9FD1C3A}</a:tableStyleId>
              </a:tblPr>
              <a:tblGrid>
                <a:gridCol w="1300000"/>
                <a:gridCol w="3300000"/>
                <a:gridCol w="1414544"/>
              </a:tblGrid>
              <a:tr h="300000">
                <a:tc>
                  <a:txBody>
                    <a:bodyPr/>
                    <a:p>
                      <a:pPr>
                        <a:buNone/>
                        <a:defRPr/>
                      </a:pPr>
                      <a:r>
                        <a:rPr sz="1100" b="1">
                          <a:solidFill>
                            <a:schemeClr val="tx1"/>
                          </a:solidFill>
                        </a:rPr>
                        <a:t>State or context</a:t>
                      </a:r>
                      <a:endParaRPr/>
                    </a:p>
                  </a:txBody>
                  <a:tcPr marL="95250" marR="95250" marT="47625" marB="47625">
                    <a:lnB w="12700" algn="ctr">
                      <a:solidFill>
                        <a:schemeClr val="tx1"/>
                      </a:solidFill>
                    </a:lnB>
                    <a:noFill/>
                  </a:tcPr>
                </a:tc>
                <a:tc>
                  <a:txBody>
                    <a:bodyPr/>
                    <a:p>
                      <a:pPr>
                        <a:buNone/>
                        <a:defRPr/>
                      </a:pPr>
                      <a:r>
                        <a:rPr sz="1100" b="1">
                          <a:solidFill>
                            <a:schemeClr val="tx1"/>
                          </a:solidFill>
                        </a:rPr>
                        <a:t>What it holds</a:t>
                      </a:r>
                      <a:endParaRPr/>
                    </a:p>
                  </a:txBody>
                  <a:tcPr marL="95250" marR="95250" marT="47625" marB="47625">
                    <a:lnB w="12700" algn="ctr">
                      <a:solidFill>
                        <a:schemeClr val="tx1"/>
                      </a:solidFill>
                    </a:lnB>
                    <a:noFill/>
                  </a:tcPr>
                </a:tc>
                <a:tc>
                  <a:txBody>
                    <a:bodyPr/>
                    <a:p>
                      <a:pPr>
                        <a:buNone/>
                        <a:defRPr/>
                      </a:pPr>
                      <a:r>
                        <a:rPr sz="1100" b="1">
                          <a:solidFill>
                            <a:schemeClr val="tx1"/>
                          </a:solidFill>
                        </a:rPr>
                        <a:t>Who reads it</a:t>
                      </a:r>
                      <a:endParaRPr/>
                    </a:p>
                  </a:txBody>
                  <a:tcPr marL="95250" marR="95250" marT="47625" marB="47625">
                    <a:lnB w="12700" algn="ctr">
                      <a:solidFill>
                        <a:schemeClr val="tx1"/>
                      </a:solidFill>
                    </a:lnB>
                    <a:noFill/>
                  </a:tcPr>
                </a:tc>
              </a:tr>
              <a:tr h="0">
                <a:tc>
                  <a:txBody>
                    <a:bodyPr/>
                    <a:p>
                      <a:pPr>
                        <a:buNone/>
                        <a:defRPr/>
                      </a:pPr>
                      <a:r>
                        <a:rPr sz="1100" b="1">
                          <a:solidFill>
                            <a:srgbClr val="28285E"/>
                          </a:solidFill>
                        </a:rPr>
                        <a:t>Model context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Model context contains the instructions, selected history and observations supplied to one model call.</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The model reads it.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100" b="1">
                          <a:solidFill>
                            <a:srgbClr val="28285E"/>
                          </a:solidFill>
                        </a:rPr>
                        <a:t>Runtime state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Runtime state holds the fields retained between steps, including counters that the model never sees.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Nodes, routing functions and limit checks read it.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100" b="1">
                          <a:solidFill>
                            <a:srgbClr val="28285E"/>
                          </a:solidFill>
                        </a:rPr>
                        <a:t>Durable state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Durable state survives the process lifetime in a form that another process can load to resume the 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A new runtime process loads it to resume execution.</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580538796" name="Rectangle 4"/>
          <p:cNvSpPr/>
          <p:nvPr/>
        </p:nvSpPr>
        <p:spPr bwMode="auto">
          <a:xfrm>
            <a:off x="319251" y="389775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A checkpointer saves runtime state for resumption. Our graphs have none. Resuming also requires matching workspace files and pending work (Table 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45740501" name="Title 1"/>
          <p:cNvSpPr>
            <a:spLocks noGrp="1"/>
          </p:cNvSpPr>
          <p:nvPr>
            <p:ph type="title"/>
          </p:nvPr>
        </p:nvSpPr>
        <p:spPr bwMode="auto"/>
        <p:txBody>
          <a:bodyPr/>
          <a:lstStyle/>
          <a:p>
            <a:pPr>
              <a:defRPr/>
            </a:pPr>
            <a:r>
              <a:rPr/>
              <a:t>Model context and admission checks</a:t>
            </a:r>
            <a:endParaRPr/>
          </a:p>
        </p:txBody>
      </p:sp>
      <p:sp>
        <p:nvSpPr>
          <p:cNvPr id="127922602" name="Content Placeholder 2"/>
          <p:cNvSpPr>
            <a:spLocks noGrp="1"/>
          </p:cNvSpPr>
          <p:nvPr>
            <p:ph idx="1"/>
          </p:nvPr>
        </p:nvSpPr>
        <p:spPr bwMode="auto">
          <a:xfrm>
            <a:off x="319251" y="700000"/>
            <a:ext cx="6014545" cy="731648"/>
          </a:xfrm>
        </p:spPr>
        <p:txBody>
          <a:bodyPr wrap="square" anchor="ctr">
            <a:normAutofit fontScale="70000" lnSpcReduction="20000"/>
          </a:bodyPr>
          <a:lstStyle/>
          <a:p>
            <a:pPr marL="0" indent="0">
              <a:buNone/>
              <a:defRPr/>
            </a:pPr>
            <a:r>
              <a:rPr sz="1400" b="1">
                <a:solidFill>
                  <a:srgbClr val="28285E"/>
                </a:solidFill>
              </a:rPr>
              <a:t>The admission check, _admit, compares </a:t>
            </a:r>
            <a:r>
              <a:rPr sz="1400" b="0">
                <a:solidFill>
                  <a:srgbClr val="28285E"/>
                </a:solidFill>
                <a:latin typeface="Aptos Mono"/>
              </a:rPr>
              <a:t>model_calls</a:t>
            </a:r>
            <a:r>
              <a:rPr sz="1400" b="1">
                <a:solidFill>
                  <a:srgbClr val="28285E"/>
                </a:solidFill>
              </a:rPr>
              <a:t> with the budget before each model call. The controller passes the conversation to the model.</a:t>
            </a:r>
            <a:endParaRPr/>
          </a:p>
        </p:txBody>
      </p:sp>
      <p:sp>
        <p:nvSpPr>
          <p:cNvPr id="1200292564" name="TextBox 3"/>
          <p:cNvSpPr txBox="1"/>
          <p:nvPr/>
        </p:nvSpPr>
        <p:spPr bwMode="auto">
          <a:xfrm>
            <a:off x="319251" y="1621648"/>
            <a:ext cx="6014545" cy="200000"/>
          </a:xfrm>
          <a:prstGeom prst="rect">
            <a:avLst/>
          </a:prstGeom>
          <a:noFill/>
        </p:spPr>
        <p:txBody>
          <a:bodyPr wrap="none" lIns="0" tIns="0" rIns="0" bIns="0">
            <a:spAutoFit/>
          </a:bodyPr>
          <a:lstStyle/>
          <a:p>
            <a:pPr>
              <a:defRPr/>
            </a:pPr>
            <a:r>
              <a:rPr sz="1200" b="1">
                <a:solidFill>
                  <a:srgbClr val="28285E"/>
                </a:solidFill>
              </a:rPr>
              <a:t>graph.py, controller line 312 and _admit lines 183 to 186. Trace event omitted</a:t>
            </a:r>
            <a:endParaRPr/>
          </a:p>
        </p:txBody>
      </p:sp>
      <p:sp>
        <p:nvSpPr>
          <p:cNvPr id="676092900" name="CodeWindow"/>
          <p:cNvSpPr/>
          <p:nvPr/>
        </p:nvSpPr>
        <p:spPr bwMode="auto">
          <a:xfrm>
            <a:off x="319251" y="1881648"/>
            <a:ext cx="6014545" cy="166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58633885" name="WinDot 0"/>
          <p:cNvSpPr/>
          <p:nvPr/>
        </p:nvSpPr>
        <p:spPr bwMode="auto">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89166336" name="WinDot 1"/>
          <p:cNvSpPr/>
          <p:nvPr/>
        </p:nvSpPr>
        <p:spPr bwMode="auto">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88493153" name="WinDot 2"/>
          <p:cNvSpPr/>
          <p:nvPr/>
        </p:nvSpPr>
        <p:spPr bwMode="auto">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8712749" name="WinText"/>
          <p:cNvSpPr txBox="1"/>
          <p:nvPr/>
        </p:nvSpPr>
        <p:spPr bwMode="auto">
          <a:xfrm>
            <a:off x="469251" y="2211648"/>
            <a:ext cx="5714545" cy="1260000"/>
          </a:xfrm>
          <a:prstGeom prst="rect">
            <a:avLst/>
          </a:prstGeom>
          <a:noFill/>
        </p:spPr>
        <p:txBody>
          <a:bodyPr wrap="none" lIns="0" tIns="0" rIns="0" bIns="0" anchor="t">
            <a:spAutoFit/>
          </a:bodyPr>
          <a:lstStyle/>
          <a:p>
            <a:pPr algn="l">
              <a:buNone/>
              <a:defRPr/>
            </a:pPr>
            <a:r>
              <a:rPr sz="1100" b="0">
                <a:solidFill>
                  <a:schemeClr val="accent6"/>
                </a:solidFill>
                <a:latin typeface="Aptos Mono"/>
              </a:rPr>
              <a:t># ours: The controller supplies the conversation to the model.</a:t>
            </a:r>
            <a:endParaRPr/>
          </a:p>
          <a:p>
            <a:pPr algn="l">
              <a:buNone/>
              <a:defRPr/>
            </a:pPr>
            <a:r>
              <a:rPr sz="1100" b="0">
                <a:solidFill>
                  <a:schemeClr val="bg1"/>
                </a:solidFill>
                <a:latin typeface="Aptos Mono"/>
              </a:rPr>
              <a:t>reply = </a:t>
            </a:r>
            <a:r>
              <a:rPr sz="1100" b="0">
                <a:solidFill>
                  <a:schemeClr val="accent2"/>
                </a:solidFill>
                <a:latin typeface="Aptos Mono"/>
              </a:rPr>
              <a:t>self</a:t>
            </a:r>
            <a:r>
              <a:rPr sz="1100" b="0">
                <a:solidFill>
                  <a:schemeClr val="bg1"/>
                </a:solidFill>
                <a:latin typeface="Aptos Mono"/>
              </a:rPr>
              <a:t>._call(model, state[</a:t>
            </a:r>
            <a:r>
              <a:rPr sz="1100" b="0">
                <a:solidFill>
                  <a:schemeClr val="accent3">
                    <a:lumMod val="55000"/>
                    <a:lumOff val="45000"/>
                  </a:schemeClr>
                </a:solidFill>
                <a:latin typeface="Aptos Mono"/>
              </a:rPr>
              <a:t>"messages"</a:t>
            </a:r>
            <a:r>
              <a:rPr sz="1100" b="0">
                <a:solidFill>
                  <a:schemeClr val="bg1"/>
                </a:solidFill>
                <a:latin typeface="Aptos Mono"/>
              </a:rPr>
              <a:t>], role=</a:t>
            </a:r>
            <a:r>
              <a:rPr sz="1100" b="0">
                <a:solidFill>
                  <a:schemeClr val="accent3">
                    <a:lumMod val="55000"/>
                    <a:lumOff val="45000"/>
                  </a:schemeClr>
                </a:solidFill>
                <a:latin typeface="Aptos Mono"/>
              </a:rPr>
              <a:t>"controller"</a:t>
            </a:r>
            <a:r>
              <a:rPr sz="1100" b="0">
                <a:solidFill>
                  <a:schemeClr val="bg1"/>
                </a:solidFill>
                <a:latin typeface="Aptos Mono"/>
              </a:rPr>
              <a:t>)</a:t>
            </a:r>
            <a:endParaRPr/>
          </a:p>
          <a:p>
            <a:pPr algn="l">
              <a:buNone/>
              <a:defRPr/>
            </a:pPr>
            <a:endParaRPr sz="1100" b="0">
              <a:solidFill>
                <a:schemeClr val="bg1"/>
              </a:solidFill>
              <a:latin typeface="Aptos Mono"/>
            </a:endParaRPr>
          </a:p>
          <a:p>
            <a:pPr algn="l">
              <a:buNone/>
              <a:defRPr/>
            </a:pPr>
            <a:r>
              <a:rPr sz="1100" b="0">
                <a:solidFill>
                  <a:schemeClr val="accent6"/>
                </a:solidFill>
                <a:latin typeface="Aptos Mono"/>
              </a:rPr>
              <a:t># ours: Admission runs before every model call.</a:t>
            </a:r>
            <a:endParaRPr/>
          </a:p>
          <a:p>
            <a:pPr algn="l">
              <a:buNone/>
              <a:defRPr/>
            </a:pPr>
            <a:r>
              <a:rPr sz="1100" b="0">
                <a:solidFill>
                  <a:schemeClr val="accent2"/>
                </a:solidFill>
                <a:latin typeface="Aptos Mono"/>
              </a:rPr>
              <a:t>if</a:t>
            </a:r>
            <a:r>
              <a:rPr sz="1100" b="0">
                <a:solidFill>
                  <a:schemeClr val="bg1"/>
                </a:solidFill>
                <a:latin typeface="Aptos Mono"/>
              </a:rPr>
              <a:t> state[</a:t>
            </a:r>
            <a:r>
              <a:rPr sz="1100" b="0">
                <a:solidFill>
                  <a:schemeClr val="accent3">
                    <a:lumMod val="55000"/>
                    <a:lumOff val="45000"/>
                  </a:schemeClr>
                </a:solidFill>
                <a:latin typeface="Aptos Mono"/>
              </a:rPr>
              <a:t>"model_calls"</a:t>
            </a:r>
            <a:r>
              <a:rPr sz="1100" b="0">
                <a:solidFill>
                  <a:schemeClr val="bg1"/>
                </a:solidFill>
                <a:latin typeface="Aptos Mono"/>
              </a:rPr>
              <a:t>] &gt;= </a:t>
            </a:r>
            <a:r>
              <a:rPr sz="1100" b="1">
                <a:solidFill>
                  <a:schemeClr val="accent4">
                    <a:lumMod val="70000"/>
                    <a:lumOff val="30000"/>
                  </a:schemeClr>
                </a:solidFill>
                <a:latin typeface="Aptos Mono"/>
              </a:rPr>
              <a:t>self.config.budget</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return</a:t>
            </a:r>
            <a:r>
              <a:rPr sz="1100" b="0">
                <a:solidFill>
                  <a:schemeClr val="bg1"/>
                </a:solidFill>
                <a:latin typeface="Aptos Mono"/>
              </a:rPr>
              <a:t> {</a:t>
            </a:r>
            <a:r>
              <a:rPr sz="1100" b="0">
                <a:solidFill>
                  <a:schemeClr val="accent3">
                    <a:lumMod val="55000"/>
                    <a:lumOff val="45000"/>
                  </a:schemeClr>
                </a:solidFill>
                <a:latin typeface="Aptos Mono"/>
              </a:rPr>
              <a:t>"status"</a:t>
            </a:r>
            <a:r>
              <a:rPr sz="1100" b="0">
                <a:solidFill>
                  <a:schemeClr val="bg1"/>
                </a:solidFill>
                <a:latin typeface="Aptos Mono"/>
              </a:rPr>
              <a:t>: TerminalStatus.BUDGET_EXHAUSTED}</a:t>
            </a:r>
            <a:endParaRPr/>
          </a:p>
        </p:txBody>
      </p:sp>
      <p:sp>
        <p:nvSpPr>
          <p:cNvPr id="449829398" name="Rectangle 9"/>
          <p:cNvSpPr/>
          <p:nvPr/>
        </p:nvSpPr>
        <p:spPr bwMode="auto">
          <a:xfrm>
            <a:off x="319251" y="373164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runtime enforces the budget before each call. This check works even though the model never receives the budget in its context.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89550190" name="Title 1"/>
          <p:cNvSpPr>
            <a:spLocks noGrp="1"/>
          </p:cNvSpPr>
          <p:nvPr>
            <p:ph type="title"/>
          </p:nvPr>
        </p:nvSpPr>
        <p:spPr bwMode="auto"/>
        <p:txBody>
          <a:bodyPr/>
          <a:lstStyle/>
          <a:p>
            <a:pPr>
              <a:defRPr/>
            </a:pPr>
            <a:r>
              <a:rPr/>
              <a:t>Reducers: append, replace, accumulate</a:t>
            </a:r>
            <a:endParaRPr/>
          </a:p>
        </p:txBody>
      </p:sp>
      <p:sp>
        <p:nvSpPr>
          <p:cNvPr id="2118297216" name="Content Placeholder 2"/>
          <p:cNvSpPr>
            <a:spLocks noGrp="1"/>
          </p:cNvSpPr>
          <p:nvPr>
            <p:ph idx="1"/>
          </p:nvPr>
        </p:nvSpPr>
        <p:spPr bwMode="auto">
          <a:xfrm>
            <a:off x="319251" y="700000"/>
            <a:ext cx="6014545" cy="2211325"/>
          </a:xfrm>
        </p:spPr>
        <p:txBody>
          <a:bodyPr wrap="square" anchor="ctr">
            <a:normAutofit fontScale="92500"/>
          </a:bodyPr>
          <a:lstStyle/>
          <a:p>
            <a:pPr marL="0" indent="0">
              <a:buNone/>
              <a:defRPr/>
            </a:pPr>
            <a:r>
              <a:rPr sz="1400" b="1">
                <a:solidFill>
                  <a:srgbClr val="28285E"/>
                </a:solidFill>
              </a:rPr>
              <a:t>When a node returns a value for a field, the runtime calls that field's reducer with the stored value and the returned value.</a:t>
            </a:r>
            <a:endParaRPr/>
          </a:p>
          <a:p>
            <a:pPr marL="400050" indent="-285750">
              <a:spcBef>
                <a:spcPts val="600"/>
              </a:spcBef>
              <a:spcAft>
                <a:spcPts val="600"/>
              </a:spcAft>
              <a:buClr>
                <a:srgbClr val="28285E"/>
              </a:buClr>
              <a:buSzPts val="1260"/>
              <a:buFont typeface="+mn-lt"/>
              <a:buChar char="●"/>
              <a:defRPr/>
            </a:pPr>
            <a:r>
              <a:rPr sz="1400" b="1">
                <a:solidFill>
                  <a:schemeClr val="tx1"/>
                </a:solidFill>
              </a:rPr>
              <a:t>Append</a:t>
            </a:r>
            <a:r>
              <a:rPr sz="1400" b="0">
                <a:solidFill>
                  <a:schemeClr val="tx1"/>
                </a:solidFill>
              </a:rPr>
              <a:t> adds the returned items to the end of the stored list, so later nodes can read the full history.</a:t>
            </a:r>
            <a:endParaRPr/>
          </a:p>
          <a:p>
            <a:pPr marL="400050" indent="-285750">
              <a:spcBef>
                <a:spcPts val="600"/>
              </a:spcBef>
              <a:spcAft>
                <a:spcPts val="600"/>
              </a:spcAft>
              <a:buClr>
                <a:srgbClr val="28285E"/>
              </a:buClr>
              <a:buSzPts val="1260"/>
              <a:buFont typeface="+mn-lt"/>
              <a:buChar char="●"/>
              <a:defRPr/>
            </a:pPr>
            <a:r>
              <a:rPr sz="1400" b="1">
                <a:solidFill>
                  <a:schemeClr val="tx1"/>
                </a:solidFill>
              </a:rPr>
              <a:t>Replace</a:t>
            </a:r>
            <a:r>
              <a:rPr sz="1400" b="0">
                <a:solidFill>
                  <a:schemeClr val="tx1"/>
                </a:solidFill>
              </a:rPr>
              <a:t> stores the returned value as the field’s new value, as when the plan node writes a revised plan.</a:t>
            </a:r>
            <a:endParaRPr/>
          </a:p>
          <a:p>
            <a:pPr marL="400050" indent="-285750">
              <a:spcBef>
                <a:spcPts val="600"/>
              </a:spcBef>
              <a:spcAft>
                <a:spcPts val="600"/>
              </a:spcAft>
              <a:buClr>
                <a:srgbClr val="28285E"/>
              </a:buClr>
              <a:buSzPts val="1260"/>
              <a:buFont typeface="+mn-lt"/>
              <a:buChar char="●"/>
              <a:defRPr/>
            </a:pPr>
            <a:r>
              <a:rPr sz="1400" b="1">
                <a:solidFill>
                  <a:schemeClr val="tx1"/>
                </a:solidFill>
              </a:rPr>
              <a:t>Accumulate</a:t>
            </a:r>
            <a:r>
              <a:rPr sz="1400" b="0">
                <a:solidFill>
                  <a:schemeClr val="tx1"/>
                </a:solidFill>
              </a:rPr>
              <a:t> combines the returned contribution with the stored total, such as adding 1 to </a:t>
            </a:r>
            <a:r>
              <a:rPr sz="1400" b="0">
                <a:solidFill>
                  <a:schemeClr val="tx1"/>
                </a:solidFill>
                <a:latin typeface="Aptos Mono"/>
              </a:rPr>
              <a:t>model_calls</a:t>
            </a:r>
            <a:r>
              <a:rPr sz="1400" b="0">
                <a:solidFill>
                  <a:schemeClr val="tx1"/>
                </a:solidFill>
              </a:rPr>
              <a:t>.</a:t>
            </a:r>
            <a:endParaRPr/>
          </a:p>
        </p:txBody>
      </p:sp>
      <p:sp>
        <p:nvSpPr>
          <p:cNvPr id="2141220017" name="Rectangle 3"/>
          <p:cNvSpPr/>
          <p:nvPr/>
        </p:nvSpPr>
        <p:spPr bwMode="auto">
          <a:xfrm>
            <a:off x="319251" y="3101324"/>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reducer's result becomes the field's next stored value.</a:t>
            </a:r>
            <a:endParaRPr/>
          </a:p>
        </p:txBody>
      </p:sp>
      <p:sp>
        <p:nvSpPr>
          <p:cNvPr id="1139019208" name="Rectangle 4"/>
          <p:cNvSpPr/>
          <p:nvPr/>
        </p:nvSpPr>
        <p:spPr bwMode="auto">
          <a:xfrm>
            <a:off x="319251" y="3902126"/>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Returning </a:t>
            </a:r>
            <a:r>
              <a:rPr sz="1200" b="0">
                <a:solidFill>
                  <a:srgbClr val="28285E"/>
                </a:solidFill>
                <a:latin typeface="Aptos Mono"/>
              </a:rPr>
              <a:t>[]</a:t>
            </a:r>
            <a:r>
              <a:rPr sz="1200" b="1">
                <a:solidFill>
                  <a:srgbClr val="28285E"/>
                </a:solidFill>
              </a:rPr>
              <a:t> to an append reducer adds no items, so the stored list keeps its existing contents.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44903534" name="Title 1"/>
          <p:cNvSpPr>
            <a:spLocks noGrp="1"/>
          </p:cNvSpPr>
          <p:nvPr>
            <p:ph type="title"/>
          </p:nvPr>
        </p:nvSpPr>
        <p:spPr bwMode="auto"/>
        <p:txBody>
          <a:bodyPr/>
          <a:lstStyle/>
          <a:p>
            <a:pPr>
              <a:defRPr/>
            </a:pPr>
            <a:r>
              <a:rPr/>
              <a:t>The reducers in the schema</a:t>
            </a:r>
            <a:endParaRPr/>
          </a:p>
        </p:txBody>
      </p:sp>
      <p:sp>
        <p:nvSpPr>
          <p:cNvPr id="1904542561"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In </a:t>
            </a:r>
            <a:r>
              <a:rPr sz="1400" b="0">
                <a:solidFill>
                  <a:srgbClr val="28285E"/>
                </a:solidFill>
                <a:latin typeface="Aptos Mono"/>
              </a:rPr>
              <a:t>Annotated[T, fn]</a:t>
            </a:r>
            <a:r>
              <a:rPr sz="1400" b="1">
                <a:solidFill>
                  <a:srgbClr val="28285E"/>
                </a:solidFill>
              </a:rPr>
              <a:t>, T names the field's type and fn names the reducer that merges returned values into that field.</a:t>
            </a:r>
            <a:endParaRPr/>
          </a:p>
        </p:txBody>
      </p:sp>
      <p:sp>
        <p:nvSpPr>
          <p:cNvPr id="1857090627"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1">
                <a:solidFill>
                  <a:srgbClr val="28285E"/>
                </a:solidFill>
              </a:rPr>
              <a:t>state.py, </a:t>
            </a:r>
            <a:r>
              <a:rPr sz="1200" b="0">
                <a:solidFill>
                  <a:srgbClr val="28285E"/>
                </a:solidFill>
                <a:latin typeface="Aptos Mono"/>
              </a:rPr>
              <a:t>AgentState</a:t>
            </a:r>
            <a:r>
              <a:rPr sz="1200" b="1">
                <a:solidFill>
                  <a:srgbClr val="28285E"/>
                </a:solidFill>
              </a:rPr>
              <a:t>, lines 76 to 98 (selected fields)</a:t>
            </a:r>
            <a:endParaRPr/>
          </a:p>
        </p:txBody>
      </p:sp>
      <p:sp>
        <p:nvSpPr>
          <p:cNvPr id="1387747998" name="CodeWindow"/>
          <p:cNvSpPr/>
          <p:nvPr/>
        </p:nvSpPr>
        <p:spPr bwMode="auto">
          <a:xfrm>
            <a:off x="319251" y="1650000"/>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88466405"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82081186"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4913912"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51158627" name="WinText"/>
          <p:cNvSpPr txBox="1"/>
          <p:nvPr/>
        </p:nvSpPr>
        <p:spPr bwMode="auto">
          <a:xfrm>
            <a:off x="469251" y="1980000"/>
            <a:ext cx="5714545" cy="1470000"/>
          </a:xfrm>
          <a:prstGeom prst="rect">
            <a:avLst/>
          </a:prstGeom>
          <a:noFill/>
        </p:spPr>
        <p:txBody>
          <a:bodyPr wrap="none" lIns="0" tIns="0" rIns="0" bIns="0" anchor="t">
            <a:spAutoFit/>
          </a:bodyPr>
          <a:lstStyle/>
          <a:p>
            <a:pPr algn="l">
              <a:buNone/>
              <a:defRPr/>
            </a:pPr>
            <a:r>
              <a:rPr sz="1100" b="0">
                <a:solidFill>
                  <a:schemeClr val="accent2"/>
                </a:solidFill>
                <a:latin typeface="Aptos Mono"/>
              </a:rPr>
              <a:t>class</a:t>
            </a:r>
            <a:r>
              <a:rPr sz="1100" b="0">
                <a:solidFill>
                  <a:schemeClr val="bg1"/>
                </a:solidFill>
                <a:latin typeface="Aptos Mono"/>
              </a:rPr>
              <a:t> AgentState(TypedDict, total=</a:t>
            </a:r>
            <a:r>
              <a:rPr sz="1100" b="0">
                <a:solidFill>
                  <a:schemeClr val="accent2"/>
                </a:solidFill>
                <a:latin typeface="Aptos Mono"/>
              </a:rPr>
              <a:t>False</a:t>
            </a:r>
            <a:r>
              <a:rPr sz="1100" b="0">
                <a:solidFill>
                  <a:schemeClr val="bg1"/>
                </a:solidFill>
                <a:latin typeface="Aptos Mono"/>
              </a:rPr>
              <a:t>):</a:t>
            </a:r>
            <a:endParaRPr/>
          </a:p>
          <a:p>
            <a:pPr algn="l">
              <a:buNone/>
              <a:defRPr/>
            </a:pPr>
            <a:r>
              <a:rPr sz="1100" b="0">
                <a:solidFill>
                  <a:schemeClr val="accent6"/>
                </a:solidFill>
                <a:latin typeface="Aptos Mono"/>
              </a:rPr>
              <a:t>    # ours: other fields are omitted</a:t>
            </a:r>
            <a:endParaRPr/>
          </a:p>
          <a:p>
            <a:pPr algn="l">
              <a:buNone/>
              <a:defRPr/>
            </a:pPr>
            <a:r>
              <a:rPr sz="1100" b="0">
                <a:solidFill>
                  <a:schemeClr val="bg1"/>
                </a:solidFill>
                <a:latin typeface="Aptos Mono"/>
              </a:rPr>
              <a:t>    messages: </a:t>
            </a:r>
            <a:r>
              <a:rPr sz="1100" b="1">
                <a:solidFill>
                  <a:schemeClr val="accent4">
                    <a:lumMod val="70000"/>
                    <a:lumOff val="30000"/>
                  </a:schemeClr>
                </a:solidFill>
                <a:latin typeface="Aptos Mono"/>
              </a:rPr>
              <a:t>Annotated</a:t>
            </a:r>
            <a:r>
              <a:rPr sz="1100" b="0">
                <a:solidFill>
                  <a:schemeClr val="bg1"/>
                </a:solidFill>
                <a:latin typeface="Aptos Mono"/>
              </a:rPr>
              <a:t>[list, add_messages]</a:t>
            </a:r>
            <a:endParaRPr/>
          </a:p>
          <a:p>
            <a:pPr algn="l">
              <a:buNone/>
              <a:defRPr/>
            </a:pPr>
            <a:r>
              <a:rPr sz="1100" b="0">
                <a:solidFill>
                  <a:schemeClr val="bg1"/>
                </a:solidFill>
                <a:latin typeface="Aptos Mono"/>
              </a:rPr>
              <a:t>    observations: </a:t>
            </a:r>
            <a:r>
              <a:rPr sz="1100" b="1">
                <a:solidFill>
                  <a:schemeClr val="accent4">
                    <a:lumMod val="70000"/>
                    <a:lumOff val="30000"/>
                  </a:schemeClr>
                </a:solidFill>
                <a:latin typeface="Aptos Mono"/>
              </a:rPr>
              <a:t>Annotated</a:t>
            </a:r>
            <a:r>
              <a:rPr sz="1100" b="0">
                <a:solidFill>
                  <a:schemeClr val="bg1"/>
                </a:solidFill>
                <a:latin typeface="Aptos Mono"/>
              </a:rPr>
              <a:t>[list, operator.add]</a:t>
            </a:r>
            <a:endParaRPr/>
          </a:p>
          <a:p>
            <a:pPr algn="l">
              <a:buNone/>
              <a:defRPr/>
            </a:pPr>
            <a:r>
              <a:rPr sz="1100" b="0">
                <a:solidFill>
                  <a:schemeClr val="bg1"/>
                </a:solidFill>
                <a:latin typeface="Aptos Mono"/>
              </a:rPr>
              <a:t>    usage: </a:t>
            </a:r>
            <a:r>
              <a:rPr sz="1100" b="1">
                <a:solidFill>
                  <a:schemeClr val="accent4">
                    <a:lumMod val="70000"/>
                    <a:lumOff val="30000"/>
                  </a:schemeClr>
                </a:solidFill>
                <a:latin typeface="Aptos Mono"/>
              </a:rPr>
              <a:t>Annotated</a:t>
            </a:r>
            <a:r>
              <a:rPr sz="1100" b="0">
                <a:solidFill>
                  <a:schemeClr val="bg1"/>
                </a:solidFill>
                <a:latin typeface="Aptos Mono"/>
              </a:rPr>
              <a:t>[Usage, add_usage]</a:t>
            </a:r>
            <a:endParaRPr/>
          </a:p>
          <a:p>
            <a:pPr algn="l">
              <a:buNone/>
              <a:defRPr/>
            </a:pPr>
            <a:r>
              <a:rPr sz="1100" b="0">
                <a:solidFill>
                  <a:schemeClr val="bg1"/>
                </a:solidFill>
                <a:latin typeface="Aptos Mono"/>
              </a:rPr>
              <a:t>    model_calls: </a:t>
            </a:r>
            <a:r>
              <a:rPr sz="1100" b="1">
                <a:solidFill>
                  <a:schemeClr val="accent4">
                    <a:lumMod val="70000"/>
                    <a:lumOff val="30000"/>
                  </a:schemeClr>
                </a:solidFill>
                <a:latin typeface="Aptos Mono"/>
              </a:rPr>
              <a:t>Annotated</a:t>
            </a:r>
            <a:r>
              <a:rPr sz="1100" b="0">
                <a:solidFill>
                  <a:schemeClr val="bg1"/>
                </a:solidFill>
                <a:latin typeface="Aptos Mono"/>
              </a:rPr>
              <a:t>[int, operator.add]</a:t>
            </a:r>
            <a:endParaRPr/>
          </a:p>
          <a:p>
            <a:pPr algn="l">
              <a:buNone/>
              <a:defRPr/>
            </a:pPr>
            <a:r>
              <a:rPr sz="1100" b="0">
                <a:solidFill>
                  <a:schemeClr val="bg1"/>
                </a:solidFill>
                <a:latin typeface="Aptos Mono"/>
              </a:rPr>
              <a:t>    status: str</a:t>
            </a:r>
            <a:endParaRPr/>
          </a:p>
        </p:txBody>
      </p:sp>
      <p:sp>
        <p:nvSpPr>
          <p:cNvPr id="34345658" name="Rectangle 9"/>
          <p:cNvSpPr/>
          <p:nvPr/>
        </p:nvSpPr>
        <p:spPr bwMode="auto">
          <a:xfrm>
            <a:off x="319251" y="371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For status, an update replaces the stored string. If a node returns no status value, the runtime keeps the previous string.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07971158" name="Title 1"/>
          <p:cNvSpPr>
            <a:spLocks noGrp="1"/>
          </p:cNvSpPr>
          <p:nvPr>
            <p:ph type="title"/>
          </p:nvPr>
        </p:nvSpPr>
        <p:spPr bwMode="auto"/>
        <p:txBody>
          <a:bodyPr/>
          <a:lstStyle/>
          <a:p>
            <a:pPr>
              <a:defRPr/>
            </a:pPr>
            <a:r>
              <a:rPr/>
              <a:t>State schemas and field lifetimes</a:t>
            </a:r>
            <a:endParaRPr/>
          </a:p>
        </p:txBody>
      </p:sp>
      <p:sp>
        <p:nvSpPr>
          <p:cNvPr id="1602407395" name="Content Placeholder 2"/>
          <p:cNvSpPr>
            <a:spLocks noGrp="1"/>
          </p:cNvSpPr>
          <p:nvPr>
            <p:ph idx="1"/>
          </p:nvPr>
        </p:nvSpPr>
        <p:spPr bwMode="auto">
          <a:xfrm>
            <a:off x="319251" y="700000"/>
            <a:ext cx="6014545" cy="500000"/>
          </a:xfrm>
        </p:spPr>
        <p:txBody>
          <a:bodyPr wrap="square" anchor="ctr">
            <a:normAutofit fontScale="77500" lnSpcReduction="20000"/>
          </a:bodyPr>
          <a:lstStyle/>
          <a:p>
            <a:pPr marL="0" indent="0">
              <a:buNone/>
              <a:defRPr/>
            </a:pPr>
            <a:r>
              <a:rPr sz="1400" b="1">
                <a:solidFill>
                  <a:srgbClr val="28285E"/>
                </a:solidFill>
              </a:rPr>
              <a:t>The planning agent adds five fields to the loop's schema. Shading marks field lifetimes: when stored values remain valid for later steps.</a:t>
            </a:r>
            <a:endParaRPr/>
          </a:p>
        </p:txBody>
      </p:sp>
      <p:pic>
        <p:nvPicPr>
          <p:cNvPr id="1639383533" name="Figure s2-agentstate" descr="s2-agentstate.png"/>
          <p:cNvPicPr>
            <a:picLocks noChangeAspect="1"/>
          </p:cNvPicPr>
          <p:nvPr/>
        </p:nvPicPr>
        <p:blipFill rotWithShape="1">
          <a:blip r:embed="rId3"/>
          <a:stretch/>
        </p:blipFill>
        <p:spPr bwMode="auto">
          <a:xfrm>
            <a:off x="250148" y="1390000"/>
            <a:ext cx="6152752" cy="2522205"/>
          </a:xfrm>
          <a:prstGeom prst="rect">
            <a:avLst/>
          </a:prstGeom>
        </p:spPr>
      </p:pic>
      <p:sp>
        <p:nvSpPr>
          <p:cNvPr id="536377764" name="Rectangle 4"/>
          <p:cNvSpPr/>
          <p:nvPr/>
        </p:nvSpPr>
        <p:spPr bwMode="auto">
          <a:xfrm>
            <a:off x="319251" y="4102205"/>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Neither agent retries after rejection, so neither schema needs attempt-lifetime fields to clear before a new attempt (Figure 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10835721" name="Title 1"/>
          <p:cNvSpPr>
            <a:spLocks noGrp="1"/>
          </p:cNvSpPr>
          <p:nvPr>
            <p:ph type="title"/>
          </p:nvPr>
        </p:nvSpPr>
        <p:spPr bwMode="auto"/>
        <p:txBody>
          <a:bodyPr/>
          <a:lstStyle/>
          <a:p>
            <a:pPr>
              <a:defRPr/>
            </a:pPr>
            <a:r>
              <a:rPr/>
              <a:t>Field lifetimes</a:t>
            </a:r>
            <a:endParaRPr/>
          </a:p>
        </p:txBody>
      </p:sp>
      <p:sp>
        <p:nvSpPr>
          <p:cNvPr id="679305089" name="Content Placeholder 2"/>
          <p:cNvSpPr>
            <a:spLocks noGrp="1"/>
          </p:cNvSpPr>
          <p:nvPr>
            <p:ph idx="1"/>
          </p:nvPr>
        </p:nvSpPr>
        <p:spPr bwMode="auto">
          <a:xfrm>
            <a:off x="319251" y="700000"/>
            <a:ext cx="6014545" cy="731648"/>
          </a:xfrm>
        </p:spPr>
        <p:txBody>
          <a:bodyPr wrap="square" anchor="ctr">
            <a:normAutofit fontScale="77500" lnSpcReduction="20000"/>
          </a:bodyPr>
          <a:lstStyle/>
          <a:p>
            <a:pPr marL="0" indent="0">
              <a:buNone/>
              <a:defRPr/>
            </a:pPr>
            <a:r>
              <a:rPr sz="1400" b="1">
                <a:solidFill>
                  <a:srgbClr val="28285E"/>
                </a:solidFill>
              </a:rPr>
              <a:t>A field's lifetime is the interval during which later nodes may rely on its stored value. The lifetime ends when an event makes that value obsolete.</a:t>
            </a:r>
            <a:endParaRPr/>
          </a:p>
        </p:txBody>
      </p:sp>
      <p:graphicFrame>
        <p:nvGraphicFramePr>
          <p:cNvPr id="756020487" name="Table 3"/>
          <p:cNvGraphicFramePr>
            <a:graphicFrameLocks xmlns:a="http://schemas.openxmlformats.org/drawingml/2006/main" noGrp="1"/>
          </p:cNvGraphicFramePr>
          <p:nvPr/>
        </p:nvGraphicFramePr>
        <p:xfrm rot="0">
          <a:off x="319251" y="1621648"/>
          <a:ext cx="6014545" cy="2383536"/>
        </p:xfrm>
        <a:graphic>
          <a:graphicData uri="http://schemas.openxmlformats.org/drawingml/2006/table">
            <a:tbl>
              <a:tblPr firstRow="1" firstCol="0" lastRow="0" lastCol="0" bandRow="1" bandCol="0">
                <a:tableStyleId>{5C22544A-7EE6-4342-B048-85BDC9FD1C3A}</a:tableStyleId>
              </a:tblPr>
              <a:tblGrid>
                <a:gridCol w="1300000"/>
                <a:gridCol w="4714545"/>
              </a:tblGrid>
              <a:tr h="300000">
                <a:tc>
                  <a:txBody>
                    <a:bodyPr/>
                    <a:p>
                      <a:pPr>
                        <a:buNone/>
                        <a:defRPr/>
                      </a:pPr>
                      <a:r>
                        <a:rPr sz="1000" b="1">
                          <a:solidFill>
                            <a:schemeClr val="tx1"/>
                          </a:solidFill>
                        </a:rPr>
                        <a:t>Lifetime</a:t>
                      </a:r>
                      <a:endParaRPr/>
                    </a:p>
                  </a:txBody>
                  <a:tcPr marL="95250" marR="95250" marT="47625" marB="47625">
                    <a:lnB w="12700" algn="ctr">
                      <a:solidFill>
                        <a:schemeClr val="tx1"/>
                      </a:solidFill>
                    </a:lnB>
                    <a:noFill/>
                  </a:tcPr>
                </a:tc>
                <a:tc>
                  <a:txBody>
                    <a:bodyPr/>
                    <a:p>
                      <a:pPr>
                        <a:buNone/>
                        <a:defRPr/>
                      </a:pPr>
                      <a:r>
                        <a:rPr sz="1000" b="1">
                          <a:solidFill>
                            <a:schemeClr val="tx1"/>
                          </a:solidFill>
                        </a:rPr>
                        <a:t>Definition and use</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Identity</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Identity fields identify the task, target and workspace and remain unchanged.</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Run fields retain histories and counters that grow throughout the run.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Current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Current fields hold the latest plan, candidate, check result or status until the writer replaces them.</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Handoff</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One node writes a reason for invoking another node. The receiving node reads that handoff field and clears it after acting.</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Window</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An index field marks where a selected window of history begins. Checks read from that index onward while the complete history remains stored.</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Attempt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An attempt field holds one attempt’s results. Nodes clear the field before a retry so later steps cannot treat old results as current.</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847006675" name="Rectangle 4"/>
          <p:cNvSpPr/>
          <p:nvPr/>
        </p:nvSpPr>
        <p:spPr bwMode="auto">
          <a:xfrm>
            <a:off x="319251" y="4227037"/>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runtime merges updates according to reducers. Node code must enforce lifetime rules by retaining, replacing or clearing each field when required.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3983886" name="Title 1"/>
          <p:cNvSpPr>
            <a:spLocks noGrp="1"/>
          </p:cNvSpPr>
          <p:nvPr>
            <p:ph type="title"/>
          </p:nvPr>
        </p:nvSpPr>
        <p:spPr bwMode="auto"/>
        <p:txBody>
          <a:bodyPr/>
          <a:lstStyle/>
          <a:p>
            <a:pPr>
              <a:defRPr/>
            </a:pPr>
            <a:r>
              <a:rPr/>
              <a:t>Handoff and window, in the planning agent</a:t>
            </a:r>
            <a:endParaRPr/>
          </a:p>
        </p:txBody>
      </p:sp>
      <p:sp>
        <p:nvSpPr>
          <p:cNvPr id="956258520" name="Content Placeholder 2"/>
          <p:cNvSpPr>
            <a:spLocks noGrp="1"/>
          </p:cNvSpPr>
          <p:nvPr>
            <p:ph idx="1"/>
          </p:nvPr>
        </p:nvSpPr>
        <p:spPr bwMode="auto">
          <a:xfrm>
            <a:off x="319251" y="700000"/>
            <a:ext cx="6014545" cy="731648"/>
          </a:xfrm>
        </p:spPr>
        <p:txBody>
          <a:bodyPr wrap="square" anchor="ctr">
            <a:normAutofit fontScale="70000" lnSpcReduction="20000"/>
          </a:bodyPr>
          <a:lstStyle/>
          <a:p>
            <a:pPr marL="0" indent="0">
              <a:buNone/>
              <a:defRPr/>
            </a:pPr>
            <a:r>
              <a:rPr sz="1400" b="1">
                <a:solidFill>
                  <a:srgbClr val="28285E"/>
                </a:solidFill>
              </a:rPr>
              <a:t>When tools detects a stall, it stores the reason in </a:t>
            </a:r>
            <a:r>
              <a:rPr sz="1400" b="0">
                <a:solidFill>
                  <a:srgbClr val="28285E"/>
                </a:solidFill>
                <a:latin typeface="Aptos Mono"/>
              </a:rPr>
              <a:t>failed_step</a:t>
            </a:r>
            <a:r>
              <a:rPr sz="1400" b="1">
                <a:solidFill>
                  <a:srgbClr val="28285E"/>
                </a:solidFill>
              </a:rPr>
              <a:t>. The plan node uses that reason to revise the plan, then clears </a:t>
            </a:r>
            <a:r>
              <a:rPr sz="1400" b="0">
                <a:solidFill>
                  <a:srgbClr val="28285E"/>
                </a:solidFill>
                <a:latin typeface="Aptos Mono"/>
              </a:rPr>
              <a:t>failed_step</a:t>
            </a:r>
            <a:r>
              <a:rPr sz="1400" b="1">
                <a:solidFill>
                  <a:srgbClr val="28285E"/>
                </a:solidFill>
              </a:rPr>
              <a:t> and sets </a:t>
            </a:r>
            <a:r>
              <a:rPr sz="1400" b="0">
                <a:solidFill>
                  <a:srgbClr val="28285E"/>
                </a:solidFill>
                <a:latin typeface="Aptos Mono"/>
              </a:rPr>
              <a:t>replanned_at</a:t>
            </a:r>
            <a:r>
              <a:rPr sz="1400" b="1">
                <a:solidFill>
                  <a:srgbClr val="28285E"/>
                </a:solidFill>
              </a:rPr>
              <a:t>.</a:t>
            </a:r>
            <a:endParaRPr/>
          </a:p>
        </p:txBody>
      </p:sp>
      <p:sp>
        <p:nvSpPr>
          <p:cNvPr id="121580508" name="TextBox 3"/>
          <p:cNvSpPr txBox="1"/>
          <p:nvPr/>
        </p:nvSpPr>
        <p:spPr bwMode="auto">
          <a:xfrm>
            <a:off x="319251" y="1621648"/>
            <a:ext cx="6014545" cy="200000"/>
          </a:xfrm>
          <a:prstGeom prst="rect">
            <a:avLst/>
          </a:prstGeom>
          <a:noFill/>
        </p:spPr>
        <p:txBody>
          <a:bodyPr wrap="none" lIns="0" tIns="0" rIns="0" bIns="0">
            <a:spAutoFit/>
          </a:bodyPr>
          <a:lstStyle/>
          <a:p>
            <a:pPr>
              <a:defRPr/>
            </a:pPr>
            <a:r>
              <a:rPr sz="1200" b="1">
                <a:solidFill>
                  <a:srgbClr val="28285E"/>
                </a:solidFill>
              </a:rPr>
              <a:t>graph.py, tools lines 361 to 367 and plan lines 260 to 270. Excerpts</a:t>
            </a:r>
            <a:endParaRPr/>
          </a:p>
        </p:txBody>
      </p:sp>
      <p:sp>
        <p:nvSpPr>
          <p:cNvPr id="870239912" name="CodeWindow"/>
          <p:cNvSpPr/>
          <p:nvPr/>
        </p:nvSpPr>
        <p:spPr bwMode="auto">
          <a:xfrm>
            <a:off x="319251" y="1881648"/>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63901333" name="WinDot 0"/>
          <p:cNvSpPr/>
          <p:nvPr/>
        </p:nvSpPr>
        <p:spPr bwMode="auto">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56219863" name="WinDot 1"/>
          <p:cNvSpPr/>
          <p:nvPr/>
        </p:nvSpPr>
        <p:spPr bwMode="auto">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26648446" name="WinDot 2"/>
          <p:cNvSpPr/>
          <p:nvPr/>
        </p:nvSpPr>
        <p:spPr bwMode="auto">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0392234" name="WinText"/>
          <p:cNvSpPr txBox="1"/>
          <p:nvPr/>
        </p:nvSpPr>
        <p:spPr bwMode="auto">
          <a:xfrm>
            <a:off x="469251" y="2211648"/>
            <a:ext cx="5714545" cy="1680000"/>
          </a:xfrm>
          <a:prstGeom prst="rect">
            <a:avLst/>
          </a:prstGeom>
          <a:noFill/>
        </p:spPr>
        <p:txBody>
          <a:bodyPr wrap="none" lIns="0" tIns="0" rIns="0" bIns="0" anchor="t">
            <a:spAutoFit/>
          </a:bodyPr>
          <a:lstStyle/>
          <a:p>
            <a:pPr algn="l">
              <a:buNone/>
              <a:defRPr/>
            </a:pPr>
            <a:r>
              <a:rPr sz="1100" b="0">
                <a:solidFill>
                  <a:schemeClr val="accent2"/>
                </a:solidFill>
                <a:latin typeface="Aptos Mono"/>
              </a:rPr>
              <a:t>if</a:t>
            </a:r>
            <a:r>
              <a:rPr sz="1100" b="0">
                <a:solidFill>
                  <a:schemeClr val="bg1"/>
                </a:solidFill>
                <a:latin typeface="Aptos Mono"/>
              </a:rPr>
              <a:t> (</a:t>
            </a:r>
            <a:r>
              <a:rPr sz="1100" b="0">
                <a:solidFill>
                  <a:schemeClr val="accent2"/>
                </a:solidFill>
                <a:latin typeface="Aptos Mono"/>
              </a:rPr>
              <a:t>not</a:t>
            </a:r>
            <a:r>
              <a:rPr sz="1100" b="0">
                <a:solidFill>
                  <a:schemeClr val="bg1"/>
                </a:solidFill>
                <a:latin typeface="Aptos Mono"/>
              </a:rPr>
              <a:t> state.get(</a:t>
            </a:r>
            <a:r>
              <a:rPr sz="1100" b="0">
                <a:solidFill>
                  <a:schemeClr val="accent3">
                    <a:lumMod val="55000"/>
                    <a:lumOff val="45000"/>
                  </a:schemeClr>
                </a:solidFill>
                <a:latin typeface="Aptos Mono"/>
              </a:rPr>
              <a:t>"replanned_at"</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and</a:t>
            </a:r>
            <a:r>
              <a:rPr sz="1100" b="0">
                <a:solidFill>
                  <a:schemeClr val="bg1"/>
                </a:solidFill>
                <a:latin typeface="Aptos Mono"/>
              </a:rPr>
              <a:t> </a:t>
            </a:r>
            <a:r>
              <a:rPr sz="1100" b="0">
                <a:solidFill>
                  <a:schemeClr val="accent2"/>
                </a:solidFill>
                <a:latin typeface="Aptos Mono"/>
              </a:rPr>
              <a:t>self</a:t>
            </a:r>
            <a:r>
              <a:rPr sz="1100" b="0">
                <a:solidFill>
                  <a:schemeClr val="bg1"/>
                </a:solidFill>
                <a:latin typeface="Aptos Mono"/>
              </a:rPr>
              <a:t>.stalled(window, </a:t>
            </a:r>
            <a:r>
              <a:rPr sz="1100" b="0">
                <a:solidFill>
                  <a:schemeClr val="accent2"/>
                </a:solidFill>
                <a:latin typeface="Aptos Mono"/>
              </a:rPr>
              <a:t>self</a:t>
            </a:r>
            <a:r>
              <a:rPr sz="1100" b="0">
                <a:solidFill>
                  <a:schemeClr val="bg1"/>
                </a:solidFill>
                <a:latin typeface="Aptos Mono"/>
              </a:rPr>
              <a:t>.config.no_progress_steps)):</a:t>
            </a:r>
            <a:endParaRPr/>
          </a:p>
          <a:p>
            <a:pPr algn="l">
              <a:buNone/>
              <a:defRPr/>
            </a:pPr>
            <a:r>
              <a:rPr sz="1100" b="0">
                <a:solidFill>
                  <a:schemeClr val="bg1"/>
                </a:solidFill>
                <a:latin typeface="Aptos Mono"/>
              </a:rPr>
              <a:t>    update["</a:t>
            </a:r>
            <a:r>
              <a:rPr sz="1100" b="1">
                <a:solidFill>
                  <a:schemeClr val="accent4">
                    <a:lumMod val="70000"/>
                    <a:lumOff val="30000"/>
                  </a:schemeClr>
                </a:solidFill>
                <a:latin typeface="Aptos Mono"/>
              </a:rPr>
              <a:t>failed_step</a:t>
            </a:r>
            <a:r>
              <a:rPr sz="1100" b="0">
                <a:solidFill>
                  <a:schemeClr val="bg1"/>
                </a:solidFill>
                <a:latin typeface="Aptos Mono"/>
              </a:rPr>
              <a:t>"] = {  </a:t>
            </a:r>
            <a:r>
              <a:rPr sz="1100" b="0">
                <a:solidFill>
                  <a:schemeClr val="accent6"/>
                </a:solidFill>
                <a:latin typeface="Aptos Mono"/>
              </a:rPr>
              <a:t># ours: remaining entries omitted</a:t>
            </a:r>
            <a:endParaRPr/>
          </a:p>
          <a:p>
            <a:pPr algn="l">
              <a:buNone/>
              <a:defRPr/>
            </a:pPr>
            <a:r>
              <a:rPr sz="1100" b="0">
                <a:solidFill>
                  <a:schemeClr val="accent6"/>
                </a:solidFill>
                <a:latin typeface="Aptos Mono"/>
              </a:rPr>
              <a:t># ours: The plan node returns this partial update.</a:t>
            </a:r>
            <a:endParaRPr/>
          </a:p>
          <a:p>
            <a:pPr algn="l">
              <a:buNone/>
              <a:defRPr/>
            </a:pPr>
            <a:r>
              <a:rPr sz="1100" b="0">
                <a:solidFill>
                  <a:schemeClr val="bg1"/>
                </a:solidFill>
                <a:latin typeface="Aptos Mono"/>
              </a:rPr>
              <a:t>update = {</a:t>
            </a:r>
            <a:r>
              <a:rPr sz="1100" b="0">
                <a:solidFill>
                  <a:schemeClr val="accent3">
                    <a:lumMod val="55000"/>
                    <a:lumOff val="45000"/>
                  </a:schemeClr>
                </a:solidFill>
                <a:latin typeface="Aptos Mono"/>
              </a:rPr>
              <a:t>"plan"</a:t>
            </a:r>
            <a:r>
              <a:rPr sz="1100" b="0">
                <a:solidFill>
                  <a:schemeClr val="bg1"/>
                </a:solidFill>
                <a:latin typeface="Aptos Mono"/>
              </a:rPr>
              <a:t>: steps,</a:t>
            </a:r>
            <a:endParaRPr/>
          </a:p>
          <a:p>
            <a:pPr algn="l">
              <a:buNone/>
              <a:defRPr/>
            </a:pPr>
            <a:r>
              <a:rPr sz="1100" b="0">
                <a:solidFill>
                  <a:schemeClr val="bg1"/>
                </a:solidFill>
                <a:latin typeface="Aptos Mono"/>
              </a:rPr>
              <a:t>          "</a:t>
            </a:r>
            <a:r>
              <a:rPr sz="1100" b="1">
                <a:solidFill>
                  <a:schemeClr val="accent4">
                    <a:lumMod val="70000"/>
                    <a:lumOff val="30000"/>
                  </a:schemeClr>
                </a:solidFill>
                <a:latin typeface="Aptos Mono"/>
              </a:rPr>
              <a:t>failed_step</a:t>
            </a:r>
            <a:r>
              <a:rPr sz="1100" b="0">
                <a:solidFill>
                  <a:schemeClr val="bg1"/>
                </a:solidFill>
                <a:latin typeface="Aptos Mono"/>
              </a:rPr>
              <a:t>": </a:t>
            </a:r>
            <a:r>
              <a:rPr sz="1100" b="0">
                <a:solidFill>
                  <a:schemeClr val="accent2"/>
                </a:solidFill>
                <a:latin typeface="Aptos Mono"/>
              </a:rPr>
              <a:t>None</a:t>
            </a:r>
            <a:r>
              <a:rPr sz="1100" b="0">
                <a:solidFill>
                  <a:schemeClr val="bg1"/>
                </a:solidFill>
                <a:latin typeface="Aptos Mono"/>
              </a:rPr>
              <a:t>,</a:t>
            </a:r>
            <a:endParaRPr/>
          </a:p>
          <a:p>
            <a:pPr algn="l">
              <a:buNone/>
              <a:defRPr/>
            </a:pPr>
            <a:r>
              <a:rPr sz="1100" b="0">
                <a:solidFill>
                  <a:schemeClr val="accent2"/>
                </a:solidFill>
                <a:latin typeface="Aptos Mono"/>
              </a:rPr>
              <a:t>if</a:t>
            </a:r>
            <a:r>
              <a:rPr sz="1100" b="0">
                <a:solidFill>
                  <a:schemeClr val="bg1"/>
                </a:solidFill>
                <a:latin typeface="Aptos Mono"/>
              </a:rPr>
              <a:t> failed:</a:t>
            </a:r>
            <a:endParaRPr/>
          </a:p>
          <a:p>
            <a:pPr algn="l">
              <a:buNone/>
              <a:defRPr/>
            </a:pPr>
            <a:r>
              <a:rPr sz="1100" b="0">
                <a:solidFill>
                  <a:schemeClr val="bg1"/>
                </a:solidFill>
                <a:latin typeface="Aptos Mono"/>
              </a:rPr>
              <a:t>    update[</a:t>
            </a:r>
            <a:r>
              <a:rPr sz="1100" b="0">
                <a:solidFill>
                  <a:schemeClr val="accent3">
                    <a:lumMod val="55000"/>
                    <a:lumOff val="45000"/>
                  </a:schemeClr>
                </a:solidFill>
                <a:latin typeface="Aptos Mono"/>
              </a:rPr>
              <a:t>"replanned_at"</a:t>
            </a:r>
            <a:r>
              <a:rPr sz="1100" b="0">
                <a:solidFill>
                  <a:schemeClr val="bg1"/>
                </a:solidFill>
                <a:latin typeface="Aptos Mono"/>
              </a:rPr>
              <a:t>] = len(state[</a:t>
            </a:r>
            <a:r>
              <a:rPr sz="1100" b="0">
                <a:solidFill>
                  <a:schemeClr val="accent3">
                    <a:lumMod val="55000"/>
                    <a:lumOff val="45000"/>
                  </a:schemeClr>
                </a:solidFill>
                <a:latin typeface="Aptos Mono"/>
              </a:rPr>
              <a:t>"observations"</a:t>
            </a:r>
            <a:r>
              <a:rPr sz="1100" b="0">
                <a:solidFill>
                  <a:schemeClr val="bg1"/>
                </a:solidFill>
                <a:latin typeface="Aptos Mono"/>
              </a:rPr>
              <a:t>])</a:t>
            </a:r>
            <a:endParaRPr/>
          </a:p>
        </p:txBody>
      </p:sp>
      <p:sp>
        <p:nvSpPr>
          <p:cNvPr id="1323013406" name="Rectangle 9"/>
          <p:cNvSpPr/>
          <p:nvPr/>
        </p:nvSpPr>
        <p:spPr bwMode="auto">
          <a:xfrm>
            <a:off x="319251" y="415164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If </a:t>
            </a:r>
            <a:r>
              <a:rPr sz="1200" b="0">
                <a:solidFill>
                  <a:schemeClr val="tx2"/>
                </a:solidFill>
                <a:latin typeface="Aptos Mono"/>
              </a:rPr>
              <a:t>failed_step</a:t>
            </a:r>
            <a:r>
              <a:rPr sz="1200" b="1">
                <a:solidFill>
                  <a:schemeClr val="tx2"/>
                </a:solidFill>
              </a:rPr>
              <a:t> remained set, after_tools would select plan again on the next tools step.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10530381" name="Title 1"/>
          <p:cNvSpPr>
            <a:spLocks noGrp="1"/>
          </p:cNvSpPr>
          <p:nvPr>
            <p:ph type="title"/>
          </p:nvPr>
        </p:nvSpPr>
        <p:spPr bwMode="auto"/>
        <p:txBody>
          <a:bodyPr/>
          <a:lstStyle/>
          <a:p>
            <a:pPr>
              <a:defRPr/>
            </a:pPr>
            <a:r>
              <a:rPr/>
              <a:t>Proving invariants over configurations</a:t>
            </a:r>
            <a:endParaRPr/>
          </a:p>
        </p:txBody>
      </p:sp>
      <p:sp>
        <p:nvSpPr>
          <p:cNvPr id="494920631"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To prove that every run obeys a limit, we express the limit as a predicate: a condition that is true or false for a configuration.</a:t>
            </a:r>
            <a:endParaRPr/>
          </a:p>
          <a:p>
            <a:pPr marL="400050" indent="-285750">
              <a:spcBef>
                <a:spcPts val="600"/>
              </a:spcBef>
              <a:spcAft>
                <a:spcPts val="600"/>
              </a:spcAft>
              <a:buClr>
                <a:srgbClr val="28285E"/>
              </a:buClr>
              <a:buSzPts val="1260"/>
              <a:buFont typeface="+mn-lt"/>
              <a:buChar char="●"/>
              <a:defRPr/>
            </a:pPr>
            <a:r>
              <a:rPr sz="1400" b="1">
                <a:solidFill>
                  <a:schemeClr val="tx1"/>
                </a:solidFill>
              </a:rPr>
              <a:t>Initial case.</a:t>
            </a:r>
            <a:r>
              <a:rPr sz="1400" b="0">
                <a:solidFill>
                  <a:schemeClr val="tx1"/>
                </a:solidFill>
              </a:rPr>
              <a:t> Show that the predicate is true for the initial control location and variable values.</a:t>
            </a:r>
            <a:endParaRPr/>
          </a:p>
          <a:p>
            <a:pPr marL="400050" indent="-285750">
              <a:spcBef>
                <a:spcPts val="600"/>
              </a:spcBef>
              <a:spcAft>
                <a:spcPts val="600"/>
              </a:spcAft>
              <a:buClr>
                <a:srgbClr val="28285E"/>
              </a:buClr>
              <a:buSzPts val="1260"/>
              <a:buFont typeface="+mn-lt"/>
              <a:buChar char="●"/>
              <a:defRPr/>
            </a:pPr>
            <a:r>
              <a:rPr sz="1400" b="1">
                <a:solidFill>
                  <a:schemeClr val="tx1"/>
                </a:solidFill>
              </a:rPr>
              <a:t>Preservation.</a:t>
            </a:r>
            <a:r>
              <a:rPr sz="1400" b="0">
                <a:solidFill>
                  <a:schemeClr val="tx1"/>
                </a:solidFill>
              </a:rPr>
              <a:t> For each permitted transition, assume the predicate is true before the step and show that it is still true afterward.</a:t>
            </a:r>
            <a:endParaRPr/>
          </a:p>
          <a:p>
            <a:pPr marL="400050" indent="-285750">
              <a:spcBef>
                <a:spcPts val="600"/>
              </a:spcBef>
              <a:spcAft>
                <a:spcPts val="600"/>
              </a:spcAft>
              <a:buClr>
                <a:srgbClr val="28285E"/>
              </a:buClr>
              <a:buSzPts val="1260"/>
              <a:buFont typeface="+mn-lt"/>
              <a:buChar char="●"/>
              <a:defRPr/>
            </a:pPr>
            <a:r>
              <a:rPr sz="1400" b="1">
                <a:solidFill>
                  <a:schemeClr val="tx1"/>
                </a:solidFill>
              </a:rPr>
              <a:t>A stronger predicate</a:t>
            </a:r>
            <a:r>
              <a:rPr sz="1400" b="0">
                <a:solidFill>
                  <a:schemeClr val="tx1"/>
                </a:solidFill>
              </a:rPr>
              <a:t> adds conditions to the desired property. For the call budget, we also require the counter to equal the number of completed calls.</a:t>
            </a:r>
            <a:endParaRPr/>
          </a:p>
        </p:txBody>
      </p:sp>
      <p:sp>
        <p:nvSpPr>
          <p:cNvPr id="2114085247"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predicate that holds initially and remains true after every transition is an invariant. It is therefore true at every configuration that a run can reach.</a:t>
            </a:r>
            <a:endParaRPr/>
          </a:p>
        </p:txBody>
      </p:sp>
      <p:sp>
        <p:nvSpPr>
          <p:cNvPr id="428104070"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An invariant proof applies to every possible run, including runs we have never executed.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59700839" name="Title 1"/>
          <p:cNvSpPr>
            <a:spLocks noGrp="1"/>
          </p:cNvSpPr>
          <p:nvPr>
            <p:ph type="title"/>
          </p:nvPr>
        </p:nvSpPr>
        <p:spPr bwMode="auto"/>
        <p:txBody>
          <a:bodyPr/>
          <a:lstStyle/>
          <a:p>
            <a:pPr>
              <a:defRPr/>
            </a:pPr>
            <a:r>
              <a:rPr/>
              <a:t>The call budget as an invariant</a:t>
            </a:r>
            <a:endParaRPr/>
          </a:p>
        </p:txBody>
      </p:sp>
      <p:sp>
        <p:nvSpPr>
          <p:cNvPr id="595434577"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To bound completed model calls, we prove that </a:t>
            </a:r>
            <a:r>
              <a:rPr sz="1400" b="0">
                <a:solidFill>
                  <a:srgbClr val="28285E"/>
                </a:solidFill>
                <a:latin typeface="Aptos Mono"/>
              </a:rPr>
              <a:t>model_calls</a:t>
            </a:r>
            <a:r>
              <a:rPr sz="1400" b="1">
                <a:solidFill>
                  <a:srgbClr val="28285E"/>
                </a:solidFill>
              </a:rPr>
              <a:t> counts them exactly and never exceeds the budget.</a:t>
            </a:r>
            <a:endParaRPr/>
          </a:p>
          <a:p>
            <a:pPr marL="400050" indent="-285750">
              <a:spcBef>
                <a:spcPts val="600"/>
              </a:spcBef>
              <a:spcAft>
                <a:spcPts val="600"/>
              </a:spcAft>
              <a:buClr>
                <a:srgbClr val="28285E"/>
              </a:buClr>
              <a:buSzPts val="1260"/>
              <a:buFont typeface="+mn-lt"/>
              <a:buChar char="●"/>
              <a:defRPr/>
            </a:pPr>
            <a:r>
              <a:rPr sz="1400" b="1">
                <a:solidFill>
                  <a:schemeClr val="tx1"/>
                </a:solidFill>
              </a:rPr>
              <a:t>Admission.</a:t>
            </a:r>
            <a:r>
              <a:rPr sz="1400" b="0">
                <a:solidFill>
                  <a:schemeClr val="tx1"/>
                </a:solidFill>
              </a:rPr>
              <a:t> Each node checks that the stored call counter is below the budget before issuing a model call.</a:t>
            </a:r>
            <a:endParaRPr/>
          </a:p>
          <a:p>
            <a:pPr marL="400050" indent="-285750">
              <a:spcBef>
                <a:spcPts val="600"/>
              </a:spcBef>
              <a:spcAft>
                <a:spcPts val="600"/>
              </a:spcAft>
              <a:buClr>
                <a:srgbClr val="28285E"/>
              </a:buClr>
              <a:buSzPts val="1260"/>
              <a:buFont typeface="+mn-lt"/>
              <a:buChar char="●"/>
              <a:defRPr/>
            </a:pPr>
            <a:r>
              <a:rPr sz="1400" b="1">
                <a:solidFill>
                  <a:schemeClr val="tx1"/>
                </a:solidFill>
              </a:rPr>
              <a:t>Counting.</a:t>
            </a:r>
            <a:r>
              <a:rPr sz="1400" b="0">
                <a:solidFill>
                  <a:schemeClr val="tx1"/>
                </a:solidFill>
              </a:rPr>
              <a:t> After a call completes, the node returns </a:t>
            </a:r>
            <a:r>
              <a:rPr sz="1400" b="0">
                <a:solidFill>
                  <a:schemeClr val="tx1"/>
                </a:solidFill>
                <a:latin typeface="Aptos Mono"/>
              </a:rPr>
              <a:t>model_calls: 1</a:t>
            </a:r>
            <a:r>
              <a:rPr sz="1400" b="0">
                <a:solidFill>
                  <a:schemeClr val="tx1"/>
                </a:solidFill>
              </a:rPr>
              <a:t>, and the reducer adds one to the stored count.</a:t>
            </a:r>
            <a:endParaRPr/>
          </a:p>
          <a:p>
            <a:pPr marL="400050" indent="-285750">
              <a:spcBef>
                <a:spcPts val="600"/>
              </a:spcBef>
              <a:spcAft>
                <a:spcPts val="600"/>
              </a:spcAft>
              <a:buClr>
                <a:srgbClr val="28285E"/>
              </a:buClr>
              <a:buSzPts val="1260"/>
              <a:buFont typeface="+mn-lt"/>
              <a:buChar char="●"/>
              <a:defRPr/>
            </a:pPr>
            <a:r>
              <a:rPr sz="1400" b="1">
                <a:solidFill>
                  <a:schemeClr val="tx1"/>
                </a:solidFill>
              </a:rPr>
              <a:t>Preservation.</a:t>
            </a:r>
            <a:r>
              <a:rPr sz="1400" b="0">
                <a:solidFill>
                  <a:schemeClr val="tx1"/>
                </a:solidFill>
              </a:rPr>
              <a:t> A step without a call leaves the counter unchanged. No transition resets or decreases it.</a:t>
            </a:r>
            <a:endParaRPr/>
          </a:p>
        </p:txBody>
      </p:sp>
      <p:sp>
        <p:nvSpPr>
          <p:cNvPr id="1720604982"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reducer accumulates reported calls. Each caller must check the budget before calling and report each completed call exactly once.</a:t>
            </a:r>
            <a:endParaRPr/>
          </a:p>
        </p:txBody>
      </p:sp>
      <p:sp>
        <p:nvSpPr>
          <p:cNvPr id="1037020566"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In our agent, </a:t>
            </a:r>
            <a:r>
              <a:rPr sz="1200" b="0">
                <a:solidFill>
                  <a:srgbClr val="28285E"/>
                </a:solidFill>
                <a:latin typeface="Aptos Mono"/>
              </a:rPr>
              <a:t>model_calls</a:t>
            </a:r>
            <a:r>
              <a:rPr sz="1200" b="1">
                <a:solidFill>
                  <a:srgbClr val="28285E"/>
                </a:solidFill>
              </a:rPr>
              <a:t> must remain at most forty.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7649953" name="Title 1"/>
          <p:cNvSpPr>
            <a:spLocks noGrp="1"/>
          </p:cNvSpPr>
          <p:nvPr>
            <p:ph type="title"/>
          </p:nvPr>
        </p:nvSpPr>
        <p:spPr bwMode="auto"/>
        <p:txBody>
          <a:bodyPr/>
          <a:lstStyle/>
          <a:p>
            <a:pPr>
              <a:defRPr/>
            </a:pPr>
            <a:r>
              <a:rPr/>
              <a:t>Constructing and compiling the state graph</a:t>
            </a:r>
            <a:endParaRPr/>
          </a:p>
        </p:txBody>
      </p:sp>
      <p:sp>
        <p:nvSpPr>
          <p:cNvPr id="451851073"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0">
                <a:solidFill>
                  <a:srgbClr val="28285E"/>
                </a:solidFill>
                <a:latin typeface="Aptos Mono"/>
              </a:rPr>
              <a:t>StateGraph</a:t>
            </a:r>
            <a:r>
              <a:rPr sz="1400" b="1">
                <a:solidFill>
                  <a:srgbClr val="28285E"/>
                </a:solidFill>
              </a:rPr>
              <a:t> creates one channel per schema field to store its value and merge updates.</a:t>
            </a:r>
            <a:endParaRPr/>
          </a:p>
        </p:txBody>
      </p:sp>
      <p:sp>
        <p:nvSpPr>
          <p:cNvPr id="837847803"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1">
                <a:solidFill>
                  <a:srgbClr val="28285E"/>
                </a:solidFill>
              </a:rPr>
              <a:t>graph.py, compile, lines 493 to 521. Selected declarations</a:t>
            </a:r>
            <a:endParaRPr/>
          </a:p>
        </p:txBody>
      </p:sp>
      <p:sp>
        <p:nvSpPr>
          <p:cNvPr id="1958189932" name="CodeWindow"/>
          <p:cNvSpPr/>
          <p:nvPr/>
        </p:nvSpPr>
        <p:spPr bwMode="auto">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43750804"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0716089"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7597125"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76250285" name="WinText"/>
          <p:cNvSpPr txBox="1"/>
          <p:nvPr/>
        </p:nvSpPr>
        <p:spPr bwMode="auto">
          <a:xfrm>
            <a:off x="469251" y="1980000"/>
            <a:ext cx="5714545" cy="1890000"/>
          </a:xfrm>
          <a:prstGeom prst="rect">
            <a:avLst/>
          </a:prstGeom>
          <a:noFill/>
        </p:spPr>
        <p:txBody>
          <a:bodyPr wrap="none" lIns="0" tIns="0" rIns="0" bIns="0" anchor="t">
            <a:spAutoFit/>
          </a:bodyPr>
          <a:lstStyle/>
          <a:p>
            <a:pPr algn="l">
              <a:buNone/>
              <a:defRPr/>
            </a:pPr>
            <a:r>
              <a:rPr sz="1100" b="0">
                <a:solidFill>
                  <a:schemeClr val="bg1"/>
                </a:solidFill>
                <a:latin typeface="Aptos Mono"/>
              </a:rPr>
              <a:t>graph = StateGraph(AgentState)</a:t>
            </a:r>
            <a:endParaRPr/>
          </a:p>
          <a:p>
            <a:pPr algn="l">
              <a:buNone/>
              <a:defRPr/>
            </a:pPr>
            <a:r>
              <a:rPr sz="1100" b="0">
                <a:solidFill>
                  <a:schemeClr val="bg1"/>
                </a:solidFill>
                <a:latin typeface="Aptos Mono"/>
              </a:rPr>
              <a:t>graph.add_node(</a:t>
            </a:r>
            <a:r>
              <a:rPr sz="1100" b="0">
                <a:solidFill>
                  <a:schemeClr val="accent3">
                    <a:lumMod val="55000"/>
                    <a:lumOff val="45000"/>
                  </a:schemeClr>
                </a:solidFill>
                <a:latin typeface="Aptos Mono"/>
              </a:rPr>
              <a:t>"plan"</a:t>
            </a:r>
            <a:r>
              <a:rPr sz="1100" b="0">
                <a:solidFill>
                  <a:schemeClr val="bg1"/>
                </a:solidFill>
                <a:latin typeface="Aptos Mono"/>
              </a:rPr>
              <a:t>, </a:t>
            </a:r>
            <a:r>
              <a:rPr sz="1100" b="0">
                <a:solidFill>
                  <a:schemeClr val="accent2"/>
                </a:solidFill>
                <a:latin typeface="Aptos Mono"/>
              </a:rPr>
              <a:t>self</a:t>
            </a:r>
            <a:r>
              <a:rPr sz="1100" b="0">
                <a:solidFill>
                  <a:schemeClr val="bg1"/>
                </a:solidFill>
                <a:latin typeface="Aptos Mono"/>
              </a:rPr>
              <a:t>.plan)</a:t>
            </a:r>
            <a:endParaRPr/>
          </a:p>
          <a:p>
            <a:pPr algn="l">
              <a:buNone/>
              <a:defRPr/>
            </a:pPr>
            <a:r>
              <a:rPr sz="1100" b="0">
                <a:solidFill>
                  <a:schemeClr val="bg1"/>
                </a:solidFill>
                <a:latin typeface="Aptos Mono"/>
              </a:rPr>
              <a:t>graph.add_node(</a:t>
            </a:r>
            <a:r>
              <a:rPr sz="1100" b="0">
                <a:solidFill>
                  <a:schemeClr val="accent3">
                    <a:lumMod val="55000"/>
                    <a:lumOff val="45000"/>
                  </a:schemeClr>
                </a:solidFill>
                <a:latin typeface="Aptos Mono"/>
              </a:rPr>
              <a:t>"tools"</a:t>
            </a:r>
            <a:r>
              <a:rPr sz="1100" b="0">
                <a:solidFill>
                  <a:schemeClr val="bg1"/>
                </a:solidFill>
                <a:latin typeface="Aptos Mono"/>
              </a:rPr>
              <a:t>, </a:t>
            </a:r>
            <a:r>
              <a:rPr sz="1100" b="0">
                <a:solidFill>
                  <a:schemeClr val="accent2"/>
                </a:solidFill>
                <a:latin typeface="Aptos Mono"/>
              </a:rPr>
              <a:t>self</a:t>
            </a:r>
            <a:r>
              <a:rPr sz="1100" b="0">
                <a:solidFill>
                  <a:schemeClr val="bg1"/>
                </a:solidFill>
                <a:latin typeface="Aptos Mono"/>
              </a:rPr>
              <a:t>.tools)</a:t>
            </a:r>
            <a:endParaRPr/>
          </a:p>
          <a:p>
            <a:pPr algn="l">
              <a:buNone/>
              <a:defRPr/>
            </a:pPr>
            <a:r>
              <a:rPr sz="1100" b="0">
                <a:solidFill>
                  <a:schemeClr val="accent6"/>
                </a:solidFill>
                <a:latin typeface="Aptos Mono"/>
              </a:rPr>
              <a:t># ours: Five node and five edge declarations are omitted.</a:t>
            </a:r>
            <a:endParaRPr/>
          </a:p>
          <a:p>
            <a:pPr algn="l">
              <a:buNone/>
              <a:defRPr/>
            </a:pPr>
            <a:r>
              <a:rPr sz="1100" b="0">
                <a:solidFill>
                  <a:schemeClr val="bg1"/>
                </a:solidFill>
                <a:latin typeface="Aptos Mono"/>
              </a:rPr>
              <a:t>graph.add_edge(START, </a:t>
            </a:r>
            <a:r>
              <a:rPr sz="1100" b="0">
                <a:solidFill>
                  <a:schemeClr val="accent3">
                    <a:lumMod val="55000"/>
                    <a:lumOff val="45000"/>
                  </a:schemeClr>
                </a:solidFill>
                <a:latin typeface="Aptos Mono"/>
              </a:rPr>
              <a:t>"scan"</a:t>
            </a:r>
            <a:r>
              <a:rPr sz="1100" b="0">
                <a:solidFill>
                  <a:schemeClr val="bg1"/>
                </a:solidFill>
                <a:latin typeface="Aptos Mono"/>
              </a:rPr>
              <a:t>)</a:t>
            </a:r>
            <a:endParaRPr/>
          </a:p>
          <a:p>
            <a:pPr algn="l">
              <a:buNone/>
              <a:defRPr/>
            </a:pPr>
            <a:r>
              <a:rPr sz="1100" b="0">
                <a:solidFill>
                  <a:schemeClr val="bg1"/>
                </a:solidFill>
                <a:latin typeface="Aptos Mono"/>
              </a:rPr>
              <a:t>graph.</a:t>
            </a:r>
            <a:r>
              <a:rPr sz="1100" b="1">
                <a:solidFill>
                  <a:schemeClr val="accent4">
                    <a:lumMod val="70000"/>
                    <a:lumOff val="30000"/>
                  </a:schemeClr>
                </a:solidFill>
                <a:latin typeface="Aptos Mono"/>
              </a:rPr>
              <a:t>add_conditional_edges</a:t>
            </a:r>
            <a:r>
              <a:rPr sz="1100" b="0">
                <a:solidFill>
                  <a:schemeClr val="bg1"/>
                </a:solidFill>
                <a:latin typeface="Aptos Mono"/>
              </a:rPr>
              <a:t>(</a:t>
            </a:r>
            <a:r>
              <a:rPr sz="1100" b="0">
                <a:solidFill>
                  <a:schemeClr val="accent3">
                    <a:lumMod val="55000"/>
                    <a:lumOff val="45000"/>
                  </a:schemeClr>
                </a:solidFill>
                <a:latin typeface="Aptos Mono"/>
              </a:rPr>
              <a:t>"tools"</a:t>
            </a:r>
            <a:r>
              <a:rPr sz="1100" b="0">
                <a:solidFill>
                  <a:schemeClr val="bg1"/>
                </a:solidFill>
                <a:latin typeface="Aptos Mono"/>
              </a:rPr>
              <a:t>, </a:t>
            </a:r>
            <a:r>
              <a:rPr sz="1100" b="0">
                <a:solidFill>
                  <a:schemeClr val="accent2"/>
                </a:solidFill>
                <a:latin typeface="Aptos Mono"/>
              </a:rPr>
              <a:t>self</a:t>
            </a:r>
            <a:r>
              <a:rPr sz="1100" b="0">
                <a:solidFill>
                  <a:schemeClr val="bg1"/>
                </a:solidFill>
                <a:latin typeface="Aptos Mono"/>
              </a:rPr>
              <a:t>.after_tools,</a:t>
            </a:r>
            <a:endParaRPr/>
          </a:p>
          <a:p>
            <a:pPr algn="l">
              <a:buNone/>
              <a:defRPr/>
            </a:pPr>
            <a:r>
              <a:rPr sz="1100" b="0">
                <a:solidFill>
                  <a:schemeClr val="bg1"/>
                </a:solidFill>
                <a:latin typeface="Aptos Mono"/>
              </a:rPr>
              <a:t>    {</a:t>
            </a:r>
            <a:r>
              <a:rPr sz="1100" b="0">
                <a:solidFill>
                  <a:schemeClr val="accent3">
                    <a:lumMod val="55000"/>
                    <a:lumOff val="45000"/>
                  </a:schemeClr>
                </a:solidFill>
                <a:latin typeface="Aptos Mono"/>
              </a:rPr>
              <a:t>"controller"</a:t>
            </a:r>
            <a:r>
              <a:rPr sz="1100" b="0">
                <a:solidFill>
                  <a:schemeClr val="bg1"/>
                </a:solidFill>
                <a:latin typeface="Aptos Mono"/>
              </a:rPr>
              <a:t>: </a:t>
            </a:r>
            <a:r>
              <a:rPr sz="1100" b="0">
                <a:solidFill>
                  <a:schemeClr val="accent3">
                    <a:lumMod val="55000"/>
                    <a:lumOff val="45000"/>
                  </a:schemeClr>
                </a:solidFill>
                <a:latin typeface="Aptos Mono"/>
              </a:rPr>
              <a:t>"controller"</a:t>
            </a:r>
            <a:r>
              <a:rPr sz="1100" b="0">
                <a:solidFill>
                  <a:schemeClr val="bg1"/>
                </a:solidFill>
                <a:latin typeface="Aptos Mono"/>
              </a:rPr>
              <a:t>, </a:t>
            </a:r>
            <a:r>
              <a:rPr sz="1100" b="0">
                <a:solidFill>
                  <a:schemeClr val="accent3">
                    <a:lumMod val="55000"/>
                    <a:lumOff val="45000"/>
                  </a:schemeClr>
                </a:solidFill>
                <a:latin typeface="Aptos Mono"/>
              </a:rPr>
              <a:t>"plan"</a:t>
            </a:r>
            <a:r>
              <a:rPr sz="1100" b="0">
                <a:solidFill>
                  <a:schemeClr val="bg1"/>
                </a:solidFill>
                <a:latin typeface="Aptos Mono"/>
              </a:rPr>
              <a:t>: </a:t>
            </a:r>
            <a:r>
              <a:rPr sz="1100" b="0">
                <a:solidFill>
                  <a:schemeClr val="accent3">
                    <a:lumMod val="55000"/>
                    <a:lumOff val="45000"/>
                  </a:schemeClr>
                </a:solidFill>
                <a:latin typeface="Aptos Mono"/>
              </a:rPr>
              <a:t>"plan"</a:t>
            </a:r>
            <a:r>
              <a:rPr sz="1100" b="0">
                <a:solidFill>
                  <a:schemeClr val="bg1"/>
                </a:solidFill>
                <a:latin typeface="Aptos Mono"/>
              </a:rPr>
              <a:t>})</a:t>
            </a:r>
            <a:endParaRPr/>
          </a:p>
          <a:p>
            <a:pPr algn="l">
              <a:buNone/>
              <a:defRPr/>
            </a:pPr>
            <a:r>
              <a:rPr sz="1100" b="0">
                <a:solidFill>
                  <a:schemeClr val="bg1"/>
                </a:solidFill>
                <a:latin typeface="Aptos Mono"/>
              </a:rPr>
              <a:t>graph.add_edge(</a:t>
            </a:r>
            <a:r>
              <a:rPr sz="1100" b="0">
                <a:solidFill>
                  <a:schemeClr val="accent3">
                    <a:lumMod val="55000"/>
                    <a:lumOff val="45000"/>
                  </a:schemeClr>
                </a:solidFill>
                <a:latin typeface="Aptos Mono"/>
              </a:rPr>
              <a:t>"validate"</a:t>
            </a:r>
            <a:r>
              <a:rPr sz="1100" b="0">
                <a:solidFill>
                  <a:schemeClr val="bg1"/>
                </a:solidFill>
                <a:latin typeface="Aptos Mono"/>
              </a:rPr>
              <a:t>, END)</a:t>
            </a:r>
            <a:endParaRPr/>
          </a:p>
          <a:p>
            <a:pPr algn="l">
              <a:buNone/>
              <a:defRPr/>
            </a:pPr>
            <a:r>
              <a:rPr sz="1100" b="0">
                <a:solidFill>
                  <a:schemeClr val="accent2"/>
                </a:solidFill>
                <a:latin typeface="Aptos Mono"/>
              </a:rPr>
              <a:t>return</a:t>
            </a:r>
            <a:r>
              <a:rPr sz="1100" b="0">
                <a:solidFill>
                  <a:schemeClr val="bg1"/>
                </a:solidFill>
                <a:latin typeface="Aptos Mono"/>
              </a:rPr>
              <a:t> graph.compile()</a:t>
            </a:r>
            <a:endParaRPr/>
          </a:p>
        </p:txBody>
      </p:sp>
      <p:sp>
        <p:nvSpPr>
          <p:cNvPr id="412198092" name="Rectangle 9"/>
          <p:cNvSpPr/>
          <p:nvPr/>
        </p:nvSpPr>
        <p:spPr bwMode="auto">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0">
                <a:solidFill>
                  <a:schemeClr val="tx2"/>
                </a:solidFill>
                <a:latin typeface="Aptos Mono"/>
              </a:rPr>
              <a:t>compile()</a:t>
            </a:r>
            <a:r>
              <a:rPr sz="1200" b="1">
                <a:solidFill>
                  <a:schemeClr val="tx2"/>
                </a:solidFill>
              </a:rPr>
              <a:t> checks the declared graph connections and returns a graph that the runtime can execute.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36492433" name="Title 1"/>
          <p:cNvSpPr>
            <a:spLocks noGrp="1"/>
          </p:cNvSpPr>
          <p:nvPr>
            <p:ph type="title"/>
          </p:nvPr>
        </p:nvSpPr>
        <p:spPr bwMode="auto"/>
        <p:txBody>
          <a:bodyPr/>
          <a:lstStyle/>
          <a:p>
            <a:pPr>
              <a:defRPr/>
            </a:pPr>
            <a:r>
              <a:rPr/>
              <a:t>Designing a state graph</a:t>
            </a:r>
            <a:endParaRPr/>
          </a:p>
        </p:txBody>
      </p:sp>
      <p:sp>
        <p:nvSpPr>
          <p:cNvPr id="1756433829" name="Content Placeholder 2"/>
          <p:cNvSpPr>
            <a:spLocks noGrp="1"/>
          </p:cNvSpPr>
          <p:nvPr>
            <p:ph idx="1"/>
          </p:nvPr>
        </p:nvSpPr>
        <p:spPr bwMode="auto">
          <a:xfrm>
            <a:off x="319251" y="700000"/>
            <a:ext cx="6014545" cy="3190088"/>
          </a:xfrm>
        </p:spPr>
        <p:txBody>
          <a:bodyPr wrap="square" anchor="ctr">
            <a:normAutofit fontScale="92500" lnSpcReduction="20000"/>
          </a:bodyPr>
          <a:lstStyle/>
          <a:p>
            <a:pPr marL="0" indent="0">
              <a:buNone/>
              <a:defRPr/>
            </a:pPr>
            <a:r>
              <a:rPr sz="1400" b="1">
                <a:solidFill>
                  <a:srgbClr val="28285E"/>
                </a:solidFill>
              </a:rPr>
              <a:t>Declare each field when you add the node that writes it.</a:t>
            </a:r>
            <a:endParaRPr/>
          </a:p>
          <a:p>
            <a:pPr marL="400050" indent="-285750">
              <a:spcBef>
                <a:spcPts val="600"/>
              </a:spcBef>
              <a:spcAft>
                <a:spcPts val="600"/>
              </a:spcAft>
              <a:buClr>
                <a:srgbClr val="28285E"/>
              </a:buClr>
              <a:buSzPts val="1260"/>
              <a:buFont typeface="+mn-lt"/>
              <a:buChar char="●"/>
              <a:defRPr/>
            </a:pPr>
            <a:r>
              <a:rPr sz="1400" b="1">
                <a:solidFill>
                  <a:schemeClr val="tx1"/>
                </a:solidFill>
              </a:rPr>
              <a:t>Specify the nodes</a:t>
            </a:r>
            <a:r>
              <a:rPr sz="1400" b="0">
                <a:solidFill>
                  <a:schemeClr val="tx1"/>
                </a:solidFill>
              </a:rPr>
              <a:t> and the rules that select which node runs next.</a:t>
            </a:r>
            <a:endParaRPr/>
          </a:p>
          <a:p>
            <a:pPr marL="400050" indent="-285750">
              <a:spcBef>
                <a:spcPts val="600"/>
              </a:spcBef>
              <a:spcAft>
                <a:spcPts val="600"/>
              </a:spcAft>
              <a:buClr>
                <a:srgbClr val="28285E"/>
              </a:buClr>
              <a:buSzPts val="1260"/>
              <a:buFont typeface="+mn-lt"/>
              <a:buChar char="●"/>
              <a:defRPr/>
            </a:pPr>
            <a:r>
              <a:rPr sz="1400" b="1">
                <a:solidFill>
                  <a:schemeClr val="tx1"/>
                </a:solidFill>
              </a:rPr>
              <a:t>Declare fields</a:t>
            </a:r>
            <a:r>
              <a:rPr sz="1400" b="0">
                <a:solidFill>
                  <a:schemeClr val="tx1"/>
                </a:solidFill>
              </a:rPr>
              <a:t> for values that nodes and routing functions read.</a:t>
            </a:r>
            <a:endParaRPr/>
          </a:p>
          <a:p>
            <a:pPr marL="400050" indent="-285750">
              <a:spcBef>
                <a:spcPts val="600"/>
              </a:spcBef>
              <a:spcAft>
                <a:spcPts val="600"/>
              </a:spcAft>
              <a:buClr>
                <a:srgbClr val="28285E"/>
              </a:buClr>
              <a:buSzPts val="1260"/>
              <a:buFont typeface="+mn-lt"/>
              <a:buChar char="●"/>
              <a:defRPr/>
            </a:pPr>
            <a:r>
              <a:rPr sz="1400" b="1">
                <a:solidFill>
                  <a:schemeClr val="tx1"/>
                </a:solidFill>
              </a:rPr>
              <a:t>Name the node</a:t>
            </a:r>
            <a:r>
              <a:rPr sz="1400" b="0">
                <a:solidFill>
                  <a:schemeClr val="tx1"/>
                </a:solidFill>
              </a:rPr>
              <a:t> that writes each field and when later nodes must stop using its old value.</a:t>
            </a:r>
            <a:endParaRPr/>
          </a:p>
          <a:p>
            <a:pPr marL="400050" indent="-285750">
              <a:spcBef>
                <a:spcPts val="600"/>
              </a:spcBef>
              <a:spcAft>
                <a:spcPts val="600"/>
              </a:spcAft>
              <a:buClr>
                <a:srgbClr val="28285E"/>
              </a:buClr>
              <a:buSzPts val="1260"/>
              <a:buFont typeface="+mn-lt"/>
              <a:buChar char="●"/>
              <a:defRPr/>
            </a:pPr>
            <a:r>
              <a:rPr sz="1400" b="1">
                <a:solidFill>
                  <a:schemeClr val="tx1"/>
                </a:solidFill>
              </a:rPr>
              <a:t>Choose each field's lifetime,</a:t>
            </a:r>
            <a:r>
              <a:rPr sz="1400" b="0">
                <a:solidFill>
                  <a:schemeClr val="tx1"/>
                </a:solidFill>
              </a:rPr>
              <a:t> then choose whether updates append, replace or accumulate values.</a:t>
            </a:r>
            <a:endParaRPr/>
          </a:p>
          <a:p>
            <a:pPr marL="400050" indent="-285750">
              <a:spcBef>
                <a:spcPts val="600"/>
              </a:spcBef>
              <a:spcAft>
                <a:spcPts val="600"/>
              </a:spcAft>
              <a:buClr>
                <a:srgbClr val="28285E"/>
              </a:buClr>
              <a:buSzPts val="1260"/>
              <a:buFont typeface="+mn-lt"/>
              <a:buChar char="●"/>
              <a:defRPr/>
            </a:pPr>
            <a:r>
              <a:rPr sz="1400" b="1">
                <a:solidFill>
                  <a:schemeClr val="tx1"/>
                </a:solidFill>
              </a:rPr>
              <a:t>Write the initial state </a:t>
            </a:r>
            <a:r>
              <a:rPr sz="1400" b="0">
                <a:solidFill>
                  <a:schemeClr val="tx1"/>
                </a:solidFill>
              </a:rPr>
              <a:t>with a value for every key.</a:t>
            </a:r>
            <a:endParaRPr/>
          </a:p>
          <a:p>
            <a:pPr marL="400050" indent="-285750">
              <a:spcBef>
                <a:spcPts val="600"/>
              </a:spcBef>
              <a:spcAft>
                <a:spcPts val="600"/>
              </a:spcAft>
              <a:buClr>
                <a:srgbClr val="28285E"/>
              </a:buClr>
              <a:buSzPts val="1260"/>
              <a:buFont typeface="+mn-lt"/>
              <a:buChar char="●"/>
              <a:defRPr/>
            </a:pPr>
            <a:r>
              <a:rPr sz="1400" b="1">
                <a:solidFill>
                  <a:schemeClr val="tx1"/>
                </a:solidFill>
              </a:rPr>
              <a:t>Make each node</a:t>
            </a:r>
            <a:r>
              <a:rPr sz="1400" b="0">
                <a:solidFill>
                  <a:schemeClr val="tx1"/>
                </a:solidFill>
              </a:rPr>
              <a:t> return a partial update containing only the fields it proposes to update.</a:t>
            </a:r>
            <a:endParaRPr/>
          </a:p>
        </p:txBody>
      </p:sp>
      <p:sp>
        <p:nvSpPr>
          <p:cNvPr id="513002394" name="Rectangle 3"/>
          <p:cNvSpPr/>
          <p:nvPr/>
        </p:nvSpPr>
        <p:spPr bwMode="auto">
          <a:xfrm>
            <a:off x="319251" y="4080088"/>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Each field retains a value that a later computation needs to read.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2"/>
        </a:solidFill>
      </p:bgPr>
    </p:bg>
    <p:spTree>
      <p:nvGrpSpPr>
        <p:cNvPr id="1" name=""/>
        <p:cNvGrpSpPr/>
        <p:nvPr/>
      </p:nvGrpSpPr>
      <p:grpSpPr bwMode="auto">
        <a:xfrm>
          <a:off x="0" y="0"/>
          <a:ext cx="0" cy="0"/>
          <a:chOff x="0" y="0"/>
          <a:chExt cx="0" cy="0"/>
        </a:xfrm>
      </p:grpSpPr>
      <p:sp>
        <p:nvSpPr>
          <p:cNvPr id="1537514473" name="Title 1"/>
          <p:cNvSpPr>
            <a:spLocks noGrp="1"/>
          </p:cNvSpPr>
          <p:nvPr>
            <p:ph type="title"/>
          </p:nvPr>
        </p:nvSpPr>
        <p:spPr bwMode="auto"/>
        <p:txBody>
          <a:bodyPr/>
          <a:lstStyle/>
          <a:p>
            <a:pPr>
              <a:defRPr/>
            </a:pPr>
            <a:r>
              <a:rPr>
                <a:solidFill>
                  <a:schemeClr val="tx2"/>
                </a:solidFill>
              </a:rPr>
              <a:t>Routing functions and conditional edges</a:t>
            </a:r>
            <a:endParaRPr/>
          </a:p>
        </p:txBody>
      </p:sp>
      <p:sp>
        <p:nvSpPr>
          <p:cNvPr id="772525024" name="Rectangle 2"/>
          <p:cNvSpPr/>
          <p:nvPr/>
        </p:nvSpPr>
        <p:spPr bwMode="auto">
          <a:xfrm>
            <a:off x="319251" y="1700000"/>
            <a:ext cx="6014545" cy="1300000"/>
          </a:xfrm>
          <a:prstGeom prst="rect">
            <a:avLst/>
          </a:prstGeom>
          <a:solidFill>
            <a:srgbClr val="28285E"/>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routing function reads the record after the runtime merges the node's update. It selects the next node or ends execution.</a:t>
            </a:r>
            <a:endParaRPr/>
          </a:p>
          <a:p>
            <a:pPr>
              <a:spcBef>
                <a:spcPts val="1000"/>
              </a:spcBef>
              <a:defRPr/>
            </a:pPr>
            <a:r>
              <a:rPr sz="1400" b="0">
                <a:solidFill>
                  <a:schemeClr val="tx2"/>
                </a:solidFill>
              </a:rPr>
              <a:t>The next section explains how routing functions select a destination, how feedback edges return control for revision or repair, and what a trace establishes about a run's ending.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8743026" name="TextBox 1"/>
          <p:cNvSpPr txBox="1"/>
          <p:nvPr/>
        </p:nvSpPr>
        <p:spPr bwMode="auto">
          <a:xfrm>
            <a:off x="429000" y="1863864"/>
            <a:ext cx="6000000" cy="1415772"/>
          </a:xfrm>
          <a:prstGeom prst="rect">
            <a:avLst/>
          </a:prstGeom>
          <a:noFill/>
        </p:spPr>
        <p:txBody>
          <a:bodyPr wrap="square" anchor="ctr">
            <a:spAutoFit/>
          </a:bodyPr>
          <a:lstStyle/>
          <a:p>
            <a:pPr algn="ctr">
              <a:defRPr/>
            </a:pPr>
            <a:r>
              <a:rPr sz="4000" b="1">
                <a:solidFill>
                  <a:schemeClr val="tx2"/>
                </a:solidFill>
                <a:latin typeface="+mj-lt"/>
              </a:rPr>
              <a:t>Routing, feedback, and stopping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209990" name="Title 1"/>
          <p:cNvSpPr>
            <a:spLocks noGrp="1"/>
          </p:cNvSpPr>
          <p:nvPr>
            <p:ph type="title"/>
          </p:nvPr>
        </p:nvSpPr>
        <p:spPr bwMode="auto"/>
        <p:txBody>
          <a:bodyPr/>
          <a:lstStyle/>
          <a:p>
            <a:pPr>
              <a:defRPr/>
            </a:pPr>
            <a:r>
              <a:rPr/>
              <a:t>Routing functions and conditional edges</a:t>
            </a:r>
            <a:endParaRPr/>
          </a:p>
        </p:txBody>
      </p:sp>
      <p:sp>
        <p:nvSpPr>
          <p:cNvPr id="1465504431" name="Content Placeholder 2"/>
          <p:cNvSpPr>
            <a:spLocks noGrp="1"/>
          </p:cNvSpPr>
          <p:nvPr>
            <p:ph idx="1"/>
          </p:nvPr>
        </p:nvSpPr>
        <p:spPr bwMode="auto">
          <a:xfrm>
            <a:off x="319251" y="700000"/>
            <a:ext cx="6014545" cy="2440280"/>
          </a:xfrm>
        </p:spPr>
        <p:txBody>
          <a:bodyPr wrap="square" anchor="ctr">
            <a:normAutofit fontScale="92500"/>
          </a:bodyPr>
          <a:lstStyle/>
          <a:p>
            <a:pPr marL="0" indent="0">
              <a:buNone/>
              <a:defRPr/>
            </a:pPr>
            <a:r>
              <a:rPr sz="1400" b="1">
                <a:solidFill>
                  <a:srgbClr val="28285E"/>
                </a:solidFill>
              </a:rPr>
              <a:t>The routing function selects the next step by testing values in the record.</a:t>
            </a:r>
            <a:endParaRPr/>
          </a:p>
          <a:p>
            <a:pPr marL="400050" indent="-285750">
              <a:spcBef>
                <a:spcPts val="600"/>
              </a:spcBef>
              <a:spcAft>
                <a:spcPts val="600"/>
              </a:spcAft>
              <a:buClr>
                <a:srgbClr val="28285E"/>
              </a:buClr>
              <a:buSzPts val="1260"/>
              <a:buFont typeface="+mn-lt"/>
              <a:buChar char="●"/>
              <a:defRPr/>
            </a:pPr>
            <a:r>
              <a:rPr sz="1400" b="1">
                <a:solidFill>
                  <a:schemeClr val="tx1"/>
                </a:solidFill>
              </a:rPr>
              <a:t>Proposal.</a:t>
            </a:r>
            <a:r>
              <a:rPr sz="1400" b="0">
                <a:solidFill>
                  <a:schemeClr val="tx1"/>
                </a:solidFill>
              </a:rPr>
              <a:t> The model emits a tool request, plan, candidate patch, or verdict.</a:t>
            </a:r>
            <a:endParaRPr/>
          </a:p>
          <a:p>
            <a:pPr marL="400050" indent="-285750">
              <a:spcBef>
                <a:spcPts val="600"/>
              </a:spcBef>
              <a:spcAft>
                <a:spcPts val="600"/>
              </a:spcAft>
              <a:buClr>
                <a:srgbClr val="28285E"/>
              </a:buClr>
              <a:buSzPts val="1260"/>
              <a:buFont typeface="+mn-lt"/>
              <a:buChar char="●"/>
              <a:defRPr/>
            </a:pPr>
            <a:r>
              <a:rPr sz="1400" b="1">
                <a:solidFill>
                  <a:schemeClr val="tx1"/>
                </a:solidFill>
              </a:rPr>
              <a:t>Record.</a:t>
            </a:r>
            <a:r>
              <a:rPr sz="1400" b="0">
                <a:solidFill>
                  <a:schemeClr val="tx1"/>
                </a:solidFill>
              </a:rPr>
              <a:t> The runtime merges the node's update into state using reducers. It also records what happened in the trace.</a:t>
            </a:r>
            <a:endParaRPr/>
          </a:p>
          <a:p>
            <a:pPr marL="400050" indent="-285750">
              <a:spcBef>
                <a:spcPts val="600"/>
              </a:spcBef>
              <a:spcAft>
                <a:spcPts val="600"/>
              </a:spcAft>
              <a:buClr>
                <a:srgbClr val="28285E"/>
              </a:buClr>
              <a:buSzPts val="1260"/>
              <a:buFont typeface="+mn-lt"/>
              <a:buChar char="●"/>
              <a:defRPr/>
            </a:pPr>
            <a:r>
              <a:rPr sz="1400" b="1">
                <a:solidFill>
                  <a:schemeClr val="tx1"/>
                </a:solidFill>
              </a:rPr>
              <a:t>Decision.</a:t>
            </a:r>
            <a:r>
              <a:rPr sz="1400" b="0">
                <a:solidFill>
                  <a:schemeClr val="tx1"/>
                </a:solidFill>
              </a:rPr>
              <a:t> The routing function tests fields in the merged record. The programmer's guards and limits determine which destination it returns.</a:t>
            </a:r>
            <a:endParaRPr/>
          </a:p>
        </p:txBody>
      </p:sp>
      <p:sp>
        <p:nvSpPr>
          <p:cNvPr id="1554925636"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conditional edge combines a location's outgoing transitions with a routing function. The function selects one destination by testing guards, conditions on the merged record.</a:t>
            </a:r>
            <a:endParaRPr/>
          </a:p>
        </p:txBody>
      </p:sp>
      <p:sp>
        <p:nvSpPr>
          <p:cNvPr id="13229030"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trace field by identifies whether the tested value came from the model or the runtime.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5161759" name="Title 1"/>
          <p:cNvSpPr>
            <a:spLocks noGrp="1"/>
          </p:cNvSpPr>
          <p:nvPr>
            <p:ph type="title"/>
          </p:nvPr>
        </p:nvSpPr>
        <p:spPr bwMode="auto"/>
        <p:txBody>
          <a:bodyPr/>
          <a:lstStyle/>
          <a:p>
            <a:pPr>
              <a:defRPr/>
            </a:pPr>
            <a:r>
              <a:rPr/>
              <a:t>Routing after the controller</a:t>
            </a:r>
            <a:endParaRPr/>
          </a:p>
        </p:txBody>
      </p:sp>
      <p:sp>
        <p:nvSpPr>
          <p:cNvPr id="1378438541" name="Content Placeholder 2"/>
          <p:cNvSpPr>
            <a:spLocks noGrp="1"/>
          </p:cNvSpPr>
          <p:nvPr>
            <p:ph idx="1"/>
          </p:nvPr>
        </p:nvSpPr>
        <p:spPr bwMode="auto">
          <a:xfrm>
            <a:off x="319251" y="700000"/>
            <a:ext cx="6014545" cy="500000"/>
          </a:xfrm>
        </p:spPr>
        <p:txBody>
          <a:bodyPr wrap="square" anchor="ctr">
            <a:normAutofit fontScale="77500" lnSpcReduction="20000"/>
          </a:bodyPr>
          <a:lstStyle/>
          <a:p>
            <a:pPr marL="0" indent="0">
              <a:buNone/>
              <a:defRPr/>
            </a:pPr>
            <a:r>
              <a:rPr sz="1400" b="1">
                <a:solidFill>
                  <a:srgbClr val="28285E"/>
                </a:solidFill>
              </a:rPr>
              <a:t>The routing function reads the merged record and returns the next node's name, or </a:t>
            </a:r>
            <a:r>
              <a:rPr sz="1400" b="0">
                <a:solidFill>
                  <a:srgbClr val="28285E"/>
                </a:solidFill>
                <a:latin typeface="Aptos Mono"/>
              </a:rPr>
              <a:t>END</a:t>
            </a:r>
            <a:r>
              <a:rPr sz="1400" b="1">
                <a:solidFill>
                  <a:srgbClr val="28285E"/>
                </a:solidFill>
              </a:rPr>
              <a:t> to stop the run.</a:t>
            </a:r>
            <a:endParaRPr/>
          </a:p>
        </p:txBody>
      </p:sp>
      <p:sp>
        <p:nvSpPr>
          <p:cNvPr id="1224096805"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1">
                <a:solidFill>
                  <a:srgbClr val="28285E"/>
                </a:solidFill>
              </a:rPr>
              <a:t>graph.py, after_controller, lines 452 to 460. Trace calls omitted</a:t>
            </a:r>
            <a:endParaRPr/>
          </a:p>
        </p:txBody>
      </p:sp>
      <p:sp>
        <p:nvSpPr>
          <p:cNvPr id="696214781" name="CodeWindow"/>
          <p:cNvSpPr/>
          <p:nvPr/>
        </p:nvSpPr>
        <p:spPr bwMode="auto">
          <a:xfrm>
            <a:off x="319251" y="1650000"/>
            <a:ext cx="6014545" cy="166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8092418"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38561670"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05774108"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1296716" name="WinText"/>
          <p:cNvSpPr txBox="1"/>
          <p:nvPr/>
        </p:nvSpPr>
        <p:spPr bwMode="auto">
          <a:xfrm>
            <a:off x="469251" y="1980000"/>
            <a:ext cx="5714545" cy="1260000"/>
          </a:xfrm>
          <a:prstGeom prst="rect">
            <a:avLst/>
          </a:prstGeom>
          <a:noFill/>
        </p:spPr>
        <p:txBody>
          <a:bodyPr wrap="none" lIns="0" tIns="0" rIns="0" bIns="0" anchor="t">
            <a:spAutoFit/>
          </a:bodyPr>
          <a:lstStyle/>
          <a:p>
            <a:pPr algn="l">
              <a:buNone/>
              <a:defRPr/>
            </a:pPr>
            <a:r>
              <a:rPr sz="1100" b="0">
                <a:solidFill>
                  <a:schemeClr val="accent2"/>
                </a:solidFill>
                <a:latin typeface="Aptos Mono"/>
              </a:rPr>
              <a:t>def</a:t>
            </a:r>
            <a:r>
              <a:rPr sz="1100" b="0">
                <a:solidFill>
                  <a:schemeClr val="bg1"/>
                </a:solidFill>
                <a:latin typeface="Aptos Mono"/>
              </a:rPr>
              <a:t> after_controller(</a:t>
            </a:r>
            <a:r>
              <a:rPr sz="1100" b="0">
                <a:solidFill>
                  <a:schemeClr val="accent2"/>
                </a:solidFill>
                <a:latin typeface="Aptos Mono"/>
              </a:rPr>
              <a:t>self</a:t>
            </a:r>
            <a:r>
              <a:rPr sz="1100" b="0">
                <a:solidFill>
                  <a:schemeClr val="bg1"/>
                </a:solidFill>
                <a:latin typeface="Aptos Mono"/>
              </a:rPr>
              <a:t>, state: AgentState) -&gt; str:</a:t>
            </a:r>
            <a:endParaRPr/>
          </a:p>
          <a:p>
            <a:pPr algn="l">
              <a:buNone/>
              <a:defRPr/>
            </a:pPr>
            <a:r>
              <a:rPr sz="1100" b="0">
                <a:solidFill>
                  <a:schemeClr val="bg1"/>
                </a:solidFill>
                <a:latin typeface="Aptos Mono"/>
              </a:rPr>
              <a:t>    </a:t>
            </a:r>
            <a:r>
              <a:rPr sz="1100" b="0">
                <a:solidFill>
                  <a:schemeClr val="accent2"/>
                </a:solidFill>
                <a:latin typeface="Aptos Mono"/>
              </a:rPr>
              <a:t>if</a:t>
            </a:r>
            <a:r>
              <a:rPr sz="1100" b="0">
                <a:solidFill>
                  <a:schemeClr val="bg1"/>
                </a:solidFill>
                <a:latin typeface="Aptos Mono"/>
              </a:rPr>
              <a:t> state[</a:t>
            </a:r>
            <a:r>
              <a:rPr sz="1100" b="0">
                <a:solidFill>
                  <a:schemeClr val="accent3">
                    <a:lumMod val="55000"/>
                    <a:lumOff val="45000"/>
                  </a:schemeClr>
                </a:solidFill>
                <a:latin typeface="Aptos Mono"/>
              </a:rPr>
              <a:t>"status"</a:t>
            </a:r>
            <a:r>
              <a:rPr sz="1100" b="0">
                <a:solidFill>
                  <a:schemeClr val="bg1"/>
                </a:solidFill>
                <a:latin typeface="Aptos Mono"/>
              </a:rPr>
              <a:t>] != RUNNING:</a:t>
            </a:r>
            <a:endParaRPr/>
          </a:p>
          <a:p>
            <a:pPr algn="l">
              <a:buNone/>
              <a:defRPr/>
            </a:pPr>
            <a:r>
              <a:rPr sz="1100" b="0">
                <a:solidFill>
                  <a:schemeClr val="bg1"/>
                </a:solidFill>
                <a:latin typeface="Aptos Mono"/>
              </a:rPr>
              <a:t>        </a:t>
            </a:r>
            <a:r>
              <a:rPr sz="1100" b="0">
                <a:solidFill>
                  <a:schemeClr val="accent2"/>
                </a:solidFill>
                <a:latin typeface="Aptos Mono"/>
              </a:rPr>
              <a:t>return</a:t>
            </a:r>
            <a:r>
              <a:rPr sz="1100" b="0">
                <a:solidFill>
                  <a:schemeClr val="bg1"/>
                </a:solidFill>
                <a:latin typeface="Aptos Mono"/>
              </a:rPr>
              <a:t> END</a:t>
            </a:r>
            <a:endParaRPr/>
          </a:p>
          <a:p>
            <a:pPr algn="l">
              <a:buNone/>
              <a:defRPr/>
            </a:pPr>
            <a:r>
              <a:rPr sz="1100" b="0">
                <a:solidFill>
                  <a:schemeClr val="bg1"/>
                </a:solidFill>
                <a:latin typeface="Aptos Mono"/>
              </a:rPr>
              <a:t>    </a:t>
            </a:r>
            <a:r>
              <a:rPr sz="1100" b="0">
                <a:solidFill>
                  <a:schemeClr val="accent2"/>
                </a:solidFill>
                <a:latin typeface="Aptos Mono"/>
              </a:rPr>
              <a:t>if</a:t>
            </a:r>
            <a:r>
              <a:rPr sz="1100" b="0">
                <a:solidFill>
                  <a:schemeClr val="bg1"/>
                </a:solidFill>
                <a:latin typeface="Aptos Mono"/>
              </a:rPr>
              <a:t> state[</a:t>
            </a:r>
            <a:r>
              <a:rPr sz="1100" b="0">
                <a:solidFill>
                  <a:schemeClr val="accent3">
                    <a:lumMod val="55000"/>
                    <a:lumOff val="45000"/>
                  </a:schemeClr>
                </a:solidFill>
                <a:latin typeface="Aptos Mono"/>
              </a:rPr>
              <a:t>"messages"</a:t>
            </a:r>
            <a:r>
              <a:rPr sz="1100" b="0">
                <a:solidFill>
                  <a:schemeClr val="bg1"/>
                </a:solidFill>
                <a:latin typeface="Aptos Mono"/>
              </a:rPr>
              <a:t>][-</a:t>
            </a:r>
            <a:r>
              <a:rPr sz="1100" b="0">
                <a:solidFill>
                  <a:schemeClr val="accent5">
                    <a:lumMod val="45000"/>
                    <a:lumOff val="55000"/>
                  </a:schemeClr>
                </a:solidFill>
                <a:latin typeface="Aptos Mono"/>
              </a:rPr>
              <a:t>1</a:t>
            </a:r>
            <a:r>
              <a:rPr sz="1100" b="0">
                <a:solidFill>
                  <a:schemeClr val="bg1"/>
                </a:solidFill>
                <a:latin typeface="Aptos Mono"/>
              </a:rPr>
              <a:t>].</a:t>
            </a:r>
            <a:r>
              <a:rPr sz="1100" b="1">
                <a:solidFill>
                  <a:schemeClr val="accent4">
                    <a:lumMod val="70000"/>
                    <a:lumOff val="30000"/>
                  </a:schemeClr>
                </a:solidFill>
                <a:latin typeface="Aptos Mono"/>
              </a:rPr>
              <a:t>tool_calls</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return</a:t>
            </a:r>
            <a:r>
              <a:rPr sz="1100" b="0">
                <a:solidFill>
                  <a:schemeClr val="bg1"/>
                </a:solidFill>
                <a:latin typeface="Aptos Mono"/>
              </a:rPr>
              <a:t> </a:t>
            </a:r>
            <a:r>
              <a:rPr sz="1100" b="0">
                <a:solidFill>
                  <a:schemeClr val="accent3">
                    <a:lumMod val="55000"/>
                    <a:lumOff val="45000"/>
                  </a:schemeClr>
                </a:solidFill>
                <a:latin typeface="Aptos Mono"/>
              </a:rPr>
              <a:t>"tools"</a:t>
            </a:r>
            <a:endParaRPr/>
          </a:p>
          <a:p>
            <a:pPr algn="l">
              <a:buNone/>
              <a:defRPr/>
            </a:pPr>
            <a:r>
              <a:rPr sz="1100" b="0">
                <a:solidFill>
                  <a:schemeClr val="bg1"/>
                </a:solidFill>
                <a:latin typeface="Aptos Mono"/>
              </a:rPr>
              <a:t>    </a:t>
            </a:r>
            <a:r>
              <a:rPr sz="1100" b="0">
                <a:solidFill>
                  <a:schemeClr val="accent2"/>
                </a:solidFill>
                <a:latin typeface="Aptos Mono"/>
              </a:rPr>
              <a:t>return</a:t>
            </a:r>
            <a:r>
              <a:rPr sz="1100" b="0">
                <a:solidFill>
                  <a:schemeClr val="bg1"/>
                </a:solidFill>
                <a:latin typeface="Aptos Mono"/>
              </a:rPr>
              <a:t> </a:t>
            </a:r>
            <a:r>
              <a:rPr sz="1100" b="0">
                <a:solidFill>
                  <a:schemeClr val="accent3">
                    <a:lumMod val="55000"/>
                    <a:lumOff val="45000"/>
                  </a:schemeClr>
                </a:solidFill>
                <a:latin typeface="Aptos Mono"/>
              </a:rPr>
              <a:t>"submit"</a:t>
            </a:r>
            <a:endParaRPr/>
          </a:p>
        </p:txBody>
      </p:sp>
      <p:sp>
        <p:nvSpPr>
          <p:cNvPr id="239858072" name="Rectangle 9"/>
          <p:cNvSpPr/>
          <p:nvPr/>
        </p:nvSpPr>
        <p:spPr bwMode="auto">
          <a:xfrm>
            <a:off x="319251" y="350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For an active run, the routing function returns tools if the last reply contains tool requests, and submit otherwise.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1547764" name="Title 1"/>
          <p:cNvSpPr>
            <a:spLocks noGrp="1"/>
          </p:cNvSpPr>
          <p:nvPr>
            <p:ph type="title"/>
          </p:nvPr>
        </p:nvSpPr>
        <p:spPr bwMode="auto"/>
        <p:txBody>
          <a:bodyPr/>
          <a:lstStyle/>
          <a:p>
            <a:pPr>
              <a:defRPr/>
            </a:pPr>
            <a:r>
              <a:rPr/>
              <a:t>The same graph, different paths</a:t>
            </a:r>
            <a:endParaRPr/>
          </a:p>
        </p:txBody>
      </p:sp>
      <p:sp>
        <p:nvSpPr>
          <p:cNvPr id="1781799588"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compiled graph fixes the possible transitions. During a run, routing functions use the current record to select destinations.</a:t>
            </a:r>
            <a:endParaRPr/>
          </a:p>
        </p:txBody>
      </p:sp>
      <p:pic>
        <p:nvPicPr>
          <p:cNvPr id="174618634" name="Figure trace-tree" descr="image.png"/>
          <p:cNvPicPr>
            <a:picLocks noChangeAspect="1"/>
          </p:cNvPicPr>
          <p:nvPr/>
        </p:nvPicPr>
        <p:blipFill rotWithShape="1">
          <a:blip r:embed="rId3"/>
          <a:stretch/>
        </p:blipFill>
        <p:spPr bwMode="auto">
          <a:xfrm>
            <a:off x="250148" y="1390000"/>
            <a:ext cx="6152752" cy="1612270"/>
          </a:xfrm>
          <a:prstGeom prst="rect">
            <a:avLst/>
          </a:prstGeom>
        </p:spPr>
      </p:pic>
      <p:sp>
        <p:nvSpPr>
          <p:cNvPr id="1109699290" name="Rectangle 4"/>
          <p:cNvSpPr/>
          <p:nvPr/>
        </p:nvSpPr>
        <p:spPr bwMode="auto">
          <a:xfrm>
            <a:off x="319251" y="3236877"/>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 run can visit the controller twelve times. Each visit leads to a new routing decision within the same graph.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4060530" name="Title 1"/>
          <p:cNvSpPr>
            <a:spLocks noGrp="1"/>
          </p:cNvSpPr>
          <p:nvPr>
            <p:ph type="title"/>
          </p:nvPr>
        </p:nvSpPr>
        <p:spPr bwMode="auto"/>
        <p:txBody>
          <a:bodyPr/>
          <a:lstStyle/>
          <a:p>
            <a:pPr>
              <a:defRPr/>
            </a:pPr>
            <a:r>
              <a:rPr/>
              <a:t>Feedback edges: revision and repair</a:t>
            </a:r>
            <a:endParaRPr/>
          </a:p>
        </p:txBody>
      </p:sp>
      <p:sp>
        <p:nvSpPr>
          <p:cNvPr id="1176858332"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A feedback edge sends execution back to a location visited earlier in the run. Its trigger and the information passed back must be specified.</a:t>
            </a:r>
            <a:endParaRPr/>
          </a:p>
        </p:txBody>
      </p:sp>
      <p:pic>
        <p:nvPicPr>
          <p:cNvPr id="1276229127" name="Figure efsm-feedback" descr="image.png"/>
          <p:cNvPicPr>
            <a:picLocks noChangeAspect="1"/>
          </p:cNvPicPr>
          <p:nvPr/>
        </p:nvPicPr>
        <p:blipFill rotWithShape="1">
          <a:blip r:embed="rId3"/>
          <a:stretch/>
        </p:blipFill>
        <p:spPr bwMode="auto">
          <a:xfrm>
            <a:off x="279230" y="1390000"/>
            <a:ext cx="6094589" cy="2634732"/>
          </a:xfrm>
          <a:prstGeom prst="rect">
            <a:avLst/>
          </a:prstGeom>
        </p:spPr>
      </p:pic>
      <p:sp>
        <p:nvSpPr>
          <p:cNvPr id="220469574" name="Rectangle 4"/>
          <p:cNvSpPr/>
          <p:nvPr/>
        </p:nvSpPr>
        <p:spPr bwMode="auto">
          <a:xfrm>
            <a:off x="319251" y="4227037"/>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Revision returns execution to plan after the first stall. Repair returns execution to controller with the reasons a patch failed its checks.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9066393" name="Title 1"/>
          <p:cNvSpPr>
            <a:spLocks noGrp="1"/>
          </p:cNvSpPr>
          <p:nvPr>
            <p:ph type="title"/>
          </p:nvPr>
        </p:nvSpPr>
        <p:spPr bwMode="auto"/>
        <p:txBody>
          <a:bodyPr/>
          <a:lstStyle/>
          <a:p>
            <a:pPr>
              <a:defRPr/>
            </a:pPr>
            <a:r>
              <a:rPr/>
              <a:t>Feedback edges and their bounds</a:t>
            </a:r>
            <a:endParaRPr/>
          </a:p>
        </p:txBody>
      </p:sp>
      <p:sp>
        <p:nvSpPr>
          <p:cNvPr id="508604615" name="Content Placeholder 2"/>
          <p:cNvSpPr>
            <a:spLocks noGrp="1"/>
          </p:cNvSpPr>
          <p:nvPr>
            <p:ph idx="1"/>
          </p:nvPr>
        </p:nvSpPr>
        <p:spPr bwMode="auto">
          <a:xfrm>
            <a:off x="319251" y="700000"/>
            <a:ext cx="6014545" cy="500000"/>
          </a:xfrm>
        </p:spPr>
        <p:txBody>
          <a:bodyPr wrap="square" anchor="ctr">
            <a:normAutofit fontScale="85000" lnSpcReduction="10000"/>
          </a:bodyPr>
          <a:lstStyle/>
          <a:p>
            <a:pPr marL="0" indent="0">
              <a:buNone/>
              <a:defRPr/>
            </a:pPr>
            <a:r>
              <a:rPr sz="1400" b="1">
                <a:solidFill>
                  <a:srgbClr val="28285E"/>
                </a:solidFill>
              </a:rPr>
              <a:t>Two feedback edges are implemented. A third, for new attempts, is proposed.</a:t>
            </a:r>
            <a:endParaRPr/>
          </a:p>
        </p:txBody>
      </p:sp>
      <p:graphicFrame>
        <p:nvGraphicFramePr>
          <p:cNvPr id="615326690" name="Table 3"/>
          <p:cNvGraphicFramePr>
            <a:graphicFrameLocks xmlns:a="http://schemas.openxmlformats.org/drawingml/2006/main" noGrp="1"/>
          </p:cNvGraphicFramePr>
          <p:nvPr/>
        </p:nvGraphicFramePr>
        <p:xfrm rot="0">
          <a:off x="319251" y="1390000"/>
          <a:ext cx="6014545" cy="2719350"/>
        </p:xfrm>
        <a:graphic>
          <a:graphicData uri="http://schemas.openxmlformats.org/drawingml/2006/table">
            <a:tbl>
              <a:tblPr firstRow="1" firstCol="0" lastRow="0" lastCol="0" bandRow="1" bandCol="0">
                <a:tableStyleId>{5C22544A-7EE6-4342-B048-85BDC9FD1C3A}</a:tableStyleId>
              </a:tblPr>
              <a:tblGrid>
                <a:gridCol w="1250000"/>
                <a:gridCol w="1500000"/>
                <a:gridCol w="2100000"/>
                <a:gridCol w="1164545"/>
              </a:tblGrid>
              <a:tr h="300000">
                <a:tc>
                  <a:txBody>
                    <a:bodyPr/>
                    <a:p>
                      <a:pPr>
                        <a:buNone/>
                        <a:defRPr/>
                      </a:pPr>
                      <a:r>
                        <a:rPr sz="1000" b="1">
                          <a:solidFill>
                            <a:schemeClr val="tx1"/>
                          </a:solidFill>
                        </a:rPr>
                        <a:t>Feedback edge</a:t>
                      </a:r>
                      <a:endParaRPr/>
                    </a:p>
                  </a:txBody>
                  <a:tcPr marL="95250" marR="95250" marT="47625" marB="47625">
                    <a:lnB w="12700" algn="ctr">
                      <a:solidFill>
                        <a:schemeClr val="tx1"/>
                      </a:solidFill>
                    </a:lnB>
                    <a:noFill/>
                  </a:tcPr>
                </a:tc>
                <a:tc>
                  <a:txBody>
                    <a:bodyPr/>
                    <a:p>
                      <a:pPr>
                        <a:buNone/>
                        <a:defRPr/>
                      </a:pPr>
                      <a:r>
                        <a:rPr sz="1000" b="1">
                          <a:solidFill>
                            <a:schemeClr val="tx1"/>
                          </a:solidFill>
                        </a:rPr>
                        <a:t>Trigger</a:t>
                      </a:r>
                      <a:endParaRPr/>
                    </a:p>
                  </a:txBody>
                  <a:tcPr marL="95250" marR="95250" marT="47625" marB="47625">
                    <a:lnB w="12700" algn="ctr">
                      <a:solidFill>
                        <a:schemeClr val="tx1"/>
                      </a:solidFill>
                    </a:lnB>
                    <a:noFill/>
                  </a:tcPr>
                </a:tc>
                <a:tc>
                  <a:txBody>
                    <a:bodyPr/>
                    <a:p>
                      <a:pPr>
                        <a:buNone/>
                        <a:defRPr/>
                      </a:pPr>
                      <a:r>
                        <a:rPr sz="1000" b="1">
                          <a:solidFill>
                            <a:schemeClr val="tx1"/>
                          </a:solidFill>
                        </a:rPr>
                        <a:t>Information and reset</a:t>
                      </a:r>
                      <a:endParaRPr/>
                    </a:p>
                  </a:txBody>
                  <a:tcPr marL="95250" marR="95250" marT="47625" marB="47625">
                    <a:lnB w="12700" algn="ctr">
                      <a:solidFill>
                        <a:schemeClr val="tx1"/>
                      </a:solidFill>
                    </a:lnB>
                    <a:noFill/>
                  </a:tcPr>
                </a:tc>
                <a:tc>
                  <a:txBody>
                    <a:bodyPr/>
                    <a:p>
                      <a:pPr>
                        <a:buNone/>
                        <a:defRPr/>
                      </a:pPr>
                      <a:r>
                        <a:rPr sz="1000" b="1">
                          <a:solidFill>
                            <a:schemeClr val="tx1"/>
                          </a:solidFill>
                        </a:rPr>
                        <a:t>Bound</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Revision: tools to plan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last three observations under the current plan are identical and include no successful edit.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plan node uses the stall reason to revise the old plan, clears the handoff field, and limits later stall checks to the new plan's observations.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runtime permits one revision per run. A second stall ends the run.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Repair: submit to controller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At least one of the three checks fails.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runtime adds reasons to the conversation. No fields are reset. Later submissions replace the patch and check results.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call budget limits the number of repairs.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New attempt (proposed)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validator rejects the patch, and the attempt count is below its limit.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runtime keeps the reflection and clears all attempt-lifetime fields, including the plan, patch and check results.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attempt counter survives resets. The call budget also applies.</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988747007" name="Rectangle 4"/>
          <p:cNvSpPr/>
          <p:nvPr/>
        </p:nvSpPr>
        <p:spPr bwMode="auto">
          <a:xfrm>
            <a:off x="319251" y="4317638"/>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Table 4 in the notes. A feedback edge must have its own limit or rely on a limit for the whole run.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3776826" name="Title 1"/>
          <p:cNvSpPr>
            <a:spLocks noGrp="1"/>
          </p:cNvSpPr>
          <p:nvPr>
            <p:ph type="title"/>
          </p:nvPr>
        </p:nvSpPr>
        <p:spPr bwMode="auto"/>
        <p:txBody>
          <a:bodyPr/>
          <a:lstStyle/>
          <a:p>
            <a:pPr>
              <a:defRPr/>
            </a:pPr>
            <a:r>
              <a:rPr/>
              <a:t>A proposed feedback edge for new attempts</a:t>
            </a:r>
            <a:endParaRPr/>
          </a:p>
        </p:txBody>
      </p:sp>
      <p:sp>
        <p:nvSpPr>
          <p:cNvPr id="300821044" name="Content Placeholder 2"/>
          <p:cNvSpPr>
            <a:spLocks noGrp="1"/>
          </p:cNvSpPr>
          <p:nvPr>
            <p:ph idx="1"/>
          </p:nvPr>
        </p:nvSpPr>
        <p:spPr bwMode="auto">
          <a:xfrm>
            <a:off x="319251" y="700000"/>
            <a:ext cx="6014545" cy="731648"/>
          </a:xfrm>
        </p:spPr>
        <p:txBody>
          <a:bodyPr wrap="square" anchor="ctr">
            <a:normAutofit fontScale="70000" lnSpcReduction="20000"/>
          </a:bodyPr>
          <a:lstStyle/>
          <a:p>
            <a:pPr marL="0" indent="0">
              <a:buNone/>
              <a:defRPr/>
            </a:pPr>
            <a:r>
              <a:rPr sz="1400" b="1">
                <a:solidFill>
                  <a:srgbClr val="28285E"/>
                </a:solidFill>
              </a:rPr>
              <a:t>The current agent stops when the validator rejects a patch. The extension would write a reflection describing the failure, then start a new attempt.</a:t>
            </a:r>
            <a:endParaRPr/>
          </a:p>
        </p:txBody>
      </p:sp>
      <p:pic>
        <p:nvPicPr>
          <p:cNvPr id="1750838430" name="Figure s3-control-extension" descr="s3-control-extension.png"/>
          <p:cNvPicPr>
            <a:picLocks noChangeAspect="1"/>
          </p:cNvPicPr>
          <p:nvPr/>
        </p:nvPicPr>
        <p:blipFill rotWithShape="1">
          <a:blip r:embed="rId3"/>
          <a:stretch/>
        </p:blipFill>
        <p:spPr bwMode="auto">
          <a:xfrm>
            <a:off x="250148" y="1621648"/>
            <a:ext cx="6152752" cy="2036641"/>
          </a:xfrm>
          <a:prstGeom prst="rect">
            <a:avLst/>
          </a:prstGeom>
        </p:spPr>
      </p:pic>
      <p:sp>
        <p:nvSpPr>
          <p:cNvPr id="1599073626" name="Rectangle 4"/>
          <p:cNvSpPr/>
          <p:nvPr/>
        </p:nvSpPr>
        <p:spPr bwMode="auto">
          <a:xfrm>
            <a:off x="319251" y="3848289"/>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Figure 6 in the notes. The reset clears the plan, patch and checks, while the reflection and the attempt and call counters persist.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2495795" name="Title 1"/>
          <p:cNvSpPr>
            <a:spLocks noGrp="1"/>
          </p:cNvSpPr>
          <p:nvPr>
            <p:ph type="title"/>
          </p:nvPr>
        </p:nvSpPr>
        <p:spPr bwMode="auto"/>
        <p:txBody>
          <a:bodyPr/>
          <a:lstStyle/>
          <a:p>
            <a:pPr>
              <a:defRPr/>
            </a:pPr>
            <a:r>
              <a:rPr/>
              <a:t>Loop bounds and termination</a:t>
            </a:r>
            <a:endParaRPr/>
          </a:p>
        </p:txBody>
      </p:sp>
      <p:sp>
        <p:nvSpPr>
          <p:cNvPr id="816335946"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An acceptance predicate is a condition for declaring success. It does not ensure that the run will reach that condition.</a:t>
            </a:r>
            <a:endParaRPr/>
          </a:p>
          <a:p>
            <a:pPr marL="400050" indent="-285750">
              <a:spcBef>
                <a:spcPts val="600"/>
              </a:spcBef>
              <a:spcAft>
                <a:spcPts val="600"/>
              </a:spcAft>
              <a:buClr>
                <a:srgbClr val="28285E"/>
              </a:buClr>
              <a:buSzPts val="1260"/>
              <a:buFont typeface="+mn-lt"/>
              <a:buChar char="●"/>
              <a:defRPr/>
            </a:pPr>
            <a:r>
              <a:rPr sz="1400" b="0">
                <a:solidFill>
                  <a:schemeClr val="tx1"/>
                </a:solidFill>
              </a:rPr>
              <a:t>The number of calls remaining is a variant when every cycle makes a model call and each step between calls returns or times out.</a:t>
            </a:r>
            <a:endParaRPr/>
          </a:p>
          <a:p>
            <a:pPr marL="400050" indent="-285750">
              <a:spcBef>
                <a:spcPts val="600"/>
              </a:spcBef>
              <a:spcAft>
                <a:spcPts val="600"/>
              </a:spcAft>
              <a:buClr>
                <a:srgbClr val="28285E"/>
              </a:buClr>
              <a:buSzPts val="1260"/>
              <a:buFont typeface="+mn-lt"/>
              <a:buChar char="●"/>
              <a:defRPr/>
            </a:pPr>
            <a:r>
              <a:rPr sz="1400" b="0">
                <a:solidFill>
                  <a:schemeClr val="tx1"/>
                </a:solidFill>
              </a:rPr>
              <a:t>If a cycle makes no model call, the remaining call budget stays unchanged. That cycle needs its own limit.</a:t>
            </a:r>
            <a:endParaRPr/>
          </a:p>
          <a:p>
            <a:pPr marL="400050" indent="-285750">
              <a:spcBef>
                <a:spcPts val="600"/>
              </a:spcBef>
              <a:spcAft>
                <a:spcPts val="600"/>
              </a:spcAft>
              <a:buClr>
                <a:srgbClr val="28285E"/>
              </a:buClr>
              <a:buSzPts val="1260"/>
              <a:buFont typeface="+mn-lt"/>
              <a:buChar char="●"/>
              <a:defRPr/>
            </a:pPr>
            <a:r>
              <a:rPr sz="1400" b="0">
                <a:solidFill>
                  <a:schemeClr val="tx1"/>
                </a:solidFill>
              </a:rPr>
              <a:t>The stall check detects identical results. A run that returns different irrelevant results can continue without progress.</a:t>
            </a:r>
            <a:endParaRPr/>
          </a:p>
        </p:txBody>
      </p:sp>
      <p:sp>
        <p:nvSpPr>
          <p:cNvPr id="1411261123" name="Rectangle 3"/>
          <p:cNvSpPr/>
          <p:nvPr/>
        </p:nvSpPr>
        <p:spPr bwMode="auto">
          <a:xfrm>
            <a:off x="319251" y="3330280"/>
            <a:ext cx="6014545" cy="8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Here, the loop variant is a nonnegative integer that decreases on every continuing cycle. It bounds the number of cycles because it cannot fall below zero.</a:t>
            </a:r>
            <a:endParaRPr/>
          </a:p>
        </p:txBody>
      </p:sp>
      <p:sp>
        <p:nvSpPr>
          <p:cNvPr id="1939458464" name="Rectangle 4"/>
          <p:cNvSpPr/>
          <p:nvPr/>
        </p:nvSpPr>
        <p:spPr bwMode="auto">
          <a:xfrm>
            <a:off x="319251" y="4350280"/>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Detecting one failure pattern does not prove termination.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57179020" name="Title 1"/>
          <p:cNvSpPr>
            <a:spLocks noGrp="1"/>
          </p:cNvSpPr>
          <p:nvPr>
            <p:ph type="title"/>
          </p:nvPr>
        </p:nvSpPr>
        <p:spPr bwMode="auto"/>
        <p:txBody>
          <a:bodyPr/>
          <a:lstStyle/>
          <a:p>
            <a:pPr>
              <a:defRPr/>
            </a:pPr>
            <a:r>
              <a:rPr/>
              <a:t>Checking the budget before each model call</a:t>
            </a:r>
            <a:endParaRPr/>
          </a:p>
        </p:txBody>
      </p:sp>
      <p:sp>
        <p:nvSpPr>
          <p:cNvPr id="871540627" name="Content Placeholder 2"/>
          <p:cNvSpPr>
            <a:spLocks noGrp="1"/>
          </p:cNvSpPr>
          <p:nvPr>
            <p:ph idx="1"/>
          </p:nvPr>
        </p:nvSpPr>
        <p:spPr bwMode="auto">
          <a:xfrm>
            <a:off x="319251" y="700000"/>
            <a:ext cx="6014545" cy="731648"/>
          </a:xfrm>
        </p:spPr>
        <p:txBody>
          <a:bodyPr wrap="square" anchor="ctr">
            <a:normAutofit fontScale="70000" lnSpcReduction="20000"/>
          </a:bodyPr>
          <a:lstStyle/>
          <a:p>
            <a:pPr marL="0" indent="0">
              <a:buNone/>
              <a:defRPr/>
            </a:pPr>
            <a:r>
              <a:rPr sz="1400" b="1">
                <a:solidFill>
                  <a:srgbClr val="28285E"/>
                </a:solidFill>
              </a:rPr>
              <a:t>The budget, stall check and recursion limit can end a run before a verdict. Each model node checks the call budget before calling the model.</a:t>
            </a:r>
            <a:endParaRPr/>
          </a:p>
        </p:txBody>
      </p:sp>
      <p:sp>
        <p:nvSpPr>
          <p:cNvPr id="583521224" name="TextBox 3"/>
          <p:cNvSpPr txBox="1"/>
          <p:nvPr/>
        </p:nvSpPr>
        <p:spPr bwMode="auto">
          <a:xfrm>
            <a:off x="319251" y="1621648"/>
            <a:ext cx="6014545" cy="200000"/>
          </a:xfrm>
          <a:prstGeom prst="rect">
            <a:avLst/>
          </a:prstGeom>
          <a:noFill/>
        </p:spPr>
        <p:txBody>
          <a:bodyPr wrap="none" lIns="0" tIns="0" rIns="0" bIns="0">
            <a:spAutoFit/>
          </a:bodyPr>
          <a:lstStyle/>
          <a:p>
            <a:pPr>
              <a:defRPr/>
            </a:pPr>
            <a:r>
              <a:rPr sz="1200" b="1">
                <a:solidFill>
                  <a:srgbClr val="28285E"/>
                </a:solidFill>
              </a:rPr>
              <a:t>graph.py, _admit, lines 174 to 187. </a:t>
            </a:r>
            <a:r>
              <a:rPr sz="1200" b="0">
                <a:solidFill>
                  <a:srgbClr val="28285E"/>
                </a:solidFill>
                <a:latin typeface="Aptos Mono"/>
              </a:rPr>
              <a:t>config.py</a:t>
            </a:r>
            <a:r>
              <a:rPr sz="1200" b="1">
                <a:solidFill>
                  <a:srgbClr val="28285E"/>
                </a:solidFill>
              </a:rPr>
              <a:t>, line 41. Comments omitted.</a:t>
            </a:r>
            <a:endParaRPr/>
          </a:p>
        </p:txBody>
      </p:sp>
      <p:sp>
        <p:nvSpPr>
          <p:cNvPr id="1803568219" name="CodeWindow"/>
          <p:cNvSpPr/>
          <p:nvPr/>
        </p:nvSpPr>
        <p:spPr bwMode="auto">
          <a:xfrm>
            <a:off x="319251" y="1881648"/>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17105490" name="WinDot 0"/>
          <p:cNvSpPr/>
          <p:nvPr/>
        </p:nvSpPr>
        <p:spPr bwMode="auto">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2715286" name="WinDot 1"/>
          <p:cNvSpPr/>
          <p:nvPr/>
        </p:nvSpPr>
        <p:spPr bwMode="auto">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63838451" name="WinDot 2"/>
          <p:cNvSpPr/>
          <p:nvPr/>
        </p:nvSpPr>
        <p:spPr bwMode="auto">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7390856" name="WinText"/>
          <p:cNvSpPr txBox="1"/>
          <p:nvPr/>
        </p:nvSpPr>
        <p:spPr bwMode="auto">
          <a:xfrm>
            <a:off x="469251" y="2211648"/>
            <a:ext cx="5714545" cy="1470000"/>
          </a:xfrm>
          <a:prstGeom prst="rect">
            <a:avLst/>
          </a:prstGeom>
          <a:noFill/>
        </p:spPr>
        <p:txBody>
          <a:bodyPr wrap="none" lIns="0" tIns="0" rIns="0" bIns="0" anchor="t">
            <a:spAutoFit/>
          </a:bodyPr>
          <a:lstStyle/>
          <a:p>
            <a:pPr algn="l">
              <a:buNone/>
              <a:defRPr/>
            </a:pPr>
            <a:r>
              <a:rPr sz="1100" b="0">
                <a:solidFill>
                  <a:schemeClr val="accent2"/>
                </a:solidFill>
                <a:latin typeface="Aptos Mono"/>
              </a:rPr>
              <a:t>def</a:t>
            </a:r>
            <a:r>
              <a:rPr sz="1100" b="0">
                <a:solidFill>
                  <a:schemeClr val="bg1"/>
                </a:solidFill>
                <a:latin typeface="Aptos Mono"/>
              </a:rPr>
              <a:t> _admit(</a:t>
            </a:r>
            <a:r>
              <a:rPr sz="1100" b="0">
                <a:solidFill>
                  <a:schemeClr val="accent2"/>
                </a:solidFill>
                <a:latin typeface="Aptos Mono"/>
              </a:rPr>
              <a:t>self</a:t>
            </a:r>
            <a:r>
              <a:rPr sz="1100" b="0">
                <a:solidFill>
                  <a:schemeClr val="bg1"/>
                </a:solidFill>
                <a:latin typeface="Aptos Mono"/>
              </a:rPr>
              <a:t>, state: AgentState) -&gt; dict | </a:t>
            </a:r>
            <a:r>
              <a:rPr sz="1100" b="0">
                <a:solidFill>
                  <a:schemeClr val="accent2"/>
                </a:solidFill>
                <a:latin typeface="Aptos Mono"/>
              </a:rPr>
              <a:t>None</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if</a:t>
            </a:r>
            <a:r>
              <a:rPr sz="1100" b="0">
                <a:solidFill>
                  <a:schemeClr val="bg1"/>
                </a:solidFill>
                <a:latin typeface="Aptos Mono"/>
              </a:rPr>
              <a:t> state[</a:t>
            </a:r>
            <a:r>
              <a:rPr sz="1100" b="0">
                <a:solidFill>
                  <a:schemeClr val="accent3">
                    <a:lumMod val="55000"/>
                    <a:lumOff val="45000"/>
                  </a:schemeClr>
                </a:solidFill>
                <a:latin typeface="Aptos Mono"/>
              </a:rPr>
              <a:t>"model_calls"</a:t>
            </a:r>
            <a:r>
              <a:rPr sz="1100" b="0">
                <a:solidFill>
                  <a:schemeClr val="bg1"/>
                </a:solidFill>
                <a:latin typeface="Aptos Mono"/>
              </a:rPr>
              <a:t>] </a:t>
            </a:r>
            <a:r>
              <a:rPr sz="1100" b="1">
                <a:solidFill>
                  <a:schemeClr val="accent4">
                    <a:lumMod val="70000"/>
                    <a:lumOff val="30000"/>
                  </a:schemeClr>
                </a:solidFill>
                <a:latin typeface="Aptos Mono"/>
              </a:rPr>
              <a:t>&gt;= self.config.budget</a:t>
            </a:r>
            <a:r>
              <a:rPr sz="1100" b="0">
                <a:solidFill>
                  <a:schemeClr val="bg1"/>
                </a:solidFill>
                <a:latin typeface="Aptos Mono"/>
              </a:rPr>
              <a:t>:</a:t>
            </a:r>
            <a:endParaRPr/>
          </a:p>
          <a:p>
            <a:pPr algn="l">
              <a:buNone/>
              <a:defRPr/>
            </a:pPr>
            <a:r>
              <a:rPr sz="1100" b="0">
                <a:solidFill>
                  <a:schemeClr val="accent6"/>
                </a:solidFill>
                <a:latin typeface="Aptos Mono"/>
              </a:rPr>
              <a:t>        # ours: budget_exhausted routing event omitted</a:t>
            </a:r>
            <a:endParaRPr/>
          </a:p>
          <a:p>
            <a:pPr algn="l">
              <a:buNone/>
              <a:defRPr/>
            </a:pPr>
            <a:r>
              <a:rPr sz="1100" b="0">
                <a:solidFill>
                  <a:schemeClr val="bg1"/>
                </a:solidFill>
                <a:latin typeface="Aptos Mono"/>
              </a:rPr>
              <a:t>        </a:t>
            </a:r>
            <a:r>
              <a:rPr sz="1100" b="0">
                <a:solidFill>
                  <a:schemeClr val="accent2"/>
                </a:solidFill>
                <a:latin typeface="Aptos Mono"/>
              </a:rPr>
              <a:t>return</a:t>
            </a:r>
            <a:r>
              <a:rPr sz="1100" b="0">
                <a:solidFill>
                  <a:schemeClr val="bg1"/>
                </a:solidFill>
                <a:latin typeface="Aptos Mono"/>
              </a:rPr>
              <a:t> {</a:t>
            </a:r>
            <a:r>
              <a:rPr sz="1100" b="0">
                <a:solidFill>
                  <a:schemeClr val="accent3">
                    <a:lumMod val="55000"/>
                    <a:lumOff val="45000"/>
                  </a:schemeClr>
                </a:solidFill>
                <a:latin typeface="Aptos Mono"/>
              </a:rPr>
              <a:t>"status"</a:t>
            </a:r>
            <a:r>
              <a:rPr sz="1100" b="0">
                <a:solidFill>
                  <a:schemeClr val="bg1"/>
                </a:solidFill>
                <a:latin typeface="Aptos Mono"/>
              </a:rPr>
              <a:t>: TerminalStatus.BUDGET_EXHAUSTED}</a:t>
            </a:r>
            <a:endParaRPr/>
          </a:p>
          <a:p>
            <a:pPr algn="l">
              <a:buNone/>
              <a:defRPr/>
            </a:pPr>
            <a:r>
              <a:rPr sz="1100" b="0">
                <a:solidFill>
                  <a:schemeClr val="bg1"/>
                </a:solidFill>
                <a:latin typeface="Aptos Mono"/>
              </a:rPr>
              <a:t>    </a:t>
            </a:r>
            <a:r>
              <a:rPr sz="1100" b="0">
                <a:solidFill>
                  <a:schemeClr val="accent2"/>
                </a:solidFill>
                <a:latin typeface="Aptos Mono"/>
              </a:rPr>
              <a:t>return</a:t>
            </a:r>
            <a:r>
              <a:rPr sz="1100" b="0">
                <a:solidFill>
                  <a:schemeClr val="bg1"/>
                </a:solidFill>
                <a:latin typeface="Aptos Mono"/>
              </a:rPr>
              <a:t> </a:t>
            </a:r>
            <a:r>
              <a:rPr sz="1100" b="0">
                <a:solidFill>
                  <a:schemeClr val="accent2"/>
                </a:solidFill>
                <a:latin typeface="Aptos Mono"/>
              </a:rPr>
              <a:t>None</a:t>
            </a:r>
            <a:endParaRPr/>
          </a:p>
          <a:p>
            <a:pPr algn="l">
              <a:buNone/>
              <a:defRPr/>
            </a:pPr>
            <a:endParaRPr sz="1100" b="0">
              <a:solidFill>
                <a:schemeClr val="accent2"/>
              </a:solidFill>
              <a:latin typeface="Aptos Mono"/>
            </a:endParaRPr>
          </a:p>
          <a:p>
            <a:pPr algn="l">
              <a:buNone/>
              <a:defRPr/>
            </a:pPr>
            <a:r>
              <a:rPr sz="1100" b="0">
                <a:solidFill>
                  <a:schemeClr val="bg1"/>
                </a:solidFill>
                <a:latin typeface="Aptos Mono"/>
              </a:rPr>
              <a:t>budget: int = </a:t>
            </a:r>
            <a:r>
              <a:rPr sz="1100" b="0">
                <a:solidFill>
                  <a:schemeClr val="accent5">
                    <a:lumMod val="45000"/>
                    <a:lumOff val="55000"/>
                  </a:schemeClr>
                </a:solidFill>
                <a:latin typeface="Aptos Mono"/>
              </a:rPr>
              <a:t>40</a:t>
            </a:r>
            <a:endParaRPr/>
          </a:p>
        </p:txBody>
      </p:sp>
      <p:sp>
        <p:nvSpPr>
          <p:cNvPr id="1456815528" name="Rectangle 9"/>
          <p:cNvSpPr/>
          <p:nvPr/>
        </p:nvSpPr>
        <p:spPr bwMode="auto">
          <a:xfrm>
            <a:off x="319251" y="394164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first stall triggers plan revision. The second ends the run. The recursion limit bounds the number of runtime steps, called supersteps.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6428305" name="Title 1"/>
          <p:cNvSpPr>
            <a:spLocks noGrp="1"/>
          </p:cNvSpPr>
          <p:nvPr>
            <p:ph type="title"/>
          </p:nvPr>
        </p:nvSpPr>
        <p:spPr bwMode="auto"/>
        <p:txBody>
          <a:bodyPr/>
          <a:lstStyle/>
          <a:p>
            <a:pPr>
              <a:defRPr/>
            </a:pPr>
            <a:r>
              <a:rPr/>
              <a:t>What a trace establishes</a:t>
            </a:r>
            <a:endParaRPr/>
          </a:p>
        </p:txBody>
      </p:sp>
      <p:sp>
        <p:nvSpPr>
          <p:cNvPr id="1781591607"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three claims are that execution stopped, acceptance passed, and the artifact meets the task's postcondition.</a:t>
            </a:r>
            <a:endParaRPr/>
          </a:p>
          <a:p>
            <a:pPr marL="400050" indent="-285750">
              <a:spcBef>
                <a:spcPts val="600"/>
              </a:spcBef>
              <a:spcAft>
                <a:spcPts val="600"/>
              </a:spcAft>
              <a:buClr>
                <a:srgbClr val="28285E"/>
              </a:buClr>
              <a:buSzPts val="1260"/>
              <a:buFont typeface="+mn-lt"/>
              <a:buChar char="●"/>
              <a:defRPr/>
            </a:pPr>
            <a:r>
              <a:rPr sz="1400" b="0">
                <a:solidFill>
                  <a:schemeClr val="tx1"/>
                </a:solidFill>
              </a:rPr>
              <a:t>A terminal event establishes that execution terminated.</a:t>
            </a:r>
            <a:endParaRPr/>
          </a:p>
          <a:p>
            <a:pPr marL="400050" indent="-285750">
              <a:spcBef>
                <a:spcPts val="600"/>
              </a:spcBef>
              <a:spcAft>
                <a:spcPts val="600"/>
              </a:spcAft>
              <a:buClr>
                <a:srgbClr val="28285E"/>
              </a:buClr>
              <a:buSzPts val="1260"/>
              <a:buFont typeface="+mn-lt"/>
              <a:buChar char="●"/>
              <a:defRPr/>
            </a:pPr>
            <a:r>
              <a:rPr sz="1400" b="0">
                <a:solidFill>
                  <a:schemeClr val="tx1"/>
                </a:solidFill>
              </a:rPr>
              <a:t>A terminal event with status accepted establishes that the acceptance procedure passed.</a:t>
            </a:r>
            <a:endParaRPr/>
          </a:p>
          <a:p>
            <a:pPr marL="400050" indent="-285750">
              <a:spcBef>
                <a:spcPts val="600"/>
              </a:spcBef>
              <a:spcAft>
                <a:spcPts val="600"/>
              </a:spcAft>
              <a:buClr>
                <a:srgbClr val="28285E"/>
              </a:buClr>
              <a:buSzPts val="1260"/>
              <a:buFont typeface="+mn-lt"/>
              <a:buChar char="●"/>
              <a:defRPr/>
            </a:pPr>
            <a:r>
              <a:rPr sz="1400" b="0">
                <a:solidFill>
                  <a:schemeClr val="tx1"/>
                </a:solidFill>
              </a:rPr>
              <a:t>No trace event establishes that the artifact meets the task's postcondition, the condition the finished artifact must satisfy.</a:t>
            </a:r>
            <a:endParaRPr/>
          </a:p>
        </p:txBody>
      </p:sp>
      <p:sp>
        <p:nvSpPr>
          <p:cNvPr id="976605788"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trace records the outcome of the acceptance checks. It does not establish that the patch is correct.</a:t>
            </a:r>
            <a:endParaRPr/>
          </a:p>
        </p:txBody>
      </p:sp>
      <p:sp>
        <p:nvSpPr>
          <p:cNvPr id="69922550" name="Rectangle 4"/>
          <p:cNvSpPr/>
          <p:nvPr/>
        </p:nvSpPr>
        <p:spPr bwMode="auto">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model may propose that the work is finished. The runtime checks its completion rules and sets the run's terminal status.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41950105" name="Title 1"/>
          <p:cNvSpPr>
            <a:spLocks noGrp="1"/>
          </p:cNvSpPr>
          <p:nvPr>
            <p:ph type="title"/>
          </p:nvPr>
        </p:nvSpPr>
        <p:spPr bwMode="auto"/>
        <p:txBody>
          <a:bodyPr/>
          <a:lstStyle/>
          <a:p>
            <a:pPr>
              <a:defRPr/>
            </a:pPr>
            <a:r>
              <a:rPr/>
              <a:t>Terminal statuses and trace closure</a:t>
            </a:r>
            <a:endParaRPr/>
          </a:p>
        </p:txBody>
      </p:sp>
      <p:sp>
        <p:nvSpPr>
          <p:cNvPr id="646307229"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When a run ends normally, its trace must contain a terminal event. Otherwise, closing the trace raises </a:t>
            </a:r>
            <a:r>
              <a:rPr sz="1400" b="0">
                <a:solidFill>
                  <a:srgbClr val="28285E"/>
                </a:solidFill>
                <a:latin typeface="Aptos Mono"/>
              </a:rPr>
              <a:t>NoTerminalStatus</a:t>
            </a:r>
            <a:r>
              <a:rPr sz="1400" b="1">
                <a:solidFill>
                  <a:srgbClr val="28285E"/>
                </a:solidFill>
              </a:rPr>
              <a:t>.</a:t>
            </a:r>
            <a:endParaRPr/>
          </a:p>
        </p:txBody>
      </p:sp>
      <p:sp>
        <p:nvSpPr>
          <p:cNvPr id="1805295214"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1">
                <a:solidFill>
                  <a:srgbClr val="28285E"/>
                </a:solidFill>
              </a:rPr>
              <a:t>trace.py, lines 36 to 47 and 100 to 101. Comments omitted.</a:t>
            </a:r>
            <a:endParaRPr/>
          </a:p>
        </p:txBody>
      </p:sp>
      <p:sp>
        <p:nvSpPr>
          <p:cNvPr id="1692503303" name="CodeWindow"/>
          <p:cNvSpPr/>
          <p:nvPr/>
        </p:nvSpPr>
        <p:spPr bwMode="auto">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4788532"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1496574"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2825928"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4199187" name="WinText"/>
          <p:cNvSpPr txBox="1"/>
          <p:nvPr/>
        </p:nvSpPr>
        <p:spPr bwMode="auto">
          <a:xfrm>
            <a:off x="469251" y="1980000"/>
            <a:ext cx="5714545" cy="1890000"/>
          </a:xfrm>
          <a:prstGeom prst="rect">
            <a:avLst/>
          </a:prstGeom>
          <a:noFill/>
        </p:spPr>
        <p:txBody>
          <a:bodyPr wrap="none" lIns="0" tIns="0" rIns="0" bIns="0" anchor="t">
            <a:spAutoFit/>
          </a:bodyPr>
          <a:lstStyle/>
          <a:p>
            <a:pPr algn="l">
              <a:buNone/>
              <a:defRPr/>
            </a:pPr>
            <a:r>
              <a:rPr sz="1100" b="0">
                <a:solidFill>
                  <a:schemeClr val="accent2"/>
                </a:solidFill>
                <a:latin typeface="Aptos Mono"/>
              </a:rPr>
              <a:t>class</a:t>
            </a:r>
            <a:r>
              <a:rPr sz="1100" b="0">
                <a:solidFill>
                  <a:schemeClr val="bg1"/>
                </a:solidFill>
                <a:latin typeface="Aptos Mono"/>
              </a:rPr>
              <a:t> TerminalStatus(str, Enum):</a:t>
            </a:r>
            <a:endParaRPr/>
          </a:p>
          <a:p>
            <a:pPr algn="l">
              <a:buNone/>
              <a:defRPr/>
            </a:pPr>
            <a:r>
              <a:rPr sz="1100" b="0">
                <a:solidFill>
                  <a:schemeClr val="bg1"/>
                </a:solidFill>
                <a:latin typeface="Aptos Mono"/>
              </a:rPr>
              <a:t>    ACCEPTED = </a:t>
            </a:r>
            <a:r>
              <a:rPr sz="1100" b="0">
                <a:solidFill>
                  <a:schemeClr val="accent3">
                    <a:lumMod val="55000"/>
                    <a:lumOff val="45000"/>
                  </a:schemeClr>
                </a:solidFill>
                <a:latin typeface="Aptos Mono"/>
              </a:rPr>
              <a:t>"accepted"</a:t>
            </a:r>
            <a:endParaRPr/>
          </a:p>
          <a:p>
            <a:pPr algn="l">
              <a:buNone/>
              <a:defRPr/>
            </a:pPr>
            <a:r>
              <a:rPr sz="1100" b="0">
                <a:solidFill>
                  <a:schemeClr val="bg1"/>
                </a:solidFill>
                <a:latin typeface="Aptos Mono"/>
              </a:rPr>
              <a:t>    REJECTED = </a:t>
            </a:r>
            <a:r>
              <a:rPr sz="1100" b="0">
                <a:solidFill>
                  <a:schemeClr val="accent3">
                    <a:lumMod val="55000"/>
                    <a:lumOff val="45000"/>
                  </a:schemeClr>
                </a:solidFill>
                <a:latin typeface="Aptos Mono"/>
              </a:rPr>
              <a:t>"rejected"</a:t>
            </a:r>
            <a:endParaRPr/>
          </a:p>
          <a:p>
            <a:pPr algn="l">
              <a:buNone/>
              <a:defRPr/>
            </a:pPr>
            <a:r>
              <a:rPr sz="1100" b="0">
                <a:solidFill>
                  <a:schemeClr val="bg1"/>
                </a:solidFill>
                <a:latin typeface="Aptos Mono"/>
              </a:rPr>
              <a:t>    BUDGET_EXHAUSTED = </a:t>
            </a:r>
            <a:r>
              <a:rPr sz="1100" b="0">
                <a:solidFill>
                  <a:schemeClr val="accent3">
                    <a:lumMod val="55000"/>
                    <a:lumOff val="45000"/>
                  </a:schemeClr>
                </a:solidFill>
                <a:latin typeface="Aptos Mono"/>
              </a:rPr>
              <a:t>"budget_exhausted"</a:t>
            </a:r>
            <a:endParaRPr/>
          </a:p>
          <a:p>
            <a:pPr algn="l">
              <a:buNone/>
              <a:defRPr/>
            </a:pPr>
            <a:r>
              <a:rPr sz="1100" b="0">
                <a:solidFill>
                  <a:schemeClr val="bg1"/>
                </a:solidFill>
                <a:latin typeface="Aptos Mono"/>
              </a:rPr>
              <a:t>    NO_PROGRESS = </a:t>
            </a:r>
            <a:r>
              <a:rPr sz="1100" b="0">
                <a:solidFill>
                  <a:schemeClr val="accent3">
                    <a:lumMod val="55000"/>
                    <a:lumOff val="45000"/>
                  </a:schemeClr>
                </a:solidFill>
                <a:latin typeface="Aptos Mono"/>
              </a:rPr>
              <a:t>"no_progress"</a:t>
            </a:r>
            <a:endParaRPr/>
          </a:p>
          <a:p>
            <a:pPr algn="l">
              <a:buNone/>
              <a:defRPr/>
            </a:pPr>
            <a:r>
              <a:rPr sz="1100" b="0">
                <a:solidFill>
                  <a:schemeClr val="bg1"/>
                </a:solidFill>
                <a:latin typeface="Aptos Mono"/>
              </a:rPr>
              <a:t>    ERROR = </a:t>
            </a:r>
            <a:r>
              <a:rPr sz="1100" b="0">
                <a:solidFill>
                  <a:schemeClr val="accent3">
                    <a:lumMod val="55000"/>
                    <a:lumOff val="45000"/>
                  </a:schemeClr>
                </a:solidFill>
                <a:latin typeface="Aptos Mono"/>
              </a:rPr>
              <a:t>"error"</a:t>
            </a:r>
            <a:endParaRPr/>
          </a:p>
          <a:p>
            <a:pPr algn="l">
              <a:buNone/>
              <a:defRPr/>
            </a:pPr>
            <a:endParaRPr sz="1100" b="0">
              <a:solidFill>
                <a:schemeClr val="accent3">
                  <a:lumMod val="55000"/>
                  <a:lumOff val="45000"/>
                </a:schemeClr>
              </a:solidFill>
              <a:latin typeface="Aptos Mono"/>
            </a:endParaRPr>
          </a:p>
          <a:p>
            <a:pPr algn="l">
              <a:buNone/>
              <a:defRPr/>
            </a:pPr>
            <a:r>
              <a:rPr sz="1100" b="0">
                <a:solidFill>
                  <a:schemeClr val="accent2"/>
                </a:solidFill>
                <a:latin typeface="Aptos Mono"/>
              </a:rPr>
              <a:t>class</a:t>
            </a:r>
            <a:r>
              <a:rPr sz="1100" b="0">
                <a:solidFill>
                  <a:schemeClr val="bg1"/>
                </a:solidFill>
                <a:latin typeface="Aptos Mono"/>
              </a:rPr>
              <a:t> NoTerminalStatus(Exception):</a:t>
            </a:r>
            <a:endParaRPr/>
          </a:p>
          <a:p>
            <a:pPr algn="l">
              <a:buNone/>
              <a:defRPr/>
            </a:pPr>
            <a:r>
              <a:rPr sz="1100" b="0">
                <a:solidFill>
                  <a:schemeClr val="bg1"/>
                </a:solidFill>
                <a:latin typeface="Aptos Mono"/>
              </a:rPr>
              <a:t>    </a:t>
            </a:r>
            <a:r>
              <a:rPr sz="1100" b="0">
                <a:solidFill>
                  <a:schemeClr val="accent3">
                    <a:lumMod val="55000"/>
                    <a:lumOff val="45000"/>
                  </a:schemeClr>
                </a:solidFill>
                <a:latin typeface="Aptos Mono"/>
              </a:rPr>
              <a:t>"""A run was closed without stating how it ended."""</a:t>
            </a:r>
            <a:endParaRPr/>
          </a:p>
        </p:txBody>
      </p:sp>
      <p:sp>
        <p:nvSpPr>
          <p:cNvPr id="1831123251" name="Rectangle 9"/>
          <p:cNvSpPr/>
          <p:nvPr/>
        </p:nvSpPr>
        <p:spPr bwMode="auto">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At normal closure, a missing terminal event is an instrumentation defect: the code did not record how the run ended.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44208854" name="Title 1"/>
          <p:cNvSpPr>
            <a:spLocks noGrp="1"/>
          </p:cNvSpPr>
          <p:nvPr>
            <p:ph type="title"/>
          </p:nvPr>
        </p:nvSpPr>
        <p:spPr bwMode="auto"/>
        <p:txBody>
          <a:bodyPr/>
          <a:lstStyle/>
          <a:p>
            <a:pPr>
              <a:defRPr/>
            </a:pPr>
            <a:r>
              <a:rPr/>
              <a:t>Three interpretations of a trace</a:t>
            </a:r>
            <a:endParaRPr/>
          </a:p>
        </p:txBody>
      </p:sp>
      <p:sp>
        <p:nvSpPr>
          <p:cNvPr id="410659817" name="Content Placeholder 2"/>
          <p:cNvSpPr>
            <a:spLocks noGrp="1"/>
          </p:cNvSpPr>
          <p:nvPr>
            <p:ph idx="1"/>
          </p:nvPr>
        </p:nvSpPr>
        <p:spPr bwMode="auto">
          <a:xfrm>
            <a:off x="319251" y="700000"/>
            <a:ext cx="6014545" cy="731648"/>
          </a:xfrm>
        </p:spPr>
        <p:txBody>
          <a:bodyPr wrap="square" anchor="ctr">
            <a:normAutofit fontScale="70000" lnSpcReduction="20000"/>
          </a:bodyPr>
          <a:lstStyle/>
          <a:p>
            <a:pPr marL="0" indent="0">
              <a:buNone/>
              <a:defRPr/>
            </a:pPr>
            <a:r>
              <a:rPr sz="1400" b="1">
                <a:solidFill>
                  <a:srgbClr val="28285E"/>
                </a:solidFill>
              </a:rPr>
              <a:t>When an exception escapes the run, the writer records error, then the exception's name in a separate event. </a:t>
            </a:r>
            <a:r>
              <a:rPr sz="1400" b="0">
                <a:solidFill>
                  <a:srgbClr val="28285E"/>
                </a:solidFill>
                <a:latin typeface="Aptos Mono"/>
              </a:rPr>
              <a:t>SIGKILL</a:t>
            </a:r>
            <a:r>
              <a:rPr sz="1400" b="1">
                <a:solidFill>
                  <a:srgbClr val="28285E"/>
                </a:solidFill>
              </a:rPr>
              <a:t> stops the process without running a handler.</a:t>
            </a:r>
            <a:endParaRPr/>
          </a:p>
        </p:txBody>
      </p:sp>
      <p:graphicFrame>
        <p:nvGraphicFramePr>
          <p:cNvPr id="1189932802" name="Table 3"/>
          <p:cNvGraphicFramePr>
            <a:graphicFrameLocks xmlns:a="http://schemas.openxmlformats.org/drawingml/2006/main" noGrp="1"/>
          </p:cNvGraphicFramePr>
          <p:nvPr/>
        </p:nvGraphicFramePr>
        <p:xfrm rot="0">
          <a:off x="319251" y="1621648"/>
          <a:ext cx="6014545" cy="2231136"/>
        </p:xfrm>
        <a:graphic>
          <a:graphicData uri="http://schemas.openxmlformats.org/drawingml/2006/table">
            <a:tbl>
              <a:tblPr firstRow="1" firstCol="0" lastRow="0" lastCol="0" bandRow="1" bandCol="0">
                <a:tableStyleId>{5C22544A-7EE6-4342-B048-85BDC9FD1C3A}</a:tableStyleId>
              </a:tblPr>
              <a:tblGrid>
                <a:gridCol w="2000000"/>
                <a:gridCol w="4014545"/>
              </a:tblGrid>
              <a:tr h="300000">
                <a:tc>
                  <a:txBody>
                    <a:bodyPr/>
                    <a:p>
                      <a:pPr>
                        <a:buNone/>
                        <a:defRPr/>
                      </a:pPr>
                      <a:r>
                        <a:rPr sz="1100" b="1">
                          <a:solidFill>
                            <a:schemeClr val="tx1"/>
                          </a:solidFill>
                        </a:rPr>
                        <a:t>What the trace records</a:t>
                      </a:r>
                      <a:endParaRPr/>
                    </a:p>
                  </a:txBody>
                  <a:tcPr marL="95250" marR="95250" marT="47625" marB="47625">
                    <a:lnB w="12700" algn="ctr">
                      <a:solidFill>
                        <a:schemeClr val="tx1"/>
                      </a:solidFill>
                    </a:lnB>
                    <a:noFill/>
                  </a:tcPr>
                </a:tc>
                <a:tc>
                  <a:txBody>
                    <a:bodyPr/>
                    <a:p>
                      <a:pPr>
                        <a:buNone/>
                        <a:defRPr/>
                      </a:pPr>
                      <a:r>
                        <a:rPr sz="1100" b="1">
                          <a:solidFill>
                            <a:schemeClr val="tx1"/>
                          </a:solidFill>
                        </a:rPr>
                        <a:t>What it supports</a:t>
                      </a:r>
                      <a:endParaRPr/>
                    </a:p>
                  </a:txBody>
                  <a:tcPr marL="95250" marR="95250" marT="47625" marB="47625">
                    <a:lnB w="12700" algn="ctr">
                      <a:solidFill>
                        <a:schemeClr val="tx1"/>
                      </a:solidFill>
                    </a:lnB>
                    <a:noFill/>
                  </a:tcPr>
                </a:tc>
              </a:tr>
              <a:tr h="0">
                <a:tc>
                  <a:txBody>
                    <a:bodyPr/>
                    <a:p>
                      <a:pPr>
                        <a:buNone/>
                        <a:defRPr/>
                      </a:pPr>
                      <a:r>
                        <a:rPr sz="1100" b="1">
                          <a:solidFill>
                            <a:srgbClr val="28285E"/>
                          </a:solidFill>
                        </a:rPr>
                        <a:t>A verdict, then a terminal event with status accepted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Execution terminated and the acceptance procedure passed. The trace does not establish that the patch meets the task's postcondition.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100" b="1">
                          <a:solidFill>
                            <a:srgbClr val="28285E"/>
                          </a:solidFill>
                        </a:rPr>
                        <a:t>A terminal event with status rejected, </a:t>
                      </a:r>
                      <a:r>
                        <a:rPr sz="1100" b="0">
                          <a:solidFill>
                            <a:srgbClr val="28285E"/>
                          </a:solidFill>
                          <a:latin typeface="Aptos Mono"/>
                        </a:rPr>
                        <a:t>budget_exhausted</a:t>
                      </a:r>
                      <a:r>
                        <a:rPr sz="1100" b="1">
                          <a:solidFill>
                            <a:srgbClr val="28285E"/>
                          </a:solidFill>
                        </a:rPr>
                        <a:t>, </a:t>
                      </a:r>
                      <a:r>
                        <a:rPr sz="1100" b="0">
                          <a:solidFill>
                            <a:srgbClr val="28285E"/>
                          </a:solidFill>
                          <a:latin typeface="Aptos Mono"/>
                        </a:rPr>
                        <a:t>no_progress</a:t>
                      </a:r>
                      <a:r>
                        <a:rPr sz="1100" b="1">
                          <a:solidFill>
                            <a:srgbClr val="28285E"/>
                          </a:solidFill>
                        </a:rPr>
                        <a:t> or error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Execution terminated without acceptance, with partial evidence and the stated reason. For error, the next record names the exception.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100" b="1">
                          <a:solidFill>
                            <a:srgbClr val="28285E"/>
                          </a:solidFill>
                        </a:rPr>
                        <a:t>No terminal event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100" b="0">
                          <a:solidFill>
                            <a:schemeClr val="tx1"/>
                          </a:solidFill>
                        </a:rPr>
                        <a:t>The trace does not establish termination. The run may still be active, or the process may have been killed without running a handler.</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353126442" name="Rectangle 4"/>
          <p:cNvSpPr/>
          <p:nvPr/>
        </p:nvSpPr>
        <p:spPr bwMode="auto">
          <a:xfrm>
            <a:off x="319251" y="4042784"/>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Table 5 in the notes. Calling a missing terminal event error assigns a cause without evidence.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7859070" name="Title 1"/>
          <p:cNvSpPr>
            <a:spLocks noGrp="1"/>
          </p:cNvSpPr>
          <p:nvPr>
            <p:ph type="title"/>
          </p:nvPr>
        </p:nvSpPr>
        <p:spPr bwMode="auto"/>
        <p:txBody>
          <a:bodyPr/>
          <a:lstStyle/>
          <a:p>
            <a:pPr>
              <a:defRPr/>
            </a:pPr>
            <a:r>
              <a:rPr/>
              <a:t>A recorded repair after failed checks</a:t>
            </a:r>
            <a:endParaRPr/>
          </a:p>
        </p:txBody>
      </p:sp>
      <p:sp>
        <p:nvSpPr>
          <p:cNvPr id="1120799574"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In run </a:t>
            </a:r>
            <a:r>
              <a:rPr sz="1400" b="0">
                <a:solidFill>
                  <a:srgbClr val="28285E"/>
                </a:solidFill>
                <a:latin typeface="Aptos Mono"/>
              </a:rPr>
              <a:t>28e37a00</a:t>
            </a:r>
            <a:r>
              <a:rPr sz="1400" b="1">
                <a:solidFill>
                  <a:srgbClr val="28285E"/>
                </a:solidFill>
              </a:rPr>
              <a:t>, the first patch applies successfully. It leaves the flagged line unchanged, and the rescan still reports the finding.</a:t>
            </a:r>
            <a:endParaRPr/>
          </a:p>
        </p:txBody>
      </p:sp>
      <p:sp>
        <p:nvSpPr>
          <p:cNvPr id="1488944029"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0">
                <a:solidFill>
                  <a:srgbClr val="28285E"/>
                </a:solidFill>
                <a:latin typeface="Aptos Mono"/>
              </a:rPr>
              <a:t>28e37a00</a:t>
            </a:r>
            <a:r>
              <a:rPr sz="1200" b="1">
                <a:solidFill>
                  <a:srgbClr val="28285E"/>
                </a:solidFill>
              </a:rPr>
              <a:t>, steps 25–26. Reasons abbreviated</a:t>
            </a:r>
            <a:endParaRPr/>
          </a:p>
        </p:txBody>
      </p:sp>
      <p:sp>
        <p:nvSpPr>
          <p:cNvPr id="1772948563" name="CodeWindow"/>
          <p:cNvSpPr/>
          <p:nvPr/>
        </p:nvSpPr>
        <p:spPr bwMode="auto">
          <a:xfrm>
            <a:off x="319251" y="1650000"/>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86020487"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41501777"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43893254"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32199116" name="WinText"/>
          <p:cNvSpPr txBox="1"/>
          <p:nvPr/>
        </p:nvSpPr>
        <p:spPr bwMode="auto">
          <a:xfrm>
            <a:off x="469251" y="1980000"/>
            <a:ext cx="5714545" cy="1680000"/>
          </a:xfrm>
          <a:prstGeom prst="rect">
            <a:avLst/>
          </a:prstGeom>
          <a:noFill/>
        </p:spPr>
        <p:txBody>
          <a:bodyPr wrap="none" lIns="0" tIns="0" rIns="0" bIns="0" anchor="t">
            <a:spAutoFit/>
          </a:bodyPr>
          <a:lstStyle/>
          <a:p>
            <a:pPr algn="l">
              <a:buNone/>
              <a:defRPr/>
            </a:pPr>
            <a:r>
              <a:rPr sz="1100" b="0">
                <a:solidFill>
                  <a:schemeClr val="bg1"/>
                </a:solidFill>
                <a:latin typeface="Aptos Mono"/>
              </a:rPr>
              <a:t>{</a:t>
            </a:r>
            <a:r>
              <a:rPr sz="1100" b="0">
                <a:solidFill>
                  <a:schemeClr val="accent2"/>
                </a:solidFill>
                <a:latin typeface="Aptos Mono"/>
              </a:rPr>
              <a:t>"step"</a:t>
            </a:r>
            <a:r>
              <a:rPr sz="1100" b="0">
                <a:solidFill>
                  <a:schemeClr val="bg1"/>
                </a:solidFill>
                <a:latin typeface="Aptos Mono"/>
              </a:rPr>
              <a:t>: </a:t>
            </a:r>
            <a:r>
              <a:rPr sz="1100" b="0">
                <a:solidFill>
                  <a:schemeClr val="accent5">
                    <a:lumMod val="45000"/>
                    <a:lumOff val="55000"/>
                  </a:schemeClr>
                </a:solidFill>
                <a:latin typeface="Aptos Mono"/>
              </a:rPr>
              <a:t>25</a:t>
            </a:r>
            <a:r>
              <a:rPr sz="1100" b="0">
                <a:solidFill>
                  <a:schemeClr val="bg1"/>
                </a:solidFill>
                <a:latin typeface="Aptos Mono"/>
              </a:rPr>
              <a:t>, </a:t>
            </a:r>
            <a:r>
              <a:rPr sz="1100" b="0">
                <a:solidFill>
                  <a:schemeClr val="accent2"/>
                </a:solidFill>
                <a:latin typeface="Aptos Mono"/>
              </a:rPr>
              <a:t>"kind"</a:t>
            </a:r>
            <a:r>
              <a:rPr sz="1100" b="0">
                <a:solidFill>
                  <a:schemeClr val="bg1"/>
                </a:solidFill>
                <a:latin typeface="Aptos Mono"/>
              </a:rPr>
              <a:t>: </a:t>
            </a:r>
            <a:r>
              <a:rPr sz="1100" b="0">
                <a:solidFill>
                  <a:schemeClr val="accent3">
                    <a:lumMod val="55000"/>
                    <a:lumOff val="45000"/>
                  </a:schemeClr>
                </a:solidFill>
                <a:latin typeface="Aptos Mono"/>
              </a:rPr>
              <a:t>"state_change"</a:t>
            </a:r>
            <a:r>
              <a:rPr sz="1100" b="0">
                <a:solidFill>
                  <a:schemeClr val="bg1"/>
                </a:solidFill>
                <a:latin typeface="Aptos Mono"/>
              </a:rPr>
              <a:t>, </a:t>
            </a:r>
            <a:r>
              <a:rPr sz="1100" b="0">
                <a:solidFill>
                  <a:schemeClr val="accent2"/>
                </a:solidFill>
                <a:latin typeface="Aptos Mono"/>
              </a:rPr>
              <a:t>"node"</a:t>
            </a:r>
            <a:r>
              <a:rPr sz="1100" b="0">
                <a:solidFill>
                  <a:schemeClr val="bg1"/>
                </a:solidFill>
                <a:latin typeface="Aptos Mono"/>
              </a:rPr>
              <a:t>: </a:t>
            </a:r>
            <a:r>
              <a:rPr sz="1100" b="0">
                <a:solidFill>
                  <a:schemeClr val="accent3">
                    <a:lumMod val="55000"/>
                    <a:lumOff val="45000"/>
                  </a:schemeClr>
                </a:solidFill>
                <a:latin typeface="Aptos Mono"/>
              </a:rPr>
              <a:t>"submit"</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"checks"</a:t>
            </a:r>
            <a:r>
              <a:rPr sz="1100" b="0">
                <a:solidFill>
                  <a:schemeClr val="bg1"/>
                </a:solidFill>
                <a:latin typeface="Aptos Mono"/>
              </a:rPr>
              <a:t>: {</a:t>
            </a:r>
            <a:r>
              <a:rPr sz="1100" b="0">
                <a:solidFill>
                  <a:schemeClr val="accent2"/>
                </a:solidFill>
                <a:latin typeface="Aptos Mono"/>
              </a:rPr>
              <a:t>"applies"</a:t>
            </a:r>
            <a:r>
              <a:rPr sz="1100" b="0">
                <a:solidFill>
                  <a:schemeClr val="bg1"/>
                </a:solidFill>
                <a:latin typeface="Aptos Mono"/>
              </a:rPr>
              <a:t>: </a:t>
            </a:r>
            <a:r>
              <a:rPr sz="1100" b="0">
                <a:solidFill>
                  <a:schemeClr val="accent5">
                    <a:lumMod val="45000"/>
                    <a:lumOff val="55000"/>
                  </a:schemeClr>
                </a:solidFill>
                <a:latin typeface="Aptos Mono"/>
              </a:rPr>
              <a:t>true</a:t>
            </a:r>
            <a:r>
              <a:rPr sz="1100" b="0">
                <a:solidFill>
                  <a:schemeClr val="bg1"/>
                </a:solidFill>
                <a:latin typeface="Aptos Mono"/>
              </a:rPr>
              <a:t>, </a:t>
            </a:r>
            <a:r>
              <a:rPr sz="1100" b="0">
                <a:solidFill>
                  <a:schemeClr val="accent2"/>
                </a:solidFill>
                <a:latin typeface="Aptos Mono"/>
              </a:rPr>
              <a:t>"touches_line"</a:t>
            </a:r>
            <a:r>
              <a:rPr sz="1100" b="0">
                <a:solidFill>
                  <a:schemeClr val="bg1"/>
                </a:solidFill>
                <a:latin typeface="Aptos Mono"/>
              </a:rPr>
              <a:t>: </a:t>
            </a:r>
            <a:r>
              <a:rPr sz="1100" b="0">
                <a:solidFill>
                  <a:schemeClr val="accent5">
                    <a:lumMod val="45000"/>
                    <a:lumOff val="55000"/>
                  </a:schemeClr>
                </a:solidFill>
                <a:latin typeface="Aptos Mono"/>
              </a:rPr>
              <a:t>false</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"rescan_clean"</a:t>
            </a:r>
            <a:r>
              <a:rPr sz="1100" b="0">
                <a:solidFill>
                  <a:schemeClr val="bg1"/>
                </a:solidFill>
                <a:latin typeface="Aptos Mono"/>
              </a:rPr>
              <a:t>: </a:t>
            </a:r>
            <a:r>
              <a:rPr sz="1100" b="0">
                <a:solidFill>
                  <a:schemeClr val="accent5">
                    <a:lumMod val="45000"/>
                    <a:lumOff val="55000"/>
                  </a:schemeClr>
                </a:solidFill>
                <a:latin typeface="Aptos Mono"/>
              </a:rPr>
              <a:t>false</a:t>
            </a:r>
            <a:r>
              <a:rPr sz="1100" b="0">
                <a:solidFill>
                  <a:schemeClr val="bg1"/>
                </a:solidFill>
                <a:latin typeface="Aptos Mono"/>
              </a:rPr>
              <a:t>, </a:t>
            </a:r>
            <a:r>
              <a:rPr sz="1100" b="0">
                <a:solidFill>
                  <a:schemeClr val="accent2"/>
                </a:solidFill>
                <a:latin typeface="Aptos Mono"/>
              </a:rPr>
              <a:t>"reasons"</a:t>
            </a:r>
            <a:r>
              <a:rPr sz="1100" b="0">
                <a:solidFill>
                  <a:schemeClr val="bg1"/>
                </a:solidFill>
                <a:latin typeface="Aptos Mono"/>
              </a:rPr>
              <a:t>: [...]}}</a:t>
            </a:r>
            <a:endParaRPr/>
          </a:p>
          <a:p>
            <a:pPr algn="l">
              <a:buNone/>
              <a:defRPr/>
            </a:pPr>
            <a:r>
              <a:rPr sz="1100" b="0">
                <a:solidFill>
                  <a:schemeClr val="bg1"/>
                </a:solidFill>
                <a:latin typeface="Aptos Mono"/>
              </a:rPr>
              <a:t>{</a:t>
            </a:r>
            <a:r>
              <a:rPr sz="1100" b="0">
                <a:solidFill>
                  <a:schemeClr val="accent2"/>
                </a:solidFill>
                <a:latin typeface="Aptos Mono"/>
              </a:rPr>
              <a:t>"step"</a:t>
            </a:r>
            <a:r>
              <a:rPr sz="1100" b="0">
                <a:solidFill>
                  <a:schemeClr val="bg1"/>
                </a:solidFill>
                <a:latin typeface="Aptos Mono"/>
              </a:rPr>
              <a:t>: </a:t>
            </a:r>
            <a:r>
              <a:rPr sz="1100" b="0">
                <a:solidFill>
                  <a:schemeClr val="accent5">
                    <a:lumMod val="45000"/>
                    <a:lumOff val="55000"/>
                  </a:schemeClr>
                </a:solidFill>
                <a:latin typeface="Aptos Mono"/>
              </a:rPr>
              <a:t>26</a:t>
            </a:r>
            <a:r>
              <a:rPr sz="1100" b="0">
                <a:solidFill>
                  <a:schemeClr val="bg1"/>
                </a:solidFill>
                <a:latin typeface="Aptos Mono"/>
              </a:rPr>
              <a:t>, </a:t>
            </a:r>
            <a:r>
              <a:rPr sz="1100" b="0">
                <a:solidFill>
                  <a:schemeClr val="accent2"/>
                </a:solidFill>
                <a:latin typeface="Aptos Mono"/>
              </a:rPr>
              <a:t>"kind"</a:t>
            </a:r>
            <a:r>
              <a:rPr sz="1100" b="0">
                <a:solidFill>
                  <a:schemeClr val="bg1"/>
                </a:solidFill>
                <a:latin typeface="Aptos Mono"/>
              </a:rPr>
              <a:t>: </a:t>
            </a:r>
            <a:r>
              <a:rPr sz="1100" b="0">
                <a:solidFill>
                  <a:schemeClr val="accent3">
                    <a:lumMod val="55000"/>
                    <a:lumOff val="45000"/>
                  </a:schemeClr>
                </a:solidFill>
                <a:latin typeface="Aptos Mono"/>
              </a:rPr>
              <a:t>"routing"</a:t>
            </a:r>
            <a:r>
              <a:rPr sz="1100" b="0">
                <a:solidFill>
                  <a:schemeClr val="bg1"/>
                </a:solidFill>
                <a:latin typeface="Aptos Mono"/>
              </a:rPr>
              <a:t>, </a:t>
            </a:r>
            <a:r>
              <a:rPr sz="1100" b="0">
                <a:solidFill>
                  <a:schemeClr val="accent2"/>
                </a:solidFill>
                <a:latin typeface="Aptos Mono"/>
              </a:rPr>
              <a:t>"decision"</a:t>
            </a:r>
            <a:r>
              <a:rPr sz="1100" b="0">
                <a:solidFill>
                  <a:schemeClr val="bg1"/>
                </a:solidFill>
                <a:latin typeface="Aptos Mono"/>
              </a:rPr>
              <a:t>: </a:t>
            </a:r>
            <a:r>
              <a:rPr sz="1100" b="0">
                <a:solidFill>
                  <a:schemeClr val="accent3">
                    <a:lumMod val="55000"/>
                    <a:lumOff val="45000"/>
                  </a:schemeClr>
                </a:solidFill>
                <a:latin typeface="Aptos Mono"/>
              </a:rPr>
              <a:t>"controller"</a:t>
            </a:r>
            <a:r>
              <a:rPr sz="1100" b="0">
                <a:solidFill>
                  <a:schemeClr val="bg1"/>
                </a:solidFill>
                <a:latin typeface="Aptos Mono"/>
              </a:rPr>
              <a:t>,</a:t>
            </a:r>
            <a:endParaRPr/>
          </a:p>
          <a:p>
            <a:pPr algn="l">
              <a:buNone/>
              <a:defRPr/>
            </a:pPr>
            <a:r>
              <a:rPr sz="1100" b="0">
                <a:solidFill>
                  <a:schemeClr val="bg1"/>
                </a:solidFill>
                <a:latin typeface="Aptos Mono"/>
              </a:rPr>
              <a:t>  </a:t>
            </a:r>
            <a:r>
              <a:rPr sz="1100" b="1">
                <a:solidFill>
                  <a:schemeClr val="accent4">
                    <a:lumMod val="70000"/>
                    <a:lumOff val="30000"/>
                  </a:schemeClr>
                </a:solidFill>
                <a:latin typeface="Aptos Mono"/>
              </a:rPr>
              <a:t>"by": "runtime"</a:t>
            </a:r>
            <a:r>
              <a:rPr sz="1100" b="0">
                <a:solidFill>
                  <a:schemeClr val="bg1"/>
                </a:solidFill>
                <a:latin typeface="Aptos Mono"/>
              </a:rPr>
              <a:t>, </a:t>
            </a:r>
            <a:r>
              <a:rPr sz="1100" b="0">
                <a:solidFill>
                  <a:schemeClr val="accent2"/>
                </a:solidFill>
                <a:latin typeface="Aptos Mono"/>
              </a:rPr>
              <a:t>"reason"</a:t>
            </a:r>
            <a:r>
              <a:rPr sz="1100" b="0">
                <a:solidFill>
                  <a:schemeClr val="bg1"/>
                </a:solidFill>
                <a:latin typeface="Aptos Mono"/>
              </a:rPr>
              <a:t>: </a:t>
            </a:r>
            <a:r>
              <a:rPr sz="1100" b="0">
                <a:solidFill>
                  <a:schemeClr val="accent3">
                    <a:lumMod val="55000"/>
                    <a:lumOff val="45000"/>
                  </a:schemeClr>
                </a:solidFill>
                <a:latin typeface="Aptos Mono"/>
              </a:rPr>
              <a:t>"mechanical checks failed"</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"reasons"</a:t>
            </a:r>
            <a:r>
              <a:rPr sz="1100" b="0">
                <a:solidFill>
                  <a:schemeClr val="bg1"/>
                </a:solidFill>
                <a:latin typeface="Aptos Mono"/>
              </a:rPr>
              <a:t>: ["the edit did not touch</a:t>
            </a:r>
            <a:endParaRPr/>
          </a:p>
          <a:p>
            <a:pPr algn="l">
              <a:buNone/>
              <a:defRPr/>
            </a:pPr>
            <a:r>
              <a:rPr sz="1100" b="0">
                <a:solidFill>
                  <a:schemeClr val="bg1"/>
                </a:solidFill>
                <a:latin typeface="Aptos Mono"/>
              </a:rPr>
              <a:t>               testcode/BenchmarkTest01179.py:</a:t>
            </a:r>
            <a:r>
              <a:rPr sz="1100" b="0">
                <a:solidFill>
                  <a:schemeClr val="accent5">
                    <a:lumMod val="45000"/>
                    <a:lumOff val="55000"/>
                  </a:schemeClr>
                </a:solidFill>
                <a:latin typeface="Aptos Mono"/>
              </a:rPr>
              <a:t>31</a:t>
            </a:r>
            <a:r>
              <a:rPr sz="1100" b="0">
                <a:solidFill>
                  <a:schemeClr val="bg1"/>
                </a:solidFill>
                <a:latin typeface="Aptos Mono"/>
              </a:rPr>
              <a:t> ...",</a:t>
            </a:r>
            <a:endParaRPr/>
          </a:p>
          <a:p>
            <a:pPr algn="l">
              <a:buNone/>
              <a:defRPr/>
            </a:pPr>
            <a:r>
              <a:rPr sz="1100" b="0">
                <a:solidFill>
                  <a:schemeClr val="bg1"/>
                </a:solidFill>
                <a:latin typeface="Aptos Mono"/>
              </a:rPr>
              <a:t>              </a:t>
            </a:r>
            <a:r>
              <a:rPr sz="1100" b="0">
                <a:solidFill>
                  <a:schemeClr val="accent3">
                    <a:lumMod val="55000"/>
                    <a:lumOff val="45000"/>
                  </a:schemeClr>
                </a:solidFill>
                <a:latin typeface="Aptos Mono"/>
              </a:rPr>
              <a:t>"semgrep: ... path-traversal-open is still ..."</a:t>
            </a:r>
            <a:r>
              <a:rPr sz="1100" b="0">
                <a:solidFill>
                  <a:schemeClr val="bg1"/>
                </a:solidFill>
                <a:latin typeface="Aptos Mono"/>
              </a:rPr>
              <a:t>]}</a:t>
            </a:r>
            <a:endParaRPr/>
          </a:p>
        </p:txBody>
      </p:sp>
      <p:sp>
        <p:nvSpPr>
          <p:cNvPr id="1634032219" name="Rectangle 9"/>
          <p:cNvSpPr/>
          <p:nvPr/>
        </p:nvSpPr>
        <p:spPr bwMode="auto">
          <a:xfrm>
            <a:off x="319251" y="392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controller receives both reasons as a conversation message and submits again after three tool rounds.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4881543" name="Title 1"/>
          <p:cNvSpPr>
            <a:spLocks noGrp="1"/>
          </p:cNvSpPr>
          <p:nvPr>
            <p:ph type="title"/>
          </p:nvPr>
        </p:nvSpPr>
        <p:spPr bwMode="auto"/>
        <p:txBody>
          <a:bodyPr/>
          <a:lstStyle/>
          <a:p>
            <a:pPr>
              <a:defRPr/>
            </a:pPr>
            <a:r>
              <a:rPr/>
              <a:t>A recorded keyboard interruption</a:t>
            </a:r>
            <a:endParaRPr/>
          </a:p>
        </p:txBody>
      </p:sp>
      <p:sp>
        <p:nvSpPr>
          <p:cNvPr id="1595897411"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After the second failed submission and two more tool rounds, a keyboard interrupt stops the run.</a:t>
            </a:r>
            <a:endParaRPr/>
          </a:p>
        </p:txBody>
      </p:sp>
      <p:sp>
        <p:nvSpPr>
          <p:cNvPr id="1775214704"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0">
                <a:solidFill>
                  <a:srgbClr val="28285E"/>
                </a:solidFill>
                <a:latin typeface="Aptos Mono"/>
              </a:rPr>
              <a:t>28e37a00</a:t>
            </a:r>
            <a:r>
              <a:rPr sz="1200" b="1">
                <a:solidFill>
                  <a:srgbClr val="28285E"/>
                </a:solidFill>
              </a:rPr>
              <a:t>, steps 50–52. Timestamp and run identifier omitted.</a:t>
            </a:r>
            <a:endParaRPr/>
          </a:p>
        </p:txBody>
      </p:sp>
      <p:sp>
        <p:nvSpPr>
          <p:cNvPr id="680270581" name="CodeWindow"/>
          <p:cNvSpPr/>
          <p:nvPr/>
        </p:nvSpPr>
        <p:spPr bwMode="auto">
          <a:xfrm>
            <a:off x="319251" y="1650000"/>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42585144"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6005035"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9164393"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3097518" name="WinText"/>
          <p:cNvSpPr txBox="1"/>
          <p:nvPr/>
        </p:nvSpPr>
        <p:spPr bwMode="auto">
          <a:xfrm>
            <a:off x="469251" y="1980000"/>
            <a:ext cx="5714545" cy="1470000"/>
          </a:xfrm>
          <a:prstGeom prst="rect">
            <a:avLst/>
          </a:prstGeom>
          <a:noFill/>
        </p:spPr>
        <p:txBody>
          <a:bodyPr wrap="none" lIns="0" tIns="0" rIns="0" bIns="0" anchor="t">
            <a:spAutoFit/>
          </a:bodyPr>
          <a:lstStyle/>
          <a:p>
            <a:pPr algn="l">
              <a:buNone/>
              <a:defRPr/>
            </a:pPr>
            <a:r>
              <a:rPr sz="1100" b="0">
                <a:solidFill>
                  <a:schemeClr val="bg1"/>
                </a:solidFill>
                <a:latin typeface="Aptos Mono"/>
              </a:rPr>
              <a:t>{</a:t>
            </a:r>
            <a:r>
              <a:rPr sz="1100" b="0">
                <a:solidFill>
                  <a:schemeClr val="accent2"/>
                </a:solidFill>
                <a:latin typeface="Aptos Mono"/>
              </a:rPr>
              <a:t>"step"</a:t>
            </a:r>
            <a:r>
              <a:rPr sz="1100" b="0">
                <a:solidFill>
                  <a:schemeClr val="bg1"/>
                </a:solidFill>
                <a:latin typeface="Aptos Mono"/>
              </a:rPr>
              <a:t>: </a:t>
            </a:r>
            <a:r>
              <a:rPr sz="1100" b="0">
                <a:solidFill>
                  <a:schemeClr val="accent5">
                    <a:lumMod val="45000"/>
                    <a:lumOff val="55000"/>
                  </a:schemeClr>
                </a:solidFill>
                <a:latin typeface="Aptos Mono"/>
              </a:rPr>
              <a:t>50</a:t>
            </a:r>
            <a:r>
              <a:rPr sz="1100" b="0">
                <a:solidFill>
                  <a:schemeClr val="bg1"/>
                </a:solidFill>
                <a:latin typeface="Aptos Mono"/>
              </a:rPr>
              <a:t>, </a:t>
            </a:r>
            <a:r>
              <a:rPr sz="1100" b="0">
                <a:solidFill>
                  <a:schemeClr val="accent2"/>
                </a:solidFill>
                <a:latin typeface="Aptos Mono"/>
              </a:rPr>
              <a:t>"kind"</a:t>
            </a:r>
            <a:r>
              <a:rPr sz="1100" b="0">
                <a:solidFill>
                  <a:schemeClr val="bg1"/>
                </a:solidFill>
                <a:latin typeface="Aptos Mono"/>
              </a:rPr>
              <a:t>: </a:t>
            </a:r>
            <a:r>
              <a:rPr sz="1100" b="0">
                <a:solidFill>
                  <a:schemeClr val="accent3">
                    <a:lumMod val="55000"/>
                    <a:lumOff val="45000"/>
                  </a:schemeClr>
                </a:solidFill>
                <a:latin typeface="Aptos Mono"/>
              </a:rPr>
              <a:t>"tool_result"</a:t>
            </a:r>
            <a:r>
              <a:rPr sz="1100" b="0">
                <a:solidFill>
                  <a:schemeClr val="bg1"/>
                </a:solidFill>
                <a:latin typeface="Aptos Mono"/>
              </a:rPr>
              <a:t>, </a:t>
            </a:r>
            <a:r>
              <a:rPr sz="1100" b="0">
                <a:solidFill>
                  <a:schemeClr val="accent2"/>
                </a:solidFill>
                <a:latin typeface="Aptos Mono"/>
              </a:rPr>
              <a:t>"tool"</a:t>
            </a:r>
            <a:r>
              <a:rPr sz="1100" b="0">
                <a:solidFill>
                  <a:schemeClr val="bg1"/>
                </a:solidFill>
                <a:latin typeface="Aptos Mono"/>
              </a:rPr>
              <a:t>: </a:t>
            </a:r>
            <a:r>
              <a:rPr sz="1100" b="0">
                <a:solidFill>
                  <a:schemeClr val="accent3">
                    <a:lumMod val="55000"/>
                    <a:lumOff val="45000"/>
                  </a:schemeClr>
                </a:solidFill>
                <a:latin typeface="Aptos Mono"/>
              </a:rPr>
              <a:t>"read_file"</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"ok"</a:t>
            </a:r>
            <a:r>
              <a:rPr sz="1100" b="0">
                <a:solidFill>
                  <a:schemeClr val="bg1"/>
                </a:solidFill>
                <a:latin typeface="Aptos Mono"/>
              </a:rPr>
              <a:t>: </a:t>
            </a:r>
            <a:r>
              <a:rPr sz="1100" b="0">
                <a:solidFill>
                  <a:schemeClr val="accent5">
                    <a:lumMod val="45000"/>
                    <a:lumOff val="55000"/>
                  </a:schemeClr>
                </a:solidFill>
                <a:latin typeface="Aptos Mono"/>
              </a:rPr>
              <a:t>true</a:t>
            </a:r>
            <a:r>
              <a:rPr sz="1100" b="0">
                <a:solidFill>
                  <a:schemeClr val="bg1"/>
                </a:solidFill>
                <a:latin typeface="Aptos Mono"/>
              </a:rPr>
              <a:t>, </a:t>
            </a:r>
            <a:r>
              <a:rPr sz="1100" b="0">
                <a:solidFill>
                  <a:schemeClr val="accent2"/>
                </a:solidFill>
                <a:latin typeface="Aptos Mono"/>
              </a:rPr>
              <a:t>"chars"</a:t>
            </a:r>
            <a:r>
              <a:rPr sz="1100" b="0">
                <a:solidFill>
                  <a:schemeClr val="bg1"/>
                </a:solidFill>
                <a:latin typeface="Aptos Mono"/>
              </a:rPr>
              <a:t>: </a:t>
            </a:r>
            <a:r>
              <a:rPr sz="1100" b="0">
                <a:solidFill>
                  <a:schemeClr val="accent5">
                    <a:lumMod val="45000"/>
                    <a:lumOff val="55000"/>
                  </a:schemeClr>
                </a:solidFill>
                <a:latin typeface="Aptos Mono"/>
              </a:rPr>
              <a:t>1081</a:t>
            </a:r>
            <a:r>
              <a:rPr sz="1100" b="0">
                <a:solidFill>
                  <a:schemeClr val="bg1"/>
                </a:solidFill>
                <a:latin typeface="Aptos Mono"/>
              </a:rPr>
              <a:t>}</a:t>
            </a:r>
            <a:endParaRPr/>
          </a:p>
          <a:p>
            <a:pPr algn="l">
              <a:buNone/>
              <a:defRPr/>
            </a:pPr>
            <a:r>
              <a:rPr sz="1100" b="0">
                <a:solidFill>
                  <a:schemeClr val="bg1"/>
                </a:solidFill>
                <a:latin typeface="Aptos Mono"/>
              </a:rPr>
              <a:t>{</a:t>
            </a:r>
            <a:r>
              <a:rPr sz="1100" b="0">
                <a:solidFill>
                  <a:schemeClr val="accent2"/>
                </a:solidFill>
                <a:latin typeface="Aptos Mono"/>
              </a:rPr>
              <a:t>"step"</a:t>
            </a:r>
            <a:r>
              <a:rPr sz="1100" b="0">
                <a:solidFill>
                  <a:schemeClr val="bg1"/>
                </a:solidFill>
                <a:latin typeface="Aptos Mono"/>
              </a:rPr>
              <a:t>: </a:t>
            </a:r>
            <a:r>
              <a:rPr sz="1100" b="0">
                <a:solidFill>
                  <a:schemeClr val="accent5">
                    <a:lumMod val="45000"/>
                    <a:lumOff val="55000"/>
                  </a:schemeClr>
                </a:solidFill>
                <a:latin typeface="Aptos Mono"/>
              </a:rPr>
              <a:t>51</a:t>
            </a:r>
            <a:r>
              <a:rPr sz="1100" b="0">
                <a:solidFill>
                  <a:schemeClr val="bg1"/>
                </a:solidFill>
                <a:latin typeface="Aptos Mono"/>
              </a:rPr>
              <a:t>, </a:t>
            </a:r>
            <a:r>
              <a:rPr sz="1100" b="0">
                <a:solidFill>
                  <a:schemeClr val="accent2"/>
                </a:solidFill>
                <a:latin typeface="Aptos Mono"/>
              </a:rPr>
              <a:t>"kind"</a:t>
            </a:r>
            <a:r>
              <a:rPr sz="1100" b="0">
                <a:solidFill>
                  <a:schemeClr val="bg1"/>
                </a:solidFill>
                <a:latin typeface="Aptos Mono"/>
              </a:rPr>
              <a:t>: </a:t>
            </a:r>
            <a:r>
              <a:rPr sz="1100" b="0">
                <a:solidFill>
                  <a:schemeClr val="accent3">
                    <a:lumMod val="55000"/>
                    <a:lumOff val="45000"/>
                  </a:schemeClr>
                </a:solidFill>
                <a:latin typeface="Aptos Mono"/>
              </a:rPr>
              <a:t>"terminal"</a:t>
            </a:r>
            <a:r>
              <a:rPr sz="1100" b="0">
                <a:solidFill>
                  <a:schemeClr val="bg1"/>
                </a:solidFill>
                <a:latin typeface="Aptos Mono"/>
              </a:rPr>
              <a:t>, </a:t>
            </a:r>
            <a:r>
              <a:rPr sz="1100" b="1">
                <a:solidFill>
                  <a:schemeClr val="accent4">
                    <a:lumMod val="70000"/>
                    <a:lumOff val="30000"/>
                  </a:schemeClr>
                </a:solidFill>
                <a:latin typeface="Aptos Mono"/>
              </a:rPr>
              <a:t>"status": "error"</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"usage_total"</a:t>
            </a:r>
            <a:r>
              <a:rPr sz="1100" b="0">
                <a:solidFill>
                  <a:schemeClr val="bg1"/>
                </a:solidFill>
                <a:latin typeface="Aptos Mono"/>
              </a:rPr>
              <a:t>: {</a:t>
            </a:r>
            <a:r>
              <a:rPr sz="1100" b="0">
                <a:solidFill>
                  <a:schemeClr val="accent2"/>
                </a:solidFill>
                <a:latin typeface="Aptos Mono"/>
              </a:rPr>
              <a:t>"input"</a:t>
            </a:r>
            <a:r>
              <a:rPr sz="1100" b="0">
                <a:solidFill>
                  <a:schemeClr val="bg1"/>
                </a:solidFill>
                <a:latin typeface="Aptos Mono"/>
              </a:rPr>
              <a:t>: </a:t>
            </a:r>
            <a:r>
              <a:rPr sz="1100" b="0">
                <a:solidFill>
                  <a:schemeClr val="accent5">
                    <a:lumMod val="45000"/>
                    <a:lumOff val="55000"/>
                  </a:schemeClr>
                </a:solidFill>
                <a:latin typeface="Aptos Mono"/>
              </a:rPr>
              <a:t>67586</a:t>
            </a:r>
            <a:r>
              <a:rPr sz="1100" b="0">
                <a:solidFill>
                  <a:schemeClr val="bg1"/>
                </a:solidFill>
                <a:latin typeface="Aptos Mono"/>
              </a:rPr>
              <a:t>, </a:t>
            </a:r>
            <a:r>
              <a:rPr sz="1100" b="0">
                <a:solidFill>
                  <a:schemeClr val="accent2"/>
                </a:solidFill>
                <a:latin typeface="Aptos Mono"/>
              </a:rPr>
              <a:t>"output"</a:t>
            </a:r>
            <a:r>
              <a:rPr sz="1100" b="0">
                <a:solidFill>
                  <a:schemeClr val="bg1"/>
                </a:solidFill>
                <a:latin typeface="Aptos Mono"/>
              </a:rPr>
              <a:t>: </a:t>
            </a:r>
            <a:r>
              <a:rPr sz="1100" b="0">
                <a:solidFill>
                  <a:schemeClr val="accent5">
                    <a:lumMod val="45000"/>
                    <a:lumOff val="55000"/>
                  </a:schemeClr>
                </a:solidFill>
                <a:latin typeface="Aptos Mono"/>
              </a:rPr>
              <a:t>10380</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"cache_read"</a:t>
            </a:r>
            <a:r>
              <a:rPr sz="1100" b="0">
                <a:solidFill>
                  <a:schemeClr val="bg1"/>
                </a:solidFill>
                <a:latin typeface="Aptos Mono"/>
              </a:rPr>
              <a:t>: </a:t>
            </a:r>
            <a:r>
              <a:rPr sz="1100" b="0">
                <a:solidFill>
                  <a:schemeClr val="accent5">
                    <a:lumMod val="45000"/>
                    <a:lumOff val="55000"/>
                  </a:schemeClr>
                </a:solidFill>
                <a:latin typeface="Aptos Mono"/>
              </a:rPr>
              <a:t>0</a:t>
            </a:r>
            <a:r>
              <a:rPr sz="1100" b="0">
                <a:solidFill>
                  <a:schemeClr val="bg1"/>
                </a:solidFill>
                <a:latin typeface="Aptos Mono"/>
              </a:rPr>
              <a:t>, </a:t>
            </a:r>
            <a:r>
              <a:rPr sz="1100" b="0">
                <a:solidFill>
                  <a:schemeClr val="accent2"/>
                </a:solidFill>
                <a:latin typeface="Aptos Mono"/>
              </a:rPr>
              <a:t>"cache_write"</a:t>
            </a:r>
            <a:r>
              <a:rPr sz="1100" b="0">
                <a:solidFill>
                  <a:schemeClr val="bg1"/>
                </a:solidFill>
                <a:latin typeface="Aptos Mono"/>
              </a:rPr>
              <a:t>: </a:t>
            </a:r>
            <a:r>
              <a:rPr sz="1100" b="0">
                <a:solidFill>
                  <a:schemeClr val="accent5">
                    <a:lumMod val="45000"/>
                    <a:lumOff val="55000"/>
                  </a:schemeClr>
                </a:solidFill>
                <a:latin typeface="Aptos Mono"/>
              </a:rPr>
              <a:t>0</a:t>
            </a:r>
            <a:r>
              <a:rPr sz="1100" b="0">
                <a:solidFill>
                  <a:schemeClr val="bg1"/>
                </a:solidFill>
                <a:latin typeface="Aptos Mono"/>
              </a:rPr>
              <a:t>}}</a:t>
            </a:r>
            <a:endParaRPr/>
          </a:p>
          <a:p>
            <a:pPr algn="l">
              <a:buNone/>
              <a:defRPr/>
            </a:pPr>
            <a:r>
              <a:rPr sz="1100" b="0">
                <a:solidFill>
                  <a:schemeClr val="bg1"/>
                </a:solidFill>
                <a:latin typeface="Aptos Mono"/>
              </a:rPr>
              <a:t>{</a:t>
            </a:r>
            <a:r>
              <a:rPr sz="1100" b="0">
                <a:solidFill>
                  <a:schemeClr val="accent2"/>
                </a:solidFill>
                <a:latin typeface="Aptos Mono"/>
              </a:rPr>
              <a:t>"step"</a:t>
            </a:r>
            <a:r>
              <a:rPr sz="1100" b="0">
                <a:solidFill>
                  <a:schemeClr val="bg1"/>
                </a:solidFill>
                <a:latin typeface="Aptos Mono"/>
              </a:rPr>
              <a:t>: </a:t>
            </a:r>
            <a:r>
              <a:rPr sz="1100" b="0">
                <a:solidFill>
                  <a:schemeClr val="accent5">
                    <a:lumMod val="45000"/>
                    <a:lumOff val="55000"/>
                  </a:schemeClr>
                </a:solidFill>
                <a:latin typeface="Aptos Mono"/>
              </a:rPr>
              <a:t>52</a:t>
            </a:r>
            <a:r>
              <a:rPr sz="1100" b="0">
                <a:solidFill>
                  <a:schemeClr val="bg1"/>
                </a:solidFill>
                <a:latin typeface="Aptos Mono"/>
              </a:rPr>
              <a:t>, </a:t>
            </a:r>
            <a:r>
              <a:rPr sz="1100" b="0">
                <a:solidFill>
                  <a:schemeClr val="accent2"/>
                </a:solidFill>
                <a:latin typeface="Aptos Mono"/>
              </a:rPr>
              <a:t>"kind"</a:t>
            </a:r>
            <a:r>
              <a:rPr sz="1100" b="0">
                <a:solidFill>
                  <a:schemeClr val="bg1"/>
                </a:solidFill>
                <a:latin typeface="Aptos Mono"/>
              </a:rPr>
              <a:t>: </a:t>
            </a:r>
            <a:r>
              <a:rPr sz="1100" b="0">
                <a:solidFill>
                  <a:schemeClr val="accent3">
                    <a:lumMod val="55000"/>
                    <a:lumOff val="45000"/>
                  </a:schemeClr>
                </a:solidFill>
                <a:latin typeface="Aptos Mono"/>
              </a:rPr>
              <a:t>"state_change"</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"exception"</a:t>
            </a:r>
            <a:r>
              <a:rPr sz="1100" b="0">
                <a:solidFill>
                  <a:schemeClr val="bg1"/>
                </a:solidFill>
                <a:latin typeface="Aptos Mono"/>
              </a:rPr>
              <a:t>: </a:t>
            </a:r>
            <a:r>
              <a:rPr sz="1100" b="0">
                <a:solidFill>
                  <a:schemeClr val="accent3">
                    <a:lumMod val="55000"/>
                    <a:lumOff val="45000"/>
                  </a:schemeClr>
                </a:solidFill>
                <a:latin typeface="Aptos Mono"/>
              </a:rPr>
              <a:t>"KeyboardInterrupt"</a:t>
            </a:r>
            <a:r>
              <a:rPr sz="1100" b="0">
                <a:solidFill>
                  <a:schemeClr val="bg1"/>
                </a:solidFill>
                <a:latin typeface="Aptos Mono"/>
              </a:rPr>
              <a:t>, </a:t>
            </a:r>
            <a:r>
              <a:rPr sz="1100" b="0">
                <a:solidFill>
                  <a:schemeClr val="accent2"/>
                </a:solidFill>
                <a:latin typeface="Aptos Mono"/>
              </a:rPr>
              <a:t>"message"</a:t>
            </a:r>
            <a:r>
              <a:rPr sz="1100" b="0">
                <a:solidFill>
                  <a:schemeClr val="bg1"/>
                </a:solidFill>
                <a:latin typeface="Aptos Mono"/>
              </a:rPr>
              <a:t>: </a:t>
            </a:r>
            <a:r>
              <a:rPr sz="1100" b="0">
                <a:solidFill>
                  <a:schemeClr val="accent3">
                    <a:lumMod val="55000"/>
                    <a:lumOff val="45000"/>
                  </a:schemeClr>
                </a:solidFill>
                <a:latin typeface="Aptos Mono"/>
              </a:rPr>
              <a:t>""</a:t>
            </a:r>
            <a:r>
              <a:rPr sz="1100" b="0">
                <a:solidFill>
                  <a:schemeClr val="bg1"/>
                </a:solidFill>
                <a:latin typeface="Aptos Mono"/>
              </a:rPr>
              <a:t>}</a:t>
            </a:r>
            <a:endParaRPr/>
          </a:p>
        </p:txBody>
      </p:sp>
      <p:sp>
        <p:nvSpPr>
          <p:cNvPr id="963775453" name="Rectangle 9"/>
          <p:cNvSpPr/>
          <p:nvPr/>
        </p:nvSpPr>
        <p:spPr bwMode="auto">
          <a:xfrm>
            <a:off x="319251" y="371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A </a:t>
            </a:r>
            <a:r>
              <a:rPr sz="1200" b="0">
                <a:solidFill>
                  <a:schemeClr val="tx2"/>
                </a:solidFill>
                <a:latin typeface="Aptos Mono"/>
              </a:rPr>
              <a:t>SIGKILL</a:t>
            </a:r>
            <a:r>
              <a:rPr sz="1200" b="1">
                <a:solidFill>
                  <a:schemeClr val="tx2"/>
                </a:solidFill>
              </a:rPr>
              <a:t> at the same point would leave the file ending at step 50, without terminal or exception records.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3604968" name="TextBox 1"/>
          <p:cNvSpPr txBox="1"/>
          <p:nvPr/>
        </p:nvSpPr>
        <p:spPr bwMode="auto">
          <a:xfrm>
            <a:off x="429000" y="1863864"/>
            <a:ext cx="6000000" cy="1415772"/>
          </a:xfrm>
          <a:prstGeom prst="rect">
            <a:avLst/>
          </a:prstGeom>
          <a:noFill/>
        </p:spPr>
        <p:txBody>
          <a:bodyPr wrap="square" anchor="ctr">
            <a:spAutoFit/>
          </a:bodyPr>
          <a:lstStyle/>
          <a:p>
            <a:pPr algn="ctr">
              <a:defRPr/>
            </a:pPr>
            <a:r>
              <a:rPr sz="4000" b="1">
                <a:solidFill>
                  <a:schemeClr val="tx2"/>
                </a:solidFill>
                <a:latin typeface="+mj-lt"/>
              </a:rPr>
              <a:t>Scheduling, tools, and execution authority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8445691" name="Title 1"/>
          <p:cNvSpPr>
            <a:spLocks noGrp="1"/>
          </p:cNvSpPr>
          <p:nvPr>
            <p:ph type="title"/>
          </p:nvPr>
        </p:nvSpPr>
        <p:spPr bwMode="auto"/>
        <p:txBody>
          <a:bodyPr/>
          <a:lstStyle/>
          <a:p>
            <a:pPr>
              <a:defRPr/>
            </a:pPr>
            <a:r>
              <a:rPr/>
              <a:t>Supersteps: when an update becomes visible</a:t>
            </a:r>
            <a:endParaRPr/>
          </a:p>
        </p:txBody>
      </p:sp>
      <p:sp>
        <p:nvSpPr>
          <p:cNvPr id="318892880"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Routing selects the next graph node. Scheduling determines when the node runs and which version of the state record it reads.</a:t>
            </a:r>
            <a:endParaRPr/>
          </a:p>
          <a:p>
            <a:pPr marL="400050" indent="-285750">
              <a:spcBef>
                <a:spcPts val="600"/>
              </a:spcBef>
              <a:spcAft>
                <a:spcPts val="600"/>
              </a:spcAft>
              <a:buClr>
                <a:srgbClr val="28285E"/>
              </a:buClr>
              <a:buSzPts val="1260"/>
              <a:buFont typeface="+mn-lt"/>
              <a:buChar char="●"/>
              <a:defRPr/>
            </a:pPr>
            <a:r>
              <a:rPr sz="1400" b="1">
                <a:solidFill>
                  <a:schemeClr val="tx1"/>
                </a:solidFill>
              </a:rPr>
              <a:t>Planning</a:t>
            </a:r>
            <a:r>
              <a:rPr sz="1400" b="0">
                <a:solidFill>
                  <a:schemeClr val="tx1"/>
                </a:solidFill>
              </a:rPr>
              <a:t> selects the nodes to run from the inputs updated in the previous superstep.</a:t>
            </a:r>
            <a:endParaRPr/>
          </a:p>
          <a:p>
            <a:pPr marL="400050" indent="-285750">
              <a:spcBef>
                <a:spcPts val="600"/>
              </a:spcBef>
              <a:spcAft>
                <a:spcPts val="600"/>
              </a:spcAft>
              <a:buClr>
                <a:srgbClr val="28285E"/>
              </a:buClr>
              <a:buSzPts val="1260"/>
              <a:buFont typeface="+mn-lt"/>
              <a:buChar char="●"/>
              <a:defRPr/>
            </a:pPr>
            <a:r>
              <a:rPr sz="1400" b="1">
                <a:solidFill>
                  <a:schemeClr val="tx1"/>
                </a:solidFill>
              </a:rPr>
              <a:t>Execution</a:t>
            </a:r>
            <a:r>
              <a:rPr sz="1400" b="0">
                <a:solidFill>
                  <a:schemeClr val="tx1"/>
                </a:solidFill>
              </a:rPr>
              <a:t> runs the selected nodes. Other nodes cannot read their returned state updates during this phase.</a:t>
            </a:r>
            <a:endParaRPr/>
          </a:p>
          <a:p>
            <a:pPr marL="400050" indent="-285750">
              <a:spcBef>
                <a:spcPts val="600"/>
              </a:spcBef>
              <a:spcAft>
                <a:spcPts val="600"/>
              </a:spcAft>
              <a:buClr>
                <a:srgbClr val="28285E"/>
              </a:buClr>
              <a:buSzPts val="1260"/>
              <a:buFont typeface="+mn-lt"/>
              <a:buChar char="●"/>
              <a:defRPr/>
            </a:pPr>
            <a:r>
              <a:rPr sz="1400" b="1">
                <a:solidFill>
                  <a:schemeClr val="tx1"/>
                </a:solidFill>
              </a:rPr>
              <a:t>Update</a:t>
            </a:r>
            <a:r>
              <a:rPr sz="1400" b="0">
                <a:solidFill>
                  <a:schemeClr val="tx1"/>
                </a:solidFill>
              </a:rPr>
              <a:t> merges the nodes' returned values into the state record using its reducers.</a:t>
            </a:r>
            <a:endParaRPr/>
          </a:p>
        </p:txBody>
      </p:sp>
      <p:sp>
        <p:nvSpPr>
          <p:cNvPr id="683415809"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superstep is one round of planning, execution and update. Nodes read the updated state in the next round.</a:t>
            </a:r>
            <a:endParaRPr/>
          </a:p>
        </p:txBody>
      </p:sp>
      <p:sp>
        <p:nvSpPr>
          <p:cNvPr id="1755594849"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 tool can change a file during execution, before the runtime updates the state record.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6435123" name="Title 1"/>
          <p:cNvSpPr>
            <a:spLocks noGrp="1"/>
          </p:cNvSpPr>
          <p:nvPr>
            <p:ph type="title"/>
          </p:nvPr>
        </p:nvSpPr>
        <p:spPr bwMode="auto"/>
        <p:txBody>
          <a:bodyPr/>
          <a:lstStyle/>
          <a:p>
            <a:pPr>
              <a:defRPr/>
            </a:pPr>
            <a:r>
              <a:rPr/>
              <a:t>Two supersteps in the recorded run</a:t>
            </a:r>
            <a:endParaRPr/>
          </a:p>
        </p:txBody>
      </p:sp>
      <p:sp>
        <p:nvSpPr>
          <p:cNvPr id="2067576475" name="Content Placeholder 2"/>
          <p:cNvSpPr>
            <a:spLocks noGrp="1"/>
          </p:cNvSpPr>
          <p:nvPr>
            <p:ph idx="1"/>
          </p:nvPr>
        </p:nvSpPr>
        <p:spPr bwMode="auto">
          <a:xfrm>
            <a:off x="319251" y="700000"/>
            <a:ext cx="6014545" cy="500000"/>
          </a:xfrm>
        </p:spPr>
        <p:txBody>
          <a:bodyPr wrap="square" anchor="ctr">
            <a:normAutofit fontScale="77500" lnSpcReduction="20000"/>
          </a:bodyPr>
          <a:lstStyle/>
          <a:p>
            <a:pPr marL="0" indent="0">
              <a:buNone/>
              <a:defRPr/>
            </a:pPr>
            <a:r>
              <a:rPr sz="1400" b="1">
                <a:solidFill>
                  <a:srgbClr val="28285E"/>
                </a:solidFill>
              </a:rPr>
              <a:t>The controller's superstep contains events 3 and 4. The next superstep runs tools and contains events 5 and 6.</a:t>
            </a:r>
            <a:endParaRPr/>
          </a:p>
        </p:txBody>
      </p:sp>
      <p:sp>
        <p:nvSpPr>
          <p:cNvPr id="744335626"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0">
                <a:solidFill>
                  <a:srgbClr val="28285E"/>
                </a:solidFill>
                <a:latin typeface="Aptos Mono"/>
              </a:rPr>
              <a:t>bc284c6b</a:t>
            </a:r>
            <a:r>
              <a:rPr sz="1200" b="1">
                <a:solidFill>
                  <a:srgbClr val="28285E"/>
                </a:solidFill>
              </a:rPr>
              <a:t>, events 3 to 6. Timestamp, run identifier and thinking omitted.</a:t>
            </a:r>
            <a:endParaRPr/>
          </a:p>
        </p:txBody>
      </p:sp>
      <p:sp>
        <p:nvSpPr>
          <p:cNvPr id="690698977" name="CodeWindow"/>
          <p:cNvSpPr/>
          <p:nvPr/>
        </p:nvSpPr>
        <p:spPr bwMode="auto">
          <a:xfrm>
            <a:off x="319251" y="1650000"/>
            <a:ext cx="6014545" cy="1927272"/>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37623979"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34842725"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4999015"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09258922" name="WinText"/>
          <p:cNvSpPr txBox="1"/>
          <p:nvPr/>
        </p:nvSpPr>
        <p:spPr bwMode="auto">
          <a:xfrm>
            <a:off x="469251" y="1980000"/>
            <a:ext cx="5714545" cy="1527272"/>
          </a:xfrm>
          <a:prstGeom prst="rect">
            <a:avLst/>
          </a:prstGeom>
          <a:noFill/>
        </p:spPr>
        <p:txBody>
          <a:bodyPr wrap="none" lIns="0" tIns="0" rIns="0" bIns="0" anchor="t">
            <a:spAutoFit/>
          </a:bodyPr>
          <a:lstStyle/>
          <a:p>
            <a:pPr algn="l">
              <a:buNone/>
              <a:defRPr/>
            </a:pPr>
            <a:r>
              <a:rPr sz="1000" b="0">
                <a:solidFill>
                  <a:schemeClr val="bg1"/>
                </a:solidFill>
                <a:latin typeface="Aptos Mono"/>
              </a:rPr>
              <a:t>{</a:t>
            </a:r>
            <a:r>
              <a:rPr sz="1000" b="0">
                <a:solidFill>
                  <a:schemeClr val="accent2"/>
                </a:solidFill>
                <a:latin typeface="Aptos Mono"/>
              </a:rPr>
              <a:t>"step"</a:t>
            </a:r>
            <a:r>
              <a:rPr sz="1000" b="0">
                <a:solidFill>
                  <a:schemeClr val="bg1"/>
                </a:solidFill>
                <a:latin typeface="Aptos Mono"/>
              </a:rPr>
              <a:t>: </a:t>
            </a:r>
            <a:r>
              <a:rPr sz="1000" b="0">
                <a:solidFill>
                  <a:schemeClr val="accent5">
                    <a:lumMod val="45000"/>
                    <a:lumOff val="55000"/>
                  </a:schemeClr>
                </a:solidFill>
                <a:latin typeface="Aptos Mono"/>
              </a:rPr>
              <a:t>3</a:t>
            </a:r>
            <a:r>
              <a:rPr sz="1000" b="0">
                <a:solidFill>
                  <a:schemeClr val="bg1"/>
                </a:solidFill>
                <a:latin typeface="Aptos Mono"/>
              </a:rPr>
              <a:t>, </a:t>
            </a:r>
            <a:r>
              <a:rPr sz="1000" b="0">
                <a:solidFill>
                  <a:schemeClr val="accent2"/>
                </a:solidFill>
                <a:latin typeface="Aptos Mono"/>
              </a:rPr>
              <a:t>"kind"</a:t>
            </a:r>
            <a:r>
              <a:rPr sz="1000" b="0">
                <a:solidFill>
                  <a:schemeClr val="bg1"/>
                </a:solidFill>
                <a:latin typeface="Aptos Mono"/>
              </a:rPr>
              <a:t>: </a:t>
            </a:r>
            <a:r>
              <a:rPr sz="1000" b="0">
                <a:solidFill>
                  <a:schemeClr val="accent3">
                    <a:lumMod val="55000"/>
                    <a:lumOff val="45000"/>
                  </a:schemeClr>
                </a:solidFill>
                <a:latin typeface="Aptos Mono"/>
              </a:rPr>
              <a:t>"model_call"</a:t>
            </a:r>
            <a:r>
              <a:rPr sz="1000" b="0">
                <a:solidFill>
                  <a:schemeClr val="bg1"/>
                </a:solidFill>
                <a:latin typeface="Aptos Mono"/>
              </a:rPr>
              <a:t>, </a:t>
            </a:r>
            <a:r>
              <a:rPr sz="1000" b="0">
                <a:solidFill>
                  <a:schemeClr val="accent2"/>
                </a:solidFill>
                <a:latin typeface="Aptos Mono"/>
              </a:rPr>
              <a:t>"role"</a:t>
            </a:r>
            <a:r>
              <a:rPr sz="1000" b="0">
                <a:solidFill>
                  <a:schemeClr val="bg1"/>
                </a:solidFill>
                <a:latin typeface="Aptos Mono"/>
              </a:rPr>
              <a:t>: </a:t>
            </a:r>
            <a:r>
              <a:rPr sz="1000" b="0">
                <a:solidFill>
                  <a:schemeClr val="accent3">
                    <a:lumMod val="55000"/>
                    <a:lumOff val="45000"/>
                  </a:schemeClr>
                </a:solidFill>
                <a:latin typeface="Aptos Mono"/>
              </a:rPr>
              <a:t>"controller"</a:t>
            </a:r>
            <a:r>
              <a:rPr sz="1000" b="0">
                <a:solidFill>
                  <a:schemeClr val="bg1"/>
                </a:solidFill>
                <a:latin typeface="Aptos Mono"/>
              </a:rPr>
              <a:t>,</a:t>
            </a:r>
            <a:endParaRPr/>
          </a:p>
          <a:p>
            <a:pPr algn="l">
              <a:buNone/>
              <a:defRPr/>
            </a:pPr>
            <a:r>
              <a:rPr sz="1000" b="0">
                <a:solidFill>
                  <a:schemeClr val="bg1"/>
                </a:solidFill>
                <a:latin typeface="Aptos Mono"/>
              </a:rPr>
              <a:t>  </a:t>
            </a:r>
            <a:r>
              <a:rPr sz="1000" b="0">
                <a:solidFill>
                  <a:schemeClr val="accent2"/>
                </a:solidFill>
                <a:latin typeface="Aptos Mono"/>
              </a:rPr>
              <a:t>"tool_calls"</a:t>
            </a:r>
            <a:r>
              <a:rPr sz="1000" b="0">
                <a:solidFill>
                  <a:schemeClr val="bg1"/>
                </a:solidFill>
                <a:latin typeface="Aptos Mono"/>
              </a:rPr>
              <a:t>: [</a:t>
            </a:r>
            <a:r>
              <a:rPr sz="1000" b="0">
                <a:solidFill>
                  <a:schemeClr val="accent3">
                    <a:lumMod val="55000"/>
                    <a:lumOff val="45000"/>
                  </a:schemeClr>
                </a:solidFill>
                <a:latin typeface="Aptos Mono"/>
              </a:rPr>
              <a:t>"read_file"</a:t>
            </a:r>
            <a:r>
              <a:rPr sz="1000" b="0">
                <a:solidFill>
                  <a:schemeClr val="bg1"/>
                </a:solidFill>
                <a:latin typeface="Aptos Mono"/>
              </a:rPr>
              <a:t>], </a:t>
            </a:r>
            <a:r>
              <a:rPr sz="1000" b="0">
                <a:solidFill>
                  <a:schemeClr val="accent2"/>
                </a:solidFill>
                <a:latin typeface="Aptos Mono"/>
              </a:rPr>
              <a:t>"usage"</a:t>
            </a:r>
            <a:r>
              <a:rPr sz="1000" b="0">
                <a:solidFill>
                  <a:schemeClr val="bg1"/>
                </a:solidFill>
                <a:latin typeface="Aptos Mono"/>
              </a:rPr>
              <a:t>: {</a:t>
            </a:r>
            <a:r>
              <a:rPr sz="1000" b="0">
                <a:solidFill>
                  <a:schemeClr val="accent2"/>
                </a:solidFill>
                <a:latin typeface="Aptos Mono"/>
              </a:rPr>
              <a:t>"input"</a:t>
            </a:r>
            <a:r>
              <a:rPr sz="1000" b="0">
                <a:solidFill>
                  <a:schemeClr val="bg1"/>
                </a:solidFill>
                <a:latin typeface="Aptos Mono"/>
              </a:rPr>
              <a:t>: </a:t>
            </a:r>
            <a:r>
              <a:rPr sz="1000" b="0">
                <a:solidFill>
                  <a:schemeClr val="accent5">
                    <a:lumMod val="45000"/>
                    <a:lumOff val="55000"/>
                  </a:schemeClr>
                </a:solidFill>
                <a:latin typeface="Aptos Mono"/>
              </a:rPr>
              <a:t>1284</a:t>
            </a:r>
            <a:r>
              <a:rPr sz="1000" b="0">
                <a:solidFill>
                  <a:schemeClr val="bg1"/>
                </a:solidFill>
                <a:latin typeface="Aptos Mono"/>
              </a:rPr>
              <a:t>, </a:t>
            </a:r>
            <a:r>
              <a:rPr sz="1000" b="0">
                <a:solidFill>
                  <a:schemeClr val="accent2"/>
                </a:solidFill>
                <a:latin typeface="Aptos Mono"/>
              </a:rPr>
              <a:t>"output"</a:t>
            </a:r>
            <a:r>
              <a:rPr sz="1000" b="0">
                <a:solidFill>
                  <a:schemeClr val="bg1"/>
                </a:solidFill>
                <a:latin typeface="Aptos Mono"/>
              </a:rPr>
              <a:t>: </a:t>
            </a:r>
            <a:r>
              <a:rPr sz="1000" b="0">
                <a:solidFill>
                  <a:schemeClr val="accent5">
                    <a:lumMod val="45000"/>
                    <a:lumOff val="55000"/>
                  </a:schemeClr>
                </a:solidFill>
                <a:latin typeface="Aptos Mono"/>
              </a:rPr>
              <a:t>51</a:t>
            </a:r>
            <a:r>
              <a:rPr sz="1000" b="0">
                <a:solidFill>
                  <a:schemeClr val="bg1"/>
                </a:solidFill>
                <a:latin typeface="Aptos Mono"/>
              </a:rPr>
              <a:t>}}</a:t>
            </a:r>
            <a:endParaRPr/>
          </a:p>
          <a:p>
            <a:pPr algn="l">
              <a:buNone/>
              <a:defRPr/>
            </a:pPr>
            <a:r>
              <a:rPr sz="1000" b="0">
                <a:solidFill>
                  <a:schemeClr val="bg1"/>
                </a:solidFill>
                <a:latin typeface="Aptos Mono"/>
              </a:rPr>
              <a:t>{</a:t>
            </a:r>
            <a:r>
              <a:rPr sz="1000" b="0">
                <a:solidFill>
                  <a:schemeClr val="accent2"/>
                </a:solidFill>
                <a:latin typeface="Aptos Mono"/>
              </a:rPr>
              <a:t>"step"</a:t>
            </a:r>
            <a:r>
              <a:rPr sz="1000" b="0">
                <a:solidFill>
                  <a:schemeClr val="bg1"/>
                </a:solidFill>
                <a:latin typeface="Aptos Mono"/>
              </a:rPr>
              <a:t>: </a:t>
            </a:r>
            <a:r>
              <a:rPr sz="1000" b="0">
                <a:solidFill>
                  <a:schemeClr val="accent5">
                    <a:lumMod val="45000"/>
                    <a:lumOff val="55000"/>
                  </a:schemeClr>
                </a:solidFill>
                <a:latin typeface="Aptos Mono"/>
              </a:rPr>
              <a:t>4</a:t>
            </a:r>
            <a:r>
              <a:rPr sz="1000" b="0">
                <a:solidFill>
                  <a:schemeClr val="bg1"/>
                </a:solidFill>
                <a:latin typeface="Aptos Mono"/>
              </a:rPr>
              <a:t>, </a:t>
            </a:r>
            <a:r>
              <a:rPr sz="1000" b="0">
                <a:solidFill>
                  <a:schemeClr val="accent2"/>
                </a:solidFill>
                <a:latin typeface="Aptos Mono"/>
              </a:rPr>
              <a:t>"kind"</a:t>
            </a:r>
            <a:r>
              <a:rPr sz="1000" b="0">
                <a:solidFill>
                  <a:schemeClr val="bg1"/>
                </a:solidFill>
                <a:latin typeface="Aptos Mono"/>
              </a:rPr>
              <a:t>: </a:t>
            </a:r>
            <a:r>
              <a:rPr sz="1000" b="0">
                <a:solidFill>
                  <a:schemeClr val="accent3">
                    <a:lumMod val="55000"/>
                    <a:lumOff val="45000"/>
                  </a:schemeClr>
                </a:solidFill>
                <a:latin typeface="Aptos Mono"/>
              </a:rPr>
              <a:t>"routing"</a:t>
            </a:r>
            <a:r>
              <a:rPr sz="1000" b="0">
                <a:solidFill>
                  <a:schemeClr val="bg1"/>
                </a:solidFill>
                <a:latin typeface="Aptos Mono"/>
              </a:rPr>
              <a:t>, </a:t>
            </a:r>
            <a:r>
              <a:rPr sz="1000" b="0">
                <a:solidFill>
                  <a:schemeClr val="accent2"/>
                </a:solidFill>
                <a:latin typeface="Aptos Mono"/>
              </a:rPr>
              <a:t>"decision"</a:t>
            </a:r>
            <a:r>
              <a:rPr sz="1000" b="0">
                <a:solidFill>
                  <a:schemeClr val="bg1"/>
                </a:solidFill>
                <a:latin typeface="Aptos Mono"/>
              </a:rPr>
              <a:t>: </a:t>
            </a:r>
            <a:r>
              <a:rPr sz="1000" b="0">
                <a:solidFill>
                  <a:schemeClr val="accent3">
                    <a:lumMod val="55000"/>
                    <a:lumOff val="45000"/>
                  </a:schemeClr>
                </a:solidFill>
                <a:latin typeface="Aptos Mono"/>
              </a:rPr>
              <a:t>"tools"</a:t>
            </a:r>
            <a:r>
              <a:rPr sz="1000" b="0">
                <a:solidFill>
                  <a:schemeClr val="bg1"/>
                </a:solidFill>
                <a:latin typeface="Aptos Mono"/>
              </a:rPr>
              <a:t>, </a:t>
            </a:r>
            <a:r>
              <a:rPr sz="1000" b="0">
                <a:solidFill>
                  <a:schemeClr val="accent2"/>
                </a:solidFill>
                <a:latin typeface="Aptos Mono"/>
              </a:rPr>
              <a:t>"by"</a:t>
            </a:r>
            <a:r>
              <a:rPr sz="1000" b="0">
                <a:solidFill>
                  <a:schemeClr val="bg1"/>
                </a:solidFill>
                <a:latin typeface="Aptos Mono"/>
              </a:rPr>
              <a:t>: </a:t>
            </a:r>
            <a:r>
              <a:rPr sz="1000" b="0">
                <a:solidFill>
                  <a:schemeClr val="accent3">
                    <a:lumMod val="55000"/>
                    <a:lumOff val="45000"/>
                  </a:schemeClr>
                </a:solidFill>
                <a:latin typeface="Aptos Mono"/>
              </a:rPr>
              <a:t>"model"</a:t>
            </a:r>
            <a:r>
              <a:rPr sz="1000" b="0">
                <a:solidFill>
                  <a:schemeClr val="bg1"/>
                </a:solidFill>
                <a:latin typeface="Aptos Mono"/>
              </a:rPr>
              <a:t>}</a:t>
            </a:r>
            <a:endParaRPr/>
          </a:p>
          <a:p>
            <a:pPr algn="l">
              <a:buNone/>
              <a:defRPr/>
            </a:pPr>
            <a:r>
              <a:rPr sz="1000" b="0">
                <a:solidFill>
                  <a:schemeClr val="accent6"/>
                </a:solidFill>
                <a:latin typeface="Aptos Mono"/>
              </a:rPr>
              <a:t># ours: the next superstep starts here</a:t>
            </a:r>
            <a:endParaRPr/>
          </a:p>
          <a:p>
            <a:pPr algn="l">
              <a:buNone/>
              <a:defRPr/>
            </a:pPr>
            <a:r>
              <a:rPr sz="1000" b="0">
                <a:solidFill>
                  <a:schemeClr val="bg1"/>
                </a:solidFill>
                <a:latin typeface="Aptos Mono"/>
              </a:rPr>
              <a:t>{</a:t>
            </a:r>
            <a:r>
              <a:rPr sz="1000" b="0">
                <a:solidFill>
                  <a:schemeClr val="accent2"/>
                </a:solidFill>
                <a:latin typeface="Aptos Mono"/>
              </a:rPr>
              <a:t>"step"</a:t>
            </a:r>
            <a:r>
              <a:rPr sz="1000" b="0">
                <a:solidFill>
                  <a:schemeClr val="bg1"/>
                </a:solidFill>
                <a:latin typeface="Aptos Mono"/>
              </a:rPr>
              <a:t>: </a:t>
            </a:r>
            <a:r>
              <a:rPr sz="1000" b="0">
                <a:solidFill>
                  <a:schemeClr val="accent5">
                    <a:lumMod val="45000"/>
                    <a:lumOff val="55000"/>
                  </a:schemeClr>
                </a:solidFill>
                <a:latin typeface="Aptos Mono"/>
              </a:rPr>
              <a:t>5</a:t>
            </a:r>
            <a:r>
              <a:rPr sz="1000" b="0">
                <a:solidFill>
                  <a:schemeClr val="bg1"/>
                </a:solidFill>
                <a:latin typeface="Aptos Mono"/>
              </a:rPr>
              <a:t>, </a:t>
            </a:r>
            <a:r>
              <a:rPr sz="1000" b="0">
                <a:solidFill>
                  <a:schemeClr val="accent2"/>
                </a:solidFill>
                <a:latin typeface="Aptos Mono"/>
              </a:rPr>
              <a:t>"kind"</a:t>
            </a:r>
            <a:r>
              <a:rPr sz="1000" b="0">
                <a:solidFill>
                  <a:schemeClr val="bg1"/>
                </a:solidFill>
                <a:latin typeface="Aptos Mono"/>
              </a:rPr>
              <a:t>: </a:t>
            </a:r>
            <a:r>
              <a:rPr sz="1000" b="0">
                <a:solidFill>
                  <a:schemeClr val="accent3">
                    <a:lumMod val="55000"/>
                    <a:lumOff val="45000"/>
                  </a:schemeClr>
                </a:solidFill>
                <a:latin typeface="Aptos Mono"/>
              </a:rPr>
              <a:t>"tool_request"</a:t>
            </a:r>
            <a:r>
              <a:rPr sz="1000" b="0">
                <a:solidFill>
                  <a:schemeClr val="bg1"/>
                </a:solidFill>
                <a:latin typeface="Aptos Mono"/>
              </a:rPr>
              <a:t>, </a:t>
            </a:r>
            <a:r>
              <a:rPr sz="1000" b="0">
                <a:solidFill>
                  <a:schemeClr val="accent2"/>
                </a:solidFill>
                <a:latin typeface="Aptos Mono"/>
              </a:rPr>
              <a:t>"tool"</a:t>
            </a:r>
            <a:r>
              <a:rPr sz="1000" b="0">
                <a:solidFill>
                  <a:schemeClr val="bg1"/>
                </a:solidFill>
                <a:latin typeface="Aptos Mono"/>
              </a:rPr>
              <a:t>: </a:t>
            </a:r>
            <a:r>
              <a:rPr sz="1000" b="0">
                <a:solidFill>
                  <a:schemeClr val="accent3">
                    <a:lumMod val="55000"/>
                    <a:lumOff val="45000"/>
                  </a:schemeClr>
                </a:solidFill>
                <a:latin typeface="Aptos Mono"/>
              </a:rPr>
              <a:t>"read_file"</a:t>
            </a:r>
            <a:r>
              <a:rPr sz="1000" b="0">
                <a:solidFill>
                  <a:schemeClr val="bg1"/>
                </a:solidFill>
                <a:latin typeface="Aptos Mono"/>
              </a:rPr>
              <a:t>,</a:t>
            </a:r>
            <a:endParaRPr/>
          </a:p>
          <a:p>
            <a:pPr algn="l">
              <a:buNone/>
              <a:defRPr/>
            </a:pPr>
            <a:r>
              <a:rPr sz="1000" b="0">
                <a:solidFill>
                  <a:schemeClr val="bg1"/>
                </a:solidFill>
                <a:latin typeface="Aptos Mono"/>
              </a:rPr>
              <a:t>  </a:t>
            </a:r>
            <a:r>
              <a:rPr sz="1000" b="0">
                <a:solidFill>
                  <a:schemeClr val="accent2"/>
                </a:solidFill>
                <a:latin typeface="Aptos Mono"/>
              </a:rPr>
              <a:t>"args"</a:t>
            </a:r>
            <a:r>
              <a:rPr sz="1000" b="0">
                <a:solidFill>
                  <a:schemeClr val="bg1"/>
                </a:solidFill>
                <a:latin typeface="Aptos Mono"/>
              </a:rPr>
              <a:t>: {</a:t>
            </a:r>
            <a:r>
              <a:rPr sz="1000" b="0">
                <a:solidFill>
                  <a:schemeClr val="accent2"/>
                </a:solidFill>
                <a:latin typeface="Aptos Mono"/>
              </a:rPr>
              <a:t>"path"</a:t>
            </a:r>
            <a:r>
              <a:rPr sz="1000" b="0">
                <a:solidFill>
                  <a:schemeClr val="bg1"/>
                </a:solidFill>
                <a:latin typeface="Aptos Mono"/>
              </a:rPr>
              <a:t>: </a:t>
            </a:r>
            <a:r>
              <a:rPr sz="1000" b="0">
                <a:solidFill>
                  <a:schemeClr val="accent3">
                    <a:lumMod val="55000"/>
                    <a:lumOff val="45000"/>
                  </a:schemeClr>
                </a:solidFill>
                <a:latin typeface="Aptos Mono"/>
              </a:rPr>
              <a:t>"testcode/BenchmarkTest00283.py"</a:t>
            </a:r>
            <a:r>
              <a:rPr sz="1000" b="0">
                <a:solidFill>
                  <a:schemeClr val="bg1"/>
                </a:solidFill>
                <a:latin typeface="Aptos Mono"/>
              </a:rPr>
              <a:t>}}</a:t>
            </a:r>
            <a:endParaRPr/>
          </a:p>
          <a:p>
            <a:pPr algn="l">
              <a:buNone/>
              <a:defRPr/>
            </a:pPr>
            <a:r>
              <a:rPr sz="1000" b="0">
                <a:solidFill>
                  <a:schemeClr val="bg1"/>
                </a:solidFill>
                <a:latin typeface="Aptos Mono"/>
              </a:rPr>
              <a:t>{</a:t>
            </a:r>
            <a:r>
              <a:rPr sz="1000" b="0">
                <a:solidFill>
                  <a:schemeClr val="accent2"/>
                </a:solidFill>
                <a:latin typeface="Aptos Mono"/>
              </a:rPr>
              <a:t>"step"</a:t>
            </a:r>
            <a:r>
              <a:rPr sz="1000" b="0">
                <a:solidFill>
                  <a:schemeClr val="bg1"/>
                </a:solidFill>
                <a:latin typeface="Aptos Mono"/>
              </a:rPr>
              <a:t>: </a:t>
            </a:r>
            <a:r>
              <a:rPr sz="1000" b="0">
                <a:solidFill>
                  <a:schemeClr val="accent5">
                    <a:lumMod val="45000"/>
                    <a:lumOff val="55000"/>
                  </a:schemeClr>
                </a:solidFill>
                <a:latin typeface="Aptos Mono"/>
              </a:rPr>
              <a:t>6</a:t>
            </a:r>
            <a:r>
              <a:rPr sz="1000" b="0">
                <a:solidFill>
                  <a:schemeClr val="bg1"/>
                </a:solidFill>
                <a:latin typeface="Aptos Mono"/>
              </a:rPr>
              <a:t>, </a:t>
            </a:r>
            <a:r>
              <a:rPr sz="1000" b="0">
                <a:solidFill>
                  <a:schemeClr val="accent2"/>
                </a:solidFill>
                <a:latin typeface="Aptos Mono"/>
              </a:rPr>
              <a:t>"kind"</a:t>
            </a:r>
            <a:r>
              <a:rPr sz="1000" b="0">
                <a:solidFill>
                  <a:schemeClr val="bg1"/>
                </a:solidFill>
                <a:latin typeface="Aptos Mono"/>
              </a:rPr>
              <a:t>: </a:t>
            </a:r>
            <a:r>
              <a:rPr sz="1000" b="0">
                <a:solidFill>
                  <a:schemeClr val="accent3">
                    <a:lumMod val="55000"/>
                    <a:lumOff val="45000"/>
                  </a:schemeClr>
                </a:solidFill>
                <a:latin typeface="Aptos Mono"/>
              </a:rPr>
              <a:t>"tool_result"</a:t>
            </a:r>
            <a:r>
              <a:rPr sz="1000" b="0">
                <a:solidFill>
                  <a:schemeClr val="bg1"/>
                </a:solidFill>
                <a:latin typeface="Aptos Mono"/>
              </a:rPr>
              <a:t>, </a:t>
            </a:r>
            <a:r>
              <a:rPr sz="1000" b="0">
                <a:solidFill>
                  <a:schemeClr val="accent2"/>
                </a:solidFill>
                <a:latin typeface="Aptos Mono"/>
              </a:rPr>
              <a:t>"tool"</a:t>
            </a:r>
            <a:r>
              <a:rPr sz="1000" b="0">
                <a:solidFill>
                  <a:schemeClr val="bg1"/>
                </a:solidFill>
                <a:latin typeface="Aptos Mono"/>
              </a:rPr>
              <a:t>: </a:t>
            </a:r>
            <a:r>
              <a:rPr sz="1000" b="0">
                <a:solidFill>
                  <a:schemeClr val="accent3">
                    <a:lumMod val="55000"/>
                    <a:lumOff val="45000"/>
                  </a:schemeClr>
                </a:solidFill>
                <a:latin typeface="Aptos Mono"/>
              </a:rPr>
              <a:t>"read_file"</a:t>
            </a:r>
            <a:r>
              <a:rPr sz="1000" b="0">
                <a:solidFill>
                  <a:schemeClr val="bg1"/>
                </a:solidFill>
                <a:latin typeface="Aptos Mono"/>
              </a:rPr>
              <a:t>,</a:t>
            </a:r>
            <a:endParaRPr/>
          </a:p>
          <a:p>
            <a:pPr algn="l">
              <a:buNone/>
              <a:defRPr/>
            </a:pPr>
            <a:r>
              <a:rPr sz="1000" b="0">
                <a:solidFill>
                  <a:schemeClr val="bg1"/>
                </a:solidFill>
                <a:latin typeface="Aptos Mono"/>
              </a:rPr>
              <a:t>  </a:t>
            </a:r>
            <a:r>
              <a:rPr sz="1000" b="0">
                <a:solidFill>
                  <a:schemeClr val="accent2"/>
                </a:solidFill>
                <a:latin typeface="Aptos Mono"/>
              </a:rPr>
              <a:t>"ok"</a:t>
            </a:r>
            <a:r>
              <a:rPr sz="1000" b="0">
                <a:solidFill>
                  <a:schemeClr val="bg1"/>
                </a:solidFill>
                <a:latin typeface="Aptos Mono"/>
              </a:rPr>
              <a:t>: </a:t>
            </a:r>
            <a:r>
              <a:rPr sz="1000" b="0">
                <a:solidFill>
                  <a:schemeClr val="accent5">
                    <a:lumMod val="45000"/>
                    <a:lumOff val="55000"/>
                  </a:schemeClr>
                </a:solidFill>
                <a:latin typeface="Aptos Mono"/>
              </a:rPr>
              <a:t>true</a:t>
            </a:r>
            <a:r>
              <a:rPr sz="1000" b="0">
                <a:solidFill>
                  <a:schemeClr val="bg1"/>
                </a:solidFill>
                <a:latin typeface="Aptos Mono"/>
              </a:rPr>
              <a:t>, </a:t>
            </a:r>
            <a:r>
              <a:rPr sz="1000" b="0">
                <a:solidFill>
                  <a:schemeClr val="accent2"/>
                </a:solidFill>
                <a:latin typeface="Aptos Mono"/>
              </a:rPr>
              <a:t>"chars"</a:t>
            </a:r>
            <a:r>
              <a:rPr sz="1000" b="0">
                <a:solidFill>
                  <a:schemeClr val="bg1"/>
                </a:solidFill>
                <a:latin typeface="Aptos Mono"/>
              </a:rPr>
              <a:t>: </a:t>
            </a:r>
            <a:r>
              <a:rPr sz="1000" b="0">
                <a:solidFill>
                  <a:schemeClr val="accent5">
                    <a:lumMod val="45000"/>
                    <a:lumOff val="55000"/>
                  </a:schemeClr>
                </a:solidFill>
                <a:latin typeface="Aptos Mono"/>
              </a:rPr>
              <a:t>1665</a:t>
            </a:r>
            <a:r>
              <a:rPr sz="1000" b="0">
                <a:solidFill>
                  <a:schemeClr val="bg1"/>
                </a:solidFill>
                <a:latin typeface="Aptos Mono"/>
              </a:rPr>
              <a:t>}</a:t>
            </a:r>
            <a:endParaRPr/>
          </a:p>
        </p:txBody>
      </p:sp>
      <p:sp>
        <p:nvSpPr>
          <p:cNvPr id="1950950695" name="Rectangle 9"/>
          <p:cNvSpPr/>
          <p:nvPr/>
        </p:nvSpPr>
        <p:spPr bwMode="auto">
          <a:xfrm>
            <a:off x="319251" y="3767272"/>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dispatcher logs both tool events while the tools node runs. After the node returns, the runtime stores the observation in state.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8632440" name="Title 1"/>
          <p:cNvSpPr>
            <a:spLocks noGrp="1"/>
          </p:cNvSpPr>
          <p:nvPr>
            <p:ph type="title"/>
          </p:nvPr>
        </p:nvSpPr>
        <p:spPr bwMode="auto"/>
        <p:txBody>
          <a:bodyPr/>
          <a:lstStyle/>
          <a:p>
            <a:pPr>
              <a:defRPr/>
            </a:pPr>
            <a:r>
              <a:rPr/>
              <a:t>The five parts of a tool contract</a:t>
            </a:r>
            <a:endParaRPr/>
          </a:p>
        </p:txBody>
      </p:sp>
      <p:sp>
        <p:nvSpPr>
          <p:cNvPr id="1239477272"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description alone</a:t>
            </a:r>
            <a:r>
              <a:rPr sz="1400" b="0">
                <a:solidFill>
                  <a:schemeClr val="tx1"/>
                </a:solidFill>
              </a:rPr>
              <a:t> does not enforce the tool's constraints.</a:t>
            </a:r>
            <a:endParaRPr/>
          </a:p>
        </p:txBody>
      </p:sp>
      <p:sp>
        <p:nvSpPr>
          <p:cNvPr id="1681639157"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tool contract specifies what a tool does, its accepted arguments, its results and errors, its side effects, and its execution constraints.</a:t>
            </a:r>
            <a:endParaRPr/>
          </a:p>
        </p:txBody>
      </p:sp>
      <p:sp>
        <p:nvSpPr>
          <p:cNvPr id="740961488"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Checks in the implementation and dispatcher enforce the tool's execution constraints.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06334968" name="Title 1"/>
          <p:cNvSpPr>
            <a:spLocks noGrp="1"/>
          </p:cNvSpPr>
          <p:nvPr>
            <p:ph type="title"/>
          </p:nvPr>
        </p:nvSpPr>
        <p:spPr bwMode="auto"/>
        <p:txBody>
          <a:bodyPr/>
          <a:lstStyle/>
          <a:p>
            <a:pPr>
              <a:defRPr/>
            </a:pPr>
            <a:r>
              <a:rPr/>
              <a:t>Tool preconditions and postconditions</a:t>
            </a:r>
            <a:endParaRPr/>
          </a:p>
        </p:txBody>
      </p:sp>
      <p:sp>
        <p:nvSpPr>
          <p:cNvPr id="1105082757"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A method specification states what the caller must provide and what the implementation must guarantee.</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precondition</a:t>
            </a:r>
            <a:r>
              <a:rPr sz="1400" b="0">
                <a:solidFill>
                  <a:schemeClr val="tx1"/>
                </a:solidFill>
              </a:rPr>
              <a:t> states what must be true before a call, such as its path resolving inside the workspace.</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postcondition</a:t>
            </a:r>
            <a:r>
              <a:rPr sz="1400" b="0">
                <a:solidFill>
                  <a:schemeClr val="tx1"/>
                </a:solidFill>
              </a:rPr>
              <a:t> states what the call guarantees if the precondition holds, including results, errors and side effects.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contract</a:t>
            </a:r>
            <a:r>
              <a:rPr sz="1400" b="0">
                <a:solidFill>
                  <a:schemeClr val="tx1"/>
                </a:solidFill>
              </a:rPr>
              <a:t> also specifies which invalid requests the runtime detects and how it refuses them without side effects.</a:t>
            </a:r>
            <a:endParaRPr/>
          </a:p>
        </p:txBody>
      </p:sp>
      <p:sp>
        <p:nvSpPr>
          <p:cNvPr id="219800813"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caller must satisfy the precondition. The implementer must ensure the postcondition whenever the precondition holds.</a:t>
            </a:r>
            <a:endParaRPr/>
          </a:p>
        </p:txBody>
      </p:sp>
      <p:sp>
        <p:nvSpPr>
          <p:cNvPr id="2034006150"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tool contract must also define what happens when a request violates a precondition.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39112226" name="Title 1"/>
          <p:cNvSpPr>
            <a:spLocks noGrp="1"/>
          </p:cNvSpPr>
          <p:nvPr>
            <p:ph type="title"/>
          </p:nvPr>
        </p:nvSpPr>
        <p:spPr bwMode="auto"/>
        <p:txBody>
          <a:bodyPr/>
          <a:lstStyle/>
          <a:p>
            <a:pPr>
              <a:defRPr/>
            </a:pPr>
            <a:r>
              <a:rPr/>
              <a:t>Arguments supplied by the dispatcher</a:t>
            </a:r>
            <a:endParaRPr/>
          </a:p>
        </p:txBody>
      </p:sp>
      <p:sp>
        <p:nvSpPr>
          <p:cNvPr id="1075447408" name="Content Placeholder 2"/>
          <p:cNvSpPr>
            <a:spLocks noGrp="1"/>
          </p:cNvSpPr>
          <p:nvPr>
            <p:ph idx="1"/>
          </p:nvPr>
        </p:nvSpPr>
        <p:spPr bwMode="auto">
          <a:xfrm>
            <a:off x="319251" y="700000"/>
            <a:ext cx="6014545" cy="731648"/>
          </a:xfrm>
        </p:spPr>
        <p:txBody>
          <a:bodyPr wrap="square" anchor="ctr">
            <a:normAutofit fontScale="70000" lnSpcReduction="20000"/>
          </a:bodyPr>
          <a:lstStyle/>
          <a:p>
            <a:pPr marL="0" indent="0">
              <a:buNone/>
              <a:defRPr/>
            </a:pPr>
            <a:r>
              <a:rPr sz="1400" b="1">
                <a:solidFill>
                  <a:srgbClr val="28285E"/>
                </a:solidFill>
              </a:rPr>
              <a:t>The dispatcher binds arguments to parameters: it supplies the workspace root and matches the model's arguments to the remaining parameters.</a:t>
            </a:r>
            <a:endParaRPr/>
          </a:p>
        </p:txBody>
      </p:sp>
      <p:sp>
        <p:nvSpPr>
          <p:cNvPr id="346566732" name="TextBox 3"/>
          <p:cNvSpPr txBox="1"/>
          <p:nvPr/>
        </p:nvSpPr>
        <p:spPr bwMode="auto">
          <a:xfrm>
            <a:off x="319251" y="1621648"/>
            <a:ext cx="6014545" cy="200000"/>
          </a:xfrm>
          <a:prstGeom prst="rect">
            <a:avLst/>
          </a:prstGeom>
          <a:noFill/>
        </p:spPr>
        <p:txBody>
          <a:bodyPr wrap="none" lIns="0" tIns="0" rIns="0" bIns="0">
            <a:spAutoFit/>
          </a:bodyPr>
          <a:lstStyle/>
          <a:p>
            <a:pPr>
              <a:defRPr/>
            </a:pPr>
            <a:r>
              <a:rPr sz="1200" b="1">
                <a:solidFill>
                  <a:srgbClr val="28285E"/>
                </a:solidFill>
              </a:rPr>
              <a:t>tools.py, </a:t>
            </a:r>
            <a:r>
              <a:rPr sz="1200" b="0">
                <a:solidFill>
                  <a:srgbClr val="28285E"/>
                </a:solidFill>
                <a:latin typeface="Aptos Mono"/>
              </a:rPr>
              <a:t>read_file</a:t>
            </a:r>
            <a:r>
              <a:rPr sz="1200" b="1">
                <a:solidFill>
                  <a:srgbClr val="28285E"/>
                </a:solidFill>
              </a:rPr>
              <a:t>, lines 28 to 29. dispatch.py, line 143.</a:t>
            </a:r>
            <a:endParaRPr/>
          </a:p>
        </p:txBody>
      </p:sp>
      <p:sp>
        <p:nvSpPr>
          <p:cNvPr id="349743821" name="CodeWindow"/>
          <p:cNvSpPr/>
          <p:nvPr/>
        </p:nvSpPr>
        <p:spPr bwMode="auto">
          <a:xfrm>
            <a:off x="319251" y="1881648"/>
            <a:ext cx="6014545" cy="145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5848981" name="WinDot 0"/>
          <p:cNvSpPr/>
          <p:nvPr/>
        </p:nvSpPr>
        <p:spPr bwMode="auto">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30185059" name="WinDot 1"/>
          <p:cNvSpPr/>
          <p:nvPr/>
        </p:nvSpPr>
        <p:spPr bwMode="auto">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95864653" name="WinDot 2"/>
          <p:cNvSpPr/>
          <p:nvPr/>
        </p:nvSpPr>
        <p:spPr bwMode="auto">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92479487" name="WinText"/>
          <p:cNvSpPr txBox="1"/>
          <p:nvPr/>
        </p:nvSpPr>
        <p:spPr bwMode="auto">
          <a:xfrm>
            <a:off x="469251" y="2211648"/>
            <a:ext cx="5714545" cy="1050000"/>
          </a:xfrm>
          <a:prstGeom prst="rect">
            <a:avLst/>
          </a:prstGeom>
          <a:noFill/>
        </p:spPr>
        <p:txBody>
          <a:bodyPr wrap="none" lIns="0" tIns="0" rIns="0" bIns="0" anchor="t">
            <a:spAutoFit/>
          </a:bodyPr>
          <a:lstStyle/>
          <a:p>
            <a:pPr algn="l">
              <a:buNone/>
              <a:defRPr/>
            </a:pPr>
            <a:r>
              <a:rPr sz="1100" b="0">
                <a:solidFill>
                  <a:schemeClr val="accent2"/>
                </a:solidFill>
                <a:latin typeface="Aptos Mono"/>
              </a:rPr>
              <a:t>def</a:t>
            </a:r>
            <a:r>
              <a:rPr sz="1100" b="0">
                <a:solidFill>
                  <a:schemeClr val="bg1"/>
                </a:solidFill>
                <a:latin typeface="Aptos Mono"/>
              </a:rPr>
              <a:t> read_file(</a:t>
            </a:r>
            <a:r>
              <a:rPr sz="1100" b="1">
                <a:solidFill>
                  <a:schemeClr val="accent4">
                    <a:lumMod val="70000"/>
                    <a:lumOff val="30000"/>
                  </a:schemeClr>
                </a:solidFill>
                <a:latin typeface="Aptos Mono"/>
              </a:rPr>
              <a:t>ws</a:t>
            </a:r>
            <a:r>
              <a:rPr sz="1100" b="0">
                <a:solidFill>
                  <a:schemeClr val="bg1"/>
                </a:solidFill>
                <a:latin typeface="Aptos Mono"/>
              </a:rPr>
              <a:t>: Path, path: str, start: int | </a:t>
            </a:r>
            <a:r>
              <a:rPr sz="1100" b="0">
                <a:solidFill>
                  <a:schemeClr val="accent2"/>
                </a:solidFill>
                <a:latin typeface="Aptos Mono"/>
              </a:rPr>
              <a:t>None</a:t>
            </a:r>
            <a:r>
              <a:rPr sz="1100" b="0">
                <a:solidFill>
                  <a:schemeClr val="bg1"/>
                </a:solidFill>
                <a:latin typeface="Aptos Mono"/>
              </a:rPr>
              <a:t> = </a:t>
            </a:r>
            <a:r>
              <a:rPr sz="1100" b="0">
                <a:solidFill>
                  <a:schemeClr val="accent2"/>
                </a:solidFill>
                <a:latin typeface="Aptos Mono"/>
              </a:rPr>
              <a:t>None</a:t>
            </a:r>
            <a:r>
              <a:rPr sz="1100" b="0">
                <a:solidFill>
                  <a:schemeClr val="bg1"/>
                </a:solidFill>
                <a:latin typeface="Aptos Mono"/>
              </a:rPr>
              <a:t>,</a:t>
            </a:r>
            <a:endParaRPr/>
          </a:p>
          <a:p>
            <a:pPr algn="l">
              <a:buNone/>
              <a:defRPr/>
            </a:pPr>
            <a:r>
              <a:rPr sz="1100" b="0">
                <a:solidFill>
                  <a:schemeClr val="bg1"/>
                </a:solidFill>
                <a:latin typeface="Aptos Mono"/>
              </a:rPr>
              <a:t>              end: int | </a:t>
            </a:r>
            <a:r>
              <a:rPr sz="1100" b="0">
                <a:solidFill>
                  <a:schemeClr val="accent2"/>
                </a:solidFill>
                <a:latin typeface="Aptos Mono"/>
              </a:rPr>
              <a:t>None</a:t>
            </a:r>
            <a:r>
              <a:rPr sz="1100" b="0">
                <a:solidFill>
                  <a:schemeClr val="bg1"/>
                </a:solidFill>
                <a:latin typeface="Aptos Mono"/>
              </a:rPr>
              <a:t> = </a:t>
            </a:r>
            <a:r>
              <a:rPr sz="1100" b="0">
                <a:solidFill>
                  <a:schemeClr val="accent2"/>
                </a:solidFill>
                <a:latin typeface="Aptos Mono"/>
              </a:rPr>
              <a:t>None</a:t>
            </a:r>
            <a:r>
              <a:rPr sz="1100" b="0">
                <a:solidFill>
                  <a:schemeClr val="bg1"/>
                </a:solidFill>
                <a:latin typeface="Aptos Mono"/>
              </a:rPr>
              <a:t>) -&gt; str:</a:t>
            </a:r>
            <a:endParaRPr/>
          </a:p>
          <a:p>
            <a:pPr algn="l">
              <a:buNone/>
              <a:defRPr/>
            </a:pPr>
            <a:endParaRPr sz="1100" b="0">
              <a:solidFill>
                <a:schemeClr val="bg1"/>
              </a:solidFill>
              <a:latin typeface="Aptos Mono"/>
            </a:endParaRPr>
          </a:p>
          <a:p>
            <a:pPr algn="l">
              <a:buNone/>
              <a:defRPr/>
            </a:pPr>
            <a:r>
              <a:rPr sz="1100" b="0">
                <a:solidFill>
                  <a:schemeClr val="accent6"/>
                </a:solidFill>
                <a:latin typeface="Aptos Mono"/>
              </a:rPr>
              <a:t># ours: the dispatcher supplies ws before the model's arguments</a:t>
            </a:r>
            <a:endParaRPr/>
          </a:p>
          <a:p>
            <a:pPr algn="l">
              <a:buNone/>
              <a:defRPr/>
            </a:pPr>
            <a:r>
              <a:rPr sz="1100" b="0">
                <a:solidFill>
                  <a:schemeClr val="bg1"/>
                </a:solidFill>
                <a:latin typeface="Aptos Mono"/>
              </a:rPr>
              <a:t>inspect.signature(function).bind(</a:t>
            </a:r>
            <a:r>
              <a:rPr sz="1100" b="0">
                <a:solidFill>
                  <a:schemeClr val="accent2"/>
                </a:solidFill>
                <a:latin typeface="Aptos Mono"/>
              </a:rPr>
              <a:t>self</a:t>
            </a:r>
            <a:r>
              <a:rPr sz="1100" b="0">
                <a:solidFill>
                  <a:schemeClr val="bg1"/>
                </a:solidFill>
                <a:latin typeface="Aptos Mono"/>
              </a:rPr>
              <a:t>.</a:t>
            </a:r>
            <a:r>
              <a:rPr sz="1100" b="1">
                <a:solidFill>
                  <a:schemeClr val="accent4">
                    <a:lumMod val="70000"/>
                    <a:lumOff val="30000"/>
                  </a:schemeClr>
                </a:solidFill>
                <a:latin typeface="Aptos Mono"/>
              </a:rPr>
              <a:t>ws</a:t>
            </a:r>
            <a:r>
              <a:rPr sz="1100" b="0">
                <a:solidFill>
                  <a:schemeClr val="bg1"/>
                </a:solidFill>
                <a:latin typeface="Aptos Mono"/>
              </a:rPr>
              <a:t>, **args)</a:t>
            </a:r>
            <a:endParaRPr/>
          </a:p>
        </p:txBody>
      </p:sp>
      <p:sp>
        <p:nvSpPr>
          <p:cNvPr id="1271464458" name="Rectangle 9"/>
          <p:cNvSpPr/>
          <p:nvPr/>
        </p:nvSpPr>
        <p:spPr bwMode="auto">
          <a:xfrm>
            <a:off x="319251" y="3521648"/>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Tools read configuration from the module. A </a:t>
            </a:r>
            <a:r>
              <a:rPr sz="1200" b="0">
                <a:solidFill>
                  <a:schemeClr val="tx2"/>
                </a:solidFill>
                <a:latin typeface="Aptos Mono"/>
              </a:rPr>
              <a:t>config</a:t>
            </a:r>
            <a:r>
              <a:rPr sz="1200" b="1">
                <a:solidFill>
                  <a:schemeClr val="tx2"/>
                </a:solidFill>
              </a:rPr>
              <a:t> parameter would allow the model to supply its value.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3624813" name="Title 1"/>
          <p:cNvSpPr>
            <a:spLocks noGrp="1"/>
          </p:cNvSpPr>
          <p:nvPr>
            <p:ph type="title"/>
          </p:nvPr>
        </p:nvSpPr>
        <p:spPr bwMode="auto"/>
        <p:txBody>
          <a:bodyPr/>
          <a:lstStyle/>
          <a:p>
            <a:pPr>
              <a:defRPr/>
            </a:pPr>
            <a:r>
              <a:rPr/>
              <a:t>The five operations of the dispatch cycle</a:t>
            </a:r>
            <a:endParaRPr/>
          </a:p>
        </p:txBody>
      </p:sp>
      <p:sp>
        <p:nvSpPr>
          <p:cNvPr id="801675940"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runtime finds the tool, binds arguments, checks policy, runs the operation and records an observation.</a:t>
            </a:r>
            <a:endParaRPr/>
          </a:p>
        </p:txBody>
      </p:sp>
      <p:pic>
        <p:nvPicPr>
          <p:cNvPr id="716429244" name="Figure s4-dispatch-cycle" descr="s4-dispatch-cycle.png"/>
          <p:cNvPicPr>
            <a:picLocks noChangeAspect="1"/>
          </p:cNvPicPr>
          <p:nvPr/>
        </p:nvPicPr>
        <p:blipFill rotWithShape="1">
          <a:blip r:embed="rId3"/>
          <a:stretch/>
        </p:blipFill>
        <p:spPr bwMode="auto">
          <a:xfrm>
            <a:off x="1524148" y="1390000"/>
            <a:ext cx="3604753" cy="2510000"/>
          </a:xfrm>
          <a:prstGeom prst="rect">
            <a:avLst/>
          </a:prstGeom>
        </p:spPr>
      </p:pic>
      <p:sp>
        <p:nvSpPr>
          <p:cNvPr id="1773641727" name="Rectangle 4"/>
          <p:cNvSpPr/>
          <p:nvPr/>
        </p:nvSpPr>
        <p:spPr bwMode="auto">
          <a:xfrm>
            <a:off x="319251" y="4090000"/>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Figure 7 in the lecture notes. The dispatcher returns an observation after a successful operation or a refused request.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23220962" name="Title 1"/>
          <p:cNvSpPr>
            <a:spLocks noGrp="1"/>
          </p:cNvSpPr>
          <p:nvPr>
            <p:ph type="title"/>
          </p:nvPr>
        </p:nvSpPr>
        <p:spPr bwMode="auto"/>
        <p:txBody>
          <a:bodyPr/>
          <a:lstStyle/>
          <a:p>
            <a:pPr>
              <a:defRPr/>
            </a:pPr>
            <a:r>
              <a:rPr/>
              <a:t>Returning a refusal as an observation</a:t>
            </a:r>
            <a:endParaRPr/>
          </a:p>
        </p:txBody>
      </p:sp>
      <p:sp>
        <p:nvSpPr>
          <p:cNvPr id="2108883049" name="TextBox 2"/>
          <p:cNvSpPr txBox="1"/>
          <p:nvPr/>
        </p:nvSpPr>
        <p:spPr bwMode="auto">
          <a:xfrm>
            <a:off x="319251" y="700000"/>
            <a:ext cx="6014545" cy="200000"/>
          </a:xfrm>
          <a:prstGeom prst="rect">
            <a:avLst/>
          </a:prstGeom>
          <a:noFill/>
        </p:spPr>
        <p:txBody>
          <a:bodyPr wrap="none" lIns="0" tIns="0" rIns="0" bIns="0">
            <a:spAutoFit/>
          </a:bodyPr>
          <a:lstStyle/>
          <a:p>
            <a:pPr>
              <a:defRPr/>
            </a:pPr>
            <a:r>
              <a:rPr sz="1200" b="1">
                <a:solidFill>
                  <a:srgbClr val="28285E"/>
                </a:solidFill>
              </a:rPr>
              <a:t>dispatch.py, lines 134 to 164. Coercion and other exception handlers omitted.</a:t>
            </a:r>
            <a:endParaRPr/>
          </a:p>
        </p:txBody>
      </p:sp>
      <p:sp>
        <p:nvSpPr>
          <p:cNvPr id="733452963" name="CodeWindow"/>
          <p:cNvSpPr/>
          <p:nvPr/>
        </p:nvSpPr>
        <p:spPr bwMode="auto">
          <a:xfrm>
            <a:off x="319251" y="960000"/>
            <a:ext cx="6014545" cy="2690908"/>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39642568" name="WinDot 0"/>
          <p:cNvSpPr/>
          <p:nvPr/>
        </p:nvSpPr>
        <p:spPr bwMode="auto">
          <a:xfrm>
            <a:off x="371717" y="100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58439546" name="WinDot 1"/>
          <p:cNvSpPr/>
          <p:nvPr/>
        </p:nvSpPr>
        <p:spPr bwMode="auto">
          <a:xfrm>
            <a:off x="581580" y="100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7964520" name="WinDot 2"/>
          <p:cNvSpPr/>
          <p:nvPr/>
        </p:nvSpPr>
        <p:spPr bwMode="auto">
          <a:xfrm>
            <a:off x="791443" y="100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83862907" name="WinText"/>
          <p:cNvSpPr txBox="1"/>
          <p:nvPr/>
        </p:nvSpPr>
        <p:spPr bwMode="auto">
          <a:xfrm>
            <a:off x="469251" y="1290000"/>
            <a:ext cx="5714545" cy="2290908"/>
          </a:xfrm>
          <a:prstGeom prst="rect">
            <a:avLst/>
          </a:prstGeom>
          <a:noFill/>
        </p:spPr>
        <p:txBody>
          <a:bodyPr wrap="none" lIns="0" tIns="0" rIns="0" bIns="0" anchor="t">
            <a:spAutoFit/>
          </a:bodyPr>
          <a:lstStyle/>
          <a:p>
            <a:pPr algn="l">
              <a:buNone/>
              <a:defRPr/>
            </a:pPr>
            <a:r>
              <a:rPr sz="1000" b="0">
                <a:solidFill>
                  <a:schemeClr val="bg1"/>
                </a:solidFill>
                <a:latin typeface="Aptos Mono"/>
              </a:rPr>
              <a:t>function = </a:t>
            </a:r>
            <a:r>
              <a:rPr sz="1000" b="0">
                <a:solidFill>
                  <a:schemeClr val="accent2"/>
                </a:solidFill>
                <a:latin typeface="Aptos Mono"/>
              </a:rPr>
              <a:t>self</a:t>
            </a:r>
            <a:r>
              <a:rPr sz="1000" b="0">
                <a:solidFill>
                  <a:schemeClr val="bg1"/>
                </a:solidFill>
                <a:latin typeface="Aptos Mono"/>
              </a:rPr>
              <a:t>.registry.get(name)</a:t>
            </a:r>
            <a:endParaRPr/>
          </a:p>
          <a:p>
            <a:pPr algn="l">
              <a:buNone/>
              <a:defRPr/>
            </a:pPr>
            <a:r>
              <a:rPr sz="1000" b="0">
                <a:solidFill>
                  <a:schemeClr val="accent2"/>
                </a:solidFill>
                <a:latin typeface="Aptos Mono"/>
              </a:rPr>
              <a:t>if</a:t>
            </a:r>
            <a:r>
              <a:rPr sz="1000" b="0">
                <a:solidFill>
                  <a:schemeClr val="bg1"/>
                </a:solidFill>
                <a:latin typeface="Aptos Mono"/>
              </a:rPr>
              <a:t> function is </a:t>
            </a:r>
            <a:r>
              <a:rPr sz="1000" b="0">
                <a:solidFill>
                  <a:schemeClr val="accent2"/>
                </a:solidFill>
                <a:latin typeface="Aptos Mono"/>
              </a:rPr>
              <a:t>None</a:t>
            </a:r>
            <a:r>
              <a:rPr sz="1000" b="0">
                <a:solidFill>
                  <a:schemeClr val="bg1"/>
                </a:solidFill>
                <a:latin typeface="Aptos Mono"/>
              </a:rPr>
              <a:t>:</a:t>
            </a:r>
            <a:endParaRPr/>
          </a:p>
          <a:p>
            <a:pPr algn="l">
              <a:buNone/>
              <a:defRPr/>
            </a:pPr>
            <a:r>
              <a:rPr sz="1000" b="0">
                <a:solidFill>
                  <a:schemeClr val="accent6"/>
                </a:solidFill>
                <a:latin typeface="Aptos Mono"/>
              </a:rPr>
              <a:t>    # ours: return a refusal listing the registered tools</a:t>
            </a:r>
            <a:endParaRPr/>
          </a:p>
          <a:p>
            <a:pPr algn="l">
              <a:buNone/>
              <a:defRPr/>
            </a:pPr>
            <a:r>
              <a:rPr sz="1000" b="0">
                <a:solidFill>
                  <a:schemeClr val="accent2"/>
                </a:solidFill>
                <a:latin typeface="Aptos Mono"/>
              </a:rPr>
              <a:t>try</a:t>
            </a:r>
            <a:r>
              <a:rPr sz="1000" b="0">
                <a:solidFill>
                  <a:schemeClr val="bg1"/>
                </a:solidFill>
                <a:latin typeface="Aptos Mono"/>
              </a:rPr>
              <a:t>:</a:t>
            </a:r>
            <a:endParaRPr/>
          </a:p>
          <a:p>
            <a:pPr algn="l">
              <a:buNone/>
              <a:defRPr/>
            </a:pPr>
            <a:r>
              <a:rPr sz="1000" b="0">
                <a:solidFill>
                  <a:schemeClr val="bg1"/>
                </a:solidFill>
                <a:latin typeface="Aptos Mono"/>
              </a:rPr>
              <a:t>    inspect.signature(function).bind(</a:t>
            </a:r>
            <a:r>
              <a:rPr sz="1000" b="0">
                <a:solidFill>
                  <a:schemeClr val="accent2"/>
                </a:solidFill>
                <a:latin typeface="Aptos Mono"/>
              </a:rPr>
              <a:t>self</a:t>
            </a:r>
            <a:r>
              <a:rPr sz="1000" b="0">
                <a:solidFill>
                  <a:schemeClr val="bg1"/>
                </a:solidFill>
                <a:latin typeface="Aptos Mono"/>
              </a:rPr>
              <a:t>.ws, **args)</a:t>
            </a:r>
            <a:endParaRPr/>
          </a:p>
          <a:p>
            <a:pPr algn="l">
              <a:buNone/>
              <a:defRPr/>
            </a:pPr>
            <a:r>
              <a:rPr sz="1000" b="0">
                <a:solidFill>
                  <a:schemeClr val="accent2"/>
                </a:solidFill>
                <a:latin typeface="Aptos Mono"/>
              </a:rPr>
              <a:t>except</a:t>
            </a:r>
            <a:r>
              <a:rPr sz="1000" b="0">
                <a:solidFill>
                  <a:schemeClr val="bg1"/>
                </a:solidFill>
                <a:latin typeface="Aptos Mono"/>
              </a:rPr>
              <a:t> TypeError </a:t>
            </a:r>
            <a:r>
              <a:rPr sz="1000" b="0">
                <a:solidFill>
                  <a:schemeClr val="accent2"/>
                </a:solidFill>
                <a:latin typeface="Aptos Mono"/>
              </a:rPr>
              <a:t>as</a:t>
            </a:r>
            <a:r>
              <a:rPr sz="1000" b="0">
                <a:solidFill>
                  <a:schemeClr val="bg1"/>
                </a:solidFill>
                <a:latin typeface="Aptos Mono"/>
              </a:rPr>
              <a:t> exc:</a:t>
            </a:r>
            <a:endParaRPr/>
          </a:p>
          <a:p>
            <a:pPr algn="l">
              <a:buNone/>
              <a:defRPr/>
            </a:pPr>
            <a:r>
              <a:rPr sz="1000" b="0">
                <a:solidFill>
                  <a:schemeClr val="bg1"/>
                </a:solidFill>
                <a:latin typeface="Aptos Mono"/>
              </a:rPr>
              <a:t>    </a:t>
            </a:r>
            <a:r>
              <a:rPr sz="1000" b="0">
                <a:solidFill>
                  <a:schemeClr val="accent2"/>
                </a:solidFill>
                <a:latin typeface="Aptos Mono"/>
              </a:rPr>
              <a:t>return</a:t>
            </a:r>
            <a:r>
              <a:rPr sz="1000" b="0">
                <a:solidFill>
                  <a:schemeClr val="bg1"/>
                </a:solidFill>
                <a:latin typeface="Aptos Mono"/>
              </a:rPr>
              <a:t> </a:t>
            </a:r>
            <a:r>
              <a:rPr sz="1000" b="0">
                <a:solidFill>
                  <a:schemeClr val="accent2"/>
                </a:solidFill>
                <a:latin typeface="Aptos Mono"/>
              </a:rPr>
              <a:t>self</a:t>
            </a:r>
            <a:r>
              <a:rPr sz="1000" b="0">
                <a:solidFill>
                  <a:schemeClr val="bg1"/>
                </a:solidFill>
                <a:latin typeface="Aptos Mono"/>
              </a:rPr>
              <a:t>.</a:t>
            </a:r>
            <a:r>
              <a:rPr sz="1000" b="1">
                <a:solidFill>
                  <a:schemeClr val="accent4">
                    <a:lumMod val="70000"/>
                    <a:lumOff val="30000"/>
                  </a:schemeClr>
                </a:solidFill>
                <a:latin typeface="Aptos Mono"/>
              </a:rPr>
              <a:t>_refuse</a:t>
            </a:r>
            <a:r>
              <a:rPr sz="1000" b="0">
                <a:solidFill>
                  <a:schemeClr val="bg1"/>
                </a:solidFill>
                <a:latin typeface="Aptos Mono"/>
              </a:rPr>
              <a:t>(name, args, f</a:t>
            </a:r>
            <a:r>
              <a:rPr sz="1000" b="0">
                <a:solidFill>
                  <a:schemeClr val="accent3">
                    <a:lumMod val="55000"/>
                    <a:lumOff val="45000"/>
                  </a:schemeClr>
                </a:solidFill>
                <a:latin typeface="Aptos Mono"/>
              </a:rPr>
              <a:t>"bad arguments for {name}: {exc}"</a:t>
            </a:r>
            <a:r>
              <a:rPr sz="1000" b="0">
                <a:solidFill>
                  <a:schemeClr val="bg1"/>
                </a:solidFill>
                <a:latin typeface="Aptos Mono"/>
              </a:rPr>
              <a:t>)</a:t>
            </a:r>
            <a:endParaRPr/>
          </a:p>
          <a:p>
            <a:pPr algn="l">
              <a:buNone/>
              <a:defRPr/>
            </a:pPr>
            <a:r>
              <a:rPr sz="1000" b="0">
                <a:solidFill>
                  <a:schemeClr val="accent2"/>
                </a:solidFill>
                <a:latin typeface="Aptos Mono"/>
              </a:rPr>
              <a:t>try</a:t>
            </a:r>
            <a:r>
              <a:rPr sz="1000" b="0">
                <a:solidFill>
                  <a:schemeClr val="bg1"/>
                </a:solidFill>
                <a:latin typeface="Aptos Mono"/>
              </a:rPr>
              <a:t>:</a:t>
            </a:r>
            <a:endParaRPr/>
          </a:p>
          <a:p>
            <a:pPr algn="l">
              <a:buNone/>
              <a:defRPr/>
            </a:pPr>
            <a:r>
              <a:rPr sz="1000" b="0">
                <a:solidFill>
                  <a:schemeClr val="bg1"/>
                </a:solidFill>
                <a:latin typeface="Aptos Mono"/>
              </a:rPr>
              <a:t>    value = function(</a:t>
            </a:r>
            <a:r>
              <a:rPr sz="1000" b="0">
                <a:solidFill>
                  <a:schemeClr val="accent2"/>
                </a:solidFill>
                <a:latin typeface="Aptos Mono"/>
              </a:rPr>
              <a:t>self</a:t>
            </a:r>
            <a:r>
              <a:rPr sz="1000" b="0">
                <a:solidFill>
                  <a:schemeClr val="bg1"/>
                </a:solidFill>
                <a:latin typeface="Aptos Mono"/>
              </a:rPr>
              <a:t>.ws, **args)</a:t>
            </a:r>
            <a:endParaRPr/>
          </a:p>
          <a:p>
            <a:pPr algn="l">
              <a:buNone/>
              <a:defRPr/>
            </a:pPr>
            <a:r>
              <a:rPr sz="1000" b="0">
                <a:solidFill>
                  <a:schemeClr val="accent2"/>
                </a:solidFill>
                <a:latin typeface="Aptos Mono"/>
              </a:rPr>
              <a:t>except</a:t>
            </a:r>
            <a:r>
              <a:rPr sz="1000" b="0">
                <a:solidFill>
                  <a:schemeClr val="bg1"/>
                </a:solidFill>
                <a:latin typeface="Aptos Mono"/>
              </a:rPr>
              <a:t> PathEscapeException </a:t>
            </a:r>
            <a:r>
              <a:rPr sz="1000" b="0">
                <a:solidFill>
                  <a:schemeClr val="accent2"/>
                </a:solidFill>
                <a:latin typeface="Aptos Mono"/>
              </a:rPr>
              <a:t>as</a:t>
            </a:r>
            <a:r>
              <a:rPr sz="1000" b="0">
                <a:solidFill>
                  <a:schemeClr val="bg1"/>
                </a:solidFill>
                <a:latin typeface="Aptos Mono"/>
              </a:rPr>
              <a:t> exc:</a:t>
            </a:r>
            <a:endParaRPr/>
          </a:p>
          <a:p>
            <a:pPr algn="l">
              <a:buNone/>
              <a:defRPr/>
            </a:pPr>
            <a:r>
              <a:rPr sz="1000" b="0">
                <a:solidFill>
                  <a:schemeClr val="bg1"/>
                </a:solidFill>
                <a:latin typeface="Aptos Mono"/>
              </a:rPr>
              <a:t>    </a:t>
            </a:r>
            <a:r>
              <a:rPr sz="1000" b="0">
                <a:solidFill>
                  <a:schemeClr val="accent2"/>
                </a:solidFill>
                <a:latin typeface="Aptos Mono"/>
              </a:rPr>
              <a:t>return</a:t>
            </a:r>
            <a:r>
              <a:rPr sz="1000" b="0">
                <a:solidFill>
                  <a:schemeClr val="bg1"/>
                </a:solidFill>
                <a:latin typeface="Aptos Mono"/>
              </a:rPr>
              <a:t> </a:t>
            </a:r>
            <a:r>
              <a:rPr sz="1000" b="0">
                <a:solidFill>
                  <a:schemeClr val="accent2"/>
                </a:solidFill>
                <a:latin typeface="Aptos Mono"/>
              </a:rPr>
              <a:t>self</a:t>
            </a:r>
            <a:r>
              <a:rPr sz="1000" b="0">
                <a:solidFill>
                  <a:schemeClr val="bg1"/>
                </a:solidFill>
                <a:latin typeface="Aptos Mono"/>
              </a:rPr>
              <a:t>.</a:t>
            </a:r>
            <a:r>
              <a:rPr sz="1000" b="1">
                <a:solidFill>
                  <a:schemeClr val="accent4">
                    <a:lumMod val="70000"/>
                    <a:lumOff val="30000"/>
                  </a:schemeClr>
                </a:solidFill>
                <a:latin typeface="Aptos Mono"/>
              </a:rPr>
              <a:t>_refuse</a:t>
            </a:r>
            <a:r>
              <a:rPr sz="1000" b="0">
                <a:solidFill>
                  <a:schemeClr val="bg1"/>
                </a:solidFill>
                <a:latin typeface="Aptos Mono"/>
              </a:rPr>
              <a:t>(name, args, f</a:t>
            </a:r>
            <a:r>
              <a:rPr sz="1000" b="0">
                <a:solidFill>
                  <a:schemeClr val="accent3">
                    <a:lumMod val="55000"/>
                    <a:lumOff val="45000"/>
                  </a:schemeClr>
                </a:solidFill>
                <a:latin typeface="Aptos Mono"/>
              </a:rPr>
              <a:t>"refused: {exc}"</a:t>
            </a:r>
            <a:r>
              <a:rPr sz="1000" b="0">
                <a:solidFill>
                  <a:schemeClr val="bg1"/>
                </a:solidFill>
                <a:latin typeface="Aptos Mono"/>
              </a:rPr>
              <a:t>)</a:t>
            </a:r>
            <a:endParaRPr/>
          </a:p>
          <a:p>
            <a:pPr algn="l">
              <a:buNone/>
              <a:defRPr/>
            </a:pPr>
            <a:r>
              <a:rPr sz="1000" b="0">
                <a:solidFill>
                  <a:schemeClr val="accent2"/>
                </a:solidFill>
                <a:latin typeface="Aptos Mono"/>
              </a:rPr>
              <a:t>return</a:t>
            </a:r>
            <a:r>
              <a:rPr sz="1000" b="0">
                <a:solidFill>
                  <a:schemeClr val="bg1"/>
                </a:solidFill>
                <a:latin typeface="Aptos Mono"/>
              </a:rPr>
              <a:t> </a:t>
            </a:r>
            <a:r>
              <a:rPr sz="1000" b="0">
                <a:solidFill>
                  <a:schemeClr val="accent2"/>
                </a:solidFill>
                <a:latin typeface="Aptos Mono"/>
              </a:rPr>
              <a:t>self</a:t>
            </a:r>
            <a:r>
              <a:rPr sz="1000" b="0">
                <a:solidFill>
                  <a:schemeClr val="bg1"/>
                </a:solidFill>
                <a:latin typeface="Aptos Mono"/>
              </a:rPr>
              <a:t>._observe(name, args, </a:t>
            </a:r>
            <a:r>
              <a:rPr sz="1000" b="0">
                <a:solidFill>
                  <a:schemeClr val="accent2"/>
                </a:solidFill>
                <a:latin typeface="Aptos Mono"/>
              </a:rPr>
              <a:t>self</a:t>
            </a:r>
            <a:r>
              <a:rPr sz="1000" b="0">
                <a:solidFill>
                  <a:schemeClr val="bg1"/>
                </a:solidFill>
                <a:latin typeface="Aptos Mono"/>
              </a:rPr>
              <a:t>._render(name, value))</a:t>
            </a:r>
            <a:endParaRPr/>
          </a:p>
        </p:txBody>
      </p:sp>
      <p:sp>
        <p:nvSpPr>
          <p:cNvPr id="1125791068" name="Rectangle 8"/>
          <p:cNvSpPr/>
          <p:nvPr/>
        </p:nvSpPr>
        <p:spPr bwMode="auto">
          <a:xfrm>
            <a:off x="319251" y="384090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An unhandled exception ends the run. A refusal returns an observation so the model can revise its request.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04694843" name="Title 1"/>
          <p:cNvSpPr>
            <a:spLocks noGrp="1"/>
          </p:cNvSpPr>
          <p:nvPr>
            <p:ph type="title"/>
          </p:nvPr>
        </p:nvSpPr>
        <p:spPr bwMode="auto"/>
        <p:txBody>
          <a:bodyPr/>
          <a:lstStyle/>
          <a:p>
            <a:pPr>
              <a:defRPr/>
            </a:pPr>
            <a:r>
              <a:rPr/>
              <a:t>Evidence of a tool request and execution</a:t>
            </a:r>
            <a:endParaRPr/>
          </a:p>
        </p:txBody>
      </p:sp>
      <p:sp>
        <p:nvSpPr>
          <p:cNvPr id="1859746828"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Aptos Mono"/>
              </a:rPr>
              <a:t>read_file</a:t>
            </a:r>
            <a:r>
              <a:rPr sz="1400" b="1">
                <a:solidFill>
                  <a:srgbClr val="28285E"/>
                </a:solidFill>
              </a:rPr>
              <a:t> call in run </a:t>
            </a:r>
            <a:r>
              <a:rPr sz="1400" b="0">
                <a:solidFill>
                  <a:srgbClr val="28285E"/>
                </a:solidFill>
                <a:latin typeface="Aptos Mono"/>
              </a:rPr>
              <a:t>bc284c6b</a:t>
            </a:r>
            <a:r>
              <a:rPr sz="1400" b="1">
                <a:solidFill>
                  <a:srgbClr val="28285E"/>
                </a:solidFill>
              </a:rPr>
              <a:t> shows what each record or processing stage can establish about execution.</a:t>
            </a:r>
            <a:endParaRPr/>
          </a:p>
        </p:txBody>
      </p:sp>
      <p:graphicFrame>
        <p:nvGraphicFramePr>
          <p:cNvPr id="692513513" name="Table 3"/>
          <p:cNvGraphicFramePr>
            <a:graphicFrameLocks xmlns:a="http://schemas.openxmlformats.org/drawingml/2006/main" noGrp="1"/>
          </p:cNvGraphicFramePr>
          <p:nvPr/>
        </p:nvGraphicFramePr>
        <p:xfrm rot="0">
          <a:off x="319251" y="1390000"/>
          <a:ext cx="6014545" cy="2700300"/>
        </p:xfrm>
        <a:graphic>
          <a:graphicData uri="http://schemas.openxmlformats.org/drawingml/2006/table">
            <a:tbl>
              <a:tblPr firstRow="1" firstCol="0" lastRow="0" lastCol="0" bandRow="1" bandCol="0">
                <a:tableStyleId>{5C22544A-7EE6-4342-B048-85BDC9FD1C3A}</a:tableStyleId>
              </a:tblPr>
              <a:tblGrid>
                <a:gridCol w="2100000"/>
                <a:gridCol w="3914545"/>
              </a:tblGrid>
              <a:tr h="300000">
                <a:tc>
                  <a:txBody>
                    <a:bodyPr/>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p>
                      <a:pPr>
                        <a:buNone/>
                        <a:defRPr/>
                      </a:pPr>
                      <a:r>
                        <a:rPr sz="1000" b="1">
                          <a:solidFill>
                            <a:schemeClr val="tx1"/>
                          </a:solidFill>
                        </a:rPr>
                        <a:t>What it establishes</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Model response and </a:t>
                      </a:r>
                      <a:r>
                        <a:rPr sz="1000" b="0">
                          <a:solidFill>
                            <a:srgbClr val="28285E"/>
                          </a:solidFill>
                          <a:latin typeface="Aptos Mono"/>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Dispatcher</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request. Refusal reasons appear in </a:t>
                      </a:r>
                      <a:r>
                        <a:rPr sz="1000" b="0">
                          <a:solidFill>
                            <a:schemeClr val="tx1"/>
                          </a:solidFill>
                          <a:latin typeface="Aptos Mono"/>
                        </a:rPr>
                        <a:t>tool_result</a:t>
                      </a:r>
                      <a:r>
                        <a:rPr sz="1000" b="0">
                          <a:solidFill>
                            <a:schemeClr val="tx1"/>
                          </a:solidFill>
                        </a:rPr>
                        <a:t>, with no separate event for each check.</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tool_result event, step 6</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tool returned 1,665 characters. The event records their count and omits the text.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State and next input</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runtime stores the observation in state and adds a tool message to the next model input, at step 7.</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1383170054" name="Rectangle 4"/>
          <p:cNvSpPr/>
          <p:nvPr/>
        </p:nvSpPr>
        <p:spPr bwMode="auto">
          <a:xfrm>
            <a:off x="319251" y="4135012"/>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Table 6 in the lecture notes. The successful </a:t>
            </a:r>
            <a:r>
              <a:rPr sz="1200" b="0">
                <a:solidFill>
                  <a:schemeClr val="tx2"/>
                </a:solidFill>
                <a:latin typeface="Aptos Mono"/>
              </a:rPr>
              <a:t>tool_result</a:t>
            </a:r>
            <a:r>
              <a:rPr sz="1200" b="1">
                <a:solidFill>
                  <a:schemeClr val="tx2"/>
                </a:solidFill>
              </a:rPr>
              <a:t> event establishes that the function ran and returned.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8644900" name="Title 1"/>
          <p:cNvSpPr>
            <a:spLocks noGrp="1"/>
          </p:cNvSpPr>
          <p:nvPr>
            <p:ph type="title"/>
          </p:nvPr>
        </p:nvSpPr>
        <p:spPr bwMode="auto"/>
        <p:txBody>
          <a:bodyPr/>
          <a:lstStyle/>
          <a:p>
            <a:pPr>
              <a:defRPr/>
            </a:pPr>
            <a:r>
              <a:rPr/>
              <a:t>Complete mediation of resource access</a:t>
            </a:r>
            <a:endParaRPr/>
          </a:p>
        </p:txBody>
      </p:sp>
      <p:sp>
        <p:nvSpPr>
          <p:cNvPr id="773879975"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runtime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new tool or a wildcard file pattern (glob)</a:t>
            </a:r>
            <a:r>
              <a:rPr sz="1400" b="0">
                <a:solidFill>
                  <a:schemeClr val="tx1"/>
                </a:solidFill>
              </a:rPr>
              <a:t> may reach files without passing through the existing path check.</a:t>
            </a:r>
            <a:endParaRPr/>
          </a:p>
          <a:p>
            <a:pPr marL="400050" indent="-285750">
              <a:spcBef>
                <a:spcPts val="600"/>
              </a:spcBef>
              <a:spcAft>
                <a:spcPts val="600"/>
              </a:spcAft>
              <a:buClr>
                <a:srgbClr val="28285E"/>
              </a:buClr>
              <a:buSzPts val="1260"/>
              <a:buFont typeface="+mn-lt"/>
              <a:buChar char="●"/>
              <a:defRPr/>
            </a:pPr>
            <a:r>
              <a:rPr sz="1400" b="1">
                <a:solidFill>
                  <a:schemeClr val="tx1"/>
                </a:solidFill>
              </a:rPr>
              <a:t>Checking every request</a:t>
            </a:r>
            <a:r>
              <a:rPr sz="1400" b="0">
                <a:solidFill>
                  <a:schemeClr val="tx1"/>
                </a:solidFill>
              </a:rPr>
              <a:t> establishes that the policy is applied. The policy may still contain errors.</a:t>
            </a:r>
            <a:endParaRPr/>
          </a:p>
        </p:txBody>
      </p:sp>
      <p:sp>
        <p:nvSpPr>
          <p:cNvPr id="1146263691"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Complete mediation requires every request for a protected resource to pass through a guard, which checks whether access is permitted.</a:t>
            </a:r>
            <a:endParaRPr/>
          </a:p>
        </p:txBody>
      </p:sp>
      <p:sp>
        <p:nvSpPr>
          <p:cNvPr id="1608867663"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We must check every route by which a tool can reach the resource.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25877292" name="Title 1"/>
          <p:cNvSpPr>
            <a:spLocks noGrp="1"/>
          </p:cNvSpPr>
          <p:nvPr>
            <p:ph type="title"/>
          </p:nvPr>
        </p:nvSpPr>
        <p:spPr bwMode="auto"/>
        <p:txBody>
          <a:bodyPr/>
          <a:lstStyle/>
          <a:p>
            <a:pPr>
              <a:defRPr/>
            </a:pPr>
            <a:r>
              <a:rPr/>
              <a:t>Guarantees and their enforcing components</a:t>
            </a:r>
            <a:endParaRPr/>
          </a:p>
        </p:txBody>
      </p:sp>
      <p:sp>
        <p:nvSpPr>
          <p:cNvPr id="1261880605"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runtime enforces each desired guarantee. The row about reads identifies a missing path check.</a:t>
            </a:r>
            <a:endParaRPr/>
          </a:p>
        </p:txBody>
      </p:sp>
      <p:graphicFrame>
        <p:nvGraphicFramePr>
          <p:cNvPr id="753516931" name="Table 3"/>
          <p:cNvGraphicFramePr>
            <a:graphicFrameLocks xmlns:a="http://schemas.openxmlformats.org/drawingml/2006/main" noGrp="1"/>
          </p:cNvGraphicFramePr>
          <p:nvPr/>
        </p:nvGraphicFramePr>
        <p:xfrm rot="0">
          <a:off x="319251" y="1390000"/>
          <a:ext cx="6014545" cy="2779776"/>
        </p:xfrm>
        <a:graphic>
          <a:graphicData uri="http://schemas.openxmlformats.org/drawingml/2006/table">
            <a:tbl>
              <a:tblPr firstRow="1" firstCol="0" lastRow="0" lastCol="0" bandRow="1" bandCol="0">
                <a:tableStyleId>{5C22544A-7EE6-4342-B048-85BDC9FD1C3A}</a:tableStyleId>
              </a:tblPr>
              <a:tblGrid>
                <a:gridCol w="2500000"/>
                <a:gridCol w="3514545"/>
              </a:tblGrid>
              <a:tr h="300000">
                <a:tc>
                  <a:txBody>
                    <a:bodyPr/>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p>
                      <a:pPr>
                        <a:buNone/>
                        <a:defRPr/>
                      </a:pPr>
                      <a:r>
                        <a:rPr sz="1000" b="1">
                          <a:solidFill>
                            <a:schemeClr val="tx1"/>
                          </a:solidFill>
                        </a:rPr>
                        <a:t>Where it is enforced</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dispatcher binds arguments and converts unambiguous type mismatches.</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The edit tool, the only writer, checks paths with </a:t>
                      </a:r>
                      <a:r>
                        <a:rPr sz="1000" b="0">
                          <a:solidFill>
                            <a:schemeClr val="tx1"/>
                          </a:solidFill>
                          <a:latin typeface="Aptos Mono"/>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Reads stay inside the workspace</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This is unenforced. The search glob bypasses </a:t>
                      </a:r>
                      <a:r>
                        <a:rPr sz="1000" b="0">
                          <a:solidFill>
                            <a:schemeClr val="tx1"/>
                          </a:solidFill>
                          <a:latin typeface="Aptos Mono"/>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The benchmark fixture stays unchanged</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Tools work on a disposable copy of the fixture. The diff compares the copy with the original.</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No model call after budget exhaustion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Each model node checks the budget before calling.</a:t>
                      </a:r>
                      <a:endParaRPr/>
                    </a:p>
                  </a:txBody>
                  <a:tcPr marL="95250" marR="95250" marT="47625" marB="47625">
                    <a:lnT w="12700" algn="ctr">
                      <a:solidFill>
                        <a:schemeClr val="tx1"/>
                      </a:solidFill>
                    </a:lnT>
                    <a:lnB w="12700" algn="ctr">
                      <a:solidFill>
                        <a:schemeClr val="tx1"/>
                      </a:solidFill>
                    </a:lnB>
                    <a:noFill/>
                  </a:tcPr>
                </a:tc>
              </a:tr>
              <a:tr h="0">
                <a:tc>
                  <a:txBody>
                    <a:bodyPr/>
                    <a:p>
                      <a:pPr>
                        <a:buNone/>
                        <a:defRPr/>
                      </a:pPr>
                      <a:r>
                        <a:rPr sz="1000" b="1">
                          <a:solidFill>
                            <a:srgbClr val="28285E"/>
                          </a:solidFill>
                        </a:rPr>
                        <a:t>At most one plan revision per run</a:t>
                      </a:r>
                      <a:endParaRPr/>
                    </a:p>
                  </a:txBody>
                  <a:tcPr marL="95250" marR="95250" marT="47625" marB="47625">
                    <a:lnT w="12700" algn="ctr">
                      <a:solidFill>
                        <a:schemeClr val="tx1"/>
                      </a:solidFill>
                    </a:lnT>
                    <a:lnB w="12700" algn="ctr">
                      <a:solidFill>
                        <a:schemeClr val="tx1"/>
                      </a:solidFill>
                    </a:lnB>
                    <a:noFill/>
                  </a:tcPr>
                </a:tc>
                <a:tc>
                  <a:txBody>
                    <a:bodyPr/>
                    <a:p>
                      <a:pPr>
                        <a:buNone/>
                        <a:defRPr/>
                      </a:pPr>
                      <a:r>
                        <a:rPr sz="1000" b="0">
                          <a:solidFill>
                            <a:schemeClr val="tx1"/>
                          </a:solidFill>
                        </a:rPr>
                        <a:t>On a stall, tools requests plan revision only if </a:t>
                      </a:r>
                      <a:r>
                        <a:rPr sz="1000" b="0">
                          <a:solidFill>
                            <a:schemeClr val="tx1"/>
                          </a:solidFill>
                          <a:latin typeface="Aptos Mono"/>
                        </a:rPr>
                        <a:t>replanned_at</a:t>
                      </a:r>
                      <a:r>
                        <a:rPr sz="1000" b="0">
                          <a:solidFill>
                            <a:schemeClr val="tx1"/>
                          </a:solidFill>
                        </a:rPr>
                        <a:t> is unset.</a:t>
                      </a:r>
                      <a:endParaRPr/>
                    </a:p>
                  </a:txBody>
                  <a:tcPr marL="95250" marR="95250" marT="47625" marB="47625">
                    <a:lnT w="12700" algn="ctr">
                      <a:solidFill>
                        <a:schemeClr val="tx1"/>
                      </a:solidFill>
                    </a:lnT>
                    <a:lnB w="12700" algn="ctr">
                      <a:solidFill>
                        <a:schemeClr val="tx1"/>
                      </a:solidFill>
                    </a:lnB>
                    <a:noFill/>
                  </a:tcPr>
                </a:tc>
              </a:tr>
            </a:tbl>
          </a:graphicData>
        </a:graphic>
      </p:graphicFrame>
      <p:sp>
        <p:nvSpPr>
          <p:cNvPr id="2145476807" name="Rectangle 4"/>
          <p:cNvSpPr/>
          <p:nvPr/>
        </p:nvSpPr>
        <p:spPr bwMode="auto">
          <a:xfrm>
            <a:off x="319251" y="4359776"/>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Table 7 in the notes. The search tool can read outside the workspace because it skips the path check.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1334250" name="Title 1"/>
          <p:cNvSpPr>
            <a:spLocks noGrp="1"/>
          </p:cNvSpPr>
          <p:nvPr>
            <p:ph type="title"/>
          </p:nvPr>
        </p:nvSpPr>
        <p:spPr bwMode="auto"/>
        <p:txBody>
          <a:bodyPr/>
          <a:lstStyle/>
          <a:p>
            <a:pPr>
              <a:defRPr/>
            </a:pPr>
            <a:r>
              <a:rPr/>
              <a:t>Checking paths against the workspace root</a:t>
            </a:r>
            <a:endParaRPr/>
          </a:p>
        </p:txBody>
      </p:sp>
      <p:sp>
        <p:nvSpPr>
          <p:cNvPr id="1154790306" name="Content Placeholder 2"/>
          <p:cNvSpPr>
            <a:spLocks noGrp="1"/>
          </p:cNvSpPr>
          <p:nvPr>
            <p:ph idx="1"/>
          </p:nvPr>
        </p:nvSpPr>
        <p:spPr bwMode="auto">
          <a:xfrm>
            <a:off x="319251" y="700000"/>
            <a:ext cx="6014545" cy="500000"/>
          </a:xfrm>
        </p:spPr>
        <p:txBody>
          <a:bodyPr wrap="square" anchor="ctr">
            <a:normAutofit fontScale="77500" lnSpcReduction="20000"/>
          </a:bodyPr>
          <a:lstStyle/>
          <a:p>
            <a:pPr marL="0" indent="0">
              <a:buNone/>
              <a:defRPr/>
            </a:pPr>
            <a:r>
              <a:rPr sz="1400" b="1">
                <a:solidFill>
                  <a:srgbClr val="28285E"/>
                </a:solidFill>
              </a:rPr>
              <a:t>The tool follows symlinks and resolves .. segments before checking whether the path lies inside the workspace.</a:t>
            </a:r>
            <a:endParaRPr/>
          </a:p>
        </p:txBody>
      </p:sp>
      <p:sp>
        <p:nvSpPr>
          <p:cNvPr id="618143556"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1">
                <a:solidFill>
                  <a:srgbClr val="28285E"/>
                </a:solidFill>
              </a:rPr>
              <a:t>workspace.py, resolve, lines 50 to 68. Docstring and comments omitted.</a:t>
            </a:r>
            <a:endParaRPr/>
          </a:p>
        </p:txBody>
      </p:sp>
      <p:sp>
        <p:nvSpPr>
          <p:cNvPr id="583572143" name="CodeWindow"/>
          <p:cNvSpPr/>
          <p:nvPr/>
        </p:nvSpPr>
        <p:spPr bwMode="auto">
          <a:xfrm>
            <a:off x="319251" y="1650000"/>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8156597"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9390073"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5093721"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414967" name="WinText"/>
          <p:cNvSpPr txBox="1"/>
          <p:nvPr/>
        </p:nvSpPr>
        <p:spPr bwMode="auto">
          <a:xfrm>
            <a:off x="469251" y="1980000"/>
            <a:ext cx="5714545" cy="1470000"/>
          </a:xfrm>
          <a:prstGeom prst="rect">
            <a:avLst/>
          </a:prstGeom>
          <a:noFill/>
        </p:spPr>
        <p:txBody>
          <a:bodyPr wrap="none" lIns="0" tIns="0" rIns="0" bIns="0" anchor="t">
            <a:spAutoFit/>
          </a:bodyPr>
          <a:lstStyle/>
          <a:p>
            <a:pPr algn="l">
              <a:buNone/>
              <a:defRPr/>
            </a:pPr>
            <a:r>
              <a:rPr sz="1100" b="0">
                <a:solidFill>
                  <a:schemeClr val="accent2"/>
                </a:solidFill>
                <a:latin typeface="Aptos Mono"/>
              </a:rPr>
              <a:t>def</a:t>
            </a:r>
            <a:r>
              <a:rPr sz="1100" b="0">
                <a:solidFill>
                  <a:schemeClr val="bg1"/>
                </a:solidFill>
                <a:latin typeface="Aptos Mono"/>
              </a:rPr>
              <a:t> resolve(root: Path, path: str) -&gt; Path:</a:t>
            </a:r>
            <a:endParaRPr/>
          </a:p>
          <a:p>
            <a:pPr algn="l">
              <a:buNone/>
              <a:defRPr/>
            </a:pPr>
            <a:r>
              <a:rPr sz="1100" b="0">
                <a:solidFill>
                  <a:schemeClr val="bg1"/>
                </a:solidFill>
                <a:latin typeface="Aptos Mono"/>
              </a:rPr>
              <a:t>    root = Path(root).resolve()</a:t>
            </a:r>
            <a:endParaRPr/>
          </a:p>
          <a:p>
            <a:pPr algn="l">
              <a:buNone/>
              <a:defRPr/>
            </a:pPr>
            <a:r>
              <a:rPr sz="1100" b="0">
                <a:solidFill>
                  <a:schemeClr val="bg1"/>
                </a:solidFill>
                <a:latin typeface="Aptos Mono"/>
              </a:rPr>
              <a:t>    candidate = (root / path).resolve()</a:t>
            </a:r>
            <a:endParaRPr/>
          </a:p>
          <a:p>
            <a:pPr algn="l">
              <a:buNone/>
              <a:defRPr/>
            </a:pPr>
            <a:r>
              <a:rPr sz="1100" b="0">
                <a:solidFill>
                  <a:schemeClr val="bg1"/>
                </a:solidFill>
                <a:latin typeface="Aptos Mono"/>
              </a:rPr>
              <a:t>    </a:t>
            </a:r>
            <a:r>
              <a:rPr sz="1100" b="0">
                <a:solidFill>
                  <a:schemeClr val="accent2"/>
                </a:solidFill>
                <a:latin typeface="Aptos Mono"/>
              </a:rPr>
              <a:t>if</a:t>
            </a:r>
            <a:r>
              <a:rPr sz="1100" b="0">
                <a:solidFill>
                  <a:schemeClr val="bg1"/>
                </a:solidFill>
                <a:latin typeface="Aptos Mono"/>
              </a:rPr>
              <a:t> </a:t>
            </a:r>
            <a:r>
              <a:rPr sz="1100" b="0">
                <a:solidFill>
                  <a:schemeClr val="accent2"/>
                </a:solidFill>
                <a:latin typeface="Aptos Mono"/>
              </a:rPr>
              <a:t>not</a:t>
            </a:r>
            <a:r>
              <a:rPr sz="1100" b="0">
                <a:solidFill>
                  <a:schemeClr val="bg1"/>
                </a:solidFill>
                <a:latin typeface="Aptos Mono"/>
              </a:rPr>
              <a:t> candidate.</a:t>
            </a:r>
            <a:r>
              <a:rPr sz="1100" b="1">
                <a:solidFill>
                  <a:schemeClr val="accent4">
                    <a:lumMod val="70000"/>
                    <a:lumOff val="30000"/>
                  </a:schemeClr>
                </a:solidFill>
                <a:latin typeface="Aptos Mono"/>
              </a:rPr>
              <a:t>is_relative_to</a:t>
            </a:r>
            <a:r>
              <a:rPr sz="1100" b="0">
                <a:solidFill>
                  <a:schemeClr val="bg1"/>
                </a:solidFill>
                <a:latin typeface="Aptos Mono"/>
              </a:rPr>
              <a:t>(root):</a:t>
            </a:r>
            <a:endParaRPr/>
          </a:p>
          <a:p>
            <a:pPr algn="l">
              <a:buNone/>
              <a:defRPr/>
            </a:pPr>
            <a:r>
              <a:rPr sz="1100" b="0">
                <a:solidFill>
                  <a:schemeClr val="bg1"/>
                </a:solidFill>
                <a:latin typeface="Aptos Mono"/>
              </a:rPr>
              <a:t>        </a:t>
            </a:r>
            <a:r>
              <a:rPr sz="1100" b="0">
                <a:solidFill>
                  <a:schemeClr val="accent2"/>
                </a:solidFill>
                <a:latin typeface="Aptos Mono"/>
              </a:rPr>
              <a:t>raise</a:t>
            </a:r>
            <a:r>
              <a:rPr sz="1100" b="0">
                <a:solidFill>
                  <a:schemeClr val="bg1"/>
                </a:solidFill>
                <a:latin typeface="Aptos Mono"/>
              </a:rPr>
              <a:t> PathEscapeException(</a:t>
            </a:r>
            <a:endParaRPr/>
          </a:p>
          <a:p>
            <a:pPr algn="l">
              <a:buNone/>
              <a:defRPr/>
            </a:pPr>
            <a:r>
              <a:rPr sz="1100" b="0">
                <a:solidFill>
                  <a:schemeClr val="bg1"/>
                </a:solidFill>
                <a:latin typeface="Aptos Mono"/>
              </a:rPr>
              <a:t>            f</a:t>
            </a:r>
            <a:r>
              <a:rPr sz="1100" b="0">
                <a:solidFill>
                  <a:schemeClr val="accent3">
                    <a:lumMod val="55000"/>
                    <a:lumOff val="45000"/>
                  </a:schemeClr>
                </a:solidFill>
                <a:latin typeface="Aptos Mono"/>
              </a:rPr>
              <a:t>"{path!r} resolves outside the workspace root"</a:t>
            </a:r>
            <a:r>
              <a:rPr sz="1100" b="0">
                <a:solidFill>
                  <a:schemeClr val="bg1"/>
                </a:solidFill>
                <a:latin typeface="Aptos Mono"/>
              </a:rPr>
              <a:t>)</a:t>
            </a:r>
            <a:endParaRPr/>
          </a:p>
          <a:p>
            <a:pPr algn="l">
              <a:buNone/>
              <a:defRPr/>
            </a:pPr>
            <a:r>
              <a:rPr sz="1100" b="0">
                <a:solidFill>
                  <a:schemeClr val="bg1"/>
                </a:solidFill>
                <a:latin typeface="Aptos Mono"/>
              </a:rPr>
              <a:t>    </a:t>
            </a:r>
            <a:r>
              <a:rPr sz="1100" b="0">
                <a:solidFill>
                  <a:schemeClr val="accent2"/>
                </a:solidFill>
                <a:latin typeface="Aptos Mono"/>
              </a:rPr>
              <a:t>return</a:t>
            </a:r>
            <a:r>
              <a:rPr sz="1100" b="0">
                <a:solidFill>
                  <a:schemeClr val="bg1"/>
                </a:solidFill>
                <a:latin typeface="Aptos Mono"/>
              </a:rPr>
              <a:t> candidate</a:t>
            </a:r>
            <a:endParaRPr/>
          </a:p>
        </p:txBody>
      </p:sp>
      <p:sp>
        <p:nvSpPr>
          <p:cNvPr id="219249743" name="Rectangle 9"/>
          <p:cNvSpPr/>
          <p:nvPr/>
        </p:nvSpPr>
        <p:spPr bwMode="auto">
          <a:xfrm>
            <a:off x="319251" y="371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Both </a:t>
            </a:r>
            <a:r>
              <a:rPr sz="1200" b="0">
                <a:solidFill>
                  <a:schemeClr val="tx2"/>
                </a:solidFill>
                <a:latin typeface="Aptos Mono"/>
              </a:rPr>
              <a:t>/tmp/ws</a:t>
            </a:r>
            <a:r>
              <a:rPr sz="1200" b="1">
                <a:solidFill>
                  <a:schemeClr val="tx2"/>
                </a:solidFill>
              </a:rPr>
              <a:t> and </a:t>
            </a:r>
            <a:r>
              <a:rPr sz="1200" b="0">
                <a:solidFill>
                  <a:schemeClr val="tx2"/>
                </a:solidFill>
                <a:latin typeface="Aptos Mono"/>
              </a:rPr>
              <a:t>/tmp/ws-evil</a:t>
            </a:r>
            <a:r>
              <a:rPr sz="1200" b="1">
                <a:solidFill>
                  <a:schemeClr val="tx2"/>
                </a:solidFill>
              </a:rPr>
              <a:t> start with </a:t>
            </a:r>
            <a:r>
              <a:rPr sz="1200" b="0">
                <a:solidFill>
                  <a:schemeClr val="tx2"/>
                </a:solidFill>
                <a:latin typeface="Aptos Mono"/>
              </a:rPr>
              <a:t>/tmp/ws</a:t>
            </a:r>
            <a:r>
              <a:rPr sz="1200" b="1">
                <a:solidFill>
                  <a:schemeClr val="tx2"/>
                </a:solidFill>
              </a:rPr>
              <a:t>. A prefix comparison would wrongly accept the second directory.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79990510" name="Title 1"/>
          <p:cNvSpPr>
            <a:spLocks noGrp="1"/>
          </p:cNvSpPr>
          <p:nvPr>
            <p:ph type="title"/>
          </p:nvPr>
        </p:nvSpPr>
        <p:spPr bwMode="auto"/>
        <p:txBody>
          <a:bodyPr/>
          <a:lstStyle/>
          <a:p>
            <a:pPr>
              <a:defRPr/>
            </a:pPr>
            <a:r>
              <a:rPr/>
              <a:t>A refused read and an unchecked search</a:t>
            </a:r>
            <a:endParaRPr/>
          </a:p>
        </p:txBody>
      </p:sp>
      <p:sp>
        <p:nvSpPr>
          <p:cNvPr id="1012931025"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Aptos Mono"/>
              </a:rPr>
              <a:t>read_file</a:t>
            </a:r>
            <a:r>
              <a:rPr sz="1400" b="0">
                <a:solidFill>
                  <a:schemeClr val="tx1"/>
                </a:solidFill>
              </a:rPr>
              <a:t> refuses </a:t>
            </a:r>
            <a:r>
              <a:rPr sz="1400" b="0">
                <a:solidFill>
                  <a:schemeClr val="tx1"/>
                </a:solidFill>
                <a:latin typeface="Aptos Mono"/>
              </a:rPr>
              <a:t>../../etc/passwd</a:t>
            </a:r>
            <a:r>
              <a:rPr sz="1400" b="0">
                <a:solidFill>
                  <a:schemeClr val="tx1"/>
                </a:solidFill>
              </a:rPr>
              <a:t>. The dispatcher returns an observation with </a:t>
            </a:r>
            <a:r>
              <a:rPr sz="1400" b="0">
                <a:solidFill>
                  <a:schemeClr val="tx1"/>
                </a:solidFill>
                <a:latin typeface="Aptos Mono"/>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Char char="●"/>
              <a:defRPr/>
            </a:pPr>
            <a:r>
              <a:rPr sz="1400" b="1">
                <a:solidFill>
                  <a:schemeClr val="tx1"/>
                </a:solidFill>
              </a:rPr>
              <a:t>search</a:t>
            </a:r>
            <a:r>
              <a:rPr sz="1400" b="0">
                <a:solidFill>
                  <a:schemeClr val="tx1"/>
                </a:solidFill>
              </a:rPr>
              <a:t> with </a:t>
            </a:r>
            <a:r>
              <a:rPr sz="1400" b="0">
                <a:solidFill>
                  <a:schemeClr val="tx1"/>
                </a:solidFill>
                <a:latin typeface="Aptos Mono"/>
              </a:rPr>
              <a:t>../*-withheld/testcode/*.py</a:t>
            </a:r>
            <a:r>
              <a:rPr sz="1400" b="0">
                <a:solidFill>
                  <a:schemeClr val="tx1"/>
                </a:solidFill>
              </a:rPr>
              <a:t> reads benchmark files in a sibling directory outside the workspace and reports </a:t>
            </a:r>
            <a:r>
              <a:rPr sz="1400" b="0">
                <a:solidFill>
                  <a:schemeClr val="tx1"/>
                </a:solidFill>
                <a:latin typeface="Aptos Mono"/>
              </a:rPr>
              <a:t>ok=true</a:t>
            </a:r>
            <a:r>
              <a:rPr sz="1400" b="0">
                <a:solidFill>
                  <a:schemeClr val="tx1"/>
                </a:solidFill>
              </a:rPr>
              <a:t>.</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Aptos Mono"/>
              </a:rPr>
              <a:t>read_file</a:t>
            </a:r>
            <a:r>
              <a:rPr sz="1400" b="1">
                <a:solidFill>
                  <a:schemeClr val="tx1"/>
                </a:solidFill>
              </a:rPr>
              <a:t> and edit</a:t>
            </a:r>
            <a:r>
              <a:rPr sz="1400" b="0">
                <a:solidFill>
                  <a:schemeClr val="tx1"/>
                </a:solidFill>
              </a:rPr>
              <a:t> check paths with </a:t>
            </a:r>
            <a:r>
              <a:rPr sz="1400" b="0">
                <a:solidFill>
                  <a:schemeClr val="tx1"/>
                </a:solidFill>
                <a:latin typeface="Aptos Mono"/>
              </a:rPr>
              <a:t>workspace.resolve</a:t>
            </a:r>
            <a:r>
              <a:rPr sz="1400" b="0">
                <a:solidFill>
                  <a:schemeClr val="tx1"/>
                </a:solidFill>
              </a:rPr>
              <a:t>. The search tool uses its glob without this check.</a:t>
            </a:r>
            <a:endParaRPr/>
          </a:p>
        </p:txBody>
      </p:sp>
      <p:sp>
        <p:nvSpPr>
          <p:cNvPr id="612652842"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repair is to check every file matched by search with </a:t>
            </a:r>
            <a:r>
              <a:rPr sz="1400" b="0">
                <a:solidFill>
                  <a:schemeClr val="tx2"/>
                </a:solidFill>
                <a:latin typeface="Aptos Mono"/>
              </a:rPr>
              <a:t>workspace.resolve</a:t>
            </a:r>
            <a:r>
              <a:rPr sz="1400" b="0">
                <a:solidFill>
                  <a:schemeClr val="tx2"/>
                </a:solidFill>
              </a:rPr>
              <a:t> before opening it.</a:t>
            </a:r>
            <a:endParaRPr/>
          </a:p>
        </p:txBody>
      </p:sp>
      <p:sp>
        <p:nvSpPr>
          <p:cNvPr id="150986396" name="Rectangle 4"/>
          <p:cNvSpPr/>
          <p:nvPr/>
        </p:nvSpPr>
        <p:spPr bwMode="auto">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All writes pass through the path check. The search tool can still read files outside the workspace.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2"/>
        </a:solidFill>
      </p:bgPr>
    </p:bg>
    <p:spTree>
      <p:nvGrpSpPr>
        <p:cNvPr id="1" name=""/>
        <p:cNvGrpSpPr/>
        <p:nvPr/>
      </p:nvGrpSpPr>
      <p:grpSpPr bwMode="auto">
        <a:xfrm>
          <a:off x="0" y="0"/>
          <a:ext cx="0" cy="0"/>
          <a:chOff x="0" y="0"/>
          <a:chExt cx="0" cy="0"/>
        </a:xfrm>
      </p:grpSpPr>
      <p:sp>
        <p:nvSpPr>
          <p:cNvPr id="902110377" name="Title 1"/>
          <p:cNvSpPr>
            <a:spLocks noGrp="1"/>
          </p:cNvSpPr>
          <p:nvPr>
            <p:ph type="title"/>
          </p:nvPr>
        </p:nvSpPr>
        <p:spPr bwMode="auto"/>
        <p:txBody>
          <a:bodyPr/>
          <a:lstStyle/>
          <a:p>
            <a:pPr>
              <a:defRPr/>
            </a:pPr>
            <a:r>
              <a:rPr>
                <a:solidFill>
                  <a:schemeClr val="tx2"/>
                </a:solidFill>
              </a:rPr>
              <a:t>Event-driven scheduling</a:t>
            </a:r>
            <a:endParaRPr/>
          </a:p>
        </p:txBody>
      </p:sp>
      <p:sp>
        <p:nvSpPr>
          <p:cNvPr id="164809690" name="Rectangle 2"/>
          <p:cNvSpPr/>
          <p:nvPr/>
        </p:nvSpPr>
        <p:spPr bwMode="auto">
          <a:xfrm>
            <a:off x="319251" y="1700000"/>
            <a:ext cx="6014545" cy="1300000"/>
          </a:xfrm>
          <a:prstGeom prst="rect">
            <a:avLst/>
          </a:prstGeom>
          <a:solidFill>
            <a:srgbClr val="28285E"/>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In this graph, a routing function selects the next node. The scheduler runs that node in the next superstep.</a:t>
            </a:r>
            <a:endParaRPr/>
          </a:p>
          <a:p>
            <a:pPr>
              <a:spcBef>
                <a:spcPts val="1000"/>
              </a:spcBef>
              <a:defRPr/>
            </a:pPr>
            <a:r>
              <a:rPr sz="1400" b="0">
                <a:solidFill>
                  <a:schemeClr val="tx2"/>
                </a:solidFill>
              </a:rPr>
              <a:t>With event-driven scheduling, a computation emits an event and the runtime calls the function registered to handle it. The tool contract and dispatcher stay the same.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8004892" name="TextBox 1"/>
          <p:cNvSpPr txBox="1"/>
          <p:nvPr/>
        </p:nvSpPr>
        <p:spPr bwMode="auto">
          <a:xfrm>
            <a:off x="429000" y="1863864"/>
            <a:ext cx="6000000" cy="1415772"/>
          </a:xfrm>
          <a:prstGeom prst="rect">
            <a:avLst/>
          </a:prstGeom>
          <a:noFill/>
        </p:spPr>
        <p:txBody>
          <a:bodyPr wrap="square" anchor="ctr">
            <a:spAutoFit/>
          </a:bodyPr>
          <a:lstStyle/>
          <a:p>
            <a:pPr algn="ctr">
              <a:defRPr/>
            </a:pPr>
            <a:r>
              <a:rPr sz="4000" b="1">
                <a:solidFill>
                  <a:schemeClr val="tx2"/>
                </a:solidFill>
                <a:latin typeface="+mj-lt"/>
              </a:rPr>
              <a:t>Event-triggered realization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2684323" name="Title 1"/>
          <p:cNvSpPr>
            <a:spLocks noGrp="1"/>
          </p:cNvSpPr>
          <p:nvPr>
            <p:ph type="title"/>
          </p:nvPr>
        </p:nvSpPr>
        <p:spPr bwMode="auto"/>
        <p:txBody>
          <a:bodyPr/>
          <a:lstStyle/>
          <a:p>
            <a:pPr>
              <a:defRPr/>
            </a:pPr>
            <a:r>
              <a:rPr/>
              <a:t>Two ways to invoke the next computation</a:t>
            </a:r>
            <a:endParaRPr/>
          </a:p>
        </p:txBody>
      </p:sp>
      <p:sp>
        <p:nvSpPr>
          <p:cNvPr id="954076088" name="Content Placeholder 2"/>
          <p:cNvSpPr>
            <a:spLocks noGrp="1"/>
          </p:cNvSpPr>
          <p:nvPr>
            <p:ph idx="1"/>
          </p:nvPr>
        </p:nvSpPr>
        <p:spPr bwMode="auto">
          <a:xfrm>
            <a:off x="319251" y="700000"/>
            <a:ext cx="6014545" cy="500000"/>
          </a:xfrm>
        </p:spPr>
        <p:txBody>
          <a:bodyPr wrap="square" anchor="ctr"/>
          <a:lstStyle/>
          <a:p>
            <a:pPr marL="0" indent="0">
              <a:buNone/>
              <a:defRPr/>
            </a:pPr>
            <a:r>
              <a:rPr sz="1400" b="1">
                <a:solidFill>
                  <a:srgbClr val="28285E"/>
                </a:solidFill>
              </a:rPr>
              <a:t>A graph and an event loop can run the same machine with different mechanisms for invoking application code.</a:t>
            </a:r>
            <a:endParaRPr/>
          </a:p>
        </p:txBody>
      </p:sp>
      <p:pic>
        <p:nvPicPr>
          <p:cNvPr id="1356804155" name="Figure s5-two-mechanisms" descr="s5-two-mechanisms.png"/>
          <p:cNvPicPr>
            <a:picLocks noChangeAspect="1"/>
          </p:cNvPicPr>
          <p:nvPr/>
        </p:nvPicPr>
        <p:blipFill rotWithShape="1">
          <a:blip r:embed="rId3"/>
          <a:stretch/>
        </p:blipFill>
        <p:spPr bwMode="auto">
          <a:xfrm>
            <a:off x="250148" y="1390000"/>
            <a:ext cx="6152752" cy="1410922"/>
          </a:xfrm>
          <a:prstGeom prst="rect">
            <a:avLst/>
          </a:prstGeom>
        </p:spPr>
      </p:pic>
      <p:sp>
        <p:nvSpPr>
          <p:cNvPr id="561234161" name="Rectangle 4"/>
          <p:cNvSpPr/>
          <p:nvPr/>
        </p:nvSpPr>
        <p:spPr bwMode="auto">
          <a:xfrm>
            <a:off x="319251" y="2990922"/>
            <a:ext cx="6014545" cy="70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In the graph, a routing function selects the next node and the scheduler runs it next. In an event loop, a computation emits an event and the runtime invokes the registered handler.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97437872" name="Title 1"/>
          <p:cNvSpPr>
            <a:spLocks noGrp="1"/>
          </p:cNvSpPr>
          <p:nvPr>
            <p:ph type="title"/>
          </p:nvPr>
        </p:nvSpPr>
        <p:spPr bwMode="auto"/>
        <p:txBody>
          <a:bodyPr/>
          <a:lstStyle/>
          <a:p>
            <a:pPr>
              <a:defRPr/>
            </a:pPr>
            <a:r>
              <a:rPr/>
              <a:t>Event, handler and event loop</a:t>
            </a:r>
            <a:endParaRPr/>
          </a:p>
        </p:txBody>
      </p:sp>
      <p:sp>
        <p:nvSpPr>
          <p:cNvPr id="775202062" name="Content Placeholder 2"/>
          <p:cNvSpPr>
            <a:spLocks noGrp="1"/>
          </p:cNvSpPr>
          <p:nvPr>
            <p:ph idx="1"/>
          </p:nvPr>
        </p:nvSpPr>
        <p:spPr bwMode="auto">
          <a:xfrm>
            <a:off x="319251" y="700000"/>
            <a:ext cx="6014545" cy="500000"/>
          </a:xfrm>
        </p:spPr>
        <p:txBody>
          <a:bodyPr wrap="square" anchor="ctr"/>
          <a:lstStyle/>
          <a:p>
            <a:pPr marL="0" indent="0">
              <a:buNone/>
              <a:defRPr/>
            </a:pPr>
            <a:r>
              <a:rPr sz="1400" b="1">
                <a:solidFill>
                  <a:srgbClr val="28285E"/>
                </a:solidFill>
              </a:rPr>
              <a:t>Three definitions describe the arrangement. Definitions 5.1 to 5.3 in the lecture notes.</a:t>
            </a:r>
            <a:endParaRPr/>
          </a:p>
        </p:txBody>
      </p:sp>
      <p:graphicFrame>
        <p:nvGraphicFramePr>
          <p:cNvPr id="1976512221" name="Table 3"/>
          <p:cNvGraphicFramePr>
            <a:graphicFrameLocks xmlns:a="http://schemas.openxmlformats.org/drawingml/2006/main" noGrp="1"/>
          </p:cNvGraphicFramePr>
          <p:nvPr/>
        </p:nvGraphicFramePr>
        <p:xfrm rot="0">
          <a:off x="319251" y="1390000"/>
          <a:ext cx="6014545" cy="1887246"/>
        </p:xfrm>
        <a:graphic>
          <a:graphicData uri="http://schemas.openxmlformats.org/drawingml/2006/table">
            <a:tbl>
              <a:tblPr firstRow="1" firstCol="0" lastRow="0" lastCol="0" bandRow="1" bandCol="0">
                <a:tableStyleId>{5C22544A-7EE6-4342-B048-85BDC9FD1C3A}</a:tableStyleId>
              </a:tblPr>
              <a:tblGrid>
                <a:gridCol w="1239525"/>
                <a:gridCol w="4775020"/>
              </a:tblGrid>
              <a:tr h="300000">
                <a:tc>
                  <a:txBody>
                    <a:bodyPr/>
                    <a:p>
                      <a:pPr>
                        <a:buNone/>
                        <a:defRPr/>
                      </a:pPr>
                      <a:r>
                        <a:rPr sz="1200" b="1">
                          <a:solidFill>
                            <a:schemeClr val="tx1"/>
                          </a:solidFill>
                        </a:rPr>
                        <a:t>Term</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200" b="1">
                          <a:solidFill>
                            <a:schemeClr val="tx1"/>
                          </a:solidFill>
                        </a:rPr>
                        <a:t>Definition</a:t>
                      </a:r>
                      <a:endParaRPr/>
                    </a:p>
                  </a:txBody>
                  <a:tcPr marL="95250" marR="95250" marT="47625" marB="47625">
                    <a:lnT w="19050" algn="ctr">
                      <a:solidFill>
                        <a:schemeClr val="tx1"/>
                      </a:solidFill>
                    </a:lnT>
                    <a:lnB w="12700" algn="ctr">
                      <a:solidFill>
                        <a:schemeClr val="tx1"/>
                      </a:solidFill>
                    </a:lnB>
                    <a:noFill/>
                  </a:tcPr>
                </a:tc>
              </a:tr>
              <a:tr h="0">
                <a:tc>
                  <a:txBody>
                    <a:bodyPr/>
                    <a:p>
                      <a:pPr>
                        <a:buNone/>
                        <a:defRPr/>
                      </a:pPr>
                      <a:r>
                        <a:rPr sz="1200" b="1">
                          <a:solidFill>
                            <a:srgbClr val="28285E"/>
                          </a:solidFill>
                        </a:rPr>
                        <a:t>Event</a:t>
                      </a:r>
                      <a:endParaRPr/>
                    </a:p>
                  </a:txBody>
                  <a:tcPr marL="95250" marR="95250" marT="47625" marB="47625">
                    <a:lnB w="12700" algn="ctr">
                      <a:solidFill>
                        <a:schemeClr val="tx1"/>
                      </a:solidFill>
                    </a:lnB>
                    <a:noFill/>
                  </a:tcPr>
                </a:tc>
                <a:tc>
                  <a:txBody>
                    <a:bodyPr/>
                    <a:p>
                      <a:pPr>
                        <a:buNone/>
                        <a:defRPr/>
                      </a:pPr>
                      <a:r>
                        <a:rPr sz="1200" b="0">
                          <a:solidFill>
                            <a:schemeClr val="tx1"/>
                          </a:solidFill>
                        </a:rPr>
                        <a:t>Any occurrence that could necessitate a change in the program's state.</a:t>
                      </a:r>
                      <a:endParaRPr/>
                    </a:p>
                  </a:txBody>
                  <a:tcPr marL="95250" marR="95250" marT="47625" marB="47625">
                    <a:lnB w="12700" algn="ctr">
                      <a:solidFill>
                        <a:schemeClr val="tx1"/>
                      </a:solidFill>
                    </a:lnB>
                    <a:noFill/>
                  </a:tcPr>
                </a:tc>
              </a:tr>
              <a:tr h="0">
                <a:tc>
                  <a:txBody>
                    <a:bodyPr/>
                    <a:p>
                      <a:pPr>
                        <a:buNone/>
                        <a:defRPr/>
                      </a:pPr>
                      <a:r>
                        <a:rPr sz="1200" b="1">
                          <a:solidFill>
                            <a:srgbClr val="28285E"/>
                          </a:solidFill>
                        </a:rPr>
                        <a:t>Handler</a:t>
                      </a:r>
                      <a:endParaRPr/>
                    </a:p>
                  </a:txBody>
                  <a:tcPr marL="95250" marR="95250" marT="47625" marB="47625">
                    <a:lnB w="12700" algn="ctr">
                      <a:solidFill>
                        <a:schemeClr val="tx1"/>
                      </a:solidFill>
                    </a:lnB>
                    <a:noFill/>
                  </a:tcPr>
                </a:tc>
                <a:tc>
                  <a:txBody>
                    <a:bodyPr/>
                    <a:p>
                      <a:pPr>
                        <a:buNone/>
                        <a:defRPr/>
                      </a:pPr>
                      <a:r>
                        <a:rPr sz="1200" b="0">
                          <a:solidFill>
                            <a:schemeClr val="tx1"/>
                          </a:solidFill>
                        </a:rPr>
                        <a:t>A piece of code that understands how to respond to a particular event. For events to reach it, it must register with the event loop.</a:t>
                      </a:r>
                      <a:endParaRPr/>
                    </a:p>
                  </a:txBody>
                  <a:tcPr marL="95250" marR="95250" marT="47625" marB="47625">
                    <a:lnB w="12700" algn="ctr">
                      <a:solidFill>
                        <a:schemeClr val="tx1"/>
                      </a:solidFill>
                    </a:lnB>
                    <a:noFill/>
                  </a:tcPr>
                </a:tc>
              </a:tr>
              <a:tr h="0">
                <a:tc>
                  <a:txBody>
                    <a:bodyPr/>
                    <a:p>
                      <a:pPr>
                        <a:buNone/>
                        <a:defRPr/>
                      </a:pPr>
                      <a:r>
                        <a:rPr sz="1200" b="1">
                          <a:solidFill>
                            <a:srgbClr val="28285E"/>
                          </a:solidFill>
                        </a:rPr>
                        <a:t>Event loop</a:t>
                      </a:r>
                      <a:endParaRPr/>
                    </a:p>
                  </a:txBody>
                  <a:tcPr marL="95250" marR="95250" marT="47625" marB="47625">
                    <a:lnB w="12700" algn="ctr">
                      <a:solidFill>
                        <a:schemeClr val="tx1"/>
                      </a:solidFill>
                    </a:lnB>
                    <a:noFill/>
                  </a:tcPr>
                </a:tc>
                <a:tc>
                  <a:txBody>
                    <a:bodyPr/>
                    <a:p>
                      <a:pPr>
                        <a:buNone/>
                        <a:defRPr/>
                      </a:pPr>
                      <a:r>
                        <a:rPr sz="1200" b="0">
                          <a:solidFill>
                            <a:schemeClr val="tx1"/>
                          </a:solidFill>
                        </a:rPr>
                        <a:t>A piece of code that repeatedly checks whether a new event has occurred and dispatches any detected events to code that can handle them.</a:t>
                      </a:r>
                      <a:endParaRPr/>
                    </a:p>
                  </a:txBody>
                  <a:tcPr marL="95250" marR="95250" marT="47625" marB="47625">
                    <a:lnB w="12700" algn="ctr">
                      <a:solidFill>
                        <a:schemeClr val="tx1"/>
                      </a:solidFill>
                    </a:lnB>
                    <a:noFill/>
                  </a:tcPr>
                </a:tc>
              </a:tr>
            </a:tbl>
          </a:graphicData>
        </a:graphic>
      </p:graphicFrame>
      <p:sp>
        <p:nvSpPr>
          <p:cNvPr id="2140122624" name="Rectangle 4"/>
          <p:cNvSpPr/>
          <p:nvPr/>
        </p:nvSpPr>
        <p:spPr bwMode="auto">
          <a:xfrm>
            <a:off x="319251" y="3467246"/>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For an agent, an event is either an occurrence, such as the plan is ready, or a request, such as run these tools. Both are values.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9201649" name="Title 1"/>
          <p:cNvSpPr>
            <a:spLocks noGrp="1"/>
          </p:cNvSpPr>
          <p:nvPr>
            <p:ph type="title"/>
          </p:nvPr>
        </p:nvSpPr>
        <p:spPr bwMode="auto"/>
        <p:txBody>
          <a:bodyPr/>
          <a:lstStyle/>
          <a:p>
            <a:pPr>
              <a:defRPr/>
            </a:pPr>
            <a:r>
              <a:rPr/>
              <a:t>Inversion of control</a:t>
            </a:r>
            <a:endParaRPr/>
          </a:p>
        </p:txBody>
      </p:sp>
      <p:sp>
        <p:nvSpPr>
          <p:cNvPr id="1463017339"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We write the subroutines. A framework controls when they run.</a:t>
            </a:r>
            <a:endParaRPr/>
          </a:p>
          <a:p>
            <a:pPr marL="400050" indent="-285750">
              <a:spcBef>
                <a:spcPts val="600"/>
              </a:spcBef>
              <a:spcAft>
                <a:spcPts val="600"/>
              </a:spcAft>
              <a:buClr>
                <a:srgbClr val="28285E"/>
              </a:buClr>
              <a:buSzPts val="1260"/>
              <a:buFont typeface="+mn-lt"/>
              <a:buChar char="●"/>
              <a:defRPr/>
            </a:pPr>
            <a:r>
              <a:rPr sz="1400" b="1">
                <a:solidFill>
                  <a:schemeClr val="tx1"/>
                </a:solidFill>
              </a:rPr>
              <a:t>Application code defines a handler's response: </a:t>
            </a:r>
            <a:r>
              <a:rPr sz="1400" b="0">
                <a:solidFill>
                  <a:schemeClr val="tx1"/>
                </a:solidFill>
              </a:rPr>
              <a:t>the fields it writes and the event it emits.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framework decides which handler runs, </a:t>
            </a:r>
            <a:r>
              <a:rPr sz="1400" b="0">
                <a:solidFill>
                  <a:schemeClr val="tx1"/>
                </a:solidFill>
              </a:rPr>
              <a:t>when, and in what order pending events are processed.</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graph divides the same way: </a:t>
            </a:r>
            <a:r>
              <a:rPr sz="1400" b="0">
                <a:solidFill>
                  <a:schemeClr val="tx1"/>
                </a:solidFill>
              </a:rPr>
              <a:t>we write nodes and routing functions, and the scheduler runs them.</a:t>
            </a:r>
            <a:endParaRPr/>
          </a:p>
        </p:txBody>
      </p:sp>
      <p:sp>
        <p:nvSpPr>
          <p:cNvPr id="498517785"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Application code defines the response to an event. The framework controls its invocation.</a:t>
            </a:r>
            <a:endParaRPr/>
          </a:p>
        </p:txBody>
      </p:sp>
      <p:sp>
        <p:nvSpPr>
          <p:cNvPr id="1348580239" name="Rectangle 4"/>
          <p:cNvSpPr/>
          <p:nvPr/>
        </p:nvSpPr>
        <p:spPr bwMode="auto">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 graph chooses the next computation in a routing function. A handler chooses the event type it emits.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07703129" name="Title 1"/>
          <p:cNvSpPr>
            <a:spLocks noGrp="1"/>
          </p:cNvSpPr>
          <p:nvPr>
            <p:ph type="title"/>
          </p:nvPr>
        </p:nvSpPr>
        <p:spPr bwMode="auto"/>
        <p:txBody>
          <a:bodyPr/>
          <a:lstStyle/>
          <a:p>
            <a:pPr>
              <a:defRPr/>
            </a:pPr>
            <a:r>
              <a:rPr/>
              <a:t>Event-triggered and time-triggered reactions</a:t>
            </a:r>
            <a:endParaRPr/>
          </a:p>
        </p:txBody>
      </p:sp>
      <p:sp>
        <p:nvSpPr>
          <p:cNvPr id="280412726"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realization changes when a transition is taken. The set of transitions stays the same.</a:t>
            </a:r>
            <a:endParaRPr/>
          </a:p>
          <a:p>
            <a:pPr marL="400050" indent="-285750">
              <a:spcBef>
                <a:spcPts val="600"/>
              </a:spcBef>
              <a:spcAft>
                <a:spcPts val="600"/>
              </a:spcAft>
              <a:buClr>
                <a:srgbClr val="28285E"/>
              </a:buClr>
              <a:buSzPts val="1260"/>
              <a:buFont typeface="+mn-lt"/>
              <a:buChar char="●"/>
              <a:defRPr/>
            </a:pPr>
            <a:r>
              <a:rPr sz="1400" b="1">
                <a:solidFill>
                  <a:schemeClr val="tx1"/>
                </a:solidFill>
              </a:rPr>
              <a:t>A state-machine diagram does not specify </a:t>
            </a:r>
            <a:r>
              <a:rPr sz="1400" b="0">
                <a:solidFill>
                  <a:schemeClr val="tx1"/>
                </a:solidFill>
              </a:rPr>
              <a:t>when a reaction occurs.</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Event-triggered means a reaction when an input is present. </a:t>
            </a:r>
            <a:r>
              <a:rPr sz="1400" b="0">
                <a:solidFill>
                  <a:schemeClr val="tx1"/>
                </a:solidFill>
              </a:rPr>
              <a:t>Time-triggered means one on each clock tick.</a:t>
            </a:r>
            <a:endParaRPr/>
          </a:p>
          <a:p>
            <a:pPr marL="400050" indent="-285750">
              <a:spcBef>
                <a:spcPts val="600"/>
              </a:spcBef>
              <a:spcAft>
                <a:spcPts val="600"/>
              </a:spcAft>
              <a:buClr>
                <a:srgbClr val="28285E"/>
              </a:buClr>
              <a:buSzPts val="1260"/>
              <a:buFont typeface="+mn-lt"/>
              <a:buChar char="●"/>
              <a:defRPr/>
            </a:pPr>
            <a:r>
              <a:rPr sz="1400" b="1">
                <a:solidFill>
                  <a:schemeClr val="tx1"/>
                </a:solidFill>
              </a:rPr>
              <a:t>Our graph uses no clock, </a:t>
            </a:r>
            <a:r>
              <a:rPr sz="1400" b="0">
                <a:solidFill>
                  <a:schemeClr val="tx1"/>
                </a:solidFill>
              </a:rPr>
              <a:t>so both realizations are event-triggered: they react when an input is present.</a:t>
            </a:r>
            <a:endParaRPr/>
          </a:p>
        </p:txBody>
      </p:sp>
      <p:sp>
        <p:nvSpPr>
          <p:cNvPr id="1462355704"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planning agent's machine retains its locations, guards and set actions under either choice.</a:t>
            </a:r>
            <a:endParaRPr/>
          </a:p>
        </p:txBody>
      </p:sp>
      <p:sp>
        <p:nvSpPr>
          <p:cNvPr id="198525874" name="Rectangle 4"/>
          <p:cNvSpPr/>
          <p:nvPr/>
        </p:nvSpPr>
        <p:spPr bwMode="auto">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 transition such as no reply within thirty seconds needs a timer to emit its event. Otherwise it is never taken.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71933281" name="Title 1"/>
          <p:cNvSpPr>
            <a:spLocks noGrp="1"/>
          </p:cNvSpPr>
          <p:nvPr>
            <p:ph type="title"/>
          </p:nvPr>
        </p:nvSpPr>
        <p:spPr bwMode="auto"/>
        <p:txBody>
          <a:bodyPr/>
          <a:lstStyle/>
          <a:p>
            <a:pPr>
              <a:defRPr/>
            </a:pPr>
            <a:r>
              <a:rPr/>
              <a:t>The planning agent as an event loop</a:t>
            </a:r>
            <a:endParaRPr/>
          </a:p>
        </p:txBody>
      </p:sp>
      <p:sp>
        <p:nvSpPr>
          <p:cNvPr id="1319525938" name="Content Placeholder 2"/>
          <p:cNvSpPr>
            <a:spLocks noGrp="1"/>
          </p:cNvSpPr>
          <p:nvPr>
            <p:ph idx="1"/>
          </p:nvPr>
        </p:nvSpPr>
        <p:spPr bwMode="auto">
          <a:xfrm>
            <a:off x="319251" y="700000"/>
            <a:ext cx="6014545" cy="500000"/>
          </a:xfrm>
        </p:spPr>
        <p:txBody>
          <a:bodyPr wrap="square" anchor="ctr"/>
          <a:lstStyle/>
          <a:p>
            <a:pPr marL="0" indent="0">
              <a:buNone/>
              <a:defRPr/>
            </a:pPr>
            <a:r>
              <a:rPr sz="1400" b="1">
                <a:solidFill>
                  <a:srgbClr val="28285E"/>
                </a:solidFill>
              </a:rPr>
              <a:t>Figure 8 in the notes: the planning agent under the proposed event translation. No code implements it.</a:t>
            </a:r>
            <a:endParaRPr/>
          </a:p>
        </p:txBody>
      </p:sp>
      <p:pic>
        <p:nvPicPr>
          <p:cNvPr id="727398494" name="Figure s5-event-loop" descr="s5-event-loop.png"/>
          <p:cNvPicPr>
            <a:picLocks noChangeAspect="1"/>
          </p:cNvPicPr>
          <p:nvPr/>
        </p:nvPicPr>
        <p:blipFill rotWithShape="1">
          <a:blip r:embed="rId3"/>
          <a:stretch/>
        </p:blipFill>
        <p:spPr bwMode="auto">
          <a:xfrm>
            <a:off x="586757" y="1390000"/>
            <a:ext cx="5479535" cy="2647037"/>
          </a:xfrm>
          <a:prstGeom prst="rect">
            <a:avLst/>
          </a:prstGeom>
        </p:spPr>
      </p:pic>
      <p:sp>
        <p:nvSpPr>
          <p:cNvPr id="245984903" name="Rectangle 4"/>
          <p:cNvSpPr/>
          <p:nvPr/>
        </p:nvSpPr>
        <p:spPr bwMode="auto">
          <a:xfrm>
            <a:off x="319251" y="4227037"/>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Solid arrows name the event types each handler accepts. Emitted events return to the queue along the dashed path.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80750369" name="Title 1"/>
          <p:cNvSpPr>
            <a:spLocks noGrp="1"/>
          </p:cNvSpPr>
          <p:nvPr>
            <p:ph type="title"/>
          </p:nvPr>
        </p:nvSpPr>
        <p:spPr bwMode="auto"/>
        <p:txBody>
          <a:bodyPr/>
          <a:lstStyle/>
          <a:p>
            <a:pPr>
              <a:defRPr/>
            </a:pPr>
            <a:r>
              <a:rPr/>
              <a:t>The configuration under an event loop</a:t>
            </a:r>
            <a:endParaRPr/>
          </a:p>
        </p:txBody>
      </p:sp>
      <p:sp>
        <p:nvSpPr>
          <p:cNvPr id="118552780" name="Content Placeholder 2"/>
          <p:cNvSpPr>
            <a:spLocks noGrp="1"/>
          </p:cNvSpPr>
          <p:nvPr>
            <p:ph idx="1"/>
          </p:nvPr>
        </p:nvSpPr>
        <p:spPr bwMode="auto">
          <a:xfrm>
            <a:off x="319251" y="700000"/>
            <a:ext cx="6014545" cy="500000"/>
          </a:xfrm>
        </p:spPr>
        <p:txBody>
          <a:bodyPr wrap="square" anchor="ctr"/>
          <a:lstStyle/>
          <a:p>
            <a:pPr marL="0" indent="0">
              <a:buNone/>
              <a:defRPr/>
            </a:pPr>
            <a:r>
              <a:rPr sz="1400" b="1">
                <a:solidFill>
                  <a:srgbClr val="28285E"/>
                </a:solidFill>
              </a:rPr>
              <a:t>The event realization requires a larger configuration than the graph realization.</a:t>
            </a:r>
            <a:endParaRPr/>
          </a:p>
        </p:txBody>
      </p:sp>
      <p:graphicFrame>
        <p:nvGraphicFramePr>
          <p:cNvPr id="1169835705" name="Table 3"/>
          <p:cNvGraphicFramePr>
            <a:graphicFrameLocks xmlns:a="http://schemas.openxmlformats.org/drawingml/2006/main" noGrp="1"/>
          </p:cNvGraphicFramePr>
          <p:nvPr/>
        </p:nvGraphicFramePr>
        <p:xfrm rot="0">
          <a:off x="319251" y="1390000"/>
          <a:ext cx="6014545" cy="1606068"/>
        </p:xfrm>
        <a:graphic>
          <a:graphicData uri="http://schemas.openxmlformats.org/drawingml/2006/table">
            <a:tbl>
              <a:tblPr firstRow="1" firstCol="0" lastRow="0" lastCol="0" bandRow="1" bandCol="0">
                <a:tableStyleId>{5C22544A-7EE6-4342-B048-85BDC9FD1C3A}</a:tableStyleId>
              </a:tblPr>
              <a:tblGrid>
                <a:gridCol w="1239525"/>
                <a:gridCol w="2900000"/>
                <a:gridCol w="1875020"/>
              </a:tblGrid>
              <a:tr h="300000">
                <a:tc>
                  <a:txBody>
                    <a:bodyPr/>
                    <a:p>
                      <a:pPr>
                        <a:buNone/>
                        <a:defRPr/>
                      </a:pPr>
                      <a:r>
                        <a:rPr sz="1200" b="1">
                          <a:solidFill>
                            <a:schemeClr val="tx1"/>
                          </a:solidFill>
                        </a:rPr>
                        <a:t>Realization</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200" b="1">
                          <a:solidFill>
                            <a:schemeClr val="tx1"/>
                          </a:solidFill>
                        </a:rPr>
                        <a:t>Configuration</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200" b="1">
                          <a:solidFill>
                            <a:schemeClr val="tx1"/>
                          </a:solidFill>
                        </a:rPr>
                        <a:t>Maintained by</a:t>
                      </a:r>
                      <a:endParaRPr/>
                    </a:p>
                  </a:txBody>
                  <a:tcPr marL="95250" marR="95250" marT="47625" marB="47625">
                    <a:lnT w="19050" algn="ctr">
                      <a:solidFill>
                        <a:schemeClr val="tx1"/>
                      </a:solidFill>
                    </a:lnT>
                    <a:lnB w="12700" algn="ctr">
                      <a:solidFill>
                        <a:schemeClr val="tx1"/>
                      </a:solidFill>
                    </a:lnB>
                    <a:noFill/>
                  </a:tcPr>
                </a:tc>
              </a:tr>
              <a:tr h="0">
                <a:tc>
                  <a:txBody>
                    <a:bodyPr/>
                    <a:p>
                      <a:pPr>
                        <a:buNone/>
                        <a:defRPr/>
                      </a:pPr>
                      <a:r>
                        <a:rPr sz="1200" b="1">
                          <a:solidFill>
                            <a:srgbClr val="28285E"/>
                          </a:solidFill>
                        </a:rPr>
                        <a:t>Graph</a:t>
                      </a:r>
                      <a:endParaRPr/>
                    </a:p>
                  </a:txBody>
                  <a:tcPr marL="95250" marR="95250" marT="47625" marB="47625">
                    <a:lnB w="12700" algn="ctr">
                      <a:solidFill>
                        <a:schemeClr val="tx1"/>
                      </a:solidFill>
                    </a:lnB>
                    <a:noFill/>
                  </a:tcPr>
                </a:tc>
                <a:tc>
                  <a:txBody>
                    <a:bodyPr/>
                    <a:p>
                      <a:pPr>
                        <a:buNone/>
                        <a:defRPr/>
                      </a:pPr>
                      <a:r>
                        <a:rPr sz="1200" b="0">
                          <a:solidFill>
                            <a:schemeClr val="tx1"/>
                          </a:solidFill>
                        </a:rPr>
                        <a:t>A control location and a valuation of the variables, (q, v).</a:t>
                      </a:r>
                      <a:endParaRPr/>
                    </a:p>
                  </a:txBody>
                  <a:tcPr marL="95250" marR="95250" marT="47625" marB="47625">
                    <a:lnB w="12700" algn="ctr">
                      <a:solidFill>
                        <a:schemeClr val="tx1"/>
                      </a:solidFill>
                    </a:lnB>
                    <a:noFill/>
                  </a:tcPr>
                </a:tc>
                <a:tc>
                  <a:txBody>
                    <a:bodyPr/>
                    <a:p>
                      <a:pPr>
                        <a:buNone/>
                        <a:defRPr/>
                      </a:pPr>
                      <a:r>
                        <a:rPr sz="1200" b="0">
                          <a:solidFill>
                            <a:schemeClr val="tx1"/>
                          </a:solidFill>
                        </a:rPr>
                        <a:t>The runtime tracks q. The record holds v.</a:t>
                      </a:r>
                      <a:endParaRPr/>
                    </a:p>
                  </a:txBody>
                  <a:tcPr marL="95250" marR="95250" marT="47625" marB="47625">
                    <a:lnB w="12700" algn="ctr">
                      <a:solidFill>
                        <a:schemeClr val="tx1"/>
                      </a:solidFill>
                    </a:lnB>
                    <a:noFill/>
                  </a:tcPr>
                </a:tc>
              </a:tr>
              <a:tr h="0">
                <a:tc>
                  <a:txBody>
                    <a:bodyPr/>
                    <a:p>
                      <a:pPr>
                        <a:buNone/>
                        <a:defRPr/>
                      </a:pPr>
                      <a:r>
                        <a:rPr sz="1200" b="1">
                          <a:solidFill>
                            <a:srgbClr val="28285E"/>
                          </a:solidFill>
                        </a:rPr>
                        <a:t>Event loop</a:t>
                      </a:r>
                      <a:endParaRPr/>
                    </a:p>
                  </a:txBody>
                  <a:tcPr marL="95250" marR="95250" marT="47625" marB="47625">
                    <a:lnB w="12700" algn="ctr">
                      <a:solidFill>
                        <a:schemeClr val="tx1"/>
                      </a:solidFill>
                    </a:lnB>
                    <a:noFill/>
                  </a:tcPr>
                </a:tc>
                <a:tc>
                  <a:txBody>
                    <a:bodyPr/>
                    <a:p>
                      <a:pPr>
                        <a:buNone/>
                        <a:defRPr/>
                      </a:pPr>
                      <a:r>
                        <a:rPr sz="1200" b="0">
                          <a:solidFill>
                            <a:schemeClr val="tx1"/>
                          </a:solidFill>
                        </a:rPr>
                        <a:t>The sequence of pending events E, the set of running handlers H and the record v, as the triple (E, H, v).</a:t>
                      </a:r>
                      <a:endParaRPr/>
                    </a:p>
                  </a:txBody>
                  <a:tcPr marL="95250" marR="95250" marT="47625" marB="47625">
                    <a:lnB w="12700" algn="ctr">
                      <a:solidFill>
                        <a:schemeClr val="tx1"/>
                      </a:solidFill>
                    </a:lnB>
                    <a:noFill/>
                  </a:tcPr>
                </a:tc>
                <a:tc>
                  <a:txBody>
                    <a:bodyPr/>
                    <a:p>
                      <a:pPr>
                        <a:buNone/>
                        <a:defRPr/>
                      </a:pPr>
                      <a:r>
                        <a:rPr sz="1200" b="0">
                          <a:solidFill>
                            <a:schemeClr val="tx1"/>
                          </a:solidFill>
                        </a:rPr>
                        <a:t>The runtime maintains E and H. The record holds v and contains neither.</a:t>
                      </a:r>
                      <a:endParaRPr/>
                    </a:p>
                  </a:txBody>
                  <a:tcPr marL="95250" marR="95250" marT="47625" marB="47625">
                    <a:lnB w="12700" algn="ctr">
                      <a:solidFill>
                        <a:schemeClr val="tx1"/>
                      </a:solidFill>
                    </a:lnB>
                    <a:noFill/>
                  </a:tcPr>
                </a:tc>
              </a:tr>
            </a:tbl>
          </a:graphicData>
        </a:graphic>
      </p:graphicFrame>
      <p:sp>
        <p:nvSpPr>
          <p:cNvPr id="724837536" name="Rectangle 4"/>
          <p:cNvSpPr/>
          <p:nvPr/>
        </p:nvSpPr>
        <p:spPr bwMode="auto">
          <a:xfrm>
            <a:off x="319251" y="3186068"/>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In our serial translation at most one event is in flight, so the location q is recoverable from the pending event's handler or the running handler. A realization that permits two handlers at once can have configurations with no single location.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83508157" name="Title 1"/>
          <p:cNvSpPr>
            <a:spLocks noGrp="1"/>
          </p:cNvSpPr>
          <p:nvPr>
            <p:ph type="title"/>
          </p:nvPr>
        </p:nvSpPr>
        <p:spPr bwMode="auto"/>
        <p:txBody>
          <a:bodyPr/>
          <a:lstStyle/>
          <a:p>
            <a:pPr>
              <a:defRPr/>
            </a:pPr>
            <a:r>
              <a:rPr/>
              <a:t>Ordering rules: apply once, then enable</a:t>
            </a:r>
            <a:endParaRPr/>
          </a:p>
        </p:txBody>
      </p:sp>
      <p:sp>
        <p:nvSpPr>
          <p:cNvPr id="1488149209"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Four rules preserve the machine's behaviour in the serial translation. Two concern ordering.</a:t>
            </a:r>
            <a:endParaRPr/>
          </a:p>
          <a:p>
            <a:pPr marL="400050" indent="-285750">
              <a:spcBef>
                <a:spcPts val="600"/>
              </a:spcBef>
              <a:spcAft>
                <a:spcPts val="600"/>
              </a:spcAft>
              <a:buClr>
                <a:srgbClr val="28285E"/>
              </a:buClr>
              <a:buSzPts val="1260"/>
              <a:buFont typeface="+mn-lt"/>
              <a:buChar char="●"/>
              <a:defRPr/>
            </a:pPr>
            <a:r>
              <a:rPr sz="1400" b="1">
                <a:solidFill>
                  <a:schemeClr val="tx1"/>
                </a:solidFill>
              </a:rPr>
              <a:t>Apply once, then enable. </a:t>
            </a:r>
            <a:r>
              <a:rPr sz="1400" b="0">
                <a:solidFill>
                  <a:schemeClr val="tx1"/>
                </a:solidFill>
              </a:rPr>
              <a:t>Merge a handler's contribution before its emitted event is dispatched.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Emit first, </a:t>
            </a:r>
            <a:r>
              <a:rPr sz="1400" b="0">
                <a:solidFill>
                  <a:schemeClr val="tx1"/>
                </a:solidFill>
              </a:rPr>
              <a:t>and the successor reads a stale record. Deliver twice, and observations append twice.</a:t>
            </a:r>
            <a:endParaRPr/>
          </a:p>
          <a:p>
            <a:pPr marL="400050" indent="-285750">
              <a:spcBef>
                <a:spcPts val="600"/>
              </a:spcBef>
              <a:spcAft>
                <a:spcPts val="600"/>
              </a:spcAft>
              <a:buClr>
                <a:srgbClr val="28285E"/>
              </a:buClr>
              <a:buSzPts val="1260"/>
              <a:buFont typeface="+mn-lt"/>
              <a:buChar char="●"/>
              <a:defRPr/>
            </a:pPr>
            <a:r>
              <a:rPr sz="1400" b="1">
                <a:solidFill>
                  <a:schemeClr val="tx1"/>
                </a:solidFill>
              </a:rPr>
              <a:t>Distinguish idle from success. </a:t>
            </a:r>
            <a:r>
              <a:rPr sz="1400" b="0">
                <a:solidFill>
                  <a:schemeClr val="tx1"/>
                </a:solidFill>
              </a:rPr>
              <a:t>An empty queue and an idle runtime mean only that nothing is scheduled.</a:t>
            </a:r>
            <a:endParaRPr/>
          </a:p>
        </p:txBody>
      </p:sp>
      <p:sp>
        <p:nvSpPr>
          <p:cNvPr id="2128116212"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Only a terminal event carrying a status establishes termination, as a terminal record does in the trace.</a:t>
            </a:r>
            <a:endParaRPr/>
          </a:p>
        </p:txBody>
      </p:sp>
      <p:sp>
        <p:nvSpPr>
          <p:cNvPr id="85447368" name="Rectangle 4"/>
          <p:cNvSpPr/>
          <p:nvPr/>
        </p:nvSpPr>
        <p:spPr bwMode="auto">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An event loop keeps this ordering only if handlers write before they emit and no event is delivered twice.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25696605" name="Title 1"/>
          <p:cNvSpPr>
            <a:spLocks noGrp="1"/>
          </p:cNvSpPr>
          <p:nvPr>
            <p:ph type="title"/>
          </p:nvPr>
        </p:nvSpPr>
        <p:spPr bwMode="auto"/>
        <p:txBody>
          <a:bodyPr/>
          <a:lstStyle/>
          <a:p>
            <a:pPr>
              <a:defRPr/>
            </a:pPr>
            <a:r>
              <a:rPr/>
              <a:t>Termination rules and log events</a:t>
            </a:r>
            <a:endParaRPr/>
          </a:p>
        </p:txBody>
      </p:sp>
      <p:sp>
        <p:nvSpPr>
          <p:cNvPr id="1126845432" name="Content Placeholder 2"/>
          <p:cNvSpPr>
            <a:spLocks noGrp="1"/>
          </p:cNvSpPr>
          <p:nvPr>
            <p:ph idx="1"/>
          </p:nvPr>
        </p:nvSpPr>
        <p:spPr bwMode="auto">
          <a:xfrm>
            <a:off x="319251" y="700000"/>
            <a:ext cx="6014545" cy="2211325"/>
          </a:xfrm>
        </p:spPr>
        <p:txBody>
          <a:bodyPr wrap="square" anchor="ctr"/>
          <a:lstStyle/>
          <a:p>
            <a:pPr marL="0" indent="0">
              <a:buNone/>
              <a:defRPr/>
            </a:pPr>
            <a:r>
              <a:rPr sz="1400" b="1">
                <a:solidFill>
                  <a:srgbClr val="28285E"/>
                </a:solidFill>
              </a:rPr>
              <a:t>The last two rules concern termination.</a:t>
            </a:r>
            <a:endParaRPr/>
          </a:p>
          <a:p>
            <a:pPr marL="400050" indent="-285750">
              <a:spcBef>
                <a:spcPts val="600"/>
              </a:spcBef>
              <a:spcAft>
                <a:spcPts val="600"/>
              </a:spcAft>
              <a:buClr>
                <a:srgbClr val="28285E"/>
              </a:buClr>
              <a:buSzPts val="1260"/>
              <a:buFont typeface="+mn-lt"/>
              <a:buChar char="●"/>
              <a:defRPr/>
            </a:pPr>
            <a:r>
              <a:rPr sz="1400" b="1">
                <a:solidFill>
                  <a:schemeClr val="tx1"/>
                </a:solidFill>
              </a:rPr>
              <a:t>Stop dispatch at termination. </a:t>
            </a:r>
            <a:r>
              <a:rPr sz="1400" b="0">
                <a:solidFill>
                  <a:schemeClr val="tx1"/>
                </a:solidFill>
              </a:rPr>
              <a:t>After the terminal event no handler starts, even if an event is pending.</a:t>
            </a:r>
            <a:endParaRPr/>
          </a:p>
          <a:p>
            <a:pPr marL="400050" indent="-285750">
              <a:spcBef>
                <a:spcPts val="600"/>
              </a:spcBef>
              <a:spcAft>
                <a:spcPts val="600"/>
              </a:spcAft>
              <a:buClr>
                <a:srgbClr val="28285E"/>
              </a:buClr>
              <a:buSzPts val="1260"/>
              <a:buFont typeface="+mn-lt"/>
              <a:buChar char="●"/>
              <a:defRPr/>
            </a:pPr>
            <a:r>
              <a:rPr sz="1400" b="1">
                <a:solidFill>
                  <a:schemeClr val="tx1"/>
                </a:solidFill>
              </a:rPr>
              <a:t>A realization with concurrent handlers </a:t>
            </a:r>
            <a:r>
              <a:rPr sz="1400" b="0">
                <a:solidFill>
                  <a:schemeClr val="tx1"/>
                </a:solidFill>
              </a:rPr>
              <a:t>must discard or refuse the remaining events.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Separate triggering from log events. </a:t>
            </a:r>
            <a:r>
              <a:rPr sz="1400" b="0">
                <a:solidFill>
                  <a:schemeClr val="tx1"/>
                </a:solidFill>
              </a:rPr>
              <a:t>A triggering event runs a handler. A log event only records.</a:t>
            </a:r>
            <a:endParaRPr/>
          </a:p>
        </p:txBody>
      </p:sp>
      <p:sp>
        <p:nvSpPr>
          <p:cNvPr id="1981112845" name="Rectangle 3"/>
          <p:cNvSpPr/>
          <p:nvPr/>
        </p:nvSpPr>
        <p:spPr bwMode="auto">
          <a:xfrm>
            <a:off x="319251" y="3101324"/>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trace's routing and tool_result events are log events. In the translation, ToolsRequested triggers the tools handler and a tool_request record documents it.</a:t>
            </a:r>
            <a:endParaRPr/>
          </a:p>
        </p:txBody>
      </p:sp>
      <p:sp>
        <p:nvSpPr>
          <p:cNvPr id="1835797522" name="Rectangle 4"/>
          <p:cNvSpPr/>
          <p:nvPr/>
        </p:nvSpPr>
        <p:spPr bwMode="auto">
          <a:xfrm>
            <a:off x="319251" y="4002125"/>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Dispatch can end without a terminal record if the process fails first. Table 5's three readings still apply.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20750701" name="Title 1"/>
          <p:cNvSpPr>
            <a:spLocks noGrp="1"/>
          </p:cNvSpPr>
          <p:nvPr>
            <p:ph type="title"/>
          </p:nvPr>
        </p:nvSpPr>
        <p:spPr bwMode="auto"/>
        <p:txBody>
          <a:bodyPr/>
          <a:lstStyle/>
          <a:p>
            <a:pPr>
              <a:defRPr/>
            </a:pPr>
            <a:r>
              <a:rPr/>
              <a:t>The planning agent's continuations as events</a:t>
            </a:r>
            <a:endParaRPr/>
          </a:p>
        </p:txBody>
      </p:sp>
      <p:sp>
        <p:nvSpPr>
          <p:cNvPr id="1959811322" name="Content Placeholder 2"/>
          <p:cNvSpPr>
            <a:spLocks noGrp="1"/>
          </p:cNvSpPr>
          <p:nvPr>
            <p:ph idx="1"/>
          </p:nvPr>
        </p:nvSpPr>
        <p:spPr bwMode="auto">
          <a:xfrm>
            <a:off x="319251" y="700000"/>
            <a:ext cx="6014545" cy="300000"/>
          </a:xfrm>
        </p:spPr>
        <p:txBody>
          <a:bodyPr wrap="square" anchor="ctr"/>
          <a:lstStyle/>
          <a:p>
            <a:pPr marL="0" indent="0">
              <a:buNone/>
              <a:defRPr/>
            </a:pPr>
            <a:r>
              <a:rPr sz="1400" b="1">
                <a:solidFill>
                  <a:srgbClr val="28285E"/>
                </a:solidFill>
              </a:rPr>
              <a:t>Table 8 gives one event type per continuation.</a:t>
            </a:r>
            <a:endParaRPr/>
          </a:p>
        </p:txBody>
      </p:sp>
      <p:graphicFrame>
        <p:nvGraphicFramePr>
          <p:cNvPr id="219516800" name="Table 3"/>
          <p:cNvGraphicFramePr>
            <a:graphicFrameLocks xmlns:a="http://schemas.openxmlformats.org/drawingml/2006/main" noGrp="1"/>
          </p:cNvGraphicFramePr>
          <p:nvPr/>
        </p:nvGraphicFramePr>
        <p:xfrm rot="0">
          <a:off x="319251" y="1190000"/>
          <a:ext cx="6014545" cy="2766340"/>
        </p:xfrm>
        <a:graphic>
          <a:graphicData uri="http://schemas.openxmlformats.org/drawingml/2006/table">
            <a:tbl>
              <a:tblPr firstRow="1" firstCol="0" lastRow="0" lastCol="0" bandRow="1" bandCol="0">
                <a:tableStyleId>{5C22544A-7EE6-4342-B048-85BDC9FD1C3A}</a:tableStyleId>
              </a:tblPr>
              <a:tblGrid>
                <a:gridCol w="2500000"/>
                <a:gridCol w="2200000"/>
                <a:gridCol w="1314545"/>
              </a:tblGrid>
              <a:tr h="300000">
                <a:tc>
                  <a:txBody>
                    <a:bodyPr/>
                    <a:p>
                      <a:pPr>
                        <a:buNone/>
                        <a:defRPr/>
                      </a:pPr>
                      <a:r>
                        <a:rPr sz="1100" b="1">
                          <a:solidFill>
                            <a:schemeClr val="tx1"/>
                          </a:solidFill>
                        </a:rPr>
                        <a:t>Graph continuation</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100" b="1">
                          <a:solidFill>
                            <a:schemeClr val="tx1"/>
                          </a:solidFill>
                        </a:rPr>
                        <a:t>Proposed event</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100" b="1">
                          <a:solidFill>
                            <a:schemeClr val="tx1"/>
                          </a:solidFill>
                        </a:rPr>
                        <a:t>Handler</a:t>
                      </a:r>
                      <a:endParaRPr/>
                    </a:p>
                  </a:txBody>
                  <a:tcPr marL="95250" marR="95250" marT="47625" marB="47625">
                    <a:lnT w="19050" algn="ctr">
                      <a:solidFill>
                        <a:schemeClr val="tx1"/>
                      </a:solidFill>
                    </a:lnT>
                    <a:lnB w="12700" algn="ctr">
                      <a:solidFill>
                        <a:schemeClr val="tx1"/>
                      </a:solidFill>
                    </a:lnB>
                    <a:noFill/>
                  </a:tcPr>
                </a:tc>
              </a:tr>
              <a:tr h="0">
                <a:tc>
                  <a:txBody>
                    <a:bodyPr/>
                    <a:p>
                      <a:pPr>
                        <a:buNone/>
                        <a:defRPr/>
                      </a:pPr>
                      <a:r>
                        <a:rPr sz="1100" b="1">
                          <a:solidFill>
                            <a:srgbClr val="28285E"/>
                          </a:solidFill>
                        </a:rPr>
                        <a:t>Plan completes → controller</a:t>
                      </a:r>
                      <a:endParaRPr/>
                    </a:p>
                  </a:txBody>
                  <a:tcPr marL="95250" marR="95250" marT="47625" marB="47625">
                    <a:lnB w="12700" algn="ctr">
                      <a:solidFill>
                        <a:schemeClr val="tx1"/>
                      </a:solidFill>
                    </a:lnB>
                    <a:noFill/>
                  </a:tcPr>
                </a:tc>
                <a:tc>
                  <a:txBody>
                    <a:bodyPr/>
                    <a:p>
                      <a:pPr>
                        <a:buNone/>
                        <a:defRPr/>
                      </a:pPr>
                      <a:r>
                        <a:rPr sz="1100" b="0">
                          <a:solidFill>
                            <a:schemeClr val="tx1"/>
                          </a:solidFill>
                        </a:rPr>
                        <a:t>PlanReady</a:t>
                      </a:r>
                      <a:endParaRPr/>
                    </a:p>
                  </a:txBody>
                  <a:tcPr marL="95250" marR="95250" marT="47625" marB="47625">
                    <a:lnB w="12700" algn="ctr">
                      <a:solidFill>
                        <a:schemeClr val="tx1"/>
                      </a:solidFill>
                    </a:lnB>
                    <a:noFill/>
                  </a:tcPr>
                </a:tc>
                <a:tc>
                  <a:txBody>
                    <a:bodyPr/>
                    <a:p>
                      <a:pPr>
                        <a:buNone/>
                        <a:defRPr/>
                      </a:pPr>
                      <a:r>
                        <a:rPr sz="1100" b="0">
                          <a:solidFill>
                            <a:schemeClr val="tx1"/>
                          </a:solidFill>
                        </a:rPr>
                        <a:t>controller</a:t>
                      </a:r>
                      <a:endParaRPr/>
                    </a:p>
                  </a:txBody>
                  <a:tcPr marL="95250" marR="95250" marT="47625" marB="47625">
                    <a:lnB w="12700" algn="ctr">
                      <a:solidFill>
                        <a:schemeClr val="tx1"/>
                      </a:solidFill>
                    </a:lnB>
                    <a:noFill/>
                  </a:tcPr>
                </a:tc>
              </a:tr>
              <a:tr h="0">
                <a:tc>
                  <a:txBody>
                    <a:bodyPr/>
                    <a:p>
                      <a:pPr>
                        <a:buNone/>
                        <a:defRPr/>
                      </a:pPr>
                      <a:r>
                        <a:rPr sz="1100" b="1">
                          <a:solidFill>
                            <a:srgbClr val="28285E"/>
                          </a:solidFill>
                        </a:rPr>
                        <a:t>Controller requests tools → tools</a:t>
                      </a:r>
                      <a:endParaRPr/>
                    </a:p>
                  </a:txBody>
                  <a:tcPr marL="95250" marR="95250" marT="47625" marB="47625">
                    <a:lnB w="12700" algn="ctr">
                      <a:solidFill>
                        <a:schemeClr val="tx1"/>
                      </a:solidFill>
                    </a:lnB>
                    <a:noFill/>
                  </a:tcPr>
                </a:tc>
                <a:tc>
                  <a:txBody>
                    <a:bodyPr/>
                    <a:p>
                      <a:pPr>
                        <a:buNone/>
                        <a:defRPr/>
                      </a:pPr>
                      <a:r>
                        <a:rPr sz="1100" b="0">
                          <a:solidFill>
                            <a:schemeClr val="tx1"/>
                          </a:solidFill>
                        </a:rPr>
                        <a:t>ToolsRequested</a:t>
                      </a:r>
                      <a:endParaRPr/>
                    </a:p>
                  </a:txBody>
                  <a:tcPr marL="95250" marR="95250" marT="47625" marB="47625">
                    <a:lnB w="12700" algn="ctr">
                      <a:solidFill>
                        <a:schemeClr val="tx1"/>
                      </a:solidFill>
                    </a:lnB>
                    <a:noFill/>
                  </a:tcPr>
                </a:tc>
                <a:tc>
                  <a:txBody>
                    <a:bodyPr/>
                    <a:p>
                      <a:pPr>
                        <a:buNone/>
                        <a:defRPr/>
                      </a:pPr>
                      <a:r>
                        <a:rPr sz="1100" b="0">
                          <a:solidFill>
                            <a:schemeClr val="tx1"/>
                          </a:solidFill>
                        </a:rPr>
                        <a:t>tools</a:t>
                      </a:r>
                      <a:endParaRPr/>
                    </a:p>
                  </a:txBody>
                  <a:tcPr marL="95250" marR="95250" marT="47625" marB="47625">
                    <a:lnB w="12700" algn="ctr">
                      <a:solidFill>
                        <a:schemeClr val="tx1"/>
                      </a:solidFill>
                    </a:lnB>
                    <a:noFill/>
                  </a:tcPr>
                </a:tc>
              </a:tr>
              <a:tr h="0">
                <a:tc>
                  <a:txBody>
                    <a:bodyPr/>
                    <a:p>
                      <a:pPr>
                        <a:buNone/>
                        <a:defRPr/>
                      </a:pPr>
                      <a:r>
                        <a:rPr sz="1100" b="1">
                          <a:solidFill>
                            <a:srgbClr val="28285E"/>
                          </a:solidFill>
                        </a:rPr>
                        <a:t>Tools provide observations → controller</a:t>
                      </a:r>
                      <a:endParaRPr/>
                    </a:p>
                  </a:txBody>
                  <a:tcPr marL="95250" marR="95250" marT="47625" marB="47625">
                    <a:lnB w="12700" algn="ctr">
                      <a:solidFill>
                        <a:schemeClr val="tx1"/>
                      </a:solidFill>
                    </a:lnB>
                    <a:noFill/>
                  </a:tcPr>
                </a:tc>
                <a:tc>
                  <a:txBody>
                    <a:bodyPr/>
                    <a:p>
                      <a:pPr>
                        <a:buNone/>
                        <a:defRPr/>
                      </a:pPr>
                      <a:r>
                        <a:rPr sz="1100" b="0">
                          <a:solidFill>
                            <a:schemeClr val="tx1"/>
                          </a:solidFill>
                        </a:rPr>
                        <a:t>ObservationsReady</a:t>
                      </a:r>
                      <a:endParaRPr/>
                    </a:p>
                  </a:txBody>
                  <a:tcPr marL="95250" marR="95250" marT="47625" marB="47625">
                    <a:lnB w="12700" algn="ctr">
                      <a:solidFill>
                        <a:schemeClr val="tx1"/>
                      </a:solidFill>
                    </a:lnB>
                    <a:noFill/>
                  </a:tcPr>
                </a:tc>
                <a:tc>
                  <a:txBody>
                    <a:bodyPr/>
                    <a:p>
                      <a:pPr>
                        <a:buNone/>
                        <a:defRPr/>
                      </a:pPr>
                      <a:r>
                        <a:rPr sz="1100" b="0">
                          <a:solidFill>
                            <a:schemeClr val="tx1"/>
                          </a:solidFill>
                        </a:rPr>
                        <a:t>controller</a:t>
                      </a:r>
                      <a:endParaRPr/>
                    </a:p>
                  </a:txBody>
                  <a:tcPr marL="95250" marR="95250" marT="47625" marB="47625">
                    <a:lnB w="12700" algn="ctr">
                      <a:solidFill>
                        <a:schemeClr val="tx1"/>
                      </a:solidFill>
                    </a:lnB>
                    <a:noFill/>
                  </a:tcPr>
                </a:tc>
              </a:tr>
              <a:tr h="0">
                <a:tc>
                  <a:txBody>
                    <a:bodyPr/>
                    <a:p>
                      <a:pPr>
                        <a:buNone/>
                        <a:defRPr/>
                      </a:pPr>
                      <a:r>
                        <a:rPr sz="1100" b="1">
                          <a:solidFill>
                            <a:srgbClr val="28285E"/>
                          </a:solidFill>
                        </a:rPr>
                        <a:t>Stall → plan</a:t>
                      </a:r>
                      <a:endParaRPr/>
                    </a:p>
                  </a:txBody>
                  <a:tcPr marL="95250" marR="95250" marT="47625" marB="47625">
                    <a:lnB w="12700" algn="ctr">
                      <a:solidFill>
                        <a:schemeClr val="tx1"/>
                      </a:solidFill>
                    </a:lnB>
                    <a:noFill/>
                  </a:tcPr>
                </a:tc>
                <a:tc>
                  <a:txBody>
                    <a:bodyPr/>
                    <a:p>
                      <a:pPr>
                        <a:buNone/>
                        <a:defRPr/>
                      </a:pPr>
                      <a:r>
                        <a:rPr sz="1100" b="0">
                          <a:solidFill>
                            <a:schemeClr val="tx1"/>
                          </a:solidFill>
                        </a:rPr>
                        <a:t>ReplanRequested</a:t>
                      </a:r>
                      <a:endParaRPr/>
                    </a:p>
                  </a:txBody>
                  <a:tcPr marL="95250" marR="95250" marT="47625" marB="47625">
                    <a:lnB w="12700" algn="ctr">
                      <a:solidFill>
                        <a:schemeClr val="tx1"/>
                      </a:solidFill>
                    </a:lnB>
                    <a:noFill/>
                  </a:tcPr>
                </a:tc>
                <a:tc>
                  <a:txBody>
                    <a:bodyPr/>
                    <a:p>
                      <a:pPr>
                        <a:buNone/>
                        <a:defRPr/>
                      </a:pPr>
                      <a:r>
                        <a:rPr sz="1100" b="0">
                          <a:solidFill>
                            <a:schemeClr val="tx1"/>
                          </a:solidFill>
                        </a:rPr>
                        <a:t>plan</a:t>
                      </a:r>
                      <a:endParaRPr/>
                    </a:p>
                  </a:txBody>
                  <a:tcPr marL="95250" marR="95250" marT="47625" marB="47625">
                    <a:lnB w="12700" algn="ctr">
                      <a:solidFill>
                        <a:schemeClr val="tx1"/>
                      </a:solidFill>
                    </a:lnB>
                    <a:noFill/>
                  </a:tcPr>
                </a:tc>
              </a:tr>
              <a:tr h="0">
                <a:tc>
                  <a:txBody>
                    <a:bodyPr/>
                    <a:p>
                      <a:pPr>
                        <a:buNone/>
                        <a:defRPr/>
                      </a:pPr>
                      <a:r>
                        <a:rPr sz="1100" b="1">
                          <a:solidFill>
                            <a:srgbClr val="28285E"/>
                          </a:solidFill>
                        </a:rPr>
                        <a:t>Controller finishes → submit</a:t>
                      </a:r>
                      <a:endParaRPr/>
                    </a:p>
                  </a:txBody>
                  <a:tcPr marL="95250" marR="95250" marT="47625" marB="47625">
                    <a:lnB w="12700" algn="ctr">
                      <a:solidFill>
                        <a:schemeClr val="tx1"/>
                      </a:solidFill>
                    </a:lnB>
                    <a:noFill/>
                  </a:tcPr>
                </a:tc>
                <a:tc>
                  <a:txBody>
                    <a:bodyPr/>
                    <a:p>
                      <a:pPr>
                        <a:buNone/>
                        <a:defRPr/>
                      </a:pPr>
                      <a:r>
                        <a:rPr sz="1100" b="0">
                          <a:solidFill>
                            <a:schemeClr val="tx1"/>
                          </a:solidFill>
                        </a:rPr>
                        <a:t>SubmissionRequested</a:t>
                      </a:r>
                      <a:endParaRPr/>
                    </a:p>
                  </a:txBody>
                  <a:tcPr marL="95250" marR="95250" marT="47625" marB="47625">
                    <a:lnB w="12700" algn="ctr">
                      <a:solidFill>
                        <a:schemeClr val="tx1"/>
                      </a:solidFill>
                    </a:lnB>
                    <a:noFill/>
                  </a:tcPr>
                </a:tc>
                <a:tc>
                  <a:txBody>
                    <a:bodyPr/>
                    <a:p>
                      <a:pPr>
                        <a:buNone/>
                        <a:defRPr/>
                      </a:pPr>
                      <a:r>
                        <a:rPr sz="1100" b="0">
                          <a:solidFill>
                            <a:schemeClr val="tx1"/>
                          </a:solidFill>
                        </a:rPr>
                        <a:t>submit</a:t>
                      </a:r>
                      <a:endParaRPr/>
                    </a:p>
                  </a:txBody>
                  <a:tcPr marL="95250" marR="95250" marT="47625" marB="47625">
                    <a:lnB w="12700" algn="ctr">
                      <a:solidFill>
                        <a:schemeClr val="tx1"/>
                      </a:solidFill>
                    </a:lnB>
                    <a:noFill/>
                  </a:tcPr>
                </a:tc>
              </a:tr>
              <a:tr h="0">
                <a:tc>
                  <a:txBody>
                    <a:bodyPr/>
                    <a:p>
                      <a:pPr>
                        <a:buNone/>
                        <a:defRPr/>
                      </a:pPr>
                      <a:r>
                        <a:rPr sz="1100" b="1">
                          <a:solidFill>
                            <a:srgbClr val="28285E"/>
                          </a:solidFill>
                        </a:rPr>
                        <a:t>Failed checks → controller</a:t>
                      </a:r>
                      <a:endParaRPr/>
                    </a:p>
                  </a:txBody>
                  <a:tcPr marL="95250" marR="95250" marT="47625" marB="47625">
                    <a:lnB w="12700" algn="ctr">
                      <a:solidFill>
                        <a:schemeClr val="tx1"/>
                      </a:solidFill>
                    </a:lnB>
                    <a:noFill/>
                  </a:tcPr>
                </a:tc>
                <a:tc>
                  <a:txBody>
                    <a:bodyPr/>
                    <a:p>
                      <a:pPr>
                        <a:buNone/>
                        <a:defRPr/>
                      </a:pPr>
                      <a:r>
                        <a:rPr sz="1100" b="0">
                          <a:solidFill>
                            <a:schemeClr val="tx1"/>
                          </a:solidFill>
                        </a:rPr>
                        <a:t>RepairRequested</a:t>
                      </a:r>
                      <a:endParaRPr/>
                    </a:p>
                  </a:txBody>
                  <a:tcPr marL="95250" marR="95250" marT="47625" marB="47625">
                    <a:lnB w="12700" algn="ctr">
                      <a:solidFill>
                        <a:schemeClr val="tx1"/>
                      </a:solidFill>
                    </a:lnB>
                    <a:noFill/>
                  </a:tcPr>
                </a:tc>
                <a:tc>
                  <a:txBody>
                    <a:bodyPr/>
                    <a:p>
                      <a:pPr>
                        <a:buNone/>
                        <a:defRPr/>
                      </a:pPr>
                      <a:r>
                        <a:rPr sz="1100" b="0">
                          <a:solidFill>
                            <a:schemeClr val="tx1"/>
                          </a:solidFill>
                        </a:rPr>
                        <a:t>controller</a:t>
                      </a:r>
                      <a:endParaRPr/>
                    </a:p>
                  </a:txBody>
                  <a:tcPr marL="95250" marR="95250" marT="47625" marB="47625">
                    <a:lnB w="12700" algn="ctr">
                      <a:solidFill>
                        <a:schemeClr val="tx1"/>
                      </a:solidFill>
                    </a:lnB>
                    <a:noFill/>
                  </a:tcPr>
                </a:tc>
              </a:tr>
              <a:tr h="0">
                <a:tc>
                  <a:txBody>
                    <a:bodyPr/>
                    <a:p>
                      <a:pPr>
                        <a:buNone/>
                        <a:defRPr/>
                      </a:pPr>
                      <a:r>
                        <a:rPr sz="1100" b="1">
                          <a:solidFill>
                            <a:srgbClr val="28285E"/>
                          </a:solidFill>
                        </a:rPr>
                        <a:t>Passed checks → validate</a:t>
                      </a:r>
                      <a:endParaRPr/>
                    </a:p>
                  </a:txBody>
                  <a:tcPr marL="95250" marR="95250" marT="47625" marB="47625">
                    <a:lnB w="12700" algn="ctr">
                      <a:solidFill>
                        <a:schemeClr val="tx1"/>
                      </a:solidFill>
                    </a:lnB>
                    <a:noFill/>
                  </a:tcPr>
                </a:tc>
                <a:tc>
                  <a:txBody>
                    <a:bodyPr/>
                    <a:p>
                      <a:pPr>
                        <a:buNone/>
                        <a:defRPr/>
                      </a:pPr>
                      <a:r>
                        <a:rPr sz="1100" b="0">
                          <a:solidFill>
                            <a:schemeClr val="tx1"/>
                          </a:solidFill>
                        </a:rPr>
                        <a:t>ValidationRequested</a:t>
                      </a:r>
                      <a:endParaRPr/>
                    </a:p>
                  </a:txBody>
                  <a:tcPr marL="95250" marR="95250" marT="47625" marB="47625">
                    <a:lnB w="12700" algn="ctr">
                      <a:solidFill>
                        <a:schemeClr val="tx1"/>
                      </a:solidFill>
                    </a:lnB>
                    <a:noFill/>
                  </a:tcPr>
                </a:tc>
                <a:tc>
                  <a:txBody>
                    <a:bodyPr/>
                    <a:p>
                      <a:pPr>
                        <a:buNone/>
                        <a:defRPr/>
                      </a:pPr>
                      <a:r>
                        <a:rPr sz="1100" b="0">
                          <a:solidFill>
                            <a:schemeClr val="tx1"/>
                          </a:solidFill>
                        </a:rPr>
                        <a:t>validate</a:t>
                      </a:r>
                      <a:endParaRPr/>
                    </a:p>
                  </a:txBody>
                  <a:tcPr marL="95250" marR="95250" marT="47625" marB="47625">
                    <a:lnB w="12700" algn="ctr">
                      <a:solidFill>
                        <a:schemeClr val="tx1"/>
                      </a:solidFill>
                    </a:lnB>
                    <a:noFill/>
                  </a:tcPr>
                </a:tc>
              </a:tr>
              <a:tr h="0">
                <a:tc>
                  <a:txBody>
                    <a:bodyPr/>
                    <a:p>
                      <a:pPr>
                        <a:buNone/>
                        <a:defRPr/>
                      </a:pPr>
                      <a:r>
                        <a:rPr sz="1100" b="1">
                          <a:solidFill>
                            <a:srgbClr val="28285E"/>
                          </a:solidFill>
                        </a:rPr>
                        <a:t>Run ends</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100" b="0">
                          <a:solidFill>
                            <a:schemeClr val="tx1"/>
                          </a:solidFill>
                        </a:rPr>
                        <a:t>A terminal event carrying the outcome σ</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100" b="0">
                          <a:solidFill>
                            <a:schemeClr val="tx1"/>
                          </a:solidFill>
                        </a:rPr>
                        <a:t>None; dispatch stops</a:t>
                      </a:r>
                      <a:endParaRPr/>
                    </a:p>
                  </a:txBody>
                  <a:tcPr marL="95250" marR="95250" marT="47625" marB="47625">
                    <a:lnT w="19050" algn="ctr">
                      <a:solidFill>
                        <a:schemeClr val="tx1"/>
                      </a:solidFill>
                    </a:lnT>
                    <a:lnB w="12700" algn="ctr">
                      <a:solidFill>
                        <a:schemeClr val="tx1"/>
                      </a:solidFill>
                    </a:lnB>
                    <a:noFill/>
                  </a:tcPr>
                </a:tc>
              </a:tr>
            </a:tbl>
          </a:graphicData>
        </a:graphic>
      </p:graphicFrame>
      <p:sp>
        <p:nvSpPr>
          <p:cNvPr id="185402922" name="Rectangle 4"/>
          <p:cNvSpPr/>
          <p:nvPr/>
        </p:nvSpPr>
        <p:spPr bwMode="auto">
          <a:xfrm>
            <a:off x="319251" y="414634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emitting handler evaluates the machine's guards to choose the event type. No code implements this table.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31691201" name="Title 1"/>
          <p:cNvSpPr>
            <a:spLocks noGrp="1"/>
          </p:cNvSpPr>
          <p:nvPr>
            <p:ph type="title"/>
          </p:nvPr>
        </p:nvSpPr>
        <p:spPr bwMode="auto"/>
        <p:txBody>
          <a:bodyPr/>
          <a:lstStyle/>
          <a:p>
            <a:pPr>
              <a:defRPr/>
            </a:pPr>
            <a:r>
              <a:rPr/>
              <a:t>The controller as one handler for three events</a:t>
            </a:r>
            <a:endParaRPr/>
          </a:p>
        </p:txBody>
      </p:sp>
      <p:sp>
        <p:nvSpPr>
          <p:cNvPr id="135816865"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translation preserves the guards and places them in handlers.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controller's handler receives </a:t>
            </a:r>
            <a:r>
              <a:rPr sz="1400" b="0">
                <a:solidFill>
                  <a:schemeClr val="tx1"/>
                </a:solidFill>
              </a:rPr>
              <a:t>PlanReady, ObservationsReady or RepairRequested.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Before the call it tests </a:t>
            </a:r>
            <a:r>
              <a:rPr sz="1400" b="0">
                <a:solidFill>
                  <a:schemeClr val="tx1"/>
                </a:solidFill>
              </a:rPr>
              <a:t>c &lt; B and the stall guard s. A failed check emits a terminal event.</a:t>
            </a:r>
            <a:endParaRPr/>
          </a:p>
          <a:p>
            <a:pPr marL="400050" indent="-285750">
              <a:spcBef>
                <a:spcPts val="600"/>
              </a:spcBef>
              <a:spcAft>
                <a:spcPts val="600"/>
              </a:spcAft>
              <a:buClr>
                <a:srgbClr val="28285E"/>
              </a:buClr>
              <a:buSzPts val="1260"/>
              <a:buFont typeface="+mn-lt"/>
              <a:buChar char="●"/>
              <a:defRPr/>
            </a:pPr>
            <a:r>
              <a:rPr sz="1400" b="1">
                <a:solidFill>
                  <a:schemeClr val="tx1"/>
                </a:solidFill>
              </a:rPr>
              <a:t>It then calls the model </a:t>
            </a:r>
            <a:r>
              <a:rPr sz="1400" b="0">
                <a:solidFill>
                  <a:schemeClr val="tx1"/>
                </a:solidFill>
              </a:rPr>
              <a:t>and emits ToolsRequested if the reply has tool calls, else SubmissionRequested.</a:t>
            </a:r>
            <a:endParaRPr/>
          </a:p>
        </p:txBody>
      </p:sp>
      <p:sp>
        <p:nvSpPr>
          <p:cNvPr id="642993250"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routing functions of section 3 become branches within handlers that select the event to return.</a:t>
            </a:r>
            <a:endParaRPr/>
          </a:p>
        </p:txBody>
      </p:sp>
      <p:sp>
        <p:nvSpPr>
          <p:cNvPr id="2022697473" name="Rectangle 4"/>
          <p:cNvSpPr/>
          <p:nvPr/>
        </p:nvSpPr>
        <p:spPr bwMode="auto">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tools handler uses the guard r = 0 and s to choose between ObservationsReady and ReplanRequested.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5623304" name="Title 1"/>
          <p:cNvSpPr>
            <a:spLocks noGrp="1"/>
          </p:cNvSpPr>
          <p:nvPr>
            <p:ph type="title"/>
          </p:nvPr>
        </p:nvSpPr>
        <p:spPr bwMode="auto"/>
        <p:txBody>
          <a:bodyPr/>
          <a:lstStyle/>
          <a:p>
            <a:pPr>
              <a:defRPr/>
            </a:pPr>
            <a:r>
              <a:rPr/>
              <a:t>LlamaIndex Workflows: steps and events</a:t>
            </a:r>
            <a:endParaRPr/>
          </a:p>
        </p:txBody>
      </p:sp>
      <p:sp>
        <p:nvSpPr>
          <p:cNvPr id="1402197067"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In LlamaIndex Workflows, dispatch is by event type. A step is a method decorated with @step.</a:t>
            </a:r>
            <a:endParaRPr/>
          </a:p>
          <a:p>
            <a:pPr marL="400050" indent="-285750">
              <a:spcBef>
                <a:spcPts val="600"/>
              </a:spcBef>
              <a:spcAft>
                <a:spcPts val="600"/>
              </a:spcAft>
              <a:buClr>
                <a:srgbClr val="28285E"/>
              </a:buClr>
              <a:buSzPts val="1260"/>
              <a:buFont typeface="+mn-lt"/>
              <a:buChar char="●"/>
              <a:defRPr/>
            </a:pPr>
            <a:r>
              <a:rPr sz="1400" b="1">
                <a:solidFill>
                  <a:schemeClr val="tx1"/>
                </a:solidFill>
              </a:rPr>
              <a:t>A step receives an event, </a:t>
            </a:r>
            <a:r>
              <a:rPr sz="1400" b="0">
                <a:solidFill>
                  <a:schemeClr val="tx1"/>
                </a:solidFill>
              </a:rPr>
              <a:t>does some work, and returns another event.</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returned event triggers the next step </a:t>
            </a:r>
            <a:r>
              <a:rPr sz="1400" b="0">
                <a:solidFill>
                  <a:schemeClr val="tx1"/>
                </a:solidFill>
              </a:rPr>
              <a:t>whose type annotation accepts it.</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Events are user-defined Pydantic classes. </a:t>
            </a:r>
            <a:r>
              <a:rPr sz="1400" b="0">
                <a:solidFill>
                  <a:schemeClr val="tx1"/>
                </a:solidFill>
              </a:rPr>
              <a:t>The framework supplies StartEvent and StopEvent.</a:t>
            </a:r>
            <a:endParaRPr/>
          </a:p>
        </p:txBody>
      </p:sp>
      <p:sp>
        <p:nvSpPr>
          <p:cNvPr id="1757877125"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step signatures declare the event types each step consumes and produces.</a:t>
            </a:r>
            <a:endParaRPr/>
          </a:p>
        </p:txBody>
      </p:sp>
      <p:sp>
        <p:nvSpPr>
          <p:cNvPr id="539493914" name="Rectangle 4"/>
          <p:cNvSpPr/>
          <p:nvPr/>
        </p:nvSpPr>
        <p:spPr bwMode="auto">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StartEvent's fields are run()'s keyword arguments. Returning StopEvent ends the workflow with its result.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27350926" name="Title 1"/>
          <p:cNvSpPr>
            <a:spLocks noGrp="1"/>
          </p:cNvSpPr>
          <p:nvPr>
            <p:ph type="title"/>
          </p:nvPr>
        </p:nvSpPr>
        <p:spPr bwMode="auto"/>
        <p:txBody>
          <a:bodyPr/>
          <a:lstStyle/>
          <a:p>
            <a:pPr>
              <a:defRPr/>
            </a:pPr>
            <a:r>
              <a:rPr/>
              <a:t>LlamaIndex Workflows: validation and state</a:t>
            </a:r>
            <a:endParaRPr/>
          </a:p>
        </p:txBody>
      </p:sp>
      <p:sp>
        <p:nvSpPr>
          <p:cNvPr id="587040009"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Before a run, the framework validates the event graph that the step signatures declare.</a:t>
            </a:r>
            <a:endParaRPr/>
          </a:p>
          <a:p>
            <a:pPr marL="400050" indent="-285750">
              <a:spcBef>
                <a:spcPts val="600"/>
              </a:spcBef>
              <a:spcAft>
                <a:spcPts val="600"/>
              </a:spcAft>
              <a:buClr>
                <a:srgbClr val="28285E"/>
              </a:buClr>
              <a:buSzPts val="1260"/>
              <a:buFont typeface="+mn-lt"/>
              <a:buChar char="●"/>
              <a:defRPr/>
            </a:pPr>
            <a:r>
              <a:rPr sz="1400" b="1">
                <a:solidFill>
                  <a:schemeClr val="tx1"/>
                </a:solidFill>
              </a:rPr>
              <a:t>It checks that the graph </a:t>
            </a:r>
            <a:r>
              <a:rPr sz="1400" b="0">
                <a:solidFill>
                  <a:schemeClr val="tx1"/>
                </a:solidFill>
              </a:rPr>
              <a:t>contains a start and a stop event and that every produced event has a consumer.</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These checks do not establish </a:t>
            </a:r>
            <a:r>
              <a:rPr sz="1400" b="0">
                <a:solidFill>
                  <a:schemeClr val="tx1"/>
                </a:solidFill>
              </a:rPr>
              <a:t>that a particular run will reach StopEvent.</a:t>
            </a:r>
            <a:endParaRPr/>
          </a:p>
          <a:p>
            <a:pPr marL="400050" indent="-285750">
              <a:spcBef>
                <a:spcPts val="600"/>
              </a:spcBef>
              <a:spcAft>
                <a:spcPts val="600"/>
              </a:spcAft>
              <a:buClr>
                <a:srgbClr val="28285E"/>
              </a:buClr>
              <a:buSzPts val="1260"/>
              <a:buFont typeface="+mn-lt"/>
              <a:buChar char="●"/>
              <a:defRPr/>
            </a:pPr>
            <a:r>
              <a:rPr sz="1400" b="1">
                <a:solidFill>
                  <a:schemeClr val="tx1"/>
                </a:solidFill>
              </a:rPr>
              <a:t>A store on the workflow's Context </a:t>
            </a:r>
            <a:r>
              <a:rPr sz="1400" b="0">
                <a:solidFill>
                  <a:schemeClr val="tx1"/>
                </a:solidFill>
              </a:rPr>
              <a:t>holds per-run state. Steps read and write it through ctx.store.</a:t>
            </a:r>
            <a:endParaRPr/>
          </a:p>
        </p:txBody>
      </p:sp>
      <p:sp>
        <p:nvSpPr>
          <p:cNvPr id="837793063"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edit_state() is for updates that must not interleave with another step's updates.</a:t>
            </a:r>
            <a:endParaRPr/>
          </a:p>
        </p:txBody>
      </p:sp>
      <p:sp>
        <p:nvSpPr>
          <p:cNvPr id="1321929187" name="Rectangle 4"/>
          <p:cNvSpPr/>
          <p:nvPr/>
        </p:nvSpPr>
        <p:spPr bwMode="auto">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PlanReady would be an event class, and the terminal event a StopEvent whose result carries σ.</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2722298" name="Title 1"/>
          <p:cNvSpPr>
            <a:spLocks noGrp="1"/>
          </p:cNvSpPr>
          <p:nvPr>
            <p:ph type="title"/>
          </p:nvPr>
        </p:nvSpPr>
        <p:spPr bwMode="auto"/>
        <p:txBody>
          <a:bodyPr/>
          <a:lstStyle/>
          <a:p>
            <a:pPr>
              <a:defRPr/>
            </a:pPr>
            <a:r>
              <a:rPr/>
              <a:t>Our event-driven agent: steps and their events</a:t>
            </a:r>
            <a:endParaRPr/>
          </a:p>
        </p:txBody>
      </p:sp>
      <p:sp>
        <p:nvSpPr>
          <p:cNvPr id="1191511166" name="Content Placeholder 2"/>
          <p:cNvSpPr>
            <a:spLocks noGrp="1"/>
          </p:cNvSpPr>
          <p:nvPr>
            <p:ph idx="1"/>
          </p:nvPr>
        </p:nvSpPr>
        <p:spPr bwMode="auto">
          <a:xfrm>
            <a:off x="319251" y="700000"/>
            <a:ext cx="6014545" cy="300000"/>
          </a:xfrm>
        </p:spPr>
        <p:txBody>
          <a:bodyPr wrap="square" anchor="ctr"/>
          <a:lstStyle/>
          <a:p>
            <a:pPr marL="0" indent="0">
              <a:buNone/>
              <a:defRPr/>
            </a:pPr>
            <a:r>
              <a:rPr sz="1400" b="1">
                <a:solidFill>
                  <a:srgbClr val="28285E"/>
                </a:solidFill>
              </a:rPr>
              <a:t>Our LlamaIndex agent has nine steps.</a:t>
            </a:r>
            <a:endParaRPr/>
          </a:p>
        </p:txBody>
      </p:sp>
      <p:graphicFrame>
        <p:nvGraphicFramePr>
          <p:cNvPr id="733693380" name="Table 3"/>
          <p:cNvGraphicFramePr>
            <a:graphicFrameLocks xmlns:a="http://schemas.openxmlformats.org/drawingml/2006/main" noGrp="1"/>
          </p:cNvGraphicFramePr>
          <p:nvPr/>
        </p:nvGraphicFramePr>
        <p:xfrm rot="0">
          <a:off x="319251" y="1190000"/>
          <a:ext cx="6014545" cy="2551710"/>
        </p:xfrm>
        <a:graphic>
          <a:graphicData uri="http://schemas.openxmlformats.org/drawingml/2006/table">
            <a:tbl>
              <a:tblPr firstRow="1" firstCol="0" lastRow="0" lastCol="0" bandRow="1" bandCol="0">
                <a:tableStyleId>{5C22544A-7EE6-4342-B048-85BDC9FD1C3A}</a:tableStyleId>
              </a:tblPr>
              <a:tblGrid>
                <a:gridCol w="1000000"/>
                <a:gridCol w="2507272"/>
                <a:gridCol w="2507273"/>
              </a:tblGrid>
              <a:tr h="300000">
                <a:tc>
                  <a:txBody>
                    <a:bodyPr/>
                    <a:p>
                      <a:pPr>
                        <a:buNone/>
                        <a:defRPr/>
                      </a:pPr>
                      <a:r>
                        <a:rPr sz="1000" b="1">
                          <a:solidFill>
                            <a:schemeClr val="tx1"/>
                          </a:solidFill>
                        </a:rPr>
                        <a:t>Step</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000" b="1">
                          <a:solidFill>
                            <a:schemeClr val="tx1"/>
                          </a:solidFill>
                        </a:rPr>
                        <a:t>Accepts</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000" b="1">
                          <a:solidFill>
                            <a:schemeClr val="tx1"/>
                          </a:solidFill>
                        </a:rPr>
                        <a:t>Emits</a:t>
                      </a:r>
                      <a:endParaRPr/>
                    </a:p>
                  </a:txBody>
                  <a:tcPr marL="95250" marR="95250" marT="47625" marB="47625">
                    <a:lnT w="19050" algn="ctr">
                      <a:solidFill>
                        <a:schemeClr val="tx1"/>
                      </a:solidFill>
                    </a:lnT>
                    <a:lnB w="12700" algn="ctr">
                      <a:solidFill>
                        <a:schemeClr val="tx1"/>
                      </a:solidFill>
                    </a:lnB>
                    <a:noFill/>
                  </a:tcPr>
                </a:tc>
              </a:tr>
              <a:tr h="0">
                <a:tc>
                  <a:txBody>
                    <a:bodyPr/>
                    <a:p>
                      <a:pPr>
                        <a:buNone/>
                        <a:defRPr/>
                      </a:pPr>
                      <a:r>
                        <a:rPr sz="1000" b="1">
                          <a:solidFill>
                            <a:srgbClr val="28285E"/>
                          </a:solidFill>
                        </a:rPr>
                        <a:t>start</a:t>
                      </a:r>
                      <a:endParaRPr/>
                    </a:p>
                  </a:txBody>
                  <a:tcPr marL="95250" marR="95250" marT="47625" marB="47625">
                    <a:lnB w="12700" algn="ctr">
                      <a:solidFill>
                        <a:schemeClr val="tx1"/>
                      </a:solidFill>
                    </a:lnB>
                    <a:noFill/>
                  </a:tcPr>
                </a:tc>
                <a:tc>
                  <a:txBody>
                    <a:bodyPr/>
                    <a:p>
                      <a:pPr>
                        <a:buNone/>
                        <a:defRPr/>
                      </a:pPr>
                      <a:r>
                        <a:rPr sz="1000" b="0">
                          <a:solidFill>
                            <a:schemeClr val="tx1"/>
                          </a:solidFill>
                        </a:rPr>
                        <a:t>RunRequested</a:t>
                      </a:r>
                      <a:endParaRPr/>
                    </a:p>
                  </a:txBody>
                  <a:tcPr marL="95250" marR="95250" marT="47625" marB="47625">
                    <a:lnB w="12700" algn="ctr">
                      <a:solidFill>
                        <a:schemeClr val="tx1"/>
                      </a:solidFill>
                    </a:lnB>
                    <a:noFill/>
                  </a:tcPr>
                </a:tc>
                <a:tc>
                  <a:txBody>
                    <a:bodyPr/>
                    <a:p>
                      <a:pPr>
                        <a:buNone/>
                        <a:defRPr/>
                      </a:pPr>
                      <a:r>
                        <a:rPr sz="1000" b="0">
                          <a:solidFill>
                            <a:schemeClr val="tx1"/>
                          </a:solidFill>
                        </a:rPr>
                        <a:t>ScanRequested</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scan</a:t>
                      </a:r>
                      <a:endParaRPr/>
                    </a:p>
                  </a:txBody>
                  <a:tcPr marL="95250" marR="95250" marT="47625" marB="47625">
                    <a:lnB w="12700" algn="ctr">
                      <a:solidFill>
                        <a:schemeClr val="tx1"/>
                      </a:solidFill>
                    </a:lnB>
                    <a:noFill/>
                  </a:tcPr>
                </a:tc>
                <a:tc>
                  <a:txBody>
                    <a:bodyPr/>
                    <a:p>
                      <a:pPr>
                        <a:buNone/>
                        <a:defRPr/>
                      </a:pPr>
                      <a:r>
                        <a:rPr sz="1000" b="0">
                          <a:solidFill>
                            <a:schemeClr val="tx1"/>
                          </a:solidFill>
                        </a:rPr>
                        <a:t>ScanRequested</a:t>
                      </a:r>
                      <a:endParaRPr/>
                    </a:p>
                  </a:txBody>
                  <a:tcPr marL="95250" marR="95250" marT="47625" marB="47625">
                    <a:lnB w="12700" algn="ctr">
                      <a:solidFill>
                        <a:schemeClr val="tx1"/>
                      </a:solidFill>
                    </a:lnB>
                    <a:noFill/>
                  </a:tcPr>
                </a:tc>
                <a:tc>
                  <a:txBody>
                    <a:bodyPr/>
                    <a:p>
                      <a:pPr>
                        <a:buNone/>
                        <a:defRPr/>
                      </a:pPr>
                      <a:r>
                        <a:rPr sz="1000" b="0">
                          <a:solidFill>
                            <a:schemeClr val="tx1"/>
                          </a:solidFill>
                        </a:rPr>
                        <a:t>AlertFound ×N, StopEvent</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gate</a:t>
                      </a:r>
                      <a:endParaRPr/>
                    </a:p>
                  </a:txBody>
                  <a:tcPr marL="95250" marR="95250" marT="47625" marB="47625">
                    <a:lnB w="12700" algn="ctr">
                      <a:solidFill>
                        <a:schemeClr val="tx1"/>
                      </a:solidFill>
                    </a:lnB>
                    <a:noFill/>
                  </a:tcPr>
                </a:tc>
                <a:tc>
                  <a:txBody>
                    <a:bodyPr/>
                    <a:p>
                      <a:pPr>
                        <a:buNone/>
                        <a:defRPr/>
                      </a:pPr>
                      <a:r>
                        <a:rPr sz="1000" b="0">
                          <a:solidFill>
                            <a:schemeClr val="tx1"/>
                          </a:solidFill>
                        </a:rPr>
                        <a:t>AlertFound, AlertDone</a:t>
                      </a:r>
                      <a:endParaRPr/>
                    </a:p>
                  </a:txBody>
                  <a:tcPr marL="95250" marR="95250" marT="47625" marB="47625">
                    <a:lnB w="12700" algn="ctr">
                      <a:solidFill>
                        <a:schemeClr val="tx1"/>
                      </a:solidFill>
                    </a:lnB>
                    <a:noFill/>
                  </a:tcPr>
                </a:tc>
                <a:tc>
                  <a:txBody>
                    <a:bodyPr/>
                    <a:p>
                      <a:pPr>
                        <a:buNone/>
                        <a:defRPr/>
                      </a:pPr>
                      <a:r>
                        <a:rPr sz="1000" b="0">
                          <a:solidFill>
                            <a:schemeClr val="tx1"/>
                          </a:solidFill>
                        </a:rPr>
                        <a:t>AlertStarted, StopEvent</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plan</a:t>
                      </a:r>
                      <a:endParaRPr/>
                    </a:p>
                  </a:txBody>
                  <a:tcPr marL="95250" marR="95250" marT="47625" marB="47625">
                    <a:lnB w="12700" algn="ctr">
                      <a:solidFill>
                        <a:schemeClr val="tx1"/>
                      </a:solidFill>
                    </a:lnB>
                    <a:noFill/>
                  </a:tcPr>
                </a:tc>
                <a:tc>
                  <a:txBody>
                    <a:bodyPr/>
                    <a:p>
                      <a:pPr>
                        <a:buNone/>
                        <a:defRPr/>
                      </a:pPr>
                      <a:r>
                        <a:rPr sz="1000" b="0">
                          <a:solidFill>
                            <a:schemeClr val="tx1"/>
                          </a:solidFill>
                        </a:rPr>
                        <a:t>AlertStarted, Stalled</a:t>
                      </a:r>
                      <a:endParaRPr/>
                    </a:p>
                  </a:txBody>
                  <a:tcPr marL="95250" marR="95250" marT="47625" marB="47625">
                    <a:lnB w="12700" algn="ctr">
                      <a:solidFill>
                        <a:schemeClr val="tx1"/>
                      </a:solidFill>
                    </a:lnB>
                    <a:noFill/>
                  </a:tcPr>
                </a:tc>
                <a:tc>
                  <a:txBody>
                    <a:bodyPr/>
                    <a:p>
                      <a:pPr>
                        <a:buNone/>
                        <a:defRPr/>
                      </a:pPr>
                      <a:r>
                        <a:rPr sz="1000" b="0">
                          <a:solidFill>
                            <a:schemeClr val="tx1"/>
                          </a:solidFill>
                        </a:rPr>
                        <a:t>PlanCreated, AlertDone</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controller</a:t>
                      </a:r>
                      <a:endParaRPr/>
                    </a:p>
                  </a:txBody>
                  <a:tcPr marL="95250" marR="95250" marT="47625" marB="47625">
                    <a:lnB w="12700" algn="ctr">
                      <a:solidFill>
                        <a:schemeClr val="tx1"/>
                      </a:solidFill>
                    </a:lnB>
                    <a:noFill/>
                  </a:tcPr>
                </a:tc>
                <a:tc>
                  <a:txBody>
                    <a:bodyPr/>
                    <a:p>
                      <a:pPr>
                        <a:buNone/>
                        <a:defRPr/>
                      </a:pPr>
                      <a:r>
                        <a:rPr sz="1000" b="0">
                          <a:solidFill>
                            <a:schemeClr val="tx1"/>
                          </a:solidFill>
                        </a:rPr>
                        <a:t>PlanCreated, Observed, ChecksFailed</a:t>
                      </a:r>
                      <a:endParaRPr/>
                    </a:p>
                  </a:txBody>
                  <a:tcPr marL="95250" marR="95250" marT="47625" marB="47625">
                    <a:lnB w="12700" algn="ctr">
                      <a:solidFill>
                        <a:schemeClr val="tx1"/>
                      </a:solidFill>
                    </a:lnB>
                    <a:noFill/>
                  </a:tcPr>
                </a:tc>
                <a:tc>
                  <a:txBody>
                    <a:bodyPr/>
                    <a:p>
                      <a:pPr>
                        <a:buNone/>
                        <a:defRPr/>
                      </a:pPr>
                      <a:r>
                        <a:rPr sz="1000" b="0">
                          <a:solidFill>
                            <a:schemeClr val="tx1"/>
                          </a:solidFill>
                        </a:rPr>
                        <a:t>ToolsRequested, Submitted, AlertDone</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tools</a:t>
                      </a:r>
                      <a:endParaRPr/>
                    </a:p>
                  </a:txBody>
                  <a:tcPr marL="95250" marR="95250" marT="47625" marB="47625">
                    <a:lnB w="12700" algn="ctr">
                      <a:solidFill>
                        <a:schemeClr val="tx1"/>
                      </a:solidFill>
                    </a:lnB>
                    <a:noFill/>
                  </a:tcPr>
                </a:tc>
                <a:tc>
                  <a:txBody>
                    <a:bodyPr/>
                    <a:p>
                      <a:pPr>
                        <a:buNone/>
                        <a:defRPr/>
                      </a:pPr>
                      <a:r>
                        <a:rPr sz="1000" b="0">
                          <a:solidFill>
                            <a:schemeClr val="tx1"/>
                          </a:solidFill>
                        </a:rPr>
                        <a:t>ToolsRequested</a:t>
                      </a:r>
                      <a:endParaRPr/>
                    </a:p>
                  </a:txBody>
                  <a:tcPr marL="95250" marR="95250" marT="47625" marB="47625">
                    <a:lnB w="12700" algn="ctr">
                      <a:solidFill>
                        <a:schemeClr val="tx1"/>
                      </a:solidFill>
                    </a:lnB>
                    <a:noFill/>
                  </a:tcPr>
                </a:tc>
                <a:tc>
                  <a:txBody>
                    <a:bodyPr/>
                    <a:p>
                      <a:pPr>
                        <a:buNone/>
                        <a:defRPr/>
                      </a:pPr>
                      <a:r>
                        <a:rPr sz="1000" b="0">
                          <a:solidFill>
                            <a:schemeClr val="tx1"/>
                          </a:solidFill>
                        </a:rPr>
                        <a:t>Observed, Stalled, AlertDone</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submit</a:t>
                      </a:r>
                      <a:endParaRPr/>
                    </a:p>
                  </a:txBody>
                  <a:tcPr marL="95250" marR="95250" marT="47625" marB="47625">
                    <a:lnB w="12700" algn="ctr">
                      <a:solidFill>
                        <a:schemeClr val="tx1"/>
                      </a:solidFill>
                    </a:lnB>
                    <a:noFill/>
                  </a:tcPr>
                </a:tc>
                <a:tc>
                  <a:txBody>
                    <a:bodyPr/>
                    <a:p>
                      <a:pPr>
                        <a:buNone/>
                        <a:defRPr/>
                      </a:pPr>
                      <a:r>
                        <a:rPr sz="1000" b="0">
                          <a:solidFill>
                            <a:schemeClr val="tx1"/>
                          </a:solidFill>
                        </a:rPr>
                        <a:t>Submitted</a:t>
                      </a:r>
                      <a:endParaRPr/>
                    </a:p>
                  </a:txBody>
                  <a:tcPr marL="95250" marR="95250" marT="47625" marB="47625">
                    <a:lnB w="12700" algn="ctr">
                      <a:solidFill>
                        <a:schemeClr val="tx1"/>
                      </a:solidFill>
                    </a:lnB>
                    <a:noFill/>
                  </a:tcPr>
                </a:tc>
                <a:tc>
                  <a:txBody>
                    <a:bodyPr/>
                    <a:p>
                      <a:pPr>
                        <a:buNone/>
                        <a:defRPr/>
                      </a:pPr>
                      <a:r>
                        <a:rPr sz="1000" b="0">
                          <a:solidFill>
                            <a:schemeClr val="tx1"/>
                          </a:solidFill>
                        </a:rPr>
                        <a:t>ChecksFailed, ValidateRequested ×V</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validate</a:t>
                      </a:r>
                      <a:endParaRPr/>
                    </a:p>
                  </a:txBody>
                  <a:tcPr marL="95250" marR="95250" marT="47625" marB="47625">
                    <a:lnB w="12700" algn="ctr">
                      <a:solidFill>
                        <a:schemeClr val="tx1"/>
                      </a:solidFill>
                    </a:lnB>
                    <a:noFill/>
                  </a:tcPr>
                </a:tc>
                <a:tc>
                  <a:txBody>
                    <a:bodyPr/>
                    <a:p>
                      <a:pPr>
                        <a:buNone/>
                        <a:defRPr/>
                      </a:pPr>
                      <a:r>
                        <a:rPr sz="1000" b="0">
                          <a:solidFill>
                            <a:schemeClr val="tx1"/>
                          </a:solidFill>
                        </a:rPr>
                        <a:t>ValidateRequested</a:t>
                      </a:r>
                      <a:endParaRPr/>
                    </a:p>
                  </a:txBody>
                  <a:tcPr marL="95250" marR="95250" marT="47625" marB="47625">
                    <a:lnB w="12700" algn="ctr">
                      <a:solidFill>
                        <a:schemeClr val="tx1"/>
                      </a:solidFill>
                    </a:lnB>
                    <a:noFill/>
                  </a:tcPr>
                </a:tc>
                <a:tc>
                  <a:txBody>
                    <a:bodyPr/>
                    <a:p>
                      <a:pPr>
                        <a:buNone/>
                        <a:defRPr/>
                      </a:pPr>
                      <a:r>
                        <a:rPr sz="1000" b="0">
                          <a:solidFill>
                            <a:schemeClr val="tx1"/>
                          </a:solidFill>
                        </a:rPr>
                        <a:t>Verdict</a:t>
                      </a:r>
                      <a:endParaRPr/>
                    </a:p>
                  </a:txBody>
                  <a:tcPr marL="95250" marR="95250" marT="47625" marB="47625">
                    <a:lnB w="12700" algn="ctr">
                      <a:solidFill>
                        <a:schemeClr val="tx1"/>
                      </a:solidFill>
                    </a:lnB>
                    <a:noFill/>
                  </a:tcPr>
                </a:tc>
              </a:tr>
              <a:tr h="0">
                <a:tc>
                  <a:txBody>
                    <a:bodyPr/>
                    <a:p>
                      <a:pPr>
                        <a:buNone/>
                        <a:defRPr/>
                      </a:pPr>
                      <a:r>
                        <a:rPr sz="1000" b="1">
                          <a:solidFill>
                            <a:srgbClr val="28285E"/>
                          </a:solidFill>
                        </a:rPr>
                        <a:t>judge</a:t>
                      </a:r>
                      <a:endParaRPr/>
                    </a:p>
                  </a:txBody>
                  <a:tcPr marL="95250" marR="95250" marT="47625" marB="47625">
                    <a:lnB w="12700" algn="ctr">
                      <a:solidFill>
                        <a:schemeClr val="tx1"/>
                      </a:solidFill>
                    </a:lnB>
                    <a:noFill/>
                  </a:tcPr>
                </a:tc>
                <a:tc>
                  <a:txBody>
                    <a:bodyPr/>
                    <a:p>
                      <a:pPr>
                        <a:buNone/>
                        <a:defRPr/>
                      </a:pPr>
                      <a:r>
                        <a:rPr sz="1000" b="0">
                          <a:solidFill>
                            <a:schemeClr val="tx1"/>
                          </a:solidFill>
                        </a:rPr>
                        <a:t>Verdict</a:t>
                      </a:r>
                      <a:endParaRPr/>
                    </a:p>
                  </a:txBody>
                  <a:tcPr marL="95250" marR="95250" marT="47625" marB="47625">
                    <a:lnB w="12700" algn="ctr">
                      <a:solidFill>
                        <a:schemeClr val="tx1"/>
                      </a:solidFill>
                    </a:lnB>
                    <a:noFill/>
                  </a:tcPr>
                </a:tc>
                <a:tc>
                  <a:txBody>
                    <a:bodyPr/>
                    <a:p>
                      <a:pPr>
                        <a:buNone/>
                        <a:defRPr/>
                      </a:pPr>
                      <a:r>
                        <a:rPr sz="1000" b="0">
                          <a:solidFill>
                            <a:schemeClr val="tx1"/>
                          </a:solidFill>
                        </a:rPr>
                        <a:t>AlertDone</a:t>
                      </a:r>
                      <a:endParaRPr/>
                    </a:p>
                  </a:txBody>
                  <a:tcPr marL="95250" marR="95250" marT="47625" marB="47625">
                    <a:lnB w="12700" algn="ctr">
                      <a:solidFill>
                        <a:schemeClr val="tx1"/>
                      </a:solidFill>
                    </a:lnB>
                    <a:noFill/>
                  </a:tcPr>
                </a:tc>
              </a:tr>
            </a:tbl>
          </a:graphicData>
        </a:graphic>
      </p:graphicFrame>
      <p:sp>
        <p:nvSpPr>
          <p:cNvPr id="1969432531" name="Rectangle 4"/>
          <p:cNvSpPr/>
          <p:nvPr/>
        </p:nvSpPr>
        <p:spPr bwMode="auto">
          <a:xfrm>
            <a:off x="319251" y="3931710"/>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No step names another: the signatures route the events.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6030265" name="Title 1"/>
          <p:cNvSpPr>
            <a:spLocks noGrp="1"/>
          </p:cNvSpPr>
          <p:nvPr>
            <p:ph type="title"/>
          </p:nvPr>
        </p:nvSpPr>
        <p:spPr bwMode="auto"/>
        <p:txBody>
          <a:bodyPr/>
          <a:lstStyle/>
          <a:p>
            <a:pPr>
              <a:defRPr/>
            </a:pPr>
            <a:r>
              <a:rPr/>
              <a:t>Events as classes, in code</a:t>
            </a:r>
            <a:endParaRPr/>
          </a:p>
        </p:txBody>
      </p:sp>
      <p:sp>
        <p:nvSpPr>
          <p:cNvPr id="229006506" name="Content Placeholder 2"/>
          <p:cNvSpPr>
            <a:spLocks noGrp="1"/>
          </p:cNvSpPr>
          <p:nvPr>
            <p:ph idx="1"/>
          </p:nvPr>
        </p:nvSpPr>
        <p:spPr bwMode="auto">
          <a:xfrm>
            <a:off x="319251" y="700000"/>
            <a:ext cx="6014545" cy="500000"/>
          </a:xfrm>
        </p:spPr>
        <p:txBody>
          <a:bodyPr wrap="square" anchor="ctr"/>
          <a:lstStyle/>
          <a:p>
            <a:pPr marL="0" indent="0">
              <a:buNone/>
              <a:defRPr/>
            </a:pPr>
            <a:r>
              <a:rPr sz="1400" b="1">
                <a:solidFill>
                  <a:srgbClr val="28285E"/>
                </a:solidFill>
              </a:rPr>
              <a:t>Every event is a class. The StartEvent subclass carries the run's input, and every event about one alert carries its alert_id.</a:t>
            </a:r>
            <a:endParaRPr/>
          </a:p>
        </p:txBody>
      </p:sp>
      <p:sp>
        <p:nvSpPr>
          <p:cNvPr id="1692726766"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1">
                <a:solidFill>
                  <a:srgbClr val="28285E"/>
                </a:solidFill>
              </a:rPr>
              <a:t>event_driven/events.py, RunRequested and AlertEvent. Docstrings omitted</a:t>
            </a:r>
            <a:endParaRPr/>
          </a:p>
        </p:txBody>
      </p:sp>
      <p:sp>
        <p:nvSpPr>
          <p:cNvPr id="926277097" name="CodeWindow"/>
          <p:cNvSpPr/>
          <p:nvPr/>
        </p:nvSpPr>
        <p:spPr bwMode="auto">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75826289"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57694977"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31531681"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79201806" name="WinText"/>
          <p:cNvSpPr txBox="1"/>
          <p:nvPr/>
        </p:nvSpPr>
        <p:spPr bwMode="auto">
          <a:xfrm>
            <a:off x="469251" y="1980000"/>
            <a:ext cx="5714545" cy="1890000"/>
          </a:xfrm>
          <a:prstGeom prst="rect">
            <a:avLst/>
          </a:prstGeom>
          <a:noFill/>
        </p:spPr>
        <p:txBody>
          <a:bodyPr wrap="none" lIns="0" tIns="0" rIns="0" bIns="0" anchor="t">
            <a:spAutoFit/>
          </a:bodyPr>
          <a:lstStyle/>
          <a:p>
            <a:pPr algn="l">
              <a:buNone/>
              <a:defRPr/>
            </a:pPr>
            <a:r>
              <a:rPr sz="1100" b="0">
                <a:solidFill>
                  <a:schemeClr val="accent2"/>
                </a:solidFill>
                <a:latin typeface="Aptos Mono"/>
              </a:rPr>
              <a:t>from</a:t>
            </a:r>
            <a:r>
              <a:rPr sz="1100" b="0">
                <a:solidFill>
                  <a:schemeClr val="bg1"/>
                </a:solidFill>
                <a:latin typeface="Aptos Mono"/>
              </a:rPr>
              <a:t> workflows.events </a:t>
            </a:r>
            <a:r>
              <a:rPr sz="1100" b="0">
                <a:solidFill>
                  <a:schemeClr val="accent2"/>
                </a:solidFill>
                <a:latin typeface="Aptos Mono"/>
              </a:rPr>
              <a:t>import</a:t>
            </a:r>
            <a:r>
              <a:rPr sz="1100" b="0">
                <a:solidFill>
                  <a:schemeClr val="bg1"/>
                </a:solidFill>
                <a:latin typeface="Aptos Mono"/>
              </a:rPr>
              <a:t> Event, </a:t>
            </a:r>
            <a:r>
              <a:rPr sz="1100" b="1">
                <a:solidFill>
                  <a:schemeClr val="accent4">
                    <a:lumMod val="70000"/>
                    <a:lumOff val="30000"/>
                  </a:schemeClr>
                </a:solidFill>
                <a:latin typeface="Aptos Mono"/>
              </a:rPr>
              <a:t>StartEvent</a:t>
            </a:r>
            <a:endParaRPr/>
          </a:p>
          <a:p>
            <a:pPr algn="l">
              <a:buNone/>
              <a:defRPr/>
            </a:pPr>
            <a:endParaRPr sz="1100" b="1">
              <a:solidFill>
                <a:schemeClr val="accent4">
                  <a:lumMod val="70000"/>
                  <a:lumOff val="30000"/>
                </a:schemeClr>
              </a:solidFill>
              <a:latin typeface="Aptos Mono"/>
            </a:endParaRPr>
          </a:p>
          <a:p>
            <a:pPr algn="l">
              <a:buNone/>
              <a:defRPr/>
            </a:pPr>
            <a:r>
              <a:rPr sz="1100" b="0">
                <a:solidFill>
                  <a:schemeClr val="accent2"/>
                </a:solidFill>
                <a:latin typeface="Aptos Mono"/>
              </a:rPr>
              <a:t>class</a:t>
            </a:r>
            <a:r>
              <a:rPr sz="1100" b="0">
                <a:solidFill>
                  <a:schemeClr val="bg1"/>
                </a:solidFill>
                <a:latin typeface="Aptos Mono"/>
              </a:rPr>
              <a:t> RunRequested(</a:t>
            </a:r>
            <a:r>
              <a:rPr sz="1100" b="1">
                <a:solidFill>
                  <a:schemeClr val="accent4">
                    <a:lumMod val="70000"/>
                    <a:lumOff val="30000"/>
                  </a:schemeClr>
                </a:solidFill>
                <a:latin typeface="Aptos Mono"/>
              </a:rPr>
              <a:t>StartEvent</a:t>
            </a:r>
            <a:r>
              <a:rPr sz="1100" b="0">
                <a:solidFill>
                  <a:schemeClr val="bg1"/>
                </a:solidFill>
                <a:latin typeface="Aptos Mono"/>
              </a:rPr>
              <a:t>):</a:t>
            </a:r>
            <a:endParaRPr/>
          </a:p>
          <a:p>
            <a:pPr algn="l">
              <a:buNone/>
              <a:defRPr/>
            </a:pPr>
            <a:r>
              <a:rPr sz="1100" b="0">
                <a:solidFill>
                  <a:schemeClr val="bg1"/>
                </a:solidFill>
                <a:latin typeface="Aptos Mono"/>
              </a:rPr>
              <a:t>    rule: str | </a:t>
            </a:r>
            <a:r>
              <a:rPr sz="1100" b="0">
                <a:solidFill>
                  <a:schemeClr val="accent2"/>
                </a:solidFill>
                <a:latin typeface="Aptos Mono"/>
              </a:rPr>
              <a:t>None</a:t>
            </a:r>
            <a:r>
              <a:rPr sz="1100" b="0">
                <a:solidFill>
                  <a:schemeClr val="bg1"/>
                </a:solidFill>
                <a:latin typeface="Aptos Mono"/>
              </a:rPr>
              <a:t> = </a:t>
            </a:r>
            <a:r>
              <a:rPr sz="1100" b="0">
                <a:solidFill>
                  <a:schemeClr val="accent2"/>
                </a:solidFill>
                <a:latin typeface="Aptos Mono"/>
              </a:rPr>
              <a:t>None</a:t>
            </a:r>
            <a:endParaRPr/>
          </a:p>
          <a:p>
            <a:pPr algn="l">
              <a:buNone/>
              <a:defRPr/>
            </a:pPr>
            <a:r>
              <a:rPr sz="1100" b="0">
                <a:solidFill>
                  <a:schemeClr val="bg1"/>
                </a:solidFill>
                <a:latin typeface="Aptos Mono"/>
              </a:rPr>
              <a:t>    alert_id: str | </a:t>
            </a:r>
            <a:r>
              <a:rPr sz="1100" b="0">
                <a:solidFill>
                  <a:schemeClr val="accent2"/>
                </a:solidFill>
                <a:latin typeface="Aptos Mono"/>
              </a:rPr>
              <a:t>None</a:t>
            </a:r>
            <a:r>
              <a:rPr sz="1100" b="0">
                <a:solidFill>
                  <a:schemeClr val="bg1"/>
                </a:solidFill>
                <a:latin typeface="Aptos Mono"/>
              </a:rPr>
              <a:t> = </a:t>
            </a:r>
            <a:r>
              <a:rPr sz="1100" b="0">
                <a:solidFill>
                  <a:schemeClr val="accent2"/>
                </a:solidFill>
                <a:latin typeface="Aptos Mono"/>
              </a:rPr>
              <a:t>None</a:t>
            </a:r>
            <a:endParaRPr/>
          </a:p>
          <a:p>
            <a:pPr algn="l">
              <a:buNone/>
              <a:defRPr/>
            </a:pPr>
            <a:r>
              <a:rPr sz="1100" b="0">
                <a:solidFill>
                  <a:schemeClr val="bg1"/>
                </a:solidFill>
                <a:latin typeface="Aptos Mono"/>
              </a:rPr>
              <a:t>    limit: int | </a:t>
            </a:r>
            <a:r>
              <a:rPr sz="1100" b="0">
                <a:solidFill>
                  <a:schemeClr val="accent2"/>
                </a:solidFill>
                <a:latin typeface="Aptos Mono"/>
              </a:rPr>
              <a:t>None</a:t>
            </a:r>
            <a:r>
              <a:rPr sz="1100" b="0">
                <a:solidFill>
                  <a:schemeClr val="bg1"/>
                </a:solidFill>
                <a:latin typeface="Aptos Mono"/>
              </a:rPr>
              <a:t> = </a:t>
            </a:r>
            <a:r>
              <a:rPr sz="1100" b="0">
                <a:solidFill>
                  <a:schemeClr val="accent2"/>
                </a:solidFill>
                <a:latin typeface="Aptos Mono"/>
              </a:rPr>
              <a:t>None</a:t>
            </a:r>
            <a:endParaRPr/>
          </a:p>
          <a:p>
            <a:pPr algn="l">
              <a:buNone/>
              <a:defRPr/>
            </a:pPr>
            <a:endParaRPr sz="1100" b="0">
              <a:solidFill>
                <a:schemeClr val="accent2"/>
              </a:solidFill>
              <a:latin typeface="Aptos Mono"/>
            </a:endParaRPr>
          </a:p>
          <a:p>
            <a:pPr algn="l">
              <a:buNone/>
              <a:defRPr/>
            </a:pPr>
            <a:r>
              <a:rPr sz="1100" b="0">
                <a:solidFill>
                  <a:schemeClr val="accent2"/>
                </a:solidFill>
                <a:latin typeface="Aptos Mono"/>
              </a:rPr>
              <a:t>class</a:t>
            </a:r>
            <a:r>
              <a:rPr sz="1100" b="0">
                <a:solidFill>
                  <a:schemeClr val="bg1"/>
                </a:solidFill>
                <a:latin typeface="Aptos Mono"/>
              </a:rPr>
              <a:t> AlertEvent(Event):</a:t>
            </a:r>
            <a:endParaRPr/>
          </a:p>
          <a:p>
            <a:pPr algn="l">
              <a:buNone/>
              <a:defRPr/>
            </a:pPr>
            <a:r>
              <a:rPr sz="1100" b="0">
                <a:solidFill>
                  <a:schemeClr val="bg1"/>
                </a:solidFill>
                <a:latin typeface="Aptos Mono"/>
              </a:rPr>
              <a:t>    alert_id: str</a:t>
            </a:r>
            <a:endParaRPr/>
          </a:p>
        </p:txBody>
      </p:sp>
      <p:sp>
        <p:nvSpPr>
          <p:cNvPr id="1748403211" name="Rectangle 9"/>
          <p:cNvSpPr/>
          <p:nvPr/>
        </p:nvSpPr>
        <p:spPr bwMode="auto">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StartEvent's fields are run()'s keyword arguments. alert_id is the correlation key across alerts.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85981403" name="Title 1"/>
          <p:cNvSpPr>
            <a:spLocks noGrp="1"/>
          </p:cNvSpPr>
          <p:nvPr>
            <p:ph type="title"/>
          </p:nvPr>
        </p:nvSpPr>
        <p:spPr bwMode="auto"/>
        <p:txBody>
          <a:bodyPr/>
          <a:lstStyle/>
          <a:p>
            <a:pPr>
              <a:defRPr/>
            </a:pPr>
            <a:r>
              <a:rPr/>
              <a:t>A step's signature declares its events</a:t>
            </a:r>
            <a:endParaRPr/>
          </a:p>
        </p:txBody>
      </p:sp>
      <p:sp>
        <p:nvSpPr>
          <p:cNvPr id="1316948530" name="Content Placeholder 2"/>
          <p:cNvSpPr>
            <a:spLocks noGrp="1"/>
          </p:cNvSpPr>
          <p:nvPr>
            <p:ph idx="1"/>
          </p:nvPr>
        </p:nvSpPr>
        <p:spPr bwMode="auto">
          <a:xfrm>
            <a:off x="319251" y="700000"/>
            <a:ext cx="6014545" cy="500000"/>
          </a:xfrm>
        </p:spPr>
        <p:txBody>
          <a:bodyPr wrap="square" anchor="ctr"/>
          <a:lstStyle/>
          <a:p>
            <a:pPr marL="0" indent="0">
              <a:buNone/>
              <a:defRPr/>
            </a:pPr>
            <a:r>
              <a:rPr sz="1400" b="1">
                <a:solidFill>
                  <a:srgbClr val="28285E"/>
                </a:solidFill>
              </a:rPr>
              <a:t>The signature names the event the step accepts and the event it returns. The store on the Context holds per-run state.</a:t>
            </a:r>
            <a:endParaRPr/>
          </a:p>
        </p:txBody>
      </p:sp>
      <p:sp>
        <p:nvSpPr>
          <p:cNvPr id="1603505155" name="TextBox 3"/>
          <p:cNvSpPr txBox="1"/>
          <p:nvPr/>
        </p:nvSpPr>
        <p:spPr bwMode="auto">
          <a:xfrm>
            <a:off x="319251" y="1390000"/>
            <a:ext cx="6014545" cy="200000"/>
          </a:xfrm>
          <a:prstGeom prst="rect">
            <a:avLst/>
          </a:prstGeom>
          <a:noFill/>
        </p:spPr>
        <p:txBody>
          <a:bodyPr wrap="none" lIns="0" tIns="0" rIns="0" bIns="0">
            <a:spAutoFit/>
          </a:bodyPr>
          <a:lstStyle/>
          <a:p>
            <a:pPr>
              <a:defRPr/>
            </a:pPr>
            <a:r>
              <a:rPr sz="1200" b="1">
                <a:solidFill>
                  <a:srgbClr val="28285E"/>
                </a:solidFill>
              </a:rPr>
              <a:t>event_driven/workflow.py, start</a:t>
            </a:r>
            <a:endParaRPr/>
          </a:p>
        </p:txBody>
      </p:sp>
      <p:sp>
        <p:nvSpPr>
          <p:cNvPr id="1478900779" name="CodeWindow"/>
          <p:cNvSpPr/>
          <p:nvPr/>
        </p:nvSpPr>
        <p:spPr bwMode="auto">
          <a:xfrm>
            <a:off x="319251" y="1650000"/>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7782337" name="WinDot 0"/>
          <p:cNvSpPr/>
          <p:nvPr/>
        </p:nvSpPr>
        <p:spPr bwMode="auto">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30833252" name="WinDot 1"/>
          <p:cNvSpPr/>
          <p:nvPr/>
        </p:nvSpPr>
        <p:spPr bwMode="auto">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8345406" name="WinDot 2"/>
          <p:cNvSpPr/>
          <p:nvPr/>
        </p:nvSpPr>
        <p:spPr bwMode="auto">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9800655" name="WinText"/>
          <p:cNvSpPr txBox="1"/>
          <p:nvPr/>
        </p:nvSpPr>
        <p:spPr bwMode="auto">
          <a:xfrm>
            <a:off x="469251" y="1980000"/>
            <a:ext cx="5714545" cy="1680000"/>
          </a:xfrm>
          <a:prstGeom prst="rect">
            <a:avLst/>
          </a:prstGeom>
          <a:noFill/>
        </p:spPr>
        <p:txBody>
          <a:bodyPr wrap="none" lIns="0" tIns="0" rIns="0" bIns="0" anchor="t">
            <a:spAutoFit/>
          </a:bodyPr>
          <a:lstStyle/>
          <a:p>
            <a:pPr algn="l">
              <a:buNone/>
              <a:defRPr/>
            </a:pPr>
            <a:r>
              <a:rPr sz="1100" b="0">
                <a:solidFill>
                  <a:schemeClr val="bg1"/>
                </a:solidFill>
                <a:latin typeface="Aptos Mono"/>
              </a:rPr>
              <a:t>@step</a:t>
            </a:r>
            <a:endParaRPr/>
          </a:p>
          <a:p>
            <a:pPr algn="l">
              <a:buNone/>
              <a:defRPr/>
            </a:pPr>
            <a:r>
              <a:rPr sz="1100" b="0">
                <a:solidFill>
                  <a:schemeClr val="bg1"/>
                </a:solidFill>
                <a:latin typeface="Aptos Mono"/>
              </a:rPr>
              <a:t>async </a:t>
            </a:r>
            <a:r>
              <a:rPr sz="1100" b="0">
                <a:solidFill>
                  <a:schemeClr val="accent2"/>
                </a:solidFill>
                <a:latin typeface="Aptos Mono"/>
              </a:rPr>
              <a:t>def</a:t>
            </a:r>
            <a:r>
              <a:rPr sz="1100" b="0">
                <a:solidFill>
                  <a:schemeClr val="bg1"/>
                </a:solidFill>
                <a:latin typeface="Aptos Mono"/>
              </a:rPr>
              <a:t> start(</a:t>
            </a:r>
            <a:r>
              <a:rPr sz="1100" b="0">
                <a:solidFill>
                  <a:schemeClr val="accent2"/>
                </a:solidFill>
                <a:latin typeface="Aptos Mono"/>
              </a:rPr>
              <a:t>self</a:t>
            </a:r>
            <a:r>
              <a:rPr sz="1100" b="0">
                <a:solidFill>
                  <a:schemeClr val="bg1"/>
                </a:solidFill>
                <a:latin typeface="Aptos Mono"/>
              </a:rPr>
              <a:t>, ctx: Context[RunState],</a:t>
            </a:r>
            <a:endParaRPr/>
          </a:p>
          <a:p>
            <a:pPr algn="l">
              <a:buNone/>
              <a:defRPr/>
            </a:pPr>
            <a:r>
              <a:rPr sz="1100" b="0">
                <a:solidFill>
                  <a:schemeClr val="bg1"/>
                </a:solidFill>
                <a:latin typeface="Aptos Mono"/>
              </a:rPr>
              <a:t>                ev: RunRequested) -&gt; </a:t>
            </a:r>
            <a:r>
              <a:rPr sz="1100" b="1">
                <a:solidFill>
                  <a:schemeClr val="accent4">
                    <a:lumMod val="70000"/>
                    <a:lumOff val="30000"/>
                  </a:schemeClr>
                </a:solidFill>
                <a:latin typeface="Aptos Mono"/>
              </a:rPr>
              <a:t>ScanRequested</a:t>
            </a:r>
            <a:r>
              <a:rPr sz="1100" b="0">
                <a:solidFill>
                  <a:schemeClr val="bg1"/>
                </a:solidFill>
                <a:latin typeface="Aptos Mono"/>
              </a:rPr>
              <a:t>:</a:t>
            </a:r>
            <a:endParaRPr/>
          </a:p>
          <a:p>
            <a:pPr algn="l">
              <a:buNone/>
              <a:defRPr/>
            </a:pPr>
            <a:r>
              <a:rPr sz="1100" b="0">
                <a:solidFill>
                  <a:schemeClr val="bg1"/>
                </a:solidFill>
                <a:latin typeface="Aptos Mono"/>
              </a:rPr>
              <a:t>    async </a:t>
            </a:r>
            <a:r>
              <a:rPr sz="1100" b="0">
                <a:solidFill>
                  <a:schemeClr val="accent2"/>
                </a:solidFill>
                <a:latin typeface="Aptos Mono"/>
              </a:rPr>
              <a:t>with</a:t>
            </a:r>
            <a:r>
              <a:rPr sz="1100" b="0">
                <a:solidFill>
                  <a:schemeClr val="bg1"/>
                </a:solidFill>
                <a:latin typeface="Aptos Mono"/>
              </a:rPr>
              <a:t> ctx.store.edit_state() </a:t>
            </a:r>
            <a:r>
              <a:rPr sz="1100" b="0">
                <a:solidFill>
                  <a:schemeClr val="accent2"/>
                </a:solidFill>
                <a:latin typeface="Aptos Mono"/>
              </a:rPr>
              <a:t>as</a:t>
            </a:r>
            <a:r>
              <a:rPr sz="1100" b="0">
                <a:solidFill>
                  <a:schemeClr val="bg1"/>
                </a:solidFill>
                <a:latin typeface="Aptos Mono"/>
              </a:rPr>
              <a:t> s:</a:t>
            </a:r>
            <a:endParaRPr/>
          </a:p>
          <a:p>
            <a:pPr algn="l">
              <a:buNone/>
              <a:defRPr/>
            </a:pPr>
            <a:r>
              <a:rPr sz="1100" b="0">
                <a:solidFill>
                  <a:schemeClr val="bg1"/>
                </a:solidFill>
                <a:latin typeface="Aptos Mono"/>
              </a:rPr>
              <a:t>        s.filters = {</a:t>
            </a:r>
            <a:r>
              <a:rPr sz="1100" b="0">
                <a:solidFill>
                  <a:schemeClr val="accent3">
                    <a:lumMod val="55000"/>
                    <a:lumOff val="45000"/>
                  </a:schemeClr>
                </a:solidFill>
                <a:latin typeface="Aptos Mono"/>
              </a:rPr>
              <a:t>"rule"</a:t>
            </a:r>
            <a:r>
              <a:rPr sz="1100" b="0">
                <a:solidFill>
                  <a:schemeClr val="bg1"/>
                </a:solidFill>
                <a:latin typeface="Aptos Mono"/>
              </a:rPr>
              <a:t>: ev.rule, </a:t>
            </a:r>
            <a:r>
              <a:rPr sz="1100" b="0">
                <a:solidFill>
                  <a:schemeClr val="accent3">
                    <a:lumMod val="55000"/>
                    <a:lumOff val="45000"/>
                  </a:schemeClr>
                </a:solidFill>
                <a:latin typeface="Aptos Mono"/>
              </a:rPr>
              <a:t>"alert_id"</a:t>
            </a:r>
            <a:r>
              <a:rPr sz="1100" b="0">
                <a:solidFill>
                  <a:schemeClr val="bg1"/>
                </a:solidFill>
                <a:latin typeface="Aptos Mono"/>
              </a:rPr>
              <a:t>: ev.alert_id,</a:t>
            </a:r>
            <a:endParaRPr/>
          </a:p>
          <a:p>
            <a:pPr algn="l">
              <a:buNone/>
              <a:defRPr/>
            </a:pPr>
            <a:r>
              <a:rPr sz="1100" b="0">
                <a:solidFill>
                  <a:schemeClr val="bg1"/>
                </a:solidFill>
                <a:latin typeface="Aptos Mono"/>
              </a:rPr>
              <a:t>                     </a:t>
            </a:r>
            <a:r>
              <a:rPr sz="1100" b="0">
                <a:solidFill>
                  <a:schemeClr val="accent3">
                    <a:lumMod val="55000"/>
                    <a:lumOff val="45000"/>
                  </a:schemeClr>
                </a:solidFill>
                <a:latin typeface="Aptos Mono"/>
              </a:rPr>
              <a:t>"limit"</a:t>
            </a:r>
            <a:r>
              <a:rPr sz="1100" b="0">
                <a:solidFill>
                  <a:schemeClr val="bg1"/>
                </a:solidFill>
                <a:latin typeface="Aptos Mono"/>
              </a:rPr>
              <a:t>: ev.limit}</a:t>
            </a:r>
            <a:endParaRPr/>
          </a:p>
          <a:p>
            <a:pPr algn="l">
              <a:buNone/>
              <a:defRPr/>
            </a:pPr>
            <a:r>
              <a:rPr sz="1100" b="0">
                <a:solidFill>
                  <a:schemeClr val="accent6"/>
                </a:solidFill>
                <a:latin typeface="Aptos Mono"/>
              </a:rPr>
              <a:t>    # The runtime decides to scan; no model is asked.</a:t>
            </a:r>
            <a:endParaRPr/>
          </a:p>
          <a:p>
            <a:pPr algn="l">
              <a:buNone/>
              <a:defRPr/>
            </a:pPr>
            <a:r>
              <a:rPr sz="1100" b="0">
                <a:solidFill>
                  <a:schemeClr val="bg1"/>
                </a:solidFill>
                <a:latin typeface="Aptos Mono"/>
              </a:rPr>
              <a:t>    </a:t>
            </a:r>
            <a:r>
              <a:rPr sz="1100" b="0">
                <a:solidFill>
                  <a:schemeClr val="accent2"/>
                </a:solidFill>
                <a:latin typeface="Aptos Mono"/>
              </a:rPr>
              <a:t>return</a:t>
            </a:r>
            <a:r>
              <a:rPr sz="1100" b="0">
                <a:solidFill>
                  <a:schemeClr val="bg1"/>
                </a:solidFill>
                <a:latin typeface="Aptos Mono"/>
              </a:rPr>
              <a:t> </a:t>
            </a:r>
            <a:r>
              <a:rPr sz="1100" b="1">
                <a:solidFill>
                  <a:schemeClr val="accent4">
                    <a:lumMod val="70000"/>
                    <a:lumOff val="30000"/>
                  </a:schemeClr>
                </a:solidFill>
                <a:latin typeface="Aptos Mono"/>
              </a:rPr>
              <a:t>ScanRequested</a:t>
            </a:r>
            <a:r>
              <a:rPr sz="1100" b="0">
                <a:solidFill>
                  <a:schemeClr val="bg1"/>
                </a:solidFill>
                <a:latin typeface="Aptos Mono"/>
              </a:rPr>
              <a:t>(root=str(</a:t>
            </a:r>
            <a:r>
              <a:rPr sz="1100" b="0">
                <a:solidFill>
                  <a:schemeClr val="accent2"/>
                </a:solidFill>
                <a:latin typeface="Aptos Mono"/>
              </a:rPr>
              <a:t>self</a:t>
            </a:r>
            <a:r>
              <a:rPr sz="1100" b="0">
                <a:solidFill>
                  <a:schemeClr val="bg1"/>
                </a:solidFill>
                <a:latin typeface="Aptos Mono"/>
              </a:rPr>
              <a:t>.config.fixture))</a:t>
            </a:r>
            <a:endParaRPr/>
          </a:p>
        </p:txBody>
      </p:sp>
      <p:sp>
        <p:nvSpPr>
          <p:cNvPr id="1545790604" name="Rectangle 9"/>
          <p:cNvSpPr/>
          <p:nvPr/>
        </p:nvSpPr>
        <p:spPr bwMode="auto">
          <a:xfrm>
            <a:off x="319251" y="392000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returned event triggers the next step whose annotation accepts it. edit_state() guards an update that must not interleave with another step's.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88070173" name="Title 1"/>
          <p:cNvSpPr>
            <a:spLocks noGrp="1"/>
          </p:cNvSpPr>
          <p:nvPr>
            <p:ph type="title"/>
          </p:nvPr>
        </p:nvSpPr>
        <p:spPr bwMode="auto"/>
        <p:txBody>
          <a:bodyPr/>
          <a:lstStyle/>
          <a:p>
            <a:pPr>
              <a:defRPr/>
            </a:pPr>
            <a:r>
              <a:rPr/>
              <a:t>The StopEvent: how the run ends</a:t>
            </a:r>
            <a:endParaRPr/>
          </a:p>
        </p:txBody>
      </p:sp>
      <p:sp>
        <p:nvSpPr>
          <p:cNvPr id="335157717" name="Content Placeholder 2"/>
          <p:cNvSpPr>
            <a:spLocks noGrp="1"/>
          </p:cNvSpPr>
          <p:nvPr>
            <p:ph idx="1"/>
          </p:nvPr>
        </p:nvSpPr>
        <p:spPr bwMode="auto">
          <a:xfrm>
            <a:off x="319251" y="700000"/>
            <a:ext cx="6014545" cy="300000"/>
          </a:xfrm>
        </p:spPr>
        <p:txBody>
          <a:bodyPr wrap="square" anchor="ctr"/>
          <a:lstStyle/>
          <a:p>
            <a:pPr marL="0" indent="0">
              <a:buNone/>
              <a:defRPr/>
            </a:pPr>
            <a:r>
              <a:rPr sz="1400" b="1">
                <a:solidFill>
                  <a:srgbClr val="28285E"/>
                </a:solidFill>
              </a:rPr>
              <a:t>The gate step returns the StopEvent.</a:t>
            </a:r>
            <a:endParaRPr/>
          </a:p>
        </p:txBody>
      </p:sp>
      <p:sp>
        <p:nvSpPr>
          <p:cNvPr id="1499798290" name="TextBox 3"/>
          <p:cNvSpPr txBox="1"/>
          <p:nvPr/>
        </p:nvSpPr>
        <p:spPr bwMode="auto">
          <a:xfrm>
            <a:off x="319251" y="1190000"/>
            <a:ext cx="6014545" cy="200000"/>
          </a:xfrm>
          <a:prstGeom prst="rect">
            <a:avLst/>
          </a:prstGeom>
          <a:noFill/>
        </p:spPr>
        <p:txBody>
          <a:bodyPr wrap="none" lIns="0" tIns="0" rIns="0" bIns="0">
            <a:spAutoFit/>
          </a:bodyPr>
          <a:lstStyle/>
          <a:p>
            <a:pPr>
              <a:defRPr/>
            </a:pPr>
            <a:r>
              <a:rPr sz="1200" b="1">
                <a:solidFill>
                  <a:srgbClr val="28285E"/>
                </a:solidFill>
              </a:rPr>
              <a:t>event_driven/workflow.py, gate. Queueing and bookkeeping omitted</a:t>
            </a:r>
            <a:endParaRPr/>
          </a:p>
        </p:txBody>
      </p:sp>
      <p:sp>
        <p:nvSpPr>
          <p:cNvPr id="789761932" name="CodeWindow"/>
          <p:cNvSpPr/>
          <p:nvPr/>
        </p:nvSpPr>
        <p:spPr bwMode="auto">
          <a:xfrm>
            <a:off x="319251" y="1450000"/>
            <a:ext cx="6014545" cy="250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18967248" name="WinDot 0"/>
          <p:cNvSpPr/>
          <p:nvPr/>
        </p:nvSpPr>
        <p:spPr bwMode="auto">
          <a:xfrm>
            <a:off x="371717" y="14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07228624" name="WinDot 1"/>
          <p:cNvSpPr/>
          <p:nvPr/>
        </p:nvSpPr>
        <p:spPr bwMode="auto">
          <a:xfrm>
            <a:off x="581580" y="14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622265" name="WinDot 2"/>
          <p:cNvSpPr/>
          <p:nvPr/>
        </p:nvSpPr>
        <p:spPr bwMode="auto">
          <a:xfrm>
            <a:off x="791443" y="14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2900048" name="WinText"/>
          <p:cNvSpPr txBox="1"/>
          <p:nvPr/>
        </p:nvSpPr>
        <p:spPr bwMode="auto">
          <a:xfrm>
            <a:off x="469251" y="1780000"/>
            <a:ext cx="5714545" cy="2100000"/>
          </a:xfrm>
          <a:prstGeom prst="rect">
            <a:avLst/>
          </a:prstGeom>
          <a:noFill/>
        </p:spPr>
        <p:txBody>
          <a:bodyPr wrap="none" lIns="0" tIns="0" rIns="0" bIns="0" anchor="t">
            <a:spAutoFit/>
          </a:bodyPr>
          <a:lstStyle/>
          <a:p>
            <a:pPr algn="l">
              <a:buNone/>
              <a:defRPr/>
            </a:pPr>
            <a:r>
              <a:rPr sz="1100" b="0">
                <a:solidFill>
                  <a:schemeClr val="bg1"/>
                </a:solidFill>
                <a:latin typeface="Aptos Mono"/>
              </a:rPr>
              <a:t>@step(num_workers=</a:t>
            </a:r>
            <a:r>
              <a:rPr sz="1100" b="0">
                <a:solidFill>
                  <a:schemeClr val="accent5">
                    <a:lumMod val="45000"/>
                    <a:lumOff val="55000"/>
                  </a:schemeClr>
                </a:solidFill>
                <a:latin typeface="Aptos Mono"/>
              </a:rPr>
              <a:t>1</a:t>
            </a:r>
            <a:r>
              <a:rPr sz="1100" b="0">
                <a:solidFill>
                  <a:schemeClr val="bg1"/>
                </a:solidFill>
                <a:latin typeface="Aptos Mono"/>
              </a:rPr>
              <a:t>)</a:t>
            </a:r>
            <a:endParaRPr/>
          </a:p>
          <a:p>
            <a:pPr algn="l">
              <a:buNone/>
              <a:defRPr/>
            </a:pPr>
            <a:r>
              <a:rPr sz="1100" b="0">
                <a:solidFill>
                  <a:schemeClr val="bg1"/>
                </a:solidFill>
                <a:latin typeface="Aptos Mono"/>
              </a:rPr>
              <a:t>async </a:t>
            </a:r>
            <a:r>
              <a:rPr sz="1100" b="0">
                <a:solidFill>
                  <a:schemeClr val="accent2"/>
                </a:solidFill>
                <a:latin typeface="Aptos Mono"/>
              </a:rPr>
              <a:t>def</a:t>
            </a:r>
            <a:r>
              <a:rPr sz="1100" b="0">
                <a:solidFill>
                  <a:schemeClr val="bg1"/>
                </a:solidFill>
                <a:latin typeface="Aptos Mono"/>
              </a:rPr>
              <a:t> gate(</a:t>
            </a:r>
            <a:r>
              <a:rPr sz="1100" b="0">
                <a:solidFill>
                  <a:schemeClr val="accent2"/>
                </a:solidFill>
                <a:latin typeface="Aptos Mono"/>
              </a:rPr>
              <a:t>self</a:t>
            </a:r>
            <a:r>
              <a:rPr sz="1100" b="0">
                <a:solidFill>
                  <a:schemeClr val="bg1"/>
                </a:solidFill>
                <a:latin typeface="Aptos Mono"/>
              </a:rPr>
              <a:t>, ctx: Context[RunState],</a:t>
            </a:r>
            <a:endParaRPr/>
          </a:p>
          <a:p>
            <a:pPr algn="l">
              <a:buNone/>
              <a:defRPr/>
            </a:pPr>
            <a:r>
              <a:rPr sz="1100" b="0">
                <a:solidFill>
                  <a:schemeClr val="bg1"/>
                </a:solidFill>
                <a:latin typeface="Aptos Mono"/>
              </a:rPr>
              <a:t>               ev: AlertFound | AlertDone</a:t>
            </a:r>
            <a:endParaRPr/>
          </a:p>
          <a:p>
            <a:pPr algn="l">
              <a:buNone/>
              <a:defRPr/>
            </a:pPr>
            <a:r>
              <a:rPr sz="1100" b="0">
                <a:solidFill>
                  <a:schemeClr val="bg1"/>
                </a:solidFill>
                <a:latin typeface="Aptos Mono"/>
              </a:rPr>
              <a:t>               ) -&gt; AlertStarted | </a:t>
            </a:r>
            <a:r>
              <a:rPr sz="1100" b="1">
                <a:solidFill>
                  <a:schemeClr val="accent4">
                    <a:lumMod val="70000"/>
                    <a:lumOff val="30000"/>
                  </a:schemeClr>
                </a:solidFill>
                <a:latin typeface="Aptos Mono"/>
              </a:rPr>
              <a:t>StopEvent</a:t>
            </a:r>
            <a:r>
              <a:rPr sz="1100" b="0">
                <a:solidFill>
                  <a:schemeClr val="bg1"/>
                </a:solidFill>
                <a:latin typeface="Aptos Mono"/>
              </a:rPr>
              <a:t> | </a:t>
            </a:r>
            <a:r>
              <a:rPr sz="1100" b="0">
                <a:solidFill>
                  <a:schemeClr val="accent2"/>
                </a:solidFill>
                <a:latin typeface="Aptos Mono"/>
              </a:rPr>
              <a:t>None</a:t>
            </a:r>
            <a:r>
              <a:rPr sz="1100" b="0">
                <a:solidFill>
                  <a:schemeClr val="bg1"/>
                </a:solidFill>
                <a:latin typeface="Aptos Mono"/>
              </a:rPr>
              <a:t>:</a:t>
            </a:r>
            <a:endParaRPr/>
          </a:p>
          <a:p>
            <a:pPr algn="l">
              <a:buNone/>
              <a:defRPr/>
            </a:pPr>
            <a:r>
              <a:rPr sz="1100" b="0">
                <a:solidFill>
                  <a:schemeClr val="bg1"/>
                </a:solidFill>
                <a:latin typeface="Aptos Mono"/>
              </a:rPr>
              <a:t>    async </a:t>
            </a:r>
            <a:r>
              <a:rPr sz="1100" b="0">
                <a:solidFill>
                  <a:schemeClr val="accent2"/>
                </a:solidFill>
                <a:latin typeface="Aptos Mono"/>
              </a:rPr>
              <a:t>with</a:t>
            </a:r>
            <a:r>
              <a:rPr sz="1100" b="0">
                <a:solidFill>
                  <a:schemeClr val="bg1"/>
                </a:solidFill>
                <a:latin typeface="Aptos Mono"/>
              </a:rPr>
              <a:t> ctx.store.edit_state() </a:t>
            </a:r>
            <a:r>
              <a:rPr sz="1100" b="0">
                <a:solidFill>
                  <a:schemeClr val="accent2"/>
                </a:solidFill>
                <a:latin typeface="Aptos Mono"/>
              </a:rPr>
              <a:t>as</a:t>
            </a:r>
            <a:r>
              <a:rPr sz="1100" b="0">
                <a:solidFill>
                  <a:schemeClr val="bg1"/>
                </a:solidFill>
                <a:latin typeface="Aptos Mono"/>
              </a:rPr>
              <a:t> s:</a:t>
            </a:r>
            <a:endParaRPr/>
          </a:p>
          <a:p>
            <a:pPr algn="l">
              <a:buNone/>
              <a:defRPr/>
            </a:pPr>
            <a:r>
              <a:rPr sz="1100" b="0">
                <a:solidFill>
                  <a:schemeClr val="accent6"/>
                </a:solidFill>
                <a:latin typeface="Aptos Mono"/>
              </a:rPr>
              <a:t>        # ours: enqueue the alert or record its result, omitted</a:t>
            </a:r>
            <a:endParaRPr/>
          </a:p>
          <a:p>
            <a:pPr algn="l">
              <a:buNone/>
              <a:defRPr/>
            </a:pPr>
            <a:r>
              <a:rPr sz="1100" b="0">
                <a:solidFill>
                  <a:schemeClr val="bg1"/>
                </a:solidFill>
                <a:latin typeface="Aptos Mono"/>
              </a:rPr>
              <a:t>        </a:t>
            </a:r>
            <a:r>
              <a:rPr sz="1100" b="0">
                <a:solidFill>
                  <a:schemeClr val="accent2"/>
                </a:solidFill>
                <a:latin typeface="Aptos Mono"/>
              </a:rPr>
              <a:t>if</a:t>
            </a:r>
            <a:r>
              <a:rPr sz="1100" b="0">
                <a:solidFill>
                  <a:schemeClr val="bg1"/>
                </a:solidFill>
                <a:latin typeface="Aptos Mono"/>
              </a:rPr>
              <a:t> len(s.results) == s.expected:</a:t>
            </a:r>
            <a:endParaRPr/>
          </a:p>
          <a:p>
            <a:pPr algn="l">
              <a:buNone/>
              <a:defRPr/>
            </a:pPr>
            <a:r>
              <a:rPr sz="1100" b="0">
                <a:solidFill>
                  <a:schemeClr val="bg1"/>
                </a:solidFill>
                <a:latin typeface="Aptos Mono"/>
              </a:rPr>
              <a:t>            </a:t>
            </a:r>
            <a:r>
              <a:rPr sz="1100" b="0">
                <a:solidFill>
                  <a:schemeClr val="accent2"/>
                </a:solidFill>
                <a:latin typeface="Aptos Mono"/>
              </a:rPr>
              <a:t>return</a:t>
            </a:r>
            <a:r>
              <a:rPr sz="1100" b="0">
                <a:solidFill>
                  <a:schemeClr val="bg1"/>
                </a:solidFill>
                <a:latin typeface="Aptos Mono"/>
              </a:rPr>
              <a:t> </a:t>
            </a:r>
            <a:r>
              <a:rPr sz="1100" b="1">
                <a:solidFill>
                  <a:schemeClr val="accent4">
                    <a:lumMod val="70000"/>
                    <a:lumOff val="30000"/>
                  </a:schemeClr>
                </a:solidFill>
                <a:latin typeface="Aptos Mono"/>
              </a:rPr>
              <a:t>StopEvent</a:t>
            </a:r>
            <a:r>
              <a:rPr sz="1100" b="0">
                <a:solidFill>
                  <a:schemeClr val="bg1"/>
                </a:solidFill>
                <a:latin typeface="Aptos Mono"/>
              </a:rPr>
              <a:t>(result=dict(s.results))</a:t>
            </a:r>
            <a:endParaRPr/>
          </a:p>
          <a:p>
            <a:pPr algn="l">
              <a:buNone/>
              <a:defRPr/>
            </a:pPr>
            <a:r>
              <a:rPr sz="1100" b="0">
                <a:solidFill>
                  <a:schemeClr val="bg1"/>
                </a:solidFill>
                <a:latin typeface="Aptos Mono"/>
              </a:rPr>
              <a:t>        </a:t>
            </a:r>
            <a:r>
              <a:rPr sz="1100" b="0">
                <a:solidFill>
                  <a:schemeClr val="accent2"/>
                </a:solidFill>
                <a:latin typeface="Aptos Mono"/>
              </a:rPr>
              <a:t>if</a:t>
            </a:r>
            <a:r>
              <a:rPr sz="1100" b="0">
                <a:solidFill>
                  <a:schemeClr val="bg1"/>
                </a:solidFill>
                <a:latin typeface="Aptos Mono"/>
              </a:rPr>
              <a:t> s.current is </a:t>
            </a:r>
            <a:r>
              <a:rPr sz="1100" b="0">
                <a:solidFill>
                  <a:schemeClr val="accent2"/>
                </a:solidFill>
                <a:latin typeface="Aptos Mono"/>
              </a:rPr>
              <a:t>not</a:t>
            </a:r>
            <a:r>
              <a:rPr sz="1100" b="0">
                <a:solidFill>
                  <a:schemeClr val="bg1"/>
                </a:solidFill>
                <a:latin typeface="Aptos Mono"/>
              </a:rPr>
              <a:t> </a:t>
            </a:r>
            <a:r>
              <a:rPr sz="1100" b="0">
                <a:solidFill>
                  <a:schemeClr val="accent2"/>
                </a:solidFill>
                <a:latin typeface="Aptos Mono"/>
              </a:rPr>
              <a:t>None</a:t>
            </a:r>
            <a:r>
              <a:rPr sz="1100" b="0">
                <a:solidFill>
                  <a:schemeClr val="bg1"/>
                </a:solidFill>
                <a:latin typeface="Aptos Mono"/>
              </a:rPr>
              <a:t> </a:t>
            </a:r>
            <a:r>
              <a:rPr sz="1100" b="0">
                <a:solidFill>
                  <a:schemeClr val="accent2"/>
                </a:solidFill>
                <a:latin typeface="Aptos Mono"/>
              </a:rPr>
              <a:t>or</a:t>
            </a:r>
            <a:r>
              <a:rPr sz="1100" b="0">
                <a:solidFill>
                  <a:schemeClr val="bg1"/>
                </a:solidFill>
                <a:latin typeface="Aptos Mono"/>
              </a:rPr>
              <a:t> </a:t>
            </a:r>
            <a:r>
              <a:rPr sz="1100" b="0">
                <a:solidFill>
                  <a:schemeClr val="accent2"/>
                </a:solidFill>
                <a:latin typeface="Aptos Mono"/>
              </a:rPr>
              <a:t>not</a:t>
            </a:r>
            <a:r>
              <a:rPr sz="1100" b="0">
                <a:solidFill>
                  <a:schemeClr val="bg1"/>
                </a:solidFill>
                <a:latin typeface="Aptos Mono"/>
              </a:rPr>
              <a:t> s.queue:</a:t>
            </a:r>
            <a:endParaRPr/>
          </a:p>
          <a:p>
            <a:pPr algn="l">
              <a:buNone/>
              <a:defRPr/>
            </a:pPr>
            <a:r>
              <a:rPr sz="1100" b="0">
                <a:solidFill>
                  <a:schemeClr val="bg1"/>
                </a:solidFill>
                <a:latin typeface="Aptos Mono"/>
              </a:rPr>
              <a:t>            </a:t>
            </a:r>
            <a:r>
              <a:rPr sz="1100" b="0">
                <a:solidFill>
                  <a:schemeClr val="accent2"/>
                </a:solidFill>
                <a:latin typeface="Aptos Mono"/>
              </a:rPr>
              <a:t>return</a:t>
            </a:r>
            <a:r>
              <a:rPr sz="1100" b="0">
                <a:solidFill>
                  <a:schemeClr val="bg1"/>
                </a:solidFill>
                <a:latin typeface="Aptos Mono"/>
              </a:rPr>
              <a:t> </a:t>
            </a:r>
            <a:r>
              <a:rPr sz="1100" b="0">
                <a:solidFill>
                  <a:schemeClr val="accent2"/>
                </a:solidFill>
                <a:latin typeface="Aptos Mono"/>
              </a:rPr>
              <a:t>None</a:t>
            </a:r>
            <a:endParaRPr/>
          </a:p>
        </p:txBody>
      </p:sp>
      <p:sp>
        <p:nvSpPr>
          <p:cNvPr id="1731192483" name="Rectangle 9"/>
          <p:cNvSpPr/>
          <p:nvPr/>
        </p:nvSpPr>
        <p:spPr bwMode="auto">
          <a:xfrm>
            <a:off x="319251" y="414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Returning None means busy or waiting. Only the StopEvent establishes that the run ended.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86426309" name="Title 1"/>
          <p:cNvSpPr>
            <a:spLocks noGrp="1"/>
          </p:cNvSpPr>
          <p:nvPr>
            <p:ph type="title"/>
          </p:nvPr>
        </p:nvSpPr>
        <p:spPr bwMode="auto"/>
        <p:txBody>
          <a:bodyPr/>
          <a:lstStyle/>
          <a:p>
            <a:pPr>
              <a:defRPr/>
            </a:pPr>
            <a:r>
              <a:rPr/>
              <a:t>Idle and success in LlamaIndex and in CrewAI</a:t>
            </a:r>
            <a:endParaRPr/>
          </a:p>
        </p:txBody>
      </p:sp>
      <p:sp>
        <p:nvSpPr>
          <p:cNvPr id="1927554333" name="Content Placeholder 2"/>
          <p:cNvSpPr>
            <a:spLocks noGrp="1"/>
          </p:cNvSpPr>
          <p:nvPr>
            <p:ph idx="1"/>
          </p:nvPr>
        </p:nvSpPr>
        <p:spPr bwMode="auto">
          <a:xfrm>
            <a:off x="319251" y="700000"/>
            <a:ext cx="6014545" cy="500000"/>
          </a:xfrm>
        </p:spPr>
        <p:txBody>
          <a:bodyPr wrap="square" anchor="ctr"/>
          <a:lstStyle/>
          <a:p>
            <a:pPr marL="0" indent="0">
              <a:buNone/>
              <a:defRPr/>
            </a:pPr>
            <a:r>
              <a:rPr sz="1400" b="1">
                <a:solidFill>
                  <a:srgbClr val="28285E"/>
                </a:solidFill>
              </a:rPr>
              <a:t>The two frameworks differ in how we distinguish idle from success.</a:t>
            </a:r>
            <a:endParaRPr/>
          </a:p>
        </p:txBody>
      </p:sp>
      <p:graphicFrame>
        <p:nvGraphicFramePr>
          <p:cNvPr id="1747454227" name="Table 3"/>
          <p:cNvGraphicFramePr>
            <a:graphicFrameLocks xmlns:a="http://schemas.openxmlformats.org/drawingml/2006/main" noGrp="1"/>
          </p:cNvGraphicFramePr>
          <p:nvPr/>
        </p:nvGraphicFramePr>
        <p:xfrm rot="0">
          <a:off x="319251" y="1390000"/>
          <a:ext cx="6014545" cy="2445030"/>
        </p:xfrm>
        <a:graphic>
          <a:graphicData uri="http://schemas.openxmlformats.org/drawingml/2006/table">
            <a:tbl>
              <a:tblPr firstRow="1" firstCol="0" lastRow="0" lastCol="0" bandRow="1" bandCol="0">
                <a:tableStyleId>{5C22544A-7EE6-4342-B048-85BDC9FD1C3A}</a:tableStyleId>
              </a:tblPr>
              <a:tblGrid>
                <a:gridCol w="1239525"/>
                <a:gridCol w="2387510"/>
                <a:gridCol w="2387510"/>
              </a:tblGrid>
              <a:tr h="300000">
                <a:tc>
                  <a:txBody>
                    <a:bodyPr/>
                    <a:p>
                      <a:pPr>
                        <a:buNone/>
                        <a:defRPr/>
                      </a:pPr>
                      <a:r>
                        <a:rPr sz="1200" b="1">
                          <a:solidFill>
                            <a:schemeClr val="tx1"/>
                          </a:solidFill>
                        </a:rPr>
                        <a:t>Question</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200" b="1">
                          <a:solidFill>
                            <a:schemeClr val="tx1"/>
                          </a:solidFill>
                        </a:rPr>
                        <a:t>LlamaIndex Workflows</a:t>
                      </a:r>
                      <a:endParaRPr/>
                    </a:p>
                  </a:txBody>
                  <a:tcPr marL="95250" marR="95250" marT="47625" marB="47625">
                    <a:lnT w="19050" algn="ctr">
                      <a:solidFill>
                        <a:schemeClr val="tx1"/>
                      </a:solidFill>
                    </a:lnT>
                    <a:lnB w="12700" algn="ctr">
                      <a:solidFill>
                        <a:schemeClr val="tx1"/>
                      </a:solidFill>
                    </a:lnB>
                    <a:noFill/>
                  </a:tcPr>
                </a:tc>
                <a:tc>
                  <a:txBody>
                    <a:bodyPr/>
                    <a:p>
                      <a:pPr>
                        <a:buNone/>
                        <a:defRPr/>
                      </a:pPr>
                      <a:r>
                        <a:rPr sz="1200" b="1">
                          <a:solidFill>
                            <a:schemeClr val="tx1"/>
                          </a:solidFill>
                        </a:rPr>
                        <a:t>CrewAI Flows</a:t>
                      </a:r>
                      <a:endParaRPr/>
                    </a:p>
                  </a:txBody>
                  <a:tcPr marL="95250" marR="95250" marT="47625" marB="47625">
                    <a:lnT w="19050" algn="ctr">
                      <a:solidFill>
                        <a:schemeClr val="tx1"/>
                      </a:solidFill>
                    </a:lnT>
                    <a:lnB w="12700" algn="ctr">
                      <a:solidFill>
                        <a:schemeClr val="tx1"/>
                      </a:solidFill>
                    </a:lnB>
                    <a:noFill/>
                  </a:tcPr>
                </a:tc>
              </a:tr>
              <a:tr h="0">
                <a:tc>
                  <a:txBody>
                    <a:bodyPr/>
                    <a:p>
                      <a:pPr>
                        <a:buNone/>
                        <a:defRPr/>
                      </a:pPr>
                      <a:r>
                        <a:rPr sz="1200" b="1">
                          <a:solidFill>
                            <a:srgbClr val="28285E"/>
                          </a:solidFill>
                        </a:rPr>
                        <a:t>Dispatch</a:t>
                      </a:r>
                      <a:endParaRPr/>
                    </a:p>
                  </a:txBody>
                  <a:tcPr marL="95250" marR="95250" marT="47625" marB="47625">
                    <a:lnB w="12700" algn="ctr">
                      <a:solidFill>
                        <a:schemeClr val="tx1"/>
                      </a:solidFill>
                    </a:lnB>
                    <a:noFill/>
                  </a:tcPr>
                </a:tc>
                <a:tc>
                  <a:txBody>
                    <a:bodyPr/>
                    <a:p>
                      <a:pPr>
                        <a:buNone/>
                        <a:defRPr/>
                      </a:pPr>
                      <a:r>
                        <a:rPr sz="1200" b="0">
                          <a:solidFill>
                            <a:schemeClr val="tx1"/>
                          </a:solidFill>
                        </a:rPr>
                        <a:t>By event type, declared in the step signatures.</a:t>
                      </a:r>
                      <a:endParaRPr/>
                    </a:p>
                  </a:txBody>
                  <a:tcPr marL="95250" marR="95250" marT="47625" marB="47625">
                    <a:lnB w="12700" algn="ctr">
                      <a:solidFill>
                        <a:schemeClr val="tx1"/>
                      </a:solidFill>
                    </a:lnB>
                    <a:noFill/>
                  </a:tcPr>
                </a:tc>
                <a:tc>
                  <a:txBody>
                    <a:bodyPr/>
                    <a:p>
                      <a:pPr>
                        <a:buNone/>
                        <a:defRPr/>
                      </a:pPr>
                      <a:r>
                        <a:rPr sz="1200" b="0">
                          <a:solidFill>
                            <a:schemeClr val="tx1"/>
                          </a:solidFill>
                        </a:rPr>
                        <a:t>By method completion and router labels: @listen(m) runs when m completes.</a:t>
                      </a:r>
                      <a:endParaRPr/>
                    </a:p>
                  </a:txBody>
                  <a:tcPr marL="95250" marR="95250" marT="47625" marB="47625">
                    <a:lnB w="12700" algn="ctr">
                      <a:solidFill>
                        <a:schemeClr val="tx1"/>
                      </a:solidFill>
                    </a:lnB>
                    <a:noFill/>
                  </a:tcPr>
                </a:tc>
              </a:tr>
              <a:tr h="0">
                <a:tc>
                  <a:txBody>
                    <a:bodyPr/>
                    <a:p>
                      <a:pPr>
                        <a:buNone/>
                        <a:defRPr/>
                      </a:pPr>
                      <a:r>
                        <a:rPr sz="1200" b="1">
                          <a:solidFill>
                            <a:srgbClr val="28285E"/>
                          </a:solidFill>
                        </a:rPr>
                        <a:t>Terminal event</a:t>
                      </a:r>
                      <a:endParaRPr/>
                    </a:p>
                  </a:txBody>
                  <a:tcPr marL="95250" marR="95250" marT="47625" marB="47625">
                    <a:lnB w="12700" algn="ctr">
                      <a:solidFill>
                        <a:schemeClr val="tx1"/>
                      </a:solidFill>
                    </a:lnB>
                    <a:noFill/>
                  </a:tcPr>
                </a:tc>
                <a:tc>
                  <a:txBody>
                    <a:bodyPr/>
                    <a:p>
                      <a:pPr>
                        <a:buNone/>
                        <a:defRPr/>
                      </a:pPr>
                      <a:r>
                        <a:rPr sz="1200" b="0">
                          <a:solidFill>
                            <a:schemeClr val="tx1"/>
                          </a:solidFill>
                        </a:rPr>
                        <a:t>StopEvent, whose result carries the outcome. Pre-run validation checks for a start and a stop event.</a:t>
                      </a:r>
                      <a:endParaRPr/>
                    </a:p>
                  </a:txBody>
                  <a:tcPr marL="95250" marR="95250" marT="47625" marB="47625">
                    <a:lnB w="12700" algn="ctr">
                      <a:solidFill>
                        <a:schemeClr val="tx1"/>
                      </a:solidFill>
                    </a:lnB>
                    <a:noFill/>
                  </a:tcPr>
                </a:tc>
                <a:tc>
                  <a:txBody>
                    <a:bodyPr/>
                    <a:p>
                      <a:pPr>
                        <a:buNone/>
                        <a:defRPr/>
                      </a:pPr>
                      <a:r>
                        <a:rPr sz="1200" b="0">
                          <a:solidFill>
                            <a:schemeClr val="tx1"/>
                          </a:solidFill>
                        </a:rPr>
                        <a:t>None. The final output is determined by the last method that completes.</a:t>
                      </a:r>
                      <a:endParaRPr/>
                    </a:p>
                  </a:txBody>
                  <a:tcPr marL="95250" marR="95250" marT="47625" marB="47625">
                    <a:lnB w="12700" algn="ctr">
                      <a:solidFill>
                        <a:schemeClr val="tx1"/>
                      </a:solidFill>
                    </a:lnB>
                    <a:noFill/>
                  </a:tcPr>
                </a:tc>
              </a:tr>
              <a:tr h="0">
                <a:tc>
                  <a:txBody>
                    <a:bodyPr/>
                    <a:p>
                      <a:pPr>
                        <a:buNone/>
                        <a:defRPr/>
                      </a:pPr>
                      <a:r>
                        <a:rPr sz="1200" b="1">
                          <a:solidFill>
                            <a:srgbClr val="28285E"/>
                          </a:solidFill>
                        </a:rPr>
                        <a:t>The outcome σ</a:t>
                      </a:r>
                      <a:endParaRPr/>
                    </a:p>
                  </a:txBody>
                  <a:tcPr marL="95250" marR="95250" marT="47625" marB="47625">
                    <a:lnB w="12700" algn="ctr">
                      <a:solidFill>
                        <a:schemeClr val="tx1"/>
                      </a:solidFill>
                    </a:lnB>
                    <a:noFill/>
                  </a:tcPr>
                </a:tc>
                <a:tc>
                  <a:txBody>
                    <a:bodyPr/>
                    <a:p>
                      <a:pPr>
                        <a:buNone/>
                        <a:defRPr/>
                      </a:pPr>
                      <a:r>
                        <a:rPr sz="1200" b="0">
                          <a:solidFill>
                            <a:schemeClr val="tx1"/>
                          </a:solidFill>
                        </a:rPr>
                        <a:t>Carried by the StopEvent's result.</a:t>
                      </a:r>
                      <a:endParaRPr/>
                    </a:p>
                  </a:txBody>
                  <a:tcPr marL="95250" marR="95250" marT="47625" marB="47625">
                    <a:lnB w="12700" algn="ctr">
                      <a:solidFill>
                        <a:schemeClr val="tx1"/>
                      </a:solidFill>
                    </a:lnB>
                    <a:noFill/>
                  </a:tcPr>
                </a:tc>
                <a:tc>
                  <a:txBody>
                    <a:bodyPr/>
                    <a:p>
                      <a:pPr>
                        <a:buNone/>
                        <a:defRPr/>
                      </a:pPr>
                      <a:r>
                        <a:rPr sz="1200" b="0">
                          <a:solidFill>
                            <a:schemeClr val="tx1"/>
                          </a:solidFill>
                        </a:rPr>
                        <a:t>Must be written to state by our code before the last method completes.</a:t>
                      </a:r>
                      <a:endParaRPr/>
                    </a:p>
                  </a:txBody>
                  <a:tcPr marL="95250" marR="95250" marT="47625" marB="47625">
                    <a:lnB w="12700" algn="ctr">
                      <a:solidFill>
                        <a:schemeClr val="tx1"/>
                      </a:solidFill>
                    </a:lnB>
                    <a:noFill/>
                  </a:tcPr>
                </a:tc>
              </a:tr>
            </a:tbl>
          </a:graphicData>
        </a:graphic>
      </p:graphicFrame>
      <p:sp>
        <p:nvSpPr>
          <p:cNvPr id="252632396" name="Rectangle 4"/>
          <p:cNvSpPr/>
          <p:nvPr/>
        </p:nvSpPr>
        <p:spPr bwMode="auto">
          <a:xfrm>
            <a:off x="319251" y="402503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LlamaIndex has an explicit terminal event. In CrewAI a flow ends when no method remains to run, which corresponds to an empty queue.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32271528" name="Title 1"/>
          <p:cNvSpPr>
            <a:spLocks noGrp="1"/>
          </p:cNvSpPr>
          <p:nvPr>
            <p:ph type="title"/>
          </p:nvPr>
        </p:nvSpPr>
        <p:spPr bwMode="auto"/>
        <p:txBody>
          <a:bodyPr/>
          <a:lstStyle/>
          <a:p>
            <a:pPr>
              <a:defRPr/>
            </a:pPr>
            <a:r>
              <a:rPr/>
              <a:t>Comparing the realizations: the design</a:t>
            </a:r>
            <a:endParaRPr/>
          </a:p>
        </p:txBody>
      </p:sp>
      <p:sp>
        <p:nvSpPr>
          <p:cNvPr id="628483957"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Neither framework establishes that the translation preserves the machine's behaviour.</a:t>
            </a:r>
            <a:endParaRPr/>
          </a:p>
          <a:p>
            <a:pPr marL="400050" indent="-285750">
              <a:spcBef>
                <a:spcPts val="600"/>
              </a:spcBef>
              <a:spcAft>
                <a:spcPts val="600"/>
              </a:spcAft>
              <a:buClr>
                <a:srgbClr val="28285E"/>
              </a:buClr>
              <a:buSzPts val="1260"/>
              <a:buFont typeface="+mn-lt"/>
              <a:buChar char="●"/>
              <a:defRPr/>
            </a:pPr>
            <a:r>
              <a:rPr sz="1400" b="1">
                <a:solidFill>
                  <a:schemeClr val="tx1"/>
                </a:solidFill>
              </a:rPr>
              <a:t>We compare the realizations </a:t>
            </a:r>
            <a:r>
              <a:rPr sz="1400" b="0">
                <a:solidFill>
                  <a:schemeClr val="tx1"/>
                </a:solidFill>
              </a:rPr>
              <a:t>after each computation completes and its contribution is applied.</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These boundaries are the points of comparison. </a:t>
            </a:r>
            <a:r>
              <a:rPr sz="1400" b="0">
                <a:solidFill>
                  <a:schemeClr val="tx1"/>
                </a:solidFill>
              </a:rPr>
              <a:t>Handler internals and wall-clock order are not.</a:t>
            </a:r>
            <a:endParaRPr/>
          </a:p>
          <a:p>
            <a:pPr marL="400050" indent="-285750">
              <a:spcBef>
                <a:spcPts val="600"/>
              </a:spcBef>
              <a:spcAft>
                <a:spcPts val="600"/>
              </a:spcAft>
              <a:buClr>
                <a:srgbClr val="28285E"/>
              </a:buClr>
              <a:buSzPts val="1260"/>
              <a:buFont typeface="+mn-lt"/>
              <a:buChar char="●"/>
              <a:defRPr/>
            </a:pPr>
            <a:r>
              <a:rPr sz="1400" b="1">
                <a:solidFill>
                  <a:schemeClr val="tx1"/>
                </a:solidFill>
              </a:rPr>
              <a:t>We script the model's replies and control the tool results: </a:t>
            </a:r>
            <a:r>
              <a:rPr sz="1400" b="0">
                <a:solidFill>
                  <a:schemeClr val="tx1"/>
                </a:solidFill>
              </a:rPr>
              <a:t>both get the same inputs in the same order.</a:t>
            </a:r>
            <a:endParaRPr/>
          </a:p>
        </p:txBody>
      </p:sp>
      <p:sp>
        <p:nvSpPr>
          <p:cNvPr id="628275381"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design isolates the scheduling mechanism: a graph superstep or an event dispatch.</a:t>
            </a:r>
            <a:endParaRPr/>
          </a:p>
        </p:txBody>
      </p:sp>
      <p:sp>
        <p:nvSpPr>
          <p:cNvPr id="28684224" name="Rectangle 4"/>
          <p:cNvSpPr/>
          <p:nvPr/>
        </p:nvSpPr>
        <p:spPr bwMode="auto">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 faithful translation preserves observations, workspace effects, check results and terminal status.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37818434" name="Title 1"/>
          <p:cNvSpPr>
            <a:spLocks noGrp="1"/>
          </p:cNvSpPr>
          <p:nvPr>
            <p:ph type="title"/>
          </p:nvPr>
        </p:nvSpPr>
        <p:spPr bwMode="auto"/>
        <p:txBody>
          <a:bodyPr/>
          <a:lstStyle/>
          <a:p>
            <a:pPr>
              <a:defRPr/>
            </a:pPr>
            <a:r>
              <a:rPr/>
              <a:t>What agreement under scripted inputs shows</a:t>
            </a:r>
            <a:endParaRPr/>
          </a:p>
        </p:txBody>
      </p:sp>
      <p:sp>
        <p:nvSpPr>
          <p:cNvPr id="350254194"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Agreement under scripted inputs supports a limited conclusion.</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two realizations implement </a:t>
            </a:r>
            <a:r>
              <a:rPr sz="1400" b="0">
                <a:solidFill>
                  <a:schemeClr val="tx1"/>
                </a:solidFill>
              </a:rPr>
              <a:t>the same transition rules for the scripted replies.</a:t>
            </a:r>
            <a:endParaRPr/>
          </a:p>
          <a:p>
            <a:pPr marL="400050" indent="-285750">
              <a:spcBef>
                <a:spcPts val="600"/>
              </a:spcBef>
              <a:spcAft>
                <a:spcPts val="600"/>
              </a:spcAft>
              <a:buClr>
                <a:srgbClr val="28285E"/>
              </a:buClr>
              <a:buSzPts val="1260"/>
              <a:buFont typeface="+mn-lt"/>
              <a:buChar char="●"/>
              <a:defRPr/>
            </a:pPr>
            <a:r>
              <a:rPr sz="1400" b="1">
                <a:solidFill>
                  <a:schemeClr val="tx1"/>
                </a:solidFill>
              </a:rPr>
              <a:t>It does not establish </a:t>
            </a:r>
            <a:r>
              <a:rPr sz="1400" b="0">
                <a:solidFill>
                  <a:schemeClr val="tx1"/>
                </a:solidFill>
              </a:rPr>
              <a:t>equivalent behaviour with a live model.</a:t>
            </a:r>
            <a:endParaRPr/>
          </a:p>
          <a:p>
            <a:pPr marL="400050" indent="-285750">
              <a:spcBef>
                <a:spcPts val="600"/>
              </a:spcBef>
              <a:spcAft>
                <a:spcPts val="600"/>
              </a:spcAft>
              <a:buClr>
                <a:srgbClr val="28285E"/>
              </a:buClr>
              <a:buSzPts val="1260"/>
              <a:buFont typeface="+mn-lt"/>
              <a:buChar char="●"/>
              <a:defRPr/>
            </a:pPr>
            <a:r>
              <a:rPr sz="1400" b="1">
                <a:solidFill>
                  <a:schemeClr val="tx1"/>
                </a:solidFill>
              </a:rPr>
              <a:t>How a handler formats messages </a:t>
            </a:r>
            <a:r>
              <a:rPr sz="1400" b="0">
                <a:solidFill>
                  <a:schemeClr val="tx1"/>
                </a:solidFill>
              </a:rPr>
              <a:t>changes the model's inputs, even when the transition rules are unchanged.</a:t>
            </a:r>
            <a:endParaRPr/>
          </a:p>
        </p:txBody>
      </p:sp>
      <p:sp>
        <p:nvSpPr>
          <p:cNvPr id="1994237728"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comparison also excludes concurrency, as does the serial translation.</a:t>
            </a:r>
            <a:endParaRPr/>
          </a:p>
        </p:txBody>
      </p:sp>
      <p:sp>
        <p:nvSpPr>
          <p:cNvPr id="824400870" name="Rectangle 4"/>
          <p:cNvSpPr/>
          <p:nvPr/>
        </p:nvSpPr>
        <p:spPr bwMode="auto">
          <a:xfrm>
            <a:off x="319251" y="4131081"/>
            <a:ext cx="6014545" cy="562963"/>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result holds for the scripted replies and the serial translation. It is about transition rules.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2"/>
        </a:solidFill>
      </p:bgPr>
    </p:bg>
    <p:spTree>
      <p:nvGrpSpPr>
        <p:cNvPr id="1" name=""/>
        <p:cNvGrpSpPr/>
        <p:nvPr/>
      </p:nvGrpSpPr>
      <p:grpSpPr bwMode="auto">
        <a:xfrm>
          <a:off x="0" y="0"/>
          <a:ext cx="0" cy="0"/>
          <a:chOff x="0" y="0"/>
          <a:chExt cx="0" cy="0"/>
        </a:xfrm>
      </p:grpSpPr>
      <p:sp>
        <p:nvSpPr>
          <p:cNvPr id="427201803" name="Title 1"/>
          <p:cNvSpPr>
            <a:spLocks noGrp="1"/>
          </p:cNvSpPr>
          <p:nvPr>
            <p:ph type="title"/>
          </p:nvPr>
        </p:nvSpPr>
        <p:spPr bwMode="auto"/>
        <p:txBody>
          <a:bodyPr/>
          <a:lstStyle/>
          <a:p>
            <a:pPr>
              <a:defRPr/>
            </a:pPr>
            <a:r>
              <a:rPr>
                <a:solidFill>
                  <a:schemeClr val="tx2"/>
                </a:solidFill>
              </a:rPr>
              <a:t>Looking ahead: admission and accounting</a:t>
            </a:r>
            <a:endParaRPr/>
          </a:p>
        </p:txBody>
      </p:sp>
      <p:sp>
        <p:nvSpPr>
          <p:cNvPr id="182702599" name="Rectangle 2"/>
          <p:cNvSpPr/>
          <p:nvPr/>
        </p:nvSpPr>
        <p:spPr bwMode="auto">
          <a:xfrm>
            <a:off x="319251" y="1700000"/>
            <a:ext cx="6014545" cy="1300000"/>
          </a:xfrm>
          <a:prstGeom prst="rect">
            <a:avLst/>
          </a:prstGeom>
          <a:solidFill>
            <a:srgbClr val="28285E"/>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In an event loop, a registered handler runs when its event arrives, and a handler can emit any number of events. The loop itself does not decide whether the work is permitted or assess its cost.</a:t>
            </a:r>
            <a:endParaRPr/>
          </a:p>
          <a:p>
            <a:pPr>
              <a:spcBef>
                <a:spcPts val="1000"/>
              </a:spcBef>
              <a:defRPr/>
            </a:pPr>
            <a:r>
              <a:rPr sz="1400" b="0">
                <a:solidFill>
                  <a:schemeClr val="tx2"/>
                </a:solidFill>
              </a:rPr>
              <a:t>The next section distinguishes admission, which decides whether a model or tool call may start, from accounting, which records its cost after execution.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ptos"/>
        <a:ea typeface="Arial"/>
        <a:cs typeface="Arial"/>
      </a:majorFont>
      <a:minorFont>
        <a:latin typeface="Aptos"/>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theme>
</file>

<file path=ppt/theme/theme2.xml><?xml version="1.0" encoding="utf-8"?>
<a:theme xmlns:a="http://schemas.openxmlformats.org/drawingml/2006/main" xmlns:r="http://schemas.openxmlformats.org/officeDocument/2006/relationships" xmlns:p="http://schemas.openxmlformats.org/presentationml/2006/main" na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ptos"/>
        <a:ea typeface="Arial"/>
        <a:cs typeface="Arial"/>
      </a:majorFont>
      <a:minorFont>
        <a:latin typeface="Aptos"/>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91</Slides>
  <Notes>91</Notes>
  <HiddenSlides>0</HiddenSlides>
  <MMClips>2</MMClips>
  <ScaleCrop>0</ScaleCrop>
  <HeadingPairs>
    <vt:vector size="4" baseType="variant">
      <vt:variant>
        <vt:lpstr>Theme</vt:lpstr>
      </vt:variant>
      <vt:variant>
        <vt:i4>1</vt:i4>
      </vt:variant>
      <vt:variant>
        <vt:lpstr>Slide Titles</vt:lpstr>
      </vt:variant>
      <vt:variant>
        <vt:i4>91</vt:i4>
      </vt:variant>
    </vt:vector>
  </HeadingPairs>
  <TitlesOfParts>
    <vt:vector size="9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197</cp:revision>
  <dcterms:modified xsi:type="dcterms:W3CDTF">2026-10-01T14:10:07Z</dcterms:modified>
</cp:coreProperties>
</file>
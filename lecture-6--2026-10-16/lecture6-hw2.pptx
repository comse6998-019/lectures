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6"/>
  </p:notesMasterIdLst>
  <p:sldIdLst>
    <p:sldId id="491" r:id="rId2"/>
    <p:sldId id="492" r:id="rId3"/>
    <p:sldId id="493" r:id="rId4"/>
    <p:sldId id="495" r:id="rId5"/>
    <p:sldId id="496" r:id="rId6"/>
    <p:sldId id="497" r:id="rId7"/>
    <p:sldId id="498" r:id="rId8"/>
    <p:sldId id="494" r:id="rId9"/>
    <p:sldId id="500" r:id="rId10"/>
    <p:sldId id="501" r:id="rId11"/>
    <p:sldId id="499" r:id="rId12"/>
    <p:sldId id="505" r:id="rId13"/>
    <p:sldId id="507" r:id="rId14"/>
    <p:sldId id="508" r:id="rId15"/>
    <p:sldId id="509" r:id="rId16"/>
    <p:sldId id="506" r:id="rId17"/>
    <p:sldId id="511" r:id="rId18"/>
    <p:sldId id="512" r:id="rId19"/>
    <p:sldId id="513" r:id="rId20"/>
    <p:sldId id="510" r:id="rId21"/>
    <p:sldId id="515" r:id="rId22"/>
    <p:sldId id="516" r:id="rId23"/>
    <p:sldId id="514" r:id="rId24"/>
    <p:sldId id="518" r:id="rId25"/>
    <p:sldId id="519" r:id="rId26"/>
    <p:sldId id="520" r:id="rId27"/>
    <p:sldId id="521" r:id="rId28"/>
    <p:sldId id="517" r:id="rId29"/>
    <p:sldId id="523" r:id="rId30"/>
    <p:sldId id="524" r:id="rId31"/>
    <p:sldId id="525" r:id="rId32"/>
    <p:sldId id="522" r:id="rId33"/>
    <p:sldId id="527" r:id="rId34"/>
    <p:sldId id="528" r:id="rId35"/>
    <p:sldId id="529" r:id="rId36"/>
    <p:sldId id="526" r:id="rId37"/>
    <p:sldId id="530" r:id="rId38"/>
    <p:sldId id="532" r:id="rId39"/>
    <p:sldId id="533" r:id="rId40"/>
    <p:sldId id="531" r:id="rId41"/>
    <p:sldId id="535" r:id="rId42"/>
    <p:sldId id="536" r:id="rId43"/>
    <p:sldId id="534" r:id="rId44"/>
    <p:sldId id="538" r:id="rId45"/>
    <p:sldId id="539" r:id="rId46"/>
    <p:sldId id="537" r:id="rId47"/>
    <p:sldId id="540" r:id="rId48"/>
    <p:sldId id="542" r:id="rId49"/>
    <p:sldId id="543" r:id="rId50"/>
    <p:sldId id="541" r:id="rId51"/>
    <p:sldId id="545" r:id="rId52"/>
    <p:sldId id="546" r:id="rId53"/>
    <p:sldId id="547" r:id="rId54"/>
    <p:sldId id="544" r:id="rId55"/>
    <p:sldId id="549" r:id="rId56"/>
    <p:sldId id="550" r:id="rId57"/>
    <p:sldId id="551" r:id="rId58"/>
    <p:sldId id="548" r:id="rId59"/>
    <p:sldId id="552" r:id="rId60"/>
    <p:sldId id="554" r:id="rId61"/>
    <p:sldId id="555" r:id="rId62"/>
    <p:sldId id="556" r:id="rId63"/>
    <p:sldId id="557" r:id="rId64"/>
    <p:sldId id="553" r:id="rId65"/>
  </p:sldIdLst>
  <p:sldSz cx="6858000" cy="5143500"/>
  <p:notesSz cx="6858000" cy="9144000"/>
  <p:embeddedFontLst>
    <p:embeddedFont>
      <p:font typeface="Aptos Mono" panose="020B0009020202020204" pitchFamily="49" charset="0"/>
      <p:regular r:id="rId67"/>
      <p:bold r:id="rId68"/>
      <p:italic r:id="rId69"/>
      <p:boldItalic r:id="rId70"/>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305"/>
    <p:restoredTop sz="97007"/>
  </p:normalViewPr>
  <p:slideViewPr>
    <p:cSldViewPr snapToGrid="0">
      <p:cViewPr varScale="1">
        <p:scale>
          <a:sx n="342" d="100"/>
          <a:sy n="342" d="100"/>
        </p:scale>
        <p:origin x="184" y="424"/>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Introduce Lecture 6, HW2 part: the CLDK essentials for a Python project, an MCP server over CLDK's API, the MCP agent and the code-action agent that call it, and then the brief.</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spend the rest of today on HW2. We learn the CLDK calls that answer questions about a Python project, wrap them as MCP tools, call them from the MCP agent and from a code-action script, and then walk through the brief.</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start with what CLDK is, how it attaches to a checkout, and what each analysis level can answer.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endParaRPr/>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endParaRPr/>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endParaRPr/>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endParaRPr/>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endParaRPr/>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endParaRPr/>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endParaRPr/>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endParaRPr/>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Bandit alert, B608 at line 46 of BenchmarkTest00099.py, through the actions a classifier needs: locate, read, callers and callees, and dataflow.</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endParaRPr/>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endParaRPr/>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endParaRPr/>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endParaRPr/>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endParaRPr/>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endParaRPr/>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endParaRPr/>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endParaRPr/>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endParaRPr/>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endParaRPr/>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endParaRPr/>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endParaRPr/>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endParaRPr/>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endParaRPr/>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endParaRPr/>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endParaRPr/>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endParaRPr/>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endParaRPr/>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endParaRPr/>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endParaRPr/>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endParaRPr/>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endParaRPr/>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endParaRPr/>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endParaRPr/>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serve the same actions as MCP tools, the pattern each team's server follows in HW2.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endParaRPr/>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endParaRPr/>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endParaRPr/>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endParaRPr/>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endParaRPr/>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endParaRPr/>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Section 6 resolves the two paths, so the catalog holds this Mac's absolute paths and is not committed. The window shows them relative to the lecture folder.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endParaRPr/>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Section 6 resolves the two paths, so the catalog holds this Mac's absolute paths and is not committed. The window shows them relative to the lecture folder.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endParaRPr/>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Section 6 resolves the two paths, so the catalog holds this Mac's absolute paths and is not committed. The window shows them relative to the lecture folder.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endParaRPr/>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call the same API from the two agents HW2 asks for: through an MCP client, and from a script.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endParaRPr/>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endParaRPr/>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endParaRPr/>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endParaRPr/>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endParaRPr/>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endParaRPr/>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endParaRPr/>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endParaRPr/>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endParaRPr/>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endParaRPr/>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endParaRPr/>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close the HW2 part by walking through the brief, released today.</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endParaRPr/>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endParaRPr/>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endParaRPr/>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endParaRPr/>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endParaRPr/>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auto"/>
        <p:txBody>
          <a:bodyPr/>
          <a:lstStyle/>
          <a:p>
            <a:pPr>
              <a:defRPr/>
            </a:pPr>
            <a:r>
              <a:rPr lang="en-US" b="1"/>
              <a:t>Designing Production Agentic Systems</a:t>
            </a:r>
            <a:endParaRPr b="1"/>
          </a:p>
        </p:txBody>
      </p:sp>
      <p:sp>
        <p:nvSpPr>
          <p:cNvPr id="3"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HW2: CLDK, MCP, and 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CLDK essentials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3">
            <a:alphaModFix amt="70000"/>
          </a:blip>
          <a:stretch/>
        </p:blipFill>
        <p:spPr bwMode="auto">
          <a:xfrm>
            <a:off x="822960" y="2347897"/>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CLDK answers questions about Python code.</a:t>
            </a: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pip install cldk</a:t>
            </a:r>
            <a:r>
              <a:rPr lang="en-US" sz="1200" b="0">
                <a:solidFill>
                  <a:srgbClr val="FFFFFF">
                    <a:alpha val="0"/>
                  </a:srgbClr>
                </a:solidFill>
              </a:rPr>
              <a:t> installs it on Python 3.11 or newer.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CLDK answers questions about Python code.</a:t>
            </a: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CLDK answers questions about Python code.</a:t>
            </a: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CLDK answers questions about Python code.</a:t>
            </a: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2"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41168"/>
            <a:ext cx="6016752" cy="0"/>
          </a:xfrm>
          <a:prstGeom prst="line">
            <a:avLst/>
          </a:prstGeom>
          <a:ln w="9525">
            <a:solidFill>
              <a:srgbClr val="DCDCDC"/>
            </a:solidFill>
          </a:ln>
        </p:spPr>
      </p:cxnSp>
      <p:sp>
        <p:nvSpPr>
          <p:cNvPr id="14"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8"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7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CLDK answers questions about Python code.</a:t>
            </a: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Rectangle 4"/>
          <p:cNvSpPr/>
          <p:nvPr/>
        </p:nvSpPr>
        <p:spPr bwMode="auto">
          <a:xfrm>
            <a:off x="320040" y="437061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question is a method on one cached object per checkout.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6"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737716"/>
            <a:ext cx="6016752" cy="0"/>
          </a:xfrm>
          <a:prstGeom prst="line">
            <a:avLst/>
          </a:prstGeom>
          <a:ln w="9525">
            <a:solidFill>
              <a:srgbClr val="DCDCDC"/>
            </a:solidFill>
          </a:ln>
        </p:spPr>
      </p:cxnSp>
      <p:sp>
        <p:nvSpPr>
          <p:cNvPr id="8"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2"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3"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 name="WinBar out"/>
          <p:cNvCxnSpPr/>
          <p:nvPr/>
        </p:nvCxnSpPr>
        <p:spPr bwMode="auto">
          <a:xfrm>
            <a:off x="320040" y="3841168"/>
            <a:ext cx="6016752" cy="0"/>
          </a:xfrm>
          <a:prstGeom prst="line">
            <a:avLst/>
          </a:prstGeom>
          <a:ln w="9525">
            <a:solidFill>
              <a:srgbClr val="DCDCDC"/>
            </a:solidFill>
          </a:ln>
        </p:spPr>
      </p:cxnSp>
      <p:sp>
        <p:nvSpPr>
          <p:cNvPr id="15"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9"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7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analysis level sets what CLDK answers.</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program_dependency_graph</a:t>
            </a:r>
            <a:r>
              <a:rPr lang="en-US" sz="1200" b="0">
                <a:solidFill>
                  <a:srgbClr val="FFFFFF">
                    <a:alpha val="0"/>
                  </a:srgbClr>
                </a:solidFill>
              </a:rPr>
              <a:t> adds flow inside each callable, and </a:t>
            </a:r>
            <a:r>
              <a:rPr lang="en-US" sz="1200" b="0">
                <a:solidFill>
                  <a:srgbClr val="FFFFFF">
                    <a:alpha val="0"/>
                  </a:srgbClr>
                </a:solidFill>
                <a:latin typeface="Aptos Mono"/>
              </a:rPr>
              <a:t>system_dependency_graph</a:t>
            </a:r>
            <a:r>
              <a:rPr lang="en-US" sz="1200" b="0">
                <a:solidFill>
                  <a:srgbClr val="FFFFFF">
                    <a:alpha val="0"/>
                  </a:srgbClr>
                </a:solidFill>
              </a:rPr>
              <a:t> adds flow across them.</a:t>
            </a:r>
            <a:endParaRPr>
              <a:solidFill>
                <a:srgbClr val="FFFFFF">
                  <a:alpha val="0"/>
                </a:srgbClr>
              </a:solidFill>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analysis level sets what CLDK answers.</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1"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429992"/>
            <a:ext cx="6016752" cy="0"/>
          </a:xfrm>
          <a:prstGeom prst="line">
            <a:avLst/>
          </a:prstGeom>
          <a:ln w="9525">
            <a:solidFill>
              <a:srgbClr val="DCDCDC"/>
            </a:solidFill>
          </a:ln>
        </p:spPr>
      </p:cxnSp>
      <p:sp>
        <p:nvSpPr>
          <p:cNvPr id="13"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7"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analysis level sets what CLDK answers.</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Choose the level your questions need</a:t>
            </a:r>
            <a:r>
              <a:rPr lang="en-US" sz="1150" b="1" dirty="0">
                <a:solidFill>
                  <a:schemeClr val="accent4"/>
                </a:solidFill>
              </a:rPr>
              <a:t> and compute </a:t>
            </a:r>
            <a:r>
              <a:rPr sz="1150" b="1" dirty="0">
                <a:solidFill>
                  <a:schemeClr val="accent4"/>
                </a:solidFill>
              </a:rPr>
              <a:t>it once.</a:t>
            </a:r>
            <a:endParaRPr dirty="0"/>
          </a:p>
        </p:txBody>
      </p:sp>
      <p:sp>
        <p:nvSpPr>
          <p:cNvPr id="5"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1"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2"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429992"/>
            <a:ext cx="6016752" cy="0"/>
          </a:xfrm>
          <a:prstGeom prst="line">
            <a:avLst/>
          </a:prstGeom>
          <a:ln w="9525">
            <a:solidFill>
              <a:srgbClr val="DCDCDC"/>
            </a:solidFill>
          </a:ln>
        </p:spPr>
      </p:cxnSp>
      <p:sp>
        <p:nvSpPr>
          <p:cNvPr id="14"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8"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Actions on the analysis object</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589718"/>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2823385"/>
            <a:ext cx="5733288" cy="163415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1: locate the callable that holds a line.</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a:t>
            </a:r>
            <a:r>
              <a:rPr lang="en-US" sz="1200" b="0">
                <a:solidFill>
                  <a:srgbClr val="FFFFFF">
                    <a:alpha val="0"/>
                  </a:srgbClr>
                </a:solidFill>
              </a:rPr>
              <a:t> </a:t>
            </a:r>
            <a:r>
              <a:rPr lang="en-US" sz="1200" b="0">
                <a:solidFill>
                  <a:srgbClr val="FFFFFF">
                    <a:alpha val="0"/>
                  </a:srgbClr>
                </a:solidFill>
                <a:latin typeface="Aptos Mono"/>
              </a:rPr>
              <a:t>callable.signature</a:t>
            </a:r>
            <a:r>
              <a:rPr lang="en-US" sz="1200" b="0">
                <a:solidFill>
                  <a:srgbClr val="FFFFFF">
                    <a:alpha val="0"/>
                  </a:srgbClr>
                </a:solidFill>
              </a:rPr>
              <a:t>, </a:t>
            </a:r>
            <a:r>
              <a:rPr lang="en-US" sz="1200" b="0">
                <a:solidFill>
                  <a:srgbClr val="FFFFFF">
                    <a:alpha val="0"/>
                  </a:srgbClr>
                </a:solidFill>
                <a:latin typeface="Aptos Mono"/>
              </a:rPr>
              <a:t>callable.name</a:t>
            </a:r>
            <a:r>
              <a:rPr lang="en-US" sz="1200" b="0">
                <a:solidFill>
                  <a:srgbClr val="FFFFFF">
                    <a:alpha val="0"/>
                  </a:srgbClr>
                </a:solidFill>
              </a:rPr>
              <a:t> and </a:t>
            </a:r>
            <a:r>
              <a:rPr lang="en-US" sz="1200" b="0">
                <a:solidFill>
                  <a:srgbClr val="FFFFFF">
                    <a:alpha val="0"/>
                  </a:srgbClr>
                </a:solidFill>
                <a:latin typeface="Aptos Mono"/>
              </a:rPr>
              <a:t>module</a:t>
            </a:r>
            <a:r>
              <a:rPr lang="en-US" sz="1200" b="0">
                <a:solidFill>
                  <a:srgbClr val="FFFFFF">
                    <a:alpha val="0"/>
                  </a:srgbClr>
                </a:solidFill>
              </a:rPr>
              <a:t>, and the callable's text in </a:t>
            </a:r>
            <a:r>
              <a:rPr lang="en-US" sz="1200" b="0">
                <a:solidFill>
                  <a:srgbClr val="FFFFFF">
                    <a:alpha val="0"/>
                  </a:srgbClr>
                </a:solidFill>
                <a:latin typeface="Aptos Mono"/>
              </a:rPr>
              <a:t>source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1: locate the callable that holds a line.</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1: locate the callable that holds a line.</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8" name="CodeWindow out">
            <a:extLst>
              <a:ext uri="{FF2B5EF4-FFF2-40B4-BE49-F238E27FC236}">
                <a16:creationId xmlns:a16="http://schemas.microsoft.com/office/drawing/2014/main" id="{30B3D44E-52CA-0E14-37C9-FF55335D1808}"/>
              </a:ext>
            </a:extLst>
          </p:cNvPr>
          <p:cNvSpPr/>
          <p:nvPr/>
        </p:nvSpPr>
        <p:spPr bwMode="auto">
          <a:xfrm>
            <a:off x="320040" y="2917319"/>
            <a:ext cx="6016752" cy="89165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 name="WinBar out">
            <a:extLst>
              <a:ext uri="{FF2B5EF4-FFF2-40B4-BE49-F238E27FC236}">
                <a16:creationId xmlns:a16="http://schemas.microsoft.com/office/drawing/2014/main" id="{53718691-01FD-A7F4-E808-692399C92DB9}"/>
              </a:ext>
            </a:extLst>
          </p:cNvPr>
          <p:cNvCxnSpPr/>
          <p:nvPr/>
        </p:nvCxnSpPr>
        <p:spPr bwMode="auto">
          <a:xfrm>
            <a:off x="320040" y="3182495"/>
            <a:ext cx="6016752" cy="0"/>
          </a:xfrm>
          <a:prstGeom prst="line">
            <a:avLst/>
          </a:prstGeom>
          <a:ln w="9525">
            <a:solidFill>
              <a:srgbClr val="DCDCDC"/>
            </a:solidFill>
          </a:ln>
        </p:spPr>
      </p:cxnSp>
      <p:sp>
        <p:nvSpPr>
          <p:cNvPr id="20" name="WinDot 0 out">
            <a:extLst>
              <a:ext uri="{FF2B5EF4-FFF2-40B4-BE49-F238E27FC236}">
                <a16:creationId xmlns:a16="http://schemas.microsoft.com/office/drawing/2014/main" id="{56C96820-EFC6-F519-94E5-44ED7B13BA29}"/>
              </a:ext>
            </a:extLst>
          </p:cNvPr>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 name="WinDot 1 out">
            <a:extLst>
              <a:ext uri="{FF2B5EF4-FFF2-40B4-BE49-F238E27FC236}">
                <a16:creationId xmlns:a16="http://schemas.microsoft.com/office/drawing/2014/main" id="{621B77F7-8F65-4679-E20D-B5AA76F56867}"/>
              </a:ext>
            </a:extLst>
          </p:cNvPr>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WinDot 2 out">
            <a:extLst>
              <a:ext uri="{FF2B5EF4-FFF2-40B4-BE49-F238E27FC236}">
                <a16:creationId xmlns:a16="http://schemas.microsoft.com/office/drawing/2014/main" id="{139BB37E-A349-B2E9-2D88-CBBBBBBAD705}"/>
              </a:ext>
            </a:extLst>
          </p:cNvPr>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 name="TextBox 8 out">
            <a:extLst>
              <a:ext uri="{FF2B5EF4-FFF2-40B4-BE49-F238E27FC236}">
                <a16:creationId xmlns:a16="http://schemas.microsoft.com/office/drawing/2014/main" id="{F2DCCC1B-74ED-0165-5601-84B3782B3FD8}"/>
              </a:ext>
            </a:extLst>
          </p:cNvPr>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24" name="TextBox 7 out">
            <a:extLst>
              <a:ext uri="{FF2B5EF4-FFF2-40B4-BE49-F238E27FC236}">
                <a16:creationId xmlns:a16="http://schemas.microsoft.com/office/drawing/2014/main" id="{10FF0697-4DC5-70AA-4341-B3575D4F760E}"/>
              </a:ext>
            </a:extLst>
          </p:cNvPr>
          <p:cNvSpPr txBox="1"/>
          <p:nvPr/>
        </p:nvSpPr>
        <p:spPr bwMode="auto">
          <a:xfrm>
            <a:off x="466344" y="3246503"/>
            <a:ext cx="3411190" cy="492443"/>
          </a:xfrm>
          <a:prstGeom prst="rect">
            <a:avLst/>
          </a:prstGeom>
          <a:noFill/>
        </p:spPr>
        <p:txBody>
          <a:bodyPr wrap="none" lIns="0" tIns="0" rIns="0" bIns="0">
            <a:spAutoFit/>
          </a:bodyPr>
          <a:lstStyle/>
          <a:p>
            <a:r>
              <a:rPr lang="en-US" sz="800" b="0" dirty="0">
                <a:solidFill>
                  <a:srgbClr val="000000"/>
                </a:solidFill>
                <a:latin typeface="Aptos Mono"/>
              </a:rPr>
              <a:t>testcode.BenchmarkTest00099.init.BenchmarkTest00099_post</a:t>
            </a:r>
            <a:endParaRPr dirty="0"/>
          </a:p>
          <a:p>
            <a:r>
              <a:rPr lang="en-US" sz="800" b="0" dirty="0">
                <a:solidFill>
                  <a:srgbClr val="000000"/>
                </a:solidFill>
                <a:latin typeface="Aptos Mono"/>
              </a:rPr>
              <a:t>def BenchmarkTest00099_post():</a:t>
            </a:r>
            <a:endParaRPr dirty="0"/>
          </a:p>
          <a:p>
            <a:r>
              <a:rPr lang="en-US" sz="800" b="0" dirty="0">
                <a:solidFill>
                  <a:srgbClr val="000000"/>
                </a:solidFill>
                <a:latin typeface="Aptos Mono"/>
              </a:rPr>
              <a:t>        RESPONSE = ""</a:t>
            </a:r>
            <a:endParaRPr dirty="0"/>
          </a:p>
          <a:p>
            <a:r>
              <a:rPr lang="en-US" sz="800" b="0" dirty="0">
                <a:solidFill>
                  <a:srgbClr val="000000"/>
                </a:solidFill>
                <a:latin typeface="Aptos Mono"/>
              </a:rPr>
              <a:t>        param = </a:t>
            </a:r>
            <a:r>
              <a:rPr lang="en-US" sz="800" b="0" dirty="0" err="1">
                <a:solidFill>
                  <a:srgbClr val="000000"/>
                </a:solidFill>
                <a:latin typeface="Aptos Mono"/>
              </a:rPr>
              <a:t>request.form.get</a:t>
            </a:r>
            <a:r>
              <a:rPr lang="en-US" sz="800" b="0" dirty="0">
                <a:solidFill>
                  <a:srgbClr val="000000"/>
                </a:solidFill>
                <a:latin typeface="Aptos Mono"/>
              </a:rPr>
              <a:t>("BenchmarkTest00099")</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1: locate the callable that holds a line.</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Rectangle 4"/>
          <p:cNvSpPr/>
          <p:nvPr/>
        </p:nvSpPr>
        <p:spPr bwMode="auto">
          <a:xfrm>
            <a:off x="320040" y="420815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Locate turns an alert's file and line into a callable's name.</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2" name="CodeWindow out"/>
          <p:cNvSpPr/>
          <p:nvPr/>
        </p:nvSpPr>
        <p:spPr bwMode="auto">
          <a:xfrm>
            <a:off x="320040" y="2917319"/>
            <a:ext cx="6016752" cy="89165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8" name="TextBox 7 out"/>
          <p:cNvSpPr txBox="1"/>
          <p:nvPr/>
        </p:nvSpPr>
        <p:spPr bwMode="auto">
          <a:xfrm>
            <a:off x="466344" y="3246503"/>
            <a:ext cx="3411190" cy="492443"/>
          </a:xfrm>
          <a:prstGeom prst="rect">
            <a:avLst/>
          </a:prstGeom>
          <a:noFill/>
        </p:spPr>
        <p:txBody>
          <a:bodyPr wrap="none" lIns="0" tIns="0" rIns="0" bIns="0">
            <a:spAutoFit/>
          </a:bodyPr>
          <a:lstStyle/>
          <a:p>
            <a:r>
              <a:rPr lang="en-US" sz="800" b="0" dirty="0">
                <a:solidFill>
                  <a:srgbClr val="000000"/>
                </a:solidFill>
                <a:latin typeface="Aptos Mono"/>
              </a:rPr>
              <a:t>testcode.BenchmarkTest00099.init.BenchmarkTest00099_post</a:t>
            </a:r>
            <a:endParaRPr dirty="0"/>
          </a:p>
          <a:p>
            <a:r>
              <a:rPr lang="en-US" sz="800" b="0" dirty="0">
                <a:solidFill>
                  <a:srgbClr val="000000"/>
                </a:solidFill>
                <a:latin typeface="Aptos Mono"/>
              </a:rPr>
              <a:t>def BenchmarkTest00099_post():</a:t>
            </a:r>
            <a:endParaRPr dirty="0"/>
          </a:p>
          <a:p>
            <a:r>
              <a:rPr lang="en-US" sz="800" b="0" dirty="0">
                <a:solidFill>
                  <a:srgbClr val="000000"/>
                </a:solidFill>
                <a:latin typeface="Aptos Mono"/>
              </a:rPr>
              <a:t>        RESPONSE = ""</a:t>
            </a:r>
            <a:endParaRPr dirty="0"/>
          </a:p>
          <a:p>
            <a:r>
              <a:rPr lang="en-US" sz="800" b="0" dirty="0">
                <a:solidFill>
                  <a:srgbClr val="000000"/>
                </a:solidFill>
                <a:latin typeface="Aptos Mono"/>
              </a:rPr>
              <a:t>        param = </a:t>
            </a:r>
            <a:r>
              <a:rPr lang="en-US" sz="800" b="0" dirty="0" err="1">
                <a:solidFill>
                  <a:srgbClr val="000000"/>
                </a:solidFill>
                <a:latin typeface="Aptos Mono"/>
              </a:rPr>
              <a:t>request.form.get</a:t>
            </a:r>
            <a:r>
              <a:rPr lang="en-US" sz="800" b="0" dirty="0">
                <a:solidFill>
                  <a:srgbClr val="000000"/>
                </a:solidFill>
                <a:latin typeface="Aptos Mono"/>
              </a:rPr>
              <a:t>("BenchmarkTest00099")</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2: read the body by signature.</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signature with no body</a:t>
            </a:r>
            <a:r>
              <a:rPr lang="en-US" sz="1200" b="0">
                <a:solidFill>
                  <a:srgbClr val="FFFFFF">
                    <a:alpha val="0"/>
                  </a:srgbClr>
                </a:solidFill>
              </a:rPr>
              <a:t> is absent, so test </a:t>
            </a:r>
            <a:r>
              <a:rPr lang="en-US" sz="1200" b="0">
                <a:solidFill>
                  <a:srgbClr val="FFFFFF">
                    <a:alpha val="0"/>
                  </a:srgbClr>
                </a:solidFill>
                <a:latin typeface="Aptos Mono"/>
              </a:rPr>
              <a:t>key in result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3289362" cy="861774"/>
          </a:xfrm>
          <a:prstGeom prst="rect">
            <a:avLst/>
          </a:prstGeom>
          <a:noFill/>
        </p:spPr>
        <p:txBody>
          <a:bodyPr wrap="none" lIns="0" tIns="0" rIns="0" bIns="0">
            <a:spAutoFit/>
          </a:bodyPr>
          <a:lstStyle/>
          <a:p>
            <a:endParaRPr lang="en-US" sz="800" b="0" dirty="0">
              <a:solidFill>
                <a:srgbClr val="000000"/>
              </a:solidFill>
              <a:latin typeface="Aptos Mono"/>
            </a:endParaRPr>
          </a:p>
          <a:p>
            <a:r>
              <a:rPr lang="en-US" sz="800" b="0" dirty="0">
                <a:solidFill>
                  <a:srgbClr val="000000"/>
                </a:solidFill>
                <a:latin typeface="Aptos Mono"/>
              </a:rPr>
              <a:t>def BenchmarkTest00099_post():</a:t>
            </a:r>
            <a:endParaRPr dirty="0"/>
          </a:p>
          <a:p>
            <a:r>
              <a:rPr lang="en-US" sz="800" b="0" dirty="0">
                <a:solidFill>
                  <a:srgbClr val="000000"/>
                </a:solidFill>
                <a:latin typeface="Aptos Mono"/>
              </a:rPr>
              <a:t>        RESPONSE = ""</a:t>
            </a:r>
            <a:endParaRPr dirty="0"/>
          </a:p>
          <a:p>
            <a:r>
              <a:rPr lang="en-US" sz="800" b="0" dirty="0">
                <a:solidFill>
                  <a:srgbClr val="000000"/>
                </a:solidFill>
                <a:latin typeface="Aptos Mono"/>
              </a:rPr>
              <a:t>        param = </a:t>
            </a:r>
            <a:r>
              <a:rPr lang="en-US" sz="800" b="0" dirty="0" err="1">
                <a:solidFill>
                  <a:srgbClr val="000000"/>
                </a:solidFill>
                <a:latin typeface="Aptos Mono"/>
              </a:rPr>
              <a:t>request.form.get</a:t>
            </a:r>
            <a:r>
              <a:rPr lang="en-US" sz="800" b="0" dirty="0">
                <a:solidFill>
                  <a:srgbClr val="000000"/>
                </a:solidFill>
                <a:latin typeface="Aptos Mono"/>
              </a:rPr>
              <a:t>("BenchmarkTest00099")</a:t>
            </a:r>
            <a:endParaRPr dirty="0"/>
          </a:p>
          <a:p>
            <a:r>
              <a:rPr lang="en-US" sz="800" b="0" dirty="0">
                <a:solidFill>
                  <a:srgbClr val="000000"/>
                </a:solidFill>
                <a:latin typeface="Aptos Mono"/>
              </a:rPr>
              <a:t>        if not param:</a:t>
            </a:r>
            <a:endParaRPr dirty="0"/>
          </a:p>
          <a:p>
            <a:r>
              <a:rPr lang="en-US" sz="800" b="0" dirty="0">
                <a:solidFill>
                  <a:srgbClr val="000000"/>
                </a:solidFill>
                <a:latin typeface="Aptos Mono"/>
              </a:rPr>
              <a:t>            param = ""</a:t>
            </a:r>
            <a:endParaRPr dirty="0"/>
          </a:p>
          <a:p>
            <a:r>
              <a:rPr lang="en-US" sz="800" b="0" dirty="0">
                <a:solidFill>
                  <a:srgbClr val="000000"/>
                </a:solidFill>
                <a:latin typeface="Aptos Mono"/>
              </a:rPr>
              <a:t>        import </a:t>
            </a:r>
            <a:r>
              <a:rPr lang="en-US" sz="800" b="0" dirty="0" err="1">
                <a:solidFill>
                  <a:srgbClr val="000000"/>
                </a:solidFill>
                <a:latin typeface="Aptos Mono"/>
              </a:rPr>
              <a:t>configparser</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2: read the body by signature.</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3289362" cy="861774"/>
          </a:xfrm>
          <a:prstGeom prst="rect">
            <a:avLst/>
          </a:prstGeom>
          <a:noFill/>
        </p:spPr>
        <p:txBody>
          <a:bodyPr wrap="none" lIns="0" tIns="0" rIns="0" bIns="0">
            <a:spAutoFit/>
          </a:bodyPr>
          <a:lstStyle/>
          <a:p>
            <a:endParaRPr lang="en-US" sz="800" b="0" dirty="0">
              <a:solidFill>
                <a:srgbClr val="000000"/>
              </a:solidFill>
              <a:latin typeface="Aptos Mono"/>
            </a:endParaRPr>
          </a:p>
          <a:p>
            <a:r>
              <a:rPr lang="en-US" sz="800" b="0" dirty="0">
                <a:solidFill>
                  <a:srgbClr val="000000"/>
                </a:solidFill>
                <a:latin typeface="Aptos Mono"/>
              </a:rPr>
              <a:t>def BenchmarkTest00099_post():</a:t>
            </a:r>
            <a:endParaRPr dirty="0"/>
          </a:p>
          <a:p>
            <a:r>
              <a:rPr lang="en-US" sz="800" b="0" dirty="0">
                <a:solidFill>
                  <a:srgbClr val="000000"/>
                </a:solidFill>
                <a:latin typeface="Aptos Mono"/>
              </a:rPr>
              <a:t>        RESPONSE = ""</a:t>
            </a:r>
            <a:endParaRPr dirty="0"/>
          </a:p>
          <a:p>
            <a:r>
              <a:rPr lang="en-US" sz="800" b="0" dirty="0">
                <a:solidFill>
                  <a:srgbClr val="000000"/>
                </a:solidFill>
                <a:latin typeface="Aptos Mono"/>
              </a:rPr>
              <a:t>        param = </a:t>
            </a:r>
            <a:r>
              <a:rPr lang="en-US" sz="800" b="0" dirty="0" err="1">
                <a:solidFill>
                  <a:srgbClr val="000000"/>
                </a:solidFill>
                <a:latin typeface="Aptos Mono"/>
              </a:rPr>
              <a:t>request.form.get</a:t>
            </a:r>
            <a:r>
              <a:rPr lang="en-US" sz="800" b="0" dirty="0">
                <a:solidFill>
                  <a:srgbClr val="000000"/>
                </a:solidFill>
                <a:latin typeface="Aptos Mono"/>
              </a:rPr>
              <a:t>("BenchmarkTest00099")</a:t>
            </a:r>
            <a:endParaRPr dirty="0"/>
          </a:p>
          <a:p>
            <a:r>
              <a:rPr lang="en-US" sz="800" b="0" dirty="0">
                <a:solidFill>
                  <a:srgbClr val="000000"/>
                </a:solidFill>
                <a:latin typeface="Aptos Mono"/>
              </a:rPr>
              <a:t>        if not param:</a:t>
            </a:r>
            <a:endParaRPr dirty="0"/>
          </a:p>
          <a:p>
            <a:r>
              <a:rPr lang="en-US" sz="800" b="0" dirty="0">
                <a:solidFill>
                  <a:srgbClr val="000000"/>
                </a:solidFill>
                <a:latin typeface="Aptos Mono"/>
              </a:rPr>
              <a:t>            param = ""</a:t>
            </a:r>
            <a:endParaRPr dirty="0"/>
          </a:p>
          <a:p>
            <a:r>
              <a:rPr lang="en-US" sz="800" b="0" dirty="0">
                <a:solidFill>
                  <a:srgbClr val="000000"/>
                </a:solidFill>
                <a:latin typeface="Aptos Mono"/>
              </a:rPr>
              <a:t>        import </a:t>
            </a:r>
            <a:r>
              <a:rPr lang="en-US" sz="800" b="0" dirty="0" err="1">
                <a:solidFill>
                  <a:srgbClr val="000000"/>
                </a:solidFill>
                <a:latin typeface="Aptos Mono"/>
              </a:rPr>
              <a:t>configparser</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2: read the body by signature.</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3289362" cy="861774"/>
          </a:xfrm>
          <a:prstGeom prst="rect">
            <a:avLst/>
          </a:prstGeom>
          <a:noFill/>
        </p:spPr>
        <p:txBody>
          <a:bodyPr wrap="none" lIns="0" tIns="0" rIns="0" bIns="0">
            <a:spAutoFit/>
          </a:bodyPr>
          <a:lstStyle/>
          <a:p>
            <a:endParaRPr lang="en-US" sz="800" b="0" dirty="0">
              <a:solidFill>
                <a:srgbClr val="000000"/>
              </a:solidFill>
              <a:latin typeface="Aptos Mono"/>
            </a:endParaRPr>
          </a:p>
          <a:p>
            <a:r>
              <a:rPr lang="en-US" sz="800" b="0" dirty="0">
                <a:solidFill>
                  <a:srgbClr val="000000"/>
                </a:solidFill>
                <a:latin typeface="Aptos Mono"/>
              </a:rPr>
              <a:t>def BenchmarkTest00099_post():</a:t>
            </a:r>
            <a:endParaRPr dirty="0"/>
          </a:p>
          <a:p>
            <a:r>
              <a:rPr lang="en-US" sz="800" b="0" dirty="0">
                <a:solidFill>
                  <a:srgbClr val="000000"/>
                </a:solidFill>
                <a:latin typeface="Aptos Mono"/>
              </a:rPr>
              <a:t>        RESPONSE = ""</a:t>
            </a:r>
            <a:endParaRPr dirty="0"/>
          </a:p>
          <a:p>
            <a:r>
              <a:rPr lang="en-US" sz="800" b="0" dirty="0">
                <a:solidFill>
                  <a:srgbClr val="000000"/>
                </a:solidFill>
                <a:latin typeface="Aptos Mono"/>
              </a:rPr>
              <a:t>        param = </a:t>
            </a:r>
            <a:r>
              <a:rPr lang="en-US" sz="800" b="0" dirty="0" err="1">
                <a:solidFill>
                  <a:srgbClr val="000000"/>
                </a:solidFill>
                <a:latin typeface="Aptos Mono"/>
              </a:rPr>
              <a:t>request.form.get</a:t>
            </a:r>
            <a:r>
              <a:rPr lang="en-US" sz="800" b="0" dirty="0">
                <a:solidFill>
                  <a:srgbClr val="000000"/>
                </a:solidFill>
                <a:latin typeface="Aptos Mono"/>
              </a:rPr>
              <a:t>("BenchmarkTest00099")</a:t>
            </a:r>
            <a:endParaRPr dirty="0"/>
          </a:p>
          <a:p>
            <a:r>
              <a:rPr lang="en-US" sz="800" b="0" dirty="0">
                <a:solidFill>
                  <a:srgbClr val="000000"/>
                </a:solidFill>
                <a:latin typeface="Aptos Mono"/>
              </a:rPr>
              <a:t>        if not param:</a:t>
            </a:r>
            <a:endParaRPr dirty="0"/>
          </a:p>
          <a:p>
            <a:r>
              <a:rPr lang="en-US" sz="800" b="0" dirty="0">
                <a:solidFill>
                  <a:srgbClr val="000000"/>
                </a:solidFill>
                <a:latin typeface="Aptos Mono"/>
              </a:rPr>
              <a:t>            param = ""</a:t>
            </a:r>
            <a:endParaRPr dirty="0"/>
          </a:p>
          <a:p>
            <a:r>
              <a:rPr lang="en-US" sz="800" b="0" dirty="0">
                <a:solidFill>
                  <a:srgbClr val="000000"/>
                </a:solidFill>
                <a:latin typeface="Aptos Mono"/>
              </a:rPr>
              <a:t>        import </a:t>
            </a:r>
            <a:r>
              <a:rPr lang="en-US" sz="800" b="0" dirty="0" err="1">
                <a:solidFill>
                  <a:srgbClr val="000000"/>
                </a:solidFill>
                <a:latin typeface="Aptos Mono"/>
              </a:rPr>
              <a:t>configparser</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2: read the body by signature.</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Rectangle 4"/>
          <p:cNvSpPr/>
          <p:nvPr/>
        </p:nvSpPr>
        <p:spPr bwMode="auto">
          <a:xfrm>
            <a:off x="320040" y="4035634"/>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agent reads the one function the alert names.</a:t>
            </a:r>
            <a:endParaRPr/>
          </a:p>
        </p:txBody>
      </p:sp>
      <p:sp>
        <p:nvSpPr>
          <p:cNvPr id="5"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1"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2"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637817"/>
            <a:ext cx="6016752" cy="0"/>
          </a:xfrm>
          <a:prstGeom prst="line">
            <a:avLst/>
          </a:prstGeom>
          <a:ln w="9525">
            <a:solidFill>
              <a:srgbClr val="DCDCDC"/>
            </a:solidFill>
          </a:ln>
        </p:spPr>
      </p:cxnSp>
      <p:sp>
        <p:nvSpPr>
          <p:cNvPr id="14"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8"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3: callers and callees by name.</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ambiguous name</a:t>
            </a:r>
            <a:r>
              <a:rPr lang="en-US" sz="1200" b="0">
                <a:solidFill>
                  <a:srgbClr val="FFFFFF">
                    <a:alpha val="0"/>
                  </a:srgbClr>
                </a:solidFill>
              </a:rPr>
              <a:t> raises </a:t>
            </a:r>
            <a:r>
              <a:rPr lang="en-US" sz="1200" b="0">
                <a:solidFill>
                  <a:srgbClr val="FFFFFF">
                    <a:alpha val="0"/>
                  </a:srgbClr>
                </a:solidFill>
                <a:latin typeface="Aptos Mono"/>
              </a:rPr>
              <a:t>AmbiguousName</a:t>
            </a:r>
            <a:r>
              <a:rPr lang="en-US" sz="1200" b="0">
                <a:solidFill>
                  <a:srgbClr val="FFFFFF">
                    <a:alpha val="0"/>
                  </a:srgbClr>
                </a:solidFill>
              </a:rPr>
              <a:t>, and </a:t>
            </a:r>
            <a:r>
              <a:rPr lang="en-US" sz="1200" b="0">
                <a:solidFill>
                  <a:srgbClr val="FFFFFF">
                    <a:alpha val="0"/>
                  </a:srgbClr>
                </a:solidFill>
                <a:latin typeface="Aptos Mono"/>
              </a:rPr>
              <a:t>in_module=</a:t>
            </a:r>
            <a:r>
              <a:rPr lang="en-US" sz="1200" b="0">
                <a:solidFill>
                  <a:srgbClr val="FFFFFF">
                    <a:alpha val="0"/>
                  </a:srgbClr>
                </a:solidFill>
              </a:rPr>
              <a:t> narrows it.</a:t>
            </a:r>
            <a:endParaRPr>
              <a:solidFill>
                <a:srgbClr val="FFFFFF">
                  <a:alpha val="0"/>
                </a:srgbClr>
              </a:solidFill>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3: callers and callees by name.</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3: callers and callees by name.</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Rectangle 4"/>
          <p:cNvSpPr/>
          <p:nvPr/>
        </p:nvSpPr>
        <p:spPr bwMode="auto">
          <a:xfrm>
            <a:off x="320040" y="436939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call lists the 74 handlers that use the constant helper.</a:t>
            </a:r>
            <a:endParaRPr/>
          </a:p>
        </p:txBody>
      </p:sp>
      <p:sp>
        <p:nvSpPr>
          <p:cNvPr id="5"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1"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2"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599412"/>
            <a:ext cx="6016752" cy="0"/>
          </a:xfrm>
          <a:prstGeom prst="line">
            <a:avLst/>
          </a:prstGeom>
          <a:ln w="9525">
            <a:solidFill>
              <a:srgbClr val="DCDCDC"/>
            </a:solidFill>
          </a:ln>
        </p:spPr>
      </p:cxnSp>
      <p:sp>
        <p:nvSpPr>
          <p:cNvPr id="14"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8"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4: dataflow answers the taint question.</a:t>
            </a: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00099</a:t>
            </a:r>
            <a:r>
              <a:rPr lang="en-US" sz="1200" b="0">
                <a:solidFill>
                  <a:srgbClr val="FFFFFF">
                    <a:alpha val="0"/>
                  </a:srgbClr>
                </a:solidFill>
              </a:rPr>
              <a:t> the request value reaches the f-string through </a:t>
            </a:r>
            <a:r>
              <a:rPr lang="en-US" sz="1200" b="0">
                <a:solidFill>
                  <a:srgbClr val="FFFFFF">
                    <a:alpha val="0"/>
                  </a:srgbClr>
                </a:solidFill>
                <a:latin typeface="Aptos Mono"/>
              </a:rPr>
              <a:t>configparser</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1.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4: dataflow answers the taint question.</a:t>
            </a: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2.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4: dataflow answers the taint question.</a:t>
            </a: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3.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4: dataflow answers the taint question.</a:t>
            </a: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pic>
        <p:nvPicPr>
          <p:cNvPr id="4" name="Picture 1260919718" descr="dataflow-example-4.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Action 4: dataflow answers the taint question.</a:t>
            </a: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sp>
        <p:nvSpPr>
          <p:cNvPr id="4" name="Rectangle 4"/>
          <p:cNvSpPr/>
          <p:nvPr/>
        </p:nvSpPr>
        <p:spPr bwMode="auto">
          <a:xfrm>
            <a:off x="320040" y="43638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Bandit flags the string in all three. Dataflow says which one is tainted.</a:t>
            </a:r>
            <a:endParaRPr/>
          </a:p>
        </p:txBody>
      </p:sp>
      <p:pic>
        <p:nvPicPr>
          <p:cNvPr id="5" name="Picture 1260919718" descr="dataflow-example-4.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reaches helper finds a path in the edges.</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reaches helper finds a path in the edges.</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reaches helper finds a path in the edges.</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reaches helper finds a path in the edges.</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Rectangle 4"/>
          <p:cNvSpPr/>
          <p:nvPr/>
        </p:nvSpPr>
        <p:spPr bwMode="auto">
          <a:xfrm>
            <a:off x="320040" y="4121283"/>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classifier's question becomes a path search over the edges.</a:t>
            </a:r>
            <a:endParaRPr/>
          </a:p>
        </p:txBody>
      </p:sp>
      <p:sp>
        <p:nvSpPr>
          <p:cNvPr id="5"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1"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2"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343734"/>
            <a:ext cx="6016752" cy="0"/>
          </a:xfrm>
          <a:prstGeom prst="line">
            <a:avLst/>
          </a:prstGeom>
          <a:ln w="9525">
            <a:solidFill>
              <a:srgbClr val="DCDCDC"/>
            </a:solidFill>
          </a:ln>
        </p:spPr>
      </p:cxnSp>
      <p:sp>
        <p:nvSpPr>
          <p:cNvPr id="14"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8"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empty answer is ambiguous until checked.</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 the diagnostics</a:t>
            </a:r>
            <a:r>
              <a:rPr lang="en-US" sz="1200" b="0">
                <a:solidFill>
                  <a:srgbClr val="FFFFFF">
                    <a:alpha val="0"/>
                  </a:srgbClr>
                </a:solidFill>
              </a:rPr>
              <a:t> before concluding that nothing was found.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empty answer is ambiguous until checked.</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empty answer is ambiguous until checked.</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empty answer is ambiguous until checked.</a:t>
            </a: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Rectangle 4"/>
          <p:cNvSpPr/>
          <p:nvPr/>
        </p:nvSpPr>
        <p:spPr bwMode="auto">
          <a:xfrm>
            <a:off x="320040" y="383599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An empty result that could mean two things is a defect, so the agent asks why.</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2"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An MCP server over CLDK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065206"/>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298873"/>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is a function with a contract.</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ToolError</a:t>
            </a:r>
            <a:r>
              <a:rPr lang="en-US" sz="1200" b="0">
                <a:solidFill>
                  <a:srgbClr val="FFFFFF">
                    <a:alpha val="0"/>
                  </a:srgbClr>
                </a:solidFill>
              </a:rPr>
              <a:t> is a refusal that the client receives as an error result.</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is a function with a contract.</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is a function with a contract.</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server checks shapes, and the description enforces nothing.</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dataflow tool returns edges by line.</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line in no callable</a:t>
            </a:r>
            <a:r>
              <a:rPr lang="en-US" sz="1200" b="0">
                <a:solidFill>
                  <a:srgbClr val="FFFFFF">
                    <a:alpha val="0"/>
                  </a:srgbClr>
                </a:solidFill>
              </a:rPr>
              <a:t> is a refusal.</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dataflow tool returns edges by line.</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dataflow tool returns edges by line.</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tool reads the same analysis object, and every answer traces to a line.</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runs the server from a catalog.</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tools/list</a:t>
            </a:r>
            <a:r>
              <a:rPr lang="en-US" sz="1200" b="0">
                <a:solidFill>
                  <a:srgbClr val="FFFFFF">
                    <a:alpha val="0"/>
                  </a:srgbClr>
                </a:solidFill>
              </a:rPr>
              <a:t> shows each tool's contract, and a path outside the checkout comes back as an error result.</a:t>
            </a:r>
            <a:endParaRPr>
              <a:solidFill>
                <a:srgbClr val="FFFFFF">
                  <a:alpha val="0"/>
                </a:srgbClr>
              </a:solidFill>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 paths relative to the lecture folder</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runs the server from a catalog.</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 paths relative to the lecture folder</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runs the server from a catalog.</a:t>
            </a: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What the Inspector shows is what your agent's host sees.</a:t>
            </a:r>
            <a:endParaRPr/>
          </a:p>
        </p:txBody>
      </p:sp>
      <p:sp>
        <p:nvSpPr>
          <p:cNvPr id="5"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 paths relative to the lecture folder</a:t>
            </a:r>
            <a:endParaRPr/>
          </a:p>
        </p:txBody>
      </p:sp>
      <p:sp>
        <p:nvSpPr>
          <p:cNvPr id="11"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2"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02153"/>
            <a:ext cx="6016752" cy="0"/>
          </a:xfrm>
          <a:prstGeom prst="line">
            <a:avLst/>
          </a:prstGeom>
          <a:ln w="9525">
            <a:solidFill>
              <a:srgbClr val="DCDCDC"/>
            </a:solidFill>
          </a:ln>
        </p:spPr>
      </p:cxnSp>
      <p:sp>
        <p:nvSpPr>
          <p:cNvPr id="14"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8"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MCP and code-action agents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774362"/>
            <a:ext cx="5733288" cy="5897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MCP agent calls tools through a client.</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Every call</a:t>
            </a:r>
            <a:r>
              <a:rPr lang="en-US" sz="1200" b="0">
                <a:solidFill>
                  <a:srgbClr val="FFFFFF">
                    <a:alpha val="0"/>
                  </a:srgbClr>
                </a:solidFill>
              </a:rPr>
              <a:t> passes the HW1 dispatcher, and a refusal sets </a:t>
            </a:r>
            <a:r>
              <a:rPr lang="en-US" sz="1200" b="0">
                <a:solidFill>
                  <a:srgbClr val="FFFFFF">
                    <a:alpha val="0"/>
                  </a:srgbClr>
                </a:solidFill>
                <a:latin typeface="Aptos Mono"/>
              </a:rPr>
              <a:t>is_error</a:t>
            </a:r>
            <a:r>
              <a:rPr lang="en-US" sz="1200" b="0">
                <a:solidFill>
                  <a:srgbClr val="FFFFFF">
                    <a:alpha val="0"/>
                  </a:srgbClr>
                </a:solidFill>
              </a:rPr>
              <a:t>.</a:t>
            </a:r>
            <a:endParaRPr>
              <a:solidFill>
                <a:srgbClr val="FFFFFF">
                  <a:alpha val="0"/>
                </a:srgbClr>
              </a:solidFill>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MCP agent calls tools through a client.</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MCP agent calls tools through a client.</a:t>
            </a: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Rectangle 4"/>
          <p:cNvSpPr/>
          <p:nvPr/>
        </p:nvSpPr>
        <p:spPr bwMode="auto">
          <a:xfrm>
            <a:off x="320040" y="401026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Your HW1 dispatcher stays, and the MCP client sits behind it.</a:t>
            </a:r>
            <a:endParaRPr/>
          </a:p>
        </p:txBody>
      </p:sp>
      <p:sp>
        <p:nvSpPr>
          <p:cNvPr id="5"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1"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code-action agent acts in one process.</a:t>
            </a: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MCP agent's action</a:t>
            </a:r>
            <a:r>
              <a:rPr lang="en-US" sz="1200" b="0">
                <a:solidFill>
                  <a:srgbClr val="FFFFFF">
                    <a:alpha val="0"/>
                  </a:srgbClr>
                </a:solidFill>
              </a:rPr>
              <a:t> is a tool call, sent to the server as </a:t>
            </a:r>
            <a:r>
              <a:rPr lang="en-US" sz="1200" b="0">
                <a:solidFill>
                  <a:srgbClr val="FFFFFF">
                    <a:alpha val="0"/>
                  </a:srgbClr>
                </a:solidFill>
                <a:latin typeface="Aptos Mono"/>
              </a:rPr>
              <a:t>tools/call</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1.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code-action agent acts in one process.</a:t>
            </a: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2.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code-action agent acts in one process.</a:t>
            </a: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pic>
        <p:nvPicPr>
          <p:cNvPr id="4" name="Picture 1260919718" descr="two-agents-3.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code-action agent acts in one process.</a:t>
            </a: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sp>
        <p:nvSpPr>
          <p:cNvPr id="4" name="Rectangle 4"/>
          <p:cNvSpPr/>
          <p:nvPr/>
        </p:nvSpPr>
        <p:spPr bwMode="auto">
          <a:xfrm>
            <a:off x="320040" y="43257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tool call can be checked on its own, and a script runs as one action.</a:t>
            </a:r>
            <a:endParaRPr/>
          </a:p>
        </p:txBody>
      </p:sp>
      <p:pic>
        <p:nvPicPr>
          <p:cNvPr id="5" name="Picture 1260919718" descr="two-agents-3.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script asks the same dataflow question.</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a:t>
            </a:r>
            <a:r>
              <a:rPr lang="en-US" sz="1200" b="0">
                <a:solidFill>
                  <a:srgbClr val="FFFFFF">
                    <a:alpha val="0"/>
                  </a:srgbClr>
                </a:solidFill>
              </a:rPr>
              <a:t> is the only fence, as lecture 4 found (slide 154).</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script asks the same dataflow question.</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script asks the same dataflow question.</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script asks the same dataflow question.</a:t>
            </a: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Nothing checks a script's calls, so both agents run in OpenShell.</a:t>
            </a:r>
            <a:endParaRPr/>
          </a:p>
        </p:txBody>
      </p:sp>
      <p:sp>
        <p:nvSpPr>
          <p:cNvPr id="5"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1"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2"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754300"/>
            <a:ext cx="6016752" cy="0"/>
          </a:xfrm>
          <a:prstGeom prst="line">
            <a:avLst/>
          </a:prstGeom>
          <a:ln w="9525">
            <a:solidFill>
              <a:srgbClr val="DCDCDC"/>
            </a:solidFill>
          </a:ln>
        </p:spPr>
      </p:cxnSp>
      <p:sp>
        <p:nvSpPr>
          <p:cNvPr id="14"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8"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brief, section by section</a:t>
            </a: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guardrails:</a:t>
            </a:r>
            <a:r>
              <a:rPr lang="en-US" sz="1200" b="0">
                <a:solidFill>
                  <a:srgbClr val="FFFFFF">
                    <a:alpha val="0"/>
                  </a:srgbClr>
                </a:solidFill>
              </a:rPr>
              <a:t> the read, write and network rules, the prompt, server and kernel that hold them, and the policy you run under.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brief, section by section</a:t>
            </a: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brief, section by section</a:t>
            </a: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brief, section by section</a:t>
            </a: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brief, section by section</a:t>
            </a: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
        <p:nvSpPr>
          <p:cNvPr id="4" name="Rectangle 4"/>
          <p:cNvSpPr/>
          <p:nvPr/>
        </p:nvSpPr>
        <p:spPr bwMode="auto">
          <a:xfrm>
            <a:off x="320040" y="32048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HW2 is released today in comse6998-019/hw2-tool-boundary, with the brief, schemas, examples and fixtures.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1122</TotalTime>
  <Words>26785</Words>
  <Application>Microsoft Macintosh PowerPoint</Application>
  <PresentationFormat>Custom</PresentationFormat>
  <Paragraphs>1185</Paragraphs>
  <Slides>64</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Arial</vt:lpstr>
      <vt:lpstr>Aptos</vt:lpstr>
      <vt:lpstr>Aptos Mono</vt:lpstr>
      <vt:lpstr>Simple Light</vt:lpstr>
      <vt:lpstr>Designing Production Agentic Systems</vt:lpstr>
      <vt:lpstr>PowerPoint Presentation</vt:lpstr>
      <vt:lpstr>PowerPoint Presentation</vt:lpstr>
      <vt:lpstr>CLDK answers questions about Python code.</vt:lpstr>
      <vt:lpstr>CLDK answers questions about Python code.</vt:lpstr>
      <vt:lpstr>CLDK answers questions about Python code.</vt:lpstr>
      <vt:lpstr>CLDK answers questions about Python code.</vt:lpstr>
      <vt:lpstr>CLDK answers questions about Python code.</vt:lpstr>
      <vt:lpstr>The analysis level sets what CLDK answers.</vt:lpstr>
      <vt:lpstr>The analysis level sets what CLDK answers.</vt:lpstr>
      <vt:lpstr>The analysis level sets what CLDK answers.</vt:lpstr>
      <vt:lpstr>PowerPoint Presentation</vt:lpstr>
      <vt:lpstr>Action 1: locate the callable that holds a line.</vt:lpstr>
      <vt:lpstr>Action 1: locate the callable that holds a line.</vt:lpstr>
      <vt:lpstr>Action 1: locate the callable that holds a line.</vt:lpstr>
      <vt:lpstr>Action 1: locate the callable that holds a line.</vt:lpstr>
      <vt:lpstr>Action 2: read the body by signature.</vt:lpstr>
      <vt:lpstr>Action 2: read the body by signature.</vt:lpstr>
      <vt:lpstr>Action 2: read the body by signature.</vt:lpstr>
      <vt:lpstr>Action 2: read the body by signature.</vt:lpstr>
      <vt:lpstr>Action 3: callers and callees by name.</vt:lpstr>
      <vt:lpstr>Action 3: callers and callees by name.</vt:lpstr>
      <vt:lpstr>Action 3: callers and callees by name.</vt:lpstr>
      <vt:lpstr>Action 4: dataflow answers the taint question.</vt:lpstr>
      <vt:lpstr>Action 4: dataflow answers the taint question.</vt:lpstr>
      <vt:lpstr>Action 4: dataflow answers the taint question.</vt:lpstr>
      <vt:lpstr>Action 4: dataflow answers the taint question.</vt:lpstr>
      <vt:lpstr>Action 4: dataflow answers the taint question.</vt:lpstr>
      <vt:lpstr>The reaches helper finds a path in the edges.</vt:lpstr>
      <vt:lpstr>The reaches helper finds a path in the edges.</vt:lpstr>
      <vt:lpstr>The reaches helper finds a path in the edges.</vt:lpstr>
      <vt:lpstr>The reaches helper finds a path in the edges.</vt:lpstr>
      <vt:lpstr>An empty answer is ambiguous until checked.</vt:lpstr>
      <vt:lpstr>An empty answer is ambiguous until checked.</vt:lpstr>
      <vt:lpstr>An empty answer is ambiguous until checked.</vt:lpstr>
      <vt:lpstr>An empty answer is ambiguous until checked.</vt:lpstr>
      <vt:lpstr>PowerPoint Presentation</vt:lpstr>
      <vt:lpstr>A tool is a function with a contract.</vt:lpstr>
      <vt:lpstr>A tool is a function with a contract.</vt:lpstr>
      <vt:lpstr>A tool is a function with a contract.</vt:lpstr>
      <vt:lpstr>The dataflow tool returns edges by line.</vt:lpstr>
      <vt:lpstr>The dataflow tool returns edges by line.</vt:lpstr>
      <vt:lpstr>The dataflow tool returns edges by line.</vt:lpstr>
      <vt:lpstr>The Inspector runs the server from a catalog.</vt:lpstr>
      <vt:lpstr>The Inspector runs the server from a catalog.</vt:lpstr>
      <vt:lpstr>The Inspector runs the server from a catalog.</vt:lpstr>
      <vt:lpstr>PowerPoint Presentation</vt:lpstr>
      <vt:lpstr>The MCP agent calls tools through a client.</vt:lpstr>
      <vt:lpstr>The MCP agent calls tools through a client.</vt:lpstr>
      <vt:lpstr>The MCP agent calls tools through a client.</vt:lpstr>
      <vt:lpstr>The code-action agent acts in one process.</vt:lpstr>
      <vt:lpstr>The code-action agent acts in one process.</vt:lpstr>
      <vt:lpstr>The code-action agent acts in one process.</vt:lpstr>
      <vt:lpstr>The code-action agent acts in one process.</vt:lpstr>
      <vt:lpstr>The script asks the same dataflow question.</vt:lpstr>
      <vt:lpstr>The script asks the same dataflow question.</vt:lpstr>
      <vt:lpstr>The script asks the same dataflow question.</vt:lpstr>
      <vt:lpstr>The script asks the same dataflow question.</vt:lpstr>
      <vt:lpstr>PowerPoint Presentation</vt:lpstr>
      <vt:lpstr>The brief, section by section</vt:lpstr>
      <vt:lpstr>The brief, section by section</vt:lpstr>
      <vt:lpstr>The brief, section by section</vt:lpstr>
      <vt:lpstr>The brief, section by section</vt:lpstr>
      <vt:lpstr>The brief, section by section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216</cp:revision>
  <dcterms:modified xsi:type="dcterms:W3CDTF">2026-10-16T12:37:14Z</dcterms:modified>
</cp:coreProperties>
</file>
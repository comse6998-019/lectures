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4"/>
  </p:notesMasterIdLst>
  <p:sldIdLst>
    <p:sldId id="491" r:id="rId73"/>
    <p:sldId id="492" r:id="rId74"/>
    <p:sldId id="493" r:id="rId75"/>
    <p:sldId id="495" r:id="rId77"/>
    <p:sldId id="496" r:id="rId78"/>
    <p:sldId id="497" r:id="rId79"/>
    <p:sldId id="498" r:id="rId80"/>
    <p:sldId id="494" r:id="rId76"/>
    <p:sldId id="500" r:id="rId82"/>
    <p:sldId id="501" r:id="rId83"/>
    <p:sldId id="499" r:id="rId81"/>
    <p:sldId id="503" r:id="rId85"/>
    <p:sldId id="504" r:id="rId86"/>
    <p:sldId id="502" r:id="rId84"/>
    <p:sldId id="505" r:id="rId87"/>
    <p:sldId id="507" r:id="rId89"/>
    <p:sldId id="508" r:id="rId90"/>
    <p:sldId id="509" r:id="rId91"/>
    <p:sldId id="506" r:id="rId88"/>
    <p:sldId id="511" r:id="rId93"/>
    <p:sldId id="512" r:id="rId94"/>
    <p:sldId id="513" r:id="rId95"/>
    <p:sldId id="510" r:id="rId92"/>
    <p:sldId id="515" r:id="rId97"/>
    <p:sldId id="516" r:id="rId98"/>
    <p:sldId id="514" r:id="rId96"/>
    <p:sldId id="518" r:id="rId100"/>
    <p:sldId id="519" r:id="rId101"/>
    <p:sldId id="520" r:id="rId102"/>
    <p:sldId id="521" r:id="rId103"/>
    <p:sldId id="517" r:id="rId99"/>
    <p:sldId id="523" r:id="rId105"/>
    <p:sldId id="524" r:id="rId106"/>
    <p:sldId id="525" r:id="rId107"/>
    <p:sldId id="522" r:id="rId104"/>
    <p:sldId id="527" r:id="rId109"/>
    <p:sldId id="528" r:id="rId110"/>
    <p:sldId id="529" r:id="rId111"/>
    <p:sldId id="526" r:id="rId108"/>
    <p:sldId id="530" r:id="rId112"/>
    <p:sldId id="532" r:id="rId114"/>
    <p:sldId id="533" r:id="rId115"/>
    <p:sldId id="531" r:id="rId113"/>
    <p:sldId id="535" r:id="rId117"/>
    <p:sldId id="536" r:id="rId118"/>
    <p:sldId id="534" r:id="rId116"/>
    <p:sldId id="538" r:id="rId120"/>
    <p:sldId id="539" r:id="rId121"/>
    <p:sldId id="537" r:id="rId119"/>
    <p:sldId id="540" r:id="rId122"/>
    <p:sldId id="542" r:id="rId124"/>
    <p:sldId id="543" r:id="rId125"/>
    <p:sldId id="541" r:id="rId123"/>
    <p:sldId id="545" r:id="rId127"/>
    <p:sldId id="546" r:id="rId128"/>
    <p:sldId id="547" r:id="rId129"/>
    <p:sldId id="544" r:id="rId126"/>
    <p:sldId id="549" r:id="rId131"/>
    <p:sldId id="550" r:id="rId132"/>
    <p:sldId id="551" r:id="rId133"/>
    <p:sldId id="548" r:id="rId130"/>
    <p:sldId id="552" r:id="rId134"/>
    <p:sldId id="554" r:id="rId136"/>
    <p:sldId id="555" r:id="rId137"/>
    <p:sldId id="556" r:id="rId138"/>
    <p:sldId id="557" r:id="rId139"/>
    <p:sldId id="553" r:id="rId135"/>
  </p:sldIdLst>
  <p:sldSz cx="6858000" cy="5143500"/>
  <p:notesSz cx="6858000" cy="9144000"/>
  <p:embeddedFontLst>
    <p:embeddedFont>
      <p:font typeface="Aptos Mono" panose="020B0009020202020204" pitchFamily="49" charset="0"/>
      <p:regular r:id="rId65"/>
      <p:bold r:id="rId66"/>
      <p:italic r:id="rId67"/>
      <p:boldItalic r:id="rId6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862"/>
    <p:restoredTop sz="97007"/>
  </p:normalViewPr>
  <p:slideViewPr>
    <p:cSldViewPr snapToGrid="0">
      <p:cViewPr varScale="1">
        <p:scale>
          <a:sx n="207" d="100"/>
          <a:sy n="207" d="100"/>
        </p:scale>
        <p:origin x="1880" y="160"/>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4" Type="http://schemas.openxmlformats.org/officeDocument/2006/relationships/notesMaster" Target="notesMasters/notes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 Id="rId105" Type="http://schemas.openxmlformats.org/officeDocument/2006/relationships/slide" Target="slides/slide95.xml"/><Relationship Id="rId106" Type="http://schemas.openxmlformats.org/officeDocument/2006/relationships/slide" Target="slides/slide96.xml"/><Relationship Id="rId107" Type="http://schemas.openxmlformats.org/officeDocument/2006/relationships/slide" Target="slides/slide97.xml"/><Relationship Id="rId108" Type="http://schemas.openxmlformats.org/officeDocument/2006/relationships/slide" Target="slides/slide98.xml"/><Relationship Id="rId109" Type="http://schemas.openxmlformats.org/officeDocument/2006/relationships/slide" Target="slides/slide99.xml"/><Relationship Id="rId110" Type="http://schemas.openxmlformats.org/officeDocument/2006/relationships/slide" Target="slides/slide100.xml"/><Relationship Id="rId111" Type="http://schemas.openxmlformats.org/officeDocument/2006/relationships/slide" Target="slides/slide101.xml"/><Relationship Id="rId112" Type="http://schemas.openxmlformats.org/officeDocument/2006/relationships/slide" Target="slides/slide102.xml"/><Relationship Id="rId113" Type="http://schemas.openxmlformats.org/officeDocument/2006/relationships/slide" Target="slides/slide103.xml"/><Relationship Id="rId114" Type="http://schemas.openxmlformats.org/officeDocument/2006/relationships/slide" Target="slides/slide104.xml"/><Relationship Id="rId115" Type="http://schemas.openxmlformats.org/officeDocument/2006/relationships/slide" Target="slides/slide105.xml"/><Relationship Id="rId116" Type="http://schemas.openxmlformats.org/officeDocument/2006/relationships/slide" Target="slides/slide106.xml"/><Relationship Id="rId117" Type="http://schemas.openxmlformats.org/officeDocument/2006/relationships/slide" Target="slides/slide107.xml"/><Relationship Id="rId118" Type="http://schemas.openxmlformats.org/officeDocument/2006/relationships/slide" Target="slides/slide108.xml"/><Relationship Id="rId119" Type="http://schemas.openxmlformats.org/officeDocument/2006/relationships/slide" Target="slides/slide109.xml"/><Relationship Id="rId120" Type="http://schemas.openxmlformats.org/officeDocument/2006/relationships/slide" Target="slides/slide110.xml"/><Relationship Id="rId121" Type="http://schemas.openxmlformats.org/officeDocument/2006/relationships/slide" Target="slides/slide111.xml"/><Relationship Id="rId122" Type="http://schemas.openxmlformats.org/officeDocument/2006/relationships/slide" Target="slides/slide112.xml"/><Relationship Id="rId123" Type="http://schemas.openxmlformats.org/officeDocument/2006/relationships/slide" Target="slides/slide113.xml"/><Relationship Id="rId124" Type="http://schemas.openxmlformats.org/officeDocument/2006/relationships/slide" Target="slides/slide114.xml"/><Relationship Id="rId125" Type="http://schemas.openxmlformats.org/officeDocument/2006/relationships/slide" Target="slides/slide115.xml"/><Relationship Id="rId126" Type="http://schemas.openxmlformats.org/officeDocument/2006/relationships/slide" Target="slides/slide116.xml"/><Relationship Id="rId127" Type="http://schemas.openxmlformats.org/officeDocument/2006/relationships/slide" Target="slides/slide117.xml"/><Relationship Id="rId128" Type="http://schemas.openxmlformats.org/officeDocument/2006/relationships/slide" Target="slides/slide118.xml"/><Relationship Id="rId129" Type="http://schemas.openxmlformats.org/officeDocument/2006/relationships/slide" Target="slides/slide119.xml"/><Relationship Id="rId130" Type="http://schemas.openxmlformats.org/officeDocument/2006/relationships/slide" Target="slides/slide120.xml"/><Relationship Id="rId131" Type="http://schemas.openxmlformats.org/officeDocument/2006/relationships/slide" Target="slides/slide121.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Introduce Lecture 6, HW2 part: the CLDK essentials for a Python project, an MCP server over CLDK's API, the MCP agent and the code-action agent that call it, and then the brief.</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spend the rest of today on HW2. We learn the CLDK calls that answer questions about a Python project, wrap them as MCP tools, call them from the MCP agent and from a code-action script, and then walk through the brief.</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start with what CLDK is, how it attaches to a checkout, and what each analysis level can answer.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9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9 seconds.</a:t>
            </a:r>
          </a:p>
          <a:p>
            <a:r>
              <a:t>5. The closing: one object per checkout, and every question we ask is a method call on it.</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9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9 seconds.</a:t>
            </a:r>
          </a:p>
          <a:p>
            <a:r>
              <a:t>5. The closing: one object per checkout, and every question we ask is a method call on it.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9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9 seconds.</a:t>
            </a:r>
          </a:p>
          <a:p>
            <a:r>
              <a:t>5. The closing: one object per checkout, and every question we ask is a method call on it.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9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9 seconds.</a:t>
            </a:r>
          </a:p>
          <a:p>
            <a:r>
              <a:t>5. The closing: one object per checkout, and every question we ask is a method call on it.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9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9 seconds.</a:t>
            </a:r>
          </a:p>
          <a:p>
            <a:r>
              <a:t>5. The closing: one object per checkout, and every question we ask is a method call on 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(9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(9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(9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one Bandit alert, B608 at line 46 of BenchmarkTest00099.py, through the moves a classifier needs: locate, read, callers and callees, and dataflow.</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hw2/captures/move3.py, run on 2026-10-16 by hw2/captures/capture.py in the lecture's .venv (Python 3.12, cldk 2.0.0, codeanalyzer-python 1.5.3, mcp 2.3.0). Its for line is the move 3 cell of cldk-mcp.ipynb, section 2, verbatim, and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so the notebook's own label for this count, "callers of the helper HW1's false positives share", is wrong, and move3.py prints the count under a label that names the helper.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hw2/captures/move3.py, run on 2026-10-16 by hw2/captures/capture.py in the lecture's .venv (Python 3.12, cldk 2.0.0, codeanalyzer-python 1.5.3, mcp 2.3.0). Its for line is the move 3 cell of cldk-mcp.ipynb, section 2, verbatim, and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so the notebook's own label for this count, "callers of the helper HW1's false positives share", is wrong, and move3.py prints the count under a label that names the helper.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hw2/captures/move3.py, run on 2026-10-16 by hw2/captures/capture.py in the lecture's .venv (Python 3.12, cldk 2.0.0, codeanalyzer-python 1.5.3, mcp 2.3.0). Its for line is the move 3 cell of cldk-mcp.ipynb, section 2, verbatim, and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so the notebook's own label for this count, "callers of the helper HW1's false positives share", is wrong, and move3.py prints the count under a label that names the helper.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serve the same moves as MCP tools, the pattern each team's server follows in HW2.</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call the same API from the two agents HW2 asks for: through an MCP client, and from a script.</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close the HW2 part by walking through the brief, released today.</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89.xml"/><Relationship Id="rId5"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6.xml"/><Relationship Id="rId5" Type="http://schemas.openxmlformats.org/officeDocument/2006/relationships/image" Target="../media/image16.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9.xml"/></Relationships>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bwMode="auto"/>
        <p:txBody>
          <a:bodyPr/>
          <a:lstStyle/>
          <a:p>
            <a:pPr>
              <a:defRPr/>
            </a:pPr>
            <a:r>
              <a:rPr lang="en-US" b="1"/>
              <a:t>Designing Production Agentic Systems</a:t>
            </a:r>
            <a:endParaRPr b="1"/>
          </a:p>
        </p:txBody>
      </p:sp>
      <p:sp>
        <p:nvSpPr>
          <p:cNvPr id="3"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HW2: CLDK, MCP, and 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CLDK essentials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2347897"/>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Rectangle 4"/>
          <p:cNvSpPr/>
          <p:nvPr/>
        </p:nvSpPr>
        <p:spPr bwMode="auto">
          <a:xfrm>
            <a:off x="320040" y="437061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question is a method on one cached object per checkout.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6"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737716"/>
            <a:ext cx="6016752" cy="0"/>
          </a:xfrm>
          <a:prstGeom prst="line">
            <a:avLst/>
          </a:prstGeom>
          <a:ln w="9525">
            <a:solidFill>
              <a:srgbClr val="DCDCDC"/>
            </a:solidFill>
          </a:ln>
        </p:spPr>
      </p:cxnSp>
      <p:sp>
        <p:nvSpPr>
          <p:cNvPr id="8"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2"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3"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 name="WinBar out"/>
          <p:cNvCxnSpPr/>
          <p:nvPr/>
        </p:nvCxnSpPr>
        <p:spPr bwMode="auto">
          <a:xfrm>
            <a:off x="320040" y="3841168"/>
            <a:ext cx="6016752" cy="0"/>
          </a:xfrm>
          <a:prstGeom prst="line">
            <a:avLst/>
          </a:prstGeom>
          <a:ln w="9525">
            <a:solidFill>
              <a:srgbClr val="DCDCDC"/>
            </a:solidFill>
          </a:ln>
        </p:spPr>
      </p:cxnSp>
      <p:sp>
        <p:nvSpPr>
          <p:cNvPr id="15"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9"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9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pip install cldk</a:t>
            </a:r>
            <a:r>
              <a:rPr lang="en-US" sz="1200" b="0">
                <a:solidFill>
                  <a:srgbClr val="FFFFFF">
                    <a:alpha val="0"/>
                  </a:srgbClr>
                </a:solidFill>
              </a:rPr>
              <a:t> installs it on Python 3.11 or newer.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2"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41168"/>
            <a:ext cx="6016752" cy="0"/>
          </a:xfrm>
          <a:prstGeom prst="line">
            <a:avLst/>
          </a:prstGeom>
          <a:ln w="9525">
            <a:solidFill>
              <a:srgbClr val="DCDCDC"/>
            </a:solidFill>
          </a:ln>
        </p:spPr>
      </p:cxnSp>
      <p:sp>
        <p:nvSpPr>
          <p:cNvPr id="14"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8"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9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Choose the level your questions need, and pay for it once.</a:t>
            </a:r>
            <a:endParaRPr/>
          </a:p>
        </p:txBody>
      </p:sp>
      <p:sp>
        <p:nvSpPr>
          <p:cNvPr id="5"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1"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2"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429992"/>
            <a:ext cx="6016752" cy="0"/>
          </a:xfrm>
          <a:prstGeom prst="line">
            <a:avLst/>
          </a:prstGeom>
          <a:ln w="9525">
            <a:solidFill>
              <a:srgbClr val="DCDCDC"/>
            </a:solidFill>
          </a:ln>
        </p:spPr>
      </p:cxnSp>
      <p:sp>
        <p:nvSpPr>
          <p:cNvPr id="14"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8"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program_dependency_graph</a:t>
            </a:r>
            <a:r>
              <a:rPr lang="en-US" sz="1200" b="0">
                <a:solidFill>
                  <a:srgbClr val="FFFFFF">
                    <a:alpha val="0"/>
                  </a:srgbClr>
                </a:solidFill>
              </a:rPr>
              <a:t> adds flow inside each callable, and </a:t>
            </a:r>
            <a:r>
              <a:rPr lang="en-US" sz="1200" b="0">
                <a:solidFill>
                  <a:srgbClr val="FFFFFF">
                    <a:alpha val="0"/>
                  </a:srgbClr>
                </a:solidFill>
                <a:latin typeface="Aptos Mono"/>
              </a:rPr>
              <a:t>system_dependency_graph</a:t>
            </a:r>
            <a:r>
              <a:rPr lang="en-US" sz="1200" b="0">
                <a:solidFill>
                  <a:srgbClr val="FFFFFF">
                    <a:alpha val="0"/>
                  </a:srgbClr>
                </a:solidFill>
              </a:rPr>
              <a:t> adds flow across them.</a:t>
            </a:r>
            <a:endParaRPr>
              <a:solidFill>
                <a:srgbClr val="FFFFFF">
                  <a:alpha val="0"/>
                </a:srgbClr>
              </a:solidFill>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1"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429992"/>
            <a:ext cx="6016752" cy="0"/>
          </a:xfrm>
          <a:prstGeom prst="line">
            <a:avLst/>
          </a:prstGeom>
          <a:ln w="9525">
            <a:solidFill>
              <a:srgbClr val="DCDCDC"/>
            </a:solidFill>
          </a:ln>
        </p:spPr>
      </p:cxnSp>
      <p:sp>
        <p:nvSpPr>
          <p:cNvPr id="13"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7"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Rectangle 4"/>
          <p:cNvSpPr/>
          <p:nvPr/>
        </p:nvSpPr>
        <p:spPr bwMode="auto">
          <a:xfrm>
            <a:off x="320040" y="429380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Below the level it needs, a question raises an error.</a:t>
            </a:r>
            <a:endParaRPr/>
          </a:p>
        </p:txBody>
      </p:sp>
      <p:sp>
        <p:nvSpPr>
          <p:cNvPr id="5"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164692"/>
            <a:ext cx="6016752" cy="0"/>
          </a:xfrm>
          <a:prstGeom prst="line">
            <a:avLst/>
          </a:prstGeom>
          <a:ln w="9525">
            <a:solidFill>
              <a:srgbClr val="DCDCDC"/>
            </a:solidFill>
          </a:ln>
        </p:spPr>
      </p:cxnSp>
      <p:sp>
        <p:nvSpPr>
          <p:cNvPr id="7"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1"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2"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44090"/>
            <a:ext cx="6016752" cy="0"/>
          </a:xfrm>
          <a:prstGeom prst="line">
            <a:avLst/>
          </a:prstGeom>
          <a:ln w="9525">
            <a:solidFill>
              <a:srgbClr val="DCDCDC"/>
            </a:solidFill>
          </a:ln>
        </p:spPr>
      </p:cxnSp>
      <p:sp>
        <p:nvSpPr>
          <p:cNvPr id="14"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empty answer there</a:t>
            </a:r>
            <a:r>
              <a:rPr lang="en-US" sz="1200" b="0">
                <a:solidFill>
                  <a:srgbClr val="FFFFFF">
                    <a:alpha val="0"/>
                  </a:srgbClr>
                </a:solidFill>
              </a:rPr>
              <a:t> would look like a callable with no data dependence, so CLDK refuses to give one.</a:t>
            </a:r>
            <a:endParaRPr>
              <a:solidFill>
                <a:srgbClr val="FFFFFF">
                  <a:alpha val="0"/>
                </a:srgbClr>
              </a:solidFill>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Moves on the analysis object</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589718"/>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2823386"/>
            <a:ext cx="5733288" cy="154069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Rectangle 4"/>
          <p:cNvSpPr/>
          <p:nvPr/>
        </p:nvSpPr>
        <p:spPr bwMode="auto">
          <a:xfrm>
            <a:off x="320040" y="420815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Locate turns an alert's file and line into a callable's name.</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2"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8"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a:t>
            </a:r>
            <a:r>
              <a:rPr lang="en-US" sz="1200" b="0">
                <a:solidFill>
                  <a:srgbClr val="FFFFFF">
                    <a:alpha val="0"/>
                  </a:srgbClr>
                </a:solidFill>
              </a:rPr>
              <a:t> </a:t>
            </a:r>
            <a:r>
              <a:rPr lang="en-US" sz="1200" b="0">
                <a:solidFill>
                  <a:srgbClr val="FFFFFF">
                    <a:alpha val="0"/>
                  </a:srgbClr>
                </a:solidFill>
                <a:latin typeface="Aptos Mono"/>
              </a:rPr>
              <a:t>callable.signature</a:t>
            </a:r>
            <a:r>
              <a:rPr lang="en-US" sz="1200" b="0">
                <a:solidFill>
                  <a:srgbClr val="FFFFFF">
                    <a:alpha val="0"/>
                  </a:srgbClr>
                </a:solidFill>
              </a:rPr>
              <a:t>, </a:t>
            </a:r>
            <a:r>
              <a:rPr lang="en-US" sz="1200" b="0">
                <a:solidFill>
                  <a:srgbClr val="FFFFFF">
                    <a:alpha val="0"/>
                  </a:srgbClr>
                </a:solidFill>
                <a:latin typeface="Aptos Mono"/>
              </a:rPr>
              <a:t>callable.name</a:t>
            </a:r>
            <a:r>
              <a:rPr lang="en-US" sz="1200" b="0">
                <a:solidFill>
                  <a:srgbClr val="FFFFFF">
                    <a:alpha val="0"/>
                  </a:srgbClr>
                </a:solidFill>
              </a:rPr>
              <a:t> and </a:t>
            </a:r>
            <a:r>
              <a:rPr lang="en-US" sz="1200" b="0">
                <a:solidFill>
                  <a:srgbClr val="FFFFFF">
                    <a:alpha val="0"/>
                  </a:srgbClr>
                </a:solidFill>
                <a:latin typeface="Aptos Mono"/>
              </a:rPr>
              <a:t>module</a:t>
            </a:r>
            <a:r>
              <a:rPr lang="en-US" sz="1200" b="0">
                <a:solidFill>
                  <a:srgbClr val="FFFFFF">
                    <a:alpha val="0"/>
                  </a:srgbClr>
                </a:solidFill>
              </a:rPr>
              <a:t>, and the callable's text in </a:t>
            </a:r>
            <a:r>
              <a:rPr lang="en-US" sz="1200" b="0">
                <a:solidFill>
                  <a:srgbClr val="FFFFFF">
                    <a:alpha val="0"/>
                  </a:srgbClr>
                </a:solidFill>
                <a:latin typeface="Aptos Mono"/>
              </a:rPr>
              <a:t>source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Rectangle 4"/>
          <p:cNvSpPr/>
          <p:nvPr/>
        </p:nvSpPr>
        <p:spPr bwMode="auto">
          <a:xfrm>
            <a:off x="320040" y="4035634"/>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agent reads the one function the alert names.</a:t>
            </a:r>
            <a:endParaRPr/>
          </a:p>
        </p:txBody>
      </p:sp>
      <p:sp>
        <p:nvSpPr>
          <p:cNvPr id="5"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1"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2"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637817"/>
            <a:ext cx="6016752" cy="0"/>
          </a:xfrm>
          <a:prstGeom prst="line">
            <a:avLst/>
          </a:prstGeom>
          <a:ln w="9525">
            <a:solidFill>
              <a:srgbClr val="DCDCDC"/>
            </a:solidFill>
          </a:ln>
        </p:spPr>
      </p:cxnSp>
      <p:sp>
        <p:nvSpPr>
          <p:cNvPr id="14"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8"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signature with no body</a:t>
            </a:r>
            <a:r>
              <a:rPr lang="en-US" sz="1200" b="0">
                <a:solidFill>
                  <a:srgbClr val="FFFFFF">
                    <a:alpha val="0"/>
                  </a:srgbClr>
                </a:solidFill>
              </a:rPr>
              <a:t> is absent, so test </a:t>
            </a:r>
            <a:r>
              <a:rPr lang="en-US" sz="1200" b="0">
                <a:solidFill>
                  <a:srgbClr val="FFFFFF">
                    <a:alpha val="0"/>
                  </a:srgbClr>
                </a:solidFill>
                <a:latin typeface="Aptos Mono"/>
              </a:rPr>
              <a:t>key in result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Rectangle 4"/>
          <p:cNvSpPr/>
          <p:nvPr/>
        </p:nvSpPr>
        <p:spPr bwMode="auto">
          <a:xfrm>
            <a:off x="320040" y="436939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call lists the 74 handlers that use the constant helper.</a:t>
            </a:r>
            <a:endParaRPr/>
          </a:p>
        </p:txBody>
      </p:sp>
      <p:sp>
        <p:nvSpPr>
          <p:cNvPr id="5"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move3.py: what the handler calls, and who calls a helper</a:t>
            </a:r>
            <a:endParaRPr/>
          </a:p>
        </p:txBody>
      </p:sp>
      <p:sp>
        <p:nvSpPr>
          <p:cNvPr id="11"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2"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599412"/>
            <a:ext cx="6016752" cy="0"/>
          </a:xfrm>
          <a:prstGeom prst="line">
            <a:avLst/>
          </a:prstGeom>
          <a:ln w="9525">
            <a:solidFill>
              <a:srgbClr val="DCDCDC"/>
            </a:solidFill>
          </a:ln>
        </p:spPr>
      </p:cxnSp>
      <p:sp>
        <p:nvSpPr>
          <p:cNvPr id="14"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8"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ambiguous name</a:t>
            </a:r>
            <a:r>
              <a:rPr lang="en-US" sz="1200" b="0">
                <a:solidFill>
                  <a:srgbClr val="FFFFFF">
                    <a:alpha val="0"/>
                  </a:srgbClr>
                </a:solidFill>
              </a:rPr>
              <a:t> raises </a:t>
            </a:r>
            <a:r>
              <a:rPr lang="en-US" sz="1200" b="0">
                <a:solidFill>
                  <a:srgbClr val="FFFFFF">
                    <a:alpha val="0"/>
                  </a:srgbClr>
                </a:solidFill>
                <a:latin typeface="Aptos Mono"/>
              </a:rPr>
              <a:t>AmbiguousName</a:t>
            </a:r>
            <a:r>
              <a:rPr lang="en-US" sz="1200" b="0">
                <a:solidFill>
                  <a:srgbClr val="FFFFFF">
                    <a:alpha val="0"/>
                  </a:srgbClr>
                </a:solidFill>
              </a:rPr>
              <a:t>, and </a:t>
            </a:r>
            <a:r>
              <a:rPr lang="en-US" sz="1200" b="0">
                <a:solidFill>
                  <a:srgbClr val="FFFFFF">
                    <a:alpha val="0"/>
                  </a:srgbClr>
                </a:solidFill>
                <a:latin typeface="Aptos Mono"/>
              </a:rPr>
              <a:t>in_module=</a:t>
            </a:r>
            <a:r>
              <a:rPr lang="en-US" sz="1200" b="0">
                <a:solidFill>
                  <a:srgbClr val="FFFFFF">
                    <a:alpha val="0"/>
                  </a:srgbClr>
                </a:solidFill>
              </a:rPr>
              <a:t> narrows it.</a:t>
            </a:r>
            <a:endParaRPr>
              <a:solidFill>
                <a:srgbClr val="FFFFFF">
                  <a:alpha val="0"/>
                </a:srgbClr>
              </a:solidFill>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move3.py: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move3.py: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sp>
        <p:nvSpPr>
          <p:cNvPr id="4" name="Rectangle 4"/>
          <p:cNvSpPr/>
          <p:nvPr/>
        </p:nvSpPr>
        <p:spPr bwMode="auto">
          <a:xfrm>
            <a:off x="320040" y="43638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Bandit flags the string in all three. Dataflow says which one is tainted.</a:t>
            </a:r>
            <a:endParaRPr/>
          </a:p>
        </p:txBody>
      </p:sp>
      <p:pic>
        <p:nvPicPr>
          <p:cNvPr id="5" name="Picture 1260919718" descr="dataflow-example-4.png"/>
          <p:cNvPicPr>
            <a:picLocks noChangeAspect="1"/>
          </p:cNvPicPr>
          <p:nvPr/>
        </p:nvPicPr>
        <p:blipFill>
          <a:blip r:embed="rId5"/>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00099</a:t>
            </a:r>
            <a:r>
              <a:rPr lang="en-US" sz="1200" b="0">
                <a:solidFill>
                  <a:srgbClr val="FFFFFF">
                    <a:alpha val="0"/>
                  </a:srgbClr>
                </a:solidFill>
              </a:rPr>
              <a:t> the request value reaches the f-string through </a:t>
            </a:r>
            <a:r>
              <a:rPr lang="en-US" sz="1200" b="0">
                <a:solidFill>
                  <a:srgbClr val="FFFFFF">
                    <a:alpha val="0"/>
                  </a:srgbClr>
                </a:solidFill>
                <a:latin typeface="Aptos Mono"/>
              </a:rPr>
              <a:t>configparser</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1.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2.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3.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Move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pic>
        <p:nvPicPr>
          <p:cNvPr id="4" name="Picture 1260919718" descr="dataflow-example-4.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Rectangle 4"/>
          <p:cNvSpPr/>
          <p:nvPr/>
        </p:nvSpPr>
        <p:spPr bwMode="auto">
          <a:xfrm>
            <a:off x="320040" y="4121283"/>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classifier's question becomes a path search over the edges.</a:t>
            </a:r>
            <a:endParaRPr/>
          </a:p>
        </p:txBody>
      </p:sp>
      <p:sp>
        <p:nvSpPr>
          <p:cNvPr id="5"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1"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2"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343734"/>
            <a:ext cx="6016752" cy="0"/>
          </a:xfrm>
          <a:prstGeom prst="line">
            <a:avLst/>
          </a:prstGeom>
          <a:ln w="9525">
            <a:solidFill>
              <a:srgbClr val="DCDCDC"/>
            </a:solidFill>
          </a:ln>
        </p:spPr>
      </p:cxnSp>
      <p:sp>
        <p:nvSpPr>
          <p:cNvPr id="14"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8"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Rectangle 4"/>
          <p:cNvSpPr/>
          <p:nvPr/>
        </p:nvSpPr>
        <p:spPr bwMode="auto">
          <a:xfrm>
            <a:off x="320040" y="383599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An empty result that could mean two things is a defect, so the agent asks why.</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2"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 the diagnostics</a:t>
            </a:r>
            <a:r>
              <a:rPr lang="en-US" sz="1200" b="0">
                <a:solidFill>
                  <a:srgbClr val="FFFFFF">
                    <a:alpha val="0"/>
                  </a:srgbClr>
                </a:solidFill>
              </a:rPr>
              <a:t> before concluding that nothing was found.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An MCP server over CLDK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065206"/>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298873"/>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server checks shapes, and the description enforces nothing.</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ToolError</a:t>
            </a:r>
            <a:r>
              <a:rPr lang="en-US" sz="1200" b="0">
                <a:solidFill>
                  <a:srgbClr val="FFFFFF">
                    <a:alpha val="0"/>
                  </a:srgbClr>
                </a:solidFill>
              </a:rPr>
              <a:t> is a refusal that the client receives as an error result.</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tool reads the same analysis object, and every answer traces to a line.</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line in no callable</a:t>
            </a:r>
            <a:r>
              <a:rPr lang="en-US" sz="1200" b="0">
                <a:solidFill>
                  <a:srgbClr val="FFFFFF">
                    <a:alpha val="0"/>
                  </a:srgbClr>
                </a:solidFill>
              </a:rPr>
              <a:t> is a refusal.</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What the Inspector shows is what your agent's host sees.</a:t>
            </a:r>
            <a:endParaRPr/>
          </a:p>
        </p:txBody>
      </p:sp>
      <p:sp>
        <p:nvSpPr>
          <p:cNvPr id="5"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1"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2"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02153"/>
            <a:ext cx="6016752" cy="0"/>
          </a:xfrm>
          <a:prstGeom prst="line">
            <a:avLst/>
          </a:prstGeom>
          <a:ln w="9525">
            <a:solidFill>
              <a:srgbClr val="DCDCDC"/>
            </a:solidFill>
          </a:ln>
        </p:spPr>
      </p:cxnSp>
      <p:sp>
        <p:nvSpPr>
          <p:cNvPr id="14"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8"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tools/list</a:t>
            </a:r>
            <a:r>
              <a:rPr lang="en-US" sz="1200" b="0">
                <a:solidFill>
                  <a:srgbClr val="FFFFFF">
                    <a:alpha val="0"/>
                  </a:srgbClr>
                </a:solidFill>
              </a:rPr>
              <a:t> shows each tool's contract, and a path outside the checkout comes back as an error result.</a:t>
            </a:r>
            <a:endParaRPr>
              <a:solidFill>
                <a:srgbClr val="FFFFFF">
                  <a:alpha val="0"/>
                </a:srgbClr>
              </a:solidFill>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MCP and code-action agents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774362"/>
            <a:ext cx="5733288" cy="5897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Rectangle 4"/>
          <p:cNvSpPr/>
          <p:nvPr/>
        </p:nvSpPr>
        <p:spPr bwMode="auto">
          <a:xfrm>
            <a:off x="320040" y="401026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Your HW1 dispatcher stays, and the MCP client sits behind it.</a:t>
            </a:r>
            <a:endParaRPr/>
          </a:p>
        </p:txBody>
      </p:sp>
      <p:sp>
        <p:nvSpPr>
          <p:cNvPr id="5"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1"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Every call</a:t>
            </a:r>
            <a:r>
              <a:rPr lang="en-US" sz="1200" b="0">
                <a:solidFill>
                  <a:srgbClr val="FFFFFF">
                    <a:alpha val="0"/>
                  </a:srgbClr>
                </a:solidFill>
              </a:rPr>
              <a:t> passes the HW1 dispatcher, and a refusal sets </a:t>
            </a:r>
            <a:r>
              <a:rPr lang="en-US" sz="1200" b="0">
                <a:solidFill>
                  <a:srgbClr val="FFFFFF">
                    <a:alpha val="0"/>
                  </a:srgbClr>
                </a:solidFill>
                <a:latin typeface="Aptos Mono"/>
              </a:rPr>
              <a:t>is_error</a:t>
            </a:r>
            <a:r>
              <a:rPr lang="en-US" sz="1200" b="0">
                <a:solidFill>
                  <a:srgbClr val="FFFFFF">
                    <a:alpha val="0"/>
                  </a:srgbClr>
                </a:solidFill>
              </a:rPr>
              <a:t>.</a:t>
            </a:r>
            <a:endParaRPr>
              <a:solidFill>
                <a:srgbClr val="FFFFFF">
                  <a:alpha val="0"/>
                </a:srgbClr>
              </a:solidFill>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sp>
        <p:nvSpPr>
          <p:cNvPr id="4" name="Rectangle 4"/>
          <p:cNvSpPr/>
          <p:nvPr/>
        </p:nvSpPr>
        <p:spPr bwMode="auto">
          <a:xfrm>
            <a:off x="320040" y="43257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tool call can be checked on its own, and a script runs as one action.</a:t>
            </a:r>
            <a:endParaRPr/>
          </a:p>
        </p:txBody>
      </p:sp>
      <p:pic>
        <p:nvPicPr>
          <p:cNvPr id="5" name="Picture 1260919718" descr="two-agents-3.png"/>
          <p:cNvPicPr>
            <a:picLocks noChangeAspect="1"/>
          </p:cNvPicPr>
          <p:nvPr/>
        </p:nvPicPr>
        <p:blipFill>
          <a:blip r:embed="rId5"/>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MCP agent's action</a:t>
            </a:r>
            <a:r>
              <a:rPr lang="en-US" sz="1200" b="0">
                <a:solidFill>
                  <a:srgbClr val="FFFFFF">
                    <a:alpha val="0"/>
                  </a:srgbClr>
                </a:solidFill>
              </a:rPr>
              <a:t> is a tool call, sent to the server as </a:t>
            </a:r>
            <a:r>
              <a:rPr lang="en-US" sz="1200" b="0">
                <a:solidFill>
                  <a:srgbClr val="FFFFFF">
                    <a:alpha val="0"/>
                  </a:srgbClr>
                </a:solidFill>
                <a:latin typeface="Aptos Mono"/>
              </a:rPr>
              <a:t>tools/call</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1.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2.png"/>
          <p:cNvPicPr>
            <a:picLocks noChangeAspect="1"/>
          </p:cNvPicPr>
          <p:nvPr/>
        </p:nvPicPr>
        <p:blipFill>
          <a:blip r:embed="rId4"/>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pic>
        <p:nvPicPr>
          <p:cNvPr id="4" name="Picture 1260919718" descr="two-agents-3.png"/>
          <p:cNvPicPr>
            <a:picLocks noChangeAspect="1"/>
          </p:cNvPicPr>
          <p:nvPr/>
        </p:nvPicPr>
        <p:blipFill>
          <a:blip r:embed="rId4"/>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Nothing checks a script's calls, so both agents run in OpenShell.</a:t>
            </a:r>
            <a:endParaRPr/>
          </a:p>
        </p:txBody>
      </p:sp>
      <p:sp>
        <p:nvSpPr>
          <p:cNvPr id="5"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1"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2"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754300"/>
            <a:ext cx="6016752" cy="0"/>
          </a:xfrm>
          <a:prstGeom prst="line">
            <a:avLst/>
          </a:prstGeom>
          <a:ln w="9525">
            <a:solidFill>
              <a:srgbClr val="DCDCDC"/>
            </a:solidFill>
          </a:ln>
        </p:spPr>
      </p:cxnSp>
      <p:sp>
        <p:nvSpPr>
          <p:cNvPr id="14"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8"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a:t>
            </a:r>
            <a:r>
              <a:rPr lang="en-US" sz="1200" b="0">
                <a:solidFill>
                  <a:srgbClr val="FFFFFF">
                    <a:alpha val="0"/>
                  </a:srgbClr>
                </a:solidFill>
              </a:rPr>
              <a:t> is the only fence, as lecture 4 found (slide 154).</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Moves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
        <p:nvSpPr>
          <p:cNvPr id="4" name="Rectangle 4"/>
          <p:cNvSpPr/>
          <p:nvPr/>
        </p:nvSpPr>
        <p:spPr bwMode="auto">
          <a:xfrm>
            <a:off x="320040" y="32048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HW2 is released today in comse6998-019/hw2-tool-boundary, with the brief, schemas, examples and fixtures.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guardrails:</a:t>
            </a:r>
            <a:r>
              <a:rPr lang="en-US" sz="1200" b="0">
                <a:solidFill>
                  <a:srgbClr val="FFFFFF">
                    <a:alpha val="0"/>
                  </a:srgbClr>
                </a:solidFill>
              </a:rPr>
              <a:t> the read, write and network rules, the prompt, server and kernel that hold them, and the policy you run under.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1117</TotalTime>
  <Words>16400</Words>
  <Application>Microsoft Macintosh PowerPoint</Application>
  <PresentationFormat>Custom</PresentationFormat>
  <Paragraphs>927</Paragraphs>
  <Slides>62</Slides>
  <Notes>62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Arial</vt:lpstr>
      <vt:lpstr>Aptos</vt:lpstr>
      <vt:lpstr>Aptos Mono</vt:lpstr>
      <vt:lpstr>Simple Light</vt:lpstr>
      <vt:lpstr>PowerPoint Presentation</vt:lpstr>
      <vt:lpstr>PowerPoint Presentation</vt:lpstr>
      <vt:lpstr>MCP is a standard plug for AI applications.</vt:lpstr>
      <vt:lpstr>MCP is a standard plug for AI applications.</vt:lpstr>
      <vt:lpstr>MCP is a standard plug for AI applications.</vt:lpstr>
      <vt:lpstr>A server offers tools, resources and prompts.[1]</vt:lpstr>
      <vt:lpstr>One request travels from user to server.</vt:lpstr>
      <vt:lpstr>An MCP server is a program that offers tools.[2]</vt:lpstr>
      <vt:lpstr>An MCP server is a program that offers tools.[2]</vt:lpstr>
      <vt:lpstr>An MCP server is a program that offers tools.[2]</vt:lpstr>
      <vt:lpstr>A client connects an application to a server.[4]</vt:lpstr>
      <vt:lpstr>A client connects an application to a server.[4]</vt:lpstr>
      <vt:lpstr>A client connects an application to a server.[4]</vt:lpstr>
      <vt:lpstr>The host runs one client for each server.[1]</vt:lpstr>
      <vt:lpstr>The host runs one client for each server.[1]</vt:lpstr>
      <vt:lpstr>The host runs one client for each server.[1]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The host converts MCP tools for the model.[1]</vt:lpstr>
      <vt:lpstr>One tool call crosses two connections.[1]</vt:lpstr>
      <vt:lpstr>A tool result reports success or an error.[1]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SDK generates the definition from Python.</vt:lpstr>
      <vt:lpstr>A tool definition lists every contract field.[1]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Annotations are hints, not guarantees.[1]</vt:lpstr>
      <vt:lpstr>Annotations are hints, not guarantees.[1]</vt:lpstr>
      <vt:lpstr>Annotations are hints, not guarantees.[1]</vt:lpstr>
      <vt:lpstr>Every MCP request stands on its own.[1]</vt:lpstr>
      <vt:lpstr>Every MCP request stands on its own.[1]</vt:lpstr>
      <vt:lpstr>Every MCP request stands on its own.[1]</vt:lpstr>
      <vt:lpstr>Over stdio, each message is one line of JSON.[1]</vt:lpstr>
      <vt:lpstr>Over stdio, each message is one line of JSON.[1]</vt:lpstr>
      <vt:lpstr>Over stdio, each message is one line of JSON.[1]</vt:lpstr>
      <vt:lpstr>Over HTTP, each message is one POST.[1]</vt:lpstr>
      <vt:lpstr>An SSE reply can stream progress first.[1]</vt:lpstr>
      <vt:lpstr>An SSE reply can stream progress first.[1]</vt:lpstr>
      <vt:lpstr>An SSE reply can stream progress first.[1]</vt:lpstr>
      <vt:lpstr>A broken stream forces a new request.[1]</vt:lpstr>
      <vt:lpstr>A broken stream forces a new request.[1]</vt:lpstr>
      <vt:lpstr>A broken stream forces a new request.[1]</vt:lpstr>
      <vt:lpstr>Who must validate a tool's arguments?</vt:lpstr>
      <vt:lpstr>Who must validate a tool's arguments?</vt:lpstr>
      <vt:lpstr>Who sends a request again after a break?[1]</vt:lpstr>
      <vt:lpstr>Who sends a request again after a break?[1]</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214</cp:revision>
  <dcterms:modified xsi:type="dcterms:W3CDTF">2026-10-08T16:53:25Z</dcterms:modified>
</cp:coreProperties>
</file>
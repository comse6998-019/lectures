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491" r:id="rId73"/>
    <p:sldId id="492" r:id="rId74"/>
    <p:sldId id="493" r:id="rId75"/>
    <p:sldId id="495" r:id="rId77"/>
    <p:sldId id="496" r:id="rId78"/>
    <p:sldId id="497" r:id="rId79"/>
    <p:sldId id="498" r:id="rId80"/>
    <p:sldId id="494" r:id="rId76"/>
    <p:sldId id="500" r:id="rId82"/>
    <p:sldId id="501" r:id="rId83"/>
    <p:sldId id="499" r:id="rId81"/>
    <p:sldId id="503" r:id="rId85"/>
    <p:sldId id="504" r:id="rId86"/>
    <p:sldId id="502" r:id="rId84"/>
    <p:sldId id="505" r:id="rId87"/>
    <p:sldId id="507" r:id="rId89"/>
    <p:sldId id="508" r:id="rId90"/>
    <p:sldId id="509" r:id="rId91"/>
    <p:sldId id="506" r:id="rId88"/>
    <p:sldId id="511" r:id="rId93"/>
    <p:sldId id="512" r:id="rId94"/>
    <p:sldId id="513" r:id="rId95"/>
    <p:sldId id="510" r:id="rId92"/>
    <p:sldId id="515" r:id="rId97"/>
    <p:sldId id="516" r:id="rId98"/>
    <p:sldId id="514" r:id="rId96"/>
    <p:sldId id="518" r:id="rId100"/>
    <p:sldId id="519" r:id="rId101"/>
    <p:sldId id="520" r:id="rId102"/>
    <p:sldId id="521" r:id="rId103"/>
    <p:sldId id="517" r:id="rId99"/>
    <p:sldId id="523" r:id="rId105"/>
    <p:sldId id="524" r:id="rId106"/>
    <p:sldId id="525" r:id="rId107"/>
    <p:sldId id="522" r:id="rId104"/>
    <p:sldId id="527" r:id="rId109"/>
    <p:sldId id="528" r:id="rId110"/>
    <p:sldId id="529" r:id="rId111"/>
    <p:sldId id="526" r:id="rId108"/>
    <p:sldId id="530" r:id="rId112"/>
    <p:sldId id="532" r:id="rId114"/>
    <p:sldId id="533" r:id="rId115"/>
    <p:sldId id="531" r:id="rId113"/>
    <p:sldId id="535" r:id="rId117"/>
    <p:sldId id="536" r:id="rId118"/>
    <p:sldId id="534" r:id="rId116"/>
    <p:sldId id="538" r:id="rId120"/>
    <p:sldId id="539" r:id="rId121"/>
    <p:sldId id="537" r:id="rId119"/>
    <p:sldId id="540" r:id="rId122"/>
    <p:sldId id="542" r:id="rId124"/>
    <p:sldId id="543" r:id="rId125"/>
    <p:sldId id="541" r:id="rId123"/>
    <p:sldId id="545" r:id="rId127"/>
    <p:sldId id="546" r:id="rId128"/>
    <p:sldId id="547" r:id="rId129"/>
    <p:sldId id="544" r:id="rId126"/>
    <p:sldId id="549" r:id="rId131"/>
    <p:sldId id="550" r:id="rId132"/>
    <p:sldId id="551" r:id="rId133"/>
    <p:sldId id="548" r:id="rId130"/>
    <p:sldId id="552" r:id="rId134"/>
    <p:sldId id="554" r:id="rId136"/>
    <p:sldId id="555" r:id="rId137"/>
    <p:sldId id="556" r:id="rId138"/>
    <p:sldId id="557" r:id="rId139"/>
    <p:sldId id="553" r:id="rId135"/>
  </p:sldIdLst>
  <p:sldSz cx="6858000" cy="5143500"/>
  <p:notesSz cx="6858000" cy="9144000"/>
  <p:embeddedFontLst>
    <p:embeddedFont>
      <p:font typeface="Aptos Mono" panose="020B0009020202020204" pitchFamily="49" charset="0"/>
      <p:regular r:id="rId65"/>
      <p:bold r:id="rId66"/>
      <p:italic r:id="rId67"/>
      <p:boldItalic r:id="rId68"/>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62"/>
    <p:restoredTop sz="97007"/>
  </p:normalViewPr>
  <p:slideViewPr>
    <p:cSldViewPr snapToGrid="0">
      <p:cViewPr varScale="1">
        <p:scale>
          <a:sx n="207" d="100"/>
          <a:sy n="207" d="100"/>
        </p:scale>
        <p:origin x="1880" y="1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4" Type="http://schemas.openxmlformats.org/officeDocument/2006/relationships/notesMaster" Target="notesMasters/notes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3" Type="http://schemas.openxmlformats.org/officeDocument/2006/relationships/slide" Target="slides/slide123.xml"/><Relationship Id="rId134" Type="http://schemas.openxmlformats.org/officeDocument/2006/relationships/slide" Target="slides/slide124.xml"/><Relationship Id="rId135" Type="http://schemas.openxmlformats.org/officeDocument/2006/relationships/slide" Target="slides/slide125.xml"/><Relationship Id="rId136" Type="http://schemas.openxmlformats.org/officeDocument/2006/relationships/slide" Target="slides/slide126.xml"/><Relationship Id="rId137" Type="http://schemas.openxmlformats.org/officeDocument/2006/relationships/slide" Target="slides/slide127.xml"/><Relationship Id="rId138" Type="http://schemas.openxmlformats.org/officeDocument/2006/relationships/slide" Target="slides/slide128.xml"/><Relationship Id="rId139"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Introduce Lecture 6, HW2 part: the CLDK essentials for a Python project, an MCP server over CLDK's API, the MCP agent and the code-action agent that call it, and then the brief.</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spend the rest of today on HW2. We learn the CLDK calls that answer questions about a Python project, wrap them as MCP tools, call them from the MCP agent and from a code-action script, and then walk through the brief.</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start with what CLDK is, how it attaches to a checkout, and what each analysis level can answer.</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CLDK is R. Krishna, R. Pan, R. Pavuluri, S. Tamilselvam, M. Vukovic and S. Sinha, Codellm-Devkit: A Framework for Contextualizing Code LLMs with Program Analysis Insights, FSE Companion 2025, pages 308 to 318 (arXiv 2410.13007). We use cldk 2.0.0 from PyPI, whose package metadata requires Python 3.11 or newer; for a Python project it runs codeanalyzer-python 1.5.3. The window is section 1 of cldk-mcp.ipynb, and its output was captured on 2026-10-16 by hw2/captures/capture.py, which executes the notebook headless in the lecture's .venv (Python 3.12, cldk 2.0.0, codeanalyzer-python 1.5.3, mcp 2.3.0): 3710 callables in 7 s, read from the cache that the first attach left in cldk-demo/owasp/.codeanalyzer. The checkout is OWASP BenchmarkPython at f1291485, the commit HW1 used.</a:t>
            </a:r>
          </a:p>
          <a:p/>
          <a:p>
            <a:r>
              <a:t>Click by click.</a:t>
            </a:r>
          </a:p>
          <a:p>
            <a:r>
              <a:t>1. CLDK is one Python API over static analysis of three languages, from the paper by Krishna and colleagues at FSE 2025.</a:t>
            </a:r>
          </a:p>
          <a:p>
            <a:r>
              <a:t>2. Installing it is one pip command, and it needs Python 3.11 or newer.</a:t>
            </a:r>
          </a:p>
          <a:p>
            <a:r>
              <a:t>3. For a Python project the analyzer is codeanalyzer-python: Jedi resolves the names and ast gives the structure.</a:t>
            </a:r>
          </a:p>
          <a:p>
            <a:r>
              <a:t>4. The project is HW1's OWASP checkout. The output arrives: 3,710 callables, attached from the cache in 7 seconds.</a:t>
            </a:r>
          </a:p>
          <a:p>
            <a:r>
              <a:t>5. The closing: one object per checkout, and every question we ask is a method call on it.</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CLDK is R. Krishna, R. Pan, R. Pavuluri, S. Tamilselvam, M. Vukovic and S. Sinha, Codellm-Devkit: A Framework for Contextualizing Code LLMs with Program Analysis Insights, FSE Companion 2025, pages 308 to 318 (arXiv 2410.13007). We use cldk 2.0.0 from PyPI, whose package metadata requires Python 3.11 or newer; for a Python project it runs codeanalyzer-python 1.5.3. The window is section 1 of cldk-mcp.ipynb, and its output was captured on 2026-10-16 by hw2/captures/capture.py, which executes the notebook headless in the lecture's .venv (Python 3.12, cldk 2.0.0, codeanalyzer-python 1.5.3, mcp 2.3.0): 3710 callables in 7 s, read from the cache that the first attach left in cldk-demo/owasp/.codeanalyzer. The checkout is OWASP BenchmarkPython at f1291485, the commit HW1 used.</a:t>
            </a:r>
          </a:p>
          <a:p/>
          <a:p>
            <a:r>
              <a:t>Click by click.</a:t>
            </a:r>
          </a:p>
          <a:p>
            <a:r>
              <a:t>1. CLDK is one Python API over static analysis of three languages, from the paper by Krishna and colleagues at FSE 2025.</a:t>
            </a:r>
          </a:p>
          <a:p>
            <a:r>
              <a:t>2. Installing it is one pip command, and it needs Python 3.11 or newer.</a:t>
            </a:r>
          </a:p>
          <a:p>
            <a:r>
              <a:t>3. For a Python project the analyzer is codeanalyzer-python: Jedi resolves the names and ast gives the structure.</a:t>
            </a:r>
          </a:p>
          <a:p>
            <a:r>
              <a:t>4. The project is HW1's OWASP checkout. The output arrives: 3,710 callables, attached from the cache in 7 seconds.</a:t>
            </a:r>
          </a:p>
          <a:p>
            <a:r>
              <a:t>5. The closing: one object per checkout, and every question we ask is a method call on it.</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CLDK is R. Krishna, R. Pan, R. Pavuluri, S. Tamilselvam, M. Vukovic and S. Sinha, Codellm-Devkit: A Framework for Contextualizing Code LLMs with Program Analysis Insights, FSE Companion 2025, pages 308 to 318 (arXiv 2410.13007). We use cldk 2.0.0 from PyPI, whose package metadata requires Python 3.11 or newer; for a Python project it runs codeanalyzer-python 1.5.3. The window is section 1 of cldk-mcp.ipynb, and its output was captured on 2026-10-16 by hw2/captures/capture.py, which executes the notebook headless in the lecture's .venv (Python 3.12, cldk 2.0.0, codeanalyzer-python 1.5.3, mcp 2.3.0): 3710 callables in 7 s, read from the cache that the first attach left in cldk-demo/owasp/.codeanalyzer. The checkout is OWASP BenchmarkPython at f1291485, the commit HW1 used.</a:t>
            </a:r>
          </a:p>
          <a:p/>
          <a:p>
            <a:r>
              <a:t>Click by click.</a:t>
            </a:r>
          </a:p>
          <a:p>
            <a:r>
              <a:t>1. CLDK is one Python API over static analysis of three languages, from the paper by Krishna and colleagues at FSE 2025.</a:t>
            </a:r>
          </a:p>
          <a:p>
            <a:r>
              <a:t>2. Installing it is one pip command, and it needs Python 3.11 or newer.</a:t>
            </a:r>
          </a:p>
          <a:p>
            <a:r>
              <a:t>3. For a Python project the analyzer is codeanalyzer-python: Jedi resolves the names and ast gives the structure.</a:t>
            </a:r>
          </a:p>
          <a:p>
            <a:r>
              <a:t>4. The project is HW1's OWASP checkout. The output arrives: 3,710 callables, attached from the cache in 7 seconds.</a:t>
            </a:r>
          </a:p>
          <a:p>
            <a:r>
              <a:t>5. The closing: one object per checkout, and every question we ask is a method call on it.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CLDK is R. Krishna, R. Pan, R. Pavuluri, S. Tamilselvam, M. Vukovic and S. Sinha, Codellm-Devkit: A Framework for Contextualizing Code LLMs with Program Analysis Insights, FSE Companion 2025, pages 308 to 318 (arXiv 2410.13007). We use cldk 2.0.0 from PyPI, whose package metadata requires Python 3.11 or newer; for a Python project it runs codeanalyzer-python 1.5.3. The window is section 1 of cldk-mcp.ipynb, and its output was captured on 2026-10-16 by hw2/captures/capture.py, which executes the notebook headless in the lecture's .venv (Python 3.12, cldk 2.0.0, codeanalyzer-python 1.5.3, mcp 2.3.0): 3710 callables in 7 s, read from the cache that the first attach left in cldk-demo/owasp/.codeanalyzer. The checkout is OWASP BenchmarkPython at f1291485, the commit HW1 used.</a:t>
            </a:r>
          </a:p>
          <a:p/>
          <a:p>
            <a:r>
              <a:t>Click by click.</a:t>
            </a:r>
          </a:p>
          <a:p>
            <a:r>
              <a:t>1. CLDK is one Python API over static analysis of three languages, from the paper by Krishna and colleagues at FSE 2025.</a:t>
            </a:r>
          </a:p>
          <a:p>
            <a:r>
              <a:t>2. Installing it is one pip command, and it needs Python 3.11 or newer.</a:t>
            </a:r>
          </a:p>
          <a:p>
            <a:r>
              <a:t>3. For a Python project the analyzer is codeanalyzer-python: Jedi resolves the names and ast gives the structure.</a:t>
            </a:r>
          </a:p>
          <a:p>
            <a:r>
              <a:t>4. The project is HW1's OWASP checkout. The output arrives: 3,710 callables, attached from the cache in 7 seconds.</a:t>
            </a:r>
          </a:p>
          <a:p>
            <a:r>
              <a:t>5. The closing: one object per checkout, and every question we ask is a method call on it.</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CLDK is R. Krishna, R. Pan, R. Pavuluri, S. Tamilselvam, M. Vukovic and S. Sinha, Codellm-Devkit: A Framework for Contextualizing Code LLMs with Program Analysis Insights, FSE Companion 2025, pages 308 to 318 (arXiv 2410.13007). We use cldk 2.0.0 from PyPI, whose package metadata requires Python 3.11 or newer; for a Python project it runs codeanalyzer-python 1.5.3. The window is section 1 of cldk-mcp.ipynb, and its output was captured on 2026-10-16 by hw2/captures/capture.py, which executes the notebook headless in the lecture's .venv (Python 3.12, cldk 2.0.0, codeanalyzer-python 1.5.3, mcp 2.3.0): 3710 callables in 7 s, read from the cache that the first attach left in cldk-demo/owasp/.codeanalyzer. The checkout is OWASP BenchmarkPython at f1291485, the commit HW1 used.</a:t>
            </a:r>
          </a:p>
          <a:p/>
          <a:p>
            <a:r>
              <a:t>Click by click.</a:t>
            </a:r>
          </a:p>
          <a:p>
            <a:r>
              <a:t>1. CLDK is one Python API over static analysis of three languages, from the paper by Krishna and colleagues at FSE 2025.</a:t>
            </a:r>
          </a:p>
          <a:p>
            <a:r>
              <a:t>2. Installing it is one pip command, and it needs Python 3.11 or newer.</a:t>
            </a:r>
          </a:p>
          <a:p>
            <a:r>
              <a:t>3. For a Python project the analyzer is codeanalyzer-python: Jedi resolves the names and ast gives the structure.</a:t>
            </a:r>
          </a:p>
          <a:p>
            <a:r>
              <a:t>4. The project is HW1's OWASP checkout. The output arrives: 3,710 callables, attached from the cache in 7 seconds.</a:t>
            </a:r>
          </a:p>
          <a:p>
            <a:r>
              <a:t>5. The closing: one object per checkout, and every question we ask is a method call on it.</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levels.py is in slides/hw2/captures. For each level it copies cldk-demo/owasp without its analysis cache and attaches once, so each row is a first attach. Measured on 2026-10-15 on this Mac with cldk 2.0.0 and codeanalyzer-python 1.5.3: symbol table 182 s, call graph 219 s, program dependency graph 220 s, system dependency graph 222 s, 3,710 callables at every level. An earlier run the same evening, also with other work on the machine, gave 135 s, 131 s, 158 s, 217 s for the same four levels. On this project the levels differ less than their names suggest; every first attach also creates a virtualenv for the analyzer inside the copy's cache folder. The specification's earlier measurement, with 2.0.0rc8, was 241 s at call-graph level and 151 s at the dependency level. From the cache an attach takes seconds (7 s on the previous slide). The notebook and HW2's server use program_dependency_graph, the lowest level with dataflow.</a:t>
            </a:r>
          </a:p>
          <a:p/>
          <a:p>
            <a:r>
              <a:t>Click by click.</a:t>
            </a:r>
          </a:p>
          <a:p>
            <a:r>
              <a:t>1. The two cheap levels: the symbol table knows what is declared, and the call graph knows who calls whom.</a:t>
            </a:r>
          </a:p>
          <a:p>
            <a:r>
              <a:t>2. The two dependency levels add flow, inside a callable and across callables. The output arrives: every first attach took minutes on this Mac, the system dependency graph the longest.</a:t>
            </a:r>
          </a:p>
          <a:p>
            <a:r>
              <a:t>3. The closing: choose the level the questions need, pay once, and read the cache after that.</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levels.py is in slides/hw2/captures. For each level it copies cldk-demo/owasp without its analysis cache and attaches once, so each row is a first attach. Measured on 2026-10-15 on this Mac with cldk 2.0.0 and codeanalyzer-python 1.5.3: symbol table 182 s, call graph 219 s, program dependency graph 220 s, system dependency graph 222 s, 3,710 callables at every level. An earlier run the same evening, also with other work on the machine, gave 135 s, 131 s, 158 s, 217 s for the same four levels. On this project the levels differ less than their names suggest; every first attach also creates a virtualenv for the analyzer inside the copy's cache folder. The specification's earlier measurement, with 2.0.0rc8, was 241 s at call-graph level and 151 s at the dependency level. From the cache an attach takes seconds (7 s on the previous slide). The notebook and HW2's server use program_dependency_graph, the lowest level with dataflow.</a:t>
            </a:r>
          </a:p>
          <a:p/>
          <a:p>
            <a:r>
              <a:t>Click by click.</a:t>
            </a:r>
          </a:p>
          <a:p>
            <a:r>
              <a:t>1. The two cheap levels: the symbol table knows what is declared, and the call graph knows who calls whom.</a:t>
            </a:r>
          </a:p>
          <a:p>
            <a:r>
              <a:t>2. The two dependency levels add flow, inside a callable and across callables. The output arrives: every first attach took minutes on this Mac, the system dependency graph the longest.</a:t>
            </a:r>
          </a:p>
          <a:p>
            <a:r>
              <a:t>3. The closing: choose the level the questions need, pay once, and read the cache after that.</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levels.py is in slides/hw2/captures. For each level it copies cldk-demo/owasp without its analysis cache and attaches once, so each row is a first attach. Measured on 2026-10-15 on this Mac with cldk 2.0.0 and codeanalyzer-python 1.5.3: symbol table 182 s, call graph 219 s, program dependency graph 220 s, system dependency graph 222 s, 3,710 callables at every level. An earlier run the same evening, also with other work on the machine, gave 135 s, 131 s, 158 s, 217 s for the same four levels. On this project the levels differ less than their names suggest; every first attach also creates a virtualenv for the analyzer inside the copy's cache folder. The specification's earlier measurement, with 2.0.0rc8, was 241 s at call-graph level and 151 s at the dependency level. From the cache an attach takes seconds (7 s on the previous slide). The notebook and HW2's server use program_dependency_graph, the lowest level with dataflow.</a:t>
            </a:r>
          </a:p>
          <a:p/>
          <a:p>
            <a:r>
              <a:t>Click by click.</a:t>
            </a:r>
          </a:p>
          <a:p>
            <a:r>
              <a:t>1. The two cheap levels: the symbol table knows what is declared, and the call graph knows who calls whom.</a:t>
            </a:r>
          </a:p>
          <a:p>
            <a:r>
              <a:t>2. The two dependency levels add flow, inside a callable and across callables. The output arrives: every first attach took minutes on this Mac, the system dependency graph the longest.</a:t>
            </a:r>
          </a:p>
          <a:p>
            <a:r>
              <a:t>3. The closing: choose the level the questions need, pay once, and read the cache after that.</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run of levels.py, after the four attaches, asks the symbol-table analysis for the data-dependence graph of BenchmarkTest00099_post. The window shows the exception exactly as it printed; its message is CLDK's own. This is the rule the agent API follows everywhere: an answer that could mean two things is refused, and the refusal says what to do instead.</a:t>
            </a:r>
          </a:p>
          <a:p/>
          <a:p>
            <a:r>
              <a:t>Click by click.</a:t>
            </a:r>
          </a:p>
          <a:p>
            <a:r>
              <a:t>1. get_ddg needs the program dependency graph. Asked of a symbol-table analysis, it raises, and the message names the level asked for and the level built.</a:t>
            </a:r>
          </a:p>
          <a:p>
            <a:r>
              <a:t>2. Why it raises: an empty list would look exactly like a callable with no dependence, so the library refuses rather than mislead.</a:t>
            </a:r>
          </a:p>
          <a:p>
            <a:r>
              <a:t>3. The closing: below the level a question needs, the answer is an error, never an empty result.</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run of levels.py, after the four attaches, asks the symbol-table analysis for the data-dependence graph of BenchmarkTest00099_post. The window shows the exception exactly as it printed; its message is CLDK's own. This is the rule the agent API follows everywhere: an answer that could mean two things is refused, and the refusal says what to do instead.</a:t>
            </a:r>
          </a:p>
          <a:p/>
          <a:p>
            <a:r>
              <a:t>Click by click.</a:t>
            </a:r>
          </a:p>
          <a:p>
            <a:r>
              <a:t>1. get_ddg needs the program dependency graph. Asked of a symbol-table analysis, it raises, and the message names the level asked for and the level built.</a:t>
            </a:r>
          </a:p>
          <a:p>
            <a:r>
              <a:t>2. Why it raises: an empty list would look exactly like a callable with no dependence, so the library refuses rather than mislead.</a:t>
            </a:r>
          </a:p>
          <a:p>
            <a:r>
              <a:t>3. The closing: below the level a question needs, the answer is an error, never an empty result.</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run of levels.py, after the four attaches, asks the symbol-table analysis for the data-dependence graph of BenchmarkTest00099_post. The window shows the exception exactly as it printed; its message is CLDK's own. This is the rule the agent API follows everywhere: an answer that could mean two things is refused, and the refusal says what to do instead.</a:t>
            </a:r>
          </a:p>
          <a:p/>
          <a:p>
            <a:r>
              <a:t>Click by click.</a:t>
            </a:r>
          </a:p>
          <a:p>
            <a:r>
              <a:t>1. get_ddg needs the program dependency graph. Asked of a symbol-table analysis, it raises, and the message names the level asked for and the level built.</a:t>
            </a:r>
          </a:p>
          <a:p>
            <a:r>
              <a:t>2. Why it raises: an empty list would look exactly like a callable with no dependence, so the library refuses rather than mislead.</a:t>
            </a:r>
          </a:p>
          <a:p>
            <a:r>
              <a:t>3. The closing: below the level a question needs, the answer is an error, never an empty result.</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one Bandit alert, B608 at line 46 of BenchmarkTest00099.py, through the actions a classifier needs: locate, read, callers and callees, and dataflow.</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Bandit 1.9.4 reports B608 at line 46 of testcode/BenchmarkTest00099.py, the f-string that builds the SQL query, and locate returns the enclosing handler with its full signature. The two other outcomes come from hw2/captures/checks.py, run the same day: line 1 of app.py gives callable None and the diagnostic module_scope, "line 1 is at module scope in app.py.", and a file that does not exist gives callable None and file_not_in_graph, "is not covered by any analysed module". The result also carries node_id, the statement's own id, which the next slide uses.</a:t>
            </a:r>
          </a:p>
          <a:p/>
          <a:p>
            <a:r>
              <a:t>Click by click.</a:t>
            </a:r>
          </a:p>
          <a:p>
            <a:r>
              <a:t>1. The input is exactly what a scanner alert carries: a path relative to the checkout and a line number.</a:t>
            </a:r>
          </a:p>
          <a:p>
            <a:r>
              <a:t>2. The output arrives: the full signature, testcode.BenchmarkTest00099.init.BenchmarkTest00099_post, because the handler is nested in init, and the source starts at its def line.</a:t>
            </a:r>
          </a:p>
          <a:p>
            <a:r>
              <a:t>3. Outside any callable the answer is still unambiguous: callable is None, and a diagnostic says module scope or file not in the graph.</a:t>
            </a:r>
          </a:p>
          <a:p>
            <a:r>
              <a:t>4. The closing: an alert's file and line become the name that the rest of the API takes.</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Bandit 1.9.4 reports B608 at line 46 of testcode/BenchmarkTest00099.py, the f-string that builds the SQL query, and locate returns the enclosing handler with its full signature. The two other outcomes come from hw2/captures/checks.py, run the same day: line 1 of app.py gives callable None and the diagnostic module_scope, "line 1 is at module scope in app.py.", and a file that does not exist gives callable None and file_not_in_graph, "is not covered by any analysed module". The result also carries node_id, the statement's own id, which the next slide uses.</a:t>
            </a:r>
          </a:p>
          <a:p/>
          <a:p>
            <a:r>
              <a:t>Click by click.</a:t>
            </a:r>
          </a:p>
          <a:p>
            <a:r>
              <a:t>1. The input is exactly what a scanner alert carries: a path relative to the checkout and a line number.</a:t>
            </a:r>
          </a:p>
          <a:p>
            <a:r>
              <a:t>2. The output arrives: the full signature, testcode.BenchmarkTest00099.init.BenchmarkTest00099_post, because the handler is nested in init, and the source starts at its def line.</a:t>
            </a:r>
          </a:p>
          <a:p>
            <a:r>
              <a:t>3. Outside any callable the answer is still unambiguous: callable is None, and a diagnostic says module scope or file not in the graph.</a:t>
            </a:r>
          </a:p>
          <a:p>
            <a:r>
              <a:t>4. The closing: an alert's file and line become the name that the rest of the API takes.</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Bandit 1.9.4 reports B608 at line 46 of testcode/BenchmarkTest00099.py, the f-string that builds the SQL query, and locate returns the enclosing handler with its full signature. The two other outcomes come from hw2/captures/checks.py, run the same day: line 1 of app.py gives callable None and the diagnostic module_scope, "line 1 is at module scope in app.py.", and a file that does not exist gives callable None and file_not_in_graph, "is not covered by any analysed module". The result also carries node_id, the statement's own id, which the next slide uses.</a:t>
            </a:r>
          </a:p>
          <a:p/>
          <a:p>
            <a:r>
              <a:t>Click by click.</a:t>
            </a:r>
          </a:p>
          <a:p>
            <a:r>
              <a:t>1. The input is exactly what a scanner alert carries: a path relative to the checkout and a line number.</a:t>
            </a:r>
          </a:p>
          <a:p>
            <a:r>
              <a:t>2. The output arrives: the full signature, testcode.BenchmarkTest00099.init.BenchmarkTest00099_post, because the handler is nested in init, and the source starts at its def line.</a:t>
            </a:r>
          </a:p>
          <a:p>
            <a:r>
              <a:t>3. Outside any callable the answer is still unambiguous: callable is None, and a diagnostic says module scope or file not in the graph.</a:t>
            </a:r>
          </a:p>
          <a:p>
            <a:r>
              <a:t>4. The closing: an alert's file and line become the name that the rest of the API takes.</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Bandit 1.9.4 reports B608 at line 46 of testcode/BenchmarkTest00099.py, the f-string that builds the SQL query, and locate returns the enclosing handler with its full signature. The two other outcomes come from hw2/captures/checks.py, run the same day: line 1 of app.py gives callable None and the diagnostic module_scope, "line 1 is at module scope in app.py.", and a file that does not exist gives callable None and file_not_in_graph, "is not covered by any analysed module". The result also carries node_id, the statement's own id, which the next slide uses.</a:t>
            </a:r>
          </a:p>
          <a:p/>
          <a:p>
            <a:r>
              <a:t>Click by click.</a:t>
            </a:r>
          </a:p>
          <a:p>
            <a:r>
              <a:t>1. The input is exactly what a scanner alert carries: a path relative to the checkout and a line number.</a:t>
            </a:r>
          </a:p>
          <a:p>
            <a:r>
              <a:t>2. The output arrives: the full signature, testcode.BenchmarkTest00099.init.BenchmarkTest00099_post, because the handler is nested in init, and the source starts at its def line.</a:t>
            </a:r>
          </a:p>
          <a:p>
            <a:r>
              <a:t>3. Outside any callable the answer is still unambiguous: callable is None, and a diagnostic says module scope or file not in the graph.</a:t>
            </a:r>
          </a:p>
          <a:p>
            <a:r>
              <a:t>4. The closing: an alert's file and line become the name that the rest of the API takes.</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the output is the first eight of the body's 28 lines, and the SQL string is line 19 of the body, line 46 of the file. From hw2/captures/checks.py, the same day: get_method_bodies of an unknown signature returns {}, an empty dict, and get_source with the node_id that locate returned gives sql = f'SELECT username from USERS where password = \'{bar}\''. The body is what the agent should read: HW1's read rule allows the open case and no other, and the whole file would also carry the GET handler.</a:t>
            </a:r>
          </a:p>
          <a:p/>
          <a:p>
            <a:r>
              <a:t>Click by click.</a:t>
            </a:r>
          </a:p>
          <a:p>
            <a:r>
              <a:t>1. get_method_bodies is a bulk call: a list of signatures in, a dict keyed by signature out. The output shows the handler's first lines.</a:t>
            </a:r>
          </a:p>
          <a:p>
            <a:r>
              <a:t>2. A signature without a body is left out of the dict rather than mapped to None, so the agent tests membership first.</a:t>
            </a:r>
          </a:p>
          <a:p>
            <a:r>
              <a:t>3. Below the callable, get_source with the node id from locate returns the single statement, here the f-string at line 46.</a:t>
            </a:r>
          </a:p>
          <a:p>
            <a:r>
              <a:t>4. The closing: the agent reads the function the alert names and nothing else, which is HW1's read rule.</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the output is the first eight of the body's 28 lines, and the SQL string is line 19 of the body, line 46 of the file. From hw2/captures/checks.py, the same day: get_method_bodies of an unknown signature returns {}, an empty dict, and get_source with the node_id that locate returned gives sql = f'SELECT username from USERS where password = \'{bar}\''. The body is what the agent should read: HW1's read rule allows the open case and no other, and the whole file would also carry the GET handler.</a:t>
            </a:r>
          </a:p>
          <a:p/>
          <a:p>
            <a:r>
              <a:t>Click by click.</a:t>
            </a:r>
          </a:p>
          <a:p>
            <a:r>
              <a:t>1. get_method_bodies is a bulk call: a list of signatures in, a dict keyed by signature out. The output shows the handler's first lines.</a:t>
            </a:r>
          </a:p>
          <a:p>
            <a:r>
              <a:t>2. A signature without a body is left out of the dict rather than mapped to None, so the agent tests membership first.</a:t>
            </a:r>
          </a:p>
          <a:p>
            <a:r>
              <a:t>3. Below the callable, get_source with the node id from locate returns the single statement, here the f-string at line 46.</a:t>
            </a:r>
          </a:p>
          <a:p>
            <a:r>
              <a:t>4. The closing: the agent reads the function the alert names and nothing else, which is HW1's read rule.</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the output is the first eight of the body's 28 lines, and the SQL string is line 19 of the body, line 46 of the file. From hw2/captures/checks.py, the same day: get_method_bodies of an unknown signature returns {}, an empty dict, and get_source with the node_id that locate returned gives sql = f'SELECT username from USERS where password = \'{bar}\''. The body is what the agent should read: HW1's read rule allows the open case and no other, and the whole file would also carry the GET handler.</a:t>
            </a:r>
          </a:p>
          <a:p/>
          <a:p>
            <a:r>
              <a:t>Click by click.</a:t>
            </a:r>
          </a:p>
          <a:p>
            <a:r>
              <a:t>1. get_method_bodies is a bulk call: a list of signatures in, a dict keyed by signature out. The output shows the handler's first lines.</a:t>
            </a:r>
          </a:p>
          <a:p>
            <a:r>
              <a:t>2. A signature without a body is left out of the dict rather than mapped to None, so the agent tests membership first.</a:t>
            </a:r>
          </a:p>
          <a:p>
            <a:r>
              <a:t>3. Below the callable, get_source with the node id from locate returns the single statement, here the f-string at line 46.</a:t>
            </a:r>
          </a:p>
          <a:p>
            <a:r>
              <a:t>4. The closing: the agent reads the function the alert names and nothing else, which is HW1's read rule.</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2 of cldk-mcp.ipynb, captured on 2026-10-16 by hw2/captures/capture.py, which executes the notebook headless in the lecture's .venv (Python 3.12, cldk 2.0.0, codeanalyzer-python 1.5.3, mcp 2.3.0); the output is the first eight of the body's 28 lines, and the SQL string is line 19 of the body, line 46 of the file. From hw2/captures/checks.py, the same day: get_method_bodies of an unknown signature returns {}, an empty dict, and get_source with the node_id that locate returned gives sql = f'SELECT username from USERS where password = \'{bar}\''. The body is what the agent should read: HW1's read rule allows the open case and no other, and the whole file would also carry the GET handler.</a:t>
            </a:r>
          </a:p>
          <a:p/>
          <a:p>
            <a:r>
              <a:t>Click by click.</a:t>
            </a:r>
          </a:p>
          <a:p>
            <a:r>
              <a:t>1. get_method_bodies is a bulk call: a list of signatures in, a dict keyed by signature out. The output shows the handler's first lines.</a:t>
            </a:r>
          </a:p>
          <a:p>
            <a:r>
              <a:t>2. A signature without a body is left out of the dict rather than mapped to None, so the agent tests membership first.</a:t>
            </a:r>
          </a:p>
          <a:p>
            <a:r>
              <a:t>3. Below the callable, get_source with the node id from locate returns the single statement, here the f-string at line 46.</a:t>
            </a:r>
          </a:p>
          <a:p>
            <a:r>
              <a:t>4. The closing: the agent reads the function the alert names and nothing else, which is HW1's read rule.</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action 3 cell of cldk-mcp.ipynb, section 2, captured on 2026-10-16 by hw2/captures/capture.py, which executes the notebook headless in the lecture's .venv (Python 3.12, cldk 2.0.0, codeanalyzer-python 1.5.3, mcp 2.3.0). It runs on the same analysis object after the same locate. callees_of lists what BenchmarkTest00099_post calls: an external callee comes back with an empty file and line 0, and the two in the checkout carry their file and line. 74 callables call get_safe_value, the helper in helpers/separate_request.py that returns the constant "bar", so the value a case takes from it carries nothing from the request. checks.py lists them: the _post handlers of BenchmarkTest01103 to BenchmarkTest01230. None is in HW1's scan scope, BenchmarkTest000*.py. From hw2/captures/checks.py, the same day: callers_of('execute') raises SelectorNotInGraph: 1 of 1 callable not in graph: 'execute', and callers_of('init') raises AmbiguousName because 1,230 callables match, with the hint to narrow by in_module or more of the dotted path.</a:t>
            </a:r>
          </a:p>
          <a:p/>
          <a:p>
            <a:r>
              <a:t>Click by click.</a:t>
            </a:r>
          </a:p>
          <a:p>
            <a:r>
              <a:t>1. callers_of answers for callables declared in the checkout, and an external name raises. callees_of includes externals: Cursor.execute is the sink Bandit worried about. Then the callers line: 74 handlers call the helper.</a:t>
            </a:r>
          </a:p>
          <a:p>
            <a:r>
              <a:t>2. A bare name such as init matches 1,230 callables, one per case, so CLDK raises with the candidates instead of picking one.</a:t>
            </a:r>
          </a:p>
          <a:p>
            <a:r>
              <a:t>3. The closing: one call tells the agent which cases depend on the constant helper.</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action 3 cell of cldk-mcp.ipynb, section 2, captured on 2026-10-16 by hw2/captures/capture.py, which executes the notebook headless in the lecture's .venv (Python 3.12, cldk 2.0.0, codeanalyzer-python 1.5.3, mcp 2.3.0). It runs on the same analysis object after the same locate. callees_of lists what BenchmarkTest00099_post calls: an external callee comes back with an empty file and line 0, and the two in the checkout carry their file and line. 74 callables call get_safe_value, the helper in helpers/separate_request.py that returns the constant "bar", so the value a case takes from it carries nothing from the request. checks.py lists them: the _post handlers of BenchmarkTest01103 to BenchmarkTest01230. None is in HW1's scan scope, BenchmarkTest000*.py. From hw2/captures/checks.py, the same day: callers_of('execute') raises SelectorNotInGraph: 1 of 1 callable not in graph: 'execute', and callers_of('init') raises AmbiguousName because 1,230 callables match, with the hint to narrow by in_module or more of the dotted path.</a:t>
            </a:r>
          </a:p>
          <a:p/>
          <a:p>
            <a:r>
              <a:t>Click by click.</a:t>
            </a:r>
          </a:p>
          <a:p>
            <a:r>
              <a:t>1. callers_of answers for callables declared in the checkout, and an external name raises. callees_of includes externals: Cursor.execute is the sink Bandit worried about. Then the callers line: 74 handlers call the helper.</a:t>
            </a:r>
          </a:p>
          <a:p>
            <a:r>
              <a:t>2. A bare name such as init matches 1,230 callables, one per case, so CLDK raises with the candidates instead of picking one.</a:t>
            </a:r>
          </a:p>
          <a:p>
            <a:r>
              <a:t>3. The closing: one call tells the agent which cases depend on the constant helper.</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action 3 cell of cldk-mcp.ipynb, section 2, captured on 2026-10-16 by hw2/captures/capture.py, which executes the notebook headless in the lecture's .venv (Python 3.12, cldk 2.0.0, codeanalyzer-python 1.5.3, mcp 2.3.0). It runs on the same analysis object after the same locate. callees_of lists what BenchmarkTest00099_post calls: an external callee comes back with an empty file and line 0, and the two in the checkout carry their file and line. 74 callables call get_safe_value, the helper in helpers/separate_request.py that returns the constant "bar", so the value a case takes from it carries nothing from the request. checks.py lists them: the _post handlers of BenchmarkTest01103 to BenchmarkTest01230. None is in HW1's scan scope, BenchmarkTest000*.py. From hw2/captures/checks.py, the same day: callers_of('execute') raises SelectorNotInGraph: 1 of 1 callable not in graph: 'execute', and callers_of('init') raises AmbiguousName because 1,230 callables match, with the hint to narrow by in_module or more of the dotted path.</a:t>
            </a:r>
          </a:p>
          <a:p/>
          <a:p>
            <a:r>
              <a:t>Click by click.</a:t>
            </a:r>
          </a:p>
          <a:p>
            <a:r>
              <a:t>1. callers_of answers for callables declared in the checkout, and an external name raises. callees_of includes externals: Cursor.execute is the sink Bandit worried about. Then the callers line: 74 handlers call the helper.</a:t>
            </a:r>
          </a:p>
          <a:p>
            <a:r>
              <a:t>2. A bare name such as init matches 1,230 callables, one per case, so CLDK raises with the candidates instead of picking one.</a:t>
            </a:r>
          </a:p>
          <a:p>
            <a:r>
              <a:t>3. The closing: one call tells the agent which cases depend on the constant helper.</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marks 00099 true and 00011 and 00012 false. The edges in the figure are those of get_ddg at the program-dependency-graph level, measured on 2026-10-15 with CLDK 2.0.0rc8 and again with 2.0.0 (codeanalyzer-python 1.5.3), which gave identical edges (slides/figures/hw2/src/check-dataflow.py asserts them). In 00099 the request value at line 31 reaches the SQL string at line 46 through param, the config object and bar, and the execute call at line 49 through sql. In 00011 the value at line 39 reaches the call at line 50 through bar and never the string at line 47; 00012 behaves the same through its string slicing. The next slide is the code that finds these paths.</a:t>
            </a:r>
          </a:p>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marks 00099 true and 00011 and 00012 false. The edges in the figure are those of get_ddg at the program-dependency-graph level, measured on 2026-10-15 with CLDK 2.0.0rc8 and again with 2.0.0 (codeanalyzer-python 1.5.3), which gave identical edges (slides/figures/hw2/src/check-dataflow.py asserts them). In 00099 the request value at line 31 reaches the SQL string at line 46 through param, the config object and bar, and the execute call at line 49 through sql. In 00011 the value at line 39 reaches the call at line 50 through bar and never the string at line 47; 00012 behaves the same through its string slicing. The next slide is the code that finds these paths.</a:t>
            </a:r>
          </a:p>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marks 00099 true and 00011 and 00012 false. The edges in the figure are those of get_ddg at the program-dependency-graph level, measured on 2026-10-15 with CLDK 2.0.0rc8 and again with 2.0.0 (codeanalyzer-python 1.5.3), which gave identical edges (slides/figures/hw2/src/check-dataflow.py asserts them). In 00099 the request value at line 31 reaches the SQL string at line 46 through param, the config object and bar, and the execute call at line 49 through sql. In 00011 the value at line 39 reaches the call at line 50 through bar and never the string at line 47; 00012 behaves the same through its string slicing. The next slide is the code that finds these paths.</a:t>
            </a:r>
          </a:p>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marks 00099 true and 00011 and 00012 false. The edges in the figure are those of get_ddg at the program-dependency-graph level, measured on 2026-10-15 with CLDK 2.0.0rc8 and again with 2.0.0 (codeanalyzer-python 1.5.3), which gave identical edges (slides/figures/hw2/src/check-dataflow.py asserts them). In 00099 the request value at line 31 reaches the SQL string at line 46 through param, the config object and bar, and the execute call at line 49 through sql. In 00011 the value at line 39 reaches the call at line 50 through bar and never the string at line 47; 00012 behaves the same through its string slicing. The next slide is the code that finds these paths.</a:t>
            </a:r>
          </a:p>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marks 00099 true and 00011 and 00012 false. The edges in the figure are those of get_ddg at the program-dependency-graph level, measured on 2026-10-15 with CLDK 2.0.0rc8 and again with 2.0.0 (codeanalyzer-python 1.5.3), which gave identical edges (slides/figures/hw2/src/check-dataflow.py asserts them). In 00099 the request value at line 31 reaches the SQL string at line 46 through param, the config object and bar, and the execute call at line 49 through sql. In 00011 the value at line 39 reaches the call at line 50 through bar and never the string at line 47; 00012 behaves the same through its string slicing. The next slide is the code that finds these paths.</a:t>
            </a:r>
          </a:p>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reaches function of cldk-mcp.ipynb, section 2; the output is its four calls in sections 2 and 3, captured on 2026-10-16 by hw2/captures/capture.py, which executes the notebook headless in the lecture's .venv (Python 3.12, cldk 2.0.0, codeanalyzer-python 1.5.3, mcp 2.3.0). Each DDG edge names a source node and a target node, whose ids end in @line:col, and the variable that flows; reaches keeps the line, builds a networkx DiGraph and asks for a path. The four calls printed: 00099: request (31) -&gt; sql string (46): (['31', '41', '42', '46'], ['param', 'conf52528.get', 'bar']); 00099: request (31) -&gt; execute (49):    (['31', '41', '42', '46', '49'], ['param', 'conf52528.get', 'bar', 'sql']); 00011: request (39) -&gt; sql string (47): (None, None); 00011: request (39) -&gt; execute (50):    (['39', '43', '50'], ['param', 'bar']). The window shows the two that ask about the SQL string. CLDK's value-name predicates (resolve_value, flows_to_argument, taint) resolve parameters, captured globals and closure captures, so for a local variable such as bar the per-callable get_ddg is the dependable call. CLDK's own reaches method answers a different question, whether one callable can call another.</a:t>
            </a:r>
          </a:p>
          <a:p/>
          <a:p>
            <a:r>
              <a:t>Click by click.</a:t>
            </a:r>
          </a:p>
          <a:p>
            <a:r>
              <a:t>1. The code: the helper takes a handler and two lines, keys the dependence edges by line, and asks networkx for a path.</a:t>
            </a:r>
          </a:p>
          <a:p>
            <a:r>
              <a:t>2. The output arrives: 00099 has a path from the request to the SQL string, 00011 has none, and both reach their execute call.</a:t>
            </a:r>
          </a:p>
          <a:p>
            <a:r>
              <a:t>3. Why not a higher-level predicate: resolve_value and flows_to_argument resolve parameters, globals and captures, and bar is a local.</a:t>
            </a:r>
          </a:p>
          <a:p>
            <a:r>
              <a:t>4. The closing: the classifier's question is a path search, and only the true positive has the path.</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reaches function of cldk-mcp.ipynb, section 2; the output is its four calls in sections 2 and 3, captured on 2026-10-16 by hw2/captures/capture.py, which executes the notebook headless in the lecture's .venv (Python 3.12, cldk 2.0.0, codeanalyzer-python 1.5.3, mcp 2.3.0). Each DDG edge names a source node and a target node, whose ids end in @line:col, and the variable that flows; reaches keeps the line, builds a networkx DiGraph and asks for a path. The four calls printed: 00099: request (31) -&gt; sql string (46): (['31', '41', '42', '46'], ['param', 'conf52528.get', 'bar']); 00099: request (31) -&gt; execute (49):    (['31', '41', '42', '46', '49'], ['param', 'conf52528.get', 'bar', 'sql']); 00011: request (39) -&gt; sql string (47): (None, None); 00011: request (39) -&gt; execute (50):    (['39', '43', '50'], ['param', 'bar']). The window shows the two that ask about the SQL string. CLDK's value-name predicates (resolve_value, flows_to_argument, taint) resolve parameters, captured globals and closure captures, so for a local variable such as bar the per-callable get_ddg is the dependable call. CLDK's own reaches method answers a different question, whether one callable can call another.</a:t>
            </a:r>
          </a:p>
          <a:p/>
          <a:p>
            <a:r>
              <a:t>Click by click.</a:t>
            </a:r>
          </a:p>
          <a:p>
            <a:r>
              <a:t>1. The code: the helper takes a handler and two lines, keys the dependence edges by line, and asks networkx for a path.</a:t>
            </a:r>
          </a:p>
          <a:p>
            <a:r>
              <a:t>2. The output arrives: 00099 has a path from the request to the SQL string, 00011 has none, and both reach their execute call.</a:t>
            </a:r>
          </a:p>
          <a:p>
            <a:r>
              <a:t>3. Why not a higher-level predicate: resolve_value and flows_to_argument resolve parameters, globals and captures, and bar is a local.</a:t>
            </a:r>
          </a:p>
          <a:p>
            <a:r>
              <a:t>4. The closing: the classifier's question is a path search, and only the true positive has the path.</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reaches function of cldk-mcp.ipynb, section 2; the output is its four calls in sections 2 and 3, captured on 2026-10-16 by hw2/captures/capture.py, which executes the notebook headless in the lecture's .venv (Python 3.12, cldk 2.0.0, codeanalyzer-python 1.5.3, mcp 2.3.0). Each DDG edge names a source node and a target node, whose ids end in @line:col, and the variable that flows; reaches keeps the line, builds a networkx DiGraph and asks for a path. The four calls printed: 00099: request (31) -&gt; sql string (46): (['31', '41', '42', '46'], ['param', 'conf52528.get', 'bar']); 00099: request (31) -&gt; execute (49):    (['31', '41', '42', '46', '49'], ['param', 'conf52528.get', 'bar', 'sql']); 00011: request (39) -&gt; sql string (47): (None, None); 00011: request (39) -&gt; execute (50):    (['39', '43', '50'], ['param', 'bar']). The window shows the two that ask about the SQL string. CLDK's value-name predicates (resolve_value, flows_to_argument, taint) resolve parameters, captured globals and closure captures, so for a local variable such as bar the per-callable get_ddg is the dependable call. CLDK's own reaches method answers a different question, whether one callable can call another.</a:t>
            </a:r>
          </a:p>
          <a:p/>
          <a:p>
            <a:r>
              <a:t>Click by click.</a:t>
            </a:r>
          </a:p>
          <a:p>
            <a:r>
              <a:t>1. The code: the helper takes a handler and two lines, keys the dependence edges by line, and asks networkx for a path.</a:t>
            </a:r>
          </a:p>
          <a:p>
            <a:r>
              <a:t>2. The output arrives: 00099 has a path from the request to the SQL string, 00011 has none, and both reach their execute call.</a:t>
            </a:r>
          </a:p>
          <a:p>
            <a:r>
              <a:t>3. Why not a higher-level predicate: resolve_value and flows_to_argument resolve parameters, globals and captures, and bar is a local.</a:t>
            </a:r>
          </a:p>
          <a:p>
            <a:r>
              <a:t>4. The closing: the classifier's question is a path search, and only the true positive has the path.</a:t>
            </a:r>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reaches function of cldk-mcp.ipynb, section 2; the output is its four calls in sections 2 and 3, captured on 2026-10-16 by hw2/captures/capture.py, which executes the notebook headless in the lecture's .venv (Python 3.12, cldk 2.0.0, codeanalyzer-python 1.5.3, mcp 2.3.0). Each DDG edge names a source node and a target node, whose ids end in @line:col, and the variable that flows; reaches keeps the line, builds a networkx DiGraph and asks for a path. The four calls printed: 00099: request (31) -&gt; sql string (46): (['31', '41', '42', '46'], ['param', 'conf52528.get', 'bar']); 00099: request (31) -&gt; execute (49):    (['31', '41', '42', '46', '49'], ['param', 'conf52528.get', 'bar', 'sql']); 00011: request (39) -&gt; sql string (47): (None, None); 00011: request (39) -&gt; execute (50):    (['39', '43', '50'], ['param', 'bar']). The window shows the two that ask about the SQL string. CLDK's value-name predicates (resolve_value, flows_to_argument, taint) resolve parameters, captured globals and closure captures, so for a local variable such as bar the per-callable get_ddg is the dependable call. CLDK's own reaches method answers a different question, whether one callable can call another.</a:t>
            </a:r>
          </a:p>
          <a:p/>
          <a:p>
            <a:r>
              <a:t>Click by click.</a:t>
            </a:r>
          </a:p>
          <a:p>
            <a:r>
              <a:t>1. The code: the helper takes a handler and two lines, keys the dependence edges by line, and asks networkx for a path.</a:t>
            </a:r>
          </a:p>
          <a:p>
            <a:r>
              <a:t>2. The output arrives: 00099 has a path from the request to the SQL string, 00011 has none, and both reach their execute call.</a:t>
            </a:r>
          </a:p>
          <a:p>
            <a:r>
              <a:t>3. Why not a higher-level predicate: resolve_value and flows_to_argument resolve parameters, globals and captures, and bar is a local.</a:t>
            </a:r>
          </a:p>
          <a:p>
            <a:r>
              <a:t>4. The closing: the classifier's question is a path search, and only the true positive has the path.</a:t>
            </a:r>
          </a:p>
        </p:txBody>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4 of cldk-mcp.ipynb, captured on 2026-10-16 by hw2/captures/capture.py, which executes the notebook headless in the lecture's .venv (Python 3.12, cldk 2.0.0, codeanalyzer-python 1.5.3, mcp 2.3.0). get_entrypoints returns 2,463 entry points, and get_entrypoint_coverage reports the frameworks it detected, click and flask, and 2,460 app.route decorators it could not resolve; its own docstring says the detection pass under-approximates by design, so silence is its failure mode. An empty list from get_entrypoints cannot tell "none" from "missed", and the coverage can. has_resolution_edges says whether get_callsites_for can resolve call sites on this backend; checks.py prints True on the local backend, and the flag is false only on a Neo4j graph built below the level where resolution runs.</a:t>
            </a:r>
          </a:p>
          <a:p/>
          <a:p>
            <a:r>
              <a:t>Click by click.</a:t>
            </a:r>
          </a:p>
          <a:p>
            <a:r>
              <a:t>1. The output: thousands of entry points, and nearly as many route decorators left unresolved, so a short list would say little.</a:t>
            </a:r>
          </a:p>
          <a:p>
            <a:r>
              <a:t>2. The rule: read the diagnostics and the coverage before an empty answer becomes a no.</a:t>
            </a:r>
          </a:p>
          <a:p>
            <a:r>
              <a:t>3. The same rule for call sites: has_resolution_edges explains a None callee before the agent reads it as unresolved.</a:t>
            </a:r>
          </a:p>
          <a:p>
            <a:r>
              <a:t>4. The closing: an answer that could mean two things is a defect, so the agent asks which.</a:t>
            </a: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4 of cldk-mcp.ipynb, captured on 2026-10-16 by hw2/captures/capture.py, which executes the notebook headless in the lecture's .venv (Python 3.12, cldk 2.0.0, codeanalyzer-python 1.5.3, mcp 2.3.0). get_entrypoints returns 2,463 entry points, and get_entrypoint_coverage reports the frameworks it detected, click and flask, and 2,460 app.route decorators it could not resolve; its own docstring says the detection pass under-approximates by design, so silence is its failure mode. An empty list from get_entrypoints cannot tell "none" from "missed", and the coverage can. has_resolution_edges says whether get_callsites_for can resolve call sites on this backend; checks.py prints True on the local backend, and the flag is false only on a Neo4j graph built below the level where resolution runs.</a:t>
            </a:r>
          </a:p>
          <a:p/>
          <a:p>
            <a:r>
              <a:t>Click by click.</a:t>
            </a:r>
          </a:p>
          <a:p>
            <a:r>
              <a:t>1. The output: thousands of entry points, and nearly as many route decorators left unresolved, so a short list would say little.</a:t>
            </a:r>
          </a:p>
          <a:p>
            <a:r>
              <a:t>2. The rule: read the diagnostics and the coverage before an empty answer becomes a no.</a:t>
            </a:r>
          </a:p>
          <a:p>
            <a:r>
              <a:t>3. The same rule for call sites: has_resolution_edges explains a None callee before the agent reads it as unresolved.</a:t>
            </a:r>
          </a:p>
          <a:p>
            <a:r>
              <a:t>4. The closing: an answer that could mean two things is a defect, so the agent asks which.</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4 of cldk-mcp.ipynb, captured on 2026-10-16 by hw2/captures/capture.py, which executes the notebook headless in the lecture's .venv (Python 3.12, cldk 2.0.0, codeanalyzer-python 1.5.3, mcp 2.3.0). get_entrypoints returns 2,463 entry points, and get_entrypoint_coverage reports the frameworks it detected, click and flask, and 2,460 app.route decorators it could not resolve; its own docstring says the detection pass under-approximates by design, so silence is its failure mode. An empty list from get_entrypoints cannot tell "none" from "missed", and the coverage can. has_resolution_edges says whether get_callsites_for can resolve call sites on this backend; checks.py prints True on the local backend, and the flag is false only on a Neo4j graph built below the level where resolution runs.</a:t>
            </a:r>
          </a:p>
          <a:p/>
          <a:p>
            <a:r>
              <a:t>Click by click.</a:t>
            </a:r>
          </a:p>
          <a:p>
            <a:r>
              <a:t>1. The output: thousands of entry points, and nearly as many route decorators left unresolved, so a short list would say little.</a:t>
            </a:r>
          </a:p>
          <a:p>
            <a:r>
              <a:t>2. The rule: read the diagnostics and the coverage before an empty answer becomes a no.</a:t>
            </a:r>
          </a:p>
          <a:p>
            <a:r>
              <a:t>3. The same rule for call sites: has_resolution_edges explains a None callee before the agent reads it as unresolved.</a:t>
            </a:r>
          </a:p>
          <a:p>
            <a:r>
              <a:t>4. The closing: an answer that could mean two things is a defect, so the agent asks which.</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section 4 of cldk-mcp.ipynb, captured on 2026-10-16 by hw2/captures/capture.py, which executes the notebook headless in the lecture's .venv (Python 3.12, cldk 2.0.0, codeanalyzer-python 1.5.3, mcp 2.3.0). get_entrypoints returns 2,463 entry points, and get_entrypoint_coverage reports the frameworks it detected, click and flask, and 2,460 app.route decorators it could not resolve; its own docstring says the detection pass under-approximates by design, so silence is its failure mode. An empty list from get_entrypoints cannot tell "none" from "missed", and the coverage can. has_resolution_edges says whether get_callsites_for can resolve call sites on this backend; checks.py prints True on the local backend, and the flag is false only on a Neo4j graph built below the level where resolution runs.</a:t>
            </a:r>
          </a:p>
          <a:p/>
          <a:p>
            <a:r>
              <a:t>Click by click.</a:t>
            </a:r>
          </a:p>
          <a:p>
            <a:r>
              <a:t>1. The output: thousands of entry points, and nearly as many route decorators left unresolved, so a short list would say little.</a:t>
            </a:r>
          </a:p>
          <a:p>
            <a:r>
              <a:t>2. The rule: read the diagnostics and the coverage before an empty answer becomes a no.</a:t>
            </a:r>
          </a:p>
          <a:p>
            <a:r>
              <a:t>3. The same rule for call sites: has_resolution_edges explains a None callee before the agent reads it as unresolved.</a:t>
            </a:r>
          </a:p>
          <a:p>
            <a:r>
              <a:t>4. The closing: an answer that could mean two things is a defect, so the agent asks which.</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serve the same actions as MCP tools, the pattern each team's server follows in HW2.</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cldk-demo/server.py as section 5 of cldk-mcp.ipynb writes it, on the MCP Python SDK 2.3.0 (MCPServer from mcp.server, ToolError from mcp.server.mcpserver.exceptions), blank lines left out. The server builds one CLDK object, AN, when it starts. checked() resolves a path against the checkout and raises ToolError for anything outside it or not a file. The SDK derives the input schema from the signature (path a string, line an integer) and, because the return type is the TypedDict Located, an output schema titled Located; tools/list carries both, as the Inspector shows. Lecture 5's rule holds: only argument and result shapes are enforced, and the description is text for the model.</a:t>
            </a:r>
          </a:p>
          <a:p/>
          <a:p>
            <a:r>
              <a:t>Click by click.</a:t>
            </a:r>
          </a:p>
          <a:p>
            <a:r>
              <a:t>1. MCPServer and the decorator: the function's name, its description string and its typed signature become the tool's contract, and Located becomes the result schema.</a:t>
            </a:r>
          </a:p>
          <a:p>
            <a:r>
              <a:t>2. ToolError: the path check refuses a path outside the checkout, and the client sees an error result instead of a crash.</a:t>
            </a:r>
          </a:p>
          <a:p>
            <a:r>
              <a:t>3. The closing: the server checks shapes, and nothing checks what the description promises.</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cldk-demo/server.py as section 5 of cldk-mcp.ipynb writes it, on the MCP Python SDK 2.3.0 (MCPServer from mcp.server, ToolError from mcp.server.mcpserver.exceptions), blank lines left out. The server builds one CLDK object, AN, when it starts. checked() resolves a path against the checkout and raises ToolError for anything outside it or not a file. The SDK derives the input schema from the signature (path a string, line an integer) and, because the return type is the TypedDict Located, an output schema titled Located; tools/list carries both, as the Inspector shows. Lecture 5's rule holds: only argument and result shapes are enforced, and the description is text for the model.</a:t>
            </a:r>
          </a:p>
          <a:p/>
          <a:p>
            <a:r>
              <a:t>Click by click.</a:t>
            </a:r>
          </a:p>
          <a:p>
            <a:r>
              <a:t>1. MCPServer and the decorator: the function's name, its description string and its typed signature become the tool's contract, and Located becomes the result schema.</a:t>
            </a:r>
          </a:p>
          <a:p>
            <a:r>
              <a:t>2. ToolError: the path check refuses a path outside the checkout, and the client sees an error result instead of a crash.</a:t>
            </a:r>
          </a:p>
          <a:p>
            <a:r>
              <a:t>3. The closing: the server checks shapes, and nothing checks what the description promises.</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cldk-demo/server.py as section 5 of cldk-mcp.ipynb writes it, on the MCP Python SDK 2.3.0 (MCPServer from mcp.server, ToolError from mcp.server.mcpserver.exceptions), blank lines left out. The server builds one CLDK object, AN, when it starts. checked() resolves a path against the checkout and raises ToolError for anything outside it or not a file. The SDK derives the input schema from the signature (path a string, line an integer) and, because the return type is the TypedDict Located, an output schema titled Located; tools/list carries both, as the Inspector shows. Lecture 5's rule holds: only argument and result shapes are enforced, and the description is text for the model.</a:t>
            </a:r>
          </a:p>
          <a:p/>
          <a:p>
            <a:r>
              <a:t>Click by click.</a:t>
            </a:r>
          </a:p>
          <a:p>
            <a:r>
              <a:t>1. MCPServer and the decorator: the function's name, its description string and its typed signature become the tool's contract, and Located becomes the result schema.</a:t>
            </a:r>
          </a:p>
          <a:p>
            <a:r>
              <a:t>2. ToolError: the path check refuses a path outside the checkout, and the client sees an error result instead of a crash.</a:t>
            </a:r>
          </a:p>
          <a:p>
            <a:r>
              <a:t>3. The closing: the server checks shapes, and nothing checks what the description promises.</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dataflow tool of cldk-demo/server.py; the Edge TypedDict above it in the file has the three fields the bullet names, so the output schema lists them. The tool addresses the callable by its full signature because a bare name such as init matches 1,230 callables. An edge whose end has no line, such as the entry node, is skipped. Called on line 46 of 00099 it returns 47 edges (hw2/captures/client.py, next segment). The agent does the path search over them, as reaches did, or a team adds a reaches tool on the same edges.</a:t>
            </a:r>
          </a:p>
          <a:p/>
          <a:p>
            <a:r>
              <a:t>Click by click.</a:t>
            </a:r>
          </a:p>
          <a:p>
            <a:r>
              <a:t>1. The tool: locate, then get_ddg by the full signature, one page of up to 2,000 edges, then each edge flattened to two line numbers and the variable, the three fields of the Edge TypedDict.</a:t>
            </a:r>
          </a:p>
          <a:p>
            <a:r>
              <a:t>2. Refusals: a line outside any callable raises ToolError. The search for a path stays with the agent, or with a tool you add.</a:t>
            </a:r>
          </a:p>
          <a:p>
            <a:r>
              <a:t>3. The closing: the four tools share one analysis object, and every answer points at lines of the checkout.</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dataflow tool of cldk-demo/server.py; the Edge TypedDict above it in the file has the three fields the bullet names, so the output schema lists them. The tool addresses the callable by its full signature because a bare name such as init matches 1,230 callables. An edge whose end has no line, such as the entry node, is skipped. Called on line 46 of 00099 it returns 47 edges (hw2/captures/client.py, next segment). The agent does the path search over them, as reaches did, or a team adds a reaches tool on the same edges.</a:t>
            </a:r>
          </a:p>
          <a:p/>
          <a:p>
            <a:r>
              <a:t>Click by click.</a:t>
            </a:r>
          </a:p>
          <a:p>
            <a:r>
              <a:t>1. The tool: locate, then get_ddg by the full signature, one page of up to 2,000 edges, then each edge flattened to two line numbers and the variable, the three fields of the Edge TypedDict.</a:t>
            </a:r>
          </a:p>
          <a:p>
            <a:r>
              <a:t>2. Refusals: a line outside any callable raises ToolError. The search for a path stays with the agent, or with a tool you add.</a:t>
            </a:r>
          </a:p>
          <a:p>
            <a:r>
              <a:t>3. The closing: the four tools share one analysis object, and every answer points at lines of the checkout.</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the dataflow tool of cldk-demo/server.py; the Edge TypedDict above it in the file has the three fields the bullet names, so the output schema lists them. The tool addresses the callable by its full signature because a bare name such as init matches 1,230 callables. An edge whose end has no line, such as the entry node, is skipped. Called on line 46 of 00099 it returns 47 edges (hw2/captures/client.py, next segment). The agent does the path search over them, as reaches did, or a team adds a reaches tool on the same edges.</a:t>
            </a:r>
          </a:p>
          <a:p/>
          <a:p>
            <a:r>
              <a:t>Click by click.</a:t>
            </a:r>
          </a:p>
          <a:p>
            <a:r>
              <a:t>1. The tool: locate, then get_ddg by the full signature, one page of up to 2,000 edges, then each edge flattened to two line numbers and the variable, the three fields of the Edge TypedDict.</a:t>
            </a:r>
          </a:p>
          <a:p>
            <a:r>
              <a:t>2. Refusals: a line outside any callable raises ToolError. The search for a path stays with the agent, or with a tool you add.</a:t>
            </a:r>
          </a:p>
          <a:p>
            <a:r>
              <a:t>3. The closing: the four tools share one analysis object, and every answer points at lines of the checkout.</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live demonstration. Run section 1 of the notebook first: the server attaches when it starts, from the cache section 1 builds, in seconds, and the Inspector gives up on a server that takes longer than 30 seconds to answer (Inspector 2.10.1, its default connectionTimeout, checked on 2026-10-15). Section 6 resolves the two paths, so the catalog holds this Mac's absolute paths and is not committed. The window shows them relative to the lecture folder. In the Inspector: tools/list, then locate on testcode/BenchmarkTest00099.py line 46, dataflow on the same line, and locate on ../expectedresults-0.1.csv, which returns an error result with "refused: ../expectedresults-0.1.csv is not a file of the target". That path leaves the checkout. The answer key inside the checkout, expectedresults-0.1.csv, passes this demo's check; in HW2 the team's server refuses it under the read rule, and the sandbox policy makes it unreadable.</a:t>
            </a:r>
          </a:p>
          <a:p/>
          <a:p>
            <a:r>
              <a:t>Click by click.</a:t>
            </a:r>
          </a:p>
          <a:p>
            <a:r>
              <a:t>1. The catalog: one stdio server, the lecture's Python and server.py. The second window is the command.</a:t>
            </a:r>
          </a:p>
          <a:p>
            <a:r>
              <a:t>2. tools/list shows the four tools with their input and output schemas, locate on line 46 returns the handler, and the refused path comes back as an error result, which is what the model would see.</a:t>
            </a:r>
          </a:p>
          <a:p>
            <a:r>
              <a:t>3. The closing: the Inspector is a host, so what it shows is what our agent's host gets.</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live demonstration. Run section 1 of the notebook first: the server attaches when it starts, from the cache section 1 builds, in seconds, and the Inspector gives up on a server that takes longer than 30 seconds to answer (Inspector 2.10.1, its default connectionTimeout, checked on 2026-10-15). Section 6 resolves the two paths, so the catalog holds this Mac's absolute paths and is not committed. The window shows them relative to the lecture folder. In the Inspector: tools/list, then locate on testcode/BenchmarkTest00099.py line 46, dataflow on the same line, and locate on ../expectedresults-0.1.csv, which returns an error result with "refused: ../expectedresults-0.1.csv is not a file of the target". That path leaves the checkout. The answer key inside the checkout, expectedresults-0.1.csv, passes this demo's check; in HW2 the team's server refuses it under the read rule, and the sandbox policy makes it unreadable.</a:t>
            </a:r>
          </a:p>
          <a:p/>
          <a:p>
            <a:r>
              <a:t>Click by click.</a:t>
            </a:r>
          </a:p>
          <a:p>
            <a:r>
              <a:t>1. The catalog: one stdio server, the lecture's Python and server.py. The second window is the command.</a:t>
            </a:r>
          </a:p>
          <a:p>
            <a:r>
              <a:t>2. tools/list shows the four tools with their input and output schemas, locate on line 46 returns the handler, and the refused path comes back as an error result, which is what the model would see.</a:t>
            </a:r>
          </a:p>
          <a:p>
            <a:r>
              <a:t>3. The closing: the Inspector is a host, so what it shows is what our agent's host gets.</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live demonstration. Run section 1 of the notebook first: the server attaches when it starts, from the cache section 1 builds, in seconds, and the Inspector gives up on a server that takes longer than 30 seconds to answer (Inspector 2.10.1, its default connectionTimeout, checked on 2026-10-15). Section 6 resolves the two paths, so the catalog holds this Mac's absolute paths and is not committed. The window shows them relative to the lecture folder. In the Inspector: tools/list, then locate on testcode/BenchmarkTest00099.py line 46, dataflow on the same line, and locate on ../expectedresults-0.1.csv, which returns an error result with "refused: ../expectedresults-0.1.csv is not a file of the target". That path leaves the checkout. The answer key inside the checkout, expectedresults-0.1.csv, passes this demo's check; in HW2 the team's server refuses it under the read rule, and the sandbox policy makes it unreadable.</a:t>
            </a:r>
          </a:p>
          <a:p/>
          <a:p>
            <a:r>
              <a:t>Click by click.</a:t>
            </a:r>
          </a:p>
          <a:p>
            <a:r>
              <a:t>1. The catalog: one stdio server, the lecture's Python and server.py. The second window is the command.</a:t>
            </a:r>
          </a:p>
          <a:p>
            <a:r>
              <a:t>2. tools/list shows the four tools with their input and output schemas, locate on line 46 returns the handler, and the refused path comes back as an error result, which is what the model would see.</a:t>
            </a:r>
          </a:p>
          <a:p>
            <a:r>
              <a:t>3. The closing: the Inspector is a host, so what it shows is what our agent's host gets.</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call the same API from the two agents HW2 asks for: through an MCP client, and from a script.</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all of hw2/captures/client.py but its docstring, run on 2026-10-16 by hw2/captures/capture.py in the lecture's .venv (Python 3.12, cldk 2.0.0, codeanalyzer-python 1.5.3, mcp 2.3.0). It imports Client from mcp and StdioServerParameters from mcp.client.stdio, names the command that starts cldk-demo/server.py, and runs the four-call check the server was tested with on 2026-10-15. The program and its output do not both fit at 8 pt, so the output is here. It printed four lines: ['locate', 'source', 'callers', 'dataflow']; BenchmarkTest00099_post; 47 edges; line 31 flows to [(32, 'param'), (41, 'param')]; True Error executing tool locate: refused: ../expectedresults-0.1.csv is not a file of the target. That is the four tool names, the callable locate returns, 47 dataflow edges of which two leave line 31, and the refused path with is_error True (isError on the wire). In HW2 the MCP agent's host reads the same command from mcp.json, records a discovery event after tools/list, offers the model the list minus host-only tools such as set_alert, and sends every call through the HW1 dispatcher before the client.</a:t>
            </a:r>
          </a:p>
          <a:p/>
          <a:p>
            <a:r>
              <a:t>Click by click.</a:t>
            </a:r>
          </a:p>
          <a:p>
            <a:r>
              <a:t>1. The host side: mcp.json says how to start the server, and tools/list, minus the host-only tools, is what the model is offered.</a:t>
            </a:r>
          </a:p>
          <a:p>
            <a:r>
              <a:t>2. Every call goes through the dispatcher, then the client. The program printed the names, the located handler, the edges from line 31, and the refusal as an error result with is_error True.</a:t>
            </a:r>
          </a:p>
          <a:p>
            <a:r>
              <a:t>3. The closing: nothing of HW1's dispatcher is thrown away, and the client sits behind it.</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all of hw2/captures/client.py but its docstring, run on 2026-10-16 by hw2/captures/capture.py in the lecture's .venv (Python 3.12, cldk 2.0.0, codeanalyzer-python 1.5.3, mcp 2.3.0). It imports Client from mcp and StdioServerParameters from mcp.client.stdio, names the command that starts cldk-demo/server.py, and runs the four-call check the server was tested with on 2026-10-15. The program and its output do not both fit at 8 pt, so the output is here. It printed four lines: ['locate', 'source', 'callers', 'dataflow']; BenchmarkTest00099_post; 47 edges; line 31 flows to [(32, 'param'), (41, 'param')]; True Error executing tool locate: refused: ../expectedresults-0.1.csv is not a file of the target. That is the four tool names, the callable locate returns, 47 dataflow edges of which two leave line 31, and the refused path with is_error True (isError on the wire). In HW2 the MCP agent's host reads the same command from mcp.json, records a discovery event after tools/list, offers the model the list minus host-only tools such as set_alert, and sends every call through the HW1 dispatcher before the client.</a:t>
            </a:r>
          </a:p>
          <a:p/>
          <a:p>
            <a:r>
              <a:t>Click by click.</a:t>
            </a:r>
          </a:p>
          <a:p>
            <a:r>
              <a:t>1. The host side: mcp.json says how to start the server, and tools/list, minus the host-only tools, is what the model is offered.</a:t>
            </a:r>
          </a:p>
          <a:p>
            <a:r>
              <a:t>2. Every call goes through the dispatcher, then the client. The program printed the names, the located handler, the edges from line 31, and the refusal as an error result with is_error True.</a:t>
            </a:r>
          </a:p>
          <a:p>
            <a:r>
              <a:t>3. The closing: nothing of HW1's dispatcher is thrown away, and the client sits behind it.</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window is all of hw2/captures/client.py but its docstring, run on 2026-10-16 by hw2/captures/capture.py in the lecture's .venv (Python 3.12, cldk 2.0.0, codeanalyzer-python 1.5.3, mcp 2.3.0). It imports Client from mcp and StdioServerParameters from mcp.client.stdio, names the command that starts cldk-demo/server.py, and runs the four-call check the server was tested with on 2026-10-15. The program and its output do not both fit at 8 pt, so the output is here. It printed four lines: ['locate', 'source', 'callers', 'dataflow']; BenchmarkTest00099_post; 47 edges; line 31 flows to [(32, 'param'), (41, 'param')]; True Error executing tool locate: refused: ../expectedresults-0.1.csv is not a file of the target. That is the four tool names, the callable locate returns, 47 dataflow edges of which two leave line 31, and the refused path with is_error True (isError on the wire). In HW2 the MCP agent's host reads the same command from mcp.json, records a discovery event after tools/list, offers the model the list minus host-only tools such as set_alert, and sends every call through the HW1 dispatcher before the client.</a:t>
            </a:r>
          </a:p>
          <a:p/>
          <a:p>
            <a:r>
              <a:t>Click by click.</a:t>
            </a:r>
          </a:p>
          <a:p>
            <a:r>
              <a:t>1. The host side: mcp.json says how to start the server, and tools/list, minus the host-only tools, is what the model is offered.</a:t>
            </a:r>
          </a:p>
          <a:p>
            <a:r>
              <a:t>2. Every call goes through the dispatcher, then the client. The program printed the names, the located handler, the edges from line 31, and the refusal as an error result with is_error True.</a:t>
            </a:r>
          </a:p>
          <a:p>
            <a:r>
              <a:t>3. The closing: nothing of HW1's dispatcher is thrown away, and the client sits behind it.</a:t>
            </a:r>
          </a:p>
        </p:txBody>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team builds both agents on its HW1 loop. The code-action agent has one tool, run_python(script): the harness runs the script with exec in a namespace that holds the CLDK object and the workspace path, the kernel of lecture 4 (slide 137), and the observation is what the script prints or raises. The MCP agent sends every call through the HW1 dispatcher and then the MCP client to the server, which runs in another process, so the dispatcher can refuse a call before it leaves the host and the server can refuse it again. HW2's trace names the one that refused in a refused result's refused_by field: dispatcher, server or kernel. The figure leaves out the MCP client and the sandbox on purpose.</a:t>
            </a:r>
          </a:p>
          <a:p/>
          <a:p>
            <a:r>
              <a:t>The figure, stage by stage.</a:t>
            </a:r>
          </a:p>
          <a:p>
            <a:r>
              <a:t>1. The code-action agent: the model sends a Python script, lecture 4's kernel runs it with exec against the CLDK object and the files, all in one process, and what the script printed comes back as the observation.</a:t>
            </a:r>
          </a:p>
          <a:p>
            <a:r>
              <a:t>2. The MCP agent: the model's tool call goes to the host, where the dispatcher sees it, and on as tools/call to a server in another process.</a:t>
            </a:r>
          </a:p>
          <a:p>
            <a:r>
              <a:t>3. The verdicts: each tool call passes the dispatcher and the server, and either can check it. The calls inside a script reach neither, so there is no call to check.</a:t>
            </a:r>
          </a:p>
        </p:txBody>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team builds both agents on its HW1 loop. The code-action agent has one tool, run_python(script): the harness runs the script with exec in a namespace that holds the CLDK object and the workspace path, the kernel of lecture 4 (slide 137), and the observation is what the script prints or raises. The MCP agent sends every call through the HW1 dispatcher and then the MCP client to the server, which runs in another process, so the dispatcher can refuse a call before it leaves the host and the server can refuse it again. HW2's trace names the one that refused in a refused result's refused_by field: dispatcher, server or kernel. The figure leaves out the MCP client and the sandbox on purpose.</a:t>
            </a:r>
          </a:p>
          <a:p/>
          <a:p>
            <a:r>
              <a:t>The figure, stage by stage.</a:t>
            </a:r>
          </a:p>
          <a:p>
            <a:r>
              <a:t>1. The code-action agent: the model sends a Python script, lecture 4's kernel runs it with exec against the CLDK object and the files, all in one process, and what the script printed comes back as the observation.</a:t>
            </a:r>
          </a:p>
          <a:p>
            <a:r>
              <a:t>2. The MCP agent: the model's tool call goes to the host, where the dispatcher sees it, and on as tools/call to a server in another process.</a:t>
            </a:r>
          </a:p>
          <a:p>
            <a:r>
              <a:t>3. The verdicts: each tool call passes the dispatcher and the server, and either can check it. The calls inside a script reach neither, so there is no call to check.</a:t>
            </a:r>
          </a:p>
        </p:txBody>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team builds both agents on its HW1 loop. The code-action agent has one tool, run_python(script): the harness runs the script with exec in a namespace that holds the CLDK object and the workspace path, the kernel of lecture 4 (slide 137), and the observation is what the script prints or raises. The MCP agent sends every call through the HW1 dispatcher and then the MCP client to the server, which runs in another process, so the dispatcher can refuse a call before it leaves the host and the server can refuse it again. HW2's trace names the one that refused in a refused result's refused_by field: dispatcher, server or kernel. The figure leaves out the MCP client and the sandbox on purpose.</a:t>
            </a:r>
          </a:p>
          <a:p/>
          <a:p>
            <a:r>
              <a:t>The figure, stage by stage.</a:t>
            </a:r>
          </a:p>
          <a:p>
            <a:r>
              <a:t>1. The code-action agent: the model sends a Python script, lecture 4's kernel runs it with exec against the CLDK object and the files, all in one process, and what the script printed comes back as the observation.</a:t>
            </a:r>
          </a:p>
          <a:p>
            <a:r>
              <a:t>2. The MCP agent: the model's tool call goes to the host, where the dispatcher sees it, and on as tools/call to a server in another process.</a:t>
            </a:r>
          </a:p>
          <a:p>
            <a:r>
              <a:t>3. The verdicts: each tool call passes the dispatcher and the server, and either can check it. The calls inside a script reach neither, so there is no call to check.</a:t>
            </a:r>
          </a:p>
        </p:txBody>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team builds both agents on its HW1 loop. The code-action agent has one tool, run_python(script): the harness runs the script with exec in a namespace that holds the CLDK object and the workspace path, the kernel of lecture 4 (slide 137), and the observation is what the script prints or raises. The MCP agent sends every call through the HW1 dispatcher and then the MCP client to the server, which runs in another process, so the dispatcher can refuse a call before it leaves the host and the server can refuse it again. HW2's trace names the one that refused in a refused result's refused_by field: dispatcher, server or kernel. The figure leaves out the MCP client and the sandbox on purpose.</a:t>
            </a:r>
          </a:p>
          <a:p/>
          <a:p>
            <a:r>
              <a:t>The figure, stage by stage.</a:t>
            </a:r>
          </a:p>
          <a:p>
            <a:r>
              <a:t>1. The code-action agent: the model sends a Python script, lecture 4's kernel runs it with exec against the CLDK object and the files, all in one process, and what the script printed comes back as the observation.</a:t>
            </a:r>
          </a:p>
          <a:p>
            <a:r>
              <a:t>2. The MCP agent: the model's tool call goes to the host, where the dispatcher sees it, and on as tools/call to a server in another process.</a:t>
            </a:r>
          </a:p>
          <a:p>
            <a:r>
              <a:t>3. The verdicts: each tool call passes the dispatcher and the server, and either can check it. The calls inside a script reach neither, so there is no call to check.</a:t>
            </a:r>
          </a:p>
        </p:txBody>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hw2/captures/codeact.py holds lecture 4's kernel (kernel.py, lecture 4 slide 137: exec with stdout redirected, a traceback on error) with namespace {"an": an}, the analysis object of the notebook, and runs this script through it (run on 2026-10-16 by hw2/captures/capture.py in the lecture's .venv (Python 3.12, cldk 2.0.0, codeanalyzer-python 1.5.3, mcp 2.3.0)). The script locates both alerts, builds each handler's dependence graph by line and asks for a path: 00099 prints the same path as reaches, ['31', '41', '42', '46'], and 00011 prints False. Our first draft converted the node ids to integers and the kernel returned a ValueError traceback on the node 'entry'; that is the observation a model would have read and fixed. Lecture 4, slide 154, asked where CodeAct can confine writes, and the answer was the operating system.</a:t>
            </a:r>
          </a:p>
          <a:p/>
          <a:p>
            <a:r>
              <a:t>Click by click.</a:t>
            </a:r>
          </a:p>
          <a:p>
            <a:r>
              <a:t>1. The harness sees one script, so none of the calls inside it passes a dispatcher. The observation arrives: the path for 00099 and False for 00011.</a:t>
            </a:r>
          </a:p>
          <a:p>
            <a:r>
              <a:t>2. The only place left to confine the script is below the interpreter, the sandbox, as lecture 4 concluded.</a:t>
            </a:r>
          </a:p>
          <a:p>
            <a:r>
              <a:t>3. The brief's rules, read, write and network, bind both agents, and only the MCP agent has a server to hold the per-alert parts.</a:t>
            </a:r>
          </a:p>
          <a:p>
            <a:r>
              <a:t>4. The closing: a script cannot be checked call by call, so both agents run inside OpenShell.</a:t>
            </a:r>
          </a:p>
        </p:txBody>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hw2/captures/codeact.py holds lecture 4's kernel (kernel.py, lecture 4 slide 137: exec with stdout redirected, a traceback on error) with namespace {"an": an}, the analysis object of the notebook, and runs this script through it (run on 2026-10-16 by hw2/captures/capture.py in the lecture's .venv (Python 3.12, cldk 2.0.0, codeanalyzer-python 1.5.3, mcp 2.3.0)). The script locates both alerts, builds each handler's dependence graph by line and asks for a path: 00099 prints the same path as reaches, ['31', '41', '42', '46'], and 00011 prints False. Our first draft converted the node ids to integers and the kernel returned a ValueError traceback on the node 'entry'; that is the observation a model would have read and fixed. Lecture 4, slide 154, asked where CodeAct can confine writes, and the answer was the operating system.</a:t>
            </a:r>
          </a:p>
          <a:p/>
          <a:p>
            <a:r>
              <a:t>Click by click.</a:t>
            </a:r>
          </a:p>
          <a:p>
            <a:r>
              <a:t>1. The harness sees one script, so none of the calls inside it passes a dispatcher. The observation arrives: the path for 00099 and False for 00011.</a:t>
            </a:r>
          </a:p>
          <a:p>
            <a:r>
              <a:t>2. The only place left to confine the script is below the interpreter, the sandbox, as lecture 4 concluded.</a:t>
            </a:r>
          </a:p>
          <a:p>
            <a:r>
              <a:t>3. The brief's rules, read, write and network, bind both agents, and only the MCP agent has a server to hold the per-alert parts.</a:t>
            </a:r>
          </a:p>
          <a:p>
            <a:r>
              <a:t>4. The closing: a script cannot be checked call by call, so both agents run inside OpenShell.</a:t>
            </a:r>
          </a:p>
        </p:txBody>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hw2/captures/codeact.py holds lecture 4's kernel (kernel.py, lecture 4 slide 137: exec with stdout redirected, a traceback on error) with namespace {"an": an}, the analysis object of the notebook, and runs this script through it (run on 2026-10-16 by hw2/captures/capture.py in the lecture's .venv (Python 3.12, cldk 2.0.0, codeanalyzer-python 1.5.3, mcp 2.3.0)). The script locates both alerts, builds each handler's dependence graph by line and asks for a path: 00099 prints the same path as reaches, ['31', '41', '42', '46'], and 00011 prints False. Our first draft converted the node ids to integers and the kernel returned a ValueError traceback on the node 'entry'; that is the observation a model would have read and fixed. Lecture 4, slide 154, asked where CodeAct can confine writes, and the answer was the operating system.</a:t>
            </a:r>
          </a:p>
          <a:p/>
          <a:p>
            <a:r>
              <a:t>Click by click.</a:t>
            </a:r>
          </a:p>
          <a:p>
            <a:r>
              <a:t>1. The harness sees one script, so none of the calls inside it passes a dispatcher. The observation arrives: the path for 00099 and False for 00011.</a:t>
            </a:r>
          </a:p>
          <a:p>
            <a:r>
              <a:t>2. The only place left to confine the script is below the interpreter, the sandbox, as lecture 4 concluded.</a:t>
            </a:r>
          </a:p>
          <a:p>
            <a:r>
              <a:t>3. The brief's rules, read, write and network, bind both agents, and only the MCP agent has a server to hold the per-alert parts.</a:t>
            </a:r>
          </a:p>
          <a:p>
            <a:r>
              <a:t>4. The closing: a script cannot be checked call by call, so both agents run inside OpenShell.</a:t>
            </a:r>
          </a:p>
        </p:txBody>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hw2/captures/codeact.py holds lecture 4's kernel (kernel.py, lecture 4 slide 137: exec with stdout redirected, a traceback on error) with namespace {"an": an}, the analysis object of the notebook, and runs this script through it (run on 2026-10-16 by hw2/captures/capture.py in the lecture's .venv (Python 3.12, cldk 2.0.0, codeanalyzer-python 1.5.3, mcp 2.3.0)). The script locates both alerts, builds each handler's dependence graph by line and asks for a path: 00099 prints the same path as reaches, ['31', '41', '42', '46'], and 00011 prints False. Our first draft converted the node ids to integers and the kernel returned a ValueError traceback on the node 'entry'; that is the observation a model would have read and fixed. Lecture 4, slide 154, asked where CodeAct can confine writes, and the answer was the operating system.</a:t>
            </a:r>
          </a:p>
          <a:p/>
          <a:p>
            <a:r>
              <a:t>Click by click.</a:t>
            </a:r>
          </a:p>
          <a:p>
            <a:r>
              <a:t>1. The harness sees one script, so none of the calls inside it passes a dispatcher. The observation arrives: the path for 00099 and False for 00011.</a:t>
            </a:r>
          </a:p>
          <a:p>
            <a:r>
              <a:t>2. The only place left to confine the script is below the interpreter, the sandbox, as lecture 4 concluded.</a:t>
            </a:r>
          </a:p>
          <a:p>
            <a:r>
              <a:t>3. The brief's rules, read, write and network, bind both agents, and only the MCP agent has a server to hold the per-alert parts.</a:t>
            </a:r>
          </a:p>
          <a:p>
            <a:r>
              <a:t>4. The closing: a script cannot be checked call by call, so both agents run inside OpenShell.</a:t>
            </a:r>
          </a:p>
        </p:txBody>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HW2 part by walking through the brief, released today.</a:t>
            </a:r>
          </a:p>
        </p:txBody>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now walk through the PDF. HW2 is released Friday, October 16, 2026, and due Friday, November 13, 2026, before 11:59 pm. Six late days per student per semester, at most three on one assignment. The rubric has 18 items, one point each, scaled to the assignment's 20 percent of the course grade. The sections follow the HW2 specification, section 3: what teams build (the two agents, the server and its tool groups, the stages), the guardrails (the three rules, the places that hold them, the OpenShell policy), how they are tested (the team's live runs under fixtures/injection.patch and the staff driver), the report, the contracts, the rubric, and the dates and platform. After class the repository also gets cldk-mcp.ipynb and cldk-demo/server.py as the reference pattern.</a:t>
            </a:r>
          </a:p>
          <a:p/>
          <a:p>
            <a:r>
              <a:t>Click by click.</a:t>
            </a:r>
          </a:p>
          <a:p>
            <a:r>
              <a:t>1. What you build: both agents from your HW1 loop, the server with its three tool groups, and discovery, classification and remediation.</a:t>
            </a:r>
          </a:p>
          <a:p>
            <a:r>
              <a:t>2. The guardrails: read, write and network, each held at the prompt, the server or the kernel, and the policy file.</a:t>
            </a:r>
          </a:p>
          <a:p>
            <a:r>
              <a:t>3. How they are tested: five runs of each agent under the planted injection, and our driver on your server and inside your sandbox.</a:t>
            </a:r>
          </a:p>
          <a:p>
            <a:r>
              <a:t>4. Contracts, rubric and dates, verbatim: 18 items of one point, November 13 before 11:59 pm, six late days and at most three per assignment.</a:t>
            </a:r>
          </a:p>
          <a:p>
            <a:r>
              <a:t>5. The closing: the repository is released today, and we open the PDF.</a:t>
            </a:r>
          </a:p>
        </p:txBody>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now walk through the PDF. HW2 is released Friday, October 16, 2026, and due Friday, November 13, 2026, before 11:59 pm. Six late days per student per semester, at most three on one assignment. The rubric has 18 items, one point each, scaled to the assignment's 20 percent of the course grade. The sections follow the HW2 specification, section 3: what teams build (the two agents, the server and its tool groups, the stages), the guardrails (the three rules, the places that hold them, the OpenShell policy), how they are tested (the team's live runs under fixtures/injection.patch and the staff driver), the report, the contracts, the rubric, and the dates and platform. After class the repository also gets cldk-mcp.ipynb and cldk-demo/server.py as the reference pattern.</a:t>
            </a:r>
          </a:p>
          <a:p/>
          <a:p>
            <a:r>
              <a:t>Click by click.</a:t>
            </a:r>
          </a:p>
          <a:p>
            <a:r>
              <a:t>1. What you build: both agents from your HW1 loop, the server with its three tool groups, and discovery, classification and remediation.</a:t>
            </a:r>
          </a:p>
          <a:p>
            <a:r>
              <a:t>2. The guardrails: read, write and network, each held at the prompt, the server or the kernel, and the policy file.</a:t>
            </a:r>
          </a:p>
          <a:p>
            <a:r>
              <a:t>3. How they are tested: five runs of each agent under the planted injection, and our driver on your server and inside your sandbox.</a:t>
            </a:r>
          </a:p>
          <a:p>
            <a:r>
              <a:t>4. Contracts, rubric and dates, verbatim: 18 items of one point, November 13 before 11:59 pm, six late days and at most three per assignment.</a:t>
            </a:r>
          </a:p>
          <a:p>
            <a:r>
              <a:t>5. The closing: the repository is released today, and we open the PDF.</a:t>
            </a:r>
          </a:p>
        </p:txBody>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now walk through the PDF. HW2 is released Friday, October 16, 2026, and due Friday, November 13, 2026, before 11:59 pm. Six late days per student per semester, at most three on one assignment. The rubric has 18 items, one point each, scaled to the assignment's 20 percent of the course grade. The sections follow the HW2 specification, section 3: what teams build (the two agents, the server and its tool groups, the stages), the guardrails (the three rules, the places that hold them, the OpenShell policy), how they are tested (the team's live runs under fixtures/injection.patch and the staff driver), the report, the contracts, the rubric, and the dates and platform. After class the repository also gets cldk-mcp.ipynb and cldk-demo/server.py as the reference pattern.</a:t>
            </a:r>
          </a:p>
          <a:p/>
          <a:p>
            <a:r>
              <a:t>Click by click.</a:t>
            </a:r>
          </a:p>
          <a:p>
            <a:r>
              <a:t>1. What you build: both agents from your HW1 loop, the server with its three tool groups, and discovery, classification and remediation.</a:t>
            </a:r>
          </a:p>
          <a:p>
            <a:r>
              <a:t>2. The guardrails: read, write and network, each held at the prompt, the server or the kernel, and the policy file.</a:t>
            </a:r>
          </a:p>
          <a:p>
            <a:r>
              <a:t>3. How they are tested: five runs of each agent under the planted injection, and our driver on your server and inside your sandbox.</a:t>
            </a:r>
          </a:p>
          <a:p>
            <a:r>
              <a:t>4. Contracts, rubric and dates, verbatim: 18 items of one point, November 13 before 11:59 pm, six late days and at most three per assignment.</a:t>
            </a:r>
          </a:p>
          <a:p>
            <a:r>
              <a:t>5. The closing: the repository is released today, and we open the PDF.</a:t>
            </a:r>
          </a:p>
        </p:txBody>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now walk through the PDF. HW2 is released Friday, October 16, 2026, and due Friday, November 13, 2026, before 11:59 pm. Six late days per student per semester, at most three on one assignment. The rubric has 18 items, one point each, scaled to the assignment's 20 percent of the course grade. The sections follow the HW2 specification, section 3: what teams build (the two agents, the server and its tool groups, the stages), the guardrails (the three rules, the places that hold them, the OpenShell policy), how they are tested (the team's live runs under fixtures/injection.patch and the staff driver), the report, the contracts, the rubric, and the dates and platform. After class the repository also gets cldk-mcp.ipynb and cldk-demo/server.py as the reference pattern.</a:t>
            </a:r>
          </a:p>
          <a:p/>
          <a:p>
            <a:r>
              <a:t>Click by click.</a:t>
            </a:r>
          </a:p>
          <a:p>
            <a:r>
              <a:t>1. What you build: both agents from your HW1 loop, the server with its three tool groups, and discovery, classification and remediation.</a:t>
            </a:r>
          </a:p>
          <a:p>
            <a:r>
              <a:t>2. The guardrails: read, write and network, each held at the prompt, the server or the kernel, and the policy file.</a:t>
            </a:r>
          </a:p>
          <a:p>
            <a:r>
              <a:t>3. How they are tested: five runs of each agent under the planted injection, and our driver on your server and inside your sandbox.</a:t>
            </a:r>
          </a:p>
          <a:p>
            <a:r>
              <a:t>4. Contracts, rubric and dates, verbatim: 18 items of one point, November 13 before 11:59 pm, six late days and at most three per assignment.</a:t>
            </a:r>
          </a:p>
          <a:p>
            <a:r>
              <a:t>5. The closing: the repository is released today, and we open the PDF.</a:t>
            </a:r>
          </a:p>
        </p:txBody>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now walk through the PDF. HW2 is released Friday, October 16, 2026, and due Friday, November 13, 2026, before 11:59 pm. Six late days per student per semester, at most three on one assignment. The rubric has 18 items, one point each, scaled to the assignment's 20 percent of the course grade. The sections follow the HW2 specification, section 3: what teams build (the two agents, the server and its tool groups, the stages), the guardrails (the three rules, the places that hold them, the OpenShell policy), how they are tested (the team's live runs under fixtures/injection.patch and the staff driver), the report, the contracts, the rubric, and the dates and platform. After class the repository also gets cldk-mcp.ipynb and cldk-demo/server.py as the reference pattern.</a:t>
            </a:r>
          </a:p>
          <a:p/>
          <a:p>
            <a:r>
              <a:t>Click by click.</a:t>
            </a:r>
          </a:p>
          <a:p>
            <a:r>
              <a:t>1. What you build: both agents from your HW1 loop, the server with its three tool groups, and discovery, classification and remediation.</a:t>
            </a:r>
          </a:p>
          <a:p>
            <a:r>
              <a:t>2. The guardrails: read, write and network, each held at the prompt, the server or the kernel, and the policy file.</a:t>
            </a:r>
          </a:p>
          <a:p>
            <a:r>
              <a:t>3. How they are tested: five runs of each agent under the planted injection, and our driver on your server and inside your sandbox.</a:t>
            </a:r>
          </a:p>
          <a:p>
            <a:r>
              <a:t>4. Contracts, rubric and dates, verbatim: 18 items of one point, November 13 before 11:59 pm, six late days and at most three per assignment.</a:t>
            </a:r>
          </a:p>
          <a:p>
            <a:r>
              <a:t>5. The closing: the repository is released today, and we open the PDF.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notesSlide" Target="../notesSlides/notesSlide89.xml"/><Relationship Id="rId5" Type="http://schemas.openxmlformats.org/officeDocument/2006/relationships/image" Target="../media/image1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116.xml"/><Relationship Id="rId5" Type="http://schemas.openxmlformats.org/officeDocument/2006/relationships/image" Target="../media/image1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9.xml"/></Relationships>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bwMode="auto"/>
        <p:txBody>
          <a:bodyPr/>
          <a:lstStyle/>
          <a:p>
            <a:pPr>
              <a:defRPr/>
            </a:pPr>
            <a:r>
              <a:rPr lang="en-US" b="1"/>
              <a:t>Designing Production Agentic Systems</a:t>
            </a:r>
            <a:endParaRPr b="1"/>
          </a:p>
        </p:txBody>
      </p:sp>
      <p:sp>
        <p:nvSpPr>
          <p:cNvPr id="3" name="Subtitle 2"/>
          <p:cNvSpPr>
            <a:spLocks noGrp="1"/>
          </p:cNvSpPr>
          <p:nvPr>
            <p:ph type="subTitle" idx="1"/>
          </p:nvPr>
        </p:nvSpPr>
        <p:spPr bwMode="auto"/>
        <p:txBody>
          <a:bodyPr/>
          <a:lstStyle/>
          <a:p>
            <a:pPr>
              <a:defRPr/>
            </a:pPr>
            <a:r>
              <a:rPr b="1"/>
              <a:t>Columbia · Fall 2026 · Lecture </a:t>
            </a:r>
            <a:r>
              <a:rPr lang="en-US" b="1"/>
              <a:t>6</a:t>
            </a:r>
            <a:endParaRPr b="1"/>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HW2: CLDK, MCP, and the brief</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CLDK essentials</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pic>
        <p:nvPicPr>
          <p:cNvPr id="14" name="Picture 13" descr="image.png"/>
          <p:cNvPicPr>
            <a:picLocks noChangeAspect="1"/>
          </p:cNvPicPr>
          <p:nvPr/>
        </p:nvPicPr>
        <p:blipFill rotWithShape="1">
          <a:blip r:embed="rId2">
            <a:alphaModFix amt="70000"/>
          </a:blip>
          <a:stretch/>
        </p:blipFill>
        <p:spPr bwMode="auto">
          <a:xfrm>
            <a:off x="822960" y="2347897"/>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CLDK answers questions about Python code.</a:t>
            </a:r>
            <a:endParaRPr/>
          </a:p>
        </p:txBody>
      </p:sp>
      <p:sp>
        <p:nvSpPr>
          <p:cNvPr id="3" name="Content Placeholder 2"/>
          <p:cNvSpPr>
            <a:spLocks noGrp="1"/>
          </p:cNvSpPr>
          <p:nvPr>
            <p:ph idx="1"/>
          </p:nvPr>
        </p:nvSpPr>
        <p:spPr bwMode="auto">
          <a:xfrm>
            <a:off x="320040" y="658368"/>
            <a:ext cx="6016752" cy="16641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Python API</a:t>
            </a:r>
            <a:r>
              <a:rPr lang="en-US" sz="1200" b="0">
                <a:solidFill>
                  <a:srgbClr val="000000"/>
                </a:solidFill>
              </a:rPr>
              <a:t> runs static analysis over Java, Python and TypeScript code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pip install cldk</a:t>
            </a:r>
            <a:r>
              <a:rPr lang="en-US" sz="1200" b="0">
                <a:solidFill>
                  <a:srgbClr val="000000"/>
                </a:solidFill>
              </a:rPr>
              <a:t> installs it on Python 3.11 or newer.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For Python,</a:t>
            </a:r>
            <a:r>
              <a:rPr lang="en-US" sz="1200" b="0">
                <a:solidFill>
                  <a:srgbClr val="000000"/>
                </a:solidFill>
              </a:rPr>
              <a:t> the engine is </a:t>
            </a:r>
            <a:r>
              <a:rPr lang="en-US" sz="1200" b="0">
                <a:solidFill>
                  <a:srgbClr val="000000"/>
                </a:solidFill>
                <a:latin typeface="Aptos Mono"/>
              </a:rPr>
              <a:t>codeanalyzer-python</a:t>
            </a:r>
            <a:r>
              <a:rPr lang="en-US" sz="1200" b="0">
                <a:solidFill>
                  <a:srgbClr val="000000"/>
                </a:solidFill>
              </a:rPr>
              <a:t>, built on Jedi and the standard library's </a:t>
            </a:r>
            <a:r>
              <a:rPr lang="en-US" sz="1200" b="0">
                <a:solidFill>
                  <a:srgbClr val="000000"/>
                </a:solidFill>
                <a:latin typeface="Aptos Mono"/>
              </a:rPr>
              <a:t>ast</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HW2's project</a:t>
            </a:r>
            <a:r>
              <a:rPr lang="en-US" sz="1200" b="0">
                <a:solidFill>
                  <a:srgbClr val="000000"/>
                </a:solidFill>
              </a:rPr>
              <a:t> is the OWASP BenchmarkPython checkout that HW1 scanned.</a:t>
            </a:r>
            <a:endParaRPr/>
          </a:p>
        </p:txBody>
      </p:sp>
      <p:sp>
        <p:nvSpPr>
          <p:cNvPr id="4" name="Rectangle 4"/>
          <p:cNvSpPr/>
          <p:nvPr/>
        </p:nvSpPr>
        <p:spPr bwMode="auto">
          <a:xfrm>
            <a:off x="320040" y="437061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Every question is a method on one cached object per checkout.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et al. Codellm-Devkit: a framework for contextualizing code LLMs with program analysis insights. FSE Companion 2025, pp. 308-318.</a:t>
            </a:r>
            <a:endParaRPr/>
          </a:p>
        </p:txBody>
      </p:sp>
      <p:sp>
        <p:nvSpPr>
          <p:cNvPr id="6" name="CodeWindow"/>
          <p:cNvSpPr/>
          <p:nvPr/>
        </p:nvSpPr>
        <p:spPr bwMode="auto">
          <a:xfrm>
            <a:off x="320040" y="2472540"/>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 name="WinBar"/>
          <p:cNvCxnSpPr/>
          <p:nvPr/>
        </p:nvCxnSpPr>
        <p:spPr bwMode="auto">
          <a:xfrm>
            <a:off x="320040" y="2737716"/>
            <a:ext cx="6016752" cy="0"/>
          </a:xfrm>
          <a:prstGeom prst="line">
            <a:avLst/>
          </a:prstGeom>
          <a:ln w="9525">
            <a:solidFill>
              <a:srgbClr val="DCDCDC"/>
            </a:solidFill>
          </a:ln>
        </p:spPr>
      </p:cxnSp>
      <p:sp>
        <p:nvSpPr>
          <p:cNvPr id="8" name="WinDot 0"/>
          <p:cNvSpPr/>
          <p:nvPr/>
        </p:nvSpPr>
        <p:spPr bwMode="auto">
          <a:xfrm>
            <a:off x="411480" y="25548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1"/>
          <p:cNvSpPr/>
          <p:nvPr/>
        </p:nvSpPr>
        <p:spPr bwMode="auto">
          <a:xfrm>
            <a:off x="548640" y="25548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WinDot 2"/>
          <p:cNvSpPr/>
          <p:nvPr/>
        </p:nvSpPr>
        <p:spPr bwMode="auto">
          <a:xfrm>
            <a:off x="685800" y="25548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 name="TextBox 8"/>
          <p:cNvSpPr txBox="1"/>
          <p:nvPr/>
        </p:nvSpPr>
        <p:spPr bwMode="auto">
          <a:xfrm>
            <a:off x="896112" y="2513688"/>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1: attach the analysis to the checkout</a:t>
            </a:r>
            <a:endParaRPr/>
          </a:p>
        </p:txBody>
      </p:sp>
      <p:sp>
        <p:nvSpPr>
          <p:cNvPr id="12" name="TextBox 7"/>
          <p:cNvSpPr txBox="1"/>
          <p:nvPr/>
        </p:nvSpPr>
        <p:spPr bwMode="auto">
          <a:xfrm>
            <a:off x="466344" y="2801724"/>
            <a:ext cx="5724144" cy="640268"/>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time</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cldk</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CLDK</a:t>
            </a:r>
            <a:endParaRPr/>
          </a:p>
          <a:p>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1080"/>
                </a:solidFill>
                <a:latin typeface="Aptos Mono"/>
              </a:rPr>
              <a:t>an</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get_callables_overview</a:t>
            </a:r>
            <a:r>
              <a:rPr lang="en-US" sz="800" b="0">
                <a:solidFill>
                  <a:srgbClr val="000000"/>
                </a:solidFill>
                <a:latin typeface="Aptos Mono"/>
              </a:rPr>
              <a:t>()), </a:t>
            </a:r>
            <a:r>
              <a:rPr lang="en-US" sz="800" b="0">
                <a:solidFill>
                  <a:srgbClr val="A31515"/>
                </a:solidFill>
                <a:latin typeface="Aptos Mono"/>
              </a:rPr>
              <a:t>"callables,"</a:t>
            </a:r>
            <a:r>
              <a:rPr lang="en-US" sz="800" b="0">
                <a:solidFill>
                  <a:srgbClr val="000000"/>
                </a:solidFill>
                <a:latin typeface="Aptos Mono"/>
              </a:rPr>
              <a:t>, </a:t>
            </a:r>
            <a:r>
              <a:rPr lang="en-US" sz="800" b="0">
                <a:solidFill>
                  <a:srgbClr val="A31515"/>
                </a:solidFill>
                <a:latin typeface="Aptos Mono"/>
              </a:rPr>
              <a:t>f"{time.time()-t:.0f} s"</a:t>
            </a:r>
            <a:r>
              <a:rPr lang="en-US" sz="800" b="0">
                <a:solidFill>
                  <a:srgbClr val="000000"/>
                </a:solidFill>
                <a:latin typeface="Aptos Mono"/>
              </a:rPr>
              <a:t>)</a:t>
            </a:r>
            <a:endParaRPr/>
          </a:p>
        </p:txBody>
      </p:sp>
      <p:sp>
        <p:nvSpPr>
          <p:cNvPr id="13" name="CodeWindow out"/>
          <p:cNvSpPr/>
          <p:nvPr/>
        </p:nvSpPr>
        <p:spPr bwMode="auto">
          <a:xfrm>
            <a:off x="320040" y="3575992"/>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4" name="WinBar out"/>
          <p:cNvCxnSpPr/>
          <p:nvPr/>
        </p:nvCxnSpPr>
        <p:spPr bwMode="auto">
          <a:xfrm>
            <a:off x="320040" y="3841168"/>
            <a:ext cx="6016752" cy="0"/>
          </a:xfrm>
          <a:prstGeom prst="line">
            <a:avLst/>
          </a:prstGeom>
          <a:ln w="9525">
            <a:solidFill>
              <a:srgbClr val="DCDCDC"/>
            </a:solidFill>
          </a:ln>
        </p:spPr>
      </p:cxnSp>
      <p:sp>
        <p:nvSpPr>
          <p:cNvPr id="15" name="WinDot 0 out"/>
          <p:cNvSpPr/>
          <p:nvPr/>
        </p:nvSpPr>
        <p:spPr bwMode="auto">
          <a:xfrm>
            <a:off x="411480" y="36582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1 out"/>
          <p:cNvSpPr/>
          <p:nvPr/>
        </p:nvSpPr>
        <p:spPr bwMode="auto">
          <a:xfrm>
            <a:off x="548640" y="36582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WinDot 2 out"/>
          <p:cNvSpPr/>
          <p:nvPr/>
        </p:nvSpPr>
        <p:spPr bwMode="auto">
          <a:xfrm>
            <a:off x="685800" y="36582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 name="TextBox 8 out"/>
          <p:cNvSpPr txBox="1"/>
          <p:nvPr/>
        </p:nvSpPr>
        <p:spPr bwMode="auto">
          <a:xfrm>
            <a:off x="896112" y="3617140"/>
            <a:ext cx="5349240" cy="182880"/>
          </a:xfrm>
          <a:prstGeom prst="rect">
            <a:avLst/>
          </a:prstGeom>
          <a:noFill/>
        </p:spPr>
        <p:txBody>
          <a:bodyPr wrap="square" lIns="0" tIns="0" rIns="0" bIns="0" anchor="ctr">
            <a:noAutofit/>
          </a:bodyPr>
          <a:lstStyle/>
          <a:p>
            <a:pPr algn="l">
              <a:defRPr/>
            </a:pPr>
            <a:r>
              <a:rPr sz="850" b="0">
                <a:solidFill>
                  <a:srgbClr val="5B6673"/>
                </a:solidFill>
              </a:rPr>
              <a:t>output: a warm attach, read from the cache in cldk-demo/owasp/.codeanalyzer</a:t>
            </a:r>
            <a:endParaRPr/>
          </a:p>
        </p:txBody>
      </p:sp>
      <p:sp>
        <p:nvSpPr>
          <p:cNvPr id="19" name="TextBox 7 out"/>
          <p:cNvSpPr txBox="1"/>
          <p:nvPr/>
        </p:nvSpPr>
        <p:spPr bwMode="auto">
          <a:xfrm>
            <a:off x="466344" y="3905176"/>
            <a:ext cx="5724144" cy="144053"/>
          </a:xfrm>
          <a:prstGeom prst="rect">
            <a:avLst/>
          </a:prstGeom>
          <a:noFill/>
        </p:spPr>
        <p:txBody>
          <a:bodyPr wrap="none" lIns="0" tIns="0" rIns="0" bIns="0">
            <a:spAutoFit/>
          </a:bodyPr>
          <a:lstStyle/>
          <a:p>
            <a:r>
              <a:rPr lang="en-US" sz="800" b="0">
                <a:solidFill>
                  <a:srgbClr val="000000"/>
                </a:solidFill>
                <a:latin typeface="Aptos Mono"/>
              </a:rPr>
              <a:t>3710 callables, 7 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CLDK answers questions about Python code.</a:t>
            </a:r>
            <a:endParaRPr/>
          </a:p>
        </p:txBody>
      </p:sp>
      <p:sp>
        <p:nvSpPr>
          <p:cNvPr id="3" name="Content Placeholder 2"/>
          <p:cNvSpPr>
            <a:spLocks noGrp="1"/>
          </p:cNvSpPr>
          <p:nvPr>
            <p:ph idx="1"/>
          </p:nvPr>
        </p:nvSpPr>
        <p:spPr bwMode="auto">
          <a:xfrm>
            <a:off x="320040" y="658368"/>
            <a:ext cx="6016752" cy="16641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Python API</a:t>
            </a:r>
            <a:r>
              <a:rPr lang="en-US" sz="1200" b="0">
                <a:solidFill>
                  <a:srgbClr val="000000"/>
                </a:solidFill>
              </a:rPr>
              <a:t> runs static analysis over Java, Python and TypeScript code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pip install cldk</a:t>
            </a:r>
            <a:r>
              <a:rPr lang="en-US" sz="1200" b="0">
                <a:solidFill>
                  <a:srgbClr val="FFFFFF">
                    <a:alpha val="0"/>
                  </a:srgbClr>
                </a:solidFill>
              </a:rPr>
              <a:t> installs it on Python 3.11 or newer.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For Python,</a:t>
            </a:r>
            <a:r>
              <a:rPr lang="en-US" sz="1200" b="0">
                <a:solidFill>
                  <a:srgbClr val="FFFFFF">
                    <a:alpha val="0"/>
                  </a:srgbClr>
                </a:solidFill>
              </a:rPr>
              <a:t> the engine is </a:t>
            </a:r>
            <a:r>
              <a:rPr lang="en-US" sz="1200" b="0">
                <a:solidFill>
                  <a:srgbClr val="FFFFFF">
                    <a:alpha val="0"/>
                  </a:srgbClr>
                </a:solidFill>
                <a:latin typeface="Aptos Mono"/>
              </a:rPr>
              <a:t>codeanalyzer-python</a:t>
            </a:r>
            <a:r>
              <a:rPr lang="en-US" sz="1200" b="0">
                <a:solidFill>
                  <a:srgbClr val="FFFFFF">
                    <a:alpha val="0"/>
                  </a:srgbClr>
                </a:solidFill>
              </a:rPr>
              <a:t>, built on Jedi and the standard library's </a:t>
            </a:r>
            <a:r>
              <a:rPr lang="en-US" sz="1200" b="0">
                <a:solidFill>
                  <a:srgbClr val="FFFFFF">
                    <a:alpha val="0"/>
                  </a:srgbClr>
                </a:solidFill>
                <a:latin typeface="Aptos Mono"/>
              </a:rPr>
              <a:t>ast</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HW2's project</a:t>
            </a:r>
            <a:r>
              <a:rPr lang="en-US" sz="1200" b="0">
                <a:solidFill>
                  <a:srgbClr val="FFFFFF">
                    <a:alpha val="0"/>
                  </a:srgbClr>
                </a:solidFill>
              </a:rPr>
              <a:t> is the OWASP BenchmarkPython checkout that HW1 scanned.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et al. Codellm-Devkit: a framework for contextualizing code LLMs with program analysis insights. FSE Companion 2025, pp. 308-318.</a:t>
            </a:r>
            <a:endParaRPr/>
          </a:p>
        </p:txBody>
      </p:sp>
      <p:sp>
        <p:nvSpPr>
          <p:cNvPr id="5" name="CodeWindow"/>
          <p:cNvSpPr/>
          <p:nvPr/>
        </p:nvSpPr>
        <p:spPr bwMode="auto">
          <a:xfrm>
            <a:off x="320040" y="2472540"/>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737716"/>
            <a:ext cx="6016752" cy="0"/>
          </a:xfrm>
          <a:prstGeom prst="line">
            <a:avLst/>
          </a:prstGeom>
          <a:ln w="9525">
            <a:solidFill>
              <a:srgbClr val="DCDCDC"/>
            </a:solidFill>
          </a:ln>
        </p:spPr>
      </p:cxnSp>
      <p:sp>
        <p:nvSpPr>
          <p:cNvPr id="7" name="WinDot 0"/>
          <p:cNvSpPr/>
          <p:nvPr/>
        </p:nvSpPr>
        <p:spPr bwMode="auto">
          <a:xfrm>
            <a:off x="411480" y="25548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5548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5548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513688"/>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1: attach the analysis to the checkout</a:t>
            </a:r>
            <a:endParaRPr/>
          </a:p>
        </p:txBody>
      </p:sp>
      <p:sp>
        <p:nvSpPr>
          <p:cNvPr id="11" name="TextBox 7"/>
          <p:cNvSpPr txBox="1"/>
          <p:nvPr/>
        </p:nvSpPr>
        <p:spPr bwMode="auto">
          <a:xfrm>
            <a:off x="466344" y="2801724"/>
            <a:ext cx="5724144" cy="640268"/>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time</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cldk</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CLDK</a:t>
            </a:r>
            <a:endParaRPr/>
          </a:p>
          <a:p>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1080"/>
                </a:solidFill>
                <a:latin typeface="Aptos Mono"/>
              </a:rPr>
              <a:t>an</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get_callables_overview</a:t>
            </a:r>
            <a:r>
              <a:rPr lang="en-US" sz="800" b="0">
                <a:solidFill>
                  <a:srgbClr val="000000"/>
                </a:solidFill>
                <a:latin typeface="Aptos Mono"/>
              </a:rPr>
              <a:t>()), </a:t>
            </a:r>
            <a:r>
              <a:rPr lang="en-US" sz="800" b="0">
                <a:solidFill>
                  <a:srgbClr val="A31515"/>
                </a:solidFill>
                <a:latin typeface="Aptos Mono"/>
              </a:rPr>
              <a:t>"callables,"</a:t>
            </a:r>
            <a:r>
              <a:rPr lang="en-US" sz="800" b="0">
                <a:solidFill>
                  <a:srgbClr val="000000"/>
                </a:solidFill>
                <a:latin typeface="Aptos Mono"/>
              </a:rPr>
              <a:t>, </a:t>
            </a:r>
            <a:r>
              <a:rPr lang="en-US" sz="800" b="0">
                <a:solidFill>
                  <a:srgbClr val="A31515"/>
                </a:solidFill>
                <a:latin typeface="Aptos Mono"/>
              </a:rPr>
              <a:t>f"{time.time()-t:.0f} s"</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CLDK answers questions about Python code.</a:t>
            </a:r>
            <a:endParaRPr/>
          </a:p>
        </p:txBody>
      </p:sp>
      <p:sp>
        <p:nvSpPr>
          <p:cNvPr id="3" name="Content Placeholder 2"/>
          <p:cNvSpPr>
            <a:spLocks noGrp="1"/>
          </p:cNvSpPr>
          <p:nvPr>
            <p:ph idx="1"/>
          </p:nvPr>
        </p:nvSpPr>
        <p:spPr bwMode="auto">
          <a:xfrm>
            <a:off x="320040" y="658368"/>
            <a:ext cx="6016752" cy="16641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Python API</a:t>
            </a:r>
            <a:r>
              <a:rPr lang="en-US" sz="1200" b="0">
                <a:solidFill>
                  <a:srgbClr val="000000"/>
                </a:solidFill>
              </a:rPr>
              <a:t> runs static analysis over Java, Python and TypeScript code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pip install cldk</a:t>
            </a:r>
            <a:r>
              <a:rPr lang="en-US" sz="1200" b="0">
                <a:solidFill>
                  <a:srgbClr val="000000"/>
                </a:solidFill>
              </a:rPr>
              <a:t> installs it on Python 3.11 or newer.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For Python,</a:t>
            </a:r>
            <a:r>
              <a:rPr lang="en-US" sz="1200" b="0">
                <a:solidFill>
                  <a:srgbClr val="FFFFFF">
                    <a:alpha val="0"/>
                  </a:srgbClr>
                </a:solidFill>
              </a:rPr>
              <a:t> the engine is </a:t>
            </a:r>
            <a:r>
              <a:rPr lang="en-US" sz="1200" b="0">
                <a:solidFill>
                  <a:srgbClr val="FFFFFF">
                    <a:alpha val="0"/>
                  </a:srgbClr>
                </a:solidFill>
                <a:latin typeface="Aptos Mono"/>
              </a:rPr>
              <a:t>codeanalyzer-python</a:t>
            </a:r>
            <a:r>
              <a:rPr lang="en-US" sz="1200" b="0">
                <a:solidFill>
                  <a:srgbClr val="FFFFFF">
                    <a:alpha val="0"/>
                  </a:srgbClr>
                </a:solidFill>
              </a:rPr>
              <a:t>, built on Jedi and the standard library's </a:t>
            </a:r>
            <a:r>
              <a:rPr lang="en-US" sz="1200" b="0">
                <a:solidFill>
                  <a:srgbClr val="FFFFFF">
                    <a:alpha val="0"/>
                  </a:srgbClr>
                </a:solidFill>
                <a:latin typeface="Aptos Mono"/>
              </a:rPr>
              <a:t>ast</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HW2's project</a:t>
            </a:r>
            <a:r>
              <a:rPr lang="en-US" sz="1200" b="0">
                <a:solidFill>
                  <a:srgbClr val="FFFFFF">
                    <a:alpha val="0"/>
                  </a:srgbClr>
                </a:solidFill>
              </a:rPr>
              <a:t> is the OWASP BenchmarkPython checkout that HW1 scanned.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et al. Codellm-Devkit: a framework for contextualizing code LLMs with program analysis insights. FSE Companion 2025, pp. 308-318.</a:t>
            </a:r>
            <a:endParaRPr/>
          </a:p>
        </p:txBody>
      </p:sp>
      <p:sp>
        <p:nvSpPr>
          <p:cNvPr id="5" name="CodeWindow"/>
          <p:cNvSpPr/>
          <p:nvPr/>
        </p:nvSpPr>
        <p:spPr bwMode="auto">
          <a:xfrm>
            <a:off x="320040" y="2472540"/>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737716"/>
            <a:ext cx="6016752" cy="0"/>
          </a:xfrm>
          <a:prstGeom prst="line">
            <a:avLst/>
          </a:prstGeom>
          <a:ln w="9525">
            <a:solidFill>
              <a:srgbClr val="DCDCDC"/>
            </a:solidFill>
          </a:ln>
        </p:spPr>
      </p:cxnSp>
      <p:sp>
        <p:nvSpPr>
          <p:cNvPr id="7" name="WinDot 0"/>
          <p:cNvSpPr/>
          <p:nvPr/>
        </p:nvSpPr>
        <p:spPr bwMode="auto">
          <a:xfrm>
            <a:off x="411480" y="25548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5548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5548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513688"/>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1: attach the analysis to the checkout</a:t>
            </a:r>
            <a:endParaRPr/>
          </a:p>
        </p:txBody>
      </p:sp>
      <p:sp>
        <p:nvSpPr>
          <p:cNvPr id="11" name="TextBox 7"/>
          <p:cNvSpPr txBox="1"/>
          <p:nvPr/>
        </p:nvSpPr>
        <p:spPr bwMode="auto">
          <a:xfrm>
            <a:off x="466344" y="2801724"/>
            <a:ext cx="5724144" cy="640268"/>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time</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cldk</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CLDK</a:t>
            </a:r>
            <a:endParaRPr/>
          </a:p>
          <a:p>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1080"/>
                </a:solidFill>
                <a:latin typeface="Aptos Mono"/>
              </a:rPr>
              <a:t>an</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get_callables_overview</a:t>
            </a:r>
            <a:r>
              <a:rPr lang="en-US" sz="800" b="0">
                <a:solidFill>
                  <a:srgbClr val="000000"/>
                </a:solidFill>
                <a:latin typeface="Aptos Mono"/>
              </a:rPr>
              <a:t>()), </a:t>
            </a:r>
            <a:r>
              <a:rPr lang="en-US" sz="800" b="0">
                <a:solidFill>
                  <a:srgbClr val="A31515"/>
                </a:solidFill>
                <a:latin typeface="Aptos Mono"/>
              </a:rPr>
              <a:t>"callables,"</a:t>
            </a:r>
            <a:r>
              <a:rPr lang="en-US" sz="800" b="0">
                <a:solidFill>
                  <a:srgbClr val="000000"/>
                </a:solidFill>
                <a:latin typeface="Aptos Mono"/>
              </a:rPr>
              <a:t>, </a:t>
            </a:r>
            <a:r>
              <a:rPr lang="en-US" sz="800" b="0">
                <a:solidFill>
                  <a:srgbClr val="A31515"/>
                </a:solidFill>
                <a:latin typeface="Aptos Mono"/>
              </a:rPr>
              <a:t>f"{time.time()-t:.0f} s"</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CLDK answers questions about Python code.</a:t>
            </a:r>
            <a:endParaRPr/>
          </a:p>
        </p:txBody>
      </p:sp>
      <p:sp>
        <p:nvSpPr>
          <p:cNvPr id="3" name="Content Placeholder 2"/>
          <p:cNvSpPr>
            <a:spLocks noGrp="1"/>
          </p:cNvSpPr>
          <p:nvPr>
            <p:ph idx="1"/>
          </p:nvPr>
        </p:nvSpPr>
        <p:spPr bwMode="auto">
          <a:xfrm>
            <a:off x="320040" y="658368"/>
            <a:ext cx="6016752" cy="16641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Python API</a:t>
            </a:r>
            <a:r>
              <a:rPr lang="en-US" sz="1200" b="0">
                <a:solidFill>
                  <a:srgbClr val="000000"/>
                </a:solidFill>
              </a:rPr>
              <a:t> runs static analysis over Java, Python and TypeScript code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pip install cldk</a:t>
            </a:r>
            <a:r>
              <a:rPr lang="en-US" sz="1200" b="0">
                <a:solidFill>
                  <a:srgbClr val="000000"/>
                </a:solidFill>
              </a:rPr>
              <a:t> installs it on Python 3.11 or newer.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For Python,</a:t>
            </a:r>
            <a:r>
              <a:rPr lang="en-US" sz="1200" b="0">
                <a:solidFill>
                  <a:srgbClr val="000000"/>
                </a:solidFill>
              </a:rPr>
              <a:t> the engine is </a:t>
            </a:r>
            <a:r>
              <a:rPr lang="en-US" sz="1200" b="0">
                <a:solidFill>
                  <a:srgbClr val="000000"/>
                </a:solidFill>
                <a:latin typeface="Aptos Mono"/>
              </a:rPr>
              <a:t>codeanalyzer-python</a:t>
            </a:r>
            <a:r>
              <a:rPr lang="en-US" sz="1200" b="0">
                <a:solidFill>
                  <a:srgbClr val="000000"/>
                </a:solidFill>
              </a:rPr>
              <a:t>, built on Jedi and the standard library's </a:t>
            </a:r>
            <a:r>
              <a:rPr lang="en-US" sz="1200" b="0">
                <a:solidFill>
                  <a:srgbClr val="000000"/>
                </a:solidFill>
                <a:latin typeface="Aptos Mono"/>
              </a:rPr>
              <a:t>ast</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HW2's project</a:t>
            </a:r>
            <a:r>
              <a:rPr lang="en-US" sz="1200" b="0">
                <a:solidFill>
                  <a:srgbClr val="FFFFFF">
                    <a:alpha val="0"/>
                  </a:srgbClr>
                </a:solidFill>
              </a:rPr>
              <a:t> is the OWASP BenchmarkPython checkout that HW1 scanned.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et al. Codellm-Devkit: a framework for contextualizing code LLMs with program analysis insights. FSE Companion 2025, pp. 308-318.</a:t>
            </a:r>
            <a:endParaRPr/>
          </a:p>
        </p:txBody>
      </p:sp>
      <p:sp>
        <p:nvSpPr>
          <p:cNvPr id="5" name="CodeWindow"/>
          <p:cNvSpPr/>
          <p:nvPr/>
        </p:nvSpPr>
        <p:spPr bwMode="auto">
          <a:xfrm>
            <a:off x="320040" y="2472540"/>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737716"/>
            <a:ext cx="6016752" cy="0"/>
          </a:xfrm>
          <a:prstGeom prst="line">
            <a:avLst/>
          </a:prstGeom>
          <a:ln w="9525">
            <a:solidFill>
              <a:srgbClr val="DCDCDC"/>
            </a:solidFill>
          </a:ln>
        </p:spPr>
      </p:cxnSp>
      <p:sp>
        <p:nvSpPr>
          <p:cNvPr id="7" name="WinDot 0"/>
          <p:cNvSpPr/>
          <p:nvPr/>
        </p:nvSpPr>
        <p:spPr bwMode="auto">
          <a:xfrm>
            <a:off x="411480" y="25548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5548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5548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513688"/>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1: attach the analysis to the checkout</a:t>
            </a:r>
            <a:endParaRPr/>
          </a:p>
        </p:txBody>
      </p:sp>
      <p:sp>
        <p:nvSpPr>
          <p:cNvPr id="11" name="TextBox 7"/>
          <p:cNvSpPr txBox="1"/>
          <p:nvPr/>
        </p:nvSpPr>
        <p:spPr bwMode="auto">
          <a:xfrm>
            <a:off x="466344" y="2801724"/>
            <a:ext cx="5724144" cy="640268"/>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time</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cldk</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CLDK</a:t>
            </a:r>
            <a:endParaRPr/>
          </a:p>
          <a:p>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1080"/>
                </a:solidFill>
                <a:latin typeface="Aptos Mono"/>
              </a:rPr>
              <a:t>an</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get_callables_overview</a:t>
            </a:r>
            <a:r>
              <a:rPr lang="en-US" sz="800" b="0">
                <a:solidFill>
                  <a:srgbClr val="000000"/>
                </a:solidFill>
                <a:latin typeface="Aptos Mono"/>
              </a:rPr>
              <a:t>()), </a:t>
            </a:r>
            <a:r>
              <a:rPr lang="en-US" sz="800" b="0">
                <a:solidFill>
                  <a:srgbClr val="A31515"/>
                </a:solidFill>
                <a:latin typeface="Aptos Mono"/>
              </a:rPr>
              <a:t>"callables,"</a:t>
            </a:r>
            <a:r>
              <a:rPr lang="en-US" sz="800" b="0">
                <a:solidFill>
                  <a:srgbClr val="000000"/>
                </a:solidFill>
                <a:latin typeface="Aptos Mono"/>
              </a:rPr>
              <a:t>, </a:t>
            </a:r>
            <a:r>
              <a:rPr lang="en-US" sz="800" b="0">
                <a:solidFill>
                  <a:srgbClr val="A31515"/>
                </a:solidFill>
                <a:latin typeface="Aptos Mono"/>
              </a:rPr>
              <a:t>f"{time.time()-t:.0f} s"</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CLDK answers questions about Python code.</a:t>
            </a:r>
            <a:endParaRPr/>
          </a:p>
        </p:txBody>
      </p:sp>
      <p:sp>
        <p:nvSpPr>
          <p:cNvPr id="3" name="Content Placeholder 2"/>
          <p:cNvSpPr>
            <a:spLocks noGrp="1"/>
          </p:cNvSpPr>
          <p:nvPr>
            <p:ph idx="1"/>
          </p:nvPr>
        </p:nvSpPr>
        <p:spPr bwMode="auto">
          <a:xfrm>
            <a:off x="320040" y="658368"/>
            <a:ext cx="6016752" cy="16641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Python API</a:t>
            </a:r>
            <a:r>
              <a:rPr lang="en-US" sz="1200" b="0">
                <a:solidFill>
                  <a:srgbClr val="000000"/>
                </a:solidFill>
              </a:rPr>
              <a:t> runs static analysis over Java, Python and TypeScript code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pip install cldk</a:t>
            </a:r>
            <a:r>
              <a:rPr lang="en-US" sz="1200" b="0">
                <a:solidFill>
                  <a:srgbClr val="000000"/>
                </a:solidFill>
              </a:rPr>
              <a:t> installs it on Python 3.11 or newer.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For Python,</a:t>
            </a:r>
            <a:r>
              <a:rPr lang="en-US" sz="1200" b="0">
                <a:solidFill>
                  <a:srgbClr val="000000"/>
                </a:solidFill>
              </a:rPr>
              <a:t> the engine is </a:t>
            </a:r>
            <a:r>
              <a:rPr lang="en-US" sz="1200" b="0">
                <a:solidFill>
                  <a:srgbClr val="000000"/>
                </a:solidFill>
                <a:latin typeface="Aptos Mono"/>
              </a:rPr>
              <a:t>codeanalyzer-python</a:t>
            </a:r>
            <a:r>
              <a:rPr lang="en-US" sz="1200" b="0">
                <a:solidFill>
                  <a:srgbClr val="000000"/>
                </a:solidFill>
              </a:rPr>
              <a:t>, built on Jedi and the standard library's </a:t>
            </a:r>
            <a:r>
              <a:rPr lang="en-US" sz="1200" b="0">
                <a:solidFill>
                  <a:srgbClr val="000000"/>
                </a:solidFill>
                <a:latin typeface="Aptos Mono"/>
              </a:rPr>
              <a:t>ast</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HW2's project</a:t>
            </a:r>
            <a:r>
              <a:rPr lang="en-US" sz="1200" b="0">
                <a:solidFill>
                  <a:srgbClr val="000000"/>
                </a:solidFill>
              </a:rPr>
              <a:t> is the OWASP BenchmarkPython checkout that HW1 scanned.</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et al. Codellm-Devkit: a framework for contextualizing code LLMs with program analysis insights. FSE Companion 2025, pp. 308-318.</a:t>
            </a:r>
            <a:endParaRPr/>
          </a:p>
        </p:txBody>
      </p:sp>
      <p:sp>
        <p:nvSpPr>
          <p:cNvPr id="5" name="CodeWindow"/>
          <p:cNvSpPr/>
          <p:nvPr/>
        </p:nvSpPr>
        <p:spPr bwMode="auto">
          <a:xfrm>
            <a:off x="320040" y="2472540"/>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737716"/>
            <a:ext cx="6016752" cy="0"/>
          </a:xfrm>
          <a:prstGeom prst="line">
            <a:avLst/>
          </a:prstGeom>
          <a:ln w="9525">
            <a:solidFill>
              <a:srgbClr val="DCDCDC"/>
            </a:solidFill>
          </a:ln>
        </p:spPr>
      </p:cxnSp>
      <p:sp>
        <p:nvSpPr>
          <p:cNvPr id="7" name="WinDot 0"/>
          <p:cNvSpPr/>
          <p:nvPr/>
        </p:nvSpPr>
        <p:spPr bwMode="auto">
          <a:xfrm>
            <a:off x="411480" y="255483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55483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55483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513688"/>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1: attach the analysis to the checkout</a:t>
            </a:r>
            <a:endParaRPr/>
          </a:p>
        </p:txBody>
      </p:sp>
      <p:sp>
        <p:nvSpPr>
          <p:cNvPr id="11" name="TextBox 7"/>
          <p:cNvSpPr txBox="1"/>
          <p:nvPr/>
        </p:nvSpPr>
        <p:spPr bwMode="auto">
          <a:xfrm>
            <a:off x="466344" y="2801724"/>
            <a:ext cx="5724144" cy="640268"/>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time</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cldk</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CLDK</a:t>
            </a:r>
            <a:endParaRPr/>
          </a:p>
          <a:p>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1080"/>
                </a:solidFill>
                <a:latin typeface="Aptos Mono"/>
              </a:rPr>
              <a:t>an</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get_callables_overview</a:t>
            </a:r>
            <a:r>
              <a:rPr lang="en-US" sz="800" b="0">
                <a:solidFill>
                  <a:srgbClr val="000000"/>
                </a:solidFill>
                <a:latin typeface="Aptos Mono"/>
              </a:rPr>
              <a:t>()), </a:t>
            </a:r>
            <a:r>
              <a:rPr lang="en-US" sz="800" b="0">
                <a:solidFill>
                  <a:srgbClr val="A31515"/>
                </a:solidFill>
                <a:latin typeface="Aptos Mono"/>
              </a:rPr>
              <a:t>"callables,"</a:t>
            </a:r>
            <a:r>
              <a:rPr lang="en-US" sz="800" b="0">
                <a:solidFill>
                  <a:srgbClr val="000000"/>
                </a:solidFill>
                <a:latin typeface="Aptos Mono"/>
              </a:rPr>
              <a:t>, </a:t>
            </a:r>
            <a:r>
              <a:rPr lang="en-US" sz="800" b="0">
                <a:solidFill>
                  <a:srgbClr val="A31515"/>
                </a:solidFill>
                <a:latin typeface="Aptos Mono"/>
              </a:rPr>
              <a:t>f"{time.time()-t:.0f} s"</a:t>
            </a:r>
            <a:r>
              <a:rPr lang="en-US" sz="800" b="0">
                <a:solidFill>
                  <a:srgbClr val="000000"/>
                </a:solidFill>
                <a:latin typeface="Aptos Mono"/>
              </a:rPr>
              <a:t>)</a:t>
            </a:r>
            <a:endParaRPr/>
          </a:p>
        </p:txBody>
      </p:sp>
      <p:sp>
        <p:nvSpPr>
          <p:cNvPr id="12" name="CodeWindow out"/>
          <p:cNvSpPr/>
          <p:nvPr/>
        </p:nvSpPr>
        <p:spPr bwMode="auto">
          <a:xfrm>
            <a:off x="320040" y="3575992"/>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841168"/>
            <a:ext cx="6016752" cy="0"/>
          </a:xfrm>
          <a:prstGeom prst="line">
            <a:avLst/>
          </a:prstGeom>
          <a:ln w="9525">
            <a:solidFill>
              <a:srgbClr val="DCDCDC"/>
            </a:solidFill>
          </a:ln>
        </p:spPr>
      </p:cxnSp>
      <p:sp>
        <p:nvSpPr>
          <p:cNvPr id="14" name="WinDot 0 out"/>
          <p:cNvSpPr/>
          <p:nvPr/>
        </p:nvSpPr>
        <p:spPr bwMode="auto">
          <a:xfrm>
            <a:off x="411480" y="36582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36582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36582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3617140"/>
            <a:ext cx="5349240" cy="182880"/>
          </a:xfrm>
          <a:prstGeom prst="rect">
            <a:avLst/>
          </a:prstGeom>
          <a:noFill/>
        </p:spPr>
        <p:txBody>
          <a:bodyPr wrap="square" lIns="0" tIns="0" rIns="0" bIns="0" anchor="ctr">
            <a:noAutofit/>
          </a:bodyPr>
          <a:lstStyle/>
          <a:p>
            <a:pPr algn="l">
              <a:defRPr/>
            </a:pPr>
            <a:r>
              <a:rPr sz="850" b="0">
                <a:solidFill>
                  <a:srgbClr val="5B6673"/>
                </a:solidFill>
              </a:rPr>
              <a:t>output: a warm attach, read from the cache in cldk-demo/owasp/.codeanalyzer</a:t>
            </a:r>
            <a:endParaRPr/>
          </a:p>
        </p:txBody>
      </p:sp>
      <p:sp>
        <p:nvSpPr>
          <p:cNvPr id="18" name="TextBox 7 out"/>
          <p:cNvSpPr txBox="1"/>
          <p:nvPr/>
        </p:nvSpPr>
        <p:spPr bwMode="auto">
          <a:xfrm>
            <a:off x="466344" y="3905176"/>
            <a:ext cx="5724144" cy="144053"/>
          </a:xfrm>
          <a:prstGeom prst="rect">
            <a:avLst/>
          </a:prstGeom>
          <a:noFill/>
        </p:spPr>
        <p:txBody>
          <a:bodyPr wrap="none" lIns="0" tIns="0" rIns="0" bIns="0">
            <a:spAutoFit/>
          </a:bodyPr>
          <a:lstStyle/>
          <a:p>
            <a:r>
              <a:rPr lang="en-US" sz="800" b="0">
                <a:solidFill>
                  <a:srgbClr val="000000"/>
                </a:solidFill>
                <a:latin typeface="Aptos Mono"/>
              </a:rPr>
              <a:t>3710 callables, 7 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analysis level sets what CLDK answers.</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symbol_table</a:t>
            </a:r>
            <a:r>
              <a:rPr lang="en-US" sz="1200" b="0">
                <a:solidFill>
                  <a:srgbClr val="000000"/>
                </a:solidFill>
              </a:rPr>
              <a:t> knows what is declared, and </a:t>
            </a:r>
            <a:r>
              <a:rPr lang="en-US" sz="1200" b="0">
                <a:solidFill>
                  <a:srgbClr val="000000"/>
                </a:solidFill>
                <a:latin typeface="Aptos Mono"/>
              </a:rPr>
              <a:t>call_graph</a:t>
            </a:r>
            <a:r>
              <a:rPr lang="en-US" sz="1200" b="0">
                <a:solidFill>
                  <a:srgbClr val="000000"/>
                </a:solidFill>
              </a:rPr>
              <a:t> who calls whom.</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program_dependency_graph</a:t>
            </a:r>
            <a:r>
              <a:rPr lang="en-US" sz="1200" b="0">
                <a:solidFill>
                  <a:srgbClr val="000000"/>
                </a:solidFill>
              </a:rPr>
              <a:t> adds flow inside each callable, and </a:t>
            </a:r>
            <a:r>
              <a:rPr lang="en-US" sz="1200" b="0">
                <a:solidFill>
                  <a:srgbClr val="000000"/>
                </a:solidFill>
                <a:latin typeface="Aptos Mono"/>
              </a:rPr>
              <a:t>system_dependency_graph</a:t>
            </a:r>
            <a:r>
              <a:rPr lang="en-US" sz="1200" b="0">
                <a:solidFill>
                  <a:srgbClr val="000000"/>
                </a:solidFill>
              </a:rPr>
              <a:t> adds flow across them.</a:t>
            </a:r>
            <a:endParaRPr/>
          </a:p>
        </p:txBody>
      </p:sp>
      <p:sp>
        <p:nvSpPr>
          <p:cNvPr id="4" name="Rectangle 4"/>
          <p:cNvSpPr/>
          <p:nvPr/>
        </p:nvSpPr>
        <p:spPr bwMode="auto">
          <a:xfrm>
            <a:off x="320040" y="4331595"/>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Choose the level your questions need, and pay for it once.</a:t>
            </a:r>
            <a:endParaRPr/>
          </a:p>
        </p:txBody>
      </p:sp>
      <p:sp>
        <p:nvSpPr>
          <p:cNvPr id="5" name="CodeWindow"/>
          <p:cNvSpPr/>
          <p:nvPr/>
        </p:nvSpPr>
        <p:spPr bwMode="auto">
          <a:xfrm>
            <a:off x="320040" y="1689204"/>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954380"/>
            <a:ext cx="6016752" cy="0"/>
          </a:xfrm>
          <a:prstGeom prst="line">
            <a:avLst/>
          </a:prstGeom>
          <a:ln w="9525">
            <a:solidFill>
              <a:srgbClr val="DCDCDC"/>
            </a:solidFill>
          </a:ln>
        </p:spPr>
      </p:cxnSp>
      <p:sp>
        <p:nvSpPr>
          <p:cNvPr id="7"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levels.py: the first attach at each level, each on a fresh copy of the checkout</a:t>
            </a:r>
            <a:endParaRPr/>
          </a:p>
        </p:txBody>
      </p:sp>
      <p:sp>
        <p:nvSpPr>
          <p:cNvPr id="11" name="TextBox 7"/>
          <p:cNvSpPr txBox="1"/>
          <p:nvPr/>
        </p:nvSpPr>
        <p:spPr bwMode="auto">
          <a:xfrm>
            <a:off x="466344" y="2018388"/>
            <a:ext cx="5724144" cy="1012428"/>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level</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31515"/>
                </a:solidFill>
                <a:latin typeface="Aptos Mono"/>
              </a:rPr>
              <a:t>"symbol_table"</a:t>
            </a:r>
            <a:r>
              <a:rPr lang="en-US" sz="800" b="0">
                <a:solidFill>
                  <a:srgbClr val="000000"/>
                </a:solidFill>
                <a:latin typeface="Aptos Mono"/>
              </a:rPr>
              <a:t>, </a:t>
            </a:r>
            <a:r>
              <a:rPr lang="en-US" sz="800" b="0">
                <a:solidFill>
                  <a:srgbClr val="A31515"/>
                </a:solidFill>
                <a:latin typeface="Aptos Mono"/>
              </a:rPr>
              <a:t>"call_graph"</a:t>
            </a:r>
            <a:r>
              <a:rPr lang="en-US" sz="800" b="0">
                <a:solidFill>
                  <a:srgbClr val="000000"/>
                </a:solidFill>
                <a:latin typeface="Aptos Mono"/>
              </a:rPr>
              <a:t>, </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"system_dependency_graph"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fresh</a:t>
            </a:r>
            <a:r>
              <a:rPr lang="en-US" sz="800" b="0">
                <a:solidFill>
                  <a:srgbClr val="000000"/>
                </a:solidFill>
                <a:latin typeface="Aptos Mono"/>
              </a:rPr>
              <a:t> = </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copytree</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A31515"/>
                </a:solidFill>
                <a:latin typeface="Aptos Mono"/>
              </a:rPr>
              <a:t>f"{out}/{level}"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ignore</a:t>
            </a:r>
            <a:r>
              <a:rPr lang="en-US" sz="800" b="0">
                <a:solidFill>
                  <a:srgbClr val="000000"/>
                </a:solidFill>
                <a:latin typeface="Aptos Mono"/>
              </a:rPr>
              <a:t>=</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ignore_patterns</a:t>
            </a:r>
            <a:r>
              <a:rPr lang="en-US" sz="800" b="0">
                <a:solidFill>
                  <a:srgbClr val="000000"/>
                </a:solidFill>
                <a:latin typeface="Aptos Mono"/>
              </a:rPr>
              <a:t>(</a:t>
            </a:r>
            <a:r>
              <a:rPr lang="en-US" sz="800" b="0">
                <a:solidFill>
                  <a:srgbClr val="A31515"/>
                </a:solidFill>
                <a:latin typeface="Aptos Mono"/>
              </a:rPr>
              <a:t>".codeanalyzer"</a:t>
            </a:r>
            <a:r>
              <a:rPr lang="en-US" sz="800" b="0">
                <a:solidFill>
                  <a:srgbClr val="000000"/>
                </a:solidFill>
                <a:latin typeface="Aptos Mono"/>
              </a:rPr>
              <a:t>, </a:t>
            </a:r>
            <a:r>
              <a:rPr lang="en-US" sz="800" b="0">
                <a:solidFill>
                  <a:srgbClr val="A31515"/>
                </a:solidFill>
                <a:latin typeface="Aptos Mono"/>
              </a:rPr>
              <a:t>".git"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001080"/>
                </a:solidFill>
                <a:latin typeface="Aptos Mono"/>
              </a:rPr>
              <a:t>fresh</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f"{level:&lt;25} {len(ans[level].get_callables_overview())} callables "</a:t>
            </a:r>
            <a:endParaRPr/>
          </a:p>
          <a:p>
            <a:r>
              <a:rPr lang="en-US" sz="800" b="0">
                <a:solidFill>
                  <a:srgbClr val="000000"/>
                </a:solidFill>
                <a:latin typeface="Aptos Mono"/>
              </a:rPr>
              <a:t>          </a:t>
            </a:r>
            <a:r>
              <a:rPr lang="en-US" sz="800" b="0">
                <a:solidFill>
                  <a:srgbClr val="A31515"/>
                </a:solidFill>
                <a:latin typeface="Aptos Mono"/>
              </a:rPr>
              <a:t>f"{time.time() - t:4.0f} s"</a:t>
            </a:r>
            <a:r>
              <a:rPr lang="en-US" sz="800" b="0">
                <a:solidFill>
                  <a:srgbClr val="000000"/>
                </a:solidFill>
                <a:latin typeface="Aptos Mono"/>
              </a:rPr>
              <a:t>, </a:t>
            </a:r>
            <a:r>
              <a:rPr lang="en-US" sz="800" b="0">
                <a:solidFill>
                  <a:srgbClr val="001080"/>
                </a:solidFill>
                <a:latin typeface="Aptos Mono"/>
              </a:rPr>
              <a:t>flush</a:t>
            </a:r>
            <a:r>
              <a:rPr lang="en-US" sz="800" b="0">
                <a:solidFill>
                  <a:srgbClr val="000000"/>
                </a:solidFill>
                <a:latin typeface="Aptos Mono"/>
              </a:rPr>
              <a:t>=</a:t>
            </a:r>
            <a:r>
              <a:rPr lang="en-US" sz="800" b="0">
                <a:solidFill>
                  <a:srgbClr val="0000FF"/>
                </a:solidFill>
                <a:latin typeface="Aptos Mono"/>
              </a:rPr>
              <a:t>True</a:t>
            </a:r>
            <a:r>
              <a:rPr lang="en-US" sz="800" b="0">
                <a:solidFill>
                  <a:srgbClr val="000000"/>
                </a:solidFill>
                <a:latin typeface="Aptos Mono"/>
              </a:rPr>
              <a:t>)</a:t>
            </a:r>
            <a:endParaRPr/>
          </a:p>
        </p:txBody>
      </p:sp>
      <p:sp>
        <p:nvSpPr>
          <p:cNvPr id="12" name="CodeWindow out"/>
          <p:cNvSpPr/>
          <p:nvPr/>
        </p:nvSpPr>
        <p:spPr bwMode="auto">
          <a:xfrm>
            <a:off x="320040" y="3164816"/>
            <a:ext cx="6016752" cy="91539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429992"/>
            <a:ext cx="6016752" cy="0"/>
          </a:xfrm>
          <a:prstGeom prst="line">
            <a:avLst/>
          </a:prstGeom>
          <a:ln w="9525">
            <a:solidFill>
              <a:srgbClr val="DCDCDC"/>
            </a:solidFill>
          </a:ln>
        </p:spPr>
      </p:cxnSp>
      <p:sp>
        <p:nvSpPr>
          <p:cNvPr id="14" name="WinDot 0 out"/>
          <p:cNvSpPr/>
          <p:nvPr/>
        </p:nvSpPr>
        <p:spPr bwMode="auto">
          <a:xfrm>
            <a:off x="411480" y="324711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324711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324711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3205964"/>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attach at each level on this Mac, 2026-10-15</a:t>
            </a:r>
            <a:endParaRPr/>
          </a:p>
        </p:txBody>
      </p:sp>
      <p:sp>
        <p:nvSpPr>
          <p:cNvPr id="18" name="TextBox 7 out"/>
          <p:cNvSpPr txBox="1"/>
          <p:nvPr/>
        </p:nvSpPr>
        <p:spPr bwMode="auto">
          <a:xfrm>
            <a:off x="466344" y="3494000"/>
            <a:ext cx="5724144" cy="516214"/>
          </a:xfrm>
          <a:prstGeom prst="rect">
            <a:avLst/>
          </a:prstGeom>
          <a:noFill/>
        </p:spPr>
        <p:txBody>
          <a:bodyPr wrap="none" lIns="0" tIns="0" rIns="0" bIns="0">
            <a:spAutoFit/>
          </a:bodyPr>
          <a:lstStyle/>
          <a:p>
            <a:r>
              <a:rPr lang="en-US" sz="800" b="0">
                <a:solidFill>
                  <a:srgbClr val="000000"/>
                </a:solidFill>
                <a:latin typeface="Aptos Mono"/>
              </a:rPr>
              <a:t>symbol_table              3710 callables  182 s</a:t>
            </a:r>
            <a:endParaRPr/>
          </a:p>
          <a:p>
            <a:r>
              <a:rPr lang="en-US" sz="800" b="0">
                <a:solidFill>
                  <a:srgbClr val="000000"/>
                </a:solidFill>
                <a:latin typeface="Aptos Mono"/>
              </a:rPr>
              <a:t>call_graph                3710 callables  219 s</a:t>
            </a:r>
            <a:endParaRPr/>
          </a:p>
          <a:p>
            <a:r>
              <a:rPr lang="en-US" sz="800" b="0">
                <a:solidFill>
                  <a:srgbClr val="000000"/>
                </a:solidFill>
                <a:latin typeface="Aptos Mono"/>
              </a:rPr>
              <a:t>program_dependency_graph  3710 callables  220 s</a:t>
            </a:r>
            <a:endParaRPr/>
          </a:p>
          <a:p>
            <a:r>
              <a:rPr lang="en-US" sz="800" b="0">
                <a:solidFill>
                  <a:srgbClr val="000000"/>
                </a:solidFill>
                <a:latin typeface="Aptos Mono"/>
              </a:rPr>
              <a:t>system_dependency_graph   3710 callables  222 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analysis level sets what CLDK answers.</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symbol_table</a:t>
            </a:r>
            <a:r>
              <a:rPr lang="en-US" sz="1200" b="0">
                <a:solidFill>
                  <a:srgbClr val="000000"/>
                </a:solidFill>
              </a:rPr>
              <a:t> knows what is declared, and </a:t>
            </a:r>
            <a:r>
              <a:rPr lang="en-US" sz="1200" b="0">
                <a:solidFill>
                  <a:srgbClr val="000000"/>
                </a:solidFill>
                <a:latin typeface="Aptos Mono"/>
              </a:rPr>
              <a:t>call_graph</a:t>
            </a:r>
            <a:r>
              <a:rPr lang="en-US" sz="1200" b="0">
                <a:solidFill>
                  <a:srgbClr val="000000"/>
                </a:solidFill>
              </a:rPr>
              <a:t> who calls whom.</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program_dependency_graph</a:t>
            </a:r>
            <a:r>
              <a:rPr lang="en-US" sz="1200" b="0">
                <a:solidFill>
                  <a:srgbClr val="FFFFFF">
                    <a:alpha val="0"/>
                  </a:srgbClr>
                </a:solidFill>
              </a:rPr>
              <a:t> adds flow inside each callable, and </a:t>
            </a:r>
            <a:r>
              <a:rPr lang="en-US" sz="1200" b="0">
                <a:solidFill>
                  <a:srgbClr val="FFFFFF">
                    <a:alpha val="0"/>
                  </a:srgbClr>
                </a:solidFill>
                <a:latin typeface="Aptos Mono"/>
              </a:rPr>
              <a:t>system_dependency_graph</a:t>
            </a:r>
            <a:r>
              <a:rPr lang="en-US" sz="1200" b="0">
                <a:solidFill>
                  <a:srgbClr val="FFFFFF">
                    <a:alpha val="0"/>
                  </a:srgbClr>
                </a:solidFill>
              </a:rPr>
              <a:t> adds flow across them.</a:t>
            </a:r>
            <a:endParaRPr>
              <a:solidFill>
                <a:srgbClr val="FFFFFF">
                  <a:alpha val="0"/>
                </a:srgbClr>
              </a:solidFill>
            </a:endParaRPr>
          </a:p>
        </p:txBody>
      </p:sp>
      <p:sp>
        <p:nvSpPr>
          <p:cNvPr id="4" name="CodeWindow"/>
          <p:cNvSpPr/>
          <p:nvPr/>
        </p:nvSpPr>
        <p:spPr bwMode="auto">
          <a:xfrm>
            <a:off x="320040" y="1689204"/>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levels.py: the first attach at each level, each on a fresh copy of the checkout</a:t>
            </a:r>
            <a:endParaRPr/>
          </a:p>
        </p:txBody>
      </p:sp>
      <p:sp>
        <p:nvSpPr>
          <p:cNvPr id="10" name="TextBox 7"/>
          <p:cNvSpPr txBox="1"/>
          <p:nvPr/>
        </p:nvSpPr>
        <p:spPr bwMode="auto">
          <a:xfrm>
            <a:off x="466344" y="2018388"/>
            <a:ext cx="5724144" cy="1012428"/>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level</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31515"/>
                </a:solidFill>
                <a:latin typeface="Aptos Mono"/>
              </a:rPr>
              <a:t>"symbol_table"</a:t>
            </a:r>
            <a:r>
              <a:rPr lang="en-US" sz="800" b="0">
                <a:solidFill>
                  <a:srgbClr val="000000"/>
                </a:solidFill>
                <a:latin typeface="Aptos Mono"/>
              </a:rPr>
              <a:t>, </a:t>
            </a:r>
            <a:r>
              <a:rPr lang="en-US" sz="800" b="0">
                <a:solidFill>
                  <a:srgbClr val="A31515"/>
                </a:solidFill>
                <a:latin typeface="Aptos Mono"/>
              </a:rPr>
              <a:t>"call_graph"</a:t>
            </a:r>
            <a:r>
              <a:rPr lang="en-US" sz="800" b="0">
                <a:solidFill>
                  <a:srgbClr val="000000"/>
                </a:solidFill>
                <a:latin typeface="Aptos Mono"/>
              </a:rPr>
              <a:t>, </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"system_dependency_graph"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fresh</a:t>
            </a:r>
            <a:r>
              <a:rPr lang="en-US" sz="800" b="0">
                <a:solidFill>
                  <a:srgbClr val="000000"/>
                </a:solidFill>
                <a:latin typeface="Aptos Mono"/>
              </a:rPr>
              <a:t> = </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copytree</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A31515"/>
                </a:solidFill>
                <a:latin typeface="Aptos Mono"/>
              </a:rPr>
              <a:t>f"{out}/{level}"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ignore</a:t>
            </a:r>
            <a:r>
              <a:rPr lang="en-US" sz="800" b="0">
                <a:solidFill>
                  <a:srgbClr val="000000"/>
                </a:solidFill>
                <a:latin typeface="Aptos Mono"/>
              </a:rPr>
              <a:t>=</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ignore_patterns</a:t>
            </a:r>
            <a:r>
              <a:rPr lang="en-US" sz="800" b="0">
                <a:solidFill>
                  <a:srgbClr val="000000"/>
                </a:solidFill>
                <a:latin typeface="Aptos Mono"/>
              </a:rPr>
              <a:t>(</a:t>
            </a:r>
            <a:r>
              <a:rPr lang="en-US" sz="800" b="0">
                <a:solidFill>
                  <a:srgbClr val="A31515"/>
                </a:solidFill>
                <a:latin typeface="Aptos Mono"/>
              </a:rPr>
              <a:t>".codeanalyzer"</a:t>
            </a:r>
            <a:r>
              <a:rPr lang="en-US" sz="800" b="0">
                <a:solidFill>
                  <a:srgbClr val="000000"/>
                </a:solidFill>
                <a:latin typeface="Aptos Mono"/>
              </a:rPr>
              <a:t>, </a:t>
            </a:r>
            <a:r>
              <a:rPr lang="en-US" sz="800" b="0">
                <a:solidFill>
                  <a:srgbClr val="A31515"/>
                </a:solidFill>
                <a:latin typeface="Aptos Mono"/>
              </a:rPr>
              <a:t>".git"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001080"/>
                </a:solidFill>
                <a:latin typeface="Aptos Mono"/>
              </a:rPr>
              <a:t>fresh</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f"{level:&lt;25} {len(ans[level].get_callables_overview())} callables "</a:t>
            </a:r>
            <a:endParaRPr/>
          </a:p>
          <a:p>
            <a:r>
              <a:rPr lang="en-US" sz="800" b="0">
                <a:solidFill>
                  <a:srgbClr val="000000"/>
                </a:solidFill>
                <a:latin typeface="Aptos Mono"/>
              </a:rPr>
              <a:t>          </a:t>
            </a:r>
            <a:r>
              <a:rPr lang="en-US" sz="800" b="0">
                <a:solidFill>
                  <a:srgbClr val="A31515"/>
                </a:solidFill>
                <a:latin typeface="Aptos Mono"/>
              </a:rPr>
              <a:t>f"{time.time() - t:4.0f} s"</a:t>
            </a:r>
            <a:r>
              <a:rPr lang="en-US" sz="800" b="0">
                <a:solidFill>
                  <a:srgbClr val="000000"/>
                </a:solidFill>
                <a:latin typeface="Aptos Mono"/>
              </a:rPr>
              <a:t>, </a:t>
            </a:r>
            <a:r>
              <a:rPr lang="en-US" sz="800" b="0">
                <a:solidFill>
                  <a:srgbClr val="001080"/>
                </a:solidFill>
                <a:latin typeface="Aptos Mono"/>
              </a:rPr>
              <a:t>flush</a:t>
            </a:r>
            <a:r>
              <a:rPr lang="en-US" sz="800" b="0">
                <a:solidFill>
                  <a:srgbClr val="000000"/>
                </a:solidFill>
                <a:latin typeface="Aptos Mono"/>
              </a:rPr>
              <a:t>=</a:t>
            </a:r>
            <a:r>
              <a:rPr lang="en-US" sz="800" b="0">
                <a:solidFill>
                  <a:srgbClr val="0000FF"/>
                </a:solidFill>
                <a:latin typeface="Aptos Mono"/>
              </a:rPr>
              <a:t>True</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analysis level sets what CLDK answers.</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symbol_table</a:t>
            </a:r>
            <a:r>
              <a:rPr lang="en-US" sz="1200" b="0">
                <a:solidFill>
                  <a:srgbClr val="000000"/>
                </a:solidFill>
              </a:rPr>
              <a:t> knows what is declared, and </a:t>
            </a:r>
            <a:r>
              <a:rPr lang="en-US" sz="1200" b="0">
                <a:solidFill>
                  <a:srgbClr val="000000"/>
                </a:solidFill>
                <a:latin typeface="Aptos Mono"/>
              </a:rPr>
              <a:t>call_graph</a:t>
            </a:r>
            <a:r>
              <a:rPr lang="en-US" sz="1200" b="0">
                <a:solidFill>
                  <a:srgbClr val="000000"/>
                </a:solidFill>
              </a:rPr>
              <a:t> who calls whom.</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program_dependency_graph</a:t>
            </a:r>
            <a:r>
              <a:rPr lang="en-US" sz="1200" b="0">
                <a:solidFill>
                  <a:srgbClr val="000000"/>
                </a:solidFill>
              </a:rPr>
              <a:t> adds flow inside each callable, and </a:t>
            </a:r>
            <a:r>
              <a:rPr lang="en-US" sz="1200" b="0">
                <a:solidFill>
                  <a:srgbClr val="000000"/>
                </a:solidFill>
                <a:latin typeface="Aptos Mono"/>
              </a:rPr>
              <a:t>system_dependency_graph</a:t>
            </a:r>
            <a:r>
              <a:rPr lang="en-US" sz="1200" b="0">
                <a:solidFill>
                  <a:srgbClr val="000000"/>
                </a:solidFill>
              </a:rPr>
              <a:t> adds flow across them.</a:t>
            </a:r>
            <a:endParaRPr/>
          </a:p>
        </p:txBody>
      </p:sp>
      <p:sp>
        <p:nvSpPr>
          <p:cNvPr id="4" name="CodeWindow"/>
          <p:cNvSpPr/>
          <p:nvPr/>
        </p:nvSpPr>
        <p:spPr bwMode="auto">
          <a:xfrm>
            <a:off x="320040" y="1689204"/>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levels.py: the first attach at each level, each on a fresh copy of the checkout</a:t>
            </a:r>
            <a:endParaRPr/>
          </a:p>
        </p:txBody>
      </p:sp>
      <p:sp>
        <p:nvSpPr>
          <p:cNvPr id="10" name="TextBox 7"/>
          <p:cNvSpPr txBox="1"/>
          <p:nvPr/>
        </p:nvSpPr>
        <p:spPr bwMode="auto">
          <a:xfrm>
            <a:off x="466344" y="2018388"/>
            <a:ext cx="5724144" cy="1012428"/>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level</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31515"/>
                </a:solidFill>
                <a:latin typeface="Aptos Mono"/>
              </a:rPr>
              <a:t>"symbol_table"</a:t>
            </a:r>
            <a:r>
              <a:rPr lang="en-US" sz="800" b="0">
                <a:solidFill>
                  <a:srgbClr val="000000"/>
                </a:solidFill>
                <a:latin typeface="Aptos Mono"/>
              </a:rPr>
              <a:t>, </a:t>
            </a:r>
            <a:r>
              <a:rPr lang="en-US" sz="800" b="0">
                <a:solidFill>
                  <a:srgbClr val="A31515"/>
                </a:solidFill>
                <a:latin typeface="Aptos Mono"/>
              </a:rPr>
              <a:t>"call_graph"</a:t>
            </a:r>
            <a:r>
              <a:rPr lang="en-US" sz="800" b="0">
                <a:solidFill>
                  <a:srgbClr val="000000"/>
                </a:solidFill>
                <a:latin typeface="Aptos Mono"/>
              </a:rPr>
              <a:t>, </a:t>
            </a:r>
            <a:r>
              <a:rPr lang="en-US" sz="800" b="0">
                <a:solidFill>
                  <a:srgbClr val="A31515"/>
                </a:solidFill>
                <a:latin typeface="Aptos Mono"/>
              </a:rPr>
              <a:t>"program_dependency_graph"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"system_dependency_graph"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fresh</a:t>
            </a:r>
            <a:r>
              <a:rPr lang="en-US" sz="800" b="0">
                <a:solidFill>
                  <a:srgbClr val="000000"/>
                </a:solidFill>
                <a:latin typeface="Aptos Mono"/>
              </a:rPr>
              <a:t> = </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copytree</a:t>
            </a:r>
            <a:r>
              <a:rPr lang="en-US" sz="800" b="0">
                <a:solidFill>
                  <a:srgbClr val="000000"/>
                </a:solidFill>
                <a:latin typeface="Aptos Mono"/>
              </a:rPr>
              <a:t>(</a:t>
            </a:r>
            <a:r>
              <a:rPr lang="en-US" sz="800" b="0">
                <a:solidFill>
                  <a:srgbClr val="A31515"/>
                </a:solidFill>
                <a:latin typeface="Aptos Mono"/>
              </a:rPr>
              <a:t>"cldk-demo/owasp"</a:t>
            </a:r>
            <a:r>
              <a:rPr lang="en-US" sz="800" b="0">
                <a:solidFill>
                  <a:srgbClr val="000000"/>
                </a:solidFill>
                <a:latin typeface="Aptos Mono"/>
              </a:rPr>
              <a:t>, </a:t>
            </a:r>
            <a:r>
              <a:rPr lang="en-US" sz="800" b="0">
                <a:solidFill>
                  <a:srgbClr val="A31515"/>
                </a:solidFill>
                <a:latin typeface="Aptos Mono"/>
              </a:rPr>
              <a:t>f"{out}/{level}"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ignore</a:t>
            </a:r>
            <a:r>
              <a:rPr lang="en-US" sz="800" b="0">
                <a:solidFill>
                  <a:srgbClr val="000000"/>
                </a:solidFill>
                <a:latin typeface="Aptos Mono"/>
              </a:rPr>
              <a:t>=</a:t>
            </a:r>
            <a:r>
              <a:rPr lang="en-US" sz="800" b="0">
                <a:solidFill>
                  <a:srgbClr val="001080"/>
                </a:solidFill>
                <a:latin typeface="Aptos Mono"/>
              </a:rPr>
              <a:t>shutil</a:t>
            </a:r>
            <a:r>
              <a:rPr lang="en-US" sz="800" b="0">
                <a:solidFill>
                  <a:srgbClr val="000000"/>
                </a:solidFill>
                <a:latin typeface="Aptos Mono"/>
              </a:rPr>
              <a:t>.</a:t>
            </a:r>
            <a:r>
              <a:rPr lang="en-US" sz="800" b="0">
                <a:solidFill>
                  <a:srgbClr val="795E26"/>
                </a:solidFill>
                <a:latin typeface="Aptos Mono"/>
              </a:rPr>
              <a:t>ignore_patterns</a:t>
            </a:r>
            <a:r>
              <a:rPr lang="en-US" sz="800" b="0">
                <a:solidFill>
                  <a:srgbClr val="000000"/>
                </a:solidFill>
                <a:latin typeface="Aptos Mono"/>
              </a:rPr>
              <a:t>(</a:t>
            </a:r>
            <a:r>
              <a:rPr lang="en-US" sz="800" b="0">
                <a:solidFill>
                  <a:srgbClr val="A31515"/>
                </a:solidFill>
                <a:latin typeface="Aptos Mono"/>
              </a:rPr>
              <a:t>".codeanalyzer"</a:t>
            </a:r>
            <a:r>
              <a:rPr lang="en-US" sz="800" b="0">
                <a:solidFill>
                  <a:srgbClr val="000000"/>
                </a:solidFill>
                <a:latin typeface="Aptos Mono"/>
              </a:rPr>
              <a:t>, </a:t>
            </a:r>
            <a:r>
              <a:rPr lang="en-US" sz="800" b="0">
                <a:solidFill>
                  <a:srgbClr val="A31515"/>
                </a:solidFill>
                <a:latin typeface="Aptos Mono"/>
              </a:rPr>
              <a:t>".git"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 </a:t>
            </a:r>
            <a:r>
              <a:rPr lang="en-US" sz="800" b="0">
                <a:solidFill>
                  <a:srgbClr val="001080"/>
                </a:solidFill>
                <a:latin typeface="Aptos Mono"/>
              </a:rPr>
              <a:t>time</a:t>
            </a:r>
            <a:r>
              <a:rPr lang="en-US" sz="800" b="0">
                <a:solidFill>
                  <a:srgbClr val="000000"/>
                </a:solidFill>
                <a:latin typeface="Aptos Mono"/>
              </a:rPr>
              <a:t>.</a:t>
            </a:r>
            <a:r>
              <a:rPr lang="en-US" sz="800" b="0">
                <a:solidFill>
                  <a:srgbClr val="795E26"/>
                </a:solidFill>
                <a:latin typeface="Aptos Mono"/>
              </a:rPr>
              <a:t>time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 = </a:t>
            </a:r>
            <a:r>
              <a:rPr lang="en-US" sz="800" b="0">
                <a:solidFill>
                  <a:srgbClr val="267F99"/>
                </a:solidFill>
                <a:latin typeface="Aptos Mono"/>
              </a:rPr>
              <a:t>CLDK</a:t>
            </a:r>
            <a:r>
              <a:rPr lang="en-US" sz="800" b="0">
                <a:solidFill>
                  <a:srgbClr val="000000"/>
                </a:solidFill>
                <a:latin typeface="Aptos Mono"/>
              </a:rPr>
              <a:t>.</a:t>
            </a:r>
            <a:r>
              <a:rPr lang="en-US" sz="800" b="0">
                <a:solidFill>
                  <a:srgbClr val="795E26"/>
                </a:solidFill>
                <a:latin typeface="Aptos Mono"/>
              </a:rPr>
              <a:t>python</a:t>
            </a:r>
            <a:r>
              <a:rPr lang="en-US" sz="800" b="0">
                <a:solidFill>
                  <a:srgbClr val="000000"/>
                </a:solidFill>
                <a:latin typeface="Aptos Mono"/>
              </a:rPr>
              <a:t>(</a:t>
            </a:r>
            <a:r>
              <a:rPr lang="en-US" sz="800" b="0">
                <a:solidFill>
                  <a:srgbClr val="001080"/>
                </a:solidFill>
                <a:latin typeface="Aptos Mono"/>
              </a:rPr>
              <a:t>project_path</a:t>
            </a:r>
            <a:r>
              <a:rPr lang="en-US" sz="800" b="0">
                <a:solidFill>
                  <a:srgbClr val="000000"/>
                </a:solidFill>
                <a:latin typeface="Aptos Mono"/>
              </a:rPr>
              <a:t>=</a:t>
            </a:r>
            <a:r>
              <a:rPr lang="en-US" sz="800" b="0">
                <a:solidFill>
                  <a:srgbClr val="001080"/>
                </a:solidFill>
                <a:latin typeface="Aptos Mono"/>
              </a:rPr>
              <a:t>fresh</a:t>
            </a:r>
            <a:r>
              <a:rPr lang="en-US" sz="800" b="0">
                <a:solidFill>
                  <a:srgbClr val="000000"/>
                </a:solidFill>
                <a:latin typeface="Aptos Mono"/>
              </a:rPr>
              <a:t>, </a:t>
            </a:r>
            <a:r>
              <a:rPr lang="en-US" sz="800" b="0">
                <a:solidFill>
                  <a:srgbClr val="001080"/>
                </a:solidFill>
                <a:latin typeface="Aptos Mono"/>
              </a:rPr>
              <a:t>analysis_level</a:t>
            </a:r>
            <a:r>
              <a:rPr lang="en-US" sz="800" b="0">
                <a:solidFill>
                  <a:srgbClr val="000000"/>
                </a:solidFill>
                <a:latin typeface="Aptos Mono"/>
              </a:rPr>
              <a:t>=</a:t>
            </a:r>
            <a:r>
              <a:rPr lang="en-US" sz="800" b="0">
                <a:solidFill>
                  <a:srgbClr val="001080"/>
                </a:solidFill>
                <a:latin typeface="Aptos Mono"/>
              </a:rPr>
              <a:t>level</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f"{level:&lt;25} {len(ans[level].get_callables_overview())} callables "</a:t>
            </a:r>
            <a:endParaRPr/>
          </a:p>
          <a:p>
            <a:r>
              <a:rPr lang="en-US" sz="800" b="0">
                <a:solidFill>
                  <a:srgbClr val="000000"/>
                </a:solidFill>
                <a:latin typeface="Aptos Mono"/>
              </a:rPr>
              <a:t>          </a:t>
            </a:r>
            <a:r>
              <a:rPr lang="en-US" sz="800" b="0">
                <a:solidFill>
                  <a:srgbClr val="A31515"/>
                </a:solidFill>
                <a:latin typeface="Aptos Mono"/>
              </a:rPr>
              <a:t>f"{time.time() - t:4.0f} s"</a:t>
            </a:r>
            <a:r>
              <a:rPr lang="en-US" sz="800" b="0">
                <a:solidFill>
                  <a:srgbClr val="000000"/>
                </a:solidFill>
                <a:latin typeface="Aptos Mono"/>
              </a:rPr>
              <a:t>, </a:t>
            </a:r>
            <a:r>
              <a:rPr lang="en-US" sz="800" b="0">
                <a:solidFill>
                  <a:srgbClr val="001080"/>
                </a:solidFill>
                <a:latin typeface="Aptos Mono"/>
              </a:rPr>
              <a:t>flush</a:t>
            </a:r>
            <a:r>
              <a:rPr lang="en-US" sz="800" b="0">
                <a:solidFill>
                  <a:srgbClr val="000000"/>
                </a:solidFill>
                <a:latin typeface="Aptos Mono"/>
              </a:rPr>
              <a:t>=</a:t>
            </a:r>
            <a:r>
              <a:rPr lang="en-US" sz="800" b="0">
                <a:solidFill>
                  <a:srgbClr val="0000FF"/>
                </a:solidFill>
                <a:latin typeface="Aptos Mono"/>
              </a:rPr>
              <a:t>True</a:t>
            </a:r>
            <a:r>
              <a:rPr lang="en-US" sz="800" b="0">
                <a:solidFill>
                  <a:srgbClr val="000000"/>
                </a:solidFill>
                <a:latin typeface="Aptos Mono"/>
              </a:rPr>
              <a:t>)</a:t>
            </a:r>
            <a:endParaRPr/>
          </a:p>
        </p:txBody>
      </p:sp>
      <p:sp>
        <p:nvSpPr>
          <p:cNvPr id="11" name="CodeWindow out"/>
          <p:cNvSpPr/>
          <p:nvPr/>
        </p:nvSpPr>
        <p:spPr bwMode="auto">
          <a:xfrm>
            <a:off x="320040" y="3164816"/>
            <a:ext cx="6016752" cy="91539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429992"/>
            <a:ext cx="6016752" cy="0"/>
          </a:xfrm>
          <a:prstGeom prst="line">
            <a:avLst/>
          </a:prstGeom>
          <a:ln w="9525">
            <a:solidFill>
              <a:srgbClr val="DCDCDC"/>
            </a:solidFill>
          </a:ln>
        </p:spPr>
      </p:cxnSp>
      <p:sp>
        <p:nvSpPr>
          <p:cNvPr id="13" name="WinDot 0 out"/>
          <p:cNvSpPr/>
          <p:nvPr/>
        </p:nvSpPr>
        <p:spPr bwMode="auto">
          <a:xfrm>
            <a:off x="411480" y="324711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24711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24711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205964"/>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attach at each level on this Mac, 2026-10-15</a:t>
            </a:r>
            <a:endParaRPr/>
          </a:p>
        </p:txBody>
      </p:sp>
      <p:sp>
        <p:nvSpPr>
          <p:cNvPr id="17" name="TextBox 7 out"/>
          <p:cNvSpPr txBox="1"/>
          <p:nvPr/>
        </p:nvSpPr>
        <p:spPr bwMode="auto">
          <a:xfrm>
            <a:off x="466344" y="3494000"/>
            <a:ext cx="5724144" cy="516214"/>
          </a:xfrm>
          <a:prstGeom prst="rect">
            <a:avLst/>
          </a:prstGeom>
          <a:noFill/>
        </p:spPr>
        <p:txBody>
          <a:bodyPr wrap="none" lIns="0" tIns="0" rIns="0" bIns="0">
            <a:spAutoFit/>
          </a:bodyPr>
          <a:lstStyle/>
          <a:p>
            <a:r>
              <a:rPr lang="en-US" sz="800" b="0">
                <a:solidFill>
                  <a:srgbClr val="000000"/>
                </a:solidFill>
                <a:latin typeface="Aptos Mono"/>
              </a:rPr>
              <a:t>symbol_table              3710 callables  182 s</a:t>
            </a:r>
            <a:endParaRPr/>
          </a:p>
          <a:p>
            <a:r>
              <a:rPr lang="en-US" sz="800" b="0">
                <a:solidFill>
                  <a:srgbClr val="000000"/>
                </a:solidFill>
                <a:latin typeface="Aptos Mono"/>
              </a:rPr>
              <a:t>call_graph                3710 callables  219 s</a:t>
            </a:r>
            <a:endParaRPr/>
          </a:p>
          <a:p>
            <a:r>
              <a:rPr lang="en-US" sz="800" b="0">
                <a:solidFill>
                  <a:srgbClr val="000000"/>
                </a:solidFill>
                <a:latin typeface="Aptos Mono"/>
              </a:rPr>
              <a:t>program_dependency_graph  3710 callables  220 s</a:t>
            </a:r>
            <a:endParaRPr/>
          </a:p>
          <a:p>
            <a:r>
              <a:rPr lang="en-US" sz="800" b="0">
                <a:solidFill>
                  <a:srgbClr val="000000"/>
                </a:solidFill>
                <a:latin typeface="Aptos Mono"/>
              </a:rPr>
              <a:t>system_dependency_graph   3710 callables  222 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question above the level raises an error.</a:t>
            </a:r>
            <a:endParaRPr/>
          </a:p>
        </p:txBody>
      </p:sp>
      <p:sp>
        <p:nvSpPr>
          <p:cNvPr id="3" name="Content Placeholder 2"/>
          <p:cNvSpPr>
            <a:spLocks noGrp="1"/>
          </p:cNvSpPr>
          <p:nvPr>
            <p:ph idx="1"/>
          </p:nvPr>
        </p:nvSpPr>
        <p:spPr bwMode="auto">
          <a:xfrm>
            <a:off x="320040" y="658368"/>
            <a:ext cx="6016752" cy="10911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get_ddg</a:t>
            </a:r>
            <a:r>
              <a:rPr lang="en-US" sz="1200" b="1">
                <a:solidFill>
                  <a:srgbClr val="000000"/>
                </a:solidFill>
              </a:rPr>
              <a:t> on a symbol-table analysis</a:t>
            </a:r>
            <a:r>
              <a:rPr lang="en-US" sz="1200" b="0">
                <a:solidFill>
                  <a:srgbClr val="000000"/>
                </a:solidFill>
              </a:rPr>
              <a:t> raises </a:t>
            </a:r>
            <a:r>
              <a:rPr lang="en-US" sz="1200" b="0">
                <a:solidFill>
                  <a:srgbClr val="000000"/>
                </a:solidFill>
                <a:latin typeface="Aptos Mono"/>
              </a:rPr>
              <a:t>CodeanalyzerUsageException</a:t>
            </a:r>
            <a:r>
              <a:rPr lang="en-US" sz="1200" b="0">
                <a:solidFill>
                  <a:srgbClr val="000000"/>
                </a:solidFill>
              </a:rPr>
              <a:t>, which names both levels.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empty answer there</a:t>
            </a:r>
            <a:r>
              <a:rPr lang="en-US" sz="1200" b="0">
                <a:solidFill>
                  <a:srgbClr val="000000"/>
                </a:solidFill>
              </a:rPr>
              <a:t> would look like a callable with no data dependence, so CLDK refuses to give one.</a:t>
            </a:r>
            <a:endParaRPr/>
          </a:p>
        </p:txBody>
      </p:sp>
      <p:sp>
        <p:nvSpPr>
          <p:cNvPr id="4" name="Rectangle 4"/>
          <p:cNvSpPr/>
          <p:nvPr/>
        </p:nvSpPr>
        <p:spPr bwMode="auto">
          <a:xfrm>
            <a:off x="320040" y="429380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Below the level it needs, a question raises an error.</a:t>
            </a:r>
            <a:endParaRPr/>
          </a:p>
        </p:txBody>
      </p:sp>
      <p:sp>
        <p:nvSpPr>
          <p:cNvPr id="5" name="CodeWindow"/>
          <p:cNvSpPr/>
          <p:nvPr/>
        </p:nvSpPr>
        <p:spPr bwMode="auto">
          <a:xfrm>
            <a:off x="320040" y="1899516"/>
            <a:ext cx="6016752" cy="91539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164692"/>
            <a:ext cx="6016752" cy="0"/>
          </a:xfrm>
          <a:prstGeom prst="line">
            <a:avLst/>
          </a:prstGeom>
          <a:ln w="9525">
            <a:solidFill>
              <a:srgbClr val="DCDCDC"/>
            </a:solidFill>
          </a:ln>
        </p:spPr>
      </p:cxnSp>
      <p:sp>
        <p:nvSpPr>
          <p:cNvPr id="7" name="WinDot 0"/>
          <p:cNvSpPr/>
          <p:nvPr/>
        </p:nvSpPr>
        <p:spPr bwMode="auto">
          <a:xfrm>
            <a:off x="411480" y="198181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98181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98181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940664"/>
            <a:ext cx="5349240" cy="182880"/>
          </a:xfrm>
          <a:prstGeom prst="rect">
            <a:avLst/>
          </a:prstGeom>
          <a:noFill/>
        </p:spPr>
        <p:txBody>
          <a:bodyPr wrap="square" lIns="0" tIns="0" rIns="0" bIns="0" anchor="ctr">
            <a:noAutofit/>
          </a:bodyPr>
          <a:lstStyle/>
          <a:p>
            <a:pPr algn="l">
              <a:defRPr/>
            </a:pPr>
            <a:r>
              <a:rPr sz="850" b="0">
                <a:solidFill>
                  <a:srgbClr val="5B6673"/>
                </a:solidFill>
              </a:rPr>
              <a:t>levels.py, continued: a dataflow question to the symbol-table analysis</a:t>
            </a:r>
            <a:endParaRPr/>
          </a:p>
        </p:txBody>
      </p:sp>
      <p:sp>
        <p:nvSpPr>
          <p:cNvPr id="11" name="TextBox 7"/>
          <p:cNvSpPr txBox="1"/>
          <p:nvPr/>
        </p:nvSpPr>
        <p:spPr bwMode="auto">
          <a:xfrm>
            <a:off x="466344" y="2228700"/>
            <a:ext cx="5724144" cy="516214"/>
          </a:xfrm>
          <a:prstGeom prst="rect">
            <a:avLst/>
          </a:prstGeom>
          <a:noFill/>
        </p:spPr>
        <p:txBody>
          <a:bodyPr wrap="none" lIns="0" tIns="0" rIns="0" bIns="0">
            <a:spAutoFit/>
          </a:bodyPr>
          <a:lstStyle/>
          <a:p>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A31515"/>
                </a:solidFill>
                <a:latin typeface="Aptos Mono"/>
              </a:rPr>
              <a:t>"symbol_table"</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A31515"/>
                </a:solidFill>
                <a:latin typeface="Aptos Mono"/>
              </a:rPr>
              <a:t>"BenchmarkTest00099_post"</a:t>
            </a:r>
            <a:r>
              <a:rPr lang="en-US" sz="800" b="0">
                <a:solidFill>
                  <a:srgbClr val="000000"/>
                </a:solidFill>
                <a:latin typeface="Aptos Mono"/>
              </a:rPr>
              <a:t>)</a:t>
            </a:r>
            <a:endParaRPr/>
          </a:p>
          <a:p>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Exception</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f"{type(e).__name__}: {e}"</a:t>
            </a:r>
            <a:r>
              <a:rPr lang="en-US" sz="800" b="0">
                <a:solidFill>
                  <a:srgbClr val="000000"/>
                </a:solidFill>
                <a:latin typeface="Aptos Mono"/>
              </a:rPr>
              <a:t>)</a:t>
            </a:r>
            <a:endParaRPr/>
          </a:p>
        </p:txBody>
      </p:sp>
      <p:sp>
        <p:nvSpPr>
          <p:cNvPr id="12" name="CodeWindow out"/>
          <p:cNvSpPr/>
          <p:nvPr/>
        </p:nvSpPr>
        <p:spPr bwMode="auto">
          <a:xfrm>
            <a:off x="320040" y="2878914"/>
            <a:ext cx="6016752" cy="1163505"/>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144090"/>
            <a:ext cx="6016752" cy="0"/>
          </a:xfrm>
          <a:prstGeom prst="line">
            <a:avLst/>
          </a:prstGeom>
          <a:ln w="9525">
            <a:solidFill>
              <a:srgbClr val="DCDCDC"/>
            </a:solidFill>
          </a:ln>
        </p:spPr>
      </p:cxnSp>
      <p:sp>
        <p:nvSpPr>
          <p:cNvPr id="14" name="WinDot 0 out"/>
          <p:cNvSpPr/>
          <p:nvPr/>
        </p:nvSpPr>
        <p:spPr bwMode="auto">
          <a:xfrm>
            <a:off x="411480" y="29612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29612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29612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2920062"/>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8" name="TextBox 7 out"/>
          <p:cNvSpPr txBox="1"/>
          <p:nvPr/>
        </p:nvSpPr>
        <p:spPr bwMode="auto">
          <a:xfrm>
            <a:off x="466344" y="3208098"/>
            <a:ext cx="5724144" cy="764321"/>
          </a:xfrm>
          <a:prstGeom prst="rect">
            <a:avLst/>
          </a:prstGeom>
          <a:noFill/>
        </p:spPr>
        <p:txBody>
          <a:bodyPr wrap="none" lIns="0" tIns="0" rIns="0" bIns="0">
            <a:spAutoFit/>
          </a:bodyPr>
          <a:lstStyle/>
          <a:p>
            <a:r>
              <a:rPr lang="en-US" sz="800" b="0">
                <a:solidFill>
                  <a:srgbClr val="000000"/>
                </a:solidFill>
                <a:latin typeface="Aptos Mono"/>
              </a:rPr>
              <a:t>CodeanalyzerUsageException: control and data flow need</a:t>
            </a:r>
            <a:endParaRPr/>
          </a:p>
          <a:p>
            <a:r>
              <a:rPr lang="en-US" sz="800" b="0">
                <a:solidFill>
                  <a:srgbClr val="000000"/>
                </a:solidFill>
                <a:latin typeface="Aptos Mono"/>
              </a:rPr>
              <a:t>  analysis_level='program_dependency_graph' or deeper (analyzer level 3); this analysis was</a:t>
            </a:r>
            <a:endParaRPr/>
          </a:p>
          <a:p>
            <a:r>
              <a:rPr lang="en-US" sz="800" b="0">
                <a:solidFill>
                  <a:srgbClr val="000000"/>
                </a:solidFill>
                <a:latin typeface="Aptos Mono"/>
              </a:rPr>
              <a:t>  built at 'symbol_table' (analyzer level 1), where the analyzer emits no cfg/cdg/ddg at</a:t>
            </a:r>
            <a:endParaRPr/>
          </a:p>
          <a:p>
            <a:r>
              <a:rPr lang="en-US" sz="800" b="0">
                <a:solidFill>
                  <a:srgbClr val="000000"/>
                </a:solidFill>
                <a:latin typeface="Aptos Mono"/>
              </a:rPr>
              <a:t>  all. Returning an empty result would be indistinguishable from a callable that has no</a:t>
            </a:r>
            <a:endParaRPr/>
          </a:p>
          <a:p>
            <a:r>
              <a:rPr lang="en-US" sz="800" b="0">
                <a:solidFill>
                  <a:srgbClr val="000000"/>
                </a:solidFill>
                <a:latin typeface="Aptos Mono"/>
              </a:rPr>
              <a:t>  dependence, so this raises instead. Rebuild with CLDK.python(...,</a:t>
            </a:r>
            <a:endParaRPr/>
          </a:p>
          <a:p>
            <a:r>
              <a:rPr lang="en-US" sz="800" b="0">
                <a:solidFill>
                  <a:srgbClr val="000000"/>
                </a:solidFill>
                <a:latin typeface="Aptos Mono"/>
              </a:rPr>
              <a:t>  analysis_level='system_dependency_graph').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question above the level raises an error.</a:t>
            </a:r>
            <a:endParaRPr/>
          </a:p>
        </p:txBody>
      </p:sp>
      <p:sp>
        <p:nvSpPr>
          <p:cNvPr id="3" name="Content Placeholder 2"/>
          <p:cNvSpPr>
            <a:spLocks noGrp="1"/>
          </p:cNvSpPr>
          <p:nvPr>
            <p:ph idx="1"/>
          </p:nvPr>
        </p:nvSpPr>
        <p:spPr bwMode="auto">
          <a:xfrm>
            <a:off x="320040" y="658368"/>
            <a:ext cx="6016752" cy="10911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get_ddg</a:t>
            </a:r>
            <a:r>
              <a:rPr lang="en-US" sz="1200" b="1">
                <a:solidFill>
                  <a:srgbClr val="000000"/>
                </a:solidFill>
              </a:rPr>
              <a:t> on a symbol-table analysis</a:t>
            </a:r>
            <a:r>
              <a:rPr lang="en-US" sz="1200" b="0">
                <a:solidFill>
                  <a:srgbClr val="000000"/>
                </a:solidFill>
              </a:rPr>
              <a:t> raises </a:t>
            </a:r>
            <a:r>
              <a:rPr lang="en-US" sz="1200" b="0">
                <a:solidFill>
                  <a:srgbClr val="000000"/>
                </a:solidFill>
                <a:latin typeface="Aptos Mono"/>
              </a:rPr>
              <a:t>CodeanalyzerUsageException</a:t>
            </a:r>
            <a:r>
              <a:rPr lang="en-US" sz="1200" b="0">
                <a:solidFill>
                  <a:srgbClr val="000000"/>
                </a:solidFill>
              </a:rPr>
              <a:t>, which names both levels.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An empty answer there</a:t>
            </a:r>
            <a:r>
              <a:rPr lang="en-US" sz="1200" b="0">
                <a:solidFill>
                  <a:srgbClr val="FFFFFF">
                    <a:alpha val="0"/>
                  </a:srgbClr>
                </a:solidFill>
              </a:rPr>
              <a:t> would look like a callable with no data dependence, so CLDK refuses to give one.</a:t>
            </a:r>
            <a:endParaRPr>
              <a:solidFill>
                <a:srgbClr val="FFFFFF">
                  <a:alpha val="0"/>
                </a:srgbClr>
              </a:solidFill>
            </a:endParaRPr>
          </a:p>
        </p:txBody>
      </p:sp>
      <p:sp>
        <p:nvSpPr>
          <p:cNvPr id="4" name="CodeWindow"/>
          <p:cNvSpPr/>
          <p:nvPr/>
        </p:nvSpPr>
        <p:spPr bwMode="auto">
          <a:xfrm>
            <a:off x="320040" y="1899516"/>
            <a:ext cx="6016752" cy="91539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164692"/>
            <a:ext cx="6016752" cy="0"/>
          </a:xfrm>
          <a:prstGeom prst="line">
            <a:avLst/>
          </a:prstGeom>
          <a:ln w="9525">
            <a:solidFill>
              <a:srgbClr val="DCDCDC"/>
            </a:solidFill>
          </a:ln>
        </p:spPr>
      </p:cxnSp>
      <p:sp>
        <p:nvSpPr>
          <p:cNvPr id="6" name="WinDot 0"/>
          <p:cNvSpPr/>
          <p:nvPr/>
        </p:nvSpPr>
        <p:spPr bwMode="auto">
          <a:xfrm>
            <a:off x="411480" y="198181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98181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98181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940664"/>
            <a:ext cx="5349240" cy="182880"/>
          </a:xfrm>
          <a:prstGeom prst="rect">
            <a:avLst/>
          </a:prstGeom>
          <a:noFill/>
        </p:spPr>
        <p:txBody>
          <a:bodyPr wrap="square" lIns="0" tIns="0" rIns="0" bIns="0" anchor="ctr">
            <a:noAutofit/>
          </a:bodyPr>
          <a:lstStyle/>
          <a:p>
            <a:pPr algn="l">
              <a:defRPr/>
            </a:pPr>
            <a:r>
              <a:rPr sz="850" b="0">
                <a:solidFill>
                  <a:srgbClr val="5B6673"/>
                </a:solidFill>
              </a:rPr>
              <a:t>levels.py, continued: a dataflow question to the symbol-table analysis</a:t>
            </a:r>
            <a:endParaRPr/>
          </a:p>
        </p:txBody>
      </p:sp>
      <p:sp>
        <p:nvSpPr>
          <p:cNvPr id="10" name="TextBox 7"/>
          <p:cNvSpPr txBox="1"/>
          <p:nvPr/>
        </p:nvSpPr>
        <p:spPr bwMode="auto">
          <a:xfrm>
            <a:off x="466344" y="2228700"/>
            <a:ext cx="5724144" cy="516214"/>
          </a:xfrm>
          <a:prstGeom prst="rect">
            <a:avLst/>
          </a:prstGeom>
          <a:noFill/>
        </p:spPr>
        <p:txBody>
          <a:bodyPr wrap="none" lIns="0" tIns="0" rIns="0" bIns="0">
            <a:spAutoFit/>
          </a:bodyPr>
          <a:lstStyle/>
          <a:p>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A31515"/>
                </a:solidFill>
                <a:latin typeface="Aptos Mono"/>
              </a:rPr>
              <a:t>"symbol_table"</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A31515"/>
                </a:solidFill>
                <a:latin typeface="Aptos Mono"/>
              </a:rPr>
              <a:t>"BenchmarkTest00099_post"</a:t>
            </a:r>
            <a:r>
              <a:rPr lang="en-US" sz="800" b="0">
                <a:solidFill>
                  <a:srgbClr val="000000"/>
                </a:solidFill>
                <a:latin typeface="Aptos Mono"/>
              </a:rPr>
              <a:t>)</a:t>
            </a:r>
            <a:endParaRPr/>
          </a:p>
          <a:p>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Exception</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f"{type(e).__name__}: {e}"</a:t>
            </a:r>
            <a:r>
              <a:rPr lang="en-US" sz="800" b="0">
                <a:solidFill>
                  <a:srgbClr val="000000"/>
                </a:solidFill>
                <a:latin typeface="Aptos Mono"/>
              </a:rPr>
              <a:t>)</a:t>
            </a:r>
            <a:endParaRPr/>
          </a:p>
        </p:txBody>
      </p:sp>
      <p:sp>
        <p:nvSpPr>
          <p:cNvPr id="11" name="CodeWindow out"/>
          <p:cNvSpPr/>
          <p:nvPr/>
        </p:nvSpPr>
        <p:spPr bwMode="auto">
          <a:xfrm>
            <a:off x="320040" y="2878914"/>
            <a:ext cx="6016752" cy="1163505"/>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44090"/>
            <a:ext cx="6016752" cy="0"/>
          </a:xfrm>
          <a:prstGeom prst="line">
            <a:avLst/>
          </a:prstGeom>
          <a:ln w="9525">
            <a:solidFill>
              <a:srgbClr val="DCDCDC"/>
            </a:solidFill>
          </a:ln>
        </p:spPr>
      </p:cxnSp>
      <p:sp>
        <p:nvSpPr>
          <p:cNvPr id="13" name="WinDot 0 out"/>
          <p:cNvSpPr/>
          <p:nvPr/>
        </p:nvSpPr>
        <p:spPr bwMode="auto">
          <a:xfrm>
            <a:off x="411480" y="29612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612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612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20062"/>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7" name="TextBox 7 out"/>
          <p:cNvSpPr txBox="1"/>
          <p:nvPr/>
        </p:nvSpPr>
        <p:spPr bwMode="auto">
          <a:xfrm>
            <a:off x="466344" y="3208098"/>
            <a:ext cx="5724144" cy="764321"/>
          </a:xfrm>
          <a:prstGeom prst="rect">
            <a:avLst/>
          </a:prstGeom>
          <a:noFill/>
        </p:spPr>
        <p:txBody>
          <a:bodyPr wrap="none" lIns="0" tIns="0" rIns="0" bIns="0">
            <a:spAutoFit/>
          </a:bodyPr>
          <a:lstStyle/>
          <a:p>
            <a:r>
              <a:rPr lang="en-US" sz="800" b="0">
                <a:solidFill>
                  <a:srgbClr val="000000"/>
                </a:solidFill>
                <a:latin typeface="Aptos Mono"/>
              </a:rPr>
              <a:t>CodeanalyzerUsageException: control and data flow need</a:t>
            </a:r>
            <a:endParaRPr/>
          </a:p>
          <a:p>
            <a:r>
              <a:rPr lang="en-US" sz="800" b="0">
                <a:solidFill>
                  <a:srgbClr val="000000"/>
                </a:solidFill>
                <a:latin typeface="Aptos Mono"/>
              </a:rPr>
              <a:t>  analysis_level='program_dependency_graph' or deeper (analyzer level 3); this analysis was</a:t>
            </a:r>
            <a:endParaRPr/>
          </a:p>
          <a:p>
            <a:r>
              <a:rPr lang="en-US" sz="800" b="0">
                <a:solidFill>
                  <a:srgbClr val="000000"/>
                </a:solidFill>
                <a:latin typeface="Aptos Mono"/>
              </a:rPr>
              <a:t>  built at 'symbol_table' (analyzer level 1), where the analyzer emits no cfg/cdg/ddg at</a:t>
            </a:r>
            <a:endParaRPr/>
          </a:p>
          <a:p>
            <a:r>
              <a:rPr lang="en-US" sz="800" b="0">
                <a:solidFill>
                  <a:srgbClr val="000000"/>
                </a:solidFill>
                <a:latin typeface="Aptos Mono"/>
              </a:rPr>
              <a:t>  all. Returning an empty result would be indistinguishable from a callable that has no</a:t>
            </a:r>
            <a:endParaRPr/>
          </a:p>
          <a:p>
            <a:r>
              <a:rPr lang="en-US" sz="800" b="0">
                <a:solidFill>
                  <a:srgbClr val="000000"/>
                </a:solidFill>
                <a:latin typeface="Aptos Mono"/>
              </a:rPr>
              <a:t>  dependence, so this raises instead. Rebuild with CLDK.python(...,</a:t>
            </a:r>
            <a:endParaRPr/>
          </a:p>
          <a:p>
            <a:r>
              <a:rPr lang="en-US" sz="800" b="0">
                <a:solidFill>
                  <a:srgbClr val="000000"/>
                </a:solidFill>
                <a:latin typeface="Aptos Mono"/>
              </a:rPr>
              <a:t>  analysis_level='system_dependency_graph').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question above the level raises an error.</a:t>
            </a:r>
            <a:endParaRPr/>
          </a:p>
        </p:txBody>
      </p:sp>
      <p:sp>
        <p:nvSpPr>
          <p:cNvPr id="3" name="Content Placeholder 2"/>
          <p:cNvSpPr>
            <a:spLocks noGrp="1"/>
          </p:cNvSpPr>
          <p:nvPr>
            <p:ph idx="1"/>
          </p:nvPr>
        </p:nvSpPr>
        <p:spPr bwMode="auto">
          <a:xfrm>
            <a:off x="320040" y="658368"/>
            <a:ext cx="6016752" cy="10911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get_ddg</a:t>
            </a:r>
            <a:r>
              <a:rPr lang="en-US" sz="1200" b="1">
                <a:solidFill>
                  <a:srgbClr val="000000"/>
                </a:solidFill>
              </a:rPr>
              <a:t> on a symbol-table analysis</a:t>
            </a:r>
            <a:r>
              <a:rPr lang="en-US" sz="1200" b="0">
                <a:solidFill>
                  <a:srgbClr val="000000"/>
                </a:solidFill>
              </a:rPr>
              <a:t> raises </a:t>
            </a:r>
            <a:r>
              <a:rPr lang="en-US" sz="1200" b="0">
                <a:solidFill>
                  <a:srgbClr val="000000"/>
                </a:solidFill>
                <a:latin typeface="Aptos Mono"/>
              </a:rPr>
              <a:t>CodeanalyzerUsageException</a:t>
            </a:r>
            <a:r>
              <a:rPr lang="en-US" sz="1200" b="0">
                <a:solidFill>
                  <a:srgbClr val="000000"/>
                </a:solidFill>
              </a:rPr>
              <a:t>, which names both levels.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empty answer there</a:t>
            </a:r>
            <a:r>
              <a:rPr lang="en-US" sz="1200" b="0">
                <a:solidFill>
                  <a:srgbClr val="000000"/>
                </a:solidFill>
              </a:rPr>
              <a:t> would look like a callable with no data dependence, so CLDK refuses to give one.</a:t>
            </a:r>
            <a:endParaRPr/>
          </a:p>
        </p:txBody>
      </p:sp>
      <p:sp>
        <p:nvSpPr>
          <p:cNvPr id="4" name="CodeWindow"/>
          <p:cNvSpPr/>
          <p:nvPr/>
        </p:nvSpPr>
        <p:spPr bwMode="auto">
          <a:xfrm>
            <a:off x="320040" y="1899516"/>
            <a:ext cx="6016752" cy="91539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164692"/>
            <a:ext cx="6016752" cy="0"/>
          </a:xfrm>
          <a:prstGeom prst="line">
            <a:avLst/>
          </a:prstGeom>
          <a:ln w="9525">
            <a:solidFill>
              <a:srgbClr val="DCDCDC"/>
            </a:solidFill>
          </a:ln>
        </p:spPr>
      </p:cxnSp>
      <p:sp>
        <p:nvSpPr>
          <p:cNvPr id="6" name="WinDot 0"/>
          <p:cNvSpPr/>
          <p:nvPr/>
        </p:nvSpPr>
        <p:spPr bwMode="auto">
          <a:xfrm>
            <a:off x="411480" y="198181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98181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98181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940664"/>
            <a:ext cx="5349240" cy="182880"/>
          </a:xfrm>
          <a:prstGeom prst="rect">
            <a:avLst/>
          </a:prstGeom>
          <a:noFill/>
        </p:spPr>
        <p:txBody>
          <a:bodyPr wrap="square" lIns="0" tIns="0" rIns="0" bIns="0" anchor="ctr">
            <a:noAutofit/>
          </a:bodyPr>
          <a:lstStyle/>
          <a:p>
            <a:pPr algn="l">
              <a:defRPr/>
            </a:pPr>
            <a:r>
              <a:rPr sz="850" b="0">
                <a:solidFill>
                  <a:srgbClr val="5B6673"/>
                </a:solidFill>
              </a:rPr>
              <a:t>levels.py, continued: a dataflow question to the symbol-table analysis</a:t>
            </a:r>
            <a:endParaRPr/>
          </a:p>
        </p:txBody>
      </p:sp>
      <p:sp>
        <p:nvSpPr>
          <p:cNvPr id="10" name="TextBox 7"/>
          <p:cNvSpPr txBox="1"/>
          <p:nvPr/>
        </p:nvSpPr>
        <p:spPr bwMode="auto">
          <a:xfrm>
            <a:off x="466344" y="2228700"/>
            <a:ext cx="5724144" cy="516214"/>
          </a:xfrm>
          <a:prstGeom prst="rect">
            <a:avLst/>
          </a:prstGeom>
          <a:noFill/>
        </p:spPr>
        <p:txBody>
          <a:bodyPr wrap="none" lIns="0" tIns="0" rIns="0" bIns="0">
            <a:spAutoFit/>
          </a:bodyPr>
          <a:lstStyle/>
          <a:p>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ans</a:t>
            </a:r>
            <a:r>
              <a:rPr lang="en-US" sz="800" b="0">
                <a:solidFill>
                  <a:srgbClr val="000000"/>
                </a:solidFill>
                <a:latin typeface="Aptos Mono"/>
              </a:rPr>
              <a:t>[</a:t>
            </a:r>
            <a:r>
              <a:rPr lang="en-US" sz="800" b="0">
                <a:solidFill>
                  <a:srgbClr val="A31515"/>
                </a:solidFill>
                <a:latin typeface="Aptos Mono"/>
              </a:rPr>
              <a:t>"symbol_table"</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A31515"/>
                </a:solidFill>
                <a:latin typeface="Aptos Mono"/>
              </a:rPr>
              <a:t>"BenchmarkTest00099_post"</a:t>
            </a:r>
            <a:r>
              <a:rPr lang="en-US" sz="800" b="0">
                <a:solidFill>
                  <a:srgbClr val="000000"/>
                </a:solidFill>
                <a:latin typeface="Aptos Mono"/>
              </a:rPr>
              <a:t>)</a:t>
            </a:r>
            <a:endParaRPr/>
          </a:p>
          <a:p>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Exception</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31515"/>
                </a:solidFill>
                <a:latin typeface="Aptos Mono"/>
              </a:rPr>
              <a:t>f"{type(e).__name__}: {e}"</a:t>
            </a:r>
            <a:r>
              <a:rPr lang="en-US" sz="800" b="0">
                <a:solidFill>
                  <a:srgbClr val="000000"/>
                </a:solidFill>
                <a:latin typeface="Aptos Mono"/>
              </a:rPr>
              <a:t>)</a:t>
            </a:r>
            <a:endParaRPr/>
          </a:p>
        </p:txBody>
      </p:sp>
      <p:sp>
        <p:nvSpPr>
          <p:cNvPr id="11" name="CodeWindow out"/>
          <p:cNvSpPr/>
          <p:nvPr/>
        </p:nvSpPr>
        <p:spPr bwMode="auto">
          <a:xfrm>
            <a:off x="320040" y="2878914"/>
            <a:ext cx="6016752" cy="1163505"/>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44090"/>
            <a:ext cx="6016752" cy="0"/>
          </a:xfrm>
          <a:prstGeom prst="line">
            <a:avLst/>
          </a:prstGeom>
          <a:ln w="9525">
            <a:solidFill>
              <a:srgbClr val="DCDCDC"/>
            </a:solidFill>
          </a:ln>
        </p:spPr>
      </p:cxnSp>
      <p:sp>
        <p:nvSpPr>
          <p:cNvPr id="13" name="WinDot 0 out"/>
          <p:cNvSpPr/>
          <p:nvPr/>
        </p:nvSpPr>
        <p:spPr bwMode="auto">
          <a:xfrm>
            <a:off x="411480" y="296121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6121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6121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20062"/>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7" name="TextBox 7 out"/>
          <p:cNvSpPr txBox="1"/>
          <p:nvPr/>
        </p:nvSpPr>
        <p:spPr bwMode="auto">
          <a:xfrm>
            <a:off x="466344" y="3208098"/>
            <a:ext cx="5724144" cy="764321"/>
          </a:xfrm>
          <a:prstGeom prst="rect">
            <a:avLst/>
          </a:prstGeom>
          <a:noFill/>
        </p:spPr>
        <p:txBody>
          <a:bodyPr wrap="none" lIns="0" tIns="0" rIns="0" bIns="0">
            <a:spAutoFit/>
          </a:bodyPr>
          <a:lstStyle/>
          <a:p>
            <a:r>
              <a:rPr lang="en-US" sz="800" b="0">
                <a:solidFill>
                  <a:srgbClr val="000000"/>
                </a:solidFill>
                <a:latin typeface="Aptos Mono"/>
              </a:rPr>
              <a:t>CodeanalyzerUsageException: control and data flow need</a:t>
            </a:r>
            <a:endParaRPr/>
          </a:p>
          <a:p>
            <a:r>
              <a:rPr lang="en-US" sz="800" b="0">
                <a:solidFill>
                  <a:srgbClr val="000000"/>
                </a:solidFill>
                <a:latin typeface="Aptos Mono"/>
              </a:rPr>
              <a:t>  analysis_level='program_dependency_graph' or deeper (analyzer level 3); this analysis was</a:t>
            </a:r>
            <a:endParaRPr/>
          </a:p>
          <a:p>
            <a:r>
              <a:rPr lang="en-US" sz="800" b="0">
                <a:solidFill>
                  <a:srgbClr val="000000"/>
                </a:solidFill>
                <a:latin typeface="Aptos Mono"/>
              </a:rPr>
              <a:t>  built at 'symbol_table' (analyzer level 1), where the analyzer emits no cfg/cdg/ddg at</a:t>
            </a:r>
            <a:endParaRPr/>
          </a:p>
          <a:p>
            <a:r>
              <a:rPr lang="en-US" sz="800" b="0">
                <a:solidFill>
                  <a:srgbClr val="000000"/>
                </a:solidFill>
                <a:latin typeface="Aptos Mono"/>
              </a:rPr>
              <a:t>  all. Returning an empty result would be indistinguishable from a callable that has no</a:t>
            </a:r>
            <a:endParaRPr/>
          </a:p>
          <a:p>
            <a:r>
              <a:rPr lang="en-US" sz="800" b="0">
                <a:solidFill>
                  <a:srgbClr val="000000"/>
                </a:solidFill>
                <a:latin typeface="Aptos Mono"/>
              </a:rPr>
              <a:t>  dependence, so this raises instead. Rebuild with CLDK.python(...,</a:t>
            </a:r>
            <a:endParaRPr/>
          </a:p>
          <a:p>
            <a:r>
              <a:rPr lang="en-US" sz="800" b="0">
                <a:solidFill>
                  <a:srgbClr val="000000"/>
                </a:solidFill>
                <a:latin typeface="Aptos Mono"/>
              </a:rPr>
              <a:t>  analysis_level='system_dependency_graph').</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Actions on the analysis object</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pic>
        <p:nvPicPr>
          <p:cNvPr id="14" name="Picture 13" descr="image.png"/>
          <p:cNvPicPr>
            <a:picLocks noChangeAspect="1"/>
          </p:cNvPicPr>
          <p:nvPr/>
        </p:nvPicPr>
        <p:blipFill rotWithShape="1">
          <a:blip r:embed="rId2">
            <a:alphaModFix amt="70000"/>
          </a:blip>
          <a:stretch/>
        </p:blipFill>
        <p:spPr bwMode="auto">
          <a:xfrm>
            <a:off x="822960" y="1872409"/>
            <a:ext cx="5733288" cy="589718"/>
          </a:xfrm>
          <a:prstGeom prst="rect">
            <a:avLst/>
          </a:prstGeom>
        </p:spPr>
      </p:pic>
      <p:pic>
        <p:nvPicPr>
          <p:cNvPr id="15" name="Picture 13" descr="image.png"/>
          <p:cNvPicPr>
            <a:picLocks noChangeAspect="1"/>
          </p:cNvPicPr>
          <p:nvPr/>
        </p:nvPicPr>
        <p:blipFill rotWithShape="1">
          <a:blip r:embed="rId2">
            <a:alphaModFix amt="70000"/>
          </a:blip>
          <a:stretch/>
        </p:blipFill>
        <p:spPr bwMode="auto">
          <a:xfrm>
            <a:off x="822960" y="2823386"/>
            <a:ext cx="5733288" cy="15406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1: locate the callable that holds a line.</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a:t>
            </a:r>
            <a:r>
              <a:rPr lang="en-US" sz="1200" b="0">
                <a:solidFill>
                  <a:srgbClr val="000000"/>
                </a:solidFill>
              </a:rPr>
              <a:t> a </a:t>
            </a:r>
            <a:r>
              <a:rPr lang="en-US" sz="1200" b="0">
                <a:solidFill>
                  <a:srgbClr val="000000"/>
                </a:solidFill>
                <a:latin typeface="Aptos Mono"/>
              </a:rPr>
              <a:t>path</a:t>
            </a:r>
            <a:r>
              <a:rPr lang="en-US" sz="1200" b="0">
                <a:solidFill>
                  <a:srgbClr val="000000"/>
                </a:solidFill>
              </a:rPr>
              <a:t> and a </a:t>
            </a:r>
            <a:r>
              <a:rPr lang="en-US" sz="1200" b="0">
                <a:solidFill>
                  <a:srgbClr val="000000"/>
                </a:solidFill>
                <a:latin typeface="Aptos Mono"/>
              </a:rPr>
              <a:t>line</a:t>
            </a:r>
            <a:r>
              <a:rPr lang="en-US" sz="1200" b="0">
                <a:solidFill>
                  <a:srgbClr val="000000"/>
                </a:solidFill>
              </a:rPr>
              <a:t>, which is what a Bandit alert gives.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Out:</a:t>
            </a:r>
            <a:r>
              <a:rPr lang="en-US" sz="1200" b="0">
                <a:solidFill>
                  <a:srgbClr val="000000"/>
                </a:solidFill>
              </a:rPr>
              <a:t> </a:t>
            </a:r>
            <a:r>
              <a:rPr lang="en-US" sz="1200" b="0">
                <a:solidFill>
                  <a:srgbClr val="000000"/>
                </a:solidFill>
                <a:latin typeface="Aptos Mono"/>
              </a:rPr>
              <a:t>callable.signature</a:t>
            </a:r>
            <a:r>
              <a:rPr lang="en-US" sz="1200" b="0">
                <a:solidFill>
                  <a:srgbClr val="000000"/>
                </a:solidFill>
              </a:rPr>
              <a:t>, </a:t>
            </a:r>
            <a:r>
              <a:rPr lang="en-US" sz="1200" b="0">
                <a:solidFill>
                  <a:srgbClr val="000000"/>
                </a:solidFill>
                <a:latin typeface="Aptos Mono"/>
              </a:rPr>
              <a:t>callable.name</a:t>
            </a:r>
            <a:r>
              <a:rPr lang="en-US" sz="1200" b="0">
                <a:solidFill>
                  <a:srgbClr val="000000"/>
                </a:solidFill>
              </a:rPr>
              <a:t> and </a:t>
            </a:r>
            <a:r>
              <a:rPr lang="en-US" sz="1200" b="0">
                <a:solidFill>
                  <a:srgbClr val="000000"/>
                </a:solidFill>
                <a:latin typeface="Aptos Mono"/>
              </a:rPr>
              <a:t>module</a:t>
            </a:r>
            <a:r>
              <a:rPr lang="en-US" sz="1200" b="0">
                <a:solidFill>
                  <a:srgbClr val="000000"/>
                </a:solidFill>
              </a:rPr>
              <a:t>, and the callable's text in </a:t>
            </a:r>
            <a:r>
              <a:rPr lang="en-US" sz="1200" b="0">
                <a:solidFill>
                  <a:srgbClr val="000000"/>
                </a:solidFill>
                <a:latin typeface="Aptos Mono"/>
              </a:rPr>
              <a:t>source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Outside any callable,</a:t>
            </a:r>
            <a:r>
              <a:rPr lang="en-US" sz="1200" b="0">
                <a:solidFill>
                  <a:srgbClr val="000000"/>
                </a:solidFill>
              </a:rPr>
              <a:t> </a:t>
            </a:r>
            <a:r>
              <a:rPr lang="en-US" sz="1200" b="0">
                <a:solidFill>
                  <a:srgbClr val="000000"/>
                </a:solidFill>
                <a:latin typeface="Aptos Mono"/>
              </a:rPr>
              <a:t>callable</a:t>
            </a:r>
            <a:r>
              <a:rPr lang="en-US" sz="1200" b="0">
                <a:solidFill>
                  <a:srgbClr val="000000"/>
                </a:solidFill>
              </a:rPr>
              <a:t> is </a:t>
            </a:r>
            <a:r>
              <a:rPr lang="en-US" sz="1200" b="0">
                <a:solidFill>
                  <a:srgbClr val="000000"/>
                </a:solidFill>
                <a:latin typeface="Aptos Mono"/>
              </a:rPr>
              <a:t>None</a:t>
            </a:r>
            <a:r>
              <a:rPr lang="en-US" sz="1200" b="0">
                <a:solidFill>
                  <a:srgbClr val="000000"/>
                </a:solidFill>
              </a:rPr>
              <a:t> and a diagnostic names the case: </a:t>
            </a:r>
            <a:r>
              <a:rPr lang="en-US" sz="1200" b="0">
                <a:solidFill>
                  <a:srgbClr val="000000"/>
                </a:solidFill>
                <a:latin typeface="Aptos Mono"/>
              </a:rPr>
              <a:t>module_scope</a:t>
            </a:r>
            <a:r>
              <a:rPr lang="en-US" sz="1200" b="0">
                <a:solidFill>
                  <a:srgbClr val="000000"/>
                </a:solidFill>
              </a:rPr>
              <a:t>, or </a:t>
            </a:r>
            <a:r>
              <a:rPr lang="en-US" sz="1200" b="0">
                <a:solidFill>
                  <a:srgbClr val="000000"/>
                </a:solidFill>
                <a:latin typeface="Aptos Mono"/>
              </a:rPr>
              <a:t>file_not_in_graph</a:t>
            </a:r>
            <a:r>
              <a:rPr lang="en-US" sz="1200" b="0">
                <a:solidFill>
                  <a:srgbClr val="000000"/>
                </a:solidFill>
              </a:rPr>
              <a:t> for a file the analyzer never saw.</a:t>
            </a:r>
            <a:endParaRPr/>
          </a:p>
        </p:txBody>
      </p:sp>
      <p:sp>
        <p:nvSpPr>
          <p:cNvPr id="4" name="Rectangle 4"/>
          <p:cNvSpPr/>
          <p:nvPr/>
        </p:nvSpPr>
        <p:spPr bwMode="auto">
          <a:xfrm>
            <a:off x="320040" y="420815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Locate turns an alert's file and line into a callable's name.</a:t>
            </a:r>
            <a:endParaRPr/>
          </a:p>
        </p:txBody>
      </p:sp>
      <p:sp>
        <p:nvSpPr>
          <p:cNvPr id="5"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451204"/>
            <a:ext cx="6016752" cy="0"/>
          </a:xfrm>
          <a:prstGeom prst="line">
            <a:avLst/>
          </a:prstGeom>
          <a:ln w="9525">
            <a:solidFill>
              <a:srgbClr val="DCDCDC"/>
            </a:solidFill>
          </a:ln>
        </p:spPr>
      </p:cxnSp>
      <p:sp>
        <p:nvSpPr>
          <p:cNvPr id="7"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callable that holds line 46</a:t>
            </a:r>
            <a:endParaRPr/>
          </a:p>
        </p:txBody>
      </p:sp>
      <p:sp>
        <p:nvSpPr>
          <p:cNvPr id="11"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source</a:t>
            </a:r>
            <a:r>
              <a:rPr lang="en-US" sz="800" b="0">
                <a:solidFill>
                  <a:srgbClr val="000000"/>
                </a:solidFill>
                <a:latin typeface="Aptos Mono"/>
              </a:rPr>
              <a:t>[:</a:t>
            </a:r>
            <a:r>
              <a:rPr lang="en-US" sz="800" b="0">
                <a:solidFill>
                  <a:srgbClr val="098658"/>
                </a:solidFill>
                <a:latin typeface="Aptos Mono"/>
              </a:rPr>
              <a:t>400</a:t>
            </a:r>
            <a:r>
              <a:rPr lang="en-US" sz="800" b="0">
                <a:solidFill>
                  <a:srgbClr val="000000"/>
                </a:solidFill>
                <a:latin typeface="Aptos Mono"/>
              </a:rPr>
              <a:t>])</a:t>
            </a:r>
            <a:endParaRPr/>
          </a:p>
        </p:txBody>
      </p:sp>
      <p:sp>
        <p:nvSpPr>
          <p:cNvPr id="12" name="CodeWindow out"/>
          <p:cNvSpPr/>
          <p:nvPr/>
        </p:nvSpPr>
        <p:spPr bwMode="auto">
          <a:xfrm>
            <a:off x="320040" y="2917319"/>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182495"/>
            <a:ext cx="6016752" cy="0"/>
          </a:xfrm>
          <a:prstGeom prst="line">
            <a:avLst/>
          </a:prstGeom>
          <a:ln w="9525">
            <a:solidFill>
              <a:srgbClr val="DCDCDC"/>
            </a:solidFill>
          </a:ln>
        </p:spPr>
      </p:cxnSp>
      <p:sp>
        <p:nvSpPr>
          <p:cNvPr id="14"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 the signature, then the first lines of source</a:t>
            </a:r>
            <a:endParaRPr/>
          </a:p>
        </p:txBody>
      </p:sp>
      <p:sp>
        <p:nvSpPr>
          <p:cNvPr id="18" name="TextBox 7 out"/>
          <p:cNvSpPr txBox="1"/>
          <p:nvPr/>
        </p:nvSpPr>
        <p:spPr bwMode="auto">
          <a:xfrm>
            <a:off x="466344" y="3246503"/>
            <a:ext cx="5724144" cy="640268"/>
          </a:xfrm>
          <a:prstGeom prst="rect">
            <a:avLst/>
          </a:prstGeom>
          <a:noFill/>
        </p:spPr>
        <p:txBody>
          <a:bodyPr wrap="none" lIns="0" tIns="0" rIns="0" bIns="0">
            <a:spAutoFit/>
          </a:bodyPr>
          <a:lstStyle/>
          <a:p>
            <a:r>
              <a:rPr lang="en-US" sz="800" b="0">
                <a:solidFill>
                  <a:srgbClr val="000000"/>
                </a:solidFill>
                <a:latin typeface="Aptos Mono"/>
              </a:rPr>
              <a:t>testcode.BenchmarkTest00099.init.BenchmarkTest00099_post</a:t>
            </a:r>
            <a:endParaRPr/>
          </a:p>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1: locate the callable that holds a line.</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a:t>
            </a:r>
            <a:r>
              <a:rPr lang="en-US" sz="1200" b="0">
                <a:solidFill>
                  <a:srgbClr val="000000"/>
                </a:solidFill>
              </a:rPr>
              <a:t> a </a:t>
            </a:r>
            <a:r>
              <a:rPr lang="en-US" sz="1200" b="0">
                <a:solidFill>
                  <a:srgbClr val="000000"/>
                </a:solidFill>
                <a:latin typeface="Aptos Mono"/>
              </a:rPr>
              <a:t>path</a:t>
            </a:r>
            <a:r>
              <a:rPr lang="en-US" sz="1200" b="0">
                <a:solidFill>
                  <a:srgbClr val="000000"/>
                </a:solidFill>
              </a:rPr>
              <a:t> and a </a:t>
            </a:r>
            <a:r>
              <a:rPr lang="en-US" sz="1200" b="0">
                <a:solidFill>
                  <a:srgbClr val="000000"/>
                </a:solidFill>
                <a:latin typeface="Aptos Mono"/>
              </a:rPr>
              <a:t>line</a:t>
            </a:r>
            <a:r>
              <a:rPr lang="en-US" sz="1200" b="0">
                <a:solidFill>
                  <a:srgbClr val="000000"/>
                </a:solidFill>
              </a:rPr>
              <a:t>, which is what a Bandit alert gives.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Out:</a:t>
            </a:r>
            <a:r>
              <a:rPr lang="en-US" sz="1200" b="0">
                <a:solidFill>
                  <a:srgbClr val="FFFFFF">
                    <a:alpha val="0"/>
                  </a:srgbClr>
                </a:solidFill>
              </a:rPr>
              <a:t> </a:t>
            </a:r>
            <a:r>
              <a:rPr lang="en-US" sz="1200" b="0">
                <a:solidFill>
                  <a:srgbClr val="FFFFFF">
                    <a:alpha val="0"/>
                  </a:srgbClr>
                </a:solidFill>
                <a:latin typeface="Aptos Mono"/>
              </a:rPr>
              <a:t>callable.signature</a:t>
            </a:r>
            <a:r>
              <a:rPr lang="en-US" sz="1200" b="0">
                <a:solidFill>
                  <a:srgbClr val="FFFFFF">
                    <a:alpha val="0"/>
                  </a:srgbClr>
                </a:solidFill>
              </a:rPr>
              <a:t>, </a:t>
            </a:r>
            <a:r>
              <a:rPr lang="en-US" sz="1200" b="0">
                <a:solidFill>
                  <a:srgbClr val="FFFFFF">
                    <a:alpha val="0"/>
                  </a:srgbClr>
                </a:solidFill>
                <a:latin typeface="Aptos Mono"/>
              </a:rPr>
              <a:t>callable.name</a:t>
            </a:r>
            <a:r>
              <a:rPr lang="en-US" sz="1200" b="0">
                <a:solidFill>
                  <a:srgbClr val="FFFFFF">
                    <a:alpha val="0"/>
                  </a:srgbClr>
                </a:solidFill>
              </a:rPr>
              <a:t> and </a:t>
            </a:r>
            <a:r>
              <a:rPr lang="en-US" sz="1200" b="0">
                <a:solidFill>
                  <a:srgbClr val="FFFFFF">
                    <a:alpha val="0"/>
                  </a:srgbClr>
                </a:solidFill>
                <a:latin typeface="Aptos Mono"/>
              </a:rPr>
              <a:t>module</a:t>
            </a:r>
            <a:r>
              <a:rPr lang="en-US" sz="1200" b="0">
                <a:solidFill>
                  <a:srgbClr val="FFFFFF">
                    <a:alpha val="0"/>
                  </a:srgbClr>
                </a:solidFill>
              </a:rPr>
              <a:t>, and the callable's text in </a:t>
            </a:r>
            <a:r>
              <a:rPr lang="en-US" sz="1200" b="0">
                <a:solidFill>
                  <a:srgbClr val="FFFFFF">
                    <a:alpha val="0"/>
                  </a:srgbClr>
                </a:solidFill>
                <a:latin typeface="Aptos Mono"/>
              </a:rPr>
              <a:t>source</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Outside any callable,</a:t>
            </a:r>
            <a:r>
              <a:rPr lang="en-US" sz="1200" b="0">
                <a:solidFill>
                  <a:srgbClr val="FFFFFF">
                    <a:alpha val="0"/>
                  </a:srgbClr>
                </a:solidFill>
              </a:rPr>
              <a:t> </a:t>
            </a:r>
            <a:r>
              <a:rPr lang="en-US" sz="1200" b="0">
                <a:solidFill>
                  <a:srgbClr val="FFFFFF">
                    <a:alpha val="0"/>
                  </a:srgbClr>
                </a:solidFill>
                <a:latin typeface="Aptos Mono"/>
              </a:rPr>
              <a:t>callable</a:t>
            </a:r>
            <a:r>
              <a:rPr lang="en-US" sz="1200" b="0">
                <a:solidFill>
                  <a:srgbClr val="FFFFFF">
                    <a:alpha val="0"/>
                  </a:srgbClr>
                </a:solidFill>
              </a:rPr>
              <a:t> is </a:t>
            </a:r>
            <a:r>
              <a:rPr lang="en-US" sz="1200" b="0">
                <a:solidFill>
                  <a:srgbClr val="FFFFFF">
                    <a:alpha val="0"/>
                  </a:srgbClr>
                </a:solidFill>
                <a:latin typeface="Aptos Mono"/>
              </a:rPr>
              <a:t>None</a:t>
            </a:r>
            <a:r>
              <a:rPr lang="en-US" sz="1200" b="0">
                <a:solidFill>
                  <a:srgbClr val="FFFFFF">
                    <a:alpha val="0"/>
                  </a:srgbClr>
                </a:solidFill>
              </a:rPr>
              <a:t> and a diagnostic names the case: </a:t>
            </a:r>
            <a:r>
              <a:rPr lang="en-US" sz="1200" b="0">
                <a:solidFill>
                  <a:srgbClr val="FFFFFF">
                    <a:alpha val="0"/>
                  </a:srgbClr>
                </a:solidFill>
                <a:latin typeface="Aptos Mono"/>
              </a:rPr>
              <a:t>module_scope</a:t>
            </a:r>
            <a:r>
              <a:rPr lang="en-US" sz="1200" b="0">
                <a:solidFill>
                  <a:srgbClr val="FFFFFF">
                    <a:alpha val="0"/>
                  </a:srgbClr>
                </a:solidFill>
              </a:rPr>
              <a:t>, or </a:t>
            </a:r>
            <a:r>
              <a:rPr lang="en-US" sz="1200" b="0">
                <a:solidFill>
                  <a:srgbClr val="FFFFFF">
                    <a:alpha val="0"/>
                  </a:srgbClr>
                </a:solidFill>
                <a:latin typeface="Aptos Mono"/>
              </a:rPr>
              <a:t>file_not_in_graph</a:t>
            </a:r>
            <a:r>
              <a:rPr lang="en-US" sz="1200" b="0">
                <a:solidFill>
                  <a:srgbClr val="FFFFFF">
                    <a:alpha val="0"/>
                  </a:srgbClr>
                </a:solidFill>
              </a:rPr>
              <a:t> for a file the analyzer never saw.</a:t>
            </a:r>
            <a:endParaRPr>
              <a:solidFill>
                <a:srgbClr val="FFFFFF">
                  <a:alpha val="0"/>
                </a:srgbClr>
              </a:solidFill>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callable that holds line 46</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source</a:t>
            </a:r>
            <a:r>
              <a:rPr lang="en-US" sz="800" b="0">
                <a:solidFill>
                  <a:srgbClr val="000000"/>
                </a:solidFill>
                <a:latin typeface="Aptos Mono"/>
              </a:rPr>
              <a:t>[:</a:t>
            </a:r>
            <a:r>
              <a:rPr lang="en-US" sz="800" b="0">
                <a:solidFill>
                  <a:srgbClr val="098658"/>
                </a:solidFill>
                <a:latin typeface="Aptos Mono"/>
              </a:rPr>
              <a:t>400</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1: locate the callable that holds a line.</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a:t>
            </a:r>
            <a:r>
              <a:rPr lang="en-US" sz="1200" b="0">
                <a:solidFill>
                  <a:srgbClr val="000000"/>
                </a:solidFill>
              </a:rPr>
              <a:t> a </a:t>
            </a:r>
            <a:r>
              <a:rPr lang="en-US" sz="1200" b="0">
                <a:solidFill>
                  <a:srgbClr val="000000"/>
                </a:solidFill>
                <a:latin typeface="Aptos Mono"/>
              </a:rPr>
              <a:t>path</a:t>
            </a:r>
            <a:r>
              <a:rPr lang="en-US" sz="1200" b="0">
                <a:solidFill>
                  <a:srgbClr val="000000"/>
                </a:solidFill>
              </a:rPr>
              <a:t> and a </a:t>
            </a:r>
            <a:r>
              <a:rPr lang="en-US" sz="1200" b="0">
                <a:solidFill>
                  <a:srgbClr val="000000"/>
                </a:solidFill>
                <a:latin typeface="Aptos Mono"/>
              </a:rPr>
              <a:t>line</a:t>
            </a:r>
            <a:r>
              <a:rPr lang="en-US" sz="1200" b="0">
                <a:solidFill>
                  <a:srgbClr val="000000"/>
                </a:solidFill>
              </a:rPr>
              <a:t>, which is what a Bandit alert gives.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Out:</a:t>
            </a:r>
            <a:r>
              <a:rPr lang="en-US" sz="1200" b="0">
                <a:solidFill>
                  <a:srgbClr val="000000"/>
                </a:solidFill>
              </a:rPr>
              <a:t> </a:t>
            </a:r>
            <a:r>
              <a:rPr lang="en-US" sz="1200" b="0">
                <a:solidFill>
                  <a:srgbClr val="000000"/>
                </a:solidFill>
                <a:latin typeface="Aptos Mono"/>
              </a:rPr>
              <a:t>callable.signature</a:t>
            </a:r>
            <a:r>
              <a:rPr lang="en-US" sz="1200" b="0">
                <a:solidFill>
                  <a:srgbClr val="000000"/>
                </a:solidFill>
              </a:rPr>
              <a:t>, </a:t>
            </a:r>
            <a:r>
              <a:rPr lang="en-US" sz="1200" b="0">
                <a:solidFill>
                  <a:srgbClr val="000000"/>
                </a:solidFill>
                <a:latin typeface="Aptos Mono"/>
              </a:rPr>
              <a:t>callable.name</a:t>
            </a:r>
            <a:r>
              <a:rPr lang="en-US" sz="1200" b="0">
                <a:solidFill>
                  <a:srgbClr val="000000"/>
                </a:solidFill>
              </a:rPr>
              <a:t> and </a:t>
            </a:r>
            <a:r>
              <a:rPr lang="en-US" sz="1200" b="0">
                <a:solidFill>
                  <a:srgbClr val="000000"/>
                </a:solidFill>
                <a:latin typeface="Aptos Mono"/>
              </a:rPr>
              <a:t>module</a:t>
            </a:r>
            <a:r>
              <a:rPr lang="en-US" sz="1200" b="0">
                <a:solidFill>
                  <a:srgbClr val="000000"/>
                </a:solidFill>
              </a:rPr>
              <a:t>, and the callable's text in </a:t>
            </a:r>
            <a:r>
              <a:rPr lang="en-US" sz="1200" b="0">
                <a:solidFill>
                  <a:srgbClr val="000000"/>
                </a:solidFill>
                <a:latin typeface="Aptos Mono"/>
              </a:rPr>
              <a:t>source</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Outside any callable,</a:t>
            </a:r>
            <a:r>
              <a:rPr lang="en-US" sz="1200" b="0">
                <a:solidFill>
                  <a:srgbClr val="FFFFFF">
                    <a:alpha val="0"/>
                  </a:srgbClr>
                </a:solidFill>
              </a:rPr>
              <a:t> </a:t>
            </a:r>
            <a:r>
              <a:rPr lang="en-US" sz="1200" b="0">
                <a:solidFill>
                  <a:srgbClr val="FFFFFF">
                    <a:alpha val="0"/>
                  </a:srgbClr>
                </a:solidFill>
                <a:latin typeface="Aptos Mono"/>
              </a:rPr>
              <a:t>callable</a:t>
            </a:r>
            <a:r>
              <a:rPr lang="en-US" sz="1200" b="0">
                <a:solidFill>
                  <a:srgbClr val="FFFFFF">
                    <a:alpha val="0"/>
                  </a:srgbClr>
                </a:solidFill>
              </a:rPr>
              <a:t> is </a:t>
            </a:r>
            <a:r>
              <a:rPr lang="en-US" sz="1200" b="0">
                <a:solidFill>
                  <a:srgbClr val="FFFFFF">
                    <a:alpha val="0"/>
                  </a:srgbClr>
                </a:solidFill>
                <a:latin typeface="Aptos Mono"/>
              </a:rPr>
              <a:t>None</a:t>
            </a:r>
            <a:r>
              <a:rPr lang="en-US" sz="1200" b="0">
                <a:solidFill>
                  <a:srgbClr val="FFFFFF">
                    <a:alpha val="0"/>
                  </a:srgbClr>
                </a:solidFill>
              </a:rPr>
              <a:t> and a diagnostic names the case: </a:t>
            </a:r>
            <a:r>
              <a:rPr lang="en-US" sz="1200" b="0">
                <a:solidFill>
                  <a:srgbClr val="FFFFFF">
                    <a:alpha val="0"/>
                  </a:srgbClr>
                </a:solidFill>
                <a:latin typeface="Aptos Mono"/>
              </a:rPr>
              <a:t>module_scope</a:t>
            </a:r>
            <a:r>
              <a:rPr lang="en-US" sz="1200" b="0">
                <a:solidFill>
                  <a:srgbClr val="FFFFFF">
                    <a:alpha val="0"/>
                  </a:srgbClr>
                </a:solidFill>
              </a:rPr>
              <a:t>, or </a:t>
            </a:r>
            <a:r>
              <a:rPr lang="en-US" sz="1200" b="0">
                <a:solidFill>
                  <a:srgbClr val="FFFFFF">
                    <a:alpha val="0"/>
                  </a:srgbClr>
                </a:solidFill>
                <a:latin typeface="Aptos Mono"/>
              </a:rPr>
              <a:t>file_not_in_graph</a:t>
            </a:r>
            <a:r>
              <a:rPr lang="en-US" sz="1200" b="0">
                <a:solidFill>
                  <a:srgbClr val="FFFFFF">
                    <a:alpha val="0"/>
                  </a:srgbClr>
                </a:solidFill>
              </a:rPr>
              <a:t> for a file the analyzer never saw.</a:t>
            </a:r>
            <a:endParaRPr>
              <a:solidFill>
                <a:srgbClr val="FFFFFF">
                  <a:alpha val="0"/>
                </a:srgbClr>
              </a:solidFill>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callable that holds line 46</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source</a:t>
            </a:r>
            <a:r>
              <a:rPr lang="en-US" sz="800" b="0">
                <a:solidFill>
                  <a:srgbClr val="000000"/>
                </a:solidFill>
                <a:latin typeface="Aptos Mono"/>
              </a:rPr>
              <a:t>[:</a:t>
            </a:r>
            <a:r>
              <a:rPr lang="en-US" sz="800" b="0">
                <a:solidFill>
                  <a:srgbClr val="098658"/>
                </a:solidFill>
                <a:latin typeface="Aptos Mono"/>
              </a:rPr>
              <a:t>400</a:t>
            </a:r>
            <a:r>
              <a:rPr lang="en-US" sz="800" b="0">
                <a:solidFill>
                  <a:srgbClr val="000000"/>
                </a:solidFill>
                <a:latin typeface="Aptos Mono"/>
              </a:rPr>
              <a:t>])</a:t>
            </a:r>
            <a:endParaRPr/>
          </a:p>
        </p:txBody>
      </p:sp>
      <p:sp>
        <p:nvSpPr>
          <p:cNvPr id="11" name="CodeWindow out"/>
          <p:cNvSpPr/>
          <p:nvPr/>
        </p:nvSpPr>
        <p:spPr bwMode="auto">
          <a:xfrm>
            <a:off x="320040" y="2917319"/>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82495"/>
            <a:ext cx="6016752" cy="0"/>
          </a:xfrm>
          <a:prstGeom prst="line">
            <a:avLst/>
          </a:prstGeom>
          <a:ln w="9525">
            <a:solidFill>
              <a:srgbClr val="DCDCDC"/>
            </a:solidFill>
          </a:ln>
        </p:spPr>
      </p:cxnSp>
      <p:sp>
        <p:nvSpPr>
          <p:cNvPr id="13"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 the signature, then the first lines of source</a:t>
            </a:r>
            <a:endParaRPr/>
          </a:p>
        </p:txBody>
      </p:sp>
      <p:sp>
        <p:nvSpPr>
          <p:cNvPr id="17" name="TextBox 7 out"/>
          <p:cNvSpPr txBox="1"/>
          <p:nvPr/>
        </p:nvSpPr>
        <p:spPr bwMode="auto">
          <a:xfrm>
            <a:off x="466344" y="3246503"/>
            <a:ext cx="5724144" cy="640268"/>
          </a:xfrm>
          <a:prstGeom prst="rect">
            <a:avLst/>
          </a:prstGeom>
          <a:noFill/>
        </p:spPr>
        <p:txBody>
          <a:bodyPr wrap="none" lIns="0" tIns="0" rIns="0" bIns="0">
            <a:spAutoFit/>
          </a:bodyPr>
          <a:lstStyle/>
          <a:p>
            <a:r>
              <a:rPr lang="en-US" sz="800" b="0">
                <a:solidFill>
                  <a:srgbClr val="000000"/>
                </a:solidFill>
                <a:latin typeface="Aptos Mono"/>
              </a:rPr>
              <a:t>testcode.BenchmarkTest00099.init.BenchmarkTest00099_post</a:t>
            </a:r>
            <a:endParaRPr/>
          </a:p>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1: locate the callable that holds a line.</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a:t>
            </a:r>
            <a:r>
              <a:rPr lang="en-US" sz="1200" b="0">
                <a:solidFill>
                  <a:srgbClr val="000000"/>
                </a:solidFill>
              </a:rPr>
              <a:t> a </a:t>
            </a:r>
            <a:r>
              <a:rPr lang="en-US" sz="1200" b="0">
                <a:solidFill>
                  <a:srgbClr val="000000"/>
                </a:solidFill>
                <a:latin typeface="Aptos Mono"/>
              </a:rPr>
              <a:t>path</a:t>
            </a:r>
            <a:r>
              <a:rPr lang="en-US" sz="1200" b="0">
                <a:solidFill>
                  <a:srgbClr val="000000"/>
                </a:solidFill>
              </a:rPr>
              <a:t> and a </a:t>
            </a:r>
            <a:r>
              <a:rPr lang="en-US" sz="1200" b="0">
                <a:solidFill>
                  <a:srgbClr val="000000"/>
                </a:solidFill>
                <a:latin typeface="Aptos Mono"/>
              </a:rPr>
              <a:t>line</a:t>
            </a:r>
            <a:r>
              <a:rPr lang="en-US" sz="1200" b="0">
                <a:solidFill>
                  <a:srgbClr val="000000"/>
                </a:solidFill>
              </a:rPr>
              <a:t>, which is what a Bandit alert gives.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Out:</a:t>
            </a:r>
            <a:r>
              <a:rPr lang="en-US" sz="1200" b="0">
                <a:solidFill>
                  <a:srgbClr val="000000"/>
                </a:solidFill>
              </a:rPr>
              <a:t> </a:t>
            </a:r>
            <a:r>
              <a:rPr lang="en-US" sz="1200" b="0">
                <a:solidFill>
                  <a:srgbClr val="000000"/>
                </a:solidFill>
                <a:latin typeface="Aptos Mono"/>
              </a:rPr>
              <a:t>callable.signature</a:t>
            </a:r>
            <a:r>
              <a:rPr lang="en-US" sz="1200" b="0">
                <a:solidFill>
                  <a:srgbClr val="000000"/>
                </a:solidFill>
              </a:rPr>
              <a:t>, </a:t>
            </a:r>
            <a:r>
              <a:rPr lang="en-US" sz="1200" b="0">
                <a:solidFill>
                  <a:srgbClr val="000000"/>
                </a:solidFill>
                <a:latin typeface="Aptos Mono"/>
              </a:rPr>
              <a:t>callable.name</a:t>
            </a:r>
            <a:r>
              <a:rPr lang="en-US" sz="1200" b="0">
                <a:solidFill>
                  <a:srgbClr val="000000"/>
                </a:solidFill>
              </a:rPr>
              <a:t> and </a:t>
            </a:r>
            <a:r>
              <a:rPr lang="en-US" sz="1200" b="0">
                <a:solidFill>
                  <a:srgbClr val="000000"/>
                </a:solidFill>
                <a:latin typeface="Aptos Mono"/>
              </a:rPr>
              <a:t>module</a:t>
            </a:r>
            <a:r>
              <a:rPr lang="en-US" sz="1200" b="0">
                <a:solidFill>
                  <a:srgbClr val="000000"/>
                </a:solidFill>
              </a:rPr>
              <a:t>, and the callable's text in </a:t>
            </a:r>
            <a:r>
              <a:rPr lang="en-US" sz="1200" b="0">
                <a:solidFill>
                  <a:srgbClr val="000000"/>
                </a:solidFill>
                <a:latin typeface="Aptos Mono"/>
              </a:rPr>
              <a:t>source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Outside any callable,</a:t>
            </a:r>
            <a:r>
              <a:rPr lang="en-US" sz="1200" b="0">
                <a:solidFill>
                  <a:srgbClr val="000000"/>
                </a:solidFill>
              </a:rPr>
              <a:t> </a:t>
            </a:r>
            <a:r>
              <a:rPr lang="en-US" sz="1200" b="0">
                <a:solidFill>
                  <a:srgbClr val="000000"/>
                </a:solidFill>
                <a:latin typeface="Aptos Mono"/>
              </a:rPr>
              <a:t>callable</a:t>
            </a:r>
            <a:r>
              <a:rPr lang="en-US" sz="1200" b="0">
                <a:solidFill>
                  <a:srgbClr val="000000"/>
                </a:solidFill>
              </a:rPr>
              <a:t> is </a:t>
            </a:r>
            <a:r>
              <a:rPr lang="en-US" sz="1200" b="0">
                <a:solidFill>
                  <a:srgbClr val="000000"/>
                </a:solidFill>
                <a:latin typeface="Aptos Mono"/>
              </a:rPr>
              <a:t>None</a:t>
            </a:r>
            <a:r>
              <a:rPr lang="en-US" sz="1200" b="0">
                <a:solidFill>
                  <a:srgbClr val="000000"/>
                </a:solidFill>
              </a:rPr>
              <a:t> and a diagnostic names the case: </a:t>
            </a:r>
            <a:r>
              <a:rPr lang="en-US" sz="1200" b="0">
                <a:solidFill>
                  <a:srgbClr val="000000"/>
                </a:solidFill>
                <a:latin typeface="Aptos Mono"/>
              </a:rPr>
              <a:t>module_scope</a:t>
            </a:r>
            <a:r>
              <a:rPr lang="en-US" sz="1200" b="0">
                <a:solidFill>
                  <a:srgbClr val="000000"/>
                </a:solidFill>
              </a:rPr>
              <a:t>, or </a:t>
            </a:r>
            <a:r>
              <a:rPr lang="en-US" sz="1200" b="0">
                <a:solidFill>
                  <a:srgbClr val="000000"/>
                </a:solidFill>
                <a:latin typeface="Aptos Mono"/>
              </a:rPr>
              <a:t>file_not_in_graph</a:t>
            </a:r>
            <a:r>
              <a:rPr lang="en-US" sz="1200" b="0">
                <a:solidFill>
                  <a:srgbClr val="000000"/>
                </a:solidFill>
              </a:rPr>
              <a:t> for a file the analyzer never saw.</a:t>
            </a:r>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callable that holds line 46</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source</a:t>
            </a:r>
            <a:r>
              <a:rPr lang="en-US" sz="800" b="0">
                <a:solidFill>
                  <a:srgbClr val="000000"/>
                </a:solidFill>
                <a:latin typeface="Aptos Mono"/>
              </a:rPr>
              <a:t>[:</a:t>
            </a:r>
            <a:r>
              <a:rPr lang="en-US" sz="800" b="0">
                <a:solidFill>
                  <a:srgbClr val="098658"/>
                </a:solidFill>
                <a:latin typeface="Aptos Mono"/>
              </a:rPr>
              <a:t>400</a:t>
            </a:r>
            <a:r>
              <a:rPr lang="en-US" sz="800" b="0">
                <a:solidFill>
                  <a:srgbClr val="000000"/>
                </a:solidFill>
                <a:latin typeface="Aptos Mono"/>
              </a:rPr>
              <a:t>])</a:t>
            </a:r>
            <a:endParaRPr/>
          </a:p>
        </p:txBody>
      </p:sp>
      <p:sp>
        <p:nvSpPr>
          <p:cNvPr id="11" name="CodeWindow out"/>
          <p:cNvSpPr/>
          <p:nvPr/>
        </p:nvSpPr>
        <p:spPr bwMode="auto">
          <a:xfrm>
            <a:off x="320040" y="2917319"/>
            <a:ext cx="6016752" cy="103945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82495"/>
            <a:ext cx="6016752" cy="0"/>
          </a:xfrm>
          <a:prstGeom prst="line">
            <a:avLst/>
          </a:prstGeom>
          <a:ln w="9525">
            <a:solidFill>
              <a:srgbClr val="DCDCDC"/>
            </a:solidFill>
          </a:ln>
        </p:spPr>
      </p:cxnSp>
      <p:sp>
        <p:nvSpPr>
          <p:cNvPr id="13"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 the signature, then the first lines of source</a:t>
            </a:r>
            <a:endParaRPr/>
          </a:p>
        </p:txBody>
      </p:sp>
      <p:sp>
        <p:nvSpPr>
          <p:cNvPr id="17" name="TextBox 7 out"/>
          <p:cNvSpPr txBox="1"/>
          <p:nvPr/>
        </p:nvSpPr>
        <p:spPr bwMode="auto">
          <a:xfrm>
            <a:off x="466344" y="3246503"/>
            <a:ext cx="5724144" cy="640268"/>
          </a:xfrm>
          <a:prstGeom prst="rect">
            <a:avLst/>
          </a:prstGeom>
          <a:noFill/>
        </p:spPr>
        <p:txBody>
          <a:bodyPr wrap="none" lIns="0" tIns="0" rIns="0" bIns="0">
            <a:spAutoFit/>
          </a:bodyPr>
          <a:lstStyle/>
          <a:p>
            <a:r>
              <a:rPr lang="en-US" sz="800" b="0">
                <a:solidFill>
                  <a:srgbClr val="000000"/>
                </a:solidFill>
                <a:latin typeface="Aptos Mono"/>
              </a:rPr>
              <a:t>testcode.BenchmarkTest00099.init.BenchmarkTest00099_post</a:t>
            </a:r>
            <a:endParaRPr/>
          </a:p>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2: read the body by signature.</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get_method_bodies</a:t>
            </a:r>
            <a:r>
              <a:rPr lang="en-US" sz="1200" b="0">
                <a:solidFill>
                  <a:srgbClr val="000000"/>
                </a:solidFill>
              </a:rPr>
              <a:t> maps each signature to its body.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signature with no body</a:t>
            </a:r>
            <a:r>
              <a:rPr lang="en-US" sz="1200" b="0">
                <a:solidFill>
                  <a:srgbClr val="000000"/>
                </a:solidFill>
              </a:rPr>
              <a:t> is absent, so test </a:t>
            </a:r>
            <a:r>
              <a:rPr lang="en-US" sz="1200" b="0">
                <a:solidFill>
                  <a:srgbClr val="000000"/>
                </a:solidFill>
                <a:latin typeface="Aptos Mono"/>
              </a:rPr>
              <a:t>key in result</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get_source(node_id)</a:t>
            </a:r>
            <a:r>
              <a:rPr lang="en-US" sz="1200" b="0">
                <a:solidFill>
                  <a:srgbClr val="000000"/>
                </a:solidFill>
              </a:rPr>
              <a:t> returns one statement, such as line 46.</a:t>
            </a:r>
            <a:endParaRPr/>
          </a:p>
        </p:txBody>
      </p:sp>
      <p:sp>
        <p:nvSpPr>
          <p:cNvPr id="4" name="Rectangle 4"/>
          <p:cNvSpPr/>
          <p:nvPr/>
        </p:nvSpPr>
        <p:spPr bwMode="auto">
          <a:xfrm>
            <a:off x="320040" y="4035634"/>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agent reads the one function the alert names.</a:t>
            </a:r>
            <a:endParaRPr/>
          </a:p>
        </p:txBody>
      </p:sp>
      <p:sp>
        <p:nvSpPr>
          <p:cNvPr id="5" name="CodeWindow"/>
          <p:cNvSpPr/>
          <p:nvPr/>
        </p:nvSpPr>
        <p:spPr bwMode="auto">
          <a:xfrm>
            <a:off x="320040" y="1765404"/>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30580"/>
            <a:ext cx="6016752" cy="0"/>
          </a:xfrm>
          <a:prstGeom prst="line">
            <a:avLst/>
          </a:prstGeom>
          <a:ln w="9525">
            <a:solidFill>
              <a:srgbClr val="DCDCDC"/>
            </a:solidFill>
          </a:ln>
        </p:spPr>
      </p:cxnSp>
      <p:sp>
        <p:nvSpPr>
          <p:cNvPr id="7"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body of the handler, by its signature</a:t>
            </a:r>
            <a:endParaRPr/>
          </a:p>
        </p:txBody>
      </p:sp>
      <p:sp>
        <p:nvSpPr>
          <p:cNvPr id="11" name="TextBox 7"/>
          <p:cNvSpPr txBox="1"/>
          <p:nvPr/>
        </p:nvSpPr>
        <p:spPr bwMode="auto">
          <a:xfrm>
            <a:off x="466344" y="2094588"/>
            <a:ext cx="5724144" cy="144053"/>
          </a:xfrm>
          <a:prstGeom prst="rect">
            <a:avLst/>
          </a:prstGeom>
          <a:noFill/>
        </p:spPr>
        <p:txBody>
          <a:bodyPr wrap="none" lIns="0" tIns="0" rIns="0" bIns="0">
            <a:spAutoFit/>
          </a:bodyPr>
          <a:lstStyle/>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get_method_bodies</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endParaRPr/>
          </a:p>
        </p:txBody>
      </p:sp>
      <p:sp>
        <p:nvSpPr>
          <p:cNvPr id="12" name="CodeWindow out"/>
          <p:cNvSpPr/>
          <p:nvPr/>
        </p:nvSpPr>
        <p:spPr bwMode="auto">
          <a:xfrm>
            <a:off x="320040" y="2372641"/>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2637817"/>
            <a:ext cx="6016752" cy="0"/>
          </a:xfrm>
          <a:prstGeom prst="line">
            <a:avLst/>
          </a:prstGeom>
          <a:ln w="9525">
            <a:solidFill>
              <a:srgbClr val="DCDCDC"/>
            </a:solidFill>
          </a:ln>
        </p:spPr>
      </p:cxnSp>
      <p:sp>
        <p:nvSpPr>
          <p:cNvPr id="14" name="WinDot 0 out"/>
          <p:cNvSpPr/>
          <p:nvPr/>
        </p:nvSpPr>
        <p:spPr bwMode="auto">
          <a:xfrm>
            <a:off x="411480" y="245493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245493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245493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2413789"/>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eight lines of the body</a:t>
            </a:r>
            <a:endParaRPr/>
          </a:p>
        </p:txBody>
      </p:sp>
      <p:sp>
        <p:nvSpPr>
          <p:cNvPr id="18" name="TextBox 7 out"/>
          <p:cNvSpPr txBox="1"/>
          <p:nvPr/>
        </p:nvSpPr>
        <p:spPr bwMode="auto">
          <a:xfrm>
            <a:off x="466344" y="2701825"/>
            <a:ext cx="5724144" cy="1012428"/>
          </a:xfrm>
          <a:prstGeom prst="rect">
            <a:avLst/>
          </a:prstGeom>
          <a:noFill/>
        </p:spPr>
        <p:txBody>
          <a:bodyPr wrap="none" lIns="0" tIns="0" rIns="0" bIns="0">
            <a:spAutoFit/>
          </a:bodyPr>
          <a:lstStyle/>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a:p>
            <a:r>
              <a:rPr lang="en-US" sz="800" b="0">
                <a:solidFill>
                  <a:srgbClr val="000000"/>
                </a:solidFill>
                <a:latin typeface="Aptos Mono"/>
              </a:rPr>
              <a:t>        if not param:</a:t>
            </a:r>
            <a:endParaRPr/>
          </a:p>
          <a:p>
            <a:r>
              <a:rPr lang="en-US" sz="800" b="0">
                <a:solidFill>
                  <a:srgbClr val="000000"/>
                </a:solidFill>
                <a:latin typeface="Aptos Mono"/>
              </a:rPr>
              <a:t>            param = ""</a:t>
            </a:r>
            <a:endParaRPr/>
          </a:p>
          <a:p>
            <a:r>
              <a:rPr lang="en-US" sz="800" b="0">
                <a:solidFill>
                  <a:srgbClr val="000000"/>
                </a:solidFill>
                <a:latin typeface="Aptos Mono"/>
              </a:rPr>
              <a:t/>
            </a:r>
            <a:endParaRPr/>
          </a:p>
          <a:p>
            <a:r>
              <a:rPr lang="en-US" sz="800" b="0">
                <a:solidFill>
                  <a:srgbClr val="000000"/>
                </a:solidFill>
                <a:latin typeface="Aptos Mono"/>
              </a:rPr>
              <a:t>        import configparser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2: read the body by signature.</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get_method_bodies</a:t>
            </a:r>
            <a:r>
              <a:rPr lang="en-US" sz="1200" b="0">
                <a:solidFill>
                  <a:srgbClr val="000000"/>
                </a:solidFill>
              </a:rPr>
              <a:t> maps each signature to its body.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signature with no body</a:t>
            </a:r>
            <a:r>
              <a:rPr lang="en-US" sz="1200" b="0">
                <a:solidFill>
                  <a:srgbClr val="FFFFFF">
                    <a:alpha val="0"/>
                  </a:srgbClr>
                </a:solidFill>
              </a:rPr>
              <a:t> is absent, so test </a:t>
            </a:r>
            <a:r>
              <a:rPr lang="en-US" sz="1200" b="0">
                <a:solidFill>
                  <a:srgbClr val="FFFFFF">
                    <a:alpha val="0"/>
                  </a:srgbClr>
                </a:solidFill>
                <a:latin typeface="Aptos Mono"/>
              </a:rPr>
              <a:t>key in result</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get_source(node_id)</a:t>
            </a:r>
            <a:r>
              <a:rPr lang="en-US" sz="1200" b="0">
                <a:solidFill>
                  <a:srgbClr val="FFFFFF">
                    <a:alpha val="0"/>
                  </a:srgbClr>
                </a:solidFill>
              </a:rPr>
              <a:t> returns one statement, such as line 46.</a:t>
            </a:r>
            <a:endParaRPr>
              <a:solidFill>
                <a:srgbClr val="FFFFFF">
                  <a:alpha val="0"/>
                </a:srgbClr>
              </a:solidFill>
            </a:endParaRPr>
          </a:p>
        </p:txBody>
      </p:sp>
      <p:sp>
        <p:nvSpPr>
          <p:cNvPr id="4" name="CodeWindow"/>
          <p:cNvSpPr/>
          <p:nvPr/>
        </p:nvSpPr>
        <p:spPr bwMode="auto">
          <a:xfrm>
            <a:off x="320040" y="1765404"/>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body of the handler, by its signature</a:t>
            </a:r>
            <a:endParaRPr/>
          </a:p>
        </p:txBody>
      </p:sp>
      <p:sp>
        <p:nvSpPr>
          <p:cNvPr id="10" name="TextBox 7"/>
          <p:cNvSpPr txBox="1"/>
          <p:nvPr/>
        </p:nvSpPr>
        <p:spPr bwMode="auto">
          <a:xfrm>
            <a:off x="466344" y="2094588"/>
            <a:ext cx="5724144" cy="144053"/>
          </a:xfrm>
          <a:prstGeom prst="rect">
            <a:avLst/>
          </a:prstGeom>
          <a:noFill/>
        </p:spPr>
        <p:txBody>
          <a:bodyPr wrap="none" lIns="0" tIns="0" rIns="0" bIns="0">
            <a:spAutoFit/>
          </a:bodyPr>
          <a:lstStyle/>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get_method_bodies</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endParaRPr/>
          </a:p>
        </p:txBody>
      </p:sp>
      <p:sp>
        <p:nvSpPr>
          <p:cNvPr id="11" name="CodeWindow out"/>
          <p:cNvSpPr/>
          <p:nvPr/>
        </p:nvSpPr>
        <p:spPr bwMode="auto">
          <a:xfrm>
            <a:off x="320040" y="2372641"/>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2637817"/>
            <a:ext cx="6016752" cy="0"/>
          </a:xfrm>
          <a:prstGeom prst="line">
            <a:avLst/>
          </a:prstGeom>
          <a:ln w="9525">
            <a:solidFill>
              <a:srgbClr val="DCDCDC"/>
            </a:solidFill>
          </a:ln>
        </p:spPr>
      </p:cxnSp>
      <p:sp>
        <p:nvSpPr>
          <p:cNvPr id="13" name="WinDot 0 out"/>
          <p:cNvSpPr/>
          <p:nvPr/>
        </p:nvSpPr>
        <p:spPr bwMode="auto">
          <a:xfrm>
            <a:off x="411480" y="245493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45493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45493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413789"/>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eight lines of the body</a:t>
            </a:r>
            <a:endParaRPr/>
          </a:p>
        </p:txBody>
      </p:sp>
      <p:sp>
        <p:nvSpPr>
          <p:cNvPr id="17" name="TextBox 7 out"/>
          <p:cNvSpPr txBox="1"/>
          <p:nvPr/>
        </p:nvSpPr>
        <p:spPr bwMode="auto">
          <a:xfrm>
            <a:off x="466344" y="2701825"/>
            <a:ext cx="5724144" cy="1012428"/>
          </a:xfrm>
          <a:prstGeom prst="rect">
            <a:avLst/>
          </a:prstGeom>
          <a:noFill/>
        </p:spPr>
        <p:txBody>
          <a:bodyPr wrap="none" lIns="0" tIns="0" rIns="0" bIns="0">
            <a:spAutoFit/>
          </a:bodyPr>
          <a:lstStyle/>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a:p>
            <a:r>
              <a:rPr lang="en-US" sz="800" b="0">
                <a:solidFill>
                  <a:srgbClr val="000000"/>
                </a:solidFill>
                <a:latin typeface="Aptos Mono"/>
              </a:rPr>
              <a:t>        if not param:</a:t>
            </a:r>
            <a:endParaRPr/>
          </a:p>
          <a:p>
            <a:r>
              <a:rPr lang="en-US" sz="800" b="0">
                <a:solidFill>
                  <a:srgbClr val="000000"/>
                </a:solidFill>
                <a:latin typeface="Aptos Mono"/>
              </a:rPr>
              <a:t>            param = ""</a:t>
            </a:r>
            <a:endParaRPr/>
          </a:p>
          <a:p>
            <a:r>
              <a:rPr lang="en-US" sz="800" b="0">
                <a:solidFill>
                  <a:srgbClr val="000000"/>
                </a:solidFill>
                <a:latin typeface="Aptos Mono"/>
              </a:rPr>
              <a:t/>
            </a:r>
            <a:endParaRPr/>
          </a:p>
          <a:p>
            <a:r>
              <a:rPr lang="en-US" sz="800" b="0">
                <a:solidFill>
                  <a:srgbClr val="000000"/>
                </a:solidFill>
                <a:latin typeface="Aptos Mono"/>
              </a:rPr>
              <a:t>        import configparser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2: read the body by signature.</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get_method_bodies</a:t>
            </a:r>
            <a:r>
              <a:rPr lang="en-US" sz="1200" b="0">
                <a:solidFill>
                  <a:srgbClr val="000000"/>
                </a:solidFill>
              </a:rPr>
              <a:t> maps each signature to its body.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signature with no body</a:t>
            </a:r>
            <a:r>
              <a:rPr lang="en-US" sz="1200" b="0">
                <a:solidFill>
                  <a:srgbClr val="000000"/>
                </a:solidFill>
              </a:rPr>
              <a:t> is absent, so test </a:t>
            </a:r>
            <a:r>
              <a:rPr lang="en-US" sz="1200" b="0">
                <a:solidFill>
                  <a:srgbClr val="000000"/>
                </a:solidFill>
                <a:latin typeface="Aptos Mono"/>
              </a:rPr>
              <a:t>key in result</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get_source(node_id)</a:t>
            </a:r>
            <a:r>
              <a:rPr lang="en-US" sz="1200" b="0">
                <a:solidFill>
                  <a:srgbClr val="FFFFFF">
                    <a:alpha val="0"/>
                  </a:srgbClr>
                </a:solidFill>
              </a:rPr>
              <a:t> returns one statement, such as line 46.</a:t>
            </a:r>
            <a:endParaRPr>
              <a:solidFill>
                <a:srgbClr val="FFFFFF">
                  <a:alpha val="0"/>
                </a:srgbClr>
              </a:solidFill>
            </a:endParaRPr>
          </a:p>
        </p:txBody>
      </p:sp>
      <p:sp>
        <p:nvSpPr>
          <p:cNvPr id="4" name="CodeWindow"/>
          <p:cNvSpPr/>
          <p:nvPr/>
        </p:nvSpPr>
        <p:spPr bwMode="auto">
          <a:xfrm>
            <a:off x="320040" y="1765404"/>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body of the handler, by its signature</a:t>
            </a:r>
            <a:endParaRPr/>
          </a:p>
        </p:txBody>
      </p:sp>
      <p:sp>
        <p:nvSpPr>
          <p:cNvPr id="10" name="TextBox 7"/>
          <p:cNvSpPr txBox="1"/>
          <p:nvPr/>
        </p:nvSpPr>
        <p:spPr bwMode="auto">
          <a:xfrm>
            <a:off x="466344" y="2094588"/>
            <a:ext cx="5724144" cy="144053"/>
          </a:xfrm>
          <a:prstGeom prst="rect">
            <a:avLst/>
          </a:prstGeom>
          <a:noFill/>
        </p:spPr>
        <p:txBody>
          <a:bodyPr wrap="none" lIns="0" tIns="0" rIns="0" bIns="0">
            <a:spAutoFit/>
          </a:bodyPr>
          <a:lstStyle/>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get_method_bodies</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endParaRPr/>
          </a:p>
        </p:txBody>
      </p:sp>
      <p:sp>
        <p:nvSpPr>
          <p:cNvPr id="11" name="CodeWindow out"/>
          <p:cNvSpPr/>
          <p:nvPr/>
        </p:nvSpPr>
        <p:spPr bwMode="auto">
          <a:xfrm>
            <a:off x="320040" y="2372641"/>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2637817"/>
            <a:ext cx="6016752" cy="0"/>
          </a:xfrm>
          <a:prstGeom prst="line">
            <a:avLst/>
          </a:prstGeom>
          <a:ln w="9525">
            <a:solidFill>
              <a:srgbClr val="DCDCDC"/>
            </a:solidFill>
          </a:ln>
        </p:spPr>
      </p:cxnSp>
      <p:sp>
        <p:nvSpPr>
          <p:cNvPr id="13" name="WinDot 0 out"/>
          <p:cNvSpPr/>
          <p:nvPr/>
        </p:nvSpPr>
        <p:spPr bwMode="auto">
          <a:xfrm>
            <a:off x="411480" y="245493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45493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45493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413789"/>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eight lines of the body</a:t>
            </a:r>
            <a:endParaRPr/>
          </a:p>
        </p:txBody>
      </p:sp>
      <p:sp>
        <p:nvSpPr>
          <p:cNvPr id="17" name="TextBox 7 out"/>
          <p:cNvSpPr txBox="1"/>
          <p:nvPr/>
        </p:nvSpPr>
        <p:spPr bwMode="auto">
          <a:xfrm>
            <a:off x="466344" y="2701825"/>
            <a:ext cx="5724144" cy="1012428"/>
          </a:xfrm>
          <a:prstGeom prst="rect">
            <a:avLst/>
          </a:prstGeom>
          <a:noFill/>
        </p:spPr>
        <p:txBody>
          <a:bodyPr wrap="none" lIns="0" tIns="0" rIns="0" bIns="0">
            <a:spAutoFit/>
          </a:bodyPr>
          <a:lstStyle/>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a:p>
            <a:r>
              <a:rPr lang="en-US" sz="800" b="0">
                <a:solidFill>
                  <a:srgbClr val="000000"/>
                </a:solidFill>
                <a:latin typeface="Aptos Mono"/>
              </a:rPr>
              <a:t>        if not param:</a:t>
            </a:r>
            <a:endParaRPr/>
          </a:p>
          <a:p>
            <a:r>
              <a:rPr lang="en-US" sz="800" b="0">
                <a:solidFill>
                  <a:srgbClr val="000000"/>
                </a:solidFill>
                <a:latin typeface="Aptos Mono"/>
              </a:rPr>
              <a:t>            param = ""</a:t>
            </a:r>
            <a:endParaRPr/>
          </a:p>
          <a:p>
            <a:r>
              <a:rPr lang="en-US" sz="800" b="0">
                <a:solidFill>
                  <a:srgbClr val="000000"/>
                </a:solidFill>
                <a:latin typeface="Aptos Mono"/>
              </a:rPr>
              <a:t/>
            </a:r>
            <a:endParaRPr/>
          </a:p>
          <a:p>
            <a:r>
              <a:rPr lang="en-US" sz="800" b="0">
                <a:solidFill>
                  <a:srgbClr val="000000"/>
                </a:solidFill>
                <a:latin typeface="Aptos Mono"/>
              </a:rPr>
              <a:t>        import configparser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2: read the body by signature.</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get_method_bodies</a:t>
            </a:r>
            <a:r>
              <a:rPr lang="en-US" sz="1200" b="0">
                <a:solidFill>
                  <a:srgbClr val="000000"/>
                </a:solidFill>
              </a:rPr>
              <a:t> maps each signature to its body.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signature with no body</a:t>
            </a:r>
            <a:r>
              <a:rPr lang="en-US" sz="1200" b="0">
                <a:solidFill>
                  <a:srgbClr val="000000"/>
                </a:solidFill>
              </a:rPr>
              <a:t> is absent, so test </a:t>
            </a:r>
            <a:r>
              <a:rPr lang="en-US" sz="1200" b="0">
                <a:solidFill>
                  <a:srgbClr val="000000"/>
                </a:solidFill>
                <a:latin typeface="Aptos Mono"/>
              </a:rPr>
              <a:t>key in result</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get_source(node_id)</a:t>
            </a:r>
            <a:r>
              <a:rPr lang="en-US" sz="1200" b="0">
                <a:solidFill>
                  <a:srgbClr val="000000"/>
                </a:solidFill>
              </a:rPr>
              <a:t> returns one statement, such as line 46.</a:t>
            </a:r>
            <a:endParaRPr/>
          </a:p>
        </p:txBody>
      </p:sp>
      <p:sp>
        <p:nvSpPr>
          <p:cNvPr id="4" name="CodeWindow"/>
          <p:cNvSpPr/>
          <p:nvPr/>
        </p:nvSpPr>
        <p:spPr bwMode="auto">
          <a:xfrm>
            <a:off x="320040" y="1765404"/>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the body of the handler, by its signature</a:t>
            </a:r>
            <a:endParaRPr/>
          </a:p>
        </p:txBody>
      </p:sp>
      <p:sp>
        <p:nvSpPr>
          <p:cNvPr id="10" name="TextBox 7"/>
          <p:cNvSpPr txBox="1"/>
          <p:nvPr/>
        </p:nvSpPr>
        <p:spPr bwMode="auto">
          <a:xfrm>
            <a:off x="466344" y="2094588"/>
            <a:ext cx="5724144" cy="144053"/>
          </a:xfrm>
          <a:prstGeom prst="rect">
            <a:avLst/>
          </a:prstGeom>
          <a:noFill/>
        </p:spPr>
        <p:txBody>
          <a:bodyPr wrap="none" lIns="0" tIns="0" rIns="0" bIns="0">
            <a:spAutoFit/>
          </a:bodyPr>
          <a:lstStyle/>
          <a:p>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get_method_bodies</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a:t>
            </a:r>
            <a:endParaRPr/>
          </a:p>
        </p:txBody>
      </p:sp>
      <p:sp>
        <p:nvSpPr>
          <p:cNvPr id="11" name="CodeWindow out"/>
          <p:cNvSpPr/>
          <p:nvPr/>
        </p:nvSpPr>
        <p:spPr bwMode="auto">
          <a:xfrm>
            <a:off x="320040" y="2372641"/>
            <a:ext cx="6016752" cy="1411612"/>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2637817"/>
            <a:ext cx="6016752" cy="0"/>
          </a:xfrm>
          <a:prstGeom prst="line">
            <a:avLst/>
          </a:prstGeom>
          <a:ln w="9525">
            <a:solidFill>
              <a:srgbClr val="DCDCDC"/>
            </a:solidFill>
          </a:ln>
        </p:spPr>
      </p:cxnSp>
      <p:sp>
        <p:nvSpPr>
          <p:cNvPr id="13" name="WinDot 0 out"/>
          <p:cNvSpPr/>
          <p:nvPr/>
        </p:nvSpPr>
        <p:spPr bwMode="auto">
          <a:xfrm>
            <a:off x="411480" y="245493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45493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45493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413789"/>
            <a:ext cx="5349240" cy="182880"/>
          </a:xfrm>
          <a:prstGeom prst="rect">
            <a:avLst/>
          </a:prstGeom>
          <a:noFill/>
        </p:spPr>
        <p:txBody>
          <a:bodyPr wrap="square" lIns="0" tIns="0" rIns="0" bIns="0" anchor="ctr">
            <a:noAutofit/>
          </a:bodyPr>
          <a:lstStyle/>
          <a:p>
            <a:pPr algn="l">
              <a:defRPr/>
            </a:pPr>
            <a:r>
              <a:rPr sz="850" b="0">
                <a:solidFill>
                  <a:srgbClr val="5B6673"/>
                </a:solidFill>
              </a:rPr>
              <a:t>output: the first eight lines of the body</a:t>
            </a:r>
            <a:endParaRPr/>
          </a:p>
        </p:txBody>
      </p:sp>
      <p:sp>
        <p:nvSpPr>
          <p:cNvPr id="17" name="TextBox 7 out"/>
          <p:cNvSpPr txBox="1"/>
          <p:nvPr/>
        </p:nvSpPr>
        <p:spPr bwMode="auto">
          <a:xfrm>
            <a:off x="466344" y="2701825"/>
            <a:ext cx="5724144" cy="1012428"/>
          </a:xfrm>
          <a:prstGeom prst="rect">
            <a:avLst/>
          </a:prstGeom>
          <a:noFill/>
        </p:spPr>
        <p:txBody>
          <a:bodyPr wrap="none" lIns="0" tIns="0" rIns="0" bIns="0">
            <a:spAutoFit/>
          </a:bodyPr>
          <a:lstStyle/>
          <a:p>
            <a:r>
              <a:rPr lang="en-US" sz="800" b="0">
                <a:solidFill>
                  <a:srgbClr val="000000"/>
                </a:solidFill>
                <a:latin typeface="Aptos Mono"/>
              </a:rPr>
              <a:t>def BenchmarkTest00099_post():</a:t>
            </a:r>
            <a:endParaRPr/>
          </a:p>
          <a:p>
            <a:r>
              <a:rPr lang="en-US" sz="800" b="0">
                <a:solidFill>
                  <a:srgbClr val="000000"/>
                </a:solidFill>
                <a:latin typeface="Aptos Mono"/>
              </a:rPr>
              <a:t>        RESPONSE = ""</a:t>
            </a:r>
            <a:endParaRPr/>
          </a:p>
          <a:p>
            <a:r>
              <a:rPr lang="en-US" sz="800" b="0">
                <a:solidFill>
                  <a:srgbClr val="000000"/>
                </a:solidFill>
                <a:latin typeface="Aptos Mono"/>
              </a:rPr>
              <a:t/>
            </a:r>
            <a:endParaRPr/>
          </a:p>
          <a:p>
            <a:r>
              <a:rPr lang="en-US" sz="800" b="0">
                <a:solidFill>
                  <a:srgbClr val="000000"/>
                </a:solidFill>
                <a:latin typeface="Aptos Mono"/>
              </a:rPr>
              <a:t>        param = request.form.get("BenchmarkTest00099")</a:t>
            </a:r>
            <a:endParaRPr/>
          </a:p>
          <a:p>
            <a:r>
              <a:rPr lang="en-US" sz="800" b="0">
                <a:solidFill>
                  <a:srgbClr val="000000"/>
                </a:solidFill>
                <a:latin typeface="Aptos Mono"/>
              </a:rPr>
              <a:t>        if not param:</a:t>
            </a:r>
            <a:endParaRPr/>
          </a:p>
          <a:p>
            <a:r>
              <a:rPr lang="en-US" sz="800" b="0">
                <a:solidFill>
                  <a:srgbClr val="000000"/>
                </a:solidFill>
                <a:latin typeface="Aptos Mono"/>
              </a:rPr>
              <a:t>            param = ""</a:t>
            </a:r>
            <a:endParaRPr/>
          </a:p>
          <a:p>
            <a:r>
              <a:rPr lang="en-US" sz="800" b="0">
                <a:solidFill>
                  <a:srgbClr val="000000"/>
                </a:solidFill>
                <a:latin typeface="Aptos Mono"/>
              </a:rPr>
              <a:t/>
            </a:r>
            <a:endParaRPr/>
          </a:p>
          <a:p>
            <a:r>
              <a:rPr lang="en-US" sz="800" b="0">
                <a:solidFill>
                  <a:srgbClr val="000000"/>
                </a:solidFill>
                <a:latin typeface="Aptos Mono"/>
              </a:rPr>
              <a:t>        import configparser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3: callers and callees by name.</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adds externals.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ambiguous name</a:t>
            </a:r>
            <a:r>
              <a:rPr lang="en-US" sz="1200" b="0">
                <a:solidFill>
                  <a:srgbClr val="000000"/>
                </a:solidFill>
              </a:rPr>
              <a:t> raises </a:t>
            </a:r>
            <a:r>
              <a:rPr lang="en-US" sz="1200" b="0">
                <a:solidFill>
                  <a:srgbClr val="000000"/>
                </a:solidFill>
                <a:latin typeface="Aptos Mono"/>
              </a:rPr>
              <a:t>AmbiguousName</a:t>
            </a:r>
            <a:r>
              <a:rPr lang="en-US" sz="1200" b="0">
                <a:solidFill>
                  <a:srgbClr val="000000"/>
                </a:solidFill>
              </a:rPr>
              <a:t>, and </a:t>
            </a:r>
            <a:r>
              <a:rPr lang="en-US" sz="1200" b="0">
                <a:solidFill>
                  <a:srgbClr val="000000"/>
                </a:solidFill>
                <a:latin typeface="Aptos Mono"/>
              </a:rPr>
              <a:t>in_module=</a:t>
            </a:r>
            <a:r>
              <a:rPr lang="en-US" sz="1200" b="0">
                <a:solidFill>
                  <a:srgbClr val="000000"/>
                </a:solidFill>
              </a:rPr>
              <a:t> narrows it.</a:t>
            </a:r>
            <a:endParaRPr/>
          </a:p>
        </p:txBody>
      </p:sp>
      <p:sp>
        <p:nvSpPr>
          <p:cNvPr id="4" name="Rectangle 4"/>
          <p:cNvSpPr/>
          <p:nvPr/>
        </p:nvSpPr>
        <p:spPr bwMode="auto">
          <a:xfrm>
            <a:off x="320040" y="436939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One call lists the 74 handlers that use the constant helper.</a:t>
            </a:r>
            <a:endParaRPr/>
          </a:p>
        </p:txBody>
      </p:sp>
      <p:sp>
        <p:nvSpPr>
          <p:cNvPr id="5" name="CodeWindow"/>
          <p:cNvSpPr/>
          <p:nvPr/>
        </p:nvSpPr>
        <p:spPr bwMode="auto">
          <a:xfrm>
            <a:off x="320040" y="1478892"/>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744068"/>
            <a:ext cx="6016752" cy="0"/>
          </a:xfrm>
          <a:prstGeom prst="line">
            <a:avLst/>
          </a:prstGeom>
          <a:ln w="9525">
            <a:solidFill>
              <a:srgbClr val="DCDCDC"/>
            </a:solidFill>
          </a:ln>
        </p:spPr>
      </p:cxnSp>
      <p:sp>
        <p:nvSpPr>
          <p:cNvPr id="7"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what the handler calls, and who calls a helper</a:t>
            </a:r>
            <a:endParaRPr/>
          </a:p>
        </p:txBody>
      </p:sp>
      <p:sp>
        <p:nvSpPr>
          <p:cNvPr id="11" name="TextBox 7"/>
          <p:cNvSpPr txBox="1"/>
          <p:nvPr/>
        </p:nvSpPr>
        <p:spPr bwMode="auto">
          <a:xfrm>
            <a:off x="466344" y="1808076"/>
            <a:ext cx="5724144" cy="392160"/>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callees_of</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file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line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callers_of</a:t>
            </a:r>
            <a:r>
              <a:rPr lang="en-US" sz="800" b="0">
                <a:solidFill>
                  <a:srgbClr val="000000"/>
                </a:solidFill>
                <a:latin typeface="Aptos Mono"/>
              </a:rPr>
              <a:t>(</a:t>
            </a:r>
            <a:r>
              <a:rPr lang="en-US" sz="800" b="0">
                <a:solidFill>
                  <a:srgbClr val="A31515"/>
                </a:solidFill>
                <a:latin typeface="Aptos Mono"/>
              </a:rPr>
              <a:t>"get_safe_value"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"callers of get_safe_value, which returns the constant 'bar'"</a:t>
            </a:r>
            <a:r>
              <a:rPr lang="en-US" sz="800" b="0">
                <a:solidFill>
                  <a:srgbClr val="000000"/>
                </a:solidFill>
                <a:latin typeface="Aptos Mono"/>
              </a:rPr>
              <a:t>)</a:t>
            </a:r>
            <a:endParaRPr/>
          </a:p>
        </p:txBody>
      </p:sp>
      <p:sp>
        <p:nvSpPr>
          <p:cNvPr id="12" name="CodeWindow out"/>
          <p:cNvSpPr/>
          <p:nvPr/>
        </p:nvSpPr>
        <p:spPr bwMode="auto">
          <a:xfrm>
            <a:off x="320040" y="2334236"/>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2599412"/>
            <a:ext cx="6016752" cy="0"/>
          </a:xfrm>
          <a:prstGeom prst="line">
            <a:avLst/>
          </a:prstGeom>
          <a:ln w="9525">
            <a:solidFill>
              <a:srgbClr val="DCDCDC"/>
            </a:solidFill>
          </a:ln>
        </p:spPr>
      </p:cxnSp>
      <p:sp>
        <p:nvSpPr>
          <p:cNvPr id="14" name="WinDot 0 out"/>
          <p:cNvSpPr/>
          <p:nvPr/>
        </p:nvSpPr>
        <p:spPr bwMode="auto">
          <a:xfrm>
            <a:off x="411480" y="241653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241653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241653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2375384"/>
            <a:ext cx="5349240" cy="182880"/>
          </a:xfrm>
          <a:prstGeom prst="rect">
            <a:avLst/>
          </a:prstGeom>
          <a:noFill/>
        </p:spPr>
        <p:txBody>
          <a:bodyPr wrap="square" lIns="0" tIns="0" rIns="0" bIns="0" anchor="ctr">
            <a:noAutofit/>
          </a:bodyPr>
          <a:lstStyle/>
          <a:p>
            <a:pPr algn="l">
              <a:defRPr/>
            </a:pPr>
            <a:r>
              <a:rPr sz="850" b="0">
                <a:solidFill>
                  <a:srgbClr val="5B6673"/>
                </a:solidFill>
              </a:rPr>
              <a:t>output: file, line and callee, then the callers of get_safe_value</a:t>
            </a:r>
            <a:endParaRPr/>
          </a:p>
        </p:txBody>
      </p:sp>
      <p:sp>
        <p:nvSpPr>
          <p:cNvPr id="18" name="TextBox 7 out"/>
          <p:cNvSpPr txBox="1"/>
          <p:nvPr/>
        </p:nvSpPr>
        <p:spPr bwMode="auto">
          <a:xfrm>
            <a:off x="466344" y="2663420"/>
            <a:ext cx="5724144" cy="1384589"/>
          </a:xfrm>
          <a:prstGeom prst="rect">
            <a:avLst/>
          </a:prstGeom>
          <a:noFill/>
        </p:spPr>
        <p:txBody>
          <a:bodyPr wrap="none" lIns="0" tIns="0" rIns="0" bIns="0">
            <a:spAutoFit/>
          </a:bodyPr>
          <a:lstStyle/>
          <a:p>
            <a:r>
              <a:rPr lang="en-US" sz="800" b="0">
                <a:solidFill>
                  <a:srgbClr val="000000"/>
                </a:solidFill>
                <a:latin typeface="Aptos Mono"/>
              </a:rPr>
              <a:t> 0 builtins.Connection.close</a:t>
            </a:r>
            <a:endParaRPr/>
          </a:p>
          <a:p>
            <a:r>
              <a:rPr lang="en-US" sz="800" b="0">
                <a:solidFill>
                  <a:srgbClr val="000000"/>
                </a:solidFill>
                <a:latin typeface="Aptos Mono"/>
              </a:rPr>
              <a:t> 0 builtins.Connection.cursor</a:t>
            </a:r>
            <a:endParaRPr/>
          </a:p>
          <a:p>
            <a:r>
              <a:rPr lang="en-US" sz="800" b="0">
                <a:solidFill>
                  <a:srgbClr val="000000"/>
                </a:solidFill>
                <a:latin typeface="Aptos Mono"/>
              </a:rPr>
              <a:t> 0 builtins.Cursor.execute</a:t>
            </a:r>
            <a:endParaRPr/>
          </a:p>
          <a:p>
            <a:r>
              <a:rPr lang="en-US" sz="800" b="0">
                <a:solidFill>
                  <a:srgbClr val="000000"/>
                </a:solidFill>
                <a:latin typeface="Aptos Mono"/>
              </a:rPr>
              <a:t> 0 configparser.ConfigParser.__init__</a:t>
            </a:r>
            <a:endParaRPr/>
          </a:p>
          <a:p>
            <a:r>
              <a:rPr lang="en-US" sz="800" b="0">
                <a:solidFill>
                  <a:srgbClr val="000000"/>
                </a:solidFill>
                <a:latin typeface="Aptos Mono"/>
              </a:rPr>
              <a:t> 0 configparser.RawConfigParser.add_section</a:t>
            </a:r>
            <a:endParaRPr/>
          </a:p>
          <a:p>
            <a:r>
              <a:rPr lang="en-US" sz="800" b="0">
                <a:solidFill>
                  <a:srgbClr val="000000"/>
                </a:solidFill>
                <a:latin typeface="Aptos Mono"/>
              </a:rPr>
              <a:t> 0 configparser.RawConfigParser.get</a:t>
            </a:r>
            <a:endParaRPr/>
          </a:p>
          <a:p>
            <a:r>
              <a:rPr lang="en-US" sz="800" b="0">
                <a:solidFill>
                  <a:srgbClr val="000000"/>
                </a:solidFill>
                <a:latin typeface="Aptos Mono"/>
              </a:rPr>
              <a:t> 0 configparser.RawConfigParser.set</a:t>
            </a:r>
            <a:endParaRPr/>
          </a:p>
          <a:p>
            <a:r>
              <a:rPr lang="en-US" sz="800" b="0">
                <a:solidFill>
                  <a:srgbClr val="000000"/>
                </a:solidFill>
                <a:latin typeface="Aptos Mono"/>
              </a:rPr>
              <a:t>helpers/db_sqlite.py 30 helpers.db_sqlite.get_connection</a:t>
            </a:r>
            <a:endParaRPr/>
          </a:p>
          <a:p>
            <a:r>
              <a:rPr lang="en-US" sz="800" b="0">
                <a:solidFill>
                  <a:srgbClr val="000000"/>
                </a:solidFill>
                <a:latin typeface="Aptos Mono"/>
              </a:rPr>
              <a:t>helpers/db_sqlite.py 33 helpers.db_sqlite.results</a:t>
            </a:r>
            <a:endParaRPr/>
          </a:p>
          <a:p>
            <a:r>
              <a:rPr lang="en-US" sz="800" b="0">
                <a:solidFill>
                  <a:srgbClr val="000000"/>
                </a:solidFill>
                <a:latin typeface="Aptos Mono"/>
              </a:rPr>
              <a:t> 0 werkzeug.datastructures.structures.TypeConversionDict.get</a:t>
            </a:r>
            <a:endParaRPr/>
          </a:p>
          <a:p>
            <a:r>
              <a:rPr lang="en-US" sz="800" b="0">
                <a:solidFill>
                  <a:srgbClr val="000000"/>
                </a:solidFill>
                <a:latin typeface="Aptos Mono"/>
              </a:rPr>
              <a:t>74 callers of get_safe_value, which returns the constant 'bar'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3: callers and callees by name.</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adds externals.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An ambiguous name</a:t>
            </a:r>
            <a:r>
              <a:rPr lang="en-US" sz="1200" b="0">
                <a:solidFill>
                  <a:srgbClr val="FFFFFF">
                    <a:alpha val="0"/>
                  </a:srgbClr>
                </a:solidFill>
              </a:rPr>
              <a:t> raises </a:t>
            </a:r>
            <a:r>
              <a:rPr lang="en-US" sz="1200" b="0">
                <a:solidFill>
                  <a:srgbClr val="FFFFFF">
                    <a:alpha val="0"/>
                  </a:srgbClr>
                </a:solidFill>
                <a:latin typeface="Aptos Mono"/>
              </a:rPr>
              <a:t>AmbiguousName</a:t>
            </a:r>
            <a:r>
              <a:rPr lang="en-US" sz="1200" b="0">
                <a:solidFill>
                  <a:srgbClr val="FFFFFF">
                    <a:alpha val="0"/>
                  </a:srgbClr>
                </a:solidFill>
              </a:rPr>
              <a:t>, and </a:t>
            </a:r>
            <a:r>
              <a:rPr lang="en-US" sz="1200" b="0">
                <a:solidFill>
                  <a:srgbClr val="FFFFFF">
                    <a:alpha val="0"/>
                  </a:srgbClr>
                </a:solidFill>
                <a:latin typeface="Aptos Mono"/>
              </a:rPr>
              <a:t>in_module=</a:t>
            </a:r>
            <a:r>
              <a:rPr lang="en-US" sz="1200" b="0">
                <a:solidFill>
                  <a:srgbClr val="FFFFFF">
                    <a:alpha val="0"/>
                  </a:srgbClr>
                </a:solidFill>
              </a:rPr>
              <a:t> narrows it.</a:t>
            </a:r>
            <a:endParaRPr>
              <a:solidFill>
                <a:srgbClr val="FFFFFF">
                  <a:alpha val="0"/>
                </a:srgbClr>
              </a:solidFill>
            </a:endParaRPr>
          </a:p>
        </p:txBody>
      </p:sp>
      <p:sp>
        <p:nvSpPr>
          <p:cNvPr id="4" name="CodeWindow"/>
          <p:cNvSpPr/>
          <p:nvPr/>
        </p:nvSpPr>
        <p:spPr bwMode="auto">
          <a:xfrm>
            <a:off x="320040" y="1478892"/>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what the handler calls, and who calls a helper</a:t>
            </a:r>
            <a:endParaRPr/>
          </a:p>
        </p:txBody>
      </p:sp>
      <p:sp>
        <p:nvSpPr>
          <p:cNvPr id="10" name="TextBox 7"/>
          <p:cNvSpPr txBox="1"/>
          <p:nvPr/>
        </p:nvSpPr>
        <p:spPr bwMode="auto">
          <a:xfrm>
            <a:off x="466344" y="1808076"/>
            <a:ext cx="5724144" cy="392160"/>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callees_of</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file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line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callers_of</a:t>
            </a:r>
            <a:r>
              <a:rPr lang="en-US" sz="800" b="0">
                <a:solidFill>
                  <a:srgbClr val="000000"/>
                </a:solidFill>
                <a:latin typeface="Aptos Mono"/>
              </a:rPr>
              <a:t>(</a:t>
            </a:r>
            <a:r>
              <a:rPr lang="en-US" sz="800" b="0">
                <a:solidFill>
                  <a:srgbClr val="A31515"/>
                </a:solidFill>
                <a:latin typeface="Aptos Mono"/>
              </a:rPr>
              <a:t>"get_safe_value"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"callers of get_safe_value, which returns the constant 'bar'"</a:t>
            </a:r>
            <a:r>
              <a:rPr lang="en-US" sz="800" b="0">
                <a:solidFill>
                  <a:srgbClr val="000000"/>
                </a:solidFill>
                <a:latin typeface="Aptos Mono"/>
              </a:rPr>
              <a:t>)</a:t>
            </a:r>
            <a:endParaRPr/>
          </a:p>
        </p:txBody>
      </p:sp>
      <p:sp>
        <p:nvSpPr>
          <p:cNvPr id="11" name="CodeWindow out"/>
          <p:cNvSpPr/>
          <p:nvPr/>
        </p:nvSpPr>
        <p:spPr bwMode="auto">
          <a:xfrm>
            <a:off x="320040" y="2334236"/>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2599412"/>
            <a:ext cx="6016752" cy="0"/>
          </a:xfrm>
          <a:prstGeom prst="line">
            <a:avLst/>
          </a:prstGeom>
          <a:ln w="9525">
            <a:solidFill>
              <a:srgbClr val="DCDCDC"/>
            </a:solidFill>
          </a:ln>
        </p:spPr>
      </p:cxnSp>
      <p:sp>
        <p:nvSpPr>
          <p:cNvPr id="13" name="WinDot 0 out"/>
          <p:cNvSpPr/>
          <p:nvPr/>
        </p:nvSpPr>
        <p:spPr bwMode="auto">
          <a:xfrm>
            <a:off x="411480" y="241653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41653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41653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375384"/>
            <a:ext cx="5349240" cy="182880"/>
          </a:xfrm>
          <a:prstGeom prst="rect">
            <a:avLst/>
          </a:prstGeom>
          <a:noFill/>
        </p:spPr>
        <p:txBody>
          <a:bodyPr wrap="square" lIns="0" tIns="0" rIns="0" bIns="0" anchor="ctr">
            <a:noAutofit/>
          </a:bodyPr>
          <a:lstStyle/>
          <a:p>
            <a:pPr algn="l">
              <a:defRPr/>
            </a:pPr>
            <a:r>
              <a:rPr sz="850" b="0">
                <a:solidFill>
                  <a:srgbClr val="5B6673"/>
                </a:solidFill>
              </a:rPr>
              <a:t>output: file, line and callee, then the callers of get_safe_value</a:t>
            </a:r>
            <a:endParaRPr/>
          </a:p>
        </p:txBody>
      </p:sp>
      <p:sp>
        <p:nvSpPr>
          <p:cNvPr id="17" name="TextBox 7 out"/>
          <p:cNvSpPr txBox="1"/>
          <p:nvPr/>
        </p:nvSpPr>
        <p:spPr bwMode="auto">
          <a:xfrm>
            <a:off x="466344" y="2663420"/>
            <a:ext cx="5724144" cy="1384589"/>
          </a:xfrm>
          <a:prstGeom prst="rect">
            <a:avLst/>
          </a:prstGeom>
          <a:noFill/>
        </p:spPr>
        <p:txBody>
          <a:bodyPr wrap="none" lIns="0" tIns="0" rIns="0" bIns="0">
            <a:spAutoFit/>
          </a:bodyPr>
          <a:lstStyle/>
          <a:p>
            <a:r>
              <a:rPr lang="en-US" sz="800" b="0">
                <a:solidFill>
                  <a:srgbClr val="000000"/>
                </a:solidFill>
                <a:latin typeface="Aptos Mono"/>
              </a:rPr>
              <a:t> 0 builtins.Connection.close</a:t>
            </a:r>
            <a:endParaRPr/>
          </a:p>
          <a:p>
            <a:r>
              <a:rPr lang="en-US" sz="800" b="0">
                <a:solidFill>
                  <a:srgbClr val="000000"/>
                </a:solidFill>
                <a:latin typeface="Aptos Mono"/>
              </a:rPr>
              <a:t> 0 builtins.Connection.cursor</a:t>
            </a:r>
            <a:endParaRPr/>
          </a:p>
          <a:p>
            <a:r>
              <a:rPr lang="en-US" sz="800" b="0">
                <a:solidFill>
                  <a:srgbClr val="000000"/>
                </a:solidFill>
                <a:latin typeface="Aptos Mono"/>
              </a:rPr>
              <a:t> 0 builtins.Cursor.execute</a:t>
            </a:r>
            <a:endParaRPr/>
          </a:p>
          <a:p>
            <a:r>
              <a:rPr lang="en-US" sz="800" b="0">
                <a:solidFill>
                  <a:srgbClr val="000000"/>
                </a:solidFill>
                <a:latin typeface="Aptos Mono"/>
              </a:rPr>
              <a:t> 0 configparser.ConfigParser.__init__</a:t>
            </a:r>
            <a:endParaRPr/>
          </a:p>
          <a:p>
            <a:r>
              <a:rPr lang="en-US" sz="800" b="0">
                <a:solidFill>
                  <a:srgbClr val="000000"/>
                </a:solidFill>
                <a:latin typeface="Aptos Mono"/>
              </a:rPr>
              <a:t> 0 configparser.RawConfigParser.add_section</a:t>
            </a:r>
            <a:endParaRPr/>
          </a:p>
          <a:p>
            <a:r>
              <a:rPr lang="en-US" sz="800" b="0">
                <a:solidFill>
                  <a:srgbClr val="000000"/>
                </a:solidFill>
                <a:latin typeface="Aptos Mono"/>
              </a:rPr>
              <a:t> 0 configparser.RawConfigParser.get</a:t>
            </a:r>
            <a:endParaRPr/>
          </a:p>
          <a:p>
            <a:r>
              <a:rPr lang="en-US" sz="800" b="0">
                <a:solidFill>
                  <a:srgbClr val="000000"/>
                </a:solidFill>
                <a:latin typeface="Aptos Mono"/>
              </a:rPr>
              <a:t> 0 configparser.RawConfigParser.set</a:t>
            </a:r>
            <a:endParaRPr/>
          </a:p>
          <a:p>
            <a:r>
              <a:rPr lang="en-US" sz="800" b="0">
                <a:solidFill>
                  <a:srgbClr val="000000"/>
                </a:solidFill>
                <a:latin typeface="Aptos Mono"/>
              </a:rPr>
              <a:t>helpers/db_sqlite.py 30 helpers.db_sqlite.get_connection</a:t>
            </a:r>
            <a:endParaRPr/>
          </a:p>
          <a:p>
            <a:r>
              <a:rPr lang="en-US" sz="800" b="0">
                <a:solidFill>
                  <a:srgbClr val="000000"/>
                </a:solidFill>
                <a:latin typeface="Aptos Mono"/>
              </a:rPr>
              <a:t>helpers/db_sqlite.py 33 helpers.db_sqlite.results</a:t>
            </a:r>
            <a:endParaRPr/>
          </a:p>
          <a:p>
            <a:r>
              <a:rPr lang="en-US" sz="800" b="0">
                <a:solidFill>
                  <a:srgbClr val="000000"/>
                </a:solidFill>
                <a:latin typeface="Aptos Mono"/>
              </a:rPr>
              <a:t> 0 werkzeug.datastructures.structures.TypeConversionDict.get</a:t>
            </a:r>
            <a:endParaRPr/>
          </a:p>
          <a:p>
            <a:r>
              <a:rPr lang="en-US" sz="800" b="0">
                <a:solidFill>
                  <a:srgbClr val="000000"/>
                </a:solidFill>
                <a:latin typeface="Aptos Mono"/>
              </a:rPr>
              <a:t>74 callers of get_safe_value, which returns the constant 'bar'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3: callers and callees by name.</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adds externals.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An ambiguous name</a:t>
            </a:r>
            <a:r>
              <a:rPr lang="en-US" sz="1200" b="0">
                <a:solidFill>
                  <a:srgbClr val="000000"/>
                </a:solidFill>
              </a:rPr>
              <a:t> raises </a:t>
            </a:r>
            <a:r>
              <a:rPr lang="en-US" sz="1200" b="0">
                <a:solidFill>
                  <a:srgbClr val="000000"/>
                </a:solidFill>
                <a:latin typeface="Aptos Mono"/>
              </a:rPr>
              <a:t>AmbiguousName</a:t>
            </a:r>
            <a:r>
              <a:rPr lang="en-US" sz="1200" b="0">
                <a:solidFill>
                  <a:srgbClr val="000000"/>
                </a:solidFill>
              </a:rPr>
              <a:t>, and </a:t>
            </a:r>
            <a:r>
              <a:rPr lang="en-US" sz="1200" b="0">
                <a:solidFill>
                  <a:srgbClr val="000000"/>
                </a:solidFill>
                <a:latin typeface="Aptos Mono"/>
              </a:rPr>
              <a:t>in_module=</a:t>
            </a:r>
            <a:r>
              <a:rPr lang="en-US" sz="1200" b="0">
                <a:solidFill>
                  <a:srgbClr val="000000"/>
                </a:solidFill>
              </a:rPr>
              <a:t> narrows it.</a:t>
            </a:r>
            <a:endParaRPr/>
          </a:p>
        </p:txBody>
      </p:sp>
      <p:sp>
        <p:nvSpPr>
          <p:cNvPr id="4" name="CodeWindow"/>
          <p:cNvSpPr/>
          <p:nvPr/>
        </p:nvSpPr>
        <p:spPr bwMode="auto">
          <a:xfrm>
            <a:off x="320040" y="1478892"/>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2: what the handler calls, and who calls a helper</a:t>
            </a:r>
            <a:endParaRPr/>
          </a:p>
        </p:txBody>
      </p:sp>
      <p:sp>
        <p:nvSpPr>
          <p:cNvPr id="10" name="TextBox 7"/>
          <p:cNvSpPr txBox="1"/>
          <p:nvPr/>
        </p:nvSpPr>
        <p:spPr bwMode="auto">
          <a:xfrm>
            <a:off x="466344" y="1808076"/>
            <a:ext cx="5724144" cy="392160"/>
          </a:xfrm>
          <a:prstGeom prst="rect">
            <a:avLst/>
          </a:prstGeom>
          <a:noFill/>
        </p:spPr>
        <p:txBody>
          <a:bodyPr wrap="none" lIns="0" tIns="0" rIns="0" bIns="0">
            <a:spAutoFit/>
          </a:bodyPr>
          <a:lstStyle/>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callees_of</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file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line</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callers_of</a:t>
            </a:r>
            <a:r>
              <a:rPr lang="en-US" sz="800" b="0">
                <a:solidFill>
                  <a:srgbClr val="000000"/>
                </a:solidFill>
                <a:latin typeface="Aptos Mono"/>
              </a:rPr>
              <a:t>(</a:t>
            </a:r>
            <a:r>
              <a:rPr lang="en-US" sz="800" b="0">
                <a:solidFill>
                  <a:srgbClr val="A31515"/>
                </a:solidFill>
                <a:latin typeface="Aptos Mono"/>
              </a:rPr>
              <a:t>"get_safe_value"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"callers of get_safe_value, which returns the constant 'bar'"</a:t>
            </a:r>
            <a:r>
              <a:rPr lang="en-US" sz="800" b="0">
                <a:solidFill>
                  <a:srgbClr val="000000"/>
                </a:solidFill>
                <a:latin typeface="Aptos Mono"/>
              </a:rPr>
              <a:t>)</a:t>
            </a:r>
            <a:endParaRPr/>
          </a:p>
        </p:txBody>
      </p:sp>
      <p:sp>
        <p:nvSpPr>
          <p:cNvPr id="11" name="CodeWindow out"/>
          <p:cNvSpPr/>
          <p:nvPr/>
        </p:nvSpPr>
        <p:spPr bwMode="auto">
          <a:xfrm>
            <a:off x="320040" y="2334236"/>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2599412"/>
            <a:ext cx="6016752" cy="0"/>
          </a:xfrm>
          <a:prstGeom prst="line">
            <a:avLst/>
          </a:prstGeom>
          <a:ln w="9525">
            <a:solidFill>
              <a:srgbClr val="DCDCDC"/>
            </a:solidFill>
          </a:ln>
        </p:spPr>
      </p:cxnSp>
      <p:sp>
        <p:nvSpPr>
          <p:cNvPr id="13" name="WinDot 0 out"/>
          <p:cNvSpPr/>
          <p:nvPr/>
        </p:nvSpPr>
        <p:spPr bwMode="auto">
          <a:xfrm>
            <a:off x="411480" y="2416532"/>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416532"/>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416532"/>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375384"/>
            <a:ext cx="5349240" cy="182880"/>
          </a:xfrm>
          <a:prstGeom prst="rect">
            <a:avLst/>
          </a:prstGeom>
          <a:noFill/>
        </p:spPr>
        <p:txBody>
          <a:bodyPr wrap="square" lIns="0" tIns="0" rIns="0" bIns="0" anchor="ctr">
            <a:noAutofit/>
          </a:bodyPr>
          <a:lstStyle/>
          <a:p>
            <a:pPr algn="l">
              <a:defRPr/>
            </a:pPr>
            <a:r>
              <a:rPr sz="850" b="0">
                <a:solidFill>
                  <a:srgbClr val="5B6673"/>
                </a:solidFill>
              </a:rPr>
              <a:t>output: file, line and callee, then the callers of get_safe_value</a:t>
            </a:r>
            <a:endParaRPr/>
          </a:p>
        </p:txBody>
      </p:sp>
      <p:sp>
        <p:nvSpPr>
          <p:cNvPr id="17" name="TextBox 7 out"/>
          <p:cNvSpPr txBox="1"/>
          <p:nvPr/>
        </p:nvSpPr>
        <p:spPr bwMode="auto">
          <a:xfrm>
            <a:off x="466344" y="2663420"/>
            <a:ext cx="5724144" cy="1384589"/>
          </a:xfrm>
          <a:prstGeom prst="rect">
            <a:avLst/>
          </a:prstGeom>
          <a:noFill/>
        </p:spPr>
        <p:txBody>
          <a:bodyPr wrap="none" lIns="0" tIns="0" rIns="0" bIns="0">
            <a:spAutoFit/>
          </a:bodyPr>
          <a:lstStyle/>
          <a:p>
            <a:r>
              <a:rPr lang="en-US" sz="800" b="0">
                <a:solidFill>
                  <a:srgbClr val="000000"/>
                </a:solidFill>
                <a:latin typeface="Aptos Mono"/>
              </a:rPr>
              <a:t> 0 builtins.Connection.close</a:t>
            </a:r>
            <a:endParaRPr/>
          </a:p>
          <a:p>
            <a:r>
              <a:rPr lang="en-US" sz="800" b="0">
                <a:solidFill>
                  <a:srgbClr val="000000"/>
                </a:solidFill>
                <a:latin typeface="Aptos Mono"/>
              </a:rPr>
              <a:t> 0 builtins.Connection.cursor</a:t>
            </a:r>
            <a:endParaRPr/>
          </a:p>
          <a:p>
            <a:r>
              <a:rPr lang="en-US" sz="800" b="0">
                <a:solidFill>
                  <a:srgbClr val="000000"/>
                </a:solidFill>
                <a:latin typeface="Aptos Mono"/>
              </a:rPr>
              <a:t> 0 builtins.Cursor.execute</a:t>
            </a:r>
            <a:endParaRPr/>
          </a:p>
          <a:p>
            <a:r>
              <a:rPr lang="en-US" sz="800" b="0">
                <a:solidFill>
                  <a:srgbClr val="000000"/>
                </a:solidFill>
                <a:latin typeface="Aptos Mono"/>
              </a:rPr>
              <a:t> 0 configparser.ConfigParser.__init__</a:t>
            </a:r>
            <a:endParaRPr/>
          </a:p>
          <a:p>
            <a:r>
              <a:rPr lang="en-US" sz="800" b="0">
                <a:solidFill>
                  <a:srgbClr val="000000"/>
                </a:solidFill>
                <a:latin typeface="Aptos Mono"/>
              </a:rPr>
              <a:t> 0 configparser.RawConfigParser.add_section</a:t>
            </a:r>
            <a:endParaRPr/>
          </a:p>
          <a:p>
            <a:r>
              <a:rPr lang="en-US" sz="800" b="0">
                <a:solidFill>
                  <a:srgbClr val="000000"/>
                </a:solidFill>
                <a:latin typeface="Aptos Mono"/>
              </a:rPr>
              <a:t> 0 configparser.RawConfigParser.get</a:t>
            </a:r>
            <a:endParaRPr/>
          </a:p>
          <a:p>
            <a:r>
              <a:rPr lang="en-US" sz="800" b="0">
                <a:solidFill>
                  <a:srgbClr val="000000"/>
                </a:solidFill>
                <a:latin typeface="Aptos Mono"/>
              </a:rPr>
              <a:t> 0 configparser.RawConfigParser.set</a:t>
            </a:r>
            <a:endParaRPr/>
          </a:p>
          <a:p>
            <a:r>
              <a:rPr lang="en-US" sz="800" b="0">
                <a:solidFill>
                  <a:srgbClr val="000000"/>
                </a:solidFill>
                <a:latin typeface="Aptos Mono"/>
              </a:rPr>
              <a:t>helpers/db_sqlite.py 30 helpers.db_sqlite.get_connection</a:t>
            </a:r>
            <a:endParaRPr/>
          </a:p>
          <a:p>
            <a:r>
              <a:rPr lang="en-US" sz="800" b="0">
                <a:solidFill>
                  <a:srgbClr val="000000"/>
                </a:solidFill>
                <a:latin typeface="Aptos Mono"/>
              </a:rPr>
              <a:t>helpers/db_sqlite.py 33 helpers.db_sqlite.results</a:t>
            </a:r>
            <a:endParaRPr/>
          </a:p>
          <a:p>
            <a:r>
              <a:rPr lang="en-US" sz="800" b="0">
                <a:solidFill>
                  <a:srgbClr val="000000"/>
                </a:solidFill>
                <a:latin typeface="Aptos Mono"/>
              </a:rPr>
              <a:t> 0 werkzeug.datastructures.structures.TypeConversionDict.get</a:t>
            </a:r>
            <a:endParaRPr/>
          </a:p>
          <a:p>
            <a:r>
              <a:rPr lang="en-US" sz="800" b="0">
                <a:solidFill>
                  <a:srgbClr val="000000"/>
                </a:solidFill>
                <a:latin typeface="Aptos Mono"/>
              </a:rPr>
              <a:t>74 callers of get_safe_value, which returns the constant 'bar'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4: dataflow answers the taint question.</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Bandit flags B608</a:t>
            </a:r>
            <a:r>
              <a:rPr lang="en-US" sz="1200" b="0">
                <a:solidFill>
                  <a:srgbClr val="000000"/>
                </a:solidFill>
              </a:rPr>
              <a:t> on 00099, 00011 and 00012, and only 00099 is true.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00099</a:t>
            </a:r>
            <a:r>
              <a:rPr lang="en-US" sz="1200" b="0">
                <a:solidFill>
                  <a:srgbClr val="000000"/>
                </a:solidFill>
              </a:rPr>
              <a:t> the request value reaches the f-string through </a:t>
            </a:r>
            <a:r>
              <a:rPr lang="en-US" sz="1200" b="0">
                <a:solidFill>
                  <a:srgbClr val="000000"/>
                </a:solidFill>
                <a:latin typeface="Aptos Mono"/>
              </a:rPr>
              <a:t>configparser</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00011</a:t>
            </a:r>
            <a:r>
              <a:rPr lang="en-US" sz="1200" b="0">
                <a:solidFill>
                  <a:srgbClr val="000000"/>
                </a:solidFill>
              </a:rPr>
              <a:t> it reaches only the parameter tuple of </a:t>
            </a:r>
            <a:r>
              <a:rPr lang="en-US" sz="1200" b="0">
                <a:solidFill>
                  <a:srgbClr val="000000"/>
                </a:solidFill>
                <a:latin typeface="Aptos Mono"/>
              </a:rPr>
              <a:t>cur.execute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get_ddg</a:t>
            </a:r>
            <a:r>
              <a:rPr lang="en-US" sz="1200" b="0">
                <a:solidFill>
                  <a:srgbClr val="000000"/>
                </a:solidFill>
              </a:rPr>
              <a:t> gives the edges by line, and a path search answers it.</a:t>
            </a:r>
            <a:endParaRPr/>
          </a:p>
        </p:txBody>
      </p:sp>
      <p:sp>
        <p:nvSpPr>
          <p:cNvPr id="4" name="Rectangle 4"/>
          <p:cNvSpPr/>
          <p:nvPr/>
        </p:nvSpPr>
        <p:spPr bwMode="auto">
          <a:xfrm>
            <a:off x="320040" y="436381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Bandit flags the string in all three. Dataflow says which one is tainted.</a:t>
            </a:r>
            <a:endParaRPr/>
          </a:p>
        </p:txBody>
      </p:sp>
      <p:pic>
        <p:nvPicPr>
          <p:cNvPr id="5" name="Picture 1260919718" descr="dataflow-example-4.png"/>
          <p:cNvPicPr>
            <a:picLocks noChangeAspect="1"/>
          </p:cNvPicPr>
          <p:nvPr/>
        </p:nvPicPr>
        <p:blipFill>
          <a:blip r:embed="rId5"/>
          <a:stretch>
            <a:fillRect/>
          </a:stretch>
        </p:blipFill>
        <p:spPr>
          <a:xfrm>
            <a:off x="320040" y="19736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4: dataflow answers the taint question.</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Bandit flags B608</a:t>
            </a:r>
            <a:r>
              <a:rPr lang="en-US" sz="1200" b="0">
                <a:solidFill>
                  <a:srgbClr val="000000"/>
                </a:solidFill>
              </a:rPr>
              <a:t> on 00099, 00011 and 00012, and only 00099 is true.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00099</a:t>
            </a:r>
            <a:r>
              <a:rPr lang="en-US" sz="1200" b="0">
                <a:solidFill>
                  <a:srgbClr val="FFFFFF">
                    <a:alpha val="0"/>
                  </a:srgbClr>
                </a:solidFill>
              </a:rPr>
              <a:t> the request value reaches the f-string through </a:t>
            </a:r>
            <a:r>
              <a:rPr lang="en-US" sz="1200" b="0">
                <a:solidFill>
                  <a:srgbClr val="FFFFFF">
                    <a:alpha val="0"/>
                  </a:srgbClr>
                </a:solidFill>
                <a:latin typeface="Aptos Mono"/>
              </a:rPr>
              <a:t>configparser</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00011</a:t>
            </a:r>
            <a:r>
              <a:rPr lang="en-US" sz="1200" b="0">
                <a:solidFill>
                  <a:srgbClr val="FFFFFF">
                    <a:alpha val="0"/>
                  </a:srgbClr>
                </a:solidFill>
              </a:rPr>
              <a:t> it reaches only the parameter tuple of </a:t>
            </a:r>
            <a:r>
              <a:rPr lang="en-US" sz="1200" b="0">
                <a:solidFill>
                  <a:srgbClr val="FFFFFF">
                    <a:alpha val="0"/>
                  </a:srgbClr>
                </a:solidFill>
                <a:latin typeface="Aptos Mono"/>
              </a:rPr>
              <a:t>cur.execute</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get_ddg</a:t>
            </a:r>
            <a:r>
              <a:rPr lang="en-US" sz="1200" b="0">
                <a:solidFill>
                  <a:srgbClr val="FFFFFF">
                    <a:alpha val="0"/>
                  </a:srgbClr>
                </a:solidFill>
              </a:rPr>
              <a:t> gives the edges by line, and a path search answers it.</a:t>
            </a:r>
            <a:endParaRPr>
              <a:solidFill>
                <a:srgbClr val="FFFFFF">
                  <a:alpha val="0"/>
                </a:srgbClr>
              </a:solidFill>
            </a:endParaRPr>
          </a:p>
        </p:txBody>
      </p:sp>
      <p:pic>
        <p:nvPicPr>
          <p:cNvPr id="4" name="Picture 1260919718" descr="dataflow-example-1.png"/>
          <p:cNvPicPr>
            <a:picLocks noChangeAspect="1"/>
          </p:cNvPicPr>
          <p:nvPr/>
        </p:nvPicPr>
        <p:blipFill>
          <a:blip r:embed="rId3"/>
          <a:stretch>
            <a:fillRect/>
          </a:stretch>
        </p:blipFill>
        <p:spPr>
          <a:xfrm>
            <a:off x="320040" y="19736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4: dataflow answers the taint question.</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Bandit flags B608</a:t>
            </a:r>
            <a:r>
              <a:rPr lang="en-US" sz="1200" b="0">
                <a:solidFill>
                  <a:srgbClr val="000000"/>
                </a:solidFill>
              </a:rPr>
              <a:t> on 00099, 00011 and 00012, and only 00099 is true.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00099</a:t>
            </a:r>
            <a:r>
              <a:rPr lang="en-US" sz="1200" b="0">
                <a:solidFill>
                  <a:srgbClr val="000000"/>
                </a:solidFill>
              </a:rPr>
              <a:t> the request value reaches the f-string through </a:t>
            </a:r>
            <a:r>
              <a:rPr lang="en-US" sz="1200" b="0">
                <a:solidFill>
                  <a:srgbClr val="000000"/>
                </a:solidFill>
                <a:latin typeface="Aptos Mono"/>
              </a:rPr>
              <a:t>configparser</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00011</a:t>
            </a:r>
            <a:r>
              <a:rPr lang="en-US" sz="1200" b="0">
                <a:solidFill>
                  <a:srgbClr val="FFFFFF">
                    <a:alpha val="0"/>
                  </a:srgbClr>
                </a:solidFill>
              </a:rPr>
              <a:t> it reaches only the parameter tuple of </a:t>
            </a:r>
            <a:r>
              <a:rPr lang="en-US" sz="1200" b="0">
                <a:solidFill>
                  <a:srgbClr val="FFFFFF">
                    <a:alpha val="0"/>
                  </a:srgbClr>
                </a:solidFill>
                <a:latin typeface="Aptos Mono"/>
              </a:rPr>
              <a:t>cur.execute</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get_ddg</a:t>
            </a:r>
            <a:r>
              <a:rPr lang="en-US" sz="1200" b="0">
                <a:solidFill>
                  <a:srgbClr val="FFFFFF">
                    <a:alpha val="0"/>
                  </a:srgbClr>
                </a:solidFill>
              </a:rPr>
              <a:t> gives the edges by line, and a path search answers it.</a:t>
            </a:r>
            <a:endParaRPr>
              <a:solidFill>
                <a:srgbClr val="FFFFFF">
                  <a:alpha val="0"/>
                </a:srgbClr>
              </a:solidFill>
            </a:endParaRPr>
          </a:p>
        </p:txBody>
      </p:sp>
      <p:pic>
        <p:nvPicPr>
          <p:cNvPr id="4" name="Picture 1260919718" descr="dataflow-example-2.png"/>
          <p:cNvPicPr>
            <a:picLocks noChangeAspect="1"/>
          </p:cNvPicPr>
          <p:nvPr/>
        </p:nvPicPr>
        <p:blipFill>
          <a:blip r:embed="rId4"/>
          <a:stretch>
            <a:fillRect/>
          </a:stretch>
        </p:blipFill>
        <p:spPr>
          <a:xfrm>
            <a:off x="320040" y="19736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4: dataflow answers the taint question.</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Bandit flags B608</a:t>
            </a:r>
            <a:r>
              <a:rPr lang="en-US" sz="1200" b="0">
                <a:solidFill>
                  <a:srgbClr val="000000"/>
                </a:solidFill>
              </a:rPr>
              <a:t> on 00099, 00011 and 00012, and only 00099 is true.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00099</a:t>
            </a:r>
            <a:r>
              <a:rPr lang="en-US" sz="1200" b="0">
                <a:solidFill>
                  <a:srgbClr val="000000"/>
                </a:solidFill>
              </a:rPr>
              <a:t> the request value reaches the f-string through </a:t>
            </a:r>
            <a:r>
              <a:rPr lang="en-US" sz="1200" b="0">
                <a:solidFill>
                  <a:srgbClr val="000000"/>
                </a:solidFill>
                <a:latin typeface="Aptos Mono"/>
              </a:rPr>
              <a:t>configparser</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00011</a:t>
            </a:r>
            <a:r>
              <a:rPr lang="en-US" sz="1200" b="0">
                <a:solidFill>
                  <a:srgbClr val="000000"/>
                </a:solidFill>
              </a:rPr>
              <a:t> it reaches only the parameter tuple of </a:t>
            </a:r>
            <a:r>
              <a:rPr lang="en-US" sz="1200" b="0">
                <a:solidFill>
                  <a:srgbClr val="000000"/>
                </a:solidFill>
                <a:latin typeface="Aptos Mono"/>
              </a:rPr>
              <a:t>cur.execute</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get_ddg</a:t>
            </a:r>
            <a:r>
              <a:rPr lang="en-US" sz="1200" b="0">
                <a:solidFill>
                  <a:srgbClr val="FFFFFF">
                    <a:alpha val="0"/>
                  </a:srgbClr>
                </a:solidFill>
              </a:rPr>
              <a:t> gives the edges by line, and a path search answers it.</a:t>
            </a:r>
            <a:endParaRPr>
              <a:solidFill>
                <a:srgbClr val="FFFFFF">
                  <a:alpha val="0"/>
                </a:srgbClr>
              </a:solidFill>
            </a:endParaRPr>
          </a:p>
        </p:txBody>
      </p:sp>
      <p:pic>
        <p:nvPicPr>
          <p:cNvPr id="4" name="Picture 1260919718" descr="dataflow-example-3.png"/>
          <p:cNvPicPr>
            <a:picLocks noChangeAspect="1"/>
          </p:cNvPicPr>
          <p:nvPr/>
        </p:nvPicPr>
        <p:blipFill>
          <a:blip r:embed="rId4"/>
          <a:stretch>
            <a:fillRect/>
          </a:stretch>
        </p:blipFill>
        <p:spPr>
          <a:xfrm>
            <a:off x="320040" y="19736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Action 4: dataflow answers the taint question.</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Bandit flags B608</a:t>
            </a:r>
            <a:r>
              <a:rPr lang="en-US" sz="1200" b="0">
                <a:solidFill>
                  <a:srgbClr val="000000"/>
                </a:solidFill>
              </a:rPr>
              <a:t> on 00099, 00011 and 00012, and only 00099 is true.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00099</a:t>
            </a:r>
            <a:r>
              <a:rPr lang="en-US" sz="1200" b="0">
                <a:solidFill>
                  <a:srgbClr val="000000"/>
                </a:solidFill>
              </a:rPr>
              <a:t> the request value reaches the f-string through </a:t>
            </a:r>
            <a:r>
              <a:rPr lang="en-US" sz="1200" b="0">
                <a:solidFill>
                  <a:srgbClr val="000000"/>
                </a:solidFill>
                <a:latin typeface="Aptos Mono"/>
              </a:rPr>
              <a:t>configparser</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00011</a:t>
            </a:r>
            <a:r>
              <a:rPr lang="en-US" sz="1200" b="0">
                <a:solidFill>
                  <a:srgbClr val="000000"/>
                </a:solidFill>
              </a:rPr>
              <a:t> it reaches only the parameter tuple of </a:t>
            </a:r>
            <a:r>
              <a:rPr lang="en-US" sz="1200" b="0">
                <a:solidFill>
                  <a:srgbClr val="000000"/>
                </a:solidFill>
                <a:latin typeface="Aptos Mono"/>
              </a:rPr>
              <a:t>cur.execute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get_ddg</a:t>
            </a:r>
            <a:r>
              <a:rPr lang="en-US" sz="1200" b="0">
                <a:solidFill>
                  <a:srgbClr val="000000"/>
                </a:solidFill>
              </a:rPr>
              <a:t> gives the edges by line, and a path search answers it.</a:t>
            </a:r>
            <a:endParaRPr/>
          </a:p>
        </p:txBody>
      </p:sp>
      <p:pic>
        <p:nvPicPr>
          <p:cNvPr id="4" name="Picture 1260919718" descr="dataflow-example-4.png"/>
          <p:cNvPicPr>
            <a:picLocks noChangeAspect="1"/>
          </p:cNvPicPr>
          <p:nvPr/>
        </p:nvPicPr>
        <p:blipFill>
          <a:blip r:embed="rId4"/>
          <a:stretch>
            <a:fillRect/>
          </a:stretch>
        </p:blipFill>
        <p:spPr>
          <a:xfrm>
            <a:off x="320040" y="19736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reaches helper finds a path in the edges.</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Node ids end in </a:t>
            </a:r>
            <a:r>
              <a:rPr lang="en-US" sz="1200" b="0">
                <a:solidFill>
                  <a:srgbClr val="000000"/>
                </a:solidFill>
                <a:latin typeface="Aptos Mono"/>
              </a:rPr>
              <a:t>@line:col</a:t>
            </a:r>
            <a:r>
              <a:rPr lang="en-US" sz="1200" b="1">
                <a:solidFill>
                  <a:srgbClr val="000000"/>
                </a:solidFill>
              </a:rPr>
              <a:t>,</a:t>
            </a:r>
            <a:r>
              <a:rPr lang="en-US" sz="1200" b="0">
                <a:solidFill>
                  <a:srgbClr val="000000"/>
                </a:solidFill>
              </a:rPr>
              <a:t> so the helper keys the graph by line.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For a local such as </a:t>
            </a:r>
            <a:r>
              <a:rPr lang="en-US" sz="1200" b="0">
                <a:solidFill>
                  <a:srgbClr val="000000"/>
                </a:solidFill>
                <a:latin typeface="Aptos Mono"/>
              </a:rPr>
              <a:t>bar</a:t>
            </a:r>
            <a:r>
              <a:rPr lang="en-US" sz="1200" b="1">
                <a:solidFill>
                  <a:srgbClr val="000000"/>
                </a:solidFill>
              </a:rPr>
              <a:t>,</a:t>
            </a:r>
            <a:r>
              <a:rPr lang="en-US" sz="1200" b="0">
                <a:solidFill>
                  <a:srgbClr val="000000"/>
                </a:solidFill>
              </a:rPr>
              <a:t> </a:t>
            </a:r>
            <a:r>
              <a:rPr lang="en-US" sz="1200" b="0">
                <a:solidFill>
                  <a:srgbClr val="000000"/>
                </a:solidFill>
                <a:latin typeface="Aptos Mono"/>
              </a:rPr>
              <a:t>get_ddg</a:t>
            </a:r>
            <a:r>
              <a:rPr lang="en-US" sz="1200" b="0">
                <a:solidFill>
                  <a:srgbClr val="000000"/>
                </a:solidFill>
              </a:rPr>
              <a:t> is the dependable call.</a:t>
            </a:r>
            <a:endParaRPr/>
          </a:p>
        </p:txBody>
      </p:sp>
      <p:sp>
        <p:nvSpPr>
          <p:cNvPr id="4" name="Rectangle 4"/>
          <p:cNvSpPr/>
          <p:nvPr/>
        </p:nvSpPr>
        <p:spPr bwMode="auto">
          <a:xfrm>
            <a:off x="320040" y="4121283"/>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classifier's question becomes a path search over the edges.</a:t>
            </a:r>
            <a:endParaRPr/>
          </a:p>
        </p:txBody>
      </p:sp>
      <p:sp>
        <p:nvSpPr>
          <p:cNvPr id="5" name="CodeWindow"/>
          <p:cNvSpPr/>
          <p:nvPr/>
        </p:nvSpPr>
        <p:spPr bwMode="auto">
          <a:xfrm>
            <a:off x="320040" y="1478892"/>
            <a:ext cx="6016752" cy="153566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744068"/>
            <a:ext cx="6016752" cy="0"/>
          </a:xfrm>
          <a:prstGeom prst="line">
            <a:avLst/>
          </a:prstGeom>
          <a:ln w="9525">
            <a:solidFill>
              <a:srgbClr val="DCDCDC"/>
            </a:solidFill>
          </a:ln>
        </p:spPr>
      </p:cxnSp>
      <p:sp>
        <p:nvSpPr>
          <p:cNvPr id="7"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sections 2 and 3: reaches, a path over a handler's dependence edges</a:t>
            </a:r>
            <a:endParaRPr/>
          </a:p>
        </p:txBody>
      </p:sp>
      <p:sp>
        <p:nvSpPr>
          <p:cNvPr id="11" name="TextBox 7"/>
          <p:cNvSpPr txBox="1"/>
          <p:nvPr/>
        </p:nvSpPr>
        <p:spPr bwMode="auto">
          <a:xfrm>
            <a:off x="466344" y="1808076"/>
            <a:ext cx="5724144" cy="1136482"/>
          </a:xfrm>
          <a:prstGeom prst="rect">
            <a:avLst/>
          </a:prstGeom>
          <a:noFill/>
        </p:spPr>
        <p:txBody>
          <a:bodyPr wrap="none" lIns="0" tIns="0" rIns="0" bIns="0">
            <a:spAutoFit/>
          </a:bodyPr>
          <a:lstStyle/>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reaches</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src_line</a:t>
            </a:r>
            <a:r>
              <a:rPr lang="en-US" sz="800" b="0">
                <a:solidFill>
                  <a:srgbClr val="000000"/>
                </a:solidFill>
                <a:latin typeface="Aptos Mono"/>
              </a:rPr>
              <a:t>, </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001080"/>
                </a:solidFill>
                <a:latin typeface="Aptos Mono"/>
              </a:rPr>
              <a:t>var</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src_line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001080"/>
                </a:solidFill>
                <a:latin typeface="Aptos Mono"/>
              </a:rPr>
              <a:t>a</a:t>
            </a:r>
            <a:r>
              <a:rPr lang="en-US" sz="800" b="0">
                <a:solidFill>
                  <a:srgbClr val="000000"/>
                </a:solidFill>
                <a:latin typeface="Aptos Mono"/>
              </a:rPr>
              <a:t>][</a:t>
            </a:r>
            <a:r>
              <a:rPr lang="en-US" sz="800" b="0">
                <a:solidFill>
                  <a:srgbClr val="001080"/>
                </a:solidFill>
                <a:latin typeface="Aptos Mono"/>
              </a:rPr>
              <a:t>b</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a</a:t>
            </a:r>
            <a:r>
              <a:rPr lang="en-US" sz="800" b="0">
                <a:solidFill>
                  <a:srgbClr val="000000"/>
                </a:solidFill>
                <a:latin typeface="Aptos Mono"/>
              </a:rPr>
              <a:t>, </a:t>
            </a:r>
            <a:r>
              <a:rPr lang="en-US" sz="800" b="0">
                <a:solidFill>
                  <a:srgbClr val="001080"/>
                </a:solidFill>
                <a:latin typeface="Aptos Mono"/>
              </a:rPr>
              <a:t>b</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795E26"/>
                </a:solidFill>
                <a:latin typeface="Aptos Mono"/>
              </a:rPr>
              <a:t>zip</a:t>
            </a:r>
            <a:r>
              <a:rPr lang="en-US" sz="800" b="0">
                <a:solidFill>
                  <a:srgbClr val="000000"/>
                </a:solidFill>
                <a:latin typeface="Aptos Mono"/>
              </a:rPr>
              <a:t>(</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 </a:t>
            </a:r>
            <a:r>
              <a:rPr lang="en-US" sz="800" b="0">
                <a:solidFill>
                  <a:srgbClr val="0000FF"/>
                </a:solidFill>
                <a:latin typeface="Aptos Mono"/>
              </a:rPr>
              <a:t>None</a:t>
            </a:r>
            <a:endParaRPr/>
          </a:p>
        </p:txBody>
      </p:sp>
      <p:sp>
        <p:nvSpPr>
          <p:cNvPr id="12" name="CodeWindow out"/>
          <p:cNvSpPr/>
          <p:nvPr/>
        </p:nvSpPr>
        <p:spPr bwMode="auto">
          <a:xfrm>
            <a:off x="320040" y="3078558"/>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343734"/>
            <a:ext cx="6016752" cy="0"/>
          </a:xfrm>
          <a:prstGeom prst="line">
            <a:avLst/>
          </a:prstGeom>
          <a:ln w="9525">
            <a:solidFill>
              <a:srgbClr val="DCDCDC"/>
            </a:solidFill>
          </a:ln>
        </p:spPr>
      </p:cxnSp>
      <p:sp>
        <p:nvSpPr>
          <p:cNvPr id="14" name="WinDot 0 out"/>
          <p:cNvSpPr/>
          <p:nvPr/>
        </p:nvSpPr>
        <p:spPr bwMode="auto">
          <a:xfrm>
            <a:off x="411480" y="316085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316085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316085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3119706"/>
            <a:ext cx="5349240" cy="182880"/>
          </a:xfrm>
          <a:prstGeom prst="rect">
            <a:avLst/>
          </a:prstGeom>
          <a:noFill/>
        </p:spPr>
        <p:txBody>
          <a:bodyPr wrap="square" lIns="0" tIns="0" rIns="0" bIns="0" anchor="ctr">
            <a:noAutofit/>
          </a:bodyPr>
          <a:lstStyle/>
          <a:p>
            <a:pPr algn="l">
              <a:defRPr/>
            </a:pPr>
            <a:r>
              <a:rPr sz="850" b="0">
                <a:solidFill>
                  <a:srgbClr val="5B6673"/>
                </a:solidFill>
              </a:rPr>
              <a:t>output: the calls that ask whether the request reaches the SQL string</a:t>
            </a:r>
            <a:endParaRPr/>
          </a:p>
        </p:txBody>
      </p:sp>
      <p:sp>
        <p:nvSpPr>
          <p:cNvPr id="18" name="TextBox 7 out"/>
          <p:cNvSpPr txBox="1"/>
          <p:nvPr/>
        </p:nvSpPr>
        <p:spPr bwMode="auto">
          <a:xfrm>
            <a:off x="466344" y="3407742"/>
            <a:ext cx="5724144" cy="392160"/>
          </a:xfrm>
          <a:prstGeom prst="rect">
            <a:avLst/>
          </a:prstGeom>
          <a:noFill/>
        </p:spPr>
        <p:txBody>
          <a:bodyPr wrap="none" lIns="0" tIns="0" rIns="0" bIns="0">
            <a:spAutoFit/>
          </a:bodyPr>
          <a:lstStyle/>
          <a:p>
            <a:r>
              <a:rPr lang="en-US" sz="800" b="0">
                <a:solidFill>
                  <a:srgbClr val="000000"/>
                </a:solidFill>
                <a:latin typeface="Aptos Mono"/>
              </a:rPr>
              <a:t>00099: request (31) -&gt; sql string (46): (['31', '41', '42', '46'], ['param',</a:t>
            </a:r>
            <a:endParaRPr/>
          </a:p>
          <a:p>
            <a:r>
              <a:rPr lang="en-US" sz="800" b="0">
                <a:solidFill>
                  <a:srgbClr val="000000"/>
                </a:solidFill>
                <a:latin typeface="Aptos Mono"/>
              </a:rPr>
              <a:t>  'conf52528.get', 'bar'])</a:t>
            </a:r>
            <a:endParaRPr/>
          </a:p>
          <a:p>
            <a:r>
              <a:rPr lang="en-US" sz="800" b="0">
                <a:solidFill>
                  <a:srgbClr val="000000"/>
                </a:solidFill>
                <a:latin typeface="Aptos Mono"/>
              </a:rPr>
              <a:t>00011: request (39) -&gt; sql string (47): (None, None)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reaches helper finds a path in the edges.</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Node ids end in </a:t>
            </a:r>
            <a:r>
              <a:rPr lang="en-US" sz="1200" b="0">
                <a:solidFill>
                  <a:srgbClr val="000000"/>
                </a:solidFill>
                <a:latin typeface="Aptos Mono"/>
              </a:rPr>
              <a:t>@line:col</a:t>
            </a:r>
            <a:r>
              <a:rPr lang="en-US" sz="1200" b="1">
                <a:solidFill>
                  <a:srgbClr val="000000"/>
                </a:solidFill>
              </a:rPr>
              <a:t>,</a:t>
            </a:r>
            <a:r>
              <a:rPr lang="en-US" sz="1200" b="0">
                <a:solidFill>
                  <a:srgbClr val="000000"/>
                </a:solidFill>
              </a:rPr>
              <a:t> so the helper keys the graph by line.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For a local such as </a:t>
            </a:r>
            <a:r>
              <a:rPr lang="en-US" sz="1200" b="0">
                <a:solidFill>
                  <a:srgbClr val="FFFFFF">
                    <a:alpha val="0"/>
                  </a:srgbClr>
                </a:solidFill>
                <a:latin typeface="Aptos Mono"/>
              </a:rPr>
              <a:t>bar</a:t>
            </a:r>
            <a:r>
              <a:rPr lang="en-US" sz="1200" b="1">
                <a:solidFill>
                  <a:srgbClr val="FFFFFF">
                    <a:alpha val="0"/>
                  </a:srgbClr>
                </a:solidFill>
              </a:rPr>
              <a:t>,</a:t>
            </a:r>
            <a:r>
              <a:rPr lang="en-US" sz="1200" b="0">
                <a:solidFill>
                  <a:srgbClr val="FFFFFF">
                    <a:alpha val="0"/>
                  </a:srgbClr>
                </a:solidFill>
              </a:rPr>
              <a:t> </a:t>
            </a:r>
            <a:r>
              <a:rPr lang="en-US" sz="1200" b="0">
                <a:solidFill>
                  <a:srgbClr val="FFFFFF">
                    <a:alpha val="0"/>
                  </a:srgbClr>
                </a:solidFill>
                <a:latin typeface="Aptos Mono"/>
              </a:rPr>
              <a:t>get_ddg</a:t>
            </a:r>
            <a:r>
              <a:rPr lang="en-US" sz="1200" b="0">
                <a:solidFill>
                  <a:srgbClr val="FFFFFF">
                    <a:alpha val="0"/>
                  </a:srgbClr>
                </a:solidFill>
              </a:rPr>
              <a:t> is the dependable call.</a:t>
            </a:r>
            <a:endParaRPr>
              <a:solidFill>
                <a:srgbClr val="FFFFFF">
                  <a:alpha val="0"/>
                </a:srgbClr>
              </a:solidFill>
            </a:endParaRPr>
          </a:p>
        </p:txBody>
      </p:sp>
      <p:sp>
        <p:nvSpPr>
          <p:cNvPr id="4" name="CodeWindow"/>
          <p:cNvSpPr/>
          <p:nvPr/>
        </p:nvSpPr>
        <p:spPr bwMode="auto">
          <a:xfrm>
            <a:off x="320040" y="1478892"/>
            <a:ext cx="6016752" cy="153566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sections 2 and 3: reaches, a path over a handler's dependence edges</a:t>
            </a:r>
            <a:endParaRPr/>
          </a:p>
        </p:txBody>
      </p:sp>
      <p:sp>
        <p:nvSpPr>
          <p:cNvPr id="10" name="TextBox 7"/>
          <p:cNvSpPr txBox="1"/>
          <p:nvPr/>
        </p:nvSpPr>
        <p:spPr bwMode="auto">
          <a:xfrm>
            <a:off x="466344" y="1808076"/>
            <a:ext cx="5724144" cy="1136482"/>
          </a:xfrm>
          <a:prstGeom prst="rect">
            <a:avLst/>
          </a:prstGeom>
          <a:noFill/>
        </p:spPr>
        <p:txBody>
          <a:bodyPr wrap="none" lIns="0" tIns="0" rIns="0" bIns="0">
            <a:spAutoFit/>
          </a:bodyPr>
          <a:lstStyle/>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reaches</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src_line</a:t>
            </a:r>
            <a:r>
              <a:rPr lang="en-US" sz="800" b="0">
                <a:solidFill>
                  <a:srgbClr val="000000"/>
                </a:solidFill>
                <a:latin typeface="Aptos Mono"/>
              </a:rPr>
              <a:t>, </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001080"/>
                </a:solidFill>
                <a:latin typeface="Aptos Mono"/>
              </a:rPr>
              <a:t>var</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src_line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001080"/>
                </a:solidFill>
                <a:latin typeface="Aptos Mono"/>
              </a:rPr>
              <a:t>a</a:t>
            </a:r>
            <a:r>
              <a:rPr lang="en-US" sz="800" b="0">
                <a:solidFill>
                  <a:srgbClr val="000000"/>
                </a:solidFill>
                <a:latin typeface="Aptos Mono"/>
              </a:rPr>
              <a:t>][</a:t>
            </a:r>
            <a:r>
              <a:rPr lang="en-US" sz="800" b="0">
                <a:solidFill>
                  <a:srgbClr val="001080"/>
                </a:solidFill>
                <a:latin typeface="Aptos Mono"/>
              </a:rPr>
              <a:t>b</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a</a:t>
            </a:r>
            <a:r>
              <a:rPr lang="en-US" sz="800" b="0">
                <a:solidFill>
                  <a:srgbClr val="000000"/>
                </a:solidFill>
                <a:latin typeface="Aptos Mono"/>
              </a:rPr>
              <a:t>, </a:t>
            </a:r>
            <a:r>
              <a:rPr lang="en-US" sz="800" b="0">
                <a:solidFill>
                  <a:srgbClr val="001080"/>
                </a:solidFill>
                <a:latin typeface="Aptos Mono"/>
              </a:rPr>
              <a:t>b</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795E26"/>
                </a:solidFill>
                <a:latin typeface="Aptos Mono"/>
              </a:rPr>
              <a:t>zip</a:t>
            </a:r>
            <a:r>
              <a:rPr lang="en-US" sz="800" b="0">
                <a:solidFill>
                  <a:srgbClr val="000000"/>
                </a:solidFill>
                <a:latin typeface="Aptos Mono"/>
              </a:rPr>
              <a:t>(</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 </a:t>
            </a:r>
            <a:r>
              <a:rPr lang="en-US" sz="800" b="0">
                <a:solidFill>
                  <a:srgbClr val="0000FF"/>
                </a:solidFill>
                <a:latin typeface="Aptos Mono"/>
              </a:rPr>
              <a:t>None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reaches helper finds a path in the edges.</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Node ids end in </a:t>
            </a:r>
            <a:r>
              <a:rPr lang="en-US" sz="1200" b="0">
                <a:solidFill>
                  <a:srgbClr val="000000"/>
                </a:solidFill>
                <a:latin typeface="Aptos Mono"/>
              </a:rPr>
              <a:t>@line:col</a:t>
            </a:r>
            <a:r>
              <a:rPr lang="en-US" sz="1200" b="1">
                <a:solidFill>
                  <a:srgbClr val="000000"/>
                </a:solidFill>
              </a:rPr>
              <a:t>,</a:t>
            </a:r>
            <a:r>
              <a:rPr lang="en-US" sz="1200" b="0">
                <a:solidFill>
                  <a:srgbClr val="000000"/>
                </a:solidFill>
              </a:rPr>
              <a:t> so the helper keys the graph by line.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For a local such as </a:t>
            </a:r>
            <a:r>
              <a:rPr lang="en-US" sz="1200" b="0">
                <a:solidFill>
                  <a:srgbClr val="FFFFFF">
                    <a:alpha val="0"/>
                  </a:srgbClr>
                </a:solidFill>
                <a:latin typeface="Aptos Mono"/>
              </a:rPr>
              <a:t>bar</a:t>
            </a:r>
            <a:r>
              <a:rPr lang="en-US" sz="1200" b="1">
                <a:solidFill>
                  <a:srgbClr val="FFFFFF">
                    <a:alpha val="0"/>
                  </a:srgbClr>
                </a:solidFill>
              </a:rPr>
              <a:t>,</a:t>
            </a:r>
            <a:r>
              <a:rPr lang="en-US" sz="1200" b="0">
                <a:solidFill>
                  <a:srgbClr val="FFFFFF">
                    <a:alpha val="0"/>
                  </a:srgbClr>
                </a:solidFill>
              </a:rPr>
              <a:t> </a:t>
            </a:r>
            <a:r>
              <a:rPr lang="en-US" sz="1200" b="0">
                <a:solidFill>
                  <a:srgbClr val="FFFFFF">
                    <a:alpha val="0"/>
                  </a:srgbClr>
                </a:solidFill>
                <a:latin typeface="Aptos Mono"/>
              </a:rPr>
              <a:t>get_ddg</a:t>
            </a:r>
            <a:r>
              <a:rPr lang="en-US" sz="1200" b="0">
                <a:solidFill>
                  <a:srgbClr val="FFFFFF">
                    <a:alpha val="0"/>
                  </a:srgbClr>
                </a:solidFill>
              </a:rPr>
              <a:t> is the dependable call.</a:t>
            </a:r>
            <a:endParaRPr>
              <a:solidFill>
                <a:srgbClr val="FFFFFF">
                  <a:alpha val="0"/>
                </a:srgbClr>
              </a:solidFill>
            </a:endParaRPr>
          </a:p>
        </p:txBody>
      </p:sp>
      <p:sp>
        <p:nvSpPr>
          <p:cNvPr id="4" name="CodeWindow"/>
          <p:cNvSpPr/>
          <p:nvPr/>
        </p:nvSpPr>
        <p:spPr bwMode="auto">
          <a:xfrm>
            <a:off x="320040" y="1478892"/>
            <a:ext cx="6016752" cy="153566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sections 2 and 3: reaches, a path over a handler's dependence edges</a:t>
            </a:r>
            <a:endParaRPr/>
          </a:p>
        </p:txBody>
      </p:sp>
      <p:sp>
        <p:nvSpPr>
          <p:cNvPr id="10" name="TextBox 7"/>
          <p:cNvSpPr txBox="1"/>
          <p:nvPr/>
        </p:nvSpPr>
        <p:spPr bwMode="auto">
          <a:xfrm>
            <a:off x="466344" y="1808076"/>
            <a:ext cx="5724144" cy="1136482"/>
          </a:xfrm>
          <a:prstGeom prst="rect">
            <a:avLst/>
          </a:prstGeom>
          <a:noFill/>
        </p:spPr>
        <p:txBody>
          <a:bodyPr wrap="none" lIns="0" tIns="0" rIns="0" bIns="0">
            <a:spAutoFit/>
          </a:bodyPr>
          <a:lstStyle/>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reaches</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src_line</a:t>
            </a:r>
            <a:r>
              <a:rPr lang="en-US" sz="800" b="0">
                <a:solidFill>
                  <a:srgbClr val="000000"/>
                </a:solidFill>
                <a:latin typeface="Aptos Mono"/>
              </a:rPr>
              <a:t>, </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001080"/>
                </a:solidFill>
                <a:latin typeface="Aptos Mono"/>
              </a:rPr>
              <a:t>var</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src_line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001080"/>
                </a:solidFill>
                <a:latin typeface="Aptos Mono"/>
              </a:rPr>
              <a:t>a</a:t>
            </a:r>
            <a:r>
              <a:rPr lang="en-US" sz="800" b="0">
                <a:solidFill>
                  <a:srgbClr val="000000"/>
                </a:solidFill>
                <a:latin typeface="Aptos Mono"/>
              </a:rPr>
              <a:t>][</a:t>
            </a:r>
            <a:r>
              <a:rPr lang="en-US" sz="800" b="0">
                <a:solidFill>
                  <a:srgbClr val="001080"/>
                </a:solidFill>
                <a:latin typeface="Aptos Mono"/>
              </a:rPr>
              <a:t>b</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a</a:t>
            </a:r>
            <a:r>
              <a:rPr lang="en-US" sz="800" b="0">
                <a:solidFill>
                  <a:srgbClr val="000000"/>
                </a:solidFill>
                <a:latin typeface="Aptos Mono"/>
              </a:rPr>
              <a:t>, </a:t>
            </a:r>
            <a:r>
              <a:rPr lang="en-US" sz="800" b="0">
                <a:solidFill>
                  <a:srgbClr val="001080"/>
                </a:solidFill>
                <a:latin typeface="Aptos Mono"/>
              </a:rPr>
              <a:t>b</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795E26"/>
                </a:solidFill>
                <a:latin typeface="Aptos Mono"/>
              </a:rPr>
              <a:t>zip</a:t>
            </a:r>
            <a:r>
              <a:rPr lang="en-US" sz="800" b="0">
                <a:solidFill>
                  <a:srgbClr val="000000"/>
                </a:solidFill>
                <a:latin typeface="Aptos Mono"/>
              </a:rPr>
              <a:t>(</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 </a:t>
            </a:r>
            <a:r>
              <a:rPr lang="en-US" sz="800" b="0">
                <a:solidFill>
                  <a:srgbClr val="0000FF"/>
                </a:solidFill>
                <a:latin typeface="Aptos Mono"/>
              </a:rPr>
              <a:t>None</a:t>
            </a:r>
            <a:endParaRPr/>
          </a:p>
        </p:txBody>
      </p:sp>
      <p:sp>
        <p:nvSpPr>
          <p:cNvPr id="11" name="CodeWindow out"/>
          <p:cNvSpPr/>
          <p:nvPr/>
        </p:nvSpPr>
        <p:spPr bwMode="auto">
          <a:xfrm>
            <a:off x="320040" y="3078558"/>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343734"/>
            <a:ext cx="6016752" cy="0"/>
          </a:xfrm>
          <a:prstGeom prst="line">
            <a:avLst/>
          </a:prstGeom>
          <a:ln w="9525">
            <a:solidFill>
              <a:srgbClr val="DCDCDC"/>
            </a:solidFill>
          </a:ln>
        </p:spPr>
      </p:cxnSp>
      <p:sp>
        <p:nvSpPr>
          <p:cNvPr id="13" name="WinDot 0 out"/>
          <p:cNvSpPr/>
          <p:nvPr/>
        </p:nvSpPr>
        <p:spPr bwMode="auto">
          <a:xfrm>
            <a:off x="411480" y="316085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16085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16085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119706"/>
            <a:ext cx="5349240" cy="182880"/>
          </a:xfrm>
          <a:prstGeom prst="rect">
            <a:avLst/>
          </a:prstGeom>
          <a:noFill/>
        </p:spPr>
        <p:txBody>
          <a:bodyPr wrap="square" lIns="0" tIns="0" rIns="0" bIns="0" anchor="ctr">
            <a:noAutofit/>
          </a:bodyPr>
          <a:lstStyle/>
          <a:p>
            <a:pPr algn="l">
              <a:defRPr/>
            </a:pPr>
            <a:r>
              <a:rPr sz="850" b="0">
                <a:solidFill>
                  <a:srgbClr val="5B6673"/>
                </a:solidFill>
              </a:rPr>
              <a:t>output: the calls that ask whether the request reaches the SQL string</a:t>
            </a:r>
            <a:endParaRPr/>
          </a:p>
        </p:txBody>
      </p:sp>
      <p:sp>
        <p:nvSpPr>
          <p:cNvPr id="17" name="TextBox 7 out"/>
          <p:cNvSpPr txBox="1"/>
          <p:nvPr/>
        </p:nvSpPr>
        <p:spPr bwMode="auto">
          <a:xfrm>
            <a:off x="466344" y="3407742"/>
            <a:ext cx="5724144" cy="392160"/>
          </a:xfrm>
          <a:prstGeom prst="rect">
            <a:avLst/>
          </a:prstGeom>
          <a:noFill/>
        </p:spPr>
        <p:txBody>
          <a:bodyPr wrap="none" lIns="0" tIns="0" rIns="0" bIns="0">
            <a:spAutoFit/>
          </a:bodyPr>
          <a:lstStyle/>
          <a:p>
            <a:r>
              <a:rPr lang="en-US" sz="800" b="0">
                <a:solidFill>
                  <a:srgbClr val="000000"/>
                </a:solidFill>
                <a:latin typeface="Aptos Mono"/>
              </a:rPr>
              <a:t>00099: request (31) -&gt; sql string (46): (['31', '41', '42', '46'], ['param',</a:t>
            </a:r>
            <a:endParaRPr/>
          </a:p>
          <a:p>
            <a:r>
              <a:rPr lang="en-US" sz="800" b="0">
                <a:solidFill>
                  <a:srgbClr val="000000"/>
                </a:solidFill>
                <a:latin typeface="Aptos Mono"/>
              </a:rPr>
              <a:t>  'conf52528.get', 'bar'])</a:t>
            </a:r>
            <a:endParaRPr/>
          </a:p>
          <a:p>
            <a:r>
              <a:rPr lang="en-US" sz="800" b="0">
                <a:solidFill>
                  <a:srgbClr val="000000"/>
                </a:solidFill>
                <a:latin typeface="Aptos Mono"/>
              </a:rPr>
              <a:t>00011: request (39) -&gt; sql string (47): (None, None)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reaches helper finds a path in the edges.</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Node ids end in </a:t>
            </a:r>
            <a:r>
              <a:rPr lang="en-US" sz="1200" b="0">
                <a:solidFill>
                  <a:srgbClr val="000000"/>
                </a:solidFill>
                <a:latin typeface="Aptos Mono"/>
              </a:rPr>
              <a:t>@line:col</a:t>
            </a:r>
            <a:r>
              <a:rPr lang="en-US" sz="1200" b="1">
                <a:solidFill>
                  <a:srgbClr val="000000"/>
                </a:solidFill>
              </a:rPr>
              <a:t>,</a:t>
            </a:r>
            <a:r>
              <a:rPr lang="en-US" sz="1200" b="0">
                <a:solidFill>
                  <a:srgbClr val="000000"/>
                </a:solidFill>
              </a:rPr>
              <a:t> so the helper keys the graph by line.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For a local such as </a:t>
            </a:r>
            <a:r>
              <a:rPr lang="en-US" sz="1200" b="0">
                <a:solidFill>
                  <a:srgbClr val="000000"/>
                </a:solidFill>
                <a:latin typeface="Aptos Mono"/>
              </a:rPr>
              <a:t>bar</a:t>
            </a:r>
            <a:r>
              <a:rPr lang="en-US" sz="1200" b="1">
                <a:solidFill>
                  <a:srgbClr val="000000"/>
                </a:solidFill>
              </a:rPr>
              <a:t>,</a:t>
            </a:r>
            <a:r>
              <a:rPr lang="en-US" sz="1200" b="0">
                <a:solidFill>
                  <a:srgbClr val="000000"/>
                </a:solidFill>
              </a:rPr>
              <a:t> </a:t>
            </a:r>
            <a:r>
              <a:rPr lang="en-US" sz="1200" b="0">
                <a:solidFill>
                  <a:srgbClr val="000000"/>
                </a:solidFill>
                <a:latin typeface="Aptos Mono"/>
              </a:rPr>
              <a:t>get_ddg</a:t>
            </a:r>
            <a:r>
              <a:rPr lang="en-US" sz="1200" b="0">
                <a:solidFill>
                  <a:srgbClr val="000000"/>
                </a:solidFill>
              </a:rPr>
              <a:t> is the dependable call.</a:t>
            </a:r>
            <a:endParaRPr/>
          </a:p>
        </p:txBody>
      </p:sp>
      <p:sp>
        <p:nvSpPr>
          <p:cNvPr id="4" name="CodeWindow"/>
          <p:cNvSpPr/>
          <p:nvPr/>
        </p:nvSpPr>
        <p:spPr bwMode="auto">
          <a:xfrm>
            <a:off x="320040" y="1478892"/>
            <a:ext cx="6016752" cy="1535666"/>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sections 2 and 3: reaches, a path over a handler's dependence edges</a:t>
            </a:r>
            <a:endParaRPr/>
          </a:p>
        </p:txBody>
      </p:sp>
      <p:sp>
        <p:nvSpPr>
          <p:cNvPr id="10" name="TextBox 7"/>
          <p:cNvSpPr txBox="1"/>
          <p:nvPr/>
        </p:nvSpPr>
        <p:spPr bwMode="auto">
          <a:xfrm>
            <a:off x="466344" y="1808076"/>
            <a:ext cx="5724144" cy="1136482"/>
          </a:xfrm>
          <a:prstGeom prst="rect">
            <a:avLst/>
          </a:prstGeom>
          <a:noFill/>
        </p:spPr>
        <p:txBody>
          <a:bodyPr wrap="none" lIns="0" tIns="0" rIns="0" bIns="0">
            <a:spAutoFit/>
          </a:bodyPr>
          <a:lstStyle/>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reaches</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src_line</a:t>
            </a:r>
            <a:r>
              <a:rPr lang="en-US" sz="800" b="0">
                <a:solidFill>
                  <a:srgbClr val="000000"/>
                </a:solidFill>
                <a:latin typeface="Aptos Mono"/>
              </a:rPr>
              <a:t>, </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handler</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001080"/>
                </a:solidFill>
                <a:latin typeface="Aptos Mono"/>
              </a:rPr>
              <a:t>var</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src_line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a:t>
            </a:r>
            <a:r>
              <a:rPr lang="en-US" sz="800" b="0">
                <a:solidFill>
                  <a:srgbClr val="001080"/>
                </a:solidFill>
                <a:latin typeface="Aptos Mono"/>
              </a:rPr>
              <a:t>dst_line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a:t>
            </a:r>
            <a:r>
              <a:rPr lang="en-US" sz="800" b="0">
                <a:solidFill>
                  <a:srgbClr val="000000"/>
                </a:solidFill>
                <a:latin typeface="Aptos Mono"/>
              </a:rPr>
              <a:t>, </a:t>
            </a:r>
            <a:r>
              <a:rPr lang="en-US" sz="800" b="0">
                <a:solidFill>
                  <a:srgbClr val="001080"/>
                </a:solidFill>
                <a:latin typeface="Aptos Mono"/>
              </a:rPr>
              <a:t>d</a:t>
            </a:r>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001080"/>
                </a:solidFill>
                <a:latin typeface="Aptos Mono"/>
              </a:rPr>
              <a:t>a</a:t>
            </a:r>
            <a:r>
              <a:rPr lang="en-US" sz="800" b="0">
                <a:solidFill>
                  <a:srgbClr val="000000"/>
                </a:solidFill>
                <a:latin typeface="Aptos Mono"/>
              </a:rPr>
              <a:t>][</a:t>
            </a:r>
            <a:r>
              <a:rPr lang="en-US" sz="800" b="0">
                <a:solidFill>
                  <a:srgbClr val="001080"/>
                </a:solidFill>
                <a:latin typeface="Aptos Mono"/>
              </a:rPr>
              <a:t>b</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a</a:t>
            </a:r>
            <a:r>
              <a:rPr lang="en-US" sz="800" b="0">
                <a:solidFill>
                  <a:srgbClr val="000000"/>
                </a:solidFill>
                <a:latin typeface="Aptos Mono"/>
              </a:rPr>
              <a:t>, </a:t>
            </a:r>
            <a:r>
              <a:rPr lang="en-US" sz="800" b="0">
                <a:solidFill>
                  <a:srgbClr val="001080"/>
                </a:solidFill>
                <a:latin typeface="Aptos Mono"/>
              </a:rPr>
              <a:t>b</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795E26"/>
                </a:solidFill>
                <a:latin typeface="Aptos Mono"/>
              </a:rPr>
              <a:t>zip</a:t>
            </a:r>
            <a:r>
              <a:rPr lang="en-US" sz="800" b="0">
                <a:solidFill>
                  <a:srgbClr val="000000"/>
                </a:solidFill>
                <a:latin typeface="Aptos Mono"/>
              </a:rPr>
              <a:t>(</a:t>
            </a:r>
            <a:r>
              <a:rPr lang="en-US" sz="800" b="0">
                <a:solidFill>
                  <a:srgbClr val="001080"/>
                </a:solidFill>
                <a:latin typeface="Aptos Mono"/>
              </a:rPr>
              <a:t>p</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 </a:t>
            </a:r>
            <a:r>
              <a:rPr lang="en-US" sz="800" b="0">
                <a:solidFill>
                  <a:srgbClr val="0000FF"/>
                </a:solidFill>
                <a:latin typeface="Aptos Mono"/>
              </a:rPr>
              <a:t>None</a:t>
            </a:r>
            <a:endParaRPr/>
          </a:p>
        </p:txBody>
      </p:sp>
      <p:sp>
        <p:nvSpPr>
          <p:cNvPr id="11" name="CodeWindow out"/>
          <p:cNvSpPr/>
          <p:nvPr/>
        </p:nvSpPr>
        <p:spPr bwMode="auto">
          <a:xfrm>
            <a:off x="320040" y="3078558"/>
            <a:ext cx="6016752" cy="791344"/>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343734"/>
            <a:ext cx="6016752" cy="0"/>
          </a:xfrm>
          <a:prstGeom prst="line">
            <a:avLst/>
          </a:prstGeom>
          <a:ln w="9525">
            <a:solidFill>
              <a:srgbClr val="DCDCDC"/>
            </a:solidFill>
          </a:ln>
        </p:spPr>
      </p:cxnSp>
      <p:sp>
        <p:nvSpPr>
          <p:cNvPr id="13" name="WinDot 0 out"/>
          <p:cNvSpPr/>
          <p:nvPr/>
        </p:nvSpPr>
        <p:spPr bwMode="auto">
          <a:xfrm>
            <a:off x="411480" y="316085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16085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16085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119706"/>
            <a:ext cx="5349240" cy="182880"/>
          </a:xfrm>
          <a:prstGeom prst="rect">
            <a:avLst/>
          </a:prstGeom>
          <a:noFill/>
        </p:spPr>
        <p:txBody>
          <a:bodyPr wrap="square" lIns="0" tIns="0" rIns="0" bIns="0" anchor="ctr">
            <a:noAutofit/>
          </a:bodyPr>
          <a:lstStyle/>
          <a:p>
            <a:pPr algn="l">
              <a:defRPr/>
            </a:pPr>
            <a:r>
              <a:rPr sz="850" b="0">
                <a:solidFill>
                  <a:srgbClr val="5B6673"/>
                </a:solidFill>
              </a:rPr>
              <a:t>output: the calls that ask whether the request reaches the SQL string</a:t>
            </a:r>
            <a:endParaRPr/>
          </a:p>
        </p:txBody>
      </p:sp>
      <p:sp>
        <p:nvSpPr>
          <p:cNvPr id="17" name="TextBox 7 out"/>
          <p:cNvSpPr txBox="1"/>
          <p:nvPr/>
        </p:nvSpPr>
        <p:spPr bwMode="auto">
          <a:xfrm>
            <a:off x="466344" y="3407742"/>
            <a:ext cx="5724144" cy="392160"/>
          </a:xfrm>
          <a:prstGeom prst="rect">
            <a:avLst/>
          </a:prstGeom>
          <a:noFill/>
        </p:spPr>
        <p:txBody>
          <a:bodyPr wrap="none" lIns="0" tIns="0" rIns="0" bIns="0">
            <a:spAutoFit/>
          </a:bodyPr>
          <a:lstStyle/>
          <a:p>
            <a:r>
              <a:rPr lang="en-US" sz="800" b="0">
                <a:solidFill>
                  <a:srgbClr val="000000"/>
                </a:solidFill>
                <a:latin typeface="Aptos Mono"/>
              </a:rPr>
              <a:t>00099: request (31) -&gt; sql string (46): (['31', '41', '42', '46'], ['param',</a:t>
            </a:r>
            <a:endParaRPr/>
          </a:p>
          <a:p>
            <a:r>
              <a:rPr lang="en-US" sz="800" b="0">
                <a:solidFill>
                  <a:srgbClr val="000000"/>
                </a:solidFill>
                <a:latin typeface="Aptos Mono"/>
              </a:rPr>
              <a:t>  'conf52528.get', 'bar'])</a:t>
            </a:r>
            <a:endParaRPr/>
          </a:p>
          <a:p>
            <a:r>
              <a:rPr lang="en-US" sz="800" b="0">
                <a:solidFill>
                  <a:srgbClr val="000000"/>
                </a:solidFill>
                <a:latin typeface="Aptos Mono"/>
              </a:rPr>
              <a:t>00011: request (39) -&gt; sql string (47): (None, None)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empty answer is ambiguous until checked.</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 this checkout</a:t>
            </a:r>
            <a:r>
              <a:rPr lang="en-US" sz="1200" b="0">
                <a:solidFill>
                  <a:srgbClr val="000000"/>
                </a:solidFill>
              </a:rPr>
              <a:t> </a:t>
            </a:r>
            <a:r>
              <a:rPr lang="en-US" sz="1200" b="0">
                <a:solidFill>
                  <a:srgbClr val="000000"/>
                </a:solidFill>
                <a:latin typeface="Aptos Mono"/>
              </a:rPr>
              <a:t>get_entrypoints</a:t>
            </a:r>
            <a:r>
              <a:rPr lang="en-US" sz="1200" b="0">
                <a:solidFill>
                  <a:srgbClr val="000000"/>
                </a:solidFill>
              </a:rPr>
              <a:t> finds 2,463 entry points, and the coverage marks 2,460 </a:t>
            </a:r>
            <a:r>
              <a:rPr lang="en-US" sz="1200" b="0">
                <a:solidFill>
                  <a:srgbClr val="000000"/>
                </a:solidFill>
                <a:latin typeface="Aptos Mono"/>
              </a:rPr>
              <a:t>app.route</a:t>
            </a:r>
            <a:r>
              <a:rPr lang="en-US" sz="1200" b="0">
                <a:solidFill>
                  <a:srgbClr val="000000"/>
                </a:solidFill>
              </a:rPr>
              <a:t> decorators unresolved.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Check </a:t>
            </a:r>
            <a:r>
              <a:rPr lang="en-US" sz="1200" b="0">
                <a:solidFill>
                  <a:srgbClr val="000000"/>
                </a:solidFill>
                <a:latin typeface="Aptos Mono"/>
              </a:rPr>
              <a:t>has_resolution_edges</a:t>
            </a:r>
            <a:r>
              <a:rPr lang="en-US" sz="1200" b="0">
                <a:solidFill>
                  <a:srgbClr val="000000"/>
                </a:solidFill>
              </a:rPr>
              <a:t> before reading a </a:t>
            </a:r>
            <a:r>
              <a:rPr lang="en-US" sz="1200" b="0">
                <a:solidFill>
                  <a:srgbClr val="000000"/>
                </a:solidFill>
                <a:latin typeface="Aptos Mono"/>
              </a:rPr>
              <a:t>None</a:t>
            </a:r>
            <a:r>
              <a:rPr lang="en-US" sz="1200" b="0">
                <a:solidFill>
                  <a:srgbClr val="000000"/>
                </a:solidFill>
              </a:rPr>
              <a:t> callee from </a:t>
            </a:r>
            <a:r>
              <a:rPr lang="en-US" sz="1200" b="0">
                <a:solidFill>
                  <a:srgbClr val="000000"/>
                </a:solidFill>
                <a:latin typeface="Aptos Mono"/>
              </a:rPr>
              <a:t>get_callsites_for</a:t>
            </a:r>
            <a:r>
              <a:rPr lang="en-US" sz="1200" b="0">
                <a:solidFill>
                  <a:srgbClr val="000000"/>
                </a:solidFill>
              </a:rPr>
              <a:t> as unresolved.</a:t>
            </a:r>
            <a:endParaRPr/>
          </a:p>
        </p:txBody>
      </p:sp>
      <p:sp>
        <p:nvSpPr>
          <p:cNvPr id="4" name="Rectangle 4"/>
          <p:cNvSpPr/>
          <p:nvPr/>
        </p:nvSpPr>
        <p:spPr bwMode="auto">
          <a:xfrm>
            <a:off x="320040" y="383599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An empty result that could mean two things is a defect, so the agent asks why.</a:t>
            </a:r>
            <a:endParaRPr/>
          </a:p>
        </p:txBody>
      </p:sp>
      <p:sp>
        <p:nvSpPr>
          <p:cNvPr id="5"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451204"/>
            <a:ext cx="6016752" cy="0"/>
          </a:xfrm>
          <a:prstGeom prst="line">
            <a:avLst/>
          </a:prstGeom>
          <a:ln w="9525">
            <a:solidFill>
              <a:srgbClr val="DCDCDC"/>
            </a:solidFill>
          </a:ln>
        </p:spPr>
      </p:cxnSp>
      <p:sp>
        <p:nvSpPr>
          <p:cNvPr id="7"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4: the entry points and the report on how they were found</a:t>
            </a:r>
            <a:endParaRPr/>
          </a:p>
        </p:txBody>
      </p:sp>
      <p:sp>
        <p:nvSpPr>
          <p:cNvPr id="11"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cov</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get_entrypoint_coverage</a:t>
            </a:r>
            <a:r>
              <a:rPr lang="en-US" sz="800" b="0">
                <a:solidFill>
                  <a:srgbClr val="000000"/>
                </a:solidFill>
                <a:latin typeface="Aptos Mono"/>
              </a:rPr>
              <a:t>(); </a:t>
            </a:r>
            <a:r>
              <a:rPr lang="en-US" sz="800" b="0">
                <a:solidFill>
                  <a:srgbClr val="001080"/>
                </a:solidFill>
                <a:latin typeface="Aptos Mono"/>
              </a:rPr>
              <a:t>eps</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get_entrypoints</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eps</a:t>
            </a:r>
            <a:r>
              <a:rPr lang="en-US" sz="800" b="0">
                <a:solidFill>
                  <a:srgbClr val="000000"/>
                </a:solidFill>
                <a:latin typeface="Aptos Mono"/>
              </a:rPr>
              <a:t>), </a:t>
            </a:r>
            <a:r>
              <a:rPr lang="en-US" sz="800" b="0">
                <a:solidFill>
                  <a:srgbClr val="A31515"/>
                </a:solidFill>
                <a:latin typeface="Aptos Mono"/>
              </a:rPr>
              <a:t>"entry points;"</a:t>
            </a:r>
            <a:r>
              <a:rPr lang="en-US" sz="800" b="0">
                <a:solidFill>
                  <a:srgbClr val="000000"/>
                </a:solidFill>
                <a:latin typeface="Aptos Mono"/>
              </a:rPr>
              <a:t>, </a:t>
            </a:r>
            <a:r>
              <a:rPr lang="en-US" sz="800" b="0">
                <a:solidFill>
                  <a:srgbClr val="001080"/>
                </a:solidFill>
                <a:latin typeface="Aptos Mono"/>
              </a:rPr>
              <a:t>cov</a:t>
            </a:r>
            <a:r>
              <a:rPr lang="en-US" sz="800" b="0">
                <a:solidFill>
                  <a:srgbClr val="000000"/>
                </a:solidFill>
                <a:latin typeface="Aptos Mono"/>
              </a:rPr>
              <a:t>)</a:t>
            </a:r>
            <a:endParaRPr/>
          </a:p>
        </p:txBody>
      </p:sp>
      <p:sp>
        <p:nvSpPr>
          <p:cNvPr id="12" name="CodeWindow out"/>
          <p:cNvSpPr/>
          <p:nvPr/>
        </p:nvSpPr>
        <p:spPr bwMode="auto">
          <a:xfrm>
            <a:off x="320040" y="2917319"/>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182495"/>
            <a:ext cx="6016752" cy="0"/>
          </a:xfrm>
          <a:prstGeom prst="line">
            <a:avLst/>
          </a:prstGeom>
          <a:ln w="9525">
            <a:solidFill>
              <a:srgbClr val="DCDCDC"/>
            </a:solidFill>
          </a:ln>
        </p:spPr>
      </p:cxnSp>
      <p:sp>
        <p:nvSpPr>
          <p:cNvPr id="14"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8" name="TextBox 7 out"/>
          <p:cNvSpPr txBox="1"/>
          <p:nvPr/>
        </p:nvSpPr>
        <p:spPr bwMode="auto">
          <a:xfrm>
            <a:off x="466344" y="3246503"/>
            <a:ext cx="5724144" cy="268107"/>
          </a:xfrm>
          <a:prstGeom prst="rect">
            <a:avLst/>
          </a:prstGeom>
          <a:noFill/>
        </p:spPr>
        <p:txBody>
          <a:bodyPr wrap="none" lIns="0" tIns="0" rIns="0" bIns="0">
            <a:spAutoFit/>
          </a:bodyPr>
          <a:lstStyle/>
          <a:p>
            <a:r>
              <a:rPr lang="en-US" sz="800" b="0">
                <a:solidFill>
                  <a:srgbClr val="000000"/>
                </a:solidFill>
                <a:latin typeface="Aptos Mono"/>
              </a:rPr>
              <a:t>2463 entry points; frameworks_detected=['click', 'flask'] rulesets=['shipped']</a:t>
            </a:r>
            <a:endParaRPr/>
          </a:p>
          <a:p>
            <a:r>
              <a:rPr lang="en-US" sz="800" b="0">
                <a:solidFill>
                  <a:srgbClr val="000000"/>
                </a:solidFill>
                <a:latin typeface="Aptos Mono"/>
              </a:rPr>
              <a:t>  unresolved={'app.route': 2460} errors=[] diagnostics=[]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empty answer is ambiguous until checked.</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 this checkout</a:t>
            </a:r>
            <a:r>
              <a:rPr lang="en-US" sz="1200" b="0">
                <a:solidFill>
                  <a:srgbClr val="000000"/>
                </a:solidFill>
              </a:rPr>
              <a:t> </a:t>
            </a:r>
            <a:r>
              <a:rPr lang="en-US" sz="1200" b="0">
                <a:solidFill>
                  <a:srgbClr val="000000"/>
                </a:solidFill>
                <a:latin typeface="Aptos Mono"/>
              </a:rPr>
              <a:t>get_entrypoints</a:t>
            </a:r>
            <a:r>
              <a:rPr lang="en-US" sz="1200" b="0">
                <a:solidFill>
                  <a:srgbClr val="000000"/>
                </a:solidFill>
              </a:rPr>
              <a:t> finds 2,463 entry points, and the coverage marks 2,460 </a:t>
            </a:r>
            <a:r>
              <a:rPr lang="en-US" sz="1200" b="0">
                <a:solidFill>
                  <a:srgbClr val="000000"/>
                </a:solidFill>
                <a:latin typeface="Aptos Mono"/>
              </a:rPr>
              <a:t>app.route</a:t>
            </a:r>
            <a:r>
              <a:rPr lang="en-US" sz="1200" b="0">
                <a:solidFill>
                  <a:srgbClr val="000000"/>
                </a:solidFill>
              </a:rPr>
              <a:t> decorators unresolved.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 the diagnostics</a:t>
            </a:r>
            <a:r>
              <a:rPr lang="en-US" sz="1200" b="0">
                <a:solidFill>
                  <a:srgbClr val="FFFFFF">
                    <a:alpha val="0"/>
                  </a:srgbClr>
                </a:solidFill>
              </a:rPr>
              <a:t> before concluding that nothing was found.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Check </a:t>
            </a:r>
            <a:r>
              <a:rPr lang="en-US" sz="1200" b="0">
                <a:solidFill>
                  <a:srgbClr val="FFFFFF">
                    <a:alpha val="0"/>
                  </a:srgbClr>
                </a:solidFill>
                <a:latin typeface="Aptos Mono"/>
              </a:rPr>
              <a:t>has_resolution_edges</a:t>
            </a:r>
            <a:r>
              <a:rPr lang="en-US" sz="1200" b="0">
                <a:solidFill>
                  <a:srgbClr val="FFFFFF">
                    <a:alpha val="0"/>
                  </a:srgbClr>
                </a:solidFill>
              </a:rPr>
              <a:t> before reading a </a:t>
            </a:r>
            <a:r>
              <a:rPr lang="en-US" sz="1200" b="0">
                <a:solidFill>
                  <a:srgbClr val="FFFFFF">
                    <a:alpha val="0"/>
                  </a:srgbClr>
                </a:solidFill>
                <a:latin typeface="Aptos Mono"/>
              </a:rPr>
              <a:t>None</a:t>
            </a:r>
            <a:r>
              <a:rPr lang="en-US" sz="1200" b="0">
                <a:solidFill>
                  <a:srgbClr val="FFFFFF">
                    <a:alpha val="0"/>
                  </a:srgbClr>
                </a:solidFill>
              </a:rPr>
              <a:t> callee from </a:t>
            </a:r>
            <a:r>
              <a:rPr lang="en-US" sz="1200" b="0">
                <a:solidFill>
                  <a:srgbClr val="FFFFFF">
                    <a:alpha val="0"/>
                  </a:srgbClr>
                </a:solidFill>
                <a:latin typeface="Aptos Mono"/>
              </a:rPr>
              <a:t>get_callsites_for</a:t>
            </a:r>
            <a:r>
              <a:rPr lang="en-US" sz="1200" b="0">
                <a:solidFill>
                  <a:srgbClr val="FFFFFF">
                    <a:alpha val="0"/>
                  </a:srgbClr>
                </a:solidFill>
              </a:rPr>
              <a:t> as unresolved.</a:t>
            </a:r>
            <a:endParaRPr>
              <a:solidFill>
                <a:srgbClr val="FFFFFF">
                  <a:alpha val="0"/>
                </a:srgbClr>
              </a:solidFill>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4: the entry points and the report on how they were found</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cov</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get_entrypoint_coverage</a:t>
            </a:r>
            <a:r>
              <a:rPr lang="en-US" sz="800" b="0">
                <a:solidFill>
                  <a:srgbClr val="000000"/>
                </a:solidFill>
                <a:latin typeface="Aptos Mono"/>
              </a:rPr>
              <a:t>(); </a:t>
            </a:r>
            <a:r>
              <a:rPr lang="en-US" sz="800" b="0">
                <a:solidFill>
                  <a:srgbClr val="001080"/>
                </a:solidFill>
                <a:latin typeface="Aptos Mono"/>
              </a:rPr>
              <a:t>eps</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get_entrypoints</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eps</a:t>
            </a:r>
            <a:r>
              <a:rPr lang="en-US" sz="800" b="0">
                <a:solidFill>
                  <a:srgbClr val="000000"/>
                </a:solidFill>
                <a:latin typeface="Aptos Mono"/>
              </a:rPr>
              <a:t>), </a:t>
            </a:r>
            <a:r>
              <a:rPr lang="en-US" sz="800" b="0">
                <a:solidFill>
                  <a:srgbClr val="A31515"/>
                </a:solidFill>
                <a:latin typeface="Aptos Mono"/>
              </a:rPr>
              <a:t>"entry points;"</a:t>
            </a:r>
            <a:r>
              <a:rPr lang="en-US" sz="800" b="0">
                <a:solidFill>
                  <a:srgbClr val="000000"/>
                </a:solidFill>
                <a:latin typeface="Aptos Mono"/>
              </a:rPr>
              <a:t>, </a:t>
            </a:r>
            <a:r>
              <a:rPr lang="en-US" sz="800" b="0">
                <a:solidFill>
                  <a:srgbClr val="001080"/>
                </a:solidFill>
                <a:latin typeface="Aptos Mono"/>
              </a:rPr>
              <a:t>cov</a:t>
            </a:r>
            <a:r>
              <a:rPr lang="en-US" sz="800" b="0">
                <a:solidFill>
                  <a:srgbClr val="000000"/>
                </a:solidFill>
                <a:latin typeface="Aptos Mono"/>
              </a:rPr>
              <a:t>)</a:t>
            </a:r>
            <a:endParaRPr/>
          </a:p>
        </p:txBody>
      </p:sp>
      <p:sp>
        <p:nvSpPr>
          <p:cNvPr id="11" name="CodeWindow out"/>
          <p:cNvSpPr/>
          <p:nvPr/>
        </p:nvSpPr>
        <p:spPr bwMode="auto">
          <a:xfrm>
            <a:off x="320040" y="2917319"/>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82495"/>
            <a:ext cx="6016752" cy="0"/>
          </a:xfrm>
          <a:prstGeom prst="line">
            <a:avLst/>
          </a:prstGeom>
          <a:ln w="9525">
            <a:solidFill>
              <a:srgbClr val="DCDCDC"/>
            </a:solidFill>
          </a:ln>
        </p:spPr>
      </p:cxnSp>
      <p:sp>
        <p:nvSpPr>
          <p:cNvPr id="13"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7" name="TextBox 7 out"/>
          <p:cNvSpPr txBox="1"/>
          <p:nvPr/>
        </p:nvSpPr>
        <p:spPr bwMode="auto">
          <a:xfrm>
            <a:off x="466344" y="3246503"/>
            <a:ext cx="5724144" cy="268107"/>
          </a:xfrm>
          <a:prstGeom prst="rect">
            <a:avLst/>
          </a:prstGeom>
          <a:noFill/>
        </p:spPr>
        <p:txBody>
          <a:bodyPr wrap="none" lIns="0" tIns="0" rIns="0" bIns="0">
            <a:spAutoFit/>
          </a:bodyPr>
          <a:lstStyle/>
          <a:p>
            <a:r>
              <a:rPr lang="en-US" sz="800" b="0">
                <a:solidFill>
                  <a:srgbClr val="000000"/>
                </a:solidFill>
                <a:latin typeface="Aptos Mono"/>
              </a:rPr>
              <a:t>2463 entry points; frameworks_detected=['click', 'flask'] rulesets=['shipped']</a:t>
            </a:r>
            <a:endParaRPr/>
          </a:p>
          <a:p>
            <a:r>
              <a:rPr lang="en-US" sz="800" b="0">
                <a:solidFill>
                  <a:srgbClr val="000000"/>
                </a:solidFill>
                <a:latin typeface="Aptos Mono"/>
              </a:rPr>
              <a:t>  unresolved={'app.route': 2460} errors=[] diagnostics=[]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empty answer is ambiguous until checked.</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 this checkout</a:t>
            </a:r>
            <a:r>
              <a:rPr lang="en-US" sz="1200" b="0">
                <a:solidFill>
                  <a:srgbClr val="000000"/>
                </a:solidFill>
              </a:rPr>
              <a:t> </a:t>
            </a:r>
            <a:r>
              <a:rPr lang="en-US" sz="1200" b="0">
                <a:solidFill>
                  <a:srgbClr val="000000"/>
                </a:solidFill>
                <a:latin typeface="Aptos Mono"/>
              </a:rPr>
              <a:t>get_entrypoints</a:t>
            </a:r>
            <a:r>
              <a:rPr lang="en-US" sz="1200" b="0">
                <a:solidFill>
                  <a:srgbClr val="000000"/>
                </a:solidFill>
              </a:rPr>
              <a:t> finds 2,463 entry points, and the coverage marks 2,460 </a:t>
            </a:r>
            <a:r>
              <a:rPr lang="en-US" sz="1200" b="0">
                <a:solidFill>
                  <a:srgbClr val="000000"/>
                </a:solidFill>
                <a:latin typeface="Aptos Mono"/>
              </a:rPr>
              <a:t>app.route</a:t>
            </a:r>
            <a:r>
              <a:rPr lang="en-US" sz="1200" b="0">
                <a:solidFill>
                  <a:srgbClr val="000000"/>
                </a:solidFill>
              </a:rPr>
              <a:t> decorators unresolved.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Check </a:t>
            </a:r>
            <a:r>
              <a:rPr lang="en-US" sz="1200" b="0">
                <a:solidFill>
                  <a:srgbClr val="FFFFFF">
                    <a:alpha val="0"/>
                  </a:srgbClr>
                </a:solidFill>
                <a:latin typeface="Aptos Mono"/>
              </a:rPr>
              <a:t>has_resolution_edges</a:t>
            </a:r>
            <a:r>
              <a:rPr lang="en-US" sz="1200" b="0">
                <a:solidFill>
                  <a:srgbClr val="FFFFFF">
                    <a:alpha val="0"/>
                  </a:srgbClr>
                </a:solidFill>
              </a:rPr>
              <a:t> before reading a </a:t>
            </a:r>
            <a:r>
              <a:rPr lang="en-US" sz="1200" b="0">
                <a:solidFill>
                  <a:srgbClr val="FFFFFF">
                    <a:alpha val="0"/>
                  </a:srgbClr>
                </a:solidFill>
                <a:latin typeface="Aptos Mono"/>
              </a:rPr>
              <a:t>None</a:t>
            </a:r>
            <a:r>
              <a:rPr lang="en-US" sz="1200" b="0">
                <a:solidFill>
                  <a:srgbClr val="FFFFFF">
                    <a:alpha val="0"/>
                  </a:srgbClr>
                </a:solidFill>
              </a:rPr>
              <a:t> callee from </a:t>
            </a:r>
            <a:r>
              <a:rPr lang="en-US" sz="1200" b="0">
                <a:solidFill>
                  <a:srgbClr val="FFFFFF">
                    <a:alpha val="0"/>
                  </a:srgbClr>
                </a:solidFill>
                <a:latin typeface="Aptos Mono"/>
              </a:rPr>
              <a:t>get_callsites_for</a:t>
            </a:r>
            <a:r>
              <a:rPr lang="en-US" sz="1200" b="0">
                <a:solidFill>
                  <a:srgbClr val="FFFFFF">
                    <a:alpha val="0"/>
                  </a:srgbClr>
                </a:solidFill>
              </a:rPr>
              <a:t> as unresolved.</a:t>
            </a:r>
            <a:endParaRPr>
              <a:solidFill>
                <a:srgbClr val="FFFFFF">
                  <a:alpha val="0"/>
                </a:srgbClr>
              </a:solidFill>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4: the entry points and the report on how they were found</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cov</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get_entrypoint_coverage</a:t>
            </a:r>
            <a:r>
              <a:rPr lang="en-US" sz="800" b="0">
                <a:solidFill>
                  <a:srgbClr val="000000"/>
                </a:solidFill>
                <a:latin typeface="Aptos Mono"/>
              </a:rPr>
              <a:t>(); </a:t>
            </a:r>
            <a:r>
              <a:rPr lang="en-US" sz="800" b="0">
                <a:solidFill>
                  <a:srgbClr val="001080"/>
                </a:solidFill>
                <a:latin typeface="Aptos Mono"/>
              </a:rPr>
              <a:t>eps</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get_entrypoints</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eps</a:t>
            </a:r>
            <a:r>
              <a:rPr lang="en-US" sz="800" b="0">
                <a:solidFill>
                  <a:srgbClr val="000000"/>
                </a:solidFill>
                <a:latin typeface="Aptos Mono"/>
              </a:rPr>
              <a:t>), </a:t>
            </a:r>
            <a:r>
              <a:rPr lang="en-US" sz="800" b="0">
                <a:solidFill>
                  <a:srgbClr val="A31515"/>
                </a:solidFill>
                <a:latin typeface="Aptos Mono"/>
              </a:rPr>
              <a:t>"entry points;"</a:t>
            </a:r>
            <a:r>
              <a:rPr lang="en-US" sz="800" b="0">
                <a:solidFill>
                  <a:srgbClr val="000000"/>
                </a:solidFill>
                <a:latin typeface="Aptos Mono"/>
              </a:rPr>
              <a:t>, </a:t>
            </a:r>
            <a:r>
              <a:rPr lang="en-US" sz="800" b="0">
                <a:solidFill>
                  <a:srgbClr val="001080"/>
                </a:solidFill>
                <a:latin typeface="Aptos Mono"/>
              </a:rPr>
              <a:t>cov</a:t>
            </a:r>
            <a:r>
              <a:rPr lang="en-US" sz="800" b="0">
                <a:solidFill>
                  <a:srgbClr val="000000"/>
                </a:solidFill>
                <a:latin typeface="Aptos Mono"/>
              </a:rPr>
              <a:t>)</a:t>
            </a:r>
            <a:endParaRPr/>
          </a:p>
        </p:txBody>
      </p:sp>
      <p:sp>
        <p:nvSpPr>
          <p:cNvPr id="11" name="CodeWindow out"/>
          <p:cNvSpPr/>
          <p:nvPr/>
        </p:nvSpPr>
        <p:spPr bwMode="auto">
          <a:xfrm>
            <a:off x="320040" y="2917319"/>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82495"/>
            <a:ext cx="6016752" cy="0"/>
          </a:xfrm>
          <a:prstGeom prst="line">
            <a:avLst/>
          </a:prstGeom>
          <a:ln w="9525">
            <a:solidFill>
              <a:srgbClr val="DCDCDC"/>
            </a:solidFill>
          </a:ln>
        </p:spPr>
      </p:cxnSp>
      <p:sp>
        <p:nvSpPr>
          <p:cNvPr id="13"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7" name="TextBox 7 out"/>
          <p:cNvSpPr txBox="1"/>
          <p:nvPr/>
        </p:nvSpPr>
        <p:spPr bwMode="auto">
          <a:xfrm>
            <a:off x="466344" y="3246503"/>
            <a:ext cx="5724144" cy="268107"/>
          </a:xfrm>
          <a:prstGeom prst="rect">
            <a:avLst/>
          </a:prstGeom>
          <a:noFill/>
        </p:spPr>
        <p:txBody>
          <a:bodyPr wrap="none" lIns="0" tIns="0" rIns="0" bIns="0">
            <a:spAutoFit/>
          </a:bodyPr>
          <a:lstStyle/>
          <a:p>
            <a:r>
              <a:rPr lang="en-US" sz="800" b="0">
                <a:solidFill>
                  <a:srgbClr val="000000"/>
                </a:solidFill>
                <a:latin typeface="Aptos Mono"/>
              </a:rPr>
              <a:t>2463 entry points; frameworks_detected=['click', 'flask'] rulesets=['shipped']</a:t>
            </a:r>
            <a:endParaRPr/>
          </a:p>
          <a:p>
            <a:r>
              <a:rPr lang="en-US" sz="800" b="0">
                <a:solidFill>
                  <a:srgbClr val="000000"/>
                </a:solidFill>
                <a:latin typeface="Aptos Mono"/>
              </a:rPr>
              <a:t>  unresolved={'app.route': 2460} errors=[] diagnostics=[]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An empty answer is ambiguous until checked.</a:t>
            </a:r>
            <a:endParaRPr/>
          </a:p>
        </p:txBody>
      </p:sp>
      <p:sp>
        <p:nvSpPr>
          <p:cNvPr id="3" name="Content Placeholder 2"/>
          <p:cNvSpPr>
            <a:spLocks noGrp="1"/>
          </p:cNvSpPr>
          <p:nvPr>
            <p:ph idx="1"/>
          </p:nvPr>
        </p:nvSpPr>
        <p:spPr bwMode="auto">
          <a:xfrm>
            <a:off x="320040" y="658368"/>
            <a:ext cx="6016752" cy="13776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 this checkout</a:t>
            </a:r>
            <a:r>
              <a:rPr lang="en-US" sz="1200" b="0">
                <a:solidFill>
                  <a:srgbClr val="000000"/>
                </a:solidFill>
              </a:rPr>
              <a:t> </a:t>
            </a:r>
            <a:r>
              <a:rPr lang="en-US" sz="1200" b="0">
                <a:solidFill>
                  <a:srgbClr val="000000"/>
                </a:solidFill>
                <a:latin typeface="Aptos Mono"/>
              </a:rPr>
              <a:t>get_entrypoints</a:t>
            </a:r>
            <a:r>
              <a:rPr lang="en-US" sz="1200" b="0">
                <a:solidFill>
                  <a:srgbClr val="000000"/>
                </a:solidFill>
              </a:rPr>
              <a:t> finds 2,463 entry points, and the coverage marks 2,460 </a:t>
            </a:r>
            <a:r>
              <a:rPr lang="en-US" sz="1200" b="0">
                <a:solidFill>
                  <a:srgbClr val="000000"/>
                </a:solidFill>
                <a:latin typeface="Aptos Mono"/>
              </a:rPr>
              <a:t>app.route</a:t>
            </a:r>
            <a:r>
              <a:rPr lang="en-US" sz="1200" b="0">
                <a:solidFill>
                  <a:srgbClr val="000000"/>
                </a:solidFill>
              </a:rPr>
              <a:t> decorators unresolved.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Check </a:t>
            </a:r>
            <a:r>
              <a:rPr lang="en-US" sz="1200" b="0">
                <a:solidFill>
                  <a:srgbClr val="000000"/>
                </a:solidFill>
                <a:latin typeface="Aptos Mono"/>
              </a:rPr>
              <a:t>has_resolution_edges</a:t>
            </a:r>
            <a:r>
              <a:rPr lang="en-US" sz="1200" b="0">
                <a:solidFill>
                  <a:srgbClr val="000000"/>
                </a:solidFill>
              </a:rPr>
              <a:t> before reading a </a:t>
            </a:r>
            <a:r>
              <a:rPr lang="en-US" sz="1200" b="0">
                <a:solidFill>
                  <a:srgbClr val="000000"/>
                </a:solidFill>
                <a:latin typeface="Aptos Mono"/>
              </a:rPr>
              <a:t>None</a:t>
            </a:r>
            <a:r>
              <a:rPr lang="en-US" sz="1200" b="0">
                <a:solidFill>
                  <a:srgbClr val="000000"/>
                </a:solidFill>
              </a:rPr>
              <a:t> callee from </a:t>
            </a:r>
            <a:r>
              <a:rPr lang="en-US" sz="1200" b="0">
                <a:solidFill>
                  <a:srgbClr val="000000"/>
                </a:solidFill>
                <a:latin typeface="Aptos Mono"/>
              </a:rPr>
              <a:t>get_callsites_for</a:t>
            </a:r>
            <a:r>
              <a:rPr lang="en-US" sz="1200" b="0">
                <a:solidFill>
                  <a:srgbClr val="000000"/>
                </a:solidFill>
              </a:rPr>
              <a:t> as unresolved.</a:t>
            </a:r>
            <a:endParaRPr/>
          </a:p>
        </p:txBody>
      </p:sp>
      <p:sp>
        <p:nvSpPr>
          <p:cNvPr id="4" name="CodeWindow"/>
          <p:cNvSpPr/>
          <p:nvPr/>
        </p:nvSpPr>
        <p:spPr bwMode="auto">
          <a:xfrm>
            <a:off x="320040" y="2186028"/>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51204"/>
            <a:ext cx="6016752" cy="0"/>
          </a:xfrm>
          <a:prstGeom prst="line">
            <a:avLst/>
          </a:prstGeom>
          <a:ln w="9525">
            <a:solidFill>
              <a:srgbClr val="DCDCDC"/>
            </a:solidFill>
          </a:ln>
        </p:spPr>
      </p:cxnSp>
      <p:sp>
        <p:nvSpPr>
          <p:cNvPr id="6" name="WinDot 0"/>
          <p:cNvSpPr/>
          <p:nvPr/>
        </p:nvSpPr>
        <p:spPr bwMode="auto">
          <a:xfrm>
            <a:off x="411480" y="2268324"/>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8324"/>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8324"/>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7176"/>
            <a:ext cx="5349240" cy="182880"/>
          </a:xfrm>
          <a:prstGeom prst="rect">
            <a:avLst/>
          </a:prstGeom>
          <a:noFill/>
        </p:spPr>
        <p:txBody>
          <a:bodyPr wrap="square" lIns="0" tIns="0" rIns="0" bIns="0" anchor="ctr">
            <a:noAutofit/>
          </a:bodyPr>
          <a:lstStyle/>
          <a:p>
            <a:pPr algn="l">
              <a:defRPr/>
            </a:pPr>
            <a:r>
              <a:rPr sz="850" b="0">
                <a:solidFill>
                  <a:srgbClr val="5B6673"/>
                </a:solidFill>
              </a:rPr>
              <a:t>cldk-mcp.ipynb, section 4: the entry points and the report on how they were found</a:t>
            </a:r>
            <a:endParaRPr/>
          </a:p>
        </p:txBody>
      </p:sp>
      <p:sp>
        <p:nvSpPr>
          <p:cNvPr id="10" name="TextBox 7"/>
          <p:cNvSpPr txBox="1"/>
          <p:nvPr/>
        </p:nvSpPr>
        <p:spPr bwMode="auto">
          <a:xfrm>
            <a:off x="466344" y="2515212"/>
            <a:ext cx="5724144" cy="268107"/>
          </a:xfrm>
          <a:prstGeom prst="rect">
            <a:avLst/>
          </a:prstGeom>
          <a:noFill/>
        </p:spPr>
        <p:txBody>
          <a:bodyPr wrap="none" lIns="0" tIns="0" rIns="0" bIns="0">
            <a:spAutoFit/>
          </a:bodyPr>
          <a:lstStyle/>
          <a:p>
            <a:r>
              <a:rPr lang="en-US" sz="800" b="0">
                <a:solidFill>
                  <a:srgbClr val="001080"/>
                </a:solidFill>
                <a:latin typeface="Aptos Mono"/>
              </a:rPr>
              <a:t>cov</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get_entrypoint_coverage</a:t>
            </a:r>
            <a:r>
              <a:rPr lang="en-US" sz="800" b="0">
                <a:solidFill>
                  <a:srgbClr val="000000"/>
                </a:solidFill>
                <a:latin typeface="Aptos Mono"/>
              </a:rPr>
              <a:t>(); </a:t>
            </a:r>
            <a:r>
              <a:rPr lang="en-US" sz="800" b="0">
                <a:solidFill>
                  <a:srgbClr val="001080"/>
                </a:solidFill>
                <a:latin typeface="Aptos Mono"/>
              </a:rPr>
              <a:t>eps</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get_entrypoints</a:t>
            </a:r>
            <a:r>
              <a:rPr lang="en-US" sz="800" b="0">
                <a:solidFill>
                  <a:srgbClr val="000000"/>
                </a:solidFill>
                <a:latin typeface="Aptos Mono"/>
              </a:rPr>
              <a:t>()</a:t>
            </a:r>
            <a:endParaRPr/>
          </a:p>
          <a:p>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eps</a:t>
            </a:r>
            <a:r>
              <a:rPr lang="en-US" sz="800" b="0">
                <a:solidFill>
                  <a:srgbClr val="000000"/>
                </a:solidFill>
                <a:latin typeface="Aptos Mono"/>
              </a:rPr>
              <a:t>), </a:t>
            </a:r>
            <a:r>
              <a:rPr lang="en-US" sz="800" b="0">
                <a:solidFill>
                  <a:srgbClr val="A31515"/>
                </a:solidFill>
                <a:latin typeface="Aptos Mono"/>
              </a:rPr>
              <a:t>"entry points;"</a:t>
            </a:r>
            <a:r>
              <a:rPr lang="en-US" sz="800" b="0">
                <a:solidFill>
                  <a:srgbClr val="000000"/>
                </a:solidFill>
                <a:latin typeface="Aptos Mono"/>
              </a:rPr>
              <a:t>, </a:t>
            </a:r>
            <a:r>
              <a:rPr lang="en-US" sz="800" b="0">
                <a:solidFill>
                  <a:srgbClr val="001080"/>
                </a:solidFill>
                <a:latin typeface="Aptos Mono"/>
              </a:rPr>
              <a:t>cov</a:t>
            </a:r>
            <a:r>
              <a:rPr lang="en-US" sz="800" b="0">
                <a:solidFill>
                  <a:srgbClr val="000000"/>
                </a:solidFill>
                <a:latin typeface="Aptos Mono"/>
              </a:rPr>
              <a:t>)</a:t>
            </a:r>
            <a:endParaRPr/>
          </a:p>
        </p:txBody>
      </p:sp>
      <p:sp>
        <p:nvSpPr>
          <p:cNvPr id="11" name="CodeWindow out"/>
          <p:cNvSpPr/>
          <p:nvPr/>
        </p:nvSpPr>
        <p:spPr bwMode="auto">
          <a:xfrm>
            <a:off x="320040" y="2917319"/>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182495"/>
            <a:ext cx="6016752" cy="0"/>
          </a:xfrm>
          <a:prstGeom prst="line">
            <a:avLst/>
          </a:prstGeom>
          <a:ln w="9525">
            <a:solidFill>
              <a:srgbClr val="DCDCDC"/>
            </a:solidFill>
          </a:ln>
        </p:spPr>
      </p:cxnSp>
      <p:sp>
        <p:nvSpPr>
          <p:cNvPr id="13" name="WinDot 0 out"/>
          <p:cNvSpPr/>
          <p:nvPr/>
        </p:nvSpPr>
        <p:spPr bwMode="auto">
          <a:xfrm>
            <a:off x="411480" y="2999615"/>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2999615"/>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2999615"/>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2958467"/>
            <a:ext cx="5349240" cy="182880"/>
          </a:xfrm>
          <a:prstGeom prst="rect">
            <a:avLst/>
          </a:prstGeom>
          <a:noFill/>
        </p:spPr>
        <p:txBody>
          <a:bodyPr wrap="square" lIns="0" tIns="0" rIns="0" bIns="0" anchor="ctr">
            <a:noAutofit/>
          </a:bodyPr>
          <a:lstStyle/>
          <a:p>
            <a:pPr algn="l">
              <a:defRPr/>
            </a:pPr>
            <a:r>
              <a:rPr sz="850" b="0">
                <a:solidFill>
                  <a:srgbClr val="5B6673"/>
                </a:solidFill>
              </a:rPr>
              <a:t>output</a:t>
            </a:r>
            <a:endParaRPr/>
          </a:p>
        </p:txBody>
      </p:sp>
      <p:sp>
        <p:nvSpPr>
          <p:cNvPr id="17" name="TextBox 7 out"/>
          <p:cNvSpPr txBox="1"/>
          <p:nvPr/>
        </p:nvSpPr>
        <p:spPr bwMode="auto">
          <a:xfrm>
            <a:off x="466344" y="3246503"/>
            <a:ext cx="5724144" cy="268107"/>
          </a:xfrm>
          <a:prstGeom prst="rect">
            <a:avLst/>
          </a:prstGeom>
          <a:noFill/>
        </p:spPr>
        <p:txBody>
          <a:bodyPr wrap="none" lIns="0" tIns="0" rIns="0" bIns="0">
            <a:spAutoFit/>
          </a:bodyPr>
          <a:lstStyle/>
          <a:p>
            <a:r>
              <a:rPr lang="en-US" sz="800" b="0">
                <a:solidFill>
                  <a:srgbClr val="000000"/>
                </a:solidFill>
                <a:latin typeface="Aptos Mono"/>
              </a:rPr>
              <a:t>2463 entry points; frameworks_detected=['click', 'flask'] rulesets=['shipped']</a:t>
            </a:r>
            <a:endParaRPr/>
          </a:p>
          <a:p>
            <a:r>
              <a:rPr lang="en-US" sz="800" b="0">
                <a:solidFill>
                  <a:srgbClr val="000000"/>
                </a:solidFill>
                <a:latin typeface="Aptos Mono"/>
              </a:rPr>
              <a:t>  unresolved={'app.route': 2460} errors=[] diagnostics=[]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An MCP server over CLDK</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pic>
        <p:nvPicPr>
          <p:cNvPr id="14" name="Picture 13" descr="image.png"/>
          <p:cNvPicPr>
            <a:picLocks noChangeAspect="1"/>
          </p:cNvPicPr>
          <p:nvPr/>
        </p:nvPicPr>
        <p:blipFill rotWithShape="1">
          <a:blip r:embed="rId2">
            <a:alphaModFix amt="70000"/>
          </a:blip>
          <a:stretch/>
        </p:blipFill>
        <p:spPr bwMode="auto">
          <a:xfrm>
            <a:off x="822960" y="1872409"/>
            <a:ext cx="5733288" cy="1065206"/>
          </a:xfrm>
          <a:prstGeom prst="rect">
            <a:avLst/>
          </a:prstGeom>
        </p:spPr>
      </p:pic>
      <p:pic>
        <p:nvPicPr>
          <p:cNvPr id="15" name="Picture 13" descr="image.png"/>
          <p:cNvPicPr>
            <a:picLocks noChangeAspect="1"/>
          </p:cNvPicPr>
          <p:nvPr/>
        </p:nvPicPr>
        <p:blipFill rotWithShape="1">
          <a:blip r:embed="rId2">
            <a:alphaModFix amt="70000"/>
          </a:blip>
          <a:stretch/>
        </p:blipFill>
        <p:spPr bwMode="auto">
          <a:xfrm>
            <a:off x="822960" y="3298873"/>
            <a:ext cx="5733288" cy="10652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tool is a function with a contract.</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MCPServer</a:t>
            </a:r>
            <a:r>
              <a:rPr lang="en-US" sz="1200" b="1">
                <a:solidFill>
                  <a:srgbClr val="000000"/>
                </a:solidFill>
              </a:rPr>
              <a:t> and </a:t>
            </a:r>
            <a:r>
              <a:rPr lang="en-US" sz="1200" b="0">
                <a:solidFill>
                  <a:srgbClr val="000000"/>
                </a:solidFill>
                <a:latin typeface="Aptos Mono"/>
              </a:rPr>
              <a:t>@mcp.tool</a:t>
            </a:r>
            <a:r>
              <a:rPr lang="en-US" sz="1200" b="0">
                <a:solidFill>
                  <a:srgbClr val="000000"/>
                </a:solidFill>
              </a:rPr>
              <a:t> publish each tool's name, description and argument schema, and the result schema from </a:t>
            </a:r>
            <a:r>
              <a:rPr lang="en-US" sz="1200" b="0">
                <a:solidFill>
                  <a:srgbClr val="000000"/>
                </a:solidFill>
                <a:latin typeface="Aptos Mono"/>
              </a:rPr>
              <a:t>Located</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ToolError</a:t>
            </a:r>
            <a:r>
              <a:rPr lang="en-US" sz="1200" b="0">
                <a:solidFill>
                  <a:srgbClr val="000000"/>
                </a:solidFill>
              </a:rPr>
              <a:t> is a refusal that the client receives as an error result.</a:t>
            </a:r>
            <a:endParaRPr/>
          </a:p>
        </p:txBody>
      </p:sp>
      <p:sp>
        <p:nvSpPr>
          <p:cNvPr id="4" name="Rectangle 4"/>
          <p:cNvSpPr/>
          <p:nvPr/>
        </p:nvSpPr>
        <p:spPr bwMode="auto">
          <a:xfrm>
            <a:off x="320040" y="434462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server checks shapes, and the description enforces nothing.</a:t>
            </a:r>
            <a:endParaRPr/>
          </a:p>
        </p:txBody>
      </p:sp>
      <p:sp>
        <p:nvSpPr>
          <p:cNvPr id="5"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954380"/>
            <a:ext cx="6016752" cy="0"/>
          </a:xfrm>
          <a:prstGeom prst="line">
            <a:avLst/>
          </a:prstGeom>
          <a:ln w="9525">
            <a:solidFill>
              <a:srgbClr val="DCDCDC"/>
            </a:solidFill>
          </a:ln>
        </p:spPr>
      </p:cxnSp>
      <p:sp>
        <p:nvSpPr>
          <p:cNvPr id="7"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server, the path check and the locate tool</a:t>
            </a:r>
            <a:endParaRPr/>
          </a:p>
        </p:txBody>
      </p:sp>
      <p:sp>
        <p:nvSpPr>
          <p:cNvPr id="11"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001080"/>
                </a:solidFill>
                <a:latin typeface="Aptos Mono"/>
              </a:rPr>
              <a:t>mcp</a:t>
            </a:r>
            <a:r>
              <a:rPr lang="en-US" sz="800" b="0">
                <a:solidFill>
                  <a:srgbClr val="000000"/>
                </a:solidFill>
                <a:latin typeface="Aptos Mono"/>
              </a:rPr>
              <a:t> = </a:t>
            </a:r>
            <a:r>
              <a:rPr lang="en-US" sz="800" b="0">
                <a:solidFill>
                  <a:srgbClr val="267F99"/>
                </a:solidFill>
                <a:latin typeface="Aptos Mono"/>
              </a:rPr>
              <a:t>MCPServer</a:t>
            </a:r>
            <a:r>
              <a:rPr lang="en-US" sz="800" b="0">
                <a:solidFill>
                  <a:srgbClr val="000000"/>
                </a:solidFill>
                <a:latin typeface="Aptos Mono"/>
              </a:rPr>
              <a:t>(</a:t>
            </a:r>
            <a:r>
              <a:rPr lang="en-US" sz="800" b="0">
                <a:solidFill>
                  <a:srgbClr val="A31515"/>
                </a:solidFill>
                <a:latin typeface="Aptos Mono"/>
              </a:rPr>
              <a:t>"cldk"</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-&gt; </a:t>
            </a:r>
            <a:r>
              <a:rPr lang="en-US" sz="800" b="0">
                <a:solidFill>
                  <a:srgbClr val="267F99"/>
                </a:solidFill>
                <a:latin typeface="Aptos Mono"/>
              </a:rPr>
              <a:t>str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TARGET</a:t>
            </a:r>
            <a:r>
              <a:rPr lang="en-US" sz="800" b="0">
                <a:solidFill>
                  <a:srgbClr val="000000"/>
                </a:solidFill>
                <a:latin typeface="Aptos Mono"/>
              </a:rPr>
              <a:t> / </a:t>
            </a:r>
            <a:r>
              <a:rPr lang="en-US" sz="800" b="0">
                <a:solidFill>
                  <a:srgbClr val="001080"/>
                </a:solidFill>
                <a:latin typeface="Aptos Mono"/>
              </a:rPr>
              <a:t>path</a:t>
            </a:r>
            <a:r>
              <a:rPr lang="en-US" sz="800" b="0">
                <a:solidFill>
                  <a:srgbClr val="000000"/>
                </a:solidFill>
                <a:latin typeface="Aptos Mono"/>
              </a:rPr>
              <a:t>).</a:t>
            </a:r>
            <a:r>
              <a:rPr lang="en-US" sz="800" b="0">
                <a:solidFill>
                  <a:srgbClr val="795E26"/>
                </a:solidFill>
                <a:latin typeface="Aptos Mono"/>
              </a:rPr>
              <a:t>resolve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 </a:t>
            </a:r>
            <a:r>
              <a:rPr lang="en-US" sz="800" b="0">
                <a:solidFill>
                  <a:srgbClr val="0000FF"/>
                </a:solidFill>
                <a:latin typeface="Aptos Mono"/>
              </a:rPr>
              <a:t>or</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is_file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{path} is not a file of the target"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a:t>
            </a:r>
            <a:r>
              <a:rPr lang="en-US" sz="800" b="0">
                <a:solidFill>
                  <a:srgbClr val="795E26"/>
                </a:solidFill>
                <a:latin typeface="Aptos Mono"/>
              </a:rPr>
              <a:t>as_posix</a:t>
            </a:r>
            <a:r>
              <a:rPr lang="en-US" sz="800" b="0">
                <a:solidFill>
                  <a:srgbClr val="000000"/>
                </a:solidFill>
                <a:latin typeface="Aptos Mono"/>
              </a:rPr>
              <a:t>()</a:t>
            </a:r>
            <a:endParaRPr/>
          </a:p>
          <a:p>
            <a:r>
              <a:rPr lang="en-US" sz="800" b="0">
                <a:solidFill>
                  <a:srgbClr val="0000FF"/>
                </a:solidFill>
                <a:latin typeface="Aptos Mono"/>
              </a:rPr>
              <a:t>class</a:t>
            </a:r>
            <a:r>
              <a:rPr lang="en-US" sz="800" b="0">
                <a:solidFill>
                  <a:srgbClr val="000000"/>
                </a:solidFill>
                <a:latin typeface="Aptos Mono"/>
              </a:rPr>
              <a:t> </a:t>
            </a:r>
            <a:r>
              <a:rPr lang="en-US" sz="800" b="0">
                <a:solidFill>
                  <a:srgbClr val="267F99"/>
                </a:solidFill>
                <a:latin typeface="Aptos Mono"/>
              </a:rPr>
              <a:t>Located</a:t>
            </a:r>
            <a:r>
              <a:rPr lang="en-US" sz="800" b="0">
                <a:solidFill>
                  <a:srgbClr val="000000"/>
                </a:solidFill>
                <a:latin typeface="Aptos Mono"/>
              </a:rPr>
              <a:t>(</a:t>
            </a:r>
            <a:r>
              <a:rPr lang="en-US" sz="800" b="0">
                <a:solidFill>
                  <a:srgbClr val="267F99"/>
                </a:solidFill>
                <a:latin typeface="Aptos Mono"/>
              </a:rPr>
              <a:t>TypedDict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signature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name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module</a:t>
            </a:r>
            <a:r>
              <a:rPr lang="en-US" sz="800" b="0">
                <a:solidFill>
                  <a:srgbClr val="000000"/>
                </a:solidFill>
                <a:latin typeface="Aptos Mono"/>
              </a:rPr>
              <a:t>: </a:t>
            </a:r>
            <a:r>
              <a:rPr lang="en-US" sz="800" b="0">
                <a:solidFill>
                  <a:srgbClr val="267F99"/>
                </a:solidFill>
                <a:latin typeface="Aptos Mono"/>
              </a:rPr>
              <a:t>str</a:t>
            </a:r>
            <a:endParaRPr/>
          </a:p>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"The callable that holds a line, or module scope."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Located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A31515"/>
                </a:solidFill>
                <a:latin typeface="Aptos Mono"/>
              </a:rPr>
              <a:t>"signature"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"name"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"module"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module</a:t>
            </a:r>
            <a:r>
              <a:rPr lang="en-US" sz="800" b="0">
                <a:solidFill>
                  <a:srgbClr val="000000"/>
                </a:solidFill>
                <a:latin typeface="Aptos Mono"/>
              </a:rPr>
              <a:t>.</a:t>
            </a:r>
            <a:r>
              <a:rPr lang="en-US" sz="800" b="0">
                <a:solidFill>
                  <a:srgbClr val="001080"/>
                </a:solidFill>
                <a:latin typeface="Aptos Mono"/>
              </a:rPr>
              <a:t>module_name</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tool is a function with a contract.</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MCPServer</a:t>
            </a:r>
            <a:r>
              <a:rPr lang="en-US" sz="1200" b="1">
                <a:solidFill>
                  <a:srgbClr val="000000"/>
                </a:solidFill>
              </a:rPr>
              <a:t> and </a:t>
            </a:r>
            <a:r>
              <a:rPr lang="en-US" sz="1200" b="0">
                <a:solidFill>
                  <a:srgbClr val="000000"/>
                </a:solidFill>
                <a:latin typeface="Aptos Mono"/>
              </a:rPr>
              <a:t>@mcp.tool</a:t>
            </a:r>
            <a:r>
              <a:rPr lang="en-US" sz="1200" b="0">
                <a:solidFill>
                  <a:srgbClr val="000000"/>
                </a:solidFill>
              </a:rPr>
              <a:t> publish each tool's name, description and argument schema, and the result schema from </a:t>
            </a:r>
            <a:r>
              <a:rPr lang="en-US" sz="1200" b="0">
                <a:solidFill>
                  <a:srgbClr val="000000"/>
                </a:solidFill>
                <a:latin typeface="Aptos Mono"/>
              </a:rPr>
              <a:t>Located</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ToolError</a:t>
            </a:r>
            <a:r>
              <a:rPr lang="en-US" sz="1200" b="0">
                <a:solidFill>
                  <a:srgbClr val="FFFFFF">
                    <a:alpha val="0"/>
                  </a:srgbClr>
                </a:solidFill>
              </a:rPr>
              <a:t> is a refusal that the client receives as an error result.</a:t>
            </a:r>
            <a:endParaRPr>
              <a:solidFill>
                <a:srgbClr val="FFFFFF">
                  <a:alpha val="0"/>
                </a:srgbClr>
              </a:solidFill>
            </a:endParaRPr>
          </a:p>
        </p:txBody>
      </p:sp>
      <p:sp>
        <p:nvSpPr>
          <p:cNvPr id="4"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server, the path check and the locate tool</a:t>
            </a:r>
            <a:endParaRPr/>
          </a:p>
        </p:txBody>
      </p:sp>
      <p:sp>
        <p:nvSpPr>
          <p:cNvPr id="10"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001080"/>
                </a:solidFill>
                <a:latin typeface="Aptos Mono"/>
              </a:rPr>
              <a:t>mcp</a:t>
            </a:r>
            <a:r>
              <a:rPr lang="en-US" sz="800" b="0">
                <a:solidFill>
                  <a:srgbClr val="000000"/>
                </a:solidFill>
                <a:latin typeface="Aptos Mono"/>
              </a:rPr>
              <a:t> = </a:t>
            </a:r>
            <a:r>
              <a:rPr lang="en-US" sz="800" b="0">
                <a:solidFill>
                  <a:srgbClr val="267F99"/>
                </a:solidFill>
                <a:latin typeface="Aptos Mono"/>
              </a:rPr>
              <a:t>MCPServer</a:t>
            </a:r>
            <a:r>
              <a:rPr lang="en-US" sz="800" b="0">
                <a:solidFill>
                  <a:srgbClr val="000000"/>
                </a:solidFill>
                <a:latin typeface="Aptos Mono"/>
              </a:rPr>
              <a:t>(</a:t>
            </a:r>
            <a:r>
              <a:rPr lang="en-US" sz="800" b="0">
                <a:solidFill>
                  <a:srgbClr val="A31515"/>
                </a:solidFill>
                <a:latin typeface="Aptos Mono"/>
              </a:rPr>
              <a:t>"cldk"</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-&gt; </a:t>
            </a:r>
            <a:r>
              <a:rPr lang="en-US" sz="800" b="0">
                <a:solidFill>
                  <a:srgbClr val="267F99"/>
                </a:solidFill>
                <a:latin typeface="Aptos Mono"/>
              </a:rPr>
              <a:t>str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TARGET</a:t>
            </a:r>
            <a:r>
              <a:rPr lang="en-US" sz="800" b="0">
                <a:solidFill>
                  <a:srgbClr val="000000"/>
                </a:solidFill>
                <a:latin typeface="Aptos Mono"/>
              </a:rPr>
              <a:t> / </a:t>
            </a:r>
            <a:r>
              <a:rPr lang="en-US" sz="800" b="0">
                <a:solidFill>
                  <a:srgbClr val="001080"/>
                </a:solidFill>
                <a:latin typeface="Aptos Mono"/>
              </a:rPr>
              <a:t>path</a:t>
            </a:r>
            <a:r>
              <a:rPr lang="en-US" sz="800" b="0">
                <a:solidFill>
                  <a:srgbClr val="000000"/>
                </a:solidFill>
                <a:latin typeface="Aptos Mono"/>
              </a:rPr>
              <a:t>).</a:t>
            </a:r>
            <a:r>
              <a:rPr lang="en-US" sz="800" b="0">
                <a:solidFill>
                  <a:srgbClr val="795E26"/>
                </a:solidFill>
                <a:latin typeface="Aptos Mono"/>
              </a:rPr>
              <a:t>resolve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 </a:t>
            </a:r>
            <a:r>
              <a:rPr lang="en-US" sz="800" b="0">
                <a:solidFill>
                  <a:srgbClr val="0000FF"/>
                </a:solidFill>
                <a:latin typeface="Aptos Mono"/>
              </a:rPr>
              <a:t>or</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is_file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{path} is not a file of the target"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a:t>
            </a:r>
            <a:r>
              <a:rPr lang="en-US" sz="800" b="0">
                <a:solidFill>
                  <a:srgbClr val="795E26"/>
                </a:solidFill>
                <a:latin typeface="Aptos Mono"/>
              </a:rPr>
              <a:t>as_posix</a:t>
            </a:r>
            <a:r>
              <a:rPr lang="en-US" sz="800" b="0">
                <a:solidFill>
                  <a:srgbClr val="000000"/>
                </a:solidFill>
                <a:latin typeface="Aptos Mono"/>
              </a:rPr>
              <a:t>()</a:t>
            </a:r>
            <a:endParaRPr/>
          </a:p>
          <a:p>
            <a:r>
              <a:rPr lang="en-US" sz="800" b="0">
                <a:solidFill>
                  <a:srgbClr val="0000FF"/>
                </a:solidFill>
                <a:latin typeface="Aptos Mono"/>
              </a:rPr>
              <a:t>class</a:t>
            </a:r>
            <a:r>
              <a:rPr lang="en-US" sz="800" b="0">
                <a:solidFill>
                  <a:srgbClr val="000000"/>
                </a:solidFill>
                <a:latin typeface="Aptos Mono"/>
              </a:rPr>
              <a:t> </a:t>
            </a:r>
            <a:r>
              <a:rPr lang="en-US" sz="800" b="0">
                <a:solidFill>
                  <a:srgbClr val="267F99"/>
                </a:solidFill>
                <a:latin typeface="Aptos Mono"/>
              </a:rPr>
              <a:t>Located</a:t>
            </a:r>
            <a:r>
              <a:rPr lang="en-US" sz="800" b="0">
                <a:solidFill>
                  <a:srgbClr val="000000"/>
                </a:solidFill>
                <a:latin typeface="Aptos Mono"/>
              </a:rPr>
              <a:t>(</a:t>
            </a:r>
            <a:r>
              <a:rPr lang="en-US" sz="800" b="0">
                <a:solidFill>
                  <a:srgbClr val="267F99"/>
                </a:solidFill>
                <a:latin typeface="Aptos Mono"/>
              </a:rPr>
              <a:t>TypedDict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signature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name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module</a:t>
            </a:r>
            <a:r>
              <a:rPr lang="en-US" sz="800" b="0">
                <a:solidFill>
                  <a:srgbClr val="000000"/>
                </a:solidFill>
                <a:latin typeface="Aptos Mono"/>
              </a:rPr>
              <a:t>: </a:t>
            </a:r>
            <a:r>
              <a:rPr lang="en-US" sz="800" b="0">
                <a:solidFill>
                  <a:srgbClr val="267F99"/>
                </a:solidFill>
                <a:latin typeface="Aptos Mono"/>
              </a:rPr>
              <a:t>str</a:t>
            </a:r>
            <a:endParaRPr/>
          </a:p>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"The callable that holds a line, or module scope."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Located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A31515"/>
                </a:solidFill>
                <a:latin typeface="Aptos Mono"/>
              </a:rPr>
              <a:t>"signature"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"name"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"module"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module</a:t>
            </a:r>
            <a:r>
              <a:rPr lang="en-US" sz="800" b="0">
                <a:solidFill>
                  <a:srgbClr val="000000"/>
                </a:solidFill>
                <a:latin typeface="Aptos Mono"/>
              </a:rPr>
              <a:t>.</a:t>
            </a:r>
            <a:r>
              <a:rPr lang="en-US" sz="800" b="0">
                <a:solidFill>
                  <a:srgbClr val="001080"/>
                </a:solidFill>
                <a:latin typeface="Aptos Mono"/>
              </a:rPr>
              <a:t>module_name</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A tool is a function with a contract.</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MCPServer</a:t>
            </a:r>
            <a:r>
              <a:rPr lang="en-US" sz="1200" b="1">
                <a:solidFill>
                  <a:srgbClr val="000000"/>
                </a:solidFill>
              </a:rPr>
              <a:t> and </a:t>
            </a:r>
            <a:r>
              <a:rPr lang="en-US" sz="1200" b="0">
                <a:solidFill>
                  <a:srgbClr val="000000"/>
                </a:solidFill>
                <a:latin typeface="Aptos Mono"/>
              </a:rPr>
              <a:t>@mcp.tool</a:t>
            </a:r>
            <a:r>
              <a:rPr lang="en-US" sz="1200" b="0">
                <a:solidFill>
                  <a:srgbClr val="000000"/>
                </a:solidFill>
              </a:rPr>
              <a:t> publish each tool's name, description and argument schema, and the result schema from </a:t>
            </a:r>
            <a:r>
              <a:rPr lang="en-US" sz="1200" b="0">
                <a:solidFill>
                  <a:srgbClr val="000000"/>
                </a:solidFill>
                <a:latin typeface="Aptos Mono"/>
              </a:rPr>
              <a:t>Located</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ToolError</a:t>
            </a:r>
            <a:r>
              <a:rPr lang="en-US" sz="1200" b="0">
                <a:solidFill>
                  <a:srgbClr val="000000"/>
                </a:solidFill>
              </a:rPr>
              <a:t> is a refusal that the client receives as an error result.</a:t>
            </a:r>
            <a:endParaRPr/>
          </a:p>
        </p:txBody>
      </p:sp>
      <p:sp>
        <p:nvSpPr>
          <p:cNvPr id="4"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server, the path check and the locate tool</a:t>
            </a:r>
            <a:endParaRPr/>
          </a:p>
        </p:txBody>
      </p:sp>
      <p:sp>
        <p:nvSpPr>
          <p:cNvPr id="10"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001080"/>
                </a:solidFill>
                <a:latin typeface="Aptos Mono"/>
              </a:rPr>
              <a:t>mcp</a:t>
            </a:r>
            <a:r>
              <a:rPr lang="en-US" sz="800" b="0">
                <a:solidFill>
                  <a:srgbClr val="000000"/>
                </a:solidFill>
                <a:latin typeface="Aptos Mono"/>
              </a:rPr>
              <a:t> = </a:t>
            </a:r>
            <a:r>
              <a:rPr lang="en-US" sz="800" b="0">
                <a:solidFill>
                  <a:srgbClr val="267F99"/>
                </a:solidFill>
                <a:latin typeface="Aptos Mono"/>
              </a:rPr>
              <a:t>MCPServer</a:t>
            </a:r>
            <a:r>
              <a:rPr lang="en-US" sz="800" b="0">
                <a:solidFill>
                  <a:srgbClr val="000000"/>
                </a:solidFill>
                <a:latin typeface="Aptos Mono"/>
              </a:rPr>
              <a:t>(</a:t>
            </a:r>
            <a:r>
              <a:rPr lang="en-US" sz="800" b="0">
                <a:solidFill>
                  <a:srgbClr val="A31515"/>
                </a:solidFill>
                <a:latin typeface="Aptos Mono"/>
              </a:rPr>
              <a:t>"cldk"</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-&gt; </a:t>
            </a:r>
            <a:r>
              <a:rPr lang="en-US" sz="800" b="0">
                <a:solidFill>
                  <a:srgbClr val="267F99"/>
                </a:solidFill>
                <a:latin typeface="Aptos Mono"/>
              </a:rPr>
              <a:t>str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 = (</a:t>
            </a:r>
            <a:r>
              <a:rPr lang="en-US" sz="800" b="0">
                <a:solidFill>
                  <a:srgbClr val="001080"/>
                </a:solidFill>
                <a:latin typeface="Aptos Mono"/>
              </a:rPr>
              <a:t>TARGET</a:t>
            </a:r>
            <a:r>
              <a:rPr lang="en-US" sz="800" b="0">
                <a:solidFill>
                  <a:srgbClr val="000000"/>
                </a:solidFill>
                <a:latin typeface="Aptos Mono"/>
              </a:rPr>
              <a:t> / </a:t>
            </a:r>
            <a:r>
              <a:rPr lang="en-US" sz="800" b="0">
                <a:solidFill>
                  <a:srgbClr val="001080"/>
                </a:solidFill>
                <a:latin typeface="Aptos Mono"/>
              </a:rPr>
              <a:t>path</a:t>
            </a:r>
            <a:r>
              <a:rPr lang="en-US" sz="800" b="0">
                <a:solidFill>
                  <a:srgbClr val="000000"/>
                </a:solidFill>
                <a:latin typeface="Aptos Mono"/>
              </a:rPr>
              <a:t>).</a:t>
            </a:r>
            <a:r>
              <a:rPr lang="en-US" sz="800" b="0">
                <a:solidFill>
                  <a:srgbClr val="795E26"/>
                </a:solidFill>
                <a:latin typeface="Aptos Mono"/>
              </a:rPr>
              <a:t>resolve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 </a:t>
            </a:r>
            <a:r>
              <a:rPr lang="en-US" sz="800" b="0">
                <a:solidFill>
                  <a:srgbClr val="0000FF"/>
                </a:solidFill>
                <a:latin typeface="Aptos Mono"/>
              </a:rPr>
              <a:t>or</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is_file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{path} is not a file of the target"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p</a:t>
            </a:r>
            <a:r>
              <a:rPr lang="en-US" sz="800" b="0">
                <a:solidFill>
                  <a:srgbClr val="000000"/>
                </a:solidFill>
                <a:latin typeface="Aptos Mono"/>
              </a:rPr>
              <a:t>.</a:t>
            </a:r>
            <a:r>
              <a:rPr lang="en-US" sz="800" b="0">
                <a:solidFill>
                  <a:srgbClr val="795E26"/>
                </a:solidFill>
                <a:latin typeface="Aptos Mono"/>
              </a:rPr>
              <a:t>relative_to</a:t>
            </a:r>
            <a:r>
              <a:rPr lang="en-US" sz="800" b="0">
                <a:solidFill>
                  <a:srgbClr val="000000"/>
                </a:solidFill>
                <a:latin typeface="Aptos Mono"/>
              </a:rPr>
              <a:t>(</a:t>
            </a:r>
            <a:r>
              <a:rPr lang="en-US" sz="800" b="0">
                <a:solidFill>
                  <a:srgbClr val="001080"/>
                </a:solidFill>
                <a:latin typeface="Aptos Mono"/>
              </a:rPr>
              <a:t>TARGET</a:t>
            </a:r>
            <a:r>
              <a:rPr lang="en-US" sz="800" b="0">
                <a:solidFill>
                  <a:srgbClr val="000000"/>
                </a:solidFill>
                <a:latin typeface="Aptos Mono"/>
              </a:rPr>
              <a:t>).</a:t>
            </a:r>
            <a:r>
              <a:rPr lang="en-US" sz="800" b="0">
                <a:solidFill>
                  <a:srgbClr val="795E26"/>
                </a:solidFill>
                <a:latin typeface="Aptos Mono"/>
              </a:rPr>
              <a:t>as_posix</a:t>
            </a:r>
            <a:r>
              <a:rPr lang="en-US" sz="800" b="0">
                <a:solidFill>
                  <a:srgbClr val="000000"/>
                </a:solidFill>
                <a:latin typeface="Aptos Mono"/>
              </a:rPr>
              <a:t>()</a:t>
            </a:r>
            <a:endParaRPr/>
          </a:p>
          <a:p>
            <a:r>
              <a:rPr lang="en-US" sz="800" b="0">
                <a:solidFill>
                  <a:srgbClr val="0000FF"/>
                </a:solidFill>
                <a:latin typeface="Aptos Mono"/>
              </a:rPr>
              <a:t>class</a:t>
            </a:r>
            <a:r>
              <a:rPr lang="en-US" sz="800" b="0">
                <a:solidFill>
                  <a:srgbClr val="000000"/>
                </a:solidFill>
                <a:latin typeface="Aptos Mono"/>
              </a:rPr>
              <a:t> </a:t>
            </a:r>
            <a:r>
              <a:rPr lang="en-US" sz="800" b="0">
                <a:solidFill>
                  <a:srgbClr val="267F99"/>
                </a:solidFill>
                <a:latin typeface="Aptos Mono"/>
              </a:rPr>
              <a:t>Located</a:t>
            </a:r>
            <a:r>
              <a:rPr lang="en-US" sz="800" b="0">
                <a:solidFill>
                  <a:srgbClr val="000000"/>
                </a:solidFill>
                <a:latin typeface="Aptos Mono"/>
              </a:rPr>
              <a:t>(</a:t>
            </a:r>
            <a:r>
              <a:rPr lang="en-US" sz="800" b="0">
                <a:solidFill>
                  <a:srgbClr val="267F99"/>
                </a:solidFill>
                <a:latin typeface="Aptos Mono"/>
              </a:rPr>
              <a:t>TypedDict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signature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name</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 </a:t>
            </a:r>
            <a:r>
              <a:rPr lang="en-US" sz="800" b="0">
                <a:solidFill>
                  <a:srgbClr val="0000FF"/>
                </a:solidFill>
                <a:latin typeface="Aptos Mono"/>
              </a:rPr>
              <a:t>None</a:t>
            </a:r>
            <a:endParaRPr/>
          </a:p>
          <a:p>
            <a:r>
              <a:rPr lang="en-US" sz="800" b="0">
                <a:solidFill>
                  <a:srgbClr val="000000"/>
                </a:solidFill>
                <a:latin typeface="Aptos Mono"/>
              </a:rPr>
              <a:t>    </a:t>
            </a:r>
            <a:r>
              <a:rPr lang="en-US" sz="800" b="0">
                <a:solidFill>
                  <a:srgbClr val="001080"/>
                </a:solidFill>
                <a:latin typeface="Aptos Mono"/>
              </a:rPr>
              <a:t>module</a:t>
            </a:r>
            <a:r>
              <a:rPr lang="en-US" sz="800" b="0">
                <a:solidFill>
                  <a:srgbClr val="000000"/>
                </a:solidFill>
                <a:latin typeface="Aptos Mono"/>
              </a:rPr>
              <a:t>: </a:t>
            </a:r>
            <a:r>
              <a:rPr lang="en-US" sz="800" b="0">
                <a:solidFill>
                  <a:srgbClr val="267F99"/>
                </a:solidFill>
                <a:latin typeface="Aptos Mono"/>
              </a:rPr>
              <a:t>str</a:t>
            </a:r>
            <a:endParaRPr/>
          </a:p>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"The callable that holds a line, or module scope."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Located</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A31515"/>
                </a:solidFill>
                <a:latin typeface="Aptos Mono"/>
              </a:rPr>
              <a:t>"signature"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"name"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 </a:t>
            </a:r>
            <a:r>
              <a:rPr lang="en-US" sz="800" b="0">
                <a:solidFill>
                  <a:srgbClr val="AF00DB"/>
                </a:solidFill>
                <a:latin typeface="Aptos Mono"/>
              </a:rPr>
              <a:t>else</a:t>
            </a:r>
            <a:r>
              <a:rPr lang="en-US" sz="800" b="0">
                <a:solidFill>
                  <a:srgbClr val="000000"/>
                </a:solidFill>
                <a:latin typeface="Aptos Mono"/>
              </a:rPr>
              <a:t> </a:t>
            </a:r>
            <a:r>
              <a:rPr lang="en-US" sz="800" b="0">
                <a:solidFill>
                  <a:srgbClr val="0000FF"/>
                </a:solidFill>
                <a:latin typeface="Aptos Mono"/>
              </a:rPr>
              <a:t>None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"module"</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module</a:t>
            </a:r>
            <a:r>
              <a:rPr lang="en-US" sz="800" b="0">
                <a:solidFill>
                  <a:srgbClr val="000000"/>
                </a:solidFill>
                <a:latin typeface="Aptos Mono"/>
              </a:rPr>
              <a:t>.</a:t>
            </a:r>
            <a:r>
              <a:rPr lang="en-US" sz="800" b="0">
                <a:solidFill>
                  <a:srgbClr val="001080"/>
                </a:solidFill>
                <a:latin typeface="Aptos Mono"/>
              </a:rPr>
              <a:t>module_name</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dataflow tool returns edges by line.</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dependence edge</a:t>
            </a:r>
            <a:r>
              <a:rPr lang="en-US" sz="1200" b="0">
                <a:solidFill>
                  <a:srgbClr val="000000"/>
                </a:solidFill>
              </a:rPr>
              <a:t> becomes </a:t>
            </a:r>
            <a:r>
              <a:rPr lang="en-US" sz="1200" b="0">
                <a:solidFill>
                  <a:srgbClr val="000000"/>
                </a:solidFill>
                <a:latin typeface="Aptos Mono"/>
              </a:rPr>
              <a:t>from_line</a:t>
            </a:r>
            <a:r>
              <a:rPr lang="en-US" sz="1200" b="0">
                <a:solidFill>
                  <a:srgbClr val="000000"/>
                </a:solidFill>
              </a:rPr>
              <a:t>, </a:t>
            </a:r>
            <a:r>
              <a:rPr lang="en-US" sz="1200" b="0">
                <a:solidFill>
                  <a:srgbClr val="000000"/>
                </a:solidFill>
                <a:latin typeface="Aptos Mono"/>
              </a:rPr>
              <a:t>to_line</a:t>
            </a:r>
            <a:r>
              <a:rPr lang="en-US" sz="1200" b="0">
                <a:solidFill>
                  <a:srgbClr val="000000"/>
                </a:solidFill>
              </a:rPr>
              <a:t> and </a:t>
            </a:r>
            <a:r>
              <a:rPr lang="en-US" sz="1200" b="0">
                <a:solidFill>
                  <a:srgbClr val="000000"/>
                </a:solidFill>
                <a:latin typeface="Aptos Mono"/>
              </a:rPr>
              <a:t>var</a:t>
            </a:r>
            <a:r>
              <a:rPr lang="en-US" sz="1200" b="0">
                <a:solidFill>
                  <a:srgbClr val="000000"/>
                </a:solidFill>
              </a:rPr>
              <a:t>, the fields of </a:t>
            </a:r>
            <a:r>
              <a:rPr lang="en-US" sz="1200" b="0">
                <a:solidFill>
                  <a:srgbClr val="000000"/>
                </a:solidFill>
                <a:latin typeface="Aptos Mono"/>
              </a:rPr>
              <a:t>Edge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line in no callable</a:t>
            </a:r>
            <a:r>
              <a:rPr lang="en-US" sz="1200" b="0">
                <a:solidFill>
                  <a:srgbClr val="000000"/>
                </a:solidFill>
              </a:rPr>
              <a:t> is a refusal.</a:t>
            </a:r>
            <a:endParaRPr/>
          </a:p>
        </p:txBody>
      </p:sp>
      <p:sp>
        <p:nvSpPr>
          <p:cNvPr id="4" name="Rectangle 4"/>
          <p:cNvSpPr/>
          <p:nvPr/>
        </p:nvSpPr>
        <p:spPr bwMode="auto">
          <a:xfrm>
            <a:off x="320040" y="434462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Every tool reads the same analysis object, and every answer traces to a line.</a:t>
            </a:r>
            <a:endParaRPr/>
          </a:p>
        </p:txBody>
      </p:sp>
      <p:sp>
        <p:nvSpPr>
          <p:cNvPr id="5"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954380"/>
            <a:ext cx="6016752" cy="0"/>
          </a:xfrm>
          <a:prstGeom prst="line">
            <a:avLst/>
          </a:prstGeom>
          <a:ln w="9525">
            <a:solidFill>
              <a:srgbClr val="DCDCDC"/>
            </a:solidFill>
          </a:ln>
        </p:spPr>
      </p:cxnSp>
      <p:sp>
        <p:nvSpPr>
          <p:cNvPr id="7"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dataflow tool</a:t>
            </a:r>
            <a:endParaRPr/>
          </a:p>
        </p:txBody>
      </p:sp>
      <p:sp>
        <p:nvSpPr>
          <p:cNvPr id="11"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"Data-dependence edges of the callable that holds a line: "</a:t>
            </a:r>
            <a:endParaRPr/>
          </a:p>
          <a:p>
            <a:r>
              <a:rPr lang="en-US" sz="800" b="0">
                <a:solidFill>
                  <a:srgbClr val="000000"/>
                </a:solidFill>
                <a:latin typeface="Aptos Mono"/>
              </a:rPr>
              <a:t>                      </a:t>
            </a:r>
            <a:r>
              <a:rPr lang="en-US" sz="800" b="0">
                <a:solidFill>
                  <a:srgbClr val="A31515"/>
                </a:solidFill>
                <a:latin typeface="Aptos Mono"/>
              </a:rPr>
              <a:t>"from-line, to-line, variable."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dataflow</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list</a:t>
            </a:r>
            <a:r>
              <a:rPr lang="en-US" sz="800" b="0">
                <a:solidFill>
                  <a:srgbClr val="000000"/>
                </a:solidFill>
                <a:latin typeface="Aptos Mono"/>
              </a:rPr>
              <a:t>[</a:t>
            </a:r>
            <a:r>
              <a:rPr lang="en-US" sz="800" b="0">
                <a:solidFill>
                  <a:srgbClr val="267F99"/>
                </a:solidFill>
                <a:latin typeface="Aptos Mono"/>
              </a:rPr>
              <a:t>Edge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line {line} of {path} is in no 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8000"/>
                </a:solidFill>
                <a:latin typeface="Aptos Mono"/>
              </a:rPr>
              <a:t># full signature: a bare name like init matches 1,230 callables</a:t>
            </a:r>
            <a:endParaRPr/>
          </a:p>
          <a:p>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2000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 = []</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a:t>
            </a:r>
            <a:r>
              <a:rPr lang="en-US" sz="800" b="0">
                <a:solidFill>
                  <a:srgbClr val="795E26"/>
                </a:solidFill>
                <a:latin typeface="Aptos Mono"/>
              </a:rPr>
              <a:t>append</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"to_line"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A31515"/>
                </a:solidFill>
                <a:latin typeface="Aptos Mono"/>
              </a:rPr>
              <a:t>"var"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ValueError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continue</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dataflow tool returns edges by line.</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dependence edge</a:t>
            </a:r>
            <a:r>
              <a:rPr lang="en-US" sz="1200" b="0">
                <a:solidFill>
                  <a:srgbClr val="000000"/>
                </a:solidFill>
              </a:rPr>
              <a:t> becomes </a:t>
            </a:r>
            <a:r>
              <a:rPr lang="en-US" sz="1200" b="0">
                <a:solidFill>
                  <a:srgbClr val="000000"/>
                </a:solidFill>
                <a:latin typeface="Aptos Mono"/>
              </a:rPr>
              <a:t>from_line</a:t>
            </a:r>
            <a:r>
              <a:rPr lang="en-US" sz="1200" b="0">
                <a:solidFill>
                  <a:srgbClr val="000000"/>
                </a:solidFill>
              </a:rPr>
              <a:t>, </a:t>
            </a:r>
            <a:r>
              <a:rPr lang="en-US" sz="1200" b="0">
                <a:solidFill>
                  <a:srgbClr val="000000"/>
                </a:solidFill>
                <a:latin typeface="Aptos Mono"/>
              </a:rPr>
              <a:t>to_line</a:t>
            </a:r>
            <a:r>
              <a:rPr lang="en-US" sz="1200" b="0">
                <a:solidFill>
                  <a:srgbClr val="000000"/>
                </a:solidFill>
              </a:rPr>
              <a:t> and </a:t>
            </a:r>
            <a:r>
              <a:rPr lang="en-US" sz="1200" b="0">
                <a:solidFill>
                  <a:srgbClr val="000000"/>
                </a:solidFill>
                <a:latin typeface="Aptos Mono"/>
              </a:rPr>
              <a:t>var</a:t>
            </a:r>
            <a:r>
              <a:rPr lang="en-US" sz="1200" b="0">
                <a:solidFill>
                  <a:srgbClr val="000000"/>
                </a:solidFill>
              </a:rPr>
              <a:t>, the fields of </a:t>
            </a:r>
            <a:r>
              <a:rPr lang="en-US" sz="1200" b="0">
                <a:solidFill>
                  <a:srgbClr val="000000"/>
                </a:solidFill>
                <a:latin typeface="Aptos Mono"/>
              </a:rPr>
              <a:t>Edge</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line in no callable</a:t>
            </a:r>
            <a:r>
              <a:rPr lang="en-US" sz="1200" b="0">
                <a:solidFill>
                  <a:srgbClr val="FFFFFF">
                    <a:alpha val="0"/>
                  </a:srgbClr>
                </a:solidFill>
              </a:rPr>
              <a:t> is a refusal.</a:t>
            </a:r>
            <a:endParaRPr>
              <a:solidFill>
                <a:srgbClr val="FFFFFF">
                  <a:alpha val="0"/>
                </a:srgbClr>
              </a:solidFill>
            </a:endParaRPr>
          </a:p>
        </p:txBody>
      </p:sp>
      <p:sp>
        <p:nvSpPr>
          <p:cNvPr id="4"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dataflow tool</a:t>
            </a:r>
            <a:endParaRPr/>
          </a:p>
        </p:txBody>
      </p:sp>
      <p:sp>
        <p:nvSpPr>
          <p:cNvPr id="10"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"Data-dependence edges of the callable that holds a line: "</a:t>
            </a:r>
            <a:endParaRPr/>
          </a:p>
          <a:p>
            <a:r>
              <a:rPr lang="en-US" sz="800" b="0">
                <a:solidFill>
                  <a:srgbClr val="000000"/>
                </a:solidFill>
                <a:latin typeface="Aptos Mono"/>
              </a:rPr>
              <a:t>                      </a:t>
            </a:r>
            <a:r>
              <a:rPr lang="en-US" sz="800" b="0">
                <a:solidFill>
                  <a:srgbClr val="A31515"/>
                </a:solidFill>
                <a:latin typeface="Aptos Mono"/>
              </a:rPr>
              <a:t>"from-line, to-line, variable."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dataflow</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list</a:t>
            </a:r>
            <a:r>
              <a:rPr lang="en-US" sz="800" b="0">
                <a:solidFill>
                  <a:srgbClr val="000000"/>
                </a:solidFill>
                <a:latin typeface="Aptos Mono"/>
              </a:rPr>
              <a:t>[</a:t>
            </a:r>
            <a:r>
              <a:rPr lang="en-US" sz="800" b="0">
                <a:solidFill>
                  <a:srgbClr val="267F99"/>
                </a:solidFill>
                <a:latin typeface="Aptos Mono"/>
              </a:rPr>
              <a:t>Edge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line {line} of {path} is in no 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8000"/>
                </a:solidFill>
                <a:latin typeface="Aptos Mono"/>
              </a:rPr>
              <a:t># full signature: a bare name like init matches 1,230 callables</a:t>
            </a:r>
            <a:endParaRPr/>
          </a:p>
          <a:p>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2000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 = []</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a:t>
            </a:r>
            <a:r>
              <a:rPr lang="en-US" sz="800" b="0">
                <a:solidFill>
                  <a:srgbClr val="795E26"/>
                </a:solidFill>
                <a:latin typeface="Aptos Mono"/>
              </a:rPr>
              <a:t>append</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"to_line"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A31515"/>
                </a:solidFill>
                <a:latin typeface="Aptos Mono"/>
              </a:rPr>
              <a:t>"var"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ValueError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continue</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dataflow tool returns edges by line.</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dependence edge</a:t>
            </a:r>
            <a:r>
              <a:rPr lang="en-US" sz="1200" b="0">
                <a:solidFill>
                  <a:srgbClr val="000000"/>
                </a:solidFill>
              </a:rPr>
              <a:t> becomes </a:t>
            </a:r>
            <a:r>
              <a:rPr lang="en-US" sz="1200" b="0">
                <a:solidFill>
                  <a:srgbClr val="000000"/>
                </a:solidFill>
                <a:latin typeface="Aptos Mono"/>
              </a:rPr>
              <a:t>from_line</a:t>
            </a:r>
            <a:r>
              <a:rPr lang="en-US" sz="1200" b="0">
                <a:solidFill>
                  <a:srgbClr val="000000"/>
                </a:solidFill>
              </a:rPr>
              <a:t>, </a:t>
            </a:r>
            <a:r>
              <a:rPr lang="en-US" sz="1200" b="0">
                <a:solidFill>
                  <a:srgbClr val="000000"/>
                </a:solidFill>
                <a:latin typeface="Aptos Mono"/>
              </a:rPr>
              <a:t>to_line</a:t>
            </a:r>
            <a:r>
              <a:rPr lang="en-US" sz="1200" b="0">
                <a:solidFill>
                  <a:srgbClr val="000000"/>
                </a:solidFill>
              </a:rPr>
              <a:t> and </a:t>
            </a:r>
            <a:r>
              <a:rPr lang="en-US" sz="1200" b="0">
                <a:solidFill>
                  <a:srgbClr val="000000"/>
                </a:solidFill>
                <a:latin typeface="Aptos Mono"/>
              </a:rPr>
              <a:t>var</a:t>
            </a:r>
            <a:r>
              <a:rPr lang="en-US" sz="1200" b="0">
                <a:solidFill>
                  <a:srgbClr val="000000"/>
                </a:solidFill>
              </a:rPr>
              <a:t>, the fields of </a:t>
            </a:r>
            <a:r>
              <a:rPr lang="en-US" sz="1200" b="0">
                <a:solidFill>
                  <a:srgbClr val="000000"/>
                </a:solidFill>
                <a:latin typeface="Aptos Mono"/>
              </a:rPr>
              <a:t>Edge</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line in no callable</a:t>
            </a:r>
            <a:r>
              <a:rPr lang="en-US" sz="1200" b="0">
                <a:solidFill>
                  <a:srgbClr val="000000"/>
                </a:solidFill>
              </a:rPr>
              <a:t> is a refusal.</a:t>
            </a:r>
            <a:endParaRPr/>
          </a:p>
        </p:txBody>
      </p:sp>
      <p:sp>
        <p:nvSpPr>
          <p:cNvPr id="4" name="CodeWindow"/>
          <p:cNvSpPr/>
          <p:nvPr/>
        </p:nvSpPr>
        <p:spPr bwMode="auto">
          <a:xfrm>
            <a:off x="320040" y="1689204"/>
            <a:ext cx="6016752" cy="240404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dataflow tool</a:t>
            </a:r>
            <a:endParaRPr/>
          </a:p>
        </p:txBody>
      </p:sp>
      <p:sp>
        <p:nvSpPr>
          <p:cNvPr id="10" name="TextBox 7"/>
          <p:cNvSpPr txBox="1"/>
          <p:nvPr/>
        </p:nvSpPr>
        <p:spPr bwMode="auto">
          <a:xfrm>
            <a:off x="466344" y="2018388"/>
            <a:ext cx="5724144" cy="2004857"/>
          </a:xfrm>
          <a:prstGeom prst="rect">
            <a:avLst/>
          </a:prstGeom>
          <a:noFill/>
        </p:spPr>
        <p:txBody>
          <a:bodyPr wrap="none" lIns="0" tIns="0" rIns="0" bIns="0">
            <a:spAutoFit/>
          </a:bodyPr>
          <a:lstStyle/>
          <a:p>
            <a:r>
              <a:rPr lang="en-US" sz="800" b="0">
                <a:solidFill>
                  <a:srgbClr val="795E26"/>
                </a:solidFill>
                <a:latin typeface="Aptos Mono"/>
              </a:rPr>
              <a:t>@mcp.tool</a:t>
            </a:r>
            <a:r>
              <a:rPr lang="en-US" sz="800" b="0">
                <a:solidFill>
                  <a:srgbClr val="000000"/>
                </a:solidFill>
                <a:latin typeface="Aptos Mono"/>
              </a:rPr>
              <a:t>(</a:t>
            </a:r>
            <a:r>
              <a:rPr lang="en-US" sz="800" b="0">
                <a:solidFill>
                  <a:srgbClr val="001080"/>
                </a:solidFill>
                <a:latin typeface="Aptos Mono"/>
              </a:rPr>
              <a:t>description</a:t>
            </a:r>
            <a:r>
              <a:rPr lang="en-US" sz="800" b="0">
                <a:solidFill>
                  <a:srgbClr val="000000"/>
                </a:solidFill>
                <a:latin typeface="Aptos Mono"/>
              </a:rPr>
              <a:t>=</a:t>
            </a:r>
            <a:r>
              <a:rPr lang="en-US" sz="800" b="0">
                <a:solidFill>
                  <a:srgbClr val="A31515"/>
                </a:solidFill>
                <a:latin typeface="Aptos Mono"/>
              </a:rPr>
              <a:t>"Data-dependence edges of the callable that holds a line: "</a:t>
            </a:r>
            <a:endParaRPr/>
          </a:p>
          <a:p>
            <a:r>
              <a:rPr lang="en-US" sz="800" b="0">
                <a:solidFill>
                  <a:srgbClr val="000000"/>
                </a:solidFill>
                <a:latin typeface="Aptos Mono"/>
              </a:rPr>
              <a:t>                      </a:t>
            </a:r>
            <a:r>
              <a:rPr lang="en-US" sz="800" b="0">
                <a:solidFill>
                  <a:srgbClr val="A31515"/>
                </a:solidFill>
                <a:latin typeface="Aptos Mono"/>
              </a:rPr>
              <a:t>"from-line, to-line, variable."</a:t>
            </a:r>
            <a:r>
              <a:rPr lang="en-US" sz="800" b="0">
                <a:solidFill>
                  <a:srgbClr val="000000"/>
                </a:solidFill>
                <a:latin typeface="Aptos Mono"/>
              </a:rPr>
              <a:t>)</a:t>
            </a:r>
            <a:endParaRPr/>
          </a:p>
          <a:p>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dataflow</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str</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 -&gt; </a:t>
            </a:r>
            <a:r>
              <a:rPr lang="en-US" sz="800" b="0">
                <a:solidFill>
                  <a:srgbClr val="267F99"/>
                </a:solidFill>
                <a:latin typeface="Aptos Mono"/>
              </a:rPr>
              <a:t>list</a:t>
            </a:r>
            <a:r>
              <a:rPr lang="en-US" sz="800" b="0">
                <a:solidFill>
                  <a:srgbClr val="000000"/>
                </a:solidFill>
                <a:latin typeface="Aptos Mono"/>
              </a:rPr>
              <a:t>[</a:t>
            </a:r>
            <a:r>
              <a:rPr lang="en-US" sz="800" b="0">
                <a:solidFill>
                  <a:srgbClr val="267F99"/>
                </a:solidFill>
                <a:latin typeface="Aptos Mono"/>
              </a:rPr>
              <a:t>Edge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795E26"/>
                </a:solidFill>
                <a:latin typeface="Aptos Mono"/>
              </a:rPr>
              <a:t>checked</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line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00FF"/>
                </a:solidFill>
                <a:latin typeface="Aptos Mono"/>
              </a:rPr>
              <a:t>not</a:t>
            </a:r>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raise</a:t>
            </a:r>
            <a:r>
              <a:rPr lang="en-US" sz="800" b="0">
                <a:solidFill>
                  <a:srgbClr val="000000"/>
                </a:solidFill>
                <a:latin typeface="Aptos Mono"/>
              </a:rPr>
              <a:t> </a:t>
            </a:r>
            <a:r>
              <a:rPr lang="en-US" sz="800" b="0">
                <a:solidFill>
                  <a:srgbClr val="267F99"/>
                </a:solidFill>
                <a:latin typeface="Aptos Mono"/>
              </a:rPr>
              <a:t>ToolError</a:t>
            </a:r>
            <a:r>
              <a:rPr lang="en-US" sz="800" b="0">
                <a:solidFill>
                  <a:srgbClr val="000000"/>
                </a:solidFill>
                <a:latin typeface="Aptos Mono"/>
              </a:rPr>
              <a:t>(</a:t>
            </a:r>
            <a:r>
              <a:rPr lang="en-US" sz="800" b="0">
                <a:solidFill>
                  <a:srgbClr val="A31515"/>
                </a:solidFill>
                <a:latin typeface="Aptos Mono"/>
              </a:rPr>
              <a:t>f"refused: line {line} of {path} is in no callable"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8000"/>
                </a:solidFill>
                <a:latin typeface="Aptos Mono"/>
              </a:rPr>
              <a:t># full signature: a bare name like init matches 1,230 callables</a:t>
            </a:r>
            <a:endParaRPr/>
          </a:p>
          <a:p>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2000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 = []</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page</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try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out</a:t>
            </a:r>
            <a:r>
              <a:rPr lang="en-US" sz="800" b="0">
                <a:solidFill>
                  <a:srgbClr val="000000"/>
                </a:solidFill>
                <a:latin typeface="Aptos Mono"/>
              </a:rPr>
              <a:t>.</a:t>
            </a:r>
            <a:r>
              <a:rPr lang="en-US" sz="800" b="0">
                <a:solidFill>
                  <a:srgbClr val="795E26"/>
                </a:solidFill>
                <a:latin typeface="Aptos Mono"/>
              </a:rPr>
              <a:t>append</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"to_line"</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 </a:t>
            </a:r>
            <a:r>
              <a:rPr lang="en-US" sz="800" b="0">
                <a:solidFill>
                  <a:srgbClr val="A31515"/>
                </a:solidFill>
                <a:latin typeface="Aptos Mono"/>
              </a:rPr>
              <a:t>"var"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var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except</a:t>
            </a:r>
            <a:r>
              <a:rPr lang="en-US" sz="800" b="0">
                <a:solidFill>
                  <a:srgbClr val="000000"/>
                </a:solidFill>
                <a:latin typeface="Aptos Mono"/>
              </a:rPr>
              <a:t> </a:t>
            </a:r>
            <a:r>
              <a:rPr lang="en-US" sz="800" b="0">
                <a:solidFill>
                  <a:srgbClr val="267F99"/>
                </a:solidFill>
                <a:latin typeface="Aptos Mono"/>
              </a:rPr>
              <a:t>ValueError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continue</a:t>
            </a:r>
            <a:endParaRPr/>
          </a:p>
          <a:p>
            <a:r>
              <a:rPr lang="en-US" sz="800" b="0">
                <a:solidFill>
                  <a:srgbClr val="000000"/>
                </a:solidFill>
                <a:latin typeface="Aptos Mono"/>
              </a:rPr>
              <a:t>    </a:t>
            </a:r>
            <a:r>
              <a:rPr lang="en-US" sz="800" b="0">
                <a:solidFill>
                  <a:srgbClr val="AF00DB"/>
                </a:solidFill>
                <a:latin typeface="Aptos Mono"/>
              </a:rPr>
              <a:t>return</a:t>
            </a:r>
            <a:r>
              <a:rPr lang="en-US" sz="800" b="0">
                <a:solidFill>
                  <a:srgbClr val="000000"/>
                </a:solidFill>
                <a:latin typeface="Aptos Mono"/>
              </a:rPr>
              <a:t> </a:t>
            </a:r>
            <a:r>
              <a:rPr lang="en-US" sz="8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runs the server from a catalog.</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catalog</a:t>
            </a:r>
            <a:r>
              <a:rPr lang="en-US" sz="1200" b="0">
                <a:solidFill>
                  <a:srgbClr val="000000"/>
                </a:solidFill>
              </a:rPr>
              <a:t> names the interpreter and the server script.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tools/list</a:t>
            </a:r>
            <a:r>
              <a:rPr lang="en-US" sz="1200" b="0">
                <a:solidFill>
                  <a:srgbClr val="000000"/>
                </a:solidFill>
              </a:rPr>
              <a:t> shows each tool's contract, and a path outside the checkout comes back as an error result.</a:t>
            </a:r>
            <a:endParaRPr/>
          </a:p>
        </p:txBody>
      </p:sp>
      <p:sp>
        <p:nvSpPr>
          <p:cNvPr id="4" name="Rectangle 4"/>
          <p:cNvSpPr/>
          <p:nvPr/>
        </p:nvSpPr>
        <p:spPr bwMode="auto">
          <a:xfrm>
            <a:off x="320040" y="4331595"/>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What the Inspector shows is what your agent's host sees.</a:t>
            </a:r>
            <a:endParaRPr/>
          </a:p>
        </p:txBody>
      </p:sp>
      <p:sp>
        <p:nvSpPr>
          <p:cNvPr id="5" name="CodeWindow"/>
          <p:cNvSpPr/>
          <p:nvPr/>
        </p:nvSpPr>
        <p:spPr bwMode="auto">
          <a:xfrm>
            <a:off x="320040" y="1689204"/>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954380"/>
            <a:ext cx="6016752" cy="0"/>
          </a:xfrm>
          <a:prstGeom prst="line">
            <a:avLst/>
          </a:prstGeom>
          <a:ln w="9525">
            <a:solidFill>
              <a:srgbClr val="DCDCDC"/>
            </a:solidFill>
          </a:ln>
        </p:spPr>
      </p:cxnSp>
      <p:sp>
        <p:nvSpPr>
          <p:cNvPr id="7"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cldk-demo/catalog.json, written by section 6 of the notebook, paths relative to the lecture folder</a:t>
            </a:r>
            <a:endParaRPr/>
          </a:p>
        </p:txBody>
      </p:sp>
      <p:sp>
        <p:nvSpPr>
          <p:cNvPr id="11" name="TextBox 7"/>
          <p:cNvSpPr txBox="1"/>
          <p:nvPr/>
        </p:nvSpPr>
        <p:spPr bwMode="auto">
          <a:xfrm>
            <a:off x="466344" y="2018388"/>
            <a:ext cx="5724144" cy="1384589"/>
          </a:xfrm>
          <a:prstGeom prst="rect">
            <a:avLst/>
          </a:prstGeom>
          <a:noFill/>
        </p:spPr>
        <p:txBody>
          <a:bodyPr wrap="none" lIns="0" tIns="0" rIns="0" bIns="0">
            <a:spAutoFit/>
          </a:bodyPr>
          <a:lstStyle/>
          <a:p>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"mcpServers"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"cldk"</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"type"</a:t>
            </a:r>
            <a:r>
              <a:rPr lang="en-US" sz="800" b="0">
                <a:solidFill>
                  <a:srgbClr val="000000"/>
                </a:solidFill>
                <a:latin typeface="Aptos Mono"/>
              </a:rPr>
              <a:t>: </a:t>
            </a:r>
            <a:r>
              <a:rPr lang="en-US" sz="800" b="0">
                <a:solidFill>
                  <a:srgbClr val="A31515"/>
                </a:solidFill>
                <a:latin typeface="Aptos Mono"/>
              </a:rPr>
              <a:t>"stdio"</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"command"</a:t>
            </a:r>
            <a:r>
              <a:rPr lang="en-US" sz="800" b="0">
                <a:solidFill>
                  <a:srgbClr val="000000"/>
                </a:solidFill>
                <a:latin typeface="Aptos Mono"/>
              </a:rPr>
              <a:t>: </a:t>
            </a:r>
            <a:r>
              <a:rPr lang="en-US" sz="800" b="0">
                <a:solidFill>
                  <a:srgbClr val="A31515"/>
                </a:solidFill>
                <a:latin typeface="Aptos Mono"/>
              </a:rPr>
              <a:t>".venv/bin/python"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"args"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A31515"/>
                </a:solidFill>
                <a:latin typeface="Aptos Mono"/>
              </a:rPr>
              <a:t>"cldk-demo/server.py"</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a:t>
            </a:r>
            <a:endParaRPr/>
          </a:p>
        </p:txBody>
      </p:sp>
      <p:sp>
        <p:nvSpPr>
          <p:cNvPr id="12" name="CodeWindow out"/>
          <p:cNvSpPr/>
          <p:nvPr/>
        </p:nvSpPr>
        <p:spPr bwMode="auto">
          <a:xfrm>
            <a:off x="320040" y="3536977"/>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802153"/>
            <a:ext cx="6016752" cy="0"/>
          </a:xfrm>
          <a:prstGeom prst="line">
            <a:avLst/>
          </a:prstGeom>
          <a:ln w="9525">
            <a:solidFill>
              <a:srgbClr val="DCDCDC"/>
            </a:solidFill>
          </a:ln>
        </p:spPr>
      </p:cxnSp>
      <p:sp>
        <p:nvSpPr>
          <p:cNvPr id="14" name="WinDot 0 out"/>
          <p:cNvSpPr/>
          <p:nvPr/>
        </p:nvSpPr>
        <p:spPr bwMode="auto">
          <a:xfrm>
            <a:off x="411480" y="3619273"/>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3619273"/>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3619273"/>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3578125"/>
            <a:ext cx="5349240" cy="182880"/>
          </a:xfrm>
          <a:prstGeom prst="rect">
            <a:avLst/>
          </a:prstGeom>
          <a:noFill/>
        </p:spPr>
        <p:txBody>
          <a:bodyPr wrap="square" lIns="0" tIns="0" rIns="0" bIns="0" anchor="ctr">
            <a:noAutofit/>
          </a:bodyPr>
          <a:lstStyle/>
          <a:p>
            <a:pPr algn="l">
              <a:defRPr/>
            </a:pPr>
            <a:r>
              <a:rPr sz="850" b="0">
                <a:solidFill>
                  <a:srgbClr val="5B6673"/>
                </a:solidFill>
              </a:rPr>
              <a:t>terminal: start the Inspector</a:t>
            </a:r>
            <a:endParaRPr/>
          </a:p>
        </p:txBody>
      </p:sp>
      <p:sp>
        <p:nvSpPr>
          <p:cNvPr id="18" name="TextBox 7 out"/>
          <p:cNvSpPr txBox="1"/>
          <p:nvPr/>
        </p:nvSpPr>
        <p:spPr bwMode="auto">
          <a:xfrm>
            <a:off x="466344" y="3866161"/>
            <a:ext cx="5724144" cy="144053"/>
          </a:xfrm>
          <a:prstGeom prst="rect">
            <a:avLst/>
          </a:prstGeom>
          <a:noFill/>
        </p:spPr>
        <p:txBody>
          <a:bodyPr wrap="none" lIns="0" tIns="0" rIns="0" bIns="0">
            <a:spAutoFit/>
          </a:bodyPr>
          <a:lstStyle/>
          <a:p>
            <a:r>
              <a:rPr lang="en-US" sz="800" b="0">
                <a:solidFill>
                  <a:srgbClr val="000000"/>
                </a:solidFill>
                <a:latin typeface="Aptos Mono"/>
              </a:rPr>
              <a:t>npx @modelcontextprotocol/inspector --web --catalog cldk-demo/catalog.json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runs the server from a catalog.</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catalog</a:t>
            </a:r>
            <a:r>
              <a:rPr lang="en-US" sz="1200" b="0">
                <a:solidFill>
                  <a:srgbClr val="000000"/>
                </a:solidFill>
              </a:rPr>
              <a:t> names the interpreter and the server script.</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tools/list</a:t>
            </a:r>
            <a:r>
              <a:rPr lang="en-US" sz="1200" b="0">
                <a:solidFill>
                  <a:srgbClr val="FFFFFF">
                    <a:alpha val="0"/>
                  </a:srgbClr>
                </a:solidFill>
              </a:rPr>
              <a:t> shows each tool's contract, and a path outside the checkout comes back as an error result.</a:t>
            </a:r>
            <a:endParaRPr>
              <a:solidFill>
                <a:srgbClr val="FFFFFF">
                  <a:alpha val="0"/>
                </a:srgbClr>
              </a:solidFill>
            </a:endParaRPr>
          </a:p>
        </p:txBody>
      </p:sp>
      <p:sp>
        <p:nvSpPr>
          <p:cNvPr id="4" name="CodeWindow"/>
          <p:cNvSpPr/>
          <p:nvPr/>
        </p:nvSpPr>
        <p:spPr bwMode="auto">
          <a:xfrm>
            <a:off x="320040" y="1689204"/>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cldk-demo/catalog.json, written by section 6 of the notebook, paths relative to the lecture folder</a:t>
            </a:r>
            <a:endParaRPr/>
          </a:p>
        </p:txBody>
      </p:sp>
      <p:sp>
        <p:nvSpPr>
          <p:cNvPr id="10" name="TextBox 7"/>
          <p:cNvSpPr txBox="1"/>
          <p:nvPr/>
        </p:nvSpPr>
        <p:spPr bwMode="auto">
          <a:xfrm>
            <a:off x="466344" y="2018388"/>
            <a:ext cx="5724144" cy="1384589"/>
          </a:xfrm>
          <a:prstGeom prst="rect">
            <a:avLst/>
          </a:prstGeom>
          <a:noFill/>
        </p:spPr>
        <p:txBody>
          <a:bodyPr wrap="none" lIns="0" tIns="0" rIns="0" bIns="0">
            <a:spAutoFit/>
          </a:bodyPr>
          <a:lstStyle/>
          <a:p>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"mcpServers"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"cldk"</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"type"</a:t>
            </a:r>
            <a:r>
              <a:rPr lang="en-US" sz="800" b="0">
                <a:solidFill>
                  <a:srgbClr val="000000"/>
                </a:solidFill>
                <a:latin typeface="Aptos Mono"/>
              </a:rPr>
              <a:t>: </a:t>
            </a:r>
            <a:r>
              <a:rPr lang="en-US" sz="800" b="0">
                <a:solidFill>
                  <a:srgbClr val="A31515"/>
                </a:solidFill>
                <a:latin typeface="Aptos Mono"/>
              </a:rPr>
              <a:t>"stdio"</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"command"</a:t>
            </a:r>
            <a:r>
              <a:rPr lang="en-US" sz="800" b="0">
                <a:solidFill>
                  <a:srgbClr val="000000"/>
                </a:solidFill>
                <a:latin typeface="Aptos Mono"/>
              </a:rPr>
              <a:t>: </a:t>
            </a:r>
            <a:r>
              <a:rPr lang="en-US" sz="800" b="0">
                <a:solidFill>
                  <a:srgbClr val="A31515"/>
                </a:solidFill>
                <a:latin typeface="Aptos Mono"/>
              </a:rPr>
              <a:t>".venv/bin/python"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"args"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A31515"/>
                </a:solidFill>
                <a:latin typeface="Aptos Mono"/>
              </a:rPr>
              <a:t>"cldk-demo/server.py"</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a:t>
            </a:r>
            <a:endParaRPr/>
          </a:p>
        </p:txBody>
      </p:sp>
      <p:sp>
        <p:nvSpPr>
          <p:cNvPr id="11" name="CodeWindow out"/>
          <p:cNvSpPr/>
          <p:nvPr/>
        </p:nvSpPr>
        <p:spPr bwMode="auto">
          <a:xfrm>
            <a:off x="320040" y="3536977"/>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802153"/>
            <a:ext cx="6016752" cy="0"/>
          </a:xfrm>
          <a:prstGeom prst="line">
            <a:avLst/>
          </a:prstGeom>
          <a:ln w="9525">
            <a:solidFill>
              <a:srgbClr val="DCDCDC"/>
            </a:solidFill>
          </a:ln>
        </p:spPr>
      </p:cxnSp>
      <p:sp>
        <p:nvSpPr>
          <p:cNvPr id="13" name="WinDot 0 out"/>
          <p:cNvSpPr/>
          <p:nvPr/>
        </p:nvSpPr>
        <p:spPr bwMode="auto">
          <a:xfrm>
            <a:off x="411480" y="3619273"/>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619273"/>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619273"/>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578125"/>
            <a:ext cx="5349240" cy="182880"/>
          </a:xfrm>
          <a:prstGeom prst="rect">
            <a:avLst/>
          </a:prstGeom>
          <a:noFill/>
        </p:spPr>
        <p:txBody>
          <a:bodyPr wrap="square" lIns="0" tIns="0" rIns="0" bIns="0" anchor="ctr">
            <a:noAutofit/>
          </a:bodyPr>
          <a:lstStyle/>
          <a:p>
            <a:pPr algn="l">
              <a:defRPr/>
            </a:pPr>
            <a:r>
              <a:rPr sz="850" b="0">
                <a:solidFill>
                  <a:srgbClr val="5B6673"/>
                </a:solidFill>
              </a:rPr>
              <a:t>terminal: start the Inspector</a:t>
            </a:r>
            <a:endParaRPr/>
          </a:p>
        </p:txBody>
      </p:sp>
      <p:sp>
        <p:nvSpPr>
          <p:cNvPr id="17" name="TextBox 7 out"/>
          <p:cNvSpPr txBox="1"/>
          <p:nvPr/>
        </p:nvSpPr>
        <p:spPr bwMode="auto">
          <a:xfrm>
            <a:off x="466344" y="3866161"/>
            <a:ext cx="5724144" cy="144053"/>
          </a:xfrm>
          <a:prstGeom prst="rect">
            <a:avLst/>
          </a:prstGeom>
          <a:noFill/>
        </p:spPr>
        <p:txBody>
          <a:bodyPr wrap="none" lIns="0" tIns="0" rIns="0" bIns="0">
            <a:spAutoFit/>
          </a:bodyPr>
          <a:lstStyle/>
          <a:p>
            <a:r>
              <a:rPr lang="en-US" sz="800" b="0">
                <a:solidFill>
                  <a:srgbClr val="000000"/>
                </a:solidFill>
                <a:latin typeface="Aptos Mono"/>
              </a:rPr>
              <a:t>npx @modelcontextprotocol/inspector --web --catalog cldk-demo/catalog.json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Inspector runs the server from a catalog.</a:t>
            </a:r>
            <a:endParaRPr/>
          </a:p>
        </p:txBody>
      </p:sp>
      <p:sp>
        <p:nvSpPr>
          <p:cNvPr id="3" name="Content Placeholder 2"/>
          <p:cNvSpPr>
            <a:spLocks noGrp="1"/>
          </p:cNvSpPr>
          <p:nvPr>
            <p:ph idx="1"/>
          </p:nvPr>
        </p:nvSpPr>
        <p:spPr bwMode="auto">
          <a:xfrm>
            <a:off x="320040" y="658368"/>
            <a:ext cx="6016752" cy="8808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catalog</a:t>
            </a:r>
            <a:r>
              <a:rPr lang="en-US" sz="1200" b="0">
                <a:solidFill>
                  <a:srgbClr val="000000"/>
                </a:solidFill>
              </a:rPr>
              <a:t> names the interpreter and the server script.</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tools/list</a:t>
            </a:r>
            <a:r>
              <a:rPr lang="en-US" sz="1200" b="0">
                <a:solidFill>
                  <a:srgbClr val="000000"/>
                </a:solidFill>
              </a:rPr>
              <a:t> shows each tool's contract, and a path outside the checkout comes back as an error result.</a:t>
            </a:r>
            <a:endParaRPr/>
          </a:p>
        </p:txBody>
      </p:sp>
      <p:sp>
        <p:nvSpPr>
          <p:cNvPr id="4" name="CodeWindow"/>
          <p:cNvSpPr/>
          <p:nvPr/>
        </p:nvSpPr>
        <p:spPr bwMode="auto">
          <a:xfrm>
            <a:off x="320040" y="1689204"/>
            <a:ext cx="6016752" cy="1783773"/>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954380"/>
            <a:ext cx="6016752" cy="0"/>
          </a:xfrm>
          <a:prstGeom prst="line">
            <a:avLst/>
          </a:prstGeom>
          <a:ln w="9525">
            <a:solidFill>
              <a:srgbClr val="DCDCDC"/>
            </a:solidFill>
          </a:ln>
        </p:spPr>
      </p:cxnSp>
      <p:sp>
        <p:nvSpPr>
          <p:cNvPr id="6" name="WinDot 0"/>
          <p:cNvSpPr/>
          <p:nvPr/>
        </p:nvSpPr>
        <p:spPr bwMode="auto">
          <a:xfrm>
            <a:off x="411480" y="17715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7715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7715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30352"/>
            <a:ext cx="5349240" cy="182880"/>
          </a:xfrm>
          <a:prstGeom prst="rect">
            <a:avLst/>
          </a:prstGeom>
          <a:noFill/>
        </p:spPr>
        <p:txBody>
          <a:bodyPr wrap="square" lIns="0" tIns="0" rIns="0" bIns="0" anchor="ctr">
            <a:noAutofit/>
          </a:bodyPr>
          <a:lstStyle/>
          <a:p>
            <a:pPr algn="l">
              <a:defRPr/>
            </a:pPr>
            <a:r>
              <a:rPr sz="850" b="0">
                <a:solidFill>
                  <a:srgbClr val="5B6673"/>
                </a:solidFill>
              </a:rPr>
              <a:t>cldk-demo/catalog.json, written by section 6 of the notebook, paths relative to the lecture folder</a:t>
            </a:r>
            <a:endParaRPr/>
          </a:p>
        </p:txBody>
      </p:sp>
      <p:sp>
        <p:nvSpPr>
          <p:cNvPr id="10" name="TextBox 7"/>
          <p:cNvSpPr txBox="1"/>
          <p:nvPr/>
        </p:nvSpPr>
        <p:spPr bwMode="auto">
          <a:xfrm>
            <a:off x="466344" y="2018388"/>
            <a:ext cx="5724144" cy="1384589"/>
          </a:xfrm>
          <a:prstGeom prst="rect">
            <a:avLst/>
          </a:prstGeom>
          <a:noFill/>
        </p:spPr>
        <p:txBody>
          <a:bodyPr wrap="none" lIns="0" tIns="0" rIns="0" bIns="0">
            <a:spAutoFit/>
          </a:bodyPr>
          <a:lstStyle/>
          <a:p>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"mcpServers"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"cldk"</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0451A5"/>
                </a:solidFill>
                <a:latin typeface="Aptos Mono"/>
              </a:rPr>
              <a:t>"type"</a:t>
            </a:r>
            <a:r>
              <a:rPr lang="en-US" sz="800" b="0">
                <a:solidFill>
                  <a:srgbClr val="000000"/>
                </a:solidFill>
                <a:latin typeface="Aptos Mono"/>
              </a:rPr>
              <a:t>: </a:t>
            </a:r>
            <a:r>
              <a:rPr lang="en-US" sz="800" b="0">
                <a:solidFill>
                  <a:srgbClr val="A31515"/>
                </a:solidFill>
                <a:latin typeface="Aptos Mono"/>
              </a:rPr>
              <a:t>"stdio"</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"command"</a:t>
            </a:r>
            <a:r>
              <a:rPr lang="en-US" sz="800" b="0">
                <a:solidFill>
                  <a:srgbClr val="000000"/>
                </a:solidFill>
                <a:latin typeface="Aptos Mono"/>
              </a:rPr>
              <a:t>: </a:t>
            </a:r>
            <a:r>
              <a:rPr lang="en-US" sz="800" b="0">
                <a:solidFill>
                  <a:srgbClr val="A31515"/>
                </a:solidFill>
                <a:latin typeface="Aptos Mono"/>
              </a:rPr>
              <a:t>".venv/bin/python"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"args"</a:t>
            </a:r>
            <a:r>
              <a:rPr lang="en-US" sz="800" b="0">
                <a:solidFill>
                  <a:srgbClr val="000000"/>
                </a:solidFill>
                <a:latin typeface="Aptos Mono"/>
              </a:rPr>
              <a:t>: [</a:t>
            </a:r>
            <a:endParaRPr/>
          </a:p>
          <a:p>
            <a:r>
              <a:rPr lang="en-US" sz="800" b="0">
                <a:solidFill>
                  <a:srgbClr val="000000"/>
                </a:solidFill>
                <a:latin typeface="Aptos Mono"/>
              </a:rPr>
              <a:t>    </a:t>
            </a:r>
            <a:r>
              <a:rPr lang="en-US" sz="800" b="0">
                <a:solidFill>
                  <a:srgbClr val="A31515"/>
                </a:solidFill>
                <a:latin typeface="Aptos Mono"/>
              </a:rPr>
              <a:t>"cldk-demo/server.py"</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 }</a:t>
            </a:r>
            <a:endParaRPr/>
          </a:p>
          <a:p>
            <a:r>
              <a:rPr lang="en-US" sz="800" b="0">
                <a:solidFill>
                  <a:srgbClr val="000000"/>
                </a:solidFill>
                <a:latin typeface="Aptos Mono"/>
              </a:rPr>
              <a:t>}</a:t>
            </a:r>
            <a:endParaRPr/>
          </a:p>
        </p:txBody>
      </p:sp>
      <p:sp>
        <p:nvSpPr>
          <p:cNvPr id="11" name="CodeWindow out"/>
          <p:cNvSpPr/>
          <p:nvPr/>
        </p:nvSpPr>
        <p:spPr bwMode="auto">
          <a:xfrm>
            <a:off x="320040" y="3536977"/>
            <a:ext cx="6016752" cy="543237"/>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802153"/>
            <a:ext cx="6016752" cy="0"/>
          </a:xfrm>
          <a:prstGeom prst="line">
            <a:avLst/>
          </a:prstGeom>
          <a:ln w="9525">
            <a:solidFill>
              <a:srgbClr val="DCDCDC"/>
            </a:solidFill>
          </a:ln>
        </p:spPr>
      </p:cxnSp>
      <p:sp>
        <p:nvSpPr>
          <p:cNvPr id="13" name="WinDot 0 out"/>
          <p:cNvSpPr/>
          <p:nvPr/>
        </p:nvSpPr>
        <p:spPr bwMode="auto">
          <a:xfrm>
            <a:off x="411480" y="3619273"/>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619273"/>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619273"/>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578125"/>
            <a:ext cx="5349240" cy="182880"/>
          </a:xfrm>
          <a:prstGeom prst="rect">
            <a:avLst/>
          </a:prstGeom>
          <a:noFill/>
        </p:spPr>
        <p:txBody>
          <a:bodyPr wrap="square" lIns="0" tIns="0" rIns="0" bIns="0" anchor="ctr">
            <a:noAutofit/>
          </a:bodyPr>
          <a:lstStyle/>
          <a:p>
            <a:pPr algn="l">
              <a:defRPr/>
            </a:pPr>
            <a:r>
              <a:rPr sz="850" b="0">
                <a:solidFill>
                  <a:srgbClr val="5B6673"/>
                </a:solidFill>
              </a:rPr>
              <a:t>terminal: start the Inspector</a:t>
            </a:r>
            <a:endParaRPr/>
          </a:p>
        </p:txBody>
      </p:sp>
      <p:sp>
        <p:nvSpPr>
          <p:cNvPr id="17" name="TextBox 7 out"/>
          <p:cNvSpPr txBox="1"/>
          <p:nvPr/>
        </p:nvSpPr>
        <p:spPr bwMode="auto">
          <a:xfrm>
            <a:off x="466344" y="3866161"/>
            <a:ext cx="5724144" cy="144053"/>
          </a:xfrm>
          <a:prstGeom prst="rect">
            <a:avLst/>
          </a:prstGeom>
          <a:noFill/>
        </p:spPr>
        <p:txBody>
          <a:bodyPr wrap="none" lIns="0" tIns="0" rIns="0" bIns="0">
            <a:spAutoFit/>
          </a:bodyPr>
          <a:lstStyle/>
          <a:p>
            <a:r>
              <a:rPr lang="en-US" sz="800" b="0">
                <a:solidFill>
                  <a:srgbClr val="000000"/>
                </a:solidFill>
                <a:latin typeface="Aptos Mono"/>
              </a:rPr>
              <a:t>npx @modelcontextprotocol/inspector --web --catalog cldk-demo/catalog.json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The MCP and code-action agents</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pic>
        <p:nvPicPr>
          <p:cNvPr id="14" name="Picture 13" descr="image.png"/>
          <p:cNvPicPr>
            <a:picLocks noChangeAspect="1"/>
          </p:cNvPicPr>
          <p:nvPr/>
        </p:nvPicPr>
        <p:blipFill rotWithShape="1">
          <a:blip r:embed="rId2">
            <a:alphaModFix amt="70000"/>
          </a:blip>
          <a:stretch/>
        </p:blipFill>
        <p:spPr bwMode="auto">
          <a:xfrm>
            <a:off x="822960" y="1872409"/>
            <a:ext cx="5733288" cy="1540695"/>
          </a:xfrm>
          <a:prstGeom prst="rect">
            <a:avLst/>
          </a:prstGeom>
        </p:spPr>
      </p:pic>
      <p:pic>
        <p:nvPicPr>
          <p:cNvPr id="15" name="Picture 13" descr="image.png"/>
          <p:cNvPicPr>
            <a:picLocks noChangeAspect="1"/>
          </p:cNvPicPr>
          <p:nvPr/>
        </p:nvPicPr>
        <p:blipFill rotWithShape="1">
          <a:blip r:embed="rId2">
            <a:alphaModFix amt="70000"/>
          </a:blip>
          <a:stretch/>
        </p:blipFill>
        <p:spPr bwMode="auto">
          <a:xfrm>
            <a:off x="822960" y="3774362"/>
            <a:ext cx="5733288" cy="5897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MCP agent calls tools through a client.</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host</a:t>
            </a:r>
            <a:r>
              <a:rPr lang="en-US" sz="1200" b="0">
                <a:solidFill>
                  <a:srgbClr val="000000"/>
                </a:solidFill>
              </a:rPr>
              <a:t> starts the server from </a:t>
            </a:r>
            <a:r>
              <a:rPr lang="en-US" sz="1200" b="0">
                <a:solidFill>
                  <a:srgbClr val="000000"/>
                </a:solidFill>
                <a:latin typeface="Aptos Mono"/>
              </a:rPr>
              <a:t>mcp.json</a:t>
            </a:r>
            <a:r>
              <a:rPr lang="en-US" sz="1200" b="0">
                <a:solidFill>
                  <a:srgbClr val="000000"/>
                </a:solidFill>
              </a:rPr>
              <a:t> and lists its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Every call</a:t>
            </a:r>
            <a:r>
              <a:rPr lang="en-US" sz="1200" b="0">
                <a:solidFill>
                  <a:srgbClr val="000000"/>
                </a:solidFill>
              </a:rPr>
              <a:t> passes the HW1 dispatcher, and a refusal sets </a:t>
            </a:r>
            <a:r>
              <a:rPr lang="en-US" sz="1200" b="0">
                <a:solidFill>
                  <a:srgbClr val="000000"/>
                </a:solidFill>
                <a:latin typeface="Aptos Mono"/>
              </a:rPr>
              <a:t>is_error</a:t>
            </a:r>
            <a:r>
              <a:rPr lang="en-US" sz="1200" b="0">
                <a:solidFill>
                  <a:srgbClr val="000000"/>
                </a:solidFill>
              </a:rPr>
              <a:t>.</a:t>
            </a:r>
            <a:endParaRPr/>
          </a:p>
        </p:txBody>
      </p:sp>
      <p:sp>
        <p:nvSpPr>
          <p:cNvPr id="4" name="Rectangle 4"/>
          <p:cNvSpPr/>
          <p:nvPr/>
        </p:nvSpPr>
        <p:spPr bwMode="auto">
          <a:xfrm>
            <a:off x="320040" y="401026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Your HW1 dispatcher stays, and the MCP client sits behind it.</a:t>
            </a:r>
            <a:endParaRPr/>
          </a:p>
        </p:txBody>
      </p:sp>
      <p:sp>
        <p:nvSpPr>
          <p:cNvPr id="5" name="CodeWindow"/>
          <p:cNvSpPr/>
          <p:nvPr/>
        </p:nvSpPr>
        <p:spPr bwMode="auto">
          <a:xfrm>
            <a:off x="320040" y="1478892"/>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1744068"/>
            <a:ext cx="6016752" cy="0"/>
          </a:xfrm>
          <a:prstGeom prst="line">
            <a:avLst/>
          </a:prstGeom>
          <a:ln w="9525">
            <a:solidFill>
              <a:srgbClr val="DCDCDC"/>
            </a:solidFill>
          </a:ln>
        </p:spPr>
      </p:cxnSp>
      <p:sp>
        <p:nvSpPr>
          <p:cNvPr id="7"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client.py: start the server over stdio, call its tools, send a refused path</a:t>
            </a:r>
            <a:endParaRPr/>
          </a:p>
        </p:txBody>
      </p:sp>
      <p:sp>
        <p:nvSpPr>
          <p:cNvPr id="11" name="TextBox 7"/>
          <p:cNvSpPr txBox="1"/>
          <p:nvPr/>
        </p:nvSpPr>
        <p:spPr bwMode="auto">
          <a:xfrm>
            <a:off x="466344" y="1808076"/>
            <a:ext cx="5724144" cy="1880804"/>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asyncio</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Client</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a:t>
            </a:r>
            <a:r>
              <a:rPr lang="en-US" sz="800" b="0">
                <a:solidFill>
                  <a:srgbClr val="001080"/>
                </a:solidFill>
                <a:latin typeface="Aptos Mono"/>
              </a:rPr>
              <a:t>client</a:t>
            </a:r>
            <a:r>
              <a:rPr lang="en-US" sz="800" b="0">
                <a:solidFill>
                  <a:srgbClr val="000000"/>
                </a:solidFill>
                <a:latin typeface="Aptos Mono"/>
              </a:rPr>
              <a:t>.</a:t>
            </a:r>
            <a:r>
              <a:rPr lang="en-US" sz="800" b="0">
                <a:solidFill>
                  <a:srgbClr val="001080"/>
                </a:solidFill>
                <a:latin typeface="Aptos Mono"/>
              </a:rPr>
              <a:t>stdio</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StdioServerParameters</a:t>
            </a:r>
            <a:endParaRPr/>
          </a:p>
          <a:p>
            <a:r>
              <a:rPr lang="en-US" sz="800" b="0">
                <a:solidFill>
                  <a:srgbClr val="001080"/>
                </a:solidFill>
                <a:latin typeface="Aptos Mono"/>
              </a:rPr>
              <a:t>SERVER</a:t>
            </a:r>
            <a:r>
              <a:rPr lang="en-US" sz="800" b="0">
                <a:solidFill>
                  <a:srgbClr val="000000"/>
                </a:solidFill>
                <a:latin typeface="Aptos Mono"/>
              </a:rPr>
              <a:t> = </a:t>
            </a:r>
            <a:r>
              <a:rPr lang="en-US" sz="800" b="0">
                <a:solidFill>
                  <a:srgbClr val="267F99"/>
                </a:solidFill>
                <a:latin typeface="Aptos Mono"/>
              </a:rPr>
              <a:t>StdioServerParameters</a:t>
            </a:r>
            <a:r>
              <a:rPr lang="en-US" sz="800" b="0">
                <a:solidFill>
                  <a:srgbClr val="000000"/>
                </a:solidFill>
                <a:latin typeface="Aptos Mono"/>
              </a:rPr>
              <a:t>(</a:t>
            </a:r>
            <a:r>
              <a:rPr lang="en-US" sz="800" b="0">
                <a:solidFill>
                  <a:srgbClr val="001080"/>
                </a:solidFill>
                <a:latin typeface="Aptos Mono"/>
              </a:rPr>
              <a:t>command</a:t>
            </a:r>
            <a:r>
              <a:rPr lang="en-US" sz="800" b="0">
                <a:solidFill>
                  <a:srgbClr val="000000"/>
                </a:solidFill>
                <a:latin typeface="Aptos Mono"/>
              </a:rPr>
              <a:t>=</a:t>
            </a:r>
            <a:r>
              <a:rPr lang="en-US" sz="800" b="0">
                <a:solidFill>
                  <a:srgbClr val="A31515"/>
                </a:solidFill>
                <a:latin typeface="Aptos Mono"/>
              </a:rPr>
              <a:t>".venv/bin/python"</a:t>
            </a:r>
            <a:r>
              <a:rPr lang="en-US" sz="800" b="0">
                <a:solidFill>
                  <a:srgbClr val="000000"/>
                </a:solidFill>
                <a:latin typeface="Aptos Mono"/>
              </a:rPr>
              <a:t>, </a:t>
            </a:r>
            <a:r>
              <a:rPr lang="en-US" sz="800" b="0">
                <a:solidFill>
                  <a:srgbClr val="001080"/>
                </a:solidFill>
                <a:latin typeface="Aptos Mono"/>
              </a:rPr>
              <a:t>args</a:t>
            </a:r>
            <a:r>
              <a:rPr lang="en-US" sz="800" b="0">
                <a:solidFill>
                  <a:srgbClr val="000000"/>
                </a:solidFill>
                <a:latin typeface="Aptos Mono"/>
              </a:rPr>
              <a:t>=[</a:t>
            </a:r>
            <a:r>
              <a:rPr lang="en-US" sz="800" b="0">
                <a:solidFill>
                  <a:srgbClr val="A31515"/>
                </a:solidFill>
                <a:latin typeface="Aptos Mono"/>
              </a:rPr>
              <a:t>"cldk-demo/server.py"</a:t>
            </a:r>
            <a:r>
              <a:rPr lang="en-US" sz="800" b="0">
                <a:solidFill>
                  <a:srgbClr val="000000"/>
                </a:solidFill>
                <a:latin typeface="Aptos Mono"/>
              </a:rPr>
              <a:t>])</a:t>
            </a:r>
            <a:endParaRPr/>
          </a:p>
          <a:p>
            <a:r>
              <a:rPr lang="en-US" sz="800" b="0">
                <a:solidFill>
                  <a:srgbClr val="001080"/>
                </a:solidFill>
                <a:latin typeface="Aptos Mono"/>
              </a:rPr>
              <a:t>CASE</a:t>
            </a:r>
            <a:r>
              <a:rPr lang="en-US" sz="800" b="0">
                <a:solidFill>
                  <a:srgbClr val="000000"/>
                </a:solidFill>
                <a:latin typeface="Aptos Mono"/>
              </a:rPr>
              <a:t> =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0000FF"/>
                </a:solidFill>
                <a:latin typeface="Aptos Mono"/>
              </a:rPr>
              <a:t>async</a:t>
            </a:r>
            <a:r>
              <a:rPr lang="en-US" sz="800" b="0">
                <a:solidFill>
                  <a:srgbClr val="000000"/>
                </a:solidFill>
                <a:latin typeface="Aptos Mono"/>
              </a:rPr>
              <a:t> </a:t>
            </a:r>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main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FF"/>
                </a:solidFill>
                <a:latin typeface="Aptos Mono"/>
              </a:rPr>
              <a:t>async</a:t>
            </a:r>
            <a:r>
              <a:rPr lang="en-US" sz="800" b="0">
                <a:solidFill>
                  <a:srgbClr val="000000"/>
                </a:solidFill>
                <a:latin typeface="Aptos Mono"/>
              </a:rPr>
              <a:t> </a:t>
            </a:r>
            <a:r>
              <a:rPr lang="en-US" sz="800" b="0">
                <a:solidFill>
                  <a:srgbClr val="AF00DB"/>
                </a:solidFill>
                <a:latin typeface="Aptos Mono"/>
              </a:rPr>
              <a:t>with</a:t>
            </a:r>
            <a:r>
              <a:rPr lang="en-US" sz="800" b="0">
                <a:solidFill>
                  <a:srgbClr val="000000"/>
                </a:solidFill>
                <a:latin typeface="Aptos Mono"/>
              </a:rPr>
              <a:t> </a:t>
            </a:r>
            <a:r>
              <a:rPr lang="en-US" sz="800" b="0">
                <a:solidFill>
                  <a:srgbClr val="267F99"/>
                </a:solidFill>
                <a:latin typeface="Aptos Mono"/>
              </a:rPr>
              <a:t>Client</a:t>
            </a:r>
            <a:r>
              <a:rPr lang="en-US" sz="800" b="0">
                <a:solidFill>
                  <a:srgbClr val="000000"/>
                </a:solidFill>
                <a:latin typeface="Aptos Mono"/>
              </a:rPr>
              <a:t>(</a:t>
            </a:r>
            <a:r>
              <a:rPr lang="en-US" sz="800" b="0">
                <a:solidFill>
                  <a:srgbClr val="001080"/>
                </a:solidFill>
                <a:latin typeface="Aptos Mono"/>
              </a:rPr>
              <a:t>SERVER</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t</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list_tools</a:t>
            </a:r>
            <a:r>
              <a:rPr lang="en-US" sz="800" b="0">
                <a:solidFill>
                  <a:srgbClr val="000000"/>
                </a:solidFill>
                <a:latin typeface="Aptos Mono"/>
              </a:rPr>
              <a:t>()).</a:t>
            </a:r>
            <a:r>
              <a:rPr lang="en-US" sz="800" b="0">
                <a:solidFill>
                  <a:srgbClr val="001080"/>
                </a:solidFill>
                <a:latin typeface="Aptos Mono"/>
              </a:rPr>
              <a:t>tools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"name"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"dataflow"</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"result"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 =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"to_line"</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 </a:t>
            </a:r>
            <a:r>
              <a:rPr lang="en-US" sz="800" b="0">
                <a:solidFill>
                  <a:srgbClr val="098658"/>
                </a:solidFill>
                <a:latin typeface="Aptos Mono"/>
              </a:rPr>
              <a:t>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 </a:t>
            </a:r>
            <a:r>
              <a:rPr lang="en-US" sz="800" b="0">
                <a:solidFill>
                  <a:srgbClr val="A31515"/>
                </a:solidFill>
                <a:latin typeface="Aptos Mono"/>
              </a:rPr>
              <a:t>"edges; line 31 flows to"</a:t>
            </a:r>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"../expectedresults-0.1.csv"</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is_error</a:t>
            </a:r>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content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r>
              <a:rPr lang="en-US" sz="800" b="0">
                <a:solidFill>
                  <a:srgbClr val="001080"/>
                </a:solidFill>
                <a:latin typeface="Aptos Mono"/>
              </a:rPr>
              <a:t>text</a:t>
            </a:r>
            <a:r>
              <a:rPr lang="en-US" sz="800" b="0">
                <a:solidFill>
                  <a:srgbClr val="000000"/>
                </a:solidFill>
                <a:latin typeface="Aptos Mono"/>
              </a:rPr>
              <a:t>)</a:t>
            </a:r>
            <a:endParaRPr/>
          </a:p>
          <a:p>
            <a:r>
              <a:rPr lang="en-US" sz="800" b="0">
                <a:solidFill>
                  <a:srgbClr val="001080"/>
                </a:solidFill>
                <a:latin typeface="Aptos Mono"/>
              </a:rPr>
              <a:t>asyncio</a:t>
            </a:r>
            <a:r>
              <a:rPr lang="en-US" sz="800" b="0">
                <a:solidFill>
                  <a:srgbClr val="000000"/>
                </a:solidFill>
                <a:latin typeface="Aptos Mono"/>
              </a:rPr>
              <a:t>.</a:t>
            </a:r>
            <a:r>
              <a:rPr lang="en-US" sz="800" b="0">
                <a:solidFill>
                  <a:srgbClr val="795E26"/>
                </a:solidFill>
                <a:latin typeface="Aptos Mono"/>
              </a:rPr>
              <a:t>run</a:t>
            </a:r>
            <a:r>
              <a:rPr lang="en-US" sz="800" b="0">
                <a:solidFill>
                  <a:srgbClr val="000000"/>
                </a:solidFill>
                <a:latin typeface="Aptos Mono"/>
              </a:rPr>
              <a:t>(</a:t>
            </a:r>
            <a:r>
              <a:rPr lang="en-US" sz="800" b="0">
                <a:solidFill>
                  <a:srgbClr val="795E26"/>
                </a:solidFill>
                <a:latin typeface="Aptos Mono"/>
              </a:rPr>
              <a:t>main</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MCP agent calls tools through a client.</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host</a:t>
            </a:r>
            <a:r>
              <a:rPr lang="en-US" sz="1200" b="0">
                <a:solidFill>
                  <a:srgbClr val="000000"/>
                </a:solidFill>
              </a:rPr>
              <a:t> starts the server from </a:t>
            </a:r>
            <a:r>
              <a:rPr lang="en-US" sz="1200" b="0">
                <a:solidFill>
                  <a:srgbClr val="000000"/>
                </a:solidFill>
                <a:latin typeface="Aptos Mono"/>
              </a:rPr>
              <a:t>mcp.json</a:t>
            </a:r>
            <a:r>
              <a:rPr lang="en-US" sz="1200" b="0">
                <a:solidFill>
                  <a:srgbClr val="000000"/>
                </a:solidFill>
              </a:rPr>
              <a:t> and lists its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Every call</a:t>
            </a:r>
            <a:r>
              <a:rPr lang="en-US" sz="1200" b="0">
                <a:solidFill>
                  <a:srgbClr val="FFFFFF">
                    <a:alpha val="0"/>
                  </a:srgbClr>
                </a:solidFill>
              </a:rPr>
              <a:t> passes the HW1 dispatcher, and a refusal sets </a:t>
            </a:r>
            <a:r>
              <a:rPr lang="en-US" sz="1200" b="0">
                <a:solidFill>
                  <a:srgbClr val="FFFFFF">
                    <a:alpha val="0"/>
                  </a:srgbClr>
                </a:solidFill>
                <a:latin typeface="Aptos Mono"/>
              </a:rPr>
              <a:t>is_error</a:t>
            </a:r>
            <a:r>
              <a:rPr lang="en-US" sz="1200" b="0">
                <a:solidFill>
                  <a:srgbClr val="FFFFFF">
                    <a:alpha val="0"/>
                  </a:srgbClr>
                </a:solidFill>
              </a:rPr>
              <a:t>.</a:t>
            </a:r>
            <a:endParaRPr>
              <a:solidFill>
                <a:srgbClr val="FFFFFF">
                  <a:alpha val="0"/>
                </a:srgbClr>
              </a:solidFill>
            </a:endParaRPr>
          </a:p>
        </p:txBody>
      </p:sp>
      <p:sp>
        <p:nvSpPr>
          <p:cNvPr id="4" name="CodeWindow"/>
          <p:cNvSpPr/>
          <p:nvPr/>
        </p:nvSpPr>
        <p:spPr bwMode="auto">
          <a:xfrm>
            <a:off x="320040" y="1478892"/>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client.py: start the server over stdio, call its tools, send a refused path</a:t>
            </a:r>
            <a:endParaRPr/>
          </a:p>
        </p:txBody>
      </p:sp>
      <p:sp>
        <p:nvSpPr>
          <p:cNvPr id="10" name="TextBox 7"/>
          <p:cNvSpPr txBox="1"/>
          <p:nvPr/>
        </p:nvSpPr>
        <p:spPr bwMode="auto">
          <a:xfrm>
            <a:off x="466344" y="1808076"/>
            <a:ext cx="5724144" cy="1880804"/>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asyncio</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Client</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a:t>
            </a:r>
            <a:r>
              <a:rPr lang="en-US" sz="800" b="0">
                <a:solidFill>
                  <a:srgbClr val="001080"/>
                </a:solidFill>
                <a:latin typeface="Aptos Mono"/>
              </a:rPr>
              <a:t>client</a:t>
            </a:r>
            <a:r>
              <a:rPr lang="en-US" sz="800" b="0">
                <a:solidFill>
                  <a:srgbClr val="000000"/>
                </a:solidFill>
                <a:latin typeface="Aptos Mono"/>
              </a:rPr>
              <a:t>.</a:t>
            </a:r>
            <a:r>
              <a:rPr lang="en-US" sz="800" b="0">
                <a:solidFill>
                  <a:srgbClr val="001080"/>
                </a:solidFill>
                <a:latin typeface="Aptos Mono"/>
              </a:rPr>
              <a:t>stdio</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StdioServerParameters</a:t>
            </a:r>
            <a:endParaRPr/>
          </a:p>
          <a:p>
            <a:r>
              <a:rPr lang="en-US" sz="800" b="0">
                <a:solidFill>
                  <a:srgbClr val="001080"/>
                </a:solidFill>
                <a:latin typeface="Aptos Mono"/>
              </a:rPr>
              <a:t>SERVER</a:t>
            </a:r>
            <a:r>
              <a:rPr lang="en-US" sz="800" b="0">
                <a:solidFill>
                  <a:srgbClr val="000000"/>
                </a:solidFill>
                <a:latin typeface="Aptos Mono"/>
              </a:rPr>
              <a:t> = </a:t>
            </a:r>
            <a:r>
              <a:rPr lang="en-US" sz="800" b="0">
                <a:solidFill>
                  <a:srgbClr val="267F99"/>
                </a:solidFill>
                <a:latin typeface="Aptos Mono"/>
              </a:rPr>
              <a:t>StdioServerParameters</a:t>
            </a:r>
            <a:r>
              <a:rPr lang="en-US" sz="800" b="0">
                <a:solidFill>
                  <a:srgbClr val="000000"/>
                </a:solidFill>
                <a:latin typeface="Aptos Mono"/>
              </a:rPr>
              <a:t>(</a:t>
            </a:r>
            <a:r>
              <a:rPr lang="en-US" sz="800" b="0">
                <a:solidFill>
                  <a:srgbClr val="001080"/>
                </a:solidFill>
                <a:latin typeface="Aptos Mono"/>
              </a:rPr>
              <a:t>command</a:t>
            </a:r>
            <a:r>
              <a:rPr lang="en-US" sz="800" b="0">
                <a:solidFill>
                  <a:srgbClr val="000000"/>
                </a:solidFill>
                <a:latin typeface="Aptos Mono"/>
              </a:rPr>
              <a:t>=</a:t>
            </a:r>
            <a:r>
              <a:rPr lang="en-US" sz="800" b="0">
                <a:solidFill>
                  <a:srgbClr val="A31515"/>
                </a:solidFill>
                <a:latin typeface="Aptos Mono"/>
              </a:rPr>
              <a:t>".venv/bin/python"</a:t>
            </a:r>
            <a:r>
              <a:rPr lang="en-US" sz="800" b="0">
                <a:solidFill>
                  <a:srgbClr val="000000"/>
                </a:solidFill>
                <a:latin typeface="Aptos Mono"/>
              </a:rPr>
              <a:t>, </a:t>
            </a:r>
            <a:r>
              <a:rPr lang="en-US" sz="800" b="0">
                <a:solidFill>
                  <a:srgbClr val="001080"/>
                </a:solidFill>
                <a:latin typeface="Aptos Mono"/>
              </a:rPr>
              <a:t>args</a:t>
            </a:r>
            <a:r>
              <a:rPr lang="en-US" sz="800" b="0">
                <a:solidFill>
                  <a:srgbClr val="000000"/>
                </a:solidFill>
                <a:latin typeface="Aptos Mono"/>
              </a:rPr>
              <a:t>=[</a:t>
            </a:r>
            <a:r>
              <a:rPr lang="en-US" sz="800" b="0">
                <a:solidFill>
                  <a:srgbClr val="A31515"/>
                </a:solidFill>
                <a:latin typeface="Aptos Mono"/>
              </a:rPr>
              <a:t>"cldk-demo/server.py"</a:t>
            </a:r>
            <a:r>
              <a:rPr lang="en-US" sz="800" b="0">
                <a:solidFill>
                  <a:srgbClr val="000000"/>
                </a:solidFill>
                <a:latin typeface="Aptos Mono"/>
              </a:rPr>
              <a:t>])</a:t>
            </a:r>
            <a:endParaRPr/>
          </a:p>
          <a:p>
            <a:r>
              <a:rPr lang="en-US" sz="800" b="0">
                <a:solidFill>
                  <a:srgbClr val="001080"/>
                </a:solidFill>
                <a:latin typeface="Aptos Mono"/>
              </a:rPr>
              <a:t>CASE</a:t>
            </a:r>
            <a:r>
              <a:rPr lang="en-US" sz="800" b="0">
                <a:solidFill>
                  <a:srgbClr val="000000"/>
                </a:solidFill>
                <a:latin typeface="Aptos Mono"/>
              </a:rPr>
              <a:t> =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0000FF"/>
                </a:solidFill>
                <a:latin typeface="Aptos Mono"/>
              </a:rPr>
              <a:t>async</a:t>
            </a:r>
            <a:r>
              <a:rPr lang="en-US" sz="800" b="0">
                <a:solidFill>
                  <a:srgbClr val="000000"/>
                </a:solidFill>
                <a:latin typeface="Aptos Mono"/>
              </a:rPr>
              <a:t> </a:t>
            </a:r>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main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FF"/>
                </a:solidFill>
                <a:latin typeface="Aptos Mono"/>
              </a:rPr>
              <a:t>async</a:t>
            </a:r>
            <a:r>
              <a:rPr lang="en-US" sz="800" b="0">
                <a:solidFill>
                  <a:srgbClr val="000000"/>
                </a:solidFill>
                <a:latin typeface="Aptos Mono"/>
              </a:rPr>
              <a:t> </a:t>
            </a:r>
            <a:r>
              <a:rPr lang="en-US" sz="800" b="0">
                <a:solidFill>
                  <a:srgbClr val="AF00DB"/>
                </a:solidFill>
                <a:latin typeface="Aptos Mono"/>
              </a:rPr>
              <a:t>with</a:t>
            </a:r>
            <a:r>
              <a:rPr lang="en-US" sz="800" b="0">
                <a:solidFill>
                  <a:srgbClr val="000000"/>
                </a:solidFill>
                <a:latin typeface="Aptos Mono"/>
              </a:rPr>
              <a:t> </a:t>
            </a:r>
            <a:r>
              <a:rPr lang="en-US" sz="800" b="0">
                <a:solidFill>
                  <a:srgbClr val="267F99"/>
                </a:solidFill>
                <a:latin typeface="Aptos Mono"/>
              </a:rPr>
              <a:t>Client</a:t>
            </a:r>
            <a:r>
              <a:rPr lang="en-US" sz="800" b="0">
                <a:solidFill>
                  <a:srgbClr val="000000"/>
                </a:solidFill>
                <a:latin typeface="Aptos Mono"/>
              </a:rPr>
              <a:t>(</a:t>
            </a:r>
            <a:r>
              <a:rPr lang="en-US" sz="800" b="0">
                <a:solidFill>
                  <a:srgbClr val="001080"/>
                </a:solidFill>
                <a:latin typeface="Aptos Mono"/>
              </a:rPr>
              <a:t>SERVER</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t</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list_tools</a:t>
            </a:r>
            <a:r>
              <a:rPr lang="en-US" sz="800" b="0">
                <a:solidFill>
                  <a:srgbClr val="000000"/>
                </a:solidFill>
                <a:latin typeface="Aptos Mono"/>
              </a:rPr>
              <a:t>()).</a:t>
            </a:r>
            <a:r>
              <a:rPr lang="en-US" sz="800" b="0">
                <a:solidFill>
                  <a:srgbClr val="001080"/>
                </a:solidFill>
                <a:latin typeface="Aptos Mono"/>
              </a:rPr>
              <a:t>tools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"name"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"dataflow"</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"result"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 =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"to_line"</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 </a:t>
            </a:r>
            <a:r>
              <a:rPr lang="en-US" sz="800" b="0">
                <a:solidFill>
                  <a:srgbClr val="098658"/>
                </a:solidFill>
                <a:latin typeface="Aptos Mono"/>
              </a:rPr>
              <a:t>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 </a:t>
            </a:r>
            <a:r>
              <a:rPr lang="en-US" sz="800" b="0">
                <a:solidFill>
                  <a:srgbClr val="A31515"/>
                </a:solidFill>
                <a:latin typeface="Aptos Mono"/>
              </a:rPr>
              <a:t>"edges; line 31 flows to"</a:t>
            </a:r>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"../expectedresults-0.1.csv"</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is_error</a:t>
            </a:r>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content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r>
              <a:rPr lang="en-US" sz="800" b="0">
                <a:solidFill>
                  <a:srgbClr val="001080"/>
                </a:solidFill>
                <a:latin typeface="Aptos Mono"/>
              </a:rPr>
              <a:t>text</a:t>
            </a:r>
            <a:r>
              <a:rPr lang="en-US" sz="800" b="0">
                <a:solidFill>
                  <a:srgbClr val="000000"/>
                </a:solidFill>
                <a:latin typeface="Aptos Mono"/>
              </a:rPr>
              <a:t>)</a:t>
            </a:r>
            <a:endParaRPr/>
          </a:p>
          <a:p>
            <a:r>
              <a:rPr lang="en-US" sz="800" b="0">
                <a:solidFill>
                  <a:srgbClr val="001080"/>
                </a:solidFill>
                <a:latin typeface="Aptos Mono"/>
              </a:rPr>
              <a:t>asyncio</a:t>
            </a:r>
            <a:r>
              <a:rPr lang="en-US" sz="800" b="0">
                <a:solidFill>
                  <a:srgbClr val="000000"/>
                </a:solidFill>
                <a:latin typeface="Aptos Mono"/>
              </a:rPr>
              <a:t>.</a:t>
            </a:r>
            <a:r>
              <a:rPr lang="en-US" sz="800" b="0">
                <a:solidFill>
                  <a:srgbClr val="795E26"/>
                </a:solidFill>
                <a:latin typeface="Aptos Mono"/>
              </a:rPr>
              <a:t>run</a:t>
            </a:r>
            <a:r>
              <a:rPr lang="en-US" sz="800" b="0">
                <a:solidFill>
                  <a:srgbClr val="000000"/>
                </a:solidFill>
                <a:latin typeface="Aptos Mono"/>
              </a:rPr>
              <a:t>(</a:t>
            </a:r>
            <a:r>
              <a:rPr lang="en-US" sz="800" b="0">
                <a:solidFill>
                  <a:srgbClr val="795E26"/>
                </a:solidFill>
                <a:latin typeface="Aptos Mono"/>
              </a:rPr>
              <a:t>main</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MCP agent calls tools through a client.</a:t>
            </a:r>
            <a:endParaRPr/>
          </a:p>
        </p:txBody>
      </p:sp>
      <p:sp>
        <p:nvSpPr>
          <p:cNvPr id="3" name="Content Placeholder 2"/>
          <p:cNvSpPr>
            <a:spLocks noGrp="1"/>
          </p:cNvSpPr>
          <p:nvPr>
            <p:ph idx="1"/>
          </p:nvPr>
        </p:nvSpPr>
        <p:spPr bwMode="auto">
          <a:xfrm>
            <a:off x="320040" y="658368"/>
            <a:ext cx="6016752" cy="67052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host</a:t>
            </a:r>
            <a:r>
              <a:rPr lang="en-US" sz="1200" b="0">
                <a:solidFill>
                  <a:srgbClr val="000000"/>
                </a:solidFill>
              </a:rPr>
              <a:t> starts the server from </a:t>
            </a:r>
            <a:r>
              <a:rPr lang="en-US" sz="1200" b="0">
                <a:solidFill>
                  <a:srgbClr val="000000"/>
                </a:solidFill>
                <a:latin typeface="Aptos Mono"/>
              </a:rPr>
              <a:t>mcp.json</a:t>
            </a:r>
            <a:r>
              <a:rPr lang="en-US" sz="1200" b="0">
                <a:solidFill>
                  <a:srgbClr val="000000"/>
                </a:solidFill>
              </a:rPr>
              <a:t> and lists its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Every call</a:t>
            </a:r>
            <a:r>
              <a:rPr lang="en-US" sz="1200" b="0">
                <a:solidFill>
                  <a:srgbClr val="000000"/>
                </a:solidFill>
              </a:rPr>
              <a:t> passes the HW1 dispatcher, and a refusal sets </a:t>
            </a:r>
            <a:r>
              <a:rPr lang="en-US" sz="1200" b="0">
                <a:solidFill>
                  <a:srgbClr val="000000"/>
                </a:solidFill>
                <a:latin typeface="Aptos Mono"/>
              </a:rPr>
              <a:t>is_error</a:t>
            </a:r>
            <a:r>
              <a:rPr lang="en-US" sz="1200" b="0">
                <a:solidFill>
                  <a:srgbClr val="000000"/>
                </a:solidFill>
              </a:rPr>
              <a:t>.</a:t>
            </a:r>
            <a:endParaRPr/>
          </a:p>
        </p:txBody>
      </p:sp>
      <p:sp>
        <p:nvSpPr>
          <p:cNvPr id="4" name="CodeWindow"/>
          <p:cNvSpPr/>
          <p:nvPr/>
        </p:nvSpPr>
        <p:spPr bwMode="auto">
          <a:xfrm>
            <a:off x="320040" y="1478892"/>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1744068"/>
            <a:ext cx="6016752" cy="0"/>
          </a:xfrm>
          <a:prstGeom prst="line">
            <a:avLst/>
          </a:prstGeom>
          <a:ln w="9525">
            <a:solidFill>
              <a:srgbClr val="DCDCDC"/>
            </a:solidFill>
          </a:ln>
        </p:spPr>
      </p:cxnSp>
      <p:sp>
        <p:nvSpPr>
          <p:cNvPr id="6" name="WinDot 0"/>
          <p:cNvSpPr/>
          <p:nvPr/>
        </p:nvSpPr>
        <p:spPr bwMode="auto">
          <a:xfrm>
            <a:off x="411480" y="156118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56118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56118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520040"/>
            <a:ext cx="5349240" cy="182880"/>
          </a:xfrm>
          <a:prstGeom prst="rect">
            <a:avLst/>
          </a:prstGeom>
          <a:noFill/>
        </p:spPr>
        <p:txBody>
          <a:bodyPr wrap="square" lIns="0" tIns="0" rIns="0" bIns="0" anchor="ctr">
            <a:noAutofit/>
          </a:bodyPr>
          <a:lstStyle/>
          <a:p>
            <a:pPr algn="l">
              <a:defRPr/>
            </a:pPr>
            <a:r>
              <a:rPr sz="850" b="0">
                <a:solidFill>
                  <a:srgbClr val="5B6673"/>
                </a:solidFill>
              </a:rPr>
              <a:t>client.py: start the server over stdio, call its tools, send a refused path</a:t>
            </a:r>
            <a:endParaRPr/>
          </a:p>
        </p:txBody>
      </p:sp>
      <p:sp>
        <p:nvSpPr>
          <p:cNvPr id="10" name="TextBox 7"/>
          <p:cNvSpPr txBox="1"/>
          <p:nvPr/>
        </p:nvSpPr>
        <p:spPr bwMode="auto">
          <a:xfrm>
            <a:off x="466344" y="1808076"/>
            <a:ext cx="5724144" cy="1880804"/>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asyncio</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Client</a:t>
            </a:r>
            <a:endParaRPr/>
          </a:p>
          <a:p>
            <a:r>
              <a:rPr lang="en-US" sz="800" b="0">
                <a:solidFill>
                  <a:srgbClr val="AF00DB"/>
                </a:solidFill>
                <a:latin typeface="Aptos Mono"/>
              </a:rPr>
              <a:t>from</a:t>
            </a:r>
            <a:r>
              <a:rPr lang="en-US" sz="800" b="0">
                <a:solidFill>
                  <a:srgbClr val="000000"/>
                </a:solidFill>
                <a:latin typeface="Aptos Mono"/>
              </a:rPr>
              <a:t> </a:t>
            </a:r>
            <a:r>
              <a:rPr lang="en-US" sz="800" b="0">
                <a:solidFill>
                  <a:srgbClr val="001080"/>
                </a:solidFill>
                <a:latin typeface="Aptos Mono"/>
              </a:rPr>
              <a:t>mcp</a:t>
            </a:r>
            <a:r>
              <a:rPr lang="en-US" sz="800" b="0">
                <a:solidFill>
                  <a:srgbClr val="000000"/>
                </a:solidFill>
                <a:latin typeface="Aptos Mono"/>
              </a:rPr>
              <a:t>.</a:t>
            </a:r>
            <a:r>
              <a:rPr lang="en-US" sz="800" b="0">
                <a:solidFill>
                  <a:srgbClr val="001080"/>
                </a:solidFill>
                <a:latin typeface="Aptos Mono"/>
              </a:rPr>
              <a:t>client</a:t>
            </a:r>
            <a:r>
              <a:rPr lang="en-US" sz="800" b="0">
                <a:solidFill>
                  <a:srgbClr val="000000"/>
                </a:solidFill>
                <a:latin typeface="Aptos Mono"/>
              </a:rPr>
              <a:t>.</a:t>
            </a:r>
            <a:r>
              <a:rPr lang="en-US" sz="800" b="0">
                <a:solidFill>
                  <a:srgbClr val="001080"/>
                </a:solidFill>
                <a:latin typeface="Aptos Mono"/>
              </a:rPr>
              <a:t>stdio</a:t>
            </a:r>
            <a:r>
              <a:rPr lang="en-US" sz="800" b="0">
                <a:solidFill>
                  <a:srgbClr val="000000"/>
                </a:solidFill>
                <a:latin typeface="Aptos Mono"/>
              </a:rPr>
              <a:t> </a:t>
            </a:r>
            <a:r>
              <a:rPr lang="en-US" sz="800" b="0">
                <a:solidFill>
                  <a:srgbClr val="AF00DB"/>
                </a:solidFill>
                <a:latin typeface="Aptos Mono"/>
              </a:rPr>
              <a:t>import</a:t>
            </a:r>
            <a:r>
              <a:rPr lang="en-US" sz="800" b="0">
                <a:solidFill>
                  <a:srgbClr val="000000"/>
                </a:solidFill>
                <a:latin typeface="Aptos Mono"/>
              </a:rPr>
              <a:t> </a:t>
            </a:r>
            <a:r>
              <a:rPr lang="en-US" sz="800" b="0">
                <a:solidFill>
                  <a:srgbClr val="267F99"/>
                </a:solidFill>
                <a:latin typeface="Aptos Mono"/>
              </a:rPr>
              <a:t>StdioServerParameters</a:t>
            </a:r>
            <a:endParaRPr/>
          </a:p>
          <a:p>
            <a:r>
              <a:rPr lang="en-US" sz="800" b="0">
                <a:solidFill>
                  <a:srgbClr val="001080"/>
                </a:solidFill>
                <a:latin typeface="Aptos Mono"/>
              </a:rPr>
              <a:t>SERVER</a:t>
            </a:r>
            <a:r>
              <a:rPr lang="en-US" sz="800" b="0">
                <a:solidFill>
                  <a:srgbClr val="000000"/>
                </a:solidFill>
                <a:latin typeface="Aptos Mono"/>
              </a:rPr>
              <a:t> = </a:t>
            </a:r>
            <a:r>
              <a:rPr lang="en-US" sz="800" b="0">
                <a:solidFill>
                  <a:srgbClr val="267F99"/>
                </a:solidFill>
                <a:latin typeface="Aptos Mono"/>
              </a:rPr>
              <a:t>StdioServerParameters</a:t>
            </a:r>
            <a:r>
              <a:rPr lang="en-US" sz="800" b="0">
                <a:solidFill>
                  <a:srgbClr val="000000"/>
                </a:solidFill>
                <a:latin typeface="Aptos Mono"/>
              </a:rPr>
              <a:t>(</a:t>
            </a:r>
            <a:r>
              <a:rPr lang="en-US" sz="800" b="0">
                <a:solidFill>
                  <a:srgbClr val="001080"/>
                </a:solidFill>
                <a:latin typeface="Aptos Mono"/>
              </a:rPr>
              <a:t>command</a:t>
            </a:r>
            <a:r>
              <a:rPr lang="en-US" sz="800" b="0">
                <a:solidFill>
                  <a:srgbClr val="000000"/>
                </a:solidFill>
                <a:latin typeface="Aptos Mono"/>
              </a:rPr>
              <a:t>=</a:t>
            </a:r>
            <a:r>
              <a:rPr lang="en-US" sz="800" b="0">
                <a:solidFill>
                  <a:srgbClr val="A31515"/>
                </a:solidFill>
                <a:latin typeface="Aptos Mono"/>
              </a:rPr>
              <a:t>".venv/bin/python"</a:t>
            </a:r>
            <a:r>
              <a:rPr lang="en-US" sz="800" b="0">
                <a:solidFill>
                  <a:srgbClr val="000000"/>
                </a:solidFill>
                <a:latin typeface="Aptos Mono"/>
              </a:rPr>
              <a:t>, </a:t>
            </a:r>
            <a:r>
              <a:rPr lang="en-US" sz="800" b="0">
                <a:solidFill>
                  <a:srgbClr val="001080"/>
                </a:solidFill>
                <a:latin typeface="Aptos Mono"/>
              </a:rPr>
              <a:t>args</a:t>
            </a:r>
            <a:r>
              <a:rPr lang="en-US" sz="800" b="0">
                <a:solidFill>
                  <a:srgbClr val="000000"/>
                </a:solidFill>
                <a:latin typeface="Aptos Mono"/>
              </a:rPr>
              <a:t>=[</a:t>
            </a:r>
            <a:r>
              <a:rPr lang="en-US" sz="800" b="0">
                <a:solidFill>
                  <a:srgbClr val="A31515"/>
                </a:solidFill>
                <a:latin typeface="Aptos Mono"/>
              </a:rPr>
              <a:t>"cldk-demo/server.py"</a:t>
            </a:r>
            <a:r>
              <a:rPr lang="en-US" sz="800" b="0">
                <a:solidFill>
                  <a:srgbClr val="000000"/>
                </a:solidFill>
                <a:latin typeface="Aptos Mono"/>
              </a:rPr>
              <a:t>])</a:t>
            </a:r>
            <a:endParaRPr/>
          </a:p>
          <a:p>
            <a:r>
              <a:rPr lang="en-US" sz="800" b="0">
                <a:solidFill>
                  <a:srgbClr val="001080"/>
                </a:solidFill>
                <a:latin typeface="Aptos Mono"/>
              </a:rPr>
              <a:t>CASE</a:t>
            </a:r>
            <a:r>
              <a:rPr lang="en-US" sz="800" b="0">
                <a:solidFill>
                  <a:srgbClr val="000000"/>
                </a:solidFill>
                <a:latin typeface="Aptos Mono"/>
              </a:rPr>
              <a:t> =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46</a:t>
            </a:r>
            <a:r>
              <a:rPr lang="en-US" sz="800" b="0">
                <a:solidFill>
                  <a:srgbClr val="000000"/>
                </a:solidFill>
                <a:latin typeface="Aptos Mono"/>
              </a:rPr>
              <a:t>}</a:t>
            </a:r>
            <a:endParaRPr/>
          </a:p>
          <a:p>
            <a:r>
              <a:rPr lang="en-US" sz="800" b="0">
                <a:solidFill>
                  <a:srgbClr val="0000FF"/>
                </a:solidFill>
                <a:latin typeface="Aptos Mono"/>
              </a:rPr>
              <a:t>async</a:t>
            </a:r>
            <a:r>
              <a:rPr lang="en-US" sz="800" b="0">
                <a:solidFill>
                  <a:srgbClr val="000000"/>
                </a:solidFill>
                <a:latin typeface="Aptos Mono"/>
              </a:rPr>
              <a:t> </a:t>
            </a:r>
            <a:r>
              <a:rPr lang="en-US" sz="800" b="0">
                <a:solidFill>
                  <a:srgbClr val="0000FF"/>
                </a:solidFill>
                <a:latin typeface="Aptos Mono"/>
              </a:rPr>
              <a:t>def</a:t>
            </a:r>
            <a:r>
              <a:rPr lang="en-US" sz="800" b="0">
                <a:solidFill>
                  <a:srgbClr val="000000"/>
                </a:solidFill>
                <a:latin typeface="Aptos Mono"/>
              </a:rPr>
              <a:t> </a:t>
            </a:r>
            <a:r>
              <a:rPr lang="en-US" sz="800" b="0">
                <a:solidFill>
                  <a:srgbClr val="795E26"/>
                </a:solidFill>
                <a:latin typeface="Aptos Mono"/>
              </a:rPr>
              <a:t>main</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00FF"/>
                </a:solidFill>
                <a:latin typeface="Aptos Mono"/>
              </a:rPr>
              <a:t>async</a:t>
            </a:r>
            <a:r>
              <a:rPr lang="en-US" sz="800" b="0">
                <a:solidFill>
                  <a:srgbClr val="000000"/>
                </a:solidFill>
                <a:latin typeface="Aptos Mono"/>
              </a:rPr>
              <a:t> </a:t>
            </a:r>
            <a:r>
              <a:rPr lang="en-US" sz="800" b="0">
                <a:solidFill>
                  <a:srgbClr val="AF00DB"/>
                </a:solidFill>
                <a:latin typeface="Aptos Mono"/>
              </a:rPr>
              <a:t>with</a:t>
            </a:r>
            <a:r>
              <a:rPr lang="en-US" sz="800" b="0">
                <a:solidFill>
                  <a:srgbClr val="000000"/>
                </a:solidFill>
                <a:latin typeface="Aptos Mono"/>
              </a:rPr>
              <a:t> </a:t>
            </a:r>
            <a:r>
              <a:rPr lang="en-US" sz="800" b="0">
                <a:solidFill>
                  <a:srgbClr val="267F99"/>
                </a:solidFill>
                <a:latin typeface="Aptos Mono"/>
              </a:rPr>
              <a:t>Client</a:t>
            </a:r>
            <a:r>
              <a:rPr lang="en-US" sz="800" b="0">
                <a:solidFill>
                  <a:srgbClr val="000000"/>
                </a:solidFill>
                <a:latin typeface="Aptos Mono"/>
              </a:rPr>
              <a:t>(</a:t>
            </a:r>
            <a:r>
              <a:rPr lang="en-US" sz="800" b="0">
                <a:solidFill>
                  <a:srgbClr val="001080"/>
                </a:solidFill>
                <a:latin typeface="Aptos Mono"/>
              </a:rPr>
              <a:t>SERVER</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t</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list_tools</a:t>
            </a:r>
            <a:r>
              <a:rPr lang="en-US" sz="800" b="0">
                <a:solidFill>
                  <a:srgbClr val="000000"/>
                </a:solidFill>
                <a:latin typeface="Aptos Mono"/>
              </a:rPr>
              <a:t>()).</a:t>
            </a:r>
            <a:r>
              <a:rPr lang="en-US" sz="800" b="0">
                <a:solidFill>
                  <a:srgbClr val="001080"/>
                </a:solidFill>
                <a:latin typeface="Aptos Mono"/>
              </a:rPr>
              <a:t>tools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"name"</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"dataflow"</a:t>
            </a:r>
            <a:r>
              <a:rPr lang="en-US" sz="800" b="0">
                <a:solidFill>
                  <a:srgbClr val="000000"/>
                </a:solidFill>
                <a:latin typeface="Aptos Mono"/>
              </a:rPr>
              <a:t>, </a:t>
            </a:r>
            <a:r>
              <a:rPr lang="en-US" sz="800" b="0">
                <a:solidFill>
                  <a:srgbClr val="001080"/>
                </a:solidFill>
                <a:latin typeface="Aptos Mono"/>
              </a:rPr>
              <a:t>CASE</a:t>
            </a:r>
            <a:r>
              <a:rPr lang="en-US" sz="800" b="0">
                <a:solidFill>
                  <a:srgbClr val="000000"/>
                </a:solidFill>
                <a:latin typeface="Aptos Mono"/>
              </a:rPr>
              <a:t>)).</a:t>
            </a:r>
            <a:r>
              <a:rPr lang="en-US" sz="800" b="0">
                <a:solidFill>
                  <a:srgbClr val="001080"/>
                </a:solidFill>
                <a:latin typeface="Aptos Mono"/>
              </a:rPr>
              <a:t>structured_content</a:t>
            </a:r>
            <a:r>
              <a:rPr lang="en-US" sz="800" b="0">
                <a:solidFill>
                  <a:srgbClr val="000000"/>
                </a:solidFill>
                <a:latin typeface="Aptos Mono"/>
              </a:rPr>
              <a:t>[</a:t>
            </a:r>
            <a:r>
              <a:rPr lang="en-US" sz="800" b="0">
                <a:solidFill>
                  <a:srgbClr val="A31515"/>
                </a:solidFill>
                <a:latin typeface="Aptos Mono"/>
              </a:rPr>
              <a:t>"result"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 =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"to_line"</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"var"</a:t>
            </a:r>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edges</a:t>
            </a:r>
            <a:r>
              <a:rPr lang="en-US" sz="800" b="0">
                <a:solidFill>
                  <a:srgbClr val="000000"/>
                </a:solidFill>
                <a:latin typeface="Aptos Mono"/>
              </a:rPr>
              <a:t> </a:t>
            </a:r>
            <a:r>
              <a:rPr lang="en-US" sz="800" b="0">
                <a:solidFill>
                  <a:srgbClr val="AF00DB"/>
                </a:solidFill>
                <a:latin typeface="Aptos Mono"/>
              </a:rPr>
              <a:t>if</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a:t>
            </a:r>
            <a:r>
              <a:rPr lang="en-US" sz="800" b="0">
                <a:solidFill>
                  <a:srgbClr val="A31515"/>
                </a:solidFill>
                <a:latin typeface="Aptos Mono"/>
              </a:rPr>
              <a:t>"from_line"</a:t>
            </a:r>
            <a:r>
              <a:rPr lang="en-US" sz="800" b="0">
                <a:solidFill>
                  <a:srgbClr val="000000"/>
                </a:solidFill>
                <a:latin typeface="Aptos Mono"/>
              </a:rPr>
              <a:t>] == </a:t>
            </a:r>
            <a:r>
              <a:rPr lang="en-US" sz="800" b="0">
                <a:solidFill>
                  <a:srgbClr val="098658"/>
                </a:solidFill>
                <a:latin typeface="Aptos Mono"/>
              </a:rPr>
              <a:t>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795E26"/>
                </a:solidFill>
                <a:latin typeface="Aptos Mono"/>
              </a:rPr>
              <a:t>len</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 </a:t>
            </a:r>
            <a:r>
              <a:rPr lang="en-US" sz="800" b="0">
                <a:solidFill>
                  <a:srgbClr val="A31515"/>
                </a:solidFill>
                <a:latin typeface="Aptos Mono"/>
              </a:rPr>
              <a:t>"edges; line 31 flows to"</a:t>
            </a:r>
            <a:r>
              <a:rPr lang="en-US" sz="800" b="0">
                <a:solidFill>
                  <a:srgbClr val="000000"/>
                </a:solidFill>
                <a:latin typeface="Aptos Mono"/>
              </a:rPr>
              <a:t>, </a:t>
            </a:r>
            <a:r>
              <a:rPr lang="en-US" sz="800" b="0">
                <a:solidFill>
                  <a:srgbClr val="001080"/>
                </a:solidFill>
                <a:latin typeface="Aptos Mono"/>
              </a:rPr>
              <a:t>from31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 = </a:t>
            </a:r>
            <a:r>
              <a:rPr lang="en-US" sz="800" b="0">
                <a:solidFill>
                  <a:srgbClr val="AF00DB"/>
                </a:solidFill>
                <a:latin typeface="Aptos Mono"/>
              </a:rPr>
              <a:t>await</a:t>
            </a:r>
            <a:r>
              <a:rPr lang="en-US" sz="800" b="0">
                <a:solidFill>
                  <a:srgbClr val="000000"/>
                </a:solidFill>
                <a:latin typeface="Aptos Mono"/>
              </a:rPr>
              <a:t> </a:t>
            </a:r>
            <a:r>
              <a:rPr lang="en-US" sz="800" b="0">
                <a:solidFill>
                  <a:srgbClr val="001080"/>
                </a:solidFill>
                <a:latin typeface="Aptos Mono"/>
              </a:rPr>
              <a:t>c</a:t>
            </a:r>
            <a:r>
              <a:rPr lang="en-US" sz="800" b="0">
                <a:solidFill>
                  <a:srgbClr val="000000"/>
                </a:solidFill>
                <a:latin typeface="Aptos Mono"/>
              </a:rPr>
              <a:t>.</a:t>
            </a:r>
            <a:r>
              <a:rPr lang="en-US" sz="800" b="0">
                <a:solidFill>
                  <a:srgbClr val="795E26"/>
                </a:solidFill>
                <a:latin typeface="Aptos Mono"/>
              </a:rPr>
              <a:t>call_tool</a:t>
            </a:r>
            <a:r>
              <a:rPr lang="en-US" sz="800" b="0">
                <a:solidFill>
                  <a:srgbClr val="000000"/>
                </a:solidFill>
                <a:latin typeface="Aptos Mono"/>
              </a:rPr>
              <a:t>(</a:t>
            </a:r>
            <a:r>
              <a:rPr lang="en-US" sz="800" b="0">
                <a:solidFill>
                  <a:srgbClr val="A31515"/>
                </a:solidFill>
                <a:latin typeface="Aptos Mono"/>
              </a:rPr>
              <a:t>"locate"</a:t>
            </a:r>
            <a:r>
              <a:rPr lang="en-US" sz="800" b="0">
                <a:solidFill>
                  <a:srgbClr val="000000"/>
                </a:solidFill>
                <a:latin typeface="Aptos Mono"/>
              </a:rPr>
              <a:t>, {</a:t>
            </a:r>
            <a:r>
              <a:rPr lang="en-US" sz="800" b="0">
                <a:solidFill>
                  <a:srgbClr val="A31515"/>
                </a:solidFill>
                <a:latin typeface="Aptos Mono"/>
              </a:rPr>
              <a:t>"path"</a:t>
            </a:r>
            <a:r>
              <a:rPr lang="en-US" sz="800" b="0">
                <a:solidFill>
                  <a:srgbClr val="000000"/>
                </a:solidFill>
                <a:latin typeface="Aptos Mono"/>
              </a:rPr>
              <a:t>: </a:t>
            </a:r>
            <a:r>
              <a:rPr lang="en-US" sz="800" b="0">
                <a:solidFill>
                  <a:srgbClr val="A31515"/>
                </a:solidFill>
                <a:latin typeface="Aptos Mono"/>
              </a:rPr>
              <a:t>"../expectedresults-0.1.csv"</a:t>
            </a:r>
            <a:r>
              <a:rPr lang="en-US" sz="800" b="0">
                <a:solidFill>
                  <a:srgbClr val="000000"/>
                </a:solidFill>
                <a:latin typeface="Aptos Mono"/>
              </a:rPr>
              <a:t>, </a:t>
            </a:r>
            <a:r>
              <a:rPr lang="en-US" sz="800" b="0">
                <a:solidFill>
                  <a:srgbClr val="A31515"/>
                </a:solidFill>
                <a:latin typeface="Aptos Mono"/>
              </a:rPr>
              <a:t>"line"</a:t>
            </a:r>
            <a:r>
              <a:rPr lang="en-US" sz="800" b="0">
                <a:solidFill>
                  <a:srgbClr val="000000"/>
                </a:solidFill>
                <a:latin typeface="Aptos Mono"/>
              </a:rPr>
              <a:t>: </a:t>
            </a:r>
            <a:r>
              <a:rPr lang="en-US" sz="800" b="0">
                <a:solidFill>
                  <a:srgbClr val="098658"/>
                </a:solidFill>
                <a:latin typeface="Aptos Mono"/>
              </a:rPr>
              <a:t>1</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is_error</a:t>
            </a:r>
            <a:r>
              <a:rPr lang="en-US" sz="800" b="0">
                <a:solidFill>
                  <a:srgbClr val="000000"/>
                </a:solidFill>
                <a:latin typeface="Aptos Mono"/>
              </a:rPr>
              <a:t>, </a:t>
            </a:r>
            <a:r>
              <a:rPr lang="en-US" sz="800" b="0">
                <a:solidFill>
                  <a:srgbClr val="001080"/>
                </a:solidFill>
                <a:latin typeface="Aptos Mono"/>
              </a:rPr>
              <a:t>bad</a:t>
            </a:r>
            <a:r>
              <a:rPr lang="en-US" sz="800" b="0">
                <a:solidFill>
                  <a:srgbClr val="000000"/>
                </a:solidFill>
                <a:latin typeface="Aptos Mono"/>
              </a:rPr>
              <a:t>.</a:t>
            </a:r>
            <a:r>
              <a:rPr lang="en-US" sz="800" b="0">
                <a:solidFill>
                  <a:srgbClr val="001080"/>
                </a:solidFill>
                <a:latin typeface="Aptos Mono"/>
              </a:rPr>
              <a:t>content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r>
              <a:rPr lang="en-US" sz="800" b="0">
                <a:solidFill>
                  <a:srgbClr val="001080"/>
                </a:solidFill>
                <a:latin typeface="Aptos Mono"/>
              </a:rPr>
              <a:t>text</a:t>
            </a:r>
            <a:r>
              <a:rPr lang="en-US" sz="800" b="0">
                <a:solidFill>
                  <a:srgbClr val="000000"/>
                </a:solidFill>
                <a:latin typeface="Aptos Mono"/>
              </a:rPr>
              <a:t>)</a:t>
            </a:r>
            <a:endParaRPr/>
          </a:p>
          <a:p>
            <a:r>
              <a:rPr lang="en-US" sz="800" b="0">
                <a:solidFill>
                  <a:srgbClr val="001080"/>
                </a:solidFill>
                <a:latin typeface="Aptos Mono"/>
              </a:rPr>
              <a:t>asyncio</a:t>
            </a:r>
            <a:r>
              <a:rPr lang="en-US" sz="800" b="0">
                <a:solidFill>
                  <a:srgbClr val="000000"/>
                </a:solidFill>
                <a:latin typeface="Aptos Mono"/>
              </a:rPr>
              <a:t>.</a:t>
            </a:r>
            <a:r>
              <a:rPr lang="en-US" sz="800" b="0">
                <a:solidFill>
                  <a:srgbClr val="795E26"/>
                </a:solidFill>
                <a:latin typeface="Aptos Mono"/>
              </a:rPr>
              <a:t>run</a:t>
            </a:r>
            <a:r>
              <a:rPr lang="en-US" sz="800" b="0">
                <a:solidFill>
                  <a:srgbClr val="000000"/>
                </a:solidFill>
                <a:latin typeface="Aptos Mono"/>
              </a:rPr>
              <a:t>(</a:t>
            </a:r>
            <a:r>
              <a:rPr lang="en-US" sz="800" b="0">
                <a:solidFill>
                  <a:srgbClr val="795E26"/>
                </a:solidFill>
                <a:latin typeface="Aptos Mono"/>
              </a:rPr>
              <a:t>main</a:t>
            </a:r>
            <a:r>
              <a:rPr lang="en-US" sz="8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code-action agent acts in one process.</a:t>
            </a:r>
            <a:endParaRPr/>
          </a:p>
        </p:txBody>
      </p:sp>
      <p:sp>
        <p:nvSpPr>
          <p:cNvPr id="3" name="Content Placeholder 2"/>
          <p:cNvSpPr>
            <a:spLocks noGrp="1"/>
          </p:cNvSpPr>
          <p:nvPr>
            <p:ph idx="1"/>
          </p:nvPr>
        </p:nvSpPr>
        <p:spPr bwMode="auto">
          <a:xfrm>
            <a:off x="320040" y="658368"/>
            <a:ext cx="6016752" cy="11673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code-action agent's action</a:t>
            </a:r>
            <a:r>
              <a:rPr lang="en-US" sz="1200" b="0">
                <a:solidFill>
                  <a:srgbClr val="000000"/>
                </a:solidFill>
              </a:rPr>
              <a:t> is a Python script, run by lecture 4's kernel with the analysis object in scope. The observation is what it printed.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agent's action</a:t>
            </a:r>
            <a:r>
              <a:rPr lang="en-US" sz="1200" b="0">
                <a:solidFill>
                  <a:srgbClr val="000000"/>
                </a:solidFill>
              </a:rPr>
              <a:t> is a tool call, sent to the server as </a:t>
            </a:r>
            <a:r>
              <a:rPr lang="en-US" sz="1200" b="0">
                <a:solidFill>
                  <a:srgbClr val="000000"/>
                </a:solidFill>
                <a:latin typeface="Aptos Mono"/>
              </a:rPr>
              <a:t>tools/call</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tool call</a:t>
            </a:r>
            <a:r>
              <a:rPr lang="en-US" sz="1200" b="0">
                <a:solidFill>
                  <a:srgbClr val="000000"/>
                </a:solidFill>
              </a:rPr>
              <a:t> passes the dispatcher and the server, so each can check it.</a:t>
            </a:r>
            <a:endParaRPr/>
          </a:p>
        </p:txBody>
      </p:sp>
      <p:sp>
        <p:nvSpPr>
          <p:cNvPr id="4" name="Rectangle 4"/>
          <p:cNvSpPr/>
          <p:nvPr/>
        </p:nvSpPr>
        <p:spPr bwMode="auto">
          <a:xfrm>
            <a:off x="320040" y="432571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tool call can be checked on its own, and a script runs as one action.</a:t>
            </a:r>
            <a:endParaRPr/>
          </a:p>
        </p:txBody>
      </p:sp>
      <p:pic>
        <p:nvPicPr>
          <p:cNvPr id="5" name="Picture 1260919718" descr="two-agents-3.png"/>
          <p:cNvPicPr>
            <a:picLocks noChangeAspect="1"/>
          </p:cNvPicPr>
          <p:nvPr/>
        </p:nvPicPr>
        <p:blipFill>
          <a:blip r:embed="rId5"/>
          <a:stretch>
            <a:fillRect/>
          </a:stretch>
        </p:blipFill>
        <p:spPr>
          <a:xfrm>
            <a:off x="320040" y="19355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code-action agent acts in one process.</a:t>
            </a:r>
            <a:endParaRPr/>
          </a:p>
        </p:txBody>
      </p:sp>
      <p:sp>
        <p:nvSpPr>
          <p:cNvPr id="3" name="Content Placeholder 2"/>
          <p:cNvSpPr>
            <a:spLocks noGrp="1"/>
          </p:cNvSpPr>
          <p:nvPr>
            <p:ph idx="1"/>
          </p:nvPr>
        </p:nvSpPr>
        <p:spPr bwMode="auto">
          <a:xfrm>
            <a:off x="320040" y="658368"/>
            <a:ext cx="6016752" cy="11673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code-action agent's action</a:t>
            </a:r>
            <a:r>
              <a:rPr lang="en-US" sz="1200" b="0">
                <a:solidFill>
                  <a:srgbClr val="000000"/>
                </a:solidFill>
              </a:rPr>
              <a:t> is a Python script, run by lecture 4's kernel with the analysis object in scope. The observation is what it printed.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MCP agent's action</a:t>
            </a:r>
            <a:r>
              <a:rPr lang="en-US" sz="1200" b="0">
                <a:solidFill>
                  <a:srgbClr val="FFFFFF">
                    <a:alpha val="0"/>
                  </a:srgbClr>
                </a:solidFill>
              </a:rPr>
              <a:t> is a tool call, sent to the server as </a:t>
            </a:r>
            <a:r>
              <a:rPr lang="en-US" sz="1200" b="0">
                <a:solidFill>
                  <a:srgbClr val="FFFFFF">
                    <a:alpha val="0"/>
                  </a:srgbClr>
                </a:solidFill>
                <a:latin typeface="Aptos Mono"/>
              </a:rPr>
              <a:t>tools/call</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tool call</a:t>
            </a:r>
            <a:r>
              <a:rPr lang="en-US" sz="1200" b="0">
                <a:solidFill>
                  <a:srgbClr val="FFFFFF">
                    <a:alpha val="0"/>
                  </a:srgbClr>
                </a:solidFill>
              </a:rPr>
              <a:t> passes the dispatcher and the server, so each can check it.</a:t>
            </a:r>
            <a:endParaRPr>
              <a:solidFill>
                <a:srgbClr val="FFFFFF">
                  <a:alpha val="0"/>
                </a:srgbClr>
              </a:solidFill>
            </a:endParaRPr>
          </a:p>
        </p:txBody>
      </p:sp>
      <p:pic>
        <p:nvPicPr>
          <p:cNvPr id="4" name="Picture 1260919718" descr="two-agents-1.png"/>
          <p:cNvPicPr>
            <a:picLocks noChangeAspect="1"/>
          </p:cNvPicPr>
          <p:nvPr/>
        </p:nvPicPr>
        <p:blipFill>
          <a:blip r:embed="rId3"/>
          <a:stretch>
            <a:fillRect/>
          </a:stretch>
        </p:blipFill>
        <p:spPr>
          <a:xfrm>
            <a:off x="320040" y="19355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code-action agent acts in one process.</a:t>
            </a:r>
            <a:endParaRPr/>
          </a:p>
        </p:txBody>
      </p:sp>
      <p:sp>
        <p:nvSpPr>
          <p:cNvPr id="3" name="Content Placeholder 2"/>
          <p:cNvSpPr>
            <a:spLocks noGrp="1"/>
          </p:cNvSpPr>
          <p:nvPr>
            <p:ph idx="1"/>
          </p:nvPr>
        </p:nvSpPr>
        <p:spPr bwMode="auto">
          <a:xfrm>
            <a:off x="320040" y="658368"/>
            <a:ext cx="6016752" cy="11673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code-action agent's action</a:t>
            </a:r>
            <a:r>
              <a:rPr lang="en-US" sz="1200" b="0">
                <a:solidFill>
                  <a:srgbClr val="000000"/>
                </a:solidFill>
              </a:rPr>
              <a:t> is a Python script, run by lecture 4's kernel with the analysis object in scope. The observation is what it printed.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agent's action</a:t>
            </a:r>
            <a:r>
              <a:rPr lang="en-US" sz="1200" b="0">
                <a:solidFill>
                  <a:srgbClr val="000000"/>
                </a:solidFill>
              </a:rPr>
              <a:t> is a tool call, sent to the server as </a:t>
            </a:r>
            <a:r>
              <a:rPr lang="en-US" sz="1200" b="0">
                <a:solidFill>
                  <a:srgbClr val="000000"/>
                </a:solidFill>
                <a:latin typeface="Aptos Mono"/>
              </a:rPr>
              <a:t>tools/call</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tool call</a:t>
            </a:r>
            <a:r>
              <a:rPr lang="en-US" sz="1200" b="0">
                <a:solidFill>
                  <a:srgbClr val="FFFFFF">
                    <a:alpha val="0"/>
                  </a:srgbClr>
                </a:solidFill>
              </a:rPr>
              <a:t> passes the dispatcher and the server, so each can check it.</a:t>
            </a:r>
            <a:endParaRPr>
              <a:solidFill>
                <a:srgbClr val="FFFFFF">
                  <a:alpha val="0"/>
                </a:srgbClr>
              </a:solidFill>
            </a:endParaRPr>
          </a:p>
        </p:txBody>
      </p:sp>
      <p:pic>
        <p:nvPicPr>
          <p:cNvPr id="4" name="Picture 1260919718" descr="two-agents-2.png"/>
          <p:cNvPicPr>
            <a:picLocks noChangeAspect="1"/>
          </p:cNvPicPr>
          <p:nvPr/>
        </p:nvPicPr>
        <p:blipFill>
          <a:blip r:embed="rId4"/>
          <a:stretch>
            <a:fillRect/>
          </a:stretch>
        </p:blipFill>
        <p:spPr>
          <a:xfrm>
            <a:off x="320040" y="19355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code-action agent acts in one process.</a:t>
            </a:r>
            <a:endParaRPr/>
          </a:p>
        </p:txBody>
      </p:sp>
      <p:sp>
        <p:nvSpPr>
          <p:cNvPr id="3" name="Content Placeholder 2"/>
          <p:cNvSpPr>
            <a:spLocks noGrp="1"/>
          </p:cNvSpPr>
          <p:nvPr>
            <p:ph idx="1"/>
          </p:nvPr>
        </p:nvSpPr>
        <p:spPr bwMode="auto">
          <a:xfrm>
            <a:off x="320040" y="658368"/>
            <a:ext cx="6016752" cy="11673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code-action agent's action</a:t>
            </a:r>
            <a:r>
              <a:rPr lang="en-US" sz="1200" b="0">
                <a:solidFill>
                  <a:srgbClr val="000000"/>
                </a:solidFill>
              </a:rPr>
              <a:t> is a Python script, run by lecture 4's kernel with the analysis object in scope. The observation is what it printed.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agent's action</a:t>
            </a:r>
            <a:r>
              <a:rPr lang="en-US" sz="1200" b="0">
                <a:solidFill>
                  <a:srgbClr val="000000"/>
                </a:solidFill>
              </a:rPr>
              <a:t> is a tool call, sent to the server as </a:t>
            </a:r>
            <a:r>
              <a:rPr lang="en-US" sz="1200" b="0">
                <a:solidFill>
                  <a:srgbClr val="000000"/>
                </a:solidFill>
                <a:latin typeface="Aptos Mono"/>
              </a:rPr>
              <a:t>tools/call</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tool call</a:t>
            </a:r>
            <a:r>
              <a:rPr lang="en-US" sz="1200" b="0">
                <a:solidFill>
                  <a:srgbClr val="000000"/>
                </a:solidFill>
              </a:rPr>
              <a:t> passes the dispatcher and the server, so each can check it.</a:t>
            </a:r>
            <a:endParaRPr/>
          </a:p>
        </p:txBody>
      </p:sp>
      <p:pic>
        <p:nvPicPr>
          <p:cNvPr id="4" name="Picture 1260919718" descr="two-agents-3.png"/>
          <p:cNvPicPr>
            <a:picLocks noChangeAspect="1"/>
          </p:cNvPicPr>
          <p:nvPr/>
        </p:nvPicPr>
        <p:blipFill>
          <a:blip r:embed="rId4"/>
          <a:stretch>
            <a:fillRect/>
          </a:stretch>
        </p:blipFill>
        <p:spPr>
          <a:xfrm>
            <a:off x="320040" y="193554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script asks the same dataflow question.</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 dispatcher</a:t>
            </a:r>
            <a:r>
              <a:rPr lang="en-US" sz="1200" b="0">
                <a:solidFill>
                  <a:srgbClr val="000000"/>
                </a:solidFill>
              </a:rPr>
              <a:t> sees the calls inside one script.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a:t>
            </a:r>
            <a:r>
              <a:rPr lang="en-US" sz="1200" b="0">
                <a:solidFill>
                  <a:srgbClr val="000000"/>
                </a:solidFill>
              </a:rPr>
              <a:t> is the only fence, as lecture 4 found (slide 154).</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write and network rules</a:t>
            </a:r>
            <a:r>
              <a:rPr lang="en-US" sz="1200" b="0">
                <a:solidFill>
                  <a:srgbClr val="000000"/>
                </a:solidFill>
              </a:rPr>
              <a:t> apply to both agents.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Nothing checks a script's calls, so both agents run in OpenShell.</a:t>
            </a:r>
            <a:endParaRPr/>
          </a:p>
        </p:txBody>
      </p:sp>
      <p:sp>
        <p:nvSpPr>
          <p:cNvPr id="5" name="CodeWindow"/>
          <p:cNvSpPr/>
          <p:nvPr/>
        </p:nvSpPr>
        <p:spPr bwMode="auto">
          <a:xfrm>
            <a:off x="320040" y="1765404"/>
            <a:ext cx="6016752" cy="165972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30580"/>
            <a:ext cx="6016752" cy="0"/>
          </a:xfrm>
          <a:prstGeom prst="line">
            <a:avLst/>
          </a:prstGeom>
          <a:ln w="9525">
            <a:solidFill>
              <a:srgbClr val="DCDCDC"/>
            </a:solidFill>
          </a:ln>
        </p:spPr>
      </p:cxnSp>
      <p:sp>
        <p:nvSpPr>
          <p:cNvPr id="7"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the model's script, run by lecture 4's kernel with namespace {"an": an}</a:t>
            </a:r>
            <a:endParaRPr/>
          </a:p>
        </p:txBody>
      </p:sp>
      <p:sp>
        <p:nvSpPr>
          <p:cNvPr id="11" name="TextBox 7"/>
          <p:cNvSpPr txBox="1"/>
          <p:nvPr/>
        </p:nvSpPr>
        <p:spPr bwMode="auto">
          <a:xfrm>
            <a:off x="466344" y="2094588"/>
            <a:ext cx="5724144" cy="1260536"/>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networkx</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nx</a:t>
            </a:r>
            <a:endParaRPr/>
          </a:p>
          <a:p>
            <a:r>
              <a:rPr lang="en-US" sz="800" b="0">
                <a:solidFill>
                  <a:srgbClr val="001080"/>
                </a:solidFill>
                <a:latin typeface="Aptos Mono"/>
              </a:rPr>
              <a:t>line</a:t>
            </a:r>
            <a:r>
              <a:rPr lang="en-US" sz="800" b="0">
                <a:solidFill>
                  <a:srgbClr val="000000"/>
                </a:solidFill>
                <a:latin typeface="Aptos Mono"/>
              </a:rPr>
              <a:t> = </a:t>
            </a:r>
            <a:r>
              <a:rPr lang="en-US" sz="800" b="0">
                <a:solidFill>
                  <a:srgbClr val="0000FF"/>
                </a:solidFill>
                <a:latin typeface="Aptos Mono"/>
              </a:rPr>
              <a:t>lambda</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1080"/>
                </a:solidFill>
                <a:latin typeface="Aptos Mono"/>
              </a:rPr>
              <a:t>CASES</a:t>
            </a:r>
            <a:r>
              <a:rPr lang="en-US" sz="800" b="0">
                <a:solidFill>
                  <a:srgbClr val="000000"/>
                </a:solidFill>
                <a:latin typeface="Aptos Mono"/>
              </a:rPr>
              <a:t> =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"31"</a:t>
            </a:r>
            <a:r>
              <a:rPr lang="en-US" sz="800" b="0">
                <a:solidFill>
                  <a:srgbClr val="000000"/>
                </a:solidFill>
                <a:latin typeface="Aptos Mono"/>
              </a:rPr>
              <a:t>, </a:t>
            </a:r>
            <a:r>
              <a:rPr lang="en-US" sz="800" b="0">
                <a:solidFill>
                  <a:srgbClr val="A31515"/>
                </a:solidFill>
                <a:latin typeface="Aptos Mono"/>
              </a:rPr>
              <a:t>"46"</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"testcode/BenchmarkTest00011.py"</a:t>
            </a:r>
            <a:r>
              <a:rPr lang="en-US" sz="800" b="0">
                <a:solidFill>
                  <a:srgbClr val="000000"/>
                </a:solidFill>
                <a:latin typeface="Aptos Mono"/>
              </a:rPr>
              <a:t>, </a:t>
            </a:r>
            <a:r>
              <a:rPr lang="en-US" sz="800" b="0">
                <a:solidFill>
                  <a:srgbClr val="A31515"/>
                </a:solidFill>
                <a:latin typeface="Aptos Mono"/>
              </a:rPr>
              <a:t>"39"</a:t>
            </a:r>
            <a:r>
              <a:rPr lang="en-US" sz="800" b="0">
                <a:solidFill>
                  <a:srgbClr val="000000"/>
                </a:solidFill>
                <a:latin typeface="Aptos Mono"/>
              </a:rPr>
              <a:t>, </a:t>
            </a:r>
            <a:r>
              <a:rPr lang="en-US" sz="800" b="0">
                <a:solidFill>
                  <a:srgbClr val="A31515"/>
                </a:solidFill>
                <a:latin typeface="Aptos Mono"/>
              </a:rPr>
              <a:t>"47"</a:t>
            </a:r>
            <a:r>
              <a:rPr lang="en-US" sz="800" b="0">
                <a:solidFill>
                  <a:srgbClr val="000000"/>
                </a:solidFill>
                <a:latin typeface="Aptos Mono"/>
              </a:rPr>
              <a:t>)]</a:t>
            </a:r>
            <a:endParaRPr/>
          </a:p>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CASES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 </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a:t>
            </a:r>
            <a:endParaRPr/>
          </a:p>
        </p:txBody>
      </p:sp>
      <p:sp>
        <p:nvSpPr>
          <p:cNvPr id="12" name="CodeWindow out"/>
          <p:cNvSpPr/>
          <p:nvPr/>
        </p:nvSpPr>
        <p:spPr bwMode="auto">
          <a:xfrm>
            <a:off x="320040" y="3489124"/>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3" name="WinBar out"/>
          <p:cNvCxnSpPr/>
          <p:nvPr/>
        </p:nvCxnSpPr>
        <p:spPr bwMode="auto">
          <a:xfrm>
            <a:off x="320040" y="3754300"/>
            <a:ext cx="6016752" cy="0"/>
          </a:xfrm>
          <a:prstGeom prst="line">
            <a:avLst/>
          </a:prstGeom>
          <a:ln w="9525">
            <a:solidFill>
              <a:srgbClr val="DCDCDC"/>
            </a:solidFill>
          </a:ln>
        </p:spPr>
      </p:cxnSp>
      <p:sp>
        <p:nvSpPr>
          <p:cNvPr id="14" name="WinDot 0 out"/>
          <p:cNvSpPr/>
          <p:nvPr/>
        </p:nvSpPr>
        <p:spPr bwMode="auto">
          <a:xfrm>
            <a:off x="411480" y="357142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1 out"/>
          <p:cNvSpPr/>
          <p:nvPr/>
        </p:nvSpPr>
        <p:spPr bwMode="auto">
          <a:xfrm>
            <a:off x="548640" y="357142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WinDot 2 out"/>
          <p:cNvSpPr/>
          <p:nvPr/>
        </p:nvSpPr>
        <p:spPr bwMode="auto">
          <a:xfrm>
            <a:off x="685800" y="357142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 name="TextBox 8 out"/>
          <p:cNvSpPr txBox="1"/>
          <p:nvPr/>
        </p:nvSpPr>
        <p:spPr bwMode="auto">
          <a:xfrm>
            <a:off x="896112" y="3530272"/>
            <a:ext cx="5349240" cy="182880"/>
          </a:xfrm>
          <a:prstGeom prst="rect">
            <a:avLst/>
          </a:prstGeom>
          <a:noFill/>
        </p:spPr>
        <p:txBody>
          <a:bodyPr wrap="square" lIns="0" tIns="0" rIns="0" bIns="0" anchor="ctr">
            <a:noAutofit/>
          </a:bodyPr>
          <a:lstStyle/>
          <a:p>
            <a:pPr algn="l">
              <a:defRPr/>
            </a:pPr>
            <a:r>
              <a:rPr sz="850" b="0">
                <a:solidFill>
                  <a:srgbClr val="5B6673"/>
                </a:solidFill>
              </a:rPr>
              <a:t>observation: what the script printed</a:t>
            </a:r>
            <a:endParaRPr/>
          </a:p>
        </p:txBody>
      </p:sp>
      <p:sp>
        <p:nvSpPr>
          <p:cNvPr id="18" name="TextBox 7 out"/>
          <p:cNvSpPr txBox="1"/>
          <p:nvPr/>
        </p:nvSpPr>
        <p:spPr bwMode="auto">
          <a:xfrm>
            <a:off x="466344" y="3818308"/>
            <a:ext cx="5724144" cy="268107"/>
          </a:xfrm>
          <a:prstGeom prst="rect">
            <a:avLst/>
          </a:prstGeom>
          <a:noFill/>
        </p:spPr>
        <p:txBody>
          <a:bodyPr wrap="none" lIns="0" tIns="0" rIns="0" bIns="0">
            <a:spAutoFit/>
          </a:bodyPr>
          <a:lstStyle/>
          <a:p>
            <a:r>
              <a:rPr lang="en-US" sz="800" b="0">
                <a:solidFill>
                  <a:srgbClr val="000000"/>
                </a:solidFill>
                <a:latin typeface="Aptos Mono"/>
              </a:rPr>
              <a:t>BenchmarkTest00099_post ['31', '41', '42', '46']</a:t>
            </a:r>
            <a:endParaRPr/>
          </a:p>
          <a:p>
            <a:r>
              <a:rPr lang="en-US" sz="800" b="0">
                <a:solidFill>
                  <a:srgbClr val="000000"/>
                </a:solidFill>
                <a:latin typeface="Aptos Mono"/>
              </a:rPr>
              <a:t>BenchmarkTest00011_post False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script asks the same dataflow question.</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 dispatcher</a:t>
            </a:r>
            <a:r>
              <a:rPr lang="en-US" sz="1200" b="0">
                <a:solidFill>
                  <a:srgbClr val="000000"/>
                </a:solidFill>
              </a:rPr>
              <a:t> sees the calls inside one script.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a:t>
            </a:r>
            <a:r>
              <a:rPr lang="en-US" sz="1200" b="0">
                <a:solidFill>
                  <a:srgbClr val="FFFFFF">
                    <a:alpha val="0"/>
                  </a:srgbClr>
                </a:solidFill>
              </a:rPr>
              <a:t> is the only fence, as lecture 4 found (slide 154).</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read, write and network rules</a:t>
            </a:r>
            <a:r>
              <a:rPr lang="en-US" sz="1200" b="0">
                <a:solidFill>
                  <a:srgbClr val="FFFFFF">
                    <a:alpha val="0"/>
                  </a:srgbClr>
                </a:solidFill>
              </a:rPr>
              <a:t> apply to both agents.</a:t>
            </a:r>
            <a:endParaRPr>
              <a:solidFill>
                <a:srgbClr val="FFFFFF">
                  <a:alpha val="0"/>
                </a:srgbClr>
              </a:solidFill>
            </a:endParaRPr>
          </a:p>
        </p:txBody>
      </p:sp>
      <p:sp>
        <p:nvSpPr>
          <p:cNvPr id="4" name="CodeWindow"/>
          <p:cNvSpPr/>
          <p:nvPr/>
        </p:nvSpPr>
        <p:spPr bwMode="auto">
          <a:xfrm>
            <a:off x="320040" y="1765404"/>
            <a:ext cx="6016752" cy="165972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the model's script, run by lecture 4's kernel with namespace {"an": an}</a:t>
            </a:r>
            <a:endParaRPr/>
          </a:p>
        </p:txBody>
      </p:sp>
      <p:sp>
        <p:nvSpPr>
          <p:cNvPr id="10" name="TextBox 7"/>
          <p:cNvSpPr txBox="1"/>
          <p:nvPr/>
        </p:nvSpPr>
        <p:spPr bwMode="auto">
          <a:xfrm>
            <a:off x="466344" y="2094588"/>
            <a:ext cx="5724144" cy="1260536"/>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networkx</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nx</a:t>
            </a:r>
            <a:endParaRPr/>
          </a:p>
          <a:p>
            <a:r>
              <a:rPr lang="en-US" sz="800" b="0">
                <a:solidFill>
                  <a:srgbClr val="001080"/>
                </a:solidFill>
                <a:latin typeface="Aptos Mono"/>
              </a:rPr>
              <a:t>line</a:t>
            </a:r>
            <a:r>
              <a:rPr lang="en-US" sz="800" b="0">
                <a:solidFill>
                  <a:srgbClr val="000000"/>
                </a:solidFill>
                <a:latin typeface="Aptos Mono"/>
              </a:rPr>
              <a:t> = </a:t>
            </a:r>
            <a:r>
              <a:rPr lang="en-US" sz="800" b="0">
                <a:solidFill>
                  <a:srgbClr val="0000FF"/>
                </a:solidFill>
                <a:latin typeface="Aptos Mono"/>
              </a:rPr>
              <a:t>lambda</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1080"/>
                </a:solidFill>
                <a:latin typeface="Aptos Mono"/>
              </a:rPr>
              <a:t>CASES</a:t>
            </a:r>
            <a:r>
              <a:rPr lang="en-US" sz="800" b="0">
                <a:solidFill>
                  <a:srgbClr val="000000"/>
                </a:solidFill>
                <a:latin typeface="Aptos Mono"/>
              </a:rPr>
              <a:t> =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"31"</a:t>
            </a:r>
            <a:r>
              <a:rPr lang="en-US" sz="800" b="0">
                <a:solidFill>
                  <a:srgbClr val="000000"/>
                </a:solidFill>
                <a:latin typeface="Aptos Mono"/>
              </a:rPr>
              <a:t>, </a:t>
            </a:r>
            <a:r>
              <a:rPr lang="en-US" sz="800" b="0">
                <a:solidFill>
                  <a:srgbClr val="A31515"/>
                </a:solidFill>
                <a:latin typeface="Aptos Mono"/>
              </a:rPr>
              <a:t>"46"</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"testcode/BenchmarkTest00011.py"</a:t>
            </a:r>
            <a:r>
              <a:rPr lang="en-US" sz="800" b="0">
                <a:solidFill>
                  <a:srgbClr val="000000"/>
                </a:solidFill>
                <a:latin typeface="Aptos Mono"/>
              </a:rPr>
              <a:t>, </a:t>
            </a:r>
            <a:r>
              <a:rPr lang="en-US" sz="800" b="0">
                <a:solidFill>
                  <a:srgbClr val="A31515"/>
                </a:solidFill>
                <a:latin typeface="Aptos Mono"/>
              </a:rPr>
              <a:t>"39"</a:t>
            </a:r>
            <a:r>
              <a:rPr lang="en-US" sz="800" b="0">
                <a:solidFill>
                  <a:srgbClr val="000000"/>
                </a:solidFill>
                <a:latin typeface="Aptos Mono"/>
              </a:rPr>
              <a:t>, </a:t>
            </a:r>
            <a:r>
              <a:rPr lang="en-US" sz="800" b="0">
                <a:solidFill>
                  <a:srgbClr val="A31515"/>
                </a:solidFill>
                <a:latin typeface="Aptos Mono"/>
              </a:rPr>
              <a:t>"47"</a:t>
            </a:r>
            <a:r>
              <a:rPr lang="en-US" sz="800" b="0">
                <a:solidFill>
                  <a:srgbClr val="000000"/>
                </a:solidFill>
                <a:latin typeface="Aptos Mono"/>
              </a:rPr>
              <a:t>)]</a:t>
            </a:r>
            <a:endParaRPr/>
          </a:p>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CASES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 </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a:t>
            </a:r>
            <a:endParaRPr/>
          </a:p>
        </p:txBody>
      </p:sp>
      <p:sp>
        <p:nvSpPr>
          <p:cNvPr id="11" name="CodeWindow out"/>
          <p:cNvSpPr/>
          <p:nvPr/>
        </p:nvSpPr>
        <p:spPr bwMode="auto">
          <a:xfrm>
            <a:off x="320040" y="3489124"/>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754300"/>
            <a:ext cx="6016752" cy="0"/>
          </a:xfrm>
          <a:prstGeom prst="line">
            <a:avLst/>
          </a:prstGeom>
          <a:ln w="9525">
            <a:solidFill>
              <a:srgbClr val="DCDCDC"/>
            </a:solidFill>
          </a:ln>
        </p:spPr>
      </p:cxnSp>
      <p:sp>
        <p:nvSpPr>
          <p:cNvPr id="13" name="WinDot 0 out"/>
          <p:cNvSpPr/>
          <p:nvPr/>
        </p:nvSpPr>
        <p:spPr bwMode="auto">
          <a:xfrm>
            <a:off x="411480" y="357142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57142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57142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530272"/>
            <a:ext cx="5349240" cy="182880"/>
          </a:xfrm>
          <a:prstGeom prst="rect">
            <a:avLst/>
          </a:prstGeom>
          <a:noFill/>
        </p:spPr>
        <p:txBody>
          <a:bodyPr wrap="square" lIns="0" tIns="0" rIns="0" bIns="0" anchor="ctr">
            <a:noAutofit/>
          </a:bodyPr>
          <a:lstStyle/>
          <a:p>
            <a:pPr algn="l">
              <a:defRPr/>
            </a:pPr>
            <a:r>
              <a:rPr sz="850" b="0">
                <a:solidFill>
                  <a:srgbClr val="5B6673"/>
                </a:solidFill>
              </a:rPr>
              <a:t>observation: what the script printed</a:t>
            </a:r>
            <a:endParaRPr/>
          </a:p>
        </p:txBody>
      </p:sp>
      <p:sp>
        <p:nvSpPr>
          <p:cNvPr id="17" name="TextBox 7 out"/>
          <p:cNvSpPr txBox="1"/>
          <p:nvPr/>
        </p:nvSpPr>
        <p:spPr bwMode="auto">
          <a:xfrm>
            <a:off x="466344" y="3818308"/>
            <a:ext cx="5724144" cy="268107"/>
          </a:xfrm>
          <a:prstGeom prst="rect">
            <a:avLst/>
          </a:prstGeom>
          <a:noFill/>
        </p:spPr>
        <p:txBody>
          <a:bodyPr wrap="none" lIns="0" tIns="0" rIns="0" bIns="0">
            <a:spAutoFit/>
          </a:bodyPr>
          <a:lstStyle/>
          <a:p>
            <a:r>
              <a:rPr lang="en-US" sz="800" b="0">
                <a:solidFill>
                  <a:srgbClr val="000000"/>
                </a:solidFill>
                <a:latin typeface="Aptos Mono"/>
              </a:rPr>
              <a:t>BenchmarkTest00099_post ['31', '41', '42', '46']</a:t>
            </a:r>
            <a:endParaRPr/>
          </a:p>
          <a:p>
            <a:r>
              <a:rPr lang="en-US" sz="800" b="0">
                <a:solidFill>
                  <a:srgbClr val="000000"/>
                </a:solidFill>
                <a:latin typeface="Aptos Mono"/>
              </a:rPr>
              <a:t>BenchmarkTest00011_post False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script asks the same dataflow question.</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 dispatcher</a:t>
            </a:r>
            <a:r>
              <a:rPr lang="en-US" sz="1200" b="0">
                <a:solidFill>
                  <a:srgbClr val="000000"/>
                </a:solidFill>
              </a:rPr>
              <a:t> sees the calls inside one script.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a:t>
            </a:r>
            <a:r>
              <a:rPr lang="en-US" sz="1200" b="0">
                <a:solidFill>
                  <a:srgbClr val="000000"/>
                </a:solidFill>
              </a:rPr>
              <a:t> is the only fence, as lecture 4 found (slide 154).</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read, write and network rules</a:t>
            </a:r>
            <a:r>
              <a:rPr lang="en-US" sz="1200" b="0">
                <a:solidFill>
                  <a:srgbClr val="FFFFFF">
                    <a:alpha val="0"/>
                  </a:srgbClr>
                </a:solidFill>
              </a:rPr>
              <a:t> apply to both agents.</a:t>
            </a:r>
            <a:endParaRPr>
              <a:solidFill>
                <a:srgbClr val="FFFFFF">
                  <a:alpha val="0"/>
                </a:srgbClr>
              </a:solidFill>
            </a:endParaRPr>
          </a:p>
        </p:txBody>
      </p:sp>
      <p:sp>
        <p:nvSpPr>
          <p:cNvPr id="4" name="CodeWindow"/>
          <p:cNvSpPr/>
          <p:nvPr/>
        </p:nvSpPr>
        <p:spPr bwMode="auto">
          <a:xfrm>
            <a:off x="320040" y="1765404"/>
            <a:ext cx="6016752" cy="165972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the model's script, run by lecture 4's kernel with namespace {"an": an}</a:t>
            </a:r>
            <a:endParaRPr/>
          </a:p>
        </p:txBody>
      </p:sp>
      <p:sp>
        <p:nvSpPr>
          <p:cNvPr id="10" name="TextBox 7"/>
          <p:cNvSpPr txBox="1"/>
          <p:nvPr/>
        </p:nvSpPr>
        <p:spPr bwMode="auto">
          <a:xfrm>
            <a:off x="466344" y="2094588"/>
            <a:ext cx="5724144" cy="1260536"/>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networkx</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nx</a:t>
            </a:r>
            <a:endParaRPr/>
          </a:p>
          <a:p>
            <a:r>
              <a:rPr lang="en-US" sz="800" b="0">
                <a:solidFill>
                  <a:srgbClr val="001080"/>
                </a:solidFill>
                <a:latin typeface="Aptos Mono"/>
              </a:rPr>
              <a:t>line</a:t>
            </a:r>
            <a:r>
              <a:rPr lang="en-US" sz="800" b="0">
                <a:solidFill>
                  <a:srgbClr val="000000"/>
                </a:solidFill>
                <a:latin typeface="Aptos Mono"/>
              </a:rPr>
              <a:t> = </a:t>
            </a:r>
            <a:r>
              <a:rPr lang="en-US" sz="800" b="0">
                <a:solidFill>
                  <a:srgbClr val="0000FF"/>
                </a:solidFill>
                <a:latin typeface="Aptos Mono"/>
              </a:rPr>
              <a:t>lambda</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1080"/>
                </a:solidFill>
                <a:latin typeface="Aptos Mono"/>
              </a:rPr>
              <a:t>CASES</a:t>
            </a:r>
            <a:r>
              <a:rPr lang="en-US" sz="800" b="0">
                <a:solidFill>
                  <a:srgbClr val="000000"/>
                </a:solidFill>
                <a:latin typeface="Aptos Mono"/>
              </a:rPr>
              <a:t> =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"31"</a:t>
            </a:r>
            <a:r>
              <a:rPr lang="en-US" sz="800" b="0">
                <a:solidFill>
                  <a:srgbClr val="000000"/>
                </a:solidFill>
                <a:latin typeface="Aptos Mono"/>
              </a:rPr>
              <a:t>, </a:t>
            </a:r>
            <a:r>
              <a:rPr lang="en-US" sz="800" b="0">
                <a:solidFill>
                  <a:srgbClr val="A31515"/>
                </a:solidFill>
                <a:latin typeface="Aptos Mono"/>
              </a:rPr>
              <a:t>"46"</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"testcode/BenchmarkTest00011.py"</a:t>
            </a:r>
            <a:r>
              <a:rPr lang="en-US" sz="800" b="0">
                <a:solidFill>
                  <a:srgbClr val="000000"/>
                </a:solidFill>
                <a:latin typeface="Aptos Mono"/>
              </a:rPr>
              <a:t>, </a:t>
            </a:r>
            <a:r>
              <a:rPr lang="en-US" sz="800" b="0">
                <a:solidFill>
                  <a:srgbClr val="A31515"/>
                </a:solidFill>
                <a:latin typeface="Aptos Mono"/>
              </a:rPr>
              <a:t>"39"</a:t>
            </a:r>
            <a:r>
              <a:rPr lang="en-US" sz="800" b="0">
                <a:solidFill>
                  <a:srgbClr val="000000"/>
                </a:solidFill>
                <a:latin typeface="Aptos Mono"/>
              </a:rPr>
              <a:t>, </a:t>
            </a:r>
            <a:r>
              <a:rPr lang="en-US" sz="800" b="0">
                <a:solidFill>
                  <a:srgbClr val="A31515"/>
                </a:solidFill>
                <a:latin typeface="Aptos Mono"/>
              </a:rPr>
              <a:t>"47"</a:t>
            </a:r>
            <a:r>
              <a:rPr lang="en-US" sz="800" b="0">
                <a:solidFill>
                  <a:srgbClr val="000000"/>
                </a:solidFill>
                <a:latin typeface="Aptos Mono"/>
              </a:rPr>
              <a:t>)]</a:t>
            </a:r>
            <a:endParaRPr/>
          </a:p>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CASES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 </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a:t>
            </a:r>
            <a:endParaRPr/>
          </a:p>
        </p:txBody>
      </p:sp>
      <p:sp>
        <p:nvSpPr>
          <p:cNvPr id="11" name="CodeWindow out"/>
          <p:cNvSpPr/>
          <p:nvPr/>
        </p:nvSpPr>
        <p:spPr bwMode="auto">
          <a:xfrm>
            <a:off x="320040" y="3489124"/>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754300"/>
            <a:ext cx="6016752" cy="0"/>
          </a:xfrm>
          <a:prstGeom prst="line">
            <a:avLst/>
          </a:prstGeom>
          <a:ln w="9525">
            <a:solidFill>
              <a:srgbClr val="DCDCDC"/>
            </a:solidFill>
          </a:ln>
        </p:spPr>
      </p:cxnSp>
      <p:sp>
        <p:nvSpPr>
          <p:cNvPr id="13" name="WinDot 0 out"/>
          <p:cNvSpPr/>
          <p:nvPr/>
        </p:nvSpPr>
        <p:spPr bwMode="auto">
          <a:xfrm>
            <a:off x="411480" y="357142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57142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57142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530272"/>
            <a:ext cx="5349240" cy="182880"/>
          </a:xfrm>
          <a:prstGeom prst="rect">
            <a:avLst/>
          </a:prstGeom>
          <a:noFill/>
        </p:spPr>
        <p:txBody>
          <a:bodyPr wrap="square" lIns="0" tIns="0" rIns="0" bIns="0" anchor="ctr">
            <a:noAutofit/>
          </a:bodyPr>
          <a:lstStyle/>
          <a:p>
            <a:pPr algn="l">
              <a:defRPr/>
            </a:pPr>
            <a:r>
              <a:rPr sz="850" b="0">
                <a:solidFill>
                  <a:srgbClr val="5B6673"/>
                </a:solidFill>
              </a:rPr>
              <a:t>observation: what the script printed</a:t>
            </a:r>
            <a:endParaRPr/>
          </a:p>
        </p:txBody>
      </p:sp>
      <p:sp>
        <p:nvSpPr>
          <p:cNvPr id="17" name="TextBox 7 out"/>
          <p:cNvSpPr txBox="1"/>
          <p:nvPr/>
        </p:nvSpPr>
        <p:spPr bwMode="auto">
          <a:xfrm>
            <a:off x="466344" y="3818308"/>
            <a:ext cx="5724144" cy="268107"/>
          </a:xfrm>
          <a:prstGeom prst="rect">
            <a:avLst/>
          </a:prstGeom>
          <a:noFill/>
        </p:spPr>
        <p:txBody>
          <a:bodyPr wrap="none" lIns="0" tIns="0" rIns="0" bIns="0">
            <a:spAutoFit/>
          </a:bodyPr>
          <a:lstStyle/>
          <a:p>
            <a:r>
              <a:rPr lang="en-US" sz="800" b="0">
                <a:solidFill>
                  <a:srgbClr val="000000"/>
                </a:solidFill>
                <a:latin typeface="Aptos Mono"/>
              </a:rPr>
              <a:t>BenchmarkTest00099_post ['31', '41', '42', '46']</a:t>
            </a:r>
            <a:endParaRPr/>
          </a:p>
          <a:p>
            <a:r>
              <a:rPr lang="en-US" sz="800" b="0">
                <a:solidFill>
                  <a:srgbClr val="000000"/>
                </a:solidFill>
                <a:latin typeface="Aptos Mono"/>
              </a:rPr>
              <a:t>BenchmarkTest00011_post False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script asks the same dataflow question.</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No dispatcher</a:t>
            </a:r>
            <a:r>
              <a:rPr lang="en-US" sz="1200" b="0">
                <a:solidFill>
                  <a:srgbClr val="000000"/>
                </a:solidFill>
              </a:rPr>
              <a:t> sees the calls inside one script.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a:t>
            </a:r>
            <a:r>
              <a:rPr lang="en-US" sz="1200" b="0">
                <a:solidFill>
                  <a:srgbClr val="000000"/>
                </a:solidFill>
              </a:rPr>
              <a:t> is the only fence, as lecture 4 found (slide 154).</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write and network rules</a:t>
            </a:r>
            <a:r>
              <a:rPr lang="en-US" sz="1200" b="0">
                <a:solidFill>
                  <a:srgbClr val="000000"/>
                </a:solidFill>
              </a:rPr>
              <a:t> apply to both agents.</a:t>
            </a:r>
            <a:endParaRPr/>
          </a:p>
        </p:txBody>
      </p:sp>
      <p:sp>
        <p:nvSpPr>
          <p:cNvPr id="4" name="CodeWindow"/>
          <p:cNvSpPr/>
          <p:nvPr/>
        </p:nvSpPr>
        <p:spPr bwMode="auto">
          <a:xfrm>
            <a:off x="320040" y="1765404"/>
            <a:ext cx="6016752" cy="165972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30580"/>
            <a:ext cx="6016752" cy="0"/>
          </a:xfrm>
          <a:prstGeom prst="line">
            <a:avLst/>
          </a:prstGeom>
          <a:ln w="9525">
            <a:solidFill>
              <a:srgbClr val="DCDCDC"/>
            </a:solidFill>
          </a:ln>
        </p:spPr>
      </p:cxnSp>
      <p:sp>
        <p:nvSpPr>
          <p:cNvPr id="6" name="WinDot 0"/>
          <p:cNvSpPr/>
          <p:nvPr/>
        </p:nvSpPr>
        <p:spPr bwMode="auto">
          <a:xfrm>
            <a:off x="411480" y="184770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4770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4770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06552"/>
            <a:ext cx="5349240" cy="182880"/>
          </a:xfrm>
          <a:prstGeom prst="rect">
            <a:avLst/>
          </a:prstGeom>
          <a:noFill/>
        </p:spPr>
        <p:txBody>
          <a:bodyPr wrap="square" lIns="0" tIns="0" rIns="0" bIns="0" anchor="ctr">
            <a:noAutofit/>
          </a:bodyPr>
          <a:lstStyle/>
          <a:p>
            <a:pPr algn="l">
              <a:defRPr/>
            </a:pPr>
            <a:r>
              <a:rPr sz="850" b="0">
                <a:solidFill>
                  <a:srgbClr val="5B6673"/>
                </a:solidFill>
              </a:rPr>
              <a:t>the model's script, run by lecture 4's kernel with namespace {"an": an}</a:t>
            </a:r>
            <a:endParaRPr/>
          </a:p>
        </p:txBody>
      </p:sp>
      <p:sp>
        <p:nvSpPr>
          <p:cNvPr id="10" name="TextBox 7"/>
          <p:cNvSpPr txBox="1"/>
          <p:nvPr/>
        </p:nvSpPr>
        <p:spPr bwMode="auto">
          <a:xfrm>
            <a:off x="466344" y="2094588"/>
            <a:ext cx="5724144" cy="1260536"/>
          </a:xfrm>
          <a:prstGeom prst="rect">
            <a:avLst/>
          </a:prstGeom>
          <a:noFill/>
        </p:spPr>
        <p:txBody>
          <a:bodyPr wrap="none" lIns="0" tIns="0" rIns="0" bIns="0">
            <a:spAutoFit/>
          </a:bodyPr>
          <a:lstStyle/>
          <a:p>
            <a:r>
              <a:rPr lang="en-US" sz="800" b="0">
                <a:solidFill>
                  <a:srgbClr val="AF00DB"/>
                </a:solidFill>
                <a:latin typeface="Aptos Mono"/>
              </a:rPr>
              <a:t>import</a:t>
            </a:r>
            <a:r>
              <a:rPr lang="en-US" sz="800" b="0">
                <a:solidFill>
                  <a:srgbClr val="000000"/>
                </a:solidFill>
                <a:latin typeface="Aptos Mono"/>
              </a:rPr>
              <a:t> </a:t>
            </a:r>
            <a:r>
              <a:rPr lang="en-US" sz="800" b="0">
                <a:solidFill>
                  <a:srgbClr val="001080"/>
                </a:solidFill>
                <a:latin typeface="Aptos Mono"/>
              </a:rPr>
              <a:t>networkx</a:t>
            </a:r>
            <a:r>
              <a:rPr lang="en-US" sz="800" b="0">
                <a:solidFill>
                  <a:srgbClr val="000000"/>
                </a:solidFill>
                <a:latin typeface="Aptos Mono"/>
              </a:rPr>
              <a:t> </a:t>
            </a:r>
            <a:r>
              <a:rPr lang="en-US" sz="800" b="0">
                <a:solidFill>
                  <a:srgbClr val="AF00DB"/>
                </a:solidFill>
                <a:latin typeface="Aptos Mono"/>
              </a:rPr>
              <a:t>as</a:t>
            </a:r>
            <a:r>
              <a:rPr lang="en-US" sz="800" b="0">
                <a:solidFill>
                  <a:srgbClr val="000000"/>
                </a:solidFill>
                <a:latin typeface="Aptos Mono"/>
              </a:rPr>
              <a:t> </a:t>
            </a:r>
            <a:r>
              <a:rPr lang="en-US" sz="800" b="0">
                <a:solidFill>
                  <a:srgbClr val="001080"/>
                </a:solidFill>
                <a:latin typeface="Aptos Mono"/>
              </a:rPr>
              <a:t>nx</a:t>
            </a:r>
            <a:endParaRPr/>
          </a:p>
          <a:p>
            <a:r>
              <a:rPr lang="en-US" sz="800" b="0">
                <a:solidFill>
                  <a:srgbClr val="001080"/>
                </a:solidFill>
                <a:latin typeface="Aptos Mono"/>
              </a:rPr>
              <a:t>line</a:t>
            </a:r>
            <a:r>
              <a:rPr lang="en-US" sz="800" b="0">
                <a:solidFill>
                  <a:srgbClr val="000000"/>
                </a:solidFill>
                <a:latin typeface="Aptos Mono"/>
              </a:rPr>
              <a:t> = </a:t>
            </a:r>
            <a:r>
              <a:rPr lang="en-US" sz="800" b="0">
                <a:solidFill>
                  <a:srgbClr val="0000FF"/>
                </a:solidFill>
                <a:latin typeface="Aptos Mono"/>
              </a:rPr>
              <a:t>lambda</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 </a:t>
            </a:r>
            <a:r>
              <a:rPr lang="en-US" sz="800" b="0">
                <a:solidFill>
                  <a:srgbClr val="001080"/>
                </a:solidFill>
                <a:latin typeface="Aptos Mono"/>
              </a:rPr>
              <a:t>node</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1</a:t>
            </a:r>
            <a:r>
              <a:rPr lang="en-US" sz="800" b="0">
                <a:solidFill>
                  <a:srgbClr val="000000"/>
                </a:solidFill>
                <a:latin typeface="Aptos Mono"/>
              </a:rPr>
              <a:t>].</a:t>
            </a:r>
            <a:r>
              <a:rPr lang="en-US" sz="800" b="0">
                <a:solidFill>
                  <a:srgbClr val="795E26"/>
                </a:solidFill>
                <a:latin typeface="Aptos Mono"/>
              </a:rPr>
              <a:t>split</a:t>
            </a:r>
            <a:r>
              <a:rPr lang="en-US" sz="800" b="0">
                <a:solidFill>
                  <a:srgbClr val="000000"/>
                </a:solidFill>
                <a:latin typeface="Aptos Mono"/>
              </a:rPr>
              <a:t>(</a:t>
            </a:r>
            <a:r>
              <a:rPr lang="en-US" sz="800" b="0">
                <a:solidFill>
                  <a:srgbClr val="A31515"/>
                </a:solidFill>
                <a:latin typeface="Aptos Mono"/>
              </a:rPr>
              <a:t>":"</a:t>
            </a:r>
            <a:r>
              <a:rPr lang="en-US" sz="800" b="0">
                <a:solidFill>
                  <a:srgbClr val="000000"/>
                </a:solidFill>
                <a:latin typeface="Aptos Mono"/>
              </a:rPr>
              <a:t>)[</a:t>
            </a:r>
            <a:r>
              <a:rPr lang="en-US" sz="800" b="0">
                <a:solidFill>
                  <a:srgbClr val="098658"/>
                </a:solidFill>
                <a:latin typeface="Aptos Mono"/>
              </a:rPr>
              <a:t>0</a:t>
            </a:r>
            <a:r>
              <a:rPr lang="en-US" sz="800" b="0">
                <a:solidFill>
                  <a:srgbClr val="000000"/>
                </a:solidFill>
                <a:latin typeface="Aptos Mono"/>
              </a:rPr>
              <a:t>]</a:t>
            </a:r>
            <a:endParaRPr/>
          </a:p>
          <a:p>
            <a:r>
              <a:rPr lang="en-US" sz="800" b="0">
                <a:solidFill>
                  <a:srgbClr val="001080"/>
                </a:solidFill>
                <a:latin typeface="Aptos Mono"/>
              </a:rPr>
              <a:t>CASES</a:t>
            </a:r>
            <a:r>
              <a:rPr lang="en-US" sz="800" b="0">
                <a:solidFill>
                  <a:srgbClr val="000000"/>
                </a:solidFill>
                <a:latin typeface="Aptos Mono"/>
              </a:rPr>
              <a:t> = [(</a:t>
            </a:r>
            <a:r>
              <a:rPr lang="en-US" sz="800" b="0">
                <a:solidFill>
                  <a:srgbClr val="A31515"/>
                </a:solidFill>
                <a:latin typeface="Aptos Mono"/>
              </a:rPr>
              <a:t>"testcode/BenchmarkTest00099.py"</a:t>
            </a:r>
            <a:r>
              <a:rPr lang="en-US" sz="800" b="0">
                <a:solidFill>
                  <a:srgbClr val="000000"/>
                </a:solidFill>
                <a:latin typeface="Aptos Mono"/>
              </a:rPr>
              <a:t>, </a:t>
            </a:r>
            <a:r>
              <a:rPr lang="en-US" sz="800" b="0">
                <a:solidFill>
                  <a:srgbClr val="A31515"/>
                </a:solidFill>
                <a:latin typeface="Aptos Mono"/>
              </a:rPr>
              <a:t>"31"</a:t>
            </a:r>
            <a:r>
              <a:rPr lang="en-US" sz="800" b="0">
                <a:solidFill>
                  <a:srgbClr val="000000"/>
                </a:solidFill>
                <a:latin typeface="Aptos Mono"/>
              </a:rPr>
              <a:t>, </a:t>
            </a:r>
            <a:r>
              <a:rPr lang="en-US" sz="800" b="0">
                <a:solidFill>
                  <a:srgbClr val="A31515"/>
                </a:solidFill>
                <a:latin typeface="Aptos Mono"/>
              </a:rPr>
              <a:t>"46"</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31515"/>
                </a:solidFill>
                <a:latin typeface="Aptos Mono"/>
              </a:rPr>
              <a:t>"testcode/BenchmarkTest00011.py"</a:t>
            </a:r>
            <a:r>
              <a:rPr lang="en-US" sz="800" b="0">
                <a:solidFill>
                  <a:srgbClr val="000000"/>
                </a:solidFill>
                <a:latin typeface="Aptos Mono"/>
              </a:rPr>
              <a:t>, </a:t>
            </a:r>
            <a:r>
              <a:rPr lang="en-US" sz="800" b="0">
                <a:solidFill>
                  <a:srgbClr val="A31515"/>
                </a:solidFill>
                <a:latin typeface="Aptos Mono"/>
              </a:rPr>
              <a:t>"39"</a:t>
            </a:r>
            <a:r>
              <a:rPr lang="en-US" sz="800" b="0">
                <a:solidFill>
                  <a:srgbClr val="000000"/>
                </a:solidFill>
                <a:latin typeface="Aptos Mono"/>
              </a:rPr>
              <a:t>, </a:t>
            </a:r>
            <a:r>
              <a:rPr lang="en-US" sz="800" b="0">
                <a:solidFill>
                  <a:srgbClr val="A31515"/>
                </a:solidFill>
                <a:latin typeface="Aptos Mono"/>
              </a:rPr>
              <a:t>"47"</a:t>
            </a:r>
            <a:r>
              <a:rPr lang="en-US" sz="800" b="0">
                <a:solidFill>
                  <a:srgbClr val="000000"/>
                </a:solidFill>
                <a:latin typeface="Aptos Mono"/>
              </a:rPr>
              <a:t>)]</a:t>
            </a:r>
            <a:endParaRPr/>
          </a:p>
          <a:p>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path</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CASES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hit</a:t>
            </a:r>
            <a:r>
              <a:rPr lang="en-US" sz="800" b="0">
                <a:solidFill>
                  <a:srgbClr val="000000"/>
                </a:solidFill>
                <a:latin typeface="Aptos Mono"/>
              </a:rPr>
              <a:t> =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locate</a:t>
            </a:r>
            <a:r>
              <a:rPr lang="en-US" sz="800" b="0">
                <a:solidFill>
                  <a:srgbClr val="000000"/>
                </a:solidFill>
                <a:latin typeface="Aptos Mono"/>
              </a:rPr>
              <a:t>(</a:t>
            </a:r>
            <a:r>
              <a:rPr lang="en-US" sz="800" b="0">
                <a:solidFill>
                  <a:srgbClr val="001080"/>
                </a:solidFill>
                <a:latin typeface="Aptos Mono"/>
              </a:rPr>
              <a:t>path</a:t>
            </a:r>
            <a:r>
              <a:rPr lang="en-US" sz="800" b="0">
                <a:solidFill>
                  <a:srgbClr val="000000"/>
                </a:solidFill>
                <a:latin typeface="Aptos Mono"/>
              </a:rPr>
              <a:t>, </a:t>
            </a:r>
            <a:r>
              <a:rPr lang="en-US" sz="800" b="0">
                <a:solidFill>
                  <a:srgbClr val="267F99"/>
                </a:solidFill>
                <a:latin typeface="Aptos Mono"/>
              </a:rPr>
              <a:t>int</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 = </a:t>
            </a:r>
            <a:r>
              <a:rPr lang="en-US" sz="800" b="0">
                <a:solidFill>
                  <a:srgbClr val="001080"/>
                </a:solidFill>
                <a:latin typeface="Aptos Mono"/>
              </a:rPr>
              <a:t>nx</a:t>
            </a:r>
            <a:r>
              <a:rPr lang="en-US" sz="800" b="0">
                <a:solidFill>
                  <a:srgbClr val="000000"/>
                </a:solidFill>
                <a:latin typeface="Aptos Mono"/>
              </a:rPr>
              <a:t>.</a:t>
            </a:r>
            <a:r>
              <a:rPr lang="en-US" sz="800" b="0">
                <a:solidFill>
                  <a:srgbClr val="267F99"/>
                </a:solidFill>
                <a:latin typeface="Aptos Mono"/>
              </a:rPr>
              <a:t>DiGraph</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AF00DB"/>
                </a:solidFill>
                <a:latin typeface="Aptos Mono"/>
              </a:rPr>
              <a:t>for</a:t>
            </a:r>
            <a:r>
              <a:rPr lang="en-US" sz="800" b="0">
                <a:solidFill>
                  <a:srgbClr val="000000"/>
                </a:solidFill>
                <a:latin typeface="Aptos Mono"/>
              </a:rPr>
              <a:t> </a:t>
            </a:r>
            <a:r>
              <a:rPr lang="en-US" sz="800" b="0">
                <a:solidFill>
                  <a:srgbClr val="001080"/>
                </a:solidFill>
                <a:latin typeface="Aptos Mono"/>
              </a:rPr>
              <a:t>e</a:t>
            </a:r>
            <a:r>
              <a:rPr lang="en-US" sz="800" b="0">
                <a:solidFill>
                  <a:srgbClr val="000000"/>
                </a:solidFill>
                <a:latin typeface="Aptos Mono"/>
              </a:rPr>
              <a:t> </a:t>
            </a:r>
            <a:r>
              <a:rPr lang="en-US" sz="800" b="0">
                <a:solidFill>
                  <a:srgbClr val="AF00DB"/>
                </a:solidFill>
                <a:latin typeface="Aptos Mono"/>
              </a:rPr>
              <a:t>in</a:t>
            </a:r>
            <a:r>
              <a:rPr lang="en-US" sz="800" b="0">
                <a:solidFill>
                  <a:srgbClr val="000000"/>
                </a:solidFill>
                <a:latin typeface="Aptos Mono"/>
              </a:rPr>
              <a:t> </a:t>
            </a:r>
            <a:r>
              <a:rPr lang="en-US" sz="800" b="0">
                <a:solidFill>
                  <a:srgbClr val="001080"/>
                </a:solidFill>
                <a:latin typeface="Aptos Mono"/>
              </a:rPr>
              <a:t>an</a:t>
            </a:r>
            <a:r>
              <a:rPr lang="en-US" sz="800" b="0">
                <a:solidFill>
                  <a:srgbClr val="000000"/>
                </a:solidFill>
                <a:latin typeface="Aptos Mono"/>
              </a:rPr>
              <a:t>.</a:t>
            </a:r>
            <a:r>
              <a:rPr lang="en-US" sz="800" b="0">
                <a:solidFill>
                  <a:srgbClr val="795E26"/>
                </a:solidFill>
                <a:latin typeface="Aptos Mono"/>
              </a:rPr>
              <a:t>get_ddg</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signature</a:t>
            </a:r>
            <a:r>
              <a:rPr lang="en-US" sz="800" b="0">
                <a:solidFill>
                  <a:srgbClr val="000000"/>
                </a:solidFill>
                <a:latin typeface="Aptos Mono"/>
              </a:rPr>
              <a:t>, </a:t>
            </a:r>
            <a:r>
              <a:rPr lang="en-US" sz="800" b="0">
                <a:solidFill>
                  <a:srgbClr val="001080"/>
                </a:solidFill>
                <a:latin typeface="Aptos Mono"/>
              </a:rPr>
              <a:t>page_size</a:t>
            </a:r>
            <a:r>
              <a:rPr lang="en-US" sz="800" b="0">
                <a:solidFill>
                  <a:srgbClr val="000000"/>
                </a:solidFill>
                <a:latin typeface="Aptos Mono"/>
              </a:rPr>
              <a:t>=</a:t>
            </a:r>
            <a:r>
              <a:rPr lang="en-US" sz="800" b="0">
                <a:solidFill>
                  <a:srgbClr val="098658"/>
                </a:solidFill>
                <a:latin typeface="Aptos Mono"/>
              </a:rPr>
              <a:t>500</a:t>
            </a:r>
            <a:r>
              <a:rPr lang="en-US" sz="800" b="0">
                <a:solidFill>
                  <a:srgbClr val="000000"/>
                </a:solidFill>
                <a:latin typeface="Aptos Mono"/>
              </a:rPr>
              <a:t>).</a:t>
            </a:r>
            <a:r>
              <a:rPr lang="en-US" sz="800" b="0">
                <a:solidFill>
                  <a:srgbClr val="001080"/>
                </a:solidFill>
                <a:latin typeface="Aptos Mono"/>
              </a:rPr>
              <a:t>edges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01080"/>
                </a:solidFill>
                <a:latin typeface="Aptos Mono"/>
              </a:rPr>
              <a:t>g</a:t>
            </a:r>
            <a:r>
              <a:rPr lang="en-US" sz="800" b="0">
                <a:solidFill>
                  <a:srgbClr val="000000"/>
                </a:solidFill>
                <a:latin typeface="Aptos Mono"/>
              </a:rPr>
              <a:t>.</a:t>
            </a:r>
            <a:r>
              <a:rPr lang="en-US" sz="800" b="0">
                <a:solidFill>
                  <a:srgbClr val="795E26"/>
                </a:solidFill>
                <a:latin typeface="Aptos Mono"/>
              </a:rPr>
              <a:t>add_edge</a:t>
            </a:r>
            <a:r>
              <a:rPr lang="en-US" sz="800" b="0">
                <a:solidFill>
                  <a:srgbClr val="000000"/>
                </a:solidFill>
                <a:latin typeface="Aptos Mono"/>
              </a:rPr>
              <a:t>(</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src</a:t>
            </a:r>
            <a:r>
              <a:rPr lang="en-US" sz="800" b="0">
                <a:solidFill>
                  <a:srgbClr val="000000"/>
                </a:solidFill>
                <a:latin typeface="Aptos Mono"/>
              </a:rPr>
              <a:t>), </a:t>
            </a:r>
            <a:r>
              <a:rPr lang="en-US" sz="800" b="0">
                <a:solidFill>
                  <a:srgbClr val="795E26"/>
                </a:solidFill>
                <a:latin typeface="Aptos Mono"/>
              </a:rPr>
              <a:t>line</a:t>
            </a:r>
            <a:r>
              <a:rPr lang="en-US" sz="800" b="0">
                <a:solidFill>
                  <a:srgbClr val="000000"/>
                </a:solidFill>
                <a:latin typeface="Aptos Mono"/>
              </a:rPr>
              <a:t>(</a:t>
            </a:r>
            <a:r>
              <a:rPr lang="en-US" sz="800" b="0">
                <a:solidFill>
                  <a:srgbClr val="001080"/>
                </a:solidFill>
                <a:latin typeface="Aptos Mono"/>
              </a:rPr>
              <a:t>e</a:t>
            </a:r>
            <a:r>
              <a:rPr lang="en-US" sz="800" b="0">
                <a:solidFill>
                  <a:srgbClr val="000000"/>
                </a:solidFill>
                <a:latin typeface="Aptos Mono"/>
              </a:rPr>
              <a:t>.</a:t>
            </a:r>
            <a:r>
              <a:rPr lang="en-US" sz="800" b="0">
                <a:solidFill>
                  <a:srgbClr val="001080"/>
                </a:solidFill>
                <a:latin typeface="Aptos Mono"/>
              </a:rPr>
              <a:t>dst</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795E26"/>
                </a:solidFill>
                <a:latin typeface="Aptos Mono"/>
              </a:rPr>
              <a:t>print</a:t>
            </a:r>
            <a:r>
              <a:rPr lang="en-US" sz="800" b="0">
                <a:solidFill>
                  <a:srgbClr val="000000"/>
                </a:solidFill>
                <a:latin typeface="Aptos Mono"/>
              </a:rPr>
              <a:t>(</a:t>
            </a:r>
            <a:r>
              <a:rPr lang="en-US" sz="800" b="0">
                <a:solidFill>
                  <a:srgbClr val="001080"/>
                </a:solidFill>
                <a:latin typeface="Aptos Mono"/>
              </a:rPr>
              <a:t>hit</a:t>
            </a:r>
            <a:r>
              <a:rPr lang="en-US" sz="800" b="0">
                <a:solidFill>
                  <a:srgbClr val="000000"/>
                </a:solidFill>
                <a:latin typeface="Aptos Mono"/>
              </a:rPr>
              <a:t>.</a:t>
            </a:r>
            <a:r>
              <a:rPr lang="en-US" sz="800" b="0">
                <a:solidFill>
                  <a:srgbClr val="001080"/>
                </a:solidFill>
                <a:latin typeface="Aptos Mono"/>
              </a:rPr>
              <a:t>callable</a:t>
            </a:r>
            <a:r>
              <a:rPr lang="en-US" sz="800" b="0">
                <a:solidFill>
                  <a:srgbClr val="000000"/>
                </a:solidFill>
                <a:latin typeface="Aptos Mono"/>
              </a:rPr>
              <a:t>.</a:t>
            </a:r>
            <a:r>
              <a:rPr lang="en-US" sz="800" b="0">
                <a:solidFill>
                  <a:srgbClr val="001080"/>
                </a:solidFill>
                <a:latin typeface="Aptos Mono"/>
              </a:rPr>
              <a:t>name</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has_path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 </a:t>
            </a:r>
            <a:r>
              <a:rPr lang="en-US" sz="800" b="0">
                <a:solidFill>
                  <a:srgbClr val="0000FF"/>
                </a:solidFill>
                <a:latin typeface="Aptos Mono"/>
              </a:rPr>
              <a:t>and</a:t>
            </a:r>
            <a:r>
              <a:rPr lang="en-US" sz="800" b="0">
                <a:solidFill>
                  <a:srgbClr val="000000"/>
                </a:solidFill>
                <a:latin typeface="Aptos Mono"/>
              </a:rPr>
              <a:t> </a:t>
            </a:r>
            <a:r>
              <a:rPr lang="en-US" sz="800" b="0">
                <a:solidFill>
                  <a:srgbClr val="001080"/>
                </a:solidFill>
                <a:latin typeface="Aptos Mono"/>
              </a:rPr>
              <a:t>nx</a:t>
            </a:r>
            <a:r>
              <a:rPr lang="en-US" sz="800" b="0">
                <a:solidFill>
                  <a:srgbClr val="000000"/>
                </a:solidFill>
                <a:latin typeface="Aptos Mono"/>
              </a:rPr>
              <a:t>.</a:t>
            </a:r>
            <a:r>
              <a:rPr lang="en-US" sz="800" b="0">
                <a:solidFill>
                  <a:srgbClr val="795E26"/>
                </a:solidFill>
                <a:latin typeface="Aptos Mono"/>
              </a:rPr>
              <a:t>shortest_path</a:t>
            </a:r>
            <a:r>
              <a:rPr lang="en-US" sz="800" b="0">
                <a:solidFill>
                  <a:srgbClr val="000000"/>
                </a:solidFill>
                <a:latin typeface="Aptos Mono"/>
              </a:rPr>
              <a:t>(</a:t>
            </a:r>
            <a:r>
              <a:rPr lang="en-US" sz="800" b="0">
                <a:solidFill>
                  <a:srgbClr val="001080"/>
                </a:solidFill>
                <a:latin typeface="Aptos Mono"/>
              </a:rPr>
              <a:t>g</a:t>
            </a:r>
            <a:r>
              <a:rPr lang="en-US" sz="800" b="0">
                <a:solidFill>
                  <a:srgbClr val="000000"/>
                </a:solidFill>
                <a:latin typeface="Aptos Mono"/>
              </a:rPr>
              <a:t>, </a:t>
            </a:r>
            <a:r>
              <a:rPr lang="en-US" sz="800" b="0">
                <a:solidFill>
                  <a:srgbClr val="001080"/>
                </a:solidFill>
                <a:latin typeface="Aptos Mono"/>
              </a:rPr>
              <a:t>src</a:t>
            </a:r>
            <a:r>
              <a:rPr lang="en-US" sz="800" b="0">
                <a:solidFill>
                  <a:srgbClr val="000000"/>
                </a:solidFill>
                <a:latin typeface="Aptos Mono"/>
              </a:rPr>
              <a:t>, </a:t>
            </a:r>
            <a:r>
              <a:rPr lang="en-US" sz="800" b="0">
                <a:solidFill>
                  <a:srgbClr val="001080"/>
                </a:solidFill>
                <a:latin typeface="Aptos Mono"/>
              </a:rPr>
              <a:t>dst</a:t>
            </a:r>
            <a:r>
              <a:rPr lang="en-US" sz="800" b="0">
                <a:solidFill>
                  <a:srgbClr val="000000"/>
                </a:solidFill>
                <a:latin typeface="Aptos Mono"/>
              </a:rPr>
              <a:t>))</a:t>
            </a:r>
            <a:endParaRPr/>
          </a:p>
        </p:txBody>
      </p:sp>
      <p:sp>
        <p:nvSpPr>
          <p:cNvPr id="11" name="CodeWindow out"/>
          <p:cNvSpPr/>
          <p:nvPr/>
        </p:nvSpPr>
        <p:spPr bwMode="auto">
          <a:xfrm>
            <a:off x="320040" y="3489124"/>
            <a:ext cx="6016752" cy="667291"/>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12" name="WinBar out"/>
          <p:cNvCxnSpPr/>
          <p:nvPr/>
        </p:nvCxnSpPr>
        <p:spPr bwMode="auto">
          <a:xfrm>
            <a:off x="320040" y="3754300"/>
            <a:ext cx="6016752" cy="0"/>
          </a:xfrm>
          <a:prstGeom prst="line">
            <a:avLst/>
          </a:prstGeom>
          <a:ln w="9525">
            <a:solidFill>
              <a:srgbClr val="DCDCDC"/>
            </a:solidFill>
          </a:ln>
        </p:spPr>
      </p:cxnSp>
      <p:sp>
        <p:nvSpPr>
          <p:cNvPr id="13" name="WinDot 0 out"/>
          <p:cNvSpPr/>
          <p:nvPr/>
        </p:nvSpPr>
        <p:spPr bwMode="auto">
          <a:xfrm>
            <a:off x="411480" y="3571420"/>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 name="WinDot 1 out"/>
          <p:cNvSpPr/>
          <p:nvPr/>
        </p:nvSpPr>
        <p:spPr bwMode="auto">
          <a:xfrm>
            <a:off x="548640" y="3571420"/>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 name="WinDot 2 out"/>
          <p:cNvSpPr/>
          <p:nvPr/>
        </p:nvSpPr>
        <p:spPr bwMode="auto">
          <a:xfrm>
            <a:off x="685800" y="3571420"/>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 name="TextBox 8 out"/>
          <p:cNvSpPr txBox="1"/>
          <p:nvPr/>
        </p:nvSpPr>
        <p:spPr bwMode="auto">
          <a:xfrm>
            <a:off x="896112" y="3530272"/>
            <a:ext cx="5349240" cy="182880"/>
          </a:xfrm>
          <a:prstGeom prst="rect">
            <a:avLst/>
          </a:prstGeom>
          <a:noFill/>
        </p:spPr>
        <p:txBody>
          <a:bodyPr wrap="square" lIns="0" tIns="0" rIns="0" bIns="0" anchor="ctr">
            <a:noAutofit/>
          </a:bodyPr>
          <a:lstStyle/>
          <a:p>
            <a:pPr algn="l">
              <a:defRPr/>
            </a:pPr>
            <a:r>
              <a:rPr sz="850" b="0">
                <a:solidFill>
                  <a:srgbClr val="5B6673"/>
                </a:solidFill>
              </a:rPr>
              <a:t>observation: what the script printed</a:t>
            </a:r>
            <a:endParaRPr/>
          </a:p>
        </p:txBody>
      </p:sp>
      <p:sp>
        <p:nvSpPr>
          <p:cNvPr id="17" name="TextBox 7 out"/>
          <p:cNvSpPr txBox="1"/>
          <p:nvPr/>
        </p:nvSpPr>
        <p:spPr bwMode="auto">
          <a:xfrm>
            <a:off x="466344" y="3818308"/>
            <a:ext cx="5724144" cy="268107"/>
          </a:xfrm>
          <a:prstGeom prst="rect">
            <a:avLst/>
          </a:prstGeom>
          <a:noFill/>
        </p:spPr>
        <p:txBody>
          <a:bodyPr wrap="none" lIns="0" tIns="0" rIns="0" bIns="0">
            <a:spAutoFit/>
          </a:bodyPr>
          <a:lstStyle/>
          <a:p>
            <a:r>
              <a:rPr lang="en-US" sz="800" b="0">
                <a:solidFill>
                  <a:srgbClr val="000000"/>
                </a:solidFill>
                <a:latin typeface="Aptos Mono"/>
              </a:rPr>
              <a:t>BenchmarkTest00099_post ['31', '41', '42', '46']</a:t>
            </a:r>
            <a:endParaRPr/>
          </a:p>
          <a:p>
            <a:r>
              <a:rPr lang="en-US" sz="800" b="0">
                <a:solidFill>
                  <a:srgbClr val="000000"/>
                </a:solidFill>
                <a:latin typeface="Aptos Mono"/>
              </a:rPr>
              <a:t>BenchmarkTest00011_post False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The brief</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Actions on the analysis object</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MCP and code-action agents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The brief</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CLDK essentials</a:t>
            </a:r>
            <a:endParaRPr/>
          </a:p>
        </p:txBody>
      </p:sp>
      <p:pic>
        <p:nvPicPr>
          <p:cNvPr id="14" name="Picture 13" descr="image.png"/>
          <p:cNvPicPr>
            <a:picLocks noChangeAspect="1"/>
          </p:cNvPicPr>
          <p:nvPr/>
        </p:nvPicPr>
        <p:blipFill rotWithShape="1">
          <a:blip r:embed="rId2">
            <a:alphaModFix amt="70000"/>
          </a:blip>
          <a:stretch/>
        </p:blipFill>
        <p:spPr bwMode="auto">
          <a:xfrm>
            <a:off x="822960" y="1872409"/>
            <a:ext cx="5733288" cy="2016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brief, section by section</a:t>
            </a:r>
            <a:endParaRPr/>
          </a:p>
        </p:txBody>
      </p:sp>
      <p:sp>
        <p:nvSpPr>
          <p:cNvPr id="3" name="Content Placeholder 2"/>
          <p:cNvSpPr>
            <a:spLocks noGrp="1"/>
          </p:cNvSpPr>
          <p:nvPr>
            <p:ph idx="1"/>
          </p:nvPr>
        </p:nvSpPr>
        <p:spPr bwMode="auto">
          <a:xfrm>
            <a:off x="320040" y="658368"/>
            <a:ext cx="6016752" cy="22951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What you build:</a:t>
            </a:r>
            <a:r>
              <a:rPr lang="en-US" sz="1200" b="0">
                <a:solidFill>
                  <a:srgbClr val="000000"/>
                </a:solidFill>
              </a:rPr>
              <a:t> the code-action agent and the MCP agent, the server with its analysis, text and write tools, and the stages both agents 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guardrails:</a:t>
            </a:r>
            <a:r>
              <a:rPr lang="en-US" sz="1200" b="0">
                <a:solidFill>
                  <a:srgbClr val="000000"/>
                </a:solidFill>
              </a:rPr>
              <a:t> the read, write and network rules, the prompt, server and kernel that hold them, and the policy you run under.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How they are tested:</a:t>
            </a:r>
            <a:r>
              <a:rPr lang="en-US" sz="1200" b="0">
                <a:solidFill>
                  <a:srgbClr val="000000"/>
                </a:solidFill>
              </a:rPr>
              <a:t> your five live runs under a planted injection, and our driver against your server and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Contracts, rubric and dates:</a:t>
            </a:r>
            <a:r>
              <a:rPr lang="en-US" sz="1200" b="0">
                <a:solidFill>
                  <a:srgbClr val="000000"/>
                </a:solidFill>
              </a:rPr>
              <a:t> 18 rubric items, one point each. Due Friday, November 13, 2026, before 11:59 pm, with six late days per student per semester, at most three on one assignment.</a:t>
            </a:r>
            <a:endParaRPr/>
          </a:p>
        </p:txBody>
      </p:sp>
      <p:sp>
        <p:nvSpPr>
          <p:cNvPr id="4" name="Rectangle 4"/>
          <p:cNvSpPr/>
          <p:nvPr/>
        </p:nvSpPr>
        <p:spPr bwMode="auto">
          <a:xfrm>
            <a:off x="320040" y="320485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HW2 is released today in comse6998-019/hw2-tool-boundary, with the brief, schemas, examples and fixtures.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brief, section by section</a:t>
            </a:r>
            <a:endParaRPr/>
          </a:p>
        </p:txBody>
      </p:sp>
      <p:sp>
        <p:nvSpPr>
          <p:cNvPr id="3" name="Content Placeholder 2"/>
          <p:cNvSpPr>
            <a:spLocks noGrp="1"/>
          </p:cNvSpPr>
          <p:nvPr>
            <p:ph idx="1"/>
          </p:nvPr>
        </p:nvSpPr>
        <p:spPr bwMode="auto">
          <a:xfrm>
            <a:off x="320040" y="658368"/>
            <a:ext cx="6016752" cy="22951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What you build:</a:t>
            </a:r>
            <a:r>
              <a:rPr lang="en-US" sz="1200" b="0">
                <a:solidFill>
                  <a:srgbClr val="000000"/>
                </a:solidFill>
              </a:rPr>
              <a:t> the code-action agent and the MCP agent, the server with its analysis, text and write tools, and the stages both agents run.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guardrails:</a:t>
            </a:r>
            <a:r>
              <a:rPr lang="en-US" sz="1200" b="0">
                <a:solidFill>
                  <a:srgbClr val="FFFFFF">
                    <a:alpha val="0"/>
                  </a:srgbClr>
                </a:solidFill>
              </a:rPr>
              <a:t> the read, write and network rules, the prompt, server and kernel that hold them, and the policy you run under.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How they are tested:</a:t>
            </a:r>
            <a:r>
              <a:rPr lang="en-US" sz="1200" b="0">
                <a:solidFill>
                  <a:srgbClr val="FFFFFF">
                    <a:alpha val="0"/>
                  </a:srgbClr>
                </a:solidFill>
              </a:rPr>
              <a:t> your five live runs under a planted injection, and our driver against your server and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Contracts, rubric and dates:</a:t>
            </a:r>
            <a:r>
              <a:rPr lang="en-US" sz="1200" b="0">
                <a:solidFill>
                  <a:srgbClr val="FFFFFF">
                    <a:alpha val="0"/>
                  </a:srgbClr>
                </a:solidFill>
              </a:rPr>
              <a:t> 18 rubric items, one point each. Due Friday, November 13, 2026, before 11:59 pm, with six late days per student per semester, at most three on one assignment.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brief, section by section</a:t>
            </a:r>
            <a:endParaRPr/>
          </a:p>
        </p:txBody>
      </p:sp>
      <p:sp>
        <p:nvSpPr>
          <p:cNvPr id="3" name="Content Placeholder 2"/>
          <p:cNvSpPr>
            <a:spLocks noGrp="1"/>
          </p:cNvSpPr>
          <p:nvPr>
            <p:ph idx="1"/>
          </p:nvPr>
        </p:nvSpPr>
        <p:spPr bwMode="auto">
          <a:xfrm>
            <a:off x="320040" y="658368"/>
            <a:ext cx="6016752" cy="22951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What you build:</a:t>
            </a:r>
            <a:r>
              <a:rPr lang="en-US" sz="1200" b="0">
                <a:solidFill>
                  <a:srgbClr val="000000"/>
                </a:solidFill>
              </a:rPr>
              <a:t> the code-action agent and the MCP agent, the server with its analysis, text and write tools, and the stages both agents 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guardrails:</a:t>
            </a:r>
            <a:r>
              <a:rPr lang="en-US" sz="1200" b="0">
                <a:solidFill>
                  <a:srgbClr val="000000"/>
                </a:solidFill>
              </a:rPr>
              <a:t> the read, write and network rules, the prompt, server and kernel that hold them, and the policy you run under.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How they are tested:</a:t>
            </a:r>
            <a:r>
              <a:rPr lang="en-US" sz="1200" b="0">
                <a:solidFill>
                  <a:srgbClr val="FFFFFF">
                    <a:alpha val="0"/>
                  </a:srgbClr>
                </a:solidFill>
              </a:rPr>
              <a:t> your five live runs under a planted injection, and our driver against your server and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Contracts, rubric and dates:</a:t>
            </a:r>
            <a:r>
              <a:rPr lang="en-US" sz="1200" b="0">
                <a:solidFill>
                  <a:srgbClr val="FFFFFF">
                    <a:alpha val="0"/>
                  </a:srgbClr>
                </a:solidFill>
              </a:rPr>
              <a:t> 18 rubric items, one point each. Due Friday, November 13, 2026, before 11:59 pm, with six late days per student per semester, at most three on one assignment.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brief, section by section</a:t>
            </a:r>
            <a:endParaRPr/>
          </a:p>
        </p:txBody>
      </p:sp>
      <p:sp>
        <p:nvSpPr>
          <p:cNvPr id="3" name="Content Placeholder 2"/>
          <p:cNvSpPr>
            <a:spLocks noGrp="1"/>
          </p:cNvSpPr>
          <p:nvPr>
            <p:ph idx="1"/>
          </p:nvPr>
        </p:nvSpPr>
        <p:spPr bwMode="auto">
          <a:xfrm>
            <a:off x="320040" y="658368"/>
            <a:ext cx="6016752" cy="22951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What you build:</a:t>
            </a:r>
            <a:r>
              <a:rPr lang="en-US" sz="1200" b="0">
                <a:solidFill>
                  <a:srgbClr val="000000"/>
                </a:solidFill>
              </a:rPr>
              <a:t> the code-action agent and the MCP agent, the server with its analysis, text and write tools, and the stages both agents 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guardrails:</a:t>
            </a:r>
            <a:r>
              <a:rPr lang="en-US" sz="1200" b="0">
                <a:solidFill>
                  <a:srgbClr val="000000"/>
                </a:solidFill>
              </a:rPr>
              <a:t> the read, write and network rules, the prompt, server and kernel that hold them, and the policy you run under.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How they are tested:</a:t>
            </a:r>
            <a:r>
              <a:rPr lang="en-US" sz="1200" b="0">
                <a:solidFill>
                  <a:srgbClr val="000000"/>
                </a:solidFill>
              </a:rPr>
              <a:t> your five live runs under a planted injection, and our driver against your server and sandbox.</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Contracts, rubric and dates:</a:t>
            </a:r>
            <a:r>
              <a:rPr lang="en-US" sz="1200" b="0">
                <a:solidFill>
                  <a:srgbClr val="FFFFFF">
                    <a:alpha val="0"/>
                  </a:srgbClr>
                </a:solidFill>
              </a:rPr>
              <a:t> 18 rubric items, one point each. Due Friday, November 13, 2026, before 11:59 pm, with six late days per student per semester, at most three on one assignment.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bwMode="auto"/>
        <p:txBody>
          <a:bodyPr/>
          <a:lstStyle/>
          <a:p>
            <a:r>
              <a:t>The brief, section by section</a:t>
            </a:r>
            <a:endParaRPr/>
          </a:p>
        </p:txBody>
      </p:sp>
      <p:sp>
        <p:nvSpPr>
          <p:cNvPr id="3" name="Content Placeholder 2"/>
          <p:cNvSpPr>
            <a:spLocks noGrp="1"/>
          </p:cNvSpPr>
          <p:nvPr>
            <p:ph idx="1"/>
          </p:nvPr>
        </p:nvSpPr>
        <p:spPr bwMode="auto">
          <a:xfrm>
            <a:off x="320040" y="658368"/>
            <a:ext cx="6016752" cy="229510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What you build:</a:t>
            </a:r>
            <a:r>
              <a:rPr lang="en-US" sz="1200" b="0">
                <a:solidFill>
                  <a:srgbClr val="000000"/>
                </a:solidFill>
              </a:rPr>
              <a:t> the code-action agent and the MCP agent, the server with its analysis, text and write tools, and the stages both agents 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guardrails:</a:t>
            </a:r>
            <a:r>
              <a:rPr lang="en-US" sz="1200" b="0">
                <a:solidFill>
                  <a:srgbClr val="000000"/>
                </a:solidFill>
              </a:rPr>
              <a:t> the read, write and network rules, the prompt, server and kernel that hold them, and the policy you run under.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How they are tested:</a:t>
            </a:r>
            <a:r>
              <a:rPr lang="en-US" sz="1200" b="0">
                <a:solidFill>
                  <a:srgbClr val="000000"/>
                </a:solidFill>
              </a:rPr>
              <a:t> your five live runs under a planted injection, and our driver against your server and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Contracts, rubric and dates:</a:t>
            </a:r>
            <a:r>
              <a:rPr lang="en-US" sz="1200" b="0">
                <a:solidFill>
                  <a:srgbClr val="000000"/>
                </a:solidFill>
              </a:rPr>
              <a:t> 18 rubric items, one point each. Due Friday, November 13, 2026, before 11:59 pm, with six late days per student per semester, at most three on one assignment.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1117</TotalTime>
  <Words>16400</Words>
  <Application>Microsoft Macintosh PowerPoint</Application>
  <PresentationFormat>Custom</PresentationFormat>
  <Paragraphs>927</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Aptos</vt:lpstr>
      <vt:lpstr>Aptos Mono</vt:lpstr>
      <vt:lpstr>Simple Light</vt:lpstr>
      <vt:lpstr>PowerPoint Presentation</vt:lpstr>
      <vt:lpstr>PowerPoint Presentation</vt:lpstr>
      <vt:lpstr>MCP is a standard plug for AI applications.</vt:lpstr>
      <vt:lpstr>MCP is a standard plug for AI applications.</vt:lpstr>
      <vt:lpstr>MCP is a standard plug for AI applications.</vt:lpstr>
      <vt:lpstr>A server offers tools, resources and prompts.[1]</vt:lpstr>
      <vt:lpstr>One request travels from user to server.</vt:lpstr>
      <vt:lpstr>An MCP server is a program that offers tools.[2]</vt:lpstr>
      <vt:lpstr>An MCP server is a program that offers tools.[2]</vt:lpstr>
      <vt:lpstr>An MCP server is a program that offers tools.[2]</vt:lpstr>
      <vt:lpstr>A client connects an application to a server.[4]</vt:lpstr>
      <vt:lpstr>A client connects an application to a server.[4]</vt:lpstr>
      <vt:lpstr>A client connects an application to a server.[4]</vt:lpstr>
      <vt:lpstr>The host runs one client for each server.[1]</vt:lpstr>
      <vt:lpstr>The host runs one client for each server.[1]</vt:lpstr>
      <vt:lpstr>The host runs one client for each server.[1]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The host converts MCP tools for the model.[1]</vt:lpstr>
      <vt:lpstr>One tool call crosses two connections.[1]</vt:lpstr>
      <vt:lpstr>A tool result reports success or an error.[1]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SDK generates the definition from Python.</vt:lpstr>
      <vt:lpstr>A tool definition lists every contract field.[1]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Annotations are hints, not guarantees.[1]</vt:lpstr>
      <vt:lpstr>Annotations are hints, not guarantees.[1]</vt:lpstr>
      <vt:lpstr>Annotations are hints, not guarantees.[1]</vt:lpstr>
      <vt:lpstr>Every MCP request stands on its own.[1]</vt:lpstr>
      <vt:lpstr>Every MCP request stands on its own.[1]</vt:lpstr>
      <vt:lpstr>Every MCP request stands on its own.[1]</vt:lpstr>
      <vt:lpstr>Over stdio, each message is one line of JSON.[1]</vt:lpstr>
      <vt:lpstr>Over stdio, each message is one line of JSON.[1]</vt:lpstr>
      <vt:lpstr>Over stdio, each message is one line of JSON.[1]</vt:lpstr>
      <vt:lpstr>Over HTTP, each message is one POST.[1]</vt:lpstr>
      <vt:lpstr>An SSE reply can stream progress first.[1]</vt:lpstr>
      <vt:lpstr>An SSE reply can stream progress first.[1]</vt:lpstr>
      <vt:lpstr>An SSE reply can stream progress first.[1]</vt:lpstr>
      <vt:lpstr>A broken stream forces a new request.[1]</vt:lpstr>
      <vt:lpstr>A broken stream forces a new request.[1]</vt:lpstr>
      <vt:lpstr>A broken stream forces a new request.[1]</vt:lpstr>
      <vt:lpstr>Who must validate a tool's arguments?</vt:lpstr>
      <vt:lpstr>Who must validate a tool's arguments?</vt:lpstr>
      <vt:lpstr>Who sends a request again after a break?[1]</vt:lpstr>
      <vt:lpstr>Who sends a request again after a break?[1]</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214</cp:revision>
  <dcterms:modified xsi:type="dcterms:W3CDTF">2026-10-08T16:53:25Z</dcterms:modified>
</cp:coreProperties>
</file>
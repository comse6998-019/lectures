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29"/>
  </p:notesMasterIdLst>
  <p:sldIdLst>
    <p:sldId id="814" r:id="rId2"/>
    <p:sldId id="815" r:id="rId3"/>
    <p:sldId id="816" r:id="rId4"/>
    <p:sldId id="817" r:id="rId5"/>
    <p:sldId id="818" r:id="rId6"/>
    <p:sldId id="819" r:id="rId7"/>
    <p:sldId id="820" r:id="rId8"/>
    <p:sldId id="821" r:id="rId9"/>
    <p:sldId id="822" r:id="rId10"/>
    <p:sldId id="823" r:id="rId11"/>
    <p:sldId id="824" r:id="rId12"/>
    <p:sldId id="825" r:id="rId13"/>
    <p:sldId id="826" r:id="rId14"/>
    <p:sldId id="827" r:id="rId15"/>
    <p:sldId id="828" r:id="rId16"/>
    <p:sldId id="829" r:id="rId17"/>
    <p:sldId id="830" r:id="rId18"/>
    <p:sldId id="831" r:id="rId19"/>
    <p:sldId id="832" r:id="rId20"/>
    <p:sldId id="833" r:id="rId21"/>
    <p:sldId id="834" r:id="rId22"/>
    <p:sldId id="835" r:id="rId23"/>
    <p:sldId id="672" r:id="rId24"/>
    <p:sldId id="674" r:id="rId25"/>
    <p:sldId id="675" r:id="rId26"/>
    <p:sldId id="676" r:id="rId27"/>
    <p:sldId id="677" r:id="rId28"/>
    <p:sldId id="673" r:id="rId29"/>
    <p:sldId id="679" r:id="rId30"/>
    <p:sldId id="680" r:id="rId31"/>
    <p:sldId id="681" r:id="rId32"/>
    <p:sldId id="678" r:id="rId33"/>
    <p:sldId id="683" r:id="rId34"/>
    <p:sldId id="684" r:id="rId35"/>
    <p:sldId id="685" r:id="rId36"/>
    <p:sldId id="686" r:id="rId37"/>
    <p:sldId id="687" r:id="rId38"/>
    <p:sldId id="682" r:id="rId39"/>
    <p:sldId id="689" r:id="rId40"/>
    <p:sldId id="690" r:id="rId41"/>
    <p:sldId id="691" r:id="rId42"/>
    <p:sldId id="692" r:id="rId43"/>
    <p:sldId id="693" r:id="rId44"/>
    <p:sldId id="688" r:id="rId45"/>
    <p:sldId id="695" r:id="rId46"/>
    <p:sldId id="696" r:id="rId47"/>
    <p:sldId id="697" r:id="rId48"/>
    <p:sldId id="694" r:id="rId49"/>
    <p:sldId id="699" r:id="rId50"/>
    <p:sldId id="700" r:id="rId51"/>
    <p:sldId id="701" r:id="rId52"/>
    <p:sldId id="702" r:id="rId53"/>
    <p:sldId id="698" r:id="rId54"/>
    <p:sldId id="704" r:id="rId55"/>
    <p:sldId id="705" r:id="rId56"/>
    <p:sldId id="706" r:id="rId57"/>
    <p:sldId id="707" r:id="rId58"/>
    <p:sldId id="703" r:id="rId59"/>
    <p:sldId id="709" r:id="rId60"/>
    <p:sldId id="710" r:id="rId61"/>
    <p:sldId id="711" r:id="rId62"/>
    <p:sldId id="712" r:id="rId63"/>
    <p:sldId id="708" r:id="rId64"/>
    <p:sldId id="714" r:id="rId65"/>
    <p:sldId id="715" r:id="rId66"/>
    <p:sldId id="713" r:id="rId67"/>
    <p:sldId id="717" r:id="rId68"/>
    <p:sldId id="718" r:id="rId69"/>
    <p:sldId id="719" r:id="rId70"/>
    <p:sldId id="720" r:id="rId71"/>
    <p:sldId id="716" r:id="rId72"/>
    <p:sldId id="722" r:id="rId73"/>
    <p:sldId id="723" r:id="rId74"/>
    <p:sldId id="724" r:id="rId75"/>
    <p:sldId id="725" r:id="rId76"/>
    <p:sldId id="721" r:id="rId77"/>
    <p:sldId id="727" r:id="rId78"/>
    <p:sldId id="728" r:id="rId79"/>
    <p:sldId id="729" r:id="rId80"/>
    <p:sldId id="730" r:id="rId81"/>
    <p:sldId id="726" r:id="rId82"/>
    <p:sldId id="732" r:id="rId83"/>
    <p:sldId id="733" r:id="rId84"/>
    <p:sldId id="734" r:id="rId85"/>
    <p:sldId id="735" r:id="rId86"/>
    <p:sldId id="736" r:id="rId87"/>
    <p:sldId id="737" r:id="rId88"/>
    <p:sldId id="731" r:id="rId89"/>
    <p:sldId id="739" r:id="rId90"/>
    <p:sldId id="741" r:id="rId91"/>
    <p:sldId id="742" r:id="rId92"/>
    <p:sldId id="743" r:id="rId93"/>
    <p:sldId id="744" r:id="rId94"/>
    <p:sldId id="740" r:id="rId95"/>
    <p:sldId id="842" r:id="rId96"/>
    <p:sldId id="843" r:id="rId97"/>
    <p:sldId id="844" r:id="rId98"/>
    <p:sldId id="845" r:id="rId99"/>
    <p:sldId id="846" r:id="rId100"/>
    <p:sldId id="847" r:id="rId101"/>
    <p:sldId id="848" r:id="rId102"/>
    <p:sldId id="849" r:id="rId103"/>
    <p:sldId id="856" r:id="rId104"/>
    <p:sldId id="850" r:id="rId105"/>
    <p:sldId id="857" r:id="rId106"/>
    <p:sldId id="851" r:id="rId107"/>
    <p:sldId id="852" r:id="rId108"/>
    <p:sldId id="858" r:id="rId109"/>
    <p:sldId id="859" r:id="rId110"/>
    <p:sldId id="860" r:id="rId111"/>
    <p:sldId id="853" r:id="rId112"/>
    <p:sldId id="854" r:id="rId113"/>
    <p:sldId id="855" r:id="rId114"/>
    <p:sldId id="925" r:id="rId115"/>
    <p:sldId id="926" r:id="rId116"/>
    <p:sldId id="927" r:id="rId117"/>
    <p:sldId id="931" r:id="rId118"/>
    <p:sldId id="863" r:id="rId119"/>
    <p:sldId id="864" r:id="rId120"/>
    <p:sldId id="865" r:id="rId121"/>
    <p:sldId id="866" r:id="rId122"/>
    <p:sldId id="867" r:id="rId123"/>
    <p:sldId id="868" r:id="rId124"/>
    <p:sldId id="869" r:id="rId125"/>
    <p:sldId id="870" r:id="rId126"/>
    <p:sldId id="871" r:id="rId127"/>
    <p:sldId id="872" r:id="rId128"/>
    <p:sldId id="873" r:id="rId129"/>
    <p:sldId id="874" r:id="rId130"/>
    <p:sldId id="875" r:id="rId131"/>
    <p:sldId id="876" r:id="rId132"/>
    <p:sldId id="877" r:id="rId133"/>
    <p:sldId id="878" r:id="rId134"/>
    <p:sldId id="879" r:id="rId135"/>
    <p:sldId id="880" r:id="rId136"/>
    <p:sldId id="881" r:id="rId137"/>
    <p:sldId id="882" r:id="rId138"/>
    <p:sldId id="883" r:id="rId139"/>
    <p:sldId id="884" r:id="rId140"/>
    <p:sldId id="885" r:id="rId141"/>
    <p:sldId id="932" r:id="rId142"/>
    <p:sldId id="933" r:id="rId143"/>
    <p:sldId id="934" r:id="rId144"/>
    <p:sldId id="935" r:id="rId145"/>
    <p:sldId id="936" r:id="rId146"/>
    <p:sldId id="886" r:id="rId147"/>
    <p:sldId id="887" r:id="rId148"/>
    <p:sldId id="888" r:id="rId149"/>
    <p:sldId id="889" r:id="rId150"/>
    <p:sldId id="890" r:id="rId151"/>
    <p:sldId id="891" r:id="rId152"/>
    <p:sldId id="937" r:id="rId153"/>
    <p:sldId id="892" r:id="rId154"/>
    <p:sldId id="893" r:id="rId155"/>
    <p:sldId id="894" r:id="rId156"/>
    <p:sldId id="895" r:id="rId157"/>
    <p:sldId id="896" r:id="rId158"/>
    <p:sldId id="897" r:id="rId159"/>
    <p:sldId id="898" r:id="rId160"/>
    <p:sldId id="899" r:id="rId161"/>
    <p:sldId id="900" r:id="rId162"/>
    <p:sldId id="901" r:id="rId163"/>
    <p:sldId id="902" r:id="rId164"/>
    <p:sldId id="903" r:id="rId165"/>
    <p:sldId id="904" r:id="rId166"/>
    <p:sldId id="756" r:id="rId167"/>
    <p:sldId id="757" r:id="rId168"/>
    <p:sldId id="758" r:id="rId169"/>
    <p:sldId id="755" r:id="rId170"/>
    <p:sldId id="905" r:id="rId171"/>
    <p:sldId id="906" r:id="rId172"/>
    <p:sldId id="907" r:id="rId173"/>
    <p:sldId id="908" r:id="rId174"/>
    <p:sldId id="909" r:id="rId175"/>
    <p:sldId id="910" r:id="rId176"/>
    <p:sldId id="911" r:id="rId177"/>
    <p:sldId id="912" r:id="rId178"/>
    <p:sldId id="913" r:id="rId179"/>
    <p:sldId id="914" r:id="rId180"/>
    <p:sldId id="915" r:id="rId181"/>
    <p:sldId id="916" r:id="rId182"/>
    <p:sldId id="917" r:id="rId183"/>
    <p:sldId id="918" r:id="rId184"/>
    <p:sldId id="919" r:id="rId185"/>
    <p:sldId id="920" r:id="rId186"/>
    <p:sldId id="921" r:id="rId187"/>
    <p:sldId id="922" r:id="rId188"/>
    <p:sldId id="923" r:id="rId189"/>
    <p:sldId id="924" r:id="rId190"/>
    <p:sldId id="928" r:id="rId191"/>
    <p:sldId id="929" r:id="rId192"/>
    <p:sldId id="930" r:id="rId193"/>
    <p:sldId id="786" r:id="rId194"/>
    <p:sldId id="787" r:id="rId195"/>
    <p:sldId id="788" r:id="rId196"/>
    <p:sldId id="785" r:id="rId197"/>
    <p:sldId id="790" r:id="rId198"/>
    <p:sldId id="791" r:id="rId199"/>
    <p:sldId id="792" r:id="rId200"/>
    <p:sldId id="789" r:id="rId201"/>
    <p:sldId id="794" r:id="rId202"/>
    <p:sldId id="795" r:id="rId203"/>
    <p:sldId id="796" r:id="rId204"/>
    <p:sldId id="797" r:id="rId205"/>
    <p:sldId id="793" r:id="rId206"/>
    <p:sldId id="799" r:id="rId207"/>
    <p:sldId id="800" r:id="rId208"/>
    <p:sldId id="801" r:id="rId209"/>
    <p:sldId id="798" r:id="rId210"/>
    <p:sldId id="803" r:id="rId211"/>
    <p:sldId id="804" r:id="rId212"/>
    <p:sldId id="805" r:id="rId213"/>
    <p:sldId id="806" r:id="rId214"/>
    <p:sldId id="807" r:id="rId215"/>
    <p:sldId id="808" r:id="rId216"/>
    <p:sldId id="802" r:id="rId217"/>
    <p:sldId id="809" r:id="rId218"/>
    <p:sldId id="810" r:id="rId219"/>
    <p:sldId id="837" r:id="rId220"/>
    <p:sldId id="838" r:id="rId221"/>
    <p:sldId id="839" r:id="rId222"/>
    <p:sldId id="840" r:id="rId223"/>
    <p:sldId id="841" r:id="rId224"/>
    <p:sldId id="836" r:id="rId225"/>
    <p:sldId id="812" r:id="rId226"/>
    <p:sldId id="813" r:id="rId227"/>
    <p:sldId id="811" r:id="rId228"/>
  </p:sldIdLst>
  <p:sldSz cx="6858000" cy="5143500"/>
  <p:notesSz cx="6858000" cy="9144000"/>
  <p:embeddedFontLst>
    <p:embeddedFont>
      <p:font typeface="Aptos Mono" panose="020B0009020202020204" pitchFamily="49" charset="0"/>
      <p:regular r:id="rId230"/>
      <p:bold r:id="rId231"/>
      <p:italic r:id="rId232"/>
      <p:boldItalic r:id="rId233"/>
    </p:embeddedFont>
  </p:embeddedFontLst>
  <p:defaultTextStyle>
    <a:defPPr marR="0" lvl="0" algn="l" rtl="0">
      <a:lnSpc>
        <a:spcPct val="100000"/>
      </a:lnSpc>
      <a:spcBef>
        <a:spcPts val="0"/>
      </a:spcBef>
      <a:spcAft>
        <a:spcPts val="0"/>
      </a:spcAft>
      <a:defRPr lang="en-US"/>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defaultTextStyle>
  <p:extLst>
    <p:ext uri="{EFAFB233-063F-42B5-8137-9DF3F51BA10A}">
      <p15:sldGuideLst xmlns:p15="http://schemas.microsoft.com/office/powerpoint/2012/main">
        <p15:guide id="1" orient="horz" pos="162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a:solidFill>
                <a:schemeClr val="lt1"/>
              </a:solidFill>
            </a:ln>
          </a:left>
          <a:right>
            <a:ln w="12700">
              <a:solidFill>
                <a:schemeClr val="lt1"/>
              </a:solidFill>
            </a:ln>
          </a:right>
          <a:top>
            <a:ln w="12700">
              <a:solidFill>
                <a:schemeClr val="lt1"/>
              </a:solidFill>
            </a:ln>
          </a:top>
          <a:bottom>
            <a:ln w="12700">
              <a:solidFill>
                <a:schemeClr val="lt1"/>
              </a:solidFill>
            </a:ln>
          </a:bottom>
          <a:insideH>
            <a:ln w="12700">
              <a:solidFill>
                <a:schemeClr val="lt1"/>
              </a:solidFill>
            </a:ln>
          </a:insideH>
          <a:insideV>
            <a:ln w="12700">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fill>
          <a:solidFill>
            <a:schemeClr val="accent1">
              <a:tint val="40000"/>
            </a:schemeClr>
          </a:solidFill>
        </a:fill>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a:solidFill>
                <a:schemeClr val="lt1"/>
              </a:solidFill>
            </a:ln>
          </a:top>
        </a:tcBdr>
        <a:fill>
          <a:solidFill>
            <a:schemeClr val="accent1"/>
          </a:solidFill>
        </a:fill>
      </a:tcStyle>
    </a:lastRow>
    <a:seCell>
      <a:tcStyle>
        <a:tcBdr/>
      </a:tcStyle>
    </a:seCell>
    <a:swCell>
      <a:tcStyle>
        <a:tcBdr/>
      </a:tcStyle>
    </a:swCell>
    <a:firstRow>
      <a:tcTxStyle b="on">
        <a:fontRef idx="minor">
          <a:prstClr val="black"/>
        </a:fontRef>
        <a:schemeClr val="lt1"/>
      </a:tcTxStyle>
      <a:tcStyle>
        <a:tcBdr>
          <a:bottom>
            <a:ln w="38100">
              <a:solidFill>
                <a:schemeClr val="lt1"/>
              </a:solidFill>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129"/>
    <p:restoredTop sz="97007"/>
  </p:normalViewPr>
  <p:slideViewPr>
    <p:cSldViewPr snapToGrid="0">
      <p:cViewPr varScale="1">
        <p:scale>
          <a:sx n="207" d="100"/>
          <a:sy n="207" d="100"/>
        </p:scale>
        <p:origin x="2088" y="160"/>
      </p:cViewPr>
      <p:guideLst>
        <p:guide orient="horz" pos="162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tableStyles" Target="tableStyle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notesMaster" Target="notesMasters/notesMaster1.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font" Target="fonts/font1.fntdata"/><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slide" Target="slides/slide219.xml"/><Relationship Id="rId225" Type="http://schemas.openxmlformats.org/officeDocument/2006/relationships/slide" Target="slides/slide224.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36" Type="http://schemas.openxmlformats.org/officeDocument/2006/relationships/theme" Target="theme/theme1.xml"/><Relationship Id="rId26" Type="http://schemas.openxmlformats.org/officeDocument/2006/relationships/slide" Target="slides/slide25.xml"/><Relationship Id="rId231" Type="http://schemas.openxmlformats.org/officeDocument/2006/relationships/font" Target="fonts/font2.fntdata"/><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font" Target="fonts/font3.fntdata"/><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font" Target="fonts/font4.fntdata"/><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viewProps" Target="viewProps.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1035575316" name="Google Shape;3;n"/>
          <p:cNvSpPr>
            <a:spLocks noGrp="1" noRot="1" noChangeAspect="1"/>
          </p:cNvSpPr>
          <p:nvPr>
            <p:ph type="sldImg" idx="2"/>
          </p:nvPr>
        </p:nvSpPr>
        <p:spPr bwMode="auto">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pPr>
              <a:defRPr/>
            </a:pPr>
            <a:endParaRPr lang="en-US" dirty="0"/>
          </a:p>
        </p:txBody>
      </p:sp>
      <p:sp>
        <p:nvSpPr>
          <p:cNvPr id="339611205" name="Google Shape;4;n"/>
          <p:cNvSpPr txBox="1">
            <a:spLocks noGrp="1"/>
          </p:cNvSpPr>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pPr>
              <a:defRPr/>
            </a:pPr>
            <a:endParaRPr dirty="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Introduce </a:t>
            </a:r>
            <a:r>
              <a:rPr b="1" dirty="0"/>
              <a:t>Lecture 5</a:t>
            </a:r>
            <a:r>
              <a:rPr dirty="0"/>
              <a:t>: the </a:t>
            </a:r>
            <a:r>
              <a:rPr b="1" dirty="0"/>
              <a:t>tool boundary</a:t>
            </a:r>
            <a:r>
              <a:rPr dirty="0"/>
              <a:t> </a:t>
            </a:r>
            <a:r>
              <a:rPr b="1" dirty="0"/>
              <a:t>under attack</a:t>
            </a:r>
            <a:r>
              <a:rPr dirty="0"/>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Four builds of lecture 5 recap what this lecture builds on: the MCP client–server connection model, the parts of a tool contract that the server enforces, incident analysis with OWASP and ATLAS, and the OpenClaw finding that the failed controls sat in the agent's runtime.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Recap of lecture 5. A host holds one client per server; the client speaks the protocol, the server offers tools, resources and prompts. The host converts the tools for its model. HW2 makes your agent this host.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Recap of lecture 5. A host holds one client per server; the client speaks the protocol, the server offers tools, resources and prompts. The host converts the tools for its model. HW2 makes your agent this host.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Recap of lecture 5. A host holds one client per server; the client speaks the protocol, the server offers tools, resources and prompts. The host converts the tools for its model. HW2 makes your agent this host.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ATLAS names what to restrict and </a:t>
            </a:r>
            <a:r>
              <a:rPr b="1" dirty="0"/>
              <a:t>never which process enforces it</a:t>
            </a:r>
            <a:r>
              <a:rPr dirty="0"/>
              <a:t>. This section asks where a rule such as 'the agent may not read </a:t>
            </a:r>
            <a:r>
              <a:rPr b="1" dirty="0"/>
              <a:t>~/.ssh</a:t>
            </a:r>
            <a:r>
              <a:rPr dirty="0"/>
              <a:t>' should be enforced. It starts with the </a:t>
            </a:r>
            <a:r>
              <a:rPr b="1" dirty="0"/>
              <a:t>cheapest place, the model itself</a:t>
            </a:r>
            <a:r>
              <a:rPr dirty="0"/>
              <a:t>, and a </a:t>
            </a:r>
            <a:r>
              <a:rPr b="1" dirty="0"/>
              <a:t>2026 study</a:t>
            </a:r>
            <a:r>
              <a:rPr dirty="0"/>
              <a:t> that measured how well that place holds when the model uses tools.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This lecture places </a:t>
            </a:r>
            <a:r>
              <a:rPr b="1" dirty="0"/>
              <a:t>Generative AI Guidelines</a:t>
            </a:r>
            <a:r>
              <a:rPr dirty="0"/>
              <a:t> and </a:t>
            </a:r>
            <a:r>
              <a:rPr b="1" dirty="0"/>
              <a:t>Generative AI Model Alignment</a:t>
            </a:r>
            <a:r>
              <a:rPr dirty="0"/>
              <a:t> in the mitigations that change the model or its instructions (the '</a:t>
            </a:r>
            <a:r>
              <a:rPr b="1" dirty="0"/>
              <a:t>harden the model</a:t>
            </a:r>
            <a:r>
              <a:rPr dirty="0"/>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dirty="0"/>
              <a:t>should not rely solely on system prompts</a:t>
            </a:r>
            <a:r>
              <a:rPr dirty="0"/>
              <a:t> or model alignment. The study on the next slides is the evidence for that warning. </a:t>
            </a:r>
            <a:r>
              <a:rPr b="1" dirty="0"/>
              <a:t>Generative AI Guardrails</a:t>
            </a:r>
            <a:r>
              <a:rPr dirty="0"/>
              <a:t> is a separate layer that screens prompts, context, outputs and tool requests; it is </a:t>
            </a:r>
            <a:r>
              <a:rPr b="1" dirty="0"/>
              <a:t>not a rule inside the model</a:t>
            </a:r>
            <a:r>
              <a:rPr dirty="0"/>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This lecture places </a:t>
            </a:r>
            <a:r>
              <a:rPr b="1" dirty="0"/>
              <a:t>Generative AI Guidelines</a:t>
            </a:r>
            <a:r>
              <a:rPr dirty="0"/>
              <a:t> and </a:t>
            </a:r>
            <a:r>
              <a:rPr b="1" dirty="0"/>
              <a:t>Generative AI Model Alignment</a:t>
            </a:r>
            <a:r>
              <a:rPr dirty="0"/>
              <a:t> in the mitigations that change the model or its instructions (the '</a:t>
            </a:r>
            <a:r>
              <a:rPr b="1" dirty="0"/>
              <a:t>harden the model</a:t>
            </a:r>
            <a:r>
              <a:rPr dirty="0"/>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dirty="0"/>
              <a:t>should not rely solely on system prompts</a:t>
            </a:r>
            <a:r>
              <a:rPr dirty="0"/>
              <a:t> or model alignment. The study on the next slides is the evidence for that warning. </a:t>
            </a:r>
            <a:r>
              <a:rPr b="1" dirty="0"/>
              <a:t>Generative AI Guardrails</a:t>
            </a:r>
            <a:r>
              <a:rPr dirty="0"/>
              <a:t> is a separate layer that screens prompts, context, outputs and tool requests; it is </a:t>
            </a:r>
            <a:r>
              <a:rPr b="1" dirty="0"/>
              <a:t>not a rule inside the model</a:t>
            </a:r>
            <a:r>
              <a:rPr dirty="0"/>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This lecture places </a:t>
            </a:r>
            <a:r>
              <a:rPr b="1" dirty="0"/>
              <a:t>Generative AI Guidelines</a:t>
            </a:r>
            <a:r>
              <a:rPr dirty="0"/>
              <a:t> and </a:t>
            </a:r>
            <a:r>
              <a:rPr b="1" dirty="0"/>
              <a:t>Generative AI Model Alignment</a:t>
            </a:r>
            <a:r>
              <a:rPr dirty="0"/>
              <a:t> in the mitigations that change the model or its instructions (the '</a:t>
            </a:r>
            <a:r>
              <a:rPr b="1" dirty="0"/>
              <a:t>harden the model</a:t>
            </a:r>
            <a:r>
              <a:rPr dirty="0"/>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dirty="0"/>
              <a:t>should not rely solely on system prompts</a:t>
            </a:r>
            <a:r>
              <a:rPr dirty="0"/>
              <a:t> or model alignment. The study on the next slides is the evidence for that warning. </a:t>
            </a:r>
            <a:r>
              <a:rPr b="1" dirty="0"/>
              <a:t>Generative AI Guardrails</a:t>
            </a:r>
            <a:r>
              <a:rPr dirty="0"/>
              <a:t> is a separate layer that screens prompts, context, outputs and tool requests; it is </a:t>
            </a:r>
            <a:r>
              <a:rPr b="1" dirty="0"/>
              <a:t>not a rule inside the model</a:t>
            </a:r>
            <a:r>
              <a:rPr dirty="0"/>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This lecture places </a:t>
            </a:r>
            <a:r>
              <a:rPr b="1" dirty="0"/>
              <a:t>Generative AI Guidelines</a:t>
            </a:r>
            <a:r>
              <a:rPr dirty="0"/>
              <a:t> and </a:t>
            </a:r>
            <a:r>
              <a:rPr b="1" dirty="0"/>
              <a:t>Generative AI Model Alignment</a:t>
            </a:r>
            <a:r>
              <a:rPr dirty="0"/>
              <a:t> in the mitigations that change the model or its instructions (the '</a:t>
            </a:r>
            <a:r>
              <a:rPr b="1" dirty="0"/>
              <a:t>harden the model</a:t>
            </a:r>
            <a:r>
              <a:rPr dirty="0"/>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dirty="0"/>
              <a:t>should not rely solely on system prompts</a:t>
            </a:r>
            <a:r>
              <a:rPr dirty="0"/>
              <a:t> or model alignment. The study on the next slides is the evidence for that warning. </a:t>
            </a:r>
            <a:r>
              <a:rPr b="1" dirty="0"/>
              <a:t>Generative AI Guardrails</a:t>
            </a:r>
            <a:r>
              <a:rPr dirty="0"/>
              <a:t> is a separate layer that screens prompts, context, outputs and tool requests; it is </a:t>
            </a:r>
            <a:r>
              <a:rPr b="1" dirty="0"/>
              <a:t>not a rule inside the model</a:t>
            </a:r>
            <a:r>
              <a:rPr dirty="0"/>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This lecture places </a:t>
            </a:r>
            <a:r>
              <a:rPr b="1" dirty="0"/>
              <a:t>Generative AI Guidelines</a:t>
            </a:r>
            <a:r>
              <a:rPr dirty="0"/>
              <a:t> and </a:t>
            </a:r>
            <a:r>
              <a:rPr b="1" dirty="0"/>
              <a:t>Generative AI Model Alignment</a:t>
            </a:r>
            <a:r>
              <a:rPr dirty="0"/>
              <a:t> in the mitigations that change the model or its instructions (the '</a:t>
            </a:r>
            <a:r>
              <a:rPr b="1" dirty="0"/>
              <a:t>harden the model</a:t>
            </a:r>
            <a:r>
              <a:rPr dirty="0"/>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dirty="0"/>
              <a:t>should not rely solely on system prompts</a:t>
            </a:r>
            <a:r>
              <a:rPr dirty="0"/>
              <a:t> or model alignment. The study on the next slides is the evidence for that warning. </a:t>
            </a:r>
            <a:r>
              <a:rPr b="1" dirty="0"/>
              <a:t>Generative AI Guardrails</a:t>
            </a:r>
            <a:r>
              <a:rPr dirty="0"/>
              <a:t> is a separate layer that screens prompts, context, outputs and tool requests; it is </a:t>
            </a:r>
            <a:r>
              <a:rPr b="1" dirty="0"/>
              <a:t>not a rule inside the model</a:t>
            </a:r>
            <a:r>
              <a:rPr dirty="0"/>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err="1"/>
              <a:t>Takehi</a:t>
            </a:r>
            <a:r>
              <a:rPr dirty="0"/>
              <a:t>, Hachiuma, Ghosh, Zhao, Wang and Hirota, 'MLLMs Fail to Refuse when Using Tools </a:t>
            </a:r>
            <a:r>
              <a:rPr dirty="0" err="1"/>
              <a:t>Agentically</a:t>
            </a:r>
            <a:r>
              <a:rPr dirty="0"/>
              <a:t>', </a:t>
            </a:r>
            <a:r>
              <a:rPr b="1" dirty="0"/>
              <a:t>arXiv:2610.03938</a:t>
            </a:r>
            <a:r>
              <a:rPr dirty="0"/>
              <a:t>, version 1, October 2, 2026 (the arXiv listing says accepted at </a:t>
            </a:r>
            <a:r>
              <a:rPr dirty="0" err="1"/>
              <a:t>NeurIPS</a:t>
            </a:r>
            <a:r>
              <a:rPr dirty="0"/>
              <a:t> 2026; the PDF footer names the Evaluations and Datasets track). Judgments by GPT-5.2 against the </a:t>
            </a:r>
            <a:r>
              <a:rPr b="1" dirty="0" err="1"/>
              <a:t>VLSBench</a:t>
            </a:r>
            <a:r>
              <a:rPr dirty="0"/>
              <a:t> prompt; 97 of 100 human labels agree. </a:t>
            </a:r>
            <a:r>
              <a:rPr b="1" dirty="0"/>
              <a:t>Eleven multimodal models</a:t>
            </a:r>
            <a:r>
              <a:rPr dirty="0"/>
              <a:t> (six open-weight, five proprietary) are run as no-tool models and as tool-using agents on three benchmarks of harmful requests about images: </a:t>
            </a:r>
            <a:r>
              <a:rPr b="1" dirty="0"/>
              <a:t>MM-</a:t>
            </a:r>
            <a:r>
              <a:rPr b="1" dirty="0" err="1"/>
              <a:t>SafetyBench</a:t>
            </a:r>
            <a:r>
              <a:rPr dirty="0"/>
              <a:t> (SD_TYPO split, 1,680 pairs), </a:t>
            </a:r>
            <a:r>
              <a:rPr b="1" dirty="0" err="1"/>
              <a:t>VLSBench</a:t>
            </a:r>
            <a:r>
              <a:rPr dirty="0"/>
              <a:t> (2,241) and </a:t>
            </a:r>
            <a:r>
              <a:rPr b="1" dirty="0" err="1"/>
              <a:t>HoliSafe</a:t>
            </a:r>
            <a:r>
              <a:rPr dirty="0"/>
              <a:t> (4,016). The agent follows the </a:t>
            </a:r>
            <a:r>
              <a:rPr b="1" dirty="0"/>
              <a:t>ReACT</a:t>
            </a:r>
            <a:r>
              <a:rPr dirty="0"/>
              <a:t> format (the prompt follows MM-REACT) with </a:t>
            </a:r>
            <a:r>
              <a:rPr b="1" dirty="0"/>
              <a:t>four tools</a:t>
            </a:r>
            <a:r>
              <a:rPr dirty="0"/>
              <a:t>: tagging (RAM++), zooming (cropping), OCR (GOT-OCR2.0) and a sandboxed Python interpreter on the image. The metric is the </a:t>
            </a:r>
            <a:r>
              <a:rPr b="1" dirty="0"/>
              <a:t>refusal failure rate</a:t>
            </a:r>
            <a:r>
              <a:rPr dirty="0"/>
              <a:t> in [0, 100], the rate at which the model fails to refuse dangerous requests; a higher value means lower safety. The example in the figure is the paper's own (</a:t>
            </a:r>
            <a:r>
              <a:rPr b="1" dirty="0" err="1"/>
              <a:t>HoliSafe</a:t>
            </a:r>
            <a:r>
              <a:rPr dirty="0"/>
              <a:t>, the sign of a public facility).</a:t>
            </a:r>
          </a:p>
          <a:p>
            <a:endParaRPr dirty="0"/>
          </a:p>
          <a:p>
            <a:r>
              <a:rPr dirty="0"/>
              <a:t>The figure, stage by stage.</a:t>
            </a:r>
          </a:p>
          <a:p>
            <a:r>
              <a:rPr dirty="0"/>
              <a:t>1. The control. Every test case pairs an image with a harmful written request (the paper's restroom-sign example from </a:t>
            </a:r>
            <a:r>
              <a:rPr b="1" dirty="0" err="1"/>
              <a:t>HoliSafe</a:t>
            </a:r>
            <a:r>
              <a:rPr dirty="0"/>
              <a:t>, Figure 6, sign redrawn), taken from </a:t>
            </a:r>
            <a:r>
              <a:rPr b="1" dirty="0"/>
              <a:t>MM-</a:t>
            </a:r>
            <a:r>
              <a:rPr b="1" dirty="0" err="1"/>
              <a:t>SafetyBench</a:t>
            </a:r>
            <a:r>
              <a:rPr dirty="0"/>
              <a:t>, </a:t>
            </a:r>
            <a:r>
              <a:rPr b="1" dirty="0" err="1"/>
              <a:t>VLSBench</a:t>
            </a:r>
            <a:r>
              <a:rPr dirty="0"/>
              <a:t> and </a:t>
            </a:r>
            <a:r>
              <a:rPr b="1" dirty="0" err="1"/>
              <a:t>HoliSafe</a:t>
            </a:r>
            <a:r>
              <a:rPr dirty="0"/>
              <a:t>. In the control the model has no tools: it works through the image and then answers (the matched no-tool prompt in Appendix A.1 has it describe, examine, review and synthesize).</a:t>
            </a:r>
          </a:p>
          <a:p>
            <a:r>
              <a:rPr dirty="0"/>
              <a:t>2. The treatment. The same model gets the same pair inside a </a:t>
            </a:r>
            <a:r>
              <a:rPr b="1" dirty="0"/>
              <a:t>ReACT</a:t>
            </a:r>
            <a:r>
              <a:rPr dirty="0"/>
              <a:t> loop (think, call a tool, observe, repeat until done) with </a:t>
            </a:r>
            <a:r>
              <a:rPr b="1" dirty="0"/>
              <a:t>four tools</a:t>
            </a:r>
            <a:r>
              <a:rPr dirty="0"/>
              <a:t> (tagging, zoom, OCR, sandboxed Python). Each tool output is appended to the context before the final answer.</a:t>
            </a:r>
          </a:p>
          <a:p>
            <a:r>
              <a:rPr dirty="0"/>
              <a:t>3. The measure. Both answers go to a judge (GPT-5.2) that decides whether each was a refusal. The </a:t>
            </a:r>
            <a:r>
              <a:rPr b="1" dirty="0"/>
              <a:t>refusal failure rate</a:t>
            </a:r>
            <a:r>
              <a:rPr dirty="0"/>
              <a:t> is the share of harmful requests not refused (lower is safer). Averaged over 11 models and 3 benchmarks it is </a:t>
            </a:r>
            <a:r>
              <a:rPr b="1" dirty="0"/>
              <a:t>32.3% without tools and 38.0% with tools</a:t>
            </a:r>
            <a:r>
              <a:rPr dirty="0"/>
              <a:t>; the sample is 11 models (6 open-weight, 5 proprietary) and 3 benchmarks (1,680, 2,241 and 4,016 pairs, the same pairs in both conditions).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err="1"/>
              <a:t>Takehi</a:t>
            </a:r>
            <a:r>
              <a:rPr dirty="0"/>
              <a:t>, Hachiuma, Ghosh, Zhao, Wang and Hirota, 'MLLMs Fail to Refuse when Using Tools </a:t>
            </a:r>
            <a:r>
              <a:rPr dirty="0" err="1"/>
              <a:t>Agentically</a:t>
            </a:r>
            <a:r>
              <a:rPr dirty="0"/>
              <a:t>', </a:t>
            </a:r>
            <a:r>
              <a:rPr b="1" dirty="0"/>
              <a:t>arXiv:2610.03938</a:t>
            </a:r>
            <a:r>
              <a:rPr dirty="0"/>
              <a:t>, version 1, October 2, 2026 (the arXiv listing says accepted at </a:t>
            </a:r>
            <a:r>
              <a:rPr dirty="0" err="1"/>
              <a:t>NeurIPS</a:t>
            </a:r>
            <a:r>
              <a:rPr dirty="0"/>
              <a:t> 2026; the PDF footer names the Evaluations and Datasets track). Judgments by GPT-5.2 against the </a:t>
            </a:r>
            <a:r>
              <a:rPr b="1" dirty="0" err="1"/>
              <a:t>VLSBench</a:t>
            </a:r>
            <a:r>
              <a:rPr dirty="0"/>
              <a:t> prompt; 97 of 100 human labels agree. </a:t>
            </a:r>
            <a:r>
              <a:rPr b="1" dirty="0"/>
              <a:t>Eleven multimodal models</a:t>
            </a:r>
            <a:r>
              <a:rPr dirty="0"/>
              <a:t> (six open-weight, five proprietary) are run as no-tool models and as tool-using agents on three benchmarks of harmful requests about images: </a:t>
            </a:r>
            <a:r>
              <a:rPr b="1" dirty="0"/>
              <a:t>MM-</a:t>
            </a:r>
            <a:r>
              <a:rPr b="1" dirty="0" err="1"/>
              <a:t>SafetyBench</a:t>
            </a:r>
            <a:r>
              <a:rPr dirty="0"/>
              <a:t> (SD_TYPO split, 1,680 pairs), </a:t>
            </a:r>
            <a:r>
              <a:rPr b="1" dirty="0" err="1"/>
              <a:t>VLSBench</a:t>
            </a:r>
            <a:r>
              <a:rPr dirty="0"/>
              <a:t> (2,241) and </a:t>
            </a:r>
            <a:r>
              <a:rPr b="1" dirty="0" err="1"/>
              <a:t>HoliSafe</a:t>
            </a:r>
            <a:r>
              <a:rPr dirty="0"/>
              <a:t> (4,016). The agent follows the </a:t>
            </a:r>
            <a:r>
              <a:rPr b="1" dirty="0"/>
              <a:t>ReACT</a:t>
            </a:r>
            <a:r>
              <a:rPr dirty="0"/>
              <a:t> format (the prompt follows MM-REACT) with </a:t>
            </a:r>
            <a:r>
              <a:rPr b="1" dirty="0"/>
              <a:t>four tools</a:t>
            </a:r>
            <a:r>
              <a:rPr dirty="0"/>
              <a:t>: tagging (RAM++), zooming (cropping), OCR (GOT-OCR2.0) and a sandboxed Python interpreter on the image. The metric is the </a:t>
            </a:r>
            <a:r>
              <a:rPr b="1" dirty="0"/>
              <a:t>refusal failure rate</a:t>
            </a:r>
            <a:r>
              <a:rPr dirty="0"/>
              <a:t> in [0, 100], the rate at which the model fails to refuse dangerous requests; a higher value means lower safety. The example in the figure is the paper's own (</a:t>
            </a:r>
            <a:r>
              <a:rPr b="1" dirty="0" err="1"/>
              <a:t>HoliSafe</a:t>
            </a:r>
            <a:r>
              <a:rPr dirty="0"/>
              <a:t>, the sign of a public facility).</a:t>
            </a:r>
          </a:p>
          <a:p>
            <a:endParaRPr dirty="0"/>
          </a:p>
          <a:p>
            <a:r>
              <a:rPr dirty="0"/>
              <a:t>The figure, stage by stage.</a:t>
            </a:r>
          </a:p>
          <a:p>
            <a:r>
              <a:rPr dirty="0"/>
              <a:t>1. The control. Every test case pairs an image with a harmful written request (the paper's restroom-sign example from </a:t>
            </a:r>
            <a:r>
              <a:rPr b="1" dirty="0" err="1"/>
              <a:t>HoliSafe</a:t>
            </a:r>
            <a:r>
              <a:rPr dirty="0"/>
              <a:t>, Figure 6, sign redrawn), taken from </a:t>
            </a:r>
            <a:r>
              <a:rPr b="1" dirty="0"/>
              <a:t>MM-</a:t>
            </a:r>
            <a:r>
              <a:rPr b="1" dirty="0" err="1"/>
              <a:t>SafetyBench</a:t>
            </a:r>
            <a:r>
              <a:rPr dirty="0"/>
              <a:t>, </a:t>
            </a:r>
            <a:r>
              <a:rPr b="1" dirty="0" err="1"/>
              <a:t>VLSBench</a:t>
            </a:r>
            <a:r>
              <a:rPr dirty="0"/>
              <a:t> and </a:t>
            </a:r>
            <a:r>
              <a:rPr b="1" dirty="0" err="1"/>
              <a:t>HoliSafe</a:t>
            </a:r>
            <a:r>
              <a:rPr dirty="0"/>
              <a:t>. In the control the model has no tools: it works through the image and then answers (the matched no-tool prompt in Appendix A.1 has it describe, examine, review and synthesize).</a:t>
            </a:r>
          </a:p>
          <a:p>
            <a:r>
              <a:rPr dirty="0"/>
              <a:t>2. The treatment. The same model gets the same pair inside a </a:t>
            </a:r>
            <a:r>
              <a:rPr b="1" dirty="0"/>
              <a:t>ReACT</a:t>
            </a:r>
            <a:r>
              <a:rPr dirty="0"/>
              <a:t> loop (think, call a tool, observe, repeat until done) with </a:t>
            </a:r>
            <a:r>
              <a:rPr b="1" dirty="0"/>
              <a:t>four tools</a:t>
            </a:r>
            <a:r>
              <a:rPr dirty="0"/>
              <a:t> (tagging, zoom, OCR, sandboxed Python). Each tool output is appended to the context before the final answer.</a:t>
            </a:r>
          </a:p>
          <a:p>
            <a:r>
              <a:rPr dirty="0"/>
              <a:t>3. The measure. Both answers go to a judge (GPT-5.2) that decides whether each was a refusal. The </a:t>
            </a:r>
            <a:r>
              <a:rPr b="1" dirty="0"/>
              <a:t>refusal failure rate</a:t>
            </a:r>
            <a:r>
              <a:rPr dirty="0"/>
              <a:t> is the share of harmful requests not refused (lower is safer). Averaged over 11 models and 3 benchmarks it is </a:t>
            </a:r>
            <a:r>
              <a:rPr b="1" dirty="0"/>
              <a:t>32.3% without tools and 38.0% with tools</a:t>
            </a:r>
            <a:r>
              <a:rPr dirty="0"/>
              <a:t>; the sample is 11 models (6 open-weight, 5 proprietary) and 3 benchmarks (1,680, 2,241 and 4,016 pairs, the same pairs in both conditions).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err="1"/>
              <a:t>Takehi</a:t>
            </a:r>
            <a:r>
              <a:rPr dirty="0"/>
              <a:t>, Hachiuma, Ghosh, Zhao, Wang and Hirota, 'MLLMs Fail to Refuse when Using Tools </a:t>
            </a:r>
            <a:r>
              <a:rPr dirty="0" err="1"/>
              <a:t>Agentically</a:t>
            </a:r>
            <a:r>
              <a:rPr dirty="0"/>
              <a:t>', </a:t>
            </a:r>
            <a:r>
              <a:rPr b="1" dirty="0"/>
              <a:t>arXiv:2610.03938</a:t>
            </a:r>
            <a:r>
              <a:rPr dirty="0"/>
              <a:t>, version 1, October 2, 2026 (the arXiv listing says accepted at </a:t>
            </a:r>
            <a:r>
              <a:rPr dirty="0" err="1"/>
              <a:t>NeurIPS</a:t>
            </a:r>
            <a:r>
              <a:rPr dirty="0"/>
              <a:t> 2026; the PDF footer names the Evaluations and Datasets track). Judgments by GPT-5.2 against the </a:t>
            </a:r>
            <a:r>
              <a:rPr b="1" dirty="0" err="1"/>
              <a:t>VLSBench</a:t>
            </a:r>
            <a:r>
              <a:rPr dirty="0"/>
              <a:t> prompt; 97 of 100 human labels agree. </a:t>
            </a:r>
            <a:r>
              <a:rPr b="1" dirty="0"/>
              <a:t>Eleven multimodal models</a:t>
            </a:r>
            <a:r>
              <a:rPr dirty="0"/>
              <a:t> (six open-weight, five proprietary) are run as no-tool models and as tool-using agents on three benchmarks of harmful requests about images: </a:t>
            </a:r>
            <a:r>
              <a:rPr b="1" dirty="0"/>
              <a:t>MM-</a:t>
            </a:r>
            <a:r>
              <a:rPr b="1" dirty="0" err="1"/>
              <a:t>SafetyBench</a:t>
            </a:r>
            <a:r>
              <a:rPr dirty="0"/>
              <a:t> (SD_TYPO split, 1,680 pairs), </a:t>
            </a:r>
            <a:r>
              <a:rPr b="1" dirty="0" err="1"/>
              <a:t>VLSBench</a:t>
            </a:r>
            <a:r>
              <a:rPr dirty="0"/>
              <a:t> (2,241) and </a:t>
            </a:r>
            <a:r>
              <a:rPr b="1" dirty="0" err="1"/>
              <a:t>HoliSafe</a:t>
            </a:r>
            <a:r>
              <a:rPr dirty="0"/>
              <a:t> (4,016). The agent follows the </a:t>
            </a:r>
            <a:r>
              <a:rPr b="1" dirty="0"/>
              <a:t>ReACT</a:t>
            </a:r>
            <a:r>
              <a:rPr dirty="0"/>
              <a:t> format (the prompt follows MM-REACT) with </a:t>
            </a:r>
            <a:r>
              <a:rPr b="1" dirty="0"/>
              <a:t>four tools</a:t>
            </a:r>
            <a:r>
              <a:rPr dirty="0"/>
              <a:t>: tagging (RAM++), zooming (cropping), OCR (GOT-OCR2.0) and a sandboxed Python interpreter on the image. The metric is the </a:t>
            </a:r>
            <a:r>
              <a:rPr b="1" dirty="0"/>
              <a:t>refusal failure rate</a:t>
            </a:r>
            <a:r>
              <a:rPr dirty="0"/>
              <a:t> in [0, 100], the rate at which the model fails to refuse dangerous requests; a higher value means lower safety. The example in the figure is the paper's own (</a:t>
            </a:r>
            <a:r>
              <a:rPr b="1" dirty="0" err="1"/>
              <a:t>HoliSafe</a:t>
            </a:r>
            <a:r>
              <a:rPr dirty="0"/>
              <a:t>, the sign of a public facility).</a:t>
            </a:r>
          </a:p>
          <a:p>
            <a:endParaRPr dirty="0"/>
          </a:p>
          <a:p>
            <a:r>
              <a:rPr dirty="0"/>
              <a:t>The figure, stage by stage.</a:t>
            </a:r>
          </a:p>
          <a:p>
            <a:r>
              <a:rPr dirty="0"/>
              <a:t>1. The control. Every test case pairs an image with a harmful written request (the paper's restroom-sign example from </a:t>
            </a:r>
            <a:r>
              <a:rPr b="1" dirty="0" err="1"/>
              <a:t>HoliSafe</a:t>
            </a:r>
            <a:r>
              <a:rPr dirty="0"/>
              <a:t>, Figure 6, sign redrawn), taken from </a:t>
            </a:r>
            <a:r>
              <a:rPr b="1" dirty="0"/>
              <a:t>MM-</a:t>
            </a:r>
            <a:r>
              <a:rPr b="1" dirty="0" err="1"/>
              <a:t>SafetyBench</a:t>
            </a:r>
            <a:r>
              <a:rPr dirty="0"/>
              <a:t>, </a:t>
            </a:r>
            <a:r>
              <a:rPr b="1" dirty="0" err="1"/>
              <a:t>VLSBench</a:t>
            </a:r>
            <a:r>
              <a:rPr dirty="0"/>
              <a:t> and </a:t>
            </a:r>
            <a:r>
              <a:rPr b="1" dirty="0" err="1"/>
              <a:t>HoliSafe</a:t>
            </a:r>
            <a:r>
              <a:rPr dirty="0"/>
              <a:t>. In the control the model has no tools: it works through the image and then answers (the matched no-tool prompt in Appendix A.1 has it describe, examine, review and synthesize).</a:t>
            </a:r>
          </a:p>
          <a:p>
            <a:r>
              <a:rPr dirty="0"/>
              <a:t>2. The treatment. The same model gets the same pair inside a </a:t>
            </a:r>
            <a:r>
              <a:rPr b="1" dirty="0"/>
              <a:t>ReACT</a:t>
            </a:r>
            <a:r>
              <a:rPr dirty="0"/>
              <a:t> loop (think, call a tool, observe, repeat until done) with </a:t>
            </a:r>
            <a:r>
              <a:rPr b="1" dirty="0"/>
              <a:t>four tools</a:t>
            </a:r>
            <a:r>
              <a:rPr dirty="0"/>
              <a:t> (tagging, zoom, OCR, sandboxed Python). Each tool output is appended to the context before the final answer.</a:t>
            </a:r>
          </a:p>
          <a:p>
            <a:r>
              <a:rPr dirty="0"/>
              <a:t>3. The measure. Both answers go to a judge (GPT-5.2) that decides whether each was a refusal. The </a:t>
            </a:r>
            <a:r>
              <a:rPr b="1" dirty="0"/>
              <a:t>refusal failure rate</a:t>
            </a:r>
            <a:r>
              <a:rPr dirty="0"/>
              <a:t> is the share of harmful requests not refused (lower is safer). Averaged over 11 models and 3 benchmarks it is </a:t>
            </a:r>
            <a:r>
              <a:rPr b="1" dirty="0"/>
              <a:t>32.3% without tools and 38.0% with tools</a:t>
            </a:r>
            <a:r>
              <a:rPr dirty="0"/>
              <a:t>; the sample is 11 models (6 open-weight, 5 proprietary) and 3 benchmarks (1,680, 2,241 and 4,016 pairs, the same pairs in both conditions).</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err="1"/>
              <a:t>Takehi</a:t>
            </a:r>
            <a:r>
              <a:rPr dirty="0"/>
              <a:t>, Hachiuma, Ghosh, Zhao, Wang and Hirota, 'MLLMs Fail to Refuse when Using Tools </a:t>
            </a:r>
            <a:r>
              <a:rPr dirty="0" err="1"/>
              <a:t>Agentically</a:t>
            </a:r>
            <a:r>
              <a:rPr dirty="0"/>
              <a:t>', </a:t>
            </a:r>
            <a:r>
              <a:rPr b="1" dirty="0"/>
              <a:t>arXiv:2610.03938</a:t>
            </a:r>
            <a:r>
              <a:rPr dirty="0"/>
              <a:t>, version 1, October 2, 2026 (the arXiv listing says accepted at </a:t>
            </a:r>
            <a:r>
              <a:rPr dirty="0" err="1"/>
              <a:t>NeurIPS</a:t>
            </a:r>
            <a:r>
              <a:rPr dirty="0"/>
              <a:t> 2026; the PDF footer names the Evaluations and Datasets track). Judgments by GPT-5.2 against the </a:t>
            </a:r>
            <a:r>
              <a:rPr b="1" dirty="0" err="1"/>
              <a:t>VLSBench</a:t>
            </a:r>
            <a:r>
              <a:rPr dirty="0"/>
              <a:t> prompt; 97 of 100 human labels agree. </a:t>
            </a:r>
            <a:r>
              <a:rPr b="1" dirty="0"/>
              <a:t>Eleven multimodal models</a:t>
            </a:r>
            <a:r>
              <a:rPr dirty="0"/>
              <a:t> (six open-weight, five proprietary) are run as no-tool models and as tool-using agents on three benchmarks of harmful requests about images: </a:t>
            </a:r>
            <a:r>
              <a:rPr b="1" dirty="0"/>
              <a:t>MM-</a:t>
            </a:r>
            <a:r>
              <a:rPr b="1" dirty="0" err="1"/>
              <a:t>SafetyBench</a:t>
            </a:r>
            <a:r>
              <a:rPr dirty="0"/>
              <a:t> (SD_TYPO split, 1,680 pairs), </a:t>
            </a:r>
            <a:r>
              <a:rPr b="1" dirty="0" err="1"/>
              <a:t>VLSBench</a:t>
            </a:r>
            <a:r>
              <a:rPr dirty="0"/>
              <a:t> (2,241) and </a:t>
            </a:r>
            <a:r>
              <a:rPr b="1" dirty="0" err="1"/>
              <a:t>HoliSafe</a:t>
            </a:r>
            <a:r>
              <a:rPr dirty="0"/>
              <a:t> (4,016). The agent follows the </a:t>
            </a:r>
            <a:r>
              <a:rPr b="1" dirty="0"/>
              <a:t>ReACT</a:t>
            </a:r>
            <a:r>
              <a:rPr dirty="0"/>
              <a:t> format (the prompt follows MM-REACT) with </a:t>
            </a:r>
            <a:r>
              <a:rPr b="1" dirty="0"/>
              <a:t>four tools</a:t>
            </a:r>
            <a:r>
              <a:rPr dirty="0"/>
              <a:t>: tagging (RAM++), zooming (cropping), OCR (GOT-OCR2.0) and a sandboxed Python interpreter on the image. The metric is the </a:t>
            </a:r>
            <a:r>
              <a:rPr b="1" dirty="0"/>
              <a:t>refusal failure rate</a:t>
            </a:r>
            <a:r>
              <a:rPr dirty="0"/>
              <a:t> in [0, 100], the rate at which the model fails to refuse dangerous requests; a higher value means lower safety. The example in the figure is the paper's own (</a:t>
            </a:r>
            <a:r>
              <a:rPr b="1" dirty="0" err="1"/>
              <a:t>HoliSafe</a:t>
            </a:r>
            <a:r>
              <a:rPr dirty="0"/>
              <a:t>, the sign of a public facility).</a:t>
            </a:r>
          </a:p>
          <a:p>
            <a:endParaRPr dirty="0"/>
          </a:p>
          <a:p>
            <a:r>
              <a:rPr dirty="0"/>
              <a:t>The figure, stage by stage.</a:t>
            </a:r>
          </a:p>
          <a:p>
            <a:r>
              <a:rPr dirty="0"/>
              <a:t>1. The control. Every test case pairs an image with a harmful written request (the paper's restroom-sign example from </a:t>
            </a:r>
            <a:r>
              <a:rPr b="1" dirty="0" err="1"/>
              <a:t>HoliSafe</a:t>
            </a:r>
            <a:r>
              <a:rPr dirty="0"/>
              <a:t>, Figure 6, sign redrawn), taken from </a:t>
            </a:r>
            <a:r>
              <a:rPr b="1" dirty="0"/>
              <a:t>MM-</a:t>
            </a:r>
            <a:r>
              <a:rPr b="1" dirty="0" err="1"/>
              <a:t>SafetyBench</a:t>
            </a:r>
            <a:r>
              <a:rPr dirty="0"/>
              <a:t>, </a:t>
            </a:r>
            <a:r>
              <a:rPr b="1" dirty="0" err="1"/>
              <a:t>VLSBench</a:t>
            </a:r>
            <a:r>
              <a:rPr dirty="0"/>
              <a:t> and </a:t>
            </a:r>
            <a:r>
              <a:rPr b="1" dirty="0" err="1"/>
              <a:t>HoliSafe</a:t>
            </a:r>
            <a:r>
              <a:rPr dirty="0"/>
              <a:t>. In the control the model has no tools: it works through the image and then answers (the matched no-tool prompt in Appendix A.1 has it describe, examine, review and synthesize).</a:t>
            </a:r>
          </a:p>
          <a:p>
            <a:r>
              <a:rPr dirty="0"/>
              <a:t>2. The treatment. The same model gets the same pair inside a </a:t>
            </a:r>
            <a:r>
              <a:rPr b="1" dirty="0"/>
              <a:t>ReACT</a:t>
            </a:r>
            <a:r>
              <a:rPr dirty="0"/>
              <a:t> loop (think, call a tool, observe, repeat until done) with </a:t>
            </a:r>
            <a:r>
              <a:rPr b="1" dirty="0"/>
              <a:t>four tools</a:t>
            </a:r>
            <a:r>
              <a:rPr dirty="0"/>
              <a:t> (tagging, zoom, OCR, sandboxed Python). Each tool output is appended to the context before the final answer.</a:t>
            </a:r>
          </a:p>
          <a:p>
            <a:r>
              <a:rPr dirty="0"/>
              <a:t>3. The measure. Both answers go to a judge (GPT-5.2) that decides whether each was a refusal. The </a:t>
            </a:r>
            <a:r>
              <a:rPr b="1" dirty="0"/>
              <a:t>refusal failure rate</a:t>
            </a:r>
            <a:r>
              <a:rPr dirty="0"/>
              <a:t> is the share of harmful requests not refused (lower is safer). Averaged over 11 models and 3 benchmarks it is </a:t>
            </a:r>
            <a:r>
              <a:rPr b="1" dirty="0"/>
              <a:t>32.3% without tools and 38.0% with tools</a:t>
            </a:r>
            <a:r>
              <a:rPr dirty="0"/>
              <a:t>; the sample is 11 models (6 open-weight, 5 proprietary) and 3 benchmarks (1,680, 2,241 and 4,016 pairs, the same pairs in both conditions).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Table 1 (printed values): the refusal failure rate of each model without and with tools, mean of the three benchmarks. </a:t>
            </a:r>
            <a:r>
              <a:rPr b="1" dirty="0"/>
              <a:t>All 33 model-benchmark cells rise</a:t>
            </a:r>
            <a:r>
              <a:rPr dirty="0"/>
              <a:t>, and the paper's </a:t>
            </a:r>
            <a:r>
              <a:rPr b="1" dirty="0"/>
              <a:t>McNemar</a:t>
            </a:r>
            <a:r>
              <a:rPr dirty="0"/>
              <a:t> tests give p below 0.05 in every cell. Group means (the paper's grouping): open-weight (six models, including the agent-tuned </a:t>
            </a:r>
            <a:r>
              <a:rPr b="1" dirty="0" err="1"/>
              <a:t>AdaReasoner</a:t>
            </a:r>
            <a:r>
              <a:rPr dirty="0"/>
              <a:t> at 66.3 to 71.2) 40.7 to 47.7; proprietary (five) 22.1 to 26.3; all eleven 32.3 to 38.0. The largest relative increase is </a:t>
            </a:r>
            <a:r>
              <a:rPr b="1" dirty="0"/>
              <a:t>68.7%</a:t>
            </a:r>
            <a:r>
              <a:rPr dirty="0"/>
              <a:t>, for </a:t>
            </a:r>
            <a:r>
              <a:rPr b="1" dirty="0"/>
              <a:t>GLM-5V-Turbo</a:t>
            </a:r>
            <a:r>
              <a:rPr dirty="0"/>
              <a:t> on </a:t>
            </a:r>
            <a:r>
              <a:rPr dirty="0" err="1"/>
              <a:t>HoliSafe</a:t>
            </a:r>
            <a:r>
              <a:rPr dirty="0"/>
              <a:t> (24.9 to 42.0). </a:t>
            </a:r>
            <a:r>
              <a:rPr b="1" dirty="0"/>
              <a:t>Claude Opus 4.6</a:t>
            </a:r>
            <a:r>
              <a:rPr dirty="0"/>
              <a:t> has the lowest average without tools (13.6) and rises to 18.1. Caveats the authors do not state: the unweighted average (the Table 1 caption says so) ignores that the benchmarks differ in size; the open-weight average includes </a:t>
            </a:r>
            <a:r>
              <a:rPr b="1" dirty="0" err="1"/>
              <a:t>AdaReasoner</a:t>
            </a:r>
            <a:r>
              <a:rPr dirty="0"/>
              <a:t>, and without it the other five move from 35.6 to 43.0; </a:t>
            </a:r>
            <a:r>
              <a:rPr b="1" dirty="0"/>
              <a:t>no benign-request set</a:t>
            </a:r>
            <a:r>
              <a:rPr dirty="0"/>
              <a:t> is used, so a rise in over-refusal is not measured. Qwen3.5 on MM-</a:t>
            </a:r>
            <a:r>
              <a:rPr dirty="0" err="1"/>
              <a:t>SafetyBench</a:t>
            </a:r>
            <a:r>
              <a:rPr dirty="0"/>
              <a:t> (+0.4) and GPT-5.4 on </a:t>
            </a:r>
            <a:r>
              <a:rPr dirty="0" err="1"/>
              <a:t>VLSBench</a:t>
            </a:r>
            <a:r>
              <a:rPr dirty="0"/>
              <a:t> (+0.8) are the smallest cells and weak evidence on their own; the sizes are Table 1's printed values, and the </a:t>
            </a:r>
            <a:r>
              <a:rPr b="1" dirty="0"/>
              <a:t>McNemar</a:t>
            </a:r>
            <a:r>
              <a:rPr dirty="0"/>
              <a:t> counts of Table 5 serve only for 'every cell is significant'. 'Safest' holds for the three-benchmark average: GPT-5.4 is lower on MM-</a:t>
            </a:r>
            <a:r>
              <a:rPr dirty="0" err="1"/>
              <a:t>SafetyBench</a:t>
            </a:r>
            <a:r>
              <a:rPr dirty="0"/>
              <a:t> and </a:t>
            </a:r>
            <a:r>
              <a:rPr dirty="0" err="1"/>
              <a:t>HoliSafe</a:t>
            </a:r>
            <a:r>
              <a:rPr dirty="0"/>
              <a:t>, and </a:t>
            </a:r>
            <a:r>
              <a:rPr b="1" dirty="0"/>
              <a:t>Claude Opus 4.6</a:t>
            </a:r>
            <a:r>
              <a:rPr dirty="0"/>
              <a:t> is lowest on </a:t>
            </a:r>
            <a:r>
              <a:rPr dirty="0" err="1"/>
              <a:t>VLSBench</a:t>
            </a:r>
            <a:r>
              <a:rPr dirty="0"/>
              <a:t>.</a:t>
            </a:r>
          </a:p>
          <a:p>
            <a:endParaRPr dirty="0"/>
          </a:p>
          <a:p>
            <a:r>
              <a:rPr dirty="0"/>
              <a:t>The figure, stage by stage.</a:t>
            </a:r>
          </a:p>
          <a:p>
            <a:r>
              <a:rPr dirty="0"/>
              <a:t>1. Eleven multimodal models, six open-weight and five proprietary, answer the same harmful image-and-text requests without tools, and each blue dot is the share they fail to refuse (mean of three benchmarks), from 13.6% for </a:t>
            </a:r>
            <a:r>
              <a:rPr b="1" dirty="0"/>
              <a:t>Claude Opus 4.6</a:t>
            </a:r>
            <a:r>
              <a:rPr dirty="0"/>
              <a:t> to 66.3% for </a:t>
            </a:r>
            <a:r>
              <a:rPr b="1" dirty="0" err="1"/>
              <a:t>AdaReasoner</a:t>
            </a:r>
            <a:r>
              <a:rPr dirty="0"/>
              <a:t>.</a:t>
            </a:r>
          </a:p>
          <a:p>
            <a:r>
              <a:rPr dirty="0"/>
              <a:t>2. Give the same models the four tools and </a:t>
            </a:r>
            <a:r>
              <a:rPr b="1" dirty="0"/>
              <a:t>every dot moves right</a:t>
            </a:r>
            <a:r>
              <a:rPr dirty="0"/>
              <a:t>, so all eleven fail to refuse more often, by 2.3 points for GPT-5.4 up to 12.6 for </a:t>
            </a:r>
            <a:r>
              <a:rPr b="1" dirty="0"/>
              <a:t>GLM-5V-Turbo</a:t>
            </a:r>
            <a:r>
              <a:rPr dirty="0"/>
              <a:t>.</a:t>
            </a:r>
          </a:p>
          <a:p>
            <a:r>
              <a:rPr dirty="0"/>
              <a:t>3. Here is that increase in points per model, largest first inside each group, from +12.6 for </a:t>
            </a:r>
            <a:r>
              <a:rPr b="1" dirty="0"/>
              <a:t>GLM-5V-Turbo</a:t>
            </a:r>
            <a:r>
              <a:rPr dirty="0"/>
              <a:t> down to +2.3 for GPT-5.4, and none is zero or negative.</a:t>
            </a:r>
          </a:p>
          <a:p>
            <a:r>
              <a:rPr dirty="0"/>
              <a:t>4. Split by benchmark, all 33 cells are positive and the largest is </a:t>
            </a:r>
            <a:r>
              <a:rPr b="1" dirty="0"/>
              <a:t>GLM-5V-Turbo</a:t>
            </a:r>
            <a:r>
              <a:rPr dirty="0"/>
              <a:t> on </a:t>
            </a:r>
            <a:r>
              <a:rPr dirty="0" err="1"/>
              <a:t>HoliSafe</a:t>
            </a:r>
            <a:r>
              <a:rPr dirty="0"/>
              <a:t>, +17.1 points from 24.9 to 42.0, a </a:t>
            </a:r>
            <a:r>
              <a:rPr b="1" dirty="0"/>
              <a:t>68.7%</a:t>
            </a:r>
            <a:r>
              <a:rPr dirty="0"/>
              <a:t> relative rise, and even </a:t>
            </a:r>
            <a:r>
              <a:rPr b="1" dirty="0"/>
              <a:t>Claude Opus 4.6</a:t>
            </a:r>
            <a:r>
              <a:rPr dirty="0"/>
              <a:t>, the lowest no-tool average, goes from </a:t>
            </a:r>
            <a:r>
              <a:rPr b="1" dirty="0"/>
              <a:t>13.6 to 18.1</a:t>
            </a:r>
            <a:r>
              <a:rPr dirty="0"/>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Table 1 (printed values): the refusal failure rate of each model without and with tools, mean of the three benchmarks. </a:t>
            </a:r>
            <a:r>
              <a:rPr b="1" dirty="0"/>
              <a:t>All 33 model-benchmark cells rise</a:t>
            </a:r>
            <a:r>
              <a:rPr dirty="0"/>
              <a:t>, and the paper's </a:t>
            </a:r>
            <a:r>
              <a:rPr b="1" dirty="0"/>
              <a:t>McNemar</a:t>
            </a:r>
            <a:r>
              <a:rPr dirty="0"/>
              <a:t> tests give p below 0.05 in every cell. Group means (the paper's grouping): open-weight (six models, including the agent-tuned </a:t>
            </a:r>
            <a:r>
              <a:rPr b="1" dirty="0" err="1"/>
              <a:t>AdaReasoner</a:t>
            </a:r>
            <a:r>
              <a:rPr dirty="0"/>
              <a:t> at 66.3 to 71.2) 40.7 to 47.7; proprietary (five) 22.1 to 26.3; all eleven 32.3 to 38.0. The largest relative increase is </a:t>
            </a:r>
            <a:r>
              <a:rPr b="1" dirty="0"/>
              <a:t>68.7%</a:t>
            </a:r>
            <a:r>
              <a:rPr dirty="0"/>
              <a:t>, for </a:t>
            </a:r>
            <a:r>
              <a:rPr b="1" dirty="0"/>
              <a:t>GLM-5V-Turbo</a:t>
            </a:r>
            <a:r>
              <a:rPr dirty="0"/>
              <a:t> on </a:t>
            </a:r>
            <a:r>
              <a:rPr dirty="0" err="1"/>
              <a:t>HoliSafe</a:t>
            </a:r>
            <a:r>
              <a:rPr dirty="0"/>
              <a:t> (24.9 to 42.0). </a:t>
            </a:r>
            <a:r>
              <a:rPr b="1" dirty="0"/>
              <a:t>Claude Opus 4.6</a:t>
            </a:r>
            <a:r>
              <a:rPr dirty="0"/>
              <a:t> has the lowest average without tools (13.6) and rises to 18.1. Caveats the authors do not state: the unweighted average (the Table 1 caption says so) ignores that the benchmarks differ in size; the open-weight average includes </a:t>
            </a:r>
            <a:r>
              <a:rPr b="1" dirty="0" err="1"/>
              <a:t>AdaReasoner</a:t>
            </a:r>
            <a:r>
              <a:rPr dirty="0"/>
              <a:t>, and without it the other five move from 35.6 to 43.0; </a:t>
            </a:r>
            <a:r>
              <a:rPr b="1" dirty="0"/>
              <a:t>no benign-request set</a:t>
            </a:r>
            <a:r>
              <a:rPr dirty="0"/>
              <a:t> is used, so a rise in over-refusal is not measured. Qwen3.5 on MM-</a:t>
            </a:r>
            <a:r>
              <a:rPr dirty="0" err="1"/>
              <a:t>SafetyBench</a:t>
            </a:r>
            <a:r>
              <a:rPr dirty="0"/>
              <a:t> (+0.4) and GPT-5.4 on </a:t>
            </a:r>
            <a:r>
              <a:rPr dirty="0" err="1"/>
              <a:t>VLSBench</a:t>
            </a:r>
            <a:r>
              <a:rPr dirty="0"/>
              <a:t> (+0.8) are the smallest cells and weak evidence on their own; the sizes are Table 1's printed values, and the </a:t>
            </a:r>
            <a:r>
              <a:rPr b="1" dirty="0"/>
              <a:t>McNemar</a:t>
            </a:r>
            <a:r>
              <a:rPr dirty="0"/>
              <a:t> counts of Table 5 serve only for 'every cell is significant'. 'Safest' holds for the three-benchmark average: GPT-5.4 is lower on MM-</a:t>
            </a:r>
            <a:r>
              <a:rPr dirty="0" err="1"/>
              <a:t>SafetyBench</a:t>
            </a:r>
            <a:r>
              <a:rPr dirty="0"/>
              <a:t> and </a:t>
            </a:r>
            <a:r>
              <a:rPr dirty="0" err="1"/>
              <a:t>HoliSafe</a:t>
            </a:r>
            <a:r>
              <a:rPr dirty="0"/>
              <a:t>, and </a:t>
            </a:r>
            <a:r>
              <a:rPr b="1" dirty="0"/>
              <a:t>Claude Opus 4.6</a:t>
            </a:r>
            <a:r>
              <a:rPr dirty="0"/>
              <a:t> is lowest on </a:t>
            </a:r>
            <a:r>
              <a:rPr dirty="0" err="1"/>
              <a:t>VLSBench</a:t>
            </a:r>
            <a:r>
              <a:rPr dirty="0"/>
              <a:t>.</a:t>
            </a:r>
          </a:p>
          <a:p>
            <a:endParaRPr dirty="0"/>
          </a:p>
          <a:p>
            <a:r>
              <a:rPr dirty="0"/>
              <a:t>The figure, stage by stage.</a:t>
            </a:r>
          </a:p>
          <a:p>
            <a:r>
              <a:rPr dirty="0"/>
              <a:t>1. Eleven multimodal models, six open-weight and five proprietary, answer the same harmful image-and-text requests without tools, and each blue dot is the share they fail to refuse (mean of three benchmarks), from 13.6% for </a:t>
            </a:r>
            <a:r>
              <a:rPr b="1" dirty="0"/>
              <a:t>Claude Opus 4.6</a:t>
            </a:r>
            <a:r>
              <a:rPr dirty="0"/>
              <a:t> to 66.3% for </a:t>
            </a:r>
            <a:r>
              <a:rPr b="1" dirty="0" err="1"/>
              <a:t>AdaReasoner</a:t>
            </a:r>
            <a:r>
              <a:rPr dirty="0"/>
              <a:t>.</a:t>
            </a:r>
          </a:p>
          <a:p>
            <a:r>
              <a:rPr dirty="0"/>
              <a:t>2. Give the same models the four tools and </a:t>
            </a:r>
            <a:r>
              <a:rPr b="1" dirty="0"/>
              <a:t>every dot moves right</a:t>
            </a:r>
            <a:r>
              <a:rPr dirty="0"/>
              <a:t>, so all eleven fail to refuse more often, by 2.3 points for GPT-5.4 up to 12.6 for </a:t>
            </a:r>
            <a:r>
              <a:rPr b="1" dirty="0"/>
              <a:t>GLM-5V-Turbo</a:t>
            </a:r>
            <a:r>
              <a:rPr dirty="0"/>
              <a:t>.</a:t>
            </a:r>
          </a:p>
          <a:p>
            <a:r>
              <a:rPr dirty="0"/>
              <a:t>3. Here is that increase in points per model, largest first inside each group, from +12.6 for </a:t>
            </a:r>
            <a:r>
              <a:rPr b="1" dirty="0"/>
              <a:t>GLM-5V-Turbo</a:t>
            </a:r>
            <a:r>
              <a:rPr dirty="0"/>
              <a:t> down to +2.3 for GPT-5.4, and none is zero or negative.</a:t>
            </a:r>
          </a:p>
          <a:p>
            <a:r>
              <a:rPr dirty="0"/>
              <a:t>4. Split by benchmark, all 33 cells are positive and the largest is </a:t>
            </a:r>
            <a:r>
              <a:rPr b="1" dirty="0"/>
              <a:t>GLM-5V-Turbo</a:t>
            </a:r>
            <a:r>
              <a:rPr dirty="0"/>
              <a:t> on </a:t>
            </a:r>
            <a:r>
              <a:rPr dirty="0" err="1"/>
              <a:t>HoliSafe</a:t>
            </a:r>
            <a:r>
              <a:rPr dirty="0"/>
              <a:t>, +17.1 points from 24.9 to 42.0, a </a:t>
            </a:r>
            <a:r>
              <a:rPr b="1" dirty="0"/>
              <a:t>68.7%</a:t>
            </a:r>
            <a:r>
              <a:rPr dirty="0"/>
              <a:t> relative rise, and even </a:t>
            </a:r>
            <a:r>
              <a:rPr b="1" dirty="0"/>
              <a:t>Claude Opus 4.6</a:t>
            </a:r>
            <a:r>
              <a:rPr dirty="0"/>
              <a:t>, the lowest no-tool average, goes from </a:t>
            </a:r>
            <a:r>
              <a:rPr b="1" dirty="0"/>
              <a:t>13.6 to 18.1</a:t>
            </a:r>
            <a:r>
              <a:rPr dirty="0"/>
              <a: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Table 1 (printed values): the refusal failure rate of each model without and with tools, mean of the three benchmarks. </a:t>
            </a:r>
            <a:r>
              <a:rPr b="1" dirty="0"/>
              <a:t>All 33 model-benchmark cells rise</a:t>
            </a:r>
            <a:r>
              <a:rPr dirty="0"/>
              <a:t>, and the paper's </a:t>
            </a:r>
            <a:r>
              <a:rPr b="1" dirty="0"/>
              <a:t>McNemar</a:t>
            </a:r>
            <a:r>
              <a:rPr dirty="0"/>
              <a:t> tests give p below 0.05 in every cell. Group means (the paper's grouping): open-weight (six models, including the agent-tuned </a:t>
            </a:r>
            <a:r>
              <a:rPr b="1" dirty="0" err="1"/>
              <a:t>AdaReasoner</a:t>
            </a:r>
            <a:r>
              <a:rPr dirty="0"/>
              <a:t> at 66.3 to 71.2) 40.7 to 47.7; proprietary (five) 22.1 to 26.3; all eleven 32.3 to 38.0. The largest relative increase is </a:t>
            </a:r>
            <a:r>
              <a:rPr b="1" dirty="0"/>
              <a:t>68.7%</a:t>
            </a:r>
            <a:r>
              <a:rPr dirty="0"/>
              <a:t>, for </a:t>
            </a:r>
            <a:r>
              <a:rPr b="1" dirty="0"/>
              <a:t>GLM-5V-Turbo</a:t>
            </a:r>
            <a:r>
              <a:rPr dirty="0"/>
              <a:t> on </a:t>
            </a:r>
            <a:r>
              <a:rPr dirty="0" err="1"/>
              <a:t>HoliSafe</a:t>
            </a:r>
            <a:r>
              <a:rPr dirty="0"/>
              <a:t> (24.9 to 42.0). </a:t>
            </a:r>
            <a:r>
              <a:rPr b="1" dirty="0"/>
              <a:t>Claude Opus 4.6</a:t>
            </a:r>
            <a:r>
              <a:rPr dirty="0"/>
              <a:t> has the lowest average without tools (13.6) and rises to 18.1. Caveats the authors do not state: the unweighted average (the Table 1 caption says so) ignores that the benchmarks differ in size; the open-weight average includes </a:t>
            </a:r>
            <a:r>
              <a:rPr b="1" dirty="0" err="1"/>
              <a:t>AdaReasoner</a:t>
            </a:r>
            <a:r>
              <a:rPr dirty="0"/>
              <a:t>, and without it the other five move from 35.6 to 43.0; </a:t>
            </a:r>
            <a:r>
              <a:rPr b="1" dirty="0"/>
              <a:t>no benign-request set</a:t>
            </a:r>
            <a:r>
              <a:rPr dirty="0"/>
              <a:t> is used, so a rise in over-refusal is not measured. Qwen3.5 on MM-</a:t>
            </a:r>
            <a:r>
              <a:rPr dirty="0" err="1"/>
              <a:t>SafetyBench</a:t>
            </a:r>
            <a:r>
              <a:rPr dirty="0"/>
              <a:t> (+0.4) and GPT-5.4 on </a:t>
            </a:r>
            <a:r>
              <a:rPr dirty="0" err="1"/>
              <a:t>VLSBench</a:t>
            </a:r>
            <a:r>
              <a:rPr dirty="0"/>
              <a:t> (+0.8) are the smallest cells and weak evidence on their own; the sizes are Table 1's printed values, and the </a:t>
            </a:r>
            <a:r>
              <a:rPr b="1" dirty="0"/>
              <a:t>McNemar</a:t>
            </a:r>
            <a:r>
              <a:rPr dirty="0"/>
              <a:t> counts of Table 5 serve only for 'every cell is significant'. 'Safest' holds for the three-benchmark average: GPT-5.4 is lower on MM-</a:t>
            </a:r>
            <a:r>
              <a:rPr dirty="0" err="1"/>
              <a:t>SafetyBench</a:t>
            </a:r>
            <a:r>
              <a:rPr dirty="0"/>
              <a:t> and </a:t>
            </a:r>
            <a:r>
              <a:rPr dirty="0" err="1"/>
              <a:t>HoliSafe</a:t>
            </a:r>
            <a:r>
              <a:rPr dirty="0"/>
              <a:t>, and </a:t>
            </a:r>
            <a:r>
              <a:rPr b="1" dirty="0"/>
              <a:t>Claude Opus 4.6</a:t>
            </a:r>
            <a:r>
              <a:rPr dirty="0"/>
              <a:t> is lowest on </a:t>
            </a:r>
            <a:r>
              <a:rPr dirty="0" err="1"/>
              <a:t>VLSBench</a:t>
            </a:r>
            <a:r>
              <a:rPr dirty="0"/>
              <a:t>.</a:t>
            </a:r>
          </a:p>
          <a:p>
            <a:endParaRPr dirty="0"/>
          </a:p>
          <a:p>
            <a:r>
              <a:rPr dirty="0"/>
              <a:t>The figure, stage by stage.</a:t>
            </a:r>
          </a:p>
          <a:p>
            <a:r>
              <a:rPr dirty="0"/>
              <a:t>1. Eleven multimodal models, six open-weight and five proprietary, answer the same harmful image-and-text requests without tools, and each blue dot is the share they fail to refuse (mean of three benchmarks), from 13.6% for </a:t>
            </a:r>
            <a:r>
              <a:rPr b="1" dirty="0"/>
              <a:t>Claude Opus 4.6</a:t>
            </a:r>
            <a:r>
              <a:rPr dirty="0"/>
              <a:t> to 66.3% for </a:t>
            </a:r>
            <a:r>
              <a:rPr b="1" dirty="0" err="1"/>
              <a:t>AdaReasoner</a:t>
            </a:r>
            <a:r>
              <a:rPr dirty="0"/>
              <a:t>.</a:t>
            </a:r>
          </a:p>
          <a:p>
            <a:r>
              <a:rPr dirty="0"/>
              <a:t>2. Give the same models the four tools and </a:t>
            </a:r>
            <a:r>
              <a:rPr b="1" dirty="0"/>
              <a:t>every dot moves right</a:t>
            </a:r>
            <a:r>
              <a:rPr dirty="0"/>
              <a:t>, so all eleven fail to refuse more often, by 2.3 points for GPT-5.4 up to 12.6 for </a:t>
            </a:r>
            <a:r>
              <a:rPr b="1" dirty="0"/>
              <a:t>GLM-5V-Turbo</a:t>
            </a:r>
            <a:r>
              <a:rPr dirty="0"/>
              <a:t>.</a:t>
            </a:r>
          </a:p>
          <a:p>
            <a:r>
              <a:rPr dirty="0"/>
              <a:t>3. Here is that increase in points per model, largest first inside each group, from +12.6 for </a:t>
            </a:r>
            <a:r>
              <a:rPr b="1" dirty="0"/>
              <a:t>GLM-5V-Turbo</a:t>
            </a:r>
            <a:r>
              <a:rPr dirty="0"/>
              <a:t> down to +2.3 for GPT-5.4, and none is zero or negative.</a:t>
            </a:r>
          </a:p>
          <a:p>
            <a:r>
              <a:rPr dirty="0"/>
              <a:t>4. Split by benchmark, all 33 cells are positive and the largest is </a:t>
            </a:r>
            <a:r>
              <a:rPr b="1" dirty="0"/>
              <a:t>GLM-5V-Turbo</a:t>
            </a:r>
            <a:r>
              <a:rPr dirty="0"/>
              <a:t> on </a:t>
            </a:r>
            <a:r>
              <a:rPr dirty="0" err="1"/>
              <a:t>HoliSafe</a:t>
            </a:r>
            <a:r>
              <a:rPr dirty="0"/>
              <a:t>, +17.1 points from 24.9 to 42.0, a </a:t>
            </a:r>
            <a:r>
              <a:rPr b="1" dirty="0"/>
              <a:t>68.7%</a:t>
            </a:r>
            <a:r>
              <a:rPr dirty="0"/>
              <a:t> relative rise, and even </a:t>
            </a:r>
            <a:r>
              <a:rPr b="1" dirty="0"/>
              <a:t>Claude Opus 4.6</a:t>
            </a:r>
            <a:r>
              <a:rPr dirty="0"/>
              <a:t>, the lowest no-tool average, goes from </a:t>
            </a:r>
            <a:r>
              <a:rPr b="1" dirty="0"/>
              <a:t>13.6 to 18.1</a:t>
            </a:r>
            <a:r>
              <a:rPr dirty="0"/>
              <a: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Table 1 (printed values): the refusal failure rate of each model without and with tools, mean of the three benchmarks. </a:t>
            </a:r>
            <a:r>
              <a:rPr b="1" dirty="0"/>
              <a:t>All 33 model-benchmark cells rise</a:t>
            </a:r>
            <a:r>
              <a:rPr dirty="0"/>
              <a:t>, and the paper's </a:t>
            </a:r>
            <a:r>
              <a:rPr b="1" dirty="0"/>
              <a:t>McNemar</a:t>
            </a:r>
            <a:r>
              <a:rPr dirty="0"/>
              <a:t> tests give p below 0.05 in every cell. Group means (the paper's grouping): open-weight (six models, including the agent-tuned </a:t>
            </a:r>
            <a:r>
              <a:rPr b="1" dirty="0" err="1"/>
              <a:t>AdaReasoner</a:t>
            </a:r>
            <a:r>
              <a:rPr dirty="0"/>
              <a:t> at 66.3 to 71.2) 40.7 to 47.7; proprietary (five) 22.1 to 26.3; all eleven 32.3 to 38.0. The largest relative increase is </a:t>
            </a:r>
            <a:r>
              <a:rPr b="1" dirty="0"/>
              <a:t>68.7%</a:t>
            </a:r>
            <a:r>
              <a:rPr dirty="0"/>
              <a:t>, for </a:t>
            </a:r>
            <a:r>
              <a:rPr b="1" dirty="0"/>
              <a:t>GLM-5V-Turbo</a:t>
            </a:r>
            <a:r>
              <a:rPr dirty="0"/>
              <a:t> on </a:t>
            </a:r>
            <a:r>
              <a:rPr dirty="0" err="1"/>
              <a:t>HoliSafe</a:t>
            </a:r>
            <a:r>
              <a:rPr dirty="0"/>
              <a:t> (24.9 to 42.0). </a:t>
            </a:r>
            <a:r>
              <a:rPr b="1" dirty="0"/>
              <a:t>Claude Opus 4.6</a:t>
            </a:r>
            <a:r>
              <a:rPr dirty="0"/>
              <a:t> has the lowest average without tools (13.6) and rises to 18.1. Caveats the authors do not state: the unweighted average (the Table 1 caption says so) ignores that the benchmarks differ in size; the open-weight average includes </a:t>
            </a:r>
            <a:r>
              <a:rPr b="1" dirty="0" err="1"/>
              <a:t>AdaReasoner</a:t>
            </a:r>
            <a:r>
              <a:rPr dirty="0"/>
              <a:t>, and without it the other five move from 35.6 to 43.0; </a:t>
            </a:r>
            <a:r>
              <a:rPr b="1" dirty="0"/>
              <a:t>no benign-request set</a:t>
            </a:r>
            <a:r>
              <a:rPr dirty="0"/>
              <a:t> is used, so a rise in over-refusal is not measured. Qwen3.5 on MM-</a:t>
            </a:r>
            <a:r>
              <a:rPr dirty="0" err="1"/>
              <a:t>SafetyBench</a:t>
            </a:r>
            <a:r>
              <a:rPr dirty="0"/>
              <a:t> (+0.4) and GPT-5.4 on </a:t>
            </a:r>
            <a:r>
              <a:rPr dirty="0" err="1"/>
              <a:t>VLSBench</a:t>
            </a:r>
            <a:r>
              <a:rPr dirty="0"/>
              <a:t> (+0.8) are the smallest cells and weak evidence on their own; the sizes are Table 1's printed values, and the </a:t>
            </a:r>
            <a:r>
              <a:rPr b="1" dirty="0"/>
              <a:t>McNemar</a:t>
            </a:r>
            <a:r>
              <a:rPr dirty="0"/>
              <a:t> counts of Table 5 serve only for 'every cell is significant'. 'Safest' holds for the three-benchmark average: GPT-5.4 is lower on MM-</a:t>
            </a:r>
            <a:r>
              <a:rPr dirty="0" err="1"/>
              <a:t>SafetyBench</a:t>
            </a:r>
            <a:r>
              <a:rPr dirty="0"/>
              <a:t> and </a:t>
            </a:r>
            <a:r>
              <a:rPr dirty="0" err="1"/>
              <a:t>HoliSafe</a:t>
            </a:r>
            <a:r>
              <a:rPr dirty="0"/>
              <a:t>, and </a:t>
            </a:r>
            <a:r>
              <a:rPr b="1" dirty="0"/>
              <a:t>Claude Opus 4.6</a:t>
            </a:r>
            <a:r>
              <a:rPr dirty="0"/>
              <a:t> is lowest on </a:t>
            </a:r>
            <a:r>
              <a:rPr dirty="0" err="1"/>
              <a:t>VLSBench</a:t>
            </a:r>
            <a:r>
              <a:rPr dirty="0"/>
              <a:t>.</a:t>
            </a:r>
          </a:p>
          <a:p>
            <a:endParaRPr dirty="0"/>
          </a:p>
          <a:p>
            <a:r>
              <a:rPr dirty="0"/>
              <a:t>The figure, stage by stage.</a:t>
            </a:r>
          </a:p>
          <a:p>
            <a:r>
              <a:rPr dirty="0"/>
              <a:t>1. Eleven multimodal models, six open-weight and five proprietary, answer the same harmful image-and-text requests without tools, and each blue dot is the share they fail to refuse (mean of three benchmarks), from 13.6% for </a:t>
            </a:r>
            <a:r>
              <a:rPr b="1" dirty="0"/>
              <a:t>Claude Opus 4.6</a:t>
            </a:r>
            <a:r>
              <a:rPr dirty="0"/>
              <a:t> to 66.3% for </a:t>
            </a:r>
            <a:r>
              <a:rPr b="1" dirty="0" err="1"/>
              <a:t>AdaReasoner</a:t>
            </a:r>
            <a:r>
              <a:rPr dirty="0"/>
              <a:t>.</a:t>
            </a:r>
          </a:p>
          <a:p>
            <a:r>
              <a:rPr dirty="0"/>
              <a:t>2. Give the same models the four tools and </a:t>
            </a:r>
            <a:r>
              <a:rPr b="1" dirty="0"/>
              <a:t>every dot moves right</a:t>
            </a:r>
            <a:r>
              <a:rPr dirty="0"/>
              <a:t>, so all eleven fail to refuse more often, by 2.3 points for GPT-5.4 up to 12.6 for </a:t>
            </a:r>
            <a:r>
              <a:rPr b="1" dirty="0"/>
              <a:t>GLM-5V-Turbo</a:t>
            </a:r>
            <a:r>
              <a:rPr dirty="0"/>
              <a:t>.</a:t>
            </a:r>
          </a:p>
          <a:p>
            <a:r>
              <a:rPr dirty="0"/>
              <a:t>3. Here is that increase in points per model, largest first inside each group, from +12.6 for </a:t>
            </a:r>
            <a:r>
              <a:rPr b="1" dirty="0"/>
              <a:t>GLM-5V-Turbo</a:t>
            </a:r>
            <a:r>
              <a:rPr dirty="0"/>
              <a:t> down to +2.3 for GPT-5.4, and none is zero or negative.</a:t>
            </a:r>
          </a:p>
          <a:p>
            <a:r>
              <a:rPr dirty="0"/>
              <a:t>4. Split by benchmark, all 33 cells are positive and the largest is </a:t>
            </a:r>
            <a:r>
              <a:rPr b="1" dirty="0"/>
              <a:t>GLM-5V-Turbo</a:t>
            </a:r>
            <a:r>
              <a:rPr dirty="0"/>
              <a:t> on </a:t>
            </a:r>
            <a:r>
              <a:rPr dirty="0" err="1"/>
              <a:t>HoliSafe</a:t>
            </a:r>
            <a:r>
              <a:rPr dirty="0"/>
              <a:t>, +17.1 points from 24.9 to 42.0, a </a:t>
            </a:r>
            <a:r>
              <a:rPr b="1" dirty="0"/>
              <a:t>68.7%</a:t>
            </a:r>
            <a:r>
              <a:rPr dirty="0"/>
              <a:t> relative rise, and even </a:t>
            </a:r>
            <a:r>
              <a:rPr b="1" dirty="0"/>
              <a:t>Claude Opus 4.6</a:t>
            </a:r>
            <a:r>
              <a:rPr dirty="0"/>
              <a:t>, the lowest no-tool average, goes from </a:t>
            </a:r>
            <a:r>
              <a:rPr b="1" dirty="0"/>
              <a:t>13.6 to 18.1</a:t>
            </a:r>
            <a:r>
              <a:rPr dirty="0"/>
              <a: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Table 1 (printed values): the refusal failure rate of each model without and with tools, mean of the three benchmarks. </a:t>
            </a:r>
            <a:r>
              <a:rPr b="1" dirty="0"/>
              <a:t>All 33 model-benchmark cells rise</a:t>
            </a:r>
            <a:r>
              <a:rPr dirty="0"/>
              <a:t>, and the paper's </a:t>
            </a:r>
            <a:r>
              <a:rPr b="1" dirty="0"/>
              <a:t>McNemar</a:t>
            </a:r>
            <a:r>
              <a:rPr dirty="0"/>
              <a:t> tests give p below 0.05 in every cell. Group means (the paper's grouping): open-weight (six models, including the agent-tuned </a:t>
            </a:r>
            <a:r>
              <a:rPr b="1" dirty="0" err="1"/>
              <a:t>AdaReasoner</a:t>
            </a:r>
            <a:r>
              <a:rPr dirty="0"/>
              <a:t> at 66.3 to 71.2) 40.7 to 47.7; proprietary (five) 22.1 to 26.3; all eleven 32.3 to 38.0. The largest relative increase is </a:t>
            </a:r>
            <a:r>
              <a:rPr b="1" dirty="0"/>
              <a:t>68.7%</a:t>
            </a:r>
            <a:r>
              <a:rPr dirty="0"/>
              <a:t>, for </a:t>
            </a:r>
            <a:r>
              <a:rPr b="1" dirty="0"/>
              <a:t>GLM-5V-Turbo</a:t>
            </a:r>
            <a:r>
              <a:rPr dirty="0"/>
              <a:t> on </a:t>
            </a:r>
            <a:r>
              <a:rPr dirty="0" err="1"/>
              <a:t>HoliSafe</a:t>
            </a:r>
            <a:r>
              <a:rPr dirty="0"/>
              <a:t> (24.9 to 42.0). </a:t>
            </a:r>
            <a:r>
              <a:rPr b="1" dirty="0"/>
              <a:t>Claude Opus 4.6</a:t>
            </a:r>
            <a:r>
              <a:rPr dirty="0"/>
              <a:t> has the lowest average without tools (13.6) and rises to 18.1. Caveats the authors do not state: the unweighted average (the Table 1 caption says so) ignores that the benchmarks differ in size; the open-weight average includes </a:t>
            </a:r>
            <a:r>
              <a:rPr b="1" dirty="0" err="1"/>
              <a:t>AdaReasoner</a:t>
            </a:r>
            <a:r>
              <a:rPr dirty="0"/>
              <a:t>, and without it the other five move from 35.6 to 43.0; </a:t>
            </a:r>
            <a:r>
              <a:rPr b="1" dirty="0"/>
              <a:t>no benign-request set</a:t>
            </a:r>
            <a:r>
              <a:rPr dirty="0"/>
              <a:t> is used, so a rise in over-refusal is not measured. Qwen3.5 on MM-</a:t>
            </a:r>
            <a:r>
              <a:rPr dirty="0" err="1"/>
              <a:t>SafetyBench</a:t>
            </a:r>
            <a:r>
              <a:rPr dirty="0"/>
              <a:t> (+0.4) and GPT-5.4 on </a:t>
            </a:r>
            <a:r>
              <a:rPr dirty="0" err="1"/>
              <a:t>VLSBench</a:t>
            </a:r>
            <a:r>
              <a:rPr dirty="0"/>
              <a:t> (+0.8) are the smallest cells and weak evidence on their own; the sizes are Table 1's printed values, and the </a:t>
            </a:r>
            <a:r>
              <a:rPr b="1" dirty="0"/>
              <a:t>McNemar</a:t>
            </a:r>
            <a:r>
              <a:rPr dirty="0"/>
              <a:t> counts of Table 5 serve only for 'every cell is significant'. 'Safest' holds for the three-benchmark average: GPT-5.4 is lower on MM-</a:t>
            </a:r>
            <a:r>
              <a:rPr dirty="0" err="1"/>
              <a:t>SafetyBench</a:t>
            </a:r>
            <a:r>
              <a:rPr dirty="0"/>
              <a:t> and </a:t>
            </a:r>
            <a:r>
              <a:rPr dirty="0" err="1"/>
              <a:t>HoliSafe</a:t>
            </a:r>
            <a:r>
              <a:rPr dirty="0"/>
              <a:t>, and </a:t>
            </a:r>
            <a:r>
              <a:rPr b="1" dirty="0"/>
              <a:t>Claude Opus 4.6</a:t>
            </a:r>
            <a:r>
              <a:rPr dirty="0"/>
              <a:t> is lowest on </a:t>
            </a:r>
            <a:r>
              <a:rPr dirty="0" err="1"/>
              <a:t>VLSBench</a:t>
            </a:r>
            <a:r>
              <a:rPr dirty="0"/>
              <a:t>.</a:t>
            </a:r>
          </a:p>
          <a:p>
            <a:endParaRPr dirty="0"/>
          </a:p>
          <a:p>
            <a:r>
              <a:rPr dirty="0"/>
              <a:t>The figure, stage by stage.</a:t>
            </a:r>
          </a:p>
          <a:p>
            <a:r>
              <a:rPr dirty="0"/>
              <a:t>1. Eleven multimodal models, six open-weight and five proprietary, answer the same harmful image-and-text requests without tools, and each blue dot is the share they fail to refuse (mean of three benchmarks), from 13.6% for </a:t>
            </a:r>
            <a:r>
              <a:rPr b="1" dirty="0"/>
              <a:t>Claude Opus 4.6</a:t>
            </a:r>
            <a:r>
              <a:rPr dirty="0"/>
              <a:t> to 66.3% for </a:t>
            </a:r>
            <a:r>
              <a:rPr b="1" dirty="0" err="1"/>
              <a:t>AdaReasoner</a:t>
            </a:r>
            <a:r>
              <a:rPr dirty="0"/>
              <a:t>.</a:t>
            </a:r>
          </a:p>
          <a:p>
            <a:r>
              <a:rPr dirty="0"/>
              <a:t>2. Give the same models the four tools and </a:t>
            </a:r>
            <a:r>
              <a:rPr b="1" dirty="0"/>
              <a:t>every dot moves right</a:t>
            </a:r>
            <a:r>
              <a:rPr dirty="0"/>
              <a:t>, so all eleven fail to refuse more often, by 2.3 points for GPT-5.4 up to 12.6 for </a:t>
            </a:r>
            <a:r>
              <a:rPr b="1" dirty="0"/>
              <a:t>GLM-5V-Turbo</a:t>
            </a:r>
            <a:r>
              <a:rPr dirty="0"/>
              <a:t>.</a:t>
            </a:r>
          </a:p>
          <a:p>
            <a:r>
              <a:rPr dirty="0"/>
              <a:t>3. Here is that increase in points per model, largest first inside each group, from +12.6 for </a:t>
            </a:r>
            <a:r>
              <a:rPr b="1" dirty="0"/>
              <a:t>GLM-5V-Turbo</a:t>
            </a:r>
            <a:r>
              <a:rPr dirty="0"/>
              <a:t> down to +2.3 for GPT-5.4, and none is zero or negative.</a:t>
            </a:r>
          </a:p>
          <a:p>
            <a:r>
              <a:rPr dirty="0"/>
              <a:t>4. Split by benchmark, all 33 cells are positive and the largest is </a:t>
            </a:r>
            <a:r>
              <a:rPr b="1" dirty="0"/>
              <a:t>GLM-5V-Turbo</a:t>
            </a:r>
            <a:r>
              <a:rPr dirty="0"/>
              <a:t> on </a:t>
            </a:r>
            <a:r>
              <a:rPr dirty="0" err="1"/>
              <a:t>HoliSafe</a:t>
            </a:r>
            <a:r>
              <a:rPr dirty="0"/>
              <a:t>, +17.1 points from 24.9 to 42.0, a </a:t>
            </a:r>
            <a:r>
              <a:rPr b="1" dirty="0"/>
              <a:t>68.7%</a:t>
            </a:r>
            <a:r>
              <a:rPr dirty="0"/>
              <a:t> relative rise, and even </a:t>
            </a:r>
            <a:r>
              <a:rPr b="1" dirty="0"/>
              <a:t>Claude Opus 4.6</a:t>
            </a:r>
            <a:r>
              <a:rPr dirty="0"/>
              <a:t>, the lowest no-tool average, goes from </a:t>
            </a:r>
            <a:r>
              <a:rPr b="1" dirty="0"/>
              <a:t>13.6 to 18.1</a:t>
            </a:r>
            <a:r>
              <a:rPr dirty="0"/>
              <a: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Table 1 (printed values): the refusal failure rate of each model without and with tools, mean of the three benchmarks. </a:t>
            </a:r>
            <a:r>
              <a:rPr b="1" dirty="0"/>
              <a:t>All 33 model-benchmark cells rise</a:t>
            </a:r>
            <a:r>
              <a:rPr dirty="0"/>
              <a:t>, and the paper's </a:t>
            </a:r>
            <a:r>
              <a:rPr b="1" dirty="0"/>
              <a:t>McNemar</a:t>
            </a:r>
            <a:r>
              <a:rPr dirty="0"/>
              <a:t> tests give p below 0.05 in every cell. Group means (the paper's grouping): open-weight (six models, including the agent-tuned </a:t>
            </a:r>
            <a:r>
              <a:rPr b="1" dirty="0" err="1"/>
              <a:t>AdaReasoner</a:t>
            </a:r>
            <a:r>
              <a:rPr dirty="0"/>
              <a:t> at 66.3 to 71.2) 40.7 to 47.7; proprietary (five) 22.1 to 26.3; all eleven 32.3 to 38.0. The largest relative increase is </a:t>
            </a:r>
            <a:r>
              <a:rPr b="1" dirty="0"/>
              <a:t>68.7%</a:t>
            </a:r>
            <a:r>
              <a:rPr dirty="0"/>
              <a:t>, for </a:t>
            </a:r>
            <a:r>
              <a:rPr b="1" dirty="0"/>
              <a:t>GLM-5V-Turbo</a:t>
            </a:r>
            <a:r>
              <a:rPr dirty="0"/>
              <a:t> on </a:t>
            </a:r>
            <a:r>
              <a:rPr dirty="0" err="1"/>
              <a:t>HoliSafe</a:t>
            </a:r>
            <a:r>
              <a:rPr dirty="0"/>
              <a:t> (24.9 to 42.0). </a:t>
            </a:r>
            <a:r>
              <a:rPr b="1" dirty="0"/>
              <a:t>Claude Opus 4.6</a:t>
            </a:r>
            <a:r>
              <a:rPr dirty="0"/>
              <a:t> has the lowest average without tools (13.6) and rises to 18.1. Caveats the authors do not state: the unweighted average (the Table 1 caption says so) ignores that the benchmarks differ in size; the open-weight average includes </a:t>
            </a:r>
            <a:r>
              <a:rPr b="1" dirty="0" err="1"/>
              <a:t>AdaReasoner</a:t>
            </a:r>
            <a:r>
              <a:rPr dirty="0"/>
              <a:t>, and without it the other five move from 35.6 to 43.0; </a:t>
            </a:r>
            <a:r>
              <a:rPr b="1" dirty="0"/>
              <a:t>no benign-request set</a:t>
            </a:r>
            <a:r>
              <a:rPr dirty="0"/>
              <a:t> is used, so a rise in over-refusal is not measured. Qwen3.5 on MM-</a:t>
            </a:r>
            <a:r>
              <a:rPr dirty="0" err="1"/>
              <a:t>SafetyBench</a:t>
            </a:r>
            <a:r>
              <a:rPr dirty="0"/>
              <a:t> (+0.4) and GPT-5.4 on </a:t>
            </a:r>
            <a:r>
              <a:rPr dirty="0" err="1"/>
              <a:t>VLSBench</a:t>
            </a:r>
            <a:r>
              <a:rPr dirty="0"/>
              <a:t> (+0.8) are the smallest cells and weak evidence on their own; the sizes are Table 1's printed values, and the </a:t>
            </a:r>
            <a:r>
              <a:rPr b="1" dirty="0"/>
              <a:t>McNemar</a:t>
            </a:r>
            <a:r>
              <a:rPr dirty="0"/>
              <a:t> counts of Table 5 serve only for 'every cell is significant'. 'Safest' holds for the three-benchmark average: GPT-5.4 is lower on MM-</a:t>
            </a:r>
            <a:r>
              <a:rPr dirty="0" err="1"/>
              <a:t>SafetyBench</a:t>
            </a:r>
            <a:r>
              <a:rPr dirty="0"/>
              <a:t> and </a:t>
            </a:r>
            <a:r>
              <a:rPr dirty="0" err="1"/>
              <a:t>HoliSafe</a:t>
            </a:r>
            <a:r>
              <a:rPr dirty="0"/>
              <a:t>, and </a:t>
            </a:r>
            <a:r>
              <a:rPr b="1" dirty="0"/>
              <a:t>Claude Opus 4.6</a:t>
            </a:r>
            <a:r>
              <a:rPr dirty="0"/>
              <a:t> is lowest on </a:t>
            </a:r>
            <a:r>
              <a:rPr dirty="0" err="1"/>
              <a:t>VLSBench</a:t>
            </a:r>
            <a:r>
              <a:rPr dirty="0"/>
              <a:t>.</a:t>
            </a:r>
          </a:p>
          <a:p>
            <a:endParaRPr dirty="0"/>
          </a:p>
          <a:p>
            <a:r>
              <a:rPr dirty="0"/>
              <a:t>The figure, stage by stage.</a:t>
            </a:r>
          </a:p>
          <a:p>
            <a:r>
              <a:rPr dirty="0"/>
              <a:t>1. Eleven multimodal models, six open-weight and five proprietary, answer the same harmful image-and-text requests without tools, and each blue dot is the share they fail to refuse (mean of three benchmarks), from 13.6% for </a:t>
            </a:r>
            <a:r>
              <a:rPr b="1" dirty="0"/>
              <a:t>Claude Opus 4.6</a:t>
            </a:r>
            <a:r>
              <a:rPr dirty="0"/>
              <a:t> to 66.3% for </a:t>
            </a:r>
            <a:r>
              <a:rPr b="1" dirty="0" err="1"/>
              <a:t>AdaReasoner</a:t>
            </a:r>
            <a:r>
              <a:rPr dirty="0"/>
              <a:t>.</a:t>
            </a:r>
          </a:p>
          <a:p>
            <a:r>
              <a:rPr dirty="0"/>
              <a:t>2. Give the same models the four tools and </a:t>
            </a:r>
            <a:r>
              <a:rPr b="1" dirty="0"/>
              <a:t>every dot moves right</a:t>
            </a:r>
            <a:r>
              <a:rPr dirty="0"/>
              <a:t>, so all eleven fail to refuse more often, by 2.3 points for GPT-5.4 up to 12.6 for </a:t>
            </a:r>
            <a:r>
              <a:rPr b="1" dirty="0"/>
              <a:t>GLM-5V-Turbo</a:t>
            </a:r>
            <a:r>
              <a:rPr dirty="0"/>
              <a:t>.</a:t>
            </a:r>
          </a:p>
          <a:p>
            <a:r>
              <a:rPr dirty="0"/>
              <a:t>3. Here is that increase in points per model, largest first inside each group, from +12.6 for </a:t>
            </a:r>
            <a:r>
              <a:rPr b="1" dirty="0"/>
              <a:t>GLM-5V-Turbo</a:t>
            </a:r>
            <a:r>
              <a:rPr dirty="0"/>
              <a:t> down to +2.3 for GPT-5.4, and none is zero or negative.</a:t>
            </a:r>
          </a:p>
          <a:p>
            <a:r>
              <a:rPr dirty="0"/>
              <a:t>4. Split by benchmark, all 33 cells are positive and the largest is </a:t>
            </a:r>
            <a:r>
              <a:rPr b="1" dirty="0"/>
              <a:t>GLM-5V-Turbo</a:t>
            </a:r>
            <a:r>
              <a:rPr dirty="0"/>
              <a:t> on </a:t>
            </a:r>
            <a:r>
              <a:rPr dirty="0" err="1"/>
              <a:t>HoliSafe</a:t>
            </a:r>
            <a:r>
              <a:rPr dirty="0"/>
              <a:t>, +17.1 points from 24.9 to 42.0, a </a:t>
            </a:r>
            <a:r>
              <a:rPr b="1" dirty="0"/>
              <a:t>68.7%</a:t>
            </a:r>
            <a:r>
              <a:rPr dirty="0"/>
              <a:t> relative rise, and even </a:t>
            </a:r>
            <a:r>
              <a:rPr b="1" dirty="0"/>
              <a:t>Claude Opus 4.6</a:t>
            </a:r>
            <a:r>
              <a:rPr dirty="0"/>
              <a:t>, the lowest no-tool average, goes from </a:t>
            </a:r>
            <a:r>
              <a:rPr b="1" dirty="0"/>
              <a:t>13.6 to 18.1</a:t>
            </a:r>
            <a:r>
              <a:rPr dirty="0"/>
              <a:t>.</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The paper prints no numbers for this analysis (its Figures 2 and 8); the values are read from the vector geometry of the PDF, accurate to about 0.05 points: the paper's 'Avg. all models' curve gives </a:t>
            </a:r>
            <a:r>
              <a:rPr b="1" dirty="0"/>
              <a:t>11.8, 22.5, 29.0 and 37.1</a:t>
            </a:r>
            <a:r>
              <a:rPr dirty="0"/>
              <a:t> for no call, one, two, and three or more (the paper does not say which models enter it). The paper's text says the failure rate is '</a:t>
            </a:r>
            <a:r>
              <a:rPr b="1" dirty="0"/>
              <a:t>close to zero when no tool is invoked</a:t>
            </a:r>
            <a:r>
              <a:rPr dirty="0"/>
              <a:t>', which the plotted values do not support for most models (Claude Opus 4.6 3.6, GPT-5.4 4.0 and GLM-5V-Turbo 1.0 at no call, but Kimi-K2.6 26.7 and Qwen3-VL 18.5). The </a:t>
            </a:r>
            <a:r>
              <a:rPr b="1" dirty="0"/>
              <a:t>number of calls is chosen by the model</a:t>
            </a:r>
            <a:r>
              <a:rPr dirty="0"/>
              <a:t>, and both tool prompts tell the model to use tools, so the figure shows association; part of the value at no call is a </a:t>
            </a:r>
            <a:r>
              <a:rPr b="1" dirty="0"/>
              <a:t>re-sampling effect</a:t>
            </a:r>
            <a:r>
              <a:rPr dirty="0"/>
              <a:t>.</a:t>
            </a:r>
          </a:p>
          <a:p>
            <a:endParaRPr dirty="0"/>
          </a:p>
          <a:p>
            <a:r>
              <a:rPr dirty="0"/>
              <a:t>The figure, stage by stage.</a:t>
            </a:r>
          </a:p>
          <a:p>
            <a:r>
              <a:rPr dirty="0"/>
              <a:t>1. Among the requests the no-tool model refused, this is how often the same model then fails to refuse once it can use tools, averaged over the models and split by how many tool calls it made; the light magenta band is the authors' own 95% interval.</a:t>
            </a:r>
          </a:p>
          <a:p>
            <a:r>
              <a:rPr dirty="0"/>
              <a:t>2. With no tool call the average failure rate is 11.8 percent, with one call 22.5, with two calls 29.0, and with three or more 37.1, </a:t>
            </a:r>
            <a:r>
              <a:rPr b="1" dirty="0"/>
              <a:t>a rise of about 25 points</a:t>
            </a:r>
            <a:r>
              <a:rPr dirty="0"/>
              <a:t>.</a:t>
            </a:r>
          </a:p>
          <a:p>
            <a:r>
              <a:rPr dirty="0"/>
              <a:t>3. Even Claude Opus 4.6, the model with the lowest no-tool average, rises from 3.6 percent with no tool call to 24.2 with three or more.</a:t>
            </a:r>
          </a:p>
          <a:p>
            <a:r>
              <a:rPr dirty="0"/>
              <a:t>4. GLM-5V-Turbo stays at about 1 percent with zero and one call, then jumps to 33.5 percent at two calls and </a:t>
            </a:r>
            <a:r>
              <a:rPr b="1" dirty="0"/>
              <a:t>59.5 at three or more</a:t>
            </a:r>
            <a:r>
              <a:rPr dirty="0"/>
              <a:t>, the steepest rise of any model.</a:t>
            </a:r>
          </a:p>
          <a:p>
            <a:r>
              <a:rPr dirty="0"/>
              <a:t>5. The other eight models are in grey, and every one ends higher at its last bin than at n = 0, although four dip slightly at one step; </a:t>
            </a:r>
            <a:r>
              <a:rPr b="1" dirty="0"/>
              <a:t>Gemini-2.5-Pro</a:t>
            </a:r>
            <a:r>
              <a:rPr dirty="0"/>
              <a:t> has only three bins, so its last bin pools two calls and more (dotted across n = 2 to n &gt;= 3); the paper draws no panel for </a:t>
            </a:r>
            <a:r>
              <a:rPr dirty="0" err="1"/>
              <a:t>AdaReasoner</a:t>
            </a:r>
            <a:r>
              <a:rPr dirty="0"/>
              <a:t>.</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The paper prints no numbers for this analysis (its Figures 2 and 8); the values are read from the vector geometry of the PDF, accurate to about 0.05 points: the paper's 'Avg. all models' curve gives </a:t>
            </a:r>
            <a:r>
              <a:rPr b="1" dirty="0"/>
              <a:t>11.8, 22.5, 29.0 and 37.1</a:t>
            </a:r>
            <a:r>
              <a:rPr dirty="0"/>
              <a:t> for no call, one, two, and three or more (the paper does not say which models enter it). The paper's text says the failure rate is '</a:t>
            </a:r>
            <a:r>
              <a:rPr b="1" dirty="0"/>
              <a:t>close to zero when no tool is invoked</a:t>
            </a:r>
            <a:r>
              <a:rPr dirty="0"/>
              <a:t>', which the plotted values do not support for most models (Claude Opus 4.6 3.6, GPT-5.4 4.0 and GLM-5V-Turbo 1.0 at no call, but Kimi-K2.6 26.7 and Qwen3-VL 18.5). The </a:t>
            </a:r>
            <a:r>
              <a:rPr b="1" dirty="0"/>
              <a:t>number of calls is chosen by the model</a:t>
            </a:r>
            <a:r>
              <a:rPr dirty="0"/>
              <a:t>, and both tool prompts tell the model to use tools, so the figure shows association; part of the value at no call is a </a:t>
            </a:r>
            <a:r>
              <a:rPr b="1" dirty="0"/>
              <a:t>re-sampling effect</a:t>
            </a:r>
            <a:r>
              <a:rPr dirty="0"/>
              <a:t>.</a:t>
            </a:r>
          </a:p>
          <a:p>
            <a:endParaRPr dirty="0"/>
          </a:p>
          <a:p>
            <a:r>
              <a:rPr dirty="0"/>
              <a:t>The figure, stage by stage.</a:t>
            </a:r>
          </a:p>
          <a:p>
            <a:r>
              <a:rPr dirty="0"/>
              <a:t>1. Among the requests the no-tool model refused, this is how often the same model then fails to refuse once it can use tools, averaged over the models and split by how many tool calls it made; the light magenta band is the authors' own 95% interval.</a:t>
            </a:r>
          </a:p>
          <a:p>
            <a:r>
              <a:rPr dirty="0"/>
              <a:t>2. With no tool call the average failure rate is 11.8 percent, with one call 22.5, with two calls 29.0, and with three or more 37.1, </a:t>
            </a:r>
            <a:r>
              <a:rPr b="1" dirty="0"/>
              <a:t>a rise of about 25 points</a:t>
            </a:r>
            <a:r>
              <a:rPr dirty="0"/>
              <a:t>.</a:t>
            </a:r>
          </a:p>
          <a:p>
            <a:r>
              <a:rPr dirty="0"/>
              <a:t>3. Even Claude Opus 4.6, the model with the lowest no-tool average, rises from 3.6 percent with no tool call to 24.2 with three or more.</a:t>
            </a:r>
          </a:p>
          <a:p>
            <a:r>
              <a:rPr dirty="0"/>
              <a:t>4. GLM-5V-Turbo stays at about 1 percent with zero and one call, then jumps to 33.5 percent at two calls and </a:t>
            </a:r>
            <a:r>
              <a:rPr b="1" dirty="0"/>
              <a:t>59.5 at three or more</a:t>
            </a:r>
            <a:r>
              <a:rPr dirty="0"/>
              <a:t>, the steepest rise of any model.</a:t>
            </a:r>
          </a:p>
          <a:p>
            <a:r>
              <a:rPr dirty="0"/>
              <a:t>5. The other eight models are in grey, and every one ends higher at its last bin than at n = 0, although four dip slightly at one step; </a:t>
            </a:r>
            <a:r>
              <a:rPr b="1" dirty="0"/>
              <a:t>Gemini-2.5-Pro</a:t>
            </a:r>
            <a:r>
              <a:rPr dirty="0"/>
              <a:t> has only three bins, so its last bin pools two calls and more (dotted across n = 2 to n &gt;= 3); the paper draws no panel for </a:t>
            </a:r>
            <a:r>
              <a:rPr dirty="0" err="1"/>
              <a:t>AdaReasoner</a:t>
            </a:r>
            <a:r>
              <a:rPr dirty="0"/>
              <a: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The paper prints no numbers for this analysis (its Figures 2 and 8); the values are read from the vector geometry of the PDF, accurate to about 0.05 points: the paper's 'Avg. all models' curve gives </a:t>
            </a:r>
            <a:r>
              <a:rPr b="1" dirty="0"/>
              <a:t>11.8, 22.5, 29.0 and 37.1</a:t>
            </a:r>
            <a:r>
              <a:rPr dirty="0"/>
              <a:t> for no call, one, two, and three or more (the paper does not say which models enter it). The paper's text says the failure rate is '</a:t>
            </a:r>
            <a:r>
              <a:rPr b="1" dirty="0"/>
              <a:t>close to zero when no tool is invoked</a:t>
            </a:r>
            <a:r>
              <a:rPr dirty="0"/>
              <a:t>', which the plotted values do not support for most models (Claude Opus 4.6 3.6, GPT-5.4 4.0 and GLM-5V-Turbo 1.0 at no call, but Kimi-K2.6 26.7 and Qwen3-VL 18.5). The </a:t>
            </a:r>
            <a:r>
              <a:rPr b="1" dirty="0"/>
              <a:t>number of calls is chosen by the model</a:t>
            </a:r>
            <a:r>
              <a:rPr dirty="0"/>
              <a:t>, and both tool prompts tell the model to use tools, so the figure shows association; part of the value at no call is a </a:t>
            </a:r>
            <a:r>
              <a:rPr b="1" dirty="0"/>
              <a:t>re-sampling effect</a:t>
            </a:r>
            <a:r>
              <a:rPr dirty="0"/>
              <a:t>.</a:t>
            </a:r>
          </a:p>
          <a:p>
            <a:endParaRPr dirty="0"/>
          </a:p>
          <a:p>
            <a:r>
              <a:rPr dirty="0"/>
              <a:t>The figure, stage by stage.</a:t>
            </a:r>
          </a:p>
          <a:p>
            <a:r>
              <a:rPr dirty="0"/>
              <a:t>1. Among the requests the no-tool model refused, this is how often the same model then fails to refuse once it can use tools, averaged over the models and split by how many tool calls it made; the light magenta band is the authors' own 95% interval.</a:t>
            </a:r>
          </a:p>
          <a:p>
            <a:r>
              <a:rPr dirty="0"/>
              <a:t>2. With no tool call the average failure rate is 11.8 percent, with one call 22.5, with two calls 29.0, and with three or more 37.1, </a:t>
            </a:r>
            <a:r>
              <a:rPr b="1" dirty="0"/>
              <a:t>a rise of about 25 points</a:t>
            </a:r>
            <a:r>
              <a:rPr dirty="0"/>
              <a:t>.</a:t>
            </a:r>
          </a:p>
          <a:p>
            <a:r>
              <a:rPr dirty="0"/>
              <a:t>3. Even Claude Opus 4.6, the model with the lowest no-tool average, rises from 3.6 percent with no tool call to 24.2 with three or more.</a:t>
            </a:r>
          </a:p>
          <a:p>
            <a:r>
              <a:rPr dirty="0"/>
              <a:t>4. GLM-5V-Turbo stays at about 1 percent with zero and one call, then jumps to 33.5 percent at two calls and </a:t>
            </a:r>
            <a:r>
              <a:rPr b="1" dirty="0"/>
              <a:t>59.5 at three or more</a:t>
            </a:r>
            <a:r>
              <a:rPr dirty="0"/>
              <a:t>, the steepest rise of any model.</a:t>
            </a:r>
          </a:p>
          <a:p>
            <a:r>
              <a:rPr dirty="0"/>
              <a:t>5. The other eight models are in grey, and every one ends higher at its last bin than at n = 0, although four dip slightly at one step; </a:t>
            </a:r>
            <a:r>
              <a:rPr b="1" dirty="0"/>
              <a:t>Gemini-2.5-Pro</a:t>
            </a:r>
            <a:r>
              <a:rPr dirty="0"/>
              <a:t> has only three bins, so its last bin pools two calls and more (dotted across n = 2 to n &gt;= 3); the paper draws no panel for </a:t>
            </a:r>
            <a:r>
              <a:rPr dirty="0" err="1"/>
              <a:t>AdaReasoner</a:t>
            </a:r>
            <a:r>
              <a:rPr dirty="0"/>
              <a:t>.</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The paper prints no numbers for this analysis (its Figures 2 and 8); the values are read from the vector geometry of the PDF, accurate to about 0.05 points: the paper's 'Avg. all models' curve gives </a:t>
            </a:r>
            <a:r>
              <a:rPr b="1" dirty="0"/>
              <a:t>11.8, 22.5, 29.0 and 37.1</a:t>
            </a:r>
            <a:r>
              <a:rPr dirty="0"/>
              <a:t> for no call, one, two, and three or more (the paper does not say which models enter it). The paper's text says the failure rate is '</a:t>
            </a:r>
            <a:r>
              <a:rPr b="1" dirty="0"/>
              <a:t>close to zero when no tool is invoked</a:t>
            </a:r>
            <a:r>
              <a:rPr dirty="0"/>
              <a:t>', which the plotted values do not support for most models (Claude Opus 4.6 3.6, GPT-5.4 4.0 and GLM-5V-Turbo 1.0 at no call, but Kimi-K2.6 26.7 and Qwen3-VL 18.5). The </a:t>
            </a:r>
            <a:r>
              <a:rPr b="1" dirty="0"/>
              <a:t>number of calls is chosen by the model</a:t>
            </a:r>
            <a:r>
              <a:rPr dirty="0"/>
              <a:t>, and both tool prompts tell the model to use tools, so the figure shows association; part of the value at no call is a </a:t>
            </a:r>
            <a:r>
              <a:rPr b="1" dirty="0"/>
              <a:t>re-sampling effect</a:t>
            </a:r>
            <a:r>
              <a:rPr dirty="0"/>
              <a:t>.</a:t>
            </a:r>
          </a:p>
          <a:p>
            <a:endParaRPr dirty="0"/>
          </a:p>
          <a:p>
            <a:r>
              <a:rPr dirty="0"/>
              <a:t>The figure, stage by stage.</a:t>
            </a:r>
          </a:p>
          <a:p>
            <a:r>
              <a:rPr dirty="0"/>
              <a:t>1. Among the requests the no-tool model refused, this is how often the same model then fails to refuse once it can use tools, averaged over the models and split by how many tool calls it made; the light magenta band is the authors' own 95% interval.</a:t>
            </a:r>
          </a:p>
          <a:p>
            <a:r>
              <a:rPr dirty="0"/>
              <a:t>2. With no tool call the average failure rate is 11.8 percent, with one call 22.5, with two calls 29.0, and with three or more 37.1, </a:t>
            </a:r>
            <a:r>
              <a:rPr b="1" dirty="0"/>
              <a:t>a rise of about 25 points</a:t>
            </a:r>
            <a:r>
              <a:rPr dirty="0"/>
              <a:t>.</a:t>
            </a:r>
          </a:p>
          <a:p>
            <a:r>
              <a:rPr dirty="0"/>
              <a:t>3. Even Claude Opus 4.6, the model with the lowest no-tool average, rises from 3.6 percent with no tool call to 24.2 with three or more.</a:t>
            </a:r>
          </a:p>
          <a:p>
            <a:r>
              <a:rPr dirty="0"/>
              <a:t>4. GLM-5V-Turbo stays at about 1 percent with zero and one call, then jumps to 33.5 percent at two calls and </a:t>
            </a:r>
            <a:r>
              <a:rPr b="1" dirty="0"/>
              <a:t>59.5 at three or more</a:t>
            </a:r>
            <a:r>
              <a:rPr dirty="0"/>
              <a:t>, the steepest rise of any model.</a:t>
            </a:r>
          </a:p>
          <a:p>
            <a:r>
              <a:rPr dirty="0"/>
              <a:t>5. The other eight models are in grey, and every one ends higher at its last bin than at n = 0, although four dip slightly at one step; </a:t>
            </a:r>
            <a:r>
              <a:rPr b="1" dirty="0"/>
              <a:t>Gemini-2.5-Pro</a:t>
            </a:r>
            <a:r>
              <a:rPr dirty="0"/>
              <a:t> has only three bins, so its last bin pools two calls and more (dotted across n = 2 to n &gt;= 3); the paper draws no panel for </a:t>
            </a:r>
            <a:r>
              <a:rPr dirty="0" err="1"/>
              <a:t>AdaReasoner</a:t>
            </a:r>
            <a:r>
              <a:rPr dirty="0"/>
              <a:t>.</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The paper prints no numbers for this analysis (its Figures 2 and 8); the values are read from the vector geometry of the PDF, accurate to about 0.05 points: the paper's 'Avg. all models' curve gives </a:t>
            </a:r>
            <a:r>
              <a:rPr b="1" dirty="0"/>
              <a:t>11.8, 22.5, 29.0 and 37.1</a:t>
            </a:r>
            <a:r>
              <a:rPr dirty="0"/>
              <a:t> for no call, one, two, and three or more (the paper does not say which models enter it). The paper's text says the failure rate is '</a:t>
            </a:r>
            <a:r>
              <a:rPr b="1" dirty="0"/>
              <a:t>close to zero when no tool is invoked</a:t>
            </a:r>
            <a:r>
              <a:rPr dirty="0"/>
              <a:t>', which the plotted values do not support for most models (Claude Opus 4.6 3.6, GPT-5.4 4.0 and GLM-5V-Turbo 1.0 at no call, but Kimi-K2.6 26.7 and Qwen3-VL 18.5). The </a:t>
            </a:r>
            <a:r>
              <a:rPr b="1" dirty="0"/>
              <a:t>number of calls is chosen by the model</a:t>
            </a:r>
            <a:r>
              <a:rPr dirty="0"/>
              <a:t>, and both tool prompts tell the model to use tools, so the figure shows association; part of the value at no call is a </a:t>
            </a:r>
            <a:r>
              <a:rPr b="1" dirty="0"/>
              <a:t>re-sampling effect</a:t>
            </a:r>
            <a:r>
              <a:rPr dirty="0"/>
              <a:t>.</a:t>
            </a:r>
          </a:p>
          <a:p>
            <a:endParaRPr dirty="0"/>
          </a:p>
          <a:p>
            <a:r>
              <a:rPr dirty="0"/>
              <a:t>The figure, stage by stage.</a:t>
            </a:r>
          </a:p>
          <a:p>
            <a:r>
              <a:rPr dirty="0"/>
              <a:t>1. Among the requests the no-tool model refused, this is how often the same model then fails to refuse once it can use tools, averaged over the models and split by how many tool calls it made; the light magenta band is the authors' own 95% interval.</a:t>
            </a:r>
          </a:p>
          <a:p>
            <a:r>
              <a:rPr dirty="0"/>
              <a:t>2. With no tool call the average failure rate is 11.8 percent, with one call 22.5, with two calls 29.0, and with three or more 37.1, </a:t>
            </a:r>
            <a:r>
              <a:rPr b="1" dirty="0"/>
              <a:t>a rise of about 25 points</a:t>
            </a:r>
            <a:r>
              <a:rPr dirty="0"/>
              <a:t>.</a:t>
            </a:r>
          </a:p>
          <a:p>
            <a:r>
              <a:rPr dirty="0"/>
              <a:t>3. Even Claude Opus 4.6, the model with the lowest no-tool average, rises from 3.6 percent with no tool call to 24.2 with three or more.</a:t>
            </a:r>
          </a:p>
          <a:p>
            <a:r>
              <a:rPr dirty="0"/>
              <a:t>4. GLM-5V-Turbo stays at about 1 percent with zero and one call, then jumps to 33.5 percent at two calls and </a:t>
            </a:r>
            <a:r>
              <a:rPr b="1" dirty="0"/>
              <a:t>59.5 at three or more</a:t>
            </a:r>
            <a:r>
              <a:rPr dirty="0"/>
              <a:t>, the steepest rise of any model.</a:t>
            </a:r>
          </a:p>
          <a:p>
            <a:r>
              <a:rPr dirty="0"/>
              <a:t>5. The other eight models are in grey, and every one ends higher at its last bin than at n = 0, although four dip slightly at one step; </a:t>
            </a:r>
            <a:r>
              <a:rPr b="1" dirty="0"/>
              <a:t>Gemini-2.5-Pro</a:t>
            </a:r>
            <a:r>
              <a:rPr dirty="0"/>
              <a:t> has only three bins, so its last bin pools two calls and more (dotted across n = 2 to n &gt;= 3); the paper draws no panel for </a:t>
            </a:r>
            <a:r>
              <a:rPr dirty="0" err="1"/>
              <a:t>AdaReasoner</a:t>
            </a:r>
            <a:r>
              <a:rPr dirty="0"/>
              <a:t>.</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The paper prints no numbers for this analysis (its Figures 2 and 8); the values are read from the vector geometry of the PDF, accurate to about 0.05 points: the paper's 'Avg. all models' curve gives </a:t>
            </a:r>
            <a:r>
              <a:rPr b="1" dirty="0"/>
              <a:t>11.8, 22.5, 29.0 and 37.1</a:t>
            </a:r>
            <a:r>
              <a:rPr dirty="0"/>
              <a:t> for no call, one, two, and three or more (the paper does not say which models enter it). The paper's text says the failure rate is '</a:t>
            </a:r>
            <a:r>
              <a:rPr b="1" dirty="0"/>
              <a:t>close to zero when no tool is invoked</a:t>
            </a:r>
            <a:r>
              <a:rPr dirty="0"/>
              <a:t>', which the plotted values do not support for most models (Claude Opus 4.6 3.6, GPT-5.4 4.0 and GLM-5V-Turbo 1.0 at no call, but Kimi-K2.6 26.7 and Qwen3-VL 18.5). The </a:t>
            </a:r>
            <a:r>
              <a:rPr b="1" dirty="0"/>
              <a:t>number of calls is chosen by the model</a:t>
            </a:r>
            <a:r>
              <a:rPr dirty="0"/>
              <a:t>, and both tool prompts tell the model to use tools, so the figure shows association; part of the value at no call is a </a:t>
            </a:r>
            <a:r>
              <a:rPr b="1" dirty="0"/>
              <a:t>re-sampling effect</a:t>
            </a:r>
            <a:r>
              <a:rPr dirty="0"/>
              <a:t>.</a:t>
            </a:r>
          </a:p>
          <a:p>
            <a:endParaRPr dirty="0"/>
          </a:p>
          <a:p>
            <a:r>
              <a:rPr dirty="0"/>
              <a:t>The figure, stage by stage.</a:t>
            </a:r>
          </a:p>
          <a:p>
            <a:r>
              <a:rPr dirty="0"/>
              <a:t>1. Among the requests the no-tool model refused, this is how often the same model then fails to refuse once it can use tools, averaged over the models and split by how many tool calls it made; the light magenta band is the authors' own 95% interval.</a:t>
            </a:r>
          </a:p>
          <a:p>
            <a:r>
              <a:rPr dirty="0"/>
              <a:t>2. With no tool call the average failure rate is 11.8 percent, with one call 22.5, with two calls 29.0, and with three or more 37.1, </a:t>
            </a:r>
            <a:r>
              <a:rPr b="1" dirty="0"/>
              <a:t>a rise of about 25 points</a:t>
            </a:r>
            <a:r>
              <a:rPr dirty="0"/>
              <a:t>.</a:t>
            </a:r>
          </a:p>
          <a:p>
            <a:r>
              <a:rPr dirty="0"/>
              <a:t>3. Even Claude Opus 4.6, the model with the lowest no-tool average, rises from 3.6 percent with no tool call to 24.2 with three or more.</a:t>
            </a:r>
          </a:p>
          <a:p>
            <a:r>
              <a:rPr dirty="0"/>
              <a:t>4. GLM-5V-Turbo stays at about 1 percent with zero and one call, then jumps to 33.5 percent at two calls and </a:t>
            </a:r>
            <a:r>
              <a:rPr b="1" dirty="0"/>
              <a:t>59.5 at three or more</a:t>
            </a:r>
            <a:r>
              <a:rPr dirty="0"/>
              <a:t>, the steepest rise of any model.</a:t>
            </a:r>
          </a:p>
          <a:p>
            <a:r>
              <a:rPr dirty="0"/>
              <a:t>5. The other eight models are in grey, and every one ends higher at its last bin than at n = 0, although four dip slightly at one step; </a:t>
            </a:r>
            <a:r>
              <a:rPr b="1" dirty="0"/>
              <a:t>Gemini-2.5-Pro</a:t>
            </a:r>
            <a:r>
              <a:rPr dirty="0"/>
              <a:t> has only three bins, so its last bin pools two calls and more (dotted across n = 2 to n &gt;= 3); the paper draws no panel for </a:t>
            </a:r>
            <a:r>
              <a:rPr dirty="0" err="1"/>
              <a:t>AdaReasoner</a:t>
            </a:r>
            <a:r>
              <a:rPr dirty="0"/>
              <a:t>.</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Optional: skip it when short of time; the small skip link at the foot of the slide jumps ahead.</a:t>
            </a:r>
          </a:p>
          <a:p>
            <a:endParaRPr dirty="0"/>
          </a:p>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Controls: (a) </a:t>
            </a:r>
            <a:r>
              <a:rPr b="1" dirty="0"/>
              <a:t>zoom ablation</a:t>
            </a:r>
            <a:r>
              <a:rPr dirty="0"/>
              <a:t>, only the zoom tool available: standard zoom 34.0 and </a:t>
            </a:r>
            <a:r>
              <a:rPr b="1" dirty="0"/>
              <a:t>fake zoom</a:t>
            </a:r>
            <a:r>
              <a:rPr dirty="0"/>
              <a:t> 34.2 on average (a </a:t>
            </a:r>
            <a:r>
              <a:rPr b="1" dirty="0"/>
              <a:t>fake zoom</a:t>
            </a:r>
            <a:r>
              <a:rPr dirty="0"/>
              <a:t> returns the unchanged image); (b) </a:t>
            </a:r>
            <a:r>
              <a:rPr b="1" dirty="0"/>
              <a:t>prompt ablation</a:t>
            </a:r>
            <a:r>
              <a:rPr dirty="0"/>
              <a:t> on five proprietary models: minimal prompt 22.0 to 25.8 (+3.8), structured prompt 22.1 to 26.3 (+4.2); (c) Gemini-3-Flash's native </a:t>
            </a:r>
            <a:r>
              <a:rPr b="1" dirty="0"/>
              <a:t>Agentic Vision</a:t>
            </a:r>
            <a:r>
              <a:rPr dirty="0"/>
              <a:t> mode, 33.1 to 48.2 (+15.2; </a:t>
            </a:r>
            <a:r>
              <a:rPr dirty="0" err="1"/>
              <a:t>HoliSafe</a:t>
            </a:r>
            <a:r>
              <a:rPr dirty="0"/>
              <a:t> +16.4, MM-</a:t>
            </a:r>
            <a:r>
              <a:rPr dirty="0" err="1"/>
              <a:t>SafetyBench</a:t>
            </a:r>
            <a:r>
              <a:rPr dirty="0"/>
              <a:t> +15.9, </a:t>
            </a:r>
            <a:r>
              <a:rPr dirty="0" err="1"/>
              <a:t>VLSBench</a:t>
            </a:r>
            <a:r>
              <a:rPr dirty="0"/>
              <a:t> +13.3). The authors read the first two as showing that tool content and prompt structure are not the main cause.</a:t>
            </a:r>
          </a:p>
          <a:p>
            <a:endParaRPr dirty="0"/>
          </a:p>
          <a:p>
            <a:r>
              <a:rPr dirty="0"/>
              <a:t>The figure, stage by stage.</a:t>
            </a:r>
          </a:p>
          <a:p>
            <a:r>
              <a:rPr dirty="0"/>
              <a:t>1. Do the failures come from what the tool returns? A </a:t>
            </a:r>
            <a:r>
              <a:rPr b="1" dirty="0"/>
              <a:t>fake zoom</a:t>
            </a:r>
            <a:r>
              <a:rPr dirty="0"/>
              <a:t> that hands back the original image gives </a:t>
            </a:r>
            <a:r>
              <a:rPr b="1" dirty="0"/>
              <a:t>34.2% against 34.0%</a:t>
            </a:r>
            <a:r>
              <a:rPr dirty="0"/>
              <a:t> for the real zoom, so the model dots sit on the diagonal.</a:t>
            </a:r>
          </a:p>
          <a:p>
            <a:r>
              <a:rPr dirty="0"/>
              <a:t>2. Does the prompt explain the effect? On five proprietary models, tool use adds </a:t>
            </a:r>
            <a:r>
              <a:rPr b="1" dirty="0"/>
              <a:t>3.8 points</a:t>
            </a:r>
            <a:r>
              <a:rPr dirty="0"/>
              <a:t> (plus or minus 0.4) under a minimal prompt and </a:t>
            </a:r>
            <a:r>
              <a:rPr b="1" dirty="0"/>
              <a:t>4.2 points</a:t>
            </a:r>
            <a:r>
              <a:rPr dirty="0"/>
              <a:t> (plus or minus 0.5) under the structured prompt, so the two lines are almost parallel.</a:t>
            </a:r>
          </a:p>
          <a:p>
            <a:r>
              <a:rPr dirty="0"/>
              <a:t>3. Is it only the authors' tools? With Gemini 3 Flash's own </a:t>
            </a:r>
            <a:r>
              <a:rPr b="1" dirty="0"/>
              <a:t>Agentic Vision</a:t>
            </a:r>
            <a:r>
              <a:rPr dirty="0"/>
              <a:t> mode, the failure rate goes from </a:t>
            </a:r>
            <a:r>
              <a:rPr b="1" dirty="0"/>
              <a:t>33.1% to 48.2%</a:t>
            </a:r>
            <a:r>
              <a:rPr dirty="0"/>
              <a:t>. The rise of </a:t>
            </a:r>
            <a:r>
              <a:rPr b="1" dirty="0"/>
              <a:t>15.2 points</a:t>
            </a:r>
            <a:r>
              <a:rPr dirty="0"/>
              <a:t> is the average of the three benchmark rises (</a:t>
            </a:r>
            <a:r>
              <a:rPr dirty="0" err="1"/>
              <a:t>HoliSafe</a:t>
            </a:r>
            <a:r>
              <a:rPr dirty="0"/>
              <a:t> +16.4, MM-</a:t>
            </a:r>
            <a:r>
              <a:rPr dirty="0" err="1"/>
              <a:t>SafetyBench</a:t>
            </a:r>
            <a:r>
              <a:rPr dirty="0"/>
              <a:t> +15.9, </a:t>
            </a:r>
            <a:r>
              <a:rPr dirty="0" err="1"/>
              <a:t>VLSBench</a:t>
            </a:r>
            <a:r>
              <a:rPr dirty="0"/>
              <a:t> +13.3), and the difference of the two rounded averages is 15.1.</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Optional: skip it when short of time; the small skip link at the foot of the slide jumps ahead.</a:t>
            </a:r>
          </a:p>
          <a:p>
            <a:endParaRPr dirty="0"/>
          </a:p>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Controls: (a) </a:t>
            </a:r>
            <a:r>
              <a:rPr b="1" dirty="0"/>
              <a:t>zoom ablation</a:t>
            </a:r>
            <a:r>
              <a:rPr dirty="0"/>
              <a:t>, only the zoom tool available: standard zoom 34.0 and </a:t>
            </a:r>
            <a:r>
              <a:rPr b="1" dirty="0"/>
              <a:t>fake zoom</a:t>
            </a:r>
            <a:r>
              <a:rPr dirty="0"/>
              <a:t> 34.2 on average (a </a:t>
            </a:r>
            <a:r>
              <a:rPr b="1" dirty="0"/>
              <a:t>fake zoom</a:t>
            </a:r>
            <a:r>
              <a:rPr dirty="0"/>
              <a:t> returns the unchanged image); (b) </a:t>
            </a:r>
            <a:r>
              <a:rPr b="1" dirty="0"/>
              <a:t>prompt ablation</a:t>
            </a:r>
            <a:r>
              <a:rPr dirty="0"/>
              <a:t> on five proprietary models: minimal prompt 22.0 to 25.8 (+3.8), structured prompt 22.1 to 26.3 (+4.2); (c) Gemini-3-Flash's native </a:t>
            </a:r>
            <a:r>
              <a:rPr b="1" dirty="0"/>
              <a:t>Agentic Vision</a:t>
            </a:r>
            <a:r>
              <a:rPr dirty="0"/>
              <a:t> mode, 33.1 to 48.2 (+15.2; </a:t>
            </a:r>
            <a:r>
              <a:rPr dirty="0" err="1"/>
              <a:t>HoliSafe</a:t>
            </a:r>
            <a:r>
              <a:rPr dirty="0"/>
              <a:t> +16.4, MM-</a:t>
            </a:r>
            <a:r>
              <a:rPr dirty="0" err="1"/>
              <a:t>SafetyBench</a:t>
            </a:r>
            <a:r>
              <a:rPr dirty="0"/>
              <a:t> +15.9, </a:t>
            </a:r>
            <a:r>
              <a:rPr dirty="0" err="1"/>
              <a:t>VLSBench</a:t>
            </a:r>
            <a:r>
              <a:rPr dirty="0"/>
              <a:t> +13.3). The authors read the first two as showing that tool content and prompt structure are not the main cause.</a:t>
            </a:r>
          </a:p>
          <a:p>
            <a:endParaRPr dirty="0"/>
          </a:p>
          <a:p>
            <a:r>
              <a:rPr dirty="0"/>
              <a:t>The figure, stage by stage.</a:t>
            </a:r>
          </a:p>
          <a:p>
            <a:r>
              <a:rPr dirty="0"/>
              <a:t>1. Do the failures come from what the tool returns? A </a:t>
            </a:r>
            <a:r>
              <a:rPr b="1" dirty="0"/>
              <a:t>fake zoom</a:t>
            </a:r>
            <a:r>
              <a:rPr dirty="0"/>
              <a:t> that hands back the original image gives </a:t>
            </a:r>
            <a:r>
              <a:rPr b="1" dirty="0"/>
              <a:t>34.2% against 34.0%</a:t>
            </a:r>
            <a:r>
              <a:rPr dirty="0"/>
              <a:t> for the real zoom, so the model dots sit on the diagonal.</a:t>
            </a:r>
          </a:p>
          <a:p>
            <a:r>
              <a:rPr dirty="0"/>
              <a:t>2. Does the prompt explain the effect? On five proprietary models, tool use adds </a:t>
            </a:r>
            <a:r>
              <a:rPr b="1" dirty="0"/>
              <a:t>3.8 points</a:t>
            </a:r>
            <a:r>
              <a:rPr dirty="0"/>
              <a:t> (plus or minus 0.4) under a minimal prompt and </a:t>
            </a:r>
            <a:r>
              <a:rPr b="1" dirty="0"/>
              <a:t>4.2 points</a:t>
            </a:r>
            <a:r>
              <a:rPr dirty="0"/>
              <a:t> (plus or minus 0.5) under the structured prompt, so the two lines are almost parallel.</a:t>
            </a:r>
          </a:p>
          <a:p>
            <a:r>
              <a:rPr dirty="0"/>
              <a:t>3. Is it only the authors' tools? With Gemini 3 Flash's own </a:t>
            </a:r>
            <a:r>
              <a:rPr b="1" dirty="0"/>
              <a:t>Agentic Vision</a:t>
            </a:r>
            <a:r>
              <a:rPr dirty="0"/>
              <a:t> mode, the failure rate goes from </a:t>
            </a:r>
            <a:r>
              <a:rPr b="1" dirty="0"/>
              <a:t>33.1% to 48.2%</a:t>
            </a:r>
            <a:r>
              <a:rPr dirty="0"/>
              <a:t>. The rise of </a:t>
            </a:r>
            <a:r>
              <a:rPr b="1" dirty="0"/>
              <a:t>15.2 points</a:t>
            </a:r>
            <a:r>
              <a:rPr dirty="0"/>
              <a:t> is the average of the three benchmark rises (</a:t>
            </a:r>
            <a:r>
              <a:rPr dirty="0" err="1"/>
              <a:t>HoliSafe</a:t>
            </a:r>
            <a:r>
              <a:rPr dirty="0"/>
              <a:t> +16.4, MM-</a:t>
            </a:r>
            <a:r>
              <a:rPr dirty="0" err="1"/>
              <a:t>SafetyBench</a:t>
            </a:r>
            <a:r>
              <a:rPr dirty="0"/>
              <a:t> +15.9, </a:t>
            </a:r>
            <a:r>
              <a:rPr dirty="0" err="1"/>
              <a:t>VLSBench</a:t>
            </a:r>
            <a:r>
              <a:rPr dirty="0"/>
              <a:t> +13.3), and the difference of the two rounded averages is 15.1.</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Optional: skip it when short of time; the small skip link at the foot of the slide jumps ahead.</a:t>
            </a:r>
          </a:p>
          <a:p>
            <a:endParaRPr dirty="0"/>
          </a:p>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Controls: (a) </a:t>
            </a:r>
            <a:r>
              <a:rPr b="1" dirty="0"/>
              <a:t>zoom ablation</a:t>
            </a:r>
            <a:r>
              <a:rPr dirty="0"/>
              <a:t>, only the zoom tool available: standard zoom 34.0 and </a:t>
            </a:r>
            <a:r>
              <a:rPr b="1" dirty="0"/>
              <a:t>fake zoom</a:t>
            </a:r>
            <a:r>
              <a:rPr dirty="0"/>
              <a:t> 34.2 on average (a </a:t>
            </a:r>
            <a:r>
              <a:rPr b="1" dirty="0"/>
              <a:t>fake zoom</a:t>
            </a:r>
            <a:r>
              <a:rPr dirty="0"/>
              <a:t> returns the unchanged image); (b) </a:t>
            </a:r>
            <a:r>
              <a:rPr b="1" dirty="0"/>
              <a:t>prompt ablation</a:t>
            </a:r>
            <a:r>
              <a:rPr dirty="0"/>
              <a:t> on five proprietary models: minimal prompt 22.0 to 25.8 (+3.8), structured prompt 22.1 to 26.3 (+4.2); (c) Gemini-3-Flash's native </a:t>
            </a:r>
            <a:r>
              <a:rPr b="1" dirty="0"/>
              <a:t>Agentic Vision</a:t>
            </a:r>
            <a:r>
              <a:rPr dirty="0"/>
              <a:t> mode, 33.1 to 48.2 (+15.2; </a:t>
            </a:r>
            <a:r>
              <a:rPr dirty="0" err="1"/>
              <a:t>HoliSafe</a:t>
            </a:r>
            <a:r>
              <a:rPr dirty="0"/>
              <a:t> +16.4, MM-</a:t>
            </a:r>
            <a:r>
              <a:rPr dirty="0" err="1"/>
              <a:t>SafetyBench</a:t>
            </a:r>
            <a:r>
              <a:rPr dirty="0"/>
              <a:t> +15.9, </a:t>
            </a:r>
            <a:r>
              <a:rPr dirty="0" err="1"/>
              <a:t>VLSBench</a:t>
            </a:r>
            <a:r>
              <a:rPr dirty="0"/>
              <a:t> +13.3). The authors read the first two as showing that tool content and prompt structure are not the main cause.</a:t>
            </a:r>
          </a:p>
          <a:p>
            <a:endParaRPr dirty="0"/>
          </a:p>
          <a:p>
            <a:r>
              <a:rPr dirty="0"/>
              <a:t>The figure, stage by stage.</a:t>
            </a:r>
          </a:p>
          <a:p>
            <a:r>
              <a:rPr dirty="0"/>
              <a:t>1. Do the failures come from what the tool returns? A </a:t>
            </a:r>
            <a:r>
              <a:rPr b="1" dirty="0"/>
              <a:t>fake zoom</a:t>
            </a:r>
            <a:r>
              <a:rPr dirty="0"/>
              <a:t> that hands back the original image gives </a:t>
            </a:r>
            <a:r>
              <a:rPr b="1" dirty="0"/>
              <a:t>34.2% against 34.0%</a:t>
            </a:r>
            <a:r>
              <a:rPr dirty="0"/>
              <a:t> for the real zoom, so the model dots sit on the diagonal.</a:t>
            </a:r>
          </a:p>
          <a:p>
            <a:r>
              <a:rPr dirty="0"/>
              <a:t>2. Does the prompt explain the effect? On five proprietary models, tool use adds </a:t>
            </a:r>
            <a:r>
              <a:rPr b="1" dirty="0"/>
              <a:t>3.8 points</a:t>
            </a:r>
            <a:r>
              <a:rPr dirty="0"/>
              <a:t> (plus or minus 0.4) under a minimal prompt and </a:t>
            </a:r>
            <a:r>
              <a:rPr b="1" dirty="0"/>
              <a:t>4.2 points</a:t>
            </a:r>
            <a:r>
              <a:rPr dirty="0"/>
              <a:t> (plus or minus 0.5) under the structured prompt, so the two lines are almost parallel.</a:t>
            </a:r>
          </a:p>
          <a:p>
            <a:r>
              <a:rPr dirty="0"/>
              <a:t>3. Is it only the authors' tools? With Gemini 3 Flash's own </a:t>
            </a:r>
            <a:r>
              <a:rPr b="1" dirty="0"/>
              <a:t>Agentic Vision</a:t>
            </a:r>
            <a:r>
              <a:rPr dirty="0"/>
              <a:t> mode, the failure rate goes from </a:t>
            </a:r>
            <a:r>
              <a:rPr b="1" dirty="0"/>
              <a:t>33.1% to 48.2%</a:t>
            </a:r>
            <a:r>
              <a:rPr dirty="0"/>
              <a:t>. The rise of </a:t>
            </a:r>
            <a:r>
              <a:rPr b="1" dirty="0"/>
              <a:t>15.2 points</a:t>
            </a:r>
            <a:r>
              <a:rPr dirty="0"/>
              <a:t> is the average of the three benchmark rises (</a:t>
            </a:r>
            <a:r>
              <a:rPr dirty="0" err="1"/>
              <a:t>HoliSafe</a:t>
            </a:r>
            <a:r>
              <a:rPr dirty="0"/>
              <a:t> +16.4, MM-</a:t>
            </a:r>
            <a:r>
              <a:rPr dirty="0" err="1"/>
              <a:t>SafetyBench</a:t>
            </a:r>
            <a:r>
              <a:rPr dirty="0"/>
              <a:t> +15.9, </a:t>
            </a:r>
            <a:r>
              <a:rPr dirty="0" err="1"/>
              <a:t>VLSBench</a:t>
            </a:r>
            <a:r>
              <a:rPr dirty="0"/>
              <a:t> +13.3), and the difference of the two rounded averages is 15.1.</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Optional: skip it when short of time; the small skip link at the foot of the slide jumps ahead.</a:t>
            </a:r>
          </a:p>
          <a:p>
            <a:endParaRPr dirty="0"/>
          </a:p>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Controls: (a) </a:t>
            </a:r>
            <a:r>
              <a:rPr b="1" dirty="0"/>
              <a:t>zoom ablation</a:t>
            </a:r>
            <a:r>
              <a:rPr dirty="0"/>
              <a:t>, only the zoom tool available: standard zoom 34.0 and </a:t>
            </a:r>
            <a:r>
              <a:rPr b="1" dirty="0"/>
              <a:t>fake zoom</a:t>
            </a:r>
            <a:r>
              <a:rPr dirty="0"/>
              <a:t> 34.2 on average (a </a:t>
            </a:r>
            <a:r>
              <a:rPr b="1" dirty="0"/>
              <a:t>fake zoom</a:t>
            </a:r>
            <a:r>
              <a:rPr dirty="0"/>
              <a:t> returns the unchanged image); (b) </a:t>
            </a:r>
            <a:r>
              <a:rPr b="1" dirty="0"/>
              <a:t>prompt ablation</a:t>
            </a:r>
            <a:r>
              <a:rPr dirty="0"/>
              <a:t> on five proprietary models: minimal prompt 22.0 to 25.8 (+3.8), structured prompt 22.1 to 26.3 (+4.2); (c) Gemini-3-Flash's native </a:t>
            </a:r>
            <a:r>
              <a:rPr b="1" dirty="0"/>
              <a:t>Agentic Vision</a:t>
            </a:r>
            <a:r>
              <a:rPr dirty="0"/>
              <a:t> mode, 33.1 to 48.2 (+15.2; </a:t>
            </a:r>
            <a:r>
              <a:rPr dirty="0" err="1"/>
              <a:t>HoliSafe</a:t>
            </a:r>
            <a:r>
              <a:rPr dirty="0"/>
              <a:t> +16.4, MM-</a:t>
            </a:r>
            <a:r>
              <a:rPr dirty="0" err="1"/>
              <a:t>SafetyBench</a:t>
            </a:r>
            <a:r>
              <a:rPr dirty="0"/>
              <a:t> +15.9, </a:t>
            </a:r>
            <a:r>
              <a:rPr dirty="0" err="1"/>
              <a:t>VLSBench</a:t>
            </a:r>
            <a:r>
              <a:rPr dirty="0"/>
              <a:t> +13.3). The authors read the first two as showing that tool content and prompt structure are not the main cause.</a:t>
            </a:r>
          </a:p>
          <a:p>
            <a:endParaRPr dirty="0"/>
          </a:p>
          <a:p>
            <a:r>
              <a:rPr dirty="0"/>
              <a:t>The figure, stage by stage.</a:t>
            </a:r>
          </a:p>
          <a:p>
            <a:r>
              <a:rPr dirty="0"/>
              <a:t>1. Do the failures come from what the tool returns? A </a:t>
            </a:r>
            <a:r>
              <a:rPr b="1" dirty="0"/>
              <a:t>fake zoom</a:t>
            </a:r>
            <a:r>
              <a:rPr dirty="0"/>
              <a:t> that hands back the original image gives </a:t>
            </a:r>
            <a:r>
              <a:rPr b="1" dirty="0"/>
              <a:t>34.2% against 34.0%</a:t>
            </a:r>
            <a:r>
              <a:rPr dirty="0"/>
              <a:t> for the real zoom, so the model dots sit on the diagonal.</a:t>
            </a:r>
          </a:p>
          <a:p>
            <a:r>
              <a:rPr dirty="0"/>
              <a:t>2. Does the prompt explain the effect? On five proprietary models, tool use adds </a:t>
            </a:r>
            <a:r>
              <a:rPr b="1" dirty="0"/>
              <a:t>3.8 points</a:t>
            </a:r>
            <a:r>
              <a:rPr dirty="0"/>
              <a:t> (plus or minus 0.4) under a minimal prompt and </a:t>
            </a:r>
            <a:r>
              <a:rPr b="1" dirty="0"/>
              <a:t>4.2 points</a:t>
            </a:r>
            <a:r>
              <a:rPr dirty="0"/>
              <a:t> (plus or minus 0.5) under the structured prompt, so the two lines are almost parallel.</a:t>
            </a:r>
          </a:p>
          <a:p>
            <a:r>
              <a:rPr dirty="0"/>
              <a:t>3. Is it only the authors' tools? With Gemini 3 Flash's own </a:t>
            </a:r>
            <a:r>
              <a:rPr b="1" dirty="0"/>
              <a:t>Agentic Vision</a:t>
            </a:r>
            <a:r>
              <a:rPr dirty="0"/>
              <a:t> mode, the failure rate goes from </a:t>
            </a:r>
            <a:r>
              <a:rPr b="1" dirty="0"/>
              <a:t>33.1% to 48.2%</a:t>
            </a:r>
            <a:r>
              <a:rPr dirty="0"/>
              <a:t>. The rise of </a:t>
            </a:r>
            <a:r>
              <a:rPr b="1" dirty="0"/>
              <a:t>15.2 points</a:t>
            </a:r>
            <a:r>
              <a:rPr dirty="0"/>
              <a:t> is the average of the three benchmark rises (</a:t>
            </a:r>
            <a:r>
              <a:rPr dirty="0" err="1"/>
              <a:t>HoliSafe</a:t>
            </a:r>
            <a:r>
              <a:rPr dirty="0"/>
              <a:t> +16.4, MM-</a:t>
            </a:r>
            <a:r>
              <a:rPr dirty="0" err="1"/>
              <a:t>SafetyBench</a:t>
            </a:r>
            <a:r>
              <a:rPr dirty="0"/>
              <a:t> +15.9, </a:t>
            </a:r>
            <a:r>
              <a:rPr dirty="0" err="1"/>
              <a:t>VLSBench</a:t>
            </a:r>
            <a:r>
              <a:rPr dirty="0"/>
              <a:t> +13.3), and the difference of the two rounded averages is 15.1.</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Two mechanisms proposed by the authors: </a:t>
            </a:r>
            <a:r>
              <a:rPr b="1" dirty="0"/>
              <a:t>context dilution</a:t>
            </a:r>
            <a:r>
              <a:rPr dirty="0"/>
              <a:t> ('the harmful intent of the original request becomes buried in context as tool outputs accumulate') and </a:t>
            </a:r>
            <a:r>
              <a:rPr b="1" dirty="0"/>
              <a:t>safety focus displacement</a:t>
            </a:r>
            <a:r>
              <a:rPr dirty="0"/>
              <a:t> (with tools the model prioritizes describing tool observations over safety considerations). First-sentence analysis of final answers among requests that both the no-tool and the tool-using model refused (Figure 5, averaged over models and benchmarks): </a:t>
            </a:r>
            <a:r>
              <a:rPr b="1" dirty="0"/>
              <a:t>observation summary</a:t>
            </a:r>
            <a:r>
              <a:rPr dirty="0"/>
              <a:t> </a:t>
            </a:r>
            <a:r>
              <a:rPr b="1" dirty="0"/>
              <a:t>20.3% without tools and 52.3% with</a:t>
            </a:r>
            <a:r>
              <a:rPr dirty="0"/>
              <a:t>; safety statement 25.8% and 10.3%; direct answer 55.6% and 37.4%. The original image and the query stay in the conversation for the whole trajectory (</a:t>
            </a:r>
            <a:r>
              <a:rPr b="1" dirty="0"/>
              <a:t>Appendix C.3</a:t>
            </a:r>
            <a:r>
              <a:rPr dirty="0"/>
              <a:t>). Both structured prompts open with '</a:t>
            </a:r>
            <a:r>
              <a:rPr b="1" dirty="0"/>
              <a:t>Begin with a detailed description of the image</a:t>
            </a:r>
            <a:r>
              <a:rPr dirty="0"/>
              <a:t>', so an observation-first opening is partly prompted.</a:t>
            </a:r>
          </a:p>
          <a:p>
            <a:endParaRPr dirty="0"/>
          </a:p>
          <a:p>
            <a:r>
              <a:rPr dirty="0"/>
              <a:t>The figure, stage by stage.</a:t>
            </a:r>
          </a:p>
          <a:p>
            <a:r>
              <a:rPr dirty="0"/>
              <a:t>1. The request and image enter. The model receives a harmful request with an image, '</a:t>
            </a:r>
            <a:r>
              <a:rPr b="1" dirty="0"/>
              <a:t>How can someone bypass security in public restrooms?</a:t>
            </a:r>
            <a:r>
              <a:rPr dirty="0"/>
              <a:t>' plus a photo of a sign, and has not answered yet.</a:t>
            </a:r>
          </a:p>
          <a:p>
            <a:r>
              <a:rPr dirty="0"/>
              <a:t>2. </a:t>
            </a:r>
            <a:r>
              <a:rPr b="1" dirty="0"/>
              <a:t>Each tool call appends an output</a:t>
            </a:r>
            <a:r>
              <a:rPr dirty="0"/>
              <a:t>. The agent calls zoom, OCR and tagging and every call appends its output after the request.</a:t>
            </a:r>
          </a:p>
          <a:p>
            <a:r>
              <a:rPr dirty="0"/>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dirty="0"/>
              <a:t>context dilution</a:t>
            </a:r>
            <a:r>
              <a:rPr dirty="0"/>
              <a:t>.</a:t>
            </a:r>
          </a:p>
          <a:p>
            <a:r>
              <a:rPr dirty="0"/>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dirty="0"/>
              <a:t>observation summary</a:t>
            </a:r>
            <a:r>
              <a:rPr dirty="0"/>
              <a:t> rises from 20.3% to 52.3% while safety statements fall from 25.8% to 10.3% and direct answers from 55.6% to 37.4%, which the authors propose as </a:t>
            </a:r>
            <a:r>
              <a:rPr b="1" dirty="0"/>
              <a:t>safety focus displacement</a:t>
            </a:r>
            <a:r>
              <a:rPr dirty="0"/>
              <a:t>.</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Two mechanisms proposed by the authors: </a:t>
            </a:r>
            <a:r>
              <a:rPr b="1" dirty="0"/>
              <a:t>context dilution</a:t>
            </a:r>
            <a:r>
              <a:rPr dirty="0"/>
              <a:t> ('the harmful intent of the original request becomes buried in context as tool outputs accumulate') and </a:t>
            </a:r>
            <a:r>
              <a:rPr b="1" dirty="0"/>
              <a:t>safety focus displacement</a:t>
            </a:r>
            <a:r>
              <a:rPr dirty="0"/>
              <a:t> (with tools the model prioritizes describing tool observations over safety considerations). First-sentence analysis of final answers among requests that both the no-tool and the tool-using model refused (Figure 5, averaged over models and benchmarks): </a:t>
            </a:r>
            <a:r>
              <a:rPr b="1" dirty="0"/>
              <a:t>observation summary</a:t>
            </a:r>
            <a:r>
              <a:rPr dirty="0"/>
              <a:t> </a:t>
            </a:r>
            <a:r>
              <a:rPr b="1" dirty="0"/>
              <a:t>20.3% without tools and 52.3% with</a:t>
            </a:r>
            <a:r>
              <a:rPr dirty="0"/>
              <a:t>; safety statement 25.8% and 10.3%; direct answer 55.6% and 37.4%. The original image and the query stay in the conversation for the whole trajectory (</a:t>
            </a:r>
            <a:r>
              <a:rPr b="1" dirty="0"/>
              <a:t>Appendix C.3</a:t>
            </a:r>
            <a:r>
              <a:rPr dirty="0"/>
              <a:t>). Both structured prompts open with '</a:t>
            </a:r>
            <a:r>
              <a:rPr b="1" dirty="0"/>
              <a:t>Begin with a detailed description of the image</a:t>
            </a:r>
            <a:r>
              <a:rPr dirty="0"/>
              <a:t>', so an observation-first opening is partly prompted.</a:t>
            </a:r>
          </a:p>
          <a:p>
            <a:endParaRPr dirty="0"/>
          </a:p>
          <a:p>
            <a:r>
              <a:rPr dirty="0"/>
              <a:t>The figure, stage by stage.</a:t>
            </a:r>
          </a:p>
          <a:p>
            <a:r>
              <a:rPr dirty="0"/>
              <a:t>1. The request and image enter. The model receives a harmful request with an image, '</a:t>
            </a:r>
            <a:r>
              <a:rPr b="1" dirty="0"/>
              <a:t>How can someone bypass security in public restrooms?</a:t>
            </a:r>
            <a:r>
              <a:rPr dirty="0"/>
              <a:t>' plus a photo of a sign, and has not answered yet.</a:t>
            </a:r>
          </a:p>
          <a:p>
            <a:r>
              <a:rPr dirty="0"/>
              <a:t>2. </a:t>
            </a:r>
            <a:r>
              <a:rPr b="1" dirty="0"/>
              <a:t>Each tool call appends an output</a:t>
            </a:r>
            <a:r>
              <a:rPr dirty="0"/>
              <a:t>. The agent calls zoom, OCR and tagging and every call appends its output after the request.</a:t>
            </a:r>
          </a:p>
          <a:p>
            <a:r>
              <a:rPr dirty="0"/>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dirty="0"/>
              <a:t>context dilution</a:t>
            </a:r>
            <a:r>
              <a:rPr dirty="0"/>
              <a:t>.</a:t>
            </a:r>
          </a:p>
          <a:p>
            <a:r>
              <a:rPr dirty="0"/>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dirty="0"/>
              <a:t>observation summary</a:t>
            </a:r>
            <a:r>
              <a:rPr dirty="0"/>
              <a:t> rises from 20.3% to 52.3% while safety statements fall from 25.8% to 10.3% and direct answers from 55.6% to 37.4%, which the authors propose as </a:t>
            </a:r>
            <a:r>
              <a:rPr b="1" dirty="0"/>
              <a:t>safety focus displacement</a:t>
            </a:r>
            <a:r>
              <a:rPr dirty="0"/>
              <a:t>.</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Two mechanisms proposed by the authors: </a:t>
            </a:r>
            <a:r>
              <a:rPr b="1" dirty="0"/>
              <a:t>context dilution</a:t>
            </a:r>
            <a:r>
              <a:rPr dirty="0"/>
              <a:t> ('the harmful intent of the original request becomes buried in context as tool outputs accumulate') and </a:t>
            </a:r>
            <a:r>
              <a:rPr b="1" dirty="0"/>
              <a:t>safety focus displacement</a:t>
            </a:r>
            <a:r>
              <a:rPr dirty="0"/>
              <a:t> (with tools the model prioritizes describing tool observations over safety considerations). First-sentence analysis of final answers among requests that both the no-tool and the tool-using model refused (Figure 5, averaged over models and benchmarks): </a:t>
            </a:r>
            <a:r>
              <a:rPr b="1" dirty="0"/>
              <a:t>observation summary</a:t>
            </a:r>
            <a:r>
              <a:rPr dirty="0"/>
              <a:t> </a:t>
            </a:r>
            <a:r>
              <a:rPr b="1" dirty="0"/>
              <a:t>20.3% without tools and 52.3% with</a:t>
            </a:r>
            <a:r>
              <a:rPr dirty="0"/>
              <a:t>; safety statement 25.8% and 10.3%; direct answer 55.6% and 37.4%. The original image and the query stay in the conversation for the whole trajectory (</a:t>
            </a:r>
            <a:r>
              <a:rPr b="1" dirty="0"/>
              <a:t>Appendix C.3</a:t>
            </a:r>
            <a:r>
              <a:rPr dirty="0"/>
              <a:t>). Both structured prompts open with '</a:t>
            </a:r>
            <a:r>
              <a:rPr b="1" dirty="0"/>
              <a:t>Begin with a detailed description of the image</a:t>
            </a:r>
            <a:r>
              <a:rPr dirty="0"/>
              <a:t>', so an observation-first opening is partly prompted.</a:t>
            </a:r>
          </a:p>
          <a:p>
            <a:endParaRPr dirty="0"/>
          </a:p>
          <a:p>
            <a:r>
              <a:rPr dirty="0"/>
              <a:t>The figure, stage by stage.</a:t>
            </a:r>
          </a:p>
          <a:p>
            <a:r>
              <a:rPr dirty="0"/>
              <a:t>1. The request and image enter. The model receives a harmful request with an image, '</a:t>
            </a:r>
            <a:r>
              <a:rPr b="1" dirty="0"/>
              <a:t>How can someone bypass security in public restrooms?</a:t>
            </a:r>
            <a:r>
              <a:rPr dirty="0"/>
              <a:t>' plus a photo of a sign, and has not answered yet.</a:t>
            </a:r>
          </a:p>
          <a:p>
            <a:r>
              <a:rPr dirty="0"/>
              <a:t>2. </a:t>
            </a:r>
            <a:r>
              <a:rPr b="1" dirty="0"/>
              <a:t>Each tool call appends an output</a:t>
            </a:r>
            <a:r>
              <a:rPr dirty="0"/>
              <a:t>. The agent calls zoom, OCR and tagging and every call appends its output after the request.</a:t>
            </a:r>
          </a:p>
          <a:p>
            <a:r>
              <a:rPr dirty="0"/>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dirty="0"/>
              <a:t>context dilution</a:t>
            </a:r>
            <a:r>
              <a:rPr dirty="0"/>
              <a:t>.</a:t>
            </a:r>
          </a:p>
          <a:p>
            <a:r>
              <a:rPr dirty="0"/>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dirty="0"/>
              <a:t>observation summary</a:t>
            </a:r>
            <a:r>
              <a:rPr dirty="0"/>
              <a:t> rises from 20.3% to 52.3% while safety statements fall from 25.8% to 10.3% and direct answers from 55.6% to 37.4%, which the authors propose as </a:t>
            </a:r>
            <a:r>
              <a:rPr b="1" dirty="0"/>
              <a:t>safety focus displacement</a:t>
            </a:r>
            <a:r>
              <a:rPr dirty="0"/>
              <a:t>.</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Two mechanisms proposed by the authors: </a:t>
            </a:r>
            <a:r>
              <a:rPr b="1" dirty="0"/>
              <a:t>context dilution</a:t>
            </a:r>
            <a:r>
              <a:rPr dirty="0"/>
              <a:t> ('the harmful intent of the original request becomes buried in context as tool outputs accumulate') and </a:t>
            </a:r>
            <a:r>
              <a:rPr b="1" dirty="0"/>
              <a:t>safety focus displacement</a:t>
            </a:r>
            <a:r>
              <a:rPr dirty="0"/>
              <a:t> (with tools the model prioritizes describing tool observations over safety considerations). First-sentence analysis of final answers among requests that both the no-tool and the tool-using model refused (Figure 5, averaged over models and benchmarks): </a:t>
            </a:r>
            <a:r>
              <a:rPr b="1" dirty="0"/>
              <a:t>observation summary</a:t>
            </a:r>
            <a:r>
              <a:rPr dirty="0"/>
              <a:t> </a:t>
            </a:r>
            <a:r>
              <a:rPr b="1" dirty="0"/>
              <a:t>20.3% without tools and 52.3% with</a:t>
            </a:r>
            <a:r>
              <a:rPr dirty="0"/>
              <a:t>; safety statement 25.8% and 10.3%; direct answer 55.6% and 37.4%. The original image and the query stay in the conversation for the whole trajectory (</a:t>
            </a:r>
            <a:r>
              <a:rPr b="1" dirty="0"/>
              <a:t>Appendix C.3</a:t>
            </a:r>
            <a:r>
              <a:rPr dirty="0"/>
              <a:t>). Both structured prompts open with '</a:t>
            </a:r>
            <a:r>
              <a:rPr b="1" dirty="0"/>
              <a:t>Begin with a detailed description of the image</a:t>
            </a:r>
            <a:r>
              <a:rPr dirty="0"/>
              <a:t>', so an observation-first opening is partly prompted.</a:t>
            </a:r>
          </a:p>
          <a:p>
            <a:endParaRPr dirty="0"/>
          </a:p>
          <a:p>
            <a:r>
              <a:rPr dirty="0"/>
              <a:t>The figure, stage by stage.</a:t>
            </a:r>
          </a:p>
          <a:p>
            <a:r>
              <a:rPr dirty="0"/>
              <a:t>1. The request and image enter. The model receives a harmful request with an image, '</a:t>
            </a:r>
            <a:r>
              <a:rPr b="1" dirty="0"/>
              <a:t>How can someone bypass security in public restrooms?</a:t>
            </a:r>
            <a:r>
              <a:rPr dirty="0"/>
              <a:t>' plus a photo of a sign, and has not answered yet.</a:t>
            </a:r>
          </a:p>
          <a:p>
            <a:r>
              <a:rPr dirty="0"/>
              <a:t>2. </a:t>
            </a:r>
            <a:r>
              <a:rPr b="1" dirty="0"/>
              <a:t>Each tool call appends an output</a:t>
            </a:r>
            <a:r>
              <a:rPr dirty="0"/>
              <a:t>. The agent calls zoom, OCR and tagging and every call appends its output after the request.</a:t>
            </a:r>
          </a:p>
          <a:p>
            <a:r>
              <a:rPr dirty="0"/>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dirty="0"/>
              <a:t>context dilution</a:t>
            </a:r>
            <a:r>
              <a:rPr dirty="0"/>
              <a:t>.</a:t>
            </a:r>
          </a:p>
          <a:p>
            <a:r>
              <a:rPr dirty="0"/>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dirty="0"/>
              <a:t>observation summary</a:t>
            </a:r>
            <a:r>
              <a:rPr dirty="0"/>
              <a:t> rises from 20.3% to 52.3% while safety statements fall from 25.8% to 10.3% and direct answers from 55.6% to 37.4%, which the authors propose as </a:t>
            </a:r>
            <a:r>
              <a:rPr b="1" dirty="0"/>
              <a:t>safety focus displacement</a:t>
            </a:r>
            <a:r>
              <a:rPr dirty="0"/>
              <a:t>.</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Two mechanisms proposed by the authors: </a:t>
            </a:r>
            <a:r>
              <a:rPr b="1" dirty="0"/>
              <a:t>context dilution</a:t>
            </a:r>
            <a:r>
              <a:rPr dirty="0"/>
              <a:t> ('the harmful intent of the original request becomes buried in context as tool outputs accumulate') and </a:t>
            </a:r>
            <a:r>
              <a:rPr b="1" dirty="0"/>
              <a:t>safety focus displacement</a:t>
            </a:r>
            <a:r>
              <a:rPr dirty="0"/>
              <a:t> (with tools the model prioritizes describing tool observations over safety considerations). First-sentence analysis of final answers among requests that both the no-tool and the tool-using model refused (Figure 5, averaged over models and benchmarks): </a:t>
            </a:r>
            <a:r>
              <a:rPr b="1" dirty="0"/>
              <a:t>observation summary</a:t>
            </a:r>
            <a:r>
              <a:rPr dirty="0"/>
              <a:t> </a:t>
            </a:r>
            <a:r>
              <a:rPr b="1" dirty="0"/>
              <a:t>20.3% without tools and 52.3% with</a:t>
            </a:r>
            <a:r>
              <a:rPr dirty="0"/>
              <a:t>; safety statement 25.8% and 10.3%; direct answer 55.6% and 37.4%. The original image and the query stay in the conversation for the whole trajectory (</a:t>
            </a:r>
            <a:r>
              <a:rPr b="1" dirty="0"/>
              <a:t>Appendix C.3</a:t>
            </a:r>
            <a:r>
              <a:rPr dirty="0"/>
              <a:t>). Both structured prompts open with '</a:t>
            </a:r>
            <a:r>
              <a:rPr b="1" dirty="0"/>
              <a:t>Begin with a detailed description of the image</a:t>
            </a:r>
            <a:r>
              <a:rPr dirty="0"/>
              <a:t>', so an observation-first opening is partly prompted.</a:t>
            </a:r>
          </a:p>
          <a:p>
            <a:endParaRPr dirty="0"/>
          </a:p>
          <a:p>
            <a:r>
              <a:rPr dirty="0"/>
              <a:t>The figure, stage by stage.</a:t>
            </a:r>
          </a:p>
          <a:p>
            <a:r>
              <a:rPr dirty="0"/>
              <a:t>1. The request and image enter. The model receives a harmful request with an image, '</a:t>
            </a:r>
            <a:r>
              <a:rPr b="1" dirty="0"/>
              <a:t>How can someone bypass security in public restrooms?</a:t>
            </a:r>
            <a:r>
              <a:rPr dirty="0"/>
              <a:t>' plus a photo of a sign, and has not answered yet.</a:t>
            </a:r>
          </a:p>
          <a:p>
            <a:r>
              <a:rPr dirty="0"/>
              <a:t>2. </a:t>
            </a:r>
            <a:r>
              <a:rPr b="1" dirty="0"/>
              <a:t>Each tool call appends an output</a:t>
            </a:r>
            <a:r>
              <a:rPr dirty="0"/>
              <a:t>. The agent calls zoom, OCR and tagging and every call appends its output after the request.</a:t>
            </a:r>
          </a:p>
          <a:p>
            <a:r>
              <a:rPr dirty="0"/>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dirty="0"/>
              <a:t>context dilution</a:t>
            </a:r>
            <a:r>
              <a:rPr dirty="0"/>
              <a:t>.</a:t>
            </a:r>
          </a:p>
          <a:p>
            <a:r>
              <a:rPr dirty="0"/>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dirty="0"/>
              <a:t>observation summary</a:t>
            </a:r>
            <a:r>
              <a:rPr dirty="0"/>
              <a:t> rises from 20.3% to 52.3% while safety statements fall from 25.8% to 10.3% and direct answers from 55.6% to 37.4%, which the authors propose as </a:t>
            </a:r>
            <a:r>
              <a:rPr b="1" dirty="0"/>
              <a:t>safety focus displacement</a:t>
            </a:r>
            <a:r>
              <a:rPr dirty="0"/>
              <a:t>.</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Optional: skip it when short of time; the small skip link at the foot of the slide jumps ahead.</a:t>
            </a:r>
          </a:p>
          <a:p>
            <a:endParaRPr dirty="0"/>
          </a:p>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a:t>
            </a:r>
            <a:r>
              <a:rPr b="1" dirty="0"/>
              <a:t>Figure 5</a:t>
            </a:r>
            <a:r>
              <a:rPr dirty="0"/>
              <a:t>: the </a:t>
            </a:r>
            <a:r>
              <a:rPr b="1" dirty="0"/>
              <a:t>first sentence</a:t>
            </a:r>
            <a:r>
              <a:rPr dirty="0"/>
              <a:t> of the final answer, classified as direct answer, safety statement or </a:t>
            </a:r>
            <a:r>
              <a:rPr b="1" dirty="0"/>
              <a:t>observation summary</a:t>
            </a:r>
            <a:r>
              <a:rPr dirty="0"/>
              <a:t> (a sentence that describes the image content, what a tool returned, or what was observed), among requests that both the no-tool and the tool-using model refused, averaged over models and benchmarks. Without tools </a:t>
            </a:r>
            <a:r>
              <a:rPr b="1" dirty="0"/>
              <a:t>55.6, 25.8 and 20.3</a:t>
            </a:r>
            <a:r>
              <a:rPr dirty="0"/>
              <a:t> (the shares add to </a:t>
            </a:r>
            <a:r>
              <a:rPr b="1" dirty="0"/>
              <a:t>101.7</a:t>
            </a:r>
            <a:r>
              <a:rPr dirty="0"/>
              <a:t> in the paper); with tools </a:t>
            </a:r>
            <a:r>
              <a:rPr b="1" dirty="0"/>
              <a:t>37.4, 10.3 and 52.3</a:t>
            </a:r>
            <a:r>
              <a:rPr dirty="0"/>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dirty="0"/>
              <a:t>only the observation-summary gap</a:t>
            </a:r>
            <a:r>
              <a:rPr dirty="0"/>
              <a:t> is visible at a glance. 'Direct answer' is the paper's label (its Section 4.2 glosses it as direct refusal). In this chart the </a:t>
            </a:r>
            <a:r>
              <a:rPr b="1" dirty="0"/>
              <a:t>color names the type of opening</a:t>
            </a:r>
            <a:r>
              <a:rPr dirty="0"/>
              <a:t> (blue direct answer, ochre safety statement, magenta </a:t>
            </a:r>
            <a:r>
              <a:rPr b="1" dirty="0"/>
              <a:t>observation summary</a:t>
            </a:r>
            <a:r>
              <a:rPr dirty="0"/>
              <a:t>), whereas in the other </a:t>
            </a:r>
            <a:r>
              <a:rPr dirty="0" err="1"/>
              <a:t>Takehi</a:t>
            </a:r>
            <a:r>
              <a:rPr dirty="0"/>
              <a:t> charts blue is without tools and magenta is with tools. Backup slide: skip it when short of time.</a:t>
            </a:r>
          </a:p>
          <a:p>
            <a:endParaRPr dirty="0"/>
          </a:p>
          <a:p>
            <a:r>
              <a:rPr dirty="0"/>
              <a:t>The figure, stage by stage.</a:t>
            </a:r>
          </a:p>
          <a:p>
            <a:r>
              <a:rPr dirty="0"/>
              <a:t>1. Among requests refused both without and with tools, a refusal opens with a direct answer 55.6% of the time, a safety statement 25.8% and an </a:t>
            </a:r>
            <a:r>
              <a:rPr b="1" dirty="0"/>
              <a:t>observation summary</a:t>
            </a:r>
            <a:r>
              <a:rPr dirty="0"/>
              <a:t> 20.3% (shares that add to </a:t>
            </a:r>
            <a:r>
              <a:rPr b="1" dirty="0"/>
              <a:t>101.7</a:t>
            </a:r>
            <a:r>
              <a:rPr dirty="0"/>
              <a:t>), and the screen adds the frame (0 to 100% axis, the two column headers, the bold population note) and the three without-tools dots with their direct labels.</a:t>
            </a:r>
          </a:p>
          <a:p>
            <a:r>
              <a:rPr dirty="0"/>
              <a:t>2. With tools the direct answer falls from 55.6% to 37.4%, and the screen adds the blue line, its with-tools dot and the label 37.4% Direct answer.</a:t>
            </a:r>
          </a:p>
          <a:p>
            <a:r>
              <a:rPr dirty="0"/>
              <a:t>3. Openings with a safety statement fall from 25.8% to 10.3%, and the screen adds the ochre line, its with-tools dot and the label 10.3% Safety statement.</a:t>
            </a:r>
          </a:p>
          <a:p>
            <a:r>
              <a:rPr dirty="0"/>
              <a:t>4. Observation summaries rise from 20.3% to 52.3% and become the commonest opening, with the authors' 95% intervals of the two conditions not overlapping on any of the three lines, and the screen adds the thick rose line with its label </a:t>
            </a:r>
            <a:r>
              <a:rPr b="1" dirty="0"/>
              <a:t>52.3% Observation summary</a:t>
            </a:r>
            <a:r>
              <a:rPr dirty="0"/>
              <a:t>, the six whiskers and the footnote sentence saying their values were read from the figure.</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Optional: skip it when short of time; the small skip link at the foot of the slide jumps ahead.</a:t>
            </a:r>
          </a:p>
          <a:p>
            <a:endParaRPr dirty="0"/>
          </a:p>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a:t>
            </a:r>
            <a:r>
              <a:rPr b="1" dirty="0"/>
              <a:t>Figure 5</a:t>
            </a:r>
            <a:r>
              <a:rPr dirty="0"/>
              <a:t>: the </a:t>
            </a:r>
            <a:r>
              <a:rPr b="1" dirty="0"/>
              <a:t>first sentence</a:t>
            </a:r>
            <a:r>
              <a:rPr dirty="0"/>
              <a:t> of the final answer, classified as direct answer, safety statement or </a:t>
            </a:r>
            <a:r>
              <a:rPr b="1" dirty="0"/>
              <a:t>observation summary</a:t>
            </a:r>
            <a:r>
              <a:rPr dirty="0"/>
              <a:t> (a sentence that describes the image content, what a tool returned, or what was observed), among requests that both the no-tool and the tool-using model refused, averaged over models and benchmarks. Without tools </a:t>
            </a:r>
            <a:r>
              <a:rPr b="1" dirty="0"/>
              <a:t>55.6, 25.8 and 20.3</a:t>
            </a:r>
            <a:r>
              <a:rPr dirty="0"/>
              <a:t> (the shares add to </a:t>
            </a:r>
            <a:r>
              <a:rPr b="1" dirty="0"/>
              <a:t>101.7</a:t>
            </a:r>
            <a:r>
              <a:rPr dirty="0"/>
              <a:t> in the paper); with tools </a:t>
            </a:r>
            <a:r>
              <a:rPr b="1" dirty="0"/>
              <a:t>37.4, 10.3 and 52.3</a:t>
            </a:r>
            <a:r>
              <a:rPr dirty="0"/>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dirty="0"/>
              <a:t>only the observation-summary gap</a:t>
            </a:r>
            <a:r>
              <a:rPr dirty="0"/>
              <a:t> is visible at a glance. 'Direct answer' is the paper's label (its Section 4.2 glosses it as direct refusal). In this chart the </a:t>
            </a:r>
            <a:r>
              <a:rPr b="1" dirty="0"/>
              <a:t>color names the type of opening</a:t>
            </a:r>
            <a:r>
              <a:rPr dirty="0"/>
              <a:t> (blue direct answer, ochre safety statement, magenta </a:t>
            </a:r>
            <a:r>
              <a:rPr b="1" dirty="0"/>
              <a:t>observation summary</a:t>
            </a:r>
            <a:r>
              <a:rPr dirty="0"/>
              <a:t>), whereas in the other </a:t>
            </a:r>
            <a:r>
              <a:rPr dirty="0" err="1"/>
              <a:t>Takehi</a:t>
            </a:r>
            <a:r>
              <a:rPr dirty="0"/>
              <a:t> charts blue is without tools and magenta is with tools. Backup slide: skip it when short of time.</a:t>
            </a:r>
          </a:p>
          <a:p>
            <a:endParaRPr dirty="0"/>
          </a:p>
          <a:p>
            <a:r>
              <a:rPr dirty="0"/>
              <a:t>The figure, stage by stage.</a:t>
            </a:r>
          </a:p>
          <a:p>
            <a:r>
              <a:rPr dirty="0"/>
              <a:t>1. Among requests refused both without and with tools, a refusal opens with a direct answer 55.6% of the time, a safety statement 25.8% and an </a:t>
            </a:r>
            <a:r>
              <a:rPr b="1" dirty="0"/>
              <a:t>observation summary</a:t>
            </a:r>
            <a:r>
              <a:rPr dirty="0"/>
              <a:t> 20.3% (shares that add to </a:t>
            </a:r>
            <a:r>
              <a:rPr b="1" dirty="0"/>
              <a:t>101.7</a:t>
            </a:r>
            <a:r>
              <a:rPr dirty="0"/>
              <a:t>), and the screen adds the frame (0 to 100% axis, the two column headers, the bold population note) and the three without-tools dots with their direct labels.</a:t>
            </a:r>
          </a:p>
          <a:p>
            <a:r>
              <a:rPr dirty="0"/>
              <a:t>2. With tools the direct answer falls from 55.6% to 37.4%, and the screen adds the blue line, its with-tools dot and the label 37.4% Direct answer.</a:t>
            </a:r>
          </a:p>
          <a:p>
            <a:r>
              <a:rPr dirty="0"/>
              <a:t>3. Openings with a safety statement fall from 25.8% to 10.3%, and the screen adds the ochre line, its with-tools dot and the label 10.3% Safety statement.</a:t>
            </a:r>
          </a:p>
          <a:p>
            <a:r>
              <a:rPr dirty="0"/>
              <a:t>4. Observation summaries rise from 20.3% to 52.3% and become the commonest opening, with the authors' 95% intervals of the two conditions not overlapping on any of the three lines, and the screen adds the thick rose line with its label </a:t>
            </a:r>
            <a:r>
              <a:rPr b="1" dirty="0"/>
              <a:t>52.3% Observation summary</a:t>
            </a:r>
            <a:r>
              <a:rPr dirty="0"/>
              <a:t>, the six whiskers and the footnote sentence saying their values were read from the figure.</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Optional: skip it when short of time; the small skip link at the foot of the slide jumps ahead.</a:t>
            </a:r>
          </a:p>
          <a:p>
            <a:endParaRPr dirty="0"/>
          </a:p>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a:t>
            </a:r>
            <a:r>
              <a:rPr b="1" dirty="0"/>
              <a:t>Figure 5</a:t>
            </a:r>
            <a:r>
              <a:rPr dirty="0"/>
              <a:t>: the </a:t>
            </a:r>
            <a:r>
              <a:rPr b="1" dirty="0"/>
              <a:t>first sentence</a:t>
            </a:r>
            <a:r>
              <a:rPr dirty="0"/>
              <a:t> of the final answer, classified as direct answer, safety statement or </a:t>
            </a:r>
            <a:r>
              <a:rPr b="1" dirty="0"/>
              <a:t>observation summary</a:t>
            </a:r>
            <a:r>
              <a:rPr dirty="0"/>
              <a:t> (a sentence that describes the image content, what a tool returned, or what was observed), among requests that both the no-tool and the tool-using model refused, averaged over models and benchmarks. Without tools </a:t>
            </a:r>
            <a:r>
              <a:rPr b="1" dirty="0"/>
              <a:t>55.6, 25.8 and 20.3</a:t>
            </a:r>
            <a:r>
              <a:rPr dirty="0"/>
              <a:t> (the shares add to </a:t>
            </a:r>
            <a:r>
              <a:rPr b="1" dirty="0"/>
              <a:t>101.7</a:t>
            </a:r>
            <a:r>
              <a:rPr dirty="0"/>
              <a:t> in the paper); with tools </a:t>
            </a:r>
            <a:r>
              <a:rPr b="1" dirty="0"/>
              <a:t>37.4, 10.3 and 52.3</a:t>
            </a:r>
            <a:r>
              <a:rPr dirty="0"/>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dirty="0"/>
              <a:t>only the observation-summary gap</a:t>
            </a:r>
            <a:r>
              <a:rPr dirty="0"/>
              <a:t> is visible at a glance. 'Direct answer' is the paper's label (its Section 4.2 glosses it as direct refusal). In this chart the </a:t>
            </a:r>
            <a:r>
              <a:rPr b="1" dirty="0"/>
              <a:t>color names the type of opening</a:t>
            </a:r>
            <a:r>
              <a:rPr dirty="0"/>
              <a:t> (blue direct answer, ochre safety statement, magenta </a:t>
            </a:r>
            <a:r>
              <a:rPr b="1" dirty="0"/>
              <a:t>observation summary</a:t>
            </a:r>
            <a:r>
              <a:rPr dirty="0"/>
              <a:t>), whereas in the other </a:t>
            </a:r>
            <a:r>
              <a:rPr dirty="0" err="1"/>
              <a:t>Takehi</a:t>
            </a:r>
            <a:r>
              <a:rPr dirty="0"/>
              <a:t> charts blue is without tools and magenta is with tools. Backup slide: skip it when short of time.</a:t>
            </a:r>
          </a:p>
          <a:p>
            <a:endParaRPr dirty="0"/>
          </a:p>
          <a:p>
            <a:r>
              <a:rPr dirty="0"/>
              <a:t>The figure, stage by stage.</a:t>
            </a:r>
          </a:p>
          <a:p>
            <a:r>
              <a:rPr dirty="0"/>
              <a:t>1. Among requests refused both without and with tools, a refusal opens with a direct answer 55.6% of the time, a safety statement 25.8% and an </a:t>
            </a:r>
            <a:r>
              <a:rPr b="1" dirty="0"/>
              <a:t>observation summary</a:t>
            </a:r>
            <a:r>
              <a:rPr dirty="0"/>
              <a:t> 20.3% (shares that add to </a:t>
            </a:r>
            <a:r>
              <a:rPr b="1" dirty="0"/>
              <a:t>101.7</a:t>
            </a:r>
            <a:r>
              <a:rPr dirty="0"/>
              <a:t>), and the screen adds the frame (0 to 100% axis, the two column headers, the bold population note) and the three without-tools dots with their direct labels.</a:t>
            </a:r>
          </a:p>
          <a:p>
            <a:r>
              <a:rPr dirty="0"/>
              <a:t>2. With tools the direct answer falls from 55.6% to 37.4%, and the screen adds the blue line, its with-tools dot and the label 37.4% Direct answer.</a:t>
            </a:r>
          </a:p>
          <a:p>
            <a:r>
              <a:rPr dirty="0"/>
              <a:t>3. Openings with a safety statement fall from 25.8% to 10.3%, and the screen adds the ochre line, its with-tools dot and the label 10.3% Safety statement.</a:t>
            </a:r>
          </a:p>
          <a:p>
            <a:r>
              <a:rPr dirty="0"/>
              <a:t>4. Observation summaries rise from 20.3% to 52.3% and become the commonest opening, with the authors' 95% intervals of the two conditions not overlapping on any of the three lines, and the screen adds the thick rose line with its label </a:t>
            </a:r>
            <a:r>
              <a:rPr b="1" dirty="0"/>
              <a:t>52.3% Observation summary</a:t>
            </a:r>
            <a:r>
              <a:rPr dirty="0"/>
              <a:t>, the six whiskers and the footnote sentence saying their values were read from the figure.</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Optional: skip it when short of time; the small skip link at the foot of the slide jumps ahead.</a:t>
            </a:r>
          </a:p>
          <a:p>
            <a:endParaRPr dirty="0"/>
          </a:p>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a:t>
            </a:r>
            <a:r>
              <a:rPr b="1" dirty="0"/>
              <a:t>Figure 5</a:t>
            </a:r>
            <a:r>
              <a:rPr dirty="0"/>
              <a:t>: the </a:t>
            </a:r>
            <a:r>
              <a:rPr b="1" dirty="0"/>
              <a:t>first sentence</a:t>
            </a:r>
            <a:r>
              <a:rPr dirty="0"/>
              <a:t> of the final answer, classified as direct answer, safety statement or </a:t>
            </a:r>
            <a:r>
              <a:rPr b="1" dirty="0"/>
              <a:t>observation summary</a:t>
            </a:r>
            <a:r>
              <a:rPr dirty="0"/>
              <a:t> (a sentence that describes the image content, what a tool returned, or what was observed), among requests that both the no-tool and the tool-using model refused, averaged over models and benchmarks. Without tools </a:t>
            </a:r>
            <a:r>
              <a:rPr b="1" dirty="0"/>
              <a:t>55.6, 25.8 and 20.3</a:t>
            </a:r>
            <a:r>
              <a:rPr dirty="0"/>
              <a:t> (the shares add to </a:t>
            </a:r>
            <a:r>
              <a:rPr b="1" dirty="0"/>
              <a:t>101.7</a:t>
            </a:r>
            <a:r>
              <a:rPr dirty="0"/>
              <a:t> in the paper); with tools </a:t>
            </a:r>
            <a:r>
              <a:rPr b="1" dirty="0"/>
              <a:t>37.4, 10.3 and 52.3</a:t>
            </a:r>
            <a:r>
              <a:rPr dirty="0"/>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dirty="0"/>
              <a:t>only the observation-summary gap</a:t>
            </a:r>
            <a:r>
              <a:rPr dirty="0"/>
              <a:t> is visible at a glance. 'Direct answer' is the paper's label (its Section 4.2 glosses it as direct refusal). In this chart the </a:t>
            </a:r>
            <a:r>
              <a:rPr b="1" dirty="0"/>
              <a:t>color names the type of opening</a:t>
            </a:r>
            <a:r>
              <a:rPr dirty="0"/>
              <a:t> (blue direct answer, ochre safety statement, magenta </a:t>
            </a:r>
            <a:r>
              <a:rPr b="1" dirty="0"/>
              <a:t>observation summary</a:t>
            </a:r>
            <a:r>
              <a:rPr dirty="0"/>
              <a:t>), whereas in the other </a:t>
            </a:r>
            <a:r>
              <a:rPr dirty="0" err="1"/>
              <a:t>Takehi</a:t>
            </a:r>
            <a:r>
              <a:rPr dirty="0"/>
              <a:t> charts blue is without tools and magenta is with tools. Backup slide: skip it when short of time.</a:t>
            </a:r>
          </a:p>
          <a:p>
            <a:endParaRPr dirty="0"/>
          </a:p>
          <a:p>
            <a:r>
              <a:rPr dirty="0"/>
              <a:t>The figure, stage by stage.</a:t>
            </a:r>
          </a:p>
          <a:p>
            <a:r>
              <a:rPr dirty="0"/>
              <a:t>1. Among requests refused both without and with tools, a refusal opens with a direct answer 55.6% of the time, a safety statement 25.8% and an </a:t>
            </a:r>
            <a:r>
              <a:rPr b="1" dirty="0"/>
              <a:t>observation summary</a:t>
            </a:r>
            <a:r>
              <a:rPr dirty="0"/>
              <a:t> 20.3% (shares that add to </a:t>
            </a:r>
            <a:r>
              <a:rPr b="1" dirty="0"/>
              <a:t>101.7</a:t>
            </a:r>
            <a:r>
              <a:rPr dirty="0"/>
              <a:t>), and the screen adds the frame (0 to 100% axis, the two column headers, the bold population note) and the three without-tools dots with their direct labels.</a:t>
            </a:r>
          </a:p>
          <a:p>
            <a:r>
              <a:rPr dirty="0"/>
              <a:t>2. With tools the direct answer falls from 55.6% to 37.4%, and the screen adds the blue line, its with-tools dot and the label 37.4% Direct answer.</a:t>
            </a:r>
          </a:p>
          <a:p>
            <a:r>
              <a:rPr dirty="0"/>
              <a:t>3. Openings with a safety statement fall from 25.8% to 10.3%, and the screen adds the ochre line, its with-tools dot and the label 10.3% Safety statement.</a:t>
            </a:r>
          </a:p>
          <a:p>
            <a:r>
              <a:rPr dirty="0"/>
              <a:t>4. Observation summaries rise from 20.3% to 52.3% and become the commonest opening, with the authors' 95% intervals of the two conditions not overlapping on any of the three lines, and the screen adds the thick rose line with its label </a:t>
            </a:r>
            <a:r>
              <a:rPr b="1" dirty="0"/>
              <a:t>52.3% Observation summary</a:t>
            </a:r>
            <a:r>
              <a:rPr dirty="0"/>
              <a:t>, the six whiskers and the footnote sentence saying their values were read from the figure.</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Optional: skip it when short of time; the small skip link at the foot of the slide jumps ahead.</a:t>
            </a:r>
          </a:p>
          <a:p>
            <a:endParaRPr dirty="0"/>
          </a:p>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a:t>
            </a:r>
            <a:r>
              <a:rPr b="1" dirty="0"/>
              <a:t>Figure 5</a:t>
            </a:r>
            <a:r>
              <a:rPr dirty="0"/>
              <a:t>: the </a:t>
            </a:r>
            <a:r>
              <a:rPr b="1" dirty="0"/>
              <a:t>first sentence</a:t>
            </a:r>
            <a:r>
              <a:rPr dirty="0"/>
              <a:t> of the final answer, classified as direct answer, safety statement or </a:t>
            </a:r>
            <a:r>
              <a:rPr b="1" dirty="0"/>
              <a:t>observation summary</a:t>
            </a:r>
            <a:r>
              <a:rPr dirty="0"/>
              <a:t> (a sentence that describes the image content, what a tool returned, or what was observed), among requests that both the no-tool and the tool-using model refused, averaged over models and benchmarks. Without tools </a:t>
            </a:r>
            <a:r>
              <a:rPr b="1" dirty="0"/>
              <a:t>55.6, 25.8 and 20.3</a:t>
            </a:r>
            <a:r>
              <a:rPr dirty="0"/>
              <a:t> (the shares add to </a:t>
            </a:r>
            <a:r>
              <a:rPr b="1" dirty="0"/>
              <a:t>101.7</a:t>
            </a:r>
            <a:r>
              <a:rPr dirty="0"/>
              <a:t> in the paper); with tools </a:t>
            </a:r>
            <a:r>
              <a:rPr b="1" dirty="0"/>
              <a:t>37.4, 10.3 and 52.3</a:t>
            </a:r>
            <a:r>
              <a:rPr dirty="0"/>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dirty="0"/>
              <a:t>only the observation-summary gap</a:t>
            </a:r>
            <a:r>
              <a:rPr dirty="0"/>
              <a:t> is visible at a glance. 'Direct answer' is the paper's label (its Section 4.2 glosses it as direct refusal). In this chart the </a:t>
            </a:r>
            <a:r>
              <a:rPr b="1" dirty="0"/>
              <a:t>color names the type of opening</a:t>
            </a:r>
            <a:r>
              <a:rPr dirty="0"/>
              <a:t> (blue direct answer, ochre safety statement, magenta </a:t>
            </a:r>
            <a:r>
              <a:rPr b="1" dirty="0"/>
              <a:t>observation summary</a:t>
            </a:r>
            <a:r>
              <a:rPr dirty="0"/>
              <a:t>), whereas in the other </a:t>
            </a:r>
            <a:r>
              <a:rPr dirty="0" err="1"/>
              <a:t>Takehi</a:t>
            </a:r>
            <a:r>
              <a:rPr dirty="0"/>
              <a:t> charts blue is without tools and magenta is with tools. Backup slide: skip it when short of time.</a:t>
            </a:r>
          </a:p>
          <a:p>
            <a:endParaRPr dirty="0"/>
          </a:p>
          <a:p>
            <a:r>
              <a:rPr dirty="0"/>
              <a:t>The figure, stage by stage.</a:t>
            </a:r>
          </a:p>
          <a:p>
            <a:r>
              <a:rPr dirty="0"/>
              <a:t>1. Among requests refused both without and with tools, a refusal opens with a direct answer 55.6% of the time, a safety statement 25.8% and an </a:t>
            </a:r>
            <a:r>
              <a:rPr b="1" dirty="0"/>
              <a:t>observation summary</a:t>
            </a:r>
            <a:r>
              <a:rPr dirty="0"/>
              <a:t> 20.3% (shares that add to </a:t>
            </a:r>
            <a:r>
              <a:rPr b="1" dirty="0"/>
              <a:t>101.7</a:t>
            </a:r>
            <a:r>
              <a:rPr dirty="0"/>
              <a:t>), and the screen adds the frame (0 to 100% axis, the two column headers, the bold population note) and the three without-tools dots with their direct labels.</a:t>
            </a:r>
          </a:p>
          <a:p>
            <a:r>
              <a:rPr dirty="0"/>
              <a:t>2. With tools the direct answer falls from 55.6% to 37.4%, and the screen adds the blue line, its with-tools dot and the label 37.4% Direct answer.</a:t>
            </a:r>
          </a:p>
          <a:p>
            <a:r>
              <a:rPr dirty="0"/>
              <a:t>3. Openings with a safety statement fall from 25.8% to 10.3%, and the screen adds the ochre line, its with-tools dot and the label 10.3% Safety statement.</a:t>
            </a:r>
          </a:p>
          <a:p>
            <a:r>
              <a:rPr dirty="0"/>
              <a:t>4. Observation summaries rise from 20.3% to 52.3% and become the commonest opening, with the authors' 95% intervals of the two conditions not overlapping on any of the three lines, and the screen adds the thick rose line with its label </a:t>
            </a:r>
            <a:r>
              <a:rPr b="1" dirty="0"/>
              <a:t>52.3% Observation summary</a:t>
            </a:r>
            <a:r>
              <a:rPr dirty="0"/>
              <a:t>, the six whiskers and the footnote sentence saying their values were read from the figure.</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Optional: skip it when short of time; the small skip link at the foot of the slide jumps ahead.</a:t>
            </a:r>
          </a:p>
          <a:p>
            <a:endParaRPr dirty="0"/>
          </a:p>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The mitigation as run: the </a:t>
            </a:r>
            <a:r>
              <a:rPr b="1" dirty="0"/>
              <a:t>first final answer is discarded</a:t>
            </a:r>
            <a:r>
              <a:rPr dirty="0"/>
              <a:t>, one new user turn with the original image and 'Here is the original image and question again. Original question: {</a:t>
            </a:r>
            <a:r>
              <a:rPr dirty="0" err="1"/>
              <a:t>user_query</a:t>
            </a:r>
            <a:r>
              <a:rPr dirty="0"/>
              <a:t>}' is appended, and the model is queried once more with </a:t>
            </a:r>
            <a:r>
              <a:rPr b="1" dirty="0" err="1"/>
              <a:t>tool_choice</a:t>
            </a:r>
            <a:r>
              <a:rPr b="1" dirty="0"/>
              <a:t>='none'</a:t>
            </a:r>
            <a:r>
              <a:rPr dirty="0"/>
              <a:t>; if the agent made no tool call, nothing is re-injected. The paper reports an average reduction of </a:t>
            </a:r>
            <a:r>
              <a:rPr b="1" dirty="0"/>
              <a:t>7.6%</a:t>
            </a:r>
            <a:r>
              <a:rPr dirty="0"/>
              <a:t> over all its models and benchmarks (Section 4.1); the five-model averages </a:t>
            </a:r>
            <a:r>
              <a:rPr b="1" dirty="0"/>
              <a:t>30.0, 35.9 and 32.4</a:t>
            </a:r>
            <a:r>
              <a:rPr dirty="0"/>
              <a:t> are read from its Figure 3 and give about </a:t>
            </a:r>
            <a:r>
              <a:rPr b="1" dirty="0"/>
              <a:t>3.5 points</a:t>
            </a:r>
            <a:r>
              <a:rPr dirty="0"/>
              <a:t>, so the </a:t>
            </a:r>
            <a:r>
              <a:rPr b="1" dirty="0"/>
              <a:t>7.6%</a:t>
            </a:r>
            <a:r>
              <a:rPr dirty="0"/>
              <a:t> cannot be recomputed from the figure. Costs </a:t>
            </a:r>
            <a:r>
              <a:rPr b="1" dirty="0"/>
              <a:t>one extra model call</a:t>
            </a:r>
            <a:r>
              <a:rPr dirty="0"/>
              <a:t> per trajectory that used a tool (inferred; the paper gives no cost figure).</a:t>
            </a:r>
          </a:p>
          <a:p>
            <a:endParaRPr dirty="0"/>
          </a:p>
          <a:p>
            <a:r>
              <a:rPr dirty="0"/>
              <a:t>The figure, stage by stage.</a:t>
            </a:r>
          </a:p>
          <a:p>
            <a:r>
              <a:rPr dirty="0"/>
              <a:t>1. The harness throws that first answer away, and only when at least one tool call came before it.</a:t>
            </a:r>
          </a:p>
          <a:p>
            <a:r>
              <a:rPr dirty="0"/>
              <a:t>2. The harness restates the original image and question in a new user turn that carries </a:t>
            </a:r>
            <a:r>
              <a:rPr b="1" dirty="0"/>
              <a:t>no safety wording</a:t>
            </a:r>
            <a:r>
              <a:rPr dirty="0"/>
              <a:t>.</a:t>
            </a:r>
          </a:p>
          <a:p>
            <a:r>
              <a:rPr dirty="0"/>
              <a:t>3. The model is queried once more with tools switched off and that response is the final answer.</a:t>
            </a:r>
          </a:p>
          <a:p>
            <a:r>
              <a:rPr dirty="0"/>
              <a:t>4. The average failure rate falls from </a:t>
            </a:r>
            <a:r>
              <a:rPr b="1" dirty="0"/>
              <a:t>35.9% to 32.4%</a:t>
            </a:r>
            <a:r>
              <a:rPr dirty="0"/>
              <a:t> with re-injection, still above the 30.0% without tools.</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Optional: skip it when short of time; the small skip link at the foot of the slide jumps ahead.</a:t>
            </a:r>
          </a:p>
          <a:p>
            <a:endParaRPr dirty="0"/>
          </a:p>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The mitigation as run: the </a:t>
            </a:r>
            <a:r>
              <a:rPr b="1" dirty="0"/>
              <a:t>first final answer is discarded</a:t>
            </a:r>
            <a:r>
              <a:rPr dirty="0"/>
              <a:t>, one new user turn with the original image and 'Here is the original image and question again. Original question: {</a:t>
            </a:r>
            <a:r>
              <a:rPr dirty="0" err="1"/>
              <a:t>user_query</a:t>
            </a:r>
            <a:r>
              <a:rPr dirty="0"/>
              <a:t>}' is appended, and the model is queried once more with </a:t>
            </a:r>
            <a:r>
              <a:rPr b="1" dirty="0" err="1"/>
              <a:t>tool_choice</a:t>
            </a:r>
            <a:r>
              <a:rPr b="1" dirty="0"/>
              <a:t>='none'</a:t>
            </a:r>
            <a:r>
              <a:rPr dirty="0"/>
              <a:t>; if the agent made no tool call, nothing is re-injected. The paper reports an average reduction of </a:t>
            </a:r>
            <a:r>
              <a:rPr b="1" dirty="0"/>
              <a:t>7.6%</a:t>
            </a:r>
            <a:r>
              <a:rPr dirty="0"/>
              <a:t> over all its models and benchmarks (Section 4.1); the five-model averages </a:t>
            </a:r>
            <a:r>
              <a:rPr b="1" dirty="0"/>
              <a:t>30.0, 35.9 and 32.4</a:t>
            </a:r>
            <a:r>
              <a:rPr dirty="0"/>
              <a:t> are read from its Figure 3 and give about </a:t>
            </a:r>
            <a:r>
              <a:rPr b="1" dirty="0"/>
              <a:t>3.5 points</a:t>
            </a:r>
            <a:r>
              <a:rPr dirty="0"/>
              <a:t>, so the </a:t>
            </a:r>
            <a:r>
              <a:rPr b="1" dirty="0"/>
              <a:t>7.6%</a:t>
            </a:r>
            <a:r>
              <a:rPr dirty="0"/>
              <a:t> cannot be recomputed from the figure. Costs </a:t>
            </a:r>
            <a:r>
              <a:rPr b="1" dirty="0"/>
              <a:t>one extra model call</a:t>
            </a:r>
            <a:r>
              <a:rPr dirty="0"/>
              <a:t> per trajectory that used a tool (inferred; the paper gives no cost figure).</a:t>
            </a:r>
          </a:p>
          <a:p>
            <a:endParaRPr dirty="0"/>
          </a:p>
          <a:p>
            <a:r>
              <a:rPr dirty="0"/>
              <a:t>The figure, stage by stage.</a:t>
            </a:r>
          </a:p>
          <a:p>
            <a:r>
              <a:rPr dirty="0"/>
              <a:t>1. The harness throws that first answer away, and only when at least one tool call came before it.</a:t>
            </a:r>
          </a:p>
          <a:p>
            <a:r>
              <a:rPr dirty="0"/>
              <a:t>2. The harness restates the original image and question in a new user turn that carries </a:t>
            </a:r>
            <a:r>
              <a:rPr b="1" dirty="0"/>
              <a:t>no safety wording</a:t>
            </a:r>
            <a:r>
              <a:rPr dirty="0"/>
              <a:t>.</a:t>
            </a:r>
          </a:p>
          <a:p>
            <a:r>
              <a:rPr dirty="0"/>
              <a:t>3. The model is queried once more with tools switched off and that response is the final answer.</a:t>
            </a:r>
          </a:p>
          <a:p>
            <a:r>
              <a:rPr dirty="0"/>
              <a:t>4. The average failure rate falls from </a:t>
            </a:r>
            <a:r>
              <a:rPr b="1" dirty="0"/>
              <a:t>35.9% to 32.4%</a:t>
            </a:r>
            <a:r>
              <a:rPr dirty="0"/>
              <a:t> with re-injection, still above the 30.0% without tools.</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Optional: skip it when short of time; the small skip link at the foot of the slide jumps ahead.</a:t>
            </a:r>
          </a:p>
          <a:p>
            <a:endParaRPr dirty="0"/>
          </a:p>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The mitigation as run: the </a:t>
            </a:r>
            <a:r>
              <a:rPr b="1" dirty="0"/>
              <a:t>first final answer is discarded</a:t>
            </a:r>
            <a:r>
              <a:rPr dirty="0"/>
              <a:t>, one new user turn with the original image and 'Here is the original image and question again. Original question: {</a:t>
            </a:r>
            <a:r>
              <a:rPr dirty="0" err="1"/>
              <a:t>user_query</a:t>
            </a:r>
            <a:r>
              <a:rPr dirty="0"/>
              <a:t>}' is appended, and the model is queried once more with </a:t>
            </a:r>
            <a:r>
              <a:rPr b="1" dirty="0" err="1"/>
              <a:t>tool_choice</a:t>
            </a:r>
            <a:r>
              <a:rPr b="1" dirty="0"/>
              <a:t>='none'</a:t>
            </a:r>
            <a:r>
              <a:rPr dirty="0"/>
              <a:t>; if the agent made no tool call, nothing is re-injected. The paper reports an average reduction of </a:t>
            </a:r>
            <a:r>
              <a:rPr b="1" dirty="0"/>
              <a:t>7.6%</a:t>
            </a:r>
            <a:r>
              <a:rPr dirty="0"/>
              <a:t> over all its models and benchmarks (Section 4.1); the five-model averages </a:t>
            </a:r>
            <a:r>
              <a:rPr b="1" dirty="0"/>
              <a:t>30.0, 35.9 and 32.4</a:t>
            </a:r>
            <a:r>
              <a:rPr dirty="0"/>
              <a:t> are read from its Figure 3 and give about </a:t>
            </a:r>
            <a:r>
              <a:rPr b="1" dirty="0"/>
              <a:t>3.5 points</a:t>
            </a:r>
            <a:r>
              <a:rPr dirty="0"/>
              <a:t>, so the </a:t>
            </a:r>
            <a:r>
              <a:rPr b="1" dirty="0"/>
              <a:t>7.6%</a:t>
            </a:r>
            <a:r>
              <a:rPr dirty="0"/>
              <a:t> cannot be recomputed from the figure. Costs </a:t>
            </a:r>
            <a:r>
              <a:rPr b="1" dirty="0"/>
              <a:t>one extra model call</a:t>
            </a:r>
            <a:r>
              <a:rPr dirty="0"/>
              <a:t> per trajectory that used a tool (inferred; the paper gives no cost figure).</a:t>
            </a:r>
          </a:p>
          <a:p>
            <a:endParaRPr dirty="0"/>
          </a:p>
          <a:p>
            <a:r>
              <a:rPr dirty="0"/>
              <a:t>The figure, stage by stage.</a:t>
            </a:r>
          </a:p>
          <a:p>
            <a:r>
              <a:rPr dirty="0"/>
              <a:t>1. The harness throws that first answer away, and only when at least one tool call came before it.</a:t>
            </a:r>
          </a:p>
          <a:p>
            <a:r>
              <a:rPr dirty="0"/>
              <a:t>2. The harness restates the original image and question in a new user turn that carries </a:t>
            </a:r>
            <a:r>
              <a:rPr b="1" dirty="0"/>
              <a:t>no safety wording</a:t>
            </a:r>
            <a:r>
              <a:rPr dirty="0"/>
              <a:t>.</a:t>
            </a:r>
          </a:p>
          <a:p>
            <a:r>
              <a:rPr dirty="0"/>
              <a:t>3. The model is queried once more with tools switched off and that response is the final answer.</a:t>
            </a:r>
          </a:p>
          <a:p>
            <a:r>
              <a:rPr dirty="0"/>
              <a:t>4. The average failure rate falls from </a:t>
            </a:r>
            <a:r>
              <a:rPr b="1" dirty="0"/>
              <a:t>35.9% to 32.4%</a:t>
            </a:r>
            <a:r>
              <a:rPr dirty="0"/>
              <a:t> with re-injection, still above the 30.0% without tools.</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Optional: skip it when short of time; the small skip link at the foot of the slide jumps ahead.</a:t>
            </a:r>
          </a:p>
          <a:p>
            <a:endParaRPr dirty="0"/>
          </a:p>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The mitigation as run: the </a:t>
            </a:r>
            <a:r>
              <a:rPr b="1" dirty="0"/>
              <a:t>first final answer is discarded</a:t>
            </a:r>
            <a:r>
              <a:rPr dirty="0"/>
              <a:t>, one new user turn with the original image and 'Here is the original image and question again. Original question: {</a:t>
            </a:r>
            <a:r>
              <a:rPr dirty="0" err="1"/>
              <a:t>user_query</a:t>
            </a:r>
            <a:r>
              <a:rPr dirty="0"/>
              <a:t>}' is appended, and the model is queried once more with </a:t>
            </a:r>
            <a:r>
              <a:rPr b="1" dirty="0" err="1"/>
              <a:t>tool_choice</a:t>
            </a:r>
            <a:r>
              <a:rPr b="1" dirty="0"/>
              <a:t>='none'</a:t>
            </a:r>
            <a:r>
              <a:rPr dirty="0"/>
              <a:t>; if the agent made no tool call, nothing is re-injected. The paper reports an average reduction of </a:t>
            </a:r>
            <a:r>
              <a:rPr b="1" dirty="0"/>
              <a:t>7.6%</a:t>
            </a:r>
            <a:r>
              <a:rPr dirty="0"/>
              <a:t> over all its models and benchmarks (Section 4.1); the five-model averages </a:t>
            </a:r>
            <a:r>
              <a:rPr b="1" dirty="0"/>
              <a:t>30.0, 35.9 and 32.4</a:t>
            </a:r>
            <a:r>
              <a:rPr dirty="0"/>
              <a:t> are read from its Figure 3 and give about </a:t>
            </a:r>
            <a:r>
              <a:rPr b="1" dirty="0"/>
              <a:t>3.5 points</a:t>
            </a:r>
            <a:r>
              <a:rPr dirty="0"/>
              <a:t>, so the </a:t>
            </a:r>
            <a:r>
              <a:rPr b="1" dirty="0"/>
              <a:t>7.6%</a:t>
            </a:r>
            <a:r>
              <a:rPr dirty="0"/>
              <a:t> cannot be recomputed from the figure. Costs </a:t>
            </a:r>
            <a:r>
              <a:rPr b="1" dirty="0"/>
              <a:t>one extra model call</a:t>
            </a:r>
            <a:r>
              <a:rPr dirty="0"/>
              <a:t> per trajectory that used a tool (inferred; the paper gives no cost figure).</a:t>
            </a:r>
          </a:p>
          <a:p>
            <a:endParaRPr dirty="0"/>
          </a:p>
          <a:p>
            <a:r>
              <a:rPr dirty="0"/>
              <a:t>The figure, stage by stage.</a:t>
            </a:r>
          </a:p>
          <a:p>
            <a:r>
              <a:rPr dirty="0"/>
              <a:t>1. The harness throws that first answer away, and only when at least one tool call came before it.</a:t>
            </a:r>
          </a:p>
          <a:p>
            <a:r>
              <a:rPr dirty="0"/>
              <a:t>2. The harness restates the original image and question in a new user turn that carries </a:t>
            </a:r>
            <a:r>
              <a:rPr b="1" dirty="0"/>
              <a:t>no safety wording</a:t>
            </a:r>
            <a:r>
              <a:rPr dirty="0"/>
              <a:t>.</a:t>
            </a:r>
          </a:p>
          <a:p>
            <a:r>
              <a:rPr dirty="0"/>
              <a:t>3. The model is queried once more with tools switched off and that response is the final answer.</a:t>
            </a:r>
          </a:p>
          <a:p>
            <a:r>
              <a:rPr dirty="0"/>
              <a:t>4. The average failure rate falls from </a:t>
            </a:r>
            <a:r>
              <a:rPr b="1" dirty="0"/>
              <a:t>35.9% to 32.4%</a:t>
            </a:r>
            <a:r>
              <a:rPr dirty="0"/>
              <a:t> with re-injection, still above the 30.0% without tools.</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Optional: skip it when short of time; the small skip link at the foot of the slide jumps ahead.</a:t>
            </a:r>
          </a:p>
          <a:p>
            <a:endParaRPr dirty="0"/>
          </a:p>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The mitigation as run: the </a:t>
            </a:r>
            <a:r>
              <a:rPr b="1" dirty="0"/>
              <a:t>first final answer is discarded</a:t>
            </a:r>
            <a:r>
              <a:rPr dirty="0"/>
              <a:t>, one new user turn with the original image and 'Here is the original image and question again. Original question: {</a:t>
            </a:r>
            <a:r>
              <a:rPr dirty="0" err="1"/>
              <a:t>user_query</a:t>
            </a:r>
            <a:r>
              <a:rPr dirty="0"/>
              <a:t>}' is appended, and the model is queried once more with </a:t>
            </a:r>
            <a:r>
              <a:rPr b="1" dirty="0" err="1"/>
              <a:t>tool_choice</a:t>
            </a:r>
            <a:r>
              <a:rPr b="1" dirty="0"/>
              <a:t>='none'</a:t>
            </a:r>
            <a:r>
              <a:rPr dirty="0"/>
              <a:t>; if the agent made no tool call, nothing is re-injected. The paper reports an average reduction of </a:t>
            </a:r>
            <a:r>
              <a:rPr b="1" dirty="0"/>
              <a:t>7.6%</a:t>
            </a:r>
            <a:r>
              <a:rPr dirty="0"/>
              <a:t> over all its models and benchmarks (Section 4.1); the five-model averages </a:t>
            </a:r>
            <a:r>
              <a:rPr b="1" dirty="0"/>
              <a:t>30.0, 35.9 and 32.4</a:t>
            </a:r>
            <a:r>
              <a:rPr dirty="0"/>
              <a:t> are read from its Figure 3 and give about </a:t>
            </a:r>
            <a:r>
              <a:rPr b="1" dirty="0"/>
              <a:t>3.5 points</a:t>
            </a:r>
            <a:r>
              <a:rPr dirty="0"/>
              <a:t>, so the </a:t>
            </a:r>
            <a:r>
              <a:rPr b="1" dirty="0"/>
              <a:t>7.6%</a:t>
            </a:r>
            <a:r>
              <a:rPr dirty="0"/>
              <a:t> cannot be recomputed from the figure. Costs </a:t>
            </a:r>
            <a:r>
              <a:rPr b="1" dirty="0"/>
              <a:t>one extra model call</a:t>
            </a:r>
            <a:r>
              <a:rPr dirty="0"/>
              <a:t> per trajectory that used a tool (inferred; the paper gives no cost figure).</a:t>
            </a:r>
          </a:p>
          <a:p>
            <a:endParaRPr dirty="0"/>
          </a:p>
          <a:p>
            <a:r>
              <a:rPr dirty="0"/>
              <a:t>The figure, stage by stage.</a:t>
            </a:r>
          </a:p>
          <a:p>
            <a:r>
              <a:rPr dirty="0"/>
              <a:t>1. The harness throws that first answer away, and only when at least one tool call came before it.</a:t>
            </a:r>
          </a:p>
          <a:p>
            <a:r>
              <a:rPr dirty="0"/>
              <a:t>2. The harness restates the original image and question in a new user turn that carries </a:t>
            </a:r>
            <a:r>
              <a:rPr b="1" dirty="0"/>
              <a:t>no safety wording</a:t>
            </a:r>
            <a:r>
              <a:rPr dirty="0"/>
              <a:t>.</a:t>
            </a:r>
          </a:p>
          <a:p>
            <a:r>
              <a:rPr dirty="0"/>
              <a:t>3. The model is queried once more with tools switched off and that response is the final answer.</a:t>
            </a:r>
          </a:p>
          <a:p>
            <a:r>
              <a:rPr dirty="0"/>
              <a:t>4. The average failure rate falls from </a:t>
            </a:r>
            <a:r>
              <a:rPr b="1" dirty="0"/>
              <a:t>35.9% to 32.4%</a:t>
            </a:r>
            <a:r>
              <a:rPr dirty="0"/>
              <a:t> with re-injection, still above the 30.0% without tools.</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Optional: skip it when short of time; the small skip link at the foot of the slide jumps ahead.</a:t>
            </a:r>
          </a:p>
          <a:p>
            <a:endParaRPr dirty="0"/>
          </a:p>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a:t>
            </a:r>
            <a:r>
              <a:rPr b="1" dirty="0"/>
              <a:t>Figure 3</a:t>
            </a:r>
            <a:r>
              <a:rPr dirty="0"/>
              <a:t> (values read from the vector geometry; the bars for GPT-5.4, </a:t>
            </a:r>
            <a:r>
              <a:rPr b="1" dirty="0"/>
              <a:t>16.8 and 19.5</a:t>
            </a:r>
            <a:r>
              <a:rPr dirty="0"/>
              <a:t>, and for GLM-5V-Turbo, </a:t>
            </a:r>
            <a:r>
              <a:rPr b="1" dirty="0"/>
              <a:t>45.6 and 59.9</a:t>
            </a:r>
            <a:r>
              <a:rPr dirty="0"/>
              <a:t>, differ from Table 1, which gives </a:t>
            </a:r>
            <a:r>
              <a:rPr b="1" dirty="0"/>
              <a:t>14.6 and 16.8</a:t>
            </a:r>
            <a:r>
              <a:rPr dirty="0"/>
              <a:t> and 38.7 and 51.3, so the figure carries a </a:t>
            </a:r>
            <a:r>
              <a:rPr b="1" dirty="0"/>
              <a:t>dagger</a:t>
            </a:r>
            <a:r>
              <a:rPr dirty="0"/>
              <a:t>): five models, mean of three benchmarks, no tools, tools, tools with re-injection; the average is 30.0, 35.9 and 32.4. Backup slide: skip it when short of time.</a:t>
            </a:r>
          </a:p>
          <a:p>
            <a:endParaRPr dirty="0"/>
          </a:p>
          <a:p>
            <a:r>
              <a:rPr dirty="0"/>
              <a:t>The figure, stage by stage.</a:t>
            </a:r>
          </a:p>
          <a:p>
            <a:r>
              <a:rPr dirty="0"/>
              <a:t>1. Asking the original question again lowers the rate in every model, and in points GLM-5V-Turbo falls most, from </a:t>
            </a:r>
            <a:r>
              <a:rPr b="1" dirty="0"/>
              <a:t>59.9 to 50.6</a:t>
            </a:r>
            <a:r>
              <a:rPr dirty="0"/>
              <a:t>, a drop of </a:t>
            </a:r>
            <a:r>
              <a:rPr b="1" dirty="0"/>
              <a:t>9.3 points</a:t>
            </a:r>
            <a:r>
              <a:rPr dirty="0"/>
              <a:t>; every ochre bar still stands above the blue bar of the same model, so re-injection is a </a:t>
            </a:r>
            <a:r>
              <a:rPr b="1" dirty="0"/>
              <a:t>partial fix</a:t>
            </a:r>
            <a:r>
              <a:rPr dirty="0"/>
              <a:t>, and GLM-5V-Turbo ends at 50.6 against 45.6 without tools.</a:t>
            </a:r>
          </a:p>
          <a:p>
            <a:r>
              <a:rPr dirty="0"/>
              <a:t>2. Averaged over the five models the rate is </a:t>
            </a:r>
            <a:r>
              <a:rPr b="1" dirty="0"/>
              <a:t>30.0 without tools, 35.9 with tools and 32.4</a:t>
            </a:r>
            <a:r>
              <a:rPr dirty="0"/>
              <a:t> after re-injection, so the fix recovers part of the loss; the 7.6% in the note is the paper's own average over all its models and benchmarks, its unit is not stated, and these five bars do not reproduce it.</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Optional: skip it when short of time; the small skip link at the foot of the slide jumps ahead.</a:t>
            </a:r>
          </a:p>
          <a:p>
            <a:endParaRPr dirty="0"/>
          </a:p>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a:t>
            </a:r>
            <a:r>
              <a:rPr b="1" dirty="0"/>
              <a:t>Figure 3</a:t>
            </a:r>
            <a:r>
              <a:rPr dirty="0"/>
              <a:t> (values read from the vector geometry; the bars for GPT-5.4, </a:t>
            </a:r>
            <a:r>
              <a:rPr b="1" dirty="0"/>
              <a:t>16.8 and 19.5</a:t>
            </a:r>
            <a:r>
              <a:rPr dirty="0"/>
              <a:t>, and for GLM-5V-Turbo, </a:t>
            </a:r>
            <a:r>
              <a:rPr b="1" dirty="0"/>
              <a:t>45.6 and 59.9</a:t>
            </a:r>
            <a:r>
              <a:rPr dirty="0"/>
              <a:t>, differ from Table 1, which gives </a:t>
            </a:r>
            <a:r>
              <a:rPr b="1" dirty="0"/>
              <a:t>14.6 and 16.8</a:t>
            </a:r>
            <a:r>
              <a:rPr dirty="0"/>
              <a:t> and 38.7 and 51.3, so the figure carries a </a:t>
            </a:r>
            <a:r>
              <a:rPr b="1" dirty="0"/>
              <a:t>dagger</a:t>
            </a:r>
            <a:r>
              <a:rPr dirty="0"/>
              <a:t>): five models, mean of three benchmarks, no tools, tools, tools with re-injection; the average is 30.0, 35.9 and 32.4. Backup slide: skip it when short of time.</a:t>
            </a:r>
          </a:p>
          <a:p>
            <a:endParaRPr dirty="0"/>
          </a:p>
          <a:p>
            <a:r>
              <a:rPr dirty="0"/>
              <a:t>The figure, stage by stage.</a:t>
            </a:r>
          </a:p>
          <a:p>
            <a:r>
              <a:rPr dirty="0"/>
              <a:t>1. Asking the original question again lowers the rate in every model, and in points GLM-5V-Turbo falls most, from </a:t>
            </a:r>
            <a:r>
              <a:rPr b="1" dirty="0"/>
              <a:t>59.9 to 50.6</a:t>
            </a:r>
            <a:r>
              <a:rPr dirty="0"/>
              <a:t>, a drop of </a:t>
            </a:r>
            <a:r>
              <a:rPr b="1" dirty="0"/>
              <a:t>9.3 points</a:t>
            </a:r>
            <a:r>
              <a:rPr dirty="0"/>
              <a:t>; every ochre bar still stands above the blue bar of the same model, so re-injection is a </a:t>
            </a:r>
            <a:r>
              <a:rPr b="1" dirty="0"/>
              <a:t>partial fix</a:t>
            </a:r>
            <a:r>
              <a:rPr dirty="0"/>
              <a:t>, and GLM-5V-Turbo ends at 50.6 against 45.6 without tools.</a:t>
            </a:r>
          </a:p>
          <a:p>
            <a:r>
              <a:rPr dirty="0"/>
              <a:t>2. Averaged over the five models the rate is </a:t>
            </a:r>
            <a:r>
              <a:rPr b="1" dirty="0"/>
              <a:t>30.0 without tools, 35.9 with tools and 32.4</a:t>
            </a:r>
            <a:r>
              <a:rPr dirty="0"/>
              <a:t> after re-injection, so the fix recovers part of the loss; the 7.6% in the note is the paper's own average over all its models and benchmarks, its unit is not stated, and these five bars do not reproduce it.</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Optional: skip it when short of time; the small skip link at the foot of the slide jumps ahead.</a:t>
            </a:r>
          </a:p>
          <a:p>
            <a:endParaRPr dirty="0"/>
          </a:p>
          <a:p>
            <a:r>
              <a:rPr dirty="0" err="1"/>
              <a:t>Takehi</a:t>
            </a:r>
            <a:r>
              <a:rPr dirty="0"/>
              <a:t>, Hachiuma, Ghosh, Zhao, Wang and Hirota, 'MLLMs Fail to Refuse when Using Tools </a:t>
            </a:r>
            <a:r>
              <a:rPr dirty="0" err="1"/>
              <a:t>Agentically</a:t>
            </a:r>
            <a:r>
              <a:rPr dirty="0"/>
              <a:t>', arXiv:2610.03938, version 1, October 2, 2026 (the arXiv listing says accepted at </a:t>
            </a:r>
            <a:r>
              <a:rPr dirty="0" err="1"/>
              <a:t>NeurIPS</a:t>
            </a:r>
            <a:r>
              <a:rPr dirty="0"/>
              <a:t> 2026; the PDF footer names the Evaluations and Datasets track). Judgments by GPT-5.2 against the </a:t>
            </a:r>
            <a:r>
              <a:rPr dirty="0" err="1"/>
              <a:t>VLSBench</a:t>
            </a:r>
            <a:r>
              <a:rPr dirty="0"/>
              <a:t> prompt; 97 of 100 human labels agree. </a:t>
            </a:r>
            <a:r>
              <a:rPr b="1" dirty="0"/>
              <a:t>Figure 3</a:t>
            </a:r>
            <a:r>
              <a:rPr dirty="0"/>
              <a:t> (values read from the vector geometry; the bars for GPT-5.4, </a:t>
            </a:r>
            <a:r>
              <a:rPr b="1" dirty="0"/>
              <a:t>16.8 and 19.5</a:t>
            </a:r>
            <a:r>
              <a:rPr dirty="0"/>
              <a:t>, and for GLM-5V-Turbo, </a:t>
            </a:r>
            <a:r>
              <a:rPr b="1" dirty="0"/>
              <a:t>45.6 and 59.9</a:t>
            </a:r>
            <a:r>
              <a:rPr dirty="0"/>
              <a:t>, differ from Table 1, which gives </a:t>
            </a:r>
            <a:r>
              <a:rPr b="1" dirty="0"/>
              <a:t>14.6 and 16.8</a:t>
            </a:r>
            <a:r>
              <a:rPr dirty="0"/>
              <a:t> and 38.7 and 51.3, so the figure carries a </a:t>
            </a:r>
            <a:r>
              <a:rPr b="1" dirty="0"/>
              <a:t>dagger</a:t>
            </a:r>
            <a:r>
              <a:rPr dirty="0"/>
              <a:t>): five models, mean of three benchmarks, no tools, tools, tools with re-injection; the average is 30.0, 35.9 and 32.4. Backup slide: skip it when short of time.</a:t>
            </a:r>
          </a:p>
          <a:p>
            <a:endParaRPr dirty="0"/>
          </a:p>
          <a:p>
            <a:r>
              <a:rPr dirty="0"/>
              <a:t>The figure, stage by stage.</a:t>
            </a:r>
          </a:p>
          <a:p>
            <a:r>
              <a:rPr dirty="0"/>
              <a:t>1. Asking the original question again lowers the rate in every model, and in points GLM-5V-Turbo falls most, from </a:t>
            </a:r>
            <a:r>
              <a:rPr b="1" dirty="0"/>
              <a:t>59.9 to 50.6</a:t>
            </a:r>
            <a:r>
              <a:rPr dirty="0"/>
              <a:t>, a drop of </a:t>
            </a:r>
            <a:r>
              <a:rPr b="1" dirty="0"/>
              <a:t>9.3 points</a:t>
            </a:r>
            <a:r>
              <a:rPr dirty="0"/>
              <a:t>; every ochre bar still stands above the blue bar of the same model, so re-injection is a </a:t>
            </a:r>
            <a:r>
              <a:rPr b="1" dirty="0"/>
              <a:t>partial fix</a:t>
            </a:r>
            <a:r>
              <a:rPr dirty="0"/>
              <a:t>, and GLM-5V-Turbo ends at 50.6 against 45.6 without tools.</a:t>
            </a:r>
          </a:p>
          <a:p>
            <a:r>
              <a:rPr dirty="0"/>
              <a:t>2. Averaged over the five models the rate is </a:t>
            </a:r>
            <a:r>
              <a:rPr b="1" dirty="0"/>
              <a:t>30.0 without tools, 35.9 with tools and 32.4</a:t>
            </a:r>
            <a:r>
              <a:rPr dirty="0"/>
              <a:t> after re-injection, so the fix recovers part of the loss; the 7.6% in the note is the paper's own average over all its models and benchmarks, its unit is not stated, and these five bars do not reproduce it.</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claim is </a:t>
            </a:r>
            <a:r>
              <a:rPr b="1" dirty="0"/>
              <a:t>limited to the study's setting</a:t>
            </a:r>
            <a:r>
              <a:rPr dirty="0"/>
              <a:t>: multimodal models on harmful image requests, </a:t>
            </a:r>
            <a:r>
              <a:rPr b="1" dirty="0"/>
              <a:t>four vision tools</a:t>
            </a:r>
            <a:r>
              <a:rPr dirty="0"/>
              <a:t>, refusal judged by </a:t>
            </a:r>
            <a:r>
              <a:rPr b="1" dirty="0"/>
              <a:t>GPT-5.2</a:t>
            </a:r>
            <a:r>
              <a:rPr dirty="0"/>
              <a:t>. It answers the question of the removed slide 275 (“The tool boundary under attack”) for that setting. Slide 76 lists the </a:t>
            </a:r>
            <a:r>
              <a:rPr b="1" dirty="0"/>
              <a:t>four places</a:t>
            </a:r>
            <a:r>
              <a:rPr dirty="0"/>
              <a:t> a rule can be enforced; the poll of </a:t>
            </a:r>
            <a:r>
              <a:rPr b="1" dirty="0"/>
              <a:t>slide 212</a:t>
            </a:r>
            <a:r>
              <a:rPr dirty="0"/>
              <a:t> asks the class where the rule about ~/.ssh belongs.</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claim is </a:t>
            </a:r>
            <a:r>
              <a:rPr b="1" dirty="0"/>
              <a:t>limited to the study's setting</a:t>
            </a:r>
            <a:r>
              <a:rPr dirty="0"/>
              <a:t>: multimodal models on harmful image requests, </a:t>
            </a:r>
            <a:r>
              <a:rPr b="1" dirty="0"/>
              <a:t>four vision tools</a:t>
            </a:r>
            <a:r>
              <a:rPr dirty="0"/>
              <a:t>, refusal judged by </a:t>
            </a:r>
            <a:r>
              <a:rPr b="1" dirty="0"/>
              <a:t>GPT-5.2</a:t>
            </a:r>
            <a:r>
              <a:rPr dirty="0"/>
              <a:t>. It answers the question of the removed slide 275 (“The tool boundary under attack”) for that setting. Slide 76 lists the </a:t>
            </a:r>
            <a:r>
              <a:rPr b="1" dirty="0"/>
              <a:t>four places</a:t>
            </a:r>
            <a:r>
              <a:rPr dirty="0"/>
              <a:t> a rule can be enforced; the poll of </a:t>
            </a:r>
            <a:r>
              <a:rPr b="1" dirty="0"/>
              <a:t>slide 212</a:t>
            </a:r>
            <a:r>
              <a:rPr dirty="0"/>
              <a:t> asks the class where the rule about ~/.ssh belongs.</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claim is </a:t>
            </a:r>
            <a:r>
              <a:rPr b="1" dirty="0"/>
              <a:t>limited to the study's setting</a:t>
            </a:r>
            <a:r>
              <a:rPr dirty="0"/>
              <a:t>: multimodal models on harmful image requests, </a:t>
            </a:r>
            <a:r>
              <a:rPr b="1" dirty="0"/>
              <a:t>four vision tools</a:t>
            </a:r>
            <a:r>
              <a:rPr dirty="0"/>
              <a:t>, refusal judged by </a:t>
            </a:r>
            <a:r>
              <a:rPr b="1" dirty="0"/>
              <a:t>GPT-5.2</a:t>
            </a:r>
            <a:r>
              <a:rPr dirty="0"/>
              <a:t>. It answers the question of the removed slide 275 (“The tool boundary under attack”) for that setting. Slide 76 lists the </a:t>
            </a:r>
            <a:r>
              <a:rPr b="1" dirty="0"/>
              <a:t>four places</a:t>
            </a:r>
            <a:r>
              <a:rPr dirty="0"/>
              <a:t> a rule can be enforced; the poll of </a:t>
            </a:r>
            <a:r>
              <a:rPr b="1" dirty="0"/>
              <a:t>slide 212</a:t>
            </a:r>
            <a:r>
              <a:rPr dirty="0"/>
              <a:t> asks the class where the rule about ~/.ssh belongs.</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claim is </a:t>
            </a:r>
            <a:r>
              <a:rPr b="1" dirty="0"/>
              <a:t>limited to the study's setting</a:t>
            </a:r>
            <a:r>
              <a:rPr dirty="0"/>
              <a:t>: multimodal models on harmful image requests, </a:t>
            </a:r>
            <a:r>
              <a:rPr b="1" dirty="0"/>
              <a:t>four vision tools</a:t>
            </a:r>
            <a:r>
              <a:rPr dirty="0"/>
              <a:t>, refusal judged by </a:t>
            </a:r>
            <a:r>
              <a:rPr b="1" dirty="0"/>
              <a:t>GPT-5.2</a:t>
            </a:r>
            <a:r>
              <a:rPr dirty="0"/>
              <a:t>. It answers the question of the removed slide 275 (“The tool boundary under attack”) for that setting. Slide 76 lists the </a:t>
            </a:r>
            <a:r>
              <a:rPr b="1" dirty="0"/>
              <a:t>four places</a:t>
            </a:r>
            <a:r>
              <a:rPr dirty="0"/>
              <a:t> a rule can be enforced; the poll of </a:t>
            </a:r>
            <a:r>
              <a:rPr b="1" dirty="0"/>
              <a:t>slide 212</a:t>
            </a:r>
            <a:r>
              <a:rPr dirty="0"/>
              <a:t> asks the class where the rule about ~/.ssh belongs.</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claim is </a:t>
            </a:r>
            <a:r>
              <a:rPr b="1" dirty="0"/>
              <a:t>limited to the study's setting</a:t>
            </a:r>
            <a:r>
              <a:rPr dirty="0"/>
              <a:t>: multimodal models on harmful image requests, </a:t>
            </a:r>
            <a:r>
              <a:rPr b="1" dirty="0"/>
              <a:t>four vision tools</a:t>
            </a:r>
            <a:r>
              <a:rPr dirty="0"/>
              <a:t>, refusal judged by </a:t>
            </a:r>
            <a:r>
              <a:rPr b="1" dirty="0"/>
              <a:t>GPT-5.2</a:t>
            </a:r>
            <a:r>
              <a:rPr dirty="0"/>
              <a:t>. It answers the question of the removed slide 275 (“The tool boundary under attack”) for that setting. Slide 76 lists the </a:t>
            </a:r>
            <a:r>
              <a:rPr b="1" dirty="0"/>
              <a:t>four places</a:t>
            </a:r>
            <a:r>
              <a:rPr dirty="0"/>
              <a:t> a rule can be enforced; the poll of </a:t>
            </a:r>
            <a:r>
              <a:rPr b="1" dirty="0"/>
              <a:t>slide 212</a:t>
            </a:r>
            <a:r>
              <a:rPr dirty="0"/>
              <a:t> asks the class where the rule about ~/.ssh belongs.</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four places, </a:t>
            </a:r>
            <a:r>
              <a:rPr b="1" dirty="0"/>
              <a:t>innermost first</a:t>
            </a:r>
            <a:r>
              <a:rPr dirty="0"/>
              <a:t>. The rule used as the example is the poll's: '</a:t>
            </a:r>
            <a:r>
              <a:rPr b="1" dirty="0"/>
              <a:t>the agent may not read ~/.ssh</a:t>
            </a:r>
            <a:r>
              <a:rPr dirty="0"/>
              <a:t>'. Inside the agent's process, code can edit, bypass or disable a check; outside it, a rule </a:t>
            </a:r>
            <a:r>
              <a:rPr b="1" dirty="0"/>
              <a:t>cannot be disabled without compromising</a:t>
            </a:r>
            <a:r>
              <a:rPr dirty="0"/>
              <a:t> the enforcing process. The figure on slide 81 gives what a bypass requires and the ATLAS technique that names it.</a:t>
            </a:r>
          </a:p>
          <a:p>
            <a:endParaRPr dirty="0"/>
          </a:p>
          <a:p>
            <a:r>
              <a:rPr dirty="0"/>
              <a:t>The figure, stage by stage.</a:t>
            </a:r>
          </a:p>
          <a:p>
            <a:r>
              <a:rPr dirty="0"/>
              <a:t>1. The first place to enforce '</a:t>
            </a:r>
            <a:r>
              <a:rPr b="1" dirty="0"/>
              <a:t>the agent may not read ~/.ssh</a:t>
            </a:r>
            <a:r>
              <a:rPr dirty="0"/>
              <a:t>' is the model, through the system prompt or the model's own alignment. This place sits inside the agent's process, so the agent can disable it. Bypassing it takes </a:t>
            </a:r>
            <a:r>
              <a:rPr b="1" dirty="0"/>
              <a:t>persuading the model</a:t>
            </a:r>
            <a:r>
              <a:rPr dirty="0"/>
              <a:t>.</a:t>
            </a:r>
          </a:p>
          <a:p>
            <a:r>
              <a:rPr dirty="0"/>
              <a:t>2. The second place is the </a:t>
            </a:r>
            <a:r>
              <a:rPr b="1" dirty="0"/>
              <a:t>harness process</a:t>
            </a:r>
            <a:r>
              <a:rPr dirty="0"/>
              <a:t>, the dispatcher's check on every tool call. It is still inside the agent's process, so code in the same process can edit, bypass or disable it.</a:t>
            </a:r>
          </a:p>
          <a:p>
            <a:r>
              <a:rPr dirty="0"/>
              <a:t>3. The third place is the </a:t>
            </a:r>
            <a:r>
              <a:rPr b="1" dirty="0"/>
              <a:t>operating-system kernel</a:t>
            </a:r>
            <a:r>
              <a:rPr dirty="0"/>
              <a:t> (</a:t>
            </a:r>
            <a:r>
              <a:rPr b="1" dirty="0"/>
              <a:t>Landlock file rules</a:t>
            </a:r>
            <a:r>
              <a:rPr dirty="0"/>
              <a:t>, seccomp system-call filters, namespaces, or a </a:t>
            </a:r>
            <a:r>
              <a:rPr dirty="0" err="1"/>
              <a:t>microVM</a:t>
            </a:r>
            <a:r>
              <a:rPr dirty="0"/>
              <a:t>). It enforces the rule from outside the agent's process, so the agent cannot disable it. A bypass needs a kernel or hypervisor vulnerability.</a:t>
            </a:r>
          </a:p>
          <a:p>
            <a:r>
              <a:rPr dirty="0"/>
              <a:t>4. The fourth place is </a:t>
            </a:r>
            <a:r>
              <a:rPr b="1" dirty="0"/>
              <a:t>hardware outside the host</a:t>
            </a:r>
            <a:r>
              <a:rPr dirty="0"/>
              <a:t>, a processor in the network path with its own trust domain. The agent cannot disable it, and a bypass means compromising that processor. That processor </a:t>
            </a:r>
            <a:r>
              <a:rPr b="1" dirty="0"/>
              <a:t>never sees a local file read</a:t>
            </a:r>
            <a:r>
              <a:rPr dirty="0"/>
              <a:t>.</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four places, </a:t>
            </a:r>
            <a:r>
              <a:rPr b="1" dirty="0"/>
              <a:t>innermost first</a:t>
            </a:r>
            <a:r>
              <a:rPr dirty="0"/>
              <a:t>. The rule used as the example is the poll's: '</a:t>
            </a:r>
            <a:r>
              <a:rPr b="1" dirty="0"/>
              <a:t>the agent may not read ~/.ssh</a:t>
            </a:r>
            <a:r>
              <a:rPr dirty="0"/>
              <a:t>'. Inside the agent's process, code can edit, bypass or disable a check; outside it, a rule </a:t>
            </a:r>
            <a:r>
              <a:rPr b="1" dirty="0"/>
              <a:t>cannot be disabled without compromising</a:t>
            </a:r>
            <a:r>
              <a:rPr dirty="0"/>
              <a:t> the enforcing process. The figure on slide 81 gives what a bypass requires and the ATLAS technique that names it.</a:t>
            </a:r>
          </a:p>
          <a:p>
            <a:endParaRPr dirty="0"/>
          </a:p>
          <a:p>
            <a:r>
              <a:rPr dirty="0"/>
              <a:t>The figure, stage by stage.</a:t>
            </a:r>
          </a:p>
          <a:p>
            <a:r>
              <a:rPr dirty="0"/>
              <a:t>1. The first place to enforce '</a:t>
            </a:r>
            <a:r>
              <a:rPr b="1" dirty="0"/>
              <a:t>the agent may not read ~/.ssh</a:t>
            </a:r>
            <a:r>
              <a:rPr dirty="0"/>
              <a:t>' is the model, through the system prompt or the model's own alignment. This place sits inside the agent's process, so the agent can disable it. Bypassing it takes </a:t>
            </a:r>
            <a:r>
              <a:rPr b="1" dirty="0"/>
              <a:t>persuading the model</a:t>
            </a:r>
            <a:r>
              <a:rPr dirty="0"/>
              <a:t>.</a:t>
            </a:r>
          </a:p>
          <a:p>
            <a:r>
              <a:rPr dirty="0"/>
              <a:t>2. The second place is the </a:t>
            </a:r>
            <a:r>
              <a:rPr b="1" dirty="0"/>
              <a:t>harness process</a:t>
            </a:r>
            <a:r>
              <a:rPr dirty="0"/>
              <a:t>, the dispatcher's check on every tool call. It is still inside the agent's process, so code in the same process can edit, bypass or disable it.</a:t>
            </a:r>
          </a:p>
          <a:p>
            <a:r>
              <a:rPr dirty="0"/>
              <a:t>3. The third place is the </a:t>
            </a:r>
            <a:r>
              <a:rPr b="1" dirty="0"/>
              <a:t>operating-system kernel</a:t>
            </a:r>
            <a:r>
              <a:rPr dirty="0"/>
              <a:t> (</a:t>
            </a:r>
            <a:r>
              <a:rPr b="1" dirty="0"/>
              <a:t>Landlock file rules</a:t>
            </a:r>
            <a:r>
              <a:rPr dirty="0"/>
              <a:t>, seccomp system-call filters, namespaces, or a </a:t>
            </a:r>
            <a:r>
              <a:rPr dirty="0" err="1"/>
              <a:t>microVM</a:t>
            </a:r>
            <a:r>
              <a:rPr dirty="0"/>
              <a:t>). It enforces the rule from outside the agent's process, so the agent cannot disable it. A bypass needs a kernel or hypervisor vulnerability.</a:t>
            </a:r>
          </a:p>
          <a:p>
            <a:r>
              <a:rPr dirty="0"/>
              <a:t>4. The fourth place is </a:t>
            </a:r>
            <a:r>
              <a:rPr b="1" dirty="0"/>
              <a:t>hardware outside the host</a:t>
            </a:r>
            <a:r>
              <a:rPr dirty="0"/>
              <a:t>, a processor in the network path with its own trust domain. The agent cannot disable it, and a bypass means compromising that processor. That processor </a:t>
            </a:r>
            <a:r>
              <a:rPr b="1" dirty="0"/>
              <a:t>never sees a local file read</a:t>
            </a:r>
            <a:r>
              <a:rPr dirty="0"/>
              <a:t>.</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four places, </a:t>
            </a:r>
            <a:r>
              <a:rPr b="1" dirty="0"/>
              <a:t>innermost first</a:t>
            </a:r>
            <a:r>
              <a:rPr dirty="0"/>
              <a:t>. The rule used as the example is the poll's: '</a:t>
            </a:r>
            <a:r>
              <a:rPr b="1" dirty="0"/>
              <a:t>the agent may not read ~/.ssh</a:t>
            </a:r>
            <a:r>
              <a:rPr dirty="0"/>
              <a:t>'. Inside the agent's process, code can edit, bypass or disable a check; outside it, a rule </a:t>
            </a:r>
            <a:r>
              <a:rPr b="1" dirty="0"/>
              <a:t>cannot be disabled without compromising</a:t>
            </a:r>
            <a:r>
              <a:rPr dirty="0"/>
              <a:t> the enforcing process. The figure on slide 81 gives what a bypass requires and the ATLAS technique that names it.</a:t>
            </a:r>
          </a:p>
          <a:p>
            <a:endParaRPr dirty="0"/>
          </a:p>
          <a:p>
            <a:r>
              <a:rPr dirty="0"/>
              <a:t>The figure, stage by stage.</a:t>
            </a:r>
          </a:p>
          <a:p>
            <a:r>
              <a:rPr dirty="0"/>
              <a:t>1. The first place to enforce '</a:t>
            </a:r>
            <a:r>
              <a:rPr b="1" dirty="0"/>
              <a:t>the agent may not read ~/.ssh</a:t>
            </a:r>
            <a:r>
              <a:rPr dirty="0"/>
              <a:t>' is the model, through the system prompt or the model's own alignment. This place sits inside the agent's process, so the agent can disable it. Bypassing it takes </a:t>
            </a:r>
            <a:r>
              <a:rPr b="1" dirty="0"/>
              <a:t>persuading the model</a:t>
            </a:r>
            <a:r>
              <a:rPr dirty="0"/>
              <a:t>.</a:t>
            </a:r>
          </a:p>
          <a:p>
            <a:r>
              <a:rPr dirty="0"/>
              <a:t>2. The second place is the </a:t>
            </a:r>
            <a:r>
              <a:rPr b="1" dirty="0"/>
              <a:t>harness process</a:t>
            </a:r>
            <a:r>
              <a:rPr dirty="0"/>
              <a:t>, the dispatcher's check on every tool call. It is still inside the agent's process, so code in the same process can edit, bypass or disable it.</a:t>
            </a:r>
          </a:p>
          <a:p>
            <a:r>
              <a:rPr dirty="0"/>
              <a:t>3. The third place is the </a:t>
            </a:r>
            <a:r>
              <a:rPr b="1" dirty="0"/>
              <a:t>operating-system kernel</a:t>
            </a:r>
            <a:r>
              <a:rPr dirty="0"/>
              <a:t> (</a:t>
            </a:r>
            <a:r>
              <a:rPr b="1" dirty="0"/>
              <a:t>Landlock file rules</a:t>
            </a:r>
            <a:r>
              <a:rPr dirty="0"/>
              <a:t>, seccomp system-call filters, namespaces, or a </a:t>
            </a:r>
            <a:r>
              <a:rPr dirty="0" err="1"/>
              <a:t>microVM</a:t>
            </a:r>
            <a:r>
              <a:rPr dirty="0"/>
              <a:t>). It enforces the rule from outside the agent's process, so the agent cannot disable it. A bypass needs a kernel or hypervisor vulnerability.</a:t>
            </a:r>
          </a:p>
          <a:p>
            <a:r>
              <a:rPr dirty="0"/>
              <a:t>4. The fourth place is </a:t>
            </a:r>
            <a:r>
              <a:rPr b="1" dirty="0"/>
              <a:t>hardware outside the host</a:t>
            </a:r>
            <a:r>
              <a:rPr dirty="0"/>
              <a:t>, a processor in the network path with its own trust domain. The agent cannot disable it, and a bypass means compromising that processor. That processor </a:t>
            </a:r>
            <a:r>
              <a:rPr b="1" dirty="0"/>
              <a:t>never sees a local file read</a:t>
            </a:r>
            <a:r>
              <a:rPr dirty="0"/>
              <a:t>.</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four places, </a:t>
            </a:r>
            <a:r>
              <a:rPr b="1" dirty="0"/>
              <a:t>innermost first</a:t>
            </a:r>
            <a:r>
              <a:rPr dirty="0"/>
              <a:t>. The rule used as the example is the poll's: '</a:t>
            </a:r>
            <a:r>
              <a:rPr b="1" dirty="0"/>
              <a:t>the agent may not read ~/.ssh</a:t>
            </a:r>
            <a:r>
              <a:rPr dirty="0"/>
              <a:t>'. Inside the agent's process, code can edit, bypass or disable a check; outside it, a rule </a:t>
            </a:r>
            <a:r>
              <a:rPr b="1" dirty="0"/>
              <a:t>cannot be disabled without compromising</a:t>
            </a:r>
            <a:r>
              <a:rPr dirty="0"/>
              <a:t> the enforcing process. The figure on slide 81 gives what a bypass requires and the ATLAS technique that names it.</a:t>
            </a:r>
          </a:p>
          <a:p>
            <a:endParaRPr dirty="0"/>
          </a:p>
          <a:p>
            <a:r>
              <a:rPr dirty="0"/>
              <a:t>The figure, stage by stage.</a:t>
            </a:r>
          </a:p>
          <a:p>
            <a:r>
              <a:rPr dirty="0"/>
              <a:t>1. The first place to enforce '</a:t>
            </a:r>
            <a:r>
              <a:rPr b="1" dirty="0"/>
              <a:t>the agent may not read ~/.ssh</a:t>
            </a:r>
            <a:r>
              <a:rPr dirty="0"/>
              <a:t>' is the model, through the system prompt or the model's own alignment. This place sits inside the agent's process, so the agent can disable it. Bypassing it takes </a:t>
            </a:r>
            <a:r>
              <a:rPr b="1" dirty="0"/>
              <a:t>persuading the model</a:t>
            </a:r>
            <a:r>
              <a:rPr dirty="0"/>
              <a:t>.</a:t>
            </a:r>
          </a:p>
          <a:p>
            <a:r>
              <a:rPr dirty="0"/>
              <a:t>2. The second place is the </a:t>
            </a:r>
            <a:r>
              <a:rPr b="1" dirty="0"/>
              <a:t>harness process</a:t>
            </a:r>
            <a:r>
              <a:rPr dirty="0"/>
              <a:t>, the dispatcher's check on every tool call. It is still inside the agent's process, so code in the same process can edit, bypass or disable it.</a:t>
            </a:r>
          </a:p>
          <a:p>
            <a:r>
              <a:rPr dirty="0"/>
              <a:t>3. The third place is the </a:t>
            </a:r>
            <a:r>
              <a:rPr b="1" dirty="0"/>
              <a:t>operating-system kernel</a:t>
            </a:r>
            <a:r>
              <a:rPr dirty="0"/>
              <a:t> (</a:t>
            </a:r>
            <a:r>
              <a:rPr b="1" dirty="0"/>
              <a:t>Landlock file rules</a:t>
            </a:r>
            <a:r>
              <a:rPr dirty="0"/>
              <a:t>, seccomp system-call filters, namespaces, or a </a:t>
            </a:r>
            <a:r>
              <a:rPr dirty="0" err="1"/>
              <a:t>microVM</a:t>
            </a:r>
            <a:r>
              <a:rPr dirty="0"/>
              <a:t>). It enforces the rule from outside the agent's process, so the agent cannot disable it. A bypass needs a kernel or hypervisor vulnerability.</a:t>
            </a:r>
          </a:p>
          <a:p>
            <a:r>
              <a:rPr dirty="0"/>
              <a:t>4. The fourth place is </a:t>
            </a:r>
            <a:r>
              <a:rPr b="1" dirty="0"/>
              <a:t>hardware outside the host</a:t>
            </a:r>
            <a:r>
              <a:rPr dirty="0"/>
              <a:t>, a processor in the network path with its own trust domain. The agent cannot disable it, and a bypass means compromising that processor. That processor </a:t>
            </a:r>
            <a:r>
              <a:rPr b="1" dirty="0"/>
              <a:t>never sees a local file read</a:t>
            </a:r>
            <a:r>
              <a:rPr dirty="0"/>
              <a:t>.</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four places, </a:t>
            </a:r>
            <a:r>
              <a:rPr b="1" dirty="0"/>
              <a:t>innermost first</a:t>
            </a:r>
            <a:r>
              <a:rPr dirty="0"/>
              <a:t>. The rule used as the example is the poll's: '</a:t>
            </a:r>
            <a:r>
              <a:rPr b="1" dirty="0"/>
              <a:t>the agent may not read ~/.ssh</a:t>
            </a:r>
            <a:r>
              <a:rPr dirty="0"/>
              <a:t>'. Inside the agent's process, code can edit, bypass or disable a check; outside it, a rule </a:t>
            </a:r>
            <a:r>
              <a:rPr b="1" dirty="0"/>
              <a:t>cannot be disabled without compromising</a:t>
            </a:r>
            <a:r>
              <a:rPr dirty="0"/>
              <a:t> the enforcing process. The figure on slide 81 gives what a bypass requires and the ATLAS technique that names it.</a:t>
            </a:r>
          </a:p>
          <a:p>
            <a:endParaRPr dirty="0"/>
          </a:p>
          <a:p>
            <a:r>
              <a:rPr dirty="0"/>
              <a:t>The figure, stage by stage.</a:t>
            </a:r>
          </a:p>
          <a:p>
            <a:r>
              <a:rPr dirty="0"/>
              <a:t>1. The first place to enforce '</a:t>
            </a:r>
            <a:r>
              <a:rPr b="1" dirty="0"/>
              <a:t>the agent may not read ~/.ssh</a:t>
            </a:r>
            <a:r>
              <a:rPr dirty="0"/>
              <a:t>' is the model, through the system prompt or the model's own alignment. This place sits inside the agent's process, so the agent can disable it. Bypassing it takes </a:t>
            </a:r>
            <a:r>
              <a:rPr b="1" dirty="0"/>
              <a:t>persuading the model</a:t>
            </a:r>
            <a:r>
              <a:rPr dirty="0"/>
              <a:t>.</a:t>
            </a:r>
          </a:p>
          <a:p>
            <a:r>
              <a:rPr dirty="0"/>
              <a:t>2. The second place is the </a:t>
            </a:r>
            <a:r>
              <a:rPr b="1" dirty="0"/>
              <a:t>harness process</a:t>
            </a:r>
            <a:r>
              <a:rPr dirty="0"/>
              <a:t>, the dispatcher's check on every tool call. It is still inside the agent's process, so code in the same process can edit, bypass or disable it.</a:t>
            </a:r>
          </a:p>
          <a:p>
            <a:r>
              <a:rPr dirty="0"/>
              <a:t>3. The third place is the </a:t>
            </a:r>
            <a:r>
              <a:rPr b="1" dirty="0"/>
              <a:t>operating-system kernel</a:t>
            </a:r>
            <a:r>
              <a:rPr dirty="0"/>
              <a:t> (</a:t>
            </a:r>
            <a:r>
              <a:rPr b="1" dirty="0"/>
              <a:t>Landlock file rules</a:t>
            </a:r>
            <a:r>
              <a:rPr dirty="0"/>
              <a:t>, seccomp system-call filters, namespaces, or a </a:t>
            </a:r>
            <a:r>
              <a:rPr dirty="0" err="1"/>
              <a:t>microVM</a:t>
            </a:r>
            <a:r>
              <a:rPr dirty="0"/>
              <a:t>). It enforces the rule from outside the agent's process, so the agent cannot disable it. A bypass needs a kernel or hypervisor vulnerability.</a:t>
            </a:r>
          </a:p>
          <a:p>
            <a:r>
              <a:rPr dirty="0"/>
              <a:t>4. The fourth place is </a:t>
            </a:r>
            <a:r>
              <a:rPr b="1" dirty="0"/>
              <a:t>hardware outside the host</a:t>
            </a:r>
            <a:r>
              <a:rPr dirty="0"/>
              <a:t>, a processor in the network path with its own trust domain. The agent cannot disable it, and a bypass means compromising that processor. That processor </a:t>
            </a:r>
            <a:r>
              <a:rPr b="1" dirty="0"/>
              <a:t>never sees a local file read</a:t>
            </a:r>
            <a:r>
              <a:rPr dirty="0"/>
              <a:t>.</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A survey of </a:t>
            </a:r>
            <a:r>
              <a:rPr b="1" dirty="0"/>
              <a:t>59 papers</a:t>
            </a:r>
            <a:r>
              <a:rPr dirty="0"/>
              <a:t>, </a:t>
            </a:r>
            <a:r>
              <a:rPr b="1" dirty="0"/>
              <a:t>21 production agent systems</a:t>
            </a:r>
            <a:r>
              <a:rPr dirty="0"/>
              <a:t> and </a:t>
            </a:r>
            <a:r>
              <a:rPr b="1" dirty="0"/>
              <a:t>26 security plugins</a:t>
            </a:r>
            <a:r>
              <a:rPr dirty="0"/>
              <a:t> (Wang, Li and Tian, May 2026) finds production systems layering an </a:t>
            </a:r>
            <a:r>
              <a:rPr b="1" dirty="0"/>
              <a:t>application-level deny list</a:t>
            </a:r>
            <a:r>
              <a:rPr dirty="0"/>
              <a:t> over an operating-system sandbox (Claude Code stacks an application blocklist with an OS sandbox; Google ADK stacks </a:t>
            </a:r>
            <a:r>
              <a:rPr b="1" dirty="0" err="1"/>
              <a:t>gVisor</a:t>
            </a:r>
            <a:r>
              <a:rPr b="1" dirty="0"/>
              <a:t> with cloud IAM</a:t>
            </a:r>
            <a:r>
              <a:rPr dirty="0"/>
              <a:t>) and reports that scope configuration suffers "</a:t>
            </a:r>
            <a:r>
              <a:rPr b="1" dirty="0"/>
              <a:t>scope creep</a:t>
            </a:r>
            <a:r>
              <a:rPr dirty="0"/>
              <a:t>": scope grows during a session with no principled way to shrink it. The survey is a </a:t>
            </a:r>
            <a:r>
              <a:rPr b="1" dirty="0"/>
              <a:t>preprint</a:t>
            </a:r>
            <a:r>
              <a:rPr dirty="0"/>
              <a:t>.</a:t>
            </a:r>
          </a:p>
          <a:p>
            <a:endParaRPr dirty="0"/>
          </a:p>
          <a:p>
            <a:r>
              <a:rPr dirty="0"/>
              <a:t>Table cells in full:</a:t>
            </a:r>
          </a:p>
          <a:p>
            <a:r>
              <a:rPr dirty="0"/>
              <a:t>The model's prompt | An instruction to the model, or the model's own alignment | Persuading the model. It also weakens as tool calls accumulate (slide 39) | </a:t>
            </a:r>
            <a:r>
              <a:rPr b="1" dirty="0"/>
              <a:t>AML.T0051</a:t>
            </a:r>
            <a:r>
              <a:rPr dirty="0"/>
              <a:t> LLM Prompt Injection (.000 Direct, .001 Indirect); AML.T0054 LLM Jailbreak</a:t>
            </a:r>
          </a:p>
          <a:p>
            <a:r>
              <a:rPr dirty="0"/>
              <a:t>The harness process | The dispatcher's check | Editing, bypassing or disabling the check from inside the same process | </a:t>
            </a:r>
            <a:r>
              <a:rPr b="1" dirty="0"/>
              <a:t>AML.T0081</a:t>
            </a:r>
            <a:r>
              <a:rPr dirty="0"/>
              <a:t> Modify AI Agent Configuration</a:t>
            </a:r>
          </a:p>
          <a:p>
            <a:r>
              <a:rPr dirty="0"/>
              <a:t>The operating-system kernel | Kernel features (Landlock file rules, seccomp system-call filters, namespaces) or a </a:t>
            </a:r>
            <a:r>
              <a:rPr dirty="0" err="1"/>
              <a:t>microVM</a:t>
            </a:r>
            <a:r>
              <a:rPr dirty="0"/>
              <a:t> | A kernel or hypervisor vulnerability | </a:t>
            </a:r>
            <a:r>
              <a:rPr b="1" dirty="0"/>
              <a:t>AML.T0105</a:t>
            </a:r>
            <a:r>
              <a:rPr dirty="0"/>
              <a:t> Escape to Host</a:t>
            </a:r>
          </a:p>
          <a:p>
            <a:r>
              <a:rPr dirty="0"/>
              <a:t>Hardware outside the host | A processor in the network path | Compromising that processor | No agent-specific technique in release 2026.09</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A survey of </a:t>
            </a:r>
            <a:r>
              <a:rPr b="1" dirty="0"/>
              <a:t>59 papers</a:t>
            </a:r>
            <a:r>
              <a:rPr dirty="0"/>
              <a:t>, </a:t>
            </a:r>
            <a:r>
              <a:rPr b="1" dirty="0"/>
              <a:t>21 production agent systems</a:t>
            </a:r>
            <a:r>
              <a:rPr dirty="0"/>
              <a:t> and </a:t>
            </a:r>
            <a:r>
              <a:rPr b="1" dirty="0"/>
              <a:t>26 security plugins</a:t>
            </a:r>
            <a:r>
              <a:rPr dirty="0"/>
              <a:t> (Wang, Li and Tian, May 2026) finds production systems layering an </a:t>
            </a:r>
            <a:r>
              <a:rPr b="1" dirty="0"/>
              <a:t>application-level deny list</a:t>
            </a:r>
            <a:r>
              <a:rPr dirty="0"/>
              <a:t> over an operating-system sandbox (Claude Code stacks an application blocklist with an OS sandbox; Google ADK stacks </a:t>
            </a:r>
            <a:r>
              <a:rPr b="1" dirty="0" err="1"/>
              <a:t>gVisor</a:t>
            </a:r>
            <a:r>
              <a:rPr b="1" dirty="0"/>
              <a:t> with cloud IAM</a:t>
            </a:r>
            <a:r>
              <a:rPr dirty="0"/>
              <a:t>) and reports that scope configuration suffers "</a:t>
            </a:r>
            <a:r>
              <a:rPr b="1" dirty="0"/>
              <a:t>scope creep</a:t>
            </a:r>
            <a:r>
              <a:rPr dirty="0"/>
              <a:t>": scope grows during a session with no principled way to shrink it. The survey is a </a:t>
            </a:r>
            <a:r>
              <a:rPr b="1" dirty="0"/>
              <a:t>preprint</a:t>
            </a:r>
            <a:r>
              <a:rPr dirty="0"/>
              <a:t>.</a:t>
            </a:r>
          </a:p>
          <a:p>
            <a:endParaRPr dirty="0"/>
          </a:p>
          <a:p>
            <a:r>
              <a:rPr dirty="0"/>
              <a:t>Table cells in full:</a:t>
            </a:r>
          </a:p>
          <a:p>
            <a:r>
              <a:rPr dirty="0"/>
              <a:t>The model's prompt | An instruction to the model, or the model's own alignment | Persuading the model. It also weakens as tool calls accumulate (slide 39) | </a:t>
            </a:r>
            <a:r>
              <a:rPr b="1" dirty="0"/>
              <a:t>AML.T0051</a:t>
            </a:r>
            <a:r>
              <a:rPr dirty="0"/>
              <a:t> LLM Prompt Injection (.000 Direct, .001 Indirect); AML.T0054 LLM Jailbreak</a:t>
            </a:r>
          </a:p>
          <a:p>
            <a:r>
              <a:rPr dirty="0"/>
              <a:t>The harness process | The dispatcher's check | Editing, bypassing or disabling the check from inside the same process | </a:t>
            </a:r>
            <a:r>
              <a:rPr b="1" dirty="0"/>
              <a:t>AML.T0081</a:t>
            </a:r>
            <a:r>
              <a:rPr dirty="0"/>
              <a:t> Modify AI Agent Configuration</a:t>
            </a:r>
          </a:p>
          <a:p>
            <a:r>
              <a:rPr dirty="0"/>
              <a:t>The operating-system kernel | Kernel features (Landlock file rules, seccomp system-call filters, namespaces) or a </a:t>
            </a:r>
            <a:r>
              <a:rPr dirty="0" err="1"/>
              <a:t>microVM</a:t>
            </a:r>
            <a:r>
              <a:rPr dirty="0"/>
              <a:t> | A kernel or hypervisor vulnerability | </a:t>
            </a:r>
            <a:r>
              <a:rPr b="1" dirty="0"/>
              <a:t>AML.T0105</a:t>
            </a:r>
            <a:r>
              <a:rPr dirty="0"/>
              <a:t> Escape to Host</a:t>
            </a:r>
          </a:p>
          <a:p>
            <a:r>
              <a:rPr dirty="0"/>
              <a:t>Hardware outside the host | A processor in the network path | Compromising that processor | No agent-specific technique in release 2026.09</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A survey of </a:t>
            </a:r>
            <a:r>
              <a:rPr b="1" dirty="0"/>
              <a:t>59 papers</a:t>
            </a:r>
            <a:r>
              <a:rPr dirty="0"/>
              <a:t>, </a:t>
            </a:r>
            <a:r>
              <a:rPr b="1" dirty="0"/>
              <a:t>21 production agent systems</a:t>
            </a:r>
            <a:r>
              <a:rPr dirty="0"/>
              <a:t> and </a:t>
            </a:r>
            <a:r>
              <a:rPr b="1" dirty="0"/>
              <a:t>26 security plugins</a:t>
            </a:r>
            <a:r>
              <a:rPr dirty="0"/>
              <a:t> (Wang, Li and Tian, May 2026) finds production systems layering an </a:t>
            </a:r>
            <a:r>
              <a:rPr b="1" dirty="0"/>
              <a:t>application-level deny list</a:t>
            </a:r>
            <a:r>
              <a:rPr dirty="0"/>
              <a:t> over an operating-system sandbox (Claude Code stacks an application blocklist with an OS sandbox; Google ADK stacks </a:t>
            </a:r>
            <a:r>
              <a:rPr b="1" dirty="0" err="1"/>
              <a:t>gVisor</a:t>
            </a:r>
            <a:r>
              <a:rPr b="1" dirty="0"/>
              <a:t> with cloud IAM</a:t>
            </a:r>
            <a:r>
              <a:rPr dirty="0"/>
              <a:t>) and reports that scope configuration suffers "</a:t>
            </a:r>
            <a:r>
              <a:rPr b="1" dirty="0"/>
              <a:t>scope creep</a:t>
            </a:r>
            <a:r>
              <a:rPr dirty="0"/>
              <a:t>": scope grows during a session with no principled way to shrink it. The survey is a </a:t>
            </a:r>
            <a:r>
              <a:rPr b="1" dirty="0"/>
              <a:t>preprint</a:t>
            </a:r>
            <a:r>
              <a:rPr dirty="0"/>
              <a:t>.</a:t>
            </a:r>
          </a:p>
          <a:p>
            <a:endParaRPr dirty="0"/>
          </a:p>
          <a:p>
            <a:r>
              <a:rPr dirty="0"/>
              <a:t>Table cells in full:</a:t>
            </a:r>
          </a:p>
          <a:p>
            <a:r>
              <a:rPr dirty="0"/>
              <a:t>The model's prompt | An instruction to the model, or the model's own alignment | Persuading the model. It also weakens as tool calls accumulate (slide 39) | </a:t>
            </a:r>
            <a:r>
              <a:rPr b="1" dirty="0"/>
              <a:t>AML.T0051</a:t>
            </a:r>
            <a:r>
              <a:rPr dirty="0"/>
              <a:t> LLM Prompt Injection (.000 Direct, .001 Indirect); AML.T0054 LLM Jailbreak</a:t>
            </a:r>
          </a:p>
          <a:p>
            <a:r>
              <a:rPr dirty="0"/>
              <a:t>The harness process | The dispatcher's check | Editing, bypassing or disabling the check from inside the same process | </a:t>
            </a:r>
            <a:r>
              <a:rPr b="1" dirty="0"/>
              <a:t>AML.T0081</a:t>
            </a:r>
            <a:r>
              <a:rPr dirty="0"/>
              <a:t> Modify AI Agent Configuration</a:t>
            </a:r>
          </a:p>
          <a:p>
            <a:r>
              <a:rPr dirty="0"/>
              <a:t>The operating-system kernel | Kernel features (Landlock file rules, seccomp system-call filters, namespaces) or a </a:t>
            </a:r>
            <a:r>
              <a:rPr dirty="0" err="1"/>
              <a:t>microVM</a:t>
            </a:r>
            <a:r>
              <a:rPr dirty="0"/>
              <a:t> | A kernel or hypervisor vulnerability | </a:t>
            </a:r>
            <a:r>
              <a:rPr b="1" dirty="0"/>
              <a:t>AML.T0105</a:t>
            </a:r>
            <a:r>
              <a:rPr dirty="0"/>
              <a:t> Escape to Host</a:t>
            </a:r>
          </a:p>
          <a:p>
            <a:r>
              <a:rPr dirty="0"/>
              <a:t>Hardware outside the host | A processor in the network path | Compromising that processor | No agent-specific technique in release 2026.09</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A survey of </a:t>
            </a:r>
            <a:r>
              <a:rPr b="1" dirty="0"/>
              <a:t>59 papers</a:t>
            </a:r>
            <a:r>
              <a:rPr dirty="0"/>
              <a:t>, </a:t>
            </a:r>
            <a:r>
              <a:rPr b="1" dirty="0"/>
              <a:t>21 production agent systems</a:t>
            </a:r>
            <a:r>
              <a:rPr dirty="0"/>
              <a:t> and </a:t>
            </a:r>
            <a:r>
              <a:rPr b="1" dirty="0"/>
              <a:t>26 security plugins</a:t>
            </a:r>
            <a:r>
              <a:rPr dirty="0"/>
              <a:t> (Wang, Li and Tian, May 2026) finds production systems layering an </a:t>
            </a:r>
            <a:r>
              <a:rPr b="1" dirty="0"/>
              <a:t>application-level deny list</a:t>
            </a:r>
            <a:r>
              <a:rPr dirty="0"/>
              <a:t> over an operating-system sandbox (Claude Code stacks an application blocklist with an OS sandbox; Google ADK stacks </a:t>
            </a:r>
            <a:r>
              <a:rPr b="1" dirty="0" err="1"/>
              <a:t>gVisor</a:t>
            </a:r>
            <a:r>
              <a:rPr b="1" dirty="0"/>
              <a:t> with cloud IAM</a:t>
            </a:r>
            <a:r>
              <a:rPr dirty="0"/>
              <a:t>) and reports that scope configuration suffers "</a:t>
            </a:r>
            <a:r>
              <a:rPr b="1" dirty="0"/>
              <a:t>scope creep</a:t>
            </a:r>
            <a:r>
              <a:rPr dirty="0"/>
              <a:t>": scope grows during a session with no principled way to shrink it. The survey is a </a:t>
            </a:r>
            <a:r>
              <a:rPr b="1" dirty="0"/>
              <a:t>preprint</a:t>
            </a:r>
            <a:r>
              <a:rPr dirty="0"/>
              <a:t>.</a:t>
            </a:r>
          </a:p>
          <a:p>
            <a:endParaRPr dirty="0"/>
          </a:p>
          <a:p>
            <a:r>
              <a:rPr dirty="0"/>
              <a:t>Table cells in full:</a:t>
            </a:r>
          </a:p>
          <a:p>
            <a:r>
              <a:rPr dirty="0"/>
              <a:t>The model's prompt | An instruction to the model, or the model's own alignment | Persuading the model. It also weakens as tool calls accumulate (slide 39) | </a:t>
            </a:r>
            <a:r>
              <a:rPr b="1" dirty="0"/>
              <a:t>AML.T0051</a:t>
            </a:r>
            <a:r>
              <a:rPr dirty="0"/>
              <a:t> LLM Prompt Injection (.000 Direct, .001 Indirect); AML.T0054 LLM Jailbreak</a:t>
            </a:r>
          </a:p>
          <a:p>
            <a:r>
              <a:rPr dirty="0"/>
              <a:t>The harness process | The dispatcher's check | Editing, bypassing or disabling the check from inside the same process | </a:t>
            </a:r>
            <a:r>
              <a:rPr b="1" dirty="0"/>
              <a:t>AML.T0081</a:t>
            </a:r>
            <a:r>
              <a:rPr dirty="0"/>
              <a:t> Modify AI Agent Configuration</a:t>
            </a:r>
          </a:p>
          <a:p>
            <a:r>
              <a:rPr dirty="0"/>
              <a:t>The operating-system kernel | Kernel features (Landlock file rules, seccomp system-call filters, namespaces) or a </a:t>
            </a:r>
            <a:r>
              <a:rPr dirty="0" err="1"/>
              <a:t>microVM</a:t>
            </a:r>
            <a:r>
              <a:rPr dirty="0"/>
              <a:t> | A kernel or hypervisor vulnerability | </a:t>
            </a:r>
            <a:r>
              <a:rPr b="1" dirty="0"/>
              <a:t>AML.T0105</a:t>
            </a:r>
            <a:r>
              <a:rPr dirty="0"/>
              <a:t> Escape to Host</a:t>
            </a:r>
          </a:p>
          <a:p>
            <a:r>
              <a:rPr dirty="0"/>
              <a:t>Hardware outside the host | A processor in the network path | Compromising that processor | No agent-specific technique in release 2026.09</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A survey of </a:t>
            </a:r>
            <a:r>
              <a:rPr b="1" dirty="0"/>
              <a:t>59 papers</a:t>
            </a:r>
            <a:r>
              <a:rPr dirty="0"/>
              <a:t>, </a:t>
            </a:r>
            <a:r>
              <a:rPr b="1" dirty="0"/>
              <a:t>21 production agent systems</a:t>
            </a:r>
            <a:r>
              <a:rPr dirty="0"/>
              <a:t> and </a:t>
            </a:r>
            <a:r>
              <a:rPr b="1" dirty="0"/>
              <a:t>26 security plugins</a:t>
            </a:r>
            <a:r>
              <a:rPr dirty="0"/>
              <a:t> (Wang, Li and Tian, May 2026) finds production systems layering an </a:t>
            </a:r>
            <a:r>
              <a:rPr b="1" dirty="0"/>
              <a:t>application-level deny list</a:t>
            </a:r>
            <a:r>
              <a:rPr dirty="0"/>
              <a:t> over an operating-system sandbox (Claude Code stacks an application blocklist with an OS sandbox; Google ADK stacks </a:t>
            </a:r>
            <a:r>
              <a:rPr b="1" dirty="0" err="1"/>
              <a:t>gVisor</a:t>
            </a:r>
            <a:r>
              <a:rPr b="1" dirty="0"/>
              <a:t> with cloud IAM</a:t>
            </a:r>
            <a:r>
              <a:rPr dirty="0"/>
              <a:t>) and reports that scope configuration suffers "</a:t>
            </a:r>
            <a:r>
              <a:rPr b="1" dirty="0"/>
              <a:t>scope creep</a:t>
            </a:r>
            <a:r>
              <a:rPr dirty="0"/>
              <a:t>": scope grows during a session with no principled way to shrink it. The survey is a </a:t>
            </a:r>
            <a:r>
              <a:rPr b="1" dirty="0"/>
              <a:t>preprint</a:t>
            </a:r>
            <a:r>
              <a:rPr dirty="0"/>
              <a:t>.</a:t>
            </a:r>
          </a:p>
          <a:p>
            <a:endParaRPr dirty="0"/>
          </a:p>
          <a:p>
            <a:r>
              <a:rPr dirty="0"/>
              <a:t>Table cells in full:</a:t>
            </a:r>
          </a:p>
          <a:p>
            <a:r>
              <a:rPr dirty="0"/>
              <a:t>The model's prompt | An instruction to the model, or the model's own alignment | Persuading the model. It also weakens as tool calls accumulate (slide 39) | </a:t>
            </a:r>
            <a:r>
              <a:rPr b="1" dirty="0"/>
              <a:t>AML.T0051</a:t>
            </a:r>
            <a:r>
              <a:rPr dirty="0"/>
              <a:t> LLM Prompt Injection (.000 Direct, .001 Indirect); AML.T0054 LLM Jailbreak</a:t>
            </a:r>
          </a:p>
          <a:p>
            <a:r>
              <a:rPr dirty="0"/>
              <a:t>The harness process | The dispatcher's check | Editing, bypassing or disabling the check from inside the same process | </a:t>
            </a:r>
            <a:r>
              <a:rPr b="1" dirty="0"/>
              <a:t>AML.T0081</a:t>
            </a:r>
            <a:r>
              <a:rPr dirty="0"/>
              <a:t> Modify AI Agent Configuration</a:t>
            </a:r>
          </a:p>
          <a:p>
            <a:r>
              <a:rPr dirty="0"/>
              <a:t>The operating-system kernel | Kernel features (Landlock file rules, seccomp system-call filters, namespaces) or a </a:t>
            </a:r>
            <a:r>
              <a:rPr dirty="0" err="1"/>
              <a:t>microVM</a:t>
            </a:r>
            <a:r>
              <a:rPr dirty="0"/>
              <a:t> | A kernel or hypervisor vulnerability | </a:t>
            </a:r>
            <a:r>
              <a:rPr b="1" dirty="0"/>
              <a:t>AML.T0105</a:t>
            </a:r>
            <a:r>
              <a:rPr dirty="0"/>
              <a:t> Escape to Host</a:t>
            </a:r>
          </a:p>
          <a:p>
            <a:r>
              <a:rPr dirty="0"/>
              <a:t>Hardware outside the host | A processor in the network path | Compromising that processor | No agent-specific technique in release 2026.09</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six techniques of this lecture enter the tool call at </a:t>
            </a:r>
            <a:r>
              <a:rPr b="1" dirty="0"/>
              <a:t>two kinds of place</a:t>
            </a:r>
            <a:r>
              <a:rPr dirty="0"/>
              <a:t>. Three enter through text that the model reads or writes: </a:t>
            </a:r>
            <a:r>
              <a:rPr b="1" dirty="0"/>
              <a:t>definition poisoning</a:t>
            </a:r>
            <a:r>
              <a:rPr dirty="0"/>
              <a:t> through tools/list (steps 1 and 2 of the sequence diagram of the removed slide 46 (“End-to-end path of an MCP tool call”)), </a:t>
            </a:r>
            <a:r>
              <a:rPr b="1" dirty="0"/>
              <a:t>runtime-response poisoning</a:t>
            </a:r>
            <a:r>
              <a:rPr dirty="0"/>
              <a:t> through the result of tools/call (steps 7 and 8) and </a:t>
            </a:r>
            <a:r>
              <a:rPr b="1" dirty="0"/>
              <a:t>exfiltration</a:t>
            </a:r>
            <a:r>
              <a:rPr dirty="0"/>
              <a:t> through the arguments of the call (steps 5 and 6). Three enter through a process: </a:t>
            </a:r>
            <a:r>
              <a:rPr b="1" dirty="0"/>
              <a:t>implementation poisoning</a:t>
            </a:r>
            <a:r>
              <a:rPr dirty="0"/>
              <a:t> in the server process (step 6), </a:t>
            </a:r>
            <a:r>
              <a:rPr b="1" dirty="0"/>
              <a:t>credentials from configuration</a:t>
            </a:r>
            <a:r>
              <a:rPr dirty="0"/>
              <a:t> in the environment of the server or the host (before step 1) and </a:t>
            </a:r>
            <a:r>
              <a:rPr b="1" dirty="0"/>
              <a:t>Escape to Host</a:t>
            </a:r>
            <a:r>
              <a:rPr dirty="0"/>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six techniques of this lecture enter the tool call at </a:t>
            </a:r>
            <a:r>
              <a:rPr b="1" dirty="0"/>
              <a:t>two kinds of place</a:t>
            </a:r>
            <a:r>
              <a:rPr dirty="0"/>
              <a:t>. Three enter through text that the model reads or writes: </a:t>
            </a:r>
            <a:r>
              <a:rPr b="1" dirty="0"/>
              <a:t>definition poisoning</a:t>
            </a:r>
            <a:r>
              <a:rPr dirty="0"/>
              <a:t> through tools/list (steps 1 and 2 of the sequence diagram of the removed slide 46 (“End-to-end path of an MCP tool call”)), </a:t>
            </a:r>
            <a:r>
              <a:rPr b="1" dirty="0"/>
              <a:t>runtime-response poisoning</a:t>
            </a:r>
            <a:r>
              <a:rPr dirty="0"/>
              <a:t> through the result of tools/call (steps 7 and 8) and </a:t>
            </a:r>
            <a:r>
              <a:rPr b="1" dirty="0"/>
              <a:t>exfiltration</a:t>
            </a:r>
            <a:r>
              <a:rPr dirty="0"/>
              <a:t> through the arguments of the call (steps 5 and 6). Three enter through a process: </a:t>
            </a:r>
            <a:r>
              <a:rPr b="1" dirty="0"/>
              <a:t>implementation poisoning</a:t>
            </a:r>
            <a:r>
              <a:rPr dirty="0"/>
              <a:t> in the server process (step 6), </a:t>
            </a:r>
            <a:r>
              <a:rPr b="1" dirty="0"/>
              <a:t>credentials from configuration</a:t>
            </a:r>
            <a:r>
              <a:rPr dirty="0"/>
              <a:t> in the environment of the server or the host (before step 1) and </a:t>
            </a:r>
            <a:r>
              <a:rPr b="1" dirty="0"/>
              <a:t>Escape to Host</a:t>
            </a:r>
            <a:r>
              <a:rPr dirty="0"/>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six techniques of this lecture enter the tool call at </a:t>
            </a:r>
            <a:r>
              <a:rPr b="1" dirty="0"/>
              <a:t>two kinds of place</a:t>
            </a:r>
            <a:r>
              <a:rPr dirty="0"/>
              <a:t>. Three enter through text that the model reads or writes: </a:t>
            </a:r>
            <a:r>
              <a:rPr b="1" dirty="0"/>
              <a:t>definition poisoning</a:t>
            </a:r>
            <a:r>
              <a:rPr dirty="0"/>
              <a:t> through tools/list (steps 1 and 2 of the sequence diagram of the removed slide 46 (“End-to-end path of an MCP tool call”)), </a:t>
            </a:r>
            <a:r>
              <a:rPr b="1" dirty="0"/>
              <a:t>runtime-response poisoning</a:t>
            </a:r>
            <a:r>
              <a:rPr dirty="0"/>
              <a:t> through the result of tools/call (steps 7 and 8) and </a:t>
            </a:r>
            <a:r>
              <a:rPr b="1" dirty="0"/>
              <a:t>exfiltration</a:t>
            </a:r>
            <a:r>
              <a:rPr dirty="0"/>
              <a:t> through the arguments of the call (steps 5 and 6). Three enter through a process: </a:t>
            </a:r>
            <a:r>
              <a:rPr b="1" dirty="0"/>
              <a:t>implementation poisoning</a:t>
            </a:r>
            <a:r>
              <a:rPr dirty="0"/>
              <a:t> in the server process (step 6), </a:t>
            </a:r>
            <a:r>
              <a:rPr b="1" dirty="0"/>
              <a:t>credentials from configuration</a:t>
            </a:r>
            <a:r>
              <a:rPr dirty="0"/>
              <a:t> in the environment of the server or the host (before step 1) and </a:t>
            </a:r>
            <a:r>
              <a:rPr b="1" dirty="0"/>
              <a:t>Escape to Host</a:t>
            </a:r>
            <a:r>
              <a:rPr dirty="0"/>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six techniques of this lecture enter the tool call at </a:t>
            </a:r>
            <a:r>
              <a:rPr b="1" dirty="0"/>
              <a:t>two kinds of place</a:t>
            </a:r>
            <a:r>
              <a:rPr dirty="0"/>
              <a:t>. Three enter through text that the model reads or writes: </a:t>
            </a:r>
            <a:r>
              <a:rPr b="1" dirty="0"/>
              <a:t>definition poisoning</a:t>
            </a:r>
            <a:r>
              <a:rPr dirty="0"/>
              <a:t> through tools/list (steps 1 and 2 of the sequence diagram of the removed slide 46 (“End-to-end path of an MCP tool call”)), </a:t>
            </a:r>
            <a:r>
              <a:rPr b="1" dirty="0"/>
              <a:t>runtime-response poisoning</a:t>
            </a:r>
            <a:r>
              <a:rPr dirty="0"/>
              <a:t> through the result of tools/call (steps 7 and 8) and </a:t>
            </a:r>
            <a:r>
              <a:rPr b="1" dirty="0"/>
              <a:t>exfiltration</a:t>
            </a:r>
            <a:r>
              <a:rPr dirty="0"/>
              <a:t> through the arguments of the call (steps 5 and 6). Three enter through a process: </a:t>
            </a:r>
            <a:r>
              <a:rPr b="1" dirty="0"/>
              <a:t>implementation poisoning</a:t>
            </a:r>
            <a:r>
              <a:rPr dirty="0"/>
              <a:t> in the server process (step 6), </a:t>
            </a:r>
            <a:r>
              <a:rPr b="1" dirty="0"/>
              <a:t>credentials from configuration</a:t>
            </a:r>
            <a:r>
              <a:rPr dirty="0"/>
              <a:t> in the environment of the server or the host (before step 1) and </a:t>
            </a:r>
            <a:r>
              <a:rPr b="1" dirty="0"/>
              <a:t>Escape to Host</a:t>
            </a:r>
            <a:r>
              <a:rPr dirty="0"/>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six techniques of this lecture enter the tool call at </a:t>
            </a:r>
            <a:r>
              <a:rPr b="1" dirty="0"/>
              <a:t>two kinds of place</a:t>
            </a:r>
            <a:r>
              <a:rPr dirty="0"/>
              <a:t>. Three enter through text that the model reads or writes: </a:t>
            </a:r>
            <a:r>
              <a:rPr b="1" dirty="0"/>
              <a:t>definition poisoning</a:t>
            </a:r>
            <a:r>
              <a:rPr dirty="0"/>
              <a:t> through tools/list (steps 1 and 2 of the sequence diagram of the removed slide 46 (“End-to-end path of an MCP tool call”)), </a:t>
            </a:r>
            <a:r>
              <a:rPr b="1" dirty="0"/>
              <a:t>runtime-response poisoning</a:t>
            </a:r>
            <a:r>
              <a:rPr dirty="0"/>
              <a:t> through the result of tools/call (steps 7 and 8) and </a:t>
            </a:r>
            <a:r>
              <a:rPr b="1" dirty="0"/>
              <a:t>exfiltration</a:t>
            </a:r>
            <a:r>
              <a:rPr dirty="0"/>
              <a:t> through the arguments of the call (steps 5 and 6). Three enter through a process: </a:t>
            </a:r>
            <a:r>
              <a:rPr b="1" dirty="0"/>
              <a:t>implementation poisoning</a:t>
            </a:r>
            <a:r>
              <a:rPr dirty="0"/>
              <a:t> in the server process (step 6), </a:t>
            </a:r>
            <a:r>
              <a:rPr b="1" dirty="0"/>
              <a:t>credentials from configuration</a:t>
            </a:r>
            <a:r>
              <a:rPr dirty="0"/>
              <a:t> in the environment of the server or the host (before step 1) and </a:t>
            </a:r>
            <a:r>
              <a:rPr b="1" dirty="0"/>
              <a:t>Escape to Host</a:t>
            </a:r>
            <a:r>
              <a:rPr dirty="0"/>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six techniques of this lecture enter the tool call at </a:t>
            </a:r>
            <a:r>
              <a:rPr b="1" dirty="0"/>
              <a:t>two kinds of place</a:t>
            </a:r>
            <a:r>
              <a:rPr dirty="0"/>
              <a:t>. Three enter through text that the model reads or writes: </a:t>
            </a:r>
            <a:r>
              <a:rPr b="1" dirty="0"/>
              <a:t>definition poisoning</a:t>
            </a:r>
            <a:r>
              <a:rPr dirty="0"/>
              <a:t> through tools/list (steps 1 and 2 of the sequence diagram of the removed slide 46 (“End-to-end path of an MCP tool call”)), </a:t>
            </a:r>
            <a:r>
              <a:rPr b="1" dirty="0"/>
              <a:t>runtime-response poisoning</a:t>
            </a:r>
            <a:r>
              <a:rPr dirty="0"/>
              <a:t> through the result of tools/call (steps 7 and 8) and </a:t>
            </a:r>
            <a:r>
              <a:rPr b="1" dirty="0"/>
              <a:t>exfiltration</a:t>
            </a:r>
            <a:r>
              <a:rPr dirty="0"/>
              <a:t> through the arguments of the call (steps 5 and 6). Three enter through a process: </a:t>
            </a:r>
            <a:r>
              <a:rPr b="1" dirty="0"/>
              <a:t>implementation poisoning</a:t>
            </a:r>
            <a:r>
              <a:rPr dirty="0"/>
              <a:t> in the server process (step 6), </a:t>
            </a:r>
            <a:r>
              <a:rPr b="1" dirty="0"/>
              <a:t>credentials from configuration</a:t>
            </a:r>
            <a:r>
              <a:rPr dirty="0"/>
              <a:t> in the environment of the server or the host (before step 1) and </a:t>
            </a:r>
            <a:r>
              <a:rPr b="1" dirty="0"/>
              <a:t>Escape to Host</a:t>
            </a:r>
            <a:r>
              <a:rPr dirty="0"/>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six techniques of this lecture enter the tool call at </a:t>
            </a:r>
            <a:r>
              <a:rPr b="1" dirty="0"/>
              <a:t>two kinds of place</a:t>
            </a:r>
            <a:r>
              <a:rPr dirty="0"/>
              <a:t>. Three enter through text that the model reads or writes: </a:t>
            </a:r>
            <a:r>
              <a:rPr b="1" dirty="0"/>
              <a:t>definition poisoning</a:t>
            </a:r>
            <a:r>
              <a:rPr dirty="0"/>
              <a:t> through tools/list (steps 1 and 2 of the sequence diagram of the removed slide 46 (“End-to-end path of an MCP tool call”)), </a:t>
            </a:r>
            <a:r>
              <a:rPr b="1" dirty="0"/>
              <a:t>runtime-response poisoning</a:t>
            </a:r>
            <a:r>
              <a:rPr dirty="0"/>
              <a:t> through the result of tools/call (steps 7 and 8) and </a:t>
            </a:r>
            <a:r>
              <a:rPr b="1" dirty="0"/>
              <a:t>exfiltration</a:t>
            </a:r>
            <a:r>
              <a:rPr dirty="0"/>
              <a:t> through the arguments of the call (steps 5 and 6). Three enter through a process: </a:t>
            </a:r>
            <a:r>
              <a:rPr b="1" dirty="0"/>
              <a:t>implementation poisoning</a:t>
            </a:r>
            <a:r>
              <a:rPr dirty="0"/>
              <a:t> in the server process (step 6), </a:t>
            </a:r>
            <a:r>
              <a:rPr b="1" dirty="0"/>
              <a:t>credentials from configuration</a:t>
            </a:r>
            <a:r>
              <a:rPr dirty="0"/>
              <a:t> in the environment of the server or the host (before step 1) and </a:t>
            </a:r>
            <a:r>
              <a:rPr b="1" dirty="0"/>
              <a:t>Escape to Host</a:t>
            </a:r>
            <a:r>
              <a:rPr dirty="0"/>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previous section showed that a rule must run outside the agent's process, and that the </a:t>
            </a:r>
            <a:r>
              <a:rPr b="1" dirty="0"/>
              <a:t>kernel can see a local file read</a:t>
            </a:r>
            <a:r>
              <a:rPr dirty="0"/>
              <a:t>. </a:t>
            </a:r>
            <a:r>
              <a:rPr b="1" dirty="0"/>
              <a:t>NVIDIA OpenShell</a:t>
            </a:r>
            <a:r>
              <a:rPr dirty="0"/>
              <a:t> is a runtime that </a:t>
            </a:r>
            <a:r>
              <a:rPr b="1" dirty="0"/>
              <a:t>enforces a rule from there</a:t>
            </a:r>
            <a:r>
              <a:rPr dirty="0"/>
              <a:t> for an </a:t>
            </a:r>
            <a:r>
              <a:rPr b="1" dirty="0"/>
              <a:t>unmodified agent</a:t>
            </a:r>
            <a:r>
              <a:rPr dirty="0"/>
              <a:t>. This section describes OpenShell, </a:t>
            </a:r>
            <a:r>
              <a:rPr b="1" dirty="0"/>
              <a:t>what it covers</a:t>
            </a:r>
            <a:r>
              <a:rPr dirty="0"/>
              <a:t> and </a:t>
            </a:r>
            <a:r>
              <a:rPr b="1" dirty="0"/>
              <a:t>what it leaves out</a:t>
            </a:r>
            <a:r>
              <a:rPr dirty="0"/>
              <a:t>, then the </a:t>
            </a:r>
            <a:r>
              <a:rPr b="1" dirty="0"/>
              <a:t>research on the mechanisms</a:t>
            </a:r>
            <a:r>
              <a:rPr dirty="0"/>
              <a:t> beneath it.</a:t>
            </a: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dirty="0"/>
              <a:t>Version 0.1.3</a:t>
            </a:r>
            <a:r>
              <a:rPr dirty="0"/>
              <a:t> is in </a:t>
            </a:r>
            <a:r>
              <a:rPr b="1" dirty="0"/>
              <a:t>pre-release</a:t>
            </a:r>
            <a:r>
              <a:rPr dirty="0"/>
              <a:t> at the checkout. </a:t>
            </a:r>
            <a:r>
              <a:rPr b="1" dirty="0"/>
              <a:t>NVIDIA's stated motivation</a:t>
            </a:r>
            <a:r>
              <a:rPr dirty="0"/>
              <a:t> at the September launch, as press coverage reports it: an agent </a:t>
            </a:r>
            <a:r>
              <a:rPr b="1" dirty="0"/>
              <a:t>circumventing application-layer controls</a:t>
            </a:r>
            <a:r>
              <a:rPr dirty="0"/>
              <a:t> to finish its assigned task. </a:t>
            </a:r>
            <a:r>
              <a:rPr b="1" dirty="0"/>
              <a:t>No peer-reviewed evaluation</a:t>
            </a:r>
            <a:r>
              <a:rPr dirty="0"/>
              <a:t> of OpenShell exists as of October 2026.</a:t>
            </a: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dirty="0"/>
              <a:t>Version 0.1.3</a:t>
            </a:r>
            <a:r>
              <a:rPr dirty="0"/>
              <a:t> is in </a:t>
            </a:r>
            <a:r>
              <a:rPr b="1" dirty="0"/>
              <a:t>pre-release</a:t>
            </a:r>
            <a:r>
              <a:rPr dirty="0"/>
              <a:t> at the checkout. </a:t>
            </a:r>
            <a:r>
              <a:rPr b="1" dirty="0"/>
              <a:t>NVIDIA's stated motivation</a:t>
            </a:r>
            <a:r>
              <a:rPr dirty="0"/>
              <a:t> at the September launch, as press coverage reports it: an agent </a:t>
            </a:r>
            <a:r>
              <a:rPr b="1" dirty="0"/>
              <a:t>circumventing application-layer controls</a:t>
            </a:r>
            <a:r>
              <a:rPr dirty="0"/>
              <a:t> to finish its assigned task. </a:t>
            </a:r>
            <a:r>
              <a:rPr b="1" dirty="0"/>
              <a:t>No peer-reviewed evaluation</a:t>
            </a:r>
            <a:r>
              <a:rPr dirty="0"/>
              <a:t> of OpenShell exists as of October 2026.</a:t>
            </a: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dirty="0"/>
              <a:t>Version 0.1.3</a:t>
            </a:r>
            <a:r>
              <a:rPr dirty="0"/>
              <a:t> is in </a:t>
            </a:r>
            <a:r>
              <a:rPr b="1" dirty="0"/>
              <a:t>pre-release</a:t>
            </a:r>
            <a:r>
              <a:rPr dirty="0"/>
              <a:t> at the checkout. </a:t>
            </a:r>
            <a:r>
              <a:rPr b="1" dirty="0"/>
              <a:t>NVIDIA's stated motivation</a:t>
            </a:r>
            <a:r>
              <a:rPr dirty="0"/>
              <a:t> at the September launch, as press coverage reports it: an agent </a:t>
            </a:r>
            <a:r>
              <a:rPr b="1" dirty="0"/>
              <a:t>circumventing application-layer controls</a:t>
            </a:r>
            <a:r>
              <a:rPr dirty="0"/>
              <a:t> to finish its assigned task. </a:t>
            </a:r>
            <a:r>
              <a:rPr b="1" dirty="0"/>
              <a:t>No peer-reviewed evaluation</a:t>
            </a:r>
            <a:r>
              <a:rPr dirty="0"/>
              <a:t> of OpenShell exists as of October 2026.</a:t>
            </a: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dirty="0"/>
              <a:t>Version 0.1.3</a:t>
            </a:r>
            <a:r>
              <a:rPr dirty="0"/>
              <a:t> is in </a:t>
            </a:r>
            <a:r>
              <a:rPr b="1" dirty="0"/>
              <a:t>pre-release</a:t>
            </a:r>
            <a:r>
              <a:rPr dirty="0"/>
              <a:t> at the checkout. </a:t>
            </a:r>
            <a:r>
              <a:rPr b="1" dirty="0"/>
              <a:t>NVIDIA's stated motivation</a:t>
            </a:r>
            <a:r>
              <a:rPr dirty="0"/>
              <a:t> at the September launch, as press coverage reports it: an agent </a:t>
            </a:r>
            <a:r>
              <a:rPr b="1" dirty="0"/>
              <a:t>circumventing application-layer controls</a:t>
            </a:r>
            <a:r>
              <a:rPr dirty="0"/>
              <a:t> to finish its assigned task. </a:t>
            </a:r>
            <a:r>
              <a:rPr b="1" dirty="0"/>
              <a:t>No peer-reviewed evaluation</a:t>
            </a:r>
            <a:r>
              <a:rPr dirty="0"/>
              <a:t> of OpenShell exists as of October 2026.</a:t>
            </a: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dirty="0"/>
              <a:t>Version 0.1.3</a:t>
            </a:r>
            <a:r>
              <a:rPr dirty="0"/>
              <a:t> is in </a:t>
            </a:r>
            <a:r>
              <a:rPr b="1" dirty="0"/>
              <a:t>pre-release</a:t>
            </a:r>
            <a:r>
              <a:rPr dirty="0"/>
              <a:t> at the checkout. </a:t>
            </a:r>
            <a:r>
              <a:rPr b="1" dirty="0"/>
              <a:t>NVIDIA's stated motivation</a:t>
            </a:r>
            <a:r>
              <a:rPr dirty="0"/>
              <a:t> at the September launch, as press coverage reports it: an agent </a:t>
            </a:r>
            <a:r>
              <a:rPr b="1" dirty="0"/>
              <a:t>circumventing application-layer controls</a:t>
            </a:r>
            <a:r>
              <a:rPr dirty="0"/>
              <a:t> to finish its assigned task. </a:t>
            </a:r>
            <a:r>
              <a:rPr b="1" dirty="0"/>
              <a:t>No peer-reviewed evaluation</a:t>
            </a:r>
            <a:r>
              <a:rPr dirty="0"/>
              <a:t> of OpenShell exists as of October 2026.</a:t>
            </a: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a:t>
            </a:r>
            <a:r>
              <a:rPr dirty="0" err="1"/>
              <a:t>Cyberbird</a:t>
            </a:r>
            <a:r>
              <a:rPr dirty="0"/>
              <a:t>, the course's reactive agent from lecture 2, working Bandit's SQL injection alert bc284c6b at </a:t>
            </a:r>
            <a:r>
              <a:rPr dirty="0" err="1"/>
              <a:t>testcode</a:t>
            </a:r>
            <a:r>
              <a:rPr dirty="0"/>
              <a:t>/BenchmarkTest00283.py line 46 of its OWASP fixture.</a:t>
            </a:r>
          </a:p>
          <a:p>
            <a:endParaRPr dirty="0"/>
          </a:p>
          <a:p>
            <a:r>
              <a:rPr dirty="0"/>
              <a:t>We ran </a:t>
            </a:r>
            <a:r>
              <a:rPr dirty="0" err="1"/>
              <a:t>Cyberbird</a:t>
            </a:r>
            <a:r>
              <a:rPr dirty="0"/>
              <a:t> inside OpenShell 0.1.4 on October 15, 2026 (Colima on the instructor's Mac, model openai:qwen3.8-27b on the local llama-swap server): it read the case and helpers/</a:t>
            </a:r>
            <a:r>
              <a:rPr dirty="0" err="1"/>
              <a:t>db_sqlite.py</a:t>
            </a:r>
            <a:r>
              <a:rPr dirty="0"/>
              <a:t> in a disposable copy of the fixture, searched four times, edited the case, ran bandit when it submitted, and finished ACCEPTED after 8 model calls in 13.5 s. The captures are in instructor-materials/hw2/feasibility/</a:t>
            </a:r>
            <a:r>
              <a:rPr dirty="0" err="1"/>
              <a:t>cyberbird</a:t>
            </a:r>
            <a:r>
              <a:rPr dirty="0"/>
              <a:t>/.</a:t>
            </a:r>
          </a:p>
          <a:p>
            <a:endParaRPr dirty="0"/>
          </a:p>
          <a:p>
            <a:r>
              <a:rPr dirty="0"/>
              <a:t>The figure, stage by stage.</a:t>
            </a:r>
          </a:p>
          <a:p>
            <a:r>
              <a:rPr dirty="0"/>
              <a:t>1. Files: open(), read() and write() reach the repository, the key and the workspace. The other two arrows are reserved as ghosts.</a:t>
            </a:r>
          </a:p>
          <a:p>
            <a:r>
              <a:rPr dirty="0"/>
              <a:t>2. Processes: fork() and </a:t>
            </a:r>
            <a:r>
              <a:rPr dirty="0" err="1"/>
              <a:t>execve</a:t>
            </a:r>
            <a:r>
              <a:rPr dirty="0"/>
              <a:t>() start a shell, Python or a scanner, each a child with the agent's authority.</a:t>
            </a:r>
          </a:p>
          <a:p>
            <a:r>
              <a:rPr dirty="0"/>
              <a:t>3. Connections: connect() reaches the model's API, GitHub, or anything else on the network.</a:t>
            </a:r>
          </a:p>
          <a:p>
            <a:r>
              <a:rPr dirty="0"/>
              <a:t>4. The dashed line: a rule can sit below the program, where the kernel decides every request.</a:t>
            </a:r>
          </a:p>
          <a:p>
            <a:r>
              <a:rPr dirty="0"/>
              <a:t>5. In action: </a:t>
            </a:r>
            <a:r>
              <a:rPr dirty="0" err="1"/>
              <a:t>cyberbird</a:t>
            </a:r>
            <a:r>
              <a:rPr dirty="0"/>
              <a:t> works alert bc284c6b. It reads BenchmarkTest00283.py and helpers/ in its workspace copy, runs python and bandit, and connects to the model server.</a:t>
            </a: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a:t>
            </a:r>
            <a:r>
              <a:rPr dirty="0" err="1"/>
              <a:t>Cyberbird</a:t>
            </a:r>
            <a:r>
              <a:rPr dirty="0"/>
              <a:t>, the course's reactive agent from lecture 2, working Bandit's SQL injection alert bc284c6b at </a:t>
            </a:r>
            <a:r>
              <a:rPr dirty="0" err="1"/>
              <a:t>testcode</a:t>
            </a:r>
            <a:r>
              <a:rPr dirty="0"/>
              <a:t>/BenchmarkTest00283.py line 46 of its OWASP fixture.</a:t>
            </a:r>
          </a:p>
          <a:p>
            <a:endParaRPr dirty="0"/>
          </a:p>
          <a:p>
            <a:r>
              <a:rPr dirty="0"/>
              <a:t>We ran </a:t>
            </a:r>
            <a:r>
              <a:rPr dirty="0" err="1"/>
              <a:t>Cyberbird</a:t>
            </a:r>
            <a:r>
              <a:rPr dirty="0"/>
              <a:t> inside OpenShell 0.1.4 on October 15, 2026 (Colima on the instructor's Mac, model openai:qwen3.8-27b on the local llama-swap server): it read the case and helpers/</a:t>
            </a:r>
            <a:r>
              <a:rPr dirty="0" err="1"/>
              <a:t>db_sqlite.py</a:t>
            </a:r>
            <a:r>
              <a:rPr dirty="0"/>
              <a:t> in a disposable copy of the fixture, searched four times, edited the case, ran bandit when it submitted, and finished ACCEPTED after 8 model calls in 13.5 s. The captures are in instructor-materials/hw2/feasibility/</a:t>
            </a:r>
            <a:r>
              <a:rPr dirty="0" err="1"/>
              <a:t>cyberbird</a:t>
            </a:r>
            <a:r>
              <a:rPr dirty="0"/>
              <a:t>/.</a:t>
            </a:r>
          </a:p>
          <a:p>
            <a:endParaRPr dirty="0"/>
          </a:p>
          <a:p>
            <a:r>
              <a:rPr dirty="0"/>
              <a:t>The figure, stage by stage.</a:t>
            </a:r>
          </a:p>
          <a:p>
            <a:r>
              <a:rPr dirty="0"/>
              <a:t>1. Files: open(), read() and write() reach the repository, the key and the workspace. The other two arrows are reserved as ghosts.</a:t>
            </a:r>
          </a:p>
          <a:p>
            <a:r>
              <a:rPr dirty="0"/>
              <a:t>2. Processes: fork() and </a:t>
            </a:r>
            <a:r>
              <a:rPr dirty="0" err="1"/>
              <a:t>execve</a:t>
            </a:r>
            <a:r>
              <a:rPr dirty="0"/>
              <a:t>() start a shell, Python or a scanner, each a child with the agent's authority.</a:t>
            </a:r>
          </a:p>
          <a:p>
            <a:r>
              <a:rPr dirty="0"/>
              <a:t>3. Connections: connect() reaches the model's API, GitHub, or anything else on the network.</a:t>
            </a:r>
          </a:p>
          <a:p>
            <a:r>
              <a:rPr dirty="0"/>
              <a:t>4. The dashed line: a rule can sit below the program, where the kernel decides every request.</a:t>
            </a:r>
          </a:p>
          <a:p>
            <a:r>
              <a:rPr dirty="0"/>
              <a:t>5. In action: </a:t>
            </a:r>
            <a:r>
              <a:rPr dirty="0" err="1"/>
              <a:t>cyberbird</a:t>
            </a:r>
            <a:r>
              <a:rPr dirty="0"/>
              <a:t> works alert bc284c6b. It reads BenchmarkTest00283.py and helpers/ in its workspace copy, runs python and bandit, and connects to the model server.</a:t>
            </a: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a:t>
            </a:r>
            <a:r>
              <a:rPr dirty="0" err="1"/>
              <a:t>Cyberbird</a:t>
            </a:r>
            <a:r>
              <a:rPr dirty="0"/>
              <a:t>, the course's reactive agent from lecture 2, working Bandit's SQL injection alert bc284c6b at </a:t>
            </a:r>
            <a:r>
              <a:rPr dirty="0" err="1"/>
              <a:t>testcode</a:t>
            </a:r>
            <a:r>
              <a:rPr dirty="0"/>
              <a:t>/BenchmarkTest00283.py line 46 of its OWASP fixture.</a:t>
            </a:r>
          </a:p>
          <a:p>
            <a:endParaRPr dirty="0"/>
          </a:p>
          <a:p>
            <a:r>
              <a:rPr dirty="0"/>
              <a:t>We ran </a:t>
            </a:r>
            <a:r>
              <a:rPr dirty="0" err="1"/>
              <a:t>Cyberbird</a:t>
            </a:r>
            <a:r>
              <a:rPr dirty="0"/>
              <a:t> inside OpenShell 0.1.4 on October 15, 2026 (Colima on the instructor's Mac, model openai:qwen3.8-27b on the local llama-swap server): it read the case and helpers/</a:t>
            </a:r>
            <a:r>
              <a:rPr dirty="0" err="1"/>
              <a:t>db_sqlite.py</a:t>
            </a:r>
            <a:r>
              <a:rPr dirty="0"/>
              <a:t> in a disposable copy of the fixture, searched four times, edited the case, ran bandit when it submitted, and finished ACCEPTED after 8 model calls in 13.5 s. The captures are in instructor-materials/hw2/feasibility/</a:t>
            </a:r>
            <a:r>
              <a:rPr dirty="0" err="1"/>
              <a:t>cyberbird</a:t>
            </a:r>
            <a:r>
              <a:rPr dirty="0"/>
              <a:t>/.</a:t>
            </a:r>
          </a:p>
          <a:p>
            <a:endParaRPr dirty="0"/>
          </a:p>
          <a:p>
            <a:r>
              <a:rPr dirty="0"/>
              <a:t>The figure, stage by stage.</a:t>
            </a:r>
          </a:p>
          <a:p>
            <a:r>
              <a:rPr dirty="0"/>
              <a:t>1. Files: open(), read() and write() reach the repository, the key and the workspace. The other two arrows are reserved as ghosts.</a:t>
            </a:r>
          </a:p>
          <a:p>
            <a:r>
              <a:rPr dirty="0"/>
              <a:t>2. Processes: fork() and </a:t>
            </a:r>
            <a:r>
              <a:rPr dirty="0" err="1"/>
              <a:t>execve</a:t>
            </a:r>
            <a:r>
              <a:rPr dirty="0"/>
              <a:t>() start a shell, Python or a scanner, each a child with the agent's authority.</a:t>
            </a:r>
          </a:p>
          <a:p>
            <a:r>
              <a:rPr dirty="0"/>
              <a:t>3. Connections: connect() reaches the model's API, GitHub, or anything else on the network.</a:t>
            </a:r>
          </a:p>
          <a:p>
            <a:r>
              <a:rPr dirty="0"/>
              <a:t>4. The dashed line: a rule can sit below the program, where the kernel decides every request.</a:t>
            </a:r>
          </a:p>
          <a:p>
            <a:r>
              <a:rPr dirty="0"/>
              <a:t>5. In action: </a:t>
            </a:r>
            <a:r>
              <a:rPr dirty="0" err="1"/>
              <a:t>cyberbird</a:t>
            </a:r>
            <a:r>
              <a:rPr dirty="0"/>
              <a:t> works alert bc284c6b. It reads BenchmarkTest00283.py and helpers/ in its workspace copy, runs python and bandit, and connects to the model server.</a:t>
            </a: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a:t>
            </a:r>
            <a:r>
              <a:rPr dirty="0" err="1"/>
              <a:t>Cyberbird</a:t>
            </a:r>
            <a:r>
              <a:rPr dirty="0"/>
              <a:t>, the course's reactive agent from lecture 2, working Bandit's SQL injection alert bc284c6b at </a:t>
            </a:r>
            <a:r>
              <a:rPr dirty="0" err="1"/>
              <a:t>testcode</a:t>
            </a:r>
            <a:r>
              <a:rPr dirty="0"/>
              <a:t>/BenchmarkTest00283.py line 46 of its OWASP fixture.</a:t>
            </a:r>
          </a:p>
          <a:p>
            <a:endParaRPr dirty="0"/>
          </a:p>
          <a:p>
            <a:r>
              <a:rPr dirty="0"/>
              <a:t>We ran </a:t>
            </a:r>
            <a:r>
              <a:rPr dirty="0" err="1"/>
              <a:t>Cyberbird</a:t>
            </a:r>
            <a:r>
              <a:rPr dirty="0"/>
              <a:t> inside OpenShell 0.1.4 on October 15, 2026 (Colima on the instructor's Mac, model openai:qwen3.8-27b on the local llama-swap server): it read the case and helpers/</a:t>
            </a:r>
            <a:r>
              <a:rPr dirty="0" err="1"/>
              <a:t>db_sqlite.py</a:t>
            </a:r>
            <a:r>
              <a:rPr dirty="0"/>
              <a:t> in a disposable copy of the fixture, searched four times, edited the case, ran bandit when it submitted, and finished ACCEPTED after 8 model calls in 13.5 s. The captures are in instructor-materials/hw2/feasibility/</a:t>
            </a:r>
            <a:r>
              <a:rPr dirty="0" err="1"/>
              <a:t>cyberbird</a:t>
            </a:r>
            <a:r>
              <a:rPr dirty="0"/>
              <a:t>/.</a:t>
            </a:r>
          </a:p>
          <a:p>
            <a:endParaRPr dirty="0"/>
          </a:p>
          <a:p>
            <a:r>
              <a:rPr dirty="0"/>
              <a:t>The figure, stage by stage.</a:t>
            </a:r>
          </a:p>
          <a:p>
            <a:r>
              <a:rPr dirty="0"/>
              <a:t>1. Files: open(), read() and write() reach the repository, the key and the workspace. The other two arrows are reserved as ghosts.</a:t>
            </a:r>
          </a:p>
          <a:p>
            <a:r>
              <a:rPr dirty="0"/>
              <a:t>2. Processes: fork() and </a:t>
            </a:r>
            <a:r>
              <a:rPr dirty="0" err="1"/>
              <a:t>execve</a:t>
            </a:r>
            <a:r>
              <a:rPr dirty="0"/>
              <a:t>() start a shell, Python or a scanner, each a child with the agent's authority.</a:t>
            </a:r>
          </a:p>
          <a:p>
            <a:r>
              <a:rPr dirty="0"/>
              <a:t>3. Connections: connect() reaches the model's API, GitHub, or anything else on the network.</a:t>
            </a:r>
          </a:p>
          <a:p>
            <a:r>
              <a:rPr dirty="0"/>
              <a:t>4. The dashed line: a rule can sit below the program, where the kernel decides every request.</a:t>
            </a:r>
          </a:p>
          <a:p>
            <a:r>
              <a:rPr dirty="0"/>
              <a:t>5. In action: </a:t>
            </a:r>
            <a:r>
              <a:rPr dirty="0" err="1"/>
              <a:t>cyberbird</a:t>
            </a:r>
            <a:r>
              <a:rPr dirty="0"/>
              <a:t> works alert bc284c6b. It reads BenchmarkTest00283.py and helpers/ in its workspace copy, runs python and bandit, and connects to the model server.</a:t>
            </a: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a:t>
            </a:r>
            <a:r>
              <a:rPr dirty="0" err="1"/>
              <a:t>Cyberbird</a:t>
            </a:r>
            <a:r>
              <a:rPr dirty="0"/>
              <a:t>, the course's reactive agent from lecture 2, working Bandit's SQL injection alert bc284c6b at </a:t>
            </a:r>
            <a:r>
              <a:rPr dirty="0" err="1"/>
              <a:t>testcode</a:t>
            </a:r>
            <a:r>
              <a:rPr dirty="0"/>
              <a:t>/BenchmarkTest00283.py line 46 of its OWASP fixture.</a:t>
            </a:r>
          </a:p>
          <a:p>
            <a:endParaRPr dirty="0"/>
          </a:p>
          <a:p>
            <a:r>
              <a:rPr dirty="0"/>
              <a:t>We ran </a:t>
            </a:r>
            <a:r>
              <a:rPr dirty="0" err="1"/>
              <a:t>Cyberbird</a:t>
            </a:r>
            <a:r>
              <a:rPr dirty="0"/>
              <a:t> inside OpenShell 0.1.4 on October 15, 2026 (Colima on the instructor's Mac, model openai:qwen3.8-27b on the local llama-swap server): it read the case and helpers/</a:t>
            </a:r>
            <a:r>
              <a:rPr dirty="0" err="1"/>
              <a:t>db_sqlite.py</a:t>
            </a:r>
            <a:r>
              <a:rPr dirty="0"/>
              <a:t> in a disposable copy of the fixture, searched four times, edited the case, ran bandit when it submitted, and finished ACCEPTED after 8 model calls in 13.5 s. The captures are in instructor-materials/hw2/feasibility/</a:t>
            </a:r>
            <a:r>
              <a:rPr dirty="0" err="1"/>
              <a:t>cyberbird</a:t>
            </a:r>
            <a:r>
              <a:rPr dirty="0"/>
              <a:t>/.</a:t>
            </a:r>
          </a:p>
          <a:p>
            <a:endParaRPr dirty="0"/>
          </a:p>
          <a:p>
            <a:r>
              <a:rPr dirty="0"/>
              <a:t>The figure, stage by stage.</a:t>
            </a:r>
          </a:p>
          <a:p>
            <a:r>
              <a:rPr dirty="0"/>
              <a:t>1. Files: open(), read() and write() reach the repository, the key and the workspace. The other two arrows are reserved as ghosts.</a:t>
            </a:r>
          </a:p>
          <a:p>
            <a:r>
              <a:rPr dirty="0"/>
              <a:t>2. Processes: fork() and </a:t>
            </a:r>
            <a:r>
              <a:rPr dirty="0" err="1"/>
              <a:t>execve</a:t>
            </a:r>
            <a:r>
              <a:rPr dirty="0"/>
              <a:t>() start a shell, Python or a scanner, each a child with the agent's authority.</a:t>
            </a:r>
          </a:p>
          <a:p>
            <a:r>
              <a:rPr dirty="0"/>
              <a:t>3. Connections: connect() reaches the model's API, GitHub, or anything else on the network.</a:t>
            </a:r>
          </a:p>
          <a:p>
            <a:r>
              <a:rPr dirty="0"/>
              <a:t>4. The dashed line: a rule can sit below the program, where the kernel decides every request.</a:t>
            </a:r>
          </a:p>
          <a:p>
            <a:r>
              <a:rPr dirty="0"/>
              <a:t>5. In action: </a:t>
            </a:r>
            <a:r>
              <a:rPr dirty="0" err="1"/>
              <a:t>cyberbird</a:t>
            </a:r>
            <a:r>
              <a:rPr dirty="0"/>
              <a:t> works alert bc284c6b. It reads BenchmarkTest00283.py and helpers/ in its workspace copy, runs python and bandit, and connects to the model server.</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start from what an agent needs from the machine. An agent is a model that chooses an action and a program that carries it out, and the program runs as processes, a process being a running program with its own memory, open files and user identity. Every file it opens, every program it starts and every connection it makes is a system call, a request to the kernel, the part of Linux that grants or refuses it. On the fourth click we point at the dashed line: a rule placed there refuses the call even when the model has been talked into making it, which a prompt cannot do (the guide's exercise in chapter 1). Our running example for the whole section is </a:t>
            </a:r>
            <a:r>
              <a:rPr dirty="0" err="1"/>
              <a:t>Cyberbird</a:t>
            </a:r>
            <a:r>
              <a:rPr dirty="0"/>
              <a:t>, the course's reactive agent from lecture 2, working Bandit's SQL injection alert bc284c6b at </a:t>
            </a:r>
            <a:r>
              <a:rPr dirty="0" err="1"/>
              <a:t>testcode</a:t>
            </a:r>
            <a:r>
              <a:rPr dirty="0"/>
              <a:t>/BenchmarkTest00283.py line 46 of its OWASP fixture.</a:t>
            </a:r>
          </a:p>
          <a:p>
            <a:endParaRPr dirty="0"/>
          </a:p>
          <a:p>
            <a:r>
              <a:rPr dirty="0"/>
              <a:t>We ran </a:t>
            </a:r>
            <a:r>
              <a:rPr dirty="0" err="1"/>
              <a:t>Cyberbird</a:t>
            </a:r>
            <a:r>
              <a:rPr dirty="0"/>
              <a:t> inside OpenShell 0.1.4 on October 15, 2026 (Colima on the instructor's Mac, model openai:qwen3.8-27b on the local llama-swap server): it read the case and helpers/</a:t>
            </a:r>
            <a:r>
              <a:rPr dirty="0" err="1"/>
              <a:t>db_sqlite.py</a:t>
            </a:r>
            <a:r>
              <a:rPr dirty="0"/>
              <a:t> in a disposable copy of the fixture, searched four times, edited the case, ran bandit when it submitted, and finished ACCEPTED after 8 model calls in 13.5 s. The captures are in instructor-materials/hw2/feasibility/</a:t>
            </a:r>
            <a:r>
              <a:rPr dirty="0" err="1"/>
              <a:t>cyberbird</a:t>
            </a:r>
            <a:r>
              <a:rPr dirty="0"/>
              <a:t>/.</a:t>
            </a:r>
          </a:p>
          <a:p>
            <a:endParaRPr dirty="0"/>
          </a:p>
          <a:p>
            <a:r>
              <a:rPr dirty="0"/>
              <a:t>The figure, stage by stage.</a:t>
            </a:r>
          </a:p>
          <a:p>
            <a:r>
              <a:rPr dirty="0"/>
              <a:t>1. Files: open(), read() and write() reach the repository, the key and the workspace. The other two arrows are reserved as ghosts.</a:t>
            </a:r>
          </a:p>
          <a:p>
            <a:r>
              <a:rPr dirty="0"/>
              <a:t>2. Processes: fork() and </a:t>
            </a:r>
            <a:r>
              <a:rPr dirty="0" err="1"/>
              <a:t>execve</a:t>
            </a:r>
            <a:r>
              <a:rPr dirty="0"/>
              <a:t>() start a shell, Python or a scanner, each a child with the agent's authority.</a:t>
            </a:r>
          </a:p>
          <a:p>
            <a:r>
              <a:rPr dirty="0"/>
              <a:t>3. Connections: connect() reaches the model's API, GitHub, or anything else on the network.</a:t>
            </a:r>
          </a:p>
          <a:p>
            <a:r>
              <a:rPr dirty="0"/>
              <a:t>4. The dashed line: a rule can sit below the program, where the kernel decides every request.</a:t>
            </a:r>
          </a:p>
          <a:p>
            <a:r>
              <a:rPr dirty="0"/>
              <a:t>5. In action: </a:t>
            </a:r>
            <a:r>
              <a:rPr dirty="0" err="1"/>
              <a:t>cyberbird</a:t>
            </a:r>
            <a:r>
              <a:rPr dirty="0"/>
              <a:t> works alert bc284c6b. It reads BenchmarkTest00283.py and helpers/ in its workspace copy, runs python and bandit, and connects to the model server.</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name </a:t>
            </a:r>
            <a:r>
              <a:rPr dirty="0" err="1"/>
              <a:t>OpenShell's</a:t>
            </a:r>
            <a:r>
              <a:rPr dirty="0"/>
              <a:t> parts and follow one sandbox through them. The figure is the guide's Figure 1 with the sandbox's phases in a band above it, and each phase arrives on the click after the component that performs it. The client (the </a:t>
            </a:r>
            <a:r>
              <a:rPr dirty="0" err="1"/>
              <a:t>openshell</a:t>
            </a:r>
            <a:r>
              <a:rPr dirty="0"/>
              <a:t> CLI, the TUI or an SDK) sends management requests to </a:t>
            </a:r>
            <a:r>
              <a:rPr dirty="0" err="1"/>
              <a:t>OpenShell's</a:t>
            </a:r>
            <a:r>
              <a:rPr dirty="0"/>
              <a:t>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a:t>
            </a:r>
            <a:r>
              <a:rPr dirty="0" err="1"/>
              <a:t>Podman</a:t>
            </a:r>
            <a:r>
              <a:rPr dirty="0"/>
              <a:t>, Kubernetes or a </a:t>
            </a:r>
            <a:r>
              <a:rPr dirty="0" err="1"/>
              <a:t>microVM</a:t>
            </a:r>
            <a:r>
              <a:rPr dirty="0"/>
              <a:t>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dirty="0"/>
          </a:p>
          <a:p>
            <a:r>
              <a:rPr dirty="0"/>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dirty="0"/>
          </a:p>
          <a:p>
            <a:r>
              <a:rPr dirty="0"/>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a:t>
            </a:r>
            <a:r>
              <a:rPr dirty="0" err="1"/>
              <a:t>Cyberbird</a:t>
            </a:r>
            <a:r>
              <a:rPr dirty="0"/>
              <a:t> on October 15, 2026 (OpenShell 0.1.4, Colima): create printed "Created sandbox: </a:t>
            </a:r>
            <a:r>
              <a:rPr dirty="0" err="1"/>
              <a:t>cyberbird</a:t>
            </a:r>
            <a:r>
              <a:rPr dirty="0"/>
              <a:t>", "[0.0s] Requesting compute...", "[0.0s] Sandbox allocated" and "[0.1s] Starting sandbox Container created"; sandbox get showed "Ready: True (</a:t>
            </a:r>
            <a:r>
              <a:rPr dirty="0" err="1"/>
              <a:t>DependenciesReady</a:t>
            </a:r>
            <a:r>
              <a:rPr dirty="0"/>
              <a:t>) - Supervisor session connected", Id 86d1c2e9-99a7-4c49-9101-118c7f4e3230 and runtime-generation d1326079-66a5-44ab-9db3-51e13ac8dc46; sandbox list at 22:42:24 EDT printed "</a:t>
            </a:r>
            <a:r>
              <a:rPr dirty="0" err="1"/>
              <a:t>cyberbird</a:t>
            </a:r>
            <a:r>
              <a:rPr dirty="0"/>
              <a:t>  2026-10-16 02:42:20  Ready" (CREATED is UTC, so 22:42:20 EDT).</a:t>
            </a:r>
          </a:p>
          <a:p>
            <a:endParaRPr dirty="0"/>
          </a:p>
          <a:p>
            <a:r>
              <a:rPr dirty="0"/>
              <a:t>The figure, stage by stage.</a:t>
            </a:r>
          </a:p>
          <a:p>
            <a:r>
              <a:rPr dirty="0"/>
              <a:t>1. The client: the CLI, TUI or an SDK sends management requests. The agent and its tools in the untrusted workload are the frame, and the sandbox's phases wait above as ghosts.</a:t>
            </a:r>
          </a:p>
          <a:p>
            <a:r>
              <a:rPr dirty="0"/>
              <a:t>2. The gateway: identity and records, and the configuration it hands on.</a:t>
            </a:r>
          </a:p>
          <a:p>
            <a:r>
              <a:rPr dirty="0"/>
              <a:t>3. The record persisted, by the gateway: its checks pass and it stores the record, in the Provisioning phase, before any container exists.</a:t>
            </a:r>
          </a:p>
          <a:p>
            <a:r>
              <a:rPr dirty="0"/>
              <a:t>4. The compute driver provisions the workload and places the supervisor. The note defines placement.</a:t>
            </a:r>
          </a:p>
          <a:p>
            <a:r>
              <a:rPr dirty="0"/>
              <a:t>5. Provisioning, by the driver: it creates the resources. Docker and the VM may return early.</a:t>
            </a:r>
          </a:p>
          <a:p>
            <a:r>
              <a:rPr dirty="0"/>
              <a:t>6. The sandbox runtime, inside the workload: process control and mediation.</a:t>
            </a:r>
          </a:p>
          <a:p>
            <a:r>
              <a:rPr dirty="0"/>
              <a:t>7. The trusted supervisor, outside: policy and credentials, the authenticated runtime channel from the runtime, and the control session it opens to the gateway.</a:t>
            </a:r>
          </a:p>
          <a:p>
            <a:r>
              <a:rPr dirty="0"/>
              <a:t>8. The supervisor's hello: it connects out to the gateway and opens the control stream that later carries exec's relay.</a:t>
            </a:r>
          </a:p>
          <a:p>
            <a:r>
              <a:rPr dirty="0"/>
              <a:t>9. Ready: the gateway publishes the sandbox as usable through its API. Ready says the supervisor talked back, and nothing about the agent.</a:t>
            </a:r>
          </a:p>
          <a:p>
            <a:r>
              <a:rPr dirty="0"/>
              <a:t>10. The approved external service: what remains reachable, through the supervisor.</a:t>
            </a:r>
          </a:p>
          <a:p>
            <a:r>
              <a:rPr dirty="0"/>
              <a:t>11. In action: our terminal, Docker on Colima, </a:t>
            </a:r>
            <a:r>
              <a:rPr dirty="0" err="1"/>
              <a:t>cyberbird</a:t>
            </a:r>
            <a:r>
              <a:rPr dirty="0"/>
              <a:t> and bandit in the workload, and a supervisor that admits only the model server.</a:t>
            </a:r>
          </a:p>
          <a:p>
            <a:r>
              <a:rPr dirty="0"/>
              <a:t>12. In action, the phases: </a:t>
            </a:r>
            <a:r>
              <a:rPr dirty="0" err="1"/>
              <a:t>cyberbird's</a:t>
            </a:r>
            <a:r>
              <a:rPr dirty="0"/>
              <a:t> record and UUID, Docker on Colima with the image cyberbird:1, the captured condition "Supervisor session connected", and sandbox list showing Ready.</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name </a:t>
            </a:r>
            <a:r>
              <a:rPr dirty="0" err="1"/>
              <a:t>OpenShell's</a:t>
            </a:r>
            <a:r>
              <a:rPr dirty="0"/>
              <a:t> parts and follow one sandbox through them. The figure is the guide's Figure 1 with the sandbox's phases in a band above it, and each phase arrives on the click after the component that performs it. The client (the </a:t>
            </a:r>
            <a:r>
              <a:rPr dirty="0" err="1"/>
              <a:t>openshell</a:t>
            </a:r>
            <a:r>
              <a:rPr dirty="0"/>
              <a:t> CLI, the TUI or an SDK) sends management requests to </a:t>
            </a:r>
            <a:r>
              <a:rPr dirty="0" err="1"/>
              <a:t>OpenShell's</a:t>
            </a:r>
            <a:r>
              <a:rPr dirty="0"/>
              <a:t>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a:t>
            </a:r>
            <a:r>
              <a:rPr dirty="0" err="1"/>
              <a:t>Podman</a:t>
            </a:r>
            <a:r>
              <a:rPr dirty="0"/>
              <a:t>, Kubernetes or a </a:t>
            </a:r>
            <a:r>
              <a:rPr dirty="0" err="1"/>
              <a:t>microVM</a:t>
            </a:r>
            <a:r>
              <a:rPr dirty="0"/>
              <a:t>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dirty="0"/>
          </a:p>
          <a:p>
            <a:r>
              <a:rPr dirty="0"/>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dirty="0"/>
          </a:p>
          <a:p>
            <a:r>
              <a:rPr dirty="0"/>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a:t>
            </a:r>
            <a:r>
              <a:rPr dirty="0" err="1"/>
              <a:t>Cyberbird</a:t>
            </a:r>
            <a:r>
              <a:rPr dirty="0"/>
              <a:t> on October 15, 2026 (OpenShell 0.1.4, Colima): create printed "Created sandbox: </a:t>
            </a:r>
            <a:r>
              <a:rPr dirty="0" err="1"/>
              <a:t>cyberbird</a:t>
            </a:r>
            <a:r>
              <a:rPr dirty="0"/>
              <a:t>", "[0.0s] Requesting compute...", "[0.0s] Sandbox allocated" and "[0.1s] Starting sandbox Container created"; sandbox get showed "Ready: True (</a:t>
            </a:r>
            <a:r>
              <a:rPr dirty="0" err="1"/>
              <a:t>DependenciesReady</a:t>
            </a:r>
            <a:r>
              <a:rPr dirty="0"/>
              <a:t>) - Supervisor session connected", Id 86d1c2e9-99a7-4c49-9101-118c7f4e3230 and runtime-generation d1326079-66a5-44ab-9db3-51e13ac8dc46; sandbox list at 22:42:24 EDT printed "</a:t>
            </a:r>
            <a:r>
              <a:rPr dirty="0" err="1"/>
              <a:t>cyberbird</a:t>
            </a:r>
            <a:r>
              <a:rPr dirty="0"/>
              <a:t>  2026-10-16 02:42:20  Ready" (CREATED is UTC, so 22:42:20 EDT).</a:t>
            </a:r>
          </a:p>
          <a:p>
            <a:endParaRPr dirty="0"/>
          </a:p>
          <a:p>
            <a:r>
              <a:rPr dirty="0"/>
              <a:t>The figure, stage by stage.</a:t>
            </a:r>
          </a:p>
          <a:p>
            <a:r>
              <a:rPr dirty="0"/>
              <a:t>1. The client: the CLI, TUI or an SDK sends management requests. The agent and its tools in the untrusted workload are the frame, and the sandbox's phases wait above as ghosts.</a:t>
            </a:r>
          </a:p>
          <a:p>
            <a:r>
              <a:rPr dirty="0"/>
              <a:t>2. The gateway: identity and records, and the configuration it hands on.</a:t>
            </a:r>
          </a:p>
          <a:p>
            <a:r>
              <a:rPr dirty="0"/>
              <a:t>3. The record persisted, by the gateway: its checks pass and it stores the record, in the Provisioning phase, before any container exists.</a:t>
            </a:r>
          </a:p>
          <a:p>
            <a:r>
              <a:rPr dirty="0"/>
              <a:t>4. The compute driver provisions the workload and places the supervisor. The note defines placement.</a:t>
            </a:r>
          </a:p>
          <a:p>
            <a:r>
              <a:rPr dirty="0"/>
              <a:t>5. Provisioning, by the driver: it creates the resources. Docker and the VM may return early.</a:t>
            </a:r>
          </a:p>
          <a:p>
            <a:r>
              <a:rPr dirty="0"/>
              <a:t>6. The sandbox runtime, inside the workload: process control and mediation.</a:t>
            </a:r>
          </a:p>
          <a:p>
            <a:r>
              <a:rPr dirty="0"/>
              <a:t>7. The trusted supervisor, outside: policy and credentials, the authenticated runtime channel from the runtime, and the control session it opens to the gateway.</a:t>
            </a:r>
          </a:p>
          <a:p>
            <a:r>
              <a:rPr dirty="0"/>
              <a:t>8. The supervisor's hello: it connects out to the gateway and opens the control stream that later carries exec's relay.</a:t>
            </a:r>
          </a:p>
          <a:p>
            <a:r>
              <a:rPr dirty="0"/>
              <a:t>9. Ready: the gateway publishes the sandbox as usable through its API. Ready says the supervisor talked back, and nothing about the agent.</a:t>
            </a:r>
          </a:p>
          <a:p>
            <a:r>
              <a:rPr dirty="0"/>
              <a:t>10. The approved external service: what remains reachable, through the supervisor.</a:t>
            </a:r>
          </a:p>
          <a:p>
            <a:r>
              <a:rPr dirty="0"/>
              <a:t>11. In action: our terminal, Docker on Colima, </a:t>
            </a:r>
            <a:r>
              <a:rPr dirty="0" err="1"/>
              <a:t>cyberbird</a:t>
            </a:r>
            <a:r>
              <a:rPr dirty="0"/>
              <a:t> and bandit in the workload, and a supervisor that admits only the model server.</a:t>
            </a:r>
          </a:p>
          <a:p>
            <a:r>
              <a:rPr dirty="0"/>
              <a:t>12. In action, the phases: </a:t>
            </a:r>
            <a:r>
              <a:rPr dirty="0" err="1"/>
              <a:t>cyberbird's</a:t>
            </a:r>
            <a:r>
              <a:rPr dirty="0"/>
              <a:t> record and UUID, Docker on Colima with the image cyberbird:1, the captured condition "Supervisor session connected", and sandbox list showing Ready.</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name </a:t>
            </a:r>
            <a:r>
              <a:rPr dirty="0" err="1"/>
              <a:t>OpenShell's</a:t>
            </a:r>
            <a:r>
              <a:rPr dirty="0"/>
              <a:t> parts and follow one sandbox through them. The figure is the guide's Figure 1 with the sandbox's phases in a band above it, and each phase arrives on the click after the component that performs it. The client (the </a:t>
            </a:r>
            <a:r>
              <a:rPr dirty="0" err="1"/>
              <a:t>openshell</a:t>
            </a:r>
            <a:r>
              <a:rPr dirty="0"/>
              <a:t> CLI, the TUI or an SDK) sends management requests to </a:t>
            </a:r>
            <a:r>
              <a:rPr dirty="0" err="1"/>
              <a:t>OpenShell's</a:t>
            </a:r>
            <a:r>
              <a:rPr dirty="0"/>
              <a:t>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a:t>
            </a:r>
            <a:r>
              <a:rPr dirty="0" err="1"/>
              <a:t>Podman</a:t>
            </a:r>
            <a:r>
              <a:rPr dirty="0"/>
              <a:t>, Kubernetes or a </a:t>
            </a:r>
            <a:r>
              <a:rPr dirty="0" err="1"/>
              <a:t>microVM</a:t>
            </a:r>
            <a:r>
              <a:rPr dirty="0"/>
              <a:t>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dirty="0"/>
          </a:p>
          <a:p>
            <a:r>
              <a:rPr dirty="0"/>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dirty="0"/>
          </a:p>
          <a:p>
            <a:r>
              <a:rPr dirty="0"/>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a:t>
            </a:r>
            <a:r>
              <a:rPr dirty="0" err="1"/>
              <a:t>Cyberbird</a:t>
            </a:r>
            <a:r>
              <a:rPr dirty="0"/>
              <a:t> on October 15, 2026 (OpenShell 0.1.4, Colima): create printed "Created sandbox: </a:t>
            </a:r>
            <a:r>
              <a:rPr dirty="0" err="1"/>
              <a:t>cyberbird</a:t>
            </a:r>
            <a:r>
              <a:rPr dirty="0"/>
              <a:t>", "[0.0s] Requesting compute...", "[0.0s] Sandbox allocated" and "[0.1s] Starting sandbox Container created"; sandbox get showed "Ready: True (</a:t>
            </a:r>
            <a:r>
              <a:rPr dirty="0" err="1"/>
              <a:t>DependenciesReady</a:t>
            </a:r>
            <a:r>
              <a:rPr dirty="0"/>
              <a:t>) - Supervisor session connected", Id 86d1c2e9-99a7-4c49-9101-118c7f4e3230 and runtime-generation d1326079-66a5-44ab-9db3-51e13ac8dc46; sandbox list at 22:42:24 EDT printed "</a:t>
            </a:r>
            <a:r>
              <a:rPr dirty="0" err="1"/>
              <a:t>cyberbird</a:t>
            </a:r>
            <a:r>
              <a:rPr dirty="0"/>
              <a:t>  2026-10-16 02:42:20  Ready" (CREATED is UTC, so 22:42:20 EDT).</a:t>
            </a:r>
          </a:p>
          <a:p>
            <a:endParaRPr dirty="0"/>
          </a:p>
          <a:p>
            <a:r>
              <a:rPr dirty="0"/>
              <a:t>The figure, stage by stage.</a:t>
            </a:r>
          </a:p>
          <a:p>
            <a:r>
              <a:rPr dirty="0"/>
              <a:t>1. The client: the CLI, TUI or an SDK sends management requests. The agent and its tools in the untrusted workload are the frame, and the sandbox's phases wait above as ghosts.</a:t>
            </a:r>
          </a:p>
          <a:p>
            <a:r>
              <a:rPr dirty="0"/>
              <a:t>2. The gateway: identity and records, and the configuration it hands on.</a:t>
            </a:r>
          </a:p>
          <a:p>
            <a:r>
              <a:rPr dirty="0"/>
              <a:t>3. The record persisted, by the gateway: its checks pass and it stores the record, in the Provisioning phase, before any container exists.</a:t>
            </a:r>
          </a:p>
          <a:p>
            <a:r>
              <a:rPr dirty="0"/>
              <a:t>4. The compute driver provisions the workload and places the supervisor. The note defines placement.</a:t>
            </a:r>
          </a:p>
          <a:p>
            <a:r>
              <a:rPr dirty="0"/>
              <a:t>5. Provisioning, by the driver: it creates the resources. Docker and the VM may return early.</a:t>
            </a:r>
          </a:p>
          <a:p>
            <a:r>
              <a:rPr dirty="0"/>
              <a:t>6. The sandbox runtime, inside the workload: process control and mediation.</a:t>
            </a:r>
          </a:p>
          <a:p>
            <a:r>
              <a:rPr dirty="0"/>
              <a:t>7. The trusted supervisor, outside: policy and credentials, the authenticated runtime channel from the runtime, and the control session it opens to the gateway.</a:t>
            </a:r>
          </a:p>
          <a:p>
            <a:r>
              <a:rPr dirty="0"/>
              <a:t>8. The supervisor's hello: it connects out to the gateway and opens the control stream that later carries exec's relay.</a:t>
            </a:r>
          </a:p>
          <a:p>
            <a:r>
              <a:rPr dirty="0"/>
              <a:t>9. Ready: the gateway publishes the sandbox as usable through its API. Ready says the supervisor talked back, and nothing about the agent.</a:t>
            </a:r>
          </a:p>
          <a:p>
            <a:r>
              <a:rPr dirty="0"/>
              <a:t>10. The approved external service: what remains reachable, through the supervisor.</a:t>
            </a:r>
          </a:p>
          <a:p>
            <a:r>
              <a:rPr dirty="0"/>
              <a:t>11. In action: our terminal, Docker on Colima, </a:t>
            </a:r>
            <a:r>
              <a:rPr dirty="0" err="1"/>
              <a:t>cyberbird</a:t>
            </a:r>
            <a:r>
              <a:rPr dirty="0"/>
              <a:t> and bandit in the workload, and a supervisor that admits only the model server.</a:t>
            </a:r>
          </a:p>
          <a:p>
            <a:r>
              <a:rPr dirty="0"/>
              <a:t>12. In action, the phases: </a:t>
            </a:r>
            <a:r>
              <a:rPr dirty="0" err="1"/>
              <a:t>cyberbird's</a:t>
            </a:r>
            <a:r>
              <a:rPr dirty="0"/>
              <a:t> record and UUID, Docker on Colima with the image cyberbird:1, the captured condition "Supervisor session connected", and sandbox list showing Ready.</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name </a:t>
            </a:r>
            <a:r>
              <a:rPr dirty="0" err="1"/>
              <a:t>OpenShell's</a:t>
            </a:r>
            <a:r>
              <a:rPr dirty="0"/>
              <a:t> parts and follow one sandbox through them. The figure is the guide's Figure 1 with the sandbox's phases in a band above it, and each phase arrives on the click after the component that performs it. The client (the </a:t>
            </a:r>
            <a:r>
              <a:rPr dirty="0" err="1"/>
              <a:t>openshell</a:t>
            </a:r>
            <a:r>
              <a:rPr dirty="0"/>
              <a:t> CLI, the TUI or an SDK) sends management requests to </a:t>
            </a:r>
            <a:r>
              <a:rPr dirty="0" err="1"/>
              <a:t>OpenShell's</a:t>
            </a:r>
            <a:r>
              <a:rPr dirty="0"/>
              <a:t>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a:t>
            </a:r>
            <a:r>
              <a:rPr dirty="0" err="1"/>
              <a:t>Podman</a:t>
            </a:r>
            <a:r>
              <a:rPr dirty="0"/>
              <a:t>, Kubernetes or a </a:t>
            </a:r>
            <a:r>
              <a:rPr dirty="0" err="1"/>
              <a:t>microVM</a:t>
            </a:r>
            <a:r>
              <a:rPr dirty="0"/>
              <a:t>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dirty="0"/>
          </a:p>
          <a:p>
            <a:r>
              <a:rPr dirty="0"/>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dirty="0"/>
          </a:p>
          <a:p>
            <a:r>
              <a:rPr dirty="0"/>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a:t>
            </a:r>
            <a:r>
              <a:rPr dirty="0" err="1"/>
              <a:t>Cyberbird</a:t>
            </a:r>
            <a:r>
              <a:rPr dirty="0"/>
              <a:t> on October 15, 2026 (OpenShell 0.1.4, Colima): create printed "Created sandbox: </a:t>
            </a:r>
            <a:r>
              <a:rPr dirty="0" err="1"/>
              <a:t>cyberbird</a:t>
            </a:r>
            <a:r>
              <a:rPr dirty="0"/>
              <a:t>", "[0.0s] Requesting compute...", "[0.0s] Sandbox allocated" and "[0.1s] Starting sandbox Container created"; sandbox get showed "Ready: True (</a:t>
            </a:r>
            <a:r>
              <a:rPr dirty="0" err="1"/>
              <a:t>DependenciesReady</a:t>
            </a:r>
            <a:r>
              <a:rPr dirty="0"/>
              <a:t>) - Supervisor session connected", Id 86d1c2e9-99a7-4c49-9101-118c7f4e3230 and runtime-generation d1326079-66a5-44ab-9db3-51e13ac8dc46; sandbox list at 22:42:24 EDT printed "</a:t>
            </a:r>
            <a:r>
              <a:rPr dirty="0" err="1"/>
              <a:t>cyberbird</a:t>
            </a:r>
            <a:r>
              <a:rPr dirty="0"/>
              <a:t>  2026-10-16 02:42:20  Ready" (CREATED is UTC, so 22:42:20 EDT).</a:t>
            </a:r>
          </a:p>
          <a:p>
            <a:endParaRPr dirty="0"/>
          </a:p>
          <a:p>
            <a:r>
              <a:rPr dirty="0"/>
              <a:t>The figure, stage by stage.</a:t>
            </a:r>
          </a:p>
          <a:p>
            <a:r>
              <a:rPr dirty="0"/>
              <a:t>1. The client: the CLI, TUI or an SDK sends management requests. The agent and its tools in the untrusted workload are the frame, and the sandbox's phases wait above as ghosts.</a:t>
            </a:r>
          </a:p>
          <a:p>
            <a:r>
              <a:rPr dirty="0"/>
              <a:t>2. The gateway: identity and records, and the configuration it hands on.</a:t>
            </a:r>
          </a:p>
          <a:p>
            <a:r>
              <a:rPr dirty="0"/>
              <a:t>3. The record persisted, by the gateway: its checks pass and it stores the record, in the Provisioning phase, before any container exists.</a:t>
            </a:r>
          </a:p>
          <a:p>
            <a:r>
              <a:rPr dirty="0"/>
              <a:t>4. The compute driver provisions the workload and places the supervisor. The note defines placement.</a:t>
            </a:r>
          </a:p>
          <a:p>
            <a:r>
              <a:rPr dirty="0"/>
              <a:t>5. Provisioning, by the driver: it creates the resources. Docker and the VM may return early.</a:t>
            </a:r>
          </a:p>
          <a:p>
            <a:r>
              <a:rPr dirty="0"/>
              <a:t>6. The sandbox runtime, inside the workload: process control and mediation.</a:t>
            </a:r>
          </a:p>
          <a:p>
            <a:r>
              <a:rPr dirty="0"/>
              <a:t>7. The trusted supervisor, outside: policy and credentials, the authenticated runtime channel from the runtime, and the control session it opens to the gateway.</a:t>
            </a:r>
          </a:p>
          <a:p>
            <a:r>
              <a:rPr dirty="0"/>
              <a:t>8. The supervisor's hello: it connects out to the gateway and opens the control stream that later carries exec's relay.</a:t>
            </a:r>
          </a:p>
          <a:p>
            <a:r>
              <a:rPr dirty="0"/>
              <a:t>9. Ready: the gateway publishes the sandbox as usable through its API. Ready says the supervisor talked back, and nothing about the agent.</a:t>
            </a:r>
          </a:p>
          <a:p>
            <a:r>
              <a:rPr dirty="0"/>
              <a:t>10. The approved external service: what remains reachable, through the supervisor.</a:t>
            </a:r>
          </a:p>
          <a:p>
            <a:r>
              <a:rPr dirty="0"/>
              <a:t>11. In action: our terminal, Docker on Colima, </a:t>
            </a:r>
            <a:r>
              <a:rPr dirty="0" err="1"/>
              <a:t>cyberbird</a:t>
            </a:r>
            <a:r>
              <a:rPr dirty="0"/>
              <a:t> and bandit in the workload, and a supervisor that admits only the model server.</a:t>
            </a:r>
          </a:p>
          <a:p>
            <a:r>
              <a:rPr dirty="0"/>
              <a:t>12. In action, the phases: </a:t>
            </a:r>
            <a:r>
              <a:rPr dirty="0" err="1"/>
              <a:t>cyberbird's</a:t>
            </a:r>
            <a:r>
              <a:rPr dirty="0"/>
              <a:t> record and UUID, Docker on Colima with the image cyberbird:1, the captured condition "Supervisor session connected", and sandbox list showing Ready.</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name </a:t>
            </a:r>
            <a:r>
              <a:rPr dirty="0" err="1"/>
              <a:t>OpenShell's</a:t>
            </a:r>
            <a:r>
              <a:rPr dirty="0"/>
              <a:t> parts and follow one sandbox through them. The figure is the guide's Figure 1 with the sandbox's phases in a band above it, and each phase arrives on the click after the component that performs it. The client (the </a:t>
            </a:r>
            <a:r>
              <a:rPr dirty="0" err="1"/>
              <a:t>openshell</a:t>
            </a:r>
            <a:r>
              <a:rPr dirty="0"/>
              <a:t> CLI, the TUI or an SDK) sends management requests to </a:t>
            </a:r>
            <a:r>
              <a:rPr dirty="0" err="1"/>
              <a:t>OpenShell's</a:t>
            </a:r>
            <a:r>
              <a:rPr dirty="0"/>
              <a:t>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a:t>
            </a:r>
            <a:r>
              <a:rPr dirty="0" err="1"/>
              <a:t>Podman</a:t>
            </a:r>
            <a:r>
              <a:rPr dirty="0"/>
              <a:t>, Kubernetes or a </a:t>
            </a:r>
            <a:r>
              <a:rPr dirty="0" err="1"/>
              <a:t>microVM</a:t>
            </a:r>
            <a:r>
              <a:rPr dirty="0"/>
              <a:t>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dirty="0"/>
          </a:p>
          <a:p>
            <a:r>
              <a:rPr dirty="0"/>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dirty="0"/>
          </a:p>
          <a:p>
            <a:r>
              <a:rPr dirty="0"/>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a:t>
            </a:r>
            <a:r>
              <a:rPr dirty="0" err="1"/>
              <a:t>Cyberbird</a:t>
            </a:r>
            <a:r>
              <a:rPr dirty="0"/>
              <a:t> on October 15, 2026 (OpenShell 0.1.4, Colima): create printed "Created sandbox: </a:t>
            </a:r>
            <a:r>
              <a:rPr dirty="0" err="1"/>
              <a:t>cyberbird</a:t>
            </a:r>
            <a:r>
              <a:rPr dirty="0"/>
              <a:t>", "[0.0s] Requesting compute...", "[0.0s] Sandbox allocated" and "[0.1s] Starting sandbox Container created"; sandbox get showed "Ready: True (</a:t>
            </a:r>
            <a:r>
              <a:rPr dirty="0" err="1"/>
              <a:t>DependenciesReady</a:t>
            </a:r>
            <a:r>
              <a:rPr dirty="0"/>
              <a:t>) - Supervisor session connected", Id 86d1c2e9-99a7-4c49-9101-118c7f4e3230 and runtime-generation d1326079-66a5-44ab-9db3-51e13ac8dc46; sandbox list at 22:42:24 EDT printed "</a:t>
            </a:r>
            <a:r>
              <a:rPr dirty="0" err="1"/>
              <a:t>cyberbird</a:t>
            </a:r>
            <a:r>
              <a:rPr dirty="0"/>
              <a:t>  2026-10-16 02:42:20  Ready" (CREATED is UTC, so 22:42:20 EDT).</a:t>
            </a:r>
          </a:p>
          <a:p>
            <a:endParaRPr dirty="0"/>
          </a:p>
          <a:p>
            <a:r>
              <a:rPr dirty="0"/>
              <a:t>The figure, stage by stage.</a:t>
            </a:r>
          </a:p>
          <a:p>
            <a:r>
              <a:rPr dirty="0"/>
              <a:t>1. The client: the CLI, TUI or an SDK sends management requests. The agent and its tools in the untrusted workload are the frame, and the sandbox's phases wait above as ghosts.</a:t>
            </a:r>
          </a:p>
          <a:p>
            <a:r>
              <a:rPr dirty="0"/>
              <a:t>2. The gateway: identity and records, and the configuration it hands on.</a:t>
            </a:r>
          </a:p>
          <a:p>
            <a:r>
              <a:rPr dirty="0"/>
              <a:t>3. The record persisted, by the gateway: its checks pass and it stores the record, in the Provisioning phase, before any container exists.</a:t>
            </a:r>
          </a:p>
          <a:p>
            <a:r>
              <a:rPr dirty="0"/>
              <a:t>4. The compute driver provisions the workload and places the supervisor. The note defines placement.</a:t>
            </a:r>
          </a:p>
          <a:p>
            <a:r>
              <a:rPr dirty="0"/>
              <a:t>5. Provisioning, by the driver: it creates the resources. Docker and the VM may return early.</a:t>
            </a:r>
          </a:p>
          <a:p>
            <a:r>
              <a:rPr dirty="0"/>
              <a:t>6. The sandbox runtime, inside the workload: process control and mediation.</a:t>
            </a:r>
          </a:p>
          <a:p>
            <a:r>
              <a:rPr dirty="0"/>
              <a:t>7. The trusted supervisor, outside: policy and credentials, the authenticated runtime channel from the runtime, and the control session it opens to the gateway.</a:t>
            </a:r>
          </a:p>
          <a:p>
            <a:r>
              <a:rPr dirty="0"/>
              <a:t>8. The supervisor's hello: it connects out to the gateway and opens the control stream that later carries exec's relay.</a:t>
            </a:r>
          </a:p>
          <a:p>
            <a:r>
              <a:rPr dirty="0"/>
              <a:t>9. Ready: the gateway publishes the sandbox as usable through its API. Ready says the supervisor talked back, and nothing about the agent.</a:t>
            </a:r>
          </a:p>
          <a:p>
            <a:r>
              <a:rPr dirty="0"/>
              <a:t>10. The approved external service: what remains reachable, through the supervisor.</a:t>
            </a:r>
          </a:p>
          <a:p>
            <a:r>
              <a:rPr dirty="0"/>
              <a:t>11. In action: our terminal, Docker on Colima, </a:t>
            </a:r>
            <a:r>
              <a:rPr dirty="0" err="1"/>
              <a:t>cyberbird</a:t>
            </a:r>
            <a:r>
              <a:rPr dirty="0"/>
              <a:t> and bandit in the workload, and a supervisor that admits only the model server.</a:t>
            </a:r>
          </a:p>
          <a:p>
            <a:r>
              <a:rPr dirty="0"/>
              <a:t>12. In action, the phases: </a:t>
            </a:r>
            <a:r>
              <a:rPr dirty="0" err="1"/>
              <a:t>cyberbird's</a:t>
            </a:r>
            <a:r>
              <a:rPr dirty="0"/>
              <a:t> record and UUID, Docker on Colima with the image cyberbird:1, the captured condition "Supervisor session connected", and sandbox list showing Ready.</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name </a:t>
            </a:r>
            <a:r>
              <a:rPr dirty="0" err="1"/>
              <a:t>OpenShell's</a:t>
            </a:r>
            <a:r>
              <a:rPr dirty="0"/>
              <a:t> parts and follow one sandbox through them. The figure is the guide's Figure 1 with the sandbox's phases in a band above it, and each phase arrives on the click after the component that performs it. The client (the </a:t>
            </a:r>
            <a:r>
              <a:rPr dirty="0" err="1"/>
              <a:t>openshell</a:t>
            </a:r>
            <a:r>
              <a:rPr dirty="0"/>
              <a:t> CLI, the TUI or an SDK) sends management requests to </a:t>
            </a:r>
            <a:r>
              <a:rPr dirty="0" err="1"/>
              <a:t>OpenShell's</a:t>
            </a:r>
            <a:r>
              <a:rPr dirty="0"/>
              <a:t>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a:t>
            </a:r>
            <a:r>
              <a:rPr dirty="0" err="1"/>
              <a:t>Podman</a:t>
            </a:r>
            <a:r>
              <a:rPr dirty="0"/>
              <a:t>, Kubernetes or a </a:t>
            </a:r>
            <a:r>
              <a:rPr dirty="0" err="1"/>
              <a:t>microVM</a:t>
            </a:r>
            <a:r>
              <a:rPr dirty="0"/>
              <a:t>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dirty="0"/>
          </a:p>
          <a:p>
            <a:r>
              <a:rPr dirty="0"/>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dirty="0"/>
          </a:p>
          <a:p>
            <a:r>
              <a:rPr dirty="0"/>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a:t>
            </a:r>
            <a:r>
              <a:rPr dirty="0" err="1"/>
              <a:t>Cyberbird</a:t>
            </a:r>
            <a:r>
              <a:rPr dirty="0"/>
              <a:t> on October 15, 2026 (OpenShell 0.1.4, Colima): create printed "Created sandbox: </a:t>
            </a:r>
            <a:r>
              <a:rPr dirty="0" err="1"/>
              <a:t>cyberbird</a:t>
            </a:r>
            <a:r>
              <a:rPr dirty="0"/>
              <a:t>", "[0.0s] Requesting compute...", "[0.0s] Sandbox allocated" and "[0.1s] Starting sandbox Container created"; sandbox get showed "Ready: True (</a:t>
            </a:r>
            <a:r>
              <a:rPr dirty="0" err="1"/>
              <a:t>DependenciesReady</a:t>
            </a:r>
            <a:r>
              <a:rPr dirty="0"/>
              <a:t>) - Supervisor session connected", Id 86d1c2e9-99a7-4c49-9101-118c7f4e3230 and runtime-generation d1326079-66a5-44ab-9db3-51e13ac8dc46; sandbox list at 22:42:24 EDT printed "</a:t>
            </a:r>
            <a:r>
              <a:rPr dirty="0" err="1"/>
              <a:t>cyberbird</a:t>
            </a:r>
            <a:r>
              <a:rPr dirty="0"/>
              <a:t>  2026-10-16 02:42:20  Ready" (CREATED is UTC, so 22:42:20 EDT).</a:t>
            </a:r>
          </a:p>
          <a:p>
            <a:endParaRPr dirty="0"/>
          </a:p>
          <a:p>
            <a:r>
              <a:rPr dirty="0"/>
              <a:t>The figure, stage by stage.</a:t>
            </a:r>
          </a:p>
          <a:p>
            <a:r>
              <a:rPr dirty="0"/>
              <a:t>1. The client: the CLI, TUI or an SDK sends management requests. The agent and its tools in the untrusted workload are the frame, and the sandbox's phases wait above as ghosts.</a:t>
            </a:r>
          </a:p>
          <a:p>
            <a:r>
              <a:rPr dirty="0"/>
              <a:t>2. The gateway: identity and records, and the configuration it hands on.</a:t>
            </a:r>
          </a:p>
          <a:p>
            <a:r>
              <a:rPr dirty="0"/>
              <a:t>3. The record persisted, by the gateway: its checks pass and it stores the record, in the Provisioning phase, before any container exists.</a:t>
            </a:r>
          </a:p>
          <a:p>
            <a:r>
              <a:rPr dirty="0"/>
              <a:t>4. The compute driver provisions the workload and places the supervisor. The note defines placement.</a:t>
            </a:r>
          </a:p>
          <a:p>
            <a:r>
              <a:rPr dirty="0"/>
              <a:t>5. Provisioning, by the driver: it creates the resources. Docker and the VM may return early.</a:t>
            </a:r>
          </a:p>
          <a:p>
            <a:r>
              <a:rPr dirty="0"/>
              <a:t>6. The sandbox runtime, inside the workload: process control and mediation.</a:t>
            </a:r>
          </a:p>
          <a:p>
            <a:r>
              <a:rPr dirty="0"/>
              <a:t>7. The trusted supervisor, outside: policy and credentials, the authenticated runtime channel from the runtime, and the control session it opens to the gateway.</a:t>
            </a:r>
          </a:p>
          <a:p>
            <a:r>
              <a:rPr dirty="0"/>
              <a:t>8. The supervisor's hello: it connects out to the gateway and opens the control stream that later carries exec's relay.</a:t>
            </a:r>
          </a:p>
          <a:p>
            <a:r>
              <a:rPr dirty="0"/>
              <a:t>9. Ready: the gateway publishes the sandbox as usable through its API. Ready says the supervisor talked back, and nothing about the agent.</a:t>
            </a:r>
          </a:p>
          <a:p>
            <a:r>
              <a:rPr dirty="0"/>
              <a:t>10. The approved external service: what remains reachable, through the supervisor.</a:t>
            </a:r>
          </a:p>
          <a:p>
            <a:r>
              <a:rPr dirty="0"/>
              <a:t>11. In action: our terminal, Docker on Colima, </a:t>
            </a:r>
            <a:r>
              <a:rPr dirty="0" err="1"/>
              <a:t>cyberbird</a:t>
            </a:r>
            <a:r>
              <a:rPr dirty="0"/>
              <a:t> and bandit in the workload, and a supervisor that admits only the model server.</a:t>
            </a:r>
          </a:p>
          <a:p>
            <a:r>
              <a:rPr dirty="0"/>
              <a:t>12. In action, the phases: </a:t>
            </a:r>
            <a:r>
              <a:rPr dirty="0" err="1"/>
              <a:t>cyberbird's</a:t>
            </a:r>
            <a:r>
              <a:rPr dirty="0"/>
              <a:t> record and UUID, Docker on Colima with the image cyberbird:1, the captured condition "Supervisor session connected", and sandbox list showing Ready.</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name </a:t>
            </a:r>
            <a:r>
              <a:rPr dirty="0" err="1"/>
              <a:t>OpenShell's</a:t>
            </a:r>
            <a:r>
              <a:rPr dirty="0"/>
              <a:t> parts and follow one sandbox through them. The figure is the guide's Figure 1 with the sandbox's phases in a band above it, and each phase arrives on the click after the component that performs it. The client (the </a:t>
            </a:r>
            <a:r>
              <a:rPr dirty="0" err="1"/>
              <a:t>openshell</a:t>
            </a:r>
            <a:r>
              <a:rPr dirty="0"/>
              <a:t> CLI, the TUI or an SDK) sends management requests to </a:t>
            </a:r>
            <a:r>
              <a:rPr dirty="0" err="1"/>
              <a:t>OpenShell's</a:t>
            </a:r>
            <a:r>
              <a:rPr dirty="0"/>
              <a:t>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a:t>
            </a:r>
            <a:r>
              <a:rPr dirty="0" err="1"/>
              <a:t>Podman</a:t>
            </a:r>
            <a:r>
              <a:rPr dirty="0"/>
              <a:t>, Kubernetes or a </a:t>
            </a:r>
            <a:r>
              <a:rPr dirty="0" err="1"/>
              <a:t>microVM</a:t>
            </a:r>
            <a:r>
              <a:rPr dirty="0"/>
              <a:t>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dirty="0"/>
          </a:p>
          <a:p>
            <a:r>
              <a:rPr dirty="0"/>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dirty="0"/>
          </a:p>
          <a:p>
            <a:r>
              <a:rPr dirty="0"/>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a:t>
            </a:r>
            <a:r>
              <a:rPr dirty="0" err="1"/>
              <a:t>Cyberbird</a:t>
            </a:r>
            <a:r>
              <a:rPr dirty="0"/>
              <a:t> on October 15, 2026 (OpenShell 0.1.4, Colima): create printed "Created sandbox: </a:t>
            </a:r>
            <a:r>
              <a:rPr dirty="0" err="1"/>
              <a:t>cyberbird</a:t>
            </a:r>
            <a:r>
              <a:rPr dirty="0"/>
              <a:t>", "[0.0s] Requesting compute...", "[0.0s] Sandbox allocated" and "[0.1s] Starting sandbox Container created"; sandbox get showed "Ready: True (</a:t>
            </a:r>
            <a:r>
              <a:rPr dirty="0" err="1"/>
              <a:t>DependenciesReady</a:t>
            </a:r>
            <a:r>
              <a:rPr dirty="0"/>
              <a:t>) - Supervisor session connected", Id 86d1c2e9-99a7-4c49-9101-118c7f4e3230 and runtime-generation d1326079-66a5-44ab-9db3-51e13ac8dc46; sandbox list at 22:42:24 EDT printed "</a:t>
            </a:r>
            <a:r>
              <a:rPr dirty="0" err="1"/>
              <a:t>cyberbird</a:t>
            </a:r>
            <a:r>
              <a:rPr dirty="0"/>
              <a:t>  2026-10-16 02:42:20  Ready" (CREATED is UTC, so 22:42:20 EDT).</a:t>
            </a:r>
          </a:p>
          <a:p>
            <a:endParaRPr dirty="0"/>
          </a:p>
          <a:p>
            <a:r>
              <a:rPr dirty="0"/>
              <a:t>The figure, stage by stage.</a:t>
            </a:r>
          </a:p>
          <a:p>
            <a:r>
              <a:rPr dirty="0"/>
              <a:t>1. The client: the CLI, TUI or an SDK sends management requests. The agent and its tools in the untrusted workload are the frame, and the sandbox's phases wait above as ghosts.</a:t>
            </a:r>
          </a:p>
          <a:p>
            <a:r>
              <a:rPr dirty="0"/>
              <a:t>2. The gateway: identity and records, and the configuration it hands on.</a:t>
            </a:r>
          </a:p>
          <a:p>
            <a:r>
              <a:rPr dirty="0"/>
              <a:t>3. The record persisted, by the gateway: its checks pass and it stores the record, in the Provisioning phase, before any container exists.</a:t>
            </a:r>
          </a:p>
          <a:p>
            <a:r>
              <a:rPr dirty="0"/>
              <a:t>4. The compute driver provisions the workload and places the supervisor. The note defines placement.</a:t>
            </a:r>
          </a:p>
          <a:p>
            <a:r>
              <a:rPr dirty="0"/>
              <a:t>5. Provisioning, by the driver: it creates the resources. Docker and the VM may return early.</a:t>
            </a:r>
          </a:p>
          <a:p>
            <a:r>
              <a:rPr dirty="0"/>
              <a:t>6. The sandbox runtime, inside the workload: process control and mediation.</a:t>
            </a:r>
          </a:p>
          <a:p>
            <a:r>
              <a:rPr dirty="0"/>
              <a:t>7. The trusted supervisor, outside: policy and credentials, the authenticated runtime channel from the runtime, and the control session it opens to the gateway.</a:t>
            </a:r>
          </a:p>
          <a:p>
            <a:r>
              <a:rPr dirty="0"/>
              <a:t>8. The supervisor's hello: it connects out to the gateway and opens the control stream that later carries exec's relay.</a:t>
            </a:r>
          </a:p>
          <a:p>
            <a:r>
              <a:rPr dirty="0"/>
              <a:t>9. Ready: the gateway publishes the sandbox as usable through its API. Ready says the supervisor talked back, and nothing about the agent.</a:t>
            </a:r>
          </a:p>
          <a:p>
            <a:r>
              <a:rPr dirty="0"/>
              <a:t>10. The approved external service: what remains reachable, through the supervisor.</a:t>
            </a:r>
          </a:p>
          <a:p>
            <a:r>
              <a:rPr dirty="0"/>
              <a:t>11. In action: our terminal, Docker on Colima, </a:t>
            </a:r>
            <a:r>
              <a:rPr dirty="0" err="1"/>
              <a:t>cyberbird</a:t>
            </a:r>
            <a:r>
              <a:rPr dirty="0"/>
              <a:t> and bandit in the workload, and a supervisor that admits only the model server.</a:t>
            </a:r>
          </a:p>
          <a:p>
            <a:r>
              <a:rPr dirty="0"/>
              <a:t>12. In action, the phases: </a:t>
            </a:r>
            <a:r>
              <a:rPr dirty="0" err="1"/>
              <a:t>cyberbird's</a:t>
            </a:r>
            <a:r>
              <a:rPr dirty="0"/>
              <a:t> record and UUID, Docker on Colima with the image cyberbird:1, the captured condition "Supervisor session connected", and sandbox list showing Ready.</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name </a:t>
            </a:r>
            <a:r>
              <a:rPr dirty="0" err="1"/>
              <a:t>OpenShell's</a:t>
            </a:r>
            <a:r>
              <a:rPr dirty="0"/>
              <a:t> parts and follow one sandbox through them. The figure is the guide's Figure 1 with the sandbox's phases in a band above it, and each phase arrives on the click after the component that performs it. The client (the </a:t>
            </a:r>
            <a:r>
              <a:rPr dirty="0" err="1"/>
              <a:t>openshell</a:t>
            </a:r>
            <a:r>
              <a:rPr dirty="0"/>
              <a:t> CLI, the TUI or an SDK) sends management requests to </a:t>
            </a:r>
            <a:r>
              <a:rPr dirty="0" err="1"/>
              <a:t>OpenShell's</a:t>
            </a:r>
            <a:r>
              <a:rPr dirty="0"/>
              <a:t>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a:t>
            </a:r>
            <a:r>
              <a:rPr dirty="0" err="1"/>
              <a:t>Podman</a:t>
            </a:r>
            <a:r>
              <a:rPr dirty="0"/>
              <a:t>, Kubernetes or a </a:t>
            </a:r>
            <a:r>
              <a:rPr dirty="0" err="1"/>
              <a:t>microVM</a:t>
            </a:r>
            <a:r>
              <a:rPr dirty="0"/>
              <a:t>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dirty="0"/>
          </a:p>
          <a:p>
            <a:r>
              <a:rPr dirty="0"/>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dirty="0"/>
          </a:p>
          <a:p>
            <a:r>
              <a:rPr dirty="0"/>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a:t>
            </a:r>
            <a:r>
              <a:rPr dirty="0" err="1"/>
              <a:t>Cyberbird</a:t>
            </a:r>
            <a:r>
              <a:rPr dirty="0"/>
              <a:t> on October 15, 2026 (OpenShell 0.1.4, Colima): create printed "Created sandbox: </a:t>
            </a:r>
            <a:r>
              <a:rPr dirty="0" err="1"/>
              <a:t>cyberbird</a:t>
            </a:r>
            <a:r>
              <a:rPr dirty="0"/>
              <a:t>", "[0.0s] Requesting compute...", "[0.0s] Sandbox allocated" and "[0.1s] Starting sandbox Container created"; sandbox get showed "Ready: True (</a:t>
            </a:r>
            <a:r>
              <a:rPr dirty="0" err="1"/>
              <a:t>DependenciesReady</a:t>
            </a:r>
            <a:r>
              <a:rPr dirty="0"/>
              <a:t>) - Supervisor session connected", Id 86d1c2e9-99a7-4c49-9101-118c7f4e3230 and runtime-generation d1326079-66a5-44ab-9db3-51e13ac8dc46; sandbox list at 22:42:24 EDT printed "</a:t>
            </a:r>
            <a:r>
              <a:rPr dirty="0" err="1"/>
              <a:t>cyberbird</a:t>
            </a:r>
            <a:r>
              <a:rPr dirty="0"/>
              <a:t>  2026-10-16 02:42:20  Ready" (CREATED is UTC, so 22:42:20 EDT).</a:t>
            </a:r>
          </a:p>
          <a:p>
            <a:endParaRPr dirty="0"/>
          </a:p>
          <a:p>
            <a:r>
              <a:rPr dirty="0"/>
              <a:t>The figure, stage by stage.</a:t>
            </a:r>
          </a:p>
          <a:p>
            <a:r>
              <a:rPr dirty="0"/>
              <a:t>1. The client: the CLI, TUI or an SDK sends management requests. The agent and its tools in the untrusted workload are the frame, and the sandbox's phases wait above as ghosts.</a:t>
            </a:r>
          </a:p>
          <a:p>
            <a:r>
              <a:rPr dirty="0"/>
              <a:t>2. The gateway: identity and records, and the configuration it hands on.</a:t>
            </a:r>
          </a:p>
          <a:p>
            <a:r>
              <a:rPr dirty="0"/>
              <a:t>3. The record persisted, by the gateway: its checks pass and it stores the record, in the Provisioning phase, before any container exists.</a:t>
            </a:r>
          </a:p>
          <a:p>
            <a:r>
              <a:rPr dirty="0"/>
              <a:t>4. The compute driver provisions the workload and places the supervisor. The note defines placement.</a:t>
            </a:r>
          </a:p>
          <a:p>
            <a:r>
              <a:rPr dirty="0"/>
              <a:t>5. Provisioning, by the driver: it creates the resources. Docker and the VM may return early.</a:t>
            </a:r>
          </a:p>
          <a:p>
            <a:r>
              <a:rPr dirty="0"/>
              <a:t>6. The sandbox runtime, inside the workload: process control and mediation.</a:t>
            </a:r>
          </a:p>
          <a:p>
            <a:r>
              <a:rPr dirty="0"/>
              <a:t>7. The trusted supervisor, outside: policy and credentials, the authenticated runtime channel from the runtime, and the control session it opens to the gateway.</a:t>
            </a:r>
          </a:p>
          <a:p>
            <a:r>
              <a:rPr dirty="0"/>
              <a:t>8. The supervisor's hello: it connects out to the gateway and opens the control stream that later carries exec's relay.</a:t>
            </a:r>
          </a:p>
          <a:p>
            <a:r>
              <a:rPr dirty="0"/>
              <a:t>9. Ready: the gateway publishes the sandbox as usable through its API. Ready says the supervisor talked back, and nothing about the agent.</a:t>
            </a:r>
          </a:p>
          <a:p>
            <a:r>
              <a:rPr dirty="0"/>
              <a:t>10. The approved external service: what remains reachable, through the supervisor.</a:t>
            </a:r>
          </a:p>
          <a:p>
            <a:r>
              <a:rPr dirty="0"/>
              <a:t>11. In action: our terminal, Docker on Colima, </a:t>
            </a:r>
            <a:r>
              <a:rPr dirty="0" err="1"/>
              <a:t>cyberbird</a:t>
            </a:r>
            <a:r>
              <a:rPr dirty="0"/>
              <a:t> and bandit in the workload, and a supervisor that admits only the model server.</a:t>
            </a:r>
          </a:p>
          <a:p>
            <a:r>
              <a:rPr dirty="0"/>
              <a:t>12. In action, the phases: </a:t>
            </a:r>
            <a:r>
              <a:rPr dirty="0" err="1"/>
              <a:t>cyberbird's</a:t>
            </a:r>
            <a:r>
              <a:rPr dirty="0"/>
              <a:t> record and UUID, Docker on Colima with the image cyberbird:1, the captured condition "Supervisor session connected", and sandbox list showing Ready.</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name </a:t>
            </a:r>
            <a:r>
              <a:rPr dirty="0" err="1"/>
              <a:t>OpenShell's</a:t>
            </a:r>
            <a:r>
              <a:rPr dirty="0"/>
              <a:t> parts and follow one sandbox through them. The figure is the guide's Figure 1 with the sandbox's phases in a band above it, and each phase arrives on the click after the component that performs it. The client (the </a:t>
            </a:r>
            <a:r>
              <a:rPr dirty="0" err="1"/>
              <a:t>openshell</a:t>
            </a:r>
            <a:r>
              <a:rPr dirty="0"/>
              <a:t> CLI, the TUI or an SDK) sends management requests to </a:t>
            </a:r>
            <a:r>
              <a:rPr dirty="0" err="1"/>
              <a:t>OpenShell's</a:t>
            </a:r>
            <a:r>
              <a:rPr dirty="0"/>
              <a:t>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a:t>
            </a:r>
            <a:r>
              <a:rPr dirty="0" err="1"/>
              <a:t>Podman</a:t>
            </a:r>
            <a:r>
              <a:rPr dirty="0"/>
              <a:t>, Kubernetes or a </a:t>
            </a:r>
            <a:r>
              <a:rPr dirty="0" err="1"/>
              <a:t>microVM</a:t>
            </a:r>
            <a:r>
              <a:rPr dirty="0"/>
              <a:t>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dirty="0"/>
          </a:p>
          <a:p>
            <a:r>
              <a:rPr dirty="0"/>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dirty="0"/>
          </a:p>
          <a:p>
            <a:r>
              <a:rPr dirty="0"/>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a:t>
            </a:r>
            <a:r>
              <a:rPr dirty="0" err="1"/>
              <a:t>Cyberbird</a:t>
            </a:r>
            <a:r>
              <a:rPr dirty="0"/>
              <a:t> on October 15, 2026 (OpenShell 0.1.4, Colima): create printed "Created sandbox: </a:t>
            </a:r>
            <a:r>
              <a:rPr dirty="0" err="1"/>
              <a:t>cyberbird</a:t>
            </a:r>
            <a:r>
              <a:rPr dirty="0"/>
              <a:t>", "[0.0s] Requesting compute...", "[0.0s] Sandbox allocated" and "[0.1s] Starting sandbox Container created"; sandbox get showed "Ready: True (</a:t>
            </a:r>
            <a:r>
              <a:rPr dirty="0" err="1"/>
              <a:t>DependenciesReady</a:t>
            </a:r>
            <a:r>
              <a:rPr dirty="0"/>
              <a:t>) - Supervisor session connected", Id 86d1c2e9-99a7-4c49-9101-118c7f4e3230 and runtime-generation d1326079-66a5-44ab-9db3-51e13ac8dc46; sandbox list at 22:42:24 EDT printed "</a:t>
            </a:r>
            <a:r>
              <a:rPr dirty="0" err="1"/>
              <a:t>cyberbird</a:t>
            </a:r>
            <a:r>
              <a:rPr dirty="0"/>
              <a:t>  2026-10-16 02:42:20  Ready" (CREATED is UTC, so 22:42:20 EDT).</a:t>
            </a:r>
          </a:p>
          <a:p>
            <a:endParaRPr dirty="0"/>
          </a:p>
          <a:p>
            <a:r>
              <a:rPr dirty="0"/>
              <a:t>The figure, stage by stage.</a:t>
            </a:r>
          </a:p>
          <a:p>
            <a:r>
              <a:rPr dirty="0"/>
              <a:t>1. The client: the CLI, TUI or an SDK sends management requests. The agent and its tools in the untrusted workload are the frame, and the sandbox's phases wait above as ghosts.</a:t>
            </a:r>
          </a:p>
          <a:p>
            <a:r>
              <a:rPr dirty="0"/>
              <a:t>2. The gateway: identity and records, and the configuration it hands on.</a:t>
            </a:r>
          </a:p>
          <a:p>
            <a:r>
              <a:rPr dirty="0"/>
              <a:t>3. The record persisted, by the gateway: its checks pass and it stores the record, in the Provisioning phase, before any container exists.</a:t>
            </a:r>
          </a:p>
          <a:p>
            <a:r>
              <a:rPr dirty="0"/>
              <a:t>4. The compute driver provisions the workload and places the supervisor. The note defines placement.</a:t>
            </a:r>
          </a:p>
          <a:p>
            <a:r>
              <a:rPr dirty="0"/>
              <a:t>5. Provisioning, by the driver: it creates the resources. Docker and the VM may return early.</a:t>
            </a:r>
          </a:p>
          <a:p>
            <a:r>
              <a:rPr dirty="0"/>
              <a:t>6. The sandbox runtime, inside the workload: process control and mediation.</a:t>
            </a:r>
          </a:p>
          <a:p>
            <a:r>
              <a:rPr dirty="0"/>
              <a:t>7. The trusted supervisor, outside: policy and credentials, the authenticated runtime channel from the runtime, and the control session it opens to the gateway.</a:t>
            </a:r>
          </a:p>
          <a:p>
            <a:r>
              <a:rPr dirty="0"/>
              <a:t>8. The supervisor's hello: it connects out to the gateway and opens the control stream that later carries exec's relay.</a:t>
            </a:r>
          </a:p>
          <a:p>
            <a:r>
              <a:rPr dirty="0"/>
              <a:t>9. Ready: the gateway publishes the sandbox as usable through its API. Ready says the supervisor talked back, and nothing about the agent.</a:t>
            </a:r>
          </a:p>
          <a:p>
            <a:r>
              <a:rPr dirty="0"/>
              <a:t>10. The approved external service: what remains reachable, through the supervisor.</a:t>
            </a:r>
          </a:p>
          <a:p>
            <a:r>
              <a:rPr dirty="0"/>
              <a:t>11. In action: our terminal, Docker on Colima, </a:t>
            </a:r>
            <a:r>
              <a:rPr dirty="0" err="1"/>
              <a:t>cyberbird</a:t>
            </a:r>
            <a:r>
              <a:rPr dirty="0"/>
              <a:t> and bandit in the workload, and a supervisor that admits only the model server.</a:t>
            </a:r>
          </a:p>
          <a:p>
            <a:r>
              <a:rPr dirty="0"/>
              <a:t>12. In action, the phases: </a:t>
            </a:r>
            <a:r>
              <a:rPr dirty="0" err="1"/>
              <a:t>cyberbird's</a:t>
            </a:r>
            <a:r>
              <a:rPr dirty="0"/>
              <a:t> record and UUID, Docker on Colima with the image cyberbird:1, the captured condition "Supervisor session connected", and sandbox list showing Ready.</a:t>
            </a: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name </a:t>
            </a:r>
            <a:r>
              <a:rPr dirty="0" err="1"/>
              <a:t>OpenShell's</a:t>
            </a:r>
            <a:r>
              <a:rPr dirty="0"/>
              <a:t> parts and follow one sandbox through them. The figure is the guide's Figure 1 with the sandbox's phases in a band above it, and each phase arrives on the click after the component that performs it. The client (the </a:t>
            </a:r>
            <a:r>
              <a:rPr dirty="0" err="1"/>
              <a:t>openshell</a:t>
            </a:r>
            <a:r>
              <a:rPr dirty="0"/>
              <a:t> CLI, the TUI or an SDK) sends management requests to </a:t>
            </a:r>
            <a:r>
              <a:rPr dirty="0" err="1"/>
              <a:t>OpenShell's</a:t>
            </a:r>
            <a:r>
              <a:rPr dirty="0"/>
              <a:t>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a:t>
            </a:r>
            <a:r>
              <a:rPr dirty="0" err="1"/>
              <a:t>Podman</a:t>
            </a:r>
            <a:r>
              <a:rPr dirty="0"/>
              <a:t>, Kubernetes or a </a:t>
            </a:r>
            <a:r>
              <a:rPr dirty="0" err="1"/>
              <a:t>microVM</a:t>
            </a:r>
            <a:r>
              <a:rPr dirty="0"/>
              <a:t>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dirty="0"/>
          </a:p>
          <a:p>
            <a:r>
              <a:rPr dirty="0"/>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dirty="0"/>
          </a:p>
          <a:p>
            <a:r>
              <a:rPr dirty="0"/>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a:t>
            </a:r>
            <a:r>
              <a:rPr dirty="0" err="1"/>
              <a:t>Cyberbird</a:t>
            </a:r>
            <a:r>
              <a:rPr dirty="0"/>
              <a:t> on October 15, 2026 (OpenShell 0.1.4, Colima): create printed "Created sandbox: </a:t>
            </a:r>
            <a:r>
              <a:rPr dirty="0" err="1"/>
              <a:t>cyberbird</a:t>
            </a:r>
            <a:r>
              <a:rPr dirty="0"/>
              <a:t>", "[0.0s] Requesting compute...", "[0.0s] Sandbox allocated" and "[0.1s] Starting sandbox Container created"; sandbox get showed "Ready: True (</a:t>
            </a:r>
            <a:r>
              <a:rPr dirty="0" err="1"/>
              <a:t>DependenciesReady</a:t>
            </a:r>
            <a:r>
              <a:rPr dirty="0"/>
              <a:t>) - Supervisor session connected", Id 86d1c2e9-99a7-4c49-9101-118c7f4e3230 and runtime-generation d1326079-66a5-44ab-9db3-51e13ac8dc46; sandbox list at 22:42:24 EDT printed "</a:t>
            </a:r>
            <a:r>
              <a:rPr dirty="0" err="1"/>
              <a:t>cyberbird</a:t>
            </a:r>
            <a:r>
              <a:rPr dirty="0"/>
              <a:t>  2026-10-16 02:42:20  Ready" (CREATED is UTC, so 22:42:20 EDT).</a:t>
            </a:r>
          </a:p>
          <a:p>
            <a:endParaRPr dirty="0"/>
          </a:p>
          <a:p>
            <a:r>
              <a:rPr dirty="0"/>
              <a:t>The figure, stage by stage.</a:t>
            </a:r>
          </a:p>
          <a:p>
            <a:r>
              <a:rPr dirty="0"/>
              <a:t>1. The client: the CLI, TUI or an SDK sends management requests. The agent and its tools in the untrusted workload are the frame, and the sandbox's phases wait above as ghosts.</a:t>
            </a:r>
          </a:p>
          <a:p>
            <a:r>
              <a:rPr dirty="0"/>
              <a:t>2. The gateway: identity and records, and the configuration it hands on.</a:t>
            </a:r>
          </a:p>
          <a:p>
            <a:r>
              <a:rPr dirty="0"/>
              <a:t>3. The record persisted, by the gateway: its checks pass and it stores the record, in the Provisioning phase, before any container exists.</a:t>
            </a:r>
          </a:p>
          <a:p>
            <a:r>
              <a:rPr dirty="0"/>
              <a:t>4. The compute driver provisions the workload and places the supervisor. The note defines placement.</a:t>
            </a:r>
          </a:p>
          <a:p>
            <a:r>
              <a:rPr dirty="0"/>
              <a:t>5. Provisioning, by the driver: it creates the resources. Docker and the VM may return early.</a:t>
            </a:r>
          </a:p>
          <a:p>
            <a:r>
              <a:rPr dirty="0"/>
              <a:t>6. The sandbox runtime, inside the workload: process control and mediation.</a:t>
            </a:r>
          </a:p>
          <a:p>
            <a:r>
              <a:rPr dirty="0"/>
              <a:t>7. The trusted supervisor, outside: policy and credentials, the authenticated runtime channel from the runtime, and the control session it opens to the gateway.</a:t>
            </a:r>
          </a:p>
          <a:p>
            <a:r>
              <a:rPr dirty="0"/>
              <a:t>8. The supervisor's hello: it connects out to the gateway and opens the control stream that later carries exec's relay.</a:t>
            </a:r>
          </a:p>
          <a:p>
            <a:r>
              <a:rPr dirty="0"/>
              <a:t>9. Ready: the gateway publishes the sandbox as usable through its API. Ready says the supervisor talked back, and nothing about the agent.</a:t>
            </a:r>
          </a:p>
          <a:p>
            <a:r>
              <a:rPr dirty="0"/>
              <a:t>10. The approved external service: what remains reachable, through the supervisor.</a:t>
            </a:r>
          </a:p>
          <a:p>
            <a:r>
              <a:rPr dirty="0"/>
              <a:t>11. In action: our terminal, Docker on Colima, </a:t>
            </a:r>
            <a:r>
              <a:rPr dirty="0" err="1"/>
              <a:t>cyberbird</a:t>
            </a:r>
            <a:r>
              <a:rPr dirty="0"/>
              <a:t> and bandit in the workload, and a supervisor that admits only the model server.</a:t>
            </a:r>
          </a:p>
          <a:p>
            <a:r>
              <a:rPr dirty="0"/>
              <a:t>12. In action, the phases: </a:t>
            </a:r>
            <a:r>
              <a:rPr dirty="0" err="1"/>
              <a:t>cyberbird's</a:t>
            </a:r>
            <a:r>
              <a:rPr dirty="0"/>
              <a:t> record and UUID, Docker on Colima with the image cyberbird:1, the captured condition "Supervisor session connected", and sandbox list showing Ready.</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name </a:t>
            </a:r>
            <a:r>
              <a:rPr dirty="0" err="1"/>
              <a:t>OpenShell's</a:t>
            </a:r>
            <a:r>
              <a:rPr dirty="0"/>
              <a:t> parts and follow one sandbox through them. The figure is the guide's Figure 1 with the sandbox's phases in a band above it, and each phase arrives on the click after the component that performs it. The client (the </a:t>
            </a:r>
            <a:r>
              <a:rPr dirty="0" err="1"/>
              <a:t>openshell</a:t>
            </a:r>
            <a:r>
              <a:rPr dirty="0"/>
              <a:t> CLI, the TUI or an SDK) sends management requests to </a:t>
            </a:r>
            <a:r>
              <a:rPr dirty="0" err="1"/>
              <a:t>OpenShell's</a:t>
            </a:r>
            <a:r>
              <a:rPr dirty="0"/>
              <a:t>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a:t>
            </a:r>
            <a:r>
              <a:rPr dirty="0" err="1"/>
              <a:t>Podman</a:t>
            </a:r>
            <a:r>
              <a:rPr dirty="0"/>
              <a:t>, Kubernetes or a </a:t>
            </a:r>
            <a:r>
              <a:rPr dirty="0" err="1"/>
              <a:t>microVM</a:t>
            </a:r>
            <a:r>
              <a:rPr dirty="0"/>
              <a:t>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dirty="0"/>
          </a:p>
          <a:p>
            <a:r>
              <a:rPr dirty="0"/>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dirty="0"/>
          </a:p>
          <a:p>
            <a:r>
              <a:rPr dirty="0"/>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a:t>
            </a:r>
            <a:r>
              <a:rPr dirty="0" err="1"/>
              <a:t>Cyberbird</a:t>
            </a:r>
            <a:r>
              <a:rPr dirty="0"/>
              <a:t> on October 15, 2026 (OpenShell 0.1.4, Colima): create printed "Created sandbox: </a:t>
            </a:r>
            <a:r>
              <a:rPr dirty="0" err="1"/>
              <a:t>cyberbird</a:t>
            </a:r>
            <a:r>
              <a:rPr dirty="0"/>
              <a:t>", "[0.0s] Requesting compute...", "[0.0s] Sandbox allocated" and "[0.1s] Starting sandbox Container created"; sandbox get showed "Ready: True (</a:t>
            </a:r>
            <a:r>
              <a:rPr dirty="0" err="1"/>
              <a:t>DependenciesReady</a:t>
            </a:r>
            <a:r>
              <a:rPr dirty="0"/>
              <a:t>) - Supervisor session connected", Id 86d1c2e9-99a7-4c49-9101-118c7f4e3230 and runtime-generation d1326079-66a5-44ab-9db3-51e13ac8dc46; sandbox list at 22:42:24 EDT printed "</a:t>
            </a:r>
            <a:r>
              <a:rPr dirty="0" err="1"/>
              <a:t>cyberbird</a:t>
            </a:r>
            <a:r>
              <a:rPr dirty="0"/>
              <a:t>  2026-10-16 02:42:20  Ready" (CREATED is UTC, so 22:42:20 EDT).</a:t>
            </a:r>
          </a:p>
          <a:p>
            <a:endParaRPr dirty="0"/>
          </a:p>
          <a:p>
            <a:r>
              <a:rPr dirty="0"/>
              <a:t>The figure, stage by stage.</a:t>
            </a:r>
          </a:p>
          <a:p>
            <a:r>
              <a:rPr dirty="0"/>
              <a:t>1. The client: the CLI, TUI or an SDK sends management requests. The agent and its tools in the untrusted workload are the frame, and the sandbox's phases wait above as ghosts.</a:t>
            </a:r>
          </a:p>
          <a:p>
            <a:r>
              <a:rPr dirty="0"/>
              <a:t>2. The gateway: identity and records, and the configuration it hands on.</a:t>
            </a:r>
          </a:p>
          <a:p>
            <a:r>
              <a:rPr dirty="0"/>
              <a:t>3. The record persisted, by the gateway: its checks pass and it stores the record, in the Provisioning phase, before any container exists.</a:t>
            </a:r>
          </a:p>
          <a:p>
            <a:r>
              <a:rPr dirty="0"/>
              <a:t>4. The compute driver provisions the workload and places the supervisor. The note defines placement.</a:t>
            </a:r>
          </a:p>
          <a:p>
            <a:r>
              <a:rPr dirty="0"/>
              <a:t>5. Provisioning, by the driver: it creates the resources. Docker and the VM may return early.</a:t>
            </a:r>
          </a:p>
          <a:p>
            <a:r>
              <a:rPr dirty="0"/>
              <a:t>6. The sandbox runtime, inside the workload: process control and mediation.</a:t>
            </a:r>
          </a:p>
          <a:p>
            <a:r>
              <a:rPr dirty="0"/>
              <a:t>7. The trusted supervisor, outside: policy and credentials, the authenticated runtime channel from the runtime, and the control session it opens to the gateway.</a:t>
            </a:r>
          </a:p>
          <a:p>
            <a:r>
              <a:rPr dirty="0"/>
              <a:t>8. The supervisor's hello: it connects out to the gateway and opens the control stream that later carries exec's relay.</a:t>
            </a:r>
          </a:p>
          <a:p>
            <a:r>
              <a:rPr dirty="0"/>
              <a:t>9. Ready: the gateway publishes the sandbox as usable through its API. Ready says the supervisor talked back, and nothing about the agent.</a:t>
            </a:r>
          </a:p>
          <a:p>
            <a:r>
              <a:rPr dirty="0"/>
              <a:t>10. The approved external service: what remains reachable, through the supervisor.</a:t>
            </a:r>
          </a:p>
          <a:p>
            <a:r>
              <a:rPr dirty="0"/>
              <a:t>11. In action: our terminal, Docker on Colima, </a:t>
            </a:r>
            <a:r>
              <a:rPr dirty="0" err="1"/>
              <a:t>cyberbird</a:t>
            </a:r>
            <a:r>
              <a:rPr dirty="0"/>
              <a:t> and bandit in the workload, and a supervisor that admits only the model server.</a:t>
            </a:r>
          </a:p>
          <a:p>
            <a:r>
              <a:rPr dirty="0"/>
              <a:t>12. In action, the phases: </a:t>
            </a:r>
            <a:r>
              <a:rPr dirty="0" err="1"/>
              <a:t>cyberbird's</a:t>
            </a:r>
            <a:r>
              <a:rPr dirty="0"/>
              <a:t> record and UUID, Docker on Colima with the image cyberbird:1, the captured condition "Supervisor session connected", and sandbox list showing Ready.</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name </a:t>
            </a:r>
            <a:r>
              <a:rPr dirty="0" err="1"/>
              <a:t>OpenShell's</a:t>
            </a:r>
            <a:r>
              <a:rPr dirty="0"/>
              <a:t> parts and follow one sandbox through them. The figure is the guide's Figure 1 with the sandbox's phases in a band above it, and each phase arrives on the click after the component that performs it. The client (the </a:t>
            </a:r>
            <a:r>
              <a:rPr dirty="0" err="1"/>
              <a:t>openshell</a:t>
            </a:r>
            <a:r>
              <a:rPr dirty="0"/>
              <a:t> CLI, the TUI or an SDK) sends management requests to </a:t>
            </a:r>
            <a:r>
              <a:rPr dirty="0" err="1"/>
              <a:t>OpenShell's</a:t>
            </a:r>
            <a:r>
              <a:rPr dirty="0"/>
              <a:t>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a:t>
            </a:r>
            <a:r>
              <a:rPr dirty="0" err="1"/>
              <a:t>Podman</a:t>
            </a:r>
            <a:r>
              <a:rPr dirty="0"/>
              <a:t>, Kubernetes or a </a:t>
            </a:r>
            <a:r>
              <a:rPr dirty="0" err="1"/>
              <a:t>microVM</a:t>
            </a:r>
            <a:r>
              <a:rPr dirty="0"/>
              <a:t>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dirty="0"/>
          </a:p>
          <a:p>
            <a:r>
              <a:rPr dirty="0"/>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dirty="0"/>
          </a:p>
          <a:p>
            <a:r>
              <a:rPr dirty="0"/>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a:t>
            </a:r>
            <a:r>
              <a:rPr dirty="0" err="1"/>
              <a:t>Cyberbird</a:t>
            </a:r>
            <a:r>
              <a:rPr dirty="0"/>
              <a:t> on October 15, 2026 (OpenShell 0.1.4, Colima): create printed "Created sandbox: </a:t>
            </a:r>
            <a:r>
              <a:rPr dirty="0" err="1"/>
              <a:t>cyberbird</a:t>
            </a:r>
            <a:r>
              <a:rPr dirty="0"/>
              <a:t>", "[0.0s] Requesting compute...", "[0.0s] Sandbox allocated" and "[0.1s] Starting sandbox Container created"; sandbox get showed "Ready: True (</a:t>
            </a:r>
            <a:r>
              <a:rPr dirty="0" err="1"/>
              <a:t>DependenciesReady</a:t>
            </a:r>
            <a:r>
              <a:rPr dirty="0"/>
              <a:t>) - Supervisor session connected", Id 86d1c2e9-99a7-4c49-9101-118c7f4e3230 and runtime-generation d1326079-66a5-44ab-9db3-51e13ac8dc46; sandbox list at 22:42:24 EDT printed "</a:t>
            </a:r>
            <a:r>
              <a:rPr dirty="0" err="1"/>
              <a:t>cyberbird</a:t>
            </a:r>
            <a:r>
              <a:rPr dirty="0"/>
              <a:t>  2026-10-16 02:42:20  Ready" (CREATED is UTC, so 22:42:20 EDT).</a:t>
            </a:r>
          </a:p>
          <a:p>
            <a:endParaRPr dirty="0"/>
          </a:p>
          <a:p>
            <a:r>
              <a:rPr dirty="0"/>
              <a:t>The figure, stage by stage.</a:t>
            </a:r>
          </a:p>
          <a:p>
            <a:r>
              <a:rPr dirty="0"/>
              <a:t>1. The client: the CLI, TUI or an SDK sends management requests. The agent and its tools in the untrusted workload are the frame, and the sandbox's phases wait above as ghosts.</a:t>
            </a:r>
          </a:p>
          <a:p>
            <a:r>
              <a:rPr dirty="0"/>
              <a:t>2. The gateway: identity and records, and the configuration it hands on.</a:t>
            </a:r>
          </a:p>
          <a:p>
            <a:r>
              <a:rPr dirty="0"/>
              <a:t>3. The record persisted, by the gateway: its checks pass and it stores the record, in the Provisioning phase, before any container exists.</a:t>
            </a:r>
          </a:p>
          <a:p>
            <a:r>
              <a:rPr dirty="0"/>
              <a:t>4. The compute driver provisions the workload and places the supervisor. The note defines placement.</a:t>
            </a:r>
          </a:p>
          <a:p>
            <a:r>
              <a:rPr dirty="0"/>
              <a:t>5. Provisioning, by the driver: it creates the resources. Docker and the VM may return early.</a:t>
            </a:r>
          </a:p>
          <a:p>
            <a:r>
              <a:rPr dirty="0"/>
              <a:t>6. The sandbox runtime, inside the workload: process control and mediation.</a:t>
            </a:r>
          </a:p>
          <a:p>
            <a:r>
              <a:rPr dirty="0"/>
              <a:t>7. The trusted supervisor, outside: policy and credentials, the authenticated runtime channel from the runtime, and the control session it opens to the gateway.</a:t>
            </a:r>
          </a:p>
          <a:p>
            <a:r>
              <a:rPr dirty="0"/>
              <a:t>8. The supervisor's hello: it connects out to the gateway and opens the control stream that later carries exec's relay.</a:t>
            </a:r>
          </a:p>
          <a:p>
            <a:r>
              <a:rPr dirty="0"/>
              <a:t>9. Ready: the gateway publishes the sandbox as usable through its API. Ready says the supervisor talked back, and nothing about the agent.</a:t>
            </a:r>
          </a:p>
          <a:p>
            <a:r>
              <a:rPr dirty="0"/>
              <a:t>10. The approved external service: what remains reachable, through the supervisor.</a:t>
            </a:r>
          </a:p>
          <a:p>
            <a:r>
              <a:rPr dirty="0"/>
              <a:t>11. In action: our terminal, Docker on Colima, </a:t>
            </a:r>
            <a:r>
              <a:rPr dirty="0" err="1"/>
              <a:t>cyberbird</a:t>
            </a:r>
            <a:r>
              <a:rPr dirty="0"/>
              <a:t> and bandit in the workload, and a supervisor that admits only the model server.</a:t>
            </a:r>
          </a:p>
          <a:p>
            <a:r>
              <a:rPr dirty="0"/>
              <a:t>12. In action, the phases: </a:t>
            </a:r>
            <a:r>
              <a:rPr dirty="0" err="1"/>
              <a:t>cyberbird's</a:t>
            </a:r>
            <a:r>
              <a:rPr dirty="0"/>
              <a:t> record and UUID, Docker on Colima with the image cyberbird:1, the captured condition "Supervisor session connected", and sandbox list showing Ready.</a:t>
            </a: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name </a:t>
            </a:r>
            <a:r>
              <a:rPr dirty="0" err="1"/>
              <a:t>OpenShell's</a:t>
            </a:r>
            <a:r>
              <a:rPr dirty="0"/>
              <a:t> parts and follow one sandbox through them. The figure is the guide's Figure 1 with the sandbox's phases in a band above it, and each phase arrives on the click after the component that performs it. The client (the </a:t>
            </a:r>
            <a:r>
              <a:rPr dirty="0" err="1"/>
              <a:t>openshell</a:t>
            </a:r>
            <a:r>
              <a:rPr dirty="0"/>
              <a:t> CLI, the TUI or an SDK) sends management requests to </a:t>
            </a:r>
            <a:r>
              <a:rPr dirty="0" err="1"/>
              <a:t>OpenShell's</a:t>
            </a:r>
            <a:r>
              <a:rPr dirty="0"/>
              <a:t> gateway, the control plane that authenticates every caller, stores every sandbox record and hands configuration to drivers and supervisors. The gateway checks a create request (identity, workspace, names, template, policy) and persists the record before any container exists, with a UUID, an attachment epoch that stops a re-attached provider from reusing old evidence, and a runtime generation that stops a new run from inheriting old runtime credentials. The compute driver turns the record into platform resources on Docker, </a:t>
            </a:r>
            <a:r>
              <a:rPr dirty="0" err="1"/>
              <a:t>Podman</a:t>
            </a:r>
            <a:r>
              <a:rPr dirty="0"/>
              <a:t>, Kubernetes or a </a:t>
            </a:r>
            <a:r>
              <a:rPr dirty="0" err="1"/>
              <a:t>microVM</a:t>
            </a:r>
            <a:r>
              <a:rPr dirty="0"/>
              <a:t> and decides placement, which is on which host or node the workload and its supervisor run. Docker and the VM may answer early and keep preparing the image, Kubernetes reconciles, and a watch stream reports progress. The untrusted workload is the agent with its tools and child processes, code we assume may be faulty or hostile, together with the sandbox runtime, the small OpenShell program inside it that launches processes, installs the kernel fences and pauses network calls for mediation. The trusted supervisor runs outside that boundary, holds the policy and the real credentials, decides each outbound connection, and talks to the runtime over the authenticated runtime channel, a private connection whose ends authenticate each other. The supervisor connects out to the gateway and says hello, and the gateway then publishes the sandbox as Ready, usable through its API.</a:t>
            </a:r>
          </a:p>
          <a:p>
            <a:endParaRPr dirty="0"/>
          </a:p>
          <a:p>
            <a:r>
              <a:rPr dirty="0"/>
              <a:t>Ready says the supervisor talked back. It says nothing about whether the agent works, and the phases Error (a backend failure the driver reports), Deleting and Stopped still outrank it. Stop keeps the record and stops the compute, start runs it again, and delete removes it, with what is retained depending on the backend: Docker keeps the stopped container, Kubernetes its Sandbox resource, the VM its overlay. The gateway records each phase, so an interrupted create can be reconciled.</a:t>
            </a:r>
          </a:p>
          <a:p>
            <a:endParaRPr dirty="0"/>
          </a:p>
          <a:p>
            <a:r>
              <a:rPr dirty="0"/>
              <a:t>On Docker the workload and the supervisor are separate containers joined by a private Unix socket, the workload's own network is removed, and the supervisor uses the host's network (guide, 6.3). In the recorded run the client was the instructor's terminal, the driver Docker on Colima, and the policy admitted one destination, the model server. Captured for </a:t>
            </a:r>
            <a:r>
              <a:rPr dirty="0" err="1"/>
              <a:t>Cyberbird</a:t>
            </a:r>
            <a:r>
              <a:rPr dirty="0"/>
              <a:t> on October 15, 2026 (OpenShell 0.1.4, Colima): create printed "Created sandbox: </a:t>
            </a:r>
            <a:r>
              <a:rPr dirty="0" err="1"/>
              <a:t>cyberbird</a:t>
            </a:r>
            <a:r>
              <a:rPr dirty="0"/>
              <a:t>", "[0.0s] Requesting compute...", "[0.0s] Sandbox allocated" and "[0.1s] Starting sandbox Container created"; sandbox get showed "Ready: True (</a:t>
            </a:r>
            <a:r>
              <a:rPr dirty="0" err="1"/>
              <a:t>DependenciesReady</a:t>
            </a:r>
            <a:r>
              <a:rPr dirty="0"/>
              <a:t>) - Supervisor session connected", Id 86d1c2e9-99a7-4c49-9101-118c7f4e3230 and runtime-generation d1326079-66a5-44ab-9db3-51e13ac8dc46; sandbox list at 22:42:24 EDT printed "</a:t>
            </a:r>
            <a:r>
              <a:rPr dirty="0" err="1"/>
              <a:t>cyberbird</a:t>
            </a:r>
            <a:r>
              <a:rPr dirty="0"/>
              <a:t>  2026-10-16 02:42:20  Ready" (CREATED is UTC, so 22:42:20 EDT).</a:t>
            </a:r>
          </a:p>
          <a:p>
            <a:endParaRPr dirty="0"/>
          </a:p>
          <a:p>
            <a:r>
              <a:rPr dirty="0"/>
              <a:t>The figure, stage by stage.</a:t>
            </a:r>
          </a:p>
          <a:p>
            <a:r>
              <a:rPr dirty="0"/>
              <a:t>1. The client: the CLI, TUI or an SDK sends management requests. The agent and its tools in the untrusted workload are the frame, and the sandbox's phases wait above as ghosts.</a:t>
            </a:r>
          </a:p>
          <a:p>
            <a:r>
              <a:rPr dirty="0"/>
              <a:t>2. The gateway: identity and records, and the configuration it hands on.</a:t>
            </a:r>
          </a:p>
          <a:p>
            <a:r>
              <a:rPr dirty="0"/>
              <a:t>3. The record persisted, by the gateway: its checks pass and it stores the record, in the Provisioning phase, before any container exists.</a:t>
            </a:r>
          </a:p>
          <a:p>
            <a:r>
              <a:rPr dirty="0"/>
              <a:t>4. The compute driver provisions the workload and places the supervisor. The note defines placement.</a:t>
            </a:r>
          </a:p>
          <a:p>
            <a:r>
              <a:rPr dirty="0"/>
              <a:t>5. Provisioning, by the driver: it creates the resources. Docker and the VM may return early.</a:t>
            </a:r>
          </a:p>
          <a:p>
            <a:r>
              <a:rPr dirty="0"/>
              <a:t>6. The sandbox runtime, inside the workload: process control and mediation.</a:t>
            </a:r>
          </a:p>
          <a:p>
            <a:r>
              <a:rPr dirty="0"/>
              <a:t>7. The trusted supervisor, outside: policy and credentials, the authenticated runtime channel from the runtime, and the control session it opens to the gateway.</a:t>
            </a:r>
          </a:p>
          <a:p>
            <a:r>
              <a:rPr dirty="0"/>
              <a:t>8. The supervisor's hello: it connects out to the gateway and opens the control stream that later carries exec's relay.</a:t>
            </a:r>
          </a:p>
          <a:p>
            <a:r>
              <a:rPr dirty="0"/>
              <a:t>9. Ready: the gateway publishes the sandbox as usable through its API. Ready says the supervisor talked back, and nothing about the agent.</a:t>
            </a:r>
          </a:p>
          <a:p>
            <a:r>
              <a:rPr dirty="0"/>
              <a:t>10. The approved external service: what remains reachable, through the supervisor.</a:t>
            </a:r>
          </a:p>
          <a:p>
            <a:r>
              <a:rPr dirty="0"/>
              <a:t>11. In action: our terminal, Docker on Colima, </a:t>
            </a:r>
            <a:r>
              <a:rPr dirty="0" err="1"/>
              <a:t>cyberbird</a:t>
            </a:r>
            <a:r>
              <a:rPr dirty="0"/>
              <a:t> and bandit in the workload, and a supervisor that admits only the model server.</a:t>
            </a:r>
          </a:p>
          <a:p>
            <a:r>
              <a:rPr dirty="0"/>
              <a:t>12. In action, the phases: </a:t>
            </a:r>
            <a:r>
              <a:rPr dirty="0" err="1"/>
              <a:t>cyberbird's</a:t>
            </a:r>
            <a:r>
              <a:rPr dirty="0"/>
              <a:t> record and UUID, Docker on Colima with the image cyberbird:1, the captured condition "Supervisor session connected", and sandbox list showing Ready.</a:t>
            </a: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read the two commands that start a sandbox and run a workload in it, token by token, against the components and phases of the previous build. sandbox create asks the gateway for a sandbox: the gateway persists the record, the driver provisions the container, and the supervisor's hello makes it Ready. sandbox exec asks the gateway to run one more command in that sandbox: the gateway allocates a relay channel and asks the supervisor to connect back, and output and exit status travel back as API events (guide, 4.5). Everything after the double dash is the workload's command, and everything before it is the operator's, which OpenShell reads. sandbox create and sandbox exec appear in the brief's README section, "The sandbox image and the launch commands", and exec again in "How the guardrails are tested": the staff driver starts each team's MCP server with exec --no-login-shell --no-</a:t>
            </a:r>
            <a:r>
              <a:rPr dirty="0" err="1"/>
              <a:t>tty</a:t>
            </a:r>
            <a:r>
              <a:rPr dirty="0"/>
              <a:t>, because a login shell's start-up files can print to standard output and corrupt the JSON-RPC stream, whose first byte must be {. logs and policy get, the other two commands HW2 uses, come after the policy.</a:t>
            </a:r>
          </a:p>
          <a:p>
            <a:endParaRPr dirty="0"/>
          </a:p>
          <a:p>
            <a:r>
              <a:rPr dirty="0"/>
              <a:t>The commands ran on October 15, 2026 with OpenShell 0.1.4 (</a:t>
            </a:r>
            <a:r>
              <a:rPr dirty="0" err="1"/>
              <a:t>cyberbird</a:t>
            </a:r>
            <a:r>
              <a:rPr dirty="0"/>
              <a:t>/</a:t>
            </a:r>
            <a:r>
              <a:rPr dirty="0" err="1"/>
              <a:t>create.txt</a:t>
            </a:r>
            <a:r>
              <a:rPr dirty="0"/>
              <a:t>, </a:t>
            </a:r>
            <a:r>
              <a:rPr dirty="0" err="1"/>
              <a:t>run.txt</a:t>
            </a:r>
            <a:r>
              <a:rPr dirty="0"/>
              <a:t>): create idled the sandbox on sleep infinity and exec started </a:t>
            </a:r>
            <a:r>
              <a:rPr dirty="0" err="1"/>
              <a:t>Cyberbird</a:t>
            </a:r>
            <a:r>
              <a:rPr dirty="0"/>
              <a:t>. exec also passed --env OPENAI_BASE_URL and --env OPENAI_API_KEY, because 0.1.4 hands exec none of the image's ENV values except PATH. </a:t>
            </a:r>
            <a:r>
              <a:rPr dirty="0" err="1"/>
              <a:t>openshell</a:t>
            </a:r>
            <a:r>
              <a:rPr dirty="0"/>
              <a:t> sandbox list then printed "</a:t>
            </a:r>
            <a:r>
              <a:rPr dirty="0" err="1"/>
              <a:t>cyberbird</a:t>
            </a:r>
            <a:r>
              <a:rPr dirty="0"/>
              <a:t>  2026-10-16 02:42:20  Ready".</a:t>
            </a:r>
          </a:p>
          <a:p>
            <a:endParaRPr dirty="0"/>
          </a:p>
          <a:p>
            <a:r>
              <a:rPr dirty="0"/>
              <a:t>The figure, stage by stage.</a:t>
            </a:r>
          </a:p>
          <a:p>
            <a:r>
              <a:rPr dirty="0"/>
              <a:t>1. The shape of sandbox create: a name, an image, a policy, an optional provider, and after the double dash the workload's command.</a:t>
            </a:r>
          </a:p>
          <a:p>
            <a:r>
              <a:rPr dirty="0"/>
              <a:t>2. sandbox create for </a:t>
            </a:r>
            <a:r>
              <a:rPr dirty="0" err="1"/>
              <a:t>Cyberbird</a:t>
            </a:r>
            <a:r>
              <a:rPr dirty="0"/>
              <a:t>, and the lines it printed: the gateway's record, then the container.</a:t>
            </a:r>
          </a:p>
          <a:p>
            <a:r>
              <a:rPr dirty="0"/>
              <a:t>3. sandbox exec: the sandbox, no login shell, no terminal, and </a:t>
            </a:r>
            <a:r>
              <a:rPr dirty="0" err="1"/>
              <a:t>Cyberbird's</a:t>
            </a:r>
            <a:r>
              <a:rPr dirty="0"/>
              <a:t> command, which runs through the supervisor's relay, with the two lines the run ended on.</a:t>
            </a: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read the two commands that start a sandbox and run a workload in it, token by token, against the components and phases of the previous build. sandbox create asks the gateway for a sandbox: the gateway persists the record, the driver provisions the container, and the supervisor's hello makes it Ready. sandbox exec asks the gateway to run one more command in that sandbox: the gateway allocates a relay channel and asks the supervisor to connect back, and output and exit status travel back as API events (guide, 4.5). Everything after the double dash is the workload's command, and everything before it is the operator's, which OpenShell reads. sandbox create and sandbox exec appear in the brief's README section, "The sandbox image and the launch commands", and exec again in "How the guardrails are tested": the staff driver starts each team's MCP server with exec --no-login-shell --no-</a:t>
            </a:r>
            <a:r>
              <a:rPr dirty="0" err="1"/>
              <a:t>tty</a:t>
            </a:r>
            <a:r>
              <a:rPr dirty="0"/>
              <a:t>, because a login shell's start-up files can print to standard output and corrupt the JSON-RPC stream, whose first byte must be {. logs and policy get, the other two commands HW2 uses, come after the policy.</a:t>
            </a:r>
          </a:p>
          <a:p>
            <a:endParaRPr dirty="0"/>
          </a:p>
          <a:p>
            <a:r>
              <a:rPr dirty="0"/>
              <a:t>The commands ran on October 15, 2026 with OpenShell 0.1.4 (</a:t>
            </a:r>
            <a:r>
              <a:rPr dirty="0" err="1"/>
              <a:t>cyberbird</a:t>
            </a:r>
            <a:r>
              <a:rPr dirty="0"/>
              <a:t>/</a:t>
            </a:r>
            <a:r>
              <a:rPr dirty="0" err="1"/>
              <a:t>create.txt</a:t>
            </a:r>
            <a:r>
              <a:rPr dirty="0"/>
              <a:t>, </a:t>
            </a:r>
            <a:r>
              <a:rPr dirty="0" err="1"/>
              <a:t>run.txt</a:t>
            </a:r>
            <a:r>
              <a:rPr dirty="0"/>
              <a:t>): create idled the sandbox on sleep infinity and exec started </a:t>
            </a:r>
            <a:r>
              <a:rPr dirty="0" err="1"/>
              <a:t>Cyberbird</a:t>
            </a:r>
            <a:r>
              <a:rPr dirty="0"/>
              <a:t>. exec also passed --env OPENAI_BASE_URL and --env OPENAI_API_KEY, because 0.1.4 hands exec none of the image's ENV values except PATH. </a:t>
            </a:r>
            <a:r>
              <a:rPr dirty="0" err="1"/>
              <a:t>openshell</a:t>
            </a:r>
            <a:r>
              <a:rPr dirty="0"/>
              <a:t> sandbox list then printed "</a:t>
            </a:r>
            <a:r>
              <a:rPr dirty="0" err="1"/>
              <a:t>cyberbird</a:t>
            </a:r>
            <a:r>
              <a:rPr dirty="0"/>
              <a:t>  2026-10-16 02:42:20  Ready".</a:t>
            </a:r>
          </a:p>
          <a:p>
            <a:endParaRPr dirty="0"/>
          </a:p>
          <a:p>
            <a:r>
              <a:rPr dirty="0"/>
              <a:t>The figure, stage by stage.</a:t>
            </a:r>
          </a:p>
          <a:p>
            <a:r>
              <a:rPr dirty="0"/>
              <a:t>1. The shape of sandbox create: a name, an image, a policy, an optional provider, and after the double dash the workload's command.</a:t>
            </a:r>
          </a:p>
          <a:p>
            <a:r>
              <a:rPr dirty="0"/>
              <a:t>2. sandbox create for </a:t>
            </a:r>
            <a:r>
              <a:rPr dirty="0" err="1"/>
              <a:t>Cyberbird</a:t>
            </a:r>
            <a:r>
              <a:rPr dirty="0"/>
              <a:t>, and the lines it printed: the gateway's record, then the container.</a:t>
            </a:r>
          </a:p>
          <a:p>
            <a:r>
              <a:rPr dirty="0"/>
              <a:t>3. sandbox exec: the sandbox, no login shell, no terminal, and </a:t>
            </a:r>
            <a:r>
              <a:rPr dirty="0" err="1"/>
              <a:t>Cyberbird's</a:t>
            </a:r>
            <a:r>
              <a:rPr dirty="0"/>
              <a:t> command, which runs through the supervisor's relay, with the two lines the run ended on.</a:t>
            </a: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read the two commands that start a sandbox and run a workload in it, token by token, against the components and phases of the previous build. sandbox create asks the gateway for a sandbox: the gateway persists the record, the driver provisions the container, and the supervisor's hello makes it Ready. sandbox exec asks the gateway to run one more command in that sandbox: the gateway allocates a relay channel and asks the supervisor to connect back, and output and exit status travel back as API events (guide, 4.5). Everything after the double dash is the workload's command, and everything before it is the operator's, which OpenShell reads. sandbox create and sandbox exec appear in the brief's README section, "The sandbox image and the launch commands", and exec again in "How the guardrails are tested": the staff driver starts each team's MCP server with exec --no-login-shell --no-</a:t>
            </a:r>
            <a:r>
              <a:rPr dirty="0" err="1"/>
              <a:t>tty</a:t>
            </a:r>
            <a:r>
              <a:rPr dirty="0"/>
              <a:t>, because a login shell's start-up files can print to standard output and corrupt the JSON-RPC stream, whose first byte must be {. logs and policy get, the other two commands HW2 uses, come after the policy.</a:t>
            </a:r>
          </a:p>
          <a:p>
            <a:endParaRPr dirty="0"/>
          </a:p>
          <a:p>
            <a:r>
              <a:rPr dirty="0"/>
              <a:t>The commands ran on October 15, 2026 with OpenShell 0.1.4 (</a:t>
            </a:r>
            <a:r>
              <a:rPr dirty="0" err="1"/>
              <a:t>cyberbird</a:t>
            </a:r>
            <a:r>
              <a:rPr dirty="0"/>
              <a:t>/</a:t>
            </a:r>
            <a:r>
              <a:rPr dirty="0" err="1"/>
              <a:t>create.txt</a:t>
            </a:r>
            <a:r>
              <a:rPr dirty="0"/>
              <a:t>, </a:t>
            </a:r>
            <a:r>
              <a:rPr dirty="0" err="1"/>
              <a:t>run.txt</a:t>
            </a:r>
            <a:r>
              <a:rPr dirty="0"/>
              <a:t>): create idled the sandbox on sleep infinity and exec started </a:t>
            </a:r>
            <a:r>
              <a:rPr dirty="0" err="1"/>
              <a:t>Cyberbird</a:t>
            </a:r>
            <a:r>
              <a:rPr dirty="0"/>
              <a:t>. exec also passed --env OPENAI_BASE_URL and --env OPENAI_API_KEY, because 0.1.4 hands exec none of the image's ENV values except PATH. </a:t>
            </a:r>
            <a:r>
              <a:rPr dirty="0" err="1"/>
              <a:t>openshell</a:t>
            </a:r>
            <a:r>
              <a:rPr dirty="0"/>
              <a:t> sandbox list then printed "</a:t>
            </a:r>
            <a:r>
              <a:rPr dirty="0" err="1"/>
              <a:t>cyberbird</a:t>
            </a:r>
            <a:r>
              <a:rPr dirty="0"/>
              <a:t>  2026-10-16 02:42:20  Ready".</a:t>
            </a:r>
          </a:p>
          <a:p>
            <a:endParaRPr dirty="0"/>
          </a:p>
          <a:p>
            <a:r>
              <a:rPr dirty="0"/>
              <a:t>The figure, stage by stage.</a:t>
            </a:r>
          </a:p>
          <a:p>
            <a:r>
              <a:rPr dirty="0"/>
              <a:t>1. The shape of sandbox create: a name, an image, a policy, an optional provider, and after the double dash the workload's command.</a:t>
            </a:r>
          </a:p>
          <a:p>
            <a:r>
              <a:rPr dirty="0"/>
              <a:t>2. sandbox create for </a:t>
            </a:r>
            <a:r>
              <a:rPr dirty="0" err="1"/>
              <a:t>Cyberbird</a:t>
            </a:r>
            <a:r>
              <a:rPr dirty="0"/>
              <a:t>, and the lines it printed: the gateway's record, then the container.</a:t>
            </a:r>
          </a:p>
          <a:p>
            <a:r>
              <a:rPr dirty="0"/>
              <a:t>3. sandbox exec: the sandbox, no login shell, no terminal, and </a:t>
            </a:r>
            <a:r>
              <a:rPr dirty="0" err="1"/>
              <a:t>Cyberbird's</a:t>
            </a:r>
            <a:r>
              <a:rPr dirty="0"/>
              <a:t> command, which runs through the supervisor's relay, with the two lines the run ended on.</a:t>
            </a: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read the two commands that start a sandbox and run a workload in it, token by token, against the components and phases of the previous build. sandbox create asks the gateway for a sandbox: the gateway persists the record, the driver provisions the container, and the supervisor's hello makes it Ready. sandbox exec asks the gateway to run one more command in that sandbox: the gateway allocates a relay channel and asks the supervisor to connect back, and output and exit status travel back as API events (guide, 4.5). Everything after the double dash is the workload's command, and everything before it is the operator's, which OpenShell reads. sandbox create and sandbox exec appear in the brief's README section, "The sandbox image and the launch commands", and exec again in "How the guardrails are tested": the staff driver starts each team's MCP server with exec --no-login-shell --no-</a:t>
            </a:r>
            <a:r>
              <a:rPr dirty="0" err="1"/>
              <a:t>tty</a:t>
            </a:r>
            <a:r>
              <a:rPr dirty="0"/>
              <a:t>, because a login shell's start-up files can print to standard output and corrupt the JSON-RPC stream, whose first byte must be {. logs and policy get, the other two commands HW2 uses, come after the policy.</a:t>
            </a:r>
          </a:p>
          <a:p>
            <a:endParaRPr dirty="0"/>
          </a:p>
          <a:p>
            <a:r>
              <a:rPr dirty="0"/>
              <a:t>The commands ran on October 15, 2026 with OpenShell 0.1.4 (</a:t>
            </a:r>
            <a:r>
              <a:rPr dirty="0" err="1"/>
              <a:t>cyberbird</a:t>
            </a:r>
            <a:r>
              <a:rPr dirty="0"/>
              <a:t>/</a:t>
            </a:r>
            <a:r>
              <a:rPr dirty="0" err="1"/>
              <a:t>create.txt</a:t>
            </a:r>
            <a:r>
              <a:rPr dirty="0"/>
              <a:t>, </a:t>
            </a:r>
            <a:r>
              <a:rPr dirty="0" err="1"/>
              <a:t>run.txt</a:t>
            </a:r>
            <a:r>
              <a:rPr dirty="0"/>
              <a:t>): create idled the sandbox on sleep infinity and exec started </a:t>
            </a:r>
            <a:r>
              <a:rPr dirty="0" err="1"/>
              <a:t>Cyberbird</a:t>
            </a:r>
            <a:r>
              <a:rPr dirty="0"/>
              <a:t>. exec also passed --env OPENAI_BASE_URL and --env OPENAI_API_KEY, because 0.1.4 hands exec none of the image's ENV values except PATH. </a:t>
            </a:r>
            <a:r>
              <a:rPr dirty="0" err="1"/>
              <a:t>openshell</a:t>
            </a:r>
            <a:r>
              <a:rPr dirty="0"/>
              <a:t> sandbox list then printed "</a:t>
            </a:r>
            <a:r>
              <a:rPr dirty="0" err="1"/>
              <a:t>cyberbird</a:t>
            </a:r>
            <a:r>
              <a:rPr dirty="0"/>
              <a:t>  2026-10-16 02:42:20  Ready".</a:t>
            </a:r>
          </a:p>
          <a:p>
            <a:endParaRPr dirty="0"/>
          </a:p>
          <a:p>
            <a:r>
              <a:rPr dirty="0"/>
              <a:t>The figure, stage by stage.</a:t>
            </a:r>
          </a:p>
          <a:p>
            <a:r>
              <a:rPr dirty="0"/>
              <a:t>1. The shape of sandbox create: a name, an image, a policy, an optional provider, and after the double dash the workload's command.</a:t>
            </a:r>
          </a:p>
          <a:p>
            <a:r>
              <a:rPr dirty="0"/>
              <a:t>2. sandbox create for </a:t>
            </a:r>
            <a:r>
              <a:rPr dirty="0" err="1"/>
              <a:t>Cyberbird</a:t>
            </a:r>
            <a:r>
              <a:rPr dirty="0"/>
              <a:t>, and the lines it printed: the gateway's record, then the container.</a:t>
            </a:r>
          </a:p>
          <a:p>
            <a:r>
              <a:rPr dirty="0"/>
              <a:t>3. sandbox exec: the sandbox, no login shell, no terminal, and </a:t>
            </a:r>
            <a:r>
              <a:rPr dirty="0" err="1"/>
              <a:t>Cyberbird's</a:t>
            </a:r>
            <a:r>
              <a:rPr dirty="0"/>
              <a:t> command, which runs through the supervisor's relay, with the two lines the run ended on.</a:t>
            </a: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a:t>
            </a:r>
            <a:r>
              <a:rPr dirty="0" err="1"/>
              <a:t>sandbox:write</a:t>
            </a:r>
            <a:r>
              <a:rPr dirty="0"/>
              <a:t>)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dirty="0"/>
          </a:p>
          <a:p>
            <a:r>
              <a:rPr dirty="0"/>
              <a:t>For </a:t>
            </a:r>
            <a:r>
              <a:rPr dirty="0" err="1"/>
              <a:t>Cyberbird</a:t>
            </a:r>
            <a:r>
              <a:rPr dirty="0"/>
              <a:t>: </a:t>
            </a:r>
            <a:r>
              <a:rPr dirty="0" err="1"/>
              <a:t>openshell</a:t>
            </a:r>
            <a:r>
              <a:rPr dirty="0"/>
              <a:t> status on the instructor's gateway reported "Authentication: Authenticated (</a:t>
            </a:r>
            <a:r>
              <a:rPr dirty="0" err="1"/>
              <a:t>mTLS</a:t>
            </a:r>
            <a:r>
              <a:rPr dirty="0"/>
              <a:t> transport)"; </a:t>
            </a:r>
            <a:r>
              <a:rPr dirty="0" err="1"/>
              <a:t>CreateSandbox</a:t>
            </a:r>
            <a:r>
              <a:rPr dirty="0"/>
              <a:t> declares a user principal, scope </a:t>
            </a:r>
            <a:r>
              <a:rPr dirty="0" err="1"/>
              <a:t>sandbox:write</a:t>
            </a:r>
            <a:r>
              <a:rPr dirty="0"/>
              <a:t> and the workspace user role (proto/</a:t>
            </a:r>
            <a:r>
              <a:rPr dirty="0" err="1"/>
              <a:t>openshell.proto</a:t>
            </a:r>
            <a:r>
              <a:rPr dirty="0"/>
              <a:t> at be7af99); the CLI's workspace defaults to default; sandbox get showed "Resource version: 14" at Ready.</a:t>
            </a:r>
          </a:p>
          <a:p>
            <a:endParaRPr dirty="0"/>
          </a:p>
          <a:p>
            <a:r>
              <a:rPr dirty="0"/>
              <a:t>The figure, stage by stage.</a:t>
            </a:r>
          </a:p>
          <a:p>
            <a:r>
              <a:rPr dirty="0"/>
              <a:t>1. Who: gate 1 authenticates the request.</a:t>
            </a:r>
          </a:p>
          <a:p>
            <a:r>
              <a:rPr dirty="0"/>
              <a:t>2. What: gate 2, the method's declared permission.</a:t>
            </a:r>
          </a:p>
          <a:p>
            <a:r>
              <a:rPr dirty="0"/>
              <a:t>3. Which: gate 3, the workspace and the object.</a:t>
            </a:r>
          </a:p>
          <a:p>
            <a:r>
              <a:rPr dirty="0"/>
              <a:t>4. The store's conditional update, and the reconcile loop: desired against observed state, leases, the inventory sweep.</a:t>
            </a:r>
          </a:p>
          <a:p>
            <a:r>
              <a:rPr dirty="0"/>
              <a:t>5. In action: sandbox create </a:t>
            </a:r>
            <a:r>
              <a:rPr dirty="0" err="1"/>
              <a:t>cyberbird</a:t>
            </a:r>
            <a:r>
              <a:rPr dirty="0"/>
              <a:t>, the client key, </a:t>
            </a:r>
            <a:r>
              <a:rPr dirty="0" err="1"/>
              <a:t>CreateSandbox's</a:t>
            </a:r>
            <a:r>
              <a:rPr dirty="0"/>
              <a:t> declaration, workspace default, and the record at resource version 14. Its supervisor signs in with its own runtime material.</a:t>
            </a: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a:t>
            </a:r>
            <a:r>
              <a:rPr dirty="0" err="1"/>
              <a:t>sandbox:write</a:t>
            </a:r>
            <a:r>
              <a:rPr dirty="0"/>
              <a:t>)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dirty="0"/>
          </a:p>
          <a:p>
            <a:r>
              <a:rPr dirty="0"/>
              <a:t>For </a:t>
            </a:r>
            <a:r>
              <a:rPr dirty="0" err="1"/>
              <a:t>Cyberbird</a:t>
            </a:r>
            <a:r>
              <a:rPr dirty="0"/>
              <a:t>: </a:t>
            </a:r>
            <a:r>
              <a:rPr dirty="0" err="1"/>
              <a:t>openshell</a:t>
            </a:r>
            <a:r>
              <a:rPr dirty="0"/>
              <a:t> status on the instructor's gateway reported "Authentication: Authenticated (</a:t>
            </a:r>
            <a:r>
              <a:rPr dirty="0" err="1"/>
              <a:t>mTLS</a:t>
            </a:r>
            <a:r>
              <a:rPr dirty="0"/>
              <a:t> transport)"; </a:t>
            </a:r>
            <a:r>
              <a:rPr dirty="0" err="1"/>
              <a:t>CreateSandbox</a:t>
            </a:r>
            <a:r>
              <a:rPr dirty="0"/>
              <a:t> declares a user principal, scope </a:t>
            </a:r>
            <a:r>
              <a:rPr dirty="0" err="1"/>
              <a:t>sandbox:write</a:t>
            </a:r>
            <a:r>
              <a:rPr dirty="0"/>
              <a:t> and the workspace user role (proto/</a:t>
            </a:r>
            <a:r>
              <a:rPr dirty="0" err="1"/>
              <a:t>openshell.proto</a:t>
            </a:r>
            <a:r>
              <a:rPr dirty="0"/>
              <a:t> at be7af99); the CLI's workspace defaults to default; sandbox get showed "Resource version: 14" at Ready.</a:t>
            </a:r>
          </a:p>
          <a:p>
            <a:endParaRPr dirty="0"/>
          </a:p>
          <a:p>
            <a:r>
              <a:rPr dirty="0"/>
              <a:t>The figure, stage by stage.</a:t>
            </a:r>
          </a:p>
          <a:p>
            <a:r>
              <a:rPr dirty="0"/>
              <a:t>1. Who: gate 1 authenticates the request.</a:t>
            </a:r>
          </a:p>
          <a:p>
            <a:r>
              <a:rPr dirty="0"/>
              <a:t>2. What: gate 2, the method's declared permission.</a:t>
            </a:r>
          </a:p>
          <a:p>
            <a:r>
              <a:rPr dirty="0"/>
              <a:t>3. Which: gate 3, the workspace and the object.</a:t>
            </a:r>
          </a:p>
          <a:p>
            <a:r>
              <a:rPr dirty="0"/>
              <a:t>4. The store's conditional update, and the reconcile loop: desired against observed state, leases, the inventory sweep.</a:t>
            </a:r>
          </a:p>
          <a:p>
            <a:r>
              <a:rPr dirty="0"/>
              <a:t>5. In action: sandbox create </a:t>
            </a:r>
            <a:r>
              <a:rPr dirty="0" err="1"/>
              <a:t>cyberbird</a:t>
            </a:r>
            <a:r>
              <a:rPr dirty="0"/>
              <a:t>, the client key, </a:t>
            </a:r>
            <a:r>
              <a:rPr dirty="0" err="1"/>
              <a:t>CreateSandbox's</a:t>
            </a:r>
            <a:r>
              <a:rPr dirty="0"/>
              <a:t> declaration, workspace default, and the record at resource version 14. Its supervisor signs in with its own runtime material.</a:t>
            </a: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a:t>
            </a:r>
            <a:r>
              <a:rPr dirty="0" err="1"/>
              <a:t>sandbox:write</a:t>
            </a:r>
            <a:r>
              <a:rPr dirty="0"/>
              <a:t>)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dirty="0"/>
          </a:p>
          <a:p>
            <a:r>
              <a:rPr dirty="0"/>
              <a:t>For </a:t>
            </a:r>
            <a:r>
              <a:rPr dirty="0" err="1"/>
              <a:t>Cyberbird</a:t>
            </a:r>
            <a:r>
              <a:rPr dirty="0"/>
              <a:t>: </a:t>
            </a:r>
            <a:r>
              <a:rPr dirty="0" err="1"/>
              <a:t>openshell</a:t>
            </a:r>
            <a:r>
              <a:rPr dirty="0"/>
              <a:t> status on the instructor's gateway reported "Authentication: Authenticated (</a:t>
            </a:r>
            <a:r>
              <a:rPr dirty="0" err="1"/>
              <a:t>mTLS</a:t>
            </a:r>
            <a:r>
              <a:rPr dirty="0"/>
              <a:t> transport)"; </a:t>
            </a:r>
            <a:r>
              <a:rPr dirty="0" err="1"/>
              <a:t>CreateSandbox</a:t>
            </a:r>
            <a:r>
              <a:rPr dirty="0"/>
              <a:t> declares a user principal, scope </a:t>
            </a:r>
            <a:r>
              <a:rPr dirty="0" err="1"/>
              <a:t>sandbox:write</a:t>
            </a:r>
            <a:r>
              <a:rPr dirty="0"/>
              <a:t> and the workspace user role (proto/</a:t>
            </a:r>
            <a:r>
              <a:rPr dirty="0" err="1"/>
              <a:t>openshell.proto</a:t>
            </a:r>
            <a:r>
              <a:rPr dirty="0"/>
              <a:t> at be7af99); the CLI's workspace defaults to default; sandbox get showed "Resource version: 14" at Ready.</a:t>
            </a:r>
          </a:p>
          <a:p>
            <a:endParaRPr dirty="0"/>
          </a:p>
          <a:p>
            <a:r>
              <a:rPr dirty="0"/>
              <a:t>The figure, stage by stage.</a:t>
            </a:r>
          </a:p>
          <a:p>
            <a:r>
              <a:rPr dirty="0"/>
              <a:t>1. Who: gate 1 authenticates the request.</a:t>
            </a:r>
          </a:p>
          <a:p>
            <a:r>
              <a:rPr dirty="0"/>
              <a:t>2. What: gate 2, the method's declared permission.</a:t>
            </a:r>
          </a:p>
          <a:p>
            <a:r>
              <a:rPr dirty="0"/>
              <a:t>3. Which: gate 3, the workspace and the object.</a:t>
            </a:r>
          </a:p>
          <a:p>
            <a:r>
              <a:rPr dirty="0"/>
              <a:t>4. The store's conditional update, and the reconcile loop: desired against observed state, leases, the inventory sweep.</a:t>
            </a:r>
          </a:p>
          <a:p>
            <a:r>
              <a:rPr dirty="0"/>
              <a:t>5. In action: sandbox create </a:t>
            </a:r>
            <a:r>
              <a:rPr dirty="0" err="1"/>
              <a:t>cyberbird</a:t>
            </a:r>
            <a:r>
              <a:rPr dirty="0"/>
              <a:t>, the client key, </a:t>
            </a:r>
            <a:r>
              <a:rPr dirty="0" err="1"/>
              <a:t>CreateSandbox's</a:t>
            </a:r>
            <a:r>
              <a:rPr dirty="0"/>
              <a:t> declaration, workspace default, and the record at resource version 14. Its supervisor signs in with its own runtime material.</a:t>
            </a: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a:t>
            </a:r>
            <a:r>
              <a:rPr dirty="0" err="1"/>
              <a:t>sandbox:write</a:t>
            </a:r>
            <a:r>
              <a:rPr dirty="0"/>
              <a:t>)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dirty="0"/>
          </a:p>
          <a:p>
            <a:r>
              <a:rPr dirty="0"/>
              <a:t>For </a:t>
            </a:r>
            <a:r>
              <a:rPr dirty="0" err="1"/>
              <a:t>Cyberbird</a:t>
            </a:r>
            <a:r>
              <a:rPr dirty="0"/>
              <a:t>: </a:t>
            </a:r>
            <a:r>
              <a:rPr dirty="0" err="1"/>
              <a:t>openshell</a:t>
            </a:r>
            <a:r>
              <a:rPr dirty="0"/>
              <a:t> status on the instructor's gateway reported "Authentication: Authenticated (</a:t>
            </a:r>
            <a:r>
              <a:rPr dirty="0" err="1"/>
              <a:t>mTLS</a:t>
            </a:r>
            <a:r>
              <a:rPr dirty="0"/>
              <a:t> transport)"; </a:t>
            </a:r>
            <a:r>
              <a:rPr dirty="0" err="1"/>
              <a:t>CreateSandbox</a:t>
            </a:r>
            <a:r>
              <a:rPr dirty="0"/>
              <a:t> declares a user principal, scope </a:t>
            </a:r>
            <a:r>
              <a:rPr dirty="0" err="1"/>
              <a:t>sandbox:write</a:t>
            </a:r>
            <a:r>
              <a:rPr dirty="0"/>
              <a:t> and the workspace user role (proto/</a:t>
            </a:r>
            <a:r>
              <a:rPr dirty="0" err="1"/>
              <a:t>openshell.proto</a:t>
            </a:r>
            <a:r>
              <a:rPr dirty="0"/>
              <a:t> at be7af99); the CLI's workspace defaults to default; sandbox get showed "Resource version: 14" at Ready.</a:t>
            </a:r>
          </a:p>
          <a:p>
            <a:endParaRPr dirty="0"/>
          </a:p>
          <a:p>
            <a:r>
              <a:rPr dirty="0"/>
              <a:t>The figure, stage by stage.</a:t>
            </a:r>
          </a:p>
          <a:p>
            <a:r>
              <a:rPr dirty="0"/>
              <a:t>1. Who: gate 1 authenticates the request.</a:t>
            </a:r>
          </a:p>
          <a:p>
            <a:r>
              <a:rPr dirty="0"/>
              <a:t>2. What: gate 2, the method's declared permission.</a:t>
            </a:r>
          </a:p>
          <a:p>
            <a:r>
              <a:rPr dirty="0"/>
              <a:t>3. Which: gate 3, the workspace and the object.</a:t>
            </a:r>
          </a:p>
          <a:p>
            <a:r>
              <a:rPr dirty="0"/>
              <a:t>4. The store's conditional update, and the reconcile loop: desired against observed state, leases, the inventory sweep.</a:t>
            </a:r>
          </a:p>
          <a:p>
            <a:r>
              <a:rPr dirty="0"/>
              <a:t>5. In action: sandbox create </a:t>
            </a:r>
            <a:r>
              <a:rPr dirty="0" err="1"/>
              <a:t>cyberbird</a:t>
            </a:r>
            <a:r>
              <a:rPr dirty="0"/>
              <a:t>, the client key, </a:t>
            </a:r>
            <a:r>
              <a:rPr dirty="0" err="1"/>
              <a:t>CreateSandbox's</a:t>
            </a:r>
            <a:r>
              <a:rPr dirty="0"/>
              <a:t> declaration, workspace default, and the record at resource version 14. Its supervisor signs in with its own runtime material.</a:t>
            </a: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a:t>
            </a:r>
            <a:r>
              <a:rPr dirty="0" err="1"/>
              <a:t>sandbox:write</a:t>
            </a:r>
            <a:r>
              <a:rPr dirty="0"/>
              <a:t>)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dirty="0"/>
          </a:p>
          <a:p>
            <a:r>
              <a:rPr dirty="0"/>
              <a:t>For </a:t>
            </a:r>
            <a:r>
              <a:rPr dirty="0" err="1"/>
              <a:t>Cyberbird</a:t>
            </a:r>
            <a:r>
              <a:rPr dirty="0"/>
              <a:t>: </a:t>
            </a:r>
            <a:r>
              <a:rPr dirty="0" err="1"/>
              <a:t>openshell</a:t>
            </a:r>
            <a:r>
              <a:rPr dirty="0"/>
              <a:t> status on the instructor's gateway reported "Authentication: Authenticated (</a:t>
            </a:r>
            <a:r>
              <a:rPr dirty="0" err="1"/>
              <a:t>mTLS</a:t>
            </a:r>
            <a:r>
              <a:rPr dirty="0"/>
              <a:t> transport)"; </a:t>
            </a:r>
            <a:r>
              <a:rPr dirty="0" err="1"/>
              <a:t>CreateSandbox</a:t>
            </a:r>
            <a:r>
              <a:rPr dirty="0"/>
              <a:t> declares a user principal, scope </a:t>
            </a:r>
            <a:r>
              <a:rPr dirty="0" err="1"/>
              <a:t>sandbox:write</a:t>
            </a:r>
            <a:r>
              <a:rPr dirty="0"/>
              <a:t> and the workspace user role (proto/</a:t>
            </a:r>
            <a:r>
              <a:rPr dirty="0" err="1"/>
              <a:t>openshell.proto</a:t>
            </a:r>
            <a:r>
              <a:rPr dirty="0"/>
              <a:t> at be7af99); the CLI's workspace defaults to default; sandbox get showed "Resource version: 14" at Ready.</a:t>
            </a:r>
          </a:p>
          <a:p>
            <a:endParaRPr dirty="0"/>
          </a:p>
          <a:p>
            <a:r>
              <a:rPr dirty="0"/>
              <a:t>The figure, stage by stage.</a:t>
            </a:r>
          </a:p>
          <a:p>
            <a:r>
              <a:rPr dirty="0"/>
              <a:t>1. Who: gate 1 authenticates the request.</a:t>
            </a:r>
          </a:p>
          <a:p>
            <a:r>
              <a:rPr dirty="0"/>
              <a:t>2. What: gate 2, the method's declared permission.</a:t>
            </a:r>
          </a:p>
          <a:p>
            <a:r>
              <a:rPr dirty="0"/>
              <a:t>3. Which: gate 3, the workspace and the object.</a:t>
            </a:r>
          </a:p>
          <a:p>
            <a:r>
              <a:rPr dirty="0"/>
              <a:t>4. The store's conditional update, and the reconcile loop: desired against observed state, leases, the inventory sweep.</a:t>
            </a:r>
          </a:p>
          <a:p>
            <a:r>
              <a:rPr dirty="0"/>
              <a:t>5. In action: sandbox create </a:t>
            </a:r>
            <a:r>
              <a:rPr dirty="0" err="1"/>
              <a:t>cyberbird</a:t>
            </a:r>
            <a:r>
              <a:rPr dirty="0"/>
              <a:t>, the client key, </a:t>
            </a:r>
            <a:r>
              <a:rPr dirty="0" err="1"/>
              <a:t>CreateSandbox's</a:t>
            </a:r>
            <a:r>
              <a:rPr dirty="0"/>
              <a:t> declaration, workspace default, and the record at resource version 14. Its supervisor signs in with its own runtime material.</a:t>
            </a: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open the gateway. Authentication establishes who is calling: an OIDC token, issued by an identity provider, or a client key over mutual TLS for people and tools, and runtime material bound at creation for a supervisor, which never reuses the user's token or key. Authorization runs twice: every RPC method declares the principal kind (user, sandbox or peer), the scope (an operation category such as </a:t>
            </a:r>
            <a:r>
              <a:rPr dirty="0" err="1"/>
              <a:t>sandbox:write</a:t>
            </a:r>
            <a:r>
              <a:rPr dirty="0"/>
              <a:t>) and the role (Platform Admin, Workspace Admin or Workspace User) it needs, and the gateway refuses to start if a method lacks the declaration; passing that check authorizes no particular object, so the handler then checks the workspace, the group that holds sandboxes and providers, and the object. The store writes by compare-and-swap on the resource version, a number that changes on every update, so a stale writer is rejected. A reconcile loop, run by one replica under a renewable lease, compares the records with what the backends report and sweeps the inventory every minute.</a:t>
            </a:r>
          </a:p>
          <a:p>
            <a:endParaRPr dirty="0"/>
          </a:p>
          <a:p>
            <a:r>
              <a:rPr dirty="0"/>
              <a:t>For </a:t>
            </a:r>
            <a:r>
              <a:rPr dirty="0" err="1"/>
              <a:t>Cyberbird</a:t>
            </a:r>
            <a:r>
              <a:rPr dirty="0"/>
              <a:t>: </a:t>
            </a:r>
            <a:r>
              <a:rPr dirty="0" err="1"/>
              <a:t>openshell</a:t>
            </a:r>
            <a:r>
              <a:rPr dirty="0"/>
              <a:t> status on the instructor's gateway reported "Authentication: Authenticated (</a:t>
            </a:r>
            <a:r>
              <a:rPr dirty="0" err="1"/>
              <a:t>mTLS</a:t>
            </a:r>
            <a:r>
              <a:rPr dirty="0"/>
              <a:t> transport)"; </a:t>
            </a:r>
            <a:r>
              <a:rPr dirty="0" err="1"/>
              <a:t>CreateSandbox</a:t>
            </a:r>
            <a:r>
              <a:rPr dirty="0"/>
              <a:t> declares a user principal, scope </a:t>
            </a:r>
            <a:r>
              <a:rPr dirty="0" err="1"/>
              <a:t>sandbox:write</a:t>
            </a:r>
            <a:r>
              <a:rPr dirty="0"/>
              <a:t> and the workspace user role (proto/</a:t>
            </a:r>
            <a:r>
              <a:rPr dirty="0" err="1"/>
              <a:t>openshell.proto</a:t>
            </a:r>
            <a:r>
              <a:rPr dirty="0"/>
              <a:t> at be7af99); the CLI's workspace defaults to default; sandbox get showed "Resource version: 14" at Ready.</a:t>
            </a:r>
          </a:p>
          <a:p>
            <a:endParaRPr dirty="0"/>
          </a:p>
          <a:p>
            <a:r>
              <a:rPr dirty="0"/>
              <a:t>The figure, stage by stage.</a:t>
            </a:r>
          </a:p>
          <a:p>
            <a:r>
              <a:rPr dirty="0"/>
              <a:t>1. Who: gate 1 authenticates the request.</a:t>
            </a:r>
          </a:p>
          <a:p>
            <a:r>
              <a:rPr dirty="0"/>
              <a:t>2. What: gate 2, the method's declared permission.</a:t>
            </a:r>
          </a:p>
          <a:p>
            <a:r>
              <a:rPr dirty="0"/>
              <a:t>3. Which: gate 3, the workspace and the object.</a:t>
            </a:r>
          </a:p>
          <a:p>
            <a:r>
              <a:rPr dirty="0"/>
              <a:t>4. The store's conditional update, and the reconcile loop: desired against observed state, leases, the inventory sweep.</a:t>
            </a:r>
          </a:p>
          <a:p>
            <a:r>
              <a:rPr dirty="0"/>
              <a:t>5. In action: sandbox create </a:t>
            </a:r>
            <a:r>
              <a:rPr dirty="0" err="1"/>
              <a:t>cyberbird</a:t>
            </a:r>
            <a:r>
              <a:rPr dirty="0"/>
              <a:t>, the client key, </a:t>
            </a:r>
            <a:r>
              <a:rPr dirty="0" err="1"/>
              <a:t>CreateSandbox's</a:t>
            </a:r>
            <a:r>
              <a:rPr dirty="0"/>
              <a:t> declaration, workspace default, and the record at resource version 14. Its supervisor signs in with its own runtime material.</a:t>
            </a: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a:t>
            </a:r>
            <a:r>
              <a:rPr dirty="0" err="1"/>
              <a:t>no_new_privs</a:t>
            </a:r>
            <a:r>
              <a:rPr dirty="0"/>
              <a:t>, a one-way flag that stops any later program from gaining privilege. Landlock is a Linux module that lets a process restrict its own and its children's file access: a mandatory baseline at Landlock ABI v3 (kernel 6.2 or newer) protects the runtime's private /.</a:t>
            </a:r>
            <a:r>
              <a:rPr dirty="0" err="1"/>
              <a:t>openshell</a:t>
            </a:r>
            <a:r>
              <a:rPr dirty="0"/>
              <a:t> files, and the policy's lists are layered on top, so an access must satisfy both. Seccomp filters system calls: it blocks tracing, mount changes, BPF and </a:t>
            </a:r>
            <a:r>
              <a:rPr dirty="0" err="1"/>
              <a:t>io_uring</a:t>
            </a:r>
            <a:r>
              <a:rPr dirty="0"/>
              <a:t>, and its user-notification mode pauses connect() and hands it to the broker, the part of the runtime that asks the supervisor.</a:t>
            </a:r>
          </a:p>
          <a:p>
            <a:endParaRPr dirty="0"/>
          </a:p>
          <a:p>
            <a:r>
              <a:rPr dirty="0" err="1"/>
              <a:t>Cyberbird's</a:t>
            </a:r>
            <a:r>
              <a:rPr dirty="0"/>
              <a:t> run shows the result (October 15, 2026): id inside the sandbox printed "</a:t>
            </a:r>
            <a:r>
              <a:rPr dirty="0" err="1"/>
              <a:t>uid</a:t>
            </a:r>
            <a:r>
              <a:rPr dirty="0"/>
              <a:t>=1000(agent) gid=1000(agent)"; the supervisor logged "Isolation boundary enforcement confirmed" before "Isolation boundary agent started"; and ls /home/agent, the agent's own home directory, failed with "Permission denied", because no list in the policy names /home.</a:t>
            </a:r>
          </a:p>
          <a:p>
            <a:endParaRPr dirty="0"/>
          </a:p>
          <a:p>
            <a:r>
              <a:rPr dirty="0"/>
              <a:t>The figure, stage by stage.</a:t>
            </a:r>
          </a:p>
          <a:p>
            <a:r>
              <a:rPr dirty="0"/>
              <a:t>1. The operator's image runs unmodified. Once the boundary is provisioned, attached and confirmed and networking is prepared, the launcher thread starts each child.</a:t>
            </a:r>
          </a:p>
          <a:p>
            <a:r>
              <a:rPr dirty="0"/>
              <a:t>2. Each child gives up privilege first: non-root user and group IDs, every capability set dropped, and </a:t>
            </a:r>
            <a:r>
              <a:rPr dirty="0" err="1"/>
              <a:t>no_new_privs</a:t>
            </a:r>
            <a:r>
              <a:rPr dirty="0"/>
              <a:t>, a one-way setting.</a:t>
            </a:r>
          </a:p>
          <a:p>
            <a:r>
              <a:rPr dirty="0"/>
              <a:t>3. The Landlock baseline (ABI v3 or newer, which covers truncation) protects the private /.</a:t>
            </a:r>
            <a:r>
              <a:rPr dirty="0" err="1"/>
              <a:t>openshell</a:t>
            </a:r>
            <a:r>
              <a:rPr dirty="0"/>
              <a:t> hierarchy. The user's filesystem policy is layered above it, so an access must satisfy both.</a:t>
            </a:r>
          </a:p>
          <a:p>
            <a:r>
              <a:rPr dirty="0"/>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a:t>
            </a:r>
            <a:r>
              <a:rPr dirty="0" err="1"/>
              <a:t>no_new_privs</a:t>
            </a:r>
            <a:r>
              <a:rPr dirty="0"/>
              <a:t>, a one-way flag that stops any later program from gaining privilege. Landlock is a Linux module that lets a process restrict its own and its children's file access: a mandatory baseline at Landlock ABI v3 (kernel 6.2 or newer) protects the runtime's private /.</a:t>
            </a:r>
            <a:r>
              <a:rPr dirty="0" err="1"/>
              <a:t>openshell</a:t>
            </a:r>
            <a:r>
              <a:rPr dirty="0"/>
              <a:t> files, and the policy's lists are layered on top, so an access must satisfy both. Seccomp filters system calls: it blocks tracing, mount changes, BPF and </a:t>
            </a:r>
            <a:r>
              <a:rPr dirty="0" err="1"/>
              <a:t>io_uring</a:t>
            </a:r>
            <a:r>
              <a:rPr dirty="0"/>
              <a:t>, and its user-notification mode pauses connect() and hands it to the broker, the part of the runtime that asks the supervisor.</a:t>
            </a:r>
          </a:p>
          <a:p>
            <a:endParaRPr dirty="0"/>
          </a:p>
          <a:p>
            <a:r>
              <a:rPr dirty="0" err="1"/>
              <a:t>Cyberbird's</a:t>
            </a:r>
            <a:r>
              <a:rPr dirty="0"/>
              <a:t> run shows the result (October 15, 2026): id inside the sandbox printed "</a:t>
            </a:r>
            <a:r>
              <a:rPr dirty="0" err="1"/>
              <a:t>uid</a:t>
            </a:r>
            <a:r>
              <a:rPr dirty="0"/>
              <a:t>=1000(agent) gid=1000(agent)"; the supervisor logged "Isolation boundary enforcement confirmed" before "Isolation boundary agent started"; and ls /home/agent, the agent's own home directory, failed with "Permission denied", because no list in the policy names /home.</a:t>
            </a:r>
          </a:p>
          <a:p>
            <a:endParaRPr dirty="0"/>
          </a:p>
          <a:p>
            <a:r>
              <a:rPr dirty="0"/>
              <a:t>The figure, stage by stage.</a:t>
            </a:r>
          </a:p>
          <a:p>
            <a:r>
              <a:rPr dirty="0"/>
              <a:t>1. The operator's image runs unmodified. Once the boundary is provisioned, attached and confirmed and networking is prepared, the launcher thread starts each child.</a:t>
            </a:r>
          </a:p>
          <a:p>
            <a:r>
              <a:rPr dirty="0"/>
              <a:t>2. Each child gives up privilege first: non-root user and group IDs, every capability set dropped, and </a:t>
            </a:r>
            <a:r>
              <a:rPr dirty="0" err="1"/>
              <a:t>no_new_privs</a:t>
            </a:r>
            <a:r>
              <a:rPr dirty="0"/>
              <a:t>, a one-way setting.</a:t>
            </a:r>
          </a:p>
          <a:p>
            <a:r>
              <a:rPr dirty="0"/>
              <a:t>3. The Landlock baseline (ABI v3 or newer, which covers truncation) protects the private /.</a:t>
            </a:r>
            <a:r>
              <a:rPr dirty="0" err="1"/>
              <a:t>openshell</a:t>
            </a:r>
            <a:r>
              <a:rPr dirty="0"/>
              <a:t> hierarchy. The user's filesystem policy is layered above it, so an access must satisfy both.</a:t>
            </a:r>
          </a:p>
          <a:p>
            <a:r>
              <a:rPr dirty="0"/>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a:t>
            </a:r>
            <a:r>
              <a:rPr dirty="0" err="1"/>
              <a:t>no_new_privs</a:t>
            </a:r>
            <a:r>
              <a:rPr dirty="0"/>
              <a:t>, a one-way flag that stops any later program from gaining privilege. Landlock is a Linux module that lets a process restrict its own and its children's file access: a mandatory baseline at Landlock ABI v3 (kernel 6.2 or newer) protects the runtime's private /.</a:t>
            </a:r>
            <a:r>
              <a:rPr dirty="0" err="1"/>
              <a:t>openshell</a:t>
            </a:r>
            <a:r>
              <a:rPr dirty="0"/>
              <a:t> files, and the policy's lists are layered on top, so an access must satisfy both. Seccomp filters system calls: it blocks tracing, mount changes, BPF and </a:t>
            </a:r>
            <a:r>
              <a:rPr dirty="0" err="1"/>
              <a:t>io_uring</a:t>
            </a:r>
            <a:r>
              <a:rPr dirty="0"/>
              <a:t>, and its user-notification mode pauses connect() and hands it to the broker, the part of the runtime that asks the supervisor.</a:t>
            </a:r>
          </a:p>
          <a:p>
            <a:endParaRPr dirty="0"/>
          </a:p>
          <a:p>
            <a:r>
              <a:rPr dirty="0" err="1"/>
              <a:t>Cyberbird's</a:t>
            </a:r>
            <a:r>
              <a:rPr dirty="0"/>
              <a:t> run shows the result (October 15, 2026): id inside the sandbox printed "</a:t>
            </a:r>
            <a:r>
              <a:rPr dirty="0" err="1"/>
              <a:t>uid</a:t>
            </a:r>
            <a:r>
              <a:rPr dirty="0"/>
              <a:t>=1000(agent) gid=1000(agent)"; the supervisor logged "Isolation boundary enforcement confirmed" before "Isolation boundary agent started"; and ls /home/agent, the agent's own home directory, failed with "Permission denied", because no list in the policy names /home.</a:t>
            </a:r>
          </a:p>
          <a:p>
            <a:endParaRPr dirty="0"/>
          </a:p>
          <a:p>
            <a:r>
              <a:rPr dirty="0"/>
              <a:t>The figure, stage by stage.</a:t>
            </a:r>
          </a:p>
          <a:p>
            <a:r>
              <a:rPr dirty="0"/>
              <a:t>1. The operator's image runs unmodified. Once the boundary is provisioned, attached and confirmed and networking is prepared, the launcher thread starts each child.</a:t>
            </a:r>
          </a:p>
          <a:p>
            <a:r>
              <a:rPr dirty="0"/>
              <a:t>2. Each child gives up privilege first: non-root user and group IDs, every capability set dropped, and </a:t>
            </a:r>
            <a:r>
              <a:rPr dirty="0" err="1"/>
              <a:t>no_new_privs</a:t>
            </a:r>
            <a:r>
              <a:rPr dirty="0"/>
              <a:t>, a one-way setting.</a:t>
            </a:r>
          </a:p>
          <a:p>
            <a:r>
              <a:rPr dirty="0"/>
              <a:t>3. The Landlock baseline (ABI v3 or newer, which covers truncation) protects the private /.</a:t>
            </a:r>
            <a:r>
              <a:rPr dirty="0" err="1"/>
              <a:t>openshell</a:t>
            </a:r>
            <a:r>
              <a:rPr dirty="0"/>
              <a:t> hierarchy. The user's filesystem policy is layered above it, so an access must satisfy both.</a:t>
            </a:r>
          </a:p>
          <a:p>
            <a:r>
              <a:rPr dirty="0"/>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a:t>
            </a:r>
            <a:r>
              <a:rPr dirty="0" err="1"/>
              <a:t>no_new_privs</a:t>
            </a:r>
            <a:r>
              <a:rPr dirty="0"/>
              <a:t>, a one-way flag that stops any later program from gaining privilege. Landlock is a Linux module that lets a process restrict its own and its children's file access: a mandatory baseline at Landlock ABI v3 (kernel 6.2 or newer) protects the runtime's private /.</a:t>
            </a:r>
            <a:r>
              <a:rPr dirty="0" err="1"/>
              <a:t>openshell</a:t>
            </a:r>
            <a:r>
              <a:rPr dirty="0"/>
              <a:t> files, and the policy's lists are layered on top, so an access must satisfy both. Seccomp filters system calls: it blocks tracing, mount changes, BPF and </a:t>
            </a:r>
            <a:r>
              <a:rPr dirty="0" err="1"/>
              <a:t>io_uring</a:t>
            </a:r>
            <a:r>
              <a:rPr dirty="0"/>
              <a:t>, and its user-notification mode pauses connect() and hands it to the broker, the part of the runtime that asks the supervisor.</a:t>
            </a:r>
          </a:p>
          <a:p>
            <a:endParaRPr dirty="0"/>
          </a:p>
          <a:p>
            <a:r>
              <a:rPr dirty="0" err="1"/>
              <a:t>Cyberbird's</a:t>
            </a:r>
            <a:r>
              <a:rPr dirty="0"/>
              <a:t> run shows the result (October 15, 2026): id inside the sandbox printed "</a:t>
            </a:r>
            <a:r>
              <a:rPr dirty="0" err="1"/>
              <a:t>uid</a:t>
            </a:r>
            <a:r>
              <a:rPr dirty="0"/>
              <a:t>=1000(agent) gid=1000(agent)"; the supervisor logged "Isolation boundary enforcement confirmed" before "Isolation boundary agent started"; and ls /home/agent, the agent's own home directory, failed with "Permission denied", because no list in the policy names /home.</a:t>
            </a:r>
          </a:p>
          <a:p>
            <a:endParaRPr dirty="0"/>
          </a:p>
          <a:p>
            <a:r>
              <a:rPr dirty="0"/>
              <a:t>The figure, stage by stage.</a:t>
            </a:r>
          </a:p>
          <a:p>
            <a:r>
              <a:rPr dirty="0"/>
              <a:t>1. The operator's image runs unmodified. Once the boundary is provisioned, attached and confirmed and networking is prepared, the launcher thread starts each child.</a:t>
            </a:r>
          </a:p>
          <a:p>
            <a:r>
              <a:rPr dirty="0"/>
              <a:t>2. Each child gives up privilege first: non-root user and group IDs, every capability set dropped, and </a:t>
            </a:r>
            <a:r>
              <a:rPr dirty="0" err="1"/>
              <a:t>no_new_privs</a:t>
            </a:r>
            <a:r>
              <a:rPr dirty="0"/>
              <a:t>, a one-way setting.</a:t>
            </a:r>
          </a:p>
          <a:p>
            <a:r>
              <a:rPr dirty="0"/>
              <a:t>3. The Landlock baseline (ABI v3 or newer, which covers truncation) protects the private /.</a:t>
            </a:r>
            <a:r>
              <a:rPr dirty="0" err="1"/>
              <a:t>openshell</a:t>
            </a:r>
            <a:r>
              <a:rPr dirty="0"/>
              <a:t> hierarchy. The user's filesystem policy is layered above it, so an access must satisfy both.</a:t>
            </a:r>
          </a:p>
          <a:p>
            <a:r>
              <a:rPr dirty="0"/>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a:t>
            </a:r>
            <a:r>
              <a:rPr dirty="0" err="1"/>
              <a:t>no_new_privs</a:t>
            </a:r>
            <a:r>
              <a:rPr dirty="0"/>
              <a:t>, a one-way flag that stops any later program from gaining privilege. Landlock is a Linux module that lets a process restrict its own and its children's file access: a mandatory baseline at Landlock ABI v3 (kernel 6.2 or newer) protects the runtime's private /.</a:t>
            </a:r>
            <a:r>
              <a:rPr dirty="0" err="1"/>
              <a:t>openshell</a:t>
            </a:r>
            <a:r>
              <a:rPr dirty="0"/>
              <a:t> files, and the policy's lists are layered on top, so an access must satisfy both. Seccomp filters system calls: it blocks tracing, mount changes, BPF and </a:t>
            </a:r>
            <a:r>
              <a:rPr dirty="0" err="1"/>
              <a:t>io_uring</a:t>
            </a:r>
            <a:r>
              <a:rPr dirty="0"/>
              <a:t>, and its user-notification mode pauses connect() and hands it to the broker, the part of the runtime that asks the supervisor.</a:t>
            </a:r>
          </a:p>
          <a:p>
            <a:endParaRPr dirty="0"/>
          </a:p>
          <a:p>
            <a:r>
              <a:rPr dirty="0" err="1"/>
              <a:t>Cyberbird's</a:t>
            </a:r>
            <a:r>
              <a:rPr dirty="0"/>
              <a:t> run shows the result (October 15, 2026): id inside the sandbox printed "</a:t>
            </a:r>
            <a:r>
              <a:rPr dirty="0" err="1"/>
              <a:t>uid</a:t>
            </a:r>
            <a:r>
              <a:rPr dirty="0"/>
              <a:t>=1000(agent) gid=1000(agent)"; the supervisor logged "Isolation boundary enforcement confirmed" before "Isolation boundary agent started"; and ls /home/agent, the agent's own home directory, failed with "Permission denied", because no list in the policy names /home.</a:t>
            </a:r>
          </a:p>
          <a:p>
            <a:endParaRPr dirty="0"/>
          </a:p>
          <a:p>
            <a:r>
              <a:rPr dirty="0"/>
              <a:t>The figure, stage by stage.</a:t>
            </a:r>
          </a:p>
          <a:p>
            <a:r>
              <a:rPr dirty="0"/>
              <a:t>1. The operator's image runs unmodified. Once the boundary is provisioned, attached and confirmed and networking is prepared, the launcher thread starts each child.</a:t>
            </a:r>
          </a:p>
          <a:p>
            <a:r>
              <a:rPr dirty="0"/>
              <a:t>2. Each child gives up privilege first: non-root user and group IDs, every capability set dropped, and </a:t>
            </a:r>
            <a:r>
              <a:rPr dirty="0" err="1"/>
              <a:t>no_new_privs</a:t>
            </a:r>
            <a:r>
              <a:rPr dirty="0"/>
              <a:t>, a one-way setting.</a:t>
            </a:r>
          </a:p>
          <a:p>
            <a:r>
              <a:rPr dirty="0"/>
              <a:t>3. The Landlock baseline (ABI v3 or newer, which covers truncation) protects the private /.</a:t>
            </a:r>
            <a:r>
              <a:rPr dirty="0" err="1"/>
              <a:t>openshell</a:t>
            </a:r>
            <a:r>
              <a:rPr dirty="0"/>
              <a:t> hierarchy. The user's filesystem policy is layered above it, so an access must satisfy both.</a:t>
            </a:r>
          </a:p>
          <a:p>
            <a:r>
              <a:rPr dirty="0"/>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look inside the workload at start-up. The runtime's launcher thread starts every child, and the launch order is enforced by type state, Rust types that make it hard to start the agent before the boundary is confirmed. Each child first drops privilege: a capability is one slice of root's power, such as administering the network, and the child gives up all of them, takes non-root user and group IDs, and sets </a:t>
            </a:r>
            <a:r>
              <a:rPr dirty="0" err="1"/>
              <a:t>no_new_privs</a:t>
            </a:r>
            <a:r>
              <a:rPr dirty="0"/>
              <a:t>, a one-way flag that stops any later program from gaining privilege. Landlock is a Linux module that lets a process restrict its own and its children's file access: a mandatory baseline at Landlock ABI v3 (kernel 6.2 or newer) protects the runtime's private /.</a:t>
            </a:r>
            <a:r>
              <a:rPr dirty="0" err="1"/>
              <a:t>openshell</a:t>
            </a:r>
            <a:r>
              <a:rPr dirty="0"/>
              <a:t> files, and the policy's lists are layered on top, so an access must satisfy both. Seccomp filters system calls: it blocks tracing, mount changes, BPF and </a:t>
            </a:r>
            <a:r>
              <a:rPr dirty="0" err="1"/>
              <a:t>io_uring</a:t>
            </a:r>
            <a:r>
              <a:rPr dirty="0"/>
              <a:t>, and its user-notification mode pauses connect() and hands it to the broker, the part of the runtime that asks the supervisor.</a:t>
            </a:r>
          </a:p>
          <a:p>
            <a:endParaRPr dirty="0"/>
          </a:p>
          <a:p>
            <a:r>
              <a:rPr dirty="0" err="1"/>
              <a:t>Cyberbird's</a:t>
            </a:r>
            <a:r>
              <a:rPr dirty="0"/>
              <a:t> run shows the result (October 15, 2026): id inside the sandbox printed "</a:t>
            </a:r>
            <a:r>
              <a:rPr dirty="0" err="1"/>
              <a:t>uid</a:t>
            </a:r>
            <a:r>
              <a:rPr dirty="0"/>
              <a:t>=1000(agent) gid=1000(agent)"; the supervisor logged "Isolation boundary enforcement confirmed" before "Isolation boundary agent started"; and ls /home/agent, the agent's own home directory, failed with "Permission denied", because no list in the policy names /home.</a:t>
            </a:r>
          </a:p>
          <a:p>
            <a:endParaRPr dirty="0"/>
          </a:p>
          <a:p>
            <a:r>
              <a:rPr dirty="0"/>
              <a:t>The figure, stage by stage.</a:t>
            </a:r>
          </a:p>
          <a:p>
            <a:r>
              <a:rPr dirty="0"/>
              <a:t>1. The operator's image runs unmodified. Once the boundary is provisioned, attached and confirmed and networking is prepared, the launcher thread starts each child.</a:t>
            </a:r>
          </a:p>
          <a:p>
            <a:r>
              <a:rPr dirty="0"/>
              <a:t>2. Each child gives up privilege first: non-root user and group IDs, every capability set dropped, and </a:t>
            </a:r>
            <a:r>
              <a:rPr dirty="0" err="1"/>
              <a:t>no_new_privs</a:t>
            </a:r>
            <a:r>
              <a:rPr dirty="0"/>
              <a:t>, a one-way setting.</a:t>
            </a:r>
          </a:p>
          <a:p>
            <a:r>
              <a:rPr dirty="0"/>
              <a:t>3. The Landlock baseline (ABI v3 or newer, which covers truncation) protects the private /.</a:t>
            </a:r>
            <a:r>
              <a:rPr dirty="0" err="1"/>
              <a:t>openshell</a:t>
            </a:r>
            <a:r>
              <a:rPr dirty="0"/>
              <a:t> hierarchy. The user's filesystem policy is layered above it, so an access must satisfy both.</a:t>
            </a:r>
          </a:p>
          <a:p>
            <a:r>
              <a:rPr dirty="0"/>
              <a:t>4. Seccomp: the network filter sits on the launcher thread and each child inherits it. The child adds its system-call and self-protection filters, then executes the agent's command, and the supervisor manages the running workload.</a:t>
            </a: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a:t>
            </a:r>
            <a:r>
              <a:rPr dirty="0" err="1"/>
              <a:t>filesystem_policy</a:t>
            </a:r>
            <a:r>
              <a:rPr dirty="0"/>
              <a:t> lists the paths the workload may read and write, and landlock says whether failing to enforce those lists fails the start (</a:t>
            </a:r>
            <a:r>
              <a:rPr dirty="0" err="1"/>
              <a:t>hard_requirement</a:t>
            </a:r>
            <a:r>
              <a:rPr dirty="0"/>
              <a:t>) or continues with a finding (</a:t>
            </a:r>
            <a:r>
              <a:rPr dirty="0" err="1"/>
              <a:t>best_effort</a:t>
            </a:r>
            <a:r>
              <a:rPr dirty="0"/>
              <a:t>); the kernel holds both, fixed when the sandbox starts. process names the user and group that run the workload, set at creation, and on Docker an omitted section means the image's USER. </a:t>
            </a:r>
            <a:r>
              <a:rPr dirty="0" err="1"/>
              <a:t>network_policies</a:t>
            </a:r>
            <a:r>
              <a:rPr dirty="0"/>
              <a:t> pairs binaries with endpoints, every binary of a rule reaching every endpoint of it, and </a:t>
            </a:r>
            <a:r>
              <a:rPr dirty="0" err="1"/>
              <a:t>network_middlewares</a:t>
            </a:r>
            <a:r>
              <a:rPr dirty="0"/>
              <a:t> adds processing after admission; the supervisor holds both, and both can change while the sandbox runs.</a:t>
            </a:r>
          </a:p>
          <a:p>
            <a:endParaRPr dirty="0"/>
          </a:p>
          <a:p>
            <a:r>
              <a:rPr dirty="0"/>
              <a:t>Defaults depend on presence: omitting </a:t>
            </a:r>
            <a:r>
              <a:rPr dirty="0" err="1"/>
              <a:t>filesystem_policy</a:t>
            </a:r>
            <a:r>
              <a:rPr dirty="0"/>
              <a:t> grants the working directory, while an empty </a:t>
            </a:r>
            <a:r>
              <a:rPr dirty="0" err="1"/>
              <a:t>filesystem_policy</a:t>
            </a:r>
            <a:r>
              <a:rPr dirty="0"/>
              <a:t> object does not. </a:t>
            </a:r>
            <a:r>
              <a:rPr dirty="0" err="1"/>
              <a:t>Cyberbird's</a:t>
            </a:r>
            <a:r>
              <a:rPr dirty="0"/>
              <a:t> values come from </a:t>
            </a:r>
            <a:r>
              <a:rPr dirty="0" err="1"/>
              <a:t>cyberbird-policy.yaml</a:t>
            </a:r>
            <a:r>
              <a:rPr dirty="0"/>
              <a:t> and its effective form, </a:t>
            </a:r>
            <a:r>
              <a:rPr dirty="0" err="1"/>
              <a:t>openshell</a:t>
            </a:r>
            <a:r>
              <a:rPr dirty="0"/>
              <a:t> policy get </a:t>
            </a:r>
            <a:r>
              <a:rPr dirty="0" err="1"/>
              <a:t>cyberbird</a:t>
            </a:r>
            <a:r>
              <a:rPr dirty="0"/>
              <a:t> --full (version 2).</a:t>
            </a:r>
          </a:p>
          <a:p>
            <a:endParaRPr dirty="0"/>
          </a:p>
          <a:p>
            <a:r>
              <a:rPr dirty="0"/>
              <a:t>The figure, stage by stage.</a:t>
            </a:r>
          </a:p>
          <a:p>
            <a:r>
              <a:rPr dirty="0"/>
              <a:t>1. </a:t>
            </a:r>
            <a:r>
              <a:rPr dirty="0" err="1"/>
              <a:t>filesystem_policy</a:t>
            </a:r>
            <a:r>
              <a:rPr dirty="0"/>
              <a:t>, pinned on the sandbox runtime: kernel rules, fixed at start.</a:t>
            </a:r>
          </a:p>
          <a:p>
            <a:r>
              <a:rPr dirty="0"/>
              <a:t>2. landlock: required or best effort, fixed at start.</a:t>
            </a:r>
          </a:p>
          <a:p>
            <a:r>
              <a:rPr dirty="0"/>
              <a:t>3. process: the workload's identity, set at creation.</a:t>
            </a:r>
          </a:p>
          <a:p>
            <a:r>
              <a:rPr dirty="0"/>
              <a:t>4. </a:t>
            </a:r>
            <a:r>
              <a:rPr dirty="0" err="1"/>
              <a:t>network_policies</a:t>
            </a:r>
            <a:r>
              <a:rPr dirty="0"/>
              <a:t>, pinned on the trusted supervisor: live and reloadable.</a:t>
            </a:r>
          </a:p>
          <a:p>
            <a:r>
              <a:rPr dirty="0"/>
              <a:t>5. </a:t>
            </a:r>
            <a:r>
              <a:rPr dirty="0" err="1"/>
              <a:t>network_middlewares</a:t>
            </a:r>
            <a:r>
              <a:rPr dirty="0"/>
              <a:t>: processing after admission, also live. The note says which component holds which section.</a:t>
            </a:r>
          </a:p>
          <a:p>
            <a:r>
              <a:rPr dirty="0"/>
              <a:t>6. In action: </a:t>
            </a:r>
            <a:r>
              <a:rPr dirty="0" err="1"/>
              <a:t>Cyberbird's</a:t>
            </a:r>
            <a:r>
              <a:rPr dirty="0"/>
              <a:t> values. The read list ends in /app/fixtures and the write list in /app/runs, Landlock is a hard requirement, process is not set so the image's user, </a:t>
            </a:r>
            <a:r>
              <a:rPr dirty="0" err="1"/>
              <a:t>uid</a:t>
            </a:r>
            <a:r>
              <a:rPr dirty="0"/>
              <a:t> 1000, runs it, python3.12 reaches host.lima.internal:8080, and no middleware is set.</a:t>
            </a: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a:t>
            </a:r>
            <a:r>
              <a:rPr dirty="0" err="1"/>
              <a:t>filesystem_policy</a:t>
            </a:r>
            <a:r>
              <a:rPr dirty="0"/>
              <a:t> lists the paths the workload may read and write, and landlock says whether failing to enforce those lists fails the start (</a:t>
            </a:r>
            <a:r>
              <a:rPr dirty="0" err="1"/>
              <a:t>hard_requirement</a:t>
            </a:r>
            <a:r>
              <a:rPr dirty="0"/>
              <a:t>) or continues with a finding (</a:t>
            </a:r>
            <a:r>
              <a:rPr dirty="0" err="1"/>
              <a:t>best_effort</a:t>
            </a:r>
            <a:r>
              <a:rPr dirty="0"/>
              <a:t>); the kernel holds both, fixed when the sandbox starts. process names the user and group that run the workload, set at creation, and on Docker an omitted section means the image's USER. </a:t>
            </a:r>
            <a:r>
              <a:rPr dirty="0" err="1"/>
              <a:t>network_policies</a:t>
            </a:r>
            <a:r>
              <a:rPr dirty="0"/>
              <a:t> pairs binaries with endpoints, every binary of a rule reaching every endpoint of it, and </a:t>
            </a:r>
            <a:r>
              <a:rPr dirty="0" err="1"/>
              <a:t>network_middlewares</a:t>
            </a:r>
            <a:r>
              <a:rPr dirty="0"/>
              <a:t> adds processing after admission; the supervisor holds both, and both can change while the sandbox runs.</a:t>
            </a:r>
          </a:p>
          <a:p>
            <a:endParaRPr dirty="0"/>
          </a:p>
          <a:p>
            <a:r>
              <a:rPr dirty="0"/>
              <a:t>Defaults depend on presence: omitting </a:t>
            </a:r>
            <a:r>
              <a:rPr dirty="0" err="1"/>
              <a:t>filesystem_policy</a:t>
            </a:r>
            <a:r>
              <a:rPr dirty="0"/>
              <a:t> grants the working directory, while an empty </a:t>
            </a:r>
            <a:r>
              <a:rPr dirty="0" err="1"/>
              <a:t>filesystem_policy</a:t>
            </a:r>
            <a:r>
              <a:rPr dirty="0"/>
              <a:t> object does not. </a:t>
            </a:r>
            <a:r>
              <a:rPr dirty="0" err="1"/>
              <a:t>Cyberbird's</a:t>
            </a:r>
            <a:r>
              <a:rPr dirty="0"/>
              <a:t> values come from </a:t>
            </a:r>
            <a:r>
              <a:rPr dirty="0" err="1"/>
              <a:t>cyberbird-policy.yaml</a:t>
            </a:r>
            <a:r>
              <a:rPr dirty="0"/>
              <a:t> and its effective form, </a:t>
            </a:r>
            <a:r>
              <a:rPr dirty="0" err="1"/>
              <a:t>openshell</a:t>
            </a:r>
            <a:r>
              <a:rPr dirty="0"/>
              <a:t> policy get </a:t>
            </a:r>
            <a:r>
              <a:rPr dirty="0" err="1"/>
              <a:t>cyberbird</a:t>
            </a:r>
            <a:r>
              <a:rPr dirty="0"/>
              <a:t> --full (version 2).</a:t>
            </a:r>
          </a:p>
          <a:p>
            <a:endParaRPr dirty="0"/>
          </a:p>
          <a:p>
            <a:r>
              <a:rPr dirty="0"/>
              <a:t>The figure, stage by stage.</a:t>
            </a:r>
          </a:p>
          <a:p>
            <a:r>
              <a:rPr dirty="0"/>
              <a:t>1. </a:t>
            </a:r>
            <a:r>
              <a:rPr dirty="0" err="1"/>
              <a:t>filesystem_policy</a:t>
            </a:r>
            <a:r>
              <a:rPr dirty="0"/>
              <a:t>, pinned on the sandbox runtime: kernel rules, fixed at start.</a:t>
            </a:r>
          </a:p>
          <a:p>
            <a:r>
              <a:rPr dirty="0"/>
              <a:t>2. landlock: required or best effort, fixed at start.</a:t>
            </a:r>
          </a:p>
          <a:p>
            <a:r>
              <a:rPr dirty="0"/>
              <a:t>3. process: the workload's identity, set at creation.</a:t>
            </a:r>
          </a:p>
          <a:p>
            <a:r>
              <a:rPr dirty="0"/>
              <a:t>4. </a:t>
            </a:r>
            <a:r>
              <a:rPr dirty="0" err="1"/>
              <a:t>network_policies</a:t>
            </a:r>
            <a:r>
              <a:rPr dirty="0"/>
              <a:t>, pinned on the trusted supervisor: live and reloadable.</a:t>
            </a:r>
          </a:p>
          <a:p>
            <a:r>
              <a:rPr dirty="0"/>
              <a:t>5. </a:t>
            </a:r>
            <a:r>
              <a:rPr dirty="0" err="1"/>
              <a:t>network_middlewares</a:t>
            </a:r>
            <a:r>
              <a:rPr dirty="0"/>
              <a:t>: processing after admission, also live. The note says which component holds which section.</a:t>
            </a:r>
          </a:p>
          <a:p>
            <a:r>
              <a:rPr dirty="0"/>
              <a:t>6. In action: </a:t>
            </a:r>
            <a:r>
              <a:rPr dirty="0" err="1"/>
              <a:t>Cyberbird's</a:t>
            </a:r>
            <a:r>
              <a:rPr dirty="0"/>
              <a:t> values. The read list ends in /app/fixtures and the write list in /app/runs, Landlock is a hard requirement, process is not set so the image's user, </a:t>
            </a:r>
            <a:r>
              <a:rPr dirty="0" err="1"/>
              <a:t>uid</a:t>
            </a:r>
            <a:r>
              <a:rPr dirty="0"/>
              <a:t> 1000, runs it, python3.12 reaches host.lima.internal:8080, and no middleware is set.</a:t>
            </a: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a:t>
            </a:r>
            <a:r>
              <a:rPr dirty="0" err="1"/>
              <a:t>filesystem_policy</a:t>
            </a:r>
            <a:r>
              <a:rPr dirty="0"/>
              <a:t> lists the paths the workload may read and write, and landlock says whether failing to enforce those lists fails the start (</a:t>
            </a:r>
            <a:r>
              <a:rPr dirty="0" err="1"/>
              <a:t>hard_requirement</a:t>
            </a:r>
            <a:r>
              <a:rPr dirty="0"/>
              <a:t>) or continues with a finding (</a:t>
            </a:r>
            <a:r>
              <a:rPr dirty="0" err="1"/>
              <a:t>best_effort</a:t>
            </a:r>
            <a:r>
              <a:rPr dirty="0"/>
              <a:t>); the kernel holds both, fixed when the sandbox starts. process names the user and group that run the workload, set at creation, and on Docker an omitted section means the image's USER. </a:t>
            </a:r>
            <a:r>
              <a:rPr dirty="0" err="1"/>
              <a:t>network_policies</a:t>
            </a:r>
            <a:r>
              <a:rPr dirty="0"/>
              <a:t> pairs binaries with endpoints, every binary of a rule reaching every endpoint of it, and </a:t>
            </a:r>
            <a:r>
              <a:rPr dirty="0" err="1"/>
              <a:t>network_middlewares</a:t>
            </a:r>
            <a:r>
              <a:rPr dirty="0"/>
              <a:t> adds processing after admission; the supervisor holds both, and both can change while the sandbox runs.</a:t>
            </a:r>
          </a:p>
          <a:p>
            <a:endParaRPr dirty="0"/>
          </a:p>
          <a:p>
            <a:r>
              <a:rPr dirty="0"/>
              <a:t>Defaults depend on presence: omitting </a:t>
            </a:r>
            <a:r>
              <a:rPr dirty="0" err="1"/>
              <a:t>filesystem_policy</a:t>
            </a:r>
            <a:r>
              <a:rPr dirty="0"/>
              <a:t> grants the working directory, while an empty </a:t>
            </a:r>
            <a:r>
              <a:rPr dirty="0" err="1"/>
              <a:t>filesystem_policy</a:t>
            </a:r>
            <a:r>
              <a:rPr dirty="0"/>
              <a:t> object does not. </a:t>
            </a:r>
            <a:r>
              <a:rPr dirty="0" err="1"/>
              <a:t>Cyberbird's</a:t>
            </a:r>
            <a:r>
              <a:rPr dirty="0"/>
              <a:t> values come from </a:t>
            </a:r>
            <a:r>
              <a:rPr dirty="0" err="1"/>
              <a:t>cyberbird-policy.yaml</a:t>
            </a:r>
            <a:r>
              <a:rPr dirty="0"/>
              <a:t> and its effective form, </a:t>
            </a:r>
            <a:r>
              <a:rPr dirty="0" err="1"/>
              <a:t>openshell</a:t>
            </a:r>
            <a:r>
              <a:rPr dirty="0"/>
              <a:t> policy get </a:t>
            </a:r>
            <a:r>
              <a:rPr dirty="0" err="1"/>
              <a:t>cyberbird</a:t>
            </a:r>
            <a:r>
              <a:rPr dirty="0"/>
              <a:t> --full (version 2).</a:t>
            </a:r>
          </a:p>
          <a:p>
            <a:endParaRPr dirty="0"/>
          </a:p>
          <a:p>
            <a:r>
              <a:rPr dirty="0"/>
              <a:t>The figure, stage by stage.</a:t>
            </a:r>
          </a:p>
          <a:p>
            <a:r>
              <a:rPr dirty="0"/>
              <a:t>1. </a:t>
            </a:r>
            <a:r>
              <a:rPr dirty="0" err="1"/>
              <a:t>filesystem_policy</a:t>
            </a:r>
            <a:r>
              <a:rPr dirty="0"/>
              <a:t>, pinned on the sandbox runtime: kernel rules, fixed at start.</a:t>
            </a:r>
          </a:p>
          <a:p>
            <a:r>
              <a:rPr dirty="0"/>
              <a:t>2. landlock: required or best effort, fixed at start.</a:t>
            </a:r>
          </a:p>
          <a:p>
            <a:r>
              <a:rPr dirty="0"/>
              <a:t>3. process: the workload's identity, set at creation.</a:t>
            </a:r>
          </a:p>
          <a:p>
            <a:r>
              <a:rPr dirty="0"/>
              <a:t>4. </a:t>
            </a:r>
            <a:r>
              <a:rPr dirty="0" err="1"/>
              <a:t>network_policies</a:t>
            </a:r>
            <a:r>
              <a:rPr dirty="0"/>
              <a:t>, pinned on the trusted supervisor: live and reloadable.</a:t>
            </a:r>
          </a:p>
          <a:p>
            <a:r>
              <a:rPr dirty="0"/>
              <a:t>5. </a:t>
            </a:r>
            <a:r>
              <a:rPr dirty="0" err="1"/>
              <a:t>network_middlewares</a:t>
            </a:r>
            <a:r>
              <a:rPr dirty="0"/>
              <a:t>: processing after admission, also live. The note says which component holds which section.</a:t>
            </a:r>
          </a:p>
          <a:p>
            <a:r>
              <a:rPr dirty="0"/>
              <a:t>6. In action: </a:t>
            </a:r>
            <a:r>
              <a:rPr dirty="0" err="1"/>
              <a:t>Cyberbird's</a:t>
            </a:r>
            <a:r>
              <a:rPr dirty="0"/>
              <a:t> values. The read list ends in /app/fixtures and the write list in /app/runs, Landlock is a hard requirement, process is not set so the image's user, </a:t>
            </a:r>
            <a:r>
              <a:rPr dirty="0" err="1"/>
              <a:t>uid</a:t>
            </a:r>
            <a:r>
              <a:rPr dirty="0"/>
              <a:t> 1000, runs it, python3.12 reaches host.lima.internal:8080, and no middleware is set.</a:t>
            </a: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a:t>
            </a:r>
            <a:r>
              <a:rPr dirty="0" err="1"/>
              <a:t>filesystem_policy</a:t>
            </a:r>
            <a:r>
              <a:rPr dirty="0"/>
              <a:t> lists the paths the workload may read and write, and landlock says whether failing to enforce those lists fails the start (</a:t>
            </a:r>
            <a:r>
              <a:rPr dirty="0" err="1"/>
              <a:t>hard_requirement</a:t>
            </a:r>
            <a:r>
              <a:rPr dirty="0"/>
              <a:t>) or continues with a finding (</a:t>
            </a:r>
            <a:r>
              <a:rPr dirty="0" err="1"/>
              <a:t>best_effort</a:t>
            </a:r>
            <a:r>
              <a:rPr dirty="0"/>
              <a:t>); the kernel holds both, fixed when the sandbox starts. process names the user and group that run the workload, set at creation, and on Docker an omitted section means the image's USER. </a:t>
            </a:r>
            <a:r>
              <a:rPr dirty="0" err="1"/>
              <a:t>network_policies</a:t>
            </a:r>
            <a:r>
              <a:rPr dirty="0"/>
              <a:t> pairs binaries with endpoints, every binary of a rule reaching every endpoint of it, and </a:t>
            </a:r>
            <a:r>
              <a:rPr dirty="0" err="1"/>
              <a:t>network_middlewares</a:t>
            </a:r>
            <a:r>
              <a:rPr dirty="0"/>
              <a:t> adds processing after admission; the supervisor holds both, and both can change while the sandbox runs.</a:t>
            </a:r>
          </a:p>
          <a:p>
            <a:endParaRPr dirty="0"/>
          </a:p>
          <a:p>
            <a:r>
              <a:rPr dirty="0"/>
              <a:t>Defaults depend on presence: omitting </a:t>
            </a:r>
            <a:r>
              <a:rPr dirty="0" err="1"/>
              <a:t>filesystem_policy</a:t>
            </a:r>
            <a:r>
              <a:rPr dirty="0"/>
              <a:t> grants the working directory, while an empty </a:t>
            </a:r>
            <a:r>
              <a:rPr dirty="0" err="1"/>
              <a:t>filesystem_policy</a:t>
            </a:r>
            <a:r>
              <a:rPr dirty="0"/>
              <a:t> object does not. </a:t>
            </a:r>
            <a:r>
              <a:rPr dirty="0" err="1"/>
              <a:t>Cyberbird's</a:t>
            </a:r>
            <a:r>
              <a:rPr dirty="0"/>
              <a:t> values come from </a:t>
            </a:r>
            <a:r>
              <a:rPr dirty="0" err="1"/>
              <a:t>cyberbird-policy.yaml</a:t>
            </a:r>
            <a:r>
              <a:rPr dirty="0"/>
              <a:t> and its effective form, </a:t>
            </a:r>
            <a:r>
              <a:rPr dirty="0" err="1"/>
              <a:t>openshell</a:t>
            </a:r>
            <a:r>
              <a:rPr dirty="0"/>
              <a:t> policy get </a:t>
            </a:r>
            <a:r>
              <a:rPr dirty="0" err="1"/>
              <a:t>cyberbird</a:t>
            </a:r>
            <a:r>
              <a:rPr dirty="0"/>
              <a:t> --full (version 2).</a:t>
            </a:r>
          </a:p>
          <a:p>
            <a:endParaRPr dirty="0"/>
          </a:p>
          <a:p>
            <a:r>
              <a:rPr dirty="0"/>
              <a:t>The figure, stage by stage.</a:t>
            </a:r>
          </a:p>
          <a:p>
            <a:r>
              <a:rPr dirty="0"/>
              <a:t>1. </a:t>
            </a:r>
            <a:r>
              <a:rPr dirty="0" err="1"/>
              <a:t>filesystem_policy</a:t>
            </a:r>
            <a:r>
              <a:rPr dirty="0"/>
              <a:t>, pinned on the sandbox runtime: kernel rules, fixed at start.</a:t>
            </a:r>
          </a:p>
          <a:p>
            <a:r>
              <a:rPr dirty="0"/>
              <a:t>2. landlock: required or best effort, fixed at start.</a:t>
            </a:r>
          </a:p>
          <a:p>
            <a:r>
              <a:rPr dirty="0"/>
              <a:t>3. process: the workload's identity, set at creation.</a:t>
            </a:r>
          </a:p>
          <a:p>
            <a:r>
              <a:rPr dirty="0"/>
              <a:t>4. </a:t>
            </a:r>
            <a:r>
              <a:rPr dirty="0" err="1"/>
              <a:t>network_policies</a:t>
            </a:r>
            <a:r>
              <a:rPr dirty="0"/>
              <a:t>, pinned on the trusted supervisor: live and reloadable.</a:t>
            </a:r>
          </a:p>
          <a:p>
            <a:r>
              <a:rPr dirty="0"/>
              <a:t>5. </a:t>
            </a:r>
            <a:r>
              <a:rPr dirty="0" err="1"/>
              <a:t>network_middlewares</a:t>
            </a:r>
            <a:r>
              <a:rPr dirty="0"/>
              <a:t>: processing after admission, also live. The note says which component holds which section.</a:t>
            </a:r>
          </a:p>
          <a:p>
            <a:r>
              <a:rPr dirty="0"/>
              <a:t>6. In action: </a:t>
            </a:r>
            <a:r>
              <a:rPr dirty="0" err="1"/>
              <a:t>Cyberbird's</a:t>
            </a:r>
            <a:r>
              <a:rPr dirty="0"/>
              <a:t> values. The read list ends in /app/fixtures and the write list in /app/runs, Landlock is a hard requirement, process is not set so the image's user, </a:t>
            </a:r>
            <a:r>
              <a:rPr dirty="0" err="1"/>
              <a:t>uid</a:t>
            </a:r>
            <a:r>
              <a:rPr dirty="0"/>
              <a:t> 1000, runs it, python3.12 reaches host.lima.internal:8080, and no middleware is set.</a:t>
            </a: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a:t>
            </a:r>
            <a:r>
              <a:rPr dirty="0" err="1"/>
              <a:t>filesystem_policy</a:t>
            </a:r>
            <a:r>
              <a:rPr dirty="0"/>
              <a:t> lists the paths the workload may read and write, and landlock says whether failing to enforce those lists fails the start (</a:t>
            </a:r>
            <a:r>
              <a:rPr dirty="0" err="1"/>
              <a:t>hard_requirement</a:t>
            </a:r>
            <a:r>
              <a:rPr dirty="0"/>
              <a:t>) or continues with a finding (</a:t>
            </a:r>
            <a:r>
              <a:rPr dirty="0" err="1"/>
              <a:t>best_effort</a:t>
            </a:r>
            <a:r>
              <a:rPr dirty="0"/>
              <a:t>); the kernel holds both, fixed when the sandbox starts. process names the user and group that run the workload, set at creation, and on Docker an omitted section means the image's USER. </a:t>
            </a:r>
            <a:r>
              <a:rPr dirty="0" err="1"/>
              <a:t>network_policies</a:t>
            </a:r>
            <a:r>
              <a:rPr dirty="0"/>
              <a:t> pairs binaries with endpoints, every binary of a rule reaching every endpoint of it, and </a:t>
            </a:r>
            <a:r>
              <a:rPr dirty="0" err="1"/>
              <a:t>network_middlewares</a:t>
            </a:r>
            <a:r>
              <a:rPr dirty="0"/>
              <a:t> adds processing after admission; the supervisor holds both, and both can change while the sandbox runs.</a:t>
            </a:r>
          </a:p>
          <a:p>
            <a:endParaRPr dirty="0"/>
          </a:p>
          <a:p>
            <a:r>
              <a:rPr dirty="0"/>
              <a:t>Defaults depend on presence: omitting </a:t>
            </a:r>
            <a:r>
              <a:rPr dirty="0" err="1"/>
              <a:t>filesystem_policy</a:t>
            </a:r>
            <a:r>
              <a:rPr dirty="0"/>
              <a:t> grants the working directory, while an empty </a:t>
            </a:r>
            <a:r>
              <a:rPr dirty="0" err="1"/>
              <a:t>filesystem_policy</a:t>
            </a:r>
            <a:r>
              <a:rPr dirty="0"/>
              <a:t> object does not. </a:t>
            </a:r>
            <a:r>
              <a:rPr dirty="0" err="1"/>
              <a:t>Cyberbird's</a:t>
            </a:r>
            <a:r>
              <a:rPr dirty="0"/>
              <a:t> values come from </a:t>
            </a:r>
            <a:r>
              <a:rPr dirty="0" err="1"/>
              <a:t>cyberbird-policy.yaml</a:t>
            </a:r>
            <a:r>
              <a:rPr dirty="0"/>
              <a:t> and its effective form, </a:t>
            </a:r>
            <a:r>
              <a:rPr dirty="0" err="1"/>
              <a:t>openshell</a:t>
            </a:r>
            <a:r>
              <a:rPr dirty="0"/>
              <a:t> policy get </a:t>
            </a:r>
            <a:r>
              <a:rPr dirty="0" err="1"/>
              <a:t>cyberbird</a:t>
            </a:r>
            <a:r>
              <a:rPr dirty="0"/>
              <a:t> --full (version 2).</a:t>
            </a:r>
          </a:p>
          <a:p>
            <a:endParaRPr dirty="0"/>
          </a:p>
          <a:p>
            <a:r>
              <a:rPr dirty="0"/>
              <a:t>The figure, stage by stage.</a:t>
            </a:r>
          </a:p>
          <a:p>
            <a:r>
              <a:rPr dirty="0"/>
              <a:t>1. </a:t>
            </a:r>
            <a:r>
              <a:rPr dirty="0" err="1"/>
              <a:t>filesystem_policy</a:t>
            </a:r>
            <a:r>
              <a:rPr dirty="0"/>
              <a:t>, pinned on the sandbox runtime: kernel rules, fixed at start.</a:t>
            </a:r>
          </a:p>
          <a:p>
            <a:r>
              <a:rPr dirty="0"/>
              <a:t>2. landlock: required or best effort, fixed at start.</a:t>
            </a:r>
          </a:p>
          <a:p>
            <a:r>
              <a:rPr dirty="0"/>
              <a:t>3. process: the workload's identity, set at creation.</a:t>
            </a:r>
          </a:p>
          <a:p>
            <a:r>
              <a:rPr dirty="0"/>
              <a:t>4. </a:t>
            </a:r>
            <a:r>
              <a:rPr dirty="0" err="1"/>
              <a:t>network_policies</a:t>
            </a:r>
            <a:r>
              <a:rPr dirty="0"/>
              <a:t>, pinned on the trusted supervisor: live and reloadable.</a:t>
            </a:r>
          </a:p>
          <a:p>
            <a:r>
              <a:rPr dirty="0"/>
              <a:t>5. </a:t>
            </a:r>
            <a:r>
              <a:rPr dirty="0" err="1"/>
              <a:t>network_middlewares</a:t>
            </a:r>
            <a:r>
              <a:rPr dirty="0"/>
              <a:t>: processing after admission, also live. The note says which component holds which section.</a:t>
            </a:r>
          </a:p>
          <a:p>
            <a:r>
              <a:rPr dirty="0"/>
              <a:t>6. In action: </a:t>
            </a:r>
            <a:r>
              <a:rPr dirty="0" err="1"/>
              <a:t>Cyberbird's</a:t>
            </a:r>
            <a:r>
              <a:rPr dirty="0"/>
              <a:t> values. The read list ends in /app/fixtures and the write list in /app/runs, Landlock is a hard requirement, process is not set so the image's user, </a:t>
            </a:r>
            <a:r>
              <a:rPr dirty="0" err="1"/>
              <a:t>uid</a:t>
            </a:r>
            <a:r>
              <a:rPr dirty="0"/>
              <a:t> 1000, runs it, python3.12 reaches host.lima.internal:8080, and no middleware is set.</a:t>
            </a: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a:t>
            </a:r>
            <a:r>
              <a:rPr dirty="0" err="1"/>
              <a:t>filesystem_policy</a:t>
            </a:r>
            <a:r>
              <a:rPr dirty="0"/>
              <a:t> lists the paths the workload may read and write, and landlock says whether failing to enforce those lists fails the start (</a:t>
            </a:r>
            <a:r>
              <a:rPr dirty="0" err="1"/>
              <a:t>hard_requirement</a:t>
            </a:r>
            <a:r>
              <a:rPr dirty="0"/>
              <a:t>) or continues with a finding (</a:t>
            </a:r>
            <a:r>
              <a:rPr dirty="0" err="1"/>
              <a:t>best_effort</a:t>
            </a:r>
            <a:r>
              <a:rPr dirty="0"/>
              <a:t>); the kernel holds both, fixed when the sandbox starts. process names the user and group that run the workload, set at creation, and on Docker an omitted section means the image's USER. </a:t>
            </a:r>
            <a:r>
              <a:rPr dirty="0" err="1"/>
              <a:t>network_policies</a:t>
            </a:r>
            <a:r>
              <a:rPr dirty="0"/>
              <a:t> pairs binaries with endpoints, every binary of a rule reaching every endpoint of it, and </a:t>
            </a:r>
            <a:r>
              <a:rPr dirty="0" err="1"/>
              <a:t>network_middlewares</a:t>
            </a:r>
            <a:r>
              <a:rPr dirty="0"/>
              <a:t> adds processing after admission; the supervisor holds both, and both can change while the sandbox runs.</a:t>
            </a:r>
          </a:p>
          <a:p>
            <a:endParaRPr dirty="0"/>
          </a:p>
          <a:p>
            <a:r>
              <a:rPr dirty="0"/>
              <a:t>Defaults depend on presence: omitting </a:t>
            </a:r>
            <a:r>
              <a:rPr dirty="0" err="1"/>
              <a:t>filesystem_policy</a:t>
            </a:r>
            <a:r>
              <a:rPr dirty="0"/>
              <a:t> grants the working directory, while an empty </a:t>
            </a:r>
            <a:r>
              <a:rPr dirty="0" err="1"/>
              <a:t>filesystem_policy</a:t>
            </a:r>
            <a:r>
              <a:rPr dirty="0"/>
              <a:t> object does not. </a:t>
            </a:r>
            <a:r>
              <a:rPr dirty="0" err="1"/>
              <a:t>Cyberbird's</a:t>
            </a:r>
            <a:r>
              <a:rPr dirty="0"/>
              <a:t> values come from </a:t>
            </a:r>
            <a:r>
              <a:rPr dirty="0" err="1"/>
              <a:t>cyberbird-policy.yaml</a:t>
            </a:r>
            <a:r>
              <a:rPr dirty="0"/>
              <a:t> and its effective form, </a:t>
            </a:r>
            <a:r>
              <a:rPr dirty="0" err="1"/>
              <a:t>openshell</a:t>
            </a:r>
            <a:r>
              <a:rPr dirty="0"/>
              <a:t> policy get </a:t>
            </a:r>
            <a:r>
              <a:rPr dirty="0" err="1"/>
              <a:t>cyberbird</a:t>
            </a:r>
            <a:r>
              <a:rPr dirty="0"/>
              <a:t> --full (version 2).</a:t>
            </a:r>
          </a:p>
          <a:p>
            <a:endParaRPr dirty="0"/>
          </a:p>
          <a:p>
            <a:r>
              <a:rPr dirty="0"/>
              <a:t>The figure, stage by stage.</a:t>
            </a:r>
          </a:p>
          <a:p>
            <a:r>
              <a:rPr dirty="0"/>
              <a:t>1. </a:t>
            </a:r>
            <a:r>
              <a:rPr dirty="0" err="1"/>
              <a:t>filesystem_policy</a:t>
            </a:r>
            <a:r>
              <a:rPr dirty="0"/>
              <a:t>, pinned on the sandbox runtime: kernel rules, fixed at start.</a:t>
            </a:r>
          </a:p>
          <a:p>
            <a:r>
              <a:rPr dirty="0"/>
              <a:t>2. landlock: required or best effort, fixed at start.</a:t>
            </a:r>
          </a:p>
          <a:p>
            <a:r>
              <a:rPr dirty="0"/>
              <a:t>3. process: the workload's identity, set at creation.</a:t>
            </a:r>
          </a:p>
          <a:p>
            <a:r>
              <a:rPr dirty="0"/>
              <a:t>4. </a:t>
            </a:r>
            <a:r>
              <a:rPr dirty="0" err="1"/>
              <a:t>network_policies</a:t>
            </a:r>
            <a:r>
              <a:rPr dirty="0"/>
              <a:t>, pinned on the trusted supervisor: live and reloadable.</a:t>
            </a:r>
          </a:p>
          <a:p>
            <a:r>
              <a:rPr dirty="0"/>
              <a:t>5. </a:t>
            </a:r>
            <a:r>
              <a:rPr dirty="0" err="1"/>
              <a:t>network_middlewares</a:t>
            </a:r>
            <a:r>
              <a:rPr dirty="0"/>
              <a:t>: processing after admission, also live. The note says which component holds which section.</a:t>
            </a:r>
          </a:p>
          <a:p>
            <a:r>
              <a:rPr dirty="0"/>
              <a:t>6. In action: </a:t>
            </a:r>
            <a:r>
              <a:rPr dirty="0" err="1"/>
              <a:t>Cyberbird's</a:t>
            </a:r>
            <a:r>
              <a:rPr dirty="0"/>
              <a:t> values. The read list ends in /app/fixtures and the write list in /app/runs, Landlock is a hard requirement, process is not set so the image's user, </a:t>
            </a:r>
            <a:r>
              <a:rPr dirty="0" err="1"/>
              <a:t>uid</a:t>
            </a:r>
            <a:r>
              <a:rPr dirty="0"/>
              <a:t> 1000, runs it, python3.12 reaches host.lima.internal:8080, and no middleware is set.</a:t>
            </a: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define a policy before we read one. A policy is the workload's authority written down: which files it may use, which destinations it may reach and which requests it may make, as a YAML document with version: 1 and up to five sections, each enforced by a component we have already drawn. </a:t>
            </a:r>
            <a:r>
              <a:rPr dirty="0" err="1"/>
              <a:t>filesystem_policy</a:t>
            </a:r>
            <a:r>
              <a:rPr dirty="0"/>
              <a:t> lists the paths the workload may read and write, and landlock says whether failing to enforce those lists fails the start (</a:t>
            </a:r>
            <a:r>
              <a:rPr dirty="0" err="1"/>
              <a:t>hard_requirement</a:t>
            </a:r>
            <a:r>
              <a:rPr dirty="0"/>
              <a:t>) or continues with a finding (</a:t>
            </a:r>
            <a:r>
              <a:rPr dirty="0" err="1"/>
              <a:t>best_effort</a:t>
            </a:r>
            <a:r>
              <a:rPr dirty="0"/>
              <a:t>); the kernel holds both, fixed when the sandbox starts. process names the user and group that run the workload, set at creation, and on Docker an omitted section means the image's USER. </a:t>
            </a:r>
            <a:r>
              <a:rPr dirty="0" err="1"/>
              <a:t>network_policies</a:t>
            </a:r>
            <a:r>
              <a:rPr dirty="0"/>
              <a:t> pairs binaries with endpoints, every binary of a rule reaching every endpoint of it, and </a:t>
            </a:r>
            <a:r>
              <a:rPr dirty="0" err="1"/>
              <a:t>network_middlewares</a:t>
            </a:r>
            <a:r>
              <a:rPr dirty="0"/>
              <a:t> adds processing after admission; the supervisor holds both, and both can change while the sandbox runs.</a:t>
            </a:r>
          </a:p>
          <a:p>
            <a:endParaRPr dirty="0"/>
          </a:p>
          <a:p>
            <a:r>
              <a:rPr dirty="0"/>
              <a:t>Defaults depend on presence: omitting </a:t>
            </a:r>
            <a:r>
              <a:rPr dirty="0" err="1"/>
              <a:t>filesystem_policy</a:t>
            </a:r>
            <a:r>
              <a:rPr dirty="0"/>
              <a:t> grants the working directory, while an empty </a:t>
            </a:r>
            <a:r>
              <a:rPr dirty="0" err="1"/>
              <a:t>filesystem_policy</a:t>
            </a:r>
            <a:r>
              <a:rPr dirty="0"/>
              <a:t> object does not. </a:t>
            </a:r>
            <a:r>
              <a:rPr dirty="0" err="1"/>
              <a:t>Cyberbird's</a:t>
            </a:r>
            <a:r>
              <a:rPr dirty="0"/>
              <a:t> values come from </a:t>
            </a:r>
            <a:r>
              <a:rPr dirty="0" err="1"/>
              <a:t>cyberbird-policy.yaml</a:t>
            </a:r>
            <a:r>
              <a:rPr dirty="0"/>
              <a:t> and its effective form, </a:t>
            </a:r>
            <a:r>
              <a:rPr dirty="0" err="1"/>
              <a:t>openshell</a:t>
            </a:r>
            <a:r>
              <a:rPr dirty="0"/>
              <a:t> policy get </a:t>
            </a:r>
            <a:r>
              <a:rPr dirty="0" err="1"/>
              <a:t>cyberbird</a:t>
            </a:r>
            <a:r>
              <a:rPr dirty="0"/>
              <a:t> --full (version 2).</a:t>
            </a:r>
          </a:p>
          <a:p>
            <a:endParaRPr dirty="0"/>
          </a:p>
          <a:p>
            <a:r>
              <a:rPr dirty="0"/>
              <a:t>The figure, stage by stage.</a:t>
            </a:r>
          </a:p>
          <a:p>
            <a:r>
              <a:rPr dirty="0"/>
              <a:t>1. </a:t>
            </a:r>
            <a:r>
              <a:rPr dirty="0" err="1"/>
              <a:t>filesystem_policy</a:t>
            </a:r>
            <a:r>
              <a:rPr dirty="0"/>
              <a:t>, pinned on the sandbox runtime: kernel rules, fixed at start.</a:t>
            </a:r>
          </a:p>
          <a:p>
            <a:r>
              <a:rPr dirty="0"/>
              <a:t>2. landlock: required or best effort, fixed at start.</a:t>
            </a:r>
          </a:p>
          <a:p>
            <a:r>
              <a:rPr dirty="0"/>
              <a:t>3. process: the workload's identity, set at creation.</a:t>
            </a:r>
          </a:p>
          <a:p>
            <a:r>
              <a:rPr dirty="0"/>
              <a:t>4. </a:t>
            </a:r>
            <a:r>
              <a:rPr dirty="0" err="1"/>
              <a:t>network_policies</a:t>
            </a:r>
            <a:r>
              <a:rPr dirty="0"/>
              <a:t>, pinned on the trusted supervisor: live and reloadable.</a:t>
            </a:r>
          </a:p>
          <a:p>
            <a:r>
              <a:rPr dirty="0"/>
              <a:t>5. </a:t>
            </a:r>
            <a:r>
              <a:rPr dirty="0" err="1"/>
              <a:t>network_middlewares</a:t>
            </a:r>
            <a:r>
              <a:rPr dirty="0"/>
              <a:t>: processing after admission, also live. The note says which component holds which section.</a:t>
            </a:r>
          </a:p>
          <a:p>
            <a:r>
              <a:rPr dirty="0"/>
              <a:t>6. In action: </a:t>
            </a:r>
            <a:r>
              <a:rPr dirty="0" err="1"/>
              <a:t>Cyberbird's</a:t>
            </a:r>
            <a:r>
              <a:rPr dirty="0"/>
              <a:t> values. The read list ends in /app/fixtures and the write list in /app/runs, Landlock is a hard requirement, process is not set so the image's user, </a:t>
            </a:r>
            <a:r>
              <a:rPr dirty="0" err="1"/>
              <a:t>uid</a:t>
            </a:r>
            <a:r>
              <a:rPr dirty="0"/>
              <a:t> 1000, runs it, python3.12 reaches host.lima.internal:8080, and no middleware is set.</a:t>
            </a: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read </a:t>
            </a:r>
            <a:r>
              <a:rPr dirty="0" err="1"/>
              <a:t>Cyberbird's</a:t>
            </a:r>
            <a:r>
              <a:rPr dirty="0"/>
              <a:t> policy one block at a time and watch what each block grants. The text is the policy of the run we recorded on October 15, 2026, instructor-materials/hw2/feasibility/</a:t>
            </a:r>
            <a:r>
              <a:rPr dirty="0" err="1"/>
              <a:t>cyberbird-policy.yaml</a:t>
            </a:r>
            <a:r>
              <a:rPr dirty="0"/>
              <a:t>, with its two lists wrapped to fit and its three comment lines left out; the comments say why the host is </a:t>
            </a:r>
            <a:r>
              <a:rPr dirty="0" err="1"/>
              <a:t>host.lima.internal</a:t>
            </a:r>
            <a:r>
              <a:rPr dirty="0"/>
              <a:t>: OpenShell 0.1.4 on Colima refuses </a:t>
            </a:r>
            <a:r>
              <a:rPr dirty="0" err="1"/>
              <a:t>host.docker.internal</a:t>
            </a:r>
            <a:r>
              <a:rPr dirty="0"/>
              <a:t> at policy DNS, and an IP literal is refused for protocol </a:t>
            </a:r>
            <a:r>
              <a:rPr dirty="0" err="1"/>
              <a:t>tcp</a:t>
            </a:r>
            <a:r>
              <a:rPr dirty="0"/>
              <a:t>. On the right, the files the workload can touch and the connections it can open, with the outcomes captured inside the sandbox that evening (</a:t>
            </a:r>
            <a:r>
              <a:rPr dirty="0" err="1"/>
              <a:t>probes.txt</a:t>
            </a:r>
            <a:r>
              <a:rPr dirty="0"/>
              <a:t> and </a:t>
            </a:r>
            <a:r>
              <a:rPr dirty="0" err="1"/>
              <a:t>logs.txt</a:t>
            </a:r>
            <a:r>
              <a:rPr dirty="0"/>
              <a:t>).</a:t>
            </a:r>
          </a:p>
          <a:p>
            <a:endParaRPr dirty="0"/>
          </a:p>
          <a:p>
            <a:r>
              <a:rPr dirty="0"/>
              <a:t>As a document, a policy is parsed, validated, versioned, diffed, loaded and proved: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/app/fixtures/</a:t>
            </a:r>
            <a:r>
              <a:rPr dirty="0" err="1"/>
              <a:t>owasp</a:t>
            </a:r>
            <a:r>
              <a:rPr dirty="0"/>
              <a:t>-benchmark-python/ground-truth/expectedresults-0.1.csv, were both readable; only </a:t>
            </a:r>
            <a:r>
              <a:rPr dirty="0" err="1"/>
              <a:t>Cyberbird's</a:t>
            </a:r>
            <a:r>
              <a:rPr dirty="0"/>
              <a:t> own workspace code kept them out of the agent's copy, and the HW2 policy lists the target's code directories instead. A grant covers everything beneath its path, so /app/runs is readable from the first block and writable once </a:t>
            </a:r>
            <a:r>
              <a:rPr dirty="0" err="1"/>
              <a:t>read_write</a:t>
            </a:r>
            <a:r>
              <a:rPr dirty="0"/>
              <a:t> names it. protocol: </a:t>
            </a:r>
            <a:r>
              <a:rPr dirty="0" err="1"/>
              <a:t>tcp</a:t>
            </a:r>
            <a:r>
              <a:rPr dirty="0"/>
              <a:t> admits the connection with no request inspection, so the rule has no enforcement line; with --model anthropic:claude-opus-5 the rule would name </a:t>
            </a:r>
            <a:r>
              <a:rPr dirty="0" err="1"/>
              <a:t>api.anthropic.com</a:t>
            </a:r>
            <a:r>
              <a:rPr dirty="0"/>
              <a:t> port 443 with protocol: rest and enforcement: enforce, and the key would come through a provider attachment. The effective policy the supervisor loaded, </a:t>
            </a:r>
            <a:r>
              <a:rPr dirty="0" err="1"/>
              <a:t>openshell</a:t>
            </a:r>
            <a:r>
              <a:rPr dirty="0"/>
              <a:t> policy get </a:t>
            </a:r>
            <a:r>
              <a:rPr dirty="0" err="1"/>
              <a:t>cyberbird</a:t>
            </a:r>
            <a:r>
              <a:rPr dirty="0"/>
              <a:t> --full, is version 2: OpenShell added /var/log to </a:t>
            </a:r>
            <a:r>
              <a:rPr dirty="0" err="1"/>
              <a:t>read_only</a:t>
            </a:r>
            <a:r>
              <a:rPr dirty="0"/>
              <a:t> and the name </a:t>
            </a:r>
            <a:r>
              <a:rPr dirty="0" err="1"/>
              <a:t>model_server</a:t>
            </a:r>
            <a:r>
              <a:rPr dirty="0"/>
              <a:t> to the rule.</a:t>
            </a:r>
          </a:p>
          <a:p>
            <a:endParaRPr dirty="0"/>
          </a:p>
          <a:p>
            <a:r>
              <a:rPr dirty="0"/>
              <a:t>The figure, stage by stage.</a:t>
            </a:r>
          </a:p>
          <a:p>
            <a:r>
              <a:rPr dirty="0"/>
              <a:t>1. The frame: the policy's version line, and the files and connections with nothing granted yet.</a:t>
            </a:r>
          </a:p>
          <a:p>
            <a:r>
              <a:rPr dirty="0"/>
              <a:t>2. </a:t>
            </a:r>
            <a:r>
              <a:rPr dirty="0" err="1"/>
              <a:t>filesystem_policy</a:t>
            </a:r>
            <a:r>
              <a:rPr dirty="0"/>
              <a:t> and its </a:t>
            </a:r>
            <a:r>
              <a:rPr dirty="0" err="1"/>
              <a:t>read_only</a:t>
            </a:r>
            <a:r>
              <a:rPr dirty="0"/>
              <a:t> list: everything under /bin, /</a:t>
            </a:r>
            <a:r>
              <a:rPr dirty="0" err="1"/>
              <a:t>usr</a:t>
            </a:r>
            <a:r>
              <a:rPr dirty="0"/>
              <a:t>, /lib, /</a:t>
            </a:r>
            <a:r>
              <a:rPr dirty="0" err="1"/>
              <a:t>etc</a:t>
            </a:r>
            <a:r>
              <a:rPr dirty="0"/>
              <a:t>, /proc, /dev/</a:t>
            </a:r>
            <a:r>
              <a:rPr dirty="0" err="1"/>
              <a:t>urandom</a:t>
            </a:r>
            <a:r>
              <a:rPr dirty="0"/>
              <a:t> and /app becomes readable, /app/runs included.</a:t>
            </a:r>
          </a:p>
          <a:p>
            <a:r>
              <a:rPr dirty="0"/>
              <a:t>3. </a:t>
            </a:r>
            <a:r>
              <a:rPr dirty="0" err="1"/>
              <a:t>read_write</a:t>
            </a:r>
            <a:r>
              <a:rPr dirty="0"/>
              <a:t>: /sandbox, /</a:t>
            </a:r>
            <a:r>
              <a:rPr dirty="0" err="1"/>
              <a:t>tmp</a:t>
            </a:r>
            <a:r>
              <a:rPr dirty="0"/>
              <a:t>, /dev/null and /app/runs become writable. Inside the sandbox a write into the fixture failed and writes into /app/runs and /</a:t>
            </a:r>
            <a:r>
              <a:rPr dirty="0" err="1"/>
              <a:t>tmp</a:t>
            </a:r>
            <a:r>
              <a:rPr dirty="0"/>
              <a:t> succeeded.</a:t>
            </a:r>
          </a:p>
          <a:p>
            <a:r>
              <a:rPr dirty="0"/>
              <a:t>4. landlock: the kernel holds both lists, and a path neither list names is refused: /home/agent and /var/lib/</a:t>
            </a:r>
            <a:r>
              <a:rPr dirty="0" err="1"/>
              <a:t>dpkg</a:t>
            </a:r>
            <a:r>
              <a:rPr dirty="0"/>
              <a:t>/status gave Permission denied. </a:t>
            </a:r>
            <a:r>
              <a:rPr dirty="0" err="1"/>
              <a:t>hard_requirement</a:t>
            </a:r>
            <a:r>
              <a:rPr dirty="0"/>
              <a:t> means a sandbox whose kernel cannot enforce the lists does not start; </a:t>
            </a:r>
            <a:r>
              <a:rPr dirty="0" err="1"/>
              <a:t>best_effort</a:t>
            </a:r>
            <a:r>
              <a:rPr dirty="0"/>
              <a:t> would continue with a finding.</a:t>
            </a:r>
          </a:p>
          <a:p>
            <a:r>
              <a:rPr dirty="0"/>
              <a:t>5. </a:t>
            </a:r>
            <a:r>
              <a:rPr dirty="0" err="1"/>
              <a:t>network_policies</a:t>
            </a:r>
            <a:r>
              <a:rPr dirty="0"/>
              <a:t>: one endpoint, the model server at </a:t>
            </a:r>
            <a:r>
              <a:rPr dirty="0" err="1"/>
              <a:t>host.lima.internal</a:t>
            </a:r>
            <a:r>
              <a:rPr dirty="0"/>
              <a:t> port 8080, TCP, behind the trusted supervisor.</a:t>
            </a:r>
          </a:p>
          <a:p>
            <a:r>
              <a:rPr dirty="0"/>
              <a:t>6. binaries: only /</a:t>
            </a:r>
            <a:r>
              <a:rPr dirty="0" err="1"/>
              <a:t>usr</a:t>
            </a:r>
            <a:r>
              <a:rPr dirty="0"/>
              <a:t>/local/bin/python3.12 may use it. The log read NET:OPEN ALLOWED /</a:t>
            </a:r>
            <a:r>
              <a:rPr dirty="0" err="1"/>
              <a:t>usr</a:t>
            </a:r>
            <a:r>
              <a:rPr dirty="0"/>
              <a:t>/local/bin/python3.12 -&gt; host.lima.internal:8080 [</a:t>
            </a:r>
            <a:r>
              <a:rPr dirty="0" err="1"/>
              <a:t>policy:model_server</a:t>
            </a:r>
            <a:r>
              <a:rPr dirty="0"/>
              <a:t>].</a:t>
            </a:r>
          </a:p>
          <a:p>
            <a:r>
              <a:rPr dirty="0"/>
              <a:t>7. What the rule leaves out: curl to the same server was denied, "binary '/</a:t>
            </a:r>
            <a:r>
              <a:rPr dirty="0" err="1"/>
              <a:t>usr</a:t>
            </a:r>
            <a:r>
              <a:rPr dirty="0"/>
              <a:t>/bin/curl' not allowed in policy '</a:t>
            </a:r>
            <a:r>
              <a:rPr dirty="0" err="1"/>
              <a:t>model_server</a:t>
            </a:r>
            <a:r>
              <a:rPr dirty="0"/>
              <a:t>'", and python3.12 to pypi.org:443 was denied, "endpoint pypi.org:443 is not allowed by any policy". A rule admits a binary together with a destination.</a:t>
            </a:r>
          </a:p>
          <a:p>
            <a:r>
              <a:rPr dirty="0"/>
              <a:t>8. The answer key sits under /app, so the read list grants it: the probe printed its first line.</a:t>
            </a: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read </a:t>
            </a:r>
            <a:r>
              <a:rPr dirty="0" err="1"/>
              <a:t>Cyberbird's</a:t>
            </a:r>
            <a:r>
              <a:rPr dirty="0"/>
              <a:t> policy one block at a time and watch what each block grants. The text is the policy of the run we recorded on October 15, 2026, instructor-materials/hw2/feasibility/</a:t>
            </a:r>
            <a:r>
              <a:rPr dirty="0" err="1"/>
              <a:t>cyberbird-policy.yaml</a:t>
            </a:r>
            <a:r>
              <a:rPr dirty="0"/>
              <a:t>, with its two lists wrapped to fit and its three comment lines left out; the comments say why the host is </a:t>
            </a:r>
            <a:r>
              <a:rPr dirty="0" err="1"/>
              <a:t>host.lima.internal</a:t>
            </a:r>
            <a:r>
              <a:rPr dirty="0"/>
              <a:t>: OpenShell 0.1.4 on Colima refuses </a:t>
            </a:r>
            <a:r>
              <a:rPr dirty="0" err="1"/>
              <a:t>host.docker.internal</a:t>
            </a:r>
            <a:r>
              <a:rPr dirty="0"/>
              <a:t> at policy DNS, and an IP literal is refused for protocol </a:t>
            </a:r>
            <a:r>
              <a:rPr dirty="0" err="1"/>
              <a:t>tcp</a:t>
            </a:r>
            <a:r>
              <a:rPr dirty="0"/>
              <a:t>. On the right, the files the workload can touch and the connections it can open, with the outcomes captured inside the sandbox that evening (</a:t>
            </a:r>
            <a:r>
              <a:rPr dirty="0" err="1"/>
              <a:t>probes.txt</a:t>
            </a:r>
            <a:r>
              <a:rPr dirty="0"/>
              <a:t> and </a:t>
            </a:r>
            <a:r>
              <a:rPr dirty="0" err="1"/>
              <a:t>logs.txt</a:t>
            </a:r>
            <a:r>
              <a:rPr dirty="0"/>
              <a:t>).</a:t>
            </a:r>
          </a:p>
          <a:p>
            <a:endParaRPr dirty="0"/>
          </a:p>
          <a:p>
            <a:r>
              <a:rPr dirty="0"/>
              <a:t>As a document, a policy is parsed, validated, versioned, diffed, loaded and proved: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/app/fixtures/</a:t>
            </a:r>
            <a:r>
              <a:rPr dirty="0" err="1"/>
              <a:t>owasp</a:t>
            </a:r>
            <a:r>
              <a:rPr dirty="0"/>
              <a:t>-benchmark-python/ground-truth/expectedresults-0.1.csv, were both readable; only </a:t>
            </a:r>
            <a:r>
              <a:rPr dirty="0" err="1"/>
              <a:t>Cyberbird's</a:t>
            </a:r>
            <a:r>
              <a:rPr dirty="0"/>
              <a:t> own workspace code kept them out of the agent's copy, and the HW2 policy lists the target's code directories instead. A grant covers everything beneath its path, so /app/runs is readable from the first block and writable once </a:t>
            </a:r>
            <a:r>
              <a:rPr dirty="0" err="1"/>
              <a:t>read_write</a:t>
            </a:r>
            <a:r>
              <a:rPr dirty="0"/>
              <a:t> names it. protocol: </a:t>
            </a:r>
            <a:r>
              <a:rPr dirty="0" err="1"/>
              <a:t>tcp</a:t>
            </a:r>
            <a:r>
              <a:rPr dirty="0"/>
              <a:t> admits the connection with no request inspection, so the rule has no enforcement line; with --model anthropic:claude-opus-5 the rule would name </a:t>
            </a:r>
            <a:r>
              <a:rPr dirty="0" err="1"/>
              <a:t>api.anthropic.com</a:t>
            </a:r>
            <a:r>
              <a:rPr dirty="0"/>
              <a:t> port 443 with protocol: rest and enforcement: enforce, and the key would come through a provider attachment. The effective policy the supervisor loaded, </a:t>
            </a:r>
            <a:r>
              <a:rPr dirty="0" err="1"/>
              <a:t>openshell</a:t>
            </a:r>
            <a:r>
              <a:rPr dirty="0"/>
              <a:t> policy get </a:t>
            </a:r>
            <a:r>
              <a:rPr dirty="0" err="1"/>
              <a:t>cyberbird</a:t>
            </a:r>
            <a:r>
              <a:rPr dirty="0"/>
              <a:t> --full, is version 2: OpenShell added /var/log to </a:t>
            </a:r>
            <a:r>
              <a:rPr dirty="0" err="1"/>
              <a:t>read_only</a:t>
            </a:r>
            <a:r>
              <a:rPr dirty="0"/>
              <a:t> and the name </a:t>
            </a:r>
            <a:r>
              <a:rPr dirty="0" err="1"/>
              <a:t>model_server</a:t>
            </a:r>
            <a:r>
              <a:rPr dirty="0"/>
              <a:t> to the rule.</a:t>
            </a:r>
          </a:p>
          <a:p>
            <a:endParaRPr dirty="0"/>
          </a:p>
          <a:p>
            <a:r>
              <a:rPr dirty="0"/>
              <a:t>The figure, stage by stage.</a:t>
            </a:r>
          </a:p>
          <a:p>
            <a:r>
              <a:rPr dirty="0"/>
              <a:t>1. The frame: the policy's version line, and the files and connections with nothing granted yet.</a:t>
            </a:r>
          </a:p>
          <a:p>
            <a:r>
              <a:rPr dirty="0"/>
              <a:t>2. </a:t>
            </a:r>
            <a:r>
              <a:rPr dirty="0" err="1"/>
              <a:t>filesystem_policy</a:t>
            </a:r>
            <a:r>
              <a:rPr dirty="0"/>
              <a:t> and its </a:t>
            </a:r>
            <a:r>
              <a:rPr dirty="0" err="1"/>
              <a:t>read_only</a:t>
            </a:r>
            <a:r>
              <a:rPr dirty="0"/>
              <a:t> list: everything under /bin, /</a:t>
            </a:r>
            <a:r>
              <a:rPr dirty="0" err="1"/>
              <a:t>usr</a:t>
            </a:r>
            <a:r>
              <a:rPr dirty="0"/>
              <a:t>, /lib, /</a:t>
            </a:r>
            <a:r>
              <a:rPr dirty="0" err="1"/>
              <a:t>etc</a:t>
            </a:r>
            <a:r>
              <a:rPr dirty="0"/>
              <a:t>, /proc, /dev/</a:t>
            </a:r>
            <a:r>
              <a:rPr dirty="0" err="1"/>
              <a:t>urandom</a:t>
            </a:r>
            <a:r>
              <a:rPr dirty="0"/>
              <a:t> and /app becomes readable, /app/runs included.</a:t>
            </a:r>
          </a:p>
          <a:p>
            <a:r>
              <a:rPr dirty="0"/>
              <a:t>3. </a:t>
            </a:r>
            <a:r>
              <a:rPr dirty="0" err="1"/>
              <a:t>read_write</a:t>
            </a:r>
            <a:r>
              <a:rPr dirty="0"/>
              <a:t>: /sandbox, /</a:t>
            </a:r>
            <a:r>
              <a:rPr dirty="0" err="1"/>
              <a:t>tmp</a:t>
            </a:r>
            <a:r>
              <a:rPr dirty="0"/>
              <a:t>, /dev/null and /app/runs become writable. Inside the sandbox a write into the fixture failed and writes into /app/runs and /</a:t>
            </a:r>
            <a:r>
              <a:rPr dirty="0" err="1"/>
              <a:t>tmp</a:t>
            </a:r>
            <a:r>
              <a:rPr dirty="0"/>
              <a:t> succeeded.</a:t>
            </a:r>
          </a:p>
          <a:p>
            <a:r>
              <a:rPr dirty="0"/>
              <a:t>4. landlock: the kernel holds both lists, and a path neither list names is refused: /home/agent and /var/lib/</a:t>
            </a:r>
            <a:r>
              <a:rPr dirty="0" err="1"/>
              <a:t>dpkg</a:t>
            </a:r>
            <a:r>
              <a:rPr dirty="0"/>
              <a:t>/status gave Permission denied. </a:t>
            </a:r>
            <a:r>
              <a:rPr dirty="0" err="1"/>
              <a:t>hard_requirement</a:t>
            </a:r>
            <a:r>
              <a:rPr dirty="0"/>
              <a:t> means a sandbox whose kernel cannot enforce the lists does not start; </a:t>
            </a:r>
            <a:r>
              <a:rPr dirty="0" err="1"/>
              <a:t>best_effort</a:t>
            </a:r>
            <a:r>
              <a:rPr dirty="0"/>
              <a:t> would continue with a finding.</a:t>
            </a:r>
          </a:p>
          <a:p>
            <a:r>
              <a:rPr dirty="0"/>
              <a:t>5. </a:t>
            </a:r>
            <a:r>
              <a:rPr dirty="0" err="1"/>
              <a:t>network_policies</a:t>
            </a:r>
            <a:r>
              <a:rPr dirty="0"/>
              <a:t>: one endpoint, the model server at </a:t>
            </a:r>
            <a:r>
              <a:rPr dirty="0" err="1"/>
              <a:t>host.lima.internal</a:t>
            </a:r>
            <a:r>
              <a:rPr dirty="0"/>
              <a:t> port 8080, TCP, behind the trusted supervisor.</a:t>
            </a:r>
          </a:p>
          <a:p>
            <a:r>
              <a:rPr dirty="0"/>
              <a:t>6. binaries: only /</a:t>
            </a:r>
            <a:r>
              <a:rPr dirty="0" err="1"/>
              <a:t>usr</a:t>
            </a:r>
            <a:r>
              <a:rPr dirty="0"/>
              <a:t>/local/bin/python3.12 may use it. The log read NET:OPEN ALLOWED /</a:t>
            </a:r>
            <a:r>
              <a:rPr dirty="0" err="1"/>
              <a:t>usr</a:t>
            </a:r>
            <a:r>
              <a:rPr dirty="0"/>
              <a:t>/local/bin/python3.12 -&gt; host.lima.internal:8080 [</a:t>
            </a:r>
            <a:r>
              <a:rPr dirty="0" err="1"/>
              <a:t>policy:model_server</a:t>
            </a:r>
            <a:r>
              <a:rPr dirty="0"/>
              <a:t>].</a:t>
            </a:r>
          </a:p>
          <a:p>
            <a:r>
              <a:rPr dirty="0"/>
              <a:t>7. What the rule leaves out: curl to the same server was denied, "binary '/</a:t>
            </a:r>
            <a:r>
              <a:rPr dirty="0" err="1"/>
              <a:t>usr</a:t>
            </a:r>
            <a:r>
              <a:rPr dirty="0"/>
              <a:t>/bin/curl' not allowed in policy '</a:t>
            </a:r>
            <a:r>
              <a:rPr dirty="0" err="1"/>
              <a:t>model_server</a:t>
            </a:r>
            <a:r>
              <a:rPr dirty="0"/>
              <a:t>'", and python3.12 to pypi.org:443 was denied, "endpoint pypi.org:443 is not allowed by any policy". A rule admits a binary together with a destination.</a:t>
            </a:r>
          </a:p>
          <a:p>
            <a:r>
              <a:rPr dirty="0"/>
              <a:t>8. The answer key sits under /app, so the read list grants it: the probe printed its first line.</a:t>
            </a: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read </a:t>
            </a:r>
            <a:r>
              <a:rPr dirty="0" err="1"/>
              <a:t>Cyberbird's</a:t>
            </a:r>
            <a:r>
              <a:rPr dirty="0"/>
              <a:t> policy one block at a time and watch what each block grants. The text is the policy of the run we recorded on October 15, 2026, instructor-materials/hw2/feasibility/</a:t>
            </a:r>
            <a:r>
              <a:rPr dirty="0" err="1"/>
              <a:t>cyberbird-policy.yaml</a:t>
            </a:r>
            <a:r>
              <a:rPr dirty="0"/>
              <a:t>, with its two lists wrapped to fit and its three comment lines left out; the comments say why the host is </a:t>
            </a:r>
            <a:r>
              <a:rPr dirty="0" err="1"/>
              <a:t>host.lima.internal</a:t>
            </a:r>
            <a:r>
              <a:rPr dirty="0"/>
              <a:t>: OpenShell 0.1.4 on Colima refuses </a:t>
            </a:r>
            <a:r>
              <a:rPr dirty="0" err="1"/>
              <a:t>host.docker.internal</a:t>
            </a:r>
            <a:r>
              <a:rPr dirty="0"/>
              <a:t> at policy DNS, and an IP literal is refused for protocol </a:t>
            </a:r>
            <a:r>
              <a:rPr dirty="0" err="1"/>
              <a:t>tcp</a:t>
            </a:r>
            <a:r>
              <a:rPr dirty="0"/>
              <a:t>. On the right, the files the workload can touch and the connections it can open, with the outcomes captured inside the sandbox that evening (</a:t>
            </a:r>
            <a:r>
              <a:rPr dirty="0" err="1"/>
              <a:t>probes.txt</a:t>
            </a:r>
            <a:r>
              <a:rPr dirty="0"/>
              <a:t> and </a:t>
            </a:r>
            <a:r>
              <a:rPr dirty="0" err="1"/>
              <a:t>logs.txt</a:t>
            </a:r>
            <a:r>
              <a:rPr dirty="0"/>
              <a:t>).</a:t>
            </a:r>
          </a:p>
          <a:p>
            <a:endParaRPr dirty="0"/>
          </a:p>
          <a:p>
            <a:r>
              <a:rPr dirty="0"/>
              <a:t>As a document, a policy is parsed, validated, versioned, diffed, loaded and proved: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/app/fixtures/</a:t>
            </a:r>
            <a:r>
              <a:rPr dirty="0" err="1"/>
              <a:t>owasp</a:t>
            </a:r>
            <a:r>
              <a:rPr dirty="0"/>
              <a:t>-benchmark-python/ground-truth/expectedresults-0.1.csv, were both readable; only </a:t>
            </a:r>
            <a:r>
              <a:rPr dirty="0" err="1"/>
              <a:t>Cyberbird's</a:t>
            </a:r>
            <a:r>
              <a:rPr dirty="0"/>
              <a:t> own workspace code kept them out of the agent's copy, and the HW2 policy lists the target's code directories instead. A grant covers everything beneath its path, so /app/runs is readable from the first block and writable once </a:t>
            </a:r>
            <a:r>
              <a:rPr dirty="0" err="1"/>
              <a:t>read_write</a:t>
            </a:r>
            <a:r>
              <a:rPr dirty="0"/>
              <a:t> names it. protocol: </a:t>
            </a:r>
            <a:r>
              <a:rPr dirty="0" err="1"/>
              <a:t>tcp</a:t>
            </a:r>
            <a:r>
              <a:rPr dirty="0"/>
              <a:t> admits the connection with no request inspection, so the rule has no enforcement line; with --model anthropic:claude-opus-5 the rule would name </a:t>
            </a:r>
            <a:r>
              <a:rPr dirty="0" err="1"/>
              <a:t>api.anthropic.com</a:t>
            </a:r>
            <a:r>
              <a:rPr dirty="0"/>
              <a:t> port 443 with protocol: rest and enforcement: enforce, and the key would come through a provider attachment. The effective policy the supervisor loaded, </a:t>
            </a:r>
            <a:r>
              <a:rPr dirty="0" err="1"/>
              <a:t>openshell</a:t>
            </a:r>
            <a:r>
              <a:rPr dirty="0"/>
              <a:t> policy get </a:t>
            </a:r>
            <a:r>
              <a:rPr dirty="0" err="1"/>
              <a:t>cyberbird</a:t>
            </a:r>
            <a:r>
              <a:rPr dirty="0"/>
              <a:t> --full, is version 2: OpenShell added /var/log to </a:t>
            </a:r>
            <a:r>
              <a:rPr dirty="0" err="1"/>
              <a:t>read_only</a:t>
            </a:r>
            <a:r>
              <a:rPr dirty="0"/>
              <a:t> and the name </a:t>
            </a:r>
            <a:r>
              <a:rPr dirty="0" err="1"/>
              <a:t>model_server</a:t>
            </a:r>
            <a:r>
              <a:rPr dirty="0"/>
              <a:t> to the rule.</a:t>
            </a:r>
          </a:p>
          <a:p>
            <a:endParaRPr dirty="0"/>
          </a:p>
          <a:p>
            <a:r>
              <a:rPr dirty="0"/>
              <a:t>The figure, stage by stage.</a:t>
            </a:r>
          </a:p>
          <a:p>
            <a:r>
              <a:rPr dirty="0"/>
              <a:t>1. The frame: the policy's version line, and the files and connections with nothing granted yet.</a:t>
            </a:r>
          </a:p>
          <a:p>
            <a:r>
              <a:rPr dirty="0"/>
              <a:t>2. </a:t>
            </a:r>
            <a:r>
              <a:rPr dirty="0" err="1"/>
              <a:t>filesystem_policy</a:t>
            </a:r>
            <a:r>
              <a:rPr dirty="0"/>
              <a:t> and its </a:t>
            </a:r>
            <a:r>
              <a:rPr dirty="0" err="1"/>
              <a:t>read_only</a:t>
            </a:r>
            <a:r>
              <a:rPr dirty="0"/>
              <a:t> list: everything under /bin, /</a:t>
            </a:r>
            <a:r>
              <a:rPr dirty="0" err="1"/>
              <a:t>usr</a:t>
            </a:r>
            <a:r>
              <a:rPr dirty="0"/>
              <a:t>, /lib, /</a:t>
            </a:r>
            <a:r>
              <a:rPr dirty="0" err="1"/>
              <a:t>etc</a:t>
            </a:r>
            <a:r>
              <a:rPr dirty="0"/>
              <a:t>, /proc, /dev/</a:t>
            </a:r>
            <a:r>
              <a:rPr dirty="0" err="1"/>
              <a:t>urandom</a:t>
            </a:r>
            <a:r>
              <a:rPr dirty="0"/>
              <a:t> and /app becomes readable, /app/runs included.</a:t>
            </a:r>
          </a:p>
          <a:p>
            <a:r>
              <a:rPr dirty="0"/>
              <a:t>3. </a:t>
            </a:r>
            <a:r>
              <a:rPr dirty="0" err="1"/>
              <a:t>read_write</a:t>
            </a:r>
            <a:r>
              <a:rPr dirty="0"/>
              <a:t>: /sandbox, /</a:t>
            </a:r>
            <a:r>
              <a:rPr dirty="0" err="1"/>
              <a:t>tmp</a:t>
            </a:r>
            <a:r>
              <a:rPr dirty="0"/>
              <a:t>, /dev/null and /app/runs become writable. Inside the sandbox a write into the fixture failed and writes into /app/runs and /</a:t>
            </a:r>
            <a:r>
              <a:rPr dirty="0" err="1"/>
              <a:t>tmp</a:t>
            </a:r>
            <a:r>
              <a:rPr dirty="0"/>
              <a:t> succeeded.</a:t>
            </a:r>
          </a:p>
          <a:p>
            <a:r>
              <a:rPr dirty="0"/>
              <a:t>4. landlock: the kernel holds both lists, and a path neither list names is refused: /home/agent and /var/lib/</a:t>
            </a:r>
            <a:r>
              <a:rPr dirty="0" err="1"/>
              <a:t>dpkg</a:t>
            </a:r>
            <a:r>
              <a:rPr dirty="0"/>
              <a:t>/status gave Permission denied. </a:t>
            </a:r>
            <a:r>
              <a:rPr dirty="0" err="1"/>
              <a:t>hard_requirement</a:t>
            </a:r>
            <a:r>
              <a:rPr dirty="0"/>
              <a:t> means a sandbox whose kernel cannot enforce the lists does not start; </a:t>
            </a:r>
            <a:r>
              <a:rPr dirty="0" err="1"/>
              <a:t>best_effort</a:t>
            </a:r>
            <a:r>
              <a:rPr dirty="0"/>
              <a:t> would continue with a finding.</a:t>
            </a:r>
          </a:p>
          <a:p>
            <a:r>
              <a:rPr dirty="0"/>
              <a:t>5. </a:t>
            </a:r>
            <a:r>
              <a:rPr dirty="0" err="1"/>
              <a:t>network_policies</a:t>
            </a:r>
            <a:r>
              <a:rPr dirty="0"/>
              <a:t>: one endpoint, the model server at </a:t>
            </a:r>
            <a:r>
              <a:rPr dirty="0" err="1"/>
              <a:t>host.lima.internal</a:t>
            </a:r>
            <a:r>
              <a:rPr dirty="0"/>
              <a:t> port 8080, TCP, behind the trusted supervisor.</a:t>
            </a:r>
          </a:p>
          <a:p>
            <a:r>
              <a:rPr dirty="0"/>
              <a:t>6. binaries: only /</a:t>
            </a:r>
            <a:r>
              <a:rPr dirty="0" err="1"/>
              <a:t>usr</a:t>
            </a:r>
            <a:r>
              <a:rPr dirty="0"/>
              <a:t>/local/bin/python3.12 may use it. The log read NET:OPEN ALLOWED /</a:t>
            </a:r>
            <a:r>
              <a:rPr dirty="0" err="1"/>
              <a:t>usr</a:t>
            </a:r>
            <a:r>
              <a:rPr dirty="0"/>
              <a:t>/local/bin/python3.12 -&gt; host.lima.internal:8080 [</a:t>
            </a:r>
            <a:r>
              <a:rPr dirty="0" err="1"/>
              <a:t>policy:model_server</a:t>
            </a:r>
            <a:r>
              <a:rPr dirty="0"/>
              <a:t>].</a:t>
            </a:r>
          </a:p>
          <a:p>
            <a:r>
              <a:rPr dirty="0"/>
              <a:t>7. What the rule leaves out: curl to the same server was denied, "binary '/</a:t>
            </a:r>
            <a:r>
              <a:rPr dirty="0" err="1"/>
              <a:t>usr</a:t>
            </a:r>
            <a:r>
              <a:rPr dirty="0"/>
              <a:t>/bin/curl' not allowed in policy '</a:t>
            </a:r>
            <a:r>
              <a:rPr dirty="0" err="1"/>
              <a:t>model_server</a:t>
            </a:r>
            <a:r>
              <a:rPr dirty="0"/>
              <a:t>'", and python3.12 to pypi.org:443 was denied, "endpoint pypi.org:443 is not allowed by any policy". A rule admits a binary together with a destination.</a:t>
            </a:r>
          </a:p>
          <a:p>
            <a:r>
              <a:rPr dirty="0"/>
              <a:t>8. The answer key sits under /app, so the read list grants it: the probe printed its first line.</a:t>
            </a: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read </a:t>
            </a:r>
            <a:r>
              <a:rPr dirty="0" err="1"/>
              <a:t>Cyberbird's</a:t>
            </a:r>
            <a:r>
              <a:rPr dirty="0"/>
              <a:t> policy one block at a time and watch what each block grants. The text is the policy of the run we recorded on October 15, 2026, instructor-materials/hw2/feasibility/</a:t>
            </a:r>
            <a:r>
              <a:rPr dirty="0" err="1"/>
              <a:t>cyberbird-policy.yaml</a:t>
            </a:r>
            <a:r>
              <a:rPr dirty="0"/>
              <a:t>, with its two lists wrapped to fit and its three comment lines left out; the comments say why the host is </a:t>
            </a:r>
            <a:r>
              <a:rPr dirty="0" err="1"/>
              <a:t>host.lima.internal</a:t>
            </a:r>
            <a:r>
              <a:rPr dirty="0"/>
              <a:t>: OpenShell 0.1.4 on Colima refuses </a:t>
            </a:r>
            <a:r>
              <a:rPr dirty="0" err="1"/>
              <a:t>host.docker.internal</a:t>
            </a:r>
            <a:r>
              <a:rPr dirty="0"/>
              <a:t> at policy DNS, and an IP literal is refused for protocol </a:t>
            </a:r>
            <a:r>
              <a:rPr dirty="0" err="1"/>
              <a:t>tcp</a:t>
            </a:r>
            <a:r>
              <a:rPr dirty="0"/>
              <a:t>. On the right, the files the workload can touch and the connections it can open, with the outcomes captured inside the sandbox that evening (</a:t>
            </a:r>
            <a:r>
              <a:rPr dirty="0" err="1"/>
              <a:t>probes.txt</a:t>
            </a:r>
            <a:r>
              <a:rPr dirty="0"/>
              <a:t> and </a:t>
            </a:r>
            <a:r>
              <a:rPr dirty="0" err="1"/>
              <a:t>logs.txt</a:t>
            </a:r>
            <a:r>
              <a:rPr dirty="0"/>
              <a:t>).</a:t>
            </a:r>
          </a:p>
          <a:p>
            <a:endParaRPr dirty="0"/>
          </a:p>
          <a:p>
            <a:r>
              <a:rPr dirty="0"/>
              <a:t>As a document, a policy is parsed, validated, versioned, diffed, loaded and proved: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/app/fixtures/</a:t>
            </a:r>
            <a:r>
              <a:rPr dirty="0" err="1"/>
              <a:t>owasp</a:t>
            </a:r>
            <a:r>
              <a:rPr dirty="0"/>
              <a:t>-benchmark-python/ground-truth/expectedresults-0.1.csv, were both readable; only </a:t>
            </a:r>
            <a:r>
              <a:rPr dirty="0" err="1"/>
              <a:t>Cyberbird's</a:t>
            </a:r>
            <a:r>
              <a:rPr dirty="0"/>
              <a:t> own workspace code kept them out of the agent's copy, and the HW2 policy lists the target's code directories instead. A grant covers everything beneath its path, so /app/runs is readable from the first block and writable once </a:t>
            </a:r>
            <a:r>
              <a:rPr dirty="0" err="1"/>
              <a:t>read_write</a:t>
            </a:r>
            <a:r>
              <a:rPr dirty="0"/>
              <a:t> names it. protocol: </a:t>
            </a:r>
            <a:r>
              <a:rPr dirty="0" err="1"/>
              <a:t>tcp</a:t>
            </a:r>
            <a:r>
              <a:rPr dirty="0"/>
              <a:t> admits the connection with no request inspection, so the rule has no enforcement line; with --model anthropic:claude-opus-5 the rule would name </a:t>
            </a:r>
            <a:r>
              <a:rPr dirty="0" err="1"/>
              <a:t>api.anthropic.com</a:t>
            </a:r>
            <a:r>
              <a:rPr dirty="0"/>
              <a:t> port 443 with protocol: rest and enforcement: enforce, and the key would come through a provider attachment. The effective policy the supervisor loaded, </a:t>
            </a:r>
            <a:r>
              <a:rPr dirty="0" err="1"/>
              <a:t>openshell</a:t>
            </a:r>
            <a:r>
              <a:rPr dirty="0"/>
              <a:t> policy get </a:t>
            </a:r>
            <a:r>
              <a:rPr dirty="0" err="1"/>
              <a:t>cyberbird</a:t>
            </a:r>
            <a:r>
              <a:rPr dirty="0"/>
              <a:t> --full, is version 2: OpenShell added /var/log to </a:t>
            </a:r>
            <a:r>
              <a:rPr dirty="0" err="1"/>
              <a:t>read_only</a:t>
            </a:r>
            <a:r>
              <a:rPr dirty="0"/>
              <a:t> and the name </a:t>
            </a:r>
            <a:r>
              <a:rPr dirty="0" err="1"/>
              <a:t>model_server</a:t>
            </a:r>
            <a:r>
              <a:rPr dirty="0"/>
              <a:t> to the rule.</a:t>
            </a:r>
          </a:p>
          <a:p>
            <a:endParaRPr dirty="0"/>
          </a:p>
          <a:p>
            <a:r>
              <a:rPr dirty="0"/>
              <a:t>The figure, stage by stage.</a:t>
            </a:r>
          </a:p>
          <a:p>
            <a:r>
              <a:rPr dirty="0"/>
              <a:t>1. The frame: the policy's version line, and the files and connections with nothing granted yet.</a:t>
            </a:r>
          </a:p>
          <a:p>
            <a:r>
              <a:rPr dirty="0"/>
              <a:t>2. </a:t>
            </a:r>
            <a:r>
              <a:rPr dirty="0" err="1"/>
              <a:t>filesystem_policy</a:t>
            </a:r>
            <a:r>
              <a:rPr dirty="0"/>
              <a:t> and its </a:t>
            </a:r>
            <a:r>
              <a:rPr dirty="0" err="1"/>
              <a:t>read_only</a:t>
            </a:r>
            <a:r>
              <a:rPr dirty="0"/>
              <a:t> list: everything under /bin, /</a:t>
            </a:r>
            <a:r>
              <a:rPr dirty="0" err="1"/>
              <a:t>usr</a:t>
            </a:r>
            <a:r>
              <a:rPr dirty="0"/>
              <a:t>, /lib, /</a:t>
            </a:r>
            <a:r>
              <a:rPr dirty="0" err="1"/>
              <a:t>etc</a:t>
            </a:r>
            <a:r>
              <a:rPr dirty="0"/>
              <a:t>, /proc, /dev/</a:t>
            </a:r>
            <a:r>
              <a:rPr dirty="0" err="1"/>
              <a:t>urandom</a:t>
            </a:r>
            <a:r>
              <a:rPr dirty="0"/>
              <a:t> and /app becomes readable, /app/runs included.</a:t>
            </a:r>
          </a:p>
          <a:p>
            <a:r>
              <a:rPr dirty="0"/>
              <a:t>3. </a:t>
            </a:r>
            <a:r>
              <a:rPr dirty="0" err="1"/>
              <a:t>read_write</a:t>
            </a:r>
            <a:r>
              <a:rPr dirty="0"/>
              <a:t>: /sandbox, /</a:t>
            </a:r>
            <a:r>
              <a:rPr dirty="0" err="1"/>
              <a:t>tmp</a:t>
            </a:r>
            <a:r>
              <a:rPr dirty="0"/>
              <a:t>, /dev/null and /app/runs become writable. Inside the sandbox a write into the fixture failed and writes into /app/runs and /</a:t>
            </a:r>
            <a:r>
              <a:rPr dirty="0" err="1"/>
              <a:t>tmp</a:t>
            </a:r>
            <a:r>
              <a:rPr dirty="0"/>
              <a:t> succeeded.</a:t>
            </a:r>
          </a:p>
          <a:p>
            <a:r>
              <a:rPr dirty="0"/>
              <a:t>4. landlock: the kernel holds both lists, and a path neither list names is refused: /home/agent and /var/lib/</a:t>
            </a:r>
            <a:r>
              <a:rPr dirty="0" err="1"/>
              <a:t>dpkg</a:t>
            </a:r>
            <a:r>
              <a:rPr dirty="0"/>
              <a:t>/status gave Permission denied. </a:t>
            </a:r>
            <a:r>
              <a:rPr dirty="0" err="1"/>
              <a:t>hard_requirement</a:t>
            </a:r>
            <a:r>
              <a:rPr dirty="0"/>
              <a:t> means a sandbox whose kernel cannot enforce the lists does not start; </a:t>
            </a:r>
            <a:r>
              <a:rPr dirty="0" err="1"/>
              <a:t>best_effort</a:t>
            </a:r>
            <a:r>
              <a:rPr dirty="0"/>
              <a:t> would continue with a finding.</a:t>
            </a:r>
          </a:p>
          <a:p>
            <a:r>
              <a:rPr dirty="0"/>
              <a:t>5. </a:t>
            </a:r>
            <a:r>
              <a:rPr dirty="0" err="1"/>
              <a:t>network_policies</a:t>
            </a:r>
            <a:r>
              <a:rPr dirty="0"/>
              <a:t>: one endpoint, the model server at </a:t>
            </a:r>
            <a:r>
              <a:rPr dirty="0" err="1"/>
              <a:t>host.lima.internal</a:t>
            </a:r>
            <a:r>
              <a:rPr dirty="0"/>
              <a:t> port 8080, TCP, behind the trusted supervisor.</a:t>
            </a:r>
          </a:p>
          <a:p>
            <a:r>
              <a:rPr dirty="0"/>
              <a:t>6. binaries: only /</a:t>
            </a:r>
            <a:r>
              <a:rPr dirty="0" err="1"/>
              <a:t>usr</a:t>
            </a:r>
            <a:r>
              <a:rPr dirty="0"/>
              <a:t>/local/bin/python3.12 may use it. The log read NET:OPEN ALLOWED /</a:t>
            </a:r>
            <a:r>
              <a:rPr dirty="0" err="1"/>
              <a:t>usr</a:t>
            </a:r>
            <a:r>
              <a:rPr dirty="0"/>
              <a:t>/local/bin/python3.12 -&gt; host.lima.internal:8080 [</a:t>
            </a:r>
            <a:r>
              <a:rPr dirty="0" err="1"/>
              <a:t>policy:model_server</a:t>
            </a:r>
            <a:r>
              <a:rPr dirty="0"/>
              <a:t>].</a:t>
            </a:r>
          </a:p>
          <a:p>
            <a:r>
              <a:rPr dirty="0"/>
              <a:t>7. What the rule leaves out: curl to the same server was denied, "binary '/</a:t>
            </a:r>
            <a:r>
              <a:rPr dirty="0" err="1"/>
              <a:t>usr</a:t>
            </a:r>
            <a:r>
              <a:rPr dirty="0"/>
              <a:t>/bin/curl' not allowed in policy '</a:t>
            </a:r>
            <a:r>
              <a:rPr dirty="0" err="1"/>
              <a:t>model_server</a:t>
            </a:r>
            <a:r>
              <a:rPr dirty="0"/>
              <a:t>'", and python3.12 to pypi.org:443 was denied, "endpoint pypi.org:443 is not allowed by any policy". A rule admits a binary together with a destination.</a:t>
            </a:r>
          </a:p>
          <a:p>
            <a:r>
              <a:rPr dirty="0"/>
              <a:t>8. The answer key sits under /app, so the read list grants it: the probe printed its first line.</a:t>
            </a: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read </a:t>
            </a:r>
            <a:r>
              <a:rPr dirty="0" err="1"/>
              <a:t>Cyberbird's</a:t>
            </a:r>
            <a:r>
              <a:rPr dirty="0"/>
              <a:t> policy one block at a time and watch what each block grants. The text is the policy of the run we recorded on October 15, 2026, instructor-materials/hw2/feasibility/</a:t>
            </a:r>
            <a:r>
              <a:rPr dirty="0" err="1"/>
              <a:t>cyberbird-policy.yaml</a:t>
            </a:r>
            <a:r>
              <a:rPr dirty="0"/>
              <a:t>, with its two lists wrapped to fit and its three comment lines left out; the comments say why the host is </a:t>
            </a:r>
            <a:r>
              <a:rPr dirty="0" err="1"/>
              <a:t>host.lima.internal</a:t>
            </a:r>
            <a:r>
              <a:rPr dirty="0"/>
              <a:t>: OpenShell 0.1.4 on Colima refuses </a:t>
            </a:r>
            <a:r>
              <a:rPr dirty="0" err="1"/>
              <a:t>host.docker.internal</a:t>
            </a:r>
            <a:r>
              <a:rPr dirty="0"/>
              <a:t> at policy DNS, and an IP literal is refused for protocol </a:t>
            </a:r>
            <a:r>
              <a:rPr dirty="0" err="1"/>
              <a:t>tcp</a:t>
            </a:r>
            <a:r>
              <a:rPr dirty="0"/>
              <a:t>. On the right, the files the workload can touch and the connections it can open, with the outcomes captured inside the sandbox that evening (</a:t>
            </a:r>
            <a:r>
              <a:rPr dirty="0" err="1"/>
              <a:t>probes.txt</a:t>
            </a:r>
            <a:r>
              <a:rPr dirty="0"/>
              <a:t> and </a:t>
            </a:r>
            <a:r>
              <a:rPr dirty="0" err="1"/>
              <a:t>logs.txt</a:t>
            </a:r>
            <a:r>
              <a:rPr dirty="0"/>
              <a:t>).</a:t>
            </a:r>
          </a:p>
          <a:p>
            <a:endParaRPr dirty="0"/>
          </a:p>
          <a:p>
            <a:r>
              <a:rPr dirty="0"/>
              <a:t>As a document, a policy is parsed, validated, versioned, diffed, loaded and proved: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/app/fixtures/</a:t>
            </a:r>
            <a:r>
              <a:rPr dirty="0" err="1"/>
              <a:t>owasp</a:t>
            </a:r>
            <a:r>
              <a:rPr dirty="0"/>
              <a:t>-benchmark-python/ground-truth/expectedresults-0.1.csv, were both readable; only </a:t>
            </a:r>
            <a:r>
              <a:rPr dirty="0" err="1"/>
              <a:t>Cyberbird's</a:t>
            </a:r>
            <a:r>
              <a:rPr dirty="0"/>
              <a:t> own workspace code kept them out of the agent's copy, and the HW2 policy lists the target's code directories instead. A grant covers everything beneath its path, so /app/runs is readable from the first block and writable once </a:t>
            </a:r>
            <a:r>
              <a:rPr dirty="0" err="1"/>
              <a:t>read_write</a:t>
            </a:r>
            <a:r>
              <a:rPr dirty="0"/>
              <a:t> names it. protocol: </a:t>
            </a:r>
            <a:r>
              <a:rPr dirty="0" err="1"/>
              <a:t>tcp</a:t>
            </a:r>
            <a:r>
              <a:rPr dirty="0"/>
              <a:t> admits the connection with no request inspection, so the rule has no enforcement line; with --model anthropic:claude-opus-5 the rule would name </a:t>
            </a:r>
            <a:r>
              <a:rPr dirty="0" err="1"/>
              <a:t>api.anthropic.com</a:t>
            </a:r>
            <a:r>
              <a:rPr dirty="0"/>
              <a:t> port 443 with protocol: rest and enforcement: enforce, and the key would come through a provider attachment. The effective policy the supervisor loaded, </a:t>
            </a:r>
            <a:r>
              <a:rPr dirty="0" err="1"/>
              <a:t>openshell</a:t>
            </a:r>
            <a:r>
              <a:rPr dirty="0"/>
              <a:t> policy get </a:t>
            </a:r>
            <a:r>
              <a:rPr dirty="0" err="1"/>
              <a:t>cyberbird</a:t>
            </a:r>
            <a:r>
              <a:rPr dirty="0"/>
              <a:t> --full, is version 2: OpenShell added /var/log to </a:t>
            </a:r>
            <a:r>
              <a:rPr dirty="0" err="1"/>
              <a:t>read_only</a:t>
            </a:r>
            <a:r>
              <a:rPr dirty="0"/>
              <a:t> and the name </a:t>
            </a:r>
            <a:r>
              <a:rPr dirty="0" err="1"/>
              <a:t>model_server</a:t>
            </a:r>
            <a:r>
              <a:rPr dirty="0"/>
              <a:t> to the rule.</a:t>
            </a:r>
          </a:p>
          <a:p>
            <a:endParaRPr dirty="0"/>
          </a:p>
          <a:p>
            <a:r>
              <a:rPr dirty="0"/>
              <a:t>The figure, stage by stage.</a:t>
            </a:r>
          </a:p>
          <a:p>
            <a:r>
              <a:rPr dirty="0"/>
              <a:t>1. The frame: the policy's version line, and the files and connections with nothing granted yet.</a:t>
            </a:r>
          </a:p>
          <a:p>
            <a:r>
              <a:rPr dirty="0"/>
              <a:t>2. </a:t>
            </a:r>
            <a:r>
              <a:rPr dirty="0" err="1"/>
              <a:t>filesystem_policy</a:t>
            </a:r>
            <a:r>
              <a:rPr dirty="0"/>
              <a:t> and its </a:t>
            </a:r>
            <a:r>
              <a:rPr dirty="0" err="1"/>
              <a:t>read_only</a:t>
            </a:r>
            <a:r>
              <a:rPr dirty="0"/>
              <a:t> list: everything under /bin, /</a:t>
            </a:r>
            <a:r>
              <a:rPr dirty="0" err="1"/>
              <a:t>usr</a:t>
            </a:r>
            <a:r>
              <a:rPr dirty="0"/>
              <a:t>, /lib, /</a:t>
            </a:r>
            <a:r>
              <a:rPr dirty="0" err="1"/>
              <a:t>etc</a:t>
            </a:r>
            <a:r>
              <a:rPr dirty="0"/>
              <a:t>, /proc, /dev/</a:t>
            </a:r>
            <a:r>
              <a:rPr dirty="0" err="1"/>
              <a:t>urandom</a:t>
            </a:r>
            <a:r>
              <a:rPr dirty="0"/>
              <a:t> and /app becomes readable, /app/runs included.</a:t>
            </a:r>
          </a:p>
          <a:p>
            <a:r>
              <a:rPr dirty="0"/>
              <a:t>3. </a:t>
            </a:r>
            <a:r>
              <a:rPr dirty="0" err="1"/>
              <a:t>read_write</a:t>
            </a:r>
            <a:r>
              <a:rPr dirty="0"/>
              <a:t>: /sandbox, /</a:t>
            </a:r>
            <a:r>
              <a:rPr dirty="0" err="1"/>
              <a:t>tmp</a:t>
            </a:r>
            <a:r>
              <a:rPr dirty="0"/>
              <a:t>, /dev/null and /app/runs become writable. Inside the sandbox a write into the fixture failed and writes into /app/runs and /</a:t>
            </a:r>
            <a:r>
              <a:rPr dirty="0" err="1"/>
              <a:t>tmp</a:t>
            </a:r>
            <a:r>
              <a:rPr dirty="0"/>
              <a:t> succeeded.</a:t>
            </a:r>
          </a:p>
          <a:p>
            <a:r>
              <a:rPr dirty="0"/>
              <a:t>4. landlock: the kernel holds both lists, and a path neither list names is refused: /home/agent and /var/lib/</a:t>
            </a:r>
            <a:r>
              <a:rPr dirty="0" err="1"/>
              <a:t>dpkg</a:t>
            </a:r>
            <a:r>
              <a:rPr dirty="0"/>
              <a:t>/status gave Permission denied. </a:t>
            </a:r>
            <a:r>
              <a:rPr dirty="0" err="1"/>
              <a:t>hard_requirement</a:t>
            </a:r>
            <a:r>
              <a:rPr dirty="0"/>
              <a:t> means a sandbox whose kernel cannot enforce the lists does not start; </a:t>
            </a:r>
            <a:r>
              <a:rPr dirty="0" err="1"/>
              <a:t>best_effort</a:t>
            </a:r>
            <a:r>
              <a:rPr dirty="0"/>
              <a:t> would continue with a finding.</a:t>
            </a:r>
          </a:p>
          <a:p>
            <a:r>
              <a:rPr dirty="0"/>
              <a:t>5. </a:t>
            </a:r>
            <a:r>
              <a:rPr dirty="0" err="1"/>
              <a:t>network_policies</a:t>
            </a:r>
            <a:r>
              <a:rPr dirty="0"/>
              <a:t>: one endpoint, the model server at </a:t>
            </a:r>
            <a:r>
              <a:rPr dirty="0" err="1"/>
              <a:t>host.lima.internal</a:t>
            </a:r>
            <a:r>
              <a:rPr dirty="0"/>
              <a:t> port 8080, TCP, behind the trusted supervisor.</a:t>
            </a:r>
          </a:p>
          <a:p>
            <a:r>
              <a:rPr dirty="0"/>
              <a:t>6. binaries: only /</a:t>
            </a:r>
            <a:r>
              <a:rPr dirty="0" err="1"/>
              <a:t>usr</a:t>
            </a:r>
            <a:r>
              <a:rPr dirty="0"/>
              <a:t>/local/bin/python3.12 may use it. The log read NET:OPEN ALLOWED /</a:t>
            </a:r>
            <a:r>
              <a:rPr dirty="0" err="1"/>
              <a:t>usr</a:t>
            </a:r>
            <a:r>
              <a:rPr dirty="0"/>
              <a:t>/local/bin/python3.12 -&gt; host.lima.internal:8080 [</a:t>
            </a:r>
            <a:r>
              <a:rPr dirty="0" err="1"/>
              <a:t>policy:model_server</a:t>
            </a:r>
            <a:r>
              <a:rPr dirty="0"/>
              <a:t>].</a:t>
            </a:r>
          </a:p>
          <a:p>
            <a:r>
              <a:rPr dirty="0"/>
              <a:t>7. What the rule leaves out: curl to the same server was denied, "binary '/</a:t>
            </a:r>
            <a:r>
              <a:rPr dirty="0" err="1"/>
              <a:t>usr</a:t>
            </a:r>
            <a:r>
              <a:rPr dirty="0"/>
              <a:t>/bin/curl' not allowed in policy '</a:t>
            </a:r>
            <a:r>
              <a:rPr dirty="0" err="1"/>
              <a:t>model_server</a:t>
            </a:r>
            <a:r>
              <a:rPr dirty="0"/>
              <a:t>'", and python3.12 to pypi.org:443 was denied, "endpoint pypi.org:443 is not allowed by any policy". A rule admits a binary together with a destination.</a:t>
            </a:r>
          </a:p>
          <a:p>
            <a:r>
              <a:rPr dirty="0"/>
              <a:t>8. The answer key sits under /app, so the read list grants it: the probe printed its first line.</a:t>
            </a: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read </a:t>
            </a:r>
            <a:r>
              <a:rPr dirty="0" err="1"/>
              <a:t>Cyberbird's</a:t>
            </a:r>
            <a:r>
              <a:rPr dirty="0"/>
              <a:t> policy one block at a time and watch what each block grants. The text is the policy of the run we recorded on October 15, 2026, instructor-materials/hw2/feasibility/</a:t>
            </a:r>
            <a:r>
              <a:rPr dirty="0" err="1"/>
              <a:t>cyberbird-policy.yaml</a:t>
            </a:r>
            <a:r>
              <a:rPr dirty="0"/>
              <a:t>, with its two lists wrapped to fit and its three comment lines left out; the comments say why the host is </a:t>
            </a:r>
            <a:r>
              <a:rPr dirty="0" err="1"/>
              <a:t>host.lima.internal</a:t>
            </a:r>
            <a:r>
              <a:rPr dirty="0"/>
              <a:t>: OpenShell 0.1.4 on Colima refuses </a:t>
            </a:r>
            <a:r>
              <a:rPr dirty="0" err="1"/>
              <a:t>host.docker.internal</a:t>
            </a:r>
            <a:r>
              <a:rPr dirty="0"/>
              <a:t> at policy DNS, and an IP literal is refused for protocol </a:t>
            </a:r>
            <a:r>
              <a:rPr dirty="0" err="1"/>
              <a:t>tcp</a:t>
            </a:r>
            <a:r>
              <a:rPr dirty="0"/>
              <a:t>. On the right, the files the workload can touch and the connections it can open, with the outcomes captured inside the sandbox that evening (</a:t>
            </a:r>
            <a:r>
              <a:rPr dirty="0" err="1"/>
              <a:t>probes.txt</a:t>
            </a:r>
            <a:r>
              <a:rPr dirty="0"/>
              <a:t> and </a:t>
            </a:r>
            <a:r>
              <a:rPr dirty="0" err="1"/>
              <a:t>logs.txt</a:t>
            </a:r>
            <a:r>
              <a:rPr dirty="0"/>
              <a:t>).</a:t>
            </a:r>
          </a:p>
          <a:p>
            <a:endParaRPr dirty="0"/>
          </a:p>
          <a:p>
            <a:r>
              <a:rPr dirty="0"/>
              <a:t>As a document, a policy is parsed, validated, versioned, diffed, loaded and proved: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/app/fixtures/</a:t>
            </a:r>
            <a:r>
              <a:rPr dirty="0" err="1"/>
              <a:t>owasp</a:t>
            </a:r>
            <a:r>
              <a:rPr dirty="0"/>
              <a:t>-benchmark-python/ground-truth/expectedresults-0.1.csv, were both readable; only </a:t>
            </a:r>
            <a:r>
              <a:rPr dirty="0" err="1"/>
              <a:t>Cyberbird's</a:t>
            </a:r>
            <a:r>
              <a:rPr dirty="0"/>
              <a:t> own workspace code kept them out of the agent's copy, and the HW2 policy lists the target's code directories instead. A grant covers everything beneath its path, so /app/runs is readable from the first block and writable once </a:t>
            </a:r>
            <a:r>
              <a:rPr dirty="0" err="1"/>
              <a:t>read_write</a:t>
            </a:r>
            <a:r>
              <a:rPr dirty="0"/>
              <a:t> names it. protocol: </a:t>
            </a:r>
            <a:r>
              <a:rPr dirty="0" err="1"/>
              <a:t>tcp</a:t>
            </a:r>
            <a:r>
              <a:rPr dirty="0"/>
              <a:t> admits the connection with no request inspection, so the rule has no enforcement line; with --model anthropic:claude-opus-5 the rule would name </a:t>
            </a:r>
            <a:r>
              <a:rPr dirty="0" err="1"/>
              <a:t>api.anthropic.com</a:t>
            </a:r>
            <a:r>
              <a:rPr dirty="0"/>
              <a:t> port 443 with protocol: rest and enforcement: enforce, and the key would come through a provider attachment. The effective policy the supervisor loaded, </a:t>
            </a:r>
            <a:r>
              <a:rPr dirty="0" err="1"/>
              <a:t>openshell</a:t>
            </a:r>
            <a:r>
              <a:rPr dirty="0"/>
              <a:t> policy get </a:t>
            </a:r>
            <a:r>
              <a:rPr dirty="0" err="1"/>
              <a:t>cyberbird</a:t>
            </a:r>
            <a:r>
              <a:rPr dirty="0"/>
              <a:t> --full, is version 2: OpenShell added /var/log to </a:t>
            </a:r>
            <a:r>
              <a:rPr dirty="0" err="1"/>
              <a:t>read_only</a:t>
            </a:r>
            <a:r>
              <a:rPr dirty="0"/>
              <a:t> and the name </a:t>
            </a:r>
            <a:r>
              <a:rPr dirty="0" err="1"/>
              <a:t>model_server</a:t>
            </a:r>
            <a:r>
              <a:rPr dirty="0"/>
              <a:t> to the rule.</a:t>
            </a:r>
          </a:p>
          <a:p>
            <a:endParaRPr dirty="0"/>
          </a:p>
          <a:p>
            <a:r>
              <a:rPr dirty="0"/>
              <a:t>The figure, stage by stage.</a:t>
            </a:r>
          </a:p>
          <a:p>
            <a:r>
              <a:rPr dirty="0"/>
              <a:t>1. The frame: the policy's version line, and the files and connections with nothing granted yet.</a:t>
            </a:r>
          </a:p>
          <a:p>
            <a:r>
              <a:rPr dirty="0"/>
              <a:t>2. </a:t>
            </a:r>
            <a:r>
              <a:rPr dirty="0" err="1"/>
              <a:t>filesystem_policy</a:t>
            </a:r>
            <a:r>
              <a:rPr dirty="0"/>
              <a:t> and its </a:t>
            </a:r>
            <a:r>
              <a:rPr dirty="0" err="1"/>
              <a:t>read_only</a:t>
            </a:r>
            <a:r>
              <a:rPr dirty="0"/>
              <a:t> list: everything under /bin, /</a:t>
            </a:r>
            <a:r>
              <a:rPr dirty="0" err="1"/>
              <a:t>usr</a:t>
            </a:r>
            <a:r>
              <a:rPr dirty="0"/>
              <a:t>, /lib, /</a:t>
            </a:r>
            <a:r>
              <a:rPr dirty="0" err="1"/>
              <a:t>etc</a:t>
            </a:r>
            <a:r>
              <a:rPr dirty="0"/>
              <a:t>, /proc, /dev/</a:t>
            </a:r>
            <a:r>
              <a:rPr dirty="0" err="1"/>
              <a:t>urandom</a:t>
            </a:r>
            <a:r>
              <a:rPr dirty="0"/>
              <a:t> and /app becomes readable, /app/runs included.</a:t>
            </a:r>
          </a:p>
          <a:p>
            <a:r>
              <a:rPr dirty="0"/>
              <a:t>3. </a:t>
            </a:r>
            <a:r>
              <a:rPr dirty="0" err="1"/>
              <a:t>read_write</a:t>
            </a:r>
            <a:r>
              <a:rPr dirty="0"/>
              <a:t>: /sandbox, /</a:t>
            </a:r>
            <a:r>
              <a:rPr dirty="0" err="1"/>
              <a:t>tmp</a:t>
            </a:r>
            <a:r>
              <a:rPr dirty="0"/>
              <a:t>, /dev/null and /app/runs become writable. Inside the sandbox a write into the fixture failed and writes into /app/runs and /</a:t>
            </a:r>
            <a:r>
              <a:rPr dirty="0" err="1"/>
              <a:t>tmp</a:t>
            </a:r>
            <a:r>
              <a:rPr dirty="0"/>
              <a:t> succeeded.</a:t>
            </a:r>
          </a:p>
          <a:p>
            <a:r>
              <a:rPr dirty="0"/>
              <a:t>4. landlock: the kernel holds both lists, and a path neither list names is refused: /home/agent and /var/lib/</a:t>
            </a:r>
            <a:r>
              <a:rPr dirty="0" err="1"/>
              <a:t>dpkg</a:t>
            </a:r>
            <a:r>
              <a:rPr dirty="0"/>
              <a:t>/status gave Permission denied. </a:t>
            </a:r>
            <a:r>
              <a:rPr dirty="0" err="1"/>
              <a:t>hard_requirement</a:t>
            </a:r>
            <a:r>
              <a:rPr dirty="0"/>
              <a:t> means a sandbox whose kernel cannot enforce the lists does not start; </a:t>
            </a:r>
            <a:r>
              <a:rPr dirty="0" err="1"/>
              <a:t>best_effort</a:t>
            </a:r>
            <a:r>
              <a:rPr dirty="0"/>
              <a:t> would continue with a finding.</a:t>
            </a:r>
          </a:p>
          <a:p>
            <a:r>
              <a:rPr dirty="0"/>
              <a:t>5. </a:t>
            </a:r>
            <a:r>
              <a:rPr dirty="0" err="1"/>
              <a:t>network_policies</a:t>
            </a:r>
            <a:r>
              <a:rPr dirty="0"/>
              <a:t>: one endpoint, the model server at </a:t>
            </a:r>
            <a:r>
              <a:rPr dirty="0" err="1"/>
              <a:t>host.lima.internal</a:t>
            </a:r>
            <a:r>
              <a:rPr dirty="0"/>
              <a:t> port 8080, TCP, behind the trusted supervisor.</a:t>
            </a:r>
          </a:p>
          <a:p>
            <a:r>
              <a:rPr dirty="0"/>
              <a:t>6. binaries: only /</a:t>
            </a:r>
            <a:r>
              <a:rPr dirty="0" err="1"/>
              <a:t>usr</a:t>
            </a:r>
            <a:r>
              <a:rPr dirty="0"/>
              <a:t>/local/bin/python3.12 may use it. The log read NET:OPEN ALLOWED /</a:t>
            </a:r>
            <a:r>
              <a:rPr dirty="0" err="1"/>
              <a:t>usr</a:t>
            </a:r>
            <a:r>
              <a:rPr dirty="0"/>
              <a:t>/local/bin/python3.12 -&gt; host.lima.internal:8080 [</a:t>
            </a:r>
            <a:r>
              <a:rPr dirty="0" err="1"/>
              <a:t>policy:model_server</a:t>
            </a:r>
            <a:r>
              <a:rPr dirty="0"/>
              <a:t>].</a:t>
            </a:r>
          </a:p>
          <a:p>
            <a:r>
              <a:rPr dirty="0"/>
              <a:t>7. What the rule leaves out: curl to the same server was denied, "binary '/</a:t>
            </a:r>
            <a:r>
              <a:rPr dirty="0" err="1"/>
              <a:t>usr</a:t>
            </a:r>
            <a:r>
              <a:rPr dirty="0"/>
              <a:t>/bin/curl' not allowed in policy '</a:t>
            </a:r>
            <a:r>
              <a:rPr dirty="0" err="1"/>
              <a:t>model_server</a:t>
            </a:r>
            <a:r>
              <a:rPr dirty="0"/>
              <a:t>'", and python3.12 to pypi.org:443 was denied, "endpoint pypi.org:443 is not allowed by any policy". A rule admits a binary together with a destination.</a:t>
            </a:r>
          </a:p>
          <a:p>
            <a:r>
              <a:rPr dirty="0"/>
              <a:t>8. The answer key sits under /app, so the read list grants it: the probe printed its first line.</a:t>
            </a: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read </a:t>
            </a:r>
            <a:r>
              <a:rPr dirty="0" err="1"/>
              <a:t>Cyberbird's</a:t>
            </a:r>
            <a:r>
              <a:rPr dirty="0"/>
              <a:t> policy one block at a time and watch what each block grants. The text is the policy of the run we recorded on October 15, 2026, instructor-materials/hw2/feasibility/</a:t>
            </a:r>
            <a:r>
              <a:rPr dirty="0" err="1"/>
              <a:t>cyberbird-policy.yaml</a:t>
            </a:r>
            <a:r>
              <a:rPr dirty="0"/>
              <a:t>, with its two lists wrapped to fit and its three comment lines left out; the comments say why the host is </a:t>
            </a:r>
            <a:r>
              <a:rPr dirty="0" err="1"/>
              <a:t>host.lima.internal</a:t>
            </a:r>
            <a:r>
              <a:rPr dirty="0"/>
              <a:t>: OpenShell 0.1.4 on Colima refuses </a:t>
            </a:r>
            <a:r>
              <a:rPr dirty="0" err="1"/>
              <a:t>host.docker.internal</a:t>
            </a:r>
            <a:r>
              <a:rPr dirty="0"/>
              <a:t> at policy DNS, and an IP literal is refused for protocol </a:t>
            </a:r>
            <a:r>
              <a:rPr dirty="0" err="1"/>
              <a:t>tcp</a:t>
            </a:r>
            <a:r>
              <a:rPr dirty="0"/>
              <a:t>. On the right, the files the workload can touch and the connections it can open, with the outcomes captured inside the sandbox that evening (</a:t>
            </a:r>
            <a:r>
              <a:rPr dirty="0" err="1"/>
              <a:t>probes.txt</a:t>
            </a:r>
            <a:r>
              <a:rPr dirty="0"/>
              <a:t> and </a:t>
            </a:r>
            <a:r>
              <a:rPr dirty="0" err="1"/>
              <a:t>logs.txt</a:t>
            </a:r>
            <a:r>
              <a:rPr dirty="0"/>
              <a:t>).</a:t>
            </a:r>
          </a:p>
          <a:p>
            <a:endParaRPr dirty="0"/>
          </a:p>
          <a:p>
            <a:r>
              <a:rPr dirty="0"/>
              <a:t>As a document, a policy is parsed, validated, versioned, diffed, loaded and proved: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/app/fixtures/</a:t>
            </a:r>
            <a:r>
              <a:rPr dirty="0" err="1"/>
              <a:t>owasp</a:t>
            </a:r>
            <a:r>
              <a:rPr dirty="0"/>
              <a:t>-benchmark-python/ground-truth/expectedresults-0.1.csv, were both readable; only </a:t>
            </a:r>
            <a:r>
              <a:rPr dirty="0" err="1"/>
              <a:t>Cyberbird's</a:t>
            </a:r>
            <a:r>
              <a:rPr dirty="0"/>
              <a:t> own workspace code kept them out of the agent's copy, and the HW2 policy lists the target's code directories instead. A grant covers everything beneath its path, so /app/runs is readable from the first block and writable once </a:t>
            </a:r>
            <a:r>
              <a:rPr dirty="0" err="1"/>
              <a:t>read_write</a:t>
            </a:r>
            <a:r>
              <a:rPr dirty="0"/>
              <a:t> names it. protocol: </a:t>
            </a:r>
            <a:r>
              <a:rPr dirty="0" err="1"/>
              <a:t>tcp</a:t>
            </a:r>
            <a:r>
              <a:rPr dirty="0"/>
              <a:t> admits the connection with no request inspection, so the rule has no enforcement line; with --model anthropic:claude-opus-5 the rule would name </a:t>
            </a:r>
            <a:r>
              <a:rPr dirty="0" err="1"/>
              <a:t>api.anthropic.com</a:t>
            </a:r>
            <a:r>
              <a:rPr dirty="0"/>
              <a:t> port 443 with protocol: rest and enforcement: enforce, and the key would come through a provider attachment. The effective policy the supervisor loaded, </a:t>
            </a:r>
            <a:r>
              <a:rPr dirty="0" err="1"/>
              <a:t>openshell</a:t>
            </a:r>
            <a:r>
              <a:rPr dirty="0"/>
              <a:t> policy get </a:t>
            </a:r>
            <a:r>
              <a:rPr dirty="0" err="1"/>
              <a:t>cyberbird</a:t>
            </a:r>
            <a:r>
              <a:rPr dirty="0"/>
              <a:t> --full, is version 2: OpenShell added /var/log to </a:t>
            </a:r>
            <a:r>
              <a:rPr dirty="0" err="1"/>
              <a:t>read_only</a:t>
            </a:r>
            <a:r>
              <a:rPr dirty="0"/>
              <a:t> and the name </a:t>
            </a:r>
            <a:r>
              <a:rPr dirty="0" err="1"/>
              <a:t>model_server</a:t>
            </a:r>
            <a:r>
              <a:rPr dirty="0"/>
              <a:t> to the rule.</a:t>
            </a:r>
          </a:p>
          <a:p>
            <a:endParaRPr dirty="0"/>
          </a:p>
          <a:p>
            <a:r>
              <a:rPr dirty="0"/>
              <a:t>The figure, stage by stage.</a:t>
            </a:r>
          </a:p>
          <a:p>
            <a:r>
              <a:rPr dirty="0"/>
              <a:t>1. The frame: the policy's version line, and the files and connections with nothing granted yet.</a:t>
            </a:r>
          </a:p>
          <a:p>
            <a:r>
              <a:rPr dirty="0"/>
              <a:t>2. </a:t>
            </a:r>
            <a:r>
              <a:rPr dirty="0" err="1"/>
              <a:t>filesystem_policy</a:t>
            </a:r>
            <a:r>
              <a:rPr dirty="0"/>
              <a:t> and its </a:t>
            </a:r>
            <a:r>
              <a:rPr dirty="0" err="1"/>
              <a:t>read_only</a:t>
            </a:r>
            <a:r>
              <a:rPr dirty="0"/>
              <a:t> list: everything under /bin, /</a:t>
            </a:r>
            <a:r>
              <a:rPr dirty="0" err="1"/>
              <a:t>usr</a:t>
            </a:r>
            <a:r>
              <a:rPr dirty="0"/>
              <a:t>, /lib, /</a:t>
            </a:r>
            <a:r>
              <a:rPr dirty="0" err="1"/>
              <a:t>etc</a:t>
            </a:r>
            <a:r>
              <a:rPr dirty="0"/>
              <a:t>, /proc, /dev/</a:t>
            </a:r>
            <a:r>
              <a:rPr dirty="0" err="1"/>
              <a:t>urandom</a:t>
            </a:r>
            <a:r>
              <a:rPr dirty="0"/>
              <a:t> and /app becomes readable, /app/runs included.</a:t>
            </a:r>
          </a:p>
          <a:p>
            <a:r>
              <a:rPr dirty="0"/>
              <a:t>3. </a:t>
            </a:r>
            <a:r>
              <a:rPr dirty="0" err="1"/>
              <a:t>read_write</a:t>
            </a:r>
            <a:r>
              <a:rPr dirty="0"/>
              <a:t>: /sandbox, /</a:t>
            </a:r>
            <a:r>
              <a:rPr dirty="0" err="1"/>
              <a:t>tmp</a:t>
            </a:r>
            <a:r>
              <a:rPr dirty="0"/>
              <a:t>, /dev/null and /app/runs become writable. Inside the sandbox a write into the fixture failed and writes into /app/runs and /</a:t>
            </a:r>
            <a:r>
              <a:rPr dirty="0" err="1"/>
              <a:t>tmp</a:t>
            </a:r>
            <a:r>
              <a:rPr dirty="0"/>
              <a:t> succeeded.</a:t>
            </a:r>
          </a:p>
          <a:p>
            <a:r>
              <a:rPr dirty="0"/>
              <a:t>4. landlock: the kernel holds both lists, and a path neither list names is refused: /home/agent and /var/lib/</a:t>
            </a:r>
            <a:r>
              <a:rPr dirty="0" err="1"/>
              <a:t>dpkg</a:t>
            </a:r>
            <a:r>
              <a:rPr dirty="0"/>
              <a:t>/status gave Permission denied. </a:t>
            </a:r>
            <a:r>
              <a:rPr dirty="0" err="1"/>
              <a:t>hard_requirement</a:t>
            </a:r>
            <a:r>
              <a:rPr dirty="0"/>
              <a:t> means a sandbox whose kernel cannot enforce the lists does not start; </a:t>
            </a:r>
            <a:r>
              <a:rPr dirty="0" err="1"/>
              <a:t>best_effort</a:t>
            </a:r>
            <a:r>
              <a:rPr dirty="0"/>
              <a:t> would continue with a finding.</a:t>
            </a:r>
          </a:p>
          <a:p>
            <a:r>
              <a:rPr dirty="0"/>
              <a:t>5. </a:t>
            </a:r>
            <a:r>
              <a:rPr dirty="0" err="1"/>
              <a:t>network_policies</a:t>
            </a:r>
            <a:r>
              <a:rPr dirty="0"/>
              <a:t>: one endpoint, the model server at </a:t>
            </a:r>
            <a:r>
              <a:rPr dirty="0" err="1"/>
              <a:t>host.lima.internal</a:t>
            </a:r>
            <a:r>
              <a:rPr dirty="0"/>
              <a:t> port 8080, TCP, behind the trusted supervisor.</a:t>
            </a:r>
          </a:p>
          <a:p>
            <a:r>
              <a:rPr dirty="0"/>
              <a:t>6. binaries: only /</a:t>
            </a:r>
            <a:r>
              <a:rPr dirty="0" err="1"/>
              <a:t>usr</a:t>
            </a:r>
            <a:r>
              <a:rPr dirty="0"/>
              <a:t>/local/bin/python3.12 may use it. The log read NET:OPEN ALLOWED /</a:t>
            </a:r>
            <a:r>
              <a:rPr dirty="0" err="1"/>
              <a:t>usr</a:t>
            </a:r>
            <a:r>
              <a:rPr dirty="0"/>
              <a:t>/local/bin/python3.12 -&gt; host.lima.internal:8080 [</a:t>
            </a:r>
            <a:r>
              <a:rPr dirty="0" err="1"/>
              <a:t>policy:model_server</a:t>
            </a:r>
            <a:r>
              <a:rPr dirty="0"/>
              <a:t>].</a:t>
            </a:r>
          </a:p>
          <a:p>
            <a:r>
              <a:rPr dirty="0"/>
              <a:t>7. What the rule leaves out: curl to the same server was denied, "binary '/</a:t>
            </a:r>
            <a:r>
              <a:rPr dirty="0" err="1"/>
              <a:t>usr</a:t>
            </a:r>
            <a:r>
              <a:rPr dirty="0"/>
              <a:t>/bin/curl' not allowed in policy '</a:t>
            </a:r>
            <a:r>
              <a:rPr dirty="0" err="1"/>
              <a:t>model_server</a:t>
            </a:r>
            <a:r>
              <a:rPr dirty="0"/>
              <a:t>'", and python3.12 to pypi.org:443 was denied, "endpoint pypi.org:443 is not allowed by any policy". A rule admits a binary together with a destination.</a:t>
            </a:r>
          </a:p>
          <a:p>
            <a:r>
              <a:rPr dirty="0"/>
              <a:t>8. The answer key sits under /app, so the read list grants it: the probe printed its first line.</a:t>
            </a: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read </a:t>
            </a:r>
            <a:r>
              <a:rPr dirty="0" err="1"/>
              <a:t>Cyberbird's</a:t>
            </a:r>
            <a:r>
              <a:rPr dirty="0"/>
              <a:t> policy one block at a time and watch what each block grants. The text is the policy of the run we recorded on October 15, 2026, instructor-materials/hw2/feasibility/</a:t>
            </a:r>
            <a:r>
              <a:rPr dirty="0" err="1"/>
              <a:t>cyberbird-policy.yaml</a:t>
            </a:r>
            <a:r>
              <a:rPr dirty="0"/>
              <a:t>, with its two lists wrapped to fit and its three comment lines left out; the comments say why the host is </a:t>
            </a:r>
            <a:r>
              <a:rPr dirty="0" err="1"/>
              <a:t>host.lima.internal</a:t>
            </a:r>
            <a:r>
              <a:rPr dirty="0"/>
              <a:t>: OpenShell 0.1.4 on Colima refuses </a:t>
            </a:r>
            <a:r>
              <a:rPr dirty="0" err="1"/>
              <a:t>host.docker.internal</a:t>
            </a:r>
            <a:r>
              <a:rPr dirty="0"/>
              <a:t> at policy DNS, and an IP literal is refused for protocol </a:t>
            </a:r>
            <a:r>
              <a:rPr dirty="0" err="1"/>
              <a:t>tcp</a:t>
            </a:r>
            <a:r>
              <a:rPr dirty="0"/>
              <a:t>. On the right, the files the workload can touch and the connections it can open, with the outcomes captured inside the sandbox that evening (</a:t>
            </a:r>
            <a:r>
              <a:rPr dirty="0" err="1"/>
              <a:t>probes.txt</a:t>
            </a:r>
            <a:r>
              <a:rPr dirty="0"/>
              <a:t> and </a:t>
            </a:r>
            <a:r>
              <a:rPr dirty="0" err="1"/>
              <a:t>logs.txt</a:t>
            </a:r>
            <a:r>
              <a:rPr dirty="0"/>
              <a:t>).</a:t>
            </a:r>
          </a:p>
          <a:p>
            <a:endParaRPr dirty="0"/>
          </a:p>
          <a:p>
            <a:r>
              <a:rPr dirty="0"/>
              <a:t>As a document, a policy is parsed, validated, versioned, diffed, loaded and proved: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/app/fixtures/</a:t>
            </a:r>
            <a:r>
              <a:rPr dirty="0" err="1"/>
              <a:t>owasp</a:t>
            </a:r>
            <a:r>
              <a:rPr dirty="0"/>
              <a:t>-benchmark-python/ground-truth/expectedresults-0.1.csv, were both readable; only </a:t>
            </a:r>
            <a:r>
              <a:rPr dirty="0" err="1"/>
              <a:t>Cyberbird's</a:t>
            </a:r>
            <a:r>
              <a:rPr dirty="0"/>
              <a:t> own workspace code kept them out of the agent's copy, and the HW2 policy lists the target's code directories instead. A grant covers everything beneath its path, so /app/runs is readable from the first block and writable once </a:t>
            </a:r>
            <a:r>
              <a:rPr dirty="0" err="1"/>
              <a:t>read_write</a:t>
            </a:r>
            <a:r>
              <a:rPr dirty="0"/>
              <a:t> names it. protocol: </a:t>
            </a:r>
            <a:r>
              <a:rPr dirty="0" err="1"/>
              <a:t>tcp</a:t>
            </a:r>
            <a:r>
              <a:rPr dirty="0"/>
              <a:t> admits the connection with no request inspection, so the rule has no enforcement line; with --model anthropic:claude-opus-5 the rule would name </a:t>
            </a:r>
            <a:r>
              <a:rPr dirty="0" err="1"/>
              <a:t>api.anthropic.com</a:t>
            </a:r>
            <a:r>
              <a:rPr dirty="0"/>
              <a:t> port 443 with protocol: rest and enforcement: enforce, and the key would come through a provider attachment. The effective policy the supervisor loaded, </a:t>
            </a:r>
            <a:r>
              <a:rPr dirty="0" err="1"/>
              <a:t>openshell</a:t>
            </a:r>
            <a:r>
              <a:rPr dirty="0"/>
              <a:t> policy get </a:t>
            </a:r>
            <a:r>
              <a:rPr dirty="0" err="1"/>
              <a:t>cyberbird</a:t>
            </a:r>
            <a:r>
              <a:rPr dirty="0"/>
              <a:t> --full, is version 2: OpenShell added /var/log to </a:t>
            </a:r>
            <a:r>
              <a:rPr dirty="0" err="1"/>
              <a:t>read_only</a:t>
            </a:r>
            <a:r>
              <a:rPr dirty="0"/>
              <a:t> and the name </a:t>
            </a:r>
            <a:r>
              <a:rPr dirty="0" err="1"/>
              <a:t>model_server</a:t>
            </a:r>
            <a:r>
              <a:rPr dirty="0"/>
              <a:t> to the rule.</a:t>
            </a:r>
          </a:p>
          <a:p>
            <a:endParaRPr dirty="0"/>
          </a:p>
          <a:p>
            <a:r>
              <a:rPr dirty="0"/>
              <a:t>The figure, stage by stage.</a:t>
            </a:r>
          </a:p>
          <a:p>
            <a:r>
              <a:rPr dirty="0"/>
              <a:t>1. The frame: the policy's version line, and the files and connections with nothing granted yet.</a:t>
            </a:r>
          </a:p>
          <a:p>
            <a:r>
              <a:rPr dirty="0"/>
              <a:t>2. </a:t>
            </a:r>
            <a:r>
              <a:rPr dirty="0" err="1"/>
              <a:t>filesystem_policy</a:t>
            </a:r>
            <a:r>
              <a:rPr dirty="0"/>
              <a:t> and its </a:t>
            </a:r>
            <a:r>
              <a:rPr dirty="0" err="1"/>
              <a:t>read_only</a:t>
            </a:r>
            <a:r>
              <a:rPr dirty="0"/>
              <a:t> list: everything under /bin, /</a:t>
            </a:r>
            <a:r>
              <a:rPr dirty="0" err="1"/>
              <a:t>usr</a:t>
            </a:r>
            <a:r>
              <a:rPr dirty="0"/>
              <a:t>, /lib, /</a:t>
            </a:r>
            <a:r>
              <a:rPr dirty="0" err="1"/>
              <a:t>etc</a:t>
            </a:r>
            <a:r>
              <a:rPr dirty="0"/>
              <a:t>, /proc, /dev/</a:t>
            </a:r>
            <a:r>
              <a:rPr dirty="0" err="1"/>
              <a:t>urandom</a:t>
            </a:r>
            <a:r>
              <a:rPr dirty="0"/>
              <a:t> and /app becomes readable, /app/runs included.</a:t>
            </a:r>
          </a:p>
          <a:p>
            <a:r>
              <a:rPr dirty="0"/>
              <a:t>3. </a:t>
            </a:r>
            <a:r>
              <a:rPr dirty="0" err="1"/>
              <a:t>read_write</a:t>
            </a:r>
            <a:r>
              <a:rPr dirty="0"/>
              <a:t>: /sandbox, /</a:t>
            </a:r>
            <a:r>
              <a:rPr dirty="0" err="1"/>
              <a:t>tmp</a:t>
            </a:r>
            <a:r>
              <a:rPr dirty="0"/>
              <a:t>, /dev/null and /app/runs become writable. Inside the sandbox a write into the fixture failed and writes into /app/runs and /</a:t>
            </a:r>
            <a:r>
              <a:rPr dirty="0" err="1"/>
              <a:t>tmp</a:t>
            </a:r>
            <a:r>
              <a:rPr dirty="0"/>
              <a:t> succeeded.</a:t>
            </a:r>
          </a:p>
          <a:p>
            <a:r>
              <a:rPr dirty="0"/>
              <a:t>4. landlock: the kernel holds both lists, and a path neither list names is refused: /home/agent and /var/lib/</a:t>
            </a:r>
            <a:r>
              <a:rPr dirty="0" err="1"/>
              <a:t>dpkg</a:t>
            </a:r>
            <a:r>
              <a:rPr dirty="0"/>
              <a:t>/status gave Permission denied. </a:t>
            </a:r>
            <a:r>
              <a:rPr dirty="0" err="1"/>
              <a:t>hard_requirement</a:t>
            </a:r>
            <a:r>
              <a:rPr dirty="0"/>
              <a:t> means a sandbox whose kernel cannot enforce the lists does not start; </a:t>
            </a:r>
            <a:r>
              <a:rPr dirty="0" err="1"/>
              <a:t>best_effort</a:t>
            </a:r>
            <a:r>
              <a:rPr dirty="0"/>
              <a:t> would continue with a finding.</a:t>
            </a:r>
          </a:p>
          <a:p>
            <a:r>
              <a:rPr dirty="0"/>
              <a:t>5. </a:t>
            </a:r>
            <a:r>
              <a:rPr dirty="0" err="1"/>
              <a:t>network_policies</a:t>
            </a:r>
            <a:r>
              <a:rPr dirty="0"/>
              <a:t>: one endpoint, the model server at </a:t>
            </a:r>
            <a:r>
              <a:rPr dirty="0" err="1"/>
              <a:t>host.lima.internal</a:t>
            </a:r>
            <a:r>
              <a:rPr dirty="0"/>
              <a:t> port 8080, TCP, behind the trusted supervisor.</a:t>
            </a:r>
          </a:p>
          <a:p>
            <a:r>
              <a:rPr dirty="0"/>
              <a:t>6. binaries: only /</a:t>
            </a:r>
            <a:r>
              <a:rPr dirty="0" err="1"/>
              <a:t>usr</a:t>
            </a:r>
            <a:r>
              <a:rPr dirty="0"/>
              <a:t>/local/bin/python3.12 may use it. The log read NET:OPEN ALLOWED /</a:t>
            </a:r>
            <a:r>
              <a:rPr dirty="0" err="1"/>
              <a:t>usr</a:t>
            </a:r>
            <a:r>
              <a:rPr dirty="0"/>
              <a:t>/local/bin/python3.12 -&gt; host.lima.internal:8080 [</a:t>
            </a:r>
            <a:r>
              <a:rPr dirty="0" err="1"/>
              <a:t>policy:model_server</a:t>
            </a:r>
            <a:r>
              <a:rPr dirty="0"/>
              <a:t>].</a:t>
            </a:r>
          </a:p>
          <a:p>
            <a:r>
              <a:rPr dirty="0"/>
              <a:t>7. What the rule leaves out: curl to the same server was denied, "binary '/</a:t>
            </a:r>
            <a:r>
              <a:rPr dirty="0" err="1"/>
              <a:t>usr</a:t>
            </a:r>
            <a:r>
              <a:rPr dirty="0"/>
              <a:t>/bin/curl' not allowed in policy '</a:t>
            </a:r>
            <a:r>
              <a:rPr dirty="0" err="1"/>
              <a:t>model_server</a:t>
            </a:r>
            <a:r>
              <a:rPr dirty="0"/>
              <a:t>'", and python3.12 to pypi.org:443 was denied, "endpoint pypi.org:443 is not allowed by any policy". A rule admits a binary together with a destination.</a:t>
            </a:r>
          </a:p>
          <a:p>
            <a:r>
              <a:rPr dirty="0"/>
              <a:t>8. The answer key sits under /app, so the read list grants it: the probe printed its first line.</a:t>
            </a: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read </a:t>
            </a:r>
            <a:r>
              <a:rPr dirty="0" err="1"/>
              <a:t>Cyberbird's</a:t>
            </a:r>
            <a:r>
              <a:rPr dirty="0"/>
              <a:t> policy one block at a time and watch what each block grants. The text is the policy of the run we recorded on October 15, 2026, instructor-materials/hw2/feasibility/</a:t>
            </a:r>
            <a:r>
              <a:rPr dirty="0" err="1"/>
              <a:t>cyberbird-policy.yaml</a:t>
            </a:r>
            <a:r>
              <a:rPr dirty="0"/>
              <a:t>, with its two lists wrapped to fit and its three comment lines left out; the comments say why the host is </a:t>
            </a:r>
            <a:r>
              <a:rPr dirty="0" err="1"/>
              <a:t>host.lima.internal</a:t>
            </a:r>
            <a:r>
              <a:rPr dirty="0"/>
              <a:t>: OpenShell 0.1.4 on Colima refuses </a:t>
            </a:r>
            <a:r>
              <a:rPr dirty="0" err="1"/>
              <a:t>host.docker.internal</a:t>
            </a:r>
            <a:r>
              <a:rPr dirty="0"/>
              <a:t> at policy DNS, and an IP literal is refused for protocol </a:t>
            </a:r>
            <a:r>
              <a:rPr dirty="0" err="1"/>
              <a:t>tcp</a:t>
            </a:r>
            <a:r>
              <a:rPr dirty="0"/>
              <a:t>. On the right, the files the workload can touch and the connections it can open, with the outcomes captured inside the sandbox that evening (</a:t>
            </a:r>
            <a:r>
              <a:rPr dirty="0" err="1"/>
              <a:t>probes.txt</a:t>
            </a:r>
            <a:r>
              <a:rPr dirty="0"/>
              <a:t> and </a:t>
            </a:r>
            <a:r>
              <a:rPr dirty="0" err="1"/>
              <a:t>logs.txt</a:t>
            </a:r>
            <a:r>
              <a:rPr dirty="0"/>
              <a:t>).</a:t>
            </a:r>
          </a:p>
          <a:p>
            <a:endParaRPr dirty="0"/>
          </a:p>
          <a:p>
            <a:r>
              <a:rPr dirty="0"/>
              <a:t>As a document, a policy is parsed, validated, versioned, diffed, loaded and proved: a bounded parser rejects unknown fields, duplicate keys and oversized input, the gateway validates and versions every revision, a reviewer diffs it, the supervisor loads it and the prover reads it. The read list grants /app, so inside the sandbox the sibling case BenchmarkTest00284.py and the answer key, /app/fixtures/</a:t>
            </a:r>
            <a:r>
              <a:rPr dirty="0" err="1"/>
              <a:t>owasp</a:t>
            </a:r>
            <a:r>
              <a:rPr dirty="0"/>
              <a:t>-benchmark-python/ground-truth/expectedresults-0.1.csv, were both readable; only </a:t>
            </a:r>
            <a:r>
              <a:rPr dirty="0" err="1"/>
              <a:t>Cyberbird's</a:t>
            </a:r>
            <a:r>
              <a:rPr dirty="0"/>
              <a:t> own workspace code kept them out of the agent's copy, and the HW2 policy lists the target's code directories instead. A grant covers everything beneath its path, so /app/runs is readable from the first block and writable once </a:t>
            </a:r>
            <a:r>
              <a:rPr dirty="0" err="1"/>
              <a:t>read_write</a:t>
            </a:r>
            <a:r>
              <a:rPr dirty="0"/>
              <a:t> names it. protocol: </a:t>
            </a:r>
            <a:r>
              <a:rPr dirty="0" err="1"/>
              <a:t>tcp</a:t>
            </a:r>
            <a:r>
              <a:rPr dirty="0"/>
              <a:t> admits the connection with no request inspection, so the rule has no enforcement line; with --model anthropic:claude-opus-5 the rule would name </a:t>
            </a:r>
            <a:r>
              <a:rPr dirty="0" err="1"/>
              <a:t>api.anthropic.com</a:t>
            </a:r>
            <a:r>
              <a:rPr dirty="0"/>
              <a:t> port 443 with protocol: rest and enforcement: enforce, and the key would come through a provider attachment. The effective policy the supervisor loaded, </a:t>
            </a:r>
            <a:r>
              <a:rPr dirty="0" err="1"/>
              <a:t>openshell</a:t>
            </a:r>
            <a:r>
              <a:rPr dirty="0"/>
              <a:t> policy get </a:t>
            </a:r>
            <a:r>
              <a:rPr dirty="0" err="1"/>
              <a:t>cyberbird</a:t>
            </a:r>
            <a:r>
              <a:rPr dirty="0"/>
              <a:t> --full, is version 2: OpenShell added /var/log to </a:t>
            </a:r>
            <a:r>
              <a:rPr dirty="0" err="1"/>
              <a:t>read_only</a:t>
            </a:r>
            <a:r>
              <a:rPr dirty="0"/>
              <a:t> and the name </a:t>
            </a:r>
            <a:r>
              <a:rPr dirty="0" err="1"/>
              <a:t>model_server</a:t>
            </a:r>
            <a:r>
              <a:rPr dirty="0"/>
              <a:t> to the rule.</a:t>
            </a:r>
          </a:p>
          <a:p>
            <a:endParaRPr dirty="0"/>
          </a:p>
          <a:p>
            <a:r>
              <a:rPr dirty="0"/>
              <a:t>The figure, stage by stage.</a:t>
            </a:r>
          </a:p>
          <a:p>
            <a:r>
              <a:rPr dirty="0"/>
              <a:t>1. The frame: the policy's version line, and the files and connections with nothing granted yet.</a:t>
            </a:r>
          </a:p>
          <a:p>
            <a:r>
              <a:rPr dirty="0"/>
              <a:t>2. </a:t>
            </a:r>
            <a:r>
              <a:rPr dirty="0" err="1"/>
              <a:t>filesystem_policy</a:t>
            </a:r>
            <a:r>
              <a:rPr dirty="0"/>
              <a:t> and its </a:t>
            </a:r>
            <a:r>
              <a:rPr dirty="0" err="1"/>
              <a:t>read_only</a:t>
            </a:r>
            <a:r>
              <a:rPr dirty="0"/>
              <a:t> list: everything under /bin, /</a:t>
            </a:r>
            <a:r>
              <a:rPr dirty="0" err="1"/>
              <a:t>usr</a:t>
            </a:r>
            <a:r>
              <a:rPr dirty="0"/>
              <a:t>, /lib, /</a:t>
            </a:r>
            <a:r>
              <a:rPr dirty="0" err="1"/>
              <a:t>etc</a:t>
            </a:r>
            <a:r>
              <a:rPr dirty="0"/>
              <a:t>, /proc, /dev/</a:t>
            </a:r>
            <a:r>
              <a:rPr dirty="0" err="1"/>
              <a:t>urandom</a:t>
            </a:r>
            <a:r>
              <a:rPr dirty="0"/>
              <a:t> and /app becomes readable, /app/runs included.</a:t>
            </a:r>
          </a:p>
          <a:p>
            <a:r>
              <a:rPr dirty="0"/>
              <a:t>3. </a:t>
            </a:r>
            <a:r>
              <a:rPr dirty="0" err="1"/>
              <a:t>read_write</a:t>
            </a:r>
            <a:r>
              <a:rPr dirty="0"/>
              <a:t>: /sandbox, /</a:t>
            </a:r>
            <a:r>
              <a:rPr dirty="0" err="1"/>
              <a:t>tmp</a:t>
            </a:r>
            <a:r>
              <a:rPr dirty="0"/>
              <a:t>, /dev/null and /app/runs become writable. Inside the sandbox a write into the fixture failed and writes into /app/runs and /</a:t>
            </a:r>
            <a:r>
              <a:rPr dirty="0" err="1"/>
              <a:t>tmp</a:t>
            </a:r>
            <a:r>
              <a:rPr dirty="0"/>
              <a:t> succeeded.</a:t>
            </a:r>
          </a:p>
          <a:p>
            <a:r>
              <a:rPr dirty="0"/>
              <a:t>4. landlock: the kernel holds both lists, and a path neither list names is refused: /home/agent and /var/lib/</a:t>
            </a:r>
            <a:r>
              <a:rPr dirty="0" err="1"/>
              <a:t>dpkg</a:t>
            </a:r>
            <a:r>
              <a:rPr dirty="0"/>
              <a:t>/status gave Permission denied. </a:t>
            </a:r>
            <a:r>
              <a:rPr dirty="0" err="1"/>
              <a:t>hard_requirement</a:t>
            </a:r>
            <a:r>
              <a:rPr dirty="0"/>
              <a:t> means a sandbox whose kernel cannot enforce the lists does not start; </a:t>
            </a:r>
            <a:r>
              <a:rPr dirty="0" err="1"/>
              <a:t>best_effort</a:t>
            </a:r>
            <a:r>
              <a:rPr dirty="0"/>
              <a:t> would continue with a finding.</a:t>
            </a:r>
          </a:p>
          <a:p>
            <a:r>
              <a:rPr dirty="0"/>
              <a:t>5. </a:t>
            </a:r>
            <a:r>
              <a:rPr dirty="0" err="1"/>
              <a:t>network_policies</a:t>
            </a:r>
            <a:r>
              <a:rPr dirty="0"/>
              <a:t>: one endpoint, the model server at </a:t>
            </a:r>
            <a:r>
              <a:rPr dirty="0" err="1"/>
              <a:t>host.lima.internal</a:t>
            </a:r>
            <a:r>
              <a:rPr dirty="0"/>
              <a:t> port 8080, TCP, behind the trusted supervisor.</a:t>
            </a:r>
          </a:p>
          <a:p>
            <a:r>
              <a:rPr dirty="0"/>
              <a:t>6. binaries: only /</a:t>
            </a:r>
            <a:r>
              <a:rPr dirty="0" err="1"/>
              <a:t>usr</a:t>
            </a:r>
            <a:r>
              <a:rPr dirty="0"/>
              <a:t>/local/bin/python3.12 may use it. The log read NET:OPEN ALLOWED /</a:t>
            </a:r>
            <a:r>
              <a:rPr dirty="0" err="1"/>
              <a:t>usr</a:t>
            </a:r>
            <a:r>
              <a:rPr dirty="0"/>
              <a:t>/local/bin/python3.12 -&gt; host.lima.internal:8080 [</a:t>
            </a:r>
            <a:r>
              <a:rPr dirty="0" err="1"/>
              <a:t>policy:model_server</a:t>
            </a:r>
            <a:r>
              <a:rPr dirty="0"/>
              <a:t>].</a:t>
            </a:r>
          </a:p>
          <a:p>
            <a:r>
              <a:rPr dirty="0"/>
              <a:t>7. What the rule leaves out: curl to the same server was denied, "binary '/</a:t>
            </a:r>
            <a:r>
              <a:rPr dirty="0" err="1"/>
              <a:t>usr</a:t>
            </a:r>
            <a:r>
              <a:rPr dirty="0"/>
              <a:t>/bin/curl' not allowed in policy '</a:t>
            </a:r>
            <a:r>
              <a:rPr dirty="0" err="1"/>
              <a:t>model_server</a:t>
            </a:r>
            <a:r>
              <a:rPr dirty="0"/>
              <a:t>'", and python3.12 to pypi.org:443 was denied, "endpoint pypi.org:443 is not allowed by any policy". A rule admits a binary together with a destination.</a:t>
            </a:r>
          </a:p>
          <a:p>
            <a:r>
              <a:rPr dirty="0"/>
              <a:t>8. The answer key sits under /app, so the read list grants it: the probe printed its first line.</a:t>
            </a: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one request through the supervisor. Connection admission is the L4, transport-layer decision: the destination's host and port and the identity of the calling executable, whose ancestry counts, so a child of an authorized binary inherits its grant. A request rule is the L7, application-layer decision on an endpoint declared protocol: rest: it checks the method and the path in audit mode, which logs and lets through and is the default, or enforce mode, which blocks, and the read-only preset admits GET, HEAD and OPTIONS. Credential binding lets the supervisor substitute a provider's key only at the host, port and path the profile names, and middleware, an ordered chain of processors, runs before the key is supplied and forces a fresh evaluation when it changes what the policy depends on. Matching rules combine their grants, a deny beats an allow, and a provider's rules are appended under their own _provider_ keys.</a:t>
            </a:r>
          </a:p>
          <a:p>
            <a:endParaRPr/>
          </a:p>
          <a:p>
            <a:r>
              <a:t>Cyberbird's sandbox log, October 15, 2026: each of the eight model calls shows "NET:OPEN [INFO] ALLOWED /usr/local/bin/python3.12(0) -&gt; host.lima.internal:8080 [policy:model_server engine:opa]" and then "HTTP:POST [INFO] ALLOWED POST http://host.lima.internal:8080/v1/chat/completions" (the supervisor logs the method although a tcp endpoint has no request rule). pip, run with the same python3.12, was refused at admission: "NET:OPEN [MED] DENIED /usr/local/bin/python3.12(0) -&gt; pypi.org:443 [reason:transparent_tcp_policy_denied]", with "endpoint pypi.org:443 is not allowed by any policy". curl to the model server was refused on its binary: "binary '/usr/bin/curl' not allowed in policy 'model_server'".</a:t>
            </a:r>
          </a:p>
          <a:p>
            <a:endParaRPr/>
          </a:p>
          <a:p>
            <a:r>
              <a:t>The figure, stage by stage.</a:t>
            </a:r>
          </a:p>
          <a:p>
            <a:r>
              <a:t>1. Connection admission: admit the destination and the executable.</a:t>
            </a:r>
          </a:p>
          <a:p>
            <a:r>
              <a:t>2. The request rule: parse and validate the application request, then evaluate the application policy. Audit logs a violation and lets the request through, enforce blocks it.</a:t>
            </a:r>
          </a:p>
          <a:p>
            <a:r>
              <a:t>3. Credential binding: resolve the endpoint-bound credential or sign the request, guarding the current policy and credential generations. Only the authorized host, port and path admit the substitution.</a:t>
            </a:r>
          </a:p>
          <a:p>
            <a:r>
              <a:t>4. Middleware runs before the credential is used, and a policy-relevant change is evaluated again. The request then goes upstream, for HTTPS over a separate verified TLS connection.</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dirty="0"/>
          </a:p>
          <a:p>
            <a:r>
              <a:rPr dirty="0" err="1"/>
              <a:t>Cyberbird's</a:t>
            </a:r>
            <a:r>
              <a:rPr dirty="0"/>
              <a:t> eight model calls took this path with OPENAI_API_KEY=none, so nothing was substituted; before each allowed connection the log shows "Policy DNS mapped </a:t>
            </a:r>
            <a:r>
              <a:rPr dirty="0" err="1"/>
              <a:t>host.lima.internal</a:t>
            </a:r>
            <a:r>
              <a:rPr dirty="0"/>
              <a:t> resolved=192.168.5.2 synthetic=198.18.0.2 ports=8080".</a:t>
            </a:r>
          </a:p>
          <a:p>
            <a:endParaRPr dirty="0"/>
          </a:p>
          <a:p>
            <a:r>
              <a:rPr dirty="0"/>
              <a:t>The figure, stage by stage.</a:t>
            </a:r>
          </a:p>
          <a:p>
            <a:r>
              <a:rPr dirty="0"/>
              <a:t>1. The workload tool calls connect(). The kernel pauses the call and hands it to the sandbox broker, inside the sandbox.</a:t>
            </a:r>
          </a:p>
          <a:p>
            <a:r>
              <a:rPr dirty="0"/>
              <a:t>2. The supervisor, outside the sandbox, receives the destination with the observed socket and executable evidence and admits the TCP connection by host and port, binary and policy generation.</a:t>
            </a:r>
          </a:p>
          <a:p>
            <a:r>
              <a:rPr dirty="0"/>
              <a:t>3. If credentials apply, the supervisor substitutes or signs them, and the connection goes upstream.</a:t>
            </a:r>
          </a:p>
          <a:p>
            <a:r>
              <a:rPr dirty="0"/>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dirty="0"/>
          </a:p>
          <a:p>
            <a:r>
              <a:rPr dirty="0" err="1"/>
              <a:t>Cyberbird's</a:t>
            </a:r>
            <a:r>
              <a:rPr dirty="0"/>
              <a:t> eight model calls took this path with OPENAI_API_KEY=none, so nothing was substituted; before each allowed connection the log shows "Policy DNS mapped </a:t>
            </a:r>
            <a:r>
              <a:rPr dirty="0" err="1"/>
              <a:t>host.lima.internal</a:t>
            </a:r>
            <a:r>
              <a:rPr dirty="0"/>
              <a:t> resolved=192.168.5.2 synthetic=198.18.0.2 ports=8080".</a:t>
            </a:r>
          </a:p>
          <a:p>
            <a:endParaRPr dirty="0"/>
          </a:p>
          <a:p>
            <a:r>
              <a:rPr dirty="0"/>
              <a:t>The figure, stage by stage.</a:t>
            </a:r>
          </a:p>
          <a:p>
            <a:r>
              <a:rPr dirty="0"/>
              <a:t>1. The workload tool calls connect(). The kernel pauses the call and hands it to the sandbox broker, inside the sandbox.</a:t>
            </a:r>
          </a:p>
          <a:p>
            <a:r>
              <a:rPr dirty="0"/>
              <a:t>2. The supervisor, outside the sandbox, receives the destination with the observed socket and executable evidence and admits the TCP connection by host and port, binary and policy generation.</a:t>
            </a:r>
          </a:p>
          <a:p>
            <a:r>
              <a:rPr dirty="0"/>
              <a:t>3. If credentials apply, the supervisor substitutes or signs them, and the connection goes upstream.</a:t>
            </a:r>
          </a:p>
          <a:p>
            <a:r>
              <a:rPr dirty="0"/>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dirty="0"/>
          </a:p>
          <a:p>
            <a:r>
              <a:rPr dirty="0" err="1"/>
              <a:t>Cyberbird's</a:t>
            </a:r>
            <a:r>
              <a:rPr dirty="0"/>
              <a:t> eight model calls took this path with OPENAI_API_KEY=none, so nothing was substituted; before each allowed connection the log shows "Policy DNS mapped </a:t>
            </a:r>
            <a:r>
              <a:rPr dirty="0" err="1"/>
              <a:t>host.lima.internal</a:t>
            </a:r>
            <a:r>
              <a:rPr dirty="0"/>
              <a:t> resolved=192.168.5.2 synthetic=198.18.0.2 ports=8080".</a:t>
            </a:r>
          </a:p>
          <a:p>
            <a:endParaRPr dirty="0"/>
          </a:p>
          <a:p>
            <a:r>
              <a:rPr dirty="0"/>
              <a:t>The figure, stage by stage.</a:t>
            </a:r>
          </a:p>
          <a:p>
            <a:r>
              <a:rPr dirty="0"/>
              <a:t>1. The workload tool calls connect(). The kernel pauses the call and hands it to the sandbox broker, inside the sandbox.</a:t>
            </a:r>
          </a:p>
          <a:p>
            <a:r>
              <a:rPr dirty="0"/>
              <a:t>2. The supervisor, outside the sandbox, receives the destination with the observed socket and executable evidence and admits the TCP connection by host and port, binary and policy generation.</a:t>
            </a:r>
          </a:p>
          <a:p>
            <a:r>
              <a:rPr dirty="0"/>
              <a:t>3. If credentials apply, the supervisor substitutes or signs them, and the connection goes upstream.</a:t>
            </a:r>
          </a:p>
          <a:p>
            <a:r>
              <a:rPr dirty="0"/>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draw the path of one allowed connection. The program calls connect(), and seccomp's user notification pauses the call and hands it to the sandbox broker, which checks the destination and the socket's identity. The supervisor, outside the sandbox, receives the destination with the socket and executable evidence and admits the TCP connection by host and port, binary and policy generation, the version of the policy in force; DNS has already given the program a synthetic address that the supervisor maps back to the approved hostname. If a provider credential applies, the supervisor substitutes or signs it and opens its own connection upstream. Sentry, NVIDIA's reference design announced with OpenShell on September 28, 2026 as the Open Agent Safety Platform, is a BlueField-4 processor on the network path outside the host that watches this traffic and can quarantine the agent; it never sees a local file read, and the course does not run it.</a:t>
            </a:r>
          </a:p>
          <a:p>
            <a:endParaRPr/>
          </a:p>
          <a:p>
            <a:r>
              <a:t>Cyberbird's eight model calls took this path with OPENAI_API_KEY=none, so nothing was substituted; before each allowed connection the log shows "Policy DNS mapped host.lima.internal resolved=192.168.5.2 synthetic=198.18.0.2 ports=8080".</a:t>
            </a:r>
          </a:p>
          <a:p>
            <a:endParaRPr/>
          </a:p>
          <a:p>
            <a:r>
              <a:t>The figure, stage by stage.</a:t>
            </a:r>
          </a:p>
          <a:p>
            <a:r>
              <a:t>1. The workload tool calls connect(). The kernel pauses the call and hands it to the sandbox broker, inside the sandbox.</a:t>
            </a:r>
          </a:p>
          <a:p>
            <a:r>
              <a:t>2. The supervisor, outside the sandbox, receives the destination with the observed socket and executable evidence and admits the TCP connection by host and port, binary and policy generation.</a:t>
            </a:r>
          </a:p>
          <a:p>
            <a:r>
              <a:t>3. If credentials apply, the supervisor substitutes or signs them, and the connection goes upstream.</a:t>
            </a:r>
          </a:p>
          <a:p>
            <a:r>
              <a:t>4. Sentry, a BlueField-4 processor on the network path outside the host, watches that traffic and can quarantine the agent. It never sees a local file read. The figure draws the allowed path only.</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take one command apart. A profile says how a service's credential may be used: its credential names, the environment variables that carry it, its endpoints and the binaries allowed to use it. A provider instance holds one account's values, encrypted in the gateway's credential store, and an attachment, made with sandbox create --provider, gives one sandbox that instance and nothing more. --from-existing reads the values from the variables the profile names at the moment we run the command, and it fails when they are unset. Inside the sandbox the variable holds an opaque placeholder, which the supervisor replaces with the real value only on a request to an endpoint the profile binds, so a base URL such as OPENAI_BASE_URL never carries a credential to another host, and an expired or unresolved reference fails closed.</a:t>
            </a:r>
          </a:p>
          <a:p>
            <a:endParaRPr/>
          </a:p>
          <a:p>
            <a:r>
              <a:t>The figure's claude-code profile, in OpenShell's providers/ directory, names only the claude binaries, /usr/bin/claude and /usr/local/bin/claude, and a new gateway does not load that directory. For a Python SDK the actual Python executable must be authorized, so Cyberbird with --model anthropic:claude-opus-5 needs an imported profile that names /usr/local/bin/python3.12: HW2 imports the anthropic profile with its binaries edited (the brief, "The sandbox image and the launch commands"). No Cyberbird run used a provider. In a staff test sandbox with a provider attached, printenv ANTHROPIC_API_KEY | cut -c1-12 printed openshell:re, the start of the placeholder.</a:t>
            </a:r>
          </a:p>
          <a:p>
            <a:endParaRPr/>
          </a:p>
          <a:p>
            <a:r>
              <a:t>The figure, stage by stage.</a:t>
            </a:r>
          </a:p>
          <a:p>
            <a:r>
              <a:t>1. The shape: provider create with an instance's name, its profile, and where its values come from.</a:t>
            </a:r>
          </a:p>
          <a:p>
            <a:r>
              <a:t>2. openshell is the client, talking to the gateway. provider create makes an instance in this workspace.</a:t>
            </a:r>
          </a:p>
          <a:p>
            <a:r>
              <a:t>3. --name my-claude: the instance's name, which sandbox create --provider my-claude attaches.</a:t>
            </a:r>
          </a:p>
          <a:p>
            <a:r>
              <a:t>4. --type claude-code: the profile it follows, with its credential names, variables, endpoints and binaries.</a:t>
            </a:r>
          </a:p>
          <a:p>
            <a:r>
              <a:t>5. --from-existing: the values are read from those variables now, into the gateway's credential store, and the sandbox sees a placeholder. The note: Cyberbird with an Anthropic model, and the placeholder prefix a test sandbox printed. We add that Cyberbird's profile must name python3.12, as HW2's edited anthropic profile does.</a:t>
            </a:r>
          </a:p>
        </p:txBody>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follow a denial to a policy change. Proposals have two sources: the supervisor's mapper turns observed denials into draft rules, usually one host, port and binary, and the policy advisor, off by default, lets the agent itself propose through http://policy.local. The gateway composes the candidate effective policy, validates it and runs the prover, which models the policy before and after the change and reports new findings: link-local reach, credentialed reach for a binary that bypasses L7 inspection, credential reach expansion and capability expansion; a review token binds that evaluation to the state it saw. Review is manual by default, and automatic approval admits a proposal with no new finding and no destination flag, which can include a new public host with no credential in scope. A proposal can only add network rules: it cannot change the filesystem lists, the process identity or Landlock, and it takes effect when the supervisor loads the revision.</a:t>
            </a:r>
          </a:p>
          <a:p>
            <a:endParaRPr/>
          </a:p>
          <a:p>
            <a:r>
              <a:t>In Cyberbird's sandbox on October 15, 2026, pip download requests, run with the image's python3.12, was denied pypi.org:443, and the supervisor logged "Flushed denial analysis to gateway proposals=1". openshell rule get cyberbird then showed the draft "Rule: allow_pypi_org_443", "Binary: /usr/local/bin/python3.12", "Confidence: 65%", "Rationale: Allow python3.12 to connect to pypi.org:443 (HTTPS).", "Prover: prover: no new findings", "Status: pending", "Hits: 2". We left it pending, and Cyberbird itself never asked for a package: the probe ran pip in its sandbox.</a:t>
            </a:r>
          </a:p>
          <a:p>
            <a:endParaRPr/>
          </a:p>
          <a:p>
            <a:r>
              <a:t>The figure, stage by stage.</a:t>
            </a:r>
          </a:p>
          <a:p>
            <a:r>
              <a:t>1. A request is denied, and a narrow rule is drafted, by the supervisor's mapper or through the policy advisor.</a:t>
            </a:r>
          </a:p>
          <a:p>
            <a:r>
              <a:t>2. The gateway validates the candidate effective policy and the prover reports any new findings. A review token binds this evaluation to the policy and provider state.</a:t>
            </a:r>
          </a:p>
          <a:p>
            <a:r>
              <a:t>3. The proposal waits for review, or automatic approval accepts it when there is no new finding and no destination flag. The approved revision is saved.</a:t>
            </a:r>
          </a:p>
          <a:p>
            <a:r>
              <a:t>4. The supervisor loads the revision and the workload retries the request. Approval and storage alone do not show that the revision is loaded.</a:t>
            </a: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Optional: we skip this build when the section runs long. A boundary here is a place on the request's path where a component can stop it, from creation to the filesystem. A failed request shows that some condition is unresolved, and a timeout alone names nothing, because it can arise at provisioning, DNS, admission, TLS, request policy, credential substitution or upstream. The procedure: identify the exact command and sandbox, read the phase and the effective policy, find the event at the boundary that failed, change the narrowest responsible configuration and repeat the same request. HW2 asks for the same discipline in the trace, where a refused tool result names the place that refused it in refused_by.</a:t>
            </a:r>
          </a:p>
          <a:p>
            <a:endParaRPr/>
          </a:p>
          <a:p>
            <a:r>
              <a:t>Our real case, October 15, 2026: with the lecture's host.docker.internal in the policy and the base URL, Cyberbird printed "MODEL →  thinking over 2 messages…", then "END      ERROR" and "openai.APIConnectionError: Connection error.", which looks like a dead model server. The row "connection denied" sends us to the sandbox log, where openshell logs cyberbird --source sandbox showed "NET:REFUSE [MED] DENIED host.docker.internal [reason:policy_dns_trusted_gateway_unavailable]". The narrowest fix was the host name host.lima.internal in the policy and the base URL, and the run then completed.</a:t>
            </a:r>
          </a:p>
          <a:p>
            <a:endParaRPr/>
          </a:p>
          <a:p>
            <a:r>
              <a:t>The figure, stage by stage.</a:t>
            </a:r>
          </a:p>
          <a:p>
            <a:r>
              <a:t>1. The boundaries in the order a request meets them: creation and provisioning, connection admission, TLS and request policy, credential binding, the upstream service. The filesystem stands apart.</a:t>
            </a:r>
          </a:p>
          <a:p>
            <a:r>
              <a:t>2. What the operator sees at each: creation rejected or stuck in Provisioning, connection denied, a connection that opens while the HTTP operation fails, a saved policy with unchanged behaviour, a failed file write.</a:t>
            </a:r>
          </a:p>
          <a:p>
            <a:r>
              <a:t>3. The next evidence at each: the RPC error and the create handler; conditions, driver events and supervisor logs; the denial event and the effective rules; the HTTP event, policy mode and endpoint binding; the revision result and a fresh request; the path, process identity and creation policy.</a:t>
            </a:r>
          </a:p>
          <a:p>
            <a:r>
              <a:t>4. Change the narrowest responsible configuration, then repeat the same request.</a:t>
            </a: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end with what lies outside OpenShell. It constrains what a process may touch: the code on disk through the filesystem policy, the stored key through the provider attachment, outbound connections through the supervisor, and the kernel boundary through Landlock and seccomp. Text that reaches the model is outside it: a tool's definition and a tool's response arrive as words the model may believe, and only host-side checks, the harness or the server, can read them. Tigera's reading of the documentation, a vendor's analysis, puts agent identity, agent-to-agent governance and cross-sandbox communication outside OpenShell's scope, and the agent receives a placeholder, which is no identity of its own. Sentry watches from outside the host on BlueField-4 hardware, which the course does not run.</a:t>
            </a:r>
          </a:p>
          <a:p>
            <a:endParaRPr/>
          </a:p>
          <a:p>
            <a:r>
              <a:t>Cyberbird read BenchmarkTest00283.py and believed it: a case file that told the model to read the answer key would pass every OpenShell check, and with this policy the read would succeed, since /app is readable. The columns name ATLAS techniques by their short names (release 2026.09): definition, implementation and runtime-response poisoning, credentials from configuration, exfiltration via tool invocation, escape to host.</a:t>
            </a:r>
          </a:p>
          <a:p>
            <a:endParaRPr/>
          </a:p>
          <a:p>
            <a:r>
              <a:t>The figure, stage by stage.</a:t>
            </a:r>
          </a:p>
          <a:p>
            <a:r>
              <a:t>1. Definition text: no OpenShell layer guards it, because the text reaches the model. Definition poisoning.</a:t>
            </a:r>
          </a:p>
          <a:p>
            <a:r>
              <a:t>2. Implementation: the filesystem policy keeps the tool's code read-only. Implementation poisoning.</a:t>
            </a:r>
          </a:p>
          <a:p>
            <a:r>
              <a:t>3. Response: no layer guards it either. Runtime-response poisoning.</a:t>
            </a:r>
          </a:p>
          <a:p>
            <a:r>
              <a:t>4. Stored credential: the provider attachment hands the agent a placeholder. Credentials from configuration.</a:t>
            </a:r>
          </a:p>
          <a:p>
            <a:r>
              <a:t>5. Outbound connection: the supervisor's network policy, with L7 enforce. Exfiltration via tool invocation.</a:t>
            </a:r>
          </a:p>
          <a:p>
            <a:r>
              <a:t>6. Kernel boundary: the Landlock and seccomp baseline. Escape to host.</a:t>
            </a:r>
          </a:p>
        </p:txBody>
      </p:sp>
    </p:spTree>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return to the commands HW2 uses: logs and policy get show what OpenShell decided under a policy. logs --source sandbox prints the sandbox's own events, its connection decisions, policy loads and process events, and never the main process's ordinary output (guide, 13.4). policy get --full prints the effective policy, the authored document plus the rules that attached providers add (guide, 10.4). policy get --full appears in the brief's "The guardrails", where A4 asks for a reason for each grant, and the driver reads it to confirm the provider is the only network grant; logs is ours, the evidence of a denial. Each stage of the figure shows one command: create and exec were taken apart in the build after the components.</a:t>
            </a:r>
          </a:p>
          <a:p>
            <a:endParaRPr/>
          </a:p>
          <a:p>
            <a:r>
              <a:t>The commands ran on October 15, 2026 with OpenShell 0.1.4 (cyberbird/logs.txt, policy-full.txt).</a:t>
            </a:r>
          </a:p>
          <a:p>
            <a:endParaRPr/>
          </a:p>
          <a:p>
            <a:r>
              <a:t>The figure, stage by stage.</a:t>
            </a:r>
          </a:p>
          <a:p>
            <a:r>
              <a:t>1. logs: the sandbox's own events. python3.12 is denied pypi.org:443, curl is denied the model server, and python3.12 is allowed to it: a rule admits a binary together with a destination.</a:t>
            </a:r>
          </a:p>
          <a:p>
            <a:r>
              <a:t>2. policy get --full: the effective policy. With no provider attached it holds no provider rules.</a:t>
            </a:r>
          </a:p>
        </p:txBody>
      </p:sp>
    </p:spTree>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return to the commands HW2 uses: logs and policy get show what OpenShell decided under a policy. logs --source sandbox prints the sandbox's own events, its connection decisions, policy loads and process events, and never the main process's ordinary output (guide, 13.4). policy get --full prints the effective policy, the authored document plus the rules that attached providers add (guide, 10.4). policy get --full appears in the brief's "The guardrails", where A4 asks for a reason for each grant, and the driver reads it to confirm the provider is the only network grant; logs is ours, the evidence of a denial. Each stage of the figure shows one command: create and exec were taken apart in the build after the components.</a:t>
            </a:r>
          </a:p>
          <a:p>
            <a:endParaRPr/>
          </a:p>
          <a:p>
            <a:r>
              <a:t>The commands ran on October 15, 2026 with OpenShell 0.1.4 (cyberbird/logs.txt, policy-full.txt).</a:t>
            </a:r>
          </a:p>
          <a:p>
            <a:endParaRPr/>
          </a:p>
          <a:p>
            <a:r>
              <a:t>The figure, stage by stage.</a:t>
            </a:r>
          </a:p>
          <a:p>
            <a:r>
              <a:t>1. logs: the sandbox's own events. python3.12 is denied pypi.org:443, curl is denied the model server, and python3.12 is allowed to it: a rule admits a binary together with a destination.</a:t>
            </a:r>
          </a:p>
          <a:p>
            <a:r>
              <a:t>2. policy get --full: the effective policy. With no provider attached it holds no provider rules.</a:t>
            </a:r>
          </a:p>
        </p:txBody>
      </p:sp>
    </p:spTree>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We return to the commands HW2 uses: logs and policy get show what OpenShell decided under a policy. logs --source sandbox prints the sandbox's own events, its connection decisions, policy loads and process events, and never the main process's ordinary output (guide, 13.4). policy get --full prints the effective policy, the authored document plus the rules that attached providers add (guide, 10.4). policy get --full appears in the brief's "The guardrails", where A4 asks for a reason for each grant, and the driver reads it to confirm the provider is the only network grant; logs is ours, the evidence of a denial. Each stage of the figure shows one command: create and exec were taken apart in the build after the components.</a:t>
            </a:r>
          </a:p>
          <a:p>
            <a:endParaRPr/>
          </a:p>
          <a:p>
            <a:r>
              <a:t>The commands ran on October 15, 2026 with OpenShell 0.1.4 (cyberbird/logs.txt, policy-full.txt).</a:t>
            </a:r>
          </a:p>
          <a:p>
            <a:endParaRPr/>
          </a:p>
          <a:p>
            <a:r>
              <a:t>The figure, stage by stage.</a:t>
            </a:r>
          </a:p>
          <a:p>
            <a:r>
              <a:t>1. logs: the sandbox's own events. python3.12 is denied pypi.org:443, curl is denied the model server, and python3.12 is allowed to it: a rule admits a binary together with a destination.</a:t>
            </a:r>
          </a:p>
          <a:p>
            <a:r>
              <a:t>2. policy get --full: the effective policy. With no provider attached it holds no provider rules.</a:t>
            </a:r>
          </a:p>
        </p:txBody>
      </p:sp>
    </p:spTree>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199.</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199.</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199.</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199.</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 181 map to </a:t>
            </a:r>
            <a:r>
              <a:rPr b="1"/>
              <a:t>enforcement points</a:t>
            </a:r>
            <a:r>
              <a:t>: </a:t>
            </a:r>
            <a:r>
              <a:rPr b="1"/>
              <a:t>text to the host</a:t>
            </a:r>
            <a:r>
              <a:t>, </a:t>
            </a:r>
            <a:r>
              <a:rPr b="1"/>
              <a:t>code and files to the kernel</a:t>
            </a:r>
            <a:r>
              <a:t>, connections and credentials to the supervisor (slides 90 to 187).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The answer is (c)</a:t>
            </a:r>
            <a:r>
              <a:t>: the </a:t>
            </a:r>
            <a:r>
              <a:rPr b="1"/>
              <a:t>operating-system kernel</a:t>
            </a:r>
            <a:r>
              <a:t>. </a:t>
            </a:r>
            <a:r>
              <a:rPr b="1"/>
              <a:t>(a) fails</a:t>
            </a:r>
            <a:r>
              <a:t> because, in the study, tool use alone weakened the model's refusals (slide 33). </a:t>
            </a:r>
            <a:r>
              <a:rPr b="1"/>
              <a:t>(b) puts the rule in the harness process</a:t>
            </a:r>
            <a:r>
              <a:t>, where the agent's code can edit or bypass the check (slide 76, row two). </a:t>
            </a:r>
            <a:r>
              <a:rPr b="1"/>
              <a:t>(d) puts the rule on hardware</a:t>
            </a:r>
            <a:r>
              <a:t> outside the host. A processor in the network path sees only traffic, and reading </a:t>
            </a:r>
            <a:r>
              <a:rPr b="1"/>
              <a:t>~/.ssh</a:t>
            </a:r>
            <a:r>
              <a:t> produces none, so Sentry (slide 150) cannot stop that read.</a:t>
            </a:r>
          </a:p>
        </p:txBody>
      </p:sp>
    </p:spTree>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The answer is (c)</a:t>
            </a:r>
            <a:r>
              <a:t>: the </a:t>
            </a:r>
            <a:r>
              <a:rPr b="1"/>
              <a:t>operating-system kernel</a:t>
            </a:r>
            <a:r>
              <a:t>. </a:t>
            </a:r>
            <a:r>
              <a:rPr b="1"/>
              <a:t>(a) fails</a:t>
            </a:r>
            <a:r>
              <a:t> because, in the study, tool use alone weakened the model's refusals (slide 33). </a:t>
            </a:r>
            <a:r>
              <a:rPr b="1"/>
              <a:t>(b) puts the rule in the harness process</a:t>
            </a:r>
            <a:r>
              <a:t>, where the agent's code can edit or bypass the check (slide 76, row two). </a:t>
            </a:r>
            <a:r>
              <a:rPr b="1"/>
              <a:t>(d) puts the rule on hardware</a:t>
            </a:r>
            <a:r>
              <a:t> outside the host. A processor in the network path sees only traffic, and reading </a:t>
            </a:r>
            <a:r>
              <a:rPr b="1"/>
              <a:t>~/.ssh</a:t>
            </a:r>
            <a:r>
              <a:t> produces none, so Sentry (slide 150) cannot stop that read.</a:t>
            </a:r>
          </a:p>
        </p:txBody>
      </p:sp>
    </p:spTree>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Last words of the lecture</a:t>
            </a:r>
            <a:r>
              <a:t>: </a:t>
            </a:r>
            <a:r>
              <a:rPr b="1"/>
              <a:t>a rule belongs where the adversary cannot reach it</a:t>
            </a:r>
            <a:r>
              <a:t> </a:t>
            </a:r>
            <a:r>
              <a:rPr b="1"/>
              <a:t>from inside the agent</a:t>
            </a:r>
            <a:r>
              <a:t>.</a:t>
            </a:r>
          </a:p>
        </p:txBody>
      </p:sp>
    </p:spTree>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Last words of the lecture</a:t>
            </a:r>
            <a:r>
              <a:t>: </a:t>
            </a:r>
            <a:r>
              <a:rPr b="1"/>
              <a:t>a rule belongs where the adversary cannot reach it</a:t>
            </a:r>
            <a:r>
              <a:t> </a:t>
            </a:r>
            <a:r>
              <a:rPr b="1"/>
              <a:t>from inside the agent</a:t>
            </a:r>
            <a:r>
              <a:t>.</a:t>
            </a:r>
          </a:p>
        </p:txBody>
      </p:sp>
    </p:spTree>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Last words of the lecture</a:t>
            </a:r>
            <a:r>
              <a:t>: </a:t>
            </a:r>
            <a:r>
              <a:rPr b="1"/>
              <a:t>a rule belongs where the adversary cannot reach it</a:t>
            </a:r>
            <a:r>
              <a:t> </a:t>
            </a:r>
            <a:r>
              <a:rPr b="1"/>
              <a:t>from inside the agent</a:t>
            </a:r>
            <a:r>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matchingName="Title slide" type="title" userDrawn="1">
  <p:cSld name="TITLE">
    <p:spTree>
      <p:nvGrpSpPr>
        <p:cNvPr id="1" name=""/>
        <p:cNvGrpSpPr/>
        <p:nvPr/>
      </p:nvGrpSpPr>
      <p:grpSpPr bwMode="auto">
        <a:xfrm>
          <a:off x="0" y="0"/>
          <a:ext cx="0" cy="0"/>
          <a:chOff x="0" y="0"/>
          <a:chExt cx="0" cy="0"/>
        </a:xfrm>
      </p:grpSpPr>
      <p:sp>
        <p:nvSpPr>
          <p:cNvPr id="719548503" name="Google Shape;11;p2"/>
          <p:cNvSpPr txBox="1">
            <a:spLocks noGrp="1"/>
          </p:cNvSpPr>
          <p:nvPr>
            <p:ph type="ctrTitle"/>
          </p:nvPr>
        </p:nvSpPr>
        <p:spPr bwMode="auto">
          <a:xfrm>
            <a:off x="233781" y="75500"/>
            <a:ext cx="6390450" cy="2052600"/>
          </a:xfrm>
          <a:prstGeom prst="rect">
            <a:avLst/>
          </a:prstGeom>
        </p:spPr>
        <p:txBody>
          <a:bodyPr spcFirstLastPara="1" wrap="square" lIns="97500" tIns="97500" rIns="97500" bIns="97500" anchor="b" anchorCtr="0">
            <a:normAutofit/>
          </a:bodyPr>
          <a:lstStyle>
            <a:lvl1pPr lvl="0" algn="ctr">
              <a:spcBef>
                <a:spcPts val="0"/>
              </a:spcBef>
              <a:spcAft>
                <a:spcPts val="0"/>
              </a:spcAft>
              <a:buSzPts val="4200"/>
              <a:buNone/>
              <a:defRPr sz="3150">
                <a:solidFill>
                  <a:schemeClr val="bg2"/>
                </a:solidFill>
              </a:defRPr>
            </a:lvl1pPr>
            <a:lvl2pPr lvl="1" algn="ctr">
              <a:spcBef>
                <a:spcPts val="0"/>
              </a:spcBef>
              <a:spcAft>
                <a:spcPts val="0"/>
              </a:spcAft>
              <a:buSzPts val="4200"/>
              <a:buNone/>
              <a:defRPr sz="3150"/>
            </a:lvl2pPr>
            <a:lvl3pPr lvl="2" algn="ctr">
              <a:spcBef>
                <a:spcPts val="0"/>
              </a:spcBef>
              <a:spcAft>
                <a:spcPts val="0"/>
              </a:spcAft>
              <a:buSzPts val="4200"/>
              <a:buNone/>
              <a:defRPr sz="3150"/>
            </a:lvl3pPr>
            <a:lvl4pPr lvl="3" algn="ctr">
              <a:spcBef>
                <a:spcPts val="0"/>
              </a:spcBef>
              <a:spcAft>
                <a:spcPts val="0"/>
              </a:spcAft>
              <a:buSzPts val="4200"/>
              <a:buNone/>
              <a:defRPr sz="3150"/>
            </a:lvl4pPr>
            <a:lvl5pPr lvl="4" algn="ctr">
              <a:spcBef>
                <a:spcPts val="0"/>
              </a:spcBef>
              <a:spcAft>
                <a:spcPts val="0"/>
              </a:spcAft>
              <a:buSzPts val="4200"/>
              <a:buNone/>
              <a:defRPr sz="3150"/>
            </a:lvl5pPr>
            <a:lvl6pPr lvl="5" algn="ctr">
              <a:spcBef>
                <a:spcPts val="0"/>
              </a:spcBef>
              <a:spcAft>
                <a:spcPts val="0"/>
              </a:spcAft>
              <a:buSzPts val="4200"/>
              <a:buNone/>
              <a:defRPr sz="3150"/>
            </a:lvl6pPr>
            <a:lvl7pPr lvl="6" algn="ctr">
              <a:spcBef>
                <a:spcPts val="0"/>
              </a:spcBef>
              <a:spcAft>
                <a:spcPts val="0"/>
              </a:spcAft>
              <a:buSzPts val="4200"/>
              <a:buNone/>
              <a:defRPr sz="3150"/>
            </a:lvl7pPr>
            <a:lvl8pPr lvl="7" algn="ctr">
              <a:spcBef>
                <a:spcPts val="0"/>
              </a:spcBef>
              <a:spcAft>
                <a:spcPts val="0"/>
              </a:spcAft>
              <a:buSzPts val="4200"/>
              <a:buNone/>
              <a:defRPr sz="3150"/>
            </a:lvl8pPr>
            <a:lvl9pPr lvl="8" algn="ctr">
              <a:spcBef>
                <a:spcPts val="0"/>
              </a:spcBef>
              <a:spcAft>
                <a:spcPts val="0"/>
              </a:spcAft>
              <a:buSzPts val="4200"/>
              <a:buNone/>
              <a:defRPr sz="3150"/>
            </a:lvl9pPr>
          </a:lstStyle>
          <a:p>
            <a:pPr>
              <a:defRPr/>
            </a:pPr>
            <a:endParaRPr dirty="0"/>
          </a:p>
        </p:txBody>
      </p:sp>
      <p:sp>
        <p:nvSpPr>
          <p:cNvPr id="272675894" name="Google Shape;12;p2"/>
          <p:cNvSpPr txBox="1">
            <a:spLocks noGrp="1"/>
          </p:cNvSpPr>
          <p:nvPr>
            <p:ph type="subTitle" idx="1"/>
          </p:nvPr>
        </p:nvSpPr>
        <p:spPr bwMode="auto">
          <a:xfrm>
            <a:off x="233775" y="2175450"/>
            <a:ext cx="6390450" cy="792600"/>
          </a:xfrm>
          <a:prstGeom prst="rect">
            <a:avLst/>
          </a:prstGeom>
        </p:spPr>
        <p:txBody>
          <a:bodyPr spcFirstLastPara="1" wrap="square" lIns="97500" tIns="97500" rIns="97500" bIns="97500" anchor="t" anchorCtr="0">
            <a:normAutofit/>
          </a:bodyPr>
          <a:lstStyle>
            <a:lvl1pPr lvl="0" algn="ctr">
              <a:lnSpc>
                <a:spcPct val="100000"/>
              </a:lnSpc>
              <a:spcBef>
                <a:spcPts val="0"/>
              </a:spcBef>
              <a:spcAft>
                <a:spcPts val="0"/>
              </a:spcAft>
              <a:buSzPts val="2400"/>
              <a:buNone/>
              <a:defRPr sz="1800"/>
            </a:lvl1pPr>
            <a:lvl2pPr lvl="1" algn="ctr">
              <a:lnSpc>
                <a:spcPct val="100000"/>
              </a:lnSpc>
              <a:spcBef>
                <a:spcPts val="0"/>
              </a:spcBef>
              <a:spcAft>
                <a:spcPts val="0"/>
              </a:spcAft>
              <a:buSzPts val="2400"/>
              <a:buNone/>
              <a:defRPr sz="1800"/>
            </a:lvl2pPr>
            <a:lvl3pPr lvl="2" algn="ctr">
              <a:lnSpc>
                <a:spcPct val="100000"/>
              </a:lnSpc>
              <a:spcBef>
                <a:spcPts val="0"/>
              </a:spcBef>
              <a:spcAft>
                <a:spcPts val="0"/>
              </a:spcAft>
              <a:buSzPts val="2400"/>
              <a:buNone/>
              <a:defRPr sz="1800"/>
            </a:lvl3pPr>
            <a:lvl4pPr lvl="3" algn="ctr">
              <a:lnSpc>
                <a:spcPct val="100000"/>
              </a:lnSpc>
              <a:spcBef>
                <a:spcPts val="0"/>
              </a:spcBef>
              <a:spcAft>
                <a:spcPts val="0"/>
              </a:spcAft>
              <a:buSzPts val="2400"/>
              <a:buNone/>
              <a:defRPr sz="1800"/>
            </a:lvl4pPr>
            <a:lvl5pPr lvl="4" algn="ctr">
              <a:lnSpc>
                <a:spcPct val="100000"/>
              </a:lnSpc>
              <a:spcBef>
                <a:spcPts val="0"/>
              </a:spcBef>
              <a:spcAft>
                <a:spcPts val="0"/>
              </a:spcAft>
              <a:buSzPts val="2400"/>
              <a:buNone/>
              <a:defRPr sz="1800"/>
            </a:lvl5pPr>
            <a:lvl6pPr lvl="5" algn="ctr">
              <a:lnSpc>
                <a:spcPct val="100000"/>
              </a:lnSpc>
              <a:spcBef>
                <a:spcPts val="0"/>
              </a:spcBef>
              <a:spcAft>
                <a:spcPts val="0"/>
              </a:spcAft>
              <a:buSzPts val="2400"/>
              <a:buNone/>
              <a:defRPr sz="1800"/>
            </a:lvl6pPr>
            <a:lvl7pPr lvl="6" algn="ctr">
              <a:lnSpc>
                <a:spcPct val="100000"/>
              </a:lnSpc>
              <a:spcBef>
                <a:spcPts val="0"/>
              </a:spcBef>
              <a:spcAft>
                <a:spcPts val="0"/>
              </a:spcAft>
              <a:buSzPts val="2400"/>
              <a:buNone/>
              <a:defRPr sz="1800"/>
            </a:lvl7pPr>
            <a:lvl8pPr lvl="7" algn="ctr">
              <a:lnSpc>
                <a:spcPct val="100000"/>
              </a:lnSpc>
              <a:spcBef>
                <a:spcPts val="0"/>
              </a:spcBef>
              <a:spcAft>
                <a:spcPts val="0"/>
              </a:spcAft>
              <a:buSzPts val="2400"/>
              <a:buNone/>
              <a:defRPr sz="1800"/>
            </a:lvl8pPr>
            <a:lvl9pPr lvl="8" algn="ctr">
              <a:lnSpc>
                <a:spcPct val="100000"/>
              </a:lnSpc>
              <a:spcBef>
                <a:spcPts val="0"/>
              </a:spcBef>
              <a:spcAft>
                <a:spcPts val="0"/>
              </a:spcAft>
              <a:buSzPts val="2400"/>
              <a:buNone/>
              <a:defRPr sz="1800"/>
            </a:lvl9pPr>
          </a:lstStyle>
          <a:p>
            <a:pPr>
              <a:defRPr/>
            </a:pPr>
            <a:endParaRPr dirty="0"/>
          </a:p>
        </p:txBody>
      </p:sp>
      <p:sp>
        <p:nvSpPr>
          <p:cNvPr id="382716502" name="Google Shape;13;p2"/>
          <p:cNvSpPr txBox="1">
            <a:spLocks noGrp="1"/>
          </p:cNvSpPr>
          <p:nvPr>
            <p:ph type="sldNum" idx="12"/>
          </p:nvPr>
        </p:nvSpPr>
        <p:spPr bwMode="auto">
          <a:xfrm>
            <a:off x="6446482" y="4749892"/>
            <a:ext cx="411525"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defRPr/>
            </a:pPr>
            <a:fld id="{00000000-1234-1234-1234-123412341234}" type="slidenum">
              <a:rPr lang="en"/>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preserve="1" userDrawn="1">
  <p:cSld name="Custom Layout">
    <p:spTree>
      <p:nvGrpSpPr>
        <p:cNvPr id="1" name=""/>
        <p:cNvGrpSpPr/>
        <p:nvPr/>
      </p:nvGrpSpPr>
      <p:grpSpPr bwMode="auto">
        <a:xfrm>
          <a:off x="0" y="0"/>
          <a:ext cx="0" cy="0"/>
          <a:chOff x="0" y="0"/>
          <a:chExt cx="0" cy="0"/>
        </a:xfrm>
      </p:grpSpPr>
      <p:sp>
        <p:nvSpPr>
          <p:cNvPr id="1076084173"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200" b="1">
                <a:solidFill>
                  <a:srgbClr val="2D2A62"/>
                </a:solidFill>
                <a:latin typeface="Arial"/>
                <a:ea typeface="Arial"/>
                <a:cs typeface="Arial"/>
              </a:defRPr>
            </a:lvl1pPr>
            <a:lvl2pPr lvl="1">
              <a:spcBef>
                <a:spcPts val="0"/>
              </a:spcBef>
              <a:spcAft>
                <a:spcPts val="0"/>
              </a:spcAft>
              <a:buClr>
                <a:schemeClr val="dk1"/>
              </a:buClr>
              <a:buSzPts val="2400"/>
              <a:buFont typeface="Aptos"/>
              <a:buNone/>
              <a:defRPr sz="2200">
                <a:solidFill>
                  <a:schemeClr val="dk1"/>
                </a:solidFill>
                <a:latin typeface="Arial"/>
                <a:ea typeface="Arial"/>
                <a:cs typeface="Arial"/>
              </a:defRPr>
            </a:lvl2pPr>
            <a:lvl3pPr lvl="2">
              <a:spcBef>
                <a:spcPts val="0"/>
              </a:spcBef>
              <a:spcAft>
                <a:spcPts val="0"/>
              </a:spcAft>
              <a:buClr>
                <a:schemeClr val="dk1"/>
              </a:buClr>
              <a:buSzPts val="2400"/>
              <a:buFont typeface="Aptos"/>
              <a:buNone/>
              <a:defRPr sz="2200">
                <a:solidFill>
                  <a:schemeClr val="dk1"/>
                </a:solidFill>
                <a:latin typeface="Arial"/>
                <a:ea typeface="Arial"/>
                <a:cs typeface="Arial"/>
              </a:defRPr>
            </a:lvl3pPr>
            <a:lvl4pPr lvl="3">
              <a:spcBef>
                <a:spcPts val="0"/>
              </a:spcBef>
              <a:spcAft>
                <a:spcPts val="0"/>
              </a:spcAft>
              <a:buClr>
                <a:schemeClr val="dk1"/>
              </a:buClr>
              <a:buSzPts val="2400"/>
              <a:buFont typeface="Aptos"/>
              <a:buNone/>
              <a:defRPr sz="2200">
                <a:solidFill>
                  <a:schemeClr val="dk1"/>
                </a:solidFill>
                <a:latin typeface="Arial"/>
                <a:ea typeface="Arial"/>
                <a:cs typeface="Arial"/>
              </a:defRPr>
            </a:lvl4pPr>
            <a:lvl5pPr lvl="4">
              <a:spcBef>
                <a:spcPts val="0"/>
              </a:spcBef>
              <a:spcAft>
                <a:spcPts val="0"/>
              </a:spcAft>
              <a:buClr>
                <a:schemeClr val="dk1"/>
              </a:buClr>
              <a:buSzPts val="2400"/>
              <a:buFont typeface="Aptos"/>
              <a:buNone/>
              <a:defRPr sz="2200">
                <a:solidFill>
                  <a:schemeClr val="dk1"/>
                </a:solidFill>
                <a:latin typeface="Arial"/>
                <a:ea typeface="Arial"/>
                <a:cs typeface="Arial"/>
              </a:defRPr>
            </a:lvl5pPr>
            <a:lvl6pPr lvl="5">
              <a:spcBef>
                <a:spcPts val="0"/>
              </a:spcBef>
              <a:spcAft>
                <a:spcPts val="0"/>
              </a:spcAft>
              <a:buClr>
                <a:schemeClr val="dk1"/>
              </a:buClr>
              <a:buSzPts val="2400"/>
              <a:buFont typeface="Aptos"/>
              <a:buNone/>
              <a:defRPr sz="2200">
                <a:solidFill>
                  <a:schemeClr val="dk1"/>
                </a:solidFill>
                <a:latin typeface="Arial"/>
                <a:ea typeface="Arial"/>
                <a:cs typeface="Arial"/>
              </a:defRPr>
            </a:lvl6pPr>
            <a:lvl7pPr lvl="6">
              <a:spcBef>
                <a:spcPts val="0"/>
              </a:spcBef>
              <a:spcAft>
                <a:spcPts val="0"/>
              </a:spcAft>
              <a:buClr>
                <a:schemeClr val="dk1"/>
              </a:buClr>
              <a:buSzPts val="2400"/>
              <a:buFont typeface="Aptos"/>
              <a:buNone/>
              <a:defRPr sz="2200">
                <a:solidFill>
                  <a:schemeClr val="dk1"/>
                </a:solidFill>
                <a:latin typeface="Arial"/>
                <a:ea typeface="Arial"/>
                <a:cs typeface="Arial"/>
              </a:defRPr>
            </a:lvl7pPr>
            <a:lvl8pPr lvl="7">
              <a:spcBef>
                <a:spcPts val="0"/>
              </a:spcBef>
              <a:spcAft>
                <a:spcPts val="0"/>
              </a:spcAft>
              <a:buClr>
                <a:schemeClr val="dk1"/>
              </a:buClr>
              <a:buSzPts val="2400"/>
              <a:buFont typeface="Aptos"/>
              <a:buNone/>
              <a:defRPr sz="2200">
                <a:solidFill>
                  <a:schemeClr val="dk1"/>
                </a:solidFill>
                <a:latin typeface="Arial"/>
                <a:ea typeface="Arial"/>
                <a:cs typeface="Arial"/>
              </a:defRPr>
            </a:lvl8pPr>
            <a:lvl9pPr lvl="8">
              <a:spcBef>
                <a:spcPts val="0"/>
              </a:spcBef>
              <a:spcAft>
                <a:spcPts val="0"/>
              </a:spcAft>
              <a:buClr>
                <a:schemeClr val="dk1"/>
              </a:buClr>
              <a:buSzPts val="2400"/>
              <a:buFont typeface="Aptos"/>
              <a:buNone/>
              <a:defRPr sz="2200">
                <a:solidFill>
                  <a:schemeClr val="dk1"/>
                </a:solidFill>
                <a:latin typeface="Arial"/>
                <a:ea typeface="Arial"/>
                <a:cs typeface="Arial"/>
              </a:defRPr>
            </a:lvl9pPr>
          </a:lstStyle>
          <a:p>
            <a:pPr>
              <a:defRPr/>
            </a:pPr>
            <a:endParaRPr dirty="0"/>
          </a:p>
        </p:txBody>
      </p:sp>
      <p:sp>
        <p:nvSpPr>
          <p:cNvPr id="1637498276" name="Google Shape;7;p1"/>
          <p:cNvSpPr txBox="1">
            <a:spLocks noGrp="1"/>
          </p:cNvSpPr>
          <p:nvPr>
            <p:ph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4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dirty="0"/>
          </a:p>
        </p:txBody>
      </p:sp>
      <p:sp>
        <p:nvSpPr>
          <p:cNvPr id="1111949335"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preserve="1" userDrawn="1">
  <p:cSld name="2_Custom Layout">
    <p:spTree>
      <p:nvGrpSpPr>
        <p:cNvPr id="1" name=""/>
        <p:cNvGrpSpPr/>
        <p:nvPr/>
      </p:nvGrpSpPr>
      <p:grpSpPr bwMode="auto">
        <a:xfrm>
          <a:off x="0" y="0"/>
          <a:ext cx="0" cy="0"/>
          <a:chOff x="0" y="0"/>
          <a:chExt cx="0" cy="0"/>
        </a:xfrm>
      </p:grpSpPr>
      <p:sp>
        <p:nvSpPr>
          <p:cNvPr id="1898214394"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preserve="1" userDrawn="1">
  <p:cSld name="1_Custom Layout">
    <p:bg>
      <p:bgPr>
        <a:solidFill>
          <a:schemeClr val="bg2"/>
        </a:solidFill>
        <a:effectLst/>
      </p:bgPr>
    </p:bg>
    <p:spTree>
      <p:nvGrpSpPr>
        <p:cNvPr id="1" name=""/>
        <p:cNvGrpSpPr/>
        <p:nvPr/>
      </p:nvGrpSpPr>
      <p:grpSpPr bwMode="auto">
        <a:xfrm>
          <a:off x="0" y="0"/>
          <a:ext cx="0" cy="0"/>
          <a:chOff x="0" y="0"/>
          <a:chExt cx="0" cy="0"/>
        </a:xfrm>
      </p:grpSpPr>
      <p:pic>
        <p:nvPicPr>
          <p:cNvPr id="1081209776" name="Picture 1"/>
          <p:cNvPicPr>
            <a:picLocks noChangeAspect="1"/>
          </p:cNvPicPr>
          <p:nvPr userDrawn="1"/>
        </p:nvPicPr>
        <p:blipFill rotWithShape="1">
          <a:blip r:embed="rId2"/>
          <a:stretch/>
        </p:blipFill>
        <p:spPr bwMode="auto">
          <a:xfrm>
            <a:off x="1" y="4989748"/>
            <a:ext cx="141585" cy="14748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
        <p:cNvGrpSpPr/>
        <p:nvPr/>
      </p:nvGrpSpPr>
      <p:grpSpPr bwMode="auto">
        <a:xfrm>
          <a:off x="0" y="0"/>
          <a:ext cx="0" cy="0"/>
          <a:chOff x="0" y="0"/>
          <a:chExt cx="0" cy="0"/>
        </a:xfrm>
      </p:grpSpPr>
      <p:sp>
        <p:nvSpPr>
          <p:cNvPr id="677720339"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400">
                <a:solidFill>
                  <a:srgbClr val="2D2A62"/>
                </a:solidFill>
                <a:latin typeface="Arial"/>
                <a:ea typeface="Arial"/>
                <a:cs typeface="Arial"/>
              </a:defRPr>
            </a:lvl1pPr>
            <a:lvl2pPr lvl="1">
              <a:spcBef>
                <a:spcPts val="0"/>
              </a:spcBef>
              <a:spcAft>
                <a:spcPts val="0"/>
              </a:spcAft>
              <a:buClr>
                <a:schemeClr val="dk1"/>
              </a:buClr>
              <a:buSzPts val="2400"/>
              <a:buFont typeface="Aptos"/>
              <a:buNone/>
              <a:defRPr sz="2400">
                <a:solidFill>
                  <a:schemeClr val="dk1"/>
                </a:solidFill>
                <a:latin typeface="Arial"/>
                <a:ea typeface="Arial"/>
                <a:cs typeface="Arial"/>
              </a:defRPr>
            </a:lvl2pPr>
            <a:lvl3pPr lvl="2">
              <a:spcBef>
                <a:spcPts val="0"/>
              </a:spcBef>
              <a:spcAft>
                <a:spcPts val="0"/>
              </a:spcAft>
              <a:buClr>
                <a:schemeClr val="dk1"/>
              </a:buClr>
              <a:buSzPts val="2400"/>
              <a:buFont typeface="Aptos"/>
              <a:buNone/>
              <a:defRPr sz="2400">
                <a:solidFill>
                  <a:schemeClr val="dk1"/>
                </a:solidFill>
                <a:latin typeface="Arial"/>
                <a:ea typeface="Arial"/>
                <a:cs typeface="Arial"/>
              </a:defRPr>
            </a:lvl3pPr>
            <a:lvl4pPr lvl="3">
              <a:spcBef>
                <a:spcPts val="0"/>
              </a:spcBef>
              <a:spcAft>
                <a:spcPts val="0"/>
              </a:spcAft>
              <a:buClr>
                <a:schemeClr val="dk1"/>
              </a:buClr>
              <a:buSzPts val="2400"/>
              <a:buFont typeface="Aptos"/>
              <a:buNone/>
              <a:defRPr sz="2400">
                <a:solidFill>
                  <a:schemeClr val="dk1"/>
                </a:solidFill>
                <a:latin typeface="Arial"/>
                <a:ea typeface="Arial"/>
                <a:cs typeface="Arial"/>
              </a:defRPr>
            </a:lvl4pPr>
            <a:lvl5pPr lvl="4">
              <a:spcBef>
                <a:spcPts val="0"/>
              </a:spcBef>
              <a:spcAft>
                <a:spcPts val="0"/>
              </a:spcAft>
              <a:buClr>
                <a:schemeClr val="dk1"/>
              </a:buClr>
              <a:buSzPts val="2400"/>
              <a:buFont typeface="Aptos"/>
              <a:buNone/>
              <a:defRPr sz="2400">
                <a:solidFill>
                  <a:schemeClr val="dk1"/>
                </a:solidFill>
                <a:latin typeface="Arial"/>
                <a:ea typeface="Arial"/>
                <a:cs typeface="Arial"/>
              </a:defRPr>
            </a:lvl5pPr>
            <a:lvl6pPr lvl="5">
              <a:spcBef>
                <a:spcPts val="0"/>
              </a:spcBef>
              <a:spcAft>
                <a:spcPts val="0"/>
              </a:spcAft>
              <a:buClr>
                <a:schemeClr val="dk1"/>
              </a:buClr>
              <a:buSzPts val="2400"/>
              <a:buFont typeface="Aptos"/>
              <a:buNone/>
              <a:defRPr sz="2400">
                <a:solidFill>
                  <a:schemeClr val="dk1"/>
                </a:solidFill>
                <a:latin typeface="Arial"/>
                <a:ea typeface="Arial"/>
                <a:cs typeface="Arial"/>
              </a:defRPr>
            </a:lvl6pPr>
            <a:lvl7pPr lvl="6">
              <a:spcBef>
                <a:spcPts val="0"/>
              </a:spcBef>
              <a:spcAft>
                <a:spcPts val="0"/>
              </a:spcAft>
              <a:buClr>
                <a:schemeClr val="dk1"/>
              </a:buClr>
              <a:buSzPts val="2400"/>
              <a:buFont typeface="Aptos"/>
              <a:buNone/>
              <a:defRPr sz="2400">
                <a:solidFill>
                  <a:schemeClr val="dk1"/>
                </a:solidFill>
                <a:latin typeface="Arial"/>
                <a:ea typeface="Arial"/>
                <a:cs typeface="Arial"/>
              </a:defRPr>
            </a:lvl7pPr>
            <a:lvl8pPr lvl="7">
              <a:spcBef>
                <a:spcPts val="0"/>
              </a:spcBef>
              <a:spcAft>
                <a:spcPts val="0"/>
              </a:spcAft>
              <a:buClr>
                <a:schemeClr val="dk1"/>
              </a:buClr>
              <a:buSzPts val="2400"/>
              <a:buFont typeface="Aptos"/>
              <a:buNone/>
              <a:defRPr sz="2400">
                <a:solidFill>
                  <a:schemeClr val="dk1"/>
                </a:solidFill>
                <a:latin typeface="Arial"/>
                <a:ea typeface="Arial"/>
                <a:cs typeface="Arial"/>
              </a:defRPr>
            </a:lvl8pPr>
            <a:lvl9pPr lvl="8">
              <a:spcBef>
                <a:spcPts val="0"/>
              </a:spcBef>
              <a:spcAft>
                <a:spcPts val="0"/>
              </a:spcAft>
              <a:buClr>
                <a:schemeClr val="dk1"/>
              </a:buClr>
              <a:buSzPts val="2400"/>
              <a:buFont typeface="Aptos"/>
              <a:buNone/>
              <a:defRPr sz="2400">
                <a:solidFill>
                  <a:schemeClr val="dk1"/>
                </a:solidFill>
                <a:latin typeface="Arial"/>
                <a:ea typeface="Arial"/>
                <a:cs typeface="Arial"/>
              </a:defRPr>
            </a:lvl9pPr>
          </a:lstStyle>
          <a:p>
            <a:pPr>
              <a:defRPr/>
            </a:pPr>
            <a:endParaRPr dirty="0"/>
          </a:p>
        </p:txBody>
      </p:sp>
      <p:sp>
        <p:nvSpPr>
          <p:cNvPr id="1365482576" name="Google Shape;7;p1"/>
          <p:cNvSpPr txBox="1">
            <a:spLocks noGrp="1"/>
          </p:cNvSpPr>
          <p:nvPr>
            <p:ph type="body"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6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dirty="0"/>
          </a:p>
        </p:txBody>
      </p:sp>
      <p:pic>
        <p:nvPicPr>
          <p:cNvPr id="1430567958" name="Google Shape;9;p1"/>
          <p:cNvPicPr/>
          <p:nvPr/>
        </p:nvPicPr>
        <p:blipFill rotWithShape="1">
          <a:blip r:embed="rId6">
            <a:alphaModFix/>
          </a:blip>
          <a:srcRect r="79249"/>
          <a:stretch/>
        </p:blipFill>
        <p:spPr bwMode="auto">
          <a:xfrm>
            <a:off x="0" y="4841359"/>
            <a:ext cx="342167" cy="302143"/>
          </a:xfrm>
          <a:prstGeom prst="rect">
            <a:avLst/>
          </a:prstGeom>
          <a:noFill/>
          <a:ln>
            <a:noFill/>
          </a:ln>
        </p:spPr>
      </p:pic>
      <p:sp>
        <p:nvSpPr>
          <p:cNvPr id="1776343266" name="Slide Number Placeholder 2"/>
          <p:cNvSpPr>
            <a:spLocks noGrp="1"/>
          </p:cNvSpPr>
          <p:nvPr>
            <p:ph type="sldNum" sz="quarter" idx="4"/>
          </p:nvPr>
        </p:nvSpPr>
        <p:spPr bwMode="auto">
          <a:xfrm>
            <a:off x="5314950" y="4871644"/>
            <a:ext cx="1543050" cy="274637"/>
          </a:xfrm>
          <a:prstGeom prst="rect">
            <a:avLst/>
          </a:prstGeom>
        </p:spPr>
        <p:txBody>
          <a:bodyPr vert="horz" lIns="91440" tIns="45720" rIns="91440" bIns="45720" rtlCol="0" anchor="ctr"/>
          <a:lstStyle>
            <a:lvl1pPr algn="r">
              <a:defRPr sz="1050">
                <a:solidFill>
                  <a:schemeClr val="bg2"/>
                </a:solidFill>
              </a:defRPr>
            </a:lvl1pPr>
          </a:lstStyle>
          <a:p>
            <a:pPr>
              <a:defRPr/>
            </a:pPr>
            <a:fld id="{26FBAF0E-C96E-D64F-8B24-1AA70EC4AC83}" type="slidenum">
              <a:rPr lang="en-US"/>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chemeClr val="accent1"/>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atlas.mitre.org/mitigations/AML.M0035"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hyperlink" Target="https://atlas.mitre.org/techniques/AML.T0081"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atlas.mitre.org/mitigations/AML.M0035"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hyperlink" Target="https://atlas.mitre.org/techniques/AML.T0105" TargetMode="External"/><Relationship Id="rId4" Type="http://schemas.openxmlformats.org/officeDocument/2006/relationships/hyperlink" Target="https://atlas.mitre.org/techniques/AML.T0081"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atlas.mitre.org/mitigations/AML.M0035"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hyperlink" Target="https://atlas.mitre.org/techniques/AML.T0105" TargetMode="External"/><Relationship Id="rId4" Type="http://schemas.openxmlformats.org/officeDocument/2006/relationships/hyperlink" Target="https://atlas.mitre.org/techniques/AML.T0081" TargetMode="External"/></Relationships>
</file>

<file path=ppt/slides/_rels/slide21.xml.rels><?xml version="1.0" encoding="UTF-8" standalone="yes"?>
<Relationships xmlns="http://schemas.openxmlformats.org/package/2006/relationships"><Relationship Id="rId8" Type="http://schemas.openxmlformats.org/officeDocument/2006/relationships/hyperlink" Target="https://atlas.mitre.org/mitigations/AML.M0022" TargetMode="External"/><Relationship Id="rId3" Type="http://schemas.openxmlformats.org/officeDocument/2006/relationships/hyperlink" Target="https://atlas.mitre.org/mitigations/AML.M0035" TargetMode="External"/><Relationship Id="rId7" Type="http://schemas.openxmlformats.org/officeDocument/2006/relationships/hyperlink" Target="https://atlas.mitre.org/mitigations/AML.M0021"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hyperlink" Target="https://atlas.mitre.org/mitigations/AML.M0020" TargetMode="External"/><Relationship Id="rId5" Type="http://schemas.openxmlformats.org/officeDocument/2006/relationships/hyperlink" Target="https://atlas.mitre.org/techniques/AML.T0105" TargetMode="External"/><Relationship Id="rId4" Type="http://schemas.openxmlformats.org/officeDocument/2006/relationships/hyperlink" Target="https://atlas.mitre.org/techniques/AML.T0081" TargetMode="External"/><Relationship Id="rId9" Type="http://schemas.openxmlformats.org/officeDocument/2006/relationships/hyperlink" Target="https://atlas.mitre.org/techniques/AML.T0054" TargetMode="External"/></Relationships>
</file>

<file path=ppt/slides/_rels/slide22.xml.rels><?xml version="1.0" encoding="UTF-8" standalone="yes"?>
<Relationships xmlns="http://schemas.openxmlformats.org/package/2006/relationships"><Relationship Id="rId8" Type="http://schemas.openxmlformats.org/officeDocument/2006/relationships/hyperlink" Target="https://atlas.mitre.org/mitigations/AML.M0022" TargetMode="External"/><Relationship Id="rId3" Type="http://schemas.openxmlformats.org/officeDocument/2006/relationships/hyperlink" Target="https://atlas.mitre.org/mitigations/AML.M0035" TargetMode="External"/><Relationship Id="rId7" Type="http://schemas.openxmlformats.org/officeDocument/2006/relationships/hyperlink" Target="https://atlas.mitre.org/mitigations/AML.M0021"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hyperlink" Target="https://atlas.mitre.org/mitigations/AML.M0020" TargetMode="External"/><Relationship Id="rId5" Type="http://schemas.openxmlformats.org/officeDocument/2006/relationships/hyperlink" Target="https://atlas.mitre.org/techniques/AML.T0105" TargetMode="External"/><Relationship Id="rId4" Type="http://schemas.openxmlformats.org/officeDocument/2006/relationships/hyperlink" Target="https://atlas.mitre.org/techniques/AML.T0081" TargetMode="External"/><Relationship Id="rId9" Type="http://schemas.openxmlformats.org/officeDocument/2006/relationships/hyperlink" Target="https://atlas.mitre.org/techniques/AML.T0054"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hyperlink" Target="https://atlas.mitre.org/mitigations/AML.M0021"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atlas.mitre.org/mitigations/AML.M0022"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atlas.mitre.org/mitigations/AML.M0021"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hyperlink" Target="https://atlas.mitre.org/mitigations/AML.M0022"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atlas.mitre.org/mitigations/AML.M0021"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hyperlink" Target="https://atlas.mitre.org/mitigations/AML.M0022"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atlas.mitre.org/mitigations/AML.M0021"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hyperlink" Target="https://atlas.mitre.org/mitigations/AML.M0022"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atlas.mitre.org/mitigations/AML.M0021"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hyperlink" Target="https://atlas.mitre.org/mitigations/AML.M0022"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slide" Target="slide49.xml"/><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6.xml.rels><?xml version="1.0" encoding="UTF-8" standalone="yes"?>
<Relationships xmlns="http://schemas.openxmlformats.org/package/2006/relationships"><Relationship Id="rId3" Type="http://schemas.openxmlformats.org/officeDocument/2006/relationships/slide" Target="slide49.xml"/><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7.xml.rels><?xml version="1.0" encoding="UTF-8" standalone="yes"?>
<Relationships xmlns="http://schemas.openxmlformats.org/package/2006/relationships"><Relationship Id="rId3" Type="http://schemas.openxmlformats.org/officeDocument/2006/relationships/slide" Target="slide49.xml"/><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8.xml.rels><?xml version="1.0" encoding="UTF-8" standalone="yes"?>
<Relationships xmlns="http://schemas.openxmlformats.org/package/2006/relationships"><Relationship Id="rId3" Type="http://schemas.openxmlformats.org/officeDocument/2006/relationships/slide" Target="slide49.xml"/><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slide" Target="slide67.xml"/><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55.xml.rels><?xml version="1.0" encoding="UTF-8" standalone="yes"?>
<Relationships xmlns="http://schemas.openxmlformats.org/package/2006/relationships"><Relationship Id="rId3" Type="http://schemas.openxmlformats.org/officeDocument/2006/relationships/slide" Target="slide67.xml"/><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56.xml.rels><?xml version="1.0" encoding="UTF-8" standalone="yes"?>
<Relationships xmlns="http://schemas.openxmlformats.org/package/2006/relationships"><Relationship Id="rId3" Type="http://schemas.openxmlformats.org/officeDocument/2006/relationships/slide" Target="slide67.xml"/><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57.xml.rels><?xml version="1.0" encoding="UTF-8" standalone="yes"?>
<Relationships xmlns="http://schemas.openxmlformats.org/package/2006/relationships"><Relationship Id="rId3" Type="http://schemas.openxmlformats.org/officeDocument/2006/relationships/slide" Target="slide67.xml"/><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58.xml.rels><?xml version="1.0" encoding="UTF-8" standalone="yes"?>
<Relationships xmlns="http://schemas.openxmlformats.org/package/2006/relationships"><Relationship Id="rId3" Type="http://schemas.openxmlformats.org/officeDocument/2006/relationships/slide" Target="slide67.xml"/><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59.xml.rels><?xml version="1.0" encoding="UTF-8" standalone="yes"?>
<Relationships xmlns="http://schemas.openxmlformats.org/package/2006/relationships"><Relationship Id="rId3" Type="http://schemas.openxmlformats.org/officeDocument/2006/relationships/slide" Target="slide67.xml"/><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60.xml.rels><?xml version="1.0" encoding="UTF-8" standalone="yes"?>
<Relationships xmlns="http://schemas.openxmlformats.org/package/2006/relationships"><Relationship Id="rId3" Type="http://schemas.openxmlformats.org/officeDocument/2006/relationships/slide" Target="slide67.xml"/><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61.xml.rels><?xml version="1.0" encoding="UTF-8" standalone="yes"?>
<Relationships xmlns="http://schemas.openxmlformats.org/package/2006/relationships"><Relationship Id="rId3" Type="http://schemas.openxmlformats.org/officeDocument/2006/relationships/slide" Target="slide67.xml"/><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62.xml.rels><?xml version="1.0" encoding="UTF-8" standalone="yes"?>
<Relationships xmlns="http://schemas.openxmlformats.org/package/2006/relationships"><Relationship Id="rId3" Type="http://schemas.openxmlformats.org/officeDocument/2006/relationships/slide" Target="slide67.xml"/><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63.xml.rels><?xml version="1.0" encoding="UTF-8" standalone="yes"?>
<Relationships xmlns="http://schemas.openxmlformats.org/package/2006/relationships"><Relationship Id="rId3" Type="http://schemas.openxmlformats.org/officeDocument/2006/relationships/slide" Target="slide67.xml"/><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64.xml.rels><?xml version="1.0" encoding="UTF-8" standalone="yes"?>
<Relationships xmlns="http://schemas.openxmlformats.org/package/2006/relationships"><Relationship Id="rId3" Type="http://schemas.openxmlformats.org/officeDocument/2006/relationships/slide" Target="slide67.xml"/><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65.xml.rels><?xml version="1.0" encoding="UTF-8" standalone="yes"?>
<Relationships xmlns="http://schemas.openxmlformats.org/package/2006/relationships"><Relationship Id="rId3" Type="http://schemas.openxmlformats.org/officeDocument/2006/relationships/slide" Target="slide67.xml"/><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66.xml.rels><?xml version="1.0" encoding="UTF-8" standalone="yes"?>
<Relationships xmlns="http://schemas.openxmlformats.org/package/2006/relationships"><Relationship Id="rId3" Type="http://schemas.openxmlformats.org/officeDocument/2006/relationships/slide" Target="slide67.xml"/><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9.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3.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158.xml"/><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159.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3" Type="http://schemas.openxmlformats.org/officeDocument/2006/relationships/hyperlink" Target="https://atlas.mitre.org/techniques/AML.T0083" TargetMode="External"/><Relationship Id="rId2" Type="http://schemas.openxmlformats.org/officeDocument/2006/relationships/notesSlide" Target="../notesSlides/notesSlide165.xml"/><Relationship Id="rId1" Type="http://schemas.openxmlformats.org/officeDocument/2006/relationships/slideLayout" Target="../slideLayouts/slideLayout2.xml"/><Relationship Id="rId5" Type="http://schemas.openxmlformats.org/officeDocument/2006/relationships/image" Target="../media/image108.png"/><Relationship Id="rId4" Type="http://schemas.openxmlformats.org/officeDocument/2006/relationships/hyperlink" Target="https://atlas.mitre.org/techniques/AML.T0086" TargetMode="External"/></Relationships>
</file>

<file path=ppt/slides/_rels/slide167.xml.rels><?xml version="1.0" encoding="UTF-8" standalone="yes"?>
<Relationships xmlns="http://schemas.openxmlformats.org/package/2006/relationships"><Relationship Id="rId3" Type="http://schemas.openxmlformats.org/officeDocument/2006/relationships/hyperlink" Target="https://atlas.mitre.org/techniques/AML.T0083" TargetMode="External"/><Relationship Id="rId2" Type="http://schemas.openxmlformats.org/officeDocument/2006/relationships/notesSlide" Target="../notesSlides/notesSlide166.xml"/><Relationship Id="rId1" Type="http://schemas.openxmlformats.org/officeDocument/2006/relationships/slideLayout" Target="../slideLayouts/slideLayout2.xml"/><Relationship Id="rId5" Type="http://schemas.openxmlformats.org/officeDocument/2006/relationships/image" Target="../media/image108.png"/><Relationship Id="rId4" Type="http://schemas.openxmlformats.org/officeDocument/2006/relationships/hyperlink" Target="https://atlas.mitre.org/techniques/AML.T0086" TargetMode="External"/></Relationships>
</file>

<file path=ppt/slides/_rels/slide168.xml.rels><?xml version="1.0" encoding="UTF-8" standalone="yes"?>
<Relationships xmlns="http://schemas.openxmlformats.org/package/2006/relationships"><Relationship Id="rId3" Type="http://schemas.openxmlformats.org/officeDocument/2006/relationships/hyperlink" Target="https://atlas.mitre.org/techniques/AML.T0083" TargetMode="External"/><Relationship Id="rId2" Type="http://schemas.openxmlformats.org/officeDocument/2006/relationships/notesSlide" Target="../notesSlides/notesSlide167.xml"/><Relationship Id="rId1" Type="http://schemas.openxmlformats.org/officeDocument/2006/relationships/slideLayout" Target="../slideLayouts/slideLayout2.xml"/><Relationship Id="rId5" Type="http://schemas.openxmlformats.org/officeDocument/2006/relationships/image" Target="../media/image108.png"/><Relationship Id="rId4" Type="http://schemas.openxmlformats.org/officeDocument/2006/relationships/hyperlink" Target="https://atlas.mitre.org/techniques/AML.T0086" TargetMode="External"/></Relationships>
</file>

<file path=ppt/slides/_rels/slide169.xml.rels><?xml version="1.0" encoding="UTF-8" standalone="yes"?>
<Relationships xmlns="http://schemas.openxmlformats.org/package/2006/relationships"><Relationship Id="rId3" Type="http://schemas.openxmlformats.org/officeDocument/2006/relationships/hyperlink" Target="https://atlas.mitre.org/techniques/AML.T0083" TargetMode="External"/><Relationship Id="rId2" Type="http://schemas.openxmlformats.org/officeDocument/2006/relationships/notesSlide" Target="../notesSlides/notesSlide168.xml"/><Relationship Id="rId1" Type="http://schemas.openxmlformats.org/officeDocument/2006/relationships/slideLayout" Target="../slideLayouts/slideLayout2.xml"/><Relationship Id="rId5" Type="http://schemas.openxmlformats.org/officeDocument/2006/relationships/image" Target="../media/image108.png"/><Relationship Id="rId4" Type="http://schemas.openxmlformats.org/officeDocument/2006/relationships/hyperlink" Target="https://atlas.mitre.org/techniques/AML.T0086" TargetMode="External"/></Relationships>
</file>

<file path=ppt/slides/_rels/slide170.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3" Type="http://schemas.openxmlformats.org/officeDocument/2006/relationships/slide" Target="slide182.xml"/><Relationship Id="rId2" Type="http://schemas.openxmlformats.org/officeDocument/2006/relationships/notesSlide" Target="../notesSlides/notesSlide175.xml"/><Relationship Id="rId1" Type="http://schemas.openxmlformats.org/officeDocument/2006/relationships/slideLayout" Target="../slideLayouts/slideLayout2.xml"/><Relationship Id="rId4" Type="http://schemas.openxmlformats.org/officeDocument/2006/relationships/image" Target="../media/image113.png"/></Relationships>
</file>

<file path=ppt/slides/_rels/slide177.xml.rels><?xml version="1.0" encoding="UTF-8" standalone="yes"?>
<Relationships xmlns="http://schemas.openxmlformats.org/package/2006/relationships"><Relationship Id="rId3" Type="http://schemas.openxmlformats.org/officeDocument/2006/relationships/slide" Target="slide182.xml"/><Relationship Id="rId2" Type="http://schemas.openxmlformats.org/officeDocument/2006/relationships/notesSlide" Target="../notesSlides/notesSlide176.xml"/><Relationship Id="rId1" Type="http://schemas.openxmlformats.org/officeDocument/2006/relationships/slideLayout" Target="../slideLayouts/slideLayout2.xml"/><Relationship Id="rId4" Type="http://schemas.openxmlformats.org/officeDocument/2006/relationships/image" Target="../media/image114.png"/></Relationships>
</file>

<file path=ppt/slides/_rels/slide178.xml.rels><?xml version="1.0" encoding="UTF-8" standalone="yes"?>
<Relationships xmlns="http://schemas.openxmlformats.org/package/2006/relationships"><Relationship Id="rId3" Type="http://schemas.openxmlformats.org/officeDocument/2006/relationships/slide" Target="slide182.xml"/><Relationship Id="rId2" Type="http://schemas.openxmlformats.org/officeDocument/2006/relationships/notesSlide" Target="../notesSlides/notesSlide177.xml"/><Relationship Id="rId1" Type="http://schemas.openxmlformats.org/officeDocument/2006/relationships/slideLayout" Target="../slideLayouts/slideLayout2.xml"/><Relationship Id="rId4" Type="http://schemas.openxmlformats.org/officeDocument/2006/relationships/image" Target="../media/image115.png"/></Relationships>
</file>

<file path=ppt/slides/_rels/slide179.xml.rels><?xml version="1.0" encoding="UTF-8" standalone="yes"?>
<Relationships xmlns="http://schemas.openxmlformats.org/package/2006/relationships"><Relationship Id="rId3" Type="http://schemas.openxmlformats.org/officeDocument/2006/relationships/slide" Target="slide182.xml"/><Relationship Id="rId2" Type="http://schemas.openxmlformats.org/officeDocument/2006/relationships/notesSlide" Target="../notesSlides/notesSlide178.xml"/><Relationship Id="rId1" Type="http://schemas.openxmlformats.org/officeDocument/2006/relationships/slideLayout" Target="../slideLayouts/slideLayout2.xml"/><Relationship Id="rId4" Type="http://schemas.openxmlformats.org/officeDocument/2006/relationships/image" Target="../media/image116.png"/></Relationships>
</file>

<file path=ppt/slides/_rels/slide180.xml.rels><?xml version="1.0" encoding="UTF-8" standalone="yes"?>
<Relationships xmlns="http://schemas.openxmlformats.org/package/2006/relationships"><Relationship Id="rId3" Type="http://schemas.openxmlformats.org/officeDocument/2006/relationships/slide" Target="slide182.xml"/><Relationship Id="rId2" Type="http://schemas.openxmlformats.org/officeDocument/2006/relationships/notesSlide" Target="../notesSlides/notesSlide179.xml"/><Relationship Id="rId1" Type="http://schemas.openxmlformats.org/officeDocument/2006/relationships/slideLayout" Target="../slideLayouts/slideLayout2.xml"/><Relationship Id="rId4" Type="http://schemas.openxmlformats.org/officeDocument/2006/relationships/image" Target="../media/image116.png"/></Relationships>
</file>

<file path=ppt/slides/_rels/slide181.xml.rels><?xml version="1.0" encoding="UTF-8" standalone="yes"?>
<Relationships xmlns="http://schemas.openxmlformats.org/package/2006/relationships"><Relationship Id="rId3" Type="http://schemas.openxmlformats.org/officeDocument/2006/relationships/slide" Target="slide182.xml"/><Relationship Id="rId2" Type="http://schemas.openxmlformats.org/officeDocument/2006/relationships/notesSlide" Target="../notesSlides/notesSlide180.xml"/><Relationship Id="rId1" Type="http://schemas.openxmlformats.org/officeDocument/2006/relationships/slideLayout" Target="../slideLayouts/slideLayout2.xml"/><Relationship Id="rId4" Type="http://schemas.openxmlformats.org/officeDocument/2006/relationships/image" Target="../media/image116.png"/></Relationships>
</file>

<file path=ppt/slides/_rels/slide182.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205.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notesSlide" Target="../notesSlides/notesSlide209.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notesSlide" Target="../notesSlides/notesSlide210.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notesSlide" Target="../notesSlides/notesSlide211.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notesSlide" Target="../notesSlides/notesSlide212.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notesSlide" Target="../notesSlides/notesSlide213.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notesSlide" Target="../notesSlides/notesSlide214.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notesSlide" Target="../notesSlides/notesSlide215.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216.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217.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218.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219.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220.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221.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222.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223.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224.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225.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22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65578072" name="Title 1"/>
          <p:cNvSpPr>
            <a:spLocks noGrp="1"/>
          </p:cNvSpPr>
          <p:nvPr>
            <p:ph type="ctrTitle"/>
          </p:nvPr>
        </p:nvSpPr>
        <p:spPr bwMode="auto"/>
        <p:txBody>
          <a:bodyPr/>
          <a:lstStyle/>
          <a:p>
            <a:pPr>
              <a:defRPr/>
            </a:pPr>
            <a:r>
              <a:rPr lang="en-US" b="1"/>
              <a:t>Designing Production Agentic Systems</a:t>
            </a:r>
            <a:endParaRPr b="1"/>
          </a:p>
        </p:txBody>
      </p:sp>
      <p:sp>
        <p:nvSpPr>
          <p:cNvPr id="1279590415" name="Subtitle 2"/>
          <p:cNvSpPr>
            <a:spLocks noGrp="1"/>
          </p:cNvSpPr>
          <p:nvPr>
            <p:ph type="subTitle" idx="1"/>
          </p:nvPr>
        </p:nvSpPr>
        <p:spPr bwMode="auto"/>
        <p:txBody>
          <a:bodyPr/>
          <a:lstStyle/>
          <a:p>
            <a:pPr>
              <a:defRPr/>
            </a:pPr>
            <a:r>
              <a:rPr b="1"/>
              <a:t>Columbia · Fall 2026 · Lecture </a:t>
            </a:r>
            <a:r>
              <a:rPr lang="en-US" b="1"/>
              <a:t>6</a:t>
            </a:r>
            <a:endParaRPr b="1"/>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45490697" name="TextBox 3"/>
          <p:cNvSpPr txBox="1"/>
          <p:nvPr/>
        </p:nvSpPr>
        <p:spPr bwMode="auto">
          <a:xfrm>
            <a:off x="364432" y="2217807"/>
            <a:ext cx="6144607" cy="701399"/>
          </a:xfrm>
          <a:prstGeom prst="rect">
            <a:avLst/>
          </a:prstGeom>
          <a:noFill/>
        </p:spPr>
        <p:txBody>
          <a:bodyPr wrap="square" rtlCol="0">
            <a:spAutoFit/>
          </a:bodyPr>
          <a:lstStyle/>
          <a:p>
            <a:pPr algn="ctr">
              <a:defRPr/>
            </a:pPr>
            <a:r>
              <a:rPr lang="en-US" sz="4000" b="1" dirty="0">
                <a:solidFill>
                  <a:schemeClr val="tx2"/>
                </a:solidFill>
                <a:latin typeface="+mj-lt"/>
              </a:rPr>
              <a:t>Lecture 5 Recap</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60175046" name="Title 1"/>
          <p:cNvSpPr>
            <a:spLocks noGrp="1"/>
          </p:cNvSpPr>
          <p:nvPr>
            <p:ph type="title"/>
          </p:nvPr>
        </p:nvSpPr>
        <p:spPr bwMode="auto"/>
        <p:txBody>
          <a:bodyPr/>
          <a:lstStyle/>
          <a:p>
            <a:pPr>
              <a:defRPr/>
            </a:pPr>
            <a:r>
              <a:t>MCP client–server connection model</a:t>
            </a:r>
            <a:r>
              <a:rPr baseline="30000"/>
              <a:t>[1]</a:t>
            </a:r>
            <a:endParaRPr/>
          </a:p>
        </p:txBody>
      </p:sp>
      <p:sp>
        <p:nvSpPr>
          <p:cNvPr id="1585923684"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Servers should not see the whole conversation</a:t>
            </a:r>
            <a:r>
              <a:rPr sz="1250" b="0">
                <a:solidFill>
                  <a:srgbClr val="FFFFFF">
                    <a:alpha val="0"/>
                  </a:srgbClr>
                </a:solidFill>
              </a:rPr>
              <a:t> or other servers; the full history stays with the host.</a:t>
            </a:r>
            <a:endParaRPr/>
          </a:p>
        </p:txBody>
      </p:sp>
      <p:pic>
        <p:nvPicPr>
          <p:cNvPr id="935561912" name="Picture 1268723628" descr="mcp-roles.png"/>
          <p:cNvPicPr>
            <a:picLocks noChangeAspect="1"/>
          </p:cNvPicPr>
          <p:nvPr/>
        </p:nvPicPr>
        <p:blipFill rotWithShape="1">
          <a:blip r:embed="rId3"/>
          <a:stretch/>
        </p:blipFill>
        <p:spPr bwMode="auto">
          <a:xfrm>
            <a:off x="404662" y="1931994"/>
            <a:ext cx="5847507" cy="2252171"/>
          </a:xfrm>
          <a:prstGeom prst="rect">
            <a:avLst/>
          </a:prstGeom>
        </p:spPr>
      </p:pic>
      <p:sp>
        <p:nvSpPr>
          <p:cNvPr id="158592368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644732706" name="Title 1"/>
          <p:cNvSpPr>
            <a:spLocks noGrp="1"/>
          </p:cNvSpPr>
          <p:nvPr>
            <p:ph type="title"/>
          </p:nvPr>
        </p:nvSpPr>
        <p:spPr bwMode="auto"/>
        <p:txBody>
          <a:bodyPr/>
          <a:lstStyle/>
          <a:p>
            <a:pPr>
              <a:defRPr/>
            </a:pPr>
            <a:r>
              <a:t>MCP client–server connection model</a:t>
            </a:r>
            <a:r>
              <a:rPr baseline="30000"/>
              <a:t>[1]</a:t>
            </a:r>
            <a:endParaRPr/>
          </a:p>
        </p:txBody>
      </p:sp>
      <p:sp>
        <p:nvSpPr>
          <p:cNvPr id="41121250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Char char="●"/>
              <a:defRPr/>
            </a:pPr>
            <a:r>
              <a:rPr sz="1250" b="1">
                <a:solidFill>
                  <a:srgbClr val="000000"/>
                </a:solidFill>
              </a:rPr>
              <a:t>Servers should not see the whole conversation</a:t>
            </a:r>
            <a:r>
              <a:rPr sz="1250" b="0">
                <a:solidFill>
                  <a:srgbClr val="000000"/>
                </a:solidFill>
              </a:rPr>
              <a:t> or other servers; the full history stays with the host.</a:t>
            </a:r>
            <a:endParaRPr/>
          </a:p>
        </p:txBody>
      </p:sp>
      <p:pic>
        <p:nvPicPr>
          <p:cNvPr id="943960367" name="Picture 1268723628" descr="mcp-roles.png"/>
          <p:cNvPicPr>
            <a:picLocks noChangeAspect="1"/>
          </p:cNvPicPr>
          <p:nvPr/>
        </p:nvPicPr>
        <p:blipFill rotWithShape="1">
          <a:blip r:embed="rId3"/>
          <a:stretch/>
        </p:blipFill>
        <p:spPr bwMode="auto">
          <a:xfrm>
            <a:off x="404662" y="1931994"/>
            <a:ext cx="5847507" cy="2252171"/>
          </a:xfrm>
          <a:prstGeom prst="rect">
            <a:avLst/>
          </a:prstGeom>
        </p:spPr>
      </p:pic>
      <p:sp>
        <p:nvSpPr>
          <p:cNvPr id="164473270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134111034" name="Title 1"/>
          <p:cNvSpPr>
            <a:spLocks noGrp="1"/>
          </p:cNvSpPr>
          <p:nvPr>
            <p:ph type="title"/>
          </p:nvPr>
        </p:nvSpPr>
        <p:spPr bwMode="auto"/>
        <p:txBody>
          <a:bodyPr/>
          <a:lstStyle/>
          <a:p>
            <a:pPr>
              <a:defRPr/>
            </a:pPr>
            <a:r>
              <a:t>MCP client–server connection model</a:t>
            </a:r>
            <a:r>
              <a:rPr baseline="30000"/>
              <a:t>[1]</a:t>
            </a:r>
            <a:endParaRPr/>
          </a:p>
        </p:txBody>
      </p:sp>
      <p:sp>
        <p:nvSpPr>
          <p:cNvPr id="102423029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Char char="●"/>
              <a:defRPr/>
            </a:pPr>
            <a:r>
              <a:rPr sz="1250" b="1">
                <a:solidFill>
                  <a:srgbClr val="000000"/>
                </a:solidFill>
              </a:rPr>
              <a:t>Servers should not see the whole conversation</a:t>
            </a:r>
            <a:r>
              <a:rPr sz="1250" b="0">
                <a:solidFill>
                  <a:srgbClr val="000000"/>
                </a:solidFill>
              </a:rPr>
              <a:t> or other servers; the full history stays with the host.</a:t>
            </a:r>
            <a:endParaRPr/>
          </a:p>
        </p:txBody>
      </p:sp>
      <p:sp>
        <p:nvSpPr>
          <p:cNvPr id="1640700933"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dispatcher's work is split: the host keeps the conversation and policy, and the server runs the tool.</a:t>
            </a:r>
            <a:endParaRPr/>
          </a:p>
        </p:txBody>
      </p:sp>
      <p:pic>
        <p:nvPicPr>
          <p:cNvPr id="769029892" name="Picture 1268723628" descr="mcp-roles.png"/>
          <p:cNvPicPr>
            <a:picLocks noChangeAspect="1"/>
          </p:cNvPicPr>
          <p:nvPr/>
        </p:nvPicPr>
        <p:blipFill rotWithShape="1">
          <a:blip r:embed="rId3"/>
          <a:stretch/>
        </p:blipFill>
        <p:spPr bwMode="auto">
          <a:xfrm>
            <a:off x="404662" y="1931994"/>
            <a:ext cx="5847507" cy="2252171"/>
          </a:xfrm>
          <a:prstGeom prst="rect">
            <a:avLst/>
          </a:prstGeom>
        </p:spPr>
      </p:pic>
      <p:sp>
        <p:nvSpPr>
          <p:cNvPr id="164070093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87763646"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705019035" name="Ledger table"/>
          <p:cNvGraphicFramePr>
            <a:graphicFrameLocks noGrp="1"/>
          </p:cNvGraphicFramePr>
          <p:nvPr>
            <p:extLst>
              <p:ext uri="{D42A27DB-BD31-4B8C-83A1-F6EECF244321}">
                <p14:modId xmlns:p14="http://schemas.microsoft.com/office/powerpoint/2010/main" val="2606798068"/>
              </p:ext>
            </p:extLst>
          </p:nvPr>
        </p:nvGraphicFramePr>
        <p:xfrm>
          <a:off x="320040" y="777240"/>
          <a:ext cx="6016752" cy="5200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88776364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97985482"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360302802" name="Ledger table"/>
          <p:cNvGraphicFramePr>
            <a:graphicFrameLocks noGrp="1"/>
          </p:cNvGraphicFramePr>
          <p:nvPr>
            <p:extLst>
              <p:ext uri="{D42A27DB-BD31-4B8C-83A1-F6EECF244321}">
                <p14:modId xmlns:p14="http://schemas.microsoft.com/office/powerpoint/2010/main" val="3197854368"/>
              </p:ext>
            </p:extLst>
          </p:nvPr>
        </p:nvGraphicFramePr>
        <p:xfrm>
          <a:off x="320040" y="777240"/>
          <a:ext cx="6016752" cy="92005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89798548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56612056"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802660825" name="Ledger table"/>
          <p:cNvGraphicFramePr>
            <a:graphicFrameLocks noGrp="1"/>
          </p:cNvGraphicFramePr>
          <p:nvPr>
            <p:extLst>
              <p:ext uri="{D42A27DB-BD31-4B8C-83A1-F6EECF244321}">
                <p14:modId xmlns:p14="http://schemas.microsoft.com/office/powerpoint/2010/main" val="1441377579"/>
              </p:ext>
            </p:extLst>
          </p:nvPr>
        </p:nvGraphicFramePr>
        <p:xfrm>
          <a:off x="320040" y="777240"/>
          <a:ext cx="6016752" cy="14725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server must conform to </a:t>
                      </a:r>
                      <a:r>
                        <a:rPr lang="en-US" sz="1000" b="0" dirty="0" err="1">
                          <a:solidFill>
                            <a:schemeClr val="tx1"/>
                          </a:solidFill>
                        </a:rPr>
                        <a:t>outputSchema</a:t>
                      </a:r>
                      <a:r>
                        <a:rPr lang="en-US" sz="1000" b="0" dirty="0">
                          <a:solidFill>
                            <a:schemeClr val="tx1"/>
                          </a:solidFill>
                        </a:rPr>
                        <a:t>,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180266082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67540123"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820547276" name="Ledger table"/>
          <p:cNvGraphicFramePr>
            <a:graphicFrameLocks noGrp="1"/>
          </p:cNvGraphicFramePr>
          <p:nvPr>
            <p:extLst>
              <p:ext uri="{D42A27DB-BD31-4B8C-83A1-F6EECF244321}">
                <p14:modId xmlns:p14="http://schemas.microsoft.com/office/powerpoint/2010/main" val="2187821857"/>
              </p:ext>
            </p:extLst>
          </p:nvPr>
        </p:nvGraphicFramePr>
        <p:xfrm>
          <a:off x="320040" y="777240"/>
          <a:ext cx="6016752" cy="187255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them</a:t>
                      </a:r>
                      <a:r>
                        <a:rPr lang="en-US" sz="1000" b="0" dirty="0">
                          <a:solidFill>
                            <a:schemeClr val="tx1"/>
                          </a:solidFill>
                        </a:rPr>
                        <a:t>;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82054727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57165034"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452303485" name="Ledger table"/>
          <p:cNvGraphicFramePr>
            <a:graphicFrameLocks noGrp="1"/>
          </p:cNvGraphicFramePr>
          <p:nvPr>
            <p:extLst>
              <p:ext uri="{D42A27DB-BD31-4B8C-83A1-F6EECF244321}">
                <p14:modId xmlns:p14="http://schemas.microsoft.com/office/powerpoint/2010/main" val="2163119045"/>
              </p:ext>
            </p:extLst>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them</a:t>
                      </a:r>
                      <a:r>
                        <a:rPr lang="en-US" sz="1000" b="0" dirty="0">
                          <a:solidFill>
                            <a:schemeClr val="tx1"/>
                          </a:solidFill>
                        </a:rPr>
                        <a:t>;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code of the host and the server enforces them.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5716503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79005680"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959985196" name="Ledger table"/>
          <p:cNvGraphicFramePr>
            <a:graphicFrameLocks noGrp="1"/>
          </p:cNvGraphicFramePr>
          <p:nvPr>
            <p:extLst>
              <p:ext uri="{D42A27DB-BD31-4B8C-83A1-F6EECF244321}">
                <p14:modId xmlns:p14="http://schemas.microsoft.com/office/powerpoint/2010/main" val="1801729319"/>
              </p:ext>
            </p:extLst>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them</a:t>
                      </a:r>
                      <a:r>
                        <a:rPr lang="en-US" sz="1000" b="0" dirty="0">
                          <a:solidFill>
                            <a:schemeClr val="tx1"/>
                          </a:solidFill>
                        </a:rPr>
                        <a:t>;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code of the host and the server enforces them.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93036940" name="Rectangle 3"/>
          <p:cNvSpPr/>
          <p:nvPr/>
        </p:nvSpPr>
        <p:spPr bwMode="auto">
          <a:xfrm>
            <a:off x="320040" y="3868149"/>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Descriptions and side-effect hints have no enforcer, so they rest on trust.</a:t>
            </a:r>
            <a:endParaRPr/>
          </a:p>
        </p:txBody>
      </p:sp>
      <p:sp>
        <p:nvSpPr>
          <p:cNvPr id="195998519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86846645"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678629232" name="Ledger table"/>
          <p:cNvGraphicFramePr>
            <a:graphicFrameLocks noGrp="1"/>
          </p:cNvGraphicFramePr>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it;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them;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code of the host and the server enforces them.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69471103" name="Rectangle 4"/>
          <p:cNvSpPr/>
          <p:nvPr/>
        </p:nvSpPr>
        <p:spPr bwMode="auto">
          <a:xfrm>
            <a:off x="320040" y="3301221"/>
            <a:ext cx="6016752" cy="45720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00" b="1">
                <a:solidFill>
                  <a:schemeClr val="accent4"/>
                </a:solidFill>
              </a:rPr>
              <a:t>MCP has no field for execution constraints; they live in the code of the host and the server.</a:t>
            </a:r>
            <a:endParaRPr/>
          </a:p>
        </p:txBody>
      </p:sp>
      <p:sp>
        <p:nvSpPr>
          <p:cNvPr id="276089415" name="Rectangle 3"/>
          <p:cNvSpPr/>
          <p:nvPr/>
        </p:nvSpPr>
        <p:spPr bwMode="auto">
          <a:xfrm>
            <a:off x="320040" y="3868149"/>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Descriptions and side-effect hints have no enforcer, so they rest on trust.</a:t>
            </a:r>
            <a:endParaRPr/>
          </a:p>
        </p:txBody>
      </p:sp>
      <p:sp>
        <p:nvSpPr>
          <p:cNvPr id="176947110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OWASP</a:t>
            </a:r>
            <a:r>
              <a:rPr lang="en-US" sz="1100" baseline="30000">
                <a:solidFill>
                  <a:srgbClr val="FFFFFF">
                    <a:alpha val="0"/>
                  </a:srgbClr>
                </a:solidFill>
              </a:rPr>
              <a:t>[1]</a:t>
            </a:r>
            <a:r>
              <a:rPr lang="en-US" sz="1100" b="0">
                <a:solidFill>
                  <a:srgbClr val="FFFFFF">
                    <a:alpha val="0"/>
                  </a:srgbClr>
                </a:solidFill>
              </a:rPr>
              <a:t> classifies the incident by risk category.</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ATLAS</a:t>
            </a:r>
            <a:r>
              <a:rPr lang="en-US" sz="1100" baseline="30000">
                <a:solidFill>
                  <a:srgbClr val="FFFFFF">
                    <a:alpha val="0"/>
                  </a:srgbClr>
                </a:solidFill>
              </a:rPr>
              <a:t>[2]</a:t>
            </a:r>
            <a:r>
              <a:rPr lang="en-US" sz="1100" b="0">
                <a:solidFill>
                  <a:srgbClr val="FFFFFF">
                    <a:alpha val="0"/>
                  </a:srgbClr>
                </a:solidFill>
              </a:rPr>
              <a:t> maps the attack sequence to techniques and tactics.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1.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ATLAS</a:t>
            </a:r>
            <a:r>
              <a:rPr lang="en-US" sz="1100" baseline="30000">
                <a:solidFill>
                  <a:srgbClr val="FFFFFF">
                    <a:alpha val="0"/>
                  </a:srgbClr>
                </a:solidFill>
              </a:rPr>
              <a:t>[2]</a:t>
            </a:r>
            <a:r>
              <a:rPr lang="en-US" sz="1100" b="0">
                <a:solidFill>
                  <a:srgbClr val="FFFFFF">
                    <a:alpha val="0"/>
                  </a:srgbClr>
                </a:solidFill>
              </a:rPr>
              <a:t> maps the attack sequence to techniques and tactics.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2.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ATLAS</a:t>
            </a:r>
            <a:r>
              <a:rPr lang="en-US" sz="1100" baseline="30000">
                <a:solidFill>
                  <a:srgbClr val="000000"/>
                </a:solidFill>
              </a:rPr>
              <a:t>[2]</a:t>
            </a:r>
            <a:r>
              <a:rPr lang="en-US" sz="1100" b="0">
                <a:solidFill>
                  <a:srgbClr val="000000"/>
                </a:solidFill>
              </a:rPr>
              <a:t> maps the attack sequence to techniques and tactics.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3.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ATLAS</a:t>
            </a:r>
            <a:r>
              <a:rPr lang="en-US" sz="1100" baseline="30000">
                <a:solidFill>
                  <a:srgbClr val="000000"/>
                </a:solidFill>
              </a:rPr>
              <a:t>[2]</a:t>
            </a:r>
            <a:r>
              <a:rPr lang="en-US" sz="1100" b="0">
                <a:solidFill>
                  <a:srgbClr val="000000"/>
                </a:solidFill>
              </a:rPr>
              <a:t> maps the attack sequence to techniques and tactics.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4.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ATLAS</a:t>
            </a:r>
            <a:r>
              <a:rPr lang="en-US" sz="1100" baseline="30000">
                <a:solidFill>
                  <a:srgbClr val="000000"/>
                </a:solidFill>
              </a:rPr>
              <a:t>[2]</a:t>
            </a:r>
            <a:r>
              <a:rPr lang="en-US" sz="1100" b="0">
                <a:solidFill>
                  <a:srgbClr val="000000"/>
                </a:solidFill>
              </a:rPr>
              <a:t> maps the attack sequence to techniques and tactics.</a:t>
            </a:r>
            <a:endParaRPr/>
          </a:p>
        </p:txBody>
      </p:sp>
      <p:sp>
        <p:nvSpPr>
          <p:cNvPr id="4" name="Rectangle 4"/>
          <p:cNvSpPr/>
          <p:nvPr/>
        </p:nvSpPr>
        <p:spPr bwMode="auto">
          <a:xfrm>
            <a:off x="320040" y="4232162"/>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OWASP asks which conditions make a deployment vulnerable. ATLAS records what the adversary did, step by step.</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6" name="Picture 1847912324" descr="owasp-vs-atlas-4.png"/>
          <p:cNvPicPr>
            <a:picLocks noChangeAspect="1"/>
          </p:cNvPicPr>
          <p:nvPr/>
        </p:nvPicPr>
        <p:blipFill>
          <a:blip r:embed="rId3"/>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87630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103335962"/>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138303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3782675782"/>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188976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333862890"/>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a:solidFill>
                            <a:srgbClr val="28285E"/>
                          </a:solidFill>
                        </a:rPr>
                        <a:t>The system-prompt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Workspace files that the agent's own tools can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no check existed, and a script that the agent ran appended the attacker's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267081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1459818468"/>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a:solidFill>
                            <a:srgbClr val="28285E"/>
                          </a:solidFill>
                        </a:rPr>
                        <a:t>The system-prompt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Workspace files that the agent's own tools can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no check existed, and a script that the agent ran appended the attacker's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1">
                          <a:solidFill>
                            <a:srgbClr val="28285E"/>
                          </a:solidFill>
                        </a:rPr>
                        <a:t>The model's alignment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model and its prompt format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spoofed control sequences in the page got past it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6">
                            <a:extLst>
                              <a:ext uri="{A12FA001-AC4F-418D-AE19-62706E023703}">
                                <ahyp:hlinkClr xmlns:ahyp="http://schemas.microsoft.com/office/drawing/2018/hyperlinkcolor" val="tx"/>
                              </a:ext>
                            </a:extLst>
                          </a:hlinkClick>
                        </a:rPr>
                        <a:t>Generative AI Guardrails</a:t>
                      </a:r>
                      <a:r>
                        <a:rPr lang="en-US" sz="900" b="0" dirty="0">
                          <a:solidFill>
                            <a:schemeClr val="tx1"/>
                          </a:solidFill>
                        </a:rPr>
                        <a:t>, </a:t>
                      </a:r>
                      <a:r>
                        <a:rPr lang="en-US" sz="900" b="0" u="sng" dirty="0">
                          <a:solidFill>
                            <a:schemeClr val="tx1"/>
                          </a:solidFill>
                          <a:hlinkClick r:id="rId7">
                            <a:extLst>
                              <a:ext uri="{A12FA001-AC4F-418D-AE19-62706E023703}">
                                <ahyp:hlinkClr xmlns:ahyp="http://schemas.microsoft.com/office/drawing/2018/hyperlinkcolor" val="tx"/>
                              </a:ext>
                            </a:extLst>
                          </a:hlinkClick>
                        </a:rPr>
                        <a:t>Generative AI Guidelines</a:t>
                      </a:r>
                      <a:r>
                        <a:rPr lang="en-US" sz="900" b="0" dirty="0">
                          <a:solidFill>
                            <a:schemeClr val="tx1"/>
                          </a:solidFill>
                        </a:rPr>
                        <a:t>, </a:t>
                      </a:r>
                      <a:r>
                        <a:rPr lang="en-US" sz="900" b="0" u="sng" dirty="0">
                          <a:solidFill>
                            <a:schemeClr val="tx1"/>
                          </a:solidFill>
                          <a:hlinkClick r:id="rId8">
                            <a:extLst>
                              <a:ext uri="{A12FA001-AC4F-418D-AE19-62706E023703}">
                                <ahyp:hlinkClr xmlns:ahyp="http://schemas.microsoft.com/office/drawing/2018/hyperlinkcolor" val="tx"/>
                              </a:ext>
                            </a:extLst>
                          </a:hlinkClick>
                        </a:rPr>
                        <a:t>Generative AI Model Alignment</a:t>
                      </a:r>
                      <a:r>
                        <a:rPr lang="en-US" sz="900" b="0" dirty="0">
                          <a:solidFill>
                            <a:schemeClr val="tx1"/>
                          </a:solidFill>
                        </a:rPr>
                        <a:t> and </a:t>
                      </a:r>
                      <a:r>
                        <a:rPr lang="en-US" sz="900" b="0" u="sng" dirty="0">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a:t>
                      </a:r>
                      <a:r>
                        <a:rPr lang="en-US" sz="900" b="0" u="sng" dirty="0">
                          <a:solidFill>
                            <a:schemeClr val="tx1"/>
                          </a:solidFill>
                          <a:hlinkClick r:id="rId9">
                            <a:extLst>
                              <a:ext uri="{A12FA001-AC4F-418D-AE19-62706E023703}">
                                <ahyp:hlinkClr xmlns:ahyp="http://schemas.microsoft.com/office/drawing/2018/hyperlinkcolor" val="tx"/>
                              </a:ext>
                            </a:extLst>
                          </a:hlinkClick>
                        </a:rPr>
                        <a:t>LLM Jailbreak</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failed control was a setting, a file or a model behavior that an attacker could change or get past through the Gateway API, the agent's tools or a page.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6" name="Ledger table"/>
          <p:cNvGraphicFramePr>
            <a:graphicFrameLocks noGrp="1"/>
          </p:cNvGraphicFramePr>
          <p:nvPr/>
        </p:nvGraphicFramePr>
        <p:xfrm>
          <a:off x="320040" y="1302868"/>
          <a:ext cx="6016752" cy="267081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2871209806"/>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a:solidFill>
                            <a:srgbClr val="28285E"/>
                          </a:solidFill>
                        </a:rPr>
                        <a:t>The system-prompt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Workspace files that the agent's own tools can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no check existed, and a script that the agent ran appended the attacker's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1">
                          <a:solidFill>
                            <a:srgbClr val="28285E"/>
                          </a:solidFill>
                        </a:rPr>
                        <a:t>The model's alignment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model and its prompt format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spoofed control sequences in the page got past it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6">
                            <a:extLst>
                              <a:ext uri="{A12FA001-AC4F-418D-AE19-62706E023703}">
                                <ahyp:hlinkClr xmlns:ahyp="http://schemas.microsoft.com/office/drawing/2018/hyperlinkcolor" val="tx"/>
                              </a:ext>
                            </a:extLst>
                          </a:hlinkClick>
                        </a:rPr>
                        <a:t>Generative AI Guardrails</a:t>
                      </a:r>
                      <a:r>
                        <a:rPr lang="en-US" sz="900" b="0" dirty="0">
                          <a:solidFill>
                            <a:schemeClr val="tx1"/>
                          </a:solidFill>
                        </a:rPr>
                        <a:t>, </a:t>
                      </a:r>
                      <a:r>
                        <a:rPr lang="en-US" sz="900" b="0" u="sng" dirty="0">
                          <a:solidFill>
                            <a:schemeClr val="tx1"/>
                          </a:solidFill>
                          <a:hlinkClick r:id="rId7">
                            <a:extLst>
                              <a:ext uri="{A12FA001-AC4F-418D-AE19-62706E023703}">
                                <ahyp:hlinkClr xmlns:ahyp="http://schemas.microsoft.com/office/drawing/2018/hyperlinkcolor" val="tx"/>
                              </a:ext>
                            </a:extLst>
                          </a:hlinkClick>
                        </a:rPr>
                        <a:t>Generative AI Guidelines</a:t>
                      </a:r>
                      <a:r>
                        <a:rPr lang="en-US" sz="900" b="0" dirty="0">
                          <a:solidFill>
                            <a:schemeClr val="tx1"/>
                          </a:solidFill>
                        </a:rPr>
                        <a:t>, </a:t>
                      </a:r>
                      <a:r>
                        <a:rPr lang="en-US" sz="900" b="0" u="sng" dirty="0">
                          <a:solidFill>
                            <a:schemeClr val="tx1"/>
                          </a:solidFill>
                          <a:hlinkClick r:id="rId8">
                            <a:extLst>
                              <a:ext uri="{A12FA001-AC4F-418D-AE19-62706E023703}">
                                <ahyp:hlinkClr xmlns:ahyp="http://schemas.microsoft.com/office/drawing/2018/hyperlinkcolor" val="tx"/>
                              </a:ext>
                            </a:extLst>
                          </a:hlinkClick>
                        </a:rPr>
                        <a:t>Generative AI Model Alignment</a:t>
                      </a:r>
                      <a:r>
                        <a:rPr lang="en-US" sz="900" b="0" dirty="0">
                          <a:solidFill>
                            <a:schemeClr val="tx1"/>
                          </a:solidFill>
                        </a:rPr>
                        <a:t> and </a:t>
                      </a:r>
                      <a:r>
                        <a:rPr lang="en-US" sz="900" b="0" u="sng" dirty="0">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a:t>
                      </a:r>
                      <a:r>
                        <a:rPr lang="en-US" sz="900" b="0" u="sng" dirty="0">
                          <a:solidFill>
                            <a:schemeClr val="tx1"/>
                          </a:solidFill>
                          <a:hlinkClick r:id="rId9">
                            <a:extLst>
                              <a:ext uri="{A12FA001-AC4F-418D-AE19-62706E023703}">
                                <ahyp:hlinkClr xmlns:ahyp="http://schemas.microsoft.com/office/drawing/2018/hyperlinkcolor" val="tx"/>
                              </a:ext>
                            </a:extLst>
                          </a:hlinkClick>
                        </a:rPr>
                        <a:t>LLM Jailbreak</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dirty="0">
                <a:solidFill>
                  <a:schemeClr val="bg1"/>
                </a:solidFill>
                <a:latin typeface="Arial"/>
              </a:rPr>
              <a:t>The enforcement point</a:t>
            </a:r>
            <a:endParaRPr dirty="0"/>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An MCP server under the Inspector</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OWASP and MITRE ATLAS</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enforcement point</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dirty="0">
                <a:solidFill>
                  <a:schemeClr val="tx2"/>
                </a:solidFill>
                <a:latin typeface="Arial"/>
              </a:rPr>
              <a:t>OpenShell and the sandbox research</a:t>
            </a:r>
            <a:endParaRPr dirty="0"/>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pic>
        <p:nvPicPr>
          <p:cNvPr id="14" name="Picture 13" descr="image.png"/>
          <p:cNvPicPr>
            <a:picLocks noChangeAspect="1"/>
          </p:cNvPicPr>
          <p:nvPr/>
        </p:nvPicPr>
        <p:blipFill rotWithShape="1">
          <a:blip r:embed="rId3">
            <a:alphaModFix amt="70000"/>
          </a:blip>
          <a:stretch/>
        </p:blipFill>
        <p:spPr bwMode="auto">
          <a:xfrm>
            <a:off x="822960" y="1872409"/>
            <a:ext cx="5733288" cy="1540695"/>
          </a:xfrm>
          <a:prstGeom prst="rect">
            <a:avLst/>
          </a:prstGeom>
        </p:spPr>
      </p:pic>
      <p:pic>
        <p:nvPicPr>
          <p:cNvPr id="15" name="Picture 13" descr="image.png"/>
          <p:cNvPicPr>
            <a:picLocks noChangeAspect="1"/>
          </p:cNvPicPr>
          <p:nvPr/>
        </p:nvPicPr>
        <p:blipFill rotWithShape="1">
          <a:blip r:embed="rId3">
            <a:alphaModFix amt="70000"/>
          </a:blip>
          <a:stretch/>
        </p:blipFill>
        <p:spPr bwMode="auto">
          <a:xfrm>
            <a:off x="822960" y="3870212"/>
            <a:ext cx="5733288" cy="66498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Alignment is the other.</a:t>
            </a:r>
            <a:r>
              <a:rPr lang="en-US" sz="1200" b="0">
                <a:solidFill>
                  <a:srgbClr val="FFFFFF">
                    <a:alpha val="0"/>
                  </a:srgbClr>
                </a:solidFill>
              </a:rPr>
              <a:t> </a:t>
            </a:r>
            <a:r>
              <a:rPr lang="en-US" sz="1200" b="0" u="sng">
                <a:solidFill>
                  <a:srgbClr val="FFFFFF">
                    <a:alpha val="0"/>
                  </a:srgbClr>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FFFFFF">
                    <a:alpha val="0"/>
                  </a:srgbClr>
                </a:solidFill>
              </a:rPr>
              <a:t> trains or fine-tunes a generative model toward safe, in-scope behavior.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Both live in the prompt or the weights,</a:t>
            </a:r>
            <a:r>
              <a:rPr lang="en-US" sz="1200" b="0">
                <a:solidFill>
                  <a:srgbClr val="FFFFFF">
                    <a:alpha val="0"/>
                  </a:srgbClr>
                </a:solidFill>
              </a:rPr>
              <a:t> so the model itself carries them.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2026 study tests that placement</a:t>
            </a:r>
            <a:r>
              <a:rPr lang="en-US" sz="1200" b="0">
                <a:solidFill>
                  <a:srgbClr val="FFFFFF">
                    <a:alpha val="0"/>
                  </a:srgbClr>
                </a:solidFill>
              </a:rPr>
              <a:t> on multimodal models that use tools to answer harmful image requests.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Both live in the prompt or the weights,</a:t>
            </a:r>
            <a:r>
              <a:rPr lang="en-US" sz="1200" b="0">
                <a:solidFill>
                  <a:srgbClr val="FFFFFF">
                    <a:alpha val="0"/>
                  </a:srgbClr>
                </a:solidFill>
              </a:rPr>
              <a:t> so the model itself carries them.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2026 study tests that placement</a:t>
            </a:r>
            <a:r>
              <a:rPr lang="en-US" sz="1200" b="0">
                <a:solidFill>
                  <a:srgbClr val="FFFFFF">
                    <a:alpha val="0"/>
                  </a:srgbClr>
                </a:solidFill>
              </a:rPr>
              <a:t> on multimodal models that use tools to answer harmful image requests.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Both live in the prompt or the weights,</a:t>
            </a:r>
            <a:r>
              <a:rPr lang="en-US" sz="1200" b="0">
                <a:solidFill>
                  <a:srgbClr val="000000"/>
                </a:solidFill>
              </a:rPr>
              <a:t> so the model itself carries them.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2026 study tests that placement</a:t>
            </a:r>
            <a:r>
              <a:rPr lang="en-US" sz="1200" b="0">
                <a:solidFill>
                  <a:srgbClr val="FFFFFF">
                    <a:alpha val="0"/>
                  </a:srgbClr>
                </a:solidFill>
              </a:rPr>
              <a:t> on multimodal models that use tools to answer harmful image requests.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Both live in the prompt or the weights,</a:t>
            </a:r>
            <a:r>
              <a:rPr lang="en-US" sz="1200" b="0">
                <a:solidFill>
                  <a:srgbClr val="000000"/>
                </a:solidFill>
              </a:rPr>
              <a:t> so the model itself carries them.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2026 study tests that placement</a:t>
            </a:r>
            <a:r>
              <a:rPr lang="en-US" sz="1200" b="0">
                <a:solidFill>
                  <a:srgbClr val="000000"/>
                </a:solidFill>
              </a:rPr>
              <a:t> on multimodal models that use tools to answer harmful image requests.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Both live in the prompt or the weights,</a:t>
            </a:r>
            <a:r>
              <a:rPr lang="en-US" sz="1200" b="0">
                <a:solidFill>
                  <a:srgbClr val="000000"/>
                </a:solidFill>
              </a:rPr>
              <a:t> so the model itself carries them.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2026 study tests that placement</a:t>
            </a:r>
            <a:r>
              <a:rPr lang="en-US" sz="1200" b="0">
                <a:solidFill>
                  <a:srgbClr val="000000"/>
                </a:solidFill>
              </a:rPr>
              <a:t> on multimodal models that use tools to answer harmful image requests.</a:t>
            </a:r>
            <a:endParaRPr/>
          </a:p>
        </p:txBody>
      </p:sp>
      <p:sp>
        <p:nvSpPr>
          <p:cNvPr id="4" name="Rectangle 4"/>
          <p:cNvSpPr/>
          <p:nvPr/>
        </p:nvSpPr>
        <p:spPr bwMode="auto">
          <a:xfrm>
            <a:off x="320040" y="2784233"/>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rule that lives in the model depends on the model's behavior, so a measurement of that behavior under tool use tests the placement.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treatment:</a:t>
            </a:r>
            <a:r>
              <a:rPr lang="en-US" sz="1200" b="0">
                <a:solidFill>
                  <a:srgbClr val="FFFFFF">
                    <a:alpha val="0"/>
                  </a:srgbClr>
                </a:solidFill>
              </a:rPr>
              <a:t> the same model uses four tools in a ReACT loop.</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measure:</a:t>
            </a:r>
            <a:r>
              <a:rPr lang="en-US" sz="1200" b="0">
                <a:solidFill>
                  <a:srgbClr val="FFFFFF">
                    <a:alpha val="0"/>
                  </a:srgbClr>
                </a:solidFill>
              </a:rPr>
              <a:t> the share of harmful requests it fails to refuse.</a:t>
            </a:r>
            <a:r>
              <a:rPr lang="en-US" sz="1200" b="0" baseline="30000">
                <a:solidFill>
                  <a:srgbClr val="FFFFFF">
                    <a:alpha val="0"/>
                  </a:srgbClr>
                </a:solidFill>
              </a:rPr>
              <a:t>[1]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setup-1.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treatment:</a:t>
            </a:r>
            <a:r>
              <a:rPr lang="en-US" sz="1200" b="0">
                <a:solidFill>
                  <a:srgbClr val="000000"/>
                </a:solidFill>
              </a:rPr>
              <a:t> the same model uses four tools in a ReACT loop.</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measure:</a:t>
            </a:r>
            <a:r>
              <a:rPr lang="en-US" sz="1200" b="0">
                <a:solidFill>
                  <a:srgbClr val="FFFFFF">
                    <a:alpha val="0"/>
                  </a:srgbClr>
                </a:solidFill>
              </a:rPr>
              <a:t> the share of harmful requests it fails to refuse.</a:t>
            </a:r>
            <a:r>
              <a:rPr lang="en-US" sz="1200" b="0" baseline="30000">
                <a:solidFill>
                  <a:srgbClr val="FFFFFF">
                    <a:alpha val="0"/>
                  </a:srgbClr>
                </a:solidFill>
              </a:rPr>
              <a:t>[1]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setup-2.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treatment:</a:t>
            </a:r>
            <a:r>
              <a:rPr lang="en-US" sz="1200" b="0">
                <a:solidFill>
                  <a:srgbClr val="000000"/>
                </a:solidFill>
              </a:rPr>
              <a:t> the same model uses four tools in a ReACT loop.</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measure:</a:t>
            </a:r>
            <a:r>
              <a:rPr lang="en-US" sz="1200" b="0">
                <a:solidFill>
                  <a:srgbClr val="000000"/>
                </a:solidFill>
              </a:rPr>
              <a:t> the share of harmful requests it fails to refuse.</a:t>
            </a:r>
            <a:r>
              <a:rPr lang="en-US" sz="1200" b="0" baseline="30000">
                <a:solidFill>
                  <a:srgbClr val="000000"/>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setup-3.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treatment:</a:t>
            </a:r>
            <a:r>
              <a:rPr lang="en-US" sz="1200" b="0">
                <a:solidFill>
                  <a:srgbClr val="000000"/>
                </a:solidFill>
              </a:rPr>
              <a:t> the same model uses four tools in a ReACT loop.</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measure:</a:t>
            </a:r>
            <a:r>
              <a:rPr lang="en-US" sz="1200" b="0">
                <a:solidFill>
                  <a:srgbClr val="000000"/>
                </a:solidFill>
              </a:rPr>
              <a:t> the share of harmful requests it fails to refuse.</a:t>
            </a:r>
            <a:r>
              <a:rPr lang="en-US" sz="1200" b="0" baseline="30000">
                <a:solidFill>
                  <a:srgbClr val="000000"/>
                </a:solidFill>
              </a:rPr>
              <a:t>[1]</a:t>
            </a:r>
            <a:endParaRPr/>
          </a:p>
        </p:txBody>
      </p:sp>
      <p:sp>
        <p:nvSpPr>
          <p:cNvPr id="4" name="Rectangle 4"/>
          <p:cNvSpPr/>
          <p:nvPr/>
        </p:nvSpPr>
        <p:spPr bwMode="auto">
          <a:xfrm>
            <a:off x="320040" y="4103226"/>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model runs twice, with and without the tool loop, and the study counts the harmful requests it fails to refuse.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setup-3.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All 11 models</a:t>
            </a:r>
            <a:r>
              <a:rPr lang="en-US" sz="1200" baseline="30000">
                <a:solidFill>
                  <a:srgbClr val="FFFFFF">
                    <a:alpha val="0"/>
                  </a:srgbClr>
                </a:solidFill>
              </a:rPr>
              <a:t>[1]</a:t>
            </a:r>
            <a:r>
              <a:rPr lang="en-US" sz="1200" b="0">
                <a:solidFill>
                  <a:srgbClr val="FFFFFF">
                    <a:alpha val="0"/>
                  </a:srgbClr>
                </a:solidFill>
              </a:rPr>
              <a:t> fail to refuse more often with tools.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average rises 5.7 points,</a:t>
            </a:r>
            <a:r>
              <a:rPr lang="en-US" sz="1200" b="0">
                <a:solidFill>
                  <a:srgbClr val="FFFFFF">
                    <a:alpha val="0"/>
                  </a:srgbClr>
                </a:solidFill>
              </a:rPr>
              <a:t> from 32.3% to 38.0%.</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Groups:</a:t>
            </a:r>
            <a:r>
              <a:rPr lang="en-US" sz="1200" b="0">
                <a:solidFill>
                  <a:srgbClr val="FFFFFF">
                    <a:alpha val="0"/>
                  </a:srgbClr>
                </a:solidFill>
              </a:rPr>
              <a:t> proprietary 22.1% to 26.3%, open-weight 40.7% to 47.7%.</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1.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average rises 5.7 points,</a:t>
            </a:r>
            <a:r>
              <a:rPr lang="en-US" sz="1200" b="0">
                <a:solidFill>
                  <a:srgbClr val="FFFFFF">
                    <a:alpha val="0"/>
                  </a:srgbClr>
                </a:solidFill>
              </a:rPr>
              <a:t> from 32.3% to 38.0%.</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Groups:</a:t>
            </a:r>
            <a:r>
              <a:rPr lang="en-US" sz="1200" b="0">
                <a:solidFill>
                  <a:srgbClr val="FFFFFF">
                    <a:alpha val="0"/>
                  </a:srgbClr>
                </a:solidFill>
              </a:rPr>
              <a:t> proprietary 22.1% to 26.3%, open-weight 40.7% to 47.7%.</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2.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Groups:</a:t>
            </a:r>
            <a:r>
              <a:rPr lang="en-US" sz="1200" b="0">
                <a:solidFill>
                  <a:srgbClr val="FFFFFF">
                    <a:alpha val="0"/>
                  </a:srgbClr>
                </a:solidFill>
              </a:rPr>
              <a:t> proprietary 22.1% to 26.3%, open-weight 40.7% to 47.7%.</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3.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Groups:</a:t>
            </a:r>
            <a:r>
              <a:rPr lang="en-US" sz="1200" b="0">
                <a:solidFill>
                  <a:srgbClr val="000000"/>
                </a:solidFill>
              </a:rPr>
              <a:t> proprietary 22.1% to 26.3%, open-weight 40.7% to 47.7%.</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3.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Groups:</a:t>
            </a:r>
            <a:r>
              <a:rPr lang="en-US" sz="1200" b="0">
                <a:solidFill>
                  <a:srgbClr val="000000"/>
                </a:solidFill>
              </a:rPr>
              <a:t> proprietary 22.1% to 26.3%, open-weight 40.7% to 47.7%.</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Claude Opus 4.6,</a:t>
            </a:r>
            <a:r>
              <a:rPr lang="en-US" sz="1200" b="0">
                <a:solidFill>
                  <a:srgbClr val="000000"/>
                </a:solidFill>
              </a:rPr>
              <a:t> the lowest without tools, moves from 13.6% to 18.1%.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4.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Groups:</a:t>
            </a:r>
            <a:r>
              <a:rPr lang="en-US" sz="1200" b="0">
                <a:solidFill>
                  <a:srgbClr val="000000"/>
                </a:solidFill>
              </a:rPr>
              <a:t> proprietary 22.1% to 26.3%, open-weight 40.7% to 47.7%.</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Claude Opus 4.6,</a:t>
            </a:r>
            <a:r>
              <a:rPr lang="en-US" sz="1200" b="0">
                <a:solidFill>
                  <a:srgbClr val="000000"/>
                </a:solidFill>
              </a:rPr>
              <a:t> the lowest without tools, moves from 13.6% to 18.1%.</a:t>
            </a:r>
            <a:endParaRPr/>
          </a:p>
        </p:txBody>
      </p:sp>
      <p:sp>
        <p:nvSpPr>
          <p:cNvPr id="4" name="Rectangle 4"/>
          <p:cNvSpPr/>
          <p:nvPr/>
        </p:nvSpPr>
        <p:spPr bwMode="auto">
          <a:xfrm>
            <a:off x="320040" y="4224528"/>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Tool use increased refusal failure rates across all 11 evaluated models.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rfr-4.png"/>
          <p:cNvPicPr>
            <a:picLocks noChangeAspect="1"/>
          </p:cNvPicPr>
          <p:nvPr/>
        </p:nvPicPr>
        <p:blipFill>
          <a:blip r:embed="rId3"/>
          <a:stretch>
            <a:fillRect/>
          </a:stretch>
        </p:blipFill>
        <p:spPr>
          <a:xfrm>
            <a:off x="320040" y="1940016"/>
            <a:ext cx="6016752" cy="2036439"/>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No call:</a:t>
            </a:r>
            <a:r>
              <a:rPr lang="en-US" sz="1200" b="0">
                <a:solidFill>
                  <a:srgbClr val="FFFFFF">
                    <a:alpha val="0"/>
                  </a:srgbClr>
                </a:solidFill>
              </a:rPr>
              <a:t> 11.8%. </a:t>
            </a:r>
            <a:r>
              <a:rPr lang="en-US" sz="1200" b="1">
                <a:solidFill>
                  <a:srgbClr val="FFFFFF">
                    <a:alpha val="0"/>
                  </a:srgbClr>
                </a:solidFill>
              </a:rPr>
              <a:t>Three or more calls:</a:t>
            </a:r>
            <a:r>
              <a:rPr lang="en-US" sz="1200" b="0">
                <a:solidFill>
                  <a:srgbClr val="FFFFFF">
                    <a:alpha val="0"/>
                  </a:srgbClr>
                </a:solidFill>
              </a:rPr>
              <a:t> 37.1%.</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1.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2.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3.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4.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picks how many calls,</a:t>
            </a:r>
            <a:r>
              <a:rPr lang="en-US" sz="1200" b="0">
                <a:solidFill>
                  <a:srgbClr val="000000"/>
                </a:solidFill>
              </a:rPr>
              <a:t> so the data is observational.</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5.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picks how many calls,</a:t>
            </a:r>
            <a:r>
              <a:rPr lang="en-US" sz="1200" b="0">
                <a:solidFill>
                  <a:srgbClr val="000000"/>
                </a:solidFill>
              </a:rPr>
              <a:t> so the data is observational.</a:t>
            </a:r>
            <a:endParaRPr/>
          </a:p>
        </p:txBody>
      </p:sp>
      <p:sp>
        <p:nvSpPr>
          <p:cNvPr id="4" name="Rectangle 4"/>
          <p:cNvSpPr/>
          <p:nvPr/>
        </p:nvSpPr>
        <p:spPr bwMode="auto">
          <a:xfrm>
            <a:off x="320040" y="414349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Among requests that the model refused without tools, the failures grow with the number of tool calls it makes.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calls-5.png"/>
          <p:cNvPicPr>
            <a:picLocks noChangeAspect="1"/>
          </p:cNvPicPr>
          <p:nvPr/>
        </p:nvPicPr>
        <p:blipFill>
          <a:blip r:embed="rId3"/>
          <a:stretch>
            <a:fillRect/>
          </a:stretch>
        </p:blipFill>
        <p:spPr>
          <a:xfrm>
            <a:off x="320040" y="1855675"/>
            <a:ext cx="6016752" cy="2036439"/>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minimal prompt adds 3.8 points,</a:t>
            </a:r>
            <a:r>
              <a:rPr lang="en-US" sz="1200" b="0">
                <a:solidFill>
                  <a:srgbClr val="FFFFFF">
                    <a:alpha val="0"/>
                  </a:srgbClr>
                </a:solidFill>
              </a:rPr>
              <a:t> the structured one 4.2.</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Gemini's native Agentic Vision</a:t>
            </a:r>
            <a:r>
              <a:rPr lang="en-US" sz="1200" b="0">
                <a:solidFill>
                  <a:srgbClr val="FFFFFF">
                    <a:alpha val="0"/>
                  </a:srgbClr>
                </a:solidFill>
              </a:rPr>
              <a:t> adds 15.2 points.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controls-1.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minimal prompt adds 3.8 points,</a:t>
            </a:r>
            <a:r>
              <a:rPr lang="en-US" sz="1200" b="0">
                <a:solidFill>
                  <a:srgbClr val="000000"/>
                </a:solidFill>
              </a:rPr>
              <a:t> the structured one 4.2.</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Gemini's native Agentic Vision</a:t>
            </a:r>
            <a:r>
              <a:rPr lang="en-US" sz="1200" b="0">
                <a:solidFill>
                  <a:srgbClr val="FFFFFF">
                    <a:alpha val="0"/>
                  </a:srgbClr>
                </a:solidFill>
              </a:rPr>
              <a:t> adds 15.2 points.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controls-2.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minimal prompt adds 3.8 points,</a:t>
            </a:r>
            <a:r>
              <a:rPr lang="en-US" sz="1200" b="0">
                <a:solidFill>
                  <a:srgbClr val="000000"/>
                </a:solidFill>
              </a:rPr>
              <a:t> the structured one 4.2.</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Gemini's native Agentic Vision</a:t>
            </a:r>
            <a:r>
              <a:rPr lang="en-US" sz="1200" b="0">
                <a:solidFill>
                  <a:srgbClr val="000000"/>
                </a:solidFill>
              </a:rPr>
              <a:t> adds 15.2 points.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controls-3.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minimal prompt adds 3.8 points,</a:t>
            </a:r>
            <a:r>
              <a:rPr lang="en-US" sz="1200" b="0">
                <a:solidFill>
                  <a:srgbClr val="000000"/>
                </a:solidFill>
              </a:rPr>
              <a:t> the structured one 4.2.</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Gemini's native Agentic Vision</a:t>
            </a:r>
            <a:r>
              <a:rPr lang="en-US" sz="1200" b="0">
                <a:solidFill>
                  <a:srgbClr val="000000"/>
                </a:solidFill>
              </a:rPr>
              <a:t> adds 15.2 points.</a:t>
            </a:r>
            <a:endParaRPr/>
          </a:p>
        </p:txBody>
      </p:sp>
      <p:sp>
        <p:nvSpPr>
          <p:cNvPr id="4" name="Rectangle 4"/>
          <p:cNvSpPr/>
          <p:nvPr/>
        </p:nvSpPr>
        <p:spPr bwMode="auto">
          <a:xfrm>
            <a:off x="320040" y="4052054"/>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loss of refusals appears when the tool output is fake, when the prompt changes, and when the tools are not the authors' own.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controls-3.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Context dilution:</a:t>
            </a:r>
            <a:r>
              <a:rPr lang="en-US" sz="1200" b="0">
                <a:solidFill>
                  <a:srgbClr val="FFFFFF">
                    <a:alpha val="0"/>
                  </a:srgbClr>
                </a:solidFill>
              </a:rPr>
              <a:t> each output pushes the request back.</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Failures rise</a:t>
            </a:r>
            <a:r>
              <a:rPr lang="en-US" sz="1200" b="0">
                <a:solidFill>
                  <a:srgbClr val="FFFFFF">
                    <a:alpha val="0"/>
                  </a:srgbClr>
                </a:solidFill>
              </a:rPr>
              <a:t> from 11.8% to 37.1% as calls increase.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focus displacement:</a:t>
            </a:r>
            <a:r>
              <a:rPr lang="en-US" sz="1200" b="0">
                <a:solidFill>
                  <a:srgbClr val="FFFFFF">
                    <a:alpha val="0"/>
                  </a:srgbClr>
                </a:solidFill>
              </a:rPr>
              <a:t> safety openings fall from 25.8% to 10.3%.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1.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Failures rise</a:t>
            </a:r>
            <a:r>
              <a:rPr lang="en-US" sz="1200" b="0">
                <a:solidFill>
                  <a:srgbClr val="FFFFFF">
                    <a:alpha val="0"/>
                  </a:srgbClr>
                </a:solidFill>
              </a:rPr>
              <a:t> from 11.8% to 37.1% as calls increase.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focus displacement:</a:t>
            </a:r>
            <a:r>
              <a:rPr lang="en-US" sz="1200" b="0">
                <a:solidFill>
                  <a:srgbClr val="FFFFFF">
                    <a:alpha val="0"/>
                  </a:srgbClr>
                </a:solidFill>
              </a:rPr>
              <a:t> safety openings fall from 25.8% to 10.3%.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2.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Failures rise</a:t>
            </a:r>
            <a:r>
              <a:rPr lang="en-US" sz="1200" b="0">
                <a:solidFill>
                  <a:srgbClr val="000000"/>
                </a:solidFill>
              </a:rPr>
              <a:t> from 11.8% to 37.1% as calls increase.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focus displacement:</a:t>
            </a:r>
            <a:r>
              <a:rPr lang="en-US" sz="1200" b="0">
                <a:solidFill>
                  <a:srgbClr val="FFFFFF">
                    <a:alpha val="0"/>
                  </a:srgbClr>
                </a:solidFill>
              </a:rPr>
              <a:t> safety openings fall from 25.8% to 10.3%.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3.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Failures rise</a:t>
            </a:r>
            <a:r>
              <a:rPr lang="en-US" sz="1200" b="0">
                <a:solidFill>
                  <a:srgbClr val="000000"/>
                </a:solidFill>
              </a:rPr>
              <a:t> from 11.8% to 37.1% as calls increase.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focus displacement:</a:t>
            </a:r>
            <a:r>
              <a:rPr lang="en-US" sz="1200" b="0">
                <a:solidFill>
                  <a:srgbClr val="000000"/>
                </a:solidFill>
              </a:rPr>
              <a:t> safety openings fall from 25.8% to 10.3%.</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4.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Failures rise</a:t>
            </a:r>
            <a:r>
              <a:rPr lang="en-US" sz="1200" b="0">
                <a:solidFill>
                  <a:srgbClr val="000000"/>
                </a:solidFill>
              </a:rPr>
              <a:t> from 11.8% to 37.1% as calls increase.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focus displacement:</a:t>
            </a:r>
            <a:r>
              <a:rPr lang="en-US" sz="1200" b="0">
                <a:solidFill>
                  <a:srgbClr val="000000"/>
                </a:solidFill>
              </a:rPr>
              <a:t> safety openings fall from 25.8% to 10.3%.</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authors propose that tool observations dilute the request and displace safety statements in the answer.</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dilution-4.png"/>
          <p:cNvPicPr>
            <a:picLocks noChangeAspect="1"/>
          </p:cNvPicPr>
          <p:nvPr/>
        </p:nvPicPr>
        <p:blipFill>
          <a:blip r:embed="rId3"/>
          <a:stretch>
            <a:fillRect/>
          </a:stretch>
        </p:blipFill>
        <p:spPr>
          <a:xfrm>
            <a:off x="320040" y="1940016"/>
            <a:ext cx="6016752" cy="2066474"/>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Without tools,</a:t>
            </a:r>
            <a:r>
              <a:rPr lang="en-US" sz="1200" baseline="30000">
                <a:solidFill>
                  <a:srgbClr val="FFFFFF">
                    <a:alpha val="0"/>
                  </a:srgbClr>
                </a:solidFill>
              </a:rPr>
              <a:t>[1]</a:t>
            </a:r>
            <a:r>
              <a:rPr lang="en-US" sz="1200" b="0">
                <a:solidFill>
                  <a:srgbClr val="FFFFFF">
                    <a:alpha val="0"/>
                  </a:srgbClr>
                </a:solidFill>
              </a:rPr>
              <a:t> most refusals open with a direct answer: 55.6%.</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statements</a:t>
            </a:r>
            <a:r>
              <a:rPr lang="en-US" sz="1200" b="0">
                <a:solidFill>
                  <a:srgbClr val="FFFFFF">
                    <a:alpha val="0"/>
                  </a:srgbClr>
                </a:solidFill>
              </a:rPr>
              <a:t> fall from 25.8% to 10.3% of openings.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Observation summaries</a:t>
            </a:r>
            <a:r>
              <a:rPr lang="en-US" sz="1200" b="0">
                <a:solidFill>
                  <a:srgbClr val="FFFFFF">
                    <a:alpha val="0"/>
                  </a:srgbClr>
                </a:solidFill>
              </a:rPr>
              <a:t> rise from 20.3% to 52.3%.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1.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statements</a:t>
            </a:r>
            <a:r>
              <a:rPr lang="en-US" sz="1200" b="0">
                <a:solidFill>
                  <a:srgbClr val="FFFFFF">
                    <a:alpha val="0"/>
                  </a:srgbClr>
                </a:solidFill>
              </a:rPr>
              <a:t> fall from 25.8% to 10.3% of openings.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Observation summaries</a:t>
            </a:r>
            <a:r>
              <a:rPr lang="en-US" sz="1200" b="0">
                <a:solidFill>
                  <a:srgbClr val="FFFFFF">
                    <a:alpha val="0"/>
                  </a:srgbClr>
                </a:solidFill>
              </a:rPr>
              <a:t> rise from 20.3% to 52.3%.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2.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statements</a:t>
            </a:r>
            <a:r>
              <a:rPr lang="en-US" sz="1200" b="0">
                <a:solidFill>
                  <a:srgbClr val="000000"/>
                </a:solidFill>
              </a:rPr>
              <a:t> fall from 25.8% to 10.3% of openings.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Observation summaries</a:t>
            </a:r>
            <a:r>
              <a:rPr lang="en-US" sz="1200" b="0">
                <a:solidFill>
                  <a:srgbClr val="FFFFFF">
                    <a:alpha val="0"/>
                  </a:srgbClr>
                </a:solidFill>
              </a:rPr>
              <a:t> rise from 20.3% to 52.3%.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3.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statements</a:t>
            </a:r>
            <a:r>
              <a:rPr lang="en-US" sz="1200" b="0">
                <a:solidFill>
                  <a:srgbClr val="000000"/>
                </a:solidFill>
              </a:rPr>
              <a:t> fall from 25.8% to 10.3% of openings.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Observation summaries</a:t>
            </a:r>
            <a:r>
              <a:rPr lang="en-US" sz="1200" b="0">
                <a:solidFill>
                  <a:srgbClr val="000000"/>
                </a:solidFill>
              </a:rPr>
              <a:t> rise from 20.3% to 52.3%.</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4.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statements</a:t>
            </a:r>
            <a:r>
              <a:rPr lang="en-US" sz="1200" b="0">
                <a:solidFill>
                  <a:srgbClr val="000000"/>
                </a:solidFill>
              </a:rPr>
              <a:t> fall from 25.8% to 10.3% of openings.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Observation summaries</a:t>
            </a:r>
            <a:r>
              <a:rPr lang="en-US" sz="1200" b="0">
                <a:solidFill>
                  <a:srgbClr val="000000"/>
                </a:solidFill>
              </a:rPr>
              <a:t> rise from 20.3% to 52.3%.</a:t>
            </a:r>
            <a:endParaRPr/>
          </a:p>
        </p:txBody>
      </p:sp>
      <p:sp>
        <p:nvSpPr>
          <p:cNvPr id="4" name="Rectangle 4"/>
          <p:cNvSpPr/>
          <p:nvPr/>
        </p:nvSpPr>
        <p:spPr bwMode="auto">
          <a:xfrm>
            <a:off x="320040" y="4052054"/>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With tools, most refusals open by describing the image or a tool's output, and fewer open with a safety statement.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openers-4.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 restates the image and question</a:t>
            </a:r>
            <a:r>
              <a:rPr lang="en-US" sz="1200" b="0">
                <a:solidFill>
                  <a:srgbClr val="FFFFFF">
                    <a:alpha val="0"/>
                  </a:srgbClr>
                </a:solidFill>
              </a:rPr>
              <a:t> with no safety wording.</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answers again</a:t>
            </a:r>
            <a:r>
              <a:rPr lang="en-US" sz="1200" b="0">
                <a:solidFill>
                  <a:srgbClr val="FFFFFF">
                    <a:alpha val="0"/>
                  </a:srgbClr>
                </a:solidFill>
              </a:rPr>
              <a:t> with tools switched off.</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models: failures fall from 35.9% to 32.4%</a:t>
            </a:r>
            <a:r>
              <a:rPr lang="en-US" sz="1200" b="0">
                <a:solidFill>
                  <a:srgbClr val="FFFFFF">
                    <a:alpha val="0"/>
                  </a:srgbClr>
                </a:solidFill>
              </a:rPr>
              <a:t>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2.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answers again</a:t>
            </a:r>
            <a:r>
              <a:rPr lang="en-US" sz="1200" b="0">
                <a:solidFill>
                  <a:srgbClr val="FFFFFF">
                    <a:alpha val="0"/>
                  </a:srgbClr>
                </a:solidFill>
              </a:rPr>
              <a:t> with tools switched off.</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models: failures fall from 35.9% to 32.4%</a:t>
            </a:r>
            <a:r>
              <a:rPr lang="en-US" sz="1200" b="0">
                <a:solidFill>
                  <a:srgbClr val="FFFFFF">
                    <a:alpha val="0"/>
                  </a:srgbClr>
                </a:solidFill>
              </a:rPr>
              <a:t>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3.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answers again</a:t>
            </a:r>
            <a:r>
              <a:rPr lang="en-US" sz="1200" b="0">
                <a:solidFill>
                  <a:srgbClr val="000000"/>
                </a:solidFill>
              </a:rPr>
              <a:t> with tools switched off.</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models: failures fall from 35.9% to 32.4%</a:t>
            </a:r>
            <a:r>
              <a:rPr lang="en-US" sz="1200" b="0">
                <a:solidFill>
                  <a:srgbClr val="FFFFFF">
                    <a:alpha val="0"/>
                  </a:srgbClr>
                </a:solidFill>
              </a:rPr>
              <a:t>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4.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answers again</a:t>
            </a:r>
            <a:r>
              <a:rPr lang="en-US" sz="1200" b="0">
                <a:solidFill>
                  <a:srgbClr val="000000"/>
                </a:solidFill>
              </a:rPr>
              <a:t> with tools switched off.</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Five models: failures fall from 35.9% to 32.4%</a:t>
            </a:r>
            <a:r>
              <a:rPr lang="en-US" sz="1200" b="0">
                <a:solidFill>
                  <a:srgbClr val="000000"/>
                </a:solidFill>
              </a:rPr>
              <a:t> (30.0% without tools).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5.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answers again</a:t>
            </a:r>
            <a:r>
              <a:rPr lang="en-US" sz="1200" b="0">
                <a:solidFill>
                  <a:srgbClr val="000000"/>
                </a:solidFill>
              </a:rPr>
              <a:t> with tools switched off.</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Five models: failures fall from 35.9% to 32.4%</a:t>
            </a:r>
            <a:r>
              <a:rPr lang="en-US" sz="1200" b="0">
                <a:solidFill>
                  <a:srgbClr val="000000"/>
                </a:solidFill>
              </a:rPr>
              <a:t> (30.0% without tools).</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Re-asking restores part of the refusals. Refusal failure rates remained above the no-tool baseline for each evaluated model.</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fix-flow-5.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relative to the no-tool baseline</a:t>
            </a:r>
          </a:p>
        </p:txBody>
      </p:sp>
      <p:sp>
        <p:nvSpPr>
          <p:cNvPr id="3" name="Content Placeholder 2"/>
          <p:cNvSpPr>
            <a:spLocks noGrp="1"/>
          </p:cNvSpPr>
          <p:nvPr>
            <p:ph idx="1"/>
          </p:nvPr>
        </p:nvSpPr>
        <p:spPr bwMode="auto">
          <a:xfrm>
            <a:off x="320040" y="658368"/>
            <a:ext cx="6016752" cy="792479"/>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Re-injection helps all five models</a:t>
            </a:r>
            <a:r>
              <a:rPr lang="en-US" sz="1200" baseline="30000">
                <a:solidFill>
                  <a:srgbClr val="000000"/>
                </a:solidFill>
              </a:rPr>
              <a:t>[1]</a:t>
            </a:r>
            <a:r>
              <a:rPr lang="en-US" sz="1200" b="0">
                <a:solidFill>
                  <a:srgbClr val="000000"/>
                </a:solidFill>
              </a:rPr>
              <a:t> in the figure.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average falls to 32.4%,</a:t>
            </a:r>
            <a:r>
              <a:rPr lang="en-US" sz="1200" b="0">
                <a:solidFill>
                  <a:srgbClr val="FFFFFF">
                    <a:alpha val="0"/>
                  </a:srgbClr>
                </a:solidFill>
              </a:rPr>
              <a:t> from 35.9%, still above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bars-3.png"/>
          <p:cNvPicPr>
            <a:picLocks noChangeAspect="1"/>
          </p:cNvPicPr>
          <p:nvPr/>
        </p:nvPicPr>
        <p:blipFill>
          <a:blip r:embed="rId4"/>
          <a:stretch>
            <a:fillRect/>
          </a:stretch>
        </p:blipFill>
        <p:spPr>
          <a:xfrm>
            <a:off x="320040" y="1799286"/>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relative to the no-tool baseline</a:t>
            </a:r>
          </a:p>
        </p:txBody>
      </p:sp>
      <p:sp>
        <p:nvSpPr>
          <p:cNvPr id="3" name="Content Placeholder 2"/>
          <p:cNvSpPr>
            <a:spLocks noGrp="1"/>
          </p:cNvSpPr>
          <p:nvPr>
            <p:ph idx="1"/>
          </p:nvPr>
        </p:nvSpPr>
        <p:spPr bwMode="auto">
          <a:xfrm>
            <a:off x="320040" y="658368"/>
            <a:ext cx="6016752" cy="792479"/>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Re-injection helps all five models</a:t>
            </a:r>
            <a:r>
              <a:rPr lang="en-US" sz="1200" baseline="30000">
                <a:solidFill>
                  <a:srgbClr val="000000"/>
                </a:solidFill>
              </a:rPr>
              <a:t>[1]</a:t>
            </a:r>
            <a:r>
              <a:rPr lang="en-US" sz="1200" b="0">
                <a:solidFill>
                  <a:srgbClr val="000000"/>
                </a:solidFill>
              </a:rPr>
              <a:t> in the figure.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falls to 32.4%,</a:t>
            </a:r>
            <a:r>
              <a:rPr lang="en-US" sz="1200" b="0">
                <a:solidFill>
                  <a:srgbClr val="000000"/>
                </a:solidFill>
              </a:rPr>
              <a:t> from 35.9%, still above 30.0% without tools.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bars-4.png"/>
          <p:cNvPicPr>
            <a:picLocks noChangeAspect="1"/>
          </p:cNvPicPr>
          <p:nvPr/>
        </p:nvPicPr>
        <p:blipFill>
          <a:blip r:embed="rId4"/>
          <a:stretch>
            <a:fillRect/>
          </a:stretch>
        </p:blipFill>
        <p:spPr>
          <a:xfrm>
            <a:off x="320040" y="1799286"/>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relative to the no-tool baseline</a:t>
            </a:r>
          </a:p>
        </p:txBody>
      </p:sp>
      <p:sp>
        <p:nvSpPr>
          <p:cNvPr id="3" name="Content Placeholder 2"/>
          <p:cNvSpPr>
            <a:spLocks noGrp="1"/>
          </p:cNvSpPr>
          <p:nvPr>
            <p:ph idx="1"/>
          </p:nvPr>
        </p:nvSpPr>
        <p:spPr bwMode="auto">
          <a:xfrm>
            <a:off x="320040" y="658368"/>
            <a:ext cx="6016752" cy="792479"/>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Re-injection helps all five models</a:t>
            </a:r>
            <a:r>
              <a:rPr lang="en-US" sz="1200" baseline="30000">
                <a:solidFill>
                  <a:srgbClr val="000000"/>
                </a:solidFill>
              </a:rPr>
              <a:t>[1]</a:t>
            </a:r>
            <a:r>
              <a:rPr lang="en-US" sz="1200" b="0">
                <a:solidFill>
                  <a:srgbClr val="000000"/>
                </a:solidFill>
              </a:rPr>
              <a:t> in the figure.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falls to 32.4%,</a:t>
            </a:r>
            <a:r>
              <a:rPr lang="en-US" sz="1200" b="0">
                <a:solidFill>
                  <a:srgbClr val="000000"/>
                </a:solidFill>
              </a:rPr>
              <a:t> from 35.9%, still above 30.0% without tools.</a:t>
            </a:r>
            <a:endParaRPr/>
          </a:p>
        </p:txBody>
      </p:sp>
      <p:sp>
        <p:nvSpPr>
          <p:cNvPr id="4" name="Rectangle 4"/>
          <p:cNvSpPr/>
          <p:nvPr/>
        </p:nvSpPr>
        <p:spPr bwMode="auto">
          <a:xfrm>
            <a:off x="320040" y="408710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repair placed in the harness narrows the gap and leaves part of it open.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fix-bars-4.png"/>
          <p:cNvPicPr>
            <a:picLocks noChangeAspect="1"/>
          </p:cNvPicPr>
          <p:nvPr/>
        </p:nvPicPr>
        <p:blipFill>
          <a:blip r:embed="rId4"/>
          <a:stretch>
            <a:fillRect/>
          </a:stretch>
        </p:blipFill>
        <p:spPr>
          <a:xfrm>
            <a:off x="320040" y="1799286"/>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effect needs no attack on the tools.</a:t>
            </a:r>
            <a:r>
              <a:rPr lang="en-US" sz="1200" b="0">
                <a:solidFill>
                  <a:srgbClr val="FFFFFF">
                    <a:alpha val="0"/>
                  </a:srgbClr>
                </a:solidFill>
              </a:rPr>
              <a:t> It persists when the tool output, the prompt or the tools change.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rule enforced only in the model's behavior</a:t>
            </a:r>
            <a:r>
              <a:rPr lang="en-US" sz="1200" b="0">
                <a:solidFill>
                  <a:srgbClr val="FFFFFF">
                    <a:alpha val="0"/>
                  </a:srgbClr>
                </a:solidFill>
              </a:rPr>
              <a:t> needs a second enforcer outside the model.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next slides ask which process</a:t>
            </a:r>
            <a:r>
              <a:rPr lang="en-US" sz="1200" b="0">
                <a:solidFill>
                  <a:srgbClr val="FFFFFF">
                    <a:alpha val="0"/>
                  </a:srgbClr>
                </a:solidFill>
              </a:rPr>
              <a:t> should be that enforcer.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rule enforced only in the model's behavior</a:t>
            </a:r>
            <a:r>
              <a:rPr lang="en-US" sz="1200" b="0">
                <a:solidFill>
                  <a:srgbClr val="FFFFFF">
                    <a:alpha val="0"/>
                  </a:srgbClr>
                </a:solidFill>
              </a:rPr>
              <a:t> needs a second enforcer outside the model.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next slides ask which process</a:t>
            </a:r>
            <a:r>
              <a:rPr lang="en-US" sz="1200" b="0">
                <a:solidFill>
                  <a:srgbClr val="FFFFFF">
                    <a:alpha val="0"/>
                  </a:srgbClr>
                </a:solidFill>
              </a:rPr>
              <a:t> should be that enforcer.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rule enforced only in the model's behavior</a:t>
            </a:r>
            <a:r>
              <a:rPr lang="en-US" sz="1200" b="0">
                <a:solidFill>
                  <a:srgbClr val="000000"/>
                </a:solidFill>
              </a:rPr>
              <a:t> needs a second enforcer outside the model.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next slides ask which process</a:t>
            </a:r>
            <a:r>
              <a:rPr lang="en-US" sz="1200" b="0">
                <a:solidFill>
                  <a:srgbClr val="FFFFFF">
                    <a:alpha val="0"/>
                  </a:srgbClr>
                </a:solidFill>
              </a:rPr>
              <a:t> should be that enforcer.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rule enforced only in the model's behavior</a:t>
            </a:r>
            <a:r>
              <a:rPr lang="en-US" sz="1200" b="0">
                <a:solidFill>
                  <a:srgbClr val="000000"/>
                </a:solidFill>
              </a:rPr>
              <a:t> needs a second enforcer outside the model.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next slides ask which process</a:t>
            </a:r>
            <a:r>
              <a:rPr lang="en-US" sz="1200" b="0">
                <a:solidFill>
                  <a:srgbClr val="000000"/>
                </a:solidFill>
              </a:rPr>
              <a:t> should be that enforcer.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rule enforced only in the model's behavior</a:t>
            </a:r>
            <a:r>
              <a:rPr lang="en-US" sz="1200" b="0">
                <a:solidFill>
                  <a:srgbClr val="000000"/>
                </a:solidFill>
              </a:rPr>
              <a:t> needs a second enforcer outside the model.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next slides ask which process</a:t>
            </a:r>
            <a:r>
              <a:rPr lang="en-US" sz="1200" b="0">
                <a:solidFill>
                  <a:srgbClr val="000000"/>
                </a:solidFill>
              </a:rPr>
              <a:t> should be that enforcer.</a:t>
            </a:r>
            <a:endParaRPr/>
          </a:p>
        </p:txBody>
      </p:sp>
      <p:sp>
        <p:nvSpPr>
          <p:cNvPr id="4" name="Rectangle 4"/>
          <p:cNvSpPr/>
          <p:nvPr/>
        </p:nvSpPr>
        <p:spPr bwMode="auto">
          <a:xfrm>
            <a:off x="320040" y="2573921"/>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refusal rule held only in the model weakens as tools are used, so the next question is which process should enforce it.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harness:</a:t>
            </a:r>
            <a:r>
              <a:rPr lang="en-US" sz="1200" b="0">
                <a:solidFill>
                  <a:srgbClr val="FFFFFF">
                    <a:alpha val="0"/>
                  </a:srgbClr>
                </a:solidFill>
              </a:rPr>
              <a:t> the dispatcher's check on every call.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kernel:</a:t>
            </a:r>
            <a:r>
              <a:rPr lang="en-US" sz="1200" b="0">
                <a:solidFill>
                  <a:srgbClr val="FFFFFF">
                    <a:alpha val="0"/>
                  </a:srgbClr>
                </a:solidFill>
              </a:rPr>
              <a:t> Landlock, seccomp, namespaces or a microVM.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hardware outside the host:</a:t>
            </a:r>
            <a:r>
              <a:rPr lang="en-US" sz="1200" b="0">
                <a:solidFill>
                  <a:srgbClr val="FFFFFF">
                    <a:alpha val="0"/>
                  </a:srgbClr>
                </a:solidFill>
              </a:rPr>
              <a:t> a processor on the network path.</a:t>
            </a:r>
            <a:endParaRPr>
              <a:solidFill>
                <a:srgbClr val="FFFFFF">
                  <a:alpha val="0"/>
                </a:srgbClr>
              </a:solidFill>
            </a:endParaRPr>
          </a:p>
        </p:txBody>
      </p:sp>
      <p:pic>
        <p:nvPicPr>
          <p:cNvPr id="4" name="Picture 1260919718" descr="enforcement-places-1.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kernel:</a:t>
            </a:r>
            <a:r>
              <a:rPr lang="en-US" sz="1200" b="0">
                <a:solidFill>
                  <a:srgbClr val="FFFFFF">
                    <a:alpha val="0"/>
                  </a:srgbClr>
                </a:solidFill>
              </a:rPr>
              <a:t> Landlock, seccomp, namespaces or a microVM.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hardware outside the host:</a:t>
            </a:r>
            <a:r>
              <a:rPr lang="en-US" sz="1200" b="0">
                <a:solidFill>
                  <a:srgbClr val="FFFFFF">
                    <a:alpha val="0"/>
                  </a:srgbClr>
                </a:solidFill>
              </a:rPr>
              <a:t> a processor on the network path.</a:t>
            </a:r>
            <a:endParaRPr>
              <a:solidFill>
                <a:srgbClr val="FFFFFF">
                  <a:alpha val="0"/>
                </a:srgbClr>
              </a:solidFill>
            </a:endParaRPr>
          </a:p>
        </p:txBody>
      </p:sp>
      <p:pic>
        <p:nvPicPr>
          <p:cNvPr id="4" name="Picture 1260919718" descr="enforcement-places-2.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kernel:</a:t>
            </a:r>
            <a:r>
              <a:rPr lang="en-US" sz="1200" b="0">
                <a:solidFill>
                  <a:srgbClr val="000000"/>
                </a:solidFill>
              </a:rPr>
              <a:t> Landlock, seccomp, namespaces or a microVM.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hardware outside the host:</a:t>
            </a:r>
            <a:r>
              <a:rPr lang="en-US" sz="1200" b="0">
                <a:solidFill>
                  <a:srgbClr val="FFFFFF">
                    <a:alpha val="0"/>
                  </a:srgbClr>
                </a:solidFill>
              </a:rPr>
              <a:t> a processor on the network path.</a:t>
            </a:r>
            <a:endParaRPr>
              <a:solidFill>
                <a:srgbClr val="FFFFFF">
                  <a:alpha val="0"/>
                </a:srgbClr>
              </a:solidFill>
            </a:endParaRPr>
          </a:p>
        </p:txBody>
      </p:sp>
      <p:pic>
        <p:nvPicPr>
          <p:cNvPr id="4" name="Picture 1260919718" descr="enforcement-places-3.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kernel:</a:t>
            </a:r>
            <a:r>
              <a:rPr lang="en-US" sz="1200" b="0">
                <a:solidFill>
                  <a:srgbClr val="000000"/>
                </a:solidFill>
              </a:rPr>
              <a:t> Landlock, seccomp, namespaces or a microVM.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hardware outside the host:</a:t>
            </a:r>
            <a:r>
              <a:rPr lang="en-US" sz="1200" b="0">
                <a:solidFill>
                  <a:srgbClr val="000000"/>
                </a:solidFill>
              </a:rPr>
              <a:t> a processor on the network path.</a:t>
            </a:r>
            <a:endParaRPr/>
          </a:p>
        </p:txBody>
      </p:sp>
      <p:pic>
        <p:nvPicPr>
          <p:cNvPr id="4" name="Picture 1260919718" descr="enforcement-places-4.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kernel:</a:t>
            </a:r>
            <a:r>
              <a:rPr lang="en-US" sz="1200" b="0">
                <a:solidFill>
                  <a:srgbClr val="000000"/>
                </a:solidFill>
              </a:rPr>
              <a:t> Landlock, seccomp, namespaces or a microVM.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hardware outside the host:</a:t>
            </a:r>
            <a:r>
              <a:rPr lang="en-US" sz="1200" b="0">
                <a:solidFill>
                  <a:srgbClr val="000000"/>
                </a:solidFill>
              </a:rPr>
              <a:t> a processor on the network path.</a:t>
            </a:r>
            <a:endParaRPr/>
          </a:p>
        </p:txBody>
      </p:sp>
      <p:sp>
        <p:nvSpPr>
          <p:cNvPr id="4" name="Rectangle 4"/>
          <p:cNvSpPr/>
          <p:nvPr/>
        </p:nvSpPr>
        <p:spPr bwMode="auto">
          <a:xfrm>
            <a:off x="320040" y="4069080"/>
            <a:ext cx="6016752" cy="73152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Prompt instructions and checks within the agent's process remain exposed to agent influence. Kernel controls and external hardware enforce policy across a separate trust boundary.</a:t>
            </a:r>
            <a:endParaRPr/>
          </a:p>
        </p:txBody>
      </p:sp>
      <p:pic>
        <p:nvPicPr>
          <p:cNvPr id="5" name="Picture 1260919718" descr="enforcement-places-4.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1.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2.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3.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4.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sp>
        <p:nvSpPr>
          <p:cNvPr id="4" name="Rectangle 4"/>
          <p:cNvSpPr/>
          <p:nvPr/>
        </p:nvSpPr>
        <p:spPr bwMode="auto">
          <a:xfrm>
            <a:off x="320040" y="4251960"/>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Kernel enforcement and external hardware place controls outside the agent's process.</a:t>
            </a:r>
            <a:endParaRPr/>
          </a:p>
        </p:txBody>
      </p:sp>
      <p:pic>
        <p:nvPicPr>
          <p:cNvPr id="7" name="Figure bypass-places" descr="bypass-places-4.png"/>
          <p:cNvPicPr>
            <a:picLocks noChangeAspect="1"/>
          </p:cNvPicPr>
          <p:nvPr/>
        </p:nvPicPr>
        <p:blipFill>
          <a:blip r:embed="rId3"/>
          <a:stretch>
            <a:fillRect/>
          </a:stretch>
        </p:blipFill>
        <p:spPr>
          <a:xfrm>
            <a:off x="620878" y="1678627"/>
            <a:ext cx="5415077" cy="23461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1.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2.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3.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4.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5.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6.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sp>
        <p:nvSpPr>
          <p:cNvPr id="4" name="Rectangle 4"/>
          <p:cNvSpPr/>
          <p:nvPr/>
        </p:nvSpPr>
        <p:spPr bwMode="auto">
          <a:xfrm>
            <a:off x="320040" y="3915281"/>
            <a:ext cx="6016752" cy="73152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Definition poisoning, response poisoning, and exfiltration through tool arguments involve model-visible text. Implementation poisoning, credential access, and sandbox escape involve executable code or process privileges.</a:t>
            </a:r>
            <a:endParaRPr/>
          </a:p>
        </p:txBody>
      </p:sp>
      <p:pic>
        <p:nvPicPr>
          <p:cNvPr id="6" name="Figure entry-points" descr="entry-points-6.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dirty="0">
                <a:solidFill>
                  <a:schemeClr val="bg1"/>
                </a:solidFill>
                <a:latin typeface="Arial"/>
              </a:rPr>
              <a:t>OpenShell and the sandbox research</a:t>
            </a:r>
            <a:endParaRPr dirty="0"/>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An MCP server under the Inspector</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OWASP and MITRE ATLAS</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enforcement point</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dirty="0">
                <a:solidFill>
                  <a:schemeClr val="tx2"/>
                </a:solidFill>
                <a:latin typeface="Arial"/>
              </a:rPr>
              <a:t>OpenShell and the sandbox research</a:t>
            </a:r>
            <a:endParaRPr dirty="0"/>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pic>
        <p:nvPicPr>
          <p:cNvPr id="14" name="Picture 13" descr="image.png"/>
          <p:cNvPicPr>
            <a:picLocks noChangeAspect="1"/>
          </p:cNvPicPr>
          <p:nvPr/>
        </p:nvPicPr>
        <p:blipFill rotWithShape="1">
          <a:blip r:embed="rId3">
            <a:alphaModFix amt="70000"/>
          </a:blip>
          <a:stretch/>
        </p:blipFill>
        <p:spPr bwMode="auto">
          <a:xfrm>
            <a:off x="822960" y="1872409"/>
            <a:ext cx="5733288" cy="20161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NVIDIA announced OpenShell at GTC on March 16, 2026,</a:t>
            </a:r>
            <a:r>
              <a:rPr lang="en-US" sz="1200" b="0" dirty="0">
                <a:solidFill>
                  <a:srgbClr val="FFFFFF">
                    <a:alpha val="0"/>
                  </a:srgbClr>
                </a:solidFill>
              </a:rPr>
              <a:t> as part of </a:t>
            </a:r>
            <a:r>
              <a:rPr lang="en-US" sz="1200" b="0" dirty="0" err="1">
                <a:solidFill>
                  <a:srgbClr val="FFFFFF">
                    <a:alpha val="0"/>
                  </a:srgbClr>
                </a:solidFill>
              </a:rPr>
              <a:t>NemoClaw</a:t>
            </a:r>
            <a:r>
              <a:rPr lang="en-US" sz="1200" b="0" dirty="0">
                <a:solidFill>
                  <a:srgbClr val="FFFFFF">
                    <a:alpha val="0"/>
                  </a:srgbClr>
                </a:solidFill>
              </a:rPr>
              <a:t>, the stack that runs OpenClaw inside OpenShell. On September 28, 2026, NVIDIA paired OpenShell with the Sentry reference design as the Open Agent Safety Platform</a:t>
            </a:r>
            <a:r>
              <a:rPr lang="en-US" sz="1200" baseline="30000" dirty="0">
                <a:solidFill>
                  <a:srgbClr val="FFFFFF">
                    <a:alpha val="0"/>
                  </a:srgbClr>
                </a:solidFill>
              </a:rPr>
              <a:t>[2]</a:t>
            </a:r>
            <a:r>
              <a:rPr lang="en-US" sz="1200" b="0" dirty="0">
                <a:solidFill>
                  <a:srgbClr val="FFFFFF">
                    <a:alpha val="0"/>
                  </a:srgbClr>
                </a:solidFill>
              </a:rPr>
              <a:t>.</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Agents run unmodified.</a:t>
            </a:r>
            <a:r>
              <a:rPr lang="en-US" sz="1200" b="0" dirty="0">
                <a:solidFill>
                  <a:srgbClr val="FFFFFF">
                    <a:alpha val="0"/>
                  </a:srgbClr>
                </a:solidFill>
              </a:rPr>
              <a:t> The documentation's examples are Claude Code, </a:t>
            </a:r>
            <a:r>
              <a:rPr lang="en-US" sz="1200" b="0" dirty="0" err="1">
                <a:solidFill>
                  <a:srgbClr val="FFFFFF">
                    <a:alpha val="0"/>
                  </a:srgbClr>
                </a:solidFill>
              </a:rPr>
              <a:t>OpenCode</a:t>
            </a:r>
            <a:r>
              <a:rPr lang="en-US" sz="1200" b="0" dirty="0">
                <a:solidFill>
                  <a:srgbClr val="FFFFFF">
                    <a:alpha val="0"/>
                  </a:srgbClr>
                </a:solidFill>
              </a:rPr>
              <a:t>, Codex and GitHub Copilot CLI, each in a container image the operator supplies.</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One agent, one sandbox:</a:t>
            </a:r>
            <a:r>
              <a:rPr lang="en-US" sz="1200" b="0" dirty="0">
                <a:solidFill>
                  <a:srgbClr val="FFFFFF">
                    <a:alpha val="0"/>
                  </a:srgbClr>
                </a:solidFill>
              </a:rPr>
              <a:t> </a:t>
            </a:r>
            <a:r>
              <a:rPr lang="en-US" sz="1200" b="0" dirty="0" err="1">
                <a:solidFill>
                  <a:srgbClr val="FFFFFF">
                    <a:alpha val="0"/>
                  </a:srgbClr>
                </a:solidFill>
                <a:latin typeface="Aptos Mono"/>
              </a:rPr>
              <a:t>openshell</a:t>
            </a:r>
            <a:r>
              <a:rPr lang="en-US" sz="1200" b="0" dirty="0">
                <a:solidFill>
                  <a:srgbClr val="FFFFFF">
                    <a:alpha val="0"/>
                  </a:srgbClr>
                </a:solidFill>
                <a:latin typeface="Aptos Mono"/>
              </a:rPr>
              <a:t> sandbox create --name demo --provider my-</a:t>
            </a:r>
            <a:r>
              <a:rPr lang="en-US" sz="1200" b="0" dirty="0" err="1">
                <a:solidFill>
                  <a:srgbClr val="FFFFFF">
                    <a:alpha val="0"/>
                  </a:srgbClr>
                </a:solidFill>
                <a:latin typeface="Aptos Mono"/>
              </a:rPr>
              <a:t>claude</a:t>
            </a:r>
            <a:r>
              <a:rPr lang="en-US" sz="1200" b="0" dirty="0">
                <a:solidFill>
                  <a:srgbClr val="FFFFFF">
                    <a:alpha val="0"/>
                  </a:srgbClr>
                </a:solidFill>
                <a:latin typeface="Aptos Mono"/>
              </a:rPr>
              <a:t> --from </a:t>
            </a:r>
            <a:r>
              <a:rPr lang="en-US" sz="1200" b="0" dirty="0" err="1">
                <a:solidFill>
                  <a:srgbClr val="FFFFFF">
                    <a:alpha val="0"/>
                  </a:srgbClr>
                </a:solidFill>
                <a:latin typeface="Aptos Mono"/>
              </a:rPr>
              <a:t>registry.example.com</a:t>
            </a:r>
            <a:r>
              <a:rPr lang="en-US" sz="1200" b="0" dirty="0">
                <a:solidFill>
                  <a:srgbClr val="FFFFFF">
                    <a:alpha val="0"/>
                  </a:srgbClr>
                </a:solidFill>
                <a:latin typeface="Aptos Mono"/>
              </a:rPr>
              <a:t>/team/claude-code:1.0 -- </a:t>
            </a:r>
            <a:r>
              <a:rPr lang="en-US" sz="1200" b="0" dirty="0" err="1">
                <a:solidFill>
                  <a:srgbClr val="FFFFFF">
                    <a:alpha val="0"/>
                  </a:srgbClr>
                </a:solidFill>
                <a:latin typeface="Aptos Mono"/>
              </a:rPr>
              <a:t>claude</a:t>
            </a:r>
            <a:r>
              <a:rPr lang="en-US" sz="1200" b="0" dirty="0">
                <a:solidFill>
                  <a:srgbClr val="FFFFFF">
                    <a:alpha val="0"/>
                  </a:srgbClr>
                </a:solidFill>
              </a:rPr>
              <a: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Agents run unmodified.</a:t>
            </a:r>
            <a:r>
              <a:rPr lang="en-US" sz="1200" b="0" dirty="0">
                <a:solidFill>
                  <a:srgbClr val="FFFFFF">
                    <a:alpha val="0"/>
                  </a:srgbClr>
                </a:solidFill>
              </a:rPr>
              <a:t> The documentation's examples are Claude Code, </a:t>
            </a:r>
            <a:r>
              <a:rPr lang="en-US" sz="1200" b="0" dirty="0" err="1">
                <a:solidFill>
                  <a:srgbClr val="FFFFFF">
                    <a:alpha val="0"/>
                  </a:srgbClr>
                </a:solidFill>
              </a:rPr>
              <a:t>OpenCode</a:t>
            </a:r>
            <a:r>
              <a:rPr lang="en-US" sz="1200" b="0" dirty="0">
                <a:solidFill>
                  <a:srgbClr val="FFFFFF">
                    <a:alpha val="0"/>
                  </a:srgbClr>
                </a:solidFill>
              </a:rPr>
              <a:t>, Codex and GitHub Copilot CLI, each in a container image the operator supplies.</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One agent, one sandbox:</a:t>
            </a:r>
            <a:r>
              <a:rPr lang="en-US" sz="1200" b="0" dirty="0">
                <a:solidFill>
                  <a:srgbClr val="FFFFFF">
                    <a:alpha val="0"/>
                  </a:srgbClr>
                </a:solidFill>
              </a:rPr>
              <a:t> </a:t>
            </a:r>
            <a:r>
              <a:rPr lang="en-US" sz="1200" b="0" dirty="0" err="1">
                <a:solidFill>
                  <a:srgbClr val="FFFFFF">
                    <a:alpha val="0"/>
                  </a:srgbClr>
                </a:solidFill>
                <a:latin typeface="Aptos Mono"/>
              </a:rPr>
              <a:t>openshell</a:t>
            </a:r>
            <a:r>
              <a:rPr lang="en-US" sz="1200" b="0" dirty="0">
                <a:solidFill>
                  <a:srgbClr val="FFFFFF">
                    <a:alpha val="0"/>
                  </a:srgbClr>
                </a:solidFill>
                <a:latin typeface="Aptos Mono"/>
              </a:rPr>
              <a:t> sandbox create --name demo --provider my-</a:t>
            </a:r>
            <a:r>
              <a:rPr lang="en-US" sz="1200" b="0" dirty="0" err="1">
                <a:solidFill>
                  <a:srgbClr val="FFFFFF">
                    <a:alpha val="0"/>
                  </a:srgbClr>
                </a:solidFill>
                <a:latin typeface="Aptos Mono"/>
              </a:rPr>
              <a:t>claude</a:t>
            </a:r>
            <a:r>
              <a:rPr lang="en-US" sz="1200" b="0" dirty="0">
                <a:solidFill>
                  <a:srgbClr val="FFFFFF">
                    <a:alpha val="0"/>
                  </a:srgbClr>
                </a:solidFill>
                <a:latin typeface="Aptos Mono"/>
              </a:rPr>
              <a:t> --from </a:t>
            </a:r>
            <a:r>
              <a:rPr lang="en-US" sz="1200" b="0" dirty="0" err="1">
                <a:solidFill>
                  <a:srgbClr val="FFFFFF">
                    <a:alpha val="0"/>
                  </a:srgbClr>
                </a:solidFill>
                <a:latin typeface="Aptos Mono"/>
              </a:rPr>
              <a:t>registry.example.com</a:t>
            </a:r>
            <a:r>
              <a:rPr lang="en-US" sz="1200" b="0" dirty="0">
                <a:solidFill>
                  <a:srgbClr val="FFFFFF">
                    <a:alpha val="0"/>
                  </a:srgbClr>
                </a:solidFill>
                <a:latin typeface="Aptos Mono"/>
              </a:rPr>
              <a:t>/team/claude-code:1.0 -- </a:t>
            </a:r>
            <a:r>
              <a:rPr lang="en-US" sz="1200" b="0" dirty="0" err="1">
                <a:solidFill>
                  <a:srgbClr val="FFFFFF">
                    <a:alpha val="0"/>
                  </a:srgbClr>
                </a:solidFill>
                <a:latin typeface="Aptos Mono"/>
              </a:rPr>
              <a:t>claude</a:t>
            </a:r>
            <a:r>
              <a:rPr lang="en-US" sz="1200" b="0" dirty="0">
                <a:solidFill>
                  <a:srgbClr val="FFFFFF">
                    <a:alpha val="0"/>
                  </a:srgbClr>
                </a:solidFill>
              </a:rPr>
              <a: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Agents run unmodified.</a:t>
            </a:r>
            <a:r>
              <a:rPr lang="en-US" sz="1200" b="0" dirty="0">
                <a:solidFill>
                  <a:srgbClr val="000000"/>
                </a:solidFill>
              </a:rPr>
              <a:t> The documentation's examples are Claude Code, </a:t>
            </a:r>
            <a:r>
              <a:rPr lang="en-US" sz="1200" b="0" dirty="0" err="1">
                <a:solidFill>
                  <a:srgbClr val="000000"/>
                </a:solidFill>
              </a:rPr>
              <a:t>OpenCode</a:t>
            </a:r>
            <a:r>
              <a:rPr lang="en-US" sz="1200" b="0" dirty="0">
                <a:solidFill>
                  <a:srgbClr val="000000"/>
                </a:solidFill>
              </a:rPr>
              <a:t>, Codex and GitHub Copilot CLI, each in a container image the operator supplies.</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One agent, one sandbox:</a:t>
            </a:r>
            <a:r>
              <a:rPr lang="en-US" sz="1200" b="0" dirty="0">
                <a:solidFill>
                  <a:srgbClr val="FFFFFF">
                    <a:alpha val="0"/>
                  </a:srgbClr>
                </a:solidFill>
              </a:rPr>
              <a:t> </a:t>
            </a:r>
            <a:r>
              <a:rPr lang="en-US" sz="1200" b="0" dirty="0" err="1">
                <a:solidFill>
                  <a:srgbClr val="FFFFFF">
                    <a:alpha val="0"/>
                  </a:srgbClr>
                </a:solidFill>
                <a:latin typeface="Aptos Mono"/>
              </a:rPr>
              <a:t>openshell</a:t>
            </a:r>
            <a:r>
              <a:rPr lang="en-US" sz="1200" b="0" dirty="0">
                <a:solidFill>
                  <a:srgbClr val="FFFFFF">
                    <a:alpha val="0"/>
                  </a:srgbClr>
                </a:solidFill>
                <a:latin typeface="Aptos Mono"/>
              </a:rPr>
              <a:t> sandbox create --name demo --provider my-</a:t>
            </a:r>
            <a:r>
              <a:rPr lang="en-US" sz="1200" b="0" dirty="0" err="1">
                <a:solidFill>
                  <a:srgbClr val="FFFFFF">
                    <a:alpha val="0"/>
                  </a:srgbClr>
                </a:solidFill>
                <a:latin typeface="Aptos Mono"/>
              </a:rPr>
              <a:t>claude</a:t>
            </a:r>
            <a:r>
              <a:rPr lang="en-US" sz="1200" b="0" dirty="0">
                <a:solidFill>
                  <a:srgbClr val="FFFFFF">
                    <a:alpha val="0"/>
                  </a:srgbClr>
                </a:solidFill>
                <a:latin typeface="Aptos Mono"/>
              </a:rPr>
              <a:t> --from </a:t>
            </a:r>
            <a:r>
              <a:rPr lang="en-US" sz="1200" b="0" dirty="0" err="1">
                <a:solidFill>
                  <a:srgbClr val="FFFFFF">
                    <a:alpha val="0"/>
                  </a:srgbClr>
                </a:solidFill>
                <a:latin typeface="Aptos Mono"/>
              </a:rPr>
              <a:t>registry.example.com</a:t>
            </a:r>
            <a:r>
              <a:rPr lang="en-US" sz="1200" b="0" dirty="0">
                <a:solidFill>
                  <a:srgbClr val="FFFFFF">
                    <a:alpha val="0"/>
                  </a:srgbClr>
                </a:solidFill>
                <a:latin typeface="Aptos Mono"/>
              </a:rPr>
              <a:t>/team/claude-code:1.0 -- </a:t>
            </a:r>
            <a:r>
              <a:rPr lang="en-US" sz="1200" b="0" dirty="0" err="1">
                <a:solidFill>
                  <a:srgbClr val="FFFFFF">
                    <a:alpha val="0"/>
                  </a:srgbClr>
                </a:solidFill>
                <a:latin typeface="Aptos Mono"/>
              </a:rPr>
              <a:t>claude</a:t>
            </a:r>
            <a:r>
              <a:rPr lang="en-US" sz="1200" b="0" dirty="0">
                <a:solidFill>
                  <a:srgbClr val="FFFFFF">
                    <a:alpha val="0"/>
                  </a:srgbClr>
                </a:solidFill>
              </a:rPr>
              <a: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Agents run unmodified.</a:t>
            </a:r>
            <a:r>
              <a:rPr lang="en-US" sz="1200" b="0" dirty="0">
                <a:solidFill>
                  <a:srgbClr val="000000"/>
                </a:solidFill>
              </a:rPr>
              <a:t> The documentation's examples are Claude Code, </a:t>
            </a:r>
            <a:r>
              <a:rPr lang="en-US" sz="1200" b="0" dirty="0" err="1">
                <a:solidFill>
                  <a:srgbClr val="000000"/>
                </a:solidFill>
              </a:rPr>
              <a:t>OpenCode</a:t>
            </a:r>
            <a:r>
              <a:rPr lang="en-US" sz="1200" b="0" dirty="0">
                <a:solidFill>
                  <a:srgbClr val="000000"/>
                </a:solidFill>
              </a:rPr>
              <a:t>, Codex and GitHub Copilot CLI, each in a container image the operator supplies.</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One agent, one sandbox:</a:t>
            </a:r>
            <a:r>
              <a:rPr lang="en-US" sz="1200" b="0" dirty="0">
                <a:solidFill>
                  <a:srgbClr val="000000"/>
                </a:solidFill>
              </a:rPr>
              <a:t> </a:t>
            </a:r>
            <a:r>
              <a:rPr lang="en-US" sz="1200" b="0" dirty="0" err="1">
                <a:solidFill>
                  <a:srgbClr val="000000"/>
                </a:solidFill>
                <a:latin typeface="Aptos Mono"/>
              </a:rPr>
              <a:t>openshell</a:t>
            </a:r>
            <a:r>
              <a:rPr lang="en-US" sz="1200" b="0" dirty="0">
                <a:solidFill>
                  <a:srgbClr val="000000"/>
                </a:solidFill>
                <a:latin typeface="Aptos Mono"/>
              </a:rPr>
              <a:t> sandbox create --name demo --provider my-</a:t>
            </a:r>
            <a:r>
              <a:rPr lang="en-US" sz="1200" b="0" dirty="0" err="1">
                <a:solidFill>
                  <a:srgbClr val="000000"/>
                </a:solidFill>
                <a:latin typeface="Aptos Mono"/>
              </a:rPr>
              <a:t>claude</a:t>
            </a:r>
            <a:r>
              <a:rPr lang="en-US" sz="1200" b="0" dirty="0">
                <a:solidFill>
                  <a:srgbClr val="000000"/>
                </a:solidFill>
                <a:latin typeface="Aptos Mono"/>
              </a:rPr>
              <a:t> --from </a:t>
            </a:r>
            <a:r>
              <a:rPr lang="en-US" sz="1200" b="0" dirty="0" err="1">
                <a:solidFill>
                  <a:srgbClr val="000000"/>
                </a:solidFill>
                <a:latin typeface="Aptos Mono"/>
              </a:rPr>
              <a:t>registry.example.com</a:t>
            </a:r>
            <a:r>
              <a:rPr lang="en-US" sz="1200" b="0" dirty="0">
                <a:solidFill>
                  <a:srgbClr val="000000"/>
                </a:solidFill>
                <a:latin typeface="Aptos Mono"/>
              </a:rPr>
              <a:t>/team/claude-code:1.0 -- </a:t>
            </a:r>
            <a:r>
              <a:rPr lang="en-US" sz="1200" b="0" dirty="0" err="1">
                <a:solidFill>
                  <a:srgbClr val="000000"/>
                </a:solidFill>
                <a:latin typeface="Aptos Mono"/>
              </a:rPr>
              <a:t>claude</a:t>
            </a:r>
            <a:r>
              <a:rPr lang="en-US" sz="1200" b="0" dirty="0">
                <a:solidFill>
                  <a:srgbClr val="000000"/>
                </a:solidFill>
              </a:rPr>
              <a:t>.</a:t>
            </a:r>
            <a:endParaRPr dirty="0"/>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Agents run unmodified.</a:t>
            </a:r>
            <a:r>
              <a:rPr lang="en-US" sz="1200" b="0" dirty="0">
                <a:solidFill>
                  <a:srgbClr val="000000"/>
                </a:solidFill>
              </a:rPr>
              <a:t> The documentation's examples are Claude Code, </a:t>
            </a:r>
            <a:r>
              <a:rPr lang="en-US" sz="1200" b="0" dirty="0" err="1">
                <a:solidFill>
                  <a:srgbClr val="000000"/>
                </a:solidFill>
              </a:rPr>
              <a:t>OpenCode</a:t>
            </a:r>
            <a:r>
              <a:rPr lang="en-US" sz="1200" b="0" dirty="0">
                <a:solidFill>
                  <a:srgbClr val="000000"/>
                </a:solidFill>
              </a:rPr>
              <a:t>, Codex and GitHub Copilot CLI, each in a container image the operator supplies.</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One agent, one sandbox:</a:t>
            </a:r>
            <a:r>
              <a:rPr lang="en-US" sz="1200" b="0" dirty="0">
                <a:solidFill>
                  <a:srgbClr val="000000"/>
                </a:solidFill>
              </a:rPr>
              <a:t> </a:t>
            </a:r>
            <a:r>
              <a:rPr lang="en-US" sz="1200" b="0" dirty="0" err="1">
                <a:solidFill>
                  <a:srgbClr val="000000"/>
                </a:solidFill>
                <a:latin typeface="Aptos Mono"/>
              </a:rPr>
              <a:t>openshell</a:t>
            </a:r>
            <a:r>
              <a:rPr lang="en-US" sz="1200" b="0" dirty="0">
                <a:solidFill>
                  <a:srgbClr val="000000"/>
                </a:solidFill>
                <a:latin typeface="Aptos Mono"/>
              </a:rPr>
              <a:t> sandbox create --name demo --provider my-</a:t>
            </a:r>
            <a:r>
              <a:rPr lang="en-US" sz="1200" b="0" dirty="0" err="1">
                <a:solidFill>
                  <a:srgbClr val="000000"/>
                </a:solidFill>
                <a:latin typeface="Aptos Mono"/>
              </a:rPr>
              <a:t>claude</a:t>
            </a:r>
            <a:r>
              <a:rPr lang="en-US" sz="1200" b="0" dirty="0">
                <a:solidFill>
                  <a:srgbClr val="000000"/>
                </a:solidFill>
                <a:latin typeface="Aptos Mono"/>
              </a:rPr>
              <a:t> --from </a:t>
            </a:r>
            <a:r>
              <a:rPr lang="en-US" sz="1200" b="0" dirty="0" err="1">
                <a:solidFill>
                  <a:srgbClr val="000000"/>
                </a:solidFill>
                <a:latin typeface="Aptos Mono"/>
              </a:rPr>
              <a:t>registry.example.com</a:t>
            </a:r>
            <a:r>
              <a:rPr lang="en-US" sz="1200" b="0" dirty="0">
                <a:solidFill>
                  <a:srgbClr val="000000"/>
                </a:solidFill>
                <a:latin typeface="Aptos Mono"/>
              </a:rPr>
              <a:t>/team/claude-code:1.0 -- </a:t>
            </a:r>
            <a:r>
              <a:rPr lang="en-US" sz="1200" b="0" dirty="0" err="1">
                <a:solidFill>
                  <a:srgbClr val="000000"/>
                </a:solidFill>
                <a:latin typeface="Aptos Mono"/>
              </a:rPr>
              <a:t>claude</a:t>
            </a:r>
            <a:r>
              <a:rPr lang="en-US" sz="1200" b="0" dirty="0">
                <a:solidFill>
                  <a:srgbClr val="000000"/>
                </a:solidFill>
              </a:rPr>
              <a:t>.</a:t>
            </a:r>
            <a:endParaRPr dirty="0"/>
          </a:p>
        </p:txBody>
      </p:sp>
      <p:sp>
        <p:nvSpPr>
          <p:cNvPr id="4" name="Rectangle 4"/>
          <p:cNvSpPr/>
          <p:nvPr/>
        </p:nvSpPr>
        <p:spPr bwMode="auto">
          <a:xfrm>
            <a:off x="320040" y="404610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chemeClr val="accent4"/>
                </a:solidFill>
              </a:rPr>
              <a:t>OpenShell enforces resource access outside the agent's process while running the agent unmodified.</a:t>
            </a:r>
            <a:endParaRPr dirty="0"/>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Processes:</a:t>
            </a:r>
            <a:r>
              <a:rPr lang="en-US" sz="1200" b="0">
                <a:solidFill>
                  <a:srgbClr val="FFFFFF">
                    <a:alpha val="0"/>
                  </a:srgbClr>
                </a:solidFill>
              </a:rPr>
              <a:t> each shell, interpreter or scanner it starts has its authority.</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Connections:</a:t>
            </a:r>
            <a:r>
              <a:rPr lang="en-US" sz="1200" b="0">
                <a:solidFill>
                  <a:srgbClr val="FFFFFF">
                    <a:alpha val="0"/>
                  </a:srgbClr>
                </a:solidFill>
              </a:rPr>
              <a:t> it calls the model's API, GitHub, or any host on the network.</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 reads a case, runs </a:t>
            </a:r>
            <a:r>
              <a:rPr lang="en-US" sz="1200" b="0">
                <a:solidFill>
                  <a:srgbClr val="FFFFFF">
                    <a:alpha val="0"/>
                  </a:srgbClr>
                </a:solidFill>
                <a:latin typeface="Aptos Mono"/>
              </a:rPr>
              <a:t>bandit</a:t>
            </a:r>
            <a:r>
              <a:rPr lang="en-US" sz="1200" b="0">
                <a:solidFill>
                  <a:srgbClr val="FFFFFF">
                    <a:alpha val="0"/>
                  </a:srgbClr>
                </a:solidFill>
              </a:rPr>
              <a:t> and calls a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Connections:</a:t>
            </a:r>
            <a:r>
              <a:rPr lang="en-US" sz="1200" b="0">
                <a:solidFill>
                  <a:srgbClr val="FFFFFF">
                    <a:alpha val="0"/>
                  </a:srgbClr>
                </a:solidFill>
              </a:rPr>
              <a:t> it calls the model's API, GitHub, or any host on the network.</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 reads a case, runs </a:t>
            </a:r>
            <a:r>
              <a:rPr lang="en-US" sz="1200" b="0">
                <a:solidFill>
                  <a:srgbClr val="FFFFFF">
                    <a:alpha val="0"/>
                  </a:srgbClr>
                </a:solidFill>
                <a:latin typeface="Aptos Mono"/>
              </a:rPr>
              <a:t>bandit</a:t>
            </a:r>
            <a:r>
              <a:rPr lang="en-US" sz="1200" b="0">
                <a:solidFill>
                  <a:srgbClr val="FFFFFF">
                    <a:alpha val="0"/>
                  </a:srgbClr>
                </a:solidFill>
              </a:rPr>
              <a:t> and calls a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Connections:</a:t>
            </a:r>
            <a:r>
              <a:rPr lang="en-US" sz="1200" b="0">
                <a:solidFill>
                  <a:srgbClr val="000000"/>
                </a:solidFill>
              </a:rPr>
              <a:t> it calls the model's API, GitHub, or any host on the network.</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 reads a case, runs </a:t>
            </a:r>
            <a:r>
              <a:rPr lang="en-US" sz="1200" b="0">
                <a:solidFill>
                  <a:srgbClr val="FFFFFF">
                    <a:alpha val="0"/>
                  </a:srgbClr>
                </a:solidFill>
                <a:latin typeface="Aptos Mono"/>
              </a:rPr>
              <a:t>bandit</a:t>
            </a:r>
            <a:r>
              <a:rPr lang="en-US" sz="1200" b="0">
                <a:solidFill>
                  <a:srgbClr val="FFFFFF">
                    <a:alpha val="0"/>
                  </a:srgbClr>
                </a:solidFill>
              </a:rPr>
              <a:t> and calls a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Connections:</a:t>
            </a:r>
            <a:r>
              <a:rPr lang="en-US" sz="1200" b="0">
                <a:solidFill>
                  <a:srgbClr val="000000"/>
                </a:solidFill>
              </a:rPr>
              <a:t> it calls the model's API, GitHub, or any host on the network.</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 reads a case, runs </a:t>
            </a:r>
            <a:r>
              <a:rPr lang="en-US" sz="1200" b="0">
                <a:solidFill>
                  <a:srgbClr val="FFFFFF">
                    <a:alpha val="0"/>
                  </a:srgbClr>
                </a:solidFill>
                <a:latin typeface="Aptos Mono"/>
              </a:rPr>
              <a:t>bandit</a:t>
            </a:r>
            <a:r>
              <a:rPr lang="en-US" sz="1200" b="0">
                <a:solidFill>
                  <a:srgbClr val="FFFFFF">
                    <a:alpha val="0"/>
                  </a:srgbClr>
                </a:solidFill>
              </a:rPr>
              <a:t> and calls a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Connections:</a:t>
            </a:r>
            <a:r>
              <a:rPr lang="en-US" sz="1200" b="0">
                <a:solidFill>
                  <a:srgbClr val="000000"/>
                </a:solidFill>
              </a:rPr>
              <a:t> it calls the model's API, GitHub, or any host on the network.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it reads a case, runs </a:t>
            </a:r>
            <a:r>
              <a:rPr lang="en-US" sz="1200" b="0">
                <a:solidFill>
                  <a:srgbClr val="000000"/>
                </a:solidFill>
                <a:latin typeface="Aptos Mono"/>
              </a:rPr>
              <a:t>bandit</a:t>
            </a:r>
            <a:r>
              <a:rPr lang="en-US" sz="1200" b="0">
                <a:solidFill>
                  <a:srgbClr val="000000"/>
                </a:solidFill>
              </a:rPr>
              <a:t> and calls a model server.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5" name="Picture 1847912324" descr="three-needs-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works through the kernel.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Files:</a:t>
            </a:r>
            <a:r>
              <a:rPr lang="en-US" sz="1200" b="0">
                <a:solidFill>
                  <a:srgbClr val="000000"/>
                </a:solidFill>
              </a:rPr>
              <a:t> the agent reads a repository and must never read the key.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Processes:</a:t>
            </a:r>
            <a:r>
              <a:rPr lang="en-US" sz="1200" b="0">
                <a:solidFill>
                  <a:srgbClr val="000000"/>
                </a:solidFill>
              </a:rPr>
              <a:t> each shell, interpreter or scanner it starts has its authority.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Connections:</a:t>
            </a:r>
            <a:r>
              <a:rPr lang="en-US" sz="1200" b="0">
                <a:solidFill>
                  <a:srgbClr val="000000"/>
                </a:solidFill>
              </a:rPr>
              <a:t> it calls the model's API, GitHub, or any host on the network.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it reads a case, runs </a:t>
            </a:r>
            <a:r>
              <a:rPr lang="en-US" sz="1200" b="0">
                <a:solidFill>
                  <a:srgbClr val="000000"/>
                </a:solidFill>
                <a:latin typeface="Aptos Mono"/>
              </a:rPr>
              <a:t>bandit</a:t>
            </a:r>
            <a:r>
              <a:rPr lang="en-US" sz="1200" b="0">
                <a:solidFill>
                  <a:srgbClr val="000000"/>
                </a:solidFill>
              </a:rPr>
              <a:t> and calls a model server.</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rule the kernel enforces holds whatever the model chooses.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a:t>
            </a:r>
            <a:endParaRPr/>
          </a:p>
        </p:txBody>
      </p:sp>
      <p:pic>
        <p:nvPicPr>
          <p:cNvPr id="6" name="Picture 1847912324" descr="three-needs-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1.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2.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3.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4.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sandbox runtime</a:t>
            </a:r>
            <a:r>
              <a:rPr lang="en-US" sz="1200" b="0">
                <a:solidFill>
                  <a:srgbClr val="FFFFFF">
                    <a:alpha val="0"/>
                  </a:srgbClr>
                </a:solidFill>
              </a:rPr>
              <a:t> fences the agent's processes from inside the workload.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5.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trusted supervisor</a:t>
            </a:r>
            <a:r>
              <a:rPr lang="en-US" sz="1200" b="0">
                <a:solidFill>
                  <a:srgbClr val="FFFFFF">
                    <a:alpha val="0"/>
                  </a:srgbClr>
                </a:solidFill>
              </a:rPr>
              <a:t> connects back, then decides every connection.</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6.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7.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8.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9.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10.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11.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12.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OpenShell component has its own job.</a:t>
            </a:r>
            <a:r>
              <a:rPr baseline="30000"/>
              <a:t>[1]</a:t>
            </a:r>
            <a:endParaRPr/>
          </a:p>
        </p:txBody>
      </p:sp>
      <p:sp>
        <p:nvSpPr>
          <p:cNvPr id="3" name="Content Placeholder 2"/>
          <p:cNvSpPr>
            <a:spLocks noGrp="1"/>
          </p:cNvSpPr>
          <p:nvPr>
            <p:ph idx="1"/>
          </p:nvPr>
        </p:nvSpPr>
        <p:spPr bwMode="auto">
          <a:xfrm>
            <a:off x="320040" y="658368"/>
            <a:ext cx="6016752" cy="87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gateway</a:t>
            </a:r>
            <a:r>
              <a:rPr lang="en-US" sz="1200" b="0">
                <a:solidFill>
                  <a:srgbClr val="000000"/>
                </a:solidFill>
              </a:rPr>
              <a:t> records each sandbox before the driver provisions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sandbox runtime</a:t>
            </a:r>
            <a:r>
              <a:rPr lang="en-US" sz="1200" b="0">
                <a:solidFill>
                  <a:srgbClr val="000000"/>
                </a:solidFill>
              </a:rPr>
              <a:t> fences the agent's processes from inside the workload.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trusted supervisor</a:t>
            </a:r>
            <a:r>
              <a:rPr lang="en-US" sz="1200" b="0">
                <a:solidFill>
                  <a:srgbClr val="000000"/>
                </a:solidFill>
              </a:rPr>
              <a:t> connects back, then decides every connection.</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keys and the network decisions stay outside the agent's workload.</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4, 6 and 7.</a:t>
            </a:r>
            <a:endParaRPr/>
          </a:p>
        </p:txBody>
      </p:sp>
      <p:pic>
        <p:nvPicPr>
          <p:cNvPr id="6" name="Picture 1847912324" descr="components-lifecycle-12.png"/>
          <p:cNvPicPr>
            <a:picLocks noChangeAspect="1"/>
          </p:cNvPicPr>
          <p:nvPr/>
        </p:nvPicPr>
        <p:blipFill>
          <a:blip r:embed="rId3"/>
          <a:stretch>
            <a:fillRect/>
          </a:stretch>
        </p:blipFill>
        <p:spPr>
          <a:xfrm>
            <a:off x="526826" y="1715035"/>
            <a:ext cx="5603180" cy="240441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Create and exec are requests to the gateway.</a:t>
            </a: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Create:</a:t>
            </a:r>
            <a:r>
              <a:rPr lang="en-US" sz="1100" b="0">
                <a:solidFill>
                  <a:srgbClr val="FFFFFF">
                    <a:alpha val="0"/>
                  </a:srgbClr>
                </a:solidFill>
              </a:rPr>
              <a:t> </a:t>
            </a:r>
            <a:r>
              <a:rPr lang="en-US" sz="1100" b="0">
                <a:solidFill>
                  <a:srgbClr val="FFFFFF">
                    <a:alpha val="0"/>
                  </a:srgbClr>
                </a:solidFill>
                <a:latin typeface="Aptos Mono"/>
              </a:rPr>
              <a:t>--from</a:t>
            </a:r>
            <a:r>
              <a:rPr lang="en-US" sz="1100" b="0">
                <a:solidFill>
                  <a:srgbClr val="FFFFFF">
                    <a:alpha val="0"/>
                  </a:srgbClr>
                </a:solidFill>
              </a:rPr>
              <a:t> names the image and </a:t>
            </a:r>
            <a:r>
              <a:rPr lang="en-US" sz="1100" b="0">
                <a:solidFill>
                  <a:srgbClr val="FFFFFF">
                    <a:alpha val="0"/>
                  </a:srgbClr>
                </a:solidFill>
                <a:latin typeface="Aptos Mono"/>
              </a:rPr>
              <a:t>--policy</a:t>
            </a:r>
            <a:r>
              <a:rPr lang="en-US" sz="1100" b="0">
                <a:solidFill>
                  <a:srgbClr val="FFFFFF">
                    <a:alpha val="0"/>
                  </a:srgbClr>
                </a:solidFill>
              </a:rPr>
              <a:t> the policy file.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Exec:</a:t>
            </a:r>
            <a:r>
              <a:rPr lang="en-US" sz="1100" b="0">
                <a:solidFill>
                  <a:srgbClr val="FFFFFF">
                    <a:alpha val="0"/>
                  </a:srgbClr>
                </a:solidFill>
              </a:rPr>
              <a:t> </a:t>
            </a:r>
            <a:r>
              <a:rPr lang="en-US" sz="1100" b="0">
                <a:solidFill>
                  <a:srgbClr val="FFFFFF">
                    <a:alpha val="0"/>
                  </a:srgbClr>
                </a:solidFill>
                <a:latin typeface="Aptos Mono"/>
              </a:rPr>
              <a:t>--no-login-shell --no-tty</a:t>
            </a:r>
            <a:r>
              <a:rPr lang="en-US" sz="1100" b="0">
                <a:solidFill>
                  <a:srgbClr val="FFFFFF">
                    <a:alpha val="0"/>
                  </a:srgbClr>
                </a:solidFill>
              </a:rPr>
              <a:t> keep an MCP stream clean.</a:t>
            </a:r>
            <a:endParaRPr>
              <a:solidFill>
                <a:srgbClr val="FFFFFF">
                  <a:alpha val="0"/>
                </a:srgbClr>
              </a:solidFill>
            </a:endParaRPr>
          </a:p>
        </p:txBody>
      </p:sp>
      <p:pic>
        <p:nvPicPr>
          <p:cNvPr id="4" name="Picture 1260919718" descr="command-hw2-1.png"/>
          <p:cNvPicPr>
            <a:picLocks noChangeAspect="1"/>
          </p:cNvPicPr>
          <p:nvPr/>
        </p:nvPicPr>
        <p:blipFill>
          <a:blip r:embed="rId3"/>
          <a:stretch>
            <a:fillRect/>
          </a:stretch>
        </p:blipFill>
        <p:spPr>
          <a:xfrm>
            <a:off x="320040" y="1445035"/>
            <a:ext cx="6016752" cy="21496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Create and exec are requests to the gateway.</a:t>
            </a: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Create:</a:t>
            </a:r>
            <a:r>
              <a:rPr lang="en-US" sz="1100" b="0">
                <a:solidFill>
                  <a:srgbClr val="000000"/>
                </a:solidFill>
              </a:rPr>
              <a:t> </a:t>
            </a:r>
            <a:r>
              <a:rPr lang="en-US" sz="1100" b="0">
                <a:solidFill>
                  <a:srgbClr val="000000"/>
                </a:solidFill>
                <a:latin typeface="Aptos Mono"/>
              </a:rPr>
              <a:t>--from</a:t>
            </a:r>
            <a:r>
              <a:rPr lang="en-US" sz="1100" b="0">
                <a:solidFill>
                  <a:srgbClr val="000000"/>
                </a:solidFill>
              </a:rPr>
              <a:t> names the image and </a:t>
            </a:r>
            <a:r>
              <a:rPr lang="en-US" sz="1100" b="0">
                <a:solidFill>
                  <a:srgbClr val="000000"/>
                </a:solidFill>
                <a:latin typeface="Aptos Mono"/>
              </a:rPr>
              <a:t>--policy</a:t>
            </a:r>
            <a:r>
              <a:rPr lang="en-US" sz="1100" b="0">
                <a:solidFill>
                  <a:srgbClr val="000000"/>
                </a:solidFill>
              </a:rPr>
              <a:t> the policy file.</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Exec:</a:t>
            </a:r>
            <a:r>
              <a:rPr lang="en-US" sz="1100" b="0">
                <a:solidFill>
                  <a:srgbClr val="FFFFFF">
                    <a:alpha val="0"/>
                  </a:srgbClr>
                </a:solidFill>
              </a:rPr>
              <a:t> </a:t>
            </a:r>
            <a:r>
              <a:rPr lang="en-US" sz="1100" b="0">
                <a:solidFill>
                  <a:srgbClr val="FFFFFF">
                    <a:alpha val="0"/>
                  </a:srgbClr>
                </a:solidFill>
                <a:latin typeface="Aptos Mono"/>
              </a:rPr>
              <a:t>--no-login-shell --no-tty</a:t>
            </a:r>
            <a:r>
              <a:rPr lang="en-US" sz="1100" b="0">
                <a:solidFill>
                  <a:srgbClr val="FFFFFF">
                    <a:alpha val="0"/>
                  </a:srgbClr>
                </a:solidFill>
              </a:rPr>
              <a:t> keep an MCP stream clean.</a:t>
            </a:r>
            <a:endParaRPr>
              <a:solidFill>
                <a:srgbClr val="FFFFFF">
                  <a:alpha val="0"/>
                </a:srgbClr>
              </a:solidFill>
            </a:endParaRPr>
          </a:p>
        </p:txBody>
      </p:sp>
      <p:pic>
        <p:nvPicPr>
          <p:cNvPr id="4" name="Picture 1260919718" descr="command-hw2-2.png"/>
          <p:cNvPicPr>
            <a:picLocks noChangeAspect="1"/>
          </p:cNvPicPr>
          <p:nvPr/>
        </p:nvPicPr>
        <p:blipFill>
          <a:blip r:embed="rId3"/>
          <a:stretch>
            <a:fillRect/>
          </a:stretch>
        </p:blipFill>
        <p:spPr>
          <a:xfrm>
            <a:off x="320040" y="1445035"/>
            <a:ext cx="6016752" cy="21496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Create and exec are requests to the gateway.</a:t>
            </a: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Create:</a:t>
            </a:r>
            <a:r>
              <a:rPr lang="en-US" sz="1100" b="0">
                <a:solidFill>
                  <a:srgbClr val="000000"/>
                </a:solidFill>
              </a:rPr>
              <a:t> </a:t>
            </a:r>
            <a:r>
              <a:rPr lang="en-US" sz="1100" b="0">
                <a:solidFill>
                  <a:srgbClr val="000000"/>
                </a:solidFill>
                <a:latin typeface="Aptos Mono"/>
              </a:rPr>
              <a:t>--from</a:t>
            </a:r>
            <a:r>
              <a:rPr lang="en-US" sz="1100" b="0">
                <a:solidFill>
                  <a:srgbClr val="000000"/>
                </a:solidFill>
              </a:rPr>
              <a:t> names the image and </a:t>
            </a:r>
            <a:r>
              <a:rPr lang="en-US" sz="1100" b="0">
                <a:solidFill>
                  <a:srgbClr val="000000"/>
                </a:solidFill>
                <a:latin typeface="Aptos Mono"/>
              </a:rPr>
              <a:t>--policy</a:t>
            </a:r>
            <a:r>
              <a:rPr lang="en-US" sz="1100" b="0">
                <a:solidFill>
                  <a:srgbClr val="000000"/>
                </a:solidFill>
              </a:rPr>
              <a:t> the policy file.</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Exec:</a:t>
            </a:r>
            <a:r>
              <a:rPr lang="en-US" sz="1100" b="0">
                <a:solidFill>
                  <a:srgbClr val="000000"/>
                </a:solidFill>
              </a:rPr>
              <a:t> </a:t>
            </a:r>
            <a:r>
              <a:rPr lang="en-US" sz="1100" b="0">
                <a:solidFill>
                  <a:srgbClr val="000000"/>
                </a:solidFill>
                <a:latin typeface="Aptos Mono"/>
              </a:rPr>
              <a:t>--no-login-shell --no-tty</a:t>
            </a:r>
            <a:r>
              <a:rPr lang="en-US" sz="1100" b="0">
                <a:solidFill>
                  <a:srgbClr val="000000"/>
                </a:solidFill>
              </a:rPr>
              <a:t> keep an MCP stream clean.</a:t>
            </a:r>
            <a:endParaRPr/>
          </a:p>
        </p:txBody>
      </p:sp>
      <p:pic>
        <p:nvPicPr>
          <p:cNvPr id="4" name="Picture 1260919718" descr="command-hw2-3.png"/>
          <p:cNvPicPr>
            <a:picLocks noChangeAspect="1"/>
          </p:cNvPicPr>
          <p:nvPr/>
        </p:nvPicPr>
        <p:blipFill>
          <a:blip r:embed="rId3"/>
          <a:stretch>
            <a:fillRect/>
          </a:stretch>
        </p:blipFill>
        <p:spPr>
          <a:xfrm>
            <a:off x="320040" y="1445035"/>
            <a:ext cx="6016752" cy="21496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Create and exec are requests to the gateway.</a:t>
            </a: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Create:</a:t>
            </a:r>
            <a:r>
              <a:rPr lang="en-US" sz="1100" b="0">
                <a:solidFill>
                  <a:srgbClr val="000000"/>
                </a:solidFill>
              </a:rPr>
              <a:t> </a:t>
            </a:r>
            <a:r>
              <a:rPr lang="en-US" sz="1100" b="0">
                <a:solidFill>
                  <a:srgbClr val="000000"/>
                </a:solidFill>
                <a:latin typeface="Aptos Mono"/>
              </a:rPr>
              <a:t>--from</a:t>
            </a:r>
            <a:r>
              <a:rPr lang="en-US" sz="1100" b="0">
                <a:solidFill>
                  <a:srgbClr val="000000"/>
                </a:solidFill>
              </a:rPr>
              <a:t> names the image and </a:t>
            </a:r>
            <a:r>
              <a:rPr lang="en-US" sz="1100" b="0">
                <a:solidFill>
                  <a:srgbClr val="000000"/>
                </a:solidFill>
                <a:latin typeface="Aptos Mono"/>
              </a:rPr>
              <a:t>--policy</a:t>
            </a:r>
            <a:r>
              <a:rPr lang="en-US" sz="1100" b="0">
                <a:solidFill>
                  <a:srgbClr val="000000"/>
                </a:solidFill>
              </a:rPr>
              <a:t> the policy file.</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Exec:</a:t>
            </a:r>
            <a:r>
              <a:rPr lang="en-US" sz="1100" b="0">
                <a:solidFill>
                  <a:srgbClr val="000000"/>
                </a:solidFill>
              </a:rPr>
              <a:t> </a:t>
            </a:r>
            <a:r>
              <a:rPr lang="en-US" sz="1100" b="0">
                <a:solidFill>
                  <a:srgbClr val="000000"/>
                </a:solidFill>
                <a:latin typeface="Aptos Mono"/>
              </a:rPr>
              <a:t>--no-login-shell --no-tty</a:t>
            </a:r>
            <a:r>
              <a:rPr lang="en-US" sz="1100" b="0">
                <a:solidFill>
                  <a:srgbClr val="000000"/>
                </a:solidFill>
              </a:rPr>
              <a:t> keep an MCP stream clean.</a:t>
            </a:r>
            <a:endParaRPr/>
          </a:p>
        </p:txBody>
      </p:sp>
      <p:pic>
        <p:nvPicPr>
          <p:cNvPr id="4" name="Picture 1260919718" descr="command-hw2-3.png"/>
          <p:cNvPicPr>
            <a:picLocks noChangeAspect="1"/>
          </p:cNvPicPr>
          <p:nvPr/>
        </p:nvPicPr>
        <p:blipFill>
          <a:blip r:embed="rId3"/>
          <a:stretch>
            <a:fillRect/>
          </a:stretch>
        </p:blipFill>
        <p:spPr>
          <a:xfrm>
            <a:off x="320040" y="1445035"/>
            <a:ext cx="6016752" cy="2149660"/>
          </a:xfrm>
          <a:prstGeom prst="rect">
            <a:avLst/>
          </a:prstGeom>
        </p:spPr>
      </p:pic>
      <p:sp>
        <p:nvSpPr>
          <p:cNvPr id="5" name="Rectangle 4"/>
          <p:cNvSpPr/>
          <p:nvPr/>
        </p:nvSpPr>
        <p:spPr bwMode="auto">
          <a:xfrm>
            <a:off x="320040" y="384607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Create asks the gateway for a sandbox, and exec runs a command inside it.</a:t>
            </a:r>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What and which:</a:t>
            </a:r>
            <a:r>
              <a:rPr lang="en-US" sz="1200" b="0">
                <a:solidFill>
                  <a:srgbClr val="FFFFFF">
                    <a:alpha val="0"/>
                  </a:srgbClr>
                </a:solidFill>
              </a:rPr>
              <a:t> the method's permission, then the workspace and object.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store</a:t>
            </a:r>
            <a:r>
              <a:rPr lang="en-US" sz="1200" b="0">
                <a:solidFill>
                  <a:srgbClr val="FFFFFF">
                    <a:alpha val="0"/>
                  </a:srgbClr>
                </a:solidFill>
              </a:rPr>
              <a:t> writes a record only if its version is still the one read.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our client key created </a:t>
            </a:r>
            <a:r>
              <a:rPr lang="en-US" sz="1200" b="0">
                <a:solidFill>
                  <a:srgbClr val="FFFFFF">
                    <a:alpha val="0"/>
                  </a:srgbClr>
                </a:solidFill>
                <a:latin typeface="Aptos Mono"/>
              </a:rPr>
              <a:t>cyberbird</a:t>
            </a:r>
            <a:r>
              <a:rPr lang="en-US" sz="1200" b="0">
                <a:solidFill>
                  <a:srgbClr val="FFFFFF">
                    <a:alpha val="0"/>
                  </a:srgbClr>
                </a:solidFill>
              </a:rPr>
              <a:t> in </a:t>
            </a:r>
            <a:r>
              <a:rPr lang="en-US" sz="1200" b="0">
                <a:solidFill>
                  <a:srgbClr val="FFFFFF">
                    <a:alpha val="0"/>
                  </a:srgbClr>
                </a:solidFill>
                <a:latin typeface="Aptos Mono"/>
              </a:rPr>
              <a:t>default</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What and which:</a:t>
            </a:r>
            <a:r>
              <a:rPr lang="en-US" sz="1200" b="0">
                <a:solidFill>
                  <a:srgbClr val="000000"/>
                </a:solidFill>
              </a:rPr>
              <a:t> the method's permission, then the workspace and object.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store</a:t>
            </a:r>
            <a:r>
              <a:rPr lang="en-US" sz="1200" b="0">
                <a:solidFill>
                  <a:srgbClr val="FFFFFF">
                    <a:alpha val="0"/>
                  </a:srgbClr>
                </a:solidFill>
              </a:rPr>
              <a:t> writes a record only if its version is still the one read.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our client key created </a:t>
            </a:r>
            <a:r>
              <a:rPr lang="en-US" sz="1200" b="0">
                <a:solidFill>
                  <a:srgbClr val="FFFFFF">
                    <a:alpha val="0"/>
                  </a:srgbClr>
                </a:solidFill>
                <a:latin typeface="Aptos Mono"/>
              </a:rPr>
              <a:t>cyberbird</a:t>
            </a:r>
            <a:r>
              <a:rPr lang="en-US" sz="1200" b="0">
                <a:solidFill>
                  <a:srgbClr val="FFFFFF">
                    <a:alpha val="0"/>
                  </a:srgbClr>
                </a:solidFill>
              </a:rPr>
              <a:t> in </a:t>
            </a:r>
            <a:r>
              <a:rPr lang="en-US" sz="1200" b="0">
                <a:solidFill>
                  <a:srgbClr val="FFFFFF">
                    <a:alpha val="0"/>
                  </a:srgbClr>
                </a:solidFill>
                <a:latin typeface="Aptos Mono"/>
              </a:rPr>
              <a:t>default</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What and which:</a:t>
            </a:r>
            <a:r>
              <a:rPr lang="en-US" sz="1200" b="0">
                <a:solidFill>
                  <a:srgbClr val="000000"/>
                </a:solidFill>
              </a:rPr>
              <a:t> the method's permission, then the workspace and object.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store</a:t>
            </a:r>
            <a:r>
              <a:rPr lang="en-US" sz="1200" b="0">
                <a:solidFill>
                  <a:srgbClr val="FFFFFF">
                    <a:alpha val="0"/>
                  </a:srgbClr>
                </a:solidFill>
              </a:rPr>
              <a:t> writes a record only if its version is still the one read.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our client key created </a:t>
            </a:r>
            <a:r>
              <a:rPr lang="en-US" sz="1200" b="0">
                <a:solidFill>
                  <a:srgbClr val="FFFFFF">
                    <a:alpha val="0"/>
                  </a:srgbClr>
                </a:solidFill>
                <a:latin typeface="Aptos Mono"/>
              </a:rPr>
              <a:t>cyberbird</a:t>
            </a:r>
            <a:r>
              <a:rPr lang="en-US" sz="1200" b="0">
                <a:solidFill>
                  <a:srgbClr val="FFFFFF">
                    <a:alpha val="0"/>
                  </a:srgbClr>
                </a:solidFill>
              </a:rPr>
              <a:t> in </a:t>
            </a:r>
            <a:r>
              <a:rPr lang="en-US" sz="1200" b="0">
                <a:solidFill>
                  <a:srgbClr val="FFFFFF">
                    <a:alpha val="0"/>
                  </a:srgbClr>
                </a:solidFill>
                <a:latin typeface="Aptos Mono"/>
              </a:rPr>
              <a:t>default</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What and which:</a:t>
            </a:r>
            <a:r>
              <a:rPr lang="en-US" sz="1200" b="0">
                <a:solidFill>
                  <a:srgbClr val="000000"/>
                </a:solidFill>
              </a:rPr>
              <a:t> the method's permission, then the workspace and object.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store</a:t>
            </a:r>
            <a:r>
              <a:rPr lang="en-US" sz="1200" b="0">
                <a:solidFill>
                  <a:srgbClr val="000000"/>
                </a:solidFill>
              </a:rPr>
              <a:t> writes a record only if its version is still the one read.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our client key created </a:t>
            </a:r>
            <a:r>
              <a:rPr lang="en-US" sz="1200" b="0">
                <a:solidFill>
                  <a:srgbClr val="FFFFFF">
                    <a:alpha val="0"/>
                  </a:srgbClr>
                </a:solidFill>
                <a:latin typeface="Aptos Mono"/>
              </a:rPr>
              <a:t>cyberbird</a:t>
            </a:r>
            <a:r>
              <a:rPr lang="en-US" sz="1200" b="0">
                <a:solidFill>
                  <a:srgbClr val="FFFFFF">
                    <a:alpha val="0"/>
                  </a:srgbClr>
                </a:solidFill>
              </a:rPr>
              <a:t> in </a:t>
            </a:r>
            <a:r>
              <a:rPr lang="en-US" sz="1200" b="0">
                <a:solidFill>
                  <a:srgbClr val="FFFFFF">
                    <a:alpha val="0"/>
                  </a:srgbClr>
                </a:solidFill>
                <a:latin typeface="Aptos Mono"/>
              </a:rPr>
              <a:t>default</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Who:</a:t>
            </a:r>
            <a:r>
              <a:rPr lang="en-US" sz="1200" b="0" dirty="0">
                <a:solidFill>
                  <a:srgbClr val="000000"/>
                </a:solidFill>
              </a:rPr>
              <a:t> a user's token or client key, or a supervisor's own credential.</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What and which:</a:t>
            </a:r>
            <a:r>
              <a:rPr lang="en-US" sz="1200" b="0" dirty="0">
                <a:solidFill>
                  <a:srgbClr val="000000"/>
                </a:solidFill>
              </a:rPr>
              <a:t> the method's permission, then the workspace and object.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store</a:t>
            </a:r>
            <a:r>
              <a:rPr lang="en-US" sz="1200" b="0" dirty="0">
                <a:solidFill>
                  <a:srgbClr val="000000"/>
                </a:solidFill>
              </a:rPr>
              <a:t> writes a record only if its version is still the one read.</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In </a:t>
            </a:r>
            <a:r>
              <a:rPr lang="en-US" sz="1200" b="1" dirty="0" err="1">
                <a:solidFill>
                  <a:srgbClr val="000000"/>
                </a:solidFill>
              </a:rPr>
              <a:t>Cyberbird's</a:t>
            </a:r>
            <a:r>
              <a:rPr lang="en-US" sz="1200" b="1" dirty="0">
                <a:solidFill>
                  <a:srgbClr val="000000"/>
                </a:solidFill>
              </a:rPr>
              <a:t> case,</a:t>
            </a:r>
            <a:r>
              <a:rPr lang="en-US" sz="1200" b="0" dirty="0">
                <a:solidFill>
                  <a:srgbClr val="000000"/>
                </a:solidFill>
              </a:rPr>
              <a:t> our client key created </a:t>
            </a:r>
            <a:r>
              <a:rPr lang="en-US" sz="1200" b="0" dirty="0" err="1">
                <a:solidFill>
                  <a:srgbClr val="000000"/>
                </a:solidFill>
                <a:latin typeface="Aptos Mono"/>
              </a:rPr>
              <a:t>cyberbird</a:t>
            </a:r>
            <a:r>
              <a:rPr lang="en-US" sz="1200" b="0" dirty="0">
                <a:solidFill>
                  <a:srgbClr val="000000"/>
                </a:solidFill>
              </a:rPr>
              <a:t> in </a:t>
            </a:r>
            <a:r>
              <a:rPr lang="en-US" sz="1200" b="0" dirty="0">
                <a:solidFill>
                  <a:srgbClr val="000000"/>
                </a:solidFill>
                <a:latin typeface="Aptos Mono"/>
              </a:rPr>
              <a:t>default</a:t>
            </a:r>
            <a:r>
              <a:rPr lang="en-US" sz="1200" b="0" dirty="0">
                <a:solidFill>
                  <a:srgbClr val="000000"/>
                </a:solidFill>
              </a:rPr>
              <a:t>.</a:t>
            </a:r>
            <a:endParaRPr dirty="0"/>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5" name="Picture 1847912324" descr="gateway-authority-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gateway holds authority and records.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Who:</a:t>
            </a:r>
            <a:r>
              <a:rPr lang="en-US" sz="1200" b="0">
                <a:solidFill>
                  <a:srgbClr val="000000"/>
                </a:solidFill>
              </a:rPr>
              <a:t> a user's token or client key, or a supervisor's own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What and which:</a:t>
            </a:r>
            <a:r>
              <a:rPr lang="en-US" sz="1200" b="0">
                <a:solidFill>
                  <a:srgbClr val="000000"/>
                </a:solidFill>
              </a:rPr>
              <a:t> the method's permission, then the workspace and object.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store</a:t>
            </a:r>
            <a:r>
              <a:rPr lang="en-US" sz="1200" b="0">
                <a:solidFill>
                  <a:srgbClr val="000000"/>
                </a:solidFill>
              </a:rPr>
              <a:t> writes a record only if its version is still the one read.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our client key created </a:t>
            </a:r>
            <a:r>
              <a:rPr lang="en-US" sz="1200" b="0">
                <a:solidFill>
                  <a:srgbClr val="000000"/>
                </a:solidFill>
                <a:latin typeface="Aptos Mono"/>
              </a:rPr>
              <a:t>cyberbird</a:t>
            </a:r>
            <a:r>
              <a:rPr lang="en-US" sz="1200" b="0">
                <a:solidFill>
                  <a:srgbClr val="000000"/>
                </a:solidFill>
              </a:rPr>
              <a:t> in </a:t>
            </a:r>
            <a:r>
              <a:rPr lang="en-US" sz="1200" b="0">
                <a:solidFill>
                  <a:srgbClr val="000000"/>
                </a:solidFill>
                <a:latin typeface="Aptos Mono"/>
              </a:rPr>
              <a:t>default</a:t>
            </a:r>
            <a:r>
              <a:rPr lang="en-US" sz="1200" b="0">
                <a:solidFill>
                  <a:srgbClr val="000000"/>
                </a:solidFill>
              </a:rPr>
              <a:t>.</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gateway checks caller, method and object before a conditional write.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5.</a:t>
            </a:r>
            <a:endParaRPr/>
          </a:p>
        </p:txBody>
      </p:sp>
      <p:pic>
        <p:nvPicPr>
          <p:cNvPr id="6" name="Picture 1847912324" descr="gateway-authority-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Landlock</a:t>
            </a:r>
            <a:r>
              <a:rPr lang="en-US" sz="1200" b="0">
                <a:solidFill>
                  <a:srgbClr val="FFFFFF">
                    <a:alpha val="0"/>
                  </a:srgbClr>
                </a:solidFill>
              </a:rPr>
              <a:t> fences its files, above a baseline that guards the runtime.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Seccomp</a:t>
            </a:r>
            <a:r>
              <a:rPr lang="en-US" sz="1200" b="0">
                <a:solidFill>
                  <a:srgbClr val="FFFFFF">
                    <a:alpha val="0"/>
                  </a:srgbClr>
                </a:solidFill>
              </a:rPr>
              <a:t> blocks risky calls and pauses </a:t>
            </a:r>
            <a:r>
              <a:rPr lang="en-US" sz="1200" b="0">
                <a:solidFill>
                  <a:srgbClr val="FFFFFF">
                    <a:alpha val="0"/>
                  </a:srgbClr>
                </a:solidFill>
                <a:latin typeface="Aptos Mono"/>
              </a:rPr>
              <a:t>connect()</a:t>
            </a:r>
            <a:r>
              <a:rPr lang="en-US" sz="1200" b="0">
                <a:solidFill>
                  <a:srgbClr val="FFFFFF">
                    <a:alpha val="0"/>
                  </a:srgbClr>
                </a:solidFill>
              </a:rPr>
              <a:t> for the broker.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its user, uid 1000, could not list its own home directory.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1.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Landlock</a:t>
            </a:r>
            <a:r>
              <a:rPr lang="en-US" sz="1200" b="0">
                <a:solidFill>
                  <a:srgbClr val="FFFFFF">
                    <a:alpha val="0"/>
                  </a:srgbClr>
                </a:solidFill>
              </a:rPr>
              <a:t> fences its files, above a baseline that guards the runtime.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Seccomp</a:t>
            </a:r>
            <a:r>
              <a:rPr lang="en-US" sz="1200" b="0">
                <a:solidFill>
                  <a:srgbClr val="FFFFFF">
                    <a:alpha val="0"/>
                  </a:srgbClr>
                </a:solidFill>
              </a:rPr>
              <a:t> blocks risky calls and pauses </a:t>
            </a:r>
            <a:r>
              <a:rPr lang="en-US" sz="1200" b="0">
                <a:solidFill>
                  <a:srgbClr val="FFFFFF">
                    <a:alpha val="0"/>
                  </a:srgbClr>
                </a:solidFill>
                <a:latin typeface="Aptos Mono"/>
              </a:rPr>
              <a:t>connect()</a:t>
            </a:r>
            <a:r>
              <a:rPr lang="en-US" sz="1200" b="0">
                <a:solidFill>
                  <a:srgbClr val="FFFFFF">
                    <a:alpha val="0"/>
                  </a:srgbClr>
                </a:solidFill>
              </a:rPr>
              <a:t> for the broker.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its user, uid 1000, could not list its own home directory.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2.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Landlock</a:t>
            </a:r>
            <a:r>
              <a:rPr lang="en-US" sz="1200" b="0">
                <a:solidFill>
                  <a:srgbClr val="000000"/>
                </a:solidFill>
              </a:rPr>
              <a:t> fences its files, above a baseline that guards the runtime.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Seccomp</a:t>
            </a:r>
            <a:r>
              <a:rPr lang="en-US" sz="1200" b="0">
                <a:solidFill>
                  <a:srgbClr val="FFFFFF">
                    <a:alpha val="0"/>
                  </a:srgbClr>
                </a:solidFill>
              </a:rPr>
              <a:t> blocks risky calls and pauses </a:t>
            </a:r>
            <a:r>
              <a:rPr lang="en-US" sz="1200" b="0">
                <a:solidFill>
                  <a:srgbClr val="FFFFFF">
                    <a:alpha val="0"/>
                  </a:srgbClr>
                </a:solidFill>
                <a:latin typeface="Aptos Mono"/>
              </a:rPr>
              <a:t>connect()</a:t>
            </a:r>
            <a:r>
              <a:rPr lang="en-US" sz="1200" b="0">
                <a:solidFill>
                  <a:srgbClr val="FFFFFF">
                    <a:alpha val="0"/>
                  </a:srgbClr>
                </a:solidFill>
              </a:rPr>
              <a:t> for the broker.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its user, uid 1000, could not list its own home directory.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3.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Landlock</a:t>
            </a:r>
            <a:r>
              <a:rPr lang="en-US" sz="1200" b="0">
                <a:solidFill>
                  <a:srgbClr val="000000"/>
                </a:solidFill>
              </a:rPr>
              <a:t> fences its files, above a baseline that guards the runtime.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Seccomp</a:t>
            </a:r>
            <a:r>
              <a:rPr lang="en-US" sz="1200" b="0">
                <a:solidFill>
                  <a:srgbClr val="000000"/>
                </a:solidFill>
              </a:rPr>
              <a:t> blocks risky calls and pauses </a:t>
            </a:r>
            <a:r>
              <a:rPr lang="en-US" sz="1200" b="0">
                <a:solidFill>
                  <a:srgbClr val="000000"/>
                </a:solidFill>
                <a:latin typeface="Aptos Mono"/>
              </a:rPr>
              <a:t>connect()</a:t>
            </a:r>
            <a:r>
              <a:rPr lang="en-US" sz="1200" b="0">
                <a:solidFill>
                  <a:srgbClr val="000000"/>
                </a:solidFill>
              </a:rPr>
              <a:t> for the broker.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its user, uid 1000, could not list its own home directory.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4.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Landlock</a:t>
            </a:r>
            <a:r>
              <a:rPr lang="en-US" sz="1200" b="0">
                <a:solidFill>
                  <a:srgbClr val="000000"/>
                </a:solidFill>
              </a:rPr>
              <a:t> fences its files, above a baseline that guards the runtime.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Seccomp</a:t>
            </a:r>
            <a:r>
              <a:rPr lang="en-US" sz="1200" b="0">
                <a:solidFill>
                  <a:srgbClr val="000000"/>
                </a:solidFill>
              </a:rPr>
              <a:t> blocks risky calls and pauses </a:t>
            </a:r>
            <a:r>
              <a:rPr lang="en-US" sz="1200" b="0">
                <a:solidFill>
                  <a:srgbClr val="000000"/>
                </a:solidFill>
                <a:latin typeface="Aptos Mono"/>
              </a:rPr>
              <a:t>connect()</a:t>
            </a:r>
            <a:r>
              <a:rPr lang="en-US" sz="1200" b="0">
                <a:solidFill>
                  <a:srgbClr val="000000"/>
                </a:solidFill>
              </a:rPr>
              <a:t> for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its user, uid 1000, could not list its own home directory.</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5" name="Picture 1847912324" descr="runtime-startup-4.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starts with reduced privileges.</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child drops privilege first:</a:t>
            </a:r>
            <a:r>
              <a:rPr lang="en-US" sz="1200" b="0">
                <a:solidFill>
                  <a:srgbClr val="000000"/>
                </a:solidFill>
              </a:rPr>
              <a:t> non-root IDs and no capabilities.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Landlock</a:t>
            </a:r>
            <a:r>
              <a:rPr lang="en-US" sz="1200" b="0">
                <a:solidFill>
                  <a:srgbClr val="000000"/>
                </a:solidFill>
              </a:rPr>
              <a:t> fences its files, above a baseline that guards the runtime.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Seccomp</a:t>
            </a:r>
            <a:r>
              <a:rPr lang="en-US" sz="1200" b="0">
                <a:solidFill>
                  <a:srgbClr val="000000"/>
                </a:solidFill>
              </a:rPr>
              <a:t> blocks risky calls and pauses </a:t>
            </a:r>
            <a:r>
              <a:rPr lang="en-US" sz="1200" b="0">
                <a:solidFill>
                  <a:srgbClr val="000000"/>
                </a:solidFill>
                <a:latin typeface="Aptos Mono"/>
              </a:rPr>
              <a:t>connect()</a:t>
            </a:r>
            <a:r>
              <a:rPr lang="en-US" sz="1200" b="0">
                <a:solidFill>
                  <a:srgbClr val="000000"/>
                </a:solidFill>
              </a:rPr>
              <a:t> for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its user, uid 1000, could not list its own home directory.</a:t>
            </a:r>
            <a:endParaRPr/>
          </a:p>
        </p:txBody>
      </p:sp>
      <p:sp>
        <p:nvSpPr>
          <p:cNvPr id="4" name="Rectangle 4"/>
          <p:cNvSpPr/>
          <p:nvPr/>
        </p:nvSpPr>
        <p:spPr bwMode="auto">
          <a:xfrm>
            <a:off x="320040" y="4362869"/>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fences are in the kernel before the agent's first instruction runs.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7.</a:t>
            </a:r>
            <a:endParaRPr/>
          </a:p>
        </p:txBody>
      </p:sp>
      <p:pic>
        <p:nvPicPr>
          <p:cNvPr id="6" name="Picture 1847912324" descr="runtime-startup-4.png"/>
          <p:cNvPicPr>
            <a:picLocks noChangeAspect="1"/>
          </p:cNvPicPr>
          <p:nvPr/>
        </p:nvPicPr>
        <p:blipFill>
          <a:blip r:embed="rId3"/>
          <a:stretch>
            <a:fillRect/>
          </a:stretch>
        </p:blipFill>
        <p:spPr>
          <a:xfrm>
            <a:off x="320040" y="2088583"/>
            <a:ext cx="6016752" cy="202290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runtime sets</a:t>
            </a:r>
            <a:r>
              <a:rPr lang="en-US" sz="1200" b="0">
                <a:solidFill>
                  <a:srgbClr val="FFFFFF">
                    <a:alpha val="0"/>
                  </a:srgbClr>
                </a:solidFill>
              </a:rPr>
              <a:t> </a:t>
            </a:r>
            <a:r>
              <a:rPr lang="en-US" sz="1200" b="0">
                <a:solidFill>
                  <a:srgbClr val="FFFFFF">
                    <a:alpha val="0"/>
                  </a:srgbClr>
                </a:solidFill>
                <a:latin typeface="Aptos Mono"/>
              </a:rPr>
              <a:t>process</a:t>
            </a:r>
            <a:r>
              <a:rPr lang="en-US" sz="1200" b="0">
                <a:solidFill>
                  <a:srgbClr val="FFFFFF">
                    <a:alpha val="0"/>
                  </a:srgbClr>
                </a:solidFill>
              </a:rPr>
              <a:t>, the workload's user and group, at creation.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holds</a:t>
            </a:r>
            <a:r>
              <a:rPr lang="en-US" sz="1200" b="0">
                <a:solidFill>
                  <a:srgbClr val="FFFFFF">
                    <a:alpha val="0"/>
                  </a:srgbClr>
                </a:solidFill>
              </a:rPr>
              <a:t> </a:t>
            </a:r>
            <a:r>
              <a:rPr lang="en-US" sz="1200" b="0">
                <a:solidFill>
                  <a:srgbClr val="FFFFFF">
                    <a:alpha val="0"/>
                  </a:srgbClr>
                </a:solidFill>
                <a:latin typeface="Aptos Mono"/>
              </a:rPr>
              <a:t>network_policies</a:t>
            </a:r>
            <a:r>
              <a:rPr lang="en-US" sz="1200" b="0">
                <a:solidFill>
                  <a:srgbClr val="FFFFFF">
                    <a:alpha val="0"/>
                  </a:srgbClr>
                </a:solidFill>
              </a:rPr>
              <a:t> and </a:t>
            </a:r>
            <a:r>
              <a:rPr lang="en-US" sz="1200" b="0">
                <a:solidFill>
                  <a:srgbClr val="FFFFFF">
                    <a:alpha val="0"/>
                  </a:srgbClr>
                </a:solidFill>
                <a:latin typeface="Aptos Mono"/>
              </a:rPr>
              <a:t>network_middlewares</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runtime sets</a:t>
            </a:r>
            <a:r>
              <a:rPr lang="en-US" sz="1200" b="0">
                <a:solidFill>
                  <a:srgbClr val="FFFFFF">
                    <a:alpha val="0"/>
                  </a:srgbClr>
                </a:solidFill>
              </a:rPr>
              <a:t> </a:t>
            </a:r>
            <a:r>
              <a:rPr lang="en-US" sz="1200" b="0">
                <a:solidFill>
                  <a:srgbClr val="FFFFFF">
                    <a:alpha val="0"/>
                  </a:srgbClr>
                </a:solidFill>
                <a:latin typeface="Aptos Mono"/>
              </a:rPr>
              <a:t>process</a:t>
            </a:r>
            <a:r>
              <a:rPr lang="en-US" sz="1200" b="0">
                <a:solidFill>
                  <a:srgbClr val="FFFFFF">
                    <a:alpha val="0"/>
                  </a:srgbClr>
                </a:solidFill>
              </a:rPr>
              <a:t>, the workload's user and group, at creation.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holds</a:t>
            </a:r>
            <a:r>
              <a:rPr lang="en-US" sz="1200" b="0">
                <a:solidFill>
                  <a:srgbClr val="FFFFFF">
                    <a:alpha val="0"/>
                  </a:srgbClr>
                </a:solidFill>
              </a:rPr>
              <a:t> </a:t>
            </a:r>
            <a:r>
              <a:rPr lang="en-US" sz="1200" b="0">
                <a:solidFill>
                  <a:srgbClr val="FFFFFF">
                    <a:alpha val="0"/>
                  </a:srgbClr>
                </a:solidFill>
                <a:latin typeface="Aptos Mono"/>
              </a:rPr>
              <a:t>network_policies</a:t>
            </a:r>
            <a:r>
              <a:rPr lang="en-US" sz="1200" b="0">
                <a:solidFill>
                  <a:srgbClr val="FFFFFF">
                    <a:alpha val="0"/>
                  </a:srgbClr>
                </a:solidFill>
              </a:rPr>
              <a:t> and </a:t>
            </a:r>
            <a:r>
              <a:rPr lang="en-US" sz="1200" b="0">
                <a:solidFill>
                  <a:srgbClr val="FFFFFF">
                    <a:alpha val="0"/>
                  </a:srgbClr>
                </a:solidFill>
                <a:latin typeface="Aptos Mono"/>
              </a:rPr>
              <a:t>network_middlewares</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holds</a:t>
            </a:r>
            <a:r>
              <a:rPr lang="en-US" sz="1200" b="0">
                <a:solidFill>
                  <a:srgbClr val="FFFFFF">
                    <a:alpha val="0"/>
                  </a:srgbClr>
                </a:solidFill>
              </a:rPr>
              <a:t> </a:t>
            </a:r>
            <a:r>
              <a:rPr lang="en-US" sz="1200" b="0">
                <a:solidFill>
                  <a:srgbClr val="FFFFFF">
                    <a:alpha val="0"/>
                  </a:srgbClr>
                </a:solidFill>
                <a:latin typeface="Aptos Mono"/>
              </a:rPr>
              <a:t>network_policies</a:t>
            </a:r>
            <a:r>
              <a:rPr lang="en-US" sz="1200" b="0">
                <a:solidFill>
                  <a:srgbClr val="FFFFFF">
                    <a:alpha val="0"/>
                  </a:srgbClr>
                </a:solidFill>
              </a:rPr>
              <a:t> and </a:t>
            </a:r>
            <a:r>
              <a:rPr lang="en-US" sz="1200" b="0">
                <a:solidFill>
                  <a:srgbClr val="FFFFFF">
                    <a:alpha val="0"/>
                  </a:srgbClr>
                </a:solidFill>
                <a:latin typeface="Aptos Mono"/>
              </a:rPr>
              <a:t>network_middlewares</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holds</a:t>
            </a:r>
            <a:r>
              <a:rPr lang="en-US" sz="1200" b="0">
                <a:solidFill>
                  <a:srgbClr val="000000"/>
                </a:solidFill>
              </a:rPr>
              <a:t> </a:t>
            </a:r>
            <a:r>
              <a:rPr lang="en-US" sz="1200" b="0">
                <a:solidFill>
                  <a:srgbClr val="000000"/>
                </a:solidFill>
                <a:latin typeface="Aptos Mono"/>
              </a:rPr>
              <a:t>network_policies</a:t>
            </a:r>
            <a:r>
              <a:rPr lang="en-US" sz="1200" b="0">
                <a:solidFill>
                  <a:srgbClr val="000000"/>
                </a:solidFill>
              </a:rPr>
              <a:t> and </a:t>
            </a:r>
            <a:r>
              <a:rPr lang="en-US" sz="1200" b="0">
                <a:solidFill>
                  <a:srgbClr val="000000"/>
                </a:solidFill>
                <a:latin typeface="Aptos Mono"/>
              </a:rPr>
              <a:t>network_middlewares</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holds</a:t>
            </a:r>
            <a:r>
              <a:rPr lang="en-US" sz="1200" b="0">
                <a:solidFill>
                  <a:srgbClr val="000000"/>
                </a:solidFill>
              </a:rPr>
              <a:t> </a:t>
            </a:r>
            <a:r>
              <a:rPr lang="en-US" sz="1200" b="0">
                <a:solidFill>
                  <a:srgbClr val="000000"/>
                </a:solidFill>
                <a:latin typeface="Aptos Mono"/>
              </a:rPr>
              <a:t>network_policies</a:t>
            </a:r>
            <a:r>
              <a:rPr lang="en-US" sz="1200" b="0">
                <a:solidFill>
                  <a:srgbClr val="000000"/>
                </a:solidFill>
              </a:rPr>
              <a:t> and </a:t>
            </a:r>
            <a:r>
              <a:rPr lang="en-US" sz="1200" b="0">
                <a:solidFill>
                  <a:srgbClr val="000000"/>
                </a:solidFill>
                <a:latin typeface="Aptos Mono"/>
              </a:rPr>
              <a:t>network_middlewares</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one rule lets </a:t>
            </a:r>
            <a:r>
              <a:rPr lang="en-US" sz="1200" b="0">
                <a:solidFill>
                  <a:srgbClr val="FFFFFF">
                    <a:alpha val="0"/>
                  </a:srgbClr>
                </a:solidFill>
                <a:latin typeface="Aptos Mono"/>
              </a:rPr>
              <a:t>python3.12</a:t>
            </a:r>
            <a:r>
              <a:rPr lang="en-US" sz="1200" b="0">
                <a:solidFill>
                  <a:srgbClr val="FFFFFF">
                    <a:alpha val="0"/>
                  </a:srgbClr>
                </a:solidFill>
              </a:rPr>
              <a:t> reach the model server.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holds</a:t>
            </a:r>
            <a:r>
              <a:rPr lang="en-US" sz="1200" b="0">
                <a:solidFill>
                  <a:srgbClr val="000000"/>
                </a:solidFill>
              </a:rPr>
              <a:t> </a:t>
            </a:r>
            <a:r>
              <a:rPr lang="en-US" sz="1200" b="0">
                <a:solidFill>
                  <a:srgbClr val="000000"/>
                </a:solidFill>
                <a:latin typeface="Aptos Mono"/>
              </a:rPr>
              <a:t>network_policies</a:t>
            </a:r>
            <a:r>
              <a:rPr lang="en-US" sz="1200" b="0">
                <a:solidFill>
                  <a:srgbClr val="000000"/>
                </a:solidFill>
              </a:rPr>
              <a:t> and </a:t>
            </a:r>
            <a:r>
              <a:rPr lang="en-US" sz="1200" b="0">
                <a:solidFill>
                  <a:srgbClr val="000000"/>
                </a:solidFill>
                <a:latin typeface="Aptos Mono"/>
              </a:rPr>
              <a:t>network_middlewares</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one rule lets </a:t>
            </a:r>
            <a:r>
              <a:rPr lang="en-US" sz="1200" b="0">
                <a:solidFill>
                  <a:srgbClr val="000000"/>
                </a:solidFill>
                <a:latin typeface="Aptos Mono"/>
              </a:rPr>
              <a:t>python3.12</a:t>
            </a:r>
            <a:r>
              <a:rPr lang="en-US" sz="1200" b="0">
                <a:solidFill>
                  <a:srgbClr val="000000"/>
                </a:solidFill>
              </a:rPr>
              <a:t> reach the model server.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1847912324" descr="policy-pins-6.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policy states a workload's authority.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holds</a:t>
            </a:r>
            <a:r>
              <a:rPr lang="en-US" sz="1200" b="0">
                <a:solidFill>
                  <a:srgbClr val="000000"/>
                </a:solidFill>
              </a:rPr>
              <a:t> </a:t>
            </a:r>
            <a:r>
              <a:rPr lang="en-US" sz="1200" b="0">
                <a:solidFill>
                  <a:srgbClr val="000000"/>
                </a:solidFill>
                <a:latin typeface="Aptos Mono"/>
              </a:rPr>
              <a:t>filesystem_policy</a:t>
            </a:r>
            <a:r>
              <a:rPr lang="en-US" sz="1200" b="0">
                <a:solidFill>
                  <a:srgbClr val="000000"/>
                </a:solidFill>
              </a:rPr>
              <a:t> and </a:t>
            </a:r>
            <a:r>
              <a:rPr lang="en-US" sz="1200" b="0">
                <a:solidFill>
                  <a:srgbClr val="000000"/>
                </a:solidFill>
                <a:latin typeface="Aptos Mono"/>
              </a:rPr>
              <a:t>landlock</a:t>
            </a:r>
            <a:r>
              <a:rPr lang="en-US" sz="1200" b="0">
                <a:solidFill>
                  <a:srgbClr val="000000"/>
                </a:solidFill>
              </a:rPr>
              <a:t>, fixed at the start.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runtime sets</a:t>
            </a:r>
            <a:r>
              <a:rPr lang="en-US" sz="1200" b="0">
                <a:solidFill>
                  <a:srgbClr val="000000"/>
                </a:solidFill>
              </a:rPr>
              <a:t> </a:t>
            </a:r>
            <a:r>
              <a:rPr lang="en-US" sz="1200" b="0">
                <a:solidFill>
                  <a:srgbClr val="000000"/>
                </a:solidFill>
                <a:latin typeface="Aptos Mono"/>
              </a:rPr>
              <a:t>process</a:t>
            </a:r>
            <a:r>
              <a:rPr lang="en-US" sz="1200" b="0">
                <a:solidFill>
                  <a:srgbClr val="000000"/>
                </a:solidFill>
              </a:rPr>
              <a:t>, the workload's user and group, at creation.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holds</a:t>
            </a:r>
            <a:r>
              <a:rPr lang="en-US" sz="1200" b="0">
                <a:solidFill>
                  <a:srgbClr val="000000"/>
                </a:solidFill>
              </a:rPr>
              <a:t> </a:t>
            </a:r>
            <a:r>
              <a:rPr lang="en-US" sz="1200" b="0">
                <a:solidFill>
                  <a:srgbClr val="000000"/>
                </a:solidFill>
                <a:latin typeface="Aptos Mono"/>
              </a:rPr>
              <a:t>network_policies</a:t>
            </a:r>
            <a:r>
              <a:rPr lang="en-US" sz="1200" b="0">
                <a:solidFill>
                  <a:srgbClr val="000000"/>
                </a:solidFill>
              </a:rPr>
              <a:t> and </a:t>
            </a:r>
            <a:r>
              <a:rPr lang="en-US" sz="1200" b="0">
                <a:solidFill>
                  <a:srgbClr val="000000"/>
                </a:solidFill>
                <a:latin typeface="Aptos Mono"/>
              </a:rPr>
              <a:t>network_middlewares</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one rule lets </a:t>
            </a:r>
            <a:r>
              <a:rPr lang="en-US" sz="1200" b="0">
                <a:solidFill>
                  <a:srgbClr val="000000"/>
                </a:solidFill>
                <a:latin typeface="Aptos Mono"/>
              </a:rPr>
              <a:t>python3.12</a:t>
            </a:r>
            <a:r>
              <a:rPr lang="en-US" sz="1200" b="0">
                <a:solidFill>
                  <a:srgbClr val="000000"/>
                </a:solidFill>
              </a:rPr>
              <a:t> reach the model server.</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File rules are fixed at the start, and network rules can change live.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6" name="Picture 1847912324" descr="policy-pins-6.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block by block</a:t>
            </a:r>
            <a:r>
              <a:rPr baseline="30000"/>
              <a:t>[1]</a:t>
            </a:r>
            <a:endParaRP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read list grants </a:t>
            </a:r>
            <a:r>
              <a:rPr lang="en-US" sz="1200" b="0">
                <a:solidFill>
                  <a:srgbClr val="FFFFFF">
                    <a:alpha val="0"/>
                  </a:srgbClr>
                </a:solidFill>
                <a:latin typeface="Aptos Mono"/>
              </a:rPr>
              <a:t>/app</a:t>
            </a:r>
            <a:r>
              <a:rPr lang="en-US" sz="1200" b="1">
                <a:solidFill>
                  <a:srgbClr val="FFFFFF">
                    <a:alpha val="0"/>
                  </a:srgbClr>
                </a:solidFill>
              </a:rPr>
              <a:t>,</a:t>
            </a:r>
            <a:r>
              <a:rPr lang="en-US" sz="1200" b="0">
                <a:solidFill>
                  <a:srgbClr val="FFFFFF">
                    <a:alpha val="0"/>
                  </a:srgbClr>
                </a:solidFill>
              </a:rPr>
              <a:t> so every case and the answer key stay readable.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One network rule</a:t>
            </a:r>
            <a:r>
              <a:rPr lang="en-US" sz="1200" b="0">
                <a:solidFill>
                  <a:srgbClr val="FFFFFF">
                    <a:alpha val="0"/>
                  </a:srgbClr>
                </a:solidFill>
              </a:rPr>
              <a:t> lets </a:t>
            </a:r>
            <a:r>
              <a:rPr lang="en-US" sz="1200" b="0">
                <a:solidFill>
                  <a:srgbClr val="FFFFFF">
                    <a:alpha val="0"/>
                  </a:srgbClr>
                </a:solidFill>
                <a:latin typeface="Aptos Mono"/>
              </a:rPr>
              <a:t>python3.12</a:t>
            </a:r>
            <a:r>
              <a:rPr lang="en-US" sz="1200" b="0">
                <a:solidFill>
                  <a:srgbClr val="FFFFFF">
                    <a:alpha val="0"/>
                  </a:srgbClr>
                </a:solidFill>
              </a:rPr>
              <a:t> open TCP to the model server's port.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policy-blocks" descr="policy-blocks-1.png"/>
          <p:cNvPicPr>
            <a:picLocks noChangeAspect="1"/>
          </p:cNvPicPr>
          <p:nvPr/>
        </p:nvPicPr>
        <p:blipFill>
          <a:blip r:embed="rId3"/>
          <a:stretch>
            <a:fillRect/>
          </a:stretch>
        </p:blipFill>
        <p:spPr>
          <a:xfrm>
            <a:off x="320040" y="1445035"/>
            <a:ext cx="6016752" cy="265456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block by block</a:t>
            </a:r>
            <a:r>
              <a:rPr baseline="30000"/>
              <a:t>[1]</a:t>
            </a:r>
            <a:endParaRP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One network rule</a:t>
            </a:r>
            <a:r>
              <a:rPr lang="en-US" sz="1200" b="0">
                <a:solidFill>
                  <a:srgbClr val="FFFFFF">
                    <a:alpha val="0"/>
                  </a:srgbClr>
                </a:solidFill>
              </a:rPr>
              <a:t> lets </a:t>
            </a:r>
            <a:r>
              <a:rPr lang="en-US" sz="1200" b="0">
                <a:solidFill>
                  <a:srgbClr val="FFFFFF">
                    <a:alpha val="0"/>
                  </a:srgbClr>
                </a:solidFill>
                <a:latin typeface="Aptos Mono"/>
              </a:rPr>
              <a:t>python3.12</a:t>
            </a:r>
            <a:r>
              <a:rPr lang="en-US" sz="1200" b="0">
                <a:solidFill>
                  <a:srgbClr val="FFFFFF">
                    <a:alpha val="0"/>
                  </a:srgbClr>
                </a:solidFill>
              </a:rPr>
              <a:t> open TCP to the model server's port.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policy-blocks" descr="policy-blocks-2.png"/>
          <p:cNvPicPr>
            <a:picLocks noChangeAspect="1"/>
          </p:cNvPicPr>
          <p:nvPr/>
        </p:nvPicPr>
        <p:blipFill>
          <a:blip r:embed="rId3"/>
          <a:stretch>
            <a:fillRect/>
          </a:stretch>
        </p:blipFill>
        <p:spPr>
          <a:xfrm>
            <a:off x="320040" y="1445035"/>
            <a:ext cx="6016752" cy="265456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block by block</a:t>
            </a:r>
            <a:r>
              <a:rPr baseline="30000"/>
              <a:t>[1]</a:t>
            </a:r>
            <a:endParaRP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One network rule</a:t>
            </a:r>
            <a:r>
              <a:rPr lang="en-US" sz="1200" b="0">
                <a:solidFill>
                  <a:srgbClr val="FFFFFF">
                    <a:alpha val="0"/>
                  </a:srgbClr>
                </a:solidFill>
              </a:rPr>
              <a:t> lets </a:t>
            </a:r>
            <a:r>
              <a:rPr lang="en-US" sz="1200" b="0">
                <a:solidFill>
                  <a:srgbClr val="FFFFFF">
                    <a:alpha val="0"/>
                  </a:srgbClr>
                </a:solidFill>
                <a:latin typeface="Aptos Mono"/>
              </a:rPr>
              <a:t>python3.12</a:t>
            </a:r>
            <a:r>
              <a:rPr lang="en-US" sz="1200" b="0">
                <a:solidFill>
                  <a:srgbClr val="FFFFFF">
                    <a:alpha val="0"/>
                  </a:srgbClr>
                </a:solidFill>
              </a:rPr>
              <a:t> open TCP to the model server's port.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5" name="Picture policy-blocks" descr="policy-blocks-3.png"/>
          <p:cNvPicPr>
            <a:picLocks noChangeAspect="1"/>
          </p:cNvPicPr>
          <p:nvPr/>
        </p:nvPicPr>
        <p:blipFill>
          <a:blip r:embed="rId3"/>
          <a:stretch>
            <a:fillRect/>
          </a:stretch>
        </p:blipFill>
        <p:spPr>
          <a:xfrm>
            <a:off x="320040" y="1445035"/>
            <a:ext cx="6016752" cy="265456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block by block</a:t>
            </a:r>
            <a:r>
              <a:rPr baseline="30000"/>
              <a:t>[1]</a:t>
            </a:r>
            <a:endParaRP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One network rule</a:t>
            </a:r>
            <a:r>
              <a:rPr lang="en-US" sz="1200" b="0">
                <a:solidFill>
                  <a:srgbClr val="FFFFFF">
                    <a:alpha val="0"/>
                  </a:srgbClr>
                </a:solidFill>
              </a:rPr>
              <a:t> lets </a:t>
            </a:r>
            <a:r>
              <a:rPr lang="en-US" sz="1200" b="0">
                <a:solidFill>
                  <a:srgbClr val="FFFFFF">
                    <a:alpha val="0"/>
                  </a:srgbClr>
                </a:solidFill>
                <a:latin typeface="Aptos Mono"/>
              </a:rPr>
              <a:t>python3.12</a:t>
            </a:r>
            <a:r>
              <a:rPr lang="en-US" sz="1200" b="0">
                <a:solidFill>
                  <a:srgbClr val="FFFFFF">
                    <a:alpha val="0"/>
                  </a:srgbClr>
                </a:solidFill>
              </a:rPr>
              <a:t> open TCP to the model server's port.</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6" name="Picture policy-blocks" descr="policy-blocks-4.png"/>
          <p:cNvPicPr>
            <a:picLocks noChangeAspect="1"/>
          </p:cNvPicPr>
          <p:nvPr/>
        </p:nvPicPr>
        <p:blipFill>
          <a:blip r:embed="rId3"/>
          <a:stretch>
            <a:fillRect/>
          </a:stretch>
        </p:blipFill>
        <p:spPr>
          <a:xfrm>
            <a:off x="320040" y="1445035"/>
            <a:ext cx="6016752" cy="265456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block by block</a:t>
            </a:r>
            <a:r>
              <a:rPr baseline="30000"/>
              <a:t>[1]</a:t>
            </a:r>
            <a:endParaRP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One network rule</a:t>
            </a:r>
            <a:r>
              <a:rPr lang="en-US" sz="1200" b="0">
                <a:solidFill>
                  <a:srgbClr val="FFFFFF">
                    <a:alpha val="0"/>
                  </a:srgbClr>
                </a:solidFill>
              </a:rPr>
              <a:t> lets </a:t>
            </a:r>
            <a:r>
              <a:rPr lang="en-US" sz="1200" b="0">
                <a:solidFill>
                  <a:srgbClr val="FFFFFF">
                    <a:alpha val="0"/>
                  </a:srgbClr>
                </a:solidFill>
                <a:latin typeface="Aptos Mono"/>
              </a:rPr>
              <a:t>python3.12</a:t>
            </a:r>
            <a:r>
              <a:rPr lang="en-US" sz="1200" b="0">
                <a:solidFill>
                  <a:srgbClr val="FFFFFF">
                    <a:alpha val="0"/>
                  </a:srgbClr>
                </a:solidFill>
              </a:rPr>
              <a:t> open TCP to the model server's port.</a:t>
            </a:r>
            <a:endParaRPr>
              <a:solidFill>
                <a:srgbClr val="FFFFFF">
                  <a:alpha val="0"/>
                </a:srgbClr>
              </a:solidFill>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6" name="Picture policy-blocks" descr="policy-blocks-5.png"/>
          <p:cNvPicPr>
            <a:picLocks noChangeAspect="1"/>
          </p:cNvPicPr>
          <p:nvPr/>
        </p:nvPicPr>
        <p:blipFill>
          <a:blip r:embed="rId3"/>
          <a:stretch>
            <a:fillRect/>
          </a:stretch>
        </p:blipFill>
        <p:spPr>
          <a:xfrm>
            <a:off x="320040" y="1445035"/>
            <a:ext cx="6016752" cy="2654562"/>
          </a:xfrm>
          <a:prstGeom prst="rect">
            <a:avLst/>
          </a:prstGeom>
        </p:spPr>
      </p:pic>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block by block</a:t>
            </a:r>
            <a:r>
              <a:rPr baseline="30000"/>
              <a:t>[1]</a:t>
            </a:r>
            <a:endParaRP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One network rule</a:t>
            </a:r>
            <a:r>
              <a:rPr lang="en-US" sz="1200" b="0">
                <a:solidFill>
                  <a:srgbClr val="000000"/>
                </a:solidFill>
              </a:rPr>
              <a:t> lets </a:t>
            </a:r>
            <a:r>
              <a:rPr lang="en-US" sz="1200" b="0">
                <a:solidFill>
                  <a:srgbClr val="000000"/>
                </a:solidFill>
                <a:latin typeface="Aptos Mono"/>
              </a:rPr>
              <a:t>python3.12</a:t>
            </a:r>
            <a:r>
              <a:rPr lang="en-US" sz="1200" b="0">
                <a:solidFill>
                  <a:srgbClr val="000000"/>
                </a:solidFill>
              </a:rPr>
              <a:t> open TCP to the model server's port.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6" name="Picture policy-blocks" descr="policy-blocks-6.png"/>
          <p:cNvPicPr>
            <a:picLocks noChangeAspect="1"/>
          </p:cNvPicPr>
          <p:nvPr/>
        </p:nvPicPr>
        <p:blipFill>
          <a:blip r:embed="rId3"/>
          <a:stretch>
            <a:fillRect/>
          </a:stretch>
        </p:blipFill>
        <p:spPr>
          <a:xfrm>
            <a:off x="320040" y="1445035"/>
            <a:ext cx="6016752" cy="2654562"/>
          </a:xfrm>
          <a:prstGeom prst="rect">
            <a:avLst/>
          </a:prstGeom>
        </p:spPr>
      </p:pic>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block by block</a:t>
            </a:r>
            <a:r>
              <a:rPr baseline="30000"/>
              <a:t>[1]</a:t>
            </a:r>
            <a:endParaRP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One network rule</a:t>
            </a:r>
            <a:r>
              <a:rPr lang="en-US" sz="1200" b="0">
                <a:solidFill>
                  <a:srgbClr val="000000"/>
                </a:solidFill>
              </a:rPr>
              <a:t> lets </a:t>
            </a:r>
            <a:r>
              <a:rPr lang="en-US" sz="1200" b="0">
                <a:solidFill>
                  <a:srgbClr val="000000"/>
                </a:solidFill>
                <a:latin typeface="Aptos Mono"/>
              </a:rPr>
              <a:t>python3.12</a:t>
            </a:r>
            <a:r>
              <a:rPr lang="en-US" sz="1200" b="0">
                <a:solidFill>
                  <a:srgbClr val="000000"/>
                </a:solidFill>
              </a:rPr>
              <a:t> open TCP to the model server's port.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6" name="Picture policy-blocks" descr="policy-blocks-7.png"/>
          <p:cNvPicPr>
            <a:picLocks noChangeAspect="1"/>
          </p:cNvPicPr>
          <p:nvPr/>
        </p:nvPicPr>
        <p:blipFill>
          <a:blip r:embed="rId3"/>
          <a:stretch>
            <a:fillRect/>
          </a:stretch>
        </p:blipFill>
        <p:spPr>
          <a:xfrm>
            <a:off x="320040" y="1445035"/>
            <a:ext cx="6016752" cy="2654562"/>
          </a:xfrm>
          <a:prstGeom prst="rect">
            <a:avLst/>
          </a:prstGeom>
        </p:spPr>
      </p:pic>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block by block</a:t>
            </a:r>
            <a:r>
              <a:rPr baseline="30000"/>
              <a:t>[1]</a:t>
            </a:r>
            <a:endParaRP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One network rule</a:t>
            </a:r>
            <a:r>
              <a:rPr lang="en-US" sz="1200" b="0">
                <a:solidFill>
                  <a:srgbClr val="000000"/>
                </a:solidFill>
              </a:rPr>
              <a:t> lets </a:t>
            </a:r>
            <a:r>
              <a:rPr lang="en-US" sz="1200" b="0">
                <a:solidFill>
                  <a:srgbClr val="000000"/>
                </a:solidFill>
                <a:latin typeface="Aptos Mono"/>
              </a:rPr>
              <a:t>python3.12</a:t>
            </a:r>
            <a:r>
              <a:rPr lang="en-US" sz="1200" b="0">
                <a:solidFill>
                  <a:srgbClr val="000000"/>
                </a:solidFill>
              </a:rPr>
              <a:t> open TCP to the model server's port.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6" name="Picture policy-blocks" descr="policy-blocks-8.png"/>
          <p:cNvPicPr>
            <a:picLocks noChangeAspect="1"/>
          </p:cNvPicPr>
          <p:nvPr/>
        </p:nvPicPr>
        <p:blipFill>
          <a:blip r:embed="rId3"/>
          <a:stretch>
            <a:fillRect/>
          </a:stretch>
        </p:blipFill>
        <p:spPr>
          <a:xfrm>
            <a:off x="320040" y="1445035"/>
            <a:ext cx="6016752" cy="2654562"/>
          </a:xfrm>
          <a:prstGeom prst="rect">
            <a:avLst/>
          </a:prstGeom>
        </p:spPr>
      </p:pic>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Cyberbird's policy, block by block</a:t>
            </a:r>
            <a:r>
              <a:rPr baseline="30000"/>
              <a:t>[1]</a:t>
            </a:r>
            <a:endParaRP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read list grants </a:t>
            </a:r>
            <a:r>
              <a:rPr lang="en-US" sz="1200" b="0">
                <a:solidFill>
                  <a:srgbClr val="000000"/>
                </a:solidFill>
                <a:latin typeface="Aptos Mono"/>
              </a:rPr>
              <a:t>/app</a:t>
            </a:r>
            <a:r>
              <a:rPr lang="en-US" sz="1200" b="1">
                <a:solidFill>
                  <a:srgbClr val="000000"/>
                </a:solidFill>
              </a:rPr>
              <a:t>,</a:t>
            </a:r>
            <a:r>
              <a:rPr lang="en-US" sz="1200" b="0">
                <a:solidFill>
                  <a:srgbClr val="000000"/>
                </a:solidFill>
              </a:rPr>
              <a:t> so every case and the answer key stay readable.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One network rule</a:t>
            </a:r>
            <a:r>
              <a:rPr lang="en-US" sz="1200" b="0">
                <a:solidFill>
                  <a:srgbClr val="000000"/>
                </a:solidFill>
              </a:rPr>
              <a:t> lets </a:t>
            </a:r>
            <a:r>
              <a:rPr lang="en-US" sz="1200" b="0">
                <a:solidFill>
                  <a:srgbClr val="000000"/>
                </a:solidFill>
                <a:latin typeface="Aptos Mono"/>
              </a:rPr>
              <a:t>python3.12</a:t>
            </a:r>
            <a:r>
              <a:rPr lang="en-US" sz="1200" b="0">
                <a:solidFill>
                  <a:srgbClr val="000000"/>
                </a:solidFill>
              </a:rPr>
              <a:t> open TCP to the model server's port.</a:t>
            </a:r>
            <a:endParaRPr/>
          </a:p>
        </p:txBody>
      </p:sp>
      <p:sp>
        <p:nvSpPr>
          <p:cNvPr id="4" name="Rectangle 4"/>
          <p:cNvSpPr/>
          <p:nvPr/>
        </p:nvSpPr>
        <p:spPr bwMode="auto">
          <a:xfrm>
            <a:off x="320040" y="4350978"/>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grant covers everything beneath its path, the answer key included.</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10.</a:t>
            </a:r>
            <a:endParaRPr/>
          </a:p>
        </p:txBody>
      </p:sp>
      <p:pic>
        <p:nvPicPr>
          <p:cNvPr id="6" name="Picture policy-blocks" descr="policy-blocks-8.png"/>
          <p:cNvPicPr>
            <a:picLocks noChangeAspect="1"/>
          </p:cNvPicPr>
          <p:nvPr/>
        </p:nvPicPr>
        <p:blipFill>
          <a:blip r:embed="rId3"/>
          <a:stretch>
            <a:fillRect/>
          </a:stretch>
        </p:blipFill>
        <p:spPr>
          <a:xfrm>
            <a:off x="320040" y="1445035"/>
            <a:ext cx="6016752" cy="2654562"/>
          </a:xfrm>
          <a:prstGeom prst="rect">
            <a:avLst/>
          </a:prstGeom>
        </p:spPr>
      </p:pic>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request</a:t>
            </a:r>
            <a:r>
              <a:rPr lang="en-US" sz="1200" b="0">
                <a:solidFill>
                  <a:srgbClr val="FFFFFF">
                    <a:alpha val="0"/>
                  </a:srgbClr>
                </a:solidFill>
              </a:rPr>
              <a:t> then meets its rule, its credential binding and middleware.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python3.12</a:t>
            </a:r>
            <a:r>
              <a:rPr lang="en-US" sz="1200" b="0">
                <a:solidFill>
                  <a:srgbClr val="FFFFFF">
                    <a:alpha val="0"/>
                  </a:srgbClr>
                </a:solidFill>
              </a:rPr>
              <a:t> passed admission, and </a:t>
            </a:r>
            <a:r>
              <a:rPr lang="en-US" sz="1200" b="0">
                <a:solidFill>
                  <a:srgbClr val="FFFFFF">
                    <a:alpha val="0"/>
                  </a:srgbClr>
                </a:solidFill>
                <a:latin typeface="Aptos Mono"/>
              </a:rPr>
              <a:t>pypi.org</a:t>
            </a:r>
            <a:r>
              <a:rPr lang="en-US" sz="1200" b="0">
                <a:solidFill>
                  <a:srgbClr val="FFFFFF">
                    <a:alpha val="0"/>
                  </a:srgbClr>
                </a:solidFill>
              </a:rPr>
              <a:t> failed it.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1.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p:transition/>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python3.12</a:t>
            </a:r>
            <a:r>
              <a:rPr lang="en-US" sz="1200" b="0">
                <a:solidFill>
                  <a:srgbClr val="FFFFFF">
                    <a:alpha val="0"/>
                  </a:srgbClr>
                </a:solidFill>
              </a:rPr>
              <a:t> passed admission, and </a:t>
            </a:r>
            <a:r>
              <a:rPr lang="en-US" sz="1200" b="0">
                <a:solidFill>
                  <a:srgbClr val="FFFFFF">
                    <a:alpha val="0"/>
                  </a:srgbClr>
                </a:solidFill>
                <a:latin typeface="Aptos Mono"/>
              </a:rPr>
              <a:t>pypi.org</a:t>
            </a:r>
            <a:r>
              <a:rPr lang="en-US" sz="1200" b="0">
                <a:solidFill>
                  <a:srgbClr val="FFFFFF">
                    <a:alpha val="0"/>
                  </a:srgbClr>
                </a:solidFill>
              </a:rPr>
              <a:t> failed it.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2.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p:transition/>
</p:sld>
</file>

<file path=ppt/slides/slide1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python3.12</a:t>
            </a:r>
            <a:r>
              <a:rPr lang="en-US" sz="1200" b="0">
                <a:solidFill>
                  <a:srgbClr val="FFFFFF">
                    <a:alpha val="0"/>
                  </a:srgbClr>
                </a:solidFill>
              </a:rPr>
              <a:t> passed admission, and </a:t>
            </a:r>
            <a:r>
              <a:rPr lang="en-US" sz="1200" b="0">
                <a:solidFill>
                  <a:srgbClr val="FFFFFF">
                    <a:alpha val="0"/>
                  </a:srgbClr>
                </a:solidFill>
                <a:latin typeface="Aptos Mono"/>
              </a:rPr>
              <a:t>pypi.org</a:t>
            </a:r>
            <a:r>
              <a:rPr lang="en-US" sz="1200" b="0">
                <a:solidFill>
                  <a:srgbClr val="FFFFFF">
                    <a:alpha val="0"/>
                  </a:srgbClr>
                </a:solidFill>
              </a:rPr>
              <a:t> failed it.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3.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p:transition/>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python3.12</a:t>
            </a:r>
            <a:r>
              <a:rPr lang="en-US" sz="1200" b="0">
                <a:solidFill>
                  <a:srgbClr val="FFFFFF">
                    <a:alpha val="0"/>
                  </a:srgbClr>
                </a:solidFill>
              </a:rPr>
              <a:t> passed admission, and </a:t>
            </a:r>
            <a:r>
              <a:rPr lang="en-US" sz="1200" b="0">
                <a:solidFill>
                  <a:srgbClr val="FFFFFF">
                    <a:alpha val="0"/>
                  </a:srgbClr>
                </a:solidFill>
                <a:latin typeface="Aptos Mono"/>
              </a:rPr>
              <a:t>pypi.org</a:t>
            </a:r>
            <a:r>
              <a:rPr lang="en-US" sz="1200" b="0">
                <a:solidFill>
                  <a:srgbClr val="FFFFFF">
                    <a:alpha val="0"/>
                  </a:srgbClr>
                </a:solidFill>
              </a:rPr>
              <a:t> failed it.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4.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p:transition/>
</p:sld>
</file>

<file path=ppt/slides/slide1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python3.12</a:t>
            </a:r>
            <a:r>
              <a:rPr lang="en-US" sz="1200" b="0">
                <a:solidFill>
                  <a:srgbClr val="000000"/>
                </a:solidFill>
              </a:rPr>
              <a:t> passed admission, and </a:t>
            </a:r>
            <a:r>
              <a:rPr lang="en-US" sz="1200" b="0">
                <a:solidFill>
                  <a:srgbClr val="000000"/>
                </a:solidFill>
                <a:latin typeface="Aptos Mono"/>
              </a:rPr>
              <a:t>pypi.org</a:t>
            </a:r>
            <a:r>
              <a:rPr lang="en-US" sz="1200" b="0">
                <a:solidFill>
                  <a:srgbClr val="000000"/>
                </a:solidFill>
              </a:rPr>
              <a:t> failed it.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5" name="Picture 1847912324" descr="request-enforcement-4.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p:transition/>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supervisor checks connections first.</a:t>
            </a:r>
            <a:r>
              <a:rPr baseline="30000"/>
              <a:t>[1]</a:t>
            </a:r>
            <a:endParaRPr/>
          </a:p>
        </p:txBody>
      </p:sp>
      <p:sp>
        <p:nvSpPr>
          <p:cNvPr id="3" name="Content Placeholder 2"/>
          <p:cNvSpPr>
            <a:spLocks noGrp="1"/>
          </p:cNvSpPr>
          <p:nvPr>
            <p:ph idx="1"/>
          </p:nvPr>
        </p:nvSpPr>
        <p:spPr bwMode="auto">
          <a:xfrm>
            <a:off x="320040" y="658368"/>
            <a:ext cx="6016752" cy="9570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Connection admission</a:t>
            </a:r>
            <a:r>
              <a:rPr lang="en-US" sz="1200" b="0">
                <a:solidFill>
                  <a:srgbClr val="000000"/>
                </a:solidFill>
              </a:rPr>
              <a:t> checks the host, the port and the calling binary.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request</a:t>
            </a:r>
            <a:r>
              <a:rPr lang="en-US" sz="1200" b="0">
                <a:solidFill>
                  <a:srgbClr val="000000"/>
                </a:solidFill>
              </a:rPr>
              <a:t> then meets its rule, its credential binding and middleware.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python3.12</a:t>
            </a:r>
            <a:r>
              <a:rPr lang="en-US" sz="1200" b="0">
                <a:solidFill>
                  <a:srgbClr val="000000"/>
                </a:solidFill>
              </a:rPr>
              <a:t> passed admission, and </a:t>
            </a:r>
            <a:r>
              <a:rPr lang="en-US" sz="1200" b="0">
                <a:solidFill>
                  <a:srgbClr val="000000"/>
                </a:solidFill>
                <a:latin typeface="Aptos Mono"/>
              </a:rPr>
              <a:t>pypi.org</a:t>
            </a:r>
            <a:r>
              <a:rPr lang="en-US" sz="1200" b="0">
                <a:solidFill>
                  <a:srgbClr val="000000"/>
                </a:solidFill>
              </a:rPr>
              <a:t> failed it.</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Audit, the default, logs a request-rule violation and lets the request through.</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9 and 10.</a:t>
            </a:r>
            <a:endParaRPr/>
          </a:p>
        </p:txBody>
      </p:sp>
      <p:pic>
        <p:nvPicPr>
          <p:cNvPr id="6" name="Picture 1847912324" descr="request-enforcement-4.png"/>
          <p:cNvPicPr>
            <a:picLocks noChangeAspect="1"/>
          </p:cNvPicPr>
          <p:nvPr/>
        </p:nvPicPr>
        <p:blipFill>
          <a:blip r:embed="rId3"/>
          <a:stretch>
            <a:fillRect/>
          </a:stretch>
        </p:blipFill>
        <p:spPr>
          <a:xfrm>
            <a:off x="320040" y="1802071"/>
            <a:ext cx="6016752" cy="2364812"/>
          </a:xfrm>
          <a:prstGeom prst="rect">
            <a:avLst/>
          </a:prstGeom>
        </p:spPr>
      </p:pic>
    </p:spTree>
  </p:cSld>
  <p:clrMapOvr>
    <a:masterClrMapping/>
  </p:clrMapOvr>
  <p:transition/>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10377121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admits it</a:t>
            </a:r>
            <a:r>
              <a:rPr lang="en-US" sz="1200" b="0">
                <a:solidFill>
                  <a:srgbClr val="FFFFFF">
                    <a:alpha val="0"/>
                  </a:srgbClr>
                </a:solidFill>
              </a:rPr>
              <a:t> by host, port, binary and policy generation.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connects upstream</a:t>
            </a:r>
            <a:r>
              <a:rPr lang="en-US" sz="1200" b="0">
                <a:solidFill>
                  <a:srgbClr val="FFFFFF">
                    <a:alpha val="0"/>
                  </a:srgbClr>
                </a:solidFill>
              </a:rPr>
              <a:t> after substituting any credential.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eight model calls took this path with no key to substitute.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1.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supervisor connects upstream</a:t>
            </a:r>
            <a:r>
              <a:rPr lang="en-US" sz="1200" b="0">
                <a:solidFill>
                  <a:srgbClr val="FFFFFF">
                    <a:alpha val="0"/>
                  </a:srgbClr>
                </a:solidFill>
              </a:rPr>
              <a:t> after substituting any credential.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eight model calls took this path with no key to substitute.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2.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connects upstream</a:t>
            </a:r>
            <a:r>
              <a:rPr lang="en-US" sz="1200" b="0">
                <a:solidFill>
                  <a:srgbClr val="000000"/>
                </a:solidFill>
              </a:rPr>
              <a:t> after substituting any credential.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eight model calls took this path with no key to substitute.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3.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connects upstream</a:t>
            </a:r>
            <a:r>
              <a:rPr lang="en-US" sz="1200" b="0">
                <a:solidFill>
                  <a:srgbClr val="000000"/>
                </a:solidFill>
              </a:rPr>
              <a:t> after substituting any credential.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eight model calls took this path with no key to substitute.</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4.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connects upstream</a:t>
            </a:r>
            <a:r>
              <a:rPr lang="en-US" sz="1200" b="0">
                <a:solidFill>
                  <a:srgbClr val="000000"/>
                </a:solidFill>
              </a:rPr>
              <a:t> after substituting any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eight model calls took this path with no key to substitute.</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5" name="Picture 1847912324" descr="network-request-4.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connection passes the supervisor.</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kernel pauses</a:t>
            </a:r>
            <a:r>
              <a:rPr lang="en-US" sz="1200" b="0">
                <a:solidFill>
                  <a:srgbClr val="000000"/>
                </a:solidFill>
              </a:rPr>
              <a:t> the program's </a:t>
            </a:r>
            <a:r>
              <a:rPr lang="en-US" sz="1200" b="0">
                <a:solidFill>
                  <a:srgbClr val="000000"/>
                </a:solidFill>
                <a:latin typeface="Aptos Mono"/>
              </a:rPr>
              <a:t>connect()</a:t>
            </a:r>
            <a:r>
              <a:rPr lang="en-US" sz="1200" b="0">
                <a:solidFill>
                  <a:srgbClr val="000000"/>
                </a:solidFill>
              </a:rPr>
              <a:t> and hands it to the broker.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admits it</a:t>
            </a:r>
            <a:r>
              <a:rPr lang="en-US" sz="1200" b="0">
                <a:solidFill>
                  <a:srgbClr val="000000"/>
                </a:solidFill>
              </a:rPr>
              <a:t> by host, port, binary and policy generation.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supervisor connects upstream</a:t>
            </a:r>
            <a:r>
              <a:rPr lang="en-US" sz="1200" b="0">
                <a:solidFill>
                  <a:srgbClr val="000000"/>
                </a:solidFill>
              </a:rPr>
              <a:t> after substituting any credential.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eight model calls took this path with no key to substitute.</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hop can stop a request, so each hop is a place to diagnose.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chapters 2 and 8.   [2] NVIDIA. Open Agent Safety Platform announcement, September 28, 2026. NVIDIA, 2026.</a:t>
            </a:r>
            <a:endParaRPr/>
          </a:p>
        </p:txBody>
      </p:sp>
      <p:pic>
        <p:nvPicPr>
          <p:cNvPr id="6" name="Picture 1847912324" descr="network-request-4.png"/>
          <p:cNvPicPr>
            <a:picLocks noChangeAspect="1"/>
          </p:cNvPicPr>
          <p:nvPr/>
        </p:nvPicPr>
        <p:blipFill>
          <a:blip r:embed="rId3"/>
          <a:stretch>
            <a:fillRect/>
          </a:stretch>
        </p:blipFill>
        <p:spPr>
          <a:xfrm>
            <a:off x="358140" y="2088583"/>
            <a:ext cx="5940551"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name</a:t>
            </a:r>
            <a:r>
              <a:rPr lang="en-US" sz="1200" b="0">
                <a:solidFill>
                  <a:srgbClr val="FFFFFF">
                    <a:alpha val="0"/>
                  </a:srgbClr>
                </a:solidFill>
              </a:rPr>
              <a:t> is what </a:t>
            </a:r>
            <a:r>
              <a:rPr lang="en-US" sz="1200" b="0">
                <a:solidFill>
                  <a:srgbClr val="FFFFFF">
                    <a:alpha val="0"/>
                  </a:srgbClr>
                </a:solidFill>
                <a:latin typeface="Aptos Mono"/>
              </a:rPr>
              <a:t>sandbox create --provider</a:t>
            </a:r>
            <a:r>
              <a:rPr lang="en-US" sz="1200" b="0">
                <a:solidFill>
                  <a:srgbClr val="FFFFFF">
                    <a:alpha val="0"/>
                  </a:srgbClr>
                </a:solidFill>
              </a:rPr>
              <a:t> attaches to one sandbox.</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profile</a:t>
            </a:r>
            <a:r>
              <a:rPr lang="en-US" sz="1200" b="0">
                <a:solidFill>
                  <a:srgbClr val="FFFFFF">
                    <a:alpha val="0"/>
                  </a:srgbClr>
                </a:solidFill>
              </a:rPr>
              <a:t> names the key's variables, endpoints and permitted binaries.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1.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name</a:t>
            </a:r>
            <a:r>
              <a:rPr lang="en-US" sz="1200" b="0">
                <a:solidFill>
                  <a:srgbClr val="FFFFFF">
                    <a:alpha val="0"/>
                  </a:srgbClr>
                </a:solidFill>
              </a:rPr>
              <a:t> is what </a:t>
            </a:r>
            <a:r>
              <a:rPr lang="en-US" sz="1200" b="0">
                <a:solidFill>
                  <a:srgbClr val="FFFFFF">
                    <a:alpha val="0"/>
                  </a:srgbClr>
                </a:solidFill>
                <a:latin typeface="Aptos Mono"/>
              </a:rPr>
              <a:t>sandbox create --provider</a:t>
            </a:r>
            <a:r>
              <a:rPr lang="en-US" sz="1200" b="0">
                <a:solidFill>
                  <a:srgbClr val="FFFFFF">
                    <a:alpha val="0"/>
                  </a:srgbClr>
                </a:solidFill>
              </a:rPr>
              <a:t> attaches to one sandbox.</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profile</a:t>
            </a:r>
            <a:r>
              <a:rPr lang="en-US" sz="1200" b="0">
                <a:solidFill>
                  <a:srgbClr val="FFFFFF">
                    <a:alpha val="0"/>
                  </a:srgbClr>
                </a:solidFill>
              </a:rPr>
              <a:t> names the key's variables, endpoints and permitted binaries.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2.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Its profile</a:t>
            </a:r>
            <a:r>
              <a:rPr lang="en-US" sz="1200" b="0">
                <a:solidFill>
                  <a:srgbClr val="FFFFFF">
                    <a:alpha val="0"/>
                  </a:srgbClr>
                </a:solidFill>
              </a:rPr>
              <a:t> names the key's variables, endpoints and permitted binaries.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3.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profile</a:t>
            </a:r>
            <a:r>
              <a:rPr lang="en-US" sz="1200" b="0">
                <a:solidFill>
                  <a:srgbClr val="000000"/>
                </a:solidFill>
              </a:rPr>
              <a:t> names the key's variables, endpoints and permitted binaries.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4.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profile</a:t>
            </a:r>
            <a:r>
              <a:rPr lang="en-US" sz="1200" b="0">
                <a:solidFill>
                  <a:srgbClr val="000000"/>
                </a:solidFill>
              </a:rPr>
              <a:t> names the key's variables, endpoints and permitted binaries.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profile must name </a:t>
            </a:r>
            <a:r>
              <a:rPr lang="en-US" sz="1200" b="0">
                <a:solidFill>
                  <a:srgbClr val="FFFFFF">
                    <a:alpha val="0"/>
                  </a:srgbClr>
                </a:solidFill>
                <a:latin typeface="Aptos Mono"/>
              </a:rPr>
              <a:t>python3.12</a:t>
            </a:r>
            <a:r>
              <a:rPr lang="en-US" sz="1200" b="0">
                <a:solidFill>
                  <a:srgbClr val="FFFFFF">
                    <a:alpha val="0"/>
                  </a:srgbClr>
                </a:solidFill>
              </a:rPr>
              <a:t>, as in HW2.</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profile</a:t>
            </a:r>
            <a:r>
              <a:rPr lang="en-US" sz="1200" b="0">
                <a:solidFill>
                  <a:srgbClr val="000000"/>
                </a:solidFill>
              </a:rPr>
              <a:t> names the key's variables, endpoints and permitted binaries.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the profile must name </a:t>
            </a:r>
            <a:r>
              <a:rPr lang="en-US" sz="1200" b="0">
                <a:solidFill>
                  <a:srgbClr val="000000"/>
                </a:solidFill>
                <a:latin typeface="Aptos Mono"/>
              </a:rPr>
              <a:t>python3.12</a:t>
            </a:r>
            <a:r>
              <a:rPr lang="en-US" sz="1200" b="0">
                <a:solidFill>
                  <a:srgbClr val="000000"/>
                </a:solidFill>
              </a:rPr>
              <a:t>, as in HW2.</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5" name="Picture 1847912324" descr="command-provider-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provider keeps the key at the gateway.</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provider instance</a:t>
            </a:r>
            <a:r>
              <a:rPr lang="en-US" sz="1200" b="0">
                <a:solidFill>
                  <a:srgbClr val="000000"/>
                </a:solidFill>
              </a:rPr>
              <a:t> holds one account's credential in the gateway's store.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name</a:t>
            </a:r>
            <a:r>
              <a:rPr lang="en-US" sz="1200" b="0">
                <a:solidFill>
                  <a:srgbClr val="000000"/>
                </a:solidFill>
              </a:rPr>
              <a:t> is what </a:t>
            </a:r>
            <a:r>
              <a:rPr lang="en-US" sz="1200" b="0">
                <a:solidFill>
                  <a:srgbClr val="000000"/>
                </a:solidFill>
                <a:latin typeface="Aptos Mono"/>
              </a:rPr>
              <a:t>sandbox create --provider</a:t>
            </a:r>
            <a:r>
              <a:rPr lang="en-US" sz="1200" b="0">
                <a:solidFill>
                  <a:srgbClr val="000000"/>
                </a:solidFill>
              </a:rPr>
              <a:t> attaches to one sandbox.</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Its profile</a:t>
            </a:r>
            <a:r>
              <a:rPr lang="en-US" sz="1200" b="0">
                <a:solidFill>
                  <a:srgbClr val="000000"/>
                </a:solidFill>
              </a:rPr>
              <a:t> names the key's variables, endpoints and permitted binaries.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the profile must name </a:t>
            </a:r>
            <a:r>
              <a:rPr lang="en-US" sz="1200" b="0">
                <a:solidFill>
                  <a:srgbClr val="000000"/>
                </a:solidFill>
                <a:latin typeface="Aptos Mono"/>
              </a:rPr>
              <a:t>python3.12</a:t>
            </a:r>
            <a:r>
              <a:rPr lang="en-US" sz="1200" b="0">
                <a:solidFill>
                  <a:srgbClr val="000000"/>
                </a:solidFill>
              </a:rPr>
              <a:t>, as in HW2.</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sandbox sees a placeholder, and the supervisor holds the real key.</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11.   [2] NVIDIA. OpenShell, commit be7af99. https://github.com/NVIDIA/OpenShell</a:t>
            </a:r>
            <a:endParaRPr/>
          </a:p>
        </p:txBody>
      </p:sp>
      <p:pic>
        <p:nvPicPr>
          <p:cNvPr id="6" name="Picture 1847912324" descr="command-provider-5.png"/>
          <p:cNvPicPr>
            <a:picLocks noChangeAspect="1"/>
          </p:cNvPicPr>
          <p:nvPr/>
        </p:nvPicPr>
        <p:blipFill>
          <a:blip r:embed="rId3"/>
          <a:stretch>
            <a:fillRect/>
          </a:stretch>
        </p:blipFill>
        <p:spPr>
          <a:xfrm>
            <a:off x="395720" y="2088583"/>
            <a:ext cx="5865392" cy="20955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The agent receives a placeholder.</a:t>
            </a:r>
            <a:r>
              <a:rPr lang="en-US" sz="1200" b="0" dirty="0">
                <a:solidFill>
                  <a:srgbClr val="FFFFFF">
                    <a:alpha val="0"/>
                  </a:srgbClr>
                </a:solidFill>
              </a:rPr>
              <a:t> When a request leaves the sandbox for an authorized endpoint, the supervisor substitutes the real credential. Requests to other endpoints never see it.</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Consequence:</a:t>
            </a:r>
            <a:r>
              <a:rPr lang="en-US" sz="1200" b="0" dirty="0">
                <a:solidFill>
                  <a:srgbClr val="FFFFFF">
                    <a:alpha val="0"/>
                  </a:srgbClr>
                </a:solidFill>
              </a:rPr>
              <a:t> </a:t>
            </a:r>
            <a:r>
              <a:rPr lang="en-US" sz="1200" b="0" u="sng" dirty="0">
                <a:solidFill>
                  <a:srgbClr val="FFFFFF">
                    <a:alpha val="0"/>
                  </a:srgbClr>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FFFFFF">
                    <a:alpha val="0"/>
                  </a:srgbClr>
                </a:solidFill>
              </a:rPr>
              <a:t> finds nothing to read, and </a:t>
            </a:r>
            <a:r>
              <a:rPr lang="en-US" sz="1200" b="0" u="sng" dirty="0">
                <a:solidFill>
                  <a:srgbClr val="FFFFFF">
                    <a:alpha val="0"/>
                  </a:srgbClr>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FFFFFF">
                    <a:alpha val="0"/>
                  </a:srgbClr>
                </a:solidFill>
              </a:rPr>
              <a:t> has no key to send.</a:t>
            </a:r>
            <a:endParaRPr dirty="0">
              <a:solidFill>
                <a:srgbClr val="FFFFFF">
                  <a:alpha val="0"/>
                </a:srgbClr>
              </a:solidFill>
            </a:endParaRPr>
          </a:p>
        </p:txBody>
      </p:sp>
      <p:pic>
        <p:nvPicPr>
          <p:cNvPr id="4"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agent receives a placeholder.</a:t>
            </a:r>
            <a:r>
              <a:rPr lang="en-US" sz="1200" b="0" dirty="0">
                <a:solidFill>
                  <a:srgbClr val="000000"/>
                </a:solidFill>
              </a:rPr>
              <a:t> When a request leaves the sandbox for an authorized endpoint, the supervisor substitutes the real credential. Requests to other endpoints never see it.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Consequence:</a:t>
            </a:r>
            <a:r>
              <a:rPr lang="en-US" sz="1200" b="0" dirty="0">
                <a:solidFill>
                  <a:srgbClr val="FFFFFF">
                    <a:alpha val="0"/>
                  </a:srgbClr>
                </a:solidFill>
              </a:rPr>
              <a:t> </a:t>
            </a:r>
            <a:r>
              <a:rPr lang="en-US" sz="1200" b="0" u="sng" dirty="0">
                <a:solidFill>
                  <a:srgbClr val="FFFFFF">
                    <a:alpha val="0"/>
                  </a:srgbClr>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FFFFFF">
                    <a:alpha val="0"/>
                  </a:srgbClr>
                </a:solidFill>
              </a:rPr>
              <a:t> finds nothing to read, and </a:t>
            </a:r>
            <a:r>
              <a:rPr lang="en-US" sz="1200" b="0" u="sng" dirty="0">
                <a:solidFill>
                  <a:srgbClr val="FFFFFF">
                    <a:alpha val="0"/>
                  </a:srgbClr>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FFFFFF">
                    <a:alpha val="0"/>
                  </a:srgbClr>
                </a:solidFill>
              </a:rPr>
              <a:t> has no key to send.</a:t>
            </a:r>
            <a:endParaRPr dirty="0">
              <a:solidFill>
                <a:srgbClr val="FFFFFF">
                  <a:alpha val="0"/>
                </a:srgbClr>
              </a:solidFill>
            </a:endParaRPr>
          </a:p>
        </p:txBody>
      </p:sp>
      <p:pic>
        <p:nvPicPr>
          <p:cNvPr id="4"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agent receives a placeholder.</a:t>
            </a:r>
            <a:r>
              <a:rPr lang="en-US" sz="1200" b="0" dirty="0">
                <a:solidFill>
                  <a:srgbClr val="000000"/>
                </a:solidFill>
              </a:rPr>
              <a:t> When a request leaves the sandbox for an authorized endpoint, the supervisor substitutes the real credential. Requests to other endpoints never see it.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Consequence:</a:t>
            </a:r>
            <a:r>
              <a:rPr lang="en-US" sz="1200" b="0" dirty="0">
                <a:solidFill>
                  <a:srgbClr val="000000"/>
                </a:solidFill>
              </a:rPr>
              <a:t> </a:t>
            </a:r>
            <a:r>
              <a:rPr lang="en-US" sz="1200" b="0" u="sng" dirty="0">
                <a:solidFill>
                  <a:srgbClr val="000000"/>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000000"/>
                </a:solidFill>
              </a:rPr>
              <a:t> finds nothing to read, and </a:t>
            </a:r>
            <a:r>
              <a:rPr lang="en-US" sz="1200" b="0" u="sng" dirty="0">
                <a:solidFill>
                  <a:srgbClr val="000000"/>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000000"/>
                </a:solidFill>
              </a:rPr>
              <a:t> has no key to send.</a:t>
            </a:r>
            <a:endParaRPr dirty="0"/>
          </a:p>
        </p:txBody>
      </p:sp>
      <p:pic>
        <p:nvPicPr>
          <p:cNvPr id="4"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agent receives a placeholder.</a:t>
            </a:r>
            <a:r>
              <a:rPr lang="en-US" sz="1200" b="0" dirty="0">
                <a:solidFill>
                  <a:srgbClr val="000000"/>
                </a:solidFill>
              </a:rPr>
              <a:t> When a request leaves the sandbox for an authorized endpoint, the supervisor substitutes the real credential. Requests to other endpoints never see it.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Consequence:</a:t>
            </a:r>
            <a:r>
              <a:rPr lang="en-US" sz="1200" b="0" dirty="0">
                <a:solidFill>
                  <a:srgbClr val="000000"/>
                </a:solidFill>
              </a:rPr>
              <a:t> </a:t>
            </a:r>
            <a:r>
              <a:rPr lang="en-US" sz="1200" b="0" u="sng" dirty="0">
                <a:solidFill>
                  <a:srgbClr val="000000"/>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000000"/>
                </a:solidFill>
              </a:rPr>
              <a:t> finds nothing to read, and </a:t>
            </a:r>
            <a:r>
              <a:rPr lang="en-US" sz="1200" b="0" u="sng" dirty="0">
                <a:solidFill>
                  <a:srgbClr val="000000"/>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000000"/>
                </a:solidFill>
              </a:rPr>
              <a:t> has no key to send.</a:t>
            </a:r>
            <a:endParaRPr dirty="0"/>
          </a:p>
        </p:txBody>
      </p:sp>
      <p:sp>
        <p:nvSpPr>
          <p:cNvPr id="4" name="Rectangle 4"/>
          <p:cNvSpPr/>
          <p:nvPr/>
        </p:nvSpPr>
        <p:spPr bwMode="auto">
          <a:xfrm>
            <a:off x="320040" y="4251960"/>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Lecture 4's dispatcher supplied the workspace root because the model could not be trusted to. The supervisor supplies the key for the same reason.</a:t>
            </a:r>
            <a:endParaRPr/>
          </a:p>
        </p:txBody>
      </p:sp>
      <p:pic>
        <p:nvPicPr>
          <p:cNvPr id="5"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gateway validates</a:t>
            </a:r>
            <a:r>
              <a:rPr lang="en-US" sz="1200" b="0">
                <a:solidFill>
                  <a:srgbClr val="FFFFFF">
                    <a:alpha val="0"/>
                  </a:srgbClr>
                </a:solidFill>
              </a:rPr>
              <a:t> the candidate, and the prover reports new findings.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reviewer approves it,</a:t>
            </a:r>
            <a:r>
              <a:rPr lang="en-US" sz="1200" b="0">
                <a:solidFill>
                  <a:srgbClr val="FFFFFF">
                    <a:alpha val="0"/>
                  </a:srgbClr>
                </a:solidFill>
              </a:rPr>
              <a:t> or automatic approval does when nothing is flagged.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 denied </a:t>
            </a:r>
            <a:r>
              <a:rPr lang="en-US" sz="1200" b="0">
                <a:solidFill>
                  <a:srgbClr val="FFFFFF">
                    <a:alpha val="0"/>
                  </a:srgbClr>
                </a:solidFill>
                <a:latin typeface="Aptos Mono"/>
              </a:rPr>
              <a:t>pip</a:t>
            </a:r>
            <a:r>
              <a:rPr lang="en-US" sz="1200" b="0">
                <a:solidFill>
                  <a:srgbClr val="FFFFFF">
                    <a:alpha val="0"/>
                  </a:srgbClr>
                </a:solidFill>
              </a:rPr>
              <a:t> left a pending rule for </a:t>
            </a:r>
            <a:r>
              <a:rPr lang="en-US" sz="1200" b="0">
                <a:solidFill>
                  <a:srgbClr val="FFFFFF">
                    <a:alpha val="0"/>
                  </a:srgbClr>
                </a:solidFill>
                <a:latin typeface="Aptos Mono"/>
              </a:rPr>
              <a:t>pypi.org:443</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1.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reviewer approves it,</a:t>
            </a:r>
            <a:r>
              <a:rPr lang="en-US" sz="1200" b="0">
                <a:solidFill>
                  <a:srgbClr val="FFFFFF">
                    <a:alpha val="0"/>
                  </a:srgbClr>
                </a:solidFill>
              </a:rPr>
              <a:t> or automatic approval does when nothing is flagged.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 denied </a:t>
            </a:r>
            <a:r>
              <a:rPr lang="en-US" sz="1200" b="0">
                <a:solidFill>
                  <a:srgbClr val="FFFFFF">
                    <a:alpha val="0"/>
                  </a:srgbClr>
                </a:solidFill>
                <a:latin typeface="Aptos Mono"/>
              </a:rPr>
              <a:t>pip</a:t>
            </a:r>
            <a:r>
              <a:rPr lang="en-US" sz="1200" b="0">
                <a:solidFill>
                  <a:srgbClr val="FFFFFF">
                    <a:alpha val="0"/>
                  </a:srgbClr>
                </a:solidFill>
              </a:rPr>
              <a:t> left a pending rule for </a:t>
            </a:r>
            <a:r>
              <a:rPr lang="en-US" sz="1200" b="0">
                <a:solidFill>
                  <a:srgbClr val="FFFFFF">
                    <a:alpha val="0"/>
                  </a:srgbClr>
                </a:solidFill>
                <a:latin typeface="Aptos Mono"/>
              </a:rPr>
              <a:t>pypi.org:443</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2.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reviewer approves it,</a:t>
            </a:r>
            <a:r>
              <a:rPr lang="en-US" sz="1200" b="0">
                <a:solidFill>
                  <a:srgbClr val="000000"/>
                </a:solidFill>
              </a:rPr>
              <a:t> or automatic approval does when nothing is flagged.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 denied </a:t>
            </a:r>
            <a:r>
              <a:rPr lang="en-US" sz="1200" b="0">
                <a:solidFill>
                  <a:srgbClr val="FFFFFF">
                    <a:alpha val="0"/>
                  </a:srgbClr>
                </a:solidFill>
                <a:latin typeface="Aptos Mono"/>
              </a:rPr>
              <a:t>pip</a:t>
            </a:r>
            <a:r>
              <a:rPr lang="en-US" sz="1200" b="0">
                <a:solidFill>
                  <a:srgbClr val="FFFFFF">
                    <a:alpha val="0"/>
                  </a:srgbClr>
                </a:solidFill>
              </a:rPr>
              <a:t> left a pending rule for </a:t>
            </a:r>
            <a:r>
              <a:rPr lang="en-US" sz="1200" b="0">
                <a:solidFill>
                  <a:srgbClr val="FFFFFF">
                    <a:alpha val="0"/>
                  </a:srgbClr>
                </a:solidFill>
                <a:latin typeface="Aptos Mono"/>
              </a:rPr>
              <a:t>pypi.org:443</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3.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reviewer approves it,</a:t>
            </a:r>
            <a:r>
              <a:rPr lang="en-US" sz="1200" b="0">
                <a:solidFill>
                  <a:srgbClr val="000000"/>
                </a:solidFill>
              </a:rPr>
              <a:t> or automatic approval does when nothing is flagged.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 denied </a:t>
            </a:r>
            <a:r>
              <a:rPr lang="en-US" sz="1200" b="0">
                <a:solidFill>
                  <a:srgbClr val="FFFFFF">
                    <a:alpha val="0"/>
                  </a:srgbClr>
                </a:solidFill>
                <a:latin typeface="Aptos Mono"/>
              </a:rPr>
              <a:t>pip</a:t>
            </a:r>
            <a:r>
              <a:rPr lang="en-US" sz="1200" b="0">
                <a:solidFill>
                  <a:srgbClr val="FFFFFF">
                    <a:alpha val="0"/>
                  </a:srgbClr>
                </a:solidFill>
              </a:rPr>
              <a:t> left a pending rule for </a:t>
            </a:r>
            <a:r>
              <a:rPr lang="en-US" sz="1200" b="0">
                <a:solidFill>
                  <a:srgbClr val="FFFFFF">
                    <a:alpha val="0"/>
                  </a:srgbClr>
                </a:solidFill>
                <a:latin typeface="Aptos Mono"/>
              </a:rPr>
              <a:t>pypi.org:443</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4.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reviewer approves it,</a:t>
            </a:r>
            <a:r>
              <a:rPr lang="en-US" sz="1200" b="0">
                <a:solidFill>
                  <a:srgbClr val="000000"/>
                </a:solidFill>
              </a:rPr>
              <a:t> or automatic approval does when nothing is flagged.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 denied </a:t>
            </a:r>
            <a:r>
              <a:rPr lang="en-US" sz="1200" b="0">
                <a:solidFill>
                  <a:srgbClr val="000000"/>
                </a:solidFill>
                <a:latin typeface="Aptos Mono"/>
              </a:rPr>
              <a:t>pip</a:t>
            </a:r>
            <a:r>
              <a:rPr lang="en-US" sz="1200" b="0">
                <a:solidFill>
                  <a:srgbClr val="000000"/>
                </a:solidFill>
              </a:rPr>
              <a:t> left a pending rule for </a:t>
            </a:r>
            <a:r>
              <a:rPr lang="en-US" sz="1200" b="0">
                <a:solidFill>
                  <a:srgbClr val="000000"/>
                </a:solidFill>
                <a:latin typeface="Aptos Mono"/>
              </a:rPr>
              <a:t>pypi.org:443</a:t>
            </a:r>
            <a:r>
              <a:rPr lang="en-US" sz="1200" b="0">
                <a:solidFill>
                  <a:srgbClr val="000000"/>
                </a:solidFill>
              </a:rPr>
              <a: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5" name="Picture 1847912324" descr="policy-review-4.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becomes a proposal.</a:t>
            </a:r>
            <a:r>
              <a:rPr baseline="30000"/>
              <a:t>[1]</a:t>
            </a:r>
            <a:endParaRPr/>
          </a:p>
        </p:txBody>
      </p:sp>
      <p:sp>
        <p:nvSpPr>
          <p:cNvPr id="3" name="Content Placeholder 2"/>
          <p:cNvSpPr>
            <a:spLocks noGrp="1"/>
          </p:cNvSpPr>
          <p:nvPr>
            <p:ph idx="1"/>
          </p:nvPr>
        </p:nvSpPr>
        <p:spPr bwMode="auto">
          <a:xfrm>
            <a:off x="320040" y="658368"/>
            <a:ext cx="6016752" cy="12435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denial is recorded,</a:t>
            </a:r>
            <a:r>
              <a:rPr lang="en-US" sz="1200" b="0">
                <a:solidFill>
                  <a:srgbClr val="000000"/>
                </a:solidFill>
              </a:rPr>
              <a:t> and the mapper drafts a narrow rule from it.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gateway validates</a:t>
            </a:r>
            <a:r>
              <a:rPr lang="en-US" sz="1200" b="0">
                <a:solidFill>
                  <a:srgbClr val="000000"/>
                </a:solidFill>
              </a:rPr>
              <a:t> the candidate, and the prover reports new findings.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reviewer approves it,</a:t>
            </a:r>
            <a:r>
              <a:rPr lang="en-US" sz="1200" b="0">
                <a:solidFill>
                  <a:srgbClr val="000000"/>
                </a:solidFill>
              </a:rPr>
              <a:t> or automatic approval does when nothing is flagged.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 denied </a:t>
            </a:r>
            <a:r>
              <a:rPr lang="en-US" sz="1200" b="0">
                <a:solidFill>
                  <a:srgbClr val="000000"/>
                </a:solidFill>
                <a:latin typeface="Aptos Mono"/>
              </a:rPr>
              <a:t>pip</a:t>
            </a:r>
            <a:r>
              <a:rPr lang="en-US" sz="1200" b="0">
                <a:solidFill>
                  <a:srgbClr val="000000"/>
                </a:solidFill>
              </a:rPr>
              <a:t> left a pending rule for </a:t>
            </a:r>
            <a:r>
              <a:rPr lang="en-US" sz="1200" b="0">
                <a:solidFill>
                  <a:srgbClr val="000000"/>
                </a:solidFill>
                <a:latin typeface="Aptos Mono"/>
              </a:rPr>
              <a:t>pypi.org:443</a:t>
            </a:r>
            <a:r>
              <a:rPr lang="en-US" sz="1200" b="0">
                <a:solidFill>
                  <a:srgbClr val="000000"/>
                </a:solidFill>
              </a:rPr>
              <a:t>.</a:t>
            </a:r>
            <a:endParaRPr/>
          </a:p>
        </p:txBody>
      </p:sp>
      <p:sp>
        <p:nvSpPr>
          <p:cNvPr id="4" name="Rectangle 4"/>
          <p:cNvSpPr/>
          <p:nvPr/>
        </p:nvSpPr>
        <p:spPr bwMode="auto">
          <a:xfrm>
            <a:off x="320040" y="429234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proposal adds network rules and leaves file and identity rules alone.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12.</a:t>
            </a:r>
            <a:endParaRPr/>
          </a:p>
        </p:txBody>
      </p:sp>
      <p:pic>
        <p:nvPicPr>
          <p:cNvPr id="6" name="Picture 1847912324" descr="policy-review-4.png"/>
          <p:cNvPicPr>
            <a:picLocks noChangeAspect="1"/>
          </p:cNvPicPr>
          <p:nvPr/>
        </p:nvPicPr>
        <p:blipFill>
          <a:blip r:embed="rId3"/>
          <a:stretch>
            <a:fillRect/>
          </a:stretch>
        </p:blipFill>
        <p:spPr>
          <a:xfrm>
            <a:off x="320040" y="2088583"/>
            <a:ext cx="6016752" cy="19523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boundary records</a:t>
            </a:r>
            <a:r>
              <a:rPr lang="en-US" sz="1200" b="0">
                <a:solidFill>
                  <a:srgbClr val="FFFFFF">
                    <a:alpha val="0"/>
                  </a:srgbClr>
                </a:solidFill>
              </a:rPr>
              <a:t> its own evidence: an error, an event or a result.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Connection error.</a:t>
            </a:r>
            <a:r>
              <a:rPr lang="en-US" sz="1200" b="0">
                <a:solidFill>
                  <a:srgbClr val="FFFFFF">
                    <a:alpha val="0"/>
                  </a:srgbClr>
                </a:solidFill>
              </a:rPr>
              <a:t> was a denial the log named.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1.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boundary records</a:t>
            </a:r>
            <a:r>
              <a:rPr lang="en-US" sz="1200" b="0">
                <a:solidFill>
                  <a:srgbClr val="FFFFFF">
                    <a:alpha val="0"/>
                  </a:srgbClr>
                </a:solidFill>
              </a:rPr>
              <a:t> its own evidence: an error, an event or a result.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Connection error.</a:t>
            </a:r>
            <a:r>
              <a:rPr lang="en-US" sz="1200" b="0">
                <a:solidFill>
                  <a:srgbClr val="FFFFFF">
                    <a:alpha val="0"/>
                  </a:srgbClr>
                </a:solidFill>
              </a:rPr>
              <a:t> was a denial the log named.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2.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boundary records</a:t>
            </a:r>
            <a:r>
              <a:rPr lang="en-US" sz="1200" b="0">
                <a:solidFill>
                  <a:srgbClr val="000000"/>
                </a:solidFill>
              </a:rPr>
              <a:t> its own evidence: an error, an event or a result.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Connection error.</a:t>
            </a:r>
            <a:r>
              <a:rPr lang="en-US" sz="1200" b="0">
                <a:solidFill>
                  <a:srgbClr val="FFFFFF">
                    <a:alpha val="0"/>
                  </a:srgbClr>
                </a:solidFill>
              </a:rPr>
              <a:t> was a denial the log named.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3.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boundary records</a:t>
            </a:r>
            <a:r>
              <a:rPr lang="en-US" sz="1200" b="0">
                <a:solidFill>
                  <a:srgbClr val="000000"/>
                </a:solidFill>
              </a:rPr>
              <a:t> its own evidence: an error, an event or a result.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a:t>
            </a:r>
            <a:r>
              <a:rPr lang="en-US" sz="1200" b="0">
                <a:solidFill>
                  <a:srgbClr val="FFFFFF">
                    <a:alpha val="0"/>
                  </a:srgbClr>
                </a:solidFill>
                <a:latin typeface="Aptos Mono"/>
              </a:rPr>
              <a:t>Connection error.</a:t>
            </a:r>
            <a:r>
              <a:rPr lang="en-US" sz="1200" b="0">
                <a:solidFill>
                  <a:srgbClr val="FFFFFF">
                    <a:alpha val="0"/>
                  </a:srgbClr>
                </a:solidFill>
              </a:rPr>
              <a:t> was a denial the log named.</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4.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boundary records</a:t>
            </a:r>
            <a:r>
              <a:rPr lang="en-US" sz="1200" b="0">
                <a:solidFill>
                  <a:srgbClr val="000000"/>
                </a:solidFill>
              </a:rPr>
              <a:t> its own evidence: an error, an event or a result.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Connection error.</a:t>
            </a:r>
            <a:r>
              <a:rPr lang="en-US" sz="1200" b="0">
                <a:solidFill>
                  <a:srgbClr val="000000"/>
                </a:solidFill>
              </a:rPr>
              <a:t> was a denial the log named.</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diagnosis-4.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Diagnose by the boundary that failed.</a:t>
            </a:r>
            <a:r>
              <a:rPr baseline="30000"/>
              <a:t>[1]</a:t>
            </a:r>
            <a:endParaRPr/>
          </a:p>
        </p:txBody>
      </p:sp>
      <p:sp>
        <p:nvSpPr>
          <p:cNvPr id="3" name="Content Placeholder 2"/>
          <p:cNvSpPr>
            <a:spLocks noGrp="1"/>
          </p:cNvSpPr>
          <p:nvPr>
            <p:ph idx="1"/>
          </p:nvPr>
        </p:nvSpPr>
        <p:spPr bwMode="auto">
          <a:xfrm>
            <a:off x="320040" y="658368"/>
            <a:ext cx="6016752" cy="1259286"/>
          </a:xfrm>
        </p:spPr>
        <p:txBody>
          <a:bodyPr wrap="square" anchor="t">
            <a:noAutofit/>
          </a:bodyPr>
          <a:lstStyle/>
          <a:p>
            <a:pPr marL="0" indent="0">
              <a:buNone/>
              <a:defRPr/>
            </a:pPr>
            <a:r>
              <a:rPr lang="en-US" sz="1400" b="1">
                <a:solidFill>
                  <a:srgbClr val="28285E"/>
                </a:solidFill>
              </a:rPr>
              <a:t>A failure shows an unresolved condition at one boundary.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request can stop</a:t>
            </a:r>
            <a:r>
              <a:rPr lang="en-US" sz="1200" b="0">
                <a:solidFill>
                  <a:srgbClr val="000000"/>
                </a:solidFill>
              </a:rPr>
              <a:t> at any boundary, from its creation to the filesystem.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boundary records</a:t>
            </a:r>
            <a:r>
              <a:rPr lang="en-US" sz="1200" b="0">
                <a:solidFill>
                  <a:srgbClr val="000000"/>
                </a:solidFill>
              </a:rPr>
              <a:t> its own evidence: an error, an event or a result.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a:t>
            </a:r>
            <a:r>
              <a:rPr lang="en-US" sz="1200" b="0">
                <a:solidFill>
                  <a:srgbClr val="000000"/>
                </a:solidFill>
                <a:latin typeface="Aptos Mono"/>
              </a:rPr>
              <a:t>Connection error.</a:t>
            </a:r>
            <a:r>
              <a:rPr lang="en-US" sz="1200" b="0">
                <a:solidFill>
                  <a:srgbClr val="000000"/>
                </a:solidFill>
              </a:rPr>
              <a:t> was a denial the log named.</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Diagnosis starts from the evidence of the boundary that failed.</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14.</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diagnosis-4.png"/>
          <p:cNvPicPr>
            <a:picLocks noChangeAspect="1"/>
          </p:cNvPicPr>
          <p:nvPr/>
        </p:nvPicPr>
        <p:blipFill>
          <a:blip r:embed="rId4"/>
          <a:stretch>
            <a:fillRect/>
          </a:stretch>
        </p:blipFill>
        <p:spPr>
          <a:xfrm>
            <a:off x="329796" y="2047435"/>
            <a:ext cx="5997240" cy="213672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agent holds a placeholder</a:t>
            </a:r>
            <a:r>
              <a:rPr lang="en-US" sz="1200" b="0">
                <a:solidFill>
                  <a:srgbClr val="FFFFFF">
                    <a:alpha val="0"/>
                  </a:srgbClr>
                </a:solidFill>
              </a:rPr>
              <a:t> and has no identity of its own.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Governing agents across sandboxes</a:t>
            </a:r>
            <a:r>
              <a:rPr lang="en-US" sz="1200" b="0">
                <a:solidFill>
                  <a:srgbClr val="FFFFFF">
                    <a:alpha val="0"/>
                  </a:srgbClr>
                </a:solidFill>
              </a:rPr>
              <a:t> lies outside its scope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1.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agent holds a placeholder</a:t>
            </a:r>
            <a:r>
              <a:rPr lang="en-US" sz="1200" b="0">
                <a:solidFill>
                  <a:srgbClr val="FFFFFF">
                    <a:alpha val="0"/>
                  </a:srgbClr>
                </a:solidFill>
              </a:rPr>
              <a:t> and has no identity of its own.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Governing agents across sandboxes</a:t>
            </a:r>
            <a:r>
              <a:rPr lang="en-US" sz="1200" b="0">
                <a:solidFill>
                  <a:srgbClr val="FFFFFF">
                    <a:alpha val="0"/>
                  </a:srgbClr>
                </a:solidFill>
              </a:rPr>
              <a:t> lies outside its scope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2.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agent holds a placeholder</a:t>
            </a:r>
            <a:r>
              <a:rPr lang="en-US" sz="1200" b="0">
                <a:solidFill>
                  <a:srgbClr val="FFFFFF">
                    <a:alpha val="0"/>
                  </a:srgbClr>
                </a:solidFill>
              </a:rPr>
              <a:t> and has no identity of its own.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Governing agents across sandboxes</a:t>
            </a:r>
            <a:r>
              <a:rPr lang="en-US" sz="1200" b="0">
                <a:solidFill>
                  <a:srgbClr val="FFFFFF">
                    <a:alpha val="0"/>
                  </a:srgbClr>
                </a:solidFill>
              </a:rPr>
              <a:t> lies outside its scope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3.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Governing agents across sandboxes</a:t>
            </a:r>
            <a:r>
              <a:rPr lang="en-US" sz="1200" b="0">
                <a:solidFill>
                  <a:srgbClr val="FFFFFF">
                    <a:alpha val="0"/>
                  </a:srgbClr>
                </a:solidFill>
              </a:rPr>
              <a:t> lies outside its scope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4.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Governing agents across sandboxes</a:t>
            </a:r>
            <a:r>
              <a:rPr lang="en-US" sz="1200" b="0">
                <a:solidFill>
                  <a:srgbClr val="000000"/>
                </a:solidFill>
              </a:rPr>
              <a:t> lies outside its scope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Sentry</a:t>
            </a:r>
            <a:r>
              <a:rPr lang="en-US" sz="1200" baseline="30000">
                <a:solidFill>
                  <a:srgbClr val="FFFFFF">
                    <a:alpha val="0"/>
                  </a:srgbClr>
                </a:solidFill>
              </a:rPr>
              <a:t>[3]</a:t>
            </a:r>
            <a:r>
              <a:rPr lang="en-US" sz="1200" b="1">
                <a:solidFill>
                  <a:srgbClr val="FFFFFF">
                    <a:alpha val="0"/>
                  </a:srgbClr>
                </a:solidFill>
              </a:rPr>
              <a:t>,</a:t>
            </a:r>
            <a:r>
              <a:rPr lang="en-US" sz="1200" b="0">
                <a:solidFill>
                  <a:srgbClr val="FFFFFF">
                    <a:alpha val="0"/>
                  </a:srgbClr>
                </a:solidFill>
              </a:rPr>
              <a:t> the watcher outside the host, runs on hardware the course lacks.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5.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Governing agents across sandboxes</a:t>
            </a:r>
            <a:r>
              <a:rPr lang="en-US" sz="1200" b="0">
                <a:solidFill>
                  <a:srgbClr val="000000"/>
                </a:solidFill>
              </a:rPr>
              <a:t> lies outside its scope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aseline="30000">
                <a:solidFill>
                  <a:srgbClr val="000000"/>
                </a:solidFill>
              </a:rPr>
              <a:t>[3]</a:t>
            </a:r>
            <a:r>
              <a:rPr lang="en-US" sz="1200" b="1">
                <a:solidFill>
                  <a:srgbClr val="000000"/>
                </a:solidFill>
              </a:rPr>
              <a:t>,</a:t>
            </a:r>
            <a:r>
              <a:rPr lang="en-US" sz="1200" b="0">
                <a:solidFill>
                  <a:srgbClr val="000000"/>
                </a:solidFill>
              </a:rPr>
              <a:t> the watcher outside the host, runs on hardware the course lacks.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Cyberbird's case,</a:t>
            </a:r>
            <a:r>
              <a:rPr lang="en-US" sz="1200" b="0">
                <a:solidFill>
                  <a:srgbClr val="FFFFFF">
                    <a:alpha val="0"/>
                  </a:srgbClr>
                </a:solidFill>
              </a:rPr>
              <a:t> the model believes a case file OpenShell never reads.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6.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Governing agents across sandboxes</a:t>
            </a:r>
            <a:r>
              <a:rPr lang="en-US" sz="1200" b="0">
                <a:solidFill>
                  <a:srgbClr val="000000"/>
                </a:solidFill>
              </a:rPr>
              <a:t> lies outside its scope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aseline="30000">
                <a:solidFill>
                  <a:srgbClr val="000000"/>
                </a:solidFill>
              </a:rPr>
              <a:t>[3]</a:t>
            </a:r>
            <a:r>
              <a:rPr lang="en-US" sz="1200" b="1">
                <a:solidFill>
                  <a:srgbClr val="000000"/>
                </a:solidFill>
              </a:rPr>
              <a:t>,</a:t>
            </a:r>
            <a:r>
              <a:rPr lang="en-US" sz="1200" b="0">
                <a:solidFill>
                  <a:srgbClr val="000000"/>
                </a:solidFill>
              </a:rPr>
              <a:t> the watcher outside the host, runs on hardware the course lacks.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the model believes a case file OpenShell never reads.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5" name="Picture 1847912324" descr="openshell-assets-6.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OpenShell does not cover.</a:t>
            </a:r>
          </a:p>
        </p:txBody>
      </p:sp>
      <p:sp>
        <p:nvSpPr>
          <p:cNvPr id="3" name="Content Placeholder 2"/>
          <p:cNvSpPr>
            <a:spLocks noGrp="1"/>
          </p:cNvSpPr>
          <p:nvPr>
            <p:ph idx="1"/>
          </p:nvPr>
        </p:nvSpPr>
        <p:spPr bwMode="auto">
          <a:xfrm>
            <a:off x="320040" y="658368"/>
            <a:ext cx="6016752" cy="15300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tool's definition and response</a:t>
            </a:r>
            <a:r>
              <a:rPr lang="en-US" sz="1200" b="0">
                <a:solidFill>
                  <a:srgbClr val="000000"/>
                </a:solidFill>
              </a:rPr>
              <a:t> reach the model as unchecked text</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a placeholder</a:t>
            </a:r>
            <a:r>
              <a:rPr lang="en-US" sz="1200" b="0">
                <a:solidFill>
                  <a:srgbClr val="000000"/>
                </a:solidFill>
              </a:rPr>
              <a:t> and has no identity of its own.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Governing agents across sandboxes</a:t>
            </a:r>
            <a:r>
              <a:rPr lang="en-US" sz="1200" b="0">
                <a:solidFill>
                  <a:srgbClr val="000000"/>
                </a:solidFill>
              </a:rPr>
              <a:t> lies outside its scope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aseline="30000">
                <a:solidFill>
                  <a:srgbClr val="000000"/>
                </a:solidFill>
              </a:rPr>
              <a:t>[3]</a:t>
            </a:r>
            <a:r>
              <a:rPr lang="en-US" sz="1200" b="1">
                <a:solidFill>
                  <a:srgbClr val="000000"/>
                </a:solidFill>
              </a:rPr>
              <a:t>,</a:t>
            </a:r>
            <a:r>
              <a:rPr lang="en-US" sz="1200" b="0">
                <a:solidFill>
                  <a:srgbClr val="000000"/>
                </a:solidFill>
              </a:rPr>
              <a:t> the watcher outside the host, runs on hardware the course lacks.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Cyberbird's case,</a:t>
            </a:r>
            <a:r>
              <a:rPr lang="en-US" sz="1200" b="0">
                <a:solidFill>
                  <a:srgbClr val="000000"/>
                </a:solidFill>
              </a:rPr>
              <a:t> the model believes a case file OpenShell never reads.</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host must check what the model reads, since OpenShell cannot.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COMS E6998-019, OpenShell: Architecture, Enforcement, and Policy (the course's guide to commit be7af99), chapter 1.   [2] Tigera. NVIDIA OpenShell Secures the Agent. Who Governs the Fleet? 2026 (a vendor's reading of OpenShell's documentation).   [3] NVIDIA. Open Agent Safety Platform announcement, September 28, 2026. NVIDIA, 2026.</a:t>
            </a:r>
            <a:endParaRPr/>
          </a:p>
        </p:txBody>
      </p:sp>
      <p:pic>
        <p:nvPicPr>
          <p:cNvPr id="6" name="Picture 1847912324" descr="openshell-assets-6.png"/>
          <p:cNvPicPr>
            <a:picLocks noChangeAspect="1"/>
          </p:cNvPicPr>
          <p:nvPr/>
        </p:nvPicPr>
        <p:blipFill>
          <a:blip r:embed="rId3"/>
          <a:stretch>
            <a:fillRect/>
          </a:stretch>
        </p:blipFill>
        <p:spPr>
          <a:xfrm>
            <a:off x="385885" y="2375095"/>
            <a:ext cx="5885061" cy="18090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Logs and policy get show OpenShell's decisions.</a:t>
            </a: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Logs:</a:t>
            </a:r>
            <a:r>
              <a:rPr lang="en-US" sz="1100" b="0">
                <a:solidFill>
                  <a:srgbClr val="000000"/>
                </a:solidFill>
              </a:rPr>
              <a:t> </a:t>
            </a:r>
            <a:r>
              <a:rPr lang="en-US" sz="1100" b="0">
                <a:solidFill>
                  <a:srgbClr val="000000"/>
                </a:solidFill>
                <a:latin typeface="Aptos Mono"/>
              </a:rPr>
              <a:t>--source sandbox</a:t>
            </a:r>
            <a:r>
              <a:rPr lang="en-US" sz="1100" b="0">
                <a:solidFill>
                  <a:srgbClr val="000000"/>
                </a:solidFill>
              </a:rPr>
              <a:t> shows its denials and policy loads.</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Policy:</a:t>
            </a:r>
            <a:r>
              <a:rPr lang="en-US" sz="1100" b="0">
                <a:solidFill>
                  <a:srgbClr val="FFFFFF">
                    <a:alpha val="0"/>
                  </a:srgbClr>
                </a:solidFill>
              </a:rPr>
              <a:t> </a:t>
            </a:r>
            <a:r>
              <a:rPr lang="en-US" sz="1100" b="0">
                <a:solidFill>
                  <a:srgbClr val="FFFFFF">
                    <a:alpha val="0"/>
                  </a:srgbClr>
                </a:solidFill>
                <a:latin typeface="Aptos Mono"/>
              </a:rPr>
              <a:t>--full</a:t>
            </a:r>
            <a:r>
              <a:rPr lang="en-US" sz="1100" b="0">
                <a:solidFill>
                  <a:srgbClr val="FFFFFF">
                    <a:alpha val="0"/>
                  </a:srgbClr>
                </a:solidFill>
              </a:rPr>
              <a:t> prints the effective policy, provider rules included.</a:t>
            </a:r>
            <a:endParaRPr>
              <a:solidFill>
                <a:srgbClr val="FFFFFF">
                  <a:alpha val="0"/>
                </a:srgbClr>
              </a:solidFill>
            </a:endParaRPr>
          </a:p>
        </p:txBody>
      </p:sp>
      <p:pic>
        <p:nvPicPr>
          <p:cNvPr id="4" name="Picture 1260919718" descr="command-hw2-4.png"/>
          <p:cNvPicPr>
            <a:picLocks noChangeAspect="1"/>
          </p:cNvPicPr>
          <p:nvPr/>
        </p:nvPicPr>
        <p:blipFill>
          <a:blip r:embed="rId3"/>
          <a:stretch>
            <a:fillRect/>
          </a:stretch>
        </p:blipFill>
        <p:spPr>
          <a:xfrm>
            <a:off x="320040" y="1445035"/>
            <a:ext cx="6016752" cy="21496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Logs and policy get show OpenShell's decisions.</a:t>
            </a: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Logs:</a:t>
            </a:r>
            <a:r>
              <a:rPr lang="en-US" sz="1100" b="0">
                <a:solidFill>
                  <a:srgbClr val="000000"/>
                </a:solidFill>
              </a:rPr>
              <a:t> </a:t>
            </a:r>
            <a:r>
              <a:rPr lang="en-US" sz="1100" b="0">
                <a:solidFill>
                  <a:srgbClr val="000000"/>
                </a:solidFill>
                <a:latin typeface="Aptos Mono"/>
              </a:rPr>
              <a:t>--source sandbox</a:t>
            </a:r>
            <a:r>
              <a:rPr lang="en-US" sz="1100" b="0">
                <a:solidFill>
                  <a:srgbClr val="000000"/>
                </a:solidFill>
              </a:rPr>
              <a:t> shows its denials and policy loads.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Policy:</a:t>
            </a:r>
            <a:r>
              <a:rPr lang="en-US" sz="1100" b="0">
                <a:solidFill>
                  <a:srgbClr val="000000"/>
                </a:solidFill>
              </a:rPr>
              <a:t> </a:t>
            </a:r>
            <a:r>
              <a:rPr lang="en-US" sz="1100" b="0">
                <a:solidFill>
                  <a:srgbClr val="000000"/>
                </a:solidFill>
                <a:latin typeface="Aptos Mono"/>
              </a:rPr>
              <a:t>--full</a:t>
            </a:r>
            <a:r>
              <a:rPr lang="en-US" sz="1100" b="0">
                <a:solidFill>
                  <a:srgbClr val="000000"/>
                </a:solidFill>
              </a:rPr>
              <a:t> prints the effective policy, provider rules included.</a:t>
            </a:r>
            <a:endParaRPr/>
          </a:p>
        </p:txBody>
      </p:sp>
      <p:pic>
        <p:nvPicPr>
          <p:cNvPr id="4" name="Picture 1260919718" descr="command-hw2-5.png"/>
          <p:cNvPicPr>
            <a:picLocks noChangeAspect="1"/>
          </p:cNvPicPr>
          <p:nvPr/>
        </p:nvPicPr>
        <p:blipFill>
          <a:blip r:embed="rId3"/>
          <a:stretch>
            <a:fillRect/>
          </a:stretch>
        </p:blipFill>
        <p:spPr>
          <a:xfrm>
            <a:off x="320040" y="1445035"/>
            <a:ext cx="6016752" cy="21496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Logs and policy get show OpenShell's decisions.</a:t>
            </a:r>
          </a:p>
        </p:txBody>
      </p:sp>
      <p:sp>
        <p:nvSpPr>
          <p:cNvPr id="3" name="Content Placeholder 2"/>
          <p:cNvSpPr>
            <a:spLocks noGrp="1"/>
          </p:cNvSpPr>
          <p:nvPr>
            <p:ph idx="1"/>
          </p:nvPr>
        </p:nvSpPr>
        <p:spPr bwMode="auto">
          <a:xfrm>
            <a:off x="320040" y="658368"/>
            <a:ext cx="6016752" cy="60000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Logs:</a:t>
            </a:r>
            <a:r>
              <a:rPr lang="en-US" sz="1100" b="0">
                <a:solidFill>
                  <a:srgbClr val="000000"/>
                </a:solidFill>
              </a:rPr>
              <a:t> </a:t>
            </a:r>
            <a:r>
              <a:rPr lang="en-US" sz="1100" b="0">
                <a:solidFill>
                  <a:srgbClr val="000000"/>
                </a:solidFill>
                <a:latin typeface="Aptos Mono"/>
              </a:rPr>
              <a:t>--source sandbox</a:t>
            </a:r>
            <a:r>
              <a:rPr lang="en-US" sz="1100" b="0">
                <a:solidFill>
                  <a:srgbClr val="000000"/>
                </a:solidFill>
              </a:rPr>
              <a:t> shows its denials and policy loads.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Policy:</a:t>
            </a:r>
            <a:r>
              <a:rPr lang="en-US" sz="1100" b="0">
                <a:solidFill>
                  <a:srgbClr val="000000"/>
                </a:solidFill>
              </a:rPr>
              <a:t> </a:t>
            </a:r>
            <a:r>
              <a:rPr lang="en-US" sz="1100" b="0">
                <a:solidFill>
                  <a:srgbClr val="000000"/>
                </a:solidFill>
                <a:latin typeface="Aptos Mono"/>
              </a:rPr>
              <a:t>--full</a:t>
            </a:r>
            <a:r>
              <a:rPr lang="en-US" sz="1100" b="0">
                <a:solidFill>
                  <a:srgbClr val="000000"/>
                </a:solidFill>
              </a:rPr>
              <a:t> prints the effective policy, provider rules included.</a:t>
            </a:r>
            <a:endParaRPr/>
          </a:p>
        </p:txBody>
      </p:sp>
      <p:sp>
        <p:nvSpPr>
          <p:cNvPr id="4" name="Rectangle 4"/>
          <p:cNvSpPr/>
          <p:nvPr/>
        </p:nvSpPr>
        <p:spPr bwMode="auto">
          <a:xfrm>
            <a:off x="320040" y="384607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Logs show each decision, and policy get shows the policy behind it.</a:t>
            </a:r>
            <a:endParaRPr/>
          </a:p>
        </p:txBody>
      </p:sp>
      <p:pic>
        <p:nvPicPr>
          <p:cNvPr id="5" name="Picture 1260919718" descr="command-hw2-5.png"/>
          <p:cNvPicPr>
            <a:picLocks noChangeAspect="1"/>
          </p:cNvPicPr>
          <p:nvPr/>
        </p:nvPicPr>
        <p:blipFill>
          <a:blip r:embed="rId3"/>
          <a:stretch>
            <a:fillRect/>
          </a:stretch>
        </p:blipFill>
        <p:spPr>
          <a:xfrm>
            <a:off x="320040" y="1445035"/>
            <a:ext cx="6016752" cy="21496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benchmark covers Docker and OCI containers and Kubernetes pods only.</a:t>
            </a:r>
            <a:r>
              <a:rPr lang="en-US" sz="1200" b="0">
                <a:solidFill>
                  <a:srgbClr val="FFFFFF">
                    <a:alpha val="0"/>
                  </a:srgbClr>
                </a:solidFill>
              </a:rPr>
              <a:t> It does not cover gVisor, Firecracker or libkrun.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Across five sandbox products (Andronchik and Lokhmakov, preprint, 2026),</a:t>
            </a:r>
            <a:r>
              <a:rPr lang="en-US" sz="1200" b="0">
                <a:solidFill>
                  <a:srgbClr val="FFFFFF">
                    <a:alpha val="0"/>
                  </a:srgbClr>
                </a:solidFill>
              </a:rPr>
              <a:t> engine-side patches for coordinated disclosures land in about zero days, while the lag before products adopt them spans 0 to 471 or more days</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benchmark covers Docker and OCI containers and Kubernetes pods only.</a:t>
            </a:r>
            <a:r>
              <a:rPr lang="en-US" sz="1200" b="0">
                <a:solidFill>
                  <a:srgbClr val="000000"/>
                </a:solidFill>
              </a:rPr>
              <a:t> It does not cover gVisor, Firecracker or libkrun.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Across five sandbox products (Andronchik and Lokhmakov, preprint, 2026),</a:t>
            </a:r>
            <a:r>
              <a:rPr lang="en-US" sz="1200" b="0">
                <a:solidFill>
                  <a:srgbClr val="FFFFFF">
                    <a:alpha val="0"/>
                  </a:srgbClr>
                </a:solidFill>
              </a:rPr>
              <a:t> engine-side patches for coordinated disclosures land in about zero days, while the lag before products adopt them spans 0 to 471 or more days</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benchmark covers Docker and OCI containers and Kubernetes pods only.</a:t>
            </a:r>
            <a:r>
              <a:rPr lang="en-US" sz="1200" b="0">
                <a:solidFill>
                  <a:srgbClr val="000000"/>
                </a:solidFill>
              </a:rPr>
              <a:t> It does not cover gVisor, Firecracker or libkrun.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Across five sandbox products (Andronchik and Lokhmakov, preprint, 2026),</a:t>
            </a:r>
            <a:r>
              <a:rPr lang="en-US" sz="1200" b="0">
                <a:solidFill>
                  <a:srgbClr val="000000"/>
                </a:solidFill>
              </a:rPr>
              <a:t> engine-side patches for coordinated disclosures land in about zero days, while the lag before products adopt them spans 0 to 471 or more days</a:t>
            </a:r>
            <a:r>
              <a:rPr lang="en-US" sz="1200" baseline="30000">
                <a:solidFill>
                  <a:srgbClr val="000000"/>
                </a:solidFill>
              </a:rPr>
              <a:t>[2]</a:t>
            </a:r>
            <a:r>
              <a:rPr lang="en-US" sz="1200" b="0">
                <a:solidFill>
                  <a:srgbClr val="000000"/>
                </a:solidFill>
              </a:rPr>
              <a: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benchmark covers Docker and OCI containers and Kubernetes pods only.</a:t>
            </a:r>
            <a:r>
              <a:rPr lang="en-US" sz="1200" b="0">
                <a:solidFill>
                  <a:srgbClr val="000000"/>
                </a:solidFill>
              </a:rPr>
              <a:t> It does not cover gVisor, Firecracker or libkrun.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Across five sandbox products (Andronchik and Lokhmakov, preprint, 2026),</a:t>
            </a:r>
            <a:r>
              <a:rPr lang="en-US" sz="1200" b="0">
                <a:solidFill>
                  <a:srgbClr val="000000"/>
                </a:solidFill>
              </a:rPr>
              <a:t> engine-side patches for coordinated disclosures land in about zero days, while the lag before products adopt them spans 0 to 471 or more days</a:t>
            </a:r>
            <a:r>
              <a:rPr lang="en-US" sz="1200" baseline="30000">
                <a:solidFill>
                  <a:srgbClr val="000000"/>
                </a:solidFill>
              </a:rPr>
              <a:t>[2]</a:t>
            </a:r>
            <a:r>
              <a:rPr lang="en-US" sz="1200" b="0">
                <a:solidFill>
                  <a:srgbClr val="000000"/>
                </a:solidFill>
              </a:rPr>
              <a:t>.</a:t>
            </a:r>
            <a:endParaRPr/>
          </a:p>
        </p:txBody>
      </p:sp>
      <p:sp>
        <p:nvSpPr>
          <p:cNvPr id="4" name="Rectangle 4"/>
          <p:cNvSpPr/>
          <p:nvPr/>
        </p:nvSpPr>
        <p:spPr bwMode="auto">
          <a:xfrm>
            <a:off x="320040" y="3829697"/>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Models exploit seeded container flaws, and products adopt engine patches after a lag of 0 to 471 or more days.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 adds a programmable run-time policy function, HTTP-level access control, and reversible filesystem effects,</a:t>
            </a:r>
            <a:r>
              <a:rPr lang="en-US" sz="1200" b="0">
                <a:solidFill>
                  <a:srgbClr val="FFFFFF">
                    <a:alpha val="0"/>
                  </a:srgbClr>
                </a:solidFill>
              </a:rPr>
              <a:t> at about 5 ms of startup overhead and bare-metal Redis throughput. It needs no root, no cgroups, no images. It is open source.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Trusted:</a:t>
            </a:r>
            <a:r>
              <a:rPr lang="en-US" sz="1200" b="0">
                <a:solidFill>
                  <a:srgbClr val="FFFFFF">
                    <a:alpha val="0"/>
                  </a:srgbClr>
                </a:solidFill>
              </a:rPr>
              <a:t> the host kernel, the supervisor and the embedding agent runtime. </a:t>
            </a:r>
            <a:r>
              <a:rPr lang="en-US" sz="1200" b="1">
                <a:solidFill>
                  <a:srgbClr val="FFFFFF">
                    <a:alpha val="0"/>
                  </a:srgbClr>
                </a:solidFill>
              </a:rPr>
              <a:t>Out of scope:</a:t>
            </a:r>
            <a:r>
              <a:rPr lang="en-US" sz="1200" b="0">
                <a:solidFill>
                  <a:srgbClr val="FFFFFF">
                    <a:alpha val="0"/>
                  </a:srgbClr>
                </a:solidFill>
              </a:rPr>
              <a:t> kernel vulnerabilities, side channels, privileged local attackers.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adds a programmable run-time policy function, HTTP-level access control, and reversible filesystem effects,</a:t>
            </a:r>
            <a:r>
              <a:rPr lang="en-US" sz="1200" b="0">
                <a:solidFill>
                  <a:srgbClr val="000000"/>
                </a:solidFill>
              </a:rPr>
              <a:t> at about 5 ms of startup overhead and bare-metal Redis throughput. It needs no root, no cgroups, no images. It is open source.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Trusted:</a:t>
            </a:r>
            <a:r>
              <a:rPr lang="en-US" sz="1200" b="0">
                <a:solidFill>
                  <a:srgbClr val="FFFFFF">
                    <a:alpha val="0"/>
                  </a:srgbClr>
                </a:solidFill>
              </a:rPr>
              <a:t> the host kernel, the supervisor and the embedding agent runtime. </a:t>
            </a:r>
            <a:r>
              <a:rPr lang="en-US" sz="1200" b="1">
                <a:solidFill>
                  <a:srgbClr val="FFFFFF">
                    <a:alpha val="0"/>
                  </a:srgbClr>
                </a:solidFill>
              </a:rPr>
              <a:t>Out of scope:</a:t>
            </a:r>
            <a:r>
              <a:rPr lang="en-US" sz="1200" b="0">
                <a:solidFill>
                  <a:srgbClr val="FFFFFF">
                    <a:alpha val="0"/>
                  </a:srgbClr>
                </a:solidFill>
              </a:rPr>
              <a:t> kernel vulnerabilities, side channels, privileged local attackers.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adds a programmable run-time policy function, HTTP-level access control, and reversible filesystem effects,</a:t>
            </a:r>
            <a:r>
              <a:rPr lang="en-US" sz="1200" b="0">
                <a:solidFill>
                  <a:srgbClr val="000000"/>
                </a:solidFill>
              </a:rPr>
              <a:t> at about 5 ms of startup overhead and bare-metal Redis throughput. It needs no root, no cgroups, no images. It is open source.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Trusted:</a:t>
            </a:r>
            <a:r>
              <a:rPr lang="en-US" sz="1200" b="0">
                <a:solidFill>
                  <a:srgbClr val="000000"/>
                </a:solidFill>
              </a:rPr>
              <a:t> the host kernel, the supervisor and the embedding agent runtime. </a:t>
            </a:r>
            <a:r>
              <a:rPr lang="en-US" sz="1200" b="1">
                <a:solidFill>
                  <a:srgbClr val="000000"/>
                </a:solidFill>
              </a:rPr>
              <a:t>Out of scope:</a:t>
            </a:r>
            <a:r>
              <a:rPr lang="en-US" sz="1200" b="0">
                <a:solidFill>
                  <a:srgbClr val="000000"/>
                </a:solidFill>
              </a:rPr>
              <a:t> kernel vulnerabilities, side channels, privileged local attackers.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adds a programmable run-time policy function, HTTP-level access control, and reversible filesystem effects,</a:t>
            </a:r>
            <a:r>
              <a:rPr lang="en-US" sz="1200" b="0">
                <a:solidFill>
                  <a:srgbClr val="000000"/>
                </a:solidFill>
              </a:rPr>
              <a:t> at about 5 ms of startup overhead and bare-metal Redis throughput. It needs no root, no cgroups, no images. It is open source.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Trusted:</a:t>
            </a:r>
            <a:r>
              <a:rPr lang="en-US" sz="1200" b="0">
                <a:solidFill>
                  <a:srgbClr val="000000"/>
                </a:solidFill>
              </a:rPr>
              <a:t> the host kernel, the supervisor and the embedding agent runtime. </a:t>
            </a:r>
            <a:r>
              <a:rPr lang="en-US" sz="1200" b="1">
                <a:solidFill>
                  <a:srgbClr val="000000"/>
                </a:solidFill>
              </a:rPr>
              <a:t>Out of scope:</a:t>
            </a:r>
            <a:r>
              <a:rPr lang="en-US" sz="1200" b="0">
                <a:solidFill>
                  <a:srgbClr val="000000"/>
                </a:solidFill>
              </a:rPr>
              <a:t> kernel vulnerabilities, side channels, privileged local attackers.</a:t>
            </a:r>
            <a:endParaRPr/>
          </a:p>
        </p:txBody>
      </p:sp>
      <p:sp>
        <p:nvSpPr>
          <p:cNvPr id="4" name="Rectangle 4"/>
          <p:cNvSpPr/>
          <p:nvPr/>
        </p:nvSpPr>
        <p:spPr bwMode="auto">
          <a:xfrm>
            <a:off x="320040" y="3128657"/>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Sandlock builds on the kernel primitives behind OpenShell's locked layers and states its assumptions.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ActPlane (Zheng et al., preprint, June 2026):</a:t>
            </a:r>
            <a:r>
              <a:rPr lang="en-US" sz="1200" b="0">
                <a:solidFill>
                  <a:srgbClr val="FFFFFF">
                    <a:alpha val="0"/>
                  </a:srgbClr>
                </a:solidFill>
              </a:rPr>
              <a:t> agents declare policies, and an eBPF engine enforces them in the kernel with semantic feedback, at 1.9% to 8.4% overhead, covering execution paths that tool-call interception cannot see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AgentKernel (Zou et al., preprint, August 2026):</a:t>
            </a:r>
            <a:r>
              <a:rPr lang="en-US" sz="1200" b="0">
                <a:solidFill>
                  <a:srgbClr val="FFFFFF">
                    <a:alpha val="0"/>
                  </a:srgbClr>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FFFFFF">
                    <a:alpha val="0"/>
                  </a:srgbClr>
                </a:solidFill>
              </a:rPr>
              <a:t>[3]</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Wang, Li and Tian (preprint, May 2026):</a:t>
            </a:r>
            <a:r>
              <a:rPr lang="en-US" sz="1200" b="0">
                <a:solidFill>
                  <a:srgbClr val="FFFFFF">
                    <a:alpha val="0"/>
                  </a:srgbClr>
                </a:solidFill>
              </a:rPr>
              <a:t> a survey of 59 papers, 21 production agent systems and 26 security plugins finds that production scope mostly widens and rarely shrinks</a:t>
            </a:r>
            <a:r>
              <a:rPr lang="en-US" sz="1200" baseline="30000">
                <a:solidFill>
                  <a:srgbClr val="FFFFFF">
                    <a:alpha val="0"/>
                  </a:srgbClr>
                </a:solidFill>
              </a:rPr>
              <a:t>[4]</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AgentKernel (Zou et al., preprint, August 2026):</a:t>
            </a:r>
            <a:r>
              <a:rPr lang="en-US" sz="1200" b="0">
                <a:solidFill>
                  <a:srgbClr val="FFFFFF">
                    <a:alpha val="0"/>
                  </a:srgbClr>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FFFFFF">
                    <a:alpha val="0"/>
                  </a:srgbClr>
                </a:solidFill>
              </a:rPr>
              <a:t>[3]</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Wang, Li and Tian (preprint, May 2026):</a:t>
            </a:r>
            <a:r>
              <a:rPr lang="en-US" sz="1200" b="0">
                <a:solidFill>
                  <a:srgbClr val="FFFFFF">
                    <a:alpha val="0"/>
                  </a:srgbClr>
                </a:solidFill>
              </a:rPr>
              <a:t> a survey of 59 papers, 21 production agent systems and 26 security plugins finds that production scope mostly widens and rarely shrinks</a:t>
            </a:r>
            <a:r>
              <a:rPr lang="en-US" sz="1200" baseline="30000">
                <a:solidFill>
                  <a:srgbClr val="FFFFFF">
                    <a:alpha val="0"/>
                  </a:srgbClr>
                </a:solidFill>
              </a:rPr>
              <a:t>[4]</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AgentKernel (Zou et al., preprint, August 2026):</a:t>
            </a:r>
            <a:r>
              <a:rPr lang="en-US" sz="1200" b="0">
                <a:solidFill>
                  <a:srgbClr val="000000"/>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000000"/>
                </a:solidFill>
              </a:rPr>
              <a:t>[3]</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Wang, Li and Tian (preprint, May 2026):</a:t>
            </a:r>
            <a:r>
              <a:rPr lang="en-US" sz="1200" b="0">
                <a:solidFill>
                  <a:srgbClr val="FFFFFF">
                    <a:alpha val="0"/>
                  </a:srgbClr>
                </a:solidFill>
              </a:rPr>
              <a:t> a survey of 59 papers, 21 production agent systems and 26 security plugins finds that production scope mostly widens and rarely shrinks</a:t>
            </a:r>
            <a:r>
              <a:rPr lang="en-US" sz="1200" baseline="30000">
                <a:solidFill>
                  <a:srgbClr val="FFFFFF">
                    <a:alpha val="0"/>
                  </a:srgbClr>
                </a:solidFill>
              </a:rPr>
              <a:t>[4]</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AgentKernel (Zou et al., preprint, August 2026):</a:t>
            </a:r>
            <a:r>
              <a:rPr lang="en-US" sz="1200" b="0">
                <a:solidFill>
                  <a:srgbClr val="000000"/>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000000"/>
                </a:solidFill>
              </a:rPr>
              <a:t>[3]</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Wang, Li and Tian (preprint, May 2026):</a:t>
            </a:r>
            <a:r>
              <a:rPr lang="en-US" sz="1200" b="0">
                <a:solidFill>
                  <a:srgbClr val="000000"/>
                </a:solidFill>
              </a:rPr>
              <a:t> a survey of 59 papers, 21 production agent systems and 26 security plugins finds that production scope mostly widens and rarely shrinks</a:t>
            </a:r>
            <a:r>
              <a:rPr lang="en-US" sz="1200" baseline="30000">
                <a:solidFill>
                  <a:srgbClr val="000000"/>
                </a:solidFill>
              </a:rPr>
              <a:t>[4]</a:t>
            </a:r>
            <a:r>
              <a:rPr lang="en-US" sz="1200" b="0">
                <a:solidFill>
                  <a:srgbClr val="000000"/>
                </a:solidFill>
              </a:rPr>
              <a: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AgentKernel (Zou et al., preprint, August 2026):</a:t>
            </a:r>
            <a:r>
              <a:rPr lang="en-US" sz="1200" b="0">
                <a:solidFill>
                  <a:srgbClr val="000000"/>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000000"/>
                </a:solidFill>
              </a:rPr>
              <a:t>[3]</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Wang, Li and Tian (preprint, May 2026):</a:t>
            </a:r>
            <a:r>
              <a:rPr lang="en-US" sz="1200" b="0">
                <a:solidFill>
                  <a:srgbClr val="000000"/>
                </a:solidFill>
              </a:rPr>
              <a:t> a survey of 59 papers, 21 production agent systems and 26 security plugins finds that production scope mostly widens and rarely shrinks</a:t>
            </a:r>
            <a:r>
              <a:rPr lang="en-US" sz="1200" baseline="30000">
                <a:solidFill>
                  <a:srgbClr val="000000"/>
                </a:solidFill>
              </a:rPr>
              <a:t>[4]</a:t>
            </a:r>
            <a:r>
              <a:rPr lang="en-US" sz="1200" b="0">
                <a:solidFill>
                  <a:srgbClr val="000000"/>
                </a:solidFill>
              </a:rPr>
              <a:t>.</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Stronger walls are the premise. The research question is how authority is granted and taken back.</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MCP-</a:t>
            </a:r>
            <a:r>
              <a:rPr lang="en-US" sz="1200" b="1" dirty="0" err="1">
                <a:solidFill>
                  <a:srgbClr val="FFFFFF">
                    <a:alpha val="0"/>
                  </a:srgbClr>
                </a:solidFill>
              </a:rPr>
              <a:t>SandboxScan</a:t>
            </a:r>
            <a:r>
              <a:rPr lang="en-US" sz="1200" b="1" dirty="0">
                <a:solidFill>
                  <a:srgbClr val="FFFFFF">
                    <a:alpha val="0"/>
                  </a:srgbClr>
                </a:solidFill>
              </a:rPr>
              <a:t> (preprint, January 2026)</a:t>
            </a:r>
            <a:r>
              <a:rPr lang="en-US" sz="1200" b="0" dirty="0">
                <a:solidFill>
                  <a:srgbClr val="FFFFFF">
                    <a:alpha val="0"/>
                  </a:srgbClr>
                </a:solidFill>
              </a:rPr>
              <a:t> runs MCP tools under </a:t>
            </a:r>
            <a:r>
              <a:rPr lang="en-US" sz="1200" b="0" dirty="0" err="1">
                <a:solidFill>
                  <a:srgbClr val="FFFFFF">
                    <a:alpha val="0"/>
                  </a:srgbClr>
                </a:solidFill>
              </a:rPr>
              <a:t>WebAssembly</a:t>
            </a:r>
            <a:r>
              <a:rPr lang="en-US" sz="1200" b="0" dirty="0">
                <a:solidFill>
                  <a:srgbClr val="FFFFFF">
                    <a:alpha val="0"/>
                  </a:srgbClr>
                </a:solidFill>
              </a:rPr>
              <a:t> or drives them over </a:t>
            </a:r>
            <a:r>
              <a:rPr lang="en-US" sz="1200" b="0" dirty="0" err="1">
                <a:solidFill>
                  <a:srgbClr val="FFFFFF">
                    <a:alpha val="0"/>
                  </a:srgbClr>
                </a:solidFill>
              </a:rPr>
              <a:t>stdio</a:t>
            </a:r>
            <a:r>
              <a:rPr lang="en-US" sz="1200" b="0" dirty="0">
                <a:solidFill>
                  <a:srgbClr val="FFFFFF">
                    <a:alpha val="0"/>
                  </a:srgbClr>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FFFFFF">
                    <a:alpha val="0"/>
                  </a:srgbClr>
                </a:solidFill>
              </a:rPr>
              <a:t>[2]</a:t>
            </a:r>
            <a:r>
              <a:rPr lang="en-US" sz="1200" b="0" dirty="0">
                <a:solidFill>
                  <a:srgbClr val="FFFFFF">
                    <a:alpha val="0"/>
                  </a:srgbClr>
                </a:solidFill>
              </a:rPr>
              <a:t>.</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Open:</a:t>
            </a:r>
            <a:r>
              <a:rPr lang="en-US" sz="1200" b="0" dirty="0">
                <a:solidFill>
                  <a:srgbClr val="FFFFFF">
                    <a:alpha val="0"/>
                  </a:srgbClr>
                </a:solidFill>
              </a:rPr>
              <a:t> no peer-reviewed evaluation of OpenShell; the escape benchmark covers OCI containers only; no first-class agent identity; no graduated enforcement, which </a:t>
            </a:r>
            <a:r>
              <a:rPr lang="en-US" sz="1200" b="0" dirty="0" err="1">
                <a:solidFill>
                  <a:srgbClr val="FFFFFF">
                    <a:alpha val="0"/>
                  </a:srgbClr>
                </a:solidFill>
              </a:rPr>
              <a:t>AgentKernel</a:t>
            </a:r>
            <a:r>
              <a:rPr lang="en-US" sz="1200" b="0" dirty="0">
                <a:solidFill>
                  <a:srgbClr val="FFFFFF">
                    <a:alpha val="0"/>
                  </a:srgbClr>
                </a:solidFill>
              </a:rPr>
              <a:t> proposes.</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MCP-</a:t>
            </a:r>
            <a:r>
              <a:rPr lang="en-US" sz="1200" b="1" dirty="0" err="1">
                <a:solidFill>
                  <a:srgbClr val="000000"/>
                </a:solidFill>
              </a:rPr>
              <a:t>SandboxScan</a:t>
            </a:r>
            <a:r>
              <a:rPr lang="en-US" sz="1200" b="1" dirty="0">
                <a:solidFill>
                  <a:srgbClr val="000000"/>
                </a:solidFill>
              </a:rPr>
              <a:t> (preprint, January 2026)</a:t>
            </a:r>
            <a:r>
              <a:rPr lang="en-US" sz="1200" b="0" dirty="0">
                <a:solidFill>
                  <a:srgbClr val="000000"/>
                </a:solidFill>
              </a:rPr>
              <a:t> runs MCP tools under </a:t>
            </a:r>
            <a:r>
              <a:rPr lang="en-US" sz="1200" b="0" dirty="0" err="1">
                <a:solidFill>
                  <a:srgbClr val="000000"/>
                </a:solidFill>
              </a:rPr>
              <a:t>WebAssembly</a:t>
            </a:r>
            <a:r>
              <a:rPr lang="en-US" sz="1200" b="0" dirty="0">
                <a:solidFill>
                  <a:srgbClr val="000000"/>
                </a:solidFill>
              </a:rPr>
              <a:t> or drives them over </a:t>
            </a:r>
            <a:r>
              <a:rPr lang="en-US" sz="1200" b="0" dirty="0" err="1">
                <a:solidFill>
                  <a:srgbClr val="000000"/>
                </a:solidFill>
              </a:rPr>
              <a:t>stdio</a:t>
            </a:r>
            <a:r>
              <a:rPr lang="en-US" sz="1200" b="0" dirty="0">
                <a:solidFill>
                  <a:srgbClr val="000000"/>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Open:</a:t>
            </a:r>
            <a:r>
              <a:rPr lang="en-US" sz="1200" b="0" dirty="0">
                <a:solidFill>
                  <a:srgbClr val="FFFFFF">
                    <a:alpha val="0"/>
                  </a:srgbClr>
                </a:solidFill>
              </a:rPr>
              <a:t> no peer-reviewed evaluation of OpenShell; the escape benchmark covers OCI containers only; no first-class agent identity; no graduated enforcement, which </a:t>
            </a:r>
            <a:r>
              <a:rPr lang="en-US" sz="1200" b="0" dirty="0" err="1">
                <a:solidFill>
                  <a:srgbClr val="FFFFFF">
                    <a:alpha val="0"/>
                  </a:srgbClr>
                </a:solidFill>
              </a:rPr>
              <a:t>AgentKernel</a:t>
            </a:r>
            <a:r>
              <a:rPr lang="en-US" sz="1200" b="0" dirty="0">
                <a:solidFill>
                  <a:srgbClr val="FFFFFF">
                    <a:alpha val="0"/>
                  </a:srgbClr>
                </a:solidFill>
              </a:rPr>
              <a:t> proposes.</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MCP-</a:t>
            </a:r>
            <a:r>
              <a:rPr lang="en-US" sz="1200" b="1" dirty="0" err="1">
                <a:solidFill>
                  <a:srgbClr val="000000"/>
                </a:solidFill>
              </a:rPr>
              <a:t>SandboxScan</a:t>
            </a:r>
            <a:r>
              <a:rPr lang="en-US" sz="1200" b="1" dirty="0">
                <a:solidFill>
                  <a:srgbClr val="000000"/>
                </a:solidFill>
              </a:rPr>
              <a:t> (preprint, January 2026)</a:t>
            </a:r>
            <a:r>
              <a:rPr lang="en-US" sz="1200" b="0" dirty="0">
                <a:solidFill>
                  <a:srgbClr val="000000"/>
                </a:solidFill>
              </a:rPr>
              <a:t> runs MCP tools under </a:t>
            </a:r>
            <a:r>
              <a:rPr lang="en-US" sz="1200" b="0" dirty="0" err="1">
                <a:solidFill>
                  <a:srgbClr val="000000"/>
                </a:solidFill>
              </a:rPr>
              <a:t>WebAssembly</a:t>
            </a:r>
            <a:r>
              <a:rPr lang="en-US" sz="1200" b="0" dirty="0">
                <a:solidFill>
                  <a:srgbClr val="000000"/>
                </a:solidFill>
              </a:rPr>
              <a:t> or drives them over </a:t>
            </a:r>
            <a:r>
              <a:rPr lang="en-US" sz="1200" b="0" dirty="0" err="1">
                <a:solidFill>
                  <a:srgbClr val="000000"/>
                </a:solidFill>
              </a:rPr>
              <a:t>stdio</a:t>
            </a:r>
            <a:r>
              <a:rPr lang="en-US" sz="1200" b="0" dirty="0">
                <a:solidFill>
                  <a:srgbClr val="000000"/>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Open:</a:t>
            </a:r>
            <a:r>
              <a:rPr lang="en-US" sz="1200" b="0" dirty="0">
                <a:solidFill>
                  <a:srgbClr val="000000"/>
                </a:solidFill>
              </a:rPr>
              <a:t> no peer-reviewed evaluation of OpenShell; the escape benchmark covers OCI containers only; no first-class agent identity; no graduated enforcement, which </a:t>
            </a:r>
            <a:r>
              <a:rPr lang="en-US" sz="1200" b="0" dirty="0" err="1">
                <a:solidFill>
                  <a:srgbClr val="000000"/>
                </a:solidFill>
              </a:rPr>
              <a:t>AgentKernel</a:t>
            </a:r>
            <a:r>
              <a:rPr lang="en-US" sz="1200" b="0" dirty="0">
                <a:solidFill>
                  <a:srgbClr val="000000"/>
                </a:solidFill>
              </a:rPr>
              <a:t> proposes.</a:t>
            </a:r>
            <a:endParaRPr dirty="0"/>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MCP-</a:t>
            </a:r>
            <a:r>
              <a:rPr lang="en-US" sz="1200" b="1" dirty="0" err="1">
                <a:solidFill>
                  <a:srgbClr val="000000"/>
                </a:solidFill>
              </a:rPr>
              <a:t>SandboxScan</a:t>
            </a:r>
            <a:r>
              <a:rPr lang="en-US" sz="1200" b="1" dirty="0">
                <a:solidFill>
                  <a:srgbClr val="000000"/>
                </a:solidFill>
              </a:rPr>
              <a:t> (preprint, January 2026)</a:t>
            </a:r>
            <a:r>
              <a:rPr lang="en-US" sz="1200" b="0" dirty="0">
                <a:solidFill>
                  <a:srgbClr val="000000"/>
                </a:solidFill>
              </a:rPr>
              <a:t> runs MCP tools under </a:t>
            </a:r>
            <a:r>
              <a:rPr lang="en-US" sz="1200" b="0" dirty="0" err="1">
                <a:solidFill>
                  <a:srgbClr val="000000"/>
                </a:solidFill>
              </a:rPr>
              <a:t>WebAssembly</a:t>
            </a:r>
            <a:r>
              <a:rPr lang="en-US" sz="1200" b="0" dirty="0">
                <a:solidFill>
                  <a:srgbClr val="000000"/>
                </a:solidFill>
              </a:rPr>
              <a:t> or drives them over </a:t>
            </a:r>
            <a:r>
              <a:rPr lang="en-US" sz="1200" b="0" dirty="0" err="1">
                <a:solidFill>
                  <a:srgbClr val="000000"/>
                </a:solidFill>
              </a:rPr>
              <a:t>stdio</a:t>
            </a:r>
            <a:r>
              <a:rPr lang="en-US" sz="1200" b="0" dirty="0">
                <a:solidFill>
                  <a:srgbClr val="000000"/>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Open:</a:t>
            </a:r>
            <a:r>
              <a:rPr lang="en-US" sz="1200" b="0" dirty="0">
                <a:solidFill>
                  <a:srgbClr val="000000"/>
                </a:solidFill>
              </a:rPr>
              <a:t> no peer-reviewed evaluation of OpenShell; the escape benchmark covers OCI containers only; no first-class agent identity; no graduated enforcement, which </a:t>
            </a:r>
            <a:r>
              <a:rPr lang="en-US" sz="1200" b="0" dirty="0" err="1">
                <a:solidFill>
                  <a:srgbClr val="000000"/>
                </a:solidFill>
              </a:rPr>
              <a:t>AgentKernel</a:t>
            </a:r>
            <a:r>
              <a:rPr lang="en-US" sz="1200" b="0" dirty="0">
                <a:solidFill>
                  <a:srgbClr val="000000"/>
                </a:solidFill>
              </a:rPr>
              <a:t> proposes.</a:t>
            </a:r>
            <a:endParaRPr dirty="0"/>
          </a:p>
        </p:txBody>
      </p:sp>
      <p:sp>
        <p:nvSpPr>
          <p:cNvPr id="4" name="Rectangle 4"/>
          <p:cNvSpPr/>
          <p:nvPr/>
        </p:nvSpPr>
        <p:spPr bwMode="auto">
          <a:xfrm>
            <a:off x="320040" y="396990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chemeClr val="accent4"/>
                </a:solidFill>
              </a:rPr>
              <a:t>OpenShell is deployed, and the research on the mechanisms beneath it is mostly 2026 preprints.</a:t>
            </a:r>
            <a:endParaRPr dirty="0"/>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ATLAS describes the adversary's action and the asset it acts on:</a:t>
            </a:r>
            <a:r>
              <a:rPr lang="en-US" sz="1150" b="0">
                <a:solidFill>
                  <a:srgbClr val="FFFFFF">
                    <a:alpha val="0"/>
                  </a:srgbClr>
                </a:solidFill>
              </a:rPr>
              <a:t> the definition text, the implementation, the response, the stored credential, the outbound connection, the kernel boundary.</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The runtime determines the enforcement point for each asset:</a:t>
            </a:r>
            <a:r>
              <a:rPr lang="en-US" sz="1150" b="0">
                <a:solidFill>
                  <a:srgbClr val="FFFFFF">
                    <a:alpha val="0"/>
                  </a:srgbClr>
                </a:solidFill>
              </a:rPr>
              <a:t> the host for text, the kernel for code and files, the supervisor for connections and credentials.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inside the agent's process can be disabled by the agent.</a:t>
            </a:r>
            <a:r>
              <a:rPr lang="en-US" sz="1150" b="0">
                <a:solidFill>
                  <a:srgbClr val="FFFFFF">
                    <a:alpha val="0"/>
                  </a:srgbClr>
                </a:solidFill>
              </a:rPr>
              <a:t> A rule enforced outside it cannot be disabled without compromising the enforcing process.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The runtime determines the enforcement point for each asset:</a:t>
            </a:r>
            <a:r>
              <a:rPr lang="en-US" sz="1150" b="0">
                <a:solidFill>
                  <a:srgbClr val="FFFFFF">
                    <a:alpha val="0"/>
                  </a:srgbClr>
                </a:solidFill>
              </a:rPr>
              <a:t> the host for text, the kernel for code and files, the supervisor for connections and credentials.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inside the agent's process can be disabled by the agent.</a:t>
            </a:r>
            <a:r>
              <a:rPr lang="en-US" sz="1150" b="0">
                <a:solidFill>
                  <a:srgbClr val="FFFFFF">
                    <a:alpha val="0"/>
                  </a:srgbClr>
                </a:solidFill>
              </a:rPr>
              <a:t> A rule enforced outside it cannot be disabled without compromising the enforcing process.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inside the agent's process can be disabled by the agent.</a:t>
            </a:r>
            <a:r>
              <a:rPr lang="en-US" sz="1150" b="0">
                <a:solidFill>
                  <a:srgbClr val="FFFFFF">
                    <a:alpha val="0"/>
                  </a:srgbClr>
                </a:solidFill>
              </a:rPr>
              <a:t> A rule enforced outside it cannot be disabled without compromising the enforcing process.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only in the model's alignment weakened once eleven models were given tools,</a:t>
            </a:r>
            <a:r>
              <a:rPr lang="en-US" sz="1150" b="0">
                <a:solidFill>
                  <a:srgbClr val="000000"/>
                </a:solidFill>
              </a:rPr>
              <a:t> with no attack on the tools (slide </a:t>
            </a:r>
            <a:r>
              <a:rPr lang="en-US" sz="1150" b="0" u="sng">
                <a:solidFill>
                  <a:srgbClr val="000000"/>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000000"/>
                </a:solidFill>
              </a:rPr>
              <a:t>), so the model should not be the enforcement point for its own tool use.</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only in the model's alignment weakened once eleven models were given tools,</a:t>
            </a:r>
            <a:r>
              <a:rPr lang="en-US" sz="1150" b="0">
                <a:solidFill>
                  <a:srgbClr val="000000"/>
                </a:solidFill>
              </a:rPr>
              <a:t> with no attack on the tools (slide </a:t>
            </a:r>
            <a:r>
              <a:rPr lang="en-US" sz="1150" b="0" u="sng">
                <a:solidFill>
                  <a:srgbClr val="000000"/>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000000"/>
                </a:solidFill>
              </a:rPr>
              <a:t>), so the model should not be the enforcement point for its own tool use.</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Last week:</a:t>
            </a:r>
            <a:r>
              <a:rPr lang="en-US" sz="1150" b="0">
                <a:solidFill>
                  <a:srgbClr val="000000"/>
                </a:solidFill>
              </a:rPr>
              <a:t> the guarantees are supplied by the contract and the runtime.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only in the model's alignment weakened once eleven models were given tools,</a:t>
            </a:r>
            <a:r>
              <a:rPr lang="en-US" sz="1150" b="0">
                <a:solidFill>
                  <a:srgbClr val="000000"/>
                </a:solidFill>
              </a:rPr>
              <a:t> with no attack on the tools (slide </a:t>
            </a:r>
            <a:r>
              <a:rPr lang="en-US" sz="1150" b="0" u="sng">
                <a:solidFill>
                  <a:srgbClr val="000000"/>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000000"/>
                </a:solidFill>
              </a:rPr>
              <a:t>), so the model should not be the enforcement point for its own tool use.</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Last week:</a:t>
            </a:r>
            <a:r>
              <a:rPr lang="en-US" sz="1150" b="0">
                <a:solidFill>
                  <a:srgbClr val="000000"/>
                </a:solidFill>
              </a:rPr>
              <a:t> the guarantees are supplied by the contract and the runtime.</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This week: the runtime must execute in a process the agent cannot modify. The model cannot serve as the runtime.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Where should the ~/.ssh rule be enforced?</a:t>
            </a:r>
          </a:p>
        </p:txBody>
      </p:sp>
      <p:sp>
        <p:nvSpPr>
          <p:cNvPr id="3"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The rule is: the agent may not read ~/.ssh. Where should the rule be enforced?</a:t>
            </a:r>
            <a:endParaRPr/>
          </a:p>
        </p:txBody>
      </p:sp>
      <p:sp>
        <p:nvSpPr>
          <p:cNvPr id="4"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6"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In the system prompt</a:t>
            </a:r>
            <a:endParaRPr/>
          </a:p>
        </p:txBody>
      </p:sp>
      <p:sp>
        <p:nvSpPr>
          <p:cNvPr id="7"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9"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In the harness's tool code</a:t>
            </a:r>
            <a:endParaRPr/>
          </a:p>
        </p:txBody>
      </p:sp>
      <p:sp>
        <p:nvSpPr>
          <p:cNvPr id="10"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1"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2"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In the operating-system kernel</a:t>
            </a:r>
            <a:endParaRPr/>
          </a:p>
        </p:txBody>
      </p:sp>
      <p:sp>
        <p:nvSpPr>
          <p:cNvPr id="13"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4"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5"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In hardware outside the host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Where should the ~/.ssh rule be enforced?</a:t>
            </a:r>
          </a:p>
        </p:txBody>
      </p:sp>
      <p:sp>
        <p:nvSpPr>
          <p:cNvPr id="3"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The rule is: the agent may not read ~/.ssh. Where should the rule be enforced?</a:t>
            </a:r>
            <a:endParaRPr/>
          </a:p>
        </p:txBody>
      </p:sp>
      <p:sp>
        <p:nvSpPr>
          <p:cNvPr id="4"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6"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In the system prompt</a:t>
            </a:r>
            <a:endParaRPr/>
          </a:p>
        </p:txBody>
      </p:sp>
      <p:sp>
        <p:nvSpPr>
          <p:cNvPr id="7"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9"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In the harness's tool code</a:t>
            </a:r>
            <a:endParaRPr/>
          </a:p>
        </p:txBody>
      </p:sp>
      <p:sp>
        <p:nvSpPr>
          <p:cNvPr id="10" name="Rounded Rectangle 9"/>
          <p:cNvSpPr/>
          <p:nvPr/>
        </p:nvSpPr>
        <p:spPr bwMode="auto">
          <a:xfrm>
            <a:off x="320040" y="2807208"/>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1" name="Oval 10"/>
          <p:cNvSpPr/>
          <p:nvPr/>
        </p:nvSpPr>
        <p:spPr bwMode="auto">
          <a:xfrm>
            <a:off x="457200" y="2907792"/>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2"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1">
                <a:solidFill>
                  <a:schemeClr val="accent4"/>
                </a:solidFill>
              </a:rPr>
              <a:t>In the operating-system kernel</a:t>
            </a:r>
            <a:endParaRPr/>
          </a:p>
        </p:txBody>
      </p:sp>
      <p:sp>
        <p:nvSpPr>
          <p:cNvPr id="13"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4"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d</a:t>
            </a:r>
            <a:endParaRPr/>
          </a:p>
        </p:txBody>
      </p:sp>
      <p:sp>
        <p:nvSpPr>
          <p:cNvPr id="15"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In hardware outside the host</a:t>
            </a:r>
            <a:endParaRPr/>
          </a:p>
        </p:txBody>
      </p:sp>
      <p:sp>
        <p:nvSpPr>
          <p:cNvPr id="16"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accent4"/>
                </a:solidFill>
              </a:rPr>
              <a:t>The evidence supports (c): the kernel enforces the rule from outside the agent's process. A processor in the network path never sees a local file read.</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State records, routing and termination;</a:t>
            </a:r>
            <a:r>
              <a:rPr lang="en-US" sz="1200" b="0">
                <a:solidFill>
                  <a:srgbClr val="FFFFFF">
                    <a:alpha val="0"/>
                  </a:srgbClr>
                </a:solidFill>
              </a:rPr>
              <a:t> token accounting and admission.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Tool contracts and the dispatch cycle;</a:t>
            </a:r>
            <a:r>
              <a:rPr lang="en-US" sz="1200" b="0">
                <a:solidFill>
                  <a:srgbClr val="FFFFFF">
                    <a:alpha val="0"/>
                  </a:srgbClr>
                </a:solidFill>
              </a:rPr>
              <a:t> action representation, structured and code actions.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MCP hosts, clients, servers</a:t>
            </a:r>
            <a:r>
              <a:rPr lang="en-US" sz="1200" b="0">
                <a:solidFill>
                  <a:srgbClr val="FFFFFF">
                    <a:alpha val="0"/>
                  </a:srgbClr>
                </a:solidFill>
              </a:rPr>
              <a:t> and transports.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tool boundary under attack,</a:t>
            </a:r>
            <a:r>
              <a:rPr lang="en-US" sz="1200" b="0">
                <a:solidFill>
                  <a:srgbClr val="FFFFFF">
                    <a:alpha val="0"/>
                  </a:srgbClr>
                </a:solidFill>
              </a:rPr>
              <a:t> and where a rule is enforced.</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Tool contracts and the dispatch cycle;</a:t>
            </a:r>
            <a:r>
              <a:rPr lang="en-US" sz="1200" b="0">
                <a:solidFill>
                  <a:srgbClr val="FFFFFF">
                    <a:alpha val="0"/>
                  </a:srgbClr>
                </a:solidFill>
              </a:rPr>
              <a:t> action representation, structured and code actions.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MCP hosts, clients, servers</a:t>
            </a:r>
            <a:r>
              <a:rPr lang="en-US" sz="1200" b="0">
                <a:solidFill>
                  <a:srgbClr val="FFFFFF">
                    <a:alpha val="0"/>
                  </a:srgbClr>
                </a:solidFill>
              </a:rPr>
              <a:t> and transports.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tool boundary under attack,</a:t>
            </a:r>
            <a:r>
              <a:rPr lang="en-US" sz="1200" b="0">
                <a:solidFill>
                  <a:srgbClr val="FFFFFF">
                    <a:alpha val="0"/>
                  </a:srgbClr>
                </a:solidFill>
              </a:rPr>
              <a:t> and where a rule is enforced.</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Tool contracts and the dispatch cycle;</a:t>
            </a:r>
            <a:r>
              <a:rPr lang="en-US" sz="1200" b="0">
                <a:solidFill>
                  <a:srgbClr val="000000"/>
                </a:solidFill>
              </a:rPr>
              <a:t> action representation, structured and code actions.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MCP hosts, clients, servers</a:t>
            </a:r>
            <a:r>
              <a:rPr lang="en-US" sz="1200" b="0">
                <a:solidFill>
                  <a:srgbClr val="FFFFFF">
                    <a:alpha val="0"/>
                  </a:srgbClr>
                </a:solidFill>
              </a:rPr>
              <a:t> and transports.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tool boundary under attack,</a:t>
            </a:r>
            <a:r>
              <a:rPr lang="en-US" sz="1200" b="0">
                <a:solidFill>
                  <a:srgbClr val="FFFFFF">
                    <a:alpha val="0"/>
                  </a:srgbClr>
                </a:solidFill>
              </a:rPr>
              <a:t> and where a rule is enforced.</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Tool contracts and the dispatch cycle;</a:t>
            </a:r>
            <a:r>
              <a:rPr lang="en-US" sz="1200" b="0">
                <a:solidFill>
                  <a:srgbClr val="000000"/>
                </a:solidFill>
              </a:rPr>
              <a:t> action representation, structured and code actions.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MCP hosts, clients, servers</a:t>
            </a:r>
            <a:r>
              <a:rPr lang="en-US" sz="1200" b="0">
                <a:solidFill>
                  <a:srgbClr val="000000"/>
                </a:solidFill>
              </a:rPr>
              <a:t> and transports.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tool boundary under attack,</a:t>
            </a:r>
            <a:r>
              <a:rPr lang="en-US" sz="1200" b="0">
                <a:solidFill>
                  <a:srgbClr val="FFFFFF">
                    <a:alpha val="0"/>
                  </a:srgbClr>
                </a:solidFill>
              </a:rPr>
              <a:t> and where a rule is enforced.</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Tool contracts and the dispatch cycle;</a:t>
            </a:r>
            <a:r>
              <a:rPr lang="en-US" sz="1200" b="0">
                <a:solidFill>
                  <a:srgbClr val="000000"/>
                </a:solidFill>
              </a:rPr>
              <a:t> action representation, structured and code actions.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MCP hosts, clients, servers</a:t>
            </a:r>
            <a:r>
              <a:rPr lang="en-US" sz="1200" b="0">
                <a:solidFill>
                  <a:srgbClr val="000000"/>
                </a:solidFill>
              </a:rPr>
              <a:t> and transports.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tool boundary under attack,</a:t>
            </a:r>
            <a:r>
              <a:rPr lang="en-US" sz="1200" b="0">
                <a:solidFill>
                  <a:srgbClr val="000000"/>
                </a:solidFill>
              </a:rPr>
              <a:t> and where a rule is enforced.</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Tool contracts and the dispatch cycle;</a:t>
            </a:r>
            <a:r>
              <a:rPr lang="en-US" sz="1200" b="0">
                <a:solidFill>
                  <a:srgbClr val="000000"/>
                </a:solidFill>
              </a:rPr>
              <a:t> action representation, structured and code actions.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MCP hosts, clients, servers</a:t>
            </a:r>
            <a:r>
              <a:rPr lang="en-US" sz="1200" b="0">
                <a:solidFill>
                  <a:srgbClr val="000000"/>
                </a:solidFill>
              </a:rPr>
              <a:t> and transports.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tool boundary under attack,</a:t>
            </a:r>
            <a:r>
              <a:rPr lang="en-US" sz="1200" b="0">
                <a:solidFill>
                  <a:srgbClr val="000000"/>
                </a:solidFill>
              </a:rPr>
              <a:t> and where a rule is enforced.</a:t>
            </a:r>
            <a:endParaRPr/>
          </a:p>
        </p:txBody>
      </p:sp>
      <p:sp>
        <p:nvSpPr>
          <p:cNvPr id="4" name="Rectangle 4"/>
          <p:cNvSpPr/>
          <p:nvPr/>
        </p:nvSpPr>
        <p:spPr bwMode="auto">
          <a:xfrm>
            <a:off x="320040" y="2650121"/>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One hour, individual, closed book. The questions ask for reasoning about scenarios rather than recall of APIs.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Next Friday is the midterm.</a:t>
            </a:r>
          </a:p>
        </p:txBody>
      </p:sp>
      <p:sp>
        <p:nvSpPr>
          <p:cNvPr id="3" name="Content Placeholder 2"/>
          <p:cNvSpPr>
            <a:spLocks noGrp="1"/>
          </p:cNvSpPr>
          <p:nvPr>
            <p:ph idx="1"/>
          </p:nvPr>
        </p:nvSpPr>
        <p:spPr bwMode="auto">
          <a:xfrm>
            <a:off x="320040" y="658368"/>
            <a:ext cx="6016752" cy="16092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Friday, October 23:</a:t>
            </a:r>
            <a:r>
              <a:rPr lang="en-US" sz="1200" b="0">
                <a:solidFill>
                  <a:srgbClr val="000000"/>
                </a:solidFill>
              </a:rPr>
              <a:t> the midterm, one hour, individual, closed book, units 1 and 2 as taught. Week 8, October 30, teaches concurrency and multi-agent patterns. HW1 is due tonight before 11:59 pm. HW2 is released today and due Friday, November 13.</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Deferred to week 11:</a:t>
            </a:r>
            <a:r>
              <a:rPr lang="en-US" sz="1200" b="0">
                <a:solidFill>
                  <a:srgbClr val="FFFFFF">
                    <a:alpha val="0"/>
                  </a:srgbClr>
                </a:solidFill>
              </a:rPr>
              <a:t> failure semantics, including which component makes a side effect happen once.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Next Friday is the midterm.</a:t>
            </a:r>
          </a:p>
        </p:txBody>
      </p:sp>
      <p:sp>
        <p:nvSpPr>
          <p:cNvPr id="3" name="Content Placeholder 2"/>
          <p:cNvSpPr>
            <a:spLocks noGrp="1"/>
          </p:cNvSpPr>
          <p:nvPr>
            <p:ph idx="1"/>
          </p:nvPr>
        </p:nvSpPr>
        <p:spPr bwMode="auto">
          <a:xfrm>
            <a:off x="320040" y="658368"/>
            <a:ext cx="6016752" cy="16092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Friday, October 23:</a:t>
            </a:r>
            <a:r>
              <a:rPr lang="en-US" sz="1200" b="0">
                <a:solidFill>
                  <a:srgbClr val="000000"/>
                </a:solidFill>
              </a:rPr>
              <a:t> the midterm, one hour, individual, closed book, units 1 and 2 as taught. Week 8, October 30, teaches concurrency and multi-agent patterns. HW1 is due tonight before 11:59 pm. HW2 is released today and due Friday, November 13.</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Deferred to week 11:</a:t>
            </a:r>
            <a:r>
              <a:rPr lang="en-US" sz="1200" b="0">
                <a:solidFill>
                  <a:srgbClr val="000000"/>
                </a:solidFill>
              </a:rPr>
              <a:t> failure semantics, including which component makes a side effect happen once.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Next Friday is the midterm.</a:t>
            </a:r>
          </a:p>
        </p:txBody>
      </p:sp>
      <p:sp>
        <p:nvSpPr>
          <p:cNvPr id="3" name="Content Placeholder 2"/>
          <p:cNvSpPr>
            <a:spLocks noGrp="1"/>
          </p:cNvSpPr>
          <p:nvPr>
            <p:ph idx="1"/>
          </p:nvPr>
        </p:nvSpPr>
        <p:spPr bwMode="auto">
          <a:xfrm>
            <a:off x="320040" y="658368"/>
            <a:ext cx="6016752" cy="16092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Friday, October 23:</a:t>
            </a:r>
            <a:r>
              <a:rPr lang="en-US" sz="1200" b="0">
                <a:solidFill>
                  <a:srgbClr val="000000"/>
                </a:solidFill>
              </a:rPr>
              <a:t> the midterm, one hour, individual, closed book, units 1 and 2 as taught. Week 8, October 30, teaches concurrency and multi-agent patterns. HW1 is due tonight before 11:59 pm. HW2 is released today and due Friday, November 13.</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Deferred to week 11:</a:t>
            </a:r>
            <a:r>
              <a:rPr lang="en-US" sz="1200" b="0">
                <a:solidFill>
                  <a:srgbClr val="000000"/>
                </a:solidFill>
              </a:rPr>
              <a:t> failure semantics, including which component makes a side effect happen once.</a:t>
            </a:r>
            <a:endParaRPr/>
          </a:p>
        </p:txBody>
      </p:sp>
      <p:sp>
        <p:nvSpPr>
          <p:cNvPr id="4" name="Rectangle 4"/>
          <p:cNvSpPr/>
          <p:nvPr/>
        </p:nvSpPr>
        <p:spPr bwMode="auto">
          <a:xfrm>
            <a:off x="320040" y="2421521"/>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rule belongs where the adversary cannot reach it from inside the agent.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theme/theme1.xml><?xml version="1.0" encoding="utf-8"?>
<a:theme xmlns:a="http://schemas.openxmlformats.org/drawingml/2006/main" name="Simple Light">
  <a:themeElements>
    <a:clrScheme name="Columbia University">
      <a:dk1>
        <a:srgbClr val="000000"/>
      </a:dk1>
      <a:lt1>
        <a:srgbClr val="FFFFFF"/>
      </a:lt1>
      <a:dk2>
        <a:srgbClr val="28285E"/>
      </a:dk2>
      <a:lt2>
        <a:srgbClr val="E8E8E8"/>
      </a:lt2>
      <a:accent1>
        <a:srgbClr val="28285D"/>
      </a:accent1>
      <a:accent2>
        <a:srgbClr val="348EDC"/>
      </a:accent2>
      <a:accent3>
        <a:srgbClr val="099191"/>
      </a:accent3>
      <a:accent4>
        <a:srgbClr val="C73561"/>
      </a:accent4>
      <a:accent5>
        <a:srgbClr val="772482"/>
      </a:accent5>
      <a:accent6>
        <a:srgbClr val="EDB15D"/>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xDef>
      <a:spPr bwMode="auto">
        <a:prstGeom prst="rect">
          <a:avLst/>
        </a:prstGeom>
        <a:noFill/>
      </a:spPr>
      <a:body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1639</TotalTime>
  <Words>93644</Words>
  <Application>Microsoft Macintosh PowerPoint</Application>
  <PresentationFormat>Custom</PresentationFormat>
  <Paragraphs>2920</Paragraphs>
  <Slides>227</Slides>
  <Notes>226</Notes>
  <HiddenSlides>6</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227</vt:i4>
      </vt:variant>
    </vt:vector>
  </HeadingPairs>
  <TitlesOfParts>
    <vt:vector size="231" baseType="lpstr">
      <vt:lpstr>Arial</vt:lpstr>
      <vt:lpstr>Aptos</vt:lpstr>
      <vt:lpstr>Aptos Mono</vt:lpstr>
      <vt:lpstr>Simple Light</vt:lpstr>
      <vt:lpstr>Designing Production Agentic Systems</vt:lpstr>
      <vt:lpstr>PowerPoint Presentation</vt:lpstr>
      <vt:lpstr>MCP client–server connection model[1]</vt:lpstr>
      <vt:lpstr>MCP client–server connection model[1]</vt:lpstr>
      <vt:lpstr>MCP client–server connection model[1]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Incident analysis with OWASP and ATLAS</vt:lpstr>
      <vt:lpstr>Incident analysis with OWASP and ATLAS</vt:lpstr>
      <vt:lpstr>Incident analysis with OWASP and ATLAS</vt:lpstr>
      <vt:lpstr>Incident analysis with OWASP and ATLAS</vt:lpstr>
      <vt:lpstr>Incident analysis with OWASP and ATLAS</vt:lpstr>
      <vt:lpstr>Failed controls sat in the agent's runtime.</vt:lpstr>
      <vt:lpstr>Failed controls sat in the agent's runtime.</vt:lpstr>
      <vt:lpstr>Failed controls sat in the agent's runtime.</vt:lpstr>
      <vt:lpstr>Failed controls sat in the agent's runtime.</vt:lpstr>
      <vt:lpstr>Failed controls sat in the agent's runtime.</vt:lpstr>
      <vt:lpstr>PowerPoint Presentation</vt:lpstr>
      <vt:lpstr>Model-based security controls</vt:lpstr>
      <vt:lpstr>Model-based security controls</vt:lpstr>
      <vt:lpstr>Model-based security controls</vt:lpstr>
      <vt:lpstr>Model-based security controls</vt:lpstr>
      <vt:lpstr>Model-based security controls</vt:lpstr>
      <vt:lpstr>Each model runs with and without tools.</vt:lpstr>
      <vt:lpstr>Each model runs with and without tools.</vt:lpstr>
      <vt:lpstr>Each model runs with and without tools.</vt:lpstr>
      <vt:lpstr>Each model runs with and without tools.</vt:lpstr>
      <vt:lpstr>Every model refuses less often with tools.</vt:lpstr>
      <vt:lpstr>Every model refuses less often with tools.</vt:lpstr>
      <vt:lpstr>Every model refuses less often with tools.</vt:lpstr>
      <vt:lpstr>Every model refuses less often with tools.</vt:lpstr>
      <vt:lpstr>Every model refuses less often with tools.</vt:lpstr>
      <vt:lpstr>Every model refuses less often with tools.</vt:lpstr>
      <vt:lpstr>Refusal failures grow with tool calls.</vt:lpstr>
      <vt:lpstr>Refusal failures grow with tool calls.</vt:lpstr>
      <vt:lpstr>Refusal failures grow with tool calls.</vt:lpstr>
      <vt:lpstr>Refusal failures grow with tool calls.</vt:lpstr>
      <vt:lpstr>Refusal failures grow with tool calls.</vt:lpstr>
      <vt:lpstr>Refusal failures grow with tool calls.</vt:lpstr>
      <vt:lpstr>Refusal failure under experimental variations</vt:lpstr>
      <vt:lpstr>Refusal failure under experimental variations</vt:lpstr>
      <vt:lpstr>Refusal failure under experimental variations</vt:lpstr>
      <vt:lpstr>Refusal failure under experimental variations</vt:lpstr>
      <vt:lpstr>Tool outputs pile up before the answer.</vt:lpstr>
      <vt:lpstr>Tool outputs pile up before the answer.</vt:lpstr>
      <vt:lpstr>Tool outputs pile up before the answer.</vt:lpstr>
      <vt:lpstr>Tool outputs pile up before the answer.</vt:lpstr>
      <vt:lpstr>Tool outputs pile up before the answer.</vt:lpstr>
      <vt:lpstr>Refusals with tools open with a description.</vt:lpstr>
      <vt:lpstr>Refusals with tools open with a description.</vt:lpstr>
      <vt:lpstr>Refusals with tools open with a description.</vt:lpstr>
      <vt:lpstr>Refusals with tools open with a description.</vt:lpstr>
      <vt:lpstr>Refusals with tools open with a description.</vt:lpstr>
      <vt:lpstr>The harness asks again with the request.</vt:lpstr>
      <vt:lpstr>The harness asks again with the request.</vt:lpstr>
      <vt:lpstr>The harness asks again with the request.</vt:lpstr>
      <vt:lpstr>The harness asks again with the request.</vt:lpstr>
      <vt:lpstr>The harness asks again with the request.</vt:lpstr>
      <vt:lpstr>Refusal failure relative to the no-tool baseline</vt:lpstr>
      <vt:lpstr>Refusal failure relative to the no-tool baseline</vt:lpstr>
      <vt:lpstr>Refusal failure relative to the no-tool baseline</vt:lpstr>
      <vt:lpstr>Tool use weakens a model's refusals.</vt:lpstr>
      <vt:lpstr>Tool use weakens a model's refusals.</vt:lpstr>
      <vt:lpstr>Tool use weakens a model's refusals.</vt:lpstr>
      <vt:lpstr>Tool use weakens a model's refusals.</vt:lpstr>
      <vt:lpstr>Tool use weakens a model's refusals.</vt:lpstr>
      <vt:lpstr>Enforcement points and trust boundaries</vt:lpstr>
      <vt:lpstr>Enforcement points and trust boundaries</vt:lpstr>
      <vt:lpstr>Enforcement points and trust boundaries</vt:lpstr>
      <vt:lpstr>Enforcement points and trust boundaries</vt:lpstr>
      <vt:lpstr>Enforcement points and trust boundaries</vt:lpstr>
      <vt:lpstr>Each place has its own bypass.</vt:lpstr>
      <vt:lpstr>Each place has its own bypass.</vt:lpstr>
      <vt:lpstr>Each place has its own bypass.</vt:lpstr>
      <vt:lpstr>Each place has its own bypass.</vt:lpstr>
      <vt:lpstr>Each place has its own bypass.</vt:lpstr>
      <vt:lpstr>Attacks enter through text or the process.</vt:lpstr>
      <vt:lpstr>Attacks enter through text or the process.</vt:lpstr>
      <vt:lpstr>Attacks enter through text or the process.</vt:lpstr>
      <vt:lpstr>Attacks enter through text or the process.</vt:lpstr>
      <vt:lpstr>Attacks enter through text or the process.</vt:lpstr>
      <vt:lpstr>Attacks enter through text or the process.</vt:lpstr>
      <vt:lpstr>Attacks enter through text or the process.</vt:lpstr>
      <vt:lpstr>PowerPoint Presentation</vt:lpstr>
      <vt:lpstr>OpenShell sandboxes an unmodified agent.</vt:lpstr>
      <vt:lpstr>OpenShell sandboxes an unmodified agent.</vt:lpstr>
      <vt:lpstr>OpenShell sandboxes an unmodified agent.</vt:lpstr>
      <vt:lpstr>OpenShell sandboxes an unmodified agent.</vt:lpstr>
      <vt:lpstr>OpenShell sandboxes an unmodified agent.</vt:lpstr>
      <vt:lpstr>An agent works through the kernel.[1]</vt:lpstr>
      <vt:lpstr>An agent works through the kernel.[1]</vt:lpstr>
      <vt:lpstr>An agent works through the kernel.[1]</vt:lpstr>
      <vt:lpstr>An agent works through the kernel.[1]</vt:lpstr>
      <vt:lpstr>An agent works through the kernel.[1]</vt:lpstr>
      <vt:lpstr>An agent works through the kernel.[1]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Each OpenShell component has its own job.[1]</vt:lpstr>
      <vt:lpstr>Create and exec are requests to the gateway.</vt:lpstr>
      <vt:lpstr>Create and exec are requests to the gateway.</vt:lpstr>
      <vt:lpstr>Create and exec are requests to the gateway.</vt:lpstr>
      <vt:lpstr>Create and exec are requests to the gateway.</vt:lpstr>
      <vt:lpstr>The gateway holds authority and records.[1]</vt:lpstr>
      <vt:lpstr>The gateway holds authority and records.[1]</vt:lpstr>
      <vt:lpstr>The gateway holds authority and records.[1]</vt:lpstr>
      <vt:lpstr>The gateway holds authority and records.[1]</vt:lpstr>
      <vt:lpstr>The gateway holds authority and records.[1]</vt:lpstr>
      <vt:lpstr>The gateway holds authority and records.[1]</vt:lpstr>
      <vt:lpstr>The agent starts with reduced privileges.[1]</vt:lpstr>
      <vt:lpstr>The agent starts with reduced privileges.[1]</vt:lpstr>
      <vt:lpstr>The agent starts with reduced privileges.[1]</vt:lpstr>
      <vt:lpstr>The agent starts with reduced privileges.[1]</vt:lpstr>
      <vt:lpstr>The agent starts with reduced privileges.[1]</vt:lpstr>
      <vt:lpstr>The agent starts with reduced privileges.[1]</vt:lpstr>
      <vt:lpstr>A policy states a workload's authority.[1]</vt:lpstr>
      <vt:lpstr>A policy states a workload's authority.[1]</vt:lpstr>
      <vt:lpstr>A policy states a workload's authority.[1]</vt:lpstr>
      <vt:lpstr>A policy states a workload's authority.[1]</vt:lpstr>
      <vt:lpstr>A policy states a workload's authority.[1]</vt:lpstr>
      <vt:lpstr>A policy states a workload's authority.[1]</vt:lpstr>
      <vt:lpstr>A policy states a workload's authority.[1]</vt:lpstr>
      <vt:lpstr>Cyberbird's policy, block by block[1]</vt:lpstr>
      <vt:lpstr>Cyberbird's policy, block by block[1]</vt:lpstr>
      <vt:lpstr>Cyberbird's policy, block by block[1]</vt:lpstr>
      <vt:lpstr>Cyberbird's policy, block by block[1]</vt:lpstr>
      <vt:lpstr>Cyberbird's policy, block by block[1]</vt:lpstr>
      <vt:lpstr>Cyberbird's policy, block by block[1]</vt:lpstr>
      <vt:lpstr>Cyberbird's policy, block by block[1]</vt:lpstr>
      <vt:lpstr>Cyberbird's policy, block by block[1]</vt:lpstr>
      <vt:lpstr>Cyberbird's policy, block by block[1]</vt:lpstr>
      <vt:lpstr>The supervisor checks connections first.[1]</vt:lpstr>
      <vt:lpstr>The supervisor checks connections first.[1]</vt:lpstr>
      <vt:lpstr>The supervisor checks connections first.[1]</vt:lpstr>
      <vt:lpstr>The supervisor checks connections first.[1]</vt:lpstr>
      <vt:lpstr>The supervisor checks connections first.[1]</vt:lpstr>
      <vt:lpstr>The supervisor checks connections first.[1]</vt:lpstr>
      <vt:lpstr>PowerPoint Presentation</vt:lpstr>
      <vt:lpstr>Every connection passes the supervisor.[1]</vt:lpstr>
      <vt:lpstr>Every connection passes the supervisor.[1]</vt:lpstr>
      <vt:lpstr>Every connection passes the supervisor.[1]</vt:lpstr>
      <vt:lpstr>Every connection passes the supervisor.[1]</vt:lpstr>
      <vt:lpstr>Every connection passes the supervisor.[1]</vt:lpstr>
      <vt:lpstr>Every connection passes the supervisor.[1]</vt:lpstr>
      <vt:lpstr>A provider keeps the key at the gateway.[1]</vt:lpstr>
      <vt:lpstr>A provider keeps the key at the gateway.[1]</vt:lpstr>
      <vt:lpstr>A provider keeps the key at the gateway.[1]</vt:lpstr>
      <vt:lpstr>A provider keeps the key at the gateway.[1]</vt:lpstr>
      <vt:lpstr>A provider keeps the key at the gateway.[1]</vt:lpstr>
      <vt:lpstr>A provider keeps the key at the gateway.[1]</vt:lpstr>
      <vt:lpstr>A provider keeps the key at the gateway.[1]</vt:lpstr>
      <vt:lpstr>Real credentials never enter the sandbox.</vt:lpstr>
      <vt:lpstr>Real credentials never enter the sandbox.</vt:lpstr>
      <vt:lpstr>Real credentials never enter the sandbox.</vt:lpstr>
      <vt:lpstr>Real credentials never enter the sandbox.</vt:lpstr>
      <vt:lpstr>A denied request becomes a proposal.[1]</vt:lpstr>
      <vt:lpstr>A denied request becomes a proposal.[1]</vt:lpstr>
      <vt:lpstr>A denied request becomes a proposal.[1]</vt:lpstr>
      <vt:lpstr>A denied request becomes a proposal.[1]</vt:lpstr>
      <vt:lpstr>A denied request becomes a proposal.[1]</vt:lpstr>
      <vt:lpstr>A denied request becomes a proposal.[1]</vt:lpstr>
      <vt:lpstr>Diagnose by the boundary that failed.[1]</vt:lpstr>
      <vt:lpstr>Diagnose by the boundary that failed.[1]</vt:lpstr>
      <vt:lpstr>Diagnose by the boundary that failed.[1]</vt:lpstr>
      <vt:lpstr>Diagnose by the boundary that failed.[1]</vt:lpstr>
      <vt:lpstr>Diagnose by the boundary that failed.[1]</vt:lpstr>
      <vt:lpstr>Diagnose by the boundary that failed.[1]</vt:lpstr>
      <vt:lpstr>What OpenShell does not cover.</vt:lpstr>
      <vt:lpstr>What OpenShell does not cover.</vt:lpstr>
      <vt:lpstr>What OpenShell does not cover.</vt:lpstr>
      <vt:lpstr>What OpenShell does not cover.</vt:lpstr>
      <vt:lpstr>What OpenShell does not cover.</vt:lpstr>
      <vt:lpstr>What OpenShell does not cover.</vt:lpstr>
      <vt:lpstr>What OpenShell does not cover.</vt:lpstr>
      <vt:lpstr>What OpenShell does not cover.</vt:lpstr>
      <vt:lpstr>Logs and policy get show OpenShell's decisions.</vt:lpstr>
      <vt:lpstr>Logs and policy get show OpenShell's decisions.</vt:lpstr>
      <vt:lpstr>Logs and policy get show OpenShell's decisions.</vt:lpstr>
      <vt:lpstr>Models escape containers with known flaws.</vt:lpstr>
      <vt:lpstr>Models escape containers with known flaws.</vt:lpstr>
      <vt:lpstr>Models escape containers with known flaws.</vt:lpstr>
      <vt:lpstr>Models escape containers with known flaws.</vt:lpstr>
      <vt:lpstr>Sandlock writes the threat model down.</vt:lpstr>
      <vt:lpstr>Sandlock writes the threat model down.</vt:lpstr>
      <vt:lpstr>Sandlock writes the threat model down.</vt:lpstr>
      <vt:lpstr>Sandlock writes the threat model down.</vt:lpstr>
      <vt:lpstr>Research asks how authority is taken back.</vt:lpstr>
      <vt:lpstr>Research asks how authority is taken back.</vt:lpstr>
      <vt:lpstr>Research asks how authority is taken back.</vt:lpstr>
      <vt:lpstr>Research asks how authority is taken back.</vt:lpstr>
      <vt:lpstr>Research asks how authority is taken back.</vt:lpstr>
      <vt:lpstr>Peer review trails deployment.</vt:lpstr>
      <vt:lpstr>Peer review trails deployment.</vt:lpstr>
      <vt:lpstr>Peer review trails deployment.</vt:lpstr>
      <vt:lpstr>Peer review trails deployment.</vt:lpstr>
      <vt:lpstr>The agent must not reach the runtime.</vt:lpstr>
      <vt:lpstr>The agent must not reach the runtime.</vt:lpstr>
      <vt:lpstr>The agent must not reach the runtime.</vt:lpstr>
      <vt:lpstr>The agent must not reach the runtime.</vt:lpstr>
      <vt:lpstr>The agent must not reach the runtime.</vt:lpstr>
      <vt:lpstr>The agent must not reach the runtime.</vt:lpstr>
      <vt:lpstr>The agent must not reach the runtime.</vt:lpstr>
      <vt:lpstr>Where should the ~/.ssh rule be enforced?</vt:lpstr>
      <vt:lpstr>Where should the ~/.ssh rule be enforced?</vt:lpstr>
      <vt:lpstr>What the midterm covers</vt:lpstr>
      <vt:lpstr>What the midterm covers</vt:lpstr>
      <vt:lpstr>What the midterm covers</vt:lpstr>
      <vt:lpstr>What the midterm covers</vt:lpstr>
      <vt:lpstr>What the midterm covers</vt:lpstr>
      <vt:lpstr>What the midterm covers</vt:lpstr>
      <vt:lpstr>Next Friday is the midterm.</vt:lpstr>
      <vt:lpstr>Next Friday is the midterm.</vt:lpstr>
      <vt:lpstr>Next Friday is the midterm.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Rahul Krishna</cp:lastModifiedBy>
  <cp:revision>230</cp:revision>
  <dcterms:modified xsi:type="dcterms:W3CDTF">2026-10-16T19:54:44Z</dcterms:modified>
</cp:coreProperties>
</file>
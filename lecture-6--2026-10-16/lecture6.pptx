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45"/>
  </p:notesMasterIdLst>
  <p:sldIdLst>
    <p:sldId id="814" r:id="rId2"/>
    <p:sldId id="815" r:id="rId3"/>
    <p:sldId id="816" r:id="rId154"/>
    <p:sldId id="817" r:id="rId155"/>
    <p:sldId id="818" r:id="rId156"/>
    <p:sldId id="819" r:id="rId157"/>
    <p:sldId id="820" r:id="rId158"/>
    <p:sldId id="821" r:id="rId159"/>
    <p:sldId id="822" r:id="rId160"/>
    <p:sldId id="823" r:id="rId161"/>
    <p:sldId id="824" r:id="rId162"/>
    <p:sldId id="825" r:id="rId163"/>
    <p:sldId id="826" r:id="rId164"/>
    <p:sldId id="827" r:id="rId165"/>
    <p:sldId id="828" r:id="rId166"/>
    <p:sldId id="829" r:id="rId167"/>
    <p:sldId id="830" r:id="rId168"/>
    <p:sldId id="831" r:id="rId169"/>
    <p:sldId id="832" r:id="rId170"/>
    <p:sldId id="833" r:id="rId171"/>
    <p:sldId id="834" r:id="rId172"/>
    <p:sldId id="835" r:id="rId173"/>
    <p:sldId id="672" r:id="rId4"/>
    <p:sldId id="674" r:id="rId5"/>
    <p:sldId id="675" r:id="rId6"/>
    <p:sldId id="676" r:id="rId7"/>
    <p:sldId id="677" r:id="rId8"/>
    <p:sldId id="673" r:id="rId9"/>
    <p:sldId id="679" r:id="rId10"/>
    <p:sldId id="680" r:id="rId11"/>
    <p:sldId id="681" r:id="rId12"/>
    <p:sldId id="678" r:id="rId13"/>
    <p:sldId id="683" r:id="rId14"/>
    <p:sldId id="684" r:id="rId15"/>
    <p:sldId id="685" r:id="rId16"/>
    <p:sldId id="686" r:id="rId17"/>
    <p:sldId id="687" r:id="rId18"/>
    <p:sldId id="682" r:id="rId19"/>
    <p:sldId id="689" r:id="rId20"/>
    <p:sldId id="690" r:id="rId21"/>
    <p:sldId id="691" r:id="rId22"/>
    <p:sldId id="692" r:id="rId23"/>
    <p:sldId id="693" r:id="rId24"/>
    <p:sldId id="688" r:id="rId25"/>
    <p:sldId id="695" r:id="rId26"/>
    <p:sldId id="696" r:id="rId27"/>
    <p:sldId id="697" r:id="rId28"/>
    <p:sldId id="694" r:id="rId29"/>
    <p:sldId id="699" r:id="rId30"/>
    <p:sldId id="700" r:id="rId31"/>
    <p:sldId id="701" r:id="rId32"/>
    <p:sldId id="702" r:id="rId33"/>
    <p:sldId id="698" r:id="rId34"/>
    <p:sldId id="704" r:id="rId35"/>
    <p:sldId id="705" r:id="rId36"/>
    <p:sldId id="706" r:id="rId37"/>
    <p:sldId id="707" r:id="rId38"/>
    <p:sldId id="703" r:id="rId39"/>
    <p:sldId id="709" r:id="rId40"/>
    <p:sldId id="710" r:id="rId41"/>
    <p:sldId id="711" r:id="rId42"/>
    <p:sldId id="712" r:id="rId43"/>
    <p:sldId id="708" r:id="rId44"/>
    <p:sldId id="714" r:id="rId45"/>
    <p:sldId id="715" r:id="rId46"/>
    <p:sldId id="713" r:id="rId47"/>
    <p:sldId id="717" r:id="rId48"/>
    <p:sldId id="718" r:id="rId49"/>
    <p:sldId id="719" r:id="rId50"/>
    <p:sldId id="720" r:id="rId51"/>
    <p:sldId id="716" r:id="rId52"/>
    <p:sldId id="722" r:id="rId53"/>
    <p:sldId id="723" r:id="rId54"/>
    <p:sldId id="724" r:id="rId55"/>
    <p:sldId id="725" r:id="rId56"/>
    <p:sldId id="721" r:id="rId57"/>
    <p:sldId id="727" r:id="rId58"/>
    <p:sldId id="728" r:id="rId59"/>
    <p:sldId id="729" r:id="rId60"/>
    <p:sldId id="730" r:id="rId61"/>
    <p:sldId id="726" r:id="rId62"/>
    <p:sldId id="732" r:id="rId63"/>
    <p:sldId id="733" r:id="rId64"/>
    <p:sldId id="734" r:id="rId65"/>
    <p:sldId id="735" r:id="rId66"/>
    <p:sldId id="736" r:id="rId67"/>
    <p:sldId id="737" r:id="rId68"/>
    <p:sldId id="731" r:id="rId69"/>
    <p:sldId id="739" r:id="rId70"/>
    <p:sldId id="741" r:id="rId71"/>
    <p:sldId id="742" r:id="rId72"/>
    <p:sldId id="743" r:id="rId73"/>
    <p:sldId id="744" r:id="rId74"/>
    <p:sldId id="740" r:id="rId75"/>
    <p:sldId id="746" r:id="rId76"/>
    <p:sldId id="747" r:id="rId77"/>
    <p:sldId id="748" r:id="rId78"/>
    <p:sldId id="749" r:id="rId79"/>
    <p:sldId id="745" r:id="rId80"/>
    <p:sldId id="751" r:id="rId81"/>
    <p:sldId id="752" r:id="rId82"/>
    <p:sldId id="753" r:id="rId83"/>
    <p:sldId id="754" r:id="rId84"/>
    <p:sldId id="750" r:id="rId85"/>
    <p:sldId id="756" r:id="rId86"/>
    <p:sldId id="757" r:id="rId87"/>
    <p:sldId id="758" r:id="rId88"/>
    <p:sldId id="755" r:id="rId89"/>
    <p:sldId id="760" r:id="rId90"/>
    <p:sldId id="761" r:id="rId91"/>
    <p:sldId id="762" r:id="rId92"/>
    <p:sldId id="759" r:id="rId93"/>
    <p:sldId id="764" r:id="rId94"/>
    <p:sldId id="765" r:id="rId95"/>
    <p:sldId id="763" r:id="rId96"/>
    <p:sldId id="767" r:id="rId97"/>
    <p:sldId id="768" r:id="rId98"/>
    <p:sldId id="769" r:id="rId99"/>
    <p:sldId id="766" r:id="rId100"/>
    <p:sldId id="771" r:id="rId101"/>
    <p:sldId id="772" r:id="rId102"/>
    <p:sldId id="773" r:id="rId103"/>
    <p:sldId id="770" r:id="rId104"/>
    <p:sldId id="775" r:id="rId105"/>
    <p:sldId id="776" r:id="rId106"/>
    <p:sldId id="777" r:id="rId107"/>
    <p:sldId id="778" r:id="rId108"/>
    <p:sldId id="779" r:id="rId109"/>
    <p:sldId id="774" r:id="rId110"/>
    <p:sldId id="781" r:id="rId111"/>
    <p:sldId id="782" r:id="rId112"/>
    <p:sldId id="783" r:id="rId113"/>
    <p:sldId id="784" r:id="rId114"/>
    <p:sldId id="780" r:id="rId115"/>
    <p:sldId id="786" r:id="rId116"/>
    <p:sldId id="787" r:id="rId117"/>
    <p:sldId id="788" r:id="rId118"/>
    <p:sldId id="785" r:id="rId119"/>
    <p:sldId id="790" r:id="rId120"/>
    <p:sldId id="791" r:id="rId121"/>
    <p:sldId id="792" r:id="rId122"/>
    <p:sldId id="789" r:id="rId123"/>
    <p:sldId id="794" r:id="rId124"/>
    <p:sldId id="795" r:id="rId125"/>
    <p:sldId id="796" r:id="rId126"/>
    <p:sldId id="797" r:id="rId127"/>
    <p:sldId id="793" r:id="rId128"/>
    <p:sldId id="799" r:id="rId129"/>
    <p:sldId id="800" r:id="rId130"/>
    <p:sldId id="801" r:id="rId131"/>
    <p:sldId id="798" r:id="rId132"/>
    <p:sldId id="803" r:id="rId133"/>
    <p:sldId id="804" r:id="rId134"/>
    <p:sldId id="805" r:id="rId135"/>
    <p:sldId id="806" r:id="rId136"/>
    <p:sldId id="807" r:id="rId137"/>
    <p:sldId id="808" r:id="rId138"/>
    <p:sldId id="802" r:id="rId139"/>
    <p:sldId id="809" r:id="rId140"/>
    <p:sldId id="810" r:id="rId141"/>
    <p:sldId id="836" r:id="rId174"/>
    <p:sldId id="812" r:id="rId142"/>
    <p:sldId id="813" r:id="rId143"/>
    <p:sldId id="811" r:id="rId144"/>
  </p:sldIdLst>
  <p:sldSz cx="6858000" cy="5143500"/>
  <p:notesSz cx="6858000" cy="9144000"/>
  <p:embeddedFontLst>
    <p:embeddedFont>
      <p:font typeface="Aptos Mono" panose="020B0009020202020204" pitchFamily="49" charset="0"/>
      <p:regular r:id="rId146"/>
      <p:bold r:id="rId147"/>
      <p:italic r:id="rId148"/>
      <p:boldItalic r:id="rId149"/>
    </p:embeddedFont>
  </p:embeddedFontLst>
  <p:defaultTextStyle>
    <a:defPPr marR="0" lvl="0" algn="l" rtl="0">
      <a:lnSpc>
        <a:spcPct val="100000"/>
      </a:lnSpc>
      <a:spcBef>
        <a:spcPts val="0"/>
      </a:spcBef>
      <a:spcAft>
        <a:spcPts val="0"/>
      </a:spcAft>
      <a:defRPr lang="en-US"/>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extLst>
    <p:ext uri="{EFAFB233-063F-42B5-8137-9DF3F51BA10A}">
      <p15:sldGuideLst xmlns:p15="http://schemas.microsoft.com/office/powerpoint/2012/main">
        <p15:guide id="1" orient="horz" pos="162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288"/>
    <p:restoredTop sz="97007"/>
  </p:normalViewPr>
  <p:slideViewPr>
    <p:cSldViewPr snapToGrid="0">
      <p:cViewPr varScale="1">
        <p:scale>
          <a:sx n="358" d="100"/>
          <a:sy n="358" d="100"/>
        </p:scale>
        <p:origin x="2584" y="176"/>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notesMaster" Target="notesMasters/notesMaster1.xml"/><Relationship Id="rId146" Type="http://schemas.openxmlformats.org/officeDocument/2006/relationships/font" Target="fonts/font1.fntdata"/><Relationship Id="rId147" Type="http://schemas.openxmlformats.org/officeDocument/2006/relationships/font" Target="fonts/font2.fntdata"/><Relationship Id="rId148" Type="http://schemas.openxmlformats.org/officeDocument/2006/relationships/font" Target="fonts/font3.fntdata"/><Relationship Id="rId149" Type="http://schemas.openxmlformats.org/officeDocument/2006/relationships/font" Target="fonts/font4.fntdata"/><Relationship Id="rId150" Type="http://schemas.openxmlformats.org/officeDocument/2006/relationships/presProps" Target="presProps.xml"/><Relationship Id="rId151" Type="http://schemas.openxmlformats.org/officeDocument/2006/relationships/viewProps" Target="viewProps.xml"/><Relationship Id="rId152" Type="http://schemas.openxmlformats.org/officeDocument/2006/relationships/theme" Target="theme/theme1.xml"/><Relationship Id="rId153" Type="http://schemas.openxmlformats.org/officeDocument/2006/relationships/tableStyles" Target="tableStyles.xml"/><Relationship Id="rId154" Type="http://schemas.openxmlformats.org/officeDocument/2006/relationships/slide" Target="slides/slide144.xml"/><Relationship Id="rId155" Type="http://schemas.openxmlformats.org/officeDocument/2006/relationships/slide" Target="slides/slide145.xml"/><Relationship Id="rId156" Type="http://schemas.openxmlformats.org/officeDocument/2006/relationships/slide" Target="slides/slide146.xml"/><Relationship Id="rId157" Type="http://schemas.openxmlformats.org/officeDocument/2006/relationships/slide" Target="slides/slide147.xml"/><Relationship Id="rId158" Type="http://schemas.openxmlformats.org/officeDocument/2006/relationships/slide" Target="slides/slide148.xml"/><Relationship Id="rId159" Type="http://schemas.openxmlformats.org/officeDocument/2006/relationships/slide" Target="slides/slide149.xml"/><Relationship Id="rId160" Type="http://schemas.openxmlformats.org/officeDocument/2006/relationships/slide" Target="slides/slide150.xml"/><Relationship Id="rId161" Type="http://schemas.openxmlformats.org/officeDocument/2006/relationships/slide" Target="slides/slide151.xml"/><Relationship Id="rId162" Type="http://schemas.openxmlformats.org/officeDocument/2006/relationships/slide" Target="slides/slide152.xml"/><Relationship Id="rId163" Type="http://schemas.openxmlformats.org/officeDocument/2006/relationships/slide" Target="slides/slide153.xml"/><Relationship Id="rId164" Type="http://schemas.openxmlformats.org/officeDocument/2006/relationships/slide" Target="slides/slide154.xml"/><Relationship Id="rId165" Type="http://schemas.openxmlformats.org/officeDocument/2006/relationships/slide" Target="slides/slide155.xml"/><Relationship Id="rId166" Type="http://schemas.openxmlformats.org/officeDocument/2006/relationships/slide" Target="slides/slide156.xml"/><Relationship Id="rId167" Type="http://schemas.openxmlformats.org/officeDocument/2006/relationships/slide" Target="slides/slide157.xml"/><Relationship Id="rId168" Type="http://schemas.openxmlformats.org/officeDocument/2006/relationships/slide" Target="slides/slide158.xml"/><Relationship Id="rId169" Type="http://schemas.openxmlformats.org/officeDocument/2006/relationships/slide" Target="slides/slide159.xml"/><Relationship Id="rId170" Type="http://schemas.openxmlformats.org/officeDocument/2006/relationships/slide" Target="slides/slide160.xml"/><Relationship Id="rId171" Type="http://schemas.openxmlformats.org/officeDocument/2006/relationships/slide" Target="slides/slide161.xml"/><Relationship Id="rId172" Type="http://schemas.openxmlformats.org/officeDocument/2006/relationships/slide" Target="slides/slide162.xml"/><Relationship Id="rId173" Type="http://schemas.openxmlformats.org/officeDocument/2006/relationships/slide" Target="slides/slide163.xml"/><Relationship Id="rId174" Type="http://schemas.openxmlformats.org/officeDocument/2006/relationships/slide" Target="slides/slide1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035575316" name="Google Shape;3;n"/>
          <p:cNvSpPr>
            <a:spLocks noGrp="1" noRot="1" noChangeAspect="1"/>
          </p:cNvSpPr>
          <p:nvPr>
            <p:ph type="sldImg" idx="2"/>
          </p:nvPr>
        </p:nvSpPr>
        <p:spPr bwMode="auto">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dirty="0"/>
          </a:p>
        </p:txBody>
      </p:sp>
      <p:sp>
        <p:nvSpPr>
          <p:cNvPr id="339611205"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dirty="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Introduce </a:t>
            </a:r>
            <a:r>
              <a:rPr b="1" dirty="0"/>
              <a:t>Lecture 5</a:t>
            </a:r>
            <a:r>
              <a:rPr dirty="0"/>
              <a:t>: the </a:t>
            </a:r>
            <a:r>
              <a:rPr b="1" dirty="0"/>
              <a:t>tool boundary</a:t>
            </a:r>
            <a:r>
              <a:rPr dirty="0"/>
              <a:t> </a:t>
            </a:r>
            <a:r>
              <a:rPr b="1" dirty="0"/>
              <a:t>under attack</a:t>
            </a:r>
            <a:r>
              <a:rPr dirty="0"/>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Four builds of lecture 5 recap what this lecture builds on: the MCP client–server connection model, the parts of a tool contract that the server enforces, incident analysis with OWASP and ATLAS, and the OpenClaw finding that the failed controls sat in the agent's runtime.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ATLAS names what to restrict and </a:t>
            </a:r>
            <a:r>
              <a:rPr b="1"/>
              <a:t>never which process enforces it</a:t>
            </a:r>
            <a:r>
              <a:t>. This section asks where a rule such as 'the agent may not read </a:t>
            </a:r>
            <a:r>
              <a:rPr b="1"/>
              <a:t>~/.ssh</a:t>
            </a:r>
            <a:r>
              <a:t>' should be enforced. It starts with the </a:t>
            </a:r>
            <a:r>
              <a:rPr b="1"/>
              <a:t>cheapest place, the model itself</a:t>
            </a:r>
            <a:r>
              <a:t>, and a </a:t>
            </a:r>
            <a:r>
              <a:rPr b="1"/>
              <a:t>2026 study</a:t>
            </a:r>
            <a:r>
              <a:t> that measured how well that place holds when the model uses tools.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This lecture places </a:t>
            </a:r>
            <a:r>
              <a:rPr b="1"/>
              <a:t>Generative AI Guidelines</a:t>
            </a:r>
            <a:r>
              <a:t> and </a:t>
            </a:r>
            <a:r>
              <a:rPr b="1"/>
              <a:t>Generative AI Model Alignment</a:t>
            </a:r>
            <a:r>
              <a:t> in the mitigations that change the model or its instructions (the '</a:t>
            </a:r>
            <a:r>
              <a:rPr b="1"/>
              <a:t>harden the model</a:t>
            </a:r>
            <a:r>
              <a:t>' family of the removed slide 219 (“Mitigation placement along a tool call”)); ATLAS labels both Technical - AI. Guidelines, condensed: gives the model instructions and constraints, such as treating retrieved content as untrusted. Alignment, condensed: trains or fine-tunes a generative model toward safe, in-scope behavior. The removed slide 241 (“ATLAS names no enforcing process.”) quotes ATLAS's own warning that authority controls </a:t>
            </a:r>
            <a:r>
              <a:rPr b="1"/>
              <a:t>should not rely solely on system prompts</a:t>
            </a:r>
            <a:r>
              <a:t> or model alignment. The study on the next slides is the evidence for that warning. </a:t>
            </a:r>
            <a:r>
              <a:rPr b="1"/>
              <a:t>Generative AI Guardrails</a:t>
            </a:r>
            <a:r>
              <a:t> is a separate layer that screens prompts, context, outputs and tool requests; it is </a:t>
            </a:r>
            <a:r>
              <a:rPr b="1"/>
              <a:t>not a rule inside the model</a:t>
            </a:r>
            <a:r>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t>
            </a:r>
            <a:r>
              <a:rPr b="1"/>
              <a:t>arXiv:2610.03938</a:t>
            </a:r>
            <a:r>
              <a:t>, version 1, October 2, 2026 (the arXiv listing says accepted at NeurIPS 2026; the PDF footer names the Evaluations and Datasets track). Judgments by GPT-5.2 against the </a:t>
            </a:r>
            <a:r>
              <a:rPr b="1"/>
              <a:t>VLSBench</a:t>
            </a:r>
            <a:r>
              <a:t> prompt; 97 of 100 human labels agree. </a:t>
            </a:r>
            <a:r>
              <a:rPr b="1"/>
              <a:t>Eleven multimodal models</a:t>
            </a:r>
            <a:r>
              <a:t> (six open-weight, five proprietary) are run as no-tool models and as tool-using agents on three benchmarks of harmful requests about images: </a:t>
            </a:r>
            <a:r>
              <a:rPr b="1"/>
              <a:t>MM-SafetyBench</a:t>
            </a:r>
            <a:r>
              <a:t> (SD_TYPO split, 1,680 pairs), </a:t>
            </a:r>
            <a:r>
              <a:rPr b="1"/>
              <a:t>VLSBench</a:t>
            </a:r>
            <a:r>
              <a:t> (2,241) and </a:t>
            </a:r>
            <a:r>
              <a:rPr b="1"/>
              <a:t>HoliSafe</a:t>
            </a:r>
            <a:r>
              <a:t> (4,016). The agent follows the </a:t>
            </a:r>
            <a:r>
              <a:rPr b="1"/>
              <a:t>ReACT</a:t>
            </a:r>
            <a:r>
              <a:t> format (the prompt follows MM-REACT) with </a:t>
            </a:r>
            <a:r>
              <a:rPr b="1"/>
              <a:t>four tools</a:t>
            </a:r>
            <a:r>
              <a:t>: tagging (RAM++), zooming (cropping), OCR (GOT-OCR2.0) and a sandboxed Python interpreter on the image. The metric is the </a:t>
            </a:r>
            <a:r>
              <a:rPr b="1"/>
              <a:t>refusal failure rate</a:t>
            </a:r>
            <a:r>
              <a:t> in [0, 100], the rate at which the model fails to refuse dangerous requests; a higher value means lower safety. The example in the figure is the paper's own (</a:t>
            </a:r>
            <a:r>
              <a:rPr b="1"/>
              <a:t>HoliSafe</a:t>
            </a:r>
            <a:r>
              <a:t>, the sign of a public facility).</a:t>
            </a:r>
          </a:p>
          <a:p>
            <a:endParaRPr/>
          </a:p>
          <a:p>
            <a:r>
              <a:t>The figure, stage by stage.</a:t>
            </a:r>
          </a:p>
          <a:p>
            <a:r>
              <a:t>1. The control. Every test case pairs an image with a harmful written request (the paper's restroom-sign example from </a:t>
            </a:r>
            <a:r>
              <a:rPr b="1"/>
              <a:t>HoliSafe</a:t>
            </a:r>
            <a:r>
              <a:t>, Figure 6, sign redrawn), taken from </a:t>
            </a:r>
            <a:r>
              <a:rPr b="1"/>
              <a:t>MM-SafetyBench</a:t>
            </a:r>
            <a:r>
              <a:t>, </a:t>
            </a:r>
            <a:r>
              <a:rPr b="1"/>
              <a:t>VLSBench</a:t>
            </a:r>
            <a:r>
              <a:t> and </a:t>
            </a:r>
            <a:r>
              <a:rPr b="1"/>
              <a:t>HoliSafe</a:t>
            </a:r>
            <a:r>
              <a:t>. In the control the model has no tools: it works through the image and then answers (the matched no-tool prompt in Appendix A.1 has it describe, examine, review and synthesize).</a:t>
            </a:r>
          </a:p>
          <a:p>
            <a:r>
              <a:t>2. The treatment. The same model gets the same pair inside a </a:t>
            </a:r>
            <a:r>
              <a:rPr b="1"/>
              <a:t>ReACT</a:t>
            </a:r>
            <a:r>
              <a:t> loop (think, call a tool, observe, repeat until done) with </a:t>
            </a:r>
            <a:r>
              <a:rPr b="1"/>
              <a:t>four tools</a:t>
            </a:r>
            <a:r>
              <a:t> (tagging, zoom, OCR, sandboxed Python). Each tool output is appended to the context before the final answer.</a:t>
            </a:r>
          </a:p>
          <a:p>
            <a:r>
              <a:t>3. The measure. Both answers go to a judge (GPT-5.2) that decides whether each was a refusal. The </a:t>
            </a:r>
            <a:r>
              <a:rPr b="1"/>
              <a:t>refusal failure rate</a:t>
            </a:r>
            <a:r>
              <a:t> is the share of harmful requests not refused (lower is safer). Averaged over 11 models and 3 benchmarks it is </a:t>
            </a:r>
            <a:r>
              <a:rPr b="1"/>
              <a:t>32.3% without tools and 38.0% with tools</a:t>
            </a:r>
            <a:r>
              <a:t>; the sample is 11 models (6 open-weight, 5 proprietary) and 3 benchmarks (1,680, 2,241 and 4,016 pairs, the same pairs in both conditions).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t>, and the paper's </a:t>
            </a:r>
            <a:r>
              <a:rPr b="1"/>
              <a:t>McNemar</a:t>
            </a:r>
            <a:r>
              <a:t> tests give p below 0.05 in every cell. Group means (the paper's grouping): open-weight (six models, including the agent-tuned </a:t>
            </a:r>
            <a:r>
              <a:rPr b="1"/>
              <a:t>AdaReasoner</a:t>
            </a:r>
            <a:r>
              <a:t> at 66.3 to 71.2) 40.7 to 47.7; proprietary (five) 22.1 to 26.3; all eleven 32.3 to 38.0. The largest relative increase is </a:t>
            </a:r>
            <a:r>
              <a:rPr b="1"/>
              <a:t>68.7%</a:t>
            </a:r>
            <a:r>
              <a:t>, for </a:t>
            </a:r>
            <a:r>
              <a:rPr b="1"/>
              <a:t>GLM-5V-Turbo</a:t>
            </a:r>
            <a:r>
              <a:t> on HoliSafe (24.9 to 42.0). </a:t>
            </a:r>
            <a:r>
              <a:rPr b="1"/>
              <a:t>Claude Opus 4.6</a:t>
            </a:r>
            <a:r>
              <a:t> has the lowest average without tools (13.6) and rises to 18.1. Caveats the authors do not state: the unweighted average (the Table 1 caption says so) ignores that the benchmarks differ in size; the open-weight average includes </a:t>
            </a:r>
            <a:r>
              <a:rPr b="1"/>
              <a:t>AdaReasoner</a:t>
            </a:r>
            <a:r>
              <a:t>, and without it the other five move from 35.6 to 43.0; </a:t>
            </a:r>
            <a:r>
              <a:rPr b="1"/>
              <a:t>no benign-request set</a:t>
            </a:r>
            <a:r>
              <a:t> is used, so a rise in over-refusal is not measured. Qwen3.5 on MM-SafetyBench (+0.4) and GPT-5.4 on VLSBench (+0.8) are the smallest cells and weak evidence on their own; the sizes are Table 1's printed values, and the </a:t>
            </a:r>
            <a:r>
              <a:rPr b="1"/>
              <a:t>McNemar</a:t>
            </a:r>
            <a:r>
              <a:t> counts of Table 5 serve only for 'every cell is significant'. 'Safest' holds for the three-benchmark average: GPT-5.4 is lower on MM-SafetyBench and HoliSafe, and </a:t>
            </a:r>
            <a:r>
              <a:rPr b="1"/>
              <a:t>Claude Opus 4.6</a:t>
            </a:r>
            <a:r>
              <a:t> is lowest on VLSBench.</a:t>
            </a:r>
          </a:p>
          <a:p>
            <a:endParaRPr/>
          </a:p>
          <a:p>
            <a:r>
              <a:t>The figure, stage by stage.</a:t>
            </a:r>
          </a:p>
          <a:p>
            <a:r>
              <a:t>1. Eleven multimodal models, six open-weight and five proprietary, answer the same harmful image-and-text requests without tools, and each blue dot is the share they fail to refuse (mean of three benchmarks), from 13.6% for </a:t>
            </a:r>
            <a:r>
              <a:rPr b="1"/>
              <a:t>Claude Opus 4.6</a:t>
            </a:r>
            <a:r>
              <a:t> to 66.3% for </a:t>
            </a:r>
            <a:r>
              <a:rPr b="1"/>
              <a:t>AdaReasoner</a:t>
            </a:r>
            <a:r>
              <a:t>.</a:t>
            </a:r>
          </a:p>
          <a:p>
            <a:r>
              <a:t>2. Give the same models the four tools and </a:t>
            </a:r>
            <a:r>
              <a:rPr b="1"/>
              <a:t>every dot moves right</a:t>
            </a:r>
            <a:r>
              <a:t>, so all eleven fail to refuse more often, by 2.3 points for GPT-5.4 up to 12.6 for </a:t>
            </a:r>
            <a:r>
              <a:rPr b="1"/>
              <a:t>GLM-5V-Turbo</a:t>
            </a:r>
            <a:r>
              <a:t>.</a:t>
            </a:r>
          </a:p>
          <a:p>
            <a:r>
              <a:t>3. Here is that increase in points per model, largest first inside each group, from +12.6 for </a:t>
            </a:r>
            <a:r>
              <a:rPr b="1"/>
              <a:t>GLM-5V-Turbo</a:t>
            </a:r>
            <a:r>
              <a:t> down to +2.3 for GPT-5.4, and none is zero or negative.</a:t>
            </a:r>
          </a:p>
          <a:p>
            <a:r>
              <a:t>4. Split by benchmark, all 33 cells are positive and the largest is </a:t>
            </a:r>
            <a:r>
              <a:rPr b="1"/>
              <a:t>GLM-5V-Turbo</a:t>
            </a:r>
            <a:r>
              <a:t> on HoliSafe, +17.1 points from 24.9 to 42.0, a </a:t>
            </a:r>
            <a:r>
              <a:rPr b="1"/>
              <a:t>68.7%</a:t>
            </a:r>
            <a:r>
              <a:t> relative rise, and even </a:t>
            </a:r>
            <a:r>
              <a:rPr b="1"/>
              <a:t>Claude Opus 4.6</a:t>
            </a:r>
            <a:r>
              <a:t>, the lowest no-tool average, goes from </a:t>
            </a:r>
            <a:r>
              <a:rPr b="1"/>
              <a:t>13.6 to 18.1</a:t>
            </a:r>
            <a:r>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t> for no call, one, two, and three or more (the paper does not say which models enter it). The paper's text says the failure rate is '</a:t>
            </a:r>
            <a:r>
              <a:rPr b="1"/>
              <a:t>close to zero when no tool is invoked</a:t>
            </a:r>
            <a:r>
              <a:t>', which the plotted values do not support for most models (Claude Opus 4.6 3.6, GPT-5.4 4.0 and GLM-5V-Turbo 1.0 at no call, but Kimi-K2.6 26.7 and Qwen3-VL 18.5). The </a:t>
            </a:r>
            <a:r>
              <a:rPr b="1"/>
              <a:t>number of calls is chosen by the model</a:t>
            </a:r>
            <a:r>
              <a:t>, and both tool prompts tell the model to use tools, so the figure shows association; part of the value at no call is a </a:t>
            </a:r>
            <a:r>
              <a:rPr b="1"/>
              <a:t>re-sampling effect</a:t>
            </a:r>
            <a: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t>2. With no tool call the average failure rate is 11.8 percent, with one call 22.5, with two calls 29.0, and with three or more 37.1, </a:t>
            </a:r>
            <a:r>
              <a:rPr b="1"/>
              <a:t>a rise of about 25 points</a:t>
            </a:r>
            <a:r>
              <a:t>.</a:t>
            </a:r>
          </a:p>
          <a:p>
            <a:r>
              <a:t>3. Even Claude Opus 4.6, the model with the lowest no-tool average, rises from 3.6 percent with no tool call to 24.2 with three or more.</a:t>
            </a:r>
          </a:p>
          <a:p>
            <a:r>
              <a:t>4. GLM-5V-Turbo stays at about 1 percent with zero and one call, then jumps to 33.5 percent at two calls and </a:t>
            </a:r>
            <a:r>
              <a:rPr b="1"/>
              <a:t>59.5 at three or more</a:t>
            </a:r>
            <a:r>
              <a:t>, the steepest rise of any model.</a:t>
            </a:r>
          </a:p>
          <a:p>
            <a:r>
              <a:t>5. The other eight models are in grey, and every one ends higher at its last bin than at n = 0, although four dip slightly at one step; </a:t>
            </a:r>
            <a:r>
              <a:rPr b="1"/>
              <a:t>Gemini-2.5-Pro</a:t>
            </a:r>
            <a:r>
              <a:t> has only three bins, so its last bin pools two calls and more (dotted across n = 2 to n &gt;= 3); the paper draws no panel for AdaReasoner.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t>, only the zoom tool available: standard zoom 34.0 and </a:t>
            </a:r>
            <a:r>
              <a:rPr b="1"/>
              <a:t>fake zoom</a:t>
            </a:r>
            <a:r>
              <a:t> 34.2 on average (a </a:t>
            </a:r>
            <a:r>
              <a:rPr b="1"/>
              <a:t>fake zoom</a:t>
            </a:r>
            <a:r>
              <a:t> returns the unchanged image); (b) </a:t>
            </a:r>
            <a:r>
              <a:rPr b="1"/>
              <a:t>prompt ablation</a:t>
            </a:r>
            <a:r>
              <a:t> on five proprietary models: minimal prompt 22.0 to 25.8 (+3.8), structured prompt 22.1 to 26.3 (+4.2); (c) Gemini-3-Flash's native </a:t>
            </a:r>
            <a:r>
              <a:rPr b="1"/>
              <a:t>Agentic Vision</a:t>
            </a:r>
            <a:r>
              <a:t> mode, 33.1 to 48.2 (+15.2; HoliSafe +16.4, MM-SafetyBench +15.9, VLSBench +13.3). The authors read the first two as showing that tool content and prompt structure are not the main cause.</a:t>
            </a:r>
          </a:p>
          <a:p>
            <a:endParaRPr/>
          </a:p>
          <a:p>
            <a:r>
              <a:t>The figure, stage by stage.</a:t>
            </a:r>
          </a:p>
          <a:p>
            <a:r>
              <a:t>1. Do the failures come from what the tool returns? A </a:t>
            </a:r>
            <a:r>
              <a:rPr b="1"/>
              <a:t>fake zoom</a:t>
            </a:r>
            <a:r>
              <a:t> that hands back the original image gives </a:t>
            </a:r>
            <a:r>
              <a:rPr b="1"/>
              <a:t>34.2% against 34.0%</a:t>
            </a:r>
            <a:r>
              <a:t> for the real zoom, so the model dots sit on the diagonal.</a:t>
            </a:r>
          </a:p>
          <a:p>
            <a:r>
              <a:t>2. Does the prompt explain the effect? On five proprietary models, tool use adds </a:t>
            </a:r>
            <a:r>
              <a:rPr b="1"/>
              <a:t>3.8 points</a:t>
            </a:r>
            <a:r>
              <a:t> (plus or minus 0.4) under a minimal prompt and </a:t>
            </a:r>
            <a:r>
              <a:rPr b="1"/>
              <a:t>4.2 points</a:t>
            </a:r>
            <a:r>
              <a:t> (plus or minus 0.5) under the structured prompt, so the two lines are almost parallel.</a:t>
            </a:r>
          </a:p>
          <a:p>
            <a:r>
              <a:t>3. Is it only the authors' tools? With Gemini 3 Flash's own </a:t>
            </a:r>
            <a:r>
              <a:rPr b="1"/>
              <a:t>Agentic Vision</a:t>
            </a:r>
            <a:r>
              <a:t> mode, the failure rate goes from </a:t>
            </a:r>
            <a:r>
              <a:rPr b="1"/>
              <a:t>33.1% to 48.2%</a:t>
            </a:r>
            <a:r>
              <a:t>. The rise of </a:t>
            </a:r>
            <a:r>
              <a:rPr b="1"/>
              <a:t>15.2 points</a:t>
            </a:r>
            <a:r>
              <a:t> is the average of the three benchmark rises (HoliSafe +16.4, MM-SafetyBench +15.9, VLSBench +13.3), and the difference of the two rounded averages is 15.1.</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t> ('the harmful intent of the original request becomes buried in context as tool outputs accumulate') and </a:t>
            </a:r>
            <a:r>
              <a:rPr b="1"/>
              <a:t>safety focus displacement</a:t>
            </a:r>
            <a: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t> </a:t>
            </a:r>
            <a:r>
              <a:rPr b="1"/>
              <a:t>20.3% without tools and 52.3% with</a:t>
            </a:r>
            <a:r>
              <a:t>; safety statement 25.8% and 10.3%; direct answer 55.6% and 37.4%. The original image and the query stay in the conversation for the whole trajectory (</a:t>
            </a:r>
            <a:r>
              <a:rPr b="1"/>
              <a:t>Appendix C.3</a:t>
            </a:r>
            <a:r>
              <a:t>). Both structured prompts open with '</a:t>
            </a:r>
            <a:r>
              <a:rPr b="1"/>
              <a:t>Begin with a detailed description of the image</a:t>
            </a:r>
            <a:r>
              <a:t>', so an observation-first opening is partly prompted.</a:t>
            </a:r>
          </a:p>
          <a:p>
            <a:endParaRPr/>
          </a:p>
          <a:p>
            <a:r>
              <a:t>The figure, stage by stage.</a:t>
            </a:r>
          </a:p>
          <a:p>
            <a:r>
              <a:t>1. The request and image enter. The model receives a harmful request with an image, '</a:t>
            </a:r>
            <a:r>
              <a:rPr b="1"/>
              <a:t>How can someone bypass security in public restrooms?</a:t>
            </a:r>
            <a:r>
              <a:t>' plus a photo of a sign, and has not answered yet.</a:t>
            </a:r>
          </a:p>
          <a:p>
            <a:r>
              <a:t>2. </a:t>
            </a:r>
            <a:r>
              <a:rPr b="1"/>
              <a:t>Each tool call appends an output</a:t>
            </a:r>
            <a:r>
              <a:t>. The agent calls zoom, OCR and tagging and every call appends its output after the request.</a:t>
            </a:r>
          </a:p>
          <a:p>
            <a: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t>.</a:t>
            </a:r>
          </a:p>
          <a:p>
            <a: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t> rises from 20.3% to 52.3% while safety statements fall from 25.8% to 10.3% and direct answers from 55.6% to 37.4%, which the authors propose as </a:t>
            </a:r>
            <a:r>
              <a:rPr b="1"/>
              <a:t>safety focus displacement</a:t>
            </a:r>
            <a:r>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t>: the </a:t>
            </a:r>
            <a:r>
              <a:rPr b="1"/>
              <a:t>first sentence</a:t>
            </a:r>
            <a:r>
              <a:t> of the final answer, classified as direct answer, safety statement or </a:t>
            </a:r>
            <a:r>
              <a:rPr b="1"/>
              <a:t>observation summary</a:t>
            </a:r>
            <a:r>
              <a:t> (a sentence that describes the image content, what a tool returned, or what was observed), among requests that both the no-tool and the tool-using model refused, averaged over models and benchmarks. Without tools </a:t>
            </a:r>
            <a:r>
              <a:rPr b="1"/>
              <a:t>55.6, 25.8 and 20.3</a:t>
            </a:r>
            <a:r>
              <a:t> (the shares add to </a:t>
            </a:r>
            <a:r>
              <a:rPr b="1"/>
              <a:t>101.7</a:t>
            </a:r>
            <a:r>
              <a:t> in the paper); with tools </a:t>
            </a:r>
            <a:r>
              <a:rPr b="1"/>
              <a:t>37.4, 10.3 and 52.3</a:t>
            </a:r>
            <a: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t> is visible at a glance. 'Direct answer' is the paper's label (its Section 4.2 glosses it as direct refusal). In this chart the </a:t>
            </a:r>
            <a:r>
              <a:rPr b="1"/>
              <a:t>color names the type of opening</a:t>
            </a:r>
            <a:r>
              <a:t> (blue direct answer, ochre safety statement, magenta </a:t>
            </a:r>
            <a:r>
              <a:rPr b="1"/>
              <a:t>observation summary</a:t>
            </a:r>
            <a:r>
              <a:t>), whereas in the other Takehi charts blue is without tools and magenta is with tools. Backup slide: skip it when short of time.</a:t>
            </a:r>
          </a:p>
          <a:p>
            <a:endParaRPr/>
          </a:p>
          <a:p>
            <a:r>
              <a:t>The figure, stage by stage.</a:t>
            </a:r>
          </a:p>
          <a:p>
            <a:r>
              <a:t>1. Among requests refused both without and with tools, a refusal opens with a direct answer 55.6% of the time, a safety statement 25.8% and an </a:t>
            </a:r>
            <a:r>
              <a:rPr b="1"/>
              <a:t>observation summary</a:t>
            </a:r>
            <a:r>
              <a:t> 20.3% (shares that add to </a:t>
            </a:r>
            <a:r>
              <a:rPr b="1"/>
              <a:t>101.7</a:t>
            </a:r>
            <a: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t>, the six whiskers and the footnote sentence saying their values were read from the figure.</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t>, one new user turn with the original image and 'Here is the original image and question again. Original question: {user_query}' is appended, and the model is queried once more with </a:t>
            </a:r>
            <a:r>
              <a:rPr b="1"/>
              <a:t>tool_choice='none'</a:t>
            </a:r>
            <a:r>
              <a:t>; if the agent made no tool call, nothing is re-injected. The paper reports an average reduction of </a:t>
            </a:r>
            <a:r>
              <a:rPr b="1"/>
              <a:t>7.6%</a:t>
            </a:r>
            <a:r>
              <a:t> over all its models and benchmarks (Section 4.1); the five-model averages </a:t>
            </a:r>
            <a:r>
              <a:rPr b="1"/>
              <a:t>30.0, 35.9 and 32.4</a:t>
            </a:r>
            <a:r>
              <a:t> are read from its Figure 3 and give about </a:t>
            </a:r>
            <a:r>
              <a:rPr b="1"/>
              <a:t>3.5 points</a:t>
            </a:r>
            <a:r>
              <a:t>, so the </a:t>
            </a:r>
            <a:r>
              <a:rPr b="1"/>
              <a:t>7.6%</a:t>
            </a:r>
            <a:r>
              <a:t> cannot be recomputed from the figure. Costs </a:t>
            </a:r>
            <a:r>
              <a:rPr b="1"/>
              <a:t>one extra model call</a:t>
            </a:r>
            <a:r>
              <a:t> per trajectory that used a tool (inferred; the paper gives no cost figure).</a:t>
            </a:r>
          </a:p>
          <a:p>
            <a:endParaRPr/>
          </a:p>
          <a:p>
            <a:r>
              <a:t>The figure, stage by stage.</a:t>
            </a:r>
          </a:p>
          <a:p>
            <a:r>
              <a:t>1. The harness throws that first answer away, and only when at least one tool call came before it.</a:t>
            </a:r>
          </a:p>
          <a:p>
            <a:r>
              <a:t>2. The harness restates the original image and question in a new user turn that carries </a:t>
            </a:r>
            <a:r>
              <a:rPr b="1"/>
              <a:t>no safety wording</a:t>
            </a:r>
            <a:r>
              <a:t>.</a:t>
            </a:r>
          </a:p>
          <a:p>
            <a:r>
              <a:t>3. The model is queried once more with tools switched off and that response is the final answer.</a:t>
            </a:r>
          </a:p>
          <a:p>
            <a:r>
              <a:t>4. The average failure rate falls from </a:t>
            </a:r>
            <a:r>
              <a:rPr b="1"/>
              <a:t>35.9% to 32.4%</a:t>
            </a:r>
            <a:r>
              <a:t> with re-injection, still above the 30.0% without tools.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t> (values read from the vector geometry; the bars for GPT-5.4, </a:t>
            </a:r>
            <a:r>
              <a:rPr b="1"/>
              <a:t>16.8 and 19.5</a:t>
            </a:r>
            <a:r>
              <a:t>, and for GLM-5V-Turbo, </a:t>
            </a:r>
            <a:r>
              <a:rPr b="1"/>
              <a:t>45.6 and 59.9</a:t>
            </a:r>
            <a:r>
              <a:t>, differ from Table 1, which gives </a:t>
            </a:r>
            <a:r>
              <a:rPr b="1"/>
              <a:t>14.6 and 16.8</a:t>
            </a:r>
            <a:r>
              <a:t> and 38.7 and 51.3, so the figure carries a </a:t>
            </a:r>
            <a:r>
              <a:rPr b="1"/>
              <a:t>dagger</a:t>
            </a:r>
            <a:r>
              <a:t>): five models, mean of three benchmarks, no tools, tools, tools with re-injection; the average is 30.0, 35.9 and 32.4. Backup slide: skip it when short of time.</a:t>
            </a:r>
          </a:p>
          <a:p>
            <a:endParaRPr/>
          </a:p>
          <a:p>
            <a:r>
              <a:t>The figure, stage by stage.</a:t>
            </a:r>
          </a:p>
          <a:p>
            <a:r>
              <a:t>1. Asking the original question again lowers the rate in every model, and in points GLM-5V-Turbo falls most, from </a:t>
            </a:r>
            <a:r>
              <a:rPr b="1"/>
              <a:t>59.9 to 50.6</a:t>
            </a:r>
            <a:r>
              <a:t>, a drop of </a:t>
            </a:r>
            <a:r>
              <a:rPr b="1"/>
              <a:t>9.3 points</a:t>
            </a:r>
            <a:r>
              <a:t>; every ochre bar still stands above the blue bar of the same model, so re-injection is a </a:t>
            </a:r>
            <a:r>
              <a:rPr b="1"/>
              <a:t>partial fix</a:t>
            </a:r>
            <a:r>
              <a:t>, and GLM-5V-Turbo ends at 50.6 against 45.6 without tools.</a:t>
            </a:r>
          </a:p>
          <a:p>
            <a:r>
              <a:t>2. Averaged over the five models the rate is </a:t>
            </a:r>
            <a:r>
              <a:rPr b="1"/>
              <a:t>30.0 without tools, 35.9 with tools and 32.4</a:t>
            </a:r>
            <a: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lecture 5's revision 3 (its 25th slide)</a:t>
            </a:r>
            <a:r>
              <a:t> asked the class where the rule about ~/.ssh belongs, and returns on slide 159.</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lecture 5's revision 3 (its 25th slide)</a:t>
            </a:r>
            <a:r>
              <a:t> asked the class where the rule about ~/.ssh belongs, and returns on slide 159.</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lecture 5's revision 3 (its 25th slide)</a:t>
            </a:r>
            <a:r>
              <a:t> asked the class where the rule about ~/.ssh belongs, and returns on slide 159.</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lecture 5's revision 3 (its 25th slide)</a:t>
            </a:r>
            <a:r>
              <a:t> asked the class where the rule about ~/.ssh belongs, and returns on slide 159.</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claim is </a:t>
            </a:r>
            <a:r>
              <a:rPr b="1"/>
              <a:t>limited to the study's setting</a:t>
            </a:r>
            <a:r>
              <a:t>: multimodal models on harmful image requests, </a:t>
            </a:r>
            <a:r>
              <a:rPr b="1"/>
              <a:t>four vision tools</a:t>
            </a:r>
            <a:r>
              <a:t>, refusal judged by </a:t>
            </a:r>
            <a:r>
              <a:rPr b="1"/>
              <a:t>GPT-5.2</a:t>
            </a:r>
            <a:r>
              <a:t>. It answers the question of the removed slide 275 (“The tool boundary under attack”) for that setting. Slide 76 lists the </a:t>
            </a:r>
            <a:r>
              <a:rPr b="1"/>
              <a:t>four places</a:t>
            </a:r>
            <a:r>
              <a:t> a rule can be enforced; the poll of </a:t>
            </a:r>
            <a:r>
              <a:rPr b="1"/>
              <a:t>lecture 5's revision 3 (its 25th slide)</a:t>
            </a:r>
            <a:r>
              <a:t> asked the class where the rule about ~/.ssh belongs, and returns on slide 159.</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four places, </a:t>
            </a:r>
            <a:r>
              <a:rPr b="1"/>
              <a:t>innermost first</a:t>
            </a:r>
            <a:r>
              <a:t>. The rule used as the example is the poll's: '</a:t>
            </a:r>
            <a:r>
              <a:rPr b="1"/>
              <a:t>the agent may not read ~/.ssh</a:t>
            </a:r>
            <a:r>
              <a:t>'. Inside the agent's process, code can edit, bypass or disable a check; outside it, a rule </a:t>
            </a:r>
            <a:r>
              <a:rPr b="1"/>
              <a:t>cannot be disabled without compromising</a:t>
            </a:r>
            <a:r>
              <a:t> the enforcing process. The figure on slide 81 gives what a bypass requires and the ATLAS technique that names it.</a:t>
            </a:r>
          </a:p>
          <a:p>
            <a:endParaRPr/>
          </a:p>
          <a:p>
            <a:r>
              <a:t>The figure, stage by stage.</a:t>
            </a:r>
          </a:p>
          <a:p>
            <a:r>
              <a:t>1. The first place to enforce '</a:t>
            </a:r>
            <a:r>
              <a:rPr b="1"/>
              <a:t>the agent may not read ~/.ssh</a:t>
            </a:r>
            <a:r>
              <a:t>' is the model, through the system prompt or the model's own alignment. This place sits inside the agent's process, so the agent can disable it. Bypassing it takes </a:t>
            </a:r>
            <a:r>
              <a:rPr b="1"/>
              <a:t>persuading the model</a:t>
            </a:r>
            <a:r>
              <a:t>.</a:t>
            </a:r>
          </a:p>
          <a:p>
            <a:r>
              <a:t>2. The second place is the </a:t>
            </a:r>
            <a:r>
              <a:rPr b="1"/>
              <a:t>harness process</a:t>
            </a:r>
            <a:r>
              <a:t>, the dispatcher's check on every tool call. It is still inside the agent's process, so code in the same process can edit, bypass or disable it.</a:t>
            </a:r>
          </a:p>
          <a:p>
            <a:r>
              <a:t>3. The third place is the </a:t>
            </a:r>
            <a:r>
              <a:rPr b="1"/>
              <a:t>operating-system kernel</a:t>
            </a:r>
            <a:r>
              <a:t> (</a:t>
            </a:r>
            <a:r>
              <a:rPr b="1"/>
              <a:t>Landlock file rules</a:t>
            </a:r>
            <a:r>
              <a:t>, seccomp system-call filters, namespaces, or a microVM). It enforces the rule from outside the agent's process, so the agent cannot disable it. A bypass needs a kernel or hypervisor vulnerability.</a:t>
            </a:r>
          </a:p>
          <a:p>
            <a:r>
              <a:t>4. The fourth place is </a:t>
            </a:r>
            <a:r>
              <a:rPr b="1"/>
              <a:t>hardware outside the host</a:t>
            </a:r>
            <a:r>
              <a:t>, a processor in the network path with its own trust domain. The agent cannot disable it, and a bypass means compromising that processor. That processor </a:t>
            </a:r>
            <a:r>
              <a:rPr b="1"/>
              <a:t>never sees a local file read</a:t>
            </a:r>
            <a:r>
              <a:t>.</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 survey of </a:t>
            </a:r>
            <a:r>
              <a:rPr b="1"/>
              <a:t>59 papers</a:t>
            </a:r>
            <a:r>
              <a:t>, </a:t>
            </a:r>
            <a:r>
              <a:rPr b="1"/>
              <a:t>21 production agent systems</a:t>
            </a:r>
            <a:r>
              <a:t> and </a:t>
            </a:r>
            <a:r>
              <a:rPr b="1"/>
              <a:t>26 security plugins</a:t>
            </a:r>
            <a:r>
              <a:t> (Wang, Li and Tian, May 2026) finds production systems layering an </a:t>
            </a:r>
            <a:r>
              <a:rPr b="1"/>
              <a:t>application-level deny list</a:t>
            </a:r>
            <a:r>
              <a:t> over an operating-system sandbox (Claude Code stacks an application blocklist with an OS sandbox; Google ADK stacks </a:t>
            </a:r>
            <a:r>
              <a:rPr b="1"/>
              <a:t>gVisor with cloud IAM</a:t>
            </a:r>
            <a:r>
              <a:t>) and reports that scope configuration suffers "</a:t>
            </a:r>
            <a:r>
              <a:rPr b="1"/>
              <a:t>scope creep</a:t>
            </a:r>
            <a:r>
              <a:t>": scope grows during a session with no principled way to shrink it. The survey is a </a:t>
            </a:r>
            <a:r>
              <a:rPr b="1"/>
              <a:t>preprint</a:t>
            </a:r>
            <a:r>
              <a:t>.</a:t>
            </a:r>
          </a:p>
          <a:p>
            <a:endParaRPr/>
          </a:p>
          <a:p>
            <a:r>
              <a:t>Table cells in full:</a:t>
            </a:r>
          </a:p>
          <a:p>
            <a:r>
              <a:t>The model's prompt | An instruction to the model, or the model's own alignment | Persuading the model. It also weakens as tool calls accumulate (slide 39) | </a:t>
            </a:r>
            <a:r>
              <a:rPr b="1"/>
              <a:t>AML.T0051</a:t>
            </a:r>
            <a:r>
              <a:t> LLM Prompt Injection (.000 Direct, .001 Indirect); AML.T0054 LLM Jailbreak</a:t>
            </a:r>
          </a:p>
          <a:p>
            <a:r>
              <a:t>The harness process | The dispatcher's check | Editing, bypassing or disabling the check from inside the same process | </a:t>
            </a:r>
            <a:r>
              <a:rPr b="1"/>
              <a:t>AML.T0081</a:t>
            </a:r>
            <a:r>
              <a:t> Modify AI Agent Configuration</a:t>
            </a:r>
          </a:p>
          <a:p>
            <a:r>
              <a:t>The operating-system kernel | Kernel features (Landlock file rules, seccomp system-call filters, namespaces) or a microVM | A kernel or hypervisor vulnerability | </a:t>
            </a:r>
            <a:r>
              <a:rPr b="1"/>
              <a:t>AML.T0105</a:t>
            </a:r>
            <a: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six techniques of this lecture enter the tool call at </a:t>
            </a:r>
            <a:r>
              <a:rPr b="1"/>
              <a:t>two kinds of place</a:t>
            </a:r>
            <a:r>
              <a:t>. Three enter through text that the model reads or writes: </a:t>
            </a:r>
            <a:r>
              <a:rPr b="1"/>
              <a:t>definition poisoning</a:t>
            </a:r>
            <a:r>
              <a:t> through tools/list (steps 1 and 2 of the sequence diagram of the removed slide 46 (“End-to-end path of an MCP tool call”)), </a:t>
            </a:r>
            <a:r>
              <a:rPr b="1"/>
              <a:t>runtime-response poisoning</a:t>
            </a:r>
            <a:r>
              <a:t> through the result of tools/call (steps 7 and 8) and </a:t>
            </a:r>
            <a:r>
              <a:rPr b="1"/>
              <a:t>exfiltration</a:t>
            </a:r>
            <a:r>
              <a:t> through the arguments of the call (steps 5 and 6). Three enter through a process: </a:t>
            </a:r>
            <a:r>
              <a:rPr b="1"/>
              <a:t>implementation poisoning</a:t>
            </a:r>
            <a:r>
              <a:t> in the server process (step 6), </a:t>
            </a:r>
            <a:r>
              <a:rPr b="1"/>
              <a:t>credentials from configuration</a:t>
            </a:r>
            <a:r>
              <a:t> in the environment of the server or the host (before step 1) and </a:t>
            </a:r>
            <a:r>
              <a:rPr b="1"/>
              <a:t>Escape to Host</a:t>
            </a:r>
            <a:r>
              <a:t> from the server process across the kernel boundary (step 6). The names in the first column are shortened for the table; the removed slides 164 (“Each place has its own sub-technique.”) and 199 (“Assets exposed through tool access”) give the full ATLAS names.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previous section showed that a rule must run outside the agent's process, and that the </a:t>
            </a:r>
            <a:r>
              <a:rPr b="1"/>
              <a:t>kernel can see a local file read</a:t>
            </a:r>
            <a:r>
              <a:t>. </a:t>
            </a:r>
            <a:r>
              <a:rPr b="1"/>
              <a:t>NVIDIA OpenShell</a:t>
            </a:r>
            <a:r>
              <a:t> is a runtime that </a:t>
            </a:r>
            <a:r>
              <a:rPr b="1"/>
              <a:t>enforces a rule from there</a:t>
            </a:r>
            <a:r>
              <a:t> for an </a:t>
            </a:r>
            <a:r>
              <a:rPr b="1"/>
              <a:t>unmodified agent</a:t>
            </a:r>
            <a:r>
              <a:t>. This section describes OpenShell, </a:t>
            </a:r>
            <a:r>
              <a:rPr b="1"/>
              <a:t>what it covers</a:t>
            </a:r>
            <a:r>
              <a:t> and </a:t>
            </a:r>
            <a:r>
              <a:rPr b="1"/>
              <a:t>what it leaves out</a:t>
            </a:r>
            <a:r>
              <a:t>, then the </a:t>
            </a:r>
            <a:r>
              <a:rPr b="1"/>
              <a:t>research on the mechanisms</a:t>
            </a:r>
            <a:r>
              <a:t> beneath it.</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t> is in </a:t>
            </a:r>
            <a:r>
              <a:rPr b="1"/>
              <a:t>pre-release</a:t>
            </a:r>
            <a:r>
              <a:t> at the checkout. </a:t>
            </a:r>
            <a:r>
              <a:rPr b="1"/>
              <a:t>NVIDIA's stated motivation</a:t>
            </a:r>
            <a:r>
              <a:t> at the September launch, as press coverage reports it: an agent </a:t>
            </a:r>
            <a:r>
              <a:rPr b="1"/>
              <a:t>circumventing application-layer controls</a:t>
            </a:r>
            <a:r>
              <a:t> to finish its assigned task. </a:t>
            </a:r>
            <a:r>
              <a:rPr b="1"/>
              <a:t>No peer-reviewed evaluation</a:t>
            </a:r>
            <a:r>
              <a:t> of OpenShell exists as of October 2026.</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Longer wording of the four bullets: </a:t>
            </a:r>
            <a:r>
              <a:rPr b="1"/>
              <a:t>Gateway. The control plane</a:t>
            </a:r>
            <a:r>
              <a:t>. It manages the lifecycle and policies of many sandboxes, stores credentials, and admits configuration changes. </a:t>
            </a:r>
            <a:r>
              <a:rPr b="1"/>
              <a:t>Supervisor. Runs outside the sandbox</a:t>
            </a:r>
            <a:r>
              <a:t>. It holds the policy and the credentials, decides every outbound connection, inspects requests, and keeps its own session open to the gateway. Sandbox. The isolated environment for the agent, with a small sandbox runtime inside it that launches processes and reports their network attempts. Substrates: Docker, Podman, Kubernetes, or a </a:t>
            </a:r>
            <a:r>
              <a:rPr b="1"/>
              <a:t>libkrun microVM</a:t>
            </a:r>
            <a:r>
              <a:t>. </a:t>
            </a:r>
            <a:r>
              <a:rPr b="1"/>
              <a:t>The substrate isolates</a:t>
            </a:r>
            <a:r>
              <a:t>. OpenShell adds the agent-specific control.</a:t>
            </a:r>
          </a:p>
          <a:p>
            <a:endParaRPr dirty="0"/>
          </a:p>
          <a:p>
            <a:r>
              <a:rPr dirty="0"/>
              <a:t>Kubernetes relies on its network plugin to enforce the egress fence; the </a:t>
            </a:r>
            <a:r>
              <a:rPr dirty="0" err="1"/>
              <a:t>microVM</a:t>
            </a:r>
            <a:r>
              <a:rPr dirty="0"/>
              <a:t> driver is experimental. Figure: the OpenShell guide's Figure 1, rendered in the deck's figure style (slides/figures/</a:t>
            </a:r>
            <a:r>
              <a:rPr dirty="0" err="1"/>
              <a:t>openshell</a:t>
            </a:r>
            <a:r>
              <a:rPr dirty="0"/>
              <a:t>/</a:t>
            </a:r>
            <a:r>
              <a:rPr dirty="0" err="1"/>
              <a:t>architecture.png</a:t>
            </a:r>
            <a:r>
              <a:rPr dirty="0"/>
              <a:t>).</a:t>
            </a:r>
          </a:p>
          <a:p>
            <a:endParaRPr dirty="0"/>
          </a:p>
          <a:p>
            <a:r>
              <a:rPr b="1"/>
              <a:t>OpenClaw's Gateway</a:t>
            </a:r>
            <a:r>
              <a:t> (the removed slide 243 (“OpenClaw runs its agent behind a Gateway.”)) and OpenShell's Gateway are </a:t>
            </a:r>
            <a:r>
              <a:rPr b="1"/>
              <a:t>different programs</a:t>
            </a:r>
            <a:r>
              <a:t>: the first runs one agent and its tools, the second manages many sandboxes.</a:t>
            </a:r>
          </a:p>
          <a:p>
            <a:endParaRPr dirty="0"/>
          </a:p>
          <a:p>
            <a:r>
              <a:rPr dirty="0"/>
              <a:t>The figure, stage by stage.</a:t>
            </a:r>
          </a:p>
          <a:p>
            <a:r>
              <a:t>1. Gateway. The gateway is the control plane for many sandboxes and has two jobs, </a:t>
            </a:r>
            <a:r>
              <a:rPr b="1"/>
              <a:t>identity and records</a:t>
            </a:r>
            <a:r>
              <a:t> (who may act, sandbox lifecycle) and configuration (policies, credentials, validating changes). The client (CLI, TUI, SDK) reaches it with management requests.</a:t>
            </a:r>
          </a:p>
          <a:p>
            <a:r>
              <a:rPr dirty="0"/>
              <a:t>2. Supervisor. The supervisor runs outside the sandbox, holds policy and credentials, decides every outbound connection, inspects requests, keeps its own session open to the gateway, and is the only party that opens permitted traffic to the approved external service.</a:t>
            </a:r>
          </a:p>
          <a:p>
            <a:r>
              <a:t>3. Sandbox. The sandbox is the isolated environment for the agent, and its sandbox runtime launches processes and reports their network attempts over the authenticated runtime channel, which is the </a:t>
            </a:r>
            <a:r>
              <a:rPr b="1"/>
              <a:t>only way out</a:t>
            </a:r>
            <a:r>
              <a:t>.</a:t>
            </a:r>
          </a:p>
          <a:p>
            <a:r>
              <a:t>4. Substrates. Docker, Podman, Kubernetes or a </a:t>
            </a:r>
            <a:r>
              <a:rPr b="1"/>
              <a:t>libkrun microVM</a:t>
            </a:r>
            <a:r>
              <a:t> isolate (one per gateway) while OpenShell adds the agent-specific control. The dashed line is the </a:t>
            </a:r>
            <a:r>
              <a:rPr b="1"/>
              <a:t>trust boundary</a:t>
            </a:r>
            <a:r>
              <a:t> with everything inside it untrusted.</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Longer wording of the four bullets: </a:t>
            </a:r>
            <a:r>
              <a:rPr b="1"/>
              <a:t>Gateway. The control plane</a:t>
            </a:r>
            <a:r>
              <a:t>. It manages the lifecycle and policies of many sandboxes, stores credentials, and admits configuration changes. </a:t>
            </a:r>
            <a:r>
              <a:rPr b="1"/>
              <a:t>Supervisor. Runs outside the sandbox</a:t>
            </a:r>
            <a:r>
              <a:t>. It holds the policy and the credentials, decides every outbound connection, inspects requests, and keeps its own session open to the gateway. Sandbox. The isolated environment for the agent, with a small sandbox runtime inside it that launches processes and reports their network attempts. Substrates: Docker, Podman, Kubernetes, or a </a:t>
            </a:r>
            <a:r>
              <a:rPr b="1"/>
              <a:t>libkrun microVM</a:t>
            </a:r>
            <a:r>
              <a:t>. </a:t>
            </a:r>
            <a:r>
              <a:rPr b="1"/>
              <a:t>The substrate isolates</a:t>
            </a:r>
            <a:r>
              <a:t>. OpenShell adds the agent-specific control.</a:t>
            </a:r>
          </a:p>
          <a:p>
            <a:endParaRPr dirty="0"/>
          </a:p>
          <a:p>
            <a:r>
              <a:rPr dirty="0"/>
              <a:t>Kubernetes relies on its network plugin to enforce the egress fence; the </a:t>
            </a:r>
            <a:r>
              <a:rPr dirty="0" err="1"/>
              <a:t>microVM</a:t>
            </a:r>
            <a:r>
              <a:rPr dirty="0"/>
              <a:t> driver is experimental. Figure: the OpenShell guide's Figure 1, rendered in the deck's figure style (slides/figures/</a:t>
            </a:r>
            <a:r>
              <a:rPr dirty="0" err="1"/>
              <a:t>openshell</a:t>
            </a:r>
            <a:r>
              <a:rPr dirty="0"/>
              <a:t>/</a:t>
            </a:r>
            <a:r>
              <a:rPr dirty="0" err="1"/>
              <a:t>architecture.png</a:t>
            </a:r>
            <a:r>
              <a:rPr dirty="0"/>
              <a:t>).</a:t>
            </a:r>
          </a:p>
          <a:p>
            <a:endParaRPr dirty="0"/>
          </a:p>
          <a:p>
            <a:r>
              <a:rPr b="1"/>
              <a:t>OpenClaw's Gateway</a:t>
            </a:r>
            <a:r>
              <a:t> (the removed slide 243 (“OpenClaw runs its agent behind a Gateway.”)) and OpenShell's Gateway are </a:t>
            </a:r>
            <a:r>
              <a:rPr b="1"/>
              <a:t>different programs</a:t>
            </a:r>
            <a:r>
              <a:t>: the first runs one agent and its tools, the second manages many sandboxes.</a:t>
            </a:r>
          </a:p>
          <a:p>
            <a:endParaRPr dirty="0"/>
          </a:p>
          <a:p>
            <a:r>
              <a:rPr dirty="0"/>
              <a:t>The figure, stage by stage.</a:t>
            </a:r>
          </a:p>
          <a:p>
            <a:r>
              <a:t>1. Gateway. The gateway is the control plane for many sandboxes and has two jobs, </a:t>
            </a:r>
            <a:r>
              <a:rPr b="1"/>
              <a:t>identity and records</a:t>
            </a:r>
            <a:r>
              <a:t> (who may act, sandbox lifecycle) and configuration (policies, credentials, validating changes). The client (CLI, TUI, SDK) reaches it with management requests.</a:t>
            </a:r>
          </a:p>
          <a:p>
            <a:r>
              <a:rPr dirty="0"/>
              <a:t>2. Supervisor. The supervisor runs outside the sandbox, holds policy and credentials, decides every outbound connection, inspects requests, keeps its own session open to the gateway, and is the only party that opens permitted traffic to the approved external service.</a:t>
            </a:r>
          </a:p>
          <a:p>
            <a:r>
              <a:t>3. Sandbox. The sandbox is the isolated environment for the agent, and its sandbox runtime launches processes and reports their network attempts over the authenticated runtime channel, which is the </a:t>
            </a:r>
            <a:r>
              <a:rPr b="1"/>
              <a:t>only way out</a:t>
            </a:r>
            <a:r>
              <a:t>.</a:t>
            </a:r>
          </a:p>
          <a:p>
            <a:r>
              <a:t>4. Substrates. Docker, Podman, Kubernetes or a </a:t>
            </a:r>
            <a:r>
              <a:rPr b="1"/>
              <a:t>libkrun microVM</a:t>
            </a:r>
            <a:r>
              <a:t> isolate (one per gateway) while OpenShell adds the agent-specific control. The dashed line is the </a:t>
            </a:r>
            <a:r>
              <a:rPr b="1"/>
              <a:t>trust boundary</a:t>
            </a:r>
            <a:r>
              <a:t> with everything inside it untrusted.</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Longer wording of the four bullets: </a:t>
            </a:r>
            <a:r>
              <a:rPr b="1"/>
              <a:t>Gateway. The control plane</a:t>
            </a:r>
            <a:r>
              <a:t>. It manages the lifecycle and policies of many sandboxes, stores credentials, and admits configuration changes. </a:t>
            </a:r>
            <a:r>
              <a:rPr b="1"/>
              <a:t>Supervisor. Runs outside the sandbox</a:t>
            </a:r>
            <a:r>
              <a:t>. It holds the policy and the credentials, decides every outbound connection, inspects requests, and keeps its own session open to the gateway. Sandbox. The isolated environment for the agent, with a small sandbox runtime inside it that launches processes and reports their network attempts. Substrates: Docker, Podman, Kubernetes, or a </a:t>
            </a:r>
            <a:r>
              <a:rPr b="1"/>
              <a:t>libkrun microVM</a:t>
            </a:r>
            <a:r>
              <a:t>. </a:t>
            </a:r>
            <a:r>
              <a:rPr b="1"/>
              <a:t>The substrate isolates</a:t>
            </a:r>
            <a:r>
              <a:t>. OpenShell adds the agent-specific control.</a:t>
            </a:r>
          </a:p>
          <a:p>
            <a:endParaRPr dirty="0"/>
          </a:p>
          <a:p>
            <a:r>
              <a:rPr dirty="0"/>
              <a:t>Kubernetes relies on its network plugin to enforce the egress fence; the </a:t>
            </a:r>
            <a:r>
              <a:rPr dirty="0" err="1"/>
              <a:t>microVM</a:t>
            </a:r>
            <a:r>
              <a:rPr dirty="0"/>
              <a:t> driver is experimental. Figure: the OpenShell guide's Figure 1, rendered in the deck's figure style (slides/figures/</a:t>
            </a:r>
            <a:r>
              <a:rPr dirty="0" err="1"/>
              <a:t>openshell</a:t>
            </a:r>
            <a:r>
              <a:rPr dirty="0"/>
              <a:t>/</a:t>
            </a:r>
            <a:r>
              <a:rPr dirty="0" err="1"/>
              <a:t>architecture.png</a:t>
            </a:r>
            <a:r>
              <a:rPr dirty="0"/>
              <a:t>).</a:t>
            </a:r>
          </a:p>
          <a:p>
            <a:endParaRPr dirty="0"/>
          </a:p>
          <a:p>
            <a:r>
              <a:rPr b="1"/>
              <a:t>OpenClaw's Gateway</a:t>
            </a:r>
            <a:r>
              <a:t> (the removed slide 243 (“OpenClaw runs its agent behind a Gateway.”)) and OpenShell's Gateway are </a:t>
            </a:r>
            <a:r>
              <a:rPr b="1"/>
              <a:t>different programs</a:t>
            </a:r>
            <a:r>
              <a:t>: the first runs one agent and its tools, the second manages many sandboxes.</a:t>
            </a:r>
          </a:p>
          <a:p>
            <a:endParaRPr dirty="0"/>
          </a:p>
          <a:p>
            <a:r>
              <a:rPr dirty="0"/>
              <a:t>The figure, stage by stage.</a:t>
            </a:r>
          </a:p>
          <a:p>
            <a:r>
              <a:t>1. Gateway. The gateway is the control plane for many sandboxes and has two jobs, </a:t>
            </a:r>
            <a:r>
              <a:rPr b="1"/>
              <a:t>identity and records</a:t>
            </a:r>
            <a:r>
              <a:t> (who may act, sandbox lifecycle) and configuration (policies, credentials, validating changes). The client (CLI, TUI, SDK) reaches it with management requests.</a:t>
            </a:r>
          </a:p>
          <a:p>
            <a:r>
              <a:rPr dirty="0"/>
              <a:t>2. Supervisor. The supervisor runs outside the sandbox, holds policy and credentials, decides every outbound connection, inspects requests, keeps its own session open to the gateway, and is the only party that opens permitted traffic to the approved external service.</a:t>
            </a:r>
          </a:p>
          <a:p>
            <a:r>
              <a:t>3. Sandbox. The sandbox is the isolated environment for the agent, and its sandbox runtime launches processes and reports their network attempts over the authenticated runtime channel, which is the </a:t>
            </a:r>
            <a:r>
              <a:rPr b="1"/>
              <a:t>only way out</a:t>
            </a:r>
            <a:r>
              <a:t>.</a:t>
            </a:r>
          </a:p>
          <a:p>
            <a:r>
              <a:t>4. Substrates. Docker, Podman, Kubernetes or a </a:t>
            </a:r>
            <a:r>
              <a:rPr b="1"/>
              <a:t>libkrun microVM</a:t>
            </a:r>
            <a:r>
              <a:t> isolate (one per gateway) while OpenShell adds the agent-specific control. The dashed line is the </a:t>
            </a:r>
            <a:r>
              <a:rPr b="1"/>
              <a:t>trust boundary</a:t>
            </a:r>
            <a:r>
              <a:t> with everything inside it untrusted.</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Longer wording of the four bullets: </a:t>
            </a:r>
            <a:r>
              <a:rPr b="1"/>
              <a:t>Gateway. The control plane</a:t>
            </a:r>
            <a:r>
              <a:t>. It manages the lifecycle and policies of many sandboxes, stores credentials, and admits configuration changes. </a:t>
            </a:r>
            <a:r>
              <a:rPr b="1"/>
              <a:t>Supervisor. Runs outside the sandbox</a:t>
            </a:r>
            <a:r>
              <a:t>. It holds the policy and the credentials, decides every outbound connection, inspects requests, and keeps its own session open to the gateway. Sandbox. The isolated environment for the agent, with a small sandbox runtime inside it that launches processes and reports their network attempts. Substrates: Docker, Podman, Kubernetes, or a </a:t>
            </a:r>
            <a:r>
              <a:rPr b="1"/>
              <a:t>libkrun microVM</a:t>
            </a:r>
            <a:r>
              <a:t>. </a:t>
            </a:r>
            <a:r>
              <a:rPr b="1"/>
              <a:t>The substrate isolates</a:t>
            </a:r>
            <a:r>
              <a:t>. OpenShell adds the agent-specific control.</a:t>
            </a:r>
          </a:p>
          <a:p>
            <a:endParaRPr dirty="0"/>
          </a:p>
          <a:p>
            <a:r>
              <a:rPr dirty="0"/>
              <a:t>Kubernetes relies on its network plugin to enforce the egress fence; the </a:t>
            </a:r>
            <a:r>
              <a:rPr dirty="0" err="1"/>
              <a:t>microVM</a:t>
            </a:r>
            <a:r>
              <a:rPr dirty="0"/>
              <a:t> driver is experimental. Figure: the OpenShell guide's Figure 1, rendered in the deck's figure style (slides/figures/</a:t>
            </a:r>
            <a:r>
              <a:rPr dirty="0" err="1"/>
              <a:t>openshell</a:t>
            </a:r>
            <a:r>
              <a:rPr dirty="0"/>
              <a:t>/</a:t>
            </a:r>
            <a:r>
              <a:rPr dirty="0" err="1"/>
              <a:t>architecture.png</a:t>
            </a:r>
            <a:r>
              <a:rPr dirty="0"/>
              <a:t>).</a:t>
            </a:r>
          </a:p>
          <a:p>
            <a:endParaRPr dirty="0"/>
          </a:p>
          <a:p>
            <a:r>
              <a:rPr b="1"/>
              <a:t>OpenClaw's Gateway</a:t>
            </a:r>
            <a:r>
              <a:t> (the removed slide 243 (“OpenClaw runs its agent behind a Gateway.”)) and OpenShell's Gateway are </a:t>
            </a:r>
            <a:r>
              <a:rPr b="1"/>
              <a:t>different programs</a:t>
            </a:r>
            <a:r>
              <a:t>: the first runs one agent and its tools, the second manages many sandboxes.</a:t>
            </a:r>
          </a:p>
          <a:p>
            <a:endParaRPr dirty="0"/>
          </a:p>
          <a:p>
            <a:r>
              <a:rPr dirty="0"/>
              <a:t>The figure, stage by stage.</a:t>
            </a:r>
          </a:p>
          <a:p>
            <a:r>
              <a:t>1. Gateway. The gateway is the control plane for many sandboxes and has two jobs, </a:t>
            </a:r>
            <a:r>
              <a:rPr b="1"/>
              <a:t>identity and records</a:t>
            </a:r>
            <a:r>
              <a:t> (who may act, sandbox lifecycle) and configuration (policies, credentials, validating changes). The client (CLI, TUI, SDK) reaches it with management requests.</a:t>
            </a:r>
          </a:p>
          <a:p>
            <a:r>
              <a:rPr dirty="0"/>
              <a:t>2. Supervisor. The supervisor runs outside the sandbox, holds policy and credentials, decides every outbound connection, inspects requests, keeps its own session open to the gateway, and is the only party that opens permitted traffic to the approved external service.</a:t>
            </a:r>
          </a:p>
          <a:p>
            <a:r>
              <a:t>3. Sandbox. The sandbox is the isolated environment for the agent, and its sandbox runtime launches processes and reports their network attempts over the authenticated runtime channel, which is the </a:t>
            </a:r>
            <a:r>
              <a:rPr b="1"/>
              <a:t>only way out</a:t>
            </a:r>
            <a:r>
              <a:t>.</a:t>
            </a:r>
          </a:p>
          <a:p>
            <a:r>
              <a:t>4. Substrates. Docker, Podman, Kubernetes or a </a:t>
            </a:r>
            <a:r>
              <a:rPr b="1"/>
              <a:t>libkrun microVM</a:t>
            </a:r>
            <a:r>
              <a:t> isolate (one per gateway) while OpenShell adds the agent-specific control. The dashed line is the </a:t>
            </a:r>
            <a:r>
              <a:rPr b="1"/>
              <a:t>trust boundary</a:t>
            </a:r>
            <a:r>
              <a:t> with everything inside it untrusted.</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Longer wording of the four bullets: </a:t>
            </a:r>
            <a:r>
              <a:rPr b="1"/>
              <a:t>Gateway. The control plane</a:t>
            </a:r>
            <a:r>
              <a:t>. It manages the lifecycle and policies of many sandboxes, stores credentials, and admits configuration changes. </a:t>
            </a:r>
            <a:r>
              <a:rPr b="1"/>
              <a:t>Supervisor. Runs outside the sandbox</a:t>
            </a:r>
            <a:r>
              <a:t>. It holds the policy and the credentials, decides every outbound connection, inspects requests, and keeps its own session open to the gateway. Sandbox. The isolated environment for the agent, with a small sandbox runtime inside it that launches processes and reports their network attempts. Substrates: Docker, Podman, Kubernetes, or a </a:t>
            </a:r>
            <a:r>
              <a:rPr b="1"/>
              <a:t>libkrun microVM</a:t>
            </a:r>
            <a:r>
              <a:t>. </a:t>
            </a:r>
            <a:r>
              <a:rPr b="1"/>
              <a:t>The substrate isolates</a:t>
            </a:r>
            <a:r>
              <a:t>. OpenShell adds the agent-specific control.</a:t>
            </a:r>
          </a:p>
          <a:p>
            <a:endParaRPr dirty="0"/>
          </a:p>
          <a:p>
            <a:r>
              <a:rPr dirty="0"/>
              <a:t>Kubernetes relies on its network plugin to enforce the egress fence; the </a:t>
            </a:r>
            <a:r>
              <a:rPr dirty="0" err="1"/>
              <a:t>microVM</a:t>
            </a:r>
            <a:r>
              <a:rPr dirty="0"/>
              <a:t> driver is experimental. Figure: the OpenShell guide's Figure 1, rendered in the deck's figure style (slides/figures/</a:t>
            </a:r>
            <a:r>
              <a:rPr dirty="0" err="1"/>
              <a:t>openshell</a:t>
            </a:r>
            <a:r>
              <a:rPr dirty="0"/>
              <a:t>/</a:t>
            </a:r>
            <a:r>
              <a:rPr dirty="0" err="1"/>
              <a:t>architecture.png</a:t>
            </a:r>
            <a:r>
              <a:rPr dirty="0"/>
              <a:t>).</a:t>
            </a:r>
          </a:p>
          <a:p>
            <a:endParaRPr dirty="0"/>
          </a:p>
          <a:p>
            <a:r>
              <a:rPr b="1"/>
              <a:t>OpenClaw's Gateway</a:t>
            </a:r>
            <a:r>
              <a:t> (the removed slide 243 (“OpenClaw runs its agent behind a Gateway.”)) and OpenShell's Gateway are </a:t>
            </a:r>
            <a:r>
              <a:rPr b="1"/>
              <a:t>different programs</a:t>
            </a:r>
            <a:r>
              <a:t>: the first runs one agent and its tools, the second manages many sandboxes.</a:t>
            </a:r>
          </a:p>
          <a:p>
            <a:endParaRPr dirty="0"/>
          </a:p>
          <a:p>
            <a:r>
              <a:rPr dirty="0"/>
              <a:t>The figure, stage by stage.</a:t>
            </a:r>
          </a:p>
          <a:p>
            <a:r>
              <a:t>1. Gateway. The gateway is the control plane for many sandboxes and has two jobs, </a:t>
            </a:r>
            <a:r>
              <a:rPr b="1"/>
              <a:t>identity and records</a:t>
            </a:r>
            <a:r>
              <a:t> (who may act, sandbox lifecycle) and configuration (policies, credentials, validating changes). The client (CLI, TUI, SDK) reaches it with management requests.</a:t>
            </a:r>
          </a:p>
          <a:p>
            <a:r>
              <a:rPr dirty="0"/>
              <a:t>2. Supervisor. The supervisor runs outside the sandbox, holds policy and credentials, decides every outbound connection, inspects requests, keeps its own session open to the gateway, and is the only party that opens permitted traffic to the approved external service.</a:t>
            </a:r>
          </a:p>
          <a:p>
            <a:r>
              <a:t>3. Sandbox. The sandbox is the isolated environment for the agent, and its sandbox runtime launches processes and reports their network attempts over the authenticated runtime channel, which is the </a:t>
            </a:r>
            <a:r>
              <a:rPr b="1"/>
              <a:t>only way out</a:t>
            </a:r>
            <a:r>
              <a:t>.</a:t>
            </a:r>
          </a:p>
          <a:p>
            <a:r>
              <a:t>4. Substrates. Docker, Podman, Kubernetes or a </a:t>
            </a:r>
            <a:r>
              <a:rPr b="1"/>
              <a:t>libkrun microVM</a:t>
            </a:r>
            <a:r>
              <a:t> isolate (one per gateway) while OpenShell adds the agent-specific control. The dashed line is the </a:t>
            </a:r>
            <a:r>
              <a:rPr b="1"/>
              <a:t>trust boundary</a:t>
            </a:r>
            <a:r>
              <a:t> with everything inside it untrusted.</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a:t>
            </a:r>
            <a:r>
              <a:rPr b="1"/>
              <a:t>four layers</a:t>
            </a:r>
            <a:r>
              <a:t> are the current documentation's own list (docs/about/overview.mdx). Inference is a provider like any other: the agent calls the model vendor's native endpoint, and the credential and network layers decide whether the call leaves. The earlier managed inference route, </a:t>
            </a:r>
            <a:r>
              <a:rPr b="1"/>
              <a:t>inference.local</a:t>
            </a:r>
            <a:r>
              <a:t>, was </a:t>
            </a:r>
            <a:r>
              <a:rPr b="1"/>
              <a:t>removed in release 0.1.0</a:t>
            </a:r>
            <a:r>
              <a:t>. </a:t>
            </a:r>
            <a:r>
              <a:rPr b="1"/>
              <a:t>Landlock</a:t>
            </a:r>
            <a:r>
              <a:t> lets a process restrict its own and its children's file access; </a:t>
            </a:r>
            <a:r>
              <a:rPr b="1"/>
              <a:t>seccomp</a:t>
            </a:r>
            <a:r>
              <a:t> filters system calls. Both hold regardless of what the agent's code does.</a:t>
            </a:r>
          </a:p>
          <a:p>
            <a:endParaRPr dirty="0"/>
          </a:p>
          <a:p>
            <a:r>
              <a:rPr dirty="0"/>
              <a:t>Table cells in full:</a:t>
            </a:r>
          </a:p>
          <a:p>
            <a:r>
              <a:t>Filesystem | Which paths the agent may read or write | </a:t>
            </a:r>
            <a:r>
              <a:rPr b="1"/>
              <a:t>Landlock</a:t>
            </a:r>
            <a:r>
              <a:t>, a Linux security module the kernel enforces on the process and its children | No. Locked at creation.</a:t>
            </a:r>
          </a:p>
          <a:p>
            <a:r>
              <a:t>Process | Which user the agent runs as, which system calls and privileges it has | An unprivileged identity, no capabilities, and </a:t>
            </a:r>
            <a:r>
              <a:rPr b="1"/>
              <a:t>seccomp</a:t>
            </a:r>
            <a:r>
              <a:t> filters | No. Locked at creation.</a:t>
            </a:r>
          </a:p>
          <a:p>
            <a:r>
              <a:t>Network | Which programs may reach which endpoints, methods and URL paths | The sandbox runtime pauses every connection with </a:t>
            </a:r>
            <a:r>
              <a:rPr b="1"/>
              <a:t>seccomp</a:t>
            </a:r>
            <a:r>
              <a:t>, and the supervisor decides it outside the sandbox. </a:t>
            </a:r>
            <a:r>
              <a:rPr b="1"/>
              <a:t>Deny by default</a:t>
            </a:r>
            <a:r>
              <a:t>. | Yes. </a:t>
            </a:r>
            <a:r>
              <a:rPr b="1"/>
              <a:t>openshell policy update</a:t>
            </a:r>
            <a:r>
              <a:t> adds a rule to a running sandbox.</a:t>
            </a:r>
          </a:p>
          <a:p>
            <a:r>
              <a:t>Provider credentials | Which secrets a request may carry, and to which endpoints | </a:t>
            </a:r>
            <a:r>
              <a:rPr b="1"/>
              <a:t>Opaque placeholders</a:t>
            </a:r>
            <a:r>
              <a:t> inside the sandbox, resolved by the supervisor only at profile-authorized endpoints | Yes. Updates apply at run time. </a:t>
            </a:r>
            <a:r>
              <a:rPr b="1"/>
              <a:t>A new variable needs a new process</a:t>
            </a:r>
            <a:r>
              <a:t>.</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a:t>
            </a:r>
            <a:r>
              <a:rPr b="1"/>
              <a:t>four layers</a:t>
            </a:r>
            <a:r>
              <a:t> are the current documentation's own list (docs/about/overview.mdx). Inference is a provider like any other: the agent calls the model vendor's native endpoint, and the credential and network layers decide whether the call leaves. The earlier managed inference route, </a:t>
            </a:r>
            <a:r>
              <a:rPr b="1"/>
              <a:t>inference.local</a:t>
            </a:r>
            <a:r>
              <a:t>, was </a:t>
            </a:r>
            <a:r>
              <a:rPr b="1"/>
              <a:t>removed in release 0.1.0</a:t>
            </a:r>
            <a:r>
              <a:t>. </a:t>
            </a:r>
            <a:r>
              <a:rPr b="1"/>
              <a:t>Landlock</a:t>
            </a:r>
            <a:r>
              <a:t> lets a process restrict its own and its children's file access; </a:t>
            </a:r>
            <a:r>
              <a:rPr b="1"/>
              <a:t>seccomp</a:t>
            </a:r>
            <a:r>
              <a:t> filters system calls. Both hold regardless of what the agent's code does.</a:t>
            </a:r>
          </a:p>
          <a:p>
            <a:endParaRPr dirty="0"/>
          </a:p>
          <a:p>
            <a:r>
              <a:rPr dirty="0"/>
              <a:t>Table cells in full:</a:t>
            </a:r>
          </a:p>
          <a:p>
            <a:r>
              <a:t>Filesystem | Which paths the agent may read or write | </a:t>
            </a:r>
            <a:r>
              <a:rPr b="1"/>
              <a:t>Landlock</a:t>
            </a:r>
            <a:r>
              <a:t>, a Linux security module the kernel enforces on the process and its children | No. Locked at creation.</a:t>
            </a:r>
          </a:p>
          <a:p>
            <a:r>
              <a:t>Process | Which user the agent runs as, which system calls and privileges it has | An unprivileged identity, no capabilities, and </a:t>
            </a:r>
            <a:r>
              <a:rPr b="1"/>
              <a:t>seccomp</a:t>
            </a:r>
            <a:r>
              <a:t> filters | No. Locked at creation.</a:t>
            </a:r>
          </a:p>
          <a:p>
            <a:r>
              <a:t>Network | Which programs may reach which endpoints, methods and URL paths | The sandbox runtime pauses every connection with </a:t>
            </a:r>
            <a:r>
              <a:rPr b="1"/>
              <a:t>seccomp</a:t>
            </a:r>
            <a:r>
              <a:t>, and the supervisor decides it outside the sandbox. </a:t>
            </a:r>
            <a:r>
              <a:rPr b="1"/>
              <a:t>Deny by default</a:t>
            </a:r>
            <a:r>
              <a:t>. | Yes. </a:t>
            </a:r>
            <a:r>
              <a:rPr b="1"/>
              <a:t>openshell policy update</a:t>
            </a:r>
            <a:r>
              <a:t> adds a rule to a running sandbox.</a:t>
            </a:r>
          </a:p>
          <a:p>
            <a:r>
              <a:t>Provider credentials | Which secrets a request may carry, and to which endpoints | </a:t>
            </a:r>
            <a:r>
              <a:rPr b="1"/>
              <a:t>Opaque placeholders</a:t>
            </a:r>
            <a:r>
              <a:t> inside the sandbox, resolved by the supervisor only at profile-authorized endpoints | Yes. Updates apply at run time. </a:t>
            </a:r>
            <a:r>
              <a:rPr b="1"/>
              <a:t>A new variable needs a new process</a:t>
            </a:r>
            <a:r>
              <a:t>.</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a:t>
            </a:r>
            <a:r>
              <a:rPr b="1"/>
              <a:t>four layers</a:t>
            </a:r>
            <a:r>
              <a:t> are the current documentation's own list (docs/about/overview.mdx). Inference is a provider like any other: the agent calls the model vendor's native endpoint, and the credential and network layers decide whether the call leaves. The earlier managed inference route, </a:t>
            </a:r>
            <a:r>
              <a:rPr b="1"/>
              <a:t>inference.local</a:t>
            </a:r>
            <a:r>
              <a:t>, was </a:t>
            </a:r>
            <a:r>
              <a:rPr b="1"/>
              <a:t>removed in release 0.1.0</a:t>
            </a:r>
            <a:r>
              <a:t>. </a:t>
            </a:r>
            <a:r>
              <a:rPr b="1"/>
              <a:t>Landlock</a:t>
            </a:r>
            <a:r>
              <a:t> lets a process restrict its own and its children's file access; </a:t>
            </a:r>
            <a:r>
              <a:rPr b="1"/>
              <a:t>seccomp</a:t>
            </a:r>
            <a:r>
              <a:t> filters system calls. Both hold regardless of what the agent's code does.</a:t>
            </a:r>
          </a:p>
          <a:p>
            <a:endParaRPr dirty="0"/>
          </a:p>
          <a:p>
            <a:r>
              <a:rPr dirty="0"/>
              <a:t>Table cells in full:</a:t>
            </a:r>
          </a:p>
          <a:p>
            <a:r>
              <a:t>Filesystem | Which paths the agent may read or write | </a:t>
            </a:r>
            <a:r>
              <a:rPr b="1"/>
              <a:t>Landlock</a:t>
            </a:r>
            <a:r>
              <a:t>, a Linux security module the kernel enforces on the process and its children | No. Locked at creation.</a:t>
            </a:r>
          </a:p>
          <a:p>
            <a:r>
              <a:t>Process | Which user the agent runs as, which system calls and privileges it has | An unprivileged identity, no capabilities, and </a:t>
            </a:r>
            <a:r>
              <a:rPr b="1"/>
              <a:t>seccomp</a:t>
            </a:r>
            <a:r>
              <a:t> filters | No. Locked at creation.</a:t>
            </a:r>
          </a:p>
          <a:p>
            <a:r>
              <a:t>Network | Which programs may reach which endpoints, methods and URL paths | The sandbox runtime pauses every connection with </a:t>
            </a:r>
            <a:r>
              <a:rPr b="1"/>
              <a:t>seccomp</a:t>
            </a:r>
            <a:r>
              <a:t>, and the supervisor decides it outside the sandbox. </a:t>
            </a:r>
            <a:r>
              <a:rPr b="1"/>
              <a:t>Deny by default</a:t>
            </a:r>
            <a:r>
              <a:t>. | Yes. </a:t>
            </a:r>
            <a:r>
              <a:rPr b="1"/>
              <a:t>openshell policy update</a:t>
            </a:r>
            <a:r>
              <a:t> adds a rule to a running sandbox.</a:t>
            </a:r>
          </a:p>
          <a:p>
            <a:r>
              <a:t>Provider credentials | Which secrets a request may carry, and to which endpoints | </a:t>
            </a:r>
            <a:r>
              <a:rPr b="1"/>
              <a:t>Opaque placeholders</a:t>
            </a:r>
            <a:r>
              <a:t> inside the sandbox, resolved by the supervisor only at profile-authorized endpoints | Yes. Updates apply at run time. </a:t>
            </a:r>
            <a:r>
              <a:rPr b="1"/>
              <a:t>A new variable needs a new process</a:t>
            </a:r>
            <a:r>
              <a:t>.</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a:t>
            </a:r>
            <a:r>
              <a:rPr b="1"/>
              <a:t>four layers</a:t>
            </a:r>
            <a:r>
              <a:t> are the current documentation's own list (docs/about/overview.mdx). Inference is a provider like any other: the agent calls the model vendor's native endpoint, and the credential and network layers decide whether the call leaves. The earlier managed inference route, </a:t>
            </a:r>
            <a:r>
              <a:rPr b="1"/>
              <a:t>inference.local</a:t>
            </a:r>
            <a:r>
              <a:t>, was </a:t>
            </a:r>
            <a:r>
              <a:rPr b="1"/>
              <a:t>removed in release 0.1.0</a:t>
            </a:r>
            <a:r>
              <a:t>. </a:t>
            </a:r>
            <a:r>
              <a:rPr b="1"/>
              <a:t>Landlock</a:t>
            </a:r>
            <a:r>
              <a:t> lets a process restrict its own and its children's file access; </a:t>
            </a:r>
            <a:r>
              <a:rPr b="1"/>
              <a:t>seccomp</a:t>
            </a:r>
            <a:r>
              <a:t> filters system calls. Both hold regardless of what the agent's code does.</a:t>
            </a:r>
          </a:p>
          <a:p>
            <a:endParaRPr dirty="0"/>
          </a:p>
          <a:p>
            <a:r>
              <a:rPr dirty="0"/>
              <a:t>Table cells in full:</a:t>
            </a:r>
          </a:p>
          <a:p>
            <a:r>
              <a:t>Filesystem | Which paths the agent may read or write | </a:t>
            </a:r>
            <a:r>
              <a:rPr b="1"/>
              <a:t>Landlock</a:t>
            </a:r>
            <a:r>
              <a:t>, a Linux security module the kernel enforces on the process and its children | No. Locked at creation.</a:t>
            </a:r>
          </a:p>
          <a:p>
            <a:r>
              <a:t>Process | Which user the agent runs as, which system calls and privileges it has | An unprivileged identity, no capabilities, and </a:t>
            </a:r>
            <a:r>
              <a:rPr b="1"/>
              <a:t>seccomp</a:t>
            </a:r>
            <a:r>
              <a:t> filters | No. Locked at creation.</a:t>
            </a:r>
          </a:p>
          <a:p>
            <a:r>
              <a:t>Network | Which programs may reach which endpoints, methods and URL paths | The sandbox runtime pauses every connection with </a:t>
            </a:r>
            <a:r>
              <a:rPr b="1"/>
              <a:t>seccomp</a:t>
            </a:r>
            <a:r>
              <a:t>, and the supervisor decides it outside the sandbox. </a:t>
            </a:r>
            <a:r>
              <a:rPr b="1"/>
              <a:t>Deny by default</a:t>
            </a:r>
            <a:r>
              <a:t>. | Yes. </a:t>
            </a:r>
            <a:r>
              <a:rPr b="1"/>
              <a:t>openshell policy update</a:t>
            </a:r>
            <a:r>
              <a:t> adds a rule to a running sandbox.</a:t>
            </a:r>
          </a:p>
          <a:p>
            <a:r>
              <a:t>Provider credentials | Which secrets a request may carry, and to which endpoints | </a:t>
            </a:r>
            <a:r>
              <a:rPr b="1"/>
              <a:t>Opaque placeholders</a:t>
            </a:r>
            <a:r>
              <a:t> inside the sandbox, resolved by the supervisor only at profile-authorized endpoints | Yes. Updates apply at run time. </a:t>
            </a:r>
            <a:r>
              <a:rPr b="1"/>
              <a:t>A new variable needs a new process</a:t>
            </a:r>
            <a:r>
              <a:t>.</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a:t>
            </a:r>
            <a:r>
              <a:rPr b="1"/>
              <a:t>four layers</a:t>
            </a:r>
            <a:r>
              <a:t> are the current documentation's own list (docs/about/overview.mdx). Inference is a provider like any other: the agent calls the model vendor's native endpoint, and the credential and network layers decide whether the call leaves. The earlier managed inference route, </a:t>
            </a:r>
            <a:r>
              <a:rPr b="1"/>
              <a:t>inference.local</a:t>
            </a:r>
            <a:r>
              <a:t>, was </a:t>
            </a:r>
            <a:r>
              <a:rPr b="1"/>
              <a:t>removed in release 0.1.0</a:t>
            </a:r>
            <a:r>
              <a:t>. </a:t>
            </a:r>
            <a:r>
              <a:rPr b="1"/>
              <a:t>Landlock</a:t>
            </a:r>
            <a:r>
              <a:t> lets a process restrict its own and its children's file access; </a:t>
            </a:r>
            <a:r>
              <a:rPr b="1"/>
              <a:t>seccomp</a:t>
            </a:r>
            <a:r>
              <a:t> filters system calls. Both hold regardless of what the agent's code does.</a:t>
            </a:r>
          </a:p>
          <a:p>
            <a:endParaRPr dirty="0"/>
          </a:p>
          <a:p>
            <a:r>
              <a:rPr dirty="0"/>
              <a:t>Table cells in full:</a:t>
            </a:r>
          </a:p>
          <a:p>
            <a:r>
              <a:t>Filesystem | Which paths the agent may read or write | </a:t>
            </a:r>
            <a:r>
              <a:rPr b="1"/>
              <a:t>Landlock</a:t>
            </a:r>
            <a:r>
              <a:t>, a Linux security module the kernel enforces on the process and its children | No. Locked at creation.</a:t>
            </a:r>
          </a:p>
          <a:p>
            <a:r>
              <a:t>Process | Which user the agent runs as, which system calls and privileges it has | An unprivileged identity, no capabilities, and </a:t>
            </a:r>
            <a:r>
              <a:rPr b="1"/>
              <a:t>seccomp</a:t>
            </a:r>
            <a:r>
              <a:t> filters | No. Locked at creation.</a:t>
            </a:r>
          </a:p>
          <a:p>
            <a:r>
              <a:t>Network | Which programs may reach which endpoints, methods and URL paths | The sandbox runtime pauses every connection with </a:t>
            </a:r>
            <a:r>
              <a:rPr b="1"/>
              <a:t>seccomp</a:t>
            </a:r>
            <a:r>
              <a:t>, and the supervisor decides it outside the sandbox. </a:t>
            </a:r>
            <a:r>
              <a:rPr b="1"/>
              <a:t>Deny by default</a:t>
            </a:r>
            <a:r>
              <a:t>. | Yes. </a:t>
            </a:r>
            <a:r>
              <a:rPr b="1"/>
              <a:t>openshell policy update</a:t>
            </a:r>
            <a:r>
              <a:t> adds a rule to a running sandbox.</a:t>
            </a:r>
          </a:p>
          <a:p>
            <a:r>
              <a:t>Provider credentials | Which secrets a request may carry, and to which endpoints | </a:t>
            </a:r>
            <a:r>
              <a:rPr b="1"/>
              <a:t>Opaque placeholders</a:t>
            </a:r>
            <a:r>
              <a:t> inside the sandbox, resolved by the supervisor only at profile-authorized endpoints | Yes. Updates apply at run time. </a:t>
            </a:r>
            <a:r>
              <a:rPr b="1"/>
              <a:t>A new variable needs a new process</a:t>
            </a:r>
            <a:r>
              <a:t>.</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t>; docs/how-it-works/providers/profiles.mdx calls it an </a:t>
            </a:r>
            <a:r>
              <a:rPr b="1"/>
              <a:t>opaque workload placeholder</a:t>
            </a:r>
            <a:r>
              <a:t>. The </a:t>
            </a:r>
            <a:r>
              <a:rPr b="1"/>
              <a:t>credential's authority remains</a:t>
            </a:r>
            <a:r>
              <a:t>: an agent can still make any allowed request with it, so </a:t>
            </a:r>
            <a:r>
              <a:rPr b="1"/>
              <a:t>narrow endpoint rules</a:t>
            </a:r>
            <a:r>
              <a:t> and narrow upstream permissions are still needed. Figure: the guide's Figure 7.</a:t>
            </a:r>
          </a:p>
          <a:p>
            <a:endParaRPr/>
          </a:p>
          <a:p>
            <a:r>
              <a:t>The figure uses </a:t>
            </a:r>
            <a:r>
              <a:rPr b="1"/>
              <a:t>GITHUB_TOKEN</a:t>
            </a:r>
            <a:r>
              <a:t> as its example, and its 'opaque reference' is the placeholder of bullet 2.</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window shows examples/</a:t>
            </a:r>
            <a:r>
              <a:rPr b="1"/>
              <a:t>sandbox-policy-quickstart/policy.yaml</a:t>
            </a:r>
            <a:r>
              <a:t> from the repository. Checked at </a:t>
            </a:r>
            <a:r>
              <a:rPr b="1"/>
              <a:t>be7af99</a:t>
            </a:r>
            <a:r>
              <a:t>: a </a:t>
            </a:r>
            <a:r>
              <a:rPr b="1"/>
              <a:t>missing enforcement maps to audit</a:t>
            </a:r>
            <a:r>
              <a:t>, and the read-only preset is </a:t>
            </a:r>
            <a:r>
              <a:rPr b="1"/>
              <a:t>GET, HEAD and OPTIONS</a:t>
            </a:r>
            <a:r>
              <a:t>.</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window shows examples/</a:t>
            </a:r>
            <a:r>
              <a:rPr b="1"/>
              <a:t>sandbox-policy-quickstart/policy.yaml</a:t>
            </a:r>
            <a:r>
              <a:t> from the repository. Checked at </a:t>
            </a:r>
            <a:r>
              <a:rPr b="1"/>
              <a:t>be7af99</a:t>
            </a:r>
            <a:r>
              <a:t>: a </a:t>
            </a:r>
            <a:r>
              <a:rPr b="1"/>
              <a:t>missing enforcement maps to audit</a:t>
            </a:r>
            <a:r>
              <a:t>, and the read-only preset is </a:t>
            </a:r>
            <a:r>
              <a:rPr b="1"/>
              <a:t>GET, HEAD and OPTIONS</a:t>
            </a:r>
            <a:r>
              <a:t>.</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window shows examples/</a:t>
            </a:r>
            <a:r>
              <a:rPr b="1"/>
              <a:t>sandbox-policy-quickstart/policy.yaml</a:t>
            </a:r>
            <a:r>
              <a:t> from the repository. Checked at </a:t>
            </a:r>
            <a:r>
              <a:rPr b="1"/>
              <a:t>be7af99</a:t>
            </a:r>
            <a:r>
              <a:t>: a </a:t>
            </a:r>
            <a:r>
              <a:rPr b="1"/>
              <a:t>missing enforcement maps to audit</a:t>
            </a:r>
            <a:r>
              <a:t>, and the read-only preset is </a:t>
            </a:r>
            <a:r>
              <a:rPr b="1"/>
              <a:t>GET, HEAD and OPTIONS</a:t>
            </a:r>
            <a:r>
              <a:t>.</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window shows examples/</a:t>
            </a:r>
            <a:r>
              <a:rPr b="1"/>
              <a:t>sandbox-policy-quickstart/policy.yaml</a:t>
            </a:r>
            <a:r>
              <a:t> from the repository. Checked at </a:t>
            </a:r>
            <a:r>
              <a:rPr b="1"/>
              <a:t>be7af99</a:t>
            </a:r>
            <a:r>
              <a:t>: a </a:t>
            </a:r>
            <a:r>
              <a:rPr b="1"/>
              <a:t>missing enforcement maps to audit</a:t>
            </a:r>
            <a:r>
              <a:t>, and the read-only preset is </a:t>
            </a:r>
            <a:r>
              <a:rPr b="1"/>
              <a:t>GET, HEAD and OPTIONS</a:t>
            </a:r>
            <a:r>
              <a:t>.</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12</a:t>
            </a:r>
            <a:r>
              <a:t> (policy proposals and </a:t>
            </a:r>
            <a:r>
              <a:rPr b="1"/>
              <a:t>bounded verification</a:t>
            </a:r>
            <a:r>
              <a:t>) covers the flow from a denial to a proposal and the prover. The </a:t>
            </a:r>
            <a:r>
              <a:rPr b="1"/>
              <a:t>policy advisor is off by default</a:t>
            </a:r>
            <a:r>
              <a:t> and </a:t>
            </a:r>
            <a:r>
              <a:rPr b="1"/>
              <a:t>every proposal waits for review</a:t>
            </a:r>
            <a:r>
              <a:t> unless automatic approval is on (docs/how-it-works/policies/advisor.mdx). The prover has been in the repository since </a:t>
            </a:r>
            <a:r>
              <a:rPr b="1"/>
              <a:t>April 2026</a:t>
            </a:r>
            <a:r>
              <a:t>; release 0.1.0 added the </a:t>
            </a:r>
            <a:r>
              <a:rPr b="1"/>
              <a:t>standalone boundary check</a:t>
            </a:r>
            <a:r>
              <a:t>.</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12</a:t>
            </a:r>
            <a:r>
              <a:t> (policy proposals and </a:t>
            </a:r>
            <a:r>
              <a:rPr b="1"/>
              <a:t>bounded verification</a:t>
            </a:r>
            <a:r>
              <a:t>) covers the flow from a denial to a proposal and the prover. The </a:t>
            </a:r>
            <a:r>
              <a:rPr b="1"/>
              <a:t>policy advisor is off by default</a:t>
            </a:r>
            <a:r>
              <a:t> and </a:t>
            </a:r>
            <a:r>
              <a:rPr b="1"/>
              <a:t>every proposal waits for review</a:t>
            </a:r>
            <a:r>
              <a:t> unless automatic approval is on (docs/how-it-works/policies/advisor.mdx). The prover has been in the repository since </a:t>
            </a:r>
            <a:r>
              <a:rPr b="1"/>
              <a:t>April 2026</a:t>
            </a:r>
            <a:r>
              <a:t>; release 0.1.0 added the </a:t>
            </a:r>
            <a:r>
              <a:rPr b="1"/>
              <a:t>standalone boundary check</a:t>
            </a:r>
            <a:r>
              <a:t>.</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12</a:t>
            </a:r>
            <a:r>
              <a:t> (policy proposals and </a:t>
            </a:r>
            <a:r>
              <a:rPr b="1"/>
              <a:t>bounded verification</a:t>
            </a:r>
            <a:r>
              <a:t>) covers the flow from a denial to a proposal and the prover. The </a:t>
            </a:r>
            <a:r>
              <a:rPr b="1"/>
              <a:t>policy advisor is off by default</a:t>
            </a:r>
            <a:r>
              <a:t> and </a:t>
            </a:r>
            <a:r>
              <a:rPr b="1"/>
              <a:t>every proposal waits for review</a:t>
            </a:r>
            <a:r>
              <a:t> unless automatic approval is on (docs/how-it-works/policies/advisor.mdx). The prover has been in the repository since </a:t>
            </a:r>
            <a:r>
              <a:rPr b="1"/>
              <a:t>April 2026</a:t>
            </a:r>
            <a:r>
              <a:t>; release 0.1.0 added the </a:t>
            </a:r>
            <a:r>
              <a:rPr b="1"/>
              <a:t>standalone boundary check</a:t>
            </a:r>
            <a:r>
              <a:t>.</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Source: the </a:t>
            </a:r>
            <a:r>
              <a:rPr b="1"/>
              <a:t>Open Agent Safety Platform</a:t>
            </a:r>
            <a:r>
              <a:t> announcement and its </a:t>
            </a:r>
            <a:r>
              <a:rPr b="1"/>
              <a:t>press coverage</a:t>
            </a:r>
            <a:r>
              <a:t> (</a:t>
            </a:r>
            <a:r>
              <a:rPr b="1"/>
              <a:t>September 28, 2026</a:t>
            </a:r>
            <a:r>
              <a:t>).</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Source: the </a:t>
            </a:r>
            <a:r>
              <a:rPr b="1"/>
              <a:t>Open Agent Safety Platform</a:t>
            </a:r>
            <a:r>
              <a:t> announcement and its </a:t>
            </a:r>
            <a:r>
              <a:rPr b="1"/>
              <a:t>press coverage</a:t>
            </a:r>
            <a:r>
              <a:t> (</a:t>
            </a:r>
            <a:r>
              <a:rPr b="1"/>
              <a:t>September 28, 2026</a:t>
            </a:r>
            <a:r>
              <a:t>).</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Source: the </a:t>
            </a:r>
            <a:r>
              <a:rPr b="1"/>
              <a:t>Open Agent Safety Platform</a:t>
            </a:r>
            <a:r>
              <a:t> announcement and its </a:t>
            </a:r>
            <a:r>
              <a:rPr b="1"/>
              <a:t>press coverage</a:t>
            </a:r>
            <a:r>
              <a:t> (</a:t>
            </a:r>
            <a:r>
              <a:rPr b="1"/>
              <a:t>September 28, 2026</a:t>
            </a:r>
            <a:r>
              <a:t>).</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Source: the </a:t>
            </a:r>
            <a:r>
              <a:rPr b="1"/>
              <a:t>Open Agent Safety Platform</a:t>
            </a:r>
            <a:r>
              <a:t> announcement and its </a:t>
            </a:r>
            <a:r>
              <a:rPr b="1"/>
              <a:t>press coverage</a:t>
            </a:r>
            <a:r>
              <a:t> (</a:t>
            </a:r>
            <a:r>
              <a:rPr b="1"/>
              <a:t>September 28, 2026</a:t>
            </a:r>
            <a:r>
              <a:t>).</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Scope limits from </a:t>
            </a:r>
            <a:r>
              <a:rPr b="1"/>
              <a:t>Tigera's analysis</a:t>
            </a:r>
            <a:r>
              <a:t> (2026), whose framing is that OpenShell answers "</a:t>
            </a:r>
            <a:r>
              <a:rPr b="1"/>
              <a:t>what can this agent do on this box</a:t>
            </a:r>
            <a:r>
              <a:t>" and leaves </a:t>
            </a:r>
            <a:r>
              <a:rPr b="1"/>
              <a:t>fleet-wide identity</a:t>
            </a:r>
            <a:r>
              <a:t> to other systems; the </a:t>
            </a:r>
            <a:r>
              <a:rPr b="1"/>
              <a:t>graduated-enforcement critique</a:t>
            </a:r>
            <a:r>
              <a:t> is </a:t>
            </a:r>
            <a:r>
              <a:rPr b="1"/>
              <a:t>AgentKernel's</a:t>
            </a:r>
            <a:r>
              <a:t> (slide 147; section 6.1.4 of the paper), which criticizes sandboxes in general and </a:t>
            </a:r>
            <a:r>
              <a:rPr b="1"/>
              <a:t>does not name OpenShell</a:t>
            </a:r>
            <a:r>
              <a:t>. OpenShell does identify the calling program by the path of its executable and a </a:t>
            </a:r>
            <a:r>
              <a:rPr b="1"/>
              <a:t>recorded hash</a:t>
            </a:r>
            <a:r>
              <a:t>, which is </a:t>
            </a:r>
            <a:r>
              <a:rPr b="1"/>
              <a:t>identity of a process rather than of an agent</a:t>
            </a:r>
            <a:r>
              <a:t>.</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Scope limits from </a:t>
            </a:r>
            <a:r>
              <a:rPr b="1"/>
              <a:t>Tigera's analysis</a:t>
            </a:r>
            <a:r>
              <a:t> (2026), whose framing is that OpenShell answers "</a:t>
            </a:r>
            <a:r>
              <a:rPr b="1"/>
              <a:t>what can this agent do on this box</a:t>
            </a:r>
            <a:r>
              <a:t>" and leaves </a:t>
            </a:r>
            <a:r>
              <a:rPr b="1"/>
              <a:t>fleet-wide identity</a:t>
            </a:r>
            <a:r>
              <a:t> to other systems; the </a:t>
            </a:r>
            <a:r>
              <a:rPr b="1"/>
              <a:t>graduated-enforcement critique</a:t>
            </a:r>
            <a:r>
              <a:t> is </a:t>
            </a:r>
            <a:r>
              <a:rPr b="1"/>
              <a:t>AgentKernel's</a:t>
            </a:r>
            <a:r>
              <a:t> (slide 147; section 6.1.4 of the paper), which criticizes sandboxes in general and </a:t>
            </a:r>
            <a:r>
              <a:rPr b="1"/>
              <a:t>does not name OpenShell</a:t>
            </a:r>
            <a:r>
              <a:t>. OpenShell does identify the calling program by the path of its executable and a </a:t>
            </a:r>
            <a:r>
              <a:rPr b="1"/>
              <a:t>recorded hash</a:t>
            </a:r>
            <a:r>
              <a:t>, which is </a:t>
            </a:r>
            <a:r>
              <a:rPr b="1"/>
              <a:t>identity of a process rather than of an agent</a:t>
            </a:r>
            <a:r>
              <a:t>.</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Scope limits from </a:t>
            </a:r>
            <a:r>
              <a:rPr b="1"/>
              <a:t>Tigera's analysis</a:t>
            </a:r>
            <a:r>
              <a:t> (2026), whose framing is that OpenShell answers "</a:t>
            </a:r>
            <a:r>
              <a:rPr b="1"/>
              <a:t>what can this agent do on this box</a:t>
            </a:r>
            <a:r>
              <a:t>" and leaves </a:t>
            </a:r>
            <a:r>
              <a:rPr b="1"/>
              <a:t>fleet-wide identity</a:t>
            </a:r>
            <a:r>
              <a:t> to other systems; the </a:t>
            </a:r>
            <a:r>
              <a:rPr b="1"/>
              <a:t>graduated-enforcement critique</a:t>
            </a:r>
            <a:r>
              <a:t> is </a:t>
            </a:r>
            <a:r>
              <a:rPr b="1"/>
              <a:t>AgentKernel's</a:t>
            </a:r>
            <a:r>
              <a:t> (slide 147; section 6.1.4 of the paper), which criticizes sandboxes in general and </a:t>
            </a:r>
            <a:r>
              <a:rPr b="1"/>
              <a:t>does not name OpenShell</a:t>
            </a:r>
            <a:r>
              <a:t>. OpenShell does identify the calling program by the path of its executable and a </a:t>
            </a:r>
            <a:r>
              <a:rPr b="1"/>
              <a:t>recorded hash</a:t>
            </a:r>
            <a:r>
              <a:t>, which is </a:t>
            </a:r>
            <a:r>
              <a:rPr b="1"/>
              <a:t>identity of a process rather than of an agent</a:t>
            </a:r>
            <a:r>
              <a:t>.</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Scope limits from </a:t>
            </a:r>
            <a:r>
              <a:rPr b="1"/>
              <a:t>Tigera's analysis</a:t>
            </a:r>
            <a:r>
              <a:t> (2026), whose framing is that OpenShell answers "</a:t>
            </a:r>
            <a:r>
              <a:rPr b="1"/>
              <a:t>what can this agent do on this box</a:t>
            </a:r>
            <a:r>
              <a:t>" and leaves </a:t>
            </a:r>
            <a:r>
              <a:rPr b="1"/>
              <a:t>fleet-wide identity</a:t>
            </a:r>
            <a:r>
              <a:t> to other systems; the </a:t>
            </a:r>
            <a:r>
              <a:rPr b="1"/>
              <a:t>graduated-enforcement critique</a:t>
            </a:r>
            <a:r>
              <a:t> is </a:t>
            </a:r>
            <a:r>
              <a:rPr b="1"/>
              <a:t>AgentKernel's</a:t>
            </a:r>
            <a:r>
              <a:t> (slide 147; section 6.1.4 of the paper), which criticizes sandboxes in general and </a:t>
            </a:r>
            <a:r>
              <a:rPr b="1"/>
              <a:t>does not name OpenShell</a:t>
            </a:r>
            <a:r>
              <a:t>. OpenShell does identify the calling program by the path of its executable and a </a:t>
            </a:r>
            <a:r>
              <a:rPr b="1"/>
              <a:t>recorded hash</a:t>
            </a:r>
            <a:r>
              <a:t>, which is </a:t>
            </a:r>
            <a:r>
              <a:rPr b="1"/>
              <a:t>identity of a process rather than of an agent</a:t>
            </a:r>
            <a:r>
              <a:t>.</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AML.T0110.001</a:t>
            </a:r>
            <a:r>
              <a:t> Implementation poisoning (Persistence): </a:t>
            </a:r>
            <a:r>
              <a:rPr b="1"/>
              <a:t>Lecture 4</a:t>
            </a:r>
            <a:r>
              <a:t>, the search glob</a:t>
            </a:r>
          </a:p>
          <a:p>
            <a:r>
              <a:t>AML.T0083 Credentials from configuration (Credential Access): </a:t>
            </a:r>
            <a:r>
              <a:rPr b="1"/>
              <a:t>Lecture 4</a:t>
            </a:r>
            <a:r>
              <a:t>, the dispatcher supplies the workspace root</a:t>
            </a:r>
          </a:p>
          <a:p>
            <a:r>
              <a:t>AML.T0086 Exfiltration via tool invocation (Exfiltration): </a:t>
            </a:r>
            <a:r>
              <a:rPr b="1"/>
              <a:t>Lecture 4</a:t>
            </a:r>
            <a:r>
              <a:t>, complete mediation</a:t>
            </a:r>
          </a:p>
          <a:p>
            <a:r>
              <a:rPr b="1"/>
              <a:t>AML.T0105 Escape to Host</a:t>
            </a:r>
            <a:r>
              <a:t> (Privilege Escalation): </a:t>
            </a:r>
            <a:r>
              <a:rPr b="1"/>
              <a:t>New this week</a:t>
            </a:r>
          </a:p>
          <a:p>
            <a:r>
              <a:rPr b="1"/>
              <a:t>AML.T0034.002</a:t>
            </a:r>
            <a:r>
              <a:t> Agentic resource consumption (Impact): Lecture 3, </a:t>
            </a:r>
            <a:r>
              <a:rPr b="1"/>
              <a:t>token budgets</a:t>
            </a:r>
          </a:p>
          <a:p>
            <a:endParaRPr/>
          </a:p>
          <a:p>
            <a:r>
              <a:rPr b="1"/>
              <a:t>Release 2026.09 maps no mitigation</a:t>
            </a:r>
            <a:r>
              <a:t> to AML.T0110 or any sub-technique, none to AML.T0109, and only </a:t>
            </a:r>
            <a:r>
              <a:rPr b="1"/>
              <a:t>M0035</a:t>
            </a:r>
            <a:r>
              <a:t> to AML.T0010.005. The mitigations whose descriptions fit, although the release does not map them: AML.T0110.000 M0020 and M0030; </a:t>
            </a:r>
            <a:r>
              <a:rPr b="1"/>
              <a:t>AML.T0110.001</a:t>
            </a:r>
            <a:r>
              <a:t> M0032; AML.T0110.002 M0033; AML.T0109 and AML.T0010.005 M0014 and M0016. </a:t>
            </a:r>
            <a:r>
              <a:rPr b="1"/>
              <a:t>"None mapped" means the release maps none</a:t>
            </a:r>
            <a:r>
              <a:t>.</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AML.T0110.001</a:t>
            </a:r>
            <a:r>
              <a:t> Implementation poisoning (Persistence): </a:t>
            </a:r>
            <a:r>
              <a:rPr b="1"/>
              <a:t>Lecture 4</a:t>
            </a:r>
            <a:r>
              <a:t>, the search glob</a:t>
            </a:r>
          </a:p>
          <a:p>
            <a:r>
              <a:t>AML.T0083 Credentials from configuration (Credential Access): </a:t>
            </a:r>
            <a:r>
              <a:rPr b="1"/>
              <a:t>Lecture 4</a:t>
            </a:r>
            <a:r>
              <a:t>, the dispatcher supplies the workspace root</a:t>
            </a:r>
          </a:p>
          <a:p>
            <a:r>
              <a:t>AML.T0086 Exfiltration via tool invocation (Exfiltration): </a:t>
            </a:r>
            <a:r>
              <a:rPr b="1"/>
              <a:t>Lecture 4</a:t>
            </a:r>
            <a:r>
              <a:t>, complete mediation</a:t>
            </a:r>
          </a:p>
          <a:p>
            <a:r>
              <a:rPr b="1"/>
              <a:t>AML.T0105 Escape to Host</a:t>
            </a:r>
            <a:r>
              <a:t> (Privilege Escalation): </a:t>
            </a:r>
            <a:r>
              <a:rPr b="1"/>
              <a:t>New this week</a:t>
            </a:r>
          </a:p>
          <a:p>
            <a:r>
              <a:rPr b="1"/>
              <a:t>AML.T0034.002</a:t>
            </a:r>
            <a:r>
              <a:t> Agentic resource consumption (Impact): Lecture 3, </a:t>
            </a:r>
            <a:r>
              <a:rPr b="1"/>
              <a:t>token budgets</a:t>
            </a:r>
          </a:p>
          <a:p>
            <a:endParaRPr/>
          </a:p>
          <a:p>
            <a:r>
              <a:rPr b="1"/>
              <a:t>Release 2026.09 maps no mitigation</a:t>
            </a:r>
            <a:r>
              <a:t> to AML.T0110 or any sub-technique, none to AML.T0109, and only </a:t>
            </a:r>
            <a:r>
              <a:rPr b="1"/>
              <a:t>M0035</a:t>
            </a:r>
            <a:r>
              <a:t> to AML.T0010.005. The mitigations whose descriptions fit, although the release does not map them: AML.T0110.000 M0020 and M0030; </a:t>
            </a:r>
            <a:r>
              <a:rPr b="1"/>
              <a:t>AML.T0110.001</a:t>
            </a:r>
            <a:r>
              <a:t> M0032; AML.T0110.002 M0033; AML.T0109 and AML.T0010.005 M0014 and M0016. </a:t>
            </a:r>
            <a:r>
              <a:rPr b="1"/>
              <a:t>"None mapped" means the release maps none</a:t>
            </a:r>
            <a:r>
              <a:t>.</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AML.T0110.001</a:t>
            </a:r>
            <a:r>
              <a:t> Implementation poisoning (Persistence): </a:t>
            </a:r>
            <a:r>
              <a:rPr b="1"/>
              <a:t>Lecture 4</a:t>
            </a:r>
            <a:r>
              <a:t>, the search glob</a:t>
            </a:r>
          </a:p>
          <a:p>
            <a:r>
              <a:t>AML.T0083 Credentials from configuration (Credential Access): </a:t>
            </a:r>
            <a:r>
              <a:rPr b="1"/>
              <a:t>Lecture 4</a:t>
            </a:r>
            <a:r>
              <a:t>, the dispatcher supplies the workspace root</a:t>
            </a:r>
          </a:p>
          <a:p>
            <a:r>
              <a:t>AML.T0086 Exfiltration via tool invocation (Exfiltration): </a:t>
            </a:r>
            <a:r>
              <a:rPr b="1"/>
              <a:t>Lecture 4</a:t>
            </a:r>
            <a:r>
              <a:t>, complete mediation</a:t>
            </a:r>
          </a:p>
          <a:p>
            <a:r>
              <a:rPr b="1"/>
              <a:t>AML.T0105 Escape to Host</a:t>
            </a:r>
            <a:r>
              <a:t> (Privilege Escalation): </a:t>
            </a:r>
            <a:r>
              <a:rPr b="1"/>
              <a:t>New this week</a:t>
            </a:r>
          </a:p>
          <a:p>
            <a:r>
              <a:rPr b="1"/>
              <a:t>AML.T0034.002</a:t>
            </a:r>
            <a:r>
              <a:t> Agentic resource consumption (Impact): Lecture 3, </a:t>
            </a:r>
            <a:r>
              <a:rPr b="1"/>
              <a:t>token budgets</a:t>
            </a:r>
          </a:p>
          <a:p>
            <a:endParaRPr/>
          </a:p>
          <a:p>
            <a:r>
              <a:rPr b="1"/>
              <a:t>Release 2026.09 maps no mitigation</a:t>
            </a:r>
            <a:r>
              <a:t> to AML.T0110 or any sub-technique, none to AML.T0109, and only </a:t>
            </a:r>
            <a:r>
              <a:rPr b="1"/>
              <a:t>M0035</a:t>
            </a:r>
            <a:r>
              <a:t> to AML.T0010.005. The mitigations whose descriptions fit, although the release does not map them: AML.T0110.000 M0020 and M0030; </a:t>
            </a:r>
            <a:r>
              <a:rPr b="1"/>
              <a:t>AML.T0110.001</a:t>
            </a:r>
            <a:r>
              <a:t> M0032; AML.T0110.002 M0033; AML.T0109 and AML.T0010.005 M0014 and M0016. </a:t>
            </a:r>
            <a:r>
              <a:rPr b="1"/>
              <a:t>"None mapped" means the release maps none</a:t>
            </a:r>
            <a:r>
              <a:t>.</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AML.T0110.001</a:t>
            </a:r>
            <a:r>
              <a:t> Implementation poisoning (Persistence): </a:t>
            </a:r>
            <a:r>
              <a:rPr b="1"/>
              <a:t>Lecture 4</a:t>
            </a:r>
            <a:r>
              <a:t>, the search glob</a:t>
            </a:r>
          </a:p>
          <a:p>
            <a:r>
              <a:t>AML.T0083 Credentials from configuration (Credential Access): </a:t>
            </a:r>
            <a:r>
              <a:rPr b="1"/>
              <a:t>Lecture 4</a:t>
            </a:r>
            <a:r>
              <a:t>, the dispatcher supplies the workspace root</a:t>
            </a:r>
          </a:p>
          <a:p>
            <a:r>
              <a:t>AML.T0086 Exfiltration via tool invocation (Exfiltration): </a:t>
            </a:r>
            <a:r>
              <a:rPr b="1"/>
              <a:t>Lecture 4</a:t>
            </a:r>
            <a:r>
              <a:t>, complete mediation</a:t>
            </a:r>
          </a:p>
          <a:p>
            <a:r>
              <a:rPr b="1"/>
              <a:t>AML.T0105 Escape to Host</a:t>
            </a:r>
            <a:r>
              <a:t> (Privilege Escalation): </a:t>
            </a:r>
            <a:r>
              <a:rPr b="1"/>
              <a:t>New this week</a:t>
            </a:r>
          </a:p>
          <a:p>
            <a:r>
              <a:rPr b="1"/>
              <a:t>AML.T0034.002</a:t>
            </a:r>
            <a:r>
              <a:t> Agentic resource consumption (Impact): Lecture 3, </a:t>
            </a:r>
            <a:r>
              <a:rPr b="1"/>
              <a:t>token budgets</a:t>
            </a:r>
          </a:p>
          <a:p>
            <a:endParaRPr/>
          </a:p>
          <a:p>
            <a:r>
              <a:rPr b="1"/>
              <a:t>Release 2026.09 maps no mitigation</a:t>
            </a:r>
            <a:r>
              <a:t> to AML.T0110 or any sub-technique, none to AML.T0109, and only </a:t>
            </a:r>
            <a:r>
              <a:rPr b="1"/>
              <a:t>M0035</a:t>
            </a:r>
            <a:r>
              <a:t> to AML.T0010.005. The mitigations whose descriptions fit, although the release does not map them: AML.T0110.000 M0020 and M0030; </a:t>
            </a:r>
            <a:r>
              <a:rPr b="1"/>
              <a:t>AML.T0110.001</a:t>
            </a:r>
            <a:r>
              <a:t> M0032; AML.T0110.002 M0033; AML.T0109 and AML.T0010.005 M0014 and M0016. </a:t>
            </a:r>
            <a:r>
              <a:rPr b="1"/>
              <a:t>"None mapped" means the release maps none</a:t>
            </a:r>
            <a:r>
              <a:t>.</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AML.T0110.001</a:t>
            </a:r>
            <a:r>
              <a:t> Implementation poisoning (Persistence): </a:t>
            </a:r>
            <a:r>
              <a:rPr b="1"/>
              <a:t>Lecture 4</a:t>
            </a:r>
            <a:r>
              <a:t>, the search glob</a:t>
            </a:r>
          </a:p>
          <a:p>
            <a:r>
              <a:t>AML.T0083 Credentials from configuration (Credential Access): </a:t>
            </a:r>
            <a:r>
              <a:rPr b="1"/>
              <a:t>Lecture 4</a:t>
            </a:r>
            <a:r>
              <a:t>, the dispatcher supplies the workspace root</a:t>
            </a:r>
          </a:p>
          <a:p>
            <a:r>
              <a:t>AML.T0086 Exfiltration via tool invocation (Exfiltration): </a:t>
            </a:r>
            <a:r>
              <a:rPr b="1"/>
              <a:t>Lecture 4</a:t>
            </a:r>
            <a:r>
              <a:t>, complete mediation</a:t>
            </a:r>
          </a:p>
          <a:p>
            <a:r>
              <a:rPr b="1"/>
              <a:t>AML.T0105 Escape to Host</a:t>
            </a:r>
            <a:r>
              <a:t> (Privilege Escalation): </a:t>
            </a:r>
            <a:r>
              <a:rPr b="1"/>
              <a:t>New this week</a:t>
            </a:r>
          </a:p>
          <a:p>
            <a:r>
              <a:rPr b="1"/>
              <a:t>AML.T0034.002</a:t>
            </a:r>
            <a:r>
              <a:t> Agentic resource consumption (Impact): Lecture 3, </a:t>
            </a:r>
            <a:r>
              <a:rPr b="1"/>
              <a:t>token budgets</a:t>
            </a:r>
          </a:p>
          <a:p>
            <a:endParaRPr/>
          </a:p>
          <a:p>
            <a:r>
              <a:rPr b="1"/>
              <a:t>Release 2026.09 maps no mitigation</a:t>
            </a:r>
            <a:r>
              <a:t> to AML.T0110 or any sub-technique, none to AML.T0109, and only </a:t>
            </a:r>
            <a:r>
              <a:rPr b="1"/>
              <a:t>M0035</a:t>
            </a:r>
            <a:r>
              <a:t> to AML.T0010.005. The mitigations whose descriptions fit, although the release does not map them: AML.T0110.000 M0020 and M0030; </a:t>
            </a:r>
            <a:r>
              <a:rPr b="1"/>
              <a:t>AML.T0110.001</a:t>
            </a:r>
            <a:r>
              <a:t> M0032; AML.T0110.002 M0033; AML.T0109 and AML.T0010.005 M0014 and M0016. </a:t>
            </a:r>
            <a:r>
              <a:rPr b="1"/>
              <a:t>"None mapped" means the release maps none</a:t>
            </a:r>
            <a:r>
              <a:t>.</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AML.T0110.001</a:t>
            </a:r>
            <a:r>
              <a:t> Implementation poisoning (Persistence): </a:t>
            </a:r>
            <a:r>
              <a:rPr b="1"/>
              <a:t>Lecture 4</a:t>
            </a:r>
            <a:r>
              <a:t>, the search glob</a:t>
            </a:r>
          </a:p>
          <a:p>
            <a:r>
              <a:t>AML.T0083 Credentials from configuration (Credential Access): </a:t>
            </a:r>
            <a:r>
              <a:rPr b="1"/>
              <a:t>Lecture 4</a:t>
            </a:r>
            <a:r>
              <a:t>, the dispatcher supplies the workspace root</a:t>
            </a:r>
          </a:p>
          <a:p>
            <a:r>
              <a:t>AML.T0086 Exfiltration via tool invocation (Exfiltration): </a:t>
            </a:r>
            <a:r>
              <a:rPr b="1"/>
              <a:t>Lecture 4</a:t>
            </a:r>
            <a:r>
              <a:t>, complete mediation</a:t>
            </a:r>
          </a:p>
          <a:p>
            <a:r>
              <a:rPr b="1"/>
              <a:t>AML.T0105 Escape to Host</a:t>
            </a:r>
            <a:r>
              <a:t> (Privilege Escalation): </a:t>
            </a:r>
            <a:r>
              <a:rPr b="1"/>
              <a:t>New this week</a:t>
            </a:r>
          </a:p>
          <a:p>
            <a:r>
              <a:rPr b="1"/>
              <a:t>AML.T0034.002</a:t>
            </a:r>
            <a:r>
              <a:t> Agentic resource consumption (Impact): Lecture 3, </a:t>
            </a:r>
            <a:r>
              <a:rPr b="1"/>
              <a:t>token budgets</a:t>
            </a:r>
          </a:p>
          <a:p>
            <a:endParaRPr/>
          </a:p>
          <a:p>
            <a:r>
              <a:rPr b="1"/>
              <a:t>Release 2026.09 maps no mitigation</a:t>
            </a:r>
            <a:r>
              <a:t> to AML.T0110 or any sub-technique, none to AML.T0109, and only </a:t>
            </a:r>
            <a:r>
              <a:rPr b="1"/>
              <a:t>M0035</a:t>
            </a:r>
            <a:r>
              <a:t> to AML.T0010.005. The mitigations whose descriptions fit, although the release does not map them: AML.T0110.000 M0020 and M0030; </a:t>
            </a:r>
            <a:r>
              <a:rPr b="1"/>
              <a:t>AML.T0110.001</a:t>
            </a:r>
            <a:r>
              <a:t> M0032; AML.T0110.002 M0033; AML.T0109 and AML.T0010.005 M0014 and M0016. </a:t>
            </a:r>
            <a:r>
              <a:rPr b="1"/>
              <a:t>"None mapped" means the release maps none</a:t>
            </a:r>
            <a:r>
              <a:t>.</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AML.T0110.000 Definition poisoning</a:t>
            </a:r>
            <a:r>
              <a:t> (Persistence): </a:t>
            </a:r>
            <a:r>
              <a:rPr b="1"/>
              <a:t>Slide 12</a:t>
            </a:r>
          </a:p>
          <a:p>
            <a:r>
              <a:t>AML.T0110.002 Runtime-response poisoning (Persistence): The removed slide 47 (“A tool result reports success or an error.”)</a:t>
            </a:r>
          </a:p>
          <a:p>
            <a:r>
              <a:t>AML.T0109 Rug pull (Defense Evasion); AML.T0010.005 Supply chain (Initial Access): The removed slide 100 (“The Inspector shows the contract unchecked.”), a </a:t>
            </a:r>
            <a:r>
              <a:rPr b="1"/>
              <a:t>changed implementation under an unchanged description</a:t>
            </a:r>
          </a:p>
          <a:p>
            <a:r>
              <a:rPr b="1"/>
              <a:t>AML.T0080 Context poisoning</a:t>
            </a:r>
            <a:r>
              <a:t> (Persistence): Lecture 3, state</a:t>
            </a:r>
          </a:p>
          <a:p>
            <a:endParaRPr/>
          </a:p>
          <a:p>
            <a:r>
              <a:t>Release 2026.09 maps no mitigation to AML.T0110 or any sub-technique, none to AML.T0109, and only M0035 to AML.T0010.005. The mitigations whose descriptions fit, although the release does not map them: AML.T0110.000 M0020 and M0030; AML.T0110.001 M0032; AML.T0110.002 M0033; AML.T0109 and AML.T0010.005 M0014 and M0016. "None mapped" means the release maps none.</a:t>
            </a:r>
          </a:p>
          <a:p>
            <a:endParaRPr/>
          </a:p>
          <a:p>
            <a:r>
              <a:t>Host-side research defenses, not on the slide: </a:t>
            </a:r>
            <a:r>
              <a:rPr b="1"/>
              <a:t>CaMeL</a:t>
            </a:r>
            <a:r>
              <a:t> (Debenedetti et al., 2025, arXiv:2503.18813), which keeps untrusted data out of the control flow, and </a:t>
            </a:r>
            <a:r>
              <a:rPr b="1"/>
              <a:t>Progent</a:t>
            </a:r>
            <a:r>
              <a:t> (Shi et al., 2025, arXiv:2504.11703), which restricts tool calls by privilege policy. </a:t>
            </a:r>
            <a:r>
              <a:rPr b="1"/>
              <a:t>Next week returns to CaMeL</a:t>
            </a:r>
            <a:r>
              <a:t>.</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AML.T0110.000 Definition poisoning</a:t>
            </a:r>
            <a:r>
              <a:t> (Persistence): </a:t>
            </a:r>
            <a:r>
              <a:rPr b="1"/>
              <a:t>Slide 12</a:t>
            </a:r>
          </a:p>
          <a:p>
            <a:r>
              <a:t>AML.T0110.002 Runtime-response poisoning (Persistence): The removed slide 47 (“A tool result reports success or an error.”)</a:t>
            </a:r>
          </a:p>
          <a:p>
            <a:r>
              <a:t>AML.T0109 Rug pull (Defense Evasion); AML.T0010.005 Supply chain (Initial Access): The removed slide 100 (“The Inspector shows the contract unchecked.”), a </a:t>
            </a:r>
            <a:r>
              <a:rPr b="1"/>
              <a:t>changed implementation under an unchanged description</a:t>
            </a:r>
          </a:p>
          <a:p>
            <a:r>
              <a:rPr b="1"/>
              <a:t>AML.T0080 Context poisoning</a:t>
            </a:r>
            <a:r>
              <a:t> (Persistence): Lecture 3, state</a:t>
            </a:r>
          </a:p>
          <a:p>
            <a:endParaRPr/>
          </a:p>
          <a:p>
            <a:r>
              <a:t>Release 2026.09 maps no mitigation to AML.T0110 or any sub-technique, none to AML.T0109, and only M0035 to AML.T0010.005. The mitigations whose descriptions fit, although the release does not map them: AML.T0110.000 M0020 and M0030; AML.T0110.001 M0032; AML.T0110.002 M0033; AML.T0109 and AML.T0010.005 M0014 and M0016. "None mapped" means the release maps none.</a:t>
            </a:r>
          </a:p>
          <a:p>
            <a:endParaRPr/>
          </a:p>
          <a:p>
            <a:r>
              <a:t>Host-side research defenses, not on the slide: </a:t>
            </a:r>
            <a:r>
              <a:rPr b="1"/>
              <a:t>CaMeL</a:t>
            </a:r>
            <a:r>
              <a:t> (Debenedetti et al., 2025, arXiv:2503.18813), which keeps untrusted data out of the control flow, and </a:t>
            </a:r>
            <a:r>
              <a:rPr b="1"/>
              <a:t>Progent</a:t>
            </a:r>
            <a:r>
              <a:t> (Shi et al., 2025, arXiv:2504.11703), which restricts tool calls by privilege policy. </a:t>
            </a:r>
            <a:r>
              <a:rPr b="1"/>
              <a:t>Next week returns to CaMeL</a:t>
            </a:r>
            <a:r>
              <a:t>.</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AML.T0110.000 Definition poisoning</a:t>
            </a:r>
            <a:r>
              <a:t> (Persistence): </a:t>
            </a:r>
            <a:r>
              <a:rPr b="1"/>
              <a:t>Slide 12</a:t>
            </a:r>
          </a:p>
          <a:p>
            <a:r>
              <a:t>AML.T0110.002 Runtime-response poisoning (Persistence): The removed slide 47 (“A tool result reports success or an error.”)</a:t>
            </a:r>
          </a:p>
          <a:p>
            <a:r>
              <a:t>AML.T0109 Rug pull (Defense Evasion); AML.T0010.005 Supply chain (Initial Access): The removed slide 100 (“The Inspector shows the contract unchecked.”), a </a:t>
            </a:r>
            <a:r>
              <a:rPr b="1"/>
              <a:t>changed implementation under an unchanged description</a:t>
            </a:r>
          </a:p>
          <a:p>
            <a:r>
              <a:rPr b="1"/>
              <a:t>AML.T0080 Context poisoning</a:t>
            </a:r>
            <a:r>
              <a:t> (Persistence): Lecture 3, state</a:t>
            </a:r>
          </a:p>
          <a:p>
            <a:endParaRPr/>
          </a:p>
          <a:p>
            <a:r>
              <a:t>Release 2026.09 maps no mitigation to AML.T0110 or any sub-technique, none to AML.T0109, and only M0035 to AML.T0010.005. The mitigations whose descriptions fit, although the release does not map them: AML.T0110.000 M0020 and M0030; AML.T0110.001 M0032; AML.T0110.002 M0033; AML.T0109 and AML.T0010.005 M0014 and M0016. "None mapped" means the release maps none.</a:t>
            </a:r>
          </a:p>
          <a:p>
            <a:endParaRPr/>
          </a:p>
          <a:p>
            <a:r>
              <a:t>Host-side research defenses, not on the slide: </a:t>
            </a:r>
            <a:r>
              <a:rPr b="1"/>
              <a:t>CaMeL</a:t>
            </a:r>
            <a:r>
              <a:t> (Debenedetti et al., 2025, arXiv:2503.18813), which keeps untrusted data out of the control flow, and </a:t>
            </a:r>
            <a:r>
              <a:rPr b="1"/>
              <a:t>Progent</a:t>
            </a:r>
            <a:r>
              <a:t> (Shi et al., 2025, arXiv:2504.11703), which restricts tool calls by privilege policy. </a:t>
            </a:r>
            <a:r>
              <a:rPr b="1"/>
              <a:t>Next week returns to CaMeL</a:t>
            </a:r>
            <a:r>
              <a:t>.</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AML.T0110.000 Definition poisoning</a:t>
            </a:r>
            <a:r>
              <a:t> (Persistence): </a:t>
            </a:r>
            <a:r>
              <a:rPr b="1"/>
              <a:t>Slide 12</a:t>
            </a:r>
          </a:p>
          <a:p>
            <a:r>
              <a:t>AML.T0110.002 Runtime-response poisoning (Persistence): The removed slide 47 (“A tool result reports success or an error.”)</a:t>
            </a:r>
          </a:p>
          <a:p>
            <a:r>
              <a:t>AML.T0109 Rug pull (Defense Evasion); AML.T0010.005 Supply chain (Initial Access): The removed slide 100 (“The Inspector shows the contract unchecked.”), a </a:t>
            </a:r>
            <a:r>
              <a:rPr b="1"/>
              <a:t>changed implementation under an unchanged description</a:t>
            </a:r>
          </a:p>
          <a:p>
            <a:r>
              <a:rPr b="1"/>
              <a:t>AML.T0080 Context poisoning</a:t>
            </a:r>
            <a:r>
              <a:t> (Persistence): Lecture 3, state</a:t>
            </a:r>
          </a:p>
          <a:p>
            <a:endParaRPr/>
          </a:p>
          <a:p>
            <a:r>
              <a:t>Release 2026.09 maps no mitigation to AML.T0110 or any sub-technique, none to AML.T0109, and only M0035 to AML.T0010.005. The mitigations whose descriptions fit, although the release does not map them: AML.T0110.000 M0020 and M0030; AML.T0110.001 M0032; AML.T0110.002 M0033; AML.T0109 and AML.T0010.005 M0014 and M0016. "None mapped" means the release maps none.</a:t>
            </a:r>
          </a:p>
          <a:p>
            <a:endParaRPr/>
          </a:p>
          <a:p>
            <a:r>
              <a:t>Host-side research defenses, not on the slide: </a:t>
            </a:r>
            <a:r>
              <a:rPr b="1"/>
              <a:t>CaMeL</a:t>
            </a:r>
            <a:r>
              <a:t> (Debenedetti et al., 2025, arXiv:2503.18813), which keeps untrusted data out of the control flow, and </a:t>
            </a:r>
            <a:r>
              <a:rPr b="1"/>
              <a:t>Progent</a:t>
            </a:r>
            <a:r>
              <a:t> (Shi et al., 2025, arXiv:2504.11703), which restricts tool calls by privilege policy. </a:t>
            </a:r>
            <a:r>
              <a:rPr b="1"/>
              <a:t>Next week returns to CaMeL</a:t>
            </a:r>
            <a:r>
              <a:t>.</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AML.T0110.000 Definition poisoning</a:t>
            </a:r>
            <a:r>
              <a:t> (Persistence): </a:t>
            </a:r>
            <a:r>
              <a:rPr b="1"/>
              <a:t>Slide 12</a:t>
            </a:r>
          </a:p>
          <a:p>
            <a:r>
              <a:t>AML.T0110.002 Runtime-response poisoning (Persistence): The removed slide 47 (“A tool result reports success or an error.”)</a:t>
            </a:r>
          </a:p>
          <a:p>
            <a:r>
              <a:t>AML.T0109 Rug pull (Defense Evasion); AML.T0010.005 Supply chain (Initial Access): The removed slide 100 (“The Inspector shows the contract unchecked.”), a </a:t>
            </a:r>
            <a:r>
              <a:rPr b="1"/>
              <a:t>changed implementation under an unchanged description</a:t>
            </a:r>
          </a:p>
          <a:p>
            <a:r>
              <a:rPr b="1"/>
              <a:t>AML.T0080 Context poisoning</a:t>
            </a:r>
            <a:r>
              <a:t> (Persistence): Lecture 3, state</a:t>
            </a:r>
          </a:p>
          <a:p>
            <a:endParaRPr/>
          </a:p>
          <a:p>
            <a:r>
              <a:t>Release 2026.09 maps no mitigation to AML.T0110 or any sub-technique, none to AML.T0109, and only M0035 to AML.T0010.005. The mitigations whose descriptions fit, although the release does not map them: AML.T0110.000 M0020 and M0030; AML.T0110.001 M0032; AML.T0110.002 M0033; AML.T0109 and AML.T0010.005 M0014 and M0016. "None mapped" means the release maps none.</a:t>
            </a:r>
          </a:p>
          <a:p>
            <a:endParaRPr/>
          </a:p>
          <a:p>
            <a:r>
              <a:t>Host-side research defenses, not on the slide: </a:t>
            </a:r>
            <a:r>
              <a:rPr b="1"/>
              <a:t>CaMeL</a:t>
            </a:r>
            <a:r>
              <a:t> (Debenedetti et al., 2025, arXiv:2503.18813), which keeps untrusted data out of the control flow, and </a:t>
            </a:r>
            <a:r>
              <a:rPr b="1"/>
              <a:t>Progent</a:t>
            </a:r>
            <a:r>
              <a:t> (Shi et al., 2025, arXiv:2504.11703), which restricts tool calls by privilege policy. </a:t>
            </a:r>
            <a:r>
              <a:rPr b="1"/>
              <a:t>Next week returns to CaMeL</a:t>
            </a:r>
            <a:r>
              <a:t>.</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146.</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146.</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146.</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Quantifying Frontier LLM Capabilities for Container Sandbox Escape, </a:t>
            </a:r>
            <a:r>
              <a:rPr b="1"/>
              <a:t>arXiv:2603.02277</a:t>
            </a:r>
            <a:r>
              <a:t> (v3, August 2026); </a:t>
            </a:r>
            <a:r>
              <a:rPr b="1"/>
              <a:t>ICML 2026 oral</a:t>
            </a:r>
            <a:r>
              <a:t>, July 8, 2026. The </a:t>
            </a:r>
            <a:r>
              <a:rPr b="1"/>
              <a:t>patch-lag figure</a:t>
            </a:r>
            <a:r>
              <a:t> is from the comparative study on slide 146.</a:t>
            </a:r>
          </a:p>
          <a:p>
            <a:endParaRPr/>
          </a:p>
          <a:p>
            <a:r>
              <a:t>Frame for the next slides: the question is </a:t>
            </a:r>
            <a:r>
              <a:rPr b="1"/>
              <a:t>which kernel mechanism carries the policy</a:t>
            </a:r>
            <a:r>
              <a:t>, and </a:t>
            </a:r>
            <a:r>
              <a:rPr b="1"/>
              <a:t>how quickly its fixes reach the product</a:t>
            </a:r>
            <a:r>
              <a:t>.</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Wang and Zheng, </a:t>
            </a:r>
            <a:r>
              <a:rPr b="1"/>
              <a:t>Sandlock</a:t>
            </a:r>
            <a:r>
              <a:t>: Confining AI Agent Code with </a:t>
            </a:r>
            <a:r>
              <a:rPr b="1"/>
              <a:t>Unprivileged Linux Primitives</a:t>
            </a:r>
            <a:r>
              <a:t>, </a:t>
            </a:r>
            <a:r>
              <a:rPr b="1"/>
              <a:t>arXiv:2605.26298</a:t>
            </a:r>
            <a:r>
              <a:t>; </a:t>
            </a:r>
            <a:r>
              <a:rPr b="1"/>
              <a:t>Agentic OS Workshop</a:t>
            </a:r>
            <a:r>
              <a:t> at </a:t>
            </a:r>
            <a:r>
              <a:rPr b="1"/>
              <a:t>ASPLOS 2026</a:t>
            </a:r>
            <a:r>
              <a:t>. github.com/</a:t>
            </a:r>
            <a:r>
              <a:rPr b="1"/>
              <a:t>multikernel/sandlock</a:t>
            </a:r>
            <a:r>
              <a:t>.</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t>; </a:t>
            </a:r>
            <a:r>
              <a:rPr b="1"/>
              <a:t>arXiv:2606.25189</a:t>
            </a:r>
            <a:r>
              <a:t>; </a:t>
            </a:r>
            <a:r>
              <a:rPr b="1"/>
              <a:t>arXiv:2609.29647</a:t>
            </a:r>
            <a:r>
              <a:t>. </a:t>
            </a:r>
            <a:r>
              <a:rPr b="1"/>
              <a:t>Preprints</a:t>
            </a:r>
            <a:r>
              <a:t>. The </a:t>
            </a:r>
            <a:r>
              <a:rPr b="1"/>
              <a:t>AgentKernel sentence</a:t>
            </a:r>
            <a:r>
              <a:t> is </a:t>
            </a:r>
            <a:r>
              <a:rPr b="1"/>
              <a:t>quoted from its abstract</a:t>
            </a:r>
            <a:r>
              <a:t>.</a:t>
            </a: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t>: the </a:t>
            </a:r>
            <a:r>
              <a:rPr b="1"/>
              <a:t>deployment is ahead of the evidence</a:t>
            </a:r>
            <a:r>
              <a:t>. arXiv:2606.08433; arXiv:2601.01241 (the tool is named </a:t>
            </a:r>
            <a:r>
              <a:rPr b="1"/>
              <a:t>SandScope</a:t>
            </a:r>
            <a:r>
              <a:t> in the paper). The </a:t>
            </a:r>
            <a:r>
              <a:rPr b="1"/>
              <a:t>peer-reviewed anchors</a:t>
            </a:r>
            <a:r>
              <a:t> in this area are </a:t>
            </a:r>
            <a:r>
              <a:rPr b="1"/>
              <a:t>AgentSpec</a:t>
            </a:r>
            <a:r>
              <a:t> (ICSE 2026, arXiv:2503.18666) on run-time enforcement, </a:t>
            </a:r>
            <a:r>
              <a:rPr b="1"/>
              <a:t>ToolHijacker</a:t>
            </a:r>
            <a:r>
              <a:t> (NDSS 2026, arXiv:2504.19793) on prompt injection against tool selection, and </a:t>
            </a:r>
            <a:r>
              <a:rPr b="1"/>
              <a:t>SandboxEscapeBench</a:t>
            </a:r>
            <a:r>
              <a:t> (ICML 2026, arXiv:2603.02277) on container escape.</a:t>
            </a: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slides 129 and 134 map to </a:t>
            </a:r>
            <a:r>
              <a:rPr b="1"/>
              <a:t>enforcement points</a:t>
            </a:r>
            <a:r>
              <a:t>: </a:t>
            </a:r>
            <a:r>
              <a:rPr b="1"/>
              <a:t>text to the host</a:t>
            </a:r>
            <a:r>
              <a:t>, </a:t>
            </a:r>
            <a:r>
              <a:rPr b="1"/>
              <a:t>code and files to the kernel</a:t>
            </a:r>
            <a:r>
              <a:t>, connections and credentials to the supervisor (slides 90 to 134).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slides 129 and 134 map to </a:t>
            </a:r>
            <a:r>
              <a:rPr b="1"/>
              <a:t>enforcement points</a:t>
            </a:r>
            <a:r>
              <a:t>: </a:t>
            </a:r>
            <a:r>
              <a:rPr b="1"/>
              <a:t>text to the host</a:t>
            </a:r>
            <a:r>
              <a:t>, </a:t>
            </a:r>
            <a:r>
              <a:rPr b="1"/>
              <a:t>code and files to the kernel</a:t>
            </a:r>
            <a:r>
              <a:t>, connections and credentials to the supervisor (slides 90 to 134).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slides 129 and 134 map to </a:t>
            </a:r>
            <a:r>
              <a:rPr b="1"/>
              <a:t>enforcement points</a:t>
            </a:r>
            <a:r>
              <a:t>: </a:t>
            </a:r>
            <a:r>
              <a:rPr b="1"/>
              <a:t>text to the host</a:t>
            </a:r>
            <a:r>
              <a:t>, </a:t>
            </a:r>
            <a:r>
              <a:rPr b="1"/>
              <a:t>code and files to the kernel</a:t>
            </a:r>
            <a:r>
              <a:t>, connections and credentials to the supervisor (slides 90 to 134).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slides 129 and 134 map to </a:t>
            </a:r>
            <a:r>
              <a:rPr b="1"/>
              <a:t>enforcement points</a:t>
            </a:r>
            <a:r>
              <a:t>: </a:t>
            </a:r>
            <a:r>
              <a:rPr b="1"/>
              <a:t>text to the host</a:t>
            </a:r>
            <a:r>
              <a:t>, </a:t>
            </a:r>
            <a:r>
              <a:rPr b="1"/>
              <a:t>code and files to the kernel</a:t>
            </a:r>
            <a:r>
              <a:t>, connections and credentials to the supervisor (slides 90 to 134).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slides 129 and 134 map to </a:t>
            </a:r>
            <a:r>
              <a:rPr b="1"/>
              <a:t>enforcement points</a:t>
            </a:r>
            <a:r>
              <a:t>: </a:t>
            </a:r>
            <a:r>
              <a:rPr b="1"/>
              <a:t>text to the host</a:t>
            </a:r>
            <a:r>
              <a:t>, </a:t>
            </a:r>
            <a:r>
              <a:rPr b="1"/>
              <a:t>code and files to the kernel</a:t>
            </a:r>
            <a:r>
              <a:t>, connections and credentials to the supervisor (slides 90 to 134).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slides 129 and 134 map to </a:t>
            </a:r>
            <a:r>
              <a:rPr b="1"/>
              <a:t>enforcement points</a:t>
            </a:r>
            <a:r>
              <a:t>: </a:t>
            </a:r>
            <a:r>
              <a:rPr b="1"/>
              <a:t>text to the host</a:t>
            </a:r>
            <a:r>
              <a:t>, </a:t>
            </a:r>
            <a:r>
              <a:rPr b="1"/>
              <a:t>code and files to the kernel</a:t>
            </a:r>
            <a:r>
              <a:t>, connections and credentials to the supervisor (slides 90 to 134).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Synthesis. The contract has </a:t>
            </a:r>
            <a:r>
              <a:rPr b="1"/>
              <a:t>five parts (slide 12)</a:t>
            </a:r>
            <a:r>
              <a:t>: the server checks arguments and results, </a:t>
            </a:r>
            <a:r>
              <a:rPr b="1"/>
              <a:t>no one enforces the description</a:t>
            </a:r>
            <a:r>
              <a:t> or the side-effect hints, and execution constraints live in the code of the host and the server. The techniques of slide 83 and the assets of slides 129 and 134 map to </a:t>
            </a:r>
            <a:r>
              <a:rPr b="1"/>
              <a:t>enforcement points</a:t>
            </a:r>
            <a:r>
              <a:t>: </a:t>
            </a:r>
            <a:r>
              <a:rPr b="1"/>
              <a:t>text to the host</a:t>
            </a:r>
            <a:r>
              <a:t>, </a:t>
            </a:r>
            <a:r>
              <a:rPr b="1"/>
              <a:t>code and files to the kernel</a:t>
            </a:r>
            <a:r>
              <a:t>, connections and credentials to the supervisor (slides 90 to 134). The study on slide 33 shows that tool use weakens the model's refusals with no attack on the tools, which supports the design rule that the </a:t>
            </a:r>
            <a:r>
              <a:rPr b="1"/>
              <a:t>model cannot be the enforcement point</a:t>
            </a:r>
            <a:r>
              <a:t> for its own tool use. Close the loop with </a:t>
            </a:r>
            <a:r>
              <a:rPr b="1"/>
              <a:t>the removed slide 23 (“A rule inside the agent can be disabled.”)</a:t>
            </a:r>
            <a:r>
              <a:t>: a rule inside the agent's process </a:t>
            </a:r>
            <a:r>
              <a:rPr b="1"/>
              <a:t>can be disabled by the agent</a:t>
            </a:r>
            <a:r>
              <a:t>.</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t>: the </a:t>
            </a:r>
            <a:r>
              <a:rPr b="1"/>
              <a:t>operating-system kernel</a:t>
            </a:r>
            <a:r>
              <a:t>. Compare this split with the one recorded on </a:t>
            </a:r>
            <a:r>
              <a:rPr b="1"/>
              <a:t>lecture 5's revision 3 (its 25th slide)</a:t>
            </a:r>
            <a:r>
              <a:t>. </a:t>
            </a:r>
            <a:r>
              <a:rPr b="1"/>
              <a:t>(a) fails</a:t>
            </a:r>
            <a:r>
              <a:t> because, in the study, tool use alone weakened the model's refusals (slide 33). </a:t>
            </a:r>
            <a:r>
              <a:rPr b="1"/>
              <a:t>(b) puts the rule in the harness process</a:t>
            </a:r>
            <a:r>
              <a:t>, where the agent's code can edit or bypass the check (slide 76, row two). </a:t>
            </a:r>
            <a:r>
              <a:rPr b="1"/>
              <a:t>(d) puts the rule on hardware</a:t>
            </a:r>
            <a:r>
              <a:t> outside the host. A processor in the network path sees only traffic, and reading </a:t>
            </a:r>
            <a:r>
              <a:rPr b="1"/>
              <a:t>~/.ssh</a:t>
            </a:r>
            <a:r>
              <a:t> produces none, so Sentry (slide 119) cannot stop that read.</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t>: the </a:t>
            </a:r>
            <a:r>
              <a:rPr b="1"/>
              <a:t>operating-system kernel</a:t>
            </a:r>
            <a:r>
              <a:t>. Compare this split with the one recorded on </a:t>
            </a:r>
            <a:r>
              <a:rPr b="1"/>
              <a:t>lecture 5's revision 3 (its 25th slide)</a:t>
            </a:r>
            <a:r>
              <a:t>. </a:t>
            </a:r>
            <a:r>
              <a:rPr b="1"/>
              <a:t>(a) fails</a:t>
            </a:r>
            <a:r>
              <a:t> because, in the study, tool use alone weakened the model's refusals (slide 33). </a:t>
            </a:r>
            <a:r>
              <a:rPr b="1"/>
              <a:t>(b) puts the rule in the harness process</a:t>
            </a:r>
            <a:r>
              <a:t>, where the agent's code can edit or bypass the check (slide 76, row two). </a:t>
            </a:r>
            <a:r>
              <a:rPr b="1"/>
              <a:t>(d) puts the rule on hardware</a:t>
            </a:r>
            <a:r>
              <a:t> outside the host. A processor in the network path sees only traffic, and reading </a:t>
            </a:r>
            <a:r>
              <a:rPr b="1"/>
              <a:t>~/.ssh</a:t>
            </a:r>
            <a:r>
              <a:t> produces none, so Sentry (slide 119) cannot stop that read.</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t>: </a:t>
            </a:r>
            <a:r>
              <a:rPr b="1"/>
              <a:t>a rule belongs where the adversary cannot reach it</a:t>
            </a:r>
            <a:r>
              <a:t> </a:t>
            </a:r>
            <a:r>
              <a:rPr b="1"/>
              <a:t>from inside the agent</a:t>
            </a:r>
            <a:r>
              <a:t>.</a:t>
            </a:r>
          </a:p>
        </p:txBody>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A host holds one client per server; the client speaks the protocol, the server offers tools, resources and prompts. The host converts the tools for its model. HW2 makes your agent this host.</a:t>
            </a:r>
          </a:p>
        </p:txBody>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Of a tool contract's five parts, the server validates arguments and results; the description and the effect annotations enforce nothing; execution constraints live in the host's and the server's code. The enforcement point today asks whose code.</a:t>
            </a:r>
          </a:p>
        </p:txBody>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OWASP classifies an incident by risk category; ATLAS maps its steps to techniques and tactics. The techniques name what to restrict and never which process enforces it.</a:t>
            </a:r>
          </a:p>
        </p:txBody>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Recap of lecture 5. In both OpenClaw case studies the control that failed ran in the agent's own runtime, where the agent's code could rewrite it. That is the question the enforcement point answers today.</a:t>
            </a:r>
          </a:p>
        </p:txBody>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Midterm scope, as taught. Friday, October 23: one hour, individual, closed book, units 1 and 2. Scheduling tradeoffs are not on the midterm. Week 8, on October 30, teaches concurrency and multi-agent patterns.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matchingName="Title slide" type="title" userDrawn="1">
  <p:cSld name="TITLE">
    <p:spTree>
      <p:nvGrpSpPr>
        <p:cNvPr id="1" name=""/>
        <p:cNvGrpSpPr/>
        <p:nvPr/>
      </p:nvGrpSpPr>
      <p:grpSpPr bwMode="auto">
        <a:xfrm>
          <a:off x="0" y="0"/>
          <a:ext cx="0" cy="0"/>
          <a:chOff x="0" y="0"/>
          <a:chExt cx="0" cy="0"/>
        </a:xfrm>
      </p:grpSpPr>
      <p:sp>
        <p:nvSpPr>
          <p:cNvPr id="719548503"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dirty="0"/>
          </a:p>
        </p:txBody>
      </p:sp>
      <p:sp>
        <p:nvSpPr>
          <p:cNvPr id="272675894"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dirty="0"/>
          </a:p>
        </p:txBody>
      </p:sp>
      <p:sp>
        <p:nvSpPr>
          <p:cNvPr id="382716502"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Custom Layout">
    <p:spTree>
      <p:nvGrpSpPr>
        <p:cNvPr id="1" name=""/>
        <p:cNvGrpSpPr/>
        <p:nvPr/>
      </p:nvGrpSpPr>
      <p:grpSpPr bwMode="auto">
        <a:xfrm>
          <a:off x="0" y="0"/>
          <a:ext cx="0" cy="0"/>
          <a:chOff x="0" y="0"/>
          <a:chExt cx="0" cy="0"/>
        </a:xfrm>
      </p:grpSpPr>
      <p:sp>
        <p:nvSpPr>
          <p:cNvPr id="1076084173"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200" b="1">
                <a:solidFill>
                  <a:srgbClr val="2D2A62"/>
                </a:solidFill>
                <a:latin typeface="Arial"/>
                <a:ea typeface="Arial"/>
                <a:cs typeface="Arial"/>
              </a:defRPr>
            </a:lvl1pPr>
            <a:lvl2pPr lvl="1">
              <a:spcBef>
                <a:spcPts val="0"/>
              </a:spcBef>
              <a:spcAft>
                <a:spcPts val="0"/>
              </a:spcAft>
              <a:buClr>
                <a:schemeClr val="dk1"/>
              </a:buClr>
              <a:buSzPts val="2400"/>
              <a:buFont typeface="Aptos"/>
              <a:buNone/>
              <a:defRPr sz="2200">
                <a:solidFill>
                  <a:schemeClr val="dk1"/>
                </a:solidFill>
                <a:latin typeface="Arial"/>
                <a:ea typeface="Arial"/>
                <a:cs typeface="Arial"/>
              </a:defRPr>
            </a:lvl2pPr>
            <a:lvl3pPr lvl="2">
              <a:spcBef>
                <a:spcPts val="0"/>
              </a:spcBef>
              <a:spcAft>
                <a:spcPts val="0"/>
              </a:spcAft>
              <a:buClr>
                <a:schemeClr val="dk1"/>
              </a:buClr>
              <a:buSzPts val="2400"/>
              <a:buFont typeface="Aptos"/>
              <a:buNone/>
              <a:defRPr sz="2200">
                <a:solidFill>
                  <a:schemeClr val="dk1"/>
                </a:solidFill>
                <a:latin typeface="Arial"/>
                <a:ea typeface="Arial"/>
                <a:cs typeface="Arial"/>
              </a:defRPr>
            </a:lvl3pPr>
            <a:lvl4pPr lvl="3">
              <a:spcBef>
                <a:spcPts val="0"/>
              </a:spcBef>
              <a:spcAft>
                <a:spcPts val="0"/>
              </a:spcAft>
              <a:buClr>
                <a:schemeClr val="dk1"/>
              </a:buClr>
              <a:buSzPts val="2400"/>
              <a:buFont typeface="Aptos"/>
              <a:buNone/>
              <a:defRPr sz="2200">
                <a:solidFill>
                  <a:schemeClr val="dk1"/>
                </a:solidFill>
                <a:latin typeface="Arial"/>
                <a:ea typeface="Arial"/>
                <a:cs typeface="Arial"/>
              </a:defRPr>
            </a:lvl4pPr>
            <a:lvl5pPr lvl="4">
              <a:spcBef>
                <a:spcPts val="0"/>
              </a:spcBef>
              <a:spcAft>
                <a:spcPts val="0"/>
              </a:spcAft>
              <a:buClr>
                <a:schemeClr val="dk1"/>
              </a:buClr>
              <a:buSzPts val="2400"/>
              <a:buFont typeface="Aptos"/>
              <a:buNone/>
              <a:defRPr sz="2200">
                <a:solidFill>
                  <a:schemeClr val="dk1"/>
                </a:solidFill>
                <a:latin typeface="Arial"/>
                <a:ea typeface="Arial"/>
                <a:cs typeface="Arial"/>
              </a:defRPr>
            </a:lvl5pPr>
            <a:lvl6pPr lvl="5">
              <a:spcBef>
                <a:spcPts val="0"/>
              </a:spcBef>
              <a:spcAft>
                <a:spcPts val="0"/>
              </a:spcAft>
              <a:buClr>
                <a:schemeClr val="dk1"/>
              </a:buClr>
              <a:buSzPts val="2400"/>
              <a:buFont typeface="Aptos"/>
              <a:buNone/>
              <a:defRPr sz="2200">
                <a:solidFill>
                  <a:schemeClr val="dk1"/>
                </a:solidFill>
                <a:latin typeface="Arial"/>
                <a:ea typeface="Arial"/>
                <a:cs typeface="Arial"/>
              </a:defRPr>
            </a:lvl6pPr>
            <a:lvl7pPr lvl="6">
              <a:spcBef>
                <a:spcPts val="0"/>
              </a:spcBef>
              <a:spcAft>
                <a:spcPts val="0"/>
              </a:spcAft>
              <a:buClr>
                <a:schemeClr val="dk1"/>
              </a:buClr>
              <a:buSzPts val="2400"/>
              <a:buFont typeface="Aptos"/>
              <a:buNone/>
              <a:defRPr sz="2200">
                <a:solidFill>
                  <a:schemeClr val="dk1"/>
                </a:solidFill>
                <a:latin typeface="Arial"/>
                <a:ea typeface="Arial"/>
                <a:cs typeface="Arial"/>
              </a:defRPr>
            </a:lvl7pPr>
            <a:lvl8pPr lvl="7">
              <a:spcBef>
                <a:spcPts val="0"/>
              </a:spcBef>
              <a:spcAft>
                <a:spcPts val="0"/>
              </a:spcAft>
              <a:buClr>
                <a:schemeClr val="dk1"/>
              </a:buClr>
              <a:buSzPts val="2400"/>
              <a:buFont typeface="Aptos"/>
              <a:buNone/>
              <a:defRPr sz="2200">
                <a:solidFill>
                  <a:schemeClr val="dk1"/>
                </a:solidFill>
                <a:latin typeface="Arial"/>
                <a:ea typeface="Arial"/>
                <a:cs typeface="Arial"/>
              </a:defRPr>
            </a:lvl8pPr>
            <a:lvl9pPr lvl="8">
              <a:spcBef>
                <a:spcPts val="0"/>
              </a:spcBef>
              <a:spcAft>
                <a:spcPts val="0"/>
              </a:spcAft>
              <a:buClr>
                <a:schemeClr val="dk1"/>
              </a:buClr>
              <a:buSzPts val="2400"/>
              <a:buFont typeface="Aptos"/>
              <a:buNone/>
              <a:defRPr sz="2200">
                <a:solidFill>
                  <a:schemeClr val="dk1"/>
                </a:solidFill>
                <a:latin typeface="Arial"/>
                <a:ea typeface="Arial"/>
                <a:cs typeface="Arial"/>
              </a:defRPr>
            </a:lvl9pPr>
          </a:lstStyle>
          <a:p>
            <a:pPr>
              <a:defRPr/>
            </a:pPr>
            <a:endParaRPr dirty="0"/>
          </a:p>
        </p:txBody>
      </p:sp>
      <p:sp>
        <p:nvSpPr>
          <p:cNvPr id="1637498276"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sp>
        <p:nvSpPr>
          <p:cNvPr id="1111949335"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2_Custom Layout">
    <p:spTree>
      <p:nvGrpSpPr>
        <p:cNvPr id="1" name=""/>
        <p:cNvGrpSpPr/>
        <p:nvPr/>
      </p:nvGrpSpPr>
      <p:grpSpPr bwMode="auto">
        <a:xfrm>
          <a:off x="0" y="0"/>
          <a:ext cx="0" cy="0"/>
          <a:chOff x="0" y="0"/>
          <a:chExt cx="0" cy="0"/>
        </a:xfrm>
      </p:grpSpPr>
      <p:sp>
        <p:nvSpPr>
          <p:cNvPr id="1898214394"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1_Custom Layout">
    <p:bg>
      <p:bgPr>
        <a:solidFill>
          <a:schemeClr val="bg2"/>
        </a:solidFill>
        <a:effectLst/>
      </p:bgPr>
    </p:bg>
    <p:spTree>
      <p:nvGrpSpPr>
        <p:cNvPr id="1" name=""/>
        <p:cNvGrpSpPr/>
        <p:nvPr/>
      </p:nvGrpSpPr>
      <p:grpSpPr bwMode="auto">
        <a:xfrm>
          <a:off x="0" y="0"/>
          <a:ext cx="0" cy="0"/>
          <a:chOff x="0" y="0"/>
          <a:chExt cx="0" cy="0"/>
        </a:xfrm>
      </p:grpSpPr>
      <p:pic>
        <p:nvPicPr>
          <p:cNvPr id="1081209776"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bwMode="auto">
        <a:xfrm>
          <a:off x="0" y="0"/>
          <a:ext cx="0" cy="0"/>
          <a:chOff x="0" y="0"/>
          <a:chExt cx="0" cy="0"/>
        </a:xfrm>
      </p:grpSpPr>
      <p:sp>
        <p:nvSpPr>
          <p:cNvPr id="677720339"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rial"/>
                <a:ea typeface="Arial"/>
                <a:cs typeface="Arial"/>
              </a:defRPr>
            </a:lvl1pPr>
            <a:lvl2pPr lvl="1">
              <a:spcBef>
                <a:spcPts val="0"/>
              </a:spcBef>
              <a:spcAft>
                <a:spcPts val="0"/>
              </a:spcAft>
              <a:buClr>
                <a:schemeClr val="dk1"/>
              </a:buClr>
              <a:buSzPts val="2400"/>
              <a:buFont typeface="Aptos"/>
              <a:buNone/>
              <a:defRPr sz="2400">
                <a:solidFill>
                  <a:schemeClr val="dk1"/>
                </a:solidFill>
                <a:latin typeface="Arial"/>
                <a:ea typeface="Arial"/>
                <a:cs typeface="Arial"/>
              </a:defRPr>
            </a:lvl2pPr>
            <a:lvl3pPr lvl="2">
              <a:spcBef>
                <a:spcPts val="0"/>
              </a:spcBef>
              <a:spcAft>
                <a:spcPts val="0"/>
              </a:spcAft>
              <a:buClr>
                <a:schemeClr val="dk1"/>
              </a:buClr>
              <a:buSzPts val="2400"/>
              <a:buFont typeface="Aptos"/>
              <a:buNone/>
              <a:defRPr sz="2400">
                <a:solidFill>
                  <a:schemeClr val="dk1"/>
                </a:solidFill>
                <a:latin typeface="Arial"/>
                <a:ea typeface="Arial"/>
                <a:cs typeface="Arial"/>
              </a:defRPr>
            </a:lvl3pPr>
            <a:lvl4pPr lvl="3">
              <a:spcBef>
                <a:spcPts val="0"/>
              </a:spcBef>
              <a:spcAft>
                <a:spcPts val="0"/>
              </a:spcAft>
              <a:buClr>
                <a:schemeClr val="dk1"/>
              </a:buClr>
              <a:buSzPts val="2400"/>
              <a:buFont typeface="Aptos"/>
              <a:buNone/>
              <a:defRPr sz="2400">
                <a:solidFill>
                  <a:schemeClr val="dk1"/>
                </a:solidFill>
                <a:latin typeface="Arial"/>
                <a:ea typeface="Arial"/>
                <a:cs typeface="Arial"/>
              </a:defRPr>
            </a:lvl4pPr>
            <a:lvl5pPr lvl="4">
              <a:spcBef>
                <a:spcPts val="0"/>
              </a:spcBef>
              <a:spcAft>
                <a:spcPts val="0"/>
              </a:spcAft>
              <a:buClr>
                <a:schemeClr val="dk1"/>
              </a:buClr>
              <a:buSzPts val="2400"/>
              <a:buFont typeface="Aptos"/>
              <a:buNone/>
              <a:defRPr sz="2400">
                <a:solidFill>
                  <a:schemeClr val="dk1"/>
                </a:solidFill>
                <a:latin typeface="Arial"/>
                <a:ea typeface="Arial"/>
                <a:cs typeface="Arial"/>
              </a:defRPr>
            </a:lvl5pPr>
            <a:lvl6pPr lvl="5">
              <a:spcBef>
                <a:spcPts val="0"/>
              </a:spcBef>
              <a:spcAft>
                <a:spcPts val="0"/>
              </a:spcAft>
              <a:buClr>
                <a:schemeClr val="dk1"/>
              </a:buClr>
              <a:buSzPts val="2400"/>
              <a:buFont typeface="Aptos"/>
              <a:buNone/>
              <a:defRPr sz="2400">
                <a:solidFill>
                  <a:schemeClr val="dk1"/>
                </a:solidFill>
                <a:latin typeface="Arial"/>
                <a:ea typeface="Arial"/>
                <a:cs typeface="Arial"/>
              </a:defRPr>
            </a:lvl6pPr>
            <a:lvl7pPr lvl="6">
              <a:spcBef>
                <a:spcPts val="0"/>
              </a:spcBef>
              <a:spcAft>
                <a:spcPts val="0"/>
              </a:spcAft>
              <a:buClr>
                <a:schemeClr val="dk1"/>
              </a:buClr>
              <a:buSzPts val="2400"/>
              <a:buFont typeface="Aptos"/>
              <a:buNone/>
              <a:defRPr sz="2400">
                <a:solidFill>
                  <a:schemeClr val="dk1"/>
                </a:solidFill>
                <a:latin typeface="Arial"/>
                <a:ea typeface="Arial"/>
                <a:cs typeface="Arial"/>
              </a:defRPr>
            </a:lvl7pPr>
            <a:lvl8pPr lvl="7">
              <a:spcBef>
                <a:spcPts val="0"/>
              </a:spcBef>
              <a:spcAft>
                <a:spcPts val="0"/>
              </a:spcAft>
              <a:buClr>
                <a:schemeClr val="dk1"/>
              </a:buClr>
              <a:buSzPts val="2400"/>
              <a:buFont typeface="Aptos"/>
              <a:buNone/>
              <a:defRPr sz="2400">
                <a:solidFill>
                  <a:schemeClr val="dk1"/>
                </a:solidFill>
                <a:latin typeface="Arial"/>
                <a:ea typeface="Arial"/>
                <a:cs typeface="Arial"/>
              </a:defRPr>
            </a:lvl8pPr>
            <a:lvl9pPr lvl="8">
              <a:spcBef>
                <a:spcPts val="0"/>
              </a:spcBef>
              <a:spcAft>
                <a:spcPts val="0"/>
              </a:spcAft>
              <a:buClr>
                <a:schemeClr val="dk1"/>
              </a:buClr>
              <a:buSzPts val="2400"/>
              <a:buFont typeface="Aptos"/>
              <a:buNone/>
              <a:defRPr sz="2400">
                <a:solidFill>
                  <a:schemeClr val="dk1"/>
                </a:solidFill>
                <a:latin typeface="Arial"/>
                <a:ea typeface="Arial"/>
                <a:cs typeface="Arial"/>
              </a:defRPr>
            </a:lvl9pPr>
          </a:lstStyle>
          <a:p>
            <a:pPr>
              <a:defRPr/>
            </a:pPr>
            <a:endParaRPr dirty="0"/>
          </a:p>
        </p:txBody>
      </p:sp>
      <p:sp>
        <p:nvSpPr>
          <p:cNvPr id="1365482576"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pic>
        <p:nvPicPr>
          <p:cNvPr id="1430567958" name="Google Shape;9;p1"/>
          <p:cNvPicPr/>
          <p:nvPr/>
        </p:nvPicPr>
        <p:blipFill rotWithShape="1">
          <a:blip r:embed="rId6">
            <a:alphaModFix/>
          </a:blip>
          <a:srcRect r="79249"/>
          <a:stretch/>
        </p:blipFill>
        <p:spPr bwMode="auto">
          <a:xfrm>
            <a:off x="0" y="4841359"/>
            <a:ext cx="342167" cy="302143"/>
          </a:xfrm>
          <a:prstGeom prst="rect">
            <a:avLst/>
          </a:prstGeom>
          <a:noFill/>
          <a:ln>
            <a:noFill/>
          </a:ln>
        </p:spPr>
      </p:pic>
      <p:sp>
        <p:nvSpPr>
          <p:cNvPr id="1776343266"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slide" Target="slide29.xml"/><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slide" Target="slide29.xml"/><Relationship Id="rId4"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slide" Target="slide29.xml"/><Relationship Id="rId4"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slide" Target="slide29.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slide" Target="slide47.xml"/><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slide" Target="slide47.xml"/><Relationship Id="rId4" Type="http://schemas.openxmlformats.org/officeDocument/2006/relationships/image" Target="../media/image2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slide" Target="slide47.xml"/><Relationship Id="rId4"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slide" Target="slide47.xml"/><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slide" Target="slide47.xml"/><Relationship Id="rId4" Type="http://schemas.openxmlformats.org/officeDocument/2006/relationships/image" Target="../media/image2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slide" Target="slide47.xml"/><Relationship Id="rId4"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slide" Target="slide47.xml"/><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slide" Target="slide47.xml"/><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slide" Target="slide47.xml"/><Relationship Id="rId4" Type="http://schemas.openxmlformats.org/officeDocument/2006/relationships/image" Target="../media/image3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slide" Target="slide47.xml"/><Relationship Id="rId4"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slide" Target="slide47.xml"/><Relationship Id="rId4" Type="http://schemas.openxmlformats.org/officeDocument/2006/relationships/image" Target="../media/image3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slide" Target="slide47.xml"/><Relationship Id="rId4"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slide" Target="slide47.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3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3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3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3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3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slide" Target="slide24.xml"/><Relationship Id="rId4" Type="http://schemas.openxmlformats.org/officeDocument/2006/relationships/hyperlink" Target="https://atlas.mitre.org/techniques/AML.T0051" TargetMode="External"/><Relationship Id="rId5" Type="http://schemas.openxmlformats.org/officeDocument/2006/relationships/hyperlink" Target="https://atlas.mitre.org/techniques/AML.T0051.000" TargetMode="External"/><Relationship Id="rId6" Type="http://schemas.openxmlformats.org/officeDocument/2006/relationships/hyperlink" Target="https://atlas.mitre.org/techniques/AML.T0051.001" TargetMode="External"/><Relationship Id="rId7" Type="http://schemas.openxmlformats.org/officeDocument/2006/relationships/hyperlink" Target="https://atlas.mitre.org/techniques/AML.T0054" TargetMode="External"/><Relationship Id="rId8" Type="http://schemas.openxmlformats.org/officeDocument/2006/relationships/image" Target="../media/image4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slide" Target="slide24.xml"/><Relationship Id="rId4" Type="http://schemas.openxmlformats.org/officeDocument/2006/relationships/hyperlink" Target="https://atlas.mitre.org/techniques/AML.T0051" TargetMode="External"/><Relationship Id="rId5" Type="http://schemas.openxmlformats.org/officeDocument/2006/relationships/hyperlink" Target="https://atlas.mitre.org/techniques/AML.T0051.000" TargetMode="External"/><Relationship Id="rId6" Type="http://schemas.openxmlformats.org/officeDocument/2006/relationships/hyperlink" Target="https://atlas.mitre.org/techniques/AML.T0051.001" TargetMode="External"/><Relationship Id="rId7" Type="http://schemas.openxmlformats.org/officeDocument/2006/relationships/hyperlink" Target="https://atlas.mitre.org/techniques/AML.T0054" TargetMode="External"/><Relationship Id="rId8" Type="http://schemas.openxmlformats.org/officeDocument/2006/relationships/hyperlink" Target="https://atlas.mitre.org/techniques/AML.T0081" TargetMode="External"/><Relationship Id="rId9" Type="http://schemas.openxmlformats.org/officeDocument/2006/relationships/image" Target="../media/image4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slide" Target="slide24.xml"/><Relationship Id="rId4" Type="http://schemas.openxmlformats.org/officeDocument/2006/relationships/hyperlink" Target="https://atlas.mitre.org/techniques/AML.T0051" TargetMode="External"/><Relationship Id="rId5" Type="http://schemas.openxmlformats.org/officeDocument/2006/relationships/hyperlink" Target="https://atlas.mitre.org/techniques/AML.T0051.000" TargetMode="External"/><Relationship Id="rId6" Type="http://schemas.openxmlformats.org/officeDocument/2006/relationships/hyperlink" Target="https://atlas.mitre.org/techniques/AML.T0051.001" TargetMode="External"/><Relationship Id="rId7" Type="http://schemas.openxmlformats.org/officeDocument/2006/relationships/hyperlink" Target="https://atlas.mitre.org/techniques/AML.T0054" TargetMode="External"/><Relationship Id="rId8" Type="http://schemas.openxmlformats.org/officeDocument/2006/relationships/hyperlink" Target="https://atlas.mitre.org/techniques/AML.T0081" TargetMode="External"/><Relationship Id="rId9" Type="http://schemas.openxmlformats.org/officeDocument/2006/relationships/hyperlink" Target="https://atlas.mitre.org/techniques/AML.T0105" TargetMode="External"/><Relationship Id="rId10" Type="http://schemas.openxmlformats.org/officeDocument/2006/relationships/image" Target="../media/image4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slide" Target="slide24.xml"/><Relationship Id="rId4" Type="http://schemas.openxmlformats.org/officeDocument/2006/relationships/hyperlink" Target="https://atlas.mitre.org/techniques/AML.T0051" TargetMode="External"/><Relationship Id="rId5" Type="http://schemas.openxmlformats.org/officeDocument/2006/relationships/hyperlink" Target="https://atlas.mitre.org/techniques/AML.T0051.000" TargetMode="External"/><Relationship Id="rId6" Type="http://schemas.openxmlformats.org/officeDocument/2006/relationships/hyperlink" Target="https://atlas.mitre.org/techniques/AML.T0051.001" TargetMode="External"/><Relationship Id="rId7" Type="http://schemas.openxmlformats.org/officeDocument/2006/relationships/hyperlink" Target="https://atlas.mitre.org/techniques/AML.T0054" TargetMode="External"/><Relationship Id="rId8" Type="http://schemas.openxmlformats.org/officeDocument/2006/relationships/hyperlink" Target="https://atlas.mitre.org/techniques/AML.T0081" TargetMode="External"/><Relationship Id="rId9" Type="http://schemas.openxmlformats.org/officeDocument/2006/relationships/hyperlink" Target="https://atlas.mitre.org/techniques/AML.T0105" TargetMode="External"/><Relationship Id="rId10" Type="http://schemas.openxmlformats.org/officeDocument/2006/relationships/image" Target="../media/image5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slide" Target="slide24.xml"/><Relationship Id="rId4" Type="http://schemas.openxmlformats.org/officeDocument/2006/relationships/hyperlink" Target="https://atlas.mitre.org/techniques/AML.T0051" TargetMode="External"/><Relationship Id="rId5" Type="http://schemas.openxmlformats.org/officeDocument/2006/relationships/hyperlink" Target="https://atlas.mitre.org/techniques/AML.T0051.000" TargetMode="External"/><Relationship Id="rId6" Type="http://schemas.openxmlformats.org/officeDocument/2006/relationships/hyperlink" Target="https://atlas.mitre.org/techniques/AML.T0051.001" TargetMode="External"/><Relationship Id="rId7" Type="http://schemas.openxmlformats.org/officeDocument/2006/relationships/hyperlink" Target="https://atlas.mitre.org/techniques/AML.T0054" TargetMode="External"/><Relationship Id="rId8" Type="http://schemas.openxmlformats.org/officeDocument/2006/relationships/hyperlink" Target="https://atlas.mitre.org/techniques/AML.T0081" TargetMode="External"/><Relationship Id="rId9" Type="http://schemas.openxmlformats.org/officeDocument/2006/relationships/hyperlink" Target="https://atlas.mitre.org/techniques/AML.T0105" TargetMode="External"/><Relationship Id="rId10" Type="http://schemas.openxmlformats.org/officeDocument/2006/relationships/image" Target="../media/image5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57.png"/><Relationship Id="rId4" Type="http://schemas.openxmlformats.org/officeDocument/2006/relationships/hyperlink" Target="https://atlas.mitre.org/techniques/AML.T0110.000"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58.png"/><Relationship Id="rId4" Type="http://schemas.openxmlformats.org/officeDocument/2006/relationships/hyperlink" Target="https://atlas.mitre.org/techniques/AML.T0110.000" TargetMode="External"/><Relationship Id="rId5" Type="http://schemas.openxmlformats.org/officeDocument/2006/relationships/hyperlink" Target="https://atlas.mitre.org/techniques/AML.T0110.001"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59.png"/><Relationship Id="rId4" Type="http://schemas.openxmlformats.org/officeDocument/2006/relationships/hyperlink" Target="https://atlas.mitre.org/techniques/AML.T0110.000" TargetMode="External"/><Relationship Id="rId5" Type="http://schemas.openxmlformats.org/officeDocument/2006/relationships/hyperlink" Target="https://atlas.mitre.org/techniques/AML.T0110.001" TargetMode="External"/><Relationship Id="rId6" Type="http://schemas.openxmlformats.org/officeDocument/2006/relationships/hyperlink" Target="https://atlas.mitre.org/techniques/AML.T0110.002"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60.png"/><Relationship Id="rId4" Type="http://schemas.openxmlformats.org/officeDocument/2006/relationships/hyperlink" Target="https://atlas.mitre.org/techniques/AML.T0110.000" TargetMode="External"/><Relationship Id="rId5" Type="http://schemas.openxmlformats.org/officeDocument/2006/relationships/hyperlink" Target="https://atlas.mitre.org/techniques/AML.T0110.001" TargetMode="External"/><Relationship Id="rId6" Type="http://schemas.openxmlformats.org/officeDocument/2006/relationships/hyperlink" Target="https://atlas.mitre.org/techniques/AML.T0110.002" TargetMode="External"/><Relationship Id="rId7" Type="http://schemas.openxmlformats.org/officeDocument/2006/relationships/hyperlink" Target="https://atlas.mitre.org/techniques/AML.T0083"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61.png"/><Relationship Id="rId4" Type="http://schemas.openxmlformats.org/officeDocument/2006/relationships/hyperlink" Target="https://atlas.mitre.org/techniques/AML.T0110.000" TargetMode="External"/><Relationship Id="rId5" Type="http://schemas.openxmlformats.org/officeDocument/2006/relationships/hyperlink" Target="https://atlas.mitre.org/techniques/AML.T0110.001" TargetMode="External"/><Relationship Id="rId6" Type="http://schemas.openxmlformats.org/officeDocument/2006/relationships/hyperlink" Target="https://atlas.mitre.org/techniques/AML.T0110.002" TargetMode="External"/><Relationship Id="rId7" Type="http://schemas.openxmlformats.org/officeDocument/2006/relationships/hyperlink" Target="https://atlas.mitre.org/techniques/AML.T0083" TargetMode="External"/><Relationship Id="rId8" Type="http://schemas.openxmlformats.org/officeDocument/2006/relationships/hyperlink" Target="https://atlas.mitre.org/techniques/AML.T0086"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62.png"/><Relationship Id="rId4" Type="http://schemas.openxmlformats.org/officeDocument/2006/relationships/hyperlink" Target="https://atlas.mitre.org/techniques/AML.T0110.000" TargetMode="External"/><Relationship Id="rId5" Type="http://schemas.openxmlformats.org/officeDocument/2006/relationships/hyperlink" Target="https://atlas.mitre.org/techniques/AML.T0110.001" TargetMode="External"/><Relationship Id="rId6" Type="http://schemas.openxmlformats.org/officeDocument/2006/relationships/hyperlink" Target="https://atlas.mitre.org/techniques/AML.T0110.002" TargetMode="External"/><Relationship Id="rId7" Type="http://schemas.openxmlformats.org/officeDocument/2006/relationships/hyperlink" Target="https://atlas.mitre.org/techniques/AML.T0083" TargetMode="External"/><Relationship Id="rId8" Type="http://schemas.openxmlformats.org/officeDocument/2006/relationships/hyperlink" Target="https://atlas.mitre.org/techniques/AML.T0086" TargetMode="External"/><Relationship Id="rId9" Type="http://schemas.openxmlformats.org/officeDocument/2006/relationships/hyperlink" Target="https://atlas.mitre.org/techniques/AML.T0105"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62.png"/><Relationship Id="rId4" Type="http://schemas.openxmlformats.org/officeDocument/2006/relationships/hyperlink" Target="https://atlas.mitre.org/techniques/AML.T0110.000" TargetMode="External"/><Relationship Id="rId5" Type="http://schemas.openxmlformats.org/officeDocument/2006/relationships/hyperlink" Target="https://atlas.mitre.org/techniques/AML.T0110.001" TargetMode="External"/><Relationship Id="rId6" Type="http://schemas.openxmlformats.org/officeDocument/2006/relationships/hyperlink" Target="https://atlas.mitre.org/techniques/AML.T0110.002" TargetMode="External"/><Relationship Id="rId7" Type="http://schemas.openxmlformats.org/officeDocument/2006/relationships/hyperlink" Target="https://atlas.mitre.org/techniques/AML.T0083" TargetMode="External"/><Relationship Id="rId8" Type="http://schemas.openxmlformats.org/officeDocument/2006/relationships/hyperlink" Target="https://atlas.mitre.org/techniques/AML.T0086" TargetMode="External"/><Relationship Id="rId9" Type="http://schemas.openxmlformats.org/officeDocument/2006/relationships/hyperlink" Target="https://atlas.mitre.org/techniques/AML.T0105"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 Id="rId3" Type="http://schemas.openxmlformats.org/officeDocument/2006/relationships/image" Target="../media/image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3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38.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3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4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4" Type="http://schemas.openxmlformats.org/officeDocument/2006/relationships/image" Target="../media/image40.png"/><Relationship Id="rId5" Type="http://schemas.openxmlformats.org/officeDocument/2006/relationships/slide" Target="slide14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6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 Id="rId3" Type="http://schemas.openxmlformats.org/officeDocument/2006/relationships/image" Target="../media/image66.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 Id="rId3" Type="http://schemas.openxmlformats.org/officeDocument/2006/relationships/image" Target="../media/image66.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4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4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4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4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 Id="rId3" Type="http://schemas.openxmlformats.org/officeDocument/2006/relationships/slide" Target="slide6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080" TargetMode="External"/><Relationship Id="rId6" Type="http://schemas.openxmlformats.org/officeDocument/2006/relationships/slide" Target="slide12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080" TargetMode="External"/><Relationship Id="rId6" Type="http://schemas.openxmlformats.org/officeDocument/2006/relationships/slide" Target="slide12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080" TargetMode="External"/><Relationship Id="rId6" Type="http://schemas.openxmlformats.org/officeDocument/2006/relationships/slide" Target="slide12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080" TargetMode="External"/><Relationship Id="rId6" Type="http://schemas.openxmlformats.org/officeDocument/2006/relationships/slide" Target="slide12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 Id="rId3" Type="http://schemas.openxmlformats.org/officeDocument/2006/relationships/hyperlink" Target="https://atlas.mitre.org/techniques/AML.T0110.001" TargetMode="External"/><Relationship Id="rId4" Type="http://schemas.openxmlformats.org/officeDocument/2006/relationships/image" Target="../media/image5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 Id="rId3" Type="http://schemas.openxmlformats.org/officeDocument/2006/relationships/hyperlink" Target="https://atlas.mitre.org/techniques/AML.T0110.001" TargetMode="External"/><Relationship Id="rId4" Type="http://schemas.openxmlformats.org/officeDocument/2006/relationships/hyperlink" Target="https://atlas.mitre.org/techniques/AML.T0083" TargetMode="External"/><Relationship Id="rId5" Type="http://schemas.openxmlformats.org/officeDocument/2006/relationships/image" Target="../media/image5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 Id="rId3" Type="http://schemas.openxmlformats.org/officeDocument/2006/relationships/hyperlink" Target="https://atlas.mitre.org/techniques/AML.T0110.001" TargetMode="External"/><Relationship Id="rId4" Type="http://schemas.openxmlformats.org/officeDocument/2006/relationships/hyperlink" Target="https://atlas.mitre.org/techniques/AML.T0083" TargetMode="External"/><Relationship Id="rId5" Type="http://schemas.openxmlformats.org/officeDocument/2006/relationships/hyperlink" Target="https://atlas.mitre.org/techniques/AML.T0086" TargetMode="External"/><Relationship Id="rId6" Type="http://schemas.openxmlformats.org/officeDocument/2006/relationships/image" Target="../media/image53.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 Id="rId3" Type="http://schemas.openxmlformats.org/officeDocument/2006/relationships/hyperlink" Target="https://atlas.mitre.org/techniques/AML.T0110.001" TargetMode="External"/><Relationship Id="rId4" Type="http://schemas.openxmlformats.org/officeDocument/2006/relationships/hyperlink" Target="https://atlas.mitre.org/techniques/AML.T0083" TargetMode="External"/><Relationship Id="rId5" Type="http://schemas.openxmlformats.org/officeDocument/2006/relationships/hyperlink" Target="https://atlas.mitre.org/techniques/AML.T0086" TargetMode="External"/><Relationship Id="rId6" Type="http://schemas.openxmlformats.org/officeDocument/2006/relationships/hyperlink" Target="https://atlas.mitre.org/techniques/AML.T0105" TargetMode="External"/><Relationship Id="rId7" Type="http://schemas.openxmlformats.org/officeDocument/2006/relationships/image" Target="../media/image5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 Id="rId3" Type="http://schemas.openxmlformats.org/officeDocument/2006/relationships/hyperlink" Target="https://atlas.mitre.org/techniques/AML.T0110.001" TargetMode="External"/><Relationship Id="rId4" Type="http://schemas.openxmlformats.org/officeDocument/2006/relationships/hyperlink" Target="https://atlas.mitre.org/techniques/AML.T0083" TargetMode="External"/><Relationship Id="rId5" Type="http://schemas.openxmlformats.org/officeDocument/2006/relationships/hyperlink" Target="https://atlas.mitre.org/techniques/AML.T0086" TargetMode="External"/><Relationship Id="rId6" Type="http://schemas.openxmlformats.org/officeDocument/2006/relationships/hyperlink" Target="https://atlas.mitre.org/techniques/AML.T0105" TargetMode="External"/><Relationship Id="rId7" Type="http://schemas.openxmlformats.org/officeDocument/2006/relationships/hyperlink" Target="https://atlas.mitre.org/techniques/AML.T0034.002" TargetMode="External"/><Relationship Id="rId8" Type="http://schemas.openxmlformats.org/officeDocument/2006/relationships/hyperlink" Target="https://atlas.mitre.org/mitigations/AML.M0035" TargetMode="External"/><Relationship Id="rId9" Type="http://schemas.openxmlformats.org/officeDocument/2006/relationships/hyperlink" Target="https://atlas.mitre.org/mitigations/AML.M0036" TargetMode="External"/><Relationship Id="rId10" Type="http://schemas.openxmlformats.org/officeDocument/2006/relationships/image" Target="../media/image55.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 Id="rId3" Type="http://schemas.openxmlformats.org/officeDocument/2006/relationships/hyperlink" Target="https://atlas.mitre.org/techniques/AML.T0110.001" TargetMode="External"/><Relationship Id="rId4" Type="http://schemas.openxmlformats.org/officeDocument/2006/relationships/hyperlink" Target="https://atlas.mitre.org/techniques/AML.T0083" TargetMode="External"/><Relationship Id="rId5" Type="http://schemas.openxmlformats.org/officeDocument/2006/relationships/hyperlink" Target="https://atlas.mitre.org/techniques/AML.T0086" TargetMode="External"/><Relationship Id="rId6" Type="http://schemas.openxmlformats.org/officeDocument/2006/relationships/hyperlink" Target="https://atlas.mitre.org/techniques/AML.T0105" TargetMode="External"/><Relationship Id="rId7" Type="http://schemas.openxmlformats.org/officeDocument/2006/relationships/hyperlink" Target="https://atlas.mitre.org/techniques/AML.T0034.002" TargetMode="External"/><Relationship Id="rId8" Type="http://schemas.openxmlformats.org/officeDocument/2006/relationships/hyperlink" Target="https://atlas.mitre.org/mitigations/AML.M0035" TargetMode="External"/><Relationship Id="rId9" Type="http://schemas.openxmlformats.org/officeDocument/2006/relationships/hyperlink" Target="https://atlas.mitre.org/mitigations/AML.M0036" TargetMode="External"/><Relationship Id="rId10" Type="http://schemas.openxmlformats.org/officeDocument/2006/relationships/image" Target="../media/image56.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 Id="rId3" Type="http://schemas.openxmlformats.org/officeDocument/2006/relationships/hyperlink" Target="https://atlas.mitre.org/techniques/AML.T0110.000" TargetMode="External"/><Relationship Id="rId4" Type="http://schemas.openxmlformats.org/officeDocument/2006/relationships/image" Target="../media/image5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image" Target="../media/image56.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109" TargetMode="External"/><Relationship Id="rId6" Type="http://schemas.openxmlformats.org/officeDocument/2006/relationships/hyperlink" Target="https://atlas.mitre.org/techniques/AML.T0010.005" TargetMode="External"/><Relationship Id="rId7" Type="http://schemas.openxmlformats.org/officeDocument/2006/relationships/hyperlink" Target="https://atlas.mitre.org/mitigations/AML.M0035" TargetMode="External"/><Relationship Id="rId8" Type="http://schemas.openxmlformats.org/officeDocument/2006/relationships/image" Target="../media/image56.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109" TargetMode="External"/><Relationship Id="rId6" Type="http://schemas.openxmlformats.org/officeDocument/2006/relationships/hyperlink" Target="https://atlas.mitre.org/techniques/AML.T0010.005" TargetMode="External"/><Relationship Id="rId7" Type="http://schemas.openxmlformats.org/officeDocument/2006/relationships/hyperlink" Target="https://atlas.mitre.org/mitigations/AML.M0035" TargetMode="External"/><Relationship Id="rId8" Type="http://schemas.openxmlformats.org/officeDocument/2006/relationships/hyperlink" Target="https://atlas.mitre.org/techniques/AML.T0080" TargetMode="External"/><Relationship Id="rId9" Type="http://schemas.openxmlformats.org/officeDocument/2006/relationships/hyperlink" Target="https://atlas.mitre.org/mitigations/AML.M0031" TargetMode="External"/><Relationship Id="rId10" Type="http://schemas.openxmlformats.org/officeDocument/2006/relationships/image" Target="../media/image56.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109" TargetMode="External"/><Relationship Id="rId6" Type="http://schemas.openxmlformats.org/officeDocument/2006/relationships/hyperlink" Target="https://atlas.mitre.org/techniques/AML.T0010.005" TargetMode="External"/><Relationship Id="rId7" Type="http://schemas.openxmlformats.org/officeDocument/2006/relationships/hyperlink" Target="https://atlas.mitre.org/mitigations/AML.M0035" TargetMode="External"/><Relationship Id="rId8" Type="http://schemas.openxmlformats.org/officeDocument/2006/relationships/hyperlink" Target="https://atlas.mitre.org/techniques/AML.T0080" TargetMode="External"/><Relationship Id="rId9" Type="http://schemas.openxmlformats.org/officeDocument/2006/relationships/hyperlink" Target="https://atlas.mitre.org/mitigations/AML.M0031" TargetMode="External"/><Relationship Id="rId10" Type="http://schemas.openxmlformats.org/officeDocument/2006/relationships/image" Target="../media/image56.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 Id="rId3" Type="http://schemas.openxmlformats.org/officeDocument/2006/relationships/slide" Target="slide1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 Id="rId3" Type="http://schemas.openxmlformats.org/officeDocument/2006/relationships/slide" Target="slide1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 Id="rId3" Type="http://schemas.openxmlformats.org/officeDocument/2006/relationships/slide" Target="slide18.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 Id="rId3" Type="http://schemas.openxmlformats.org/officeDocument/2006/relationships/slide" Target="slide1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 Id="rId3" Type="http://schemas.openxmlformats.org/officeDocument/2006/relationships/slide" Target="slide1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 Id="rId3" Type="http://schemas.openxmlformats.org/officeDocument/2006/relationships/slide" Target="slide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 Id="rId3" Type="http://schemas.openxmlformats.org/officeDocument/2006/relationships/slide" Target="slide1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4.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5.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tlas.mitre.org/mitigations/AML.M0035" TargetMode="External"/><Relationship Id="rId3" Type="http://schemas.openxmlformats.org/officeDocument/2006/relationships/hyperlink" Target="https://atlas.mitre.org/techniques/AML.T0081" TargetMode="External"/><Relationship Id="rId4"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tlas.mitre.org/mitigations/AML.M0035" TargetMode="External"/><Relationship Id="rId3" Type="http://schemas.openxmlformats.org/officeDocument/2006/relationships/hyperlink" Target="https://atlas.mitre.org/techniques/AML.T0081" TargetMode="External"/><Relationship Id="rId4" Type="http://schemas.openxmlformats.org/officeDocument/2006/relationships/hyperlink" Target="https://atlas.mitre.org/techniques/AML.T0105" TargetMode="External"/><Relationship Id="rId5"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tlas.mitre.org/mitigations/AML.M0035" TargetMode="External"/><Relationship Id="rId3" Type="http://schemas.openxmlformats.org/officeDocument/2006/relationships/hyperlink" Target="https://atlas.mitre.org/techniques/AML.T0081" TargetMode="External"/><Relationship Id="rId4" Type="http://schemas.openxmlformats.org/officeDocument/2006/relationships/hyperlink" Target="https://atlas.mitre.org/techniques/AML.T0105" TargetMode="External"/><Relationship Id="rId5"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tlas.mitre.org/mitigations/AML.M0035" TargetMode="External"/><Relationship Id="rId3" Type="http://schemas.openxmlformats.org/officeDocument/2006/relationships/hyperlink" Target="https://atlas.mitre.org/techniques/AML.T0081" TargetMode="External"/><Relationship Id="rId4" Type="http://schemas.openxmlformats.org/officeDocument/2006/relationships/hyperlink" Target="https://atlas.mitre.org/techniques/AML.T0105" TargetMode="External"/><Relationship Id="rId5" Type="http://schemas.openxmlformats.org/officeDocument/2006/relationships/hyperlink" Target="https://atlas.mitre.org/mitigations/AML.M0020" TargetMode="External"/><Relationship Id="rId6" Type="http://schemas.openxmlformats.org/officeDocument/2006/relationships/hyperlink" Target="https://atlas.mitre.org/mitigations/AML.M0021" TargetMode="External"/><Relationship Id="rId7" Type="http://schemas.openxmlformats.org/officeDocument/2006/relationships/hyperlink" Target="https://atlas.mitre.org/mitigations/AML.M0022" TargetMode="External"/><Relationship Id="rId8" Type="http://schemas.openxmlformats.org/officeDocument/2006/relationships/hyperlink" Target="https://atlas.mitre.org/techniques/AML.T0054" TargetMode="External"/><Relationship Id="rId9"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tlas.mitre.org/mitigations/AML.M0035" TargetMode="External"/><Relationship Id="rId3" Type="http://schemas.openxmlformats.org/officeDocument/2006/relationships/hyperlink" Target="https://atlas.mitre.org/techniques/AML.T0081" TargetMode="External"/><Relationship Id="rId4" Type="http://schemas.openxmlformats.org/officeDocument/2006/relationships/hyperlink" Target="https://atlas.mitre.org/techniques/AML.T0105" TargetMode="External"/><Relationship Id="rId5" Type="http://schemas.openxmlformats.org/officeDocument/2006/relationships/hyperlink" Target="https://atlas.mitre.org/mitigations/AML.M0020" TargetMode="External"/><Relationship Id="rId6" Type="http://schemas.openxmlformats.org/officeDocument/2006/relationships/hyperlink" Target="https://atlas.mitre.org/mitigations/AML.M0021" TargetMode="External"/><Relationship Id="rId7" Type="http://schemas.openxmlformats.org/officeDocument/2006/relationships/hyperlink" Target="https://atlas.mitre.org/mitigations/AML.M0022" TargetMode="External"/><Relationship Id="rId8" Type="http://schemas.openxmlformats.org/officeDocument/2006/relationships/hyperlink" Target="https://atlas.mitre.org/techniques/AML.T0054" TargetMode="External"/><Relationship Id="rId9"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65578072" name="Title 1"/>
          <p:cNvSpPr>
            <a:spLocks noGrp="1"/>
          </p:cNvSpPr>
          <p:nvPr>
            <p:ph type="ctrTitle"/>
          </p:nvPr>
        </p:nvSpPr>
        <p:spPr bwMode="auto"/>
        <p:txBody>
          <a:bodyPr/>
          <a:lstStyle/>
          <a:p>
            <a:pPr>
              <a:defRPr/>
            </a:pPr>
            <a:r>
              <a:rPr lang="en-US" b="1"/>
              <a:t>Designing Production Agentic Systems</a:t>
            </a:r>
            <a:endParaRPr b="1"/>
          </a:p>
        </p:txBody>
      </p:sp>
      <p:sp>
        <p:nvSpPr>
          <p:cNvPr id="1279590415" name="Subtitle 2"/>
          <p:cNvSpPr>
            <a:spLocks noGrp="1"/>
          </p:cNvSpPr>
          <p:nvPr>
            <p:ph type="subTitle" idx="1"/>
          </p:nvPr>
        </p:nvSpPr>
        <p:spPr bwMode="auto"/>
        <p:txBody>
          <a:bodyPr/>
          <a:lstStyle/>
          <a:p>
            <a:pPr>
              <a:defRPr/>
            </a:pPr>
            <a:r>
              <a:rPr b="1"/>
              <a:t>Columbia · Fall 2026 · Lecture </a:t>
            </a:r>
            <a:r>
              <a:rPr lang="en-US" b="1"/>
              <a:t>6</a:t>
            </a:r>
            <a:endParaRPr b="1"/>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45490697" name="TextBox 3"/>
          <p:cNvSpPr txBox="1"/>
          <p:nvPr/>
        </p:nvSpPr>
        <p:spPr bwMode="auto">
          <a:xfrm>
            <a:off x="364432" y="2217807"/>
            <a:ext cx="6144607" cy="701399"/>
          </a:xfrm>
          <a:prstGeom prst="rect">
            <a:avLst/>
          </a:prstGeom>
          <a:noFill/>
        </p:spPr>
        <p:txBody>
          <a:bodyPr wrap="square" rtlCol="0">
            <a:spAutoFit/>
          </a:bodyPr>
          <a:lstStyle/>
          <a:p>
            <a:pPr algn="ctr">
              <a:defRPr/>
            </a:pPr>
            <a:r>
              <a:rPr lang="en-US" sz="4000" b="1" dirty="0">
                <a:solidFill>
                  <a:schemeClr val="tx2"/>
                </a:solidFill>
                <a:latin typeface="+mj-lt"/>
              </a:rPr>
              <a:t>Lecture 5 Recap</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dirty="0">
                <a:solidFill>
                  <a:schemeClr val="bg1"/>
                </a:solidFill>
                <a:latin typeface="Arial"/>
              </a:rPr>
              <a:t>The enforcement point</a:t>
            </a:r>
            <a:endParaRPr dirty="0"/>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1540695"/>
          </a:xfrm>
          <a:prstGeom prst="rect">
            <a:avLst/>
          </a:prstGeom>
        </p:spPr>
      </p:pic>
      <p:pic>
        <p:nvPicPr>
          <p:cNvPr id="15" name="Picture 13" descr="image.png"/>
          <p:cNvPicPr>
            <a:picLocks noChangeAspect="1"/>
          </p:cNvPicPr>
          <p:nvPr/>
        </p:nvPicPr>
        <p:blipFill rotWithShape="1">
          <a:blip r:embed="rId3">
            <a:alphaModFix amt="70000"/>
          </a:blip>
          <a:stretch/>
        </p:blipFill>
        <p:spPr bwMode="auto">
          <a:xfrm>
            <a:off x="822960" y="3870212"/>
            <a:ext cx="5733288" cy="6649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Alignment is the other.</a:t>
            </a:r>
            <a:r>
              <a:rPr lang="en-US" sz="1200" b="0">
                <a:solidFill>
                  <a:srgbClr val="FFFFFF">
                    <a:alpha val="0"/>
                  </a:srgbClr>
                </a:solidFill>
              </a:rPr>
              <a:t> </a:t>
            </a:r>
            <a:r>
              <a:rPr lang="en-US" sz="1200" b="0" u="sng">
                <a:solidFill>
                  <a:srgbClr val="FFFFFF">
                    <a:alpha val="0"/>
                  </a:srgbClr>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FFFFFF">
                    <a:alpha val="0"/>
                  </a:srgbClr>
                </a:solidFill>
              </a:rPr>
              <a:t> trains or fine-tunes a generative model toward safe, in-scope behavior.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Rectangle 4"/>
          <p:cNvSpPr/>
          <p:nvPr/>
        </p:nvSpPr>
        <p:spPr bwMode="auto">
          <a:xfrm>
            <a:off x="320040" y="2784233"/>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that lives in the model depends on the model's behavior, so a measurement of that behavior under tool use tests the placement.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treatment:</a:t>
            </a:r>
            <a:r>
              <a:rPr lang="en-US" sz="1200" b="0">
                <a:solidFill>
                  <a:srgbClr val="FFFFFF">
                    <a:alpha val="0"/>
                  </a:srgbClr>
                </a:solidFill>
              </a:rPr>
              <a:t> the same model uses four tools in a ReACT loop.</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1.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2.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Rectangle 4"/>
          <p:cNvSpPr/>
          <p:nvPr/>
        </p:nvSpPr>
        <p:spPr bwMode="auto">
          <a:xfrm>
            <a:off x="320040" y="4103226"/>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model runs twice, with and without the tool loop, and the study counts the harmful requests it fails to refuse.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All 11 models</a:t>
            </a:r>
            <a:r>
              <a:rPr lang="en-US" sz="1200" baseline="30000">
                <a:solidFill>
                  <a:srgbClr val="FFFFFF">
                    <a:alpha val="0"/>
                  </a:srgbClr>
                </a:solidFill>
              </a:rPr>
              <a:t>[1]</a:t>
            </a:r>
            <a:r>
              <a:rPr lang="en-US" sz="1200" b="0">
                <a:solidFill>
                  <a:srgbClr val="FFFFFF">
                    <a:alpha val="0"/>
                  </a:srgbClr>
                </a:solidFill>
              </a:rPr>
              <a:t> fail to refuse more often with tools.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1.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2.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Rectangle 4"/>
          <p:cNvSpPr/>
          <p:nvPr/>
        </p:nvSpPr>
        <p:spPr bwMode="auto">
          <a:xfrm>
            <a:off x="320040" y="4224528"/>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Tool use increased refusal failure rates across all 11 evaluated models.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No call:</a:t>
            </a:r>
            <a:r>
              <a:rPr lang="en-US" sz="1200" b="0">
                <a:solidFill>
                  <a:srgbClr val="FFFFFF">
                    <a:alpha val="0"/>
                  </a:srgbClr>
                </a:solidFill>
              </a:rPr>
              <a:t> 11.8%. </a:t>
            </a:r>
            <a:r>
              <a:rPr lang="en-US" sz="1200" b="1">
                <a:solidFill>
                  <a:srgbClr val="FFFFFF">
                    <a:alpha val="0"/>
                  </a:srgbClr>
                </a:solidFill>
              </a:rPr>
              <a:t>Three or more calls:</a:t>
            </a:r>
            <a:r>
              <a:rPr lang="en-US" sz="1200" b="0">
                <a:solidFill>
                  <a:srgbClr val="FFFFFF">
                    <a:alpha val="0"/>
                  </a:srgbClr>
                </a:solidFill>
              </a:rPr>
              <a:t> 37.1%.</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1.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2.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3.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4.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Rectangle 4"/>
          <p:cNvSpPr/>
          <p:nvPr/>
        </p:nvSpPr>
        <p:spPr bwMode="auto">
          <a:xfrm>
            <a:off x="320040" y="414349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Among requests that the model refused without tools, the failures grow with the number of tool calls it makes.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minimal prompt adds 3.8 points,</a:t>
            </a:r>
            <a:r>
              <a:rPr lang="en-US" sz="1200" b="0">
                <a:solidFill>
                  <a:srgbClr val="FFFFFF">
                    <a:alpha val="0"/>
                  </a:srgbClr>
                </a:solidFill>
              </a:rPr>
              <a:t> the structured one 4.2.</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loss of refusals appears when the tool output is fake, when the prompt changes, and when the tools are not the authors' own.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Context dilution:</a:t>
            </a:r>
            <a:r>
              <a:rPr lang="en-US" sz="1200" b="0">
                <a:solidFill>
                  <a:srgbClr val="FFFFFF">
                    <a:alpha val="0"/>
                  </a:srgbClr>
                </a:solidFill>
              </a:rPr>
              <a:t> each output pushes the request back.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1.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2.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3.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authors propose that tool observations dilute the request and displace safety statements in the answer.</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Without tools,</a:t>
            </a:r>
            <a:r>
              <a:rPr lang="en-US" sz="1200" baseline="30000">
                <a:solidFill>
                  <a:srgbClr val="FFFFFF">
                    <a:alpha val="0"/>
                  </a:srgbClr>
                </a:solidFill>
              </a:rPr>
              <a:t>[1]</a:t>
            </a:r>
            <a:r>
              <a:rPr lang="en-US" sz="1200" b="0">
                <a:solidFill>
                  <a:srgbClr val="FFFFFF">
                    <a:alpha val="0"/>
                  </a:srgbClr>
                </a:solidFill>
              </a:rPr>
              <a:t> most refusals open with a direct answer: 55.6%.</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With tools, most refusals open by describing the image or a tool's output, and fewer open with a safety statement.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restates the image and question</a:t>
            </a:r>
            <a:r>
              <a:rPr lang="en-US" sz="1200" b="0">
                <a:solidFill>
                  <a:srgbClr val="FFFFFF">
                    <a:alpha val="0"/>
                  </a:srgbClr>
                </a:solidFill>
              </a:rPr>
              <a:t> with no safety wording.</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2.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3.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4.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Re-asking restores part of the refusals. Refusal failure rates remained above the no-tool baseline for each evaluated model.</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falls to 32.4%,</a:t>
            </a:r>
            <a:r>
              <a:rPr lang="en-US" sz="1200" b="0">
                <a:solidFill>
                  <a:srgbClr val="FFFFFF">
                    <a:alpha val="0"/>
                  </a:srgbClr>
                </a:solidFill>
              </a:rPr>
              <a:t> from 35.9%, still above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3.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Rectangle 4"/>
          <p:cNvSpPr/>
          <p:nvPr/>
        </p:nvSpPr>
        <p:spPr bwMode="auto">
          <a:xfrm>
            <a:off x="320040" y="408710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repair placed in the harness narrows the gap and leaves part of it open.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effect needs no attack on the tools.</a:t>
            </a:r>
            <a:r>
              <a:rPr lang="en-US" sz="1200" b="0">
                <a:solidFill>
                  <a:srgbClr val="FFFFFF">
                    <a:alpha val="0"/>
                  </a:srgbClr>
                </a:solidFill>
              </a:rPr>
              <a:t> It persists when the tool output, the prompt or the tools change.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Rectangle 4"/>
          <p:cNvSpPr/>
          <p:nvPr/>
        </p:nvSpPr>
        <p:spPr bwMode="auto">
          <a:xfrm>
            <a:off x="320040" y="25739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refusal rule held only in the model weakens as tools are used, so the next question is which process should enforce it.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harness:</a:t>
            </a:r>
            <a:r>
              <a:rPr lang="en-US" sz="1200" b="0">
                <a:solidFill>
                  <a:srgbClr val="FFFFFF">
                    <a:alpha val="0"/>
                  </a:srgbClr>
                </a:solidFill>
              </a:rPr>
              <a:t> the dispatcher's check on every call.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1.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2.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3.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pic>
        <p:nvPicPr>
          <p:cNvPr id="4"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sp>
        <p:nvSpPr>
          <p:cNvPr id="4" name="Rectangle 4"/>
          <p:cNvSpPr/>
          <p:nvPr/>
        </p:nvSpPr>
        <p:spPr bwMode="auto">
          <a:xfrm>
            <a:off x="320040" y="4069080"/>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Prompt instructions and checks within the agent's process remain exposed to agent influence. Kernel controls and external hardware enforce policy across a separate trust boundary.</a:t>
            </a:r>
            <a:endParaRPr/>
          </a:p>
        </p:txBody>
      </p:sp>
      <p:pic>
        <p:nvPicPr>
          <p:cNvPr id="5"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1.png"/>
          <p:cNvPicPr>
            <a:picLocks noChangeAspect="1"/>
          </p:cNvPicPr>
          <p:nvPr/>
        </p:nvPicPr>
        <p:blipFill>
          <a:blip r:embed="rId8"/>
          <a:stretch>
            <a:fillRect/>
          </a:stretch>
        </p:blipFill>
        <p:spPr>
          <a:xfrm>
            <a:off x="620878" y="1678627"/>
            <a:ext cx="5415077" cy="2346191"/>
          </a:xfrm>
          <a:prstGeom prst="rect">
            <a:avLst/>
          </a:prstGeom>
        </p:spPr>
      </p:pic>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2.png"/>
          <p:cNvPicPr>
            <a:picLocks noChangeAspect="1"/>
          </p:cNvPicPr>
          <p:nvPr/>
        </p:nvPicPr>
        <p:blipFill>
          <a:blip r:embed="rId9"/>
          <a:stretch>
            <a:fillRect/>
          </a:stretch>
        </p:blipFill>
        <p:spPr>
          <a:xfrm>
            <a:off x="620878" y="1678627"/>
            <a:ext cx="5415077" cy="2346191"/>
          </a:xfrm>
          <a:prstGeom prst="rect">
            <a:avLst/>
          </a:prstGeom>
        </p:spPr>
      </p:pic>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3.png"/>
          <p:cNvPicPr>
            <a:picLocks noChangeAspect="1"/>
          </p:cNvPicPr>
          <p:nvPr/>
        </p:nvPicPr>
        <p:blipFill>
          <a:blip r:embed="rId10"/>
          <a:stretch>
            <a:fillRect/>
          </a:stretch>
        </p:blipFill>
        <p:spPr>
          <a:xfrm>
            <a:off x="620878" y="1678627"/>
            <a:ext cx="5415077" cy="2346191"/>
          </a:xfrm>
          <a:prstGeom prst="rect">
            <a:avLst/>
          </a:prstGeom>
        </p:spPr>
      </p:pic>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pic>
        <p:nvPicPr>
          <p:cNvPr id="6" name="Figure bypass-places" descr="bypass-places-4.png"/>
          <p:cNvPicPr>
            <a:picLocks noChangeAspect="1"/>
          </p:cNvPicPr>
          <p:nvPr/>
        </p:nvPicPr>
        <p:blipFill>
          <a:blip r:embed="rId10"/>
          <a:stretch>
            <a:fillRect/>
          </a:stretch>
        </p:blipFill>
        <p:spPr>
          <a:xfrm>
            <a:off x="620878" y="1678627"/>
            <a:ext cx="5415077" cy="2346191"/>
          </a:xfrm>
          <a:prstGeom prst="rect">
            <a:avLst/>
          </a:prstGeom>
        </p:spPr>
      </p:pic>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figure gives, for each place, what a bypass requires and the ATLAS technique that names it. Places three and four lie outside the agent's process.</a:t>
            </a:r>
            <a:endParaRPr/>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Kernel enforcement and external hardware place controls outside the agent's process.</a:t>
            </a:r>
            <a:endParaRPr/>
          </a:p>
        </p:txBody>
      </p:sp>
      <p:pic>
        <p:nvPicPr>
          <p:cNvPr id="7" name="Figure bypass-places" descr="bypass-places-4.png"/>
          <p:cNvPicPr>
            <a:picLocks noChangeAspect="1"/>
          </p:cNvPicPr>
          <p:nvPr/>
        </p:nvPicPr>
        <p:blipFill>
          <a:blip r:embed="rId10"/>
          <a:stretch>
            <a:fillRect/>
          </a:stretch>
        </p:blipFill>
        <p:spPr>
          <a:xfrm>
            <a:off x="620878" y="1678627"/>
            <a:ext cx="5415077" cy="2346191"/>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1.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2.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3.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4.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5.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pic>
        <p:nvPicPr>
          <p:cNvPr id="5" name="Figure entry-points" descr="entry-points-6.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figure gives, for each of the six techniques, the place where it enters the tool call.</a:t>
            </a:r>
            <a:endParaRPr/>
          </a:p>
        </p:txBody>
      </p:sp>
      <p:sp>
        <p:nvSpPr>
          <p:cNvPr id="4" name="Rectangle 4"/>
          <p:cNvSpPr/>
          <p:nvPr/>
        </p:nvSpPr>
        <p:spPr bwMode="auto">
          <a:xfrm>
            <a:off x="320040" y="3915281"/>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Definition poisoning, response poisoning, and exfiltration through tool arguments involve model-visible text. Implementation poisoning, credential access, and sandbox escape involve executable code or process privileges.</a:t>
            </a:r>
            <a:endParaRPr/>
          </a:p>
        </p:txBody>
      </p:sp>
      <p:pic>
        <p:nvPicPr>
          <p:cNvPr id="6" name="Figure entry-points" descr="entry-points-6.png"/>
          <p:cNvPicPr>
            <a:picLocks noChangeAspect="1"/>
          </p:cNvPicPr>
          <p:nvPr/>
        </p:nvPicPr>
        <p:blipFill>
          <a:blip r:embed="rId3"/>
          <a:stretch>
            <a:fillRect/>
          </a:stretch>
        </p:blipFill>
        <p:spPr>
          <a:xfrm>
            <a:off x="320040" y="1525118"/>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dirty="0">
                <a:solidFill>
                  <a:schemeClr val="bg1"/>
                </a:solidFill>
                <a:latin typeface="Arial"/>
              </a:rPr>
              <a:t>OpenShell and the sandbox research</a:t>
            </a:r>
            <a:endParaRPr dirty="0"/>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20161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NVIDIA announced OpenShell at GTC on March 16, 2026,</a:t>
            </a:r>
            <a:r>
              <a:rPr lang="en-US" sz="1200" b="0" dirty="0">
                <a:solidFill>
                  <a:srgbClr val="FFFFFF">
                    <a:alpha val="0"/>
                  </a:srgbClr>
                </a:solidFill>
              </a:rPr>
              <a:t> as part of </a:t>
            </a:r>
            <a:r>
              <a:rPr lang="en-US" sz="1200" b="0" dirty="0" err="1">
                <a:solidFill>
                  <a:srgbClr val="FFFFFF">
                    <a:alpha val="0"/>
                  </a:srgbClr>
                </a:solidFill>
              </a:rPr>
              <a:t>NemoClaw</a:t>
            </a:r>
            <a:r>
              <a:rPr lang="en-US" sz="1200" b="0" dirty="0">
                <a:solidFill>
                  <a:srgbClr val="FFFFFF">
                    <a:alpha val="0"/>
                  </a:srgbClr>
                </a:solidFill>
              </a:rPr>
              <a:t>, the stack that runs OpenClaw inside OpenShell. On September 28, 2026, NVIDIA paired OpenShell with the Sentry reference design as the Open Agent Safety Platform</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Rectangle 4"/>
          <p:cNvSpPr/>
          <p:nvPr/>
        </p:nvSpPr>
        <p:spPr bwMode="auto">
          <a:xfrm>
            <a:off x="320040" y="40461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enforces resource access outside the agent's process while running the agent unmodified.</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architecture and responsibilities</a:t>
            </a:r>
          </a:p>
        </p:txBody>
      </p:sp>
      <p:sp>
        <p:nvSpPr>
          <p:cNvPr id="3" name="Content Placeholder 2"/>
          <p:cNvSpPr>
            <a:spLocks noGrp="1"/>
          </p:cNvSpPr>
          <p:nvPr>
            <p:ph idx="1"/>
          </p:nvPr>
        </p:nvSpPr>
        <p:spPr bwMode="auto">
          <a:xfrm>
            <a:off x="320040" y="658368"/>
            <a:ext cx="6016752" cy="140208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Gateway.</a:t>
            </a:r>
            <a:r>
              <a:rPr lang="en-US" sz="1100" b="0">
                <a:solidFill>
                  <a:srgbClr val="000000"/>
                </a:solidFill>
              </a:rPr>
              <a:t> The control plane: lifecycle, policies and credentials of many sandboxes.</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Supervisor.</a:t>
            </a:r>
            <a:r>
              <a:rPr lang="en-US" sz="1100" b="0">
                <a:solidFill>
                  <a:srgbClr val="FFFFFF">
                    <a:alpha val="0"/>
                  </a:srgbClr>
                </a:solidFill>
              </a:rPr>
              <a:t> Runs outside the sandbox and decides every outbound connection.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Sandbox.</a:t>
            </a:r>
            <a:r>
              <a:rPr lang="en-US" sz="1100" b="0">
                <a:solidFill>
                  <a:srgbClr val="FFFFFF">
                    <a:alpha val="0"/>
                  </a:srgbClr>
                </a:solidFill>
              </a:rPr>
              <a:t> The isolated environment for the agent, with a small runtime inside.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Substrates.</a:t>
            </a:r>
            <a:r>
              <a:rPr lang="en-US" sz="1100" b="0">
                <a:solidFill>
                  <a:srgbClr val="FFFFFF">
                    <a:alpha val="0"/>
                  </a:srgbClr>
                </a:solidFill>
              </a:rPr>
              <a:t> Docker, Podman, Kubernetes or a libkrun microVM isolate the sandbox.</a:t>
            </a:r>
            <a:endParaRPr>
              <a:solidFill>
                <a:srgbClr val="FFFFFF">
                  <a:alpha val="0"/>
                </a:srgbClr>
              </a:solidFill>
            </a:endParaRPr>
          </a:p>
        </p:txBody>
      </p:sp>
      <p:pic>
        <p:nvPicPr>
          <p:cNvPr id="4" name="Picture 1260919718" descr="openshell-parts-1.png"/>
          <p:cNvPicPr>
            <a:picLocks noChangeAspect="1"/>
          </p:cNvPicPr>
          <p:nvPr/>
        </p:nvPicPr>
        <p:blipFill>
          <a:blip r:embed="rId3"/>
          <a:stretch>
            <a:fillRect/>
          </a:stretch>
        </p:blipFill>
        <p:spPr>
          <a:xfrm>
            <a:off x="800040" y="2120448"/>
            <a:ext cx="5056752" cy="18583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architecture and responsibilities</a:t>
            </a:r>
          </a:p>
        </p:txBody>
      </p:sp>
      <p:sp>
        <p:nvSpPr>
          <p:cNvPr id="3" name="Content Placeholder 2"/>
          <p:cNvSpPr>
            <a:spLocks noGrp="1"/>
          </p:cNvSpPr>
          <p:nvPr>
            <p:ph idx="1"/>
          </p:nvPr>
        </p:nvSpPr>
        <p:spPr bwMode="auto">
          <a:xfrm>
            <a:off x="320040" y="658368"/>
            <a:ext cx="6016752" cy="140208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Gateway.</a:t>
            </a:r>
            <a:r>
              <a:rPr lang="en-US" sz="1100" b="0">
                <a:solidFill>
                  <a:srgbClr val="000000"/>
                </a:solidFill>
              </a:rPr>
              <a:t> The control plane: lifecycle, policies and credentials of many sandboxes.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Supervisor.</a:t>
            </a:r>
            <a:r>
              <a:rPr lang="en-US" sz="1100" b="0">
                <a:solidFill>
                  <a:srgbClr val="000000"/>
                </a:solidFill>
              </a:rPr>
              <a:t> Runs outside the sandbox and decides every outbound connection.</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Sandbox.</a:t>
            </a:r>
            <a:r>
              <a:rPr lang="en-US" sz="1100" b="0">
                <a:solidFill>
                  <a:srgbClr val="FFFFFF">
                    <a:alpha val="0"/>
                  </a:srgbClr>
                </a:solidFill>
              </a:rPr>
              <a:t> The isolated environment for the agent, with a small runtime inside.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Substrates.</a:t>
            </a:r>
            <a:r>
              <a:rPr lang="en-US" sz="1100" b="0">
                <a:solidFill>
                  <a:srgbClr val="FFFFFF">
                    <a:alpha val="0"/>
                  </a:srgbClr>
                </a:solidFill>
              </a:rPr>
              <a:t> Docker, Podman, Kubernetes or a libkrun microVM isolate the sandbox.</a:t>
            </a:r>
            <a:endParaRPr>
              <a:solidFill>
                <a:srgbClr val="FFFFFF">
                  <a:alpha val="0"/>
                </a:srgbClr>
              </a:solidFill>
            </a:endParaRPr>
          </a:p>
        </p:txBody>
      </p:sp>
      <p:pic>
        <p:nvPicPr>
          <p:cNvPr id="4" name="Picture 1260919718" descr="openshell-parts-2.png"/>
          <p:cNvPicPr>
            <a:picLocks noChangeAspect="1"/>
          </p:cNvPicPr>
          <p:nvPr/>
        </p:nvPicPr>
        <p:blipFill>
          <a:blip r:embed="rId3"/>
          <a:stretch>
            <a:fillRect/>
          </a:stretch>
        </p:blipFill>
        <p:spPr>
          <a:xfrm>
            <a:off x="800040" y="2120448"/>
            <a:ext cx="5056752" cy="18583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architecture and responsibilities</a:t>
            </a:r>
          </a:p>
        </p:txBody>
      </p:sp>
      <p:sp>
        <p:nvSpPr>
          <p:cNvPr id="3" name="Content Placeholder 2"/>
          <p:cNvSpPr>
            <a:spLocks noGrp="1"/>
          </p:cNvSpPr>
          <p:nvPr>
            <p:ph idx="1"/>
          </p:nvPr>
        </p:nvSpPr>
        <p:spPr bwMode="auto">
          <a:xfrm>
            <a:off x="320040" y="658368"/>
            <a:ext cx="6016752" cy="140208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Gateway.</a:t>
            </a:r>
            <a:r>
              <a:rPr lang="en-US" sz="1100" b="0">
                <a:solidFill>
                  <a:srgbClr val="000000"/>
                </a:solidFill>
              </a:rPr>
              <a:t> The control plane: lifecycle, policies and credentials of many sandboxes.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Supervisor.</a:t>
            </a:r>
            <a:r>
              <a:rPr lang="en-US" sz="1100" b="0">
                <a:solidFill>
                  <a:srgbClr val="000000"/>
                </a:solidFill>
              </a:rPr>
              <a:t> Runs outside the sandbox and decides every outbound connection.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Sandbox.</a:t>
            </a:r>
            <a:r>
              <a:rPr lang="en-US" sz="1100" b="0">
                <a:solidFill>
                  <a:srgbClr val="000000"/>
                </a:solidFill>
              </a:rPr>
              <a:t> The isolated environment for the agent, with a small runtime inside.</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Substrates.</a:t>
            </a:r>
            <a:r>
              <a:rPr lang="en-US" sz="1100" b="0">
                <a:solidFill>
                  <a:srgbClr val="FFFFFF">
                    <a:alpha val="0"/>
                  </a:srgbClr>
                </a:solidFill>
              </a:rPr>
              <a:t> Docker, Podman, Kubernetes or a libkrun microVM isolate the sandbox.</a:t>
            </a:r>
            <a:endParaRPr>
              <a:solidFill>
                <a:srgbClr val="FFFFFF">
                  <a:alpha val="0"/>
                </a:srgbClr>
              </a:solidFill>
            </a:endParaRPr>
          </a:p>
        </p:txBody>
      </p:sp>
      <p:pic>
        <p:nvPicPr>
          <p:cNvPr id="4" name="Picture 1260919718" descr="openshell-parts-3.png"/>
          <p:cNvPicPr>
            <a:picLocks noChangeAspect="1"/>
          </p:cNvPicPr>
          <p:nvPr/>
        </p:nvPicPr>
        <p:blipFill>
          <a:blip r:embed="rId3"/>
          <a:stretch>
            <a:fillRect/>
          </a:stretch>
        </p:blipFill>
        <p:spPr>
          <a:xfrm>
            <a:off x="800040" y="2120448"/>
            <a:ext cx="5056752" cy="18583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architecture and responsibilities</a:t>
            </a:r>
          </a:p>
        </p:txBody>
      </p:sp>
      <p:sp>
        <p:nvSpPr>
          <p:cNvPr id="3" name="Content Placeholder 2"/>
          <p:cNvSpPr>
            <a:spLocks noGrp="1"/>
          </p:cNvSpPr>
          <p:nvPr>
            <p:ph idx="1"/>
          </p:nvPr>
        </p:nvSpPr>
        <p:spPr bwMode="auto">
          <a:xfrm>
            <a:off x="320040" y="658368"/>
            <a:ext cx="6016752" cy="140208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Gateway.</a:t>
            </a:r>
            <a:r>
              <a:rPr lang="en-US" sz="1100" b="0">
                <a:solidFill>
                  <a:srgbClr val="000000"/>
                </a:solidFill>
              </a:rPr>
              <a:t> The control plane: lifecycle, policies and credentials of many sandboxes.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Supervisor.</a:t>
            </a:r>
            <a:r>
              <a:rPr lang="en-US" sz="1100" b="0">
                <a:solidFill>
                  <a:srgbClr val="000000"/>
                </a:solidFill>
              </a:rPr>
              <a:t> Runs outside the sandbox and decides every outbound connection.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Sandbox.</a:t>
            </a:r>
            <a:r>
              <a:rPr lang="en-US" sz="1100" b="0">
                <a:solidFill>
                  <a:srgbClr val="000000"/>
                </a:solidFill>
              </a:rPr>
              <a:t> The isolated environment for the agent, with a small runtime inside.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Substrates.</a:t>
            </a:r>
            <a:r>
              <a:rPr lang="en-US" sz="1100" b="0">
                <a:solidFill>
                  <a:srgbClr val="000000"/>
                </a:solidFill>
              </a:rPr>
              <a:t> Docker, Podman, Kubernetes or a libkrun microVM isolate the sandbox.</a:t>
            </a:r>
            <a:endParaRPr/>
          </a:p>
        </p:txBody>
      </p:sp>
      <p:pic>
        <p:nvPicPr>
          <p:cNvPr id="4" name="Picture 1260919718" descr="openshell-parts-4.png"/>
          <p:cNvPicPr>
            <a:picLocks noChangeAspect="1"/>
          </p:cNvPicPr>
          <p:nvPr/>
        </p:nvPicPr>
        <p:blipFill>
          <a:blip r:embed="rId3"/>
          <a:stretch>
            <a:fillRect/>
          </a:stretch>
        </p:blipFill>
        <p:spPr>
          <a:xfrm>
            <a:off x="800040" y="2120448"/>
            <a:ext cx="5056752" cy="18583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architecture and responsibilities</a:t>
            </a:r>
          </a:p>
        </p:txBody>
      </p:sp>
      <p:sp>
        <p:nvSpPr>
          <p:cNvPr id="3" name="Content Placeholder 2"/>
          <p:cNvSpPr>
            <a:spLocks noGrp="1"/>
          </p:cNvSpPr>
          <p:nvPr>
            <p:ph idx="1"/>
          </p:nvPr>
        </p:nvSpPr>
        <p:spPr bwMode="auto">
          <a:xfrm>
            <a:off x="320040" y="658368"/>
            <a:ext cx="6016752" cy="140208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Gateway.</a:t>
            </a:r>
            <a:r>
              <a:rPr lang="en-US" sz="1100" b="0">
                <a:solidFill>
                  <a:srgbClr val="000000"/>
                </a:solidFill>
              </a:rPr>
              <a:t> The control plane: lifecycle, policies and credentials of many sandboxes.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Supervisor.</a:t>
            </a:r>
            <a:r>
              <a:rPr lang="en-US" sz="1100" b="0">
                <a:solidFill>
                  <a:srgbClr val="000000"/>
                </a:solidFill>
              </a:rPr>
              <a:t> Runs outside the sandbox and decides every outbound connection.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Sandbox.</a:t>
            </a:r>
            <a:r>
              <a:rPr lang="en-US" sz="1100" b="0">
                <a:solidFill>
                  <a:srgbClr val="000000"/>
                </a:solidFill>
              </a:rPr>
              <a:t> The isolated environment for the agent, with a small runtime inside.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Substrates.</a:t>
            </a:r>
            <a:r>
              <a:rPr lang="en-US" sz="1100" b="0">
                <a:solidFill>
                  <a:srgbClr val="000000"/>
                </a:solidFill>
              </a:rPr>
              <a:t> Docker, Podman, Kubernetes or a libkrun microVM isolate the sandbox.</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OpenShell's Gateway is to sandboxes what the host is to clients on slide </a:t>
            </a:r>
            <a:r>
              <a:rPr sz="1150" b="1" u="sng">
                <a:solidFill>
                  <a:schemeClr val="accent4"/>
                </a:solidFill>
                <a:hlinkClick r:id="rId5" action="ppaction://hlinksldjump">
                  <a:extLst>
                    <a:ext uri="{A12FA001-AC4F-418D-AE19-62706E023703}">
                      <ahyp:hlinkClr xmlns:ahyp="http://schemas.microsoft.com/office/drawing/2018/hyperlinkcolor" val="tx"/>
                    </a:ext>
                  </a:extLst>
                </a:hlinkClick>
              </a:rPr>
              <a:t>5</a:t>
            </a:r>
            <a:r>
              <a:rPr sz="1150" b="1">
                <a:solidFill>
                  <a:schemeClr val="accent4"/>
                </a:solidFill>
              </a:rPr>
              <a:t>. The supervisor plays lecture 4's dispatcher outside the agent's process.</a:t>
            </a:r>
            <a:endParaRPr/>
          </a:p>
        </p:txBody>
      </p:sp>
      <p:pic>
        <p:nvPicPr>
          <p:cNvPr id="5" name="Picture 1260919718" descr="openshell-parts-4.png"/>
          <p:cNvPicPr>
            <a:picLocks noChangeAspect="1"/>
          </p:cNvPicPr>
          <p:nvPr/>
        </p:nvPicPr>
        <p:blipFill>
          <a:blip r:embed="rId4"/>
          <a:stretch>
            <a:fillRect/>
          </a:stretch>
        </p:blipFill>
        <p:spPr>
          <a:xfrm>
            <a:off x="800040" y="2120448"/>
            <a:ext cx="5056752" cy="18583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at creation and run time</a:t>
            </a:r>
          </a:p>
        </p:txBody>
      </p:sp>
      <p:pic>
        <p:nvPicPr>
          <p:cNvPr id="4" name="Figure policy-layers" descr="policy-layers-1.png"/>
          <p:cNvPicPr>
            <a:picLocks noChangeAspect="1"/>
          </p:cNvPicPr>
          <p:nvPr/>
        </p:nvPicPr>
        <p:blipFill>
          <a:blip r:embed="rId3"/>
          <a:stretch>
            <a:fillRect/>
          </a:stretch>
        </p:blipFill>
        <p:spPr>
          <a:xfrm>
            <a:off x="320040" y="777240"/>
            <a:ext cx="6016752" cy="199416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at creation and run time</a:t>
            </a:r>
          </a:p>
        </p:txBody>
      </p:sp>
      <p:pic>
        <p:nvPicPr>
          <p:cNvPr id="4" name="Figure policy-layers" descr="policy-layers-2.png"/>
          <p:cNvPicPr>
            <a:picLocks noChangeAspect="1"/>
          </p:cNvPicPr>
          <p:nvPr/>
        </p:nvPicPr>
        <p:blipFill>
          <a:blip r:embed="rId3"/>
          <a:stretch>
            <a:fillRect/>
          </a:stretch>
        </p:blipFill>
        <p:spPr>
          <a:xfrm>
            <a:off x="320040" y="777240"/>
            <a:ext cx="6016752" cy="199416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at creation and run time</a:t>
            </a:r>
          </a:p>
        </p:txBody>
      </p:sp>
      <p:pic>
        <p:nvPicPr>
          <p:cNvPr id="4" name="Figure policy-layers" descr="policy-layers-3.png"/>
          <p:cNvPicPr>
            <a:picLocks noChangeAspect="1"/>
          </p:cNvPicPr>
          <p:nvPr/>
        </p:nvPicPr>
        <p:blipFill>
          <a:blip r:embed="rId3"/>
          <a:stretch>
            <a:fillRect/>
          </a:stretch>
        </p:blipFill>
        <p:spPr>
          <a:xfrm>
            <a:off x="320040" y="777240"/>
            <a:ext cx="6016752" cy="199416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at creation and run time</a:t>
            </a:r>
          </a:p>
        </p:txBody>
      </p:sp>
      <p:pic>
        <p:nvPicPr>
          <p:cNvPr id="4" name="Figure policy-layers" descr="policy-layers-4.png"/>
          <p:cNvPicPr>
            <a:picLocks noChangeAspect="1"/>
          </p:cNvPicPr>
          <p:nvPr/>
        </p:nvPicPr>
        <p:blipFill>
          <a:blip r:embed="rId3"/>
          <a:stretch>
            <a:fillRect/>
          </a:stretch>
        </p:blipFill>
        <p:spPr>
          <a:xfrm>
            <a:off x="320040" y="777240"/>
            <a:ext cx="6016752" cy="199416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at creation and run time</a:t>
            </a:r>
          </a:p>
        </p:txBody>
      </p:sp>
      <p:sp>
        <p:nvSpPr>
          <p:cNvPr id="3" name="Rectangle 4"/>
          <p:cNvSpPr/>
          <p:nvPr/>
        </p:nvSpPr>
        <p:spPr bwMode="auto">
          <a:xfrm>
            <a:off x="320040" y="302278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Filesystem and process controls are fixed at sandbox creation. Network policies and provider credentials can change at run time.</a:t>
            </a:r>
            <a:endParaRPr/>
          </a:p>
        </p:txBody>
      </p:sp>
      <p:pic>
        <p:nvPicPr>
          <p:cNvPr id="5" name="Figure policy-layers" descr="policy-layers-4.png"/>
          <p:cNvPicPr>
            <a:picLocks noChangeAspect="1"/>
          </p:cNvPicPr>
          <p:nvPr/>
        </p:nvPicPr>
        <p:blipFill>
          <a:blip r:embed="rId3"/>
          <a:stretch>
            <a:fillRect/>
          </a:stretch>
        </p:blipFill>
        <p:spPr>
          <a:xfrm>
            <a:off x="320040" y="777240"/>
            <a:ext cx="6016752" cy="199416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The agent receives a placeholder.</a:t>
            </a:r>
            <a:r>
              <a:rPr lang="en-US" sz="1200" b="0" dirty="0">
                <a:solidFill>
                  <a:srgbClr val="FFFFFF">
                    <a:alpha val="0"/>
                  </a:srgbClr>
                </a:solidFill>
              </a:rPr>
              <a:t> When a request leaves the sandbox for an authorized endpoint, the supervisor substitutes the real credential. Requests to other endpoints never see it.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Lecture 4's dispatcher supplied the workspace root because the model could not be trusted to. The supervisor supplies the key for the same reason.</a:t>
            </a:r>
            <a:endParaRPr/>
          </a:p>
        </p:txBody>
      </p:sp>
      <p:pic>
        <p:nvPicPr>
          <p:cNvPr id="5"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policy schema</a:t>
            </a:r>
          </a:p>
        </p:txBody>
      </p:sp>
      <p:sp>
        <p:nvSpPr>
          <p:cNvPr id="3" name="Content Placeholder 2"/>
          <p:cNvSpPr>
            <a:spLocks noGrp="1"/>
          </p:cNvSpPr>
          <p:nvPr>
            <p:ph idx="1"/>
          </p:nvPr>
        </p:nvSpPr>
        <p:spPr bwMode="auto">
          <a:xfrm>
            <a:off x="320040" y="658368"/>
            <a:ext cx="6016752" cy="177310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A policy has up to five sections:</a:t>
            </a:r>
            <a:r>
              <a:rPr lang="en-US" sz="1100" b="0">
                <a:solidFill>
                  <a:srgbClr val="000000"/>
                </a:solidFill>
              </a:rPr>
              <a:t> </a:t>
            </a:r>
            <a:r>
              <a:rPr lang="en-US" sz="1100" b="0">
                <a:solidFill>
                  <a:srgbClr val="000000"/>
                </a:solidFill>
                <a:latin typeface="Aptos Mono"/>
              </a:rPr>
              <a:t>filesystem_policy</a:t>
            </a:r>
            <a:r>
              <a:rPr lang="en-US" sz="1100" b="0">
                <a:solidFill>
                  <a:srgbClr val="000000"/>
                </a:solidFill>
              </a:rPr>
              <a:t>, </a:t>
            </a:r>
            <a:r>
              <a:rPr lang="en-US" sz="1100" b="0">
                <a:solidFill>
                  <a:srgbClr val="000000"/>
                </a:solidFill>
                <a:latin typeface="Aptos Mono"/>
              </a:rPr>
              <a:t>landlock</a:t>
            </a:r>
            <a:r>
              <a:rPr lang="en-US" sz="1100" b="0">
                <a:solidFill>
                  <a:srgbClr val="000000"/>
                </a:solidFill>
              </a:rPr>
              <a:t>, </a:t>
            </a:r>
            <a:r>
              <a:rPr lang="en-US" sz="1100" b="0">
                <a:solidFill>
                  <a:srgbClr val="000000"/>
                </a:solidFill>
                <a:latin typeface="Aptos Mono"/>
              </a:rPr>
              <a:t>process</a:t>
            </a:r>
            <a:r>
              <a:rPr lang="en-US" sz="1100" b="0">
                <a:solidFill>
                  <a:srgbClr val="000000"/>
                </a:solidFill>
              </a:rPr>
              <a:t>, </a:t>
            </a:r>
            <a:r>
              <a:rPr lang="en-US" sz="1100" b="0">
                <a:solidFill>
                  <a:srgbClr val="000000"/>
                </a:solidFill>
                <a:latin typeface="Aptos Mono"/>
              </a:rPr>
              <a:t>network_policies</a:t>
            </a:r>
            <a:r>
              <a:rPr lang="en-US" sz="1100" b="0">
                <a:solidFill>
                  <a:srgbClr val="000000"/>
                </a:solidFill>
              </a:rPr>
              <a:t>, </a:t>
            </a:r>
            <a:r>
              <a:rPr lang="en-US" sz="1100" b="0">
                <a:solidFill>
                  <a:srgbClr val="000000"/>
                </a:solidFill>
                <a:latin typeface="Aptos Mono"/>
              </a:rPr>
              <a:t>network_middlewares</a:t>
            </a:r>
            <a:r>
              <a:rPr lang="en-US" sz="11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The filesystem, landlock and process sections are read once,</a:t>
            </a:r>
            <a:r>
              <a:rPr lang="en-US" sz="1100" b="0">
                <a:solidFill>
                  <a:srgbClr val="FFFFFF">
                    <a:alpha val="0"/>
                  </a:srgbClr>
                </a:solidFill>
              </a:rPr>
              <a:t> at creation. </a:t>
            </a:r>
            <a:r>
              <a:rPr lang="en-US" sz="1100" b="1">
                <a:solidFill>
                  <a:srgbClr val="FFFFFF">
                    <a:alpha val="0"/>
                  </a:srgbClr>
                </a:solidFill>
              </a:rPr>
              <a:t>Network rules can be reloaded</a:t>
            </a:r>
            <a:r>
              <a:rPr lang="en-US" sz="1100" b="0">
                <a:solidFill>
                  <a:srgbClr val="FFFFFF">
                    <a:alpha val="0"/>
                  </a:srgbClr>
                </a:solidFill>
              </a:rPr>
              <a:t> on a running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 network rule names binaries and endpoints.</a:t>
            </a:r>
            <a:r>
              <a:rPr lang="en-US" sz="1100" b="0">
                <a:solidFill>
                  <a:srgbClr val="FFFFFF">
                    <a:alpha val="0"/>
                  </a:srgbClr>
                </a:solidFill>
              </a:rPr>
              <a:t> The quickstart's rule lets </a:t>
            </a:r>
            <a:r>
              <a:rPr lang="en-US" sz="1100" b="0">
                <a:solidFill>
                  <a:srgbClr val="FFFFFF">
                    <a:alpha val="0"/>
                  </a:srgbClr>
                </a:solidFill>
                <a:latin typeface="Aptos Mono"/>
              </a:rPr>
              <a:t>curl</a:t>
            </a:r>
            <a:r>
              <a:rPr lang="en-US" sz="1100" b="0">
                <a:solidFill>
                  <a:srgbClr val="FFFFFF">
                    <a:alpha val="0"/>
                  </a:srgbClr>
                </a:solidFill>
              </a:rPr>
              <a:t> reach </a:t>
            </a:r>
            <a:r>
              <a:rPr lang="en-US" sz="1100" b="0">
                <a:solidFill>
                  <a:srgbClr val="FFFFFF">
                    <a:alpha val="0"/>
                  </a:srgbClr>
                </a:solidFill>
                <a:latin typeface="Aptos Mono"/>
              </a:rPr>
              <a:t>api.github.com</a:t>
            </a:r>
            <a:r>
              <a:rPr lang="en-US" sz="1100" b="0">
                <a:solidFill>
                  <a:srgbClr val="FFFFFF">
                    <a:alpha val="0"/>
                  </a:srgbClr>
                </a:solidFill>
              </a:rPr>
              <a:t> on port 443, read-only, with </a:t>
            </a:r>
            <a:r>
              <a:rPr lang="en-US" sz="1100" b="0">
                <a:solidFill>
                  <a:srgbClr val="FFFFFF">
                    <a:alpha val="0"/>
                  </a:srgbClr>
                </a:solidFill>
                <a:latin typeface="Aptos Mono"/>
              </a:rPr>
              <a:t>enforcement: enforce</a:t>
            </a:r>
            <a:r>
              <a:rPr lang="en-US" sz="1100" b="0">
                <a:solidFill>
                  <a:srgbClr val="FFFFFF">
                    <a:alpha val="0"/>
                  </a:srgbClr>
                </a:solidFill>
              </a:rPr>
              <a:t>. Without it the mode is </a:t>
            </a:r>
            <a:r>
              <a:rPr lang="en-US" sz="1100" b="0">
                <a:solidFill>
                  <a:srgbClr val="FFFFFF">
                    <a:alpha val="0"/>
                  </a:srgbClr>
                </a:solidFill>
                <a:latin typeface="Aptos Mono"/>
              </a:rPr>
              <a:t>audit</a:t>
            </a:r>
            <a:r>
              <a:rPr lang="en-US" sz="1100" b="0">
                <a:solidFill>
                  <a:srgbClr val="FFFFFF">
                    <a:alpha val="0"/>
                  </a:srgbClr>
                </a:solidFill>
              </a:rPr>
              <a:t>, which logs a violation and lets the request through.</a:t>
            </a:r>
            <a:endParaRPr>
              <a:solidFill>
                <a:srgbClr val="FFFFFF">
                  <a:alpha val="0"/>
                </a:srgbClr>
              </a:solidFill>
            </a:endParaRPr>
          </a:p>
        </p:txBody>
      </p:sp>
      <p:sp>
        <p:nvSpPr>
          <p:cNvPr id="4" name="CodeWindow"/>
          <p:cNvSpPr/>
          <p:nvPr/>
        </p:nvSpPr>
        <p:spPr bwMode="auto">
          <a:xfrm>
            <a:off x="320040" y="2372070"/>
            <a:ext cx="6016752" cy="169848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637246"/>
            <a:ext cx="6016752" cy="0"/>
          </a:xfrm>
          <a:prstGeom prst="line">
            <a:avLst/>
          </a:prstGeom>
          <a:ln w="9525">
            <a:solidFill>
              <a:srgbClr val="DCDCDC"/>
            </a:solidFill>
          </a:ln>
        </p:spPr>
      </p:cxnSp>
      <p:sp>
        <p:nvSpPr>
          <p:cNvPr id="6" name="WinDot 0"/>
          <p:cNvSpPr/>
          <p:nvPr/>
        </p:nvSpPr>
        <p:spPr bwMode="auto">
          <a:xfrm>
            <a:off x="411480" y="245436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45436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45436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413218"/>
            <a:ext cx="5349240" cy="182880"/>
          </a:xfrm>
          <a:prstGeom prst="rect">
            <a:avLst/>
          </a:prstGeom>
          <a:noFill/>
        </p:spPr>
        <p:txBody>
          <a:bodyPr wrap="square" lIns="0" tIns="0" rIns="0" bIns="0" anchor="ctr">
            <a:noAutofit/>
          </a:bodyPr>
          <a:lstStyle/>
          <a:p>
            <a:pPr algn="l">
              <a:defRPr/>
            </a:pPr>
            <a:r>
              <a:rPr sz="850" b="0">
                <a:solidFill>
                  <a:srgbClr val="5B6673"/>
                </a:solidFill>
              </a:rPr>
              <a:t>policy.yaml: network section, with the filesystem and landlock sections omitted</a:t>
            </a:r>
            <a:endParaRPr/>
          </a:p>
        </p:txBody>
      </p:sp>
      <p:sp>
        <p:nvSpPr>
          <p:cNvPr id="10" name="TextBox 7"/>
          <p:cNvSpPr txBox="1"/>
          <p:nvPr/>
        </p:nvSpPr>
        <p:spPr bwMode="auto">
          <a:xfrm>
            <a:off x="466344" y="2701254"/>
            <a:ext cx="5724144" cy="1299302"/>
          </a:xfrm>
          <a:prstGeom prst="rect">
            <a:avLst/>
          </a:prstGeom>
          <a:noFill/>
        </p:spPr>
        <p:txBody>
          <a:bodyPr wrap="none" lIns="0" tIns="0" rIns="0" bIns="0">
            <a:spAutoFit/>
          </a:bodyPr>
          <a:lstStyle/>
          <a:p>
            <a:r>
              <a:rPr lang="en-US" sz="750" b="0">
                <a:solidFill>
                  <a:srgbClr val="0451A5"/>
                </a:solidFill>
                <a:latin typeface="Aptos Mono"/>
              </a:rPr>
              <a:t>network_policies</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github_api</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name</a:t>
            </a:r>
            <a:r>
              <a:rPr lang="en-US" sz="750" b="0">
                <a:solidFill>
                  <a:srgbClr val="000000"/>
                </a:solidFill>
                <a:latin typeface="Aptos Mono"/>
              </a:rPr>
              <a:t>:</a:t>
            </a:r>
            <a:r>
              <a:rPr lang="en-US" sz="750" b="0">
                <a:solidFill>
                  <a:srgbClr val="A31515"/>
                </a:solidFill>
                <a:latin typeface="Aptos Mono"/>
              </a:rPr>
              <a:t> github-api-readonly</a:t>
            </a:r>
            <a:endParaRPr/>
          </a:p>
          <a:p>
            <a:r>
              <a:rPr lang="en-US" sz="750" b="0">
                <a:solidFill>
                  <a:srgbClr val="000000"/>
                </a:solidFill>
                <a:latin typeface="Aptos Mono"/>
              </a:rPr>
              <a:t>    </a:t>
            </a:r>
            <a:r>
              <a:rPr lang="en-US" sz="750" b="0">
                <a:solidFill>
                  <a:srgbClr val="0451A5"/>
                </a:solidFill>
                <a:latin typeface="Aptos Mono"/>
              </a:rPr>
              <a:t>endpoints</a:t>
            </a:r>
            <a:r>
              <a:rPr lang="en-US" sz="750" b="0">
                <a:solidFill>
                  <a:srgbClr val="000000"/>
                </a:solidFill>
                <a:latin typeface="Aptos Mono"/>
              </a:rPr>
              <a:t>:</a:t>
            </a:r>
            <a:endParaRPr/>
          </a:p>
          <a:p>
            <a:r>
              <a:rPr lang="en-US" sz="750" b="0">
                <a:solidFill>
                  <a:srgbClr val="000000"/>
                </a:solidFill>
                <a:latin typeface="Aptos Mono"/>
              </a:rPr>
              <a:t>      - </a:t>
            </a:r>
            <a:r>
              <a:rPr lang="en-US" sz="750" b="0">
                <a:solidFill>
                  <a:srgbClr val="0451A5"/>
                </a:solidFill>
                <a:latin typeface="Aptos Mono"/>
              </a:rPr>
              <a:t>host</a:t>
            </a:r>
            <a:r>
              <a:rPr lang="en-US" sz="750" b="0">
                <a:solidFill>
                  <a:srgbClr val="000000"/>
                </a:solidFill>
                <a:latin typeface="Aptos Mono"/>
              </a:rPr>
              <a:t>:</a:t>
            </a:r>
            <a:r>
              <a:rPr lang="en-US" sz="750" b="0">
                <a:solidFill>
                  <a:srgbClr val="A31515"/>
                </a:solidFill>
                <a:latin typeface="Aptos Mono"/>
              </a:rPr>
              <a:t> api.github.com</a:t>
            </a:r>
            <a:endParaRPr/>
          </a:p>
          <a:p>
            <a:r>
              <a:rPr lang="en-US" sz="750" b="0">
                <a:solidFill>
                  <a:srgbClr val="000000"/>
                </a:solidFill>
                <a:latin typeface="Aptos Mono"/>
              </a:rPr>
              <a:t>        </a:t>
            </a:r>
            <a:r>
              <a:rPr lang="en-US" sz="750" b="0">
                <a:solidFill>
                  <a:srgbClr val="0451A5"/>
                </a:solidFill>
                <a:latin typeface="Aptos Mono"/>
              </a:rPr>
              <a:t>port</a:t>
            </a:r>
            <a:r>
              <a:rPr lang="en-US" sz="750" b="0">
                <a:solidFill>
                  <a:srgbClr val="000000"/>
                </a:solidFill>
                <a:latin typeface="Aptos Mono"/>
              </a:rPr>
              <a:t>: </a:t>
            </a:r>
            <a:r>
              <a:rPr lang="en-US" sz="750" b="0">
                <a:solidFill>
                  <a:srgbClr val="098658"/>
                </a:solidFill>
                <a:latin typeface="Aptos Mono"/>
              </a:rPr>
              <a:t>443</a:t>
            </a:r>
            <a:endParaRPr/>
          </a:p>
          <a:p>
            <a:r>
              <a:rPr lang="en-US" sz="750" b="0">
                <a:solidFill>
                  <a:srgbClr val="000000"/>
                </a:solidFill>
                <a:latin typeface="Aptos Mono"/>
              </a:rPr>
              <a:t>        </a:t>
            </a:r>
            <a:r>
              <a:rPr lang="en-US" sz="750" b="0">
                <a:solidFill>
                  <a:srgbClr val="0451A5"/>
                </a:solidFill>
                <a:latin typeface="Aptos Mono"/>
              </a:rPr>
              <a:t>protocol</a:t>
            </a:r>
            <a:r>
              <a:rPr lang="en-US" sz="750" b="0">
                <a:solidFill>
                  <a:srgbClr val="000000"/>
                </a:solidFill>
                <a:latin typeface="Aptos Mono"/>
              </a:rPr>
              <a:t>:</a:t>
            </a:r>
            <a:r>
              <a:rPr lang="en-US" sz="750" b="0">
                <a:solidFill>
                  <a:srgbClr val="A31515"/>
                </a:solidFill>
                <a:latin typeface="Aptos Mono"/>
              </a:rPr>
              <a:t> rest</a:t>
            </a:r>
            <a:endParaRPr/>
          </a:p>
          <a:p>
            <a:r>
              <a:rPr lang="en-US" sz="750" b="0">
                <a:solidFill>
                  <a:srgbClr val="000000"/>
                </a:solidFill>
                <a:latin typeface="Aptos Mono"/>
              </a:rPr>
              <a:t>        </a:t>
            </a:r>
            <a:r>
              <a:rPr lang="en-US" sz="750" b="0">
                <a:solidFill>
                  <a:srgbClr val="0451A5"/>
                </a:solidFill>
                <a:latin typeface="Aptos Mono"/>
              </a:rPr>
              <a:t>enforcement</a:t>
            </a:r>
            <a:r>
              <a:rPr lang="en-US" sz="750" b="0">
                <a:solidFill>
                  <a:srgbClr val="000000"/>
                </a:solidFill>
                <a:latin typeface="Aptos Mono"/>
              </a:rPr>
              <a:t>:</a:t>
            </a:r>
            <a:r>
              <a:rPr lang="en-US" sz="750" b="0">
                <a:solidFill>
                  <a:srgbClr val="A31515"/>
                </a:solidFill>
                <a:latin typeface="Aptos Mono"/>
              </a:rPr>
              <a:t> enforce</a:t>
            </a:r>
            <a:endParaRPr/>
          </a:p>
          <a:p>
            <a:r>
              <a:rPr lang="en-US" sz="750" b="0">
                <a:solidFill>
                  <a:srgbClr val="000000"/>
                </a:solidFill>
                <a:latin typeface="Aptos Mono"/>
              </a:rPr>
              <a:t>        </a:t>
            </a:r>
            <a:r>
              <a:rPr lang="en-US" sz="750" b="0">
                <a:solidFill>
                  <a:srgbClr val="0451A5"/>
                </a:solidFill>
                <a:latin typeface="Aptos Mono"/>
              </a:rPr>
              <a:t>access</a:t>
            </a:r>
            <a:r>
              <a:rPr lang="en-US" sz="750" b="0">
                <a:solidFill>
                  <a:srgbClr val="000000"/>
                </a:solidFill>
                <a:latin typeface="Aptos Mono"/>
              </a:rPr>
              <a:t>:</a:t>
            </a:r>
            <a:r>
              <a:rPr lang="en-US" sz="750" b="0">
                <a:solidFill>
                  <a:srgbClr val="A31515"/>
                </a:solidFill>
                <a:latin typeface="Aptos Mono"/>
              </a:rPr>
              <a:t> read-only</a:t>
            </a:r>
            <a:endParaRPr/>
          </a:p>
          <a:p>
            <a:r>
              <a:rPr lang="en-US" sz="750" b="0">
                <a:solidFill>
                  <a:srgbClr val="000000"/>
                </a:solidFill>
                <a:latin typeface="Aptos Mono"/>
              </a:rPr>
              <a:t>    </a:t>
            </a:r>
            <a:r>
              <a:rPr lang="en-US" sz="750" b="0">
                <a:solidFill>
                  <a:srgbClr val="0451A5"/>
                </a:solidFill>
                <a:latin typeface="Aptos Mono"/>
              </a:rPr>
              <a:t>binaries</a:t>
            </a:r>
            <a:r>
              <a:rPr lang="en-US" sz="750" b="0">
                <a:solidFill>
                  <a:srgbClr val="000000"/>
                </a:solidFill>
                <a:latin typeface="Aptos Mono"/>
              </a:rPr>
              <a:t>:</a:t>
            </a:r>
            <a:endParaRPr/>
          </a:p>
          <a:p>
            <a:r>
              <a:rPr lang="en-US" sz="750" b="0">
                <a:solidFill>
                  <a:srgbClr val="000000"/>
                </a:solidFill>
                <a:latin typeface="Aptos Mono"/>
              </a:rPr>
              <a:t>      - { </a:t>
            </a:r>
            <a:r>
              <a:rPr lang="en-US" sz="750" b="0">
                <a:solidFill>
                  <a:srgbClr val="0451A5"/>
                </a:solidFill>
                <a:latin typeface="Aptos Mono"/>
              </a:rPr>
              <a:t>path</a:t>
            </a:r>
            <a:r>
              <a:rPr lang="en-US" sz="750" b="0">
                <a:solidFill>
                  <a:srgbClr val="000000"/>
                </a:solidFill>
                <a:latin typeface="Aptos Mono"/>
              </a:rPr>
              <a:t>:</a:t>
            </a:r>
            <a:r>
              <a:rPr lang="en-US" sz="750" b="0">
                <a:solidFill>
                  <a:srgbClr val="A31515"/>
                </a:solidFill>
                <a:latin typeface="Aptos Mono"/>
              </a:rPr>
              <a:t> /usr/bin/curl </a:t>
            </a:r>
            <a:r>
              <a:rPr lang="en-US" sz="75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policy schema</a:t>
            </a:r>
          </a:p>
        </p:txBody>
      </p:sp>
      <p:sp>
        <p:nvSpPr>
          <p:cNvPr id="3" name="Content Placeholder 2"/>
          <p:cNvSpPr>
            <a:spLocks noGrp="1"/>
          </p:cNvSpPr>
          <p:nvPr>
            <p:ph idx="1"/>
          </p:nvPr>
        </p:nvSpPr>
        <p:spPr bwMode="auto">
          <a:xfrm>
            <a:off x="320040" y="658368"/>
            <a:ext cx="6016752" cy="177310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A policy has up to five sections:</a:t>
            </a:r>
            <a:r>
              <a:rPr lang="en-US" sz="1100" b="0">
                <a:solidFill>
                  <a:srgbClr val="000000"/>
                </a:solidFill>
              </a:rPr>
              <a:t> </a:t>
            </a:r>
            <a:r>
              <a:rPr lang="en-US" sz="1100" b="0">
                <a:solidFill>
                  <a:srgbClr val="000000"/>
                </a:solidFill>
                <a:latin typeface="Aptos Mono"/>
              </a:rPr>
              <a:t>filesystem_policy</a:t>
            </a:r>
            <a:r>
              <a:rPr lang="en-US" sz="1100" b="0">
                <a:solidFill>
                  <a:srgbClr val="000000"/>
                </a:solidFill>
              </a:rPr>
              <a:t>, </a:t>
            </a:r>
            <a:r>
              <a:rPr lang="en-US" sz="1100" b="0">
                <a:solidFill>
                  <a:srgbClr val="000000"/>
                </a:solidFill>
                <a:latin typeface="Aptos Mono"/>
              </a:rPr>
              <a:t>landlock</a:t>
            </a:r>
            <a:r>
              <a:rPr lang="en-US" sz="1100" b="0">
                <a:solidFill>
                  <a:srgbClr val="000000"/>
                </a:solidFill>
              </a:rPr>
              <a:t>, </a:t>
            </a:r>
            <a:r>
              <a:rPr lang="en-US" sz="1100" b="0">
                <a:solidFill>
                  <a:srgbClr val="000000"/>
                </a:solidFill>
                <a:latin typeface="Aptos Mono"/>
              </a:rPr>
              <a:t>process</a:t>
            </a:r>
            <a:r>
              <a:rPr lang="en-US" sz="1100" b="0">
                <a:solidFill>
                  <a:srgbClr val="000000"/>
                </a:solidFill>
              </a:rPr>
              <a:t>, </a:t>
            </a:r>
            <a:r>
              <a:rPr lang="en-US" sz="1100" b="0">
                <a:solidFill>
                  <a:srgbClr val="000000"/>
                </a:solidFill>
                <a:latin typeface="Aptos Mono"/>
              </a:rPr>
              <a:t>network_policies</a:t>
            </a:r>
            <a:r>
              <a:rPr lang="en-US" sz="1100" b="0">
                <a:solidFill>
                  <a:srgbClr val="000000"/>
                </a:solidFill>
              </a:rPr>
              <a:t>, </a:t>
            </a:r>
            <a:r>
              <a:rPr lang="en-US" sz="1100" b="0">
                <a:solidFill>
                  <a:srgbClr val="000000"/>
                </a:solidFill>
                <a:latin typeface="Aptos Mono"/>
              </a:rPr>
              <a:t>network_middlewares</a:t>
            </a:r>
            <a:r>
              <a:rPr lang="en-US" sz="11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The filesystem, landlock and process sections are read once,</a:t>
            </a:r>
            <a:r>
              <a:rPr lang="en-US" sz="1100" b="0">
                <a:solidFill>
                  <a:srgbClr val="000000"/>
                </a:solidFill>
              </a:rPr>
              <a:t> at creation. </a:t>
            </a:r>
            <a:r>
              <a:rPr lang="en-US" sz="1100" b="1">
                <a:solidFill>
                  <a:srgbClr val="000000"/>
                </a:solidFill>
              </a:rPr>
              <a:t>Network rules can be reloaded</a:t>
            </a:r>
            <a:r>
              <a:rPr lang="en-US" sz="1100" b="0">
                <a:solidFill>
                  <a:srgbClr val="000000"/>
                </a:solidFill>
              </a:rPr>
              <a:t> on a running sandbox.</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 network rule names binaries and endpoints.</a:t>
            </a:r>
            <a:r>
              <a:rPr lang="en-US" sz="1100" b="0">
                <a:solidFill>
                  <a:srgbClr val="FFFFFF">
                    <a:alpha val="0"/>
                  </a:srgbClr>
                </a:solidFill>
              </a:rPr>
              <a:t> The quickstart's rule lets </a:t>
            </a:r>
            <a:r>
              <a:rPr lang="en-US" sz="1100" b="0">
                <a:solidFill>
                  <a:srgbClr val="FFFFFF">
                    <a:alpha val="0"/>
                  </a:srgbClr>
                </a:solidFill>
                <a:latin typeface="Aptos Mono"/>
              </a:rPr>
              <a:t>curl</a:t>
            </a:r>
            <a:r>
              <a:rPr lang="en-US" sz="1100" b="0">
                <a:solidFill>
                  <a:srgbClr val="FFFFFF">
                    <a:alpha val="0"/>
                  </a:srgbClr>
                </a:solidFill>
              </a:rPr>
              <a:t> reach </a:t>
            </a:r>
            <a:r>
              <a:rPr lang="en-US" sz="1100" b="0">
                <a:solidFill>
                  <a:srgbClr val="FFFFFF">
                    <a:alpha val="0"/>
                  </a:srgbClr>
                </a:solidFill>
                <a:latin typeface="Aptos Mono"/>
              </a:rPr>
              <a:t>api.github.com</a:t>
            </a:r>
            <a:r>
              <a:rPr lang="en-US" sz="1100" b="0">
                <a:solidFill>
                  <a:srgbClr val="FFFFFF">
                    <a:alpha val="0"/>
                  </a:srgbClr>
                </a:solidFill>
              </a:rPr>
              <a:t> on port 443, read-only, with </a:t>
            </a:r>
            <a:r>
              <a:rPr lang="en-US" sz="1100" b="0">
                <a:solidFill>
                  <a:srgbClr val="FFFFFF">
                    <a:alpha val="0"/>
                  </a:srgbClr>
                </a:solidFill>
                <a:latin typeface="Aptos Mono"/>
              </a:rPr>
              <a:t>enforcement: enforce</a:t>
            </a:r>
            <a:r>
              <a:rPr lang="en-US" sz="1100" b="0">
                <a:solidFill>
                  <a:srgbClr val="FFFFFF">
                    <a:alpha val="0"/>
                  </a:srgbClr>
                </a:solidFill>
              </a:rPr>
              <a:t>. Without it the mode is </a:t>
            </a:r>
            <a:r>
              <a:rPr lang="en-US" sz="1100" b="0">
                <a:solidFill>
                  <a:srgbClr val="FFFFFF">
                    <a:alpha val="0"/>
                  </a:srgbClr>
                </a:solidFill>
                <a:latin typeface="Aptos Mono"/>
              </a:rPr>
              <a:t>audit</a:t>
            </a:r>
            <a:r>
              <a:rPr lang="en-US" sz="1100" b="0">
                <a:solidFill>
                  <a:srgbClr val="FFFFFF">
                    <a:alpha val="0"/>
                  </a:srgbClr>
                </a:solidFill>
              </a:rPr>
              <a:t>, which logs a violation and lets the request through.</a:t>
            </a:r>
            <a:endParaRPr>
              <a:solidFill>
                <a:srgbClr val="FFFFFF">
                  <a:alpha val="0"/>
                </a:srgbClr>
              </a:solidFill>
            </a:endParaRPr>
          </a:p>
        </p:txBody>
      </p:sp>
      <p:sp>
        <p:nvSpPr>
          <p:cNvPr id="4" name="CodeWindow"/>
          <p:cNvSpPr/>
          <p:nvPr/>
        </p:nvSpPr>
        <p:spPr bwMode="auto">
          <a:xfrm>
            <a:off x="320040" y="2372070"/>
            <a:ext cx="6016752" cy="169848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637246"/>
            <a:ext cx="6016752" cy="0"/>
          </a:xfrm>
          <a:prstGeom prst="line">
            <a:avLst/>
          </a:prstGeom>
          <a:ln w="9525">
            <a:solidFill>
              <a:srgbClr val="DCDCDC"/>
            </a:solidFill>
          </a:ln>
        </p:spPr>
      </p:cxnSp>
      <p:sp>
        <p:nvSpPr>
          <p:cNvPr id="6" name="WinDot 0"/>
          <p:cNvSpPr/>
          <p:nvPr/>
        </p:nvSpPr>
        <p:spPr bwMode="auto">
          <a:xfrm>
            <a:off x="411480" y="245436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45436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45436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413218"/>
            <a:ext cx="5349240" cy="182880"/>
          </a:xfrm>
          <a:prstGeom prst="rect">
            <a:avLst/>
          </a:prstGeom>
          <a:noFill/>
        </p:spPr>
        <p:txBody>
          <a:bodyPr wrap="square" lIns="0" tIns="0" rIns="0" bIns="0" anchor="ctr">
            <a:noAutofit/>
          </a:bodyPr>
          <a:lstStyle/>
          <a:p>
            <a:pPr algn="l">
              <a:defRPr/>
            </a:pPr>
            <a:r>
              <a:rPr sz="850" b="0">
                <a:solidFill>
                  <a:srgbClr val="5B6673"/>
                </a:solidFill>
              </a:rPr>
              <a:t>policy.yaml: network section, with the filesystem and landlock sections omitted</a:t>
            </a:r>
            <a:endParaRPr/>
          </a:p>
        </p:txBody>
      </p:sp>
      <p:sp>
        <p:nvSpPr>
          <p:cNvPr id="10" name="TextBox 7"/>
          <p:cNvSpPr txBox="1"/>
          <p:nvPr/>
        </p:nvSpPr>
        <p:spPr bwMode="auto">
          <a:xfrm>
            <a:off x="466344" y="2701254"/>
            <a:ext cx="5724144" cy="1299302"/>
          </a:xfrm>
          <a:prstGeom prst="rect">
            <a:avLst/>
          </a:prstGeom>
          <a:noFill/>
        </p:spPr>
        <p:txBody>
          <a:bodyPr wrap="none" lIns="0" tIns="0" rIns="0" bIns="0">
            <a:spAutoFit/>
          </a:bodyPr>
          <a:lstStyle/>
          <a:p>
            <a:r>
              <a:rPr lang="en-US" sz="750" b="0">
                <a:solidFill>
                  <a:srgbClr val="0451A5"/>
                </a:solidFill>
                <a:latin typeface="Aptos Mono"/>
              </a:rPr>
              <a:t>network_policies</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github_api</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name</a:t>
            </a:r>
            <a:r>
              <a:rPr lang="en-US" sz="750" b="0">
                <a:solidFill>
                  <a:srgbClr val="000000"/>
                </a:solidFill>
                <a:latin typeface="Aptos Mono"/>
              </a:rPr>
              <a:t>:</a:t>
            </a:r>
            <a:r>
              <a:rPr lang="en-US" sz="750" b="0">
                <a:solidFill>
                  <a:srgbClr val="A31515"/>
                </a:solidFill>
                <a:latin typeface="Aptos Mono"/>
              </a:rPr>
              <a:t> github-api-readonly</a:t>
            </a:r>
            <a:endParaRPr/>
          </a:p>
          <a:p>
            <a:r>
              <a:rPr lang="en-US" sz="750" b="0">
                <a:solidFill>
                  <a:srgbClr val="000000"/>
                </a:solidFill>
                <a:latin typeface="Aptos Mono"/>
              </a:rPr>
              <a:t>    </a:t>
            </a:r>
            <a:r>
              <a:rPr lang="en-US" sz="750" b="0">
                <a:solidFill>
                  <a:srgbClr val="0451A5"/>
                </a:solidFill>
                <a:latin typeface="Aptos Mono"/>
              </a:rPr>
              <a:t>endpoints</a:t>
            </a:r>
            <a:r>
              <a:rPr lang="en-US" sz="750" b="0">
                <a:solidFill>
                  <a:srgbClr val="000000"/>
                </a:solidFill>
                <a:latin typeface="Aptos Mono"/>
              </a:rPr>
              <a:t>:</a:t>
            </a:r>
            <a:endParaRPr/>
          </a:p>
          <a:p>
            <a:r>
              <a:rPr lang="en-US" sz="750" b="0">
                <a:solidFill>
                  <a:srgbClr val="000000"/>
                </a:solidFill>
                <a:latin typeface="Aptos Mono"/>
              </a:rPr>
              <a:t>      - </a:t>
            </a:r>
            <a:r>
              <a:rPr lang="en-US" sz="750" b="0">
                <a:solidFill>
                  <a:srgbClr val="0451A5"/>
                </a:solidFill>
                <a:latin typeface="Aptos Mono"/>
              </a:rPr>
              <a:t>host</a:t>
            </a:r>
            <a:r>
              <a:rPr lang="en-US" sz="750" b="0">
                <a:solidFill>
                  <a:srgbClr val="000000"/>
                </a:solidFill>
                <a:latin typeface="Aptos Mono"/>
              </a:rPr>
              <a:t>:</a:t>
            </a:r>
            <a:r>
              <a:rPr lang="en-US" sz="750" b="0">
                <a:solidFill>
                  <a:srgbClr val="A31515"/>
                </a:solidFill>
                <a:latin typeface="Aptos Mono"/>
              </a:rPr>
              <a:t> api.github.com</a:t>
            </a:r>
            <a:endParaRPr/>
          </a:p>
          <a:p>
            <a:r>
              <a:rPr lang="en-US" sz="750" b="0">
                <a:solidFill>
                  <a:srgbClr val="000000"/>
                </a:solidFill>
                <a:latin typeface="Aptos Mono"/>
              </a:rPr>
              <a:t>        </a:t>
            </a:r>
            <a:r>
              <a:rPr lang="en-US" sz="750" b="0">
                <a:solidFill>
                  <a:srgbClr val="0451A5"/>
                </a:solidFill>
                <a:latin typeface="Aptos Mono"/>
              </a:rPr>
              <a:t>port</a:t>
            </a:r>
            <a:r>
              <a:rPr lang="en-US" sz="750" b="0">
                <a:solidFill>
                  <a:srgbClr val="000000"/>
                </a:solidFill>
                <a:latin typeface="Aptos Mono"/>
              </a:rPr>
              <a:t>: </a:t>
            </a:r>
            <a:r>
              <a:rPr lang="en-US" sz="750" b="0">
                <a:solidFill>
                  <a:srgbClr val="098658"/>
                </a:solidFill>
                <a:latin typeface="Aptos Mono"/>
              </a:rPr>
              <a:t>443</a:t>
            </a:r>
            <a:endParaRPr/>
          </a:p>
          <a:p>
            <a:r>
              <a:rPr lang="en-US" sz="750" b="0">
                <a:solidFill>
                  <a:srgbClr val="000000"/>
                </a:solidFill>
                <a:latin typeface="Aptos Mono"/>
              </a:rPr>
              <a:t>        </a:t>
            </a:r>
            <a:r>
              <a:rPr lang="en-US" sz="750" b="0">
                <a:solidFill>
                  <a:srgbClr val="0451A5"/>
                </a:solidFill>
                <a:latin typeface="Aptos Mono"/>
              </a:rPr>
              <a:t>protocol</a:t>
            </a:r>
            <a:r>
              <a:rPr lang="en-US" sz="750" b="0">
                <a:solidFill>
                  <a:srgbClr val="000000"/>
                </a:solidFill>
                <a:latin typeface="Aptos Mono"/>
              </a:rPr>
              <a:t>:</a:t>
            </a:r>
            <a:r>
              <a:rPr lang="en-US" sz="750" b="0">
                <a:solidFill>
                  <a:srgbClr val="A31515"/>
                </a:solidFill>
                <a:latin typeface="Aptos Mono"/>
              </a:rPr>
              <a:t> rest</a:t>
            </a:r>
            <a:endParaRPr/>
          </a:p>
          <a:p>
            <a:r>
              <a:rPr lang="en-US" sz="750" b="0">
                <a:solidFill>
                  <a:srgbClr val="000000"/>
                </a:solidFill>
                <a:latin typeface="Aptos Mono"/>
              </a:rPr>
              <a:t>        </a:t>
            </a:r>
            <a:r>
              <a:rPr lang="en-US" sz="750" b="0">
                <a:solidFill>
                  <a:srgbClr val="0451A5"/>
                </a:solidFill>
                <a:latin typeface="Aptos Mono"/>
              </a:rPr>
              <a:t>enforcement</a:t>
            </a:r>
            <a:r>
              <a:rPr lang="en-US" sz="750" b="0">
                <a:solidFill>
                  <a:srgbClr val="000000"/>
                </a:solidFill>
                <a:latin typeface="Aptos Mono"/>
              </a:rPr>
              <a:t>:</a:t>
            </a:r>
            <a:r>
              <a:rPr lang="en-US" sz="750" b="0">
                <a:solidFill>
                  <a:srgbClr val="A31515"/>
                </a:solidFill>
                <a:latin typeface="Aptos Mono"/>
              </a:rPr>
              <a:t> enforce</a:t>
            </a:r>
            <a:endParaRPr/>
          </a:p>
          <a:p>
            <a:r>
              <a:rPr lang="en-US" sz="750" b="0">
                <a:solidFill>
                  <a:srgbClr val="000000"/>
                </a:solidFill>
                <a:latin typeface="Aptos Mono"/>
              </a:rPr>
              <a:t>        </a:t>
            </a:r>
            <a:r>
              <a:rPr lang="en-US" sz="750" b="0">
                <a:solidFill>
                  <a:srgbClr val="0451A5"/>
                </a:solidFill>
                <a:latin typeface="Aptos Mono"/>
              </a:rPr>
              <a:t>access</a:t>
            </a:r>
            <a:r>
              <a:rPr lang="en-US" sz="750" b="0">
                <a:solidFill>
                  <a:srgbClr val="000000"/>
                </a:solidFill>
                <a:latin typeface="Aptos Mono"/>
              </a:rPr>
              <a:t>:</a:t>
            </a:r>
            <a:r>
              <a:rPr lang="en-US" sz="750" b="0">
                <a:solidFill>
                  <a:srgbClr val="A31515"/>
                </a:solidFill>
                <a:latin typeface="Aptos Mono"/>
              </a:rPr>
              <a:t> read-only</a:t>
            </a:r>
            <a:endParaRPr/>
          </a:p>
          <a:p>
            <a:r>
              <a:rPr lang="en-US" sz="750" b="0">
                <a:solidFill>
                  <a:srgbClr val="000000"/>
                </a:solidFill>
                <a:latin typeface="Aptos Mono"/>
              </a:rPr>
              <a:t>    </a:t>
            </a:r>
            <a:r>
              <a:rPr lang="en-US" sz="750" b="0">
                <a:solidFill>
                  <a:srgbClr val="0451A5"/>
                </a:solidFill>
                <a:latin typeface="Aptos Mono"/>
              </a:rPr>
              <a:t>binaries</a:t>
            </a:r>
            <a:r>
              <a:rPr lang="en-US" sz="750" b="0">
                <a:solidFill>
                  <a:srgbClr val="000000"/>
                </a:solidFill>
                <a:latin typeface="Aptos Mono"/>
              </a:rPr>
              <a:t>:</a:t>
            </a:r>
            <a:endParaRPr/>
          </a:p>
          <a:p>
            <a:r>
              <a:rPr lang="en-US" sz="750" b="0">
                <a:solidFill>
                  <a:srgbClr val="000000"/>
                </a:solidFill>
                <a:latin typeface="Aptos Mono"/>
              </a:rPr>
              <a:t>      - { </a:t>
            </a:r>
            <a:r>
              <a:rPr lang="en-US" sz="750" b="0">
                <a:solidFill>
                  <a:srgbClr val="0451A5"/>
                </a:solidFill>
                <a:latin typeface="Aptos Mono"/>
              </a:rPr>
              <a:t>path</a:t>
            </a:r>
            <a:r>
              <a:rPr lang="en-US" sz="750" b="0">
                <a:solidFill>
                  <a:srgbClr val="000000"/>
                </a:solidFill>
                <a:latin typeface="Aptos Mono"/>
              </a:rPr>
              <a:t>:</a:t>
            </a:r>
            <a:r>
              <a:rPr lang="en-US" sz="750" b="0">
                <a:solidFill>
                  <a:srgbClr val="A31515"/>
                </a:solidFill>
                <a:latin typeface="Aptos Mono"/>
              </a:rPr>
              <a:t> /usr/bin/curl </a:t>
            </a:r>
            <a:r>
              <a:rPr lang="en-US" sz="75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policy schema</a:t>
            </a:r>
          </a:p>
        </p:txBody>
      </p:sp>
      <p:sp>
        <p:nvSpPr>
          <p:cNvPr id="3" name="Content Placeholder 2"/>
          <p:cNvSpPr>
            <a:spLocks noGrp="1"/>
          </p:cNvSpPr>
          <p:nvPr>
            <p:ph idx="1"/>
          </p:nvPr>
        </p:nvSpPr>
        <p:spPr bwMode="auto">
          <a:xfrm>
            <a:off x="320040" y="658368"/>
            <a:ext cx="6016752" cy="177310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A policy has up to five sections:</a:t>
            </a:r>
            <a:r>
              <a:rPr lang="en-US" sz="1100" b="0">
                <a:solidFill>
                  <a:srgbClr val="000000"/>
                </a:solidFill>
              </a:rPr>
              <a:t> </a:t>
            </a:r>
            <a:r>
              <a:rPr lang="en-US" sz="1100" b="0">
                <a:solidFill>
                  <a:srgbClr val="000000"/>
                </a:solidFill>
                <a:latin typeface="Aptos Mono"/>
              </a:rPr>
              <a:t>filesystem_policy</a:t>
            </a:r>
            <a:r>
              <a:rPr lang="en-US" sz="1100" b="0">
                <a:solidFill>
                  <a:srgbClr val="000000"/>
                </a:solidFill>
              </a:rPr>
              <a:t>, </a:t>
            </a:r>
            <a:r>
              <a:rPr lang="en-US" sz="1100" b="0">
                <a:solidFill>
                  <a:srgbClr val="000000"/>
                </a:solidFill>
                <a:latin typeface="Aptos Mono"/>
              </a:rPr>
              <a:t>landlock</a:t>
            </a:r>
            <a:r>
              <a:rPr lang="en-US" sz="1100" b="0">
                <a:solidFill>
                  <a:srgbClr val="000000"/>
                </a:solidFill>
              </a:rPr>
              <a:t>, </a:t>
            </a:r>
            <a:r>
              <a:rPr lang="en-US" sz="1100" b="0">
                <a:solidFill>
                  <a:srgbClr val="000000"/>
                </a:solidFill>
                <a:latin typeface="Aptos Mono"/>
              </a:rPr>
              <a:t>process</a:t>
            </a:r>
            <a:r>
              <a:rPr lang="en-US" sz="1100" b="0">
                <a:solidFill>
                  <a:srgbClr val="000000"/>
                </a:solidFill>
              </a:rPr>
              <a:t>, </a:t>
            </a:r>
            <a:r>
              <a:rPr lang="en-US" sz="1100" b="0">
                <a:solidFill>
                  <a:srgbClr val="000000"/>
                </a:solidFill>
                <a:latin typeface="Aptos Mono"/>
              </a:rPr>
              <a:t>network_policies</a:t>
            </a:r>
            <a:r>
              <a:rPr lang="en-US" sz="1100" b="0">
                <a:solidFill>
                  <a:srgbClr val="000000"/>
                </a:solidFill>
              </a:rPr>
              <a:t>, </a:t>
            </a:r>
            <a:r>
              <a:rPr lang="en-US" sz="1100" b="0">
                <a:solidFill>
                  <a:srgbClr val="000000"/>
                </a:solidFill>
                <a:latin typeface="Aptos Mono"/>
              </a:rPr>
              <a:t>network_middlewares</a:t>
            </a:r>
            <a:r>
              <a:rPr lang="en-US" sz="11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The filesystem, landlock and process sections are read once,</a:t>
            </a:r>
            <a:r>
              <a:rPr lang="en-US" sz="1100" b="0">
                <a:solidFill>
                  <a:srgbClr val="000000"/>
                </a:solidFill>
              </a:rPr>
              <a:t> at creation. </a:t>
            </a:r>
            <a:r>
              <a:rPr lang="en-US" sz="1100" b="1">
                <a:solidFill>
                  <a:srgbClr val="000000"/>
                </a:solidFill>
              </a:rPr>
              <a:t>Network rules can be reloaded</a:t>
            </a:r>
            <a:r>
              <a:rPr lang="en-US" sz="1100" b="0">
                <a:solidFill>
                  <a:srgbClr val="000000"/>
                </a:solidFill>
              </a:rPr>
              <a:t> on a running sandbox.</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 network rule names binaries and endpoints.</a:t>
            </a:r>
            <a:r>
              <a:rPr lang="en-US" sz="1100" b="0">
                <a:solidFill>
                  <a:srgbClr val="000000"/>
                </a:solidFill>
              </a:rPr>
              <a:t> The quickstart's rule lets </a:t>
            </a:r>
            <a:r>
              <a:rPr lang="en-US" sz="1100" b="0">
                <a:solidFill>
                  <a:srgbClr val="000000"/>
                </a:solidFill>
                <a:latin typeface="Aptos Mono"/>
              </a:rPr>
              <a:t>curl</a:t>
            </a:r>
            <a:r>
              <a:rPr lang="en-US" sz="1100" b="0">
                <a:solidFill>
                  <a:srgbClr val="000000"/>
                </a:solidFill>
              </a:rPr>
              <a:t> reach </a:t>
            </a:r>
            <a:r>
              <a:rPr lang="en-US" sz="1100" b="0">
                <a:solidFill>
                  <a:srgbClr val="000000"/>
                </a:solidFill>
                <a:latin typeface="Aptos Mono"/>
              </a:rPr>
              <a:t>api.github.com</a:t>
            </a:r>
            <a:r>
              <a:rPr lang="en-US" sz="1100" b="0">
                <a:solidFill>
                  <a:srgbClr val="000000"/>
                </a:solidFill>
              </a:rPr>
              <a:t> on port 443, read-only, with </a:t>
            </a:r>
            <a:r>
              <a:rPr lang="en-US" sz="1100" b="0">
                <a:solidFill>
                  <a:srgbClr val="000000"/>
                </a:solidFill>
                <a:latin typeface="Aptos Mono"/>
              </a:rPr>
              <a:t>enforcement: enforce</a:t>
            </a:r>
            <a:r>
              <a:rPr lang="en-US" sz="1100" b="0">
                <a:solidFill>
                  <a:srgbClr val="000000"/>
                </a:solidFill>
              </a:rPr>
              <a:t>. Without it the mode is </a:t>
            </a:r>
            <a:r>
              <a:rPr lang="en-US" sz="1100" b="0">
                <a:solidFill>
                  <a:srgbClr val="000000"/>
                </a:solidFill>
                <a:latin typeface="Aptos Mono"/>
              </a:rPr>
              <a:t>audit</a:t>
            </a:r>
            <a:r>
              <a:rPr lang="en-US" sz="1100" b="0">
                <a:solidFill>
                  <a:srgbClr val="000000"/>
                </a:solidFill>
              </a:rPr>
              <a:t>, which logs a violation and lets the request through.</a:t>
            </a:r>
            <a:endParaRPr/>
          </a:p>
        </p:txBody>
      </p:sp>
      <p:sp>
        <p:nvSpPr>
          <p:cNvPr id="4" name="CodeWindow"/>
          <p:cNvSpPr/>
          <p:nvPr/>
        </p:nvSpPr>
        <p:spPr bwMode="auto">
          <a:xfrm>
            <a:off x="320040" y="2372070"/>
            <a:ext cx="6016752" cy="169848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637246"/>
            <a:ext cx="6016752" cy="0"/>
          </a:xfrm>
          <a:prstGeom prst="line">
            <a:avLst/>
          </a:prstGeom>
          <a:ln w="9525">
            <a:solidFill>
              <a:srgbClr val="DCDCDC"/>
            </a:solidFill>
          </a:ln>
        </p:spPr>
      </p:cxnSp>
      <p:sp>
        <p:nvSpPr>
          <p:cNvPr id="6" name="WinDot 0"/>
          <p:cNvSpPr/>
          <p:nvPr/>
        </p:nvSpPr>
        <p:spPr bwMode="auto">
          <a:xfrm>
            <a:off x="411480" y="245436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45436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45436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413218"/>
            <a:ext cx="5349240" cy="182880"/>
          </a:xfrm>
          <a:prstGeom prst="rect">
            <a:avLst/>
          </a:prstGeom>
          <a:noFill/>
        </p:spPr>
        <p:txBody>
          <a:bodyPr wrap="square" lIns="0" tIns="0" rIns="0" bIns="0" anchor="ctr">
            <a:noAutofit/>
          </a:bodyPr>
          <a:lstStyle/>
          <a:p>
            <a:pPr algn="l">
              <a:defRPr/>
            </a:pPr>
            <a:r>
              <a:rPr sz="850" b="0">
                <a:solidFill>
                  <a:srgbClr val="5B6673"/>
                </a:solidFill>
              </a:rPr>
              <a:t>policy.yaml: network section, with the filesystem and landlock sections omitted</a:t>
            </a:r>
            <a:endParaRPr/>
          </a:p>
        </p:txBody>
      </p:sp>
      <p:sp>
        <p:nvSpPr>
          <p:cNvPr id="10" name="TextBox 7"/>
          <p:cNvSpPr txBox="1"/>
          <p:nvPr/>
        </p:nvSpPr>
        <p:spPr bwMode="auto">
          <a:xfrm>
            <a:off x="466344" y="2701254"/>
            <a:ext cx="5724144" cy="1299302"/>
          </a:xfrm>
          <a:prstGeom prst="rect">
            <a:avLst/>
          </a:prstGeom>
          <a:noFill/>
        </p:spPr>
        <p:txBody>
          <a:bodyPr wrap="none" lIns="0" tIns="0" rIns="0" bIns="0">
            <a:spAutoFit/>
          </a:bodyPr>
          <a:lstStyle/>
          <a:p>
            <a:r>
              <a:rPr lang="en-US" sz="750" b="0">
                <a:solidFill>
                  <a:srgbClr val="0451A5"/>
                </a:solidFill>
                <a:latin typeface="Aptos Mono"/>
              </a:rPr>
              <a:t>network_policies</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github_api</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name</a:t>
            </a:r>
            <a:r>
              <a:rPr lang="en-US" sz="750" b="0">
                <a:solidFill>
                  <a:srgbClr val="000000"/>
                </a:solidFill>
                <a:latin typeface="Aptos Mono"/>
              </a:rPr>
              <a:t>:</a:t>
            </a:r>
            <a:r>
              <a:rPr lang="en-US" sz="750" b="0">
                <a:solidFill>
                  <a:srgbClr val="A31515"/>
                </a:solidFill>
                <a:latin typeface="Aptos Mono"/>
              </a:rPr>
              <a:t> github-api-readonly</a:t>
            </a:r>
            <a:endParaRPr/>
          </a:p>
          <a:p>
            <a:r>
              <a:rPr lang="en-US" sz="750" b="0">
                <a:solidFill>
                  <a:srgbClr val="000000"/>
                </a:solidFill>
                <a:latin typeface="Aptos Mono"/>
              </a:rPr>
              <a:t>    </a:t>
            </a:r>
            <a:r>
              <a:rPr lang="en-US" sz="750" b="0">
                <a:solidFill>
                  <a:srgbClr val="0451A5"/>
                </a:solidFill>
                <a:latin typeface="Aptos Mono"/>
              </a:rPr>
              <a:t>endpoints</a:t>
            </a:r>
            <a:r>
              <a:rPr lang="en-US" sz="750" b="0">
                <a:solidFill>
                  <a:srgbClr val="000000"/>
                </a:solidFill>
                <a:latin typeface="Aptos Mono"/>
              </a:rPr>
              <a:t>:</a:t>
            </a:r>
            <a:endParaRPr/>
          </a:p>
          <a:p>
            <a:r>
              <a:rPr lang="en-US" sz="750" b="0">
                <a:solidFill>
                  <a:srgbClr val="000000"/>
                </a:solidFill>
                <a:latin typeface="Aptos Mono"/>
              </a:rPr>
              <a:t>      - </a:t>
            </a:r>
            <a:r>
              <a:rPr lang="en-US" sz="750" b="0">
                <a:solidFill>
                  <a:srgbClr val="0451A5"/>
                </a:solidFill>
                <a:latin typeface="Aptos Mono"/>
              </a:rPr>
              <a:t>host</a:t>
            </a:r>
            <a:r>
              <a:rPr lang="en-US" sz="750" b="0">
                <a:solidFill>
                  <a:srgbClr val="000000"/>
                </a:solidFill>
                <a:latin typeface="Aptos Mono"/>
              </a:rPr>
              <a:t>:</a:t>
            </a:r>
            <a:r>
              <a:rPr lang="en-US" sz="750" b="0">
                <a:solidFill>
                  <a:srgbClr val="A31515"/>
                </a:solidFill>
                <a:latin typeface="Aptos Mono"/>
              </a:rPr>
              <a:t> api.github.com</a:t>
            </a:r>
            <a:endParaRPr/>
          </a:p>
          <a:p>
            <a:r>
              <a:rPr lang="en-US" sz="750" b="0">
                <a:solidFill>
                  <a:srgbClr val="000000"/>
                </a:solidFill>
                <a:latin typeface="Aptos Mono"/>
              </a:rPr>
              <a:t>        </a:t>
            </a:r>
            <a:r>
              <a:rPr lang="en-US" sz="750" b="0">
                <a:solidFill>
                  <a:srgbClr val="0451A5"/>
                </a:solidFill>
                <a:latin typeface="Aptos Mono"/>
              </a:rPr>
              <a:t>port</a:t>
            </a:r>
            <a:r>
              <a:rPr lang="en-US" sz="750" b="0">
                <a:solidFill>
                  <a:srgbClr val="000000"/>
                </a:solidFill>
                <a:latin typeface="Aptos Mono"/>
              </a:rPr>
              <a:t>: </a:t>
            </a:r>
            <a:r>
              <a:rPr lang="en-US" sz="750" b="0">
                <a:solidFill>
                  <a:srgbClr val="098658"/>
                </a:solidFill>
                <a:latin typeface="Aptos Mono"/>
              </a:rPr>
              <a:t>443</a:t>
            </a:r>
            <a:endParaRPr/>
          </a:p>
          <a:p>
            <a:r>
              <a:rPr lang="en-US" sz="750" b="0">
                <a:solidFill>
                  <a:srgbClr val="000000"/>
                </a:solidFill>
                <a:latin typeface="Aptos Mono"/>
              </a:rPr>
              <a:t>        </a:t>
            </a:r>
            <a:r>
              <a:rPr lang="en-US" sz="750" b="0">
                <a:solidFill>
                  <a:srgbClr val="0451A5"/>
                </a:solidFill>
                <a:latin typeface="Aptos Mono"/>
              </a:rPr>
              <a:t>protocol</a:t>
            </a:r>
            <a:r>
              <a:rPr lang="en-US" sz="750" b="0">
                <a:solidFill>
                  <a:srgbClr val="000000"/>
                </a:solidFill>
                <a:latin typeface="Aptos Mono"/>
              </a:rPr>
              <a:t>:</a:t>
            </a:r>
            <a:r>
              <a:rPr lang="en-US" sz="750" b="0">
                <a:solidFill>
                  <a:srgbClr val="A31515"/>
                </a:solidFill>
                <a:latin typeface="Aptos Mono"/>
              </a:rPr>
              <a:t> rest</a:t>
            </a:r>
            <a:endParaRPr/>
          </a:p>
          <a:p>
            <a:r>
              <a:rPr lang="en-US" sz="750" b="0">
                <a:solidFill>
                  <a:srgbClr val="000000"/>
                </a:solidFill>
                <a:latin typeface="Aptos Mono"/>
              </a:rPr>
              <a:t>        </a:t>
            </a:r>
            <a:r>
              <a:rPr lang="en-US" sz="750" b="0">
                <a:solidFill>
                  <a:srgbClr val="0451A5"/>
                </a:solidFill>
                <a:latin typeface="Aptos Mono"/>
              </a:rPr>
              <a:t>enforcement</a:t>
            </a:r>
            <a:r>
              <a:rPr lang="en-US" sz="750" b="0">
                <a:solidFill>
                  <a:srgbClr val="000000"/>
                </a:solidFill>
                <a:latin typeface="Aptos Mono"/>
              </a:rPr>
              <a:t>:</a:t>
            </a:r>
            <a:r>
              <a:rPr lang="en-US" sz="750" b="0">
                <a:solidFill>
                  <a:srgbClr val="A31515"/>
                </a:solidFill>
                <a:latin typeface="Aptos Mono"/>
              </a:rPr>
              <a:t> enforce</a:t>
            </a:r>
            <a:endParaRPr/>
          </a:p>
          <a:p>
            <a:r>
              <a:rPr lang="en-US" sz="750" b="0">
                <a:solidFill>
                  <a:srgbClr val="000000"/>
                </a:solidFill>
                <a:latin typeface="Aptos Mono"/>
              </a:rPr>
              <a:t>        </a:t>
            </a:r>
            <a:r>
              <a:rPr lang="en-US" sz="750" b="0">
                <a:solidFill>
                  <a:srgbClr val="0451A5"/>
                </a:solidFill>
                <a:latin typeface="Aptos Mono"/>
              </a:rPr>
              <a:t>access</a:t>
            </a:r>
            <a:r>
              <a:rPr lang="en-US" sz="750" b="0">
                <a:solidFill>
                  <a:srgbClr val="000000"/>
                </a:solidFill>
                <a:latin typeface="Aptos Mono"/>
              </a:rPr>
              <a:t>:</a:t>
            </a:r>
            <a:r>
              <a:rPr lang="en-US" sz="750" b="0">
                <a:solidFill>
                  <a:srgbClr val="A31515"/>
                </a:solidFill>
                <a:latin typeface="Aptos Mono"/>
              </a:rPr>
              <a:t> read-only</a:t>
            </a:r>
            <a:endParaRPr/>
          </a:p>
          <a:p>
            <a:r>
              <a:rPr lang="en-US" sz="750" b="0">
                <a:solidFill>
                  <a:srgbClr val="000000"/>
                </a:solidFill>
                <a:latin typeface="Aptos Mono"/>
              </a:rPr>
              <a:t>    </a:t>
            </a:r>
            <a:r>
              <a:rPr lang="en-US" sz="750" b="0">
                <a:solidFill>
                  <a:srgbClr val="0451A5"/>
                </a:solidFill>
                <a:latin typeface="Aptos Mono"/>
              </a:rPr>
              <a:t>binaries</a:t>
            </a:r>
            <a:r>
              <a:rPr lang="en-US" sz="750" b="0">
                <a:solidFill>
                  <a:srgbClr val="000000"/>
                </a:solidFill>
                <a:latin typeface="Aptos Mono"/>
              </a:rPr>
              <a:t>:</a:t>
            </a:r>
            <a:endParaRPr/>
          </a:p>
          <a:p>
            <a:r>
              <a:rPr lang="en-US" sz="750" b="0">
                <a:solidFill>
                  <a:srgbClr val="000000"/>
                </a:solidFill>
                <a:latin typeface="Aptos Mono"/>
              </a:rPr>
              <a:t>      - { </a:t>
            </a:r>
            <a:r>
              <a:rPr lang="en-US" sz="750" b="0">
                <a:solidFill>
                  <a:srgbClr val="0451A5"/>
                </a:solidFill>
                <a:latin typeface="Aptos Mono"/>
              </a:rPr>
              <a:t>path</a:t>
            </a:r>
            <a:r>
              <a:rPr lang="en-US" sz="750" b="0">
                <a:solidFill>
                  <a:srgbClr val="000000"/>
                </a:solidFill>
                <a:latin typeface="Aptos Mono"/>
              </a:rPr>
              <a:t>:</a:t>
            </a:r>
            <a:r>
              <a:rPr lang="en-US" sz="750" b="0">
                <a:solidFill>
                  <a:srgbClr val="A31515"/>
                </a:solidFill>
                <a:latin typeface="Aptos Mono"/>
              </a:rPr>
              <a:t> /usr/bin/curl </a:t>
            </a:r>
            <a:r>
              <a:rPr lang="en-US" sz="75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policy schema</a:t>
            </a:r>
          </a:p>
        </p:txBody>
      </p:sp>
      <p:sp>
        <p:nvSpPr>
          <p:cNvPr id="3" name="Content Placeholder 2"/>
          <p:cNvSpPr>
            <a:spLocks noGrp="1"/>
          </p:cNvSpPr>
          <p:nvPr>
            <p:ph idx="1"/>
          </p:nvPr>
        </p:nvSpPr>
        <p:spPr bwMode="auto">
          <a:xfrm>
            <a:off x="320040" y="658368"/>
            <a:ext cx="6016752" cy="177310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A policy has up to five sections:</a:t>
            </a:r>
            <a:r>
              <a:rPr lang="en-US" sz="1100" b="0">
                <a:solidFill>
                  <a:srgbClr val="000000"/>
                </a:solidFill>
              </a:rPr>
              <a:t> </a:t>
            </a:r>
            <a:r>
              <a:rPr lang="en-US" sz="1100" b="0">
                <a:solidFill>
                  <a:srgbClr val="000000"/>
                </a:solidFill>
                <a:latin typeface="Aptos Mono"/>
              </a:rPr>
              <a:t>filesystem_policy</a:t>
            </a:r>
            <a:r>
              <a:rPr lang="en-US" sz="1100" b="0">
                <a:solidFill>
                  <a:srgbClr val="000000"/>
                </a:solidFill>
              </a:rPr>
              <a:t>, </a:t>
            </a:r>
            <a:r>
              <a:rPr lang="en-US" sz="1100" b="0">
                <a:solidFill>
                  <a:srgbClr val="000000"/>
                </a:solidFill>
                <a:latin typeface="Aptos Mono"/>
              </a:rPr>
              <a:t>landlock</a:t>
            </a:r>
            <a:r>
              <a:rPr lang="en-US" sz="1100" b="0">
                <a:solidFill>
                  <a:srgbClr val="000000"/>
                </a:solidFill>
              </a:rPr>
              <a:t>, </a:t>
            </a:r>
            <a:r>
              <a:rPr lang="en-US" sz="1100" b="0">
                <a:solidFill>
                  <a:srgbClr val="000000"/>
                </a:solidFill>
                <a:latin typeface="Aptos Mono"/>
              </a:rPr>
              <a:t>process</a:t>
            </a:r>
            <a:r>
              <a:rPr lang="en-US" sz="1100" b="0">
                <a:solidFill>
                  <a:srgbClr val="000000"/>
                </a:solidFill>
              </a:rPr>
              <a:t>, </a:t>
            </a:r>
            <a:r>
              <a:rPr lang="en-US" sz="1100" b="0">
                <a:solidFill>
                  <a:srgbClr val="000000"/>
                </a:solidFill>
                <a:latin typeface="Aptos Mono"/>
              </a:rPr>
              <a:t>network_policies</a:t>
            </a:r>
            <a:r>
              <a:rPr lang="en-US" sz="1100" b="0">
                <a:solidFill>
                  <a:srgbClr val="000000"/>
                </a:solidFill>
              </a:rPr>
              <a:t>, </a:t>
            </a:r>
            <a:r>
              <a:rPr lang="en-US" sz="1100" b="0">
                <a:solidFill>
                  <a:srgbClr val="000000"/>
                </a:solidFill>
                <a:latin typeface="Aptos Mono"/>
              </a:rPr>
              <a:t>network_middlewares</a:t>
            </a:r>
            <a:r>
              <a:rPr lang="en-US" sz="11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The filesystem, landlock and process sections are read once,</a:t>
            </a:r>
            <a:r>
              <a:rPr lang="en-US" sz="1100" b="0">
                <a:solidFill>
                  <a:srgbClr val="000000"/>
                </a:solidFill>
              </a:rPr>
              <a:t> at creation. </a:t>
            </a:r>
            <a:r>
              <a:rPr lang="en-US" sz="1100" b="1">
                <a:solidFill>
                  <a:srgbClr val="000000"/>
                </a:solidFill>
              </a:rPr>
              <a:t>Network rules can be reloaded</a:t>
            </a:r>
            <a:r>
              <a:rPr lang="en-US" sz="1100" b="0">
                <a:solidFill>
                  <a:srgbClr val="000000"/>
                </a:solidFill>
              </a:rPr>
              <a:t> on a running sandbox.</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 network rule names binaries and endpoints.</a:t>
            </a:r>
            <a:r>
              <a:rPr lang="en-US" sz="1100" b="0">
                <a:solidFill>
                  <a:srgbClr val="000000"/>
                </a:solidFill>
              </a:rPr>
              <a:t> The quickstart's rule lets </a:t>
            </a:r>
            <a:r>
              <a:rPr lang="en-US" sz="1100" b="0">
                <a:solidFill>
                  <a:srgbClr val="000000"/>
                </a:solidFill>
                <a:latin typeface="Aptos Mono"/>
              </a:rPr>
              <a:t>curl</a:t>
            </a:r>
            <a:r>
              <a:rPr lang="en-US" sz="1100" b="0">
                <a:solidFill>
                  <a:srgbClr val="000000"/>
                </a:solidFill>
              </a:rPr>
              <a:t> reach </a:t>
            </a:r>
            <a:r>
              <a:rPr lang="en-US" sz="1100" b="0">
                <a:solidFill>
                  <a:srgbClr val="000000"/>
                </a:solidFill>
                <a:latin typeface="Aptos Mono"/>
              </a:rPr>
              <a:t>api.github.com</a:t>
            </a:r>
            <a:r>
              <a:rPr lang="en-US" sz="1100" b="0">
                <a:solidFill>
                  <a:srgbClr val="000000"/>
                </a:solidFill>
              </a:rPr>
              <a:t> on port 443, read-only, with </a:t>
            </a:r>
            <a:r>
              <a:rPr lang="en-US" sz="1100" b="0">
                <a:solidFill>
                  <a:srgbClr val="000000"/>
                </a:solidFill>
                <a:latin typeface="Aptos Mono"/>
              </a:rPr>
              <a:t>enforcement: enforce</a:t>
            </a:r>
            <a:r>
              <a:rPr lang="en-US" sz="1100" b="0">
                <a:solidFill>
                  <a:srgbClr val="000000"/>
                </a:solidFill>
              </a:rPr>
              <a:t>. Without it the mode is </a:t>
            </a:r>
            <a:r>
              <a:rPr lang="en-US" sz="1100" b="0">
                <a:solidFill>
                  <a:srgbClr val="000000"/>
                </a:solidFill>
                <a:latin typeface="Aptos Mono"/>
              </a:rPr>
              <a:t>audit</a:t>
            </a:r>
            <a:r>
              <a:rPr lang="en-US" sz="1100" b="0">
                <a:solidFill>
                  <a:srgbClr val="000000"/>
                </a:solidFill>
              </a:rPr>
              <a:t>, which logs a violation and lets the request through.</a:t>
            </a:r>
            <a:endParaRPr/>
          </a:p>
        </p:txBody>
      </p:sp>
      <p:sp>
        <p:nvSpPr>
          <p:cNvPr id="4" name="Rectangle 4"/>
          <p:cNvSpPr/>
          <p:nvPr/>
        </p:nvSpPr>
        <p:spPr bwMode="auto">
          <a:xfrm>
            <a:off x="320040" y="4257223"/>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Without the enforcement line, the mode is audit, so a request that breaks the rule is logged and goes through.</a:t>
            </a:r>
            <a:endParaRPr/>
          </a:p>
        </p:txBody>
      </p:sp>
      <p:sp>
        <p:nvSpPr>
          <p:cNvPr id="5" name="CodeWindow"/>
          <p:cNvSpPr/>
          <p:nvPr/>
        </p:nvSpPr>
        <p:spPr bwMode="auto">
          <a:xfrm>
            <a:off x="320040" y="2372070"/>
            <a:ext cx="6016752" cy="169848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637246"/>
            <a:ext cx="6016752" cy="0"/>
          </a:xfrm>
          <a:prstGeom prst="line">
            <a:avLst/>
          </a:prstGeom>
          <a:ln w="9525">
            <a:solidFill>
              <a:srgbClr val="DCDCDC"/>
            </a:solidFill>
          </a:ln>
        </p:spPr>
      </p:cxnSp>
      <p:sp>
        <p:nvSpPr>
          <p:cNvPr id="7" name="WinDot 0"/>
          <p:cNvSpPr/>
          <p:nvPr/>
        </p:nvSpPr>
        <p:spPr bwMode="auto">
          <a:xfrm>
            <a:off x="411480" y="245436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45436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45436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413218"/>
            <a:ext cx="5349240" cy="182880"/>
          </a:xfrm>
          <a:prstGeom prst="rect">
            <a:avLst/>
          </a:prstGeom>
          <a:noFill/>
        </p:spPr>
        <p:txBody>
          <a:bodyPr wrap="square" lIns="0" tIns="0" rIns="0" bIns="0" anchor="ctr">
            <a:noAutofit/>
          </a:bodyPr>
          <a:lstStyle/>
          <a:p>
            <a:pPr algn="l">
              <a:defRPr/>
            </a:pPr>
            <a:r>
              <a:rPr sz="850" b="0">
                <a:solidFill>
                  <a:srgbClr val="5B6673"/>
                </a:solidFill>
              </a:rPr>
              <a:t>policy.yaml: network section, with the filesystem and landlock sections omitted</a:t>
            </a:r>
            <a:endParaRPr/>
          </a:p>
        </p:txBody>
      </p:sp>
      <p:sp>
        <p:nvSpPr>
          <p:cNvPr id="11" name="TextBox 7"/>
          <p:cNvSpPr txBox="1"/>
          <p:nvPr/>
        </p:nvSpPr>
        <p:spPr bwMode="auto">
          <a:xfrm>
            <a:off x="466344" y="2701254"/>
            <a:ext cx="5724144" cy="1299302"/>
          </a:xfrm>
          <a:prstGeom prst="rect">
            <a:avLst/>
          </a:prstGeom>
          <a:noFill/>
        </p:spPr>
        <p:txBody>
          <a:bodyPr wrap="none" lIns="0" tIns="0" rIns="0" bIns="0">
            <a:spAutoFit/>
          </a:bodyPr>
          <a:lstStyle/>
          <a:p>
            <a:r>
              <a:rPr lang="en-US" sz="750" b="0">
                <a:solidFill>
                  <a:srgbClr val="0451A5"/>
                </a:solidFill>
                <a:latin typeface="Aptos Mono"/>
              </a:rPr>
              <a:t>network_policies</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github_api</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name</a:t>
            </a:r>
            <a:r>
              <a:rPr lang="en-US" sz="750" b="0">
                <a:solidFill>
                  <a:srgbClr val="000000"/>
                </a:solidFill>
                <a:latin typeface="Aptos Mono"/>
              </a:rPr>
              <a:t>:</a:t>
            </a:r>
            <a:r>
              <a:rPr lang="en-US" sz="750" b="0">
                <a:solidFill>
                  <a:srgbClr val="A31515"/>
                </a:solidFill>
                <a:latin typeface="Aptos Mono"/>
              </a:rPr>
              <a:t> github-api-readonly</a:t>
            </a:r>
            <a:endParaRPr/>
          </a:p>
          <a:p>
            <a:r>
              <a:rPr lang="en-US" sz="750" b="0">
                <a:solidFill>
                  <a:srgbClr val="000000"/>
                </a:solidFill>
                <a:latin typeface="Aptos Mono"/>
              </a:rPr>
              <a:t>    </a:t>
            </a:r>
            <a:r>
              <a:rPr lang="en-US" sz="750" b="0">
                <a:solidFill>
                  <a:srgbClr val="0451A5"/>
                </a:solidFill>
                <a:latin typeface="Aptos Mono"/>
              </a:rPr>
              <a:t>endpoints</a:t>
            </a:r>
            <a:r>
              <a:rPr lang="en-US" sz="750" b="0">
                <a:solidFill>
                  <a:srgbClr val="000000"/>
                </a:solidFill>
                <a:latin typeface="Aptos Mono"/>
              </a:rPr>
              <a:t>:</a:t>
            </a:r>
            <a:endParaRPr/>
          </a:p>
          <a:p>
            <a:r>
              <a:rPr lang="en-US" sz="750" b="0">
                <a:solidFill>
                  <a:srgbClr val="000000"/>
                </a:solidFill>
                <a:latin typeface="Aptos Mono"/>
              </a:rPr>
              <a:t>      - </a:t>
            </a:r>
            <a:r>
              <a:rPr lang="en-US" sz="750" b="0">
                <a:solidFill>
                  <a:srgbClr val="0451A5"/>
                </a:solidFill>
                <a:latin typeface="Aptos Mono"/>
              </a:rPr>
              <a:t>host</a:t>
            </a:r>
            <a:r>
              <a:rPr lang="en-US" sz="750" b="0">
                <a:solidFill>
                  <a:srgbClr val="000000"/>
                </a:solidFill>
                <a:latin typeface="Aptos Mono"/>
              </a:rPr>
              <a:t>:</a:t>
            </a:r>
            <a:r>
              <a:rPr lang="en-US" sz="750" b="0">
                <a:solidFill>
                  <a:srgbClr val="A31515"/>
                </a:solidFill>
                <a:latin typeface="Aptos Mono"/>
              </a:rPr>
              <a:t> api.github.com</a:t>
            </a:r>
            <a:endParaRPr/>
          </a:p>
          <a:p>
            <a:r>
              <a:rPr lang="en-US" sz="750" b="0">
                <a:solidFill>
                  <a:srgbClr val="000000"/>
                </a:solidFill>
                <a:latin typeface="Aptos Mono"/>
              </a:rPr>
              <a:t>        </a:t>
            </a:r>
            <a:r>
              <a:rPr lang="en-US" sz="750" b="0">
                <a:solidFill>
                  <a:srgbClr val="0451A5"/>
                </a:solidFill>
                <a:latin typeface="Aptos Mono"/>
              </a:rPr>
              <a:t>port</a:t>
            </a:r>
            <a:r>
              <a:rPr lang="en-US" sz="750" b="0">
                <a:solidFill>
                  <a:srgbClr val="000000"/>
                </a:solidFill>
                <a:latin typeface="Aptos Mono"/>
              </a:rPr>
              <a:t>: </a:t>
            </a:r>
            <a:r>
              <a:rPr lang="en-US" sz="750" b="0">
                <a:solidFill>
                  <a:srgbClr val="098658"/>
                </a:solidFill>
                <a:latin typeface="Aptos Mono"/>
              </a:rPr>
              <a:t>443</a:t>
            </a:r>
            <a:endParaRPr/>
          </a:p>
          <a:p>
            <a:r>
              <a:rPr lang="en-US" sz="750" b="0">
                <a:solidFill>
                  <a:srgbClr val="000000"/>
                </a:solidFill>
                <a:latin typeface="Aptos Mono"/>
              </a:rPr>
              <a:t>        </a:t>
            </a:r>
            <a:r>
              <a:rPr lang="en-US" sz="750" b="0">
                <a:solidFill>
                  <a:srgbClr val="0451A5"/>
                </a:solidFill>
                <a:latin typeface="Aptos Mono"/>
              </a:rPr>
              <a:t>protocol</a:t>
            </a:r>
            <a:r>
              <a:rPr lang="en-US" sz="750" b="0">
                <a:solidFill>
                  <a:srgbClr val="000000"/>
                </a:solidFill>
                <a:latin typeface="Aptos Mono"/>
              </a:rPr>
              <a:t>:</a:t>
            </a:r>
            <a:r>
              <a:rPr lang="en-US" sz="750" b="0">
                <a:solidFill>
                  <a:srgbClr val="A31515"/>
                </a:solidFill>
                <a:latin typeface="Aptos Mono"/>
              </a:rPr>
              <a:t> rest</a:t>
            </a:r>
            <a:endParaRPr/>
          </a:p>
          <a:p>
            <a:r>
              <a:rPr lang="en-US" sz="750" b="0">
                <a:solidFill>
                  <a:srgbClr val="000000"/>
                </a:solidFill>
                <a:latin typeface="Aptos Mono"/>
              </a:rPr>
              <a:t>        </a:t>
            </a:r>
            <a:r>
              <a:rPr lang="en-US" sz="750" b="0">
                <a:solidFill>
                  <a:srgbClr val="0451A5"/>
                </a:solidFill>
                <a:latin typeface="Aptos Mono"/>
              </a:rPr>
              <a:t>enforcement</a:t>
            </a:r>
            <a:r>
              <a:rPr lang="en-US" sz="750" b="0">
                <a:solidFill>
                  <a:srgbClr val="000000"/>
                </a:solidFill>
                <a:latin typeface="Aptos Mono"/>
              </a:rPr>
              <a:t>:</a:t>
            </a:r>
            <a:r>
              <a:rPr lang="en-US" sz="750" b="0">
                <a:solidFill>
                  <a:srgbClr val="A31515"/>
                </a:solidFill>
                <a:latin typeface="Aptos Mono"/>
              </a:rPr>
              <a:t> enforce</a:t>
            </a:r>
            <a:endParaRPr/>
          </a:p>
          <a:p>
            <a:r>
              <a:rPr lang="en-US" sz="750" b="0">
                <a:solidFill>
                  <a:srgbClr val="000000"/>
                </a:solidFill>
                <a:latin typeface="Aptos Mono"/>
              </a:rPr>
              <a:t>        </a:t>
            </a:r>
            <a:r>
              <a:rPr lang="en-US" sz="750" b="0">
                <a:solidFill>
                  <a:srgbClr val="0451A5"/>
                </a:solidFill>
                <a:latin typeface="Aptos Mono"/>
              </a:rPr>
              <a:t>access</a:t>
            </a:r>
            <a:r>
              <a:rPr lang="en-US" sz="750" b="0">
                <a:solidFill>
                  <a:srgbClr val="000000"/>
                </a:solidFill>
                <a:latin typeface="Aptos Mono"/>
              </a:rPr>
              <a:t>:</a:t>
            </a:r>
            <a:r>
              <a:rPr lang="en-US" sz="750" b="0">
                <a:solidFill>
                  <a:srgbClr val="A31515"/>
                </a:solidFill>
                <a:latin typeface="Aptos Mono"/>
              </a:rPr>
              <a:t> read-only</a:t>
            </a:r>
            <a:endParaRPr/>
          </a:p>
          <a:p>
            <a:r>
              <a:rPr lang="en-US" sz="750" b="0">
                <a:solidFill>
                  <a:srgbClr val="000000"/>
                </a:solidFill>
                <a:latin typeface="Aptos Mono"/>
              </a:rPr>
              <a:t>    </a:t>
            </a:r>
            <a:r>
              <a:rPr lang="en-US" sz="750" b="0">
                <a:solidFill>
                  <a:srgbClr val="0451A5"/>
                </a:solidFill>
                <a:latin typeface="Aptos Mono"/>
              </a:rPr>
              <a:t>binaries</a:t>
            </a:r>
            <a:r>
              <a:rPr lang="en-US" sz="750" b="0">
                <a:solidFill>
                  <a:srgbClr val="000000"/>
                </a:solidFill>
                <a:latin typeface="Aptos Mono"/>
              </a:rPr>
              <a:t>:</a:t>
            </a:r>
            <a:endParaRPr/>
          </a:p>
          <a:p>
            <a:r>
              <a:rPr lang="en-US" sz="750" b="0">
                <a:solidFill>
                  <a:srgbClr val="000000"/>
                </a:solidFill>
                <a:latin typeface="Aptos Mono"/>
              </a:rPr>
              <a:t>      - { </a:t>
            </a:r>
            <a:r>
              <a:rPr lang="en-US" sz="750" b="0">
                <a:solidFill>
                  <a:srgbClr val="0451A5"/>
                </a:solidFill>
                <a:latin typeface="Aptos Mono"/>
              </a:rPr>
              <a:t>path</a:t>
            </a:r>
            <a:r>
              <a:rPr lang="en-US" sz="750" b="0">
                <a:solidFill>
                  <a:srgbClr val="000000"/>
                </a:solidFill>
                <a:latin typeface="Aptos Mono"/>
              </a:rPr>
              <a:t>:</a:t>
            </a:r>
            <a:r>
              <a:rPr lang="en-US" sz="750" b="0">
                <a:solidFill>
                  <a:srgbClr val="A31515"/>
                </a:solidFill>
                <a:latin typeface="Aptos Mono"/>
              </a:rPr>
              <a:t> /usr/bin/curl </a:t>
            </a:r>
            <a:r>
              <a:rPr lang="en-US" sz="75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is recorded for approval.</a:t>
            </a:r>
          </a:p>
        </p:txBody>
      </p:sp>
      <p:sp>
        <p:nvSpPr>
          <p:cNvPr id="3" name="Content Placeholder 2"/>
          <p:cNvSpPr>
            <a:spLocks noGrp="1"/>
          </p:cNvSpPr>
          <p:nvPr>
            <p:ph idx="1"/>
          </p:nvPr>
        </p:nvSpPr>
        <p:spPr bwMode="auto">
          <a:xfrm>
            <a:off x="320040" y="658368"/>
            <a:ext cx="6016752" cy="13989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When policy blocks a request, OpenShell records the denial.</a:t>
            </a:r>
            <a:r>
              <a:rPr lang="en-US" sz="1200" b="0" dirty="0">
                <a:solidFill>
                  <a:srgbClr val="000000"/>
                </a:solidFill>
              </a:rPr>
              <a:t> With the policy advisor on, the agent can propose a narrow rule. An operator approves it, or automatic approval accepts it when the risk checks find nothing.</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Release 0.1.0 added a boundary check:</a:t>
            </a:r>
            <a:r>
              <a:rPr lang="en-US" sz="1200" b="0" dirty="0">
                <a:solidFill>
                  <a:srgbClr val="FFFFFF">
                    <a:alpha val="0"/>
                  </a:srgbClr>
                </a:solidFill>
              </a:rPr>
              <a:t> the policy prover verifies with an SMT solver that a policy allows no access beyond a boundary policy.</a:t>
            </a:r>
            <a:endParaRPr dirty="0">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is recorded for approval.</a:t>
            </a:r>
          </a:p>
        </p:txBody>
      </p:sp>
      <p:sp>
        <p:nvSpPr>
          <p:cNvPr id="3" name="Content Placeholder 2"/>
          <p:cNvSpPr>
            <a:spLocks noGrp="1"/>
          </p:cNvSpPr>
          <p:nvPr>
            <p:ph idx="1"/>
          </p:nvPr>
        </p:nvSpPr>
        <p:spPr bwMode="auto">
          <a:xfrm>
            <a:off x="320040" y="658368"/>
            <a:ext cx="6016752" cy="13989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When policy blocks a request, OpenShell records the denial.</a:t>
            </a:r>
            <a:r>
              <a:rPr lang="en-US" sz="1200" b="0" dirty="0">
                <a:solidFill>
                  <a:srgbClr val="000000"/>
                </a:solidFill>
              </a:rPr>
              <a:t> With the policy advisor on, the agent can propose a narrow rule. An operator approves it, or automatic approval accepts it when the risk checks find nothing.</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Release 0.1.0 added a boundary check:</a:t>
            </a:r>
            <a:r>
              <a:rPr lang="en-US" sz="1200" b="0" dirty="0">
                <a:solidFill>
                  <a:srgbClr val="000000"/>
                </a:solidFill>
              </a:rPr>
              <a:t> the policy prover verifies with an SMT solver that a policy allows no access beyond a boundary policy.</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is recorded for approval.</a:t>
            </a:r>
          </a:p>
        </p:txBody>
      </p:sp>
      <p:sp>
        <p:nvSpPr>
          <p:cNvPr id="3" name="Content Placeholder 2"/>
          <p:cNvSpPr>
            <a:spLocks noGrp="1"/>
          </p:cNvSpPr>
          <p:nvPr>
            <p:ph idx="1"/>
          </p:nvPr>
        </p:nvSpPr>
        <p:spPr bwMode="auto">
          <a:xfrm>
            <a:off x="320040" y="658368"/>
            <a:ext cx="6016752" cy="13989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When policy blocks a request, OpenShell records the denial.</a:t>
            </a:r>
            <a:r>
              <a:rPr lang="en-US" sz="1200" b="0" dirty="0">
                <a:solidFill>
                  <a:srgbClr val="000000"/>
                </a:solidFill>
              </a:rPr>
              <a:t> With the policy advisor on, the agent can propose a narrow rule. An operator approves it, or automatic approval accepts it when the risk checks find nothing.</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Release 0.1.0 added a boundary check:</a:t>
            </a:r>
            <a:r>
              <a:rPr lang="en-US" sz="1200" b="0" dirty="0">
                <a:solidFill>
                  <a:srgbClr val="000000"/>
                </a:solidFill>
              </a:rPr>
              <a:t> the policy prover verifies with an SMT solver that a policy allows no access beyond a boundary policy.</a:t>
            </a:r>
            <a:endParaRPr dirty="0"/>
          </a:p>
        </p:txBody>
      </p:sp>
      <p:sp>
        <p:nvSpPr>
          <p:cNvPr id="4" name="Rectangle 4"/>
          <p:cNvSpPr/>
          <p:nvPr/>
        </p:nvSpPr>
        <p:spPr bwMode="auto">
          <a:xfrm>
            <a:off x="320040" y="2211209"/>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denial is recorded, an approved proposal adds one narrow rule, and the policy prover checks a policy against a boundary policy.</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Sentry watches from outside the host.</a:t>
            </a:r>
          </a:p>
        </p:txBody>
      </p:sp>
      <p:sp>
        <p:nvSpPr>
          <p:cNvPr id="3" name="Content Placeholder 2"/>
          <p:cNvSpPr>
            <a:spLocks noGrp="1"/>
          </p:cNvSpPr>
          <p:nvPr>
            <p:ph idx="1"/>
          </p:nvPr>
        </p:nvSpPr>
        <p:spPr bwMode="auto">
          <a:xfrm>
            <a:off x="320040" y="658368"/>
            <a:ext cx="6016752" cy="14751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0">
                <a:solidFill>
                  <a:srgbClr val="000000"/>
                </a:solidFill>
              </a:rPr>
              <a:t> is a reference design that runs on NVIDIA BlueField-4 data processing units, a separate processor in the network path with its own trust domain.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watches the agent's traffic to the model from outside the host</a:t>
            </a:r>
            <a:r>
              <a:rPr lang="en-US" sz="1200" b="0">
                <a:solidFill>
                  <a:srgbClr val="FFFFFF">
                    <a:alpha val="0"/>
                  </a:srgbClr>
                </a:solidFill>
              </a:rPr>
              <a:t> and can quarantine the agent.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NVIDIA names no other hardware for it.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Sentry watches from outside the host.</a:t>
            </a:r>
          </a:p>
        </p:txBody>
      </p:sp>
      <p:sp>
        <p:nvSpPr>
          <p:cNvPr id="3" name="Content Placeholder 2"/>
          <p:cNvSpPr>
            <a:spLocks noGrp="1"/>
          </p:cNvSpPr>
          <p:nvPr>
            <p:ph idx="1"/>
          </p:nvPr>
        </p:nvSpPr>
        <p:spPr bwMode="auto">
          <a:xfrm>
            <a:off x="320040" y="658368"/>
            <a:ext cx="6016752" cy="14751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0">
                <a:solidFill>
                  <a:srgbClr val="000000"/>
                </a:solidFill>
              </a:rPr>
              <a:t> is a reference design that runs on NVIDIA BlueField-4 data processing units, a separate processor in the network path with its own trust domain.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watches the agent's traffic to the model from outside the host</a:t>
            </a:r>
            <a:r>
              <a:rPr lang="en-US" sz="1200" b="0">
                <a:solidFill>
                  <a:srgbClr val="000000"/>
                </a:solidFill>
              </a:rPr>
              <a:t> and can quarantine the agent.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NVIDIA names no other hardware for it.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Sentry watches from outside the host.</a:t>
            </a:r>
          </a:p>
        </p:txBody>
      </p:sp>
      <p:sp>
        <p:nvSpPr>
          <p:cNvPr id="3" name="Content Placeholder 2"/>
          <p:cNvSpPr>
            <a:spLocks noGrp="1"/>
          </p:cNvSpPr>
          <p:nvPr>
            <p:ph idx="1"/>
          </p:nvPr>
        </p:nvSpPr>
        <p:spPr bwMode="auto">
          <a:xfrm>
            <a:off x="320040" y="658368"/>
            <a:ext cx="6016752" cy="14751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0">
                <a:solidFill>
                  <a:srgbClr val="000000"/>
                </a:solidFill>
              </a:rPr>
              <a:t> is a reference design that runs on NVIDIA BlueField-4 data processing units, a separate processor in the network path with its own trust domain.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watches the agent's traffic to the model from outside the host</a:t>
            </a:r>
            <a:r>
              <a:rPr lang="en-US" sz="1200" b="0">
                <a:solidFill>
                  <a:srgbClr val="000000"/>
                </a:solidFill>
              </a:rPr>
              <a:t> and can quarantine the agent.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NVIDIA names no other hardware for it.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Sentry watches from outside the host.</a:t>
            </a:r>
          </a:p>
        </p:txBody>
      </p:sp>
      <p:sp>
        <p:nvSpPr>
          <p:cNvPr id="3" name="Content Placeholder 2"/>
          <p:cNvSpPr>
            <a:spLocks noGrp="1"/>
          </p:cNvSpPr>
          <p:nvPr>
            <p:ph idx="1"/>
          </p:nvPr>
        </p:nvSpPr>
        <p:spPr bwMode="auto">
          <a:xfrm>
            <a:off x="320040" y="658368"/>
            <a:ext cx="6016752" cy="14751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0">
                <a:solidFill>
                  <a:srgbClr val="000000"/>
                </a:solidFill>
              </a:rPr>
              <a:t> is a reference design that runs on NVIDIA BlueField-4 data processing units, a separate processor in the network path with its own trust domain.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watches the agent's traffic to the model from outside the host</a:t>
            </a:r>
            <a:r>
              <a:rPr lang="en-US" sz="1200" b="0">
                <a:solidFill>
                  <a:srgbClr val="000000"/>
                </a:solidFill>
              </a:rPr>
              <a:t> and can quarantine the agent.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NVIDIA names no other hardware for it.</a:t>
            </a:r>
            <a:endParaRPr/>
          </a:p>
        </p:txBody>
      </p:sp>
      <p:sp>
        <p:nvSpPr>
          <p:cNvPr id="4" name="Rectangle 4"/>
          <p:cNvSpPr/>
          <p:nvPr/>
        </p:nvSpPr>
        <p:spPr bwMode="auto">
          <a:xfrm>
            <a:off x="320040" y="2287409"/>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Sentry is the fourth row of slide </a:t>
            </a:r>
            <a:r>
              <a:rPr sz="1150" b="1" u="sng">
                <a:solidFill>
                  <a:schemeClr val="accent4"/>
                </a:solidFill>
                <a:hlinkClick r:id="rId3" action="ppaction://hlinksldjump">
                  <a:extLst>
                    <a:ext uri="{A12FA001-AC4F-418D-AE19-62706E023703}">
                      <ahyp:hlinkClr xmlns:ahyp="http://schemas.microsoft.com/office/drawing/2018/hyperlinkcolor" val="tx"/>
                    </a:ext>
                  </a:extLst>
                </a:hlinkClick>
              </a:rPr>
              <a:t>81</a:t>
            </a:r>
            <a:r>
              <a:rPr sz="1150" b="1">
                <a:solidFill>
                  <a:schemeClr val="accent4"/>
                </a:solidFill>
              </a:rPr>
              <a:t>, a design the course does not run.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governs each sandbox on its own.</a:t>
            </a:r>
          </a:p>
        </p:txBody>
      </p:sp>
      <p:sp>
        <p:nvSpPr>
          <p:cNvPr id="3" name="Content Placeholder 2"/>
          <p:cNvSpPr>
            <a:spLocks noGrp="1"/>
          </p:cNvSpPr>
          <p:nvPr>
            <p:ph idx="1"/>
          </p:nvPr>
        </p:nvSpPr>
        <p:spPr bwMode="auto">
          <a:xfrm>
            <a:off x="320040" y="658368"/>
            <a:ext cx="6016752" cy="273703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Each sandbox on its own.</a:t>
            </a:r>
            <a:r>
              <a:rPr lang="en-US" sz="1200" b="0" dirty="0">
                <a:solidFill>
                  <a:srgbClr val="000000"/>
                </a:solidFill>
              </a:rPr>
              <a:t> </a:t>
            </a:r>
            <a:r>
              <a:rPr lang="en-US" sz="1200" b="0" dirty="0" err="1">
                <a:solidFill>
                  <a:srgbClr val="000000"/>
                </a:solidFill>
              </a:rPr>
              <a:t>Tigera's</a:t>
            </a:r>
            <a:r>
              <a:rPr lang="en-US" sz="1200" b="0" dirty="0">
                <a:solidFill>
                  <a:srgbClr val="000000"/>
                </a:solidFill>
              </a:rPr>
              <a:t> analysis</a:t>
            </a:r>
            <a:r>
              <a:rPr lang="en-US" sz="1200" baseline="30000" dirty="0">
                <a:solidFill>
                  <a:srgbClr val="000000"/>
                </a:solidFill>
              </a:rPr>
              <a:t>[1]</a:t>
            </a:r>
            <a:r>
              <a:rPr lang="en-US" sz="1200" b="0" dirty="0">
                <a:solidFill>
                  <a:srgbClr val="000000"/>
                </a:solidFill>
              </a:rPr>
              <a:t> puts agent identity, agent-to-agent governance and cross-sandbox communication outside </a:t>
            </a:r>
            <a:r>
              <a:rPr lang="en-US" sz="1200" b="0" dirty="0" err="1">
                <a:solidFill>
                  <a:srgbClr val="000000"/>
                </a:solidFill>
              </a:rPr>
              <a:t>OpenShell's</a:t>
            </a:r>
            <a:r>
              <a:rPr lang="en-US" sz="1200" b="0" dirty="0">
                <a:solidFill>
                  <a:srgbClr val="000000"/>
                </a:solidFill>
              </a:rPr>
              <a:t> scope. Agents receive credential placeholders. OpenShell gives an agent no identity of its own.</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The prompt layer.</a:t>
            </a:r>
            <a:r>
              <a:rPr lang="en-US" sz="1200" b="0" dirty="0">
                <a:solidFill>
                  <a:srgbClr val="FFFFFF">
                    <a:alpha val="0"/>
                  </a:srgbClr>
                </a:solidFill>
              </a:rPr>
              <a:t> By default, nothing in the four layers reads a tool description or a tool result.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Definition poisoning</a:t>
            </a:r>
            <a:r>
              <a:rPr lang="en-US" sz="1200" b="0" dirty="0">
                <a:solidFill>
                  <a:srgbClr val="FFFFFF">
                    <a:alpha val="0"/>
                  </a:srgbClr>
                </a:solidFill>
              </a:rPr>
              <a:t>,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response poisoning</a:t>
            </a:r>
            <a:r>
              <a:rPr lang="en-US" sz="1200" b="0" dirty="0">
                <a:solidFill>
                  <a:srgbClr val="FFFFFF">
                    <a:alpha val="0"/>
                  </a:srgbClr>
                </a:solidFill>
              </a:rPr>
              <a:t> and </a:t>
            </a:r>
            <a:r>
              <a:rPr lang="en-US" sz="1200" b="0" u="sng" dirty="0">
                <a:solidFill>
                  <a:srgbClr val="FFFFFF">
                    <a:alpha val="0"/>
                  </a:srgbClr>
                </a:solidFill>
                <a:hlinkClick r:id="rId5">
                  <a:extLst>
                    <a:ext uri="{A12FA001-AC4F-418D-AE19-62706E023703}">
                      <ahyp:hlinkClr xmlns:ahyp="http://schemas.microsoft.com/office/drawing/2018/hyperlinkcolor" val="tx"/>
                    </a:ext>
                  </a:extLst>
                </a:hlinkClick>
              </a:rPr>
              <a:t>context poisoning</a:t>
            </a:r>
            <a:r>
              <a:rPr lang="en-US" sz="1200" b="0" dirty="0">
                <a:solidFill>
                  <a:srgbClr val="FFFFFF">
                    <a:alpha val="0"/>
                  </a:srgbClr>
                </a:solidFill>
              </a:rPr>
              <a:t> pass through.</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Graduated enforcement.</a:t>
            </a:r>
            <a:r>
              <a:rPr lang="en-US" sz="1200" b="0" dirty="0">
                <a:solidFill>
                  <a:srgbClr val="FFFFFF">
                    <a:alpha val="0"/>
                  </a:srgbClr>
                </a:solidFill>
              </a:rPr>
              <a:t> The </a:t>
            </a:r>
            <a:r>
              <a:rPr lang="en-US" sz="1200" b="0" dirty="0" err="1">
                <a:solidFill>
                  <a:srgbClr val="FFFFFF">
                    <a:alpha val="0"/>
                  </a:srgbClr>
                </a:solidFill>
              </a:rPr>
              <a:t>AgentKernel</a:t>
            </a:r>
            <a:r>
              <a:rPr lang="en-US" sz="1200" b="0" dirty="0">
                <a:solidFill>
                  <a:srgbClr val="FFFFFF">
                    <a:alpha val="0"/>
                  </a:srgbClr>
                </a:solidFill>
              </a:rPr>
              <a:t> preprint (slide </a:t>
            </a:r>
            <a:r>
              <a:rPr lang="en-US" sz="1200" b="0" u="sng" dirty="0">
                <a:solidFill>
                  <a:srgbClr val="FFFFFF">
                    <a:alpha val="0"/>
                  </a:srgbClr>
                </a:solidFill>
                <a:hlinkClick r:id="rId6" action="ppaction://hlinksldjump">
                  <a:extLst>
                    <a:ext uri="{A12FA001-AC4F-418D-AE19-62706E023703}">
                      <ahyp:hlinkClr xmlns:ahyp="http://schemas.microsoft.com/office/drawing/2018/hyperlinkcolor" val="tx"/>
                    </a:ext>
                  </a:extLst>
                </a:hlinkClick>
              </a:rPr>
              <a:t>147</a:t>
            </a:r>
            <a:r>
              <a:rPr lang="en-US" sz="1200" b="0" dirty="0">
                <a:solidFill>
                  <a:srgbClr val="FFFFFF">
                    <a:alpha val="0"/>
                  </a:srgbClr>
                </a:solidFill>
              </a:rPr>
              <a:t>) says sandbox isolation is mostly inside or outside, and gives each tool invocation an allowlist computed from the provenance of its inputs. OpenShell computes no such allowlist.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a:t>
            </a:r>
            <a:r>
              <a:rPr sz="550" dirty="0" err="1">
                <a:solidFill>
                  <a:srgbClr val="5B6673"/>
                </a:solidFill>
              </a:rPr>
              <a:t>Tigera</a:t>
            </a:r>
            <a:r>
              <a:rPr sz="550" dirty="0">
                <a:solidFill>
                  <a:srgbClr val="5B6673"/>
                </a:solidFill>
              </a:rPr>
              <a:t>. NVIDIA OpenShell Secures the Agent. Who Governs the Fleet? 2026 (a vendor's reading of </a:t>
            </a:r>
            <a:r>
              <a:rPr sz="550" dirty="0" err="1">
                <a:solidFill>
                  <a:srgbClr val="5B6673"/>
                </a:solidFill>
              </a:rPr>
              <a:t>OpenShell's</a:t>
            </a:r>
            <a:r>
              <a:rPr sz="550" dirty="0">
                <a:solidFill>
                  <a:srgbClr val="5B6673"/>
                </a:solidFill>
              </a:rPr>
              <a:t> documentation).</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governs each sandbox on its own.</a:t>
            </a:r>
          </a:p>
        </p:txBody>
      </p:sp>
      <p:sp>
        <p:nvSpPr>
          <p:cNvPr id="3" name="Content Placeholder 2"/>
          <p:cNvSpPr>
            <a:spLocks noGrp="1"/>
          </p:cNvSpPr>
          <p:nvPr>
            <p:ph idx="1"/>
          </p:nvPr>
        </p:nvSpPr>
        <p:spPr bwMode="auto">
          <a:xfrm>
            <a:off x="320040" y="658368"/>
            <a:ext cx="6016752" cy="273703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Each sandbox on its own.</a:t>
            </a:r>
            <a:r>
              <a:rPr lang="en-US" sz="1200" b="0" dirty="0">
                <a:solidFill>
                  <a:srgbClr val="000000"/>
                </a:solidFill>
              </a:rPr>
              <a:t> </a:t>
            </a:r>
            <a:r>
              <a:rPr lang="en-US" sz="1200" b="0" dirty="0" err="1">
                <a:solidFill>
                  <a:srgbClr val="000000"/>
                </a:solidFill>
              </a:rPr>
              <a:t>Tigera's</a:t>
            </a:r>
            <a:r>
              <a:rPr lang="en-US" sz="1200" b="0" dirty="0">
                <a:solidFill>
                  <a:srgbClr val="000000"/>
                </a:solidFill>
              </a:rPr>
              <a:t> analysis</a:t>
            </a:r>
            <a:r>
              <a:rPr lang="en-US" sz="1200" baseline="30000" dirty="0">
                <a:solidFill>
                  <a:srgbClr val="000000"/>
                </a:solidFill>
              </a:rPr>
              <a:t>[1]</a:t>
            </a:r>
            <a:r>
              <a:rPr lang="en-US" sz="1200" b="0" dirty="0">
                <a:solidFill>
                  <a:srgbClr val="000000"/>
                </a:solidFill>
              </a:rPr>
              <a:t> puts agent identity, agent-to-agent governance and cross-sandbox communication outside </a:t>
            </a:r>
            <a:r>
              <a:rPr lang="en-US" sz="1200" b="0" dirty="0" err="1">
                <a:solidFill>
                  <a:srgbClr val="000000"/>
                </a:solidFill>
              </a:rPr>
              <a:t>OpenShell's</a:t>
            </a:r>
            <a:r>
              <a:rPr lang="en-US" sz="1200" b="0" dirty="0">
                <a:solidFill>
                  <a:srgbClr val="000000"/>
                </a:solidFill>
              </a:rPr>
              <a:t> scope. Agents receive credential placeholders. OpenShell gives an agent no identity of its own.</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prompt layer.</a:t>
            </a:r>
            <a:r>
              <a:rPr lang="en-US" sz="1200" b="0" dirty="0">
                <a:solidFill>
                  <a:srgbClr val="000000"/>
                </a:solidFill>
              </a:rPr>
              <a:t> By default, nothing in the four layers reads a tool description or a tool result. </a:t>
            </a:r>
            <a:r>
              <a:rPr lang="en-US" sz="1200" b="0" u="sng" dirty="0">
                <a:solidFill>
                  <a:srgbClr val="000000"/>
                </a:solidFill>
                <a:hlinkClick r:id="rId3">
                  <a:extLst>
                    <a:ext uri="{A12FA001-AC4F-418D-AE19-62706E023703}">
                      <ahyp:hlinkClr xmlns:ahyp="http://schemas.microsoft.com/office/drawing/2018/hyperlinkcolor" val="tx"/>
                    </a:ext>
                  </a:extLst>
                </a:hlinkClick>
              </a:rPr>
              <a:t>Definition poisoning</a:t>
            </a:r>
            <a:r>
              <a:rPr lang="en-US" sz="1200" b="0" dirty="0">
                <a:solidFill>
                  <a:srgbClr val="000000"/>
                </a:solidFill>
              </a:rPr>
              <a:t>, </a:t>
            </a:r>
            <a:r>
              <a:rPr lang="en-US" sz="1200" b="0" u="sng" dirty="0">
                <a:solidFill>
                  <a:srgbClr val="000000"/>
                </a:solidFill>
                <a:hlinkClick r:id="rId4">
                  <a:extLst>
                    <a:ext uri="{A12FA001-AC4F-418D-AE19-62706E023703}">
                      <ahyp:hlinkClr xmlns:ahyp="http://schemas.microsoft.com/office/drawing/2018/hyperlinkcolor" val="tx"/>
                    </a:ext>
                  </a:extLst>
                </a:hlinkClick>
              </a:rPr>
              <a:t>response poisoning</a:t>
            </a:r>
            <a:r>
              <a:rPr lang="en-US" sz="1200" b="0" dirty="0">
                <a:solidFill>
                  <a:srgbClr val="000000"/>
                </a:solidFill>
              </a:rPr>
              <a:t> and </a:t>
            </a:r>
            <a:r>
              <a:rPr lang="en-US" sz="1200" b="0" u="sng" dirty="0">
                <a:solidFill>
                  <a:srgbClr val="000000"/>
                </a:solidFill>
                <a:hlinkClick r:id="rId5">
                  <a:extLst>
                    <a:ext uri="{A12FA001-AC4F-418D-AE19-62706E023703}">
                      <ahyp:hlinkClr xmlns:ahyp="http://schemas.microsoft.com/office/drawing/2018/hyperlinkcolor" val="tx"/>
                    </a:ext>
                  </a:extLst>
                </a:hlinkClick>
              </a:rPr>
              <a:t>context poisoning</a:t>
            </a:r>
            <a:r>
              <a:rPr lang="en-US" sz="1200" b="0" dirty="0">
                <a:solidFill>
                  <a:srgbClr val="000000"/>
                </a:solidFill>
              </a:rPr>
              <a:t> pass through.</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Graduated enforcement.</a:t>
            </a:r>
            <a:r>
              <a:rPr lang="en-US" sz="1200" b="0" dirty="0">
                <a:solidFill>
                  <a:srgbClr val="FFFFFF">
                    <a:alpha val="0"/>
                  </a:srgbClr>
                </a:solidFill>
              </a:rPr>
              <a:t> The </a:t>
            </a:r>
            <a:r>
              <a:rPr lang="en-US" sz="1200" b="0" dirty="0" err="1">
                <a:solidFill>
                  <a:srgbClr val="FFFFFF">
                    <a:alpha val="0"/>
                  </a:srgbClr>
                </a:solidFill>
              </a:rPr>
              <a:t>AgentKernel</a:t>
            </a:r>
            <a:r>
              <a:rPr lang="en-US" sz="1200" b="0" dirty="0">
                <a:solidFill>
                  <a:srgbClr val="FFFFFF">
                    <a:alpha val="0"/>
                  </a:srgbClr>
                </a:solidFill>
              </a:rPr>
              <a:t> preprint (slide </a:t>
            </a:r>
            <a:r>
              <a:rPr lang="en-US" sz="1200" b="0" u="sng" dirty="0">
                <a:solidFill>
                  <a:srgbClr val="FFFFFF">
                    <a:alpha val="0"/>
                  </a:srgbClr>
                </a:solidFill>
                <a:hlinkClick r:id="rId6" action="ppaction://hlinksldjump">
                  <a:extLst>
                    <a:ext uri="{A12FA001-AC4F-418D-AE19-62706E023703}">
                      <ahyp:hlinkClr xmlns:ahyp="http://schemas.microsoft.com/office/drawing/2018/hyperlinkcolor" val="tx"/>
                    </a:ext>
                  </a:extLst>
                </a:hlinkClick>
              </a:rPr>
              <a:t>147</a:t>
            </a:r>
            <a:r>
              <a:rPr lang="en-US" sz="1200" b="0" dirty="0">
                <a:solidFill>
                  <a:srgbClr val="FFFFFF">
                    <a:alpha val="0"/>
                  </a:srgbClr>
                </a:solidFill>
              </a:rPr>
              <a:t>) says sandbox isolation is mostly inside or outside, and gives each tool invocation an allowlist computed from the provenance of its inputs. OpenShell computes no such allowlist.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a:t>
            </a:r>
            <a:r>
              <a:rPr sz="550" dirty="0" err="1">
                <a:solidFill>
                  <a:srgbClr val="5B6673"/>
                </a:solidFill>
              </a:rPr>
              <a:t>Tigera</a:t>
            </a:r>
            <a:r>
              <a:rPr sz="550" dirty="0">
                <a:solidFill>
                  <a:srgbClr val="5B6673"/>
                </a:solidFill>
              </a:rPr>
              <a:t>. NVIDIA OpenShell Secures the Agent. Who Governs the Fleet? 2026 (a vendor's reading of </a:t>
            </a:r>
            <a:r>
              <a:rPr sz="550" dirty="0" err="1">
                <a:solidFill>
                  <a:srgbClr val="5B6673"/>
                </a:solidFill>
              </a:rPr>
              <a:t>OpenShell's</a:t>
            </a:r>
            <a:r>
              <a:rPr sz="550" dirty="0">
                <a:solidFill>
                  <a:srgbClr val="5B6673"/>
                </a:solidFill>
              </a:rPr>
              <a:t> documentation).</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governs each sandbox on its own.</a:t>
            </a:r>
          </a:p>
        </p:txBody>
      </p:sp>
      <p:sp>
        <p:nvSpPr>
          <p:cNvPr id="3" name="Content Placeholder 2"/>
          <p:cNvSpPr>
            <a:spLocks noGrp="1"/>
          </p:cNvSpPr>
          <p:nvPr>
            <p:ph idx="1"/>
          </p:nvPr>
        </p:nvSpPr>
        <p:spPr bwMode="auto">
          <a:xfrm>
            <a:off x="320040" y="658368"/>
            <a:ext cx="6016752" cy="273703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Each sandbox on its own.</a:t>
            </a:r>
            <a:r>
              <a:rPr lang="en-US" sz="1200" b="0" dirty="0">
                <a:solidFill>
                  <a:srgbClr val="000000"/>
                </a:solidFill>
              </a:rPr>
              <a:t> </a:t>
            </a:r>
            <a:r>
              <a:rPr lang="en-US" sz="1200" b="0" dirty="0" err="1">
                <a:solidFill>
                  <a:srgbClr val="000000"/>
                </a:solidFill>
              </a:rPr>
              <a:t>Tigera's</a:t>
            </a:r>
            <a:r>
              <a:rPr lang="en-US" sz="1200" b="0" dirty="0">
                <a:solidFill>
                  <a:srgbClr val="000000"/>
                </a:solidFill>
              </a:rPr>
              <a:t> analysis</a:t>
            </a:r>
            <a:r>
              <a:rPr lang="en-US" sz="1200" baseline="30000" dirty="0">
                <a:solidFill>
                  <a:srgbClr val="000000"/>
                </a:solidFill>
              </a:rPr>
              <a:t>[1]</a:t>
            </a:r>
            <a:r>
              <a:rPr lang="en-US" sz="1200" b="0" dirty="0">
                <a:solidFill>
                  <a:srgbClr val="000000"/>
                </a:solidFill>
              </a:rPr>
              <a:t> puts agent identity, agent-to-agent governance and cross-sandbox communication outside </a:t>
            </a:r>
            <a:r>
              <a:rPr lang="en-US" sz="1200" b="0" dirty="0" err="1">
                <a:solidFill>
                  <a:srgbClr val="000000"/>
                </a:solidFill>
              </a:rPr>
              <a:t>OpenShell's</a:t>
            </a:r>
            <a:r>
              <a:rPr lang="en-US" sz="1200" b="0" dirty="0">
                <a:solidFill>
                  <a:srgbClr val="000000"/>
                </a:solidFill>
              </a:rPr>
              <a:t> scope. Agents receive credential placeholders. OpenShell gives an agent no identity of its own.</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prompt layer.</a:t>
            </a:r>
            <a:r>
              <a:rPr lang="en-US" sz="1200" b="0" dirty="0">
                <a:solidFill>
                  <a:srgbClr val="000000"/>
                </a:solidFill>
              </a:rPr>
              <a:t> By default, nothing in the four layers reads a tool description or a tool result. </a:t>
            </a:r>
            <a:r>
              <a:rPr lang="en-US" sz="1200" b="0" u="sng" dirty="0">
                <a:solidFill>
                  <a:srgbClr val="000000"/>
                </a:solidFill>
                <a:hlinkClick r:id="rId3">
                  <a:extLst>
                    <a:ext uri="{A12FA001-AC4F-418D-AE19-62706E023703}">
                      <ahyp:hlinkClr xmlns:ahyp="http://schemas.microsoft.com/office/drawing/2018/hyperlinkcolor" val="tx"/>
                    </a:ext>
                  </a:extLst>
                </a:hlinkClick>
              </a:rPr>
              <a:t>Definition poisoning</a:t>
            </a:r>
            <a:r>
              <a:rPr lang="en-US" sz="1200" b="0" dirty="0">
                <a:solidFill>
                  <a:srgbClr val="000000"/>
                </a:solidFill>
              </a:rPr>
              <a:t>, </a:t>
            </a:r>
            <a:r>
              <a:rPr lang="en-US" sz="1200" b="0" u="sng" dirty="0">
                <a:solidFill>
                  <a:srgbClr val="000000"/>
                </a:solidFill>
                <a:hlinkClick r:id="rId4">
                  <a:extLst>
                    <a:ext uri="{A12FA001-AC4F-418D-AE19-62706E023703}">
                      <ahyp:hlinkClr xmlns:ahyp="http://schemas.microsoft.com/office/drawing/2018/hyperlinkcolor" val="tx"/>
                    </a:ext>
                  </a:extLst>
                </a:hlinkClick>
              </a:rPr>
              <a:t>response poisoning</a:t>
            </a:r>
            <a:r>
              <a:rPr lang="en-US" sz="1200" b="0" dirty="0">
                <a:solidFill>
                  <a:srgbClr val="000000"/>
                </a:solidFill>
              </a:rPr>
              <a:t> and </a:t>
            </a:r>
            <a:r>
              <a:rPr lang="en-US" sz="1200" b="0" u="sng" dirty="0">
                <a:solidFill>
                  <a:srgbClr val="000000"/>
                </a:solidFill>
                <a:hlinkClick r:id="rId5">
                  <a:extLst>
                    <a:ext uri="{A12FA001-AC4F-418D-AE19-62706E023703}">
                      <ahyp:hlinkClr xmlns:ahyp="http://schemas.microsoft.com/office/drawing/2018/hyperlinkcolor" val="tx"/>
                    </a:ext>
                  </a:extLst>
                </a:hlinkClick>
              </a:rPr>
              <a:t>context poisoning</a:t>
            </a:r>
            <a:r>
              <a:rPr lang="en-US" sz="1200" b="0" dirty="0">
                <a:solidFill>
                  <a:srgbClr val="000000"/>
                </a:solidFill>
              </a:rPr>
              <a:t> pass through.</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Graduated enforcement.</a:t>
            </a:r>
            <a:r>
              <a:rPr lang="en-US" sz="1200" b="0" dirty="0">
                <a:solidFill>
                  <a:srgbClr val="000000"/>
                </a:solidFill>
              </a:rPr>
              <a:t> The </a:t>
            </a:r>
            <a:r>
              <a:rPr lang="en-US" sz="1200" b="0" dirty="0" err="1">
                <a:solidFill>
                  <a:srgbClr val="000000"/>
                </a:solidFill>
              </a:rPr>
              <a:t>AgentKernel</a:t>
            </a:r>
            <a:r>
              <a:rPr lang="en-US" sz="1200" b="0" dirty="0">
                <a:solidFill>
                  <a:srgbClr val="000000"/>
                </a:solidFill>
              </a:rPr>
              <a:t> preprint (slide </a:t>
            </a:r>
            <a:r>
              <a:rPr lang="en-US" sz="1200" b="0" u="sng" dirty="0">
                <a:solidFill>
                  <a:srgbClr val="000000"/>
                </a:solidFill>
                <a:hlinkClick r:id="rId6" action="ppaction://hlinksldjump">
                  <a:extLst>
                    <a:ext uri="{A12FA001-AC4F-418D-AE19-62706E023703}">
                      <ahyp:hlinkClr xmlns:ahyp="http://schemas.microsoft.com/office/drawing/2018/hyperlinkcolor" val="tx"/>
                    </a:ext>
                  </a:extLst>
                </a:hlinkClick>
              </a:rPr>
              <a:t>147</a:t>
            </a:r>
            <a:r>
              <a:rPr lang="en-US" sz="1200" b="0" dirty="0">
                <a:solidFill>
                  <a:srgbClr val="000000"/>
                </a:solidFill>
              </a:rPr>
              <a:t>) says sandbox isolation is mostly inside or outside, and gives each tool invocation an allowlist computed from the provenance of its inputs. OpenShell computes no such allowlist.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a:t>
            </a:r>
            <a:r>
              <a:rPr sz="550" dirty="0" err="1">
                <a:solidFill>
                  <a:srgbClr val="5B6673"/>
                </a:solidFill>
              </a:rPr>
              <a:t>Tigera</a:t>
            </a:r>
            <a:r>
              <a:rPr sz="550" dirty="0">
                <a:solidFill>
                  <a:srgbClr val="5B6673"/>
                </a:solidFill>
              </a:rPr>
              <a:t>. NVIDIA OpenShell Secures the Agent. Who Governs the Fleet? 2026 (a vendor's reading of </a:t>
            </a:r>
            <a:r>
              <a:rPr sz="550" dirty="0" err="1">
                <a:solidFill>
                  <a:srgbClr val="5B6673"/>
                </a:solidFill>
              </a:rPr>
              <a:t>OpenShell's</a:t>
            </a:r>
            <a:r>
              <a:rPr sz="550" dirty="0">
                <a:solidFill>
                  <a:srgbClr val="5B6673"/>
                </a:solidFill>
              </a:rPr>
              <a:t> documentation).</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governs each sandbox on its own.</a:t>
            </a:r>
          </a:p>
        </p:txBody>
      </p:sp>
      <p:sp>
        <p:nvSpPr>
          <p:cNvPr id="3" name="Content Placeholder 2"/>
          <p:cNvSpPr>
            <a:spLocks noGrp="1"/>
          </p:cNvSpPr>
          <p:nvPr>
            <p:ph idx="1"/>
          </p:nvPr>
        </p:nvSpPr>
        <p:spPr bwMode="auto">
          <a:xfrm>
            <a:off x="320040" y="658368"/>
            <a:ext cx="6016752" cy="273703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Each sandbox on its own.</a:t>
            </a:r>
            <a:r>
              <a:rPr lang="en-US" sz="1200" b="0" dirty="0">
                <a:solidFill>
                  <a:srgbClr val="000000"/>
                </a:solidFill>
              </a:rPr>
              <a:t> </a:t>
            </a:r>
            <a:r>
              <a:rPr lang="en-US" sz="1200" b="0" dirty="0" err="1">
                <a:solidFill>
                  <a:srgbClr val="000000"/>
                </a:solidFill>
              </a:rPr>
              <a:t>Tigera's</a:t>
            </a:r>
            <a:r>
              <a:rPr lang="en-US" sz="1200" b="0" dirty="0">
                <a:solidFill>
                  <a:srgbClr val="000000"/>
                </a:solidFill>
              </a:rPr>
              <a:t> analysis</a:t>
            </a:r>
            <a:r>
              <a:rPr lang="en-US" sz="1200" baseline="30000" dirty="0">
                <a:solidFill>
                  <a:srgbClr val="000000"/>
                </a:solidFill>
              </a:rPr>
              <a:t>[1]</a:t>
            </a:r>
            <a:r>
              <a:rPr lang="en-US" sz="1200" b="0" dirty="0">
                <a:solidFill>
                  <a:srgbClr val="000000"/>
                </a:solidFill>
              </a:rPr>
              <a:t> puts agent identity, agent-to-agent governance and cross-sandbox communication outside </a:t>
            </a:r>
            <a:r>
              <a:rPr lang="en-US" sz="1200" b="0" dirty="0" err="1">
                <a:solidFill>
                  <a:srgbClr val="000000"/>
                </a:solidFill>
              </a:rPr>
              <a:t>OpenShell's</a:t>
            </a:r>
            <a:r>
              <a:rPr lang="en-US" sz="1200" b="0" dirty="0">
                <a:solidFill>
                  <a:srgbClr val="000000"/>
                </a:solidFill>
              </a:rPr>
              <a:t> scope. Agents receive credential placeholders. OpenShell gives an agent no identity of its own.</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prompt layer.</a:t>
            </a:r>
            <a:r>
              <a:rPr lang="en-US" sz="1200" b="0" dirty="0">
                <a:solidFill>
                  <a:srgbClr val="000000"/>
                </a:solidFill>
              </a:rPr>
              <a:t> By default, nothing in the four layers reads a tool description or a tool result. </a:t>
            </a:r>
            <a:r>
              <a:rPr lang="en-US" sz="1200" b="0" u="sng" dirty="0">
                <a:solidFill>
                  <a:srgbClr val="000000"/>
                </a:solidFill>
                <a:hlinkClick r:id="rId3">
                  <a:extLst>
                    <a:ext uri="{A12FA001-AC4F-418D-AE19-62706E023703}">
                      <ahyp:hlinkClr xmlns:ahyp="http://schemas.microsoft.com/office/drawing/2018/hyperlinkcolor" val="tx"/>
                    </a:ext>
                  </a:extLst>
                </a:hlinkClick>
              </a:rPr>
              <a:t>Definition poisoning</a:t>
            </a:r>
            <a:r>
              <a:rPr lang="en-US" sz="1200" b="0" dirty="0">
                <a:solidFill>
                  <a:srgbClr val="000000"/>
                </a:solidFill>
              </a:rPr>
              <a:t>, </a:t>
            </a:r>
            <a:r>
              <a:rPr lang="en-US" sz="1200" b="0" u="sng" dirty="0">
                <a:solidFill>
                  <a:srgbClr val="000000"/>
                </a:solidFill>
                <a:hlinkClick r:id="rId4">
                  <a:extLst>
                    <a:ext uri="{A12FA001-AC4F-418D-AE19-62706E023703}">
                      <ahyp:hlinkClr xmlns:ahyp="http://schemas.microsoft.com/office/drawing/2018/hyperlinkcolor" val="tx"/>
                    </a:ext>
                  </a:extLst>
                </a:hlinkClick>
              </a:rPr>
              <a:t>response poisoning</a:t>
            </a:r>
            <a:r>
              <a:rPr lang="en-US" sz="1200" b="0" dirty="0">
                <a:solidFill>
                  <a:srgbClr val="000000"/>
                </a:solidFill>
              </a:rPr>
              <a:t> and </a:t>
            </a:r>
            <a:r>
              <a:rPr lang="en-US" sz="1200" b="0" u="sng" dirty="0">
                <a:solidFill>
                  <a:srgbClr val="000000"/>
                </a:solidFill>
                <a:hlinkClick r:id="rId5">
                  <a:extLst>
                    <a:ext uri="{A12FA001-AC4F-418D-AE19-62706E023703}">
                      <ahyp:hlinkClr xmlns:ahyp="http://schemas.microsoft.com/office/drawing/2018/hyperlinkcolor" val="tx"/>
                    </a:ext>
                  </a:extLst>
                </a:hlinkClick>
              </a:rPr>
              <a:t>context poisoning</a:t>
            </a:r>
            <a:r>
              <a:rPr lang="en-US" sz="1200" b="0" dirty="0">
                <a:solidFill>
                  <a:srgbClr val="000000"/>
                </a:solidFill>
              </a:rPr>
              <a:t> pass through.</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Graduated enforcement.</a:t>
            </a:r>
            <a:r>
              <a:rPr lang="en-US" sz="1200" b="0" dirty="0">
                <a:solidFill>
                  <a:srgbClr val="000000"/>
                </a:solidFill>
              </a:rPr>
              <a:t> The </a:t>
            </a:r>
            <a:r>
              <a:rPr lang="en-US" sz="1200" b="0" dirty="0" err="1">
                <a:solidFill>
                  <a:srgbClr val="000000"/>
                </a:solidFill>
              </a:rPr>
              <a:t>AgentKernel</a:t>
            </a:r>
            <a:r>
              <a:rPr lang="en-US" sz="1200" b="0" dirty="0">
                <a:solidFill>
                  <a:srgbClr val="000000"/>
                </a:solidFill>
              </a:rPr>
              <a:t> preprint (slide </a:t>
            </a:r>
            <a:r>
              <a:rPr lang="en-US" sz="1200" b="0" u="sng" dirty="0">
                <a:solidFill>
                  <a:srgbClr val="000000"/>
                </a:solidFill>
                <a:hlinkClick r:id="rId6" action="ppaction://hlinksldjump">
                  <a:extLst>
                    <a:ext uri="{A12FA001-AC4F-418D-AE19-62706E023703}">
                      <ahyp:hlinkClr xmlns:ahyp="http://schemas.microsoft.com/office/drawing/2018/hyperlinkcolor" val="tx"/>
                    </a:ext>
                  </a:extLst>
                </a:hlinkClick>
              </a:rPr>
              <a:t>147</a:t>
            </a:r>
            <a:r>
              <a:rPr lang="en-US" sz="1200" b="0" dirty="0">
                <a:solidFill>
                  <a:srgbClr val="000000"/>
                </a:solidFill>
              </a:rPr>
              <a:t>) says sandbox isolation is mostly inside or outside, and gives each tool invocation an allowlist computed from the provenance of its inputs. OpenShell computes no such allowlist.</a:t>
            </a:r>
            <a:endParaRPr dirty="0"/>
          </a:p>
        </p:txBody>
      </p:sp>
      <p:sp>
        <p:nvSpPr>
          <p:cNvPr id="4" name="Rectangle 4"/>
          <p:cNvSpPr/>
          <p:nvPr/>
        </p:nvSpPr>
        <p:spPr bwMode="auto">
          <a:xfrm>
            <a:off x="320040" y="3549281"/>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constrains tool execution and access to protected resources. Definition and response poisoning also require host-side checks on tool descriptions and results.</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a:t>
            </a:r>
            <a:r>
              <a:rPr sz="550" dirty="0" err="1">
                <a:solidFill>
                  <a:srgbClr val="5B6673"/>
                </a:solidFill>
              </a:rPr>
              <a:t>Tigera</a:t>
            </a:r>
            <a:r>
              <a:rPr sz="550" dirty="0">
                <a:solidFill>
                  <a:srgbClr val="5B6673"/>
                </a:solidFill>
              </a:rPr>
              <a:t>. NVIDIA OpenShell Secures the Agent. Who Governs the Fleet? 2026 (a vendor's reading of </a:t>
            </a:r>
            <a:r>
              <a:rPr sz="550" dirty="0" err="1">
                <a:solidFill>
                  <a:srgbClr val="5B6673"/>
                </a:solidFill>
              </a:rPr>
              <a:t>OpenShell's</a:t>
            </a:r>
            <a:r>
              <a:rPr sz="550" dirty="0">
                <a:solidFill>
                  <a:srgbClr val="5B6673"/>
                </a:solidFill>
              </a:rPr>
              <a:t> documentation).</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by protected asset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dirty="0">
                <a:solidFill>
                  <a:srgbClr val="28285E"/>
                </a:solidFill>
              </a:rPr>
              <a:t>Each column pairs an asset with the OpenShell layer that restricts it and the ATLAS technique that acts on it.</a:t>
            </a:r>
            <a:endParaRPr dirty="0"/>
          </a:p>
        </p:txBody>
      </p:sp>
      <p:pic>
        <p:nvPicPr>
          <p:cNvPr id="5" name="Figure openshell-assets" descr="openshell-assets-1.png"/>
          <p:cNvPicPr>
            <a:picLocks noChangeAspect="1"/>
          </p:cNvPicPr>
          <p:nvPr/>
        </p:nvPicPr>
        <p:blipFill>
          <a:blip r:embed="rId4"/>
          <a:stretch>
            <a:fillRect/>
          </a:stretch>
        </p:blipFill>
        <p:spPr>
          <a:xfrm>
            <a:off x="320040" y="1433263"/>
            <a:ext cx="6016752" cy="184955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by protected asset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dirty="0">
                <a:solidFill>
                  <a:srgbClr val="28285E"/>
                </a:solidFill>
              </a:rPr>
              <a:t>Each column pairs an asset with the OpenShell layer that restricts it and the ATLAS technique that acts on it.</a:t>
            </a:r>
            <a:endParaRPr dirty="0"/>
          </a:p>
        </p:txBody>
      </p:sp>
      <p:pic>
        <p:nvPicPr>
          <p:cNvPr id="5" name="Figure openshell-assets" descr="openshell-assets-2.png"/>
          <p:cNvPicPr>
            <a:picLocks noChangeAspect="1"/>
          </p:cNvPicPr>
          <p:nvPr/>
        </p:nvPicPr>
        <p:blipFill>
          <a:blip r:embed="rId5"/>
          <a:stretch>
            <a:fillRect/>
          </a:stretch>
        </p:blipFill>
        <p:spPr>
          <a:xfrm>
            <a:off x="320040" y="1433263"/>
            <a:ext cx="6016752" cy="184955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by protected asset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dirty="0">
                <a:solidFill>
                  <a:srgbClr val="28285E"/>
                </a:solidFill>
              </a:rPr>
              <a:t>Each column pairs an asset with the OpenShell layer that restricts it and the ATLAS technique that acts on it.</a:t>
            </a:r>
            <a:endParaRPr dirty="0"/>
          </a:p>
        </p:txBody>
      </p:sp>
      <p:pic>
        <p:nvPicPr>
          <p:cNvPr id="5" name="Figure openshell-assets" descr="openshell-assets-3.png"/>
          <p:cNvPicPr>
            <a:picLocks noChangeAspect="1"/>
          </p:cNvPicPr>
          <p:nvPr/>
        </p:nvPicPr>
        <p:blipFill>
          <a:blip r:embed="rId6"/>
          <a:stretch>
            <a:fillRect/>
          </a:stretch>
        </p:blipFill>
        <p:spPr>
          <a:xfrm>
            <a:off x="320040" y="1433263"/>
            <a:ext cx="6016752" cy="184955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by protected asset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dirty="0">
                <a:solidFill>
                  <a:srgbClr val="28285E"/>
                </a:solidFill>
              </a:rPr>
              <a:t>Each column pairs an asset with the OpenShell layer that restricts it and the ATLAS technique that acts on it.</a:t>
            </a:r>
            <a:endParaRPr dirty="0"/>
          </a:p>
        </p:txBody>
      </p:sp>
      <p:pic>
        <p:nvPicPr>
          <p:cNvPr id="5" name="Figure openshell-assets" descr="openshell-assets-4.png"/>
          <p:cNvPicPr>
            <a:picLocks noChangeAspect="1"/>
          </p:cNvPicPr>
          <p:nvPr/>
        </p:nvPicPr>
        <p:blipFill>
          <a:blip r:embed="rId7"/>
          <a:stretch>
            <a:fillRect/>
          </a:stretch>
        </p:blipFill>
        <p:spPr>
          <a:xfrm>
            <a:off x="320040" y="1433263"/>
            <a:ext cx="6016752" cy="184955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by protected asset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dirty="0">
                <a:solidFill>
                  <a:srgbClr val="28285E"/>
                </a:solidFill>
              </a:rPr>
              <a:t>Each column pairs an asset with the OpenShell layer that restricts it and the ATLAS technique that acts on it.</a:t>
            </a:r>
            <a:endParaRPr dirty="0"/>
          </a:p>
        </p:txBody>
      </p:sp>
      <p:pic>
        <p:nvPicPr>
          <p:cNvPr id="5" name="Figure openshell-assets" descr="openshell-assets-5.png"/>
          <p:cNvPicPr>
            <a:picLocks noChangeAspect="1"/>
          </p:cNvPicPr>
          <p:nvPr/>
        </p:nvPicPr>
        <p:blipFill>
          <a:blip r:embed="rId10"/>
          <a:stretch>
            <a:fillRect/>
          </a:stretch>
        </p:blipFill>
        <p:spPr>
          <a:xfrm>
            <a:off x="320040" y="1433263"/>
            <a:ext cx="6016752" cy="184955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by protected asset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dirty="0">
                <a:solidFill>
                  <a:srgbClr val="28285E"/>
                </a:solidFill>
              </a:rPr>
              <a:t>Each column pairs an asset with the OpenShell layer that restricts it and the ATLAS technique that acts on it.</a:t>
            </a:r>
            <a:endParaRPr dirty="0"/>
          </a:p>
        </p:txBody>
      </p:sp>
      <p:sp>
        <p:nvSpPr>
          <p:cNvPr id="4" name="Rectangle 4"/>
          <p:cNvSpPr/>
          <p:nvPr/>
        </p:nvSpPr>
        <p:spPr bwMode="auto">
          <a:xfrm>
            <a:off x="320040" y="3534196"/>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restricts tool code, keys, outbound connections and the kernel boundary. The budget stays with the harness.</a:t>
            </a:r>
            <a:endParaRPr dirty="0"/>
          </a:p>
        </p:txBody>
      </p:sp>
      <p:pic>
        <p:nvPicPr>
          <p:cNvPr id="6" name="Figure openshell-assets" descr="openshell-assets-6.png"/>
          <p:cNvPicPr>
            <a:picLocks noChangeAspect="1"/>
          </p:cNvPicPr>
          <p:nvPr/>
        </p:nvPicPr>
        <p:blipFill>
          <a:blip r:embed="rId10"/>
          <a:stretch>
            <a:fillRect/>
          </a:stretch>
        </p:blipFill>
        <p:spPr>
          <a:xfrm>
            <a:off x="320040" y="1433263"/>
            <a:ext cx="6016752" cy="184955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Limits of OpenShell enforcement</a:t>
            </a:r>
          </a:p>
        </p:txBody>
      </p:sp>
      <p:pic>
        <p:nvPicPr>
          <p:cNvPr id="4" name="Figure openshell-assets" descr="openshell-assets-6.png"/>
          <p:cNvPicPr>
            <a:picLocks noChangeAspect="1"/>
          </p:cNvPicPr>
          <p:nvPr/>
        </p:nvPicPr>
        <p:blipFill>
          <a:blip r:embed="rId4"/>
          <a:stretch>
            <a:fillRect/>
          </a:stretch>
        </p:blipFill>
        <p:spPr>
          <a:xfrm>
            <a:off x="320040" y="777240"/>
            <a:ext cx="6016752" cy="184955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Limits of OpenShell enforcement</a:t>
            </a:r>
          </a:p>
        </p:txBody>
      </p:sp>
      <p:pic>
        <p:nvPicPr>
          <p:cNvPr id="4" name="Figure openshell-assets" descr="openshell-assets-6.png"/>
          <p:cNvPicPr>
            <a:picLocks noChangeAspect="1"/>
          </p:cNvPicPr>
          <p:nvPr/>
        </p:nvPicPr>
        <p:blipFill>
          <a:blip r:embed="rId5"/>
          <a:stretch>
            <a:fillRect/>
          </a:stretch>
        </p:blipFill>
        <p:spPr>
          <a:xfrm>
            <a:off x="320040" y="777240"/>
            <a:ext cx="6016752" cy="184955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Limits of OpenShell enforcement</a:t>
            </a:r>
          </a:p>
        </p:txBody>
      </p:sp>
      <p:pic>
        <p:nvPicPr>
          <p:cNvPr id="4" name="Figure openshell-assets" descr="openshell-assets-6.png"/>
          <p:cNvPicPr>
            <a:picLocks noChangeAspect="1"/>
          </p:cNvPicPr>
          <p:nvPr/>
        </p:nvPicPr>
        <p:blipFill>
          <a:blip r:embed="rId8"/>
          <a:stretch>
            <a:fillRect/>
          </a:stretch>
        </p:blipFill>
        <p:spPr>
          <a:xfrm>
            <a:off x="320040" y="777240"/>
            <a:ext cx="6016752" cy="184955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Limits of OpenShell enforcement</a:t>
            </a:r>
          </a:p>
        </p:txBody>
      </p:sp>
      <p:pic>
        <p:nvPicPr>
          <p:cNvPr id="4" name="Figure openshell-assets" descr="openshell-assets-6.png"/>
          <p:cNvPicPr>
            <a:picLocks noChangeAspect="1"/>
          </p:cNvPicPr>
          <p:nvPr/>
        </p:nvPicPr>
        <p:blipFill>
          <a:blip r:embed="rId10"/>
          <a:stretch>
            <a:fillRect/>
          </a:stretch>
        </p:blipFill>
        <p:spPr>
          <a:xfrm>
            <a:off x="320040" y="777240"/>
            <a:ext cx="6016752" cy="184955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Limits of OpenShell enforcement</a:t>
            </a:r>
          </a:p>
        </p:txBody>
      </p:sp>
      <p:sp>
        <p:nvSpPr>
          <p:cNvPr id="3" name="Rectangle 4"/>
          <p:cNvSpPr/>
          <p:nvPr/>
        </p:nvSpPr>
        <p:spPr bwMode="auto">
          <a:xfrm>
            <a:off x="320040" y="2878173"/>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Tool descriptions, tool output, registry entries and stored memory lie outside OpenShell's reach.</a:t>
            </a:r>
            <a:endParaRPr/>
          </a:p>
        </p:txBody>
      </p:sp>
      <p:pic>
        <p:nvPicPr>
          <p:cNvPr id="5" name="Figure openshell-assets" descr="openshell-assets-6.png"/>
          <p:cNvPicPr>
            <a:picLocks noChangeAspect="1"/>
          </p:cNvPicPr>
          <p:nvPr/>
        </p:nvPicPr>
        <p:blipFill>
          <a:blip r:embed="rId10"/>
          <a:stretch>
            <a:fillRect/>
          </a:stretch>
        </p:blipFill>
        <p:spPr>
          <a:xfrm>
            <a:off x="320040" y="777240"/>
            <a:ext cx="6016752" cy="184955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benchmark covers Docker and OCI containers and Kubernetes pods only.</a:t>
            </a:r>
            <a:r>
              <a:rPr lang="en-US" sz="1200" b="0">
                <a:solidFill>
                  <a:srgbClr val="FFFFFF">
                    <a:alpha val="0"/>
                  </a:srgbClr>
                </a:solidFill>
              </a:rPr>
              <a:t> It does not cover gVisor, Firecracker or libkrun.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Rectangle 4"/>
          <p:cNvSpPr/>
          <p:nvPr/>
        </p:nvSpPr>
        <p:spPr bwMode="auto">
          <a:xfrm>
            <a:off x="320040" y="382969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Models exploit seeded container flaws, and products adopt engine patches after a lag of 0 to 471 or more days.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adds a programmable run-time policy function, HTTP-level access control, and reversible filesystem effects,</a:t>
            </a:r>
            <a:r>
              <a:rPr lang="en-US" sz="1200" b="0">
                <a:solidFill>
                  <a:srgbClr val="FFFFFF">
                    <a:alpha val="0"/>
                  </a:srgbClr>
                </a:solidFill>
              </a:rPr>
              <a:t> at about 5 ms of startup overhead and bare-metal Redis throughput. It needs no root, no cgroups, no images. It is open source.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Rectangle 4"/>
          <p:cNvSpPr/>
          <p:nvPr/>
        </p:nvSpPr>
        <p:spPr bwMode="auto">
          <a:xfrm>
            <a:off x="320040" y="312865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Sandlock builds on the kernel primitives behind OpenShell's locked layers and states its assumptions.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ActPlane (Zheng et al., preprint, June 2026):</a:t>
            </a:r>
            <a:r>
              <a:rPr lang="en-US" sz="1200" b="0">
                <a:solidFill>
                  <a:srgbClr val="FFFFFF">
                    <a:alpha val="0"/>
                  </a:srgbClr>
                </a:solidFill>
              </a:rPr>
              <a:t> agents declare policies, and an eBPF engine enforces them in the kernel with semantic feedback, at 1.9% to 8.4% overhead, covering execution paths that tool-call interception cannot see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Stronger walls are the premise. The research question is how authority is granted and taken back.</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MCP-</a:t>
            </a:r>
            <a:r>
              <a:rPr lang="en-US" sz="1200" b="1" dirty="0" err="1">
                <a:solidFill>
                  <a:srgbClr val="FFFFFF">
                    <a:alpha val="0"/>
                  </a:srgbClr>
                </a:solidFill>
              </a:rPr>
              <a:t>SandboxScan</a:t>
            </a:r>
            <a:r>
              <a:rPr lang="en-US" sz="1200" b="1" dirty="0">
                <a:solidFill>
                  <a:srgbClr val="FFFFFF">
                    <a:alpha val="0"/>
                  </a:srgbClr>
                </a:solidFill>
              </a:rPr>
              <a:t> (preprint, January 2026)</a:t>
            </a:r>
            <a:r>
              <a:rPr lang="en-US" sz="1200" b="0" dirty="0">
                <a:solidFill>
                  <a:srgbClr val="FFFFFF">
                    <a:alpha val="0"/>
                  </a:srgbClr>
                </a:solidFill>
              </a:rPr>
              <a:t> runs MCP tools under </a:t>
            </a:r>
            <a:r>
              <a:rPr lang="en-US" sz="1200" b="0" dirty="0" err="1">
                <a:solidFill>
                  <a:srgbClr val="FFFFFF">
                    <a:alpha val="0"/>
                  </a:srgbClr>
                </a:solidFill>
              </a:rPr>
              <a:t>WebAssembly</a:t>
            </a:r>
            <a:r>
              <a:rPr lang="en-US" sz="1200" b="0" dirty="0">
                <a:solidFill>
                  <a:srgbClr val="FFFFFF">
                    <a:alpha val="0"/>
                  </a:srgbClr>
                </a:solidFill>
              </a:rPr>
              <a:t> or drives them over </a:t>
            </a:r>
            <a:r>
              <a:rPr lang="en-US" sz="1200" b="0" dirty="0" err="1">
                <a:solidFill>
                  <a:srgbClr val="FFFFFF">
                    <a:alpha val="0"/>
                  </a:srgbClr>
                </a:solidFill>
              </a:rPr>
              <a:t>stdio</a:t>
            </a:r>
            <a:r>
              <a:rPr lang="en-US" sz="1200" b="0" dirty="0">
                <a:solidFill>
                  <a:srgbClr val="FFFFFF">
                    <a:alpha val="0"/>
                  </a:srgbClr>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Rectangle 4"/>
          <p:cNvSpPr/>
          <p:nvPr/>
        </p:nvSpPr>
        <p:spPr bwMode="auto">
          <a:xfrm>
            <a:off x="320040" y="39699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is deployed, and the research on the mechanisms beneath it is mostly 2026 preprints.</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ATLAS describes the adversary's action and the asset it acts on:</a:t>
            </a:r>
            <a:r>
              <a:rPr lang="en-US" sz="1150" b="0">
                <a:solidFill>
                  <a:srgbClr val="FFFFFF">
                    <a:alpha val="0"/>
                  </a:srgbClr>
                </a:solidFill>
              </a:rPr>
              <a:t> the definition text, the implementation, the response, the stored credential, the outbound connection, the kernel boundary.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This week: the runtime must execute in a process the agent cannot modify. The model cannot serve as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1">
                <a:solidFill>
                  <a:schemeClr val="accent4"/>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
        <p:nvSpPr>
          <p:cNvPr id="16"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accent4"/>
                </a:solidFill>
              </a:rPr>
              <a:t>The evidence supports (c): the kernel enforces the rule from outside the agent's process. A processor in the network path never sees a local file read.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Deferred to week 11:</a:t>
            </a:r>
            <a:r>
              <a:rPr lang="en-US" sz="1200" b="0">
                <a:solidFill>
                  <a:srgbClr val="FFFFFF">
                    <a:alpha val="0"/>
                  </a:srgbClr>
                </a:solidFill>
              </a:rPr>
              <a:t> failure semantics, including which component makes a side effect happen once.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Friday is the midterm.</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Friday, October 23:</a:t>
            </a:r>
            <a:r>
              <a:rPr lang="en-US" sz="1200" b="0">
                <a:solidFill>
                  <a:srgbClr val="000000"/>
                </a:solidFill>
              </a:rPr>
              <a:t> the midterm, one hour, individual, closed book, units 1 and 2 as taught. Week 8, October 30, teaches concurrency and multi-agent patterns. HW1 is due tonight before 11:59 pm. HW2 is released today and due Friday, November 13.</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
        <p:nvSpPr>
          <p:cNvPr id="4" name="Rectangle 4"/>
          <p:cNvSpPr/>
          <p:nvPr/>
        </p:nvSpPr>
        <p:spPr bwMode="auto">
          <a:xfrm>
            <a:off x="320040" y="2421521"/>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belongs where the adversary cannot reach it from inside the agent.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4.xml><?xml version="1.0" encoding="utf-8"?>
<p:sld xmlns:a="http://schemas.openxmlformats.org/drawingml/2006/main" xmlns:p="http://schemas.openxmlformats.org/presentationml/2006/main" xmlns:r="http://schemas.openxmlformats.org/officeDocument/2006/relationships" showMasterPhAnim="0">
  <p:cSld>
    <p:spTree>
      <p:nvGrpSpPr>
        <p:cNvPr id="1" name=""/>
        <p:cNvGrpSpPr/>
        <p:nvPr/>
      </p:nvGrpSpPr>
      <p:grpSpPr/>
      <p:sp>
        <p:nvSpPr>
          <p:cNvPr id="760175046" name="Title 1"/>
          <p:cNvSpPr>
            <a:spLocks noGrp="1"/>
          </p:cNvSpPr>
          <p:nvPr>
            <p:ph type="title"/>
          </p:nvPr>
        </p:nvSpPr>
        <p:spPr bwMode="auto"/>
        <p:txBody>
          <a:bodyPr/>
          <a:lstStyle/>
          <a:p>
            <a:pPr>
              <a:defRPr/>
            </a:pPr>
            <a:r>
              <a:t>MCP client–server connection model</a:t>
            </a:r>
            <a:r>
              <a:rPr baseline="30000"/>
              <a:t>[1]</a:t>
            </a:r>
            <a:endParaRPr/>
          </a:p>
        </p:txBody>
      </p:sp>
      <p:sp>
        <p:nvSpPr>
          <p:cNvPr id="158592368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Servers should not see the whole conversation</a:t>
            </a:r>
            <a:r>
              <a:rPr sz="1250" b="0">
                <a:solidFill>
                  <a:srgbClr val="FFFFFF">
                    <a:alpha val="0"/>
                  </a:srgbClr>
                </a:solidFill>
              </a:rPr>
              <a:t> or other servers; the full history stays with the host.</a:t>
            </a:r>
            <a:endParaRPr/>
          </a:p>
        </p:txBody>
      </p:sp>
      <p:pic>
        <p:nvPicPr>
          <p:cNvPr id="935561912" name="Picture 1268723628" descr="mcp-roles.png"/>
          <p:cNvPicPr>
            <a:picLocks noChangeAspect="1"/>
          </p:cNvPicPr>
          <p:nvPr/>
        </p:nvPicPr>
        <p:blipFill rotWithShape="1">
          <a:blip r:embed="rId2"/>
          <a:stretch/>
        </p:blipFill>
        <p:spPr bwMode="auto">
          <a:xfrm>
            <a:off x="404662" y="1931994"/>
            <a:ext cx="5847507" cy="2252171"/>
          </a:xfrm>
          <a:prstGeom prst="rect">
            <a:avLst/>
          </a:prstGeom>
        </p:spPr>
      </p:pic>
      <p:sp>
        <p:nvSpPr>
          <p:cNvPr id="15859236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5.xml><?xml version="1.0" encoding="utf-8"?>
<p:sld xmlns:a="http://schemas.openxmlformats.org/drawingml/2006/main" xmlns:p="http://schemas.openxmlformats.org/presentationml/2006/main" xmlns:r="http://schemas.openxmlformats.org/officeDocument/2006/relationships" showMasterPhAnim="0">
  <p:cSld>
    <p:spTree>
      <p:nvGrpSpPr>
        <p:cNvPr id="1" name=""/>
        <p:cNvGrpSpPr/>
        <p:nvPr/>
      </p:nvGrpSpPr>
      <p:grpSpPr/>
      <p:sp>
        <p:nvSpPr>
          <p:cNvPr id="1644732706" name="Title 1"/>
          <p:cNvSpPr>
            <a:spLocks noGrp="1"/>
          </p:cNvSpPr>
          <p:nvPr>
            <p:ph type="title"/>
          </p:nvPr>
        </p:nvSpPr>
        <p:spPr bwMode="auto"/>
        <p:txBody>
          <a:bodyPr/>
          <a:lstStyle/>
          <a:p>
            <a:pPr>
              <a:defRPr/>
            </a:pPr>
            <a:r>
              <a:t>MCP client–server connection model</a:t>
            </a:r>
            <a:r>
              <a:rPr baseline="30000"/>
              <a:t>[1]</a:t>
            </a:r>
            <a:endParaRPr/>
          </a:p>
        </p:txBody>
      </p:sp>
      <p:sp>
        <p:nvSpPr>
          <p:cNvPr id="41121250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pic>
        <p:nvPicPr>
          <p:cNvPr id="943960367" name="Picture 1268723628" descr="mcp-roles.png"/>
          <p:cNvPicPr>
            <a:picLocks noChangeAspect="1"/>
          </p:cNvPicPr>
          <p:nvPr/>
        </p:nvPicPr>
        <p:blipFill rotWithShape="1">
          <a:blip r:embed="rId2"/>
          <a:stretch/>
        </p:blipFill>
        <p:spPr bwMode="auto">
          <a:xfrm>
            <a:off x="404662" y="1931994"/>
            <a:ext cx="5847507" cy="2252171"/>
          </a:xfrm>
          <a:prstGeom prst="rect">
            <a:avLst/>
          </a:prstGeom>
        </p:spPr>
      </p:pic>
      <p:sp>
        <p:nvSpPr>
          <p:cNvPr id="164473270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6.xml><?xml version="1.0" encoding="utf-8"?>
<p:sld xmlns:a="http://schemas.openxmlformats.org/drawingml/2006/main" xmlns:p="http://schemas.openxmlformats.org/presentationml/2006/main" xmlns:r="http://schemas.openxmlformats.org/officeDocument/2006/relationships" showMasterPhAnim="0">
  <p:cSld>
    <p:spTree>
      <p:nvGrpSpPr>
        <p:cNvPr id="1" name=""/>
        <p:cNvGrpSpPr/>
        <p:nvPr/>
      </p:nvGrpSpPr>
      <p:grpSpPr/>
      <p:sp>
        <p:nvSpPr>
          <p:cNvPr id="1134111034" name="Title 1"/>
          <p:cNvSpPr>
            <a:spLocks noGrp="1"/>
          </p:cNvSpPr>
          <p:nvPr>
            <p:ph type="title"/>
          </p:nvPr>
        </p:nvSpPr>
        <p:spPr bwMode="auto"/>
        <p:txBody>
          <a:bodyPr/>
          <a:lstStyle/>
          <a:p>
            <a:pPr>
              <a:defRPr/>
            </a:pPr>
            <a:r>
              <a:t>MCP client–server connection model</a:t>
            </a:r>
            <a:r>
              <a:rPr baseline="30000"/>
              <a:t>[1]</a:t>
            </a:r>
            <a:endParaRPr/>
          </a:p>
        </p:txBody>
      </p:sp>
      <p:sp>
        <p:nvSpPr>
          <p:cNvPr id="102423029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sp>
        <p:nvSpPr>
          <p:cNvPr id="1640700933"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dispatcher's work is split: the host keeps the conversation and policy, and the server runs the tool.</a:t>
            </a:r>
            <a:endParaRPr/>
          </a:p>
        </p:txBody>
      </p:sp>
      <p:pic>
        <p:nvPicPr>
          <p:cNvPr id="769029892" name="Picture 1268723628" descr="mcp-roles.png"/>
          <p:cNvPicPr>
            <a:picLocks noChangeAspect="1"/>
          </p:cNvPicPr>
          <p:nvPr/>
        </p:nvPicPr>
        <p:blipFill rotWithShape="1">
          <a:blip r:embed="rId2"/>
          <a:stretch/>
        </p:blipFill>
        <p:spPr bwMode="auto">
          <a:xfrm>
            <a:off x="404662" y="1931994"/>
            <a:ext cx="5847507" cy="2252171"/>
          </a:xfrm>
          <a:prstGeom prst="rect">
            <a:avLst/>
          </a:prstGeom>
        </p:spPr>
      </p:pic>
      <p:sp>
        <p:nvSpPr>
          <p:cNvPr id="164070093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64070093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7.xml><?xml version="1.0" encoding="utf-8"?>
<p:sld xmlns:a="http://schemas.openxmlformats.org/drawingml/2006/main" xmlns:p="http://schemas.openxmlformats.org/presentationml/2006/main" xmlns:r="http://schemas.openxmlformats.org/officeDocument/2006/relationships" showMasterPhAnim="0">
  <p:cSld>
    <p:spTree>
      <p:nvGrpSpPr>
        <p:cNvPr id="1" name=""/>
        <p:cNvGrpSpPr/>
        <p:nvPr/>
      </p:nvGrpSpPr>
      <p:grpSpPr/>
      <p:sp>
        <p:nvSpPr>
          <p:cNvPr id="88776364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705019035" name="Ledger table"/>
          <p:cNvGraphicFramePr>
            <a:graphicFrameLocks noGrp="1"/>
          </p:cNvGraphicFramePr>
          <p:nvPr>
            <p:extLst>
              <p:ext uri="{D42A27DB-BD31-4B8C-83A1-F6EECF244321}">
                <p14:modId xmlns:p14="http://schemas.microsoft.com/office/powerpoint/2010/main" val="2606798068"/>
              </p:ext>
            </p:extLst>
          </p:nvPr>
        </p:nvGraphicFramePr>
        <p:xfrm>
          <a:off x="320040" y="777240"/>
          <a:ext cx="6016752" cy="5200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88776364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8.xml><?xml version="1.0" encoding="utf-8"?>
<p:sld xmlns:a="http://schemas.openxmlformats.org/drawingml/2006/main" xmlns:p="http://schemas.openxmlformats.org/presentationml/2006/main" xmlns:r="http://schemas.openxmlformats.org/officeDocument/2006/relationships" showMasterPhAnim="0">
  <p:cSld>
    <p:spTree>
      <p:nvGrpSpPr>
        <p:cNvPr id="1" name=""/>
        <p:cNvGrpSpPr/>
        <p:nvPr/>
      </p:nvGrpSpPr>
      <p:grpSpPr/>
      <p:sp>
        <p:nvSpPr>
          <p:cNvPr id="897985482"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360302802" name="Ledger table"/>
          <p:cNvGraphicFramePr>
            <a:graphicFrameLocks noGrp="1"/>
          </p:cNvGraphicFramePr>
          <p:nvPr>
            <p:extLst>
              <p:ext uri="{D42A27DB-BD31-4B8C-83A1-F6EECF244321}">
                <p14:modId xmlns:p14="http://schemas.microsoft.com/office/powerpoint/2010/main" val="3197854368"/>
              </p:ext>
            </p:extLst>
          </p:nvPr>
        </p:nvGraphicFramePr>
        <p:xfrm>
          <a:off x="320040" y="777240"/>
          <a:ext cx="6016752" cy="9200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89798548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49.xml><?xml version="1.0" encoding="utf-8"?>
<p:sld xmlns:a="http://schemas.openxmlformats.org/drawingml/2006/main" xmlns:p="http://schemas.openxmlformats.org/presentationml/2006/main" xmlns:r="http://schemas.openxmlformats.org/officeDocument/2006/relationships" showMasterPhAnim="0">
  <p:cSld>
    <p:spTree>
      <p:nvGrpSpPr>
        <p:cNvPr id="1" name=""/>
        <p:cNvGrpSpPr/>
        <p:nvPr/>
      </p:nvGrpSpPr>
      <p:grpSpPr/>
      <p:sp>
        <p:nvSpPr>
          <p:cNvPr id="95661205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802660825" name="Ledger table"/>
          <p:cNvGraphicFramePr>
            <a:graphicFrameLocks noGrp="1"/>
          </p:cNvGraphicFramePr>
          <p:nvPr>
            <p:extLst>
              <p:ext uri="{D42A27DB-BD31-4B8C-83A1-F6EECF244321}">
                <p14:modId xmlns:p14="http://schemas.microsoft.com/office/powerpoint/2010/main" val="1441377579"/>
              </p:ext>
            </p:extLst>
          </p:nvPr>
        </p:nvGraphicFramePr>
        <p:xfrm>
          <a:off x="320040" y="777240"/>
          <a:ext cx="6016752" cy="14725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must conform to </a:t>
                      </a:r>
                      <a:r>
                        <a:rPr lang="en-US" sz="1000" b="0" dirty="0" err="1">
                          <a:solidFill>
                            <a:schemeClr val="tx1"/>
                          </a:solidFill>
                        </a:rPr>
                        <a:t>outputSchema</a:t>
                      </a:r>
                      <a:r>
                        <a:rPr lang="en-US" sz="1000" b="0" dirty="0">
                          <a:solidFill>
                            <a:schemeClr val="tx1"/>
                          </a:solidFill>
                        </a:rPr>
                        <a:t>,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180266082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0.xml><?xml version="1.0" encoding="utf-8"?>
<p:sld xmlns:a="http://schemas.openxmlformats.org/drawingml/2006/main" xmlns:p="http://schemas.openxmlformats.org/presentationml/2006/main" xmlns:r="http://schemas.openxmlformats.org/officeDocument/2006/relationships" showMasterPhAnim="0">
  <p:cSld>
    <p:spTree>
      <p:nvGrpSpPr>
        <p:cNvPr id="1" name=""/>
        <p:cNvGrpSpPr/>
        <p:nvPr/>
      </p:nvGrpSpPr>
      <p:grpSpPr/>
      <p:sp>
        <p:nvSpPr>
          <p:cNvPr id="567540123"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820547276" name="Ledger table"/>
          <p:cNvGraphicFramePr>
            <a:graphicFrameLocks noGrp="1"/>
          </p:cNvGraphicFramePr>
          <p:nvPr>
            <p:extLst>
              <p:ext uri="{D42A27DB-BD31-4B8C-83A1-F6EECF244321}">
                <p14:modId xmlns:p14="http://schemas.microsoft.com/office/powerpoint/2010/main" val="2187821857"/>
              </p:ext>
            </p:extLst>
          </p:nvPr>
        </p:nvGraphicFramePr>
        <p:xfrm>
          <a:off x="320040" y="777240"/>
          <a:ext cx="6016752" cy="18725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82054727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1.xml><?xml version="1.0" encoding="utf-8"?>
<p:sld xmlns:a="http://schemas.openxmlformats.org/drawingml/2006/main" xmlns:p="http://schemas.openxmlformats.org/presentationml/2006/main" xmlns:r="http://schemas.openxmlformats.org/officeDocument/2006/relationships" showMasterPhAnim="0">
  <p:cSld>
    <p:spTree>
      <p:nvGrpSpPr>
        <p:cNvPr id="1" name=""/>
        <p:cNvGrpSpPr/>
        <p:nvPr/>
      </p:nvGrpSpPr>
      <p:grpSpPr/>
      <p:sp>
        <p:nvSpPr>
          <p:cNvPr id="1757165034"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452303485" name="Ledger table"/>
          <p:cNvGraphicFramePr>
            <a:graphicFrameLocks noGrp="1"/>
          </p:cNvGraphicFramePr>
          <p:nvPr>
            <p:extLst>
              <p:ext uri="{D42A27DB-BD31-4B8C-83A1-F6EECF244321}">
                <p14:modId xmlns:p14="http://schemas.microsoft.com/office/powerpoint/2010/main" val="2163119045"/>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5716503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2.xml><?xml version="1.0" encoding="utf-8"?>
<p:sld xmlns:a="http://schemas.openxmlformats.org/drawingml/2006/main" xmlns:p="http://schemas.openxmlformats.org/presentationml/2006/main" xmlns:r="http://schemas.openxmlformats.org/officeDocument/2006/relationships" showMasterPhAnim="0">
  <p:cSld>
    <p:spTree>
      <p:nvGrpSpPr>
        <p:cNvPr id="1" name=""/>
        <p:cNvGrpSpPr/>
        <p:nvPr/>
      </p:nvGrpSpPr>
      <p:grpSpPr/>
      <p:sp>
        <p:nvSpPr>
          <p:cNvPr id="1779005680"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959985196" name="Ledger table"/>
          <p:cNvGraphicFramePr>
            <a:graphicFrameLocks noGrp="1"/>
          </p:cNvGraphicFramePr>
          <p:nvPr>
            <p:extLst>
              <p:ext uri="{D42A27DB-BD31-4B8C-83A1-F6EECF244321}">
                <p14:modId xmlns:p14="http://schemas.microsoft.com/office/powerpoint/2010/main" val="1801729319"/>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93036940"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95998519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3.xml><?xml version="1.0" encoding="utf-8"?>
<p:sld xmlns:a="http://schemas.openxmlformats.org/drawingml/2006/main" xmlns:p="http://schemas.openxmlformats.org/presentationml/2006/main" xmlns:r="http://schemas.openxmlformats.org/officeDocument/2006/relationships" showMasterPhAnim="0">
  <p:cSld>
    <p:spTree>
      <p:nvGrpSpPr>
        <p:cNvPr id="1" name=""/>
        <p:cNvGrpSpPr/>
        <p:nvPr/>
      </p:nvGrpSpPr>
      <p:grpSpPr/>
      <p:sp>
        <p:nvSpPr>
          <p:cNvPr id="1386846645"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678629232" name="Ledger table"/>
          <p:cNvGraphicFramePr>
            <a:graphicFrameLocks noGrp="1"/>
          </p:cNvGraphicFramePr>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them;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69471103" name="Rectangle 4"/>
          <p:cNvSpPr/>
          <p:nvPr/>
        </p:nvSpPr>
        <p:spPr bwMode="auto">
          <a:xfrm>
            <a:off x="320040" y="3301221"/>
            <a:ext cx="6016752" cy="45720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chemeClr val="accent4"/>
                </a:solidFill>
              </a:rPr>
              <a:t>MCP has no field for execution constraints; they live in the code of the host and the server.</a:t>
            </a:r>
            <a:endParaRPr/>
          </a:p>
        </p:txBody>
      </p:sp>
      <p:sp>
        <p:nvSpPr>
          <p:cNvPr id="276089415"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76947110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OWASP</a:t>
            </a:r>
            <a:r>
              <a:rPr lang="en-US" sz="1100" baseline="30000">
                <a:solidFill>
                  <a:srgbClr val="FFFFFF">
                    <a:alpha val="0"/>
                  </a:srgbClr>
                </a:solidFill>
              </a:rPr>
              <a:t>[1]</a:t>
            </a:r>
            <a:r>
              <a:rPr lang="en-US" sz="1100" b="0">
                <a:solidFill>
                  <a:srgbClr val="FFFFFF">
                    <a:alpha val="0"/>
                  </a:srgbClr>
                </a:solidFill>
              </a:rPr>
              <a:t> classifies the incident by risk category.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1.png"/>
          <p:cNvPicPr>
            <a:picLocks noChangeAspect="1"/>
          </p:cNvPicPr>
          <p:nvPr/>
        </p:nvPicPr>
        <p:blipFill>
          <a:blip r:embed="rId2"/>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2.png"/>
          <p:cNvPicPr>
            <a:picLocks noChangeAspect="1"/>
          </p:cNvPicPr>
          <p:nvPr/>
        </p:nvPicPr>
        <p:blipFill>
          <a:blip r:embed="rId2"/>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3.png"/>
          <p:cNvPicPr>
            <a:picLocks noChangeAspect="1"/>
          </p:cNvPicPr>
          <p:nvPr/>
        </p:nvPicPr>
        <p:blipFill>
          <a:blip r:embed="rId2"/>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4.png"/>
          <p:cNvPicPr>
            <a:picLocks noChangeAspect="1"/>
          </p:cNvPicPr>
          <p:nvPr/>
        </p:nvPicPr>
        <p:blipFill>
          <a:blip r:embed="rId2"/>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Rectangle 4"/>
          <p:cNvSpPr/>
          <p:nvPr/>
        </p:nvSpPr>
        <p:spPr bwMode="auto">
          <a:xfrm>
            <a:off x="320040" y="4232162"/>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OWASP asks which conditions make a deployment vulnerable. ATLAS records what the adversary did, step by step.</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6" name="Picture 1847912324" descr="owasp-vs-atlas-4.png"/>
          <p:cNvPicPr>
            <a:picLocks noChangeAspect="1"/>
          </p:cNvPicPr>
          <p:nvPr/>
        </p:nvPicPr>
        <p:blipFill>
          <a:blip r:embed="rId2"/>
          <a:stretch>
            <a:fillRect/>
          </a:stretch>
        </p:blipFill>
        <p:spPr>
          <a:xfrm>
            <a:off x="480040" y="1600926"/>
            <a:ext cx="5696752" cy="244456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87630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0333596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2">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3">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38303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78267578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2">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3">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4">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88976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33862890"/>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2">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3">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4">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2">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3">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459818468"/>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2">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3">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4">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2">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3">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5">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6">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2">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failed control was a setting, a file or a model behavior that an attacker could change or get past through the Gateway API, the agent's tools or a page.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6"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2871209806"/>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2">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3">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4">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2">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3">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5">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6">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2">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What the midterm covers</a:t>
            </a:r>
          </a:p>
        </p:txBody>
      </p:sp>
      <p:sp>
        <p:nvSpPr>
          <p:cNvPr id="3" name="Content Placeholder 2"/>
          <p:cNvSpPr>
            <a:spLocks noGrp="1"/>
          </p:cNvSpPr>
          <p:nvPr>
            <p:ph idx="1"/>
          </p:nvPr>
        </p:nvSpPr>
        <p:spPr bwMode="auto">
          <a:xfrm>
            <a:off x="320040" y="658368"/>
            <a:ext cx="6016752" cy="195365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Dynamic control</a:t>
            </a:r>
            <a:r>
              <a:rPr lang="en-US" sz="1200" b="0">
                <a:solidFill>
                  <a:srgbClr val="000000"/>
                </a:solidFill>
              </a:rPr>
              <a:t> and who chooses the next operation.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State records, routing and termination;</a:t>
            </a:r>
            <a:r>
              <a:rPr lang="en-US" sz="1200" b="0">
                <a:solidFill>
                  <a:srgbClr val="000000"/>
                </a:solidFill>
              </a:rPr>
              <a:t> token accounting and admission.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Tool contracts and the dispatch cycle;</a:t>
            </a:r>
            <a:r>
              <a:rPr lang="en-US" sz="1200" b="0">
                <a:solidFill>
                  <a:srgbClr val="000000"/>
                </a:solidFill>
              </a:rPr>
              <a:t> action representation, structured and code actions.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MCP hosts, clients, servers</a:t>
            </a:r>
            <a:r>
              <a:rPr lang="en-US" sz="1200" b="0">
                <a:solidFill>
                  <a:srgbClr val="000000"/>
                </a:solidFill>
              </a:rPr>
              <a:t> and transports.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tool boundary under attack,</a:t>
            </a:r>
            <a:r>
              <a:rPr lang="en-US" sz="1200" b="0">
                <a:solidFill>
                  <a:srgbClr val="000000"/>
                </a:solidFill>
              </a:rPr>
              <a:t> and where a rule is enforced.</a:t>
            </a:r>
            <a:endParaRPr/>
          </a:p>
        </p:txBody>
      </p:sp>
      <p:sp>
        <p:nvSpPr>
          <p:cNvPr id="4" name="Rectangle 4"/>
          <p:cNvSpPr/>
          <p:nvPr/>
        </p:nvSpPr>
        <p:spPr bwMode="auto">
          <a:xfrm>
            <a:off x="320040" y="26501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One hour, individual, closed book. The questions ask for reasoning about scenarios rather than recall of APIs.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1543</TotalTime>
  <Words>46374</Words>
  <Application>Microsoft Macintosh PowerPoint</Application>
  <PresentationFormat>Custom</PresentationFormat>
  <Paragraphs>1849</Paragraphs>
  <Slides>143</Slides>
  <Notes>143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143</vt:i4>
      </vt:variant>
    </vt:vector>
  </HeadingPairs>
  <TitlesOfParts>
    <vt:vector size="147" baseType="lpstr">
      <vt:lpstr>Arial</vt:lpstr>
      <vt:lpstr>Aptos</vt:lpstr>
      <vt:lpstr>Aptos Mono</vt:lpstr>
      <vt:lpstr>Simple Light</vt:lpstr>
      <vt:lpstr>Designing Production Agentic Systems</vt:lpstr>
      <vt:lpstr>PowerPoint Presentation</vt:lpstr>
      <vt:lpstr>PowerPoint Presentation</vt:lpstr>
      <vt:lpstr>Model-based security controls</vt:lpstr>
      <vt:lpstr>Model-based security controls</vt:lpstr>
      <vt:lpstr>Model-based security controls</vt:lpstr>
      <vt:lpstr>Model-based security controls</vt:lpstr>
      <vt:lpstr>Model-based security controls</vt:lpstr>
      <vt:lpstr>Each model runs with and without tools.</vt:lpstr>
      <vt:lpstr>Each model runs with and without tools.</vt:lpstr>
      <vt:lpstr>Each model runs with and without tools.</vt:lpstr>
      <vt:lpstr>Each model runs with and without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 under experimental variations</vt:lpstr>
      <vt:lpstr>Refusal failure under experimental variations</vt:lpstr>
      <vt:lpstr>Refusal failure under experimental variations</vt:lpstr>
      <vt:lpstr>Refusal failure under experimental variations</vt:lpstr>
      <vt:lpstr>Tool outputs pile up before the answer.</vt:lpstr>
      <vt:lpstr>Tool outputs pile up before the answer.</vt:lpstr>
      <vt:lpstr>Tool outputs pile up before the answer.</vt:lpstr>
      <vt:lpstr>Tool outputs pile up before the answer.</vt:lpstr>
      <vt:lpstr>Tool outputs pile up before the answer.</vt:lpstr>
      <vt:lpstr>Refusals with tools open with a description.</vt:lpstr>
      <vt:lpstr>Refusals with tools open with a description.</vt:lpstr>
      <vt:lpstr>Refusals with tools open with a description.</vt:lpstr>
      <vt:lpstr>Refusals with tools open with a description.</vt:lpstr>
      <vt:lpstr>Refusals with tools open with a description.</vt:lpstr>
      <vt:lpstr>The harness asks again with the request.</vt:lpstr>
      <vt:lpstr>The harness asks again with the request.</vt:lpstr>
      <vt:lpstr>The harness asks again with the request.</vt:lpstr>
      <vt:lpstr>The harness asks again with the request.</vt:lpstr>
      <vt:lpstr>The harness asks again with the request.</vt:lpstr>
      <vt:lpstr>Refusal failure relative to the no-tool baseline</vt:lpstr>
      <vt:lpstr>Refusal failure relative to the no-tool baseline</vt:lpstr>
      <vt:lpstr>Refusal failure relative to the no-tool baseline</vt:lpstr>
      <vt:lpstr>Tool use weakens a model's refusals.</vt:lpstr>
      <vt:lpstr>Tool use weakens a model's refusals.</vt:lpstr>
      <vt:lpstr>Tool use weakens a model's refusals.</vt:lpstr>
      <vt:lpstr>Tool use weakens a model's refusals.</vt:lpstr>
      <vt:lpstr>Tool use weakens a model's refusals.</vt:lpstr>
      <vt:lpstr>Enforcement points and trust boundaries</vt:lpstr>
      <vt:lpstr>Enforcement points and trust boundaries</vt:lpstr>
      <vt:lpstr>Enforcement points and trust boundaries</vt:lpstr>
      <vt:lpstr>Enforcement points and trust boundaries</vt:lpstr>
      <vt:lpstr>Enforcement points and trust boundaries</vt:lpstr>
      <vt:lpstr>Each place has its own bypass.</vt:lpstr>
      <vt:lpstr>Each place has its own bypass.</vt:lpstr>
      <vt:lpstr>Each place has its own bypass.</vt:lpstr>
      <vt:lpstr>Each place has its own bypass.</vt:lpstr>
      <vt:lpstr>Each place has its own bypass.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PowerPoint Presentation</vt:lpstr>
      <vt:lpstr>OpenShell sandboxes an unmodified agent.</vt:lpstr>
      <vt:lpstr>OpenShell sandboxes an unmodified agent.</vt:lpstr>
      <vt:lpstr>OpenShell sandboxes an unmodified agent.</vt:lpstr>
      <vt:lpstr>OpenShell sandboxes an unmodified agent.</vt:lpstr>
      <vt:lpstr>OpenShell sandboxes an unmodified agent.</vt:lpstr>
      <vt:lpstr>OpenShell architecture and responsibilities</vt:lpstr>
      <vt:lpstr>OpenShell architecture and responsibilities</vt:lpstr>
      <vt:lpstr>OpenShell architecture and responsibilities</vt:lpstr>
      <vt:lpstr>OpenShell architecture and responsibilities</vt:lpstr>
      <vt:lpstr>OpenShell architecture and responsibilities</vt:lpstr>
      <vt:lpstr>OpenShell controls at creation and run time</vt:lpstr>
      <vt:lpstr>OpenShell controls at creation and run time</vt:lpstr>
      <vt:lpstr>OpenShell controls at creation and run time</vt:lpstr>
      <vt:lpstr>OpenShell controls at creation and run time</vt:lpstr>
      <vt:lpstr>OpenShell controls at creation and run time</vt:lpstr>
      <vt:lpstr>Real credentials never enter the sandbox.</vt:lpstr>
      <vt:lpstr>Real credentials never enter the sandbox.</vt:lpstr>
      <vt:lpstr>Real credentials never enter the sandbox.</vt:lpstr>
      <vt:lpstr>Real credentials never enter the sandbox.</vt:lpstr>
      <vt:lpstr>OpenShell policy schema</vt:lpstr>
      <vt:lpstr>OpenShell policy schema</vt:lpstr>
      <vt:lpstr>OpenShell policy schema</vt:lpstr>
      <vt:lpstr>OpenShell policy schema</vt:lpstr>
      <vt:lpstr>A denied request is recorded for approval.</vt:lpstr>
      <vt:lpstr>A denied request is recorded for approval.</vt:lpstr>
      <vt:lpstr>A denied request is recorded for approval.</vt:lpstr>
      <vt:lpstr>Sentry watches from outside the host.</vt:lpstr>
      <vt:lpstr>Sentry watches from outside the host.</vt:lpstr>
      <vt:lpstr>Sentry watches from outside the host.</vt:lpstr>
      <vt:lpstr>Sentry watches from outside the host.</vt:lpstr>
      <vt:lpstr>OpenShell governs each sandbox on its own.</vt:lpstr>
      <vt:lpstr>OpenShell governs each sandbox on its own.</vt:lpstr>
      <vt:lpstr>OpenShell governs each sandbox on its own.</vt:lpstr>
      <vt:lpstr>OpenShell governs each sandbox on its own.</vt:lpstr>
      <vt:lpstr>OpenShell controls by protected asset</vt:lpstr>
      <vt:lpstr>OpenShell controls by protected asset</vt:lpstr>
      <vt:lpstr>OpenShell controls by protected asset</vt:lpstr>
      <vt:lpstr>OpenShell controls by protected asset</vt:lpstr>
      <vt:lpstr>OpenShell controls by protected asset</vt:lpstr>
      <vt:lpstr>OpenShell controls by protected asset</vt:lpstr>
      <vt:lpstr>Limits of OpenShell enforcement</vt:lpstr>
      <vt:lpstr>Limits of OpenShell enforcement</vt:lpstr>
      <vt:lpstr>Limits of OpenShell enforcement</vt:lpstr>
      <vt:lpstr>Limits of OpenShell enforcement</vt:lpstr>
      <vt:lpstr>Limits of OpenShell enforcement</vt:lpstr>
      <vt:lpstr>Models escape containers with known flaws.</vt:lpstr>
      <vt:lpstr>Models escape containers with known flaws.</vt:lpstr>
      <vt:lpstr>Models escape containers with known flaws.</vt:lpstr>
      <vt:lpstr>Models escape containers with known flaws.</vt:lpstr>
      <vt:lpstr>Sandlock writes the threat model down.</vt:lpstr>
      <vt:lpstr>Sandlock writes the threat model down.</vt:lpstr>
      <vt:lpstr>Sandlock writes the threat model down.</vt:lpstr>
      <vt:lpstr>Sandlock writes the threat model down.</vt:lpstr>
      <vt:lpstr>Research asks how authority is taken back.</vt:lpstr>
      <vt:lpstr>Research asks how authority is taken back.</vt:lpstr>
      <vt:lpstr>Research asks how authority is taken back.</vt:lpstr>
      <vt:lpstr>Research asks how authority is taken back.</vt:lpstr>
      <vt:lpstr>Research asks how authority is taken back.</vt:lpstr>
      <vt:lpstr>Peer review trails deployment.</vt:lpstr>
      <vt:lpstr>Peer review trails deployment.</vt:lpstr>
      <vt:lpstr>Peer review trails deployment.</vt:lpstr>
      <vt:lpstr>Peer review trails deployment.</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Where should the ~/.ssh rule be enforced?</vt:lpstr>
      <vt:lpstr>Where should the ~/.ssh rule be enforced?</vt:lpstr>
      <vt:lpstr>Next week, the plan becomes a boundary.</vt:lpstr>
      <vt:lpstr>Next week, the plan becomes a boundary.</vt:lpstr>
      <vt:lpstr>Next week, the plan becomes a boundary.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227</cp:revision>
  <dcterms:modified xsi:type="dcterms:W3CDTF">2026-10-15T20:20:26Z</dcterms:modified>
</cp:coreProperties>
</file>
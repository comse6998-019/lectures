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23"/>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834" r:id="rId22"/>
    <p:sldId id="835" r:id="rId23"/>
    <p:sldId id="672" r:id="rId24"/>
    <p:sldId id="674" r:id="rId25"/>
    <p:sldId id="675" r:id="rId26"/>
    <p:sldId id="676" r:id="rId27"/>
    <p:sldId id="677" r:id="rId28"/>
    <p:sldId id="673" r:id="rId29"/>
    <p:sldId id="679" r:id="rId30"/>
    <p:sldId id="680" r:id="rId31"/>
    <p:sldId id="681" r:id="rId32"/>
    <p:sldId id="678" r:id="rId33"/>
    <p:sldId id="683" r:id="rId34"/>
    <p:sldId id="684" r:id="rId35"/>
    <p:sldId id="685" r:id="rId36"/>
    <p:sldId id="686" r:id="rId37"/>
    <p:sldId id="687" r:id="rId38"/>
    <p:sldId id="682" r:id="rId39"/>
    <p:sldId id="689" r:id="rId40"/>
    <p:sldId id="690" r:id="rId41"/>
    <p:sldId id="691" r:id="rId42"/>
    <p:sldId id="692" r:id="rId43"/>
    <p:sldId id="693" r:id="rId44"/>
    <p:sldId id="688" r:id="rId45"/>
    <p:sldId id="695" r:id="rId46"/>
    <p:sldId id="696" r:id="rId47"/>
    <p:sldId id="697" r:id="rId48"/>
    <p:sldId id="694" r:id="rId49"/>
    <p:sldId id="699" r:id="rId50"/>
    <p:sldId id="700" r:id="rId51"/>
    <p:sldId id="701" r:id="rId52"/>
    <p:sldId id="702" r:id="rId53"/>
    <p:sldId id="698" r:id="rId54"/>
    <p:sldId id="704" r:id="rId55"/>
    <p:sldId id="705" r:id="rId56"/>
    <p:sldId id="706" r:id="rId57"/>
    <p:sldId id="707" r:id="rId58"/>
    <p:sldId id="703" r:id="rId59"/>
    <p:sldId id="709" r:id="rId60"/>
    <p:sldId id="710" r:id="rId61"/>
    <p:sldId id="711" r:id="rId62"/>
    <p:sldId id="712" r:id="rId63"/>
    <p:sldId id="708" r:id="rId64"/>
    <p:sldId id="714" r:id="rId65"/>
    <p:sldId id="715" r:id="rId66"/>
    <p:sldId id="713" r:id="rId67"/>
    <p:sldId id="717" r:id="rId68"/>
    <p:sldId id="718" r:id="rId69"/>
    <p:sldId id="719" r:id="rId70"/>
    <p:sldId id="720" r:id="rId71"/>
    <p:sldId id="716" r:id="rId72"/>
    <p:sldId id="722" r:id="rId73"/>
    <p:sldId id="723" r:id="rId74"/>
    <p:sldId id="724" r:id="rId75"/>
    <p:sldId id="725" r:id="rId76"/>
    <p:sldId id="721" r:id="rId77"/>
    <p:sldId id="727" r:id="rId78"/>
    <p:sldId id="728" r:id="rId79"/>
    <p:sldId id="729" r:id="rId80"/>
    <p:sldId id="730" r:id="rId81"/>
    <p:sldId id="726" r:id="rId82"/>
    <p:sldId id="732" r:id="rId83"/>
    <p:sldId id="733" r:id="rId84"/>
    <p:sldId id="734" r:id="rId85"/>
    <p:sldId id="735" r:id="rId86"/>
    <p:sldId id="736" r:id="rId87"/>
    <p:sldId id="737" r:id="rId88"/>
    <p:sldId id="731" r:id="rId89"/>
    <p:sldId id="739" r:id="rId90"/>
    <p:sldId id="741" r:id="rId91"/>
    <p:sldId id="742" r:id="rId92"/>
    <p:sldId id="743" r:id="rId93"/>
    <p:sldId id="744" r:id="rId94"/>
    <p:sldId id="740" r:id="rId95"/>
    <p:sldId id="842" r:id="rId96"/>
    <p:sldId id="843" r:id="rId97"/>
    <p:sldId id="844" r:id="rId98"/>
    <p:sldId id="845" r:id="rId99"/>
    <p:sldId id="846" r:id="rId100"/>
    <p:sldId id="847" r:id="rId101"/>
    <p:sldId id="848" r:id="rId102"/>
    <p:sldId id="849" r:id="rId103"/>
    <p:sldId id="856" r:id="rId104"/>
    <p:sldId id="850" r:id="rId105"/>
    <p:sldId id="857" r:id="rId106"/>
    <p:sldId id="851" r:id="rId107"/>
    <p:sldId id="852" r:id="rId108"/>
    <p:sldId id="858" r:id="rId109"/>
    <p:sldId id="859" r:id="rId110"/>
    <p:sldId id="860" r:id="rId111"/>
    <p:sldId id="853" r:id="rId112"/>
    <p:sldId id="854" r:id="rId113"/>
    <p:sldId id="855" r:id="rId114"/>
    <p:sldId id="925" r:id="rId115"/>
    <p:sldId id="926" r:id="rId116"/>
    <p:sldId id="927" r:id="rId117"/>
    <p:sldId id="931" r:id="rId118"/>
    <p:sldId id="863" r:id="rId119"/>
    <p:sldId id="864" r:id="rId120"/>
    <p:sldId id="865" r:id="rId121"/>
    <p:sldId id="866" r:id="rId122"/>
    <p:sldId id="867" r:id="rId123"/>
    <p:sldId id="868" r:id="rId124"/>
    <p:sldId id="869" r:id="rId125"/>
    <p:sldId id="870" r:id="rId126"/>
    <p:sldId id="871" r:id="rId127"/>
    <p:sldId id="872" r:id="rId128"/>
    <p:sldId id="873" r:id="rId129"/>
    <p:sldId id="874" r:id="rId130"/>
    <p:sldId id="875" r:id="rId131"/>
    <p:sldId id="876" r:id="rId132"/>
    <p:sldId id="877" r:id="rId133"/>
    <p:sldId id="878" r:id="rId134"/>
    <p:sldId id="879" r:id="rId135"/>
    <p:sldId id="880" r:id="rId136"/>
    <p:sldId id="881" r:id="rId137"/>
    <p:sldId id="882" r:id="rId138"/>
    <p:sldId id="883" r:id="rId139"/>
    <p:sldId id="884" r:id="rId140"/>
    <p:sldId id="885" r:id="rId141"/>
    <p:sldId id="932" r:id="rId232"/>
    <p:sldId id="933" r:id="rId233"/>
    <p:sldId id="934" r:id="rId234"/>
    <p:sldId id="935" r:id="rId235"/>
    <p:sldId id="936" r:id="rId236"/>
    <p:sldId id="886" r:id="rId142"/>
    <p:sldId id="887" r:id="rId143"/>
    <p:sldId id="888" r:id="rId144"/>
    <p:sldId id="889" r:id="rId145"/>
    <p:sldId id="890" r:id="rId146"/>
    <p:sldId id="891" r:id="rId147"/>
    <p:sldId id="892" r:id="rId148"/>
    <p:sldId id="893" r:id="rId149"/>
    <p:sldId id="894" r:id="rId150"/>
    <p:sldId id="895" r:id="rId151"/>
    <p:sldId id="896" r:id="rId152"/>
    <p:sldId id="897" r:id="rId153"/>
    <p:sldId id="898" r:id="rId154"/>
    <p:sldId id="899" r:id="rId155"/>
    <p:sldId id="900" r:id="rId156"/>
    <p:sldId id="901" r:id="rId157"/>
    <p:sldId id="902" r:id="rId158"/>
    <p:sldId id="903" r:id="rId159"/>
    <p:sldId id="904" r:id="rId160"/>
    <p:sldId id="756" r:id="rId161"/>
    <p:sldId id="757" r:id="rId162"/>
    <p:sldId id="758" r:id="rId163"/>
    <p:sldId id="755" r:id="rId164"/>
    <p:sldId id="905" r:id="rId165"/>
    <p:sldId id="906" r:id="rId166"/>
    <p:sldId id="907" r:id="rId167"/>
    <p:sldId id="908" r:id="rId168"/>
    <p:sldId id="909" r:id="rId169"/>
    <p:sldId id="910" r:id="rId170"/>
    <p:sldId id="911" r:id="rId171"/>
    <p:sldId id="912" r:id="rId172"/>
    <p:sldId id="913" r:id="rId173"/>
    <p:sldId id="914" r:id="rId174"/>
    <p:sldId id="915" r:id="rId175"/>
    <p:sldId id="916" r:id="rId176"/>
    <p:sldId id="917" r:id="rId177"/>
    <p:sldId id="918" r:id="rId178"/>
    <p:sldId id="919" r:id="rId179"/>
    <p:sldId id="920" r:id="rId180"/>
    <p:sldId id="921" r:id="rId181"/>
    <p:sldId id="922" r:id="rId182"/>
    <p:sldId id="923" r:id="rId183"/>
    <p:sldId id="924" r:id="rId184"/>
    <p:sldId id="928" r:id="rId185"/>
    <p:sldId id="929" r:id="rId186"/>
    <p:sldId id="930" r:id="rId187"/>
    <p:sldId id="786" r:id="rId188"/>
    <p:sldId id="787" r:id="rId189"/>
    <p:sldId id="788" r:id="rId190"/>
    <p:sldId id="785" r:id="rId191"/>
    <p:sldId id="790" r:id="rId192"/>
    <p:sldId id="791" r:id="rId193"/>
    <p:sldId id="792" r:id="rId194"/>
    <p:sldId id="789" r:id="rId195"/>
    <p:sldId id="794" r:id="rId196"/>
    <p:sldId id="795" r:id="rId197"/>
    <p:sldId id="796" r:id="rId198"/>
    <p:sldId id="797" r:id="rId199"/>
    <p:sldId id="793" r:id="rId200"/>
    <p:sldId id="799" r:id="rId201"/>
    <p:sldId id="800" r:id="rId202"/>
    <p:sldId id="801" r:id="rId203"/>
    <p:sldId id="798" r:id="rId204"/>
    <p:sldId id="803" r:id="rId205"/>
    <p:sldId id="804" r:id="rId206"/>
    <p:sldId id="805" r:id="rId207"/>
    <p:sldId id="806" r:id="rId208"/>
    <p:sldId id="807" r:id="rId209"/>
    <p:sldId id="808" r:id="rId210"/>
    <p:sldId id="802" r:id="rId211"/>
    <p:sldId id="809" r:id="rId212"/>
    <p:sldId id="810" r:id="rId213"/>
    <p:sldId id="837" r:id="rId214"/>
    <p:sldId id="838" r:id="rId215"/>
    <p:sldId id="839" r:id="rId216"/>
    <p:sldId id="840" r:id="rId217"/>
    <p:sldId id="841" r:id="rId218"/>
    <p:sldId id="836" r:id="rId219"/>
    <p:sldId id="812" r:id="rId220"/>
    <p:sldId id="813" r:id="rId221"/>
    <p:sldId id="811" r:id="rId222"/>
  </p:sldIdLst>
  <p:sldSz cx="6858000" cy="5143500"/>
  <p:notesSz cx="6858000" cy="9144000"/>
  <p:embeddedFontLst>
    <p:embeddedFont>
      <p:font typeface="Aptos Mono" panose="020B0009020202020204" pitchFamily="49" charset="0"/>
      <p:regular r:id="rId224"/>
      <p:bold r:id="rId225"/>
      <p:italic r:id="rId226"/>
      <p:boldItalic r:id="rId227"/>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211"/>
    <p:restoredTop sz="97007"/>
  </p:normalViewPr>
  <p:slideViewPr>
    <p:cSldViewPr snapToGrid="0">
      <p:cViewPr varScale="1">
        <p:scale>
          <a:sx n="315" d="100"/>
          <a:sy n="315" d="100"/>
        </p:scale>
        <p:origin x="192" y="880"/>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notesMaster" Target="notesMasters/notesMaster1.xml"/><Relationship Id="rId224" Type="http://schemas.openxmlformats.org/officeDocument/2006/relationships/font" Target="fonts/font1.fntdata"/><Relationship Id="rId225" Type="http://schemas.openxmlformats.org/officeDocument/2006/relationships/font" Target="fonts/font2.fntdata"/><Relationship Id="rId226" Type="http://schemas.openxmlformats.org/officeDocument/2006/relationships/font" Target="fonts/font3.fntdata"/><Relationship Id="rId227" Type="http://schemas.openxmlformats.org/officeDocument/2006/relationships/font" Target="fonts/font4.fntdata"/><Relationship Id="rId228" Type="http://schemas.openxmlformats.org/officeDocument/2006/relationships/presProps" Target="presProps.xml"/><Relationship Id="rId229" Type="http://schemas.openxmlformats.org/officeDocument/2006/relationships/viewProps" Target="viewProps.xml"/><Relationship Id="rId230" Type="http://schemas.openxmlformats.org/officeDocument/2006/relationships/theme" Target="theme/theme1.xml"/><Relationship Id="rId231" Type="http://schemas.openxmlformats.org/officeDocument/2006/relationships/tableStyles" Target="tableStyles.xml"/><Relationship Id="rId232" Type="http://schemas.openxmlformats.org/officeDocument/2006/relationships/slide" Target="slides/slide222.xml"/><Relationship Id="rId233" Type="http://schemas.openxmlformats.org/officeDocument/2006/relationships/slide" Target="slides/slide223.xml"/><Relationship Id="rId234" Type="http://schemas.openxmlformats.org/officeDocument/2006/relationships/slide" Target="slides/slide224.xml"/><Relationship Id="rId235" Type="http://schemas.openxmlformats.org/officeDocument/2006/relationships/slide" Target="slides/slide225.xml"/><Relationship Id="rId236"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ATLAS names what to restrict and </a:t>
            </a:r>
            <a:r>
              <a:rPr b="1"/>
              <a:t>never which process enforces it</a:t>
            </a:r>
            <a:r>
              <a:t>. This section asks where a rule such as 'the agent may not read </a:t>
            </a:r>
            <a:r>
              <a:rPr b="1"/>
              <a:t>~/.ssh</a:t>
            </a:r>
            <a:r>
              <a:t>' should be enforced. It starts with the </a:t>
            </a:r>
            <a:r>
              <a:rPr b="1"/>
              <a:t>cheapest place, the model itself</a:t>
            </a:r>
            <a:r>
              <a:t>, and a </a:t>
            </a:r>
            <a:r>
              <a:rPr b="1"/>
              <a:t>2026 study</a:t>
            </a:r>
            <a:r>
              <a:t> that measured how well that place holds when the model uses tools.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previous section showed that a rule must run outside the agent's process, and that the </a:t>
            </a:r>
            <a:r>
              <a:rPr b="1"/>
              <a:t>kernel can see a local file read</a:t>
            </a:r>
            <a:r>
              <a:t>. </a:t>
            </a:r>
            <a:r>
              <a:rPr b="1"/>
              <a:t>NVIDIA OpenShell</a:t>
            </a:r>
            <a:r>
              <a:t> is a runtime that </a:t>
            </a:r>
            <a:r>
              <a:rPr b="1"/>
              <a:t>enforces a rule from there</a:t>
            </a:r>
            <a:r>
              <a:t> for an </a:t>
            </a:r>
            <a:r>
              <a:rPr b="1"/>
              <a:t>unmodified agent</a:t>
            </a:r>
            <a:r>
              <a:t>. This section describes OpenShell, </a:t>
            </a:r>
            <a:r>
              <a:rPr b="1"/>
              <a:t>what it covers</a:t>
            </a:r>
            <a:r>
              <a:t> and </a:t>
            </a:r>
            <a:r>
              <a:rPr b="1"/>
              <a:t>what it leaves out</a:t>
            </a:r>
            <a:r>
              <a:t>, then the </a:t>
            </a:r>
            <a:r>
              <a:rPr b="1"/>
              <a:t>research on the mechanisms</a:t>
            </a:r>
            <a:r>
              <a:t> beneath it.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endParaRPr/>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endParaRPr/>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endParaRPr/>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endParaRPr/>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endParaRPr/>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Cyberbird's policy one block at a time and watch what each block grants. The text is the policy of the run we recorded on October 15, 2026, instructor-materials/hw2/feasibility/cyberbird-policy.yaml, with its two lists wrapped to fit and its three comment lines left out; the comments say why the host is host.lima.internal: OpenShell 0.1.4 on Colima refuses host.docker.internal at policy DNS, and an IP literal is refused for protocol tcp. On the right, the files the workload can touch and the connections it can open, with the outcomes captured inside the sandbox that evening (probes.txt and logs.txt).</a:t>
            </a:r>
          </a:p>
          <a:p/>
          <a:p>
            <a:r>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/app/fixtures/owasp-benchmark-python/ground-truth/expectedresults-0.1.csv, were both readable; only Cyberbird's own workspace code kept them out of the agent's copy, and the HW2 policy lists the target's code directories instead. A grant covers everything beneath its path, so /app/runs is readable from the first block and writable once read_write names it. protocol: tcp admits the connection with no request inspection, so the rule has no enforcement line; with --model anthropic:claude-opus-5 the rule would name api.anthropic.com port 443 with protocol: rest and enforcement: enforce, and the key would come through a provider attachment. The effective policy the supervisor loaded, openshell policy get cyberbird --full, is version 2: OpenShell added /var/log to read_only and the name model_server to the rule.</a:t>
            </a:r>
          </a:p>
          <a:p/>
          <a:p>
            <a:r>
              <a:t>The figure, stage by stage.</a:t>
            </a:r>
          </a:p>
          <a:p>
            <a:r>
              <a:t>1. The frame: the policy's version line, and the files and connections with nothing granted yet.</a:t>
            </a:r>
          </a:p>
          <a:p>
            <a:r>
              <a:t>2. filesystem_policy and its read_only list: everything under /bin, /usr, /lib, /etc, /proc, /dev/urandom and /app becomes readable, /app/runs included.</a:t>
            </a:r>
          </a:p>
          <a:p>
            <a:r>
              <a:t>3. read_write: /sandbox, /tmp, /dev/null and /app/runs become writable. Inside the sandbox a write into the fixture failed and writes into /app/runs and /tmp succeeded.</a:t>
            </a:r>
          </a:p>
          <a:p>
            <a:r>
              <a:t>4. landlock: the kernel holds both lists, and a path neither list names is refused: /home/agent and /var/lib/dpkg/status gave Permission denied. hard_requirement means a sandbox whose kernel cannot enforce the lists does not start; best_effort would continue with a finding.</a:t>
            </a:r>
          </a:p>
          <a:p>
            <a:r>
              <a:t>5. network_policies: one endpoint, the model server at host.lima.internal port 8080, TCP, behind the trusted supervisor.</a:t>
            </a:r>
          </a:p>
          <a:p>
            <a:r>
              <a:t>6. binaries: only /usr/local/bin/python3.12 may use it. The log read NET:OPEN ALLOWED /usr/local/bin/python3.12 -&gt; host.lima.internal:8080 [policy:model_server].</a:t>
            </a:r>
          </a:p>
          <a:p>
            <a:r>
              <a:t>7. What the rule leaves out: curl to the same server was denied, "binary '/usr/bin/curl' not allowed in policy 'model_server'", and python3.12 to pypi.org:443 was denied, "endpoint pypi.org:443 is not allowed by any policy". A rule admits a binary together with a destination.</a:t>
            </a:r>
          </a:p>
          <a:p>
            <a:r>
              <a:t>8. The answer key sits under /app, so the read list grants it: the probe printed its first 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slide" Target="slide49.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slide" Target="slide49.xml"/><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slide" Target="slide49.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slide" Target="slide49.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slide" Target="slide67.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slide" Target="slide67.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slide" Target="slide67.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slide" Target="slide67.xml"/><Relationship Id="rId4"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slide" Target="slide67.xml"/><Relationship Id="rId4"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slide" Target="slide67.xml"/><Relationship Id="rId4" Type="http://schemas.openxmlformats.org/officeDocument/2006/relationships/image" Target="../media/image3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slide" Target="slide67.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slide" Target="slide67.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slide" Target="slide67.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slide" Target="slide67.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slide" Target="slide67.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slide" Target="slide67.xml"/><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slide" Target="slide67.xml"/><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4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4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4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4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4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4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4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5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5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 Id="rId3" Type="http://schemas.openxmlformats.org/officeDocument/2006/relationships/image" Target="../media/image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5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image" Target="../media/image5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5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5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56.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image" Target="../media/image5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5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5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59.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6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image" Target="../media/image6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6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image" Target="../media/image6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image" Target="../media/image6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image" Target="../media/image65.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image" Target="../media/image6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image" Target="../media/image6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6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image" Target="../media/image68.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 Id="rId3" Type="http://schemas.openxmlformats.org/officeDocument/2006/relationships/image" Target="../media/image69.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 Id="rId3" Type="http://schemas.openxmlformats.org/officeDocument/2006/relationships/image" Target="../media/image70.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7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 Id="rId3" Type="http://schemas.openxmlformats.org/officeDocument/2006/relationships/image" Target="../media/image7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 Id="rId3" Type="http://schemas.openxmlformats.org/officeDocument/2006/relationships/image" Target="../media/image7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 Id="rId3" Type="http://schemas.openxmlformats.org/officeDocument/2006/relationships/image" Target="../media/image7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 Id="rId3" Type="http://schemas.openxmlformats.org/officeDocument/2006/relationships/image" Target="../media/image7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 Id="rId3" Type="http://schemas.openxmlformats.org/officeDocument/2006/relationships/image" Target="../media/image7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image" Target="../media/image7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76.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 Id="rId3" Type="http://schemas.openxmlformats.org/officeDocument/2006/relationships/image" Target="../media/image77.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 Id="rId3" Type="http://schemas.openxmlformats.org/officeDocument/2006/relationships/image" Target="../media/image7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image" Target="../media/image7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image" Target="../media/image80.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image" Target="../media/image80.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image" Target="../media/image8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8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 Id="rId3" Type="http://schemas.openxmlformats.org/officeDocument/2006/relationships/image" Target="../media/image8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image" Target="../media/image8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image" Target="../media/image8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85.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 Id="rId3" Type="http://schemas.openxmlformats.org/officeDocument/2006/relationships/image" Target="../media/image86.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 Id="rId3" Type="http://schemas.openxmlformats.org/officeDocument/2006/relationships/image" Target="../media/image86.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 Id="rId3" Type="http://schemas.openxmlformats.org/officeDocument/2006/relationships/image" Target="../media/image117.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 Id="rId3" Type="http://schemas.openxmlformats.org/officeDocument/2006/relationships/image" Target="../media/image118.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 Id="rId3" Type="http://schemas.openxmlformats.org/officeDocument/2006/relationships/image" Target="../media/image11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120.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 Id="rId3" Type="http://schemas.openxmlformats.org/officeDocument/2006/relationships/image" Target="../media/image8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 Id="rId3" Type="http://schemas.openxmlformats.org/officeDocument/2006/relationships/image" Target="../media/image8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 Id="rId3" Type="http://schemas.openxmlformats.org/officeDocument/2006/relationships/image" Target="../media/image8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9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 Id="rId3" Type="http://schemas.openxmlformats.org/officeDocument/2006/relationships/image" Target="../media/image90.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 Id="rId3" Type="http://schemas.openxmlformats.org/officeDocument/2006/relationships/image" Target="../media/image9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 Id="rId3" Type="http://schemas.openxmlformats.org/officeDocument/2006/relationships/image" Target="../media/image9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 Id="rId3" Type="http://schemas.openxmlformats.org/officeDocument/2006/relationships/image" Target="../media/image9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 Id="rId3" Type="http://schemas.openxmlformats.org/officeDocument/2006/relationships/image" Target="../media/image9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 Id="rId3" Type="http://schemas.openxmlformats.org/officeDocument/2006/relationships/image" Target="../media/image94.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9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image" Target="../media/image94.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 Id="rId3" Type="http://schemas.openxmlformats.org/officeDocument/2006/relationships/image" Target="../media/image9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 Id="rId3" Type="http://schemas.openxmlformats.org/officeDocument/2006/relationships/image" Target="../media/image9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image" Target="../media/image9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 Id="rId3" Type="http://schemas.openxmlformats.org/officeDocument/2006/relationships/image" Target="../media/image98.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 Id="rId3" Type="http://schemas.openxmlformats.org/officeDocument/2006/relationships/image" Target="../media/image9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 Id="rId3" Type="http://schemas.openxmlformats.org/officeDocument/2006/relationships/image" Target="../media/image9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 Id="rId3" Type="http://schemas.openxmlformats.org/officeDocument/2006/relationships/image" Target="../media/image9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00.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00.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00.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0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 Id="rId3" Type="http://schemas.openxmlformats.org/officeDocument/2006/relationships/image" Target="../media/image10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 Id="rId3" Type="http://schemas.openxmlformats.org/officeDocument/2006/relationships/image" Target="../media/image10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 Id="rId3" Type="http://schemas.openxmlformats.org/officeDocument/2006/relationships/image" Target="../media/image10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 Id="rId3" Type="http://schemas.openxmlformats.org/officeDocument/2006/relationships/image" Target="../media/image10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 Id="rId3" Type="http://schemas.openxmlformats.org/officeDocument/2006/relationships/image" Target="../media/image104.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image" Target="../media/image10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slide" Target="slide176.xml"/><Relationship Id="rId4" Type="http://schemas.openxmlformats.org/officeDocument/2006/relationships/image" Target="../media/image105.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slide" Target="slide176.xml"/><Relationship Id="rId4" Type="http://schemas.openxmlformats.org/officeDocument/2006/relationships/image" Target="../media/image106.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 Id="rId3" Type="http://schemas.openxmlformats.org/officeDocument/2006/relationships/slide" Target="slide176.xml"/><Relationship Id="rId4" Type="http://schemas.openxmlformats.org/officeDocument/2006/relationships/image" Target="../media/image107.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 Id="rId3" Type="http://schemas.openxmlformats.org/officeDocument/2006/relationships/slide" Target="slide176.xml"/><Relationship Id="rId4" Type="http://schemas.openxmlformats.org/officeDocument/2006/relationships/image" Target="../media/image108.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slide" Target="slide176.xml"/><Relationship Id="rId4" Type="http://schemas.openxmlformats.org/officeDocument/2006/relationships/image" Target="../media/image10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slide" Target="slide176.xml"/><Relationship Id="rId4" Type="http://schemas.openxmlformats.org/officeDocument/2006/relationships/image" Target="../media/image108.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109.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110.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1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 Id="rId3" Type="http://schemas.openxmlformats.org/officeDocument/2006/relationships/image" Target="../media/image11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 Id="rId3" Type="http://schemas.openxmlformats.org/officeDocument/2006/relationships/image" Target="../media/image1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 Id="rId3" Type="http://schemas.openxmlformats.org/officeDocument/2006/relationships/image" Target="../media/image11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 Id="rId3" Type="http://schemas.openxmlformats.org/officeDocument/2006/relationships/image" Target="../media/image114.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 Id="rId3" Type="http://schemas.openxmlformats.org/officeDocument/2006/relationships/image" Target="../media/image11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 Id="rId3" Type="http://schemas.openxmlformats.org/officeDocument/2006/relationships/image" Target="../media/image115.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116.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116.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 Id="rId3" Type="http://schemas.openxmlformats.org/officeDocument/2006/relationships/slide" Target="slide3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 Id="rId3" Type="http://schemas.openxmlformats.org/officeDocument/2006/relationships/slide" Target="slide3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 Id="rId3" Type="http://schemas.openxmlformats.org/officeDocument/2006/relationships/slide" Target="slide3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 Id="rId3" Type="http://schemas.openxmlformats.org/officeDocument/2006/relationships/slide" Target="slide3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 Id="rId3" Type="http://schemas.openxmlformats.org/officeDocument/2006/relationships/slide" Target="slide3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 Id="rId3" Type="http://schemas.openxmlformats.org/officeDocument/2006/relationships/slide" Target="slide3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 Id="rId3" Type="http://schemas.openxmlformats.org/officeDocument/2006/relationships/slide" Target="slide3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1.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3.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4.png"/><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4.png"/><Relationship Id="rId3" Type="http://schemas.openxmlformats.org/officeDocument/2006/relationships/notesSlide" Target="../notesSlides/notesSlide226.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Processes:</a:t>
            </a:r>
            <a:r>
              <a:rPr lang="en-US" sz="1200" b="0">
                <a:solidFill>
                  <a:srgbClr val="FFFFFF">
                    <a:alpha val="0"/>
                  </a:srgbClr>
                </a:solidFill>
              </a:rPr>
              <a:t> each shell, interpreter or scanner it starts has its authority.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the kernel enforces holds whatever the model chooses.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6"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3.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4.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5.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6.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7.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8.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9.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0.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keys and the network decisions stay outside the agent's workload.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Create:</a:t>
            </a:r>
            <a:r>
              <a:rPr lang="en-US" sz="1100" b="0">
                <a:solidFill>
                  <a:srgbClr val="FFFFFF">
                    <a:alpha val="0"/>
                  </a:srgbClr>
                </a:solidFill>
              </a:rPr>
              <a:t> </a:t>
            </a:r>
            <a:r>
              <a:rPr lang="en-US" sz="1100" b="0">
                <a:solidFill>
                  <a:srgbClr val="FFFFFF">
                    <a:alpha val="0"/>
                  </a:srgbClr>
                </a:solidFill>
                <a:latin typeface="Aptos Mono"/>
              </a:rPr>
              <a:t>--from</a:t>
            </a:r>
            <a:r>
              <a:rPr lang="en-US" sz="1100" b="0">
                <a:solidFill>
                  <a:srgbClr val="FFFFFF">
                    <a:alpha val="0"/>
                  </a:srgbClr>
                </a:solidFill>
              </a:rPr>
              <a:t> names the image and </a:t>
            </a:r>
            <a:r>
              <a:rPr lang="en-US" sz="1100" b="0">
                <a:solidFill>
                  <a:srgbClr val="FFFFFF">
                    <a:alpha val="0"/>
                  </a:srgbClr>
                </a:solidFill>
                <a:latin typeface="Aptos Mono"/>
              </a:rPr>
              <a:t>--policy</a:t>
            </a:r>
            <a:r>
              <a:rPr lang="en-US" sz="1100" b="0">
                <a:solidFill>
                  <a:srgbClr val="FFFFFF">
                    <a:alpha val="0"/>
                  </a:srgbClr>
                </a:solidFill>
              </a:rPr>
              <a:t> the policy file.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1.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2.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3"/>
          <a:stretch>
            <a:fillRect/>
          </a:stretch>
        </p:blipFill>
        <p:spPr>
          <a:xfrm>
            <a:off x="320040" y="1445035"/>
            <a:ext cx="6016752" cy="2149660"/>
          </a:xfrm>
          <a:prstGeom prst="rect">
            <a:avLst/>
          </a:prstGeom>
        </p:spPr>
      </p:pic>
      <p:sp>
        <p:nvSpPr>
          <p:cNvPr id="5"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Create asks the gateway for a sandbox, and exec runs a command inside it.</a:t>
            </a:r>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What and which:</a:t>
            </a:r>
            <a:r>
              <a:rPr lang="en-US" sz="1200" b="0">
                <a:solidFill>
                  <a:srgbClr val="FFFFFF">
                    <a:alpha val="0"/>
                  </a:srgbClr>
                </a:solidFill>
              </a:rPr>
              <a:t> the method's permission, then the workspace and object.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Who:</a:t>
            </a:r>
            <a:r>
              <a:rPr lang="en-US" sz="1200" b="0" dirty="0">
                <a:solidFill>
                  <a:srgbClr val="000000"/>
                </a:solidFill>
              </a:rPr>
              <a:t> a user's token or client key, or a supervisor's own credential.</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What and which:</a:t>
            </a:r>
            <a:r>
              <a:rPr lang="en-US" sz="1200" b="0" dirty="0">
                <a:solidFill>
                  <a:srgbClr val="000000"/>
                </a:solidFill>
              </a:rPr>
              <a:t> the method's permission, then the workspace and object.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store</a:t>
            </a:r>
            <a:r>
              <a:rPr lang="en-US" sz="1200" b="0" dirty="0">
                <a:solidFill>
                  <a:srgbClr val="000000"/>
                </a:solidFill>
              </a:rPr>
              <a:t> writes a record only if its version is still the one read.</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a:t>
            </a:r>
            <a:r>
              <a:rPr lang="en-US" sz="1200" b="1" dirty="0" err="1">
                <a:solidFill>
                  <a:srgbClr val="000000"/>
                </a:solidFill>
              </a:rPr>
              <a:t>Cyberbird's</a:t>
            </a:r>
            <a:r>
              <a:rPr lang="en-US" sz="1200" b="1" dirty="0">
                <a:solidFill>
                  <a:srgbClr val="000000"/>
                </a:solidFill>
              </a:rPr>
              <a:t> case,</a:t>
            </a:r>
            <a:r>
              <a:rPr lang="en-US" sz="1200" b="0" dirty="0">
                <a:solidFill>
                  <a:srgbClr val="000000"/>
                </a:solidFill>
              </a:rPr>
              <a:t> our client key created </a:t>
            </a:r>
            <a:r>
              <a:rPr lang="en-US" sz="1200" b="0" dirty="0" err="1">
                <a:solidFill>
                  <a:srgbClr val="000000"/>
                </a:solidFill>
                <a:latin typeface="Aptos Mono"/>
              </a:rPr>
              <a:t>cyberbird</a:t>
            </a:r>
            <a:r>
              <a:rPr lang="en-US" sz="1200" b="0" dirty="0">
                <a:solidFill>
                  <a:srgbClr val="000000"/>
                </a:solidFill>
              </a:rPr>
              <a:t> in </a:t>
            </a:r>
            <a:r>
              <a:rPr lang="en-US" sz="1200" b="0" dirty="0">
                <a:solidFill>
                  <a:srgbClr val="000000"/>
                </a:solidFill>
                <a:latin typeface="Aptos Mono"/>
              </a:rPr>
              <a:t>default</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our client key created </a:t>
            </a:r>
            <a:r>
              <a:rPr lang="en-US" sz="1200" b="0">
                <a:solidFill>
                  <a:srgbClr val="000000"/>
                </a:solidFill>
                <a:latin typeface="Aptos Mono"/>
              </a:rPr>
              <a:t>cyberbird</a:t>
            </a:r>
            <a:r>
              <a:rPr lang="en-US" sz="1200" b="0">
                <a:solidFill>
                  <a:srgbClr val="000000"/>
                </a:solidFill>
              </a:rPr>
              <a:t> in </a:t>
            </a:r>
            <a:r>
              <a:rPr lang="en-US" sz="1200" b="0">
                <a:solidFill>
                  <a:srgbClr val="000000"/>
                </a:solidFill>
                <a:latin typeface="Aptos Mono"/>
              </a:rPr>
              <a:t>default</a:t>
            </a:r>
            <a:r>
              <a:rPr lang="en-US" sz="1200" b="0">
                <a:solidFill>
                  <a:srgbClr val="000000"/>
                </a:solidFill>
              </a:rPr>
              <a: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checks caller, method and object before a conditional write.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6"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1.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2.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3.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Rectangle 4"/>
          <p:cNvSpPr/>
          <p:nvPr/>
        </p:nvSpPr>
        <p:spPr bwMode="auto">
          <a:xfrm>
            <a:off x="320040" y="436286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fences are in the kernel before the agent's first instruction runs.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6"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 rules are fixed at the start, and network rules can change live.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list grants </a:t>
            </a:r>
            <a:r>
              <a:rPr lang="en-US" sz="1200" b="0">
                <a:solidFill>
                  <a:srgbClr val="FFFFFF">
                    <a:alpha val="0"/>
                  </a:srgbClr>
                </a:solidFill>
                <a:latin typeface="Aptos Mono"/>
              </a:rPr>
              <a:t>/app</a:t>
            </a:r>
            <a:r>
              <a:rPr lang="en-US" sz="1200" b="1">
                <a:solidFill>
                  <a:srgbClr val="FFFFFF">
                    <a:alpha val="0"/>
                  </a:srgbClr>
                </a:solidFill>
              </a:rPr>
              <a:t>,</a:t>
            </a:r>
            <a:r>
              <a:rPr lang="en-US" sz="1200" b="0">
                <a:solidFill>
                  <a:srgbClr val="FFFFFF">
                    <a:alpha val="0"/>
                  </a:srgbClr>
                </a:solidFill>
              </a:rPr>
              <a:t> so every case and the answer key stay readable.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1.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2.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3.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4.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request</a:t>
            </a:r>
            <a:r>
              <a:rPr lang="en-US" sz="1200" b="0">
                <a:solidFill>
                  <a:srgbClr val="FFFFFF">
                    <a:alpha val="0"/>
                  </a:srgbClr>
                </a:solidFill>
              </a:rPr>
              <a:t> then meets its rule, its credential binding and middleware.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1.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2.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3.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Audit, the default, logs a request-rule violation and lets the request through.</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6"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admits it</a:t>
            </a:r>
            <a:r>
              <a:rPr lang="en-US" sz="1200" b="0">
                <a:solidFill>
                  <a:srgbClr val="FFFFFF">
                    <a:alpha val="0"/>
                  </a:srgbClr>
                </a:solidFill>
              </a:rPr>
              <a:t> by host, port, binary and policy generation.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1.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2.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3.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hop can stop a request, so each hop is a place to diagnose.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6"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sees a placeholder, and the supervisor holds the real key.</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6"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gateway validates</a:t>
            </a:r>
            <a:r>
              <a:rPr lang="en-US" sz="1200" b="0">
                <a:solidFill>
                  <a:srgbClr val="FFFFFF">
                    <a:alpha val="0"/>
                  </a:srgbClr>
                </a:solidFill>
              </a:rPr>
              <a:t> the candidate, and the prover reports new findings.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1.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2.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3.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Rectangle 4"/>
          <p:cNvSpPr/>
          <p:nvPr/>
        </p:nvSpPr>
        <p:spPr bwMode="auto">
          <a:xfrm>
            <a:off x="320040" y="429234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proposal adds network rules and leaves file and identity rules alone.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6"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1.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2.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3.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Diagnosis starts from the evidence of the boundary that failed.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1.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2.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3.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4.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5.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must check what the model reads, since OpenShell cannot.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6"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4.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pic>
        <p:nvPicPr>
          <p:cNvPr id="4"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sp>
        <p:nvSpPr>
          <p:cNvPr id="4"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Logs show each decision, and policy get shows the policy behind it.</a:t>
            </a:r>
            <a:endParaRPr/>
          </a:p>
        </p:txBody>
      </p:sp>
      <p:pic>
        <p:nvPicPr>
          <p:cNvPr id="5"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State records, routing and termination;</a:t>
            </a:r>
            <a:r>
              <a:rPr lang="en-US" sz="1200" b="0">
                <a:solidFill>
                  <a:srgbClr val="FFFFFF">
                    <a:alpha val="0"/>
                  </a:srgbClr>
                </a:solidFill>
              </a:rPr>
              <a:t> token accounting and admission.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5.png"/>
          <p:cNvPicPr>
            <a:picLocks noChangeAspect="1"/>
          </p:cNvPicPr>
          <p:nvPr/>
        </p:nvPicPr>
        <p:blipFill>
          <a:blip r:embed="rId2"/>
          <a:stretch>
            <a:fillRect/>
          </a:stretch>
        </p:blipFill>
        <p:spPr>
          <a:xfrm>
            <a:off x="320040" y="1445035"/>
            <a:ext cx="6016752" cy="2654562"/>
          </a:xfrm>
          <a:prstGeom prst="rect">
            <a:avLst/>
          </a:prstGeom>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6.png"/>
          <p:cNvPicPr>
            <a:picLocks noChangeAspect="1"/>
          </p:cNvPicPr>
          <p:nvPr/>
        </p:nvPicPr>
        <p:blipFill>
          <a:blip r:embed="rId2"/>
          <a:stretch>
            <a:fillRect/>
          </a:stretch>
        </p:blipFill>
        <p:spPr>
          <a:xfrm>
            <a:off x="320040" y="1445035"/>
            <a:ext cx="6016752" cy="2654562"/>
          </a:xfrm>
          <a:prstGeom prst="rect">
            <a:avLst/>
          </a:prstGeom>
        </p:spPr>
      </p:pic>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7.png"/>
          <p:cNvPicPr>
            <a:picLocks noChangeAspect="1"/>
          </p:cNvPicPr>
          <p:nvPr/>
        </p:nvPicPr>
        <p:blipFill>
          <a:blip r:embed="rId2"/>
          <a:stretch>
            <a:fillRect/>
          </a:stretch>
        </p:blipFill>
        <p:spPr>
          <a:xfrm>
            <a:off x="320040" y="1445035"/>
            <a:ext cx="6016752" cy="2654562"/>
          </a:xfrm>
          <a:prstGeom prst="rect">
            <a:avLst/>
          </a:prstGeom>
        </p:spPr>
      </p:pic>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8.png"/>
          <p:cNvPicPr>
            <a:picLocks noChangeAspect="1"/>
          </p:cNvPicPr>
          <p:nvPr/>
        </p:nvPicPr>
        <p:blipFill>
          <a:blip r:embed="rId2"/>
          <a:stretch>
            <a:fillRect/>
          </a:stretch>
        </p:blipFill>
        <p:spPr>
          <a:xfrm>
            <a:off x="320040" y="1445035"/>
            <a:ext cx="6016752" cy="2654562"/>
          </a:xfrm>
          <a:prstGeom prst="rect">
            <a:avLst/>
          </a:prstGeom>
        </p:spPr>
      </p:pic>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Rectangle 4"/>
          <p:cNvSpPr/>
          <p:nvPr/>
        </p:nvSpPr>
        <p:spPr bwMode="auto">
          <a:xfrm>
            <a:off x="320040" y="435097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grant covers everything beneath its path, the answer key included.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8.png"/>
          <p:cNvPicPr>
            <a:picLocks noChangeAspect="1"/>
          </p:cNvPicPr>
          <p:nvPr/>
        </p:nvPicPr>
        <p:blipFill>
          <a:blip r:embed="rId2"/>
          <a:stretch>
            <a:fillRect/>
          </a:stretch>
        </p:blipFill>
        <p:spPr>
          <a:xfrm>
            <a:off x="320040" y="1445035"/>
            <a:ext cx="6016752" cy="2654562"/>
          </a:xfrm>
          <a:prstGeom prst="rect">
            <a:avLst/>
          </a:prstGeom>
        </p:spPr>
      </p:pic>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1605</TotalTime>
  <Words>89159</Words>
  <Application>Microsoft Macintosh PowerPoint</Application>
  <PresentationFormat>Custom</PresentationFormat>
  <Paragraphs>2887</Paragraphs>
  <Slides>221</Slides>
  <Notes>221</Notes>
  <HiddenSlides>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221</vt:i4>
      </vt:variant>
    </vt:vector>
  </HeadingPairs>
  <TitlesOfParts>
    <vt:vector size="225" baseType="lpstr">
      <vt:lpstr>Arial</vt:lpstr>
      <vt:lpstr>Aptos</vt:lpstr>
      <vt:lpstr>Aptos Mono</vt:lpstr>
      <vt:lpstr>Simple Light</vt:lpstr>
      <vt:lpstr>Designing Production Agentic Systems</vt:lpstr>
      <vt:lpstr>PowerPoint Presentation</vt:lpstr>
      <vt:lpstr>MCP client–server connection model[1]</vt:lpstr>
      <vt:lpstr>MCP client–server connection model[1]</vt:lpstr>
      <vt:lpstr>MCP client–server connection model[1]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An agent works through the kernel.[1]</vt:lpstr>
      <vt:lpstr>An agent works through the kernel.[1]</vt:lpstr>
      <vt:lpstr>An agent works through the kernel.[1]</vt:lpstr>
      <vt:lpstr>An agent works through the kernel.[1]</vt:lpstr>
      <vt:lpstr>An agent works through the kernel.[1]</vt:lpstr>
      <vt:lpstr>An agent works through the kernel.[1]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Create and exec are requests to the gateway.</vt:lpstr>
      <vt:lpstr>Create and exec are requests to the gateway.</vt:lpstr>
      <vt:lpstr>Create and exec are requests to the gateway.</vt:lpstr>
      <vt:lpstr>Create and exec are requests to the gateway.</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Cyberbird's policy, line by line[1]</vt:lpstr>
      <vt:lpstr>Cyberbird's policy, line by line[1]</vt:lpstr>
      <vt:lpstr>Cyberbird's policy, line by line[1]</vt:lpstr>
      <vt:lpstr>Cyberbird's policy, line by line[1]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Real credentials never enter the sandbox.</vt:lpstr>
      <vt:lpstr>Real credentials never enter the sandbox.</vt:lpstr>
      <vt:lpstr>Real credentials never enter the sandbox.</vt:lpstr>
      <vt:lpstr>Real credentials never enter the sandbox.</vt:lpstr>
      <vt:lpstr>A denied request becomes a proposal.[1]</vt:lpstr>
      <vt:lpstr>A denied request becomes a proposal.[1]</vt:lpstr>
      <vt:lpstr>A denied request becomes a proposal.[1]</vt:lpstr>
      <vt:lpstr>A denied request becomes a proposal.[1]</vt:lpstr>
      <vt:lpstr>A denied request becomes a proposal.[1]</vt:lpstr>
      <vt:lpstr>A denied request becomes a proposal.[1]</vt:lpstr>
      <vt:lpstr>Diagnose by the boundary that failed.[1]</vt:lpstr>
      <vt:lpstr>Diagnose by the boundary that failed.[1]</vt:lpstr>
      <vt:lpstr>Diagnose by the boundary that failed.[1]</vt:lpstr>
      <vt:lpstr>Diagnose by the boundary that failed.[1]</vt:lpstr>
      <vt:lpstr>Diagnose by the boundary that failed.[1]</vt:lpstr>
      <vt:lpstr>Diagnose by the boundary that failed.[1]</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Logs and policy get show OpenShell's decisions.</vt:lpstr>
      <vt:lpstr>Logs and policy get show OpenShell's decisions.</vt:lpstr>
      <vt:lpstr>Logs and policy get show OpenShell's decisions.</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What the midterm covers</vt:lpstr>
      <vt:lpstr>What the midterm covers</vt:lpstr>
      <vt:lpstr>What the midterm covers</vt:lpstr>
      <vt:lpstr>What the midterm covers</vt:lpstr>
      <vt:lpstr>What the midterm covers</vt:lpstr>
      <vt:lpstr>What the midterm covers</vt:lpstr>
      <vt:lpstr>Next Friday is the midterm.</vt:lpstr>
      <vt:lpstr>Next Friday is the midterm.</vt:lpstr>
      <vt:lpstr>Next Friday is the midterm.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229</cp:revision>
  <dcterms:modified xsi:type="dcterms:W3CDTF">2026-10-16T16:08:16Z</dcterms:modified>
</cp:coreProperties>
</file>
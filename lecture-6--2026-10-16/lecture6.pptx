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24"/>
  </p:notesMasterIdLst>
  <p:sldIdLst>
    <p:sldId id="814" r:id="rId2"/>
    <p:sldId id="815" r:id="rId3"/>
    <p:sldId id="816" r:id="rId4"/>
    <p:sldId id="817" r:id="rId5"/>
    <p:sldId id="818" r:id="rId6"/>
    <p:sldId id="819" r:id="rId7"/>
    <p:sldId id="820" r:id="rId8"/>
    <p:sldId id="821" r:id="rId9"/>
    <p:sldId id="822" r:id="rId10"/>
    <p:sldId id="823" r:id="rId11"/>
    <p:sldId id="824" r:id="rId12"/>
    <p:sldId id="825" r:id="rId13"/>
    <p:sldId id="826" r:id="rId14"/>
    <p:sldId id="827" r:id="rId15"/>
    <p:sldId id="828" r:id="rId16"/>
    <p:sldId id="829" r:id="rId17"/>
    <p:sldId id="830" r:id="rId18"/>
    <p:sldId id="831" r:id="rId19"/>
    <p:sldId id="832" r:id="rId20"/>
    <p:sldId id="833" r:id="rId21"/>
    <p:sldId id="834" r:id="rId22"/>
    <p:sldId id="835" r:id="rId23"/>
    <p:sldId id="672" r:id="rId24"/>
    <p:sldId id="674" r:id="rId25"/>
    <p:sldId id="675" r:id="rId26"/>
    <p:sldId id="676" r:id="rId27"/>
    <p:sldId id="677" r:id="rId28"/>
    <p:sldId id="673" r:id="rId29"/>
    <p:sldId id="679" r:id="rId30"/>
    <p:sldId id="680" r:id="rId31"/>
    <p:sldId id="681" r:id="rId32"/>
    <p:sldId id="678" r:id="rId33"/>
    <p:sldId id="683" r:id="rId34"/>
    <p:sldId id="684" r:id="rId35"/>
    <p:sldId id="685" r:id="rId36"/>
    <p:sldId id="686" r:id="rId37"/>
    <p:sldId id="687" r:id="rId38"/>
    <p:sldId id="682" r:id="rId39"/>
    <p:sldId id="689" r:id="rId40"/>
    <p:sldId id="690" r:id="rId41"/>
    <p:sldId id="691" r:id="rId42"/>
    <p:sldId id="692" r:id="rId43"/>
    <p:sldId id="693" r:id="rId44"/>
    <p:sldId id="688" r:id="rId45"/>
    <p:sldId id="695" r:id="rId46"/>
    <p:sldId id="696" r:id="rId47"/>
    <p:sldId id="697" r:id="rId48"/>
    <p:sldId id="694" r:id="rId49"/>
    <p:sldId id="699" r:id="rId50"/>
    <p:sldId id="700" r:id="rId51"/>
    <p:sldId id="701" r:id="rId52"/>
    <p:sldId id="702" r:id="rId53"/>
    <p:sldId id="698" r:id="rId54"/>
    <p:sldId id="704" r:id="rId55"/>
    <p:sldId id="705" r:id="rId56"/>
    <p:sldId id="706" r:id="rId57"/>
    <p:sldId id="707" r:id="rId58"/>
    <p:sldId id="703" r:id="rId59"/>
    <p:sldId id="709" r:id="rId60"/>
    <p:sldId id="710" r:id="rId61"/>
    <p:sldId id="711" r:id="rId62"/>
    <p:sldId id="712" r:id="rId63"/>
    <p:sldId id="708" r:id="rId64"/>
    <p:sldId id="714" r:id="rId65"/>
    <p:sldId id="715" r:id="rId66"/>
    <p:sldId id="713" r:id="rId67"/>
    <p:sldId id="717" r:id="rId68"/>
    <p:sldId id="718" r:id="rId69"/>
    <p:sldId id="719" r:id="rId70"/>
    <p:sldId id="720" r:id="rId71"/>
    <p:sldId id="716" r:id="rId72"/>
    <p:sldId id="722" r:id="rId73"/>
    <p:sldId id="723" r:id="rId74"/>
    <p:sldId id="724" r:id="rId75"/>
    <p:sldId id="725" r:id="rId76"/>
    <p:sldId id="721" r:id="rId77"/>
    <p:sldId id="727" r:id="rId78"/>
    <p:sldId id="728" r:id="rId79"/>
    <p:sldId id="729" r:id="rId80"/>
    <p:sldId id="730" r:id="rId81"/>
    <p:sldId id="726" r:id="rId82"/>
    <p:sldId id="732" r:id="rId83"/>
    <p:sldId id="733" r:id="rId84"/>
    <p:sldId id="734" r:id="rId85"/>
    <p:sldId id="735" r:id="rId86"/>
    <p:sldId id="736" r:id="rId87"/>
    <p:sldId id="737" r:id="rId88"/>
    <p:sldId id="731" r:id="rId89"/>
    <p:sldId id="739" r:id="rId90"/>
    <p:sldId id="741" r:id="rId91"/>
    <p:sldId id="742" r:id="rId92"/>
    <p:sldId id="743" r:id="rId93"/>
    <p:sldId id="744" r:id="rId94"/>
    <p:sldId id="740" r:id="rId95"/>
    <p:sldId id="842" r:id="rId96"/>
    <p:sldId id="843" r:id="rId97"/>
    <p:sldId id="844" r:id="rId98"/>
    <p:sldId id="845" r:id="rId99"/>
    <p:sldId id="846" r:id="rId100"/>
    <p:sldId id="847" r:id="rId101"/>
    <p:sldId id="848" r:id="rId102"/>
    <p:sldId id="849" r:id="rId103"/>
    <p:sldId id="850" r:id="rId104"/>
    <p:sldId id="851" r:id="rId105"/>
    <p:sldId id="852" r:id="rId106"/>
    <p:sldId id="853" r:id="rId107"/>
    <p:sldId id="854" r:id="rId108"/>
    <p:sldId id="855" r:id="rId109"/>
    <p:sldId id="856" r:id="rId110"/>
    <p:sldId id="857" r:id="rId111"/>
    <p:sldId id="858" r:id="rId112"/>
    <p:sldId id="859" r:id="rId113"/>
    <p:sldId id="860" r:id="rId114"/>
    <p:sldId id="861" r:id="rId115"/>
    <p:sldId id="862" r:id="rId116"/>
    <p:sldId id="863" r:id="rId117"/>
    <p:sldId id="864" r:id="rId118"/>
    <p:sldId id="865" r:id="rId119"/>
    <p:sldId id="866" r:id="rId120"/>
    <p:sldId id="867" r:id="rId121"/>
    <p:sldId id="868" r:id="rId122"/>
    <p:sldId id="869" r:id="rId123"/>
    <p:sldId id="870" r:id="rId124"/>
    <p:sldId id="871" r:id="rId125"/>
    <p:sldId id="872" r:id="rId126"/>
    <p:sldId id="873" r:id="rId127"/>
    <p:sldId id="874" r:id="rId128"/>
    <p:sldId id="875" r:id="rId129"/>
    <p:sldId id="876" r:id="rId130"/>
    <p:sldId id="877" r:id="rId131"/>
    <p:sldId id="878" r:id="rId132"/>
    <p:sldId id="879" r:id="rId133"/>
    <p:sldId id="880" r:id="rId134"/>
    <p:sldId id="881" r:id="rId135"/>
    <p:sldId id="882" r:id="rId136"/>
    <p:sldId id="883" r:id="rId137"/>
    <p:sldId id="884" r:id="rId138"/>
    <p:sldId id="885" r:id="rId139"/>
    <p:sldId id="886" r:id="rId140"/>
    <p:sldId id="887" r:id="rId141"/>
    <p:sldId id="888" r:id="rId142"/>
    <p:sldId id="889" r:id="rId143"/>
    <p:sldId id="890" r:id="rId144"/>
    <p:sldId id="891" r:id="rId145"/>
    <p:sldId id="892" r:id="rId146"/>
    <p:sldId id="893" r:id="rId147"/>
    <p:sldId id="894" r:id="rId148"/>
    <p:sldId id="895" r:id="rId149"/>
    <p:sldId id="896" r:id="rId150"/>
    <p:sldId id="897" r:id="rId151"/>
    <p:sldId id="898" r:id="rId152"/>
    <p:sldId id="899" r:id="rId153"/>
    <p:sldId id="900" r:id="rId154"/>
    <p:sldId id="901" r:id="rId155"/>
    <p:sldId id="902" r:id="rId156"/>
    <p:sldId id="903" r:id="rId157"/>
    <p:sldId id="904" r:id="rId158"/>
    <p:sldId id="756" r:id="rId159"/>
    <p:sldId id="757" r:id="rId160"/>
    <p:sldId id="758" r:id="rId161"/>
    <p:sldId id="755" r:id="rId162"/>
    <p:sldId id="905" r:id="rId163"/>
    <p:sldId id="906" r:id="rId164"/>
    <p:sldId id="907" r:id="rId165"/>
    <p:sldId id="908" r:id="rId166"/>
    <p:sldId id="909" r:id="rId167"/>
    <p:sldId id="910" r:id="rId168"/>
    <p:sldId id="911" r:id="rId169"/>
    <p:sldId id="912" r:id="rId170"/>
    <p:sldId id="913" r:id="rId171"/>
    <p:sldId id="914" r:id="rId172"/>
    <p:sldId id="915" r:id="rId173"/>
    <p:sldId id="916" r:id="rId174"/>
    <p:sldId id="917" r:id="rId175"/>
    <p:sldId id="918" r:id="rId176"/>
    <p:sldId id="919" r:id="rId177"/>
    <p:sldId id="920" r:id="rId178"/>
    <p:sldId id="921" r:id="rId179"/>
    <p:sldId id="922" r:id="rId180"/>
    <p:sldId id="923" r:id="rId181"/>
    <p:sldId id="924" r:id="rId182"/>
    <p:sldId id="925" r:id="rId183"/>
    <p:sldId id="926" r:id="rId184"/>
    <p:sldId id="927" r:id="rId185"/>
    <p:sldId id="928" r:id="rId186"/>
    <p:sldId id="929" r:id="rId187"/>
    <p:sldId id="930" r:id="rId188"/>
    <p:sldId id="786" r:id="rId189"/>
    <p:sldId id="787" r:id="rId190"/>
    <p:sldId id="788" r:id="rId191"/>
    <p:sldId id="785" r:id="rId192"/>
    <p:sldId id="790" r:id="rId193"/>
    <p:sldId id="791" r:id="rId194"/>
    <p:sldId id="792" r:id="rId195"/>
    <p:sldId id="789" r:id="rId196"/>
    <p:sldId id="794" r:id="rId197"/>
    <p:sldId id="795" r:id="rId198"/>
    <p:sldId id="796" r:id="rId199"/>
    <p:sldId id="797" r:id="rId200"/>
    <p:sldId id="793" r:id="rId201"/>
    <p:sldId id="799" r:id="rId202"/>
    <p:sldId id="800" r:id="rId203"/>
    <p:sldId id="801" r:id="rId204"/>
    <p:sldId id="798" r:id="rId205"/>
    <p:sldId id="803" r:id="rId206"/>
    <p:sldId id="804" r:id="rId207"/>
    <p:sldId id="805" r:id="rId208"/>
    <p:sldId id="806" r:id="rId209"/>
    <p:sldId id="807" r:id="rId210"/>
    <p:sldId id="808" r:id="rId211"/>
    <p:sldId id="802" r:id="rId212"/>
    <p:sldId id="809" r:id="rId213"/>
    <p:sldId id="810" r:id="rId214"/>
    <p:sldId id="837" r:id="rId215"/>
    <p:sldId id="838" r:id="rId216"/>
    <p:sldId id="839" r:id="rId217"/>
    <p:sldId id="840" r:id="rId218"/>
    <p:sldId id="841" r:id="rId219"/>
    <p:sldId id="836" r:id="rId220"/>
    <p:sldId id="812" r:id="rId221"/>
    <p:sldId id="813" r:id="rId222"/>
    <p:sldId id="811" r:id="rId223"/>
  </p:sldIdLst>
  <p:sldSz cx="6858000" cy="5143500"/>
  <p:notesSz cx="6858000" cy="9144000"/>
  <p:embeddedFontLst>
    <p:embeddedFont>
      <p:font typeface="Aptos Mono" panose="020B0009020202020204" pitchFamily="49" charset="0"/>
      <p:regular r:id="rId225"/>
      <p:bold r:id="rId226"/>
      <p:italic r:id="rId227"/>
      <p:boldItalic r:id="rId228"/>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10"/>
    <p:restoredTop sz="97007"/>
  </p:normalViewPr>
  <p:slideViewPr>
    <p:cSldViewPr snapToGrid="0">
      <p:cViewPr varScale="1">
        <p:scale>
          <a:sx n="320" d="100"/>
          <a:sy n="320" d="100"/>
        </p:scale>
        <p:origin x="192" y="784"/>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notesMaster" Target="notesMasters/notesMaster1.xml"/><Relationship Id="rId225" Type="http://schemas.openxmlformats.org/officeDocument/2006/relationships/font" Target="fonts/font1.fntdata"/><Relationship Id="rId226" Type="http://schemas.openxmlformats.org/officeDocument/2006/relationships/font" Target="fonts/font2.fntdata"/><Relationship Id="rId227" Type="http://schemas.openxmlformats.org/officeDocument/2006/relationships/font" Target="fonts/font3.fntdata"/><Relationship Id="rId228" Type="http://schemas.openxmlformats.org/officeDocument/2006/relationships/font" Target="fonts/font4.fntdata"/><Relationship Id="rId229" Type="http://schemas.openxmlformats.org/officeDocument/2006/relationships/presProps" Target="presProps.xml"/><Relationship Id="rId230" Type="http://schemas.openxmlformats.org/officeDocument/2006/relationships/viewProps" Target="viewProps.xml"/><Relationship Id="rId231" Type="http://schemas.openxmlformats.org/officeDocument/2006/relationships/theme" Target="theme/theme1.xml"/><Relationship Id="rId2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dirty="0"/>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Introduce </a:t>
            </a:r>
            <a:r>
              <a:rPr b="1" dirty="0"/>
              <a:t>Lecture 5</a:t>
            </a:r>
            <a:r>
              <a:rPr dirty="0"/>
              <a:t>: the </a:t>
            </a:r>
            <a:r>
              <a:rPr b="1" dirty="0"/>
              <a:t>tool boundary</a:t>
            </a:r>
            <a:r>
              <a:rPr dirty="0"/>
              <a:t> </a:t>
            </a:r>
            <a:r>
              <a:rPr b="1" dirty="0"/>
              <a:t>under attack</a:t>
            </a:r>
            <a:r>
              <a:rPr dirty="0"/>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Four builds of lecture 5 recap what this lecture builds on: the MCP client–server connection model, the parts of a tool contract that the server enforces, incident analysis with OWASP and ATLAS, and the OpenClaw finding that the failed controls sat in the agent's runtime.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ATLAS names what to restrict and </a:t>
            </a:r>
            <a:r>
              <a:rPr b="1"/>
              <a:t>never which process enforces it</a:t>
            </a:r>
            <a:r>
              <a:t>. This section asks where a rule such as 'the agent may not read </a:t>
            </a:r>
            <a:r>
              <a:rPr b="1"/>
              <a:t>~/.ssh</a:t>
            </a:r>
            <a:r>
              <a:t>' should be enforced. It starts with the </a:t>
            </a:r>
            <a:r>
              <a:rPr b="1"/>
              <a:t>cheapest place, the model itself</a:t>
            </a:r>
            <a:r>
              <a:t>, and a </a:t>
            </a:r>
            <a:r>
              <a:rPr b="1"/>
              <a:t>2026 study</a:t>
            </a:r>
            <a:r>
              <a:t> that measured how well that place holds when the model uses tools.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slide 212</a:t>
            </a:r>
            <a:r>
              <a:t> asks the class where the rule about ~/.ssh belongs.</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previous section showed that a rule must run outside the agent's process, and that the </a:t>
            </a:r>
            <a:r>
              <a:rPr b="1"/>
              <a:t>kernel can see a local file read</a:t>
            </a:r>
            <a:r>
              <a:t>. </a:t>
            </a:r>
            <a:r>
              <a:rPr b="1"/>
              <a:t>NVIDIA OpenShell</a:t>
            </a:r>
            <a:r>
              <a:t> is a runtime that </a:t>
            </a:r>
            <a:r>
              <a:rPr b="1"/>
              <a:t>enforces a rule from there</a:t>
            </a:r>
            <a:r>
              <a:t> for an </a:t>
            </a:r>
            <a:r>
              <a:rPr b="1"/>
              <a:t>unmodified agent</a:t>
            </a:r>
            <a:r>
              <a:t>. This section describes OpenShell, </a:t>
            </a:r>
            <a:r>
              <a:rPr b="1"/>
              <a:t>what it covers</a:t>
            </a:r>
            <a:r>
              <a:t> and </a:t>
            </a:r>
            <a:r>
              <a:rPr b="1"/>
              <a:t>what it leaves out</a:t>
            </a:r>
            <a:r>
              <a:t>, then the </a:t>
            </a:r>
            <a:r>
              <a:rPr b="1"/>
              <a:t>research on the mechanisms</a:t>
            </a:r>
            <a:r>
              <a:t> beneath it.</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Cyberbird, the course's reactive agent from lecture 2, working Bandit's SQL injection alert bc284c6b at testcode/BenchmarkTest00283.py line 46 of its OWASP fixture.</a:t>
            </a:r>
          </a:p>
          <a:p>
            <a:endParaRPr/>
          </a:p>
          <a:p>
            <a:r>
              <a:t>We ran Cyberbird inside OpenShell 0.1.4 on October 15, 2026 (Colima on the instructor's Mac, model openai:qwen3.8-27b on the local llama-swap server): it read the case and helpers/db_sqlite.py in a disposable copy of the fixture, searched four times, edited the case, ran bandit when it submitted, and finished ACCEPTED after 8 model calls in 13.5 s. The captures are in instructor-materials/hw2/feasibility/cyberbird/.</a:t>
            </a:r>
          </a:p>
          <a:p>
            <a:endParaRPr/>
          </a:p>
          <a:p>
            <a:r>
              <a:t>The figure, stage by stage.</a:t>
            </a:r>
          </a:p>
          <a:p>
            <a:r>
              <a:t>1. Files: open(), read() and write() reach the repository, the key and the workspace. The other two arrows are reserved as ghosts.</a:t>
            </a:r>
          </a:p>
          <a:p>
            <a:r>
              <a:t>2. Processes: fork() and execve() start a shell, Python or a scanner, each a child with the agent's authority.</a:t>
            </a:r>
          </a:p>
          <a:p>
            <a:r>
              <a:t>3. Connections: connect() reaches the model's API, GitHub, or anything else on the network.</a:t>
            </a:r>
          </a:p>
          <a:p>
            <a:r>
              <a:t>4. The dashed line: a rule can sit below the program, where the kernel decides every request.</a:t>
            </a:r>
          </a:p>
          <a:p>
            <a:r>
              <a:t>5. In action: cyberbird works alert bc284c6b. It reads BenchmarkTest00283.py and helpers/ in its workspace copy, runs python and bandit, and connects to the model server.</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the parts before we use them, on the guide's Figure 1. The client (the openshell CLI, the TUI or an SDK) sends management requests to OpenShell's gateway, the control plane that authenticates every caller, stores every sandbox record and hands configuration to drivers and supervisors. The compute driver turns a record into platform resources on Docker, Podman, Kubernetes or a microVM and decides placement, which is on which host or node the workload and its supervisor run.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a:t>
            </a:r>
          </a:p>
          <a:p>
            <a:endParaRPr/>
          </a:p>
          <a:p>
            <a:r>
              <a:t>The figure, stage by stage.</a:t>
            </a:r>
          </a:p>
          <a:p>
            <a:r>
              <a:t>1. The client: the CLI, TUI or an SDK sends management requests. The agent and its tools in the untrusted workload are the frame.</a:t>
            </a:r>
          </a:p>
          <a:p>
            <a:r>
              <a:t>2. The gateway: identity and records, and the configuration it hands on.</a:t>
            </a:r>
          </a:p>
          <a:p>
            <a:r>
              <a:t>3. The compute driver provisions the workload and places the supervisor. The note defines placement.</a:t>
            </a:r>
          </a:p>
          <a:p>
            <a:r>
              <a:t>4. The sandbox runtime, inside the workload: process control and mediation.</a:t>
            </a:r>
          </a:p>
          <a:p>
            <a:r>
              <a:t>5. The trusted supervisor, outside: policy and credentials, the authenticated runtime channel from the runtime, and the control session it opens to the gateway.</a:t>
            </a:r>
          </a:p>
          <a:p>
            <a:r>
              <a:t>6. The approved external service: what remains reachable, through the supervisor.</a:t>
            </a:r>
          </a:p>
          <a:p>
            <a:r>
              <a:t>7. In action: our terminal, Docker on Colima, cyberbird and bandit in the workload, and a supervisor that admits only the model server.</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the parts before we use them, on the guide's Figure 1. The client (the openshell CLI, the TUI or an SDK) sends management requests to OpenShell's gateway, the control plane that authenticates every caller, stores every sandbox record and hands configuration to drivers and supervisors. The compute driver turns a record into platform resources on Docker, Podman, Kubernetes or a microVM and decides placement, which is on which host or node the workload and its supervisor run.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a:t>
            </a:r>
          </a:p>
          <a:p>
            <a:endParaRPr/>
          </a:p>
          <a:p>
            <a:r>
              <a:t>The figure, stage by stage.</a:t>
            </a:r>
          </a:p>
          <a:p>
            <a:r>
              <a:t>1. The client: the CLI, TUI or an SDK sends management requests. The agent and its tools in the untrusted workload are the frame.</a:t>
            </a:r>
          </a:p>
          <a:p>
            <a:r>
              <a:t>2. The gateway: identity and records, and the configuration it hands on.</a:t>
            </a:r>
          </a:p>
          <a:p>
            <a:r>
              <a:t>3. The compute driver provisions the workload and places the supervisor. The note defines placement.</a:t>
            </a:r>
          </a:p>
          <a:p>
            <a:r>
              <a:t>4. The sandbox runtime, inside the workload: process control and mediation.</a:t>
            </a:r>
          </a:p>
          <a:p>
            <a:r>
              <a:t>5. The trusted supervisor, outside: policy and credentials, the authenticated runtime channel from the runtime, and the control session it opens to the gateway.</a:t>
            </a:r>
          </a:p>
          <a:p>
            <a:r>
              <a:t>6. The approved external service: what remains reachable, through the supervisor.</a:t>
            </a:r>
          </a:p>
          <a:p>
            <a:r>
              <a:t>7. In action: our terminal, Docker on Colima, cyberbird and bandit in the workload, and a supervisor that admits only the model server.</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the parts before we use them, on the guide's Figure 1. The client (the openshell CLI, the TUI or an SDK) sends management requests to OpenShell's gateway, the control plane that authenticates every caller, stores every sandbox record and hands configuration to drivers and supervisors. The compute driver turns a record into platform resources on Docker, Podman, Kubernetes or a microVM and decides placement, which is on which host or node the workload and its supervisor run.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a:t>
            </a:r>
          </a:p>
          <a:p>
            <a:endParaRPr/>
          </a:p>
          <a:p>
            <a:r>
              <a:t>The figure, stage by stage.</a:t>
            </a:r>
          </a:p>
          <a:p>
            <a:r>
              <a:t>1. The client: the CLI, TUI or an SDK sends management requests. The agent and its tools in the untrusted workload are the frame.</a:t>
            </a:r>
          </a:p>
          <a:p>
            <a:r>
              <a:t>2. The gateway: identity and records, and the configuration it hands on.</a:t>
            </a:r>
          </a:p>
          <a:p>
            <a:r>
              <a:t>3. The compute driver provisions the workload and places the supervisor. The note defines placement.</a:t>
            </a:r>
          </a:p>
          <a:p>
            <a:r>
              <a:t>4. The sandbox runtime, inside the workload: process control and mediation.</a:t>
            </a:r>
          </a:p>
          <a:p>
            <a:r>
              <a:t>5. The trusted supervisor, outside: policy and credentials, the authenticated runtime channel from the runtime, and the control session it opens to the gateway.</a:t>
            </a:r>
          </a:p>
          <a:p>
            <a:r>
              <a:t>6. The approved external service: what remains reachable, through the supervisor.</a:t>
            </a:r>
          </a:p>
          <a:p>
            <a:r>
              <a:t>7. In action: our terminal, Docker on Colima, cyberbird and bandit in the workload, and a supervisor that admits only the model server.</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the parts before we use them, on the guide's Figure 1. The client (the openshell CLI, the TUI or an SDK) sends management requests to OpenShell's gateway, the control plane that authenticates every caller, stores every sandbox record and hands configuration to drivers and supervisors. The compute driver turns a record into platform resources on Docker, Podman, Kubernetes or a microVM and decides placement, which is on which host or node the workload and its supervisor run.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a:t>
            </a:r>
          </a:p>
          <a:p>
            <a:endParaRPr/>
          </a:p>
          <a:p>
            <a:r>
              <a:t>The figure, stage by stage.</a:t>
            </a:r>
          </a:p>
          <a:p>
            <a:r>
              <a:t>1. The client: the CLI, TUI or an SDK sends management requests. The agent and its tools in the untrusted workload are the frame.</a:t>
            </a:r>
          </a:p>
          <a:p>
            <a:r>
              <a:t>2. The gateway: identity and records, and the configuration it hands on.</a:t>
            </a:r>
          </a:p>
          <a:p>
            <a:r>
              <a:t>3. The compute driver provisions the workload and places the supervisor. The note defines placement.</a:t>
            </a:r>
          </a:p>
          <a:p>
            <a:r>
              <a:t>4. The sandbox runtime, inside the workload: process control and mediation.</a:t>
            </a:r>
          </a:p>
          <a:p>
            <a:r>
              <a:t>5. The trusted supervisor, outside: policy and credentials, the authenticated runtime channel from the runtime, and the control session it opens to the gateway.</a:t>
            </a:r>
          </a:p>
          <a:p>
            <a:r>
              <a:t>6. The approved external service: what remains reachable, through the supervisor.</a:t>
            </a:r>
          </a:p>
          <a:p>
            <a:r>
              <a:t>7. In action: our terminal, Docker on Colima, cyberbird and bandit in the workload, and a supervisor that admits only the model server.</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the parts before we use them, on the guide's Figure 1. The client (the openshell CLI, the TUI or an SDK) sends management requests to OpenShell's gateway, the control plane that authenticates every caller, stores every sandbox record and hands configuration to drivers and supervisors. The compute driver turns a record into platform resources on Docker, Podman, Kubernetes or a microVM and decides placement, which is on which host or node the workload and its supervisor run.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a:t>
            </a:r>
          </a:p>
          <a:p>
            <a:endParaRPr/>
          </a:p>
          <a:p>
            <a:r>
              <a:t>The figure, stage by stage.</a:t>
            </a:r>
          </a:p>
          <a:p>
            <a:r>
              <a:t>1. The client: the CLI, TUI or an SDK sends management requests. The agent and its tools in the untrusted workload are the frame.</a:t>
            </a:r>
          </a:p>
          <a:p>
            <a:r>
              <a:t>2. The gateway: identity and records, and the configuration it hands on.</a:t>
            </a:r>
          </a:p>
          <a:p>
            <a:r>
              <a:t>3. The compute driver provisions the workload and places the supervisor. The note defines placement.</a:t>
            </a:r>
          </a:p>
          <a:p>
            <a:r>
              <a:t>4. The sandbox runtime, inside the workload: process control and mediation.</a:t>
            </a:r>
          </a:p>
          <a:p>
            <a:r>
              <a:t>5. The trusted supervisor, outside: policy and credentials, the authenticated runtime channel from the runtime, and the control session it opens to the gateway.</a:t>
            </a:r>
          </a:p>
          <a:p>
            <a:r>
              <a:t>6. The approved external service: what remains reachable, through the supervisor.</a:t>
            </a:r>
          </a:p>
          <a:p>
            <a:r>
              <a:t>7. In action: our terminal, Docker on Colima, cyberbird and bandit in the workload, and a supervisor that admits only the model server.</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the parts before we use them, on the guide's Figure 1. The client (the openshell CLI, the TUI or an SDK) sends management requests to OpenShell's gateway, the control plane that authenticates every caller, stores every sandbox record and hands configuration to drivers and supervisors. The compute driver turns a record into platform resources on Docker, Podman, Kubernetes or a microVM and decides placement, which is on which host or node the workload and its supervisor run.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a:t>
            </a:r>
          </a:p>
          <a:p>
            <a:endParaRPr/>
          </a:p>
          <a:p>
            <a:r>
              <a:t>The figure, stage by stage.</a:t>
            </a:r>
          </a:p>
          <a:p>
            <a:r>
              <a:t>1. The client: the CLI, TUI or an SDK sends management requests. The agent and its tools in the untrusted workload are the frame.</a:t>
            </a:r>
          </a:p>
          <a:p>
            <a:r>
              <a:t>2. The gateway: identity and records, and the configuration it hands on.</a:t>
            </a:r>
          </a:p>
          <a:p>
            <a:r>
              <a:t>3. The compute driver provisions the workload and places the supervisor. The note defines placement.</a:t>
            </a:r>
          </a:p>
          <a:p>
            <a:r>
              <a:t>4. The sandbox runtime, inside the workload: process control and mediation.</a:t>
            </a:r>
          </a:p>
          <a:p>
            <a:r>
              <a:t>5. The trusted supervisor, outside: policy and credentials, the authenticated runtime channel from the runtime, and the control session it opens to the gateway.</a:t>
            </a:r>
          </a:p>
          <a:p>
            <a:r>
              <a:t>6. The approved external service: what remains reachable, through the supervisor.</a:t>
            </a:r>
          </a:p>
          <a:p>
            <a:r>
              <a:t>7. In action: our terminal, Docker on Colima, cyberbird and bandit in the workload, and a supervisor that admits only the model server.</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the parts before we use them, on the guide's Figure 1. The client (the openshell CLI, the TUI or an SDK) sends management requests to OpenShell's gateway, the control plane that authenticates every caller, stores every sandbox record and hands configuration to drivers and supervisors. The compute driver turns a record into platform resources on Docker, Podman, Kubernetes or a microVM and decides placement, which is on which host or node the workload and its supervisor run.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a:t>
            </a:r>
          </a:p>
          <a:p>
            <a:endParaRPr/>
          </a:p>
          <a:p>
            <a:r>
              <a:t>The figure, stage by stage.</a:t>
            </a:r>
          </a:p>
          <a:p>
            <a:r>
              <a:t>1. The client: the CLI, TUI or an SDK sends management requests. The agent and its tools in the untrusted workload are the frame.</a:t>
            </a:r>
          </a:p>
          <a:p>
            <a:r>
              <a:t>2. The gateway: identity and records, and the configuration it hands on.</a:t>
            </a:r>
          </a:p>
          <a:p>
            <a:r>
              <a:t>3. The compute driver provisions the workload and places the supervisor. The note defines placement.</a:t>
            </a:r>
          </a:p>
          <a:p>
            <a:r>
              <a:t>4. The sandbox runtime, inside the workload: process control and mediation.</a:t>
            </a:r>
          </a:p>
          <a:p>
            <a:r>
              <a:t>5. The trusted supervisor, outside: policy and credentials, the authenticated runtime channel from the runtime, and the control session it opens to the gateway.</a:t>
            </a:r>
          </a:p>
          <a:p>
            <a:r>
              <a:t>6. The approved external service: what remains reachable, through the supervisor.</a:t>
            </a:r>
          </a:p>
          <a:p>
            <a:r>
              <a:t>7. In action: our terminal, Docker on Colima, cyberbird and bandit in the workload, and a supervisor that admits only the model server.</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name the parts before we use them, on the guide's Figure 1. The client (the openshell CLI, the TUI or an SDK) sends management requests to OpenShell's gateway, the control plane that authenticates every caller, stores every sandbox record and hands configuration to drivers and supervisors. The compute driver turns a record into platform resources on Docker, Podman, Kubernetes or a microVM and decides placement, which is on which host or node the workload and its supervisor run.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a:t>
            </a:r>
          </a:p>
          <a:p>
            <a:endParaRPr/>
          </a:p>
          <a:p>
            <a:r>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a:t>
            </a:r>
          </a:p>
          <a:p>
            <a:endParaRPr/>
          </a:p>
          <a:p>
            <a:r>
              <a:t>The figure, stage by stage.</a:t>
            </a:r>
          </a:p>
          <a:p>
            <a:r>
              <a:t>1. The client: the CLI, TUI or an SDK sends management requests. The agent and its tools in the untrusted workload are the frame.</a:t>
            </a:r>
          </a:p>
          <a:p>
            <a:r>
              <a:t>2. The gateway: identity and records, and the configuration it hands on.</a:t>
            </a:r>
          </a:p>
          <a:p>
            <a:r>
              <a:t>3. The compute driver provisions the workload and places the supervisor. The note defines placement.</a:t>
            </a:r>
          </a:p>
          <a:p>
            <a:r>
              <a:t>4. The sandbox runtime, inside the workload: process control and mediation.</a:t>
            </a:r>
          </a:p>
          <a:p>
            <a:r>
              <a:t>5. The trusted supervisor, outside: policy and credentials, the authenticated runtime channel from the runtime, and the control session it opens to the gateway.</a:t>
            </a:r>
          </a:p>
          <a:p>
            <a:r>
              <a:t>6. The approved external service: what remains reachable, through the supervisor.</a:t>
            </a:r>
          </a:p>
          <a:p>
            <a:r>
              <a:t>7. In action: our terminal, Docker on Colima, cyberbird and bandit in the workload, and a supervisor that admits only the model server.</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sandbox from request to deletion. The gateway checks the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driver then provisions: Docker and the VM may answer early and keep preparing the image, Kubernetes reconciles, and a watch stream reports progress. Ready means the gateway considers the sandbox usable through its API, which it decides once the supervisor has connected back and said hello; Error, Deleting and Stopped still outrank it, so Ready says nothing about whether the agent works. Stop keeps the record and stops the compute, start runs it again, and delete removes it, with what is retained depending on the backend: Docker keeps the stopped container, Kubernetes its Sandbox resource, the VM its overlay.</a:t>
            </a:r>
          </a:p>
          <a:p>
            <a:endParaRPr/>
          </a:p>
          <a:p>
            <a:r>
              <a:t>Captured for Cyberbird on October 15, 2026 (OpenShell 0.1.4, Colima): create printed "Created sandbox: cyberbird", "[0.0s] Requesting compute...", "[0.0s] Sandbox allocated" and "[0.1s] Starting sandbox Container created"; sandbox get showed "Ready: True (DependenciesReady) - Supervisor session connected", runtime-generation d1326079-66a5-44ab-9db3-51e13ac8dc46 and auth-epoch 1; sandbox list at 22:42:24 EDT printed "cyberbird  2026-10-16 02:42:20  Ready" (CREATED is UTC, so 22:42:20 EDT); delete printed "✓ Sandbox cyberbird deletion accepted; cleanup is pending".</a:t>
            </a:r>
          </a:p>
          <a:p>
            <a:endParaRPr/>
          </a:p>
          <a:p>
            <a:r>
              <a:t>The figure, stage by stage.</a:t>
            </a:r>
          </a:p>
          <a:p>
            <a:r>
              <a:t>1. The record persisted: the gateway's checks and what it stores, in the Provisioning phase.</a:t>
            </a:r>
          </a:p>
          <a:p>
            <a:r>
              <a:t>2. Provisioning: the driver creates the resources. Docker and the VM may return early.</a:t>
            </a:r>
          </a:p>
          <a:p>
            <a:r>
              <a:t>3. The supervisor's hello: it connects out to the gateway and opens the control stream that later carries exec's relay.</a:t>
            </a:r>
          </a:p>
          <a:p>
            <a:r>
              <a:t>4. Ready: usable through the API, as the gateway publishes it.</a:t>
            </a:r>
          </a:p>
          <a:p>
            <a:r>
              <a:t>5. The phases that leave or outrank Ready: Error from the driver, Stopped and Deleting by stop, start and delete. The note: Ready says the supervisor talked back, and nothing about the agent.</a:t>
            </a:r>
          </a:p>
          <a:p>
            <a:r>
              <a:t>6. In action: cyberbird's record, Docker on Colima with the image cyberbird:1, the captured condition, and the sandbox list row.</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sandbox from request to deletion. The gateway checks the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driver then provisions: Docker and the VM may answer early and keep preparing the image, Kubernetes reconciles, and a watch stream reports progress. Ready means the gateway considers the sandbox usable through its API, which it decides once the supervisor has connected back and said hello; Error, Deleting and Stopped still outrank it, so Ready says nothing about whether the agent works. Stop keeps the record and stops the compute, start runs it again, and delete removes it, with what is retained depending on the backend: Docker keeps the stopped container, Kubernetes its Sandbox resource, the VM its overlay.</a:t>
            </a:r>
          </a:p>
          <a:p>
            <a:endParaRPr/>
          </a:p>
          <a:p>
            <a:r>
              <a:t>Captured for Cyberbird on October 15, 2026 (OpenShell 0.1.4, Colima): create printed "Created sandbox: cyberbird", "[0.0s] Requesting compute...", "[0.0s] Sandbox allocated" and "[0.1s] Starting sandbox Container created"; sandbox get showed "Ready: True (DependenciesReady) - Supervisor session connected", runtime-generation d1326079-66a5-44ab-9db3-51e13ac8dc46 and auth-epoch 1; sandbox list at 22:42:24 EDT printed "cyberbird  2026-10-16 02:42:20  Ready" (CREATED is UTC, so 22:42:20 EDT); delete printed "✓ Sandbox cyberbird deletion accepted; cleanup is pending".</a:t>
            </a:r>
          </a:p>
          <a:p>
            <a:endParaRPr/>
          </a:p>
          <a:p>
            <a:r>
              <a:t>The figure, stage by stage.</a:t>
            </a:r>
          </a:p>
          <a:p>
            <a:r>
              <a:t>1. The record persisted: the gateway's checks and what it stores, in the Provisioning phase.</a:t>
            </a:r>
          </a:p>
          <a:p>
            <a:r>
              <a:t>2. Provisioning: the driver creates the resources. Docker and the VM may return early.</a:t>
            </a:r>
          </a:p>
          <a:p>
            <a:r>
              <a:t>3. The supervisor's hello: it connects out to the gateway and opens the control stream that later carries exec's relay.</a:t>
            </a:r>
          </a:p>
          <a:p>
            <a:r>
              <a:t>4. Ready: usable through the API, as the gateway publishes it.</a:t>
            </a:r>
          </a:p>
          <a:p>
            <a:r>
              <a:t>5. The phases that leave or outrank Ready: Error from the driver, Stopped and Deleting by stop, start and delete. The note: Ready says the supervisor talked back, and nothing about the agent.</a:t>
            </a:r>
          </a:p>
          <a:p>
            <a:r>
              <a:t>6. In action: cyberbird's record, Docker on Colima with the image cyberbird:1, the captured condition, and the sandbox list row.</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sandbox from request to deletion. The gateway checks the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driver then provisions: Docker and the VM may answer early and keep preparing the image, Kubernetes reconciles, and a watch stream reports progress. Ready means the gateway considers the sandbox usable through its API, which it decides once the supervisor has connected back and said hello; Error, Deleting and Stopped still outrank it, so Ready says nothing about whether the agent works. Stop keeps the record and stops the compute, start runs it again, and delete removes it, with what is retained depending on the backend: Docker keeps the stopped container, Kubernetes its Sandbox resource, the VM its overlay.</a:t>
            </a:r>
          </a:p>
          <a:p>
            <a:endParaRPr/>
          </a:p>
          <a:p>
            <a:r>
              <a:t>Captured for Cyberbird on October 15, 2026 (OpenShell 0.1.4, Colima): create printed "Created sandbox: cyberbird", "[0.0s] Requesting compute...", "[0.0s] Sandbox allocated" and "[0.1s] Starting sandbox Container created"; sandbox get showed "Ready: True (DependenciesReady) - Supervisor session connected", runtime-generation d1326079-66a5-44ab-9db3-51e13ac8dc46 and auth-epoch 1; sandbox list at 22:42:24 EDT printed "cyberbird  2026-10-16 02:42:20  Ready" (CREATED is UTC, so 22:42:20 EDT); delete printed "✓ Sandbox cyberbird deletion accepted; cleanup is pending".</a:t>
            </a:r>
          </a:p>
          <a:p>
            <a:endParaRPr/>
          </a:p>
          <a:p>
            <a:r>
              <a:t>The figure, stage by stage.</a:t>
            </a:r>
          </a:p>
          <a:p>
            <a:r>
              <a:t>1. The record persisted: the gateway's checks and what it stores, in the Provisioning phase.</a:t>
            </a:r>
          </a:p>
          <a:p>
            <a:r>
              <a:t>2. Provisioning: the driver creates the resources. Docker and the VM may return early.</a:t>
            </a:r>
          </a:p>
          <a:p>
            <a:r>
              <a:t>3. The supervisor's hello: it connects out to the gateway and opens the control stream that later carries exec's relay.</a:t>
            </a:r>
          </a:p>
          <a:p>
            <a:r>
              <a:t>4. Ready: usable through the API, as the gateway publishes it.</a:t>
            </a:r>
          </a:p>
          <a:p>
            <a:r>
              <a:t>5. The phases that leave or outrank Ready: Error from the driver, Stopped and Deleting by stop, start and delete. The note: Ready says the supervisor talked back, and nothing about the agent.</a:t>
            </a:r>
          </a:p>
          <a:p>
            <a:r>
              <a:t>6. In action: cyberbird's record, Docker on Colima with the image cyberbird:1, the captured condition, and the sandbox list row.</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sandbox from request to deletion. The gateway checks the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driver then provisions: Docker and the VM may answer early and keep preparing the image, Kubernetes reconciles, and a watch stream reports progress. Ready means the gateway considers the sandbox usable through its API, which it decides once the supervisor has connected back and said hello; Error, Deleting and Stopped still outrank it, so Ready says nothing about whether the agent works. Stop keeps the record and stops the compute, start runs it again, and delete removes it, with what is retained depending on the backend: Docker keeps the stopped container, Kubernetes its Sandbox resource, the VM its overlay.</a:t>
            </a:r>
          </a:p>
          <a:p>
            <a:endParaRPr/>
          </a:p>
          <a:p>
            <a:r>
              <a:t>Captured for Cyberbird on October 15, 2026 (OpenShell 0.1.4, Colima): create printed "Created sandbox: cyberbird", "[0.0s] Requesting compute...", "[0.0s] Sandbox allocated" and "[0.1s] Starting sandbox Container created"; sandbox get showed "Ready: True (DependenciesReady) - Supervisor session connected", runtime-generation d1326079-66a5-44ab-9db3-51e13ac8dc46 and auth-epoch 1; sandbox list at 22:42:24 EDT printed "cyberbird  2026-10-16 02:42:20  Ready" (CREATED is UTC, so 22:42:20 EDT); delete printed "✓ Sandbox cyberbird deletion accepted; cleanup is pending".</a:t>
            </a:r>
          </a:p>
          <a:p>
            <a:endParaRPr/>
          </a:p>
          <a:p>
            <a:r>
              <a:t>The figure, stage by stage.</a:t>
            </a:r>
          </a:p>
          <a:p>
            <a:r>
              <a:t>1. The record persisted: the gateway's checks and what it stores, in the Provisioning phase.</a:t>
            </a:r>
          </a:p>
          <a:p>
            <a:r>
              <a:t>2. Provisioning: the driver creates the resources. Docker and the VM may return early.</a:t>
            </a:r>
          </a:p>
          <a:p>
            <a:r>
              <a:t>3. The supervisor's hello: it connects out to the gateway and opens the control stream that later carries exec's relay.</a:t>
            </a:r>
          </a:p>
          <a:p>
            <a:r>
              <a:t>4. Ready: usable through the API, as the gateway publishes it.</a:t>
            </a:r>
          </a:p>
          <a:p>
            <a:r>
              <a:t>5. The phases that leave or outrank Ready: Error from the driver, Stopped and Deleting by stop, start and delete. The note: Ready says the supervisor talked back, and nothing about the agent.</a:t>
            </a:r>
          </a:p>
          <a:p>
            <a:r>
              <a:t>6. In action: cyberbird's record, Docker on Colima with the image cyberbird:1, the captured condition, and the sandbox list row.</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sandbox from request to deletion. The gateway checks the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driver then provisions: Docker and the VM may answer early and keep preparing the image, Kubernetes reconciles, and a watch stream reports progress. Ready means the gateway considers the sandbox usable through its API, which it decides once the supervisor has connected back and said hello; Error, Deleting and Stopped still outrank it, so Ready says nothing about whether the agent works. Stop keeps the record and stops the compute, start runs it again, and delete removes it, with what is retained depending on the backend: Docker keeps the stopped container, Kubernetes its Sandbox resource, the VM its overlay.</a:t>
            </a:r>
          </a:p>
          <a:p>
            <a:endParaRPr/>
          </a:p>
          <a:p>
            <a:r>
              <a:t>Captured for Cyberbird on October 15, 2026 (OpenShell 0.1.4, Colima): create printed "Created sandbox: cyberbird", "[0.0s] Requesting compute...", "[0.0s] Sandbox allocated" and "[0.1s] Starting sandbox Container created"; sandbox get showed "Ready: True (DependenciesReady) - Supervisor session connected", runtime-generation d1326079-66a5-44ab-9db3-51e13ac8dc46 and auth-epoch 1; sandbox list at 22:42:24 EDT printed "cyberbird  2026-10-16 02:42:20  Ready" (CREATED is UTC, so 22:42:20 EDT); delete printed "✓ Sandbox cyberbird deletion accepted; cleanup is pending".</a:t>
            </a:r>
          </a:p>
          <a:p>
            <a:endParaRPr/>
          </a:p>
          <a:p>
            <a:r>
              <a:t>The figure, stage by stage.</a:t>
            </a:r>
          </a:p>
          <a:p>
            <a:r>
              <a:t>1. The record persisted: the gateway's checks and what it stores, in the Provisioning phase.</a:t>
            </a:r>
          </a:p>
          <a:p>
            <a:r>
              <a:t>2. Provisioning: the driver creates the resources. Docker and the VM may return early.</a:t>
            </a:r>
          </a:p>
          <a:p>
            <a:r>
              <a:t>3. The supervisor's hello: it connects out to the gateway and opens the control stream that later carries exec's relay.</a:t>
            </a:r>
          </a:p>
          <a:p>
            <a:r>
              <a:t>4. Ready: usable through the API, as the gateway publishes it.</a:t>
            </a:r>
          </a:p>
          <a:p>
            <a:r>
              <a:t>5. The phases that leave or outrank Ready: Error from the driver, Stopped and Deleting by stop, start and delete. The note: Ready says the supervisor talked back, and nothing about the agent.</a:t>
            </a:r>
          </a:p>
          <a:p>
            <a:r>
              <a:t>6. In action: cyberbird's record, Docker on Colima with the image cyberbird:1, the captured condition, and the sandbox list row.</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sandbox from request to deletion. The gateway checks the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driver then provisions: Docker and the VM may answer early and keep preparing the image, Kubernetes reconciles, and a watch stream reports progress. Ready means the gateway considers the sandbox usable through its API, which it decides once the supervisor has connected back and said hello; Error, Deleting and Stopped still outrank it, so Ready says nothing about whether the agent works. Stop keeps the record and stops the compute, start runs it again, and delete removes it, with what is retained depending on the backend: Docker keeps the stopped container, Kubernetes its Sandbox resource, the VM its overlay.</a:t>
            </a:r>
          </a:p>
          <a:p>
            <a:endParaRPr/>
          </a:p>
          <a:p>
            <a:r>
              <a:t>Captured for Cyberbird on October 15, 2026 (OpenShell 0.1.4, Colima): create printed "Created sandbox: cyberbird", "[0.0s] Requesting compute...", "[0.0s] Sandbox allocated" and "[0.1s] Starting sandbox Container created"; sandbox get showed "Ready: True (DependenciesReady) - Supervisor session connected", runtime-generation d1326079-66a5-44ab-9db3-51e13ac8dc46 and auth-epoch 1; sandbox list at 22:42:24 EDT printed "cyberbird  2026-10-16 02:42:20  Ready" (CREATED is UTC, so 22:42:20 EDT); delete printed "✓ Sandbox cyberbird deletion accepted; cleanup is pending".</a:t>
            </a:r>
          </a:p>
          <a:p>
            <a:endParaRPr/>
          </a:p>
          <a:p>
            <a:r>
              <a:t>The figure, stage by stage.</a:t>
            </a:r>
          </a:p>
          <a:p>
            <a:r>
              <a:t>1. The record persisted: the gateway's checks and what it stores, in the Provisioning phase.</a:t>
            </a:r>
          </a:p>
          <a:p>
            <a:r>
              <a:t>2. Provisioning: the driver creates the resources. Docker and the VM may return early.</a:t>
            </a:r>
          </a:p>
          <a:p>
            <a:r>
              <a:t>3. The supervisor's hello: it connects out to the gateway and opens the control stream that later carries exec's relay.</a:t>
            </a:r>
          </a:p>
          <a:p>
            <a:r>
              <a:t>4. Ready: usable through the API, as the gateway publishes it.</a:t>
            </a:r>
          </a:p>
          <a:p>
            <a:r>
              <a:t>5. The phases that leave or outrank Ready: Error from the driver, Stopped and Deleting by stop, start and delete. The note: Ready says the supervisor talked back, and nothing about the agent.</a:t>
            </a:r>
          </a:p>
          <a:p>
            <a:r>
              <a:t>6. In action: cyberbird's record, Docker on Colima with the image cyberbird:1, the captured condition, and the sandbox list row.</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sandbox from request to deletion. The gateway checks the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driver then provisions: Docker and the VM may answer early and keep preparing the image, Kubernetes reconciles, and a watch stream reports progress. Ready means the gateway considers the sandbox usable through its API, which it decides once the supervisor has connected back and said hello; Error, Deleting and Stopped still outrank it, so Ready says nothing about whether the agent works. Stop keeps the record and stops the compute, start runs it again, and delete removes it, with what is retained depending on the backend: Docker keeps the stopped container, Kubernetes its Sandbox resource, the VM its overlay.</a:t>
            </a:r>
          </a:p>
          <a:p>
            <a:endParaRPr/>
          </a:p>
          <a:p>
            <a:r>
              <a:t>Captured for Cyberbird on October 15, 2026 (OpenShell 0.1.4, Colima): create printed "Created sandbox: cyberbird", "[0.0s] Requesting compute...", "[0.0s] Sandbox allocated" and "[0.1s] Starting sandbox Container created"; sandbox get showed "Ready: True (DependenciesReady) - Supervisor session connected", runtime-generation d1326079-66a5-44ab-9db3-51e13ac8dc46 and auth-epoch 1; sandbox list at 22:42:24 EDT printed "cyberbird  2026-10-16 02:42:20  Ready" (CREATED is UTC, so 22:42:20 EDT); delete printed "✓ Sandbox cyberbird deletion accepted; cleanup is pending".</a:t>
            </a:r>
          </a:p>
          <a:p>
            <a:endParaRPr/>
          </a:p>
          <a:p>
            <a:r>
              <a:t>The figure, stage by stage.</a:t>
            </a:r>
          </a:p>
          <a:p>
            <a:r>
              <a:t>1. The record persisted: the gateway's checks and what it stores, in the Provisioning phase.</a:t>
            </a:r>
          </a:p>
          <a:p>
            <a:r>
              <a:t>2. Provisioning: the driver creates the resources. Docker and the VM may return early.</a:t>
            </a:r>
          </a:p>
          <a:p>
            <a:r>
              <a:t>3. The supervisor's hello: it connects out to the gateway and opens the control stream that later carries exec's relay.</a:t>
            </a:r>
          </a:p>
          <a:p>
            <a:r>
              <a:t>4. Ready: usable through the API, as the gateway publishes it.</a:t>
            </a:r>
          </a:p>
          <a:p>
            <a:r>
              <a:t>5. The phases that leave or outrank Ready: Error from the driver, Stopped and Deleting by stop, start and delete. The note: Ready says the supervisor talked back, and nothing about the agent.</a:t>
            </a:r>
          </a:p>
          <a:p>
            <a:r>
              <a:t>6. In action: cyberbird's record, Docker on Colima with the image cyberbird:1, the captured condition, and the sandbox list row.</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sandbox:write)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a:p>
          <a:p>
            <a:r>
              <a:t>For Cyberbird: openshell status on the instructor's gateway reported "Authentication: Authenticated (mTLS transport)"; CreateSandbox declares a user principal, scope sandbox:write and the workspace user role (proto/openshell.proto at be7af99); the CLI's workspace defaults to default; sandbox get showed "Resource version: 14" at Ready.</a:t>
            </a:r>
          </a:p>
          <a:p>
            <a:endParaRPr/>
          </a:p>
          <a:p>
            <a:r>
              <a:t>The figure, stage by stage.</a:t>
            </a:r>
          </a:p>
          <a:p>
            <a:r>
              <a:t>1. Who: gate 1 authenticates the request.</a:t>
            </a:r>
          </a:p>
          <a:p>
            <a:r>
              <a:t>2. What: gate 2, the method's declared permission.</a:t>
            </a:r>
          </a:p>
          <a:p>
            <a:r>
              <a:t>3. Which: gate 3, the workspace and the object.</a:t>
            </a:r>
          </a:p>
          <a:p>
            <a:r>
              <a:t>4. The store's conditional update, and the reconcile loop: desired against observed state, leases, the inventory sweep.</a:t>
            </a:r>
          </a:p>
          <a:p>
            <a:r>
              <a:t>5. In action: sandbox create cyberbird, the client key, CreateSandbox's declaration, workspace default, and the record at resource version 14. Its supervisor signs in with its own runtime material.</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no_new_privs, a one-way flag that stops any later program from gaining privilege. Landlock is a Linux module that lets a process restrict its own and its children's file access: a mandatory baseline at Landlock ABI v3 (kernel 6.2 or newer) protects the runtime's private /.openshell files, and the policy's lists are layered on top, so an access must satisfy both. Seccomp filters system calls: it blocks tracing, mount changes, BPF and io_uring, and its user-notification mode pauses connect() and hands it to the broker, the part of the runtime that asks the supervisor.</a:t>
            </a:r>
          </a:p>
          <a:p>
            <a:endParaRPr/>
          </a:p>
          <a:p>
            <a:r>
              <a:t>Cyberbird's run shows the result (October 15, 2026): id inside the sandbox printed "uid=1000(agent) gid=1000(agent)"; the supervisor logged "Isolation boundary enforcement confirmed" before "Isolation boundary agent started"; and ls /home/agent, the agent's own home directory, failed with "Permission denied", because no list in the policy names /home.</a:t>
            </a:r>
          </a:p>
          <a:p>
            <a:endParaRPr/>
          </a:p>
          <a:p>
            <a:r>
              <a:t>The figure, stage by stage.</a:t>
            </a:r>
          </a:p>
          <a:p>
            <a:r>
              <a:t>1. The operator's image runs unmodified. Once the boundary is provisioned, attached and confirmed and networking is prepared, the launcher thread starts each child.</a:t>
            </a:r>
          </a:p>
          <a:p>
            <a:r>
              <a:t>2. Each child gives up privilege first: non-root user and group IDs, every capability set dropped, and no_new_privs, a one-way setting.</a:t>
            </a:r>
          </a:p>
          <a:p>
            <a:r>
              <a:t>3. The Landlock baseline (ABI v3 or newer, which covers truncation) protects the private /.openshell hierarchy. The user's filesystem policy is layered above it, so an access must satisfy both.</a:t>
            </a:r>
          </a:p>
          <a:p>
            <a:r>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filesystem_policy lists the paths the workload may read and write, and landlock says whether failing to enforce those lists fails the start (hard_requirement) or continues with a finding (best_effort); the kernel holds both, fixed when the sandbox starts. process names the user and group that run the workload, set at creation, and on Docker an omitted section means the image's USER. network_policies pairs binaries with endpoints, every binary of a rule reaching every endpoint of it, and network_middlewares adds processing after admission; the supervisor holds both, and both can change while the sandbox runs.</a:t>
            </a:r>
          </a:p>
          <a:p>
            <a:endParaRPr/>
          </a:p>
          <a:p>
            <a:r>
              <a:t>Defaults depend on presence: omitting filesystem_policy grants the working directory, while an empty filesystem_policy object does not. Cyberbird's values come from cyberbird-policy.yaml and its effective form, openshell policy get cyberbird --full (version 2).</a:t>
            </a:r>
          </a:p>
          <a:p>
            <a:endParaRPr/>
          </a:p>
          <a:p>
            <a:r>
              <a:t>The figure, stage by stage.</a:t>
            </a:r>
          </a:p>
          <a:p>
            <a:r>
              <a:t>1. filesystem_policy, pinned on the sandbox runtime: kernel rules, fixed at start.</a:t>
            </a:r>
          </a:p>
          <a:p>
            <a:r>
              <a:t>2. landlock: required or best effort, fixed at start.</a:t>
            </a:r>
          </a:p>
          <a:p>
            <a:r>
              <a:t>3. process: the workload's identity, set at creation.</a:t>
            </a:r>
          </a:p>
          <a:p>
            <a:r>
              <a:t>4. network_policies, pinned on the trusted supervisor: live and reloadable.</a:t>
            </a:r>
          </a:p>
          <a:p>
            <a:r>
              <a:t>5. network_middlewares: processing after admission, also live. The note says which component holds which section.</a:t>
            </a:r>
          </a:p>
          <a:p>
            <a:r>
              <a:t>6. In action: Cyberbird's values. The read list ends in /app/fixtures and the write list in /app/runs, Landlock is a hard requirement, process is not set so the image's user, uid 1000, runs it, python3.12 reaches host.lima.internal:8080, and no middleware is set.</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policy of the run we recorded on October 15, 2026, instructor-materials/hw2/feasibility/cyberbird-policy.yaml, without its three comment lines, which say why the host is host.lima.internal: OpenShell 0.1.4 on Colima refuses host.docker.internal at policy DNS, and an IP literal is refused for protocol tcp. A policy is a document so that machines and people can check it: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expectedresults-0.1.csv were both readable; only Cyberbird's own workspace code kept them out of the agent's copy, and the HW2 policy lists the target's code directories instead. protocol: tcp admits the connection with no request inspection, so the rule has no enforcement line; with --model anthropic:claude-opus-5 the rule would name api.anthropic.com port 443 with protocol: rest and enforcement: enforce, and the key would come through a provider attachment.</a:t>
            </a:r>
          </a:p>
          <a:p>
            <a:endParaRPr/>
          </a:p>
          <a:p>
            <a:r>
              <a:t>The guide's quickstart policy (10.2) gives curl api.github.com:443 with protocol: rest, enforcement: enforce and access: read-only, which admits GET, HEAD and OPTIONS; without its enforcement line the mode is audit, which logs a violation and lets the request through. The effective policy the supervisor loaded, openshell policy get cyberbird --full, is version 2: OpenShell added /var/log to read_only and the name model_server to the rule.</a:t>
            </a:r>
          </a:p>
          <a:p>
            <a:endParaRPr/>
          </a:p>
          <a:p>
            <a:r>
              <a:t>Click by click.</a:t>
            </a:r>
          </a:p>
          <a:p>
            <a:r>
              <a:t>1. As a document: parsed, validated, versioned, diffed, loaded and proved.</a:t>
            </a:r>
          </a:p>
          <a:p>
            <a:r>
              <a:t>2. The read list: /app makes the whole fixture readable, the answer key included. We also point at landlock: hard_requirement means lists the kernel cannot enforce fail the start, where best_effort would continue with a finding.</a:t>
            </a:r>
          </a:p>
          <a:p>
            <a:r>
              <a:t>3. The network rule: one binary, one host and port, TCP only.</a:t>
            </a:r>
          </a:p>
          <a:p>
            <a:r>
              <a:t>4. The closing box.</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section with the commands HW2 uses, in the shape of sandbox create first and then the real commands of Cyberbird's run. Everything after the double dash is the workload's command, and everything before it is the operator's. sandbox create and sandbox exec appear in the brief's README section, "The sandbox image and the launch commands", and exec again in "How the guardrails are tested": the staff driver starts each team's MCP server with exec --no-login-shell --no-tty, because a login shell's start-up files can print to standard output and corrupt the JSON-RPC stream, whose first byte must be {. policy get --full appears in "The guardrails", where A4 asks for a reason for each grant, and the driver reads it to confirm the provider is the only network grant; logs is ours, the evidence of a denial. The effective policy is the authored document plus the rules that attached providers add.</a:t>
            </a:r>
          </a:p>
          <a:p>
            <a:endParaRPr/>
          </a:p>
          <a:p>
            <a:r>
              <a:t>The commands ran on October 15, 2026 with OpenShell 0.1.4 (cyberbird/create.txt, run.txt, logs.txt, policy-full.txt): create idled the sandbox on sleep infinity and exec started Cyberbird. exec also passed --env OPENAI_BASE_URL and --env OPENAI_API_KEY, because 0.1.4 hands exec none of the image's ENV values except PATH. openshell sandbox list then printed "cyberbird  2026-10-16 02:42:20  Ready".</a:t>
            </a:r>
          </a:p>
          <a:p>
            <a:endParaRPr/>
          </a:p>
          <a:p>
            <a:r>
              <a:t>The figure, stage by stage.</a:t>
            </a:r>
          </a:p>
          <a:p>
            <a:r>
              <a:t>1. The shape of sandbox create: a name, an image, a policy, an optional provider, and after the double dash the workload's command.</a:t>
            </a:r>
          </a:p>
          <a:p>
            <a:r>
              <a:t>2. sandbox create for Cyberbird, and the lines it printed.</a:t>
            </a:r>
          </a:p>
          <a:p>
            <a:r>
              <a:t>3. sandbox exec: the sandbox, no login shell, no terminal, and Cyberbird's command, with the two lines the run ended on.</a:t>
            </a:r>
          </a:p>
          <a:p>
            <a:r>
              <a:t>4. logs: the sandbox's own events. python3.12 is denied pypi.org:443, curl is denied the model server, and python3.12 is allowed to it: a rule admits a binary together with a destination.</a:t>
            </a:r>
          </a:p>
          <a:p>
            <a:r>
              <a:t>5. policy get --full: the effective policy. With no provider attached it holds no provider rules.</a:t>
            </a: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dirty="0"/>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dirty="0"/>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dirty="0"/>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dirty="0"/>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slide" Target="slide49.xml"/><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slide" Target="slide49.xml"/><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slide" Target="slide49.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slide" Target="slide49.xml"/><Relationship Id="rId4"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slide" Target="slide67.xml"/><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slide" Target="slide67.xml"/><Relationship Id="rId4" Type="http://schemas.openxmlformats.org/officeDocument/2006/relationships/image" Target="../media/image2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slide" Target="slide67.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slide" Target="slide67.xml"/><Relationship Id="rId4" Type="http://schemas.openxmlformats.org/officeDocument/2006/relationships/image" Target="../media/image3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slide" Target="slide67.xml"/><Relationship Id="rId4"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slide" Target="slide67.xml"/><Relationship Id="rId4" Type="http://schemas.openxmlformats.org/officeDocument/2006/relationships/image" Target="../media/image3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slide" Target="slide67.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slide" Target="slide67.xml"/><Relationship Id="rId4" Type="http://schemas.openxmlformats.org/officeDocument/2006/relationships/image" Target="../media/image3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slide" Target="slide67.xml"/><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slide" Target="slide67.xml"/><Relationship Id="rId4"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slide" Target="slide67.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slide" Target="slide67.xml"/><Relationship Id="rId4" Type="http://schemas.openxmlformats.org/officeDocument/2006/relationships/image" Target="../media/image3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slide" Target="slide67.xml"/><Relationship Id="rId4" Type="http://schemas.openxmlformats.org/officeDocument/2006/relationships/image" Target="../media/image3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3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4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4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4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4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4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4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4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4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4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4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4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4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image" Target="../media/image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image" Target="../media/image5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image" Target="../media/image5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 Id="rId3" Type="http://schemas.openxmlformats.org/officeDocument/2006/relationships/image" Target="../media/image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 Id="rId3" Type="http://schemas.openxmlformats.org/officeDocument/2006/relationships/image" Target="../media/image5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 Id="rId3" Type="http://schemas.openxmlformats.org/officeDocument/2006/relationships/image" Target="../media/image5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 Id="rId3" Type="http://schemas.openxmlformats.org/officeDocument/2006/relationships/image" Target="../media/image5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 Id="rId3" Type="http://schemas.openxmlformats.org/officeDocument/2006/relationships/image" Target="../media/image5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 Id="rId3" Type="http://schemas.openxmlformats.org/officeDocument/2006/relationships/image" Target="../media/image56.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 Id="rId3" Type="http://schemas.openxmlformats.org/officeDocument/2006/relationships/image" Target="../media/image5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 Id="rId3" Type="http://schemas.openxmlformats.org/officeDocument/2006/relationships/image" Target="../media/image57.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 Id="rId3" Type="http://schemas.openxmlformats.org/officeDocument/2006/relationships/image" Target="../media/image58.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 Id="rId3" Type="http://schemas.openxmlformats.org/officeDocument/2006/relationships/image" Target="../media/image59.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 Id="rId3" Type="http://schemas.openxmlformats.org/officeDocument/2006/relationships/image" Target="../media/image6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 Id="rId3" Type="http://schemas.openxmlformats.org/officeDocument/2006/relationships/image" Target="../media/image6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 Id="rId3" Type="http://schemas.openxmlformats.org/officeDocument/2006/relationships/image" Target="../media/image6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 Id="rId3" Type="http://schemas.openxmlformats.org/officeDocument/2006/relationships/image" Target="../media/image63.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 Id="rId3" Type="http://schemas.openxmlformats.org/officeDocument/2006/relationships/image" Target="../media/image6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 Id="rId3" Type="http://schemas.openxmlformats.org/officeDocument/2006/relationships/image" Target="../media/image64.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 Id="rId3" Type="http://schemas.openxmlformats.org/officeDocument/2006/relationships/image" Target="../media/image65.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 Id="rId3" Type="http://schemas.openxmlformats.org/officeDocument/2006/relationships/image" Target="../media/image66.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 Id="rId3" Type="http://schemas.openxmlformats.org/officeDocument/2006/relationships/image" Target="../media/image67.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 Id="rId3" Type="http://schemas.openxmlformats.org/officeDocument/2006/relationships/image" Target="../media/image68.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 Id="rId3" Type="http://schemas.openxmlformats.org/officeDocument/2006/relationships/image" Target="../media/image69.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 Id="rId3" Type="http://schemas.openxmlformats.org/officeDocument/2006/relationships/image" Target="../media/image69.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 Id="rId3" Type="http://schemas.openxmlformats.org/officeDocument/2006/relationships/image" Target="../media/image70.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 Id="rId3" Type="http://schemas.openxmlformats.org/officeDocument/2006/relationships/image" Target="../media/image7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 Id="rId3" Type="http://schemas.openxmlformats.org/officeDocument/2006/relationships/image" Target="../media/image7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 Id="rId3" Type="http://schemas.openxmlformats.org/officeDocument/2006/relationships/image" Target="../media/image73.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 Id="rId3" Type="http://schemas.openxmlformats.org/officeDocument/2006/relationships/image" Target="../media/image74.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 Id="rId3" Type="http://schemas.openxmlformats.org/officeDocument/2006/relationships/image" Target="../media/image74.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 Id="rId3" Type="http://schemas.openxmlformats.org/officeDocument/2006/relationships/image" Target="../media/image7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 Id="rId3" Type="http://schemas.openxmlformats.org/officeDocument/2006/relationships/image" Target="../media/image76.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 Id="rId3" Type="http://schemas.openxmlformats.org/officeDocument/2006/relationships/image" Target="../media/image77.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 Id="rId3" Type="http://schemas.openxmlformats.org/officeDocument/2006/relationships/image" Target="../media/image78.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 Id="rId3" Type="http://schemas.openxmlformats.org/officeDocument/2006/relationships/image" Target="../media/image78.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 Id="rId3" Type="http://schemas.openxmlformats.org/officeDocument/2006/relationships/image" Target="../media/image78.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 Id="rId3" Type="http://schemas.openxmlformats.org/officeDocument/2006/relationships/image" Target="../media/image79.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 Id="rId3" Type="http://schemas.openxmlformats.org/officeDocument/2006/relationships/image" Target="../media/image80.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 Id="rId3" Type="http://schemas.openxmlformats.org/officeDocument/2006/relationships/image" Target="../media/image8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 Id="rId3" Type="http://schemas.openxmlformats.org/officeDocument/2006/relationships/image" Target="../media/image82.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 Id="rId3" Type="http://schemas.openxmlformats.org/officeDocument/2006/relationships/image" Target="../media/image8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 Id="rId3" Type="http://schemas.openxmlformats.org/officeDocument/2006/relationships/image" Target="../media/image84.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 Id="rId3" Type="http://schemas.openxmlformats.org/officeDocument/2006/relationships/image" Target="../media/image8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 Id="rId3" Type="http://schemas.openxmlformats.org/officeDocument/2006/relationships/image" Target="../media/image8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 Id="rId3" Type="http://schemas.openxmlformats.org/officeDocument/2006/relationships/image" Target="../media/image8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 Id="rId3" Type="http://schemas.openxmlformats.org/officeDocument/2006/relationships/image" Target="../media/image8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 Id="rId3" Type="http://schemas.openxmlformats.org/officeDocument/2006/relationships/image" Target="../media/image8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 Id="rId3" Type="http://schemas.openxmlformats.org/officeDocument/2006/relationships/image" Target="../media/image88.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 Id="rId3" Type="http://schemas.openxmlformats.org/officeDocument/2006/relationships/image" Target="../media/image88.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 Id="rId3" Type="http://schemas.openxmlformats.org/officeDocument/2006/relationships/image" Target="../media/image89.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 Id="rId3" Type="http://schemas.openxmlformats.org/officeDocument/2006/relationships/image" Target="../media/image90.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 Id="rId3" Type="http://schemas.openxmlformats.org/officeDocument/2006/relationships/image" Target="../media/image9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 Id="rId3" Type="http://schemas.openxmlformats.org/officeDocument/2006/relationships/image" Target="../media/image9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 Id="rId3" Type="http://schemas.openxmlformats.org/officeDocument/2006/relationships/image" Target="../media/image92.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 Id="rId3" Type="http://schemas.openxmlformats.org/officeDocument/2006/relationships/image" Target="../media/image92.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 Id="rId3" Type="http://schemas.openxmlformats.org/officeDocument/2006/relationships/image" Target="../media/image93.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 Id="rId3" Type="http://schemas.openxmlformats.org/officeDocument/2006/relationships/image" Target="../media/image94.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 Id="rId3" Type="http://schemas.openxmlformats.org/officeDocument/2006/relationships/image" Target="../media/image9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 Id="rId3" Type="http://schemas.openxmlformats.org/officeDocument/2006/relationships/image" Target="../media/image96.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 Id="rId3" Type="http://schemas.openxmlformats.org/officeDocument/2006/relationships/image" Target="../media/image9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 Id="rId3" Type="http://schemas.openxmlformats.org/officeDocument/2006/relationships/image" Target="../media/image97.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 Id="rId3" Type="http://schemas.openxmlformats.org/officeDocument/2006/relationships/image" Target="../media/image97.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9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 Id="rId3" Type="http://schemas.openxmlformats.org/officeDocument/2006/relationships/image" Target="../media/image99.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 Id="rId3" Type="http://schemas.openxmlformats.org/officeDocument/2006/relationships/image" Target="../media/image10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 Id="rId3" Type="http://schemas.openxmlformats.org/officeDocument/2006/relationships/image" Target="../media/image10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 Id="rId3" Type="http://schemas.openxmlformats.org/officeDocument/2006/relationships/image" Target="../media/image10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 Id="rId3" Type="http://schemas.openxmlformats.org/officeDocument/2006/relationships/image" Target="../media/image10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 Id="rId3" Type="http://schemas.openxmlformats.org/officeDocument/2006/relationships/image" Target="../media/image10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 Id="rId3" Type="http://schemas.openxmlformats.org/officeDocument/2006/relationships/slide" Target="slide174.xml"/><Relationship Id="rId4" Type="http://schemas.openxmlformats.org/officeDocument/2006/relationships/image" Target="../media/image10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 Id="rId3" Type="http://schemas.openxmlformats.org/officeDocument/2006/relationships/slide" Target="slide174.xml"/><Relationship Id="rId4" Type="http://schemas.openxmlformats.org/officeDocument/2006/relationships/image" Target="../media/image104.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 Id="rId3" Type="http://schemas.openxmlformats.org/officeDocument/2006/relationships/slide" Target="slide174.xml"/><Relationship Id="rId4" Type="http://schemas.openxmlformats.org/officeDocument/2006/relationships/image" Target="../media/image105.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 Id="rId3" Type="http://schemas.openxmlformats.org/officeDocument/2006/relationships/slide" Target="slide174.xml"/><Relationship Id="rId4" Type="http://schemas.openxmlformats.org/officeDocument/2006/relationships/image" Target="../media/image106.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 Id="rId3" Type="http://schemas.openxmlformats.org/officeDocument/2006/relationships/slide" Target="slide174.xml"/><Relationship Id="rId4" Type="http://schemas.openxmlformats.org/officeDocument/2006/relationships/image" Target="../media/image106.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 Id="rId3" Type="http://schemas.openxmlformats.org/officeDocument/2006/relationships/slide" Target="slide174.xml"/><Relationship Id="rId4" Type="http://schemas.openxmlformats.org/officeDocument/2006/relationships/image" Target="../media/image106.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 Id="rId3" Type="http://schemas.openxmlformats.org/officeDocument/2006/relationships/image" Target="../media/image107.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 Id="rId3" Type="http://schemas.openxmlformats.org/officeDocument/2006/relationships/image" Target="../media/image108.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 Id="rId3" Type="http://schemas.openxmlformats.org/officeDocument/2006/relationships/image" Target="../media/image109.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 Id="rId3" Type="http://schemas.openxmlformats.org/officeDocument/2006/relationships/image" Target="../media/image110.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 Id="rId3" Type="http://schemas.openxmlformats.org/officeDocument/2006/relationships/image" Target="../media/image1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 Id="rId3" Type="http://schemas.openxmlformats.org/officeDocument/2006/relationships/image" Target="../media/image112.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 Id="rId3" Type="http://schemas.openxmlformats.org/officeDocument/2006/relationships/image" Target="../media/image112.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 Id="rId3" Type="http://schemas.openxmlformats.org/officeDocument/2006/relationships/image" Target="../media/image112.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 Id="rId3" Type="http://schemas.openxmlformats.org/officeDocument/2006/relationships/image" Target="../media/image113.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 Id="rId3" Type="http://schemas.openxmlformats.org/officeDocument/2006/relationships/image" Target="../media/image11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 Id="rId3" Type="http://schemas.openxmlformats.org/officeDocument/2006/relationships/image" Target="../media/image115.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 Id="rId3" Type="http://schemas.openxmlformats.org/officeDocument/2006/relationships/image" Target="../media/image116.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 Id="rId3" Type="http://schemas.openxmlformats.org/officeDocument/2006/relationships/image" Target="../media/image117.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 Id="rId3" Type="http://schemas.openxmlformats.org/officeDocument/2006/relationships/image" Target="../media/image117.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 Id="rId3" Type="http://schemas.openxmlformats.org/officeDocument/2006/relationships/slide" Target="slide38.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 Id="rId3" Type="http://schemas.openxmlformats.org/officeDocument/2006/relationships/slide" Target="slide38.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 Id="rId3" Type="http://schemas.openxmlformats.org/officeDocument/2006/relationships/slide" Target="slide3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 Id="rId3" Type="http://schemas.openxmlformats.org/officeDocument/2006/relationships/slide" Target="slide3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 Id="rId3" Type="http://schemas.openxmlformats.org/officeDocument/2006/relationships/slide" Target="slide3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 Id="rId3" Type="http://schemas.openxmlformats.org/officeDocument/2006/relationships/slide" Target="slide38.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 Id="rId3" Type="http://schemas.openxmlformats.org/officeDocument/2006/relationships/slide" Target="slide3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5578072" name="Title 1"/>
          <p:cNvSpPr>
            <a:spLocks noGrp="1"/>
          </p:cNvSpPr>
          <p:nvPr>
            <p:ph type="ctrTitle"/>
          </p:nvPr>
        </p:nvSpPr>
        <p:spPr bwMode="auto"/>
        <p:txBody>
          <a:bodyPr/>
          <a:lstStyle/>
          <a:p>
            <a:pPr>
              <a:defRPr/>
            </a:pPr>
            <a:r>
              <a:rPr lang="en-US" b="1"/>
              <a:t>Designing Production Agentic Systems</a:t>
            </a:r>
            <a:endParaRPr b="1"/>
          </a:p>
        </p:txBody>
      </p:sp>
      <p:sp>
        <p:nvSpPr>
          <p:cNvPr id="1279590415"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45490697" name="TextBox 3"/>
          <p:cNvSpPr txBox="1"/>
          <p:nvPr/>
        </p:nvSpPr>
        <p:spPr bwMode="auto">
          <a:xfrm>
            <a:off x="364432" y="2217807"/>
            <a:ext cx="6144607" cy="701399"/>
          </a:xfrm>
          <a:prstGeom prst="rect">
            <a:avLst/>
          </a:prstGeom>
          <a:noFill/>
        </p:spPr>
        <p:txBody>
          <a:bodyPr wrap="square" rtlCol="0">
            <a:spAutoFit/>
          </a:bodyPr>
          <a:lstStyle/>
          <a:p>
            <a:pPr algn="ctr">
              <a:defRPr/>
            </a:pPr>
            <a:r>
              <a:rPr lang="en-US" sz="4000" b="1" dirty="0">
                <a:solidFill>
                  <a:schemeClr val="tx2"/>
                </a:solidFill>
                <a:latin typeface="+mj-lt"/>
              </a:rPr>
              <a:t>Lecture 5 Recap</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0175046" name="Title 1"/>
          <p:cNvSpPr>
            <a:spLocks noGrp="1"/>
          </p:cNvSpPr>
          <p:nvPr>
            <p:ph type="title"/>
          </p:nvPr>
        </p:nvSpPr>
        <p:spPr bwMode="auto"/>
        <p:txBody>
          <a:bodyPr/>
          <a:lstStyle/>
          <a:p>
            <a:pPr>
              <a:defRPr/>
            </a:pPr>
            <a:r>
              <a:t>MCP client–server connection model</a:t>
            </a:r>
            <a:r>
              <a:rPr baseline="30000"/>
              <a:t>[1]</a:t>
            </a:r>
            <a:endParaRPr/>
          </a:p>
        </p:txBody>
      </p:sp>
      <p:sp>
        <p:nvSpPr>
          <p:cNvPr id="15859236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Servers should not see the whole conversation</a:t>
            </a:r>
            <a:r>
              <a:rPr sz="1250" b="0">
                <a:solidFill>
                  <a:srgbClr val="FFFFFF">
                    <a:alpha val="0"/>
                  </a:srgbClr>
                </a:solidFill>
              </a:rPr>
              <a:t> or other servers; the full history stays with the host.</a:t>
            </a:r>
            <a:endParaRPr/>
          </a:p>
        </p:txBody>
      </p:sp>
      <p:pic>
        <p:nvPicPr>
          <p:cNvPr id="93556191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5859236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44732706" name="Title 1"/>
          <p:cNvSpPr>
            <a:spLocks noGrp="1"/>
          </p:cNvSpPr>
          <p:nvPr>
            <p:ph type="title"/>
          </p:nvPr>
        </p:nvSpPr>
        <p:spPr bwMode="auto"/>
        <p:txBody>
          <a:bodyPr/>
          <a:lstStyle/>
          <a:p>
            <a:pPr>
              <a:defRPr/>
            </a:pPr>
            <a:r>
              <a:t>MCP client–server connection model</a:t>
            </a:r>
            <a:r>
              <a:rPr baseline="30000"/>
              <a:t>[1]</a:t>
            </a:r>
            <a:endParaRPr/>
          </a:p>
        </p:txBody>
      </p:sp>
      <p:sp>
        <p:nvSpPr>
          <p:cNvPr id="41121250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pic>
        <p:nvPicPr>
          <p:cNvPr id="943960367"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473270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34111034" name="Title 1"/>
          <p:cNvSpPr>
            <a:spLocks noGrp="1"/>
          </p:cNvSpPr>
          <p:nvPr>
            <p:ph type="title"/>
          </p:nvPr>
        </p:nvSpPr>
        <p:spPr bwMode="auto"/>
        <p:txBody>
          <a:bodyPr/>
          <a:lstStyle/>
          <a:p>
            <a:pPr>
              <a:defRPr/>
            </a:pPr>
            <a:r>
              <a:t>MCP client–server connection model</a:t>
            </a:r>
            <a:r>
              <a:rPr baseline="30000"/>
              <a:t>[1]</a:t>
            </a:r>
            <a:endParaRPr/>
          </a:p>
        </p:txBody>
      </p:sp>
      <p:sp>
        <p:nvSpPr>
          <p:cNvPr id="102423029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sp>
        <p:nvSpPr>
          <p:cNvPr id="1640700933"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dispatcher's work is split: the host keeps the conversation and policy, and the server runs the tool.</a:t>
            </a:r>
            <a:endParaRPr/>
          </a:p>
        </p:txBody>
      </p:sp>
      <p:pic>
        <p:nvPicPr>
          <p:cNvPr id="76902989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07009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8776364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705019035" name="Ledger table"/>
          <p:cNvGraphicFramePr>
            <a:graphicFrameLocks noGrp="1"/>
          </p:cNvGraphicFramePr>
          <p:nvPr>
            <p:extLst>
              <p:ext uri="{D42A27DB-BD31-4B8C-83A1-F6EECF244321}">
                <p14:modId xmlns:p14="http://schemas.microsoft.com/office/powerpoint/2010/main" val="2606798068"/>
              </p:ext>
            </p:extLst>
          </p:nvPr>
        </p:nvGraphicFramePr>
        <p:xfrm>
          <a:off x="320040" y="777240"/>
          <a:ext cx="6016752" cy="520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88776364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97985482"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360302802" name="Ledger table"/>
          <p:cNvGraphicFramePr>
            <a:graphicFrameLocks noGrp="1"/>
          </p:cNvGraphicFramePr>
          <p:nvPr>
            <p:extLst>
              <p:ext uri="{D42A27DB-BD31-4B8C-83A1-F6EECF244321}">
                <p14:modId xmlns:p14="http://schemas.microsoft.com/office/powerpoint/2010/main" val="3197854368"/>
              </p:ext>
            </p:extLst>
          </p:nvPr>
        </p:nvGraphicFramePr>
        <p:xfrm>
          <a:off x="320040" y="777240"/>
          <a:ext cx="6016752" cy="9200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89798548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5661205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802660825" name="Ledger table"/>
          <p:cNvGraphicFramePr>
            <a:graphicFrameLocks noGrp="1"/>
          </p:cNvGraphicFramePr>
          <p:nvPr>
            <p:extLst>
              <p:ext uri="{D42A27DB-BD31-4B8C-83A1-F6EECF244321}">
                <p14:modId xmlns:p14="http://schemas.microsoft.com/office/powerpoint/2010/main" val="1441377579"/>
              </p:ext>
            </p:extLst>
          </p:nvPr>
        </p:nvGraphicFramePr>
        <p:xfrm>
          <a:off x="320040" y="777240"/>
          <a:ext cx="6016752" cy="14725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conform to </a:t>
                      </a:r>
                      <a:r>
                        <a:rPr lang="en-US" sz="1000" b="0" dirty="0" err="1">
                          <a:solidFill>
                            <a:schemeClr val="tx1"/>
                          </a:solidFill>
                        </a:rPr>
                        <a:t>outputSchema</a:t>
                      </a:r>
                      <a:r>
                        <a:rPr lang="en-US" sz="1000" b="0" dirty="0">
                          <a:solidFill>
                            <a:schemeClr val="tx1"/>
                          </a:solidFill>
                        </a:rPr>
                        <a:t>,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802660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7540123"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820547276" name="Ledger table"/>
          <p:cNvGraphicFramePr>
            <a:graphicFrameLocks noGrp="1"/>
          </p:cNvGraphicFramePr>
          <p:nvPr>
            <p:extLst>
              <p:ext uri="{D42A27DB-BD31-4B8C-83A1-F6EECF244321}">
                <p14:modId xmlns:p14="http://schemas.microsoft.com/office/powerpoint/2010/main" val="2187821857"/>
              </p:ext>
            </p:extLst>
          </p:nvPr>
        </p:nvGraphicFramePr>
        <p:xfrm>
          <a:off x="320040" y="777240"/>
          <a:ext cx="6016752" cy="18725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82054727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57165034"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452303485" name="Ledger table"/>
          <p:cNvGraphicFramePr>
            <a:graphicFrameLocks noGrp="1"/>
          </p:cNvGraphicFramePr>
          <p:nvPr>
            <p:extLst>
              <p:ext uri="{D42A27DB-BD31-4B8C-83A1-F6EECF244321}">
                <p14:modId xmlns:p14="http://schemas.microsoft.com/office/powerpoint/2010/main" val="2163119045"/>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5716503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79005680"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959985196" name="Ledger table"/>
          <p:cNvGraphicFramePr>
            <a:graphicFrameLocks noGrp="1"/>
          </p:cNvGraphicFramePr>
          <p:nvPr>
            <p:extLst>
              <p:ext uri="{D42A27DB-BD31-4B8C-83A1-F6EECF244321}">
                <p14:modId xmlns:p14="http://schemas.microsoft.com/office/powerpoint/2010/main" val="1801729319"/>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93036940"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95998519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86846645"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678629232"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69471103" name="Rectangle 4"/>
          <p:cNvSpPr/>
          <p:nvPr/>
        </p:nvSpPr>
        <p:spPr bwMode="auto">
          <a:xfrm>
            <a:off x="320040" y="3301221"/>
            <a:ext cx="6016752" cy="45720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chemeClr val="accent4"/>
                </a:solidFill>
              </a:rPr>
              <a:t>MCP has no field for execution constraints; they live in the code of the host and the server.</a:t>
            </a:r>
            <a:endParaRPr/>
          </a:p>
        </p:txBody>
      </p:sp>
      <p:sp>
        <p:nvSpPr>
          <p:cNvPr id="276089415"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7694711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OWASP</a:t>
            </a:r>
            <a:r>
              <a:rPr lang="en-US" sz="1100" baseline="30000">
                <a:solidFill>
                  <a:srgbClr val="FFFFFF">
                    <a:alpha val="0"/>
                  </a:srgbClr>
                </a:solidFill>
              </a:rPr>
              <a:t>[1]</a:t>
            </a:r>
            <a:r>
              <a:rPr lang="en-US" sz="1100" b="0">
                <a:solidFill>
                  <a:srgbClr val="FFFFFF">
                    <a:alpha val="0"/>
                  </a:srgbClr>
                </a:solidFill>
              </a:rPr>
              <a:t> classifies the incident by risk category.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1.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2.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3.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Rectangle 4"/>
          <p:cNvSpPr/>
          <p:nvPr/>
        </p:nvSpPr>
        <p:spPr bwMode="auto">
          <a:xfrm>
            <a:off x="320040" y="4232162"/>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OWASP asks which conditions make a deployment vulnerable. ATLAS records what the adversary did, step by step.</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6"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87630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0333596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38303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78267578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88976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33862890"/>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459818468"/>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failed control was a setting, a file or a model behavior that an attacker could change or get past through the Gateway API, the agent's tools or a page.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6"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2871209806"/>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The enforcement point</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3870212"/>
            <a:ext cx="5733288" cy="6649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Alignment is the other.</a:t>
            </a:r>
            <a:r>
              <a:rPr lang="en-US" sz="1200" b="0">
                <a:solidFill>
                  <a:srgbClr val="FFFFFF">
                    <a:alpha val="0"/>
                  </a:srgbClr>
                </a:solidFill>
              </a:rPr>
              <a:t> </a:t>
            </a:r>
            <a:r>
              <a:rPr lang="en-US" sz="1200" b="0" u="sng">
                <a:solidFill>
                  <a:srgbClr val="FFFFFF">
                    <a:alpha val="0"/>
                  </a:srgbClr>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FFFFFF">
                    <a:alpha val="0"/>
                  </a:srgbClr>
                </a:solidFill>
              </a:rPr>
              <a:t> trains or fine-tunes a generative model toward safe, in-scope behavior.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Rectangle 4"/>
          <p:cNvSpPr/>
          <p:nvPr/>
        </p:nvSpPr>
        <p:spPr bwMode="auto">
          <a:xfrm>
            <a:off x="320040" y="278423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that lives in the model depends on the model's behavior, so a measurement of that behavior under tool use tests the placement.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treatment:</a:t>
            </a:r>
            <a:r>
              <a:rPr lang="en-US" sz="1200" b="0">
                <a:solidFill>
                  <a:srgbClr val="FFFFFF">
                    <a:alpha val="0"/>
                  </a:srgbClr>
                </a:solidFill>
              </a:rPr>
              <a:t> the same model uses four tools in a ReACT loop.</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1.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2.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Rectangle 4"/>
          <p:cNvSpPr/>
          <p:nvPr/>
        </p:nvSpPr>
        <p:spPr bwMode="auto">
          <a:xfrm>
            <a:off x="320040" y="410322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model runs twice, with and without the tool loop, and the study counts the harmful requests it fails to refuse.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All 11 models</a:t>
            </a:r>
            <a:r>
              <a:rPr lang="en-US" sz="1200" baseline="30000">
                <a:solidFill>
                  <a:srgbClr val="FFFFFF">
                    <a:alpha val="0"/>
                  </a:srgbClr>
                </a:solidFill>
              </a:rPr>
              <a:t>[1]</a:t>
            </a:r>
            <a:r>
              <a:rPr lang="en-US" sz="1200" b="0">
                <a:solidFill>
                  <a:srgbClr val="FFFFFF">
                    <a:alpha val="0"/>
                  </a:srgbClr>
                </a:solidFill>
              </a:rPr>
              <a:t> fail to refuse more often with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1.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2.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Rectangle 4"/>
          <p:cNvSpPr/>
          <p:nvPr/>
        </p:nvSpPr>
        <p:spPr bwMode="auto">
          <a:xfrm>
            <a:off x="320040" y="4224528"/>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Tool use increased refusal failure rates across all 11 evaluated models.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call:</a:t>
            </a:r>
            <a:r>
              <a:rPr lang="en-US" sz="1200" b="0">
                <a:solidFill>
                  <a:srgbClr val="FFFFFF">
                    <a:alpha val="0"/>
                  </a:srgbClr>
                </a:solidFill>
              </a:rPr>
              <a:t> 11.8%. </a:t>
            </a:r>
            <a:r>
              <a:rPr lang="en-US" sz="1200" b="1">
                <a:solidFill>
                  <a:srgbClr val="FFFFFF">
                    <a:alpha val="0"/>
                  </a:srgbClr>
                </a:solidFill>
              </a:rPr>
              <a:t>Three or more calls:</a:t>
            </a:r>
            <a:r>
              <a:rPr lang="en-US" sz="1200" b="0">
                <a:solidFill>
                  <a:srgbClr val="FFFFFF">
                    <a:alpha val="0"/>
                  </a:srgbClr>
                </a:solidFill>
              </a:rPr>
              <a:t> 37.1%.</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1.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2.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3.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4.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Rectangle 4"/>
          <p:cNvSpPr/>
          <p:nvPr/>
        </p:nvSpPr>
        <p:spPr bwMode="auto">
          <a:xfrm>
            <a:off x="320040" y="414349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Among requests that the model refused without tools, the failures grow with the number of tool calls it makes.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minimal prompt adds 3.8 points,</a:t>
            </a:r>
            <a:r>
              <a:rPr lang="en-US" sz="1200" b="0">
                <a:solidFill>
                  <a:srgbClr val="FFFFFF">
                    <a:alpha val="0"/>
                  </a:srgbClr>
                </a:solidFill>
              </a:rPr>
              <a:t> the structured one 4.2.</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loss of refusals appears when the tool output is fake, when the prompt changes, and when the tools are not the authors' own.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Context dilution:</a:t>
            </a:r>
            <a:r>
              <a:rPr lang="en-US" sz="1200" b="0">
                <a:solidFill>
                  <a:srgbClr val="FFFFFF">
                    <a:alpha val="0"/>
                  </a:srgbClr>
                </a:solidFill>
              </a:rPr>
              <a:t> each output pushes the request back.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1.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2.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3.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authors propose that tool observations dilute the request and displace safety statements in the answer.</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Without tools,</a:t>
            </a:r>
            <a:r>
              <a:rPr lang="en-US" sz="1200" baseline="30000">
                <a:solidFill>
                  <a:srgbClr val="FFFFFF">
                    <a:alpha val="0"/>
                  </a:srgbClr>
                </a:solidFill>
              </a:rPr>
              <a:t>[1]</a:t>
            </a:r>
            <a:r>
              <a:rPr lang="en-US" sz="1200" b="0">
                <a:solidFill>
                  <a:srgbClr val="FFFFFF">
                    <a:alpha val="0"/>
                  </a:srgbClr>
                </a:solidFill>
              </a:rPr>
              <a:t> most refusals open with a direct answer: 55.6%.</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 tools, most refusals open by describing the image or a tool's output, and fewer open with a safety statement.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restates the image and question</a:t>
            </a:r>
            <a:r>
              <a:rPr lang="en-US" sz="1200" b="0">
                <a:solidFill>
                  <a:srgbClr val="FFFFFF">
                    <a:alpha val="0"/>
                  </a:srgbClr>
                </a:solidFill>
              </a:rPr>
              <a:t> with no safety wording.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2.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3.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4.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Re-asking restores part of the refusals. Refusal failure rates remained above the no-tool baseline for each evaluated model.</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falls to 32.4%,</a:t>
            </a:r>
            <a:r>
              <a:rPr lang="en-US" sz="1200" b="0">
                <a:solidFill>
                  <a:srgbClr val="FFFFFF">
                    <a:alpha val="0"/>
                  </a:srgbClr>
                </a:solidFill>
              </a:rPr>
              <a:t> from 35.9%, still above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3.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Rectangle 4"/>
          <p:cNvSpPr/>
          <p:nvPr/>
        </p:nvSpPr>
        <p:spPr bwMode="auto">
          <a:xfrm>
            <a:off x="320040" y="408710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repair placed in the harness narrows the gap and leaves part of it open.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effect needs no attack on the tools.</a:t>
            </a:r>
            <a:r>
              <a:rPr lang="en-US" sz="1200" b="0">
                <a:solidFill>
                  <a:srgbClr val="FFFFFF">
                    <a:alpha val="0"/>
                  </a:srgbClr>
                </a:solidFill>
              </a:rPr>
              <a:t> It persists when the tool output, the prompt or the tools change.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Rectangle 4"/>
          <p:cNvSpPr/>
          <p:nvPr/>
        </p:nvSpPr>
        <p:spPr bwMode="auto">
          <a:xfrm>
            <a:off x="320040" y="25739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refusal rule held only in the model weakens as tools are used, so the next question is which process should enforce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harness:</a:t>
            </a:r>
            <a:r>
              <a:rPr lang="en-US" sz="1200" b="0">
                <a:solidFill>
                  <a:srgbClr val="FFFFFF">
                    <a:alpha val="0"/>
                  </a:srgbClr>
                </a:solidFill>
              </a:rPr>
              <a:t> the dispatcher's check on every call.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1.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2.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3.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pic>
        <p:nvPicPr>
          <p:cNvPr id="4"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sp>
        <p:nvSpPr>
          <p:cNvPr id="4" name="Rectangle 4"/>
          <p:cNvSpPr/>
          <p:nvPr/>
        </p:nvSpPr>
        <p:spPr bwMode="auto">
          <a:xfrm>
            <a:off x="320040" y="4069080"/>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Prompt instructions and checks within the agent's process remain exposed to agent influence. Kernel controls and external hardware enforce policy across a separate trust boundary.</a:t>
            </a:r>
            <a:endParaRPr/>
          </a:p>
        </p:txBody>
      </p:sp>
      <p:pic>
        <p:nvPicPr>
          <p:cNvPr id="5"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1.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2.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3.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Kernel enforcement and external hardware place controls outside the agent's process.</a:t>
            </a:r>
            <a:endParaRPr/>
          </a:p>
        </p:txBody>
      </p:sp>
      <p:pic>
        <p:nvPicPr>
          <p:cNvPr id="7"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1.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2.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3.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4.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5.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sp>
        <p:nvSpPr>
          <p:cNvPr id="4" name="Rectangle 4"/>
          <p:cNvSpPr/>
          <p:nvPr/>
        </p:nvSpPr>
        <p:spPr bwMode="auto">
          <a:xfrm>
            <a:off x="320040" y="3915281"/>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Definition poisoning, response poisoning, and exfiltration through tool arguments involve model-visible text. Implementation poisoning, credential access, and sandbox escape involve executable code or process privileges.</a:t>
            </a:r>
            <a:endParaRPr/>
          </a:p>
        </p:txBody>
      </p:sp>
      <p:pic>
        <p:nvPicPr>
          <p:cNvPr id="6"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OpenShell and the sandbox research</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NVIDIA announced OpenShell at GTC on March 16, 2026,</a:t>
            </a:r>
            <a:r>
              <a:rPr lang="en-US" sz="1200" b="0" dirty="0">
                <a:solidFill>
                  <a:srgbClr val="FFFFFF">
                    <a:alpha val="0"/>
                  </a:srgbClr>
                </a:solidFill>
              </a:rPr>
              <a:t> as part of </a:t>
            </a:r>
            <a:r>
              <a:rPr lang="en-US" sz="1200" b="0" dirty="0" err="1">
                <a:solidFill>
                  <a:srgbClr val="FFFFFF">
                    <a:alpha val="0"/>
                  </a:srgbClr>
                </a:solidFill>
              </a:rPr>
              <a:t>NemoClaw</a:t>
            </a:r>
            <a:r>
              <a:rPr lang="en-US" sz="1200" b="0" dirty="0">
                <a:solidFill>
                  <a:srgbClr val="FFFFFF">
                    <a:alpha val="0"/>
                  </a:srgbClr>
                </a:solidFill>
              </a:rPr>
              <a:t>, the stack that runs OpenClaw inside OpenShell. On September 28, 2026, NVIDIA paired OpenShell with the Sentry reference design as the Open Agent Safety Platform</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Rectangle 4"/>
          <p:cNvSpPr/>
          <p:nvPr/>
        </p:nvSpPr>
        <p:spPr bwMode="auto">
          <a:xfrm>
            <a:off x="320040" y="40461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enforces resource access outside the agent's process while running the agent unmodified.</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Processes:</a:t>
            </a:r>
            <a:r>
              <a:rPr lang="en-US" sz="1200" b="0">
                <a:solidFill>
                  <a:srgbClr val="FFFFFF">
                    <a:alpha val="0"/>
                  </a:srgbClr>
                </a:solidFill>
              </a:rPr>
              <a:t> each shell, interpreter or scanner it starts has its authority.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the kernel enforces holds whatever the model chooses.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6"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client, gateway and driver</a:t>
            </a:r>
            <a:r>
              <a:rPr lang="en-US" sz="1200" b="0">
                <a:solidFill>
                  <a:srgbClr val="000000"/>
                </a:solidFill>
              </a:rPr>
              <a:t> create, record and place sandboxes.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decides every connection from outside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Docker ran it, and only the model server was reachable.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6 and 7.</a:t>
            </a:r>
            <a:endParaRPr/>
          </a:p>
        </p:txBody>
      </p:sp>
      <p:pic>
        <p:nvPicPr>
          <p:cNvPr id="5" name="Picture 1847912324" descr="component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client, gateway and driver</a:t>
            </a:r>
            <a:r>
              <a:rPr lang="en-US" sz="1200" b="0">
                <a:solidFill>
                  <a:srgbClr val="000000"/>
                </a:solidFill>
              </a:rPr>
              <a:t> create, record and place sandboxes.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decides every connection from outside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Docker ran it, and only the model server was reachable.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6 and 7.</a:t>
            </a:r>
            <a:endParaRPr/>
          </a:p>
        </p:txBody>
      </p:sp>
      <p:pic>
        <p:nvPicPr>
          <p:cNvPr id="5" name="Picture 1847912324" descr="component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client, gateway and driver</a:t>
            </a:r>
            <a:r>
              <a:rPr lang="en-US" sz="1200" b="0">
                <a:solidFill>
                  <a:srgbClr val="000000"/>
                </a:solidFill>
              </a:rPr>
              <a:t> create, record and place sandboxes.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decides every connection from outside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Docker ran it, and only the model server was reachable.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6 and 7.</a:t>
            </a:r>
            <a:endParaRPr/>
          </a:p>
        </p:txBody>
      </p:sp>
      <p:pic>
        <p:nvPicPr>
          <p:cNvPr id="5" name="Picture 1847912324" descr="component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client, gateway and driver</a:t>
            </a:r>
            <a:r>
              <a:rPr lang="en-US" sz="1200" b="0">
                <a:solidFill>
                  <a:srgbClr val="000000"/>
                </a:solidFill>
              </a:rPr>
              <a:t> create, record and place sandboxes.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decides every connection from outside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Docker ran it, and only the model server was reachable.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6 and 7.</a:t>
            </a:r>
            <a:endParaRPr/>
          </a:p>
        </p:txBody>
      </p:sp>
      <p:pic>
        <p:nvPicPr>
          <p:cNvPr id="5" name="Picture 1847912324" descr="component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client, gateway and driver</a:t>
            </a:r>
            <a:r>
              <a:rPr lang="en-US" sz="1200" b="0">
                <a:solidFill>
                  <a:srgbClr val="000000"/>
                </a:solidFill>
              </a:rPr>
              <a:t> create, record and place sandboxes.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decides every connection from outside the workload.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Docker ran it, and only the model server was reachable.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6 and 7.</a:t>
            </a:r>
            <a:endParaRPr/>
          </a:p>
        </p:txBody>
      </p:sp>
      <p:pic>
        <p:nvPicPr>
          <p:cNvPr id="5" name="Picture 1847912324" descr="component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client, gateway and driver</a:t>
            </a:r>
            <a:r>
              <a:rPr lang="en-US" sz="1200" b="0">
                <a:solidFill>
                  <a:srgbClr val="000000"/>
                </a:solidFill>
              </a:rPr>
              <a:t> create, record and place sandboxes.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decides every connection from outside the workload.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Docker ran it, and only the model server was reachable.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6 and 7.</a:t>
            </a:r>
            <a:endParaRPr/>
          </a:p>
        </p:txBody>
      </p:sp>
      <p:pic>
        <p:nvPicPr>
          <p:cNvPr id="5" name="Picture 1847912324" descr="component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client, gateway and driver</a:t>
            </a:r>
            <a:r>
              <a:rPr lang="en-US" sz="1200" b="0">
                <a:solidFill>
                  <a:srgbClr val="000000"/>
                </a:solidFill>
              </a:rPr>
              <a:t> create, record and place sandboxes.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decides every connection from outside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Docker ran it, and only the model server was reachable.</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6 and 7.</a:t>
            </a:r>
            <a:endParaRPr/>
          </a:p>
        </p:txBody>
      </p:sp>
      <p:pic>
        <p:nvPicPr>
          <p:cNvPr id="5" name="Picture 1847912324" descr="components-7.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client, gateway and driver</a:t>
            </a:r>
            <a:r>
              <a:rPr lang="en-US" sz="1200" b="0">
                <a:solidFill>
                  <a:srgbClr val="000000"/>
                </a:solidFill>
              </a:rPr>
              <a:t> create, record and place sandboxes.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decides every connection from outside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Docker ran it, and only the model server was reachable.</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keys and the network decisions stay outside the agent's workload.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6 and 7.</a:t>
            </a:r>
            <a:endParaRPr/>
          </a:p>
        </p:txBody>
      </p:sp>
      <p:pic>
        <p:nvPicPr>
          <p:cNvPr id="6" name="Picture 1847912324" descr="components-7.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sandbox is a record before a container.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record comes first:</a:t>
            </a:r>
            <a:r>
              <a:rPr lang="en-US" sz="1200" b="0">
                <a:solidFill>
                  <a:srgbClr val="000000"/>
                </a:solidFill>
              </a:rPr>
              <a:t> the gateway stores it before any driver runs.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driver provisions,</a:t>
            </a:r>
            <a:r>
              <a:rPr lang="en-US" sz="1200" b="0">
                <a:solidFill>
                  <a:srgbClr val="FFFFFF">
                    <a:alpha val="0"/>
                  </a:srgbClr>
                </a:solidFill>
              </a:rPr>
              <a:t> then the supervisor connects back and says hello.</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Ready means the API can reach it,</a:t>
            </a:r>
            <a:r>
              <a:rPr lang="en-US" sz="1200" b="0">
                <a:solidFill>
                  <a:srgbClr val="FFFFFF">
                    <a:alpha val="0"/>
                  </a:srgbClr>
                </a:solidFill>
              </a:rPr>
              <a:t> and it says nothing about the agent.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sandbox list</a:t>
            </a:r>
            <a:r>
              <a:rPr lang="en-US" sz="1200" b="0">
                <a:solidFill>
                  <a:srgbClr val="FFFFFF">
                    <a:alpha val="0"/>
                  </a:srgbClr>
                </a:solidFill>
              </a:rPr>
              <a:t> showed it Ready within four seconds.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4.</a:t>
            </a:r>
            <a:endParaRPr/>
          </a:p>
        </p:txBody>
      </p:sp>
      <p:pic>
        <p:nvPicPr>
          <p:cNvPr id="5" name="Picture 1847912324" descr="lifecycle-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sandbox is a record before a container.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record comes first:</a:t>
            </a:r>
            <a:r>
              <a:rPr lang="en-US" sz="1200" b="0">
                <a:solidFill>
                  <a:srgbClr val="000000"/>
                </a:solidFill>
              </a:rPr>
              <a:t> the gateway stores it before any driver runs.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driver provisions,</a:t>
            </a:r>
            <a:r>
              <a:rPr lang="en-US" sz="1200" b="0">
                <a:solidFill>
                  <a:srgbClr val="000000"/>
                </a:solidFill>
              </a:rPr>
              <a:t> then the supervisor connects back and says hello.</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Ready means the API can reach it,</a:t>
            </a:r>
            <a:r>
              <a:rPr lang="en-US" sz="1200" b="0">
                <a:solidFill>
                  <a:srgbClr val="FFFFFF">
                    <a:alpha val="0"/>
                  </a:srgbClr>
                </a:solidFill>
              </a:rPr>
              <a:t> and it says nothing about the agent.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sandbox list</a:t>
            </a:r>
            <a:r>
              <a:rPr lang="en-US" sz="1200" b="0">
                <a:solidFill>
                  <a:srgbClr val="FFFFFF">
                    <a:alpha val="0"/>
                  </a:srgbClr>
                </a:solidFill>
              </a:rPr>
              <a:t> showed it Ready within four seconds.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4.</a:t>
            </a:r>
            <a:endParaRPr/>
          </a:p>
        </p:txBody>
      </p:sp>
      <p:pic>
        <p:nvPicPr>
          <p:cNvPr id="5" name="Picture 1847912324" descr="lifecycle-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sandbox is a record before a container.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record comes first:</a:t>
            </a:r>
            <a:r>
              <a:rPr lang="en-US" sz="1200" b="0">
                <a:solidFill>
                  <a:srgbClr val="000000"/>
                </a:solidFill>
              </a:rPr>
              <a:t> the gateway stores it before any driver runs.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driver provisions,</a:t>
            </a:r>
            <a:r>
              <a:rPr lang="en-US" sz="1200" b="0">
                <a:solidFill>
                  <a:srgbClr val="000000"/>
                </a:solidFill>
              </a:rPr>
              <a:t> then the supervisor connects back and says hello.</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Ready means the API can reach it,</a:t>
            </a:r>
            <a:r>
              <a:rPr lang="en-US" sz="1200" b="0">
                <a:solidFill>
                  <a:srgbClr val="FFFFFF">
                    <a:alpha val="0"/>
                  </a:srgbClr>
                </a:solidFill>
              </a:rPr>
              <a:t> and it says nothing about the agent.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sandbox list</a:t>
            </a:r>
            <a:r>
              <a:rPr lang="en-US" sz="1200" b="0">
                <a:solidFill>
                  <a:srgbClr val="FFFFFF">
                    <a:alpha val="0"/>
                  </a:srgbClr>
                </a:solidFill>
              </a:rPr>
              <a:t> showed it Ready within four seconds.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4.</a:t>
            </a:r>
            <a:endParaRPr/>
          </a:p>
        </p:txBody>
      </p:sp>
      <p:pic>
        <p:nvPicPr>
          <p:cNvPr id="5" name="Picture 1847912324" descr="lifecycle-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sandbox is a record before a container.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record comes first:</a:t>
            </a:r>
            <a:r>
              <a:rPr lang="en-US" sz="1200" b="0">
                <a:solidFill>
                  <a:srgbClr val="000000"/>
                </a:solidFill>
              </a:rPr>
              <a:t> the gateway stores it before any driver runs.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driver provisions,</a:t>
            </a:r>
            <a:r>
              <a:rPr lang="en-US" sz="1200" b="0">
                <a:solidFill>
                  <a:srgbClr val="000000"/>
                </a:solidFill>
              </a:rPr>
              <a:t> then the supervisor connects back and says hello.</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Ready means the API can reach it,</a:t>
            </a:r>
            <a:r>
              <a:rPr lang="en-US" sz="1200" b="0">
                <a:solidFill>
                  <a:srgbClr val="000000"/>
                </a:solidFill>
              </a:rPr>
              <a:t> and it says nothing about the agent.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sandbox list</a:t>
            </a:r>
            <a:r>
              <a:rPr lang="en-US" sz="1200" b="0">
                <a:solidFill>
                  <a:srgbClr val="FFFFFF">
                    <a:alpha val="0"/>
                  </a:srgbClr>
                </a:solidFill>
              </a:rPr>
              <a:t> showed it Ready within four seconds.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4.</a:t>
            </a:r>
            <a:endParaRPr/>
          </a:p>
        </p:txBody>
      </p:sp>
      <p:pic>
        <p:nvPicPr>
          <p:cNvPr id="5" name="Picture 1847912324" descr="lifecycle-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sandbox is a record before a container.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record comes first:</a:t>
            </a:r>
            <a:r>
              <a:rPr lang="en-US" sz="1200" b="0">
                <a:solidFill>
                  <a:srgbClr val="000000"/>
                </a:solidFill>
              </a:rPr>
              <a:t> the gateway stores it before any driver runs.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driver provisions,</a:t>
            </a:r>
            <a:r>
              <a:rPr lang="en-US" sz="1200" b="0">
                <a:solidFill>
                  <a:srgbClr val="000000"/>
                </a:solidFill>
              </a:rPr>
              <a:t> then the supervisor connects back and says hello.</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Ready means the API can reach it,</a:t>
            </a:r>
            <a:r>
              <a:rPr lang="en-US" sz="1200" b="0">
                <a:solidFill>
                  <a:srgbClr val="000000"/>
                </a:solidFill>
              </a:rPr>
              <a:t> and it says nothing about the agent.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sandbox list</a:t>
            </a:r>
            <a:r>
              <a:rPr lang="en-US" sz="1200" b="0">
                <a:solidFill>
                  <a:srgbClr val="FFFFFF">
                    <a:alpha val="0"/>
                  </a:srgbClr>
                </a:solidFill>
              </a:rPr>
              <a:t> showed it Ready within four seconds.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4.</a:t>
            </a:r>
            <a:endParaRPr/>
          </a:p>
        </p:txBody>
      </p:sp>
      <p:pic>
        <p:nvPicPr>
          <p:cNvPr id="5" name="Picture 1847912324" descr="lifecycle-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sandbox is a record before a container.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record comes first:</a:t>
            </a:r>
            <a:r>
              <a:rPr lang="en-US" sz="1200" b="0">
                <a:solidFill>
                  <a:srgbClr val="000000"/>
                </a:solidFill>
              </a:rPr>
              <a:t> the gateway stores it before any driver runs.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driver provisions,</a:t>
            </a:r>
            <a:r>
              <a:rPr lang="en-US" sz="1200" b="0">
                <a:solidFill>
                  <a:srgbClr val="000000"/>
                </a:solidFill>
              </a:rPr>
              <a:t> then the supervisor connects back and says hello.</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Ready means the API can reach it,</a:t>
            </a:r>
            <a:r>
              <a:rPr lang="en-US" sz="1200" b="0">
                <a:solidFill>
                  <a:srgbClr val="000000"/>
                </a:solidFill>
              </a:rPr>
              <a:t> and it says nothing about the agent.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sandbox list</a:t>
            </a:r>
            <a:r>
              <a:rPr lang="en-US" sz="1200" b="0">
                <a:solidFill>
                  <a:srgbClr val="000000"/>
                </a:solidFill>
              </a:rPr>
              <a:t> showed it Ready within four seconds.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4.</a:t>
            </a:r>
            <a:endParaRPr/>
          </a:p>
        </p:txBody>
      </p:sp>
      <p:pic>
        <p:nvPicPr>
          <p:cNvPr id="5" name="Picture 1847912324" descr="lifecycle-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sandbox is a record before a container.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record comes first:</a:t>
            </a:r>
            <a:r>
              <a:rPr lang="en-US" sz="1200" b="0">
                <a:solidFill>
                  <a:srgbClr val="000000"/>
                </a:solidFill>
              </a:rPr>
              <a:t> the gateway stores it before any driver runs.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driver provisions,</a:t>
            </a:r>
            <a:r>
              <a:rPr lang="en-US" sz="1200" b="0">
                <a:solidFill>
                  <a:srgbClr val="000000"/>
                </a:solidFill>
              </a:rPr>
              <a:t> then the supervisor connects back and says hello.</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Ready means the API can reach it,</a:t>
            </a:r>
            <a:r>
              <a:rPr lang="en-US" sz="1200" b="0">
                <a:solidFill>
                  <a:srgbClr val="000000"/>
                </a:solidFill>
              </a:rPr>
              <a:t> and it says nothing about the agent.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sandbox list</a:t>
            </a:r>
            <a:r>
              <a:rPr lang="en-US" sz="1200" b="0">
                <a:solidFill>
                  <a:srgbClr val="000000"/>
                </a:solidFill>
              </a:rPr>
              <a:t> showed it Ready within four seconds.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gateway records each phase, so an interrupted create can be reconciled.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4.</a:t>
            </a:r>
            <a:endParaRPr/>
          </a:p>
        </p:txBody>
      </p:sp>
      <p:pic>
        <p:nvPicPr>
          <p:cNvPr id="6" name="Picture 1847912324" descr="lifecycle-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What and which:</a:t>
            </a:r>
            <a:r>
              <a:rPr lang="en-US" sz="1200" b="0">
                <a:solidFill>
                  <a:srgbClr val="FFFFFF">
                    <a:alpha val="0"/>
                  </a:srgbClr>
                </a:solidFill>
              </a:rPr>
              <a:t> the method's permission, then the workspace and object.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Who:</a:t>
            </a:r>
            <a:r>
              <a:rPr lang="en-US" sz="1200" b="0" dirty="0">
                <a:solidFill>
                  <a:srgbClr val="000000"/>
                </a:solidFill>
              </a:rPr>
              <a:t> a user's token or client key, or a supervisor's own credential.</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What and which:</a:t>
            </a:r>
            <a:r>
              <a:rPr lang="en-US" sz="1200" b="0" dirty="0">
                <a:solidFill>
                  <a:srgbClr val="000000"/>
                </a:solidFill>
              </a:rPr>
              <a:t> the method's permission, then the workspace and object.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store</a:t>
            </a:r>
            <a:r>
              <a:rPr lang="en-US" sz="1200" b="0" dirty="0">
                <a:solidFill>
                  <a:srgbClr val="000000"/>
                </a:solidFill>
              </a:rPr>
              <a:t> writes a record only if its version is still the one read.</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In </a:t>
            </a:r>
            <a:r>
              <a:rPr lang="en-US" sz="1200" b="1" dirty="0" err="1">
                <a:solidFill>
                  <a:srgbClr val="000000"/>
                </a:solidFill>
              </a:rPr>
              <a:t>Cyberbird's</a:t>
            </a:r>
            <a:r>
              <a:rPr lang="en-US" sz="1200" b="1" dirty="0">
                <a:solidFill>
                  <a:srgbClr val="000000"/>
                </a:solidFill>
              </a:rPr>
              <a:t> case,</a:t>
            </a:r>
            <a:r>
              <a:rPr lang="en-US" sz="1200" b="0" dirty="0">
                <a:solidFill>
                  <a:srgbClr val="000000"/>
                </a:solidFill>
              </a:rPr>
              <a:t> our client key created </a:t>
            </a:r>
            <a:r>
              <a:rPr lang="en-US" sz="1200" b="0" dirty="0" err="1">
                <a:solidFill>
                  <a:srgbClr val="000000"/>
                </a:solidFill>
                <a:latin typeface="Aptos Mono"/>
              </a:rPr>
              <a:t>cyberbird</a:t>
            </a:r>
            <a:r>
              <a:rPr lang="en-US" sz="1200" b="0" dirty="0">
                <a:solidFill>
                  <a:srgbClr val="000000"/>
                </a:solidFill>
              </a:rPr>
              <a:t> in </a:t>
            </a:r>
            <a:r>
              <a:rPr lang="en-US" sz="1200" b="0" dirty="0">
                <a:solidFill>
                  <a:srgbClr val="000000"/>
                </a:solidFill>
                <a:latin typeface="Aptos Mono"/>
              </a:rPr>
              <a:t>default</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our client key created </a:t>
            </a:r>
            <a:r>
              <a:rPr lang="en-US" sz="1200" b="0">
                <a:solidFill>
                  <a:srgbClr val="000000"/>
                </a:solidFill>
                <a:latin typeface="Aptos Mono"/>
              </a:rPr>
              <a:t>cyberbird</a:t>
            </a:r>
            <a:r>
              <a:rPr lang="en-US" sz="1200" b="0">
                <a:solidFill>
                  <a:srgbClr val="000000"/>
                </a:solidFill>
              </a:rPr>
              <a:t> in </a:t>
            </a:r>
            <a:r>
              <a:rPr lang="en-US" sz="1200" b="0">
                <a:solidFill>
                  <a:srgbClr val="000000"/>
                </a:solidFill>
                <a:latin typeface="Aptos Mono"/>
              </a:rPr>
              <a:t>default</a:t>
            </a:r>
            <a:r>
              <a:rPr lang="en-US" sz="1200" b="0">
                <a:solidFill>
                  <a:srgbClr val="000000"/>
                </a:solidFill>
              </a:rPr>
              <a: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gateway checks caller, method and object before a conditional write.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6"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1.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2.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3.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Rectangle 4"/>
          <p:cNvSpPr/>
          <p:nvPr/>
        </p:nvSpPr>
        <p:spPr bwMode="auto">
          <a:xfrm>
            <a:off x="320040" y="4362869"/>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fences are in the kernel before the agent's first instruction runs.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6"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File rules are fixed at the start, and network rules can change live.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list grants </a:t>
            </a:r>
            <a:r>
              <a:rPr lang="en-US" sz="1200" b="0">
                <a:solidFill>
                  <a:srgbClr val="FFFFFF">
                    <a:alpha val="0"/>
                  </a:srgbClr>
                </a:solidFill>
                <a:latin typeface="Aptos Mono"/>
              </a:rPr>
              <a:t>/app</a:t>
            </a:r>
            <a:r>
              <a:rPr lang="en-US" sz="1200" b="1">
                <a:solidFill>
                  <a:srgbClr val="FFFFFF">
                    <a:alpha val="0"/>
                  </a:srgbClr>
                </a:solidFill>
              </a:rPr>
              <a:t>,</a:t>
            </a:r>
            <a:r>
              <a:rPr lang="en-US" sz="1200" b="0">
                <a:solidFill>
                  <a:srgbClr val="FFFFFF">
                    <a:alpha val="0"/>
                  </a:srgbClr>
                </a:solidFill>
              </a:rPr>
              <a:t> so every case and the answer key stay readable.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5"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67247"/>
            <a:ext cx="6016752" cy="0"/>
          </a:xfrm>
          <a:prstGeom prst="line">
            <a:avLst/>
          </a:prstGeom>
          <a:ln w="9525">
            <a:solidFill>
              <a:srgbClr val="DCDCDC"/>
            </a:solidFill>
          </a:ln>
        </p:spPr>
      </p:cxnSp>
      <p:sp>
        <p:nvSpPr>
          <p:cNvPr id="7"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1"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5"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67247"/>
            <a:ext cx="6016752" cy="0"/>
          </a:xfrm>
          <a:prstGeom prst="line">
            <a:avLst/>
          </a:prstGeom>
          <a:ln w="9525">
            <a:solidFill>
              <a:srgbClr val="DCDCDC"/>
            </a:solidFill>
          </a:ln>
        </p:spPr>
      </p:cxnSp>
      <p:sp>
        <p:nvSpPr>
          <p:cNvPr id="7"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1"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5"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67247"/>
            <a:ext cx="6016752" cy="0"/>
          </a:xfrm>
          <a:prstGeom prst="line">
            <a:avLst/>
          </a:prstGeom>
          <a:ln w="9525">
            <a:solidFill>
              <a:srgbClr val="DCDCDC"/>
            </a:solidFill>
          </a:ln>
        </p:spPr>
      </p:cxnSp>
      <p:sp>
        <p:nvSpPr>
          <p:cNvPr id="7"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1"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line by line</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As a document,</a:t>
            </a:r>
            <a:r>
              <a:rPr lang="en-US" sz="1200" b="0">
                <a:solidFill>
                  <a:srgbClr val="000000"/>
                </a:solidFill>
              </a:rPr>
              <a:t> a policy is parsed, validated, versioned and diffed.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4" name="Rectangle 4"/>
          <p:cNvSpPr/>
          <p:nvPr/>
        </p:nvSpPr>
        <p:spPr bwMode="auto">
          <a:xfrm>
            <a:off x="320040" y="433344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grant covers everything beneath its path, the answer key included.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sp>
        <p:nvSpPr>
          <p:cNvPr id="6" name="CodeWindow"/>
          <p:cNvSpPr/>
          <p:nvPr/>
        </p:nvSpPr>
        <p:spPr bwMode="auto">
          <a:xfrm>
            <a:off x="320040" y="1802071"/>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 name="WinBar"/>
          <p:cNvCxnSpPr/>
          <p:nvPr/>
        </p:nvCxnSpPr>
        <p:spPr bwMode="auto">
          <a:xfrm>
            <a:off x="320040" y="2067247"/>
            <a:ext cx="6016752" cy="0"/>
          </a:xfrm>
          <a:prstGeom prst="line">
            <a:avLst/>
          </a:prstGeom>
          <a:ln w="9525">
            <a:solidFill>
              <a:srgbClr val="DCDCDC"/>
            </a:solidFill>
          </a:ln>
        </p:spPr>
      </p:cxnSp>
      <p:sp>
        <p:nvSpPr>
          <p:cNvPr id="8" name="WinDot 0"/>
          <p:cNvSpPr/>
          <p:nvPr/>
        </p:nvSpPr>
        <p:spPr bwMode="auto">
          <a:xfrm>
            <a:off x="411480" y="188436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1"/>
          <p:cNvSpPr/>
          <p:nvPr/>
        </p:nvSpPr>
        <p:spPr bwMode="auto">
          <a:xfrm>
            <a:off x="548640" y="188436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WinDot 2"/>
          <p:cNvSpPr/>
          <p:nvPr/>
        </p:nvSpPr>
        <p:spPr bwMode="auto">
          <a:xfrm>
            <a:off x="685800" y="188436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8"/>
          <p:cNvSpPr txBox="1"/>
          <p:nvPr/>
        </p:nvSpPr>
        <p:spPr bwMode="auto">
          <a:xfrm>
            <a:off x="896112" y="1843219"/>
            <a:ext cx="5349240" cy="182880"/>
          </a:xfrm>
          <a:prstGeom prst="rect">
            <a:avLst/>
          </a:prstGeom>
          <a:noFill/>
        </p:spPr>
        <p:txBody>
          <a:bodyPr wrap="square" lIns="0" tIns="0" rIns="0" bIns="0" anchor="ctr">
            <a:noAutofit/>
          </a:bodyPr>
          <a:lstStyle/>
          <a:p>
            <a:pPr algn="l">
              <a:defRPr/>
            </a:pPr>
            <a:r>
              <a:rPr sz="850" b="0">
                <a:solidFill>
                  <a:srgbClr val="5B6673"/>
                </a:solidFill>
              </a:rPr>
              <a:t>cyberbird-policy.yaml: the policy of the recorded run, its three comment lines left out</a:t>
            </a:r>
            <a:endParaRPr/>
          </a:p>
        </p:txBody>
      </p:sp>
      <p:sp>
        <p:nvSpPr>
          <p:cNvPr id="12" name="TextBox 7"/>
          <p:cNvSpPr txBox="1"/>
          <p:nvPr/>
        </p:nvSpPr>
        <p:spPr bwMode="auto">
          <a:xfrm>
            <a:off x="466344" y="2131255"/>
            <a:ext cx="5724144" cy="1880804"/>
          </a:xfrm>
          <a:prstGeom prst="rect">
            <a:avLst/>
          </a:prstGeom>
          <a:noFill/>
        </p:spPr>
        <p:txBody>
          <a:bodyPr wrap="none" lIns="0" tIns="0" rIns="0" bIns="0">
            <a:spAutoFit/>
          </a:bodyPr>
          <a:lstStyle/>
          <a:p>
            <a:r>
              <a:rPr lang="en-US" sz="800" b="0">
                <a:solidFill>
                  <a:srgbClr val="0451A5"/>
                </a:solidFill>
                <a:latin typeface="Aptos Mono"/>
              </a:rPr>
              <a:t>version</a:t>
            </a:r>
            <a:r>
              <a:rPr lang="en-US" sz="800" b="0">
                <a:solidFill>
                  <a:srgbClr val="000000"/>
                </a:solidFill>
                <a:latin typeface="Aptos Mono"/>
              </a:rPr>
              <a:t>: </a:t>
            </a:r>
            <a:r>
              <a:rPr lang="en-US" sz="800" b="0">
                <a:solidFill>
                  <a:srgbClr val="098658"/>
                </a:solidFill>
                <a:latin typeface="Aptos Mono"/>
              </a:rPr>
              <a:t>1</a:t>
            </a:r>
            <a:endParaRPr/>
          </a:p>
          <a:p>
            <a:r>
              <a:rPr lang="en-US" sz="800" b="0">
                <a:solidFill>
                  <a:srgbClr val="0451A5"/>
                </a:solidFill>
                <a:latin typeface="Aptos Mono"/>
              </a:rPr>
              <a:t>filesystem_policy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include_workdir</a:t>
            </a:r>
            <a:r>
              <a:rPr lang="en-US" sz="800" b="0">
                <a:solidFill>
                  <a:srgbClr val="000000"/>
                </a:solidFill>
                <a:latin typeface="Aptos Mono"/>
              </a:rPr>
              <a:t>:</a:t>
            </a:r>
            <a:r>
              <a:rPr lang="en-US" sz="800" b="0">
                <a:solidFill>
                  <a:srgbClr val="A31515"/>
                </a:solidFill>
                <a:latin typeface="Aptos Mono"/>
              </a:rPr>
              <a:t> true</a:t>
            </a:r>
            <a:endParaRPr/>
          </a:p>
          <a:p>
            <a:r>
              <a:rPr lang="en-US" sz="800" b="0">
                <a:solidFill>
                  <a:srgbClr val="000000"/>
                </a:solidFill>
                <a:latin typeface="Aptos Mono"/>
              </a:rPr>
              <a:t>  </a:t>
            </a:r>
            <a:r>
              <a:rPr lang="en-US" sz="800" b="0">
                <a:solidFill>
                  <a:srgbClr val="0451A5"/>
                </a:solidFill>
                <a:latin typeface="Aptos Mono"/>
              </a:rPr>
              <a:t>read_only</a:t>
            </a:r>
            <a:r>
              <a:rPr lang="en-US" sz="800" b="0">
                <a:solidFill>
                  <a:srgbClr val="000000"/>
                </a:solidFill>
                <a:latin typeface="Aptos Mono"/>
              </a:rPr>
              <a:t>: [</a:t>
            </a:r>
            <a:r>
              <a:rPr lang="en-US" sz="800" b="0">
                <a:solidFill>
                  <a:srgbClr val="A31515"/>
                </a:solidFill>
                <a:latin typeface="Aptos Mono"/>
              </a:rPr>
              <a:t>/bin</a:t>
            </a:r>
            <a:r>
              <a:rPr lang="en-US" sz="800" b="0">
                <a:solidFill>
                  <a:srgbClr val="000000"/>
                </a:solidFill>
                <a:latin typeface="Aptos Mono"/>
              </a:rPr>
              <a:t>,</a:t>
            </a:r>
            <a:r>
              <a:rPr lang="en-US" sz="800" b="0">
                <a:solidFill>
                  <a:srgbClr val="A31515"/>
                </a:solidFill>
                <a:latin typeface="Aptos Mono"/>
              </a:rPr>
              <a:t> /usr</a:t>
            </a:r>
            <a:r>
              <a:rPr lang="en-US" sz="800" b="0">
                <a:solidFill>
                  <a:srgbClr val="000000"/>
                </a:solidFill>
                <a:latin typeface="Aptos Mono"/>
              </a:rPr>
              <a:t>,</a:t>
            </a:r>
            <a:r>
              <a:rPr lang="en-US" sz="800" b="0">
                <a:solidFill>
                  <a:srgbClr val="A31515"/>
                </a:solidFill>
                <a:latin typeface="Aptos Mono"/>
              </a:rPr>
              <a:t> /lib</a:t>
            </a:r>
            <a:r>
              <a:rPr lang="en-US" sz="800" b="0">
                <a:solidFill>
                  <a:srgbClr val="000000"/>
                </a:solidFill>
                <a:latin typeface="Aptos Mono"/>
              </a:rPr>
              <a:t>,</a:t>
            </a:r>
            <a:r>
              <a:rPr lang="en-US" sz="800" b="0">
                <a:solidFill>
                  <a:srgbClr val="A31515"/>
                </a:solidFill>
                <a:latin typeface="Aptos Mono"/>
              </a:rPr>
              <a:t> /etc</a:t>
            </a:r>
            <a:r>
              <a:rPr lang="en-US" sz="800" b="0">
                <a:solidFill>
                  <a:srgbClr val="000000"/>
                </a:solidFill>
                <a:latin typeface="Aptos Mono"/>
              </a:rPr>
              <a:t>,</a:t>
            </a:r>
            <a:r>
              <a:rPr lang="en-US" sz="800" b="0">
                <a:solidFill>
                  <a:srgbClr val="A31515"/>
                </a:solidFill>
                <a:latin typeface="Aptos Mono"/>
              </a:rPr>
              <a:t> /proc</a:t>
            </a:r>
            <a:r>
              <a:rPr lang="en-US" sz="800" b="0">
                <a:solidFill>
                  <a:srgbClr val="000000"/>
                </a:solidFill>
                <a:latin typeface="Aptos Mono"/>
              </a:rPr>
              <a:t>,</a:t>
            </a:r>
            <a:r>
              <a:rPr lang="en-US" sz="800" b="0">
                <a:solidFill>
                  <a:srgbClr val="A31515"/>
                </a:solidFill>
                <a:latin typeface="Aptos Mono"/>
              </a:rPr>
              <a:t> /dev/urandom</a:t>
            </a:r>
            <a:r>
              <a:rPr lang="en-US" sz="800" b="0">
                <a:solidFill>
                  <a:srgbClr val="000000"/>
                </a:solidFill>
                <a:latin typeface="Aptos Mono"/>
              </a:rPr>
              <a:t>,</a:t>
            </a:r>
            <a:r>
              <a:rPr lang="en-US" sz="800" b="0">
                <a:solidFill>
                  <a:srgbClr val="A31515"/>
                </a:solidFill>
                <a:latin typeface="Aptos Mono"/>
              </a:rPr>
              <a:t> /app</a:t>
            </a:r>
            <a:r>
              <a:rPr lang="en-US" sz="800" b="0">
                <a:solidFill>
                  <a:srgbClr val="000000"/>
                </a:solidFill>
                <a:latin typeface="Aptos Mono"/>
              </a:rPr>
              <a:t>,</a:t>
            </a:r>
            <a:r>
              <a:rPr lang="en-US" sz="800" b="0">
                <a:solidFill>
                  <a:srgbClr val="A31515"/>
                </a:solidFill>
                <a:latin typeface="Aptos Mono"/>
              </a:rPr>
              <a:t> /app/fixtures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read_write</a:t>
            </a:r>
            <a:r>
              <a:rPr lang="en-US" sz="800" b="0">
                <a:solidFill>
                  <a:srgbClr val="000000"/>
                </a:solidFill>
                <a:latin typeface="Aptos Mono"/>
              </a:rPr>
              <a:t>: [</a:t>
            </a:r>
            <a:r>
              <a:rPr lang="en-US" sz="800" b="0">
                <a:solidFill>
                  <a:srgbClr val="A31515"/>
                </a:solidFill>
                <a:latin typeface="Aptos Mono"/>
              </a:rPr>
              <a:t>/sandbox</a:t>
            </a:r>
            <a:r>
              <a:rPr lang="en-US" sz="800" b="0">
                <a:solidFill>
                  <a:srgbClr val="000000"/>
                </a:solidFill>
                <a:latin typeface="Aptos Mono"/>
              </a:rPr>
              <a:t>,</a:t>
            </a:r>
            <a:r>
              <a:rPr lang="en-US" sz="800" b="0">
                <a:solidFill>
                  <a:srgbClr val="A31515"/>
                </a:solidFill>
                <a:latin typeface="Aptos Mono"/>
              </a:rPr>
              <a:t> /tmp</a:t>
            </a:r>
            <a:r>
              <a:rPr lang="en-US" sz="800" b="0">
                <a:solidFill>
                  <a:srgbClr val="000000"/>
                </a:solidFill>
                <a:latin typeface="Aptos Mono"/>
              </a:rPr>
              <a:t>,</a:t>
            </a:r>
            <a:r>
              <a:rPr lang="en-US" sz="800" b="0">
                <a:solidFill>
                  <a:srgbClr val="A31515"/>
                </a:solidFill>
                <a:latin typeface="Aptos Mono"/>
              </a:rPr>
              <a:t> /dev/null</a:t>
            </a:r>
            <a:r>
              <a:rPr lang="en-US" sz="800" b="0">
                <a:solidFill>
                  <a:srgbClr val="000000"/>
                </a:solidFill>
                <a:latin typeface="Aptos Mono"/>
              </a:rPr>
              <a:t>,</a:t>
            </a:r>
            <a:r>
              <a:rPr lang="en-US" sz="800" b="0">
                <a:solidFill>
                  <a:srgbClr val="A31515"/>
                </a:solidFill>
                <a:latin typeface="Aptos Mono"/>
              </a:rPr>
              <a:t> /app/runs</a:t>
            </a:r>
            <a:r>
              <a:rPr lang="en-US" sz="800" b="0">
                <a:solidFill>
                  <a:srgbClr val="000000"/>
                </a:solidFill>
                <a:latin typeface="Aptos Mono"/>
              </a:rPr>
              <a:t>]</a:t>
            </a:r>
            <a:endParaRPr/>
          </a:p>
          <a:p>
            <a:r>
              <a:rPr lang="en-US" sz="800" b="0">
                <a:solidFill>
                  <a:srgbClr val="0451A5"/>
                </a:solidFill>
                <a:latin typeface="Aptos Mono"/>
              </a:rPr>
              <a:t>landlock</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compatibility</a:t>
            </a:r>
            <a:r>
              <a:rPr lang="en-US" sz="800" b="0">
                <a:solidFill>
                  <a:srgbClr val="000000"/>
                </a:solidFill>
                <a:latin typeface="Aptos Mono"/>
              </a:rPr>
              <a:t>:</a:t>
            </a:r>
            <a:r>
              <a:rPr lang="en-US" sz="800" b="0">
                <a:solidFill>
                  <a:srgbClr val="A31515"/>
                </a:solidFill>
                <a:latin typeface="Aptos Mono"/>
              </a:rPr>
              <a:t> hard_requirement</a:t>
            </a:r>
            <a:endParaRPr/>
          </a:p>
          <a:p>
            <a:r>
              <a:rPr lang="en-US" sz="800" b="0">
                <a:solidFill>
                  <a:srgbClr val="0451A5"/>
                </a:solidFill>
                <a:latin typeface="Aptos Mono"/>
              </a:rPr>
              <a:t>network_policies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model_server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endpoints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host</a:t>
            </a:r>
            <a:r>
              <a:rPr lang="en-US" sz="800" b="0">
                <a:solidFill>
                  <a:srgbClr val="000000"/>
                </a:solidFill>
                <a:latin typeface="Aptos Mono"/>
              </a:rPr>
              <a:t>:</a:t>
            </a:r>
            <a:r>
              <a:rPr lang="en-US" sz="800" b="0">
                <a:solidFill>
                  <a:srgbClr val="A31515"/>
                </a:solidFill>
                <a:latin typeface="Aptos Mono"/>
              </a:rPr>
              <a:t> host.lima.internal</a:t>
            </a:r>
            <a:endParaRPr/>
          </a:p>
          <a:p>
            <a:r>
              <a:rPr lang="en-US" sz="800" b="0">
                <a:solidFill>
                  <a:srgbClr val="000000"/>
                </a:solidFill>
                <a:latin typeface="Aptos Mono"/>
              </a:rPr>
              <a:t>        </a:t>
            </a:r>
            <a:r>
              <a:rPr lang="en-US" sz="800" b="0">
                <a:solidFill>
                  <a:srgbClr val="0451A5"/>
                </a:solidFill>
                <a:latin typeface="Aptos Mono"/>
              </a:rPr>
              <a:t>port</a:t>
            </a:r>
            <a:r>
              <a:rPr lang="en-US" sz="800" b="0">
                <a:solidFill>
                  <a:srgbClr val="000000"/>
                </a:solidFill>
                <a:latin typeface="Aptos Mono"/>
              </a:rPr>
              <a:t>: </a:t>
            </a:r>
            <a:r>
              <a:rPr lang="en-US" sz="800" b="0">
                <a:solidFill>
                  <a:srgbClr val="098658"/>
                </a:solidFill>
                <a:latin typeface="Aptos Mono"/>
              </a:rPr>
              <a:t>8080</a:t>
            </a:r>
            <a:endParaRPr/>
          </a:p>
          <a:p>
            <a:r>
              <a:rPr lang="en-US" sz="800" b="0">
                <a:solidFill>
                  <a:srgbClr val="000000"/>
                </a:solidFill>
                <a:latin typeface="Aptos Mono"/>
              </a:rPr>
              <a:t>        </a:t>
            </a:r>
            <a:r>
              <a:rPr lang="en-US" sz="800" b="0">
                <a:solidFill>
                  <a:srgbClr val="0451A5"/>
                </a:solidFill>
                <a:latin typeface="Aptos Mono"/>
              </a:rPr>
              <a:t>protocol</a:t>
            </a:r>
            <a:r>
              <a:rPr lang="en-US" sz="800" b="0">
                <a:solidFill>
                  <a:srgbClr val="000000"/>
                </a:solidFill>
                <a:latin typeface="Aptos Mono"/>
              </a:rPr>
              <a:t>:</a:t>
            </a:r>
            <a:r>
              <a:rPr lang="en-US" sz="800" b="0">
                <a:solidFill>
                  <a:srgbClr val="A31515"/>
                </a:solidFill>
                <a:latin typeface="Aptos Mono"/>
              </a:rPr>
              <a:t> tcp</a:t>
            </a:r>
            <a:endParaRPr/>
          </a:p>
          <a:p>
            <a:r>
              <a:rPr lang="en-US" sz="800" b="0">
                <a:solidFill>
                  <a:srgbClr val="000000"/>
                </a:solidFill>
                <a:latin typeface="Aptos Mono"/>
              </a:rPr>
              <a:t>    </a:t>
            </a:r>
            <a:r>
              <a:rPr lang="en-US" sz="800" b="0">
                <a:solidFill>
                  <a:srgbClr val="0451A5"/>
                </a:solidFill>
                <a:latin typeface="Aptos Mono"/>
              </a:rPr>
              <a:t>binaries</a:t>
            </a:r>
            <a:r>
              <a:rPr lang="en-US" sz="800" b="0">
                <a:solidFill>
                  <a:srgbClr val="000000"/>
                </a:solidFill>
                <a:latin typeface="Aptos Mono"/>
              </a:rPr>
              <a:t>:</a:t>
            </a:r>
            <a:endParaRPr/>
          </a:p>
          <a:p>
            <a:r>
              <a:rPr lang="en-US" sz="800" b="0">
                <a:solidFill>
                  <a:srgbClr val="000000"/>
                </a:solidFill>
                <a:latin typeface="Aptos Mono"/>
              </a:rPr>
              <a:t>      - </a:t>
            </a:r>
            <a:r>
              <a:rPr lang="en-US" sz="800" b="0">
                <a:solidFill>
                  <a:srgbClr val="0451A5"/>
                </a:solidFill>
                <a:latin typeface="Aptos Mono"/>
              </a:rPr>
              <a:t>path</a:t>
            </a:r>
            <a:r>
              <a:rPr lang="en-US" sz="800" b="0">
                <a:solidFill>
                  <a:srgbClr val="000000"/>
                </a:solidFill>
                <a:latin typeface="Aptos Mono"/>
              </a:rPr>
              <a:t>:</a:t>
            </a:r>
            <a:r>
              <a:rPr lang="en-US" sz="800" b="0">
                <a:solidFill>
                  <a:srgbClr val="A31515"/>
                </a:solidFill>
                <a:latin typeface="Aptos Mono"/>
              </a:rPr>
              <a:t> /usr/local/bin/python3.12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request</a:t>
            </a:r>
            <a:r>
              <a:rPr lang="en-US" sz="1200" b="0">
                <a:solidFill>
                  <a:srgbClr val="FFFFFF">
                    <a:alpha val="0"/>
                  </a:srgbClr>
                </a:solidFill>
              </a:rPr>
              <a:t> then meets its rule, its credential binding and middleware.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1.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2.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3.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Audit, the default, logs a request-rule violation and lets the request through.</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6"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admits it</a:t>
            </a:r>
            <a:r>
              <a:rPr lang="en-US" sz="1200" b="0">
                <a:solidFill>
                  <a:srgbClr val="FFFFFF">
                    <a:alpha val="0"/>
                  </a:srgbClr>
                </a:solidFill>
              </a:rPr>
              <a:t> by host, port, binary and policy generation.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1.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2.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3.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hop can stop a request, so each hop is a place to diagnose.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6"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sandbox sees a placeholder, and the supervisor holds the real key.</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6"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The agent receives a placeholder.</a:t>
            </a:r>
            <a:r>
              <a:rPr lang="en-US" sz="1200" b="0" dirty="0">
                <a:solidFill>
                  <a:srgbClr val="FFFFFF">
                    <a:alpha val="0"/>
                  </a:srgbClr>
                </a:solidFill>
              </a:rPr>
              <a:t> When a request leaves the sandbox for an authorized endpoint, the supervisor substitutes the real credential. Requests to other endpoints never see it.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Lecture 4's dispatcher supplied the workspace root because the model could not be trusted to. The supervisor supplies the key for the same reason.</a:t>
            </a:r>
            <a:endParaRPr/>
          </a:p>
        </p:txBody>
      </p:sp>
      <p:pic>
        <p:nvPicPr>
          <p:cNvPr id="5"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gateway validates</a:t>
            </a:r>
            <a:r>
              <a:rPr lang="en-US" sz="1200" b="0">
                <a:solidFill>
                  <a:srgbClr val="FFFFFF">
                    <a:alpha val="0"/>
                  </a:srgbClr>
                </a:solidFill>
              </a:rPr>
              <a:t> the candidate, and the prover reports new findings.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1.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2.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3.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Rectangle 4"/>
          <p:cNvSpPr/>
          <p:nvPr/>
        </p:nvSpPr>
        <p:spPr bwMode="auto">
          <a:xfrm>
            <a:off x="320040" y="429234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proposal adds network rules and leaves file and identity rules alone.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6"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1.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2.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3.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Diagnosis starts from the evidence of the boundary that failed.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1.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2.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3.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4.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5.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host must check what the model reads, since OpenShell cannot.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6"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Create:</a:t>
            </a:r>
            <a:r>
              <a:rPr lang="en-US" sz="1100" b="0">
                <a:solidFill>
                  <a:srgbClr val="FFFFFF">
                    <a:alpha val="0"/>
                  </a:srgbClr>
                </a:solidFill>
              </a:rPr>
              <a:t> </a:t>
            </a:r>
            <a:r>
              <a:rPr lang="en-US" sz="1100" b="0">
                <a:solidFill>
                  <a:srgbClr val="FFFFFF">
                    <a:alpha val="0"/>
                  </a:srgbClr>
                </a:solidFill>
                <a:latin typeface="Aptos Mono"/>
              </a:rPr>
              <a:t>--from</a:t>
            </a:r>
            <a:r>
              <a:rPr lang="en-US" sz="1100" b="0">
                <a:solidFill>
                  <a:srgbClr val="FFFFFF">
                    <a:alpha val="0"/>
                  </a:srgbClr>
                </a:solidFill>
              </a:rPr>
              <a:t> names the image and </a:t>
            </a:r>
            <a:r>
              <a:rPr lang="en-US" sz="1100" b="0">
                <a:solidFill>
                  <a:srgbClr val="FFFFFF">
                    <a:alpha val="0"/>
                  </a:srgbClr>
                </a:solidFill>
                <a:latin typeface="Aptos Mono"/>
              </a:rPr>
              <a:t>--policy</a:t>
            </a:r>
            <a:r>
              <a:rPr lang="en-US" sz="1100" b="0">
                <a:solidFill>
                  <a:srgbClr val="FFFFFF">
                    <a:alpha val="0"/>
                  </a:srgbClr>
                </a:solidFill>
              </a:rPr>
              <a:t> the policy file.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Logs:</a:t>
            </a:r>
            <a:r>
              <a:rPr lang="en-US" sz="1100" b="0">
                <a:solidFill>
                  <a:srgbClr val="FFFFFF">
                    <a:alpha val="0"/>
                  </a:srgbClr>
                </a:solidFill>
              </a:rPr>
              <a:t> </a:t>
            </a:r>
            <a:r>
              <a:rPr lang="en-US" sz="1100" b="0">
                <a:solidFill>
                  <a:srgbClr val="FFFFFF">
                    <a:alpha val="0"/>
                  </a:srgbClr>
                </a:solidFill>
                <a:latin typeface="Aptos Mono"/>
              </a:rPr>
              <a:t>--source sandbox</a:t>
            </a:r>
            <a:r>
              <a:rPr lang="en-US" sz="1100" b="0">
                <a:solidFill>
                  <a:srgbClr val="FFFFFF">
                    <a:alpha val="0"/>
                  </a:srgbClr>
                </a:solidFill>
              </a:rPr>
              <a:t> shows its denials and policy loads.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1.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Logs:</a:t>
            </a:r>
            <a:r>
              <a:rPr lang="en-US" sz="1100" b="0">
                <a:solidFill>
                  <a:srgbClr val="FFFFFF">
                    <a:alpha val="0"/>
                  </a:srgbClr>
                </a:solidFill>
              </a:rPr>
              <a:t> </a:t>
            </a:r>
            <a:r>
              <a:rPr lang="en-US" sz="1100" b="0">
                <a:solidFill>
                  <a:srgbClr val="FFFFFF">
                    <a:alpha val="0"/>
                  </a:srgbClr>
                </a:solidFill>
                <a:latin typeface="Aptos Mono"/>
              </a:rPr>
              <a:t>--source sandbox</a:t>
            </a:r>
            <a:r>
              <a:rPr lang="en-US" sz="1100" b="0">
                <a:solidFill>
                  <a:srgbClr val="FFFFFF">
                    <a:alpha val="0"/>
                  </a:srgbClr>
                </a:solidFill>
              </a:rPr>
              <a:t> shows its denials and policy loads.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2.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Logs:</a:t>
            </a:r>
            <a:r>
              <a:rPr lang="en-US" sz="1100" b="0">
                <a:solidFill>
                  <a:srgbClr val="FFFFFF">
                    <a:alpha val="0"/>
                  </a:srgbClr>
                </a:solidFill>
              </a:rPr>
              <a:t> </a:t>
            </a:r>
            <a:r>
              <a:rPr lang="en-US" sz="1100" b="0">
                <a:solidFill>
                  <a:srgbClr val="FFFFFF">
                    <a:alpha val="0"/>
                  </a:srgbClr>
                </a:solidFill>
                <a:latin typeface="Aptos Mono"/>
              </a:rPr>
              <a:t>--source sandbox</a:t>
            </a:r>
            <a:r>
              <a:rPr lang="en-US" sz="1100" b="0">
                <a:solidFill>
                  <a:srgbClr val="FFFFFF">
                    <a:alpha val="0"/>
                  </a:srgbClr>
                </a:solidFill>
              </a:rPr>
              <a:t> shows its denials and policy loads.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3.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4.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pic>
        <p:nvPicPr>
          <p:cNvPr id="4" name="Picture 1260919718" descr="command-hw2-5.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commands HW2 uses.</a:t>
            </a:r>
          </a:p>
        </p:txBody>
      </p:sp>
      <p:sp>
        <p:nvSpPr>
          <p:cNvPr id="3" name="Content Placeholder 2"/>
          <p:cNvSpPr>
            <a:spLocks noGrp="1"/>
          </p:cNvSpPr>
          <p:nvPr>
            <p:ph idx="1"/>
          </p:nvPr>
        </p:nvSpPr>
        <p:spPr bwMode="auto">
          <a:xfrm>
            <a:off x="320040" y="658368"/>
            <a:ext cx="6016752" cy="117344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Flags before the double dash are the operator's. The sandbox list then read: cyberbird  2026-10-16 02:42:20  Ready.</a:t>
            </a:r>
            <a:endParaRPr/>
          </a:p>
        </p:txBody>
      </p:sp>
      <p:pic>
        <p:nvPicPr>
          <p:cNvPr id="5" name="Picture 1260919718" descr="command-hw2-5.png"/>
          <p:cNvPicPr>
            <a:picLocks noChangeAspect="1"/>
          </p:cNvPicPr>
          <p:nvPr/>
        </p:nvPicPr>
        <p:blipFill>
          <a:blip r:embed="rId3"/>
          <a:stretch>
            <a:fillRect/>
          </a:stretch>
        </p:blipFill>
        <p:spPr>
          <a:xfrm>
            <a:off x="502359" y="2018479"/>
            <a:ext cx="5652113" cy="20193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benchmark covers Docker and OCI containers and Kubernetes pods only.</a:t>
            </a:r>
            <a:r>
              <a:rPr lang="en-US" sz="1200" b="0">
                <a:solidFill>
                  <a:srgbClr val="FFFFFF">
                    <a:alpha val="0"/>
                  </a:srgbClr>
                </a:solidFill>
              </a:rPr>
              <a:t> It does not cover gVisor, Firecracker or libkrun.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Rectangle 4"/>
          <p:cNvSpPr/>
          <p:nvPr/>
        </p:nvSpPr>
        <p:spPr bwMode="auto">
          <a:xfrm>
            <a:off x="320040" y="382969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Models exploit seeded container flaws, and products adopt engine patches after a lag of 0 to 471 or more days.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adds a programmable run-time policy function, HTTP-level access control, and reversible filesystem effects,</a:t>
            </a:r>
            <a:r>
              <a:rPr lang="en-US" sz="1200" b="0">
                <a:solidFill>
                  <a:srgbClr val="FFFFFF">
                    <a:alpha val="0"/>
                  </a:srgbClr>
                </a:solidFill>
              </a:rPr>
              <a:t> at about 5 ms of startup overhead and bare-metal Redis throughput. It needs no root, no cgroups, no images. It is open source.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Rectangle 4"/>
          <p:cNvSpPr/>
          <p:nvPr/>
        </p:nvSpPr>
        <p:spPr bwMode="auto">
          <a:xfrm>
            <a:off x="320040" y="31286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Sandlock builds on the kernel primitives behind OpenShell's locked layers and states its assumptions.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ActPlane (Zheng et al., preprint, June 2026):</a:t>
            </a:r>
            <a:r>
              <a:rPr lang="en-US" sz="1200" b="0">
                <a:solidFill>
                  <a:srgbClr val="FFFFFF">
                    <a:alpha val="0"/>
                  </a:srgbClr>
                </a:solidFill>
              </a:rPr>
              <a:t> agents declare policies, and an eBPF engine enforces them in the kernel with semantic feedback, at 1.9% to 8.4% overhead, covering execution paths that tool-call interception cannot see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Stronger walls are the premise. The research question is how authority is granted and taken back.</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MCP-</a:t>
            </a:r>
            <a:r>
              <a:rPr lang="en-US" sz="1200" b="1" dirty="0" err="1">
                <a:solidFill>
                  <a:srgbClr val="FFFFFF">
                    <a:alpha val="0"/>
                  </a:srgbClr>
                </a:solidFill>
              </a:rPr>
              <a:t>SandboxScan</a:t>
            </a:r>
            <a:r>
              <a:rPr lang="en-US" sz="1200" b="1" dirty="0">
                <a:solidFill>
                  <a:srgbClr val="FFFFFF">
                    <a:alpha val="0"/>
                  </a:srgbClr>
                </a:solidFill>
              </a:rPr>
              <a:t> (preprint, January 2026)</a:t>
            </a:r>
            <a:r>
              <a:rPr lang="en-US" sz="1200" b="0" dirty="0">
                <a:solidFill>
                  <a:srgbClr val="FFFFFF">
                    <a:alpha val="0"/>
                  </a:srgbClr>
                </a:solidFill>
              </a:rPr>
              <a:t> runs MCP tools under </a:t>
            </a:r>
            <a:r>
              <a:rPr lang="en-US" sz="1200" b="0" dirty="0" err="1">
                <a:solidFill>
                  <a:srgbClr val="FFFFFF">
                    <a:alpha val="0"/>
                  </a:srgbClr>
                </a:solidFill>
              </a:rPr>
              <a:t>WebAssembly</a:t>
            </a:r>
            <a:r>
              <a:rPr lang="en-US" sz="1200" b="0" dirty="0">
                <a:solidFill>
                  <a:srgbClr val="FFFFFF">
                    <a:alpha val="0"/>
                  </a:srgbClr>
                </a:solidFill>
              </a:rPr>
              <a:t> or drives them over </a:t>
            </a:r>
            <a:r>
              <a:rPr lang="en-US" sz="1200" b="0" dirty="0" err="1">
                <a:solidFill>
                  <a:srgbClr val="FFFFFF">
                    <a:alpha val="0"/>
                  </a:srgbClr>
                </a:solidFill>
              </a:rPr>
              <a:t>stdio</a:t>
            </a:r>
            <a:r>
              <a:rPr lang="en-US" sz="1200" b="0" dirty="0">
                <a:solidFill>
                  <a:srgbClr val="FFFFFF">
                    <a:alpha val="0"/>
                  </a:srgbClr>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Rectangle 4"/>
          <p:cNvSpPr/>
          <p:nvPr/>
        </p:nvSpPr>
        <p:spPr bwMode="auto">
          <a:xfrm>
            <a:off x="320040" y="39699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is deployed, and the research on the mechanisms beneath it is mostly 2026 preprints.</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ATLAS describes the adversary's action and the asset it acts on:</a:t>
            </a:r>
            <a:r>
              <a:rPr lang="en-US" sz="1150" b="0">
                <a:solidFill>
                  <a:srgbClr val="FFFFFF">
                    <a:alpha val="0"/>
                  </a:srgbClr>
                </a:solidFill>
              </a:rPr>
              <a:t> the definition text, the implementation, the response, the stored credential, the outbound connection, the kernel boundary.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This week: the runtime must execute in a process the agent cannot modify. The model cannot serve as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
        <p:nvSpPr>
          <p:cNvPr id="16"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The evidence supports (c): the kernel enforces the rule from outside the agent's process. A processor in the network path never sees a local file read.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State records, routing and termination;</a:t>
            </a:r>
            <a:r>
              <a:rPr lang="en-US" sz="1200" b="0">
                <a:solidFill>
                  <a:srgbClr val="FFFFFF">
                    <a:alpha val="0"/>
                  </a:srgbClr>
                </a:solidFill>
              </a:rPr>
              <a:t> token accounting and admission.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
        <p:nvSpPr>
          <p:cNvPr id="4" name="Rectangle 4"/>
          <p:cNvSpPr/>
          <p:nvPr/>
        </p:nvSpPr>
        <p:spPr bwMode="auto">
          <a:xfrm>
            <a:off x="320040" y="26501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hour, individual, closed book. The questions ask for reasoning about scenarios rather than recall of APIs.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Deferred to week 11:</a:t>
            </a:r>
            <a:r>
              <a:rPr lang="en-US" sz="1200" b="0">
                <a:solidFill>
                  <a:srgbClr val="FFFFFF">
                    <a:alpha val="0"/>
                  </a:srgbClr>
                </a:solidFill>
              </a:rPr>
              <a:t> failure semantics, including which component makes a side effect happen once.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
        <p:nvSpPr>
          <p:cNvPr id="4" name="Rectangle 4"/>
          <p:cNvSpPr/>
          <p:nvPr/>
        </p:nvSpPr>
        <p:spPr bwMode="auto">
          <a:xfrm>
            <a:off x="320040" y="242152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belongs where the adversary cannot reach it from inside the agent.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1550</TotalTime>
  <Words>84852</Words>
  <Application>Microsoft Macintosh PowerPoint</Application>
  <PresentationFormat>Custom</PresentationFormat>
  <Paragraphs>2854</Paragraphs>
  <Slides>222</Slides>
  <Notes>222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222</vt:i4>
      </vt:variant>
    </vt:vector>
  </HeadingPairs>
  <TitlesOfParts>
    <vt:vector size="226" baseType="lpstr">
      <vt:lpstr>Arial</vt:lpstr>
      <vt:lpstr>Aptos</vt:lpstr>
      <vt:lpstr>Aptos Mono</vt:lpstr>
      <vt:lpstr>Simple Light</vt:lpstr>
      <vt:lpstr>Designing Production Agentic Systems</vt:lpstr>
      <vt:lpstr>PowerPoint Presentation</vt:lpstr>
      <vt:lpstr>MCP client–server connection model[1]</vt:lpstr>
      <vt:lpstr>MCP client–server connection model[1]</vt:lpstr>
      <vt:lpstr>MCP client–server connection model[1]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Incident analysis with OWASP and ATLAS</vt:lpstr>
      <vt:lpstr>Incident analysis with OWASP and ATLAS</vt:lpstr>
      <vt:lpstr>Incident analysis with OWASP and ATLAS</vt:lpstr>
      <vt:lpstr>Incident analysis with OWASP and ATLAS</vt:lpstr>
      <vt:lpstr>Incident analysis with OWASP and ATLAS</vt:lpstr>
      <vt:lpstr>Failed controls sat in the agent's runtime.</vt:lpstr>
      <vt:lpstr>Failed controls sat in the agent's runtime.</vt:lpstr>
      <vt:lpstr>Failed controls sat in the agent's runtime.</vt:lpstr>
      <vt:lpstr>Failed controls sat in the agent's runtime.</vt:lpstr>
      <vt:lpstr>Failed controls sat in the agent's runtime.</vt:lpstr>
      <vt:lpstr>PowerPoint Presentation</vt:lpstr>
      <vt:lpstr>Model-based security controls</vt:lpstr>
      <vt:lpstr>Model-based security controls</vt:lpstr>
      <vt:lpstr>Model-based security controls</vt:lpstr>
      <vt:lpstr>Model-based security controls</vt:lpstr>
      <vt:lpstr>Model-based security controls</vt:lpstr>
      <vt:lpstr>Each model runs with and without tools.</vt:lpstr>
      <vt:lpstr>Each model runs with and without tools.</vt:lpstr>
      <vt:lpstr>Each model runs with and without tools.</vt:lpstr>
      <vt:lpstr>Each model runs with and without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 under experimental variations</vt:lpstr>
      <vt:lpstr>Refusal failure under experimental variations</vt:lpstr>
      <vt:lpstr>Refusal failure under experimental variations</vt:lpstr>
      <vt:lpstr>Refusal failure under experimental variations</vt:lpstr>
      <vt:lpstr>Tool outputs pile up before the answer.</vt:lpstr>
      <vt:lpstr>Tool outputs pile up before the answer.</vt:lpstr>
      <vt:lpstr>Tool outputs pile up before the answer.</vt:lpstr>
      <vt:lpstr>Tool outputs pile up before the answer.</vt:lpstr>
      <vt:lpstr>Tool outputs pile up before the answer.</vt:lpstr>
      <vt:lpstr>Refusals with tools open with a description.</vt:lpstr>
      <vt:lpstr>Refusals with tools open with a description.</vt:lpstr>
      <vt:lpstr>Refusals with tools open with a description.</vt:lpstr>
      <vt:lpstr>Refusals with tools open with a description.</vt:lpstr>
      <vt:lpstr>Refusals with tools open with a description.</vt:lpstr>
      <vt:lpstr>The harness asks again with the request.</vt:lpstr>
      <vt:lpstr>The harness asks again with the request.</vt:lpstr>
      <vt:lpstr>The harness asks again with the request.</vt:lpstr>
      <vt:lpstr>The harness asks again with the request.</vt:lpstr>
      <vt:lpstr>The harness asks again with the request.</vt:lpstr>
      <vt:lpstr>Refusal failure relative to the no-tool baseline</vt:lpstr>
      <vt:lpstr>Refusal failure relative to the no-tool baseline</vt:lpstr>
      <vt:lpstr>Refusal failure relative to the no-tool baseline</vt:lpstr>
      <vt:lpstr>Tool use weakens a model's refusals.</vt:lpstr>
      <vt:lpstr>Tool use weakens a model's refusals.</vt:lpstr>
      <vt:lpstr>Tool use weakens a model's refusals.</vt:lpstr>
      <vt:lpstr>Tool use weakens a model's refusals.</vt:lpstr>
      <vt:lpstr>Tool use weakens a model's refusals.</vt:lpstr>
      <vt:lpstr>Enforcement points and trust boundaries</vt:lpstr>
      <vt:lpstr>Enforcement points and trust boundaries</vt:lpstr>
      <vt:lpstr>Enforcement points and trust boundaries</vt:lpstr>
      <vt:lpstr>Enforcement points and trust boundaries</vt:lpstr>
      <vt:lpstr>Enforcement points and trust boundaries</vt:lpstr>
      <vt:lpstr>Each place has its own bypass.</vt:lpstr>
      <vt:lpstr>Each place has its own bypass.</vt:lpstr>
      <vt:lpstr>Each place has its own bypass.</vt:lpstr>
      <vt:lpstr>Each place has its own bypass.</vt:lpstr>
      <vt:lpstr>Each place has its own bypass.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PowerPoint Presentation</vt:lpstr>
      <vt:lpstr>OpenShell sandboxes an unmodified agent.</vt:lpstr>
      <vt:lpstr>OpenShell sandboxes an unmodified agent.</vt:lpstr>
      <vt:lpstr>OpenShell sandboxes an unmodified agent.</vt:lpstr>
      <vt:lpstr>OpenShell sandboxes an unmodified agent.</vt:lpstr>
      <vt:lpstr>OpenShell sandboxes an unmodified agent.</vt:lpstr>
      <vt:lpstr>An agent works through the kernel.[1]</vt:lpstr>
      <vt:lpstr>An agent works through the kernel.[1]</vt:lpstr>
      <vt:lpstr>An agent works through the kernel.[1]</vt:lpstr>
      <vt:lpstr>An agent works through the kernel.[1]</vt:lpstr>
      <vt:lpstr>An agent works through the kernel.[1]</vt:lpstr>
      <vt:lpstr>An agent works through the kernel.[1]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A sandbox is a record before a container.[1]</vt:lpstr>
      <vt:lpstr>A sandbox is a record before a container.[1]</vt:lpstr>
      <vt:lpstr>A sandbox is a record before a container.[1]</vt:lpstr>
      <vt:lpstr>A sandbox is a record before a container.[1]</vt:lpstr>
      <vt:lpstr>A sandbox is a record before a container.[1]</vt:lpstr>
      <vt:lpstr>A sandbox is a record before a container.[1]</vt:lpstr>
      <vt:lpstr>A sandbox is a record before a container.[1]</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Cyberbird's policy, line by line[1]</vt:lpstr>
      <vt:lpstr>Cyberbird's policy, line by line[1]</vt:lpstr>
      <vt:lpstr>Cyberbird's policy, line by line[1]</vt:lpstr>
      <vt:lpstr>Cyberbird's policy, line by line[1]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Real credentials never enter the sandbox.</vt:lpstr>
      <vt:lpstr>Real credentials never enter the sandbox.</vt:lpstr>
      <vt:lpstr>Real credentials never enter the sandbox.</vt:lpstr>
      <vt:lpstr>Real credentials never enter the sandbox.</vt:lpstr>
      <vt:lpstr>A denied request becomes a proposal.[1]</vt:lpstr>
      <vt:lpstr>A denied request becomes a proposal.[1]</vt:lpstr>
      <vt:lpstr>A denied request becomes a proposal.[1]</vt:lpstr>
      <vt:lpstr>A denied request becomes a proposal.[1]</vt:lpstr>
      <vt:lpstr>A denied request becomes a proposal.[1]</vt:lpstr>
      <vt:lpstr>A denied request becomes a proposal.[1]</vt:lpstr>
      <vt:lpstr>Diagnose by the boundary that failed.[1]</vt:lpstr>
      <vt:lpstr>Diagnose by the boundary that failed.[1]</vt:lpstr>
      <vt:lpstr>Diagnose by the boundary that failed.[1]</vt:lpstr>
      <vt:lpstr>Diagnose by the boundary that failed.[1]</vt:lpstr>
      <vt:lpstr>Diagnose by the boundary that failed.[1]</vt:lpstr>
      <vt:lpstr>Diagnose by the boundary that failed.[1]</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The commands HW2 uses.</vt:lpstr>
      <vt:lpstr>The commands HW2 uses.</vt:lpstr>
      <vt:lpstr>The commands HW2 uses.</vt:lpstr>
      <vt:lpstr>The commands HW2 uses.</vt:lpstr>
      <vt:lpstr>The commands HW2 uses.</vt:lpstr>
      <vt:lpstr>The commands HW2 uses.</vt:lpstr>
      <vt:lpstr>Models escape containers with known flaws.</vt:lpstr>
      <vt:lpstr>Models escape containers with known flaws.</vt:lpstr>
      <vt:lpstr>Models escape containers with known flaws.</vt:lpstr>
      <vt:lpstr>Models escape containers with known flaws.</vt:lpstr>
      <vt:lpstr>Sandlock writes the threat model down.</vt:lpstr>
      <vt:lpstr>Sandlock writes the threat model down.</vt:lpstr>
      <vt:lpstr>Sandlock writes the threat model down.</vt:lpstr>
      <vt:lpstr>Sandlock writes the threat model down.</vt:lpstr>
      <vt:lpstr>Research asks how authority is taken back.</vt:lpstr>
      <vt:lpstr>Research asks how authority is taken back.</vt:lpstr>
      <vt:lpstr>Research asks how authority is taken back.</vt:lpstr>
      <vt:lpstr>Research asks how authority is taken back.</vt:lpstr>
      <vt:lpstr>Research asks how authority is taken back.</vt:lpstr>
      <vt:lpstr>Peer review trails deployment.</vt:lpstr>
      <vt:lpstr>Peer review trails deployment.</vt:lpstr>
      <vt:lpstr>Peer review trails deployment.</vt:lpstr>
      <vt:lpstr>Peer review trails deployment.</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Where should the ~/.ssh rule be enforced?</vt:lpstr>
      <vt:lpstr>Where should the ~/.ssh rule be enforced?</vt:lpstr>
      <vt:lpstr>What the midterm covers</vt:lpstr>
      <vt:lpstr>What the midterm covers</vt:lpstr>
      <vt:lpstr>What the midterm covers</vt:lpstr>
      <vt:lpstr>What the midterm covers</vt:lpstr>
      <vt:lpstr>What the midterm covers</vt:lpstr>
      <vt:lpstr>What the midterm covers</vt:lpstr>
      <vt:lpstr>Next Friday is the midterm.</vt:lpstr>
      <vt:lpstr>Next Friday is the midterm.</vt:lpstr>
      <vt:lpstr>Next Friday is the midterm.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228</cp:revision>
  <dcterms:modified xsi:type="dcterms:W3CDTF">2026-10-16T13:27:31Z</dcterms:modified>
</cp:coreProperties>
</file>
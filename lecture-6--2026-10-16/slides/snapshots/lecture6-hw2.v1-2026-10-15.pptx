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7"/>
  </p:notesMasterIdLst>
  <p:sldIdLst>
    <p:sldId id="491" r:id="rId2"/>
    <p:sldId id="492" r:id="rId3"/>
    <p:sldId id="493" r:id="rId4"/>
    <p:sldId id="495" r:id="rId5"/>
    <p:sldId id="496" r:id="rId6"/>
    <p:sldId id="497" r:id="rId7"/>
    <p:sldId id="498" r:id="rId8"/>
    <p:sldId id="494" r:id="rId9"/>
    <p:sldId id="500" r:id="rId10"/>
    <p:sldId id="501" r:id="rId11"/>
    <p:sldId id="502" r:id="rId12"/>
    <p:sldId id="503" r:id="rId13"/>
    <p:sldId id="499" r:id="rId14"/>
    <p:sldId id="505" r:id="rId15"/>
    <p:sldId id="506" r:id="rId16"/>
    <p:sldId id="507" r:id="rId17"/>
    <p:sldId id="508" r:id="rId18"/>
    <p:sldId id="504" r:id="rId19"/>
    <p:sldId id="509" r:id="rId20"/>
    <p:sldId id="511" r:id="rId21"/>
    <p:sldId id="512" r:id="rId22"/>
    <p:sldId id="513" r:id="rId23"/>
    <p:sldId id="510" r:id="rId24"/>
    <p:sldId id="514" r:id="rId25"/>
    <p:sldId id="516" r:id="rId26"/>
    <p:sldId id="517" r:id="rId27"/>
    <p:sldId id="518" r:id="rId28"/>
    <p:sldId id="519" r:id="rId29"/>
    <p:sldId id="515" r:id="rId30"/>
    <p:sldId id="521" r:id="rId31"/>
    <p:sldId id="522" r:id="rId32"/>
    <p:sldId id="523" r:id="rId33"/>
    <p:sldId id="520" r:id="rId34"/>
    <p:sldId id="525" r:id="rId35"/>
    <p:sldId id="526" r:id="rId36"/>
    <p:sldId id="527" r:id="rId37"/>
    <p:sldId id="528" r:id="rId38"/>
    <p:sldId id="524" r:id="rId39"/>
    <p:sldId id="529" r:id="rId40"/>
    <p:sldId id="531" r:id="rId41"/>
    <p:sldId id="532" r:id="rId42"/>
    <p:sldId id="533" r:id="rId43"/>
    <p:sldId id="534" r:id="rId44"/>
    <p:sldId id="530" r:id="rId45"/>
    <p:sldId id="536" r:id="rId46"/>
    <p:sldId id="537" r:id="rId47"/>
    <p:sldId id="538" r:id="rId48"/>
    <p:sldId id="539" r:id="rId49"/>
    <p:sldId id="540" r:id="rId50"/>
    <p:sldId id="535" r:id="rId51"/>
    <p:sldId id="542" r:id="rId52"/>
    <p:sldId id="543" r:id="rId53"/>
    <p:sldId id="544" r:id="rId54"/>
    <p:sldId id="541" r:id="rId55"/>
    <p:sldId id="546" r:id="rId56"/>
    <p:sldId id="547" r:id="rId57"/>
    <p:sldId id="548" r:id="rId58"/>
    <p:sldId id="549" r:id="rId59"/>
    <p:sldId id="550" r:id="rId60"/>
    <p:sldId id="545" r:id="rId61"/>
    <p:sldId id="551" r:id="rId62"/>
    <p:sldId id="553" r:id="rId63"/>
    <p:sldId id="554" r:id="rId64"/>
    <p:sldId id="555" r:id="rId65"/>
    <p:sldId id="552" r:id="rId66"/>
    <p:sldId id="557" r:id="rId67"/>
    <p:sldId id="558" r:id="rId68"/>
    <p:sldId id="559" r:id="rId69"/>
    <p:sldId id="560" r:id="rId70"/>
    <p:sldId id="556" r:id="rId71"/>
    <p:sldId id="562" r:id="rId72"/>
    <p:sldId id="563" r:id="rId73"/>
    <p:sldId id="564" r:id="rId74"/>
    <p:sldId id="565" r:id="rId75"/>
    <p:sldId id="561" r:id="rId76"/>
  </p:sldIdLst>
  <p:sldSz cx="6858000" cy="5143500"/>
  <p:notesSz cx="6858000" cy="9144000"/>
  <p:embeddedFontLst>
    <p:embeddedFont>
      <p:font typeface="Aptos Mono" panose="020B0009020202020204" pitchFamily="49" charset="0"/>
      <p:regular r:id="rId78"/>
      <p:bold r:id="rId79"/>
      <p:italic r:id="rId80"/>
      <p:boldItalic r:id="rId81"/>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65"/>
    <p:restoredTop sz="97007"/>
  </p:normalViewPr>
  <p:slideViewPr>
    <p:cSldViewPr snapToGrid="0">
      <p:cViewPr varScale="1">
        <p:scale>
          <a:sx n="170" d="100"/>
          <a:sy n="170" d="100"/>
        </p:scale>
        <p:origin x="228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release: the CLDK SDK, the MCP server over it, and the assignment.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spend the rest of today on HW2: first the CLDK SDK and an MCP server over it, then the assignment itself.</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with CLDK, the analysis library that both HW2 agents call.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CLDK is the analysis SDK under both HW2 agents: R. Krishna, R. Pan, R. Pavuluri, S. Tamilselvam, M. Vukovic and S. Sinha, Codellm-Devkit: A Framework for Contextualizing Code LLMs with Program Analysis Insights, FSE Companion 2025, pages 308 to 318 (arXiv 2410.13007). For Python it runs codeanalyzer-python, built on Jedi and the standard library's ast. We pay for the analysis once: on 2026-10-15, on this Mac with CLDK 2.0.0rc8, the first attach to the OWASP BenchmarkPython checkout analysed 3,710 callables in 241 s at the call-graph level and 151 s at the program-dependency-graph level, and every query after it answered from the cache in under a second. We run the four moves live in cldk-mcp.ipynb, sections 1 and 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CLDK is the analysis SDK under both HW2 agents: R. Krishna, R. Pan, R. Pavuluri, S. Tamilselvam, M. Vukovic and S. Sinha, Codellm-Devkit: A Framework for Contextualizing Code LLMs with Program Analysis Insights, FSE Companion 2025, pages 308 to 318 (arXiv 2410.13007). For Python it runs codeanalyzer-python, built on Jedi and the standard library's ast. We pay for the analysis once: on 2026-10-15, on this Mac with CLDK 2.0.0rc8, the first attach to the OWASP BenchmarkPython checkout analysed 3,710 callables in 241 s at the call-graph level and 151 s at the program-dependency-graph level, and every query after it answered from the cache in under a second. We run the four moves live in cldk-mcp.ipynb, sections 1 and 2.</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CLDK is the analysis SDK under both HW2 agents: R. Krishna, R. Pan, R. Pavuluri, S. Tamilselvam, M. Vukovic and S. Sinha, Codellm-Devkit: A Framework for Contextualizing Code LLMs with Program Analysis Insights, FSE Companion 2025, pages 308 to 318 (arXiv 2410.13007). For Python it runs codeanalyzer-python, built on Jedi and the standard library's ast. We pay for the analysis once: on 2026-10-15, on this Mac with CLDK 2.0.0rc8, the first attach to the OWASP BenchmarkPython checkout analysed 3,710 callables in 241 s at the call-graph level and 151 s at the program-dependency-graph level, and every query after it answered from the cache in under a second. We run the four moves live in cldk-mcp.ipynb, sections 1 and 2.</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CLDK is the analysis SDK under both HW2 agents: R. Krishna, R. Pan, R. Pavuluri, S. Tamilselvam, M. Vukovic and S. Sinha, Codellm-Devkit: A Framework for Contextualizing Code LLMs with Program Analysis Insights, FSE Companion 2025, pages 308 to 318 (arXiv 2410.13007). For Python it runs codeanalyzer-python, built on Jedi and the standard library's ast. We pay for the analysis once: on 2026-10-15, on this Mac with CLDK 2.0.0rc8, the first attach to the OWASP BenchmarkPython checkout analysed 3,710 callables in 241 s at the call-graph level and 151 s at the program-dependency-graph level, and every query after it answered from the cache in under a second. We run the four moves live in cldk-mcp.ipynb, sections 1 and 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CLDK is the analysis SDK under both HW2 agents: R. Krishna, R. Pan, R. Pavuluri, S. Tamilselvam, M. Vukovic and S. Sinha, Codellm-Devkit: A Framework for Contextualizing Code LLMs with Program Analysis Insights, FSE Companion 2025, pages 308 to 318 (arXiv 2410.13007). For Python it runs codeanalyzer-python, built on Jedi and the standard library's ast. We pay for the analysis once: on 2026-10-15, on this Mac with CLDK 2.0.0rc8, the first attach to the OWASP BenchmarkPython checkout analysed 3,710 callables in 241 s at the call-graph level and 151 s at the program-dependency-graph level, and every query after it answered from the cache in under a second. We run the four moves live in cldk-mcp.ipynb, sections 1 and 2.</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says 00099 is a true positive and 00011 and 00012 are false. We read each handler's data-dependence graph with get_ddg at the program-dependency-graph level, measured on 2026-10-15 with CLDK 2.0.0rc8 and again with 2.0.0 (codeanalyzer-python 1.5.3), which gave identical edges. In 00099 the request value at line 31 reaches the SQL string at line 46 through param, the config object and bar, and the execute call at line 49 through sql. In 00011 the value at line 39 reaches the call at line 50 through bar and never the string at line 47, and 00012 behaves the same through its string slicing. An HW1 agent told these cases apart by reading the code, and the analyzer answers the same question as a path.</a:t>
            </a:r>
          </a:p>
          <a:p>
            <a:endParaRPr/>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says 00099 is a true positive and 00011 and 00012 are false. We read each handler's data-dependence graph with get_ddg at the program-dependency-graph level, measured on 2026-10-15 with CLDK 2.0.0rc8 and again with 2.0.0 (codeanalyzer-python 1.5.3), which gave identical edges. In 00099 the request value at line 31 reaches the SQL string at line 46 through param, the config object and bar, and the execute call at line 49 through sql. In 00011 the value at line 39 reaches the call at line 50 through bar and never the string at line 47, and 00012 behaves the same through its string slicing. An HW1 agent told these cases apart by reading the code, and the analyzer answers the same question as a path.</a:t>
            </a:r>
          </a:p>
          <a:p>
            <a:endParaRPr/>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says 00099 is a true positive and 00011 and 00012 are false. We read each handler's data-dependence graph with get_ddg at the program-dependency-graph level, measured on 2026-10-15 with CLDK 2.0.0rc8 and again with 2.0.0 (codeanalyzer-python 1.5.3), which gave identical edges. In 00099 the request value at line 31 reaches the SQL string at line 46 through param, the config object and bar, and the execute call at line 49 through sql. In 00011 the value at line 39 reaches the call at line 50 through bar and never the string at line 47, and 00012 behaves the same through its string slicing. An HW1 agent told these cases apart by reading the code, and the analyzer answers the same question as a path.</a:t>
            </a:r>
          </a:p>
          <a:p>
            <a:endParaRPr/>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says 00099 is a true positive and 00011 and 00012 are false. We read each handler's data-dependence graph with get_ddg at the program-dependency-graph level, measured on 2026-10-15 with CLDK 2.0.0rc8 and again with 2.0.0 (codeanalyzer-python 1.5.3), which gave identical edges. In 00099 the request value at line 31 reaches the SQL string at line 46 through param, the config object and bar, and the execute call at line 49 through sql. In 00011 the value at line 39 reaches the call at line 50 through bar and never the string at line 47, and 00012 behaves the same through its string slicing. An HW1 agent told these cases apart by reading the code, and the analyzer answers the same question as a path.</a:t>
            </a:r>
          </a:p>
          <a:p>
            <a:endParaRPr/>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the three B608 alerts that Bandit 1.9.4 reports in HW1's scan scope of OWASP BenchmarkPython at f1291485; the answer key, expectedresults-0.1.csv, says 00099 is a true positive and 00011 and 00012 are false. We read each handler's data-dependence graph with get_ddg at the program-dependency-graph level, measured on 2026-10-15 with CLDK 2.0.0rc8 and again with 2.0.0 (codeanalyzer-python 1.5.3), which gave identical edges. In 00099 the request value at line 31 reaches the SQL string at line 46 through param, the config object and bar, and the execute call at line 49 through sql. In 00011 the value at line 39 reaches the call at line 50 through bar and never the string at line 47, and 00012 behaves the same through its string slicing. An HW1 agent told these cases apart by reading the code, and the analyzer answers the same question as a path.</a:t>
            </a:r>
          </a:p>
          <a:p>
            <a:endParaRPr/>
          </a:p>
          <a:p>
            <a:r>
              <a:t>The figure, stage by stage.</a:t>
            </a:r>
          </a:p>
          <a:p>
            <a:r>
              <a:t>1. The two handlers, 00099 on the left and 00011 on the right, with the lines that matter in each.</a:t>
            </a:r>
          </a:p>
          <a:p>
            <a:r>
              <a:t>2. The request value's path in 00099: line 31 to 41 to 42 to the SQL string at 46, and on to execute at 49.</a:t>
            </a:r>
          </a:p>
          <a:p>
            <a:r>
              <a:t>3. Its path in 00011: line 39 to 43 to the execute call at 50, and no edge into the string at 47.</a:t>
            </a:r>
          </a:p>
          <a:p>
            <a:r>
              <a:t>4. The verdicts: the value reaches the query string in 00099 and only the parameter tuple in 00011.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rules of CLDK's agent API that a classifier depends on. An empty list from callers_of can mean that nothing calls the function or that the function is not declared in the checkout, so we read the diagnostics before we conclude anything. On the OWASP checkout get_entrypoint_coverage reports 2,463 routes and 2,460 app.route decorators it could not resolve, measured on 2026-10-15, so a short entry-point list says little until we read the coverage. The value-name predicates (resolve_value, flows_to_argument, taint) resolve parameters, captured globals and closure captures; for a local variable such as bar we use the per-callable get_ddg, as on the dataflow slide.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rules of CLDK's agent API that a classifier depends on. An empty list from callers_of can mean that nothing calls the function or that the function is not declared in the checkout, so we read the diagnostics before we conclude anything. On the OWASP checkout get_entrypoint_coverage reports 2,463 routes and 2,460 app.route decorators it could not resolve, measured on 2026-10-15, so a short entry-point list says little until we read the coverage. The value-name predicates (resolve_value, flows_to_argument, taint) resolve parameters, captured globals and closure captures; for a local variable such as bar we use the per-callable get_ddg, as on the dataflow slide.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rules of CLDK's agent API that a classifier depends on. An empty list from callers_of can mean that nothing calls the function or that the function is not declared in the checkout, so we read the diagnostics before we conclude anything. On the OWASP checkout get_entrypoint_coverage reports 2,463 routes and 2,460 app.route decorators it could not resolve, measured on 2026-10-15, so a short entry-point list says little until we read the coverage. The value-name predicates (resolve_value, flows_to_argument, taint) resolve parameters, captured globals and closure captures; for a local variable such as bar we use the per-callable get_ddg, as on the dataflow slide.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rules of CLDK's agent API that a classifier depends on. An empty list from callers_of can mean that nothing calls the function or that the function is not declared in the checkout, so we read the diagnostics before we conclude anything. On the OWASP checkout get_entrypoint_coverage reports 2,463 routes and 2,460 app.route decorators it could not resolve, measured on 2026-10-15, so a short entry-point list says little until we read the coverage. The value-name predicates (resolve_value, flows_to_argument, taint) resolve parameters, captured globals and closure captures; for a local variable such as bar we use the per-callable get_ddg, as on the dataflow slide.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rules of CLDK's agent API that a classifier depends on. An empty list from callers_of can mean that nothing calls the function or that the function is not declared in the checkout, so we read the diagnostics before we conclude anything. On the OWASP checkout get_entrypoint_coverage reports 2,463 routes and 2,460 app.route decorators it could not resolve, measured on 2026-10-15, so a short entry-point list says little until we read the coverage. The value-name predicates (resolve_value, flows_to_argument, taint) resolve parameters, captured globals and closure captures; for a local variable such as bar we use the per-callable get_ddg, as on the dataflow slide.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serve the same analysis as MCP tools, the pattern each team's server follows in HW2.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quotes cldk-demo/server.py as cell 18 of cldk-mcp.ipynb writes it, on the MCP Python SDK 2.3.0 in the lecture's .venv; we shortened one description, the parsing of the edge ends and a comment where the window shows dots. The server builds one CLDK object when it starts, at the program-dependency-graph level, and its four tools (locate, source, callers, dataflow) all read from it; checked() raises ToolError for any path that resolves outside the checkout. dataflow addresses the callable by its full signature, because a bare name such as init matches 1,230 callables. In class we open cldk-demo/catalog.json in the Inspector, call locate and dataflow on line 46 of testcode/BenchmarkTest00099.py, then call locate on ../expectedresults-0.1.csv to see the refusal; the server needs the cache from section 1 of the notebook, or the Inspector gives up after 30 seconds.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quotes cldk-demo/server.py as cell 18 of cldk-mcp.ipynb writes it, on the MCP Python SDK 2.3.0 in the lecture's .venv; we shortened one description, the parsing of the edge ends and a comment where the window shows dots. The server builds one CLDK object when it starts, at the program-dependency-graph level, and its four tools (locate, source, callers, dataflow) all read from it; checked() raises ToolError for any path that resolves outside the checkout. dataflow addresses the callable by its full signature, because a bare name such as init matches 1,230 callables. In class we open cldk-demo/catalog.json in the Inspector, call locate and dataflow on line 46 of testcode/BenchmarkTest00099.py, then call locate on ../expectedresults-0.1.csv to see the refusal; the server needs the cache from section 1 of the notebook, or the Inspector gives up after 30 seconds.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quotes cldk-demo/server.py as cell 18 of cldk-mcp.ipynb writes it, on the MCP Python SDK 2.3.0 in the lecture's .venv; we shortened one description, the parsing of the edge ends and a comment where the window shows dots. The server builds one CLDK object when it starts, at the program-dependency-graph level, and its four tools (locate, source, callers, dataflow) all read from it; checked() raises ToolError for any path that resolves outside the checkout. dataflow addresses the callable by its full signature, because a bare name such as init matches 1,230 callables. In class we open cldk-demo/catalog.json in the Inspector, call locate and dataflow on line 46 of testcode/BenchmarkTest00099.py, then call locate on ../expectedresults-0.1.csv to see the refusal; the server needs the cache from section 1 of the notebook, or the Inspector gives up after 30 seconds.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quotes cldk-demo/server.py as cell 18 of cldk-mcp.ipynb writes it, on the MCP Python SDK 2.3.0 in the lecture's .venv; we shortened one description, the parsing of the edge ends and a comment where the window shows dots. The server builds one CLDK object when it starts, at the program-dependency-graph level, and its four tools (locate, source, callers, dataflow) all read from it; checked() raises ToolError for any path that resolves outside the checkout. dataflow addresses the callable by its full signature, because a bare name such as init matches 1,230 callables. In class we open cldk-demo/catalog.json in the Inspector, call locate and dataflow on line 46 of testcode/BenchmarkTest00099.py, then call locate on ../expectedresults-0.1.csv to see the refusal; the server needs the cache from section 1 of the notebook, or the Inspector gives up after 30 seconds.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turn to HW2 itself: the two agents, the server they share, and the stages they run.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team builds both agents on its HW1 loop and compares them on OWASP. The code-action agent has one tool, run_python(script): the harness runs the script with exec in a namespace that holds the CLDK object and the workspace path, the pattern of lecture 4 (slide 137), and the observation is what the script prints or raises. The MCP agent discovers the server's tools with tools/list and sends every call through the HW1 dispatcher and then the MCP client. Both write the same report.json and trace.jsonl, and kind under [agent] in config.toml selects which one runs.</a:t>
            </a:r>
          </a:p>
          <a:p>
            <a:endParaRPr/>
          </a:p>
          <a:p>
            <a:r>
              <a:t>The figure, stage by stage.</a:t>
            </a:r>
          </a:p>
          <a:p>
            <a:r>
              <a:t>1. The code-action agent: the model sends a Python script, and the harness runs it with exec against the CLDK object and the files, all in one process.</a:t>
            </a:r>
          </a:p>
          <a:p>
            <a:r>
              <a:t>2. The MCP agent: the model's tool call goes through the host and its dispatcher, as tools/call, to a server in another process.</a:t>
            </a:r>
          </a:p>
          <a:p>
            <a:r>
              <a:t>3. The verdicts: inside one process there is no call to check, and on the server every call is checked.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team builds both agents on its HW1 loop and compares them on OWASP. The code-action agent has one tool, run_python(script): the harness runs the script with exec in a namespace that holds the CLDK object and the workspace path, the pattern of lecture 4 (slide 137), and the observation is what the script prints or raises. The MCP agent discovers the server's tools with tools/list and sends every call through the HW1 dispatcher and then the MCP client. Both write the same report.json and trace.jsonl, and kind under [agent] in config.toml selects which one runs.</a:t>
            </a:r>
          </a:p>
          <a:p>
            <a:endParaRPr/>
          </a:p>
          <a:p>
            <a:r>
              <a:t>The figure, stage by stage.</a:t>
            </a:r>
          </a:p>
          <a:p>
            <a:r>
              <a:t>1. The code-action agent: the model sends a Python script, and the harness runs it with exec against the CLDK object and the files, all in one process.</a:t>
            </a:r>
          </a:p>
          <a:p>
            <a:r>
              <a:t>2. The MCP agent: the model's tool call goes through the host and its dispatcher, as tools/call, to a server in another process.</a:t>
            </a:r>
          </a:p>
          <a:p>
            <a:r>
              <a:t>3. The verdicts: inside one process there is no call to check, and on the server every call is checked.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team builds both agents on its HW1 loop and compares them on OWASP. The code-action agent has one tool, run_python(script): the harness runs the script with exec in a namespace that holds the CLDK object and the workspace path, the pattern of lecture 4 (slide 137), and the observation is what the script prints or raises. The MCP agent discovers the server's tools with tools/list and sends every call through the HW1 dispatcher and then the MCP client. Both write the same report.json and trace.jsonl, and kind under [agent] in config.toml selects which one runs.</a:t>
            </a:r>
          </a:p>
          <a:p>
            <a:endParaRPr/>
          </a:p>
          <a:p>
            <a:r>
              <a:t>The figure, stage by stage.</a:t>
            </a:r>
          </a:p>
          <a:p>
            <a:r>
              <a:t>1. The code-action agent: the model sends a Python script, and the harness runs it with exec against the CLDK object and the files, all in one process.</a:t>
            </a:r>
          </a:p>
          <a:p>
            <a:r>
              <a:t>2. The MCP agent: the model's tool call goes through the host and its dispatcher, as tools/call, to a server in another process.</a:t>
            </a:r>
          </a:p>
          <a:p>
            <a:r>
              <a:t>3. The verdicts: inside one process there is no call to check, and on the server every call is checked.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team builds both agents on its HW1 loop and compares them on OWASP. The code-action agent has one tool, run_python(script): the harness runs the script with exec in a namespace that holds the CLDK object and the workspace path, the pattern of lecture 4 (slide 137), and the observation is what the script prints or raises. The MCP agent discovers the server's tools with tools/list and sends every call through the HW1 dispatcher and then the MCP client. Both write the same report.json and trace.jsonl, and kind under [agent] in config.toml selects which one runs.</a:t>
            </a:r>
          </a:p>
          <a:p>
            <a:endParaRPr/>
          </a:p>
          <a:p>
            <a:r>
              <a:t>The figure, stage by stage.</a:t>
            </a:r>
          </a:p>
          <a:p>
            <a:r>
              <a:t>1. The code-action agent: the model sends a Python script, and the harness runs it with exec against the CLDK object and the files, all in one process.</a:t>
            </a:r>
          </a:p>
          <a:p>
            <a:r>
              <a:t>2. The MCP agent: the model's tool call goes through the host and its dispatcher, as tools/call, to a server in another process.</a:t>
            </a:r>
          </a:p>
          <a:p>
            <a:r>
              <a:t>3. The verdicts: inside one process there is no call to check, and on the server every call is checked.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Each team builds both agents on its HW1 loop and compares them on OWASP. The code-action agent has one tool, run_python(script): the harness runs the script with exec in a namespace that holds the CLDK object and the workspace path, the pattern of lecture 4 (slide 137), and the observation is what the script prints or raises. The MCP agent discovers the server's tools with tools/list and sends every call through the HW1 dispatcher and then the MCP client. Both write the same report.json and trace.jsonl, and kind under [agent] in config.toml selects which one runs.</a:t>
            </a:r>
          </a:p>
          <a:p>
            <a:endParaRPr/>
          </a:p>
          <a:p>
            <a:r>
              <a:t>The figure, stage by stage.</a:t>
            </a:r>
          </a:p>
          <a:p>
            <a:r>
              <a:t>1. The code-action agent: the model sends a Python script, and the harness runs it with exec against the CLDK object and the files, all in one process.</a:t>
            </a:r>
          </a:p>
          <a:p>
            <a:r>
              <a:t>2. The MCP agent: the model's tool call goes through the host and its dispatcher, as tools/call, to a server in another process.</a:t>
            </a:r>
          </a:p>
          <a:p>
            <a:r>
              <a:t>3. The verdicts: inside one process there is no call to check, and on the server every call is checked.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fix the names, arguments and results of the six analysis tools in the brief, so that our driver can call any team's server. Each wraps one CLDK 2.0 call: locate, get_method_bodies, callers_of, callees_of, get_ddg, and get_entrypoints with get_entrypoint_coverage. read_file and search are HW1's, and on OWASP the model should rarely need them. edit(path, old, new) and rescan(path) are the write tools; set_alert is a host-only tool that the model never sees.</a:t>
            </a:r>
          </a:p>
          <a:p>
            <a:endParaRPr/>
          </a:p>
          <a:p>
            <a:r>
              <a:t>The figure, stage by stage.</a:t>
            </a:r>
          </a:p>
          <a:p>
            <a:r>
              <a:t>1. The server, its analysis group over CLDK 2.0, and the host-only set_alert at the right.</a:t>
            </a:r>
          </a:p>
          <a:p>
            <a:r>
              <a:t>2. The text group, read_file and search, from HW1.</a:t>
            </a:r>
          </a:p>
          <a:p>
            <a:r>
              <a:t>3. The write group, edit and rescan, judged by the three checks.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fix the names, arguments and results of the six analysis tools in the brief, so that our driver can call any team's server. Each wraps one CLDK 2.0 call: locate, get_method_bodies, callers_of, callees_of, get_ddg, and get_entrypoints with get_entrypoint_coverage. read_file and search are HW1's, and on OWASP the model should rarely need them. edit(path, old, new) and rescan(path) are the write tools; set_alert is a host-only tool that the model never sees.</a:t>
            </a:r>
          </a:p>
          <a:p>
            <a:endParaRPr/>
          </a:p>
          <a:p>
            <a:r>
              <a:t>The figure, stage by stage.</a:t>
            </a:r>
          </a:p>
          <a:p>
            <a:r>
              <a:t>1. The server, its analysis group over CLDK 2.0, and the host-only set_alert at the right.</a:t>
            </a:r>
          </a:p>
          <a:p>
            <a:r>
              <a:t>2. The text group, read_file and search, from HW1.</a:t>
            </a:r>
          </a:p>
          <a:p>
            <a:r>
              <a:t>3. The write group, edit and rescan, judged by the three checks.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fix the names, arguments and results of the six analysis tools in the brief, so that our driver can call any team's server. Each wraps one CLDK 2.0 call: locate, get_method_bodies, callers_of, callees_of, get_ddg, and get_entrypoints with get_entrypoint_coverage. read_file and search are HW1's, and on OWASP the model should rarely need them. edit(path, old, new) and rescan(path) are the write tools; set_alert is a host-only tool that the model never sees.</a:t>
            </a:r>
          </a:p>
          <a:p>
            <a:endParaRPr/>
          </a:p>
          <a:p>
            <a:r>
              <a:t>The figure, stage by stage.</a:t>
            </a:r>
          </a:p>
          <a:p>
            <a:r>
              <a:t>1. The server, its analysis group over CLDK 2.0, and the host-only set_alert at the right.</a:t>
            </a:r>
          </a:p>
          <a:p>
            <a:r>
              <a:t>2. The text group, read_file and search, from HW1.</a:t>
            </a:r>
          </a:p>
          <a:p>
            <a:r>
              <a:t>3. The write group, edit and rescan, judged by the three checks.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fix the names, arguments and results of the six analysis tools in the brief, so that our driver can call any team's server. Each wraps one CLDK 2.0 call: locate, get_method_bodies, callers_of, callees_of, get_ddg, and get_entrypoints with get_entrypoint_coverage. read_file and search are HW1's, and on OWASP the model should rarely need them. edit(path, old, new) and rescan(path) are the write tools; set_alert is a host-only tool that the model never sees.</a:t>
            </a:r>
          </a:p>
          <a:p>
            <a:endParaRPr/>
          </a:p>
          <a:p>
            <a:r>
              <a:t>The figure, stage by stage.</a:t>
            </a:r>
          </a:p>
          <a:p>
            <a:r>
              <a:t>1. The server, its analysis group over CLDK 2.0, and the host-only set_alert at the right.</a:t>
            </a:r>
          </a:p>
          <a:p>
            <a:r>
              <a:t>2. The text group, read_file and search, from HW1.</a:t>
            </a:r>
          </a:p>
          <a:p>
            <a:r>
              <a:t>3. The write group, edit and rescan, judged by the three checks.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agents run the same three stages on the same targets, and discovery is Bandit 1.9.4 at MEDIUM or higher, as in HW1. After classification the runtime sends the alerts labelled 1 to remediation and skips the rest; the model does not choose, and the trace records the decision as a routing event with by: runtime. A patch is accepted when it applies cleanly against the pinned commit, touches the flagged line, and a fresh rescan no longer reports that rule at that location. A clean rescan is evidence of a fix, and the report says that it does not prove the fix correct.</a:t>
            </a:r>
          </a:p>
          <a:p>
            <a:endParaRPr/>
          </a:p>
          <a:p>
            <a:r>
              <a:t>The figure, stage by stage.</a:t>
            </a:r>
          </a:p>
          <a:p>
            <a:r>
              <a:t>1. The three stages: discovery with Bandit, classification with a label of 1 or 0 and its evidence, and remediation with edit, rescan and the three checks.</a:t>
            </a:r>
          </a:p>
          <a:p>
            <a:r>
              <a:t>2. The runtime tag: only alerts labelled 1 go on to remediation, and the runtime makes that decision.</a:t>
            </a:r>
          </a:p>
          <a:p>
            <a:r>
              <a:t>3. The other branch: alerts labelled 0 are skipped.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agents run the same three stages on the same targets, and discovery is Bandit 1.9.4 at MEDIUM or higher, as in HW1. After classification the runtime sends the alerts labelled 1 to remediation and skips the rest; the model does not choose, and the trace records the decision as a routing event with by: runtime. A patch is accepted when it applies cleanly against the pinned commit, touches the flagged line, and a fresh rescan no longer reports that rule at that location. A clean rescan is evidence of a fix, and the report says that it does not prove the fix correct.</a:t>
            </a:r>
          </a:p>
          <a:p>
            <a:endParaRPr/>
          </a:p>
          <a:p>
            <a:r>
              <a:t>The figure, stage by stage.</a:t>
            </a:r>
          </a:p>
          <a:p>
            <a:r>
              <a:t>1. The three stages: discovery with Bandit, classification with a label of 1 or 0 and its evidence, and remediation with edit, rescan and the three checks.</a:t>
            </a:r>
          </a:p>
          <a:p>
            <a:r>
              <a:t>2. The runtime tag: only alerts labelled 1 go on to remediation, and the runtime makes that decision.</a:t>
            </a:r>
          </a:p>
          <a:p>
            <a:r>
              <a:t>3. The other branch: alerts labelled 0 are skipped.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agents run the same three stages on the same targets, and discovery is Bandit 1.9.4 at MEDIUM or higher, as in HW1. After classification the runtime sends the alerts labelled 1 to remediation and skips the rest; the model does not choose, and the trace records the decision as a routing event with by: runtime. A patch is accepted when it applies cleanly against the pinned commit, touches the flagged line, and a fresh rescan no longer reports that rule at that location. A clean rescan is evidence of a fix, and the report says that it does not prove the fix correct.</a:t>
            </a:r>
          </a:p>
          <a:p>
            <a:endParaRPr/>
          </a:p>
          <a:p>
            <a:r>
              <a:t>The figure, stage by stage.</a:t>
            </a:r>
          </a:p>
          <a:p>
            <a:r>
              <a:t>1. The three stages: discovery with Bandit, classification with a label of 1 or 0 and its evidence, and remediation with edit, rescan and the three checks.</a:t>
            </a:r>
          </a:p>
          <a:p>
            <a:r>
              <a:t>2. The runtime tag: only alerts labelled 1 go on to remediation, and the runtime makes that decision.</a:t>
            </a:r>
          </a:p>
          <a:p>
            <a:r>
              <a:t>3. The other branch: alerts labelled 0 are skipped.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agents run the same three stages on the same targets, and discovery is Bandit 1.9.4 at MEDIUM or higher, as in HW1. After classification the runtime sends the alerts labelled 1 to remediation and skips the rest; the model does not choose, and the trace records the decision as a routing event with by: runtime. A patch is accepted when it applies cleanly against the pinned commit, touches the flagged line, and a fresh rescan no longer reports that rule at that location. A clean rescan is evidence of a fix, and the report says that it does not prove the fix correct.</a:t>
            </a:r>
          </a:p>
          <a:p>
            <a:endParaRPr/>
          </a:p>
          <a:p>
            <a:r>
              <a:t>The figure, stage by stage.</a:t>
            </a:r>
          </a:p>
          <a:p>
            <a:r>
              <a:t>1. The three stages: discovery with Bandit, classification with a label of 1 or 0 and its evidence, and remediation with edit, rescan and the three checks.</a:t>
            </a:r>
          </a:p>
          <a:p>
            <a:r>
              <a:t>2. The runtime tag: only alerts labelled 1 go on to remediation, and the runtime makes that decision.</a:t>
            </a:r>
          </a:p>
          <a:p>
            <a:r>
              <a:t>3. The other branch: alerts labelled 0 are skipped.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Both agents run the same three stages on the same targets, and discovery is Bandit 1.9.4 at MEDIUM or higher, as in HW1. After classification the runtime sends the alerts labelled 1 to remediation and skips the rest; the model does not choose, and the trace records the decision as a routing event with by: runtime. A patch is accepted when it applies cleanly against the pinned commit, touches the flagged line, and a fresh rescan no longer reports that rule at that location. A clean rescan is evidence of a fix, and the report says that it does not prove the fix correct.</a:t>
            </a:r>
          </a:p>
          <a:p>
            <a:endParaRPr/>
          </a:p>
          <a:p>
            <a:r>
              <a:t>The figure, stage by stage.</a:t>
            </a:r>
          </a:p>
          <a:p>
            <a:r>
              <a:t>1. The three stages: discovery with Bandit, classification with a label of 1 or 0 and its evidence, and remediation with edit, rescan and the three checks.</a:t>
            </a:r>
          </a:p>
          <a:p>
            <a:r>
              <a:t>2. The runtime tag: only alerts labelled 1 go on to remediation, and the runtime makes that decision.</a:t>
            </a:r>
          </a:p>
          <a:p>
            <a:r>
              <a:t>3. The other branch: alerts labelled 0 are skipped.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state the rules HW2 enforces and the places that hold each of them.</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ask for the rules in words first, as rubric item A3 does. Never the answer key, only inside the workspace and only the provider are fixed before the run starts. Only the open case and only the file of the alert being fixed change with every alert, so whatever enforces them must know which alert is open. The kernel's policy is set when the sandbox starts, which is why it holds the fixed parts and cannot hold the per-alert ones: Sandlock's split from today's lecture, with the server as the narrow supervisor.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ask for the rules in words first, as rubric item A3 does. Never the answer key, only inside the workspace and only the provider are fixed before the run starts. Only the open case and only the file of the alert being fixed change with every alert, so whatever enforces them must know which alert is open. The kernel's policy is set when the sandbox starts, which is why it holds the fixed parts and cannot hold the per-alert ones: Sandlock's split from today's lecture, with the server as the narrow supervisor.</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ask for the rules in words first, as rubric item A3 does. Never the answer key, only inside the workspace and only the provider are fixed before the run starts. Only the open case and only the file of the alert being fixed change with every alert, so whatever enforces them must know which alert is open. The kernel's policy is set when the sandbox starts, which is why it holds the fixed parts and cannot hold the per-alert ones: Sandlock's split from today's lecture, with the server as the narrow supervisor.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ask for the rules in words first, as rubric item A3 does. Never the answer key, only inside the workspace and only the provider are fixed before the run starts. Only the open case and only the file of the alert being fixed change with every alert, so whatever enforces them must know which alert is open. The kernel's policy is set when the sandbox starts, which is why it holds the fixed parts and cannot hold the per-alert ones: Sandlock's split from today's lecture, with the server as the narrow supervisor.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ask for the rules in words first, as rubric item A3 does. Never the answer key, only inside the workspace and only the provider are fixed before the run starts. Only the open case and only the file of the alert being fixed change with every alert, so whatever enforces them must know which alert is open. The kernel's policy is set when the sandbox starts, which is why it holds the fixed parts and cannot hold the per-alert ones: Sandlock's split from today's lecture, with the server as the narrow supervisor.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reuse the main deck's figure of the four places, drawn there for the rule that the agent may not read ~/.ssh; here we read HW2's three rules into it. The prompt states all three rules for both agents, and persuading the model bypasses it. The server is the team's own code inside the sandbox, the harness placement: it holds HW1's path check for reads and writes, and set_alert(alert_id) gives it the per-alert parts. The kernel, through OpenShell, holds the fixed parts for both agents, while the code-action agent has no server, so its per-alert parts are enforced nowhere.</a:t>
            </a:r>
          </a:p>
          <a:p>
            <a:endParaRPr/>
          </a:p>
          <a:p>
            <a:r>
              <a:t>The figure, stage by stage.</a:t>
            </a:r>
          </a:p>
          <a:p>
            <a:r>
              <a:t>1. In the model: the system prompt, inside the agent's process; persuading the model bypasses it.</a:t>
            </a:r>
          </a:p>
          <a:p>
            <a:r>
              <a:t>2. In the harness process: the dispatcher's check, and in HW2 the team's server, still inside the agent's process.</a:t>
            </a:r>
          </a:p>
          <a:p>
            <a:r>
              <a:t>3. In the kernel: Landlock file rules and the network policy through OpenShell, outside the agent's process.</a:t>
            </a:r>
          </a:p>
          <a:p>
            <a:r>
              <a:t>4. In hardware outside the host: a processor in the network path, which HW2 does not use.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we verified on 2026-10-15 in an OpenShell sandbox on this Mac, with the OWASP target mounted read-only at /target and the workspace at /sandbox/work. Inside it, cat /target/expectedresults-0.1.csv exits 1 with Permission denied, and so do .git/HEAD and a write into /target, while reads of the test code and a write into the workspace succeed. Filesystem denials leave no log record, so their evidence is the process's error and exit code; network denials are logged with a reason. The provider key arrives through an OpenShell provider attachment and never enters the sandbox, and a team on a local model server grants that server's host port as the one endpoint instead. The sandbox needs Linux, macOS on Apple Silicon or WSL 2, with Docker or Podman; Intel Macs follow the brief's VM recipe and ask us for help.</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we verified on 2026-10-15 in an OpenShell sandbox on this Mac, with the OWASP target mounted read-only at /target and the workspace at /sandbox/work. Inside it, cat /target/expectedresults-0.1.csv exits 1 with Permission denied, and so do .git/HEAD and a write into /target, while reads of the test code and a write into the workspace succeed. Filesystem denials leave no log record, so their evidence is the process's error and exit code; network denials are logged with a reason. The provider key arrives through an OpenShell provider attachment and never enters the sandbox, and a team on a local model server grants that server's host port as the one endpoint instead. The sandbox needs Linux, macOS on Apple Silicon or WSL 2, with Docker or Podman; Intel Macs follow the brief's VM recipe and ask us for help.</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we verified on 2026-10-15 in an OpenShell sandbox on this Mac, with the OWASP target mounted read-only at /target and the workspace at /sandbox/work. Inside it, cat /target/expectedresults-0.1.csv exits 1 with Permission denied, and so do .git/HEAD and a write into /target, while reads of the test code and a write into the workspace succeed. Filesystem denials leave no log record, so their evidence is the process's error and exit code; network denials are logged with a reason. The provider key arrives through an OpenShell provider attachment and never enters the sandbox, and a team on a local model server grants that server's host port as the one endpoint instead. The sandbox needs Linux, macOS on Apple Silicon or WSL 2, with Docker or Podman; Intel Macs follow the brief's VM recipe and ask us for help.</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we verified on 2026-10-15 in an OpenShell sandbox on this Mac, with the OWASP target mounted read-only at /target and the workspace at /sandbox/work. Inside it, cat /target/expectedresults-0.1.csv exits 1 with Permission denied, and so do .git/HEAD and a write into /target, while reads of the test code and a write into the workspace succeed. Filesystem denials leave no log record, so their evidence is the process's error and exit code; network denials are logged with a reason. The provider key arrives through an OpenShell provider attachment and never enters the sandbox, and a team on a local model server grants that server's host port as the one endpoint instead. The sandbox needs Linux, macOS on Apple Silicon or WSL 2, with Docker or Podman; Intel Macs follow the brief's VM recipe and ask us for help.</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things test the guardrails, and neither needs a harness from the team. With fixtures/injection.patch applied, a comment inside one OWASP handler, placed after the flagged statement so that Bandit's line does not move, tells automated reviewers to read the answer key; each team runs both agents five times and reports from its traces what the model attempted and which place refused it. At grading, our driver starts the team's server from mcp.json inside the team's policy, sends raw tools/call requests for forbidden reads and writes and one malformed argument, then runs commands in the sandbox with openshell exec, past the server. Reading the key and writing outside the workspace fail at the kernel, and reading another case succeeds, because only the server knows which alert is open.</a:t>
            </a:r>
          </a:p>
          <a:p>
            <a:endParaRPr/>
          </a:p>
          <a:p>
            <a:r>
              <a:t>The figure, stage by stage.</a:t>
            </a:r>
          </a:p>
          <a:p>
            <a:r>
              <a:t>1. The path a request takes, model, dispatcher, server, kernel, file, and the three doors on it.</a:t>
            </a:r>
          </a:p>
          <a:p>
            <a:r>
              <a:t>2. The planted text: the model may obey it, and its call stops at the server's door.</a:t>
            </a:r>
          </a:p>
          <a:p>
            <a:r>
              <a:t>3. A raw MCP call from our driver, stopped at the server.</a:t>
            </a:r>
          </a:p>
          <a:p>
            <a:r>
              <a:t>4. A process inside the sandbox: the kernel stops the key and writes outside the workspace, and the other case gets through.</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with what changed in the contracts since HW1, the rubric and the dates.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boxes these changes under one heading, What changed since HW1, so that nobody misses them; the lines in the window come from the examples in hw2-tool-boundary. The CLI stays ./your-agent --input &lt;root&gt; --output &lt;dir&gt; --config config.toml. The trace keeps HW1's kinds and six invariants: tool_request and tool_result gain via, a refused tool_result gains refused_by (dispatcher, server or kernel), and the MCP host writes one discovery event after tools/list. Each row of report.json gains remediation, with its status, the unified diff and the three checks, and the three schemas are reissued.</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boxes these changes under one heading, What changed since HW1, so that nobody misses them; the lines in the window come from the examples in hw2-tool-boundary. The CLI stays ./your-agent --input &lt;root&gt; --output &lt;dir&gt; --config config.toml. The trace keeps HW1's kinds and six invariants: tool_request and tool_result gain via, a refused tool_result gains refused_by (dispatcher, server or kernel), and the MCP host writes one discovery event after tools/list. Each row of report.json gains remediation, with its status, the unified diff and the three checks, and the three schemas are reissued.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boxes these changes under one heading, What changed since HW1, so that nobody misses them; the lines in the window come from the examples in hw2-tool-boundary. The CLI stays ./your-agent --input &lt;root&gt; --output &lt;dir&gt; --config config.toml. The trace keeps HW1's kinds and six invariants: tool_request and tool_result gain via, a refused tool_result gains refused_by (dispatcher, server or kernel), and the MCP host writes one discovery event after tools/list. Each row of report.json gains remediation, with its status, the unified diff and the three checks, and the three schemas are reissued.</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brief boxes these changes under one heading, What changed since HW1, so that nobody misses them; the lines in the window come from the examples in hw2-tool-boundary. The CLI stays ./your-agent --input &lt;root&gt; --output &lt;dir&gt; --config config.toml. The trace keeps HW1's kinds and six invariants: tool_request and tool_result gain via, a refused tool_result gains refused_by (dispatcher, server or kernel), and the MCP host writes one discovery event after tools/list. Each row of report.json gains remediation, with its status, the unified diff and the three checks, and the three schemas are reissued.</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rubric has 18 items of one point each, scaled to the assignment's 20 percent of the course grade. Part A grades the design report, Part B the mechanisms in the code, and Part C the evidence and the README; the website now lists the same items. A report that describes a mechanism the code lacks earns nothing for it. We collect classification accuracy to see how the agents do, and it carries no points.</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rubric has 18 items of one point each, scaled to the assignment's 20 percent of the course grade. Part A grades the design report, Part B the mechanisms in the code, and Part C the evidence and the README; the website now lists the same items. A report that describes a mechanism the code lacks earns nothing for it. We collect classification accuracy to see how the agents do, and it carries no points.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rubric has 18 items of one point each, scaled to the assignment's 20 percent of the course grade. Part A grades the design report, Part B the mechanisms in the code, and Part C the evidence and the README; the website now lists the same items. A report that describes a mechanism the code lacks earns nothing for it. We collect classification accuracy to see how the agents do, and it carries no points.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rubric has 18 items of one point each, scaled to the assignment's 20 percent of the course grade. Part A grades the design report, Part B the mechanisms in the code, and Part C the evidence and the README; the website now lists the same items. A report that describes a mechanism the code lacks earns nothing for it. We collect classification accuracy to see how the agents do, and it carries no points.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rubric has 18 items of one point each, scaled to the assignment's 20 percent of the course grade. Part A grades the design report, Part B the mechanisms in the code, and Part C the evidence and the README; the website now lists the same items. A report that describes a mechanism the code lacks earns nothing for it. We collect classification accuracy to see how the agents do, and it carries no points.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is released today, Friday, October 16, 2026, and due Friday, November 13, 2026, before 11:59 pm. Each student has six late days per semester, at most three on one assignment, and the website corrects the HW1 brief's wording. OpenShell needs Linux, macOS on Apple Silicon, or Windows with WSL 2, plus Docker, Podman or host virtualization, and a kernel of 6.2 or newer for Landlock ABI v3; Intel Macs and Windows without WSL 2 follow the brief's Linux VM recipe. The midterm is next Friday, October 23, in class: one hour, individual, closed book.</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is released today, Friday, October 16, 2026, and due Friday, November 13, 2026, before 11:59 pm. Each student has six late days per semester, at most three on one assignment, and the website corrects the HW1 brief's wording. OpenShell needs Linux, macOS on Apple Silicon, or Windows with WSL 2, plus Docker, Podman or host virtualization, and a kernel of 6.2 or newer for Landlock ABI v3; Intel Macs and Windows without WSL 2 follow the brief's Linux VM recipe. The midterm is next Friday, October 23, in class: one hour, individual, closed book.</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is released today, Friday, October 16, 2026, and due Friday, November 13, 2026, before 11:59 pm. Each student has six late days per semester, at most three on one assignment, and the website corrects the HW1 brief's wording. OpenShell needs Linux, macOS on Apple Silicon, or Windows with WSL 2, plus Docker, Podman or host virtualization, and a kernel of 6.2 or newer for Landlock ABI v3; Intel Macs and Windows without WSL 2 follow the brief's Linux VM recipe. The midterm is next Friday, October 23, in class: one hour, individual, closed book.</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is released today, Friday, October 16, 2026, and due Friday, November 13, 2026, before 11:59 pm. Each student has six late days per semester, at most three on one assignment, and the website corrects the HW1 brief's wording. OpenShell needs Linux, macOS on Apple Silicon, or Windows with WSL 2, plus Docker, Podman or host virtualization, and a kernel of 6.2 or newer for Landlock ABI v3; Intel Macs and Windows without WSL 2 follow the brief's Linux VM recipe. The midterm is next Friday, October 23, in class: one hour, individual, closed book.</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HW2 is released today, Friday, October 16, 2026, and due Friday, November 13, 2026, before 11:59 pm. Each student has six late days per semester, at most three on one assignment, and the website corrects the HW1 brief's wording. OpenShell needs Linux, macOS on Apple Silicon, or Windows with WSL 2, plus Docker, Podman or host virtualization, and a kernel of 6.2 or newer for Landlock ABI v3; Intel Macs and Windows without WSL 2 follow the brief's Linux VM recipe. The midterm is next Friday, October 23, in class: one hour, individual, closed book.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bwMode="auto"/>
        <p:txBody>
          <a:bodyPr/>
          <a:lstStyle/>
          <a:p>
            <a:pPr>
              <a:defRPr/>
            </a:pPr>
            <a:r>
              <a:rPr lang="en-US" b="1"/>
              <a:t>Designing Production Agentic Systems</a:t>
            </a:r>
            <a:endParaRPr b="1"/>
          </a:p>
        </p:txBody>
      </p:sp>
      <p:sp>
        <p:nvSpPr>
          <p:cNvPr id="3" name="Subtitle 2"/>
          <p:cNvSpPr>
            <a:spLocks noGrp="1"/>
          </p:cNvSpPr>
          <p:nvPr>
            <p:ph type="subTitle" idx="1"/>
          </p:nvPr>
        </p:nvSpPr>
        <p:spPr bwMode="auto"/>
        <p:txBody>
          <a:bodyPr/>
          <a:lstStyle/>
          <a:p>
            <a:pPr>
              <a:defRPr/>
            </a:pPr>
            <a:r>
              <a:rPr b="1"/>
              <a:t>Columbia · Fall 2026 · Lecture </a:t>
            </a:r>
            <a:r>
              <a:rPr lang="en-US" b="1"/>
              <a:t>6</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HW2: two agents over CLDK</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The CLDK SDK</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pic>
        <p:nvPicPr>
          <p:cNvPr id="14" name="Picture 13" descr="image.png"/>
          <p:cNvPicPr>
            <a:picLocks noChangeAspect="1"/>
          </p:cNvPicPr>
          <p:nvPr/>
        </p:nvPicPr>
        <p:blipFill rotWithShape="1">
          <a:blip r:embed="rId3">
            <a:alphaModFix amt="70000"/>
          </a:blip>
          <a:stretch/>
        </p:blipFill>
        <p:spPr bwMode="auto">
          <a:xfrm>
            <a:off x="822960" y="2347897"/>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CLDK answers questions about code.</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SDK,</a:t>
            </a:r>
            <a:r>
              <a:rPr lang="en-US" sz="1200" b="0">
                <a:solidFill>
                  <a:srgbClr val="000000"/>
                </a:solidFill>
              </a:rPr>
              <a:t> static analysis of Java, Python and TypeScript behind one Python API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object per checkout:</a:t>
            </a:r>
            <a:r>
              <a:rPr lang="en-US" sz="1200" b="0">
                <a:solidFill>
                  <a:srgbClr val="FFFFFF">
                    <a:alpha val="0"/>
                  </a:srgbClr>
                </a:solidFill>
              </a:rPr>
              <a:t> </a:t>
            </a:r>
            <a:r>
              <a:rPr lang="en-US" sz="1200" b="0">
                <a:solidFill>
                  <a:srgbClr val="FFFFFF">
                    <a:alpha val="0"/>
                  </a:srgbClr>
                </a:solidFill>
                <a:latin typeface="Aptos Mono"/>
              </a:rPr>
              <a:t>CLDK.python(project_path, analysis_level)</a:t>
            </a:r>
            <a:r>
              <a:rPr lang="en-US" sz="1200" b="0">
                <a:solidFill>
                  <a:srgbClr val="FFFFFF">
                    <a:alpha val="0"/>
                  </a:srgbClr>
                </a:solidFill>
              </a:rPr>
              <a:t>, built once and cached.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Four levels:</a:t>
            </a:r>
            <a:r>
              <a:rPr lang="en-US" sz="1200" b="0">
                <a:solidFill>
                  <a:srgbClr val="FFFFFF">
                    <a:alpha val="0"/>
                  </a:srgbClr>
                </a:solidFill>
              </a:rPr>
              <a:t> symbol table, call graph, program dependency graph, system dependency graph.</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Four moves:</a:t>
            </a:r>
            <a:r>
              <a:rPr lang="en-US" sz="1200" b="0">
                <a:solidFill>
                  <a:srgbClr val="FFFFFF">
                    <a:alpha val="0"/>
                  </a:srgbClr>
                </a:solidFill>
              </a:rPr>
              <a:t> locate a line, read the body, walk callers and callees, ask a dataflow question.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R. Pan, R. Pavuluri, S. Tamilselvam, M. Vukovic and S. Sinha. Codellm-Devkit: a framework for contextualizing code LLMs with program analysis insights. FSE Companion 2025, pp. 308-318.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CLDK answers questions about code.</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SDK,</a:t>
            </a:r>
            <a:r>
              <a:rPr lang="en-US" sz="1200" b="0">
                <a:solidFill>
                  <a:srgbClr val="000000"/>
                </a:solidFill>
              </a:rPr>
              <a:t> static analysis of Java, Python and TypeScript behind one Python API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object per checkout:</a:t>
            </a:r>
            <a:r>
              <a:rPr lang="en-US" sz="1200" b="0">
                <a:solidFill>
                  <a:srgbClr val="000000"/>
                </a:solidFill>
              </a:rPr>
              <a:t> </a:t>
            </a:r>
            <a:r>
              <a:rPr lang="en-US" sz="1200" b="0">
                <a:solidFill>
                  <a:srgbClr val="000000"/>
                </a:solidFill>
                <a:latin typeface="Aptos Mono"/>
              </a:rPr>
              <a:t>CLDK.python(project_path, analysis_level)</a:t>
            </a:r>
            <a:r>
              <a:rPr lang="en-US" sz="1200" b="0">
                <a:solidFill>
                  <a:srgbClr val="000000"/>
                </a:solidFill>
              </a:rPr>
              <a:t>, built once and cached.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Four levels:</a:t>
            </a:r>
            <a:r>
              <a:rPr lang="en-US" sz="1200" b="0">
                <a:solidFill>
                  <a:srgbClr val="FFFFFF">
                    <a:alpha val="0"/>
                  </a:srgbClr>
                </a:solidFill>
              </a:rPr>
              <a:t> symbol table, call graph, program dependency graph, system dependency graph.</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Four moves:</a:t>
            </a:r>
            <a:r>
              <a:rPr lang="en-US" sz="1200" b="0">
                <a:solidFill>
                  <a:srgbClr val="FFFFFF">
                    <a:alpha val="0"/>
                  </a:srgbClr>
                </a:solidFill>
              </a:rPr>
              <a:t> locate a line, read the body, walk callers and callees, ask a dataflow question.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R. Pan, R. Pavuluri, S. Tamilselvam, M. Vukovic and S. Sinha. Codellm-Devkit: a framework for contextualizing code LLMs with program analysis insights. FSE Companion 2025, pp. 308-318.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CLDK answers questions about code.</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SDK,</a:t>
            </a:r>
            <a:r>
              <a:rPr lang="en-US" sz="1200" b="0">
                <a:solidFill>
                  <a:srgbClr val="000000"/>
                </a:solidFill>
              </a:rPr>
              <a:t> static analysis of Java, Python and TypeScript behind one Python API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object per checkout:</a:t>
            </a:r>
            <a:r>
              <a:rPr lang="en-US" sz="1200" b="0">
                <a:solidFill>
                  <a:srgbClr val="000000"/>
                </a:solidFill>
              </a:rPr>
              <a:t> </a:t>
            </a:r>
            <a:r>
              <a:rPr lang="en-US" sz="1200" b="0">
                <a:solidFill>
                  <a:srgbClr val="000000"/>
                </a:solidFill>
                <a:latin typeface="Aptos Mono"/>
              </a:rPr>
              <a:t>CLDK.python(project_path, analysis_level)</a:t>
            </a:r>
            <a:r>
              <a:rPr lang="en-US" sz="1200" b="0">
                <a:solidFill>
                  <a:srgbClr val="000000"/>
                </a:solidFill>
              </a:rPr>
              <a:t>, built once and cached.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Four levels:</a:t>
            </a:r>
            <a:r>
              <a:rPr lang="en-US" sz="1200" b="0">
                <a:solidFill>
                  <a:srgbClr val="000000"/>
                </a:solidFill>
              </a:rPr>
              <a:t> symbol table, call graph, program dependency graph, system dependency graph.</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Four moves:</a:t>
            </a:r>
            <a:r>
              <a:rPr lang="en-US" sz="1200" b="0">
                <a:solidFill>
                  <a:srgbClr val="FFFFFF">
                    <a:alpha val="0"/>
                  </a:srgbClr>
                </a:solidFill>
              </a:rPr>
              <a:t> locate a line, read the body, walk callers and callees, ask a dataflow question.</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R. Pan, R. Pavuluri, S. Tamilselvam, M. Vukovic and S. Sinha. Codellm-Devkit: a framework for contextualizing code LLMs with program analysis insights. FSE Companion 2025, pp. 308-318.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CLDK answers questions about code.</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One SDK,</a:t>
            </a:r>
            <a:r>
              <a:rPr lang="en-US" sz="1200" b="0" dirty="0">
                <a:solidFill>
                  <a:srgbClr val="000000"/>
                </a:solidFill>
              </a:rPr>
              <a:t> static analysis of Java, Python and TypeScript behind one Python API (Krishna et al.</a:t>
            </a:r>
            <a:r>
              <a:rPr lang="en-US" sz="1200" baseline="30000" dirty="0">
                <a:solidFill>
                  <a:srgbClr val="000000"/>
                </a:solidFill>
              </a:rPr>
              <a:t>[1]</a:t>
            </a:r>
            <a:r>
              <a:rPr lang="en-US" sz="1200" b="0" dirty="0">
                <a:solidFill>
                  <a:srgbClr val="000000"/>
                </a:solidFill>
              </a:rPr>
              <a:t>, 2025).</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object per checkout:</a:t>
            </a:r>
            <a:r>
              <a:rPr lang="en-US" sz="1200" b="0" dirty="0">
                <a:solidFill>
                  <a:srgbClr val="000000"/>
                </a:solidFill>
              </a:rPr>
              <a:t> </a:t>
            </a:r>
            <a:r>
              <a:rPr lang="en-US" sz="1200" b="0" dirty="0" err="1">
                <a:solidFill>
                  <a:srgbClr val="000000"/>
                </a:solidFill>
                <a:latin typeface="Aptos Mono"/>
              </a:rPr>
              <a:t>CLDK.python</a:t>
            </a:r>
            <a:r>
              <a:rPr lang="en-US" sz="1200" b="0" dirty="0">
                <a:solidFill>
                  <a:srgbClr val="000000"/>
                </a:solidFill>
                <a:latin typeface="Aptos Mono"/>
              </a:rPr>
              <a:t>(</a:t>
            </a:r>
            <a:r>
              <a:rPr lang="en-US" sz="1200" b="0" dirty="0" err="1">
                <a:solidFill>
                  <a:srgbClr val="000000"/>
                </a:solidFill>
                <a:latin typeface="Aptos Mono"/>
              </a:rPr>
              <a:t>project_path</a:t>
            </a:r>
            <a:r>
              <a:rPr lang="en-US" sz="1200" b="0" dirty="0">
                <a:solidFill>
                  <a:srgbClr val="000000"/>
                </a:solidFill>
                <a:latin typeface="Aptos Mono"/>
              </a:rPr>
              <a:t>, </a:t>
            </a:r>
            <a:r>
              <a:rPr lang="en-US" sz="1200" b="0" dirty="0" err="1">
                <a:solidFill>
                  <a:srgbClr val="000000"/>
                </a:solidFill>
                <a:latin typeface="Aptos Mono"/>
              </a:rPr>
              <a:t>analysis_level</a:t>
            </a:r>
            <a:r>
              <a:rPr lang="en-US" sz="1200" b="0" dirty="0">
                <a:solidFill>
                  <a:srgbClr val="000000"/>
                </a:solidFill>
                <a:latin typeface="Aptos Mono"/>
              </a:rPr>
              <a:t>)</a:t>
            </a:r>
            <a:r>
              <a:rPr lang="en-US" sz="1200" b="0" dirty="0">
                <a:solidFill>
                  <a:srgbClr val="000000"/>
                </a:solidFill>
              </a:rPr>
              <a:t>, built once and cached.</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Four levels:</a:t>
            </a:r>
            <a:r>
              <a:rPr lang="en-US" sz="1200" b="0" dirty="0">
                <a:solidFill>
                  <a:srgbClr val="000000"/>
                </a:solidFill>
              </a:rPr>
              <a:t> symbol table, call graph, program dependency graph, system dependency graph.</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Four moves:</a:t>
            </a:r>
            <a:r>
              <a:rPr lang="en-US" sz="1200" b="0" dirty="0">
                <a:solidFill>
                  <a:srgbClr val="000000"/>
                </a:solidFill>
              </a:rPr>
              <a:t> locate a line, read the body, walk callers and callees, ask a dataflow question.</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R. Pan, R. Pavuluri, S. Tamilselvam, M. Vukovic and S. Sinha. Codellm-Devkit: a framework for contextualizing code LLMs with program analysis insights. FSE Companion 2025, pp. 308-318.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CLDK answers questions about code.</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One SDK,</a:t>
            </a:r>
            <a:r>
              <a:rPr lang="en-US" sz="1200" b="0">
                <a:solidFill>
                  <a:srgbClr val="000000"/>
                </a:solidFill>
              </a:rPr>
              <a:t> static analysis of Java, Python and TypeScript behind one Python API (Krishna et al.</a:t>
            </a:r>
            <a:r>
              <a:rPr lang="en-US" sz="1200" baseline="30000">
                <a:solidFill>
                  <a:srgbClr val="000000"/>
                </a:solidFill>
              </a:rPr>
              <a:t>[1]</a:t>
            </a:r>
            <a:r>
              <a:rPr lang="en-US" sz="1200" b="0">
                <a:solidFill>
                  <a:srgbClr val="000000"/>
                </a:solidFill>
              </a:rPr>
              <a:t>, 2025).</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object per checkout:</a:t>
            </a:r>
            <a:r>
              <a:rPr lang="en-US" sz="1200" b="0">
                <a:solidFill>
                  <a:srgbClr val="000000"/>
                </a:solidFill>
              </a:rPr>
              <a:t> </a:t>
            </a:r>
            <a:r>
              <a:rPr lang="en-US" sz="1200" b="0">
                <a:solidFill>
                  <a:srgbClr val="000000"/>
                </a:solidFill>
                <a:latin typeface="Aptos Mono"/>
              </a:rPr>
              <a:t>CLDK.python(project_path, analysis_level)</a:t>
            </a:r>
            <a:r>
              <a:rPr lang="en-US" sz="1200" b="0">
                <a:solidFill>
                  <a:srgbClr val="000000"/>
                </a:solidFill>
              </a:rPr>
              <a:t>, built once and cached.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Four levels:</a:t>
            </a:r>
            <a:r>
              <a:rPr lang="en-US" sz="1200" b="0">
                <a:solidFill>
                  <a:srgbClr val="000000"/>
                </a:solidFill>
              </a:rPr>
              <a:t> symbol table, call graph, program dependency graph, system dependency graph.</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Four moves:</a:t>
            </a:r>
            <a:r>
              <a:rPr lang="en-US" sz="1200" b="0">
                <a:solidFill>
                  <a:srgbClr val="000000"/>
                </a:solidFill>
              </a:rPr>
              <a:t> locate a line, read the body, walk callers and callees, ask a dataflow question.</a:t>
            </a:r>
            <a:endParaRPr/>
          </a:p>
        </p:txBody>
      </p:sp>
      <p:sp>
        <p:nvSpPr>
          <p:cNvPr id="4" name="Rectangle 4"/>
          <p:cNvSpPr/>
          <p:nvPr/>
        </p:nvSpPr>
        <p:spPr bwMode="auto">
          <a:xfrm>
            <a:off x="320040" y="2994545"/>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An alert classifier needs every move, and CLDK gives each as a single call.</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R. Krishna, R. Pan, R. Pavuluri, S. Tamilselvam, M. Vukovic and S. Sinha. Codellm-Devkit: a framework for contextualizing code LLMs with program analysis insights. FSE Companion 2025, pp. 308-318.</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request value reaches the query string.</a:t>
            </a:r>
          </a:p>
        </p:txBody>
      </p:sp>
      <p:sp>
        <p:nvSpPr>
          <p:cNvPr id="3" name="Content Placeholder 2"/>
          <p:cNvSpPr>
            <a:spLocks noGrp="1"/>
          </p:cNvSpPr>
          <p:nvPr>
            <p:ph idx="1"/>
          </p:nvPr>
        </p:nvSpPr>
        <p:spPr bwMode="auto">
          <a:xfrm>
            <a:off x="320040" y="658368"/>
            <a:ext cx="6016752" cy="1066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Three B608 alerts</a:t>
            </a:r>
            <a:r>
              <a:rPr lang="en-US" sz="1100" b="0">
                <a:solidFill>
                  <a:srgbClr val="000000"/>
                </a:solidFill>
              </a:rPr>
              <a:t> in HW1's scan scope: 00099 is true, 00011 and 00012 false.</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 00099</a:t>
            </a:r>
            <a:r>
              <a:rPr lang="en-US" sz="1100" b="0">
                <a:solidFill>
                  <a:srgbClr val="FFFFFF">
                    <a:alpha val="0"/>
                  </a:srgbClr>
                </a:solidFill>
              </a:rPr>
              <a:t> the value goes through a </a:t>
            </a:r>
            <a:r>
              <a:rPr lang="en-US" sz="1100" b="0">
                <a:solidFill>
                  <a:srgbClr val="FFFFFF">
                    <a:alpha val="0"/>
                  </a:srgbClr>
                </a:solidFill>
                <a:latin typeface="Aptos Mono"/>
              </a:rPr>
              <a:t>configparser</a:t>
            </a:r>
            <a:r>
              <a:rPr lang="en-US" sz="1100" b="0">
                <a:solidFill>
                  <a:srgbClr val="FFFFFF">
                    <a:alpha val="0"/>
                  </a:srgbClr>
                </a:solidFill>
              </a:rPr>
              <a:t> round trip into the f-string.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 00011</a:t>
            </a:r>
            <a:r>
              <a:rPr lang="en-US" sz="1100" b="0">
                <a:solidFill>
                  <a:srgbClr val="FFFFFF">
                    <a:alpha val="0"/>
                  </a:srgbClr>
                </a:solidFill>
              </a:rPr>
              <a:t> the value is passed as a query parameter, outside the f-string.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analyzer answers it as a path</a:t>
            </a:r>
            <a:r>
              <a:rPr lang="en-US" sz="1100" b="0">
                <a:solidFill>
                  <a:srgbClr val="FFFFFF">
                    <a:alpha val="0"/>
                  </a:srgbClr>
                </a:solidFill>
              </a:rPr>
              <a:t> of data-dependence edges.</a:t>
            </a:r>
            <a:endParaRPr>
              <a:solidFill>
                <a:srgbClr val="FFFFFF">
                  <a:alpha val="0"/>
                </a:srgbClr>
              </a:solidFill>
            </a:endParaRPr>
          </a:p>
        </p:txBody>
      </p:sp>
      <p:pic>
        <p:nvPicPr>
          <p:cNvPr id="4" name="Picture 1260919718" descr="dataflow-example-1.png"/>
          <p:cNvPicPr>
            <a:picLocks noChangeAspect="1"/>
          </p:cNvPicPr>
          <p:nvPr/>
        </p:nvPicPr>
        <p:blipFill>
          <a:blip r:embed="rId3"/>
          <a:stretch>
            <a:fillRect/>
          </a:stretch>
        </p:blipFill>
        <p:spPr>
          <a:xfrm>
            <a:off x="320040" y="201847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request value reaches the query string.</a:t>
            </a:r>
          </a:p>
        </p:txBody>
      </p:sp>
      <p:sp>
        <p:nvSpPr>
          <p:cNvPr id="3" name="Content Placeholder 2"/>
          <p:cNvSpPr>
            <a:spLocks noGrp="1"/>
          </p:cNvSpPr>
          <p:nvPr>
            <p:ph idx="1"/>
          </p:nvPr>
        </p:nvSpPr>
        <p:spPr bwMode="auto">
          <a:xfrm>
            <a:off x="320040" y="658368"/>
            <a:ext cx="6016752" cy="1066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Three B608 alerts</a:t>
            </a:r>
            <a:r>
              <a:rPr lang="en-US" sz="1100" b="0">
                <a:solidFill>
                  <a:srgbClr val="000000"/>
                </a:solidFill>
              </a:rPr>
              <a:t> in HW1's scan scope: 00099 is true, 00011 and 00012 false.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00099</a:t>
            </a:r>
            <a:r>
              <a:rPr lang="en-US" sz="1100" b="0">
                <a:solidFill>
                  <a:srgbClr val="000000"/>
                </a:solidFill>
              </a:rPr>
              <a:t> the value goes through a </a:t>
            </a:r>
            <a:r>
              <a:rPr lang="en-US" sz="1100" b="0">
                <a:solidFill>
                  <a:srgbClr val="000000"/>
                </a:solidFill>
                <a:latin typeface="Aptos Mono"/>
              </a:rPr>
              <a:t>configparser</a:t>
            </a:r>
            <a:r>
              <a:rPr lang="en-US" sz="1100" b="0">
                <a:solidFill>
                  <a:srgbClr val="000000"/>
                </a:solidFill>
              </a:rPr>
              <a:t> round trip into the f-string.</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In 00011</a:t>
            </a:r>
            <a:r>
              <a:rPr lang="en-US" sz="1100" b="0">
                <a:solidFill>
                  <a:srgbClr val="FFFFFF">
                    <a:alpha val="0"/>
                  </a:srgbClr>
                </a:solidFill>
              </a:rPr>
              <a:t> the value is passed as a query parameter, outside the f-string.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analyzer answers it as a path</a:t>
            </a:r>
            <a:r>
              <a:rPr lang="en-US" sz="1100" b="0">
                <a:solidFill>
                  <a:srgbClr val="FFFFFF">
                    <a:alpha val="0"/>
                  </a:srgbClr>
                </a:solidFill>
              </a:rPr>
              <a:t> of data-dependence edges.</a:t>
            </a:r>
            <a:endParaRPr>
              <a:solidFill>
                <a:srgbClr val="FFFFFF">
                  <a:alpha val="0"/>
                </a:srgbClr>
              </a:solidFill>
            </a:endParaRPr>
          </a:p>
        </p:txBody>
      </p:sp>
      <p:pic>
        <p:nvPicPr>
          <p:cNvPr id="4" name="Picture 1260919718" descr="dataflow-example-2.png"/>
          <p:cNvPicPr>
            <a:picLocks noChangeAspect="1"/>
          </p:cNvPicPr>
          <p:nvPr/>
        </p:nvPicPr>
        <p:blipFill>
          <a:blip r:embed="rId3"/>
          <a:stretch>
            <a:fillRect/>
          </a:stretch>
        </p:blipFill>
        <p:spPr>
          <a:xfrm>
            <a:off x="320040" y="201847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request value reaches the query string.</a:t>
            </a:r>
          </a:p>
        </p:txBody>
      </p:sp>
      <p:sp>
        <p:nvSpPr>
          <p:cNvPr id="3" name="Content Placeholder 2"/>
          <p:cNvSpPr>
            <a:spLocks noGrp="1"/>
          </p:cNvSpPr>
          <p:nvPr>
            <p:ph idx="1"/>
          </p:nvPr>
        </p:nvSpPr>
        <p:spPr bwMode="auto">
          <a:xfrm>
            <a:off x="320040" y="658368"/>
            <a:ext cx="6016752" cy="1066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Three B608 alerts</a:t>
            </a:r>
            <a:r>
              <a:rPr lang="en-US" sz="1100" b="0">
                <a:solidFill>
                  <a:srgbClr val="000000"/>
                </a:solidFill>
              </a:rPr>
              <a:t> in HW1's scan scope: 00099 is true, 00011 and 00012 false.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00099</a:t>
            </a:r>
            <a:r>
              <a:rPr lang="en-US" sz="1100" b="0">
                <a:solidFill>
                  <a:srgbClr val="000000"/>
                </a:solidFill>
              </a:rPr>
              <a:t> the value goes through a </a:t>
            </a:r>
            <a:r>
              <a:rPr lang="en-US" sz="1100" b="0">
                <a:solidFill>
                  <a:srgbClr val="000000"/>
                </a:solidFill>
                <a:latin typeface="Aptos Mono"/>
              </a:rPr>
              <a:t>configparser</a:t>
            </a:r>
            <a:r>
              <a:rPr lang="en-US" sz="1100" b="0">
                <a:solidFill>
                  <a:srgbClr val="000000"/>
                </a:solidFill>
              </a:rPr>
              <a:t> round trip into the f-string.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00011</a:t>
            </a:r>
            <a:r>
              <a:rPr lang="en-US" sz="1100" b="0">
                <a:solidFill>
                  <a:srgbClr val="000000"/>
                </a:solidFill>
              </a:rPr>
              <a:t> the value is passed as a query parameter, outside the f-string.</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analyzer answers it as a path</a:t>
            </a:r>
            <a:r>
              <a:rPr lang="en-US" sz="1100" b="0">
                <a:solidFill>
                  <a:srgbClr val="FFFFFF">
                    <a:alpha val="0"/>
                  </a:srgbClr>
                </a:solidFill>
              </a:rPr>
              <a:t> of data-dependence edges.</a:t>
            </a:r>
            <a:endParaRPr>
              <a:solidFill>
                <a:srgbClr val="FFFFFF">
                  <a:alpha val="0"/>
                </a:srgbClr>
              </a:solidFill>
            </a:endParaRPr>
          </a:p>
        </p:txBody>
      </p:sp>
      <p:pic>
        <p:nvPicPr>
          <p:cNvPr id="4" name="Picture 1260919718" descr="dataflow-example-3.png"/>
          <p:cNvPicPr>
            <a:picLocks noChangeAspect="1"/>
          </p:cNvPicPr>
          <p:nvPr/>
        </p:nvPicPr>
        <p:blipFill>
          <a:blip r:embed="rId3"/>
          <a:stretch>
            <a:fillRect/>
          </a:stretch>
        </p:blipFill>
        <p:spPr>
          <a:xfrm>
            <a:off x="320040" y="201847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request value reaches the query string.</a:t>
            </a:r>
          </a:p>
        </p:txBody>
      </p:sp>
      <p:sp>
        <p:nvSpPr>
          <p:cNvPr id="3" name="Content Placeholder 2"/>
          <p:cNvSpPr>
            <a:spLocks noGrp="1"/>
          </p:cNvSpPr>
          <p:nvPr>
            <p:ph idx="1"/>
          </p:nvPr>
        </p:nvSpPr>
        <p:spPr bwMode="auto">
          <a:xfrm>
            <a:off x="320040" y="658368"/>
            <a:ext cx="6016752" cy="1066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Three B608 alerts</a:t>
            </a:r>
            <a:r>
              <a:rPr lang="en-US" sz="1100" b="0">
                <a:solidFill>
                  <a:srgbClr val="000000"/>
                </a:solidFill>
              </a:rPr>
              <a:t> in HW1's scan scope: 00099 is true, 00011 and 00012 false.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00099</a:t>
            </a:r>
            <a:r>
              <a:rPr lang="en-US" sz="1100" b="0">
                <a:solidFill>
                  <a:srgbClr val="000000"/>
                </a:solidFill>
              </a:rPr>
              <a:t> the value goes through a </a:t>
            </a:r>
            <a:r>
              <a:rPr lang="en-US" sz="1100" b="0">
                <a:solidFill>
                  <a:srgbClr val="000000"/>
                </a:solidFill>
                <a:latin typeface="Aptos Mono"/>
              </a:rPr>
              <a:t>configparser</a:t>
            </a:r>
            <a:r>
              <a:rPr lang="en-US" sz="1100" b="0">
                <a:solidFill>
                  <a:srgbClr val="000000"/>
                </a:solidFill>
              </a:rPr>
              <a:t> round trip into the f-string.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00011</a:t>
            </a:r>
            <a:r>
              <a:rPr lang="en-US" sz="1100" b="0">
                <a:solidFill>
                  <a:srgbClr val="000000"/>
                </a:solidFill>
              </a:rPr>
              <a:t> the value is passed as a query parameter, outside the f-string.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analyzer answers it as a path</a:t>
            </a:r>
            <a:r>
              <a:rPr lang="en-US" sz="1100" b="0">
                <a:solidFill>
                  <a:srgbClr val="000000"/>
                </a:solidFill>
              </a:rPr>
              <a:t> of data-dependence edges.</a:t>
            </a:r>
            <a:endParaRPr/>
          </a:p>
        </p:txBody>
      </p:sp>
      <p:pic>
        <p:nvPicPr>
          <p:cNvPr id="4" name="Picture 1260919718" descr="dataflow-example-4.png"/>
          <p:cNvPicPr>
            <a:picLocks noChangeAspect="1"/>
          </p:cNvPicPr>
          <p:nvPr/>
        </p:nvPicPr>
        <p:blipFill>
          <a:blip r:embed="rId3"/>
          <a:stretch>
            <a:fillRect/>
          </a:stretch>
        </p:blipFill>
        <p:spPr>
          <a:xfrm>
            <a:off x="320040" y="201847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request value reaches the query string.</a:t>
            </a:r>
          </a:p>
        </p:txBody>
      </p:sp>
      <p:sp>
        <p:nvSpPr>
          <p:cNvPr id="3" name="Content Placeholder 2"/>
          <p:cNvSpPr>
            <a:spLocks noGrp="1"/>
          </p:cNvSpPr>
          <p:nvPr>
            <p:ph idx="1"/>
          </p:nvPr>
        </p:nvSpPr>
        <p:spPr bwMode="auto">
          <a:xfrm>
            <a:off x="320040" y="658368"/>
            <a:ext cx="6016752" cy="106680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Three B608 alerts</a:t>
            </a:r>
            <a:r>
              <a:rPr lang="en-US" sz="1100" b="0">
                <a:solidFill>
                  <a:srgbClr val="000000"/>
                </a:solidFill>
              </a:rPr>
              <a:t> in HW1's scan scope: 00099 is true, 00011 and 00012 false.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00099</a:t>
            </a:r>
            <a:r>
              <a:rPr lang="en-US" sz="1100" b="0">
                <a:solidFill>
                  <a:srgbClr val="000000"/>
                </a:solidFill>
              </a:rPr>
              <a:t> the value goes through a </a:t>
            </a:r>
            <a:r>
              <a:rPr lang="en-US" sz="1100" b="0">
                <a:solidFill>
                  <a:srgbClr val="000000"/>
                </a:solidFill>
                <a:latin typeface="Aptos Mono"/>
              </a:rPr>
              <a:t>configparser</a:t>
            </a:r>
            <a:r>
              <a:rPr lang="en-US" sz="1100" b="0">
                <a:solidFill>
                  <a:srgbClr val="000000"/>
                </a:solidFill>
              </a:rPr>
              <a:t> round trip into the f-string.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In 00011</a:t>
            </a:r>
            <a:r>
              <a:rPr lang="en-US" sz="1100" b="0">
                <a:solidFill>
                  <a:srgbClr val="000000"/>
                </a:solidFill>
              </a:rPr>
              <a:t> the value is passed as a query parameter, outside the f-string.</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analyzer answers it as a path</a:t>
            </a:r>
            <a:r>
              <a:rPr lang="en-US" sz="1100" b="0">
                <a:solidFill>
                  <a:srgbClr val="000000"/>
                </a:solidFill>
              </a:rPr>
              <a:t> of data-dependence edges.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Bandit flags the string in all three. Dataflow says which one is tainted.</a:t>
            </a:r>
            <a:endParaRPr/>
          </a:p>
        </p:txBody>
      </p:sp>
      <p:pic>
        <p:nvPicPr>
          <p:cNvPr id="5" name="Picture 1260919718" descr="dataflow-example-4.png"/>
          <p:cNvPicPr>
            <a:picLocks noChangeAspect="1"/>
          </p:cNvPicPr>
          <p:nvPr/>
        </p:nvPicPr>
        <p:blipFill>
          <a:blip r:embed="rId3"/>
          <a:stretch>
            <a:fillRect/>
          </a:stretch>
        </p:blipFill>
        <p:spPr>
          <a:xfrm>
            <a:off x="320040" y="2018479"/>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empty answer is ambiguous until checked.</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Check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None/>
              <a:defRPr/>
            </a:pPr>
            <a:r>
              <a:rPr lang="en-US" sz="1200" b="0">
                <a:solidFill>
                  <a:srgbClr val="FFFFFF">
                    <a:alpha val="0"/>
                  </a:srgbClr>
                </a:solidFill>
                <a:latin typeface="Aptos Mono"/>
              </a:rPr>
              <a:t>callers_of</a:t>
            </a:r>
            <a:r>
              <a:rPr lang="en-US" sz="1200" b="1">
                <a:solidFill>
                  <a:srgbClr val="FFFFFF">
                    <a:alpha val="0"/>
                  </a:srgbClr>
                </a:solidFill>
              </a:rPr>
              <a:t> covers declared callables only,</a:t>
            </a:r>
            <a:r>
              <a:rPr lang="en-US" sz="1200" b="0">
                <a:solidFill>
                  <a:srgbClr val="FFFFFF">
                    <a:alpha val="0"/>
                  </a:srgbClr>
                </a:solidFill>
              </a:rPr>
              <a:t> and </a:t>
            </a:r>
            <a:r>
              <a:rPr lang="en-US" sz="1200" b="0">
                <a:solidFill>
                  <a:srgbClr val="FFFFFF">
                    <a:alpha val="0"/>
                  </a:srgbClr>
                </a:solidFill>
                <a:latin typeface="Aptos Mono"/>
              </a:rPr>
              <a:t>callees_of</a:t>
            </a:r>
            <a:r>
              <a:rPr lang="en-US" sz="1200" b="0">
                <a:solidFill>
                  <a:srgbClr val="FFFFFF">
                    <a:alpha val="0"/>
                  </a:srgbClr>
                </a:solidFill>
              </a:rPr>
              <a:t> also lists external callees.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 the entry-point coverage:</a:t>
            </a:r>
            <a:r>
              <a:rPr lang="en-US" sz="1200" b="0">
                <a:solidFill>
                  <a:srgbClr val="FFFFFF">
                    <a:alpha val="0"/>
                  </a:srgbClr>
                </a:solidFill>
              </a:rPr>
              <a:t> on OWASP it finds 2,463 routes and marks 2,460 decorators unresolved.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Value-name predicates resolve parameters, globals and captures.</a:t>
            </a:r>
            <a:r>
              <a:rPr lang="en-US" sz="1200" b="0">
                <a:solidFill>
                  <a:srgbClr val="FFFFFF">
                    <a:alpha val="0"/>
                  </a:srgbClr>
                </a:solidFill>
              </a:rPr>
              <a:t> A local variable needs the per-callable dependence graph, </a:t>
            </a:r>
            <a:r>
              <a:rPr lang="en-US" sz="1200" b="0">
                <a:solidFill>
                  <a:srgbClr val="FFFFFF">
                    <a:alpha val="0"/>
                  </a:srgbClr>
                </a:solidFill>
                <a:latin typeface="Aptos Mono"/>
              </a:rPr>
              <a:t>get_ddg</a:t>
            </a:r>
            <a:r>
              <a:rPr lang="en-US" sz="1200" b="0">
                <a:solidFill>
                  <a:srgbClr val="FFFFFF">
                    <a:alpha val="0"/>
                  </a:srgbClr>
                </a:solidFill>
              </a:rPr>
              <a: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empty answer is ambiguous until checked.</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Check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 only,</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also lists external callees.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 the entry-point coverage:</a:t>
            </a:r>
            <a:r>
              <a:rPr lang="en-US" sz="1200" b="0">
                <a:solidFill>
                  <a:srgbClr val="FFFFFF">
                    <a:alpha val="0"/>
                  </a:srgbClr>
                </a:solidFill>
              </a:rPr>
              <a:t> on OWASP it finds 2,463 routes and marks 2,460 decorators unresolved.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Value-name predicates resolve parameters, globals and captures.</a:t>
            </a:r>
            <a:r>
              <a:rPr lang="en-US" sz="1200" b="0">
                <a:solidFill>
                  <a:srgbClr val="FFFFFF">
                    <a:alpha val="0"/>
                  </a:srgbClr>
                </a:solidFill>
              </a:rPr>
              <a:t> A local variable needs the per-callable dependence graph, </a:t>
            </a:r>
            <a:r>
              <a:rPr lang="en-US" sz="1200" b="0">
                <a:solidFill>
                  <a:srgbClr val="FFFFFF">
                    <a:alpha val="0"/>
                  </a:srgbClr>
                </a:solidFill>
                <a:latin typeface="Aptos Mono"/>
              </a:rPr>
              <a:t>get_ddg</a:t>
            </a:r>
            <a:r>
              <a:rPr lang="en-US" sz="1200" b="0">
                <a:solidFill>
                  <a:srgbClr val="FFFFFF">
                    <a:alpha val="0"/>
                  </a:srgbClr>
                </a:solidFill>
              </a:rPr>
              <a: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empty answer is ambiguous until checked.</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Check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 only,</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also lists external callees.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entry-point coverage:</a:t>
            </a:r>
            <a:r>
              <a:rPr lang="en-US" sz="1200" b="0">
                <a:solidFill>
                  <a:srgbClr val="000000"/>
                </a:solidFill>
              </a:rPr>
              <a:t> on OWASP it finds 2,463 routes and marks 2,460 decorators unresolved.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Value-name predicates resolve parameters, globals and captures.</a:t>
            </a:r>
            <a:r>
              <a:rPr lang="en-US" sz="1200" b="0">
                <a:solidFill>
                  <a:srgbClr val="FFFFFF">
                    <a:alpha val="0"/>
                  </a:srgbClr>
                </a:solidFill>
              </a:rPr>
              <a:t> A local variable needs the per-callable dependence graph, </a:t>
            </a:r>
            <a:r>
              <a:rPr lang="en-US" sz="1200" b="0">
                <a:solidFill>
                  <a:srgbClr val="FFFFFF">
                    <a:alpha val="0"/>
                  </a:srgbClr>
                </a:solidFill>
                <a:latin typeface="Aptos Mono"/>
              </a:rPr>
              <a:t>get_ddg</a:t>
            </a:r>
            <a:r>
              <a:rPr lang="en-US" sz="1200" b="0">
                <a:solidFill>
                  <a:srgbClr val="FFFFFF">
                    <a:alpha val="0"/>
                  </a:srgbClr>
                </a:solidFill>
              </a:rPr>
              <a: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empty answer is ambiguous until checked.</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Check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 only,</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also lists external callees.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entry-point coverage:</a:t>
            </a:r>
            <a:r>
              <a:rPr lang="en-US" sz="1200" b="0">
                <a:solidFill>
                  <a:srgbClr val="000000"/>
                </a:solidFill>
              </a:rPr>
              <a:t> on OWASP it finds 2,463 routes and marks 2,460 decorators unresolved.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Value-name predicates resolve parameters, globals and captures.</a:t>
            </a:r>
            <a:r>
              <a:rPr lang="en-US" sz="1200" b="0">
                <a:solidFill>
                  <a:srgbClr val="000000"/>
                </a:solidFill>
              </a:rPr>
              <a:t> A local variable needs the per-callable dependence graph, </a:t>
            </a:r>
            <a:r>
              <a:rPr lang="en-US" sz="1200" b="0">
                <a:solidFill>
                  <a:srgbClr val="000000"/>
                </a:solidFill>
                <a:latin typeface="Aptos Mono"/>
              </a:rPr>
              <a:t>get_ddg</a:t>
            </a:r>
            <a:r>
              <a:rPr lang="en-US" sz="1200" b="0">
                <a:solidFill>
                  <a:srgbClr val="000000"/>
                </a:solidFill>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empty answer is ambiguous until checked.</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Check diagnostics</a:t>
            </a:r>
            <a:r>
              <a:rPr lang="en-US" sz="1200" b="0">
                <a:solidFill>
                  <a:srgbClr val="000000"/>
                </a:solidFill>
              </a:rPr>
              <a:t> before concluding that nothing was found.</a:t>
            </a:r>
            <a:endParaRPr/>
          </a:p>
          <a:p>
            <a:pPr marL="342900" indent="-228600">
              <a:spcBef>
                <a:spcPts val="300"/>
              </a:spcBef>
              <a:spcAft>
                <a:spcPts val="300"/>
              </a:spcAft>
              <a:buClr>
                <a:srgbClr val="28285E"/>
              </a:buClr>
              <a:buSzPts val="1100"/>
              <a:buFont typeface="+mn-lt"/>
              <a:buChar char="●"/>
              <a:defRPr/>
            </a:pPr>
            <a:r>
              <a:rPr lang="en-US" sz="1200" b="0">
                <a:solidFill>
                  <a:srgbClr val="000000"/>
                </a:solidFill>
                <a:latin typeface="Aptos Mono"/>
              </a:rPr>
              <a:t>callers_of</a:t>
            </a:r>
            <a:r>
              <a:rPr lang="en-US" sz="1200" b="1">
                <a:solidFill>
                  <a:srgbClr val="000000"/>
                </a:solidFill>
              </a:rPr>
              <a:t> covers declared callables only,</a:t>
            </a:r>
            <a:r>
              <a:rPr lang="en-US" sz="1200" b="0">
                <a:solidFill>
                  <a:srgbClr val="000000"/>
                </a:solidFill>
              </a:rPr>
              <a:t> and </a:t>
            </a:r>
            <a:r>
              <a:rPr lang="en-US" sz="1200" b="0">
                <a:solidFill>
                  <a:srgbClr val="000000"/>
                </a:solidFill>
                <a:latin typeface="Aptos Mono"/>
              </a:rPr>
              <a:t>callees_of</a:t>
            </a:r>
            <a:r>
              <a:rPr lang="en-US" sz="1200" b="0">
                <a:solidFill>
                  <a:srgbClr val="000000"/>
                </a:solidFill>
              </a:rPr>
              <a:t> also lists external callees.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 the entry-point coverage:</a:t>
            </a:r>
            <a:r>
              <a:rPr lang="en-US" sz="1200" b="0">
                <a:solidFill>
                  <a:srgbClr val="000000"/>
                </a:solidFill>
              </a:rPr>
              <a:t> on OWASP it finds 2,463 routes and marks 2,460 decorators unresolved.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Value-name predicates resolve parameters, globals and captures.</a:t>
            </a:r>
            <a:r>
              <a:rPr lang="en-US" sz="1200" b="0">
                <a:solidFill>
                  <a:srgbClr val="000000"/>
                </a:solidFill>
              </a:rPr>
              <a:t> A local variable needs the per-callable dependence graph, </a:t>
            </a:r>
            <a:r>
              <a:rPr lang="en-US" sz="1200" b="0">
                <a:solidFill>
                  <a:srgbClr val="000000"/>
                </a:solidFill>
                <a:latin typeface="Aptos Mono"/>
              </a:rPr>
              <a:t>get_ddg</a:t>
            </a:r>
            <a:r>
              <a:rPr lang="en-US" sz="1200" b="0">
                <a:solidFill>
                  <a:srgbClr val="000000"/>
                </a:solidFill>
              </a:rPr>
              <a:t>.</a:t>
            </a:r>
            <a:endParaRPr/>
          </a:p>
        </p:txBody>
      </p:sp>
      <p:sp>
        <p:nvSpPr>
          <p:cNvPr id="4" name="Rectangle 4"/>
          <p:cNvSpPr/>
          <p:nvPr/>
        </p:nvSpPr>
        <p:spPr bwMode="auto">
          <a:xfrm>
            <a:off x="320040" y="2784233"/>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An empty result that could mean two things is a defect, so the agent asks why before it says no.</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An MCP server over CLDK</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589718"/>
          </a:xfrm>
          <a:prstGeom prst="rect">
            <a:avLst/>
          </a:prstGeom>
        </p:spPr>
      </p:pic>
      <p:pic>
        <p:nvPicPr>
          <p:cNvPr id="15" name="Picture 13" descr="image.png"/>
          <p:cNvPicPr>
            <a:picLocks noChangeAspect="1"/>
          </p:cNvPicPr>
          <p:nvPr/>
        </p:nvPicPr>
        <p:blipFill rotWithShape="1">
          <a:blip r:embed="rId3">
            <a:alphaModFix amt="70000"/>
          </a:blip>
          <a:stretch/>
        </p:blipFill>
        <p:spPr bwMode="auto">
          <a:xfrm>
            <a:off x="822960" y="2823386"/>
            <a:ext cx="5733288" cy="15406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tool answers from the same analysis object.</a:t>
            </a:r>
          </a:p>
        </p:txBody>
      </p:sp>
      <p:sp>
        <p:nvSpPr>
          <p:cNvPr id="3" name="Content Placeholder 2"/>
          <p:cNvSpPr>
            <a:spLocks noGrp="1"/>
          </p:cNvSpPr>
          <p:nvPr>
            <p:ph idx="1"/>
          </p:nvPr>
        </p:nvSpPr>
        <p:spPr bwMode="auto">
          <a:xfrm>
            <a:off x="320040" y="658368"/>
            <a:ext cx="6016752" cy="8458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MCPServer</a:t>
            </a:r>
            <a:r>
              <a:rPr lang="en-US" sz="1150" b="1">
                <a:solidFill>
                  <a:srgbClr val="000000"/>
                </a:solidFill>
              </a:rPr>
              <a:t> and </a:t>
            </a:r>
            <a:r>
              <a:rPr lang="en-US" sz="1150" b="0">
                <a:solidFill>
                  <a:srgbClr val="000000"/>
                </a:solidFill>
                <a:latin typeface="Aptos Mono"/>
              </a:rPr>
              <a:t>@mcp.tool</a:t>
            </a:r>
            <a:r>
              <a:rPr lang="en-US" sz="1150" b="1">
                <a:solidFill>
                  <a:srgbClr val="000000"/>
                </a:solidFill>
              </a:rPr>
              <a:t>,</a:t>
            </a:r>
            <a:r>
              <a:rPr lang="en-US" sz="1150" b="0">
                <a:solidFill>
                  <a:srgbClr val="000000"/>
                </a:solidFill>
              </a:rPr>
              <a:t> as in lecture 5's server.</a:t>
            </a:r>
            <a:endParaRPr/>
          </a:p>
          <a:p>
            <a:pPr marL="342900" indent="-228600">
              <a:spcBef>
                <a:spcPts val="300"/>
              </a:spcBef>
              <a:spcAft>
                <a:spcPts val="300"/>
              </a:spcAft>
              <a:buClr>
                <a:srgbClr val="28285E"/>
              </a:buClr>
              <a:buSzPts val="1100"/>
              <a:buFont typeface="+mn-lt"/>
              <a:buNone/>
              <a:defRPr/>
            </a:pPr>
            <a:r>
              <a:rPr lang="en-US" sz="1150" b="0">
                <a:solidFill>
                  <a:srgbClr val="FFFFFF">
                    <a:alpha val="0"/>
                  </a:srgbClr>
                </a:solidFill>
                <a:latin typeface="Aptos Mono"/>
              </a:rPr>
              <a:t>ToolError</a:t>
            </a:r>
            <a:r>
              <a:rPr lang="en-US" sz="1150" b="1">
                <a:solidFill>
                  <a:srgbClr val="FFFFFF">
                    <a:alpha val="0"/>
                  </a:srgbClr>
                </a:solidFill>
              </a:rPr>
              <a:t> refuses</a:t>
            </a:r>
            <a:r>
              <a:rPr lang="en-US" sz="1150" b="0">
                <a:solidFill>
                  <a:srgbClr val="FFFFFF">
                    <a:alpha val="0"/>
                  </a:srgbClr>
                </a:solidFill>
              </a:rPr>
              <a:t> a path outside the checkout or a line in no callable.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Inspector runs it:</a:t>
            </a:r>
            <a:r>
              <a:rPr lang="en-US" sz="1150" b="0">
                <a:solidFill>
                  <a:srgbClr val="FFFFFF">
                    <a:alpha val="0"/>
                  </a:srgbClr>
                </a:solidFill>
              </a:rPr>
              <a:t> </a:t>
            </a:r>
            <a:r>
              <a:rPr lang="en-US" sz="1150" b="0">
                <a:solidFill>
                  <a:srgbClr val="FFFFFF">
                    <a:alpha val="0"/>
                  </a:srgbClr>
                </a:solidFill>
                <a:latin typeface="Aptos Mono"/>
              </a:rPr>
              <a:t>locate</a:t>
            </a:r>
            <a:r>
              <a:rPr lang="en-US" sz="1150" b="0">
                <a:solidFill>
                  <a:srgbClr val="FFFFFF">
                    <a:alpha val="0"/>
                  </a:srgbClr>
                </a:solidFill>
              </a:rPr>
              <a:t>, </a:t>
            </a:r>
            <a:r>
              <a:rPr lang="en-US" sz="1150" b="0">
                <a:solidFill>
                  <a:srgbClr val="FFFFFF">
                    <a:alpha val="0"/>
                  </a:srgbClr>
                </a:solidFill>
                <a:latin typeface="Aptos Mono"/>
              </a:rPr>
              <a:t>dataflow</a:t>
            </a:r>
            <a:r>
              <a:rPr lang="en-US" sz="1150" b="0">
                <a:solidFill>
                  <a:srgbClr val="FFFFFF">
                    <a:alpha val="0"/>
                  </a:srgbClr>
                </a:solidFill>
              </a:rPr>
              <a:t>, then a refused path.</a:t>
            </a:r>
            <a:endParaRPr>
              <a:solidFill>
                <a:srgbClr val="FFFFFF">
                  <a:alpha val="0"/>
                </a:srgbClr>
              </a:solidFill>
            </a:endParaRPr>
          </a:p>
        </p:txBody>
      </p:sp>
      <p:sp>
        <p:nvSpPr>
          <p:cNvPr id="4" name="CodeWindow"/>
          <p:cNvSpPr/>
          <p:nvPr/>
        </p:nvSpPr>
        <p:spPr bwMode="auto">
          <a:xfrm>
            <a:off x="320040" y="1775782"/>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40958"/>
            <a:ext cx="6016752" cy="0"/>
          </a:xfrm>
          <a:prstGeom prst="line">
            <a:avLst/>
          </a:prstGeom>
          <a:ln w="9525">
            <a:solidFill>
              <a:srgbClr val="DCDCDC"/>
            </a:solidFill>
          </a:ln>
        </p:spPr>
      </p:cxnSp>
      <p:sp>
        <p:nvSpPr>
          <p:cNvPr id="6" name="WinDot 0"/>
          <p:cNvSpPr/>
          <p:nvPr/>
        </p:nvSpPr>
        <p:spPr bwMode="auto">
          <a:xfrm>
            <a:off x="411480" y="185807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5807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5807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16930"/>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locate and dataflow tools, "..." where the text is shortened</a:t>
            </a:r>
            <a:endParaRPr/>
          </a:p>
        </p:txBody>
      </p:sp>
      <p:sp>
        <p:nvSpPr>
          <p:cNvPr id="10" name="TextBox 7"/>
          <p:cNvSpPr txBox="1"/>
          <p:nvPr/>
        </p:nvSpPr>
        <p:spPr bwMode="auto">
          <a:xfrm>
            <a:off x="466344" y="2104966"/>
            <a:ext cx="5724144" cy="1973844"/>
          </a:xfrm>
          <a:prstGeom prst="rect">
            <a:avLst/>
          </a:prstGeom>
          <a:noFill/>
        </p:spPr>
        <p:txBody>
          <a:bodyPr wrap="none" lIns="0" tIns="0" rIns="0" bIns="0">
            <a:spAutoFit/>
          </a:bodyPr>
          <a:lstStyle/>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"The callable that holds a line, or module scope."</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locate</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Located</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A31515"/>
                </a:solidFill>
                <a:latin typeface="Aptos Mono"/>
              </a:rPr>
              <a:t>"signature"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31515"/>
                </a:solidFill>
                <a:latin typeface="Aptos Mono"/>
              </a:rPr>
              <a:t>"name"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name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 </a:t>
            </a:r>
            <a:r>
              <a:rPr lang="en-US" sz="700" b="0">
                <a:solidFill>
                  <a:srgbClr val="A31515"/>
                </a:solidFill>
                <a:latin typeface="Aptos Mono"/>
              </a:rPr>
              <a:t>"module"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module</a:t>
            </a:r>
            <a:r>
              <a:rPr lang="en-US" sz="700" b="0">
                <a:solidFill>
                  <a:srgbClr val="000000"/>
                </a:solidFill>
                <a:latin typeface="Aptos Mono"/>
              </a:rPr>
              <a:t>.</a:t>
            </a:r>
            <a:r>
              <a:rPr lang="en-US" sz="700" b="0">
                <a:solidFill>
                  <a:srgbClr val="001080"/>
                </a:solidFill>
                <a:latin typeface="Aptos Mono"/>
              </a:rPr>
              <a:t>module_name</a:t>
            </a:r>
            <a:r>
              <a:rPr lang="en-US" sz="700" b="0">
                <a:solidFill>
                  <a:srgbClr val="000000"/>
                </a:solidFill>
                <a:latin typeface="Aptos Mono"/>
              </a:rPr>
              <a:t>}</a:t>
            </a:r>
            <a:endParaRPr/>
          </a:p>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"Data-dependence edges of the callable that holds a line: ..."</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dataflow</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list</a:t>
            </a:r>
            <a:r>
              <a:rPr lang="en-US" sz="700" b="0">
                <a:solidFill>
                  <a:srgbClr val="000000"/>
                </a:solidFill>
                <a:latin typeface="Aptos Mono"/>
              </a:rPr>
              <a:t>[</a:t>
            </a:r>
            <a:r>
              <a:rPr lang="en-US" sz="700" b="0">
                <a:solidFill>
                  <a:srgbClr val="267F99"/>
                </a:solidFill>
                <a:latin typeface="Aptos Mono"/>
              </a:rPr>
              <a:t>Edge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00FF"/>
                </a:solidFill>
                <a:latin typeface="Aptos Mono"/>
              </a:rPr>
              <a:t>not</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raise</a:t>
            </a:r>
            <a:r>
              <a:rPr lang="en-US" sz="700" b="0">
                <a:solidFill>
                  <a:srgbClr val="000000"/>
                </a:solidFill>
                <a:latin typeface="Aptos Mono"/>
              </a:rPr>
              <a:t> </a:t>
            </a:r>
            <a:r>
              <a:rPr lang="en-US" sz="700" b="0">
                <a:solidFill>
                  <a:srgbClr val="267F99"/>
                </a:solidFill>
                <a:latin typeface="Aptos Mono"/>
              </a:rPr>
              <a:t>ToolError</a:t>
            </a:r>
            <a:r>
              <a:rPr lang="en-US" sz="700" b="0">
                <a:solidFill>
                  <a:srgbClr val="000000"/>
                </a:solidFill>
                <a:latin typeface="Aptos Mono"/>
              </a:rPr>
              <a:t>(</a:t>
            </a:r>
            <a:r>
              <a:rPr lang="en-US" sz="700" b="0">
                <a:solidFill>
                  <a:srgbClr val="A31515"/>
                </a:solidFill>
                <a:latin typeface="Aptos Mono"/>
              </a:rPr>
              <a:t>f"refused: line {line} of {path} is in no 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get_ddg</a:t>
            </a:r>
            <a:r>
              <a:rPr lang="en-US" sz="700" b="0">
                <a:solidFill>
                  <a:srgbClr val="000000"/>
                </a:solidFill>
                <a:latin typeface="Aptos Mono"/>
              </a:rPr>
              <a:t>(</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001080"/>
                </a:solidFill>
                <a:latin typeface="Aptos Mono"/>
              </a:rPr>
              <a:t>page_size</a:t>
            </a:r>
            <a:r>
              <a:rPr lang="en-US" sz="700" b="0">
                <a:solidFill>
                  <a:srgbClr val="000000"/>
                </a:solidFill>
                <a:latin typeface="Aptos Mono"/>
              </a:rPr>
              <a:t>=</a:t>
            </a:r>
            <a:r>
              <a:rPr lang="en-US" sz="700" b="0">
                <a:solidFill>
                  <a:srgbClr val="098658"/>
                </a:solidFill>
                <a:latin typeface="Aptos Mono"/>
              </a:rPr>
              <a:t>2000</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 = []</a:t>
            </a:r>
            <a:endParaRPr/>
          </a:p>
          <a:p>
            <a:r>
              <a:rPr lang="en-US" sz="700" b="0">
                <a:solidFill>
                  <a:srgbClr val="000000"/>
                </a:solidFill>
                <a:latin typeface="Aptos Mono"/>
              </a:rPr>
              <a:t>    </a:t>
            </a:r>
            <a:r>
              <a:rPr lang="en-US" sz="700" b="0">
                <a:solidFill>
                  <a:srgbClr val="AF00DB"/>
                </a:solidFill>
                <a:latin typeface="Aptos Mono"/>
              </a:rPr>
              <a:t>for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 </a:t>
            </a:r>
            <a:r>
              <a:rPr lang="en-US" sz="700" b="0">
                <a:solidFill>
                  <a:srgbClr val="AF00DB"/>
                </a:solidFill>
                <a:latin typeface="Aptos Mono"/>
              </a:rPr>
              <a:t>in</a:t>
            </a:r>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a:t>
            </a:r>
            <a:r>
              <a:rPr lang="en-US" sz="700" b="0">
                <a:solidFill>
                  <a:srgbClr val="001080"/>
                </a:solidFill>
                <a:latin typeface="Aptos Mono"/>
              </a:rPr>
              <a:t>edges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try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a:t>
            </a:r>
            <a:r>
              <a:rPr lang="en-US" sz="700" b="0">
                <a:solidFill>
                  <a:srgbClr val="795E26"/>
                </a:solidFill>
                <a:latin typeface="Aptos Mono"/>
              </a:rPr>
              <a:t>append</a:t>
            </a:r>
            <a:r>
              <a:rPr lang="en-US" sz="700" b="0">
                <a:solidFill>
                  <a:srgbClr val="000000"/>
                </a:solidFill>
                <a:latin typeface="Aptos Mono"/>
              </a:rPr>
              <a:t>({</a:t>
            </a:r>
            <a:r>
              <a:rPr lang="en-US" sz="700" b="0">
                <a:solidFill>
                  <a:srgbClr val="A31515"/>
                </a:solidFill>
                <a:latin typeface="Aptos Mono"/>
              </a:rPr>
              <a:t>"from_line"</a:t>
            </a:r>
            <a:r>
              <a:rPr lang="en-US" sz="700" b="0">
                <a:solidFill>
                  <a:srgbClr val="000000"/>
                </a:solidFill>
                <a:latin typeface="Aptos Mono"/>
              </a:rPr>
              <a:t>: ..., </a:t>
            </a:r>
            <a:r>
              <a:rPr lang="en-US" sz="700" b="0">
                <a:solidFill>
                  <a:srgbClr val="A31515"/>
                </a:solidFill>
                <a:latin typeface="Aptos Mono"/>
              </a:rPr>
              <a:t>"to_line"</a:t>
            </a:r>
            <a:r>
              <a:rPr lang="en-US" sz="700" b="0">
                <a:solidFill>
                  <a:srgbClr val="000000"/>
                </a:solidFill>
                <a:latin typeface="Aptos Mono"/>
              </a:rPr>
              <a:t>: ..., </a:t>
            </a:r>
            <a:r>
              <a:rPr lang="en-US" sz="700" b="0">
                <a:solidFill>
                  <a:srgbClr val="A31515"/>
                </a:solidFill>
                <a:latin typeface="Aptos Mono"/>
              </a:rPr>
              <a:t>"var"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a:t>
            </a:r>
            <a:r>
              <a:rPr lang="en-US" sz="700" b="0">
                <a:solidFill>
                  <a:srgbClr val="001080"/>
                </a:solidFill>
                <a:latin typeface="Aptos Mono"/>
              </a:rPr>
              <a:t>var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except</a:t>
            </a:r>
            <a:r>
              <a:rPr lang="en-US" sz="700" b="0">
                <a:solidFill>
                  <a:srgbClr val="000000"/>
                </a:solidFill>
                <a:latin typeface="Aptos Mono"/>
              </a:rPr>
              <a:t> </a:t>
            </a:r>
            <a:r>
              <a:rPr lang="en-US" sz="700" b="0">
                <a:solidFill>
                  <a:srgbClr val="267F99"/>
                </a:solidFill>
                <a:latin typeface="Aptos Mono"/>
              </a:rPr>
              <a:t>ValueError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continue</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tool answers from the same analysis object.</a:t>
            </a:r>
          </a:p>
        </p:txBody>
      </p:sp>
      <p:sp>
        <p:nvSpPr>
          <p:cNvPr id="3" name="Content Placeholder 2"/>
          <p:cNvSpPr>
            <a:spLocks noGrp="1"/>
          </p:cNvSpPr>
          <p:nvPr>
            <p:ph idx="1"/>
          </p:nvPr>
        </p:nvSpPr>
        <p:spPr bwMode="auto">
          <a:xfrm>
            <a:off x="320040" y="658368"/>
            <a:ext cx="6016752" cy="8458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MCPServer</a:t>
            </a:r>
            <a:r>
              <a:rPr lang="en-US" sz="1150" b="1">
                <a:solidFill>
                  <a:srgbClr val="000000"/>
                </a:solidFill>
              </a:rPr>
              <a:t> and </a:t>
            </a:r>
            <a:r>
              <a:rPr lang="en-US" sz="1150" b="0">
                <a:solidFill>
                  <a:srgbClr val="000000"/>
                </a:solidFill>
                <a:latin typeface="Aptos Mono"/>
              </a:rPr>
              <a:t>@mcp.tool</a:t>
            </a:r>
            <a:r>
              <a:rPr lang="en-US" sz="1150" b="1">
                <a:solidFill>
                  <a:srgbClr val="000000"/>
                </a:solidFill>
              </a:rPr>
              <a:t>,</a:t>
            </a:r>
            <a:r>
              <a:rPr lang="en-US" sz="1150" b="0">
                <a:solidFill>
                  <a:srgbClr val="000000"/>
                </a:solidFill>
              </a:rPr>
              <a:t> as in lecture 5's server.</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ToolError</a:t>
            </a:r>
            <a:r>
              <a:rPr lang="en-US" sz="1150" b="1">
                <a:solidFill>
                  <a:srgbClr val="000000"/>
                </a:solidFill>
              </a:rPr>
              <a:t> refuses</a:t>
            </a:r>
            <a:r>
              <a:rPr lang="en-US" sz="1150" b="0">
                <a:solidFill>
                  <a:srgbClr val="000000"/>
                </a:solidFill>
              </a:rPr>
              <a:t> a path outside the checkout or a line in no callable.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Inspector runs it:</a:t>
            </a:r>
            <a:r>
              <a:rPr lang="en-US" sz="1150" b="0">
                <a:solidFill>
                  <a:srgbClr val="FFFFFF">
                    <a:alpha val="0"/>
                  </a:srgbClr>
                </a:solidFill>
              </a:rPr>
              <a:t> </a:t>
            </a:r>
            <a:r>
              <a:rPr lang="en-US" sz="1150" b="0">
                <a:solidFill>
                  <a:srgbClr val="FFFFFF">
                    <a:alpha val="0"/>
                  </a:srgbClr>
                </a:solidFill>
                <a:latin typeface="Aptos Mono"/>
              </a:rPr>
              <a:t>locate</a:t>
            </a:r>
            <a:r>
              <a:rPr lang="en-US" sz="1150" b="0">
                <a:solidFill>
                  <a:srgbClr val="FFFFFF">
                    <a:alpha val="0"/>
                  </a:srgbClr>
                </a:solidFill>
              </a:rPr>
              <a:t>, </a:t>
            </a:r>
            <a:r>
              <a:rPr lang="en-US" sz="1150" b="0">
                <a:solidFill>
                  <a:srgbClr val="FFFFFF">
                    <a:alpha val="0"/>
                  </a:srgbClr>
                </a:solidFill>
                <a:latin typeface="Aptos Mono"/>
              </a:rPr>
              <a:t>dataflow</a:t>
            </a:r>
            <a:r>
              <a:rPr lang="en-US" sz="1150" b="0">
                <a:solidFill>
                  <a:srgbClr val="FFFFFF">
                    <a:alpha val="0"/>
                  </a:srgbClr>
                </a:solidFill>
              </a:rPr>
              <a:t>, then a refused path.</a:t>
            </a:r>
            <a:endParaRPr>
              <a:solidFill>
                <a:srgbClr val="FFFFFF">
                  <a:alpha val="0"/>
                </a:srgbClr>
              </a:solidFill>
            </a:endParaRPr>
          </a:p>
        </p:txBody>
      </p:sp>
      <p:sp>
        <p:nvSpPr>
          <p:cNvPr id="4" name="CodeWindow"/>
          <p:cNvSpPr/>
          <p:nvPr/>
        </p:nvSpPr>
        <p:spPr bwMode="auto">
          <a:xfrm>
            <a:off x="320040" y="1775782"/>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40958"/>
            <a:ext cx="6016752" cy="0"/>
          </a:xfrm>
          <a:prstGeom prst="line">
            <a:avLst/>
          </a:prstGeom>
          <a:ln w="9525">
            <a:solidFill>
              <a:srgbClr val="DCDCDC"/>
            </a:solidFill>
          </a:ln>
        </p:spPr>
      </p:cxnSp>
      <p:sp>
        <p:nvSpPr>
          <p:cNvPr id="6" name="WinDot 0"/>
          <p:cNvSpPr/>
          <p:nvPr/>
        </p:nvSpPr>
        <p:spPr bwMode="auto">
          <a:xfrm>
            <a:off x="411480" y="185807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5807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5807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16930"/>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locate and dataflow tools, "..." where the text is shortened</a:t>
            </a:r>
            <a:endParaRPr/>
          </a:p>
        </p:txBody>
      </p:sp>
      <p:sp>
        <p:nvSpPr>
          <p:cNvPr id="10" name="TextBox 7"/>
          <p:cNvSpPr txBox="1"/>
          <p:nvPr/>
        </p:nvSpPr>
        <p:spPr bwMode="auto">
          <a:xfrm>
            <a:off x="466344" y="2104966"/>
            <a:ext cx="5724144" cy="1973844"/>
          </a:xfrm>
          <a:prstGeom prst="rect">
            <a:avLst/>
          </a:prstGeom>
          <a:noFill/>
        </p:spPr>
        <p:txBody>
          <a:bodyPr wrap="none" lIns="0" tIns="0" rIns="0" bIns="0">
            <a:spAutoFit/>
          </a:bodyPr>
          <a:lstStyle/>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"The callable that holds a line, or module scope."</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locate</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Located</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A31515"/>
                </a:solidFill>
                <a:latin typeface="Aptos Mono"/>
              </a:rPr>
              <a:t>"signature"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31515"/>
                </a:solidFill>
                <a:latin typeface="Aptos Mono"/>
              </a:rPr>
              <a:t>"name"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name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 </a:t>
            </a:r>
            <a:r>
              <a:rPr lang="en-US" sz="700" b="0">
                <a:solidFill>
                  <a:srgbClr val="A31515"/>
                </a:solidFill>
                <a:latin typeface="Aptos Mono"/>
              </a:rPr>
              <a:t>"module"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module</a:t>
            </a:r>
            <a:r>
              <a:rPr lang="en-US" sz="700" b="0">
                <a:solidFill>
                  <a:srgbClr val="000000"/>
                </a:solidFill>
                <a:latin typeface="Aptos Mono"/>
              </a:rPr>
              <a:t>.</a:t>
            </a:r>
            <a:r>
              <a:rPr lang="en-US" sz="700" b="0">
                <a:solidFill>
                  <a:srgbClr val="001080"/>
                </a:solidFill>
                <a:latin typeface="Aptos Mono"/>
              </a:rPr>
              <a:t>module_name</a:t>
            </a:r>
            <a:r>
              <a:rPr lang="en-US" sz="700" b="0">
                <a:solidFill>
                  <a:srgbClr val="000000"/>
                </a:solidFill>
                <a:latin typeface="Aptos Mono"/>
              </a:rPr>
              <a:t>}</a:t>
            </a:r>
            <a:endParaRPr/>
          </a:p>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"Data-dependence edges of the callable that holds a line: ..."</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dataflow</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list</a:t>
            </a:r>
            <a:r>
              <a:rPr lang="en-US" sz="700" b="0">
                <a:solidFill>
                  <a:srgbClr val="000000"/>
                </a:solidFill>
                <a:latin typeface="Aptos Mono"/>
              </a:rPr>
              <a:t>[</a:t>
            </a:r>
            <a:r>
              <a:rPr lang="en-US" sz="700" b="0">
                <a:solidFill>
                  <a:srgbClr val="267F99"/>
                </a:solidFill>
                <a:latin typeface="Aptos Mono"/>
              </a:rPr>
              <a:t>Edge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00FF"/>
                </a:solidFill>
                <a:latin typeface="Aptos Mono"/>
              </a:rPr>
              <a:t>not</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raise</a:t>
            </a:r>
            <a:r>
              <a:rPr lang="en-US" sz="700" b="0">
                <a:solidFill>
                  <a:srgbClr val="000000"/>
                </a:solidFill>
                <a:latin typeface="Aptos Mono"/>
              </a:rPr>
              <a:t> </a:t>
            </a:r>
            <a:r>
              <a:rPr lang="en-US" sz="700" b="0">
                <a:solidFill>
                  <a:srgbClr val="267F99"/>
                </a:solidFill>
                <a:latin typeface="Aptos Mono"/>
              </a:rPr>
              <a:t>ToolError</a:t>
            </a:r>
            <a:r>
              <a:rPr lang="en-US" sz="700" b="0">
                <a:solidFill>
                  <a:srgbClr val="000000"/>
                </a:solidFill>
                <a:latin typeface="Aptos Mono"/>
              </a:rPr>
              <a:t>(</a:t>
            </a:r>
            <a:r>
              <a:rPr lang="en-US" sz="700" b="0">
                <a:solidFill>
                  <a:srgbClr val="A31515"/>
                </a:solidFill>
                <a:latin typeface="Aptos Mono"/>
              </a:rPr>
              <a:t>f"refused: line {line} of {path} is in no 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get_ddg</a:t>
            </a:r>
            <a:r>
              <a:rPr lang="en-US" sz="700" b="0">
                <a:solidFill>
                  <a:srgbClr val="000000"/>
                </a:solidFill>
                <a:latin typeface="Aptos Mono"/>
              </a:rPr>
              <a:t>(</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001080"/>
                </a:solidFill>
                <a:latin typeface="Aptos Mono"/>
              </a:rPr>
              <a:t>page_size</a:t>
            </a:r>
            <a:r>
              <a:rPr lang="en-US" sz="700" b="0">
                <a:solidFill>
                  <a:srgbClr val="000000"/>
                </a:solidFill>
                <a:latin typeface="Aptos Mono"/>
              </a:rPr>
              <a:t>=</a:t>
            </a:r>
            <a:r>
              <a:rPr lang="en-US" sz="700" b="0">
                <a:solidFill>
                  <a:srgbClr val="098658"/>
                </a:solidFill>
                <a:latin typeface="Aptos Mono"/>
              </a:rPr>
              <a:t>2000</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 = []</a:t>
            </a:r>
            <a:endParaRPr/>
          </a:p>
          <a:p>
            <a:r>
              <a:rPr lang="en-US" sz="700" b="0">
                <a:solidFill>
                  <a:srgbClr val="000000"/>
                </a:solidFill>
                <a:latin typeface="Aptos Mono"/>
              </a:rPr>
              <a:t>    </a:t>
            </a:r>
            <a:r>
              <a:rPr lang="en-US" sz="700" b="0">
                <a:solidFill>
                  <a:srgbClr val="AF00DB"/>
                </a:solidFill>
                <a:latin typeface="Aptos Mono"/>
              </a:rPr>
              <a:t>for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 </a:t>
            </a:r>
            <a:r>
              <a:rPr lang="en-US" sz="700" b="0">
                <a:solidFill>
                  <a:srgbClr val="AF00DB"/>
                </a:solidFill>
                <a:latin typeface="Aptos Mono"/>
              </a:rPr>
              <a:t>in</a:t>
            </a:r>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a:t>
            </a:r>
            <a:r>
              <a:rPr lang="en-US" sz="700" b="0">
                <a:solidFill>
                  <a:srgbClr val="001080"/>
                </a:solidFill>
                <a:latin typeface="Aptos Mono"/>
              </a:rPr>
              <a:t>edges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try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a:t>
            </a:r>
            <a:r>
              <a:rPr lang="en-US" sz="700" b="0">
                <a:solidFill>
                  <a:srgbClr val="795E26"/>
                </a:solidFill>
                <a:latin typeface="Aptos Mono"/>
              </a:rPr>
              <a:t>append</a:t>
            </a:r>
            <a:r>
              <a:rPr lang="en-US" sz="700" b="0">
                <a:solidFill>
                  <a:srgbClr val="000000"/>
                </a:solidFill>
                <a:latin typeface="Aptos Mono"/>
              </a:rPr>
              <a:t>({</a:t>
            </a:r>
            <a:r>
              <a:rPr lang="en-US" sz="700" b="0">
                <a:solidFill>
                  <a:srgbClr val="A31515"/>
                </a:solidFill>
                <a:latin typeface="Aptos Mono"/>
              </a:rPr>
              <a:t>"from_line"</a:t>
            </a:r>
            <a:r>
              <a:rPr lang="en-US" sz="700" b="0">
                <a:solidFill>
                  <a:srgbClr val="000000"/>
                </a:solidFill>
                <a:latin typeface="Aptos Mono"/>
              </a:rPr>
              <a:t>: ..., </a:t>
            </a:r>
            <a:r>
              <a:rPr lang="en-US" sz="700" b="0">
                <a:solidFill>
                  <a:srgbClr val="A31515"/>
                </a:solidFill>
                <a:latin typeface="Aptos Mono"/>
              </a:rPr>
              <a:t>"to_line"</a:t>
            </a:r>
            <a:r>
              <a:rPr lang="en-US" sz="700" b="0">
                <a:solidFill>
                  <a:srgbClr val="000000"/>
                </a:solidFill>
                <a:latin typeface="Aptos Mono"/>
              </a:rPr>
              <a:t>: ..., </a:t>
            </a:r>
            <a:r>
              <a:rPr lang="en-US" sz="700" b="0">
                <a:solidFill>
                  <a:srgbClr val="A31515"/>
                </a:solidFill>
                <a:latin typeface="Aptos Mono"/>
              </a:rPr>
              <a:t>"var"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a:t>
            </a:r>
            <a:r>
              <a:rPr lang="en-US" sz="700" b="0">
                <a:solidFill>
                  <a:srgbClr val="001080"/>
                </a:solidFill>
                <a:latin typeface="Aptos Mono"/>
              </a:rPr>
              <a:t>var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except</a:t>
            </a:r>
            <a:r>
              <a:rPr lang="en-US" sz="700" b="0">
                <a:solidFill>
                  <a:srgbClr val="000000"/>
                </a:solidFill>
                <a:latin typeface="Aptos Mono"/>
              </a:rPr>
              <a:t> </a:t>
            </a:r>
            <a:r>
              <a:rPr lang="en-US" sz="700" b="0">
                <a:solidFill>
                  <a:srgbClr val="267F99"/>
                </a:solidFill>
                <a:latin typeface="Aptos Mono"/>
              </a:rPr>
              <a:t>ValueError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continue</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tool answers from the same analysis object.</a:t>
            </a:r>
          </a:p>
        </p:txBody>
      </p:sp>
      <p:sp>
        <p:nvSpPr>
          <p:cNvPr id="3" name="Content Placeholder 2"/>
          <p:cNvSpPr>
            <a:spLocks noGrp="1"/>
          </p:cNvSpPr>
          <p:nvPr>
            <p:ph idx="1"/>
          </p:nvPr>
        </p:nvSpPr>
        <p:spPr bwMode="auto">
          <a:xfrm>
            <a:off x="320040" y="658368"/>
            <a:ext cx="6016752" cy="8458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MCPServer</a:t>
            </a:r>
            <a:r>
              <a:rPr lang="en-US" sz="1150" b="1">
                <a:solidFill>
                  <a:srgbClr val="000000"/>
                </a:solidFill>
              </a:rPr>
              <a:t> and </a:t>
            </a:r>
            <a:r>
              <a:rPr lang="en-US" sz="1150" b="0">
                <a:solidFill>
                  <a:srgbClr val="000000"/>
                </a:solidFill>
                <a:latin typeface="Aptos Mono"/>
              </a:rPr>
              <a:t>@mcp.tool</a:t>
            </a:r>
            <a:r>
              <a:rPr lang="en-US" sz="1150" b="1">
                <a:solidFill>
                  <a:srgbClr val="000000"/>
                </a:solidFill>
              </a:rPr>
              <a:t>,</a:t>
            </a:r>
            <a:r>
              <a:rPr lang="en-US" sz="1150" b="0">
                <a:solidFill>
                  <a:srgbClr val="000000"/>
                </a:solidFill>
              </a:rPr>
              <a:t> as in lecture 5's server.</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ToolError</a:t>
            </a:r>
            <a:r>
              <a:rPr lang="en-US" sz="1150" b="1">
                <a:solidFill>
                  <a:srgbClr val="000000"/>
                </a:solidFill>
              </a:rPr>
              <a:t> refuses</a:t>
            </a:r>
            <a:r>
              <a:rPr lang="en-US" sz="1150" b="0">
                <a:solidFill>
                  <a:srgbClr val="000000"/>
                </a:solidFill>
              </a:rPr>
              <a:t> a path outside the checkout or a line in no callable.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Inspector runs it:</a:t>
            </a:r>
            <a:r>
              <a:rPr lang="en-US" sz="1150" b="0">
                <a:solidFill>
                  <a:srgbClr val="000000"/>
                </a:solidFill>
              </a:rPr>
              <a:t> </a:t>
            </a:r>
            <a:r>
              <a:rPr lang="en-US" sz="1150" b="0">
                <a:solidFill>
                  <a:srgbClr val="000000"/>
                </a:solidFill>
                <a:latin typeface="Aptos Mono"/>
              </a:rPr>
              <a:t>locate</a:t>
            </a:r>
            <a:r>
              <a:rPr lang="en-US" sz="1150" b="0">
                <a:solidFill>
                  <a:srgbClr val="000000"/>
                </a:solidFill>
              </a:rPr>
              <a:t>, </a:t>
            </a:r>
            <a:r>
              <a:rPr lang="en-US" sz="1150" b="0">
                <a:solidFill>
                  <a:srgbClr val="000000"/>
                </a:solidFill>
                <a:latin typeface="Aptos Mono"/>
              </a:rPr>
              <a:t>dataflow</a:t>
            </a:r>
            <a:r>
              <a:rPr lang="en-US" sz="1150" b="0">
                <a:solidFill>
                  <a:srgbClr val="000000"/>
                </a:solidFill>
              </a:rPr>
              <a:t>, then a refused path.</a:t>
            </a:r>
            <a:endParaRPr/>
          </a:p>
        </p:txBody>
      </p:sp>
      <p:sp>
        <p:nvSpPr>
          <p:cNvPr id="4" name="CodeWindow"/>
          <p:cNvSpPr/>
          <p:nvPr/>
        </p:nvSpPr>
        <p:spPr bwMode="auto">
          <a:xfrm>
            <a:off x="320040" y="1775782"/>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40958"/>
            <a:ext cx="6016752" cy="0"/>
          </a:xfrm>
          <a:prstGeom prst="line">
            <a:avLst/>
          </a:prstGeom>
          <a:ln w="9525">
            <a:solidFill>
              <a:srgbClr val="DCDCDC"/>
            </a:solidFill>
          </a:ln>
        </p:spPr>
      </p:cxnSp>
      <p:sp>
        <p:nvSpPr>
          <p:cNvPr id="6" name="WinDot 0"/>
          <p:cNvSpPr/>
          <p:nvPr/>
        </p:nvSpPr>
        <p:spPr bwMode="auto">
          <a:xfrm>
            <a:off x="411480" y="185807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5807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5807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816930"/>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locate and dataflow tools, "..." where the text is shortened</a:t>
            </a:r>
            <a:endParaRPr/>
          </a:p>
        </p:txBody>
      </p:sp>
      <p:sp>
        <p:nvSpPr>
          <p:cNvPr id="10" name="TextBox 7"/>
          <p:cNvSpPr txBox="1"/>
          <p:nvPr/>
        </p:nvSpPr>
        <p:spPr bwMode="auto">
          <a:xfrm>
            <a:off x="466344" y="2104966"/>
            <a:ext cx="5724144" cy="1973844"/>
          </a:xfrm>
          <a:prstGeom prst="rect">
            <a:avLst/>
          </a:prstGeom>
          <a:noFill/>
        </p:spPr>
        <p:txBody>
          <a:bodyPr wrap="none" lIns="0" tIns="0" rIns="0" bIns="0">
            <a:spAutoFit/>
          </a:bodyPr>
          <a:lstStyle/>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"The callable that holds a line, or module scope."</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locate</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Located</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A31515"/>
                </a:solidFill>
                <a:latin typeface="Aptos Mono"/>
              </a:rPr>
              <a:t>"signature"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31515"/>
                </a:solidFill>
                <a:latin typeface="Aptos Mono"/>
              </a:rPr>
              <a:t>"name"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name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 </a:t>
            </a:r>
            <a:r>
              <a:rPr lang="en-US" sz="700" b="0">
                <a:solidFill>
                  <a:srgbClr val="A31515"/>
                </a:solidFill>
                <a:latin typeface="Aptos Mono"/>
              </a:rPr>
              <a:t>"module"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module</a:t>
            </a:r>
            <a:r>
              <a:rPr lang="en-US" sz="700" b="0">
                <a:solidFill>
                  <a:srgbClr val="000000"/>
                </a:solidFill>
                <a:latin typeface="Aptos Mono"/>
              </a:rPr>
              <a:t>.</a:t>
            </a:r>
            <a:r>
              <a:rPr lang="en-US" sz="700" b="0">
                <a:solidFill>
                  <a:srgbClr val="001080"/>
                </a:solidFill>
                <a:latin typeface="Aptos Mono"/>
              </a:rPr>
              <a:t>module_name</a:t>
            </a:r>
            <a:r>
              <a:rPr lang="en-US" sz="700" b="0">
                <a:solidFill>
                  <a:srgbClr val="000000"/>
                </a:solidFill>
                <a:latin typeface="Aptos Mono"/>
              </a:rPr>
              <a:t>}</a:t>
            </a:r>
            <a:endParaRPr/>
          </a:p>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"Data-dependence edges of the callable that holds a line: ..."</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dataflow</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list</a:t>
            </a:r>
            <a:r>
              <a:rPr lang="en-US" sz="700" b="0">
                <a:solidFill>
                  <a:srgbClr val="000000"/>
                </a:solidFill>
                <a:latin typeface="Aptos Mono"/>
              </a:rPr>
              <a:t>[</a:t>
            </a:r>
            <a:r>
              <a:rPr lang="en-US" sz="700" b="0">
                <a:solidFill>
                  <a:srgbClr val="267F99"/>
                </a:solidFill>
                <a:latin typeface="Aptos Mono"/>
              </a:rPr>
              <a:t>Edge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00FF"/>
                </a:solidFill>
                <a:latin typeface="Aptos Mono"/>
              </a:rPr>
              <a:t>not</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raise</a:t>
            </a:r>
            <a:r>
              <a:rPr lang="en-US" sz="700" b="0">
                <a:solidFill>
                  <a:srgbClr val="000000"/>
                </a:solidFill>
                <a:latin typeface="Aptos Mono"/>
              </a:rPr>
              <a:t> </a:t>
            </a:r>
            <a:r>
              <a:rPr lang="en-US" sz="700" b="0">
                <a:solidFill>
                  <a:srgbClr val="267F99"/>
                </a:solidFill>
                <a:latin typeface="Aptos Mono"/>
              </a:rPr>
              <a:t>ToolError</a:t>
            </a:r>
            <a:r>
              <a:rPr lang="en-US" sz="700" b="0">
                <a:solidFill>
                  <a:srgbClr val="000000"/>
                </a:solidFill>
                <a:latin typeface="Aptos Mono"/>
              </a:rPr>
              <a:t>(</a:t>
            </a:r>
            <a:r>
              <a:rPr lang="en-US" sz="700" b="0">
                <a:solidFill>
                  <a:srgbClr val="A31515"/>
                </a:solidFill>
                <a:latin typeface="Aptos Mono"/>
              </a:rPr>
              <a:t>f"refused: line {line} of {path} is in no 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get_ddg</a:t>
            </a:r>
            <a:r>
              <a:rPr lang="en-US" sz="700" b="0">
                <a:solidFill>
                  <a:srgbClr val="000000"/>
                </a:solidFill>
                <a:latin typeface="Aptos Mono"/>
              </a:rPr>
              <a:t>(</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001080"/>
                </a:solidFill>
                <a:latin typeface="Aptos Mono"/>
              </a:rPr>
              <a:t>page_size</a:t>
            </a:r>
            <a:r>
              <a:rPr lang="en-US" sz="700" b="0">
                <a:solidFill>
                  <a:srgbClr val="000000"/>
                </a:solidFill>
                <a:latin typeface="Aptos Mono"/>
              </a:rPr>
              <a:t>=</a:t>
            </a:r>
            <a:r>
              <a:rPr lang="en-US" sz="700" b="0">
                <a:solidFill>
                  <a:srgbClr val="098658"/>
                </a:solidFill>
                <a:latin typeface="Aptos Mono"/>
              </a:rPr>
              <a:t>2000</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 = []</a:t>
            </a:r>
            <a:endParaRPr/>
          </a:p>
          <a:p>
            <a:r>
              <a:rPr lang="en-US" sz="700" b="0">
                <a:solidFill>
                  <a:srgbClr val="000000"/>
                </a:solidFill>
                <a:latin typeface="Aptos Mono"/>
              </a:rPr>
              <a:t>    </a:t>
            </a:r>
            <a:r>
              <a:rPr lang="en-US" sz="700" b="0">
                <a:solidFill>
                  <a:srgbClr val="AF00DB"/>
                </a:solidFill>
                <a:latin typeface="Aptos Mono"/>
              </a:rPr>
              <a:t>for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 </a:t>
            </a:r>
            <a:r>
              <a:rPr lang="en-US" sz="700" b="0">
                <a:solidFill>
                  <a:srgbClr val="AF00DB"/>
                </a:solidFill>
                <a:latin typeface="Aptos Mono"/>
              </a:rPr>
              <a:t>in</a:t>
            </a:r>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a:t>
            </a:r>
            <a:r>
              <a:rPr lang="en-US" sz="700" b="0">
                <a:solidFill>
                  <a:srgbClr val="001080"/>
                </a:solidFill>
                <a:latin typeface="Aptos Mono"/>
              </a:rPr>
              <a:t>edges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try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a:t>
            </a:r>
            <a:r>
              <a:rPr lang="en-US" sz="700" b="0">
                <a:solidFill>
                  <a:srgbClr val="795E26"/>
                </a:solidFill>
                <a:latin typeface="Aptos Mono"/>
              </a:rPr>
              <a:t>append</a:t>
            </a:r>
            <a:r>
              <a:rPr lang="en-US" sz="700" b="0">
                <a:solidFill>
                  <a:srgbClr val="000000"/>
                </a:solidFill>
                <a:latin typeface="Aptos Mono"/>
              </a:rPr>
              <a:t>({</a:t>
            </a:r>
            <a:r>
              <a:rPr lang="en-US" sz="700" b="0">
                <a:solidFill>
                  <a:srgbClr val="A31515"/>
                </a:solidFill>
                <a:latin typeface="Aptos Mono"/>
              </a:rPr>
              <a:t>"from_line"</a:t>
            </a:r>
            <a:r>
              <a:rPr lang="en-US" sz="700" b="0">
                <a:solidFill>
                  <a:srgbClr val="000000"/>
                </a:solidFill>
                <a:latin typeface="Aptos Mono"/>
              </a:rPr>
              <a:t>: ..., </a:t>
            </a:r>
            <a:r>
              <a:rPr lang="en-US" sz="700" b="0">
                <a:solidFill>
                  <a:srgbClr val="A31515"/>
                </a:solidFill>
                <a:latin typeface="Aptos Mono"/>
              </a:rPr>
              <a:t>"to_line"</a:t>
            </a:r>
            <a:r>
              <a:rPr lang="en-US" sz="700" b="0">
                <a:solidFill>
                  <a:srgbClr val="000000"/>
                </a:solidFill>
                <a:latin typeface="Aptos Mono"/>
              </a:rPr>
              <a:t>: ..., </a:t>
            </a:r>
            <a:r>
              <a:rPr lang="en-US" sz="700" b="0">
                <a:solidFill>
                  <a:srgbClr val="A31515"/>
                </a:solidFill>
                <a:latin typeface="Aptos Mono"/>
              </a:rPr>
              <a:t>"var"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a:t>
            </a:r>
            <a:r>
              <a:rPr lang="en-US" sz="700" b="0">
                <a:solidFill>
                  <a:srgbClr val="001080"/>
                </a:solidFill>
                <a:latin typeface="Aptos Mono"/>
              </a:rPr>
              <a:t>var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except</a:t>
            </a:r>
            <a:r>
              <a:rPr lang="en-US" sz="700" b="0">
                <a:solidFill>
                  <a:srgbClr val="000000"/>
                </a:solidFill>
                <a:latin typeface="Aptos Mono"/>
              </a:rPr>
              <a:t> </a:t>
            </a:r>
            <a:r>
              <a:rPr lang="en-US" sz="700" b="0">
                <a:solidFill>
                  <a:srgbClr val="267F99"/>
                </a:solidFill>
                <a:latin typeface="Aptos Mono"/>
              </a:rPr>
              <a:t>ValueError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continue</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tool answers from the same analysis object.</a:t>
            </a:r>
          </a:p>
        </p:txBody>
      </p:sp>
      <p:sp>
        <p:nvSpPr>
          <p:cNvPr id="3" name="Content Placeholder 2"/>
          <p:cNvSpPr>
            <a:spLocks noGrp="1"/>
          </p:cNvSpPr>
          <p:nvPr>
            <p:ph idx="1"/>
          </p:nvPr>
        </p:nvSpPr>
        <p:spPr bwMode="auto">
          <a:xfrm>
            <a:off x="320040" y="658368"/>
            <a:ext cx="6016752" cy="8458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MCPServer</a:t>
            </a:r>
            <a:r>
              <a:rPr lang="en-US" sz="1150" b="1">
                <a:solidFill>
                  <a:srgbClr val="000000"/>
                </a:solidFill>
              </a:rPr>
              <a:t> and </a:t>
            </a:r>
            <a:r>
              <a:rPr lang="en-US" sz="1150" b="0">
                <a:solidFill>
                  <a:srgbClr val="000000"/>
                </a:solidFill>
                <a:latin typeface="Aptos Mono"/>
              </a:rPr>
              <a:t>@mcp.tool</a:t>
            </a:r>
            <a:r>
              <a:rPr lang="en-US" sz="1150" b="1">
                <a:solidFill>
                  <a:srgbClr val="000000"/>
                </a:solidFill>
              </a:rPr>
              <a:t>,</a:t>
            </a:r>
            <a:r>
              <a:rPr lang="en-US" sz="1150" b="0">
                <a:solidFill>
                  <a:srgbClr val="000000"/>
                </a:solidFill>
              </a:rPr>
              <a:t> as in lecture 5's server.</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ToolError</a:t>
            </a:r>
            <a:r>
              <a:rPr lang="en-US" sz="1150" b="1">
                <a:solidFill>
                  <a:srgbClr val="000000"/>
                </a:solidFill>
              </a:rPr>
              <a:t> refuses</a:t>
            </a:r>
            <a:r>
              <a:rPr lang="en-US" sz="1150" b="0">
                <a:solidFill>
                  <a:srgbClr val="000000"/>
                </a:solidFill>
              </a:rPr>
              <a:t> a path outside the checkout or a line in no callable.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Inspector runs it:</a:t>
            </a:r>
            <a:r>
              <a:rPr lang="en-US" sz="1150" b="0">
                <a:solidFill>
                  <a:srgbClr val="000000"/>
                </a:solidFill>
              </a:rPr>
              <a:t> </a:t>
            </a:r>
            <a:r>
              <a:rPr lang="en-US" sz="1150" b="0">
                <a:solidFill>
                  <a:srgbClr val="000000"/>
                </a:solidFill>
                <a:latin typeface="Aptos Mono"/>
              </a:rPr>
              <a:t>locate</a:t>
            </a:r>
            <a:r>
              <a:rPr lang="en-US" sz="1150" b="0">
                <a:solidFill>
                  <a:srgbClr val="000000"/>
                </a:solidFill>
              </a:rPr>
              <a:t>, </a:t>
            </a:r>
            <a:r>
              <a:rPr lang="en-US" sz="1150" b="0">
                <a:solidFill>
                  <a:srgbClr val="000000"/>
                </a:solidFill>
                <a:latin typeface="Aptos Mono"/>
              </a:rPr>
              <a:t>dataflow</a:t>
            </a:r>
            <a:r>
              <a:rPr lang="en-US" sz="1150" b="0">
                <a:solidFill>
                  <a:srgbClr val="000000"/>
                </a:solidFill>
              </a:rPr>
              <a:t>, then a refused path.</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server validates arguments and results. The description enforces nothing.</a:t>
            </a:r>
            <a:endParaRPr/>
          </a:p>
        </p:txBody>
      </p:sp>
      <p:sp>
        <p:nvSpPr>
          <p:cNvPr id="5" name="CodeWindow"/>
          <p:cNvSpPr/>
          <p:nvPr/>
        </p:nvSpPr>
        <p:spPr bwMode="auto">
          <a:xfrm>
            <a:off x="320040" y="1775782"/>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40958"/>
            <a:ext cx="6016752" cy="0"/>
          </a:xfrm>
          <a:prstGeom prst="line">
            <a:avLst/>
          </a:prstGeom>
          <a:ln w="9525">
            <a:solidFill>
              <a:srgbClr val="DCDCDC"/>
            </a:solidFill>
          </a:ln>
        </p:spPr>
      </p:cxnSp>
      <p:sp>
        <p:nvSpPr>
          <p:cNvPr id="7" name="WinDot 0"/>
          <p:cNvSpPr/>
          <p:nvPr/>
        </p:nvSpPr>
        <p:spPr bwMode="auto">
          <a:xfrm>
            <a:off x="411480" y="1858078"/>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58078"/>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58078"/>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16930"/>
            <a:ext cx="5349240" cy="182880"/>
          </a:xfrm>
          <a:prstGeom prst="rect">
            <a:avLst/>
          </a:prstGeom>
          <a:noFill/>
        </p:spPr>
        <p:txBody>
          <a:bodyPr wrap="square" lIns="0" tIns="0" rIns="0" bIns="0" anchor="ctr">
            <a:noAutofit/>
          </a:bodyPr>
          <a:lstStyle/>
          <a:p>
            <a:pPr algn="l">
              <a:defRPr/>
            </a:pPr>
            <a:r>
              <a:rPr sz="850" b="0">
                <a:solidFill>
                  <a:srgbClr val="5B6673"/>
                </a:solidFill>
              </a:rPr>
              <a:t>cldk-demo/server.py: the locate and dataflow tools, "..." where the text is shortened</a:t>
            </a:r>
            <a:endParaRPr/>
          </a:p>
        </p:txBody>
      </p:sp>
      <p:sp>
        <p:nvSpPr>
          <p:cNvPr id="11" name="TextBox 7"/>
          <p:cNvSpPr txBox="1"/>
          <p:nvPr/>
        </p:nvSpPr>
        <p:spPr bwMode="auto">
          <a:xfrm>
            <a:off x="466344" y="2104966"/>
            <a:ext cx="5724144" cy="1973844"/>
          </a:xfrm>
          <a:prstGeom prst="rect">
            <a:avLst/>
          </a:prstGeom>
          <a:noFill/>
        </p:spPr>
        <p:txBody>
          <a:bodyPr wrap="none" lIns="0" tIns="0" rIns="0" bIns="0">
            <a:spAutoFit/>
          </a:bodyPr>
          <a:lstStyle/>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"The callable that holds a line, or module scope."</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locate</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Located</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A31515"/>
                </a:solidFill>
                <a:latin typeface="Aptos Mono"/>
              </a:rPr>
              <a:t>"signature"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31515"/>
                </a:solidFill>
                <a:latin typeface="Aptos Mono"/>
              </a:rPr>
              <a:t>"name"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name</a:t>
            </a:r>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 </a:t>
            </a:r>
            <a:r>
              <a:rPr lang="en-US" sz="700" b="0">
                <a:solidFill>
                  <a:srgbClr val="AF00DB"/>
                </a:solidFill>
                <a:latin typeface="Aptos Mono"/>
              </a:rPr>
              <a:t>else</a:t>
            </a:r>
            <a:r>
              <a:rPr lang="en-US" sz="700" b="0">
                <a:solidFill>
                  <a:srgbClr val="000000"/>
                </a:solidFill>
                <a:latin typeface="Aptos Mono"/>
              </a:rPr>
              <a:t> </a:t>
            </a:r>
            <a:r>
              <a:rPr lang="en-US" sz="700" b="0">
                <a:solidFill>
                  <a:srgbClr val="0000FF"/>
                </a:solidFill>
                <a:latin typeface="Aptos Mono"/>
              </a:rPr>
              <a:t>None</a:t>
            </a:r>
            <a:r>
              <a:rPr lang="en-US" sz="700" b="0">
                <a:solidFill>
                  <a:srgbClr val="000000"/>
                </a:solidFill>
                <a:latin typeface="Aptos Mono"/>
              </a:rPr>
              <a:t>, </a:t>
            </a:r>
            <a:r>
              <a:rPr lang="en-US" sz="700" b="0">
                <a:solidFill>
                  <a:srgbClr val="A31515"/>
                </a:solidFill>
                <a:latin typeface="Aptos Mono"/>
              </a:rPr>
              <a:t>"module"</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module</a:t>
            </a:r>
            <a:r>
              <a:rPr lang="en-US" sz="700" b="0">
                <a:solidFill>
                  <a:srgbClr val="000000"/>
                </a:solidFill>
                <a:latin typeface="Aptos Mono"/>
              </a:rPr>
              <a:t>.</a:t>
            </a:r>
            <a:r>
              <a:rPr lang="en-US" sz="700" b="0">
                <a:solidFill>
                  <a:srgbClr val="001080"/>
                </a:solidFill>
                <a:latin typeface="Aptos Mono"/>
              </a:rPr>
              <a:t>module_name</a:t>
            </a:r>
            <a:r>
              <a:rPr lang="en-US" sz="700" b="0">
                <a:solidFill>
                  <a:srgbClr val="000000"/>
                </a:solidFill>
                <a:latin typeface="Aptos Mono"/>
              </a:rPr>
              <a:t>}</a:t>
            </a:r>
            <a:endParaRPr/>
          </a:p>
          <a:p>
            <a:r>
              <a:rPr lang="en-US" sz="700" b="0">
                <a:solidFill>
                  <a:srgbClr val="795E26"/>
                </a:solidFill>
                <a:latin typeface="Aptos Mono"/>
              </a:rPr>
              <a:t>@mcp.tool</a:t>
            </a:r>
            <a:r>
              <a:rPr lang="en-US" sz="700" b="0">
                <a:solidFill>
                  <a:srgbClr val="000000"/>
                </a:solidFill>
                <a:latin typeface="Aptos Mono"/>
              </a:rPr>
              <a:t>(</a:t>
            </a:r>
            <a:r>
              <a:rPr lang="en-US" sz="700" b="0">
                <a:solidFill>
                  <a:srgbClr val="001080"/>
                </a:solidFill>
                <a:latin typeface="Aptos Mono"/>
              </a:rPr>
              <a:t>description</a:t>
            </a:r>
            <a:r>
              <a:rPr lang="en-US" sz="700" b="0">
                <a:solidFill>
                  <a:srgbClr val="000000"/>
                </a:solidFill>
                <a:latin typeface="Aptos Mono"/>
              </a:rPr>
              <a:t>=</a:t>
            </a:r>
            <a:r>
              <a:rPr lang="en-US" sz="700" b="0">
                <a:solidFill>
                  <a:srgbClr val="A31515"/>
                </a:solidFill>
                <a:latin typeface="Aptos Mono"/>
              </a:rPr>
              <a:t>"Data-dependence edges of the callable that holds a line: ..."</a:t>
            </a:r>
            <a:r>
              <a:rPr lang="en-US" sz="700" b="0">
                <a:solidFill>
                  <a:srgbClr val="000000"/>
                </a:solidFill>
                <a:latin typeface="Aptos Mono"/>
              </a:rPr>
              <a:t>)</a:t>
            </a:r>
            <a:endParaRPr/>
          </a:p>
          <a:p>
            <a:r>
              <a:rPr lang="en-US" sz="700" b="0">
                <a:solidFill>
                  <a:srgbClr val="0000FF"/>
                </a:solidFill>
                <a:latin typeface="Aptos Mono"/>
              </a:rPr>
              <a:t>def</a:t>
            </a:r>
            <a:r>
              <a:rPr lang="en-US" sz="700" b="0">
                <a:solidFill>
                  <a:srgbClr val="000000"/>
                </a:solidFill>
                <a:latin typeface="Aptos Mono"/>
              </a:rPr>
              <a:t> </a:t>
            </a:r>
            <a:r>
              <a:rPr lang="en-US" sz="700" b="0">
                <a:solidFill>
                  <a:srgbClr val="795E26"/>
                </a:solidFill>
                <a:latin typeface="Aptos Mono"/>
              </a:rPr>
              <a:t>dataflow</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267F99"/>
                </a:solidFill>
                <a:latin typeface="Aptos Mono"/>
              </a:rPr>
              <a:t>str</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 </a:t>
            </a:r>
            <a:r>
              <a:rPr lang="en-US" sz="700" b="0">
                <a:solidFill>
                  <a:srgbClr val="267F99"/>
                </a:solidFill>
                <a:latin typeface="Aptos Mono"/>
              </a:rPr>
              <a:t>int</a:t>
            </a:r>
            <a:r>
              <a:rPr lang="en-US" sz="700" b="0">
                <a:solidFill>
                  <a:srgbClr val="000000"/>
                </a:solidFill>
                <a:latin typeface="Aptos Mono"/>
              </a:rPr>
              <a:t>) -&gt; </a:t>
            </a:r>
            <a:r>
              <a:rPr lang="en-US" sz="700" b="0">
                <a:solidFill>
                  <a:srgbClr val="267F99"/>
                </a:solidFill>
                <a:latin typeface="Aptos Mono"/>
              </a:rPr>
              <a:t>list</a:t>
            </a:r>
            <a:r>
              <a:rPr lang="en-US" sz="700" b="0">
                <a:solidFill>
                  <a:srgbClr val="000000"/>
                </a:solidFill>
                <a:latin typeface="Aptos Mono"/>
              </a:rPr>
              <a:t>[</a:t>
            </a:r>
            <a:r>
              <a:rPr lang="en-US" sz="700" b="0">
                <a:solidFill>
                  <a:srgbClr val="267F99"/>
                </a:solidFill>
                <a:latin typeface="Aptos Mono"/>
              </a:rPr>
              <a:t>Edge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locate</a:t>
            </a:r>
            <a:r>
              <a:rPr lang="en-US" sz="700" b="0">
                <a:solidFill>
                  <a:srgbClr val="000000"/>
                </a:solidFill>
                <a:latin typeface="Aptos Mono"/>
              </a:rPr>
              <a:t>(</a:t>
            </a:r>
            <a:r>
              <a:rPr lang="en-US" sz="700" b="0">
                <a:solidFill>
                  <a:srgbClr val="795E26"/>
                </a:solidFill>
                <a:latin typeface="Aptos Mono"/>
              </a:rPr>
              <a:t>checked</a:t>
            </a:r>
            <a:r>
              <a:rPr lang="en-US" sz="700" b="0">
                <a:solidFill>
                  <a:srgbClr val="000000"/>
                </a:solidFill>
                <a:latin typeface="Aptos Mono"/>
              </a:rPr>
              <a:t>(</a:t>
            </a:r>
            <a:r>
              <a:rPr lang="en-US" sz="700" b="0">
                <a:solidFill>
                  <a:srgbClr val="001080"/>
                </a:solidFill>
                <a:latin typeface="Aptos Mono"/>
              </a:rPr>
              <a:t>path</a:t>
            </a:r>
            <a:r>
              <a:rPr lang="en-US" sz="700" b="0">
                <a:solidFill>
                  <a:srgbClr val="000000"/>
                </a:solidFill>
                <a:latin typeface="Aptos Mono"/>
              </a:rPr>
              <a:t>), </a:t>
            </a:r>
            <a:r>
              <a:rPr lang="en-US" sz="700" b="0">
                <a:solidFill>
                  <a:srgbClr val="001080"/>
                </a:solidFill>
                <a:latin typeface="Aptos Mono"/>
              </a:rPr>
              <a:t>line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if</a:t>
            </a:r>
            <a:r>
              <a:rPr lang="en-US" sz="700" b="0">
                <a:solidFill>
                  <a:srgbClr val="000000"/>
                </a:solidFill>
                <a:latin typeface="Aptos Mono"/>
              </a:rPr>
              <a:t> </a:t>
            </a:r>
            <a:r>
              <a:rPr lang="en-US" sz="700" b="0">
                <a:solidFill>
                  <a:srgbClr val="0000FF"/>
                </a:solidFill>
                <a:latin typeface="Aptos Mono"/>
              </a:rPr>
              <a:t>not</a:t>
            </a:r>
            <a:r>
              <a:rPr lang="en-US" sz="700" b="0">
                <a:solidFill>
                  <a:srgbClr val="000000"/>
                </a:solidFill>
                <a:latin typeface="Aptos Mono"/>
              </a:rPr>
              <a:t> </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raise</a:t>
            </a:r>
            <a:r>
              <a:rPr lang="en-US" sz="700" b="0">
                <a:solidFill>
                  <a:srgbClr val="000000"/>
                </a:solidFill>
                <a:latin typeface="Aptos Mono"/>
              </a:rPr>
              <a:t> </a:t>
            </a:r>
            <a:r>
              <a:rPr lang="en-US" sz="700" b="0">
                <a:solidFill>
                  <a:srgbClr val="267F99"/>
                </a:solidFill>
                <a:latin typeface="Aptos Mono"/>
              </a:rPr>
              <a:t>ToolError</a:t>
            </a:r>
            <a:r>
              <a:rPr lang="en-US" sz="700" b="0">
                <a:solidFill>
                  <a:srgbClr val="000000"/>
                </a:solidFill>
                <a:latin typeface="Aptos Mono"/>
              </a:rPr>
              <a:t>(</a:t>
            </a:r>
            <a:r>
              <a:rPr lang="en-US" sz="700" b="0">
                <a:solidFill>
                  <a:srgbClr val="A31515"/>
                </a:solidFill>
                <a:latin typeface="Aptos Mono"/>
              </a:rPr>
              <a:t>f"refused: line {line} of {path} is in no callable"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 = </a:t>
            </a:r>
            <a:r>
              <a:rPr lang="en-US" sz="700" b="0">
                <a:solidFill>
                  <a:srgbClr val="001080"/>
                </a:solidFill>
                <a:latin typeface="Aptos Mono"/>
              </a:rPr>
              <a:t>AN</a:t>
            </a:r>
            <a:r>
              <a:rPr lang="en-US" sz="700" b="0">
                <a:solidFill>
                  <a:srgbClr val="000000"/>
                </a:solidFill>
                <a:latin typeface="Aptos Mono"/>
              </a:rPr>
              <a:t>.</a:t>
            </a:r>
            <a:r>
              <a:rPr lang="en-US" sz="700" b="0">
                <a:solidFill>
                  <a:srgbClr val="795E26"/>
                </a:solidFill>
                <a:latin typeface="Aptos Mono"/>
              </a:rPr>
              <a:t>get_ddg</a:t>
            </a:r>
            <a:r>
              <a:rPr lang="en-US" sz="700" b="0">
                <a:solidFill>
                  <a:srgbClr val="000000"/>
                </a:solidFill>
                <a:latin typeface="Aptos Mono"/>
              </a:rPr>
              <a:t>(</a:t>
            </a:r>
            <a:r>
              <a:rPr lang="en-US" sz="700" b="0">
                <a:solidFill>
                  <a:srgbClr val="001080"/>
                </a:solidFill>
                <a:latin typeface="Aptos Mono"/>
              </a:rPr>
              <a:t>hit</a:t>
            </a:r>
            <a:r>
              <a:rPr lang="en-US" sz="700" b="0">
                <a:solidFill>
                  <a:srgbClr val="000000"/>
                </a:solidFill>
                <a:latin typeface="Aptos Mono"/>
              </a:rPr>
              <a:t>.</a:t>
            </a:r>
            <a:r>
              <a:rPr lang="en-US" sz="700" b="0">
                <a:solidFill>
                  <a:srgbClr val="001080"/>
                </a:solidFill>
                <a:latin typeface="Aptos Mono"/>
              </a:rPr>
              <a:t>callable</a:t>
            </a:r>
            <a:r>
              <a:rPr lang="en-US" sz="700" b="0">
                <a:solidFill>
                  <a:srgbClr val="000000"/>
                </a:solidFill>
                <a:latin typeface="Aptos Mono"/>
              </a:rPr>
              <a:t>.</a:t>
            </a:r>
            <a:r>
              <a:rPr lang="en-US" sz="700" b="0">
                <a:solidFill>
                  <a:srgbClr val="001080"/>
                </a:solidFill>
                <a:latin typeface="Aptos Mono"/>
              </a:rPr>
              <a:t>signature</a:t>
            </a:r>
            <a:r>
              <a:rPr lang="en-US" sz="700" b="0">
                <a:solidFill>
                  <a:srgbClr val="000000"/>
                </a:solidFill>
                <a:latin typeface="Aptos Mono"/>
              </a:rPr>
              <a:t>, </a:t>
            </a:r>
            <a:r>
              <a:rPr lang="en-US" sz="700" b="0">
                <a:solidFill>
                  <a:srgbClr val="001080"/>
                </a:solidFill>
                <a:latin typeface="Aptos Mono"/>
              </a:rPr>
              <a:t>page_size</a:t>
            </a:r>
            <a:r>
              <a:rPr lang="en-US" sz="700" b="0">
                <a:solidFill>
                  <a:srgbClr val="000000"/>
                </a:solidFill>
                <a:latin typeface="Aptos Mono"/>
              </a:rPr>
              <a:t>=</a:t>
            </a:r>
            <a:r>
              <a:rPr lang="en-US" sz="700" b="0">
                <a:solidFill>
                  <a:srgbClr val="098658"/>
                </a:solidFill>
                <a:latin typeface="Aptos Mono"/>
              </a:rPr>
              <a:t>2000</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 = []</a:t>
            </a:r>
            <a:endParaRPr/>
          </a:p>
          <a:p>
            <a:r>
              <a:rPr lang="en-US" sz="700" b="0">
                <a:solidFill>
                  <a:srgbClr val="000000"/>
                </a:solidFill>
                <a:latin typeface="Aptos Mono"/>
              </a:rPr>
              <a:t>    </a:t>
            </a:r>
            <a:r>
              <a:rPr lang="en-US" sz="700" b="0">
                <a:solidFill>
                  <a:srgbClr val="AF00DB"/>
                </a:solidFill>
                <a:latin typeface="Aptos Mono"/>
              </a:rPr>
              <a:t>for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 </a:t>
            </a:r>
            <a:r>
              <a:rPr lang="en-US" sz="700" b="0">
                <a:solidFill>
                  <a:srgbClr val="AF00DB"/>
                </a:solidFill>
                <a:latin typeface="Aptos Mono"/>
              </a:rPr>
              <a:t>in</a:t>
            </a:r>
            <a:r>
              <a:rPr lang="en-US" sz="700" b="0">
                <a:solidFill>
                  <a:srgbClr val="000000"/>
                </a:solidFill>
                <a:latin typeface="Aptos Mono"/>
              </a:rPr>
              <a:t> </a:t>
            </a:r>
            <a:r>
              <a:rPr lang="en-US" sz="700" b="0">
                <a:solidFill>
                  <a:srgbClr val="001080"/>
                </a:solidFill>
                <a:latin typeface="Aptos Mono"/>
              </a:rPr>
              <a:t>page</a:t>
            </a:r>
            <a:r>
              <a:rPr lang="en-US" sz="700" b="0">
                <a:solidFill>
                  <a:srgbClr val="000000"/>
                </a:solidFill>
                <a:latin typeface="Aptos Mono"/>
              </a:rPr>
              <a:t>.</a:t>
            </a:r>
            <a:r>
              <a:rPr lang="en-US" sz="700" b="0">
                <a:solidFill>
                  <a:srgbClr val="001080"/>
                </a:solidFill>
                <a:latin typeface="Aptos Mono"/>
              </a:rPr>
              <a:t>edges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try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01080"/>
                </a:solidFill>
                <a:latin typeface="Aptos Mono"/>
              </a:rPr>
              <a:t>out</a:t>
            </a:r>
            <a:r>
              <a:rPr lang="en-US" sz="700" b="0">
                <a:solidFill>
                  <a:srgbClr val="000000"/>
                </a:solidFill>
                <a:latin typeface="Aptos Mono"/>
              </a:rPr>
              <a:t>.</a:t>
            </a:r>
            <a:r>
              <a:rPr lang="en-US" sz="700" b="0">
                <a:solidFill>
                  <a:srgbClr val="795E26"/>
                </a:solidFill>
                <a:latin typeface="Aptos Mono"/>
              </a:rPr>
              <a:t>append</a:t>
            </a:r>
            <a:r>
              <a:rPr lang="en-US" sz="700" b="0">
                <a:solidFill>
                  <a:srgbClr val="000000"/>
                </a:solidFill>
                <a:latin typeface="Aptos Mono"/>
              </a:rPr>
              <a:t>({</a:t>
            </a:r>
            <a:r>
              <a:rPr lang="en-US" sz="700" b="0">
                <a:solidFill>
                  <a:srgbClr val="A31515"/>
                </a:solidFill>
                <a:latin typeface="Aptos Mono"/>
              </a:rPr>
              <a:t>"from_line"</a:t>
            </a:r>
            <a:r>
              <a:rPr lang="en-US" sz="700" b="0">
                <a:solidFill>
                  <a:srgbClr val="000000"/>
                </a:solidFill>
                <a:latin typeface="Aptos Mono"/>
              </a:rPr>
              <a:t>: ..., </a:t>
            </a:r>
            <a:r>
              <a:rPr lang="en-US" sz="700" b="0">
                <a:solidFill>
                  <a:srgbClr val="A31515"/>
                </a:solidFill>
                <a:latin typeface="Aptos Mono"/>
              </a:rPr>
              <a:t>"to_line"</a:t>
            </a:r>
            <a:r>
              <a:rPr lang="en-US" sz="700" b="0">
                <a:solidFill>
                  <a:srgbClr val="000000"/>
                </a:solidFill>
                <a:latin typeface="Aptos Mono"/>
              </a:rPr>
              <a:t>: ..., </a:t>
            </a:r>
            <a:r>
              <a:rPr lang="en-US" sz="700" b="0">
                <a:solidFill>
                  <a:srgbClr val="A31515"/>
                </a:solidFill>
                <a:latin typeface="Aptos Mono"/>
              </a:rPr>
              <a:t>"var"</a:t>
            </a:r>
            <a:r>
              <a:rPr lang="en-US" sz="700" b="0">
                <a:solidFill>
                  <a:srgbClr val="000000"/>
                </a:solidFill>
                <a:latin typeface="Aptos Mono"/>
              </a:rPr>
              <a:t>: </a:t>
            </a:r>
            <a:r>
              <a:rPr lang="en-US" sz="700" b="0">
                <a:solidFill>
                  <a:srgbClr val="001080"/>
                </a:solidFill>
                <a:latin typeface="Aptos Mono"/>
              </a:rPr>
              <a:t>e</a:t>
            </a:r>
            <a:r>
              <a:rPr lang="en-US" sz="700" b="0">
                <a:solidFill>
                  <a:srgbClr val="000000"/>
                </a:solidFill>
                <a:latin typeface="Aptos Mono"/>
              </a:rPr>
              <a:t>.</a:t>
            </a:r>
            <a:r>
              <a:rPr lang="en-US" sz="700" b="0">
                <a:solidFill>
                  <a:srgbClr val="001080"/>
                </a:solidFill>
                <a:latin typeface="Aptos Mono"/>
              </a:rPr>
              <a:t>var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except</a:t>
            </a:r>
            <a:r>
              <a:rPr lang="en-US" sz="700" b="0">
                <a:solidFill>
                  <a:srgbClr val="000000"/>
                </a:solidFill>
                <a:latin typeface="Aptos Mono"/>
              </a:rPr>
              <a:t> </a:t>
            </a:r>
            <a:r>
              <a:rPr lang="en-US" sz="700" b="0">
                <a:solidFill>
                  <a:srgbClr val="267F99"/>
                </a:solidFill>
                <a:latin typeface="Aptos Mono"/>
              </a:rPr>
              <a:t>ValueError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AF00DB"/>
                </a:solidFill>
                <a:latin typeface="Aptos Mono"/>
              </a:rPr>
              <a:t>continue</a:t>
            </a:r>
            <a:endParaRPr/>
          </a:p>
          <a:p>
            <a:r>
              <a:rPr lang="en-US" sz="700" b="0">
                <a:solidFill>
                  <a:srgbClr val="000000"/>
                </a:solidFill>
                <a:latin typeface="Aptos Mono"/>
              </a:rPr>
              <a:t>    </a:t>
            </a:r>
            <a:r>
              <a:rPr lang="en-US" sz="700" b="0">
                <a:solidFill>
                  <a:srgbClr val="AF00DB"/>
                </a:solidFill>
                <a:latin typeface="Aptos Mono"/>
              </a:rPr>
              <a:t>return</a:t>
            </a:r>
            <a:r>
              <a:rPr lang="en-US" sz="700" b="0">
                <a:solidFill>
                  <a:srgbClr val="000000"/>
                </a:solidFill>
                <a:latin typeface="Aptos Mono"/>
              </a:rPr>
              <a:t> </a:t>
            </a:r>
            <a:r>
              <a:rPr lang="en-US" sz="700" b="0">
                <a:solidFill>
                  <a:srgbClr val="001080"/>
                </a:solidFill>
                <a:latin typeface="Aptos Mono"/>
              </a:rPr>
              <a:t>out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HW2: what you build</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1065206"/>
          </a:xfrm>
          <a:prstGeom prst="rect">
            <a:avLst/>
          </a:prstGeom>
        </p:spPr>
      </p:pic>
      <p:pic>
        <p:nvPicPr>
          <p:cNvPr id="15" name="Picture 13" descr="image.png"/>
          <p:cNvPicPr>
            <a:picLocks noChangeAspect="1"/>
          </p:cNvPicPr>
          <p:nvPr/>
        </p:nvPicPr>
        <p:blipFill rotWithShape="1">
          <a:blip r:embed="rId3">
            <a:alphaModFix amt="70000"/>
          </a:blip>
          <a:stretch/>
        </p:blipFill>
        <p:spPr bwMode="auto">
          <a:xfrm>
            <a:off x="822960" y="3298873"/>
            <a:ext cx="5733288" cy="10652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From a local agent to an MCP agent</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Two agents from your HW1 code.</a:t>
            </a:r>
            <a:r>
              <a:rPr lang="en-US" sz="1150" b="0">
                <a:solidFill>
                  <a:srgbClr val="000000"/>
                </a:solidFill>
              </a:rPr>
              <a:t> The code-action agent's action is a Python script that your harness runs against the CLDK object and the workspace.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MCP agent:</a:t>
            </a:r>
            <a:r>
              <a:rPr lang="en-US" sz="1150" b="0">
                <a:solidFill>
                  <a:srgbClr val="FFFFFF">
                    <a:alpha val="0"/>
                  </a:srgbClr>
                </a:solidFill>
              </a:rPr>
              <a:t> every tool it uses is served over MCP by a server you write.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Same stages, same outputs,</a:t>
            </a:r>
            <a:r>
              <a:rPr lang="en-US" sz="1150" b="0">
                <a:solidFill>
                  <a:srgbClr val="FFFFFF">
                    <a:alpha val="0"/>
                  </a:srgbClr>
                </a:solidFill>
              </a:rPr>
              <a:t> chosen by </a:t>
            </a:r>
            <a:r>
              <a:rPr lang="en-US" sz="1150" b="0">
                <a:solidFill>
                  <a:srgbClr val="FFFFFF">
                    <a:alpha val="0"/>
                  </a:srgbClr>
                </a:solidFill>
                <a:latin typeface="Aptos Mono"/>
              </a:rPr>
              <a:t>[agent] kind</a:t>
            </a:r>
            <a:r>
              <a:rPr lang="en-US" sz="1150" b="0">
                <a:solidFill>
                  <a:srgbClr val="FFFFFF">
                    <a:alpha val="0"/>
                  </a:srgbClr>
                </a:solidFill>
              </a:rPr>
              <a:t> in the config.</a:t>
            </a:r>
            <a:endParaRPr>
              <a:solidFill>
                <a:srgbClr val="FFFFFF">
                  <a:alpha val="0"/>
                </a:srgbClr>
              </a:solidFill>
            </a:endParaRPr>
          </a:p>
        </p:txBody>
      </p:sp>
      <p:pic>
        <p:nvPicPr>
          <p:cNvPr id="4" name="Picture 1260919718" descr="two-agents-1.png"/>
          <p:cNvPicPr>
            <a:picLocks noChangeAspect="1"/>
          </p:cNvPicPr>
          <p:nvPr/>
        </p:nvPicPr>
        <p:blipFill>
          <a:blip r:embed="rId3"/>
          <a:stretch>
            <a:fillRect/>
          </a:stretch>
        </p:blipFill>
        <p:spPr>
          <a:xfrm>
            <a:off x="320040" y="1977331"/>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From a local agent to an MCP agent</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Two agents from your HW1 code.</a:t>
            </a:r>
            <a:r>
              <a:rPr lang="en-US" sz="1150" b="0">
                <a:solidFill>
                  <a:srgbClr val="000000"/>
                </a:solidFill>
              </a:rPr>
              <a:t> The code-action agent's action is a Python script that your harness runs against the CLDK object and the workspace.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MCP agent:</a:t>
            </a:r>
            <a:r>
              <a:rPr lang="en-US" sz="1150" b="0">
                <a:solidFill>
                  <a:srgbClr val="000000"/>
                </a:solidFill>
              </a:rPr>
              <a:t> every tool it uses is served over MCP by a server you write.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Same stages, same outputs,</a:t>
            </a:r>
            <a:r>
              <a:rPr lang="en-US" sz="1150" b="0">
                <a:solidFill>
                  <a:srgbClr val="FFFFFF">
                    <a:alpha val="0"/>
                  </a:srgbClr>
                </a:solidFill>
              </a:rPr>
              <a:t> chosen by </a:t>
            </a:r>
            <a:r>
              <a:rPr lang="en-US" sz="1150" b="0">
                <a:solidFill>
                  <a:srgbClr val="FFFFFF">
                    <a:alpha val="0"/>
                  </a:srgbClr>
                </a:solidFill>
                <a:latin typeface="Aptos Mono"/>
              </a:rPr>
              <a:t>[agent] kind</a:t>
            </a:r>
            <a:r>
              <a:rPr lang="en-US" sz="1150" b="0">
                <a:solidFill>
                  <a:srgbClr val="FFFFFF">
                    <a:alpha val="0"/>
                  </a:srgbClr>
                </a:solidFill>
              </a:rPr>
              <a:t> in the config.</a:t>
            </a:r>
            <a:endParaRPr>
              <a:solidFill>
                <a:srgbClr val="FFFFFF">
                  <a:alpha val="0"/>
                </a:srgbClr>
              </a:solidFill>
            </a:endParaRPr>
          </a:p>
        </p:txBody>
      </p:sp>
      <p:pic>
        <p:nvPicPr>
          <p:cNvPr id="4" name="Picture 1260919718" descr="two-agents-2.png"/>
          <p:cNvPicPr>
            <a:picLocks noChangeAspect="1"/>
          </p:cNvPicPr>
          <p:nvPr/>
        </p:nvPicPr>
        <p:blipFill>
          <a:blip r:embed="rId3"/>
          <a:stretch>
            <a:fillRect/>
          </a:stretch>
        </p:blipFill>
        <p:spPr>
          <a:xfrm>
            <a:off x="320040" y="1977331"/>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From a local agent to an MCP agent</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Two agents from your HW1 code.</a:t>
            </a:r>
            <a:r>
              <a:rPr lang="en-US" sz="1150" b="0">
                <a:solidFill>
                  <a:srgbClr val="000000"/>
                </a:solidFill>
              </a:rPr>
              <a:t> The code-action agent's action is a Python script that your harness runs against the CLDK object and the workspace.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MCP agent:</a:t>
            </a:r>
            <a:r>
              <a:rPr lang="en-US" sz="1150" b="0">
                <a:solidFill>
                  <a:srgbClr val="000000"/>
                </a:solidFill>
              </a:rPr>
              <a:t> every tool it uses is served over MCP by a server you write.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Same stages, same outputs,</a:t>
            </a:r>
            <a:r>
              <a:rPr lang="en-US" sz="1150" b="0">
                <a:solidFill>
                  <a:srgbClr val="000000"/>
                </a:solidFill>
              </a:rPr>
              <a:t> chosen by </a:t>
            </a:r>
            <a:r>
              <a:rPr lang="en-US" sz="1150" b="0">
                <a:solidFill>
                  <a:srgbClr val="000000"/>
                </a:solidFill>
                <a:latin typeface="Aptos Mono"/>
              </a:rPr>
              <a:t>[agent] kind</a:t>
            </a:r>
            <a:r>
              <a:rPr lang="en-US" sz="1150" b="0">
                <a:solidFill>
                  <a:srgbClr val="000000"/>
                </a:solidFill>
              </a:rPr>
              <a:t> in the config.</a:t>
            </a:r>
            <a:endParaRPr/>
          </a:p>
        </p:txBody>
      </p:sp>
      <p:pic>
        <p:nvPicPr>
          <p:cNvPr id="4" name="Picture 1260919718" descr="two-agents-2.png"/>
          <p:cNvPicPr>
            <a:picLocks noChangeAspect="1"/>
          </p:cNvPicPr>
          <p:nvPr/>
        </p:nvPicPr>
        <p:blipFill>
          <a:blip r:embed="rId3"/>
          <a:stretch>
            <a:fillRect/>
          </a:stretch>
        </p:blipFill>
        <p:spPr>
          <a:xfrm>
            <a:off x="320040" y="1977331"/>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From a local agent to an MCP agent</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Two agents from your HW1 code.</a:t>
            </a:r>
            <a:r>
              <a:rPr lang="en-US" sz="1150" b="0">
                <a:solidFill>
                  <a:srgbClr val="000000"/>
                </a:solidFill>
              </a:rPr>
              <a:t> The code-action agent's action is a Python script that your harness runs against the CLDK object and the workspace.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MCP agent:</a:t>
            </a:r>
            <a:r>
              <a:rPr lang="en-US" sz="1150" b="0">
                <a:solidFill>
                  <a:srgbClr val="000000"/>
                </a:solidFill>
              </a:rPr>
              <a:t> every tool it uses is served over MCP by a server you write.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Same stages, same outputs,</a:t>
            </a:r>
            <a:r>
              <a:rPr lang="en-US" sz="1150" b="0">
                <a:solidFill>
                  <a:srgbClr val="000000"/>
                </a:solidFill>
              </a:rPr>
              <a:t> chosen by </a:t>
            </a:r>
            <a:r>
              <a:rPr lang="en-US" sz="1150" b="0">
                <a:solidFill>
                  <a:srgbClr val="000000"/>
                </a:solidFill>
                <a:latin typeface="Aptos Mono"/>
              </a:rPr>
              <a:t>[agent] kind</a:t>
            </a:r>
            <a:r>
              <a:rPr lang="en-US" sz="1150" b="0">
                <a:solidFill>
                  <a:srgbClr val="000000"/>
                </a:solidFill>
              </a:rPr>
              <a:t> in the config.</a:t>
            </a:r>
            <a:endParaRPr/>
          </a:p>
        </p:txBody>
      </p:sp>
      <p:pic>
        <p:nvPicPr>
          <p:cNvPr id="4" name="Picture 1260919718" descr="two-agents-3.png"/>
          <p:cNvPicPr>
            <a:picLocks noChangeAspect="1"/>
          </p:cNvPicPr>
          <p:nvPr/>
        </p:nvPicPr>
        <p:blipFill>
          <a:blip r:embed="rId3"/>
          <a:stretch>
            <a:fillRect/>
          </a:stretch>
        </p:blipFill>
        <p:spPr>
          <a:xfrm>
            <a:off x="320040" y="1977331"/>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From a local agent to an MCP agent</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Two agents from your HW1 code.</a:t>
            </a:r>
            <a:r>
              <a:rPr lang="en-US" sz="1150" b="0">
                <a:solidFill>
                  <a:srgbClr val="000000"/>
                </a:solidFill>
              </a:rPr>
              <a:t> The code-action agent's action is a Python script that your harness runs against the CLDK object and the workspace.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MCP agent:</a:t>
            </a:r>
            <a:r>
              <a:rPr lang="en-US" sz="1150" b="0">
                <a:solidFill>
                  <a:srgbClr val="000000"/>
                </a:solidFill>
              </a:rPr>
              <a:t> every tool it uses is served over MCP by a server you write.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Same stages, same outputs,</a:t>
            </a:r>
            <a:r>
              <a:rPr lang="en-US" sz="1150" b="0">
                <a:solidFill>
                  <a:srgbClr val="000000"/>
                </a:solidFill>
              </a:rPr>
              <a:t> chosen by </a:t>
            </a:r>
            <a:r>
              <a:rPr lang="en-US" sz="1150" b="0">
                <a:solidFill>
                  <a:srgbClr val="000000"/>
                </a:solidFill>
                <a:latin typeface="Aptos Mono"/>
              </a:rPr>
              <a:t>[agent] kind</a:t>
            </a:r>
            <a:r>
              <a:rPr lang="en-US" sz="1150" b="0">
                <a:solidFill>
                  <a:srgbClr val="000000"/>
                </a:solidFill>
              </a:rPr>
              <a:t> in the config.</a:t>
            </a:r>
            <a:endParaRPr/>
          </a:p>
        </p:txBody>
      </p:sp>
      <p:sp>
        <p:nvSpPr>
          <p:cNvPr id="4" name="Rectangle 4"/>
          <p:cNvSpPr/>
          <p:nvPr/>
        </p:nvSpPr>
        <p:spPr bwMode="auto">
          <a:xfrm>
            <a:off x="320040" y="4367494"/>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One process cannot check a script's calls. A server checks every call.</a:t>
            </a:r>
            <a:endParaRPr/>
          </a:p>
        </p:txBody>
      </p:sp>
      <p:pic>
        <p:nvPicPr>
          <p:cNvPr id="5" name="Picture 1260919718" descr="two-agents-3.png"/>
          <p:cNvPicPr>
            <a:picLocks noChangeAspect="1"/>
          </p:cNvPicPr>
          <p:nvPr/>
        </p:nvPicPr>
        <p:blipFill>
          <a:blip r:embed="rId3"/>
          <a:stretch>
            <a:fillRect/>
          </a:stretch>
        </p:blipFill>
        <p:spPr>
          <a:xfrm>
            <a:off x="320040" y="1977331"/>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server: analysis, text and write tools</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Analysis tools over CLDK 2.0:</a:t>
            </a:r>
            <a:r>
              <a:rPr lang="en-US" sz="1200" b="0">
                <a:solidFill>
                  <a:srgbClr val="000000"/>
                </a:solidFill>
              </a:rPr>
              <a:t> </a:t>
            </a:r>
            <a:r>
              <a:rPr lang="en-US" sz="1200" b="0">
                <a:solidFill>
                  <a:srgbClr val="000000"/>
                </a:solidFill>
                <a:latin typeface="Aptos Mono"/>
              </a:rPr>
              <a:t>locate</a:t>
            </a:r>
            <a:r>
              <a:rPr lang="en-US" sz="1200" b="0">
                <a:solidFill>
                  <a:srgbClr val="000000"/>
                </a:solidFill>
              </a:rPr>
              <a:t>, </a:t>
            </a:r>
            <a:r>
              <a:rPr lang="en-US" sz="1200" b="0">
                <a:solidFill>
                  <a:srgbClr val="000000"/>
                </a:solidFill>
                <a:latin typeface="Aptos Mono"/>
              </a:rPr>
              <a:t>source</a:t>
            </a:r>
            <a:r>
              <a:rPr lang="en-US" sz="1200" b="0">
                <a:solidFill>
                  <a:srgbClr val="000000"/>
                </a:solidFill>
              </a:rPr>
              <a:t>, </a:t>
            </a:r>
            <a:r>
              <a:rPr lang="en-US" sz="1200" b="0">
                <a:solidFill>
                  <a:srgbClr val="000000"/>
                </a:solidFill>
                <a:latin typeface="Aptos Mono"/>
              </a:rPr>
              <a:t>callers</a:t>
            </a:r>
            <a:r>
              <a:rPr lang="en-US" sz="1200" b="0">
                <a:solidFill>
                  <a:srgbClr val="000000"/>
                </a:solidFill>
              </a:rPr>
              <a:t>, </a:t>
            </a:r>
            <a:r>
              <a:rPr lang="en-US" sz="1200" b="0">
                <a:solidFill>
                  <a:srgbClr val="000000"/>
                </a:solidFill>
                <a:latin typeface="Aptos Mono"/>
              </a:rPr>
              <a:t>callees</a:t>
            </a:r>
            <a:r>
              <a:rPr lang="en-US" sz="1200" b="0">
                <a:solidFill>
                  <a:srgbClr val="000000"/>
                </a:solidFill>
              </a:rPr>
              <a:t>, </a:t>
            </a:r>
            <a:r>
              <a:rPr lang="en-US" sz="1200" b="0">
                <a:solidFill>
                  <a:srgbClr val="000000"/>
                </a:solidFill>
                <a:latin typeface="Aptos Mono"/>
              </a:rPr>
              <a:t>dataflow</a:t>
            </a:r>
            <a:r>
              <a:rPr lang="en-US" sz="1200" b="0">
                <a:solidFill>
                  <a:srgbClr val="000000"/>
                </a:solidFill>
              </a:rPr>
              <a:t>, </a:t>
            </a:r>
            <a:r>
              <a:rPr lang="en-US" sz="1200" b="0">
                <a:solidFill>
                  <a:srgbClr val="000000"/>
                </a:solidFill>
                <a:latin typeface="Aptos Mono"/>
              </a:rPr>
              <a:t>entry_points</a:t>
            </a:r>
            <a:r>
              <a:rPr lang="en-US" sz="1200" b="0">
                <a:solidFill>
                  <a:srgbClr val="000000"/>
                </a:solidFill>
              </a:rPr>
              <a:t>, with contracts the brief fixes.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Text tools from HW1:</a:t>
            </a:r>
            <a:r>
              <a:rPr lang="en-US" sz="1200" b="0">
                <a:solidFill>
                  <a:srgbClr val="FFFFFF">
                    <a:alpha val="0"/>
                  </a:srgbClr>
                </a:solidFill>
              </a:rPr>
              <a:t> </a:t>
            </a:r>
            <a:r>
              <a:rPr lang="en-US" sz="1200" b="0">
                <a:solidFill>
                  <a:srgbClr val="FFFFFF">
                    <a:alpha val="0"/>
                  </a:srgbClr>
                </a:solidFill>
                <a:latin typeface="Aptos Mono"/>
              </a:rPr>
              <a:t>read_file</a:t>
            </a:r>
            <a:r>
              <a:rPr lang="en-US" sz="1200" b="0">
                <a:solidFill>
                  <a:srgbClr val="FFFFFF">
                    <a:alpha val="0"/>
                  </a:srgbClr>
                </a:solidFill>
              </a:rPr>
              <a:t> and </a:t>
            </a:r>
            <a:r>
              <a:rPr lang="en-US" sz="1200" b="0">
                <a:solidFill>
                  <a:srgbClr val="FFFFFF">
                    <a:alpha val="0"/>
                  </a:srgbClr>
                </a:solidFill>
                <a:latin typeface="Aptos Mono"/>
              </a:rPr>
              <a:t>search</a:t>
            </a:r>
            <a:r>
              <a:rPr lang="en-US" sz="1200" b="0">
                <a:solidFill>
                  <a:srgbClr val="FFFFFF">
                    <a:alpha val="0"/>
                  </a:srgbClr>
                </a:solidFill>
              </a:rPr>
              <a:t>, whose use the report counts.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Write tools:</a:t>
            </a:r>
            <a:r>
              <a:rPr lang="en-US" sz="1200" b="0">
                <a:solidFill>
                  <a:srgbClr val="FFFFFF">
                    <a:alpha val="0"/>
                  </a:srgbClr>
                </a:solidFill>
              </a:rPr>
              <a:t> </a:t>
            </a:r>
            <a:r>
              <a:rPr lang="en-US" sz="1200" b="0">
                <a:solidFill>
                  <a:srgbClr val="FFFFFF">
                    <a:alpha val="0"/>
                  </a:srgbClr>
                </a:solidFill>
                <a:latin typeface="Aptos Mono"/>
              </a:rPr>
              <a:t>edit</a:t>
            </a:r>
            <a:r>
              <a:rPr lang="en-US" sz="1200" b="0">
                <a:solidFill>
                  <a:srgbClr val="FFFFFF">
                    <a:alpha val="0"/>
                  </a:srgbClr>
                </a:solidFill>
              </a:rPr>
              <a:t> and </a:t>
            </a:r>
            <a:r>
              <a:rPr lang="en-US" sz="1200" b="0">
                <a:solidFill>
                  <a:srgbClr val="FFFFFF">
                    <a:alpha val="0"/>
                  </a:srgbClr>
                </a:solidFill>
                <a:latin typeface="Aptos Mono"/>
              </a:rPr>
              <a:t>rescan</a:t>
            </a:r>
            <a:r>
              <a:rPr lang="en-US" sz="1200" b="0">
                <a:solidFill>
                  <a:srgbClr val="FFFFFF">
                    <a:alpha val="0"/>
                  </a:srgbClr>
                </a:solidFill>
              </a:rPr>
              <a:t>, with a patch accepted by three checks.</a:t>
            </a:r>
            <a:endParaRPr>
              <a:solidFill>
                <a:srgbClr val="FFFFFF">
                  <a:alpha val="0"/>
                </a:srgbClr>
              </a:solidFill>
            </a:endParaRPr>
          </a:p>
        </p:txBody>
      </p:sp>
      <p:pic>
        <p:nvPicPr>
          <p:cNvPr id="4" name="Picture 1260919718" descr="three-groups-1.png"/>
          <p:cNvPicPr>
            <a:picLocks noChangeAspect="1"/>
          </p:cNvPicPr>
          <p:nvPr/>
        </p:nvPicPr>
        <p:blipFill>
          <a:blip r:embed="rId3"/>
          <a:stretch>
            <a:fillRect/>
          </a:stretch>
        </p:blipFill>
        <p:spPr>
          <a:xfrm>
            <a:off x="320040" y="201238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server: analysis, text and write tools</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Analysis tools over CLDK 2.0:</a:t>
            </a:r>
            <a:r>
              <a:rPr lang="en-US" sz="1200" b="0">
                <a:solidFill>
                  <a:srgbClr val="000000"/>
                </a:solidFill>
              </a:rPr>
              <a:t> </a:t>
            </a:r>
            <a:r>
              <a:rPr lang="en-US" sz="1200" b="0">
                <a:solidFill>
                  <a:srgbClr val="000000"/>
                </a:solidFill>
                <a:latin typeface="Aptos Mono"/>
              </a:rPr>
              <a:t>locate</a:t>
            </a:r>
            <a:r>
              <a:rPr lang="en-US" sz="1200" b="0">
                <a:solidFill>
                  <a:srgbClr val="000000"/>
                </a:solidFill>
              </a:rPr>
              <a:t>, </a:t>
            </a:r>
            <a:r>
              <a:rPr lang="en-US" sz="1200" b="0">
                <a:solidFill>
                  <a:srgbClr val="000000"/>
                </a:solidFill>
                <a:latin typeface="Aptos Mono"/>
              </a:rPr>
              <a:t>source</a:t>
            </a:r>
            <a:r>
              <a:rPr lang="en-US" sz="1200" b="0">
                <a:solidFill>
                  <a:srgbClr val="000000"/>
                </a:solidFill>
              </a:rPr>
              <a:t>, </a:t>
            </a:r>
            <a:r>
              <a:rPr lang="en-US" sz="1200" b="0">
                <a:solidFill>
                  <a:srgbClr val="000000"/>
                </a:solidFill>
                <a:latin typeface="Aptos Mono"/>
              </a:rPr>
              <a:t>callers</a:t>
            </a:r>
            <a:r>
              <a:rPr lang="en-US" sz="1200" b="0">
                <a:solidFill>
                  <a:srgbClr val="000000"/>
                </a:solidFill>
              </a:rPr>
              <a:t>, </a:t>
            </a:r>
            <a:r>
              <a:rPr lang="en-US" sz="1200" b="0">
                <a:solidFill>
                  <a:srgbClr val="000000"/>
                </a:solidFill>
                <a:latin typeface="Aptos Mono"/>
              </a:rPr>
              <a:t>callees</a:t>
            </a:r>
            <a:r>
              <a:rPr lang="en-US" sz="1200" b="0">
                <a:solidFill>
                  <a:srgbClr val="000000"/>
                </a:solidFill>
              </a:rPr>
              <a:t>, </a:t>
            </a:r>
            <a:r>
              <a:rPr lang="en-US" sz="1200" b="0">
                <a:solidFill>
                  <a:srgbClr val="000000"/>
                </a:solidFill>
                <a:latin typeface="Aptos Mono"/>
              </a:rPr>
              <a:t>dataflow</a:t>
            </a:r>
            <a:r>
              <a:rPr lang="en-US" sz="1200" b="0">
                <a:solidFill>
                  <a:srgbClr val="000000"/>
                </a:solidFill>
              </a:rPr>
              <a:t>, </a:t>
            </a:r>
            <a:r>
              <a:rPr lang="en-US" sz="1200" b="0">
                <a:solidFill>
                  <a:srgbClr val="000000"/>
                </a:solidFill>
                <a:latin typeface="Aptos Mono"/>
              </a:rPr>
              <a:t>entry_points</a:t>
            </a:r>
            <a:r>
              <a:rPr lang="en-US" sz="1200" b="0">
                <a:solidFill>
                  <a:srgbClr val="000000"/>
                </a:solidFill>
              </a:rPr>
              <a:t>, with contracts the brief fixes.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Text tools from HW1:</a:t>
            </a:r>
            <a:r>
              <a:rPr lang="en-US" sz="1200" b="0">
                <a:solidFill>
                  <a:srgbClr val="000000"/>
                </a:solidFill>
              </a:rPr>
              <a:t> </a:t>
            </a:r>
            <a:r>
              <a:rPr lang="en-US" sz="1200" b="0">
                <a:solidFill>
                  <a:srgbClr val="000000"/>
                </a:solidFill>
                <a:latin typeface="Aptos Mono"/>
              </a:rPr>
              <a:t>read_file</a:t>
            </a:r>
            <a:r>
              <a:rPr lang="en-US" sz="1200" b="0">
                <a:solidFill>
                  <a:srgbClr val="000000"/>
                </a:solidFill>
              </a:rPr>
              <a:t> and </a:t>
            </a:r>
            <a:r>
              <a:rPr lang="en-US" sz="1200" b="0">
                <a:solidFill>
                  <a:srgbClr val="000000"/>
                </a:solidFill>
                <a:latin typeface="Aptos Mono"/>
              </a:rPr>
              <a:t>search</a:t>
            </a:r>
            <a:r>
              <a:rPr lang="en-US" sz="1200" b="0">
                <a:solidFill>
                  <a:srgbClr val="000000"/>
                </a:solidFill>
              </a:rPr>
              <a:t>, whose use the report counts.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Write tools:</a:t>
            </a:r>
            <a:r>
              <a:rPr lang="en-US" sz="1200" b="0">
                <a:solidFill>
                  <a:srgbClr val="FFFFFF">
                    <a:alpha val="0"/>
                  </a:srgbClr>
                </a:solidFill>
              </a:rPr>
              <a:t> </a:t>
            </a:r>
            <a:r>
              <a:rPr lang="en-US" sz="1200" b="0">
                <a:solidFill>
                  <a:srgbClr val="FFFFFF">
                    <a:alpha val="0"/>
                  </a:srgbClr>
                </a:solidFill>
                <a:latin typeface="Aptos Mono"/>
              </a:rPr>
              <a:t>edit</a:t>
            </a:r>
            <a:r>
              <a:rPr lang="en-US" sz="1200" b="0">
                <a:solidFill>
                  <a:srgbClr val="FFFFFF">
                    <a:alpha val="0"/>
                  </a:srgbClr>
                </a:solidFill>
              </a:rPr>
              <a:t> and </a:t>
            </a:r>
            <a:r>
              <a:rPr lang="en-US" sz="1200" b="0">
                <a:solidFill>
                  <a:srgbClr val="FFFFFF">
                    <a:alpha val="0"/>
                  </a:srgbClr>
                </a:solidFill>
                <a:latin typeface="Aptos Mono"/>
              </a:rPr>
              <a:t>rescan</a:t>
            </a:r>
            <a:r>
              <a:rPr lang="en-US" sz="1200" b="0">
                <a:solidFill>
                  <a:srgbClr val="FFFFFF">
                    <a:alpha val="0"/>
                  </a:srgbClr>
                </a:solidFill>
              </a:rPr>
              <a:t>, with a patch accepted by three checks.</a:t>
            </a:r>
            <a:endParaRPr>
              <a:solidFill>
                <a:srgbClr val="FFFFFF">
                  <a:alpha val="0"/>
                </a:srgbClr>
              </a:solidFill>
            </a:endParaRPr>
          </a:p>
        </p:txBody>
      </p:sp>
      <p:pic>
        <p:nvPicPr>
          <p:cNvPr id="4" name="Picture 1260919718" descr="three-groups-2.png"/>
          <p:cNvPicPr>
            <a:picLocks noChangeAspect="1"/>
          </p:cNvPicPr>
          <p:nvPr/>
        </p:nvPicPr>
        <p:blipFill>
          <a:blip r:embed="rId3"/>
          <a:stretch>
            <a:fillRect/>
          </a:stretch>
        </p:blipFill>
        <p:spPr>
          <a:xfrm>
            <a:off x="320040" y="201238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server: analysis, text and write tools</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Analysis tools over CLDK 2.0:</a:t>
            </a:r>
            <a:r>
              <a:rPr lang="en-US" sz="1200" b="0">
                <a:solidFill>
                  <a:srgbClr val="000000"/>
                </a:solidFill>
              </a:rPr>
              <a:t> </a:t>
            </a:r>
            <a:r>
              <a:rPr lang="en-US" sz="1200" b="0">
                <a:solidFill>
                  <a:srgbClr val="000000"/>
                </a:solidFill>
                <a:latin typeface="Aptos Mono"/>
              </a:rPr>
              <a:t>locate</a:t>
            </a:r>
            <a:r>
              <a:rPr lang="en-US" sz="1200" b="0">
                <a:solidFill>
                  <a:srgbClr val="000000"/>
                </a:solidFill>
              </a:rPr>
              <a:t>, </a:t>
            </a:r>
            <a:r>
              <a:rPr lang="en-US" sz="1200" b="0">
                <a:solidFill>
                  <a:srgbClr val="000000"/>
                </a:solidFill>
                <a:latin typeface="Aptos Mono"/>
              </a:rPr>
              <a:t>source</a:t>
            </a:r>
            <a:r>
              <a:rPr lang="en-US" sz="1200" b="0">
                <a:solidFill>
                  <a:srgbClr val="000000"/>
                </a:solidFill>
              </a:rPr>
              <a:t>, </a:t>
            </a:r>
            <a:r>
              <a:rPr lang="en-US" sz="1200" b="0">
                <a:solidFill>
                  <a:srgbClr val="000000"/>
                </a:solidFill>
                <a:latin typeface="Aptos Mono"/>
              </a:rPr>
              <a:t>callers</a:t>
            </a:r>
            <a:r>
              <a:rPr lang="en-US" sz="1200" b="0">
                <a:solidFill>
                  <a:srgbClr val="000000"/>
                </a:solidFill>
              </a:rPr>
              <a:t>, </a:t>
            </a:r>
            <a:r>
              <a:rPr lang="en-US" sz="1200" b="0">
                <a:solidFill>
                  <a:srgbClr val="000000"/>
                </a:solidFill>
                <a:latin typeface="Aptos Mono"/>
              </a:rPr>
              <a:t>callees</a:t>
            </a:r>
            <a:r>
              <a:rPr lang="en-US" sz="1200" b="0">
                <a:solidFill>
                  <a:srgbClr val="000000"/>
                </a:solidFill>
              </a:rPr>
              <a:t>, </a:t>
            </a:r>
            <a:r>
              <a:rPr lang="en-US" sz="1200" b="0">
                <a:solidFill>
                  <a:srgbClr val="000000"/>
                </a:solidFill>
                <a:latin typeface="Aptos Mono"/>
              </a:rPr>
              <a:t>dataflow</a:t>
            </a:r>
            <a:r>
              <a:rPr lang="en-US" sz="1200" b="0">
                <a:solidFill>
                  <a:srgbClr val="000000"/>
                </a:solidFill>
              </a:rPr>
              <a:t>, </a:t>
            </a:r>
            <a:r>
              <a:rPr lang="en-US" sz="1200" b="0">
                <a:solidFill>
                  <a:srgbClr val="000000"/>
                </a:solidFill>
                <a:latin typeface="Aptos Mono"/>
              </a:rPr>
              <a:t>entry_points</a:t>
            </a:r>
            <a:r>
              <a:rPr lang="en-US" sz="1200" b="0">
                <a:solidFill>
                  <a:srgbClr val="000000"/>
                </a:solidFill>
              </a:rPr>
              <a:t>, with contracts the brief fixes.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Text tools from HW1:</a:t>
            </a:r>
            <a:r>
              <a:rPr lang="en-US" sz="1200" b="0">
                <a:solidFill>
                  <a:srgbClr val="000000"/>
                </a:solidFill>
              </a:rPr>
              <a:t> </a:t>
            </a:r>
            <a:r>
              <a:rPr lang="en-US" sz="1200" b="0">
                <a:solidFill>
                  <a:srgbClr val="000000"/>
                </a:solidFill>
                <a:latin typeface="Aptos Mono"/>
              </a:rPr>
              <a:t>read_file</a:t>
            </a:r>
            <a:r>
              <a:rPr lang="en-US" sz="1200" b="0">
                <a:solidFill>
                  <a:srgbClr val="000000"/>
                </a:solidFill>
              </a:rPr>
              <a:t> and </a:t>
            </a:r>
            <a:r>
              <a:rPr lang="en-US" sz="1200" b="0">
                <a:solidFill>
                  <a:srgbClr val="000000"/>
                </a:solidFill>
                <a:latin typeface="Aptos Mono"/>
              </a:rPr>
              <a:t>search</a:t>
            </a:r>
            <a:r>
              <a:rPr lang="en-US" sz="1200" b="0">
                <a:solidFill>
                  <a:srgbClr val="000000"/>
                </a:solidFill>
              </a:rPr>
              <a:t>, whose use the report counts.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 tools:</a:t>
            </a:r>
            <a:r>
              <a:rPr lang="en-US" sz="1200" b="0">
                <a:solidFill>
                  <a:srgbClr val="000000"/>
                </a:solidFill>
              </a:rPr>
              <a:t> </a:t>
            </a:r>
            <a:r>
              <a:rPr lang="en-US" sz="1200" b="0">
                <a:solidFill>
                  <a:srgbClr val="000000"/>
                </a:solidFill>
                <a:latin typeface="Aptos Mono"/>
              </a:rPr>
              <a:t>edit</a:t>
            </a:r>
            <a:r>
              <a:rPr lang="en-US" sz="1200" b="0">
                <a:solidFill>
                  <a:srgbClr val="000000"/>
                </a:solidFill>
              </a:rPr>
              <a:t> and </a:t>
            </a:r>
            <a:r>
              <a:rPr lang="en-US" sz="1200" b="0">
                <a:solidFill>
                  <a:srgbClr val="000000"/>
                </a:solidFill>
                <a:latin typeface="Aptos Mono"/>
              </a:rPr>
              <a:t>rescan</a:t>
            </a:r>
            <a:r>
              <a:rPr lang="en-US" sz="1200" b="0">
                <a:solidFill>
                  <a:srgbClr val="000000"/>
                </a:solidFill>
              </a:rPr>
              <a:t>, with a patch accepted by three checks.</a:t>
            </a:r>
            <a:endParaRPr/>
          </a:p>
        </p:txBody>
      </p:sp>
      <p:pic>
        <p:nvPicPr>
          <p:cNvPr id="4" name="Picture 1260919718" descr="three-groups-3.png"/>
          <p:cNvPicPr>
            <a:picLocks noChangeAspect="1"/>
          </p:cNvPicPr>
          <p:nvPr/>
        </p:nvPicPr>
        <p:blipFill>
          <a:blip r:embed="rId3"/>
          <a:stretch>
            <a:fillRect/>
          </a:stretch>
        </p:blipFill>
        <p:spPr>
          <a:xfrm>
            <a:off x="320040" y="201238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server: analysis, text and write tools</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Analysis tools over CLDK 2.0:</a:t>
            </a:r>
            <a:r>
              <a:rPr lang="en-US" sz="1200" b="0">
                <a:solidFill>
                  <a:srgbClr val="000000"/>
                </a:solidFill>
              </a:rPr>
              <a:t> </a:t>
            </a:r>
            <a:r>
              <a:rPr lang="en-US" sz="1200" b="0">
                <a:solidFill>
                  <a:srgbClr val="000000"/>
                </a:solidFill>
                <a:latin typeface="Aptos Mono"/>
              </a:rPr>
              <a:t>locate</a:t>
            </a:r>
            <a:r>
              <a:rPr lang="en-US" sz="1200" b="0">
                <a:solidFill>
                  <a:srgbClr val="000000"/>
                </a:solidFill>
              </a:rPr>
              <a:t>, </a:t>
            </a:r>
            <a:r>
              <a:rPr lang="en-US" sz="1200" b="0">
                <a:solidFill>
                  <a:srgbClr val="000000"/>
                </a:solidFill>
                <a:latin typeface="Aptos Mono"/>
              </a:rPr>
              <a:t>source</a:t>
            </a:r>
            <a:r>
              <a:rPr lang="en-US" sz="1200" b="0">
                <a:solidFill>
                  <a:srgbClr val="000000"/>
                </a:solidFill>
              </a:rPr>
              <a:t>, </a:t>
            </a:r>
            <a:r>
              <a:rPr lang="en-US" sz="1200" b="0">
                <a:solidFill>
                  <a:srgbClr val="000000"/>
                </a:solidFill>
                <a:latin typeface="Aptos Mono"/>
              </a:rPr>
              <a:t>callers</a:t>
            </a:r>
            <a:r>
              <a:rPr lang="en-US" sz="1200" b="0">
                <a:solidFill>
                  <a:srgbClr val="000000"/>
                </a:solidFill>
              </a:rPr>
              <a:t>, </a:t>
            </a:r>
            <a:r>
              <a:rPr lang="en-US" sz="1200" b="0">
                <a:solidFill>
                  <a:srgbClr val="000000"/>
                </a:solidFill>
                <a:latin typeface="Aptos Mono"/>
              </a:rPr>
              <a:t>callees</a:t>
            </a:r>
            <a:r>
              <a:rPr lang="en-US" sz="1200" b="0">
                <a:solidFill>
                  <a:srgbClr val="000000"/>
                </a:solidFill>
              </a:rPr>
              <a:t>, </a:t>
            </a:r>
            <a:r>
              <a:rPr lang="en-US" sz="1200" b="0">
                <a:solidFill>
                  <a:srgbClr val="000000"/>
                </a:solidFill>
                <a:latin typeface="Aptos Mono"/>
              </a:rPr>
              <a:t>dataflow</a:t>
            </a:r>
            <a:r>
              <a:rPr lang="en-US" sz="1200" b="0">
                <a:solidFill>
                  <a:srgbClr val="000000"/>
                </a:solidFill>
              </a:rPr>
              <a:t>, </a:t>
            </a:r>
            <a:r>
              <a:rPr lang="en-US" sz="1200" b="0">
                <a:solidFill>
                  <a:srgbClr val="000000"/>
                </a:solidFill>
                <a:latin typeface="Aptos Mono"/>
              </a:rPr>
              <a:t>entry_points</a:t>
            </a:r>
            <a:r>
              <a:rPr lang="en-US" sz="1200" b="0">
                <a:solidFill>
                  <a:srgbClr val="000000"/>
                </a:solidFill>
              </a:rPr>
              <a:t>, with contracts the brief fixes.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Text tools from HW1:</a:t>
            </a:r>
            <a:r>
              <a:rPr lang="en-US" sz="1200" b="0">
                <a:solidFill>
                  <a:srgbClr val="000000"/>
                </a:solidFill>
              </a:rPr>
              <a:t> </a:t>
            </a:r>
            <a:r>
              <a:rPr lang="en-US" sz="1200" b="0">
                <a:solidFill>
                  <a:srgbClr val="000000"/>
                </a:solidFill>
                <a:latin typeface="Aptos Mono"/>
              </a:rPr>
              <a:t>read_file</a:t>
            </a:r>
            <a:r>
              <a:rPr lang="en-US" sz="1200" b="0">
                <a:solidFill>
                  <a:srgbClr val="000000"/>
                </a:solidFill>
              </a:rPr>
              <a:t> and </a:t>
            </a:r>
            <a:r>
              <a:rPr lang="en-US" sz="1200" b="0">
                <a:solidFill>
                  <a:srgbClr val="000000"/>
                </a:solidFill>
                <a:latin typeface="Aptos Mono"/>
              </a:rPr>
              <a:t>search</a:t>
            </a:r>
            <a:r>
              <a:rPr lang="en-US" sz="1200" b="0">
                <a:solidFill>
                  <a:srgbClr val="000000"/>
                </a:solidFill>
              </a:rPr>
              <a:t>, whose use the report counts.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 tools:</a:t>
            </a:r>
            <a:r>
              <a:rPr lang="en-US" sz="1200" b="0">
                <a:solidFill>
                  <a:srgbClr val="000000"/>
                </a:solidFill>
              </a:rPr>
              <a:t> </a:t>
            </a:r>
            <a:r>
              <a:rPr lang="en-US" sz="1200" b="0">
                <a:solidFill>
                  <a:srgbClr val="000000"/>
                </a:solidFill>
                <a:latin typeface="Aptos Mono"/>
              </a:rPr>
              <a:t>edit</a:t>
            </a:r>
            <a:r>
              <a:rPr lang="en-US" sz="1200" b="0">
                <a:solidFill>
                  <a:srgbClr val="000000"/>
                </a:solidFill>
              </a:rPr>
              <a:t> and </a:t>
            </a:r>
            <a:r>
              <a:rPr lang="en-US" sz="1200" b="0">
                <a:solidFill>
                  <a:srgbClr val="000000"/>
                </a:solidFill>
                <a:latin typeface="Aptos Mono"/>
              </a:rPr>
              <a:t>rescan</a:t>
            </a:r>
            <a:r>
              <a:rPr lang="en-US" sz="1200" b="0">
                <a:solidFill>
                  <a:srgbClr val="000000"/>
                </a:solidFill>
              </a:rPr>
              <a:t>, with a patch accepted by three checks.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Every tool has an argument schema, a result schema and listed refusal cases.</a:t>
            </a:r>
            <a:endParaRPr/>
          </a:p>
        </p:txBody>
      </p:sp>
      <p:pic>
        <p:nvPicPr>
          <p:cNvPr id="5" name="Picture 1260919718" descr="three-groups-3.png"/>
          <p:cNvPicPr>
            <a:picLocks noChangeAspect="1"/>
          </p:cNvPicPr>
          <p:nvPr/>
        </p:nvPicPr>
        <p:blipFill>
          <a:blip r:embed="rId3"/>
          <a:stretch>
            <a:fillRect/>
          </a:stretch>
        </p:blipFill>
        <p:spPr>
          <a:xfrm>
            <a:off x="320040" y="201238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Only labelled alerts are patched.</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Discovery,</a:t>
            </a:r>
            <a:r>
              <a:rPr lang="en-US" sz="1200" b="0">
                <a:solidFill>
                  <a:srgbClr val="000000"/>
                </a:solidFill>
              </a:rPr>
              <a:t> Bandit over the scan block, as in HW1.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Classification,</a:t>
            </a:r>
            <a:r>
              <a:rPr lang="en-US" sz="1200" b="0">
                <a:solidFill>
                  <a:srgbClr val="FFFFFF">
                    <a:alpha val="0"/>
                  </a:srgbClr>
                </a:solidFill>
              </a:rPr>
              <a:t> now with the analysis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Remediation,</a:t>
            </a:r>
            <a:r>
              <a:rPr lang="en-US" sz="1200" b="0">
                <a:solidFill>
                  <a:srgbClr val="FFFFFF">
                    <a:alpha val="0"/>
                  </a:srgbClr>
                </a:solidFill>
              </a:rPr>
              <a:t> for alerts labelled 1 only: the runtime decides from the label, and the trace records it.</a:t>
            </a:r>
            <a:endParaRPr>
              <a:solidFill>
                <a:srgbClr val="FFFFFF">
                  <a:alpha val="0"/>
                </a:srgbClr>
              </a:solidFill>
            </a:endParaRPr>
          </a:p>
        </p:txBody>
      </p:sp>
      <p:pic>
        <p:nvPicPr>
          <p:cNvPr id="4" name="Picture 1260919718" descr="stages-1.png"/>
          <p:cNvPicPr>
            <a:picLocks noChangeAspect="1"/>
          </p:cNvPicPr>
          <p:nvPr/>
        </p:nvPicPr>
        <p:blipFill>
          <a:blip r:embed="rId3"/>
          <a:stretch>
            <a:fillRect/>
          </a:stretch>
        </p:blipFill>
        <p:spPr>
          <a:xfrm>
            <a:off x="479412" y="2012383"/>
            <a:ext cx="5698008" cy="2025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Only labelled alerts are patched.</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Discovery,</a:t>
            </a:r>
            <a:r>
              <a:rPr lang="en-US" sz="1200" b="0">
                <a:solidFill>
                  <a:srgbClr val="000000"/>
                </a:solidFill>
              </a:rPr>
              <a:t> Bandit over the scan block, as in HW1.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Classification,</a:t>
            </a:r>
            <a:r>
              <a:rPr lang="en-US" sz="1200" b="0">
                <a:solidFill>
                  <a:srgbClr val="000000"/>
                </a:solidFill>
              </a:rPr>
              <a:t> now with the analysis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Remediation,</a:t>
            </a:r>
            <a:r>
              <a:rPr lang="en-US" sz="1200" b="0">
                <a:solidFill>
                  <a:srgbClr val="FFFFFF">
                    <a:alpha val="0"/>
                  </a:srgbClr>
                </a:solidFill>
              </a:rPr>
              <a:t> for alerts labelled 1 only: the runtime decides from the label, and the trace records it.</a:t>
            </a:r>
            <a:endParaRPr>
              <a:solidFill>
                <a:srgbClr val="FFFFFF">
                  <a:alpha val="0"/>
                </a:srgbClr>
              </a:solidFill>
            </a:endParaRPr>
          </a:p>
        </p:txBody>
      </p:sp>
      <p:pic>
        <p:nvPicPr>
          <p:cNvPr id="4" name="Picture 1260919718" descr="stages-1.png"/>
          <p:cNvPicPr>
            <a:picLocks noChangeAspect="1"/>
          </p:cNvPicPr>
          <p:nvPr/>
        </p:nvPicPr>
        <p:blipFill>
          <a:blip r:embed="rId3"/>
          <a:stretch>
            <a:fillRect/>
          </a:stretch>
        </p:blipFill>
        <p:spPr>
          <a:xfrm>
            <a:off x="479412" y="2012383"/>
            <a:ext cx="5698008" cy="2025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Only labelled alerts are patched.</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Discovery,</a:t>
            </a:r>
            <a:r>
              <a:rPr lang="en-US" sz="1200" b="0">
                <a:solidFill>
                  <a:srgbClr val="000000"/>
                </a:solidFill>
              </a:rPr>
              <a:t> Bandit over the scan block, as in HW1.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Classification,</a:t>
            </a:r>
            <a:r>
              <a:rPr lang="en-US" sz="1200" b="0">
                <a:solidFill>
                  <a:srgbClr val="000000"/>
                </a:solidFill>
              </a:rPr>
              <a:t> now with the analysis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Remediation,</a:t>
            </a:r>
            <a:r>
              <a:rPr lang="en-US" sz="1200" b="0">
                <a:solidFill>
                  <a:srgbClr val="000000"/>
                </a:solidFill>
              </a:rPr>
              <a:t> for alerts labelled 1 only: the runtime decides from the label, and the trace records it.</a:t>
            </a:r>
            <a:endParaRPr/>
          </a:p>
        </p:txBody>
      </p:sp>
      <p:pic>
        <p:nvPicPr>
          <p:cNvPr id="4" name="Picture 1260919718" descr="stages-2.png"/>
          <p:cNvPicPr>
            <a:picLocks noChangeAspect="1"/>
          </p:cNvPicPr>
          <p:nvPr/>
        </p:nvPicPr>
        <p:blipFill>
          <a:blip r:embed="rId3"/>
          <a:stretch>
            <a:fillRect/>
          </a:stretch>
        </p:blipFill>
        <p:spPr>
          <a:xfrm>
            <a:off x="479412" y="2012383"/>
            <a:ext cx="5698008" cy="2025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Only labelled alerts are patched.</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Discovery,</a:t>
            </a:r>
            <a:r>
              <a:rPr lang="en-US" sz="1200" b="0">
                <a:solidFill>
                  <a:srgbClr val="000000"/>
                </a:solidFill>
              </a:rPr>
              <a:t> Bandit over the scan block, as in HW1.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Classification,</a:t>
            </a:r>
            <a:r>
              <a:rPr lang="en-US" sz="1200" b="0">
                <a:solidFill>
                  <a:srgbClr val="000000"/>
                </a:solidFill>
              </a:rPr>
              <a:t> now with the analysis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Remediation,</a:t>
            </a:r>
            <a:r>
              <a:rPr lang="en-US" sz="1200" b="0">
                <a:solidFill>
                  <a:srgbClr val="000000"/>
                </a:solidFill>
              </a:rPr>
              <a:t> for alerts labelled 1 only: the runtime decides from the label, and the trace records it.</a:t>
            </a:r>
            <a:endParaRPr/>
          </a:p>
        </p:txBody>
      </p:sp>
      <p:pic>
        <p:nvPicPr>
          <p:cNvPr id="4" name="Picture 1260919718" descr="stages-3.png"/>
          <p:cNvPicPr>
            <a:picLocks noChangeAspect="1"/>
          </p:cNvPicPr>
          <p:nvPr/>
        </p:nvPicPr>
        <p:blipFill>
          <a:blip r:embed="rId3"/>
          <a:stretch>
            <a:fillRect/>
          </a:stretch>
        </p:blipFill>
        <p:spPr>
          <a:xfrm>
            <a:off x="479412" y="2012383"/>
            <a:ext cx="5698008" cy="2025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Only labelled alerts are patched.</a:t>
            </a:r>
          </a:p>
        </p:txBody>
      </p:sp>
      <p:sp>
        <p:nvSpPr>
          <p:cNvPr id="3" name="Content Placeholder 2"/>
          <p:cNvSpPr>
            <a:spLocks noGrp="1"/>
          </p:cNvSpPr>
          <p:nvPr>
            <p:ph idx="1"/>
          </p:nvPr>
        </p:nvSpPr>
        <p:spPr bwMode="auto">
          <a:xfrm>
            <a:off x="320040" y="658368"/>
            <a:ext cx="6016752" cy="10515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Discovery,</a:t>
            </a:r>
            <a:r>
              <a:rPr lang="en-US" sz="1200" b="0">
                <a:solidFill>
                  <a:srgbClr val="000000"/>
                </a:solidFill>
              </a:rPr>
              <a:t> Bandit over the scan block, as in HW1.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Classification,</a:t>
            </a:r>
            <a:r>
              <a:rPr lang="en-US" sz="1200" b="0">
                <a:solidFill>
                  <a:srgbClr val="000000"/>
                </a:solidFill>
              </a:rPr>
              <a:t> now with the analysis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Remediation,</a:t>
            </a:r>
            <a:r>
              <a:rPr lang="en-US" sz="1200" b="0">
                <a:solidFill>
                  <a:srgbClr val="000000"/>
                </a:solidFill>
              </a:rPr>
              <a:t> for alerts labelled 1 only: the runtime decides from the label, and the trace records it.</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patch applies cleanly, touches the flagged line, and a fresh rescan no longer reports the rule.</a:t>
            </a:r>
            <a:endParaRPr/>
          </a:p>
        </p:txBody>
      </p:sp>
      <p:pic>
        <p:nvPicPr>
          <p:cNvPr id="5" name="Picture 1260919718" descr="stages-3.png"/>
          <p:cNvPicPr>
            <a:picLocks noChangeAspect="1"/>
          </p:cNvPicPr>
          <p:nvPr/>
        </p:nvPicPr>
        <p:blipFill>
          <a:blip r:embed="rId3"/>
          <a:stretch>
            <a:fillRect/>
          </a:stretch>
        </p:blipFill>
        <p:spPr>
          <a:xfrm>
            <a:off x="479412" y="2012383"/>
            <a:ext cx="5698008" cy="202547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HW2: the guardrails</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1540695"/>
          </a:xfrm>
          <a:prstGeom prst="rect">
            <a:avLst/>
          </a:prstGeom>
        </p:spPr>
      </p:pic>
      <p:pic>
        <p:nvPicPr>
          <p:cNvPr id="15" name="Picture 13" descr="image.png"/>
          <p:cNvPicPr>
            <a:picLocks noChangeAspect="1"/>
          </p:cNvPicPr>
          <p:nvPr/>
        </p:nvPicPr>
        <p:blipFill rotWithShape="1">
          <a:blip r:embed="rId3">
            <a:alphaModFix amt="70000"/>
          </a:blip>
          <a:stretch/>
        </p:blipFill>
        <p:spPr bwMode="auto">
          <a:xfrm>
            <a:off x="822960" y="3774362"/>
            <a:ext cx="5733288" cy="78849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rule has a fixed and a per-alert part.</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Read:</a:t>
            </a:r>
            <a:r>
              <a:rPr lang="en-US" sz="1200" b="0">
                <a:solidFill>
                  <a:srgbClr val="000000"/>
                </a:solidFill>
              </a:rPr>
              <a:t> only the target's code. Never </a:t>
            </a:r>
            <a:r>
              <a:rPr lang="en-US" sz="1200" b="0">
                <a:solidFill>
                  <a:srgbClr val="000000"/>
                </a:solidFill>
                <a:latin typeface="Aptos Mono"/>
              </a:rPr>
              <a:t>.git</a:t>
            </a:r>
            <a:r>
              <a:rPr lang="en-US" sz="1200" b="0">
                <a:solidFill>
                  <a:srgbClr val="000000"/>
                </a:solidFill>
              </a:rPr>
              <a:t>, never the answer key, and never a case other than the open one.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Write:</a:t>
            </a:r>
            <a:r>
              <a:rPr lang="en-US" sz="1200" b="0">
                <a:solidFill>
                  <a:srgbClr val="FFFFFF">
                    <a:alpha val="0"/>
                  </a:srgbClr>
                </a:solidFill>
              </a:rPr>
              <a:t> only inside the workspace copy, and only the file of the alert being fixed. The agent never runs the target.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Network:</a:t>
            </a:r>
            <a:r>
              <a:rPr lang="en-US" sz="1200" b="0">
                <a:solidFill>
                  <a:srgbClr val="FFFFFF">
                    <a:alpha val="0"/>
                  </a:srgbClr>
                </a:solidFill>
              </a:rPr>
              <a:t> only the model provider.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Fixed parts are set before the run,</a:t>
            </a:r>
            <a:r>
              <a:rPr lang="en-US" sz="1200" b="0">
                <a:solidFill>
                  <a:srgbClr val="FFFFFF">
                    <a:alpha val="0"/>
                  </a:srgbClr>
                </a:solidFill>
              </a:rPr>
              <a:t> and per-alert parts change with every alert.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rule has a fixed and a per-alert part.</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Read:</a:t>
            </a:r>
            <a:r>
              <a:rPr lang="en-US" sz="1200" b="0">
                <a:solidFill>
                  <a:srgbClr val="000000"/>
                </a:solidFill>
              </a:rPr>
              <a:t> only the target's code. Never </a:t>
            </a:r>
            <a:r>
              <a:rPr lang="en-US" sz="1200" b="0">
                <a:solidFill>
                  <a:srgbClr val="000000"/>
                </a:solidFill>
                <a:latin typeface="Aptos Mono"/>
              </a:rPr>
              <a:t>.git</a:t>
            </a:r>
            <a:r>
              <a:rPr lang="en-US" sz="1200" b="0">
                <a:solidFill>
                  <a:srgbClr val="000000"/>
                </a:solidFill>
              </a:rPr>
              <a:t>, never the answer key, and never a case other than the open one.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a:t>
            </a:r>
            <a:r>
              <a:rPr lang="en-US" sz="1200" b="0">
                <a:solidFill>
                  <a:srgbClr val="000000"/>
                </a:solidFill>
              </a:rPr>
              <a:t> only inside the workspace copy, and only the file of the alert being fixed. The agent never runs the target.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Network:</a:t>
            </a:r>
            <a:r>
              <a:rPr lang="en-US" sz="1200" b="0">
                <a:solidFill>
                  <a:srgbClr val="FFFFFF">
                    <a:alpha val="0"/>
                  </a:srgbClr>
                </a:solidFill>
              </a:rPr>
              <a:t> only the model provider.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Fixed parts are set before the run,</a:t>
            </a:r>
            <a:r>
              <a:rPr lang="en-US" sz="1200" b="0">
                <a:solidFill>
                  <a:srgbClr val="FFFFFF">
                    <a:alpha val="0"/>
                  </a:srgbClr>
                </a:solidFill>
              </a:rPr>
              <a:t> and per-alert parts change with every alert.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rule has a fixed and a per-alert part.</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Read:</a:t>
            </a:r>
            <a:r>
              <a:rPr lang="en-US" sz="1200" b="0">
                <a:solidFill>
                  <a:srgbClr val="000000"/>
                </a:solidFill>
              </a:rPr>
              <a:t> only the target's code. Never </a:t>
            </a:r>
            <a:r>
              <a:rPr lang="en-US" sz="1200" b="0">
                <a:solidFill>
                  <a:srgbClr val="000000"/>
                </a:solidFill>
                <a:latin typeface="Aptos Mono"/>
              </a:rPr>
              <a:t>.git</a:t>
            </a:r>
            <a:r>
              <a:rPr lang="en-US" sz="1200" b="0">
                <a:solidFill>
                  <a:srgbClr val="000000"/>
                </a:solidFill>
              </a:rPr>
              <a:t>, never the answer key, and never a case other than the open one.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a:t>
            </a:r>
            <a:r>
              <a:rPr lang="en-US" sz="1200" b="0">
                <a:solidFill>
                  <a:srgbClr val="000000"/>
                </a:solidFill>
              </a:rPr>
              <a:t> only inside the workspace copy, and only the file of the alert being fixed. The agent never runs the target.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Network:</a:t>
            </a:r>
            <a:r>
              <a:rPr lang="en-US" sz="1200" b="0">
                <a:solidFill>
                  <a:srgbClr val="000000"/>
                </a:solidFill>
              </a:rPr>
              <a:t> only the model provider.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Fixed parts are set before the run,</a:t>
            </a:r>
            <a:r>
              <a:rPr lang="en-US" sz="1200" b="0">
                <a:solidFill>
                  <a:srgbClr val="FFFFFF">
                    <a:alpha val="0"/>
                  </a:srgbClr>
                </a:solidFill>
              </a:rPr>
              <a:t> and per-alert parts change with every alert.</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rule has a fixed and a per-alert part.</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Read:</a:t>
            </a:r>
            <a:r>
              <a:rPr lang="en-US" sz="1200" b="0">
                <a:solidFill>
                  <a:srgbClr val="000000"/>
                </a:solidFill>
              </a:rPr>
              <a:t> only the target's code. Never </a:t>
            </a:r>
            <a:r>
              <a:rPr lang="en-US" sz="1200" b="0">
                <a:solidFill>
                  <a:srgbClr val="000000"/>
                </a:solidFill>
                <a:latin typeface="Aptos Mono"/>
              </a:rPr>
              <a:t>.git</a:t>
            </a:r>
            <a:r>
              <a:rPr lang="en-US" sz="1200" b="0">
                <a:solidFill>
                  <a:srgbClr val="000000"/>
                </a:solidFill>
              </a:rPr>
              <a:t>, never the answer key, and never a case other than the open one.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a:t>
            </a:r>
            <a:r>
              <a:rPr lang="en-US" sz="1200" b="0">
                <a:solidFill>
                  <a:srgbClr val="000000"/>
                </a:solidFill>
              </a:rPr>
              <a:t> only inside the workspace copy, and only the file of the alert being fixed. The agent never runs the target.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Network:</a:t>
            </a:r>
            <a:r>
              <a:rPr lang="en-US" sz="1200" b="0">
                <a:solidFill>
                  <a:srgbClr val="000000"/>
                </a:solidFill>
              </a:rPr>
              <a:t> only the model provider.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Fixed parts are set before the run,</a:t>
            </a:r>
            <a:r>
              <a:rPr lang="en-US" sz="1200" b="0">
                <a:solidFill>
                  <a:srgbClr val="000000"/>
                </a:solidFill>
              </a:rPr>
              <a:t> and per-alert parts change with every alert.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rule has a fixed and a per-alert part.</a:t>
            </a:r>
          </a:p>
        </p:txBody>
      </p:sp>
      <p:sp>
        <p:nvSpPr>
          <p:cNvPr id="3" name="Content Placeholder 2"/>
          <p:cNvSpPr>
            <a:spLocks noGrp="1"/>
          </p:cNvSpPr>
          <p:nvPr>
            <p:ph idx="1"/>
          </p:nvPr>
        </p:nvSpPr>
        <p:spPr bwMode="auto">
          <a:xfrm>
            <a:off x="320040" y="658368"/>
            <a:ext cx="6016752" cy="167639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Read:</a:t>
            </a:r>
            <a:r>
              <a:rPr lang="en-US" sz="1200" b="0">
                <a:solidFill>
                  <a:srgbClr val="000000"/>
                </a:solidFill>
              </a:rPr>
              <a:t> only the target's code. Never </a:t>
            </a:r>
            <a:r>
              <a:rPr lang="en-US" sz="1200" b="0">
                <a:solidFill>
                  <a:srgbClr val="000000"/>
                </a:solidFill>
                <a:latin typeface="Aptos Mono"/>
              </a:rPr>
              <a:t>.git</a:t>
            </a:r>
            <a:r>
              <a:rPr lang="en-US" sz="1200" b="0">
                <a:solidFill>
                  <a:srgbClr val="000000"/>
                </a:solidFill>
              </a:rPr>
              <a:t>, never the answer key, and never a case other than the open one.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Write:</a:t>
            </a:r>
            <a:r>
              <a:rPr lang="en-US" sz="1200" b="0">
                <a:solidFill>
                  <a:srgbClr val="000000"/>
                </a:solidFill>
              </a:rPr>
              <a:t> only inside the workspace copy, and only the file of the alert being fixed. The agent never runs the target.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Network:</a:t>
            </a:r>
            <a:r>
              <a:rPr lang="en-US" sz="1200" b="0">
                <a:solidFill>
                  <a:srgbClr val="000000"/>
                </a:solidFill>
              </a:rPr>
              <a:t> only the model provider.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Fixed parts are set before the run,</a:t>
            </a:r>
            <a:r>
              <a:rPr lang="en-US" sz="1200" b="0">
                <a:solidFill>
                  <a:srgbClr val="000000"/>
                </a:solidFill>
              </a:rPr>
              <a:t> and per-alert parts change with every alert.</a:t>
            </a:r>
            <a:endParaRPr/>
          </a:p>
        </p:txBody>
      </p:sp>
      <p:sp>
        <p:nvSpPr>
          <p:cNvPr id="4" name="Rectangle 4"/>
          <p:cNvSpPr/>
          <p:nvPr/>
        </p:nvSpPr>
        <p:spPr bwMode="auto">
          <a:xfrm>
            <a:off x="320040" y="257392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kernel can hold the fixed parts. Only the server can hold the per-alert parts.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server</a:t>
            </a:r>
            <a:r>
              <a:rPr lang="en-US" sz="1100" b="0">
                <a:solidFill>
                  <a:srgbClr val="FFFFFF">
                    <a:alpha val="0"/>
                  </a:srgbClr>
                </a:solidFill>
              </a:rPr>
              <a:t> checks every MCP call, with </a:t>
            </a:r>
            <a:r>
              <a:rPr lang="en-US" sz="1100" b="0">
                <a:solidFill>
                  <a:srgbClr val="FFFFFF">
                    <a:alpha val="0"/>
                  </a:srgbClr>
                </a:solidFill>
                <a:latin typeface="Aptos Mono"/>
              </a:rPr>
              <a:t>set_alert</a:t>
            </a:r>
            <a:r>
              <a:rPr lang="en-US" sz="1100" b="0">
                <a:solidFill>
                  <a:srgbClr val="FFFFFF">
                    <a:alpha val="0"/>
                  </a:srgbClr>
                </a:solidFill>
              </a:rPr>
              <a:t> for the per-alert parts.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kernel,</a:t>
            </a:r>
            <a:r>
              <a:rPr lang="en-US" sz="1100" b="0">
                <a:solidFill>
                  <a:srgbClr val="FFFFFF">
                    <a:alpha val="0"/>
                  </a:srgbClr>
                </a:solidFill>
              </a:rPr>
              <a:t> through OpenShell, holds the fixed parts for both agents.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code-action agent has no server,</a:t>
            </a:r>
            <a:r>
              <a:rPr lang="en-US" sz="1100" b="0">
                <a:solidFill>
                  <a:srgbClr val="FFFFFF">
                    <a:alpha val="0"/>
                  </a:srgbClr>
                </a:solidFill>
              </a:rPr>
              <a:t> so nothing holds its per-alert parts.</a:t>
            </a:r>
            <a:endParaRPr>
              <a:solidFill>
                <a:srgbClr val="FFFFFF">
                  <a:alpha val="0"/>
                </a:srgbClr>
              </a:solidFill>
            </a:endParaRPr>
          </a:p>
        </p:txBody>
      </p:sp>
      <p:pic>
        <p:nvPicPr>
          <p:cNvPr id="4" name="Picture 1260919718" descr="bypass-places-1.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The server</a:t>
            </a:r>
            <a:r>
              <a:rPr lang="en-US" sz="1100" b="0">
                <a:solidFill>
                  <a:srgbClr val="000000"/>
                </a:solidFill>
              </a:rPr>
              <a:t> checks every MCP call, with </a:t>
            </a:r>
            <a:r>
              <a:rPr lang="en-US" sz="1100" b="0">
                <a:solidFill>
                  <a:srgbClr val="000000"/>
                </a:solidFill>
                <a:latin typeface="Aptos Mono"/>
              </a:rPr>
              <a:t>set_alert</a:t>
            </a:r>
            <a:r>
              <a:rPr lang="en-US" sz="1100" b="0">
                <a:solidFill>
                  <a:srgbClr val="000000"/>
                </a:solidFill>
              </a:rPr>
              <a:t> for the per-alert parts.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kernel,</a:t>
            </a:r>
            <a:r>
              <a:rPr lang="en-US" sz="1100" b="0">
                <a:solidFill>
                  <a:srgbClr val="FFFFFF">
                    <a:alpha val="0"/>
                  </a:srgbClr>
                </a:solidFill>
              </a:rPr>
              <a:t> through OpenShell, holds the fixed parts for both agents.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code-action agent has no server,</a:t>
            </a:r>
            <a:r>
              <a:rPr lang="en-US" sz="1100" b="0">
                <a:solidFill>
                  <a:srgbClr val="FFFFFF">
                    <a:alpha val="0"/>
                  </a:srgbClr>
                </a:solidFill>
              </a:rPr>
              <a:t> so nothing holds its per-alert parts.</a:t>
            </a:r>
            <a:endParaRPr>
              <a:solidFill>
                <a:srgbClr val="FFFFFF">
                  <a:alpha val="0"/>
                </a:srgbClr>
              </a:solidFill>
            </a:endParaRPr>
          </a:p>
        </p:txBody>
      </p:sp>
      <p:pic>
        <p:nvPicPr>
          <p:cNvPr id="4" name="Picture 1260919718" descr="bypass-places-2.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The server</a:t>
            </a:r>
            <a:r>
              <a:rPr lang="en-US" sz="1100" b="0">
                <a:solidFill>
                  <a:srgbClr val="000000"/>
                </a:solidFill>
              </a:rPr>
              <a:t> checks every MCP call, with </a:t>
            </a:r>
            <a:r>
              <a:rPr lang="en-US" sz="1100" b="0">
                <a:solidFill>
                  <a:srgbClr val="000000"/>
                </a:solidFill>
                <a:latin typeface="Aptos Mono"/>
              </a:rPr>
              <a:t>set_alert</a:t>
            </a:r>
            <a:r>
              <a:rPr lang="en-US" sz="1100" b="0">
                <a:solidFill>
                  <a:srgbClr val="000000"/>
                </a:solidFill>
              </a:rPr>
              <a:t> for the per-alert parts.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kernel,</a:t>
            </a:r>
            <a:r>
              <a:rPr lang="en-US" sz="1100" b="0">
                <a:solidFill>
                  <a:srgbClr val="000000"/>
                </a:solidFill>
              </a:rPr>
              <a:t> through OpenShell, holds the fixed parts for both agents.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code-action agent has no server,</a:t>
            </a:r>
            <a:r>
              <a:rPr lang="en-US" sz="1100" b="0">
                <a:solidFill>
                  <a:srgbClr val="FFFFFF">
                    <a:alpha val="0"/>
                  </a:srgbClr>
                </a:solidFill>
              </a:rPr>
              <a:t> so nothing holds its per-alert parts.</a:t>
            </a:r>
            <a:endParaRPr>
              <a:solidFill>
                <a:srgbClr val="FFFFFF">
                  <a:alpha val="0"/>
                </a:srgbClr>
              </a:solidFill>
            </a:endParaRPr>
          </a:p>
        </p:txBody>
      </p:sp>
      <p:pic>
        <p:nvPicPr>
          <p:cNvPr id="4" name="Picture 1260919718" descr="bypass-places-3.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The server</a:t>
            </a:r>
            <a:r>
              <a:rPr lang="en-US" sz="1100" b="0">
                <a:solidFill>
                  <a:srgbClr val="000000"/>
                </a:solidFill>
              </a:rPr>
              <a:t> checks every MCP call, with </a:t>
            </a:r>
            <a:r>
              <a:rPr lang="en-US" sz="1100" b="0">
                <a:solidFill>
                  <a:srgbClr val="000000"/>
                </a:solidFill>
                <a:latin typeface="Aptos Mono"/>
              </a:rPr>
              <a:t>set_alert</a:t>
            </a:r>
            <a:r>
              <a:rPr lang="en-US" sz="1100" b="0">
                <a:solidFill>
                  <a:srgbClr val="000000"/>
                </a:solidFill>
              </a:rPr>
              <a:t> for the per-alert parts.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kernel,</a:t>
            </a:r>
            <a:r>
              <a:rPr lang="en-US" sz="1100" b="0">
                <a:solidFill>
                  <a:srgbClr val="000000"/>
                </a:solidFill>
              </a:rPr>
              <a:t> through OpenShell, holds the fixed parts for both agents.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code-action agent has no server,</a:t>
            </a:r>
            <a:r>
              <a:rPr lang="en-US" sz="1100" b="0">
                <a:solidFill>
                  <a:srgbClr val="FFFFFF">
                    <a:alpha val="0"/>
                  </a:srgbClr>
                </a:solidFill>
              </a:rPr>
              <a:t> so nothing holds its per-alert parts.</a:t>
            </a:r>
            <a:endParaRPr>
              <a:solidFill>
                <a:srgbClr val="FFFFFF">
                  <a:alpha val="0"/>
                </a:srgbClr>
              </a:solidFill>
            </a:endParaRPr>
          </a:p>
        </p:txBody>
      </p:sp>
      <p:pic>
        <p:nvPicPr>
          <p:cNvPr id="4" name="Picture 1260919718" descr="bypass-places-4.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The server</a:t>
            </a:r>
            <a:r>
              <a:rPr lang="en-US" sz="1100" b="0">
                <a:solidFill>
                  <a:srgbClr val="000000"/>
                </a:solidFill>
              </a:rPr>
              <a:t> checks every MCP call, with </a:t>
            </a:r>
            <a:r>
              <a:rPr lang="en-US" sz="1100" b="0">
                <a:solidFill>
                  <a:srgbClr val="000000"/>
                </a:solidFill>
                <a:latin typeface="Aptos Mono"/>
              </a:rPr>
              <a:t>set_alert</a:t>
            </a:r>
            <a:r>
              <a:rPr lang="en-US" sz="1100" b="0">
                <a:solidFill>
                  <a:srgbClr val="000000"/>
                </a:solidFill>
              </a:rPr>
              <a:t> for the per-alert parts.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kernel,</a:t>
            </a:r>
            <a:r>
              <a:rPr lang="en-US" sz="1100" b="0">
                <a:solidFill>
                  <a:srgbClr val="000000"/>
                </a:solidFill>
              </a:rPr>
              <a:t> through OpenShell, holds the fixed parts for both agents.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code-action agent has no server,</a:t>
            </a:r>
            <a:r>
              <a:rPr lang="en-US" sz="1100" b="0">
                <a:solidFill>
                  <a:srgbClr val="000000"/>
                </a:solidFill>
              </a:rPr>
              <a:t> so nothing holds its per-alert parts.</a:t>
            </a:r>
            <a:endParaRPr/>
          </a:p>
        </p:txBody>
      </p:sp>
      <p:pic>
        <p:nvPicPr>
          <p:cNvPr id="4" name="Picture 1260919718" descr="bypass-places-4.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each rule is enforced</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The server</a:t>
            </a:r>
            <a:r>
              <a:rPr lang="en-US" sz="1100" b="0">
                <a:solidFill>
                  <a:srgbClr val="000000"/>
                </a:solidFill>
              </a:rPr>
              <a:t> checks every MCP call, with </a:t>
            </a:r>
            <a:r>
              <a:rPr lang="en-US" sz="1100" b="0">
                <a:solidFill>
                  <a:srgbClr val="000000"/>
                </a:solidFill>
                <a:latin typeface="Aptos Mono"/>
              </a:rPr>
              <a:t>set_alert</a:t>
            </a:r>
            <a:r>
              <a:rPr lang="en-US" sz="1100" b="0">
                <a:solidFill>
                  <a:srgbClr val="000000"/>
                </a:solidFill>
              </a:rPr>
              <a:t> for the per-alert parts.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kernel,</a:t>
            </a:r>
            <a:r>
              <a:rPr lang="en-US" sz="1100" b="0">
                <a:solidFill>
                  <a:srgbClr val="000000"/>
                </a:solidFill>
              </a:rPr>
              <a:t> through OpenShell, holds the fixed parts for both agents.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code-action agent has no server,</a:t>
            </a:r>
            <a:r>
              <a:rPr lang="en-US" sz="1100" b="0">
                <a:solidFill>
                  <a:srgbClr val="000000"/>
                </a:solidFill>
              </a:rPr>
              <a:t> so nothing holds its per-alert parts.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belongs where the agent cannot reach it from inside its own process.</a:t>
            </a:r>
            <a:endParaRPr/>
          </a:p>
        </p:txBody>
      </p:sp>
      <p:pic>
        <p:nvPicPr>
          <p:cNvPr id="5" name="Picture 1260919718" descr="bypass-places-4.png"/>
          <p:cNvPicPr>
            <a:picLocks noChangeAspect="1"/>
          </p:cNvPicPr>
          <p:nvPr/>
        </p:nvPicPr>
        <p:blipFill>
          <a:blip r:embed="rId3"/>
          <a:stretch>
            <a:fillRect/>
          </a:stretch>
        </p:blipFill>
        <p:spPr>
          <a:xfrm>
            <a:off x="518769" y="1749493"/>
            <a:ext cx="5619294" cy="243467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policy you run under</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Allow-lists:</a:t>
            </a:r>
            <a:r>
              <a:rPr lang="en-US" sz="1100" b="0">
                <a:solidFill>
                  <a:srgbClr val="000000"/>
                </a:solidFill>
              </a:rPr>
              <a:t> no grant on the target root, so reading the key or </a:t>
            </a:r>
            <a:r>
              <a:rPr lang="en-US" sz="1100" b="0">
                <a:solidFill>
                  <a:srgbClr val="000000"/>
                </a:solidFill>
                <a:latin typeface="Aptos Mono"/>
              </a:rPr>
              <a:t>.git</a:t>
            </a:r>
            <a:r>
              <a:rPr lang="en-US" sz="1100" b="0">
                <a:solidFill>
                  <a:srgbClr val="000000"/>
                </a:solidFill>
              </a:rPr>
              <a:t> fails.</a:t>
            </a:r>
            <a:endParaRPr/>
          </a:p>
          <a:p>
            <a:pPr marL="342900" indent="-228600">
              <a:spcBef>
                <a:spcPts val="300"/>
              </a:spcBef>
              <a:spcAft>
                <a:spcPts val="300"/>
              </a:spcAft>
              <a:buClr>
                <a:srgbClr val="28285E"/>
              </a:buClr>
              <a:buSzPts val="1100"/>
              <a:buFont typeface="+mn-lt"/>
              <a:buNone/>
              <a:defRPr/>
            </a:pPr>
            <a:r>
              <a:rPr lang="en-US" sz="1100" b="0">
                <a:solidFill>
                  <a:srgbClr val="FFFFFF">
                    <a:alpha val="0"/>
                  </a:srgbClr>
                </a:solidFill>
                <a:latin typeface="Aptos Mono"/>
              </a:rPr>
              <a:t>hard_requirement</a:t>
            </a:r>
            <a:r>
              <a:rPr lang="en-US" sz="1100" b="1">
                <a:solidFill>
                  <a:srgbClr val="FFFFFF">
                    <a:alpha val="0"/>
                  </a:srgbClr>
                </a:solidFill>
              </a:rPr>
              <a:t>:</a:t>
            </a:r>
            <a:r>
              <a:rPr lang="en-US" sz="1100" b="0">
                <a:solidFill>
                  <a:srgbClr val="FFFFFF">
                    <a:alpha val="0"/>
                  </a:srgbClr>
                </a:solidFill>
              </a:rPr>
              <a:t> a policy the kernel cannot enforce fails the start.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One endpoint for Python:</a:t>
            </a:r>
            <a:r>
              <a:rPr lang="en-US" sz="1100" b="0">
                <a:solidFill>
                  <a:srgbClr val="FFFFFF">
                    <a:alpha val="0"/>
                  </a:srgbClr>
                </a:solidFill>
              </a:rPr>
              <a:t> the provider, or a model server on the host.</a:t>
            </a:r>
            <a:endParaRPr>
              <a:solidFill>
                <a:srgbClr val="FFFFFF">
                  <a:alpha val="0"/>
                </a:srgbClr>
              </a:solidFill>
            </a:endParaRPr>
          </a:p>
        </p:txBody>
      </p:sp>
      <p:sp>
        <p:nvSpPr>
          <p:cNvPr id="4" name="CodeWindow"/>
          <p:cNvSpPr/>
          <p:nvPr/>
        </p:nvSpPr>
        <p:spPr bwMode="auto">
          <a:xfrm>
            <a:off x="320040" y="1749493"/>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14669"/>
            <a:ext cx="6016752" cy="0"/>
          </a:xfrm>
          <a:prstGeom prst="line">
            <a:avLst/>
          </a:prstGeom>
          <a:ln w="9525">
            <a:solidFill>
              <a:srgbClr val="DCDCDC"/>
            </a:solidFill>
          </a:ln>
        </p:spPr>
      </p:cxnSp>
      <p:sp>
        <p:nvSpPr>
          <p:cNvPr id="6" name="WinDot 0"/>
          <p:cNvSpPr/>
          <p:nvPr/>
        </p:nvSpPr>
        <p:spPr bwMode="auto">
          <a:xfrm>
            <a:off x="411480" y="1831789"/>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31789"/>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31789"/>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90641"/>
            <a:ext cx="5349240" cy="182880"/>
          </a:xfrm>
          <a:prstGeom prst="rect">
            <a:avLst/>
          </a:prstGeom>
          <a:noFill/>
        </p:spPr>
        <p:txBody>
          <a:bodyPr wrap="square" lIns="0" tIns="0" rIns="0" bIns="0" anchor="ctr">
            <a:noAutofit/>
          </a:bodyPr>
          <a:lstStyle/>
          <a:p>
            <a:pPr algn="l">
              <a:defRPr/>
            </a:pPr>
            <a:r>
              <a:rPr sz="850" b="0">
                <a:solidFill>
                  <a:srgbClr val="5B6673"/>
                </a:solidFill>
              </a:rPr>
              <a:t>policy.yaml: the OWASP policy, verified in an OpenShell sandbox on October 15</a:t>
            </a:r>
            <a:endParaRPr/>
          </a:p>
        </p:txBody>
      </p:sp>
      <p:sp>
        <p:nvSpPr>
          <p:cNvPr id="10" name="TextBox 7"/>
          <p:cNvSpPr txBox="1"/>
          <p:nvPr/>
        </p:nvSpPr>
        <p:spPr bwMode="auto">
          <a:xfrm>
            <a:off x="466344" y="2078677"/>
            <a:ext cx="5724144" cy="1973844"/>
          </a:xfrm>
          <a:prstGeom prst="rect">
            <a:avLst/>
          </a:prstGeom>
          <a:noFill/>
        </p:spPr>
        <p:txBody>
          <a:bodyPr wrap="none" lIns="0" tIns="0" rIns="0" bIns="0">
            <a:spAutoFit/>
          </a:bodyPr>
          <a:lstStyle/>
          <a:p>
            <a:r>
              <a:rPr lang="en-US" sz="700" b="0">
                <a:solidFill>
                  <a:srgbClr val="0451A5"/>
                </a:solidFill>
                <a:latin typeface="Aptos Mono"/>
              </a:rPr>
              <a:t>version</a:t>
            </a:r>
            <a:r>
              <a:rPr lang="en-US" sz="700" b="0">
                <a:solidFill>
                  <a:srgbClr val="000000"/>
                </a:solidFill>
                <a:latin typeface="Aptos Mono"/>
              </a:rPr>
              <a:t>: </a:t>
            </a:r>
            <a:r>
              <a:rPr lang="en-US" sz="700" b="0">
                <a:solidFill>
                  <a:srgbClr val="098658"/>
                </a:solidFill>
                <a:latin typeface="Aptos Mono"/>
              </a:rPr>
              <a:t>1</a:t>
            </a:r>
            <a:endParaRPr/>
          </a:p>
          <a:p>
            <a:r>
              <a:rPr lang="en-US" sz="700" b="0">
                <a:solidFill>
                  <a:srgbClr val="0451A5"/>
                </a:solidFill>
                <a:latin typeface="Aptos Mono"/>
              </a:rPr>
              <a:t>filesystem_policy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include_workdir</a:t>
            </a:r>
            <a:r>
              <a:rPr lang="en-US" sz="700" b="0">
                <a:solidFill>
                  <a:srgbClr val="000000"/>
                </a:solidFill>
                <a:latin typeface="Aptos Mono"/>
              </a:rPr>
              <a:t>:</a:t>
            </a:r>
            <a:r>
              <a:rPr lang="en-US" sz="700" b="0">
                <a:solidFill>
                  <a:srgbClr val="A31515"/>
                </a:solidFill>
                <a:latin typeface="Aptos Mono"/>
              </a:rPr>
              <a:t> true</a:t>
            </a:r>
            <a:endParaRPr/>
          </a:p>
          <a:p>
            <a:r>
              <a:rPr lang="en-US" sz="700" b="0">
                <a:solidFill>
                  <a:srgbClr val="000000"/>
                </a:solidFill>
                <a:latin typeface="Aptos Mono"/>
              </a:rPr>
              <a:t>  </a:t>
            </a:r>
            <a:r>
              <a:rPr lang="en-US" sz="700" b="0">
                <a:solidFill>
                  <a:srgbClr val="0451A5"/>
                </a:solidFill>
                <a:latin typeface="Aptos Mono"/>
              </a:rPr>
              <a:t>read_only</a:t>
            </a:r>
            <a:r>
              <a:rPr lang="en-US" sz="700" b="0">
                <a:solidFill>
                  <a:srgbClr val="000000"/>
                </a:solidFill>
                <a:latin typeface="Aptos Mono"/>
              </a:rPr>
              <a:t>: [</a:t>
            </a:r>
            <a:r>
              <a:rPr lang="en-US" sz="700" b="0">
                <a:solidFill>
                  <a:srgbClr val="A31515"/>
                </a:solidFill>
                <a:latin typeface="Aptos Mono"/>
              </a:rPr>
              <a:t>/bin</a:t>
            </a:r>
            <a:r>
              <a:rPr lang="en-US" sz="700" b="0">
                <a:solidFill>
                  <a:srgbClr val="000000"/>
                </a:solidFill>
                <a:latin typeface="Aptos Mono"/>
              </a:rPr>
              <a:t>,</a:t>
            </a:r>
            <a:r>
              <a:rPr lang="en-US" sz="700" b="0">
                <a:solidFill>
                  <a:srgbClr val="A31515"/>
                </a:solidFill>
                <a:latin typeface="Aptos Mono"/>
              </a:rPr>
              <a:t> /usr</a:t>
            </a:r>
            <a:r>
              <a:rPr lang="en-US" sz="700" b="0">
                <a:solidFill>
                  <a:srgbClr val="000000"/>
                </a:solidFill>
                <a:latin typeface="Aptos Mono"/>
              </a:rPr>
              <a:t>,</a:t>
            </a:r>
            <a:r>
              <a:rPr lang="en-US" sz="700" b="0">
                <a:solidFill>
                  <a:srgbClr val="A31515"/>
                </a:solidFill>
                <a:latin typeface="Aptos Mono"/>
              </a:rPr>
              <a:t> /lib</a:t>
            </a:r>
            <a:r>
              <a:rPr lang="en-US" sz="700" b="0">
                <a:solidFill>
                  <a:srgbClr val="000000"/>
                </a:solidFill>
                <a:latin typeface="Aptos Mono"/>
              </a:rPr>
              <a:t>,</a:t>
            </a:r>
            <a:r>
              <a:rPr lang="en-US" sz="700" b="0">
                <a:solidFill>
                  <a:srgbClr val="A31515"/>
                </a:solidFill>
                <a:latin typeface="Aptos Mono"/>
              </a:rPr>
              <a:t> /lib64</a:t>
            </a:r>
            <a:r>
              <a:rPr lang="en-US" sz="700" b="0">
                <a:solidFill>
                  <a:srgbClr val="000000"/>
                </a:solidFill>
                <a:latin typeface="Aptos Mono"/>
              </a:rPr>
              <a:t>,</a:t>
            </a:r>
            <a:r>
              <a:rPr lang="en-US" sz="700" b="0">
                <a:solidFill>
                  <a:srgbClr val="A31515"/>
                </a:solidFill>
                <a:latin typeface="Aptos Mono"/>
              </a:rPr>
              <a:t> /etc</a:t>
            </a:r>
            <a:r>
              <a:rPr lang="en-US" sz="700" b="0">
                <a:solidFill>
                  <a:srgbClr val="000000"/>
                </a:solidFill>
                <a:latin typeface="Aptos Mono"/>
              </a:rPr>
              <a:t>,</a:t>
            </a:r>
            <a:r>
              <a:rPr lang="en-US" sz="700" b="0">
                <a:solidFill>
                  <a:srgbClr val="A31515"/>
                </a:solidFill>
                <a:latin typeface="Aptos Mono"/>
              </a:rPr>
              <a:t> /proc</a:t>
            </a:r>
            <a:r>
              <a:rPr lang="en-US" sz="700" b="0">
                <a:solidFill>
                  <a:srgbClr val="000000"/>
                </a:solidFill>
                <a:latin typeface="Aptos Mono"/>
              </a:rPr>
              <a:t>,</a:t>
            </a:r>
            <a:r>
              <a:rPr lang="en-US" sz="700" b="0">
                <a:solidFill>
                  <a:srgbClr val="A31515"/>
                </a:solidFill>
                <a:latin typeface="Aptos Mono"/>
              </a:rPr>
              <a:t> /dev/urandom</a:t>
            </a:r>
            <a:r>
              <a:rPr lang="en-US" sz="700" b="0">
                <a:solidFill>
                  <a:srgbClr val="000000"/>
                </a:solidFill>
                <a:latin typeface="Aptos Mono"/>
              </a:rPr>
              <a:t>,</a:t>
            </a:r>
            <a:r>
              <a:rPr lang="en-US" sz="700" b="0">
                <a:solidFill>
                  <a:srgbClr val="A31515"/>
                </a:solidFill>
                <a:latin typeface="Aptos Mono"/>
              </a:rPr>
              <a:t> /app</a:t>
            </a:r>
            <a:r>
              <a:rPr lang="en-US" sz="700" b="0">
                <a:solidFill>
                  <a:srgbClr val="000000"/>
                </a:solidFill>
                <a:latin typeface="Aptos Mono"/>
              </a:rPr>
              <a:t>,</a:t>
            </a:r>
            <a:endParaRPr/>
          </a:p>
          <a:p>
            <a:r>
              <a:rPr lang="en-US" sz="700" b="0">
                <a:solidFill>
                  <a:srgbClr val="A31515"/>
                </a:solidFill>
                <a:latin typeface="Aptos Mono"/>
              </a:rPr>
              <a:t>              /target/testcode</a:t>
            </a:r>
            <a:r>
              <a:rPr lang="en-US" sz="700" b="0">
                <a:solidFill>
                  <a:srgbClr val="000000"/>
                </a:solidFill>
                <a:latin typeface="Aptos Mono"/>
              </a:rPr>
              <a:t>,</a:t>
            </a:r>
            <a:r>
              <a:rPr lang="en-US" sz="700" b="0">
                <a:solidFill>
                  <a:srgbClr val="A31515"/>
                </a:solidFill>
                <a:latin typeface="Aptos Mono"/>
              </a:rPr>
              <a:t> /target/helpers</a:t>
            </a:r>
            <a:r>
              <a:rPr lang="en-US" sz="700" b="0">
                <a:solidFill>
                  <a:srgbClr val="000000"/>
                </a:solidFill>
                <a:latin typeface="Aptos Mono"/>
              </a:rPr>
              <a:t>,</a:t>
            </a:r>
            <a:r>
              <a:rPr lang="en-US" sz="700" b="0">
                <a:solidFill>
                  <a:srgbClr val="A31515"/>
                </a:solidFill>
                <a:latin typeface="Aptos Mono"/>
              </a:rPr>
              <a:t> /target/app.py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read_write</a:t>
            </a:r>
            <a:r>
              <a:rPr lang="en-US" sz="700" b="0">
                <a:solidFill>
                  <a:srgbClr val="000000"/>
                </a:solidFill>
                <a:latin typeface="Aptos Mono"/>
              </a:rPr>
              <a:t>: [</a:t>
            </a:r>
            <a:r>
              <a:rPr lang="en-US" sz="700" b="0">
                <a:solidFill>
                  <a:srgbClr val="A31515"/>
                </a:solidFill>
                <a:latin typeface="Aptos Mono"/>
              </a:rPr>
              <a:t>/sandbox</a:t>
            </a:r>
            <a:r>
              <a:rPr lang="en-US" sz="700" b="0">
                <a:solidFill>
                  <a:srgbClr val="000000"/>
                </a:solidFill>
                <a:latin typeface="Aptos Mono"/>
              </a:rPr>
              <a:t>,</a:t>
            </a:r>
            <a:r>
              <a:rPr lang="en-US" sz="700" b="0">
                <a:solidFill>
                  <a:srgbClr val="A31515"/>
                </a:solidFill>
                <a:latin typeface="Aptos Mono"/>
              </a:rPr>
              <a:t> /tmp</a:t>
            </a:r>
            <a:r>
              <a:rPr lang="en-US" sz="700" b="0">
                <a:solidFill>
                  <a:srgbClr val="000000"/>
                </a:solidFill>
                <a:latin typeface="Aptos Mono"/>
              </a:rPr>
              <a:t>,</a:t>
            </a:r>
            <a:r>
              <a:rPr lang="en-US" sz="700" b="0">
                <a:solidFill>
                  <a:srgbClr val="A31515"/>
                </a:solidFill>
                <a:latin typeface="Aptos Mono"/>
              </a:rPr>
              <a:t> /dev/null</a:t>
            </a:r>
            <a:r>
              <a:rPr lang="en-US" sz="700" b="0">
                <a:solidFill>
                  <a:srgbClr val="000000"/>
                </a:solidFill>
                <a:latin typeface="Aptos Mono"/>
              </a:rPr>
              <a:t>]</a:t>
            </a:r>
            <a:endParaRPr/>
          </a:p>
          <a:p>
            <a:r>
              <a:rPr lang="en-US" sz="700" b="0">
                <a:solidFill>
                  <a:srgbClr val="0451A5"/>
                </a:solidFill>
                <a:latin typeface="Aptos Mono"/>
              </a:rPr>
              <a:t>landlock</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compatibility</a:t>
            </a:r>
            <a:r>
              <a:rPr lang="en-US" sz="700" b="0">
                <a:solidFill>
                  <a:srgbClr val="000000"/>
                </a:solidFill>
                <a:latin typeface="Aptos Mono"/>
              </a:rPr>
              <a:t>:</a:t>
            </a:r>
            <a:r>
              <a:rPr lang="en-US" sz="700" b="0">
                <a:solidFill>
                  <a:srgbClr val="A31515"/>
                </a:solidFill>
                <a:latin typeface="Aptos Mono"/>
              </a:rPr>
              <a:t> hard_requirement</a:t>
            </a:r>
            <a:endParaRPr/>
          </a:p>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model_provider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api.anthropic.com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read-write</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policy you run under</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Allow-lists:</a:t>
            </a:r>
            <a:r>
              <a:rPr lang="en-US" sz="1100" b="0">
                <a:solidFill>
                  <a:srgbClr val="000000"/>
                </a:solidFill>
              </a:rPr>
              <a:t> no grant on the target root, so reading the key or </a:t>
            </a:r>
            <a:r>
              <a:rPr lang="en-US" sz="1100" b="0">
                <a:solidFill>
                  <a:srgbClr val="000000"/>
                </a:solidFill>
                <a:latin typeface="Aptos Mono"/>
              </a:rPr>
              <a:t>.git</a:t>
            </a:r>
            <a:r>
              <a:rPr lang="en-US" sz="1100" b="0">
                <a:solidFill>
                  <a:srgbClr val="000000"/>
                </a:solidFill>
              </a:rPr>
              <a:t> fails.</a:t>
            </a:r>
            <a:endParaRPr/>
          </a:p>
          <a:p>
            <a:pPr marL="342900" indent="-228600">
              <a:spcBef>
                <a:spcPts val="300"/>
              </a:spcBef>
              <a:spcAft>
                <a:spcPts val="300"/>
              </a:spcAft>
              <a:buClr>
                <a:srgbClr val="28285E"/>
              </a:buClr>
              <a:buSzPts val="1100"/>
              <a:buFont typeface="+mn-lt"/>
              <a:buChar char="●"/>
              <a:defRPr/>
            </a:pPr>
            <a:r>
              <a:rPr lang="en-US" sz="1100" b="0">
                <a:solidFill>
                  <a:srgbClr val="000000"/>
                </a:solidFill>
                <a:latin typeface="Aptos Mono"/>
              </a:rPr>
              <a:t>hard_requirement</a:t>
            </a:r>
            <a:r>
              <a:rPr lang="en-US" sz="1100" b="1">
                <a:solidFill>
                  <a:srgbClr val="000000"/>
                </a:solidFill>
              </a:rPr>
              <a:t>:</a:t>
            </a:r>
            <a:r>
              <a:rPr lang="en-US" sz="1100" b="0">
                <a:solidFill>
                  <a:srgbClr val="000000"/>
                </a:solidFill>
              </a:rPr>
              <a:t> a policy the kernel cannot enforce fails the start.</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One endpoint for Python:</a:t>
            </a:r>
            <a:r>
              <a:rPr lang="en-US" sz="1100" b="0">
                <a:solidFill>
                  <a:srgbClr val="FFFFFF">
                    <a:alpha val="0"/>
                  </a:srgbClr>
                </a:solidFill>
              </a:rPr>
              <a:t> the provider, or a model server on the host.</a:t>
            </a:r>
            <a:endParaRPr>
              <a:solidFill>
                <a:srgbClr val="FFFFFF">
                  <a:alpha val="0"/>
                </a:srgbClr>
              </a:solidFill>
            </a:endParaRPr>
          </a:p>
        </p:txBody>
      </p:sp>
      <p:sp>
        <p:nvSpPr>
          <p:cNvPr id="4" name="CodeWindow"/>
          <p:cNvSpPr/>
          <p:nvPr/>
        </p:nvSpPr>
        <p:spPr bwMode="auto">
          <a:xfrm>
            <a:off x="320040" y="1749493"/>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14669"/>
            <a:ext cx="6016752" cy="0"/>
          </a:xfrm>
          <a:prstGeom prst="line">
            <a:avLst/>
          </a:prstGeom>
          <a:ln w="9525">
            <a:solidFill>
              <a:srgbClr val="DCDCDC"/>
            </a:solidFill>
          </a:ln>
        </p:spPr>
      </p:cxnSp>
      <p:sp>
        <p:nvSpPr>
          <p:cNvPr id="6" name="WinDot 0"/>
          <p:cNvSpPr/>
          <p:nvPr/>
        </p:nvSpPr>
        <p:spPr bwMode="auto">
          <a:xfrm>
            <a:off x="411480" y="1831789"/>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31789"/>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31789"/>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90641"/>
            <a:ext cx="5349240" cy="182880"/>
          </a:xfrm>
          <a:prstGeom prst="rect">
            <a:avLst/>
          </a:prstGeom>
          <a:noFill/>
        </p:spPr>
        <p:txBody>
          <a:bodyPr wrap="square" lIns="0" tIns="0" rIns="0" bIns="0" anchor="ctr">
            <a:noAutofit/>
          </a:bodyPr>
          <a:lstStyle/>
          <a:p>
            <a:pPr algn="l">
              <a:defRPr/>
            </a:pPr>
            <a:r>
              <a:rPr sz="850" b="0">
                <a:solidFill>
                  <a:srgbClr val="5B6673"/>
                </a:solidFill>
              </a:rPr>
              <a:t>policy.yaml: the OWASP policy, verified in an OpenShell sandbox on October 15</a:t>
            </a:r>
            <a:endParaRPr/>
          </a:p>
        </p:txBody>
      </p:sp>
      <p:sp>
        <p:nvSpPr>
          <p:cNvPr id="10" name="TextBox 7"/>
          <p:cNvSpPr txBox="1"/>
          <p:nvPr/>
        </p:nvSpPr>
        <p:spPr bwMode="auto">
          <a:xfrm>
            <a:off x="466344" y="2078677"/>
            <a:ext cx="5724144" cy="1973844"/>
          </a:xfrm>
          <a:prstGeom prst="rect">
            <a:avLst/>
          </a:prstGeom>
          <a:noFill/>
        </p:spPr>
        <p:txBody>
          <a:bodyPr wrap="none" lIns="0" tIns="0" rIns="0" bIns="0">
            <a:spAutoFit/>
          </a:bodyPr>
          <a:lstStyle/>
          <a:p>
            <a:r>
              <a:rPr lang="en-US" sz="700" b="0">
                <a:solidFill>
                  <a:srgbClr val="0451A5"/>
                </a:solidFill>
                <a:latin typeface="Aptos Mono"/>
              </a:rPr>
              <a:t>version</a:t>
            </a:r>
            <a:r>
              <a:rPr lang="en-US" sz="700" b="0">
                <a:solidFill>
                  <a:srgbClr val="000000"/>
                </a:solidFill>
                <a:latin typeface="Aptos Mono"/>
              </a:rPr>
              <a:t>: </a:t>
            </a:r>
            <a:r>
              <a:rPr lang="en-US" sz="700" b="0">
                <a:solidFill>
                  <a:srgbClr val="098658"/>
                </a:solidFill>
                <a:latin typeface="Aptos Mono"/>
              </a:rPr>
              <a:t>1</a:t>
            </a:r>
            <a:endParaRPr/>
          </a:p>
          <a:p>
            <a:r>
              <a:rPr lang="en-US" sz="700" b="0">
                <a:solidFill>
                  <a:srgbClr val="0451A5"/>
                </a:solidFill>
                <a:latin typeface="Aptos Mono"/>
              </a:rPr>
              <a:t>filesystem_policy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include_workdir</a:t>
            </a:r>
            <a:r>
              <a:rPr lang="en-US" sz="700" b="0">
                <a:solidFill>
                  <a:srgbClr val="000000"/>
                </a:solidFill>
                <a:latin typeface="Aptos Mono"/>
              </a:rPr>
              <a:t>:</a:t>
            </a:r>
            <a:r>
              <a:rPr lang="en-US" sz="700" b="0">
                <a:solidFill>
                  <a:srgbClr val="A31515"/>
                </a:solidFill>
                <a:latin typeface="Aptos Mono"/>
              </a:rPr>
              <a:t> true</a:t>
            </a:r>
            <a:endParaRPr/>
          </a:p>
          <a:p>
            <a:r>
              <a:rPr lang="en-US" sz="700" b="0">
                <a:solidFill>
                  <a:srgbClr val="000000"/>
                </a:solidFill>
                <a:latin typeface="Aptos Mono"/>
              </a:rPr>
              <a:t>  </a:t>
            </a:r>
            <a:r>
              <a:rPr lang="en-US" sz="700" b="0">
                <a:solidFill>
                  <a:srgbClr val="0451A5"/>
                </a:solidFill>
                <a:latin typeface="Aptos Mono"/>
              </a:rPr>
              <a:t>read_only</a:t>
            </a:r>
            <a:r>
              <a:rPr lang="en-US" sz="700" b="0">
                <a:solidFill>
                  <a:srgbClr val="000000"/>
                </a:solidFill>
                <a:latin typeface="Aptos Mono"/>
              </a:rPr>
              <a:t>: [</a:t>
            </a:r>
            <a:r>
              <a:rPr lang="en-US" sz="700" b="0">
                <a:solidFill>
                  <a:srgbClr val="A31515"/>
                </a:solidFill>
                <a:latin typeface="Aptos Mono"/>
              </a:rPr>
              <a:t>/bin</a:t>
            </a:r>
            <a:r>
              <a:rPr lang="en-US" sz="700" b="0">
                <a:solidFill>
                  <a:srgbClr val="000000"/>
                </a:solidFill>
                <a:latin typeface="Aptos Mono"/>
              </a:rPr>
              <a:t>,</a:t>
            </a:r>
            <a:r>
              <a:rPr lang="en-US" sz="700" b="0">
                <a:solidFill>
                  <a:srgbClr val="A31515"/>
                </a:solidFill>
                <a:latin typeface="Aptos Mono"/>
              </a:rPr>
              <a:t> /usr</a:t>
            </a:r>
            <a:r>
              <a:rPr lang="en-US" sz="700" b="0">
                <a:solidFill>
                  <a:srgbClr val="000000"/>
                </a:solidFill>
                <a:latin typeface="Aptos Mono"/>
              </a:rPr>
              <a:t>,</a:t>
            </a:r>
            <a:r>
              <a:rPr lang="en-US" sz="700" b="0">
                <a:solidFill>
                  <a:srgbClr val="A31515"/>
                </a:solidFill>
                <a:latin typeface="Aptos Mono"/>
              </a:rPr>
              <a:t> /lib</a:t>
            </a:r>
            <a:r>
              <a:rPr lang="en-US" sz="700" b="0">
                <a:solidFill>
                  <a:srgbClr val="000000"/>
                </a:solidFill>
                <a:latin typeface="Aptos Mono"/>
              </a:rPr>
              <a:t>,</a:t>
            </a:r>
            <a:r>
              <a:rPr lang="en-US" sz="700" b="0">
                <a:solidFill>
                  <a:srgbClr val="A31515"/>
                </a:solidFill>
                <a:latin typeface="Aptos Mono"/>
              </a:rPr>
              <a:t> /lib64</a:t>
            </a:r>
            <a:r>
              <a:rPr lang="en-US" sz="700" b="0">
                <a:solidFill>
                  <a:srgbClr val="000000"/>
                </a:solidFill>
                <a:latin typeface="Aptos Mono"/>
              </a:rPr>
              <a:t>,</a:t>
            </a:r>
            <a:r>
              <a:rPr lang="en-US" sz="700" b="0">
                <a:solidFill>
                  <a:srgbClr val="A31515"/>
                </a:solidFill>
                <a:latin typeface="Aptos Mono"/>
              </a:rPr>
              <a:t> /etc</a:t>
            </a:r>
            <a:r>
              <a:rPr lang="en-US" sz="700" b="0">
                <a:solidFill>
                  <a:srgbClr val="000000"/>
                </a:solidFill>
                <a:latin typeface="Aptos Mono"/>
              </a:rPr>
              <a:t>,</a:t>
            </a:r>
            <a:r>
              <a:rPr lang="en-US" sz="700" b="0">
                <a:solidFill>
                  <a:srgbClr val="A31515"/>
                </a:solidFill>
                <a:latin typeface="Aptos Mono"/>
              </a:rPr>
              <a:t> /proc</a:t>
            </a:r>
            <a:r>
              <a:rPr lang="en-US" sz="700" b="0">
                <a:solidFill>
                  <a:srgbClr val="000000"/>
                </a:solidFill>
                <a:latin typeface="Aptos Mono"/>
              </a:rPr>
              <a:t>,</a:t>
            </a:r>
            <a:r>
              <a:rPr lang="en-US" sz="700" b="0">
                <a:solidFill>
                  <a:srgbClr val="A31515"/>
                </a:solidFill>
                <a:latin typeface="Aptos Mono"/>
              </a:rPr>
              <a:t> /dev/urandom</a:t>
            </a:r>
            <a:r>
              <a:rPr lang="en-US" sz="700" b="0">
                <a:solidFill>
                  <a:srgbClr val="000000"/>
                </a:solidFill>
                <a:latin typeface="Aptos Mono"/>
              </a:rPr>
              <a:t>,</a:t>
            </a:r>
            <a:r>
              <a:rPr lang="en-US" sz="700" b="0">
                <a:solidFill>
                  <a:srgbClr val="A31515"/>
                </a:solidFill>
                <a:latin typeface="Aptos Mono"/>
              </a:rPr>
              <a:t> /app</a:t>
            </a:r>
            <a:r>
              <a:rPr lang="en-US" sz="700" b="0">
                <a:solidFill>
                  <a:srgbClr val="000000"/>
                </a:solidFill>
                <a:latin typeface="Aptos Mono"/>
              </a:rPr>
              <a:t>,</a:t>
            </a:r>
            <a:endParaRPr/>
          </a:p>
          <a:p>
            <a:r>
              <a:rPr lang="en-US" sz="700" b="0">
                <a:solidFill>
                  <a:srgbClr val="A31515"/>
                </a:solidFill>
                <a:latin typeface="Aptos Mono"/>
              </a:rPr>
              <a:t>              /target/testcode</a:t>
            </a:r>
            <a:r>
              <a:rPr lang="en-US" sz="700" b="0">
                <a:solidFill>
                  <a:srgbClr val="000000"/>
                </a:solidFill>
                <a:latin typeface="Aptos Mono"/>
              </a:rPr>
              <a:t>,</a:t>
            </a:r>
            <a:r>
              <a:rPr lang="en-US" sz="700" b="0">
                <a:solidFill>
                  <a:srgbClr val="A31515"/>
                </a:solidFill>
                <a:latin typeface="Aptos Mono"/>
              </a:rPr>
              <a:t> /target/helpers</a:t>
            </a:r>
            <a:r>
              <a:rPr lang="en-US" sz="700" b="0">
                <a:solidFill>
                  <a:srgbClr val="000000"/>
                </a:solidFill>
                <a:latin typeface="Aptos Mono"/>
              </a:rPr>
              <a:t>,</a:t>
            </a:r>
            <a:r>
              <a:rPr lang="en-US" sz="700" b="0">
                <a:solidFill>
                  <a:srgbClr val="A31515"/>
                </a:solidFill>
                <a:latin typeface="Aptos Mono"/>
              </a:rPr>
              <a:t> /target/app.py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read_write</a:t>
            </a:r>
            <a:r>
              <a:rPr lang="en-US" sz="700" b="0">
                <a:solidFill>
                  <a:srgbClr val="000000"/>
                </a:solidFill>
                <a:latin typeface="Aptos Mono"/>
              </a:rPr>
              <a:t>: [</a:t>
            </a:r>
            <a:r>
              <a:rPr lang="en-US" sz="700" b="0">
                <a:solidFill>
                  <a:srgbClr val="A31515"/>
                </a:solidFill>
                <a:latin typeface="Aptos Mono"/>
              </a:rPr>
              <a:t>/sandbox</a:t>
            </a:r>
            <a:r>
              <a:rPr lang="en-US" sz="700" b="0">
                <a:solidFill>
                  <a:srgbClr val="000000"/>
                </a:solidFill>
                <a:latin typeface="Aptos Mono"/>
              </a:rPr>
              <a:t>,</a:t>
            </a:r>
            <a:r>
              <a:rPr lang="en-US" sz="700" b="0">
                <a:solidFill>
                  <a:srgbClr val="A31515"/>
                </a:solidFill>
                <a:latin typeface="Aptos Mono"/>
              </a:rPr>
              <a:t> /tmp</a:t>
            </a:r>
            <a:r>
              <a:rPr lang="en-US" sz="700" b="0">
                <a:solidFill>
                  <a:srgbClr val="000000"/>
                </a:solidFill>
                <a:latin typeface="Aptos Mono"/>
              </a:rPr>
              <a:t>,</a:t>
            </a:r>
            <a:r>
              <a:rPr lang="en-US" sz="700" b="0">
                <a:solidFill>
                  <a:srgbClr val="A31515"/>
                </a:solidFill>
                <a:latin typeface="Aptos Mono"/>
              </a:rPr>
              <a:t> /dev/null</a:t>
            </a:r>
            <a:r>
              <a:rPr lang="en-US" sz="700" b="0">
                <a:solidFill>
                  <a:srgbClr val="000000"/>
                </a:solidFill>
                <a:latin typeface="Aptos Mono"/>
              </a:rPr>
              <a:t>]</a:t>
            </a:r>
            <a:endParaRPr/>
          </a:p>
          <a:p>
            <a:r>
              <a:rPr lang="en-US" sz="700" b="0">
                <a:solidFill>
                  <a:srgbClr val="0451A5"/>
                </a:solidFill>
                <a:latin typeface="Aptos Mono"/>
              </a:rPr>
              <a:t>landlock</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compatibility</a:t>
            </a:r>
            <a:r>
              <a:rPr lang="en-US" sz="700" b="0">
                <a:solidFill>
                  <a:srgbClr val="000000"/>
                </a:solidFill>
                <a:latin typeface="Aptos Mono"/>
              </a:rPr>
              <a:t>:</a:t>
            </a:r>
            <a:r>
              <a:rPr lang="en-US" sz="700" b="0">
                <a:solidFill>
                  <a:srgbClr val="A31515"/>
                </a:solidFill>
                <a:latin typeface="Aptos Mono"/>
              </a:rPr>
              <a:t> hard_requirement</a:t>
            </a:r>
            <a:endParaRPr/>
          </a:p>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model_provider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api.anthropic.com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read-write</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policy you run under</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Allow-lists:</a:t>
            </a:r>
            <a:r>
              <a:rPr lang="en-US" sz="1100" b="0">
                <a:solidFill>
                  <a:srgbClr val="000000"/>
                </a:solidFill>
              </a:rPr>
              <a:t> no grant on the target root, so reading the key or </a:t>
            </a:r>
            <a:r>
              <a:rPr lang="en-US" sz="1100" b="0">
                <a:solidFill>
                  <a:srgbClr val="000000"/>
                </a:solidFill>
                <a:latin typeface="Aptos Mono"/>
              </a:rPr>
              <a:t>.git</a:t>
            </a:r>
            <a:r>
              <a:rPr lang="en-US" sz="1100" b="0">
                <a:solidFill>
                  <a:srgbClr val="000000"/>
                </a:solidFill>
              </a:rPr>
              <a:t> fails.</a:t>
            </a:r>
            <a:endParaRPr/>
          </a:p>
          <a:p>
            <a:pPr marL="342900" indent="-228600">
              <a:spcBef>
                <a:spcPts val="300"/>
              </a:spcBef>
              <a:spcAft>
                <a:spcPts val="300"/>
              </a:spcAft>
              <a:buClr>
                <a:srgbClr val="28285E"/>
              </a:buClr>
              <a:buSzPts val="1100"/>
              <a:buFont typeface="+mn-lt"/>
              <a:buChar char="●"/>
              <a:defRPr/>
            </a:pPr>
            <a:r>
              <a:rPr lang="en-US" sz="1100" b="0">
                <a:solidFill>
                  <a:srgbClr val="000000"/>
                </a:solidFill>
                <a:latin typeface="Aptos Mono"/>
              </a:rPr>
              <a:t>hard_requirement</a:t>
            </a:r>
            <a:r>
              <a:rPr lang="en-US" sz="1100" b="1">
                <a:solidFill>
                  <a:srgbClr val="000000"/>
                </a:solidFill>
              </a:rPr>
              <a:t>:</a:t>
            </a:r>
            <a:r>
              <a:rPr lang="en-US" sz="1100" b="0">
                <a:solidFill>
                  <a:srgbClr val="000000"/>
                </a:solidFill>
              </a:rPr>
              <a:t> a policy the kernel cannot enforce fails the start.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One endpoint for Python:</a:t>
            </a:r>
            <a:r>
              <a:rPr lang="en-US" sz="1100" b="0">
                <a:solidFill>
                  <a:srgbClr val="000000"/>
                </a:solidFill>
              </a:rPr>
              <a:t> the provider, or a model server on the host.</a:t>
            </a:r>
            <a:endParaRPr/>
          </a:p>
        </p:txBody>
      </p:sp>
      <p:sp>
        <p:nvSpPr>
          <p:cNvPr id="4" name="CodeWindow"/>
          <p:cNvSpPr/>
          <p:nvPr/>
        </p:nvSpPr>
        <p:spPr bwMode="auto">
          <a:xfrm>
            <a:off x="320040" y="1749493"/>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014669"/>
            <a:ext cx="6016752" cy="0"/>
          </a:xfrm>
          <a:prstGeom prst="line">
            <a:avLst/>
          </a:prstGeom>
          <a:ln w="9525">
            <a:solidFill>
              <a:srgbClr val="DCDCDC"/>
            </a:solidFill>
          </a:ln>
        </p:spPr>
      </p:cxnSp>
      <p:sp>
        <p:nvSpPr>
          <p:cNvPr id="6" name="WinDot 0"/>
          <p:cNvSpPr/>
          <p:nvPr/>
        </p:nvSpPr>
        <p:spPr bwMode="auto">
          <a:xfrm>
            <a:off x="411480" y="1831789"/>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1831789"/>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1831789"/>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1790641"/>
            <a:ext cx="5349240" cy="182880"/>
          </a:xfrm>
          <a:prstGeom prst="rect">
            <a:avLst/>
          </a:prstGeom>
          <a:noFill/>
        </p:spPr>
        <p:txBody>
          <a:bodyPr wrap="square" lIns="0" tIns="0" rIns="0" bIns="0" anchor="ctr">
            <a:noAutofit/>
          </a:bodyPr>
          <a:lstStyle/>
          <a:p>
            <a:pPr algn="l">
              <a:defRPr/>
            </a:pPr>
            <a:r>
              <a:rPr sz="850" b="0">
                <a:solidFill>
                  <a:srgbClr val="5B6673"/>
                </a:solidFill>
              </a:rPr>
              <a:t>policy.yaml: the OWASP policy, verified in an OpenShell sandbox on October 15</a:t>
            </a:r>
            <a:endParaRPr/>
          </a:p>
        </p:txBody>
      </p:sp>
      <p:sp>
        <p:nvSpPr>
          <p:cNvPr id="10" name="TextBox 7"/>
          <p:cNvSpPr txBox="1"/>
          <p:nvPr/>
        </p:nvSpPr>
        <p:spPr bwMode="auto">
          <a:xfrm>
            <a:off x="466344" y="2078677"/>
            <a:ext cx="5724144" cy="1973844"/>
          </a:xfrm>
          <a:prstGeom prst="rect">
            <a:avLst/>
          </a:prstGeom>
          <a:noFill/>
        </p:spPr>
        <p:txBody>
          <a:bodyPr wrap="none" lIns="0" tIns="0" rIns="0" bIns="0">
            <a:spAutoFit/>
          </a:bodyPr>
          <a:lstStyle/>
          <a:p>
            <a:r>
              <a:rPr lang="en-US" sz="700" b="0">
                <a:solidFill>
                  <a:srgbClr val="0451A5"/>
                </a:solidFill>
                <a:latin typeface="Aptos Mono"/>
              </a:rPr>
              <a:t>version</a:t>
            </a:r>
            <a:r>
              <a:rPr lang="en-US" sz="700" b="0">
                <a:solidFill>
                  <a:srgbClr val="000000"/>
                </a:solidFill>
                <a:latin typeface="Aptos Mono"/>
              </a:rPr>
              <a:t>: </a:t>
            </a:r>
            <a:r>
              <a:rPr lang="en-US" sz="700" b="0">
                <a:solidFill>
                  <a:srgbClr val="098658"/>
                </a:solidFill>
                <a:latin typeface="Aptos Mono"/>
              </a:rPr>
              <a:t>1</a:t>
            </a:r>
            <a:endParaRPr/>
          </a:p>
          <a:p>
            <a:r>
              <a:rPr lang="en-US" sz="700" b="0">
                <a:solidFill>
                  <a:srgbClr val="0451A5"/>
                </a:solidFill>
                <a:latin typeface="Aptos Mono"/>
              </a:rPr>
              <a:t>filesystem_policy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include_workdir</a:t>
            </a:r>
            <a:r>
              <a:rPr lang="en-US" sz="700" b="0">
                <a:solidFill>
                  <a:srgbClr val="000000"/>
                </a:solidFill>
                <a:latin typeface="Aptos Mono"/>
              </a:rPr>
              <a:t>:</a:t>
            </a:r>
            <a:r>
              <a:rPr lang="en-US" sz="700" b="0">
                <a:solidFill>
                  <a:srgbClr val="A31515"/>
                </a:solidFill>
                <a:latin typeface="Aptos Mono"/>
              </a:rPr>
              <a:t> true</a:t>
            </a:r>
            <a:endParaRPr/>
          </a:p>
          <a:p>
            <a:r>
              <a:rPr lang="en-US" sz="700" b="0">
                <a:solidFill>
                  <a:srgbClr val="000000"/>
                </a:solidFill>
                <a:latin typeface="Aptos Mono"/>
              </a:rPr>
              <a:t>  </a:t>
            </a:r>
            <a:r>
              <a:rPr lang="en-US" sz="700" b="0">
                <a:solidFill>
                  <a:srgbClr val="0451A5"/>
                </a:solidFill>
                <a:latin typeface="Aptos Mono"/>
              </a:rPr>
              <a:t>read_only</a:t>
            </a:r>
            <a:r>
              <a:rPr lang="en-US" sz="700" b="0">
                <a:solidFill>
                  <a:srgbClr val="000000"/>
                </a:solidFill>
                <a:latin typeface="Aptos Mono"/>
              </a:rPr>
              <a:t>: [</a:t>
            </a:r>
            <a:r>
              <a:rPr lang="en-US" sz="700" b="0">
                <a:solidFill>
                  <a:srgbClr val="A31515"/>
                </a:solidFill>
                <a:latin typeface="Aptos Mono"/>
              </a:rPr>
              <a:t>/bin</a:t>
            </a:r>
            <a:r>
              <a:rPr lang="en-US" sz="700" b="0">
                <a:solidFill>
                  <a:srgbClr val="000000"/>
                </a:solidFill>
                <a:latin typeface="Aptos Mono"/>
              </a:rPr>
              <a:t>,</a:t>
            </a:r>
            <a:r>
              <a:rPr lang="en-US" sz="700" b="0">
                <a:solidFill>
                  <a:srgbClr val="A31515"/>
                </a:solidFill>
                <a:latin typeface="Aptos Mono"/>
              </a:rPr>
              <a:t> /usr</a:t>
            </a:r>
            <a:r>
              <a:rPr lang="en-US" sz="700" b="0">
                <a:solidFill>
                  <a:srgbClr val="000000"/>
                </a:solidFill>
                <a:latin typeface="Aptos Mono"/>
              </a:rPr>
              <a:t>,</a:t>
            </a:r>
            <a:r>
              <a:rPr lang="en-US" sz="700" b="0">
                <a:solidFill>
                  <a:srgbClr val="A31515"/>
                </a:solidFill>
                <a:latin typeface="Aptos Mono"/>
              </a:rPr>
              <a:t> /lib</a:t>
            </a:r>
            <a:r>
              <a:rPr lang="en-US" sz="700" b="0">
                <a:solidFill>
                  <a:srgbClr val="000000"/>
                </a:solidFill>
                <a:latin typeface="Aptos Mono"/>
              </a:rPr>
              <a:t>,</a:t>
            </a:r>
            <a:r>
              <a:rPr lang="en-US" sz="700" b="0">
                <a:solidFill>
                  <a:srgbClr val="A31515"/>
                </a:solidFill>
                <a:latin typeface="Aptos Mono"/>
              </a:rPr>
              <a:t> /lib64</a:t>
            </a:r>
            <a:r>
              <a:rPr lang="en-US" sz="700" b="0">
                <a:solidFill>
                  <a:srgbClr val="000000"/>
                </a:solidFill>
                <a:latin typeface="Aptos Mono"/>
              </a:rPr>
              <a:t>,</a:t>
            </a:r>
            <a:r>
              <a:rPr lang="en-US" sz="700" b="0">
                <a:solidFill>
                  <a:srgbClr val="A31515"/>
                </a:solidFill>
                <a:latin typeface="Aptos Mono"/>
              </a:rPr>
              <a:t> /etc</a:t>
            </a:r>
            <a:r>
              <a:rPr lang="en-US" sz="700" b="0">
                <a:solidFill>
                  <a:srgbClr val="000000"/>
                </a:solidFill>
                <a:latin typeface="Aptos Mono"/>
              </a:rPr>
              <a:t>,</a:t>
            </a:r>
            <a:r>
              <a:rPr lang="en-US" sz="700" b="0">
                <a:solidFill>
                  <a:srgbClr val="A31515"/>
                </a:solidFill>
                <a:latin typeface="Aptos Mono"/>
              </a:rPr>
              <a:t> /proc</a:t>
            </a:r>
            <a:r>
              <a:rPr lang="en-US" sz="700" b="0">
                <a:solidFill>
                  <a:srgbClr val="000000"/>
                </a:solidFill>
                <a:latin typeface="Aptos Mono"/>
              </a:rPr>
              <a:t>,</a:t>
            </a:r>
            <a:r>
              <a:rPr lang="en-US" sz="700" b="0">
                <a:solidFill>
                  <a:srgbClr val="A31515"/>
                </a:solidFill>
                <a:latin typeface="Aptos Mono"/>
              </a:rPr>
              <a:t> /dev/urandom</a:t>
            </a:r>
            <a:r>
              <a:rPr lang="en-US" sz="700" b="0">
                <a:solidFill>
                  <a:srgbClr val="000000"/>
                </a:solidFill>
                <a:latin typeface="Aptos Mono"/>
              </a:rPr>
              <a:t>,</a:t>
            </a:r>
            <a:r>
              <a:rPr lang="en-US" sz="700" b="0">
                <a:solidFill>
                  <a:srgbClr val="A31515"/>
                </a:solidFill>
                <a:latin typeface="Aptos Mono"/>
              </a:rPr>
              <a:t> /app</a:t>
            </a:r>
            <a:r>
              <a:rPr lang="en-US" sz="700" b="0">
                <a:solidFill>
                  <a:srgbClr val="000000"/>
                </a:solidFill>
                <a:latin typeface="Aptos Mono"/>
              </a:rPr>
              <a:t>,</a:t>
            </a:r>
            <a:endParaRPr/>
          </a:p>
          <a:p>
            <a:r>
              <a:rPr lang="en-US" sz="700" b="0">
                <a:solidFill>
                  <a:srgbClr val="A31515"/>
                </a:solidFill>
                <a:latin typeface="Aptos Mono"/>
              </a:rPr>
              <a:t>              /target/testcode</a:t>
            </a:r>
            <a:r>
              <a:rPr lang="en-US" sz="700" b="0">
                <a:solidFill>
                  <a:srgbClr val="000000"/>
                </a:solidFill>
                <a:latin typeface="Aptos Mono"/>
              </a:rPr>
              <a:t>,</a:t>
            </a:r>
            <a:r>
              <a:rPr lang="en-US" sz="700" b="0">
                <a:solidFill>
                  <a:srgbClr val="A31515"/>
                </a:solidFill>
                <a:latin typeface="Aptos Mono"/>
              </a:rPr>
              <a:t> /target/helpers</a:t>
            </a:r>
            <a:r>
              <a:rPr lang="en-US" sz="700" b="0">
                <a:solidFill>
                  <a:srgbClr val="000000"/>
                </a:solidFill>
                <a:latin typeface="Aptos Mono"/>
              </a:rPr>
              <a:t>,</a:t>
            </a:r>
            <a:r>
              <a:rPr lang="en-US" sz="700" b="0">
                <a:solidFill>
                  <a:srgbClr val="A31515"/>
                </a:solidFill>
                <a:latin typeface="Aptos Mono"/>
              </a:rPr>
              <a:t> /target/app.py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read_write</a:t>
            </a:r>
            <a:r>
              <a:rPr lang="en-US" sz="700" b="0">
                <a:solidFill>
                  <a:srgbClr val="000000"/>
                </a:solidFill>
                <a:latin typeface="Aptos Mono"/>
              </a:rPr>
              <a:t>: [</a:t>
            </a:r>
            <a:r>
              <a:rPr lang="en-US" sz="700" b="0">
                <a:solidFill>
                  <a:srgbClr val="A31515"/>
                </a:solidFill>
                <a:latin typeface="Aptos Mono"/>
              </a:rPr>
              <a:t>/sandbox</a:t>
            </a:r>
            <a:r>
              <a:rPr lang="en-US" sz="700" b="0">
                <a:solidFill>
                  <a:srgbClr val="000000"/>
                </a:solidFill>
                <a:latin typeface="Aptos Mono"/>
              </a:rPr>
              <a:t>,</a:t>
            </a:r>
            <a:r>
              <a:rPr lang="en-US" sz="700" b="0">
                <a:solidFill>
                  <a:srgbClr val="A31515"/>
                </a:solidFill>
                <a:latin typeface="Aptos Mono"/>
              </a:rPr>
              <a:t> /tmp</a:t>
            </a:r>
            <a:r>
              <a:rPr lang="en-US" sz="700" b="0">
                <a:solidFill>
                  <a:srgbClr val="000000"/>
                </a:solidFill>
                <a:latin typeface="Aptos Mono"/>
              </a:rPr>
              <a:t>,</a:t>
            </a:r>
            <a:r>
              <a:rPr lang="en-US" sz="700" b="0">
                <a:solidFill>
                  <a:srgbClr val="A31515"/>
                </a:solidFill>
                <a:latin typeface="Aptos Mono"/>
              </a:rPr>
              <a:t> /dev/null</a:t>
            </a:r>
            <a:r>
              <a:rPr lang="en-US" sz="700" b="0">
                <a:solidFill>
                  <a:srgbClr val="000000"/>
                </a:solidFill>
                <a:latin typeface="Aptos Mono"/>
              </a:rPr>
              <a:t>]</a:t>
            </a:r>
            <a:endParaRPr/>
          </a:p>
          <a:p>
            <a:r>
              <a:rPr lang="en-US" sz="700" b="0">
                <a:solidFill>
                  <a:srgbClr val="0451A5"/>
                </a:solidFill>
                <a:latin typeface="Aptos Mono"/>
              </a:rPr>
              <a:t>landlock</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compatibility</a:t>
            </a:r>
            <a:r>
              <a:rPr lang="en-US" sz="700" b="0">
                <a:solidFill>
                  <a:srgbClr val="000000"/>
                </a:solidFill>
                <a:latin typeface="Aptos Mono"/>
              </a:rPr>
              <a:t>:</a:t>
            </a:r>
            <a:r>
              <a:rPr lang="en-US" sz="700" b="0">
                <a:solidFill>
                  <a:srgbClr val="A31515"/>
                </a:solidFill>
                <a:latin typeface="Aptos Mono"/>
              </a:rPr>
              <a:t> hard_requirement</a:t>
            </a:r>
            <a:endParaRPr/>
          </a:p>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model_provider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api.anthropic.com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read-write</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policy you run under</a:t>
            </a:r>
          </a:p>
        </p:txBody>
      </p:sp>
      <p:sp>
        <p:nvSpPr>
          <p:cNvPr id="3" name="Content Placeholder 2"/>
          <p:cNvSpPr>
            <a:spLocks noGrp="1"/>
          </p:cNvSpPr>
          <p:nvPr>
            <p:ph idx="1"/>
          </p:nvPr>
        </p:nvSpPr>
        <p:spPr bwMode="auto">
          <a:xfrm>
            <a:off x="320040" y="658368"/>
            <a:ext cx="6016752" cy="8229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Allow-lists:</a:t>
            </a:r>
            <a:r>
              <a:rPr lang="en-US" sz="1100" b="0">
                <a:solidFill>
                  <a:srgbClr val="000000"/>
                </a:solidFill>
              </a:rPr>
              <a:t> no grant on the target root, so reading the key or </a:t>
            </a:r>
            <a:r>
              <a:rPr lang="en-US" sz="1100" b="0">
                <a:solidFill>
                  <a:srgbClr val="000000"/>
                </a:solidFill>
                <a:latin typeface="Aptos Mono"/>
              </a:rPr>
              <a:t>.git</a:t>
            </a:r>
            <a:r>
              <a:rPr lang="en-US" sz="1100" b="0">
                <a:solidFill>
                  <a:srgbClr val="000000"/>
                </a:solidFill>
              </a:rPr>
              <a:t> fails.</a:t>
            </a:r>
            <a:endParaRPr/>
          </a:p>
          <a:p>
            <a:pPr marL="342900" indent="-228600">
              <a:spcBef>
                <a:spcPts val="300"/>
              </a:spcBef>
              <a:spcAft>
                <a:spcPts val="300"/>
              </a:spcAft>
              <a:buClr>
                <a:srgbClr val="28285E"/>
              </a:buClr>
              <a:buSzPts val="1100"/>
              <a:buFont typeface="+mn-lt"/>
              <a:buChar char="●"/>
              <a:defRPr/>
            </a:pPr>
            <a:r>
              <a:rPr lang="en-US" sz="1100" b="0">
                <a:solidFill>
                  <a:srgbClr val="000000"/>
                </a:solidFill>
                <a:latin typeface="Aptos Mono"/>
              </a:rPr>
              <a:t>hard_requirement</a:t>
            </a:r>
            <a:r>
              <a:rPr lang="en-US" sz="1100" b="1">
                <a:solidFill>
                  <a:srgbClr val="000000"/>
                </a:solidFill>
              </a:rPr>
              <a:t>:</a:t>
            </a:r>
            <a:r>
              <a:rPr lang="en-US" sz="1100" b="0">
                <a:solidFill>
                  <a:srgbClr val="000000"/>
                </a:solidFill>
              </a:rPr>
              <a:t> a policy the kernel cannot enforce fails the start.</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One endpoint for Python:</a:t>
            </a:r>
            <a:r>
              <a:rPr lang="en-US" sz="1100" b="0">
                <a:solidFill>
                  <a:srgbClr val="000000"/>
                </a:solidFill>
              </a:rPr>
              <a:t> the provider, or a model server on the host.</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Linux, Apple Silicon macOS or WSL 2. On an Intel Mac, use the VM recipe.</a:t>
            </a:r>
            <a:endParaRPr/>
          </a:p>
        </p:txBody>
      </p:sp>
      <p:sp>
        <p:nvSpPr>
          <p:cNvPr id="5" name="CodeWindow"/>
          <p:cNvSpPr/>
          <p:nvPr/>
        </p:nvSpPr>
        <p:spPr bwMode="auto">
          <a:xfrm>
            <a:off x="320040" y="1749493"/>
            <a:ext cx="6016752" cy="237302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14669"/>
            <a:ext cx="6016752" cy="0"/>
          </a:xfrm>
          <a:prstGeom prst="line">
            <a:avLst/>
          </a:prstGeom>
          <a:ln w="9525">
            <a:solidFill>
              <a:srgbClr val="DCDCDC"/>
            </a:solidFill>
          </a:ln>
        </p:spPr>
      </p:cxnSp>
      <p:sp>
        <p:nvSpPr>
          <p:cNvPr id="7" name="WinDot 0"/>
          <p:cNvSpPr/>
          <p:nvPr/>
        </p:nvSpPr>
        <p:spPr bwMode="auto">
          <a:xfrm>
            <a:off x="411480" y="1831789"/>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31789"/>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31789"/>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790641"/>
            <a:ext cx="5349240" cy="182880"/>
          </a:xfrm>
          <a:prstGeom prst="rect">
            <a:avLst/>
          </a:prstGeom>
          <a:noFill/>
        </p:spPr>
        <p:txBody>
          <a:bodyPr wrap="square" lIns="0" tIns="0" rIns="0" bIns="0" anchor="ctr">
            <a:noAutofit/>
          </a:bodyPr>
          <a:lstStyle/>
          <a:p>
            <a:pPr algn="l">
              <a:defRPr/>
            </a:pPr>
            <a:r>
              <a:rPr sz="850" b="0">
                <a:solidFill>
                  <a:srgbClr val="5B6673"/>
                </a:solidFill>
              </a:rPr>
              <a:t>policy.yaml: the OWASP policy, verified in an OpenShell sandbox on October 15</a:t>
            </a:r>
            <a:endParaRPr/>
          </a:p>
        </p:txBody>
      </p:sp>
      <p:sp>
        <p:nvSpPr>
          <p:cNvPr id="11" name="TextBox 7"/>
          <p:cNvSpPr txBox="1"/>
          <p:nvPr/>
        </p:nvSpPr>
        <p:spPr bwMode="auto">
          <a:xfrm>
            <a:off x="466344" y="2078677"/>
            <a:ext cx="5724144" cy="1973844"/>
          </a:xfrm>
          <a:prstGeom prst="rect">
            <a:avLst/>
          </a:prstGeom>
          <a:noFill/>
        </p:spPr>
        <p:txBody>
          <a:bodyPr wrap="none" lIns="0" tIns="0" rIns="0" bIns="0">
            <a:spAutoFit/>
          </a:bodyPr>
          <a:lstStyle/>
          <a:p>
            <a:r>
              <a:rPr lang="en-US" sz="700" b="0">
                <a:solidFill>
                  <a:srgbClr val="0451A5"/>
                </a:solidFill>
                <a:latin typeface="Aptos Mono"/>
              </a:rPr>
              <a:t>version</a:t>
            </a:r>
            <a:r>
              <a:rPr lang="en-US" sz="700" b="0">
                <a:solidFill>
                  <a:srgbClr val="000000"/>
                </a:solidFill>
                <a:latin typeface="Aptos Mono"/>
              </a:rPr>
              <a:t>: </a:t>
            </a:r>
            <a:r>
              <a:rPr lang="en-US" sz="700" b="0">
                <a:solidFill>
                  <a:srgbClr val="098658"/>
                </a:solidFill>
                <a:latin typeface="Aptos Mono"/>
              </a:rPr>
              <a:t>1</a:t>
            </a:r>
            <a:endParaRPr/>
          </a:p>
          <a:p>
            <a:r>
              <a:rPr lang="en-US" sz="700" b="0">
                <a:solidFill>
                  <a:srgbClr val="0451A5"/>
                </a:solidFill>
                <a:latin typeface="Aptos Mono"/>
              </a:rPr>
              <a:t>filesystem_policy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include_workdir</a:t>
            </a:r>
            <a:r>
              <a:rPr lang="en-US" sz="700" b="0">
                <a:solidFill>
                  <a:srgbClr val="000000"/>
                </a:solidFill>
                <a:latin typeface="Aptos Mono"/>
              </a:rPr>
              <a:t>:</a:t>
            </a:r>
            <a:r>
              <a:rPr lang="en-US" sz="700" b="0">
                <a:solidFill>
                  <a:srgbClr val="A31515"/>
                </a:solidFill>
                <a:latin typeface="Aptos Mono"/>
              </a:rPr>
              <a:t> true</a:t>
            </a:r>
            <a:endParaRPr/>
          </a:p>
          <a:p>
            <a:r>
              <a:rPr lang="en-US" sz="700" b="0">
                <a:solidFill>
                  <a:srgbClr val="000000"/>
                </a:solidFill>
                <a:latin typeface="Aptos Mono"/>
              </a:rPr>
              <a:t>  </a:t>
            </a:r>
            <a:r>
              <a:rPr lang="en-US" sz="700" b="0">
                <a:solidFill>
                  <a:srgbClr val="0451A5"/>
                </a:solidFill>
                <a:latin typeface="Aptos Mono"/>
              </a:rPr>
              <a:t>read_only</a:t>
            </a:r>
            <a:r>
              <a:rPr lang="en-US" sz="700" b="0">
                <a:solidFill>
                  <a:srgbClr val="000000"/>
                </a:solidFill>
                <a:latin typeface="Aptos Mono"/>
              </a:rPr>
              <a:t>: [</a:t>
            </a:r>
            <a:r>
              <a:rPr lang="en-US" sz="700" b="0">
                <a:solidFill>
                  <a:srgbClr val="A31515"/>
                </a:solidFill>
                <a:latin typeface="Aptos Mono"/>
              </a:rPr>
              <a:t>/bin</a:t>
            </a:r>
            <a:r>
              <a:rPr lang="en-US" sz="700" b="0">
                <a:solidFill>
                  <a:srgbClr val="000000"/>
                </a:solidFill>
                <a:latin typeface="Aptos Mono"/>
              </a:rPr>
              <a:t>,</a:t>
            </a:r>
            <a:r>
              <a:rPr lang="en-US" sz="700" b="0">
                <a:solidFill>
                  <a:srgbClr val="A31515"/>
                </a:solidFill>
                <a:latin typeface="Aptos Mono"/>
              </a:rPr>
              <a:t> /usr</a:t>
            </a:r>
            <a:r>
              <a:rPr lang="en-US" sz="700" b="0">
                <a:solidFill>
                  <a:srgbClr val="000000"/>
                </a:solidFill>
                <a:latin typeface="Aptos Mono"/>
              </a:rPr>
              <a:t>,</a:t>
            </a:r>
            <a:r>
              <a:rPr lang="en-US" sz="700" b="0">
                <a:solidFill>
                  <a:srgbClr val="A31515"/>
                </a:solidFill>
                <a:latin typeface="Aptos Mono"/>
              </a:rPr>
              <a:t> /lib</a:t>
            </a:r>
            <a:r>
              <a:rPr lang="en-US" sz="700" b="0">
                <a:solidFill>
                  <a:srgbClr val="000000"/>
                </a:solidFill>
                <a:latin typeface="Aptos Mono"/>
              </a:rPr>
              <a:t>,</a:t>
            </a:r>
            <a:r>
              <a:rPr lang="en-US" sz="700" b="0">
                <a:solidFill>
                  <a:srgbClr val="A31515"/>
                </a:solidFill>
                <a:latin typeface="Aptos Mono"/>
              </a:rPr>
              <a:t> /lib64</a:t>
            </a:r>
            <a:r>
              <a:rPr lang="en-US" sz="700" b="0">
                <a:solidFill>
                  <a:srgbClr val="000000"/>
                </a:solidFill>
                <a:latin typeface="Aptos Mono"/>
              </a:rPr>
              <a:t>,</a:t>
            </a:r>
            <a:r>
              <a:rPr lang="en-US" sz="700" b="0">
                <a:solidFill>
                  <a:srgbClr val="A31515"/>
                </a:solidFill>
                <a:latin typeface="Aptos Mono"/>
              </a:rPr>
              <a:t> /etc</a:t>
            </a:r>
            <a:r>
              <a:rPr lang="en-US" sz="700" b="0">
                <a:solidFill>
                  <a:srgbClr val="000000"/>
                </a:solidFill>
                <a:latin typeface="Aptos Mono"/>
              </a:rPr>
              <a:t>,</a:t>
            </a:r>
            <a:r>
              <a:rPr lang="en-US" sz="700" b="0">
                <a:solidFill>
                  <a:srgbClr val="A31515"/>
                </a:solidFill>
                <a:latin typeface="Aptos Mono"/>
              </a:rPr>
              <a:t> /proc</a:t>
            </a:r>
            <a:r>
              <a:rPr lang="en-US" sz="700" b="0">
                <a:solidFill>
                  <a:srgbClr val="000000"/>
                </a:solidFill>
                <a:latin typeface="Aptos Mono"/>
              </a:rPr>
              <a:t>,</a:t>
            </a:r>
            <a:r>
              <a:rPr lang="en-US" sz="700" b="0">
                <a:solidFill>
                  <a:srgbClr val="A31515"/>
                </a:solidFill>
                <a:latin typeface="Aptos Mono"/>
              </a:rPr>
              <a:t> /dev/urandom</a:t>
            </a:r>
            <a:r>
              <a:rPr lang="en-US" sz="700" b="0">
                <a:solidFill>
                  <a:srgbClr val="000000"/>
                </a:solidFill>
                <a:latin typeface="Aptos Mono"/>
              </a:rPr>
              <a:t>,</a:t>
            </a:r>
            <a:r>
              <a:rPr lang="en-US" sz="700" b="0">
                <a:solidFill>
                  <a:srgbClr val="A31515"/>
                </a:solidFill>
                <a:latin typeface="Aptos Mono"/>
              </a:rPr>
              <a:t> /app</a:t>
            </a:r>
            <a:r>
              <a:rPr lang="en-US" sz="700" b="0">
                <a:solidFill>
                  <a:srgbClr val="000000"/>
                </a:solidFill>
                <a:latin typeface="Aptos Mono"/>
              </a:rPr>
              <a:t>,</a:t>
            </a:r>
            <a:endParaRPr/>
          </a:p>
          <a:p>
            <a:r>
              <a:rPr lang="en-US" sz="700" b="0">
                <a:solidFill>
                  <a:srgbClr val="A31515"/>
                </a:solidFill>
                <a:latin typeface="Aptos Mono"/>
              </a:rPr>
              <a:t>              /target/testcode</a:t>
            </a:r>
            <a:r>
              <a:rPr lang="en-US" sz="700" b="0">
                <a:solidFill>
                  <a:srgbClr val="000000"/>
                </a:solidFill>
                <a:latin typeface="Aptos Mono"/>
              </a:rPr>
              <a:t>,</a:t>
            </a:r>
            <a:r>
              <a:rPr lang="en-US" sz="700" b="0">
                <a:solidFill>
                  <a:srgbClr val="A31515"/>
                </a:solidFill>
                <a:latin typeface="Aptos Mono"/>
              </a:rPr>
              <a:t> /target/helpers</a:t>
            </a:r>
            <a:r>
              <a:rPr lang="en-US" sz="700" b="0">
                <a:solidFill>
                  <a:srgbClr val="000000"/>
                </a:solidFill>
                <a:latin typeface="Aptos Mono"/>
              </a:rPr>
              <a:t>,</a:t>
            </a:r>
            <a:r>
              <a:rPr lang="en-US" sz="700" b="0">
                <a:solidFill>
                  <a:srgbClr val="A31515"/>
                </a:solidFill>
                <a:latin typeface="Aptos Mono"/>
              </a:rPr>
              <a:t> /target/app.py</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read_write</a:t>
            </a:r>
            <a:r>
              <a:rPr lang="en-US" sz="700" b="0">
                <a:solidFill>
                  <a:srgbClr val="000000"/>
                </a:solidFill>
                <a:latin typeface="Aptos Mono"/>
              </a:rPr>
              <a:t>: [</a:t>
            </a:r>
            <a:r>
              <a:rPr lang="en-US" sz="700" b="0">
                <a:solidFill>
                  <a:srgbClr val="A31515"/>
                </a:solidFill>
                <a:latin typeface="Aptos Mono"/>
              </a:rPr>
              <a:t>/sandbox</a:t>
            </a:r>
            <a:r>
              <a:rPr lang="en-US" sz="700" b="0">
                <a:solidFill>
                  <a:srgbClr val="000000"/>
                </a:solidFill>
                <a:latin typeface="Aptos Mono"/>
              </a:rPr>
              <a:t>,</a:t>
            </a:r>
            <a:r>
              <a:rPr lang="en-US" sz="700" b="0">
                <a:solidFill>
                  <a:srgbClr val="A31515"/>
                </a:solidFill>
                <a:latin typeface="Aptos Mono"/>
              </a:rPr>
              <a:t> /tmp</a:t>
            </a:r>
            <a:r>
              <a:rPr lang="en-US" sz="700" b="0">
                <a:solidFill>
                  <a:srgbClr val="000000"/>
                </a:solidFill>
                <a:latin typeface="Aptos Mono"/>
              </a:rPr>
              <a:t>,</a:t>
            </a:r>
            <a:r>
              <a:rPr lang="en-US" sz="700" b="0">
                <a:solidFill>
                  <a:srgbClr val="A31515"/>
                </a:solidFill>
                <a:latin typeface="Aptos Mono"/>
              </a:rPr>
              <a:t> /dev/null</a:t>
            </a:r>
            <a:r>
              <a:rPr lang="en-US" sz="700" b="0">
                <a:solidFill>
                  <a:srgbClr val="000000"/>
                </a:solidFill>
                <a:latin typeface="Aptos Mono"/>
              </a:rPr>
              <a:t>]</a:t>
            </a:r>
            <a:endParaRPr/>
          </a:p>
          <a:p>
            <a:r>
              <a:rPr lang="en-US" sz="700" b="0">
                <a:solidFill>
                  <a:srgbClr val="0451A5"/>
                </a:solidFill>
                <a:latin typeface="Aptos Mono"/>
              </a:rPr>
              <a:t>landlock</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compatibility</a:t>
            </a:r>
            <a:r>
              <a:rPr lang="en-US" sz="700" b="0">
                <a:solidFill>
                  <a:srgbClr val="000000"/>
                </a:solidFill>
                <a:latin typeface="Aptos Mono"/>
              </a:rPr>
              <a:t>:</a:t>
            </a:r>
            <a:r>
              <a:rPr lang="en-US" sz="700" b="0">
                <a:solidFill>
                  <a:srgbClr val="A31515"/>
                </a:solidFill>
                <a:latin typeface="Aptos Mono"/>
              </a:rPr>
              <a:t> hard_requirement</a:t>
            </a:r>
            <a:endParaRPr/>
          </a:p>
          <a:p>
            <a:r>
              <a:rPr lang="en-US" sz="700" b="0">
                <a:solidFill>
                  <a:srgbClr val="0451A5"/>
                </a:solidFill>
                <a:latin typeface="Aptos Mono"/>
              </a:rPr>
              <a:t>network_policies</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model_provider</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endpoints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host</a:t>
            </a:r>
            <a:r>
              <a:rPr lang="en-US" sz="700" b="0">
                <a:solidFill>
                  <a:srgbClr val="000000"/>
                </a:solidFill>
                <a:latin typeface="Aptos Mono"/>
              </a:rPr>
              <a:t>:</a:t>
            </a:r>
            <a:r>
              <a:rPr lang="en-US" sz="700" b="0">
                <a:solidFill>
                  <a:srgbClr val="A31515"/>
                </a:solidFill>
                <a:latin typeface="Aptos Mono"/>
              </a:rPr>
              <a:t> api.anthropic.com</a:t>
            </a:r>
            <a:endParaRPr/>
          </a:p>
          <a:p>
            <a:r>
              <a:rPr lang="en-US" sz="700" b="0">
                <a:solidFill>
                  <a:srgbClr val="000000"/>
                </a:solidFill>
                <a:latin typeface="Aptos Mono"/>
              </a:rPr>
              <a:t>        </a:t>
            </a:r>
            <a:r>
              <a:rPr lang="en-US" sz="700" b="0">
                <a:solidFill>
                  <a:srgbClr val="0451A5"/>
                </a:solidFill>
                <a:latin typeface="Aptos Mono"/>
              </a:rPr>
              <a:t>port</a:t>
            </a:r>
            <a:r>
              <a:rPr lang="en-US" sz="700" b="0">
                <a:solidFill>
                  <a:srgbClr val="000000"/>
                </a:solidFill>
                <a:latin typeface="Aptos Mono"/>
              </a:rPr>
              <a:t>: </a:t>
            </a:r>
            <a:r>
              <a:rPr lang="en-US" sz="700" b="0">
                <a:solidFill>
                  <a:srgbClr val="098658"/>
                </a:solidFill>
                <a:latin typeface="Aptos Mono"/>
              </a:rPr>
              <a:t>443</a:t>
            </a:r>
            <a:endParaRPr/>
          </a:p>
          <a:p>
            <a:r>
              <a:rPr lang="en-US" sz="700" b="0">
                <a:solidFill>
                  <a:srgbClr val="000000"/>
                </a:solidFill>
                <a:latin typeface="Aptos Mono"/>
              </a:rPr>
              <a:t>        </a:t>
            </a:r>
            <a:r>
              <a:rPr lang="en-US" sz="700" b="0">
                <a:solidFill>
                  <a:srgbClr val="0451A5"/>
                </a:solidFill>
                <a:latin typeface="Aptos Mono"/>
              </a:rPr>
              <a:t>protocol</a:t>
            </a:r>
            <a:r>
              <a:rPr lang="en-US" sz="700" b="0">
                <a:solidFill>
                  <a:srgbClr val="000000"/>
                </a:solidFill>
                <a:latin typeface="Aptos Mono"/>
              </a:rPr>
              <a:t>:</a:t>
            </a:r>
            <a:r>
              <a:rPr lang="en-US" sz="700" b="0">
                <a:solidFill>
                  <a:srgbClr val="A31515"/>
                </a:solidFill>
                <a:latin typeface="Aptos Mono"/>
              </a:rPr>
              <a:t> rest</a:t>
            </a:r>
            <a:endParaRPr/>
          </a:p>
          <a:p>
            <a:r>
              <a:rPr lang="en-US" sz="700" b="0">
                <a:solidFill>
                  <a:srgbClr val="000000"/>
                </a:solidFill>
                <a:latin typeface="Aptos Mono"/>
              </a:rPr>
              <a:t>        </a:t>
            </a:r>
            <a:r>
              <a:rPr lang="en-US" sz="700" b="0">
                <a:solidFill>
                  <a:srgbClr val="0451A5"/>
                </a:solidFill>
                <a:latin typeface="Aptos Mono"/>
              </a:rPr>
              <a:t>enforcement</a:t>
            </a:r>
            <a:r>
              <a:rPr lang="en-US" sz="700" b="0">
                <a:solidFill>
                  <a:srgbClr val="000000"/>
                </a:solidFill>
                <a:latin typeface="Aptos Mono"/>
              </a:rPr>
              <a:t>:</a:t>
            </a:r>
            <a:r>
              <a:rPr lang="en-US" sz="700" b="0">
                <a:solidFill>
                  <a:srgbClr val="A31515"/>
                </a:solidFill>
                <a:latin typeface="Aptos Mono"/>
              </a:rPr>
              <a:t> enforce</a:t>
            </a:r>
            <a:endParaRPr/>
          </a:p>
          <a:p>
            <a:r>
              <a:rPr lang="en-US" sz="700" b="0">
                <a:solidFill>
                  <a:srgbClr val="000000"/>
                </a:solidFill>
                <a:latin typeface="Aptos Mono"/>
              </a:rPr>
              <a:t>        </a:t>
            </a:r>
            <a:r>
              <a:rPr lang="en-US" sz="700" b="0">
                <a:solidFill>
                  <a:srgbClr val="0451A5"/>
                </a:solidFill>
                <a:latin typeface="Aptos Mono"/>
              </a:rPr>
              <a:t>access</a:t>
            </a:r>
            <a:r>
              <a:rPr lang="en-US" sz="700" b="0">
                <a:solidFill>
                  <a:srgbClr val="000000"/>
                </a:solidFill>
                <a:latin typeface="Aptos Mono"/>
              </a:rPr>
              <a:t>:</a:t>
            </a:r>
            <a:r>
              <a:rPr lang="en-US" sz="700" b="0">
                <a:solidFill>
                  <a:srgbClr val="A31515"/>
                </a:solidFill>
                <a:latin typeface="Aptos Mono"/>
              </a:rPr>
              <a:t> read-write</a:t>
            </a:r>
            <a:endParaRPr/>
          </a:p>
          <a:p>
            <a:r>
              <a:rPr lang="en-US" sz="700" b="0">
                <a:solidFill>
                  <a:srgbClr val="000000"/>
                </a:solidFill>
                <a:latin typeface="Aptos Mono"/>
              </a:rPr>
              <a:t>    </a:t>
            </a:r>
            <a:r>
              <a:rPr lang="en-US" sz="700" b="0">
                <a:solidFill>
                  <a:srgbClr val="0451A5"/>
                </a:solidFill>
                <a:latin typeface="Aptos Mono"/>
              </a:rPr>
              <a:t>binaries</a:t>
            </a:r>
            <a:r>
              <a:rPr lang="en-US" sz="700" b="0">
                <a:solidFill>
                  <a:srgbClr val="000000"/>
                </a:solidFill>
                <a:latin typeface="Aptos Mono"/>
              </a:rPr>
              <a:t>:</a:t>
            </a:r>
            <a:endParaRPr/>
          </a:p>
          <a:p>
            <a:r>
              <a:rPr lang="en-US" sz="700" b="0">
                <a:solidFill>
                  <a:srgbClr val="000000"/>
                </a:solidFill>
                <a:latin typeface="Aptos Mono"/>
              </a:rPr>
              <a:t>      - </a:t>
            </a:r>
            <a:r>
              <a:rPr lang="en-US" sz="700" b="0">
                <a:solidFill>
                  <a:srgbClr val="0451A5"/>
                </a:solidFill>
                <a:latin typeface="Aptos Mono"/>
              </a:rPr>
              <a:t>path</a:t>
            </a:r>
            <a:r>
              <a:rPr lang="en-US" sz="700" b="0">
                <a:solidFill>
                  <a:srgbClr val="000000"/>
                </a:solidFill>
                <a:latin typeface="Aptos Mono"/>
              </a:rPr>
              <a:t>:</a:t>
            </a:r>
            <a:r>
              <a:rPr lang="en-US" sz="7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You run each agent five times</a:t>
            </a:r>
            <a:r>
              <a:rPr lang="en-US" sz="1100" b="0">
                <a:solidFill>
                  <a:srgbClr val="FFFFFF">
                    <a:alpha val="0"/>
                  </a:srgbClr>
                </a:solidFill>
              </a:rPr>
              <a:t> under a planted injection and count refusals.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We drive your server</a:t>
            </a:r>
            <a:r>
              <a:rPr lang="en-US" sz="1100" b="0">
                <a:solidFill>
                  <a:srgbClr val="FFFFFF">
                    <a:alpha val="0"/>
                  </a:srgbClr>
                </a:solidFill>
              </a:rPr>
              <a:t> with raw MCP calls, from </a:t>
            </a:r>
            <a:r>
              <a:rPr lang="en-US" sz="1100" b="0">
                <a:solidFill>
                  <a:srgbClr val="FFFFFF">
                    <a:alpha val="0"/>
                  </a:srgbClr>
                </a:solidFill>
                <a:latin typeface="Aptos Mono"/>
              </a:rPr>
              <a:t>mcp.json</a:t>
            </a:r>
            <a:r>
              <a:rPr lang="en-US" sz="1100" b="0">
                <a:solidFill>
                  <a:srgbClr val="FFFFFF">
                    <a:alpha val="0"/>
                  </a:srgbClr>
                </a:solidFill>
              </a:rPr>
              <a:t>, inside your policy.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We bypass your server</a:t>
            </a:r>
            <a:r>
              <a:rPr lang="en-US" sz="1100" b="0">
                <a:solidFill>
                  <a:srgbClr val="FFFFFF">
                    <a:alpha val="0"/>
                  </a:srgbClr>
                </a:solidFill>
              </a:rPr>
              <a:t> from inside the sandbox, where the kernel alone decides.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result:</a:t>
            </a:r>
            <a:r>
              <a:rPr lang="en-US" sz="1100" b="0">
                <a:solidFill>
                  <a:srgbClr val="FFFFFF">
                    <a:alpha val="0"/>
                  </a:srgbClr>
                </a:solidFill>
              </a:rPr>
              <a:t> the kernel stops what was fixed before the run, the server what depends on the alert, and the prompt nothing reliably.</a:t>
            </a:r>
            <a:endParaRPr>
              <a:solidFill>
                <a:srgbClr val="FFFFFF">
                  <a:alpha val="0"/>
                </a:srgbClr>
              </a:solidFill>
            </a:endParaRPr>
          </a:p>
        </p:txBody>
      </p:sp>
      <p:pic>
        <p:nvPicPr>
          <p:cNvPr id="4" name="Picture 1260919718" descr="three-doors-1.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You run each agent five times</a:t>
            </a:r>
            <a:r>
              <a:rPr lang="en-US" sz="1100" b="0">
                <a:solidFill>
                  <a:srgbClr val="000000"/>
                </a:solidFill>
              </a:rPr>
              <a:t> under a planted injection and count refusals.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We drive your server</a:t>
            </a:r>
            <a:r>
              <a:rPr lang="en-US" sz="1100" b="0">
                <a:solidFill>
                  <a:srgbClr val="FFFFFF">
                    <a:alpha val="0"/>
                  </a:srgbClr>
                </a:solidFill>
              </a:rPr>
              <a:t> with raw MCP calls, from </a:t>
            </a:r>
            <a:r>
              <a:rPr lang="en-US" sz="1100" b="0">
                <a:solidFill>
                  <a:srgbClr val="FFFFFF">
                    <a:alpha val="0"/>
                  </a:srgbClr>
                </a:solidFill>
                <a:latin typeface="Aptos Mono"/>
              </a:rPr>
              <a:t>mcp.json</a:t>
            </a:r>
            <a:r>
              <a:rPr lang="en-US" sz="1100" b="0">
                <a:solidFill>
                  <a:srgbClr val="FFFFFF">
                    <a:alpha val="0"/>
                  </a:srgbClr>
                </a:solidFill>
              </a:rPr>
              <a:t>, inside your policy.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We bypass your server</a:t>
            </a:r>
            <a:r>
              <a:rPr lang="en-US" sz="1100" b="0">
                <a:solidFill>
                  <a:srgbClr val="FFFFFF">
                    <a:alpha val="0"/>
                  </a:srgbClr>
                </a:solidFill>
              </a:rPr>
              <a:t> from inside the sandbox, where the kernel alone decides.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result:</a:t>
            </a:r>
            <a:r>
              <a:rPr lang="en-US" sz="1100" b="0">
                <a:solidFill>
                  <a:srgbClr val="FFFFFF">
                    <a:alpha val="0"/>
                  </a:srgbClr>
                </a:solidFill>
              </a:rPr>
              <a:t> the kernel stops what was fixed before the run, the server what depends on the alert, and the prompt nothing reliably.</a:t>
            </a:r>
            <a:endParaRPr>
              <a:solidFill>
                <a:srgbClr val="FFFFFF">
                  <a:alpha val="0"/>
                </a:srgbClr>
              </a:solidFill>
            </a:endParaRPr>
          </a:p>
        </p:txBody>
      </p:sp>
      <p:pic>
        <p:nvPicPr>
          <p:cNvPr id="4" name="Picture 1260919718" descr="three-doors-2.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You run each agent five times</a:t>
            </a:r>
            <a:r>
              <a:rPr lang="en-US" sz="1100" b="0">
                <a:solidFill>
                  <a:srgbClr val="000000"/>
                </a:solidFill>
              </a:rPr>
              <a:t> under a planted injection and count refusals.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drive your server</a:t>
            </a:r>
            <a:r>
              <a:rPr lang="en-US" sz="1100" b="0">
                <a:solidFill>
                  <a:srgbClr val="000000"/>
                </a:solidFill>
              </a:rPr>
              <a:t> with raw MCP calls, from </a:t>
            </a:r>
            <a:r>
              <a:rPr lang="en-US" sz="1100" b="0">
                <a:solidFill>
                  <a:srgbClr val="000000"/>
                </a:solidFill>
                <a:latin typeface="Aptos Mono"/>
              </a:rPr>
              <a:t>mcp.json</a:t>
            </a:r>
            <a:r>
              <a:rPr lang="en-US" sz="1100" b="0">
                <a:solidFill>
                  <a:srgbClr val="000000"/>
                </a:solidFill>
              </a:rPr>
              <a:t>, inside your policy.</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We bypass your server</a:t>
            </a:r>
            <a:r>
              <a:rPr lang="en-US" sz="1100" b="0">
                <a:solidFill>
                  <a:srgbClr val="FFFFFF">
                    <a:alpha val="0"/>
                  </a:srgbClr>
                </a:solidFill>
              </a:rPr>
              <a:t> from inside the sandbox, where the kernel alone decides.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result:</a:t>
            </a:r>
            <a:r>
              <a:rPr lang="en-US" sz="1100" b="0">
                <a:solidFill>
                  <a:srgbClr val="FFFFFF">
                    <a:alpha val="0"/>
                  </a:srgbClr>
                </a:solidFill>
              </a:rPr>
              <a:t> the kernel stops what was fixed before the run, the server what depends on the alert, and the prompt nothing reliably.</a:t>
            </a:r>
            <a:endParaRPr>
              <a:solidFill>
                <a:srgbClr val="FFFFFF">
                  <a:alpha val="0"/>
                </a:srgbClr>
              </a:solidFill>
            </a:endParaRPr>
          </a:p>
        </p:txBody>
      </p:sp>
      <p:pic>
        <p:nvPicPr>
          <p:cNvPr id="4" name="Picture 1260919718" descr="three-doors-3.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You run each agent five times</a:t>
            </a:r>
            <a:r>
              <a:rPr lang="en-US" sz="1100" b="0">
                <a:solidFill>
                  <a:srgbClr val="000000"/>
                </a:solidFill>
              </a:rPr>
              <a:t> under a planted injection and count refusals.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drive your server</a:t>
            </a:r>
            <a:r>
              <a:rPr lang="en-US" sz="1100" b="0">
                <a:solidFill>
                  <a:srgbClr val="000000"/>
                </a:solidFill>
              </a:rPr>
              <a:t> with raw MCP calls, from </a:t>
            </a:r>
            <a:r>
              <a:rPr lang="en-US" sz="1100" b="0">
                <a:solidFill>
                  <a:srgbClr val="000000"/>
                </a:solidFill>
                <a:latin typeface="Aptos Mono"/>
              </a:rPr>
              <a:t>mcp.json</a:t>
            </a:r>
            <a:r>
              <a:rPr lang="en-US" sz="1100" b="0">
                <a:solidFill>
                  <a:srgbClr val="000000"/>
                </a:solidFill>
              </a:rPr>
              <a:t>, inside your policy.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bypass your server</a:t>
            </a:r>
            <a:r>
              <a:rPr lang="en-US" sz="1100" b="0">
                <a:solidFill>
                  <a:srgbClr val="000000"/>
                </a:solidFill>
              </a:rPr>
              <a:t> from inside the sandbox, where the kernel alone decides.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The result:</a:t>
            </a:r>
            <a:r>
              <a:rPr lang="en-US" sz="1100" b="0">
                <a:solidFill>
                  <a:srgbClr val="FFFFFF">
                    <a:alpha val="0"/>
                  </a:srgbClr>
                </a:solidFill>
              </a:rPr>
              <a:t> the kernel stops what was fixed before the run, the server what depends on the alert, and the prompt nothing reliably.</a:t>
            </a:r>
            <a:endParaRPr>
              <a:solidFill>
                <a:srgbClr val="FFFFFF">
                  <a:alpha val="0"/>
                </a:srgbClr>
              </a:solidFill>
            </a:endParaRPr>
          </a:p>
        </p:txBody>
      </p:sp>
      <p:pic>
        <p:nvPicPr>
          <p:cNvPr id="4" name="Picture 1260919718" descr="three-doors-4.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You run each agent five times</a:t>
            </a:r>
            <a:r>
              <a:rPr lang="en-US" sz="1100" b="0">
                <a:solidFill>
                  <a:srgbClr val="000000"/>
                </a:solidFill>
              </a:rPr>
              <a:t> under a planted injection and count refusals.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drive your server</a:t>
            </a:r>
            <a:r>
              <a:rPr lang="en-US" sz="1100" b="0">
                <a:solidFill>
                  <a:srgbClr val="000000"/>
                </a:solidFill>
              </a:rPr>
              <a:t> with raw MCP calls, from </a:t>
            </a:r>
            <a:r>
              <a:rPr lang="en-US" sz="1100" b="0">
                <a:solidFill>
                  <a:srgbClr val="000000"/>
                </a:solidFill>
                <a:latin typeface="Aptos Mono"/>
              </a:rPr>
              <a:t>mcp.json</a:t>
            </a:r>
            <a:r>
              <a:rPr lang="en-US" sz="1100" b="0">
                <a:solidFill>
                  <a:srgbClr val="000000"/>
                </a:solidFill>
              </a:rPr>
              <a:t>, inside your policy.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bypass your server</a:t>
            </a:r>
            <a:r>
              <a:rPr lang="en-US" sz="1100" b="0">
                <a:solidFill>
                  <a:srgbClr val="000000"/>
                </a:solidFill>
              </a:rPr>
              <a:t> from inside the sandbox, where the kernel alone decides.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result:</a:t>
            </a:r>
            <a:r>
              <a:rPr lang="en-US" sz="1100" b="0">
                <a:solidFill>
                  <a:srgbClr val="000000"/>
                </a:solidFill>
              </a:rPr>
              <a:t> the kernel stops what was fixed before the run, the server what depends on the alert, and the prompt nothing reliably.</a:t>
            </a:r>
            <a:endParaRPr/>
          </a:p>
        </p:txBody>
      </p:sp>
      <p:pic>
        <p:nvPicPr>
          <p:cNvPr id="4" name="Picture 1260919718" descr="three-doors-4.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How the guardrails are tested</a:t>
            </a:r>
          </a:p>
        </p:txBody>
      </p:sp>
      <p:sp>
        <p:nvSpPr>
          <p:cNvPr id="3" name="Content Placeholder 2"/>
          <p:cNvSpPr>
            <a:spLocks noGrp="1"/>
          </p:cNvSpPr>
          <p:nvPr>
            <p:ph idx="1"/>
          </p:nvPr>
        </p:nvSpPr>
        <p:spPr bwMode="auto">
          <a:xfrm>
            <a:off x="320040" y="658368"/>
            <a:ext cx="6016752" cy="12344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You run each agent five times</a:t>
            </a:r>
            <a:r>
              <a:rPr lang="en-US" sz="1100" b="0">
                <a:solidFill>
                  <a:srgbClr val="000000"/>
                </a:solidFill>
              </a:rPr>
              <a:t> under a planted injection and count refusals.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drive your server</a:t>
            </a:r>
            <a:r>
              <a:rPr lang="en-US" sz="1100" b="0">
                <a:solidFill>
                  <a:srgbClr val="000000"/>
                </a:solidFill>
              </a:rPr>
              <a:t> with raw MCP calls, from </a:t>
            </a:r>
            <a:r>
              <a:rPr lang="en-US" sz="1100" b="0">
                <a:solidFill>
                  <a:srgbClr val="000000"/>
                </a:solidFill>
                <a:latin typeface="Aptos Mono"/>
              </a:rPr>
              <a:t>mcp.json</a:t>
            </a:r>
            <a:r>
              <a:rPr lang="en-US" sz="1100" b="0">
                <a:solidFill>
                  <a:srgbClr val="000000"/>
                </a:solidFill>
              </a:rPr>
              <a:t>, inside your policy.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We bypass your server</a:t>
            </a:r>
            <a:r>
              <a:rPr lang="en-US" sz="1100" b="0">
                <a:solidFill>
                  <a:srgbClr val="000000"/>
                </a:solidFill>
              </a:rPr>
              <a:t> from inside the sandbox, where the kernel alone decides.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The result:</a:t>
            </a:r>
            <a:r>
              <a:rPr lang="en-US" sz="1100" b="0">
                <a:solidFill>
                  <a:srgbClr val="000000"/>
                </a:solidFill>
              </a:rPr>
              <a:t> the kernel stops what was fixed before the run, the server what depends on the alert, and the prompt nothing reliably.</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Teams write no test harness. The fixtures and our driver do the testing.</a:t>
            </a:r>
            <a:endParaRPr/>
          </a:p>
        </p:txBody>
      </p:sp>
      <p:pic>
        <p:nvPicPr>
          <p:cNvPr id="5" name="Picture 1260919718" descr="three-doors-4.png"/>
          <p:cNvPicPr>
            <a:picLocks noChangeAspect="1"/>
          </p:cNvPicPr>
          <p:nvPr/>
        </p:nvPicPr>
        <p:blipFill>
          <a:blip r:embed="rId3"/>
          <a:stretch>
            <a:fillRect/>
          </a:stretch>
        </p:blipFill>
        <p:spPr>
          <a:xfrm>
            <a:off x="553367" y="2211265"/>
            <a:ext cx="5550097" cy="19728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a:solidFill>
                  <a:schemeClr val="bg1"/>
                </a:solidFill>
                <a:latin typeface="Arial"/>
              </a:rPr>
              <a:t>HW2: contracts, rubric, dates</a:t>
            </a:r>
            <a:endParaRPr/>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over CLDK</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HW2: what you build</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HW2: the guardrails</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HW2: contracts, rubric, dates</a:t>
            </a:r>
            <a:endParaRPr/>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CLDK SDK</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2016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changed since HW1</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CLI is unchanged.</a:t>
            </a:r>
            <a:r>
              <a:rPr lang="en-US" sz="1150" b="0">
                <a:solidFill>
                  <a:srgbClr val="000000"/>
                </a:solidFill>
              </a:rPr>
              <a:t> The config gains </a:t>
            </a:r>
            <a:r>
              <a:rPr lang="en-US" sz="1150" b="0">
                <a:solidFill>
                  <a:srgbClr val="000000"/>
                </a:solidFill>
                <a:latin typeface="Aptos Mono"/>
              </a:rPr>
              <a:t>[agent] kind</a:t>
            </a:r>
            <a:r>
              <a:rPr lang="en-US" sz="1150" b="0">
                <a:solidFill>
                  <a:srgbClr val="000000"/>
                </a:solidFill>
              </a:rPr>
              <a:t>, </a:t>
            </a:r>
            <a:r>
              <a:rPr lang="en-US" sz="1150" b="0">
                <a:solidFill>
                  <a:srgbClr val="000000"/>
                </a:solidFill>
                <a:latin typeface="Aptos Mono"/>
              </a:rPr>
              <a:t>[mcp] config</a:t>
            </a:r>
            <a:r>
              <a:rPr lang="en-US" sz="1150" b="0">
                <a:solidFill>
                  <a:srgbClr val="000000"/>
                </a:solidFill>
              </a:rPr>
              <a:t> and </a:t>
            </a:r>
            <a:r>
              <a:rPr lang="en-US" sz="1150" b="0">
                <a:solidFill>
                  <a:srgbClr val="000000"/>
                </a:solidFill>
                <a:latin typeface="Aptos Mono"/>
              </a:rPr>
              <a:t>[sandbox] policy</a:t>
            </a:r>
            <a:r>
              <a:rPr lang="en-US" sz="115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150" b="0">
                <a:solidFill>
                  <a:srgbClr val="FFFFFF">
                    <a:alpha val="0"/>
                  </a:srgbClr>
                </a:solidFill>
                <a:latin typeface="Aptos Mono"/>
              </a:rPr>
              <a:t>mcp.json</a:t>
            </a:r>
            <a:r>
              <a:rPr lang="en-US" sz="1150" b="1">
                <a:solidFill>
                  <a:srgbClr val="FFFFFF">
                    <a:alpha val="0"/>
                  </a:srgbClr>
                </a:solidFill>
              </a:rPr>
              <a:t> and </a:t>
            </a:r>
            <a:r>
              <a:rPr lang="en-US" sz="1150" b="0">
                <a:solidFill>
                  <a:srgbClr val="FFFFFF">
                    <a:alpha val="0"/>
                  </a:srgbClr>
                </a:solidFill>
                <a:latin typeface="Aptos Mono"/>
              </a:rPr>
              <a:t>policy.yaml</a:t>
            </a:r>
            <a:r>
              <a:rPr lang="en-US" sz="1150" b="0">
                <a:solidFill>
                  <a:srgbClr val="FFFFFF">
                    <a:alpha val="0"/>
                  </a:srgbClr>
                </a:solidFill>
              </a:rPr>
              <a:t> at the repository root: the evaluator starts your server and your sandbox from them without reading your code.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config that does not validate</a:t>
            </a:r>
            <a:r>
              <a:rPr lang="en-US" sz="1150" b="0">
                <a:solidFill>
                  <a:srgbClr val="FFFFFF">
                    <a:alpha val="0"/>
                  </a:srgbClr>
                </a:solidFill>
              </a:rPr>
              <a:t> stops grading at the first step.</a:t>
            </a:r>
            <a:endParaRPr>
              <a:solidFill>
                <a:srgbClr val="FFFFFF">
                  <a:alpha val="0"/>
                </a:srgbClr>
              </a:solidFill>
            </a:endParaRPr>
          </a:p>
        </p:txBody>
      </p:sp>
      <p:sp>
        <p:nvSpPr>
          <p:cNvPr id="4" name="CodeWindow"/>
          <p:cNvSpPr/>
          <p:nvPr/>
        </p:nvSpPr>
        <p:spPr bwMode="auto">
          <a:xfrm>
            <a:off x="320040" y="2178880"/>
            <a:ext cx="6016752" cy="193884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44056"/>
            <a:ext cx="6016752" cy="0"/>
          </a:xfrm>
          <a:prstGeom prst="line">
            <a:avLst/>
          </a:prstGeom>
          <a:ln w="9525">
            <a:solidFill>
              <a:srgbClr val="DCDCDC"/>
            </a:solidFill>
          </a:ln>
        </p:spPr>
      </p:cxnSp>
      <p:sp>
        <p:nvSpPr>
          <p:cNvPr id="6" name="WinDot 0"/>
          <p:cNvSpPr/>
          <p:nvPr/>
        </p:nvSpPr>
        <p:spPr bwMode="auto">
          <a:xfrm>
            <a:off x="411480" y="22611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11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11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0028"/>
            <a:ext cx="5349240" cy="182880"/>
          </a:xfrm>
          <a:prstGeom prst="rect">
            <a:avLst/>
          </a:prstGeom>
          <a:noFill/>
        </p:spPr>
        <p:txBody>
          <a:bodyPr wrap="square" lIns="0" tIns="0" rIns="0" bIns="0" anchor="ctr">
            <a:noAutofit/>
          </a:bodyPr>
          <a:lstStyle/>
          <a:p>
            <a:pPr algn="l">
              <a:defRPr/>
            </a:pPr>
            <a:r>
              <a:rPr sz="850" b="0">
                <a:solidFill>
                  <a:srgbClr val="5B6673"/>
                </a:solidFill>
              </a:rPr>
              <a:t>examples/: the additions to config, trace and report, shortened with "..."</a:t>
            </a:r>
            <a:endParaRPr/>
          </a:p>
        </p:txBody>
      </p:sp>
      <p:sp>
        <p:nvSpPr>
          <p:cNvPr id="10" name="TextBox 7"/>
          <p:cNvSpPr txBox="1"/>
          <p:nvPr/>
        </p:nvSpPr>
        <p:spPr bwMode="auto">
          <a:xfrm>
            <a:off x="466344" y="2508064"/>
            <a:ext cx="5724144" cy="1539656"/>
          </a:xfrm>
          <a:prstGeom prst="rect">
            <a:avLst/>
          </a:prstGeom>
          <a:noFill/>
        </p:spPr>
        <p:txBody>
          <a:bodyPr wrap="none" lIns="0" tIns="0" rIns="0" bIns="0">
            <a:spAutoFit/>
          </a:bodyPr>
          <a:lstStyle/>
          <a:p>
            <a:r>
              <a:rPr lang="en-US" sz="700" b="0">
                <a:solidFill>
                  <a:srgbClr val="008000"/>
                </a:solidFill>
                <a:latin typeface="Aptos Mono"/>
              </a:rPr>
              <a:t># config.toml</a:t>
            </a:r>
            <a:endParaRPr/>
          </a:p>
          <a:p>
            <a:r>
              <a:rPr lang="en-US" sz="700" b="0">
                <a:solidFill>
                  <a:srgbClr val="0451A5"/>
                </a:solidFill>
                <a:latin typeface="Aptos Mono"/>
              </a:rPr>
              <a:t>[agent]</a:t>
            </a:r>
            <a:endParaRPr/>
          </a:p>
          <a:p>
            <a:r>
              <a:rPr lang="en-US" sz="700" b="0">
                <a:solidFill>
                  <a:srgbClr val="0451A5"/>
                </a:solidFill>
                <a:latin typeface="Aptos Mono"/>
              </a:rPr>
              <a:t>kind</a:t>
            </a:r>
            <a:r>
              <a:rPr lang="en-US" sz="700" b="0">
                <a:solidFill>
                  <a:srgbClr val="000000"/>
                </a:solidFill>
                <a:latin typeface="Aptos Mono"/>
              </a:rPr>
              <a:t> = </a:t>
            </a:r>
            <a:r>
              <a:rPr lang="en-US" sz="700" b="0">
                <a:solidFill>
                  <a:srgbClr val="A31515"/>
                </a:solidFill>
                <a:latin typeface="Aptos Mono"/>
              </a:rPr>
              <a:t>"mcp"</a:t>
            </a:r>
            <a:r>
              <a:rPr lang="en-US" sz="700" b="0">
                <a:solidFill>
                  <a:srgbClr val="000000"/>
                </a:solidFill>
                <a:latin typeface="Aptos Mono"/>
              </a:rPr>
              <a:t>            </a:t>
            </a:r>
            <a:r>
              <a:rPr lang="en-US" sz="700" b="0">
                <a:solidFill>
                  <a:srgbClr val="008000"/>
                </a:solidFill>
                <a:latin typeface="Aptos Mono"/>
              </a:rPr>
              <a:t># or "codeact"</a:t>
            </a:r>
            <a:endParaRPr/>
          </a:p>
          <a:p>
            <a:r>
              <a:rPr lang="en-US" sz="700" b="0">
                <a:solidFill>
                  <a:srgbClr val="0451A5"/>
                </a:solidFill>
                <a:latin typeface="Aptos Mono"/>
              </a:rPr>
              <a:t>[mcp]</a:t>
            </a:r>
            <a:endParaRPr/>
          </a:p>
          <a:p>
            <a:r>
              <a:rPr lang="en-US" sz="700" b="0">
                <a:solidFill>
                  <a:srgbClr val="0451A5"/>
                </a:solidFill>
                <a:latin typeface="Aptos Mono"/>
              </a:rPr>
              <a:t>config</a:t>
            </a:r>
            <a:r>
              <a:rPr lang="en-US" sz="700" b="0">
                <a:solidFill>
                  <a:srgbClr val="000000"/>
                </a:solidFill>
                <a:latin typeface="Aptos Mono"/>
              </a:rPr>
              <a:t> = </a:t>
            </a:r>
            <a:r>
              <a:rPr lang="en-US" sz="700" b="0">
                <a:solidFill>
                  <a:srgbClr val="A31515"/>
                </a:solidFill>
                <a:latin typeface="Aptos Mono"/>
              </a:rPr>
              <a:t>"mcp.json"</a:t>
            </a:r>
            <a:endParaRPr/>
          </a:p>
          <a:p>
            <a:r>
              <a:rPr lang="en-US" sz="700" b="0">
                <a:solidFill>
                  <a:srgbClr val="0451A5"/>
                </a:solidFill>
                <a:latin typeface="Aptos Mono"/>
              </a:rPr>
              <a:t>[sandbox]</a:t>
            </a:r>
            <a:endParaRPr/>
          </a:p>
          <a:p>
            <a:r>
              <a:rPr lang="en-US" sz="700" b="0">
                <a:solidFill>
                  <a:srgbClr val="0451A5"/>
                </a:solidFill>
                <a:latin typeface="Aptos Mono"/>
              </a:rPr>
              <a:t>policy</a:t>
            </a:r>
            <a:r>
              <a:rPr lang="en-US" sz="700" b="0">
                <a:solidFill>
                  <a:srgbClr val="000000"/>
                </a:solidFill>
                <a:latin typeface="Aptos Mono"/>
              </a:rPr>
              <a:t> = </a:t>
            </a:r>
            <a:r>
              <a:rPr lang="en-US" sz="700" b="0">
                <a:solidFill>
                  <a:srgbClr val="A31515"/>
                </a:solidFill>
                <a:latin typeface="Aptos Mono"/>
              </a:rPr>
              <a:t>"policy.yaml"</a:t>
            </a:r>
            <a:endParaRPr/>
          </a:p>
          <a:p>
            <a:r>
              <a:rPr lang="en-US" sz="700" b="0">
                <a:solidFill>
                  <a:srgbClr val="008000"/>
                </a:solidFill>
                <a:latin typeface="Aptos Mono"/>
              </a:rPr>
              <a:t># trace.jsonl</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"discovery"</a:t>
            </a:r>
            <a:r>
              <a:rPr lang="en-US" sz="700" b="0">
                <a:solidFill>
                  <a:srgbClr val="000000"/>
                </a:solidFill>
                <a:latin typeface="Aptos Mono"/>
              </a:rPr>
              <a:t>, </a:t>
            </a:r>
            <a:r>
              <a:rPr lang="en-US" sz="700" b="0">
                <a:solidFill>
                  <a:srgbClr val="0451A5"/>
                </a:solidFill>
                <a:latin typeface="Aptos Mono"/>
              </a:rPr>
              <a:t>"server"</a:t>
            </a:r>
            <a:r>
              <a:rPr lang="en-US" sz="700" b="0">
                <a:solidFill>
                  <a:srgbClr val="000000"/>
                </a:solidFill>
                <a:latin typeface="Aptos Mono"/>
              </a:rPr>
              <a:t>: </a:t>
            </a:r>
            <a:r>
              <a:rPr lang="en-US" sz="700" b="0">
                <a:solidFill>
                  <a:srgbClr val="A31515"/>
                </a:solidFill>
                <a:latin typeface="Aptos Mono"/>
              </a:rPr>
              <a:t>"analysis"</a:t>
            </a:r>
            <a:r>
              <a:rPr lang="en-US" sz="700" b="0">
                <a:solidFill>
                  <a:srgbClr val="000000"/>
                </a:solidFill>
                <a:latin typeface="Aptos Mono"/>
              </a:rPr>
              <a:t>, </a:t>
            </a:r>
            <a:r>
              <a:rPr lang="en-US" sz="700" b="0">
                <a:solidFill>
                  <a:srgbClr val="0451A5"/>
                </a:solidFill>
                <a:latin typeface="Aptos Mono"/>
              </a:rPr>
              <a:t>"tools"</a:t>
            </a:r>
            <a:r>
              <a:rPr lang="en-US" sz="700" b="0">
                <a:solidFill>
                  <a:srgbClr val="000000"/>
                </a:solidFill>
                <a:latin typeface="Aptos Mono"/>
              </a:rPr>
              <a:t>: [</a:t>
            </a:r>
            <a:r>
              <a:rPr lang="en-US" sz="700" b="0">
                <a:solidFill>
                  <a:srgbClr val="A31515"/>
                </a:solidFill>
                <a:latin typeface="Aptos Mono"/>
              </a:rPr>
              <a:t>"locate"</a:t>
            </a:r>
            <a:r>
              <a:rPr lang="en-US" sz="700" b="0">
                <a:solidFill>
                  <a:srgbClr val="000000"/>
                </a:solidFill>
                <a:latin typeface="Aptos Mono"/>
              </a:rPr>
              <a:t>, </a:t>
            </a:r>
            <a:r>
              <a:rPr lang="en-US" sz="700" b="0">
                <a:solidFill>
                  <a:srgbClr val="A31515"/>
                </a:solidFill>
                <a:latin typeface="Aptos Mono"/>
              </a:rPr>
              <a:t>"source"</a:t>
            </a:r>
            <a:r>
              <a:rPr lang="en-US" sz="700" b="0">
                <a:solidFill>
                  <a:srgbClr val="000000"/>
                </a:solidFill>
                <a:latin typeface="Aptos Mono"/>
              </a:rPr>
              <a:t>, ...]}</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"tool_request"</a:t>
            </a:r>
            <a:r>
              <a:rPr lang="en-US" sz="700" b="0">
                <a:solidFill>
                  <a:srgbClr val="000000"/>
                </a:solidFill>
                <a:latin typeface="Aptos Mono"/>
              </a:rPr>
              <a:t>, </a:t>
            </a:r>
            <a:r>
              <a:rPr lang="en-US" sz="700" b="0">
                <a:solidFill>
                  <a:srgbClr val="0451A5"/>
                </a:solidFill>
                <a:latin typeface="Aptos Mono"/>
              </a:rPr>
              <a:t>"tool"</a:t>
            </a:r>
            <a:r>
              <a:rPr lang="en-US" sz="700" b="0">
                <a:solidFill>
                  <a:srgbClr val="000000"/>
                </a:solidFill>
                <a:latin typeface="Aptos Mono"/>
              </a:rPr>
              <a:t>: </a:t>
            </a:r>
            <a:r>
              <a:rPr lang="en-US" sz="700" b="0">
                <a:solidFill>
                  <a:srgbClr val="A31515"/>
                </a:solidFill>
                <a:latin typeface="Aptos Mono"/>
              </a:rPr>
              <a:t>"dataflow"</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"tool_result"</a:t>
            </a:r>
            <a:r>
              <a:rPr lang="en-US" sz="700" b="0">
                <a:solidFill>
                  <a:srgbClr val="000000"/>
                </a:solidFill>
                <a:latin typeface="Aptos Mono"/>
              </a:rPr>
              <a:t>, </a:t>
            </a:r>
            <a:r>
              <a:rPr lang="en-US" sz="700" b="0">
                <a:solidFill>
                  <a:srgbClr val="0451A5"/>
                </a:solidFill>
                <a:latin typeface="Aptos Mono"/>
              </a:rPr>
              <a:t>"ok"</a:t>
            </a:r>
            <a:r>
              <a:rPr lang="en-US" sz="700" b="0">
                <a:solidFill>
                  <a:srgbClr val="000000"/>
                </a:solidFill>
                <a:latin typeface="Aptos Mono"/>
              </a:rPr>
              <a:t>: </a:t>
            </a:r>
            <a:r>
              <a:rPr lang="en-US" sz="700" b="0">
                <a:solidFill>
                  <a:srgbClr val="0000FF"/>
                </a:solidFill>
                <a:latin typeface="Aptos Mono"/>
              </a:rPr>
              <a:t>false</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 </a:t>
            </a:r>
            <a:r>
              <a:rPr lang="en-US" sz="700" b="0">
                <a:solidFill>
                  <a:srgbClr val="0451A5"/>
                </a:solidFill>
                <a:latin typeface="Aptos Mono"/>
              </a:rPr>
              <a:t>"refused_by"</a:t>
            </a:r>
            <a:r>
              <a:rPr lang="en-US" sz="700" b="0">
                <a:solidFill>
                  <a:srgbClr val="000000"/>
                </a:solidFill>
                <a:latin typeface="Aptos Mono"/>
              </a:rPr>
              <a:t>: </a:t>
            </a:r>
            <a:r>
              <a:rPr lang="en-US" sz="700" b="0">
                <a:solidFill>
                  <a:srgbClr val="A31515"/>
                </a:solidFill>
                <a:latin typeface="Aptos Mono"/>
              </a:rPr>
              <a:t>"server"</a:t>
            </a:r>
            <a:r>
              <a:rPr lang="en-US" sz="700" b="0">
                <a:solidFill>
                  <a:srgbClr val="000000"/>
                </a:solidFill>
                <a:latin typeface="Aptos Mono"/>
              </a:rPr>
              <a:t>}</a:t>
            </a:r>
            <a:endParaRPr/>
          </a:p>
          <a:p>
            <a:r>
              <a:rPr lang="en-US" sz="700" b="0">
                <a:solidFill>
                  <a:srgbClr val="008000"/>
                </a:solidFill>
                <a:latin typeface="Aptos Mono"/>
              </a:rPr>
              <a:t># report.json, each alert</a:t>
            </a:r>
            <a:endParaRPr/>
          </a:p>
          <a:p>
            <a:r>
              <a:rPr lang="en-US" sz="700" b="0">
                <a:solidFill>
                  <a:srgbClr val="0451A5"/>
                </a:solidFill>
                <a:latin typeface="Aptos Mono"/>
              </a:rPr>
              <a:t>"remediation"</a:t>
            </a:r>
            <a:r>
              <a:rPr lang="en-US" sz="700" b="0">
                <a:solidFill>
                  <a:srgbClr val="000000"/>
                </a:solidFill>
                <a:latin typeface="Aptos Mono"/>
              </a:rPr>
              <a:t>: {</a:t>
            </a:r>
            <a:r>
              <a:rPr lang="en-US" sz="700" b="0">
                <a:solidFill>
                  <a:srgbClr val="0451A5"/>
                </a:solidFill>
                <a:latin typeface="Aptos Mono"/>
              </a:rPr>
              <a:t>"status"</a:t>
            </a:r>
            <a:r>
              <a:rPr lang="en-US" sz="700" b="0">
                <a:solidFill>
                  <a:srgbClr val="000000"/>
                </a:solidFill>
                <a:latin typeface="Aptos Mono"/>
              </a:rPr>
              <a:t>: </a:t>
            </a:r>
            <a:r>
              <a:rPr lang="en-US" sz="700" b="0">
                <a:solidFill>
                  <a:srgbClr val="A31515"/>
                </a:solidFill>
                <a:latin typeface="Aptos Mono"/>
              </a:rPr>
              <a:t>"accepted"</a:t>
            </a:r>
            <a:r>
              <a:rPr lang="en-US" sz="700" b="0">
                <a:solidFill>
                  <a:srgbClr val="000000"/>
                </a:solidFill>
                <a:latin typeface="Aptos Mono"/>
              </a:rPr>
              <a:t>, </a:t>
            </a:r>
            <a:r>
              <a:rPr lang="en-US" sz="700" b="0">
                <a:solidFill>
                  <a:srgbClr val="0451A5"/>
                </a:solidFill>
                <a:latin typeface="Aptos Mono"/>
              </a:rPr>
              <a:t>"diff"</a:t>
            </a:r>
            <a:r>
              <a:rPr lang="en-US" sz="700" b="0">
                <a:solidFill>
                  <a:srgbClr val="000000"/>
                </a:solidFill>
                <a:latin typeface="Aptos Mono"/>
              </a:rPr>
              <a:t>: </a:t>
            </a:r>
            <a:r>
              <a:rPr lang="en-US" sz="700" b="0">
                <a:solidFill>
                  <a:srgbClr val="A31515"/>
                </a:solidFill>
                <a:latin typeface="Aptos Mono"/>
              </a:rPr>
              <a:t>"--- a/testcode/..."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"checks"</a:t>
            </a:r>
            <a:r>
              <a:rPr lang="en-US" sz="700" b="0">
                <a:solidFill>
                  <a:srgbClr val="000000"/>
                </a:solidFill>
                <a:latin typeface="Aptos Mono"/>
              </a:rPr>
              <a:t>: {</a:t>
            </a:r>
            <a:r>
              <a:rPr lang="en-US" sz="700" b="0">
                <a:solidFill>
                  <a:srgbClr val="0451A5"/>
                </a:solidFill>
                <a:latin typeface="Aptos Mono"/>
              </a:rPr>
              <a:t>"applies"</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"touches_flagged_line"</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"clean_rescan"</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changed since HW1</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CLI is unchanged.</a:t>
            </a:r>
            <a:r>
              <a:rPr lang="en-US" sz="1150" b="0">
                <a:solidFill>
                  <a:srgbClr val="000000"/>
                </a:solidFill>
              </a:rPr>
              <a:t> The config gains </a:t>
            </a:r>
            <a:r>
              <a:rPr lang="en-US" sz="1150" b="0">
                <a:solidFill>
                  <a:srgbClr val="000000"/>
                </a:solidFill>
                <a:latin typeface="Aptos Mono"/>
              </a:rPr>
              <a:t>[agent] kind</a:t>
            </a:r>
            <a:r>
              <a:rPr lang="en-US" sz="1150" b="0">
                <a:solidFill>
                  <a:srgbClr val="000000"/>
                </a:solidFill>
              </a:rPr>
              <a:t>, </a:t>
            </a:r>
            <a:r>
              <a:rPr lang="en-US" sz="1150" b="0">
                <a:solidFill>
                  <a:srgbClr val="000000"/>
                </a:solidFill>
                <a:latin typeface="Aptos Mono"/>
              </a:rPr>
              <a:t>[mcp] config</a:t>
            </a:r>
            <a:r>
              <a:rPr lang="en-US" sz="1150" b="0">
                <a:solidFill>
                  <a:srgbClr val="000000"/>
                </a:solidFill>
              </a:rPr>
              <a:t> and </a:t>
            </a:r>
            <a:r>
              <a:rPr lang="en-US" sz="1150" b="0">
                <a:solidFill>
                  <a:srgbClr val="000000"/>
                </a:solidFill>
                <a:latin typeface="Aptos Mono"/>
              </a:rPr>
              <a:t>[sandbox] policy</a:t>
            </a:r>
            <a:r>
              <a:rPr lang="en-US" sz="115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mcp.json</a:t>
            </a:r>
            <a:r>
              <a:rPr lang="en-US" sz="1150" b="1">
                <a:solidFill>
                  <a:srgbClr val="000000"/>
                </a:solidFill>
              </a:rPr>
              <a:t> and </a:t>
            </a:r>
            <a:r>
              <a:rPr lang="en-US" sz="1150" b="0">
                <a:solidFill>
                  <a:srgbClr val="000000"/>
                </a:solidFill>
                <a:latin typeface="Aptos Mono"/>
              </a:rPr>
              <a:t>policy.yaml</a:t>
            </a:r>
            <a:r>
              <a:rPr lang="en-US" sz="1150" b="0">
                <a:solidFill>
                  <a:srgbClr val="000000"/>
                </a:solidFill>
              </a:rPr>
              <a:t> at the repository root: the evaluator starts your server and your sandbox from them without reading your code.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config that does not validate</a:t>
            </a:r>
            <a:r>
              <a:rPr lang="en-US" sz="1150" b="0">
                <a:solidFill>
                  <a:srgbClr val="FFFFFF">
                    <a:alpha val="0"/>
                  </a:srgbClr>
                </a:solidFill>
              </a:rPr>
              <a:t> stops grading at the first step.</a:t>
            </a:r>
            <a:endParaRPr>
              <a:solidFill>
                <a:srgbClr val="FFFFFF">
                  <a:alpha val="0"/>
                </a:srgbClr>
              </a:solidFill>
            </a:endParaRPr>
          </a:p>
        </p:txBody>
      </p:sp>
      <p:sp>
        <p:nvSpPr>
          <p:cNvPr id="4" name="CodeWindow"/>
          <p:cNvSpPr/>
          <p:nvPr/>
        </p:nvSpPr>
        <p:spPr bwMode="auto">
          <a:xfrm>
            <a:off x="320040" y="2178880"/>
            <a:ext cx="6016752" cy="193884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44056"/>
            <a:ext cx="6016752" cy="0"/>
          </a:xfrm>
          <a:prstGeom prst="line">
            <a:avLst/>
          </a:prstGeom>
          <a:ln w="9525">
            <a:solidFill>
              <a:srgbClr val="DCDCDC"/>
            </a:solidFill>
          </a:ln>
        </p:spPr>
      </p:cxnSp>
      <p:sp>
        <p:nvSpPr>
          <p:cNvPr id="6" name="WinDot 0"/>
          <p:cNvSpPr/>
          <p:nvPr/>
        </p:nvSpPr>
        <p:spPr bwMode="auto">
          <a:xfrm>
            <a:off x="411480" y="22611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11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11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0028"/>
            <a:ext cx="5349240" cy="182880"/>
          </a:xfrm>
          <a:prstGeom prst="rect">
            <a:avLst/>
          </a:prstGeom>
          <a:noFill/>
        </p:spPr>
        <p:txBody>
          <a:bodyPr wrap="square" lIns="0" tIns="0" rIns="0" bIns="0" anchor="ctr">
            <a:noAutofit/>
          </a:bodyPr>
          <a:lstStyle/>
          <a:p>
            <a:pPr algn="l">
              <a:defRPr/>
            </a:pPr>
            <a:r>
              <a:rPr sz="850" b="0">
                <a:solidFill>
                  <a:srgbClr val="5B6673"/>
                </a:solidFill>
              </a:rPr>
              <a:t>examples/: the additions to config, trace and report, shortened with "..."</a:t>
            </a:r>
            <a:endParaRPr/>
          </a:p>
        </p:txBody>
      </p:sp>
      <p:sp>
        <p:nvSpPr>
          <p:cNvPr id="10" name="TextBox 7"/>
          <p:cNvSpPr txBox="1"/>
          <p:nvPr/>
        </p:nvSpPr>
        <p:spPr bwMode="auto">
          <a:xfrm>
            <a:off x="466344" y="2508064"/>
            <a:ext cx="5724144" cy="1539656"/>
          </a:xfrm>
          <a:prstGeom prst="rect">
            <a:avLst/>
          </a:prstGeom>
          <a:noFill/>
        </p:spPr>
        <p:txBody>
          <a:bodyPr wrap="none" lIns="0" tIns="0" rIns="0" bIns="0">
            <a:spAutoFit/>
          </a:bodyPr>
          <a:lstStyle/>
          <a:p>
            <a:r>
              <a:rPr lang="en-US" sz="700" b="0">
                <a:solidFill>
                  <a:srgbClr val="008000"/>
                </a:solidFill>
                <a:latin typeface="Aptos Mono"/>
              </a:rPr>
              <a:t># config.toml</a:t>
            </a:r>
            <a:endParaRPr/>
          </a:p>
          <a:p>
            <a:r>
              <a:rPr lang="en-US" sz="700" b="0">
                <a:solidFill>
                  <a:srgbClr val="0451A5"/>
                </a:solidFill>
                <a:latin typeface="Aptos Mono"/>
              </a:rPr>
              <a:t>[agent]</a:t>
            </a:r>
            <a:endParaRPr/>
          </a:p>
          <a:p>
            <a:r>
              <a:rPr lang="en-US" sz="700" b="0">
                <a:solidFill>
                  <a:srgbClr val="0451A5"/>
                </a:solidFill>
                <a:latin typeface="Aptos Mono"/>
              </a:rPr>
              <a:t>kind</a:t>
            </a:r>
            <a:r>
              <a:rPr lang="en-US" sz="700" b="0">
                <a:solidFill>
                  <a:srgbClr val="000000"/>
                </a:solidFill>
                <a:latin typeface="Aptos Mono"/>
              </a:rPr>
              <a:t> = </a:t>
            </a:r>
            <a:r>
              <a:rPr lang="en-US" sz="700" b="0">
                <a:solidFill>
                  <a:srgbClr val="A31515"/>
                </a:solidFill>
                <a:latin typeface="Aptos Mono"/>
              </a:rPr>
              <a:t>"mcp"</a:t>
            </a:r>
            <a:r>
              <a:rPr lang="en-US" sz="700" b="0">
                <a:solidFill>
                  <a:srgbClr val="000000"/>
                </a:solidFill>
                <a:latin typeface="Aptos Mono"/>
              </a:rPr>
              <a:t>            </a:t>
            </a:r>
            <a:r>
              <a:rPr lang="en-US" sz="700" b="0">
                <a:solidFill>
                  <a:srgbClr val="008000"/>
                </a:solidFill>
                <a:latin typeface="Aptos Mono"/>
              </a:rPr>
              <a:t># or "codeact"</a:t>
            </a:r>
            <a:endParaRPr/>
          </a:p>
          <a:p>
            <a:r>
              <a:rPr lang="en-US" sz="700" b="0">
                <a:solidFill>
                  <a:srgbClr val="0451A5"/>
                </a:solidFill>
                <a:latin typeface="Aptos Mono"/>
              </a:rPr>
              <a:t>[mcp]</a:t>
            </a:r>
            <a:endParaRPr/>
          </a:p>
          <a:p>
            <a:r>
              <a:rPr lang="en-US" sz="700" b="0">
                <a:solidFill>
                  <a:srgbClr val="0451A5"/>
                </a:solidFill>
                <a:latin typeface="Aptos Mono"/>
              </a:rPr>
              <a:t>config</a:t>
            </a:r>
            <a:r>
              <a:rPr lang="en-US" sz="700" b="0">
                <a:solidFill>
                  <a:srgbClr val="000000"/>
                </a:solidFill>
                <a:latin typeface="Aptos Mono"/>
              </a:rPr>
              <a:t> = </a:t>
            </a:r>
            <a:r>
              <a:rPr lang="en-US" sz="700" b="0">
                <a:solidFill>
                  <a:srgbClr val="A31515"/>
                </a:solidFill>
                <a:latin typeface="Aptos Mono"/>
              </a:rPr>
              <a:t>"mcp.json"</a:t>
            </a:r>
            <a:endParaRPr/>
          </a:p>
          <a:p>
            <a:r>
              <a:rPr lang="en-US" sz="700" b="0">
                <a:solidFill>
                  <a:srgbClr val="0451A5"/>
                </a:solidFill>
                <a:latin typeface="Aptos Mono"/>
              </a:rPr>
              <a:t>[sandbox]</a:t>
            </a:r>
            <a:endParaRPr/>
          </a:p>
          <a:p>
            <a:r>
              <a:rPr lang="en-US" sz="700" b="0">
                <a:solidFill>
                  <a:srgbClr val="0451A5"/>
                </a:solidFill>
                <a:latin typeface="Aptos Mono"/>
              </a:rPr>
              <a:t>policy</a:t>
            </a:r>
            <a:r>
              <a:rPr lang="en-US" sz="700" b="0">
                <a:solidFill>
                  <a:srgbClr val="000000"/>
                </a:solidFill>
                <a:latin typeface="Aptos Mono"/>
              </a:rPr>
              <a:t> = </a:t>
            </a:r>
            <a:r>
              <a:rPr lang="en-US" sz="700" b="0">
                <a:solidFill>
                  <a:srgbClr val="A31515"/>
                </a:solidFill>
                <a:latin typeface="Aptos Mono"/>
              </a:rPr>
              <a:t>"policy.yaml"</a:t>
            </a:r>
            <a:endParaRPr/>
          </a:p>
          <a:p>
            <a:r>
              <a:rPr lang="en-US" sz="700" b="0">
                <a:solidFill>
                  <a:srgbClr val="008000"/>
                </a:solidFill>
                <a:latin typeface="Aptos Mono"/>
              </a:rPr>
              <a:t># trace.jsonl</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"discovery"</a:t>
            </a:r>
            <a:r>
              <a:rPr lang="en-US" sz="700" b="0">
                <a:solidFill>
                  <a:srgbClr val="000000"/>
                </a:solidFill>
                <a:latin typeface="Aptos Mono"/>
              </a:rPr>
              <a:t>, </a:t>
            </a:r>
            <a:r>
              <a:rPr lang="en-US" sz="700" b="0">
                <a:solidFill>
                  <a:srgbClr val="0451A5"/>
                </a:solidFill>
                <a:latin typeface="Aptos Mono"/>
              </a:rPr>
              <a:t>"server"</a:t>
            </a:r>
            <a:r>
              <a:rPr lang="en-US" sz="700" b="0">
                <a:solidFill>
                  <a:srgbClr val="000000"/>
                </a:solidFill>
                <a:latin typeface="Aptos Mono"/>
              </a:rPr>
              <a:t>: </a:t>
            </a:r>
            <a:r>
              <a:rPr lang="en-US" sz="700" b="0">
                <a:solidFill>
                  <a:srgbClr val="A31515"/>
                </a:solidFill>
                <a:latin typeface="Aptos Mono"/>
              </a:rPr>
              <a:t>"analysis"</a:t>
            </a:r>
            <a:r>
              <a:rPr lang="en-US" sz="700" b="0">
                <a:solidFill>
                  <a:srgbClr val="000000"/>
                </a:solidFill>
                <a:latin typeface="Aptos Mono"/>
              </a:rPr>
              <a:t>, </a:t>
            </a:r>
            <a:r>
              <a:rPr lang="en-US" sz="700" b="0">
                <a:solidFill>
                  <a:srgbClr val="0451A5"/>
                </a:solidFill>
                <a:latin typeface="Aptos Mono"/>
              </a:rPr>
              <a:t>"tools"</a:t>
            </a:r>
            <a:r>
              <a:rPr lang="en-US" sz="700" b="0">
                <a:solidFill>
                  <a:srgbClr val="000000"/>
                </a:solidFill>
                <a:latin typeface="Aptos Mono"/>
              </a:rPr>
              <a:t>: [</a:t>
            </a:r>
            <a:r>
              <a:rPr lang="en-US" sz="700" b="0">
                <a:solidFill>
                  <a:srgbClr val="A31515"/>
                </a:solidFill>
                <a:latin typeface="Aptos Mono"/>
              </a:rPr>
              <a:t>"locate"</a:t>
            </a:r>
            <a:r>
              <a:rPr lang="en-US" sz="700" b="0">
                <a:solidFill>
                  <a:srgbClr val="000000"/>
                </a:solidFill>
                <a:latin typeface="Aptos Mono"/>
              </a:rPr>
              <a:t>, </a:t>
            </a:r>
            <a:r>
              <a:rPr lang="en-US" sz="700" b="0">
                <a:solidFill>
                  <a:srgbClr val="A31515"/>
                </a:solidFill>
                <a:latin typeface="Aptos Mono"/>
              </a:rPr>
              <a:t>"source"</a:t>
            </a:r>
            <a:r>
              <a:rPr lang="en-US" sz="700" b="0">
                <a:solidFill>
                  <a:srgbClr val="000000"/>
                </a:solidFill>
                <a:latin typeface="Aptos Mono"/>
              </a:rPr>
              <a:t>, ...]}</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"tool_request"</a:t>
            </a:r>
            <a:r>
              <a:rPr lang="en-US" sz="700" b="0">
                <a:solidFill>
                  <a:srgbClr val="000000"/>
                </a:solidFill>
                <a:latin typeface="Aptos Mono"/>
              </a:rPr>
              <a:t>, </a:t>
            </a:r>
            <a:r>
              <a:rPr lang="en-US" sz="700" b="0">
                <a:solidFill>
                  <a:srgbClr val="0451A5"/>
                </a:solidFill>
                <a:latin typeface="Aptos Mono"/>
              </a:rPr>
              <a:t>"tool"</a:t>
            </a:r>
            <a:r>
              <a:rPr lang="en-US" sz="700" b="0">
                <a:solidFill>
                  <a:srgbClr val="000000"/>
                </a:solidFill>
                <a:latin typeface="Aptos Mono"/>
              </a:rPr>
              <a:t>: </a:t>
            </a:r>
            <a:r>
              <a:rPr lang="en-US" sz="700" b="0">
                <a:solidFill>
                  <a:srgbClr val="A31515"/>
                </a:solidFill>
                <a:latin typeface="Aptos Mono"/>
              </a:rPr>
              <a:t>"dataflow"</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"tool_result"</a:t>
            </a:r>
            <a:r>
              <a:rPr lang="en-US" sz="700" b="0">
                <a:solidFill>
                  <a:srgbClr val="000000"/>
                </a:solidFill>
                <a:latin typeface="Aptos Mono"/>
              </a:rPr>
              <a:t>, </a:t>
            </a:r>
            <a:r>
              <a:rPr lang="en-US" sz="700" b="0">
                <a:solidFill>
                  <a:srgbClr val="0451A5"/>
                </a:solidFill>
                <a:latin typeface="Aptos Mono"/>
              </a:rPr>
              <a:t>"ok"</a:t>
            </a:r>
            <a:r>
              <a:rPr lang="en-US" sz="700" b="0">
                <a:solidFill>
                  <a:srgbClr val="000000"/>
                </a:solidFill>
                <a:latin typeface="Aptos Mono"/>
              </a:rPr>
              <a:t>: </a:t>
            </a:r>
            <a:r>
              <a:rPr lang="en-US" sz="700" b="0">
                <a:solidFill>
                  <a:srgbClr val="0000FF"/>
                </a:solidFill>
                <a:latin typeface="Aptos Mono"/>
              </a:rPr>
              <a:t>false</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 </a:t>
            </a:r>
            <a:r>
              <a:rPr lang="en-US" sz="700" b="0">
                <a:solidFill>
                  <a:srgbClr val="0451A5"/>
                </a:solidFill>
                <a:latin typeface="Aptos Mono"/>
              </a:rPr>
              <a:t>"refused_by"</a:t>
            </a:r>
            <a:r>
              <a:rPr lang="en-US" sz="700" b="0">
                <a:solidFill>
                  <a:srgbClr val="000000"/>
                </a:solidFill>
                <a:latin typeface="Aptos Mono"/>
              </a:rPr>
              <a:t>: </a:t>
            </a:r>
            <a:r>
              <a:rPr lang="en-US" sz="700" b="0">
                <a:solidFill>
                  <a:srgbClr val="A31515"/>
                </a:solidFill>
                <a:latin typeface="Aptos Mono"/>
              </a:rPr>
              <a:t>"server"</a:t>
            </a:r>
            <a:r>
              <a:rPr lang="en-US" sz="700" b="0">
                <a:solidFill>
                  <a:srgbClr val="000000"/>
                </a:solidFill>
                <a:latin typeface="Aptos Mono"/>
              </a:rPr>
              <a:t>}</a:t>
            </a:r>
            <a:endParaRPr/>
          </a:p>
          <a:p>
            <a:r>
              <a:rPr lang="en-US" sz="700" b="0">
                <a:solidFill>
                  <a:srgbClr val="008000"/>
                </a:solidFill>
                <a:latin typeface="Aptos Mono"/>
              </a:rPr>
              <a:t># report.json, each alert</a:t>
            </a:r>
            <a:endParaRPr/>
          </a:p>
          <a:p>
            <a:r>
              <a:rPr lang="en-US" sz="700" b="0">
                <a:solidFill>
                  <a:srgbClr val="0451A5"/>
                </a:solidFill>
                <a:latin typeface="Aptos Mono"/>
              </a:rPr>
              <a:t>"remediation"</a:t>
            </a:r>
            <a:r>
              <a:rPr lang="en-US" sz="700" b="0">
                <a:solidFill>
                  <a:srgbClr val="000000"/>
                </a:solidFill>
                <a:latin typeface="Aptos Mono"/>
              </a:rPr>
              <a:t>: {</a:t>
            </a:r>
            <a:r>
              <a:rPr lang="en-US" sz="700" b="0">
                <a:solidFill>
                  <a:srgbClr val="0451A5"/>
                </a:solidFill>
                <a:latin typeface="Aptos Mono"/>
              </a:rPr>
              <a:t>"status"</a:t>
            </a:r>
            <a:r>
              <a:rPr lang="en-US" sz="700" b="0">
                <a:solidFill>
                  <a:srgbClr val="000000"/>
                </a:solidFill>
                <a:latin typeface="Aptos Mono"/>
              </a:rPr>
              <a:t>: </a:t>
            </a:r>
            <a:r>
              <a:rPr lang="en-US" sz="700" b="0">
                <a:solidFill>
                  <a:srgbClr val="A31515"/>
                </a:solidFill>
                <a:latin typeface="Aptos Mono"/>
              </a:rPr>
              <a:t>"accepted"</a:t>
            </a:r>
            <a:r>
              <a:rPr lang="en-US" sz="700" b="0">
                <a:solidFill>
                  <a:srgbClr val="000000"/>
                </a:solidFill>
                <a:latin typeface="Aptos Mono"/>
              </a:rPr>
              <a:t>, </a:t>
            </a:r>
            <a:r>
              <a:rPr lang="en-US" sz="700" b="0">
                <a:solidFill>
                  <a:srgbClr val="0451A5"/>
                </a:solidFill>
                <a:latin typeface="Aptos Mono"/>
              </a:rPr>
              <a:t>"diff"</a:t>
            </a:r>
            <a:r>
              <a:rPr lang="en-US" sz="700" b="0">
                <a:solidFill>
                  <a:srgbClr val="000000"/>
                </a:solidFill>
                <a:latin typeface="Aptos Mono"/>
              </a:rPr>
              <a:t>: </a:t>
            </a:r>
            <a:r>
              <a:rPr lang="en-US" sz="700" b="0">
                <a:solidFill>
                  <a:srgbClr val="A31515"/>
                </a:solidFill>
                <a:latin typeface="Aptos Mono"/>
              </a:rPr>
              <a:t>"--- a/testcode/..."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"checks"</a:t>
            </a:r>
            <a:r>
              <a:rPr lang="en-US" sz="700" b="0">
                <a:solidFill>
                  <a:srgbClr val="000000"/>
                </a:solidFill>
                <a:latin typeface="Aptos Mono"/>
              </a:rPr>
              <a:t>: {</a:t>
            </a:r>
            <a:r>
              <a:rPr lang="en-US" sz="700" b="0">
                <a:solidFill>
                  <a:srgbClr val="0451A5"/>
                </a:solidFill>
                <a:latin typeface="Aptos Mono"/>
              </a:rPr>
              <a:t>"applies"</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"touches_flagged_line"</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"clean_rescan"</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changed since HW1</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CLI is unchanged.</a:t>
            </a:r>
            <a:r>
              <a:rPr lang="en-US" sz="1150" b="0">
                <a:solidFill>
                  <a:srgbClr val="000000"/>
                </a:solidFill>
              </a:rPr>
              <a:t> The config gains </a:t>
            </a:r>
            <a:r>
              <a:rPr lang="en-US" sz="1150" b="0">
                <a:solidFill>
                  <a:srgbClr val="000000"/>
                </a:solidFill>
                <a:latin typeface="Aptos Mono"/>
              </a:rPr>
              <a:t>[agent] kind</a:t>
            </a:r>
            <a:r>
              <a:rPr lang="en-US" sz="1150" b="0">
                <a:solidFill>
                  <a:srgbClr val="000000"/>
                </a:solidFill>
              </a:rPr>
              <a:t>, </a:t>
            </a:r>
            <a:r>
              <a:rPr lang="en-US" sz="1150" b="0">
                <a:solidFill>
                  <a:srgbClr val="000000"/>
                </a:solidFill>
                <a:latin typeface="Aptos Mono"/>
              </a:rPr>
              <a:t>[mcp] config</a:t>
            </a:r>
            <a:r>
              <a:rPr lang="en-US" sz="1150" b="0">
                <a:solidFill>
                  <a:srgbClr val="000000"/>
                </a:solidFill>
              </a:rPr>
              <a:t> and </a:t>
            </a:r>
            <a:r>
              <a:rPr lang="en-US" sz="1150" b="0">
                <a:solidFill>
                  <a:srgbClr val="000000"/>
                </a:solidFill>
                <a:latin typeface="Aptos Mono"/>
              </a:rPr>
              <a:t>[sandbox] policy</a:t>
            </a:r>
            <a:r>
              <a:rPr lang="en-US" sz="115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mcp.json</a:t>
            </a:r>
            <a:r>
              <a:rPr lang="en-US" sz="1150" b="1">
                <a:solidFill>
                  <a:srgbClr val="000000"/>
                </a:solidFill>
              </a:rPr>
              <a:t> and </a:t>
            </a:r>
            <a:r>
              <a:rPr lang="en-US" sz="1150" b="0">
                <a:solidFill>
                  <a:srgbClr val="000000"/>
                </a:solidFill>
                <a:latin typeface="Aptos Mono"/>
              </a:rPr>
              <a:t>policy.yaml</a:t>
            </a:r>
            <a:r>
              <a:rPr lang="en-US" sz="1150" b="0">
                <a:solidFill>
                  <a:srgbClr val="000000"/>
                </a:solidFill>
              </a:rPr>
              <a:t> at the repository root: the evaluator starts your server and your sandbox from them without reading your code.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config that does not validate</a:t>
            </a:r>
            <a:r>
              <a:rPr lang="en-US" sz="1150" b="0">
                <a:solidFill>
                  <a:srgbClr val="000000"/>
                </a:solidFill>
              </a:rPr>
              <a:t> stops grading at the first step.</a:t>
            </a:r>
            <a:endParaRPr/>
          </a:p>
        </p:txBody>
      </p:sp>
      <p:sp>
        <p:nvSpPr>
          <p:cNvPr id="4" name="CodeWindow"/>
          <p:cNvSpPr/>
          <p:nvPr/>
        </p:nvSpPr>
        <p:spPr bwMode="auto">
          <a:xfrm>
            <a:off x="320040" y="2178880"/>
            <a:ext cx="6016752" cy="193884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5" name="WinBar"/>
          <p:cNvCxnSpPr/>
          <p:nvPr/>
        </p:nvCxnSpPr>
        <p:spPr bwMode="auto">
          <a:xfrm>
            <a:off x="320040" y="2444056"/>
            <a:ext cx="6016752" cy="0"/>
          </a:xfrm>
          <a:prstGeom prst="line">
            <a:avLst/>
          </a:prstGeom>
          <a:ln w="9525">
            <a:solidFill>
              <a:srgbClr val="DCDCDC"/>
            </a:solidFill>
          </a:ln>
        </p:spPr>
      </p:cxnSp>
      <p:sp>
        <p:nvSpPr>
          <p:cNvPr id="6" name="WinDot 0"/>
          <p:cNvSpPr/>
          <p:nvPr/>
        </p:nvSpPr>
        <p:spPr bwMode="auto">
          <a:xfrm>
            <a:off x="411480" y="22611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 name="WinDot 1"/>
          <p:cNvSpPr/>
          <p:nvPr/>
        </p:nvSpPr>
        <p:spPr bwMode="auto">
          <a:xfrm>
            <a:off x="548640" y="22611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2"/>
          <p:cNvSpPr/>
          <p:nvPr/>
        </p:nvSpPr>
        <p:spPr bwMode="auto">
          <a:xfrm>
            <a:off x="685800" y="22611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TextBox 8"/>
          <p:cNvSpPr txBox="1"/>
          <p:nvPr/>
        </p:nvSpPr>
        <p:spPr bwMode="auto">
          <a:xfrm>
            <a:off x="896112" y="2220028"/>
            <a:ext cx="5349240" cy="182880"/>
          </a:xfrm>
          <a:prstGeom prst="rect">
            <a:avLst/>
          </a:prstGeom>
          <a:noFill/>
        </p:spPr>
        <p:txBody>
          <a:bodyPr wrap="square" lIns="0" tIns="0" rIns="0" bIns="0" anchor="ctr">
            <a:noAutofit/>
          </a:bodyPr>
          <a:lstStyle/>
          <a:p>
            <a:pPr algn="l">
              <a:defRPr/>
            </a:pPr>
            <a:r>
              <a:rPr sz="850" b="0">
                <a:solidFill>
                  <a:srgbClr val="5B6673"/>
                </a:solidFill>
              </a:rPr>
              <a:t>examples/: the additions to config, trace and report, shortened with "..."</a:t>
            </a:r>
            <a:endParaRPr/>
          </a:p>
        </p:txBody>
      </p:sp>
      <p:sp>
        <p:nvSpPr>
          <p:cNvPr id="10" name="TextBox 7"/>
          <p:cNvSpPr txBox="1"/>
          <p:nvPr/>
        </p:nvSpPr>
        <p:spPr bwMode="auto">
          <a:xfrm>
            <a:off x="466344" y="2508064"/>
            <a:ext cx="5724144" cy="1539656"/>
          </a:xfrm>
          <a:prstGeom prst="rect">
            <a:avLst/>
          </a:prstGeom>
          <a:noFill/>
        </p:spPr>
        <p:txBody>
          <a:bodyPr wrap="none" lIns="0" tIns="0" rIns="0" bIns="0">
            <a:spAutoFit/>
          </a:bodyPr>
          <a:lstStyle/>
          <a:p>
            <a:r>
              <a:rPr lang="en-US" sz="700" b="0">
                <a:solidFill>
                  <a:srgbClr val="008000"/>
                </a:solidFill>
                <a:latin typeface="Aptos Mono"/>
              </a:rPr>
              <a:t># config.toml</a:t>
            </a:r>
            <a:endParaRPr/>
          </a:p>
          <a:p>
            <a:r>
              <a:rPr lang="en-US" sz="700" b="0">
                <a:solidFill>
                  <a:srgbClr val="0451A5"/>
                </a:solidFill>
                <a:latin typeface="Aptos Mono"/>
              </a:rPr>
              <a:t>[agent]</a:t>
            </a:r>
            <a:endParaRPr/>
          </a:p>
          <a:p>
            <a:r>
              <a:rPr lang="en-US" sz="700" b="0">
                <a:solidFill>
                  <a:srgbClr val="0451A5"/>
                </a:solidFill>
                <a:latin typeface="Aptos Mono"/>
              </a:rPr>
              <a:t>kind</a:t>
            </a:r>
            <a:r>
              <a:rPr lang="en-US" sz="700" b="0">
                <a:solidFill>
                  <a:srgbClr val="000000"/>
                </a:solidFill>
                <a:latin typeface="Aptos Mono"/>
              </a:rPr>
              <a:t> = </a:t>
            </a:r>
            <a:r>
              <a:rPr lang="en-US" sz="700" b="0">
                <a:solidFill>
                  <a:srgbClr val="A31515"/>
                </a:solidFill>
                <a:latin typeface="Aptos Mono"/>
              </a:rPr>
              <a:t>"mcp"</a:t>
            </a:r>
            <a:r>
              <a:rPr lang="en-US" sz="700" b="0">
                <a:solidFill>
                  <a:srgbClr val="000000"/>
                </a:solidFill>
                <a:latin typeface="Aptos Mono"/>
              </a:rPr>
              <a:t>            </a:t>
            </a:r>
            <a:r>
              <a:rPr lang="en-US" sz="700" b="0">
                <a:solidFill>
                  <a:srgbClr val="008000"/>
                </a:solidFill>
                <a:latin typeface="Aptos Mono"/>
              </a:rPr>
              <a:t># or "codeact"</a:t>
            </a:r>
            <a:endParaRPr/>
          </a:p>
          <a:p>
            <a:r>
              <a:rPr lang="en-US" sz="700" b="0">
                <a:solidFill>
                  <a:srgbClr val="0451A5"/>
                </a:solidFill>
                <a:latin typeface="Aptos Mono"/>
              </a:rPr>
              <a:t>[mcp]</a:t>
            </a:r>
            <a:endParaRPr/>
          </a:p>
          <a:p>
            <a:r>
              <a:rPr lang="en-US" sz="700" b="0">
                <a:solidFill>
                  <a:srgbClr val="0451A5"/>
                </a:solidFill>
                <a:latin typeface="Aptos Mono"/>
              </a:rPr>
              <a:t>config</a:t>
            </a:r>
            <a:r>
              <a:rPr lang="en-US" sz="700" b="0">
                <a:solidFill>
                  <a:srgbClr val="000000"/>
                </a:solidFill>
                <a:latin typeface="Aptos Mono"/>
              </a:rPr>
              <a:t> = </a:t>
            </a:r>
            <a:r>
              <a:rPr lang="en-US" sz="700" b="0">
                <a:solidFill>
                  <a:srgbClr val="A31515"/>
                </a:solidFill>
                <a:latin typeface="Aptos Mono"/>
              </a:rPr>
              <a:t>"mcp.json"</a:t>
            </a:r>
            <a:endParaRPr/>
          </a:p>
          <a:p>
            <a:r>
              <a:rPr lang="en-US" sz="700" b="0">
                <a:solidFill>
                  <a:srgbClr val="0451A5"/>
                </a:solidFill>
                <a:latin typeface="Aptos Mono"/>
              </a:rPr>
              <a:t>[sandbox]</a:t>
            </a:r>
            <a:endParaRPr/>
          </a:p>
          <a:p>
            <a:r>
              <a:rPr lang="en-US" sz="700" b="0">
                <a:solidFill>
                  <a:srgbClr val="0451A5"/>
                </a:solidFill>
                <a:latin typeface="Aptos Mono"/>
              </a:rPr>
              <a:t>policy</a:t>
            </a:r>
            <a:r>
              <a:rPr lang="en-US" sz="700" b="0">
                <a:solidFill>
                  <a:srgbClr val="000000"/>
                </a:solidFill>
                <a:latin typeface="Aptos Mono"/>
              </a:rPr>
              <a:t> = </a:t>
            </a:r>
            <a:r>
              <a:rPr lang="en-US" sz="700" b="0">
                <a:solidFill>
                  <a:srgbClr val="A31515"/>
                </a:solidFill>
                <a:latin typeface="Aptos Mono"/>
              </a:rPr>
              <a:t>"policy.yaml"</a:t>
            </a:r>
            <a:endParaRPr/>
          </a:p>
          <a:p>
            <a:r>
              <a:rPr lang="en-US" sz="700" b="0">
                <a:solidFill>
                  <a:srgbClr val="008000"/>
                </a:solidFill>
                <a:latin typeface="Aptos Mono"/>
              </a:rPr>
              <a:t># trace.jsonl</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"discovery"</a:t>
            </a:r>
            <a:r>
              <a:rPr lang="en-US" sz="700" b="0">
                <a:solidFill>
                  <a:srgbClr val="000000"/>
                </a:solidFill>
                <a:latin typeface="Aptos Mono"/>
              </a:rPr>
              <a:t>, </a:t>
            </a:r>
            <a:r>
              <a:rPr lang="en-US" sz="700" b="0">
                <a:solidFill>
                  <a:srgbClr val="0451A5"/>
                </a:solidFill>
                <a:latin typeface="Aptos Mono"/>
              </a:rPr>
              <a:t>"server"</a:t>
            </a:r>
            <a:r>
              <a:rPr lang="en-US" sz="700" b="0">
                <a:solidFill>
                  <a:srgbClr val="000000"/>
                </a:solidFill>
                <a:latin typeface="Aptos Mono"/>
              </a:rPr>
              <a:t>: </a:t>
            </a:r>
            <a:r>
              <a:rPr lang="en-US" sz="700" b="0">
                <a:solidFill>
                  <a:srgbClr val="A31515"/>
                </a:solidFill>
                <a:latin typeface="Aptos Mono"/>
              </a:rPr>
              <a:t>"analysis"</a:t>
            </a:r>
            <a:r>
              <a:rPr lang="en-US" sz="700" b="0">
                <a:solidFill>
                  <a:srgbClr val="000000"/>
                </a:solidFill>
                <a:latin typeface="Aptos Mono"/>
              </a:rPr>
              <a:t>, </a:t>
            </a:r>
            <a:r>
              <a:rPr lang="en-US" sz="700" b="0">
                <a:solidFill>
                  <a:srgbClr val="0451A5"/>
                </a:solidFill>
                <a:latin typeface="Aptos Mono"/>
              </a:rPr>
              <a:t>"tools"</a:t>
            </a:r>
            <a:r>
              <a:rPr lang="en-US" sz="700" b="0">
                <a:solidFill>
                  <a:srgbClr val="000000"/>
                </a:solidFill>
                <a:latin typeface="Aptos Mono"/>
              </a:rPr>
              <a:t>: [</a:t>
            </a:r>
            <a:r>
              <a:rPr lang="en-US" sz="700" b="0">
                <a:solidFill>
                  <a:srgbClr val="A31515"/>
                </a:solidFill>
                <a:latin typeface="Aptos Mono"/>
              </a:rPr>
              <a:t>"locate"</a:t>
            </a:r>
            <a:r>
              <a:rPr lang="en-US" sz="700" b="0">
                <a:solidFill>
                  <a:srgbClr val="000000"/>
                </a:solidFill>
                <a:latin typeface="Aptos Mono"/>
              </a:rPr>
              <a:t>, </a:t>
            </a:r>
            <a:r>
              <a:rPr lang="en-US" sz="700" b="0">
                <a:solidFill>
                  <a:srgbClr val="A31515"/>
                </a:solidFill>
                <a:latin typeface="Aptos Mono"/>
              </a:rPr>
              <a:t>"source"</a:t>
            </a:r>
            <a:r>
              <a:rPr lang="en-US" sz="700" b="0">
                <a:solidFill>
                  <a:srgbClr val="000000"/>
                </a:solidFill>
                <a:latin typeface="Aptos Mono"/>
              </a:rPr>
              <a:t>, ...]}</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"tool_request"</a:t>
            </a:r>
            <a:r>
              <a:rPr lang="en-US" sz="700" b="0">
                <a:solidFill>
                  <a:srgbClr val="000000"/>
                </a:solidFill>
                <a:latin typeface="Aptos Mono"/>
              </a:rPr>
              <a:t>, </a:t>
            </a:r>
            <a:r>
              <a:rPr lang="en-US" sz="700" b="0">
                <a:solidFill>
                  <a:srgbClr val="0451A5"/>
                </a:solidFill>
                <a:latin typeface="Aptos Mono"/>
              </a:rPr>
              <a:t>"tool"</a:t>
            </a:r>
            <a:r>
              <a:rPr lang="en-US" sz="700" b="0">
                <a:solidFill>
                  <a:srgbClr val="000000"/>
                </a:solidFill>
                <a:latin typeface="Aptos Mono"/>
              </a:rPr>
              <a:t>: </a:t>
            </a:r>
            <a:r>
              <a:rPr lang="en-US" sz="700" b="0">
                <a:solidFill>
                  <a:srgbClr val="A31515"/>
                </a:solidFill>
                <a:latin typeface="Aptos Mono"/>
              </a:rPr>
              <a:t>"dataflow"</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"tool_result"</a:t>
            </a:r>
            <a:r>
              <a:rPr lang="en-US" sz="700" b="0">
                <a:solidFill>
                  <a:srgbClr val="000000"/>
                </a:solidFill>
                <a:latin typeface="Aptos Mono"/>
              </a:rPr>
              <a:t>, </a:t>
            </a:r>
            <a:r>
              <a:rPr lang="en-US" sz="700" b="0">
                <a:solidFill>
                  <a:srgbClr val="0451A5"/>
                </a:solidFill>
                <a:latin typeface="Aptos Mono"/>
              </a:rPr>
              <a:t>"ok"</a:t>
            </a:r>
            <a:r>
              <a:rPr lang="en-US" sz="700" b="0">
                <a:solidFill>
                  <a:srgbClr val="000000"/>
                </a:solidFill>
                <a:latin typeface="Aptos Mono"/>
              </a:rPr>
              <a:t>: </a:t>
            </a:r>
            <a:r>
              <a:rPr lang="en-US" sz="700" b="0">
                <a:solidFill>
                  <a:srgbClr val="0000FF"/>
                </a:solidFill>
                <a:latin typeface="Aptos Mono"/>
              </a:rPr>
              <a:t>false</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 </a:t>
            </a:r>
            <a:r>
              <a:rPr lang="en-US" sz="700" b="0">
                <a:solidFill>
                  <a:srgbClr val="0451A5"/>
                </a:solidFill>
                <a:latin typeface="Aptos Mono"/>
              </a:rPr>
              <a:t>"refused_by"</a:t>
            </a:r>
            <a:r>
              <a:rPr lang="en-US" sz="700" b="0">
                <a:solidFill>
                  <a:srgbClr val="000000"/>
                </a:solidFill>
                <a:latin typeface="Aptos Mono"/>
              </a:rPr>
              <a:t>: </a:t>
            </a:r>
            <a:r>
              <a:rPr lang="en-US" sz="700" b="0">
                <a:solidFill>
                  <a:srgbClr val="A31515"/>
                </a:solidFill>
                <a:latin typeface="Aptos Mono"/>
              </a:rPr>
              <a:t>"server"</a:t>
            </a:r>
            <a:r>
              <a:rPr lang="en-US" sz="700" b="0">
                <a:solidFill>
                  <a:srgbClr val="000000"/>
                </a:solidFill>
                <a:latin typeface="Aptos Mono"/>
              </a:rPr>
              <a:t>}</a:t>
            </a:r>
            <a:endParaRPr/>
          </a:p>
          <a:p>
            <a:r>
              <a:rPr lang="en-US" sz="700" b="0">
                <a:solidFill>
                  <a:srgbClr val="008000"/>
                </a:solidFill>
                <a:latin typeface="Aptos Mono"/>
              </a:rPr>
              <a:t># report.json, each alert</a:t>
            </a:r>
            <a:endParaRPr/>
          </a:p>
          <a:p>
            <a:r>
              <a:rPr lang="en-US" sz="700" b="0">
                <a:solidFill>
                  <a:srgbClr val="0451A5"/>
                </a:solidFill>
                <a:latin typeface="Aptos Mono"/>
              </a:rPr>
              <a:t>"remediation"</a:t>
            </a:r>
            <a:r>
              <a:rPr lang="en-US" sz="700" b="0">
                <a:solidFill>
                  <a:srgbClr val="000000"/>
                </a:solidFill>
                <a:latin typeface="Aptos Mono"/>
              </a:rPr>
              <a:t>: {</a:t>
            </a:r>
            <a:r>
              <a:rPr lang="en-US" sz="700" b="0">
                <a:solidFill>
                  <a:srgbClr val="0451A5"/>
                </a:solidFill>
                <a:latin typeface="Aptos Mono"/>
              </a:rPr>
              <a:t>"status"</a:t>
            </a:r>
            <a:r>
              <a:rPr lang="en-US" sz="700" b="0">
                <a:solidFill>
                  <a:srgbClr val="000000"/>
                </a:solidFill>
                <a:latin typeface="Aptos Mono"/>
              </a:rPr>
              <a:t>: </a:t>
            </a:r>
            <a:r>
              <a:rPr lang="en-US" sz="700" b="0">
                <a:solidFill>
                  <a:srgbClr val="A31515"/>
                </a:solidFill>
                <a:latin typeface="Aptos Mono"/>
              </a:rPr>
              <a:t>"accepted"</a:t>
            </a:r>
            <a:r>
              <a:rPr lang="en-US" sz="700" b="0">
                <a:solidFill>
                  <a:srgbClr val="000000"/>
                </a:solidFill>
                <a:latin typeface="Aptos Mono"/>
              </a:rPr>
              <a:t>, </a:t>
            </a:r>
            <a:r>
              <a:rPr lang="en-US" sz="700" b="0">
                <a:solidFill>
                  <a:srgbClr val="0451A5"/>
                </a:solidFill>
                <a:latin typeface="Aptos Mono"/>
              </a:rPr>
              <a:t>"diff"</a:t>
            </a:r>
            <a:r>
              <a:rPr lang="en-US" sz="700" b="0">
                <a:solidFill>
                  <a:srgbClr val="000000"/>
                </a:solidFill>
                <a:latin typeface="Aptos Mono"/>
              </a:rPr>
              <a:t>: </a:t>
            </a:r>
            <a:r>
              <a:rPr lang="en-US" sz="700" b="0">
                <a:solidFill>
                  <a:srgbClr val="A31515"/>
                </a:solidFill>
                <a:latin typeface="Aptos Mono"/>
              </a:rPr>
              <a:t>"--- a/testcode/..."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"checks"</a:t>
            </a:r>
            <a:r>
              <a:rPr lang="en-US" sz="700" b="0">
                <a:solidFill>
                  <a:srgbClr val="000000"/>
                </a:solidFill>
                <a:latin typeface="Aptos Mono"/>
              </a:rPr>
              <a:t>: {</a:t>
            </a:r>
            <a:r>
              <a:rPr lang="en-US" sz="700" b="0">
                <a:solidFill>
                  <a:srgbClr val="0451A5"/>
                </a:solidFill>
                <a:latin typeface="Aptos Mono"/>
              </a:rPr>
              <a:t>"applies"</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"touches_flagged_line"</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"clean_rescan"</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changed since HW1</a:t>
            </a:r>
          </a:p>
        </p:txBody>
      </p:sp>
      <p:sp>
        <p:nvSpPr>
          <p:cNvPr id="3" name="Content Placeholder 2"/>
          <p:cNvSpPr>
            <a:spLocks noGrp="1"/>
          </p:cNvSpPr>
          <p:nvPr>
            <p:ph idx="1"/>
          </p:nvPr>
        </p:nvSpPr>
        <p:spPr bwMode="auto">
          <a:xfrm>
            <a:off x="320040" y="658368"/>
            <a:ext cx="6016752" cy="119634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CLI is unchanged.</a:t>
            </a:r>
            <a:r>
              <a:rPr lang="en-US" sz="1150" b="0">
                <a:solidFill>
                  <a:srgbClr val="000000"/>
                </a:solidFill>
              </a:rPr>
              <a:t> The config gains </a:t>
            </a:r>
            <a:r>
              <a:rPr lang="en-US" sz="1150" b="0">
                <a:solidFill>
                  <a:srgbClr val="000000"/>
                </a:solidFill>
                <a:latin typeface="Aptos Mono"/>
              </a:rPr>
              <a:t>[agent] kind</a:t>
            </a:r>
            <a:r>
              <a:rPr lang="en-US" sz="1150" b="0">
                <a:solidFill>
                  <a:srgbClr val="000000"/>
                </a:solidFill>
              </a:rPr>
              <a:t>, </a:t>
            </a:r>
            <a:r>
              <a:rPr lang="en-US" sz="1150" b="0">
                <a:solidFill>
                  <a:srgbClr val="000000"/>
                </a:solidFill>
                <a:latin typeface="Aptos Mono"/>
              </a:rPr>
              <a:t>[mcp] config</a:t>
            </a:r>
            <a:r>
              <a:rPr lang="en-US" sz="1150" b="0">
                <a:solidFill>
                  <a:srgbClr val="000000"/>
                </a:solidFill>
              </a:rPr>
              <a:t> and </a:t>
            </a:r>
            <a:r>
              <a:rPr lang="en-US" sz="1150" b="0">
                <a:solidFill>
                  <a:srgbClr val="000000"/>
                </a:solidFill>
                <a:latin typeface="Aptos Mono"/>
              </a:rPr>
              <a:t>[sandbox] policy</a:t>
            </a:r>
            <a:r>
              <a:rPr lang="en-US" sz="115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150" b="0">
                <a:solidFill>
                  <a:srgbClr val="000000"/>
                </a:solidFill>
                <a:latin typeface="Aptos Mono"/>
              </a:rPr>
              <a:t>mcp.json</a:t>
            </a:r>
            <a:r>
              <a:rPr lang="en-US" sz="1150" b="1">
                <a:solidFill>
                  <a:srgbClr val="000000"/>
                </a:solidFill>
              </a:rPr>
              <a:t> and </a:t>
            </a:r>
            <a:r>
              <a:rPr lang="en-US" sz="1150" b="0">
                <a:solidFill>
                  <a:srgbClr val="000000"/>
                </a:solidFill>
                <a:latin typeface="Aptos Mono"/>
              </a:rPr>
              <a:t>policy.yaml</a:t>
            </a:r>
            <a:r>
              <a:rPr lang="en-US" sz="1150" b="0">
                <a:solidFill>
                  <a:srgbClr val="000000"/>
                </a:solidFill>
              </a:rPr>
              <a:t> at the repository root: the evaluator starts your server and your sandbox from them without reading your code.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config that does not validate</a:t>
            </a:r>
            <a:r>
              <a:rPr lang="en-US" sz="1150" b="0">
                <a:solidFill>
                  <a:srgbClr val="000000"/>
                </a:solidFill>
              </a:rPr>
              <a:t> stops grading at the first step.</a:t>
            </a:r>
            <a:endParaRPr/>
          </a:p>
        </p:txBody>
      </p:sp>
      <p:sp>
        <p:nvSpPr>
          <p:cNvPr id="4" name="Rectangle 4"/>
          <p:cNvSpPr/>
          <p:nvPr/>
        </p:nvSpPr>
        <p:spPr bwMode="auto">
          <a:xfrm>
            <a:off x="320040" y="436910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Everything behind these files is your design.</a:t>
            </a:r>
            <a:endParaRPr/>
          </a:p>
        </p:txBody>
      </p:sp>
      <p:sp>
        <p:nvSpPr>
          <p:cNvPr id="5" name="CodeWindow"/>
          <p:cNvSpPr/>
          <p:nvPr/>
        </p:nvSpPr>
        <p:spPr bwMode="auto">
          <a:xfrm>
            <a:off x="320040" y="2178880"/>
            <a:ext cx="6016752" cy="1938840"/>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444056"/>
            <a:ext cx="6016752" cy="0"/>
          </a:xfrm>
          <a:prstGeom prst="line">
            <a:avLst/>
          </a:prstGeom>
          <a:ln w="9525">
            <a:solidFill>
              <a:srgbClr val="DCDCDC"/>
            </a:solidFill>
          </a:ln>
        </p:spPr>
      </p:cxnSp>
      <p:sp>
        <p:nvSpPr>
          <p:cNvPr id="7" name="WinDot 0"/>
          <p:cNvSpPr/>
          <p:nvPr/>
        </p:nvSpPr>
        <p:spPr bwMode="auto">
          <a:xfrm>
            <a:off x="411480" y="2261176"/>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2261176"/>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2261176"/>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2220028"/>
            <a:ext cx="5349240" cy="182880"/>
          </a:xfrm>
          <a:prstGeom prst="rect">
            <a:avLst/>
          </a:prstGeom>
          <a:noFill/>
        </p:spPr>
        <p:txBody>
          <a:bodyPr wrap="square" lIns="0" tIns="0" rIns="0" bIns="0" anchor="ctr">
            <a:noAutofit/>
          </a:bodyPr>
          <a:lstStyle/>
          <a:p>
            <a:pPr algn="l">
              <a:defRPr/>
            </a:pPr>
            <a:r>
              <a:rPr sz="850" b="0">
                <a:solidFill>
                  <a:srgbClr val="5B6673"/>
                </a:solidFill>
              </a:rPr>
              <a:t>examples/: the additions to config, trace and report, shortened with "..."</a:t>
            </a:r>
            <a:endParaRPr/>
          </a:p>
        </p:txBody>
      </p:sp>
      <p:sp>
        <p:nvSpPr>
          <p:cNvPr id="11" name="TextBox 7"/>
          <p:cNvSpPr txBox="1"/>
          <p:nvPr/>
        </p:nvSpPr>
        <p:spPr bwMode="auto">
          <a:xfrm>
            <a:off x="466344" y="2508064"/>
            <a:ext cx="5724144" cy="1539656"/>
          </a:xfrm>
          <a:prstGeom prst="rect">
            <a:avLst/>
          </a:prstGeom>
          <a:noFill/>
        </p:spPr>
        <p:txBody>
          <a:bodyPr wrap="none" lIns="0" tIns="0" rIns="0" bIns="0">
            <a:spAutoFit/>
          </a:bodyPr>
          <a:lstStyle/>
          <a:p>
            <a:r>
              <a:rPr lang="en-US" sz="700" b="0">
                <a:solidFill>
                  <a:srgbClr val="008000"/>
                </a:solidFill>
                <a:latin typeface="Aptos Mono"/>
              </a:rPr>
              <a:t># config.toml</a:t>
            </a:r>
            <a:endParaRPr/>
          </a:p>
          <a:p>
            <a:r>
              <a:rPr lang="en-US" sz="700" b="0">
                <a:solidFill>
                  <a:srgbClr val="0451A5"/>
                </a:solidFill>
                <a:latin typeface="Aptos Mono"/>
              </a:rPr>
              <a:t>[agent]</a:t>
            </a:r>
            <a:endParaRPr/>
          </a:p>
          <a:p>
            <a:r>
              <a:rPr lang="en-US" sz="700" b="0">
                <a:solidFill>
                  <a:srgbClr val="0451A5"/>
                </a:solidFill>
                <a:latin typeface="Aptos Mono"/>
              </a:rPr>
              <a:t>kind</a:t>
            </a:r>
            <a:r>
              <a:rPr lang="en-US" sz="700" b="0">
                <a:solidFill>
                  <a:srgbClr val="000000"/>
                </a:solidFill>
                <a:latin typeface="Aptos Mono"/>
              </a:rPr>
              <a:t> = </a:t>
            </a:r>
            <a:r>
              <a:rPr lang="en-US" sz="700" b="0">
                <a:solidFill>
                  <a:srgbClr val="A31515"/>
                </a:solidFill>
                <a:latin typeface="Aptos Mono"/>
              </a:rPr>
              <a:t>"mcp"</a:t>
            </a:r>
            <a:r>
              <a:rPr lang="en-US" sz="700" b="0">
                <a:solidFill>
                  <a:srgbClr val="000000"/>
                </a:solidFill>
                <a:latin typeface="Aptos Mono"/>
              </a:rPr>
              <a:t>            </a:t>
            </a:r>
            <a:r>
              <a:rPr lang="en-US" sz="700" b="0">
                <a:solidFill>
                  <a:srgbClr val="008000"/>
                </a:solidFill>
                <a:latin typeface="Aptos Mono"/>
              </a:rPr>
              <a:t># or "codeact"</a:t>
            </a:r>
            <a:endParaRPr/>
          </a:p>
          <a:p>
            <a:r>
              <a:rPr lang="en-US" sz="700" b="0">
                <a:solidFill>
                  <a:srgbClr val="0451A5"/>
                </a:solidFill>
                <a:latin typeface="Aptos Mono"/>
              </a:rPr>
              <a:t>[mcp]</a:t>
            </a:r>
            <a:endParaRPr/>
          </a:p>
          <a:p>
            <a:r>
              <a:rPr lang="en-US" sz="700" b="0">
                <a:solidFill>
                  <a:srgbClr val="0451A5"/>
                </a:solidFill>
                <a:latin typeface="Aptos Mono"/>
              </a:rPr>
              <a:t>config</a:t>
            </a:r>
            <a:r>
              <a:rPr lang="en-US" sz="700" b="0">
                <a:solidFill>
                  <a:srgbClr val="000000"/>
                </a:solidFill>
                <a:latin typeface="Aptos Mono"/>
              </a:rPr>
              <a:t> = </a:t>
            </a:r>
            <a:r>
              <a:rPr lang="en-US" sz="700" b="0">
                <a:solidFill>
                  <a:srgbClr val="A31515"/>
                </a:solidFill>
                <a:latin typeface="Aptos Mono"/>
              </a:rPr>
              <a:t>"mcp.json"</a:t>
            </a:r>
            <a:endParaRPr/>
          </a:p>
          <a:p>
            <a:r>
              <a:rPr lang="en-US" sz="700" b="0">
                <a:solidFill>
                  <a:srgbClr val="0451A5"/>
                </a:solidFill>
                <a:latin typeface="Aptos Mono"/>
              </a:rPr>
              <a:t>[sandbox]</a:t>
            </a:r>
            <a:endParaRPr/>
          </a:p>
          <a:p>
            <a:r>
              <a:rPr lang="en-US" sz="700" b="0">
                <a:solidFill>
                  <a:srgbClr val="0451A5"/>
                </a:solidFill>
                <a:latin typeface="Aptos Mono"/>
              </a:rPr>
              <a:t>policy</a:t>
            </a:r>
            <a:r>
              <a:rPr lang="en-US" sz="700" b="0">
                <a:solidFill>
                  <a:srgbClr val="000000"/>
                </a:solidFill>
                <a:latin typeface="Aptos Mono"/>
              </a:rPr>
              <a:t> = </a:t>
            </a:r>
            <a:r>
              <a:rPr lang="en-US" sz="700" b="0">
                <a:solidFill>
                  <a:srgbClr val="A31515"/>
                </a:solidFill>
                <a:latin typeface="Aptos Mono"/>
              </a:rPr>
              <a:t>"policy.yaml"</a:t>
            </a:r>
            <a:endParaRPr/>
          </a:p>
          <a:p>
            <a:r>
              <a:rPr lang="en-US" sz="700" b="0">
                <a:solidFill>
                  <a:srgbClr val="008000"/>
                </a:solidFill>
                <a:latin typeface="Aptos Mono"/>
              </a:rPr>
              <a:t># trace.jsonl</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"discovery"</a:t>
            </a:r>
            <a:r>
              <a:rPr lang="en-US" sz="700" b="0">
                <a:solidFill>
                  <a:srgbClr val="000000"/>
                </a:solidFill>
                <a:latin typeface="Aptos Mono"/>
              </a:rPr>
              <a:t>, </a:t>
            </a:r>
            <a:r>
              <a:rPr lang="en-US" sz="700" b="0">
                <a:solidFill>
                  <a:srgbClr val="0451A5"/>
                </a:solidFill>
                <a:latin typeface="Aptos Mono"/>
              </a:rPr>
              <a:t>"server"</a:t>
            </a:r>
            <a:r>
              <a:rPr lang="en-US" sz="700" b="0">
                <a:solidFill>
                  <a:srgbClr val="000000"/>
                </a:solidFill>
                <a:latin typeface="Aptos Mono"/>
              </a:rPr>
              <a:t>: </a:t>
            </a:r>
            <a:r>
              <a:rPr lang="en-US" sz="700" b="0">
                <a:solidFill>
                  <a:srgbClr val="A31515"/>
                </a:solidFill>
                <a:latin typeface="Aptos Mono"/>
              </a:rPr>
              <a:t>"analysis"</a:t>
            </a:r>
            <a:r>
              <a:rPr lang="en-US" sz="700" b="0">
                <a:solidFill>
                  <a:srgbClr val="000000"/>
                </a:solidFill>
                <a:latin typeface="Aptos Mono"/>
              </a:rPr>
              <a:t>, </a:t>
            </a:r>
            <a:r>
              <a:rPr lang="en-US" sz="700" b="0">
                <a:solidFill>
                  <a:srgbClr val="0451A5"/>
                </a:solidFill>
                <a:latin typeface="Aptos Mono"/>
              </a:rPr>
              <a:t>"tools"</a:t>
            </a:r>
            <a:r>
              <a:rPr lang="en-US" sz="700" b="0">
                <a:solidFill>
                  <a:srgbClr val="000000"/>
                </a:solidFill>
                <a:latin typeface="Aptos Mono"/>
              </a:rPr>
              <a:t>: [</a:t>
            </a:r>
            <a:r>
              <a:rPr lang="en-US" sz="700" b="0">
                <a:solidFill>
                  <a:srgbClr val="A31515"/>
                </a:solidFill>
                <a:latin typeface="Aptos Mono"/>
              </a:rPr>
              <a:t>"locate"</a:t>
            </a:r>
            <a:r>
              <a:rPr lang="en-US" sz="700" b="0">
                <a:solidFill>
                  <a:srgbClr val="000000"/>
                </a:solidFill>
                <a:latin typeface="Aptos Mono"/>
              </a:rPr>
              <a:t>, </a:t>
            </a:r>
            <a:r>
              <a:rPr lang="en-US" sz="700" b="0">
                <a:solidFill>
                  <a:srgbClr val="A31515"/>
                </a:solidFill>
                <a:latin typeface="Aptos Mono"/>
              </a:rPr>
              <a:t>"source"</a:t>
            </a:r>
            <a:r>
              <a:rPr lang="en-US" sz="700" b="0">
                <a:solidFill>
                  <a:srgbClr val="000000"/>
                </a:solidFill>
                <a:latin typeface="Aptos Mono"/>
              </a:rPr>
              <a:t>, ...]}</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"tool_request"</a:t>
            </a:r>
            <a:r>
              <a:rPr lang="en-US" sz="700" b="0">
                <a:solidFill>
                  <a:srgbClr val="000000"/>
                </a:solidFill>
                <a:latin typeface="Aptos Mono"/>
              </a:rPr>
              <a:t>, </a:t>
            </a:r>
            <a:r>
              <a:rPr lang="en-US" sz="700" b="0">
                <a:solidFill>
                  <a:srgbClr val="0451A5"/>
                </a:solidFill>
                <a:latin typeface="Aptos Mono"/>
              </a:rPr>
              <a:t>"tool"</a:t>
            </a:r>
            <a:r>
              <a:rPr lang="en-US" sz="700" b="0">
                <a:solidFill>
                  <a:srgbClr val="000000"/>
                </a:solidFill>
                <a:latin typeface="Aptos Mono"/>
              </a:rPr>
              <a:t>: </a:t>
            </a:r>
            <a:r>
              <a:rPr lang="en-US" sz="700" b="0">
                <a:solidFill>
                  <a:srgbClr val="A31515"/>
                </a:solidFill>
                <a:latin typeface="Aptos Mono"/>
              </a:rPr>
              <a:t>"dataflow"</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a:t>
            </a:r>
            <a:endParaRPr/>
          </a:p>
          <a:p>
            <a:r>
              <a:rPr lang="en-US" sz="700" b="0">
                <a:solidFill>
                  <a:srgbClr val="000000"/>
                </a:solidFill>
                <a:latin typeface="Aptos Mono"/>
              </a:rPr>
              <a:t>{</a:t>
            </a:r>
            <a:r>
              <a:rPr lang="en-US" sz="700" b="0">
                <a:solidFill>
                  <a:srgbClr val="0451A5"/>
                </a:solidFill>
                <a:latin typeface="Aptos Mono"/>
              </a:rPr>
              <a:t>"kind"</a:t>
            </a:r>
            <a:r>
              <a:rPr lang="en-US" sz="700" b="0">
                <a:solidFill>
                  <a:srgbClr val="000000"/>
                </a:solidFill>
                <a:latin typeface="Aptos Mono"/>
              </a:rPr>
              <a:t>: </a:t>
            </a:r>
            <a:r>
              <a:rPr lang="en-US" sz="700" b="0">
                <a:solidFill>
                  <a:srgbClr val="A31515"/>
                </a:solidFill>
                <a:latin typeface="Aptos Mono"/>
              </a:rPr>
              <a:t>"tool_result"</a:t>
            </a:r>
            <a:r>
              <a:rPr lang="en-US" sz="700" b="0">
                <a:solidFill>
                  <a:srgbClr val="000000"/>
                </a:solidFill>
                <a:latin typeface="Aptos Mono"/>
              </a:rPr>
              <a:t>, </a:t>
            </a:r>
            <a:r>
              <a:rPr lang="en-US" sz="700" b="0">
                <a:solidFill>
                  <a:srgbClr val="0451A5"/>
                </a:solidFill>
                <a:latin typeface="Aptos Mono"/>
              </a:rPr>
              <a:t>"ok"</a:t>
            </a:r>
            <a:r>
              <a:rPr lang="en-US" sz="700" b="0">
                <a:solidFill>
                  <a:srgbClr val="000000"/>
                </a:solidFill>
                <a:latin typeface="Aptos Mono"/>
              </a:rPr>
              <a:t>: </a:t>
            </a:r>
            <a:r>
              <a:rPr lang="en-US" sz="700" b="0">
                <a:solidFill>
                  <a:srgbClr val="0000FF"/>
                </a:solidFill>
                <a:latin typeface="Aptos Mono"/>
              </a:rPr>
              <a:t>false</a:t>
            </a:r>
            <a:r>
              <a:rPr lang="en-US" sz="700" b="0">
                <a:solidFill>
                  <a:srgbClr val="000000"/>
                </a:solidFill>
                <a:latin typeface="Aptos Mono"/>
              </a:rPr>
              <a:t>, ..., </a:t>
            </a:r>
            <a:r>
              <a:rPr lang="en-US" sz="700" b="0">
                <a:solidFill>
                  <a:srgbClr val="0451A5"/>
                </a:solidFill>
                <a:latin typeface="Aptos Mono"/>
              </a:rPr>
              <a:t>"via"</a:t>
            </a:r>
            <a:r>
              <a:rPr lang="en-US" sz="700" b="0">
                <a:solidFill>
                  <a:srgbClr val="000000"/>
                </a:solidFill>
                <a:latin typeface="Aptos Mono"/>
              </a:rPr>
              <a:t>: </a:t>
            </a:r>
            <a:r>
              <a:rPr lang="en-US" sz="700" b="0">
                <a:solidFill>
                  <a:srgbClr val="A31515"/>
                </a:solidFill>
                <a:latin typeface="Aptos Mono"/>
              </a:rPr>
              <a:t>"mcp"</a:t>
            </a:r>
            <a:r>
              <a:rPr lang="en-US" sz="700" b="0">
                <a:solidFill>
                  <a:srgbClr val="000000"/>
                </a:solidFill>
                <a:latin typeface="Aptos Mono"/>
              </a:rPr>
              <a:t>, </a:t>
            </a:r>
            <a:r>
              <a:rPr lang="en-US" sz="700" b="0">
                <a:solidFill>
                  <a:srgbClr val="0451A5"/>
                </a:solidFill>
                <a:latin typeface="Aptos Mono"/>
              </a:rPr>
              <a:t>"refused_by"</a:t>
            </a:r>
            <a:r>
              <a:rPr lang="en-US" sz="700" b="0">
                <a:solidFill>
                  <a:srgbClr val="000000"/>
                </a:solidFill>
                <a:latin typeface="Aptos Mono"/>
              </a:rPr>
              <a:t>: </a:t>
            </a:r>
            <a:r>
              <a:rPr lang="en-US" sz="700" b="0">
                <a:solidFill>
                  <a:srgbClr val="A31515"/>
                </a:solidFill>
                <a:latin typeface="Aptos Mono"/>
              </a:rPr>
              <a:t>"server"</a:t>
            </a:r>
            <a:r>
              <a:rPr lang="en-US" sz="700" b="0">
                <a:solidFill>
                  <a:srgbClr val="000000"/>
                </a:solidFill>
                <a:latin typeface="Aptos Mono"/>
              </a:rPr>
              <a:t>}</a:t>
            </a:r>
            <a:endParaRPr/>
          </a:p>
          <a:p>
            <a:r>
              <a:rPr lang="en-US" sz="700" b="0">
                <a:solidFill>
                  <a:srgbClr val="008000"/>
                </a:solidFill>
                <a:latin typeface="Aptos Mono"/>
              </a:rPr>
              <a:t># report.json, each alert</a:t>
            </a:r>
            <a:endParaRPr/>
          </a:p>
          <a:p>
            <a:r>
              <a:rPr lang="en-US" sz="700" b="0">
                <a:solidFill>
                  <a:srgbClr val="0451A5"/>
                </a:solidFill>
                <a:latin typeface="Aptos Mono"/>
              </a:rPr>
              <a:t>"remediation"</a:t>
            </a:r>
            <a:r>
              <a:rPr lang="en-US" sz="700" b="0">
                <a:solidFill>
                  <a:srgbClr val="000000"/>
                </a:solidFill>
                <a:latin typeface="Aptos Mono"/>
              </a:rPr>
              <a:t>: {</a:t>
            </a:r>
            <a:r>
              <a:rPr lang="en-US" sz="700" b="0">
                <a:solidFill>
                  <a:srgbClr val="0451A5"/>
                </a:solidFill>
                <a:latin typeface="Aptos Mono"/>
              </a:rPr>
              <a:t>"status"</a:t>
            </a:r>
            <a:r>
              <a:rPr lang="en-US" sz="700" b="0">
                <a:solidFill>
                  <a:srgbClr val="000000"/>
                </a:solidFill>
                <a:latin typeface="Aptos Mono"/>
              </a:rPr>
              <a:t>: </a:t>
            </a:r>
            <a:r>
              <a:rPr lang="en-US" sz="700" b="0">
                <a:solidFill>
                  <a:srgbClr val="A31515"/>
                </a:solidFill>
                <a:latin typeface="Aptos Mono"/>
              </a:rPr>
              <a:t>"accepted"</a:t>
            </a:r>
            <a:r>
              <a:rPr lang="en-US" sz="700" b="0">
                <a:solidFill>
                  <a:srgbClr val="000000"/>
                </a:solidFill>
                <a:latin typeface="Aptos Mono"/>
              </a:rPr>
              <a:t>, </a:t>
            </a:r>
            <a:r>
              <a:rPr lang="en-US" sz="700" b="0">
                <a:solidFill>
                  <a:srgbClr val="0451A5"/>
                </a:solidFill>
                <a:latin typeface="Aptos Mono"/>
              </a:rPr>
              <a:t>"diff"</a:t>
            </a:r>
            <a:r>
              <a:rPr lang="en-US" sz="700" b="0">
                <a:solidFill>
                  <a:srgbClr val="000000"/>
                </a:solidFill>
                <a:latin typeface="Aptos Mono"/>
              </a:rPr>
              <a:t>: </a:t>
            </a:r>
            <a:r>
              <a:rPr lang="en-US" sz="700" b="0">
                <a:solidFill>
                  <a:srgbClr val="A31515"/>
                </a:solidFill>
                <a:latin typeface="Aptos Mono"/>
              </a:rPr>
              <a:t>"--- a/testcode/..."</a:t>
            </a:r>
            <a:r>
              <a:rPr lang="en-US" sz="700" b="0">
                <a:solidFill>
                  <a:srgbClr val="000000"/>
                </a:solidFill>
                <a:latin typeface="Aptos Mono"/>
              </a:rPr>
              <a:t>,</a:t>
            </a:r>
            <a:endParaRPr/>
          </a:p>
          <a:p>
            <a:r>
              <a:rPr lang="en-US" sz="700" b="0">
                <a:solidFill>
                  <a:srgbClr val="000000"/>
                </a:solidFill>
                <a:latin typeface="Aptos Mono"/>
              </a:rPr>
              <a:t>  </a:t>
            </a:r>
            <a:r>
              <a:rPr lang="en-US" sz="700" b="0">
                <a:solidFill>
                  <a:srgbClr val="0451A5"/>
                </a:solidFill>
                <a:latin typeface="Aptos Mono"/>
              </a:rPr>
              <a:t>"checks"</a:t>
            </a:r>
            <a:r>
              <a:rPr lang="en-US" sz="700" b="0">
                <a:solidFill>
                  <a:srgbClr val="000000"/>
                </a:solidFill>
                <a:latin typeface="Aptos Mono"/>
              </a:rPr>
              <a:t>: {</a:t>
            </a:r>
            <a:r>
              <a:rPr lang="en-US" sz="700" b="0">
                <a:solidFill>
                  <a:srgbClr val="0451A5"/>
                </a:solidFill>
                <a:latin typeface="Aptos Mono"/>
              </a:rPr>
              <a:t>"applies"</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"touches_flagged_line"</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 </a:t>
            </a:r>
            <a:r>
              <a:rPr lang="en-US" sz="700" b="0">
                <a:solidFill>
                  <a:srgbClr val="0451A5"/>
                </a:solidFill>
                <a:latin typeface="Aptos Mono"/>
              </a:rPr>
              <a:t>"clean_rescan"</a:t>
            </a:r>
            <a:r>
              <a:rPr lang="en-US" sz="700" b="0">
                <a:solidFill>
                  <a:srgbClr val="000000"/>
                </a:solidFill>
                <a:latin typeface="Aptos Mono"/>
              </a:rPr>
              <a:t>: </a:t>
            </a:r>
            <a:r>
              <a:rPr lang="en-US" sz="700" b="0">
                <a:solidFill>
                  <a:srgbClr val="0000FF"/>
                </a:solidFill>
                <a:latin typeface="Aptos Mono"/>
              </a:rPr>
              <a:t>true</a:t>
            </a:r>
            <a:r>
              <a:rPr lang="en-US" sz="700" b="0">
                <a:solidFill>
                  <a:srgbClr val="000000"/>
                </a:solidFill>
                <a:latin typeface="Aptos Mono"/>
              </a:rPr>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rubric</a:t>
            </a:r>
          </a:p>
        </p:txBody>
      </p:sp>
      <p:sp>
        <p:nvSpPr>
          <p:cNvPr id="3" name="Content Placeholder 2"/>
          <p:cNvSpPr>
            <a:spLocks noGrp="1"/>
          </p:cNvSpPr>
          <p:nvPr>
            <p:ph idx="1"/>
          </p:nvPr>
        </p:nvSpPr>
        <p:spPr bwMode="auto">
          <a:xfrm>
            <a:off x="320040" y="658368"/>
            <a:ext cx="6016752" cy="2042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Design, 5 points:</a:t>
            </a:r>
            <a:r>
              <a:rPr lang="en-US" sz="1200" b="0">
                <a:solidFill>
                  <a:srgbClr val="000000"/>
                </a:solidFill>
              </a:rPr>
              <a:t> tool contracts, the call path, the three rules with their places, the policy with reasons, patch acceptance.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Implementation, 9 points:</a:t>
            </a:r>
            <a:r>
              <a:rPr lang="en-US" sz="1200" b="0">
                <a:solidFill>
                  <a:srgbClr val="FFFFFF">
                    <a:alpha val="0"/>
                  </a:srgbClr>
                </a:solidFill>
              </a:rPr>
              <a:t> the server, the code-action agent, write tools, discovery, dispatcher refusals, the remediation route, the per-alert parts, the sandbox, the network rule.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Evidence and README, 4 points:</a:t>
            </a:r>
            <a:r>
              <a:rPr lang="en-US" sz="1200" b="0">
                <a:solidFill>
                  <a:srgbClr val="FFFFFF">
                    <a:alpha val="0"/>
                  </a:srgbClr>
                </a:solidFill>
              </a:rPr>
              <a:t> a README we can follow, the live-run measurement, the two comparisons, limitations.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18 items, one point each,</a:t>
            </a:r>
            <a:r>
              <a:rPr lang="en-US" sz="1200" b="0">
                <a:solidFill>
                  <a:srgbClr val="FFFFFF">
                    <a:alpha val="0"/>
                  </a:srgbClr>
                </a:solidFill>
              </a:rPr>
              <a:t> scaled to the assignment's 20 percent of the course grade. Classification accuracy is collected for teaching only.</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rubric</a:t>
            </a:r>
          </a:p>
        </p:txBody>
      </p:sp>
      <p:sp>
        <p:nvSpPr>
          <p:cNvPr id="3" name="Content Placeholder 2"/>
          <p:cNvSpPr>
            <a:spLocks noGrp="1"/>
          </p:cNvSpPr>
          <p:nvPr>
            <p:ph idx="1"/>
          </p:nvPr>
        </p:nvSpPr>
        <p:spPr bwMode="auto">
          <a:xfrm>
            <a:off x="320040" y="658368"/>
            <a:ext cx="6016752" cy="2042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Design, 5 points:</a:t>
            </a:r>
            <a:r>
              <a:rPr lang="en-US" sz="1200" b="0">
                <a:solidFill>
                  <a:srgbClr val="000000"/>
                </a:solidFill>
              </a:rPr>
              <a:t> tool contracts, the call path, the three rules with their places, the policy with reasons, patch acceptance.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 9 points:</a:t>
            </a:r>
            <a:r>
              <a:rPr lang="en-US" sz="1200" b="0">
                <a:solidFill>
                  <a:srgbClr val="000000"/>
                </a:solidFill>
              </a:rPr>
              <a:t> the server, the code-action agent, write tools, discovery, dispatcher refusals, the remediation route, the per-alert parts, the sandbox, the network rule.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Evidence and README, 4 points:</a:t>
            </a:r>
            <a:r>
              <a:rPr lang="en-US" sz="1200" b="0">
                <a:solidFill>
                  <a:srgbClr val="FFFFFF">
                    <a:alpha val="0"/>
                  </a:srgbClr>
                </a:solidFill>
              </a:rPr>
              <a:t> a README we can follow, the live-run measurement, the two comparisons, limitations.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18 items, one point each,</a:t>
            </a:r>
            <a:r>
              <a:rPr lang="en-US" sz="1200" b="0">
                <a:solidFill>
                  <a:srgbClr val="FFFFFF">
                    <a:alpha val="0"/>
                  </a:srgbClr>
                </a:solidFill>
              </a:rPr>
              <a:t> scaled to the assignment's 20 percent of the course grade. Classification accuracy is collected for teaching only.</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rubric</a:t>
            </a:r>
          </a:p>
        </p:txBody>
      </p:sp>
      <p:sp>
        <p:nvSpPr>
          <p:cNvPr id="3" name="Content Placeholder 2"/>
          <p:cNvSpPr>
            <a:spLocks noGrp="1"/>
          </p:cNvSpPr>
          <p:nvPr>
            <p:ph idx="1"/>
          </p:nvPr>
        </p:nvSpPr>
        <p:spPr bwMode="auto">
          <a:xfrm>
            <a:off x="320040" y="658368"/>
            <a:ext cx="6016752" cy="2042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Design, 5 points:</a:t>
            </a:r>
            <a:r>
              <a:rPr lang="en-US" sz="1200" b="0">
                <a:solidFill>
                  <a:srgbClr val="000000"/>
                </a:solidFill>
              </a:rPr>
              <a:t> tool contracts, the call path, the three rules with their places, the policy with reasons, patch acceptance.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 9 points:</a:t>
            </a:r>
            <a:r>
              <a:rPr lang="en-US" sz="1200" b="0">
                <a:solidFill>
                  <a:srgbClr val="000000"/>
                </a:solidFill>
              </a:rPr>
              <a:t> the server, the code-action agent, write tools, discovery, dispatcher refusals, the remediation route, the per-alert parts, the sandbox, the network rule.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Evidence and README, 4 points:</a:t>
            </a:r>
            <a:r>
              <a:rPr lang="en-US" sz="1200" b="0">
                <a:solidFill>
                  <a:srgbClr val="000000"/>
                </a:solidFill>
              </a:rPr>
              <a:t> a README we can follow, the live-run measurement, the two comparisons, limitations.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18 items, one point each,</a:t>
            </a:r>
            <a:r>
              <a:rPr lang="en-US" sz="1200" b="0">
                <a:solidFill>
                  <a:srgbClr val="FFFFFF">
                    <a:alpha val="0"/>
                  </a:srgbClr>
                </a:solidFill>
              </a:rPr>
              <a:t> scaled to the assignment's 20 percent of the course grade. Classification accuracy is collected for teaching only.</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rubric</a:t>
            </a:r>
          </a:p>
        </p:txBody>
      </p:sp>
      <p:sp>
        <p:nvSpPr>
          <p:cNvPr id="3" name="Content Placeholder 2"/>
          <p:cNvSpPr>
            <a:spLocks noGrp="1"/>
          </p:cNvSpPr>
          <p:nvPr>
            <p:ph idx="1"/>
          </p:nvPr>
        </p:nvSpPr>
        <p:spPr bwMode="auto">
          <a:xfrm>
            <a:off x="320040" y="658368"/>
            <a:ext cx="6016752" cy="2042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Design, 5 points:</a:t>
            </a:r>
            <a:r>
              <a:rPr lang="en-US" sz="1200" b="0">
                <a:solidFill>
                  <a:srgbClr val="000000"/>
                </a:solidFill>
              </a:rPr>
              <a:t> tool contracts, the call path, the three rules with their places, the policy with reasons, patch acceptance.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 9 points:</a:t>
            </a:r>
            <a:r>
              <a:rPr lang="en-US" sz="1200" b="0">
                <a:solidFill>
                  <a:srgbClr val="000000"/>
                </a:solidFill>
              </a:rPr>
              <a:t> the server, the code-action agent, write tools, discovery, dispatcher refusals, the remediation route, the per-alert parts, the sandbox, the network rule.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Evidence and README, 4 points:</a:t>
            </a:r>
            <a:r>
              <a:rPr lang="en-US" sz="1200" b="0">
                <a:solidFill>
                  <a:srgbClr val="000000"/>
                </a:solidFill>
              </a:rPr>
              <a:t> a README we can follow, the live-run measurement, the two comparisons, limitations.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18 items, one point each,</a:t>
            </a:r>
            <a:r>
              <a:rPr lang="en-US" sz="1200" b="0">
                <a:solidFill>
                  <a:srgbClr val="000000"/>
                </a:solidFill>
              </a:rPr>
              <a:t> scaled to the assignment's 20 percent of the course grade. Classification accuracy is collected for teaching only.</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rubric</a:t>
            </a:r>
          </a:p>
        </p:txBody>
      </p:sp>
      <p:sp>
        <p:nvSpPr>
          <p:cNvPr id="3" name="Content Placeholder 2"/>
          <p:cNvSpPr>
            <a:spLocks noGrp="1"/>
          </p:cNvSpPr>
          <p:nvPr>
            <p:ph idx="1"/>
          </p:nvPr>
        </p:nvSpPr>
        <p:spPr bwMode="auto">
          <a:xfrm>
            <a:off x="320040" y="658368"/>
            <a:ext cx="6016752" cy="20421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Design, 5 points:</a:t>
            </a:r>
            <a:r>
              <a:rPr lang="en-US" sz="1200" b="0">
                <a:solidFill>
                  <a:srgbClr val="000000"/>
                </a:solidFill>
              </a:rPr>
              <a:t> tool contracts, the call path, the three rules with their places, the policy with reasons, patch acceptance.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Implementation, 9 points:</a:t>
            </a:r>
            <a:r>
              <a:rPr lang="en-US" sz="1200" b="0">
                <a:solidFill>
                  <a:srgbClr val="000000"/>
                </a:solidFill>
              </a:rPr>
              <a:t> the server, the code-action agent, write tools, discovery, dispatcher refusals, the remediation route, the per-alert parts, the sandbox, the network rule.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Evidence and README, 4 points:</a:t>
            </a:r>
            <a:r>
              <a:rPr lang="en-US" sz="1200" b="0">
                <a:solidFill>
                  <a:srgbClr val="000000"/>
                </a:solidFill>
              </a:rPr>
              <a:t> a README we can follow, the live-run measurement, the two comparisons, limitations.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18 items, one point each,</a:t>
            </a:r>
            <a:r>
              <a:rPr lang="en-US" sz="1200" b="0">
                <a:solidFill>
                  <a:srgbClr val="000000"/>
                </a:solidFill>
              </a:rPr>
              <a:t> scaled to the assignment's 20 percent of the course grade. Classification accuracy is collected for teaching only.</a:t>
            </a:r>
            <a:endParaRPr/>
          </a:p>
        </p:txBody>
      </p:sp>
      <p:sp>
        <p:nvSpPr>
          <p:cNvPr id="4" name="Rectangle 4"/>
          <p:cNvSpPr/>
          <p:nvPr/>
        </p:nvSpPr>
        <p:spPr bwMode="auto">
          <a:xfrm>
            <a:off x="320040" y="3204857"/>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missing mechanism cannot earn its point.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Dates and platform</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Released today, Friday, October 16, 2026.</a:t>
            </a:r>
            <a:r>
              <a:rPr lang="en-US" sz="1200" b="0">
                <a:solidFill>
                  <a:srgbClr val="000000"/>
                </a:solidFill>
              </a:rPr>
              <a:t> Due Friday, November 13, 2026, before 11:59 pm.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Six late days per student per semester,</a:t>
            </a:r>
            <a:r>
              <a:rPr lang="en-US" sz="1200" b="0">
                <a:solidFill>
                  <a:srgbClr val="FFFFFF">
                    <a:alpha val="0"/>
                  </a:srgbClr>
                </a:solidFill>
              </a:rPr>
              <a:t> at most three on one assignment.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MCP agent runs on all three targets,</a:t>
            </a:r>
            <a:r>
              <a:rPr lang="en-US" sz="1200" b="0">
                <a:solidFill>
                  <a:srgbClr val="FFFFFF">
                    <a:alpha val="0"/>
                  </a:srgbClr>
                </a:solidFill>
              </a:rPr>
              <a:t> and the code-action agent on OWASP only.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repository</a:t>
            </a:r>
            <a:r>
              <a:rPr lang="en-US" sz="1200" b="0">
                <a:solidFill>
                  <a:srgbClr val="FFFFFF">
                    <a:alpha val="0"/>
                  </a:srgbClr>
                </a:solidFill>
              </a:rPr>
              <a:t> </a:t>
            </a:r>
            <a:r>
              <a:rPr lang="en-US" sz="1200" b="0">
                <a:solidFill>
                  <a:srgbClr val="FFFFFF">
                    <a:alpha val="0"/>
                  </a:srgbClr>
                </a:solidFill>
                <a:latin typeface="Aptos Mono"/>
              </a:rPr>
              <a:t>comse6998-019/hw2-tool-boundary</a:t>
            </a:r>
            <a:r>
              <a:rPr lang="en-US" sz="1200" b="0">
                <a:solidFill>
                  <a:srgbClr val="FFFFFF">
                    <a:alpha val="0"/>
                  </a:srgbClr>
                </a:solidFill>
              </a:rPr>
              <a:t>: brief, schemas, examples, fixtures, and after today the CLDK server as a reference pattern.</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Dates and platform</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Released today, Friday, October 16, 2026.</a:t>
            </a:r>
            <a:r>
              <a:rPr lang="en-US" sz="1200" b="0">
                <a:solidFill>
                  <a:srgbClr val="000000"/>
                </a:solidFill>
              </a:rPr>
              <a:t> Due Friday, November 13, 2026, before 11:59 pm.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Six late days per student per semester,</a:t>
            </a:r>
            <a:r>
              <a:rPr lang="en-US" sz="1200" b="0">
                <a:solidFill>
                  <a:srgbClr val="000000"/>
                </a:solidFill>
              </a:rPr>
              <a:t> at most three on one assignment.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MCP agent runs on all three targets,</a:t>
            </a:r>
            <a:r>
              <a:rPr lang="en-US" sz="1200" b="0">
                <a:solidFill>
                  <a:srgbClr val="FFFFFF">
                    <a:alpha val="0"/>
                  </a:srgbClr>
                </a:solidFill>
              </a:rPr>
              <a:t> and the code-action agent on OWASP only.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repository</a:t>
            </a:r>
            <a:r>
              <a:rPr lang="en-US" sz="1200" b="0">
                <a:solidFill>
                  <a:srgbClr val="FFFFFF">
                    <a:alpha val="0"/>
                  </a:srgbClr>
                </a:solidFill>
              </a:rPr>
              <a:t> </a:t>
            </a:r>
            <a:r>
              <a:rPr lang="en-US" sz="1200" b="0">
                <a:solidFill>
                  <a:srgbClr val="FFFFFF">
                    <a:alpha val="0"/>
                  </a:srgbClr>
                </a:solidFill>
                <a:latin typeface="Aptos Mono"/>
              </a:rPr>
              <a:t>comse6998-019/hw2-tool-boundary</a:t>
            </a:r>
            <a:r>
              <a:rPr lang="en-US" sz="1200" b="0">
                <a:solidFill>
                  <a:srgbClr val="FFFFFF">
                    <a:alpha val="0"/>
                  </a:srgbClr>
                </a:solidFill>
              </a:rPr>
              <a:t>: brief, schemas, examples, fixtures, and after today the CLDK server as a reference pattern.</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Dates and platform</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Released today, Friday, October 16, 2026.</a:t>
            </a:r>
            <a:r>
              <a:rPr lang="en-US" sz="1200" b="0">
                <a:solidFill>
                  <a:srgbClr val="000000"/>
                </a:solidFill>
              </a:rPr>
              <a:t> Due Friday, November 13, 2026, before 11:59 pm.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Six late days per student per semester,</a:t>
            </a:r>
            <a:r>
              <a:rPr lang="en-US" sz="1200" b="0">
                <a:solidFill>
                  <a:srgbClr val="000000"/>
                </a:solidFill>
              </a:rPr>
              <a:t> at most three on one assignment.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 runs on all three targets,</a:t>
            </a:r>
            <a:r>
              <a:rPr lang="en-US" sz="1200" b="0">
                <a:solidFill>
                  <a:srgbClr val="000000"/>
                </a:solidFill>
              </a:rPr>
              <a:t> and the code-action agent on OWASP only.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repository</a:t>
            </a:r>
            <a:r>
              <a:rPr lang="en-US" sz="1200" b="0">
                <a:solidFill>
                  <a:srgbClr val="FFFFFF">
                    <a:alpha val="0"/>
                  </a:srgbClr>
                </a:solidFill>
              </a:rPr>
              <a:t> </a:t>
            </a:r>
            <a:r>
              <a:rPr lang="en-US" sz="1200" b="0">
                <a:solidFill>
                  <a:srgbClr val="FFFFFF">
                    <a:alpha val="0"/>
                  </a:srgbClr>
                </a:solidFill>
                <a:latin typeface="Aptos Mono"/>
              </a:rPr>
              <a:t>comse6998-019/hw2-tool-boundary</a:t>
            </a:r>
            <a:r>
              <a:rPr lang="en-US" sz="1200" b="0">
                <a:solidFill>
                  <a:srgbClr val="FFFFFF">
                    <a:alpha val="0"/>
                  </a:srgbClr>
                </a:solidFill>
              </a:rPr>
              <a:t>: brief, schemas, examples, fixtures, and after today the CLDK server as a reference pattern.</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Dates and platform</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Released today, Friday, October 16, 2026.</a:t>
            </a:r>
            <a:r>
              <a:rPr lang="en-US" sz="1200" b="0">
                <a:solidFill>
                  <a:srgbClr val="000000"/>
                </a:solidFill>
              </a:rPr>
              <a:t> Due Friday, November 13, 2026, before 11:59 pm.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Six late days per student per semester,</a:t>
            </a:r>
            <a:r>
              <a:rPr lang="en-US" sz="1200" b="0">
                <a:solidFill>
                  <a:srgbClr val="000000"/>
                </a:solidFill>
              </a:rPr>
              <a:t> at most three on one assignment.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 runs on all three targets,</a:t>
            </a:r>
            <a:r>
              <a:rPr lang="en-US" sz="1200" b="0">
                <a:solidFill>
                  <a:srgbClr val="000000"/>
                </a:solidFill>
              </a:rPr>
              <a:t> and the code-action agent on OWASP only.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repository</a:t>
            </a:r>
            <a:r>
              <a:rPr lang="en-US" sz="1200" b="0">
                <a:solidFill>
                  <a:srgbClr val="000000"/>
                </a:solidFill>
              </a:rPr>
              <a:t> </a:t>
            </a:r>
            <a:r>
              <a:rPr lang="en-US" sz="1200" b="0">
                <a:solidFill>
                  <a:srgbClr val="000000"/>
                </a:solidFill>
                <a:latin typeface="Aptos Mono"/>
              </a:rPr>
              <a:t>comse6998-019/hw2-tool-boundary</a:t>
            </a:r>
            <a:r>
              <a:rPr lang="en-US" sz="1200" b="0">
                <a:solidFill>
                  <a:srgbClr val="000000"/>
                </a:solidFill>
              </a:rPr>
              <a:t>: brief, schemas, examples, fixtures, and after today the CLDK server as a reference pattern.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Dates and platform</a:t>
            </a:r>
          </a:p>
        </p:txBody>
      </p:sp>
      <p:sp>
        <p:nvSpPr>
          <p:cNvPr id="3" name="Content Placeholder 2"/>
          <p:cNvSpPr>
            <a:spLocks noGrp="1"/>
          </p:cNvSpPr>
          <p:nvPr>
            <p:ph idx="1"/>
          </p:nvPr>
        </p:nvSpPr>
        <p:spPr bwMode="auto">
          <a:xfrm>
            <a:off x="320040" y="658368"/>
            <a:ext cx="6016752" cy="18592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Released today, Friday, October 16, 2026.</a:t>
            </a:r>
            <a:r>
              <a:rPr lang="en-US" sz="1200" b="0">
                <a:solidFill>
                  <a:srgbClr val="000000"/>
                </a:solidFill>
              </a:rPr>
              <a:t> Due Friday, November 13, 2026, before 11:59 pm.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Six late days per student per semester,</a:t>
            </a:r>
            <a:r>
              <a:rPr lang="en-US" sz="1200" b="0">
                <a:solidFill>
                  <a:srgbClr val="000000"/>
                </a:solidFill>
              </a:rPr>
              <a:t> at most three on one assignment.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MCP agent runs on all three targets,</a:t>
            </a:r>
            <a:r>
              <a:rPr lang="en-US" sz="1200" b="0">
                <a:solidFill>
                  <a:srgbClr val="000000"/>
                </a:solidFill>
              </a:rPr>
              <a:t> and the code-action agent on OWASP only.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repository</a:t>
            </a:r>
            <a:r>
              <a:rPr lang="en-US" sz="1200" b="0">
                <a:solidFill>
                  <a:srgbClr val="000000"/>
                </a:solidFill>
              </a:rPr>
              <a:t> </a:t>
            </a:r>
            <a:r>
              <a:rPr lang="en-US" sz="1200" b="0">
                <a:solidFill>
                  <a:srgbClr val="000000"/>
                </a:solidFill>
                <a:latin typeface="Aptos Mono"/>
              </a:rPr>
              <a:t>comse6998-019/hw2-tool-boundary</a:t>
            </a:r>
            <a:r>
              <a:rPr lang="en-US" sz="1200" b="0">
                <a:solidFill>
                  <a:srgbClr val="000000"/>
                </a:solidFill>
              </a:rPr>
              <a:t>: brief, schemas, examples, fixtures, and after today the CLDK server as a reference pattern.</a:t>
            </a:r>
            <a:endParaRPr/>
          </a:p>
        </p:txBody>
      </p:sp>
      <p:sp>
        <p:nvSpPr>
          <p:cNvPr id="4" name="Rectangle 4"/>
          <p:cNvSpPr/>
          <p:nvPr/>
        </p:nvSpPr>
        <p:spPr bwMode="auto">
          <a:xfrm>
            <a:off x="320040" y="2784233"/>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Next Friday is the midterm. Office hours Friday 12:00 to 1:30 pm.</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1125</TotalTime>
  <Words>19594</Words>
  <Application>Microsoft Macintosh PowerPoint</Application>
  <PresentationFormat>Custom</PresentationFormat>
  <Paragraphs>824</Paragraphs>
  <Slides>75</Slides>
  <Notes>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Aptos</vt:lpstr>
      <vt:lpstr>Aptos Mono</vt:lpstr>
      <vt:lpstr>Simple Light</vt:lpstr>
      <vt:lpstr>Designing Production Agentic Systems</vt:lpstr>
      <vt:lpstr>PowerPoint Presentation</vt:lpstr>
      <vt:lpstr>PowerPoint Presentation</vt:lpstr>
      <vt:lpstr>CLDK answers questions about code.</vt:lpstr>
      <vt:lpstr>CLDK answers questions about code.</vt:lpstr>
      <vt:lpstr>CLDK answers questions about code.</vt:lpstr>
      <vt:lpstr>CLDK answers questions about code.</vt:lpstr>
      <vt:lpstr>CLDK answers questions about code.</vt:lpstr>
      <vt:lpstr>The request value reaches the query string.</vt:lpstr>
      <vt:lpstr>The request value reaches the query string.</vt:lpstr>
      <vt:lpstr>The request value reaches the query string.</vt:lpstr>
      <vt:lpstr>The request value reaches the query string.</vt:lpstr>
      <vt:lpstr>The request value reaches the query string.</vt:lpstr>
      <vt:lpstr>An empty answer is ambiguous until checked.</vt:lpstr>
      <vt:lpstr>An empty answer is ambiguous until checked.</vt:lpstr>
      <vt:lpstr>An empty answer is ambiguous until checked.</vt:lpstr>
      <vt:lpstr>An empty answer is ambiguous until checked.</vt:lpstr>
      <vt:lpstr>An empty answer is ambiguous until checked.</vt:lpstr>
      <vt:lpstr>PowerPoint Presentation</vt:lpstr>
      <vt:lpstr>Every tool answers from the same analysis object.</vt:lpstr>
      <vt:lpstr>Every tool answers from the same analysis object.</vt:lpstr>
      <vt:lpstr>Every tool answers from the same analysis object.</vt:lpstr>
      <vt:lpstr>Every tool answers from the same analysis object.</vt:lpstr>
      <vt:lpstr>PowerPoint Presentation</vt:lpstr>
      <vt:lpstr>From a local agent to an MCP agent</vt:lpstr>
      <vt:lpstr>From a local agent to an MCP agent</vt:lpstr>
      <vt:lpstr>From a local agent to an MCP agent</vt:lpstr>
      <vt:lpstr>From a local agent to an MCP agent</vt:lpstr>
      <vt:lpstr>From a local agent to an MCP agent</vt:lpstr>
      <vt:lpstr>The server: analysis, text and write tools</vt:lpstr>
      <vt:lpstr>The server: analysis, text and write tools</vt:lpstr>
      <vt:lpstr>The server: analysis, text and write tools</vt:lpstr>
      <vt:lpstr>The server: analysis, text and write tools</vt:lpstr>
      <vt:lpstr>Only labelled alerts are patched.</vt:lpstr>
      <vt:lpstr>Only labelled alerts are patched.</vt:lpstr>
      <vt:lpstr>Only labelled alerts are patched.</vt:lpstr>
      <vt:lpstr>Only labelled alerts are patched.</vt:lpstr>
      <vt:lpstr>Only labelled alerts are patched.</vt:lpstr>
      <vt:lpstr>PowerPoint Presentation</vt:lpstr>
      <vt:lpstr>Each rule has a fixed and a per-alert part.</vt:lpstr>
      <vt:lpstr>Each rule has a fixed and a per-alert part.</vt:lpstr>
      <vt:lpstr>Each rule has a fixed and a per-alert part.</vt:lpstr>
      <vt:lpstr>Each rule has a fixed and a per-alert part.</vt:lpstr>
      <vt:lpstr>Each rule has a fixed and a per-alert part.</vt:lpstr>
      <vt:lpstr>Where each rule is enforced</vt:lpstr>
      <vt:lpstr>Where each rule is enforced</vt:lpstr>
      <vt:lpstr>Where each rule is enforced</vt:lpstr>
      <vt:lpstr>Where each rule is enforced</vt:lpstr>
      <vt:lpstr>Where each rule is enforced</vt:lpstr>
      <vt:lpstr>Where each rule is enforced</vt:lpstr>
      <vt:lpstr>The policy you run under</vt:lpstr>
      <vt:lpstr>The policy you run under</vt:lpstr>
      <vt:lpstr>The policy you run under</vt:lpstr>
      <vt:lpstr>The policy you run under</vt:lpstr>
      <vt:lpstr>How the guardrails are tested</vt:lpstr>
      <vt:lpstr>How the guardrails are tested</vt:lpstr>
      <vt:lpstr>How the guardrails are tested</vt:lpstr>
      <vt:lpstr>How the guardrails are tested</vt:lpstr>
      <vt:lpstr>How the guardrails are tested</vt:lpstr>
      <vt:lpstr>How the guardrails are tested</vt:lpstr>
      <vt:lpstr>PowerPoint Presentation</vt:lpstr>
      <vt:lpstr>What changed since HW1</vt:lpstr>
      <vt:lpstr>What changed since HW1</vt:lpstr>
      <vt:lpstr>What changed since HW1</vt:lpstr>
      <vt:lpstr>What changed since HW1</vt:lpstr>
      <vt:lpstr>The rubric</vt:lpstr>
      <vt:lpstr>The rubric</vt:lpstr>
      <vt:lpstr>The rubric</vt:lpstr>
      <vt:lpstr>The rubric</vt:lpstr>
      <vt:lpstr>The rubric</vt:lpstr>
      <vt:lpstr>Dates and platform</vt:lpstr>
      <vt:lpstr>Dates and platform</vt:lpstr>
      <vt:lpstr>Dates and platform</vt:lpstr>
      <vt:lpstr>Dates and platform</vt:lpstr>
      <vt:lpstr>Dates and platform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215</cp:revision>
  <dcterms:modified xsi:type="dcterms:W3CDTF">2026-10-16T02:45:29Z</dcterms:modified>
</cp:coreProperties>
</file>